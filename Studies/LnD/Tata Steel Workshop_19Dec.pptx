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 id="2147483763" r:id="rId2"/>
    <p:sldMasterId id="2147483775" r:id="rId3"/>
    <p:sldMasterId id="2147483787" r:id="rId4"/>
    <p:sldMasterId id="2147483802" r:id="rId5"/>
  </p:sldMasterIdLst>
  <p:notesMasterIdLst>
    <p:notesMasterId r:id="rId37"/>
  </p:notesMasterIdLst>
  <p:handoutMasterIdLst>
    <p:handoutMasterId r:id="rId38"/>
  </p:handoutMasterIdLst>
  <p:sldIdLst>
    <p:sldId id="481" r:id="rId6"/>
    <p:sldId id="548" r:id="rId7"/>
    <p:sldId id="529" r:id="rId8"/>
    <p:sldId id="549" r:id="rId9"/>
    <p:sldId id="550" r:id="rId10"/>
    <p:sldId id="556" r:id="rId11"/>
    <p:sldId id="542" r:id="rId12"/>
    <p:sldId id="546" r:id="rId13"/>
    <p:sldId id="544" r:id="rId14"/>
    <p:sldId id="551" r:id="rId15"/>
    <p:sldId id="555" r:id="rId16"/>
    <p:sldId id="572" r:id="rId17"/>
    <p:sldId id="552" r:id="rId18"/>
    <p:sldId id="553" r:id="rId19"/>
    <p:sldId id="558" r:id="rId20"/>
    <p:sldId id="573" r:id="rId21"/>
    <p:sldId id="559" r:id="rId22"/>
    <p:sldId id="567" r:id="rId23"/>
    <p:sldId id="564" r:id="rId24"/>
    <p:sldId id="568" r:id="rId25"/>
    <p:sldId id="569" r:id="rId26"/>
    <p:sldId id="570" r:id="rId27"/>
    <p:sldId id="560" r:id="rId28"/>
    <p:sldId id="561" r:id="rId29"/>
    <p:sldId id="563" r:id="rId30"/>
    <p:sldId id="562" r:id="rId31"/>
    <p:sldId id="571" r:id="rId32"/>
    <p:sldId id="557" r:id="rId33"/>
    <p:sldId id="565" r:id="rId34"/>
    <p:sldId id="566" r:id="rId35"/>
    <p:sldId id="55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8" userDrawn="1">
          <p15:clr>
            <a:srgbClr val="A4A3A4"/>
          </p15:clr>
        </p15:guide>
        <p15:guide id="4" pos="7512" userDrawn="1">
          <p15:clr>
            <a:srgbClr val="A4A3A4"/>
          </p15:clr>
        </p15:guide>
        <p15:guide id="5" orient="horz" pos="144" userDrawn="1">
          <p15:clr>
            <a:srgbClr val="A4A3A4"/>
          </p15:clr>
        </p15:guide>
        <p15:guide id="6" orient="horz" pos="4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C31"/>
    <a:srgbClr val="00421E"/>
    <a:srgbClr val="595959"/>
    <a:srgbClr val="C66E4C"/>
    <a:srgbClr val="BF5D34"/>
    <a:srgbClr val="410000"/>
    <a:srgbClr val="BD5DFF"/>
    <a:srgbClr val="9900FF"/>
    <a:srgbClr val="418AB3"/>
    <a:srgbClr val="F8CB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434" autoAdjust="0"/>
  </p:normalViewPr>
  <p:slideViewPr>
    <p:cSldViewPr snapToGrid="0" showGuides="1">
      <p:cViewPr varScale="1">
        <p:scale>
          <a:sx n="74" d="100"/>
          <a:sy n="74" d="100"/>
        </p:scale>
        <p:origin x="576" y="72"/>
      </p:cViewPr>
      <p:guideLst>
        <p:guide orient="horz" pos="2160"/>
        <p:guide pos="3840"/>
        <p:guide pos="168"/>
        <p:guide pos="7512"/>
        <p:guide orient="horz" pos="144"/>
        <p:guide orient="horz" pos="4176"/>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 d="1"/>
        <a:sy n="1" d="1"/>
      </p:scale>
      <p:origin x="0" y="0"/>
    </p:cViewPr>
  </p:notesTextViewPr>
  <p:sorterViewPr>
    <p:cViewPr varScale="1">
      <p:scale>
        <a:sx n="1" d="1"/>
        <a:sy n="1" d="1"/>
      </p:scale>
      <p:origin x="0" y="-51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slide" Target="slides/slide4.xml"/><Relationship Id="rId7" Type="http://schemas.openxmlformats.org/officeDocument/2006/relationships/slide" Target="slides/slide18.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9.xml"/><Relationship Id="rId5" Type="http://schemas.openxmlformats.org/officeDocument/2006/relationships/slide" Target="slides/slide8.xml"/><Relationship Id="rId4" Type="http://schemas.openxmlformats.org/officeDocument/2006/relationships/slide" Target="slides/slide7.xml"/><Relationship Id="rId9" Type="http://schemas.openxmlformats.org/officeDocument/2006/relationships/slide" Target="slides/slide3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016F4F-3B86-4B93-A14E-3376976E21FB}"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IN"/>
        </a:p>
      </dgm:t>
    </dgm:pt>
    <dgm:pt modelId="{D7A2C6BC-BAB5-4499-BBB1-E289DF9CDECC}">
      <dgm:prSet phldrT="[Text]"/>
      <dgm:spPr>
        <a:xfrm>
          <a:off x="2498796" y="1335268"/>
          <a:ext cx="1417368" cy="1417368"/>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dirty="0">
              <a:solidFill>
                <a:sysClr val="window" lastClr="FFFFFF"/>
              </a:solidFill>
              <a:latin typeface="Calibri" panose="020F0502020204030204"/>
              <a:ea typeface="+mn-ea"/>
              <a:cs typeface="+mn-cs"/>
            </a:rPr>
            <a:t>Location Characteristic Metrics</a:t>
          </a:r>
        </a:p>
      </dgm:t>
    </dgm:pt>
    <dgm:pt modelId="{8D7F520B-5544-42A8-B2F7-3CFCC4002D22}" type="parTrans" cxnId="{79E8CBFA-A56F-4BBB-9DF8-B4A72EA8911B}">
      <dgm:prSet/>
      <dgm:spPr/>
      <dgm:t>
        <a:bodyPr/>
        <a:lstStyle/>
        <a:p>
          <a:endParaRPr lang="en-IN"/>
        </a:p>
      </dgm:t>
    </dgm:pt>
    <dgm:pt modelId="{297FF734-48B3-4596-9413-A33F5D3EBC06}" type="sibTrans" cxnId="{79E8CBFA-A56F-4BBB-9DF8-B4A72EA8911B}">
      <dgm:prSet/>
      <dgm:spPr/>
      <dgm:t>
        <a:bodyPr/>
        <a:lstStyle/>
        <a:p>
          <a:endParaRPr lang="en-IN"/>
        </a:p>
      </dgm:t>
    </dgm:pt>
    <dgm:pt modelId="{7310E487-7B61-4678-ACBA-6CF567684DA2}">
      <dgm:prSet phldrT="[Text]" custT="1"/>
      <dgm:spPr>
        <a:xfrm>
          <a:off x="2711401" y="2227"/>
          <a:ext cx="992157" cy="992157"/>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sz="1100" dirty="0">
              <a:solidFill>
                <a:sysClr val="window" lastClr="FFFFFF"/>
              </a:solidFill>
              <a:latin typeface="Calibri" panose="020F0502020204030204"/>
              <a:ea typeface="+mn-ea"/>
              <a:cs typeface="+mn-cs"/>
            </a:rPr>
            <a:t>Affluence &amp; Activity Hub</a:t>
          </a:r>
        </a:p>
      </dgm:t>
    </dgm:pt>
    <dgm:pt modelId="{CD67E34C-1506-44EE-BCCA-3C11F07986B5}" type="parTrans" cxnId="{5D553801-A67F-43EA-B220-0EF7D254CF86}">
      <dgm:prSet/>
      <dgm:spPr/>
      <dgm:t>
        <a:bodyPr/>
        <a:lstStyle/>
        <a:p>
          <a:endParaRPr lang="en-IN"/>
        </a:p>
      </dgm:t>
    </dgm:pt>
    <dgm:pt modelId="{71DB9537-352E-42D3-82D7-27343170A729}" type="sibTrans" cxnId="{5D553801-A67F-43EA-B220-0EF7D254CF86}">
      <dgm:prSet/>
      <dgm:spPr>
        <a:xfrm>
          <a:off x="1626116" y="462588"/>
          <a:ext cx="3162728" cy="3162728"/>
        </a:xfrm>
        <a:solidFill>
          <a:srgbClr val="4E67C8">
            <a:tint val="60000"/>
            <a:hueOff val="0"/>
            <a:satOff val="0"/>
            <a:lumOff val="0"/>
            <a:alphaOff val="0"/>
          </a:srgbClr>
        </a:solidFill>
        <a:ln>
          <a:noFill/>
        </a:ln>
        <a:effectLst/>
      </dgm:spPr>
      <dgm:t>
        <a:bodyPr/>
        <a:lstStyle/>
        <a:p>
          <a:endParaRPr lang="en-IN"/>
        </a:p>
      </dgm:t>
    </dgm:pt>
    <dgm:pt modelId="{149C49B4-23C1-41B5-88F9-F90E9CBDD40F}">
      <dgm:prSet phldrT="[Text]" custT="1"/>
      <dgm:spPr>
        <a:xfrm>
          <a:off x="2711401" y="3093520"/>
          <a:ext cx="992157" cy="992157"/>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sz="1100" dirty="0">
              <a:solidFill>
                <a:sysClr val="window" lastClr="FFFFFF"/>
              </a:solidFill>
              <a:latin typeface="Calibri" panose="020F0502020204030204"/>
              <a:ea typeface="+mn-ea"/>
              <a:cs typeface="+mn-cs"/>
            </a:rPr>
            <a:t>Rainfall</a:t>
          </a:r>
        </a:p>
      </dgm:t>
    </dgm:pt>
    <dgm:pt modelId="{7197F693-9C53-46F4-A410-9FFFB2E15500}" type="parTrans" cxnId="{58CDD159-742A-41A8-BD27-0A9D561D62C4}">
      <dgm:prSet/>
      <dgm:spPr/>
      <dgm:t>
        <a:bodyPr/>
        <a:lstStyle/>
        <a:p>
          <a:endParaRPr lang="en-IN"/>
        </a:p>
      </dgm:t>
    </dgm:pt>
    <dgm:pt modelId="{FBCA2BCE-3CD3-4AE8-949C-80E48E960962}" type="sibTrans" cxnId="{58CDD159-742A-41A8-BD27-0A9D561D62C4}">
      <dgm:prSet/>
      <dgm:spPr>
        <a:xfrm>
          <a:off x="1626116" y="462588"/>
          <a:ext cx="3162728" cy="3162728"/>
        </a:xfrm>
        <a:solidFill>
          <a:srgbClr val="4E67C8">
            <a:tint val="60000"/>
            <a:hueOff val="0"/>
            <a:satOff val="0"/>
            <a:lumOff val="0"/>
            <a:alphaOff val="0"/>
          </a:srgbClr>
        </a:solidFill>
        <a:ln>
          <a:noFill/>
        </a:ln>
        <a:effectLst/>
      </dgm:spPr>
      <dgm:t>
        <a:bodyPr/>
        <a:lstStyle/>
        <a:p>
          <a:endParaRPr lang="en-IN"/>
        </a:p>
      </dgm:t>
    </dgm:pt>
    <dgm:pt modelId="{260B3B58-06AC-4922-ACD2-7F90EC3307B6}">
      <dgm:prSet phldrT="[Text]" custT="1"/>
      <dgm:spPr>
        <a:xfrm>
          <a:off x="1372832" y="2320697"/>
          <a:ext cx="992157" cy="992157"/>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sz="1100" dirty="0">
              <a:solidFill>
                <a:sysClr val="window" lastClr="FFFFFF"/>
              </a:solidFill>
              <a:latin typeface="Calibri" panose="020F0502020204030204"/>
              <a:ea typeface="+mn-ea"/>
              <a:cs typeface="+mn-cs"/>
            </a:rPr>
            <a:t>Non Food Crop irrigated areas</a:t>
          </a:r>
        </a:p>
      </dgm:t>
    </dgm:pt>
    <dgm:pt modelId="{9637046E-CA89-4AC5-94E4-DDE82F3A3A6B}" type="parTrans" cxnId="{CE317D46-E73C-433D-BA2D-BE1E5B448081}">
      <dgm:prSet/>
      <dgm:spPr/>
      <dgm:t>
        <a:bodyPr/>
        <a:lstStyle/>
        <a:p>
          <a:endParaRPr lang="en-IN"/>
        </a:p>
      </dgm:t>
    </dgm:pt>
    <dgm:pt modelId="{7F79FC8D-FBD4-4C37-8F32-F953FA5B2669}" type="sibTrans" cxnId="{CE317D46-E73C-433D-BA2D-BE1E5B448081}">
      <dgm:prSet/>
      <dgm:spPr>
        <a:xfrm>
          <a:off x="1626116" y="462588"/>
          <a:ext cx="3162728" cy="3162728"/>
        </a:xfrm>
        <a:solidFill>
          <a:srgbClr val="4E67C8">
            <a:tint val="60000"/>
            <a:hueOff val="0"/>
            <a:satOff val="0"/>
            <a:lumOff val="0"/>
            <a:alphaOff val="0"/>
          </a:srgbClr>
        </a:solidFill>
        <a:ln>
          <a:noFill/>
        </a:ln>
        <a:effectLst/>
      </dgm:spPr>
      <dgm:t>
        <a:bodyPr/>
        <a:lstStyle/>
        <a:p>
          <a:endParaRPr lang="en-IN"/>
        </a:p>
      </dgm:t>
    </dgm:pt>
    <dgm:pt modelId="{C5DDC626-FC85-470A-A6B2-3D32775430D0}">
      <dgm:prSet phldrT="[Text]" custT="1"/>
      <dgm:spPr>
        <a:xfrm>
          <a:off x="1372832" y="775050"/>
          <a:ext cx="992157" cy="992157"/>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sz="1100" dirty="0">
              <a:solidFill>
                <a:sysClr val="window" lastClr="FFFFFF"/>
              </a:solidFill>
              <a:latin typeface="Calibri" panose="020F0502020204030204"/>
              <a:ea typeface="+mn-ea"/>
              <a:cs typeface="+mn-cs"/>
            </a:rPr>
            <a:t>Tractor buying Customers</a:t>
          </a:r>
        </a:p>
      </dgm:t>
    </dgm:pt>
    <dgm:pt modelId="{31CEC04E-B744-45E8-B3CF-EF010AC9E78B}" type="parTrans" cxnId="{D088CDCA-C518-4EC4-BCE7-1A8026661E60}">
      <dgm:prSet/>
      <dgm:spPr/>
      <dgm:t>
        <a:bodyPr/>
        <a:lstStyle/>
        <a:p>
          <a:endParaRPr lang="en-IN"/>
        </a:p>
      </dgm:t>
    </dgm:pt>
    <dgm:pt modelId="{018348B6-4F6C-4244-93FE-0BCC8DAD0416}" type="sibTrans" cxnId="{D088CDCA-C518-4EC4-BCE7-1A8026661E60}">
      <dgm:prSet/>
      <dgm:spPr>
        <a:xfrm>
          <a:off x="1626116" y="462588"/>
          <a:ext cx="3162728" cy="3162728"/>
        </a:xfrm>
        <a:solidFill>
          <a:srgbClr val="4E67C8">
            <a:tint val="60000"/>
            <a:hueOff val="0"/>
            <a:satOff val="0"/>
            <a:lumOff val="0"/>
            <a:alphaOff val="0"/>
          </a:srgbClr>
        </a:solidFill>
        <a:ln>
          <a:noFill/>
        </a:ln>
        <a:effectLst/>
      </dgm:spPr>
      <dgm:t>
        <a:bodyPr/>
        <a:lstStyle/>
        <a:p>
          <a:endParaRPr lang="en-IN"/>
        </a:p>
      </dgm:t>
    </dgm:pt>
    <dgm:pt modelId="{B94A8803-9291-4FE0-9149-8598B5F25A84}">
      <dgm:prSet custT="1"/>
      <dgm:spPr>
        <a:xfrm>
          <a:off x="4049970" y="775050"/>
          <a:ext cx="992157" cy="992157"/>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sz="1100" b="0" dirty="0">
              <a:solidFill>
                <a:sysClr val="window" lastClr="FFFFFF"/>
              </a:solidFill>
              <a:latin typeface="Calibri" panose="020F0502020204030204"/>
              <a:ea typeface="+mn-ea"/>
              <a:cs typeface="+mn-cs"/>
            </a:rPr>
            <a:t>Well Irrigated and Cropped</a:t>
          </a:r>
        </a:p>
      </dgm:t>
    </dgm:pt>
    <dgm:pt modelId="{296C60AF-D157-4596-AF81-A03CEB3C653D}" type="parTrans" cxnId="{98E4B8C8-57DD-4EFA-8699-71EB64C71C13}">
      <dgm:prSet/>
      <dgm:spPr/>
      <dgm:t>
        <a:bodyPr/>
        <a:lstStyle/>
        <a:p>
          <a:endParaRPr lang="en-IN"/>
        </a:p>
      </dgm:t>
    </dgm:pt>
    <dgm:pt modelId="{C461E877-407D-45F1-B020-9F78AEF8899B}" type="sibTrans" cxnId="{98E4B8C8-57DD-4EFA-8699-71EB64C71C13}">
      <dgm:prSet/>
      <dgm:spPr>
        <a:xfrm>
          <a:off x="1626116" y="462588"/>
          <a:ext cx="3162728" cy="3162728"/>
        </a:xfrm>
        <a:solidFill>
          <a:srgbClr val="4E67C8">
            <a:tint val="60000"/>
            <a:hueOff val="0"/>
            <a:satOff val="0"/>
            <a:lumOff val="0"/>
            <a:alphaOff val="0"/>
          </a:srgbClr>
        </a:solidFill>
        <a:ln>
          <a:noFill/>
        </a:ln>
        <a:effectLst/>
      </dgm:spPr>
      <dgm:t>
        <a:bodyPr/>
        <a:lstStyle/>
        <a:p>
          <a:endParaRPr lang="en-IN"/>
        </a:p>
      </dgm:t>
    </dgm:pt>
    <dgm:pt modelId="{EC6B9AA0-E68F-48E0-9434-3EACCE84C669}">
      <dgm:prSet custT="1"/>
      <dgm:spPr>
        <a:xfrm>
          <a:off x="4049970" y="2320697"/>
          <a:ext cx="992157" cy="992157"/>
        </a:xfr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r>
            <a:rPr lang="en-IN" sz="1100" b="0" dirty="0">
              <a:solidFill>
                <a:sysClr val="window" lastClr="FFFFFF"/>
              </a:solidFill>
              <a:latin typeface="Calibri" panose="020F0502020204030204"/>
              <a:ea typeface="+mn-ea"/>
              <a:cs typeface="+mn-cs"/>
            </a:rPr>
            <a:t>Rural, Cultivator population</a:t>
          </a:r>
        </a:p>
      </dgm:t>
    </dgm:pt>
    <dgm:pt modelId="{471A75F7-08B5-487A-9EEE-116518372BEC}" type="parTrans" cxnId="{559FB772-B4B8-493D-976F-A761E9976F29}">
      <dgm:prSet/>
      <dgm:spPr/>
      <dgm:t>
        <a:bodyPr/>
        <a:lstStyle/>
        <a:p>
          <a:endParaRPr lang="en-IN"/>
        </a:p>
      </dgm:t>
    </dgm:pt>
    <dgm:pt modelId="{F7148850-A22A-4DC1-8748-B5BEFA881013}" type="sibTrans" cxnId="{559FB772-B4B8-493D-976F-A761E9976F29}">
      <dgm:prSet/>
      <dgm:spPr>
        <a:xfrm>
          <a:off x="1626116" y="462588"/>
          <a:ext cx="3162728" cy="3162728"/>
        </a:xfrm>
        <a:solidFill>
          <a:srgbClr val="4E67C8">
            <a:tint val="60000"/>
            <a:hueOff val="0"/>
            <a:satOff val="0"/>
            <a:lumOff val="0"/>
            <a:alphaOff val="0"/>
          </a:srgbClr>
        </a:solidFill>
        <a:ln>
          <a:noFill/>
        </a:ln>
        <a:effectLst/>
      </dgm:spPr>
      <dgm:t>
        <a:bodyPr/>
        <a:lstStyle/>
        <a:p>
          <a:endParaRPr lang="en-IN"/>
        </a:p>
      </dgm:t>
    </dgm:pt>
    <dgm:pt modelId="{405096DB-88A4-486E-9030-7FB1DCFC9F12}" type="pres">
      <dgm:prSet presAssocID="{3F016F4F-3B86-4B93-A14E-3376976E21FB}" presName="Name0" presStyleCnt="0">
        <dgm:presLayoutVars>
          <dgm:chMax val="1"/>
          <dgm:dir/>
          <dgm:animLvl val="ctr"/>
          <dgm:resizeHandles val="exact"/>
        </dgm:presLayoutVars>
      </dgm:prSet>
      <dgm:spPr/>
      <dgm:t>
        <a:bodyPr/>
        <a:lstStyle/>
        <a:p>
          <a:endParaRPr lang="en-IN"/>
        </a:p>
      </dgm:t>
    </dgm:pt>
    <dgm:pt modelId="{4CEF1119-DA0E-4D21-AB52-C779FDB824A3}" type="pres">
      <dgm:prSet presAssocID="{D7A2C6BC-BAB5-4499-BBB1-E289DF9CDECC}" presName="centerShape" presStyleLbl="node0" presStyleIdx="0" presStyleCnt="1"/>
      <dgm:spPr>
        <a:prstGeom prst="ellipse">
          <a:avLst/>
        </a:prstGeom>
      </dgm:spPr>
      <dgm:t>
        <a:bodyPr/>
        <a:lstStyle/>
        <a:p>
          <a:endParaRPr lang="en-IN"/>
        </a:p>
      </dgm:t>
    </dgm:pt>
    <dgm:pt modelId="{5B82602B-3461-4DF9-A05D-66699FEDD03C}" type="pres">
      <dgm:prSet presAssocID="{7310E487-7B61-4678-ACBA-6CF567684DA2}" presName="node" presStyleLbl="node1" presStyleIdx="0" presStyleCnt="6">
        <dgm:presLayoutVars>
          <dgm:bulletEnabled val="1"/>
        </dgm:presLayoutVars>
      </dgm:prSet>
      <dgm:spPr>
        <a:prstGeom prst="ellipse">
          <a:avLst/>
        </a:prstGeom>
      </dgm:spPr>
      <dgm:t>
        <a:bodyPr/>
        <a:lstStyle/>
        <a:p>
          <a:endParaRPr lang="en-IN"/>
        </a:p>
      </dgm:t>
    </dgm:pt>
    <dgm:pt modelId="{61A1DEA5-89C4-49CC-B618-8E4110131177}" type="pres">
      <dgm:prSet presAssocID="{7310E487-7B61-4678-ACBA-6CF567684DA2}" presName="dummy" presStyleCnt="0"/>
      <dgm:spPr/>
    </dgm:pt>
    <dgm:pt modelId="{643E3D03-AA0F-44A9-BA71-476F734956AC}" type="pres">
      <dgm:prSet presAssocID="{71DB9537-352E-42D3-82D7-27343170A729}" presName="sibTrans" presStyleLbl="sibTrans2D1" presStyleIdx="0" presStyleCnt="6"/>
      <dgm:spPr>
        <a:prstGeom prst="blockArc">
          <a:avLst>
            <a:gd name="adj1" fmla="val 16200000"/>
            <a:gd name="adj2" fmla="val 19800000"/>
            <a:gd name="adj3" fmla="val 4517"/>
          </a:avLst>
        </a:prstGeom>
      </dgm:spPr>
      <dgm:t>
        <a:bodyPr/>
        <a:lstStyle/>
        <a:p>
          <a:endParaRPr lang="en-IN"/>
        </a:p>
      </dgm:t>
    </dgm:pt>
    <dgm:pt modelId="{4CF5B0DB-93E9-4829-9575-D88CF06FCF82}" type="pres">
      <dgm:prSet presAssocID="{B94A8803-9291-4FE0-9149-8598B5F25A84}" presName="node" presStyleLbl="node1" presStyleIdx="1" presStyleCnt="6">
        <dgm:presLayoutVars>
          <dgm:bulletEnabled val="1"/>
        </dgm:presLayoutVars>
      </dgm:prSet>
      <dgm:spPr>
        <a:prstGeom prst="ellipse">
          <a:avLst/>
        </a:prstGeom>
      </dgm:spPr>
      <dgm:t>
        <a:bodyPr/>
        <a:lstStyle/>
        <a:p>
          <a:endParaRPr lang="en-IN"/>
        </a:p>
      </dgm:t>
    </dgm:pt>
    <dgm:pt modelId="{51F71C37-B354-467D-A5B1-7E7B5E8089CD}" type="pres">
      <dgm:prSet presAssocID="{B94A8803-9291-4FE0-9149-8598B5F25A84}" presName="dummy" presStyleCnt="0"/>
      <dgm:spPr/>
    </dgm:pt>
    <dgm:pt modelId="{0BA8187D-C7E3-4BEA-9A8D-4FF4A0DA38D7}" type="pres">
      <dgm:prSet presAssocID="{C461E877-407D-45F1-B020-9F78AEF8899B}" presName="sibTrans" presStyleLbl="sibTrans2D1" presStyleIdx="1" presStyleCnt="6"/>
      <dgm:spPr>
        <a:prstGeom prst="blockArc">
          <a:avLst>
            <a:gd name="adj1" fmla="val 19800000"/>
            <a:gd name="adj2" fmla="val 1800000"/>
            <a:gd name="adj3" fmla="val 4517"/>
          </a:avLst>
        </a:prstGeom>
      </dgm:spPr>
      <dgm:t>
        <a:bodyPr/>
        <a:lstStyle/>
        <a:p>
          <a:endParaRPr lang="en-IN"/>
        </a:p>
      </dgm:t>
    </dgm:pt>
    <dgm:pt modelId="{07919B3E-1490-4A2D-8FB7-E8DE36D8F84D}" type="pres">
      <dgm:prSet presAssocID="{EC6B9AA0-E68F-48E0-9434-3EACCE84C669}" presName="node" presStyleLbl="node1" presStyleIdx="2" presStyleCnt="6">
        <dgm:presLayoutVars>
          <dgm:bulletEnabled val="1"/>
        </dgm:presLayoutVars>
      </dgm:prSet>
      <dgm:spPr>
        <a:prstGeom prst="ellipse">
          <a:avLst/>
        </a:prstGeom>
      </dgm:spPr>
      <dgm:t>
        <a:bodyPr/>
        <a:lstStyle/>
        <a:p>
          <a:endParaRPr lang="en-IN"/>
        </a:p>
      </dgm:t>
    </dgm:pt>
    <dgm:pt modelId="{6DF2EBBF-035E-442D-B595-27F83AA9C983}" type="pres">
      <dgm:prSet presAssocID="{EC6B9AA0-E68F-48E0-9434-3EACCE84C669}" presName="dummy" presStyleCnt="0"/>
      <dgm:spPr/>
    </dgm:pt>
    <dgm:pt modelId="{6610C483-DBD8-42C2-AD24-7D299ABD6AF8}" type="pres">
      <dgm:prSet presAssocID="{F7148850-A22A-4DC1-8748-B5BEFA881013}" presName="sibTrans" presStyleLbl="sibTrans2D1" presStyleIdx="2" presStyleCnt="6"/>
      <dgm:spPr>
        <a:prstGeom prst="blockArc">
          <a:avLst>
            <a:gd name="adj1" fmla="val 1800000"/>
            <a:gd name="adj2" fmla="val 5400000"/>
            <a:gd name="adj3" fmla="val 4517"/>
          </a:avLst>
        </a:prstGeom>
      </dgm:spPr>
      <dgm:t>
        <a:bodyPr/>
        <a:lstStyle/>
        <a:p>
          <a:endParaRPr lang="en-IN"/>
        </a:p>
      </dgm:t>
    </dgm:pt>
    <dgm:pt modelId="{52ECC0BC-1E0E-4C58-BEF8-9921B16F9356}" type="pres">
      <dgm:prSet presAssocID="{149C49B4-23C1-41B5-88F9-F90E9CBDD40F}" presName="node" presStyleLbl="node1" presStyleIdx="3" presStyleCnt="6">
        <dgm:presLayoutVars>
          <dgm:bulletEnabled val="1"/>
        </dgm:presLayoutVars>
      </dgm:prSet>
      <dgm:spPr>
        <a:prstGeom prst="ellipse">
          <a:avLst/>
        </a:prstGeom>
      </dgm:spPr>
      <dgm:t>
        <a:bodyPr/>
        <a:lstStyle/>
        <a:p>
          <a:endParaRPr lang="en-IN"/>
        </a:p>
      </dgm:t>
    </dgm:pt>
    <dgm:pt modelId="{CCF1C41A-6591-4B84-A255-91A1C5E3B86C}" type="pres">
      <dgm:prSet presAssocID="{149C49B4-23C1-41B5-88F9-F90E9CBDD40F}" presName="dummy" presStyleCnt="0"/>
      <dgm:spPr/>
    </dgm:pt>
    <dgm:pt modelId="{18CE6A47-2CDD-4F66-BE01-8223ADD06BAB}" type="pres">
      <dgm:prSet presAssocID="{FBCA2BCE-3CD3-4AE8-949C-80E48E960962}" presName="sibTrans" presStyleLbl="sibTrans2D1" presStyleIdx="3" presStyleCnt="6"/>
      <dgm:spPr>
        <a:prstGeom prst="blockArc">
          <a:avLst>
            <a:gd name="adj1" fmla="val 5400000"/>
            <a:gd name="adj2" fmla="val 9000000"/>
            <a:gd name="adj3" fmla="val 4517"/>
          </a:avLst>
        </a:prstGeom>
      </dgm:spPr>
      <dgm:t>
        <a:bodyPr/>
        <a:lstStyle/>
        <a:p>
          <a:endParaRPr lang="en-IN"/>
        </a:p>
      </dgm:t>
    </dgm:pt>
    <dgm:pt modelId="{C3513244-8ADA-4BC2-82D4-2CE2E15AF9C2}" type="pres">
      <dgm:prSet presAssocID="{260B3B58-06AC-4922-ACD2-7F90EC3307B6}" presName="node" presStyleLbl="node1" presStyleIdx="4" presStyleCnt="6">
        <dgm:presLayoutVars>
          <dgm:bulletEnabled val="1"/>
        </dgm:presLayoutVars>
      </dgm:prSet>
      <dgm:spPr>
        <a:prstGeom prst="ellipse">
          <a:avLst/>
        </a:prstGeom>
      </dgm:spPr>
      <dgm:t>
        <a:bodyPr/>
        <a:lstStyle/>
        <a:p>
          <a:endParaRPr lang="en-IN"/>
        </a:p>
      </dgm:t>
    </dgm:pt>
    <dgm:pt modelId="{7EC5C7C0-1853-45C6-8DBB-CBAFD9C80492}" type="pres">
      <dgm:prSet presAssocID="{260B3B58-06AC-4922-ACD2-7F90EC3307B6}" presName="dummy" presStyleCnt="0"/>
      <dgm:spPr/>
    </dgm:pt>
    <dgm:pt modelId="{9C6428BD-9B9B-4C5F-AD45-C1BA0423E890}" type="pres">
      <dgm:prSet presAssocID="{7F79FC8D-FBD4-4C37-8F32-F953FA5B2669}" presName="sibTrans" presStyleLbl="sibTrans2D1" presStyleIdx="4" presStyleCnt="6"/>
      <dgm:spPr>
        <a:prstGeom prst="blockArc">
          <a:avLst>
            <a:gd name="adj1" fmla="val 9000000"/>
            <a:gd name="adj2" fmla="val 12600000"/>
            <a:gd name="adj3" fmla="val 4517"/>
          </a:avLst>
        </a:prstGeom>
      </dgm:spPr>
      <dgm:t>
        <a:bodyPr/>
        <a:lstStyle/>
        <a:p>
          <a:endParaRPr lang="en-IN"/>
        </a:p>
      </dgm:t>
    </dgm:pt>
    <dgm:pt modelId="{60907E69-61DC-45E6-9127-FAA75DFA9DB4}" type="pres">
      <dgm:prSet presAssocID="{C5DDC626-FC85-470A-A6B2-3D32775430D0}" presName="node" presStyleLbl="node1" presStyleIdx="5" presStyleCnt="6">
        <dgm:presLayoutVars>
          <dgm:bulletEnabled val="1"/>
        </dgm:presLayoutVars>
      </dgm:prSet>
      <dgm:spPr>
        <a:prstGeom prst="ellipse">
          <a:avLst/>
        </a:prstGeom>
      </dgm:spPr>
      <dgm:t>
        <a:bodyPr/>
        <a:lstStyle/>
        <a:p>
          <a:endParaRPr lang="en-IN"/>
        </a:p>
      </dgm:t>
    </dgm:pt>
    <dgm:pt modelId="{C3B4D8F9-4AF0-4CC3-A412-17F828C5EA52}" type="pres">
      <dgm:prSet presAssocID="{C5DDC626-FC85-470A-A6B2-3D32775430D0}" presName="dummy" presStyleCnt="0"/>
      <dgm:spPr/>
    </dgm:pt>
    <dgm:pt modelId="{CD83FF8A-8662-4E96-B68A-A49A0A7C6D8F}" type="pres">
      <dgm:prSet presAssocID="{018348B6-4F6C-4244-93FE-0BCC8DAD0416}" presName="sibTrans" presStyleLbl="sibTrans2D1" presStyleIdx="5" presStyleCnt="6"/>
      <dgm:spPr>
        <a:prstGeom prst="blockArc">
          <a:avLst>
            <a:gd name="adj1" fmla="val 12600000"/>
            <a:gd name="adj2" fmla="val 16200000"/>
            <a:gd name="adj3" fmla="val 4517"/>
          </a:avLst>
        </a:prstGeom>
      </dgm:spPr>
      <dgm:t>
        <a:bodyPr/>
        <a:lstStyle/>
        <a:p>
          <a:endParaRPr lang="en-IN"/>
        </a:p>
      </dgm:t>
    </dgm:pt>
  </dgm:ptLst>
  <dgm:cxnLst>
    <dgm:cxn modelId="{EDDC49A1-9604-4BFC-AC0C-83399A720F9F}" type="presOf" srcId="{F7148850-A22A-4DC1-8748-B5BEFA881013}" destId="{6610C483-DBD8-42C2-AD24-7D299ABD6AF8}" srcOrd="0" destOrd="0" presId="urn:microsoft.com/office/officeart/2005/8/layout/radial6"/>
    <dgm:cxn modelId="{AFBB286E-1923-44CA-B83C-1BAC0B61724E}" type="presOf" srcId="{260B3B58-06AC-4922-ACD2-7F90EC3307B6}" destId="{C3513244-8ADA-4BC2-82D4-2CE2E15AF9C2}" srcOrd="0" destOrd="0" presId="urn:microsoft.com/office/officeart/2005/8/layout/radial6"/>
    <dgm:cxn modelId="{58CDD159-742A-41A8-BD27-0A9D561D62C4}" srcId="{D7A2C6BC-BAB5-4499-BBB1-E289DF9CDECC}" destId="{149C49B4-23C1-41B5-88F9-F90E9CBDD40F}" srcOrd="3" destOrd="0" parTransId="{7197F693-9C53-46F4-A410-9FFFB2E15500}" sibTransId="{FBCA2BCE-3CD3-4AE8-949C-80E48E960962}"/>
    <dgm:cxn modelId="{8787DAC6-4DA7-4432-8AA1-879DC183B9D9}" type="presOf" srcId="{7F79FC8D-FBD4-4C37-8F32-F953FA5B2669}" destId="{9C6428BD-9B9B-4C5F-AD45-C1BA0423E890}" srcOrd="0" destOrd="0" presId="urn:microsoft.com/office/officeart/2005/8/layout/radial6"/>
    <dgm:cxn modelId="{5D553801-A67F-43EA-B220-0EF7D254CF86}" srcId="{D7A2C6BC-BAB5-4499-BBB1-E289DF9CDECC}" destId="{7310E487-7B61-4678-ACBA-6CF567684DA2}" srcOrd="0" destOrd="0" parTransId="{CD67E34C-1506-44EE-BCCA-3C11F07986B5}" sibTransId="{71DB9537-352E-42D3-82D7-27343170A729}"/>
    <dgm:cxn modelId="{98E4B8C8-57DD-4EFA-8699-71EB64C71C13}" srcId="{D7A2C6BC-BAB5-4499-BBB1-E289DF9CDECC}" destId="{B94A8803-9291-4FE0-9149-8598B5F25A84}" srcOrd="1" destOrd="0" parTransId="{296C60AF-D157-4596-AF81-A03CEB3C653D}" sibTransId="{C461E877-407D-45F1-B020-9F78AEF8899B}"/>
    <dgm:cxn modelId="{B0001A50-7956-49F7-9EDE-7E7F3FD99264}" type="presOf" srcId="{149C49B4-23C1-41B5-88F9-F90E9CBDD40F}" destId="{52ECC0BC-1E0E-4C58-BEF8-9921B16F9356}" srcOrd="0" destOrd="0" presId="urn:microsoft.com/office/officeart/2005/8/layout/radial6"/>
    <dgm:cxn modelId="{297463C8-4F9B-4C05-AC6E-9AEDD00A565B}" type="presOf" srcId="{018348B6-4F6C-4244-93FE-0BCC8DAD0416}" destId="{CD83FF8A-8662-4E96-B68A-A49A0A7C6D8F}" srcOrd="0" destOrd="0" presId="urn:microsoft.com/office/officeart/2005/8/layout/radial6"/>
    <dgm:cxn modelId="{5A89EC9D-5BCC-48A4-A8F7-DE13173315D1}" type="presOf" srcId="{D7A2C6BC-BAB5-4499-BBB1-E289DF9CDECC}" destId="{4CEF1119-DA0E-4D21-AB52-C779FDB824A3}" srcOrd="0" destOrd="0" presId="urn:microsoft.com/office/officeart/2005/8/layout/radial6"/>
    <dgm:cxn modelId="{AD6B0408-BCAF-4D93-A223-BE53EEDF9436}" type="presOf" srcId="{EC6B9AA0-E68F-48E0-9434-3EACCE84C669}" destId="{07919B3E-1490-4A2D-8FB7-E8DE36D8F84D}" srcOrd="0" destOrd="0" presId="urn:microsoft.com/office/officeart/2005/8/layout/radial6"/>
    <dgm:cxn modelId="{79E8CBFA-A56F-4BBB-9DF8-B4A72EA8911B}" srcId="{3F016F4F-3B86-4B93-A14E-3376976E21FB}" destId="{D7A2C6BC-BAB5-4499-BBB1-E289DF9CDECC}" srcOrd="0" destOrd="0" parTransId="{8D7F520B-5544-42A8-B2F7-3CFCC4002D22}" sibTransId="{297FF734-48B3-4596-9413-A33F5D3EBC06}"/>
    <dgm:cxn modelId="{CC79EF3B-1D81-4973-A5DF-7D4181C93D1B}" type="presOf" srcId="{3F016F4F-3B86-4B93-A14E-3376976E21FB}" destId="{405096DB-88A4-486E-9030-7FB1DCFC9F12}" srcOrd="0" destOrd="0" presId="urn:microsoft.com/office/officeart/2005/8/layout/radial6"/>
    <dgm:cxn modelId="{6C5F5F67-541D-44BF-A290-26A1BE5C7FAC}" type="presOf" srcId="{71DB9537-352E-42D3-82D7-27343170A729}" destId="{643E3D03-AA0F-44A9-BA71-476F734956AC}" srcOrd="0" destOrd="0" presId="urn:microsoft.com/office/officeart/2005/8/layout/radial6"/>
    <dgm:cxn modelId="{CE317D46-E73C-433D-BA2D-BE1E5B448081}" srcId="{D7A2C6BC-BAB5-4499-BBB1-E289DF9CDECC}" destId="{260B3B58-06AC-4922-ACD2-7F90EC3307B6}" srcOrd="4" destOrd="0" parTransId="{9637046E-CA89-4AC5-94E4-DDE82F3A3A6B}" sibTransId="{7F79FC8D-FBD4-4C37-8F32-F953FA5B2669}"/>
    <dgm:cxn modelId="{C79CFEB8-1D3C-4CC5-8413-0B8208475F96}" type="presOf" srcId="{B94A8803-9291-4FE0-9149-8598B5F25A84}" destId="{4CF5B0DB-93E9-4829-9575-D88CF06FCF82}" srcOrd="0" destOrd="0" presId="urn:microsoft.com/office/officeart/2005/8/layout/radial6"/>
    <dgm:cxn modelId="{D8BDA69D-54ED-4FA7-AE02-70C4782DAF05}" type="presOf" srcId="{C461E877-407D-45F1-B020-9F78AEF8899B}" destId="{0BA8187D-C7E3-4BEA-9A8D-4FF4A0DA38D7}" srcOrd="0" destOrd="0" presId="urn:microsoft.com/office/officeart/2005/8/layout/radial6"/>
    <dgm:cxn modelId="{CEE8814F-F7B1-44B7-B37A-41CB1A9798B1}" type="presOf" srcId="{C5DDC626-FC85-470A-A6B2-3D32775430D0}" destId="{60907E69-61DC-45E6-9127-FAA75DFA9DB4}" srcOrd="0" destOrd="0" presId="urn:microsoft.com/office/officeart/2005/8/layout/radial6"/>
    <dgm:cxn modelId="{FBF4E184-7741-4797-B9BC-AEA659E3F63F}" type="presOf" srcId="{FBCA2BCE-3CD3-4AE8-949C-80E48E960962}" destId="{18CE6A47-2CDD-4F66-BE01-8223ADD06BAB}" srcOrd="0" destOrd="0" presId="urn:microsoft.com/office/officeart/2005/8/layout/radial6"/>
    <dgm:cxn modelId="{D088CDCA-C518-4EC4-BCE7-1A8026661E60}" srcId="{D7A2C6BC-BAB5-4499-BBB1-E289DF9CDECC}" destId="{C5DDC626-FC85-470A-A6B2-3D32775430D0}" srcOrd="5" destOrd="0" parTransId="{31CEC04E-B744-45E8-B3CF-EF010AC9E78B}" sibTransId="{018348B6-4F6C-4244-93FE-0BCC8DAD0416}"/>
    <dgm:cxn modelId="{559FB772-B4B8-493D-976F-A761E9976F29}" srcId="{D7A2C6BC-BAB5-4499-BBB1-E289DF9CDECC}" destId="{EC6B9AA0-E68F-48E0-9434-3EACCE84C669}" srcOrd="2" destOrd="0" parTransId="{471A75F7-08B5-487A-9EEE-116518372BEC}" sibTransId="{F7148850-A22A-4DC1-8748-B5BEFA881013}"/>
    <dgm:cxn modelId="{865EC4F9-22AE-43BA-85F0-F6C52FDF444F}" type="presOf" srcId="{7310E487-7B61-4678-ACBA-6CF567684DA2}" destId="{5B82602B-3461-4DF9-A05D-66699FEDD03C}" srcOrd="0" destOrd="0" presId="urn:microsoft.com/office/officeart/2005/8/layout/radial6"/>
    <dgm:cxn modelId="{17F6769A-E846-4C61-9408-AC254E1DD817}" type="presParOf" srcId="{405096DB-88A4-486E-9030-7FB1DCFC9F12}" destId="{4CEF1119-DA0E-4D21-AB52-C779FDB824A3}" srcOrd="0" destOrd="0" presId="urn:microsoft.com/office/officeart/2005/8/layout/radial6"/>
    <dgm:cxn modelId="{0BF4EEEF-8FC7-4863-B5F5-6CFBAD7B1675}" type="presParOf" srcId="{405096DB-88A4-486E-9030-7FB1DCFC9F12}" destId="{5B82602B-3461-4DF9-A05D-66699FEDD03C}" srcOrd="1" destOrd="0" presId="urn:microsoft.com/office/officeart/2005/8/layout/radial6"/>
    <dgm:cxn modelId="{A3BB4245-6A86-412D-8F95-31271568D21A}" type="presParOf" srcId="{405096DB-88A4-486E-9030-7FB1DCFC9F12}" destId="{61A1DEA5-89C4-49CC-B618-8E4110131177}" srcOrd="2" destOrd="0" presId="urn:microsoft.com/office/officeart/2005/8/layout/radial6"/>
    <dgm:cxn modelId="{FFEAAA90-75DC-41DA-97AE-8822A2377FA9}" type="presParOf" srcId="{405096DB-88A4-486E-9030-7FB1DCFC9F12}" destId="{643E3D03-AA0F-44A9-BA71-476F734956AC}" srcOrd="3" destOrd="0" presId="urn:microsoft.com/office/officeart/2005/8/layout/radial6"/>
    <dgm:cxn modelId="{83E1B9A6-D98A-484E-A455-FEEF01CC1DB8}" type="presParOf" srcId="{405096DB-88A4-486E-9030-7FB1DCFC9F12}" destId="{4CF5B0DB-93E9-4829-9575-D88CF06FCF82}" srcOrd="4" destOrd="0" presId="urn:microsoft.com/office/officeart/2005/8/layout/radial6"/>
    <dgm:cxn modelId="{D65AD69D-7ED5-4137-904C-D774FB473549}" type="presParOf" srcId="{405096DB-88A4-486E-9030-7FB1DCFC9F12}" destId="{51F71C37-B354-467D-A5B1-7E7B5E8089CD}" srcOrd="5" destOrd="0" presId="urn:microsoft.com/office/officeart/2005/8/layout/radial6"/>
    <dgm:cxn modelId="{EC1C79A6-E55A-4E0F-816C-B9AEFEB3F64F}" type="presParOf" srcId="{405096DB-88A4-486E-9030-7FB1DCFC9F12}" destId="{0BA8187D-C7E3-4BEA-9A8D-4FF4A0DA38D7}" srcOrd="6" destOrd="0" presId="urn:microsoft.com/office/officeart/2005/8/layout/radial6"/>
    <dgm:cxn modelId="{37F4E984-12F0-4191-B6E1-55230C3A4D51}" type="presParOf" srcId="{405096DB-88A4-486E-9030-7FB1DCFC9F12}" destId="{07919B3E-1490-4A2D-8FB7-E8DE36D8F84D}" srcOrd="7" destOrd="0" presId="urn:microsoft.com/office/officeart/2005/8/layout/radial6"/>
    <dgm:cxn modelId="{D4E1E380-429D-4732-BC67-B28D85AEB66A}" type="presParOf" srcId="{405096DB-88A4-486E-9030-7FB1DCFC9F12}" destId="{6DF2EBBF-035E-442D-B595-27F83AA9C983}" srcOrd="8" destOrd="0" presId="urn:microsoft.com/office/officeart/2005/8/layout/radial6"/>
    <dgm:cxn modelId="{2B6E1CDD-373B-4888-8D75-A2B954C6D2ED}" type="presParOf" srcId="{405096DB-88A4-486E-9030-7FB1DCFC9F12}" destId="{6610C483-DBD8-42C2-AD24-7D299ABD6AF8}" srcOrd="9" destOrd="0" presId="urn:microsoft.com/office/officeart/2005/8/layout/radial6"/>
    <dgm:cxn modelId="{E299ED88-36A7-4F0E-B965-3B98F5C3695F}" type="presParOf" srcId="{405096DB-88A4-486E-9030-7FB1DCFC9F12}" destId="{52ECC0BC-1E0E-4C58-BEF8-9921B16F9356}" srcOrd="10" destOrd="0" presId="urn:microsoft.com/office/officeart/2005/8/layout/radial6"/>
    <dgm:cxn modelId="{E765D031-6E0F-442D-9CA5-AAD59E34759B}" type="presParOf" srcId="{405096DB-88A4-486E-9030-7FB1DCFC9F12}" destId="{CCF1C41A-6591-4B84-A255-91A1C5E3B86C}" srcOrd="11" destOrd="0" presId="urn:microsoft.com/office/officeart/2005/8/layout/radial6"/>
    <dgm:cxn modelId="{D8D9E35B-0AC2-4E93-8E8D-96DF60FA7AC4}" type="presParOf" srcId="{405096DB-88A4-486E-9030-7FB1DCFC9F12}" destId="{18CE6A47-2CDD-4F66-BE01-8223ADD06BAB}" srcOrd="12" destOrd="0" presId="urn:microsoft.com/office/officeart/2005/8/layout/radial6"/>
    <dgm:cxn modelId="{9F6D7755-6CBE-4364-85BE-6BD88C928BF3}" type="presParOf" srcId="{405096DB-88A4-486E-9030-7FB1DCFC9F12}" destId="{C3513244-8ADA-4BC2-82D4-2CE2E15AF9C2}" srcOrd="13" destOrd="0" presId="urn:microsoft.com/office/officeart/2005/8/layout/radial6"/>
    <dgm:cxn modelId="{CD1907BD-C996-4C2C-B645-71B1C577E157}" type="presParOf" srcId="{405096DB-88A4-486E-9030-7FB1DCFC9F12}" destId="{7EC5C7C0-1853-45C6-8DBB-CBAFD9C80492}" srcOrd="14" destOrd="0" presId="urn:microsoft.com/office/officeart/2005/8/layout/radial6"/>
    <dgm:cxn modelId="{E2D27257-4694-439E-BB21-A888DBE4876F}" type="presParOf" srcId="{405096DB-88A4-486E-9030-7FB1DCFC9F12}" destId="{9C6428BD-9B9B-4C5F-AD45-C1BA0423E890}" srcOrd="15" destOrd="0" presId="urn:microsoft.com/office/officeart/2005/8/layout/radial6"/>
    <dgm:cxn modelId="{766ECF13-B2C8-47F6-8FAA-A0E699F8BAEB}" type="presParOf" srcId="{405096DB-88A4-486E-9030-7FB1DCFC9F12}" destId="{60907E69-61DC-45E6-9127-FAA75DFA9DB4}" srcOrd="16" destOrd="0" presId="urn:microsoft.com/office/officeart/2005/8/layout/radial6"/>
    <dgm:cxn modelId="{129D38FA-3BCF-4EE9-8A37-535993037CEA}" type="presParOf" srcId="{405096DB-88A4-486E-9030-7FB1DCFC9F12}" destId="{C3B4D8F9-4AF0-4CC3-A412-17F828C5EA52}" srcOrd="17" destOrd="0" presId="urn:microsoft.com/office/officeart/2005/8/layout/radial6"/>
    <dgm:cxn modelId="{C0DA5BA4-93DA-4C7F-8751-E3B1198127A4}" type="presParOf" srcId="{405096DB-88A4-486E-9030-7FB1DCFC9F12}" destId="{CD83FF8A-8662-4E96-B68A-A49A0A7C6D8F}" srcOrd="18"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E3ED1A-AC9E-4D60-9F74-3A33D15111EC}" type="doc">
      <dgm:prSet loTypeId="urn:microsoft.com/office/officeart/2005/8/layout/arrow4" loCatId="relationship" qsTypeId="urn:microsoft.com/office/officeart/2005/8/quickstyle/simple4" qsCatId="simple" csTypeId="urn:microsoft.com/office/officeart/2005/8/colors/accent0_3" csCatId="mainScheme" phldr="1"/>
      <dgm:spPr/>
      <dgm:t>
        <a:bodyPr/>
        <a:lstStyle/>
        <a:p>
          <a:endParaRPr lang="en-US"/>
        </a:p>
      </dgm:t>
    </dgm:pt>
    <dgm:pt modelId="{B4492F7F-1284-4570-97C3-302521C72602}">
      <dgm:prSet phldrT="[Text]" custT="1"/>
      <dgm:spPr>
        <a:xfrm>
          <a:off x="633892" y="0"/>
          <a:ext cx="2521218" cy="548587"/>
        </a:xfrm>
        <a:noFill/>
        <a:ln>
          <a:noFill/>
        </a:ln>
        <a:effectLst/>
      </dgm:spPr>
      <dgm:t>
        <a:bodyPr/>
        <a:lstStyle/>
        <a:p>
          <a:r>
            <a:rPr lang="en-US" sz="1000" b="0" dirty="0">
              <a:solidFill>
                <a:sysClr val="windowText" lastClr="000000">
                  <a:hueOff val="0"/>
                  <a:satOff val="0"/>
                  <a:lumOff val="0"/>
                  <a:alphaOff val="0"/>
                </a:sysClr>
              </a:solidFill>
              <a:latin typeface="Calibri" panose="020F0502020204030204"/>
              <a:ea typeface="+mn-ea"/>
              <a:cs typeface="+mn-cs"/>
            </a:rPr>
            <a:t>Higher  Conversions</a:t>
          </a:r>
        </a:p>
        <a:p>
          <a:r>
            <a:rPr lang="en-US" sz="1000" b="0" dirty="0">
              <a:solidFill>
                <a:sysClr val="windowText" lastClr="000000">
                  <a:hueOff val="0"/>
                  <a:satOff val="0"/>
                  <a:lumOff val="0"/>
                  <a:alphaOff val="0"/>
                </a:sysClr>
              </a:solidFill>
              <a:latin typeface="Calibri" panose="020F0502020204030204"/>
              <a:ea typeface="+mn-ea"/>
              <a:cs typeface="+mn-cs"/>
            </a:rPr>
            <a:t>Customer Base Growth</a:t>
          </a:r>
        </a:p>
      </dgm:t>
    </dgm:pt>
    <dgm:pt modelId="{9932B9C8-A34F-4C3C-9E19-428B35DA3E60}" type="parTrans" cxnId="{8C0C1C9C-D4E7-4F7B-A7E3-2E5D6DC181AC}">
      <dgm:prSet/>
      <dgm:spPr/>
      <dgm:t>
        <a:bodyPr/>
        <a:lstStyle/>
        <a:p>
          <a:endParaRPr lang="en-US" sz="1500">
            <a:solidFill>
              <a:schemeClr val="accent6">
                <a:lumMod val="50000"/>
              </a:schemeClr>
            </a:solidFill>
          </a:endParaRPr>
        </a:p>
      </dgm:t>
    </dgm:pt>
    <dgm:pt modelId="{48BEEF0D-4B06-420A-8782-E7EB48F016C5}" type="sibTrans" cxnId="{8C0C1C9C-D4E7-4F7B-A7E3-2E5D6DC181AC}">
      <dgm:prSet/>
      <dgm:spPr/>
      <dgm:t>
        <a:bodyPr/>
        <a:lstStyle/>
        <a:p>
          <a:endParaRPr lang="en-US" sz="1500">
            <a:solidFill>
              <a:schemeClr val="accent6">
                <a:lumMod val="50000"/>
              </a:schemeClr>
            </a:solidFill>
          </a:endParaRPr>
        </a:p>
      </dgm:t>
    </dgm:pt>
    <dgm:pt modelId="{36CD46AA-A9E9-4148-BC29-91DBB7B6D708}">
      <dgm:prSet phldrT="[Text]" custT="1"/>
      <dgm:spPr>
        <a:xfrm>
          <a:off x="660814" y="593929"/>
          <a:ext cx="2530125" cy="363197"/>
        </a:xfrm>
        <a:noFill/>
        <a:ln>
          <a:noFill/>
        </a:ln>
        <a:effectLst/>
      </dgm:spPr>
      <dgm:t>
        <a:bodyPr/>
        <a:lstStyle/>
        <a:p>
          <a:pPr algn="l"/>
          <a:r>
            <a:rPr lang="en-US" sz="1000" b="0" dirty="0">
              <a:solidFill>
                <a:sysClr val="windowText" lastClr="000000">
                  <a:hueOff val="0"/>
                  <a:satOff val="0"/>
                  <a:lumOff val="0"/>
                  <a:alphaOff val="0"/>
                </a:sysClr>
              </a:solidFill>
              <a:latin typeface="Calibri" panose="020F0502020204030204"/>
              <a:ea typeface="+mn-ea"/>
              <a:cs typeface="+mn-cs"/>
            </a:rPr>
            <a:t>Cost of Customer Acquisition </a:t>
          </a:r>
        </a:p>
      </dgm:t>
    </dgm:pt>
    <dgm:pt modelId="{575A4542-F128-4CB1-8F1E-3B03249BE6DF}" type="parTrans" cxnId="{DD06C770-D878-4259-B1EB-62C599C5769F}">
      <dgm:prSet/>
      <dgm:spPr/>
      <dgm:t>
        <a:bodyPr/>
        <a:lstStyle/>
        <a:p>
          <a:endParaRPr lang="en-US" sz="1500">
            <a:solidFill>
              <a:schemeClr val="accent6">
                <a:lumMod val="50000"/>
              </a:schemeClr>
            </a:solidFill>
          </a:endParaRPr>
        </a:p>
      </dgm:t>
    </dgm:pt>
    <dgm:pt modelId="{0952BF45-C793-4653-8240-37A129ED0AC5}" type="sibTrans" cxnId="{DD06C770-D878-4259-B1EB-62C599C5769F}">
      <dgm:prSet/>
      <dgm:spPr/>
      <dgm:t>
        <a:bodyPr/>
        <a:lstStyle/>
        <a:p>
          <a:endParaRPr lang="en-US" sz="1500">
            <a:solidFill>
              <a:schemeClr val="accent6">
                <a:lumMod val="50000"/>
              </a:schemeClr>
            </a:solidFill>
          </a:endParaRPr>
        </a:p>
      </dgm:t>
    </dgm:pt>
    <dgm:pt modelId="{6E888733-5615-43FE-BFFF-783C4241E954}" type="pres">
      <dgm:prSet presAssocID="{8EE3ED1A-AC9E-4D60-9F74-3A33D15111EC}" presName="compositeShape" presStyleCnt="0">
        <dgm:presLayoutVars>
          <dgm:chMax val="2"/>
          <dgm:dir/>
          <dgm:resizeHandles val="exact"/>
        </dgm:presLayoutVars>
      </dgm:prSet>
      <dgm:spPr/>
      <dgm:t>
        <a:bodyPr/>
        <a:lstStyle/>
        <a:p>
          <a:endParaRPr lang="en-IN"/>
        </a:p>
      </dgm:t>
    </dgm:pt>
    <dgm:pt modelId="{EBD677D4-A8EB-441B-BEC6-7C1CAD1E8437}" type="pres">
      <dgm:prSet presAssocID="{B4492F7F-1284-4570-97C3-302521C72602}" presName="upArrow" presStyleLbl="node1" presStyleIdx="0" presStyleCnt="2" custLinFactNeighborX="-15592" custLinFactNeighborY="-14439"/>
      <dgm:spPr>
        <a:xfrm>
          <a:off x="0" y="0"/>
          <a:ext cx="731449" cy="548587"/>
        </a:xfrm>
        <a:prstGeom prst="upArrow">
          <a:avLst/>
        </a:prstGeom>
        <a:gradFill rotWithShape="0">
          <a:gsLst>
            <a:gs pos="0">
              <a:srgbClr val="212745">
                <a:hueOff val="0"/>
                <a:satOff val="0"/>
                <a:lumOff val="0"/>
                <a:alphaOff val="0"/>
                <a:satMod val="103000"/>
                <a:lumMod val="102000"/>
                <a:tint val="94000"/>
              </a:srgbClr>
            </a:gs>
            <a:gs pos="50000">
              <a:srgbClr val="212745">
                <a:hueOff val="0"/>
                <a:satOff val="0"/>
                <a:lumOff val="0"/>
                <a:alphaOff val="0"/>
                <a:satMod val="110000"/>
                <a:lumMod val="100000"/>
                <a:shade val="100000"/>
              </a:srgbClr>
            </a:gs>
            <a:gs pos="100000">
              <a:srgbClr val="212745">
                <a:hueOff val="0"/>
                <a:satOff val="0"/>
                <a:lumOff val="0"/>
                <a:alphaOff val="0"/>
                <a:lumMod val="99000"/>
                <a:satMod val="120000"/>
                <a:shade val="78000"/>
              </a:srgbClr>
            </a:gs>
          </a:gsLst>
          <a:lin ang="5400000" scaled="0"/>
        </a:gradFill>
        <a:ln>
          <a:noFill/>
        </a:ln>
        <a:effectLst/>
      </dgm:spPr>
    </dgm:pt>
    <dgm:pt modelId="{0093B2EC-0E94-4DB7-8D6D-03F6C8936301}" type="pres">
      <dgm:prSet presAssocID="{B4492F7F-1284-4570-97C3-302521C72602}" presName="upArrowText" presStyleLbl="revTx" presStyleIdx="0" presStyleCnt="2" custScaleX="135580" custLinFactNeighborX="7250">
        <dgm:presLayoutVars>
          <dgm:chMax val="0"/>
          <dgm:bulletEnabled val="1"/>
        </dgm:presLayoutVars>
      </dgm:prSet>
      <dgm:spPr>
        <a:prstGeom prst="rect">
          <a:avLst/>
        </a:prstGeom>
      </dgm:spPr>
      <dgm:t>
        <a:bodyPr/>
        <a:lstStyle/>
        <a:p>
          <a:endParaRPr lang="en-IN"/>
        </a:p>
      </dgm:t>
    </dgm:pt>
    <dgm:pt modelId="{DA659C8C-44F1-4D0A-804F-BA87CB09889E}" type="pres">
      <dgm:prSet presAssocID="{36CD46AA-A9E9-4148-BC29-91DBB7B6D708}" presName="downArrow" presStyleLbl="node1" presStyleIdx="1" presStyleCnt="2" custLinFactNeighborX="-44790" custLinFactNeighborY="-1615"/>
      <dgm:spPr>
        <a:xfrm>
          <a:off x="0" y="585443"/>
          <a:ext cx="731449" cy="548587"/>
        </a:xfrm>
        <a:prstGeom prst="downArrow">
          <a:avLst/>
        </a:prstGeom>
        <a:gradFill rotWithShape="0">
          <a:gsLst>
            <a:gs pos="0">
              <a:srgbClr val="212745">
                <a:hueOff val="0"/>
                <a:satOff val="0"/>
                <a:lumOff val="0"/>
                <a:alphaOff val="0"/>
                <a:satMod val="103000"/>
                <a:lumMod val="102000"/>
                <a:tint val="94000"/>
              </a:srgbClr>
            </a:gs>
            <a:gs pos="50000">
              <a:srgbClr val="212745">
                <a:hueOff val="0"/>
                <a:satOff val="0"/>
                <a:lumOff val="0"/>
                <a:alphaOff val="0"/>
                <a:satMod val="110000"/>
                <a:lumMod val="100000"/>
                <a:shade val="100000"/>
              </a:srgbClr>
            </a:gs>
            <a:gs pos="100000">
              <a:srgbClr val="212745">
                <a:hueOff val="0"/>
                <a:satOff val="0"/>
                <a:lumOff val="0"/>
                <a:alphaOff val="0"/>
                <a:lumMod val="99000"/>
                <a:satMod val="120000"/>
                <a:shade val="78000"/>
              </a:srgbClr>
            </a:gs>
          </a:gsLst>
          <a:lin ang="5400000" scaled="0"/>
        </a:gradFill>
        <a:ln>
          <a:noFill/>
        </a:ln>
        <a:effectLst/>
      </dgm:spPr>
    </dgm:pt>
    <dgm:pt modelId="{8D2507B1-C7D1-4C03-8312-9A4F16B491F5}" type="pres">
      <dgm:prSet presAssocID="{36CD46AA-A9E9-4148-BC29-91DBB7B6D708}" presName="downArrowText" presStyleLbl="revTx" presStyleIdx="1" presStyleCnt="2" custScaleX="136059" custScaleY="66206" custLinFactNeighborX="-2863" custLinFactNeighborY="-16965">
        <dgm:presLayoutVars>
          <dgm:chMax val="0"/>
          <dgm:bulletEnabled val="1"/>
        </dgm:presLayoutVars>
      </dgm:prSet>
      <dgm:spPr>
        <a:prstGeom prst="rect">
          <a:avLst/>
        </a:prstGeom>
      </dgm:spPr>
      <dgm:t>
        <a:bodyPr/>
        <a:lstStyle/>
        <a:p>
          <a:endParaRPr lang="en-IN"/>
        </a:p>
      </dgm:t>
    </dgm:pt>
  </dgm:ptLst>
  <dgm:cxnLst>
    <dgm:cxn modelId="{DD06C770-D878-4259-B1EB-62C599C5769F}" srcId="{8EE3ED1A-AC9E-4D60-9F74-3A33D15111EC}" destId="{36CD46AA-A9E9-4148-BC29-91DBB7B6D708}" srcOrd="1" destOrd="0" parTransId="{575A4542-F128-4CB1-8F1E-3B03249BE6DF}" sibTransId="{0952BF45-C793-4653-8240-37A129ED0AC5}"/>
    <dgm:cxn modelId="{462FADF0-711E-4FF2-8B06-7FA5465ED13D}" type="presOf" srcId="{8EE3ED1A-AC9E-4D60-9F74-3A33D15111EC}" destId="{6E888733-5615-43FE-BFFF-783C4241E954}" srcOrd="0" destOrd="0" presId="urn:microsoft.com/office/officeart/2005/8/layout/arrow4"/>
    <dgm:cxn modelId="{8C0C1C9C-D4E7-4F7B-A7E3-2E5D6DC181AC}" srcId="{8EE3ED1A-AC9E-4D60-9F74-3A33D15111EC}" destId="{B4492F7F-1284-4570-97C3-302521C72602}" srcOrd="0" destOrd="0" parTransId="{9932B9C8-A34F-4C3C-9E19-428B35DA3E60}" sibTransId="{48BEEF0D-4B06-420A-8782-E7EB48F016C5}"/>
    <dgm:cxn modelId="{7B129B7A-94E8-4E11-83B2-999F861FD0B8}" type="presOf" srcId="{36CD46AA-A9E9-4148-BC29-91DBB7B6D708}" destId="{8D2507B1-C7D1-4C03-8312-9A4F16B491F5}" srcOrd="0" destOrd="0" presId="urn:microsoft.com/office/officeart/2005/8/layout/arrow4"/>
    <dgm:cxn modelId="{1A0A4807-3262-4F6F-A304-7DA1F886B79F}" type="presOf" srcId="{B4492F7F-1284-4570-97C3-302521C72602}" destId="{0093B2EC-0E94-4DB7-8D6D-03F6C8936301}" srcOrd="0" destOrd="0" presId="urn:microsoft.com/office/officeart/2005/8/layout/arrow4"/>
    <dgm:cxn modelId="{E1CC4F41-F8A8-491E-A6AA-BE4E4F369AE5}" type="presParOf" srcId="{6E888733-5615-43FE-BFFF-783C4241E954}" destId="{EBD677D4-A8EB-441B-BEC6-7C1CAD1E8437}" srcOrd="0" destOrd="0" presId="urn:microsoft.com/office/officeart/2005/8/layout/arrow4"/>
    <dgm:cxn modelId="{210DBADB-98CA-496C-A382-23F4DEB397AE}" type="presParOf" srcId="{6E888733-5615-43FE-BFFF-783C4241E954}" destId="{0093B2EC-0E94-4DB7-8D6D-03F6C8936301}" srcOrd="1" destOrd="0" presId="urn:microsoft.com/office/officeart/2005/8/layout/arrow4"/>
    <dgm:cxn modelId="{3E649D29-DBFC-4429-946A-6894FA0055F3}" type="presParOf" srcId="{6E888733-5615-43FE-BFFF-783C4241E954}" destId="{DA659C8C-44F1-4D0A-804F-BA87CB09889E}" srcOrd="2" destOrd="0" presId="urn:microsoft.com/office/officeart/2005/8/layout/arrow4"/>
    <dgm:cxn modelId="{0F1C0071-E73D-490C-896A-374F9DFEECB7}" type="presParOf" srcId="{6E888733-5615-43FE-BFFF-783C4241E954}" destId="{8D2507B1-C7D1-4C03-8312-9A4F16B491F5}" srcOrd="3" destOrd="0" presId="urn:microsoft.com/office/officeart/2005/8/layout/arrow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E3ED1A-AC9E-4D60-9F74-3A33D15111EC}" type="doc">
      <dgm:prSet loTypeId="urn:microsoft.com/office/officeart/2005/8/layout/arrow4" loCatId="relationship" qsTypeId="urn:microsoft.com/office/officeart/2005/8/quickstyle/simple4" qsCatId="simple" csTypeId="urn:microsoft.com/office/officeart/2005/8/colors/accent0_3" csCatId="mainScheme" phldr="1"/>
      <dgm:spPr/>
      <dgm:t>
        <a:bodyPr/>
        <a:lstStyle/>
        <a:p>
          <a:endParaRPr lang="en-US"/>
        </a:p>
      </dgm:t>
    </dgm:pt>
    <dgm:pt modelId="{B4492F7F-1284-4570-97C3-302521C72602}">
      <dgm:prSet phldrT="[Text]" custT="1"/>
      <dgm:spPr>
        <a:xfrm>
          <a:off x="633892" y="0"/>
          <a:ext cx="2521218" cy="548587"/>
        </a:xfrm>
        <a:noFill/>
        <a:ln>
          <a:noFill/>
        </a:ln>
        <a:effectLst/>
      </dgm:spPr>
      <dgm:t>
        <a:bodyPr/>
        <a:lstStyle/>
        <a:p>
          <a:r>
            <a:rPr lang="en-US" sz="1000" b="0" dirty="0">
              <a:solidFill>
                <a:sysClr val="windowText" lastClr="000000">
                  <a:hueOff val="0"/>
                  <a:satOff val="0"/>
                  <a:lumOff val="0"/>
                  <a:alphaOff val="0"/>
                </a:sysClr>
              </a:solidFill>
              <a:latin typeface="Calibri" panose="020F0502020204030204"/>
              <a:ea typeface="+mn-ea"/>
              <a:cs typeface="+mn-cs"/>
            </a:rPr>
            <a:t>Revenue/customer</a:t>
          </a:r>
        </a:p>
        <a:p>
          <a:r>
            <a:rPr lang="en-US" sz="1000" b="0" dirty="0">
              <a:solidFill>
                <a:sysClr val="windowText" lastClr="000000">
                  <a:hueOff val="0"/>
                  <a:satOff val="0"/>
                  <a:lumOff val="0"/>
                  <a:alphaOff val="0"/>
                </a:sysClr>
              </a:solidFill>
              <a:latin typeface="Calibri" panose="020F0502020204030204"/>
              <a:ea typeface="+mn-ea"/>
              <a:cs typeface="+mn-cs"/>
            </a:rPr>
            <a:t>Cross Sell &amp; Up-sell</a:t>
          </a:r>
        </a:p>
      </dgm:t>
    </dgm:pt>
    <dgm:pt modelId="{9932B9C8-A34F-4C3C-9E19-428B35DA3E60}" type="parTrans" cxnId="{8C0C1C9C-D4E7-4F7B-A7E3-2E5D6DC181AC}">
      <dgm:prSet/>
      <dgm:spPr/>
      <dgm:t>
        <a:bodyPr/>
        <a:lstStyle/>
        <a:p>
          <a:endParaRPr lang="en-US" sz="1500">
            <a:solidFill>
              <a:schemeClr val="accent6">
                <a:lumMod val="50000"/>
              </a:schemeClr>
            </a:solidFill>
          </a:endParaRPr>
        </a:p>
      </dgm:t>
    </dgm:pt>
    <dgm:pt modelId="{48BEEF0D-4B06-420A-8782-E7EB48F016C5}" type="sibTrans" cxnId="{8C0C1C9C-D4E7-4F7B-A7E3-2E5D6DC181AC}">
      <dgm:prSet/>
      <dgm:spPr/>
      <dgm:t>
        <a:bodyPr/>
        <a:lstStyle/>
        <a:p>
          <a:endParaRPr lang="en-US" sz="1500">
            <a:solidFill>
              <a:schemeClr val="accent6">
                <a:lumMod val="50000"/>
              </a:schemeClr>
            </a:solidFill>
          </a:endParaRPr>
        </a:p>
      </dgm:t>
    </dgm:pt>
    <dgm:pt modelId="{36CD46AA-A9E9-4148-BC29-91DBB7B6D708}">
      <dgm:prSet phldrT="[Text]" custT="1"/>
      <dgm:spPr>
        <a:xfrm>
          <a:off x="660814" y="593929"/>
          <a:ext cx="2530125" cy="363197"/>
        </a:xfrm>
        <a:noFill/>
        <a:ln>
          <a:noFill/>
        </a:ln>
        <a:effectLst/>
      </dgm:spPr>
      <dgm:t>
        <a:bodyPr/>
        <a:lstStyle/>
        <a:p>
          <a:pPr algn="l"/>
          <a:r>
            <a:rPr lang="en-US" sz="1000" b="0" dirty="0">
              <a:solidFill>
                <a:sysClr val="windowText" lastClr="000000">
                  <a:hueOff val="0"/>
                  <a:satOff val="0"/>
                  <a:lumOff val="0"/>
                  <a:alphaOff val="0"/>
                </a:sysClr>
              </a:solidFill>
              <a:latin typeface="Calibri" panose="020F0502020204030204"/>
              <a:ea typeface="+mn-ea"/>
              <a:cs typeface="+mn-cs"/>
            </a:rPr>
            <a:t>Churn &amp; </a:t>
          </a:r>
        </a:p>
        <a:p>
          <a:pPr algn="l"/>
          <a:r>
            <a:rPr lang="en-US" sz="1000" b="0" dirty="0">
              <a:solidFill>
                <a:sysClr val="windowText" lastClr="000000">
                  <a:hueOff val="0"/>
                  <a:satOff val="0"/>
                  <a:lumOff val="0"/>
                  <a:alphaOff val="0"/>
                </a:sysClr>
              </a:solidFill>
              <a:latin typeface="Calibri" panose="020F0502020204030204"/>
              <a:ea typeface="+mn-ea"/>
              <a:cs typeface="+mn-cs"/>
            </a:rPr>
            <a:t>Dormancy</a:t>
          </a:r>
        </a:p>
      </dgm:t>
    </dgm:pt>
    <dgm:pt modelId="{575A4542-F128-4CB1-8F1E-3B03249BE6DF}" type="parTrans" cxnId="{DD06C770-D878-4259-B1EB-62C599C5769F}">
      <dgm:prSet/>
      <dgm:spPr/>
      <dgm:t>
        <a:bodyPr/>
        <a:lstStyle/>
        <a:p>
          <a:endParaRPr lang="en-US" sz="1500">
            <a:solidFill>
              <a:schemeClr val="accent6">
                <a:lumMod val="50000"/>
              </a:schemeClr>
            </a:solidFill>
          </a:endParaRPr>
        </a:p>
      </dgm:t>
    </dgm:pt>
    <dgm:pt modelId="{0952BF45-C793-4653-8240-37A129ED0AC5}" type="sibTrans" cxnId="{DD06C770-D878-4259-B1EB-62C599C5769F}">
      <dgm:prSet/>
      <dgm:spPr/>
      <dgm:t>
        <a:bodyPr/>
        <a:lstStyle/>
        <a:p>
          <a:endParaRPr lang="en-US" sz="1500">
            <a:solidFill>
              <a:schemeClr val="accent6">
                <a:lumMod val="50000"/>
              </a:schemeClr>
            </a:solidFill>
          </a:endParaRPr>
        </a:p>
      </dgm:t>
    </dgm:pt>
    <dgm:pt modelId="{6E888733-5615-43FE-BFFF-783C4241E954}" type="pres">
      <dgm:prSet presAssocID="{8EE3ED1A-AC9E-4D60-9F74-3A33D15111EC}" presName="compositeShape" presStyleCnt="0">
        <dgm:presLayoutVars>
          <dgm:chMax val="2"/>
          <dgm:dir/>
          <dgm:resizeHandles val="exact"/>
        </dgm:presLayoutVars>
      </dgm:prSet>
      <dgm:spPr/>
      <dgm:t>
        <a:bodyPr/>
        <a:lstStyle/>
        <a:p>
          <a:endParaRPr lang="en-IN"/>
        </a:p>
      </dgm:t>
    </dgm:pt>
    <dgm:pt modelId="{EBD677D4-A8EB-441B-BEC6-7C1CAD1E8437}" type="pres">
      <dgm:prSet presAssocID="{B4492F7F-1284-4570-97C3-302521C72602}" presName="upArrow" presStyleLbl="node1" presStyleIdx="0" presStyleCnt="2" custLinFactNeighborX="-15592" custLinFactNeighborY="-14439"/>
      <dgm:spPr>
        <a:xfrm>
          <a:off x="0" y="0"/>
          <a:ext cx="731449" cy="548587"/>
        </a:xfrm>
        <a:prstGeom prst="upArrow">
          <a:avLst/>
        </a:prstGeom>
        <a:gradFill rotWithShape="0">
          <a:gsLst>
            <a:gs pos="0">
              <a:srgbClr val="212745">
                <a:hueOff val="0"/>
                <a:satOff val="0"/>
                <a:lumOff val="0"/>
                <a:alphaOff val="0"/>
                <a:satMod val="103000"/>
                <a:lumMod val="102000"/>
                <a:tint val="94000"/>
              </a:srgbClr>
            </a:gs>
            <a:gs pos="50000">
              <a:srgbClr val="212745">
                <a:hueOff val="0"/>
                <a:satOff val="0"/>
                <a:lumOff val="0"/>
                <a:alphaOff val="0"/>
                <a:satMod val="110000"/>
                <a:lumMod val="100000"/>
                <a:shade val="100000"/>
              </a:srgbClr>
            </a:gs>
            <a:gs pos="100000">
              <a:srgbClr val="212745">
                <a:hueOff val="0"/>
                <a:satOff val="0"/>
                <a:lumOff val="0"/>
                <a:alphaOff val="0"/>
                <a:lumMod val="99000"/>
                <a:satMod val="120000"/>
                <a:shade val="78000"/>
              </a:srgbClr>
            </a:gs>
          </a:gsLst>
          <a:lin ang="5400000" scaled="0"/>
        </a:gradFill>
        <a:ln>
          <a:noFill/>
        </a:ln>
        <a:effectLst/>
      </dgm:spPr>
    </dgm:pt>
    <dgm:pt modelId="{0093B2EC-0E94-4DB7-8D6D-03F6C8936301}" type="pres">
      <dgm:prSet presAssocID="{B4492F7F-1284-4570-97C3-302521C72602}" presName="upArrowText" presStyleLbl="revTx" presStyleIdx="0" presStyleCnt="2" custScaleX="135580" custLinFactNeighborX="7250">
        <dgm:presLayoutVars>
          <dgm:chMax val="0"/>
          <dgm:bulletEnabled val="1"/>
        </dgm:presLayoutVars>
      </dgm:prSet>
      <dgm:spPr>
        <a:prstGeom prst="rect">
          <a:avLst/>
        </a:prstGeom>
      </dgm:spPr>
      <dgm:t>
        <a:bodyPr/>
        <a:lstStyle/>
        <a:p>
          <a:endParaRPr lang="en-IN"/>
        </a:p>
      </dgm:t>
    </dgm:pt>
    <dgm:pt modelId="{DA659C8C-44F1-4D0A-804F-BA87CB09889E}" type="pres">
      <dgm:prSet presAssocID="{36CD46AA-A9E9-4148-BC29-91DBB7B6D708}" presName="downArrow" presStyleLbl="node1" presStyleIdx="1" presStyleCnt="2" custLinFactNeighborX="-44790" custLinFactNeighborY="-1615"/>
      <dgm:spPr>
        <a:xfrm>
          <a:off x="0" y="585443"/>
          <a:ext cx="731449" cy="548587"/>
        </a:xfrm>
        <a:prstGeom prst="downArrow">
          <a:avLst/>
        </a:prstGeom>
        <a:gradFill rotWithShape="0">
          <a:gsLst>
            <a:gs pos="0">
              <a:srgbClr val="212745">
                <a:hueOff val="0"/>
                <a:satOff val="0"/>
                <a:lumOff val="0"/>
                <a:alphaOff val="0"/>
                <a:satMod val="103000"/>
                <a:lumMod val="102000"/>
                <a:tint val="94000"/>
              </a:srgbClr>
            </a:gs>
            <a:gs pos="50000">
              <a:srgbClr val="212745">
                <a:hueOff val="0"/>
                <a:satOff val="0"/>
                <a:lumOff val="0"/>
                <a:alphaOff val="0"/>
                <a:satMod val="110000"/>
                <a:lumMod val="100000"/>
                <a:shade val="100000"/>
              </a:srgbClr>
            </a:gs>
            <a:gs pos="100000">
              <a:srgbClr val="212745">
                <a:hueOff val="0"/>
                <a:satOff val="0"/>
                <a:lumOff val="0"/>
                <a:alphaOff val="0"/>
                <a:lumMod val="99000"/>
                <a:satMod val="120000"/>
                <a:shade val="78000"/>
              </a:srgbClr>
            </a:gs>
          </a:gsLst>
          <a:lin ang="5400000" scaled="0"/>
        </a:gradFill>
        <a:ln>
          <a:noFill/>
        </a:ln>
        <a:effectLst/>
      </dgm:spPr>
    </dgm:pt>
    <dgm:pt modelId="{8D2507B1-C7D1-4C03-8312-9A4F16B491F5}" type="pres">
      <dgm:prSet presAssocID="{36CD46AA-A9E9-4148-BC29-91DBB7B6D708}" presName="downArrowText" presStyleLbl="revTx" presStyleIdx="1" presStyleCnt="2" custScaleX="136059" custScaleY="66206" custLinFactNeighborX="1381" custLinFactNeighborY="-16965">
        <dgm:presLayoutVars>
          <dgm:chMax val="0"/>
          <dgm:bulletEnabled val="1"/>
        </dgm:presLayoutVars>
      </dgm:prSet>
      <dgm:spPr>
        <a:prstGeom prst="rect">
          <a:avLst/>
        </a:prstGeom>
      </dgm:spPr>
      <dgm:t>
        <a:bodyPr/>
        <a:lstStyle/>
        <a:p>
          <a:endParaRPr lang="en-IN"/>
        </a:p>
      </dgm:t>
    </dgm:pt>
  </dgm:ptLst>
  <dgm:cxnLst>
    <dgm:cxn modelId="{DD06C770-D878-4259-B1EB-62C599C5769F}" srcId="{8EE3ED1A-AC9E-4D60-9F74-3A33D15111EC}" destId="{36CD46AA-A9E9-4148-BC29-91DBB7B6D708}" srcOrd="1" destOrd="0" parTransId="{575A4542-F128-4CB1-8F1E-3B03249BE6DF}" sibTransId="{0952BF45-C793-4653-8240-37A129ED0AC5}"/>
    <dgm:cxn modelId="{4F6F9235-1C1B-4F96-8B96-D5242A72BB8E}" type="presOf" srcId="{B4492F7F-1284-4570-97C3-302521C72602}" destId="{0093B2EC-0E94-4DB7-8D6D-03F6C8936301}" srcOrd="0" destOrd="0" presId="urn:microsoft.com/office/officeart/2005/8/layout/arrow4"/>
    <dgm:cxn modelId="{B6B4D4D7-8DB6-47EB-95C0-F14E70F8C782}" type="presOf" srcId="{36CD46AA-A9E9-4148-BC29-91DBB7B6D708}" destId="{8D2507B1-C7D1-4C03-8312-9A4F16B491F5}" srcOrd="0" destOrd="0" presId="urn:microsoft.com/office/officeart/2005/8/layout/arrow4"/>
    <dgm:cxn modelId="{8C0C1C9C-D4E7-4F7B-A7E3-2E5D6DC181AC}" srcId="{8EE3ED1A-AC9E-4D60-9F74-3A33D15111EC}" destId="{B4492F7F-1284-4570-97C3-302521C72602}" srcOrd="0" destOrd="0" parTransId="{9932B9C8-A34F-4C3C-9E19-428B35DA3E60}" sibTransId="{48BEEF0D-4B06-420A-8782-E7EB48F016C5}"/>
    <dgm:cxn modelId="{0F00C3DB-BD5B-4846-80B0-094679B576D6}" type="presOf" srcId="{8EE3ED1A-AC9E-4D60-9F74-3A33D15111EC}" destId="{6E888733-5615-43FE-BFFF-783C4241E954}" srcOrd="0" destOrd="0" presId="urn:microsoft.com/office/officeart/2005/8/layout/arrow4"/>
    <dgm:cxn modelId="{B7B06572-337D-443E-ACD6-03865C1E37EF}" type="presParOf" srcId="{6E888733-5615-43FE-BFFF-783C4241E954}" destId="{EBD677D4-A8EB-441B-BEC6-7C1CAD1E8437}" srcOrd="0" destOrd="0" presId="urn:microsoft.com/office/officeart/2005/8/layout/arrow4"/>
    <dgm:cxn modelId="{887F8BBB-B5DB-479D-8858-EBAC404E8B9F}" type="presParOf" srcId="{6E888733-5615-43FE-BFFF-783C4241E954}" destId="{0093B2EC-0E94-4DB7-8D6D-03F6C8936301}" srcOrd="1" destOrd="0" presId="urn:microsoft.com/office/officeart/2005/8/layout/arrow4"/>
    <dgm:cxn modelId="{318217FC-7395-45C4-A12C-97A62EFE9052}" type="presParOf" srcId="{6E888733-5615-43FE-BFFF-783C4241E954}" destId="{DA659C8C-44F1-4D0A-804F-BA87CB09889E}" srcOrd="2" destOrd="0" presId="urn:microsoft.com/office/officeart/2005/8/layout/arrow4"/>
    <dgm:cxn modelId="{17798E2C-05D5-4A5B-95AF-698A8D7DE8FD}" type="presParOf" srcId="{6E888733-5615-43FE-BFFF-783C4241E954}" destId="{8D2507B1-C7D1-4C03-8312-9A4F16B491F5}" srcOrd="3" destOrd="0" presId="urn:microsoft.com/office/officeart/2005/8/layout/arrow4"/>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83FF8A-8662-4E96-B68A-A49A0A7C6D8F}">
      <dsp:nvSpPr>
        <dsp:cNvPr id="0" name=""/>
        <dsp:cNvSpPr/>
      </dsp:nvSpPr>
      <dsp:spPr>
        <a:xfrm>
          <a:off x="1626116" y="462588"/>
          <a:ext cx="3162728" cy="3162728"/>
        </a:xfrm>
        <a:prstGeom prst="blockArc">
          <a:avLst>
            <a:gd name="adj1" fmla="val 12600000"/>
            <a:gd name="adj2" fmla="val 16200000"/>
            <a:gd name="adj3" fmla="val 4517"/>
          </a:avLst>
        </a:prstGeom>
        <a:solidFill>
          <a:srgbClr val="4E67C8">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9C6428BD-9B9B-4C5F-AD45-C1BA0423E890}">
      <dsp:nvSpPr>
        <dsp:cNvPr id="0" name=""/>
        <dsp:cNvSpPr/>
      </dsp:nvSpPr>
      <dsp:spPr>
        <a:xfrm>
          <a:off x="1626116" y="462588"/>
          <a:ext cx="3162728" cy="3162728"/>
        </a:xfrm>
        <a:prstGeom prst="blockArc">
          <a:avLst>
            <a:gd name="adj1" fmla="val 9000000"/>
            <a:gd name="adj2" fmla="val 12600000"/>
            <a:gd name="adj3" fmla="val 4517"/>
          </a:avLst>
        </a:prstGeom>
        <a:solidFill>
          <a:srgbClr val="4E67C8">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18CE6A47-2CDD-4F66-BE01-8223ADD06BAB}">
      <dsp:nvSpPr>
        <dsp:cNvPr id="0" name=""/>
        <dsp:cNvSpPr/>
      </dsp:nvSpPr>
      <dsp:spPr>
        <a:xfrm>
          <a:off x="1626116" y="462588"/>
          <a:ext cx="3162728" cy="3162728"/>
        </a:xfrm>
        <a:prstGeom prst="blockArc">
          <a:avLst>
            <a:gd name="adj1" fmla="val 5400000"/>
            <a:gd name="adj2" fmla="val 9000000"/>
            <a:gd name="adj3" fmla="val 4517"/>
          </a:avLst>
        </a:prstGeom>
        <a:solidFill>
          <a:srgbClr val="4E67C8">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6610C483-DBD8-42C2-AD24-7D299ABD6AF8}">
      <dsp:nvSpPr>
        <dsp:cNvPr id="0" name=""/>
        <dsp:cNvSpPr/>
      </dsp:nvSpPr>
      <dsp:spPr>
        <a:xfrm>
          <a:off x="1626116" y="462588"/>
          <a:ext cx="3162728" cy="3162728"/>
        </a:xfrm>
        <a:prstGeom prst="blockArc">
          <a:avLst>
            <a:gd name="adj1" fmla="val 1800000"/>
            <a:gd name="adj2" fmla="val 5400000"/>
            <a:gd name="adj3" fmla="val 4517"/>
          </a:avLst>
        </a:prstGeom>
        <a:solidFill>
          <a:srgbClr val="4E67C8">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BA8187D-C7E3-4BEA-9A8D-4FF4A0DA38D7}">
      <dsp:nvSpPr>
        <dsp:cNvPr id="0" name=""/>
        <dsp:cNvSpPr/>
      </dsp:nvSpPr>
      <dsp:spPr>
        <a:xfrm>
          <a:off x="1626116" y="462588"/>
          <a:ext cx="3162728" cy="3162728"/>
        </a:xfrm>
        <a:prstGeom prst="blockArc">
          <a:avLst>
            <a:gd name="adj1" fmla="val 19800000"/>
            <a:gd name="adj2" fmla="val 1800000"/>
            <a:gd name="adj3" fmla="val 4517"/>
          </a:avLst>
        </a:prstGeom>
        <a:solidFill>
          <a:srgbClr val="4E67C8">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643E3D03-AA0F-44A9-BA71-476F734956AC}">
      <dsp:nvSpPr>
        <dsp:cNvPr id="0" name=""/>
        <dsp:cNvSpPr/>
      </dsp:nvSpPr>
      <dsp:spPr>
        <a:xfrm>
          <a:off x="1626116" y="462588"/>
          <a:ext cx="3162728" cy="3162728"/>
        </a:xfrm>
        <a:prstGeom prst="blockArc">
          <a:avLst>
            <a:gd name="adj1" fmla="val 16200000"/>
            <a:gd name="adj2" fmla="val 19800000"/>
            <a:gd name="adj3" fmla="val 4517"/>
          </a:avLst>
        </a:prstGeom>
        <a:solidFill>
          <a:srgbClr val="4E67C8">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4CEF1119-DA0E-4D21-AB52-C779FDB824A3}">
      <dsp:nvSpPr>
        <dsp:cNvPr id="0" name=""/>
        <dsp:cNvSpPr/>
      </dsp:nvSpPr>
      <dsp:spPr>
        <a:xfrm>
          <a:off x="2498796" y="1335268"/>
          <a:ext cx="1417368" cy="1417368"/>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IN" sz="1300" kern="1200" dirty="0">
              <a:solidFill>
                <a:sysClr val="window" lastClr="FFFFFF"/>
              </a:solidFill>
              <a:latin typeface="Calibri" panose="020F0502020204030204"/>
              <a:ea typeface="+mn-ea"/>
              <a:cs typeface="+mn-cs"/>
            </a:rPr>
            <a:t>Location Characteristic Metrics</a:t>
          </a:r>
        </a:p>
      </dsp:txBody>
      <dsp:txXfrm>
        <a:off x="2706365" y="1542837"/>
        <a:ext cx="1002230" cy="1002230"/>
      </dsp:txXfrm>
    </dsp:sp>
    <dsp:sp modelId="{5B82602B-3461-4DF9-A05D-66699FEDD03C}">
      <dsp:nvSpPr>
        <dsp:cNvPr id="0" name=""/>
        <dsp:cNvSpPr/>
      </dsp:nvSpPr>
      <dsp:spPr>
        <a:xfrm>
          <a:off x="2711401" y="2227"/>
          <a:ext cx="992157" cy="992157"/>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a:solidFill>
                <a:sysClr val="window" lastClr="FFFFFF"/>
              </a:solidFill>
              <a:latin typeface="Calibri" panose="020F0502020204030204"/>
              <a:ea typeface="+mn-ea"/>
              <a:cs typeface="+mn-cs"/>
            </a:rPr>
            <a:t>Affluence &amp; Activity Hub</a:t>
          </a:r>
        </a:p>
      </dsp:txBody>
      <dsp:txXfrm>
        <a:off x="2856699" y="147525"/>
        <a:ext cx="701561" cy="701561"/>
      </dsp:txXfrm>
    </dsp:sp>
    <dsp:sp modelId="{4CF5B0DB-93E9-4829-9575-D88CF06FCF82}">
      <dsp:nvSpPr>
        <dsp:cNvPr id="0" name=""/>
        <dsp:cNvSpPr/>
      </dsp:nvSpPr>
      <dsp:spPr>
        <a:xfrm>
          <a:off x="4049970" y="775050"/>
          <a:ext cx="992157" cy="992157"/>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b="0" kern="1200" dirty="0">
              <a:solidFill>
                <a:sysClr val="window" lastClr="FFFFFF"/>
              </a:solidFill>
              <a:latin typeface="Calibri" panose="020F0502020204030204"/>
              <a:ea typeface="+mn-ea"/>
              <a:cs typeface="+mn-cs"/>
            </a:rPr>
            <a:t>Well Irrigated and Cropped</a:t>
          </a:r>
        </a:p>
      </dsp:txBody>
      <dsp:txXfrm>
        <a:off x="4195268" y="920348"/>
        <a:ext cx="701561" cy="701561"/>
      </dsp:txXfrm>
    </dsp:sp>
    <dsp:sp modelId="{07919B3E-1490-4A2D-8FB7-E8DE36D8F84D}">
      <dsp:nvSpPr>
        <dsp:cNvPr id="0" name=""/>
        <dsp:cNvSpPr/>
      </dsp:nvSpPr>
      <dsp:spPr>
        <a:xfrm>
          <a:off x="4049970" y="2320697"/>
          <a:ext cx="992157" cy="992157"/>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b="0" kern="1200" dirty="0">
              <a:solidFill>
                <a:sysClr val="window" lastClr="FFFFFF"/>
              </a:solidFill>
              <a:latin typeface="Calibri" panose="020F0502020204030204"/>
              <a:ea typeface="+mn-ea"/>
              <a:cs typeface="+mn-cs"/>
            </a:rPr>
            <a:t>Rural, Cultivator population</a:t>
          </a:r>
        </a:p>
      </dsp:txBody>
      <dsp:txXfrm>
        <a:off x="4195268" y="2465995"/>
        <a:ext cx="701561" cy="701561"/>
      </dsp:txXfrm>
    </dsp:sp>
    <dsp:sp modelId="{52ECC0BC-1E0E-4C58-BEF8-9921B16F9356}">
      <dsp:nvSpPr>
        <dsp:cNvPr id="0" name=""/>
        <dsp:cNvSpPr/>
      </dsp:nvSpPr>
      <dsp:spPr>
        <a:xfrm>
          <a:off x="2711401" y="3093520"/>
          <a:ext cx="992157" cy="992157"/>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a:solidFill>
                <a:sysClr val="window" lastClr="FFFFFF"/>
              </a:solidFill>
              <a:latin typeface="Calibri" panose="020F0502020204030204"/>
              <a:ea typeface="+mn-ea"/>
              <a:cs typeface="+mn-cs"/>
            </a:rPr>
            <a:t>Rainfall</a:t>
          </a:r>
        </a:p>
      </dsp:txBody>
      <dsp:txXfrm>
        <a:off x="2856699" y="3238818"/>
        <a:ext cx="701561" cy="701561"/>
      </dsp:txXfrm>
    </dsp:sp>
    <dsp:sp modelId="{C3513244-8ADA-4BC2-82D4-2CE2E15AF9C2}">
      <dsp:nvSpPr>
        <dsp:cNvPr id="0" name=""/>
        <dsp:cNvSpPr/>
      </dsp:nvSpPr>
      <dsp:spPr>
        <a:xfrm>
          <a:off x="1372832" y="2320697"/>
          <a:ext cx="992157" cy="992157"/>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a:solidFill>
                <a:sysClr val="window" lastClr="FFFFFF"/>
              </a:solidFill>
              <a:latin typeface="Calibri" panose="020F0502020204030204"/>
              <a:ea typeface="+mn-ea"/>
              <a:cs typeface="+mn-cs"/>
            </a:rPr>
            <a:t>Non Food Crop irrigated areas</a:t>
          </a:r>
        </a:p>
      </dsp:txBody>
      <dsp:txXfrm>
        <a:off x="1518130" y="2465995"/>
        <a:ext cx="701561" cy="701561"/>
      </dsp:txXfrm>
    </dsp:sp>
    <dsp:sp modelId="{60907E69-61DC-45E6-9127-FAA75DFA9DB4}">
      <dsp:nvSpPr>
        <dsp:cNvPr id="0" name=""/>
        <dsp:cNvSpPr/>
      </dsp:nvSpPr>
      <dsp:spPr>
        <a:xfrm>
          <a:off x="1372832" y="775050"/>
          <a:ext cx="992157" cy="992157"/>
        </a:xfrm>
        <a:prstGeom prst="ellipse">
          <a:avLst/>
        </a:prstGeom>
        <a:solidFill>
          <a:srgbClr val="4E67C8">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a:solidFill>
                <a:sysClr val="window" lastClr="FFFFFF"/>
              </a:solidFill>
              <a:latin typeface="Calibri" panose="020F0502020204030204"/>
              <a:ea typeface="+mn-ea"/>
              <a:cs typeface="+mn-cs"/>
            </a:rPr>
            <a:t>Tractor buying Customers</a:t>
          </a:r>
        </a:p>
      </dsp:txBody>
      <dsp:txXfrm>
        <a:off x="1518130" y="920348"/>
        <a:ext cx="701561" cy="7015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677D4-A8EB-441B-BEC6-7C1CAD1E8437}">
      <dsp:nvSpPr>
        <dsp:cNvPr id="0" name=""/>
        <dsp:cNvSpPr/>
      </dsp:nvSpPr>
      <dsp:spPr>
        <a:xfrm>
          <a:off x="-83165" y="0"/>
          <a:ext cx="549631" cy="548587"/>
        </a:xfrm>
        <a:prstGeom prst="upArrow">
          <a:avLst/>
        </a:prstGeom>
        <a:gradFill rotWithShape="0">
          <a:gsLst>
            <a:gs pos="0">
              <a:srgbClr val="212745">
                <a:hueOff val="0"/>
                <a:satOff val="0"/>
                <a:lumOff val="0"/>
                <a:alphaOff val="0"/>
                <a:satMod val="103000"/>
                <a:lumMod val="102000"/>
                <a:tint val="94000"/>
              </a:srgbClr>
            </a:gs>
            <a:gs pos="50000">
              <a:srgbClr val="212745">
                <a:hueOff val="0"/>
                <a:satOff val="0"/>
                <a:lumOff val="0"/>
                <a:alphaOff val="0"/>
                <a:satMod val="110000"/>
                <a:lumMod val="100000"/>
                <a:shade val="100000"/>
              </a:srgbClr>
            </a:gs>
            <a:gs pos="100000">
              <a:srgbClr val="21274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093B2EC-0E94-4DB7-8D6D-03F6C8936301}">
      <dsp:nvSpPr>
        <dsp:cNvPr id="0" name=""/>
        <dsp:cNvSpPr/>
      </dsp:nvSpPr>
      <dsp:spPr>
        <a:xfrm>
          <a:off x="384647" y="0"/>
          <a:ext cx="1264565" cy="54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0" rIns="71120" bIns="71120" numCol="1" spcCol="1270" anchor="ctr" anchorCtr="0">
          <a:noAutofit/>
        </a:bodyPr>
        <a:lstStyle/>
        <a:p>
          <a:pPr lvl="0" algn="l" defTabSz="444500">
            <a:lnSpc>
              <a:spcPct val="90000"/>
            </a:lnSpc>
            <a:spcBef>
              <a:spcPct val="0"/>
            </a:spcBef>
            <a:spcAft>
              <a:spcPct val="35000"/>
            </a:spcAft>
          </a:pPr>
          <a:r>
            <a:rPr lang="en-US" sz="1000" b="0" kern="1200" dirty="0">
              <a:solidFill>
                <a:sysClr val="windowText" lastClr="000000">
                  <a:hueOff val="0"/>
                  <a:satOff val="0"/>
                  <a:lumOff val="0"/>
                  <a:alphaOff val="0"/>
                </a:sysClr>
              </a:solidFill>
              <a:latin typeface="Calibri" panose="020F0502020204030204"/>
              <a:ea typeface="+mn-ea"/>
              <a:cs typeface="+mn-cs"/>
            </a:rPr>
            <a:t>Higher  Conversions</a:t>
          </a:r>
        </a:p>
        <a:p>
          <a:pPr lvl="0" algn="l" defTabSz="444500">
            <a:lnSpc>
              <a:spcPct val="90000"/>
            </a:lnSpc>
            <a:spcBef>
              <a:spcPct val="0"/>
            </a:spcBef>
            <a:spcAft>
              <a:spcPct val="35000"/>
            </a:spcAft>
          </a:pPr>
          <a:r>
            <a:rPr lang="en-US" sz="1000" b="0" kern="1200" dirty="0">
              <a:solidFill>
                <a:sysClr val="windowText" lastClr="000000">
                  <a:hueOff val="0"/>
                  <a:satOff val="0"/>
                  <a:lumOff val="0"/>
                  <a:alphaOff val="0"/>
                </a:sysClr>
              </a:solidFill>
              <a:latin typeface="Calibri" panose="020F0502020204030204"/>
              <a:ea typeface="+mn-ea"/>
              <a:cs typeface="+mn-cs"/>
            </a:rPr>
            <a:t>Customer Base Growth</a:t>
          </a:r>
        </a:p>
      </dsp:txBody>
      <dsp:txXfrm>
        <a:off x="384647" y="0"/>
        <a:ext cx="1264565" cy="548587"/>
      </dsp:txXfrm>
    </dsp:sp>
    <dsp:sp modelId="{DA659C8C-44F1-4D0A-804F-BA87CB09889E}">
      <dsp:nvSpPr>
        <dsp:cNvPr id="0" name=""/>
        <dsp:cNvSpPr/>
      </dsp:nvSpPr>
      <dsp:spPr>
        <a:xfrm>
          <a:off x="0" y="585443"/>
          <a:ext cx="549631" cy="548587"/>
        </a:xfrm>
        <a:prstGeom prst="downArrow">
          <a:avLst/>
        </a:prstGeom>
        <a:gradFill rotWithShape="0">
          <a:gsLst>
            <a:gs pos="0">
              <a:srgbClr val="212745">
                <a:hueOff val="0"/>
                <a:satOff val="0"/>
                <a:lumOff val="0"/>
                <a:alphaOff val="0"/>
                <a:satMod val="103000"/>
                <a:lumMod val="102000"/>
                <a:tint val="94000"/>
              </a:srgbClr>
            </a:gs>
            <a:gs pos="50000">
              <a:srgbClr val="212745">
                <a:hueOff val="0"/>
                <a:satOff val="0"/>
                <a:lumOff val="0"/>
                <a:alphaOff val="0"/>
                <a:satMod val="110000"/>
                <a:lumMod val="100000"/>
                <a:shade val="100000"/>
              </a:srgbClr>
            </a:gs>
            <a:gs pos="100000">
              <a:srgbClr val="212745">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8D2507B1-C7D1-4C03-8312-9A4F16B491F5}">
      <dsp:nvSpPr>
        <dsp:cNvPr id="0" name=""/>
        <dsp:cNvSpPr/>
      </dsp:nvSpPr>
      <dsp:spPr>
        <a:xfrm>
          <a:off x="452978" y="593929"/>
          <a:ext cx="1269033" cy="363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0" rIns="71120" bIns="71120" numCol="1" spcCol="1270" anchor="ctr" anchorCtr="0">
          <a:noAutofit/>
        </a:bodyPr>
        <a:lstStyle/>
        <a:p>
          <a:pPr lvl="0" algn="l" defTabSz="444500">
            <a:lnSpc>
              <a:spcPct val="90000"/>
            </a:lnSpc>
            <a:spcBef>
              <a:spcPct val="0"/>
            </a:spcBef>
            <a:spcAft>
              <a:spcPct val="35000"/>
            </a:spcAft>
          </a:pPr>
          <a:r>
            <a:rPr lang="en-US" sz="1000" b="0" kern="1200" dirty="0">
              <a:solidFill>
                <a:sysClr val="windowText" lastClr="000000">
                  <a:hueOff val="0"/>
                  <a:satOff val="0"/>
                  <a:lumOff val="0"/>
                  <a:alphaOff val="0"/>
                </a:sysClr>
              </a:solidFill>
              <a:latin typeface="Calibri" panose="020F0502020204030204"/>
              <a:ea typeface="+mn-ea"/>
              <a:cs typeface="+mn-cs"/>
            </a:rPr>
            <a:t>Cost of Customer Acquisition </a:t>
          </a:r>
        </a:p>
      </dsp:txBody>
      <dsp:txXfrm>
        <a:off x="452978" y="593929"/>
        <a:ext cx="1269033" cy="3631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4B1B38-B1B4-4EB2-A5DE-84A51A9339A6}" type="datetimeFigureOut">
              <a:rPr lang="en-IN" smtClean="0"/>
              <a:t>19-12-2016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4F9693-0C93-4995-84BE-3D54BA2EAE59}" type="slidenum">
              <a:rPr lang="en-IN" smtClean="0"/>
              <a:t>‹#›</a:t>
            </a:fld>
            <a:endParaRPr lang="en-IN"/>
          </a:p>
        </p:txBody>
      </p:sp>
    </p:spTree>
    <p:extLst>
      <p:ext uri="{BB962C8B-B14F-4D97-AF65-F5344CB8AC3E}">
        <p14:creationId xmlns:p14="http://schemas.microsoft.com/office/powerpoint/2010/main" val="37945020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615BD-D018-E545-9289-4AB1AE8F6686}" type="datetimeFigureOut">
              <a:rPr lang="en-US" smtClean="0"/>
              <a:t>12/19/2016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7CCB0-914D-D143-908C-7E6DBE57730A}" type="slidenum">
              <a:rPr lang="en-US" smtClean="0"/>
              <a:t>‹#›</a:t>
            </a:fld>
            <a:endParaRPr lang="en-US" dirty="0"/>
          </a:p>
        </p:txBody>
      </p:sp>
    </p:spTree>
    <p:extLst>
      <p:ext uri="{BB962C8B-B14F-4D97-AF65-F5344CB8AC3E}">
        <p14:creationId xmlns:p14="http://schemas.microsoft.com/office/powerpoint/2010/main" val="51905627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F57CCB0-914D-D143-908C-7E6DBE57730A}" type="slidenum">
              <a:rPr lang="en-US" smtClean="0"/>
              <a:t>1</a:t>
            </a:fld>
            <a:endParaRPr lang="en-US" dirty="0"/>
          </a:p>
        </p:txBody>
      </p:sp>
    </p:spTree>
    <p:extLst>
      <p:ext uri="{BB962C8B-B14F-4D97-AF65-F5344CB8AC3E}">
        <p14:creationId xmlns:p14="http://schemas.microsoft.com/office/powerpoint/2010/main" val="1692560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3</a:t>
            </a:fld>
            <a:endParaRPr lang="en-IN">
              <a:solidFill>
                <a:prstClr val="black"/>
              </a:solidFill>
            </a:endParaRPr>
          </a:p>
        </p:txBody>
      </p:sp>
    </p:spTree>
    <p:extLst>
      <p:ext uri="{BB962C8B-B14F-4D97-AF65-F5344CB8AC3E}">
        <p14:creationId xmlns:p14="http://schemas.microsoft.com/office/powerpoint/2010/main" val="2754182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4</a:t>
            </a:fld>
            <a:endParaRPr lang="en-IN">
              <a:solidFill>
                <a:prstClr val="black"/>
              </a:solidFill>
            </a:endParaRPr>
          </a:p>
        </p:txBody>
      </p:sp>
    </p:spTree>
    <p:extLst>
      <p:ext uri="{BB962C8B-B14F-4D97-AF65-F5344CB8AC3E}">
        <p14:creationId xmlns:p14="http://schemas.microsoft.com/office/powerpoint/2010/main" val="1936126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7</a:t>
            </a:fld>
            <a:endParaRPr lang="en-IN">
              <a:solidFill>
                <a:prstClr val="black"/>
              </a:solidFill>
            </a:endParaRPr>
          </a:p>
        </p:txBody>
      </p:sp>
    </p:spTree>
    <p:extLst>
      <p:ext uri="{BB962C8B-B14F-4D97-AF65-F5344CB8AC3E}">
        <p14:creationId xmlns:p14="http://schemas.microsoft.com/office/powerpoint/2010/main" val="1435984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spcAft>
                <a:spcPts val="0"/>
              </a:spcAft>
              <a:buFont typeface="Symbol" panose="05050102010706020507" pitchFamily="18" charset="2"/>
              <a:buChar char=""/>
            </a:pPr>
            <a:r>
              <a:rPr lang="en-IN" dirty="0" smtClean="0">
                <a:solidFill>
                  <a:srgbClr val="1F497D"/>
                </a:solidFill>
                <a:latin typeface="Calibri" panose="020F0502020204030204" pitchFamily="34" charset="0"/>
                <a:ea typeface="Calibri" panose="020F0502020204030204" pitchFamily="34" charset="0"/>
              </a:rPr>
              <a:t>T-Hub </a:t>
            </a:r>
            <a:r>
              <a:rPr lang="en-IN" dirty="0" err="1" smtClean="0">
                <a:solidFill>
                  <a:srgbClr val="1F497D"/>
                </a:solidFill>
                <a:latin typeface="Calibri" panose="020F0502020204030204" pitchFamily="34" charset="0"/>
                <a:ea typeface="Calibri" panose="020F0502020204030204" pitchFamily="34" charset="0"/>
              </a:rPr>
              <a:t>incubted</a:t>
            </a:r>
            <a:r>
              <a:rPr lang="en-IN" dirty="0" smtClean="0">
                <a:solidFill>
                  <a:srgbClr val="1F497D"/>
                </a:solidFill>
                <a:latin typeface="Calibri" panose="020F0502020204030204" pitchFamily="34" charset="0"/>
                <a:ea typeface="Calibri" panose="020F0502020204030204" pitchFamily="34" charset="0"/>
              </a:rPr>
              <a:t> </a:t>
            </a:r>
            <a:r>
              <a:rPr lang="en-IN" dirty="0" err="1" smtClean="0">
                <a:solidFill>
                  <a:srgbClr val="1F497D"/>
                </a:solidFill>
                <a:latin typeface="Calibri" panose="020F0502020204030204" pitchFamily="34" charset="0"/>
                <a:ea typeface="Calibri" panose="020F0502020204030204" pitchFamily="34" charset="0"/>
              </a:rPr>
              <a:t>startup</a:t>
            </a:r>
            <a:r>
              <a:rPr lang="en-IN" dirty="0" smtClean="0">
                <a:solidFill>
                  <a:srgbClr val="1F497D"/>
                </a:solidFill>
                <a:latin typeface="Calibri" panose="020F0502020204030204" pitchFamily="34" charset="0"/>
                <a:ea typeface="Calibri" panose="020F0502020204030204" pitchFamily="34" charset="0"/>
              </a:rPr>
              <a:t> </a:t>
            </a:r>
            <a:r>
              <a:rPr lang="en-IN" b="1" dirty="0" err="1" smtClean="0">
                <a:solidFill>
                  <a:srgbClr val="1F497D"/>
                </a:solidFill>
                <a:latin typeface="Calibri" panose="020F0502020204030204" pitchFamily="34" charset="0"/>
                <a:ea typeface="Calibri" panose="020F0502020204030204" pitchFamily="34" charset="0"/>
              </a:rPr>
              <a:t>DARe</a:t>
            </a:r>
            <a:r>
              <a:rPr lang="en-IN" b="1" dirty="0" smtClean="0">
                <a:solidFill>
                  <a:srgbClr val="1F497D"/>
                </a:solidFill>
                <a:latin typeface="Calibri" panose="020F0502020204030204" pitchFamily="34" charset="0"/>
                <a:ea typeface="Calibri" panose="020F0502020204030204" pitchFamily="34" charset="0"/>
              </a:rPr>
              <a:t>- Digital Agri. Rural</a:t>
            </a:r>
            <a:r>
              <a:rPr lang="en-IN" dirty="0" smtClean="0">
                <a:solidFill>
                  <a:srgbClr val="1F497D"/>
                </a:solidFill>
                <a:latin typeface="Calibri" panose="020F0502020204030204" pitchFamily="34" charset="0"/>
                <a:ea typeface="Calibri" panose="020F0502020204030204" pitchFamily="34" charset="0"/>
              </a:rPr>
              <a:t> </a:t>
            </a:r>
            <a:r>
              <a:rPr lang="en-IN" b="1" dirty="0" smtClean="0">
                <a:solidFill>
                  <a:srgbClr val="1F497D"/>
                </a:solidFill>
                <a:latin typeface="Calibri" panose="020F0502020204030204" pitchFamily="34" charset="0"/>
                <a:ea typeface="Calibri" panose="020F0502020204030204" pitchFamily="34" charset="0"/>
              </a:rPr>
              <a:t>e-Marketing</a:t>
            </a:r>
            <a:endParaRPr lang="en-IN" sz="1400" dirty="0" smtClean="0">
              <a:latin typeface="Times New Roman" panose="02020603050405020304" pitchFamily="18" charset="0"/>
              <a:ea typeface="Calibri" panose="020F0502020204030204" pitchFamily="34" charset="0"/>
            </a:endParaRPr>
          </a:p>
          <a:p>
            <a:pPr marL="342900" lvl="0" indent="-342900">
              <a:spcAft>
                <a:spcPts val="0"/>
              </a:spcAft>
              <a:buFont typeface="Symbol" panose="05050102010706020507" pitchFamily="18" charset="2"/>
              <a:buChar char=""/>
            </a:pPr>
            <a:r>
              <a:rPr lang="en-IN" dirty="0" smtClean="0">
                <a:solidFill>
                  <a:srgbClr val="1F497D"/>
                </a:solidFill>
                <a:latin typeface="Calibri" panose="020F0502020204030204" pitchFamily="34" charset="0"/>
                <a:ea typeface="Calibri" panose="020F0502020204030204" pitchFamily="34" charset="0"/>
              </a:rPr>
              <a:t>Jayalaxmi </a:t>
            </a:r>
            <a:r>
              <a:rPr lang="en-IN" dirty="0" err="1" smtClean="0">
                <a:solidFill>
                  <a:srgbClr val="1F497D"/>
                </a:solidFill>
                <a:latin typeface="Calibri" panose="020F0502020204030204" pitchFamily="34" charset="0"/>
                <a:ea typeface="Calibri" panose="020F0502020204030204" pitchFamily="34" charset="0"/>
              </a:rPr>
              <a:t>Agrotech</a:t>
            </a:r>
            <a:r>
              <a:rPr lang="en-IN" dirty="0" smtClean="0">
                <a:solidFill>
                  <a:srgbClr val="1F497D"/>
                </a:solidFill>
                <a:latin typeface="Calibri" panose="020F0502020204030204" pitchFamily="34" charset="0"/>
                <a:ea typeface="Calibri" panose="020F0502020204030204" pitchFamily="34" charset="0"/>
              </a:rPr>
              <a:t> Private Limited</a:t>
            </a:r>
            <a:endParaRPr lang="en-IN" sz="1400" dirty="0" smtClean="0">
              <a:latin typeface="Times New Roman" panose="02020603050405020304" pitchFamily="18" charset="0"/>
              <a:ea typeface="Calibri" panose="020F0502020204030204" pitchFamily="34" charset="0"/>
            </a:endParaRPr>
          </a:p>
          <a:p>
            <a:pPr marL="342900" lvl="0" indent="-342900">
              <a:spcAft>
                <a:spcPts val="0"/>
              </a:spcAft>
              <a:buFont typeface="Symbol" panose="05050102010706020507" pitchFamily="18" charset="2"/>
              <a:buChar char=""/>
            </a:pPr>
            <a:r>
              <a:rPr lang="en-IN" dirty="0" smtClean="0">
                <a:solidFill>
                  <a:srgbClr val="1F497D"/>
                </a:solidFill>
                <a:latin typeface="Calibri" panose="020F0502020204030204" pitchFamily="34" charset="0"/>
                <a:ea typeface="Calibri" panose="020F0502020204030204" pitchFamily="34" charset="0"/>
              </a:rPr>
              <a:t>RML Information Services Pvt. Ltd. (RML)</a:t>
            </a:r>
            <a:endParaRPr lang="en-IN" sz="1400" dirty="0" smtClean="0">
              <a:latin typeface="Times New Roman" panose="02020603050405020304" pitchFamily="18" charset="0"/>
              <a:ea typeface="Calibri" panose="020F0502020204030204" pitchFamily="34" charset="0"/>
            </a:endParaRPr>
          </a:p>
          <a:p>
            <a:pPr marL="342900" lvl="0" indent="-342900">
              <a:spcAft>
                <a:spcPts val="0"/>
              </a:spcAft>
              <a:buFont typeface="Symbol" panose="05050102010706020507" pitchFamily="18" charset="2"/>
              <a:buChar char=""/>
            </a:pPr>
            <a:r>
              <a:rPr lang="en-IN" dirty="0" err="1" smtClean="0">
                <a:solidFill>
                  <a:srgbClr val="1F497D"/>
                </a:solidFill>
                <a:latin typeface="Calibri" panose="020F0502020204030204" pitchFamily="34" charset="0"/>
                <a:ea typeface="Calibri" panose="020F0502020204030204" pitchFamily="34" charset="0"/>
              </a:rPr>
              <a:t>Krishidoot</a:t>
            </a:r>
            <a:endParaRPr lang="en-IN" sz="1400" dirty="0" smtClean="0">
              <a:latin typeface="Times New Roman" panose="02020603050405020304" pitchFamily="18" charset="0"/>
              <a:ea typeface="Calibri" panose="020F0502020204030204" pitchFamily="34" charset="0"/>
            </a:endParaRPr>
          </a:p>
          <a:p>
            <a:pPr marL="342900" lvl="0" indent="-342900">
              <a:spcAft>
                <a:spcPts val="0"/>
              </a:spcAft>
              <a:buFont typeface="Symbol" panose="05050102010706020507" pitchFamily="18" charset="2"/>
              <a:buChar char=""/>
            </a:pPr>
            <a:r>
              <a:rPr lang="en-IN" dirty="0" err="1" smtClean="0">
                <a:solidFill>
                  <a:srgbClr val="1F497D"/>
                </a:solidFill>
                <a:latin typeface="Calibri" panose="020F0502020204030204" pitchFamily="34" charset="0"/>
                <a:ea typeface="Calibri" panose="020F0502020204030204" pitchFamily="34" charset="0"/>
              </a:rPr>
              <a:t>mKRISHI</a:t>
            </a:r>
            <a:r>
              <a:rPr lang="en-IN" dirty="0" smtClean="0">
                <a:solidFill>
                  <a:srgbClr val="1F497D"/>
                </a:solidFill>
                <a:latin typeface="Calibri" panose="020F0502020204030204" pitchFamily="34" charset="0"/>
                <a:ea typeface="Calibri" panose="020F0502020204030204" pitchFamily="34" charset="0"/>
              </a:rPr>
              <a:t> of TCS</a:t>
            </a:r>
            <a:endParaRPr lang="en-IN" sz="1400" dirty="0" smtClean="0">
              <a:latin typeface="Times New Roman" panose="02020603050405020304" pitchFamily="18" charset="0"/>
              <a:ea typeface="Calibri" panose="020F0502020204030204" pitchFamily="34" charset="0"/>
            </a:endParaRPr>
          </a:p>
          <a:p>
            <a:pPr marL="342900" lvl="0" indent="-342900">
              <a:spcAft>
                <a:spcPts val="0"/>
              </a:spcAft>
              <a:buFont typeface="Symbol" panose="05050102010706020507" pitchFamily="18" charset="2"/>
              <a:buChar char=""/>
            </a:pPr>
            <a:r>
              <a:rPr lang="en-IN"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Digital payment for </a:t>
            </a:r>
            <a:r>
              <a:rPr lang="en-IN" dirty="0" err="1"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agri</a:t>
            </a:r>
            <a:r>
              <a:rPr lang="en-IN"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 section </a:t>
            </a:r>
            <a:r>
              <a:rPr lang="en-IN" dirty="0" err="1"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mServices</a:t>
            </a:r>
            <a:r>
              <a:rPr lang="en-IN"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 </a:t>
            </a:r>
            <a:r>
              <a:rPr lang="en-IN" dirty="0" err="1"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mAgriculture</a:t>
            </a:r>
            <a:r>
              <a:rPr lang="en-IN"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 </a:t>
            </a:r>
            <a:r>
              <a:rPr lang="en-IN" dirty="0" err="1"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mGramBazar</a:t>
            </a:r>
            <a:endParaRPr lang="en-IN" dirty="0" smtClean="0"/>
          </a:p>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8</a:t>
            </a:fld>
            <a:endParaRPr lang="en-IN">
              <a:solidFill>
                <a:prstClr val="black"/>
              </a:solidFill>
            </a:endParaRPr>
          </a:p>
        </p:txBody>
      </p:sp>
    </p:spTree>
    <p:extLst>
      <p:ext uri="{BB962C8B-B14F-4D97-AF65-F5344CB8AC3E}">
        <p14:creationId xmlns:p14="http://schemas.microsoft.com/office/powerpoint/2010/main" val="2503381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9</a:t>
            </a:fld>
            <a:endParaRPr lang="en-IN">
              <a:solidFill>
                <a:prstClr val="black"/>
              </a:solidFill>
            </a:endParaRPr>
          </a:p>
        </p:txBody>
      </p:sp>
    </p:spTree>
    <p:extLst>
      <p:ext uri="{BB962C8B-B14F-4D97-AF65-F5344CB8AC3E}">
        <p14:creationId xmlns:p14="http://schemas.microsoft.com/office/powerpoint/2010/main" val="2913333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12</a:t>
            </a:fld>
            <a:endParaRPr lang="en-IN" dirty="0">
              <a:solidFill>
                <a:prstClr val="black"/>
              </a:solidFill>
            </a:endParaRPr>
          </a:p>
        </p:txBody>
      </p:sp>
    </p:spTree>
    <p:extLst>
      <p:ext uri="{BB962C8B-B14F-4D97-AF65-F5344CB8AC3E}">
        <p14:creationId xmlns:p14="http://schemas.microsoft.com/office/powerpoint/2010/main" val="2555021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C922AD0-3546-44A3-A368-81335D1AFDE3}" type="slidenum">
              <a:rPr lang="en-IN" sz="1800" kern="0" smtClean="0">
                <a:solidFill>
                  <a:prstClr val="black"/>
                </a:solidFill>
              </a:rPr>
              <a:pPr>
                <a:defRPr/>
              </a:pPr>
              <a:t>13</a:t>
            </a:fld>
            <a:endParaRPr lang="en-IN" sz="1800" kern="0">
              <a:solidFill>
                <a:prstClr val="black"/>
              </a:solidFill>
            </a:endParaRPr>
          </a:p>
        </p:txBody>
      </p:sp>
    </p:spTree>
    <p:extLst>
      <p:ext uri="{BB962C8B-B14F-4D97-AF65-F5344CB8AC3E}">
        <p14:creationId xmlns:p14="http://schemas.microsoft.com/office/powerpoint/2010/main" val="2642278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C922AD0-3546-44A3-A368-81335D1AFDE3}" type="slidenum">
              <a:rPr lang="en-IN" sz="1800" kern="0" smtClean="0">
                <a:solidFill>
                  <a:prstClr val="black"/>
                </a:solidFill>
              </a:rPr>
              <a:pPr>
                <a:defRPr/>
              </a:pPr>
              <a:t>14</a:t>
            </a:fld>
            <a:endParaRPr lang="en-IN" sz="1800" kern="0">
              <a:solidFill>
                <a:prstClr val="black"/>
              </a:solidFill>
            </a:endParaRPr>
          </a:p>
        </p:txBody>
      </p:sp>
    </p:spTree>
    <p:extLst>
      <p:ext uri="{BB962C8B-B14F-4D97-AF65-F5344CB8AC3E}">
        <p14:creationId xmlns:p14="http://schemas.microsoft.com/office/powerpoint/2010/main" val="1373997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4257DF4-A881-4FD3-BDFB-4D605DACC7BB}" type="slidenum">
              <a:rPr lang="en-US" sz="1800" kern="0" smtClean="0">
                <a:solidFill>
                  <a:prstClr val="black"/>
                </a:solidFill>
              </a:rPr>
              <a:pPr>
                <a:defRPr/>
              </a:pPr>
              <a:t>15</a:t>
            </a:fld>
            <a:endParaRPr lang="en-US" sz="1800" kern="0">
              <a:solidFill>
                <a:prstClr val="black"/>
              </a:solidFill>
            </a:endParaRPr>
          </a:p>
        </p:txBody>
      </p:sp>
    </p:spTree>
    <p:extLst>
      <p:ext uri="{BB962C8B-B14F-4D97-AF65-F5344CB8AC3E}">
        <p14:creationId xmlns:p14="http://schemas.microsoft.com/office/powerpoint/2010/main" val="646319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4257DF4-A881-4FD3-BDFB-4D605DACC7BB}"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16</a:t>
            </a:fld>
            <a:endParaRPr kumimoji="0" lang="en-US"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983338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4257DF4-A881-4FD3-BDFB-4D605DACC7BB}" type="slidenum">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17</a:t>
            </a:fld>
            <a:endParaRPr kumimoji="0" lang="en-US"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828018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4257DF4-A881-4FD3-BDFB-4D605DACC7BB}" type="slidenum">
              <a:rPr lang="en-US" sz="1800" kern="0" smtClean="0">
                <a:solidFill>
                  <a:prstClr val="black"/>
                </a:solidFill>
              </a:rPr>
              <a:pPr>
                <a:defRPr/>
              </a:pPr>
              <a:t>24</a:t>
            </a:fld>
            <a:endParaRPr lang="en-US" sz="1800" kern="0">
              <a:solidFill>
                <a:prstClr val="black"/>
              </a:solidFill>
            </a:endParaRPr>
          </a:p>
        </p:txBody>
      </p:sp>
    </p:spTree>
    <p:extLst>
      <p:ext uri="{BB962C8B-B14F-4D97-AF65-F5344CB8AC3E}">
        <p14:creationId xmlns:p14="http://schemas.microsoft.com/office/powerpoint/2010/main" val="897347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DE9C785A-1A1F-4398-8660-058E5711A875}" type="slidenum">
              <a:rPr lang="en-US" sz="1800" kern="0" smtClean="0">
                <a:solidFill>
                  <a:sysClr val="windowText" lastClr="000000"/>
                </a:solidFill>
              </a:rPr>
              <a:pPr>
                <a:defRPr/>
              </a:pPr>
              <a:t>26</a:t>
            </a:fld>
            <a:endParaRPr lang="en-US" sz="1800" kern="0">
              <a:solidFill>
                <a:sysClr val="windowText" lastClr="000000"/>
              </a:solidFill>
            </a:endParaRPr>
          </a:p>
        </p:txBody>
      </p:sp>
    </p:spTree>
    <p:extLst>
      <p:ext uri="{BB962C8B-B14F-4D97-AF65-F5344CB8AC3E}">
        <p14:creationId xmlns:p14="http://schemas.microsoft.com/office/powerpoint/2010/main" val="920471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Chitra</a:t>
            </a:r>
            <a:r>
              <a:rPr lang="en-IN" baseline="0" dirty="0"/>
              <a:t> to check this slide. </a:t>
            </a:r>
            <a:endParaRPr lang="en-IN"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6E517EB1-4BE7-4F5D-8881-8D3EACDF4C26}" type="slidenum">
              <a:rPr kumimoji="0" lang="en-IN"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28</a:t>
            </a:fld>
            <a:endParaRPr kumimoji="0" lang="en-IN"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95527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F57CCB0-914D-D143-908C-7E6DBE57730A}"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2693208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24458">
              <a:defRPr/>
            </a:pPr>
            <a:fld id="{6E517EB1-4BE7-4F5D-8881-8D3EACDF4C26}" type="slidenum">
              <a:rPr lang="en-IN" sz="1800" kern="0">
                <a:solidFill>
                  <a:prstClr val="black"/>
                </a:solidFill>
              </a:rPr>
              <a:pPr defTabSz="924458">
                <a:defRPr/>
              </a:pPr>
              <a:t>31</a:t>
            </a:fld>
            <a:endParaRPr lang="en-IN" sz="1800" kern="0" dirty="0">
              <a:solidFill>
                <a:prstClr val="black"/>
              </a:solidFill>
            </a:endParaRPr>
          </a:p>
        </p:txBody>
      </p:sp>
    </p:spTree>
    <p:extLst>
      <p:ext uri="{BB962C8B-B14F-4D97-AF65-F5344CB8AC3E}">
        <p14:creationId xmlns:p14="http://schemas.microsoft.com/office/powerpoint/2010/main" val="3494668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F05ACD-7755-4E41-9672-7C1817C0D827}" type="datetime1">
              <a:rPr lang="en-US" smtClean="0">
                <a:solidFill>
                  <a:srgbClr val="000000">
                    <a:tint val="75000"/>
                  </a:srgbClr>
                </a:solidFill>
              </a:r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062728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C93723-CF0C-4BE4-8009-E21AC572D301}" type="datetime1">
              <a:rPr lang="en-US" smtClean="0">
                <a:solidFill>
                  <a:srgbClr val="000000">
                    <a:tint val="75000"/>
                  </a:srgbClr>
                </a:solidFill>
              </a:r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251390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A2BC1-BF41-4ADB-B1B8-F21C2D460AE1}" type="datetime1">
              <a:rPr lang="en-US" smtClean="0">
                <a:solidFill>
                  <a:srgbClr val="000000">
                    <a:tint val="75000"/>
                  </a:srgbClr>
                </a:solidFill>
              </a:r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493615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3C1244-7772-4669-851C-32E9A3B54B67}" type="datetime1">
              <a:rPr lang="en-US" smtClean="0">
                <a:solidFill>
                  <a:srgbClr val="000000">
                    <a:tint val="75000"/>
                  </a:srgbClr>
                </a:solidFill>
              </a:r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085828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F06F8C-E99A-4330-A50E-435907844EC2}" type="datetime1">
              <a:rPr lang="en-US" smtClean="0">
                <a:solidFill>
                  <a:srgbClr val="000000">
                    <a:tint val="75000"/>
                  </a:srgbClr>
                </a:solidFill>
              </a:rPr>
              <a:t>12/19/2016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62826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DDD2D4-0506-4DF5-A93C-CDC9413F5CB5}" type="datetime1">
              <a:rPr lang="en-US" smtClean="0">
                <a:solidFill>
                  <a:srgbClr val="000000">
                    <a:tint val="75000"/>
                  </a:srgbClr>
                </a:solidFill>
              </a:rPr>
              <a:t>12/19/2016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130431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46A83B-75D5-4A67-BC95-DC31B3DF8598}" type="datetime1">
              <a:rPr lang="en-US" smtClean="0">
                <a:solidFill>
                  <a:srgbClr val="000000">
                    <a:tint val="75000"/>
                  </a:srgbClr>
                </a:solidFill>
              </a:rPr>
              <a:t>12/19/2016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104430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27ED17-2348-4CFA-BEF6-FB2FE48FAD6B}" type="datetime1">
              <a:rPr lang="en-US" smtClean="0">
                <a:solidFill>
                  <a:srgbClr val="000000">
                    <a:tint val="75000"/>
                  </a:srgbClr>
                </a:solidFill>
              </a:r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285800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C94902-5284-4C53-8340-BD1E192395FE}" type="datetime1">
              <a:rPr lang="en-US" smtClean="0">
                <a:solidFill>
                  <a:srgbClr val="000000">
                    <a:tint val="75000"/>
                  </a:srgbClr>
                </a:solidFill>
              </a:r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84301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F62CE0-48F8-44C2-9D7C-DFDD3FA2D146}" type="datetime1">
              <a:rPr lang="en-US" smtClean="0">
                <a:solidFill>
                  <a:srgbClr val="000000">
                    <a:tint val="75000"/>
                  </a:srgbClr>
                </a:solidFill>
              </a:r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783005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C17036-7062-4A52-BD61-5A4C76B22127}" type="datetime1">
              <a:rPr lang="en-US" smtClean="0">
                <a:solidFill>
                  <a:srgbClr val="000000">
                    <a:tint val="75000"/>
                  </a:srgbClr>
                </a:solidFill>
              </a:r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453508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981487-1B17-48F5-97E1-EEC8057DA140}"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066096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9D3C62A-3BDB-4053-8706-8AD4E82FADD7}"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032681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F48B4A-3179-4D35-AEA6-9FBD18EE250C}"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920559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5653AC-C9C6-4263-A1DF-554AEAB3AE0B}"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092128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817F88-23F3-4517-8A8F-ECB563D01200}" type="datetime1">
              <a:rPr lang="en-US" smtClean="0">
                <a:solidFill>
                  <a:srgbClr val="000000">
                    <a:tint val="75000"/>
                  </a:srgbClr>
                </a:solidFill>
              </a:rPr>
              <a:pPr/>
              <a:t>12/19/2016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971253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5E3B26-DEE1-4077-89BF-3EA8B69D0883}" type="datetime1">
              <a:rPr lang="en-US" smtClean="0">
                <a:solidFill>
                  <a:srgbClr val="000000">
                    <a:tint val="75000"/>
                  </a:srgbClr>
                </a:solidFill>
              </a:rPr>
              <a:pPr/>
              <a:t>12/19/2016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534257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0E91A9-11FC-4966-85FF-8CDB244D32CF}" type="datetime1">
              <a:rPr lang="en-US" smtClean="0">
                <a:solidFill>
                  <a:srgbClr val="000000">
                    <a:tint val="75000"/>
                  </a:srgbClr>
                </a:solidFill>
              </a:rPr>
              <a:pPr/>
              <a:t>12/19/2016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1977153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87C9FD-3519-4660-AB0F-21B701D27EA3}"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545227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1631CF-C163-43F7-B0C0-BE6B81E95C27}"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9692470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A2267D-ED0D-475D-9FE6-9E88BF1B1EB1}"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9567849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885AC4-1C1A-40C3-ADF4-081296693A2B}"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0809932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7BAE89-DB8C-4072-88C9-946DFD334195}" type="datetime1">
              <a:rPr lang="en-US" smtClean="0">
                <a:solidFill>
                  <a:srgbClr val="ACD433"/>
                </a:solidFill>
              </a:rPr>
              <a:t>12/19/2016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375752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190169969"/>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99834355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191153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0619003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8204587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3800080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6424994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3403190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4803731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652182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19-12-2016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0527422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DD0761-EE3B-4992-9DBA-F87CF60B6C81}"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5305105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7FDEEF6-B502-464B-A3EA-7D5FA8DD4EE7}"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2553767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9416DB-8700-48DE-A23E-3C5AAD9401F6}"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1908854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F1AD62-42AA-49FF-80E5-7DFB446865F6}"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7714437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BEF1FD-73BA-4804-A921-E952D7F63277}" type="datetime1">
              <a:rPr lang="en-US" smtClean="0">
                <a:solidFill>
                  <a:srgbClr val="000000">
                    <a:tint val="75000"/>
                  </a:srgbClr>
                </a:solidFill>
              </a:rPr>
              <a:pPr/>
              <a:t>12/19/2016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9102758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C89BAE-C2CB-4AFC-A9A3-3ACB1132BE48}" type="datetime1">
              <a:rPr lang="en-US" smtClean="0">
                <a:solidFill>
                  <a:srgbClr val="000000">
                    <a:tint val="75000"/>
                  </a:srgbClr>
                </a:solidFill>
              </a:rPr>
              <a:pPr/>
              <a:t>12/19/2016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0394924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04396-63B1-4EAE-9918-65385F120C33}" type="datetime1">
              <a:rPr lang="en-US" smtClean="0">
                <a:solidFill>
                  <a:srgbClr val="000000">
                    <a:tint val="75000"/>
                  </a:srgbClr>
                </a:solidFill>
              </a:rPr>
              <a:pPr/>
              <a:t>12/19/2016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7379671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2B2B5F-C1C1-4C70-994A-88ECFE3E33E9}"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2050985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9563F3-9364-4CD5-98FE-C9A24B96FB3E}"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515375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AA72BE-FD89-4814-9E42-D5F0E3466277}"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5144646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92118E-F7A6-4869-B74C-F00942694D9E}"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6153658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34956D-B6E7-4EF6-9BD2-8BAAFEBF13B8}" type="datetime1">
              <a:rPr lang="en-US" smtClean="0">
                <a:solidFill>
                  <a:srgbClr val="ACD433"/>
                </a:solidFill>
              </a:rPr>
              <a:pPr/>
              <a:t>12/19/2016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ACD433"/>
                </a:solidFill>
              </a:rPr>
              <a:t>The information contained in this document is strictly private and confidential. © Copyright, Consumer Analytics Division, Tata Industries Limited   </a:t>
            </a:r>
            <a:endParaRPr lang="en-US" dirty="0">
              <a:solidFill>
                <a:srgbClr val="ACD433"/>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39726936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C0FDA1-5B1C-41B9-A6CF-D21B795CF488}" type="datetime1">
              <a:rPr lang="en-US" smtClean="0">
                <a:solidFill>
                  <a:srgbClr val="ACD433"/>
                </a:solidFill>
              </a:rPr>
              <a:pPr/>
              <a:t>12/19/2016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6943370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7BAE89-DB8C-4072-88C9-946DFD334195}" type="datetime1">
              <a:rPr lang="en-US" smtClean="0">
                <a:solidFill>
                  <a:srgbClr val="ACD433"/>
                </a:solidFill>
              </a:rPr>
              <a:pPr/>
              <a:t>12/19/2016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5299378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5D60B2-2D4C-4B79-BA87-933F9270C448}"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9838096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A7AE7-06C0-424C-B07E-31ED76F9654B}"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5296818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4FF66F-54CE-437B-BF9D-B54D34EFE306}"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5551289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3811CD-1F0A-4D97-AF9E-CA04BFEB2B94}"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25766579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ECED70-FA79-42DB-8F70-7F483AA0CDAD}" type="datetime1">
              <a:rPr lang="en-US" smtClean="0">
                <a:solidFill>
                  <a:srgbClr val="000000">
                    <a:tint val="75000"/>
                  </a:srgbClr>
                </a:solidFill>
              </a:rPr>
              <a:pPr/>
              <a:t>12/19/2016</a:t>
            </a:fld>
            <a:endParaRPr lang="en-IN" dirty="0">
              <a:solidFill>
                <a:srgbClr val="000000">
                  <a:tint val="75000"/>
                </a:srgbClr>
              </a:solidFill>
            </a:endParaRPr>
          </a:p>
        </p:txBody>
      </p:sp>
      <p:sp>
        <p:nvSpPr>
          <p:cNvPr id="8" name="Footer Placeholder 7"/>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9" name="Slide Number Placeholder 8"/>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4351292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2EFD76-ABDA-4B2F-BE79-6EDA30F9F141}" type="datetime1">
              <a:rPr lang="en-US" smtClean="0">
                <a:solidFill>
                  <a:srgbClr val="000000">
                    <a:tint val="75000"/>
                  </a:srgbClr>
                </a:solidFill>
              </a:rPr>
              <a:pPr/>
              <a:t>12/19/2016</a:t>
            </a:fld>
            <a:endParaRPr lang="en-IN" dirty="0">
              <a:solidFill>
                <a:srgbClr val="000000">
                  <a:tint val="75000"/>
                </a:srgbClr>
              </a:solidFill>
            </a:endParaRPr>
          </a:p>
        </p:txBody>
      </p:sp>
      <p:sp>
        <p:nvSpPr>
          <p:cNvPr id="4" name="Footer Placeholder 3"/>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3566066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6A24A8-8AED-4667-B66F-681976C7ED80}" type="datetime1">
              <a:rPr lang="en-US" smtClean="0">
                <a:solidFill>
                  <a:srgbClr val="000000">
                    <a:tint val="75000"/>
                  </a:srgbClr>
                </a:solidFill>
              </a:rPr>
              <a:pPr/>
              <a:t>12/19/2016</a:t>
            </a:fld>
            <a:endParaRPr lang="en-IN" dirty="0">
              <a:solidFill>
                <a:srgbClr val="000000">
                  <a:tint val="75000"/>
                </a:srgbClr>
              </a:solidFill>
            </a:endParaRPr>
          </a:p>
        </p:txBody>
      </p:sp>
      <p:sp>
        <p:nvSpPr>
          <p:cNvPr id="3" name="Footer Placeholder 2"/>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4" name="Slide Number Placeholder 3"/>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0604114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35305D-AC7B-4E71-8789-86CDE08C8ACA}"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8804400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2A884F-37AD-4FC2-AAB3-587E79316EFA}" type="datetime1">
              <a:rPr lang="en-US" smtClean="0">
                <a:solidFill>
                  <a:srgbClr val="000000">
                    <a:tint val="75000"/>
                  </a:srgbClr>
                </a:solidFill>
              </a:rPr>
              <a:pPr/>
              <a:t>12/19/2016</a:t>
            </a:fld>
            <a:endParaRPr lang="en-IN" dirty="0">
              <a:solidFill>
                <a:srgbClr val="000000">
                  <a:tint val="75000"/>
                </a:srgbClr>
              </a:solidFill>
            </a:endParaRPr>
          </a:p>
        </p:txBody>
      </p:sp>
      <p:sp>
        <p:nvSpPr>
          <p:cNvPr id="6" name="Footer Placeholder 5"/>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7" name="Slide Number Placeholder 6"/>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10205942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A5387B-E0A4-47BE-857C-48BA9E36BBE4}"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4710855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9527A-995E-42C4-A702-28CD229356AD}" type="datetime1">
              <a:rPr lang="en-US" smtClean="0">
                <a:solidFill>
                  <a:srgbClr val="000000">
                    <a:tint val="75000"/>
                  </a:srgbClr>
                </a:solidFill>
              </a:rPr>
              <a:pPr/>
              <a:t>12/19/2016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r>
              <a:rPr lang="en-IN" smtClean="0">
                <a:solidFill>
                  <a:srgbClr val="000000">
                    <a:tint val="75000"/>
                  </a:srgbClr>
                </a:solidFill>
              </a:rPr>
              <a:t>The information contained in this document is strictly private and confidential. © Copyright, Consumer Analytics Division, Tata Industries Limited   </a:t>
            </a:r>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365274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6" Type="http://schemas.openxmlformats.org/officeDocument/2006/relationships/image" Target="../media/image1.jpeg"/><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theme" Target="../theme/theme4.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2135F5D1-CA44-42A3-B48E-6F4CCC6F7445}" type="datetime1">
              <a:rPr lang="en-US" smtClean="0">
                <a:solidFill>
                  <a:srgbClr val="ACD433"/>
                </a:solidFill>
              </a:rPr>
              <a:t>12/19/2016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2181178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92CB5973-D838-4AD0-B90F-E46A6E4D6BAE}" type="datetime1">
              <a:rPr lang="en-US" smtClean="0">
                <a:solidFill>
                  <a:srgbClr val="ACD433"/>
                </a:solidFill>
              </a:rPr>
              <a:pPr defTabSz="457200"/>
              <a:t>12/19/2016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14" cstate="email">
            <a:extLst>
              <a:ext uri="{28A0092B-C50C-407E-A947-70E740481C1C}">
                <a14:useLocalDpi xmlns:a14="http://schemas.microsoft.com/office/drawing/2010/main" val="0"/>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2458092595"/>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81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12/19/2016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1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178694052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C9288E05-F80C-4A3F-92AE-43F09DDC445E}" type="datetime1">
              <a:rPr lang="en-US" smtClean="0">
                <a:solidFill>
                  <a:srgbClr val="ACD433"/>
                </a:solidFill>
              </a:rPr>
              <a:pPr defTabSz="457200"/>
              <a:t>12/19/2016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16"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2044649209"/>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BC6C8270-CD9F-44FD-9240-5996A1A6F3A2}" type="datetime1">
              <a:rPr lang="en-US" smtClean="0">
                <a:solidFill>
                  <a:srgbClr val="ACD433"/>
                </a:solidFill>
              </a:rPr>
              <a:pPr defTabSz="457200"/>
              <a:t>12/19/2016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453789355"/>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5.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Layout" Target="../diagrams/layout1.xml"/><Relationship Id="rId7" Type="http://schemas.openxmlformats.org/officeDocument/2006/relationships/image" Target="../media/image22.gif"/><Relationship Id="rId2" Type="http://schemas.openxmlformats.org/officeDocument/2006/relationships/diagramData" Target="../diagrams/data1.xml"/><Relationship Id="rId1" Type="http://schemas.openxmlformats.org/officeDocument/2006/relationships/slideLayout" Target="../slideLayouts/slideLayout36.xml"/><Relationship Id="rId6" Type="http://schemas.microsoft.com/office/2007/relationships/diagramDrawing" Target="../diagrams/drawing1.xml"/><Relationship Id="rId11" Type="http://schemas.openxmlformats.org/officeDocument/2006/relationships/image" Target="../media/image26.png"/><Relationship Id="rId5" Type="http://schemas.openxmlformats.org/officeDocument/2006/relationships/diagramColors" Target="../diagrams/colors1.xml"/><Relationship Id="rId10" Type="http://schemas.openxmlformats.org/officeDocument/2006/relationships/image" Target="../media/image25.png"/><Relationship Id="rId4" Type="http://schemas.openxmlformats.org/officeDocument/2006/relationships/diagramQuickStyle" Target="../diagrams/quickStyle1.xml"/><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8" Type="http://schemas.openxmlformats.org/officeDocument/2006/relationships/image" Target="../media/image29.jpeg"/><Relationship Id="rId13" Type="http://schemas.openxmlformats.org/officeDocument/2006/relationships/image" Target="../media/image34.jpg"/><Relationship Id="rId18" Type="http://schemas.openxmlformats.org/officeDocument/2006/relationships/image" Target="../media/image39.png"/><Relationship Id="rId3" Type="http://schemas.openxmlformats.org/officeDocument/2006/relationships/slideLayout" Target="../slideLayouts/slideLayout50.xml"/><Relationship Id="rId21" Type="http://schemas.openxmlformats.org/officeDocument/2006/relationships/image" Target="../media/image42.png"/><Relationship Id="rId7" Type="http://schemas.openxmlformats.org/officeDocument/2006/relationships/image" Target="../media/image28.jpeg"/><Relationship Id="rId12" Type="http://schemas.openxmlformats.org/officeDocument/2006/relationships/image" Target="../media/image33.png"/><Relationship Id="rId17" Type="http://schemas.openxmlformats.org/officeDocument/2006/relationships/image" Target="../media/image38.jpeg"/><Relationship Id="rId2" Type="http://schemas.openxmlformats.org/officeDocument/2006/relationships/tags" Target="../tags/tag2.xml"/><Relationship Id="rId16" Type="http://schemas.openxmlformats.org/officeDocument/2006/relationships/image" Target="../media/image37.png"/><Relationship Id="rId20" Type="http://schemas.openxmlformats.org/officeDocument/2006/relationships/image" Target="../media/image41.jpeg"/><Relationship Id="rId1" Type="http://schemas.openxmlformats.org/officeDocument/2006/relationships/tags" Target="../tags/tag1.xml"/><Relationship Id="rId6" Type="http://schemas.openxmlformats.org/officeDocument/2006/relationships/image" Target="../media/image27.jpeg"/><Relationship Id="rId11" Type="http://schemas.openxmlformats.org/officeDocument/2006/relationships/image" Target="../media/image32.png"/><Relationship Id="rId5" Type="http://schemas.openxmlformats.org/officeDocument/2006/relationships/image" Target="../media/image1.jpeg"/><Relationship Id="rId15" Type="http://schemas.openxmlformats.org/officeDocument/2006/relationships/image" Target="../media/image36.png"/><Relationship Id="rId10" Type="http://schemas.openxmlformats.org/officeDocument/2006/relationships/image" Target="../media/image31.jpeg"/><Relationship Id="rId19" Type="http://schemas.openxmlformats.org/officeDocument/2006/relationships/image" Target="../media/image40.jpeg"/><Relationship Id="rId4" Type="http://schemas.openxmlformats.org/officeDocument/2006/relationships/notesSlide" Target="../notesSlides/notesSlide7.xml"/><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2.png"/><Relationship Id="rId3" Type="http://schemas.openxmlformats.org/officeDocument/2006/relationships/image" Target="../media/image44.png"/><Relationship Id="rId7" Type="http://schemas.openxmlformats.org/officeDocument/2006/relationships/image" Target="../media/image47.png"/><Relationship Id="rId12"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46.png"/><Relationship Id="rId11" Type="http://schemas.openxmlformats.org/officeDocument/2006/relationships/image" Target="../media/image50.png"/><Relationship Id="rId5" Type="http://schemas.openxmlformats.org/officeDocument/2006/relationships/image" Target="../media/image20.png"/><Relationship Id="rId10" Type="http://schemas.openxmlformats.org/officeDocument/2006/relationships/image" Target="../media/image18.png"/><Relationship Id="rId4" Type="http://schemas.openxmlformats.org/officeDocument/2006/relationships/image" Target="../media/image45.png"/><Relationship Id="rId9" Type="http://schemas.openxmlformats.org/officeDocument/2006/relationships/image" Target="../media/image49.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jpeg"/><Relationship Id="rId7"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jpeg"/><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jpeg"/><Relationship Id="rId7"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18.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74.jpe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image" Target="../media/image1.jpeg"/><Relationship Id="rId16" Type="http://schemas.openxmlformats.org/officeDocument/2006/relationships/image" Target="../media/image87.png"/><Relationship Id="rId20" Type="http://schemas.openxmlformats.org/officeDocument/2006/relationships/image" Target="../media/image91.png"/><Relationship Id="rId1" Type="http://schemas.openxmlformats.org/officeDocument/2006/relationships/slideLayout" Target="../slideLayouts/slideLayout1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jpeg"/><Relationship Id="rId5" Type="http://schemas.openxmlformats.org/officeDocument/2006/relationships/image" Target="../media/image76.jpeg"/><Relationship Id="rId15" Type="http://schemas.openxmlformats.org/officeDocument/2006/relationships/image" Target="../media/image86.png"/><Relationship Id="rId23" Type="http://schemas.openxmlformats.org/officeDocument/2006/relationships/image" Target="../media/image94.jpe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jpe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7.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image" Target="../media/image1.jpeg"/><Relationship Id="rId1" Type="http://schemas.openxmlformats.org/officeDocument/2006/relationships/slideLayout" Target="../slideLayouts/slideLayout13.xml"/><Relationship Id="rId6" Type="http://schemas.microsoft.com/office/2007/relationships/hdphoto" Target="../media/hdphoto1.wdp"/><Relationship Id="rId11" Type="http://schemas.openxmlformats.org/officeDocument/2006/relationships/image" Target="../media/image104.png"/><Relationship Id="rId5" Type="http://schemas.openxmlformats.org/officeDocument/2006/relationships/image" Target="../media/image99.png"/><Relationship Id="rId10" Type="http://schemas.openxmlformats.org/officeDocument/2006/relationships/image" Target="../media/image103.png"/><Relationship Id="rId4" Type="http://schemas.openxmlformats.org/officeDocument/2006/relationships/image" Target="../media/image98.png"/><Relationship Id="rId9" Type="http://schemas.openxmlformats.org/officeDocument/2006/relationships/image" Target="../media/image102.png"/></Relationships>
</file>

<file path=ppt/slides/_rels/slide24.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jpeg"/><Relationship Id="rId7" Type="http://schemas.openxmlformats.org/officeDocument/2006/relationships/image" Target="../media/image107.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06.png"/><Relationship Id="rId5" Type="http://schemas.openxmlformats.org/officeDocument/2006/relationships/image" Target="../media/image105.png"/><Relationship Id="rId10" Type="http://schemas.openxmlformats.org/officeDocument/2006/relationships/image" Target="../media/image110.jpeg"/><Relationship Id="rId4" Type="http://schemas.openxmlformats.org/officeDocument/2006/relationships/image" Target="../media/image104.png"/><Relationship Id="rId9" Type="http://schemas.openxmlformats.org/officeDocument/2006/relationships/image" Target="../media/image109.png"/></Relationships>
</file>

<file path=ppt/slides/_rels/slide25.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microsoft.com/office/2007/relationships/hdphoto" Target="../media/hdphoto2.wdp"/><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image" Target="../media/image99.png"/><Relationship Id="rId1" Type="http://schemas.openxmlformats.org/officeDocument/2006/relationships/slideLayout" Target="../slideLayouts/slideLayout23.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01.png"/><Relationship Id="rId10" Type="http://schemas.openxmlformats.org/officeDocument/2006/relationships/image" Target="../media/image115.png"/><Relationship Id="rId4" Type="http://schemas.openxmlformats.org/officeDocument/2006/relationships/image" Target="../media/image100.png"/><Relationship Id="rId9" Type="http://schemas.openxmlformats.org/officeDocument/2006/relationships/image" Target="../media/image114.png"/></Relationships>
</file>

<file path=ppt/slides/_rels/slide2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microsoft.com/office/2007/relationships/hdphoto" Target="../media/hdphoto3.wdp"/><Relationship Id="rId5" Type="http://schemas.openxmlformats.org/officeDocument/2006/relationships/image" Target="../media/image121.png"/><Relationship Id="rId4" Type="http://schemas.openxmlformats.org/officeDocument/2006/relationships/image" Target="../media/image1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25.png"/><Relationship Id="rId5" Type="http://schemas.openxmlformats.org/officeDocument/2006/relationships/image" Target="../media/image124.jpeg"/><Relationship Id="rId4" Type="http://schemas.openxmlformats.org/officeDocument/2006/relationships/image" Target="../media/image123.png"/></Relationships>
</file>

<file path=ppt/slides/_rels/slide29.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5.png"/><Relationship Id="rId3" Type="http://schemas.openxmlformats.org/officeDocument/2006/relationships/image" Target="../media/image127.png"/><Relationship Id="rId7" Type="http://schemas.openxmlformats.org/officeDocument/2006/relationships/image" Target="../media/image130.jpeg"/><Relationship Id="rId12" Type="http://schemas.openxmlformats.org/officeDocument/2006/relationships/image" Target="../media/image134.png"/><Relationship Id="rId2" Type="http://schemas.openxmlformats.org/officeDocument/2006/relationships/image" Target="../media/image126.png"/><Relationship Id="rId1" Type="http://schemas.openxmlformats.org/officeDocument/2006/relationships/slideLayout" Target="../slideLayouts/slideLayout13.xml"/><Relationship Id="rId6" Type="http://schemas.openxmlformats.org/officeDocument/2006/relationships/image" Target="../media/image129.gif"/><Relationship Id="rId11" Type="http://schemas.openxmlformats.org/officeDocument/2006/relationships/image" Target="../media/image133.png"/><Relationship Id="rId5" Type="http://schemas.microsoft.com/office/2007/relationships/hdphoto" Target="../media/hdphoto4.wdp"/><Relationship Id="rId10" Type="http://schemas.openxmlformats.org/officeDocument/2006/relationships/image" Target="../media/image132.png"/><Relationship Id="rId4" Type="http://schemas.openxmlformats.org/officeDocument/2006/relationships/image" Target="../media/image128.png"/><Relationship Id="rId9" Type="http://schemas.openxmlformats.org/officeDocument/2006/relationships/image" Target="../media/image1.jpeg"/></Relationships>
</file>

<file path=ppt/slides/_rels/slide30.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diagramQuickStyle" Target="../diagrams/quickStyle3.xml"/><Relationship Id="rId3" Type="http://schemas.openxmlformats.org/officeDocument/2006/relationships/image" Target="../media/image1.jpeg"/><Relationship Id="rId7" Type="http://schemas.openxmlformats.org/officeDocument/2006/relationships/diagramLayout" Target="../diagrams/layout2.xml"/><Relationship Id="rId12" Type="http://schemas.openxmlformats.org/officeDocument/2006/relationships/diagramLayout" Target="../diagrams/layout3.xm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diagramData" Target="../diagrams/data2.xml"/><Relationship Id="rId11" Type="http://schemas.openxmlformats.org/officeDocument/2006/relationships/diagramData" Target="../diagrams/data3.xml"/><Relationship Id="rId5" Type="http://schemas.openxmlformats.org/officeDocument/2006/relationships/image" Target="../media/image137.png"/><Relationship Id="rId15" Type="http://schemas.microsoft.com/office/2007/relationships/diagramDrawing" Target="../diagrams/drawing3.xml"/><Relationship Id="rId10" Type="http://schemas.microsoft.com/office/2007/relationships/diagramDrawing" Target="../diagrams/drawing2.xml"/><Relationship Id="rId4" Type="http://schemas.openxmlformats.org/officeDocument/2006/relationships/image" Target="../media/image136.jpeg"/><Relationship Id="rId9" Type="http://schemas.openxmlformats.org/officeDocument/2006/relationships/diagramColors" Target="../diagrams/colors2.xml"/><Relationship Id="rId14" Type="http://schemas.openxmlformats.org/officeDocument/2006/relationships/diagramColors" Target="../diagrams/colors3.xml"/></Relationships>
</file>

<file path=ppt/slides/_rels/slide3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8.png"/><Relationship Id="rId18" Type="http://schemas.openxmlformats.org/officeDocument/2006/relationships/image" Target="../media/image141.png"/><Relationship Id="rId3" Type="http://schemas.openxmlformats.org/officeDocument/2006/relationships/image" Target="../media/image47.png"/><Relationship Id="rId7" Type="http://schemas.openxmlformats.org/officeDocument/2006/relationships/image" Target="../media/image44.png"/><Relationship Id="rId12" Type="http://schemas.openxmlformats.org/officeDocument/2006/relationships/image" Target="../media/image17.png"/><Relationship Id="rId17" Type="http://schemas.openxmlformats.org/officeDocument/2006/relationships/image" Target="../media/image20.png"/><Relationship Id="rId2" Type="http://schemas.openxmlformats.org/officeDocument/2006/relationships/notesSlide" Target="../notesSlides/notesSlide17.xml"/><Relationship Id="rId16" Type="http://schemas.openxmlformats.org/officeDocument/2006/relationships/image" Target="../media/image49.png"/><Relationship Id="rId20"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139.png"/><Relationship Id="rId5" Type="http://schemas.openxmlformats.org/officeDocument/2006/relationships/image" Target="../media/image45.png"/><Relationship Id="rId15" Type="http://schemas.openxmlformats.org/officeDocument/2006/relationships/image" Target="../media/image140.png"/><Relationship Id="rId10" Type="http://schemas.openxmlformats.org/officeDocument/2006/relationships/image" Target="../media/image51.png"/><Relationship Id="rId19" Type="http://schemas.openxmlformats.org/officeDocument/2006/relationships/image" Target="../media/image142.png"/><Relationship Id="rId4" Type="http://schemas.openxmlformats.org/officeDocument/2006/relationships/image" Target="../media/image46.png"/><Relationship Id="rId9" Type="http://schemas.openxmlformats.org/officeDocument/2006/relationships/image" Target="../media/image50.png"/><Relationship Id="rId1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sp>
        <p:nvSpPr>
          <p:cNvPr id="7" name="Rectangle 6"/>
          <p:cNvSpPr/>
          <p:nvPr/>
        </p:nvSpPr>
        <p:spPr>
          <a:xfrm>
            <a:off x="228600" y="4887774"/>
            <a:ext cx="5080000" cy="1754326"/>
          </a:xfrm>
          <a:prstGeom prst="rect">
            <a:avLst/>
          </a:prstGeom>
        </p:spPr>
        <p:txBody>
          <a:bodyPr wrap="square" anchor="b">
            <a:spAutoFit/>
          </a:bodyPr>
          <a:lstStyle/>
          <a:p>
            <a:r>
              <a:rPr lang="en-US" sz="900" dirty="0">
                <a:solidFill>
                  <a:prstClr val="white"/>
                </a:solidFill>
                <a:latin typeface="Century Gothic"/>
              </a:rPr>
              <a:t>The information contained in the document is proprietary to Tata Industries Limited- Tata Insights &amp; Quants Division and is strictly confidential. </a:t>
            </a:r>
            <a:r>
              <a:rPr lang="en-IN" sz="9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entury Gothic"/>
              </a:rPr>
            </a:br>
            <a:r>
              <a:rPr lang="en-IN" sz="900" dirty="0">
                <a:solidFill>
                  <a:prstClr val="white"/>
                </a:solidFill>
                <a:latin typeface="Century Gothic"/>
              </a:rPr>
              <a:t> </a:t>
            </a:r>
            <a:br>
              <a:rPr lang="en-IN" sz="900" dirty="0">
                <a:solidFill>
                  <a:prstClr val="white"/>
                </a:solidFill>
                <a:latin typeface="Century Gothic"/>
              </a:rPr>
            </a:br>
            <a:r>
              <a:rPr lang="en-IN" sz="900" dirty="0">
                <a:solidFill>
                  <a:prstClr val="white"/>
                </a:solidFill>
                <a:latin typeface="Century Gothic"/>
              </a:rPr>
              <a:t>© Copyright, Tata Insights &amp; Quants Division, Tata Industries Limited </a:t>
            </a:r>
          </a:p>
        </p:txBody>
      </p:sp>
      <p:sp>
        <p:nvSpPr>
          <p:cNvPr id="8" name="Rectangle 7"/>
          <p:cNvSpPr/>
          <p:nvPr/>
        </p:nvSpPr>
        <p:spPr>
          <a:xfrm>
            <a:off x="1504150" y="2071327"/>
            <a:ext cx="9951250" cy="830997"/>
          </a:xfrm>
          <a:prstGeom prst="rect">
            <a:avLst/>
          </a:prstGeom>
        </p:spPr>
        <p:txBody>
          <a:bodyPr wrap="none">
            <a:spAutoFit/>
          </a:bodyPr>
          <a:lstStyle/>
          <a:p>
            <a:pPr algn="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Tata Steel Wires – Digital </a:t>
            </a:r>
            <a:r>
              <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S</a:t>
            </a: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trategy</a:t>
            </a:r>
            <a:endPar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sp>
        <p:nvSpPr>
          <p:cNvPr id="10" name="Rectangle 9"/>
          <p:cNvSpPr/>
          <p:nvPr/>
        </p:nvSpPr>
        <p:spPr>
          <a:xfrm>
            <a:off x="4216400" y="3949222"/>
            <a:ext cx="7239000" cy="400110"/>
          </a:xfrm>
          <a:prstGeom prst="rect">
            <a:avLst/>
          </a:prstGeom>
        </p:spPr>
        <p:txBody>
          <a:bodyPr wrap="square">
            <a:spAutoFit/>
          </a:bodyPr>
          <a:lstStyle/>
          <a:p>
            <a:pPr algn="r"/>
            <a:r>
              <a:rPr lang="en-US" sz="2000" b="1" dirty="0" smtClean="0">
                <a:solidFill>
                  <a:prstClr val="white"/>
                </a:solidFill>
                <a:latin typeface="Leelawadee UI" panose="020B0502040204020203" pitchFamily="34" charset="-34"/>
                <a:cs typeface="Leelawadee UI" panose="020B0502040204020203" pitchFamily="34" charset="-34"/>
              </a:rPr>
              <a:t>19 </a:t>
            </a:r>
            <a:r>
              <a:rPr lang="en-US" sz="2000" b="1" dirty="0">
                <a:solidFill>
                  <a:prstClr val="white"/>
                </a:solidFill>
                <a:latin typeface="Leelawadee UI" panose="020B0502040204020203" pitchFamily="34" charset="-34"/>
                <a:cs typeface="Leelawadee UI" panose="020B0502040204020203" pitchFamily="34" charset="-34"/>
              </a:rPr>
              <a:t>/ </a:t>
            </a:r>
            <a:r>
              <a:rPr lang="en-US" sz="2000" b="1" dirty="0" smtClean="0">
                <a:solidFill>
                  <a:prstClr val="white"/>
                </a:solidFill>
                <a:latin typeface="Leelawadee UI" panose="020B0502040204020203" pitchFamily="34" charset="-34"/>
                <a:cs typeface="Leelawadee UI" panose="020B0502040204020203" pitchFamily="34" charset="-34"/>
              </a:rPr>
              <a:t>12 </a:t>
            </a:r>
            <a:r>
              <a:rPr lang="en-US" sz="2000" b="1" dirty="0">
                <a:solidFill>
                  <a:prstClr val="white"/>
                </a:solidFill>
                <a:latin typeface="Leelawadee UI" panose="020B0502040204020203" pitchFamily="34" charset="-34"/>
                <a:cs typeface="Leelawadee UI" panose="020B0502040204020203" pitchFamily="34" charset="-34"/>
              </a:rPr>
              <a:t>/ 2016</a:t>
            </a:r>
          </a:p>
        </p:txBody>
      </p:sp>
      <p:sp>
        <p:nvSpPr>
          <p:cNvPr id="2" name="Slide Number Placeholder 1"/>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1</a:t>
            </a:fld>
            <a:endParaRPr lang="en-IN" sz="1800" kern="0" dirty="0">
              <a:solidFill>
                <a:srgbClr val="000000">
                  <a:tint val="75000"/>
                </a:srgbClr>
              </a:solidFill>
            </a:endParaRPr>
          </a:p>
        </p:txBody>
      </p:sp>
    </p:spTree>
    <p:extLst>
      <p:ext uri="{BB962C8B-B14F-4D97-AF65-F5344CB8AC3E}">
        <p14:creationId xmlns:p14="http://schemas.microsoft.com/office/powerpoint/2010/main" val="11233159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040F425-731D-4835-A38A-9545B9CAE996}" type="slidenum">
              <a:rPr lang="en-IN" sz="1800" kern="0" smtClean="0">
                <a:solidFill>
                  <a:srgbClr val="000000">
                    <a:tint val="75000"/>
                  </a:srgbClr>
                </a:solidFill>
              </a:rPr>
              <a:pPr>
                <a:defRPr/>
              </a:pPr>
              <a:t>2</a:t>
            </a:fld>
            <a:endParaRPr lang="en-IN" sz="1800" kern="0" dirty="0">
              <a:solidFill>
                <a:srgbClr val="000000">
                  <a:tint val="75000"/>
                </a:srgbClr>
              </a:solidFill>
            </a:endParaRPr>
          </a:p>
        </p:txBody>
      </p:sp>
      <p:sp>
        <p:nvSpPr>
          <p:cNvPr id="5" name="Rectangle 4"/>
          <p:cNvSpPr/>
          <p:nvPr/>
        </p:nvSpPr>
        <p:spPr>
          <a:xfrm>
            <a:off x="3770707" y="237066"/>
            <a:ext cx="4650633" cy="523220"/>
          </a:xfrm>
          <a:prstGeom prst="rect">
            <a:avLst/>
          </a:prstGeom>
          <a:solidFill>
            <a:schemeClr val="bg1"/>
          </a:solidFill>
        </p:spPr>
        <p:txBody>
          <a:bodyPr wrap="none" anchor="ctr">
            <a:spAutoFit/>
          </a:bodyPr>
          <a:lstStyle/>
          <a:p>
            <a:pPr algn="ctr">
              <a:defRPr/>
            </a:pPr>
            <a:r>
              <a:rPr lang="en-IN" sz="2800" b="1" kern="0" dirty="0" smtClean="0">
                <a:solidFill>
                  <a:srgbClr val="0070C0"/>
                </a:solidFill>
                <a:latin typeface="Leelawadee UI" panose="020B0502040204020203" pitchFamily="34" charset="-34"/>
                <a:cs typeface="Leelawadee UI" panose="020B0502040204020203" pitchFamily="34" charset="-34"/>
              </a:rPr>
              <a:t>The Digital Farmer : Today</a:t>
            </a:r>
            <a:endParaRPr lang="en-IN" sz="2800" b="1" kern="0" dirty="0">
              <a:solidFill>
                <a:srgbClr val="0070C0"/>
              </a:solidFill>
              <a:latin typeface="Leelawadee UI" panose="020B0502040204020203" pitchFamily="34" charset="-34"/>
              <a:cs typeface="Leelawadee UI" panose="020B0502040204020203" pitchFamily="34" charset="-34"/>
            </a:endParaRPr>
          </a:p>
        </p:txBody>
      </p:sp>
      <p:grpSp>
        <p:nvGrpSpPr>
          <p:cNvPr id="6" name="Group 5"/>
          <p:cNvGrpSpPr/>
          <p:nvPr/>
        </p:nvGrpSpPr>
        <p:grpSpPr>
          <a:xfrm>
            <a:off x="3581856" y="1714994"/>
            <a:ext cx="4305353" cy="4542375"/>
            <a:chOff x="3646251" y="939817"/>
            <a:chExt cx="4305353" cy="4542375"/>
          </a:xfrm>
        </p:grpSpPr>
        <p:sp>
          <p:nvSpPr>
            <p:cNvPr id="8" name="Freeform 7"/>
            <p:cNvSpPr/>
            <p:nvPr/>
          </p:nvSpPr>
          <p:spPr>
            <a:xfrm>
              <a:off x="5725413" y="3632140"/>
              <a:ext cx="1754008" cy="1850052"/>
            </a:xfrm>
            <a:custGeom>
              <a:avLst/>
              <a:gdLst>
                <a:gd name="connsiteX0" fmla="*/ 1245002 w 1754008"/>
                <a:gd name="connsiteY0" fmla="*/ 286792 h 1850052"/>
                <a:gd name="connsiteX1" fmla="*/ 1385114 w 1754008"/>
                <a:gd name="connsiteY1" fmla="*/ 176835 h 1850052"/>
                <a:gd name="connsiteX2" fmla="*/ 1495436 w 1754008"/>
                <a:gd name="connsiteY2" fmla="*/ 275743 h 1850052"/>
                <a:gd name="connsiteX3" fmla="*/ 1401374 w 1754008"/>
                <a:gd name="connsiteY3" fmla="*/ 426985 h 1850052"/>
                <a:gd name="connsiteX4" fmla="*/ 1542874 w 1754008"/>
                <a:gd name="connsiteY4" fmla="*/ 688846 h 1850052"/>
                <a:gd name="connsiteX5" fmla="*/ 1720970 w 1754008"/>
                <a:gd name="connsiteY5" fmla="*/ 690796 h 1850052"/>
                <a:gd name="connsiteX6" fmla="*/ 1746346 w 1754008"/>
                <a:gd name="connsiteY6" fmla="*/ 844563 h 1850052"/>
                <a:gd name="connsiteX7" fmla="*/ 1578321 w 1754008"/>
                <a:gd name="connsiteY7" fmla="*/ 903633 h 1850052"/>
                <a:gd name="connsiteX8" fmla="*/ 1529178 w 1754008"/>
                <a:gd name="connsiteY8" fmla="*/ 1201410 h 1850052"/>
                <a:gd name="connsiteX9" fmla="*/ 1668791 w 1754008"/>
                <a:gd name="connsiteY9" fmla="*/ 1312001 h 1850052"/>
                <a:gd name="connsiteX10" fmla="*/ 1596128 w 1754008"/>
                <a:gd name="connsiteY10" fmla="*/ 1446472 h 1850052"/>
                <a:gd name="connsiteX11" fmla="*/ 1427114 w 1754008"/>
                <a:gd name="connsiteY11" fmla="*/ 1390292 h 1850052"/>
                <a:gd name="connsiteX12" fmla="*/ 1210323 w 1754008"/>
                <a:gd name="connsiteY12" fmla="*/ 1584652 h 1850052"/>
                <a:gd name="connsiteX13" fmla="*/ 1245075 w 1754008"/>
                <a:gd name="connsiteY13" fmla="*/ 1759335 h 1850052"/>
                <a:gd name="connsiteX14" fmla="*/ 1110897 w 1754008"/>
                <a:gd name="connsiteY14" fmla="*/ 1811514 h 1850052"/>
                <a:gd name="connsiteX15" fmla="*/ 1018504 w 1754008"/>
                <a:gd name="connsiteY15" fmla="*/ 1659247 h 1850052"/>
                <a:gd name="connsiteX16" fmla="*/ 735503 w 1754008"/>
                <a:gd name="connsiteY16" fmla="*/ 1659247 h 1850052"/>
                <a:gd name="connsiteX17" fmla="*/ 643111 w 1754008"/>
                <a:gd name="connsiteY17" fmla="*/ 1811514 h 1850052"/>
                <a:gd name="connsiteX18" fmla="*/ 508933 w 1754008"/>
                <a:gd name="connsiteY18" fmla="*/ 1759335 h 1850052"/>
                <a:gd name="connsiteX19" fmla="*/ 543685 w 1754008"/>
                <a:gd name="connsiteY19" fmla="*/ 1584652 h 1850052"/>
                <a:gd name="connsiteX20" fmla="*/ 326894 w 1754008"/>
                <a:gd name="connsiteY20" fmla="*/ 1390292 h 1850052"/>
                <a:gd name="connsiteX21" fmla="*/ 157880 w 1754008"/>
                <a:gd name="connsiteY21" fmla="*/ 1446472 h 1850052"/>
                <a:gd name="connsiteX22" fmla="*/ 85217 w 1754008"/>
                <a:gd name="connsiteY22" fmla="*/ 1312001 h 1850052"/>
                <a:gd name="connsiteX23" fmla="*/ 224829 w 1754008"/>
                <a:gd name="connsiteY23" fmla="*/ 1201411 h 1850052"/>
                <a:gd name="connsiteX24" fmla="*/ 175686 w 1754008"/>
                <a:gd name="connsiteY24" fmla="*/ 903634 h 1850052"/>
                <a:gd name="connsiteX25" fmla="*/ 7662 w 1754008"/>
                <a:gd name="connsiteY25" fmla="*/ 844563 h 1850052"/>
                <a:gd name="connsiteX26" fmla="*/ 33038 w 1754008"/>
                <a:gd name="connsiteY26" fmla="*/ 690796 h 1850052"/>
                <a:gd name="connsiteX27" fmla="*/ 211133 w 1754008"/>
                <a:gd name="connsiteY27" fmla="*/ 688846 h 1850052"/>
                <a:gd name="connsiteX28" fmla="*/ 352633 w 1754008"/>
                <a:gd name="connsiteY28" fmla="*/ 426985 h 1850052"/>
                <a:gd name="connsiteX29" fmla="*/ 258572 w 1754008"/>
                <a:gd name="connsiteY29" fmla="*/ 275743 h 1850052"/>
                <a:gd name="connsiteX30" fmla="*/ 368894 w 1754008"/>
                <a:gd name="connsiteY30" fmla="*/ 176835 h 1850052"/>
                <a:gd name="connsiteX31" fmla="*/ 509006 w 1754008"/>
                <a:gd name="connsiteY31" fmla="*/ 286792 h 1850052"/>
                <a:gd name="connsiteX32" fmla="*/ 774940 w 1754008"/>
                <a:gd name="connsiteY32" fmla="*/ 183375 h 1850052"/>
                <a:gd name="connsiteX33" fmla="*/ 805863 w 1754008"/>
                <a:gd name="connsiteY33" fmla="*/ 7974 h 1850052"/>
                <a:gd name="connsiteX34" fmla="*/ 948145 w 1754008"/>
                <a:gd name="connsiteY34" fmla="*/ 7974 h 1850052"/>
                <a:gd name="connsiteX35" fmla="*/ 979069 w 1754008"/>
                <a:gd name="connsiteY35" fmla="*/ 183375 h 1850052"/>
                <a:gd name="connsiteX36" fmla="*/ 1245003 w 1754008"/>
                <a:gd name="connsiteY36" fmla="*/ 286792 h 1850052"/>
                <a:gd name="connsiteX37" fmla="*/ 1245002 w 1754008"/>
                <a:gd name="connsiteY37" fmla="*/ 286792 h 185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54008" h="1850052">
                  <a:moveTo>
                    <a:pt x="1245002" y="286792"/>
                  </a:moveTo>
                  <a:lnTo>
                    <a:pt x="1385114" y="176835"/>
                  </a:lnTo>
                  <a:lnTo>
                    <a:pt x="1495436" y="275743"/>
                  </a:lnTo>
                  <a:lnTo>
                    <a:pt x="1401374" y="426985"/>
                  </a:lnTo>
                  <a:cubicBezTo>
                    <a:pt x="1464699" y="503097"/>
                    <a:pt x="1512845" y="592196"/>
                    <a:pt x="1542874" y="688846"/>
                  </a:cubicBezTo>
                  <a:lnTo>
                    <a:pt x="1720970" y="690796"/>
                  </a:lnTo>
                  <a:lnTo>
                    <a:pt x="1746346" y="844563"/>
                  </a:lnTo>
                  <a:lnTo>
                    <a:pt x="1578321" y="903633"/>
                  </a:lnTo>
                  <a:cubicBezTo>
                    <a:pt x="1581041" y="1005428"/>
                    <a:pt x="1564320" y="1106748"/>
                    <a:pt x="1529178" y="1201410"/>
                  </a:cubicBezTo>
                  <a:lnTo>
                    <a:pt x="1668791" y="1312001"/>
                  </a:lnTo>
                  <a:lnTo>
                    <a:pt x="1596128" y="1446472"/>
                  </a:lnTo>
                  <a:lnTo>
                    <a:pt x="1427114" y="1390292"/>
                  </a:lnTo>
                  <a:cubicBezTo>
                    <a:pt x="1367957" y="1470140"/>
                    <a:pt x="1294193" y="1536272"/>
                    <a:pt x="1210323" y="1584652"/>
                  </a:cubicBezTo>
                  <a:lnTo>
                    <a:pt x="1245075" y="1759335"/>
                  </a:lnTo>
                  <a:lnTo>
                    <a:pt x="1110897" y="1811514"/>
                  </a:lnTo>
                  <a:lnTo>
                    <a:pt x="1018504" y="1659247"/>
                  </a:lnTo>
                  <a:cubicBezTo>
                    <a:pt x="925150" y="1679786"/>
                    <a:pt x="828857" y="1679786"/>
                    <a:pt x="735503" y="1659247"/>
                  </a:cubicBezTo>
                  <a:lnTo>
                    <a:pt x="643111" y="1811514"/>
                  </a:lnTo>
                  <a:lnTo>
                    <a:pt x="508933" y="1759335"/>
                  </a:lnTo>
                  <a:lnTo>
                    <a:pt x="543685" y="1584652"/>
                  </a:lnTo>
                  <a:cubicBezTo>
                    <a:pt x="459815" y="1536271"/>
                    <a:pt x="386051" y="1470139"/>
                    <a:pt x="326894" y="1390292"/>
                  </a:cubicBezTo>
                  <a:lnTo>
                    <a:pt x="157880" y="1446472"/>
                  </a:lnTo>
                  <a:lnTo>
                    <a:pt x="85217" y="1312001"/>
                  </a:lnTo>
                  <a:lnTo>
                    <a:pt x="224829" y="1201411"/>
                  </a:lnTo>
                  <a:cubicBezTo>
                    <a:pt x="189687" y="1106749"/>
                    <a:pt x="172966" y="1005429"/>
                    <a:pt x="175686" y="903634"/>
                  </a:cubicBezTo>
                  <a:lnTo>
                    <a:pt x="7662" y="844563"/>
                  </a:lnTo>
                  <a:lnTo>
                    <a:pt x="33038" y="690796"/>
                  </a:lnTo>
                  <a:lnTo>
                    <a:pt x="211133" y="688846"/>
                  </a:lnTo>
                  <a:cubicBezTo>
                    <a:pt x="241163" y="592196"/>
                    <a:pt x="289309" y="503096"/>
                    <a:pt x="352633" y="426985"/>
                  </a:cubicBezTo>
                  <a:lnTo>
                    <a:pt x="258572" y="275743"/>
                  </a:lnTo>
                  <a:lnTo>
                    <a:pt x="368894" y="176835"/>
                  </a:lnTo>
                  <a:lnTo>
                    <a:pt x="509006" y="286792"/>
                  </a:lnTo>
                  <a:cubicBezTo>
                    <a:pt x="590156" y="233378"/>
                    <a:pt x="680641" y="198189"/>
                    <a:pt x="774940" y="183375"/>
                  </a:cubicBezTo>
                  <a:lnTo>
                    <a:pt x="805863" y="7974"/>
                  </a:lnTo>
                  <a:lnTo>
                    <a:pt x="948145" y="7974"/>
                  </a:lnTo>
                  <a:lnTo>
                    <a:pt x="979069" y="183375"/>
                  </a:lnTo>
                  <a:cubicBezTo>
                    <a:pt x="1073368" y="198190"/>
                    <a:pt x="1163853" y="233378"/>
                    <a:pt x="1245003" y="286792"/>
                  </a:cubicBezTo>
                  <a:lnTo>
                    <a:pt x="1245002" y="286792"/>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366604" tIns="440955" rIns="366604" bIns="473730" numCol="1" spcCol="1270" anchor="ctr" anchorCtr="0">
              <a:noAutofit/>
            </a:bodyPr>
            <a:lstStyle/>
            <a:p>
              <a:pPr lvl="0" algn="ctr" defTabSz="488950">
                <a:lnSpc>
                  <a:spcPct val="90000"/>
                </a:lnSpc>
                <a:spcBef>
                  <a:spcPct val="0"/>
                </a:spcBef>
                <a:spcAft>
                  <a:spcPct val="35000"/>
                </a:spcAft>
              </a:pPr>
              <a:r>
                <a:rPr lang="en-IN" sz="1600" b="1" kern="1200" dirty="0" smtClean="0"/>
                <a:t>Expand market for better access</a:t>
              </a:r>
              <a:endParaRPr lang="en-IN" sz="1600" b="1" kern="1200" dirty="0"/>
            </a:p>
          </p:txBody>
        </p:sp>
        <p:sp>
          <p:nvSpPr>
            <p:cNvPr id="9" name="Freeform 8"/>
            <p:cNvSpPr/>
            <p:nvPr/>
          </p:nvSpPr>
          <p:spPr>
            <a:xfrm>
              <a:off x="4017013" y="2736649"/>
              <a:ext cx="1913883" cy="1790982"/>
            </a:xfrm>
            <a:custGeom>
              <a:avLst/>
              <a:gdLst>
                <a:gd name="connsiteX0" fmla="*/ 1216599 w 1625933"/>
                <a:gd name="connsiteY0" fmla="*/ 411808 h 1625933"/>
                <a:gd name="connsiteX1" fmla="*/ 1456480 w 1625933"/>
                <a:gd name="connsiteY1" fmla="*/ 339512 h 1625933"/>
                <a:gd name="connsiteX2" fmla="*/ 1544747 w 1625933"/>
                <a:gd name="connsiteY2" fmla="*/ 492395 h 1625933"/>
                <a:gd name="connsiteX3" fmla="*/ 1362197 w 1625933"/>
                <a:gd name="connsiteY3" fmla="*/ 663990 h 1625933"/>
                <a:gd name="connsiteX4" fmla="*/ 1362197 w 1625933"/>
                <a:gd name="connsiteY4" fmla="*/ 961944 h 1625933"/>
                <a:gd name="connsiteX5" fmla="*/ 1544747 w 1625933"/>
                <a:gd name="connsiteY5" fmla="*/ 1133538 h 1625933"/>
                <a:gd name="connsiteX6" fmla="*/ 1456480 w 1625933"/>
                <a:gd name="connsiteY6" fmla="*/ 1286421 h 1625933"/>
                <a:gd name="connsiteX7" fmla="*/ 1216599 w 1625933"/>
                <a:gd name="connsiteY7" fmla="*/ 1214125 h 1625933"/>
                <a:gd name="connsiteX8" fmla="*/ 958563 w 1625933"/>
                <a:gd name="connsiteY8" fmla="*/ 1363102 h 1625933"/>
                <a:gd name="connsiteX9" fmla="*/ 901234 w 1625933"/>
                <a:gd name="connsiteY9" fmla="*/ 1606992 h 1625933"/>
                <a:gd name="connsiteX10" fmla="*/ 724699 w 1625933"/>
                <a:gd name="connsiteY10" fmla="*/ 1606992 h 1625933"/>
                <a:gd name="connsiteX11" fmla="*/ 667369 w 1625933"/>
                <a:gd name="connsiteY11" fmla="*/ 1363102 h 1625933"/>
                <a:gd name="connsiteX12" fmla="*/ 409333 w 1625933"/>
                <a:gd name="connsiteY12" fmla="*/ 1214125 h 1625933"/>
                <a:gd name="connsiteX13" fmla="*/ 169453 w 1625933"/>
                <a:gd name="connsiteY13" fmla="*/ 1286421 h 1625933"/>
                <a:gd name="connsiteX14" fmla="*/ 81186 w 1625933"/>
                <a:gd name="connsiteY14" fmla="*/ 1133538 h 1625933"/>
                <a:gd name="connsiteX15" fmla="*/ 263736 w 1625933"/>
                <a:gd name="connsiteY15" fmla="*/ 961943 h 1625933"/>
                <a:gd name="connsiteX16" fmla="*/ 263736 w 1625933"/>
                <a:gd name="connsiteY16" fmla="*/ 663989 h 1625933"/>
                <a:gd name="connsiteX17" fmla="*/ 81186 w 1625933"/>
                <a:gd name="connsiteY17" fmla="*/ 492395 h 1625933"/>
                <a:gd name="connsiteX18" fmla="*/ 169453 w 1625933"/>
                <a:gd name="connsiteY18" fmla="*/ 339512 h 1625933"/>
                <a:gd name="connsiteX19" fmla="*/ 409334 w 1625933"/>
                <a:gd name="connsiteY19" fmla="*/ 411808 h 1625933"/>
                <a:gd name="connsiteX20" fmla="*/ 667370 w 1625933"/>
                <a:gd name="connsiteY20" fmla="*/ 262831 h 1625933"/>
                <a:gd name="connsiteX21" fmla="*/ 724699 w 1625933"/>
                <a:gd name="connsiteY21" fmla="*/ 18941 h 1625933"/>
                <a:gd name="connsiteX22" fmla="*/ 901234 w 1625933"/>
                <a:gd name="connsiteY22" fmla="*/ 18941 h 1625933"/>
                <a:gd name="connsiteX23" fmla="*/ 958564 w 1625933"/>
                <a:gd name="connsiteY23" fmla="*/ 262831 h 1625933"/>
                <a:gd name="connsiteX24" fmla="*/ 1216600 w 1625933"/>
                <a:gd name="connsiteY24" fmla="*/ 411808 h 1625933"/>
                <a:gd name="connsiteX25" fmla="*/ 1216599 w 1625933"/>
                <a:gd name="connsiteY25" fmla="*/ 411808 h 162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25933" h="1625933">
                  <a:moveTo>
                    <a:pt x="1216599" y="411808"/>
                  </a:moveTo>
                  <a:lnTo>
                    <a:pt x="1456480" y="339512"/>
                  </a:lnTo>
                  <a:lnTo>
                    <a:pt x="1544747" y="492395"/>
                  </a:lnTo>
                  <a:lnTo>
                    <a:pt x="1362197" y="663990"/>
                  </a:lnTo>
                  <a:cubicBezTo>
                    <a:pt x="1388659" y="761545"/>
                    <a:pt x="1388659" y="864389"/>
                    <a:pt x="1362197" y="961944"/>
                  </a:cubicBezTo>
                  <a:lnTo>
                    <a:pt x="1544747" y="1133538"/>
                  </a:lnTo>
                  <a:lnTo>
                    <a:pt x="1456480" y="1286421"/>
                  </a:lnTo>
                  <a:lnTo>
                    <a:pt x="1216599" y="1214125"/>
                  </a:lnTo>
                  <a:cubicBezTo>
                    <a:pt x="1145344" y="1285819"/>
                    <a:pt x="1056279" y="1337241"/>
                    <a:pt x="958563" y="1363102"/>
                  </a:cubicBezTo>
                  <a:lnTo>
                    <a:pt x="901234" y="1606992"/>
                  </a:lnTo>
                  <a:lnTo>
                    <a:pt x="724699" y="1606992"/>
                  </a:lnTo>
                  <a:lnTo>
                    <a:pt x="667369" y="1363102"/>
                  </a:lnTo>
                  <a:cubicBezTo>
                    <a:pt x="569653" y="1337241"/>
                    <a:pt x="480588" y="1285819"/>
                    <a:pt x="409333" y="1214125"/>
                  </a:cubicBezTo>
                  <a:lnTo>
                    <a:pt x="169453" y="1286421"/>
                  </a:lnTo>
                  <a:lnTo>
                    <a:pt x="81186" y="1133538"/>
                  </a:lnTo>
                  <a:lnTo>
                    <a:pt x="263736" y="961943"/>
                  </a:lnTo>
                  <a:cubicBezTo>
                    <a:pt x="237274" y="864388"/>
                    <a:pt x="237274" y="761544"/>
                    <a:pt x="263736" y="663989"/>
                  </a:cubicBezTo>
                  <a:lnTo>
                    <a:pt x="81186" y="492395"/>
                  </a:lnTo>
                  <a:lnTo>
                    <a:pt x="169453" y="339512"/>
                  </a:lnTo>
                  <a:lnTo>
                    <a:pt x="409334" y="411808"/>
                  </a:lnTo>
                  <a:cubicBezTo>
                    <a:pt x="480589" y="340114"/>
                    <a:pt x="569654" y="288692"/>
                    <a:pt x="667370" y="262831"/>
                  </a:cubicBezTo>
                  <a:lnTo>
                    <a:pt x="724699" y="18941"/>
                  </a:lnTo>
                  <a:lnTo>
                    <a:pt x="901234" y="18941"/>
                  </a:lnTo>
                  <a:lnTo>
                    <a:pt x="958564" y="262831"/>
                  </a:lnTo>
                  <a:cubicBezTo>
                    <a:pt x="1056280" y="288692"/>
                    <a:pt x="1145345" y="340114"/>
                    <a:pt x="1216600" y="411808"/>
                  </a:cubicBezTo>
                  <a:lnTo>
                    <a:pt x="1216599" y="411808"/>
                  </a:lnTo>
                  <a:close/>
                </a:path>
              </a:pathLst>
            </a:custGeom>
          </p:spPr>
          <p:style>
            <a:lnRef idx="0">
              <a:schemeClr val="lt1">
                <a:hueOff val="0"/>
                <a:satOff val="0"/>
                <a:lumOff val="0"/>
                <a:alphaOff val="0"/>
              </a:schemeClr>
            </a:lnRef>
            <a:fillRef idx="3">
              <a:schemeClr val="accent3">
                <a:hueOff val="-1068292"/>
                <a:satOff val="-50000"/>
                <a:lumOff val="1569"/>
                <a:alphaOff val="0"/>
              </a:schemeClr>
            </a:fillRef>
            <a:effectRef idx="3">
              <a:schemeClr val="accent3">
                <a:hueOff val="-1068292"/>
                <a:satOff val="-50000"/>
                <a:lumOff val="1569"/>
                <a:alphaOff val="0"/>
              </a:schemeClr>
            </a:effectRef>
            <a:fontRef idx="minor">
              <a:schemeClr val="lt1"/>
            </a:fontRef>
          </p:style>
          <p:txBody>
            <a:bodyPr spcFirstLastPara="0" vert="horz" wrap="square" lIns="423304" tIns="425778" rIns="423304" bIns="425778" numCol="1" spcCol="1270" anchor="ctr" anchorCtr="0">
              <a:noAutofit/>
            </a:bodyPr>
            <a:lstStyle/>
            <a:p>
              <a:pPr lvl="0" algn="ctr" defTabSz="488950">
                <a:lnSpc>
                  <a:spcPct val="90000"/>
                </a:lnSpc>
                <a:spcBef>
                  <a:spcPct val="0"/>
                </a:spcBef>
                <a:spcAft>
                  <a:spcPct val="35000"/>
                </a:spcAft>
              </a:pPr>
              <a:r>
                <a:rPr lang="en-IN" sz="1600" b="1" kern="1200" dirty="0" smtClean="0"/>
                <a:t>Enablement through information</a:t>
              </a:r>
              <a:endParaRPr lang="en-IN" sz="1600" b="1" kern="1200" dirty="0"/>
            </a:p>
          </p:txBody>
        </p:sp>
        <p:sp>
          <p:nvSpPr>
            <p:cNvPr id="10" name="Freeform 9"/>
            <p:cNvSpPr/>
            <p:nvPr/>
          </p:nvSpPr>
          <p:spPr>
            <a:xfrm>
              <a:off x="5036632" y="1135902"/>
              <a:ext cx="2357849" cy="2251121"/>
            </a:xfrm>
            <a:custGeom>
              <a:avLst/>
              <a:gdLst>
                <a:gd name="connsiteX0" fmla="*/ 1192020 w 1593083"/>
                <a:gd name="connsiteY0" fmla="*/ 403487 h 1593083"/>
                <a:gd name="connsiteX1" fmla="*/ 1427053 w 1593083"/>
                <a:gd name="connsiteY1" fmla="*/ 332653 h 1593083"/>
                <a:gd name="connsiteX2" fmla="*/ 1513537 w 1593083"/>
                <a:gd name="connsiteY2" fmla="*/ 482447 h 1593083"/>
                <a:gd name="connsiteX3" fmla="*/ 1334675 w 1593083"/>
                <a:gd name="connsiteY3" fmla="*/ 650574 h 1593083"/>
                <a:gd name="connsiteX4" fmla="*/ 1334675 w 1593083"/>
                <a:gd name="connsiteY4" fmla="*/ 942508 h 1593083"/>
                <a:gd name="connsiteX5" fmla="*/ 1513537 w 1593083"/>
                <a:gd name="connsiteY5" fmla="*/ 1110636 h 1593083"/>
                <a:gd name="connsiteX6" fmla="*/ 1427053 w 1593083"/>
                <a:gd name="connsiteY6" fmla="*/ 1260430 h 1593083"/>
                <a:gd name="connsiteX7" fmla="*/ 1192020 w 1593083"/>
                <a:gd name="connsiteY7" fmla="*/ 1189596 h 1593083"/>
                <a:gd name="connsiteX8" fmla="*/ 939198 w 1593083"/>
                <a:gd name="connsiteY8" fmla="*/ 1335563 h 1593083"/>
                <a:gd name="connsiteX9" fmla="*/ 883025 w 1593083"/>
                <a:gd name="connsiteY9" fmla="*/ 1574525 h 1593083"/>
                <a:gd name="connsiteX10" fmla="*/ 710058 w 1593083"/>
                <a:gd name="connsiteY10" fmla="*/ 1574525 h 1593083"/>
                <a:gd name="connsiteX11" fmla="*/ 653886 w 1593083"/>
                <a:gd name="connsiteY11" fmla="*/ 1335563 h 1593083"/>
                <a:gd name="connsiteX12" fmla="*/ 401064 w 1593083"/>
                <a:gd name="connsiteY12" fmla="*/ 1189596 h 1593083"/>
                <a:gd name="connsiteX13" fmla="*/ 166030 w 1593083"/>
                <a:gd name="connsiteY13" fmla="*/ 1260430 h 1593083"/>
                <a:gd name="connsiteX14" fmla="*/ 79546 w 1593083"/>
                <a:gd name="connsiteY14" fmla="*/ 1110636 h 1593083"/>
                <a:gd name="connsiteX15" fmla="*/ 258408 w 1593083"/>
                <a:gd name="connsiteY15" fmla="*/ 942509 h 1593083"/>
                <a:gd name="connsiteX16" fmla="*/ 258408 w 1593083"/>
                <a:gd name="connsiteY16" fmla="*/ 650575 h 1593083"/>
                <a:gd name="connsiteX17" fmla="*/ 79546 w 1593083"/>
                <a:gd name="connsiteY17" fmla="*/ 482447 h 1593083"/>
                <a:gd name="connsiteX18" fmla="*/ 166030 w 1593083"/>
                <a:gd name="connsiteY18" fmla="*/ 332653 h 1593083"/>
                <a:gd name="connsiteX19" fmla="*/ 401063 w 1593083"/>
                <a:gd name="connsiteY19" fmla="*/ 403487 h 1593083"/>
                <a:gd name="connsiteX20" fmla="*/ 653885 w 1593083"/>
                <a:gd name="connsiteY20" fmla="*/ 257520 h 1593083"/>
                <a:gd name="connsiteX21" fmla="*/ 710058 w 1593083"/>
                <a:gd name="connsiteY21" fmla="*/ 18558 h 1593083"/>
                <a:gd name="connsiteX22" fmla="*/ 883025 w 1593083"/>
                <a:gd name="connsiteY22" fmla="*/ 18558 h 1593083"/>
                <a:gd name="connsiteX23" fmla="*/ 939197 w 1593083"/>
                <a:gd name="connsiteY23" fmla="*/ 257520 h 1593083"/>
                <a:gd name="connsiteX24" fmla="*/ 1192019 w 1593083"/>
                <a:gd name="connsiteY24" fmla="*/ 403487 h 1593083"/>
                <a:gd name="connsiteX25" fmla="*/ 1192020 w 1593083"/>
                <a:gd name="connsiteY25" fmla="*/ 403487 h 1593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93083" h="1593083">
                  <a:moveTo>
                    <a:pt x="1025383" y="402975"/>
                  </a:moveTo>
                  <a:lnTo>
                    <a:pt x="1195779" y="297442"/>
                  </a:lnTo>
                  <a:lnTo>
                    <a:pt x="1295642" y="397304"/>
                  </a:lnTo>
                  <a:lnTo>
                    <a:pt x="1190107" y="567700"/>
                  </a:lnTo>
                  <a:cubicBezTo>
                    <a:pt x="1230755" y="637605"/>
                    <a:pt x="1252049" y="717077"/>
                    <a:pt x="1251800" y="797941"/>
                  </a:cubicBezTo>
                  <a:lnTo>
                    <a:pt x="1428394" y="892741"/>
                  </a:lnTo>
                  <a:lnTo>
                    <a:pt x="1391841" y="1029156"/>
                  </a:lnTo>
                  <a:lnTo>
                    <a:pt x="1191508" y="1022959"/>
                  </a:lnTo>
                  <a:cubicBezTo>
                    <a:pt x="1151291" y="1093114"/>
                    <a:pt x="1093114" y="1151290"/>
                    <a:pt x="1022960" y="1191507"/>
                  </a:cubicBezTo>
                  <a:lnTo>
                    <a:pt x="1029156" y="1391841"/>
                  </a:lnTo>
                  <a:lnTo>
                    <a:pt x="892741" y="1428394"/>
                  </a:lnTo>
                  <a:lnTo>
                    <a:pt x="797941" y="1251801"/>
                  </a:lnTo>
                  <a:cubicBezTo>
                    <a:pt x="717077" y="1252049"/>
                    <a:pt x="637607" y="1230755"/>
                    <a:pt x="567701" y="1190108"/>
                  </a:cubicBezTo>
                  <a:lnTo>
                    <a:pt x="397304" y="1295641"/>
                  </a:lnTo>
                  <a:lnTo>
                    <a:pt x="297441" y="1195779"/>
                  </a:lnTo>
                  <a:lnTo>
                    <a:pt x="402976" y="1025383"/>
                  </a:lnTo>
                  <a:cubicBezTo>
                    <a:pt x="362328" y="955478"/>
                    <a:pt x="341034" y="876006"/>
                    <a:pt x="341283" y="795142"/>
                  </a:cubicBezTo>
                  <a:lnTo>
                    <a:pt x="164689" y="700342"/>
                  </a:lnTo>
                  <a:lnTo>
                    <a:pt x="201242" y="563927"/>
                  </a:lnTo>
                  <a:lnTo>
                    <a:pt x="401575" y="570124"/>
                  </a:lnTo>
                  <a:cubicBezTo>
                    <a:pt x="441792" y="499969"/>
                    <a:pt x="499969" y="441793"/>
                    <a:pt x="570123" y="401576"/>
                  </a:cubicBezTo>
                  <a:lnTo>
                    <a:pt x="563927" y="201242"/>
                  </a:lnTo>
                  <a:lnTo>
                    <a:pt x="700342" y="164689"/>
                  </a:lnTo>
                  <a:lnTo>
                    <a:pt x="795142" y="341282"/>
                  </a:lnTo>
                  <a:cubicBezTo>
                    <a:pt x="876006" y="341034"/>
                    <a:pt x="955476" y="362328"/>
                    <a:pt x="1025382" y="402975"/>
                  </a:cubicBezTo>
                  <a:lnTo>
                    <a:pt x="1025383" y="402975"/>
                  </a:lnTo>
                  <a:close/>
                </a:path>
              </a:pathLst>
            </a:custGeom>
          </p:spPr>
          <p:style>
            <a:lnRef idx="0">
              <a:schemeClr val="lt1">
                <a:hueOff val="0"/>
                <a:satOff val="0"/>
                <a:lumOff val="0"/>
                <a:alphaOff val="0"/>
              </a:schemeClr>
            </a:lnRef>
            <a:fillRef idx="3">
              <a:schemeClr val="accent3">
                <a:hueOff val="-2136584"/>
                <a:satOff val="-100000"/>
                <a:lumOff val="3138"/>
                <a:alphaOff val="0"/>
              </a:schemeClr>
            </a:fillRef>
            <a:effectRef idx="3">
              <a:schemeClr val="accent3">
                <a:hueOff val="-2136584"/>
                <a:satOff val="-100000"/>
                <a:lumOff val="3138"/>
                <a:alphaOff val="0"/>
              </a:schemeClr>
            </a:effectRef>
            <a:fontRef idx="minor">
              <a:schemeClr val="lt1"/>
            </a:fontRef>
          </p:style>
          <p:txBody>
            <a:bodyPr spcFirstLastPara="0" vert="horz" wrap="square" lIns="542398" tIns="542399" rIns="542400" bIns="542399" numCol="1" spcCol="1270" anchor="ctr" anchorCtr="0">
              <a:noAutofit/>
            </a:bodyPr>
            <a:lstStyle/>
            <a:p>
              <a:pPr lvl="0" algn="ctr" defTabSz="488950">
                <a:lnSpc>
                  <a:spcPct val="90000"/>
                </a:lnSpc>
                <a:spcBef>
                  <a:spcPct val="0"/>
                </a:spcBef>
                <a:spcAft>
                  <a:spcPct val="35000"/>
                </a:spcAft>
              </a:pPr>
              <a:r>
                <a:rPr lang="en-IN" sz="1600" b="1" kern="1200" dirty="0" smtClean="0"/>
                <a:t>Empowerment of the farmer</a:t>
              </a:r>
              <a:endParaRPr lang="en-IN" sz="1600" b="1" kern="1200" dirty="0"/>
            </a:p>
          </p:txBody>
        </p:sp>
        <p:sp>
          <p:nvSpPr>
            <p:cNvPr id="11" name="Circular Arrow 10"/>
            <p:cNvSpPr/>
            <p:nvPr/>
          </p:nvSpPr>
          <p:spPr>
            <a:xfrm>
              <a:off x="6311339" y="3426689"/>
              <a:ext cx="1640265" cy="1790444"/>
            </a:xfrm>
            <a:prstGeom prst="circularArrow">
              <a:avLst>
                <a:gd name="adj1" fmla="val 4688"/>
                <a:gd name="adj2" fmla="val 299029"/>
                <a:gd name="adj3" fmla="val 2513104"/>
                <a:gd name="adj4" fmla="val 15867888"/>
                <a:gd name="adj5" fmla="val 5469"/>
              </a:avLst>
            </a:pr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2" name="Shape 11"/>
            <p:cNvSpPr/>
            <p:nvPr/>
          </p:nvSpPr>
          <p:spPr>
            <a:xfrm>
              <a:off x="3646251" y="2513809"/>
              <a:ext cx="2079162" cy="2079162"/>
            </a:xfrm>
            <a:prstGeom prst="leftCircularArrow">
              <a:avLst>
                <a:gd name="adj1" fmla="val 6452"/>
                <a:gd name="adj2" fmla="val 429999"/>
                <a:gd name="adj3" fmla="val 10489124"/>
                <a:gd name="adj4" fmla="val 14837806"/>
                <a:gd name="adj5" fmla="val 7527"/>
              </a:avLst>
            </a:prstGeom>
          </p:spPr>
          <p:style>
            <a:lnRef idx="0">
              <a:schemeClr val="lt1">
                <a:hueOff val="0"/>
                <a:satOff val="0"/>
                <a:lumOff val="0"/>
                <a:alphaOff val="0"/>
              </a:schemeClr>
            </a:lnRef>
            <a:fillRef idx="3">
              <a:schemeClr val="accent3">
                <a:hueOff val="-1068292"/>
                <a:satOff val="-50000"/>
                <a:lumOff val="1569"/>
                <a:alphaOff val="0"/>
              </a:schemeClr>
            </a:fillRef>
            <a:effectRef idx="3">
              <a:schemeClr val="accent3">
                <a:hueOff val="-1068292"/>
                <a:satOff val="-50000"/>
                <a:lumOff val="1569"/>
                <a:alphaOff val="0"/>
              </a:schemeClr>
            </a:effectRef>
            <a:fontRef idx="minor">
              <a:schemeClr val="lt1"/>
            </a:fontRef>
          </p:style>
        </p:sp>
        <p:sp>
          <p:nvSpPr>
            <p:cNvPr id="13" name="Circular Arrow 12"/>
            <p:cNvSpPr/>
            <p:nvPr/>
          </p:nvSpPr>
          <p:spPr>
            <a:xfrm>
              <a:off x="4810018" y="939817"/>
              <a:ext cx="2241755" cy="2241755"/>
            </a:xfrm>
            <a:prstGeom prst="circularArrow">
              <a:avLst>
                <a:gd name="adj1" fmla="val 5984"/>
                <a:gd name="adj2" fmla="val 394124"/>
                <a:gd name="adj3" fmla="val 13313824"/>
                <a:gd name="adj4" fmla="val 10508221"/>
                <a:gd name="adj5" fmla="val 6981"/>
              </a:avLst>
            </a:prstGeom>
          </p:spPr>
          <p:style>
            <a:lnRef idx="0">
              <a:schemeClr val="lt1">
                <a:hueOff val="0"/>
                <a:satOff val="0"/>
                <a:lumOff val="0"/>
                <a:alphaOff val="0"/>
              </a:schemeClr>
            </a:lnRef>
            <a:fillRef idx="3">
              <a:schemeClr val="accent3">
                <a:hueOff val="-2136584"/>
                <a:satOff val="-100000"/>
                <a:lumOff val="3138"/>
                <a:alphaOff val="0"/>
              </a:schemeClr>
            </a:fillRef>
            <a:effectRef idx="3">
              <a:schemeClr val="accent3">
                <a:hueOff val="-2136584"/>
                <a:satOff val="-100000"/>
                <a:lumOff val="3138"/>
                <a:alphaOff val="0"/>
              </a:schemeClr>
            </a:effectRef>
            <a:fontRef idx="minor">
              <a:schemeClr val="lt1"/>
            </a:fontRef>
          </p:style>
        </p:sp>
      </p:grpSp>
      <p:sp>
        <p:nvSpPr>
          <p:cNvPr id="14" name="Right Arrow 13"/>
          <p:cNvSpPr/>
          <p:nvPr/>
        </p:nvSpPr>
        <p:spPr>
          <a:xfrm>
            <a:off x="313408" y="902372"/>
            <a:ext cx="11565228" cy="20606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Oval 14"/>
          <p:cNvSpPr/>
          <p:nvPr/>
        </p:nvSpPr>
        <p:spPr>
          <a:xfrm>
            <a:off x="313408" y="825403"/>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1907311" y="824097"/>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3342652" y="824097"/>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6738356" y="824097"/>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p:cNvSpPr/>
          <p:nvPr/>
        </p:nvSpPr>
        <p:spPr>
          <a:xfrm>
            <a:off x="8329786" y="824097"/>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p:cNvSpPr/>
          <p:nvPr/>
        </p:nvSpPr>
        <p:spPr>
          <a:xfrm>
            <a:off x="11309821" y="831095"/>
            <a:ext cx="360000" cy="360000"/>
          </a:xfrm>
          <a:prstGeom prst="ellipse">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94467" y="1224700"/>
            <a:ext cx="1219178" cy="646331"/>
          </a:xfrm>
          <a:prstGeom prst="rect">
            <a:avLst/>
          </a:prstGeom>
          <a:noFill/>
        </p:spPr>
        <p:txBody>
          <a:bodyPr wrap="square" rtlCol="0">
            <a:spAutoFit/>
          </a:bodyPr>
          <a:lstStyle/>
          <a:p>
            <a:pPr algn="ctr"/>
            <a:r>
              <a:rPr lang="en-IN" b="1" dirty="0" smtClean="0"/>
              <a:t>Green Revolution</a:t>
            </a:r>
            <a:endParaRPr lang="en-IN" b="1" dirty="0"/>
          </a:p>
        </p:txBody>
      </p:sp>
      <p:sp>
        <p:nvSpPr>
          <p:cNvPr id="22" name="TextBox 21"/>
          <p:cNvSpPr txBox="1"/>
          <p:nvPr/>
        </p:nvSpPr>
        <p:spPr>
          <a:xfrm>
            <a:off x="1268983" y="1257698"/>
            <a:ext cx="1623085" cy="646331"/>
          </a:xfrm>
          <a:prstGeom prst="rect">
            <a:avLst/>
          </a:prstGeom>
          <a:noFill/>
        </p:spPr>
        <p:txBody>
          <a:bodyPr wrap="square" rtlCol="0">
            <a:spAutoFit/>
          </a:bodyPr>
          <a:lstStyle/>
          <a:p>
            <a:pPr algn="ctr"/>
            <a:r>
              <a:rPr lang="en-IN" b="1" dirty="0" smtClean="0"/>
              <a:t>Ever-Green Revolution</a:t>
            </a:r>
            <a:endParaRPr lang="en-IN" b="1" dirty="0"/>
          </a:p>
        </p:txBody>
      </p:sp>
      <p:sp>
        <p:nvSpPr>
          <p:cNvPr id="23" name="TextBox 22"/>
          <p:cNvSpPr txBox="1"/>
          <p:nvPr/>
        </p:nvSpPr>
        <p:spPr>
          <a:xfrm>
            <a:off x="2823094" y="1258905"/>
            <a:ext cx="1388894" cy="646331"/>
          </a:xfrm>
          <a:prstGeom prst="rect">
            <a:avLst/>
          </a:prstGeom>
          <a:noFill/>
        </p:spPr>
        <p:txBody>
          <a:bodyPr wrap="square" rtlCol="0">
            <a:spAutoFit/>
          </a:bodyPr>
          <a:lstStyle/>
          <a:p>
            <a:pPr algn="ctr"/>
            <a:r>
              <a:rPr lang="en-IN" b="1" dirty="0" smtClean="0"/>
              <a:t>Blue Revolution</a:t>
            </a:r>
            <a:endParaRPr lang="en-IN" b="1" dirty="0"/>
          </a:p>
        </p:txBody>
      </p:sp>
      <p:sp>
        <p:nvSpPr>
          <p:cNvPr id="24" name="TextBox 23"/>
          <p:cNvSpPr txBox="1"/>
          <p:nvPr/>
        </p:nvSpPr>
        <p:spPr>
          <a:xfrm>
            <a:off x="4444721" y="1262372"/>
            <a:ext cx="1246025" cy="646331"/>
          </a:xfrm>
          <a:prstGeom prst="rect">
            <a:avLst/>
          </a:prstGeom>
          <a:noFill/>
        </p:spPr>
        <p:txBody>
          <a:bodyPr wrap="square" rtlCol="0">
            <a:spAutoFit/>
          </a:bodyPr>
          <a:lstStyle/>
          <a:p>
            <a:pPr algn="ctr"/>
            <a:r>
              <a:rPr lang="en-IN" b="1" dirty="0" smtClean="0"/>
              <a:t>White Revolution</a:t>
            </a:r>
            <a:endParaRPr lang="en-IN" b="1" dirty="0"/>
          </a:p>
        </p:txBody>
      </p:sp>
      <p:sp>
        <p:nvSpPr>
          <p:cNvPr id="25" name="TextBox 24"/>
          <p:cNvSpPr txBox="1"/>
          <p:nvPr/>
        </p:nvSpPr>
        <p:spPr>
          <a:xfrm>
            <a:off x="6306825" y="1255374"/>
            <a:ext cx="1289051" cy="646331"/>
          </a:xfrm>
          <a:prstGeom prst="rect">
            <a:avLst/>
          </a:prstGeom>
          <a:noFill/>
        </p:spPr>
        <p:txBody>
          <a:bodyPr wrap="square" rtlCol="0">
            <a:spAutoFit/>
          </a:bodyPr>
          <a:lstStyle/>
          <a:p>
            <a:pPr algn="ctr"/>
            <a:r>
              <a:rPr lang="en-IN" b="1" dirty="0" smtClean="0"/>
              <a:t>Yellow Revolution</a:t>
            </a:r>
            <a:endParaRPr lang="en-IN" b="1" dirty="0"/>
          </a:p>
        </p:txBody>
      </p:sp>
      <p:sp>
        <p:nvSpPr>
          <p:cNvPr id="26" name="TextBox 25"/>
          <p:cNvSpPr txBox="1"/>
          <p:nvPr/>
        </p:nvSpPr>
        <p:spPr>
          <a:xfrm>
            <a:off x="7885248" y="1257698"/>
            <a:ext cx="1350414" cy="646331"/>
          </a:xfrm>
          <a:prstGeom prst="rect">
            <a:avLst/>
          </a:prstGeom>
          <a:noFill/>
        </p:spPr>
        <p:txBody>
          <a:bodyPr wrap="square" rtlCol="0">
            <a:spAutoFit/>
          </a:bodyPr>
          <a:lstStyle/>
          <a:p>
            <a:pPr algn="ctr"/>
            <a:r>
              <a:rPr lang="en-IN" b="1" dirty="0" smtClean="0"/>
              <a:t>Biotech Revolution</a:t>
            </a:r>
            <a:endParaRPr lang="en-IN" b="1" dirty="0"/>
          </a:p>
        </p:txBody>
      </p:sp>
      <p:sp>
        <p:nvSpPr>
          <p:cNvPr id="27" name="TextBox 26"/>
          <p:cNvSpPr txBox="1"/>
          <p:nvPr/>
        </p:nvSpPr>
        <p:spPr>
          <a:xfrm>
            <a:off x="9652986" y="1224700"/>
            <a:ext cx="1209257" cy="646331"/>
          </a:xfrm>
          <a:prstGeom prst="rect">
            <a:avLst/>
          </a:prstGeom>
          <a:noFill/>
        </p:spPr>
        <p:txBody>
          <a:bodyPr wrap="square" rtlCol="0">
            <a:spAutoFit/>
          </a:bodyPr>
          <a:lstStyle/>
          <a:p>
            <a:pPr algn="ctr"/>
            <a:r>
              <a:rPr lang="en-IN" b="1" dirty="0" smtClean="0"/>
              <a:t>ICT Revolution</a:t>
            </a:r>
            <a:endParaRPr lang="en-IN" b="1" dirty="0"/>
          </a:p>
        </p:txBody>
      </p:sp>
      <p:sp>
        <p:nvSpPr>
          <p:cNvPr id="28" name="TextBox 27"/>
          <p:cNvSpPr txBox="1"/>
          <p:nvPr/>
        </p:nvSpPr>
        <p:spPr>
          <a:xfrm>
            <a:off x="10905344" y="1255374"/>
            <a:ext cx="1329367" cy="646331"/>
          </a:xfrm>
          <a:prstGeom prst="rect">
            <a:avLst/>
          </a:prstGeom>
          <a:noFill/>
        </p:spPr>
        <p:txBody>
          <a:bodyPr wrap="square" rtlCol="0">
            <a:spAutoFit/>
          </a:bodyPr>
          <a:lstStyle/>
          <a:p>
            <a:pPr algn="ctr"/>
            <a:r>
              <a:rPr lang="en-IN" b="1" dirty="0" smtClean="0"/>
              <a:t>Data Revolution</a:t>
            </a:r>
          </a:p>
        </p:txBody>
      </p:sp>
      <p:sp>
        <p:nvSpPr>
          <p:cNvPr id="29" name="Oval 28"/>
          <p:cNvSpPr/>
          <p:nvPr/>
        </p:nvSpPr>
        <p:spPr>
          <a:xfrm>
            <a:off x="4873092" y="834828"/>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10032662" y="841826"/>
            <a:ext cx="360000" cy="360000"/>
          </a:xfrm>
          <a:prstGeom prst="ellipse">
            <a:avLst/>
          </a:prstGeom>
          <a:solidFill>
            <a:schemeClr val="accent6">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ular Callout 31"/>
          <p:cNvSpPr/>
          <p:nvPr/>
        </p:nvSpPr>
        <p:spPr>
          <a:xfrm>
            <a:off x="7514573" y="2215165"/>
            <a:ext cx="4364063" cy="1721642"/>
          </a:xfrm>
          <a:prstGeom prst="wedgeRectCallout">
            <a:avLst>
              <a:gd name="adj1" fmla="val -57537"/>
              <a:gd name="adj2" fmla="val -19619"/>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Rectangular Callout 32"/>
          <p:cNvSpPr/>
          <p:nvPr/>
        </p:nvSpPr>
        <p:spPr>
          <a:xfrm>
            <a:off x="8267651" y="4280941"/>
            <a:ext cx="3786973" cy="1862281"/>
          </a:xfrm>
          <a:prstGeom prst="wedgeRectCallout">
            <a:avLst>
              <a:gd name="adj1" fmla="val -57537"/>
              <a:gd name="adj2" fmla="val -19619"/>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ular Callout 33"/>
          <p:cNvSpPr/>
          <p:nvPr/>
        </p:nvSpPr>
        <p:spPr>
          <a:xfrm>
            <a:off x="299689" y="2627290"/>
            <a:ext cx="3033198" cy="2816357"/>
          </a:xfrm>
          <a:prstGeom prst="wedgeRectCallout">
            <a:avLst>
              <a:gd name="adj1" fmla="val 57944"/>
              <a:gd name="adj2" fmla="val -7912"/>
            </a:avLst>
          </a:prstGeom>
          <a:noFill/>
          <a:ln>
            <a:solidFill>
              <a:srgbClr val="BF5D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TextBox 34"/>
          <p:cNvSpPr txBox="1"/>
          <p:nvPr/>
        </p:nvSpPr>
        <p:spPr>
          <a:xfrm>
            <a:off x="313408" y="2660288"/>
            <a:ext cx="3029244" cy="2800767"/>
          </a:xfrm>
          <a:prstGeom prst="rect">
            <a:avLst/>
          </a:prstGeom>
          <a:noFill/>
        </p:spPr>
        <p:txBody>
          <a:bodyPr wrap="square" rtlCol="0">
            <a:spAutoFit/>
          </a:bodyPr>
          <a:lstStyle/>
          <a:p>
            <a:r>
              <a:rPr lang="en-IN" sz="1600" dirty="0" smtClean="0"/>
              <a:t>Solutions that </a:t>
            </a:r>
            <a:r>
              <a:rPr lang="en-IN" sz="1600" b="1" dirty="0" smtClean="0"/>
              <a:t>Enable</a:t>
            </a:r>
            <a:r>
              <a:rPr lang="en-IN" sz="1600" dirty="0" smtClean="0"/>
              <a:t> Farmers :</a:t>
            </a:r>
          </a:p>
          <a:p>
            <a:pPr marL="285750" indent="-285750">
              <a:buFont typeface="Wingdings" panose="05000000000000000000" pitchFamily="2" charset="2"/>
              <a:buChar char="ü"/>
            </a:pPr>
            <a:r>
              <a:rPr lang="en-IN" sz="1600" dirty="0" smtClean="0"/>
              <a:t>E-governance for higher transparency such as </a:t>
            </a:r>
            <a:r>
              <a:rPr lang="en-IN" sz="1600" b="1" dirty="0" smtClean="0"/>
              <a:t>land record digitization</a:t>
            </a:r>
          </a:p>
          <a:p>
            <a:pPr marL="285750" indent="-285750">
              <a:buFont typeface="Wingdings" panose="05000000000000000000" pitchFamily="2" charset="2"/>
              <a:buChar char="ü"/>
            </a:pPr>
            <a:r>
              <a:rPr lang="en-IN" sz="1600" dirty="0" smtClean="0"/>
              <a:t>Unique Identity through </a:t>
            </a:r>
            <a:r>
              <a:rPr lang="en-IN" sz="1600" b="1" dirty="0" smtClean="0"/>
              <a:t>Aadhaar</a:t>
            </a:r>
            <a:r>
              <a:rPr lang="en-IN" sz="1600" dirty="0" smtClean="0"/>
              <a:t> to ensure accurate access to govt. benefits</a:t>
            </a:r>
          </a:p>
          <a:p>
            <a:pPr marL="285750" indent="-285750">
              <a:buFont typeface="Wingdings" panose="05000000000000000000" pitchFamily="2" charset="2"/>
              <a:buChar char="ü"/>
            </a:pPr>
            <a:r>
              <a:rPr lang="en-IN" sz="1600" dirty="0" smtClean="0"/>
              <a:t>Increased penetration of ICT through </a:t>
            </a:r>
            <a:r>
              <a:rPr lang="en-IN" sz="1600" b="1" dirty="0" smtClean="0"/>
              <a:t>mobile internet  </a:t>
            </a:r>
          </a:p>
          <a:p>
            <a:pPr marL="285750" indent="-285750">
              <a:buFont typeface="Wingdings" panose="05000000000000000000" pitchFamily="2" charset="2"/>
              <a:buChar char="ü"/>
            </a:pPr>
            <a:r>
              <a:rPr lang="en-IN" sz="1600" dirty="0" smtClean="0"/>
              <a:t>Benefits from </a:t>
            </a:r>
            <a:r>
              <a:rPr lang="en-IN" sz="1600" b="1" dirty="0" smtClean="0"/>
              <a:t>Precision Agriculture</a:t>
            </a:r>
            <a:endParaRPr lang="en-IN" sz="1600" b="1" dirty="0"/>
          </a:p>
        </p:txBody>
      </p:sp>
      <p:sp>
        <p:nvSpPr>
          <p:cNvPr id="36" name="TextBox 35"/>
          <p:cNvSpPr txBox="1"/>
          <p:nvPr/>
        </p:nvSpPr>
        <p:spPr>
          <a:xfrm>
            <a:off x="7595876" y="2290828"/>
            <a:ext cx="4158275" cy="1569660"/>
          </a:xfrm>
          <a:prstGeom prst="rect">
            <a:avLst/>
          </a:prstGeom>
          <a:noFill/>
        </p:spPr>
        <p:txBody>
          <a:bodyPr wrap="square" rtlCol="0">
            <a:spAutoFit/>
          </a:bodyPr>
          <a:lstStyle/>
          <a:p>
            <a:r>
              <a:rPr lang="en-IN" sz="1600" dirty="0" smtClean="0"/>
              <a:t>Solutions that </a:t>
            </a:r>
            <a:r>
              <a:rPr lang="en-IN" sz="1600" b="1" dirty="0" smtClean="0"/>
              <a:t>Empower</a:t>
            </a:r>
            <a:r>
              <a:rPr lang="en-IN" sz="1600" dirty="0" smtClean="0"/>
              <a:t> Farmers :</a:t>
            </a:r>
          </a:p>
          <a:p>
            <a:pPr marL="285750" indent="-285750">
              <a:buFont typeface="Wingdings" panose="05000000000000000000" pitchFamily="2" charset="2"/>
              <a:buChar char="ü"/>
            </a:pPr>
            <a:r>
              <a:rPr lang="en-IN" sz="1600" dirty="0" smtClean="0"/>
              <a:t>Efficient </a:t>
            </a:r>
            <a:r>
              <a:rPr lang="en-IN" sz="1600" b="1" dirty="0" smtClean="0"/>
              <a:t>supply chain systems </a:t>
            </a:r>
            <a:r>
              <a:rPr lang="en-IN" sz="1600" dirty="0" smtClean="0"/>
              <a:t>through initiatives such as </a:t>
            </a:r>
            <a:r>
              <a:rPr lang="en-IN" sz="1600" b="1" dirty="0" smtClean="0"/>
              <a:t>e-</a:t>
            </a:r>
            <a:r>
              <a:rPr lang="en-IN" sz="1600" b="1" dirty="0" err="1" smtClean="0"/>
              <a:t>choupal</a:t>
            </a:r>
            <a:endParaRPr lang="en-IN" sz="1600" b="1" dirty="0" smtClean="0"/>
          </a:p>
          <a:p>
            <a:pPr marL="285750" indent="-285750">
              <a:buFont typeface="Wingdings" panose="05000000000000000000" pitchFamily="2" charset="2"/>
              <a:buChar char="ü"/>
            </a:pPr>
            <a:r>
              <a:rPr lang="en-IN" sz="1600" dirty="0" smtClean="0"/>
              <a:t>E-</a:t>
            </a:r>
            <a:r>
              <a:rPr lang="en-IN" sz="1600" dirty="0" err="1" smtClean="0"/>
              <a:t>mandi</a:t>
            </a:r>
            <a:r>
              <a:rPr lang="en-IN" sz="1600" dirty="0" smtClean="0"/>
              <a:t> initiatives which bring daily </a:t>
            </a:r>
            <a:r>
              <a:rPr lang="en-IN" sz="1600" dirty="0" err="1" smtClean="0"/>
              <a:t>mandi</a:t>
            </a:r>
            <a:r>
              <a:rPr lang="en-IN" sz="1600" dirty="0" smtClean="0"/>
              <a:t> prices online</a:t>
            </a:r>
          </a:p>
          <a:p>
            <a:pPr marL="285750" indent="-285750">
              <a:buFont typeface="Wingdings" panose="05000000000000000000" pitchFamily="2" charset="2"/>
              <a:buChar char="ü"/>
            </a:pPr>
            <a:r>
              <a:rPr lang="en-IN" sz="1600" dirty="0" smtClean="0"/>
              <a:t>Better </a:t>
            </a:r>
            <a:r>
              <a:rPr lang="en-IN" sz="1600" b="1" dirty="0" smtClean="0"/>
              <a:t>Insurance &amp; Crop Advisory </a:t>
            </a:r>
            <a:r>
              <a:rPr lang="en-IN" sz="1600" dirty="0" smtClean="0"/>
              <a:t>solutions</a:t>
            </a:r>
          </a:p>
        </p:txBody>
      </p:sp>
      <p:sp>
        <p:nvSpPr>
          <p:cNvPr id="37" name="TextBox 36"/>
          <p:cNvSpPr txBox="1"/>
          <p:nvPr/>
        </p:nvSpPr>
        <p:spPr>
          <a:xfrm>
            <a:off x="8267651" y="4328567"/>
            <a:ext cx="3538004" cy="2062103"/>
          </a:xfrm>
          <a:prstGeom prst="rect">
            <a:avLst/>
          </a:prstGeom>
          <a:noFill/>
        </p:spPr>
        <p:txBody>
          <a:bodyPr wrap="square" rtlCol="0">
            <a:spAutoFit/>
          </a:bodyPr>
          <a:lstStyle/>
          <a:p>
            <a:r>
              <a:rPr lang="en-IN" sz="1600" dirty="0" smtClean="0"/>
              <a:t>Solutions that </a:t>
            </a:r>
            <a:r>
              <a:rPr lang="en-IN" sz="1600" dirty="0" smtClean="0"/>
              <a:t>help </a:t>
            </a:r>
            <a:r>
              <a:rPr lang="en-IN" sz="1600" b="1" dirty="0" smtClean="0"/>
              <a:t>Expand </a:t>
            </a:r>
            <a:r>
              <a:rPr lang="en-IN" sz="1600" dirty="0" smtClean="0"/>
              <a:t>the market:</a:t>
            </a:r>
            <a:endParaRPr lang="en-IN" sz="1600" dirty="0" smtClean="0"/>
          </a:p>
          <a:p>
            <a:pPr marL="285750" indent="-285750">
              <a:buFont typeface="Wingdings" panose="05000000000000000000" pitchFamily="2" charset="2"/>
              <a:buChar char="ü"/>
            </a:pPr>
            <a:r>
              <a:rPr lang="en-IN" sz="1600" dirty="0" smtClean="0"/>
              <a:t>E-commerce &amp; E-tail for </a:t>
            </a:r>
            <a:r>
              <a:rPr lang="en-IN" sz="1600" b="1" dirty="0" smtClean="0"/>
              <a:t>direct contact</a:t>
            </a:r>
            <a:r>
              <a:rPr lang="en-IN" sz="1600" dirty="0" smtClean="0"/>
              <a:t> with end consumers in agro-based enterprises</a:t>
            </a:r>
          </a:p>
          <a:p>
            <a:pPr marL="285750" indent="-285750">
              <a:buFont typeface="Wingdings" panose="05000000000000000000" pitchFamily="2" charset="2"/>
              <a:buChar char="ü"/>
            </a:pPr>
            <a:r>
              <a:rPr lang="en-IN" sz="1600" b="1" dirty="0" smtClean="0"/>
              <a:t>Easier access </a:t>
            </a:r>
            <a:r>
              <a:rPr lang="en-IN" sz="1600" dirty="0" smtClean="0"/>
              <a:t>to national &amp; international markets : customers, technology &amp; retail businesses</a:t>
            </a:r>
          </a:p>
          <a:p>
            <a:pPr marL="285750" indent="-285750">
              <a:buFont typeface="Wingdings" panose="05000000000000000000" pitchFamily="2" charset="2"/>
              <a:buChar char="ü"/>
            </a:pPr>
            <a:endParaRPr lang="en-IN" sz="1600" dirty="0" smtClean="0"/>
          </a:p>
        </p:txBody>
      </p:sp>
      <p:sp>
        <p:nvSpPr>
          <p:cNvPr id="38" name="Rectangle 37"/>
          <p:cNvSpPr/>
          <p:nvPr/>
        </p:nvSpPr>
        <p:spPr>
          <a:xfrm>
            <a:off x="-6899" y="6300328"/>
            <a:ext cx="12198899" cy="557671"/>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The Indian farmer story is that of a journey with many milestones signifying leaps in technology. We are now poised on the brink of the </a:t>
            </a:r>
            <a:r>
              <a:rPr lang="en-IN" b="1" dirty="0" smtClean="0"/>
              <a:t>Agriculture Data Revolution </a:t>
            </a:r>
            <a:r>
              <a:rPr lang="en-IN" dirty="0" smtClean="0"/>
              <a:t>that changes the farmers’ life in 3 key ways</a:t>
            </a:r>
            <a:endParaRPr lang="en-IN" b="1" i="1" dirty="0"/>
          </a:p>
        </p:txBody>
      </p:sp>
    </p:spTree>
    <p:extLst>
      <p:ext uri="{BB962C8B-B14F-4D97-AF65-F5344CB8AC3E}">
        <p14:creationId xmlns:p14="http://schemas.microsoft.com/office/powerpoint/2010/main" val="20535770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3490511" y="789201"/>
            <a:ext cx="8498857" cy="2554781"/>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grpSp>
        <p:nvGrpSpPr>
          <p:cNvPr id="12" name="Group 11"/>
          <p:cNvGrpSpPr/>
          <p:nvPr/>
        </p:nvGrpSpPr>
        <p:grpSpPr>
          <a:xfrm>
            <a:off x="0" y="237504"/>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88116" y="291779"/>
              <a:ext cx="4615815"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The digital farmer journey</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3</a:t>
            </a:fld>
            <a:endParaRPr lang="en-IN" sz="1800" kern="0" dirty="0">
              <a:solidFill>
                <a:srgbClr val="000000">
                  <a:tint val="75000"/>
                </a:srgbClr>
              </a:solidFill>
            </a:endParaRPr>
          </a:p>
        </p:txBody>
      </p:sp>
      <p:sp>
        <p:nvSpPr>
          <p:cNvPr id="5" name="Trapezoid 4"/>
          <p:cNvSpPr/>
          <p:nvPr/>
        </p:nvSpPr>
        <p:spPr>
          <a:xfrm>
            <a:off x="337114" y="1204156"/>
            <a:ext cx="4798017" cy="4730712"/>
          </a:xfrm>
          <a:prstGeom prst="trapezoid">
            <a:avLst>
              <a:gd name="adj" fmla="val 43089"/>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8" name="Straight Connector 7"/>
          <p:cNvCxnSpPr>
            <a:stCxn id="5" idx="0"/>
            <a:endCxn id="5" idx="2"/>
          </p:cNvCxnSpPr>
          <p:nvPr/>
        </p:nvCxnSpPr>
        <p:spPr>
          <a:xfrm>
            <a:off x="2736123" y="1204156"/>
            <a:ext cx="0" cy="4730712"/>
          </a:xfrm>
          <a:prstGeom prst="line">
            <a:avLst/>
          </a:prstGeom>
          <a:ln w="57150">
            <a:solidFill>
              <a:schemeClr val="accent5"/>
            </a:solidFill>
            <a:prstDash val="lg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21216" y="5378689"/>
            <a:ext cx="4413915" cy="369332"/>
          </a:xfrm>
          <a:prstGeom prst="rect">
            <a:avLst/>
          </a:prstGeom>
          <a:noFill/>
        </p:spPr>
        <p:txBody>
          <a:bodyPr wrap="square" rtlCol="0">
            <a:spAutoFit/>
          </a:bodyPr>
          <a:lstStyle/>
          <a:p>
            <a:r>
              <a:rPr lang="en-IN" dirty="0" smtClean="0">
                <a:solidFill>
                  <a:schemeClr val="bg1"/>
                </a:solidFill>
              </a:rPr>
              <a:t>E-Agriculture : Mission Mode Project</a:t>
            </a:r>
            <a:endParaRPr lang="en-IN" dirty="0">
              <a:solidFill>
                <a:schemeClr val="bg1"/>
              </a:solidFill>
            </a:endParaRPr>
          </a:p>
        </p:txBody>
      </p:sp>
      <p:sp>
        <p:nvSpPr>
          <p:cNvPr id="16" name="TextBox 15"/>
          <p:cNvSpPr txBox="1"/>
          <p:nvPr/>
        </p:nvSpPr>
        <p:spPr>
          <a:xfrm>
            <a:off x="1134181" y="3826313"/>
            <a:ext cx="3203881" cy="369332"/>
          </a:xfrm>
          <a:prstGeom prst="rect">
            <a:avLst/>
          </a:prstGeom>
          <a:noFill/>
        </p:spPr>
        <p:txBody>
          <a:bodyPr wrap="square" rtlCol="0">
            <a:spAutoFit/>
          </a:bodyPr>
          <a:lstStyle/>
          <a:p>
            <a:pPr algn="ctr"/>
            <a:r>
              <a:rPr lang="en-IN" dirty="0" smtClean="0">
                <a:solidFill>
                  <a:schemeClr val="bg1"/>
                </a:solidFill>
              </a:rPr>
              <a:t>National Policy for Farmers </a:t>
            </a:r>
            <a:endParaRPr lang="en-IN" dirty="0">
              <a:solidFill>
                <a:schemeClr val="bg1"/>
              </a:solidFill>
            </a:endParaRPr>
          </a:p>
        </p:txBody>
      </p:sp>
      <p:sp>
        <p:nvSpPr>
          <p:cNvPr id="18" name="TextBox 17"/>
          <p:cNvSpPr txBox="1"/>
          <p:nvPr/>
        </p:nvSpPr>
        <p:spPr>
          <a:xfrm>
            <a:off x="1134181" y="2643269"/>
            <a:ext cx="3203881" cy="369332"/>
          </a:xfrm>
          <a:prstGeom prst="rect">
            <a:avLst/>
          </a:prstGeom>
          <a:noFill/>
        </p:spPr>
        <p:txBody>
          <a:bodyPr wrap="square" rtlCol="0">
            <a:spAutoFit/>
          </a:bodyPr>
          <a:lstStyle/>
          <a:p>
            <a:pPr algn="ctr"/>
            <a:r>
              <a:rPr lang="en-IN" dirty="0" smtClean="0">
                <a:solidFill>
                  <a:schemeClr val="bg1"/>
                </a:solidFill>
              </a:rPr>
              <a:t>Budget 2014-2015</a:t>
            </a:r>
            <a:endParaRPr lang="en-IN" dirty="0">
              <a:solidFill>
                <a:schemeClr val="bg1"/>
              </a:solidFill>
            </a:endParaRPr>
          </a:p>
        </p:txBody>
      </p:sp>
      <p:sp>
        <p:nvSpPr>
          <p:cNvPr id="19" name="TextBox 18"/>
          <p:cNvSpPr txBox="1"/>
          <p:nvPr/>
        </p:nvSpPr>
        <p:spPr>
          <a:xfrm>
            <a:off x="1134180" y="1425533"/>
            <a:ext cx="3203881" cy="369332"/>
          </a:xfrm>
          <a:prstGeom prst="rect">
            <a:avLst/>
          </a:prstGeom>
          <a:noFill/>
        </p:spPr>
        <p:txBody>
          <a:bodyPr wrap="square" rtlCol="0">
            <a:spAutoFit/>
          </a:bodyPr>
          <a:lstStyle/>
          <a:p>
            <a:pPr algn="ctr"/>
            <a:r>
              <a:rPr lang="en-IN" dirty="0" smtClean="0">
                <a:solidFill>
                  <a:schemeClr val="bg1"/>
                </a:solidFill>
              </a:rPr>
              <a:t>ICT Rev</a:t>
            </a:r>
            <a:endParaRPr lang="en-IN" dirty="0">
              <a:solidFill>
                <a:schemeClr val="bg1"/>
              </a:solidFill>
            </a:endParaRPr>
          </a:p>
        </p:txBody>
      </p:sp>
      <p:sp>
        <p:nvSpPr>
          <p:cNvPr id="20" name="TextBox 19"/>
          <p:cNvSpPr txBox="1"/>
          <p:nvPr/>
        </p:nvSpPr>
        <p:spPr>
          <a:xfrm>
            <a:off x="2071785" y="5989738"/>
            <a:ext cx="1328670" cy="369332"/>
          </a:xfrm>
          <a:prstGeom prst="rect">
            <a:avLst/>
          </a:prstGeom>
          <a:noFill/>
        </p:spPr>
        <p:txBody>
          <a:bodyPr wrap="square" rtlCol="0">
            <a:spAutoFit/>
          </a:bodyPr>
          <a:lstStyle/>
          <a:p>
            <a:pPr algn="ctr"/>
            <a:r>
              <a:rPr lang="en-IN" b="1" dirty="0">
                <a:solidFill>
                  <a:schemeClr val="tx1">
                    <a:lumMod val="50000"/>
                    <a:lumOff val="50000"/>
                  </a:schemeClr>
                </a:solidFill>
              </a:rPr>
              <a:t>YESTERDAY</a:t>
            </a:r>
          </a:p>
        </p:txBody>
      </p:sp>
      <p:sp>
        <p:nvSpPr>
          <p:cNvPr id="21" name="TextBox 20"/>
          <p:cNvSpPr txBox="1"/>
          <p:nvPr/>
        </p:nvSpPr>
        <p:spPr>
          <a:xfrm>
            <a:off x="1908137" y="799118"/>
            <a:ext cx="1655965" cy="369332"/>
          </a:xfrm>
          <a:prstGeom prst="rect">
            <a:avLst/>
          </a:prstGeom>
          <a:noFill/>
        </p:spPr>
        <p:txBody>
          <a:bodyPr wrap="square" rtlCol="0">
            <a:spAutoFit/>
          </a:bodyPr>
          <a:lstStyle/>
          <a:p>
            <a:pPr algn="ctr"/>
            <a:r>
              <a:rPr lang="en-IN" b="1" dirty="0" smtClean="0">
                <a:solidFill>
                  <a:schemeClr val="tx1">
                    <a:lumMod val="50000"/>
                    <a:lumOff val="50000"/>
                  </a:schemeClr>
                </a:solidFill>
              </a:rPr>
              <a:t>TOMORROW</a:t>
            </a:r>
            <a:endParaRPr lang="en-IN" b="1" dirty="0">
              <a:solidFill>
                <a:schemeClr val="tx1">
                  <a:lumMod val="50000"/>
                  <a:lumOff val="50000"/>
                </a:schemeClr>
              </a:solidFill>
            </a:endParaRPr>
          </a:p>
        </p:txBody>
      </p:sp>
      <p:sp>
        <p:nvSpPr>
          <p:cNvPr id="14" name="TextBox 13"/>
          <p:cNvSpPr txBox="1"/>
          <p:nvPr/>
        </p:nvSpPr>
        <p:spPr>
          <a:xfrm>
            <a:off x="5235722" y="5206803"/>
            <a:ext cx="6956278" cy="830997"/>
          </a:xfrm>
          <a:prstGeom prst="rect">
            <a:avLst/>
          </a:prstGeom>
          <a:noFill/>
        </p:spPr>
        <p:txBody>
          <a:bodyPr wrap="square" rtlCol="0">
            <a:spAutoFit/>
          </a:bodyPr>
          <a:lstStyle/>
          <a:p>
            <a:pPr fontAlgn="base"/>
            <a:r>
              <a:rPr lang="en-IN" sz="1600" b="1" dirty="0" smtClean="0"/>
              <a:t>Information</a:t>
            </a:r>
            <a:r>
              <a:rPr lang="en-IN" sz="1600" dirty="0" smtClean="0"/>
              <a:t> </a:t>
            </a:r>
            <a:r>
              <a:rPr lang="en-IN" sz="1600" dirty="0"/>
              <a:t>to farmers on seeds, fertilizers, </a:t>
            </a:r>
            <a:r>
              <a:rPr lang="en-IN" sz="1600" dirty="0" smtClean="0"/>
              <a:t>pesticides, Govt</a:t>
            </a:r>
            <a:r>
              <a:rPr lang="en-IN" sz="1600" dirty="0"/>
              <a:t>. </a:t>
            </a:r>
            <a:r>
              <a:rPr lang="en-IN" sz="1600" dirty="0" smtClean="0"/>
              <a:t>Schemes, Soil recommendations, crop management, weather </a:t>
            </a:r>
            <a:r>
              <a:rPr lang="en-IN" sz="1600" dirty="0"/>
              <a:t>and marketing of agriculture </a:t>
            </a:r>
            <a:r>
              <a:rPr lang="en-IN" sz="1600" dirty="0" smtClean="0"/>
              <a:t>produce</a:t>
            </a:r>
            <a:endParaRPr lang="en-IN" sz="1600" dirty="0"/>
          </a:p>
        </p:txBody>
      </p:sp>
      <p:sp>
        <p:nvSpPr>
          <p:cNvPr id="23" name="TextBox 22"/>
          <p:cNvSpPr txBox="1"/>
          <p:nvPr/>
        </p:nvSpPr>
        <p:spPr>
          <a:xfrm>
            <a:off x="5226217" y="3807560"/>
            <a:ext cx="6763150" cy="1323439"/>
          </a:xfrm>
          <a:prstGeom prst="rect">
            <a:avLst/>
          </a:prstGeom>
          <a:noFill/>
        </p:spPr>
        <p:txBody>
          <a:bodyPr wrap="square" rtlCol="0">
            <a:spAutoFit/>
          </a:bodyPr>
          <a:lstStyle/>
          <a:p>
            <a:pPr fontAlgn="base"/>
            <a:r>
              <a:rPr lang="en-IN" sz="1600" b="1" dirty="0" smtClean="0"/>
              <a:t>Broadband Penetration</a:t>
            </a:r>
            <a:r>
              <a:rPr lang="en-IN" sz="1600" dirty="0" smtClean="0"/>
              <a:t>, M-Services for crop advisories, National Optical </a:t>
            </a:r>
            <a:r>
              <a:rPr lang="en-IN" sz="1600" dirty="0" err="1" smtClean="0"/>
              <a:t>Fiber</a:t>
            </a:r>
            <a:r>
              <a:rPr lang="en-IN" sz="1600" dirty="0" smtClean="0"/>
              <a:t> network for better coverage, Mobile Value Added Services for Women SHG’s,  </a:t>
            </a:r>
            <a:r>
              <a:rPr lang="en-IN" sz="1600" dirty="0" err="1" smtClean="0"/>
              <a:t>Kisan</a:t>
            </a:r>
            <a:r>
              <a:rPr lang="en-IN" sz="1600" dirty="0" smtClean="0"/>
              <a:t> Credit Card scheme, </a:t>
            </a:r>
            <a:r>
              <a:rPr lang="en-IN" sz="1600" dirty="0" err="1" smtClean="0"/>
              <a:t>Kisan</a:t>
            </a:r>
            <a:r>
              <a:rPr lang="en-IN" sz="1600" dirty="0" smtClean="0"/>
              <a:t> </a:t>
            </a:r>
            <a:r>
              <a:rPr lang="en-IN" sz="1600" dirty="0" err="1" smtClean="0"/>
              <a:t>Choupal</a:t>
            </a:r>
            <a:r>
              <a:rPr lang="en-IN" sz="1600" dirty="0" smtClean="0"/>
              <a:t>, </a:t>
            </a:r>
            <a:r>
              <a:rPr lang="en-IN" sz="1600" dirty="0" err="1" smtClean="0"/>
              <a:t>Kisan</a:t>
            </a:r>
            <a:r>
              <a:rPr lang="en-IN" sz="1600" dirty="0" smtClean="0"/>
              <a:t> Call </a:t>
            </a:r>
            <a:r>
              <a:rPr lang="en-IN" sz="1600" dirty="0" err="1" smtClean="0"/>
              <a:t>Center</a:t>
            </a:r>
            <a:r>
              <a:rPr lang="en-IN" sz="1600" dirty="0" smtClean="0"/>
              <a:t>, </a:t>
            </a:r>
            <a:r>
              <a:rPr lang="en-IN" sz="1600" dirty="0" err="1" smtClean="0"/>
              <a:t>Kisan</a:t>
            </a:r>
            <a:r>
              <a:rPr lang="en-IN" sz="1600" dirty="0" smtClean="0"/>
              <a:t> SMS Portal &amp; Web Portal, </a:t>
            </a:r>
            <a:r>
              <a:rPr lang="en-IN" sz="1600" b="1" dirty="0" smtClean="0"/>
              <a:t>Sandesh Pathak </a:t>
            </a:r>
            <a:r>
              <a:rPr lang="en-IN" sz="1600" dirty="0" smtClean="0"/>
              <a:t>(Text to Speech for SMS advisory),  Village knowledge &amp; Resource </a:t>
            </a:r>
            <a:r>
              <a:rPr lang="en-IN" sz="1600" dirty="0" err="1" smtClean="0"/>
              <a:t>Center</a:t>
            </a:r>
            <a:r>
              <a:rPr lang="en-IN" sz="1600" dirty="0" smtClean="0"/>
              <a:t> </a:t>
            </a:r>
            <a:endParaRPr lang="en-IN" sz="1600" dirty="0"/>
          </a:p>
        </p:txBody>
      </p:sp>
      <p:sp>
        <p:nvSpPr>
          <p:cNvPr id="24" name="TextBox 23"/>
          <p:cNvSpPr txBox="1"/>
          <p:nvPr/>
        </p:nvSpPr>
        <p:spPr>
          <a:xfrm>
            <a:off x="4338061" y="2249365"/>
            <a:ext cx="7651308" cy="1077218"/>
          </a:xfrm>
          <a:prstGeom prst="rect">
            <a:avLst/>
          </a:prstGeom>
          <a:noFill/>
        </p:spPr>
        <p:txBody>
          <a:bodyPr wrap="square" rtlCol="0">
            <a:spAutoFit/>
          </a:bodyPr>
          <a:lstStyle/>
          <a:p>
            <a:pPr fontAlgn="base"/>
            <a:r>
              <a:rPr lang="en-IN" sz="1600" dirty="0"/>
              <a:t>Proposal for </a:t>
            </a:r>
            <a:r>
              <a:rPr lang="en-IN" sz="1600" dirty="0" err="1"/>
              <a:t>Kisan</a:t>
            </a:r>
            <a:r>
              <a:rPr lang="en-IN" sz="1600" dirty="0"/>
              <a:t> T Channel: Dedicated to the interests of the agriculture and allied sector has been proposed to launch in financial year 2014-15. This will provide </a:t>
            </a:r>
            <a:r>
              <a:rPr lang="en-IN" sz="1600" b="1" dirty="0"/>
              <a:t>real time information to famer regarding new farming techniques</a:t>
            </a:r>
            <a:r>
              <a:rPr lang="en-IN" sz="1600" dirty="0"/>
              <a:t>, water conservation, organic farming, etc</a:t>
            </a:r>
            <a:r>
              <a:rPr lang="en-IN" sz="1600" dirty="0" smtClean="0"/>
              <a:t>.</a:t>
            </a:r>
            <a:endParaRPr lang="en-IN" sz="1600" dirty="0"/>
          </a:p>
        </p:txBody>
      </p:sp>
      <p:sp>
        <p:nvSpPr>
          <p:cNvPr id="25" name="TextBox 24"/>
          <p:cNvSpPr txBox="1"/>
          <p:nvPr/>
        </p:nvSpPr>
        <p:spPr>
          <a:xfrm>
            <a:off x="3564102" y="1101013"/>
            <a:ext cx="8143207" cy="830997"/>
          </a:xfrm>
          <a:prstGeom prst="rect">
            <a:avLst/>
          </a:prstGeom>
          <a:noFill/>
        </p:spPr>
        <p:txBody>
          <a:bodyPr wrap="square" rtlCol="0">
            <a:spAutoFit/>
          </a:bodyPr>
          <a:lstStyle/>
          <a:p>
            <a:pPr fontAlgn="base"/>
            <a:r>
              <a:rPr lang="en-IN" sz="1600" b="1" dirty="0" smtClean="0"/>
              <a:t>Irrigate via Smart Phone </a:t>
            </a:r>
            <a:r>
              <a:rPr lang="en-IN" sz="1600" dirty="0" smtClean="0"/>
              <a:t>: Near Field Communication to turn on/off irrigation systems based on moisture sensor readings</a:t>
            </a:r>
          </a:p>
          <a:p>
            <a:pPr fontAlgn="base"/>
            <a:r>
              <a:rPr lang="en-IN" sz="1600" b="1" dirty="0" smtClean="0"/>
              <a:t>GPS Mapping </a:t>
            </a:r>
            <a:r>
              <a:rPr lang="en-IN" sz="1600" dirty="0" smtClean="0"/>
              <a:t>: Field indicator documentation for fertilizer applications </a:t>
            </a:r>
            <a:endParaRPr lang="en-IN" sz="1600" dirty="0"/>
          </a:p>
        </p:txBody>
      </p:sp>
      <p:sp>
        <p:nvSpPr>
          <p:cNvPr id="17" name="Rectangle 16"/>
          <p:cNvSpPr/>
          <p:nvPr/>
        </p:nvSpPr>
        <p:spPr>
          <a:xfrm>
            <a:off x="5135130" y="3442099"/>
            <a:ext cx="6854240" cy="2595912"/>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p:cNvSpPr txBox="1"/>
          <p:nvPr/>
        </p:nvSpPr>
        <p:spPr>
          <a:xfrm>
            <a:off x="10200069" y="797006"/>
            <a:ext cx="1789300" cy="338554"/>
          </a:xfrm>
          <a:prstGeom prst="rect">
            <a:avLst/>
          </a:prstGeom>
          <a:solidFill>
            <a:srgbClr val="0070C0"/>
          </a:solidFill>
        </p:spPr>
        <p:txBody>
          <a:bodyPr wrap="square" rtlCol="0">
            <a:spAutoFit/>
          </a:bodyPr>
          <a:lstStyle/>
          <a:p>
            <a:r>
              <a:rPr lang="en-IN" sz="1600" dirty="0" smtClean="0">
                <a:solidFill>
                  <a:schemeClr val="bg1"/>
                </a:solidFill>
              </a:rPr>
              <a:t>Do It Yourself Tech</a:t>
            </a:r>
            <a:endParaRPr lang="en-IN" sz="1600" dirty="0">
              <a:solidFill>
                <a:schemeClr val="bg1"/>
              </a:solidFill>
            </a:endParaRPr>
          </a:p>
        </p:txBody>
      </p:sp>
      <p:sp>
        <p:nvSpPr>
          <p:cNvPr id="30" name="TextBox 29"/>
          <p:cNvSpPr txBox="1"/>
          <p:nvPr/>
        </p:nvSpPr>
        <p:spPr>
          <a:xfrm>
            <a:off x="10200068" y="3448861"/>
            <a:ext cx="1789300" cy="338554"/>
          </a:xfrm>
          <a:prstGeom prst="rect">
            <a:avLst/>
          </a:prstGeom>
          <a:solidFill>
            <a:schemeClr val="accent3"/>
          </a:solidFill>
        </p:spPr>
        <p:txBody>
          <a:bodyPr wrap="square" rtlCol="0">
            <a:spAutoFit/>
          </a:bodyPr>
          <a:lstStyle/>
          <a:p>
            <a:pPr algn="ctr"/>
            <a:r>
              <a:rPr lang="en-IN" sz="1600" dirty="0" smtClean="0">
                <a:solidFill>
                  <a:schemeClr val="bg1"/>
                </a:solidFill>
              </a:rPr>
              <a:t>Information Thrust</a:t>
            </a:r>
            <a:endParaRPr lang="en-IN" sz="1600" dirty="0">
              <a:solidFill>
                <a:schemeClr val="bg1"/>
              </a:solidFill>
            </a:endParaRPr>
          </a:p>
        </p:txBody>
      </p:sp>
      <p:sp>
        <p:nvSpPr>
          <p:cNvPr id="31" name="TextBox 30"/>
          <p:cNvSpPr txBox="1"/>
          <p:nvPr/>
        </p:nvSpPr>
        <p:spPr>
          <a:xfrm>
            <a:off x="2088109" y="3205963"/>
            <a:ext cx="1328670" cy="369332"/>
          </a:xfrm>
          <a:prstGeom prst="rect">
            <a:avLst/>
          </a:prstGeom>
          <a:noFill/>
        </p:spPr>
        <p:txBody>
          <a:bodyPr wrap="square" rtlCol="0">
            <a:spAutoFit/>
          </a:bodyPr>
          <a:lstStyle/>
          <a:p>
            <a:pPr algn="ctr"/>
            <a:r>
              <a:rPr lang="en-IN" b="1" dirty="0" smtClean="0">
                <a:solidFill>
                  <a:schemeClr val="bg1"/>
                </a:solidFill>
              </a:rPr>
              <a:t>TODAY</a:t>
            </a:r>
            <a:endParaRPr lang="en-IN" b="1" dirty="0">
              <a:solidFill>
                <a:schemeClr val="bg1"/>
              </a:solidFill>
            </a:endParaRPr>
          </a:p>
        </p:txBody>
      </p:sp>
      <p:sp>
        <p:nvSpPr>
          <p:cNvPr id="27" name="Rectangle 26"/>
          <p:cNvSpPr/>
          <p:nvPr/>
        </p:nvSpPr>
        <p:spPr>
          <a:xfrm>
            <a:off x="-6899" y="6300328"/>
            <a:ext cx="12198899" cy="557671"/>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While the focus till now has been to tell the farmer </a:t>
            </a:r>
            <a:r>
              <a:rPr lang="en-IN" b="1" i="1" dirty="0" smtClean="0"/>
              <a:t>what to do </a:t>
            </a:r>
            <a:r>
              <a:rPr lang="en-IN" dirty="0" smtClean="0"/>
              <a:t>: the focus tomorrow will be the ability to respond when he tells us </a:t>
            </a:r>
            <a:r>
              <a:rPr lang="en-IN" b="1" i="1" dirty="0" smtClean="0"/>
              <a:t>what he wants : </a:t>
            </a:r>
            <a:r>
              <a:rPr lang="en-IN" dirty="0" smtClean="0"/>
              <a:t>To do that we need to develop the capability to </a:t>
            </a:r>
            <a:r>
              <a:rPr lang="en-IN" b="1" i="1" dirty="0" smtClean="0"/>
              <a:t>Listen via trends in Data</a:t>
            </a:r>
            <a:endParaRPr lang="en-IN" b="1" i="1" dirty="0"/>
          </a:p>
        </p:txBody>
      </p:sp>
    </p:spTree>
    <p:extLst>
      <p:ext uri="{BB962C8B-B14F-4D97-AF65-F5344CB8AC3E}">
        <p14:creationId xmlns:p14="http://schemas.microsoft.com/office/powerpoint/2010/main" val="23887595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0" y="237504"/>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556167" y="291779"/>
              <a:ext cx="9079730"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Why Data is the Next Big Thing in Indian Agriculture</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4</a:t>
            </a:fld>
            <a:endParaRPr lang="en-IN" sz="1800" kern="0" dirty="0">
              <a:solidFill>
                <a:srgbClr val="000000">
                  <a:tint val="75000"/>
                </a:srgbClr>
              </a:solidFill>
            </a:endParaRPr>
          </a:p>
        </p:txBody>
      </p:sp>
      <p:sp>
        <p:nvSpPr>
          <p:cNvPr id="27" name="Rectangle 26"/>
          <p:cNvSpPr/>
          <p:nvPr/>
        </p:nvSpPr>
        <p:spPr>
          <a:xfrm>
            <a:off x="0" y="5626509"/>
            <a:ext cx="5995987" cy="9846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1" dirty="0" smtClean="0"/>
              <a:t>Drivers of Data Adoption </a:t>
            </a:r>
            <a:r>
              <a:rPr lang="en-IN" i="1" dirty="0" smtClean="0"/>
              <a:t>: </a:t>
            </a:r>
            <a:r>
              <a:rPr lang="en-IN" dirty="0" smtClean="0"/>
              <a:t>Smart Phone Penetration &gt;&gt; Increasing App Usage &gt;&gt; Vernacular Data Sharing</a:t>
            </a:r>
          </a:p>
          <a:p>
            <a:pPr algn="ctr"/>
            <a:r>
              <a:rPr lang="en-IN" b="1" i="1" dirty="0" smtClean="0"/>
              <a:t>Rising Ag-Data Start-Ups : </a:t>
            </a:r>
            <a:r>
              <a:rPr lang="en-IN" dirty="0" err="1" smtClean="0"/>
              <a:t>CropIn</a:t>
            </a:r>
            <a:r>
              <a:rPr lang="en-IN" dirty="0" smtClean="0"/>
              <a:t>, </a:t>
            </a:r>
            <a:r>
              <a:rPr lang="en-IN" dirty="0" err="1" smtClean="0"/>
              <a:t>Skymet</a:t>
            </a:r>
            <a:r>
              <a:rPr lang="en-IN" dirty="0" smtClean="0"/>
              <a:t>, </a:t>
            </a:r>
            <a:r>
              <a:rPr lang="en-IN" dirty="0" err="1" smtClean="0"/>
              <a:t>AgRisk</a:t>
            </a:r>
            <a:endParaRPr lang="en-IN" dirty="0" smtClean="0"/>
          </a:p>
        </p:txBody>
      </p:sp>
      <p:grpSp>
        <p:nvGrpSpPr>
          <p:cNvPr id="9" name="Group 8"/>
          <p:cNvGrpSpPr/>
          <p:nvPr/>
        </p:nvGrpSpPr>
        <p:grpSpPr>
          <a:xfrm>
            <a:off x="3721962" y="1556604"/>
            <a:ext cx="5241701" cy="2975019"/>
            <a:chOff x="3168203" y="1160683"/>
            <a:chExt cx="5241701" cy="2975019"/>
          </a:xfrm>
        </p:grpSpPr>
        <p:pic>
          <p:nvPicPr>
            <p:cNvPr id="1026" name="Picture 2" descr="Image result for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8203" y="1160683"/>
              <a:ext cx="5241701" cy="297501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8" name="TextBox 37"/>
            <p:cNvSpPr txBox="1"/>
            <p:nvPr/>
          </p:nvSpPr>
          <p:spPr>
            <a:xfrm>
              <a:off x="4307172" y="2187879"/>
              <a:ext cx="1481881" cy="369332"/>
            </a:xfrm>
            <a:prstGeom prst="rect">
              <a:avLst/>
            </a:prstGeom>
            <a:noFill/>
          </p:spPr>
          <p:txBody>
            <a:bodyPr wrap="none" rtlCol="0">
              <a:spAutoFit/>
            </a:bodyPr>
            <a:lstStyle/>
            <a:p>
              <a:r>
                <a:rPr lang="en-IN" b="1" dirty="0" smtClean="0">
                  <a:solidFill>
                    <a:schemeClr val="bg1"/>
                  </a:solidFill>
                </a:rPr>
                <a:t>Food Security</a:t>
              </a:r>
              <a:endParaRPr lang="en-IN" b="1" dirty="0">
                <a:solidFill>
                  <a:schemeClr val="bg1"/>
                </a:solidFill>
              </a:endParaRPr>
            </a:p>
          </p:txBody>
        </p:sp>
        <p:sp>
          <p:nvSpPr>
            <p:cNvPr id="39" name="TextBox 38"/>
            <p:cNvSpPr txBox="1"/>
            <p:nvPr/>
          </p:nvSpPr>
          <p:spPr>
            <a:xfrm>
              <a:off x="5536521" y="1803234"/>
              <a:ext cx="2058705" cy="369332"/>
            </a:xfrm>
            <a:prstGeom prst="rect">
              <a:avLst/>
            </a:prstGeom>
            <a:noFill/>
          </p:spPr>
          <p:txBody>
            <a:bodyPr wrap="none" rtlCol="0">
              <a:spAutoFit/>
            </a:bodyPr>
            <a:lstStyle/>
            <a:p>
              <a:r>
                <a:rPr lang="en-IN" b="1" dirty="0" smtClean="0">
                  <a:solidFill>
                    <a:schemeClr val="bg1"/>
                  </a:solidFill>
                </a:rPr>
                <a:t>Distribution System</a:t>
              </a:r>
              <a:endParaRPr lang="en-IN" b="1" dirty="0">
                <a:solidFill>
                  <a:schemeClr val="bg1"/>
                </a:solidFill>
              </a:endParaRPr>
            </a:p>
          </p:txBody>
        </p:sp>
        <p:sp>
          <p:nvSpPr>
            <p:cNvPr id="41" name="TextBox 40"/>
            <p:cNvSpPr txBox="1"/>
            <p:nvPr/>
          </p:nvSpPr>
          <p:spPr>
            <a:xfrm>
              <a:off x="3655423" y="3038150"/>
              <a:ext cx="2375266" cy="369332"/>
            </a:xfrm>
            <a:prstGeom prst="rect">
              <a:avLst/>
            </a:prstGeom>
            <a:noFill/>
          </p:spPr>
          <p:txBody>
            <a:bodyPr wrap="none" rtlCol="0">
              <a:spAutoFit/>
            </a:bodyPr>
            <a:lstStyle/>
            <a:p>
              <a:r>
                <a:rPr lang="en-IN" b="1" dirty="0" smtClean="0">
                  <a:solidFill>
                    <a:schemeClr val="bg1"/>
                  </a:solidFill>
                </a:rPr>
                <a:t>Farm Produce Wastage</a:t>
              </a:r>
              <a:endParaRPr lang="en-IN" b="1" dirty="0">
                <a:solidFill>
                  <a:schemeClr val="bg1"/>
                </a:solidFill>
              </a:endParaRPr>
            </a:p>
          </p:txBody>
        </p:sp>
        <p:sp>
          <p:nvSpPr>
            <p:cNvPr id="42" name="TextBox 41"/>
            <p:cNvSpPr txBox="1"/>
            <p:nvPr/>
          </p:nvSpPr>
          <p:spPr>
            <a:xfrm>
              <a:off x="4238292" y="1468489"/>
              <a:ext cx="1518621" cy="369332"/>
            </a:xfrm>
            <a:prstGeom prst="rect">
              <a:avLst/>
            </a:prstGeom>
            <a:noFill/>
          </p:spPr>
          <p:txBody>
            <a:bodyPr wrap="none" rtlCol="0">
              <a:spAutoFit/>
            </a:bodyPr>
            <a:lstStyle/>
            <a:p>
              <a:r>
                <a:rPr lang="en-IN" b="1" dirty="0" smtClean="0">
                  <a:solidFill>
                    <a:schemeClr val="bg1"/>
                  </a:solidFill>
                </a:rPr>
                <a:t>Food Inflation</a:t>
              </a:r>
              <a:endParaRPr lang="en-IN" b="1" dirty="0">
                <a:solidFill>
                  <a:schemeClr val="bg1"/>
                </a:solidFill>
              </a:endParaRPr>
            </a:p>
          </p:txBody>
        </p:sp>
        <p:sp>
          <p:nvSpPr>
            <p:cNvPr id="43" name="TextBox 42"/>
            <p:cNvSpPr txBox="1"/>
            <p:nvPr/>
          </p:nvSpPr>
          <p:spPr>
            <a:xfrm>
              <a:off x="5536521" y="2632195"/>
              <a:ext cx="2746457" cy="369332"/>
            </a:xfrm>
            <a:prstGeom prst="rect">
              <a:avLst/>
            </a:prstGeom>
            <a:noFill/>
          </p:spPr>
          <p:txBody>
            <a:bodyPr wrap="none" rtlCol="0">
              <a:spAutoFit/>
            </a:bodyPr>
            <a:lstStyle/>
            <a:p>
              <a:r>
                <a:rPr lang="en-IN" b="1" dirty="0" smtClean="0">
                  <a:solidFill>
                    <a:schemeClr val="bg1"/>
                  </a:solidFill>
                </a:rPr>
                <a:t>Soil Fertility &amp; Productivity</a:t>
              </a:r>
              <a:endParaRPr lang="en-IN" b="1" dirty="0">
                <a:solidFill>
                  <a:schemeClr val="bg1"/>
                </a:solidFill>
              </a:endParaRPr>
            </a:p>
          </p:txBody>
        </p:sp>
        <p:sp>
          <p:nvSpPr>
            <p:cNvPr id="44" name="TextBox 43"/>
            <p:cNvSpPr txBox="1"/>
            <p:nvPr/>
          </p:nvSpPr>
          <p:spPr>
            <a:xfrm>
              <a:off x="5638814" y="3366411"/>
              <a:ext cx="1592487" cy="369332"/>
            </a:xfrm>
            <a:prstGeom prst="rect">
              <a:avLst/>
            </a:prstGeom>
            <a:noFill/>
          </p:spPr>
          <p:txBody>
            <a:bodyPr wrap="none" rtlCol="0">
              <a:spAutoFit/>
            </a:bodyPr>
            <a:lstStyle/>
            <a:p>
              <a:r>
                <a:rPr lang="en-IN" b="1" dirty="0" smtClean="0">
                  <a:solidFill>
                    <a:schemeClr val="bg1"/>
                  </a:solidFill>
                </a:rPr>
                <a:t>Crop Financing</a:t>
              </a:r>
              <a:endParaRPr lang="en-IN" b="1" dirty="0">
                <a:solidFill>
                  <a:schemeClr val="bg1"/>
                </a:solidFill>
              </a:endParaRPr>
            </a:p>
          </p:txBody>
        </p:sp>
      </p:grpSp>
      <p:sp>
        <p:nvSpPr>
          <p:cNvPr id="11" name="TextBox 10"/>
          <p:cNvSpPr txBox="1"/>
          <p:nvPr/>
        </p:nvSpPr>
        <p:spPr>
          <a:xfrm>
            <a:off x="154546" y="1035009"/>
            <a:ext cx="4202200" cy="1384995"/>
          </a:xfrm>
          <a:prstGeom prst="rect">
            <a:avLst/>
          </a:prstGeom>
          <a:noFill/>
        </p:spPr>
        <p:txBody>
          <a:bodyPr wrap="square" rtlCol="0">
            <a:spAutoFit/>
          </a:bodyPr>
          <a:lstStyle/>
          <a:p>
            <a:r>
              <a:rPr lang="en-IN" sz="1400" b="1" dirty="0" smtClean="0"/>
              <a:t>Food Inflation </a:t>
            </a:r>
            <a:r>
              <a:rPr lang="en-IN" sz="1400" dirty="0" smtClean="0"/>
              <a:t>: By estimating patterns in demand &amp; Supply by integrating data on sowing, harvest &amp; production </a:t>
            </a:r>
            <a:r>
              <a:rPr lang="en-IN" sz="1400" dirty="0" err="1" smtClean="0"/>
              <a:t>esp</a:t>
            </a:r>
            <a:r>
              <a:rPr lang="en-IN" sz="1400" dirty="0" smtClean="0"/>
              <a:t> </a:t>
            </a:r>
            <a:r>
              <a:rPr lang="en-IN" sz="1400" b="1" dirty="0" smtClean="0"/>
              <a:t>Satellite Imagery for yield</a:t>
            </a:r>
          </a:p>
          <a:p>
            <a:r>
              <a:rPr lang="en-IN" sz="1400" dirty="0" smtClean="0"/>
              <a:t>Status Quo : Forecasting based on time series data</a:t>
            </a:r>
          </a:p>
          <a:p>
            <a:r>
              <a:rPr lang="en-IN" sz="1400" dirty="0" smtClean="0"/>
              <a:t>Future : Forecasting based on real time dynamic factors : climate, macro-economic conditions</a:t>
            </a:r>
            <a:endParaRPr lang="en-IN" sz="1400" dirty="0"/>
          </a:p>
        </p:txBody>
      </p:sp>
      <p:sp>
        <p:nvSpPr>
          <p:cNvPr id="45" name="TextBox 44"/>
          <p:cNvSpPr txBox="1"/>
          <p:nvPr/>
        </p:nvSpPr>
        <p:spPr>
          <a:xfrm>
            <a:off x="154546" y="2679503"/>
            <a:ext cx="3606083" cy="954107"/>
          </a:xfrm>
          <a:prstGeom prst="rect">
            <a:avLst/>
          </a:prstGeom>
          <a:noFill/>
        </p:spPr>
        <p:txBody>
          <a:bodyPr wrap="square" rtlCol="0">
            <a:spAutoFit/>
          </a:bodyPr>
          <a:lstStyle/>
          <a:p>
            <a:r>
              <a:rPr lang="en-IN" sz="1400" b="1" dirty="0" smtClean="0"/>
              <a:t>Food Security : </a:t>
            </a:r>
            <a:r>
              <a:rPr lang="en-IN" sz="1400" dirty="0" smtClean="0"/>
              <a:t>Real time assessment of crop throughput can enable gov. take proactive measures such as : farmer advisory for glut and import orders in case of dearth</a:t>
            </a:r>
            <a:endParaRPr lang="en-IN" sz="1400" dirty="0"/>
          </a:p>
        </p:txBody>
      </p:sp>
      <p:sp>
        <p:nvSpPr>
          <p:cNvPr id="46" name="TextBox 45"/>
          <p:cNvSpPr txBox="1"/>
          <p:nvPr/>
        </p:nvSpPr>
        <p:spPr>
          <a:xfrm>
            <a:off x="191610" y="3883112"/>
            <a:ext cx="4202200" cy="738664"/>
          </a:xfrm>
          <a:prstGeom prst="rect">
            <a:avLst/>
          </a:prstGeom>
          <a:noFill/>
        </p:spPr>
        <p:txBody>
          <a:bodyPr wrap="square" rtlCol="0">
            <a:spAutoFit/>
          </a:bodyPr>
          <a:lstStyle/>
          <a:p>
            <a:r>
              <a:rPr lang="en-IN" sz="1400" b="1" dirty="0" smtClean="0"/>
              <a:t>Tackling Wastage in Storage &amp; Transport : </a:t>
            </a:r>
            <a:r>
              <a:rPr lang="en-IN" sz="1400" dirty="0" smtClean="0"/>
              <a:t>Through sensor data on moisture, temperature, pressure, infestation by rodents etc.</a:t>
            </a:r>
            <a:endParaRPr lang="en-IN" sz="1400" dirty="0"/>
          </a:p>
        </p:txBody>
      </p:sp>
      <p:sp>
        <p:nvSpPr>
          <p:cNvPr id="47" name="TextBox 46"/>
          <p:cNvSpPr txBox="1"/>
          <p:nvPr/>
        </p:nvSpPr>
        <p:spPr>
          <a:xfrm>
            <a:off x="8983751" y="2368144"/>
            <a:ext cx="2983606" cy="738664"/>
          </a:xfrm>
          <a:prstGeom prst="rect">
            <a:avLst/>
          </a:prstGeom>
          <a:noFill/>
        </p:spPr>
        <p:txBody>
          <a:bodyPr wrap="square" rtlCol="0">
            <a:spAutoFit/>
          </a:bodyPr>
          <a:lstStyle/>
          <a:p>
            <a:r>
              <a:rPr lang="en-IN" sz="1400" b="1" dirty="0" smtClean="0"/>
              <a:t>Soil Fertility : </a:t>
            </a:r>
            <a:r>
              <a:rPr lang="en-IN" sz="1400" dirty="0" smtClean="0"/>
              <a:t>Data from on-field devices, satellite imagery, smartphone photos, meteorological data etc. </a:t>
            </a:r>
            <a:endParaRPr lang="en-IN" sz="1400" dirty="0"/>
          </a:p>
        </p:txBody>
      </p:sp>
      <p:sp>
        <p:nvSpPr>
          <p:cNvPr id="48" name="TextBox 47"/>
          <p:cNvSpPr txBox="1"/>
          <p:nvPr/>
        </p:nvSpPr>
        <p:spPr>
          <a:xfrm>
            <a:off x="7798390" y="893579"/>
            <a:ext cx="4189055" cy="954107"/>
          </a:xfrm>
          <a:prstGeom prst="rect">
            <a:avLst/>
          </a:prstGeom>
          <a:noFill/>
        </p:spPr>
        <p:txBody>
          <a:bodyPr wrap="square" rtlCol="0">
            <a:spAutoFit/>
          </a:bodyPr>
          <a:lstStyle/>
          <a:p>
            <a:r>
              <a:rPr lang="en-IN" sz="1400" b="1" dirty="0" smtClean="0"/>
              <a:t>Supply Chain Data for better distribution : </a:t>
            </a:r>
            <a:r>
              <a:rPr lang="en-IN" sz="1400" dirty="0" smtClean="0"/>
              <a:t>Telematics on fleets carrying produce, Data from storage locations on crop health, Retail store data to track consumer demand can be integrated.</a:t>
            </a:r>
            <a:r>
              <a:rPr lang="en-IN" sz="1400" b="1" dirty="0" smtClean="0"/>
              <a:t> </a:t>
            </a:r>
            <a:endParaRPr lang="en-IN" sz="1400" dirty="0"/>
          </a:p>
        </p:txBody>
      </p:sp>
      <p:sp>
        <p:nvSpPr>
          <p:cNvPr id="49" name="TextBox 48"/>
          <p:cNvSpPr txBox="1"/>
          <p:nvPr/>
        </p:nvSpPr>
        <p:spPr>
          <a:xfrm>
            <a:off x="8684303" y="3688643"/>
            <a:ext cx="3353150" cy="1169551"/>
          </a:xfrm>
          <a:prstGeom prst="rect">
            <a:avLst/>
          </a:prstGeom>
          <a:noFill/>
        </p:spPr>
        <p:txBody>
          <a:bodyPr wrap="square" rtlCol="0">
            <a:spAutoFit/>
          </a:bodyPr>
          <a:lstStyle/>
          <a:p>
            <a:r>
              <a:rPr lang="en-IN" sz="1400" b="1" dirty="0" smtClean="0"/>
              <a:t>Financiers </a:t>
            </a:r>
            <a:r>
              <a:rPr lang="en-IN" sz="1400" dirty="0" smtClean="0"/>
              <a:t>will need to integrate data on the farmer to reduce risk &amp; on farm produce from a number of sources : KYC,  on-field device, weather, soil, pest condition etc.</a:t>
            </a:r>
            <a:endParaRPr lang="en-IN" sz="1400" dirty="0"/>
          </a:p>
        </p:txBody>
      </p:sp>
      <p:sp>
        <p:nvSpPr>
          <p:cNvPr id="50" name="Rectangle 49"/>
          <p:cNvSpPr/>
          <p:nvPr/>
        </p:nvSpPr>
        <p:spPr>
          <a:xfrm>
            <a:off x="6090280" y="5626509"/>
            <a:ext cx="6101721" cy="968102"/>
          </a:xfrm>
          <a:prstGeom prst="rect">
            <a:avLst/>
          </a:prstGeom>
          <a:solidFill>
            <a:srgbClr val="006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1" dirty="0" smtClean="0"/>
              <a:t>Global Indicators : </a:t>
            </a:r>
            <a:r>
              <a:rPr lang="en-IN" dirty="0" smtClean="0"/>
              <a:t>Monsanto’s Integrated Digital Platform for farmers to analyse agronomic data</a:t>
            </a:r>
          </a:p>
          <a:p>
            <a:pPr algn="ctr"/>
            <a:r>
              <a:rPr lang="en-IN" dirty="0" smtClean="0"/>
              <a:t>Verizon : Ag-Software based on </a:t>
            </a:r>
            <a:r>
              <a:rPr lang="en-IN" dirty="0" err="1" smtClean="0"/>
              <a:t>IoT</a:t>
            </a:r>
            <a:r>
              <a:rPr lang="en-IN" dirty="0" smtClean="0"/>
              <a:t> in Monterey &amp; Napa Valley</a:t>
            </a:r>
          </a:p>
        </p:txBody>
      </p:sp>
    </p:spTree>
    <p:extLst>
      <p:ext uri="{BB962C8B-B14F-4D97-AF65-F5344CB8AC3E}">
        <p14:creationId xmlns:p14="http://schemas.microsoft.com/office/powerpoint/2010/main" val="36534278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5</a:t>
            </a:fld>
            <a:endParaRPr lang="en-IN" sz="1800" kern="0" dirty="0">
              <a:solidFill>
                <a:srgbClr val="000000">
                  <a:tint val="75000"/>
                </a:srgbClr>
              </a:solidFill>
            </a:endParaRPr>
          </a:p>
        </p:txBody>
      </p:sp>
      <p:sp>
        <p:nvSpPr>
          <p:cNvPr id="5" name="Rectangle 4"/>
          <p:cNvSpPr/>
          <p:nvPr/>
        </p:nvSpPr>
        <p:spPr>
          <a:xfrm>
            <a:off x="1254141" y="188912"/>
            <a:ext cx="9669919" cy="954107"/>
          </a:xfrm>
          <a:prstGeom prst="rect">
            <a:avLst/>
          </a:prstGeom>
          <a:solidFill>
            <a:schemeClr val="bg1"/>
          </a:solidFill>
        </p:spPr>
        <p:txBody>
          <a:bodyPr wrap="squar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D</a:t>
            </a:r>
            <a:r>
              <a:rPr lang="en-IN" sz="2800" b="1" dirty="0" smtClean="0">
                <a:solidFill>
                  <a:srgbClr val="0070C0"/>
                </a:solidFill>
                <a:latin typeface="Leelawadee UI" panose="020B0502040204020203" pitchFamily="34" charset="-34"/>
                <a:cs typeface="Leelawadee UI" panose="020B0502040204020203" pitchFamily="34" charset="-34"/>
              </a:rPr>
              <a:t>ata and analytics requirement to drive growth in </a:t>
            </a:r>
            <a:r>
              <a:rPr lang="en-IN" sz="2800" b="1" dirty="0" err="1" smtClean="0">
                <a:solidFill>
                  <a:srgbClr val="0070C0"/>
                </a:solidFill>
                <a:latin typeface="Leelawadee UI" panose="020B0502040204020203" pitchFamily="34" charset="-34"/>
                <a:cs typeface="Leelawadee UI" panose="020B0502040204020203" pitchFamily="34" charset="-34"/>
              </a:rPr>
              <a:t>agri</a:t>
            </a:r>
            <a:r>
              <a:rPr lang="en-IN" sz="2800" b="1" dirty="0" smtClean="0">
                <a:solidFill>
                  <a:srgbClr val="0070C0"/>
                </a:solidFill>
                <a:latin typeface="Leelawadee UI" panose="020B0502040204020203" pitchFamily="34" charset="-34"/>
                <a:cs typeface="Leelawadee UI" panose="020B0502040204020203" pitchFamily="34" charset="-34"/>
              </a:rPr>
              <a:t> business</a:t>
            </a:r>
            <a:endParaRPr lang="en-IN" sz="2800" b="1" dirty="0">
              <a:solidFill>
                <a:srgbClr val="0070C0"/>
              </a:solidFill>
              <a:latin typeface="Leelawadee UI" panose="020B0502040204020203" pitchFamily="34" charset="-34"/>
              <a:cs typeface="Leelawadee UI" panose="020B0502040204020203" pitchFamily="34" charset="-34"/>
            </a:endParaRPr>
          </a:p>
        </p:txBody>
      </p:sp>
      <p:sp>
        <p:nvSpPr>
          <p:cNvPr id="7" name="Right Arrow Callout 6"/>
          <p:cNvSpPr/>
          <p:nvPr/>
        </p:nvSpPr>
        <p:spPr>
          <a:xfrm>
            <a:off x="117605" y="1931504"/>
            <a:ext cx="2270797" cy="914400"/>
          </a:xfrm>
          <a:prstGeom prst="rightArrowCallout">
            <a:avLst>
              <a:gd name="adj1" fmla="val 25000"/>
              <a:gd name="adj2" fmla="val 25000"/>
              <a:gd name="adj3" fmla="val 25000"/>
              <a:gd name="adj4" fmla="val 846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Aggregate Data on Markets </a:t>
            </a:r>
          </a:p>
          <a:p>
            <a:pPr algn="ctr"/>
            <a:r>
              <a:rPr lang="en-IN" dirty="0" smtClean="0"/>
              <a:t>Industry Indicators</a:t>
            </a:r>
            <a:endParaRPr lang="en-IN" dirty="0"/>
          </a:p>
        </p:txBody>
      </p:sp>
      <p:sp>
        <p:nvSpPr>
          <p:cNvPr id="11" name="Right Arrow Callout 10"/>
          <p:cNvSpPr/>
          <p:nvPr/>
        </p:nvSpPr>
        <p:spPr>
          <a:xfrm>
            <a:off x="2477958" y="1931504"/>
            <a:ext cx="2471194" cy="914400"/>
          </a:xfrm>
          <a:prstGeom prst="rightArrowCallout">
            <a:avLst>
              <a:gd name="adj1" fmla="val 25000"/>
              <a:gd name="adj2" fmla="val 25000"/>
              <a:gd name="adj3" fmla="val 25000"/>
              <a:gd name="adj4" fmla="val 846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Real time Data on Weather Patterns, Soil etc.</a:t>
            </a:r>
            <a:endParaRPr lang="en-IN" dirty="0"/>
          </a:p>
        </p:txBody>
      </p:sp>
      <p:sp>
        <p:nvSpPr>
          <p:cNvPr id="12" name="Right Arrow Callout 11"/>
          <p:cNvSpPr/>
          <p:nvPr/>
        </p:nvSpPr>
        <p:spPr>
          <a:xfrm>
            <a:off x="5038707" y="1931504"/>
            <a:ext cx="2471194" cy="914400"/>
          </a:xfrm>
          <a:prstGeom prst="rightArrowCallout">
            <a:avLst>
              <a:gd name="adj1" fmla="val 25000"/>
              <a:gd name="adj2" fmla="val 25000"/>
              <a:gd name="adj3" fmla="val 25000"/>
              <a:gd name="adj4" fmla="val 846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Sensor Related Data Feeds  from On-Field Devices</a:t>
            </a:r>
            <a:endParaRPr lang="en-IN" dirty="0"/>
          </a:p>
        </p:txBody>
      </p:sp>
      <p:sp>
        <p:nvSpPr>
          <p:cNvPr id="13" name="Right Arrow Callout 12"/>
          <p:cNvSpPr/>
          <p:nvPr/>
        </p:nvSpPr>
        <p:spPr>
          <a:xfrm>
            <a:off x="7599456" y="1931504"/>
            <a:ext cx="2165797" cy="914400"/>
          </a:xfrm>
          <a:prstGeom prst="rightArrowCallout">
            <a:avLst>
              <a:gd name="adj1" fmla="val 25000"/>
              <a:gd name="adj2" fmla="val 25000"/>
              <a:gd name="adj3" fmla="val 25000"/>
              <a:gd name="adj4" fmla="val 846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Product Usage from Transaction Data</a:t>
            </a:r>
            <a:endParaRPr lang="en-IN" dirty="0"/>
          </a:p>
        </p:txBody>
      </p:sp>
      <p:sp>
        <p:nvSpPr>
          <p:cNvPr id="14" name="Right Arrow Callout 13"/>
          <p:cNvSpPr/>
          <p:nvPr/>
        </p:nvSpPr>
        <p:spPr>
          <a:xfrm>
            <a:off x="9854808" y="1931504"/>
            <a:ext cx="2165797" cy="914400"/>
          </a:xfrm>
          <a:prstGeom prst="rightArrowCallout">
            <a:avLst>
              <a:gd name="adj1" fmla="val 25000"/>
              <a:gd name="adj2" fmla="val 25000"/>
              <a:gd name="adj3" fmla="val 25000"/>
              <a:gd name="adj4" fmla="val 846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Consumer Interactions : Online/Offline</a:t>
            </a:r>
            <a:endParaRPr lang="en-IN" dirty="0"/>
          </a:p>
        </p:txBody>
      </p:sp>
      <p:graphicFrame>
        <p:nvGraphicFramePr>
          <p:cNvPr id="20" name="Table 19"/>
          <p:cNvGraphicFramePr>
            <a:graphicFrameLocks noGrp="1"/>
          </p:cNvGraphicFramePr>
          <p:nvPr>
            <p:extLst>
              <p:ext uri="{D42A27DB-BD31-4B8C-83A1-F6EECF244321}">
                <p14:modId xmlns:p14="http://schemas.microsoft.com/office/powerpoint/2010/main" val="3816486189"/>
              </p:ext>
            </p:extLst>
          </p:nvPr>
        </p:nvGraphicFramePr>
        <p:xfrm>
          <a:off x="117605" y="3082975"/>
          <a:ext cx="11903000" cy="2956560"/>
        </p:xfrm>
        <a:graphic>
          <a:graphicData uri="http://schemas.openxmlformats.org/drawingml/2006/table">
            <a:tbl>
              <a:tblPr firstRow="1" bandRow="1">
                <a:tableStyleId>{2D5ABB26-0587-4C30-8999-92F81FD0307C}</a:tableStyleId>
              </a:tblPr>
              <a:tblGrid>
                <a:gridCol w="2380600"/>
                <a:gridCol w="2380600"/>
                <a:gridCol w="2572872"/>
                <a:gridCol w="2188328"/>
                <a:gridCol w="2380600"/>
              </a:tblGrid>
              <a:tr h="370840">
                <a:tc>
                  <a:txBody>
                    <a:bodyPr/>
                    <a:lstStyle/>
                    <a:p>
                      <a:r>
                        <a:rPr lang="en-IN" sz="1600" dirty="0" smtClean="0"/>
                        <a:t>Price Movements based on every day</a:t>
                      </a:r>
                      <a:r>
                        <a:rPr lang="en-IN" sz="1600" baseline="0" dirty="0" smtClean="0"/>
                        <a:t> market prices</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Crop</a:t>
                      </a:r>
                      <a:r>
                        <a:rPr lang="en-IN" sz="1600" baseline="0" dirty="0" smtClean="0"/>
                        <a:t> Advisory for Sowing, Harvesting</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Crop</a:t>
                      </a:r>
                      <a:r>
                        <a:rPr lang="en-IN" sz="1600" baseline="0" dirty="0" smtClean="0"/>
                        <a:t> Quality Predictions</a:t>
                      </a:r>
                    </a:p>
                    <a:p>
                      <a:r>
                        <a:rPr lang="en-IN" sz="1600" baseline="0" dirty="0" smtClean="0"/>
                        <a:t>&amp; recognitions of indicators of pest attacks</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Sales</a:t>
                      </a:r>
                      <a:r>
                        <a:rPr lang="en-IN" sz="1600" baseline="0" dirty="0" smtClean="0"/>
                        <a:t> Forecasting for specific Produce &amp; salesforce effectiveness models</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NLP solutions on unstructured</a:t>
                      </a:r>
                      <a:r>
                        <a:rPr lang="en-IN" sz="1600" baseline="0" dirty="0" smtClean="0"/>
                        <a:t> text data from customer feedback</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r>
              <a:tr h="370840">
                <a:tc>
                  <a:txBody>
                    <a:bodyPr/>
                    <a:lstStyle/>
                    <a:p>
                      <a:r>
                        <a:rPr lang="en-IN" sz="1600" dirty="0" smtClean="0"/>
                        <a:t>Geo-level</a:t>
                      </a:r>
                      <a:r>
                        <a:rPr lang="en-IN" sz="1600" baseline="0" dirty="0" smtClean="0"/>
                        <a:t> </a:t>
                      </a:r>
                      <a:r>
                        <a:rPr lang="en-IN" sz="1600" dirty="0" smtClean="0"/>
                        <a:t>Demand</a:t>
                      </a:r>
                      <a:r>
                        <a:rPr lang="en-IN" sz="1600" baseline="0" dirty="0" smtClean="0"/>
                        <a:t> Forecasting for Specific Produce</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Weather &amp; Soil predictions</a:t>
                      </a:r>
                      <a:r>
                        <a:rPr lang="en-IN" sz="1600" baseline="0" dirty="0" smtClean="0"/>
                        <a:t> ahead of sowing</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Predictions</a:t>
                      </a:r>
                      <a:r>
                        <a:rPr lang="en-IN" sz="1600" baseline="0" dirty="0" smtClean="0"/>
                        <a:t> on estimated yield, Land Area Usage</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Impact of Media</a:t>
                      </a:r>
                      <a:r>
                        <a:rPr lang="en-IN" sz="1600" baseline="0" dirty="0" smtClean="0"/>
                        <a:t> &amp; Advertising Spends if Any</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Digital</a:t>
                      </a:r>
                      <a:r>
                        <a:rPr lang="en-IN" sz="1600" baseline="0" dirty="0" smtClean="0"/>
                        <a:t> analytics based on engagement trends on Website or social media</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r>
              <a:tr h="370840">
                <a:tc>
                  <a:txBody>
                    <a:bodyPr/>
                    <a:lstStyle/>
                    <a:p>
                      <a:r>
                        <a:rPr lang="en-IN" sz="1600" dirty="0" smtClean="0"/>
                        <a:t>Market potential for specific product</a:t>
                      </a:r>
                      <a:r>
                        <a:rPr lang="en-IN" sz="1600" baseline="0" dirty="0" smtClean="0"/>
                        <a:t> based on market geo-profiles</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Image</a:t>
                      </a:r>
                      <a:r>
                        <a:rPr lang="en-IN" sz="1600" baseline="0" dirty="0" smtClean="0"/>
                        <a:t> processing solutions on satellite imagery to estimate total yield</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Supply</a:t>
                      </a:r>
                      <a:r>
                        <a:rPr lang="en-IN" sz="1600" baseline="0" dirty="0" smtClean="0"/>
                        <a:t> Chain effectiveness from fleet management solutions &amp; farm machinery maintenance solutions</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Channel Trends in</a:t>
                      </a:r>
                      <a:r>
                        <a:rPr lang="en-IN" sz="1600" baseline="0" dirty="0" smtClean="0"/>
                        <a:t> dealer &amp; distributor behaviour to predict attrition</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r>
                        <a:rPr lang="en-IN" sz="1600" dirty="0" smtClean="0"/>
                        <a:t>Deriving product insights from NLP techniques on primary research such</a:t>
                      </a:r>
                      <a:r>
                        <a:rPr lang="en-IN" sz="1600" baseline="0" dirty="0" smtClean="0"/>
                        <a:t> as FGD’s.</a:t>
                      </a:r>
                      <a:endParaRPr lang="en-IN" sz="1600"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r>
            </a:tbl>
          </a:graphicData>
        </a:graphic>
      </p:graphicFrame>
      <p:sp>
        <p:nvSpPr>
          <p:cNvPr id="21" name="Rectangle 20"/>
          <p:cNvSpPr/>
          <p:nvPr/>
        </p:nvSpPr>
        <p:spPr>
          <a:xfrm>
            <a:off x="0" y="1101255"/>
            <a:ext cx="12198899" cy="593178"/>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Data &amp; Analytics can be leveraged across the Agri-Business value chain for High level Strategy &amp; to Deep-Dive into Individual Consumer Preference</a:t>
            </a:r>
            <a:endParaRPr lang="en-IN" b="1" i="1" dirty="0"/>
          </a:p>
        </p:txBody>
      </p:sp>
    </p:spTree>
    <p:extLst>
      <p:ext uri="{BB962C8B-B14F-4D97-AF65-F5344CB8AC3E}">
        <p14:creationId xmlns:p14="http://schemas.microsoft.com/office/powerpoint/2010/main" val="33175037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6</a:t>
            </a:fld>
            <a:endParaRPr lang="en-IN" sz="1800" kern="0" dirty="0">
              <a:solidFill>
                <a:srgbClr val="000000">
                  <a:tint val="75000"/>
                </a:srgbClr>
              </a:solidFill>
            </a:endParaRPr>
          </a:p>
        </p:txBody>
      </p:sp>
      <p:sp>
        <p:nvSpPr>
          <p:cNvPr id="5" name="Rectangle 4"/>
          <p:cNvSpPr/>
          <p:nvPr/>
        </p:nvSpPr>
        <p:spPr>
          <a:xfrm>
            <a:off x="1257590" y="185916"/>
            <a:ext cx="9669919" cy="523220"/>
          </a:xfrm>
          <a:prstGeom prst="rect">
            <a:avLst/>
          </a:prstGeom>
          <a:solidFill>
            <a:schemeClr val="bg1"/>
          </a:solidFill>
        </p:spPr>
        <p:txBody>
          <a:bodyPr wrap="squar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Drive one-to-one connect with the farmer</a:t>
            </a:r>
            <a:endParaRPr lang="en-IN" sz="2800" b="1" dirty="0">
              <a:solidFill>
                <a:srgbClr val="0070C0"/>
              </a:solidFill>
              <a:latin typeface="Leelawadee UI" panose="020B0502040204020203" pitchFamily="34" charset="-34"/>
              <a:cs typeface="Leelawadee UI" panose="020B0502040204020203" pitchFamily="34" charset="-34"/>
            </a:endParaRPr>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989" y="2584216"/>
            <a:ext cx="1282711" cy="11825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88" y="4011067"/>
            <a:ext cx="1282711" cy="1114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987" y="5353169"/>
            <a:ext cx="1282711" cy="89308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lat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r="42371"/>
          <a:stretch/>
        </p:blipFill>
        <p:spPr bwMode="auto">
          <a:xfrm>
            <a:off x="479990" y="1205438"/>
            <a:ext cx="1282711" cy="117715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rot="16200000">
            <a:off x="-278582" y="1624021"/>
            <a:ext cx="1177156" cy="3399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Tata Steel</a:t>
            </a:r>
            <a:endParaRPr lang="en-IN" dirty="0"/>
          </a:p>
        </p:txBody>
      </p:sp>
      <p:sp>
        <p:nvSpPr>
          <p:cNvPr id="3" name="Rectangle 2"/>
          <p:cNvSpPr/>
          <p:nvPr/>
        </p:nvSpPr>
        <p:spPr>
          <a:xfrm>
            <a:off x="479990" y="1206750"/>
            <a:ext cx="1282711" cy="11758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rot="16200000">
            <a:off x="-281295" y="3005504"/>
            <a:ext cx="1182573" cy="3399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mtClean="0"/>
              <a:t>Distributer</a:t>
            </a:r>
            <a:endParaRPr lang="en-IN"/>
          </a:p>
        </p:txBody>
      </p:sp>
      <p:sp>
        <p:nvSpPr>
          <p:cNvPr id="23" name="Rectangle 22"/>
          <p:cNvSpPr/>
          <p:nvPr/>
        </p:nvSpPr>
        <p:spPr>
          <a:xfrm rot="16200000">
            <a:off x="-255820" y="4389982"/>
            <a:ext cx="1131624" cy="3399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mtClean="0"/>
              <a:t>Retailer</a:t>
            </a:r>
            <a:endParaRPr lang="en-IN"/>
          </a:p>
        </p:txBody>
      </p:sp>
      <p:sp>
        <p:nvSpPr>
          <p:cNvPr id="24" name="Rectangle 23"/>
          <p:cNvSpPr/>
          <p:nvPr/>
        </p:nvSpPr>
        <p:spPr>
          <a:xfrm rot="16200000">
            <a:off x="-139444" y="5626824"/>
            <a:ext cx="898870" cy="3399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mtClean="0"/>
              <a:t>Farmer</a:t>
            </a:r>
            <a:endParaRPr lang="en-IN"/>
          </a:p>
        </p:txBody>
      </p:sp>
      <p:sp>
        <p:nvSpPr>
          <p:cNvPr id="36" name="TextBox 35"/>
          <p:cNvSpPr txBox="1"/>
          <p:nvPr/>
        </p:nvSpPr>
        <p:spPr>
          <a:xfrm>
            <a:off x="2102688" y="2482785"/>
            <a:ext cx="1806977" cy="2554545"/>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t>Digital channels to build the connect</a:t>
            </a:r>
          </a:p>
          <a:p>
            <a:pPr marL="285750" indent="-285750">
              <a:buFont typeface="Arial" panose="020B0604020202020204" pitchFamily="34" charset="0"/>
              <a:buChar char="•"/>
            </a:pPr>
            <a:r>
              <a:rPr lang="en-IN" sz="1600" dirty="0"/>
              <a:t>Obtain more granular </a:t>
            </a:r>
            <a:r>
              <a:rPr lang="en-IN" sz="1600" dirty="0" smtClean="0"/>
              <a:t>data</a:t>
            </a:r>
          </a:p>
          <a:p>
            <a:pPr marL="285750" indent="-285750">
              <a:buFont typeface="Arial" panose="020B0604020202020204" pitchFamily="34" charset="0"/>
              <a:buChar char="•"/>
            </a:pPr>
            <a:r>
              <a:rPr lang="en-IN" sz="1600" dirty="0"/>
              <a:t>Implement analytical solution and build </a:t>
            </a:r>
            <a:r>
              <a:rPr lang="en-IN" sz="1600" dirty="0" smtClean="0"/>
              <a:t>relationships</a:t>
            </a:r>
            <a:endParaRPr lang="en-IN" sz="1600" dirty="0"/>
          </a:p>
        </p:txBody>
      </p:sp>
      <p:sp>
        <p:nvSpPr>
          <p:cNvPr id="26" name="Rectangle 25"/>
          <p:cNvSpPr/>
          <p:nvPr/>
        </p:nvSpPr>
        <p:spPr>
          <a:xfrm>
            <a:off x="479988" y="2584214"/>
            <a:ext cx="1282711" cy="11758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479987" y="3994167"/>
            <a:ext cx="1282711" cy="11316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Isosceles Triangle 10"/>
          <p:cNvSpPr/>
          <p:nvPr/>
        </p:nvSpPr>
        <p:spPr>
          <a:xfrm rot="10800000">
            <a:off x="581880" y="2383936"/>
            <a:ext cx="809664" cy="2060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Isosceles Triangle 31"/>
          <p:cNvSpPr/>
          <p:nvPr/>
        </p:nvSpPr>
        <p:spPr>
          <a:xfrm rot="10800000">
            <a:off x="581880" y="3760192"/>
            <a:ext cx="809664" cy="2060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Isosceles Triangle 32"/>
          <p:cNvSpPr/>
          <p:nvPr/>
        </p:nvSpPr>
        <p:spPr>
          <a:xfrm rot="10800000">
            <a:off x="576919" y="5128039"/>
            <a:ext cx="809664" cy="2318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Elbow Connector 12"/>
          <p:cNvCxnSpPr>
            <a:stCxn id="3" idx="3"/>
            <a:endCxn id="1030" idx="3"/>
          </p:cNvCxnSpPr>
          <p:nvPr/>
        </p:nvCxnSpPr>
        <p:spPr>
          <a:xfrm flipH="1">
            <a:off x="1762698" y="1794672"/>
            <a:ext cx="3" cy="4005040"/>
          </a:xfrm>
          <a:prstGeom prst="bentConnector3">
            <a:avLst>
              <a:gd name="adj1" fmla="val -76200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27" idx="3"/>
            <a:endCxn id="1032" idx="3"/>
          </p:cNvCxnSpPr>
          <p:nvPr/>
        </p:nvCxnSpPr>
        <p:spPr>
          <a:xfrm flipV="1">
            <a:off x="1762698" y="1794016"/>
            <a:ext cx="3" cy="2765964"/>
          </a:xfrm>
          <a:prstGeom prst="bentConnector3">
            <a:avLst>
              <a:gd name="adj1" fmla="val 76201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049297" y="1094704"/>
            <a:ext cx="0" cy="5151551"/>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35" name="Isosceles Triangle 34"/>
          <p:cNvSpPr/>
          <p:nvPr/>
        </p:nvSpPr>
        <p:spPr>
          <a:xfrm rot="5400000">
            <a:off x="1737816" y="3463586"/>
            <a:ext cx="4937785" cy="42148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p:cNvSpPr txBox="1"/>
          <p:nvPr/>
        </p:nvSpPr>
        <p:spPr>
          <a:xfrm>
            <a:off x="4212581" y="1249706"/>
            <a:ext cx="3284112" cy="646331"/>
          </a:xfrm>
          <a:prstGeom prst="rect">
            <a:avLst/>
          </a:prstGeom>
          <a:noFill/>
        </p:spPr>
        <p:txBody>
          <a:bodyPr wrap="square" rtlCol="0">
            <a:spAutoFit/>
          </a:bodyPr>
          <a:lstStyle/>
          <a:p>
            <a:pPr algn="ctr"/>
            <a:r>
              <a:rPr lang="en-IN" b="1" dirty="0" smtClean="0"/>
              <a:t>Driving deeper engagement with retailers…..</a:t>
            </a:r>
            <a:endParaRPr lang="en-IN" b="1" dirty="0"/>
          </a:p>
        </p:txBody>
      </p:sp>
      <p:sp>
        <p:nvSpPr>
          <p:cNvPr id="44" name="TextBox 43"/>
          <p:cNvSpPr txBox="1"/>
          <p:nvPr/>
        </p:nvSpPr>
        <p:spPr>
          <a:xfrm>
            <a:off x="8290449" y="1302686"/>
            <a:ext cx="3284112" cy="369332"/>
          </a:xfrm>
          <a:prstGeom prst="rect">
            <a:avLst/>
          </a:prstGeom>
          <a:noFill/>
        </p:spPr>
        <p:txBody>
          <a:bodyPr wrap="square" rtlCol="0">
            <a:spAutoFit/>
          </a:bodyPr>
          <a:lstStyle/>
          <a:p>
            <a:pPr algn="ctr"/>
            <a:r>
              <a:rPr lang="en-IN" b="1" dirty="0" smtClean="0"/>
              <a:t>…. </a:t>
            </a:r>
            <a:r>
              <a:rPr lang="en-IN" b="1" dirty="0"/>
              <a:t>a</a:t>
            </a:r>
            <a:r>
              <a:rPr lang="en-IN" b="1" dirty="0" smtClean="0"/>
              <a:t>nd farmers</a:t>
            </a:r>
            <a:endParaRPr lang="en-IN" b="1" dirty="0"/>
          </a:p>
        </p:txBody>
      </p:sp>
      <p:sp>
        <p:nvSpPr>
          <p:cNvPr id="39" name="Rectangle 38"/>
          <p:cNvSpPr/>
          <p:nvPr/>
        </p:nvSpPr>
        <p:spPr>
          <a:xfrm>
            <a:off x="4726546" y="2086377"/>
            <a:ext cx="2936384" cy="744705"/>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Sales forecast</a:t>
            </a:r>
          </a:p>
          <a:p>
            <a:pPr marL="285750" indent="-285750">
              <a:buFont typeface="Wingdings" panose="05000000000000000000" pitchFamily="2" charset="2"/>
              <a:buChar char="§"/>
            </a:pPr>
            <a:r>
              <a:rPr lang="en-IN" sz="1400" dirty="0" smtClean="0">
                <a:solidFill>
                  <a:schemeClr val="tx1"/>
                </a:solidFill>
              </a:rPr>
              <a:t>Weather and related crop data to aid sales</a:t>
            </a:r>
            <a:endParaRPr lang="en-IN" sz="1400" dirty="0">
              <a:solidFill>
                <a:schemeClr val="tx1"/>
              </a:solidFill>
            </a:endParaRPr>
          </a:p>
        </p:txBody>
      </p:sp>
      <p:sp>
        <p:nvSpPr>
          <p:cNvPr id="46" name="Rectangle 45"/>
          <p:cNvSpPr/>
          <p:nvPr/>
        </p:nvSpPr>
        <p:spPr>
          <a:xfrm>
            <a:off x="4741759" y="3049262"/>
            <a:ext cx="2936384" cy="744705"/>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List of prospects in the catchment</a:t>
            </a:r>
          </a:p>
          <a:p>
            <a:pPr marL="285750" indent="-285750">
              <a:buFont typeface="Wingdings" panose="05000000000000000000" pitchFamily="2" charset="2"/>
              <a:buChar char="§"/>
            </a:pPr>
            <a:r>
              <a:rPr lang="en-IN" sz="1400" dirty="0" smtClean="0">
                <a:solidFill>
                  <a:schemeClr val="tx1"/>
                </a:solidFill>
              </a:rPr>
              <a:t>List of possible cross sell from existing customers</a:t>
            </a:r>
            <a:endParaRPr lang="en-IN" sz="1400" dirty="0">
              <a:solidFill>
                <a:schemeClr val="tx1"/>
              </a:solidFill>
            </a:endParaRPr>
          </a:p>
        </p:txBody>
      </p:sp>
      <p:sp>
        <p:nvSpPr>
          <p:cNvPr id="47" name="Rectangle 46"/>
          <p:cNvSpPr/>
          <p:nvPr/>
        </p:nvSpPr>
        <p:spPr>
          <a:xfrm>
            <a:off x="4726546" y="4012147"/>
            <a:ext cx="2936384" cy="744705"/>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Inventory management </a:t>
            </a:r>
          </a:p>
          <a:p>
            <a:pPr marL="285750" indent="-285750">
              <a:buFont typeface="Wingdings" panose="05000000000000000000" pitchFamily="2" charset="2"/>
              <a:buChar char="§"/>
            </a:pPr>
            <a:r>
              <a:rPr lang="en-IN" sz="1400" dirty="0" smtClean="0">
                <a:solidFill>
                  <a:schemeClr val="tx1"/>
                </a:solidFill>
              </a:rPr>
              <a:t>Cash flow management </a:t>
            </a:r>
            <a:endParaRPr lang="en-IN" sz="1400" dirty="0">
              <a:solidFill>
                <a:schemeClr val="tx1"/>
              </a:solidFill>
            </a:endParaRPr>
          </a:p>
        </p:txBody>
      </p:sp>
      <p:sp>
        <p:nvSpPr>
          <p:cNvPr id="48" name="Rectangle 47"/>
          <p:cNvSpPr/>
          <p:nvPr/>
        </p:nvSpPr>
        <p:spPr>
          <a:xfrm>
            <a:off x="4726546" y="4975031"/>
            <a:ext cx="2936384" cy="744705"/>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Marketing activity</a:t>
            </a:r>
          </a:p>
          <a:p>
            <a:pPr marL="285750" indent="-285750">
              <a:buFont typeface="Wingdings" panose="05000000000000000000" pitchFamily="2" charset="2"/>
              <a:buChar char="§"/>
            </a:pPr>
            <a:r>
              <a:rPr lang="en-IN" sz="1400" dirty="0" smtClean="0">
                <a:solidFill>
                  <a:schemeClr val="tx1"/>
                </a:solidFill>
              </a:rPr>
              <a:t>Effective customer engagement</a:t>
            </a:r>
            <a:endParaRPr lang="en-IN" sz="1400" dirty="0">
              <a:solidFill>
                <a:schemeClr val="tx1"/>
              </a:solidFill>
            </a:endParaRPr>
          </a:p>
        </p:txBody>
      </p:sp>
      <p:sp>
        <p:nvSpPr>
          <p:cNvPr id="49" name="Rectangle 48"/>
          <p:cNvSpPr/>
          <p:nvPr/>
        </p:nvSpPr>
        <p:spPr>
          <a:xfrm>
            <a:off x="8461481" y="3023350"/>
            <a:ext cx="3469565" cy="744705"/>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End customer empowerment</a:t>
            </a:r>
          </a:p>
          <a:p>
            <a:pPr marL="285750" indent="-285750">
              <a:buFont typeface="Wingdings" panose="05000000000000000000" pitchFamily="2" charset="2"/>
              <a:buChar char="§"/>
            </a:pPr>
            <a:r>
              <a:rPr lang="en-IN" sz="1400" dirty="0" smtClean="0">
                <a:solidFill>
                  <a:schemeClr val="tx1"/>
                </a:solidFill>
              </a:rPr>
              <a:t>Knowledge dissipation</a:t>
            </a:r>
            <a:endParaRPr lang="en-IN" sz="1400" dirty="0">
              <a:solidFill>
                <a:schemeClr val="tx1"/>
              </a:solidFill>
            </a:endParaRPr>
          </a:p>
        </p:txBody>
      </p:sp>
      <p:sp>
        <p:nvSpPr>
          <p:cNvPr id="50" name="Rectangle 49"/>
          <p:cNvSpPr/>
          <p:nvPr/>
        </p:nvSpPr>
        <p:spPr>
          <a:xfrm>
            <a:off x="8461481" y="3936268"/>
            <a:ext cx="3469565" cy="615856"/>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Ongoing engagement – as the product is an infrequently purchased category</a:t>
            </a:r>
            <a:endParaRPr lang="en-IN" sz="1400" dirty="0">
              <a:solidFill>
                <a:schemeClr val="tx1"/>
              </a:solidFill>
            </a:endParaRPr>
          </a:p>
        </p:txBody>
      </p:sp>
      <p:sp>
        <p:nvSpPr>
          <p:cNvPr id="51" name="Rectangle 50"/>
          <p:cNvSpPr/>
          <p:nvPr/>
        </p:nvSpPr>
        <p:spPr>
          <a:xfrm>
            <a:off x="8461480" y="4720337"/>
            <a:ext cx="3469565" cy="603784"/>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Cross-sell and up-sell potential assessment</a:t>
            </a:r>
            <a:endParaRPr lang="en-IN" sz="1400" dirty="0">
              <a:solidFill>
                <a:schemeClr val="tx1"/>
              </a:solidFill>
            </a:endParaRPr>
          </a:p>
        </p:txBody>
      </p:sp>
      <p:sp>
        <p:nvSpPr>
          <p:cNvPr id="52" name="Rectangle 51"/>
          <p:cNvSpPr/>
          <p:nvPr/>
        </p:nvSpPr>
        <p:spPr>
          <a:xfrm>
            <a:off x="8461480" y="2110432"/>
            <a:ext cx="3469565" cy="744705"/>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Product usage tips </a:t>
            </a:r>
          </a:p>
          <a:p>
            <a:pPr marL="285750" indent="-285750">
              <a:buFont typeface="Wingdings" panose="05000000000000000000" pitchFamily="2" charset="2"/>
              <a:buChar char="§"/>
            </a:pPr>
            <a:r>
              <a:rPr lang="en-IN" sz="1400" dirty="0" smtClean="0">
                <a:solidFill>
                  <a:schemeClr val="tx1"/>
                </a:solidFill>
              </a:rPr>
              <a:t>Bundled solution selling – fencing solution</a:t>
            </a:r>
            <a:endParaRPr lang="en-IN" sz="1400" dirty="0">
              <a:solidFill>
                <a:schemeClr val="tx1"/>
              </a:solidFill>
            </a:endParaRPr>
          </a:p>
        </p:txBody>
      </p:sp>
      <p:sp>
        <p:nvSpPr>
          <p:cNvPr id="53" name="Rectangle 52"/>
          <p:cNvSpPr/>
          <p:nvPr/>
        </p:nvSpPr>
        <p:spPr>
          <a:xfrm>
            <a:off x="8461480" y="5492335"/>
            <a:ext cx="3469565" cy="603784"/>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400" dirty="0" smtClean="0">
                <a:solidFill>
                  <a:schemeClr val="tx1"/>
                </a:solidFill>
              </a:rPr>
              <a:t>Tata for farmers – integrated </a:t>
            </a:r>
            <a:r>
              <a:rPr lang="en-IN" sz="1400" dirty="0" err="1" smtClean="0">
                <a:solidFill>
                  <a:schemeClr val="tx1"/>
                </a:solidFill>
              </a:rPr>
              <a:t>agri</a:t>
            </a:r>
            <a:r>
              <a:rPr lang="en-IN" sz="1400" dirty="0" smtClean="0">
                <a:solidFill>
                  <a:schemeClr val="tx1"/>
                </a:solidFill>
              </a:rPr>
              <a:t> and rural consumption solution</a:t>
            </a:r>
            <a:endParaRPr lang="en-IN" sz="1400" dirty="0">
              <a:solidFill>
                <a:schemeClr val="tx1"/>
              </a:solidFill>
            </a:endParaRPr>
          </a:p>
        </p:txBody>
      </p:sp>
      <p:sp>
        <p:nvSpPr>
          <p:cNvPr id="54" name="Rectangle 53"/>
          <p:cNvSpPr/>
          <p:nvPr/>
        </p:nvSpPr>
        <p:spPr>
          <a:xfrm>
            <a:off x="-6899" y="639626"/>
            <a:ext cx="12198899" cy="50792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Leverage digital channels to establish one-to-one connect and leverage the power of analytics &amp; recommendation to become the trusted advisor</a:t>
            </a:r>
            <a:endParaRPr lang="en-IN" b="1" i="1" dirty="0"/>
          </a:p>
        </p:txBody>
      </p:sp>
    </p:spTree>
    <p:extLst>
      <p:ext uri="{BB962C8B-B14F-4D97-AF65-F5344CB8AC3E}">
        <p14:creationId xmlns:p14="http://schemas.microsoft.com/office/powerpoint/2010/main" val="3839537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0" y="237504"/>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283463" y="291779"/>
              <a:ext cx="5625131"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Global best practice: John Deere</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7</a:t>
            </a:fld>
            <a:endParaRPr lang="en-IN" sz="1800" kern="0" dirty="0">
              <a:solidFill>
                <a:srgbClr val="000000">
                  <a:tint val="75000"/>
                </a:srgbClr>
              </a:solidFill>
            </a:endParaRPr>
          </a:p>
        </p:txBody>
      </p:sp>
      <p:sp>
        <p:nvSpPr>
          <p:cNvPr id="3" name="Rectangle 2"/>
          <p:cNvSpPr/>
          <p:nvPr/>
        </p:nvSpPr>
        <p:spPr>
          <a:xfrm>
            <a:off x="48271" y="5688524"/>
            <a:ext cx="5152882" cy="646331"/>
          </a:xfrm>
          <a:prstGeom prst="rect">
            <a:avLst/>
          </a:prstGeom>
        </p:spPr>
        <p:txBody>
          <a:bodyPr wrap="square">
            <a:spAutoFit/>
          </a:bodyPr>
          <a:lstStyle/>
          <a:p>
            <a:r>
              <a:rPr lang="en-IN" dirty="0" smtClean="0"/>
              <a:t>John Deere’s Vision for the future of Farming : https</a:t>
            </a:r>
            <a:r>
              <a:rPr lang="en-IN" dirty="0"/>
              <a:t>://youtu.be/jEh5-zZ9jUg</a:t>
            </a:r>
          </a:p>
        </p:txBody>
      </p:sp>
      <p:pic>
        <p:nvPicPr>
          <p:cNvPr id="10" name="Picture 9"/>
          <p:cNvPicPr>
            <a:picLocks noChangeAspect="1"/>
          </p:cNvPicPr>
          <p:nvPr/>
        </p:nvPicPr>
        <p:blipFill>
          <a:blip r:embed="rId3">
            <a:biLevel thresh="25000"/>
          </a:blip>
          <a:stretch>
            <a:fillRect/>
          </a:stretch>
        </p:blipFill>
        <p:spPr>
          <a:xfrm>
            <a:off x="2697033" y="1090689"/>
            <a:ext cx="789230" cy="749484"/>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8763" y="4367168"/>
            <a:ext cx="1095832" cy="1095832"/>
          </a:xfrm>
          <a:prstGeom prst="rect">
            <a:avLst/>
          </a:prstGeom>
        </p:spPr>
      </p:pic>
      <p:pic>
        <p:nvPicPr>
          <p:cNvPr id="13" name="Picture 12"/>
          <p:cNvPicPr>
            <a:picLocks noChangeAspect="1"/>
          </p:cNvPicPr>
          <p:nvPr/>
        </p:nvPicPr>
        <p:blipFill rotWithShape="1">
          <a:blip r:embed="rId5">
            <a:extLst>
              <a:ext uri="{28A0092B-C50C-407E-A947-70E740481C1C}">
                <a14:useLocalDpi xmlns:a14="http://schemas.microsoft.com/office/drawing/2010/main" val="0"/>
              </a:ext>
            </a:extLst>
          </a:blip>
          <a:srcRect l="8378" t="7517" r="8698" b="8303"/>
          <a:stretch/>
        </p:blipFill>
        <p:spPr>
          <a:xfrm>
            <a:off x="761742" y="3572707"/>
            <a:ext cx="900752" cy="914400"/>
          </a:xfrm>
          <a:prstGeom prst="rect">
            <a:avLst/>
          </a:prstGeom>
        </p:spPr>
      </p:pic>
      <p:pic>
        <p:nvPicPr>
          <p:cNvPr id="3080" name="Picture 8" descr="Image result for farm field icon 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9951" y="3526055"/>
            <a:ext cx="904540" cy="90454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lated image"/>
          <p:cNvPicPr>
            <a:picLocks noChangeAspect="1" noChangeArrowheads="1"/>
          </p:cNvPicPr>
          <p:nvPr/>
        </p:nvPicPr>
        <p:blipFill>
          <a:blip r:embed="rId7">
            <a:biLevel thresh="75000"/>
            <a:extLst>
              <a:ext uri="{28A0092B-C50C-407E-A947-70E740481C1C}">
                <a14:useLocalDpi xmlns:a14="http://schemas.microsoft.com/office/drawing/2010/main" val="0"/>
              </a:ext>
            </a:extLst>
          </a:blip>
          <a:srcRect/>
          <a:stretch>
            <a:fillRect/>
          </a:stretch>
        </p:blipFill>
        <p:spPr bwMode="auto">
          <a:xfrm>
            <a:off x="4304937" y="1623262"/>
            <a:ext cx="1153528" cy="1131057"/>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Image result for weather icon vector 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1355" y="1727447"/>
            <a:ext cx="1249098" cy="1249098"/>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Image result for data ico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02826" y="2779740"/>
            <a:ext cx="561617" cy="561617"/>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Image result for data icon"/>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00947" y="2667420"/>
            <a:ext cx="618249" cy="61824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554345" y="2807267"/>
            <a:ext cx="1367362" cy="338554"/>
          </a:xfrm>
          <a:prstGeom prst="rect">
            <a:avLst/>
          </a:prstGeom>
          <a:noFill/>
        </p:spPr>
        <p:txBody>
          <a:bodyPr wrap="none" rtlCol="0">
            <a:spAutoFit/>
          </a:bodyPr>
          <a:lstStyle/>
          <a:p>
            <a:r>
              <a:rPr lang="en-IN" sz="1600" b="1" dirty="0" smtClean="0"/>
              <a:t>Weather Data</a:t>
            </a:r>
            <a:endParaRPr lang="en-IN" sz="1600" b="1" dirty="0"/>
          </a:p>
        </p:txBody>
      </p:sp>
      <p:sp>
        <p:nvSpPr>
          <p:cNvPr id="25" name="TextBox 24"/>
          <p:cNvSpPr txBox="1"/>
          <p:nvPr/>
        </p:nvSpPr>
        <p:spPr>
          <a:xfrm>
            <a:off x="529630" y="4564832"/>
            <a:ext cx="1642886" cy="338554"/>
          </a:xfrm>
          <a:prstGeom prst="rect">
            <a:avLst/>
          </a:prstGeom>
          <a:noFill/>
        </p:spPr>
        <p:txBody>
          <a:bodyPr wrap="none" rtlCol="0">
            <a:spAutoFit/>
          </a:bodyPr>
          <a:lstStyle/>
          <a:p>
            <a:r>
              <a:rPr lang="en-IN" sz="1600" b="1" dirty="0" smtClean="0"/>
              <a:t>Fleet &amp; Fuel Data</a:t>
            </a:r>
            <a:endParaRPr lang="en-IN" sz="1600" b="1" dirty="0"/>
          </a:p>
        </p:txBody>
      </p:sp>
      <p:sp>
        <p:nvSpPr>
          <p:cNvPr id="26" name="TextBox 25"/>
          <p:cNvSpPr txBox="1"/>
          <p:nvPr/>
        </p:nvSpPr>
        <p:spPr>
          <a:xfrm>
            <a:off x="2340351" y="1807795"/>
            <a:ext cx="1431867" cy="338554"/>
          </a:xfrm>
          <a:prstGeom prst="rect">
            <a:avLst/>
          </a:prstGeom>
          <a:noFill/>
        </p:spPr>
        <p:txBody>
          <a:bodyPr wrap="none" rtlCol="0">
            <a:spAutoFit/>
          </a:bodyPr>
          <a:lstStyle/>
          <a:p>
            <a:r>
              <a:rPr lang="en-IN" sz="1600" b="1" dirty="0" smtClean="0"/>
              <a:t>Farmland Data</a:t>
            </a:r>
            <a:endParaRPr lang="en-IN" sz="1600" b="1" dirty="0"/>
          </a:p>
        </p:txBody>
      </p:sp>
      <p:sp>
        <p:nvSpPr>
          <p:cNvPr id="27" name="TextBox 26"/>
          <p:cNvSpPr txBox="1"/>
          <p:nvPr/>
        </p:nvSpPr>
        <p:spPr>
          <a:xfrm>
            <a:off x="4304937" y="2868255"/>
            <a:ext cx="1292533" cy="338554"/>
          </a:xfrm>
          <a:prstGeom prst="rect">
            <a:avLst/>
          </a:prstGeom>
          <a:noFill/>
        </p:spPr>
        <p:txBody>
          <a:bodyPr wrap="none" rtlCol="0">
            <a:spAutoFit/>
          </a:bodyPr>
          <a:lstStyle/>
          <a:p>
            <a:r>
              <a:rPr lang="en-IN" sz="1600" b="1" dirty="0" smtClean="0"/>
              <a:t>Soil Statistics</a:t>
            </a:r>
            <a:endParaRPr lang="en-IN" sz="1600" b="1" dirty="0"/>
          </a:p>
        </p:txBody>
      </p:sp>
      <p:sp>
        <p:nvSpPr>
          <p:cNvPr id="28" name="TextBox 27"/>
          <p:cNvSpPr txBox="1"/>
          <p:nvPr/>
        </p:nvSpPr>
        <p:spPr>
          <a:xfrm>
            <a:off x="4150865" y="4490148"/>
            <a:ext cx="1050288" cy="338554"/>
          </a:xfrm>
          <a:prstGeom prst="rect">
            <a:avLst/>
          </a:prstGeom>
          <a:noFill/>
        </p:spPr>
        <p:txBody>
          <a:bodyPr wrap="none" rtlCol="0">
            <a:spAutoFit/>
          </a:bodyPr>
          <a:lstStyle/>
          <a:p>
            <a:r>
              <a:rPr lang="en-IN" sz="1600" b="1" dirty="0" smtClean="0"/>
              <a:t>Crop Stats</a:t>
            </a:r>
            <a:endParaRPr lang="en-IN" sz="1600" b="1" dirty="0"/>
          </a:p>
        </p:txBody>
      </p:sp>
      <p:sp>
        <p:nvSpPr>
          <p:cNvPr id="29" name="TextBox 28"/>
          <p:cNvSpPr txBox="1"/>
          <p:nvPr/>
        </p:nvSpPr>
        <p:spPr>
          <a:xfrm>
            <a:off x="2318609" y="3374515"/>
            <a:ext cx="1594026" cy="338554"/>
          </a:xfrm>
          <a:prstGeom prst="rect">
            <a:avLst/>
          </a:prstGeom>
          <a:noFill/>
        </p:spPr>
        <p:txBody>
          <a:bodyPr wrap="none" rtlCol="0">
            <a:spAutoFit/>
          </a:bodyPr>
          <a:lstStyle/>
          <a:p>
            <a:r>
              <a:rPr lang="en-IN" sz="1600" b="1" dirty="0" smtClean="0"/>
              <a:t>Data &amp; Analytics</a:t>
            </a:r>
            <a:endParaRPr lang="en-IN" sz="1600" b="1" dirty="0"/>
          </a:p>
        </p:txBody>
      </p:sp>
      <p:cxnSp>
        <p:nvCxnSpPr>
          <p:cNvPr id="21" name="Straight Arrow Connector 20"/>
          <p:cNvCxnSpPr/>
          <p:nvPr/>
        </p:nvCxnSpPr>
        <p:spPr>
          <a:xfrm>
            <a:off x="1910058" y="2457338"/>
            <a:ext cx="369205" cy="383623"/>
          </a:xfrm>
          <a:prstGeom prst="straightConnector1">
            <a:avLst/>
          </a:prstGeom>
          <a:ln w="28575">
            <a:prstDash val="dash"/>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p:nvPr/>
        </p:nvCxnSpPr>
        <p:spPr>
          <a:xfrm flipV="1">
            <a:off x="1800931" y="3481583"/>
            <a:ext cx="434898" cy="373743"/>
          </a:xfrm>
          <a:prstGeom prst="straightConnector1">
            <a:avLst/>
          </a:prstGeom>
          <a:ln w="28575">
            <a:prstDash val="dash"/>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p:nvPr/>
        </p:nvCxnSpPr>
        <p:spPr>
          <a:xfrm flipH="1">
            <a:off x="3912139" y="2451889"/>
            <a:ext cx="400864" cy="323733"/>
          </a:xfrm>
          <a:prstGeom prst="straightConnector1">
            <a:avLst/>
          </a:prstGeom>
          <a:ln w="28575">
            <a:prstDash val="dash"/>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p:nvPr/>
        </p:nvCxnSpPr>
        <p:spPr>
          <a:xfrm flipH="1" flipV="1">
            <a:off x="3896616" y="3740672"/>
            <a:ext cx="408321" cy="507747"/>
          </a:xfrm>
          <a:prstGeom prst="straightConnector1">
            <a:avLst/>
          </a:prstGeom>
          <a:ln w="28575">
            <a:prstDash val="dash"/>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p:cNvCxnSpPr/>
          <p:nvPr/>
        </p:nvCxnSpPr>
        <p:spPr>
          <a:xfrm flipH="1">
            <a:off x="3100947" y="2128156"/>
            <a:ext cx="0" cy="478503"/>
          </a:xfrm>
          <a:prstGeom prst="straightConnector1">
            <a:avLst/>
          </a:prstGeom>
          <a:ln w="28575">
            <a:prstDash val="dash"/>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p:cNvCxnSpPr/>
          <p:nvPr/>
        </p:nvCxnSpPr>
        <p:spPr>
          <a:xfrm flipH="1">
            <a:off x="2964443" y="3781650"/>
            <a:ext cx="0" cy="478503"/>
          </a:xfrm>
          <a:prstGeom prst="straightConnector1">
            <a:avLst/>
          </a:prstGeom>
          <a:ln w="28575">
            <a:prstDash val="dash"/>
            <a:tailEnd type="triangle"/>
          </a:ln>
        </p:spPr>
        <p:style>
          <a:lnRef idx="3">
            <a:schemeClr val="dk1"/>
          </a:lnRef>
          <a:fillRef idx="0">
            <a:schemeClr val="dk1"/>
          </a:fillRef>
          <a:effectRef idx="2">
            <a:schemeClr val="dk1"/>
          </a:effectRef>
          <a:fontRef idx="minor">
            <a:schemeClr val="tx1"/>
          </a:fontRef>
        </p:style>
      </p:cxnSp>
      <p:sp>
        <p:nvSpPr>
          <p:cNvPr id="35" name="Rectangle 34"/>
          <p:cNvSpPr/>
          <p:nvPr/>
        </p:nvSpPr>
        <p:spPr>
          <a:xfrm>
            <a:off x="2318609" y="2635632"/>
            <a:ext cx="1550096" cy="1105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p:cNvSpPr txBox="1"/>
          <p:nvPr/>
        </p:nvSpPr>
        <p:spPr>
          <a:xfrm>
            <a:off x="5546126" y="1166761"/>
            <a:ext cx="6358997" cy="5355312"/>
          </a:xfrm>
          <a:prstGeom prst="rect">
            <a:avLst/>
          </a:prstGeom>
          <a:noFill/>
        </p:spPr>
        <p:txBody>
          <a:bodyPr wrap="square" rtlCol="0">
            <a:spAutoFit/>
          </a:bodyPr>
          <a:lstStyle/>
          <a:p>
            <a:pPr marL="285750" indent="-285750">
              <a:buFont typeface="Arial" panose="020B0604020202020204" pitchFamily="34" charset="0"/>
              <a:buChar char="•"/>
            </a:pPr>
            <a:r>
              <a:rPr lang="en-IN" dirty="0" smtClean="0"/>
              <a:t>John Deere has released several products which connect its equipment with each other as well as with owners, operators, dealers &amp; agricultural consultants.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This includes sensor data from its portfolio of farming equipment along with historical &amp; real-time data from third party sources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Information is collated, analysed through tools such as R and exported to different channels for consumption such as : </a:t>
            </a:r>
          </a:p>
          <a:p>
            <a:pPr marL="742950" lvl="1" indent="-285750">
              <a:buFont typeface="Wingdings" panose="05000000000000000000" pitchFamily="2" charset="2"/>
              <a:buChar char="ü"/>
            </a:pPr>
            <a:r>
              <a:rPr lang="en-IN" b="1" dirty="0" smtClean="0"/>
              <a:t>MyJohnDeere.com</a:t>
            </a:r>
            <a:r>
              <a:rPr lang="en-IN" dirty="0" smtClean="0"/>
              <a:t> portal for fleet, weather, machine data and financial farming information </a:t>
            </a:r>
          </a:p>
          <a:p>
            <a:pPr marL="742950" lvl="1" indent="-285750">
              <a:buFont typeface="Wingdings" panose="05000000000000000000" pitchFamily="2" charset="2"/>
              <a:buChar char="ü"/>
            </a:pPr>
            <a:endParaRPr lang="en-IN" dirty="0"/>
          </a:p>
          <a:p>
            <a:pPr marL="742950" lvl="1" indent="-285750">
              <a:buFont typeface="Wingdings" panose="05000000000000000000" pitchFamily="2" charset="2"/>
              <a:buChar char="ü"/>
            </a:pPr>
            <a:r>
              <a:rPr lang="en-IN" b="1" dirty="0" smtClean="0"/>
              <a:t>FarmSight</a:t>
            </a:r>
            <a:r>
              <a:rPr lang="en-IN" dirty="0" smtClean="0"/>
              <a:t> which monitors productivity, efficiency, farming logistics &amp; gives decision support solutions</a:t>
            </a:r>
          </a:p>
          <a:p>
            <a:pPr marL="742950" lvl="1" indent="-285750">
              <a:buFont typeface="Wingdings" panose="05000000000000000000" pitchFamily="2" charset="2"/>
              <a:buChar char="ü"/>
            </a:pPr>
            <a:endParaRPr lang="en-IN" dirty="0"/>
          </a:p>
          <a:p>
            <a:pPr marL="742950" lvl="1" indent="-285750">
              <a:buFont typeface="Wingdings" panose="05000000000000000000" pitchFamily="2" charset="2"/>
              <a:buChar char="ü"/>
            </a:pPr>
            <a:r>
              <a:rPr lang="en-IN" dirty="0"/>
              <a:t>iPad and iPhone app </a:t>
            </a:r>
            <a:r>
              <a:rPr lang="en-IN" dirty="0" smtClean="0"/>
              <a:t> </a:t>
            </a:r>
            <a:r>
              <a:rPr lang="en-IN" b="1" dirty="0" smtClean="0"/>
              <a:t>Mobile farm manager </a:t>
            </a:r>
            <a:r>
              <a:rPr lang="en-IN" dirty="0"/>
              <a:t>for soil samples &amp; operations reports with remote access.</a:t>
            </a:r>
          </a:p>
          <a:p>
            <a:pPr marL="285750" indent="-285750">
              <a:buFont typeface="Arial" panose="020B0604020202020204" pitchFamily="34" charset="0"/>
              <a:buChar char="•"/>
            </a:pPr>
            <a:endParaRPr lang="en-IN" dirty="0"/>
          </a:p>
        </p:txBody>
      </p:sp>
      <p:sp>
        <p:nvSpPr>
          <p:cNvPr id="50" name="Rectangle 49"/>
          <p:cNvSpPr/>
          <p:nvPr/>
        </p:nvSpPr>
        <p:spPr>
          <a:xfrm>
            <a:off x="-6899" y="719894"/>
            <a:ext cx="12198899" cy="36257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John Deere is already enacting its vision for a totally digitized future for Farming &amp; is poised to reap first mover advantages</a:t>
            </a:r>
            <a:endParaRPr lang="en-IN" b="1" i="1" dirty="0"/>
          </a:p>
        </p:txBody>
      </p:sp>
    </p:spTree>
    <p:extLst>
      <p:ext uri="{BB962C8B-B14F-4D97-AF65-F5344CB8AC3E}">
        <p14:creationId xmlns:p14="http://schemas.microsoft.com/office/powerpoint/2010/main" val="16724848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0" y="237504"/>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278693" y="291779"/>
              <a:ext cx="563468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Start-ups and disrupters in India</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8</a:t>
            </a:fld>
            <a:endParaRPr lang="en-IN" sz="1800" kern="0" dirty="0">
              <a:solidFill>
                <a:srgbClr val="000000">
                  <a:tint val="75000"/>
                </a:srgbClr>
              </a:solidFill>
            </a:endParaRPr>
          </a:p>
        </p:txBody>
      </p:sp>
      <p:sp>
        <p:nvSpPr>
          <p:cNvPr id="3" name="Flowchart: Process 2"/>
          <p:cNvSpPr/>
          <p:nvPr/>
        </p:nvSpPr>
        <p:spPr>
          <a:xfrm>
            <a:off x="341195" y="1367762"/>
            <a:ext cx="2743200" cy="354842"/>
          </a:xfrm>
          <a:prstGeom prst="flowChartProces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smtClean="0"/>
              <a:t>DARe</a:t>
            </a:r>
            <a:endParaRPr lang="en-IN" b="1" dirty="0"/>
          </a:p>
        </p:txBody>
      </p:sp>
      <p:sp>
        <p:nvSpPr>
          <p:cNvPr id="10" name="Flowchart: Process 9"/>
          <p:cNvSpPr/>
          <p:nvPr/>
        </p:nvSpPr>
        <p:spPr>
          <a:xfrm>
            <a:off x="341195" y="1806764"/>
            <a:ext cx="2743200" cy="3979887"/>
          </a:xfrm>
          <a:prstGeom prst="flowChartProcess">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err="1">
                <a:solidFill>
                  <a:schemeClr val="tx1"/>
                </a:solidFill>
              </a:rPr>
              <a:t>DARe</a:t>
            </a:r>
            <a:r>
              <a:rPr lang="en-IN" sz="1400" b="1" dirty="0">
                <a:solidFill>
                  <a:schemeClr val="tx1"/>
                </a:solidFill>
              </a:rPr>
              <a:t>- Digital Agri. Rural</a:t>
            </a:r>
            <a:br>
              <a:rPr lang="en-IN" sz="1400" b="1" dirty="0">
                <a:solidFill>
                  <a:schemeClr val="tx1"/>
                </a:solidFill>
              </a:rPr>
            </a:br>
            <a:r>
              <a:rPr lang="en-IN" sz="1400" b="1" dirty="0" smtClean="0">
                <a:solidFill>
                  <a:schemeClr val="tx1"/>
                </a:solidFill>
              </a:rPr>
              <a:t>e-Marketing</a:t>
            </a:r>
            <a:r>
              <a:rPr lang="en-IN" sz="1400" dirty="0" smtClean="0">
                <a:solidFill>
                  <a:schemeClr val="tx1"/>
                </a:solidFill>
              </a:rPr>
              <a:t> incubated by T-Hub :  </a:t>
            </a:r>
          </a:p>
          <a:p>
            <a:pPr marL="285750" indent="-285750">
              <a:buFont typeface="Arial" panose="020B0604020202020204" pitchFamily="34" charset="0"/>
              <a:buChar char="•"/>
            </a:pPr>
            <a:r>
              <a:rPr lang="en-IN" sz="1400" dirty="0" smtClean="0">
                <a:solidFill>
                  <a:schemeClr val="tx1"/>
                </a:solidFill>
              </a:rPr>
              <a:t>cloud </a:t>
            </a:r>
            <a:r>
              <a:rPr lang="en-IN" sz="1400" dirty="0">
                <a:solidFill>
                  <a:schemeClr val="tx1"/>
                </a:solidFill>
              </a:rPr>
              <a:t>based application that will help </a:t>
            </a:r>
            <a:r>
              <a:rPr lang="en-IN" sz="1400" b="1" dirty="0">
                <a:solidFill>
                  <a:schemeClr val="tx1"/>
                </a:solidFill>
              </a:rPr>
              <a:t>connect large number of smallholder farmers with multiple </a:t>
            </a:r>
            <a:r>
              <a:rPr lang="en-IN" sz="1400" b="1" dirty="0" smtClean="0">
                <a:solidFill>
                  <a:schemeClr val="tx1"/>
                </a:solidFill>
              </a:rPr>
              <a:t>buyers</a:t>
            </a:r>
            <a:r>
              <a:rPr lang="en-IN" sz="1400" dirty="0" smtClean="0">
                <a:solidFill>
                  <a:schemeClr val="tx1"/>
                </a:solidFill>
              </a:rPr>
              <a:t>.</a:t>
            </a:r>
          </a:p>
          <a:p>
            <a:pPr marL="285750" indent="-285750">
              <a:buFont typeface="Arial" panose="020B0604020202020204" pitchFamily="34" charset="0"/>
              <a:buChar char="•"/>
            </a:pPr>
            <a:r>
              <a:rPr lang="en-IN" sz="1400" dirty="0" smtClean="0">
                <a:solidFill>
                  <a:schemeClr val="tx1"/>
                </a:solidFill>
              </a:rPr>
              <a:t>Helps in </a:t>
            </a:r>
            <a:r>
              <a:rPr lang="en-IN" sz="1400" dirty="0">
                <a:solidFill>
                  <a:schemeClr val="tx1"/>
                </a:solidFill>
              </a:rPr>
              <a:t>real-time price discovery using current </a:t>
            </a:r>
            <a:r>
              <a:rPr lang="en-IN" sz="1400" i="1" dirty="0">
                <a:solidFill>
                  <a:schemeClr val="tx1"/>
                </a:solidFill>
              </a:rPr>
              <a:t>e-</a:t>
            </a:r>
            <a:r>
              <a:rPr lang="en-IN" sz="1400" i="1" dirty="0" err="1">
                <a:solidFill>
                  <a:schemeClr val="tx1"/>
                </a:solidFill>
              </a:rPr>
              <a:t>mandi</a:t>
            </a:r>
            <a:r>
              <a:rPr lang="en-IN" sz="1400" dirty="0">
                <a:solidFill>
                  <a:schemeClr val="tx1"/>
                </a:solidFill>
              </a:rPr>
              <a:t> price, recent price trends, variety, and other quality parameters. </a:t>
            </a:r>
            <a:endParaRPr lang="en-IN" sz="1400" dirty="0" smtClean="0">
              <a:solidFill>
                <a:schemeClr val="tx1"/>
              </a:solidFill>
            </a:endParaRPr>
          </a:p>
          <a:p>
            <a:pPr marL="285750" indent="-285750">
              <a:buFont typeface="Arial" panose="020B0604020202020204" pitchFamily="34" charset="0"/>
              <a:buChar char="•"/>
            </a:pPr>
            <a:r>
              <a:rPr lang="en-IN" sz="1400" dirty="0" smtClean="0">
                <a:solidFill>
                  <a:schemeClr val="tx1"/>
                </a:solidFill>
              </a:rPr>
              <a:t>The </a:t>
            </a:r>
            <a:r>
              <a:rPr lang="en-IN" sz="1400" dirty="0">
                <a:solidFill>
                  <a:schemeClr val="tx1"/>
                </a:solidFill>
              </a:rPr>
              <a:t>application will also provide farmers location specific weather forecasts and information on technology providers in their locality.</a:t>
            </a:r>
          </a:p>
        </p:txBody>
      </p:sp>
      <p:sp>
        <p:nvSpPr>
          <p:cNvPr id="11" name="Flowchart: Process 10"/>
          <p:cNvSpPr/>
          <p:nvPr/>
        </p:nvSpPr>
        <p:spPr>
          <a:xfrm>
            <a:off x="3278692" y="1367105"/>
            <a:ext cx="2357833" cy="354842"/>
          </a:xfrm>
          <a:prstGeom prst="flowChartProces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Jayalaxmi </a:t>
            </a:r>
            <a:r>
              <a:rPr lang="en-IN" b="1" dirty="0" err="1" smtClean="0"/>
              <a:t>Agrotech</a:t>
            </a:r>
            <a:endParaRPr lang="en-IN" b="1" dirty="0"/>
          </a:p>
        </p:txBody>
      </p:sp>
      <p:sp>
        <p:nvSpPr>
          <p:cNvPr id="13" name="Flowchart: Process 12"/>
          <p:cNvSpPr/>
          <p:nvPr/>
        </p:nvSpPr>
        <p:spPr>
          <a:xfrm>
            <a:off x="3278692" y="1806107"/>
            <a:ext cx="2357833" cy="2255093"/>
          </a:xfrm>
          <a:prstGeom prst="flowChartProcess">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rPr>
              <a:t>Crop specific regional App provides comprehensive information to farmers </a:t>
            </a:r>
            <a:r>
              <a:rPr lang="en-IN" sz="1400" dirty="0" smtClean="0">
                <a:solidFill>
                  <a:schemeClr val="tx1"/>
                </a:solidFill>
              </a:rPr>
              <a:t>&amp; has been downloaded by 35K+ farmers.</a:t>
            </a:r>
          </a:p>
          <a:p>
            <a:pPr algn="ctr"/>
            <a:r>
              <a:rPr lang="en-IN" sz="1400" dirty="0" smtClean="0">
                <a:solidFill>
                  <a:schemeClr val="tx1"/>
                </a:solidFill>
              </a:rPr>
              <a:t>Data on sowing, transplantation, fertilizers, dosage, pest management, reminders of irrigation schedule</a:t>
            </a:r>
            <a:endParaRPr lang="en-IN" sz="1400" dirty="0">
              <a:solidFill>
                <a:schemeClr val="tx1"/>
              </a:solidFill>
            </a:endParaRPr>
          </a:p>
        </p:txBody>
      </p:sp>
      <p:sp>
        <p:nvSpPr>
          <p:cNvPr id="14" name="Flowchart: Process 13"/>
          <p:cNvSpPr/>
          <p:nvPr/>
        </p:nvSpPr>
        <p:spPr>
          <a:xfrm>
            <a:off x="341195" y="902601"/>
            <a:ext cx="2743200" cy="354842"/>
          </a:xfrm>
          <a:prstGeom prst="flowChartProcess">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Market Connect</a:t>
            </a:r>
            <a:endParaRPr lang="en-IN" b="1" dirty="0"/>
          </a:p>
        </p:txBody>
      </p:sp>
      <p:sp>
        <p:nvSpPr>
          <p:cNvPr id="16" name="Flowchart: Process 15"/>
          <p:cNvSpPr/>
          <p:nvPr/>
        </p:nvSpPr>
        <p:spPr>
          <a:xfrm>
            <a:off x="3278692" y="902601"/>
            <a:ext cx="4609716" cy="354842"/>
          </a:xfrm>
          <a:prstGeom prst="flowChartProcess">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Crop Decision Support</a:t>
            </a:r>
            <a:endParaRPr lang="en-IN" b="1" dirty="0"/>
          </a:p>
        </p:txBody>
      </p:sp>
      <p:sp>
        <p:nvSpPr>
          <p:cNvPr id="17" name="Flowchart: Process 16"/>
          <p:cNvSpPr/>
          <p:nvPr/>
        </p:nvSpPr>
        <p:spPr>
          <a:xfrm>
            <a:off x="5830822" y="1367105"/>
            <a:ext cx="2057585" cy="354842"/>
          </a:xfrm>
          <a:prstGeom prst="flowChartProces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RML </a:t>
            </a:r>
            <a:r>
              <a:rPr lang="en-IN" b="1" dirty="0" err="1" smtClean="0"/>
              <a:t>AgTech</a:t>
            </a:r>
            <a:endParaRPr lang="en-IN" b="1" dirty="0"/>
          </a:p>
        </p:txBody>
      </p:sp>
      <p:sp>
        <p:nvSpPr>
          <p:cNvPr id="18" name="Flowchart: Process 17"/>
          <p:cNvSpPr/>
          <p:nvPr/>
        </p:nvSpPr>
        <p:spPr>
          <a:xfrm>
            <a:off x="5830823" y="1806107"/>
            <a:ext cx="2057584" cy="2255093"/>
          </a:xfrm>
          <a:prstGeom prst="flowChartProcess">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rPr>
              <a:t>Downloaded by 3.3 MM farmers, 10K traders &amp; 30+ Institutional Clients  RML provides following</a:t>
            </a:r>
          </a:p>
          <a:p>
            <a:pPr algn="ctr"/>
            <a:r>
              <a:rPr lang="en-IN" sz="1400" dirty="0" smtClean="0">
                <a:solidFill>
                  <a:schemeClr val="tx1"/>
                </a:solidFill>
              </a:rPr>
              <a:t>RML Farmer : </a:t>
            </a:r>
            <a:r>
              <a:rPr lang="en-IN" sz="1400" b="1" dirty="0" smtClean="0">
                <a:solidFill>
                  <a:schemeClr val="tx1"/>
                </a:solidFill>
              </a:rPr>
              <a:t>Crop Decision Support</a:t>
            </a:r>
          </a:p>
          <a:p>
            <a:pPr algn="ctr"/>
            <a:r>
              <a:rPr lang="en-IN" sz="1400" dirty="0" smtClean="0">
                <a:solidFill>
                  <a:schemeClr val="tx1"/>
                </a:solidFill>
              </a:rPr>
              <a:t>RML Trader &amp; </a:t>
            </a:r>
            <a:r>
              <a:rPr lang="en-IN" sz="1400" dirty="0" err="1" smtClean="0">
                <a:solidFill>
                  <a:schemeClr val="tx1"/>
                </a:solidFill>
              </a:rPr>
              <a:t>REdge</a:t>
            </a:r>
            <a:r>
              <a:rPr lang="en-IN" sz="1400" dirty="0" smtClean="0">
                <a:solidFill>
                  <a:schemeClr val="tx1"/>
                </a:solidFill>
              </a:rPr>
              <a:t> : </a:t>
            </a:r>
            <a:r>
              <a:rPr lang="en-IN" sz="1400" b="1" dirty="0" smtClean="0">
                <a:solidFill>
                  <a:schemeClr val="tx1"/>
                </a:solidFill>
              </a:rPr>
              <a:t>Commodities Intelligence</a:t>
            </a:r>
            <a:r>
              <a:rPr lang="en-IN" sz="1400" dirty="0" smtClean="0">
                <a:solidFill>
                  <a:schemeClr val="tx1"/>
                </a:solidFill>
              </a:rPr>
              <a:t>, tracks market prices etc.</a:t>
            </a:r>
          </a:p>
        </p:txBody>
      </p:sp>
      <p:sp>
        <p:nvSpPr>
          <p:cNvPr id="19" name="Flowchart: Process 18"/>
          <p:cNvSpPr/>
          <p:nvPr/>
        </p:nvSpPr>
        <p:spPr>
          <a:xfrm>
            <a:off x="8082706" y="902601"/>
            <a:ext cx="3900025" cy="354842"/>
          </a:xfrm>
          <a:prstGeom prst="flowChartProcess">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Digital India Initiatives</a:t>
            </a:r>
            <a:endParaRPr lang="en-IN" b="1" dirty="0"/>
          </a:p>
        </p:txBody>
      </p:sp>
      <p:sp>
        <p:nvSpPr>
          <p:cNvPr id="20" name="Flowchart: Process 19"/>
          <p:cNvSpPr/>
          <p:nvPr/>
        </p:nvSpPr>
        <p:spPr>
          <a:xfrm>
            <a:off x="3278691" y="4525704"/>
            <a:ext cx="8704042" cy="354842"/>
          </a:xfrm>
          <a:prstGeom prst="flowChartProcess">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Market Place Platform</a:t>
            </a:r>
            <a:endParaRPr lang="en-IN" b="1" dirty="0"/>
          </a:p>
        </p:txBody>
      </p:sp>
      <p:sp>
        <p:nvSpPr>
          <p:cNvPr id="21" name="Flowchart: Process 20"/>
          <p:cNvSpPr/>
          <p:nvPr/>
        </p:nvSpPr>
        <p:spPr>
          <a:xfrm>
            <a:off x="3278690" y="5377265"/>
            <a:ext cx="8704043" cy="805171"/>
          </a:xfrm>
          <a:prstGeom prst="flowChartProcess">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smtClean="0">
                <a:solidFill>
                  <a:schemeClr val="tx1"/>
                </a:solidFill>
              </a:rPr>
              <a:t>Platform for </a:t>
            </a:r>
            <a:r>
              <a:rPr lang="en-IN" sz="1400" b="1" dirty="0" smtClean="0">
                <a:solidFill>
                  <a:schemeClr val="tx1"/>
                </a:solidFill>
              </a:rPr>
              <a:t>directly </a:t>
            </a:r>
            <a:r>
              <a:rPr lang="en-IN" sz="1400" b="1" dirty="0">
                <a:solidFill>
                  <a:schemeClr val="tx1"/>
                </a:solidFill>
              </a:rPr>
              <a:t>selling </a:t>
            </a:r>
            <a:r>
              <a:rPr lang="en-IN" sz="1400" b="1" dirty="0" smtClean="0">
                <a:solidFill>
                  <a:schemeClr val="tx1"/>
                </a:solidFill>
              </a:rPr>
              <a:t>produce </a:t>
            </a:r>
            <a:r>
              <a:rPr lang="en-IN" sz="1400" b="1" dirty="0">
                <a:solidFill>
                  <a:schemeClr val="tx1"/>
                </a:solidFill>
              </a:rPr>
              <a:t>to agri-businesses </a:t>
            </a:r>
            <a:r>
              <a:rPr lang="en-IN" sz="1400" b="1" dirty="0" smtClean="0">
                <a:solidFill>
                  <a:schemeClr val="tx1"/>
                </a:solidFill>
              </a:rPr>
              <a:t>and for </a:t>
            </a:r>
            <a:r>
              <a:rPr lang="en-IN" sz="1400" b="1" dirty="0">
                <a:solidFill>
                  <a:schemeClr val="tx1"/>
                </a:solidFill>
              </a:rPr>
              <a:t>buying fertilizers and seeds via a </a:t>
            </a:r>
            <a:r>
              <a:rPr lang="en-IN" sz="1400" b="1" dirty="0" smtClean="0">
                <a:solidFill>
                  <a:schemeClr val="tx1"/>
                </a:solidFill>
              </a:rPr>
              <a:t>government-backed </a:t>
            </a:r>
            <a:r>
              <a:rPr lang="en-IN" sz="1400" b="1" dirty="0">
                <a:solidFill>
                  <a:schemeClr val="tx1"/>
                </a:solidFill>
              </a:rPr>
              <a:t>technology platform</a:t>
            </a:r>
            <a:r>
              <a:rPr lang="en-IN" sz="1400" dirty="0">
                <a:solidFill>
                  <a:schemeClr val="tx1"/>
                </a:solidFill>
              </a:rPr>
              <a:t>, cutting out middlemen entrenched in wholesale markets</a:t>
            </a:r>
            <a:r>
              <a:rPr lang="en-IN" sz="1400" dirty="0" smtClean="0">
                <a:solidFill>
                  <a:schemeClr val="tx1"/>
                </a:solidFill>
              </a:rPr>
              <a:t>.</a:t>
            </a:r>
            <a:endParaRPr lang="en-IN" sz="1400" dirty="0">
              <a:solidFill>
                <a:schemeClr val="tx1"/>
              </a:solidFill>
            </a:endParaRPr>
          </a:p>
        </p:txBody>
      </p:sp>
      <p:sp>
        <p:nvSpPr>
          <p:cNvPr id="22" name="Flowchart: Process 21"/>
          <p:cNvSpPr/>
          <p:nvPr/>
        </p:nvSpPr>
        <p:spPr>
          <a:xfrm>
            <a:off x="3278692" y="4952473"/>
            <a:ext cx="8704041" cy="354842"/>
          </a:xfrm>
          <a:prstGeom prst="flowChartProces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smtClean="0"/>
              <a:t>Krishidoot</a:t>
            </a:r>
            <a:r>
              <a:rPr lang="en-IN" b="1" dirty="0" smtClean="0"/>
              <a:t> (</a:t>
            </a:r>
            <a:r>
              <a:rPr lang="en-IN" b="1" dirty="0" err="1" smtClean="0"/>
              <a:t>GoI</a:t>
            </a:r>
            <a:r>
              <a:rPr lang="en-IN" b="1" dirty="0" smtClean="0"/>
              <a:t> + RML)</a:t>
            </a:r>
            <a:endParaRPr lang="en-IN" b="1" dirty="0"/>
          </a:p>
        </p:txBody>
      </p:sp>
      <p:sp>
        <p:nvSpPr>
          <p:cNvPr id="23" name="Flowchart: Process 22"/>
          <p:cNvSpPr/>
          <p:nvPr/>
        </p:nvSpPr>
        <p:spPr>
          <a:xfrm>
            <a:off x="8082706" y="1796290"/>
            <a:ext cx="3900028" cy="2587536"/>
          </a:xfrm>
          <a:prstGeom prst="flowChartProcess">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smtClean="0">
                <a:solidFill>
                  <a:schemeClr val="tx1"/>
                </a:solidFill>
              </a:rPr>
              <a:t>As part of Digital India 3 key initiatives have been planned to give impetus to Agriculture sector :</a:t>
            </a:r>
          </a:p>
          <a:p>
            <a:pPr marL="342900" indent="-342900">
              <a:buAutoNum type="arabicParenR"/>
            </a:pPr>
            <a:r>
              <a:rPr lang="en-IN" sz="1400" dirty="0" err="1" smtClean="0">
                <a:solidFill>
                  <a:schemeClr val="tx1"/>
                </a:solidFill>
              </a:rPr>
              <a:t>mServices</a:t>
            </a:r>
            <a:r>
              <a:rPr lang="en-IN" sz="1400" dirty="0" smtClean="0">
                <a:solidFill>
                  <a:schemeClr val="tx1"/>
                </a:solidFill>
              </a:rPr>
              <a:t> : </a:t>
            </a:r>
            <a:r>
              <a:rPr lang="en-IN" sz="1400" b="1" dirty="0" smtClean="0">
                <a:solidFill>
                  <a:schemeClr val="tx1"/>
                </a:solidFill>
              </a:rPr>
              <a:t>focus on mobile phone services and penetration via increased band-width</a:t>
            </a:r>
          </a:p>
          <a:p>
            <a:pPr marL="342900" indent="-342900">
              <a:buAutoNum type="arabicParenR"/>
            </a:pPr>
            <a:r>
              <a:rPr lang="en-IN" sz="1400" dirty="0" err="1" smtClean="0">
                <a:solidFill>
                  <a:schemeClr val="tx1"/>
                </a:solidFill>
              </a:rPr>
              <a:t>mServices</a:t>
            </a:r>
            <a:r>
              <a:rPr lang="en-IN" sz="1400" dirty="0" smtClean="0">
                <a:solidFill>
                  <a:schemeClr val="tx1"/>
                </a:solidFill>
              </a:rPr>
              <a:t> has 7 components of which the </a:t>
            </a:r>
            <a:r>
              <a:rPr lang="en-IN" sz="1400" dirty="0" err="1" smtClean="0">
                <a:solidFill>
                  <a:schemeClr val="tx1"/>
                </a:solidFill>
              </a:rPr>
              <a:t>agri</a:t>
            </a:r>
            <a:r>
              <a:rPr lang="en-IN" sz="1400" dirty="0" smtClean="0">
                <a:solidFill>
                  <a:schemeClr val="tx1"/>
                </a:solidFill>
              </a:rPr>
              <a:t>-relevant ones are :</a:t>
            </a:r>
          </a:p>
          <a:p>
            <a:pPr marL="800100" lvl="1" indent="-342900">
              <a:buAutoNum type="arabicParenR"/>
            </a:pPr>
            <a:r>
              <a:rPr lang="en-IN" sz="1400" dirty="0" err="1" smtClean="0">
                <a:solidFill>
                  <a:schemeClr val="tx1"/>
                </a:solidFill>
              </a:rPr>
              <a:t>mAgriculture</a:t>
            </a:r>
            <a:r>
              <a:rPr lang="en-IN" sz="1400" dirty="0" smtClean="0">
                <a:solidFill>
                  <a:schemeClr val="tx1"/>
                </a:solidFill>
              </a:rPr>
              <a:t> : </a:t>
            </a:r>
            <a:r>
              <a:rPr lang="en-IN" sz="1400" b="1" dirty="0" smtClean="0">
                <a:solidFill>
                  <a:schemeClr val="tx1"/>
                </a:solidFill>
              </a:rPr>
              <a:t>market Extension</a:t>
            </a:r>
          </a:p>
          <a:p>
            <a:pPr marL="800100" lvl="1" indent="-342900">
              <a:buAutoNum type="arabicParenR"/>
            </a:pPr>
            <a:r>
              <a:rPr lang="en-IN" sz="1400" dirty="0" err="1" smtClean="0">
                <a:solidFill>
                  <a:schemeClr val="tx1"/>
                </a:solidFill>
              </a:rPr>
              <a:t>mGramBazar</a:t>
            </a:r>
            <a:r>
              <a:rPr lang="en-IN" sz="1400" dirty="0" smtClean="0">
                <a:solidFill>
                  <a:schemeClr val="tx1"/>
                </a:solidFill>
              </a:rPr>
              <a:t> : </a:t>
            </a:r>
            <a:r>
              <a:rPr lang="en-IN" sz="1400" b="1" dirty="0" smtClean="0">
                <a:solidFill>
                  <a:schemeClr val="tx1"/>
                </a:solidFill>
              </a:rPr>
              <a:t>Marketing Services </a:t>
            </a:r>
            <a:endParaRPr lang="en-IN" sz="1400" b="1" dirty="0">
              <a:solidFill>
                <a:schemeClr val="tx1"/>
              </a:solidFill>
            </a:endParaRPr>
          </a:p>
        </p:txBody>
      </p:sp>
      <p:sp>
        <p:nvSpPr>
          <p:cNvPr id="24" name="Flowchart: Process 23"/>
          <p:cNvSpPr/>
          <p:nvPr/>
        </p:nvSpPr>
        <p:spPr>
          <a:xfrm>
            <a:off x="8082705" y="1364982"/>
            <a:ext cx="3900027" cy="354841"/>
          </a:xfrm>
          <a:prstGeom prst="flowChartProces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m-Agriculture, m-</a:t>
            </a:r>
            <a:r>
              <a:rPr lang="en-IN" b="1" dirty="0" err="1" smtClean="0"/>
              <a:t>GramBazar</a:t>
            </a:r>
            <a:endParaRPr lang="en-IN" b="1" dirty="0"/>
          </a:p>
        </p:txBody>
      </p:sp>
      <p:sp>
        <p:nvSpPr>
          <p:cNvPr id="27" name="Flowchart: Process 26"/>
          <p:cNvSpPr/>
          <p:nvPr/>
        </p:nvSpPr>
        <p:spPr>
          <a:xfrm>
            <a:off x="3278690" y="4145360"/>
            <a:ext cx="4609718" cy="304953"/>
          </a:xfrm>
          <a:prstGeom prst="flowChartProcess">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err="1" smtClean="0">
                <a:solidFill>
                  <a:schemeClr val="tx1"/>
                </a:solidFill>
              </a:rPr>
              <a:t>mKrishi</a:t>
            </a:r>
            <a:r>
              <a:rPr lang="en-IN" sz="1400" b="1" dirty="0" smtClean="0">
                <a:solidFill>
                  <a:schemeClr val="tx1"/>
                </a:solidFill>
              </a:rPr>
              <a:t> from TCS </a:t>
            </a:r>
            <a:r>
              <a:rPr lang="en-IN" sz="1400" dirty="0" smtClean="0">
                <a:solidFill>
                  <a:schemeClr val="tx1"/>
                </a:solidFill>
              </a:rPr>
              <a:t>: Mobile Agro Advisory System</a:t>
            </a:r>
            <a:endParaRPr lang="en-IN" sz="1400" dirty="0">
              <a:solidFill>
                <a:schemeClr val="tx1"/>
              </a:solidFill>
            </a:endParaRPr>
          </a:p>
        </p:txBody>
      </p:sp>
    </p:spTree>
    <p:extLst>
      <p:ext uri="{BB962C8B-B14F-4D97-AF65-F5344CB8AC3E}">
        <p14:creationId xmlns:p14="http://schemas.microsoft.com/office/powerpoint/2010/main" val="5777321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1276628" y="1075734"/>
            <a:ext cx="9538732" cy="5001795"/>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Oval 1"/>
          <p:cNvSpPr/>
          <p:nvPr/>
        </p:nvSpPr>
        <p:spPr>
          <a:xfrm>
            <a:off x="4272792" y="1923502"/>
            <a:ext cx="3206840" cy="2862281"/>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12" name="Group 11"/>
          <p:cNvGrpSpPr/>
          <p:nvPr/>
        </p:nvGrpSpPr>
        <p:grpSpPr>
          <a:xfrm>
            <a:off x="0" y="251742"/>
            <a:ext cx="12192000" cy="523220"/>
            <a:chOff x="1" y="306017"/>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55217" y="306017"/>
              <a:ext cx="4681567" cy="523220"/>
            </a:xfrm>
            <a:prstGeom prst="rect">
              <a:avLst/>
            </a:prstGeom>
            <a:solidFill>
              <a:schemeClr val="bg1"/>
            </a:solidFill>
          </p:spPr>
          <p:txBody>
            <a:bodyPr wrap="squar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Exploring group synergies</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9</a:t>
            </a:fld>
            <a:endParaRPr lang="en-IN" sz="1800" kern="0" dirty="0">
              <a:solidFill>
                <a:srgbClr val="000000">
                  <a:tint val="75000"/>
                </a:srgbClr>
              </a:solidFill>
            </a:endParaRPr>
          </a:p>
        </p:txBody>
      </p:sp>
      <p:pic>
        <p:nvPicPr>
          <p:cNvPr id="2050" name="Picture 2" descr="Image result for indian farmer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9699" y="2577317"/>
            <a:ext cx="1557315" cy="155465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82950" y="1802567"/>
            <a:ext cx="2412000" cy="217480"/>
          </a:xfrm>
          <a:prstGeom prst="rect">
            <a:avLst/>
          </a:prstGeom>
        </p:spPr>
      </p:pic>
      <p:pic>
        <p:nvPicPr>
          <p:cNvPr id="10" name="Picture 9"/>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799617" y="2747538"/>
            <a:ext cx="857547" cy="651564"/>
          </a:xfrm>
          <a:prstGeom prst="rect">
            <a:avLst/>
          </a:prstGeom>
        </p:spPr>
      </p:pic>
      <p:pic>
        <p:nvPicPr>
          <p:cNvPr id="11" name="Picture 10"/>
          <p:cNvPicPr>
            <a:picLocks noChangeAspect="1"/>
          </p:cNvPicPr>
          <p:nvPr/>
        </p:nvPicPr>
        <p:blipFill>
          <a:blip r:embed="rId7"/>
          <a:stretch>
            <a:fillRect/>
          </a:stretch>
        </p:blipFill>
        <p:spPr>
          <a:xfrm>
            <a:off x="3960664" y="4031742"/>
            <a:ext cx="1179035" cy="490873"/>
          </a:xfrm>
          <a:prstGeom prst="rect">
            <a:avLst/>
          </a:prstGeom>
        </p:spPr>
      </p:pic>
      <p:pic>
        <p:nvPicPr>
          <p:cNvPr id="13" name="Picture 12"/>
          <p:cNvPicPr>
            <a:picLocks noChangeAspect="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6973027" y="2743984"/>
            <a:ext cx="1373512" cy="354308"/>
          </a:xfrm>
          <a:prstGeom prst="rect">
            <a:avLst/>
          </a:prstGeom>
        </p:spPr>
      </p:pic>
      <p:pic>
        <p:nvPicPr>
          <p:cNvPr id="2052" name="Picture 4" descr="Image result for Tata Global Beverage"/>
          <p:cNvPicPr>
            <a:picLocks noChangeAspect="1" noChangeArrowheads="1"/>
          </p:cNvPicPr>
          <p:nvPr/>
        </p:nvPicPr>
        <p:blipFill rotWithShape="1">
          <a:blip r:embed="rId9">
            <a:extLst>
              <a:ext uri="{28A0092B-C50C-407E-A947-70E740481C1C}">
                <a14:useLocalDpi xmlns:a14="http://schemas.microsoft.com/office/drawing/2010/main" val="0"/>
              </a:ext>
            </a:extLst>
          </a:blip>
          <a:srcRect t="40596" b="41727"/>
          <a:stretch/>
        </p:blipFill>
        <p:spPr bwMode="auto">
          <a:xfrm>
            <a:off x="6333058" y="4154133"/>
            <a:ext cx="2917404" cy="3442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550181" y="855220"/>
            <a:ext cx="2561808" cy="646331"/>
          </a:xfrm>
          <a:prstGeom prst="rect">
            <a:avLst/>
          </a:prstGeom>
          <a:solidFill>
            <a:schemeClr val="bg1"/>
          </a:solidFill>
        </p:spPr>
        <p:txBody>
          <a:bodyPr wrap="square" rtlCol="0">
            <a:spAutoFit/>
          </a:bodyPr>
          <a:lstStyle/>
          <a:p>
            <a:pPr algn="ctr"/>
            <a:r>
              <a:rPr lang="en-IN" b="1" dirty="0" smtClean="0"/>
              <a:t>Shared Insight into the Rural Consumer</a:t>
            </a:r>
            <a:endParaRPr lang="en-IN" b="1" dirty="0"/>
          </a:p>
        </p:txBody>
      </p:sp>
      <p:sp>
        <p:nvSpPr>
          <p:cNvPr id="16" name="TextBox 15"/>
          <p:cNvSpPr txBox="1"/>
          <p:nvPr/>
        </p:nvSpPr>
        <p:spPr>
          <a:xfrm>
            <a:off x="656285" y="1678369"/>
            <a:ext cx="2749600" cy="646331"/>
          </a:xfrm>
          <a:prstGeom prst="rect">
            <a:avLst/>
          </a:prstGeom>
          <a:solidFill>
            <a:schemeClr val="bg1"/>
          </a:solidFill>
        </p:spPr>
        <p:txBody>
          <a:bodyPr wrap="square" rtlCol="0">
            <a:spAutoFit/>
          </a:bodyPr>
          <a:lstStyle/>
          <a:p>
            <a:pPr algn="ctr"/>
            <a:r>
              <a:rPr lang="en-IN" b="1" dirty="0" smtClean="0"/>
              <a:t>Benefits of Shared Distribution Channels</a:t>
            </a:r>
            <a:endParaRPr lang="en-IN" b="1" dirty="0"/>
          </a:p>
        </p:txBody>
      </p:sp>
      <p:sp>
        <p:nvSpPr>
          <p:cNvPr id="17" name="TextBox 16"/>
          <p:cNvSpPr txBox="1"/>
          <p:nvPr/>
        </p:nvSpPr>
        <p:spPr>
          <a:xfrm>
            <a:off x="7898409" y="1678369"/>
            <a:ext cx="3100781" cy="646331"/>
          </a:xfrm>
          <a:prstGeom prst="rect">
            <a:avLst/>
          </a:prstGeom>
          <a:solidFill>
            <a:schemeClr val="bg1"/>
          </a:solidFill>
        </p:spPr>
        <p:txBody>
          <a:bodyPr wrap="square" rtlCol="0">
            <a:spAutoFit/>
          </a:bodyPr>
          <a:lstStyle/>
          <a:p>
            <a:pPr algn="ctr"/>
            <a:r>
              <a:rPr lang="en-IN" b="1" dirty="0" smtClean="0"/>
              <a:t>Benefits from a Strong Affiliate Network</a:t>
            </a:r>
            <a:endParaRPr lang="en-IN" b="1" dirty="0"/>
          </a:p>
        </p:txBody>
      </p:sp>
      <p:sp>
        <p:nvSpPr>
          <p:cNvPr id="18" name="TextBox 17"/>
          <p:cNvSpPr txBox="1"/>
          <p:nvPr/>
        </p:nvSpPr>
        <p:spPr>
          <a:xfrm>
            <a:off x="8155735" y="4878977"/>
            <a:ext cx="2939896" cy="646331"/>
          </a:xfrm>
          <a:prstGeom prst="rect">
            <a:avLst/>
          </a:prstGeom>
          <a:solidFill>
            <a:schemeClr val="bg1"/>
          </a:solidFill>
        </p:spPr>
        <p:txBody>
          <a:bodyPr wrap="square" rtlCol="0">
            <a:spAutoFit/>
          </a:bodyPr>
          <a:lstStyle/>
          <a:p>
            <a:pPr algn="ctr"/>
            <a:r>
              <a:rPr lang="en-IN" b="1" dirty="0" smtClean="0"/>
              <a:t>Benefits from Strategic Multi-Prong Marketing</a:t>
            </a:r>
            <a:endParaRPr lang="en-IN" b="1" dirty="0"/>
          </a:p>
        </p:txBody>
      </p:sp>
      <p:sp>
        <p:nvSpPr>
          <p:cNvPr id="19" name="TextBox 18"/>
          <p:cNvSpPr txBox="1"/>
          <p:nvPr/>
        </p:nvSpPr>
        <p:spPr>
          <a:xfrm>
            <a:off x="561577" y="4943585"/>
            <a:ext cx="3147923" cy="646331"/>
          </a:xfrm>
          <a:prstGeom prst="rect">
            <a:avLst/>
          </a:prstGeom>
          <a:solidFill>
            <a:schemeClr val="bg1"/>
          </a:solidFill>
        </p:spPr>
        <p:txBody>
          <a:bodyPr wrap="square" rtlCol="0">
            <a:spAutoFit/>
          </a:bodyPr>
          <a:lstStyle/>
          <a:p>
            <a:pPr algn="ctr"/>
            <a:r>
              <a:rPr lang="en-IN" b="1" dirty="0" smtClean="0"/>
              <a:t>Benefit from Cross leveraging a partner network </a:t>
            </a:r>
            <a:endParaRPr lang="en-IN" b="1" dirty="0"/>
          </a:p>
        </p:txBody>
      </p:sp>
      <p:sp>
        <p:nvSpPr>
          <p:cNvPr id="20" name="TextBox 19"/>
          <p:cNvSpPr txBox="1"/>
          <p:nvPr/>
        </p:nvSpPr>
        <p:spPr>
          <a:xfrm>
            <a:off x="9448799" y="3075936"/>
            <a:ext cx="2492618" cy="646331"/>
          </a:xfrm>
          <a:prstGeom prst="rect">
            <a:avLst/>
          </a:prstGeom>
          <a:solidFill>
            <a:schemeClr val="bg1"/>
          </a:solidFill>
        </p:spPr>
        <p:txBody>
          <a:bodyPr wrap="square" rtlCol="0">
            <a:spAutoFit/>
          </a:bodyPr>
          <a:lstStyle/>
          <a:p>
            <a:pPr algn="ctr"/>
            <a:r>
              <a:rPr lang="en-IN" b="1" dirty="0" smtClean="0"/>
              <a:t>Benefits from Cross Leveraged Base</a:t>
            </a:r>
            <a:endParaRPr lang="en-IN" b="1" dirty="0"/>
          </a:p>
        </p:txBody>
      </p:sp>
      <p:sp>
        <p:nvSpPr>
          <p:cNvPr id="21" name="TextBox 20"/>
          <p:cNvSpPr txBox="1"/>
          <p:nvPr/>
        </p:nvSpPr>
        <p:spPr>
          <a:xfrm>
            <a:off x="54563" y="3177693"/>
            <a:ext cx="3531578" cy="646331"/>
          </a:xfrm>
          <a:prstGeom prst="rect">
            <a:avLst/>
          </a:prstGeom>
          <a:solidFill>
            <a:schemeClr val="bg1"/>
          </a:solidFill>
        </p:spPr>
        <p:txBody>
          <a:bodyPr wrap="square" rtlCol="0">
            <a:spAutoFit/>
          </a:bodyPr>
          <a:lstStyle/>
          <a:p>
            <a:pPr algn="ctr"/>
            <a:r>
              <a:rPr lang="en-IN" b="1" dirty="0" smtClean="0"/>
              <a:t>Benefits from Common Understanding of Risk Factors</a:t>
            </a:r>
            <a:endParaRPr lang="en-IN" b="1" dirty="0"/>
          </a:p>
        </p:txBody>
      </p:sp>
      <p:sp>
        <p:nvSpPr>
          <p:cNvPr id="22" name="TextBox 21"/>
          <p:cNvSpPr txBox="1"/>
          <p:nvPr/>
        </p:nvSpPr>
        <p:spPr>
          <a:xfrm>
            <a:off x="4129421" y="5681462"/>
            <a:ext cx="3585450" cy="646331"/>
          </a:xfrm>
          <a:prstGeom prst="rect">
            <a:avLst/>
          </a:prstGeom>
          <a:solidFill>
            <a:schemeClr val="bg1"/>
          </a:solidFill>
        </p:spPr>
        <p:txBody>
          <a:bodyPr wrap="square" rtlCol="0">
            <a:spAutoFit/>
          </a:bodyPr>
          <a:lstStyle/>
          <a:p>
            <a:pPr algn="ctr"/>
            <a:r>
              <a:rPr lang="en-IN" b="1" dirty="0" smtClean="0"/>
              <a:t>Benefit from ability to reward Loyalty to Ecosystem</a:t>
            </a:r>
            <a:endParaRPr lang="en-IN" b="1" dirty="0"/>
          </a:p>
        </p:txBody>
      </p:sp>
      <p:sp>
        <p:nvSpPr>
          <p:cNvPr id="24" name="Rectangle 23"/>
          <p:cNvSpPr/>
          <p:nvPr/>
        </p:nvSpPr>
        <p:spPr>
          <a:xfrm>
            <a:off x="-6899" y="6272746"/>
            <a:ext cx="12198899" cy="36257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The time is ripe to Combine Tata Groups’ rural footprint across Group Companies to leverage multiple synergies</a:t>
            </a:r>
            <a:endParaRPr lang="en-IN" b="1" i="1" dirty="0"/>
          </a:p>
        </p:txBody>
      </p:sp>
    </p:spTree>
    <p:extLst>
      <p:ext uri="{BB962C8B-B14F-4D97-AF65-F5344CB8AC3E}">
        <p14:creationId xmlns:p14="http://schemas.microsoft.com/office/powerpoint/2010/main" val="35143239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10</a:t>
            </a:fld>
            <a:endParaRPr lang="en-IN" sz="1800" kern="0" dirty="0">
              <a:solidFill>
                <a:srgbClr val="000000">
                  <a:tint val="75000"/>
                </a:srgbClr>
              </a:solidFill>
            </a:endParaRPr>
          </a:p>
        </p:txBody>
      </p:sp>
      <p:sp>
        <p:nvSpPr>
          <p:cNvPr id="5" name="Rectangle 4"/>
          <p:cNvSpPr/>
          <p:nvPr/>
        </p:nvSpPr>
        <p:spPr>
          <a:xfrm>
            <a:off x="1858363" y="237066"/>
            <a:ext cx="8475398" cy="523220"/>
          </a:xfrm>
          <a:prstGeom prst="rect">
            <a:avLst/>
          </a:prstGeom>
          <a:solidFill>
            <a:schemeClr val="bg1"/>
          </a:solidFill>
        </p:spPr>
        <p:txBody>
          <a:bodyPr wrap="none" anchor="ctr">
            <a:spAutoFit/>
          </a:bodyPr>
          <a:lstStyle/>
          <a:p>
            <a:pPr algn="ctr">
              <a:defRPr/>
            </a:pPr>
            <a:r>
              <a:rPr lang="en-IN" sz="2800" b="1" kern="0" dirty="0">
                <a:solidFill>
                  <a:srgbClr val="0070C0"/>
                </a:solidFill>
                <a:latin typeface="Leelawadee UI" panose="020B0502040204020203" pitchFamily="34" charset="-34"/>
                <a:cs typeface="Leelawadee UI" panose="020B0502040204020203" pitchFamily="34" charset="-34"/>
              </a:rPr>
              <a:t>Territory Potential Assessment : Tata Steel Wires </a:t>
            </a:r>
          </a:p>
        </p:txBody>
      </p:sp>
      <p:sp>
        <p:nvSpPr>
          <p:cNvPr id="7" name="Pentagon 6"/>
          <p:cNvSpPr/>
          <p:nvPr/>
        </p:nvSpPr>
        <p:spPr>
          <a:xfrm>
            <a:off x="1" y="991002"/>
            <a:ext cx="3992496" cy="391131"/>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kern="0" dirty="0">
                <a:solidFill>
                  <a:prstClr val="white"/>
                </a:solidFill>
              </a:rPr>
              <a:t>DATA MINING</a:t>
            </a:r>
          </a:p>
        </p:txBody>
      </p:sp>
      <p:sp>
        <p:nvSpPr>
          <p:cNvPr id="8" name="Chevron 7"/>
          <p:cNvSpPr/>
          <p:nvPr/>
        </p:nvSpPr>
        <p:spPr>
          <a:xfrm>
            <a:off x="3992497" y="991002"/>
            <a:ext cx="3968258" cy="391131"/>
          </a:xfrm>
          <a:prstGeom prst="chevron">
            <a:avLst/>
          </a:prstGeom>
          <a:solidFill>
            <a:srgbClr val="0070C0"/>
          </a:solidFill>
          <a:ln>
            <a:solidFill>
              <a:srgbClr val="D8E8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kern="0" dirty="0">
                <a:solidFill>
                  <a:prstClr val="white"/>
                </a:solidFill>
              </a:rPr>
              <a:t>METHODOLOGY</a:t>
            </a:r>
          </a:p>
        </p:txBody>
      </p:sp>
      <p:sp>
        <p:nvSpPr>
          <p:cNvPr id="9" name="Chevron 8"/>
          <p:cNvSpPr/>
          <p:nvPr/>
        </p:nvSpPr>
        <p:spPr>
          <a:xfrm>
            <a:off x="8044143" y="991002"/>
            <a:ext cx="4147857" cy="391131"/>
          </a:xfrm>
          <a:prstGeom prst="chevron">
            <a:avLst/>
          </a:prstGeom>
          <a:solidFill>
            <a:srgbClr val="0070C0"/>
          </a:solidFill>
          <a:ln>
            <a:solidFill>
              <a:srgbClr val="D8E8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kern="0" dirty="0">
                <a:solidFill>
                  <a:prstClr val="white"/>
                </a:solidFill>
              </a:rPr>
              <a:t>OUTCOME</a:t>
            </a:r>
          </a:p>
        </p:txBody>
      </p:sp>
      <p:graphicFrame>
        <p:nvGraphicFramePr>
          <p:cNvPr id="11" name="Diagram 10"/>
          <p:cNvGraphicFramePr/>
          <p:nvPr>
            <p:extLst/>
          </p:nvPr>
        </p:nvGraphicFramePr>
        <p:xfrm>
          <a:off x="-1185498" y="2282377"/>
          <a:ext cx="6414961" cy="40879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2" name="Straight Connector 11"/>
          <p:cNvCxnSpPr/>
          <p:nvPr/>
        </p:nvCxnSpPr>
        <p:spPr>
          <a:xfrm>
            <a:off x="3992496" y="1547580"/>
            <a:ext cx="0" cy="4464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960755" y="1547580"/>
            <a:ext cx="0" cy="446400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0" y="1451380"/>
            <a:ext cx="3943148" cy="830997"/>
          </a:xfrm>
          <a:prstGeom prst="rect">
            <a:avLst/>
          </a:prstGeom>
          <a:noFill/>
        </p:spPr>
        <p:txBody>
          <a:bodyPr wrap="square" rtlCol="0">
            <a:spAutoFit/>
          </a:bodyPr>
          <a:lstStyle/>
          <a:p>
            <a:pPr>
              <a:defRPr/>
            </a:pPr>
            <a:r>
              <a:rPr lang="en-IN" sz="1600" kern="0" dirty="0">
                <a:solidFill>
                  <a:srgbClr val="000000">
                    <a:lumMod val="50000"/>
                    <a:lumOff val="50000"/>
                  </a:srgbClr>
                </a:solidFill>
              </a:rPr>
              <a:t>Mine </a:t>
            </a:r>
            <a:r>
              <a:rPr lang="en-IN" sz="1600" b="1" kern="0" dirty="0">
                <a:solidFill>
                  <a:srgbClr val="000000">
                    <a:lumMod val="50000"/>
                    <a:lumOff val="50000"/>
                  </a:srgbClr>
                </a:solidFill>
              </a:rPr>
              <a:t>200+ data points </a:t>
            </a:r>
            <a:r>
              <a:rPr lang="en-IN" sz="1600" kern="0" dirty="0">
                <a:solidFill>
                  <a:srgbClr val="000000">
                    <a:lumMod val="50000"/>
                    <a:lumOff val="50000"/>
                  </a:srgbClr>
                </a:solidFill>
              </a:rPr>
              <a:t>from public &amp; proprietary sources for </a:t>
            </a:r>
            <a:r>
              <a:rPr lang="en-IN" sz="1600" b="1" kern="0" dirty="0">
                <a:solidFill>
                  <a:srgbClr val="000000">
                    <a:lumMod val="50000"/>
                    <a:lumOff val="50000"/>
                  </a:srgbClr>
                </a:solidFill>
              </a:rPr>
              <a:t>7 Priority States &amp; 360+ districts </a:t>
            </a:r>
            <a:r>
              <a:rPr lang="en-IN" sz="1600" kern="0" dirty="0">
                <a:solidFill>
                  <a:srgbClr val="000000">
                    <a:lumMod val="50000"/>
                    <a:lumOff val="50000"/>
                  </a:srgbClr>
                </a:solidFill>
              </a:rPr>
              <a:t>clustered into </a:t>
            </a:r>
            <a:r>
              <a:rPr lang="en-IN" sz="1600" b="1" kern="0" dirty="0">
                <a:solidFill>
                  <a:srgbClr val="000000">
                    <a:lumMod val="50000"/>
                    <a:lumOff val="50000"/>
                  </a:srgbClr>
                </a:solidFill>
              </a:rPr>
              <a:t>9 vital metrics </a:t>
            </a:r>
          </a:p>
        </p:txBody>
      </p:sp>
      <p:sp>
        <p:nvSpPr>
          <p:cNvPr id="15" name="TextBox 14"/>
          <p:cNvSpPr txBox="1"/>
          <p:nvPr/>
        </p:nvSpPr>
        <p:spPr>
          <a:xfrm>
            <a:off x="5574276" y="2001660"/>
            <a:ext cx="2386479" cy="584775"/>
          </a:xfrm>
          <a:prstGeom prst="rect">
            <a:avLst/>
          </a:prstGeom>
          <a:noFill/>
        </p:spPr>
        <p:txBody>
          <a:bodyPr wrap="square" rtlCol="0">
            <a:spAutoFit/>
          </a:bodyPr>
          <a:lstStyle/>
          <a:p>
            <a:pPr>
              <a:defRPr/>
            </a:pPr>
            <a:r>
              <a:rPr lang="en-IN" sz="1600" b="1" kern="0" dirty="0">
                <a:solidFill>
                  <a:srgbClr val="000000">
                    <a:lumMod val="50000"/>
                    <a:lumOff val="50000"/>
                  </a:srgbClr>
                </a:solidFill>
              </a:rPr>
              <a:t>Clustering</a:t>
            </a:r>
            <a:r>
              <a:rPr lang="en-IN" sz="1600" kern="0" dirty="0">
                <a:solidFill>
                  <a:srgbClr val="000000">
                    <a:lumMod val="50000"/>
                    <a:lumOff val="50000"/>
                  </a:srgbClr>
                </a:solidFill>
              </a:rPr>
              <a:t> on the list of vital metrics</a:t>
            </a:r>
          </a:p>
        </p:txBody>
      </p:sp>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91675" y="5288757"/>
            <a:ext cx="786473" cy="786473"/>
          </a:xfrm>
          <a:prstGeom prst="rect">
            <a:avLst/>
          </a:prstGeom>
        </p:spPr>
      </p:pic>
      <p:pic>
        <p:nvPicPr>
          <p:cNvPr id="17" name="Picture 2" descr="http://www.lisa.stat.vt.edu/sites/default/files/images/K-means-clustering.pn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4244894" y="1866878"/>
            <a:ext cx="1280034" cy="720060"/>
          </a:xfrm>
          <a:prstGeom prst="rect">
            <a:avLst/>
          </a:prstGeom>
          <a:noFill/>
          <a:ln>
            <a:solidFill>
              <a:schemeClr val="tx1"/>
            </a:solidFill>
            <a:prstDash val="dash"/>
          </a:ln>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p:nvPicPr>
        <p:blipFill>
          <a:blip r:embed="rId9"/>
          <a:stretch>
            <a:fillRect/>
          </a:stretch>
        </p:blipFill>
        <p:spPr>
          <a:xfrm>
            <a:off x="4367030" y="3301011"/>
            <a:ext cx="1074510" cy="1143556"/>
          </a:xfrm>
          <a:prstGeom prst="rect">
            <a:avLst/>
          </a:prstGeom>
        </p:spPr>
      </p:pic>
      <p:sp>
        <p:nvSpPr>
          <p:cNvPr id="19" name="TextBox 18"/>
          <p:cNvSpPr txBox="1"/>
          <p:nvPr/>
        </p:nvSpPr>
        <p:spPr>
          <a:xfrm>
            <a:off x="5524928" y="3284894"/>
            <a:ext cx="2303091" cy="1077218"/>
          </a:xfrm>
          <a:prstGeom prst="rect">
            <a:avLst/>
          </a:prstGeom>
          <a:noFill/>
        </p:spPr>
        <p:txBody>
          <a:bodyPr wrap="square" rtlCol="0">
            <a:spAutoFit/>
          </a:bodyPr>
          <a:lstStyle>
            <a:defPPr>
              <a:defRPr lang="en-US"/>
            </a:defPPr>
            <a:lvl1pPr>
              <a:defRPr>
                <a:solidFill>
                  <a:schemeClr val="tx1">
                    <a:lumMod val="50000"/>
                    <a:lumOff val="50000"/>
                  </a:schemeClr>
                </a:solidFill>
              </a:defRPr>
            </a:lvl1pPr>
          </a:lstStyle>
          <a:p>
            <a:pPr>
              <a:defRPr/>
            </a:pPr>
            <a:r>
              <a:rPr lang="en-IN" sz="1600" b="1" kern="0" dirty="0">
                <a:solidFill>
                  <a:srgbClr val="000000">
                    <a:lumMod val="50000"/>
                    <a:lumOff val="50000"/>
                  </a:srgbClr>
                </a:solidFill>
              </a:rPr>
              <a:t>Segments profiled </a:t>
            </a:r>
            <a:r>
              <a:rPr lang="en-IN" sz="1600" kern="0" dirty="0">
                <a:solidFill>
                  <a:srgbClr val="000000">
                    <a:lumMod val="50000"/>
                    <a:lumOff val="50000"/>
                  </a:srgbClr>
                </a:solidFill>
              </a:rPr>
              <a:t>based on the vital metrics to characterise &amp; prioritize segments</a:t>
            </a:r>
          </a:p>
        </p:txBody>
      </p:sp>
      <p:sp>
        <p:nvSpPr>
          <p:cNvPr id="20" name="TextBox 19"/>
          <p:cNvSpPr txBox="1"/>
          <p:nvPr/>
        </p:nvSpPr>
        <p:spPr>
          <a:xfrm>
            <a:off x="5574276" y="5244233"/>
            <a:ext cx="2386479" cy="830997"/>
          </a:xfrm>
          <a:prstGeom prst="rect">
            <a:avLst/>
          </a:prstGeom>
          <a:noFill/>
        </p:spPr>
        <p:txBody>
          <a:bodyPr wrap="square" rtlCol="0">
            <a:spAutoFit/>
          </a:bodyPr>
          <a:lstStyle/>
          <a:p>
            <a:pPr>
              <a:defRPr/>
            </a:pPr>
            <a:r>
              <a:rPr lang="en-IN" sz="1600" kern="0" dirty="0">
                <a:solidFill>
                  <a:srgbClr val="000000">
                    <a:lumMod val="50000"/>
                    <a:lumOff val="50000"/>
                  </a:srgbClr>
                </a:solidFill>
              </a:rPr>
              <a:t>Creation of a </a:t>
            </a:r>
            <a:r>
              <a:rPr lang="en-IN" sz="1600" b="1" kern="0" dirty="0">
                <a:solidFill>
                  <a:srgbClr val="000000">
                    <a:lumMod val="50000"/>
                    <a:lumOff val="50000"/>
                  </a:srgbClr>
                </a:solidFill>
              </a:rPr>
              <a:t>composite performance </a:t>
            </a:r>
            <a:r>
              <a:rPr lang="en-IN" sz="1600" kern="0" dirty="0">
                <a:solidFill>
                  <a:srgbClr val="000000">
                    <a:lumMod val="50000"/>
                    <a:lumOff val="50000"/>
                  </a:srgbClr>
                </a:solidFill>
              </a:rPr>
              <a:t>score to understand sales potential</a:t>
            </a:r>
          </a:p>
        </p:txBody>
      </p:sp>
      <p:sp>
        <p:nvSpPr>
          <p:cNvPr id="21" name="Chevron 20"/>
          <p:cNvSpPr/>
          <p:nvPr/>
        </p:nvSpPr>
        <p:spPr>
          <a:xfrm rot="5400000">
            <a:off x="5594412" y="2721330"/>
            <a:ext cx="484632" cy="48463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rgbClr val="000000"/>
              </a:solidFill>
            </a:endParaRPr>
          </a:p>
        </p:txBody>
      </p:sp>
      <p:sp>
        <p:nvSpPr>
          <p:cNvPr id="22" name="Chevron 21"/>
          <p:cNvSpPr/>
          <p:nvPr/>
        </p:nvSpPr>
        <p:spPr>
          <a:xfrm rot="5400000">
            <a:off x="5574276" y="4624091"/>
            <a:ext cx="484632" cy="48463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rgbClr val="000000"/>
              </a:solidFill>
            </a:endParaRPr>
          </a:p>
        </p:txBody>
      </p:sp>
      <p:pic>
        <p:nvPicPr>
          <p:cNvPr id="24" name="Picture 23"/>
          <p:cNvPicPr>
            <a:picLocks noChangeAspect="1"/>
          </p:cNvPicPr>
          <p:nvPr/>
        </p:nvPicPr>
        <p:blipFill>
          <a:blip r:embed="rId10"/>
          <a:stretch>
            <a:fillRect/>
          </a:stretch>
        </p:blipFill>
        <p:spPr>
          <a:xfrm>
            <a:off x="8007470" y="1612849"/>
            <a:ext cx="4184530" cy="2369051"/>
          </a:xfrm>
          <a:prstGeom prst="rect">
            <a:avLst/>
          </a:prstGeom>
        </p:spPr>
      </p:pic>
      <p:pic>
        <p:nvPicPr>
          <p:cNvPr id="28" name="Picture 27"/>
          <p:cNvPicPr>
            <a:picLocks noChangeAspect="1"/>
          </p:cNvPicPr>
          <p:nvPr/>
        </p:nvPicPr>
        <p:blipFill>
          <a:blip r:embed="rId11"/>
          <a:stretch>
            <a:fillRect/>
          </a:stretch>
        </p:blipFill>
        <p:spPr>
          <a:xfrm>
            <a:off x="8026664" y="4362112"/>
            <a:ext cx="3921543" cy="1768434"/>
          </a:xfrm>
          <a:prstGeom prst="rect">
            <a:avLst/>
          </a:prstGeom>
        </p:spPr>
      </p:pic>
      <p:sp>
        <p:nvSpPr>
          <p:cNvPr id="30" name="TextBox 29"/>
          <p:cNvSpPr txBox="1"/>
          <p:nvPr/>
        </p:nvSpPr>
        <p:spPr>
          <a:xfrm>
            <a:off x="92909" y="617540"/>
            <a:ext cx="12192000" cy="646331"/>
          </a:xfrm>
          <a:prstGeom prst="rect">
            <a:avLst/>
          </a:prstGeom>
        </p:spPr>
        <p:txBody>
          <a:bodyPr vert="horz" lIns="91440" tIns="45720" rIns="91440" bIns="45720" rtlCol="0" anchor="ctr"/>
          <a:lstStyle>
            <a:defPPr>
              <a:defRPr lang="en-US"/>
            </a:defPPr>
            <a:lvl1pPr algn="r">
              <a:defRPr kern="0">
                <a:solidFill>
                  <a:srgbClr val="000000">
                    <a:tint val="75000"/>
                  </a:srgbClr>
                </a:solidFill>
              </a:defRPr>
            </a:lvl1pPr>
          </a:lstStyle>
          <a:p>
            <a:r>
              <a:rPr lang="en-IN" dirty="0"/>
              <a:t>Tata iQ is assessing territory potential across 7 priority states for Wiron</a:t>
            </a:r>
          </a:p>
          <a:p>
            <a:r>
              <a:rPr lang="en-IN" dirty="0"/>
              <a:t> </a:t>
            </a:r>
          </a:p>
        </p:txBody>
      </p:sp>
    </p:spTree>
    <p:extLst>
      <p:ext uri="{BB962C8B-B14F-4D97-AF65-F5344CB8AC3E}">
        <p14:creationId xmlns:p14="http://schemas.microsoft.com/office/powerpoint/2010/main" val="26057966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2263"/>
            <a:ext cx="12192000" cy="53908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IN" kern="0" dirty="0">
              <a:solidFill>
                <a:prstClr val="white"/>
              </a:solidFill>
            </a:endParaRPr>
          </a:p>
        </p:txBody>
      </p:sp>
      <p:grpSp>
        <p:nvGrpSpPr>
          <p:cNvPr id="8" name="Group 7"/>
          <p:cNvGrpSpPr/>
          <p:nvPr/>
        </p:nvGrpSpPr>
        <p:grpSpPr>
          <a:xfrm>
            <a:off x="2895600" y="2547738"/>
            <a:ext cx="6400800" cy="1200329"/>
            <a:chOff x="2895600" y="1960714"/>
            <a:chExt cx="6400800" cy="1200329"/>
          </a:xfrm>
        </p:grpSpPr>
        <p:sp>
          <p:nvSpPr>
            <p:cNvPr id="5" name="Rectangle 4"/>
            <p:cNvSpPr/>
            <p:nvPr/>
          </p:nvSpPr>
          <p:spPr>
            <a:xfrm>
              <a:off x="3166730" y="1960714"/>
              <a:ext cx="5864106" cy="1200329"/>
            </a:xfrm>
            <a:prstGeom prst="rect">
              <a:avLst/>
            </a:prstGeom>
          </p:spPr>
          <p:txBody>
            <a:bodyPr wrap="none">
              <a:spAutoFit/>
            </a:bodyPr>
            <a:lstStyle/>
            <a:p>
              <a:pPr algn="ctr">
                <a:defRPr/>
              </a:pPr>
              <a:r>
                <a:rPr lang="en-IN" sz="7200" kern="0" dirty="0" smtClean="0">
                  <a:ln/>
                  <a:solidFill>
                    <a:prstClr val="white"/>
                  </a:solidFill>
                  <a:latin typeface="Leelawadee UI" panose="020B0502040204020203" pitchFamily="34" charset="-34"/>
                  <a:cs typeface="Leelawadee UI" panose="020B0502040204020203" pitchFamily="34" charset="-34"/>
                </a:rPr>
                <a:t>About Tata iQ</a:t>
              </a:r>
              <a:endParaRPr lang="en-IN" sz="3200" kern="0" dirty="0">
                <a:ln/>
                <a:solidFill>
                  <a:prstClr val="white"/>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11</a:t>
            </a:fld>
            <a:endParaRPr lang="en-IN" sz="1800" kern="0" dirty="0">
              <a:solidFill>
                <a:srgbClr val="000000">
                  <a:tint val="75000"/>
                </a:srgbClr>
              </a:solidFill>
            </a:endParaRPr>
          </a:p>
        </p:txBody>
      </p:sp>
    </p:spTree>
    <p:extLst>
      <p:ext uri="{BB962C8B-B14F-4D97-AF65-F5344CB8AC3E}">
        <p14:creationId xmlns:p14="http://schemas.microsoft.com/office/powerpoint/2010/main" val="36199944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838332" y="291779"/>
              <a:ext cx="2515369"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About Tata iQ</a:t>
              </a:r>
            </a:p>
          </p:txBody>
        </p:sp>
      </p:grpSp>
      <p:sp>
        <p:nvSpPr>
          <p:cNvPr id="2" name="TextBox 1"/>
          <p:cNvSpPr txBox="1"/>
          <p:nvPr/>
        </p:nvSpPr>
        <p:spPr>
          <a:xfrm>
            <a:off x="248991" y="647459"/>
            <a:ext cx="11694017" cy="646331"/>
          </a:xfrm>
          <a:prstGeom prst="rect">
            <a:avLst/>
          </a:prstGeom>
          <a:noFill/>
        </p:spPr>
        <p:txBody>
          <a:bodyPr wrap="square" rtlCol="0">
            <a:spAutoFit/>
          </a:bodyPr>
          <a:lstStyle/>
          <a:p>
            <a:r>
              <a:rPr lang="en-IN" dirty="0">
                <a:solidFill>
                  <a:srgbClr val="002060"/>
                </a:solidFill>
              </a:rPr>
              <a:t>Our goal is to be </a:t>
            </a:r>
            <a:r>
              <a:rPr lang="en-IN" b="1" dirty="0" smtClean="0">
                <a:solidFill>
                  <a:srgbClr val="002060"/>
                </a:solidFill>
              </a:rPr>
              <a:t>India’s </a:t>
            </a:r>
            <a:r>
              <a:rPr lang="en-IN" b="1" dirty="0">
                <a:solidFill>
                  <a:srgbClr val="002060"/>
                </a:solidFill>
              </a:rPr>
              <a:t>premier Omni-channel Marketing Solutions &amp; Decision Sciences company </a:t>
            </a:r>
            <a:r>
              <a:rPr lang="en-IN" dirty="0">
                <a:solidFill>
                  <a:srgbClr val="002060"/>
                </a:solidFill>
              </a:rPr>
              <a:t>powered by the richest and most valuable database, and high impact insights and analytics</a:t>
            </a:r>
          </a:p>
        </p:txBody>
      </p:sp>
      <p:sp>
        <p:nvSpPr>
          <p:cNvPr id="23" name="Rectangle 22"/>
          <p:cNvSpPr/>
          <p:nvPr/>
        </p:nvSpPr>
        <p:spPr>
          <a:xfrm>
            <a:off x="591464" y="2507283"/>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24" name="Rectangle 23"/>
          <p:cNvSpPr/>
          <p:nvPr/>
        </p:nvSpPr>
        <p:spPr>
          <a:xfrm>
            <a:off x="4496149" y="2723634"/>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25" name="Rectangle 24"/>
          <p:cNvSpPr/>
          <p:nvPr/>
        </p:nvSpPr>
        <p:spPr>
          <a:xfrm>
            <a:off x="8434470" y="2550158"/>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26" name="Rectangle 25"/>
          <p:cNvSpPr/>
          <p:nvPr/>
        </p:nvSpPr>
        <p:spPr>
          <a:xfrm>
            <a:off x="478052" y="2299991"/>
            <a:ext cx="3296960" cy="3841324"/>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5E5E5E">
                  <a:lumMod val="75000"/>
                </a:srgbClr>
              </a:solidFill>
            </a:endParaRPr>
          </a:p>
        </p:txBody>
      </p:sp>
      <p:sp>
        <p:nvSpPr>
          <p:cNvPr id="27" name="Rectangle 26"/>
          <p:cNvSpPr/>
          <p:nvPr/>
        </p:nvSpPr>
        <p:spPr>
          <a:xfrm>
            <a:off x="4386162" y="2299991"/>
            <a:ext cx="3296960" cy="3841324"/>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5E5E5E">
                  <a:lumMod val="75000"/>
                </a:srgbClr>
              </a:solidFill>
            </a:endParaRPr>
          </a:p>
        </p:txBody>
      </p:sp>
      <p:sp>
        <p:nvSpPr>
          <p:cNvPr id="28" name="Rectangle 27"/>
          <p:cNvSpPr/>
          <p:nvPr/>
        </p:nvSpPr>
        <p:spPr>
          <a:xfrm>
            <a:off x="8316184" y="2299990"/>
            <a:ext cx="3296960" cy="3824743"/>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5E5E5E">
                  <a:lumMod val="75000"/>
                </a:srgbClr>
              </a:solidFill>
            </a:endParaRPr>
          </a:p>
        </p:txBody>
      </p:sp>
      <p:grpSp>
        <p:nvGrpSpPr>
          <p:cNvPr id="29" name="Group 28"/>
          <p:cNvGrpSpPr/>
          <p:nvPr/>
        </p:nvGrpSpPr>
        <p:grpSpPr>
          <a:xfrm>
            <a:off x="103844" y="1282705"/>
            <a:ext cx="11906807" cy="542786"/>
            <a:chOff x="528357" y="1705748"/>
            <a:chExt cx="11135092" cy="446386"/>
          </a:xfrm>
        </p:grpSpPr>
        <p:sp>
          <p:nvSpPr>
            <p:cNvPr id="30" name="Left-Right Arrow 29"/>
            <p:cNvSpPr/>
            <p:nvPr/>
          </p:nvSpPr>
          <p:spPr>
            <a:xfrm>
              <a:off x="528357" y="1705748"/>
              <a:ext cx="11135092" cy="446386"/>
            </a:xfrm>
            <a:prstGeom prst="leftRightArrow">
              <a:avLst/>
            </a:prstGeom>
            <a:solidFill>
              <a:srgbClr val="00206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31" name="TextBox 30"/>
            <p:cNvSpPr txBox="1"/>
            <p:nvPr/>
          </p:nvSpPr>
          <p:spPr bwMode="gray">
            <a:xfrm>
              <a:off x="1561276" y="1746633"/>
              <a:ext cx="1734793" cy="354833"/>
            </a:xfrm>
            <a:prstGeom prst="rect">
              <a:avLst/>
            </a:prstGeom>
          </p:spPr>
          <p:txBody>
            <a:bodyPr vert="horz" wrap="none" lIns="91440" tIns="45720" rIns="91440" bIns="45720" rtlCol="0" anchor="ctr">
              <a:noAutofit/>
            </a:bodyPr>
            <a:lstStyle/>
            <a:p>
              <a:r>
                <a:rPr lang="en-IN" b="1" dirty="0">
                  <a:solidFill>
                    <a:prstClr val="white"/>
                  </a:solidFill>
                </a:rPr>
                <a:t>Analytic Services</a:t>
              </a:r>
            </a:p>
          </p:txBody>
        </p:sp>
        <p:sp>
          <p:nvSpPr>
            <p:cNvPr id="32" name="TextBox 31"/>
            <p:cNvSpPr txBox="1"/>
            <p:nvPr/>
          </p:nvSpPr>
          <p:spPr bwMode="gray">
            <a:xfrm>
              <a:off x="4672881" y="1747677"/>
              <a:ext cx="2881557" cy="354833"/>
            </a:xfrm>
            <a:prstGeom prst="rect">
              <a:avLst/>
            </a:prstGeom>
          </p:spPr>
          <p:txBody>
            <a:bodyPr vert="horz" wrap="none" lIns="91440" tIns="45720" rIns="91440" bIns="45720" rtlCol="0" anchor="ctr">
              <a:noAutofit/>
            </a:bodyPr>
            <a:lstStyle/>
            <a:p>
              <a:r>
                <a:rPr lang="en-IN" b="1" dirty="0">
                  <a:solidFill>
                    <a:prstClr val="white"/>
                  </a:solidFill>
                </a:rPr>
                <a:t>Largest and Richest Database</a:t>
              </a:r>
            </a:p>
          </p:txBody>
        </p:sp>
        <p:sp>
          <p:nvSpPr>
            <p:cNvPr id="33" name="TextBox 32"/>
            <p:cNvSpPr txBox="1"/>
            <p:nvPr/>
          </p:nvSpPr>
          <p:spPr bwMode="gray">
            <a:xfrm>
              <a:off x="8390154" y="1746632"/>
              <a:ext cx="2275780" cy="354833"/>
            </a:xfrm>
            <a:prstGeom prst="rect">
              <a:avLst/>
            </a:prstGeom>
          </p:spPr>
          <p:txBody>
            <a:bodyPr vert="horz" wrap="none" lIns="91440" tIns="45720" rIns="91440" bIns="45720" rtlCol="0" anchor="ctr">
              <a:noAutofit/>
            </a:bodyPr>
            <a:lstStyle/>
            <a:p>
              <a:r>
                <a:rPr lang="en-IN" b="1" dirty="0">
                  <a:solidFill>
                    <a:prstClr val="white"/>
                  </a:solidFill>
                </a:rPr>
                <a:t>Collaboration and One Tata</a:t>
              </a:r>
            </a:p>
          </p:txBody>
        </p:sp>
      </p:grpSp>
      <p:grpSp>
        <p:nvGrpSpPr>
          <p:cNvPr id="34" name="Group 33"/>
          <p:cNvGrpSpPr/>
          <p:nvPr/>
        </p:nvGrpSpPr>
        <p:grpSpPr>
          <a:xfrm>
            <a:off x="4414356" y="2484552"/>
            <a:ext cx="1107537" cy="1897484"/>
            <a:chOff x="2953253" y="2191887"/>
            <a:chExt cx="1400538" cy="2379509"/>
          </a:xfrm>
        </p:grpSpPr>
        <p:sp>
          <p:nvSpPr>
            <p:cNvPr id="35" name="Rounded Rectangle 34"/>
            <p:cNvSpPr/>
            <p:nvPr>
              <p:custDataLst>
                <p:tags r:id="rId1"/>
              </p:custDataLst>
            </p:nvPr>
          </p:nvSpPr>
          <p:spPr bwMode="gray">
            <a:xfrm>
              <a:off x="3094944" y="2191887"/>
              <a:ext cx="1108539" cy="2379509"/>
            </a:xfrm>
            <a:prstGeom prst="roundRect">
              <a:avLst>
                <a:gd name="adj" fmla="val 9878"/>
              </a:avLst>
            </a:prstGeom>
            <a:solidFill>
              <a:schemeClr val="bg1">
                <a:lumMod val="95000"/>
              </a:schemeClr>
            </a:solidFill>
            <a:ln w="6350"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tIns="91440"/>
            <a:lstStyle/>
            <a:p>
              <a:pPr indent="-171450" defTabSz="895350" fontAlgn="base">
                <a:spcBef>
                  <a:spcPct val="0"/>
                </a:spcBef>
                <a:spcAft>
                  <a:spcPct val="0"/>
                </a:spcAft>
                <a:buClr>
                  <a:srgbClr val="11356F"/>
                </a:buClr>
                <a:buSzPct val="100000"/>
                <a:defRPr/>
              </a:pPr>
              <a:endParaRPr lang="en-GB" sz="1400" dirty="0">
                <a:solidFill>
                  <a:prstClr val="black">
                    <a:lumMod val="65000"/>
                    <a:lumOff val="35000"/>
                  </a:prstClr>
                </a:solidFill>
                <a:cs typeface="Arial" pitchFamily="34" charset="0"/>
              </a:endParaRPr>
            </a:p>
          </p:txBody>
        </p:sp>
        <p:pic>
          <p:nvPicPr>
            <p:cNvPr id="36" name="Picture 35" descr="http://socialmediab2b.com/wp-content/uploads/2011/12/Dun-Bradstreet-social-media.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3358113" y="2274159"/>
              <a:ext cx="551730" cy="53552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http://www.ucanews.com/uploads/2011/03/FFT505_1s.jpg"/>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3233586" y="3034527"/>
              <a:ext cx="440738" cy="50030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http://3.bp.blogspot.com/-b_9jTjLfg5Y/T9WJY1TcvVI/AAAAAAAAAg4/02iZ1BRgO3c/s1600/Rajasthan%2BGovernment%25E2%2580%2599s.jpg"/>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49813" y="3049044"/>
              <a:ext cx="280314" cy="46733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68583" y="3801468"/>
              <a:ext cx="576049" cy="486336"/>
            </a:xfrm>
            <a:prstGeom prst="rect">
              <a:avLst/>
            </a:prstGeom>
          </p:spPr>
        </p:pic>
        <p:sp>
          <p:nvSpPr>
            <p:cNvPr id="41" name="Rounded Rectangle 40"/>
            <p:cNvSpPr/>
            <p:nvPr>
              <p:custDataLst>
                <p:tags r:id="rId2"/>
              </p:custDataLst>
            </p:nvPr>
          </p:nvSpPr>
          <p:spPr bwMode="gray">
            <a:xfrm>
              <a:off x="3190972" y="2203966"/>
              <a:ext cx="931272" cy="324668"/>
            </a:xfrm>
            <a:prstGeom prst="roundRect">
              <a:avLst/>
            </a:prstGeom>
          </p:spPr>
          <p:txBody>
            <a:bodyPr vert="horz" lIns="91440" tIns="45720" rIns="91440" bIns="45720" rtlCol="0" anchor="ctr">
              <a:noAutofit/>
            </a:bodyPr>
            <a:lstStyle/>
            <a:p>
              <a:pPr fontAlgn="base">
                <a:spcBef>
                  <a:spcPct val="0"/>
                </a:spcBef>
                <a:spcAft>
                  <a:spcPct val="0"/>
                </a:spcAft>
              </a:pPr>
              <a:endParaRPr lang="en-GB" sz="1600" b="1" dirty="0">
                <a:solidFill>
                  <a:srgbClr val="0091CF"/>
                </a:solidFill>
                <a:cs typeface="Calibri"/>
              </a:endParaRPr>
            </a:p>
          </p:txBody>
        </p:sp>
        <p:sp>
          <p:nvSpPr>
            <p:cNvPr id="42" name="TextBox 41"/>
            <p:cNvSpPr txBox="1"/>
            <p:nvPr/>
          </p:nvSpPr>
          <p:spPr bwMode="gray">
            <a:xfrm>
              <a:off x="2953253" y="2733506"/>
              <a:ext cx="1400011" cy="353038"/>
            </a:xfrm>
            <a:prstGeom prst="rect">
              <a:avLst/>
            </a:prstGeom>
            <a:noFill/>
            <a:ln>
              <a:noFill/>
            </a:ln>
          </p:spPr>
          <p:txBody>
            <a:bodyPr vert="horz" wrap="square" lIns="91440" tIns="45720" rIns="91440" bIns="45720" rtlCol="0" anchor="ctr">
              <a:noAutofit/>
            </a:bodyPr>
            <a:lstStyle>
              <a:defPPr>
                <a:defRPr lang="en-US"/>
              </a:defPPr>
              <a:lvl1pPr algn="ctr">
                <a:defRPr sz="3600" b="1">
                  <a:solidFill>
                    <a:schemeClr val="bg1">
                      <a:lumMod val="50000"/>
                    </a:schemeClr>
                  </a:solidFill>
                </a:defRPr>
              </a:lvl1pPr>
            </a:lstStyle>
            <a:p>
              <a:r>
                <a:rPr lang="en-IN" sz="1200" b="0" dirty="0" smtClean="0">
                  <a:solidFill>
                    <a:srgbClr val="000000"/>
                  </a:solidFill>
                </a:rPr>
                <a:t>Proprietary</a:t>
              </a:r>
              <a:endParaRPr lang="en-IN" sz="1200" b="0" dirty="0">
                <a:solidFill>
                  <a:srgbClr val="000000"/>
                </a:solidFill>
              </a:endParaRPr>
            </a:p>
          </p:txBody>
        </p:sp>
        <p:sp>
          <p:nvSpPr>
            <p:cNvPr id="43" name="TextBox 42"/>
            <p:cNvSpPr txBox="1"/>
            <p:nvPr/>
          </p:nvSpPr>
          <p:spPr bwMode="gray">
            <a:xfrm>
              <a:off x="2953779" y="3485396"/>
              <a:ext cx="1400012" cy="353038"/>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200" b="0" dirty="0">
                  <a:solidFill>
                    <a:srgbClr val="000000"/>
                  </a:solidFill>
                </a:rPr>
                <a:t>Public</a:t>
              </a:r>
            </a:p>
          </p:txBody>
        </p:sp>
      </p:grpSp>
      <p:sp>
        <p:nvSpPr>
          <p:cNvPr id="44" name="TextBox 43"/>
          <p:cNvSpPr txBox="1"/>
          <p:nvPr/>
        </p:nvSpPr>
        <p:spPr bwMode="gray">
          <a:xfrm>
            <a:off x="4417911" y="4530699"/>
            <a:ext cx="3198955" cy="190193"/>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Tata iQ Proprietary Database</a:t>
            </a:r>
            <a:endParaRPr lang="en-IN" sz="1800" dirty="0">
              <a:solidFill>
                <a:srgbClr val="000000"/>
              </a:solidFill>
            </a:endParaRPr>
          </a:p>
        </p:txBody>
      </p:sp>
      <p:sp>
        <p:nvSpPr>
          <p:cNvPr id="45" name="Rectangle 44"/>
          <p:cNvSpPr/>
          <p:nvPr/>
        </p:nvSpPr>
        <p:spPr>
          <a:xfrm>
            <a:off x="4419934" y="4930163"/>
            <a:ext cx="3252120" cy="1077218"/>
          </a:xfrm>
          <a:prstGeom prst="rect">
            <a:avLst/>
          </a:prstGeom>
        </p:spPr>
        <p:txBody>
          <a:bodyPr wrap="square">
            <a:spAutoFit/>
          </a:bodyPr>
          <a:lstStyle/>
          <a:p>
            <a:pPr marL="1588" algn="ctr" defTabSz="457200">
              <a:buClr>
                <a:srgbClr val="000000"/>
              </a:buClr>
            </a:pPr>
            <a:r>
              <a:rPr lang="en-US" sz="1600" b="1" dirty="0">
                <a:solidFill>
                  <a:srgbClr val="5E5E5E">
                    <a:lumMod val="60000"/>
                    <a:lumOff val="40000"/>
                  </a:srgbClr>
                </a:solidFill>
                <a:cs typeface="Arial" charset="0"/>
              </a:rPr>
              <a:t>900MM People Base</a:t>
            </a:r>
          </a:p>
          <a:p>
            <a:pPr marL="1588" algn="ctr" defTabSz="457200">
              <a:buClr>
                <a:srgbClr val="000000"/>
              </a:buClr>
            </a:pPr>
            <a:r>
              <a:rPr lang="en-US" sz="1600" b="1" dirty="0" smtClean="0">
                <a:solidFill>
                  <a:srgbClr val="5E5E5E">
                    <a:lumMod val="60000"/>
                    <a:lumOff val="40000"/>
                  </a:srgbClr>
                </a:solidFill>
                <a:cs typeface="Arial" charset="0"/>
              </a:rPr>
              <a:t>300 </a:t>
            </a:r>
            <a:r>
              <a:rPr lang="en-US" sz="1600" b="1" dirty="0">
                <a:solidFill>
                  <a:srgbClr val="5E5E5E">
                    <a:lumMod val="60000"/>
                    <a:lumOff val="40000"/>
                  </a:srgbClr>
                </a:solidFill>
                <a:cs typeface="Arial" charset="0"/>
              </a:rPr>
              <a:t>MM Enriched Base </a:t>
            </a:r>
          </a:p>
          <a:p>
            <a:pPr marL="1588" algn="ctr" defTabSz="457200">
              <a:buClr>
                <a:srgbClr val="000000"/>
              </a:buClr>
            </a:pPr>
            <a:r>
              <a:rPr lang="en-US" sz="1600" b="1" dirty="0">
                <a:solidFill>
                  <a:srgbClr val="5E5E5E">
                    <a:lumMod val="60000"/>
                    <a:lumOff val="40000"/>
                  </a:srgbClr>
                </a:solidFill>
                <a:cs typeface="Arial" charset="0"/>
              </a:rPr>
              <a:t>Data across Individuals &amp; Institutions</a:t>
            </a:r>
          </a:p>
        </p:txBody>
      </p:sp>
      <p:sp>
        <p:nvSpPr>
          <p:cNvPr id="46" name="TextBox 45"/>
          <p:cNvSpPr txBox="1"/>
          <p:nvPr/>
        </p:nvSpPr>
        <p:spPr bwMode="gray">
          <a:xfrm>
            <a:off x="4645465" y="4192987"/>
            <a:ext cx="734968" cy="251122"/>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200" b="0" dirty="0" smtClean="0">
                <a:solidFill>
                  <a:srgbClr val="000000"/>
                </a:solidFill>
              </a:rPr>
              <a:t>Internal</a:t>
            </a:r>
            <a:endParaRPr lang="en-IN" sz="1200" b="0" dirty="0">
              <a:solidFill>
                <a:srgbClr val="000000"/>
              </a:solidFill>
            </a:endParaRPr>
          </a:p>
        </p:txBody>
      </p:sp>
      <p:sp>
        <p:nvSpPr>
          <p:cNvPr id="47" name="TextBox 46"/>
          <p:cNvSpPr txBox="1"/>
          <p:nvPr/>
        </p:nvSpPr>
        <p:spPr bwMode="gray">
          <a:xfrm>
            <a:off x="700333" y="2971693"/>
            <a:ext cx="758997"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Campaigns</a:t>
            </a:r>
            <a:endParaRPr lang="en-IN" sz="1100" dirty="0">
              <a:solidFill>
                <a:srgbClr val="000000"/>
              </a:solidFill>
            </a:endParaRPr>
          </a:p>
        </p:txBody>
      </p:sp>
      <p:sp>
        <p:nvSpPr>
          <p:cNvPr id="48" name="TextBox 47"/>
          <p:cNvSpPr txBox="1"/>
          <p:nvPr/>
        </p:nvSpPr>
        <p:spPr bwMode="gray">
          <a:xfrm>
            <a:off x="2807895" y="3018079"/>
            <a:ext cx="758997"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Customer Insight &amp; </a:t>
            </a:r>
          </a:p>
          <a:p>
            <a:pPr algn="ctr"/>
            <a:r>
              <a:rPr lang="en-IN" sz="1100" dirty="0" smtClean="0">
                <a:solidFill>
                  <a:srgbClr val="000000"/>
                </a:solidFill>
              </a:rPr>
              <a:t>Prospecting</a:t>
            </a:r>
            <a:endParaRPr lang="en-IN" sz="1100" dirty="0">
              <a:solidFill>
                <a:srgbClr val="000000"/>
              </a:solidFill>
            </a:endParaRPr>
          </a:p>
        </p:txBody>
      </p:sp>
      <p:sp>
        <p:nvSpPr>
          <p:cNvPr id="49" name="TextBox 48"/>
          <p:cNvSpPr txBox="1"/>
          <p:nvPr/>
        </p:nvSpPr>
        <p:spPr bwMode="gray">
          <a:xfrm>
            <a:off x="1852348" y="3563726"/>
            <a:ext cx="681041"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Risk Analytics</a:t>
            </a:r>
            <a:endParaRPr lang="en-IN" sz="1100" dirty="0">
              <a:solidFill>
                <a:srgbClr val="000000"/>
              </a:solidFill>
            </a:endParaRPr>
          </a:p>
        </p:txBody>
      </p:sp>
      <p:sp>
        <p:nvSpPr>
          <p:cNvPr id="50" name="TextBox 49"/>
          <p:cNvSpPr txBox="1"/>
          <p:nvPr/>
        </p:nvSpPr>
        <p:spPr bwMode="gray">
          <a:xfrm>
            <a:off x="2436613" y="4014042"/>
            <a:ext cx="605963"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Operations</a:t>
            </a:r>
            <a:endParaRPr lang="en-IN" sz="1100" dirty="0">
              <a:solidFill>
                <a:srgbClr val="000000"/>
              </a:solidFill>
            </a:endParaRPr>
          </a:p>
        </p:txBody>
      </p:sp>
      <p:sp>
        <p:nvSpPr>
          <p:cNvPr id="53" name="TextBox 52"/>
          <p:cNvSpPr txBox="1"/>
          <p:nvPr/>
        </p:nvSpPr>
        <p:spPr bwMode="gray">
          <a:xfrm>
            <a:off x="699281" y="4014042"/>
            <a:ext cx="1100035"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Supply Chain</a:t>
            </a:r>
            <a:endParaRPr lang="en-IN" sz="1000" dirty="0">
              <a:solidFill>
                <a:srgbClr val="000000"/>
              </a:solidFill>
            </a:endParaRPr>
          </a:p>
        </p:txBody>
      </p:sp>
      <p:sp>
        <p:nvSpPr>
          <p:cNvPr id="55" name="TextBox 54"/>
          <p:cNvSpPr txBox="1"/>
          <p:nvPr/>
        </p:nvSpPr>
        <p:spPr bwMode="gray">
          <a:xfrm>
            <a:off x="472788" y="4828015"/>
            <a:ext cx="3307410" cy="1263954"/>
          </a:xfrm>
          <a:prstGeom prst="rect">
            <a:avLst/>
          </a:prstGeom>
        </p:spPr>
        <p:txBody>
          <a:bodyPr vert="horz" wrap="square" lIns="91440" tIns="45720" rIns="91440" bIns="45720" rtlCol="0" anchor="ctr">
            <a:noAutofit/>
          </a:bodyPr>
          <a:lstStyle/>
          <a:p>
            <a:pPr algn="ctr" defTabSz="457200"/>
            <a:r>
              <a:rPr lang="en-US" sz="1400" b="1" dirty="0">
                <a:solidFill>
                  <a:srgbClr val="5E5E5E">
                    <a:lumMod val="60000"/>
                    <a:lumOff val="40000"/>
                  </a:srgbClr>
                </a:solidFill>
                <a:cs typeface="Arial" charset="0"/>
              </a:rPr>
              <a:t>Profiling, Segmentation, Predictive Analytics, Machine Learning</a:t>
            </a:r>
          </a:p>
          <a:p>
            <a:pPr algn="ctr" defTabSz="457200"/>
            <a:r>
              <a:rPr lang="en-US" sz="1400" b="1" dirty="0">
                <a:solidFill>
                  <a:srgbClr val="5E5E5E">
                    <a:lumMod val="60000"/>
                    <a:lumOff val="40000"/>
                  </a:srgbClr>
                </a:solidFill>
                <a:cs typeface="Arial" charset="0"/>
              </a:rPr>
              <a:t>Quantitative Analytics, </a:t>
            </a:r>
            <a:r>
              <a:rPr lang="en-IN" sz="1400" b="1" dirty="0">
                <a:solidFill>
                  <a:srgbClr val="5E5E5E">
                    <a:lumMod val="60000"/>
                    <a:lumOff val="40000"/>
                  </a:srgbClr>
                </a:solidFill>
                <a:cs typeface="Arial" charset="0"/>
              </a:rPr>
              <a:t>Existing Customer management (cross-sell, up-sell), Pricing, Channel, Store, Online, Assortment, Risk, Digital, Operations, Prospecting  </a:t>
            </a:r>
          </a:p>
        </p:txBody>
      </p:sp>
      <p:sp>
        <p:nvSpPr>
          <p:cNvPr id="56" name="TextBox 55"/>
          <p:cNvSpPr txBox="1"/>
          <p:nvPr/>
        </p:nvSpPr>
        <p:spPr bwMode="gray">
          <a:xfrm>
            <a:off x="646262" y="4451531"/>
            <a:ext cx="2979196" cy="205610"/>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Advanced Analytic Solutions</a:t>
            </a:r>
            <a:endParaRPr lang="en-IN" sz="1800" dirty="0">
              <a:solidFill>
                <a:srgbClr val="000000"/>
              </a:solidFill>
            </a:endParaRPr>
          </a:p>
        </p:txBody>
      </p:sp>
      <p:grpSp>
        <p:nvGrpSpPr>
          <p:cNvPr id="58" name="Group 57"/>
          <p:cNvGrpSpPr/>
          <p:nvPr/>
        </p:nvGrpSpPr>
        <p:grpSpPr>
          <a:xfrm rot="16200000">
            <a:off x="5814434" y="3138145"/>
            <a:ext cx="827490" cy="1477908"/>
            <a:chOff x="6878550" y="2886966"/>
            <a:chExt cx="800806" cy="1430249"/>
          </a:xfrm>
        </p:grpSpPr>
        <p:sp>
          <p:nvSpPr>
            <p:cNvPr id="59" name="Oval 58"/>
            <p:cNvSpPr/>
            <p:nvPr/>
          </p:nvSpPr>
          <p:spPr>
            <a:xfrm>
              <a:off x="6897467" y="3535326"/>
              <a:ext cx="781889" cy="781889"/>
            </a:xfrm>
            <a:prstGeom prst="ellipse">
              <a:avLst/>
            </a:prstGeom>
            <a:solidFill>
              <a:schemeClr val="accent6">
                <a:lumMod val="75000"/>
                <a:alpha val="79000"/>
              </a:schemeClr>
            </a:solidFill>
            <a:ln>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050" dirty="0">
                  <a:solidFill>
                    <a:prstClr val="white"/>
                  </a:solidFill>
                </a:rPr>
                <a:t>Online</a:t>
              </a:r>
            </a:p>
            <a:p>
              <a:pPr algn="ctr"/>
              <a:r>
                <a:rPr lang="en-IN" sz="1050" dirty="0">
                  <a:solidFill>
                    <a:prstClr val="white"/>
                  </a:solidFill>
                </a:rPr>
                <a:t>Data</a:t>
              </a:r>
            </a:p>
          </p:txBody>
        </p:sp>
        <p:sp>
          <p:nvSpPr>
            <p:cNvPr id="60" name="Oval 59"/>
            <p:cNvSpPr/>
            <p:nvPr/>
          </p:nvSpPr>
          <p:spPr>
            <a:xfrm>
              <a:off x="6878550" y="2886966"/>
              <a:ext cx="781889" cy="781889"/>
            </a:xfrm>
            <a:prstGeom prst="ellipse">
              <a:avLst/>
            </a:prstGeom>
            <a:solidFill>
              <a:schemeClr val="tx2">
                <a:lumMod val="60000"/>
                <a:lumOff val="40000"/>
                <a:alpha val="79000"/>
              </a:schemeClr>
            </a:solidFill>
            <a:ln>
              <a:solidFill>
                <a:schemeClr val="tx2">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050" dirty="0">
                  <a:solidFill>
                    <a:prstClr val="white"/>
                  </a:solidFill>
                </a:rPr>
                <a:t>Offline</a:t>
              </a:r>
            </a:p>
            <a:p>
              <a:pPr algn="ctr"/>
              <a:r>
                <a:rPr lang="en-IN" sz="1050" dirty="0">
                  <a:solidFill>
                    <a:prstClr val="white"/>
                  </a:solidFill>
                </a:rPr>
                <a:t>Data</a:t>
              </a:r>
            </a:p>
          </p:txBody>
        </p:sp>
      </p:grpSp>
      <p:grpSp>
        <p:nvGrpSpPr>
          <p:cNvPr id="61" name="Group 60"/>
          <p:cNvGrpSpPr/>
          <p:nvPr/>
        </p:nvGrpSpPr>
        <p:grpSpPr>
          <a:xfrm>
            <a:off x="1623658" y="1784659"/>
            <a:ext cx="954046" cy="954046"/>
            <a:chOff x="1550288" y="4209766"/>
            <a:chExt cx="1142151" cy="1142151"/>
          </a:xfrm>
        </p:grpSpPr>
        <p:sp>
          <p:nvSpPr>
            <p:cNvPr id="62" name="Oval 61"/>
            <p:cNvSpPr/>
            <p:nvPr/>
          </p:nvSpPr>
          <p:spPr>
            <a:xfrm>
              <a:off x="1550288" y="4209766"/>
              <a:ext cx="1142151" cy="1142151"/>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63" name="Picture 10" descr="http://www.d2-analytics.com/images/business_analytics_4.jpg"/>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42802" y="4355256"/>
              <a:ext cx="930492" cy="9175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Group 63"/>
          <p:cNvGrpSpPr/>
          <p:nvPr/>
        </p:nvGrpSpPr>
        <p:grpSpPr>
          <a:xfrm>
            <a:off x="9450817" y="1784659"/>
            <a:ext cx="954046" cy="954046"/>
            <a:chOff x="9623954" y="2236108"/>
            <a:chExt cx="782029" cy="782029"/>
          </a:xfrm>
        </p:grpSpPr>
        <p:sp>
          <p:nvSpPr>
            <p:cNvPr id="65" name="Oval 64"/>
            <p:cNvSpPr/>
            <p:nvPr/>
          </p:nvSpPr>
          <p:spPr>
            <a:xfrm>
              <a:off x="9623954" y="2236108"/>
              <a:ext cx="782029" cy="782029"/>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66" name="Picture 12" descr="http://static1.squarespace.com/static/52f2e912e4b052b2dabe3343/t/536d2006e4b03a731bdb54b3/1392326037613/NETWORK%20ICON_87%20copy.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702191" y="2335725"/>
              <a:ext cx="616675" cy="61500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Group 66"/>
          <p:cNvGrpSpPr/>
          <p:nvPr/>
        </p:nvGrpSpPr>
        <p:grpSpPr>
          <a:xfrm>
            <a:off x="5568971" y="1802508"/>
            <a:ext cx="954046" cy="954046"/>
            <a:chOff x="5742108" y="2253957"/>
            <a:chExt cx="782029" cy="782029"/>
          </a:xfrm>
        </p:grpSpPr>
        <p:sp>
          <p:nvSpPr>
            <p:cNvPr id="68" name="Oval 67"/>
            <p:cNvSpPr/>
            <p:nvPr/>
          </p:nvSpPr>
          <p:spPr>
            <a:xfrm>
              <a:off x="5742108" y="2253957"/>
              <a:ext cx="782029" cy="782029"/>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69" name="Picture 16" descr="https://cdn3.iconfinder.com/data/icons/chemistry-1/512/DNA_binary_code-128.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890895" y="2394743"/>
              <a:ext cx="484454" cy="484454"/>
            </a:xfrm>
            <a:prstGeom prst="rect">
              <a:avLst/>
            </a:prstGeom>
            <a:noFill/>
            <a:extLst>
              <a:ext uri="{909E8E84-426E-40DD-AFC4-6F175D3DCCD1}">
                <a14:hiddenFill xmlns:a14="http://schemas.microsoft.com/office/drawing/2010/main">
                  <a:solidFill>
                    <a:srgbClr val="FFFFFF"/>
                  </a:solidFill>
                </a14:hiddenFill>
              </a:ext>
            </a:extLst>
          </p:spPr>
        </p:pic>
      </p:grpSp>
      <p:pic>
        <p:nvPicPr>
          <p:cNvPr id="70" name="Picture 69"/>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09845" y="2875903"/>
            <a:ext cx="920796" cy="883466"/>
          </a:xfrm>
          <a:prstGeom prst="rect">
            <a:avLst/>
          </a:prstGeom>
        </p:spPr>
      </p:pic>
      <p:pic>
        <p:nvPicPr>
          <p:cNvPr id="71" name="Picture 7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320319" y="2332116"/>
            <a:ext cx="1496810" cy="1150784"/>
          </a:xfrm>
          <a:prstGeom prst="rect">
            <a:avLst/>
          </a:prstGeom>
        </p:spPr>
      </p:pic>
      <p:pic>
        <p:nvPicPr>
          <p:cNvPr id="72" name="Picture 7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852457" y="2821601"/>
            <a:ext cx="192322" cy="357169"/>
          </a:xfrm>
          <a:prstGeom prst="rect">
            <a:avLst/>
          </a:prstGeom>
        </p:spPr>
      </p:pic>
      <p:sp>
        <p:nvSpPr>
          <p:cNvPr id="73" name="TextBox 72"/>
          <p:cNvSpPr txBox="1"/>
          <p:nvPr/>
        </p:nvSpPr>
        <p:spPr bwMode="gray">
          <a:xfrm>
            <a:off x="8430470" y="3708130"/>
            <a:ext cx="1100035" cy="354833"/>
          </a:xfrm>
          <a:prstGeom prst="rect">
            <a:avLst/>
          </a:prstGeom>
        </p:spPr>
        <p:txBody>
          <a:bodyPr vert="horz" wrap="none" lIns="91440" tIns="45720" rIns="91440" bIns="45720" rtlCol="0" anchor="ctr">
            <a:noAutofit/>
          </a:bodyPr>
          <a:lstStyle/>
          <a:p>
            <a:pPr algn="ctr"/>
            <a:r>
              <a:rPr lang="en-IN" sz="1400" dirty="0" smtClean="0">
                <a:solidFill>
                  <a:srgbClr val="000000"/>
                </a:solidFill>
              </a:rPr>
              <a:t>TSSS’15</a:t>
            </a:r>
            <a:endParaRPr lang="en-IN" sz="1400" dirty="0">
              <a:solidFill>
                <a:srgbClr val="000000"/>
              </a:solidFill>
            </a:endParaRPr>
          </a:p>
        </p:txBody>
      </p:sp>
      <p:sp>
        <p:nvSpPr>
          <p:cNvPr id="74" name="TextBox 73"/>
          <p:cNvSpPr txBox="1"/>
          <p:nvPr/>
        </p:nvSpPr>
        <p:spPr bwMode="gray">
          <a:xfrm>
            <a:off x="9445656" y="3211353"/>
            <a:ext cx="1100035" cy="205589"/>
          </a:xfrm>
          <a:prstGeom prst="rect">
            <a:avLst/>
          </a:prstGeom>
        </p:spPr>
        <p:txBody>
          <a:bodyPr vert="horz" wrap="none" lIns="91440" tIns="45720" rIns="91440" bIns="45720" rtlCol="0" anchor="ctr">
            <a:noAutofit/>
          </a:bodyPr>
          <a:lstStyle/>
          <a:p>
            <a:pPr algn="ctr"/>
            <a:r>
              <a:rPr lang="en-IN" sz="1400" dirty="0" smtClean="0">
                <a:solidFill>
                  <a:srgbClr val="000000"/>
                </a:solidFill>
              </a:rPr>
              <a:t>ShopsAPP</a:t>
            </a:r>
            <a:endParaRPr lang="en-IN" sz="1400" dirty="0">
              <a:solidFill>
                <a:srgbClr val="000000"/>
              </a:solidFill>
            </a:endParaRPr>
          </a:p>
        </p:txBody>
      </p:sp>
      <p:pic>
        <p:nvPicPr>
          <p:cNvPr id="75" name="Picture 22" descr="http://www.businessexpocenter.com/resource/resmgr/affiliate_programs_icon_75.png"/>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48950" y="2864511"/>
            <a:ext cx="973911" cy="676187"/>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p:cNvSpPr txBox="1"/>
          <p:nvPr/>
        </p:nvSpPr>
        <p:spPr bwMode="gray">
          <a:xfrm>
            <a:off x="10463023" y="3583074"/>
            <a:ext cx="1100035" cy="354833"/>
          </a:xfrm>
          <a:prstGeom prst="rect">
            <a:avLst/>
          </a:prstGeom>
        </p:spPr>
        <p:txBody>
          <a:bodyPr vert="horz" wrap="none" lIns="91440" tIns="45720" rIns="91440" bIns="45720" rtlCol="0" anchor="ctr">
            <a:noAutofit/>
          </a:bodyPr>
          <a:lstStyle/>
          <a:p>
            <a:pPr algn="ctr"/>
            <a:r>
              <a:rPr lang="en-IN" sz="1400" dirty="0">
                <a:solidFill>
                  <a:srgbClr val="000000"/>
                </a:solidFill>
              </a:rPr>
              <a:t>Affiliate </a:t>
            </a:r>
          </a:p>
          <a:p>
            <a:pPr algn="ctr"/>
            <a:r>
              <a:rPr lang="en-IN" sz="1400" dirty="0">
                <a:solidFill>
                  <a:srgbClr val="000000"/>
                </a:solidFill>
              </a:rPr>
              <a:t>Marketing</a:t>
            </a:r>
          </a:p>
        </p:txBody>
      </p:sp>
      <p:pic>
        <p:nvPicPr>
          <p:cNvPr id="77" name="Picture 24" descr="https://encrypted-tbn0.gstatic.com/images?q=tbn:ANd9GcTp2Q72evBRMBCXyt7L9AyX-dWTT6cUj52C3z9LgGqokZx3IQdCvQ"/>
          <p:cNvPicPr>
            <a:picLocks noChangeAspect="1" noChangeArrowheads="1"/>
          </p:cNvPicPr>
          <p:nvPr/>
        </p:nvPicPr>
        <p:blipFill>
          <a:blip r:embed="rId17"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428290" y="3566571"/>
            <a:ext cx="1040656" cy="638172"/>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p:cNvSpPr txBox="1"/>
          <p:nvPr/>
        </p:nvSpPr>
        <p:spPr bwMode="gray">
          <a:xfrm>
            <a:off x="9428290" y="4113552"/>
            <a:ext cx="1100035" cy="184503"/>
          </a:xfrm>
          <a:prstGeom prst="rect">
            <a:avLst/>
          </a:prstGeom>
        </p:spPr>
        <p:txBody>
          <a:bodyPr vert="horz" wrap="none" lIns="91440" tIns="45720" rIns="91440" bIns="45720" rtlCol="0" anchor="ctr">
            <a:noAutofit/>
          </a:bodyPr>
          <a:lstStyle/>
          <a:p>
            <a:pPr algn="ctr"/>
            <a:r>
              <a:rPr lang="en-IN" sz="1400" dirty="0">
                <a:solidFill>
                  <a:srgbClr val="000000"/>
                </a:solidFill>
              </a:rPr>
              <a:t>Group-wide Loyalty</a:t>
            </a:r>
          </a:p>
        </p:txBody>
      </p:sp>
      <p:sp>
        <p:nvSpPr>
          <p:cNvPr id="79" name="TextBox 78"/>
          <p:cNvSpPr txBox="1"/>
          <p:nvPr/>
        </p:nvSpPr>
        <p:spPr bwMode="gray">
          <a:xfrm>
            <a:off x="8980487" y="4520610"/>
            <a:ext cx="2134384" cy="204693"/>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Building One Tata</a:t>
            </a:r>
            <a:endParaRPr lang="en-IN" sz="1800" dirty="0">
              <a:solidFill>
                <a:srgbClr val="000000"/>
              </a:solidFill>
            </a:endParaRPr>
          </a:p>
        </p:txBody>
      </p:sp>
      <p:sp>
        <p:nvSpPr>
          <p:cNvPr id="80" name="Rectangle 79"/>
          <p:cNvSpPr/>
          <p:nvPr/>
        </p:nvSpPr>
        <p:spPr>
          <a:xfrm>
            <a:off x="7852786" y="4869328"/>
            <a:ext cx="3778185" cy="1169551"/>
          </a:xfrm>
          <a:prstGeom prst="rect">
            <a:avLst/>
          </a:prstGeom>
        </p:spPr>
        <p:txBody>
          <a:bodyPr wrap="square">
            <a:spAutoFit/>
          </a:bodyPr>
          <a:lstStyle/>
          <a:p>
            <a:pPr lvl="1" algn="ctr"/>
            <a:r>
              <a:rPr lang="en-IN" sz="1400" b="1" dirty="0">
                <a:solidFill>
                  <a:srgbClr val="5E5E5E">
                    <a:lumMod val="60000"/>
                    <a:lumOff val="40000"/>
                  </a:srgbClr>
                </a:solidFill>
                <a:cs typeface="Arial" charset="0"/>
              </a:rPr>
              <a:t>Unified customer </a:t>
            </a:r>
            <a:r>
              <a:rPr lang="en-IN" sz="1400" b="1" dirty="0" smtClean="0">
                <a:solidFill>
                  <a:srgbClr val="5E5E5E">
                    <a:lumMod val="60000"/>
                    <a:lumOff val="40000"/>
                  </a:srgbClr>
                </a:solidFill>
                <a:cs typeface="Arial" charset="0"/>
              </a:rPr>
              <a:t>view, Maximize </a:t>
            </a:r>
            <a:r>
              <a:rPr lang="en-IN" sz="1400" b="1" dirty="0">
                <a:solidFill>
                  <a:srgbClr val="5E5E5E">
                    <a:lumMod val="60000"/>
                    <a:lumOff val="40000"/>
                  </a:srgbClr>
                </a:solidFill>
                <a:cs typeface="Arial" charset="0"/>
              </a:rPr>
              <a:t>Revenue</a:t>
            </a:r>
          </a:p>
          <a:p>
            <a:pPr lvl="1" algn="ctr"/>
            <a:r>
              <a:rPr lang="en-IN" sz="1400" b="1" dirty="0">
                <a:solidFill>
                  <a:srgbClr val="5E5E5E">
                    <a:lumMod val="60000"/>
                    <a:lumOff val="40000"/>
                  </a:srgbClr>
                </a:solidFill>
                <a:cs typeface="Arial" charset="0"/>
              </a:rPr>
              <a:t>Minimize </a:t>
            </a:r>
            <a:r>
              <a:rPr lang="en-IN" sz="1400" b="1" dirty="0" smtClean="0">
                <a:solidFill>
                  <a:srgbClr val="5E5E5E">
                    <a:lumMod val="60000"/>
                    <a:lumOff val="40000"/>
                  </a:srgbClr>
                </a:solidFill>
                <a:cs typeface="Arial" charset="0"/>
              </a:rPr>
              <a:t>Expenses,</a:t>
            </a:r>
            <a:endParaRPr lang="en-IN" sz="1400" b="1" dirty="0">
              <a:solidFill>
                <a:srgbClr val="5E5E5E">
                  <a:lumMod val="60000"/>
                  <a:lumOff val="40000"/>
                </a:srgbClr>
              </a:solidFill>
              <a:cs typeface="Arial" charset="0"/>
            </a:endParaRPr>
          </a:p>
          <a:p>
            <a:pPr lvl="1" algn="ctr"/>
            <a:r>
              <a:rPr lang="en-IN" sz="1400" b="1" dirty="0">
                <a:solidFill>
                  <a:srgbClr val="5E5E5E">
                    <a:lumMod val="60000"/>
                    <a:lumOff val="40000"/>
                  </a:srgbClr>
                </a:solidFill>
                <a:cs typeface="Arial" charset="0"/>
              </a:rPr>
              <a:t>Encompassing Loyalty mitigate risks, superior customer experience, sales/revenue growth </a:t>
            </a:r>
          </a:p>
        </p:txBody>
      </p:sp>
      <p:cxnSp>
        <p:nvCxnSpPr>
          <p:cNvPr id="82" name="Straight Connector 81"/>
          <p:cNvCxnSpPr/>
          <p:nvPr/>
        </p:nvCxnSpPr>
        <p:spPr>
          <a:xfrm>
            <a:off x="472788" y="4769191"/>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382912" y="4820436"/>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8329827" y="4820436"/>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5" name="Picture 84"/>
          <p:cNvPicPr>
            <a:picLocks noChangeAspect="1"/>
          </p:cNvPicPr>
          <p:nvPr/>
        </p:nvPicPr>
        <p:blipFill>
          <a:blip r:embed="rId18"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41612" y="3457374"/>
            <a:ext cx="625169" cy="625169"/>
          </a:xfrm>
          <a:prstGeom prst="rect">
            <a:avLst/>
          </a:prstGeom>
        </p:spPr>
      </p:pic>
      <p:pic>
        <p:nvPicPr>
          <p:cNvPr id="86" name="Picture 10" descr="https://encrypted-tbn3.gstatic.com/images?q=tbn:ANd9GcSD-3EzO6E8A8YH_E1QeV--zMX3M-uOeZkKLMhkGbZj5ZZKtqZ3pg"/>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1226465">
            <a:off x="723904" y="2505823"/>
            <a:ext cx="871614" cy="61143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8" descr="https://i.ytimg.com/vi/w-CK8VxMz9g/maxresdefault.jpg"/>
          <p:cNvPicPr>
            <a:picLocks noChangeAspect="1" noChangeArrowheads="1"/>
          </p:cNvPicPr>
          <p:nvPr/>
        </p:nvPicPr>
        <p:blipFill>
          <a:blip r:embed="rId20"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765504" y="3100181"/>
            <a:ext cx="810187" cy="60764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89"/>
          <p:cNvPicPr>
            <a:picLocks noChangeAspect="1"/>
          </p:cNvPicPr>
          <p:nvPr/>
        </p:nvPicPr>
        <p:blipFill>
          <a:blip r:embed="rId21">
            <a:clrChange>
              <a:clrFrom>
                <a:srgbClr val="FFFFFF"/>
              </a:clrFrom>
              <a:clrTo>
                <a:srgbClr val="FFFFFF">
                  <a:alpha val="0"/>
                </a:srgbClr>
              </a:clrTo>
            </a:clrChange>
          </a:blip>
          <a:stretch>
            <a:fillRect/>
          </a:stretch>
        </p:blipFill>
        <p:spPr>
          <a:xfrm>
            <a:off x="2905673" y="2502481"/>
            <a:ext cx="629705" cy="549627"/>
          </a:xfrm>
          <a:prstGeom prst="rect">
            <a:avLst/>
          </a:prstGeom>
        </p:spPr>
      </p:pic>
      <p:pic>
        <p:nvPicPr>
          <p:cNvPr id="1026" name="Picture 2" descr="http://www.operationsmanager.com/wp-content/uploads/2015/02/secret-weapon.png"/>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659127" y="3526610"/>
            <a:ext cx="971024" cy="776820"/>
          </a:xfrm>
          <a:prstGeom prst="rect">
            <a:avLst/>
          </a:prstGeom>
          <a:noFill/>
          <a:extLst>
            <a:ext uri="{909E8E84-426E-40DD-AFC4-6F175D3DCCD1}">
              <a14:hiddenFill xmlns:a14="http://schemas.microsoft.com/office/drawing/2010/main">
                <a:solidFill>
                  <a:srgbClr val="FFFFFF"/>
                </a:solidFill>
              </a14:hiddenFill>
            </a:ext>
          </a:extLst>
        </p:spPr>
      </p:pic>
      <p:sp>
        <p:nvSpPr>
          <p:cNvPr id="81" name="Slide Number Placeholder 3"/>
          <p:cNvSpPr>
            <a:spLocks noGrp="1"/>
          </p:cNvSpPr>
          <p:nvPr>
            <p:ph type="sldNum" sz="quarter" idx="12"/>
          </p:nvPr>
        </p:nvSpPr>
        <p:spPr>
          <a:xfrm>
            <a:off x="9448800" y="6350"/>
            <a:ext cx="2743200" cy="365125"/>
          </a:xfrm>
        </p:spPr>
        <p:txBody>
          <a:bodyPr/>
          <a:lstStyle/>
          <a:p>
            <a:r>
              <a:rPr lang="en-IN" dirty="0" smtClean="0"/>
              <a:t>3</a:t>
            </a:r>
            <a:endParaRPr lang="en-IN" dirty="0"/>
          </a:p>
        </p:txBody>
      </p:sp>
    </p:spTree>
    <p:extLst>
      <p:ext uri="{BB962C8B-B14F-4D97-AF65-F5344CB8AC3E}">
        <p14:creationId xmlns:p14="http://schemas.microsoft.com/office/powerpoint/2010/main" val="26986427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p:cNvSpPr/>
          <p:nvPr/>
        </p:nvSpPr>
        <p:spPr>
          <a:xfrm>
            <a:off x="6167577" y="1901796"/>
            <a:ext cx="1840054" cy="300900"/>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sp>
        <p:nvSpPr>
          <p:cNvPr id="85" name="Rectangle 84"/>
          <p:cNvSpPr/>
          <p:nvPr/>
        </p:nvSpPr>
        <p:spPr>
          <a:xfrm>
            <a:off x="9848555" y="4655413"/>
            <a:ext cx="1840054" cy="340618"/>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sp>
        <p:nvSpPr>
          <p:cNvPr id="84" name="Rectangle 83"/>
          <p:cNvSpPr/>
          <p:nvPr/>
        </p:nvSpPr>
        <p:spPr>
          <a:xfrm>
            <a:off x="7985447" y="1192282"/>
            <a:ext cx="1840054" cy="346668"/>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sp>
        <p:nvSpPr>
          <p:cNvPr id="83" name="Rectangle 82"/>
          <p:cNvSpPr/>
          <p:nvPr/>
        </p:nvSpPr>
        <p:spPr>
          <a:xfrm>
            <a:off x="4309995" y="5444430"/>
            <a:ext cx="1840054" cy="534145"/>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sp>
        <p:nvSpPr>
          <p:cNvPr id="82" name="Rectangle 81"/>
          <p:cNvSpPr/>
          <p:nvPr/>
        </p:nvSpPr>
        <p:spPr>
          <a:xfrm>
            <a:off x="1718681" y="4808155"/>
            <a:ext cx="759484" cy="72313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grpSp>
        <p:nvGrpSpPr>
          <p:cNvPr id="12" name="Group 11"/>
          <p:cNvGrpSpPr/>
          <p:nvPr/>
        </p:nvGrpSpPr>
        <p:grpSpPr>
          <a:xfrm>
            <a:off x="0" y="237504"/>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465623" y="291779"/>
              <a:ext cx="9260869" cy="523220"/>
            </a:xfrm>
            <a:prstGeom prst="rect">
              <a:avLst/>
            </a:prstGeom>
            <a:solidFill>
              <a:schemeClr val="bg1"/>
            </a:solidFill>
          </p:spPr>
          <p:txBody>
            <a:bodyPr wrap="none" anchor="ctr">
              <a:spAutoFit/>
            </a:bodyPr>
            <a:lstStyle/>
            <a:p>
              <a:pPr algn="ctr">
                <a:defRPr/>
              </a:pPr>
              <a:r>
                <a:rPr lang="en-IN" sz="2800" b="1" kern="0" dirty="0">
                  <a:solidFill>
                    <a:srgbClr val="0070C0"/>
                  </a:solidFill>
                  <a:latin typeface="Leelawadee UI" panose="020B0502040204020203" pitchFamily="34" charset="-34"/>
                  <a:cs typeface="Leelawadee UI" panose="020B0502040204020203" pitchFamily="34" charset="-34"/>
                </a:rPr>
                <a:t>A wide ranging set of engagements across </a:t>
              </a:r>
              <a:r>
                <a:rPr lang="en-IN" sz="2800" b="1" kern="0" dirty="0" smtClean="0">
                  <a:solidFill>
                    <a:srgbClr val="0070C0"/>
                  </a:solidFill>
                  <a:latin typeface="Leelawadee UI" panose="020B0502040204020203" pitchFamily="34" charset="-34"/>
                  <a:cs typeface="Leelawadee UI" panose="020B0502040204020203" pitchFamily="34" charset="-34"/>
                </a:rPr>
                <a:t>B2B &amp; B2C</a:t>
              </a:r>
              <a:endParaRPr lang="en-IN" sz="2000" i="1" kern="0"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13</a:t>
            </a:fld>
            <a:endParaRPr lang="en-IN" sz="1800" kern="0" dirty="0">
              <a:solidFill>
                <a:srgbClr val="000000">
                  <a:tint val="75000"/>
                </a:srgbClr>
              </a:solidFill>
            </a:endParaRPr>
          </a:p>
        </p:txBody>
      </p:sp>
      <p:sp>
        <p:nvSpPr>
          <p:cNvPr id="21" name="Rectangle 20"/>
          <p:cNvSpPr/>
          <p:nvPr/>
        </p:nvSpPr>
        <p:spPr>
          <a:xfrm>
            <a:off x="638110" y="2102114"/>
            <a:ext cx="1840054" cy="89089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Advanced data management</a:t>
            </a:r>
          </a:p>
        </p:txBody>
      </p:sp>
      <p:sp>
        <p:nvSpPr>
          <p:cNvPr id="22" name="Rectangle 21"/>
          <p:cNvSpPr/>
          <p:nvPr/>
        </p:nvSpPr>
        <p:spPr>
          <a:xfrm>
            <a:off x="2478164" y="3026675"/>
            <a:ext cx="1840054" cy="8572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Digital analytics</a:t>
            </a:r>
          </a:p>
        </p:txBody>
      </p:sp>
      <p:sp>
        <p:nvSpPr>
          <p:cNvPr id="23" name="Rectangle 22"/>
          <p:cNvSpPr/>
          <p:nvPr/>
        </p:nvSpPr>
        <p:spPr>
          <a:xfrm>
            <a:off x="7998326" y="2083181"/>
            <a:ext cx="1840054" cy="890899"/>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Dedicated analytics hub</a:t>
            </a:r>
          </a:p>
        </p:txBody>
      </p:sp>
      <p:sp>
        <p:nvSpPr>
          <p:cNvPr id="24" name="Rectangle 23"/>
          <p:cNvSpPr/>
          <p:nvPr/>
        </p:nvSpPr>
        <p:spPr>
          <a:xfrm>
            <a:off x="6158272" y="2974080"/>
            <a:ext cx="1840054" cy="89089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Marketing analytics</a:t>
            </a:r>
          </a:p>
        </p:txBody>
      </p:sp>
      <p:sp>
        <p:nvSpPr>
          <p:cNvPr id="25" name="Rectangle 24"/>
          <p:cNvSpPr/>
          <p:nvPr/>
        </p:nvSpPr>
        <p:spPr>
          <a:xfrm>
            <a:off x="4318218" y="3864979"/>
            <a:ext cx="1840054" cy="890899"/>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Advanced machine learning &amp; NLP</a:t>
            </a:r>
          </a:p>
        </p:txBody>
      </p:sp>
      <p:sp>
        <p:nvSpPr>
          <p:cNvPr id="26" name="Rectangle 25"/>
          <p:cNvSpPr/>
          <p:nvPr/>
        </p:nvSpPr>
        <p:spPr>
          <a:xfrm>
            <a:off x="638110" y="3917573"/>
            <a:ext cx="1840054" cy="890899"/>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Risk and operations analytics</a:t>
            </a:r>
          </a:p>
        </p:txBody>
      </p:sp>
      <p:sp>
        <p:nvSpPr>
          <p:cNvPr id="27" name="Rectangle 26"/>
          <p:cNvSpPr/>
          <p:nvPr/>
        </p:nvSpPr>
        <p:spPr>
          <a:xfrm>
            <a:off x="7998326" y="3917574"/>
            <a:ext cx="1840054" cy="890899"/>
          </a:xfrm>
          <a:prstGeom prst="rect">
            <a:avLst/>
          </a:prstGeom>
          <a:solidFill>
            <a:srgbClr val="4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Advanced visualization</a:t>
            </a:r>
          </a:p>
        </p:txBody>
      </p:sp>
      <p:sp>
        <p:nvSpPr>
          <p:cNvPr id="3" name="Rectangle 2"/>
          <p:cNvSpPr/>
          <p:nvPr/>
        </p:nvSpPr>
        <p:spPr>
          <a:xfrm>
            <a:off x="638110" y="1670555"/>
            <a:ext cx="1840054" cy="428124"/>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sp>
        <p:nvSpPr>
          <p:cNvPr id="31" name="Rectangle 30"/>
          <p:cNvSpPr/>
          <p:nvPr/>
        </p:nvSpPr>
        <p:spPr>
          <a:xfrm>
            <a:off x="638109" y="4808155"/>
            <a:ext cx="1068403" cy="723136"/>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sp>
        <p:nvSpPr>
          <p:cNvPr id="32" name="Rectangle 31"/>
          <p:cNvSpPr/>
          <p:nvPr/>
        </p:nvSpPr>
        <p:spPr>
          <a:xfrm>
            <a:off x="2478164" y="2243774"/>
            <a:ext cx="1840054" cy="763968"/>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sp>
        <p:nvSpPr>
          <p:cNvPr id="33" name="Rectangle 32"/>
          <p:cNvSpPr/>
          <p:nvPr/>
        </p:nvSpPr>
        <p:spPr>
          <a:xfrm>
            <a:off x="4318218" y="4737219"/>
            <a:ext cx="1840054" cy="716521"/>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sp>
        <p:nvSpPr>
          <p:cNvPr id="34" name="Rectangle 33"/>
          <p:cNvSpPr/>
          <p:nvPr/>
        </p:nvSpPr>
        <p:spPr>
          <a:xfrm>
            <a:off x="6158272" y="2201015"/>
            <a:ext cx="1840054" cy="776499"/>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sp>
        <p:nvSpPr>
          <p:cNvPr id="35" name="Rectangle 34"/>
          <p:cNvSpPr/>
          <p:nvPr/>
        </p:nvSpPr>
        <p:spPr>
          <a:xfrm>
            <a:off x="7998326" y="1529507"/>
            <a:ext cx="1840054" cy="553674"/>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sp>
        <p:nvSpPr>
          <p:cNvPr id="36" name="Rectangle 35"/>
          <p:cNvSpPr/>
          <p:nvPr/>
        </p:nvSpPr>
        <p:spPr>
          <a:xfrm>
            <a:off x="7998326" y="4789540"/>
            <a:ext cx="1840054" cy="54282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sp>
        <p:nvSpPr>
          <p:cNvPr id="45" name="Rectangle 44"/>
          <p:cNvSpPr/>
          <p:nvPr/>
        </p:nvSpPr>
        <p:spPr>
          <a:xfrm>
            <a:off x="9838380" y="2982045"/>
            <a:ext cx="1840054" cy="89089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kern="0" dirty="0">
                <a:solidFill>
                  <a:prstClr val="white"/>
                </a:solidFill>
              </a:rPr>
              <a:t>Geo spatial analytics</a:t>
            </a:r>
          </a:p>
        </p:txBody>
      </p:sp>
      <p:sp>
        <p:nvSpPr>
          <p:cNvPr id="46" name="Rectangle 45"/>
          <p:cNvSpPr/>
          <p:nvPr/>
        </p:nvSpPr>
        <p:spPr>
          <a:xfrm>
            <a:off x="9838380" y="3872842"/>
            <a:ext cx="1840054" cy="778255"/>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prstClr val="white"/>
              </a:solidFill>
            </a:endParaRPr>
          </a:p>
        </p:txBody>
      </p:sp>
      <p:pic>
        <p:nvPicPr>
          <p:cNvPr id="37" name="Picture 36"/>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09719" y="1752523"/>
            <a:ext cx="856380" cy="238332"/>
          </a:xfrm>
          <a:prstGeom prst="rect">
            <a:avLst/>
          </a:prstGeom>
        </p:spPr>
      </p:pic>
      <p:pic>
        <p:nvPicPr>
          <p:cNvPr id="49" name="Picture 48"/>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27024" b="23285"/>
          <a:stretch/>
        </p:blipFill>
        <p:spPr>
          <a:xfrm>
            <a:off x="1534849" y="1699325"/>
            <a:ext cx="880036" cy="291530"/>
          </a:xfrm>
          <a:prstGeom prst="rect">
            <a:avLst/>
          </a:prstGeom>
        </p:spPr>
      </p:pic>
      <p:pic>
        <p:nvPicPr>
          <p:cNvPr id="51" name="Picture 50"/>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637319" y="4932607"/>
            <a:ext cx="1046238" cy="287662"/>
          </a:xfrm>
          <a:prstGeom prst="rect">
            <a:avLst/>
          </a:prstGeom>
        </p:spPr>
      </p:pic>
      <p:pic>
        <p:nvPicPr>
          <p:cNvPr id="52" name="Picture 51"/>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91787" y="4922255"/>
            <a:ext cx="546869" cy="461034"/>
          </a:xfrm>
          <a:prstGeom prst="rect">
            <a:avLst/>
          </a:prstGeom>
        </p:spPr>
      </p:pic>
      <p:pic>
        <p:nvPicPr>
          <p:cNvPr id="53" name="Picture 52"/>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08499" y="2281249"/>
            <a:ext cx="856380" cy="238332"/>
          </a:xfrm>
          <a:prstGeom prst="rect">
            <a:avLst/>
          </a:prstGeom>
        </p:spPr>
      </p:pic>
      <p:pic>
        <p:nvPicPr>
          <p:cNvPr id="54" name="Picture 53"/>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t="26559" b="36654"/>
          <a:stretch/>
        </p:blipFill>
        <p:spPr>
          <a:xfrm>
            <a:off x="2557969" y="2680140"/>
            <a:ext cx="840222" cy="309093"/>
          </a:xfrm>
          <a:prstGeom prst="rect">
            <a:avLst/>
          </a:prstGeom>
        </p:spPr>
      </p:pic>
      <p:pic>
        <p:nvPicPr>
          <p:cNvPr id="55" name="Picture 6" descr="Image result for tata capit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4535" y="2491575"/>
            <a:ext cx="1206639" cy="284088"/>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t="26559" b="36654"/>
          <a:stretch/>
        </p:blipFill>
        <p:spPr>
          <a:xfrm>
            <a:off x="4330456" y="4725327"/>
            <a:ext cx="899566" cy="330924"/>
          </a:xfrm>
          <a:prstGeom prst="rect">
            <a:avLst/>
          </a:prstGeom>
        </p:spPr>
      </p:pic>
      <p:pic>
        <p:nvPicPr>
          <p:cNvPr id="57" name="Picture 6" descr="Image result for tata capit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4589" y="5048278"/>
            <a:ext cx="1206639" cy="284088"/>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2" descr="https://encrypted-tbn1.gstatic.com/images?q=tbn:ANd9GcTbvG83s0iQeUfkZ2C2SSSJY1VrzyzsjILyr9E2dAWD9khDe3Z2AJ8iiAg"/>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30456" y="5582534"/>
            <a:ext cx="1367791" cy="378566"/>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5081648" y="5444430"/>
            <a:ext cx="1046238" cy="287662"/>
          </a:xfrm>
          <a:prstGeom prst="rect">
            <a:avLst/>
          </a:prstGeom>
        </p:spPr>
      </p:pic>
      <p:pic>
        <p:nvPicPr>
          <p:cNvPr id="60" name="Picture 59"/>
          <p:cNvPicPr>
            <a:picLocks noChangeAspect="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22039" y="5034206"/>
            <a:ext cx="474887" cy="360819"/>
          </a:xfrm>
          <a:prstGeom prst="rect">
            <a:avLst/>
          </a:prstGeom>
        </p:spPr>
      </p:pic>
      <p:pic>
        <p:nvPicPr>
          <p:cNvPr id="61" name="Picture 6" descr="Image result for tata capit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91474" y="1929056"/>
            <a:ext cx="1206639" cy="284088"/>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27024" b="23285"/>
          <a:stretch/>
        </p:blipFill>
        <p:spPr>
          <a:xfrm>
            <a:off x="6963976" y="2189169"/>
            <a:ext cx="961486" cy="318512"/>
          </a:xfrm>
          <a:prstGeom prst="rect">
            <a:avLst/>
          </a:prstGeom>
        </p:spPr>
      </p:pic>
      <p:pic>
        <p:nvPicPr>
          <p:cNvPr id="63" name="Picture 62"/>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21167" y="2295647"/>
            <a:ext cx="856380" cy="238332"/>
          </a:xfrm>
          <a:prstGeom prst="rect">
            <a:avLst/>
          </a:prstGeom>
        </p:spPr>
      </p:pic>
      <p:pic>
        <p:nvPicPr>
          <p:cNvPr id="64" name="Picture 63"/>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05729" y="2440498"/>
            <a:ext cx="546869" cy="461034"/>
          </a:xfrm>
          <a:prstGeom prst="rect">
            <a:avLst/>
          </a:prstGeom>
        </p:spPr>
      </p:pic>
      <p:pic>
        <p:nvPicPr>
          <p:cNvPr id="65" name="Picture 64"/>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6221167" y="2604800"/>
            <a:ext cx="1046238" cy="287662"/>
          </a:xfrm>
          <a:prstGeom prst="rect">
            <a:avLst/>
          </a:prstGeom>
        </p:spPr>
      </p:pic>
      <p:pic>
        <p:nvPicPr>
          <p:cNvPr id="66" name="Picture 65"/>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27024" b="23285"/>
          <a:stretch/>
        </p:blipFill>
        <p:spPr>
          <a:xfrm>
            <a:off x="8956683" y="1653616"/>
            <a:ext cx="961486" cy="318512"/>
          </a:xfrm>
          <a:prstGeom prst="rect">
            <a:avLst/>
          </a:prstGeom>
        </p:spPr>
      </p:pic>
      <p:pic>
        <p:nvPicPr>
          <p:cNvPr id="67" name="Picture 66"/>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87420" y="1558309"/>
            <a:ext cx="856380" cy="238332"/>
          </a:xfrm>
          <a:prstGeom prst="rect">
            <a:avLst/>
          </a:prstGeom>
        </p:spPr>
      </p:pic>
      <p:pic>
        <p:nvPicPr>
          <p:cNvPr id="68" name="Picture 6" descr="Image result for tata capit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8353" y="1825568"/>
            <a:ext cx="1206639" cy="284088"/>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8395234" y="1235639"/>
            <a:ext cx="1046238" cy="287662"/>
          </a:xfrm>
          <a:prstGeom prst="rect">
            <a:avLst/>
          </a:prstGeom>
        </p:spPr>
      </p:pic>
      <p:pic>
        <p:nvPicPr>
          <p:cNvPr id="70" name="Picture 69"/>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27024" b="23285"/>
          <a:stretch/>
        </p:blipFill>
        <p:spPr>
          <a:xfrm>
            <a:off x="8827923" y="4801952"/>
            <a:ext cx="961486" cy="318512"/>
          </a:xfrm>
          <a:prstGeom prst="rect">
            <a:avLst/>
          </a:prstGeom>
        </p:spPr>
      </p:pic>
      <p:pic>
        <p:nvPicPr>
          <p:cNvPr id="71" name="Picture 70"/>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26891" y="4853205"/>
            <a:ext cx="856380" cy="238332"/>
          </a:xfrm>
          <a:prstGeom prst="rect">
            <a:avLst/>
          </a:prstGeom>
        </p:spPr>
      </p:pic>
      <p:pic>
        <p:nvPicPr>
          <p:cNvPr id="73" name="Picture 72"/>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t="26559" b="36654"/>
          <a:stretch/>
        </p:blipFill>
        <p:spPr>
          <a:xfrm>
            <a:off x="8449935" y="5052285"/>
            <a:ext cx="899566" cy="330924"/>
          </a:xfrm>
          <a:prstGeom prst="rect">
            <a:avLst/>
          </a:prstGeom>
        </p:spPr>
      </p:pic>
      <p:pic>
        <p:nvPicPr>
          <p:cNvPr id="74" name="Picture 73"/>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27024" b="23285"/>
          <a:stretch/>
        </p:blipFill>
        <p:spPr>
          <a:xfrm>
            <a:off x="9875532" y="3906385"/>
            <a:ext cx="961486" cy="318512"/>
          </a:xfrm>
          <a:prstGeom prst="rect">
            <a:avLst/>
          </a:prstGeom>
        </p:spPr>
      </p:pic>
      <p:pic>
        <p:nvPicPr>
          <p:cNvPr id="75" name="Picture 74"/>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10195558" y="4697002"/>
            <a:ext cx="1046238" cy="287662"/>
          </a:xfrm>
          <a:prstGeom prst="rect">
            <a:avLst/>
          </a:prstGeom>
        </p:spPr>
      </p:pic>
      <p:pic>
        <p:nvPicPr>
          <p:cNvPr id="76" name="Picture 75"/>
          <p:cNvPicPr>
            <a:picLocks noChangeAspect="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954511" y="4239645"/>
            <a:ext cx="406919" cy="309177"/>
          </a:xfrm>
          <a:prstGeom prst="rect">
            <a:avLst/>
          </a:prstGeom>
        </p:spPr>
      </p:pic>
      <p:pic>
        <p:nvPicPr>
          <p:cNvPr id="78" name="Picture 7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374430" y="4289161"/>
            <a:ext cx="894552" cy="307143"/>
          </a:xfrm>
          <a:prstGeom prst="rect">
            <a:avLst/>
          </a:prstGeom>
        </p:spPr>
      </p:pic>
      <p:pic>
        <p:nvPicPr>
          <p:cNvPr id="79" name="Picture 7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779585" y="3942091"/>
            <a:ext cx="786346" cy="282806"/>
          </a:xfrm>
          <a:prstGeom prst="rect">
            <a:avLst/>
          </a:prstGeom>
        </p:spPr>
      </p:pic>
      <p:sp>
        <p:nvSpPr>
          <p:cNvPr id="77" name="Rectangle 76"/>
          <p:cNvSpPr/>
          <p:nvPr/>
        </p:nvSpPr>
        <p:spPr>
          <a:xfrm>
            <a:off x="638110" y="1273956"/>
            <a:ext cx="1840054" cy="397429"/>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pic>
        <p:nvPicPr>
          <p:cNvPr id="80" name="Picture 79"/>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24876" y="1327730"/>
            <a:ext cx="710446" cy="252522"/>
          </a:xfrm>
          <a:prstGeom prst="rect">
            <a:avLst/>
          </a:prstGeom>
        </p:spPr>
      </p:pic>
      <p:sp>
        <p:nvSpPr>
          <p:cNvPr id="86" name="Rectangle 85"/>
          <p:cNvSpPr/>
          <p:nvPr/>
        </p:nvSpPr>
        <p:spPr>
          <a:xfrm>
            <a:off x="10697427" y="768689"/>
            <a:ext cx="1037287" cy="395156"/>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kern="0" dirty="0">
                <a:solidFill>
                  <a:srgbClr val="5E5E5E"/>
                </a:solidFill>
              </a:rPr>
              <a:t>B2B</a:t>
            </a:r>
          </a:p>
        </p:txBody>
      </p:sp>
      <p:sp>
        <p:nvSpPr>
          <p:cNvPr id="87" name="Rectangle 86"/>
          <p:cNvSpPr/>
          <p:nvPr/>
        </p:nvSpPr>
        <p:spPr>
          <a:xfrm>
            <a:off x="10696394" y="1321771"/>
            <a:ext cx="1037287" cy="39515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kern="0" dirty="0">
                <a:solidFill>
                  <a:srgbClr val="5E5E5E"/>
                </a:solidFill>
              </a:rPr>
              <a:t>B2C</a:t>
            </a:r>
          </a:p>
        </p:txBody>
      </p:sp>
      <p:sp>
        <p:nvSpPr>
          <p:cNvPr id="89" name="Rectangle 88"/>
          <p:cNvSpPr/>
          <p:nvPr/>
        </p:nvSpPr>
        <p:spPr>
          <a:xfrm>
            <a:off x="7995173" y="5336810"/>
            <a:ext cx="1840054" cy="300900"/>
          </a:xfrm>
          <a:prstGeom prst="rect">
            <a:avLst/>
          </a:prstGeom>
          <a:solidFill>
            <a:schemeClr val="accent1">
              <a:lumMod val="60000"/>
              <a:lumOff val="40000"/>
            </a:schemeClr>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kern="0">
              <a:solidFill>
                <a:srgbClr val="5E5E5E"/>
              </a:solidFill>
            </a:endParaRPr>
          </a:p>
        </p:txBody>
      </p:sp>
      <p:pic>
        <p:nvPicPr>
          <p:cNvPr id="72" name="Picture 6" descr="Image result for tata capit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23803" y="5368656"/>
            <a:ext cx="1206639" cy="284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1617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0" y="237504"/>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94797" y="291779"/>
              <a:ext cx="4602542" cy="523220"/>
            </a:xfrm>
            <a:prstGeom prst="rect">
              <a:avLst/>
            </a:prstGeom>
            <a:solidFill>
              <a:schemeClr val="bg1"/>
            </a:solidFill>
          </p:spPr>
          <p:txBody>
            <a:bodyPr wrap="none" anchor="ctr">
              <a:spAutoFit/>
            </a:bodyPr>
            <a:lstStyle/>
            <a:p>
              <a:pPr algn="ctr">
                <a:defRPr/>
              </a:pPr>
              <a:r>
                <a:rPr lang="en-IN" sz="2800" b="1" kern="0" dirty="0">
                  <a:solidFill>
                    <a:srgbClr val="0070C0"/>
                  </a:solidFill>
                  <a:latin typeface="Leelawadee UI" panose="020B0502040204020203" pitchFamily="34" charset="-34"/>
                  <a:cs typeface="Leelawadee UI" panose="020B0502040204020203" pitchFamily="34" charset="-34"/>
                </a:rPr>
                <a:t>Business Impact Delivered</a:t>
              </a:r>
              <a:endParaRPr lang="en-IN" sz="2000" i="1" kern="0" dirty="0">
                <a:solidFill>
                  <a:srgbClr val="0070C0"/>
                </a:solidFill>
                <a:latin typeface="Leelawadee UI" panose="020B0502040204020203" pitchFamily="34" charset="-34"/>
                <a:cs typeface="Leelawadee UI" panose="020B0502040204020203" pitchFamily="34" charset="-34"/>
              </a:endParaRPr>
            </a:p>
          </p:txBody>
        </p:sp>
      </p:grpSp>
      <p:sp>
        <p:nvSpPr>
          <p:cNvPr id="81" name="Slide Number Placeholder 3"/>
          <p:cNvSpPr>
            <a:spLocks noGrp="1"/>
          </p:cNvSpPr>
          <p:nvPr>
            <p:ph type="sldNum" sz="quarter" idx="12"/>
          </p:nvPr>
        </p:nvSpPr>
        <p:spPr/>
        <p:txBody>
          <a:bodyPr vert="horz" lIns="91440" tIns="45720" rIns="91440" bIns="45720" rtlCol="0" anchor="ctr"/>
          <a:lstStyle/>
          <a:p>
            <a:fld id="{CFADFFA0-845F-42C3-957F-96883DAC01F9}" type="slidenum">
              <a:rPr lang="en-IN" sz="1800" kern="0">
                <a:solidFill>
                  <a:srgbClr val="000000">
                    <a:tint val="75000"/>
                  </a:srgbClr>
                </a:solidFill>
              </a:rPr>
              <a:pPr/>
              <a:t>14</a:t>
            </a:fld>
            <a:endParaRPr lang="en-IN" sz="1800" kern="0" dirty="0">
              <a:solidFill>
                <a:srgbClr val="000000">
                  <a:tint val="75000"/>
                </a:srgbClr>
              </a:solidFill>
            </a:endParaRPr>
          </a:p>
        </p:txBody>
      </p:sp>
      <p:pic>
        <p:nvPicPr>
          <p:cNvPr id="5" name="Picture 4"/>
          <p:cNvPicPr>
            <a:picLocks noChangeAspect="1"/>
          </p:cNvPicPr>
          <p:nvPr/>
        </p:nvPicPr>
        <p:blipFill>
          <a:blip r:embed="rId3"/>
          <a:stretch>
            <a:fillRect/>
          </a:stretch>
        </p:blipFill>
        <p:spPr>
          <a:xfrm>
            <a:off x="2687852" y="1361319"/>
            <a:ext cx="2542699" cy="2881725"/>
          </a:xfrm>
          <a:prstGeom prst="rect">
            <a:avLst/>
          </a:prstGeom>
        </p:spPr>
      </p:pic>
      <p:pic>
        <p:nvPicPr>
          <p:cNvPr id="7" name="Picture 6"/>
          <p:cNvPicPr>
            <a:picLocks noChangeAspect="1"/>
          </p:cNvPicPr>
          <p:nvPr/>
        </p:nvPicPr>
        <p:blipFill>
          <a:blip r:embed="rId4"/>
          <a:stretch>
            <a:fillRect/>
          </a:stretch>
        </p:blipFill>
        <p:spPr>
          <a:xfrm>
            <a:off x="-69757" y="1304993"/>
            <a:ext cx="2629955" cy="2949964"/>
          </a:xfrm>
          <a:prstGeom prst="rect">
            <a:avLst/>
          </a:prstGeom>
        </p:spPr>
      </p:pic>
      <p:pic>
        <p:nvPicPr>
          <p:cNvPr id="27" name="Picture 26"/>
          <p:cNvPicPr>
            <a:picLocks noChangeAspect="1"/>
          </p:cNvPicPr>
          <p:nvPr/>
        </p:nvPicPr>
        <p:blipFill>
          <a:blip r:embed="rId5"/>
          <a:stretch>
            <a:fillRect/>
          </a:stretch>
        </p:blipFill>
        <p:spPr>
          <a:xfrm>
            <a:off x="10141927" y="1361319"/>
            <a:ext cx="2050073" cy="2817982"/>
          </a:xfrm>
          <a:prstGeom prst="rect">
            <a:avLst/>
          </a:prstGeom>
        </p:spPr>
      </p:pic>
      <p:pic>
        <p:nvPicPr>
          <p:cNvPr id="28" name="Picture 27"/>
          <p:cNvPicPr>
            <a:picLocks noChangeAspect="1"/>
          </p:cNvPicPr>
          <p:nvPr/>
        </p:nvPicPr>
        <p:blipFill>
          <a:blip r:embed="rId6"/>
          <a:stretch>
            <a:fillRect/>
          </a:stretch>
        </p:blipFill>
        <p:spPr>
          <a:xfrm>
            <a:off x="5442033" y="1262911"/>
            <a:ext cx="2161293" cy="2978019"/>
          </a:xfrm>
          <a:prstGeom prst="rect">
            <a:avLst/>
          </a:prstGeom>
        </p:spPr>
      </p:pic>
      <p:pic>
        <p:nvPicPr>
          <p:cNvPr id="29" name="Picture 28"/>
          <p:cNvPicPr>
            <a:picLocks noChangeAspect="1"/>
          </p:cNvPicPr>
          <p:nvPr/>
        </p:nvPicPr>
        <p:blipFill>
          <a:blip r:embed="rId7"/>
          <a:stretch>
            <a:fillRect/>
          </a:stretch>
        </p:blipFill>
        <p:spPr>
          <a:xfrm>
            <a:off x="7814808" y="1405790"/>
            <a:ext cx="2115637" cy="2792781"/>
          </a:xfrm>
          <a:prstGeom prst="rect">
            <a:avLst/>
          </a:prstGeom>
        </p:spPr>
      </p:pic>
      <p:sp>
        <p:nvSpPr>
          <p:cNvPr id="32" name="Rectangle 31"/>
          <p:cNvSpPr/>
          <p:nvPr/>
        </p:nvSpPr>
        <p:spPr>
          <a:xfrm>
            <a:off x="1149603" y="4472419"/>
            <a:ext cx="9792782" cy="2848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kern="0" dirty="0">
                <a:solidFill>
                  <a:srgbClr val="0070C0"/>
                </a:solidFill>
              </a:rPr>
              <a:t>Investment is inclusive </a:t>
            </a:r>
            <a:r>
              <a:rPr lang="en-US" kern="0" dirty="0">
                <a:solidFill>
                  <a:prstClr val="white">
                    <a:lumMod val="50000"/>
                  </a:prstClr>
                </a:solidFill>
              </a:rPr>
              <a:t>of the </a:t>
            </a:r>
            <a:r>
              <a:rPr lang="en-US" b="1" kern="0" dirty="0">
                <a:solidFill>
                  <a:srgbClr val="0070C0"/>
                </a:solidFill>
              </a:rPr>
              <a:t>Cost borne by the Client</a:t>
            </a:r>
            <a:r>
              <a:rPr lang="en-US" b="1" kern="0" dirty="0">
                <a:solidFill>
                  <a:prstClr val="black"/>
                </a:solidFill>
              </a:rPr>
              <a:t> </a:t>
            </a:r>
            <a:r>
              <a:rPr lang="en-US" kern="0" dirty="0">
                <a:solidFill>
                  <a:prstClr val="white">
                    <a:lumMod val="50000"/>
                  </a:prstClr>
                </a:solidFill>
              </a:rPr>
              <a:t>and</a:t>
            </a:r>
            <a:r>
              <a:rPr lang="en-US" kern="0" dirty="0">
                <a:solidFill>
                  <a:prstClr val="black"/>
                </a:solidFill>
              </a:rPr>
              <a:t> </a:t>
            </a:r>
            <a:r>
              <a:rPr lang="en-US" b="1" kern="0" dirty="0">
                <a:solidFill>
                  <a:srgbClr val="0070C0"/>
                </a:solidFill>
              </a:rPr>
              <a:t>Investment in Infrastructure by Tata iQ</a:t>
            </a:r>
          </a:p>
        </p:txBody>
      </p:sp>
    </p:spTree>
    <p:extLst>
      <p:ext uri="{BB962C8B-B14F-4D97-AF65-F5344CB8AC3E}">
        <p14:creationId xmlns:p14="http://schemas.microsoft.com/office/powerpoint/2010/main" val="26011596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164026" y="291779"/>
              <a:ext cx="5864106" cy="523220"/>
            </a:xfrm>
            <a:prstGeom prst="rect">
              <a:avLst/>
            </a:prstGeom>
            <a:solidFill>
              <a:schemeClr val="bg1"/>
            </a:solidFill>
          </p:spPr>
          <p:txBody>
            <a:bodyPr wrap="none" anchor="ctr">
              <a:spAutoFit/>
            </a:bodyPr>
            <a:lstStyle/>
            <a:p>
              <a:pPr algn="ctr">
                <a:defRPr/>
              </a:pPr>
              <a:r>
                <a:rPr lang="en-IN" sz="2800" b="1" kern="0" dirty="0">
                  <a:solidFill>
                    <a:srgbClr val="0070C0"/>
                  </a:solidFill>
                  <a:latin typeface="Leelawadee UI" panose="020B0502040204020203" pitchFamily="34" charset="-34"/>
                  <a:cs typeface="Leelawadee UI" panose="020B0502040204020203" pitchFamily="34" charset="-34"/>
                </a:rPr>
                <a:t>Leveraging the power of Big Data</a:t>
              </a:r>
            </a:p>
          </p:txBody>
        </p:sp>
      </p:grpSp>
      <p:grpSp>
        <p:nvGrpSpPr>
          <p:cNvPr id="2" name="Group 1"/>
          <p:cNvGrpSpPr/>
          <p:nvPr/>
        </p:nvGrpSpPr>
        <p:grpSpPr>
          <a:xfrm>
            <a:off x="7763184" y="750380"/>
            <a:ext cx="4147354" cy="2529030"/>
            <a:chOff x="480023" y="758370"/>
            <a:chExt cx="4807421" cy="1767940"/>
          </a:xfrm>
        </p:grpSpPr>
        <p:grpSp>
          <p:nvGrpSpPr>
            <p:cNvPr id="96" name="Group 95"/>
            <p:cNvGrpSpPr/>
            <p:nvPr/>
          </p:nvGrpSpPr>
          <p:grpSpPr>
            <a:xfrm>
              <a:off x="480023" y="758370"/>
              <a:ext cx="4792310" cy="1695902"/>
              <a:chOff x="488319" y="4061940"/>
              <a:chExt cx="3732960" cy="1869183"/>
            </a:xfrm>
          </p:grpSpPr>
          <p:sp>
            <p:nvSpPr>
              <p:cNvPr id="99" name="Rectangle 98"/>
              <p:cNvSpPr/>
              <p:nvPr/>
            </p:nvSpPr>
            <p:spPr>
              <a:xfrm>
                <a:off x="488319" y="4321484"/>
                <a:ext cx="3732960" cy="1609639"/>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a:defRPr/>
                </a:pPr>
                <a:endParaRPr lang="en-US" sz="1400" kern="0" dirty="0">
                  <a:solidFill>
                    <a:srgbClr val="000000"/>
                  </a:solidFill>
                  <a:latin typeface="Century Gothic" panose="020B0502020202020204" pitchFamily="34" charset="0"/>
                </a:endParaRPr>
              </a:p>
            </p:txBody>
          </p:sp>
          <p:sp>
            <p:nvSpPr>
              <p:cNvPr id="100" name="Rounded Rectangle 99"/>
              <p:cNvSpPr/>
              <p:nvPr/>
            </p:nvSpPr>
            <p:spPr>
              <a:xfrm>
                <a:off x="1252168" y="4061940"/>
                <a:ext cx="2401898" cy="519090"/>
              </a:xfrm>
              <a:prstGeom prst="roundRect">
                <a:avLst/>
              </a:prstGeom>
              <a:solidFill>
                <a:sysClr val="window" lastClr="FFFFFF"/>
              </a:solidFill>
              <a:ln w="12700" cap="flat" cmpd="sng" algn="ctr">
                <a:noFill/>
                <a:prstDash val="solid"/>
                <a:miter lim="800000"/>
              </a:ln>
              <a:effectLst/>
            </p:spPr>
            <p:txBody>
              <a:bodyPr rtlCol="0" anchor="ctr"/>
              <a:lstStyle/>
              <a:p>
                <a:pPr algn="ctr">
                  <a:defRPr/>
                </a:pPr>
                <a:r>
                  <a:rPr lang="en-US" sz="1600" b="1" kern="0" dirty="0">
                    <a:solidFill>
                      <a:srgbClr val="00518E"/>
                    </a:solidFill>
                    <a:latin typeface="Century Gothic" panose="020B0502020202020204" pitchFamily="34" charset="0"/>
                  </a:rPr>
                  <a:t>Single view of Customer</a:t>
                </a:r>
              </a:p>
            </p:txBody>
          </p:sp>
        </p:grpSp>
        <p:sp>
          <p:nvSpPr>
            <p:cNvPr id="98" name="Rectangle 97"/>
            <p:cNvSpPr/>
            <p:nvPr/>
          </p:nvSpPr>
          <p:spPr>
            <a:xfrm>
              <a:off x="1689459" y="1253944"/>
              <a:ext cx="3597985" cy="1272366"/>
            </a:xfrm>
            <a:prstGeom prst="rect">
              <a:avLst/>
            </a:prstGeom>
          </p:spPr>
          <p:txBody>
            <a:bodyPr wrap="square">
              <a:spAutoFit/>
            </a:bodyPr>
            <a:lstStyle/>
            <a:p>
              <a:pPr marL="171450" indent="-171450">
                <a:buFont typeface="Arial" panose="020B0604020202020204" pitchFamily="34" charset="0"/>
                <a:buChar char="•"/>
                <a:defRPr/>
              </a:pPr>
              <a:r>
                <a:rPr lang="en-IN" kern="0" dirty="0">
                  <a:solidFill>
                    <a:sysClr val="windowText" lastClr="000000"/>
                  </a:solidFill>
                </a:rPr>
                <a:t>360 view of customer across organization &amp; products</a:t>
              </a:r>
            </a:p>
            <a:p>
              <a:pPr marL="171450" indent="-171450">
                <a:buFont typeface="Arial" panose="020B0604020202020204" pitchFamily="34" charset="0"/>
                <a:buChar char="•"/>
                <a:defRPr/>
              </a:pPr>
              <a:endParaRPr lang="en-IN" kern="0" dirty="0">
                <a:solidFill>
                  <a:sysClr val="windowText" lastClr="000000"/>
                </a:solidFill>
                <a:ea typeface="Times New Roman" panose="02020603050405020304" pitchFamily="18" charset="0"/>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Matching Algorithms</a:t>
              </a:r>
            </a:p>
            <a:p>
              <a:pPr marL="171450" indent="-171450">
                <a:buFont typeface="Arial" panose="020B0604020202020204" pitchFamily="34" charset="0"/>
                <a:buChar char="•"/>
                <a:defRPr/>
              </a:pPr>
              <a:endParaRPr lang="en-IN" kern="0" dirty="0">
                <a:solidFill>
                  <a:srgbClr val="000000"/>
                </a:solidFill>
                <a:ea typeface="Times New Roman" panose="02020603050405020304" pitchFamily="18" charset="0"/>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Clients: </a:t>
              </a:r>
              <a:r>
                <a:rPr lang="en-IN" kern="0" dirty="0">
                  <a:solidFill>
                    <a:sysClr val="windowText" lastClr="000000"/>
                  </a:solidFill>
                </a:rPr>
                <a:t>Croma, </a:t>
              </a:r>
              <a:r>
                <a:rPr lang="en-IN" kern="0" dirty="0" err="1">
                  <a:solidFill>
                    <a:sysClr val="windowText" lastClr="000000"/>
                  </a:solidFill>
                </a:rPr>
                <a:t>Cliq</a:t>
              </a:r>
              <a:r>
                <a:rPr lang="en-IN" kern="0" dirty="0">
                  <a:solidFill>
                    <a:sysClr val="windowText" lastClr="000000"/>
                  </a:solidFill>
                </a:rPr>
                <a:t>, TTSL</a:t>
              </a:r>
              <a:endParaRPr lang="en-IN" kern="0" dirty="0">
                <a:solidFill>
                  <a:srgbClr val="000000"/>
                </a:solidFill>
                <a:ea typeface="Times New Roman" panose="02020603050405020304" pitchFamily="18" charset="0"/>
              </a:endParaRPr>
            </a:p>
          </p:txBody>
        </p:sp>
      </p:grpSp>
      <p:grpSp>
        <p:nvGrpSpPr>
          <p:cNvPr id="102" name="Group 101"/>
          <p:cNvGrpSpPr/>
          <p:nvPr/>
        </p:nvGrpSpPr>
        <p:grpSpPr>
          <a:xfrm>
            <a:off x="168271" y="711033"/>
            <a:ext cx="7268357" cy="2026430"/>
            <a:chOff x="3648209" y="1250566"/>
            <a:chExt cx="4319962" cy="1317312"/>
          </a:xfrm>
        </p:grpSpPr>
        <p:grpSp>
          <p:nvGrpSpPr>
            <p:cNvPr id="104" name="Group 103"/>
            <p:cNvGrpSpPr/>
            <p:nvPr/>
          </p:nvGrpSpPr>
          <p:grpSpPr>
            <a:xfrm>
              <a:off x="3648209" y="1250566"/>
              <a:ext cx="4284634" cy="1156636"/>
              <a:chOff x="488319" y="4061939"/>
              <a:chExt cx="3732960" cy="1274817"/>
            </a:xfrm>
          </p:grpSpPr>
          <p:sp>
            <p:nvSpPr>
              <p:cNvPr id="109" name="Rectangle 108"/>
              <p:cNvSpPr/>
              <p:nvPr/>
            </p:nvSpPr>
            <p:spPr>
              <a:xfrm>
                <a:off x="488319" y="4321484"/>
                <a:ext cx="3732960" cy="1015272"/>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a:defRPr/>
                </a:pPr>
                <a:endParaRPr lang="en-US" sz="1400" kern="0" dirty="0">
                  <a:solidFill>
                    <a:srgbClr val="000000"/>
                  </a:solidFill>
                  <a:latin typeface="Century Gothic" panose="020B0502020202020204" pitchFamily="34" charset="0"/>
                </a:endParaRPr>
              </a:p>
            </p:txBody>
          </p:sp>
          <p:sp>
            <p:nvSpPr>
              <p:cNvPr id="110" name="Rounded Rectangle 109"/>
              <p:cNvSpPr/>
              <p:nvPr/>
            </p:nvSpPr>
            <p:spPr>
              <a:xfrm>
                <a:off x="854813" y="4061939"/>
                <a:ext cx="3194119" cy="519090"/>
              </a:xfrm>
              <a:prstGeom prst="roundRect">
                <a:avLst/>
              </a:prstGeom>
              <a:solidFill>
                <a:sysClr val="window" lastClr="FFFFFF"/>
              </a:solidFill>
              <a:ln w="12700" cap="flat" cmpd="sng" algn="ctr">
                <a:noFill/>
                <a:prstDash val="solid"/>
                <a:miter lim="800000"/>
              </a:ln>
              <a:effectLst/>
            </p:spPr>
            <p:txBody>
              <a:bodyPr rtlCol="0" anchor="ctr"/>
              <a:lstStyle/>
              <a:p>
                <a:pPr algn="ctr">
                  <a:defRPr/>
                </a:pPr>
                <a:r>
                  <a:rPr lang="en-US" sz="1600" b="1" kern="0" dirty="0">
                    <a:solidFill>
                      <a:srgbClr val="00518E"/>
                    </a:solidFill>
                    <a:latin typeface="Century Gothic" panose="020B0502020202020204" pitchFamily="34" charset="0"/>
                  </a:rPr>
                  <a:t>Data Ingestion &amp; Processing – Real time and batch</a:t>
                </a:r>
              </a:p>
            </p:txBody>
          </p:sp>
        </p:grpSp>
        <p:sp>
          <p:nvSpPr>
            <p:cNvPr id="108" name="Rectangle 107"/>
            <p:cNvSpPr/>
            <p:nvPr/>
          </p:nvSpPr>
          <p:spPr>
            <a:xfrm>
              <a:off x="4842569" y="1623624"/>
              <a:ext cx="3125602" cy="944254"/>
            </a:xfrm>
            <a:prstGeom prst="rect">
              <a:avLst/>
            </a:prstGeom>
          </p:spPr>
          <p:txBody>
            <a:bodyPr wrap="square">
              <a:spAutoFit/>
            </a:bodyPr>
            <a:lstStyle/>
            <a:p>
              <a:pPr marL="171450" indent="-171450">
                <a:buFont typeface="Arial" panose="020B0604020202020204" pitchFamily="34" charset="0"/>
                <a:buChar char="•"/>
                <a:defRPr/>
              </a:pPr>
              <a:r>
                <a:rPr lang="en-IN" kern="0" dirty="0">
                  <a:solidFill>
                    <a:sysClr val="windowText" lastClr="000000"/>
                  </a:solidFill>
                </a:rPr>
                <a:t>Organize data from 20+ sources</a:t>
              </a:r>
            </a:p>
            <a:p>
              <a:pPr marL="171450" indent="-171450">
                <a:buFont typeface="Arial" panose="020B0604020202020204" pitchFamily="34" charset="0"/>
                <a:buChar char="•"/>
                <a:defRPr/>
              </a:pPr>
              <a:endParaRPr lang="en-IN" sz="1000" kern="0" dirty="0">
                <a:solidFill>
                  <a:sysClr val="windowText" lastClr="000000"/>
                </a:solidFill>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Frequency: </a:t>
              </a:r>
              <a:r>
                <a:rPr lang="en-IN" kern="0" dirty="0">
                  <a:solidFill>
                    <a:sysClr val="windowText" lastClr="000000"/>
                  </a:solidFill>
                </a:rPr>
                <a:t>Daily, weekly, monthly</a:t>
              </a:r>
            </a:p>
            <a:p>
              <a:pPr marL="171450" indent="-171450">
                <a:buFont typeface="Arial" panose="020B0604020202020204" pitchFamily="34" charset="0"/>
                <a:buChar char="•"/>
                <a:defRPr/>
              </a:pPr>
              <a:endParaRPr lang="en-IN" sz="1000" kern="0" dirty="0">
                <a:solidFill>
                  <a:srgbClr val="000000"/>
                </a:solidFill>
                <a:ea typeface="Times New Roman" panose="02020603050405020304" pitchFamily="18" charset="0"/>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Clients: </a:t>
              </a:r>
              <a:r>
                <a:rPr lang="en-IN" kern="0" dirty="0">
                  <a:solidFill>
                    <a:sysClr val="windowText" lastClr="000000"/>
                  </a:solidFill>
                </a:rPr>
                <a:t>Croma, </a:t>
              </a:r>
              <a:r>
                <a:rPr lang="en-IN" kern="0" dirty="0" err="1">
                  <a:solidFill>
                    <a:sysClr val="windowText" lastClr="000000"/>
                  </a:solidFill>
                </a:rPr>
                <a:t>Cliq</a:t>
              </a:r>
              <a:r>
                <a:rPr lang="en-IN" kern="0" dirty="0">
                  <a:solidFill>
                    <a:sysClr val="windowText" lastClr="000000"/>
                  </a:solidFill>
                </a:rPr>
                <a:t>, TCL, Tata AIA</a:t>
              </a:r>
              <a:endParaRPr lang="en-IN" kern="0" dirty="0">
                <a:solidFill>
                  <a:srgbClr val="000000"/>
                </a:solidFill>
                <a:ea typeface="Times New Roman" panose="02020603050405020304" pitchFamily="18" charset="0"/>
              </a:endParaRPr>
            </a:p>
          </p:txBody>
        </p:sp>
      </p:grpSp>
      <p:grpSp>
        <p:nvGrpSpPr>
          <p:cNvPr id="112" name="Group 111"/>
          <p:cNvGrpSpPr/>
          <p:nvPr/>
        </p:nvGrpSpPr>
        <p:grpSpPr>
          <a:xfrm>
            <a:off x="168271" y="2517711"/>
            <a:ext cx="7268361" cy="1952862"/>
            <a:chOff x="3648209" y="1250567"/>
            <a:chExt cx="4284634" cy="1861490"/>
          </a:xfrm>
        </p:grpSpPr>
        <p:grpSp>
          <p:nvGrpSpPr>
            <p:cNvPr id="121" name="Group 120"/>
            <p:cNvGrpSpPr/>
            <p:nvPr/>
          </p:nvGrpSpPr>
          <p:grpSpPr>
            <a:xfrm>
              <a:off x="3648209" y="1250567"/>
              <a:ext cx="4284634" cy="1861490"/>
              <a:chOff x="488319" y="4061939"/>
              <a:chExt cx="3732960" cy="2051690"/>
            </a:xfrm>
          </p:grpSpPr>
          <p:sp>
            <p:nvSpPr>
              <p:cNvPr id="123" name="Rectangle 122"/>
              <p:cNvSpPr/>
              <p:nvPr/>
            </p:nvSpPr>
            <p:spPr>
              <a:xfrm>
                <a:off x="488319" y="4321484"/>
                <a:ext cx="3732960" cy="1792145"/>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a:defRPr/>
                </a:pPr>
                <a:endParaRPr lang="en-US" sz="1400" kern="0" dirty="0">
                  <a:solidFill>
                    <a:srgbClr val="000000"/>
                  </a:solidFill>
                  <a:latin typeface="Century Gothic" panose="020B0502020202020204" pitchFamily="34" charset="0"/>
                </a:endParaRPr>
              </a:p>
            </p:txBody>
          </p:sp>
          <p:sp>
            <p:nvSpPr>
              <p:cNvPr id="124" name="Rounded Rectangle 123"/>
              <p:cNvSpPr/>
              <p:nvPr/>
            </p:nvSpPr>
            <p:spPr>
              <a:xfrm>
                <a:off x="1498118" y="4061939"/>
                <a:ext cx="1605009" cy="519090"/>
              </a:xfrm>
              <a:prstGeom prst="roundRect">
                <a:avLst/>
              </a:prstGeom>
              <a:solidFill>
                <a:sysClr val="window" lastClr="FFFFFF"/>
              </a:solidFill>
              <a:ln w="12700" cap="flat" cmpd="sng" algn="ctr">
                <a:noFill/>
                <a:prstDash val="solid"/>
                <a:miter lim="800000"/>
              </a:ln>
              <a:effectLst/>
            </p:spPr>
            <p:txBody>
              <a:bodyPr rtlCol="0" anchor="ctr"/>
              <a:lstStyle/>
              <a:p>
                <a:pPr algn="ctr">
                  <a:defRPr/>
                </a:pPr>
                <a:r>
                  <a:rPr lang="en-US" sz="1600" b="1" kern="0" dirty="0">
                    <a:solidFill>
                      <a:srgbClr val="00518E"/>
                    </a:solidFill>
                    <a:latin typeface="Century Gothic" panose="020B0502020202020204" pitchFamily="34" charset="0"/>
                  </a:rPr>
                  <a:t>Variety of Data</a:t>
                </a:r>
              </a:p>
            </p:txBody>
          </p:sp>
        </p:grpSp>
        <p:sp>
          <p:nvSpPr>
            <p:cNvPr id="122" name="Rectangle 121"/>
            <p:cNvSpPr/>
            <p:nvPr/>
          </p:nvSpPr>
          <p:spPr>
            <a:xfrm>
              <a:off x="4405911" y="1802301"/>
              <a:ext cx="3526930" cy="1136188"/>
            </a:xfrm>
            <a:prstGeom prst="rect">
              <a:avLst/>
            </a:prstGeom>
          </p:spPr>
          <p:txBody>
            <a:bodyPr wrap="square">
              <a:spAutoFit/>
            </a:bodyPr>
            <a:lstStyle/>
            <a:p>
              <a:pPr marL="171450" indent="-171450">
                <a:buFont typeface="Arial" panose="020B0604020202020204" pitchFamily="34" charset="0"/>
                <a:buChar char="•"/>
                <a:defRPr/>
              </a:pPr>
              <a:r>
                <a:rPr lang="en-IN" kern="0" dirty="0">
                  <a:solidFill>
                    <a:sysClr val="windowText" lastClr="000000"/>
                  </a:solidFill>
                </a:rPr>
                <a:t>Unstructured : IOT, Social Media , Survey ,Clickstream, Email</a:t>
              </a:r>
            </a:p>
            <a:p>
              <a:pPr marL="171450" indent="-171450">
                <a:buFont typeface="Arial" panose="020B0604020202020204" pitchFamily="34" charset="0"/>
                <a:buChar char="•"/>
                <a:defRPr/>
              </a:pPr>
              <a:endParaRPr lang="en-IN" sz="1000" kern="0" dirty="0">
                <a:solidFill>
                  <a:sysClr val="windowText" lastClr="000000"/>
                </a:solidFill>
              </a:endParaRPr>
            </a:p>
            <a:p>
              <a:pPr marL="171450" indent="-171450">
                <a:buFont typeface="Arial" panose="020B0604020202020204" pitchFamily="34" charset="0"/>
                <a:buChar char="•"/>
                <a:defRPr/>
              </a:pPr>
              <a:r>
                <a:rPr lang="en-IN" kern="0" dirty="0">
                  <a:solidFill>
                    <a:sysClr val="windowText" lastClr="000000"/>
                  </a:solidFill>
                </a:rPr>
                <a:t>Structured : Customer, Transaction, Campaign, Product</a:t>
              </a:r>
            </a:p>
            <a:p>
              <a:pPr marL="171450" indent="-171450">
                <a:buFont typeface="Arial" panose="020B0604020202020204" pitchFamily="34" charset="0"/>
                <a:buChar char="•"/>
                <a:defRPr/>
              </a:pPr>
              <a:endParaRPr lang="en-IN" sz="1000" kern="0" dirty="0">
                <a:solidFill>
                  <a:sysClr val="windowText" lastClr="000000"/>
                </a:solidFill>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Clients: </a:t>
              </a:r>
              <a:r>
                <a:rPr lang="en-IN" kern="0" dirty="0">
                  <a:solidFill>
                    <a:sysClr val="windowText" lastClr="000000"/>
                  </a:solidFill>
                </a:rPr>
                <a:t>Croma, Tata AIA, </a:t>
              </a:r>
              <a:r>
                <a:rPr lang="en-IN" kern="0" dirty="0" err="1">
                  <a:solidFill>
                    <a:sysClr val="windowText" lastClr="000000"/>
                  </a:solidFill>
                </a:rPr>
                <a:t>Cliq</a:t>
              </a:r>
              <a:r>
                <a:rPr lang="en-IN" kern="0" dirty="0">
                  <a:solidFill>
                    <a:sysClr val="windowText" lastClr="000000"/>
                  </a:solidFill>
                </a:rPr>
                <a:t>, TTSL  </a:t>
              </a:r>
              <a:endParaRPr lang="en-IN" kern="0" dirty="0">
                <a:solidFill>
                  <a:srgbClr val="000000"/>
                </a:solidFill>
                <a:ea typeface="Times New Roman" panose="02020603050405020304" pitchFamily="18" charset="0"/>
              </a:endParaRPr>
            </a:p>
            <a:p>
              <a:pPr>
                <a:defRPr/>
              </a:pPr>
              <a:endParaRPr lang="en-IN" kern="0" dirty="0">
                <a:solidFill>
                  <a:srgbClr val="000000"/>
                </a:solidFill>
                <a:ea typeface="Times New Roman" panose="02020603050405020304" pitchFamily="18" charset="0"/>
              </a:endParaRPr>
            </a:p>
          </p:txBody>
        </p:sp>
      </p:grpSp>
      <p:grpSp>
        <p:nvGrpSpPr>
          <p:cNvPr id="132" name="Group 131"/>
          <p:cNvGrpSpPr/>
          <p:nvPr/>
        </p:nvGrpSpPr>
        <p:grpSpPr>
          <a:xfrm>
            <a:off x="7763183" y="3384919"/>
            <a:ext cx="4404228" cy="2927314"/>
            <a:chOff x="3648208" y="1262124"/>
            <a:chExt cx="3340825" cy="1849933"/>
          </a:xfrm>
        </p:grpSpPr>
        <p:grpSp>
          <p:nvGrpSpPr>
            <p:cNvPr id="134" name="Group 133"/>
            <p:cNvGrpSpPr/>
            <p:nvPr/>
          </p:nvGrpSpPr>
          <p:grpSpPr>
            <a:xfrm>
              <a:off x="3648208" y="1262124"/>
              <a:ext cx="3145973" cy="1849933"/>
              <a:chOff x="488318" y="4074677"/>
              <a:chExt cx="2740909" cy="2038952"/>
            </a:xfrm>
          </p:grpSpPr>
          <p:sp>
            <p:nvSpPr>
              <p:cNvPr id="136" name="Rectangle 135"/>
              <p:cNvSpPr/>
              <p:nvPr/>
            </p:nvSpPr>
            <p:spPr>
              <a:xfrm>
                <a:off x="488318" y="4321484"/>
                <a:ext cx="2740909" cy="1792145"/>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a:defRPr/>
                </a:pPr>
                <a:endParaRPr lang="en-US" sz="1400" kern="0" dirty="0">
                  <a:solidFill>
                    <a:srgbClr val="000000"/>
                  </a:solidFill>
                  <a:latin typeface="Century Gothic" panose="020B0502020202020204" pitchFamily="34" charset="0"/>
                </a:endParaRPr>
              </a:p>
            </p:txBody>
          </p:sp>
          <p:sp>
            <p:nvSpPr>
              <p:cNvPr id="137" name="Rounded Rectangle 136"/>
              <p:cNvSpPr/>
              <p:nvPr/>
            </p:nvSpPr>
            <p:spPr>
              <a:xfrm>
                <a:off x="737250" y="4074677"/>
                <a:ext cx="2243043" cy="519090"/>
              </a:xfrm>
              <a:prstGeom prst="roundRect">
                <a:avLst/>
              </a:prstGeom>
              <a:solidFill>
                <a:sysClr val="window" lastClr="FFFFFF"/>
              </a:solidFill>
              <a:ln w="12700" cap="flat" cmpd="sng" algn="ctr">
                <a:noFill/>
                <a:prstDash val="solid"/>
                <a:miter lim="800000"/>
              </a:ln>
              <a:effectLst/>
            </p:spPr>
            <p:txBody>
              <a:bodyPr rtlCol="0" anchor="ctr"/>
              <a:lstStyle/>
              <a:p>
                <a:pPr algn="ctr">
                  <a:defRPr/>
                </a:pPr>
                <a:r>
                  <a:rPr lang="en-US" sz="1600" b="1" kern="0" dirty="0">
                    <a:solidFill>
                      <a:srgbClr val="00518E"/>
                    </a:solidFill>
                    <a:latin typeface="Century Gothic" panose="020B0502020202020204" pitchFamily="34" charset="0"/>
                  </a:rPr>
                  <a:t>Quality &amp; Enrichment </a:t>
                </a:r>
              </a:p>
            </p:txBody>
          </p:sp>
        </p:grpSp>
        <p:sp>
          <p:nvSpPr>
            <p:cNvPr id="135" name="Rectangle 134"/>
            <p:cNvSpPr/>
            <p:nvPr/>
          </p:nvSpPr>
          <p:spPr>
            <a:xfrm>
              <a:off x="4637680" y="1733092"/>
              <a:ext cx="2351353" cy="1142387"/>
            </a:xfrm>
            <a:prstGeom prst="rect">
              <a:avLst/>
            </a:prstGeom>
          </p:spPr>
          <p:txBody>
            <a:bodyPr wrap="square">
              <a:spAutoFit/>
            </a:bodyPr>
            <a:lstStyle/>
            <a:p>
              <a:pPr marL="171450" indent="-171450">
                <a:buFont typeface="Arial" panose="020B0604020202020204" pitchFamily="34" charset="0"/>
                <a:buChar char="•"/>
                <a:defRPr/>
              </a:pPr>
              <a:r>
                <a:rPr lang="en-IN" kern="0" dirty="0">
                  <a:solidFill>
                    <a:sysClr val="windowText" lastClr="000000"/>
                  </a:solidFill>
                </a:rPr>
                <a:t>Internal DQ improvement,  Data cleaning rules etc.</a:t>
              </a:r>
            </a:p>
            <a:p>
              <a:pPr marL="171450" indent="-171450">
                <a:buFont typeface="Arial" panose="020B0604020202020204" pitchFamily="34" charset="0"/>
                <a:buChar char="•"/>
                <a:defRPr/>
              </a:pPr>
              <a:endParaRPr lang="en-IN" sz="1000" kern="0" dirty="0">
                <a:solidFill>
                  <a:sysClr val="windowText" lastClr="000000"/>
                </a:solidFill>
              </a:endParaRPr>
            </a:p>
            <a:p>
              <a:pPr marL="171450" indent="-171450">
                <a:buFont typeface="Arial" panose="020B0604020202020204" pitchFamily="34" charset="0"/>
                <a:buChar char="•"/>
                <a:defRPr/>
              </a:pPr>
              <a:r>
                <a:rPr lang="en-IN" kern="0" dirty="0">
                  <a:solidFill>
                    <a:sysClr val="windowText" lastClr="000000"/>
                  </a:solidFill>
                </a:rPr>
                <a:t>Enrichment with Neo</a:t>
              </a:r>
            </a:p>
            <a:p>
              <a:pPr marL="171450" indent="-171450">
                <a:buFont typeface="Arial" panose="020B0604020202020204" pitchFamily="34" charset="0"/>
                <a:buChar char="•"/>
                <a:defRPr/>
              </a:pPr>
              <a:endParaRPr lang="en-IN" sz="1000" kern="0" dirty="0">
                <a:solidFill>
                  <a:sysClr val="windowText" lastClr="000000"/>
                </a:solidFill>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Clients: </a:t>
              </a:r>
              <a:r>
                <a:rPr lang="en-IN" kern="0" dirty="0">
                  <a:solidFill>
                    <a:sysClr val="windowText" lastClr="000000"/>
                  </a:solidFill>
                </a:rPr>
                <a:t>Croma, </a:t>
              </a:r>
              <a:r>
                <a:rPr lang="en-IN" kern="0" dirty="0" err="1">
                  <a:solidFill>
                    <a:sysClr val="windowText" lastClr="000000"/>
                  </a:solidFill>
                </a:rPr>
                <a:t>Cliq</a:t>
              </a:r>
              <a:r>
                <a:rPr lang="en-IN" kern="0" dirty="0">
                  <a:solidFill>
                    <a:sysClr val="windowText" lastClr="000000"/>
                  </a:solidFill>
                </a:rPr>
                <a:t>, Titan, Tata Capital</a:t>
              </a:r>
              <a:endParaRPr lang="en-IN" kern="0" dirty="0">
                <a:solidFill>
                  <a:srgbClr val="000000"/>
                </a:solidFill>
                <a:ea typeface="Times New Roman" panose="02020603050405020304" pitchFamily="18" charset="0"/>
              </a:endParaRPr>
            </a:p>
          </p:txBody>
        </p:sp>
      </p:grpSp>
      <p:grpSp>
        <p:nvGrpSpPr>
          <p:cNvPr id="138" name="Group 137"/>
          <p:cNvGrpSpPr/>
          <p:nvPr/>
        </p:nvGrpSpPr>
        <p:grpSpPr>
          <a:xfrm>
            <a:off x="168270" y="4522102"/>
            <a:ext cx="7329811" cy="1801617"/>
            <a:chOff x="3648208" y="1250567"/>
            <a:chExt cx="4298146" cy="1684354"/>
          </a:xfrm>
        </p:grpSpPr>
        <p:grpSp>
          <p:nvGrpSpPr>
            <p:cNvPr id="139" name="Group 138"/>
            <p:cNvGrpSpPr/>
            <p:nvPr/>
          </p:nvGrpSpPr>
          <p:grpSpPr>
            <a:xfrm>
              <a:off x="3648208" y="1250567"/>
              <a:ext cx="4275165" cy="1684354"/>
              <a:chOff x="488318" y="4061939"/>
              <a:chExt cx="3724710" cy="1856455"/>
            </a:xfrm>
          </p:grpSpPr>
          <p:sp>
            <p:nvSpPr>
              <p:cNvPr id="145" name="Rectangle 144"/>
              <p:cNvSpPr/>
              <p:nvPr/>
            </p:nvSpPr>
            <p:spPr>
              <a:xfrm>
                <a:off x="488318" y="4321484"/>
                <a:ext cx="3724710" cy="1596910"/>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a:defRPr/>
                </a:pPr>
                <a:endParaRPr lang="en-US" sz="1400" kern="0" dirty="0">
                  <a:solidFill>
                    <a:srgbClr val="000000"/>
                  </a:solidFill>
                  <a:latin typeface="Century Gothic" panose="020B0502020202020204" pitchFamily="34" charset="0"/>
                </a:endParaRPr>
              </a:p>
            </p:txBody>
          </p:sp>
          <p:sp>
            <p:nvSpPr>
              <p:cNvPr id="146" name="Rounded Rectangle 145"/>
              <p:cNvSpPr/>
              <p:nvPr/>
            </p:nvSpPr>
            <p:spPr>
              <a:xfrm>
                <a:off x="1122694" y="4061939"/>
                <a:ext cx="2660846" cy="519090"/>
              </a:xfrm>
              <a:prstGeom prst="roundRect">
                <a:avLst/>
              </a:prstGeom>
              <a:solidFill>
                <a:sysClr val="window" lastClr="FFFFFF"/>
              </a:solidFill>
              <a:ln w="12700" cap="flat" cmpd="sng" algn="ctr">
                <a:noFill/>
                <a:prstDash val="solid"/>
                <a:miter lim="800000"/>
              </a:ln>
              <a:effectLst/>
            </p:spPr>
            <p:txBody>
              <a:bodyPr rtlCol="0" anchor="ctr"/>
              <a:lstStyle/>
              <a:p>
                <a:pPr algn="ctr">
                  <a:defRPr/>
                </a:pPr>
                <a:r>
                  <a:rPr lang="en-US" sz="1600" b="1" kern="0" dirty="0">
                    <a:solidFill>
                      <a:srgbClr val="00518E"/>
                    </a:solidFill>
                    <a:latin typeface="Century Gothic" panose="020B0502020202020204" pitchFamily="34" charset="0"/>
                  </a:rPr>
                  <a:t>Self serve Visualization </a:t>
                </a:r>
              </a:p>
            </p:txBody>
          </p:sp>
        </p:grpSp>
        <p:sp>
          <p:nvSpPr>
            <p:cNvPr id="141" name="Rectangle 140"/>
            <p:cNvSpPr/>
            <p:nvPr/>
          </p:nvSpPr>
          <p:spPr>
            <a:xfrm>
              <a:off x="4820752" y="1615480"/>
              <a:ext cx="3125602" cy="1246934"/>
            </a:xfrm>
            <a:prstGeom prst="rect">
              <a:avLst/>
            </a:prstGeom>
          </p:spPr>
          <p:txBody>
            <a:bodyPr wrap="square">
              <a:spAutoFit/>
            </a:bodyPr>
            <a:lstStyle/>
            <a:p>
              <a:pPr marL="171450" indent="-171450">
                <a:buFont typeface="Arial" panose="020B0604020202020204" pitchFamily="34" charset="0"/>
                <a:buChar char="•"/>
                <a:defRPr/>
              </a:pPr>
              <a:r>
                <a:rPr lang="en-IN" kern="0" dirty="0">
                  <a:solidFill>
                    <a:sysClr val="windowText" lastClr="000000"/>
                  </a:solidFill>
                </a:rPr>
                <a:t>Data Discovery &amp; Exploration</a:t>
              </a:r>
            </a:p>
            <a:p>
              <a:pPr marL="171450" indent="-171450">
                <a:buFont typeface="Arial" panose="020B0604020202020204" pitchFamily="34" charset="0"/>
                <a:buChar char="•"/>
                <a:defRPr/>
              </a:pPr>
              <a:endParaRPr lang="en-IN" sz="1000" kern="0" dirty="0">
                <a:solidFill>
                  <a:srgbClr val="000000"/>
                </a:solidFill>
                <a:ea typeface="Times New Roman" panose="02020603050405020304" pitchFamily="18" charset="0"/>
              </a:endParaRPr>
            </a:p>
            <a:p>
              <a:pPr marL="171450" indent="-171450">
                <a:buFont typeface="Arial" panose="020B0604020202020204" pitchFamily="34" charset="0"/>
                <a:buChar char="•"/>
                <a:defRPr/>
              </a:pPr>
              <a:r>
                <a:rPr lang="en-IN" kern="0" dirty="0">
                  <a:solidFill>
                    <a:sysClr val="windowText" lastClr="000000"/>
                  </a:solidFill>
                </a:rPr>
                <a:t>Executive dashboards</a:t>
              </a:r>
            </a:p>
            <a:p>
              <a:pPr marL="171450" indent="-171450">
                <a:buFont typeface="Arial" panose="020B0604020202020204" pitchFamily="34" charset="0"/>
                <a:buChar char="•"/>
                <a:defRPr/>
              </a:pPr>
              <a:endParaRPr lang="en-IN" sz="1000" kern="0" dirty="0">
                <a:solidFill>
                  <a:sysClr val="windowText" lastClr="000000"/>
                </a:solidFill>
              </a:endParaRPr>
            </a:p>
            <a:p>
              <a:pPr marL="171450" indent="-171450">
                <a:buFont typeface="Arial" panose="020B0604020202020204" pitchFamily="34" charset="0"/>
                <a:buChar char="•"/>
                <a:defRPr/>
              </a:pPr>
              <a:r>
                <a:rPr lang="en-IN" kern="0" dirty="0">
                  <a:solidFill>
                    <a:srgbClr val="000000"/>
                  </a:solidFill>
                  <a:ea typeface="Times New Roman" panose="02020603050405020304" pitchFamily="18" charset="0"/>
                </a:rPr>
                <a:t>Clients: </a:t>
              </a:r>
              <a:r>
                <a:rPr lang="en-IN" kern="0" dirty="0">
                  <a:solidFill>
                    <a:sysClr val="windowText" lastClr="000000"/>
                  </a:solidFill>
                </a:rPr>
                <a:t>Croma, </a:t>
              </a:r>
              <a:r>
                <a:rPr lang="en-IN" kern="0" dirty="0" err="1">
                  <a:solidFill>
                    <a:sysClr val="windowText" lastClr="000000"/>
                  </a:solidFill>
                </a:rPr>
                <a:t>Cliq</a:t>
              </a:r>
              <a:r>
                <a:rPr lang="en-IN" kern="0" dirty="0">
                  <a:solidFill>
                    <a:sysClr val="windowText" lastClr="000000"/>
                  </a:solidFill>
                </a:rPr>
                <a:t>, Tata Capital, Tata AIA</a:t>
              </a:r>
              <a:endParaRPr lang="en-IN" kern="0" dirty="0">
                <a:solidFill>
                  <a:srgbClr val="000000"/>
                </a:solidFill>
                <a:ea typeface="Times New Roman" panose="02020603050405020304" pitchFamily="18" charset="0"/>
              </a:endParaRPr>
            </a:p>
          </p:txBody>
        </p:sp>
      </p:grpSp>
      <p:pic>
        <p:nvPicPr>
          <p:cNvPr id="52" name="Content Placeholder 4"/>
          <p:cNvPicPr>
            <a:picLocks noGrp="1" noChangeAspect="1"/>
          </p:cNvPicPr>
          <p:nvPr>
            <p:ph idx="1"/>
          </p:nvPr>
        </p:nvPicPr>
        <p:blipFill rotWithShape="1">
          <a:blip r:embed="rId4"/>
          <a:srcRect l="17403" t="10397" r="6273" b="3098"/>
          <a:stretch/>
        </p:blipFill>
        <p:spPr>
          <a:xfrm>
            <a:off x="7822624" y="1539620"/>
            <a:ext cx="1097280" cy="1054418"/>
          </a:xfrm>
          <a:prstGeom prst="rect">
            <a:avLst/>
          </a:prstGeom>
        </p:spPr>
      </p:pic>
      <p:pic>
        <p:nvPicPr>
          <p:cNvPr id="4" name="Picture 3"/>
          <p:cNvPicPr>
            <a:picLocks noChangeAspect="1"/>
          </p:cNvPicPr>
          <p:nvPr/>
        </p:nvPicPr>
        <p:blipFill>
          <a:blip r:embed="rId5"/>
          <a:stretch>
            <a:fillRect/>
          </a:stretch>
        </p:blipFill>
        <p:spPr>
          <a:xfrm>
            <a:off x="313712" y="3039929"/>
            <a:ext cx="1007357" cy="1278569"/>
          </a:xfrm>
          <a:prstGeom prst="rect">
            <a:avLst/>
          </a:prstGeom>
        </p:spPr>
      </p:pic>
      <p:pic>
        <p:nvPicPr>
          <p:cNvPr id="5" name="Picture 4"/>
          <p:cNvPicPr>
            <a:picLocks noChangeAspect="1"/>
          </p:cNvPicPr>
          <p:nvPr/>
        </p:nvPicPr>
        <p:blipFill rotWithShape="1">
          <a:blip r:embed="rId6"/>
          <a:srcRect t="7709" b="7762"/>
          <a:stretch/>
        </p:blipFill>
        <p:spPr>
          <a:xfrm>
            <a:off x="340009" y="1466894"/>
            <a:ext cx="1292848" cy="740730"/>
          </a:xfrm>
          <a:prstGeom prst="rect">
            <a:avLst/>
          </a:prstGeom>
        </p:spPr>
      </p:pic>
      <p:pic>
        <p:nvPicPr>
          <p:cNvPr id="10" name="Picture 9"/>
          <p:cNvPicPr>
            <a:picLocks noChangeAspect="1"/>
          </p:cNvPicPr>
          <p:nvPr/>
        </p:nvPicPr>
        <p:blipFill rotWithShape="1">
          <a:blip r:embed="rId7"/>
          <a:srcRect l="13164" t="2931" r="14505" b="4884"/>
          <a:stretch/>
        </p:blipFill>
        <p:spPr>
          <a:xfrm>
            <a:off x="7799938" y="4196242"/>
            <a:ext cx="1267671" cy="1505061"/>
          </a:xfrm>
          <a:prstGeom prst="rect">
            <a:avLst/>
          </a:prstGeom>
        </p:spPr>
      </p:pic>
      <p:pic>
        <p:nvPicPr>
          <p:cNvPr id="36" name="Picture 35"/>
          <p:cNvPicPr>
            <a:picLocks noChangeAspect="1"/>
          </p:cNvPicPr>
          <p:nvPr/>
        </p:nvPicPr>
        <p:blipFill rotWithShape="1">
          <a:blip r:embed="rId8"/>
          <a:srcRect l="-1" r="3842"/>
          <a:stretch/>
        </p:blipFill>
        <p:spPr>
          <a:xfrm>
            <a:off x="312548" y="4883034"/>
            <a:ext cx="1267097" cy="1317722"/>
          </a:xfrm>
          <a:prstGeom prst="rect">
            <a:avLst/>
          </a:prstGeom>
        </p:spPr>
      </p:pic>
      <p:sp>
        <p:nvSpPr>
          <p:cNvPr id="37" name="Slide Number Placeholder 3"/>
          <p:cNvSpPr>
            <a:spLocks noGrp="1"/>
          </p:cNvSpPr>
          <p:nvPr>
            <p:ph type="sldNum" sz="quarter" idx="12"/>
          </p:nvPr>
        </p:nvSpPr>
        <p:spPr>
          <a:xfrm>
            <a:off x="9448800" y="6350"/>
            <a:ext cx="2743200" cy="365125"/>
          </a:xfrm>
        </p:spPr>
        <p:txBody>
          <a:bodyPr/>
          <a:lstStyle/>
          <a:p>
            <a:pPr>
              <a:defRPr/>
            </a:pPr>
            <a:r>
              <a:rPr lang="en-IN" sz="1800" kern="0" dirty="0" smtClean="0">
                <a:solidFill>
                  <a:srgbClr val="000000">
                    <a:tint val="75000"/>
                  </a:srgbClr>
                </a:solidFill>
              </a:rPr>
              <a:t>8</a:t>
            </a:r>
            <a:endParaRPr lang="en-IN" sz="1800" kern="0" dirty="0">
              <a:solidFill>
                <a:srgbClr val="000000">
                  <a:tint val="75000"/>
                </a:srgbClr>
              </a:solidFill>
            </a:endParaRPr>
          </a:p>
        </p:txBody>
      </p:sp>
    </p:spTree>
    <p:extLst>
      <p:ext uri="{BB962C8B-B14F-4D97-AF65-F5344CB8AC3E}">
        <p14:creationId xmlns:p14="http://schemas.microsoft.com/office/powerpoint/2010/main" val="16218625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flipH="1">
            <a:off x="1" y="5953298"/>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343557" y="291779"/>
              <a:ext cx="5505033" cy="523220"/>
            </a:xfrm>
            <a:prstGeom prst="rect">
              <a:avLst/>
            </a:prstGeom>
            <a:solidFill>
              <a:schemeClr val="bg1"/>
            </a:solidFill>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800" b="1" i="0" u="none" strike="noStrike" kern="0" cap="none" spc="0" normalizeH="0" baseline="0" noProof="0" dirty="0">
                  <a:ln>
                    <a:noFill/>
                  </a:ln>
                  <a:solidFill>
                    <a:srgbClr val="0070C0"/>
                  </a:solidFill>
                  <a:effectLst/>
                  <a:uLnTx/>
                  <a:uFillTx/>
                  <a:latin typeface="Leelawadee UI" panose="020B0502040204020203" pitchFamily="34" charset="-34"/>
                  <a:cs typeface="Leelawadee UI" panose="020B0502040204020203" pitchFamily="34" charset="-34"/>
                </a:rPr>
                <a:t>Leveraging the power of </a:t>
              </a:r>
              <a:r>
                <a:rPr kumimoji="0" lang="en-IN" sz="2800" b="1" i="0" u="none" strike="noStrike" kern="0" cap="none" spc="0" normalizeH="0" baseline="0" noProof="0" dirty="0" smtClean="0">
                  <a:ln>
                    <a:noFill/>
                  </a:ln>
                  <a:solidFill>
                    <a:srgbClr val="0070C0"/>
                  </a:solidFill>
                  <a:effectLst/>
                  <a:uLnTx/>
                  <a:uFillTx/>
                  <a:latin typeface="Leelawadee UI" panose="020B0502040204020203" pitchFamily="34" charset="-34"/>
                  <a:cs typeface="Leelawadee UI" panose="020B0502040204020203" pitchFamily="34" charset="-34"/>
                </a:rPr>
                <a:t>digital</a:t>
              </a:r>
              <a:endParaRPr kumimoji="0" lang="en-IN" sz="2800" b="1" i="0" u="none" strike="noStrike" kern="0" cap="none" spc="0" normalizeH="0" baseline="0" noProof="0" dirty="0">
                <a:ln>
                  <a:noFill/>
                </a:ln>
                <a:solidFill>
                  <a:srgbClr val="0070C0"/>
                </a:solidFill>
                <a:effectLst/>
                <a:uLnTx/>
                <a:uFillTx/>
                <a:latin typeface="Leelawadee UI" panose="020B0502040204020203" pitchFamily="34" charset="-34"/>
                <a:cs typeface="Leelawadee UI" panose="020B0502040204020203" pitchFamily="34" charset="-34"/>
              </a:endParaRPr>
            </a:p>
          </p:txBody>
        </p:sp>
      </p:grpSp>
      <p:grpSp>
        <p:nvGrpSpPr>
          <p:cNvPr id="95" name="Group 94"/>
          <p:cNvGrpSpPr/>
          <p:nvPr/>
        </p:nvGrpSpPr>
        <p:grpSpPr>
          <a:xfrm>
            <a:off x="480023" y="758370"/>
            <a:ext cx="5663200" cy="4109844"/>
            <a:chOff x="3648209" y="1250567"/>
            <a:chExt cx="4298144" cy="1695903"/>
          </a:xfrm>
        </p:grpSpPr>
        <p:grpSp>
          <p:nvGrpSpPr>
            <p:cNvPr id="96" name="Group 95"/>
            <p:cNvGrpSpPr/>
            <p:nvPr/>
          </p:nvGrpSpPr>
          <p:grpSpPr>
            <a:xfrm>
              <a:off x="3648209" y="1250567"/>
              <a:ext cx="4284634" cy="1695903"/>
              <a:chOff x="488319" y="4061939"/>
              <a:chExt cx="3732960" cy="1869184"/>
            </a:xfrm>
          </p:grpSpPr>
          <p:sp>
            <p:nvSpPr>
              <p:cNvPr id="99" name="Rectangle 98"/>
              <p:cNvSpPr/>
              <p:nvPr/>
            </p:nvSpPr>
            <p:spPr>
              <a:xfrm>
                <a:off x="488319" y="4321484"/>
                <a:ext cx="3732960" cy="1609639"/>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00" name="Rounded Rectangle 99"/>
              <p:cNvSpPr/>
              <p:nvPr/>
            </p:nvSpPr>
            <p:spPr>
              <a:xfrm>
                <a:off x="1252168" y="4061939"/>
                <a:ext cx="2401898"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rgbClr val="00518E"/>
                    </a:solidFill>
                    <a:effectLst/>
                    <a:uLnTx/>
                    <a:uFillTx/>
                    <a:latin typeface="Century Gothic" panose="020B0502020202020204" pitchFamily="34" charset="0"/>
                  </a:rPr>
                  <a:t>Social Media</a:t>
                </a:r>
                <a:endPar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endParaRPr>
              </a:p>
            </p:txBody>
          </p:sp>
        </p:grpSp>
        <p:sp>
          <p:nvSpPr>
            <p:cNvPr id="98" name="Rectangle 97"/>
            <p:cNvSpPr/>
            <p:nvPr/>
          </p:nvSpPr>
          <p:spPr>
            <a:xfrm>
              <a:off x="4729523" y="1628400"/>
              <a:ext cx="3216830" cy="1257322"/>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dirty="0" smtClean="0">
                  <a:solidFill>
                    <a:srgbClr val="000000"/>
                  </a:solidFill>
                  <a:ea typeface="Times New Roman" panose="02020603050405020304" pitchFamily="18" charset="0"/>
                </a:rPr>
                <a:t>Social media tracking and social engagement analysis for Tata AIA – helped propel Tata AIA to the fastest growing in terms of engagement &amp; reach</a:t>
              </a:r>
            </a:p>
            <a:p>
              <a:pPr marR="0" lvl="0" defTabSz="914400" eaLnBrk="1" fontAlgn="auto" latinLnBrk="0" hangingPunct="1">
                <a:lnSpc>
                  <a:spcPct val="100000"/>
                </a:lnSpc>
                <a:spcBef>
                  <a:spcPts val="0"/>
                </a:spcBef>
                <a:spcAft>
                  <a:spcPts val="0"/>
                </a:spcAft>
                <a:buClrTx/>
                <a:buSzTx/>
                <a:tabLst/>
                <a:defRPr/>
              </a:pPr>
              <a:endParaRPr lang="en-IN" sz="1600" kern="0" dirty="0" smtClean="0">
                <a:solidFill>
                  <a:srgbClr val="000000"/>
                </a:solidFill>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dirty="0" smtClean="0">
                  <a:solidFill>
                    <a:srgbClr val="000000"/>
                  </a:solidFill>
                  <a:ea typeface="Times New Roman" panose="02020603050405020304" pitchFamily="18" charset="0"/>
                </a:rPr>
                <a:t>Social media for lead generation for Tata Capital – enhance accuracy from 11% to 72%</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0" cap="none" spc="0" normalizeH="0" baseline="0" noProof="0" dirty="0">
                <a:ln>
                  <a:noFill/>
                </a:ln>
                <a:solidFill>
                  <a:srgbClr val="000000"/>
                </a:solidFill>
                <a:effectLst/>
                <a:uLnTx/>
                <a:uFillTx/>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dirty="0" smtClean="0">
                  <a:solidFill>
                    <a:srgbClr val="000000"/>
                  </a:solidFill>
                  <a:ea typeface="Times New Roman" panose="02020603050405020304" pitchFamily="18" charset="0"/>
                </a:rPr>
                <a:t>Social media for perception mapping for Tiago</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0" cap="none" spc="0" normalizeH="0" baseline="0" noProof="0" dirty="0">
                <a:ln>
                  <a:noFill/>
                </a:ln>
                <a:solidFill>
                  <a:srgbClr val="000000"/>
                </a:solidFill>
                <a:effectLst/>
                <a:uLnTx/>
                <a:uFillTx/>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dirty="0" smtClean="0">
                  <a:solidFill>
                    <a:srgbClr val="000000"/>
                  </a:solidFill>
                  <a:ea typeface="Times New Roman" panose="02020603050405020304" pitchFamily="18" charset="0"/>
                </a:rPr>
                <a:t>Social media for positioning Tata Chemicals nutraceuticals </a:t>
              </a:r>
              <a:endParaRPr kumimoji="0" lang="en-IN" sz="1600" b="0" i="0" u="none" strike="noStrike" kern="0" cap="none" spc="0" normalizeH="0" baseline="0" noProof="0" dirty="0">
                <a:ln>
                  <a:noFill/>
                </a:ln>
                <a:solidFill>
                  <a:srgbClr val="000000"/>
                </a:solidFill>
                <a:effectLst/>
                <a:uLnTx/>
                <a:uFillTx/>
                <a:ea typeface="Times New Roman" panose="02020603050405020304" pitchFamily="18" charset="0"/>
              </a:endParaRPr>
            </a:p>
          </p:txBody>
        </p:sp>
      </p:grpSp>
      <p:sp>
        <p:nvSpPr>
          <p:cNvPr id="53" name="Slide Number Placeholder 3"/>
          <p:cNvSpPr>
            <a:spLocks noGrp="1"/>
          </p:cNvSpPr>
          <p:nvPr>
            <p:ph type="sldNum" sz="quarter" idx="12"/>
          </p:nvPr>
        </p:nvSpPr>
        <p:spPr>
          <a:xfrm>
            <a:off x="9448800" y="6350"/>
            <a:ext cx="2743200" cy="365125"/>
          </a:xfrm>
        </p:spPr>
        <p:txBody>
          <a:bodyPr/>
          <a:lstStyle/>
          <a:p>
            <a:pPr>
              <a:defRPr/>
            </a:pPr>
            <a:r>
              <a:rPr lang="en-IN" sz="1800" kern="0" dirty="0" smtClean="0">
                <a:solidFill>
                  <a:srgbClr val="000000">
                    <a:tint val="75000"/>
                  </a:srgbClr>
                </a:solidFill>
              </a:rPr>
              <a:t>9</a:t>
            </a:r>
            <a:endParaRPr lang="en-IN" sz="1800" kern="0" dirty="0">
              <a:solidFill>
                <a:srgbClr val="000000">
                  <a:tint val="75000"/>
                </a:srgbClr>
              </a:solidFill>
            </a:endParaRPr>
          </a:p>
        </p:txBody>
      </p:sp>
      <p:pic>
        <p:nvPicPr>
          <p:cNvPr id="1026" name="Picture 2"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515" y="1674008"/>
            <a:ext cx="1240239" cy="794459"/>
          </a:xfrm>
          <a:prstGeom prst="rect">
            <a:avLst/>
          </a:prstGeom>
          <a:noFill/>
          <a:extLst>
            <a:ext uri="{909E8E84-426E-40DD-AFC4-6F175D3DCCD1}">
              <a14:hiddenFill xmlns:a14="http://schemas.microsoft.com/office/drawing/2010/main">
                <a:solidFill>
                  <a:srgbClr val="FFFFFF"/>
                </a:solidFill>
              </a14:hiddenFill>
            </a:ext>
          </a:extLst>
        </p:spPr>
      </p:pic>
      <p:grpSp>
        <p:nvGrpSpPr>
          <p:cNvPr id="54" name="Group 53"/>
          <p:cNvGrpSpPr/>
          <p:nvPr/>
        </p:nvGrpSpPr>
        <p:grpSpPr>
          <a:xfrm>
            <a:off x="6317095" y="743072"/>
            <a:ext cx="5663200" cy="4109844"/>
            <a:chOff x="3648209" y="1250567"/>
            <a:chExt cx="4298144" cy="1695903"/>
          </a:xfrm>
        </p:grpSpPr>
        <p:grpSp>
          <p:nvGrpSpPr>
            <p:cNvPr id="55" name="Group 54"/>
            <p:cNvGrpSpPr/>
            <p:nvPr/>
          </p:nvGrpSpPr>
          <p:grpSpPr>
            <a:xfrm>
              <a:off x="3648209" y="1250567"/>
              <a:ext cx="4284634" cy="1695903"/>
              <a:chOff x="488319" y="4061939"/>
              <a:chExt cx="3732960" cy="1869184"/>
            </a:xfrm>
          </p:grpSpPr>
          <p:sp>
            <p:nvSpPr>
              <p:cNvPr id="57" name="Rectangle 56"/>
              <p:cNvSpPr/>
              <p:nvPr/>
            </p:nvSpPr>
            <p:spPr>
              <a:xfrm>
                <a:off x="488319" y="4321484"/>
                <a:ext cx="3732960" cy="1609639"/>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58" name="Rounded Rectangle 57"/>
              <p:cNvSpPr/>
              <p:nvPr/>
            </p:nvSpPr>
            <p:spPr>
              <a:xfrm>
                <a:off x="1252168" y="4061939"/>
                <a:ext cx="2401898"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rgbClr val="00518E"/>
                    </a:solidFill>
                    <a:effectLst/>
                    <a:uLnTx/>
                    <a:uFillTx/>
                    <a:latin typeface="Century Gothic" panose="020B0502020202020204" pitchFamily="34" charset="0"/>
                  </a:rPr>
                  <a:t>Web and</a:t>
                </a:r>
                <a:r>
                  <a:rPr kumimoji="0" lang="en-US" sz="1600" b="1" i="0" u="none" strike="noStrike" kern="0" cap="none" spc="0" normalizeH="0" noProof="0" dirty="0" smtClean="0">
                    <a:ln>
                      <a:noFill/>
                    </a:ln>
                    <a:solidFill>
                      <a:srgbClr val="00518E"/>
                    </a:solidFill>
                    <a:effectLst/>
                    <a:uLnTx/>
                    <a:uFillTx/>
                    <a:latin typeface="Century Gothic" panose="020B0502020202020204" pitchFamily="34" charset="0"/>
                  </a:rPr>
                  <a:t> App analytics</a:t>
                </a:r>
                <a:endPar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endParaRPr>
              </a:p>
            </p:txBody>
          </p:sp>
        </p:grpSp>
        <p:sp>
          <p:nvSpPr>
            <p:cNvPr id="56" name="Rectangle 55"/>
            <p:cNvSpPr/>
            <p:nvPr/>
          </p:nvSpPr>
          <p:spPr>
            <a:xfrm>
              <a:off x="4729523" y="1628400"/>
              <a:ext cx="3216830" cy="1155720"/>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noProof="0" dirty="0" smtClean="0">
                  <a:solidFill>
                    <a:srgbClr val="000000"/>
                  </a:solidFill>
                  <a:ea typeface="Times New Roman" panose="02020603050405020304" pitchFamily="18" charset="0"/>
                </a:rPr>
                <a:t>Browsing based segmentation &amp; recommendation for Tata </a:t>
              </a:r>
              <a:r>
                <a:rPr lang="en-IN" sz="1600" kern="0" noProof="0" dirty="0" err="1" smtClean="0">
                  <a:solidFill>
                    <a:srgbClr val="000000"/>
                  </a:solidFill>
                  <a:ea typeface="Times New Roman" panose="02020603050405020304" pitchFamily="18" charset="0"/>
                </a:rPr>
                <a:t>Cliq</a:t>
              </a:r>
              <a:r>
                <a:rPr lang="en-IN" sz="1600" kern="0" noProof="0" dirty="0" smtClean="0">
                  <a:solidFill>
                    <a:srgbClr val="000000"/>
                  </a:solidFill>
                  <a:ea typeface="Times New Roman" panose="02020603050405020304" pitchFamily="18" charset="0"/>
                </a:rPr>
                <a:t/>
              </a:r>
              <a:br>
                <a:rPr lang="en-IN" sz="1600" kern="0" noProof="0" dirty="0" smtClean="0">
                  <a:solidFill>
                    <a:srgbClr val="000000"/>
                  </a:solidFill>
                  <a:ea typeface="Times New Roman" panose="02020603050405020304" pitchFamily="18" charset="0"/>
                </a:rPr>
              </a:br>
              <a:endParaRPr lang="en-IN" sz="1600" kern="0" noProof="0" dirty="0" smtClean="0">
                <a:solidFill>
                  <a:srgbClr val="000000"/>
                </a:solidFill>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dirty="0" smtClean="0">
                  <a:solidFill>
                    <a:srgbClr val="000000"/>
                  </a:solidFill>
                  <a:ea typeface="Times New Roman" panose="02020603050405020304" pitchFamily="18" charset="0"/>
                </a:rPr>
                <a:t>Customer journey and funnel optimization – Tata AIA, Tata Capital, Tata </a:t>
              </a:r>
              <a:r>
                <a:rPr lang="en-IN" sz="1600" kern="0" dirty="0" err="1" smtClean="0">
                  <a:solidFill>
                    <a:srgbClr val="000000"/>
                  </a:solidFill>
                  <a:ea typeface="Times New Roman" panose="02020603050405020304" pitchFamily="18" charset="0"/>
                </a:rPr>
                <a:t>Cliq</a:t>
              </a:r>
              <a:endParaRPr lang="en-IN" sz="1600" kern="0" dirty="0" smtClean="0">
                <a:solidFill>
                  <a:srgbClr val="000000"/>
                </a:solidFill>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600" kern="0" noProof="0" dirty="0">
                <a:solidFill>
                  <a:srgbClr val="000000"/>
                </a:solidFill>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noProof="0" dirty="0" smtClean="0">
                  <a:solidFill>
                    <a:srgbClr val="000000"/>
                  </a:solidFill>
                  <a:ea typeface="Times New Roman" panose="02020603050405020304" pitchFamily="18" charset="0"/>
                </a:rPr>
                <a:t>Evaluation of efficacy of various sources of digital leads – Tata AIA, Tata Capital, Tata </a:t>
              </a:r>
              <a:r>
                <a:rPr lang="en-IN" sz="1600" kern="0" noProof="0" dirty="0" err="1" smtClean="0">
                  <a:solidFill>
                    <a:srgbClr val="000000"/>
                  </a:solidFill>
                  <a:ea typeface="Times New Roman" panose="02020603050405020304" pitchFamily="18" charset="0"/>
                </a:rPr>
                <a:t>Cliq</a:t>
              </a:r>
              <a:endParaRPr lang="en-IN" sz="1600" kern="0" noProof="0" dirty="0" smtClean="0">
                <a:solidFill>
                  <a:srgbClr val="000000"/>
                </a:solidFill>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600" kern="0" dirty="0">
                <a:solidFill>
                  <a:srgbClr val="000000"/>
                </a:solidFill>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kern="0" noProof="0" dirty="0" smtClean="0">
                  <a:solidFill>
                    <a:srgbClr val="000000"/>
                  </a:solidFill>
                  <a:ea typeface="Times New Roman" panose="02020603050405020304" pitchFamily="18" charset="0"/>
                </a:rPr>
                <a:t>Competitive benchmarking – all Tata Group companies </a:t>
              </a:r>
            </a:p>
          </p:txBody>
        </p:sp>
      </p:grpSp>
      <p:pic>
        <p:nvPicPr>
          <p:cNvPr id="1028" name="Picture 4"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9222" y="1874326"/>
            <a:ext cx="1038732" cy="57439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6"/>
          <a:stretch>
            <a:fillRect/>
          </a:stretch>
        </p:blipFill>
        <p:spPr>
          <a:xfrm>
            <a:off x="6438179" y="3513789"/>
            <a:ext cx="1111974" cy="622705"/>
          </a:xfrm>
          <a:prstGeom prst="rect">
            <a:avLst/>
          </a:prstGeom>
        </p:spPr>
      </p:pic>
      <p:pic>
        <p:nvPicPr>
          <p:cNvPr id="3" name="Picture 2"/>
          <p:cNvPicPr>
            <a:picLocks noChangeAspect="1"/>
          </p:cNvPicPr>
          <p:nvPr/>
        </p:nvPicPr>
        <p:blipFill rotWithShape="1">
          <a:blip r:embed="rId7"/>
          <a:srcRect l="9638" t="2113" r="6278" b="4598"/>
          <a:stretch/>
        </p:blipFill>
        <p:spPr>
          <a:xfrm>
            <a:off x="575860" y="3156570"/>
            <a:ext cx="1233058" cy="876324"/>
          </a:xfrm>
          <a:prstGeom prst="rect">
            <a:avLst/>
          </a:prstGeom>
        </p:spPr>
      </p:pic>
    </p:spTree>
    <p:extLst>
      <p:ext uri="{BB962C8B-B14F-4D97-AF65-F5344CB8AC3E}">
        <p14:creationId xmlns:p14="http://schemas.microsoft.com/office/powerpoint/2010/main" val="37543941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flipH="1">
            <a:off x="-6899" y="6378301"/>
            <a:ext cx="12192000" cy="232833"/>
          </a:xfrm>
          <a:prstGeom prst="rect">
            <a:avLst/>
          </a:prstGeom>
        </p:spPr>
      </p:pic>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2427441" y="291779"/>
              <a:ext cx="7337265" cy="523220"/>
            </a:xfrm>
            <a:prstGeom prst="rect">
              <a:avLst/>
            </a:prstGeom>
            <a:solidFill>
              <a:schemeClr val="bg1"/>
            </a:solidFill>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800" b="1" i="0" u="none" strike="noStrike" kern="0" cap="none" spc="0" normalizeH="0" baseline="0" noProof="0" dirty="0">
                  <a:ln>
                    <a:noFill/>
                  </a:ln>
                  <a:solidFill>
                    <a:srgbClr val="0070C0"/>
                  </a:solidFill>
                  <a:effectLst/>
                  <a:uLnTx/>
                  <a:uFillTx/>
                  <a:latin typeface="Leelawadee UI" panose="020B0502040204020203" pitchFamily="34" charset="-34"/>
                  <a:cs typeface="Leelawadee UI" panose="020B0502040204020203" pitchFamily="34" charset="-34"/>
                </a:rPr>
                <a:t>Leveraging the power of machine learning</a:t>
              </a:r>
            </a:p>
          </p:txBody>
        </p:sp>
      </p:grpSp>
      <p:grpSp>
        <p:nvGrpSpPr>
          <p:cNvPr id="95" name="Group 94"/>
          <p:cNvGrpSpPr/>
          <p:nvPr/>
        </p:nvGrpSpPr>
        <p:grpSpPr>
          <a:xfrm>
            <a:off x="480023" y="758370"/>
            <a:ext cx="4807421" cy="1695903"/>
            <a:chOff x="3648209" y="1250567"/>
            <a:chExt cx="4298144" cy="1695903"/>
          </a:xfrm>
        </p:grpSpPr>
        <p:grpSp>
          <p:nvGrpSpPr>
            <p:cNvPr id="96" name="Group 95"/>
            <p:cNvGrpSpPr/>
            <p:nvPr/>
          </p:nvGrpSpPr>
          <p:grpSpPr>
            <a:xfrm>
              <a:off x="3648209" y="1250567"/>
              <a:ext cx="4284634" cy="1695903"/>
              <a:chOff x="488319" y="4061939"/>
              <a:chExt cx="3732960" cy="1869184"/>
            </a:xfrm>
          </p:grpSpPr>
          <p:sp>
            <p:nvSpPr>
              <p:cNvPr id="99" name="Rectangle 98"/>
              <p:cNvSpPr/>
              <p:nvPr/>
            </p:nvSpPr>
            <p:spPr>
              <a:xfrm>
                <a:off x="488319" y="4321484"/>
                <a:ext cx="3732960" cy="1609639"/>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00" name="Rounded Rectangle 99"/>
              <p:cNvSpPr/>
              <p:nvPr/>
            </p:nvSpPr>
            <p:spPr>
              <a:xfrm>
                <a:off x="1252168" y="4061939"/>
                <a:ext cx="2401898"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Ensemble Algorithms</a:t>
                </a:r>
              </a:p>
            </p:txBody>
          </p:sp>
        </p:grpSp>
        <p:pic>
          <p:nvPicPr>
            <p:cNvPr id="97" name="Picture 96"/>
            <p:cNvPicPr>
              <a:picLocks noChangeAspect="1"/>
            </p:cNvPicPr>
            <p:nvPr/>
          </p:nvPicPr>
          <p:blipFill rotWithShape="1">
            <a:blip r:embed="rId4"/>
            <a:srcRect b="11184"/>
            <a:stretch/>
          </p:blipFill>
          <p:spPr>
            <a:xfrm>
              <a:off x="3761877" y="1867654"/>
              <a:ext cx="967646" cy="931046"/>
            </a:xfrm>
            <a:prstGeom prst="rect">
              <a:avLst/>
            </a:prstGeom>
            <a:noFill/>
            <a:ln>
              <a:noFill/>
            </a:ln>
          </p:spPr>
        </p:pic>
        <p:sp>
          <p:nvSpPr>
            <p:cNvPr id="98" name="Rectangle 97"/>
            <p:cNvSpPr/>
            <p:nvPr/>
          </p:nvSpPr>
          <p:spPr>
            <a:xfrm>
              <a:off x="4729523" y="1746141"/>
              <a:ext cx="3216830" cy="1200329"/>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Random Forest : Tata Capital</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000000"/>
                </a:solidFill>
                <a:effectLst/>
                <a:uLnTx/>
                <a:uFillTx/>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Stochastic Gradient Boosting : Tata AIA </a:t>
              </a:r>
            </a:p>
          </p:txBody>
        </p:sp>
      </p:grpSp>
      <p:grpSp>
        <p:nvGrpSpPr>
          <p:cNvPr id="101" name="Group 100"/>
          <p:cNvGrpSpPr/>
          <p:nvPr/>
        </p:nvGrpSpPr>
        <p:grpSpPr>
          <a:xfrm>
            <a:off x="5833455" y="751249"/>
            <a:ext cx="6041096" cy="1729759"/>
            <a:chOff x="6352232" y="1250567"/>
            <a:chExt cx="6041096" cy="1729759"/>
          </a:xfrm>
        </p:grpSpPr>
        <p:grpSp>
          <p:nvGrpSpPr>
            <p:cNvPr id="102" name="Group 101"/>
            <p:cNvGrpSpPr/>
            <p:nvPr/>
          </p:nvGrpSpPr>
          <p:grpSpPr>
            <a:xfrm>
              <a:off x="6352232" y="1250567"/>
              <a:ext cx="6041096" cy="1729759"/>
              <a:chOff x="3648209" y="1250567"/>
              <a:chExt cx="5077025" cy="1729759"/>
            </a:xfrm>
          </p:grpSpPr>
          <p:grpSp>
            <p:nvGrpSpPr>
              <p:cNvPr id="104" name="Group 103"/>
              <p:cNvGrpSpPr/>
              <p:nvPr/>
            </p:nvGrpSpPr>
            <p:grpSpPr>
              <a:xfrm>
                <a:off x="3648209" y="1250567"/>
                <a:ext cx="4942537" cy="1729759"/>
                <a:chOff x="488319" y="4061939"/>
                <a:chExt cx="4306154" cy="1906499"/>
              </a:xfrm>
            </p:grpSpPr>
            <p:sp>
              <p:nvSpPr>
                <p:cNvPr id="109" name="Rectangle 108"/>
                <p:cNvSpPr/>
                <p:nvPr/>
              </p:nvSpPr>
              <p:spPr>
                <a:xfrm>
                  <a:off x="488319" y="4321484"/>
                  <a:ext cx="4306154" cy="1646954"/>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10" name="Rounded Rectangle 109"/>
                <p:cNvSpPr/>
                <p:nvPr/>
              </p:nvSpPr>
              <p:spPr>
                <a:xfrm>
                  <a:off x="1252168" y="4061939"/>
                  <a:ext cx="2401898"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Natural Language Processing</a:t>
                  </a:r>
                </a:p>
              </p:txBody>
            </p:sp>
          </p:grpSp>
          <p:sp>
            <p:nvSpPr>
              <p:cNvPr id="108" name="Rectangle 107"/>
              <p:cNvSpPr/>
              <p:nvPr/>
            </p:nvSpPr>
            <p:spPr>
              <a:xfrm>
                <a:off x="4930099" y="1700494"/>
                <a:ext cx="3795135" cy="1200329"/>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Lead Tagging: Tata Capital</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Text Mining : Tata Motors, </a:t>
                </a:r>
                <a:r>
                  <a:rPr kumimoji="0" lang="en-IN" sz="1800" b="0" i="0" u="none" strike="noStrike" kern="0" cap="none" spc="0" normalizeH="0" baseline="0" noProof="0" dirty="0" smtClean="0">
                    <a:ln>
                      <a:noFill/>
                    </a:ln>
                    <a:solidFill>
                      <a:srgbClr val="000000"/>
                    </a:solidFill>
                    <a:effectLst/>
                    <a:uLnTx/>
                    <a:uFillTx/>
                    <a:ea typeface="Times New Roman" panose="02020603050405020304" pitchFamily="18" charset="0"/>
                  </a:rPr>
                  <a:t>Tata Steel, Rallis</a:t>
                </a:r>
                <a:endParaRPr kumimoji="0" lang="en-IN" sz="1800" b="0" i="0" u="none" strike="noStrike" kern="0" cap="none" spc="0" normalizeH="0" baseline="0" noProof="0" dirty="0">
                  <a:ln>
                    <a:noFill/>
                  </a:ln>
                  <a:solidFill>
                    <a:srgbClr val="000000"/>
                  </a:solidFill>
                  <a:effectLst/>
                  <a:uLnTx/>
                  <a:uFillTx/>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Transliteration : Tata iQ Vernacular Database</a:t>
                </a:r>
              </a:p>
            </p:txBody>
          </p:sp>
        </p:grpSp>
        <p:pic>
          <p:nvPicPr>
            <p:cNvPr id="103" name="Picture 102"/>
            <p:cNvPicPr>
              <a:picLocks noChangeAspect="1"/>
            </p:cNvPicPr>
            <p:nvPr/>
          </p:nvPicPr>
          <p:blipFill>
            <a:blip r:embed="rId5">
              <a:duotone>
                <a:schemeClr val="accent4">
                  <a:shade val="45000"/>
                  <a:satMod val="135000"/>
                </a:schemeClr>
                <a:prstClr val="white"/>
              </a:duotone>
            </a:blip>
            <a:stretch>
              <a:fillRect/>
            </a:stretch>
          </p:blipFill>
          <p:spPr>
            <a:xfrm>
              <a:off x="6512258" y="1765701"/>
              <a:ext cx="1363890" cy="1202665"/>
            </a:xfrm>
            <a:prstGeom prst="rect">
              <a:avLst/>
            </a:prstGeom>
          </p:spPr>
        </p:pic>
      </p:grpSp>
      <p:grpSp>
        <p:nvGrpSpPr>
          <p:cNvPr id="111" name="Group 110"/>
          <p:cNvGrpSpPr/>
          <p:nvPr/>
        </p:nvGrpSpPr>
        <p:grpSpPr>
          <a:xfrm>
            <a:off x="480023" y="2582386"/>
            <a:ext cx="4792310" cy="1861490"/>
            <a:chOff x="325600" y="3587905"/>
            <a:chExt cx="4792310" cy="1861490"/>
          </a:xfrm>
        </p:grpSpPr>
        <p:grpSp>
          <p:nvGrpSpPr>
            <p:cNvPr id="112" name="Group 111"/>
            <p:cNvGrpSpPr/>
            <p:nvPr/>
          </p:nvGrpSpPr>
          <p:grpSpPr>
            <a:xfrm>
              <a:off x="325600" y="3587905"/>
              <a:ext cx="4792310" cy="1861490"/>
              <a:chOff x="3648209" y="1250567"/>
              <a:chExt cx="4284634" cy="1861490"/>
            </a:xfrm>
          </p:grpSpPr>
          <p:grpSp>
            <p:nvGrpSpPr>
              <p:cNvPr id="121" name="Group 120"/>
              <p:cNvGrpSpPr/>
              <p:nvPr/>
            </p:nvGrpSpPr>
            <p:grpSpPr>
              <a:xfrm>
                <a:off x="3648209" y="1250567"/>
                <a:ext cx="4284634" cy="1861490"/>
                <a:chOff x="488319" y="4061939"/>
                <a:chExt cx="3732960" cy="2051690"/>
              </a:xfrm>
            </p:grpSpPr>
            <p:sp>
              <p:nvSpPr>
                <p:cNvPr id="123" name="Rectangle 122"/>
                <p:cNvSpPr/>
                <p:nvPr/>
              </p:nvSpPr>
              <p:spPr>
                <a:xfrm>
                  <a:off x="488319" y="4321484"/>
                  <a:ext cx="3732960" cy="1792145"/>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24" name="Rounded Rectangle 123"/>
                <p:cNvSpPr/>
                <p:nvPr/>
              </p:nvSpPr>
              <p:spPr>
                <a:xfrm>
                  <a:off x="1498118" y="4061939"/>
                  <a:ext cx="1605009"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Neural Networks</a:t>
                  </a:r>
                </a:p>
              </p:txBody>
            </p:sp>
          </p:grpSp>
          <p:sp>
            <p:nvSpPr>
              <p:cNvPr id="122" name="Rectangle 121"/>
              <p:cNvSpPr/>
              <p:nvPr/>
            </p:nvSpPr>
            <p:spPr>
              <a:xfrm>
                <a:off x="4807240" y="1802301"/>
                <a:ext cx="3125602" cy="1200329"/>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Organization Collaboration : Tata Communications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000000"/>
                  </a:solidFill>
                  <a:effectLst/>
                  <a:uLnTx/>
                  <a:uFillTx/>
                  <a:ea typeface="Times New Roman" panose="02020603050405020304" pitchFamily="18"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LD-2 Process : Tata Steel</a:t>
                </a:r>
              </a:p>
            </p:txBody>
          </p:sp>
        </p:grpSp>
        <p:pic>
          <p:nvPicPr>
            <p:cNvPr id="114" name="Picture 113"/>
            <p:cNvPicPr>
              <a:picLocks noChangeAspect="1"/>
            </p:cNvPicPr>
            <p:nvPr/>
          </p:nvPicPr>
          <p:blipFill rotWithShape="1">
            <a:blip r:embed="rId6"/>
            <a:srcRect b="19976"/>
            <a:stretch/>
          </p:blipFill>
          <p:spPr>
            <a:xfrm>
              <a:off x="503318" y="4294357"/>
              <a:ext cx="940928" cy="890894"/>
            </a:xfrm>
            <a:prstGeom prst="rect">
              <a:avLst/>
            </a:prstGeom>
            <a:noFill/>
            <a:ln>
              <a:noFill/>
            </a:ln>
          </p:spPr>
        </p:pic>
      </p:grpSp>
      <p:grpSp>
        <p:nvGrpSpPr>
          <p:cNvPr id="127" name="Group 126"/>
          <p:cNvGrpSpPr/>
          <p:nvPr/>
        </p:nvGrpSpPr>
        <p:grpSpPr>
          <a:xfrm>
            <a:off x="5856085" y="2593943"/>
            <a:ext cx="3518731" cy="1849933"/>
            <a:chOff x="6352230" y="3613560"/>
            <a:chExt cx="3518731" cy="1849933"/>
          </a:xfrm>
        </p:grpSpPr>
        <p:grpSp>
          <p:nvGrpSpPr>
            <p:cNvPr id="132" name="Group 131"/>
            <p:cNvGrpSpPr/>
            <p:nvPr/>
          </p:nvGrpSpPr>
          <p:grpSpPr>
            <a:xfrm>
              <a:off x="6352230" y="3613560"/>
              <a:ext cx="3518731" cy="1849933"/>
              <a:chOff x="3648208" y="1262124"/>
              <a:chExt cx="3145973" cy="1849933"/>
            </a:xfrm>
          </p:grpSpPr>
          <p:grpSp>
            <p:nvGrpSpPr>
              <p:cNvPr id="134" name="Group 133"/>
              <p:cNvGrpSpPr/>
              <p:nvPr/>
            </p:nvGrpSpPr>
            <p:grpSpPr>
              <a:xfrm>
                <a:off x="3648208" y="1262124"/>
                <a:ext cx="3145973" cy="1849933"/>
                <a:chOff x="488318" y="4074677"/>
                <a:chExt cx="2740909" cy="2038952"/>
              </a:xfrm>
            </p:grpSpPr>
            <p:sp>
              <p:nvSpPr>
                <p:cNvPr id="136" name="Rectangle 135"/>
                <p:cNvSpPr/>
                <p:nvPr/>
              </p:nvSpPr>
              <p:spPr>
                <a:xfrm>
                  <a:off x="488318" y="4321484"/>
                  <a:ext cx="2740909" cy="1792145"/>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37" name="Rounded Rectangle 136"/>
                <p:cNvSpPr/>
                <p:nvPr/>
              </p:nvSpPr>
              <p:spPr>
                <a:xfrm>
                  <a:off x="737250" y="4074677"/>
                  <a:ext cx="2243043"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Support Vector Machines</a:t>
                  </a:r>
                </a:p>
              </p:txBody>
            </p:sp>
          </p:grpSp>
          <p:sp>
            <p:nvSpPr>
              <p:cNvPr id="135" name="Rectangle 134"/>
              <p:cNvSpPr/>
              <p:nvPr/>
            </p:nvSpPr>
            <p:spPr>
              <a:xfrm>
                <a:off x="4853582" y="1777398"/>
                <a:ext cx="1940598" cy="1200329"/>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Matching &amp; Classification  : Tata iQ Proprietary Database</a:t>
                </a:r>
              </a:p>
            </p:txBody>
          </p:sp>
        </p:grpSp>
        <p:pic>
          <p:nvPicPr>
            <p:cNvPr id="133" name="Picture 2" descr="http://www.m8j.net/data/Website-Images/mj-01-sv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0739" y="4170648"/>
              <a:ext cx="1309688" cy="10287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8" name="Group 137"/>
          <p:cNvGrpSpPr/>
          <p:nvPr/>
        </p:nvGrpSpPr>
        <p:grpSpPr>
          <a:xfrm>
            <a:off x="480022" y="4524642"/>
            <a:ext cx="4807422" cy="1684354"/>
            <a:chOff x="3648209" y="1250567"/>
            <a:chExt cx="4298145" cy="1684354"/>
          </a:xfrm>
        </p:grpSpPr>
        <p:grpSp>
          <p:nvGrpSpPr>
            <p:cNvPr id="139" name="Group 138"/>
            <p:cNvGrpSpPr/>
            <p:nvPr/>
          </p:nvGrpSpPr>
          <p:grpSpPr>
            <a:xfrm>
              <a:off x="3648209" y="1250567"/>
              <a:ext cx="4284634" cy="1684354"/>
              <a:chOff x="488319" y="4061939"/>
              <a:chExt cx="3732960" cy="1856455"/>
            </a:xfrm>
          </p:grpSpPr>
          <p:sp>
            <p:nvSpPr>
              <p:cNvPr id="145" name="Rectangle 144"/>
              <p:cNvSpPr/>
              <p:nvPr/>
            </p:nvSpPr>
            <p:spPr>
              <a:xfrm>
                <a:off x="488319" y="4321484"/>
                <a:ext cx="3732960" cy="1596910"/>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46" name="Rounded Rectangle 145"/>
              <p:cNvSpPr/>
              <p:nvPr/>
            </p:nvSpPr>
            <p:spPr>
              <a:xfrm>
                <a:off x="1122694" y="4061939"/>
                <a:ext cx="2660846"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Dimension Reduction Algorithms </a:t>
                </a:r>
              </a:p>
            </p:txBody>
          </p:sp>
        </p:grpSp>
        <p:sp>
          <p:nvSpPr>
            <p:cNvPr id="141" name="Rectangle 140"/>
            <p:cNvSpPr/>
            <p:nvPr/>
          </p:nvSpPr>
          <p:spPr>
            <a:xfrm>
              <a:off x="4820752" y="1734592"/>
              <a:ext cx="3125602" cy="1200329"/>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Principle Component Analysis : Tata iQ Proprietary Database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Multi-Dimensional Scaling : Tata Motors</a:t>
              </a:r>
            </a:p>
          </p:txBody>
        </p:sp>
      </p:grpSp>
      <p:pic>
        <p:nvPicPr>
          <p:cNvPr id="147" name="Picture 146"/>
          <p:cNvPicPr>
            <a:picLocks noChangeAspect="1"/>
          </p:cNvPicPr>
          <p:nvPr/>
        </p:nvPicPr>
        <p:blipFill rotWithShape="1">
          <a:blip r:embed="rId8"/>
          <a:srcRect b="20404"/>
          <a:stretch/>
        </p:blipFill>
        <p:spPr>
          <a:xfrm>
            <a:off x="657741" y="5149137"/>
            <a:ext cx="898760" cy="847983"/>
          </a:xfrm>
          <a:prstGeom prst="rect">
            <a:avLst/>
          </a:prstGeom>
        </p:spPr>
      </p:pic>
      <p:grpSp>
        <p:nvGrpSpPr>
          <p:cNvPr id="148" name="Group 147"/>
          <p:cNvGrpSpPr/>
          <p:nvPr/>
        </p:nvGrpSpPr>
        <p:grpSpPr>
          <a:xfrm>
            <a:off x="5866943" y="4524642"/>
            <a:ext cx="5098240" cy="1684354"/>
            <a:chOff x="6321032" y="4504580"/>
            <a:chExt cx="5098240" cy="1684354"/>
          </a:xfrm>
        </p:grpSpPr>
        <p:grpSp>
          <p:nvGrpSpPr>
            <p:cNvPr id="150" name="Group 149"/>
            <p:cNvGrpSpPr/>
            <p:nvPr/>
          </p:nvGrpSpPr>
          <p:grpSpPr>
            <a:xfrm>
              <a:off x="6321032" y="4504580"/>
              <a:ext cx="5098240" cy="1684354"/>
              <a:chOff x="3648209" y="1250567"/>
              <a:chExt cx="4298146" cy="1684354"/>
            </a:xfrm>
          </p:grpSpPr>
          <p:grpSp>
            <p:nvGrpSpPr>
              <p:cNvPr id="152" name="Group 151"/>
              <p:cNvGrpSpPr/>
              <p:nvPr/>
            </p:nvGrpSpPr>
            <p:grpSpPr>
              <a:xfrm>
                <a:off x="3648209" y="1250567"/>
                <a:ext cx="4284634" cy="1684354"/>
                <a:chOff x="488319" y="4061939"/>
                <a:chExt cx="3732960" cy="1856455"/>
              </a:xfrm>
            </p:grpSpPr>
            <p:sp>
              <p:nvSpPr>
                <p:cNvPr id="154" name="Rectangle 153"/>
                <p:cNvSpPr/>
                <p:nvPr/>
              </p:nvSpPr>
              <p:spPr>
                <a:xfrm>
                  <a:off x="488319" y="4321484"/>
                  <a:ext cx="3732960" cy="1596910"/>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55" name="Rounded Rectangle 154"/>
                <p:cNvSpPr/>
                <p:nvPr/>
              </p:nvSpPr>
              <p:spPr>
                <a:xfrm>
                  <a:off x="949446" y="4061939"/>
                  <a:ext cx="2882452"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Deep Learning Algorithms &amp; More..</a:t>
                  </a:r>
                </a:p>
              </p:txBody>
            </p:sp>
          </p:grpSp>
          <p:sp>
            <p:nvSpPr>
              <p:cNvPr id="153" name="Rectangle 152"/>
              <p:cNvSpPr/>
              <p:nvPr/>
            </p:nvSpPr>
            <p:spPr>
              <a:xfrm>
                <a:off x="4820753" y="1819777"/>
                <a:ext cx="3125602" cy="923330"/>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Boltzmann Machine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Differential Penalty for different types of errors</a:t>
                </a:r>
              </a:p>
            </p:txBody>
          </p:sp>
        </p:grpSp>
        <p:pic>
          <p:nvPicPr>
            <p:cNvPr id="151" name="Picture 150"/>
            <p:cNvPicPr>
              <a:picLocks noChangeAspect="1"/>
            </p:cNvPicPr>
            <p:nvPr/>
          </p:nvPicPr>
          <p:blipFill rotWithShape="1">
            <a:blip r:embed="rId9"/>
            <a:srcRect b="18243"/>
            <a:stretch/>
          </p:blipFill>
          <p:spPr>
            <a:xfrm>
              <a:off x="6544297" y="5115218"/>
              <a:ext cx="944281" cy="915819"/>
            </a:xfrm>
            <a:prstGeom prst="rect">
              <a:avLst/>
            </a:prstGeom>
          </p:spPr>
        </p:pic>
      </p:grpSp>
      <p:grpSp>
        <p:nvGrpSpPr>
          <p:cNvPr id="156" name="Group 155"/>
          <p:cNvGrpSpPr/>
          <p:nvPr/>
        </p:nvGrpSpPr>
        <p:grpSpPr>
          <a:xfrm>
            <a:off x="9717929" y="2578619"/>
            <a:ext cx="2010163" cy="1861490"/>
            <a:chOff x="3648206" y="1250567"/>
            <a:chExt cx="3339581" cy="1861490"/>
          </a:xfrm>
        </p:grpSpPr>
        <p:grpSp>
          <p:nvGrpSpPr>
            <p:cNvPr id="157" name="Group 156"/>
            <p:cNvGrpSpPr/>
            <p:nvPr/>
          </p:nvGrpSpPr>
          <p:grpSpPr>
            <a:xfrm>
              <a:off x="3648208" y="1250567"/>
              <a:ext cx="3317042" cy="1861490"/>
              <a:chOff x="488318" y="4061939"/>
              <a:chExt cx="2889952" cy="2051690"/>
            </a:xfrm>
          </p:grpSpPr>
          <p:sp>
            <p:nvSpPr>
              <p:cNvPr id="159" name="Rectangle 158"/>
              <p:cNvSpPr/>
              <p:nvPr/>
            </p:nvSpPr>
            <p:spPr>
              <a:xfrm>
                <a:off x="488318" y="4321484"/>
                <a:ext cx="2889952" cy="1792145"/>
              </a:xfrm>
              <a:prstGeom prst="rect">
                <a:avLst/>
              </a:prstGeom>
              <a:solidFill>
                <a:sysClr val="window" lastClr="FFFFFF"/>
              </a:solidFill>
              <a:ln w="12700" cap="flat" cmpd="sng" algn="ctr">
                <a:solidFill>
                  <a:srgbClr val="00B0F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entury Gothic" panose="020B0502020202020204" pitchFamily="34" charset="0"/>
                </a:endParaRPr>
              </a:p>
            </p:txBody>
          </p:sp>
          <p:sp>
            <p:nvSpPr>
              <p:cNvPr id="160" name="Rounded Rectangle 159"/>
              <p:cNvSpPr/>
              <p:nvPr/>
            </p:nvSpPr>
            <p:spPr>
              <a:xfrm>
                <a:off x="811772" y="4061939"/>
                <a:ext cx="2243043" cy="519090"/>
              </a:xfrm>
              <a:prstGeom prst="round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518E"/>
                    </a:solidFill>
                    <a:effectLst/>
                    <a:uLnTx/>
                    <a:uFillTx/>
                    <a:latin typeface="Century Gothic" panose="020B0502020202020204" pitchFamily="34" charset="0"/>
                  </a:rPr>
                  <a:t>Survival Analysis</a:t>
                </a:r>
              </a:p>
            </p:txBody>
          </p:sp>
        </p:grpSp>
        <p:sp>
          <p:nvSpPr>
            <p:cNvPr id="158" name="Rectangle 157"/>
            <p:cNvSpPr/>
            <p:nvPr/>
          </p:nvSpPr>
          <p:spPr>
            <a:xfrm>
              <a:off x="3648206" y="1845881"/>
              <a:ext cx="3339581" cy="64633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rgbClr val="000000"/>
                  </a:solidFill>
                  <a:effectLst/>
                  <a:uLnTx/>
                  <a:uFillTx/>
                  <a:ea typeface="Times New Roman" panose="02020603050405020304" pitchFamily="18" charset="0"/>
                </a:rPr>
                <a:t>Survival Analysis for Titan</a:t>
              </a:r>
            </a:p>
          </p:txBody>
        </p:sp>
      </p:grpSp>
      <p:pic>
        <p:nvPicPr>
          <p:cNvPr id="161" name="Picture 4" descr="http://app1.bioinformatics.mdanderson.org/tcpa/_design/basic/images/nav_survival-s.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873125" y="3534907"/>
            <a:ext cx="692122" cy="692122"/>
          </a:xfrm>
          <a:prstGeom prst="rect">
            <a:avLst/>
          </a:prstGeom>
          <a:noFill/>
          <a:extLst>
            <a:ext uri="{909E8E84-426E-40DD-AFC4-6F175D3DCCD1}">
              <a14:hiddenFill xmlns:a14="http://schemas.microsoft.com/office/drawing/2010/main">
                <a:solidFill>
                  <a:srgbClr val="FFFFFF"/>
                </a:solidFill>
              </a14:hiddenFill>
            </a:ext>
          </a:extLst>
        </p:spPr>
      </p:pic>
      <p:sp>
        <p:nvSpPr>
          <p:cNvPr id="53" name="Slide Number Placeholder 3"/>
          <p:cNvSpPr>
            <a:spLocks noGrp="1"/>
          </p:cNvSpPr>
          <p:nvPr>
            <p:ph type="sldNum" sz="quarter" idx="12"/>
          </p:nvPr>
        </p:nvSpPr>
        <p:spPr>
          <a:xfrm>
            <a:off x="9448800" y="6350"/>
            <a:ext cx="2743200" cy="365125"/>
          </a:xfrm>
        </p:spPr>
        <p:txBody>
          <a:bodyPr/>
          <a:lstStyle/>
          <a:p>
            <a:pPr>
              <a:defRPr/>
            </a:pPr>
            <a:r>
              <a:rPr lang="en-IN" sz="1800" kern="0" dirty="0" smtClean="0">
                <a:solidFill>
                  <a:srgbClr val="000000">
                    <a:tint val="75000"/>
                  </a:srgbClr>
                </a:solidFill>
              </a:rPr>
              <a:t>9</a:t>
            </a:r>
            <a:endParaRPr lang="en-IN" sz="1800" kern="0" dirty="0">
              <a:solidFill>
                <a:srgbClr val="000000">
                  <a:tint val="75000"/>
                </a:srgbClr>
              </a:solidFill>
            </a:endParaRPr>
          </a:p>
        </p:txBody>
      </p:sp>
    </p:spTree>
    <p:extLst>
      <p:ext uri="{BB962C8B-B14F-4D97-AF65-F5344CB8AC3E}">
        <p14:creationId xmlns:p14="http://schemas.microsoft.com/office/powerpoint/2010/main" val="36809292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6096000" y="1673883"/>
            <a:ext cx="0" cy="4248431"/>
          </a:xfrm>
          <a:prstGeom prst="line">
            <a:avLst/>
          </a:prstGeom>
          <a:ln w="2857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grpSp>
        <p:nvGrpSpPr>
          <p:cNvPr id="12" name="Group 11"/>
          <p:cNvGrpSpPr/>
          <p:nvPr/>
        </p:nvGrpSpPr>
        <p:grpSpPr>
          <a:xfrm>
            <a:off x="1" y="9726"/>
            <a:ext cx="12192000" cy="954107"/>
            <a:chOff x="1" y="60293"/>
            <a:chExt cx="12192000" cy="954107"/>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862472" y="60293"/>
              <a:ext cx="8467061" cy="954107"/>
            </a:xfrm>
            <a:prstGeom prst="rect">
              <a:avLst/>
            </a:prstGeom>
            <a:solidFill>
              <a:schemeClr val="bg1"/>
            </a:solidFill>
          </p:spPr>
          <p:txBody>
            <a:bodyPr wrap="none" anchor="ctr">
              <a:spAutoFit/>
            </a:bodyPr>
            <a:lstStyle/>
            <a:p>
              <a:pPr marL="0" lvl="1" algn="ctr"/>
              <a:r>
                <a:rPr lang="en-IN" sz="2800" b="1" dirty="0">
                  <a:solidFill>
                    <a:srgbClr val="0070C0"/>
                  </a:solidFill>
                  <a:latin typeface="Leelawadee UI" panose="020B0502040204020203" pitchFamily="34" charset="-34"/>
                  <a:cs typeface="Leelawadee UI" panose="020B0502040204020203" pitchFamily="34" charset="-34"/>
                </a:rPr>
                <a:t>Tata iQ is building a World Class Technology Solution</a:t>
              </a:r>
            </a:p>
            <a:p>
              <a:pPr marL="0" lvl="1" algn="ctr"/>
              <a:r>
                <a:rPr lang="en-IN" sz="2800" b="1" dirty="0">
                  <a:solidFill>
                    <a:srgbClr val="0070C0"/>
                  </a:solidFill>
                  <a:latin typeface="Leelawadee UI" panose="020B0502040204020203" pitchFamily="34" charset="-34"/>
                  <a:cs typeface="Leelawadee UI" panose="020B0502040204020203" pitchFamily="34" charset="-34"/>
                </a:rPr>
                <a:t>with the Right Mix of Talent</a:t>
              </a:r>
            </a:p>
          </p:txBody>
        </p:sp>
      </p:grpSp>
      <p:grpSp>
        <p:nvGrpSpPr>
          <p:cNvPr id="42" name="Group 41"/>
          <p:cNvGrpSpPr/>
          <p:nvPr/>
        </p:nvGrpSpPr>
        <p:grpSpPr>
          <a:xfrm>
            <a:off x="1" y="964472"/>
            <a:ext cx="12254051" cy="479339"/>
            <a:chOff x="-80752" y="1326530"/>
            <a:chExt cx="12673612" cy="479339"/>
          </a:xfrm>
          <a:solidFill>
            <a:srgbClr val="418AB3"/>
          </a:solidFill>
        </p:grpSpPr>
        <p:sp>
          <p:nvSpPr>
            <p:cNvPr id="43" name="Rectangle 42"/>
            <p:cNvSpPr/>
            <p:nvPr/>
          </p:nvSpPr>
          <p:spPr>
            <a:xfrm>
              <a:off x="-80752" y="1326530"/>
              <a:ext cx="6304718" cy="4791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spc="600" dirty="0">
                  <a:solidFill>
                    <a:prstClr val="white"/>
                  </a:solidFill>
                  <a:latin typeface="Leelawadee UI" panose="020B0502040204020203" pitchFamily="34" charset="-34"/>
                  <a:cs typeface="Leelawadee UI" panose="020B0502040204020203" pitchFamily="34" charset="-34"/>
                </a:rPr>
                <a:t>TECHNOLOGY</a:t>
              </a:r>
            </a:p>
          </p:txBody>
        </p:sp>
        <p:sp>
          <p:nvSpPr>
            <p:cNvPr id="46" name="Rectangle 45"/>
            <p:cNvSpPr/>
            <p:nvPr/>
          </p:nvSpPr>
          <p:spPr>
            <a:xfrm>
              <a:off x="6223965" y="1326677"/>
              <a:ext cx="6368895" cy="4791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spc="600" dirty="0">
                  <a:solidFill>
                    <a:prstClr val="white"/>
                  </a:solidFill>
                  <a:latin typeface="Leelawadee UI" panose="020B0502040204020203" pitchFamily="34" charset="-34"/>
                  <a:cs typeface="Leelawadee UI" panose="020B0502040204020203" pitchFamily="34" charset="-34"/>
                </a:rPr>
                <a:t>TALENT</a:t>
              </a:r>
            </a:p>
          </p:txBody>
        </p:sp>
      </p:grpSp>
      <p:grpSp>
        <p:nvGrpSpPr>
          <p:cNvPr id="8" name="Group 7"/>
          <p:cNvGrpSpPr/>
          <p:nvPr/>
        </p:nvGrpSpPr>
        <p:grpSpPr>
          <a:xfrm>
            <a:off x="266700" y="1584893"/>
            <a:ext cx="5718232" cy="4111561"/>
            <a:chOff x="266700" y="1758637"/>
            <a:chExt cx="5718232" cy="4111561"/>
          </a:xfrm>
        </p:grpSpPr>
        <p:sp>
          <p:nvSpPr>
            <p:cNvPr id="91" name="Rectangle 90"/>
            <p:cNvSpPr/>
            <p:nvPr/>
          </p:nvSpPr>
          <p:spPr>
            <a:xfrm>
              <a:off x="266700" y="1758637"/>
              <a:ext cx="5379999" cy="1261884"/>
            </a:xfrm>
            <a:prstGeom prst="rect">
              <a:avLst/>
            </a:prstGeom>
            <a:solidFill>
              <a:schemeClr val="bg1"/>
            </a:solidFill>
          </p:spPr>
          <p:txBody>
            <a:bodyPr wrap="none" anchor="ctr">
              <a:spAutoFit/>
            </a:bodyPr>
            <a:lstStyle/>
            <a:p>
              <a:pPr marL="0" lvl="1"/>
              <a:r>
                <a:rPr lang="en-IN" sz="2800" b="1" dirty="0">
                  <a:solidFill>
                    <a:srgbClr val="000000">
                      <a:lumMod val="75000"/>
                      <a:lumOff val="25000"/>
                    </a:srgbClr>
                  </a:solidFill>
                  <a:latin typeface="Leelawadee UI" panose="020B0502040204020203" pitchFamily="34" charset="-34"/>
                  <a:cs typeface="Leelawadee UI" panose="020B0502040204020203" pitchFamily="34" charset="-34"/>
                </a:rPr>
                <a:t>NIMBLE</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Industry grade Hardware – Dell, Cisco,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World Class data centre – Tata Communications</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Best of breed technology stack</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p:txBody>
        </p:sp>
        <p:sp>
          <p:nvSpPr>
            <p:cNvPr id="92" name="Rectangle 91"/>
            <p:cNvSpPr/>
            <p:nvPr/>
          </p:nvSpPr>
          <p:spPr>
            <a:xfrm>
              <a:off x="266700" y="3190400"/>
              <a:ext cx="5718232" cy="1261884"/>
            </a:xfrm>
            <a:prstGeom prst="rect">
              <a:avLst/>
            </a:prstGeom>
            <a:solidFill>
              <a:schemeClr val="bg1"/>
            </a:solidFill>
          </p:spPr>
          <p:txBody>
            <a:bodyPr wrap="none" anchor="ctr">
              <a:spAutoFit/>
            </a:bodyPr>
            <a:lstStyle/>
            <a:p>
              <a:pPr marL="0" lvl="1"/>
              <a:r>
                <a:rPr lang="en-IN" sz="2800" b="1" dirty="0">
                  <a:solidFill>
                    <a:srgbClr val="000000">
                      <a:lumMod val="75000"/>
                      <a:lumOff val="25000"/>
                    </a:srgbClr>
                  </a:solidFill>
                  <a:latin typeface="Leelawadee UI" panose="020B0502040204020203" pitchFamily="34" charset="-34"/>
                  <a:cs typeface="Leelawadee UI" panose="020B0502040204020203" pitchFamily="34" charset="-34"/>
                </a:rPr>
                <a:t>COST EFFICIENT</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Use of Big Data (Hadoop) Infra 1/5 Cost to traditional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Mix of Open Source &amp; industry grade tools.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Best of breed tools </a:t>
              </a:r>
            </a:p>
          </p:txBody>
        </p:sp>
        <p:sp>
          <p:nvSpPr>
            <p:cNvPr id="93" name="Rectangle 92"/>
            <p:cNvSpPr/>
            <p:nvPr/>
          </p:nvSpPr>
          <p:spPr>
            <a:xfrm>
              <a:off x="266700" y="4608314"/>
              <a:ext cx="5157181" cy="1261884"/>
            </a:xfrm>
            <a:prstGeom prst="rect">
              <a:avLst/>
            </a:prstGeom>
            <a:solidFill>
              <a:schemeClr val="bg1"/>
            </a:solidFill>
          </p:spPr>
          <p:txBody>
            <a:bodyPr wrap="none" anchor="ctr">
              <a:spAutoFit/>
            </a:bodyPr>
            <a:lstStyle/>
            <a:p>
              <a:pPr marL="0" lvl="1"/>
              <a:r>
                <a:rPr lang="en-IN" sz="2800" b="1" dirty="0">
                  <a:solidFill>
                    <a:srgbClr val="000000">
                      <a:lumMod val="75000"/>
                      <a:lumOff val="25000"/>
                    </a:srgbClr>
                  </a:solidFill>
                  <a:latin typeface="Leelawadee UI" panose="020B0502040204020203" pitchFamily="34" charset="-34"/>
                  <a:cs typeface="Leelawadee UI" panose="020B0502040204020203" pitchFamily="34" charset="-34"/>
                </a:rPr>
                <a:t>SCALABLE</a:t>
              </a:r>
              <a:endParaRPr lang="en-IN" sz="2000" b="1" dirty="0">
                <a:solidFill>
                  <a:srgbClr val="000000">
                    <a:lumMod val="75000"/>
                    <a:lumOff val="25000"/>
                  </a:srgbClr>
                </a:solidFill>
                <a:latin typeface="Leelawadee UI" panose="020B0502040204020203" pitchFamily="34" charset="-34"/>
                <a:cs typeface="Leelawadee UI" panose="020B0502040204020203" pitchFamily="34" charset="-34"/>
              </a:endParaRP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Big data Infra Scalable </a:t>
              </a:r>
              <a:r>
                <a:rPr lang="en-IN" sz="1600" i="1" kern="0">
                  <a:solidFill>
                    <a:prstClr val="black">
                      <a:hueOff val="0"/>
                      <a:satOff val="0"/>
                      <a:lumOff val="0"/>
                      <a:alphaOff val="0"/>
                    </a:prstClr>
                  </a:solidFill>
                  <a:latin typeface="Century Gothic"/>
                </a:rPr>
                <a:t>to 100x </a:t>
              </a:r>
              <a:r>
                <a:rPr lang="en-IN" sz="1600" i="1" kern="0" dirty="0">
                  <a:solidFill>
                    <a:prstClr val="black">
                      <a:hueOff val="0"/>
                      <a:satOff val="0"/>
                      <a:lumOff val="0"/>
                      <a:alphaOff val="0"/>
                    </a:prstClr>
                  </a:solidFill>
                  <a:latin typeface="Century Gothic"/>
                </a:rPr>
                <a:t>capacity</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Flexible infra model with Tata Communications. </a:t>
              </a:r>
            </a:p>
            <a:p>
              <a:pPr marL="231775" lvl="1" indent="-231775" defTabSz="711200">
                <a:lnSpc>
                  <a:spcPct val="90000"/>
                </a:lnSpc>
                <a:spcBef>
                  <a:spcPct val="0"/>
                </a:spcBef>
                <a:spcAft>
                  <a:spcPct val="15000"/>
                </a:spcAft>
                <a:buClr>
                  <a:srgbClr val="7030A0"/>
                </a:buClr>
                <a:buFontTx/>
                <a:buChar char="••"/>
                <a:defRPr/>
              </a:pPr>
              <a:r>
                <a:rPr lang="en-IN" sz="1600" i="1" kern="0" dirty="0">
                  <a:solidFill>
                    <a:prstClr val="black">
                      <a:hueOff val="0"/>
                      <a:satOff val="0"/>
                      <a:lumOff val="0"/>
                      <a:alphaOff val="0"/>
                    </a:prstClr>
                  </a:solidFill>
                  <a:latin typeface="Century Gothic"/>
                </a:rPr>
                <a:t>Time to scale </a:t>
              </a:r>
              <a:r>
                <a:rPr lang="en-IN" sz="1600" i="1" kern="0">
                  <a:solidFill>
                    <a:prstClr val="black">
                      <a:hueOff val="0"/>
                      <a:satOff val="0"/>
                      <a:lumOff val="0"/>
                      <a:alphaOff val="0"/>
                    </a:prstClr>
                  </a:solidFill>
                  <a:latin typeface="Century Gothic"/>
                </a:rPr>
                <a:t>&lt; 3 </a:t>
              </a:r>
              <a:r>
                <a:rPr lang="en-IN" sz="1600" i="1" kern="0" dirty="0">
                  <a:solidFill>
                    <a:prstClr val="black">
                      <a:hueOff val="0"/>
                      <a:satOff val="0"/>
                      <a:lumOff val="0"/>
                      <a:alphaOff val="0"/>
                    </a:prstClr>
                  </a:solidFill>
                  <a:latin typeface="Century Gothic"/>
                </a:rPr>
                <a:t>months.</a:t>
              </a:r>
            </a:p>
          </p:txBody>
        </p:sp>
      </p:grpSp>
      <p:grpSp>
        <p:nvGrpSpPr>
          <p:cNvPr id="5" name="Group 4"/>
          <p:cNvGrpSpPr/>
          <p:nvPr/>
        </p:nvGrpSpPr>
        <p:grpSpPr>
          <a:xfrm>
            <a:off x="6533952" y="1626738"/>
            <a:ext cx="5120084" cy="4425719"/>
            <a:chOff x="6385521" y="1881009"/>
            <a:chExt cx="5120084" cy="4821153"/>
          </a:xfrm>
        </p:grpSpPr>
        <p:sp>
          <p:nvSpPr>
            <p:cNvPr id="133" name="Rectangle 132"/>
            <p:cNvSpPr/>
            <p:nvPr/>
          </p:nvSpPr>
          <p:spPr>
            <a:xfrm>
              <a:off x="6385521" y="1881009"/>
              <a:ext cx="2457978" cy="266369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sz="1200" kern="0" dirty="0">
                <a:solidFill>
                  <a:prstClr val="white"/>
                </a:solidFill>
                <a:latin typeface="Century Gothic" panose="020B0502020202020204" pitchFamily="34" charset="0"/>
              </a:endParaRPr>
            </a:p>
            <a:p>
              <a:pPr algn="ctr">
                <a:defRPr/>
              </a:pPr>
              <a:endParaRPr lang="en-IN" sz="1200" kern="0" dirty="0">
                <a:solidFill>
                  <a:prstClr val="white"/>
                </a:solidFill>
                <a:latin typeface="Century Gothic" panose="020B0502020202020204" pitchFamily="34" charset="0"/>
              </a:endParaRPr>
            </a:p>
          </p:txBody>
        </p:sp>
        <p:pic>
          <p:nvPicPr>
            <p:cNvPr id="134" name="Picture 2" descr="https://gsbcomphoto.chicagobooth.edu/fpchinta.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533110" y="2303329"/>
              <a:ext cx="547035" cy="696257"/>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http://scmc.iimb.ernet.in/drupal/sites/default/files/Pulak_Ghosh.jpg"/>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533110" y="3040216"/>
              <a:ext cx="547034" cy="65644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35"/>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533110" y="3737286"/>
              <a:ext cx="547034" cy="670954"/>
            </a:xfrm>
            <a:prstGeom prst="rect">
              <a:avLst/>
            </a:prstGeom>
          </p:spPr>
        </p:pic>
        <p:sp>
          <p:nvSpPr>
            <p:cNvPr id="137" name="Rectangle 136"/>
            <p:cNvSpPr/>
            <p:nvPr/>
          </p:nvSpPr>
          <p:spPr>
            <a:xfrm>
              <a:off x="7066792" y="2417724"/>
              <a:ext cx="2439011" cy="452622"/>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Pradeep K. Chintagunta</a:t>
              </a:r>
            </a:p>
            <a:p>
              <a:pPr>
                <a:defRPr/>
              </a:pPr>
              <a:r>
                <a:rPr lang="en-US" sz="1000" i="1" kern="0" dirty="0">
                  <a:solidFill>
                    <a:prstClr val="black"/>
                  </a:solidFill>
                  <a:latin typeface="Century Gothic" panose="020B0502020202020204" pitchFamily="34" charset="0"/>
                </a:rPr>
                <a:t>University of Chicago</a:t>
              </a:r>
              <a:endParaRPr lang="en-IN" sz="1000" i="1" kern="0" dirty="0">
                <a:solidFill>
                  <a:prstClr val="black"/>
                </a:solidFill>
                <a:latin typeface="Century Gothic" panose="020B0502020202020204" pitchFamily="34" charset="0"/>
              </a:endParaRPr>
            </a:p>
          </p:txBody>
        </p:sp>
        <p:sp>
          <p:nvSpPr>
            <p:cNvPr id="138" name="Rectangle 137"/>
            <p:cNvSpPr/>
            <p:nvPr/>
          </p:nvSpPr>
          <p:spPr>
            <a:xfrm>
              <a:off x="7066792" y="3844301"/>
              <a:ext cx="1744541" cy="461005"/>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Gah-Yi Vahn</a:t>
              </a:r>
            </a:p>
            <a:p>
              <a:pPr>
                <a:defRPr/>
              </a:pPr>
              <a:r>
                <a:rPr lang="en-US" sz="1000" i="1" kern="0" dirty="0">
                  <a:solidFill>
                    <a:prstClr val="black"/>
                  </a:solidFill>
                  <a:latin typeface="Century Gothic" panose="020B0502020202020204" pitchFamily="34" charset="0"/>
                </a:rPr>
                <a:t>London Business School</a:t>
              </a:r>
              <a:endParaRPr lang="en-IN" sz="1000" i="1" kern="0" dirty="0">
                <a:solidFill>
                  <a:prstClr val="black"/>
                </a:solidFill>
                <a:latin typeface="Century Gothic" panose="020B0502020202020204" pitchFamily="34" charset="0"/>
              </a:endParaRPr>
            </a:p>
          </p:txBody>
        </p:sp>
        <p:sp>
          <p:nvSpPr>
            <p:cNvPr id="139" name="Rectangle 138"/>
            <p:cNvSpPr/>
            <p:nvPr/>
          </p:nvSpPr>
          <p:spPr>
            <a:xfrm>
              <a:off x="7066792" y="3142645"/>
              <a:ext cx="1314096" cy="444241"/>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Pulak Ghosh</a:t>
              </a:r>
            </a:p>
            <a:p>
              <a:pPr>
                <a:defRPr/>
              </a:pPr>
              <a:r>
                <a:rPr lang="en-US" sz="1000" i="1" kern="0" dirty="0">
                  <a:solidFill>
                    <a:prstClr val="black"/>
                  </a:solidFill>
                  <a:latin typeface="Century Gothic" panose="020B0502020202020204" pitchFamily="34" charset="0"/>
                </a:rPr>
                <a:t>IIM, Bangalore</a:t>
              </a:r>
              <a:endParaRPr lang="en-IN" sz="1000" i="1" kern="0" dirty="0">
                <a:solidFill>
                  <a:prstClr val="black"/>
                </a:solidFill>
                <a:latin typeface="Century Gothic" panose="020B0502020202020204" pitchFamily="34" charset="0"/>
              </a:endParaRPr>
            </a:p>
          </p:txBody>
        </p:sp>
        <p:sp>
          <p:nvSpPr>
            <p:cNvPr id="140" name="Rectangle 139"/>
            <p:cNvSpPr/>
            <p:nvPr/>
          </p:nvSpPr>
          <p:spPr>
            <a:xfrm>
              <a:off x="6679904" y="1888845"/>
              <a:ext cx="1851469" cy="402331"/>
            </a:xfrm>
            <a:prstGeom prst="rect">
              <a:avLst/>
            </a:prstGeom>
          </p:spPr>
          <p:txBody>
            <a:bodyPr wrap="none">
              <a:spAutoFit/>
            </a:bodyPr>
            <a:lstStyle/>
            <a:p>
              <a:r>
                <a:rPr lang="en-IN" b="1" dirty="0">
                  <a:solidFill>
                    <a:srgbClr val="000000">
                      <a:lumMod val="75000"/>
                      <a:lumOff val="25000"/>
                    </a:srgbClr>
                  </a:solidFill>
                  <a:latin typeface="Leelawadee UI" panose="020B0502040204020203" pitchFamily="34" charset="-34"/>
                  <a:cs typeface="Leelawadee UI" panose="020B0502040204020203" pitchFamily="34" charset="-34"/>
                </a:rPr>
                <a:t>Advisory Board</a:t>
              </a:r>
            </a:p>
          </p:txBody>
        </p:sp>
        <p:grpSp>
          <p:nvGrpSpPr>
            <p:cNvPr id="141" name="Group 140"/>
            <p:cNvGrpSpPr/>
            <p:nvPr/>
          </p:nvGrpSpPr>
          <p:grpSpPr>
            <a:xfrm>
              <a:off x="9055223" y="2682677"/>
              <a:ext cx="2417676" cy="1618933"/>
              <a:chOff x="8849953" y="2601432"/>
              <a:chExt cx="2525107" cy="1690871"/>
            </a:xfrm>
          </p:grpSpPr>
          <p:pic>
            <p:nvPicPr>
              <p:cNvPr id="142" name="Picture 14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935226" y="2605802"/>
                <a:ext cx="637637" cy="683679"/>
              </a:xfrm>
              <a:prstGeom prst="rect">
                <a:avLst/>
              </a:prstGeom>
            </p:spPr>
          </p:pic>
          <p:pic>
            <p:nvPicPr>
              <p:cNvPr id="143" name="Picture 14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664843" y="2644657"/>
                <a:ext cx="858936" cy="644824"/>
              </a:xfrm>
              <a:prstGeom prst="rect">
                <a:avLst/>
              </a:prstGeom>
            </p:spPr>
          </p:pic>
          <p:pic>
            <p:nvPicPr>
              <p:cNvPr id="144" name="Picture 143"/>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798313" y="3428726"/>
                <a:ext cx="638124" cy="832115"/>
              </a:xfrm>
              <a:prstGeom prst="rect">
                <a:avLst/>
              </a:prstGeom>
            </p:spPr>
          </p:pic>
          <p:pic>
            <p:nvPicPr>
              <p:cNvPr id="145" name="Picture 14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623415" y="2601432"/>
                <a:ext cx="751645" cy="816761"/>
              </a:xfrm>
              <a:prstGeom prst="rect">
                <a:avLst/>
              </a:prstGeom>
            </p:spPr>
          </p:pic>
          <p:pic>
            <p:nvPicPr>
              <p:cNvPr id="146" name="Picture 145"/>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849953" y="3475160"/>
                <a:ext cx="828109" cy="817143"/>
              </a:xfrm>
              <a:prstGeom prst="rect">
                <a:avLst/>
              </a:prstGeom>
            </p:spPr>
          </p:pic>
          <p:pic>
            <p:nvPicPr>
              <p:cNvPr id="147" name="Picture 146"/>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0694410" y="3592980"/>
                <a:ext cx="641290" cy="687595"/>
              </a:xfrm>
              <a:prstGeom prst="rect">
                <a:avLst/>
              </a:prstGeom>
            </p:spPr>
          </p:pic>
        </p:grpSp>
        <p:sp>
          <p:nvSpPr>
            <p:cNvPr id="148" name="Rectangle 147"/>
            <p:cNvSpPr/>
            <p:nvPr/>
          </p:nvSpPr>
          <p:spPr>
            <a:xfrm>
              <a:off x="8958634" y="1881009"/>
              <a:ext cx="2546971" cy="266369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kern="0" dirty="0">
                <a:solidFill>
                  <a:prstClr val="white"/>
                </a:solidFill>
                <a:latin typeface="Century Gothic"/>
              </a:endParaRPr>
            </a:p>
          </p:txBody>
        </p:sp>
        <p:sp>
          <p:nvSpPr>
            <p:cNvPr id="149" name="Rectangle 148"/>
            <p:cNvSpPr/>
            <p:nvPr/>
          </p:nvSpPr>
          <p:spPr>
            <a:xfrm>
              <a:off x="9190997" y="1888845"/>
              <a:ext cx="2111284" cy="704080"/>
            </a:xfrm>
            <a:prstGeom prst="rect">
              <a:avLst/>
            </a:prstGeom>
          </p:spPr>
          <p:txBody>
            <a:bodyPr wrap="none">
              <a:spAutoFit/>
            </a:bodyPr>
            <a:lstStyle/>
            <a:p>
              <a:pPr algn="ctr"/>
              <a:r>
                <a:rPr lang="en-IN" b="1" dirty="0">
                  <a:solidFill>
                    <a:srgbClr val="000000">
                      <a:lumMod val="75000"/>
                      <a:lumOff val="25000"/>
                    </a:srgbClr>
                  </a:solidFill>
                  <a:latin typeface="Leelawadee UI" panose="020B0502040204020203" pitchFamily="34" charset="-34"/>
                  <a:cs typeface="Leelawadee UI" panose="020B0502040204020203" pitchFamily="34" charset="-34"/>
                </a:rPr>
                <a:t>Hiring from </a:t>
              </a:r>
            </a:p>
            <a:p>
              <a:pPr algn="ctr"/>
              <a:r>
                <a:rPr lang="en-IN" b="1" dirty="0">
                  <a:solidFill>
                    <a:srgbClr val="000000">
                      <a:lumMod val="75000"/>
                      <a:lumOff val="25000"/>
                    </a:srgbClr>
                  </a:solidFill>
                  <a:latin typeface="Leelawadee UI" panose="020B0502040204020203" pitchFamily="34" charset="-34"/>
                  <a:cs typeface="Leelawadee UI" panose="020B0502040204020203" pitchFamily="34" charset="-34"/>
                </a:rPr>
                <a:t>Premier Institutes</a:t>
              </a:r>
            </a:p>
          </p:txBody>
        </p:sp>
        <p:grpSp>
          <p:nvGrpSpPr>
            <p:cNvPr id="150" name="Group 149"/>
            <p:cNvGrpSpPr/>
            <p:nvPr/>
          </p:nvGrpSpPr>
          <p:grpSpPr>
            <a:xfrm>
              <a:off x="6456066" y="5225362"/>
              <a:ext cx="2305580" cy="1310345"/>
              <a:chOff x="2058079" y="5082321"/>
              <a:chExt cx="3430357" cy="1479990"/>
            </a:xfrm>
          </p:grpSpPr>
          <p:pic>
            <p:nvPicPr>
              <p:cNvPr id="151" name="Picture 21"/>
              <p:cNvPicPr>
                <a:picLocks noChangeAspect="1" noChangeArrowheads="1"/>
              </p:cNvPicPr>
              <p:nvPr/>
            </p:nvPicPr>
            <p:blipFill>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28679" y="6252087"/>
                <a:ext cx="574699" cy="247993"/>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2" name="Picture 23"/>
              <p:cNvPicPr>
                <a:picLocks noChangeAspect="1" noChangeArrowheads="1"/>
              </p:cNvPicPr>
              <p:nvPr/>
            </p:nvPicPr>
            <p:blipFill>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144258" y="5090953"/>
                <a:ext cx="442540" cy="492314"/>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3" name="Picture 25"/>
              <p:cNvPicPr>
                <a:picLocks noChangeAspect="1" noChangeArrowheads="1"/>
              </p:cNvPicPr>
              <p:nvPr/>
            </p:nvPicPr>
            <p:blipFill>
              <a:blip r:embed="rId1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520724" y="5648971"/>
                <a:ext cx="495493" cy="373309"/>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4" name="Picture 27"/>
              <p:cNvPicPr>
                <a:picLocks noChangeAspect="1" noChangeArrowheads="1"/>
              </p:cNvPicPr>
              <p:nvPr/>
            </p:nvPicPr>
            <p:blipFill>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104988" y="6176583"/>
                <a:ext cx="395259" cy="362743"/>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5" name="Picture 31"/>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4258952" y="5720158"/>
                <a:ext cx="357437" cy="332809"/>
              </a:xfrm>
              <a:prstGeom prst="rect">
                <a:avLst/>
              </a:prstGeom>
              <a:noFill/>
              <a:ln w="38100">
                <a:solidFill>
                  <a:sysClr val="window" lastClr="FFFFFF"/>
                </a:solidFill>
              </a:ln>
              <a:extLst>
                <a:ext uri="{909E8E84-426E-40DD-AFC4-6F175D3DCCD1}">
                  <a14:hiddenFill xmlns:a14="http://schemas.microsoft.com/office/drawing/2010/main">
                    <a:solidFill>
                      <a:srgbClr val="FFFFFF"/>
                    </a:solidFill>
                  </a14:hiddenFill>
                </a:ext>
              </a:extLst>
            </p:spPr>
          </p:pic>
          <p:pic>
            <p:nvPicPr>
              <p:cNvPr id="156" name="Picture 35"/>
              <p:cNvPicPr>
                <a:picLocks noChangeAspect="1" noChangeArrowheads="1"/>
              </p:cNvPicPr>
              <p:nvPr/>
            </p:nvPicPr>
            <p:blipFill>
              <a:blip r:embed="rId1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530737" y="5750752"/>
                <a:ext cx="886970" cy="357460"/>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7" name="Picture 39"/>
              <p:cNvPicPr>
                <a:picLocks noChangeAspect="1" noChangeArrowheads="1"/>
              </p:cNvPicPr>
              <p:nvPr/>
            </p:nvPicPr>
            <p:blipFill>
              <a:blip r:embed="rId1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72958" y="5706317"/>
                <a:ext cx="401371" cy="347448"/>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8" name="Picture 40"/>
              <p:cNvPicPr>
                <a:picLocks noChangeAspect="1" noChangeArrowheads="1"/>
              </p:cNvPicPr>
              <p:nvPr/>
            </p:nvPicPr>
            <p:blipFill>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058079" y="5659941"/>
                <a:ext cx="482230" cy="453239"/>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59" name="Picture 42"/>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4937478" y="5148803"/>
                <a:ext cx="550958" cy="376612"/>
              </a:xfrm>
              <a:prstGeom prst="rect">
                <a:avLst/>
              </a:prstGeom>
              <a:noFill/>
              <a:ln w="38100">
                <a:solidFill>
                  <a:sysClr val="window" lastClr="FFFFFF"/>
                </a:solidFill>
              </a:ln>
              <a:extLst>
                <a:ext uri="{909E8E84-426E-40DD-AFC4-6F175D3DCCD1}">
                  <a14:hiddenFill xmlns:a14="http://schemas.microsoft.com/office/drawing/2010/main">
                    <a:solidFill>
                      <a:srgbClr val="FFFFFF"/>
                    </a:solidFill>
                  </a14:hiddenFill>
                </a:ext>
              </a:extLst>
            </p:spPr>
          </p:pic>
          <p:pic>
            <p:nvPicPr>
              <p:cNvPr id="160" name="Picture 14"/>
              <p:cNvPicPr>
                <a:picLocks noChangeAspect="1" noChangeArrowheads="1"/>
              </p:cNvPicPr>
              <p:nvPr/>
            </p:nvPicPr>
            <p:blipFill>
              <a:blip r:embed="rId21">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548311" y="5106575"/>
                <a:ext cx="1068078" cy="426215"/>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61" name="Picture 13" descr="http://www.tata.com/images/article/titan_company_logo.jpg"/>
              <p:cNvPicPr>
                <a:picLocks noChangeAspect="1" noChangeArrowheads="1"/>
              </p:cNvPicPr>
              <p:nvPr/>
            </p:nvPicPr>
            <p:blipFill>
              <a:blip r:embed="rId2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30321" y="5082321"/>
                <a:ext cx="657446" cy="577620"/>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62" name="Picture 15" descr="Image result for deloitte logo"/>
              <p:cNvPicPr>
                <a:picLocks noChangeAspect="1" noChangeArrowheads="1"/>
              </p:cNvPicPr>
              <p:nvPr/>
            </p:nvPicPr>
            <p:blipFill>
              <a:blip r:embed="rId2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829320" y="6175424"/>
                <a:ext cx="886971" cy="380323"/>
              </a:xfrm>
              <a:prstGeom prst="rect">
                <a:avLst/>
              </a:prstGeom>
              <a:noFill/>
              <a:ln w="38100">
                <a:noFill/>
              </a:ln>
              <a:extLst>
                <a:ext uri="{909E8E84-426E-40DD-AFC4-6F175D3DCCD1}">
                  <a14:hiddenFill xmlns:a14="http://schemas.microsoft.com/office/drawing/2010/main">
                    <a:solidFill>
                      <a:srgbClr val="FFFFFF"/>
                    </a:solidFill>
                  </a14:hiddenFill>
                </a:ext>
              </a:extLst>
            </p:spPr>
          </p:pic>
          <p:pic>
            <p:nvPicPr>
              <p:cNvPr id="163" name="Picture 17" descr="https://regmedia.co.uk/2015/02/02/vmware_cloud_logo.jpg?x=648&amp;y=429&amp;crop=1"/>
              <p:cNvPicPr>
                <a:picLocks noChangeAspect="1" noChangeArrowheads="1"/>
              </p:cNvPicPr>
              <p:nvPr/>
            </p:nvPicPr>
            <p:blipFill>
              <a:blip r:embed="rId2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28154" y="6153598"/>
                <a:ext cx="512641" cy="408713"/>
              </a:xfrm>
              <a:prstGeom prst="rect">
                <a:avLst/>
              </a:prstGeom>
              <a:noFill/>
              <a:ln w="38100">
                <a:noFill/>
              </a:ln>
              <a:extLst>
                <a:ext uri="{909E8E84-426E-40DD-AFC4-6F175D3DCCD1}">
                  <a14:hiddenFill xmlns:a14="http://schemas.microsoft.com/office/drawing/2010/main">
                    <a:solidFill>
                      <a:srgbClr val="FFFFFF"/>
                    </a:solidFill>
                  </a14:hiddenFill>
                </a:ext>
              </a:extLst>
            </p:spPr>
          </p:pic>
        </p:grpSp>
        <p:sp>
          <p:nvSpPr>
            <p:cNvPr id="164" name="Rectangle 163"/>
            <p:cNvSpPr/>
            <p:nvPr/>
          </p:nvSpPr>
          <p:spPr>
            <a:xfrm>
              <a:off x="6385523" y="4694406"/>
              <a:ext cx="2457976" cy="200775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kern="0" dirty="0">
                <a:solidFill>
                  <a:prstClr val="white"/>
                </a:solidFill>
                <a:latin typeface="Century Gothic"/>
              </a:endParaRPr>
            </a:p>
          </p:txBody>
        </p:sp>
        <p:sp>
          <p:nvSpPr>
            <p:cNvPr id="165" name="Rectangle 164"/>
            <p:cNvSpPr/>
            <p:nvPr/>
          </p:nvSpPr>
          <p:spPr>
            <a:xfrm>
              <a:off x="6456066" y="4706328"/>
              <a:ext cx="2093202" cy="402331"/>
            </a:xfrm>
            <a:prstGeom prst="rect">
              <a:avLst/>
            </a:prstGeom>
          </p:spPr>
          <p:txBody>
            <a:bodyPr wrap="none">
              <a:spAutoFit/>
            </a:bodyPr>
            <a:lstStyle/>
            <a:p>
              <a:r>
                <a:rPr lang="en-IN" b="1" dirty="0">
                  <a:solidFill>
                    <a:srgbClr val="000000">
                      <a:lumMod val="75000"/>
                      <a:lumOff val="25000"/>
                    </a:srgbClr>
                  </a:solidFill>
                  <a:latin typeface="Leelawadee UI" panose="020B0502040204020203" pitchFamily="34" charset="-34"/>
                  <a:cs typeface="Leelawadee UI" panose="020B0502040204020203" pitchFamily="34" charset="-34"/>
                </a:rPr>
                <a:t>Global Businesses</a:t>
              </a:r>
            </a:p>
          </p:txBody>
        </p:sp>
        <p:sp>
          <p:nvSpPr>
            <p:cNvPr id="166" name="Rectangle 165"/>
            <p:cNvSpPr/>
            <p:nvPr/>
          </p:nvSpPr>
          <p:spPr>
            <a:xfrm>
              <a:off x="8965381" y="4694406"/>
              <a:ext cx="2520243" cy="2007756"/>
            </a:xfrm>
            <a:prstGeom prst="rect">
              <a:avLst/>
            </a:prstGeom>
            <a:noFill/>
            <a:ln w="28575" cap="rnd" cmpd="sng" algn="ctr">
              <a:solidFill>
                <a:schemeClr val="bg1">
                  <a:lumMod val="75000"/>
                </a:schemeClr>
              </a:solidFill>
              <a:prstDash val="solid"/>
            </a:ln>
            <a:effectLst/>
          </p:spPr>
          <p:txBody>
            <a:bodyPr rtlCol="0" anchor="ctr"/>
            <a:lstStyle/>
            <a:p>
              <a:pPr algn="ctr">
                <a:defRPr/>
              </a:pPr>
              <a:endParaRPr lang="en-IN" kern="0" dirty="0">
                <a:solidFill>
                  <a:prstClr val="white"/>
                </a:solidFill>
                <a:latin typeface="Century Gothic"/>
              </a:endParaRPr>
            </a:p>
          </p:txBody>
        </p:sp>
        <p:pic>
          <p:nvPicPr>
            <p:cNvPr id="167" name="Picture 166"/>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9020579" y="5063738"/>
              <a:ext cx="2403959" cy="1531411"/>
            </a:xfrm>
            <a:prstGeom prst="rect">
              <a:avLst/>
            </a:prstGeom>
          </p:spPr>
        </p:pic>
        <p:sp>
          <p:nvSpPr>
            <p:cNvPr id="168" name="Rectangle 167"/>
            <p:cNvSpPr/>
            <p:nvPr/>
          </p:nvSpPr>
          <p:spPr>
            <a:xfrm>
              <a:off x="9118332" y="4667400"/>
              <a:ext cx="2310761" cy="402331"/>
            </a:xfrm>
            <a:prstGeom prst="rect">
              <a:avLst/>
            </a:prstGeom>
          </p:spPr>
          <p:txBody>
            <a:bodyPr wrap="none">
              <a:spAutoFit/>
            </a:bodyPr>
            <a:lstStyle/>
            <a:p>
              <a:pPr algn="ctr"/>
              <a:r>
                <a:rPr lang="en-IN" b="1" dirty="0">
                  <a:solidFill>
                    <a:srgbClr val="000000">
                      <a:lumMod val="75000"/>
                      <a:lumOff val="25000"/>
                    </a:srgbClr>
                  </a:solidFill>
                  <a:latin typeface="Leelawadee UI" panose="020B0502040204020203" pitchFamily="34" charset="-34"/>
                  <a:cs typeface="Leelawadee UI" panose="020B0502040204020203" pitchFamily="34" charset="-34"/>
                </a:rPr>
                <a:t>Superior Talent Mix</a:t>
              </a:r>
            </a:p>
          </p:txBody>
        </p:sp>
      </p:grpSp>
      <p:sp>
        <p:nvSpPr>
          <p:cNvPr id="52" name="Rectangle 51"/>
          <p:cNvSpPr/>
          <p:nvPr/>
        </p:nvSpPr>
        <p:spPr>
          <a:xfrm>
            <a:off x="9133958" y="3831284"/>
            <a:ext cx="2439011" cy="253916"/>
          </a:xfrm>
          <a:prstGeom prst="rect">
            <a:avLst/>
          </a:prstGeom>
        </p:spPr>
        <p:txBody>
          <a:bodyPr wrap="square">
            <a:spAutoFit/>
          </a:bodyPr>
          <a:lstStyle/>
          <a:p>
            <a:pPr>
              <a:defRPr/>
            </a:pPr>
            <a:r>
              <a:rPr lang="en-IN" sz="1050" b="1" kern="0" dirty="0">
                <a:solidFill>
                  <a:prstClr val="black"/>
                </a:solidFill>
                <a:latin typeface="Century Gothic" panose="020B0502020202020204" pitchFamily="34" charset="0"/>
              </a:rPr>
              <a:t>Team Strength - 80</a:t>
            </a:r>
            <a:endParaRPr lang="en-IN" sz="1000" i="1" kern="0" dirty="0">
              <a:solidFill>
                <a:prstClr val="black"/>
              </a:solidFill>
              <a:latin typeface="Century Gothic" panose="020B0502020202020204" pitchFamily="34" charset="0"/>
            </a:endParaRPr>
          </a:p>
        </p:txBody>
      </p:sp>
      <p:sp>
        <p:nvSpPr>
          <p:cNvPr id="2" name="Slide Number Placeholder 1"/>
          <p:cNvSpPr>
            <a:spLocks noGrp="1"/>
          </p:cNvSpPr>
          <p:nvPr>
            <p:ph type="sldNum" sz="quarter" idx="12"/>
          </p:nvPr>
        </p:nvSpPr>
        <p:spPr/>
        <p:txBody>
          <a:bodyPr/>
          <a:lstStyle/>
          <a:p>
            <a:fld id="{3040F425-731D-4835-A38A-9545B9CAE996}" type="slidenum">
              <a:rPr lang="en-IN" smtClean="0"/>
              <a:t>18</a:t>
            </a:fld>
            <a:endParaRPr lang="en-IN" dirty="0"/>
          </a:p>
        </p:txBody>
      </p:sp>
    </p:spTree>
    <p:extLst>
      <p:ext uri="{BB962C8B-B14F-4D97-AF65-F5344CB8AC3E}">
        <p14:creationId xmlns:p14="http://schemas.microsoft.com/office/powerpoint/2010/main" val="22646402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2263"/>
            <a:ext cx="12192000" cy="53908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IN" kern="0" dirty="0">
              <a:solidFill>
                <a:prstClr val="white"/>
              </a:solidFill>
            </a:endParaRPr>
          </a:p>
        </p:txBody>
      </p:sp>
      <p:grpSp>
        <p:nvGrpSpPr>
          <p:cNvPr id="8" name="Group 7"/>
          <p:cNvGrpSpPr/>
          <p:nvPr/>
        </p:nvGrpSpPr>
        <p:grpSpPr>
          <a:xfrm>
            <a:off x="328620" y="2547738"/>
            <a:ext cx="11540339" cy="1200329"/>
            <a:chOff x="328620" y="1960714"/>
            <a:chExt cx="11540339" cy="1200329"/>
          </a:xfrm>
        </p:grpSpPr>
        <p:sp>
          <p:nvSpPr>
            <p:cNvPr id="5" name="Rectangle 4"/>
            <p:cNvSpPr/>
            <p:nvPr/>
          </p:nvSpPr>
          <p:spPr>
            <a:xfrm>
              <a:off x="328620" y="1960714"/>
              <a:ext cx="11540339" cy="1200329"/>
            </a:xfrm>
            <a:prstGeom prst="rect">
              <a:avLst/>
            </a:prstGeom>
          </p:spPr>
          <p:txBody>
            <a:bodyPr wrap="none">
              <a:spAutoFit/>
            </a:bodyPr>
            <a:lstStyle/>
            <a:p>
              <a:pPr algn="ctr">
                <a:defRPr/>
              </a:pPr>
              <a:r>
                <a:rPr lang="en-IN" sz="7200" kern="0" dirty="0" smtClean="0">
                  <a:ln/>
                  <a:solidFill>
                    <a:prstClr val="white"/>
                  </a:solidFill>
                  <a:latin typeface="Leelawadee UI" panose="020B0502040204020203" pitchFamily="34" charset="-34"/>
                  <a:cs typeface="Leelawadee UI" panose="020B0502040204020203" pitchFamily="34" charset="-34"/>
                </a:rPr>
                <a:t>Engagement with Tata Steel</a:t>
              </a:r>
              <a:endParaRPr lang="en-IN" sz="3200" kern="0" dirty="0">
                <a:ln/>
                <a:solidFill>
                  <a:prstClr val="white"/>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19</a:t>
            </a:fld>
            <a:endParaRPr lang="en-IN" sz="1800" kern="0" dirty="0">
              <a:solidFill>
                <a:srgbClr val="000000">
                  <a:tint val="75000"/>
                </a:srgbClr>
              </a:solidFill>
            </a:endParaRPr>
          </a:p>
        </p:txBody>
      </p:sp>
    </p:spTree>
    <p:extLst>
      <p:ext uri="{BB962C8B-B14F-4D97-AF65-F5344CB8AC3E}">
        <p14:creationId xmlns:p14="http://schemas.microsoft.com/office/powerpoint/2010/main" val="7201456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 y="237066"/>
            <a:ext cx="12192000" cy="523220"/>
            <a:chOff x="1" y="291779"/>
            <a:chExt cx="12192000" cy="523220"/>
          </a:xfrm>
        </p:grpSpPr>
        <p:cxnSp>
          <p:nvCxnSpPr>
            <p:cNvPr id="6" name="Straight Connector 5"/>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501332" y="291779"/>
              <a:ext cx="7189469"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Tata Steel and 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a:t>
              </a:r>
              <a:r>
                <a:rPr lang="en-IN" sz="2400" i="1" dirty="0" smtClean="0">
                  <a:solidFill>
                    <a:srgbClr val="0070C0"/>
                  </a:solidFill>
                  <a:latin typeface="Leelawadee UI" panose="020B0502040204020203" pitchFamily="34" charset="-34"/>
                  <a:cs typeface="Leelawadee UI" panose="020B0502040204020203" pitchFamily="34" charset="-34"/>
                </a:rPr>
                <a:t>– the partnership model</a:t>
              </a:r>
            </a:p>
          </p:txBody>
        </p:sp>
      </p:grpSp>
      <p:sp>
        <p:nvSpPr>
          <p:cNvPr id="3" name="TextBox 2"/>
          <p:cNvSpPr txBox="1"/>
          <p:nvPr/>
        </p:nvSpPr>
        <p:spPr>
          <a:xfrm>
            <a:off x="4171566" y="2032141"/>
            <a:ext cx="2215167" cy="369332"/>
          </a:xfrm>
          <a:prstGeom prst="rect">
            <a:avLst/>
          </a:prstGeom>
          <a:noFill/>
        </p:spPr>
        <p:txBody>
          <a:bodyPr wrap="square" rtlCol="0">
            <a:spAutoFit/>
          </a:bodyPr>
          <a:lstStyle/>
          <a:p>
            <a:pPr algn="ctr"/>
            <a:r>
              <a:rPr lang="en-IN" dirty="0" smtClean="0">
                <a:solidFill>
                  <a:schemeClr val="bg1"/>
                </a:solidFill>
              </a:rPr>
              <a:t>COE</a:t>
            </a:r>
            <a:endParaRPr lang="en-IN" dirty="0">
              <a:solidFill>
                <a:schemeClr val="bg1"/>
              </a:solidFill>
            </a:endParaRPr>
          </a:p>
        </p:txBody>
      </p:sp>
      <p:sp>
        <p:nvSpPr>
          <p:cNvPr id="8" name="Oval 7"/>
          <p:cNvSpPr/>
          <p:nvPr/>
        </p:nvSpPr>
        <p:spPr>
          <a:xfrm>
            <a:off x="4171566" y="2964180"/>
            <a:ext cx="1434902" cy="8507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Tata Steel Seed  Team</a:t>
            </a:r>
            <a:endParaRPr lang="en-IN" sz="1400" dirty="0"/>
          </a:p>
        </p:txBody>
      </p:sp>
      <p:sp>
        <p:nvSpPr>
          <p:cNvPr id="21" name="Oval 20"/>
          <p:cNvSpPr/>
          <p:nvPr/>
        </p:nvSpPr>
        <p:spPr>
          <a:xfrm>
            <a:off x="5606468" y="2964180"/>
            <a:ext cx="1434902" cy="850772"/>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Tata </a:t>
            </a:r>
            <a:r>
              <a:rPr lang="en-IN" sz="1400" dirty="0" err="1" smtClean="0"/>
              <a:t>iQ</a:t>
            </a:r>
            <a:r>
              <a:rPr lang="en-IN" sz="1400" dirty="0" smtClean="0"/>
              <a:t> Seed Team</a:t>
            </a:r>
            <a:endParaRPr lang="en-IN" sz="1400" dirty="0"/>
          </a:p>
        </p:txBody>
      </p:sp>
      <p:sp>
        <p:nvSpPr>
          <p:cNvPr id="9" name="Oval 8"/>
          <p:cNvSpPr/>
          <p:nvPr/>
        </p:nvSpPr>
        <p:spPr>
          <a:xfrm>
            <a:off x="3733452" y="2588459"/>
            <a:ext cx="3834969" cy="1631853"/>
          </a:xfrm>
          <a:prstGeom prst="ellipse">
            <a:avLst/>
          </a:prstGeom>
          <a:noFill/>
          <a:ln w="41275">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ight Arrow 26"/>
          <p:cNvSpPr/>
          <p:nvPr/>
        </p:nvSpPr>
        <p:spPr>
          <a:xfrm>
            <a:off x="7568421" y="3114695"/>
            <a:ext cx="295422" cy="5793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p:cNvSpPr txBox="1"/>
          <p:nvPr/>
        </p:nvSpPr>
        <p:spPr>
          <a:xfrm>
            <a:off x="7816949" y="3219718"/>
            <a:ext cx="937845" cy="369332"/>
          </a:xfrm>
          <a:prstGeom prst="rect">
            <a:avLst/>
          </a:prstGeom>
          <a:noFill/>
        </p:spPr>
        <p:txBody>
          <a:bodyPr wrap="square" rtlCol="0">
            <a:spAutoFit/>
          </a:bodyPr>
          <a:lstStyle/>
          <a:p>
            <a:r>
              <a:rPr lang="en-IN" dirty="0" smtClean="0"/>
              <a:t>Training</a:t>
            </a:r>
            <a:endParaRPr lang="en-IN" dirty="0"/>
          </a:p>
        </p:txBody>
      </p:sp>
      <p:sp>
        <p:nvSpPr>
          <p:cNvPr id="38" name="Right Arrow 37"/>
          <p:cNvSpPr/>
          <p:nvPr/>
        </p:nvSpPr>
        <p:spPr>
          <a:xfrm rot="5400000">
            <a:off x="5437656" y="4057373"/>
            <a:ext cx="337623" cy="663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p:cNvSpPr txBox="1"/>
          <p:nvPr/>
        </p:nvSpPr>
        <p:spPr>
          <a:xfrm>
            <a:off x="4986307" y="4557937"/>
            <a:ext cx="1903826" cy="369332"/>
          </a:xfrm>
          <a:prstGeom prst="rect">
            <a:avLst/>
          </a:prstGeom>
          <a:noFill/>
        </p:spPr>
        <p:txBody>
          <a:bodyPr wrap="square" rtlCol="0">
            <a:spAutoFit/>
          </a:bodyPr>
          <a:lstStyle/>
          <a:p>
            <a:r>
              <a:rPr lang="en-IN" dirty="0" smtClean="0"/>
              <a:t>Recruitment</a:t>
            </a:r>
            <a:endParaRPr lang="en-IN" dirty="0"/>
          </a:p>
        </p:txBody>
      </p:sp>
      <p:sp>
        <p:nvSpPr>
          <p:cNvPr id="40" name="Right Arrow 39"/>
          <p:cNvSpPr/>
          <p:nvPr/>
        </p:nvSpPr>
        <p:spPr>
          <a:xfrm rot="10800000">
            <a:off x="3444909" y="3167829"/>
            <a:ext cx="290892" cy="5164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p:cNvSpPr txBox="1"/>
          <p:nvPr/>
        </p:nvSpPr>
        <p:spPr>
          <a:xfrm>
            <a:off x="2379246" y="3241372"/>
            <a:ext cx="1381306" cy="369332"/>
          </a:xfrm>
          <a:prstGeom prst="rect">
            <a:avLst/>
          </a:prstGeom>
          <a:noFill/>
        </p:spPr>
        <p:txBody>
          <a:bodyPr wrap="square" rtlCol="0">
            <a:spAutoFit/>
          </a:bodyPr>
          <a:lstStyle/>
          <a:p>
            <a:r>
              <a:rPr lang="en-IN" dirty="0" smtClean="0"/>
              <a:t>Efficiency</a:t>
            </a:r>
            <a:endParaRPr lang="en-IN" dirty="0"/>
          </a:p>
        </p:txBody>
      </p:sp>
      <p:sp>
        <p:nvSpPr>
          <p:cNvPr id="42" name="Right Arrow 41"/>
          <p:cNvSpPr/>
          <p:nvPr/>
        </p:nvSpPr>
        <p:spPr>
          <a:xfrm rot="16200000">
            <a:off x="5517423" y="2090956"/>
            <a:ext cx="267026" cy="663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p:cNvSpPr txBox="1"/>
          <p:nvPr/>
        </p:nvSpPr>
        <p:spPr>
          <a:xfrm>
            <a:off x="4713866" y="1971756"/>
            <a:ext cx="2537645" cy="369332"/>
          </a:xfrm>
          <a:prstGeom prst="rect">
            <a:avLst/>
          </a:prstGeom>
          <a:noFill/>
        </p:spPr>
        <p:txBody>
          <a:bodyPr wrap="square" rtlCol="0">
            <a:spAutoFit/>
          </a:bodyPr>
          <a:lstStyle/>
          <a:p>
            <a:r>
              <a:rPr lang="en-IN" dirty="0" smtClean="0"/>
              <a:t>Repeatable Success</a:t>
            </a:r>
            <a:endParaRPr lang="en-IN" dirty="0"/>
          </a:p>
        </p:txBody>
      </p:sp>
      <p:sp>
        <p:nvSpPr>
          <p:cNvPr id="44" name="Right Arrow 43"/>
          <p:cNvSpPr/>
          <p:nvPr/>
        </p:nvSpPr>
        <p:spPr>
          <a:xfrm rot="18092212">
            <a:off x="6850338" y="2379480"/>
            <a:ext cx="384729" cy="5265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a:off x="6984611" y="2203008"/>
            <a:ext cx="1414518" cy="369332"/>
          </a:xfrm>
          <a:prstGeom prst="rect">
            <a:avLst/>
          </a:prstGeom>
          <a:noFill/>
        </p:spPr>
        <p:txBody>
          <a:bodyPr wrap="square" rtlCol="0">
            <a:spAutoFit/>
          </a:bodyPr>
          <a:lstStyle/>
          <a:p>
            <a:r>
              <a:rPr lang="en-IN" dirty="0" smtClean="0"/>
              <a:t>Innovation</a:t>
            </a:r>
            <a:endParaRPr lang="en-IN" dirty="0"/>
          </a:p>
        </p:txBody>
      </p:sp>
      <p:sp>
        <p:nvSpPr>
          <p:cNvPr id="46" name="Right Arrow 45"/>
          <p:cNvSpPr/>
          <p:nvPr/>
        </p:nvSpPr>
        <p:spPr>
          <a:xfrm rot="6787887">
            <a:off x="4250108" y="3957055"/>
            <a:ext cx="318292" cy="5265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p:cNvSpPr txBox="1"/>
          <p:nvPr/>
        </p:nvSpPr>
        <p:spPr>
          <a:xfrm rot="1461632">
            <a:off x="3498092" y="4303678"/>
            <a:ext cx="1557751" cy="369332"/>
          </a:xfrm>
          <a:prstGeom prst="rect">
            <a:avLst/>
          </a:prstGeom>
          <a:noFill/>
        </p:spPr>
        <p:txBody>
          <a:bodyPr wrap="square" rtlCol="0">
            <a:spAutoFit/>
          </a:bodyPr>
          <a:lstStyle/>
          <a:p>
            <a:r>
              <a:rPr lang="en-IN" dirty="0" smtClean="0"/>
              <a:t>Relationships</a:t>
            </a:r>
            <a:endParaRPr lang="en-IN" dirty="0"/>
          </a:p>
        </p:txBody>
      </p:sp>
      <p:sp>
        <p:nvSpPr>
          <p:cNvPr id="48" name="Right Arrow 47"/>
          <p:cNvSpPr/>
          <p:nvPr/>
        </p:nvSpPr>
        <p:spPr>
          <a:xfrm rot="14422498">
            <a:off x="4023653" y="2441592"/>
            <a:ext cx="297242" cy="5265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p:cNvSpPr txBox="1"/>
          <p:nvPr/>
        </p:nvSpPr>
        <p:spPr>
          <a:xfrm rot="19557600">
            <a:off x="3670431" y="1996426"/>
            <a:ext cx="1557751" cy="369332"/>
          </a:xfrm>
          <a:prstGeom prst="rect">
            <a:avLst/>
          </a:prstGeom>
          <a:noFill/>
        </p:spPr>
        <p:txBody>
          <a:bodyPr wrap="square" rtlCol="0">
            <a:spAutoFit/>
          </a:bodyPr>
          <a:lstStyle/>
          <a:p>
            <a:r>
              <a:rPr lang="en-IN" dirty="0" smtClean="0"/>
              <a:t>KM</a:t>
            </a:r>
            <a:endParaRPr lang="en-IN" dirty="0"/>
          </a:p>
        </p:txBody>
      </p:sp>
      <p:sp>
        <p:nvSpPr>
          <p:cNvPr id="50" name="Right Arrow 49"/>
          <p:cNvSpPr/>
          <p:nvPr/>
        </p:nvSpPr>
        <p:spPr>
          <a:xfrm rot="3921412">
            <a:off x="6786910" y="3960684"/>
            <a:ext cx="422969" cy="5698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p:cNvSpPr txBox="1"/>
          <p:nvPr/>
        </p:nvSpPr>
        <p:spPr>
          <a:xfrm rot="19865332">
            <a:off x="6573645" y="4204459"/>
            <a:ext cx="1619811" cy="369332"/>
          </a:xfrm>
          <a:prstGeom prst="rect">
            <a:avLst/>
          </a:prstGeom>
          <a:noFill/>
        </p:spPr>
        <p:txBody>
          <a:bodyPr wrap="square" rtlCol="0">
            <a:spAutoFit/>
          </a:bodyPr>
          <a:lstStyle/>
          <a:p>
            <a:r>
              <a:rPr lang="en-IN" dirty="0" smtClean="0"/>
              <a:t>Technology </a:t>
            </a:r>
            <a:endParaRPr lang="en-IN" dirty="0"/>
          </a:p>
        </p:txBody>
      </p:sp>
      <p:sp>
        <p:nvSpPr>
          <p:cNvPr id="29" name="Oval 28"/>
          <p:cNvSpPr/>
          <p:nvPr/>
        </p:nvSpPr>
        <p:spPr>
          <a:xfrm>
            <a:off x="2166426" y="1592076"/>
            <a:ext cx="7090116" cy="3627042"/>
          </a:xfrm>
          <a:prstGeom prst="ellipse">
            <a:avLst/>
          </a:prstGeom>
          <a:solidFill>
            <a:schemeClr val="accent1">
              <a:lumMod val="60000"/>
              <a:lumOff val="40000"/>
              <a:alpha val="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1182154" y="1420452"/>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plant</a:t>
            </a:r>
            <a:endParaRPr lang="en-IN" sz="1600" dirty="0"/>
          </a:p>
        </p:txBody>
      </p:sp>
      <p:sp>
        <p:nvSpPr>
          <p:cNvPr id="54" name="Oval 53"/>
          <p:cNvSpPr/>
          <p:nvPr/>
        </p:nvSpPr>
        <p:spPr>
          <a:xfrm>
            <a:off x="212079" y="2300783"/>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marketing</a:t>
            </a:r>
            <a:endParaRPr lang="en-IN" sz="1600" dirty="0"/>
          </a:p>
        </p:txBody>
      </p:sp>
      <p:sp>
        <p:nvSpPr>
          <p:cNvPr id="55" name="Oval 54"/>
          <p:cNvSpPr/>
          <p:nvPr/>
        </p:nvSpPr>
        <p:spPr>
          <a:xfrm>
            <a:off x="179362" y="3565002"/>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supply chain</a:t>
            </a:r>
            <a:endParaRPr lang="en-IN" sz="1600" dirty="0"/>
          </a:p>
        </p:txBody>
      </p:sp>
      <p:sp>
        <p:nvSpPr>
          <p:cNvPr id="56" name="Oval 55"/>
          <p:cNvSpPr/>
          <p:nvPr/>
        </p:nvSpPr>
        <p:spPr>
          <a:xfrm>
            <a:off x="1016040" y="4492823"/>
            <a:ext cx="1638548" cy="899009"/>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Customers – HR/Fin</a:t>
            </a:r>
            <a:endParaRPr lang="en-IN" sz="1600" dirty="0"/>
          </a:p>
        </p:txBody>
      </p:sp>
      <p:cxnSp>
        <p:nvCxnSpPr>
          <p:cNvPr id="32" name="Straight Arrow Connector 31"/>
          <p:cNvCxnSpPr>
            <a:stCxn id="29" idx="1"/>
            <a:endCxn id="30" idx="6"/>
          </p:cNvCxnSpPr>
          <p:nvPr/>
        </p:nvCxnSpPr>
        <p:spPr>
          <a:xfrm flipH="1" flipV="1">
            <a:off x="2820702" y="1869957"/>
            <a:ext cx="384047" cy="253287"/>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endCxn id="54" idx="6"/>
          </p:cNvCxnSpPr>
          <p:nvPr/>
        </p:nvCxnSpPr>
        <p:spPr>
          <a:xfrm flipH="1" flipV="1">
            <a:off x="1850627" y="2750288"/>
            <a:ext cx="471044" cy="194099"/>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55" idx="6"/>
          </p:cNvCxnSpPr>
          <p:nvPr/>
        </p:nvCxnSpPr>
        <p:spPr>
          <a:xfrm flipH="1">
            <a:off x="1817910" y="3814952"/>
            <a:ext cx="411014" cy="199555"/>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endCxn id="56" idx="6"/>
          </p:cNvCxnSpPr>
          <p:nvPr/>
        </p:nvCxnSpPr>
        <p:spPr>
          <a:xfrm flipH="1">
            <a:off x="2654588" y="4670478"/>
            <a:ext cx="425664" cy="271850"/>
          </a:xfrm>
          <a:prstGeom prst="straightConnector1">
            <a:avLst/>
          </a:prstGeom>
          <a:ln w="6985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10016084" y="2904087"/>
            <a:ext cx="2133712" cy="1000594"/>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Tata </a:t>
            </a:r>
            <a:r>
              <a:rPr lang="en-IN" sz="1400" dirty="0" err="1" smtClean="0"/>
              <a:t>iQ</a:t>
            </a:r>
            <a:r>
              <a:rPr lang="en-IN" sz="1400" dirty="0" smtClean="0"/>
              <a:t> ad-hoc project team</a:t>
            </a:r>
            <a:endParaRPr lang="en-IN" sz="1400" dirty="0"/>
          </a:p>
        </p:txBody>
      </p:sp>
      <p:cxnSp>
        <p:nvCxnSpPr>
          <p:cNvPr id="58" name="Straight Arrow Connector 57"/>
          <p:cNvCxnSpPr>
            <a:stCxn id="53" idx="2"/>
            <a:endCxn id="29" idx="6"/>
          </p:cNvCxnSpPr>
          <p:nvPr/>
        </p:nvCxnSpPr>
        <p:spPr>
          <a:xfrm flipH="1">
            <a:off x="9256542" y="3404384"/>
            <a:ext cx="759542" cy="1213"/>
          </a:xfrm>
          <a:prstGeom prst="straightConnector1">
            <a:avLst/>
          </a:prstGeom>
          <a:ln w="666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p:cNvSpPr/>
          <p:nvPr/>
        </p:nvSpPr>
        <p:spPr>
          <a:xfrm>
            <a:off x="8785784" y="1282083"/>
            <a:ext cx="2004854" cy="899009"/>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Other partners - tech</a:t>
            </a:r>
            <a:endParaRPr lang="en-IN" sz="1600" dirty="0"/>
          </a:p>
        </p:txBody>
      </p:sp>
      <p:sp>
        <p:nvSpPr>
          <p:cNvPr id="74" name="Oval 73"/>
          <p:cNvSpPr/>
          <p:nvPr/>
        </p:nvSpPr>
        <p:spPr>
          <a:xfrm>
            <a:off x="8948762" y="4678468"/>
            <a:ext cx="2004854" cy="899009"/>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Other partners – specialised services</a:t>
            </a:r>
            <a:endParaRPr lang="en-IN" sz="1600" dirty="0"/>
          </a:p>
        </p:txBody>
      </p:sp>
      <p:cxnSp>
        <p:nvCxnSpPr>
          <p:cNvPr id="76" name="Straight Arrow Connector 75"/>
          <p:cNvCxnSpPr>
            <a:stCxn id="74" idx="1"/>
          </p:cNvCxnSpPr>
          <p:nvPr/>
        </p:nvCxnSpPr>
        <p:spPr>
          <a:xfrm flipH="1" flipV="1">
            <a:off x="8754794" y="4346921"/>
            <a:ext cx="487572" cy="463204"/>
          </a:xfrm>
          <a:prstGeom prst="straightConnector1">
            <a:avLst/>
          </a:prstGeom>
          <a:ln w="666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73" idx="2"/>
            <a:endCxn id="29" idx="7"/>
          </p:cNvCxnSpPr>
          <p:nvPr/>
        </p:nvCxnSpPr>
        <p:spPr>
          <a:xfrm flipH="1">
            <a:off x="8218219" y="1731588"/>
            <a:ext cx="567565" cy="391656"/>
          </a:xfrm>
          <a:prstGeom prst="straightConnector1">
            <a:avLst/>
          </a:prstGeom>
          <a:ln w="66675">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3204750" y="870976"/>
            <a:ext cx="4971266" cy="707886"/>
          </a:xfrm>
          <a:prstGeom prst="rect">
            <a:avLst/>
          </a:prstGeom>
          <a:noFill/>
        </p:spPr>
        <p:txBody>
          <a:bodyPr wrap="square" rtlCol="0">
            <a:spAutoFit/>
          </a:bodyPr>
          <a:lstStyle/>
          <a:p>
            <a:pPr algn="ctr"/>
            <a:r>
              <a:rPr lang="en-IN" sz="2400" b="1" dirty="0" smtClean="0">
                <a:solidFill>
                  <a:schemeClr val="accent3">
                    <a:lumMod val="50000"/>
                  </a:schemeClr>
                </a:solidFill>
              </a:rPr>
              <a:t>Tata Steel Analytics COE – </a:t>
            </a:r>
            <a:r>
              <a:rPr lang="en-IN" sz="1600" b="1" dirty="0" smtClean="0">
                <a:solidFill>
                  <a:schemeClr val="accent3">
                    <a:lumMod val="50000"/>
                  </a:schemeClr>
                </a:solidFill>
              </a:rPr>
              <a:t>consisting of members of Tata Steel team and dedicated Tata </a:t>
            </a:r>
            <a:r>
              <a:rPr lang="en-IN" sz="1600" b="1" dirty="0" err="1" smtClean="0">
                <a:solidFill>
                  <a:schemeClr val="accent3">
                    <a:lumMod val="50000"/>
                  </a:schemeClr>
                </a:solidFill>
              </a:rPr>
              <a:t>iQ</a:t>
            </a:r>
            <a:r>
              <a:rPr lang="en-IN" sz="1600" b="1" dirty="0" smtClean="0">
                <a:solidFill>
                  <a:schemeClr val="accent3">
                    <a:lumMod val="50000"/>
                  </a:schemeClr>
                </a:solidFill>
              </a:rPr>
              <a:t> team</a:t>
            </a:r>
            <a:endParaRPr lang="en-IN" sz="1600" b="1" dirty="0">
              <a:solidFill>
                <a:schemeClr val="accent3">
                  <a:lumMod val="50000"/>
                </a:schemeClr>
              </a:solidFill>
            </a:endParaRPr>
          </a:p>
        </p:txBody>
      </p:sp>
      <p:sp>
        <p:nvSpPr>
          <p:cNvPr id="82" name="TextBox 81"/>
          <p:cNvSpPr txBox="1"/>
          <p:nvPr/>
        </p:nvSpPr>
        <p:spPr>
          <a:xfrm>
            <a:off x="0" y="5627077"/>
            <a:ext cx="11999742" cy="646331"/>
          </a:xfrm>
          <a:prstGeom prst="rect">
            <a:avLst/>
          </a:prstGeom>
          <a:noFill/>
        </p:spPr>
        <p:txBody>
          <a:bodyPr wrap="square" rtlCol="0">
            <a:spAutoFit/>
          </a:bodyPr>
          <a:lstStyle/>
          <a:p>
            <a:pPr algn="ctr"/>
            <a:r>
              <a:rPr lang="en-IN" dirty="0" smtClean="0">
                <a:solidFill>
                  <a:schemeClr val="accent1">
                    <a:lumMod val="75000"/>
                  </a:schemeClr>
                </a:solidFill>
              </a:rPr>
              <a:t>Build the analytics COE, deliver quick impact projects, partner in creating POCs that are experimental in nature. And help manage peak loads when required.</a:t>
            </a:r>
            <a:endParaRPr lang="en-IN" dirty="0">
              <a:solidFill>
                <a:schemeClr val="accent1">
                  <a:lumMod val="75000"/>
                </a:schemeClr>
              </a:solidFill>
            </a:endParaRPr>
          </a:p>
        </p:txBody>
      </p:sp>
      <p:sp>
        <p:nvSpPr>
          <p:cNvPr id="52" name="Slide Number Placeholder 3"/>
          <p:cNvSpPr>
            <a:spLocks noGrp="1"/>
          </p:cNvSpPr>
          <p:nvPr>
            <p:ph type="sldNum" sz="quarter" idx="12"/>
          </p:nvPr>
        </p:nvSpPr>
        <p:spPr>
          <a:xfrm>
            <a:off x="9448800" y="6350"/>
            <a:ext cx="2743200" cy="365125"/>
          </a:xfrm>
        </p:spPr>
        <p:txBody>
          <a:bodyPr/>
          <a:lstStyle/>
          <a:p>
            <a:r>
              <a:rPr lang="en-IN" dirty="0" smtClean="0">
                <a:solidFill>
                  <a:srgbClr val="000000">
                    <a:tint val="75000"/>
                  </a:srgbClr>
                </a:solidFill>
              </a:rPr>
              <a:t>14</a:t>
            </a:r>
            <a:endParaRPr lang="en-IN" dirty="0">
              <a:solidFill>
                <a:srgbClr val="000000">
                  <a:tint val="75000"/>
                </a:srgbClr>
              </a:solidFill>
            </a:endParaRPr>
          </a:p>
        </p:txBody>
      </p:sp>
    </p:spTree>
    <p:extLst>
      <p:ext uri="{BB962C8B-B14F-4D97-AF65-F5344CB8AC3E}">
        <p14:creationId xmlns:p14="http://schemas.microsoft.com/office/powerpoint/2010/main" val="6859990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 y="237066"/>
            <a:ext cx="12192000" cy="523220"/>
            <a:chOff x="1" y="291779"/>
            <a:chExt cx="12192000" cy="523220"/>
          </a:xfrm>
        </p:grpSpPr>
        <p:cxnSp>
          <p:nvCxnSpPr>
            <p:cNvPr id="6" name="Straight Connector 5"/>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75530" y="291779"/>
              <a:ext cx="3241080"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POCs and Projects</a:t>
              </a:r>
              <a:endParaRPr lang="en-IN" sz="2400" i="1" dirty="0" smtClean="0">
                <a:solidFill>
                  <a:srgbClr val="0070C0"/>
                </a:solidFill>
                <a:latin typeface="Leelawadee UI" panose="020B0502040204020203" pitchFamily="34" charset="-34"/>
                <a:cs typeface="Leelawadee UI" panose="020B0502040204020203" pitchFamily="34" charset="-34"/>
              </a:endParaRPr>
            </a:p>
          </p:txBody>
        </p:sp>
      </p:grpSp>
      <p:sp>
        <p:nvSpPr>
          <p:cNvPr id="52" name="Slide Number Placeholder 3"/>
          <p:cNvSpPr>
            <a:spLocks noGrp="1"/>
          </p:cNvSpPr>
          <p:nvPr>
            <p:ph type="sldNum" sz="quarter" idx="12"/>
          </p:nvPr>
        </p:nvSpPr>
        <p:spPr>
          <a:xfrm>
            <a:off x="9448800" y="6350"/>
            <a:ext cx="2743200" cy="365125"/>
          </a:xfrm>
        </p:spPr>
        <p:txBody>
          <a:bodyPr/>
          <a:lstStyle/>
          <a:p>
            <a:r>
              <a:rPr lang="en-IN" dirty="0" smtClean="0">
                <a:solidFill>
                  <a:srgbClr val="000000">
                    <a:tint val="75000"/>
                  </a:srgbClr>
                </a:solidFill>
              </a:rPr>
              <a:t>14</a:t>
            </a:r>
            <a:endParaRPr lang="en-IN" dirty="0">
              <a:solidFill>
                <a:srgbClr val="000000">
                  <a:tint val="75000"/>
                </a:srgbClr>
              </a:solidFill>
            </a:endParaRPr>
          </a:p>
        </p:txBody>
      </p:sp>
      <p:sp>
        <p:nvSpPr>
          <p:cNvPr id="2" name="Rectangle 1"/>
          <p:cNvSpPr/>
          <p:nvPr/>
        </p:nvSpPr>
        <p:spPr>
          <a:xfrm>
            <a:off x="639585" y="1334084"/>
            <a:ext cx="3464417" cy="3853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Sales &amp; Marketing</a:t>
            </a:r>
            <a:endParaRPr lang="en-IN" dirty="0"/>
          </a:p>
        </p:txBody>
      </p:sp>
      <p:sp>
        <p:nvSpPr>
          <p:cNvPr id="57" name="Rectangle 56"/>
          <p:cNvSpPr/>
          <p:nvPr/>
        </p:nvSpPr>
        <p:spPr>
          <a:xfrm>
            <a:off x="4410948" y="1334084"/>
            <a:ext cx="3464417" cy="3853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Factory &amp; Operations Analytics</a:t>
            </a:r>
            <a:endParaRPr lang="en-IN" dirty="0"/>
          </a:p>
        </p:txBody>
      </p:sp>
      <p:sp>
        <p:nvSpPr>
          <p:cNvPr id="60" name="Rectangle 59"/>
          <p:cNvSpPr/>
          <p:nvPr/>
        </p:nvSpPr>
        <p:spPr>
          <a:xfrm>
            <a:off x="8182311" y="1334084"/>
            <a:ext cx="3464417" cy="3853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Other Areas</a:t>
            </a:r>
            <a:endParaRPr lang="en-IN" dirty="0"/>
          </a:p>
        </p:txBody>
      </p:sp>
      <p:sp>
        <p:nvSpPr>
          <p:cNvPr id="4" name="Rectangle 3"/>
          <p:cNvSpPr/>
          <p:nvPr/>
        </p:nvSpPr>
        <p:spPr>
          <a:xfrm>
            <a:off x="639585" y="1719430"/>
            <a:ext cx="3464417" cy="3570024"/>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IN" sz="1400" dirty="0" smtClean="0">
                <a:solidFill>
                  <a:schemeClr val="tx1"/>
                </a:solidFill>
              </a:rPr>
              <a:t>POC for TISCON </a:t>
            </a:r>
          </a:p>
          <a:p>
            <a:pPr marL="742950" lvl="1" indent="-285750">
              <a:buFont typeface="Wingdings" panose="05000000000000000000" pitchFamily="2" charset="2"/>
              <a:buChar char="Ø"/>
            </a:pPr>
            <a:r>
              <a:rPr lang="en-IN" sz="1400" dirty="0" smtClean="0">
                <a:solidFill>
                  <a:schemeClr val="tx1"/>
                </a:solidFill>
              </a:rPr>
              <a:t>Dealer and distributer dashboard </a:t>
            </a:r>
          </a:p>
          <a:p>
            <a:pPr marL="742950" lvl="1" indent="-285750">
              <a:buFont typeface="Wingdings" panose="05000000000000000000" pitchFamily="2" charset="2"/>
              <a:buChar char="Ø"/>
            </a:pPr>
            <a:r>
              <a:rPr lang="en-IN" sz="1400" dirty="0" smtClean="0">
                <a:solidFill>
                  <a:schemeClr val="tx1"/>
                </a:solidFill>
              </a:rPr>
              <a:t>Sales prediction</a:t>
            </a:r>
          </a:p>
          <a:p>
            <a:pPr marL="742950" lvl="1" indent="-285750">
              <a:buFont typeface="Wingdings" panose="05000000000000000000" pitchFamily="2" charset="2"/>
              <a:buChar char="Ø"/>
            </a:pPr>
            <a:r>
              <a:rPr lang="en-IN" sz="1400" dirty="0" smtClean="0">
                <a:solidFill>
                  <a:schemeClr val="tx1"/>
                </a:solidFill>
              </a:rPr>
              <a:t>Dealer attrition prediction</a:t>
            </a:r>
          </a:p>
          <a:p>
            <a:pPr marL="742950" lvl="1" indent="-285750">
              <a:buFont typeface="Wingdings" panose="05000000000000000000" pitchFamily="2" charset="2"/>
              <a:buChar char="Ø"/>
            </a:pPr>
            <a:r>
              <a:rPr lang="en-IN" sz="1400" dirty="0" smtClean="0">
                <a:solidFill>
                  <a:schemeClr val="tx1"/>
                </a:solidFill>
              </a:rPr>
              <a:t>Marketing effectiveness analysis</a:t>
            </a:r>
          </a:p>
          <a:p>
            <a:pPr marL="742950" lvl="1" indent="-285750">
              <a:buFont typeface="Wingdings" panose="05000000000000000000" pitchFamily="2" charset="2"/>
              <a:buChar char="Ø"/>
            </a:pPr>
            <a:r>
              <a:rPr lang="en-IN" sz="1400" dirty="0" smtClean="0">
                <a:solidFill>
                  <a:schemeClr val="tx1"/>
                </a:solidFill>
              </a:rPr>
              <a:t>Territory attractiveness</a:t>
            </a:r>
          </a:p>
          <a:p>
            <a:pPr marL="285750" indent="-285750">
              <a:buFont typeface="Wingdings" panose="05000000000000000000" pitchFamily="2" charset="2"/>
              <a:buChar char="Ø"/>
            </a:pPr>
            <a:r>
              <a:rPr lang="en-IN" sz="1400" dirty="0" smtClean="0">
                <a:solidFill>
                  <a:schemeClr val="tx1"/>
                </a:solidFill>
              </a:rPr>
              <a:t>WIRON</a:t>
            </a:r>
          </a:p>
          <a:p>
            <a:pPr marL="742950" lvl="1" indent="-285750">
              <a:buFont typeface="Wingdings" panose="05000000000000000000" pitchFamily="2" charset="2"/>
              <a:buChar char="Ø"/>
            </a:pPr>
            <a:r>
              <a:rPr lang="en-IN" sz="1400" dirty="0" smtClean="0">
                <a:solidFill>
                  <a:schemeClr val="tx1"/>
                </a:solidFill>
              </a:rPr>
              <a:t>Territory attractiveness &amp; potential assessment</a:t>
            </a:r>
          </a:p>
          <a:p>
            <a:pPr marL="742950" lvl="1" indent="-285750">
              <a:buFont typeface="Wingdings" panose="05000000000000000000" pitchFamily="2" charset="2"/>
              <a:buChar char="Ø"/>
            </a:pPr>
            <a:r>
              <a:rPr lang="en-IN" sz="1400" dirty="0" smtClean="0">
                <a:solidFill>
                  <a:schemeClr val="tx1"/>
                </a:solidFill>
              </a:rPr>
              <a:t>Sales forecasting </a:t>
            </a:r>
          </a:p>
          <a:p>
            <a:pPr marL="285750" indent="-285750">
              <a:buFont typeface="Wingdings" panose="05000000000000000000" pitchFamily="2" charset="2"/>
              <a:buChar char="Ø"/>
            </a:pPr>
            <a:r>
              <a:rPr lang="en-IN" sz="1400" dirty="0" smtClean="0">
                <a:solidFill>
                  <a:schemeClr val="tx1"/>
                </a:solidFill>
              </a:rPr>
              <a:t>Flat products</a:t>
            </a:r>
          </a:p>
          <a:p>
            <a:pPr marL="742950" lvl="1" indent="-285750">
              <a:buFont typeface="Wingdings" panose="05000000000000000000" pitchFamily="2" charset="2"/>
              <a:buChar char="Ø"/>
            </a:pPr>
            <a:r>
              <a:rPr lang="en-IN" sz="1400" dirty="0" smtClean="0">
                <a:solidFill>
                  <a:schemeClr val="tx1"/>
                </a:solidFill>
              </a:rPr>
              <a:t>Text mining (using NLP and machine learning) for analysing DPCR reports</a:t>
            </a:r>
          </a:p>
          <a:p>
            <a:pPr marL="742950" lvl="1" indent="-285750">
              <a:buFont typeface="Wingdings" panose="05000000000000000000" pitchFamily="2" charset="2"/>
              <a:buChar char="Ø"/>
            </a:pPr>
            <a:r>
              <a:rPr lang="en-IN" sz="1400" dirty="0" smtClean="0">
                <a:solidFill>
                  <a:schemeClr val="tx1"/>
                </a:solidFill>
              </a:rPr>
              <a:t>Analysis of auto customer feedback</a:t>
            </a:r>
          </a:p>
        </p:txBody>
      </p:sp>
      <p:sp>
        <p:nvSpPr>
          <p:cNvPr id="61" name="Rectangle 60"/>
          <p:cNvSpPr/>
          <p:nvPr/>
        </p:nvSpPr>
        <p:spPr>
          <a:xfrm>
            <a:off x="4410947" y="1719430"/>
            <a:ext cx="3464417" cy="3570024"/>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IN" sz="1400" dirty="0" smtClean="0">
                <a:solidFill>
                  <a:schemeClr val="tx1"/>
                </a:solidFill>
              </a:rPr>
              <a:t>Projects initiated</a:t>
            </a:r>
          </a:p>
          <a:p>
            <a:pPr marL="742950" lvl="1" indent="-285750">
              <a:buFont typeface="Wingdings" panose="05000000000000000000" pitchFamily="2" charset="2"/>
              <a:buChar char="Ø"/>
            </a:pPr>
            <a:r>
              <a:rPr lang="en-IN" sz="1400" dirty="0" smtClean="0">
                <a:solidFill>
                  <a:schemeClr val="tx1"/>
                </a:solidFill>
              </a:rPr>
              <a:t>LD-2 steel chemistry and turn down temperature prediction using machine learning</a:t>
            </a:r>
          </a:p>
          <a:p>
            <a:pPr marL="742950" lvl="1" indent="-285750">
              <a:buFont typeface="Wingdings" panose="05000000000000000000" pitchFamily="2" charset="2"/>
              <a:buChar char="Ø"/>
            </a:pPr>
            <a:r>
              <a:rPr lang="en-IN" sz="1400" dirty="0" smtClean="0">
                <a:solidFill>
                  <a:schemeClr val="tx1"/>
                </a:solidFill>
              </a:rPr>
              <a:t>LD-2 breakout prediction</a:t>
            </a:r>
          </a:p>
          <a:p>
            <a:pPr marL="742950" lvl="1" indent="-285750">
              <a:buFont typeface="Wingdings" panose="05000000000000000000" pitchFamily="2" charset="2"/>
              <a:buChar char="Ø"/>
            </a:pPr>
            <a:r>
              <a:rPr lang="en-IN" sz="1400" dirty="0" smtClean="0">
                <a:solidFill>
                  <a:schemeClr val="tx1"/>
                </a:solidFill>
              </a:rPr>
              <a:t>Prediction of presence of sliver during slab casting</a:t>
            </a:r>
          </a:p>
          <a:p>
            <a:pPr marL="742950" lvl="1" indent="-285750">
              <a:buFont typeface="Wingdings" panose="05000000000000000000" pitchFamily="2" charset="2"/>
              <a:buChar char="Ø"/>
            </a:pPr>
            <a:r>
              <a:rPr lang="en-IN" sz="1400" dirty="0" smtClean="0">
                <a:solidFill>
                  <a:schemeClr val="tx1"/>
                </a:solidFill>
              </a:rPr>
              <a:t>Blast furnace </a:t>
            </a:r>
            <a:r>
              <a:rPr lang="en-IN" sz="1400" dirty="0" err="1" smtClean="0">
                <a:solidFill>
                  <a:schemeClr val="tx1"/>
                </a:solidFill>
              </a:rPr>
              <a:t>tuyere</a:t>
            </a:r>
            <a:r>
              <a:rPr lang="en-IN" sz="1400" dirty="0" smtClean="0">
                <a:solidFill>
                  <a:schemeClr val="tx1"/>
                </a:solidFill>
              </a:rPr>
              <a:t> </a:t>
            </a:r>
            <a:r>
              <a:rPr lang="en-IN" sz="1400" dirty="0" smtClean="0">
                <a:solidFill>
                  <a:schemeClr val="tx1"/>
                </a:solidFill>
              </a:rPr>
              <a:t>failure prediction </a:t>
            </a:r>
          </a:p>
          <a:p>
            <a:pPr marL="285750" indent="-285750">
              <a:buFont typeface="Wingdings" panose="05000000000000000000" pitchFamily="2" charset="2"/>
              <a:buChar char="Ø"/>
            </a:pPr>
            <a:r>
              <a:rPr lang="en-IN" sz="1400" dirty="0" smtClean="0">
                <a:solidFill>
                  <a:schemeClr val="tx1"/>
                </a:solidFill>
              </a:rPr>
              <a:t>Supported as knowledge partner</a:t>
            </a:r>
          </a:p>
          <a:p>
            <a:pPr marL="742950" lvl="1" indent="-285750">
              <a:buFont typeface="Wingdings" panose="05000000000000000000" pitchFamily="2" charset="2"/>
              <a:buChar char="Ø"/>
            </a:pPr>
            <a:r>
              <a:rPr lang="en-IN" sz="1400" dirty="0" smtClean="0">
                <a:solidFill>
                  <a:schemeClr val="tx1"/>
                </a:solidFill>
              </a:rPr>
              <a:t>Pellet plant quality prediction</a:t>
            </a:r>
          </a:p>
          <a:p>
            <a:pPr marL="285750" indent="-285750">
              <a:buFont typeface="Wingdings" panose="05000000000000000000" pitchFamily="2" charset="2"/>
              <a:buChar char="Ø"/>
            </a:pPr>
            <a:r>
              <a:rPr lang="en-IN" sz="1400" dirty="0" smtClean="0">
                <a:solidFill>
                  <a:schemeClr val="tx1"/>
                </a:solidFill>
              </a:rPr>
              <a:t>Future projects</a:t>
            </a:r>
          </a:p>
          <a:p>
            <a:pPr marL="742950" lvl="1" indent="-285750">
              <a:buFont typeface="Wingdings" panose="05000000000000000000" pitchFamily="2" charset="2"/>
              <a:buChar char="Ø"/>
            </a:pPr>
            <a:r>
              <a:rPr lang="en-IN" sz="1400" dirty="0" smtClean="0">
                <a:solidFill>
                  <a:schemeClr val="tx1"/>
                </a:solidFill>
              </a:rPr>
              <a:t>Scrap optimization</a:t>
            </a:r>
          </a:p>
          <a:p>
            <a:pPr marL="742950" lvl="1" indent="-285750">
              <a:buFont typeface="Wingdings" panose="05000000000000000000" pitchFamily="2" charset="2"/>
              <a:buChar char="Ø"/>
            </a:pPr>
            <a:r>
              <a:rPr lang="en-IN" sz="1400" dirty="0" smtClean="0">
                <a:solidFill>
                  <a:schemeClr val="tx1"/>
                </a:solidFill>
              </a:rPr>
              <a:t>CRM PLTCM quality</a:t>
            </a:r>
          </a:p>
          <a:p>
            <a:pPr marL="742950" lvl="1" indent="-285750">
              <a:buFont typeface="Wingdings" panose="05000000000000000000" pitchFamily="2" charset="2"/>
              <a:buChar char="Ø"/>
            </a:pPr>
            <a:endParaRPr lang="en-IN" sz="1400" dirty="0" smtClean="0">
              <a:solidFill>
                <a:schemeClr val="tx1"/>
              </a:solidFill>
            </a:endParaRPr>
          </a:p>
        </p:txBody>
      </p:sp>
      <p:sp>
        <p:nvSpPr>
          <p:cNvPr id="63" name="Rectangle 62"/>
          <p:cNvSpPr/>
          <p:nvPr/>
        </p:nvSpPr>
        <p:spPr>
          <a:xfrm>
            <a:off x="8182311" y="1719430"/>
            <a:ext cx="3464417" cy="3570024"/>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IN" sz="1400" dirty="0" smtClean="0">
                <a:solidFill>
                  <a:schemeClr val="tx1"/>
                </a:solidFill>
              </a:rPr>
              <a:t>Initial discussions with finance for admin spend management dashboard and prediction</a:t>
            </a:r>
          </a:p>
          <a:p>
            <a:pPr marL="285750" indent="-285750">
              <a:buFont typeface="Wingdings" panose="05000000000000000000" pitchFamily="2" charset="2"/>
              <a:buChar char="Ø"/>
            </a:pPr>
            <a:r>
              <a:rPr lang="en-IN" sz="1400" dirty="0" smtClean="0">
                <a:solidFill>
                  <a:schemeClr val="tx1"/>
                </a:solidFill>
              </a:rPr>
              <a:t>Conversion of PLC data across various platforms to data for analysis</a:t>
            </a:r>
          </a:p>
          <a:p>
            <a:pPr marL="285750" indent="-285750">
              <a:buFont typeface="Wingdings" panose="05000000000000000000" pitchFamily="2" charset="2"/>
              <a:buChar char="Ø"/>
            </a:pPr>
            <a:r>
              <a:rPr lang="en-IN" sz="1400" dirty="0" smtClean="0">
                <a:solidFill>
                  <a:schemeClr val="tx1"/>
                </a:solidFill>
              </a:rPr>
              <a:t>HR analytics </a:t>
            </a:r>
            <a:r>
              <a:rPr lang="en-IN" sz="1400" dirty="0" smtClean="0">
                <a:solidFill>
                  <a:schemeClr val="tx1"/>
                </a:solidFill>
              </a:rPr>
              <a:t>priorities</a:t>
            </a:r>
            <a:endParaRPr lang="en-IN" sz="1400" dirty="0" smtClean="0">
              <a:solidFill>
                <a:schemeClr val="tx1"/>
              </a:solidFill>
            </a:endParaRPr>
          </a:p>
          <a:p>
            <a:pPr marL="742950" lvl="1" indent="-285750">
              <a:buFont typeface="Wingdings" panose="05000000000000000000" pitchFamily="2" charset="2"/>
              <a:buChar char="Ø"/>
            </a:pPr>
            <a:endParaRPr lang="en-IN" sz="1400" dirty="0" smtClean="0">
              <a:solidFill>
                <a:schemeClr val="tx1"/>
              </a:solidFill>
            </a:endParaRPr>
          </a:p>
        </p:txBody>
      </p:sp>
      <p:sp>
        <p:nvSpPr>
          <p:cNvPr id="64" name="Rectangle 63"/>
          <p:cNvSpPr/>
          <p:nvPr/>
        </p:nvSpPr>
        <p:spPr>
          <a:xfrm>
            <a:off x="639584" y="5427785"/>
            <a:ext cx="11007144" cy="8042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IN" sz="1600" dirty="0" smtClean="0"/>
              <a:t>Conducted knowledge sharing workshop on classification algorithms at Jamshedpur</a:t>
            </a:r>
          </a:p>
          <a:p>
            <a:pPr marL="285750" indent="-285750">
              <a:buFont typeface="Wingdings" panose="05000000000000000000" pitchFamily="2" charset="2"/>
              <a:buChar char="Ø"/>
            </a:pPr>
            <a:r>
              <a:rPr lang="en-IN" sz="1600" dirty="0" smtClean="0"/>
              <a:t>Knowledge workshop for ~40 key executives at Bangalore in the area of analytics adoption in large-successful-legacy organizations</a:t>
            </a:r>
            <a:endParaRPr lang="en-IN" sz="1600" dirty="0"/>
          </a:p>
        </p:txBody>
      </p:sp>
      <p:sp>
        <p:nvSpPr>
          <p:cNvPr id="67" name="Rectangle 66"/>
          <p:cNvSpPr/>
          <p:nvPr/>
        </p:nvSpPr>
        <p:spPr>
          <a:xfrm>
            <a:off x="43705" y="757725"/>
            <a:ext cx="12198899" cy="438028"/>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Effective partnership model for initiating quick-win projects and POCs</a:t>
            </a:r>
            <a:endParaRPr lang="en-IN" b="1" dirty="0"/>
          </a:p>
        </p:txBody>
      </p:sp>
    </p:spTree>
    <p:extLst>
      <p:ext uri="{BB962C8B-B14F-4D97-AF65-F5344CB8AC3E}">
        <p14:creationId xmlns:p14="http://schemas.microsoft.com/office/powerpoint/2010/main" val="37238746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2263"/>
            <a:ext cx="12192000" cy="53908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IN" kern="0" dirty="0">
              <a:solidFill>
                <a:prstClr val="white"/>
              </a:solidFill>
            </a:endParaRPr>
          </a:p>
        </p:txBody>
      </p:sp>
      <p:grpSp>
        <p:nvGrpSpPr>
          <p:cNvPr id="8" name="Group 7"/>
          <p:cNvGrpSpPr/>
          <p:nvPr/>
        </p:nvGrpSpPr>
        <p:grpSpPr>
          <a:xfrm>
            <a:off x="1946853" y="2547738"/>
            <a:ext cx="8303876" cy="1200329"/>
            <a:chOff x="1946853" y="1960714"/>
            <a:chExt cx="8303876" cy="1200329"/>
          </a:xfrm>
        </p:grpSpPr>
        <p:sp>
          <p:nvSpPr>
            <p:cNvPr id="5" name="Rectangle 4"/>
            <p:cNvSpPr/>
            <p:nvPr/>
          </p:nvSpPr>
          <p:spPr>
            <a:xfrm>
              <a:off x="1946853" y="1960714"/>
              <a:ext cx="8303876" cy="1200329"/>
            </a:xfrm>
            <a:prstGeom prst="rect">
              <a:avLst/>
            </a:prstGeom>
          </p:spPr>
          <p:txBody>
            <a:bodyPr wrap="none">
              <a:spAutoFit/>
            </a:bodyPr>
            <a:lstStyle/>
            <a:p>
              <a:pPr algn="ctr">
                <a:defRPr/>
              </a:pPr>
              <a:r>
                <a:rPr lang="en-IN" sz="7200" kern="0" dirty="0" smtClean="0">
                  <a:ln/>
                  <a:solidFill>
                    <a:prstClr val="white"/>
                  </a:solidFill>
                  <a:latin typeface="Leelawadee UI" panose="020B0502040204020203" pitchFamily="34" charset="-34"/>
                  <a:cs typeface="Leelawadee UI" panose="020B0502040204020203" pitchFamily="34" charset="-34"/>
                </a:rPr>
                <a:t>Other Engagements</a:t>
              </a:r>
              <a:endParaRPr lang="en-IN" sz="3200" kern="0" dirty="0">
                <a:ln/>
                <a:solidFill>
                  <a:prstClr val="white"/>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22</a:t>
            </a:fld>
            <a:endParaRPr lang="en-IN" sz="1800" kern="0" dirty="0">
              <a:solidFill>
                <a:srgbClr val="000000">
                  <a:tint val="75000"/>
                </a:srgbClr>
              </a:solidFill>
            </a:endParaRPr>
          </a:p>
        </p:txBody>
      </p:sp>
    </p:spTree>
    <p:extLst>
      <p:ext uri="{BB962C8B-B14F-4D97-AF65-F5344CB8AC3E}">
        <p14:creationId xmlns:p14="http://schemas.microsoft.com/office/powerpoint/2010/main" val="3295004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Arc 130"/>
          <p:cNvSpPr/>
          <p:nvPr/>
        </p:nvSpPr>
        <p:spPr>
          <a:xfrm rot="14863476">
            <a:off x="6161107" y="1626090"/>
            <a:ext cx="1800000" cy="1800000"/>
          </a:xfrm>
          <a:prstGeom prst="arc">
            <a:avLst>
              <a:gd name="adj1" fmla="val 16767746"/>
              <a:gd name="adj2" fmla="val 3993732"/>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flipH="1">
            <a:off x="-6899" y="6378301"/>
            <a:ext cx="12192000" cy="232833"/>
          </a:xfrm>
          <a:prstGeom prst="rect">
            <a:avLst/>
          </a:prstGeom>
        </p:spPr>
      </p:pic>
      <p:grpSp>
        <p:nvGrpSpPr>
          <p:cNvPr id="125" name="Group 124"/>
          <p:cNvGrpSpPr/>
          <p:nvPr/>
        </p:nvGrpSpPr>
        <p:grpSpPr>
          <a:xfrm>
            <a:off x="4915281" y="2441999"/>
            <a:ext cx="2160000" cy="2160000"/>
            <a:chOff x="8516023" y="1746805"/>
            <a:chExt cx="2160000" cy="2160000"/>
          </a:xfrm>
        </p:grpSpPr>
        <p:sp>
          <p:nvSpPr>
            <p:cNvPr id="117" name="Oval 116"/>
            <p:cNvSpPr/>
            <p:nvPr/>
          </p:nvSpPr>
          <p:spPr>
            <a:xfrm>
              <a:off x="8516023" y="1746805"/>
              <a:ext cx="2160000" cy="2160000"/>
            </a:xfrm>
            <a:prstGeom prst="ellipse">
              <a:avLst/>
            </a:prstGeom>
            <a:solidFill>
              <a:schemeClr val="bg1"/>
            </a:solid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pic>
          <p:nvPicPr>
            <p:cNvPr id="100" name="Picture 9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58857" y="2900918"/>
              <a:ext cx="1092760" cy="639513"/>
            </a:xfrm>
            <a:prstGeom prst="rect">
              <a:avLst/>
            </a:prstGeom>
          </p:spPr>
        </p:pic>
        <p:sp>
          <p:nvSpPr>
            <p:cNvPr id="116" name="TextBox 115"/>
            <p:cNvSpPr txBox="1"/>
            <p:nvPr/>
          </p:nvSpPr>
          <p:spPr>
            <a:xfrm>
              <a:off x="8644536" y="2132521"/>
              <a:ext cx="1950135" cy="523220"/>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Merchandising Analytics</a:t>
              </a:r>
            </a:p>
          </p:txBody>
        </p:sp>
      </p:grpSp>
      <p:grpSp>
        <p:nvGrpSpPr>
          <p:cNvPr id="127" name="Group 126"/>
          <p:cNvGrpSpPr/>
          <p:nvPr/>
        </p:nvGrpSpPr>
        <p:grpSpPr>
          <a:xfrm>
            <a:off x="7104594" y="1637689"/>
            <a:ext cx="2595070" cy="2160000"/>
            <a:chOff x="1610224" y="3047583"/>
            <a:chExt cx="2595070" cy="2160000"/>
          </a:xfrm>
        </p:grpSpPr>
        <p:sp>
          <p:nvSpPr>
            <p:cNvPr id="123" name="Oval 122"/>
            <p:cNvSpPr/>
            <p:nvPr/>
          </p:nvSpPr>
          <p:spPr>
            <a:xfrm>
              <a:off x="1827759" y="3047583"/>
              <a:ext cx="2160000" cy="2160000"/>
            </a:xfrm>
            <a:prstGeom prst="ellipse">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pic>
          <p:nvPicPr>
            <p:cNvPr id="112" name="Picture 1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45295" y="4102271"/>
              <a:ext cx="838026" cy="789641"/>
            </a:xfrm>
            <a:prstGeom prst="rect">
              <a:avLst/>
            </a:prstGeom>
          </p:spPr>
        </p:pic>
        <p:sp>
          <p:nvSpPr>
            <p:cNvPr id="122" name="TextBox 121"/>
            <p:cNvSpPr txBox="1"/>
            <p:nvPr/>
          </p:nvSpPr>
          <p:spPr>
            <a:xfrm>
              <a:off x="1610224" y="3130334"/>
              <a:ext cx="2595070" cy="738664"/>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Pricing &amp; </a:t>
              </a:r>
            </a:p>
            <a:p>
              <a:pPr algn="ctr">
                <a:defRPr/>
              </a:pPr>
              <a:r>
                <a:rPr lang="en-IN" sz="1400" kern="0">
                  <a:solidFill>
                    <a:sysClr val="windowText" lastClr="000000"/>
                  </a:solidFill>
                  <a:latin typeface="Century Gothic" panose="020B0502020202020204" pitchFamily="34" charset="0"/>
                </a:rPr>
                <a:t>Promotions </a:t>
              </a:r>
            </a:p>
            <a:p>
              <a:pPr algn="ctr">
                <a:defRPr/>
              </a:pPr>
              <a:r>
                <a:rPr lang="en-IN" sz="1400" kern="0">
                  <a:solidFill>
                    <a:sysClr val="windowText" lastClr="000000"/>
                  </a:solidFill>
                  <a:latin typeface="Century Gothic" panose="020B0502020202020204" pitchFamily="34" charset="0"/>
                </a:rPr>
                <a:t>Analytics</a:t>
              </a:r>
            </a:p>
          </p:txBody>
        </p:sp>
      </p:grpSp>
      <p:sp>
        <p:nvSpPr>
          <p:cNvPr id="129" name="Arc 128"/>
          <p:cNvSpPr/>
          <p:nvPr/>
        </p:nvSpPr>
        <p:spPr>
          <a:xfrm rot="14858471">
            <a:off x="1209572" y="1621837"/>
            <a:ext cx="1800000" cy="1800000"/>
          </a:xfrm>
          <a:prstGeom prst="arc">
            <a:avLst>
              <a:gd name="adj1" fmla="val 16767746"/>
              <a:gd name="adj2" fmla="val 3628973"/>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sp>
        <p:nvSpPr>
          <p:cNvPr id="130" name="Arc 129"/>
          <p:cNvSpPr/>
          <p:nvPr/>
        </p:nvSpPr>
        <p:spPr>
          <a:xfrm rot="8524516">
            <a:off x="4265637" y="1772788"/>
            <a:ext cx="1800000" cy="1800000"/>
          </a:xfrm>
          <a:prstGeom prst="arc">
            <a:avLst>
              <a:gd name="adj1" fmla="val 19418203"/>
              <a:gd name="adj2" fmla="val 551807"/>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078245" y="291779"/>
              <a:ext cx="6035627" cy="523220"/>
            </a:xfrm>
            <a:prstGeom prst="rect">
              <a:avLst/>
            </a:prstGeom>
            <a:solidFill>
              <a:schemeClr val="bg1"/>
            </a:solidFill>
          </p:spPr>
          <p:txBody>
            <a:bodyPr wrap="none" anchor="ctr">
              <a:spAutoFit/>
            </a:bodyPr>
            <a:lstStyle/>
            <a:p>
              <a:pPr algn="ctr">
                <a:defRPr/>
              </a:pPr>
              <a:r>
                <a:rPr lang="en-IN" sz="2800" b="1" kern="0">
                  <a:solidFill>
                    <a:srgbClr val="0070C0"/>
                  </a:solidFill>
                  <a:latin typeface="Leelawadee UI" panose="020B0502040204020203" pitchFamily="34" charset="-34"/>
                  <a:cs typeface="Leelawadee UI" panose="020B0502040204020203" pitchFamily="34" charset="-34"/>
                </a:rPr>
                <a:t>Engagement Overview with Croma</a:t>
              </a:r>
            </a:p>
          </p:txBody>
        </p:sp>
      </p:grpSp>
      <p:grpSp>
        <p:nvGrpSpPr>
          <p:cNvPr id="37" name="Group 36"/>
          <p:cNvGrpSpPr/>
          <p:nvPr/>
        </p:nvGrpSpPr>
        <p:grpSpPr>
          <a:xfrm>
            <a:off x="9472265" y="2819201"/>
            <a:ext cx="2595070" cy="2160000"/>
            <a:chOff x="1600360" y="3047583"/>
            <a:chExt cx="2595070" cy="2160000"/>
          </a:xfrm>
        </p:grpSpPr>
        <p:sp>
          <p:nvSpPr>
            <p:cNvPr id="38" name="Oval 37"/>
            <p:cNvSpPr/>
            <p:nvPr/>
          </p:nvSpPr>
          <p:spPr>
            <a:xfrm>
              <a:off x="1827759" y="3047583"/>
              <a:ext cx="2160000" cy="2160000"/>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sp>
          <p:nvSpPr>
            <p:cNvPr id="40" name="TextBox 39"/>
            <p:cNvSpPr txBox="1"/>
            <p:nvPr/>
          </p:nvSpPr>
          <p:spPr>
            <a:xfrm>
              <a:off x="1600360" y="3252718"/>
              <a:ext cx="2595070" cy="523220"/>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Campaigns</a:t>
              </a:r>
            </a:p>
            <a:p>
              <a:pPr algn="ctr">
                <a:defRPr/>
              </a:pPr>
              <a:r>
                <a:rPr lang="en-IN" sz="1400" kern="0">
                  <a:solidFill>
                    <a:sysClr val="windowText" lastClr="000000"/>
                  </a:solidFill>
                  <a:latin typeface="Century Gothic" panose="020B0502020202020204" pitchFamily="34" charset="0"/>
                </a:rPr>
                <a:t>Analytics</a:t>
              </a:r>
            </a:p>
          </p:txBody>
        </p:sp>
      </p:grpSp>
      <p:pic>
        <p:nvPicPr>
          <p:cNvPr id="47" name="Picture 46"/>
          <p:cNvPicPr>
            <a:picLocks noChangeAspect="1"/>
          </p:cNvPicPr>
          <p:nvPr/>
        </p:nvPicPr>
        <p:blipFill>
          <a:blip r:embed="rId5" cstate="print">
            <a:duotone>
              <a:prstClr val="black"/>
              <a:schemeClr val="accent1">
                <a:tint val="45000"/>
                <a:satMod val="400000"/>
              </a:schemeClr>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rot="19628002">
            <a:off x="10195609" y="3887926"/>
            <a:ext cx="530155" cy="318657"/>
          </a:xfrm>
          <a:prstGeom prst="rect">
            <a:avLst/>
          </a:prstGeom>
        </p:spPr>
      </p:pic>
      <p:pic>
        <p:nvPicPr>
          <p:cNvPr id="48" name="Picture 47"/>
          <p:cNvPicPr>
            <a:picLocks noChangeAspect="1"/>
          </p:cNvPicPr>
          <p:nvPr/>
        </p:nvPicPr>
        <p:blipFill>
          <a:blip r:embed="rId7"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rot="1374490">
            <a:off x="10560464" y="3886658"/>
            <a:ext cx="530155" cy="318657"/>
          </a:xfrm>
          <a:prstGeom prst="rect">
            <a:avLst/>
          </a:prstGeom>
        </p:spPr>
      </p:pic>
      <p:pic>
        <p:nvPicPr>
          <p:cNvPr id="49" name="Picture 48"/>
          <p:cNvPicPr>
            <a:picLocks noChangeAspect="1"/>
          </p:cNvPicPr>
          <p:nvPr/>
        </p:nvPicPr>
        <p:blipFill>
          <a:blip r:embed="rId8" cstate="print">
            <a:duotone>
              <a:prstClr val="black"/>
              <a:schemeClr val="accent1">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rot="19628002">
            <a:off x="10980651" y="3954229"/>
            <a:ext cx="530155" cy="318657"/>
          </a:xfrm>
          <a:prstGeom prst="rect">
            <a:avLst/>
          </a:prstGeom>
        </p:spPr>
      </p:pic>
      <p:pic>
        <p:nvPicPr>
          <p:cNvPr id="46" name="Picture 4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519351" y="4030211"/>
            <a:ext cx="583048" cy="604757"/>
          </a:xfrm>
          <a:prstGeom prst="rect">
            <a:avLst/>
          </a:prstGeom>
        </p:spPr>
      </p:pic>
      <p:sp>
        <p:nvSpPr>
          <p:cNvPr id="50" name="Arc 49"/>
          <p:cNvSpPr/>
          <p:nvPr/>
        </p:nvSpPr>
        <p:spPr>
          <a:xfrm rot="8524516" flipH="1" flipV="1">
            <a:off x="8297585" y="3055477"/>
            <a:ext cx="1800000" cy="1800000"/>
          </a:xfrm>
          <a:prstGeom prst="arc">
            <a:avLst>
              <a:gd name="adj1" fmla="val 19418203"/>
              <a:gd name="adj2" fmla="val 21470461"/>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sp>
        <p:nvSpPr>
          <p:cNvPr id="61" name="TextBox 60"/>
          <p:cNvSpPr txBox="1"/>
          <p:nvPr/>
        </p:nvSpPr>
        <p:spPr>
          <a:xfrm>
            <a:off x="9625274" y="4979780"/>
            <a:ext cx="2289051" cy="738664"/>
          </a:xfrm>
          <a:prstGeom prst="rect">
            <a:avLst/>
          </a:prstGeom>
          <a:noFill/>
        </p:spPr>
        <p:txBody>
          <a:bodyPr wrap="square" rtlCol="0">
            <a:spAutoFit/>
          </a:bodyPr>
          <a:lstStyle/>
          <a:p>
            <a:pPr algn="ctr">
              <a:defRPr/>
            </a:pPr>
            <a:r>
              <a:rPr lang="en-IN" sz="1400" kern="0" dirty="0">
                <a:solidFill>
                  <a:srgbClr val="002060"/>
                </a:solidFill>
                <a:latin typeface="Century Gothic" panose="020B0502020202020204" pitchFamily="34" charset="0"/>
              </a:rPr>
              <a:t>Model-based Campaigns to drive targeted response rates</a:t>
            </a:r>
          </a:p>
        </p:txBody>
      </p:sp>
      <p:sp>
        <p:nvSpPr>
          <p:cNvPr id="62" name="TextBox 61"/>
          <p:cNvSpPr txBox="1"/>
          <p:nvPr/>
        </p:nvSpPr>
        <p:spPr>
          <a:xfrm>
            <a:off x="9240421" y="5762711"/>
            <a:ext cx="2928315" cy="584775"/>
          </a:xfrm>
          <a:prstGeom prst="rect">
            <a:avLst/>
          </a:prstGeom>
          <a:noFill/>
        </p:spPr>
        <p:txBody>
          <a:bodyPr wrap="square" rtlCol="0">
            <a:spAutoFit/>
          </a:bodyPr>
          <a:lstStyle/>
          <a:p>
            <a:pPr algn="ctr">
              <a:defRPr/>
            </a:pPr>
            <a:r>
              <a:rPr lang="en-US" sz="1600" b="1" kern="0" dirty="0">
                <a:solidFill>
                  <a:sysClr val="windowText" lastClr="000000"/>
                </a:solidFill>
                <a:latin typeface="Century Gothic" panose="020B0502020202020204" pitchFamily="34" charset="0"/>
              </a:rPr>
              <a:t>INR 6.8 Cr in incremental revenue</a:t>
            </a:r>
          </a:p>
        </p:txBody>
      </p:sp>
      <p:grpSp>
        <p:nvGrpSpPr>
          <p:cNvPr id="2" name="Group 1"/>
          <p:cNvGrpSpPr/>
          <p:nvPr/>
        </p:nvGrpSpPr>
        <p:grpSpPr>
          <a:xfrm>
            <a:off x="2477763" y="1379777"/>
            <a:ext cx="2289051" cy="2943525"/>
            <a:chOff x="2368742" y="995657"/>
            <a:chExt cx="2289051" cy="2943525"/>
          </a:xfrm>
        </p:grpSpPr>
        <p:grpSp>
          <p:nvGrpSpPr>
            <p:cNvPr id="128" name="Group 127"/>
            <p:cNvGrpSpPr/>
            <p:nvPr/>
          </p:nvGrpSpPr>
          <p:grpSpPr>
            <a:xfrm>
              <a:off x="2384878" y="995657"/>
              <a:ext cx="2160000" cy="2160000"/>
              <a:chOff x="290206" y="604120"/>
              <a:chExt cx="2160000" cy="2160000"/>
            </a:xfrm>
          </p:grpSpPr>
          <p:sp>
            <p:nvSpPr>
              <p:cNvPr id="115" name="Oval 114"/>
              <p:cNvSpPr/>
              <p:nvPr/>
            </p:nvSpPr>
            <p:spPr>
              <a:xfrm>
                <a:off x="290206" y="604120"/>
                <a:ext cx="2160000" cy="2160000"/>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pic>
            <p:nvPicPr>
              <p:cNvPr id="27" name="Picture 2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0915" y="1466580"/>
                <a:ext cx="1070145" cy="832728"/>
              </a:xfrm>
              <a:prstGeom prst="rect">
                <a:avLst/>
              </a:prstGeom>
            </p:spPr>
          </p:pic>
          <p:sp>
            <p:nvSpPr>
              <p:cNvPr id="113" name="TextBox 112"/>
              <p:cNvSpPr txBox="1"/>
              <p:nvPr/>
            </p:nvSpPr>
            <p:spPr>
              <a:xfrm>
                <a:off x="541801" y="933890"/>
                <a:ext cx="1675172" cy="307777"/>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Store Analytics</a:t>
                </a:r>
              </a:p>
            </p:txBody>
          </p:sp>
        </p:grpSp>
        <p:sp>
          <p:nvSpPr>
            <p:cNvPr id="65" name="TextBox 64"/>
            <p:cNvSpPr txBox="1"/>
            <p:nvPr/>
          </p:nvSpPr>
          <p:spPr>
            <a:xfrm>
              <a:off x="2368742" y="3200518"/>
              <a:ext cx="2289051" cy="738664"/>
            </a:xfrm>
            <a:prstGeom prst="rect">
              <a:avLst/>
            </a:prstGeom>
            <a:noFill/>
            <a:ln>
              <a:noFill/>
            </a:ln>
          </p:spPr>
          <p:txBody>
            <a:bodyPr wrap="square" rtlCol="0">
              <a:spAutoFit/>
            </a:bodyPr>
            <a:lstStyle/>
            <a:p>
              <a:pPr algn="ctr">
                <a:defRPr/>
              </a:pPr>
              <a:r>
                <a:rPr lang="en-US" sz="1400" kern="0">
                  <a:solidFill>
                    <a:srgbClr val="FF0066"/>
                  </a:solidFill>
                  <a:latin typeface="Century Gothic" panose="020B0502020202020204" pitchFamily="34" charset="0"/>
                </a:rPr>
                <a:t>Location Planning for Hyderabad</a:t>
              </a:r>
            </a:p>
            <a:p>
              <a:pPr algn="ctr">
                <a:defRPr/>
              </a:pPr>
              <a:r>
                <a:rPr lang="en-US" sz="1400" kern="0">
                  <a:solidFill>
                    <a:srgbClr val="FF0066"/>
                  </a:solidFill>
                  <a:latin typeface="Century Gothic" panose="020B0502020202020204" pitchFamily="34" charset="0"/>
                </a:rPr>
                <a:t>Store Launch </a:t>
              </a:r>
              <a:endParaRPr lang="en-IN" sz="1400" kern="0">
                <a:solidFill>
                  <a:srgbClr val="FF0066"/>
                </a:solidFill>
                <a:latin typeface="Century Gothic" panose="020B0502020202020204" pitchFamily="34" charset="0"/>
              </a:endParaRPr>
            </a:p>
          </p:txBody>
        </p:sp>
      </p:grpSp>
      <p:sp>
        <p:nvSpPr>
          <p:cNvPr id="66" name="TextBox 65"/>
          <p:cNvSpPr txBox="1"/>
          <p:nvPr/>
        </p:nvSpPr>
        <p:spPr>
          <a:xfrm>
            <a:off x="2350085" y="4570673"/>
            <a:ext cx="2499028" cy="584775"/>
          </a:xfrm>
          <a:prstGeom prst="rect">
            <a:avLst/>
          </a:prstGeom>
          <a:noFill/>
        </p:spPr>
        <p:txBody>
          <a:bodyPr wrap="square" rtlCol="0">
            <a:spAutoFit/>
          </a:bodyPr>
          <a:lstStyle/>
          <a:p>
            <a:pPr algn="ctr">
              <a:defRPr/>
            </a:pPr>
            <a:r>
              <a:rPr lang="en-US" sz="1600" b="1" kern="0" dirty="0">
                <a:solidFill>
                  <a:sysClr val="windowText" lastClr="000000"/>
                </a:solidFill>
                <a:latin typeface="Century Gothic" panose="020B0502020202020204" pitchFamily="34" charset="0"/>
              </a:rPr>
              <a:t>INR 4 Cr in incremental annual revenue</a:t>
            </a:r>
            <a:endParaRPr lang="en-US" sz="1600" kern="0" dirty="0">
              <a:solidFill>
                <a:sysClr val="windowText" lastClr="000000"/>
              </a:solidFill>
              <a:latin typeface="Century Gothic" panose="020B0502020202020204" pitchFamily="34" charset="0"/>
            </a:endParaRPr>
          </a:p>
        </p:txBody>
      </p:sp>
      <p:sp>
        <p:nvSpPr>
          <p:cNvPr id="67" name="TextBox 66"/>
          <p:cNvSpPr txBox="1"/>
          <p:nvPr/>
        </p:nvSpPr>
        <p:spPr>
          <a:xfrm>
            <a:off x="7253331" y="3871251"/>
            <a:ext cx="2289051" cy="523220"/>
          </a:xfrm>
          <a:prstGeom prst="rect">
            <a:avLst/>
          </a:prstGeom>
          <a:noFill/>
        </p:spPr>
        <p:txBody>
          <a:bodyPr wrap="square" rtlCol="0">
            <a:spAutoFit/>
          </a:bodyPr>
          <a:lstStyle/>
          <a:p>
            <a:pPr algn="ctr">
              <a:defRPr/>
            </a:pPr>
            <a:r>
              <a:rPr lang="en-IN" sz="1400" kern="0">
                <a:solidFill>
                  <a:srgbClr val="DF5327">
                    <a:lumMod val="75000"/>
                  </a:srgbClr>
                </a:solidFill>
                <a:latin typeface="Century Gothic" panose="020B0502020202020204" pitchFamily="34" charset="0"/>
              </a:rPr>
              <a:t>Price Optimization at an SKU and Category Level</a:t>
            </a:r>
          </a:p>
        </p:txBody>
      </p:sp>
      <p:sp>
        <p:nvSpPr>
          <p:cNvPr id="69" name="TextBox 68"/>
          <p:cNvSpPr txBox="1"/>
          <p:nvPr/>
        </p:nvSpPr>
        <p:spPr>
          <a:xfrm>
            <a:off x="4832281" y="4679486"/>
            <a:ext cx="2289051" cy="738664"/>
          </a:xfrm>
          <a:prstGeom prst="rect">
            <a:avLst/>
          </a:prstGeom>
          <a:noFill/>
        </p:spPr>
        <p:txBody>
          <a:bodyPr wrap="square" rtlCol="0">
            <a:spAutoFit/>
          </a:bodyPr>
          <a:lstStyle/>
          <a:p>
            <a:pPr algn="ctr">
              <a:defRPr/>
            </a:pPr>
            <a:r>
              <a:rPr lang="en-US" sz="1400" kern="0">
                <a:solidFill>
                  <a:srgbClr val="7030A0"/>
                </a:solidFill>
                <a:latin typeface="Century Gothic" panose="020B0502020202020204" pitchFamily="34" charset="0"/>
              </a:rPr>
              <a:t>Area Compromised Store Assortment Optimization</a:t>
            </a:r>
            <a:endParaRPr lang="en-IN" sz="1400" kern="0">
              <a:solidFill>
                <a:srgbClr val="7030A0"/>
              </a:solidFill>
              <a:latin typeface="Century Gothic" panose="020B0502020202020204" pitchFamily="34" charset="0"/>
            </a:endParaRPr>
          </a:p>
        </p:txBody>
      </p:sp>
      <p:grpSp>
        <p:nvGrpSpPr>
          <p:cNvPr id="4" name="Group 3"/>
          <p:cNvGrpSpPr/>
          <p:nvPr/>
        </p:nvGrpSpPr>
        <p:grpSpPr>
          <a:xfrm>
            <a:off x="174088" y="2725054"/>
            <a:ext cx="2289051" cy="2982457"/>
            <a:chOff x="174088" y="2261410"/>
            <a:chExt cx="2289051" cy="2982457"/>
          </a:xfrm>
        </p:grpSpPr>
        <p:grpSp>
          <p:nvGrpSpPr>
            <p:cNvPr id="126" name="Group 125"/>
            <p:cNvGrpSpPr/>
            <p:nvPr/>
          </p:nvGrpSpPr>
          <p:grpSpPr>
            <a:xfrm>
              <a:off x="275196" y="2261410"/>
              <a:ext cx="2160000" cy="2160000"/>
              <a:chOff x="4678563" y="2151782"/>
              <a:chExt cx="2160000" cy="2160000"/>
            </a:xfrm>
          </p:grpSpPr>
          <p:sp>
            <p:nvSpPr>
              <p:cNvPr id="120" name="Oval 119"/>
              <p:cNvSpPr/>
              <p:nvPr/>
            </p:nvSpPr>
            <p:spPr>
              <a:xfrm>
                <a:off x="4678563" y="2151782"/>
                <a:ext cx="2160000" cy="2160000"/>
              </a:xfrm>
              <a:prstGeom prst="ellipse">
                <a:avLst/>
              </a:prstGeom>
              <a:solidFill>
                <a:schemeClr val="bg1"/>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grpSp>
            <p:nvGrpSpPr>
              <p:cNvPr id="56" name="Group 55"/>
              <p:cNvGrpSpPr>
                <a:grpSpLocks noChangeAspect="1"/>
              </p:cNvGrpSpPr>
              <p:nvPr/>
            </p:nvGrpSpPr>
            <p:grpSpPr>
              <a:xfrm>
                <a:off x="5229215" y="2962236"/>
                <a:ext cx="967502" cy="1003605"/>
                <a:chOff x="1047483" y="1053252"/>
                <a:chExt cx="5226167" cy="5421188"/>
              </a:xfrm>
            </p:grpSpPr>
            <p:pic>
              <p:nvPicPr>
                <p:cNvPr id="54" name="Picture 5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47483" y="1053252"/>
                  <a:ext cx="3708102" cy="4609478"/>
                </a:xfrm>
                <a:prstGeom prst="rect">
                  <a:avLst/>
                </a:prstGeom>
              </p:spPr>
            </p:pic>
            <p:pic>
              <p:nvPicPr>
                <p:cNvPr id="55" name="Picture 5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873337" y="1505878"/>
                  <a:ext cx="3400313" cy="4968562"/>
                </a:xfrm>
                <a:prstGeom prst="rect">
                  <a:avLst/>
                </a:prstGeom>
              </p:spPr>
            </p:pic>
          </p:grpSp>
          <p:sp>
            <p:nvSpPr>
              <p:cNvPr id="119" name="TextBox 118"/>
              <p:cNvSpPr txBox="1"/>
              <p:nvPr/>
            </p:nvSpPr>
            <p:spPr>
              <a:xfrm>
                <a:off x="4776098" y="2546199"/>
                <a:ext cx="1950135" cy="307777"/>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Customer Analytics</a:t>
                </a:r>
              </a:p>
            </p:txBody>
          </p:sp>
        </p:grpSp>
        <p:sp>
          <p:nvSpPr>
            <p:cNvPr id="71" name="TextBox 70"/>
            <p:cNvSpPr txBox="1"/>
            <p:nvPr/>
          </p:nvSpPr>
          <p:spPr>
            <a:xfrm>
              <a:off x="174088" y="4505203"/>
              <a:ext cx="2289051" cy="738664"/>
            </a:xfrm>
            <a:prstGeom prst="rect">
              <a:avLst/>
            </a:prstGeom>
            <a:noFill/>
          </p:spPr>
          <p:txBody>
            <a:bodyPr wrap="square" rtlCol="0">
              <a:spAutoFit/>
            </a:bodyPr>
            <a:lstStyle/>
            <a:p>
              <a:pPr algn="ctr">
                <a:defRPr/>
              </a:pPr>
              <a:r>
                <a:rPr lang="en-US" sz="1400" kern="0">
                  <a:solidFill>
                    <a:srgbClr val="FF0000"/>
                  </a:solidFill>
                  <a:latin typeface="Century Gothic" panose="020B0502020202020204" pitchFamily="34" charset="0"/>
                </a:rPr>
                <a:t>Purchase Propensity models recommended targets for campaigns</a:t>
              </a:r>
            </a:p>
          </p:txBody>
        </p:sp>
      </p:grpSp>
      <p:sp>
        <p:nvSpPr>
          <p:cNvPr id="51" name="Text Placeholder 5"/>
          <p:cNvSpPr txBox="1">
            <a:spLocks/>
          </p:cNvSpPr>
          <p:nvPr/>
        </p:nvSpPr>
        <p:spPr>
          <a:xfrm>
            <a:off x="245021" y="659273"/>
            <a:ext cx="11539150" cy="61684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Clr>
                <a:srgbClr val="418AB3"/>
              </a:buClr>
              <a:buFont typeface="Wingdings 3" charset="2"/>
              <a:buNone/>
              <a:defRPr/>
            </a:pPr>
            <a:r>
              <a:rPr lang="en-IN">
                <a:solidFill>
                  <a:srgbClr val="0070C0"/>
                </a:solidFill>
              </a:rPr>
              <a:t>Tata </a:t>
            </a:r>
            <a:r>
              <a:rPr lang="en-IN" err="1">
                <a:solidFill>
                  <a:srgbClr val="0070C0"/>
                </a:solidFill>
              </a:rPr>
              <a:t>iQ</a:t>
            </a:r>
            <a:r>
              <a:rPr lang="en-IN">
                <a:solidFill>
                  <a:srgbClr val="0070C0"/>
                </a:solidFill>
              </a:rPr>
              <a:t> replaced existing 3rd party analytic solution provider in April, 2016 and is currently engaged across the entire spectrum of its business that has already yielded significant business impacts.   </a:t>
            </a:r>
          </a:p>
        </p:txBody>
      </p:sp>
      <p:cxnSp>
        <p:nvCxnSpPr>
          <p:cNvPr id="52" name="Straight Connector 51"/>
          <p:cNvCxnSpPr/>
          <p:nvPr/>
        </p:nvCxnSpPr>
        <p:spPr>
          <a:xfrm>
            <a:off x="326187" y="1289001"/>
            <a:ext cx="11457984"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1170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Arc 139"/>
          <p:cNvSpPr/>
          <p:nvPr/>
        </p:nvSpPr>
        <p:spPr>
          <a:xfrm rot="14858471" flipH="1">
            <a:off x="4866415" y="1720336"/>
            <a:ext cx="2068828" cy="2184783"/>
          </a:xfrm>
          <a:prstGeom prst="arc">
            <a:avLst>
              <a:gd name="adj1" fmla="val 16767746"/>
              <a:gd name="adj2" fmla="val 3925892"/>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sp>
        <p:nvSpPr>
          <p:cNvPr id="131" name="Arc 130"/>
          <p:cNvSpPr/>
          <p:nvPr/>
        </p:nvSpPr>
        <p:spPr>
          <a:xfrm rot="14863476">
            <a:off x="8111886" y="1317570"/>
            <a:ext cx="1800000" cy="1927318"/>
          </a:xfrm>
          <a:prstGeom prst="arc">
            <a:avLst>
              <a:gd name="adj1" fmla="val 16767746"/>
              <a:gd name="adj2" fmla="val 4622452"/>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pic>
        <p:nvPicPr>
          <p:cNvPr id="6" name="Picture 5"/>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flipH="1">
            <a:off x="-6899" y="6378301"/>
            <a:ext cx="12192000" cy="232833"/>
          </a:xfrm>
          <a:prstGeom prst="rect">
            <a:avLst/>
          </a:prstGeom>
        </p:spPr>
      </p:pic>
      <p:grpSp>
        <p:nvGrpSpPr>
          <p:cNvPr id="125" name="Group 124"/>
          <p:cNvGrpSpPr/>
          <p:nvPr/>
        </p:nvGrpSpPr>
        <p:grpSpPr>
          <a:xfrm>
            <a:off x="6389780" y="2250604"/>
            <a:ext cx="2309147" cy="2743731"/>
            <a:chOff x="8366876" y="1746805"/>
            <a:chExt cx="2309147" cy="2743731"/>
          </a:xfrm>
          <a:solidFill>
            <a:schemeClr val="bg1"/>
          </a:solidFill>
        </p:grpSpPr>
        <p:sp>
          <p:nvSpPr>
            <p:cNvPr id="118" name="TextBox 117"/>
            <p:cNvSpPr txBox="1"/>
            <p:nvPr/>
          </p:nvSpPr>
          <p:spPr>
            <a:xfrm>
              <a:off x="8366876" y="4028871"/>
              <a:ext cx="2289051" cy="461665"/>
            </a:xfrm>
            <a:prstGeom prst="rect">
              <a:avLst/>
            </a:prstGeom>
            <a:grpFill/>
          </p:spPr>
          <p:txBody>
            <a:bodyPr wrap="square" rtlCol="0">
              <a:spAutoFit/>
            </a:bodyPr>
            <a:lstStyle/>
            <a:p>
              <a:pPr algn="ctr">
                <a:defRPr/>
              </a:pPr>
              <a:r>
                <a:rPr lang="en-IN" sz="1200" kern="0">
                  <a:solidFill>
                    <a:srgbClr val="DF5327">
                      <a:lumMod val="75000"/>
                    </a:srgbClr>
                  </a:solidFill>
                  <a:latin typeface="Century Gothic" panose="020B0502020202020204" pitchFamily="34" charset="0"/>
                </a:rPr>
                <a:t>Reactivation of Dormant Customers to drive cross-sell</a:t>
              </a:r>
            </a:p>
          </p:txBody>
        </p:sp>
        <p:sp>
          <p:nvSpPr>
            <p:cNvPr id="117" name="Oval 116"/>
            <p:cNvSpPr/>
            <p:nvPr/>
          </p:nvSpPr>
          <p:spPr>
            <a:xfrm>
              <a:off x="8516023" y="1746805"/>
              <a:ext cx="2160000" cy="216000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b="1" kern="0">
                <a:solidFill>
                  <a:srgbClr val="418AB3">
                    <a:lumMod val="75000"/>
                  </a:srgbClr>
                </a:solidFill>
              </a:endParaRPr>
            </a:p>
          </p:txBody>
        </p:sp>
        <p:sp>
          <p:nvSpPr>
            <p:cNvPr id="116" name="TextBox 115"/>
            <p:cNvSpPr txBox="1"/>
            <p:nvPr/>
          </p:nvSpPr>
          <p:spPr>
            <a:xfrm>
              <a:off x="8622711" y="1974234"/>
              <a:ext cx="1950135" cy="738664"/>
            </a:xfrm>
            <a:prstGeom prst="rect">
              <a:avLst/>
            </a:prstGeom>
            <a:noFill/>
          </p:spPr>
          <p:txBody>
            <a:bodyPr wrap="square" rtlCol="0">
              <a:spAutoFit/>
            </a:bodyPr>
            <a:lstStyle/>
            <a:p>
              <a:pPr algn="ctr">
                <a:defRPr/>
              </a:pPr>
              <a:r>
                <a:rPr lang="en-IN" sz="1400" kern="0">
                  <a:solidFill>
                    <a:srgbClr val="000000"/>
                  </a:solidFill>
                  <a:latin typeface="Century Gothic" panose="020B0502020202020204" pitchFamily="34" charset="0"/>
                </a:rPr>
                <a:t>Reactivation &amp; Lapsation Prevention</a:t>
              </a:r>
            </a:p>
          </p:txBody>
        </p:sp>
      </p:grpSp>
      <p:sp>
        <p:nvSpPr>
          <p:cNvPr id="129" name="Arc 128"/>
          <p:cNvSpPr/>
          <p:nvPr/>
        </p:nvSpPr>
        <p:spPr>
          <a:xfrm rot="14858471">
            <a:off x="1588549" y="1001096"/>
            <a:ext cx="1822374" cy="2267905"/>
          </a:xfrm>
          <a:prstGeom prst="arc">
            <a:avLst>
              <a:gd name="adj1" fmla="val 16767746"/>
              <a:gd name="adj2" fmla="val 5684473"/>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sp>
        <p:nvSpPr>
          <p:cNvPr id="130" name="Arc 129"/>
          <p:cNvSpPr/>
          <p:nvPr/>
        </p:nvSpPr>
        <p:spPr>
          <a:xfrm rot="8524516">
            <a:off x="4265637" y="1708393"/>
            <a:ext cx="1800000" cy="1800000"/>
          </a:xfrm>
          <a:prstGeom prst="arc">
            <a:avLst>
              <a:gd name="adj1" fmla="val 19418203"/>
              <a:gd name="adj2" fmla="val 551807"/>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IN" kern="0">
              <a:solidFill>
                <a:sysClr val="windowText" lastClr="000000"/>
              </a:solidFill>
            </a:endParaRPr>
          </a:p>
        </p:txBody>
      </p:sp>
      <p:grpSp>
        <p:nvGrpSpPr>
          <p:cNvPr id="31" name="Group 30"/>
          <p:cNvGrpSpPr/>
          <p:nvPr/>
        </p:nvGrpSpPr>
        <p:grpSpPr>
          <a:xfrm>
            <a:off x="1" y="237066"/>
            <a:ext cx="12192000" cy="523220"/>
            <a:chOff x="1" y="291779"/>
            <a:chExt cx="12192000" cy="523220"/>
          </a:xfrm>
        </p:grpSpPr>
        <p:cxnSp>
          <p:nvCxnSpPr>
            <p:cNvPr id="32" name="Straight Connector 31"/>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322709" y="291779"/>
              <a:ext cx="5546711" cy="523220"/>
            </a:xfrm>
            <a:prstGeom prst="rect">
              <a:avLst/>
            </a:prstGeom>
            <a:solidFill>
              <a:schemeClr val="bg1"/>
            </a:solidFill>
          </p:spPr>
          <p:txBody>
            <a:bodyPr wrap="none" anchor="ctr">
              <a:spAutoFit/>
            </a:bodyPr>
            <a:lstStyle/>
            <a:p>
              <a:pPr algn="ctr">
                <a:defRPr/>
              </a:pPr>
              <a:r>
                <a:rPr lang="en-IN" sz="2800" b="1" kern="0">
                  <a:solidFill>
                    <a:srgbClr val="0070C0"/>
                  </a:solidFill>
                  <a:latin typeface="Leelawadee UI" panose="020B0502040204020203" pitchFamily="34" charset="-34"/>
                  <a:cs typeface="Leelawadee UI" panose="020B0502040204020203" pitchFamily="34" charset="-34"/>
                </a:rPr>
                <a:t>Engagement Overview with AIA</a:t>
              </a:r>
            </a:p>
          </p:txBody>
        </p:sp>
      </p:grpSp>
      <p:grpSp>
        <p:nvGrpSpPr>
          <p:cNvPr id="4" name="Group 3"/>
          <p:cNvGrpSpPr/>
          <p:nvPr/>
        </p:nvGrpSpPr>
        <p:grpSpPr>
          <a:xfrm>
            <a:off x="153495" y="1861040"/>
            <a:ext cx="2289051" cy="3023691"/>
            <a:chOff x="261499" y="2261410"/>
            <a:chExt cx="2289051" cy="3023691"/>
          </a:xfrm>
          <a:solidFill>
            <a:schemeClr val="bg1"/>
          </a:solidFill>
        </p:grpSpPr>
        <p:grpSp>
          <p:nvGrpSpPr>
            <p:cNvPr id="126" name="Group 125"/>
            <p:cNvGrpSpPr/>
            <p:nvPr/>
          </p:nvGrpSpPr>
          <p:grpSpPr>
            <a:xfrm>
              <a:off x="275196" y="2261410"/>
              <a:ext cx="2160000" cy="2160000"/>
              <a:chOff x="4678563" y="2151782"/>
              <a:chExt cx="2160000" cy="2160000"/>
            </a:xfrm>
            <a:grpFill/>
          </p:grpSpPr>
          <p:sp>
            <p:nvSpPr>
              <p:cNvPr id="120" name="Oval 119"/>
              <p:cNvSpPr/>
              <p:nvPr/>
            </p:nvSpPr>
            <p:spPr>
              <a:xfrm>
                <a:off x="4678563" y="2151782"/>
                <a:ext cx="2160000" cy="2160000"/>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grpSp>
            <p:nvGrpSpPr>
              <p:cNvPr id="56" name="Group 55"/>
              <p:cNvGrpSpPr>
                <a:grpSpLocks noChangeAspect="1"/>
              </p:cNvGrpSpPr>
              <p:nvPr/>
            </p:nvGrpSpPr>
            <p:grpSpPr>
              <a:xfrm>
                <a:off x="5229215" y="2962236"/>
                <a:ext cx="967502" cy="1003605"/>
                <a:chOff x="1047483" y="1053252"/>
                <a:chExt cx="5226167" cy="5421188"/>
              </a:xfrm>
              <a:grpFill/>
            </p:grpSpPr>
            <p:pic>
              <p:nvPicPr>
                <p:cNvPr id="54" name="Picture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7483" y="1053252"/>
                  <a:ext cx="3708103" cy="4609478"/>
                </a:xfrm>
                <a:prstGeom prst="rect">
                  <a:avLst/>
                </a:prstGeom>
                <a:grpFill/>
              </p:spPr>
            </p:pic>
            <p:pic>
              <p:nvPicPr>
                <p:cNvPr id="55" name="Picture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73337" y="1505878"/>
                  <a:ext cx="3400313" cy="4968562"/>
                </a:xfrm>
                <a:prstGeom prst="rect">
                  <a:avLst/>
                </a:prstGeom>
                <a:grpFill/>
              </p:spPr>
            </p:pic>
          </p:grpSp>
          <p:sp>
            <p:nvSpPr>
              <p:cNvPr id="119" name="TextBox 118"/>
              <p:cNvSpPr txBox="1"/>
              <p:nvPr/>
            </p:nvSpPr>
            <p:spPr>
              <a:xfrm>
                <a:off x="4771784" y="2261086"/>
                <a:ext cx="1950135" cy="523220"/>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Customer </a:t>
                </a:r>
              </a:p>
              <a:p>
                <a:pPr algn="ctr">
                  <a:defRPr/>
                </a:pPr>
                <a:r>
                  <a:rPr lang="en-IN" sz="1400" kern="0">
                    <a:solidFill>
                      <a:sysClr val="windowText" lastClr="000000"/>
                    </a:solidFill>
                    <a:latin typeface="Century Gothic" panose="020B0502020202020204" pitchFamily="34" charset="0"/>
                  </a:rPr>
                  <a:t>Acquisition</a:t>
                </a:r>
              </a:p>
            </p:txBody>
          </p:sp>
        </p:grpSp>
        <p:sp>
          <p:nvSpPr>
            <p:cNvPr id="57" name="TextBox 56"/>
            <p:cNvSpPr txBox="1"/>
            <p:nvPr/>
          </p:nvSpPr>
          <p:spPr>
            <a:xfrm>
              <a:off x="261499" y="4454104"/>
              <a:ext cx="2289051" cy="830997"/>
            </a:xfrm>
            <a:prstGeom prst="rect">
              <a:avLst/>
            </a:prstGeom>
            <a:grpFill/>
          </p:spPr>
          <p:txBody>
            <a:bodyPr wrap="square" rtlCol="0">
              <a:spAutoFit/>
            </a:bodyPr>
            <a:lstStyle/>
            <a:p>
              <a:pPr algn="ctr">
                <a:defRPr/>
              </a:pPr>
              <a:r>
                <a:rPr lang="en-IN" sz="1200" kern="0">
                  <a:solidFill>
                    <a:srgbClr val="FF0000"/>
                  </a:solidFill>
                  <a:latin typeface="Century Gothic" panose="020B0502020202020204" pitchFamily="34" charset="0"/>
                </a:rPr>
                <a:t>Customer Acquisition Models (ML Techniques) to identify potential new customer </a:t>
              </a:r>
            </a:p>
          </p:txBody>
        </p:sp>
      </p:grpSp>
      <p:grpSp>
        <p:nvGrpSpPr>
          <p:cNvPr id="5" name="Group 4"/>
          <p:cNvGrpSpPr/>
          <p:nvPr/>
        </p:nvGrpSpPr>
        <p:grpSpPr>
          <a:xfrm>
            <a:off x="3304134" y="1394906"/>
            <a:ext cx="2160000" cy="3321126"/>
            <a:chOff x="2384878" y="995657"/>
            <a:chExt cx="2160000" cy="3321126"/>
          </a:xfrm>
          <a:solidFill>
            <a:schemeClr val="bg1"/>
          </a:solidFill>
        </p:grpSpPr>
        <p:sp>
          <p:nvSpPr>
            <p:cNvPr id="60" name="TextBox 59"/>
            <p:cNvSpPr txBox="1"/>
            <p:nvPr/>
          </p:nvSpPr>
          <p:spPr>
            <a:xfrm>
              <a:off x="2440472" y="3301120"/>
              <a:ext cx="2002913" cy="1015663"/>
            </a:xfrm>
            <a:prstGeom prst="rect">
              <a:avLst/>
            </a:prstGeom>
            <a:grpFill/>
          </p:spPr>
          <p:txBody>
            <a:bodyPr wrap="square" rtlCol="0">
              <a:spAutoFit/>
            </a:bodyPr>
            <a:lstStyle/>
            <a:p>
              <a:pPr algn="ctr">
                <a:defRPr/>
              </a:pPr>
              <a:r>
                <a:rPr lang="en-IN" sz="1200" kern="0">
                  <a:solidFill>
                    <a:srgbClr val="0070C0"/>
                  </a:solidFill>
                  <a:latin typeface="Century Gothic" panose="020B0502020202020204" pitchFamily="34" charset="0"/>
                </a:rPr>
                <a:t>Next Best Product Framework (ML Techniques) based on customer life-stage segmentation</a:t>
              </a:r>
            </a:p>
          </p:txBody>
        </p:sp>
        <p:grpSp>
          <p:nvGrpSpPr>
            <p:cNvPr id="128" name="Group 127"/>
            <p:cNvGrpSpPr/>
            <p:nvPr/>
          </p:nvGrpSpPr>
          <p:grpSpPr>
            <a:xfrm>
              <a:off x="2384878" y="995657"/>
              <a:ext cx="2160000" cy="2160000"/>
              <a:chOff x="290206" y="604120"/>
              <a:chExt cx="2160000" cy="2160000"/>
            </a:xfrm>
            <a:grpFill/>
          </p:grpSpPr>
          <p:sp>
            <p:nvSpPr>
              <p:cNvPr id="115" name="Oval 114"/>
              <p:cNvSpPr/>
              <p:nvPr/>
            </p:nvSpPr>
            <p:spPr>
              <a:xfrm>
                <a:off x="290206" y="604120"/>
                <a:ext cx="2160000" cy="2160000"/>
              </a:xfrm>
              <a:prstGeom prst="ellipse">
                <a:avLst/>
              </a:prstGeom>
              <a:grp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sp>
            <p:nvSpPr>
              <p:cNvPr id="113" name="TextBox 112"/>
              <p:cNvSpPr txBox="1"/>
              <p:nvPr/>
            </p:nvSpPr>
            <p:spPr>
              <a:xfrm>
                <a:off x="564412" y="972054"/>
                <a:ext cx="1675172" cy="523220"/>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Increasing Product Depth</a:t>
                </a:r>
              </a:p>
            </p:txBody>
          </p:sp>
        </p:grpSp>
      </p:grpSp>
      <p:grpSp>
        <p:nvGrpSpPr>
          <p:cNvPr id="11" name="Group 10"/>
          <p:cNvGrpSpPr/>
          <p:nvPr/>
        </p:nvGrpSpPr>
        <p:grpSpPr>
          <a:xfrm>
            <a:off x="17758" y="4773680"/>
            <a:ext cx="2394328" cy="799384"/>
            <a:chOff x="2358907" y="5226308"/>
            <a:chExt cx="2394328" cy="799384"/>
          </a:xfrm>
        </p:grpSpPr>
        <p:sp>
          <p:nvSpPr>
            <p:cNvPr id="69" name="TextBox 68"/>
            <p:cNvSpPr txBox="1"/>
            <p:nvPr/>
          </p:nvSpPr>
          <p:spPr bwMode="gray">
            <a:xfrm>
              <a:off x="2358907" y="5226308"/>
              <a:ext cx="1079292"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2</a:t>
              </a:r>
            </a:p>
          </p:txBody>
        </p:sp>
        <p:sp>
          <p:nvSpPr>
            <p:cNvPr id="70" name="TextBox 69"/>
            <p:cNvSpPr txBox="1"/>
            <p:nvPr/>
          </p:nvSpPr>
          <p:spPr bwMode="gray">
            <a:xfrm>
              <a:off x="2508226" y="5657038"/>
              <a:ext cx="1871273" cy="368654"/>
            </a:xfrm>
            <a:prstGeom prst="rect">
              <a:avLst/>
            </a:prstGeom>
          </p:spPr>
          <p:txBody>
            <a:bodyPr vert="horz" wrap="square" lIns="91440" tIns="45720" rIns="91440" bIns="45720" rtlCol="0" anchor="ctr">
              <a:noAutofit/>
            </a:bodyPr>
            <a:lstStyle/>
            <a:p>
              <a:pPr>
                <a:defRPr/>
              </a:pPr>
              <a:r>
                <a:rPr lang="en-US" sz="1600" b="1" kern="0">
                  <a:solidFill>
                    <a:srgbClr val="DDDDDD">
                      <a:lumMod val="10000"/>
                    </a:srgbClr>
                  </a:solidFill>
                </a:rPr>
                <a:t>Crores</a:t>
              </a:r>
            </a:p>
          </p:txBody>
        </p:sp>
        <p:pic>
          <p:nvPicPr>
            <p:cNvPr id="71" name="Picture 70"/>
            <p:cNvPicPr>
              <a:picLocks noChangeAspect="1"/>
            </p:cNvPicPr>
            <p:nvPr/>
          </p:nvPicPr>
          <p:blipFill>
            <a:blip r:embed="rId6" cstate="print">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551831" y="5390951"/>
              <a:ext cx="237059" cy="237059"/>
            </a:xfrm>
            <a:prstGeom prst="rect">
              <a:avLst/>
            </a:prstGeom>
          </p:spPr>
        </p:pic>
        <p:sp>
          <p:nvSpPr>
            <p:cNvPr id="72" name="TextBox 71"/>
            <p:cNvSpPr txBox="1"/>
            <p:nvPr/>
          </p:nvSpPr>
          <p:spPr>
            <a:xfrm>
              <a:off x="3111676" y="5385591"/>
              <a:ext cx="1641559" cy="523220"/>
            </a:xfrm>
            <a:prstGeom prst="rect">
              <a:avLst/>
            </a:prstGeom>
            <a:noFill/>
          </p:spPr>
          <p:txBody>
            <a:bodyPr wrap="square" rtlCol="0">
              <a:spAutoFit/>
            </a:bodyPr>
            <a:lstStyle/>
            <a:p>
              <a:pPr>
                <a:defRPr/>
              </a:pPr>
              <a:r>
                <a:rPr lang="en-IN" sz="1400" kern="0">
                  <a:solidFill>
                    <a:srgbClr val="DDDDDD">
                      <a:lumMod val="10000"/>
                    </a:srgbClr>
                  </a:solidFill>
                  <a:latin typeface="Century Gothic" panose="020B0502020202020204" pitchFamily="34" charset="0"/>
                </a:rPr>
                <a:t>N</a:t>
              </a:r>
              <a:r>
                <a:rPr lang="en-IN" sz="1400" kern="0" err="1">
                  <a:solidFill>
                    <a:srgbClr val="DDDDDD">
                      <a:lumMod val="10000"/>
                    </a:srgbClr>
                  </a:solidFill>
                  <a:latin typeface="Century Gothic" panose="020B0502020202020204" pitchFamily="34" charset="0"/>
                </a:rPr>
                <a:t>ew</a:t>
              </a:r>
              <a:r>
                <a:rPr lang="en-IN" sz="1400" kern="0">
                  <a:solidFill>
                    <a:srgbClr val="DDDDDD">
                      <a:lumMod val="10000"/>
                    </a:srgbClr>
                  </a:solidFill>
                  <a:latin typeface="Century Gothic" panose="020B0502020202020204" pitchFamily="34" charset="0"/>
                </a:rPr>
                <a:t> Annual Premiums</a:t>
              </a:r>
            </a:p>
          </p:txBody>
        </p:sp>
      </p:grpSp>
      <p:grpSp>
        <p:nvGrpSpPr>
          <p:cNvPr id="73" name="Group 72"/>
          <p:cNvGrpSpPr/>
          <p:nvPr/>
        </p:nvGrpSpPr>
        <p:grpSpPr>
          <a:xfrm>
            <a:off x="17758" y="5482444"/>
            <a:ext cx="2747690" cy="811540"/>
            <a:chOff x="2623408" y="4923146"/>
            <a:chExt cx="2747690" cy="811540"/>
          </a:xfrm>
        </p:grpSpPr>
        <p:sp>
          <p:nvSpPr>
            <p:cNvPr id="74" name="TextBox 73"/>
            <p:cNvSpPr txBox="1"/>
            <p:nvPr/>
          </p:nvSpPr>
          <p:spPr bwMode="gray">
            <a:xfrm>
              <a:off x="2623408" y="4923146"/>
              <a:ext cx="1079292"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20K</a:t>
              </a:r>
            </a:p>
          </p:txBody>
        </p:sp>
        <p:sp>
          <p:nvSpPr>
            <p:cNvPr id="75" name="TextBox 74"/>
            <p:cNvSpPr txBox="1"/>
            <p:nvPr/>
          </p:nvSpPr>
          <p:spPr bwMode="gray">
            <a:xfrm>
              <a:off x="2810154" y="5366032"/>
              <a:ext cx="1871273" cy="368654"/>
            </a:xfrm>
            <a:prstGeom prst="rect">
              <a:avLst/>
            </a:prstGeom>
          </p:spPr>
          <p:txBody>
            <a:bodyPr vert="horz" wrap="square" lIns="91440" tIns="45720" rIns="91440" bIns="45720" rtlCol="0" anchor="ctr">
              <a:noAutofit/>
            </a:bodyPr>
            <a:lstStyle/>
            <a:p>
              <a:pPr>
                <a:defRPr/>
              </a:pPr>
              <a:r>
                <a:rPr lang="en-US" sz="1600" b="1" kern="0">
                  <a:solidFill>
                    <a:srgbClr val="DDDDDD">
                      <a:lumMod val="10000"/>
                    </a:srgbClr>
                  </a:solidFill>
                </a:rPr>
                <a:t>Leads</a:t>
              </a:r>
            </a:p>
          </p:txBody>
        </p:sp>
        <p:sp>
          <p:nvSpPr>
            <p:cNvPr id="77" name="TextBox 76"/>
            <p:cNvSpPr txBox="1"/>
            <p:nvPr/>
          </p:nvSpPr>
          <p:spPr>
            <a:xfrm>
              <a:off x="3472291" y="5114181"/>
              <a:ext cx="1898807" cy="523220"/>
            </a:xfrm>
            <a:prstGeom prst="rect">
              <a:avLst/>
            </a:prstGeom>
            <a:noFill/>
          </p:spPr>
          <p:txBody>
            <a:bodyPr wrap="square" rtlCol="0">
              <a:spAutoFit/>
            </a:bodyPr>
            <a:lstStyle/>
            <a:p>
              <a:pPr>
                <a:defRPr/>
              </a:pPr>
              <a:r>
                <a:rPr lang="en-IN" sz="1400" kern="0">
                  <a:solidFill>
                    <a:srgbClr val="DDDDDD">
                      <a:lumMod val="10000"/>
                    </a:srgbClr>
                  </a:solidFill>
                  <a:latin typeface="Century Gothic" panose="020B0502020202020204" pitchFamily="34" charset="0"/>
                </a:rPr>
                <a:t>Driven by email Marketing</a:t>
              </a:r>
            </a:p>
          </p:txBody>
        </p:sp>
      </p:grpSp>
      <p:grpSp>
        <p:nvGrpSpPr>
          <p:cNvPr id="78" name="Group 77"/>
          <p:cNvGrpSpPr/>
          <p:nvPr/>
        </p:nvGrpSpPr>
        <p:grpSpPr>
          <a:xfrm>
            <a:off x="3251440" y="4610834"/>
            <a:ext cx="2394328" cy="813898"/>
            <a:chOff x="2358907" y="5298878"/>
            <a:chExt cx="2394328" cy="813898"/>
          </a:xfrm>
        </p:grpSpPr>
        <p:sp>
          <p:nvSpPr>
            <p:cNvPr id="79" name="TextBox 78"/>
            <p:cNvSpPr txBox="1"/>
            <p:nvPr/>
          </p:nvSpPr>
          <p:spPr bwMode="gray">
            <a:xfrm>
              <a:off x="2358907" y="5298878"/>
              <a:ext cx="1079292"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14</a:t>
              </a:r>
            </a:p>
          </p:txBody>
        </p:sp>
        <p:sp>
          <p:nvSpPr>
            <p:cNvPr id="80" name="TextBox 79"/>
            <p:cNvSpPr txBox="1"/>
            <p:nvPr/>
          </p:nvSpPr>
          <p:spPr bwMode="gray">
            <a:xfrm>
              <a:off x="2508226" y="5744122"/>
              <a:ext cx="1871273" cy="368654"/>
            </a:xfrm>
            <a:prstGeom prst="rect">
              <a:avLst/>
            </a:prstGeom>
          </p:spPr>
          <p:txBody>
            <a:bodyPr vert="horz" wrap="square" lIns="91440" tIns="45720" rIns="91440" bIns="45720" rtlCol="0" anchor="ctr">
              <a:noAutofit/>
            </a:bodyPr>
            <a:lstStyle/>
            <a:p>
              <a:pPr>
                <a:defRPr/>
              </a:pPr>
              <a:r>
                <a:rPr lang="en-US" sz="1600" b="1" kern="0">
                  <a:solidFill>
                    <a:srgbClr val="DDDDDD">
                      <a:lumMod val="10000"/>
                    </a:srgbClr>
                  </a:solidFill>
                </a:rPr>
                <a:t>Crores</a:t>
              </a:r>
            </a:p>
          </p:txBody>
        </p:sp>
        <p:pic>
          <p:nvPicPr>
            <p:cNvPr id="81" name="Picture 80"/>
            <p:cNvPicPr>
              <a:picLocks noChangeAspect="1"/>
            </p:cNvPicPr>
            <p:nvPr/>
          </p:nvPicPr>
          <p:blipFill>
            <a:blip r:embed="rId6" cstate="print">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488767" y="5478035"/>
              <a:ext cx="237059" cy="237059"/>
            </a:xfrm>
            <a:prstGeom prst="rect">
              <a:avLst/>
            </a:prstGeom>
          </p:spPr>
        </p:pic>
        <p:sp>
          <p:nvSpPr>
            <p:cNvPr id="82" name="TextBox 81"/>
            <p:cNvSpPr txBox="1"/>
            <p:nvPr/>
          </p:nvSpPr>
          <p:spPr>
            <a:xfrm>
              <a:off x="3111676" y="5443647"/>
              <a:ext cx="1641559" cy="523220"/>
            </a:xfrm>
            <a:prstGeom prst="rect">
              <a:avLst/>
            </a:prstGeom>
            <a:noFill/>
          </p:spPr>
          <p:txBody>
            <a:bodyPr wrap="square" rtlCol="0">
              <a:spAutoFit/>
            </a:bodyPr>
            <a:lstStyle/>
            <a:p>
              <a:pPr>
                <a:defRPr/>
              </a:pPr>
              <a:r>
                <a:rPr lang="en-IN" sz="1400" kern="0">
                  <a:solidFill>
                    <a:srgbClr val="DDDDDD">
                      <a:lumMod val="10000"/>
                    </a:srgbClr>
                  </a:solidFill>
                  <a:latin typeface="Century Gothic" panose="020B0502020202020204" pitchFamily="34" charset="0"/>
                </a:rPr>
                <a:t>N</a:t>
              </a:r>
              <a:r>
                <a:rPr lang="en-IN" sz="1400" kern="0" err="1">
                  <a:solidFill>
                    <a:srgbClr val="DDDDDD">
                      <a:lumMod val="10000"/>
                    </a:srgbClr>
                  </a:solidFill>
                  <a:latin typeface="Century Gothic" panose="020B0502020202020204" pitchFamily="34" charset="0"/>
                </a:rPr>
                <a:t>ew</a:t>
              </a:r>
              <a:r>
                <a:rPr lang="en-IN" sz="1400" kern="0">
                  <a:solidFill>
                    <a:srgbClr val="DDDDDD">
                      <a:lumMod val="10000"/>
                    </a:srgbClr>
                  </a:solidFill>
                  <a:latin typeface="Century Gothic" panose="020B0502020202020204" pitchFamily="34" charset="0"/>
                </a:rPr>
                <a:t> Annual Premiums</a:t>
              </a:r>
            </a:p>
          </p:txBody>
        </p:sp>
      </p:grpSp>
      <p:grpSp>
        <p:nvGrpSpPr>
          <p:cNvPr id="83" name="Group 82"/>
          <p:cNvGrpSpPr/>
          <p:nvPr/>
        </p:nvGrpSpPr>
        <p:grpSpPr>
          <a:xfrm>
            <a:off x="3114275" y="5456949"/>
            <a:ext cx="2583876" cy="719527"/>
            <a:chOff x="2247923" y="5379761"/>
            <a:chExt cx="2583876" cy="719527"/>
          </a:xfrm>
        </p:grpSpPr>
        <p:sp>
          <p:nvSpPr>
            <p:cNvPr id="84" name="TextBox 83"/>
            <p:cNvSpPr txBox="1"/>
            <p:nvPr/>
          </p:nvSpPr>
          <p:spPr bwMode="gray">
            <a:xfrm>
              <a:off x="2247923" y="5379761"/>
              <a:ext cx="1079292"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2.5X </a:t>
              </a:r>
            </a:p>
          </p:txBody>
        </p:sp>
        <p:sp>
          <p:nvSpPr>
            <p:cNvPr id="86" name="TextBox 85"/>
            <p:cNvSpPr txBox="1"/>
            <p:nvPr/>
          </p:nvSpPr>
          <p:spPr>
            <a:xfrm>
              <a:off x="3176075" y="5474792"/>
              <a:ext cx="1655724" cy="523220"/>
            </a:xfrm>
            <a:prstGeom prst="rect">
              <a:avLst/>
            </a:prstGeom>
            <a:noFill/>
          </p:spPr>
          <p:txBody>
            <a:bodyPr wrap="square" rtlCol="0">
              <a:spAutoFit/>
            </a:bodyPr>
            <a:lstStyle/>
            <a:p>
              <a:pPr>
                <a:defRPr/>
              </a:pPr>
              <a:r>
                <a:rPr lang="en-US" sz="1400" kern="0">
                  <a:solidFill>
                    <a:srgbClr val="DDDDDD">
                      <a:lumMod val="10000"/>
                    </a:srgbClr>
                  </a:solidFill>
                  <a:latin typeface="Century Gothic" panose="020B0502020202020204" pitchFamily="34" charset="0"/>
                </a:rPr>
                <a:t>Conversion Rate within 42 days</a:t>
              </a:r>
              <a:endParaRPr lang="en-IN" sz="1400" kern="0">
                <a:solidFill>
                  <a:srgbClr val="DDDDDD">
                    <a:lumMod val="10000"/>
                  </a:srgbClr>
                </a:solidFill>
                <a:latin typeface="Century Gothic" panose="020B0502020202020204" pitchFamily="34" charset="0"/>
              </a:endParaRPr>
            </a:p>
          </p:txBody>
        </p:sp>
      </p:grpSp>
      <p:grpSp>
        <p:nvGrpSpPr>
          <p:cNvPr id="87" name="Group 86"/>
          <p:cNvGrpSpPr/>
          <p:nvPr/>
        </p:nvGrpSpPr>
        <p:grpSpPr>
          <a:xfrm>
            <a:off x="6478105" y="4976537"/>
            <a:ext cx="2394328" cy="784870"/>
            <a:chOff x="2358907" y="5298878"/>
            <a:chExt cx="2394328" cy="784870"/>
          </a:xfrm>
        </p:grpSpPr>
        <p:sp>
          <p:nvSpPr>
            <p:cNvPr id="88" name="TextBox 87"/>
            <p:cNvSpPr txBox="1"/>
            <p:nvPr/>
          </p:nvSpPr>
          <p:spPr bwMode="gray">
            <a:xfrm>
              <a:off x="2358907" y="5298878"/>
              <a:ext cx="1079292"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3</a:t>
              </a:r>
            </a:p>
          </p:txBody>
        </p:sp>
        <p:sp>
          <p:nvSpPr>
            <p:cNvPr id="89" name="TextBox 88"/>
            <p:cNvSpPr txBox="1"/>
            <p:nvPr/>
          </p:nvSpPr>
          <p:spPr bwMode="gray">
            <a:xfrm>
              <a:off x="2508226" y="5715094"/>
              <a:ext cx="1871273" cy="368654"/>
            </a:xfrm>
            <a:prstGeom prst="rect">
              <a:avLst/>
            </a:prstGeom>
          </p:spPr>
          <p:txBody>
            <a:bodyPr vert="horz" wrap="square" lIns="91440" tIns="45720" rIns="91440" bIns="45720" rtlCol="0" anchor="ctr">
              <a:noAutofit/>
            </a:bodyPr>
            <a:lstStyle/>
            <a:p>
              <a:pPr>
                <a:defRPr/>
              </a:pPr>
              <a:r>
                <a:rPr lang="en-US" sz="1600" b="1" kern="0">
                  <a:solidFill>
                    <a:srgbClr val="DDDDDD">
                      <a:lumMod val="10000"/>
                    </a:srgbClr>
                  </a:solidFill>
                </a:rPr>
                <a:t>Crores</a:t>
              </a:r>
            </a:p>
          </p:txBody>
        </p:sp>
        <p:pic>
          <p:nvPicPr>
            <p:cNvPr id="90" name="Picture 89"/>
            <p:cNvPicPr>
              <a:picLocks noChangeAspect="1"/>
            </p:cNvPicPr>
            <p:nvPr/>
          </p:nvPicPr>
          <p:blipFill>
            <a:blip r:embed="rId6" cstate="print">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550945" y="5493723"/>
              <a:ext cx="237059" cy="237059"/>
            </a:xfrm>
            <a:prstGeom prst="rect">
              <a:avLst/>
            </a:prstGeom>
          </p:spPr>
        </p:pic>
        <p:sp>
          <p:nvSpPr>
            <p:cNvPr id="91" name="TextBox 90"/>
            <p:cNvSpPr txBox="1"/>
            <p:nvPr/>
          </p:nvSpPr>
          <p:spPr>
            <a:xfrm>
              <a:off x="3111676" y="5443647"/>
              <a:ext cx="1641559" cy="523220"/>
            </a:xfrm>
            <a:prstGeom prst="rect">
              <a:avLst/>
            </a:prstGeom>
            <a:noFill/>
          </p:spPr>
          <p:txBody>
            <a:bodyPr wrap="square" rtlCol="0">
              <a:spAutoFit/>
            </a:bodyPr>
            <a:lstStyle/>
            <a:p>
              <a:pPr>
                <a:defRPr/>
              </a:pPr>
              <a:r>
                <a:rPr lang="en-IN" sz="1400" kern="0">
                  <a:solidFill>
                    <a:srgbClr val="DDDDDD">
                      <a:lumMod val="10000"/>
                    </a:srgbClr>
                  </a:solidFill>
                  <a:latin typeface="Century Gothic" panose="020B0502020202020204" pitchFamily="34" charset="0"/>
                </a:rPr>
                <a:t>N</a:t>
              </a:r>
              <a:r>
                <a:rPr lang="en-IN" sz="1400" kern="0" err="1">
                  <a:solidFill>
                    <a:srgbClr val="DDDDDD">
                      <a:lumMod val="10000"/>
                    </a:srgbClr>
                  </a:solidFill>
                  <a:latin typeface="Century Gothic" panose="020B0502020202020204" pitchFamily="34" charset="0"/>
                </a:rPr>
                <a:t>ew</a:t>
              </a:r>
              <a:r>
                <a:rPr lang="en-IN" sz="1400" kern="0">
                  <a:solidFill>
                    <a:srgbClr val="DDDDDD">
                      <a:lumMod val="10000"/>
                    </a:srgbClr>
                  </a:solidFill>
                  <a:latin typeface="Century Gothic" panose="020B0502020202020204" pitchFamily="34" charset="0"/>
                </a:rPr>
                <a:t> Annual Premiums</a:t>
              </a:r>
            </a:p>
          </p:txBody>
        </p:sp>
      </p:grpSp>
      <p:grpSp>
        <p:nvGrpSpPr>
          <p:cNvPr id="92" name="Group 91"/>
          <p:cNvGrpSpPr/>
          <p:nvPr/>
        </p:nvGrpSpPr>
        <p:grpSpPr>
          <a:xfrm>
            <a:off x="6306269" y="5662574"/>
            <a:ext cx="2652262" cy="719527"/>
            <a:chOff x="2247923" y="5250971"/>
            <a:chExt cx="2652262" cy="719527"/>
          </a:xfrm>
        </p:grpSpPr>
        <p:sp>
          <p:nvSpPr>
            <p:cNvPr id="93" name="TextBox 92"/>
            <p:cNvSpPr txBox="1"/>
            <p:nvPr/>
          </p:nvSpPr>
          <p:spPr bwMode="gray">
            <a:xfrm>
              <a:off x="2247923" y="5250971"/>
              <a:ext cx="1079292"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2.2X </a:t>
              </a:r>
            </a:p>
          </p:txBody>
        </p:sp>
        <p:sp>
          <p:nvSpPr>
            <p:cNvPr id="94" name="TextBox 93"/>
            <p:cNvSpPr txBox="1"/>
            <p:nvPr/>
          </p:nvSpPr>
          <p:spPr>
            <a:xfrm>
              <a:off x="3176075" y="5346002"/>
              <a:ext cx="1724110" cy="523220"/>
            </a:xfrm>
            <a:prstGeom prst="rect">
              <a:avLst/>
            </a:prstGeom>
            <a:noFill/>
          </p:spPr>
          <p:txBody>
            <a:bodyPr wrap="square" rtlCol="0">
              <a:spAutoFit/>
            </a:bodyPr>
            <a:lstStyle/>
            <a:p>
              <a:pPr>
                <a:defRPr/>
              </a:pPr>
              <a:r>
                <a:rPr lang="en-US" sz="1400" kern="0">
                  <a:solidFill>
                    <a:srgbClr val="DDDDDD">
                      <a:lumMod val="10000"/>
                    </a:srgbClr>
                  </a:solidFill>
                  <a:latin typeface="Century Gothic" panose="020B0502020202020204" pitchFamily="34" charset="0"/>
                </a:rPr>
                <a:t>Reactivation rate within 90 days</a:t>
              </a:r>
              <a:endParaRPr lang="en-IN" sz="1400" kern="0">
                <a:solidFill>
                  <a:srgbClr val="DDDDDD">
                    <a:lumMod val="10000"/>
                  </a:srgbClr>
                </a:solidFill>
                <a:latin typeface="Century Gothic" panose="020B0502020202020204" pitchFamily="34" charset="0"/>
              </a:endParaRPr>
            </a:p>
          </p:txBody>
        </p:sp>
      </p:grpSp>
      <p:grpSp>
        <p:nvGrpSpPr>
          <p:cNvPr id="15" name="Group 14"/>
          <p:cNvGrpSpPr/>
          <p:nvPr/>
        </p:nvGrpSpPr>
        <p:grpSpPr>
          <a:xfrm>
            <a:off x="9228619" y="4789991"/>
            <a:ext cx="2765947" cy="738664"/>
            <a:chOff x="9461855" y="5339408"/>
            <a:chExt cx="2765947" cy="738664"/>
          </a:xfrm>
        </p:grpSpPr>
        <p:grpSp>
          <p:nvGrpSpPr>
            <p:cNvPr id="105" name="Group 104"/>
            <p:cNvGrpSpPr/>
            <p:nvPr/>
          </p:nvGrpSpPr>
          <p:grpSpPr>
            <a:xfrm>
              <a:off x="9461855" y="5339408"/>
              <a:ext cx="2765947" cy="738664"/>
              <a:chOff x="2215636" y="5473423"/>
              <a:chExt cx="2765947" cy="738664"/>
            </a:xfrm>
          </p:grpSpPr>
          <p:sp>
            <p:nvSpPr>
              <p:cNvPr id="106" name="TextBox 105"/>
              <p:cNvSpPr txBox="1"/>
              <p:nvPr/>
            </p:nvSpPr>
            <p:spPr bwMode="gray">
              <a:xfrm>
                <a:off x="2215636" y="5476237"/>
                <a:ext cx="1298240" cy="719527"/>
              </a:xfrm>
              <a:prstGeom prst="rect">
                <a:avLst/>
              </a:prstGeom>
            </p:spPr>
            <p:txBody>
              <a:bodyPr vert="horz" wrap="square" lIns="91440" tIns="45720" rIns="91440" bIns="45720" rtlCol="0" anchor="ctr">
                <a:noAutofit/>
              </a:bodyPr>
              <a:lstStyle/>
              <a:p>
                <a:pPr algn="ctr">
                  <a:defRPr/>
                </a:pPr>
                <a:r>
                  <a:rPr lang="en-US" sz="3200" b="1" kern="0">
                    <a:solidFill>
                      <a:srgbClr val="DDDDDD">
                        <a:lumMod val="10000"/>
                      </a:srgbClr>
                    </a:solidFill>
                  </a:rPr>
                  <a:t>12%</a:t>
                </a:r>
              </a:p>
            </p:txBody>
          </p:sp>
          <p:sp>
            <p:nvSpPr>
              <p:cNvPr id="107" name="TextBox 106"/>
              <p:cNvSpPr txBox="1"/>
              <p:nvPr/>
            </p:nvSpPr>
            <p:spPr>
              <a:xfrm>
                <a:off x="3257473" y="5473423"/>
                <a:ext cx="1724110" cy="738664"/>
              </a:xfrm>
              <a:prstGeom prst="rect">
                <a:avLst/>
              </a:prstGeom>
              <a:noFill/>
            </p:spPr>
            <p:txBody>
              <a:bodyPr wrap="square" rtlCol="0">
                <a:spAutoFit/>
              </a:bodyPr>
              <a:lstStyle/>
              <a:p>
                <a:pPr>
                  <a:defRPr/>
                </a:pPr>
                <a:r>
                  <a:rPr lang="en-US" sz="1400" kern="0">
                    <a:solidFill>
                      <a:srgbClr val="DDDDDD">
                        <a:lumMod val="10000"/>
                      </a:srgbClr>
                    </a:solidFill>
                    <a:latin typeface="Century Gothic" panose="020B0502020202020204" pitchFamily="34" charset="0"/>
                  </a:rPr>
                  <a:t>“Followers“ acquisition rate </a:t>
                </a:r>
              </a:p>
              <a:p>
                <a:pPr>
                  <a:defRPr/>
                </a:pPr>
                <a:r>
                  <a:rPr lang="en-US" sz="1400" kern="0">
                    <a:solidFill>
                      <a:srgbClr val="DDDDDD">
                        <a:lumMod val="10000"/>
                      </a:srgbClr>
                    </a:solidFill>
                    <a:latin typeface="Century Gothic" panose="020B0502020202020204" pitchFamily="34" charset="0"/>
                  </a:rPr>
                  <a:t> </a:t>
                </a:r>
              </a:p>
            </p:txBody>
          </p:sp>
        </p:grpSp>
        <p:sp>
          <p:nvSpPr>
            <p:cNvPr id="14" name="Rectangle 13"/>
            <p:cNvSpPr/>
            <p:nvPr/>
          </p:nvSpPr>
          <p:spPr>
            <a:xfrm>
              <a:off x="10501134" y="5796365"/>
              <a:ext cx="1710725" cy="276999"/>
            </a:xfrm>
            <a:prstGeom prst="rect">
              <a:avLst/>
            </a:prstGeom>
          </p:spPr>
          <p:txBody>
            <a:bodyPr wrap="none">
              <a:spAutoFit/>
            </a:bodyPr>
            <a:lstStyle/>
            <a:p>
              <a:pPr>
                <a:defRPr/>
              </a:pPr>
              <a:r>
                <a:rPr lang="en-US" sz="1200" b="1" kern="0">
                  <a:solidFill>
                    <a:srgbClr val="DDDDDD">
                      <a:lumMod val="10000"/>
                    </a:srgbClr>
                  </a:solidFill>
                  <a:latin typeface="Century Gothic" panose="020B0502020202020204" pitchFamily="34" charset="0"/>
                </a:rPr>
                <a:t>(vs Competition 5 %)</a:t>
              </a:r>
              <a:endParaRPr lang="en-US" sz="1200" b="1" kern="0">
                <a:solidFill>
                  <a:srgbClr val="DDDDDD">
                    <a:lumMod val="10000"/>
                  </a:srgbClr>
                </a:solidFill>
              </a:endParaRPr>
            </a:p>
          </p:txBody>
        </p:sp>
      </p:grpSp>
      <p:grpSp>
        <p:nvGrpSpPr>
          <p:cNvPr id="142" name="Group 141"/>
          <p:cNvGrpSpPr/>
          <p:nvPr/>
        </p:nvGrpSpPr>
        <p:grpSpPr>
          <a:xfrm>
            <a:off x="9272984" y="1401477"/>
            <a:ext cx="2595070" cy="2160000"/>
            <a:chOff x="1600360" y="3047583"/>
            <a:chExt cx="2595070" cy="2160000"/>
          </a:xfrm>
          <a:solidFill>
            <a:schemeClr val="bg1"/>
          </a:solidFill>
        </p:grpSpPr>
        <p:sp>
          <p:nvSpPr>
            <p:cNvPr id="143" name="Oval 142"/>
            <p:cNvSpPr/>
            <p:nvPr/>
          </p:nvSpPr>
          <p:spPr>
            <a:xfrm>
              <a:off x="1827759" y="3047583"/>
              <a:ext cx="2160000" cy="2160000"/>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kern="0">
                <a:solidFill>
                  <a:sysClr val="windowText" lastClr="000000"/>
                </a:solidFill>
              </a:endParaRPr>
            </a:p>
          </p:txBody>
        </p:sp>
        <p:sp>
          <p:nvSpPr>
            <p:cNvPr id="144" name="TextBox 143"/>
            <p:cNvSpPr txBox="1"/>
            <p:nvPr/>
          </p:nvSpPr>
          <p:spPr>
            <a:xfrm>
              <a:off x="1600360" y="3252718"/>
              <a:ext cx="2595070" cy="523220"/>
            </a:xfrm>
            <a:prstGeom prst="rect">
              <a:avLst/>
            </a:prstGeom>
            <a:noFill/>
          </p:spPr>
          <p:txBody>
            <a:bodyPr wrap="square" rtlCol="0">
              <a:spAutoFit/>
            </a:bodyPr>
            <a:lstStyle/>
            <a:p>
              <a:pPr algn="ctr">
                <a:defRPr/>
              </a:pPr>
              <a:r>
                <a:rPr lang="en-IN" sz="1400" kern="0">
                  <a:solidFill>
                    <a:sysClr val="windowText" lastClr="000000"/>
                  </a:solidFill>
                  <a:latin typeface="Century Gothic" panose="020B0502020202020204" pitchFamily="34" charset="0"/>
                </a:rPr>
                <a:t>Digital </a:t>
              </a:r>
            </a:p>
            <a:p>
              <a:pPr algn="ctr">
                <a:defRPr/>
              </a:pPr>
              <a:r>
                <a:rPr lang="en-IN" sz="1400" kern="0">
                  <a:solidFill>
                    <a:sysClr val="windowText" lastClr="000000"/>
                  </a:solidFill>
                  <a:latin typeface="Century Gothic" panose="020B0502020202020204" pitchFamily="34" charset="0"/>
                </a:rPr>
                <a:t>Analytics</a:t>
              </a:r>
            </a:p>
          </p:txBody>
        </p:sp>
      </p:grpSp>
      <p:sp>
        <p:nvSpPr>
          <p:cNvPr id="149" name="TextBox 148"/>
          <p:cNvSpPr txBox="1"/>
          <p:nvPr/>
        </p:nvSpPr>
        <p:spPr>
          <a:xfrm>
            <a:off x="9467068" y="3713079"/>
            <a:ext cx="2289051" cy="646331"/>
          </a:xfrm>
          <a:prstGeom prst="rect">
            <a:avLst/>
          </a:prstGeom>
          <a:noFill/>
        </p:spPr>
        <p:txBody>
          <a:bodyPr wrap="square" rtlCol="0">
            <a:spAutoFit/>
          </a:bodyPr>
          <a:lstStyle/>
          <a:p>
            <a:pPr algn="ctr">
              <a:defRPr/>
            </a:pPr>
            <a:r>
              <a:rPr lang="en-US" sz="1200" kern="0">
                <a:solidFill>
                  <a:srgbClr val="00B050"/>
                </a:solidFill>
                <a:latin typeface="Century Gothic" panose="020B0502020202020204" pitchFamily="34" charset="0"/>
              </a:rPr>
              <a:t>Text Analytics helps improve Brand Social Media Presence </a:t>
            </a:r>
            <a:endParaRPr lang="en-IN" sz="1200" kern="0">
              <a:solidFill>
                <a:srgbClr val="00B050"/>
              </a:solidFill>
              <a:latin typeface="Century Gothic" panose="020B0502020202020204" pitchFamily="34" charset="0"/>
            </a:endParaRPr>
          </a:p>
        </p:txBody>
      </p:sp>
      <p:sp>
        <p:nvSpPr>
          <p:cNvPr id="2" name="AutoShape 2" descr="Image result for cross sell model icon"/>
          <p:cNvSpPr>
            <a:spLocks noChangeAspect="1" noChangeArrowheads="1"/>
          </p:cNvSpPr>
          <p:nvPr/>
        </p:nvSpPr>
        <p:spPr bwMode="auto">
          <a:xfrm>
            <a:off x="4487770" y="2552694"/>
            <a:ext cx="189646" cy="1896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defRPr/>
            </a:pPr>
            <a:endParaRPr lang="en-US" kern="0">
              <a:solidFill>
                <a:srgbClr val="000000"/>
              </a:solidFill>
            </a:endParaRPr>
          </a:p>
        </p:txBody>
      </p:sp>
      <p:pic>
        <p:nvPicPr>
          <p:cNvPr id="1028" name="Picture 4" descr="Image result for cross sell  ic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21015" y="2223807"/>
            <a:ext cx="1185288" cy="1185288"/>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8258" y="2907687"/>
            <a:ext cx="629488" cy="919812"/>
          </a:xfrm>
          <a:prstGeom prst="rect">
            <a:avLst/>
          </a:prstGeom>
        </p:spPr>
      </p:pic>
      <p:pic>
        <p:nvPicPr>
          <p:cNvPr id="85" name="Picture 8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29762" y="3331355"/>
            <a:ext cx="656879" cy="816554"/>
          </a:xfrm>
          <a:prstGeom prst="rect">
            <a:avLst/>
          </a:prstGeom>
        </p:spPr>
      </p:pic>
      <p:pic>
        <p:nvPicPr>
          <p:cNvPr id="1030" name="Picture 6" descr="Image result for customer Reactivation icon"/>
          <p:cNvPicPr>
            <a:picLocks noChangeAspect="1" noChangeArrowheads="1"/>
          </p:cNvPicPr>
          <p:nvPr/>
        </p:nvPicPr>
        <p:blipFill>
          <a:blip r:embed="rId9" cstate="print">
            <a:biLevel thresh="50000"/>
            <a:extLst>
              <a:ext uri="{28A0092B-C50C-407E-A947-70E740481C1C}">
                <a14:useLocalDpi xmlns:a14="http://schemas.microsoft.com/office/drawing/2010/main" val="0"/>
              </a:ext>
            </a:extLst>
          </a:blip>
          <a:srcRect/>
          <a:stretch>
            <a:fillRect/>
          </a:stretch>
        </p:blipFill>
        <p:spPr bwMode="auto">
          <a:xfrm>
            <a:off x="7772528" y="3946389"/>
            <a:ext cx="375725" cy="37572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digital analytics icon"/>
          <p:cNvPicPr>
            <a:picLocks noChangeAspect="1" noChangeArrowheads="1"/>
          </p:cNvPicPr>
          <p:nvPr/>
        </p:nvPicPr>
        <p:blipFill>
          <a:blip r:embed="rId10">
            <a:clrChange>
              <a:clrFrom>
                <a:srgbClr val="FCFCFC"/>
              </a:clrFrom>
              <a:clrTo>
                <a:srgbClr val="FCFCFC">
                  <a:alpha val="0"/>
                </a:srgbClr>
              </a:clrTo>
            </a:clrChange>
            <a:extLst>
              <a:ext uri="{28A0092B-C50C-407E-A947-70E740481C1C}">
                <a14:useLocalDpi xmlns:a14="http://schemas.microsoft.com/office/drawing/2010/main" val="0"/>
              </a:ext>
            </a:extLst>
          </a:blip>
          <a:srcRect/>
          <a:stretch>
            <a:fillRect/>
          </a:stretch>
        </p:blipFill>
        <p:spPr bwMode="auto">
          <a:xfrm>
            <a:off x="9898649" y="2319539"/>
            <a:ext cx="1379975" cy="1105080"/>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Connector 66"/>
          <p:cNvCxnSpPr/>
          <p:nvPr/>
        </p:nvCxnSpPr>
        <p:spPr>
          <a:xfrm>
            <a:off x="153495" y="1097968"/>
            <a:ext cx="11457984"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68" name="Text Placeholder 5"/>
          <p:cNvSpPr txBox="1">
            <a:spLocks/>
          </p:cNvSpPr>
          <p:nvPr/>
        </p:nvSpPr>
        <p:spPr>
          <a:xfrm>
            <a:off x="245020" y="672152"/>
            <a:ext cx="11749545" cy="61684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Clr>
                <a:srgbClr val="418AB3"/>
              </a:buClr>
              <a:buFont typeface="Wingdings 3" charset="2"/>
              <a:buNone/>
              <a:defRPr/>
            </a:pPr>
            <a:r>
              <a:rPr lang="en-IN">
                <a:solidFill>
                  <a:srgbClr val="0070C0"/>
                </a:solidFill>
              </a:rPr>
              <a:t>Tata </a:t>
            </a:r>
            <a:r>
              <a:rPr lang="en-IN" err="1">
                <a:solidFill>
                  <a:srgbClr val="0070C0"/>
                </a:solidFill>
              </a:rPr>
              <a:t>iQ</a:t>
            </a:r>
            <a:r>
              <a:rPr lang="en-IN">
                <a:solidFill>
                  <a:srgbClr val="0070C0"/>
                </a:solidFill>
              </a:rPr>
              <a:t> has a strong operating model with AIA that has yielded significant benefits across various business imperatives   </a:t>
            </a:r>
            <a:endParaRPr lang="en-IN" b="1">
              <a:solidFill>
                <a:srgbClr val="0070C0"/>
              </a:solidFill>
            </a:endParaRPr>
          </a:p>
        </p:txBody>
      </p:sp>
    </p:spTree>
    <p:extLst>
      <p:ext uri="{BB962C8B-B14F-4D97-AF65-F5344CB8AC3E}">
        <p14:creationId xmlns:p14="http://schemas.microsoft.com/office/powerpoint/2010/main" val="14636208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rc 43"/>
          <p:cNvSpPr/>
          <p:nvPr/>
        </p:nvSpPr>
        <p:spPr>
          <a:xfrm rot="14863476">
            <a:off x="5156555" y="1679096"/>
            <a:ext cx="1800000" cy="1800000"/>
          </a:xfrm>
          <a:prstGeom prst="arc">
            <a:avLst>
              <a:gd name="adj1" fmla="val 17841339"/>
              <a:gd name="adj2" fmla="val 3993732"/>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3" name="Slide Number Placeholder 2"/>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D57F1E4F-1CFF-5643-939E-217C01CDF565}" type="slidenum">
              <a:rPr kumimoji="0" lang="en-US" sz="1800" b="0" i="0" u="none" strike="noStrike" kern="0" cap="none" spc="0" normalizeH="0" baseline="0" noProof="0" smtClean="0">
                <a:ln>
                  <a:noFill/>
                </a:ln>
                <a:solidFill>
                  <a:srgbClr val="0E558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25</a:t>
            </a:fld>
            <a:endParaRPr kumimoji="0" lang="en-US" sz="1800" b="0" i="0" u="none" strike="noStrike" kern="0" cap="none" spc="0" normalizeH="0" baseline="0" noProof="0" dirty="0">
              <a:ln>
                <a:noFill/>
              </a:ln>
              <a:solidFill>
                <a:srgbClr val="0E5580"/>
              </a:solidFill>
              <a:effectLst/>
              <a:uLnTx/>
              <a:uFillTx/>
            </a:endParaRPr>
          </a:p>
        </p:txBody>
      </p:sp>
      <p:sp>
        <p:nvSpPr>
          <p:cNvPr id="5" name="Text Placeholder 2"/>
          <p:cNvSpPr txBox="1">
            <a:spLocks/>
          </p:cNvSpPr>
          <p:nvPr/>
        </p:nvSpPr>
        <p:spPr>
          <a:xfrm>
            <a:off x="2825478" y="268174"/>
            <a:ext cx="6841035" cy="480131"/>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1" i="0" u="none" strike="noStrike" kern="1200" cap="none" spc="0" normalizeH="0" baseline="0" noProof="0" dirty="0">
                <a:ln>
                  <a:noFill/>
                </a:ln>
                <a:solidFill>
                  <a:srgbClr val="0070C0"/>
                </a:solidFill>
                <a:effectLst/>
                <a:uLnTx/>
                <a:uFillTx/>
                <a:latin typeface="Leelawadee UI" panose="020B0502040204020203" pitchFamily="34" charset="-34"/>
                <a:ea typeface="+mn-ea"/>
                <a:cs typeface="Leelawadee UI" panose="020B0502040204020203" pitchFamily="34" charset="-34"/>
              </a:rPr>
              <a:t>Engagement Overview with Unistore</a:t>
            </a:r>
          </a:p>
        </p:txBody>
      </p:sp>
      <p:sp>
        <p:nvSpPr>
          <p:cNvPr id="7" name="Oval 6"/>
          <p:cNvSpPr/>
          <p:nvPr/>
        </p:nvSpPr>
        <p:spPr>
          <a:xfrm>
            <a:off x="3910729" y="2507884"/>
            <a:ext cx="2160000" cy="216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9" name="TextBox 8"/>
          <p:cNvSpPr txBox="1"/>
          <p:nvPr/>
        </p:nvSpPr>
        <p:spPr>
          <a:xfrm>
            <a:off x="4218016" y="2547998"/>
            <a:ext cx="1460670"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Century Gothic" panose="020B0502020202020204" pitchFamily="34" charset="0"/>
              </a:rPr>
              <a:t>Marketing Analytics</a:t>
            </a:r>
          </a:p>
        </p:txBody>
      </p:sp>
      <p:sp>
        <p:nvSpPr>
          <p:cNvPr id="11" name="Oval 10"/>
          <p:cNvSpPr/>
          <p:nvPr/>
        </p:nvSpPr>
        <p:spPr>
          <a:xfrm>
            <a:off x="6317577" y="1703574"/>
            <a:ext cx="2160000" cy="2160000"/>
          </a:xfrm>
          <a:prstGeom prst="ellipse">
            <a:avLst/>
          </a:prstGeom>
          <a:solidFill>
            <a:schemeClr val="bg1"/>
          </a:solid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14" name="Arc 13"/>
          <p:cNvSpPr/>
          <p:nvPr/>
        </p:nvSpPr>
        <p:spPr>
          <a:xfrm rot="8524516">
            <a:off x="3261085" y="1838673"/>
            <a:ext cx="1800000" cy="1800000"/>
          </a:xfrm>
          <a:prstGeom prst="arc">
            <a:avLst>
              <a:gd name="adj1" fmla="val 19418203"/>
              <a:gd name="adj2" fmla="val 551807"/>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grpSp>
        <p:nvGrpSpPr>
          <p:cNvPr id="15" name="Group 14"/>
          <p:cNvGrpSpPr/>
          <p:nvPr/>
        </p:nvGrpSpPr>
        <p:grpSpPr>
          <a:xfrm>
            <a:off x="8358621" y="2918386"/>
            <a:ext cx="2895404" cy="2160000"/>
            <a:chOff x="1495218" y="3047583"/>
            <a:chExt cx="2895404" cy="2160000"/>
          </a:xfrm>
          <a:solidFill>
            <a:schemeClr val="bg1"/>
          </a:solidFill>
        </p:grpSpPr>
        <p:sp>
          <p:nvSpPr>
            <p:cNvPr id="16" name="Oval 15"/>
            <p:cNvSpPr/>
            <p:nvPr/>
          </p:nvSpPr>
          <p:spPr>
            <a:xfrm>
              <a:off x="1827759" y="3047583"/>
              <a:ext cx="2160000" cy="2160000"/>
            </a:xfrm>
            <a:prstGeom prst="ellipse">
              <a:avLst/>
            </a:prstGeom>
            <a:grpFill/>
            <a:ln w="254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17" name="TextBox 16"/>
            <p:cNvSpPr txBox="1"/>
            <p:nvPr/>
          </p:nvSpPr>
          <p:spPr>
            <a:xfrm>
              <a:off x="1495218" y="3177127"/>
              <a:ext cx="2895404" cy="73866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Century Gothic" panose="020B0502020202020204" pitchFamily="34" charset="0"/>
                </a:rPr>
                <a:t>Customer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Century Gothic" panose="020B0502020202020204" pitchFamily="34" charset="0"/>
                </a:rPr>
                <a:t>Enrichment and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Century Gothic" panose="020B0502020202020204" pitchFamily="34" charset="0"/>
                </a:rPr>
                <a:t>Prospecting</a:t>
              </a:r>
            </a:p>
          </p:txBody>
        </p:sp>
      </p:grpSp>
      <p:pic>
        <p:nvPicPr>
          <p:cNvPr id="18" name="Picture 17"/>
          <p:cNvPicPr>
            <a:picLocks noChangeAspect="1"/>
          </p:cNvPicPr>
          <p:nvPr/>
        </p:nvPicPr>
        <p:blipFill>
          <a:blip r:embed="rId2">
            <a:duotone>
              <a:prstClr val="black"/>
              <a:schemeClr val="accent5">
                <a:tint val="45000"/>
                <a:satMod val="400000"/>
              </a:schemeClr>
            </a:duotone>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rot="19628002">
            <a:off x="9191057" y="3953811"/>
            <a:ext cx="530155" cy="318657"/>
          </a:xfrm>
          <a:prstGeom prst="rect">
            <a:avLst/>
          </a:prstGeom>
        </p:spPr>
      </p:pic>
      <p:pic>
        <p:nvPicPr>
          <p:cNvPr id="19" name="Picture 18"/>
          <p:cNvPicPr>
            <a:picLocks noChangeAspect="1"/>
          </p:cNvPicPr>
          <p:nvPr/>
        </p:nvPicPr>
        <p:blipFill>
          <a:blip r:embed="rId4">
            <a:duotone>
              <a:prstClr val="black"/>
              <a:schemeClr val="accent5">
                <a:tint val="45000"/>
                <a:satMod val="400000"/>
              </a:schemeClr>
            </a:duotone>
          </a:blip>
          <a:stretch>
            <a:fillRect/>
          </a:stretch>
        </p:blipFill>
        <p:spPr>
          <a:xfrm rot="1374490">
            <a:off x="9555912" y="3952543"/>
            <a:ext cx="530155" cy="318657"/>
          </a:xfrm>
          <a:prstGeom prst="rect">
            <a:avLst/>
          </a:prstGeom>
        </p:spPr>
      </p:pic>
      <p:pic>
        <p:nvPicPr>
          <p:cNvPr id="20" name="Picture 19"/>
          <p:cNvPicPr>
            <a:picLocks noChangeAspect="1"/>
          </p:cNvPicPr>
          <p:nvPr/>
        </p:nvPicPr>
        <p:blipFill>
          <a:blip r:embed="rId5">
            <a:duotone>
              <a:prstClr val="black"/>
              <a:schemeClr val="accent3">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19628002">
            <a:off x="9976099" y="4020114"/>
            <a:ext cx="530155" cy="318657"/>
          </a:xfrm>
          <a:prstGeom prst="rect">
            <a:avLst/>
          </a:prstGeom>
        </p:spPr>
      </p:pic>
      <p:pic>
        <p:nvPicPr>
          <p:cNvPr id="21" name="Picture 20"/>
          <p:cNvPicPr>
            <a:picLocks noChangeAspect="1"/>
          </p:cNvPicPr>
          <p:nvPr/>
        </p:nvPicPr>
        <p:blipFill>
          <a:blip r:embed="rId6">
            <a:duotone>
              <a:schemeClr val="accent5">
                <a:shade val="45000"/>
                <a:satMod val="135000"/>
              </a:schemeClr>
              <a:prstClr val="white"/>
            </a:duotone>
          </a:blip>
          <a:stretch>
            <a:fillRect/>
          </a:stretch>
        </p:blipFill>
        <p:spPr>
          <a:xfrm>
            <a:off x="9514799" y="4096096"/>
            <a:ext cx="583048" cy="604757"/>
          </a:xfrm>
          <a:prstGeom prst="rect">
            <a:avLst/>
          </a:prstGeom>
        </p:spPr>
      </p:pic>
      <p:sp>
        <p:nvSpPr>
          <p:cNvPr id="22" name="Arc 21"/>
          <p:cNvSpPr/>
          <p:nvPr/>
        </p:nvSpPr>
        <p:spPr>
          <a:xfrm rot="8524516" flipH="1" flipV="1">
            <a:off x="7293033" y="3121362"/>
            <a:ext cx="1800000" cy="1800000"/>
          </a:xfrm>
          <a:prstGeom prst="arc">
            <a:avLst>
              <a:gd name="adj1" fmla="val 19418203"/>
              <a:gd name="adj2" fmla="val 21470461"/>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23" name="TextBox 22"/>
          <p:cNvSpPr txBox="1"/>
          <p:nvPr/>
        </p:nvSpPr>
        <p:spPr>
          <a:xfrm>
            <a:off x="8620722" y="5045665"/>
            <a:ext cx="2289051" cy="116955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schemeClr val="accent5">
                    <a:lumMod val="50000"/>
                  </a:schemeClr>
                </a:solidFill>
                <a:effectLst/>
                <a:uLnTx/>
                <a:uFillTx/>
                <a:latin typeface="Century Gothic" panose="020B0502020202020204" pitchFamily="34" charset="0"/>
              </a:rPr>
              <a:t>Campaign management and Neo based Prospecting Campaigns to drive incremental sales</a:t>
            </a:r>
          </a:p>
        </p:txBody>
      </p:sp>
      <p:grpSp>
        <p:nvGrpSpPr>
          <p:cNvPr id="25" name="Group 24"/>
          <p:cNvGrpSpPr/>
          <p:nvPr/>
        </p:nvGrpSpPr>
        <p:grpSpPr>
          <a:xfrm>
            <a:off x="1331542" y="1445662"/>
            <a:ext cx="2289051" cy="2943525"/>
            <a:chOff x="2368742" y="995657"/>
            <a:chExt cx="2289051" cy="2943525"/>
          </a:xfrm>
          <a:solidFill>
            <a:schemeClr val="bg1"/>
          </a:solidFill>
        </p:grpSpPr>
        <p:grpSp>
          <p:nvGrpSpPr>
            <p:cNvPr id="26" name="Group 25"/>
            <p:cNvGrpSpPr/>
            <p:nvPr/>
          </p:nvGrpSpPr>
          <p:grpSpPr>
            <a:xfrm>
              <a:off x="2384878" y="995657"/>
              <a:ext cx="2160000" cy="2160000"/>
              <a:chOff x="290206" y="604120"/>
              <a:chExt cx="2160000" cy="2160000"/>
            </a:xfrm>
            <a:grpFill/>
          </p:grpSpPr>
          <p:sp>
            <p:nvSpPr>
              <p:cNvPr id="28" name="Oval 27"/>
              <p:cNvSpPr/>
              <p:nvPr/>
            </p:nvSpPr>
            <p:spPr>
              <a:xfrm>
                <a:off x="290206" y="604120"/>
                <a:ext cx="2160000" cy="2160000"/>
              </a:xfrm>
              <a:prstGeom prst="ellipse">
                <a:avLst/>
              </a:prstGeom>
              <a:grp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
            <p:nvSpPr>
              <p:cNvPr id="30" name="TextBox 29"/>
              <p:cNvSpPr txBox="1"/>
              <p:nvPr/>
            </p:nvSpPr>
            <p:spPr>
              <a:xfrm>
                <a:off x="532620" y="792003"/>
                <a:ext cx="1675172"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Century Gothic" panose="020B0502020202020204" pitchFamily="34" charset="0"/>
                  </a:rPr>
                  <a:t>Visualization</a:t>
                </a:r>
              </a:p>
            </p:txBody>
          </p:sp>
        </p:grpSp>
        <p:sp>
          <p:nvSpPr>
            <p:cNvPr id="27" name="TextBox 26"/>
            <p:cNvSpPr txBox="1"/>
            <p:nvPr/>
          </p:nvSpPr>
          <p:spPr>
            <a:xfrm>
              <a:off x="2368742" y="3200518"/>
              <a:ext cx="2289051" cy="738664"/>
            </a:xfrm>
            <a:prstGeom prst="rect">
              <a:avLst/>
            </a:prstGeom>
            <a:grp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accent3">
                      <a:lumMod val="75000"/>
                    </a:schemeClr>
                  </a:solidFill>
                  <a:effectLst/>
                  <a:uLnTx/>
                  <a:uFillTx/>
                  <a:latin typeface="Century Gothic" panose="020B0502020202020204" pitchFamily="34" charset="0"/>
                </a:rPr>
                <a:t>Executive dashboard and operational reports using Tableau </a:t>
              </a:r>
              <a:endParaRPr kumimoji="0" lang="en-IN" sz="1400" b="0" i="0" u="none" strike="noStrike" kern="0" cap="none" spc="0" normalizeH="0" baseline="0" noProof="0" dirty="0">
                <a:ln>
                  <a:noFill/>
                </a:ln>
                <a:solidFill>
                  <a:schemeClr val="accent3">
                    <a:lumMod val="75000"/>
                  </a:schemeClr>
                </a:solidFill>
                <a:effectLst/>
                <a:uLnTx/>
                <a:uFillTx/>
                <a:latin typeface="Century Gothic" panose="020B0502020202020204" pitchFamily="34" charset="0"/>
              </a:endParaRPr>
            </a:p>
          </p:txBody>
        </p:sp>
      </p:grpSp>
      <p:sp>
        <p:nvSpPr>
          <p:cNvPr id="32" name="TextBox 31"/>
          <p:cNvSpPr txBox="1"/>
          <p:nvPr/>
        </p:nvSpPr>
        <p:spPr>
          <a:xfrm>
            <a:off x="6248779" y="3937136"/>
            <a:ext cx="2289051" cy="9541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schemeClr val="accent2">
                    <a:lumMod val="50000"/>
                  </a:schemeClr>
                </a:solidFill>
                <a:effectLst/>
                <a:uLnTx/>
                <a:uFillTx/>
                <a:latin typeface="Century Gothic" panose="020B0502020202020204" pitchFamily="34" charset="0"/>
              </a:rPr>
              <a:t>Understanding the Conversion Funnel, Channel Effectiveness for better Acquisition</a:t>
            </a:r>
          </a:p>
        </p:txBody>
      </p:sp>
      <p:sp>
        <p:nvSpPr>
          <p:cNvPr id="33" name="TextBox 32"/>
          <p:cNvSpPr txBox="1"/>
          <p:nvPr/>
        </p:nvSpPr>
        <p:spPr>
          <a:xfrm>
            <a:off x="3598018" y="4735776"/>
            <a:ext cx="2700666" cy="116955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accent1">
                    <a:lumMod val="50000"/>
                  </a:schemeClr>
                </a:solidFill>
                <a:effectLst/>
                <a:uLnTx/>
                <a:uFillTx/>
                <a:latin typeface="Century Gothic" panose="020B0502020202020204" pitchFamily="34" charset="0"/>
              </a:rPr>
              <a:t>Customer Demographic and Behavioural Profiling and Engagement Framework to drive Engagement and Retention</a:t>
            </a:r>
            <a:endParaRPr kumimoji="0" lang="en-IN" sz="1400" b="0" i="0" u="none" strike="noStrike" kern="0" cap="none" spc="0" normalizeH="0" baseline="0" noProof="0" dirty="0">
              <a:ln>
                <a:noFill/>
              </a:ln>
              <a:solidFill>
                <a:schemeClr val="accent1">
                  <a:lumMod val="50000"/>
                </a:schemeClr>
              </a:solidFill>
              <a:effectLst/>
              <a:uLnTx/>
              <a:uFillTx/>
              <a:latin typeface="Century Gothic" panose="020B0502020202020204" pitchFamily="34" charset="0"/>
            </a:endParaRPr>
          </a:p>
        </p:txBody>
      </p:sp>
      <p:sp>
        <p:nvSpPr>
          <p:cNvPr id="42" name="Text Placeholder 5"/>
          <p:cNvSpPr txBox="1">
            <a:spLocks/>
          </p:cNvSpPr>
          <p:nvPr/>
        </p:nvSpPr>
        <p:spPr>
          <a:xfrm>
            <a:off x="245020" y="672152"/>
            <a:ext cx="11946979" cy="616849"/>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marR="0" lvl="0" indent="0" algn="l" defTabSz="457200" rtl="0" eaLnBrk="1" fontAlgn="auto" latinLnBrk="0" hangingPunct="1">
              <a:lnSpc>
                <a:spcPct val="100000"/>
              </a:lnSpc>
              <a:spcBef>
                <a:spcPts val="1000"/>
              </a:spcBef>
              <a:spcAft>
                <a:spcPts val="0"/>
              </a:spcAft>
              <a:buClr>
                <a:schemeClr val="accent1"/>
              </a:buClr>
              <a:buSzPct val="80000"/>
              <a:buFont typeface="Wingdings 3" charset="2"/>
              <a:buNone/>
              <a:tabLst/>
              <a:defRPr/>
            </a:pPr>
            <a:r>
              <a:rPr kumimoji="0" lang="en-IN" sz="1800" b="0" i="0" u="none" strike="noStrike" kern="1200" cap="none" spc="0" normalizeH="0" baseline="0" noProof="0" dirty="0">
                <a:ln>
                  <a:noFill/>
                </a:ln>
                <a:solidFill>
                  <a:srgbClr val="0070C0"/>
                </a:solidFill>
                <a:effectLst/>
                <a:uLnTx/>
                <a:uFillTx/>
                <a:latin typeface="+mn-lt"/>
                <a:ea typeface="+mn-ea"/>
                <a:cs typeface="+mn-cs"/>
              </a:rPr>
              <a:t>Tata iQ currently has a </a:t>
            </a:r>
            <a:r>
              <a:rPr kumimoji="0" lang="en-IN" sz="1800" b="1" i="0" u="none" strike="noStrike" kern="1200" cap="none" spc="0" normalizeH="0" baseline="0" noProof="0" dirty="0">
                <a:ln>
                  <a:noFill/>
                </a:ln>
                <a:solidFill>
                  <a:srgbClr val="0070C0"/>
                </a:solidFill>
                <a:effectLst/>
                <a:uLnTx/>
                <a:uFillTx/>
                <a:latin typeface="+mn-lt"/>
                <a:ea typeface="+mn-ea"/>
                <a:cs typeface="+mn-cs"/>
              </a:rPr>
              <a:t>dedicated 9 member </a:t>
            </a:r>
            <a:r>
              <a:rPr kumimoji="0" lang="en-IN" sz="1800" b="0" i="0" u="none" strike="noStrike" kern="1200" cap="none" spc="0" normalizeH="0" baseline="0" noProof="0" dirty="0">
                <a:ln>
                  <a:noFill/>
                </a:ln>
                <a:solidFill>
                  <a:srgbClr val="0070C0"/>
                </a:solidFill>
                <a:effectLst/>
                <a:uLnTx/>
                <a:uFillTx/>
                <a:latin typeface="+mn-lt"/>
                <a:ea typeface="+mn-ea"/>
                <a:cs typeface="+mn-cs"/>
              </a:rPr>
              <a:t>team for Unistore supporting both </a:t>
            </a:r>
            <a:r>
              <a:rPr kumimoji="0" lang="en-IN" sz="1800" b="1" i="0" u="none" strike="noStrike" kern="1200" cap="none" spc="0" normalizeH="0" baseline="0" noProof="0" dirty="0">
                <a:ln>
                  <a:noFill/>
                </a:ln>
                <a:solidFill>
                  <a:srgbClr val="0070C0"/>
                </a:solidFill>
                <a:effectLst/>
                <a:uLnTx/>
                <a:uFillTx/>
                <a:latin typeface="+mn-lt"/>
                <a:ea typeface="+mn-ea"/>
                <a:cs typeface="+mn-cs"/>
              </a:rPr>
              <a:t>foundational</a:t>
            </a:r>
            <a:r>
              <a:rPr kumimoji="0" lang="en-IN" sz="1800" b="0" i="0" u="none" strike="noStrike" kern="1200" cap="none" spc="0" normalizeH="0" baseline="0" noProof="0" dirty="0">
                <a:ln>
                  <a:noFill/>
                </a:ln>
                <a:solidFill>
                  <a:srgbClr val="0070C0"/>
                </a:solidFill>
                <a:effectLst/>
                <a:uLnTx/>
                <a:uFillTx/>
                <a:latin typeface="+mn-lt"/>
                <a:ea typeface="+mn-ea"/>
                <a:cs typeface="+mn-cs"/>
              </a:rPr>
              <a:t> Reporting, </a:t>
            </a:r>
            <a:r>
              <a:rPr kumimoji="0" lang="en-IN" sz="1800" b="1" i="0" u="none" strike="noStrike" kern="1200" cap="none" spc="0" normalizeH="0" baseline="0" noProof="0" dirty="0">
                <a:ln>
                  <a:noFill/>
                </a:ln>
                <a:solidFill>
                  <a:srgbClr val="0070C0"/>
                </a:solidFill>
                <a:effectLst/>
                <a:uLnTx/>
                <a:uFillTx/>
                <a:latin typeface="+mn-lt"/>
                <a:ea typeface="+mn-ea"/>
                <a:cs typeface="+mn-cs"/>
              </a:rPr>
              <a:t>marketing strategy consulting</a:t>
            </a:r>
            <a:r>
              <a:rPr kumimoji="0" lang="en-IN" sz="1800" b="0" i="0" u="none" strike="noStrike" kern="1200" cap="none" spc="0" normalizeH="0" baseline="0" noProof="0" dirty="0">
                <a:ln>
                  <a:noFill/>
                </a:ln>
                <a:solidFill>
                  <a:srgbClr val="0070C0"/>
                </a:solidFill>
                <a:effectLst/>
                <a:uLnTx/>
                <a:uFillTx/>
                <a:latin typeface="+mn-lt"/>
                <a:ea typeface="+mn-ea"/>
                <a:cs typeface="+mn-cs"/>
              </a:rPr>
              <a:t> supported by data analytics, and conversion through digital channels</a:t>
            </a:r>
            <a:endParaRPr kumimoji="0" lang="en-IN" sz="1800" b="1" i="0" u="none" strike="noStrike" kern="1200" cap="none" spc="0" normalizeH="0" baseline="0" noProof="0" dirty="0">
              <a:ln>
                <a:noFill/>
              </a:ln>
              <a:solidFill>
                <a:srgbClr val="0070C0"/>
              </a:solidFill>
              <a:effectLst/>
              <a:uLnTx/>
              <a:uFillTx/>
              <a:latin typeface="+mn-lt"/>
              <a:ea typeface="+mn-ea"/>
              <a:cs typeface="+mn-cs"/>
            </a:endParaRPr>
          </a:p>
        </p:txBody>
      </p:sp>
      <p:cxnSp>
        <p:nvCxnSpPr>
          <p:cNvPr id="43" name="Straight Connector 42"/>
          <p:cNvCxnSpPr/>
          <p:nvPr/>
        </p:nvCxnSpPr>
        <p:spPr>
          <a:xfrm flipV="1">
            <a:off x="326187" y="1340615"/>
            <a:ext cx="11457984" cy="12879"/>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1669563" y="2168383"/>
            <a:ext cx="1746551" cy="886937"/>
            <a:chOff x="600032" y="2232173"/>
            <a:chExt cx="1746551" cy="886937"/>
          </a:xfrm>
        </p:grpSpPr>
        <p:pic>
          <p:nvPicPr>
            <p:cNvPr id="1026" name="Picture 2" descr="Image result for chart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0032" y="2232173"/>
              <a:ext cx="859601" cy="85960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chart ico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34245" y="2406772"/>
              <a:ext cx="712338" cy="712338"/>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TextBox 45"/>
          <p:cNvSpPr txBox="1"/>
          <p:nvPr/>
        </p:nvSpPr>
        <p:spPr>
          <a:xfrm>
            <a:off x="6528925" y="2011643"/>
            <a:ext cx="1673456"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sysClr val="windowText" lastClr="000000"/>
                </a:solidFill>
                <a:effectLst/>
                <a:uLnTx/>
                <a:uFillTx/>
                <a:latin typeface="Century Gothic" panose="020B0502020202020204" pitchFamily="34" charset="0"/>
              </a:rPr>
              <a:t>Digital Analytics</a:t>
            </a:r>
          </a:p>
        </p:txBody>
      </p:sp>
      <p:grpSp>
        <p:nvGrpSpPr>
          <p:cNvPr id="49" name="Group 48"/>
          <p:cNvGrpSpPr/>
          <p:nvPr/>
        </p:nvGrpSpPr>
        <p:grpSpPr>
          <a:xfrm>
            <a:off x="4142849" y="3059816"/>
            <a:ext cx="1743998" cy="1442132"/>
            <a:chOff x="4142849" y="3059816"/>
            <a:chExt cx="1743998" cy="1442132"/>
          </a:xfrm>
        </p:grpSpPr>
        <p:pic>
          <p:nvPicPr>
            <p:cNvPr id="1042" name="Picture 18" descr="Related image"/>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28771" y="3059816"/>
              <a:ext cx="1004162" cy="10041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Related imag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2849" y="3576528"/>
              <a:ext cx="925420" cy="9254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p:cNvPicPr>
              <a:picLocks noChangeAspect="1"/>
            </p:cNvPicPr>
            <p:nvPr/>
          </p:nvPicPr>
          <p:blipFill rotWithShape="1">
            <a:blip r:embed="rId11"/>
            <a:srcRect l="47051"/>
            <a:stretch/>
          </p:blipFill>
          <p:spPr>
            <a:xfrm>
              <a:off x="4737978" y="3320097"/>
              <a:ext cx="1148869" cy="994621"/>
            </a:xfrm>
            <a:prstGeom prst="rect">
              <a:avLst/>
            </a:prstGeom>
          </p:spPr>
        </p:pic>
      </p:grpSp>
      <p:pic>
        <p:nvPicPr>
          <p:cNvPr id="1038" name="Picture 14" descr="Related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406396" y="2420621"/>
            <a:ext cx="937542" cy="93754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result for digital icon"/>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35918" y="2525662"/>
            <a:ext cx="945235" cy="945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467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p:cNvGrpSpPr/>
          <p:nvPr/>
        </p:nvGrpSpPr>
        <p:grpSpPr>
          <a:xfrm>
            <a:off x="1" y="237066"/>
            <a:ext cx="12192000" cy="523220"/>
            <a:chOff x="1" y="291779"/>
            <a:chExt cx="12192000" cy="523220"/>
          </a:xfrm>
        </p:grpSpPr>
        <p:cxnSp>
          <p:nvCxnSpPr>
            <p:cNvPr id="49" name="Straight Connector 48"/>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2565305" y="291779"/>
              <a:ext cx="7061549" cy="523220"/>
            </a:xfrm>
            <a:prstGeom prst="rect">
              <a:avLst/>
            </a:prstGeom>
            <a:solidFill>
              <a:schemeClr val="bg1"/>
            </a:solidFill>
          </p:spPr>
          <p:txBody>
            <a:bodyPr wrap="none" anchor="ctr">
              <a:spAutoFit/>
            </a:bodyPr>
            <a:lstStyle/>
            <a:p>
              <a:pPr algn="ctr">
                <a:defRPr/>
              </a:pPr>
              <a:r>
                <a:rPr lang="en-IN" sz="2800" b="1" kern="0">
                  <a:solidFill>
                    <a:srgbClr val="0070C0"/>
                  </a:solidFill>
                  <a:latin typeface="Century Gothic" panose="020B0502020202020204" pitchFamily="34" charset="0"/>
                  <a:cs typeface="Leelawadee UI" panose="020B0502040204020203" pitchFamily="34" charset="-34"/>
                </a:rPr>
                <a:t>Engagement Overview with Tata Motors</a:t>
              </a:r>
            </a:p>
          </p:txBody>
        </p:sp>
      </p:grpSp>
      <p:sp>
        <p:nvSpPr>
          <p:cNvPr id="18" name="Rectangle 17"/>
          <p:cNvSpPr/>
          <p:nvPr/>
        </p:nvSpPr>
        <p:spPr>
          <a:xfrm>
            <a:off x="4251232" y="920836"/>
            <a:ext cx="7570413" cy="9069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defRPr/>
            </a:pPr>
            <a:r>
              <a:rPr lang="en-US" sz="1600" b="1" kern="0">
                <a:solidFill>
                  <a:srgbClr val="00B0F0"/>
                </a:solidFill>
                <a:latin typeface="Century Gothic" panose="020B0502020202020204" pitchFamily="34" charset="0"/>
              </a:rPr>
              <a:t>Business Objectives </a:t>
            </a:r>
            <a:r>
              <a:rPr lang="en-US" sz="1600" kern="0">
                <a:solidFill>
                  <a:sysClr val="windowText" lastClr="000000"/>
                </a:solidFill>
                <a:latin typeface="Century Gothic" panose="020B0502020202020204" pitchFamily="34" charset="0"/>
              </a:rPr>
              <a:t>: </a:t>
            </a:r>
          </a:p>
          <a:p>
            <a:pPr marL="285750" indent="-285750">
              <a:buFont typeface="Arial" panose="020B0604020202020204" pitchFamily="34" charset="0"/>
              <a:buChar char="•"/>
              <a:defRPr/>
            </a:pPr>
            <a:r>
              <a:rPr lang="en-US" sz="1200" kern="0">
                <a:solidFill>
                  <a:sysClr val="windowText" lastClr="000000"/>
                </a:solidFill>
                <a:latin typeface="Century Gothic" panose="020B0502020202020204" pitchFamily="34" charset="0"/>
              </a:rPr>
              <a:t>Leads prioritization for Tiago</a:t>
            </a:r>
          </a:p>
          <a:p>
            <a:pPr marL="285750" indent="-285750">
              <a:buFont typeface="Arial" panose="020B0604020202020204" pitchFamily="34" charset="0"/>
              <a:buChar char="•"/>
              <a:defRPr/>
            </a:pPr>
            <a:r>
              <a:rPr lang="en-US" sz="1200" kern="0">
                <a:solidFill>
                  <a:sysClr val="windowText" lastClr="000000"/>
                </a:solidFill>
                <a:latin typeface="Century Gothic" panose="020B0502020202020204" pitchFamily="34" charset="0"/>
              </a:rPr>
              <a:t>Telematics Analytics</a:t>
            </a:r>
          </a:p>
          <a:p>
            <a:pPr marL="285750" indent="-285750">
              <a:buFont typeface="Arial" panose="020B0604020202020204" pitchFamily="34" charset="0"/>
              <a:buChar char="•"/>
              <a:defRPr/>
            </a:pPr>
            <a:r>
              <a:rPr lang="en-US" sz="1200" kern="0">
                <a:solidFill>
                  <a:sysClr val="windowText" lastClr="000000"/>
                </a:solidFill>
                <a:latin typeface="Century Gothic" panose="020B0502020202020204" pitchFamily="34" charset="0"/>
              </a:rPr>
              <a:t>Analytics for AMC, Extended Warranty risk, pricing</a:t>
            </a:r>
          </a:p>
        </p:txBody>
      </p:sp>
      <p:sp>
        <p:nvSpPr>
          <p:cNvPr id="24" name="Rectangle 23"/>
          <p:cNvSpPr/>
          <p:nvPr/>
        </p:nvSpPr>
        <p:spPr>
          <a:xfrm>
            <a:off x="273790" y="915053"/>
            <a:ext cx="3848044" cy="9040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defRPr/>
            </a:pPr>
            <a:endParaRPr lang="en-US" sz="1600" kern="0">
              <a:solidFill>
                <a:sysClr val="windowText" lastClr="000000"/>
              </a:solidFill>
              <a:latin typeface="Century Gothic" panose="020B0502020202020204" pitchFamily="34" charset="0"/>
            </a:endParaRPr>
          </a:p>
        </p:txBody>
      </p:sp>
      <p:sp>
        <p:nvSpPr>
          <p:cNvPr id="15" name="AutoShape 6" descr="Image result for problems ahead icon"/>
          <p:cNvSpPr>
            <a:spLocks noChangeAspect="1" noChangeArrowheads="1"/>
          </p:cNvSpPr>
          <p:nvPr/>
        </p:nvSpPr>
        <p:spPr bwMode="auto">
          <a:xfrm>
            <a:off x="3085352" y="26645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Century Gothic" panose="020B0502020202020204" pitchFamily="34" charset="0"/>
            </a:endParaRPr>
          </a:p>
        </p:txBody>
      </p:sp>
      <p:sp>
        <p:nvSpPr>
          <p:cNvPr id="3" name="TextBox 2"/>
          <p:cNvSpPr txBox="1"/>
          <p:nvPr/>
        </p:nvSpPr>
        <p:spPr>
          <a:xfrm>
            <a:off x="1191627" y="1011123"/>
            <a:ext cx="2780629" cy="707886"/>
          </a:xfrm>
          <a:prstGeom prst="rect">
            <a:avLst/>
          </a:prstGeom>
          <a:noFill/>
        </p:spPr>
        <p:txBody>
          <a:bodyPr wrap="square" rtlCol="0">
            <a:spAutoFit/>
          </a:bodyPr>
          <a:lstStyle/>
          <a:p>
            <a:pPr>
              <a:defRPr/>
            </a:pPr>
            <a:r>
              <a:rPr lang="en-US" sz="1600" b="1" kern="0">
                <a:solidFill>
                  <a:srgbClr val="00B0F0"/>
                </a:solidFill>
                <a:latin typeface="Century Gothic" panose="020B0502020202020204" pitchFamily="34" charset="0"/>
              </a:rPr>
              <a:t>Existing Service Provider</a:t>
            </a:r>
          </a:p>
          <a:p>
            <a:pPr>
              <a:defRPr/>
            </a:pPr>
            <a:r>
              <a:rPr lang="en-US" sz="1200" kern="0">
                <a:solidFill>
                  <a:sysClr val="windowText" lastClr="000000"/>
                </a:solidFill>
                <a:latin typeface="Century Gothic" panose="020B0502020202020204" pitchFamily="34" charset="0"/>
              </a:rPr>
              <a:t>In house through Tata Technologies, Accenture</a:t>
            </a:r>
            <a:endParaRPr lang="en-US" sz="1200" b="1" kern="0">
              <a:solidFill>
                <a:sysClr val="windowText" lastClr="000000"/>
              </a:solidFill>
              <a:latin typeface="Century Gothic" panose="020B0502020202020204" pitchFamily="34" charset="0"/>
            </a:endParaRPr>
          </a:p>
        </p:txBody>
      </p:sp>
      <p:sp>
        <p:nvSpPr>
          <p:cNvPr id="31" name="Rectangle 30"/>
          <p:cNvSpPr/>
          <p:nvPr/>
        </p:nvSpPr>
        <p:spPr>
          <a:xfrm>
            <a:off x="229486" y="1918708"/>
            <a:ext cx="11587301" cy="798360"/>
          </a:xfrm>
          <a:prstGeom prst="rect">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defRPr/>
            </a:pPr>
            <a:endParaRPr lang="en-US" sz="1600" kern="0">
              <a:solidFill>
                <a:sysClr val="windowText" lastClr="000000"/>
              </a:solidFill>
              <a:latin typeface="Century Gothic" panose="020B0502020202020204" pitchFamily="34" charset="0"/>
            </a:endParaRPr>
          </a:p>
        </p:txBody>
      </p:sp>
      <p:grpSp>
        <p:nvGrpSpPr>
          <p:cNvPr id="32" name="Group 31"/>
          <p:cNvGrpSpPr/>
          <p:nvPr/>
        </p:nvGrpSpPr>
        <p:grpSpPr>
          <a:xfrm>
            <a:off x="-94353" y="2001012"/>
            <a:ext cx="13188312" cy="567428"/>
            <a:chOff x="-122063" y="2483135"/>
            <a:chExt cx="13188312" cy="567428"/>
          </a:xfrm>
        </p:grpSpPr>
        <p:sp>
          <p:nvSpPr>
            <p:cNvPr id="33" name="Minus Sign 32"/>
            <p:cNvSpPr/>
            <p:nvPr/>
          </p:nvSpPr>
          <p:spPr>
            <a:xfrm>
              <a:off x="-122063" y="2774886"/>
              <a:ext cx="13188312" cy="259122"/>
            </a:xfrm>
            <a:prstGeom prst="mathMinus">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54" name="Oval 53"/>
            <p:cNvSpPr/>
            <p:nvPr/>
          </p:nvSpPr>
          <p:spPr>
            <a:xfrm>
              <a:off x="1555177" y="2827407"/>
              <a:ext cx="137457" cy="1462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40" name="TextBox 39"/>
            <p:cNvSpPr txBox="1"/>
            <p:nvPr/>
          </p:nvSpPr>
          <p:spPr>
            <a:xfrm>
              <a:off x="7035855" y="2483135"/>
              <a:ext cx="1734595" cy="400110"/>
            </a:xfrm>
            <a:prstGeom prst="rect">
              <a:avLst/>
            </a:prstGeom>
            <a:noFill/>
          </p:spPr>
          <p:txBody>
            <a:bodyPr wrap="square" rtlCol="0">
              <a:spAutoFit/>
            </a:bodyPr>
            <a:lstStyle/>
            <a:p>
              <a:pPr>
                <a:defRPr/>
              </a:pPr>
              <a:r>
                <a:rPr lang="en-US" sz="1000" kern="0">
                  <a:solidFill>
                    <a:sysClr val="windowText" lastClr="000000"/>
                  </a:solidFill>
                  <a:latin typeface="Century Gothic" panose="020B0502020202020204" pitchFamily="34" charset="0"/>
                </a:rPr>
                <a:t>Vehicle Prognostics-initiated</a:t>
              </a:r>
            </a:p>
          </p:txBody>
        </p:sp>
        <p:grpSp>
          <p:nvGrpSpPr>
            <p:cNvPr id="41" name="Group 40"/>
            <p:cNvGrpSpPr/>
            <p:nvPr/>
          </p:nvGrpSpPr>
          <p:grpSpPr>
            <a:xfrm>
              <a:off x="4667491" y="2791441"/>
              <a:ext cx="243512" cy="259122"/>
              <a:chOff x="29840" y="2718690"/>
              <a:chExt cx="243512" cy="259122"/>
            </a:xfrm>
          </p:grpSpPr>
          <p:sp>
            <p:nvSpPr>
              <p:cNvPr id="51" name="Oval 50"/>
              <p:cNvSpPr/>
              <p:nvPr/>
            </p:nvSpPr>
            <p:spPr>
              <a:xfrm>
                <a:off x="29840" y="2718690"/>
                <a:ext cx="243512" cy="25912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52" name="Oval 51"/>
              <p:cNvSpPr/>
              <p:nvPr/>
            </p:nvSpPr>
            <p:spPr>
              <a:xfrm>
                <a:off x="84156" y="2771211"/>
                <a:ext cx="137457" cy="1462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grpSp>
        <p:sp>
          <p:nvSpPr>
            <p:cNvPr id="44" name="TextBox 43"/>
            <p:cNvSpPr txBox="1"/>
            <p:nvPr/>
          </p:nvSpPr>
          <p:spPr>
            <a:xfrm>
              <a:off x="4410672" y="2545901"/>
              <a:ext cx="858841" cy="276999"/>
            </a:xfrm>
            <a:prstGeom prst="rect">
              <a:avLst/>
            </a:prstGeom>
            <a:noFill/>
          </p:spPr>
          <p:txBody>
            <a:bodyPr wrap="square" rtlCol="0">
              <a:spAutoFit/>
            </a:bodyPr>
            <a:lstStyle/>
            <a:p>
              <a:pPr>
                <a:defRPr/>
              </a:pPr>
              <a:r>
                <a:rPr lang="en-US" sz="1200" b="1" kern="0">
                  <a:solidFill>
                    <a:srgbClr val="00B0F0"/>
                  </a:solidFill>
                  <a:latin typeface="Century Gothic" panose="020B0502020202020204" pitchFamily="34" charset="0"/>
                </a:rPr>
                <a:t>JUN’16</a:t>
              </a:r>
            </a:p>
          </p:txBody>
        </p:sp>
      </p:grpSp>
      <p:sp>
        <p:nvSpPr>
          <p:cNvPr id="55" name="Rectangle 54"/>
          <p:cNvSpPr/>
          <p:nvPr/>
        </p:nvSpPr>
        <p:spPr>
          <a:xfrm>
            <a:off x="229486" y="1918708"/>
            <a:ext cx="881436" cy="798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b="1" kern="0">
                <a:solidFill>
                  <a:prstClr val="white"/>
                </a:solidFill>
                <a:latin typeface="Century Gothic" panose="020B0502020202020204" pitchFamily="34" charset="0"/>
              </a:rPr>
              <a:t>TIME</a:t>
            </a:r>
          </a:p>
          <a:p>
            <a:pPr algn="ctr">
              <a:defRPr/>
            </a:pPr>
            <a:r>
              <a:rPr lang="en-US" sz="1400" b="1" kern="0">
                <a:solidFill>
                  <a:prstClr val="white"/>
                </a:solidFill>
                <a:latin typeface="Century Gothic" panose="020B0502020202020204" pitchFamily="34" charset="0"/>
              </a:rPr>
              <a:t>LINES</a:t>
            </a:r>
          </a:p>
        </p:txBody>
      </p:sp>
      <p:grpSp>
        <p:nvGrpSpPr>
          <p:cNvPr id="57" name="Group 56"/>
          <p:cNvGrpSpPr/>
          <p:nvPr/>
        </p:nvGrpSpPr>
        <p:grpSpPr>
          <a:xfrm>
            <a:off x="1143480" y="2076744"/>
            <a:ext cx="799966" cy="500326"/>
            <a:chOff x="6245881" y="2553291"/>
            <a:chExt cx="799966" cy="500326"/>
          </a:xfrm>
        </p:grpSpPr>
        <p:grpSp>
          <p:nvGrpSpPr>
            <p:cNvPr id="58" name="Group 57"/>
            <p:cNvGrpSpPr/>
            <p:nvPr/>
          </p:nvGrpSpPr>
          <p:grpSpPr>
            <a:xfrm>
              <a:off x="6583682" y="2794495"/>
              <a:ext cx="243512" cy="259122"/>
              <a:chOff x="1946031" y="2702694"/>
              <a:chExt cx="243512" cy="259122"/>
            </a:xfrm>
          </p:grpSpPr>
          <p:sp>
            <p:nvSpPr>
              <p:cNvPr id="60" name="Oval 59"/>
              <p:cNvSpPr/>
              <p:nvPr/>
            </p:nvSpPr>
            <p:spPr>
              <a:xfrm>
                <a:off x="1946031" y="2702694"/>
                <a:ext cx="243512" cy="25912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61" name="Oval 60"/>
              <p:cNvSpPr/>
              <p:nvPr/>
            </p:nvSpPr>
            <p:spPr>
              <a:xfrm>
                <a:off x="2000347" y="2755215"/>
                <a:ext cx="137457" cy="1462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grpSp>
        <p:sp>
          <p:nvSpPr>
            <p:cNvPr id="59" name="TextBox 58"/>
            <p:cNvSpPr txBox="1"/>
            <p:nvPr/>
          </p:nvSpPr>
          <p:spPr>
            <a:xfrm>
              <a:off x="6245881" y="2553291"/>
              <a:ext cx="799966" cy="276999"/>
            </a:xfrm>
            <a:prstGeom prst="rect">
              <a:avLst/>
            </a:prstGeom>
            <a:noFill/>
          </p:spPr>
          <p:txBody>
            <a:bodyPr wrap="square" rtlCol="0">
              <a:spAutoFit/>
            </a:bodyPr>
            <a:lstStyle/>
            <a:p>
              <a:pPr>
                <a:defRPr/>
              </a:pPr>
              <a:r>
                <a:rPr lang="en-US" sz="1200" b="1" kern="0">
                  <a:solidFill>
                    <a:srgbClr val="00B0F0"/>
                  </a:solidFill>
                  <a:latin typeface="Century Gothic" panose="020B0502020202020204" pitchFamily="34" charset="0"/>
                </a:rPr>
                <a:t>APR’16</a:t>
              </a:r>
            </a:p>
          </p:txBody>
        </p:sp>
      </p:grpSp>
      <p:sp>
        <p:nvSpPr>
          <p:cNvPr id="62" name="TextBox 61"/>
          <p:cNvSpPr txBox="1"/>
          <p:nvPr/>
        </p:nvSpPr>
        <p:spPr>
          <a:xfrm>
            <a:off x="1780022" y="2021785"/>
            <a:ext cx="2072048" cy="400110"/>
          </a:xfrm>
          <a:prstGeom prst="rect">
            <a:avLst/>
          </a:prstGeom>
          <a:noFill/>
        </p:spPr>
        <p:txBody>
          <a:bodyPr wrap="square" rtlCol="0">
            <a:spAutoFit/>
          </a:bodyPr>
          <a:lstStyle/>
          <a:p>
            <a:pPr>
              <a:defRPr/>
            </a:pPr>
            <a:r>
              <a:rPr lang="en-US" sz="1000" kern="0">
                <a:solidFill>
                  <a:sysClr val="windowText" lastClr="000000"/>
                </a:solidFill>
                <a:latin typeface="Century Gothic" panose="020B0502020202020204" pitchFamily="34" charset="0"/>
              </a:rPr>
              <a:t>Tiago Leads Prioritization &amp; Perceptual Map - initiated</a:t>
            </a:r>
          </a:p>
        </p:txBody>
      </p:sp>
      <p:sp>
        <p:nvSpPr>
          <p:cNvPr id="69" name="TextBox 68"/>
          <p:cNvSpPr txBox="1"/>
          <p:nvPr/>
        </p:nvSpPr>
        <p:spPr>
          <a:xfrm>
            <a:off x="5013597" y="2006558"/>
            <a:ext cx="1546431" cy="400110"/>
          </a:xfrm>
          <a:prstGeom prst="rect">
            <a:avLst/>
          </a:prstGeom>
          <a:noFill/>
        </p:spPr>
        <p:txBody>
          <a:bodyPr wrap="square" rtlCol="0">
            <a:spAutoFit/>
          </a:bodyPr>
          <a:lstStyle/>
          <a:p>
            <a:pPr>
              <a:defRPr/>
            </a:pPr>
            <a:r>
              <a:rPr lang="en-US" sz="1000" kern="0">
                <a:solidFill>
                  <a:sysClr val="windowText" lastClr="000000"/>
                </a:solidFill>
                <a:latin typeface="Century Gothic" panose="020B0502020202020204" pitchFamily="34" charset="0"/>
              </a:rPr>
              <a:t>GDC Engagements-initiated</a:t>
            </a:r>
          </a:p>
        </p:txBody>
      </p:sp>
      <p:sp>
        <p:nvSpPr>
          <p:cNvPr id="67" name="Oval 66"/>
          <p:cNvSpPr/>
          <p:nvPr/>
        </p:nvSpPr>
        <p:spPr>
          <a:xfrm>
            <a:off x="6721948" y="2309318"/>
            <a:ext cx="243512" cy="25912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72" name="Oval 71"/>
          <p:cNvSpPr/>
          <p:nvPr/>
        </p:nvSpPr>
        <p:spPr>
          <a:xfrm>
            <a:off x="6776264" y="2361839"/>
            <a:ext cx="137457" cy="1462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74" name="TextBox 73"/>
          <p:cNvSpPr txBox="1"/>
          <p:nvPr/>
        </p:nvSpPr>
        <p:spPr>
          <a:xfrm>
            <a:off x="6503294" y="2068114"/>
            <a:ext cx="858841" cy="276999"/>
          </a:xfrm>
          <a:prstGeom prst="rect">
            <a:avLst/>
          </a:prstGeom>
          <a:noFill/>
        </p:spPr>
        <p:txBody>
          <a:bodyPr wrap="square" rtlCol="0">
            <a:spAutoFit/>
          </a:bodyPr>
          <a:lstStyle/>
          <a:p>
            <a:pPr>
              <a:defRPr/>
            </a:pPr>
            <a:r>
              <a:rPr lang="en-US" sz="1200" b="1" kern="0">
                <a:solidFill>
                  <a:srgbClr val="00B0F0"/>
                </a:solidFill>
                <a:latin typeface="Century Gothic" panose="020B0502020202020204" pitchFamily="34" charset="0"/>
              </a:rPr>
              <a:t>JUL’16</a:t>
            </a:r>
          </a:p>
        </p:txBody>
      </p:sp>
      <p:sp>
        <p:nvSpPr>
          <p:cNvPr id="107" name="Oval 106"/>
          <p:cNvSpPr/>
          <p:nvPr/>
        </p:nvSpPr>
        <p:spPr>
          <a:xfrm>
            <a:off x="8627136" y="2323994"/>
            <a:ext cx="243512" cy="25912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108" name="Oval 107"/>
          <p:cNvSpPr/>
          <p:nvPr/>
        </p:nvSpPr>
        <p:spPr>
          <a:xfrm>
            <a:off x="8681452" y="2376515"/>
            <a:ext cx="137457" cy="1462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109" name="TextBox 108"/>
          <p:cNvSpPr txBox="1"/>
          <p:nvPr/>
        </p:nvSpPr>
        <p:spPr>
          <a:xfrm>
            <a:off x="8408482" y="2073265"/>
            <a:ext cx="858841" cy="276999"/>
          </a:xfrm>
          <a:prstGeom prst="rect">
            <a:avLst/>
          </a:prstGeom>
          <a:noFill/>
        </p:spPr>
        <p:txBody>
          <a:bodyPr wrap="square" rtlCol="0">
            <a:spAutoFit/>
          </a:bodyPr>
          <a:lstStyle/>
          <a:p>
            <a:pPr>
              <a:defRPr/>
            </a:pPr>
            <a:r>
              <a:rPr lang="en-US" sz="1200" b="1" kern="0">
                <a:solidFill>
                  <a:srgbClr val="00B0F0"/>
                </a:solidFill>
                <a:latin typeface="Century Gothic" panose="020B0502020202020204" pitchFamily="34" charset="0"/>
              </a:rPr>
              <a:t>AUG’16</a:t>
            </a:r>
          </a:p>
        </p:txBody>
      </p:sp>
      <p:sp>
        <p:nvSpPr>
          <p:cNvPr id="110" name="TextBox 109"/>
          <p:cNvSpPr txBox="1"/>
          <p:nvPr/>
        </p:nvSpPr>
        <p:spPr>
          <a:xfrm>
            <a:off x="9012574" y="2010710"/>
            <a:ext cx="1908890" cy="400110"/>
          </a:xfrm>
          <a:prstGeom prst="rect">
            <a:avLst/>
          </a:prstGeom>
          <a:noFill/>
        </p:spPr>
        <p:txBody>
          <a:bodyPr wrap="square" rtlCol="0">
            <a:spAutoFit/>
          </a:bodyPr>
          <a:lstStyle/>
          <a:p>
            <a:pPr>
              <a:defRPr/>
            </a:pPr>
            <a:r>
              <a:rPr lang="en-US" sz="1000" kern="0">
                <a:solidFill>
                  <a:sysClr val="windowText" lastClr="000000"/>
                </a:solidFill>
                <a:latin typeface="Century Gothic" panose="020B0502020202020204" pitchFamily="34" charset="0"/>
              </a:rPr>
              <a:t>Dealer Location Optimization -initiated</a:t>
            </a:r>
          </a:p>
        </p:txBody>
      </p:sp>
      <p:sp>
        <p:nvSpPr>
          <p:cNvPr id="63" name="Rectangle 62"/>
          <p:cNvSpPr/>
          <p:nvPr/>
        </p:nvSpPr>
        <p:spPr>
          <a:xfrm>
            <a:off x="134309" y="2850768"/>
            <a:ext cx="7892092" cy="3919902"/>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sz="1600" kern="0">
              <a:solidFill>
                <a:sysClr val="windowText" lastClr="000000"/>
              </a:solidFill>
              <a:latin typeface="Century Gothic" panose="020B0502020202020204" pitchFamily="34" charset="0"/>
            </a:endParaRPr>
          </a:p>
        </p:txBody>
      </p:sp>
      <p:sp>
        <p:nvSpPr>
          <p:cNvPr id="64" name="AutoShape 6" descr="Image result for problems ahead icon"/>
          <p:cNvSpPr>
            <a:spLocks noChangeAspect="1" noChangeArrowheads="1"/>
          </p:cNvSpPr>
          <p:nvPr/>
        </p:nvSpPr>
        <p:spPr bwMode="auto">
          <a:xfrm>
            <a:off x="5565327" y="265036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Century Gothic" panose="020B0502020202020204" pitchFamily="34" charset="0"/>
            </a:endParaRPr>
          </a:p>
        </p:txBody>
      </p:sp>
      <p:grpSp>
        <p:nvGrpSpPr>
          <p:cNvPr id="65" name="Group 64"/>
          <p:cNvGrpSpPr/>
          <p:nvPr/>
        </p:nvGrpSpPr>
        <p:grpSpPr>
          <a:xfrm>
            <a:off x="224765" y="2939678"/>
            <a:ext cx="4096802" cy="3733274"/>
            <a:chOff x="151232" y="2777362"/>
            <a:chExt cx="5152289" cy="2905441"/>
          </a:xfrm>
        </p:grpSpPr>
        <p:sp>
          <p:nvSpPr>
            <p:cNvPr id="66" name="Rectangle 65"/>
            <p:cNvSpPr/>
            <p:nvPr/>
          </p:nvSpPr>
          <p:spPr>
            <a:xfrm>
              <a:off x="151232" y="3088272"/>
              <a:ext cx="5063834" cy="2594531"/>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defRPr/>
              </a:pPr>
              <a:r>
                <a:rPr lang="en-US" sz="1400" b="1" kern="0">
                  <a:solidFill>
                    <a:sysClr val="windowText" lastClr="000000"/>
                  </a:solidFill>
                  <a:latin typeface="Century Gothic" panose="020B0502020202020204" pitchFamily="34" charset="0"/>
                </a:rPr>
                <a:t>Business Unit </a:t>
              </a:r>
              <a:r>
                <a:rPr lang="en-US" sz="1400" kern="0">
                  <a:solidFill>
                    <a:sysClr val="windowText" lastClr="000000"/>
                  </a:solidFill>
                  <a:latin typeface="Century Gothic" panose="020B0502020202020204" pitchFamily="34" charset="0"/>
                </a:rPr>
                <a:t>: Passenger Vehicle</a:t>
              </a:r>
              <a:endParaRPr lang="en-US" sz="1400" b="1" kern="0">
                <a:solidFill>
                  <a:sysClr val="windowText" lastClr="000000"/>
                </a:solidFill>
                <a:latin typeface="Century Gothic" panose="020B0502020202020204" pitchFamily="34" charset="0"/>
              </a:endParaRPr>
            </a:p>
            <a:p>
              <a:pPr>
                <a:defRPr/>
              </a:pPr>
              <a:r>
                <a:rPr lang="en-US" sz="1400" b="1" kern="0">
                  <a:solidFill>
                    <a:sysClr val="windowText" lastClr="000000"/>
                  </a:solidFill>
                  <a:latin typeface="Century Gothic" panose="020B0502020202020204" pitchFamily="34" charset="0"/>
                </a:rPr>
                <a:t>POC </a:t>
              </a:r>
              <a:r>
                <a:rPr lang="en-US" sz="1400" kern="0">
                  <a:solidFill>
                    <a:sysClr val="windowText" lastClr="000000"/>
                  </a:solidFill>
                  <a:latin typeface="Century Gothic" panose="020B0502020202020204" pitchFamily="34" charset="0"/>
                </a:rPr>
                <a:t>:  Tiago Leads Prioritization (ML &amp; Regression)</a:t>
              </a:r>
            </a:p>
            <a:p>
              <a:pPr fontAlgn="ctr">
                <a:defRPr/>
              </a:pPr>
              <a:r>
                <a:rPr lang="en-US" sz="1400" b="1" kern="0">
                  <a:solidFill>
                    <a:sysClr val="windowText" lastClr="000000"/>
                  </a:solidFill>
                  <a:latin typeface="Century Gothic" panose="020B0502020202020204" pitchFamily="34" charset="0"/>
                </a:rPr>
                <a:t>Status : Completed</a:t>
              </a:r>
            </a:p>
            <a:p>
              <a:pPr marL="285750" indent="-285750" fontAlgn="ctr">
                <a:buFont typeface="Arial" panose="020B0604020202020204" pitchFamily="34" charset="0"/>
                <a:buChar char="•"/>
                <a:defRPr/>
              </a:pPr>
              <a:r>
                <a:rPr lang="en-US" sz="1400" kern="0">
                  <a:solidFill>
                    <a:prstClr val="black"/>
                  </a:solidFill>
                  <a:latin typeface="Century Gothic" panose="020B0502020202020204" pitchFamily="34" charset="0"/>
                </a:rPr>
                <a:t>Outbound calls to 30k prioritized leads across 23 cities</a:t>
              </a:r>
            </a:p>
            <a:p>
              <a:pPr marL="285750" indent="-285750" fontAlgn="ctr">
                <a:buFont typeface="Arial" panose="020B0604020202020204" pitchFamily="34" charset="0"/>
                <a:buChar char="•"/>
                <a:defRPr/>
              </a:pPr>
              <a:r>
                <a:rPr lang="en-US" sz="1400" kern="0">
                  <a:solidFill>
                    <a:prstClr val="black"/>
                  </a:solidFill>
                  <a:latin typeface="Century Gothic" panose="020B0502020202020204" pitchFamily="34" charset="0"/>
                </a:rPr>
                <a:t>3.3X Increase in Conversion rates over 90 days</a:t>
              </a:r>
            </a:p>
            <a:p>
              <a:pPr marL="285750" indent="-285750" fontAlgn="ctr">
                <a:buFont typeface="Arial" panose="020B0604020202020204" pitchFamily="34" charset="0"/>
                <a:buChar char="•"/>
                <a:defRPr/>
              </a:pPr>
              <a:endParaRPr lang="en-US" sz="1400" kern="0">
                <a:solidFill>
                  <a:prstClr val="black"/>
                </a:solidFill>
                <a:latin typeface="Century Gothic" panose="020B0502020202020204" pitchFamily="34" charset="0"/>
              </a:endParaRPr>
            </a:p>
            <a:p>
              <a:pPr fontAlgn="ctr">
                <a:defRPr/>
              </a:pPr>
              <a:r>
                <a:rPr lang="en-US" sz="1400" b="1" kern="0">
                  <a:solidFill>
                    <a:prstClr val="black"/>
                  </a:solidFill>
                  <a:latin typeface="Century Gothic" panose="020B0502020202020204" pitchFamily="34" charset="0"/>
                </a:rPr>
                <a:t>POC : </a:t>
              </a:r>
              <a:r>
                <a:rPr lang="en-US" sz="1400" kern="0">
                  <a:solidFill>
                    <a:prstClr val="black"/>
                  </a:solidFill>
                  <a:latin typeface="Century Gothic" panose="020B0502020202020204" pitchFamily="34" charset="0"/>
                </a:rPr>
                <a:t>Tiago Perceptual Maps</a:t>
              </a:r>
            </a:p>
            <a:p>
              <a:pPr fontAlgn="ctr">
                <a:defRPr/>
              </a:pPr>
              <a:r>
                <a:rPr lang="en-US" sz="1400" b="1" kern="0">
                  <a:solidFill>
                    <a:sysClr val="windowText" lastClr="000000"/>
                  </a:solidFill>
                  <a:latin typeface="Century Gothic" panose="020B0502020202020204" pitchFamily="34" charset="0"/>
                </a:rPr>
                <a:t>Status : Completed</a:t>
              </a:r>
            </a:p>
            <a:p>
              <a:pPr marL="285750" indent="-285750" fontAlgn="ctr">
                <a:buFont typeface="Arial" panose="020B0604020202020204" pitchFamily="34" charset="0"/>
                <a:buChar char="•"/>
                <a:defRPr/>
              </a:pPr>
              <a:r>
                <a:rPr lang="en-US" sz="1400" kern="0">
                  <a:solidFill>
                    <a:prstClr val="black"/>
                  </a:solidFill>
                  <a:latin typeface="Century Gothic" panose="020B0502020202020204" pitchFamily="34" charset="0"/>
                </a:rPr>
                <a:t>NLP Techniques used for sentiment analysis of social media posts </a:t>
              </a:r>
            </a:p>
            <a:p>
              <a:pPr marL="285750" indent="-285750" fontAlgn="ctr">
                <a:buFont typeface="Arial" panose="020B0604020202020204" pitchFamily="34" charset="0"/>
                <a:buChar char="•"/>
                <a:defRPr/>
              </a:pPr>
              <a:r>
                <a:rPr lang="en-US" sz="1400" kern="0">
                  <a:solidFill>
                    <a:prstClr val="black"/>
                  </a:solidFill>
                  <a:latin typeface="Century Gothic" panose="020B0502020202020204" pitchFamily="34" charset="0"/>
                </a:rPr>
                <a:t>Revealed Tiago’s  perceptual similarity to RENAULT </a:t>
              </a:r>
              <a:r>
                <a:rPr lang="en-US" sz="1400" kern="0" err="1">
                  <a:solidFill>
                    <a:prstClr val="black"/>
                  </a:solidFill>
                  <a:latin typeface="Century Gothic" panose="020B0502020202020204" pitchFamily="34" charset="0"/>
                </a:rPr>
                <a:t>Kwid</a:t>
              </a:r>
              <a:endParaRPr lang="en-US" sz="1400" kern="0">
                <a:solidFill>
                  <a:prstClr val="black"/>
                </a:solidFill>
                <a:latin typeface="Century Gothic" panose="020B0502020202020204" pitchFamily="34" charset="0"/>
              </a:endParaRPr>
            </a:p>
          </p:txBody>
        </p:sp>
        <p:sp>
          <p:nvSpPr>
            <p:cNvPr id="68" name="Rectangle 67"/>
            <p:cNvSpPr/>
            <p:nvPr/>
          </p:nvSpPr>
          <p:spPr>
            <a:xfrm>
              <a:off x="239690" y="2777362"/>
              <a:ext cx="5063831" cy="293062"/>
            </a:xfrm>
            <a:prstGeom prst="rect">
              <a:avLst/>
            </a:prstGeom>
            <a:solidFill>
              <a:srgbClr val="00B0F0"/>
            </a:solidFill>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1400" b="1" kern="0">
                  <a:solidFill>
                    <a:prstClr val="white"/>
                  </a:solidFill>
                  <a:latin typeface="Century Gothic" panose="020B0502020202020204" pitchFamily="34" charset="0"/>
                </a:rPr>
                <a:t>Analytics – Marketing Analytics</a:t>
              </a:r>
              <a:endParaRPr lang="en-US" sz="1400" kern="0">
                <a:solidFill>
                  <a:prstClr val="white"/>
                </a:solidFill>
                <a:latin typeface="Century Gothic" panose="020B0502020202020204" pitchFamily="34" charset="0"/>
              </a:endParaRPr>
            </a:p>
          </p:txBody>
        </p:sp>
      </p:grpSp>
      <p:grpSp>
        <p:nvGrpSpPr>
          <p:cNvPr id="70" name="Group 69"/>
          <p:cNvGrpSpPr/>
          <p:nvPr/>
        </p:nvGrpSpPr>
        <p:grpSpPr>
          <a:xfrm>
            <a:off x="4391805" y="2928144"/>
            <a:ext cx="3509549" cy="1888817"/>
            <a:chOff x="239690" y="2757030"/>
            <a:chExt cx="5063831" cy="1678780"/>
          </a:xfrm>
        </p:grpSpPr>
        <p:sp>
          <p:nvSpPr>
            <p:cNvPr id="71" name="Rectangle 70"/>
            <p:cNvSpPr/>
            <p:nvPr/>
          </p:nvSpPr>
          <p:spPr>
            <a:xfrm>
              <a:off x="239690" y="3085837"/>
              <a:ext cx="5063830" cy="134997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defRPr/>
              </a:pPr>
              <a:r>
                <a:rPr lang="en-US" sz="1400" b="1" kern="0">
                  <a:solidFill>
                    <a:sysClr val="windowText" lastClr="000000"/>
                  </a:solidFill>
                  <a:latin typeface="Century Gothic" panose="020B0502020202020204" pitchFamily="34" charset="0"/>
                </a:rPr>
                <a:t>POC</a:t>
              </a:r>
              <a:r>
                <a:rPr lang="en-US" sz="1400" kern="0">
                  <a:solidFill>
                    <a:sysClr val="windowText" lastClr="000000"/>
                  </a:solidFill>
                  <a:latin typeface="Century Gothic" panose="020B0502020202020204" pitchFamily="34" charset="0"/>
                </a:rPr>
                <a:t>: Vehicle Prognostics  - based on telematics data from CVs</a:t>
              </a:r>
            </a:p>
            <a:p>
              <a:pPr>
                <a:defRPr/>
              </a:pPr>
              <a:r>
                <a:rPr lang="en-US" sz="1400" b="1" kern="0">
                  <a:solidFill>
                    <a:sysClr val="windowText" lastClr="000000"/>
                  </a:solidFill>
                  <a:latin typeface="Century Gothic" panose="020B0502020202020204" pitchFamily="34" charset="0"/>
                </a:rPr>
                <a:t>Business Unit </a:t>
              </a:r>
              <a:r>
                <a:rPr lang="en-US" sz="1400" kern="0">
                  <a:solidFill>
                    <a:sysClr val="windowText" lastClr="000000"/>
                  </a:solidFill>
                  <a:latin typeface="Century Gothic" panose="020B0502020202020204" pitchFamily="34" charset="0"/>
                </a:rPr>
                <a:t>: Commercial Vehicles</a:t>
              </a:r>
            </a:p>
            <a:p>
              <a:pPr fontAlgn="ctr">
                <a:defRPr/>
              </a:pPr>
              <a:r>
                <a:rPr lang="en-US" sz="1400" b="1" kern="0">
                  <a:solidFill>
                    <a:sysClr val="windowText" lastClr="000000"/>
                  </a:solidFill>
                  <a:latin typeface="Century Gothic" panose="020B0502020202020204" pitchFamily="34" charset="0"/>
                </a:rPr>
                <a:t>Status : In-Progress</a:t>
              </a:r>
            </a:p>
            <a:p>
              <a:pPr fontAlgn="ctr">
                <a:defRPr/>
              </a:pPr>
              <a:endParaRPr lang="en-US" sz="1400" b="1" kern="0">
                <a:solidFill>
                  <a:sysClr val="windowText" lastClr="000000"/>
                </a:solidFill>
                <a:latin typeface="Century Gothic" panose="020B0502020202020204" pitchFamily="34" charset="0"/>
              </a:endParaRPr>
            </a:p>
            <a:p>
              <a:pPr fontAlgn="ctr">
                <a:defRPr/>
              </a:pPr>
              <a:endParaRPr lang="en-US" sz="1200" kern="0">
                <a:solidFill>
                  <a:prstClr val="black"/>
                </a:solidFill>
                <a:latin typeface="Century Gothic" panose="020B0502020202020204" pitchFamily="34" charset="0"/>
              </a:endParaRPr>
            </a:p>
          </p:txBody>
        </p:sp>
        <p:sp>
          <p:nvSpPr>
            <p:cNvPr id="73" name="Rectangle 72"/>
            <p:cNvSpPr/>
            <p:nvPr/>
          </p:nvSpPr>
          <p:spPr>
            <a:xfrm>
              <a:off x="239691" y="2757030"/>
              <a:ext cx="5063830" cy="363331"/>
            </a:xfrm>
            <a:prstGeom prst="rect">
              <a:avLst/>
            </a:prstGeom>
            <a:solidFill>
              <a:srgbClr val="00B0F0"/>
            </a:solidFill>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1400" b="1" kern="0">
                  <a:solidFill>
                    <a:prstClr val="white"/>
                  </a:solidFill>
                  <a:latin typeface="Century Gothic" panose="020B0502020202020204" pitchFamily="34" charset="0"/>
                </a:rPr>
                <a:t>Analytics – Telematics</a:t>
              </a:r>
              <a:endParaRPr lang="en-US" sz="1400" kern="0">
                <a:solidFill>
                  <a:prstClr val="white"/>
                </a:solidFill>
                <a:latin typeface="Century Gothic" panose="020B0502020202020204" pitchFamily="34" charset="0"/>
              </a:endParaRPr>
            </a:p>
          </p:txBody>
        </p:sp>
      </p:grpSp>
      <p:sp>
        <p:nvSpPr>
          <p:cNvPr id="79" name="AutoShape 6" descr="Image result for problems ahead icon"/>
          <p:cNvSpPr>
            <a:spLocks noChangeAspect="1" noChangeArrowheads="1"/>
          </p:cNvSpPr>
          <p:nvPr/>
        </p:nvSpPr>
        <p:spPr bwMode="auto">
          <a:xfrm>
            <a:off x="5750406" y="444330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Century Gothic" panose="020B0502020202020204" pitchFamily="34" charset="0"/>
            </a:endParaRPr>
          </a:p>
        </p:txBody>
      </p:sp>
      <p:sp>
        <p:nvSpPr>
          <p:cNvPr id="76" name="Oval 75"/>
          <p:cNvSpPr/>
          <p:nvPr/>
        </p:nvSpPr>
        <p:spPr>
          <a:xfrm>
            <a:off x="11135878" y="2322580"/>
            <a:ext cx="243512" cy="259122"/>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78" name="Oval 77"/>
          <p:cNvSpPr/>
          <p:nvPr/>
        </p:nvSpPr>
        <p:spPr>
          <a:xfrm>
            <a:off x="11190194" y="2375101"/>
            <a:ext cx="137457" cy="1462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ysClr val="windowText" lastClr="000000"/>
              </a:solidFill>
              <a:latin typeface="Century Gothic" panose="020B0502020202020204" pitchFamily="34" charset="0"/>
            </a:endParaRPr>
          </a:p>
        </p:txBody>
      </p:sp>
      <p:sp>
        <p:nvSpPr>
          <p:cNvPr id="89" name="TextBox 88"/>
          <p:cNvSpPr txBox="1"/>
          <p:nvPr/>
        </p:nvSpPr>
        <p:spPr>
          <a:xfrm>
            <a:off x="11001136" y="2057763"/>
            <a:ext cx="858841" cy="276999"/>
          </a:xfrm>
          <a:prstGeom prst="rect">
            <a:avLst/>
          </a:prstGeom>
          <a:noFill/>
        </p:spPr>
        <p:txBody>
          <a:bodyPr wrap="square" rtlCol="0">
            <a:spAutoFit/>
          </a:bodyPr>
          <a:lstStyle/>
          <a:p>
            <a:pPr>
              <a:defRPr/>
            </a:pPr>
            <a:r>
              <a:rPr lang="en-US" sz="1200" b="1" kern="0">
                <a:solidFill>
                  <a:srgbClr val="00B0F0"/>
                </a:solidFill>
                <a:latin typeface="Century Gothic" panose="020B0502020202020204" pitchFamily="34" charset="0"/>
              </a:rPr>
              <a:t>OCT’16</a:t>
            </a:r>
          </a:p>
        </p:txBody>
      </p:sp>
      <p:grpSp>
        <p:nvGrpSpPr>
          <p:cNvPr id="91" name="Group 90"/>
          <p:cNvGrpSpPr/>
          <p:nvPr/>
        </p:nvGrpSpPr>
        <p:grpSpPr>
          <a:xfrm>
            <a:off x="4358895" y="4859321"/>
            <a:ext cx="3542458" cy="1813631"/>
            <a:chOff x="239690" y="2757030"/>
            <a:chExt cx="5063831" cy="1678780"/>
          </a:xfrm>
        </p:grpSpPr>
        <p:sp>
          <p:nvSpPr>
            <p:cNvPr id="92" name="Rectangle 91"/>
            <p:cNvSpPr/>
            <p:nvPr/>
          </p:nvSpPr>
          <p:spPr>
            <a:xfrm>
              <a:off x="239690" y="3085837"/>
              <a:ext cx="5063830" cy="134997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defRPr/>
              </a:pPr>
              <a:r>
                <a:rPr lang="en-US" sz="1400" b="1" kern="0">
                  <a:solidFill>
                    <a:sysClr val="windowText" lastClr="000000"/>
                  </a:solidFill>
                  <a:latin typeface="Century Gothic" panose="020B0502020202020204" pitchFamily="34" charset="0"/>
                </a:rPr>
                <a:t>Project</a:t>
              </a:r>
              <a:r>
                <a:rPr lang="en-US" sz="1400" kern="0">
                  <a:solidFill>
                    <a:sysClr val="windowText" lastClr="000000"/>
                  </a:solidFill>
                  <a:latin typeface="Century Gothic" panose="020B0502020202020204" pitchFamily="34" charset="0"/>
                </a:rPr>
                <a:t>: AMC Pricing and Procurement Analytics</a:t>
              </a:r>
            </a:p>
            <a:p>
              <a:pPr>
                <a:defRPr/>
              </a:pPr>
              <a:r>
                <a:rPr lang="en-US" sz="1400" b="1" kern="0">
                  <a:solidFill>
                    <a:sysClr val="windowText" lastClr="000000"/>
                  </a:solidFill>
                  <a:latin typeface="Century Gothic" panose="020B0502020202020204" pitchFamily="34" charset="0"/>
                </a:rPr>
                <a:t>Business Unit </a:t>
              </a:r>
              <a:r>
                <a:rPr lang="en-US" sz="1400" kern="0">
                  <a:solidFill>
                    <a:sysClr val="windowText" lastClr="000000"/>
                  </a:solidFill>
                  <a:latin typeface="Century Gothic" panose="020B0502020202020204" pitchFamily="34" charset="0"/>
                </a:rPr>
                <a:t>: Commercial Vehicles</a:t>
              </a:r>
            </a:p>
            <a:p>
              <a:pPr fontAlgn="ctr">
                <a:defRPr/>
              </a:pPr>
              <a:r>
                <a:rPr lang="en-US" sz="1400" b="1" kern="0">
                  <a:solidFill>
                    <a:sysClr val="windowText" lastClr="000000"/>
                  </a:solidFill>
                  <a:latin typeface="Century Gothic" panose="020B0502020202020204" pitchFamily="34" charset="0"/>
                </a:rPr>
                <a:t>Status : In-Progress</a:t>
              </a:r>
            </a:p>
            <a:p>
              <a:pPr fontAlgn="ctr">
                <a:defRPr/>
              </a:pPr>
              <a:endParaRPr lang="en-US" sz="1200" kern="0">
                <a:solidFill>
                  <a:prstClr val="black"/>
                </a:solidFill>
                <a:latin typeface="Century Gothic" panose="020B0502020202020204" pitchFamily="34" charset="0"/>
              </a:endParaRPr>
            </a:p>
          </p:txBody>
        </p:sp>
        <p:sp>
          <p:nvSpPr>
            <p:cNvPr id="93" name="Rectangle 92"/>
            <p:cNvSpPr/>
            <p:nvPr/>
          </p:nvSpPr>
          <p:spPr>
            <a:xfrm>
              <a:off x="239691" y="2757030"/>
              <a:ext cx="5063830" cy="363331"/>
            </a:xfrm>
            <a:prstGeom prst="rect">
              <a:avLst/>
            </a:prstGeom>
            <a:solidFill>
              <a:srgbClr val="00B0F0"/>
            </a:solidFill>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1400" b="1" kern="0">
                  <a:solidFill>
                    <a:prstClr val="white"/>
                  </a:solidFill>
                  <a:latin typeface="Century Gothic" panose="020B0502020202020204" pitchFamily="34" charset="0"/>
                </a:rPr>
                <a:t>Analytics – Pricing &amp; Procurement</a:t>
              </a:r>
              <a:endParaRPr lang="en-US" sz="1400" kern="0">
                <a:solidFill>
                  <a:prstClr val="white"/>
                </a:solidFill>
                <a:latin typeface="Century Gothic" panose="020B0502020202020204" pitchFamily="34" charset="0"/>
              </a:endParaRPr>
            </a:p>
          </p:txBody>
        </p:sp>
      </p:grpSp>
      <p:sp>
        <p:nvSpPr>
          <p:cNvPr id="94" name="Rectangle 93"/>
          <p:cNvSpPr/>
          <p:nvPr/>
        </p:nvSpPr>
        <p:spPr>
          <a:xfrm>
            <a:off x="8026402" y="5499412"/>
            <a:ext cx="3992014" cy="12447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spcBef>
                <a:spcPts val="600"/>
              </a:spcBef>
              <a:defRPr/>
            </a:pPr>
            <a:r>
              <a:rPr lang="en-US" sz="1400" b="1" kern="0">
                <a:solidFill>
                  <a:srgbClr val="00B0F0"/>
                </a:solidFill>
                <a:latin typeface="Century Gothic" panose="020B0502020202020204" pitchFamily="34" charset="0"/>
              </a:rPr>
              <a:t>      Challenges : </a:t>
            </a:r>
            <a:endParaRPr lang="en-US" sz="1400" kern="0">
              <a:solidFill>
                <a:srgbClr val="00B0F0"/>
              </a:solidFill>
              <a:latin typeface="Century Gothic" panose="020B0502020202020204" pitchFamily="34" charset="0"/>
            </a:endParaRPr>
          </a:p>
          <a:p>
            <a:pPr marL="285750" indent="-285750">
              <a:spcBef>
                <a:spcPts val="600"/>
              </a:spcBef>
              <a:buFont typeface="Arial" panose="020B0604020202020204" pitchFamily="34" charset="0"/>
              <a:buChar char="•"/>
              <a:defRPr/>
            </a:pPr>
            <a:r>
              <a:rPr lang="en-US" sz="1400" kern="0">
                <a:solidFill>
                  <a:prstClr val="black"/>
                </a:solidFill>
                <a:latin typeface="Century Gothic" panose="020B0502020202020204" pitchFamily="34" charset="0"/>
              </a:rPr>
              <a:t>Legal discussions decentralized in nature leading to Tata iQ having to engage in lengthy discussions with each department </a:t>
            </a:r>
          </a:p>
        </p:txBody>
      </p:sp>
      <p:grpSp>
        <p:nvGrpSpPr>
          <p:cNvPr id="2" name="Group 1"/>
          <p:cNvGrpSpPr/>
          <p:nvPr/>
        </p:nvGrpSpPr>
        <p:grpSpPr>
          <a:xfrm>
            <a:off x="7963365" y="2853566"/>
            <a:ext cx="4055050" cy="1465467"/>
            <a:chOff x="8306265" y="2866266"/>
            <a:chExt cx="3739196" cy="1465467"/>
          </a:xfrm>
        </p:grpSpPr>
        <p:sp>
          <p:nvSpPr>
            <p:cNvPr id="80" name="Rectangle 79"/>
            <p:cNvSpPr/>
            <p:nvPr/>
          </p:nvSpPr>
          <p:spPr>
            <a:xfrm>
              <a:off x="8306265" y="2866266"/>
              <a:ext cx="3739196" cy="1465467"/>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sz="1600" kern="0">
                <a:solidFill>
                  <a:sysClr val="windowText" lastClr="000000"/>
                </a:solidFill>
                <a:latin typeface="Century Gothic" panose="020B0502020202020204" pitchFamily="34" charset="0"/>
              </a:endParaRPr>
            </a:p>
          </p:txBody>
        </p:sp>
        <p:grpSp>
          <p:nvGrpSpPr>
            <p:cNvPr id="97" name="Group 96"/>
            <p:cNvGrpSpPr/>
            <p:nvPr/>
          </p:nvGrpSpPr>
          <p:grpSpPr>
            <a:xfrm>
              <a:off x="8407386" y="2929760"/>
              <a:ext cx="3554192" cy="1351776"/>
              <a:chOff x="239690" y="2770393"/>
              <a:chExt cx="5063831" cy="1284053"/>
            </a:xfrm>
          </p:grpSpPr>
          <p:sp>
            <p:nvSpPr>
              <p:cNvPr id="98" name="Rectangle 97"/>
              <p:cNvSpPr/>
              <p:nvPr/>
            </p:nvSpPr>
            <p:spPr>
              <a:xfrm>
                <a:off x="239690" y="3087496"/>
                <a:ext cx="5063830" cy="96695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defRPr/>
                </a:pPr>
                <a:r>
                  <a:rPr lang="en-US" sz="1400" b="1" kern="0">
                    <a:solidFill>
                      <a:sysClr val="windowText" lastClr="000000"/>
                    </a:solidFill>
                    <a:latin typeface="Century Gothic" panose="020B0502020202020204" pitchFamily="34" charset="0"/>
                  </a:rPr>
                  <a:t>Project </a:t>
                </a:r>
                <a:r>
                  <a:rPr lang="en-US" sz="1400" kern="0">
                    <a:solidFill>
                      <a:sysClr val="windowText" lastClr="000000"/>
                    </a:solidFill>
                    <a:latin typeface="Century Gothic" panose="020B0502020202020204" pitchFamily="34" charset="0"/>
                  </a:rPr>
                  <a:t>:  Dealer Location Optimization</a:t>
                </a:r>
                <a:endParaRPr lang="en-US" sz="1400" kern="0">
                  <a:solidFill>
                    <a:prstClr val="black"/>
                  </a:solidFill>
                  <a:latin typeface="Century Gothic" panose="020B0502020202020204" pitchFamily="34" charset="0"/>
                </a:endParaRPr>
              </a:p>
              <a:p>
                <a:pPr>
                  <a:defRPr/>
                </a:pPr>
                <a:r>
                  <a:rPr lang="en-US" sz="1400" b="1" kern="0">
                    <a:solidFill>
                      <a:sysClr val="windowText" lastClr="000000"/>
                    </a:solidFill>
                    <a:latin typeface="Century Gothic" panose="020B0502020202020204" pitchFamily="34" charset="0"/>
                  </a:rPr>
                  <a:t>Business Unit </a:t>
                </a:r>
                <a:r>
                  <a:rPr lang="en-US" sz="1400" kern="0">
                    <a:solidFill>
                      <a:sysClr val="windowText" lastClr="000000"/>
                    </a:solidFill>
                    <a:latin typeface="Century Gothic" panose="020B0502020202020204" pitchFamily="34" charset="0"/>
                  </a:rPr>
                  <a:t>: PV and CV</a:t>
                </a:r>
              </a:p>
              <a:p>
                <a:pPr fontAlgn="ctr">
                  <a:defRPr/>
                </a:pPr>
                <a:r>
                  <a:rPr lang="en-US" sz="1400" b="1" kern="0">
                    <a:solidFill>
                      <a:sysClr val="windowText" lastClr="000000"/>
                    </a:solidFill>
                    <a:latin typeface="Century Gothic" panose="020B0502020202020204" pitchFamily="34" charset="0"/>
                  </a:rPr>
                  <a:t>Status : In-Progress</a:t>
                </a:r>
              </a:p>
            </p:txBody>
          </p:sp>
          <p:sp>
            <p:nvSpPr>
              <p:cNvPr id="99" name="Rectangle 98"/>
              <p:cNvSpPr/>
              <p:nvPr/>
            </p:nvSpPr>
            <p:spPr>
              <a:xfrm>
                <a:off x="239691" y="2770393"/>
                <a:ext cx="5063830" cy="399870"/>
              </a:xfrm>
              <a:prstGeom prst="rect">
                <a:avLst/>
              </a:prstGeom>
              <a:solidFill>
                <a:schemeClr val="bg1">
                  <a:lumMod val="65000"/>
                </a:schemeClr>
              </a:solidFill>
              <a:ln>
                <a:solidFill>
                  <a:schemeClr val="bg1">
                    <a:lumMod val="6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1400" b="1" kern="0">
                    <a:solidFill>
                      <a:prstClr val="white"/>
                    </a:solidFill>
                    <a:latin typeface="Century Gothic" panose="020B0502020202020204" pitchFamily="34" charset="0"/>
                  </a:rPr>
                  <a:t>Neo Based – Location Attractiveness</a:t>
                </a:r>
                <a:endParaRPr lang="en-US" sz="1400" kern="0">
                  <a:solidFill>
                    <a:prstClr val="white"/>
                  </a:solidFill>
                  <a:latin typeface="Century Gothic" panose="020B0502020202020204" pitchFamily="34" charset="0"/>
                </a:endParaRPr>
              </a:p>
            </p:txBody>
          </p:sp>
        </p:grpSp>
      </p:grpSp>
      <p:pic>
        <p:nvPicPr>
          <p:cNvPr id="1026" name="Picture 2" descr="Image result for accentur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2049" y="1113623"/>
            <a:ext cx="872804" cy="512975"/>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 descr="Image result for difficulties icon"/>
          <p:cNvPicPr>
            <a:picLocks noChangeAspect="1" noChangeArrowheads="1"/>
          </p:cNvPicPr>
          <p:nvPr/>
        </p:nvPicPr>
        <p:blipFill>
          <a:blip r:embed="rId4" cstate="print">
            <a:biLevel thresh="75000"/>
            <a:extLst>
              <a:ext uri="{28A0092B-C50C-407E-A947-70E740481C1C}">
                <a14:useLocalDpi xmlns:a14="http://schemas.microsoft.com/office/drawing/2010/main" val="0"/>
              </a:ext>
            </a:extLst>
          </a:blip>
          <a:srcRect/>
          <a:stretch>
            <a:fillRect/>
          </a:stretch>
        </p:blipFill>
        <p:spPr bwMode="auto">
          <a:xfrm>
            <a:off x="8073028" y="5522184"/>
            <a:ext cx="323985" cy="329768"/>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p:cNvSpPr/>
          <p:nvPr/>
        </p:nvSpPr>
        <p:spPr>
          <a:xfrm>
            <a:off x="8062561" y="4336588"/>
            <a:ext cx="3924432" cy="1114948"/>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pPr>
              <a:spcBef>
                <a:spcPts val="600"/>
              </a:spcBef>
              <a:defRPr/>
            </a:pPr>
            <a:r>
              <a:rPr lang="en-US" sz="1400" b="1" kern="0">
                <a:solidFill>
                  <a:srgbClr val="00B0F0"/>
                </a:solidFill>
                <a:latin typeface="Century Gothic" panose="020B0502020202020204" pitchFamily="34" charset="0"/>
              </a:rPr>
              <a:t>       Opportunities:</a:t>
            </a:r>
          </a:p>
          <a:p>
            <a:pPr marL="285750" indent="-285750">
              <a:spcBef>
                <a:spcPts val="600"/>
              </a:spcBef>
              <a:buFont typeface="Arial" panose="020B0604020202020204" pitchFamily="34" charset="0"/>
              <a:buChar char="•"/>
              <a:defRPr/>
            </a:pPr>
            <a:r>
              <a:rPr lang="en-US" sz="1400" kern="0">
                <a:solidFill>
                  <a:prstClr val="black"/>
                </a:solidFill>
                <a:latin typeface="Century Gothic" panose="020B0502020202020204" pitchFamily="34" charset="0"/>
              </a:rPr>
              <a:t>Procurement, dealer network optimization, location planning</a:t>
            </a:r>
          </a:p>
          <a:p>
            <a:pPr marL="285750" indent="-285750">
              <a:spcBef>
                <a:spcPts val="600"/>
              </a:spcBef>
              <a:buFont typeface="Arial" panose="020B0604020202020204" pitchFamily="34" charset="0"/>
              <a:buChar char="•"/>
              <a:defRPr/>
            </a:pPr>
            <a:r>
              <a:rPr lang="en-US" sz="1400" kern="0" err="1">
                <a:solidFill>
                  <a:prstClr val="black"/>
                </a:solidFill>
                <a:latin typeface="Century Gothic" panose="020B0502020202020204" pitchFamily="34" charset="0"/>
              </a:rPr>
              <a:t>Hexa</a:t>
            </a:r>
            <a:r>
              <a:rPr lang="en-US" sz="1400" kern="0">
                <a:solidFill>
                  <a:prstClr val="black"/>
                </a:solidFill>
                <a:latin typeface="Century Gothic" panose="020B0502020202020204" pitchFamily="34" charset="0"/>
              </a:rPr>
              <a:t> Launch – Targeted Marketing</a:t>
            </a:r>
          </a:p>
          <a:p>
            <a:pPr marL="285750" indent="-285750">
              <a:spcBef>
                <a:spcPts val="600"/>
              </a:spcBef>
              <a:buFont typeface="Arial" panose="020B0604020202020204" pitchFamily="34" charset="0"/>
              <a:buChar char="•"/>
              <a:defRPr/>
            </a:pPr>
            <a:endParaRPr lang="en-US" sz="1400" kern="0">
              <a:solidFill>
                <a:prstClr val="black"/>
              </a:solidFill>
              <a:latin typeface="Century Gothic" panose="020B0502020202020204" pitchFamily="34" charset="0"/>
            </a:endParaRPr>
          </a:p>
          <a:p>
            <a:pPr marL="285750" indent="-285750">
              <a:spcBef>
                <a:spcPts val="600"/>
              </a:spcBef>
              <a:buFont typeface="Arial" panose="020B0604020202020204" pitchFamily="34" charset="0"/>
              <a:buChar char="•"/>
              <a:defRPr/>
            </a:pPr>
            <a:endParaRPr lang="en-US" sz="1400" kern="0">
              <a:solidFill>
                <a:prstClr val="black"/>
              </a:solidFill>
              <a:latin typeface="Century Gothic" panose="020B0502020202020204" pitchFamily="34" charset="0"/>
            </a:endParaRPr>
          </a:p>
          <a:p>
            <a:pPr>
              <a:spcBef>
                <a:spcPts val="600"/>
              </a:spcBef>
              <a:defRPr/>
            </a:pPr>
            <a:endParaRPr lang="en-US" sz="1400" b="1" kern="0">
              <a:solidFill>
                <a:srgbClr val="00B0F0"/>
              </a:solidFill>
              <a:latin typeface="Century Gothic" panose="020B0502020202020204" pitchFamily="34" charset="0"/>
            </a:endParaRPr>
          </a:p>
        </p:txBody>
      </p:sp>
      <p:pic>
        <p:nvPicPr>
          <p:cNvPr id="84" name="Picture 2" descr="Image result for opportunities icon"/>
          <p:cNvPicPr>
            <a:picLocks noChangeAspect="1" noChangeArrowheads="1"/>
          </p:cNvPicPr>
          <p:nvPr/>
        </p:nvPicPr>
        <p:blipFill>
          <a:blip r:embed="rId5" cstate="print">
            <a:biLevel thresh="75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8139548" y="4359974"/>
            <a:ext cx="235256" cy="314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772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2263"/>
            <a:ext cx="12192000" cy="53908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IN" kern="0" dirty="0">
              <a:solidFill>
                <a:prstClr val="white"/>
              </a:solidFill>
            </a:endParaRPr>
          </a:p>
        </p:txBody>
      </p:sp>
      <p:grpSp>
        <p:nvGrpSpPr>
          <p:cNvPr id="8" name="Group 7"/>
          <p:cNvGrpSpPr/>
          <p:nvPr/>
        </p:nvGrpSpPr>
        <p:grpSpPr>
          <a:xfrm>
            <a:off x="587514" y="2547738"/>
            <a:ext cx="11022569" cy="1200329"/>
            <a:chOff x="587514" y="1960714"/>
            <a:chExt cx="11022569" cy="1200329"/>
          </a:xfrm>
        </p:grpSpPr>
        <p:sp>
          <p:nvSpPr>
            <p:cNvPr id="5" name="Rectangle 4"/>
            <p:cNvSpPr/>
            <p:nvPr/>
          </p:nvSpPr>
          <p:spPr>
            <a:xfrm>
              <a:off x="587514" y="1960714"/>
              <a:ext cx="11022569" cy="1200329"/>
            </a:xfrm>
            <a:prstGeom prst="rect">
              <a:avLst/>
            </a:prstGeom>
          </p:spPr>
          <p:txBody>
            <a:bodyPr wrap="none">
              <a:spAutoFit/>
            </a:bodyPr>
            <a:lstStyle/>
            <a:p>
              <a:pPr algn="ctr">
                <a:defRPr/>
              </a:pPr>
              <a:r>
                <a:rPr lang="en-IN" sz="7200" kern="0" dirty="0" smtClean="0">
                  <a:ln/>
                  <a:solidFill>
                    <a:prstClr val="white"/>
                  </a:solidFill>
                  <a:latin typeface="Leelawadee UI" panose="020B0502040204020203" pitchFamily="34" charset="-34"/>
                  <a:cs typeface="Leelawadee UI" panose="020B0502040204020203" pitchFamily="34" charset="-34"/>
                </a:rPr>
                <a:t>Tata </a:t>
              </a:r>
              <a:r>
                <a:rPr lang="en-IN" sz="7200" kern="0" dirty="0" err="1" smtClean="0">
                  <a:ln/>
                  <a:solidFill>
                    <a:prstClr val="white"/>
                  </a:solidFill>
                  <a:latin typeface="Leelawadee UI" panose="020B0502040204020203" pitchFamily="34" charset="-34"/>
                  <a:cs typeface="Leelawadee UI" panose="020B0502040204020203" pitchFamily="34" charset="-34"/>
                </a:rPr>
                <a:t>iQ</a:t>
              </a:r>
              <a:r>
                <a:rPr lang="en-IN" sz="7200" kern="0" dirty="0" smtClean="0">
                  <a:ln/>
                  <a:solidFill>
                    <a:prstClr val="white"/>
                  </a:solidFill>
                  <a:latin typeface="Leelawadee UI" panose="020B0502040204020203" pitchFamily="34" charset="-34"/>
                  <a:cs typeface="Leelawadee UI" panose="020B0502040204020203" pitchFamily="34" charset="-34"/>
                </a:rPr>
                <a:t> Data – </a:t>
              </a:r>
              <a:r>
                <a:rPr lang="en-IN" sz="6000" i="1" kern="0" dirty="0" smtClean="0">
                  <a:ln/>
                  <a:solidFill>
                    <a:prstClr val="white"/>
                  </a:solidFill>
                  <a:latin typeface="Leelawadee UI" panose="020B0502040204020203" pitchFamily="34" charset="-34"/>
                  <a:cs typeface="Leelawadee UI" panose="020B0502040204020203" pitchFamily="34" charset="-34"/>
                </a:rPr>
                <a:t>a key enabler</a:t>
              </a:r>
              <a:endParaRPr lang="en-IN" sz="6000" i="1" kern="0" dirty="0">
                <a:ln/>
                <a:solidFill>
                  <a:prstClr val="white"/>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27</a:t>
            </a:fld>
            <a:endParaRPr lang="en-IN" sz="1800" kern="0" dirty="0">
              <a:solidFill>
                <a:srgbClr val="000000">
                  <a:tint val="75000"/>
                </a:srgbClr>
              </a:solidFill>
            </a:endParaRPr>
          </a:p>
        </p:txBody>
      </p:sp>
    </p:spTree>
    <p:extLst>
      <p:ext uri="{BB962C8B-B14F-4D97-AF65-F5344CB8AC3E}">
        <p14:creationId xmlns:p14="http://schemas.microsoft.com/office/powerpoint/2010/main" val="40676410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67086"/>
            <a:ext cx="12191999" cy="5838179"/>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sng" strike="noStrike" kern="0" cap="none" spc="0" normalizeH="0" baseline="0" noProof="0" dirty="0">
              <a:ln>
                <a:noFill/>
              </a:ln>
              <a:solidFill>
                <a:prstClr val="white"/>
              </a:solidFill>
              <a:effectLst/>
              <a:uLnTx/>
              <a:uFillTx/>
            </a:endParaRPr>
          </a:p>
        </p:txBody>
      </p:sp>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28</a:t>
            </a:fld>
            <a:endParaRPr lang="en-IN" sz="1800" kern="0" dirty="0">
              <a:solidFill>
                <a:srgbClr val="000000">
                  <a:tint val="75000"/>
                </a:srgbClr>
              </a:solidFill>
            </a:endParaRPr>
          </a:p>
        </p:txBody>
      </p:sp>
      <p:cxnSp>
        <p:nvCxnSpPr>
          <p:cNvPr id="39" name="Elbow Connector 38"/>
          <p:cNvCxnSpPr/>
          <p:nvPr/>
        </p:nvCxnSpPr>
        <p:spPr>
          <a:xfrm flipV="1">
            <a:off x="9416170" y="1124673"/>
            <a:ext cx="799724" cy="125077"/>
          </a:xfrm>
          <a:prstGeom prst="bentConnector3">
            <a:avLst>
              <a:gd name="adj1" fmla="val 50000"/>
            </a:avLst>
          </a:prstGeom>
          <a:ln>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47" name="Table 46"/>
          <p:cNvGraphicFramePr>
            <a:graphicFrameLocks noGrp="1"/>
          </p:cNvGraphicFramePr>
          <p:nvPr>
            <p:extLst/>
          </p:nvPr>
        </p:nvGraphicFramePr>
        <p:xfrm>
          <a:off x="607580" y="2611608"/>
          <a:ext cx="9055035" cy="640080"/>
        </p:xfrm>
        <a:graphic>
          <a:graphicData uri="http://schemas.openxmlformats.org/drawingml/2006/table">
            <a:tbl>
              <a:tblPr firstRow="1" bandRow="1">
                <a:tableStyleId>{2D5ABB26-0587-4C30-8999-92F81FD0307C}</a:tableStyleId>
              </a:tblPr>
              <a:tblGrid>
                <a:gridCol w="1323003">
                  <a:extLst>
                    <a:ext uri="{9D8B030D-6E8A-4147-A177-3AD203B41FA5}">
                      <a16:colId xmlns="" xmlns:a16="http://schemas.microsoft.com/office/drawing/2014/main" val="20000"/>
                    </a:ext>
                  </a:extLst>
                </a:gridCol>
                <a:gridCol w="1628260">
                  <a:extLst>
                    <a:ext uri="{9D8B030D-6E8A-4147-A177-3AD203B41FA5}">
                      <a16:colId xmlns="" xmlns:a16="http://schemas.microsoft.com/office/drawing/2014/main" val="20001"/>
                    </a:ext>
                  </a:extLst>
                </a:gridCol>
                <a:gridCol w="1609172">
                  <a:extLst>
                    <a:ext uri="{9D8B030D-6E8A-4147-A177-3AD203B41FA5}">
                      <a16:colId xmlns="" xmlns:a16="http://schemas.microsoft.com/office/drawing/2014/main" val="20002"/>
                    </a:ext>
                  </a:extLst>
                </a:gridCol>
                <a:gridCol w="1396558">
                  <a:extLst>
                    <a:ext uri="{9D8B030D-6E8A-4147-A177-3AD203B41FA5}">
                      <a16:colId xmlns="" xmlns:a16="http://schemas.microsoft.com/office/drawing/2014/main" val="20003"/>
                    </a:ext>
                  </a:extLst>
                </a:gridCol>
                <a:gridCol w="1501254">
                  <a:extLst>
                    <a:ext uri="{9D8B030D-6E8A-4147-A177-3AD203B41FA5}">
                      <a16:colId xmlns="" xmlns:a16="http://schemas.microsoft.com/office/drawing/2014/main" val="20004"/>
                    </a:ext>
                  </a:extLst>
                </a:gridCol>
                <a:gridCol w="1596788">
                  <a:extLst>
                    <a:ext uri="{9D8B030D-6E8A-4147-A177-3AD203B41FA5}">
                      <a16:colId xmlns="" xmlns:a16="http://schemas.microsoft.com/office/drawing/2014/main" val="20005"/>
                    </a:ext>
                  </a:extLst>
                </a:gridCol>
              </a:tblGrid>
              <a:tr h="370840">
                <a:tc>
                  <a:txBody>
                    <a:bodyPr/>
                    <a:lstStyle/>
                    <a:p>
                      <a:pPr algn="ctr"/>
                      <a:r>
                        <a:rPr lang="en-IN" sz="1800" dirty="0">
                          <a:solidFill>
                            <a:schemeClr val="bg1"/>
                          </a:solidFill>
                        </a:rPr>
                        <a:t>Pan</a:t>
                      </a:r>
                      <a:r>
                        <a:rPr lang="en-IN" sz="1800" baseline="0" dirty="0">
                          <a:solidFill>
                            <a:schemeClr val="bg1"/>
                          </a:solidFill>
                        </a:rPr>
                        <a:t>-India</a:t>
                      </a:r>
                      <a:endParaRPr lang="en-IN" sz="18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    29 States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baseline="0" dirty="0">
                          <a:solidFill>
                            <a:schemeClr val="bg1"/>
                          </a:solidFill>
                        </a:rPr>
                        <a:t> </a:t>
                      </a:r>
                      <a:r>
                        <a:rPr lang="en-IN" sz="1800" dirty="0">
                          <a:solidFill>
                            <a:schemeClr val="bg1"/>
                          </a:solidFill>
                        </a:rPr>
                        <a:t>640 Districts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1600</a:t>
                      </a:r>
                      <a:r>
                        <a:rPr lang="en-IN" sz="1800" baseline="0" dirty="0">
                          <a:solidFill>
                            <a:schemeClr val="bg1"/>
                          </a:solidFill>
                        </a:rPr>
                        <a:t> </a:t>
                      </a:r>
                      <a:r>
                        <a:rPr lang="en-IN" sz="1800" dirty="0">
                          <a:solidFill>
                            <a:schemeClr val="bg1"/>
                          </a:solidFill>
                        </a:rPr>
                        <a:t>Citie</a:t>
                      </a:r>
                      <a:r>
                        <a:rPr lang="en-IN" sz="1800" baseline="0" dirty="0">
                          <a:solidFill>
                            <a:schemeClr val="bg1"/>
                          </a:solidFill>
                        </a:rPr>
                        <a:t>s </a:t>
                      </a:r>
                    </a:p>
                    <a:p>
                      <a:pPr algn="ctr"/>
                      <a:r>
                        <a:rPr lang="en-IN" sz="1800" baseline="0" dirty="0">
                          <a:solidFill>
                            <a:schemeClr val="bg1"/>
                          </a:solidFill>
                        </a:rPr>
                        <a:t>&amp; Towns</a:t>
                      </a:r>
                      <a:endParaRPr lang="en-IN" sz="18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19000</a:t>
                      </a:r>
                      <a:r>
                        <a:rPr lang="en-IN" sz="1800" baseline="0" dirty="0">
                          <a:solidFill>
                            <a:schemeClr val="bg1"/>
                          </a:solidFill>
                        </a:rPr>
                        <a:t> </a:t>
                      </a:r>
                    </a:p>
                    <a:p>
                      <a:pPr algn="ctr"/>
                      <a:r>
                        <a:rPr lang="en-IN" sz="1800" baseline="0" dirty="0">
                          <a:solidFill>
                            <a:schemeClr val="bg1"/>
                          </a:solidFill>
                        </a:rPr>
                        <a:t>Pin-codes</a:t>
                      </a:r>
                      <a:endParaRPr lang="en-IN" sz="18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     Street </a:t>
                      </a:r>
                    </a:p>
                    <a:p>
                      <a:pPr algn="ctr"/>
                      <a:r>
                        <a:rPr lang="en-IN" sz="1800" dirty="0">
                          <a:solidFill>
                            <a:schemeClr val="bg1"/>
                          </a:solidFill>
                        </a:rPr>
                        <a:t>    Level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bl>
          </a:graphicData>
        </a:graphic>
      </p:graphicFrame>
      <p:cxnSp>
        <p:nvCxnSpPr>
          <p:cNvPr id="54" name="Elbow Connector 53"/>
          <p:cNvCxnSpPr/>
          <p:nvPr/>
        </p:nvCxnSpPr>
        <p:spPr>
          <a:xfrm rot="10800000" flipV="1">
            <a:off x="10721457" y="1695842"/>
            <a:ext cx="12700" cy="2275415"/>
          </a:xfrm>
          <a:prstGeom prst="bentConnector3">
            <a:avLst>
              <a:gd name="adj1" fmla="val 1800000"/>
            </a:avLst>
          </a:prstGeom>
          <a:ln w="3175"/>
        </p:spPr>
        <p:style>
          <a:lnRef idx="3">
            <a:schemeClr val="dk1"/>
          </a:lnRef>
          <a:fillRef idx="0">
            <a:schemeClr val="dk1"/>
          </a:fillRef>
          <a:effectRef idx="2">
            <a:schemeClr val="dk1"/>
          </a:effectRef>
          <a:fontRef idx="minor">
            <a:schemeClr val="tx1"/>
          </a:fontRef>
        </p:style>
      </p:cxnSp>
      <p:sp>
        <p:nvSpPr>
          <p:cNvPr id="62" name="TextBox 61"/>
          <p:cNvSpPr txBox="1"/>
          <p:nvPr/>
        </p:nvSpPr>
        <p:spPr>
          <a:xfrm>
            <a:off x="10147756" y="2565234"/>
            <a:ext cx="1497533" cy="646331"/>
          </a:xfrm>
          <a:prstGeom prst="rect">
            <a:avLst/>
          </a:prstGeom>
          <a:solidFill>
            <a:schemeClr val="tx1"/>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rPr>
              <a:t>100K Institutions*</a:t>
            </a:r>
          </a:p>
        </p:txBody>
      </p:sp>
      <p:grpSp>
        <p:nvGrpSpPr>
          <p:cNvPr id="1183" name="Group 1182"/>
          <p:cNvGrpSpPr/>
          <p:nvPr/>
        </p:nvGrpSpPr>
        <p:grpSpPr>
          <a:xfrm>
            <a:off x="8469625" y="1532808"/>
            <a:ext cx="959502" cy="876629"/>
            <a:chOff x="3950057" y="2302394"/>
            <a:chExt cx="1619251" cy="1631592"/>
          </a:xfrm>
        </p:grpSpPr>
        <p:pic>
          <p:nvPicPr>
            <p:cNvPr id="1184" name="Picture 118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058" y="2302394"/>
              <a:ext cx="809625" cy="828675"/>
            </a:xfrm>
            <a:prstGeom prst="rect">
              <a:avLst/>
            </a:prstGeom>
          </p:spPr>
        </p:pic>
        <p:pic>
          <p:nvPicPr>
            <p:cNvPr id="1185" name="Picture 118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683" y="2302394"/>
              <a:ext cx="809625" cy="828675"/>
            </a:xfrm>
            <a:prstGeom prst="rect">
              <a:avLst/>
            </a:prstGeom>
          </p:spPr>
        </p:pic>
        <p:pic>
          <p:nvPicPr>
            <p:cNvPr id="1186" name="Picture 118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057" y="3105311"/>
              <a:ext cx="809625" cy="828675"/>
            </a:xfrm>
            <a:prstGeom prst="rect">
              <a:avLst/>
            </a:prstGeom>
          </p:spPr>
        </p:pic>
        <p:pic>
          <p:nvPicPr>
            <p:cNvPr id="1187" name="Picture 118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682" y="3105311"/>
              <a:ext cx="809625" cy="828675"/>
            </a:xfrm>
            <a:prstGeom prst="rect">
              <a:avLst/>
            </a:prstGeom>
          </p:spPr>
        </p:pic>
      </p:grpSp>
      <p:pic>
        <p:nvPicPr>
          <p:cNvPr id="26" name="Picture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0568" y="1564135"/>
            <a:ext cx="6818697" cy="1026694"/>
          </a:xfrm>
          <a:prstGeom prst="rect">
            <a:avLst/>
          </a:prstGeom>
        </p:spPr>
      </p:pic>
      <p:sp>
        <p:nvSpPr>
          <p:cNvPr id="1188" name="TextBox 1187"/>
          <p:cNvSpPr txBox="1"/>
          <p:nvPr/>
        </p:nvSpPr>
        <p:spPr>
          <a:xfrm>
            <a:off x="10065892" y="4459480"/>
            <a:ext cx="2010771" cy="923330"/>
          </a:xfrm>
          <a:prstGeom prst="rect">
            <a:avLst/>
          </a:prstGeom>
          <a:solidFill>
            <a:schemeClr val="tx1"/>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rPr>
              <a:t>Very Limited Size of  Individual Database for Targeting</a:t>
            </a:r>
          </a:p>
        </p:txBody>
      </p:sp>
      <p:pic>
        <p:nvPicPr>
          <p:cNvPr id="1190" name="Picture 6" descr="Image result for customer icon vector png"/>
          <p:cNvPicPr>
            <a:picLocks noChangeAspect="1" noChangeArrowheads="1"/>
          </p:cNvPicPr>
          <p:nvPr/>
        </p:nvPicPr>
        <p:blipFill>
          <a:blip r:embed="rId5"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265852" y="2004082"/>
            <a:ext cx="501978" cy="501978"/>
          </a:xfrm>
          <a:prstGeom prst="rect">
            <a:avLst/>
          </a:prstGeom>
          <a:noFill/>
          <a:extLst>
            <a:ext uri="{909E8E84-426E-40DD-AFC4-6F175D3DCCD1}">
              <a14:hiddenFill xmlns:a14="http://schemas.microsoft.com/office/drawing/2010/main">
                <a:solidFill>
                  <a:srgbClr val="FFFFFF"/>
                </a:solidFill>
              </a14:hiddenFill>
            </a:ext>
          </a:extLst>
        </p:spPr>
      </p:pic>
      <p:pic>
        <p:nvPicPr>
          <p:cNvPr id="1191" name="Picture 8" descr="Image result for industry icon blue"/>
          <p:cNvPicPr>
            <a:picLocks noChangeAspect="1" noChangeArrowheads="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5547" y="1919331"/>
            <a:ext cx="635022" cy="635022"/>
          </a:xfrm>
          <a:prstGeom prst="rect">
            <a:avLst/>
          </a:prstGeom>
          <a:noFill/>
          <a:extLst>
            <a:ext uri="{909E8E84-426E-40DD-AFC4-6F175D3DCCD1}">
              <a14:hiddenFill xmlns:a14="http://schemas.microsoft.com/office/drawing/2010/main">
                <a:solidFill>
                  <a:srgbClr val="FFFFFF"/>
                </a:solidFill>
              </a14:hiddenFill>
            </a:ext>
          </a:extLst>
        </p:spPr>
      </p:pic>
      <p:sp>
        <p:nvSpPr>
          <p:cNvPr id="1192" name="Chevron 1191"/>
          <p:cNvSpPr/>
          <p:nvPr/>
        </p:nvSpPr>
        <p:spPr>
          <a:xfrm>
            <a:off x="8011335" y="1750950"/>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1193" name="Chevron 1192"/>
          <p:cNvSpPr/>
          <p:nvPr/>
        </p:nvSpPr>
        <p:spPr>
          <a:xfrm>
            <a:off x="3431735" y="1803180"/>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1194" name="Chevron 1193"/>
          <p:cNvSpPr/>
          <p:nvPr/>
        </p:nvSpPr>
        <p:spPr>
          <a:xfrm>
            <a:off x="4863845" y="1789518"/>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1195" name="Chevron 1194"/>
          <p:cNvSpPr/>
          <p:nvPr/>
        </p:nvSpPr>
        <p:spPr>
          <a:xfrm>
            <a:off x="6369267" y="1803180"/>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1196" name="Chevron 1195"/>
          <p:cNvSpPr/>
          <p:nvPr/>
        </p:nvSpPr>
        <p:spPr>
          <a:xfrm>
            <a:off x="2027273" y="1829111"/>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1197" name="Chevron 1196"/>
          <p:cNvSpPr/>
          <p:nvPr/>
        </p:nvSpPr>
        <p:spPr>
          <a:xfrm>
            <a:off x="9628204" y="1720615"/>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27" name="Rectangle 26"/>
          <p:cNvSpPr/>
          <p:nvPr/>
        </p:nvSpPr>
        <p:spPr>
          <a:xfrm>
            <a:off x="436524" y="676343"/>
            <a:ext cx="9172704" cy="584775"/>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3200" b="0" i="0" u="none" strike="noStrike" kern="0" cap="none" spc="0" normalizeH="0" baseline="0" noProof="0" dirty="0">
                <a:ln/>
                <a:solidFill>
                  <a:srgbClr val="00B0F0"/>
                </a:solidFill>
                <a:effectLst/>
                <a:uLnTx/>
                <a:uFillTx/>
                <a:latin typeface="Leelawadee UI" panose="020B0502040204020203" pitchFamily="34" charset="-34"/>
                <a:cs typeface="Leelawadee UI" panose="020B0502040204020203" pitchFamily="34" charset="-34"/>
              </a:rPr>
              <a:t>Project Neo </a:t>
            </a:r>
            <a:r>
              <a:rPr kumimoji="0" lang="en-IN" sz="3200" b="0" i="0" u="none" strike="noStrike" kern="0" cap="none" spc="0" normalizeH="0" baseline="0" noProof="0" dirty="0" smtClean="0">
                <a:ln/>
                <a:solidFill>
                  <a:srgbClr val="00B0F0"/>
                </a:solidFill>
                <a:effectLst/>
                <a:uLnTx/>
                <a:uFillTx/>
                <a:latin typeface="Leelawadee UI" panose="020B0502040204020203" pitchFamily="34" charset="-34"/>
                <a:cs typeface="Leelawadee UI" panose="020B0502040204020203" pitchFamily="34" charset="-34"/>
              </a:rPr>
              <a:t>Database – </a:t>
            </a:r>
            <a:r>
              <a:rPr kumimoji="0" lang="en-IN" sz="3200" b="0" i="1" u="none" strike="noStrike" kern="0" cap="none" spc="0" normalizeH="0" baseline="0" noProof="0" dirty="0" smtClean="0">
                <a:ln/>
                <a:solidFill>
                  <a:srgbClr val="00B0F0"/>
                </a:solidFill>
                <a:effectLst/>
                <a:uLnTx/>
                <a:uFillTx/>
                <a:latin typeface="Leelawadee UI" panose="020B0502040204020203" pitchFamily="34" charset="-34"/>
                <a:cs typeface="Leelawadee UI" panose="020B0502040204020203" pitchFamily="34" charset="-34"/>
              </a:rPr>
              <a:t>the power of Tata </a:t>
            </a:r>
            <a:r>
              <a:rPr kumimoji="0" lang="en-IN" sz="3200" b="0" i="1" u="none" strike="noStrike" kern="0" cap="none" spc="0" normalizeH="0" baseline="0" noProof="0" dirty="0" err="1" smtClean="0">
                <a:ln/>
                <a:solidFill>
                  <a:srgbClr val="00B0F0"/>
                </a:solidFill>
                <a:effectLst/>
                <a:uLnTx/>
                <a:uFillTx/>
                <a:latin typeface="Leelawadee UI" panose="020B0502040204020203" pitchFamily="34" charset="-34"/>
                <a:cs typeface="Leelawadee UI" panose="020B0502040204020203" pitchFamily="34" charset="-34"/>
              </a:rPr>
              <a:t>iQ</a:t>
            </a:r>
            <a:r>
              <a:rPr kumimoji="0" lang="en-IN" sz="3200" b="0" i="1" u="none" strike="noStrike" kern="0" cap="none" spc="0" normalizeH="0" baseline="0" noProof="0" dirty="0" smtClean="0">
                <a:ln/>
                <a:solidFill>
                  <a:srgbClr val="00B0F0"/>
                </a:solidFill>
                <a:effectLst/>
                <a:uLnTx/>
                <a:uFillTx/>
                <a:latin typeface="Leelawadee UI" panose="020B0502040204020203" pitchFamily="34" charset="-34"/>
                <a:cs typeface="Leelawadee UI" panose="020B0502040204020203" pitchFamily="34" charset="-34"/>
              </a:rPr>
              <a:t> data</a:t>
            </a:r>
            <a:endParaRPr kumimoji="0" lang="en-IN" sz="3200" b="0" i="1" u="none" strike="noStrike" kern="0" cap="none" spc="0" normalizeH="0" baseline="0" noProof="0" dirty="0">
              <a:ln/>
              <a:solidFill>
                <a:srgbClr val="00B0F0"/>
              </a:solidFill>
              <a:effectLst/>
              <a:uLnTx/>
              <a:uFillTx/>
              <a:latin typeface="Leelawadee UI" panose="020B0502040204020203" pitchFamily="34" charset="-34"/>
              <a:cs typeface="Leelawadee UI" panose="020B0502040204020203" pitchFamily="34" charset="-34"/>
            </a:endParaRPr>
          </a:p>
        </p:txBody>
      </p:sp>
      <p:graphicFrame>
        <p:nvGraphicFramePr>
          <p:cNvPr id="29" name="Table 28"/>
          <p:cNvGraphicFramePr>
            <a:graphicFrameLocks noGrp="1"/>
          </p:cNvGraphicFramePr>
          <p:nvPr>
            <p:extLst/>
          </p:nvPr>
        </p:nvGraphicFramePr>
        <p:xfrm>
          <a:off x="668968" y="5412776"/>
          <a:ext cx="8893204" cy="640080"/>
        </p:xfrm>
        <a:graphic>
          <a:graphicData uri="http://schemas.openxmlformats.org/drawingml/2006/table">
            <a:tbl>
              <a:tblPr firstRow="1" bandRow="1">
                <a:tableStyleId>{2D5ABB26-0587-4C30-8999-92F81FD0307C}</a:tableStyleId>
              </a:tblPr>
              <a:tblGrid>
                <a:gridCol w="1437402">
                  <a:extLst>
                    <a:ext uri="{9D8B030D-6E8A-4147-A177-3AD203B41FA5}">
                      <a16:colId xmlns="" xmlns:a16="http://schemas.microsoft.com/office/drawing/2014/main" val="20000"/>
                    </a:ext>
                  </a:extLst>
                </a:gridCol>
                <a:gridCol w="1730514">
                  <a:extLst>
                    <a:ext uri="{9D8B030D-6E8A-4147-A177-3AD203B41FA5}">
                      <a16:colId xmlns="" xmlns:a16="http://schemas.microsoft.com/office/drawing/2014/main" val="20001"/>
                    </a:ext>
                  </a:extLst>
                </a:gridCol>
                <a:gridCol w="1214650">
                  <a:extLst>
                    <a:ext uri="{9D8B030D-6E8A-4147-A177-3AD203B41FA5}">
                      <a16:colId xmlns="" xmlns:a16="http://schemas.microsoft.com/office/drawing/2014/main" val="20002"/>
                    </a:ext>
                  </a:extLst>
                </a:gridCol>
                <a:gridCol w="1472096">
                  <a:extLst>
                    <a:ext uri="{9D8B030D-6E8A-4147-A177-3AD203B41FA5}">
                      <a16:colId xmlns="" xmlns:a16="http://schemas.microsoft.com/office/drawing/2014/main" val="20003"/>
                    </a:ext>
                  </a:extLst>
                </a:gridCol>
                <a:gridCol w="1765176">
                  <a:extLst>
                    <a:ext uri="{9D8B030D-6E8A-4147-A177-3AD203B41FA5}">
                      <a16:colId xmlns="" xmlns:a16="http://schemas.microsoft.com/office/drawing/2014/main" val="20004"/>
                    </a:ext>
                  </a:extLst>
                </a:gridCol>
                <a:gridCol w="1273366">
                  <a:extLst>
                    <a:ext uri="{9D8B030D-6E8A-4147-A177-3AD203B41FA5}">
                      <a16:colId xmlns="" xmlns:a16="http://schemas.microsoft.com/office/drawing/2014/main" val="20005"/>
                    </a:ext>
                  </a:extLst>
                </a:gridCol>
              </a:tblGrid>
              <a:tr h="370840">
                <a:tc>
                  <a:txBody>
                    <a:bodyPr/>
                    <a:lstStyle/>
                    <a:p>
                      <a:pPr algn="ctr"/>
                      <a:r>
                        <a:rPr lang="en-IN" sz="1800" dirty="0">
                          <a:solidFill>
                            <a:schemeClr val="bg1"/>
                          </a:solidFill>
                        </a:rPr>
                        <a:t>Pan</a:t>
                      </a:r>
                      <a:r>
                        <a:rPr lang="en-IN" sz="1800" baseline="0" dirty="0">
                          <a:solidFill>
                            <a:schemeClr val="bg1"/>
                          </a:solidFill>
                        </a:rPr>
                        <a:t>-India</a:t>
                      </a:r>
                      <a:endParaRPr lang="en-IN" sz="18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    29 States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baseline="0" dirty="0">
                          <a:solidFill>
                            <a:schemeClr val="bg1"/>
                          </a:solidFill>
                        </a:rPr>
                        <a:t> </a:t>
                      </a:r>
                      <a:r>
                        <a:rPr lang="en-IN" sz="1800" dirty="0">
                          <a:solidFill>
                            <a:schemeClr val="bg1"/>
                          </a:solidFill>
                        </a:rPr>
                        <a:t>640 Districts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1600</a:t>
                      </a:r>
                      <a:r>
                        <a:rPr lang="en-IN" sz="1800" baseline="0" dirty="0">
                          <a:solidFill>
                            <a:schemeClr val="bg1"/>
                          </a:solidFill>
                        </a:rPr>
                        <a:t> </a:t>
                      </a:r>
                      <a:r>
                        <a:rPr lang="en-IN" sz="1800" dirty="0">
                          <a:solidFill>
                            <a:schemeClr val="bg1"/>
                          </a:solidFill>
                        </a:rPr>
                        <a:t>Citie</a:t>
                      </a:r>
                      <a:r>
                        <a:rPr lang="en-IN" sz="1800" baseline="0" dirty="0">
                          <a:solidFill>
                            <a:schemeClr val="bg1"/>
                          </a:solidFill>
                        </a:rPr>
                        <a:t>s </a:t>
                      </a:r>
                    </a:p>
                    <a:p>
                      <a:pPr algn="ctr"/>
                      <a:r>
                        <a:rPr lang="en-IN" sz="1800" baseline="0" dirty="0">
                          <a:solidFill>
                            <a:schemeClr val="bg1"/>
                          </a:solidFill>
                        </a:rPr>
                        <a:t>&amp; Towns</a:t>
                      </a:r>
                      <a:endParaRPr lang="en-IN" sz="18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&lt;&lt; 19000</a:t>
                      </a:r>
                      <a:r>
                        <a:rPr lang="en-IN" sz="1800" baseline="0" dirty="0">
                          <a:solidFill>
                            <a:schemeClr val="bg1"/>
                          </a:solidFill>
                        </a:rPr>
                        <a:t> </a:t>
                      </a:r>
                    </a:p>
                    <a:p>
                      <a:pPr algn="ctr"/>
                      <a:r>
                        <a:rPr lang="en-IN" sz="1800" baseline="0" dirty="0">
                          <a:solidFill>
                            <a:schemeClr val="bg1"/>
                          </a:solidFill>
                        </a:rPr>
                        <a:t>Pin-codes</a:t>
                      </a:r>
                      <a:endParaRPr lang="en-IN" sz="18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800" dirty="0">
                          <a:solidFill>
                            <a:schemeClr val="bg1"/>
                          </a:solidFill>
                        </a:rPr>
                        <a:t>Street Level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bl>
          </a:graphicData>
        </a:graphic>
      </p:graphicFrame>
      <p:grpSp>
        <p:nvGrpSpPr>
          <p:cNvPr id="30" name="Group 29"/>
          <p:cNvGrpSpPr/>
          <p:nvPr/>
        </p:nvGrpSpPr>
        <p:grpSpPr>
          <a:xfrm>
            <a:off x="8501752" y="4407936"/>
            <a:ext cx="931029" cy="919015"/>
            <a:chOff x="3950057" y="2302394"/>
            <a:chExt cx="1619251" cy="1631592"/>
          </a:xfrm>
        </p:grpSpPr>
        <p:pic>
          <p:nvPicPr>
            <p:cNvPr id="31" name="Picture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058" y="2302394"/>
              <a:ext cx="809625" cy="828675"/>
            </a:xfrm>
            <a:prstGeom prst="rect">
              <a:avLst/>
            </a:prstGeom>
          </p:spPr>
        </p:pic>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683" y="2302394"/>
              <a:ext cx="809625" cy="828675"/>
            </a:xfrm>
            <a:prstGeom prst="rect">
              <a:avLst/>
            </a:prstGeom>
          </p:spPr>
        </p:pic>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057" y="3105310"/>
              <a:ext cx="809625" cy="828675"/>
            </a:xfrm>
            <a:prstGeom prst="rect">
              <a:avLst/>
            </a:prstGeom>
          </p:spPr>
        </p:pic>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682" y="3105311"/>
              <a:ext cx="809625" cy="828675"/>
            </a:xfrm>
            <a:prstGeom prst="rect">
              <a:avLst/>
            </a:prstGeom>
          </p:spPr>
        </p:pic>
      </p:grpSp>
      <p:pic>
        <p:nvPicPr>
          <p:cNvPr id="3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488" y="4407936"/>
            <a:ext cx="6838511" cy="1029677"/>
          </a:xfrm>
          <a:prstGeom prst="rect">
            <a:avLst/>
          </a:prstGeom>
        </p:spPr>
      </p:pic>
      <p:sp>
        <p:nvSpPr>
          <p:cNvPr id="36" name="Chevron 35"/>
          <p:cNvSpPr/>
          <p:nvPr/>
        </p:nvSpPr>
        <p:spPr>
          <a:xfrm>
            <a:off x="8011335" y="4638023"/>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37" name="Chevron 36"/>
          <p:cNvSpPr/>
          <p:nvPr/>
        </p:nvSpPr>
        <p:spPr>
          <a:xfrm>
            <a:off x="3512160" y="4625127"/>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38" name="Chevron 37"/>
          <p:cNvSpPr/>
          <p:nvPr/>
        </p:nvSpPr>
        <p:spPr>
          <a:xfrm>
            <a:off x="4970976" y="4625127"/>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40" name="Chevron 39"/>
          <p:cNvSpPr/>
          <p:nvPr/>
        </p:nvSpPr>
        <p:spPr>
          <a:xfrm>
            <a:off x="6432328" y="4625127"/>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41" name="Chevron 40"/>
          <p:cNvSpPr/>
          <p:nvPr/>
        </p:nvSpPr>
        <p:spPr>
          <a:xfrm>
            <a:off x="2095489" y="4625127"/>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42" name="Chevron 41"/>
          <p:cNvSpPr/>
          <p:nvPr/>
        </p:nvSpPr>
        <p:spPr>
          <a:xfrm>
            <a:off x="9655006" y="4625127"/>
            <a:ext cx="318052" cy="484632"/>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endParaRPr>
          </a:p>
        </p:txBody>
      </p:sp>
      <p:sp>
        <p:nvSpPr>
          <p:cNvPr id="43" name="Rectangle 42"/>
          <p:cNvSpPr/>
          <p:nvPr/>
        </p:nvSpPr>
        <p:spPr>
          <a:xfrm>
            <a:off x="2543586" y="3589356"/>
            <a:ext cx="5374485" cy="584775"/>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3200" b="0" i="0" u="none" strike="noStrike" kern="0" cap="none" spc="0" normalizeH="0" baseline="0" noProof="0" dirty="0">
                <a:ln/>
                <a:solidFill>
                  <a:srgbClr val="FF0000"/>
                </a:solidFill>
                <a:effectLst/>
                <a:uLnTx/>
                <a:uFillTx/>
                <a:latin typeface="Leelawadee UI" panose="020B0502040204020203" pitchFamily="34" charset="-34"/>
                <a:cs typeface="Leelawadee UI" panose="020B0502040204020203" pitchFamily="34" charset="-34"/>
              </a:rPr>
              <a:t>Database from other Brokers</a:t>
            </a:r>
          </a:p>
        </p:txBody>
      </p:sp>
      <p:sp>
        <p:nvSpPr>
          <p:cNvPr id="44" name="TextBox 43"/>
          <p:cNvSpPr txBox="1"/>
          <p:nvPr/>
        </p:nvSpPr>
        <p:spPr>
          <a:xfrm>
            <a:off x="10299893" y="1378874"/>
            <a:ext cx="1270346"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white"/>
                </a:solidFill>
                <a:effectLst/>
                <a:uLnTx/>
                <a:uFillTx/>
              </a:rPr>
              <a:t>35MM Individuals</a:t>
            </a:r>
          </a:p>
        </p:txBody>
      </p:sp>
      <p:sp>
        <p:nvSpPr>
          <p:cNvPr id="3" name="Rectangle 2"/>
          <p:cNvSpPr/>
          <p:nvPr/>
        </p:nvSpPr>
        <p:spPr>
          <a:xfrm>
            <a:off x="10053665" y="1304414"/>
            <a:ext cx="1750150" cy="1902641"/>
          </a:xfrm>
          <a:prstGeom prst="rect">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5" name="Rectangle 4"/>
          <p:cNvSpPr/>
          <p:nvPr/>
        </p:nvSpPr>
        <p:spPr>
          <a:xfrm>
            <a:off x="769408" y="1324375"/>
            <a:ext cx="7083401" cy="1936473"/>
          </a:xfrm>
          <a:prstGeom prst="rect">
            <a:avLst/>
          </a:prstGeom>
          <a:noFill/>
          <a:ln w="38100">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45" name="Rectangle 44"/>
          <p:cNvSpPr/>
          <p:nvPr/>
        </p:nvSpPr>
        <p:spPr>
          <a:xfrm>
            <a:off x="668966" y="4282727"/>
            <a:ext cx="7276353" cy="1880868"/>
          </a:xfrm>
          <a:prstGeom prst="rect">
            <a:avLst/>
          </a:prstGeom>
          <a:noFill/>
          <a:ln w="38100">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46" name="TextBox 45"/>
          <p:cNvSpPr txBox="1"/>
          <p:nvPr/>
        </p:nvSpPr>
        <p:spPr>
          <a:xfrm>
            <a:off x="-141794" y="3518509"/>
            <a:ext cx="2616383"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rPr>
              <a:t>Aggregate Indicators : Neo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prstClr val="white"/>
                </a:solidFill>
                <a:effectLst/>
                <a:uLnTx/>
                <a:uFillTx/>
              </a:rPr>
              <a:t>AT PAR </a:t>
            </a:r>
            <a:r>
              <a:rPr kumimoji="0" lang="en-IN" sz="1400" b="0" i="0" u="none" strike="noStrike" kern="0" cap="none" spc="0" normalizeH="0" baseline="0" noProof="0" dirty="0">
                <a:ln>
                  <a:noFill/>
                </a:ln>
                <a:solidFill>
                  <a:prstClr val="white"/>
                </a:solidFill>
                <a:effectLst/>
                <a:uLnTx/>
                <a:uFillTx/>
              </a:rPr>
              <a:t>with Market Offerings</a:t>
            </a:r>
          </a:p>
        </p:txBody>
      </p:sp>
      <p:cxnSp>
        <p:nvCxnSpPr>
          <p:cNvPr id="7" name="Straight Connector 6"/>
          <p:cNvCxnSpPr>
            <a:stCxn id="46" idx="0"/>
          </p:cNvCxnSpPr>
          <p:nvPr/>
        </p:nvCxnSpPr>
        <p:spPr>
          <a:xfrm flipH="1" flipV="1">
            <a:off x="1166397" y="3260848"/>
            <a:ext cx="1" cy="257661"/>
          </a:xfrm>
          <a:prstGeom prst="line">
            <a:avLst/>
          </a:prstGeom>
          <a:noFill/>
          <a:ln w="38100">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48" name="TextBox 47"/>
          <p:cNvSpPr txBox="1"/>
          <p:nvPr/>
        </p:nvSpPr>
        <p:spPr>
          <a:xfrm>
            <a:off x="9717410" y="3523035"/>
            <a:ext cx="2616383"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rPr>
              <a:t>Individual Indicators : Neo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solidFill>
                  <a:prstClr val="white"/>
                </a:solidFill>
                <a:effectLst/>
                <a:uLnTx/>
                <a:uFillTx/>
              </a:rPr>
              <a:t>SUPERIOR to</a:t>
            </a:r>
            <a:r>
              <a:rPr kumimoji="0" lang="en-IN" sz="1400" b="0" i="0" u="none" strike="noStrike" kern="0" cap="none" spc="0" normalizeH="0" baseline="0" noProof="0" dirty="0">
                <a:ln>
                  <a:noFill/>
                </a:ln>
                <a:solidFill>
                  <a:prstClr val="white"/>
                </a:solidFill>
                <a:effectLst/>
                <a:uLnTx/>
                <a:uFillTx/>
              </a:rPr>
              <a:t> Market Offerings</a:t>
            </a:r>
          </a:p>
        </p:txBody>
      </p:sp>
      <p:sp>
        <p:nvSpPr>
          <p:cNvPr id="49" name="Rectangle 48"/>
          <p:cNvSpPr/>
          <p:nvPr/>
        </p:nvSpPr>
        <p:spPr>
          <a:xfrm>
            <a:off x="10075685" y="4282727"/>
            <a:ext cx="2000977" cy="1340151"/>
          </a:xfrm>
          <a:prstGeom prst="rect">
            <a:avLst/>
          </a:prstGeom>
          <a:noFill/>
          <a:ln w="5715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cxnSp>
        <p:nvCxnSpPr>
          <p:cNvPr id="50" name="Straight Connector 49"/>
          <p:cNvCxnSpPr>
            <a:stCxn id="48" idx="0"/>
          </p:cNvCxnSpPr>
          <p:nvPr/>
        </p:nvCxnSpPr>
        <p:spPr>
          <a:xfrm flipH="1" flipV="1">
            <a:off x="11025601" y="3267622"/>
            <a:ext cx="1" cy="255413"/>
          </a:xfrm>
          <a:prstGeom prst="line">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51" name="Rectangle 50"/>
          <p:cNvSpPr/>
          <p:nvPr/>
        </p:nvSpPr>
        <p:spPr>
          <a:xfrm>
            <a:off x="8363549" y="1324375"/>
            <a:ext cx="1192418" cy="1935794"/>
          </a:xfrm>
          <a:prstGeom prst="rect">
            <a:avLst/>
          </a:prstGeom>
          <a:noFill/>
          <a:ln w="5715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52" name="Rectangle 51"/>
          <p:cNvSpPr/>
          <p:nvPr/>
        </p:nvSpPr>
        <p:spPr>
          <a:xfrm>
            <a:off x="8391691" y="4297640"/>
            <a:ext cx="1192418" cy="1755216"/>
          </a:xfrm>
          <a:prstGeom prst="rect">
            <a:avLst/>
          </a:prstGeom>
          <a:noFill/>
          <a:ln w="571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55" name="TextBox 54"/>
          <p:cNvSpPr txBox="1"/>
          <p:nvPr/>
        </p:nvSpPr>
        <p:spPr>
          <a:xfrm>
            <a:off x="8169576" y="3501092"/>
            <a:ext cx="1774656"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rPr>
              <a:t>Aggregate : Neo in Build Phase</a:t>
            </a:r>
          </a:p>
        </p:txBody>
      </p:sp>
      <p:cxnSp>
        <p:nvCxnSpPr>
          <p:cNvPr id="56" name="Straight Connector 55"/>
          <p:cNvCxnSpPr/>
          <p:nvPr/>
        </p:nvCxnSpPr>
        <p:spPr>
          <a:xfrm flipH="1" flipV="1">
            <a:off x="8982889" y="3269603"/>
            <a:ext cx="1" cy="255413"/>
          </a:xfrm>
          <a:prstGeom prst="line">
            <a:avLst/>
          </a:prstGeom>
          <a:noFill/>
          <a:ln w="5715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6" name="TextBox 5"/>
          <p:cNvSpPr txBox="1"/>
          <p:nvPr/>
        </p:nvSpPr>
        <p:spPr>
          <a:xfrm>
            <a:off x="497956" y="6538863"/>
            <a:ext cx="627364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rgbClr val="000000"/>
                </a:solidFill>
                <a:effectLst/>
                <a:uLnTx/>
                <a:uFillTx/>
              </a:rPr>
              <a:t>*Neo database on Commercial businesses kicked off in July, 2016</a:t>
            </a:r>
          </a:p>
        </p:txBody>
      </p:sp>
    </p:spTree>
    <p:extLst>
      <p:ext uri="{BB962C8B-B14F-4D97-AF65-F5344CB8AC3E}">
        <p14:creationId xmlns:p14="http://schemas.microsoft.com/office/powerpoint/2010/main" val="10103042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icture 2" descr="http://ancientgreekparty.global2.vic.edu.au/files/2012/11/Doric-Column-10yjnto.jpg"/>
          <p:cNvPicPr>
            <a:picLocks noChangeAspect="1" noChangeArrowheads="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32692" r="30836"/>
          <a:stretch/>
        </p:blipFill>
        <p:spPr bwMode="auto">
          <a:xfrm>
            <a:off x="1497750" y="3135248"/>
            <a:ext cx="1042332" cy="1806013"/>
          </a:xfrm>
          <a:prstGeom prst="rect">
            <a:avLst/>
          </a:prstGeom>
          <a:noFill/>
          <a:extLst>
            <a:ext uri="{909E8E84-426E-40DD-AFC4-6F175D3DCCD1}">
              <a14:hiddenFill xmlns:a14="http://schemas.microsoft.com/office/drawing/2010/main">
                <a:solidFill>
                  <a:srgbClr val="FFFFFF"/>
                </a:solidFill>
              </a14:hiddenFill>
            </a:ext>
          </a:extLst>
        </p:spPr>
      </p:pic>
      <p:sp>
        <p:nvSpPr>
          <p:cNvPr id="131" name="Flowchart: Manual Input 130"/>
          <p:cNvSpPr/>
          <p:nvPr/>
        </p:nvSpPr>
        <p:spPr>
          <a:xfrm flipH="1" flipV="1">
            <a:off x="2508433" y="2755872"/>
            <a:ext cx="1312830" cy="499441"/>
          </a:xfrm>
          <a:prstGeom prst="flowChartManualInpu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0" name="Flowchart: Manual Operation 9"/>
          <p:cNvSpPr/>
          <p:nvPr/>
        </p:nvSpPr>
        <p:spPr>
          <a:xfrm rot="16200000">
            <a:off x="2938002" y="1763854"/>
            <a:ext cx="496517" cy="1312830"/>
          </a:xfrm>
          <a:prstGeom prst="flowChartManualOperati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25" name="Rectangle 124"/>
          <p:cNvSpPr/>
          <p:nvPr/>
        </p:nvSpPr>
        <p:spPr>
          <a:xfrm>
            <a:off x="162608" y="1598399"/>
            <a:ext cx="2319030" cy="502285"/>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Tata iQ Proprietary </a:t>
            </a:r>
            <a:r>
              <a:rPr lang="en-IN" sz="1400" dirty="0">
                <a:solidFill>
                  <a:prstClr val="black"/>
                </a:solidFill>
              </a:rPr>
              <a:t>Database</a:t>
            </a:r>
          </a:p>
        </p:txBody>
      </p:sp>
      <p:sp>
        <p:nvSpPr>
          <p:cNvPr id="6" name="Flowchart: Manual Input 5"/>
          <p:cNvSpPr/>
          <p:nvPr/>
        </p:nvSpPr>
        <p:spPr>
          <a:xfrm flipH="1">
            <a:off x="2506480" y="1600440"/>
            <a:ext cx="1285906" cy="499441"/>
          </a:xfrm>
          <a:prstGeom prst="flowChartManualInpu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12" name="Group 11"/>
          <p:cNvGrpSpPr/>
          <p:nvPr/>
        </p:nvGrpSpPr>
        <p:grpSpPr>
          <a:xfrm>
            <a:off x="1" y="-189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043147" y="291779"/>
              <a:ext cx="10105715"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Tata iQ is Creating the Richest and Most Valuable Database</a:t>
              </a:r>
            </a:p>
          </p:txBody>
        </p:sp>
      </p:grpSp>
      <p:grpSp>
        <p:nvGrpSpPr>
          <p:cNvPr id="176" name="Group 175"/>
          <p:cNvGrpSpPr/>
          <p:nvPr/>
        </p:nvGrpSpPr>
        <p:grpSpPr>
          <a:xfrm flipH="1">
            <a:off x="9097176" y="4256492"/>
            <a:ext cx="1886265" cy="154250"/>
            <a:chOff x="600166" y="5398225"/>
            <a:chExt cx="2418018" cy="343749"/>
          </a:xfrm>
        </p:grpSpPr>
        <p:grpSp>
          <p:nvGrpSpPr>
            <p:cNvPr id="192" name="Group 191"/>
            <p:cNvGrpSpPr/>
            <p:nvPr/>
          </p:nvGrpSpPr>
          <p:grpSpPr>
            <a:xfrm>
              <a:off x="1204668" y="5398225"/>
              <a:ext cx="1209011" cy="343749"/>
              <a:chOff x="1384696" y="5417889"/>
              <a:chExt cx="1209011" cy="343749"/>
            </a:xfrm>
          </p:grpSpPr>
          <p:cxnSp>
            <p:nvCxnSpPr>
              <p:cNvPr id="195" name="Straight Connector 194"/>
              <p:cNvCxnSpPr/>
              <p:nvPr/>
            </p:nvCxnSpPr>
            <p:spPr>
              <a:xfrm flipH="1">
                <a:off x="2593707" y="5417899"/>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flipH="1">
                <a:off x="1989202" y="5417889"/>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H="1">
                <a:off x="1384696" y="5417889"/>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grpSp>
        <p:cxnSp>
          <p:nvCxnSpPr>
            <p:cNvPr id="193" name="Straight Connector 192"/>
            <p:cNvCxnSpPr/>
            <p:nvPr/>
          </p:nvCxnSpPr>
          <p:spPr>
            <a:xfrm flipH="1">
              <a:off x="3018184" y="5398235"/>
              <a:ext cx="0" cy="343738"/>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a:xfrm flipH="1">
              <a:off x="600166" y="5398225"/>
              <a:ext cx="0" cy="343739"/>
            </a:xfrm>
            <a:prstGeom prst="line">
              <a:avLst/>
            </a:prstGeom>
            <a:ln w="28575">
              <a:solidFill>
                <a:srgbClr val="3D67B1"/>
              </a:solidFill>
              <a:prstDash val="solid"/>
            </a:ln>
          </p:spPr>
          <p:style>
            <a:lnRef idx="1">
              <a:schemeClr val="accent1"/>
            </a:lnRef>
            <a:fillRef idx="0">
              <a:schemeClr val="accent1"/>
            </a:fillRef>
            <a:effectRef idx="0">
              <a:schemeClr val="accent1"/>
            </a:effectRef>
            <a:fontRef idx="minor">
              <a:schemeClr val="tx1"/>
            </a:fontRef>
          </p:style>
        </p:cxnSp>
      </p:grpSp>
      <p:sp>
        <p:nvSpPr>
          <p:cNvPr id="185" name="Rectangle 184"/>
          <p:cNvSpPr/>
          <p:nvPr/>
        </p:nvSpPr>
        <p:spPr>
          <a:xfrm flipH="1">
            <a:off x="8675313" y="1305787"/>
            <a:ext cx="3516685" cy="396346"/>
          </a:xfrm>
          <a:prstGeom prst="rect">
            <a:avLst/>
          </a:prstGeom>
          <a:solidFill>
            <a:srgbClr val="EB8027"/>
          </a:solidFill>
          <a:ln>
            <a:solidFill>
              <a:srgbClr val="EB80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Identifier Information</a:t>
            </a:r>
          </a:p>
        </p:txBody>
      </p:sp>
      <p:sp>
        <p:nvSpPr>
          <p:cNvPr id="186" name="Rectangle 185"/>
          <p:cNvSpPr/>
          <p:nvPr/>
        </p:nvSpPr>
        <p:spPr>
          <a:xfrm flipH="1">
            <a:off x="8675314" y="1818949"/>
            <a:ext cx="3516685" cy="396346"/>
          </a:xfrm>
          <a:prstGeom prst="rect">
            <a:avLst/>
          </a:prstGeom>
          <a:solidFill>
            <a:srgbClr val="13B6E7"/>
          </a:solidFill>
          <a:ln>
            <a:solidFill>
              <a:srgbClr val="13B6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Purchase Behaviour</a:t>
            </a:r>
          </a:p>
        </p:txBody>
      </p:sp>
      <p:sp>
        <p:nvSpPr>
          <p:cNvPr id="187" name="Rectangle 186"/>
          <p:cNvSpPr/>
          <p:nvPr/>
        </p:nvSpPr>
        <p:spPr>
          <a:xfrm flipH="1">
            <a:off x="8675316" y="2332111"/>
            <a:ext cx="3516682" cy="396346"/>
          </a:xfrm>
          <a:prstGeom prst="rect">
            <a:avLst/>
          </a:prstGeom>
          <a:solidFill>
            <a:srgbClr val="84C041"/>
          </a:solidFill>
          <a:ln>
            <a:solidFill>
              <a:srgbClr val="84C0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Location &amp; Demographics</a:t>
            </a:r>
          </a:p>
        </p:txBody>
      </p:sp>
      <p:sp>
        <p:nvSpPr>
          <p:cNvPr id="188" name="Rectangle 187"/>
          <p:cNvSpPr/>
          <p:nvPr/>
        </p:nvSpPr>
        <p:spPr>
          <a:xfrm flipH="1">
            <a:off x="8675316" y="2843961"/>
            <a:ext cx="3516681" cy="396346"/>
          </a:xfrm>
          <a:prstGeom prst="rect">
            <a:avLst/>
          </a:prstGeom>
          <a:solidFill>
            <a:srgbClr val="FCB215"/>
          </a:solidFill>
          <a:ln>
            <a:solidFill>
              <a:srgbClr val="FCB2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Digital Persona</a:t>
            </a:r>
          </a:p>
        </p:txBody>
      </p:sp>
      <p:sp>
        <p:nvSpPr>
          <p:cNvPr id="189" name="Rectangle 188"/>
          <p:cNvSpPr/>
          <p:nvPr/>
        </p:nvSpPr>
        <p:spPr>
          <a:xfrm flipH="1">
            <a:off x="8675318" y="3358434"/>
            <a:ext cx="3516678" cy="396346"/>
          </a:xfrm>
          <a:prstGeom prst="rect">
            <a:avLst/>
          </a:prstGeom>
          <a:solidFill>
            <a:srgbClr val="D65628"/>
          </a:solidFill>
          <a:ln>
            <a:solidFill>
              <a:srgbClr val="D656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Associations, Clubs and Passions</a:t>
            </a:r>
          </a:p>
        </p:txBody>
      </p:sp>
      <p:sp>
        <p:nvSpPr>
          <p:cNvPr id="190" name="Rectangle 189"/>
          <p:cNvSpPr/>
          <p:nvPr/>
        </p:nvSpPr>
        <p:spPr>
          <a:xfrm flipH="1">
            <a:off x="8675318" y="3871596"/>
            <a:ext cx="3516677" cy="396346"/>
          </a:xfrm>
          <a:prstGeom prst="rect">
            <a:avLst/>
          </a:prstGeom>
          <a:solidFill>
            <a:srgbClr val="EE315F"/>
          </a:solidFill>
          <a:ln>
            <a:solidFill>
              <a:srgbClr val="EE31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Individuals, Households and Lineages</a:t>
            </a:r>
          </a:p>
        </p:txBody>
      </p:sp>
      <p:sp>
        <p:nvSpPr>
          <p:cNvPr id="191" name="Rectangle 190"/>
          <p:cNvSpPr/>
          <p:nvPr/>
        </p:nvSpPr>
        <p:spPr>
          <a:xfrm flipH="1">
            <a:off x="8675318" y="4384758"/>
            <a:ext cx="3516681" cy="396346"/>
          </a:xfrm>
          <a:prstGeom prst="rect">
            <a:avLst/>
          </a:prstGeom>
          <a:solidFill>
            <a:srgbClr val="3D67B1"/>
          </a:solidFill>
          <a:ln>
            <a:solidFill>
              <a:srgbClr val="3D6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b="1" dirty="0">
                <a:solidFill>
                  <a:prstClr val="white"/>
                </a:solidFill>
              </a:rPr>
              <a:t>Tata Company Relationships</a:t>
            </a:r>
          </a:p>
        </p:txBody>
      </p:sp>
      <p:grpSp>
        <p:nvGrpSpPr>
          <p:cNvPr id="2" name="Group 1"/>
          <p:cNvGrpSpPr/>
          <p:nvPr/>
        </p:nvGrpSpPr>
        <p:grpSpPr>
          <a:xfrm>
            <a:off x="0" y="4919642"/>
            <a:ext cx="12192000" cy="1386742"/>
            <a:chOff x="0" y="5321978"/>
            <a:chExt cx="12192000" cy="1386742"/>
          </a:xfrm>
        </p:grpSpPr>
        <p:grpSp>
          <p:nvGrpSpPr>
            <p:cNvPr id="254" name="Group 253"/>
            <p:cNvGrpSpPr/>
            <p:nvPr/>
          </p:nvGrpSpPr>
          <p:grpSpPr>
            <a:xfrm>
              <a:off x="0" y="5321978"/>
              <a:ext cx="12192000" cy="254000"/>
              <a:chOff x="-996320" y="5511929"/>
              <a:chExt cx="13188320" cy="274757"/>
            </a:xfrm>
          </p:grpSpPr>
          <p:pic>
            <p:nvPicPr>
              <p:cNvPr id="238" name="Picture 23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1367730" y="5511929"/>
                <a:ext cx="824270" cy="274757"/>
              </a:xfrm>
              <a:prstGeom prst="rect">
                <a:avLst/>
              </a:prstGeom>
            </p:spPr>
          </p:pic>
          <p:pic>
            <p:nvPicPr>
              <p:cNvPr id="239" name="Picture 23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10543460" y="5511929"/>
                <a:ext cx="824270" cy="274757"/>
              </a:xfrm>
              <a:prstGeom prst="rect">
                <a:avLst/>
              </a:prstGeom>
            </p:spPr>
          </p:pic>
          <p:pic>
            <p:nvPicPr>
              <p:cNvPr id="240" name="Picture 23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719190" y="5511929"/>
                <a:ext cx="824270" cy="274757"/>
              </a:xfrm>
              <a:prstGeom prst="rect">
                <a:avLst/>
              </a:prstGeom>
            </p:spPr>
          </p:pic>
          <p:pic>
            <p:nvPicPr>
              <p:cNvPr id="241" name="Picture 24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8894920" y="5511929"/>
                <a:ext cx="824270" cy="274757"/>
              </a:xfrm>
              <a:prstGeom prst="rect">
                <a:avLst/>
              </a:prstGeom>
            </p:spPr>
          </p:pic>
          <p:pic>
            <p:nvPicPr>
              <p:cNvPr id="242" name="Picture 24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070650" y="5511929"/>
                <a:ext cx="824270" cy="274757"/>
              </a:xfrm>
              <a:prstGeom prst="rect">
                <a:avLst/>
              </a:prstGeom>
            </p:spPr>
          </p:pic>
          <p:pic>
            <p:nvPicPr>
              <p:cNvPr id="243" name="Picture 24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7246380" y="5511929"/>
                <a:ext cx="824270" cy="274757"/>
              </a:xfrm>
              <a:prstGeom prst="rect">
                <a:avLst/>
              </a:prstGeom>
            </p:spPr>
          </p:pic>
          <p:pic>
            <p:nvPicPr>
              <p:cNvPr id="244" name="Picture 24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22110" y="5511929"/>
                <a:ext cx="824270" cy="274757"/>
              </a:xfrm>
              <a:prstGeom prst="rect">
                <a:avLst/>
              </a:prstGeom>
            </p:spPr>
          </p:pic>
          <p:pic>
            <p:nvPicPr>
              <p:cNvPr id="245" name="Picture 24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5597840" y="5511929"/>
                <a:ext cx="824270" cy="274757"/>
              </a:xfrm>
              <a:prstGeom prst="rect">
                <a:avLst/>
              </a:prstGeom>
            </p:spPr>
          </p:pic>
          <p:pic>
            <p:nvPicPr>
              <p:cNvPr id="246" name="Picture 24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773570" y="5511929"/>
                <a:ext cx="824270" cy="274757"/>
              </a:xfrm>
              <a:prstGeom prst="rect">
                <a:avLst/>
              </a:prstGeom>
            </p:spPr>
          </p:pic>
          <p:pic>
            <p:nvPicPr>
              <p:cNvPr id="247" name="Picture 24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3949300" y="5511929"/>
                <a:ext cx="824270" cy="274757"/>
              </a:xfrm>
              <a:prstGeom prst="rect">
                <a:avLst/>
              </a:prstGeom>
            </p:spPr>
          </p:pic>
          <p:pic>
            <p:nvPicPr>
              <p:cNvPr id="248" name="Picture 24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125030" y="5511929"/>
                <a:ext cx="824270" cy="274757"/>
              </a:xfrm>
              <a:prstGeom prst="rect">
                <a:avLst/>
              </a:prstGeom>
            </p:spPr>
          </p:pic>
          <p:pic>
            <p:nvPicPr>
              <p:cNvPr id="249" name="Picture 24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2300760" y="5511929"/>
                <a:ext cx="824270" cy="274757"/>
              </a:xfrm>
              <a:prstGeom prst="rect">
                <a:avLst/>
              </a:prstGeom>
            </p:spPr>
          </p:pic>
          <p:pic>
            <p:nvPicPr>
              <p:cNvPr id="250" name="Picture 249"/>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76490" y="5511929"/>
                <a:ext cx="824270" cy="274757"/>
              </a:xfrm>
              <a:prstGeom prst="rect">
                <a:avLst/>
              </a:prstGeom>
            </p:spPr>
          </p:pic>
          <p:pic>
            <p:nvPicPr>
              <p:cNvPr id="251" name="Picture 25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52220" y="5511929"/>
                <a:ext cx="824270" cy="274757"/>
              </a:xfrm>
              <a:prstGeom prst="rect">
                <a:avLst/>
              </a:prstGeom>
            </p:spPr>
          </p:pic>
          <p:pic>
            <p:nvPicPr>
              <p:cNvPr id="252" name="Picture 25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72050" y="5511929"/>
                <a:ext cx="824270" cy="274757"/>
              </a:xfrm>
              <a:prstGeom prst="rect">
                <a:avLst/>
              </a:prstGeom>
            </p:spPr>
          </p:pic>
          <p:pic>
            <p:nvPicPr>
              <p:cNvPr id="253" name="Picture 2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996320" y="5511929"/>
                <a:ext cx="824270" cy="274757"/>
              </a:xfrm>
              <a:prstGeom prst="rect">
                <a:avLst/>
              </a:prstGeom>
            </p:spPr>
          </p:pic>
        </p:grpSp>
        <p:sp>
          <p:nvSpPr>
            <p:cNvPr id="255" name="Rectangle 254"/>
            <p:cNvSpPr/>
            <p:nvPr/>
          </p:nvSpPr>
          <p:spPr>
            <a:xfrm>
              <a:off x="5066266" y="5821379"/>
              <a:ext cx="2059468" cy="461664"/>
            </a:xfrm>
            <a:prstGeom prst="rect">
              <a:avLst/>
            </a:prstGeom>
          </p:spPr>
          <p:txBody>
            <a:bodyPr wrap="square">
              <a:spAutoFit/>
            </a:bodyPr>
            <a:lstStyle/>
            <a:p>
              <a:pPr algn="ctr"/>
              <a:r>
                <a:rPr lang="en-IN" sz="2400" dirty="0">
                  <a:solidFill>
                    <a:prstClr val="black"/>
                  </a:solidFill>
                  <a:latin typeface="Leelawadee UI" panose="020B0502040204020203" pitchFamily="34" charset="-34"/>
                  <a:cs typeface="Leelawadee UI" panose="020B0502040204020203" pitchFamily="34" charset="-34"/>
                </a:rPr>
                <a:t>ON THE</a:t>
              </a:r>
            </a:p>
          </p:txBody>
        </p:sp>
        <p:grpSp>
          <p:nvGrpSpPr>
            <p:cNvPr id="270" name="Group 269"/>
            <p:cNvGrpSpPr/>
            <p:nvPr/>
          </p:nvGrpSpPr>
          <p:grpSpPr>
            <a:xfrm>
              <a:off x="1158420" y="5668510"/>
              <a:ext cx="683080" cy="683080"/>
              <a:chOff x="986796" y="5626903"/>
              <a:chExt cx="816796" cy="816796"/>
            </a:xfrm>
          </p:grpSpPr>
          <p:sp>
            <p:nvSpPr>
              <p:cNvPr id="258" name="Oval 257"/>
              <p:cNvSpPr/>
              <p:nvPr/>
            </p:nvSpPr>
            <p:spPr>
              <a:xfrm>
                <a:off x="986796" y="5626903"/>
                <a:ext cx="816796" cy="816796"/>
              </a:xfrm>
              <a:prstGeom prst="ellipse">
                <a:avLst/>
              </a:prstGeom>
              <a:noFill/>
              <a:ln w="381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59" name="Picture 14" descr="http://www.safenet-inc.com/uploadedImages/images/Icons/orange-checklist-clipboard.png"/>
              <p:cNvPicPr>
                <a:picLocks noChangeAspect="1" noChangeArrowheads="1"/>
              </p:cNvPicPr>
              <p:nvPr/>
            </p:nvPicPr>
            <p:blipFill>
              <a:blip r:embed="rId4" cstate="email">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bwMode="auto">
              <a:xfrm>
                <a:off x="1090459" y="5719421"/>
                <a:ext cx="586607" cy="586608"/>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272" name="Group 271"/>
            <p:cNvGrpSpPr/>
            <p:nvPr/>
          </p:nvGrpSpPr>
          <p:grpSpPr>
            <a:xfrm>
              <a:off x="10357682" y="5669376"/>
              <a:ext cx="710568" cy="691910"/>
              <a:chOff x="10183367" y="5652310"/>
              <a:chExt cx="849666" cy="827357"/>
            </a:xfrm>
          </p:grpSpPr>
          <p:sp>
            <p:nvSpPr>
              <p:cNvPr id="267" name="Oval 266"/>
              <p:cNvSpPr/>
              <p:nvPr/>
            </p:nvSpPr>
            <p:spPr>
              <a:xfrm>
                <a:off x="10194522" y="5652310"/>
                <a:ext cx="827357" cy="827357"/>
              </a:xfrm>
              <a:prstGeom prst="ellipse">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68" name="Picture 2" descr="http://www.marcresearch.com/blogs/merrill/wp-content/uploads/2015/05/Thumbs-up-thumbs-down.gif"/>
              <p:cNvPicPr>
                <a:picLocks noChangeAspect="1" noChangeArrowheads="1"/>
              </p:cNvPicPr>
              <p:nvPr/>
            </p:nvPicPr>
            <p:blipFill>
              <a:blip r:embed="rId6" cstate="email">
                <a:clrChange>
                  <a:clrFrom>
                    <a:srgbClr val="FCFEFC"/>
                  </a:clrFrom>
                  <a:clrTo>
                    <a:srgbClr val="FCFEFC">
                      <a:alpha val="0"/>
                    </a:srgbClr>
                  </a:clrTo>
                </a:clrChange>
                <a:extLst>
                  <a:ext uri="{28A0092B-C50C-407E-A947-70E740481C1C}">
                    <a14:useLocalDpi xmlns:a14="http://schemas.microsoft.com/office/drawing/2010/main"/>
                  </a:ext>
                </a:extLst>
              </a:blip>
              <a:srcRect/>
              <a:stretch>
                <a:fillRect/>
              </a:stretch>
            </p:blipFill>
            <p:spPr bwMode="auto">
              <a:xfrm>
                <a:off x="10183367" y="5792669"/>
                <a:ext cx="849666" cy="546638"/>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73" name="Rectangle 272"/>
            <p:cNvSpPr/>
            <p:nvPr/>
          </p:nvSpPr>
          <p:spPr>
            <a:xfrm>
              <a:off x="5066266" y="6058681"/>
              <a:ext cx="2059468" cy="461664"/>
            </a:xfrm>
            <a:prstGeom prst="rect">
              <a:avLst/>
            </a:prstGeom>
          </p:spPr>
          <p:txBody>
            <a:bodyPr wrap="square">
              <a:spAutoFit/>
            </a:bodyPr>
            <a:lstStyle/>
            <a:p>
              <a:pPr algn="ctr"/>
              <a:r>
                <a:rPr lang="en-IN" sz="2400" b="1" dirty="0">
                  <a:solidFill>
                    <a:srgbClr val="3F51B5"/>
                  </a:solidFill>
                  <a:latin typeface="Leelawadee UI" panose="020B0502040204020203" pitchFamily="34" charset="-34"/>
                  <a:cs typeface="Leelawadee UI" panose="020B0502040204020203" pitchFamily="34" charset="-34"/>
                </a:rPr>
                <a:t>BEDROCK</a:t>
              </a:r>
              <a:r>
                <a:rPr lang="en-IN" sz="2400" b="1" dirty="0">
                  <a:solidFill>
                    <a:prstClr val="black"/>
                  </a:solidFill>
                  <a:latin typeface="Leelawadee UI" panose="020B0502040204020203" pitchFamily="34" charset="-34"/>
                  <a:cs typeface="Leelawadee UI" panose="020B0502040204020203" pitchFamily="34" charset="-34"/>
                </a:rPr>
                <a:t> </a:t>
              </a:r>
              <a:r>
                <a:rPr lang="en-IN" sz="2400" dirty="0">
                  <a:solidFill>
                    <a:prstClr val="black"/>
                  </a:solidFill>
                  <a:latin typeface="Leelawadee UI" panose="020B0502040204020203" pitchFamily="34" charset="-34"/>
                  <a:cs typeface="Leelawadee UI" panose="020B0502040204020203" pitchFamily="34" charset="-34"/>
                </a:rPr>
                <a:t>OF</a:t>
              </a:r>
            </a:p>
          </p:txBody>
        </p:sp>
        <p:sp>
          <p:nvSpPr>
            <p:cNvPr id="282" name="TextBox 281"/>
            <p:cNvSpPr txBox="1"/>
            <p:nvPr/>
          </p:nvSpPr>
          <p:spPr bwMode="gray">
            <a:xfrm flipH="1">
              <a:off x="777420" y="6459458"/>
              <a:ext cx="1445080"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ISO 27001</a:t>
              </a:r>
            </a:p>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Certification</a:t>
              </a:r>
            </a:p>
          </p:txBody>
        </p:sp>
        <p:grpSp>
          <p:nvGrpSpPr>
            <p:cNvPr id="287" name="Group 286"/>
            <p:cNvGrpSpPr/>
            <p:nvPr/>
          </p:nvGrpSpPr>
          <p:grpSpPr>
            <a:xfrm>
              <a:off x="2969158" y="5668485"/>
              <a:ext cx="1615542" cy="1040235"/>
              <a:chOff x="2588158" y="5668485"/>
              <a:chExt cx="1615542" cy="1040235"/>
            </a:xfrm>
          </p:grpSpPr>
          <p:grpSp>
            <p:nvGrpSpPr>
              <p:cNvPr id="269" name="Group 268"/>
              <p:cNvGrpSpPr/>
              <p:nvPr/>
            </p:nvGrpSpPr>
            <p:grpSpPr>
              <a:xfrm>
                <a:off x="3050989" y="5668485"/>
                <a:ext cx="689880" cy="682832"/>
                <a:chOff x="3405665" y="5654978"/>
                <a:chExt cx="824926" cy="816498"/>
              </a:xfrm>
            </p:grpSpPr>
            <p:sp>
              <p:nvSpPr>
                <p:cNvPr id="263" name="Oval 262"/>
                <p:cNvSpPr/>
                <p:nvPr/>
              </p:nvSpPr>
              <p:spPr>
                <a:xfrm>
                  <a:off x="3409879" y="5654978"/>
                  <a:ext cx="816498" cy="816498"/>
                </a:xfrm>
                <a:prstGeom prst="ellipse">
                  <a:avLst/>
                </a:prstGeom>
                <a:noFill/>
                <a:ln w="38100">
                  <a:solidFill>
                    <a:srgbClr val="A9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64" name="Picture 20" descr="http://www.utahcountylistings.com/extra/images/confidential_real_estate.jpg"/>
                <p:cNvPicPr>
                  <a:picLocks noChangeAspect="1" noChangeArrowheads="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3405665" y="5794946"/>
                  <a:ext cx="824926" cy="536562"/>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83" name="TextBox 282"/>
              <p:cNvSpPr txBox="1"/>
              <p:nvPr/>
            </p:nvSpPr>
            <p:spPr bwMode="gray">
              <a:xfrm flipH="1">
                <a:off x="2588158" y="6459458"/>
                <a:ext cx="1615542"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Non-disclosure</a:t>
                </a:r>
              </a:p>
            </p:txBody>
          </p:sp>
        </p:grpSp>
        <p:grpSp>
          <p:nvGrpSpPr>
            <p:cNvPr id="288" name="Group 287"/>
            <p:cNvGrpSpPr/>
            <p:nvPr/>
          </p:nvGrpSpPr>
          <p:grpSpPr>
            <a:xfrm>
              <a:off x="7607300" y="5669544"/>
              <a:ext cx="1615542" cy="1039176"/>
              <a:chOff x="7988300" y="5669544"/>
              <a:chExt cx="1615542" cy="1039176"/>
            </a:xfrm>
          </p:grpSpPr>
          <p:grpSp>
            <p:nvGrpSpPr>
              <p:cNvPr id="271" name="Group 270"/>
              <p:cNvGrpSpPr/>
              <p:nvPr/>
            </p:nvGrpSpPr>
            <p:grpSpPr>
              <a:xfrm>
                <a:off x="8451500" y="5669544"/>
                <a:ext cx="693634" cy="693632"/>
                <a:chOff x="7690972" y="5601652"/>
                <a:chExt cx="829415" cy="829415"/>
              </a:xfrm>
            </p:grpSpPr>
            <p:sp>
              <p:nvSpPr>
                <p:cNvPr id="265" name="Oval 264"/>
                <p:cNvSpPr/>
                <p:nvPr/>
              </p:nvSpPr>
              <p:spPr>
                <a:xfrm>
                  <a:off x="7690972" y="5601652"/>
                  <a:ext cx="829415" cy="829415"/>
                </a:xfrm>
                <a:prstGeom prst="ellipse">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pic>
              <p:nvPicPr>
                <p:cNvPr id="266" name="Picture 4" descr="http://niftymd.elasticbeanstalk.com/assets/img/feature/security.png"/>
                <p:cNvPicPr>
                  <a:picLocks noChangeAspect="1" noChangeArrowheads="1"/>
                </p:cNvPicPr>
                <p:nvPr/>
              </p:nvPicPr>
              <p:blipFill rotWithShape="1">
                <a:blip r:embed="rId8" cstate="email">
                  <a:duotone>
                    <a:prstClr val="black"/>
                    <a:schemeClr val="accent6">
                      <a:tint val="45000"/>
                      <a:satMod val="400000"/>
                    </a:schemeClr>
                  </a:duotone>
                  <a:extLst>
                    <a:ext uri="{28A0092B-C50C-407E-A947-70E740481C1C}">
                      <a14:useLocalDpi xmlns:a14="http://schemas.microsoft.com/office/drawing/2010/main"/>
                    </a:ext>
                  </a:extLst>
                </a:blip>
                <a:srcRect l="20744" r="20744"/>
                <a:stretch/>
              </p:blipFill>
              <p:spPr bwMode="auto">
                <a:xfrm>
                  <a:off x="7791259" y="5693938"/>
                  <a:ext cx="628842" cy="644843"/>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84" name="TextBox 283"/>
              <p:cNvSpPr txBox="1"/>
              <p:nvPr/>
            </p:nvSpPr>
            <p:spPr bwMode="gray">
              <a:xfrm flipH="1">
                <a:off x="7988300" y="6459458"/>
                <a:ext cx="1615542"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Security</a:t>
                </a:r>
              </a:p>
            </p:txBody>
          </p:sp>
        </p:grpSp>
        <p:sp>
          <p:nvSpPr>
            <p:cNvPr id="285" name="TextBox 284"/>
            <p:cNvSpPr txBox="1"/>
            <p:nvPr/>
          </p:nvSpPr>
          <p:spPr bwMode="gray">
            <a:xfrm flipH="1">
              <a:off x="9990426" y="6459458"/>
              <a:ext cx="1445080" cy="249262"/>
            </a:xfrm>
            <a:prstGeom prst="rect">
              <a:avLst/>
            </a:prstGeom>
            <a:noFill/>
          </p:spPr>
          <p:txBody>
            <a:bodyPr vert="horz" wrap="square" lIns="91440" tIns="45720" rIns="91440" bIns="45720" rtlCol="0" anchor="ctr">
              <a:noAutofit/>
            </a:bodyPr>
            <a:lstStyle/>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Purpose</a:t>
              </a:r>
            </a:p>
            <a:p>
              <a:pPr algn="ctr" defTabSz="457200"/>
              <a:r>
                <a:rPr lang="en-IN" sz="1400" b="1" spc="50" dirty="0">
                  <a:ln w="0"/>
                  <a:solidFill>
                    <a:srgbClr val="212745">
                      <a:lumMod val="50000"/>
                    </a:srgbClr>
                  </a:solidFill>
                  <a:effectLst>
                    <a:innerShdw blurRad="63500" dist="50800" dir="13500000">
                      <a:srgbClr val="000000">
                        <a:alpha val="50000"/>
                      </a:srgbClr>
                    </a:innerShdw>
                  </a:effectLst>
                  <a:latin typeface="Leelawadee UI" panose="020B0502040204020203" pitchFamily="34" charset="-34"/>
                  <a:cs typeface="Leelawadee UI" panose="020B0502040204020203" pitchFamily="34" charset="-34"/>
                </a:rPr>
                <a:t>&amp; Consent</a:t>
              </a:r>
            </a:p>
          </p:txBody>
        </p:sp>
      </p:grpSp>
      <p:grpSp>
        <p:nvGrpSpPr>
          <p:cNvPr id="4" name="Group 3"/>
          <p:cNvGrpSpPr/>
          <p:nvPr/>
        </p:nvGrpSpPr>
        <p:grpSpPr>
          <a:xfrm>
            <a:off x="-12156" y="504755"/>
            <a:ext cx="12192002" cy="508037"/>
            <a:chOff x="-12156" y="788219"/>
            <a:chExt cx="12192002" cy="508037"/>
          </a:xfrm>
        </p:grpSpPr>
        <p:grpSp>
          <p:nvGrpSpPr>
            <p:cNvPr id="91" name="Group 90"/>
            <p:cNvGrpSpPr/>
            <p:nvPr/>
          </p:nvGrpSpPr>
          <p:grpSpPr>
            <a:xfrm>
              <a:off x="-12156" y="788219"/>
              <a:ext cx="12192002" cy="508037"/>
              <a:chOff x="-1" y="1027732"/>
              <a:chExt cx="12192002" cy="508037"/>
            </a:xfrm>
          </p:grpSpPr>
          <p:grpSp>
            <p:nvGrpSpPr>
              <p:cNvPr id="92" name="Group 91"/>
              <p:cNvGrpSpPr/>
              <p:nvPr/>
            </p:nvGrpSpPr>
            <p:grpSpPr>
              <a:xfrm>
                <a:off x="-1" y="1056577"/>
                <a:ext cx="12192002" cy="479192"/>
                <a:chOff x="2275095" y="1046125"/>
                <a:chExt cx="9516889" cy="479192"/>
              </a:xfrm>
            </p:grpSpPr>
            <p:sp>
              <p:nvSpPr>
                <p:cNvPr id="96" name="Pentagon 95"/>
                <p:cNvSpPr/>
                <p:nvPr/>
              </p:nvSpPr>
              <p:spPr>
                <a:xfrm>
                  <a:off x="8003124" y="1046125"/>
                  <a:ext cx="3788860" cy="479192"/>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Tata iQ Attributes</a:t>
                  </a:r>
                </a:p>
              </p:txBody>
            </p:sp>
            <p:sp>
              <p:nvSpPr>
                <p:cNvPr id="97" name="Pentagon 96"/>
                <p:cNvSpPr/>
                <p:nvPr/>
              </p:nvSpPr>
              <p:spPr>
                <a:xfrm>
                  <a:off x="4377764" y="1046125"/>
                  <a:ext cx="4449680" cy="479192"/>
                </a:xfrm>
                <a:prstGeom prst="homePlate">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Superior Data &amp; Analytics Capabilities</a:t>
                  </a:r>
                </a:p>
              </p:txBody>
            </p:sp>
            <p:sp>
              <p:nvSpPr>
                <p:cNvPr id="98" name="Pentagon 97"/>
                <p:cNvSpPr/>
                <p:nvPr/>
              </p:nvSpPr>
              <p:spPr>
                <a:xfrm>
                  <a:off x="2275095" y="1046125"/>
                  <a:ext cx="2386736" cy="479192"/>
                </a:xfrm>
                <a:prstGeom prst="homePlate">
                  <a:avLst/>
                </a:prstGeom>
                <a:solidFill>
                  <a:srgbClr val="418A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Access to Strategic Sources</a:t>
                  </a:r>
                </a:p>
              </p:txBody>
            </p:sp>
          </p:grpSp>
          <p:sp>
            <p:nvSpPr>
              <p:cNvPr id="94" name="Plus 93"/>
              <p:cNvSpPr/>
              <p:nvPr/>
            </p:nvSpPr>
            <p:spPr>
              <a:xfrm>
                <a:off x="2795650" y="1027732"/>
                <a:ext cx="499444" cy="499444"/>
              </a:xfrm>
              <a:prstGeom prst="mathPlus">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prstClr val="white"/>
                  </a:solidFill>
                </a:endParaRPr>
              </a:p>
            </p:txBody>
          </p:sp>
        </p:grpSp>
        <p:sp>
          <p:nvSpPr>
            <p:cNvPr id="99" name="Equal 98"/>
            <p:cNvSpPr/>
            <p:nvPr/>
          </p:nvSpPr>
          <p:spPr>
            <a:xfrm>
              <a:off x="8178159" y="794504"/>
              <a:ext cx="499444" cy="499444"/>
            </a:xfrm>
            <a:prstGeom prst="mathEqual">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solidFill>
                  <a:prstClr val="white"/>
                </a:solidFill>
              </a:endParaRPr>
            </a:p>
          </p:txBody>
        </p:sp>
      </p:grpSp>
      <p:pic>
        <p:nvPicPr>
          <p:cNvPr id="110" name="Picture 109"/>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grpSp>
        <p:nvGrpSpPr>
          <p:cNvPr id="230" name="Group 229"/>
          <p:cNvGrpSpPr/>
          <p:nvPr/>
        </p:nvGrpSpPr>
        <p:grpSpPr>
          <a:xfrm>
            <a:off x="6508208" y="1305021"/>
            <a:ext cx="2161067" cy="3479321"/>
            <a:chOff x="6528049" y="1433846"/>
            <a:chExt cx="2638607" cy="3914922"/>
          </a:xfrm>
        </p:grpSpPr>
        <p:grpSp>
          <p:nvGrpSpPr>
            <p:cNvPr id="47" name="Group 46"/>
            <p:cNvGrpSpPr/>
            <p:nvPr/>
          </p:nvGrpSpPr>
          <p:grpSpPr>
            <a:xfrm flipV="1">
              <a:off x="6528049" y="1433846"/>
              <a:ext cx="2638605" cy="1672044"/>
              <a:chOff x="6528049" y="1915497"/>
              <a:chExt cx="2638605" cy="1672044"/>
            </a:xfrm>
          </p:grpSpPr>
          <p:sp>
            <p:nvSpPr>
              <p:cNvPr id="223" name="Rectangle 219"/>
              <p:cNvSpPr/>
              <p:nvPr/>
            </p:nvSpPr>
            <p:spPr>
              <a:xfrm flipH="1">
                <a:off x="7420198" y="1915497"/>
                <a:ext cx="1746456" cy="513582"/>
              </a:xfrm>
              <a:custGeom>
                <a:avLst/>
                <a:gdLst>
                  <a:gd name="connsiteX0" fmla="*/ 0 w 1673431"/>
                  <a:gd name="connsiteY0" fmla="*/ 0 h 453257"/>
                  <a:gd name="connsiteX1" fmla="*/ 1673431 w 1673431"/>
                  <a:gd name="connsiteY1" fmla="*/ 0 h 453257"/>
                  <a:gd name="connsiteX2" fmla="*/ 1673431 w 1673431"/>
                  <a:gd name="connsiteY2" fmla="*/ 453257 h 453257"/>
                  <a:gd name="connsiteX3" fmla="*/ 0 w 1673431"/>
                  <a:gd name="connsiteY3" fmla="*/ 453257 h 453257"/>
                  <a:gd name="connsiteX4" fmla="*/ 0 w 1673431"/>
                  <a:gd name="connsiteY4" fmla="*/ 0 h 453257"/>
                  <a:gd name="connsiteX0" fmla="*/ 0 w 1673431"/>
                  <a:gd name="connsiteY0" fmla="*/ 60325 h 513582"/>
                  <a:gd name="connsiteX1" fmla="*/ 1663906 w 1673431"/>
                  <a:gd name="connsiteY1" fmla="*/ 0 h 513582"/>
                  <a:gd name="connsiteX2" fmla="*/ 1673431 w 1673431"/>
                  <a:gd name="connsiteY2" fmla="*/ 513582 h 513582"/>
                  <a:gd name="connsiteX3" fmla="*/ 0 w 1673431"/>
                  <a:gd name="connsiteY3" fmla="*/ 513582 h 513582"/>
                  <a:gd name="connsiteX4" fmla="*/ 0 w 1673431"/>
                  <a:gd name="connsiteY4" fmla="*/ 60325 h 513582"/>
                  <a:gd name="connsiteX0" fmla="*/ 0 w 1740106"/>
                  <a:gd name="connsiteY0" fmla="*/ 60325 h 513582"/>
                  <a:gd name="connsiteX1" fmla="*/ 1663906 w 1740106"/>
                  <a:gd name="connsiteY1" fmla="*/ 0 h 513582"/>
                  <a:gd name="connsiteX2" fmla="*/ 1740106 w 1740106"/>
                  <a:gd name="connsiteY2" fmla="*/ 411982 h 513582"/>
                  <a:gd name="connsiteX3" fmla="*/ 0 w 1740106"/>
                  <a:gd name="connsiteY3" fmla="*/ 513582 h 513582"/>
                  <a:gd name="connsiteX4" fmla="*/ 0 w 1740106"/>
                  <a:gd name="connsiteY4" fmla="*/ 60325 h 513582"/>
                  <a:gd name="connsiteX0" fmla="*/ 0 w 1746456"/>
                  <a:gd name="connsiteY0" fmla="*/ 60325 h 513582"/>
                  <a:gd name="connsiteX1" fmla="*/ 1663906 w 1746456"/>
                  <a:gd name="connsiteY1" fmla="*/ 0 h 513582"/>
                  <a:gd name="connsiteX2" fmla="*/ 1746456 w 1746456"/>
                  <a:gd name="connsiteY2" fmla="*/ 354832 h 513582"/>
                  <a:gd name="connsiteX3" fmla="*/ 0 w 1746456"/>
                  <a:gd name="connsiteY3" fmla="*/ 513582 h 513582"/>
                  <a:gd name="connsiteX4" fmla="*/ 0 w 1746456"/>
                  <a:gd name="connsiteY4" fmla="*/ 60325 h 51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456" h="513582">
                    <a:moveTo>
                      <a:pt x="0" y="60325"/>
                    </a:moveTo>
                    <a:lnTo>
                      <a:pt x="1663906" y="0"/>
                    </a:lnTo>
                    <a:lnTo>
                      <a:pt x="1746456" y="354832"/>
                    </a:lnTo>
                    <a:lnTo>
                      <a:pt x="0" y="513582"/>
                    </a:lnTo>
                    <a:lnTo>
                      <a:pt x="0" y="60325"/>
                    </a:lnTo>
                    <a:close/>
                  </a:path>
                </a:pathLst>
              </a:custGeom>
              <a:solidFill>
                <a:srgbClr val="CBE1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4" name="Rectangle 220"/>
              <p:cNvSpPr/>
              <p:nvPr/>
            </p:nvSpPr>
            <p:spPr>
              <a:xfrm flipH="1">
                <a:off x="6985646" y="2404475"/>
                <a:ext cx="2181006" cy="605657"/>
              </a:xfrm>
              <a:custGeom>
                <a:avLst/>
                <a:gdLst>
                  <a:gd name="connsiteX0" fmla="*/ 0 w 2238157"/>
                  <a:gd name="connsiteY0" fmla="*/ 0 h 453257"/>
                  <a:gd name="connsiteX1" fmla="*/ 2238157 w 2238157"/>
                  <a:gd name="connsiteY1" fmla="*/ 0 h 453257"/>
                  <a:gd name="connsiteX2" fmla="*/ 2238157 w 2238157"/>
                  <a:gd name="connsiteY2" fmla="*/ 453257 h 453257"/>
                  <a:gd name="connsiteX3" fmla="*/ 0 w 2238157"/>
                  <a:gd name="connsiteY3" fmla="*/ 453257 h 453257"/>
                  <a:gd name="connsiteX4" fmla="*/ 0 w 2238157"/>
                  <a:gd name="connsiteY4" fmla="*/ 0 h 453257"/>
                  <a:gd name="connsiteX0" fmla="*/ 0 w 2238157"/>
                  <a:gd name="connsiteY0" fmla="*/ 152400 h 605657"/>
                  <a:gd name="connsiteX1" fmla="*/ 2092107 w 2238157"/>
                  <a:gd name="connsiteY1" fmla="*/ 0 h 605657"/>
                  <a:gd name="connsiteX2" fmla="*/ 2238157 w 2238157"/>
                  <a:gd name="connsiteY2" fmla="*/ 605657 h 605657"/>
                  <a:gd name="connsiteX3" fmla="*/ 0 w 2238157"/>
                  <a:gd name="connsiteY3" fmla="*/ 605657 h 605657"/>
                  <a:gd name="connsiteX4" fmla="*/ 0 w 2238157"/>
                  <a:gd name="connsiteY4" fmla="*/ 152400 h 605657"/>
                  <a:gd name="connsiteX0" fmla="*/ 0 w 2181007"/>
                  <a:gd name="connsiteY0" fmla="*/ 152400 h 605657"/>
                  <a:gd name="connsiteX1" fmla="*/ 2092107 w 2181007"/>
                  <a:gd name="connsiteY1" fmla="*/ 0 h 605657"/>
                  <a:gd name="connsiteX2" fmla="*/ 2181007 w 2181007"/>
                  <a:gd name="connsiteY2" fmla="*/ 332607 h 605657"/>
                  <a:gd name="connsiteX3" fmla="*/ 0 w 2181007"/>
                  <a:gd name="connsiteY3" fmla="*/ 605657 h 605657"/>
                  <a:gd name="connsiteX4" fmla="*/ 0 w 2181007"/>
                  <a:gd name="connsiteY4" fmla="*/ 152400 h 605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007" h="605657">
                    <a:moveTo>
                      <a:pt x="0" y="152400"/>
                    </a:moveTo>
                    <a:lnTo>
                      <a:pt x="2092107" y="0"/>
                    </a:lnTo>
                    <a:lnTo>
                      <a:pt x="2181007" y="332607"/>
                    </a:lnTo>
                    <a:lnTo>
                      <a:pt x="0" y="605657"/>
                    </a:lnTo>
                    <a:lnTo>
                      <a:pt x="0" y="152400"/>
                    </a:lnTo>
                    <a:close/>
                  </a:path>
                </a:pathLst>
              </a:custGeom>
              <a:solidFill>
                <a:srgbClr val="B1DD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5" name="Rectangle 221"/>
              <p:cNvSpPr/>
              <p:nvPr/>
            </p:nvSpPr>
            <p:spPr>
              <a:xfrm flipH="1">
                <a:off x="6528049" y="2842183"/>
                <a:ext cx="2638601" cy="745358"/>
              </a:xfrm>
              <a:custGeom>
                <a:avLst/>
                <a:gdLst>
                  <a:gd name="connsiteX0" fmla="*/ 0 w 2638603"/>
                  <a:gd name="connsiteY0" fmla="*/ 0 h 453257"/>
                  <a:gd name="connsiteX1" fmla="*/ 2638603 w 2638603"/>
                  <a:gd name="connsiteY1" fmla="*/ 0 h 453257"/>
                  <a:gd name="connsiteX2" fmla="*/ 2638603 w 2638603"/>
                  <a:gd name="connsiteY2" fmla="*/ 453257 h 453257"/>
                  <a:gd name="connsiteX3" fmla="*/ 0 w 2638603"/>
                  <a:gd name="connsiteY3" fmla="*/ 453257 h 453257"/>
                  <a:gd name="connsiteX4" fmla="*/ 0 w 2638603"/>
                  <a:gd name="connsiteY4" fmla="*/ 0 h 453257"/>
                  <a:gd name="connsiteX0" fmla="*/ 0 w 2638603"/>
                  <a:gd name="connsiteY0" fmla="*/ 292100 h 745357"/>
                  <a:gd name="connsiteX1" fmla="*/ 2549703 w 2638603"/>
                  <a:gd name="connsiteY1" fmla="*/ 0 h 745357"/>
                  <a:gd name="connsiteX2" fmla="*/ 2638603 w 2638603"/>
                  <a:gd name="connsiteY2" fmla="*/ 745357 h 745357"/>
                  <a:gd name="connsiteX3" fmla="*/ 0 w 2638603"/>
                  <a:gd name="connsiteY3" fmla="*/ 745357 h 745357"/>
                  <a:gd name="connsiteX4" fmla="*/ 0 w 2638603"/>
                  <a:gd name="connsiteY4" fmla="*/ 292100 h 745357"/>
                  <a:gd name="connsiteX0" fmla="*/ 0 w 2638603"/>
                  <a:gd name="connsiteY0" fmla="*/ 292100 h 745357"/>
                  <a:gd name="connsiteX1" fmla="*/ 2549703 w 2638603"/>
                  <a:gd name="connsiteY1" fmla="*/ 0 h 745357"/>
                  <a:gd name="connsiteX2" fmla="*/ 2638603 w 2638603"/>
                  <a:gd name="connsiteY2" fmla="*/ 224657 h 745357"/>
                  <a:gd name="connsiteX3" fmla="*/ 0 w 2638603"/>
                  <a:gd name="connsiteY3" fmla="*/ 745357 h 745357"/>
                  <a:gd name="connsiteX4" fmla="*/ 0 w 2638603"/>
                  <a:gd name="connsiteY4" fmla="*/ 292100 h 74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8603" h="745357">
                    <a:moveTo>
                      <a:pt x="0" y="292100"/>
                    </a:moveTo>
                    <a:lnTo>
                      <a:pt x="2549703" y="0"/>
                    </a:lnTo>
                    <a:lnTo>
                      <a:pt x="2638603" y="224657"/>
                    </a:lnTo>
                    <a:lnTo>
                      <a:pt x="0" y="745357"/>
                    </a:lnTo>
                    <a:lnTo>
                      <a:pt x="0" y="292100"/>
                    </a:lnTo>
                    <a:close/>
                  </a:path>
                </a:pathLst>
              </a:custGeom>
              <a:solidFill>
                <a:srgbClr val="F8C7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grpSp>
        <p:grpSp>
          <p:nvGrpSpPr>
            <p:cNvPr id="229" name="Group 228"/>
            <p:cNvGrpSpPr/>
            <p:nvPr/>
          </p:nvGrpSpPr>
          <p:grpSpPr>
            <a:xfrm>
              <a:off x="6528050" y="3676724"/>
              <a:ext cx="2638604" cy="1672044"/>
              <a:chOff x="6528050" y="3676724"/>
              <a:chExt cx="2638604" cy="1672044"/>
            </a:xfrm>
          </p:grpSpPr>
          <p:sp>
            <p:nvSpPr>
              <p:cNvPr id="220" name="Rectangle 219"/>
              <p:cNvSpPr/>
              <p:nvPr/>
            </p:nvSpPr>
            <p:spPr>
              <a:xfrm flipH="1">
                <a:off x="7420198" y="3676724"/>
                <a:ext cx="1746456" cy="513582"/>
              </a:xfrm>
              <a:custGeom>
                <a:avLst/>
                <a:gdLst>
                  <a:gd name="connsiteX0" fmla="*/ 0 w 1673431"/>
                  <a:gd name="connsiteY0" fmla="*/ 0 h 453257"/>
                  <a:gd name="connsiteX1" fmla="*/ 1673431 w 1673431"/>
                  <a:gd name="connsiteY1" fmla="*/ 0 h 453257"/>
                  <a:gd name="connsiteX2" fmla="*/ 1673431 w 1673431"/>
                  <a:gd name="connsiteY2" fmla="*/ 453257 h 453257"/>
                  <a:gd name="connsiteX3" fmla="*/ 0 w 1673431"/>
                  <a:gd name="connsiteY3" fmla="*/ 453257 h 453257"/>
                  <a:gd name="connsiteX4" fmla="*/ 0 w 1673431"/>
                  <a:gd name="connsiteY4" fmla="*/ 0 h 453257"/>
                  <a:gd name="connsiteX0" fmla="*/ 0 w 1673431"/>
                  <a:gd name="connsiteY0" fmla="*/ 60325 h 513582"/>
                  <a:gd name="connsiteX1" fmla="*/ 1663906 w 1673431"/>
                  <a:gd name="connsiteY1" fmla="*/ 0 h 513582"/>
                  <a:gd name="connsiteX2" fmla="*/ 1673431 w 1673431"/>
                  <a:gd name="connsiteY2" fmla="*/ 513582 h 513582"/>
                  <a:gd name="connsiteX3" fmla="*/ 0 w 1673431"/>
                  <a:gd name="connsiteY3" fmla="*/ 513582 h 513582"/>
                  <a:gd name="connsiteX4" fmla="*/ 0 w 1673431"/>
                  <a:gd name="connsiteY4" fmla="*/ 60325 h 513582"/>
                  <a:gd name="connsiteX0" fmla="*/ 0 w 1740106"/>
                  <a:gd name="connsiteY0" fmla="*/ 60325 h 513582"/>
                  <a:gd name="connsiteX1" fmla="*/ 1663906 w 1740106"/>
                  <a:gd name="connsiteY1" fmla="*/ 0 h 513582"/>
                  <a:gd name="connsiteX2" fmla="*/ 1740106 w 1740106"/>
                  <a:gd name="connsiteY2" fmla="*/ 411982 h 513582"/>
                  <a:gd name="connsiteX3" fmla="*/ 0 w 1740106"/>
                  <a:gd name="connsiteY3" fmla="*/ 513582 h 513582"/>
                  <a:gd name="connsiteX4" fmla="*/ 0 w 1740106"/>
                  <a:gd name="connsiteY4" fmla="*/ 60325 h 513582"/>
                  <a:gd name="connsiteX0" fmla="*/ 0 w 1746456"/>
                  <a:gd name="connsiteY0" fmla="*/ 60325 h 513582"/>
                  <a:gd name="connsiteX1" fmla="*/ 1663906 w 1746456"/>
                  <a:gd name="connsiteY1" fmla="*/ 0 h 513582"/>
                  <a:gd name="connsiteX2" fmla="*/ 1746456 w 1746456"/>
                  <a:gd name="connsiteY2" fmla="*/ 354832 h 513582"/>
                  <a:gd name="connsiteX3" fmla="*/ 0 w 1746456"/>
                  <a:gd name="connsiteY3" fmla="*/ 513582 h 513582"/>
                  <a:gd name="connsiteX4" fmla="*/ 0 w 1746456"/>
                  <a:gd name="connsiteY4" fmla="*/ 60325 h 51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456" h="513582">
                    <a:moveTo>
                      <a:pt x="0" y="60325"/>
                    </a:moveTo>
                    <a:lnTo>
                      <a:pt x="1663906" y="0"/>
                    </a:lnTo>
                    <a:lnTo>
                      <a:pt x="1746456" y="354832"/>
                    </a:lnTo>
                    <a:lnTo>
                      <a:pt x="0" y="513582"/>
                    </a:lnTo>
                    <a:lnTo>
                      <a:pt x="0" y="60325"/>
                    </a:lnTo>
                    <a:close/>
                  </a:path>
                </a:pathLst>
              </a:custGeom>
              <a:solidFill>
                <a:srgbClr val="EEB5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1" name="Rectangle 220"/>
              <p:cNvSpPr/>
              <p:nvPr/>
            </p:nvSpPr>
            <p:spPr>
              <a:xfrm flipH="1">
                <a:off x="6985646" y="4165702"/>
                <a:ext cx="2181007" cy="605657"/>
              </a:xfrm>
              <a:custGeom>
                <a:avLst/>
                <a:gdLst>
                  <a:gd name="connsiteX0" fmla="*/ 0 w 2238157"/>
                  <a:gd name="connsiteY0" fmla="*/ 0 h 453257"/>
                  <a:gd name="connsiteX1" fmla="*/ 2238157 w 2238157"/>
                  <a:gd name="connsiteY1" fmla="*/ 0 h 453257"/>
                  <a:gd name="connsiteX2" fmla="*/ 2238157 w 2238157"/>
                  <a:gd name="connsiteY2" fmla="*/ 453257 h 453257"/>
                  <a:gd name="connsiteX3" fmla="*/ 0 w 2238157"/>
                  <a:gd name="connsiteY3" fmla="*/ 453257 h 453257"/>
                  <a:gd name="connsiteX4" fmla="*/ 0 w 2238157"/>
                  <a:gd name="connsiteY4" fmla="*/ 0 h 453257"/>
                  <a:gd name="connsiteX0" fmla="*/ 0 w 2238157"/>
                  <a:gd name="connsiteY0" fmla="*/ 152400 h 605657"/>
                  <a:gd name="connsiteX1" fmla="*/ 2092107 w 2238157"/>
                  <a:gd name="connsiteY1" fmla="*/ 0 h 605657"/>
                  <a:gd name="connsiteX2" fmla="*/ 2238157 w 2238157"/>
                  <a:gd name="connsiteY2" fmla="*/ 605657 h 605657"/>
                  <a:gd name="connsiteX3" fmla="*/ 0 w 2238157"/>
                  <a:gd name="connsiteY3" fmla="*/ 605657 h 605657"/>
                  <a:gd name="connsiteX4" fmla="*/ 0 w 2238157"/>
                  <a:gd name="connsiteY4" fmla="*/ 152400 h 605657"/>
                  <a:gd name="connsiteX0" fmla="*/ 0 w 2181007"/>
                  <a:gd name="connsiteY0" fmla="*/ 152400 h 605657"/>
                  <a:gd name="connsiteX1" fmla="*/ 2092107 w 2181007"/>
                  <a:gd name="connsiteY1" fmla="*/ 0 h 605657"/>
                  <a:gd name="connsiteX2" fmla="*/ 2181007 w 2181007"/>
                  <a:gd name="connsiteY2" fmla="*/ 332607 h 605657"/>
                  <a:gd name="connsiteX3" fmla="*/ 0 w 2181007"/>
                  <a:gd name="connsiteY3" fmla="*/ 605657 h 605657"/>
                  <a:gd name="connsiteX4" fmla="*/ 0 w 2181007"/>
                  <a:gd name="connsiteY4" fmla="*/ 152400 h 605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007" h="605657">
                    <a:moveTo>
                      <a:pt x="0" y="152400"/>
                    </a:moveTo>
                    <a:lnTo>
                      <a:pt x="2092107" y="0"/>
                    </a:lnTo>
                    <a:lnTo>
                      <a:pt x="2181007" y="332607"/>
                    </a:lnTo>
                    <a:lnTo>
                      <a:pt x="0" y="605657"/>
                    </a:lnTo>
                    <a:lnTo>
                      <a:pt x="0" y="152400"/>
                    </a:lnTo>
                    <a:close/>
                  </a:path>
                </a:pathLst>
              </a:custGeom>
              <a:solidFill>
                <a:srgbClr val="F8B1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sp>
            <p:nvSpPr>
              <p:cNvPr id="222" name="Rectangle 221"/>
              <p:cNvSpPr/>
              <p:nvPr/>
            </p:nvSpPr>
            <p:spPr>
              <a:xfrm flipH="1">
                <a:off x="6528050" y="4603411"/>
                <a:ext cx="2638603" cy="745357"/>
              </a:xfrm>
              <a:custGeom>
                <a:avLst/>
                <a:gdLst>
                  <a:gd name="connsiteX0" fmla="*/ 0 w 2638603"/>
                  <a:gd name="connsiteY0" fmla="*/ 0 h 453257"/>
                  <a:gd name="connsiteX1" fmla="*/ 2638603 w 2638603"/>
                  <a:gd name="connsiteY1" fmla="*/ 0 h 453257"/>
                  <a:gd name="connsiteX2" fmla="*/ 2638603 w 2638603"/>
                  <a:gd name="connsiteY2" fmla="*/ 453257 h 453257"/>
                  <a:gd name="connsiteX3" fmla="*/ 0 w 2638603"/>
                  <a:gd name="connsiteY3" fmla="*/ 453257 h 453257"/>
                  <a:gd name="connsiteX4" fmla="*/ 0 w 2638603"/>
                  <a:gd name="connsiteY4" fmla="*/ 0 h 453257"/>
                  <a:gd name="connsiteX0" fmla="*/ 0 w 2638603"/>
                  <a:gd name="connsiteY0" fmla="*/ 292100 h 745357"/>
                  <a:gd name="connsiteX1" fmla="*/ 2549703 w 2638603"/>
                  <a:gd name="connsiteY1" fmla="*/ 0 h 745357"/>
                  <a:gd name="connsiteX2" fmla="*/ 2638603 w 2638603"/>
                  <a:gd name="connsiteY2" fmla="*/ 745357 h 745357"/>
                  <a:gd name="connsiteX3" fmla="*/ 0 w 2638603"/>
                  <a:gd name="connsiteY3" fmla="*/ 745357 h 745357"/>
                  <a:gd name="connsiteX4" fmla="*/ 0 w 2638603"/>
                  <a:gd name="connsiteY4" fmla="*/ 292100 h 745357"/>
                  <a:gd name="connsiteX0" fmla="*/ 0 w 2638603"/>
                  <a:gd name="connsiteY0" fmla="*/ 292100 h 745357"/>
                  <a:gd name="connsiteX1" fmla="*/ 2549703 w 2638603"/>
                  <a:gd name="connsiteY1" fmla="*/ 0 h 745357"/>
                  <a:gd name="connsiteX2" fmla="*/ 2638603 w 2638603"/>
                  <a:gd name="connsiteY2" fmla="*/ 224657 h 745357"/>
                  <a:gd name="connsiteX3" fmla="*/ 0 w 2638603"/>
                  <a:gd name="connsiteY3" fmla="*/ 745357 h 745357"/>
                  <a:gd name="connsiteX4" fmla="*/ 0 w 2638603"/>
                  <a:gd name="connsiteY4" fmla="*/ 292100 h 745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8603" h="745357">
                    <a:moveTo>
                      <a:pt x="0" y="292100"/>
                    </a:moveTo>
                    <a:lnTo>
                      <a:pt x="2549703" y="0"/>
                    </a:lnTo>
                    <a:lnTo>
                      <a:pt x="2638603" y="224657"/>
                    </a:lnTo>
                    <a:lnTo>
                      <a:pt x="0" y="745357"/>
                    </a:lnTo>
                    <a:lnTo>
                      <a:pt x="0" y="292100"/>
                    </a:lnTo>
                    <a:close/>
                  </a:path>
                </a:pathLst>
              </a:custGeom>
              <a:solidFill>
                <a:srgbClr val="A9B2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grpSp>
        <p:sp>
          <p:nvSpPr>
            <p:cNvPr id="213" name="Rectangle 212"/>
            <p:cNvSpPr/>
            <p:nvPr/>
          </p:nvSpPr>
          <p:spPr>
            <a:xfrm flipH="1">
              <a:off x="7660121" y="3163979"/>
              <a:ext cx="1506535" cy="448920"/>
            </a:xfrm>
            <a:prstGeom prst="rect">
              <a:avLst/>
            </a:prstGeom>
            <a:solidFill>
              <a:srgbClr val="FFDD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prstClr val="white"/>
                </a:solidFill>
              </a:endParaRPr>
            </a:p>
          </p:txBody>
        </p:sp>
      </p:grpSp>
      <p:sp>
        <p:nvSpPr>
          <p:cNvPr id="111" name="Rectangle 110"/>
          <p:cNvSpPr/>
          <p:nvPr/>
        </p:nvSpPr>
        <p:spPr>
          <a:xfrm>
            <a:off x="6089101" y="6633085"/>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pic>
        <p:nvPicPr>
          <p:cNvPr id="115" name="Picture 2" descr="http://www.clipartbest.com/cliparts/ncE/gjB/ncEgjBRcA.png"/>
          <p:cNvPicPr>
            <a:picLocks noChangeAspect="1" noChangeArrowheads="1"/>
          </p:cNvPicPr>
          <p:nvPr/>
        </p:nvPicPr>
        <p:blipFill>
          <a:blip r:embed="rId1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278829">
            <a:off x="5023380" y="1341400"/>
            <a:ext cx="3503927" cy="3492248"/>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10" descr="http://www.inteneosystems.com/datawarehouse_files/Prism-Logo8b.pn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6264647" y="2542418"/>
            <a:ext cx="848726" cy="58426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clipartbest.com/cliparts/ncE/gjB/ncEgjBRcA.png"/>
          <p:cNvPicPr>
            <a:picLocks noChangeAspect="1" noChangeArrowheads="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92721" y="1330950"/>
            <a:ext cx="3503927" cy="3492248"/>
          </a:xfrm>
          <a:prstGeom prst="rect">
            <a:avLst/>
          </a:prstGeom>
          <a:noFill/>
          <a:extLst>
            <a:ext uri="{909E8E84-426E-40DD-AFC4-6F175D3DCCD1}">
              <a14:hiddenFill xmlns:a14="http://schemas.microsoft.com/office/drawing/2010/main">
                <a:solidFill>
                  <a:srgbClr val="FFFFFF"/>
                </a:solidFill>
              </a14:hiddenFill>
            </a:ext>
          </a:extLst>
        </p:spPr>
      </p:pic>
      <p:grpSp>
        <p:nvGrpSpPr>
          <p:cNvPr id="161" name="Group 160"/>
          <p:cNvGrpSpPr/>
          <p:nvPr/>
        </p:nvGrpSpPr>
        <p:grpSpPr>
          <a:xfrm>
            <a:off x="5161996" y="1876092"/>
            <a:ext cx="2793701" cy="2397340"/>
            <a:chOff x="5434935" y="2517445"/>
            <a:chExt cx="3287429" cy="2971800"/>
          </a:xfrm>
        </p:grpSpPr>
        <p:sp>
          <p:nvSpPr>
            <p:cNvPr id="168" name="Oval 2"/>
            <p:cNvSpPr>
              <a:spLocks noChangeArrowheads="1"/>
            </p:cNvSpPr>
            <p:nvPr/>
          </p:nvSpPr>
          <p:spPr bwMode="auto">
            <a:xfrm>
              <a:off x="5750565" y="2517445"/>
              <a:ext cx="2971799" cy="2971800"/>
            </a:xfrm>
            <a:prstGeom prst="ellipse">
              <a:avLst/>
            </a:prstGeom>
            <a:solidFill>
              <a:schemeClr val="bg1"/>
            </a:solidFill>
            <a:ln w="635000" algn="ctr">
              <a:solidFill>
                <a:srgbClr val="749BB8"/>
              </a:solidFill>
              <a:round/>
              <a:headEnd/>
              <a:tailEnd/>
            </a:ln>
          </p:spPr>
          <p:txBody>
            <a:bodyPr wrap="none" anchor="ctr"/>
            <a:lstStyle/>
            <a:p>
              <a:pPr>
                <a:defRPr/>
              </a:pPr>
              <a:endParaRPr lang="en-US" sz="1200" b="1" kern="0" dirty="0">
                <a:solidFill>
                  <a:sysClr val="windowText" lastClr="000000"/>
                </a:solidFill>
                <a:latin typeface="Arial"/>
                <a:cs typeface="Arial" charset="0"/>
              </a:endParaRPr>
            </a:p>
          </p:txBody>
        </p:sp>
        <p:sp>
          <p:nvSpPr>
            <p:cNvPr id="169" name="AutoShape 14"/>
            <p:cNvSpPr>
              <a:spLocks noChangeArrowheads="1"/>
            </p:cNvSpPr>
            <p:nvPr/>
          </p:nvSpPr>
          <p:spPr bwMode="auto">
            <a:xfrm rot="5400000" flipH="1">
              <a:off x="5625435" y="3655775"/>
              <a:ext cx="304800" cy="685800"/>
            </a:xfrm>
            <a:prstGeom prst="chevron">
              <a:avLst>
                <a:gd name="adj" fmla="val 71431"/>
              </a:avLst>
            </a:prstGeom>
            <a:solidFill>
              <a:schemeClr val="bg1"/>
            </a:solidFill>
            <a:ln w="9525" algn="ctr">
              <a:solidFill>
                <a:srgbClr val="749BB8"/>
              </a:solid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70" name="AutoShape 14"/>
            <p:cNvSpPr>
              <a:spLocks noChangeArrowheads="1"/>
            </p:cNvSpPr>
            <p:nvPr/>
          </p:nvSpPr>
          <p:spPr bwMode="auto">
            <a:xfrm rot="13294204" flipH="1">
              <a:off x="8139434" y="2597976"/>
              <a:ext cx="313146" cy="722455"/>
            </a:xfrm>
            <a:prstGeom prst="chevron">
              <a:avLst>
                <a:gd name="adj" fmla="val 71431"/>
              </a:avLst>
            </a:prstGeom>
            <a:solidFill>
              <a:schemeClr val="bg1"/>
            </a:solidFill>
            <a:ln w="9525" algn="ctr">
              <a:solidFill>
                <a:srgbClr val="749BB8"/>
              </a:solid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grpSp>
      <p:sp>
        <p:nvSpPr>
          <p:cNvPr id="165" name="TextBox 164"/>
          <p:cNvSpPr txBox="1"/>
          <p:nvPr/>
        </p:nvSpPr>
        <p:spPr>
          <a:xfrm rot="10800000">
            <a:off x="4731112" y="1791898"/>
            <a:ext cx="3029686" cy="2486655"/>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Proprietary</a:t>
            </a:r>
          </a:p>
          <a:p>
            <a:pPr algn="ctr" defTabSz="914324"/>
            <a:r>
              <a:rPr lang="en-US" sz="1600" b="1" dirty="0">
                <a:solidFill>
                  <a:prstClr val="white"/>
                </a:solidFill>
                <a:latin typeface="Adobe Clean Light"/>
                <a:cs typeface="Adobe Clean Light"/>
              </a:rPr>
              <a:t> Logic</a:t>
            </a:r>
          </a:p>
        </p:txBody>
      </p:sp>
      <p:sp>
        <p:nvSpPr>
          <p:cNvPr id="166" name="Donut 165"/>
          <p:cNvSpPr/>
          <p:nvPr/>
        </p:nvSpPr>
        <p:spPr>
          <a:xfrm>
            <a:off x="5849264" y="2273870"/>
            <a:ext cx="1687395" cy="1601780"/>
          </a:xfrm>
          <a:prstGeom prst="donut">
            <a:avLst>
              <a:gd name="adj" fmla="val 10713"/>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prstClr val="black"/>
              </a:solidFill>
            </a:endParaRPr>
          </a:p>
        </p:txBody>
      </p:sp>
      <p:grpSp>
        <p:nvGrpSpPr>
          <p:cNvPr id="128" name="Group 127"/>
          <p:cNvGrpSpPr/>
          <p:nvPr/>
        </p:nvGrpSpPr>
        <p:grpSpPr>
          <a:xfrm>
            <a:off x="3197870" y="1609750"/>
            <a:ext cx="3093751" cy="2951247"/>
            <a:chOff x="3944769" y="1722539"/>
            <a:chExt cx="3304459" cy="3320735"/>
          </a:xfrm>
        </p:grpSpPr>
        <p:pic>
          <p:nvPicPr>
            <p:cNvPr id="129" name="Picture 10" descr="http://www.inteneosystems.com/datawarehouse_files/Prism-Logo8b.pn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5122518" y="2783537"/>
              <a:ext cx="906531" cy="657418"/>
            </a:xfrm>
            <a:prstGeom prst="rect">
              <a:avLst/>
            </a:prstGeom>
            <a:noFill/>
            <a:extLst>
              <a:ext uri="{909E8E84-426E-40DD-AFC4-6F175D3DCCD1}">
                <a14:hiddenFill xmlns:a14="http://schemas.microsoft.com/office/drawing/2010/main">
                  <a:solidFill>
                    <a:srgbClr val="FFFFFF"/>
                  </a:solidFill>
                </a14:hiddenFill>
              </a:ext>
            </a:extLst>
          </p:spPr>
        </p:pic>
        <p:grpSp>
          <p:nvGrpSpPr>
            <p:cNvPr id="130" name="Group 129"/>
            <p:cNvGrpSpPr/>
            <p:nvPr/>
          </p:nvGrpSpPr>
          <p:grpSpPr>
            <a:xfrm flipH="1">
              <a:off x="3944769" y="1722539"/>
              <a:ext cx="3304459" cy="3320735"/>
              <a:chOff x="3944769" y="1722539"/>
              <a:chExt cx="3304459" cy="3320735"/>
            </a:xfrm>
          </p:grpSpPr>
          <p:grpSp>
            <p:nvGrpSpPr>
              <p:cNvPr id="132" name="Group 131"/>
              <p:cNvGrpSpPr/>
              <p:nvPr/>
            </p:nvGrpSpPr>
            <p:grpSpPr>
              <a:xfrm flipH="1">
                <a:off x="3944769" y="1722539"/>
                <a:ext cx="3304459" cy="3320735"/>
                <a:chOff x="5434935" y="2174544"/>
                <a:chExt cx="3640507" cy="3658439"/>
              </a:xfrm>
            </p:grpSpPr>
            <p:sp>
              <p:nvSpPr>
                <p:cNvPr id="139" name="Oval 2"/>
                <p:cNvSpPr>
                  <a:spLocks noChangeArrowheads="1"/>
                </p:cNvSpPr>
                <p:nvPr/>
              </p:nvSpPr>
              <p:spPr bwMode="auto">
                <a:xfrm>
                  <a:off x="5750566" y="2517446"/>
                  <a:ext cx="2971800" cy="2971799"/>
                </a:xfrm>
                <a:prstGeom prst="ellipse">
                  <a:avLst/>
                </a:prstGeom>
                <a:solidFill>
                  <a:schemeClr val="bg1"/>
                </a:solidFill>
                <a:ln w="635000" algn="ctr">
                  <a:solidFill>
                    <a:srgbClr val="253D9B"/>
                  </a:solidFill>
                  <a:round/>
                  <a:headEnd/>
                  <a:tailEnd/>
                </a:ln>
              </p:spPr>
              <p:txBody>
                <a:bodyPr wrap="none" anchor="ctr"/>
                <a:lstStyle/>
                <a:p>
                  <a:pPr>
                    <a:defRPr/>
                  </a:pPr>
                  <a:endParaRPr lang="en-US" sz="1200" b="1" kern="0" dirty="0">
                    <a:solidFill>
                      <a:sysClr val="windowText" lastClr="000000"/>
                    </a:solidFill>
                    <a:latin typeface="Arial"/>
                    <a:cs typeface="Arial" charset="0"/>
                  </a:endParaRPr>
                </a:p>
              </p:txBody>
            </p:sp>
            <p:sp>
              <p:nvSpPr>
                <p:cNvPr id="140" name="AutoShape 14"/>
                <p:cNvSpPr>
                  <a:spLocks noChangeArrowheads="1"/>
                </p:cNvSpPr>
                <p:nvPr/>
              </p:nvSpPr>
              <p:spPr bwMode="auto">
                <a:xfrm rot="5400000" flipH="1">
                  <a:off x="5625435" y="3655775"/>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41" name="AutoShape 14"/>
                <p:cNvSpPr>
                  <a:spLocks noChangeArrowheads="1"/>
                </p:cNvSpPr>
                <p:nvPr/>
              </p:nvSpPr>
              <p:spPr bwMode="auto">
                <a:xfrm rot="16200000" flipH="1">
                  <a:off x="8580142" y="3655776"/>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42" name="AutoShape 14"/>
                <p:cNvSpPr>
                  <a:spLocks noChangeArrowheads="1"/>
                </p:cNvSpPr>
                <p:nvPr/>
              </p:nvSpPr>
              <p:spPr bwMode="auto">
                <a:xfrm rot="10800000" flipH="1">
                  <a:off x="7084065" y="2174544"/>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43" name="AutoShape 14"/>
                <p:cNvSpPr>
                  <a:spLocks noChangeArrowheads="1"/>
                </p:cNvSpPr>
                <p:nvPr/>
              </p:nvSpPr>
              <p:spPr bwMode="auto">
                <a:xfrm flipH="1">
                  <a:off x="7084065" y="5147183"/>
                  <a:ext cx="304800" cy="685800"/>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grpSp>
          <p:sp>
            <p:nvSpPr>
              <p:cNvPr id="133" name="TextBox 132"/>
              <p:cNvSpPr txBox="1"/>
              <p:nvPr/>
            </p:nvSpPr>
            <p:spPr>
              <a:xfrm rot="18987772" flipH="1">
                <a:off x="5210315" y="2093523"/>
                <a:ext cx="1482499" cy="1886429"/>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 </a:t>
                </a:r>
              </a:p>
              <a:p>
                <a:pPr algn="ctr" defTabSz="914324"/>
                <a:r>
                  <a:rPr lang="en-US" sz="1600" b="1" dirty="0">
                    <a:solidFill>
                      <a:prstClr val="white"/>
                    </a:solidFill>
                    <a:latin typeface="Adobe Clean Light"/>
                    <a:cs typeface="Adobe Clean Light"/>
                  </a:rPr>
                  <a:t>Engineering</a:t>
                </a:r>
              </a:p>
            </p:txBody>
          </p:sp>
          <p:sp>
            <p:nvSpPr>
              <p:cNvPr id="134" name="TextBox 133"/>
              <p:cNvSpPr txBox="1"/>
              <p:nvPr/>
            </p:nvSpPr>
            <p:spPr>
              <a:xfrm rot="13357475" flipH="1">
                <a:off x="4588766" y="1986839"/>
                <a:ext cx="1061189" cy="1902505"/>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a:t>
                </a:r>
              </a:p>
              <a:p>
                <a:pPr algn="ctr" defTabSz="914324"/>
                <a:r>
                  <a:rPr lang="en-US" sz="1600" b="1" dirty="0">
                    <a:solidFill>
                      <a:prstClr val="white"/>
                    </a:solidFill>
                    <a:latin typeface="Adobe Clean Light"/>
                    <a:cs typeface="Adobe Clean Light"/>
                  </a:rPr>
                  <a:t>Mining</a:t>
                </a:r>
              </a:p>
            </p:txBody>
          </p:sp>
          <p:sp>
            <p:nvSpPr>
              <p:cNvPr id="135" name="TextBox 134"/>
              <p:cNvSpPr txBox="1"/>
              <p:nvPr/>
            </p:nvSpPr>
            <p:spPr>
              <a:xfrm rot="2482117" flipH="1">
                <a:off x="5583603" y="2897224"/>
                <a:ext cx="1061189" cy="1902505"/>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a:t>
                </a:r>
              </a:p>
              <a:p>
                <a:pPr algn="ctr" defTabSz="914324"/>
                <a:r>
                  <a:rPr lang="en-US" sz="1600" b="1" dirty="0">
                    <a:solidFill>
                      <a:prstClr val="white"/>
                    </a:solidFill>
                    <a:latin typeface="Adobe Clean Light"/>
                    <a:cs typeface="Adobe Clean Light"/>
                  </a:rPr>
                  <a:t>Intelligence</a:t>
                </a:r>
              </a:p>
            </p:txBody>
          </p:sp>
          <p:sp>
            <p:nvSpPr>
              <p:cNvPr id="136" name="TextBox 135"/>
              <p:cNvSpPr txBox="1"/>
              <p:nvPr/>
            </p:nvSpPr>
            <p:spPr>
              <a:xfrm rot="8018559" flipH="1">
                <a:off x="4590577" y="2964340"/>
                <a:ext cx="1061189" cy="1815203"/>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Data</a:t>
                </a:r>
              </a:p>
              <a:p>
                <a:pPr algn="ctr" defTabSz="914324"/>
                <a:r>
                  <a:rPr lang="en-US" sz="1600" b="1" dirty="0">
                    <a:solidFill>
                      <a:prstClr val="white"/>
                    </a:solidFill>
                    <a:latin typeface="Adobe Clean Light"/>
                    <a:cs typeface="Adobe Clean Light"/>
                  </a:rPr>
                  <a:t>Insights</a:t>
                </a:r>
              </a:p>
            </p:txBody>
          </p:sp>
          <p:sp>
            <p:nvSpPr>
              <p:cNvPr id="138" name="Donut 137"/>
              <p:cNvSpPr/>
              <p:nvPr/>
            </p:nvSpPr>
            <p:spPr>
              <a:xfrm flipH="1">
                <a:off x="4712834" y="2481367"/>
                <a:ext cx="1802319" cy="1802318"/>
              </a:xfrm>
              <a:prstGeom prst="donut">
                <a:avLst>
                  <a:gd name="adj" fmla="val 10713"/>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solidFill>
                    <a:prstClr val="black"/>
                  </a:solidFill>
                </a:endParaRPr>
              </a:p>
            </p:txBody>
          </p:sp>
        </p:grpSp>
      </p:grpSp>
      <p:sp>
        <p:nvSpPr>
          <p:cNvPr id="116" name="TextBox 115"/>
          <p:cNvSpPr txBox="1"/>
          <p:nvPr/>
        </p:nvSpPr>
        <p:spPr>
          <a:xfrm rot="5636852">
            <a:off x="6205070" y="1691693"/>
            <a:ext cx="993523" cy="1690819"/>
          </a:xfrm>
          <a:prstGeom prst="rect">
            <a:avLst/>
          </a:prstGeom>
          <a:noFill/>
        </p:spPr>
        <p:txBody>
          <a:bodyPr wrap="none" lIns="68586" tIns="34294" rIns="68586" bIns="34294" rtlCol="0">
            <a:prstTxWarp prst="textCircle">
              <a:avLst>
                <a:gd name="adj" fmla="val 7755756"/>
              </a:avLst>
            </a:prstTxWarp>
            <a:spAutoFit/>
          </a:bodyPr>
          <a:lstStyle/>
          <a:p>
            <a:pPr algn="ctr" defTabSz="914324"/>
            <a:r>
              <a:rPr lang="en-US" sz="1600" b="1" dirty="0">
                <a:solidFill>
                  <a:prstClr val="white"/>
                </a:solidFill>
                <a:latin typeface="Adobe Clean Light"/>
                <a:cs typeface="Adobe Clean Light"/>
              </a:rPr>
              <a:t>Advanced</a:t>
            </a:r>
          </a:p>
          <a:p>
            <a:pPr algn="ctr" defTabSz="914324"/>
            <a:r>
              <a:rPr lang="en-US" sz="1600" b="1" dirty="0">
                <a:solidFill>
                  <a:prstClr val="white"/>
                </a:solidFill>
                <a:latin typeface="Adobe Clean Light"/>
                <a:cs typeface="Adobe Clean Light"/>
              </a:rPr>
              <a:t>Algorithms</a:t>
            </a:r>
          </a:p>
        </p:txBody>
      </p:sp>
      <p:sp>
        <p:nvSpPr>
          <p:cNvPr id="117" name="AutoShape 14"/>
          <p:cNvSpPr>
            <a:spLocks noChangeArrowheads="1"/>
          </p:cNvSpPr>
          <p:nvPr/>
        </p:nvSpPr>
        <p:spPr bwMode="auto">
          <a:xfrm rot="18337604" flipH="1">
            <a:off x="7486942" y="3606200"/>
            <a:ext cx="266116" cy="582802"/>
          </a:xfrm>
          <a:prstGeom prst="chevron">
            <a:avLst>
              <a:gd name="adj" fmla="val 71431"/>
            </a:avLst>
          </a:prstGeom>
          <a:solidFill>
            <a:schemeClr val="bg1"/>
          </a:solidFill>
          <a:ln w="9525" algn="ctr">
            <a:noFill/>
            <a:miter lim="800000"/>
            <a:headEnd/>
            <a:tailEnd/>
          </a:ln>
        </p:spPr>
        <p:txBody>
          <a:bodyPr rot="10800000" wrap="none" anchor="ctr"/>
          <a:lstStyle/>
          <a:p>
            <a:pPr algn="ctr" eaLnBrk="0" hangingPunct="0">
              <a:defRPr/>
            </a:pPr>
            <a:endParaRPr lang="en-US" sz="1000" b="1" kern="0" dirty="0">
              <a:solidFill>
                <a:sysClr val="windowText" lastClr="000000"/>
              </a:solidFill>
              <a:latin typeface="Arial"/>
              <a:cs typeface="Arial" charset="0"/>
            </a:endParaRPr>
          </a:p>
        </p:txBody>
      </p:sp>
      <p:sp>
        <p:nvSpPr>
          <p:cNvPr id="118" name="&quot;Tata Co. Data&quot;"/>
          <p:cNvSpPr txBox="1"/>
          <p:nvPr/>
        </p:nvSpPr>
        <p:spPr>
          <a:xfrm>
            <a:off x="5034024" y="-440494"/>
            <a:ext cx="3417164" cy="4628638"/>
          </a:xfrm>
          <a:prstGeom prst="rect">
            <a:avLst/>
          </a:prstGeom>
          <a:noFill/>
          <a:ln>
            <a:noFill/>
          </a:ln>
        </p:spPr>
        <p:txBody>
          <a:bodyPr wrap="square" lIns="68586" tIns="34294" rIns="68586" bIns="34294" rtlCol="0">
            <a:prstTxWarp prst="textArchDown">
              <a:avLst>
                <a:gd name="adj" fmla="val 122530"/>
              </a:avLst>
            </a:prstTxWarp>
            <a:spAutoFit/>
          </a:bodyPr>
          <a:lstStyle/>
          <a:p>
            <a:pPr algn="ctr" defTabSz="914324">
              <a:spcAft>
                <a:spcPts val="50"/>
              </a:spcAft>
            </a:pPr>
            <a:r>
              <a:rPr lang="en-US" sz="1600" b="1" dirty="0">
                <a:solidFill>
                  <a:prstClr val="white"/>
                </a:solidFill>
                <a:latin typeface="Adobe Clean Light"/>
                <a:cs typeface="Adobe Clean Light"/>
              </a:rPr>
              <a:t> Clusters </a:t>
            </a:r>
          </a:p>
          <a:p>
            <a:pPr algn="ctr" defTabSz="914324">
              <a:spcAft>
                <a:spcPts val="50"/>
              </a:spcAft>
            </a:pPr>
            <a:r>
              <a:rPr lang="en-US" sz="1600" b="1" dirty="0">
                <a:solidFill>
                  <a:prstClr val="white"/>
                </a:solidFill>
                <a:latin typeface="Adobe Clean Light"/>
                <a:cs typeface="Adobe Clean Light"/>
              </a:rPr>
              <a:t>&amp; Networks</a:t>
            </a:r>
            <a:r>
              <a:rPr lang="en-US" sz="1600" b="1" dirty="0">
                <a:solidFill>
                  <a:prstClr val="black"/>
                </a:solidFill>
                <a:latin typeface="Adobe Clean Light"/>
                <a:cs typeface="Adobe Clean Light"/>
              </a:rPr>
              <a:t>  </a:t>
            </a:r>
            <a:endParaRPr lang="en-US" sz="1600" b="1" dirty="0">
              <a:solidFill>
                <a:prstClr val="black">
                  <a:lumMod val="50000"/>
                  <a:lumOff val="50000"/>
                </a:prstClr>
              </a:solidFill>
              <a:latin typeface="Adobe Clean Light"/>
              <a:cs typeface="Adobe Clean Light"/>
            </a:endParaRPr>
          </a:p>
        </p:txBody>
      </p:sp>
      <p:pic>
        <p:nvPicPr>
          <p:cNvPr id="4102" name="Picture 6" descr="https://www.seowebanalyst.com/img/analyze_icon1.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78993" y="2552694"/>
            <a:ext cx="442376" cy="44237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104" name="Picture 8" descr="http://blog.reskill.me/wp-content/uploads/2015/07/big-data-ico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499006" y="2554263"/>
            <a:ext cx="451187" cy="45118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26" name="Rectangle 125"/>
          <p:cNvSpPr/>
          <p:nvPr/>
        </p:nvSpPr>
        <p:spPr>
          <a:xfrm>
            <a:off x="1406742" y="3446192"/>
            <a:ext cx="1162376" cy="136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Big Data Capabilities </a:t>
            </a:r>
            <a:r>
              <a:rPr lang="en-IN" sz="1400" dirty="0">
                <a:solidFill>
                  <a:prstClr val="black"/>
                </a:solidFill>
              </a:rPr>
              <a:t>to handle large data volumes</a:t>
            </a:r>
          </a:p>
        </p:txBody>
      </p:sp>
      <p:pic>
        <p:nvPicPr>
          <p:cNvPr id="119" name="Picture 2" descr="http://ancientgreekparty.global2.vic.edu.au/files/2012/11/Doric-Column-10yjnto.jpg"/>
          <p:cNvPicPr>
            <a:picLocks noChangeAspect="1" noChangeArrowheads="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32692" r="30836"/>
          <a:stretch/>
        </p:blipFill>
        <p:spPr bwMode="auto">
          <a:xfrm>
            <a:off x="263293" y="3147990"/>
            <a:ext cx="1042332" cy="180601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66175" y="3446192"/>
            <a:ext cx="1091316" cy="1366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Permissible access </a:t>
            </a:r>
            <a:r>
              <a:rPr lang="en-IN" sz="1400" dirty="0">
                <a:solidFill>
                  <a:prstClr val="black"/>
                </a:solidFill>
              </a:rPr>
              <a:t>to leverage Group  Co. Data</a:t>
            </a:r>
          </a:p>
        </p:txBody>
      </p:sp>
      <p:sp>
        <p:nvSpPr>
          <p:cNvPr id="5" name="Rectangle 4"/>
          <p:cNvSpPr/>
          <p:nvPr/>
        </p:nvSpPr>
        <p:spPr>
          <a:xfrm>
            <a:off x="166175" y="2759109"/>
            <a:ext cx="2319030" cy="502285"/>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Public </a:t>
            </a:r>
            <a:r>
              <a:rPr lang="en-IN" sz="1400" dirty="0">
                <a:solidFill>
                  <a:prstClr val="black"/>
                </a:solidFill>
              </a:rPr>
              <a:t>Database</a:t>
            </a:r>
          </a:p>
        </p:txBody>
      </p:sp>
      <p:sp>
        <p:nvSpPr>
          <p:cNvPr id="124" name="Rectangle 123"/>
          <p:cNvSpPr/>
          <p:nvPr/>
        </p:nvSpPr>
        <p:spPr>
          <a:xfrm>
            <a:off x="163561" y="2179122"/>
            <a:ext cx="2319030" cy="487455"/>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black"/>
                </a:solidFill>
              </a:rPr>
              <a:t>Internal</a:t>
            </a:r>
            <a:r>
              <a:rPr lang="en-IN" sz="1400" dirty="0">
                <a:solidFill>
                  <a:prstClr val="black"/>
                </a:solidFill>
              </a:rPr>
              <a:t> Tata Co. Data</a:t>
            </a:r>
          </a:p>
        </p:txBody>
      </p:sp>
      <p:sp>
        <p:nvSpPr>
          <p:cNvPr id="13" name="TextBox 12"/>
          <p:cNvSpPr txBox="1"/>
          <p:nvPr/>
        </p:nvSpPr>
        <p:spPr>
          <a:xfrm>
            <a:off x="4069465" y="3038213"/>
            <a:ext cx="1323291" cy="646331"/>
          </a:xfrm>
          <a:prstGeom prst="rect">
            <a:avLst/>
          </a:prstGeom>
          <a:noFill/>
        </p:spPr>
        <p:txBody>
          <a:bodyPr wrap="square" rtlCol="0">
            <a:spAutoFit/>
          </a:bodyPr>
          <a:lstStyle/>
          <a:p>
            <a:pPr algn="ctr"/>
            <a:r>
              <a:rPr lang="en-IN" sz="1200" b="1" dirty="0">
                <a:solidFill>
                  <a:prstClr val="black"/>
                </a:solidFill>
              </a:rPr>
              <a:t>Big Data Management Expertise</a:t>
            </a:r>
          </a:p>
        </p:txBody>
      </p:sp>
      <p:sp>
        <p:nvSpPr>
          <p:cNvPr id="144" name="TextBox 143"/>
          <p:cNvSpPr txBox="1"/>
          <p:nvPr/>
        </p:nvSpPr>
        <p:spPr>
          <a:xfrm>
            <a:off x="6191829" y="3035772"/>
            <a:ext cx="1169745" cy="646331"/>
          </a:xfrm>
          <a:prstGeom prst="rect">
            <a:avLst/>
          </a:prstGeom>
          <a:noFill/>
        </p:spPr>
        <p:txBody>
          <a:bodyPr wrap="square" rtlCol="0">
            <a:spAutoFit/>
          </a:bodyPr>
          <a:lstStyle/>
          <a:p>
            <a:pPr algn="ctr"/>
            <a:r>
              <a:rPr lang="en-IN" sz="1200" b="1" dirty="0">
                <a:solidFill>
                  <a:prstClr val="black"/>
                </a:solidFill>
              </a:rPr>
              <a:t>Analytics to mine Customer Insights</a:t>
            </a:r>
          </a:p>
        </p:txBody>
      </p:sp>
      <p:sp>
        <p:nvSpPr>
          <p:cNvPr id="120" name="Slide Number Placeholder 3"/>
          <p:cNvSpPr>
            <a:spLocks noGrp="1"/>
          </p:cNvSpPr>
          <p:nvPr>
            <p:ph type="sldNum" sz="quarter" idx="12"/>
          </p:nvPr>
        </p:nvSpPr>
        <p:spPr>
          <a:xfrm>
            <a:off x="9448800" y="-37192"/>
            <a:ext cx="2743200" cy="365125"/>
          </a:xfrm>
        </p:spPr>
        <p:txBody>
          <a:bodyPr/>
          <a:lstStyle/>
          <a:p>
            <a:fld id="{BD492131-B48F-41F5-954C-AE8F4BAC3006}" type="slidenum">
              <a:rPr lang="en-IN" smtClean="0">
                <a:solidFill>
                  <a:prstClr val="black">
                    <a:tint val="75000"/>
                  </a:prstClr>
                </a:solidFill>
              </a:rPr>
              <a:pPr/>
              <a:t>29</a:t>
            </a:fld>
            <a:endParaRPr lang="en-IN" dirty="0">
              <a:solidFill>
                <a:prstClr val="black">
                  <a:tint val="75000"/>
                </a:prstClr>
              </a:solidFill>
            </a:endParaRPr>
          </a:p>
        </p:txBody>
      </p:sp>
    </p:spTree>
    <p:extLst>
      <p:ext uri="{BB962C8B-B14F-4D97-AF65-F5344CB8AC3E}">
        <p14:creationId xmlns:p14="http://schemas.microsoft.com/office/powerpoint/2010/main" val="29967955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89101" y="6633085"/>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grpSp>
        <p:nvGrpSpPr>
          <p:cNvPr id="7" name="Group 6"/>
          <p:cNvGrpSpPr/>
          <p:nvPr/>
        </p:nvGrpSpPr>
        <p:grpSpPr>
          <a:xfrm>
            <a:off x="1" y="-18427"/>
            <a:ext cx="12192000" cy="523220"/>
            <a:chOff x="1" y="291779"/>
            <a:chExt cx="12192000" cy="523220"/>
          </a:xfrm>
        </p:grpSpPr>
        <p:cxnSp>
          <p:nvCxnSpPr>
            <p:cNvPr id="8" name="Straight Connector 7"/>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quot;About Tata iQ&quot;"/>
            <p:cNvSpPr/>
            <p:nvPr/>
          </p:nvSpPr>
          <p:spPr>
            <a:xfrm>
              <a:off x="3355987" y="291779"/>
              <a:ext cx="5480091"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..To Respond to Business Needs</a:t>
              </a:r>
            </a:p>
          </p:txBody>
        </p:sp>
      </p:grpSp>
      <p:grpSp>
        <p:nvGrpSpPr>
          <p:cNvPr id="55" name="Group 54"/>
          <p:cNvGrpSpPr/>
          <p:nvPr/>
        </p:nvGrpSpPr>
        <p:grpSpPr>
          <a:xfrm>
            <a:off x="723788" y="1355259"/>
            <a:ext cx="1568450" cy="1877220"/>
            <a:chOff x="1433458" y="1083316"/>
            <a:chExt cx="1568450" cy="1877220"/>
          </a:xfrm>
        </p:grpSpPr>
        <p:pic>
          <p:nvPicPr>
            <p:cNvPr id="34" name="Picture 33"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90" t="67" r="75083" b="60158"/>
            <a:stretch>
              <a:fillRect/>
            </a:stretch>
          </p:blipFill>
          <p:spPr bwMode="auto">
            <a:xfrm>
              <a:off x="1433458" y="1083316"/>
              <a:ext cx="1568450" cy="1877220"/>
            </a:xfrm>
            <a:custGeom>
              <a:avLst/>
              <a:gdLst>
                <a:gd name="connsiteX0" fmla="*/ 0 w 1568450"/>
                <a:gd name="connsiteY0" fmla="*/ 0 h 1877220"/>
                <a:gd name="connsiteX1" fmla="*/ 1568450 w 1568450"/>
                <a:gd name="connsiteY1" fmla="*/ 0 h 1877220"/>
                <a:gd name="connsiteX2" fmla="*/ 1568450 w 1568450"/>
                <a:gd name="connsiteY2" fmla="*/ 678942 h 1877220"/>
                <a:gd name="connsiteX3" fmla="*/ 1568450 w 1568450"/>
                <a:gd name="connsiteY3" fmla="*/ 688471 h 1877220"/>
                <a:gd name="connsiteX4" fmla="*/ 1566069 w 1568450"/>
                <a:gd name="connsiteY4" fmla="*/ 696412 h 1877220"/>
                <a:gd name="connsiteX5" fmla="*/ 1565275 w 1568450"/>
                <a:gd name="connsiteY5" fmla="*/ 703559 h 1877220"/>
                <a:gd name="connsiteX6" fmla="*/ 1561306 w 1568450"/>
                <a:gd name="connsiteY6" fmla="*/ 708323 h 1877220"/>
                <a:gd name="connsiteX7" fmla="*/ 1558131 w 1568450"/>
                <a:gd name="connsiteY7" fmla="*/ 713088 h 1877220"/>
                <a:gd name="connsiteX8" fmla="*/ 1554163 w 1568450"/>
                <a:gd name="connsiteY8" fmla="*/ 717058 h 1877220"/>
                <a:gd name="connsiteX9" fmla="*/ 1549400 w 1568450"/>
                <a:gd name="connsiteY9" fmla="*/ 719440 h 1877220"/>
                <a:gd name="connsiteX10" fmla="*/ 1545911 w 1568450"/>
                <a:gd name="connsiteY10" fmla="*/ 720023 h 1877220"/>
                <a:gd name="connsiteX11" fmla="*/ 1540131 w 1568450"/>
                <a:gd name="connsiteY11" fmla="*/ 717854 h 1877220"/>
                <a:gd name="connsiteX12" fmla="*/ 1535371 w 1568450"/>
                <a:gd name="connsiteY12" fmla="*/ 714677 h 1877220"/>
                <a:gd name="connsiteX13" fmla="*/ 1529817 w 1568450"/>
                <a:gd name="connsiteY13" fmla="*/ 709913 h 1877220"/>
                <a:gd name="connsiteX14" fmla="*/ 1525056 w 1568450"/>
                <a:gd name="connsiteY14" fmla="*/ 703560 h 1877220"/>
                <a:gd name="connsiteX15" fmla="*/ 1520296 w 1568450"/>
                <a:gd name="connsiteY15" fmla="*/ 696414 h 1877220"/>
                <a:gd name="connsiteX16" fmla="*/ 1515535 w 1568450"/>
                <a:gd name="connsiteY16" fmla="*/ 688473 h 1877220"/>
                <a:gd name="connsiteX17" fmla="*/ 1509188 w 1568450"/>
                <a:gd name="connsiteY17" fmla="*/ 678944 h 1877220"/>
                <a:gd name="connsiteX18" fmla="*/ 1502047 w 1568450"/>
                <a:gd name="connsiteY18" fmla="*/ 668621 h 1877220"/>
                <a:gd name="connsiteX19" fmla="*/ 1491733 w 1568450"/>
                <a:gd name="connsiteY19" fmla="*/ 656709 h 1877220"/>
                <a:gd name="connsiteX20" fmla="*/ 1484592 w 1568450"/>
                <a:gd name="connsiteY20" fmla="*/ 650357 h 1877220"/>
                <a:gd name="connsiteX21" fmla="*/ 1477452 w 1568450"/>
                <a:gd name="connsiteY21" fmla="*/ 644798 h 1877220"/>
                <a:gd name="connsiteX22" fmla="*/ 1468724 w 1568450"/>
                <a:gd name="connsiteY22" fmla="*/ 640033 h 1877220"/>
                <a:gd name="connsiteX23" fmla="*/ 1459203 w 1568450"/>
                <a:gd name="connsiteY23" fmla="*/ 635269 h 1877220"/>
                <a:gd name="connsiteX24" fmla="*/ 1448889 w 1568450"/>
                <a:gd name="connsiteY24" fmla="*/ 630504 h 1877220"/>
                <a:gd name="connsiteX25" fmla="*/ 1438574 w 1568450"/>
                <a:gd name="connsiteY25" fmla="*/ 628122 h 1877220"/>
                <a:gd name="connsiteX26" fmla="*/ 1426673 w 1568450"/>
                <a:gd name="connsiteY26" fmla="*/ 625740 h 1877220"/>
                <a:gd name="connsiteX27" fmla="*/ 1413185 w 1568450"/>
                <a:gd name="connsiteY27" fmla="*/ 624152 h 1877220"/>
                <a:gd name="connsiteX28" fmla="*/ 1406746 w 1568450"/>
                <a:gd name="connsiteY28" fmla="*/ 624830 h 1877220"/>
                <a:gd name="connsiteX29" fmla="*/ 1400969 w 1568450"/>
                <a:gd name="connsiteY29" fmla="*/ 624150 h 1877220"/>
                <a:gd name="connsiteX30" fmla="*/ 1385888 w 1568450"/>
                <a:gd name="connsiteY30" fmla="*/ 625739 h 1877220"/>
                <a:gd name="connsiteX31" fmla="*/ 1371600 w 1568450"/>
                <a:gd name="connsiteY31" fmla="*/ 628121 h 1877220"/>
                <a:gd name="connsiteX32" fmla="*/ 1357313 w 1568450"/>
                <a:gd name="connsiteY32" fmla="*/ 632885 h 1877220"/>
                <a:gd name="connsiteX33" fmla="*/ 1343819 w 1568450"/>
                <a:gd name="connsiteY33" fmla="*/ 638444 h 1877220"/>
                <a:gd name="connsiteX34" fmla="*/ 1331119 w 1568450"/>
                <a:gd name="connsiteY34" fmla="*/ 647179 h 1877220"/>
                <a:gd name="connsiteX35" fmla="*/ 1319213 w 1568450"/>
                <a:gd name="connsiteY35" fmla="*/ 655120 h 1877220"/>
                <a:gd name="connsiteX36" fmla="*/ 1308894 w 1568450"/>
                <a:gd name="connsiteY36" fmla="*/ 666237 h 1877220"/>
                <a:gd name="connsiteX37" fmla="*/ 1297781 w 1568450"/>
                <a:gd name="connsiteY37" fmla="*/ 678148 h 1877220"/>
                <a:gd name="connsiteX38" fmla="*/ 1288256 w 1568450"/>
                <a:gd name="connsiteY38" fmla="*/ 690853 h 1877220"/>
                <a:gd name="connsiteX39" fmla="*/ 1280319 w 1568450"/>
                <a:gd name="connsiteY39" fmla="*/ 705147 h 1877220"/>
                <a:gd name="connsiteX40" fmla="*/ 1273175 w 1568450"/>
                <a:gd name="connsiteY40" fmla="*/ 720235 h 1877220"/>
                <a:gd name="connsiteX41" fmla="*/ 1266031 w 1568450"/>
                <a:gd name="connsiteY41" fmla="*/ 736116 h 1877220"/>
                <a:gd name="connsiteX42" fmla="*/ 1261269 w 1568450"/>
                <a:gd name="connsiteY42" fmla="*/ 752792 h 1877220"/>
                <a:gd name="connsiteX43" fmla="*/ 1257300 w 1568450"/>
                <a:gd name="connsiteY43" fmla="*/ 770262 h 1877220"/>
                <a:gd name="connsiteX44" fmla="*/ 1254919 w 1568450"/>
                <a:gd name="connsiteY44" fmla="*/ 788526 h 1877220"/>
                <a:gd name="connsiteX45" fmla="*/ 1254919 w 1568450"/>
                <a:gd name="connsiteY45" fmla="*/ 806790 h 1877220"/>
                <a:gd name="connsiteX46" fmla="*/ 1254919 w 1568450"/>
                <a:gd name="connsiteY46" fmla="*/ 825054 h 1877220"/>
                <a:gd name="connsiteX47" fmla="*/ 1257300 w 1568450"/>
                <a:gd name="connsiteY47" fmla="*/ 844112 h 1877220"/>
                <a:gd name="connsiteX48" fmla="*/ 1261269 w 1568450"/>
                <a:gd name="connsiteY48" fmla="*/ 860787 h 1877220"/>
                <a:gd name="connsiteX49" fmla="*/ 1266031 w 1568450"/>
                <a:gd name="connsiteY49" fmla="*/ 877463 h 1877220"/>
                <a:gd name="connsiteX50" fmla="*/ 1273175 w 1568450"/>
                <a:gd name="connsiteY50" fmla="*/ 894139 h 1877220"/>
                <a:gd name="connsiteX51" fmla="*/ 1280319 w 1568450"/>
                <a:gd name="connsiteY51" fmla="*/ 909227 h 1877220"/>
                <a:gd name="connsiteX52" fmla="*/ 1288256 w 1568450"/>
                <a:gd name="connsiteY52" fmla="*/ 921932 h 1877220"/>
                <a:gd name="connsiteX53" fmla="*/ 1297781 w 1568450"/>
                <a:gd name="connsiteY53" fmla="*/ 935431 h 1877220"/>
                <a:gd name="connsiteX54" fmla="*/ 1308894 w 1568450"/>
                <a:gd name="connsiteY54" fmla="*/ 947343 h 1877220"/>
                <a:gd name="connsiteX55" fmla="*/ 1319213 w 1568450"/>
                <a:gd name="connsiteY55" fmla="*/ 957666 h 1877220"/>
                <a:gd name="connsiteX56" fmla="*/ 1331119 w 1568450"/>
                <a:gd name="connsiteY56" fmla="*/ 967195 h 1877220"/>
                <a:gd name="connsiteX57" fmla="*/ 1343819 w 1568450"/>
                <a:gd name="connsiteY57" fmla="*/ 974341 h 1877220"/>
                <a:gd name="connsiteX58" fmla="*/ 1357313 w 1568450"/>
                <a:gd name="connsiteY58" fmla="*/ 980694 h 1877220"/>
                <a:gd name="connsiteX59" fmla="*/ 1371600 w 1568450"/>
                <a:gd name="connsiteY59" fmla="*/ 985459 h 1877220"/>
                <a:gd name="connsiteX60" fmla="*/ 1385888 w 1568450"/>
                <a:gd name="connsiteY60" fmla="*/ 987841 h 1877220"/>
                <a:gd name="connsiteX61" fmla="*/ 1400969 w 1568450"/>
                <a:gd name="connsiteY61" fmla="*/ 988635 h 1877220"/>
                <a:gd name="connsiteX62" fmla="*/ 1413147 w 1568450"/>
                <a:gd name="connsiteY62" fmla="*/ 988635 h 1877220"/>
                <a:gd name="connsiteX63" fmla="*/ 1413185 w 1568450"/>
                <a:gd name="connsiteY63" fmla="*/ 988637 h 1877220"/>
                <a:gd name="connsiteX64" fmla="*/ 1426673 w 1568450"/>
                <a:gd name="connsiteY64" fmla="*/ 988637 h 1877220"/>
                <a:gd name="connsiteX65" fmla="*/ 1438574 w 1568450"/>
                <a:gd name="connsiteY65" fmla="*/ 986254 h 1877220"/>
                <a:gd name="connsiteX66" fmla="*/ 1448889 w 1568450"/>
                <a:gd name="connsiteY66" fmla="*/ 983078 h 1877220"/>
                <a:gd name="connsiteX67" fmla="*/ 1459203 w 1568450"/>
                <a:gd name="connsiteY67" fmla="*/ 979108 h 1877220"/>
                <a:gd name="connsiteX68" fmla="*/ 1468724 w 1568450"/>
                <a:gd name="connsiteY68" fmla="*/ 974343 h 1877220"/>
                <a:gd name="connsiteX69" fmla="*/ 1477452 w 1568450"/>
                <a:gd name="connsiteY69" fmla="*/ 968785 h 1877220"/>
                <a:gd name="connsiteX70" fmla="*/ 1484592 w 1568450"/>
                <a:gd name="connsiteY70" fmla="*/ 962432 h 1877220"/>
                <a:gd name="connsiteX71" fmla="*/ 1491733 w 1568450"/>
                <a:gd name="connsiteY71" fmla="*/ 956873 h 1877220"/>
                <a:gd name="connsiteX72" fmla="*/ 1502047 w 1568450"/>
                <a:gd name="connsiteY72" fmla="*/ 944962 h 1877220"/>
                <a:gd name="connsiteX73" fmla="*/ 1509188 w 1568450"/>
                <a:gd name="connsiteY73" fmla="*/ 935433 h 1877220"/>
                <a:gd name="connsiteX74" fmla="*/ 1515535 w 1568450"/>
                <a:gd name="connsiteY74" fmla="*/ 924316 h 1877220"/>
                <a:gd name="connsiteX75" fmla="*/ 1520296 w 1568450"/>
                <a:gd name="connsiteY75" fmla="*/ 917169 h 1877220"/>
                <a:gd name="connsiteX76" fmla="*/ 1525056 w 1568450"/>
                <a:gd name="connsiteY76" fmla="*/ 910816 h 1877220"/>
                <a:gd name="connsiteX77" fmla="*/ 1529817 w 1568450"/>
                <a:gd name="connsiteY77" fmla="*/ 904464 h 1877220"/>
                <a:gd name="connsiteX78" fmla="*/ 1535371 w 1568450"/>
                <a:gd name="connsiteY78" fmla="*/ 899699 h 1877220"/>
                <a:gd name="connsiteX79" fmla="*/ 1540131 w 1568450"/>
                <a:gd name="connsiteY79" fmla="*/ 896523 h 1877220"/>
                <a:gd name="connsiteX80" fmla="*/ 1546479 w 1568450"/>
                <a:gd name="connsiteY80" fmla="*/ 894141 h 1877220"/>
                <a:gd name="connsiteX81" fmla="*/ 1547942 w 1568450"/>
                <a:gd name="connsiteY81" fmla="*/ 893653 h 1877220"/>
                <a:gd name="connsiteX82" fmla="*/ 1549400 w 1568450"/>
                <a:gd name="connsiteY82" fmla="*/ 894139 h 1877220"/>
                <a:gd name="connsiteX83" fmla="*/ 1554163 w 1568450"/>
                <a:gd name="connsiteY83" fmla="*/ 896521 h 1877220"/>
                <a:gd name="connsiteX84" fmla="*/ 1558131 w 1568450"/>
                <a:gd name="connsiteY84" fmla="*/ 899698 h 1877220"/>
                <a:gd name="connsiteX85" fmla="*/ 1561306 w 1568450"/>
                <a:gd name="connsiteY85" fmla="*/ 904462 h 1877220"/>
                <a:gd name="connsiteX86" fmla="*/ 1565275 w 1568450"/>
                <a:gd name="connsiteY86" fmla="*/ 910815 h 1877220"/>
                <a:gd name="connsiteX87" fmla="*/ 1566069 w 1568450"/>
                <a:gd name="connsiteY87" fmla="*/ 917167 h 1877220"/>
                <a:gd name="connsiteX88" fmla="*/ 1568450 w 1568450"/>
                <a:gd name="connsiteY88" fmla="*/ 925902 h 1877220"/>
                <a:gd name="connsiteX89" fmla="*/ 1568450 w 1568450"/>
                <a:gd name="connsiteY89" fmla="*/ 933843 h 1877220"/>
                <a:gd name="connsiteX90" fmla="*/ 1568450 w 1568450"/>
                <a:gd name="connsiteY90" fmla="*/ 1571493 h 1877220"/>
                <a:gd name="connsiteX91" fmla="*/ 1134269 w 1568450"/>
                <a:gd name="connsiteY91" fmla="*/ 1571493 h 1877220"/>
                <a:gd name="connsiteX92" fmla="*/ 1134269 w 1568450"/>
                <a:gd name="connsiteY92" fmla="*/ 1573081 h 1877220"/>
                <a:gd name="connsiteX93" fmla="*/ 935038 w 1568450"/>
                <a:gd name="connsiteY93" fmla="*/ 1573081 h 1877220"/>
                <a:gd name="connsiteX94" fmla="*/ 925513 w 1568450"/>
                <a:gd name="connsiteY94" fmla="*/ 1573081 h 1877220"/>
                <a:gd name="connsiteX95" fmla="*/ 918369 w 1568450"/>
                <a:gd name="connsiteY95" fmla="*/ 1573875 h 1877220"/>
                <a:gd name="connsiteX96" fmla="*/ 911225 w 1568450"/>
                <a:gd name="connsiteY96" fmla="*/ 1576257 h 1877220"/>
                <a:gd name="connsiteX97" fmla="*/ 911014 w 1568450"/>
                <a:gd name="connsiteY97" fmla="*/ 1576389 h 1877220"/>
                <a:gd name="connsiteX98" fmla="*/ 898186 w 1568450"/>
                <a:gd name="connsiteY98" fmla="*/ 1576389 h 1877220"/>
                <a:gd name="connsiteX99" fmla="*/ 895009 w 1568450"/>
                <a:gd name="connsiteY99" fmla="*/ 1581945 h 1877220"/>
                <a:gd name="connsiteX100" fmla="*/ 893421 w 1568450"/>
                <a:gd name="connsiteY100" fmla="*/ 1588295 h 1877220"/>
                <a:gd name="connsiteX101" fmla="*/ 893421 w 1568450"/>
                <a:gd name="connsiteY101" fmla="*/ 1595439 h 1877220"/>
                <a:gd name="connsiteX102" fmla="*/ 893439 w 1568450"/>
                <a:gd name="connsiteY102" fmla="*/ 1595493 h 1877220"/>
                <a:gd name="connsiteX103" fmla="*/ 892969 w 1568450"/>
                <a:gd name="connsiteY103" fmla="*/ 1596904 h 1877220"/>
                <a:gd name="connsiteX104" fmla="*/ 892969 w 1568450"/>
                <a:gd name="connsiteY104" fmla="*/ 1601668 h 1877220"/>
                <a:gd name="connsiteX105" fmla="*/ 894556 w 1568450"/>
                <a:gd name="connsiteY105" fmla="*/ 1607227 h 1877220"/>
                <a:gd name="connsiteX106" fmla="*/ 896938 w 1568450"/>
                <a:gd name="connsiteY106" fmla="*/ 1611991 h 1877220"/>
                <a:gd name="connsiteX107" fmla="*/ 900113 w 1568450"/>
                <a:gd name="connsiteY107" fmla="*/ 1617550 h 1877220"/>
                <a:gd name="connsiteX108" fmla="*/ 904081 w 1568450"/>
                <a:gd name="connsiteY108" fmla="*/ 1622314 h 1877220"/>
                <a:gd name="connsiteX109" fmla="*/ 909638 w 1568450"/>
                <a:gd name="connsiteY109" fmla="*/ 1628667 h 1877220"/>
                <a:gd name="connsiteX110" fmla="*/ 916781 w 1568450"/>
                <a:gd name="connsiteY110" fmla="*/ 1633431 h 1877220"/>
                <a:gd name="connsiteX111" fmla="*/ 925513 w 1568450"/>
                <a:gd name="connsiteY111" fmla="*/ 1636608 h 1877220"/>
                <a:gd name="connsiteX112" fmla="*/ 935831 w 1568450"/>
                <a:gd name="connsiteY112" fmla="*/ 1642960 h 1877220"/>
                <a:gd name="connsiteX113" fmla="*/ 945356 w 1568450"/>
                <a:gd name="connsiteY113" fmla="*/ 1650901 h 1877220"/>
                <a:gd name="connsiteX114" fmla="*/ 957263 w 1568450"/>
                <a:gd name="connsiteY114" fmla="*/ 1662018 h 1877220"/>
                <a:gd name="connsiteX115" fmla="*/ 963613 w 1568450"/>
                <a:gd name="connsiteY115" fmla="*/ 1669165 h 1877220"/>
                <a:gd name="connsiteX116" fmla="*/ 969169 w 1568450"/>
                <a:gd name="connsiteY116" fmla="*/ 1676312 h 1877220"/>
                <a:gd name="connsiteX117" fmla="*/ 975519 w 1568450"/>
                <a:gd name="connsiteY117" fmla="*/ 1684253 h 1877220"/>
                <a:gd name="connsiteX118" fmla="*/ 980281 w 1568450"/>
                <a:gd name="connsiteY118" fmla="*/ 1693782 h 1877220"/>
                <a:gd name="connsiteX119" fmla="*/ 983456 w 1568450"/>
                <a:gd name="connsiteY119" fmla="*/ 1703311 h 1877220"/>
                <a:gd name="connsiteX120" fmla="*/ 987425 w 1568450"/>
                <a:gd name="connsiteY120" fmla="*/ 1715222 h 1877220"/>
                <a:gd name="connsiteX121" fmla="*/ 988219 w 1568450"/>
                <a:gd name="connsiteY121" fmla="*/ 1727133 h 1877220"/>
                <a:gd name="connsiteX122" fmla="*/ 989538 w 1568450"/>
                <a:gd name="connsiteY122" fmla="*/ 1737690 h 1877220"/>
                <a:gd name="connsiteX123" fmla="*/ 988719 w 1568450"/>
                <a:gd name="connsiteY123" fmla="*/ 1745458 h 1877220"/>
                <a:gd name="connsiteX124" fmla="*/ 986337 w 1568450"/>
                <a:gd name="connsiteY124" fmla="*/ 1759745 h 1877220"/>
                <a:gd name="connsiteX125" fmla="*/ 981572 w 1568450"/>
                <a:gd name="connsiteY125" fmla="*/ 1774033 h 1877220"/>
                <a:gd name="connsiteX126" fmla="*/ 976013 w 1568450"/>
                <a:gd name="connsiteY126" fmla="*/ 1787527 h 1877220"/>
                <a:gd name="connsiteX127" fmla="*/ 967277 w 1568450"/>
                <a:gd name="connsiteY127" fmla="*/ 1800227 h 1877220"/>
                <a:gd name="connsiteX128" fmla="*/ 959336 w 1568450"/>
                <a:gd name="connsiteY128" fmla="*/ 1812133 h 1877220"/>
                <a:gd name="connsiteX129" fmla="*/ 948218 w 1568450"/>
                <a:gd name="connsiteY129" fmla="*/ 1824039 h 1877220"/>
                <a:gd name="connsiteX130" fmla="*/ 936305 w 1568450"/>
                <a:gd name="connsiteY130" fmla="*/ 1835152 h 1877220"/>
                <a:gd name="connsiteX131" fmla="*/ 923599 w 1568450"/>
                <a:gd name="connsiteY131" fmla="*/ 1843089 h 1877220"/>
                <a:gd name="connsiteX132" fmla="*/ 909304 w 1568450"/>
                <a:gd name="connsiteY132" fmla="*/ 1852614 h 1877220"/>
                <a:gd name="connsiteX133" fmla="*/ 895009 w 1568450"/>
                <a:gd name="connsiteY133" fmla="*/ 1859758 h 1877220"/>
                <a:gd name="connsiteX134" fmla="*/ 878332 w 1568450"/>
                <a:gd name="connsiteY134" fmla="*/ 1865314 h 1877220"/>
                <a:gd name="connsiteX135" fmla="*/ 861655 w 1568450"/>
                <a:gd name="connsiteY135" fmla="*/ 1870077 h 1877220"/>
                <a:gd name="connsiteX136" fmla="*/ 844184 w 1568450"/>
                <a:gd name="connsiteY136" fmla="*/ 1874045 h 1877220"/>
                <a:gd name="connsiteX137" fmla="*/ 825918 w 1568450"/>
                <a:gd name="connsiteY137" fmla="*/ 1876427 h 1877220"/>
                <a:gd name="connsiteX138" fmla="*/ 808447 w 1568450"/>
                <a:gd name="connsiteY138" fmla="*/ 1877220 h 1877220"/>
                <a:gd name="connsiteX139" fmla="*/ 789387 w 1568450"/>
                <a:gd name="connsiteY139" fmla="*/ 1876427 h 1877220"/>
                <a:gd name="connsiteX140" fmla="*/ 771916 w 1568450"/>
                <a:gd name="connsiteY140" fmla="*/ 1874045 h 1877220"/>
                <a:gd name="connsiteX141" fmla="*/ 753651 w 1568450"/>
                <a:gd name="connsiteY141" fmla="*/ 1870077 h 1877220"/>
                <a:gd name="connsiteX142" fmla="*/ 736973 w 1568450"/>
                <a:gd name="connsiteY142" fmla="*/ 1865314 h 1877220"/>
                <a:gd name="connsiteX143" fmla="*/ 720296 w 1568450"/>
                <a:gd name="connsiteY143" fmla="*/ 1859758 h 1877220"/>
                <a:gd name="connsiteX144" fmla="*/ 706001 w 1568450"/>
                <a:gd name="connsiteY144" fmla="*/ 1852614 h 1877220"/>
                <a:gd name="connsiteX145" fmla="*/ 691707 w 1568450"/>
                <a:gd name="connsiteY145" fmla="*/ 1843089 h 1877220"/>
                <a:gd name="connsiteX146" fmla="*/ 679000 w 1568450"/>
                <a:gd name="connsiteY146" fmla="*/ 1835152 h 1877220"/>
                <a:gd name="connsiteX147" fmla="*/ 667088 w 1568450"/>
                <a:gd name="connsiteY147" fmla="*/ 1824039 h 1877220"/>
                <a:gd name="connsiteX148" fmla="*/ 656764 w 1568450"/>
                <a:gd name="connsiteY148" fmla="*/ 1812133 h 1877220"/>
                <a:gd name="connsiteX149" fmla="*/ 648028 w 1568450"/>
                <a:gd name="connsiteY149" fmla="*/ 1800227 h 1877220"/>
                <a:gd name="connsiteX150" fmla="*/ 640087 w 1568450"/>
                <a:gd name="connsiteY150" fmla="*/ 1787527 h 1877220"/>
                <a:gd name="connsiteX151" fmla="*/ 633734 w 1568450"/>
                <a:gd name="connsiteY151" fmla="*/ 1774033 h 1877220"/>
                <a:gd name="connsiteX152" fmla="*/ 628969 w 1568450"/>
                <a:gd name="connsiteY152" fmla="*/ 1759745 h 1877220"/>
                <a:gd name="connsiteX153" fmla="*/ 626586 w 1568450"/>
                <a:gd name="connsiteY153" fmla="*/ 1745458 h 1877220"/>
                <a:gd name="connsiteX154" fmla="*/ 625918 w 1568450"/>
                <a:gd name="connsiteY154" fmla="*/ 1732759 h 1877220"/>
                <a:gd name="connsiteX155" fmla="*/ 626269 w 1568450"/>
                <a:gd name="connsiteY155" fmla="*/ 1727133 h 1877220"/>
                <a:gd name="connsiteX156" fmla="*/ 627856 w 1568450"/>
                <a:gd name="connsiteY156" fmla="*/ 1715222 h 1877220"/>
                <a:gd name="connsiteX157" fmla="*/ 631031 w 1568450"/>
                <a:gd name="connsiteY157" fmla="*/ 1703311 h 1877220"/>
                <a:gd name="connsiteX158" fmla="*/ 635000 w 1568450"/>
                <a:gd name="connsiteY158" fmla="*/ 1693782 h 1877220"/>
                <a:gd name="connsiteX159" fmla="*/ 640556 w 1568450"/>
                <a:gd name="connsiteY159" fmla="*/ 1684253 h 1877220"/>
                <a:gd name="connsiteX160" fmla="*/ 645319 w 1568450"/>
                <a:gd name="connsiteY160" fmla="*/ 1676312 h 1877220"/>
                <a:gd name="connsiteX161" fmla="*/ 651669 w 1568450"/>
                <a:gd name="connsiteY161" fmla="*/ 1669165 h 1877220"/>
                <a:gd name="connsiteX162" fmla="*/ 657225 w 1568450"/>
                <a:gd name="connsiteY162" fmla="*/ 1662018 h 1877220"/>
                <a:gd name="connsiteX163" fmla="*/ 669131 w 1568450"/>
                <a:gd name="connsiteY163" fmla="*/ 1650901 h 1877220"/>
                <a:gd name="connsiteX164" fmla="*/ 678656 w 1568450"/>
                <a:gd name="connsiteY164" fmla="*/ 1642960 h 1877220"/>
                <a:gd name="connsiteX165" fmla="*/ 688975 w 1568450"/>
                <a:gd name="connsiteY165" fmla="*/ 1636608 h 1877220"/>
                <a:gd name="connsiteX166" fmla="*/ 697706 w 1568450"/>
                <a:gd name="connsiteY166" fmla="*/ 1633431 h 1877220"/>
                <a:gd name="connsiteX167" fmla="*/ 704850 w 1568450"/>
                <a:gd name="connsiteY167" fmla="*/ 1628667 h 1877220"/>
                <a:gd name="connsiteX168" fmla="*/ 710406 w 1568450"/>
                <a:gd name="connsiteY168" fmla="*/ 1622314 h 1877220"/>
                <a:gd name="connsiteX169" fmla="*/ 714375 w 1568450"/>
                <a:gd name="connsiteY169" fmla="*/ 1617550 h 1877220"/>
                <a:gd name="connsiteX170" fmla="*/ 717550 w 1568450"/>
                <a:gd name="connsiteY170" fmla="*/ 1611991 h 1877220"/>
                <a:gd name="connsiteX171" fmla="*/ 719931 w 1568450"/>
                <a:gd name="connsiteY171" fmla="*/ 1607227 h 1877220"/>
                <a:gd name="connsiteX172" fmla="*/ 721519 w 1568450"/>
                <a:gd name="connsiteY172" fmla="*/ 1601668 h 1877220"/>
                <a:gd name="connsiteX173" fmla="*/ 721519 w 1568450"/>
                <a:gd name="connsiteY173" fmla="*/ 1596904 h 1877220"/>
                <a:gd name="connsiteX174" fmla="*/ 721457 w 1568450"/>
                <a:gd name="connsiteY174" fmla="*/ 1596719 h 1877220"/>
                <a:gd name="connsiteX175" fmla="*/ 721884 w 1568450"/>
                <a:gd name="connsiteY175" fmla="*/ 1595439 h 1877220"/>
                <a:gd name="connsiteX176" fmla="*/ 721884 w 1568450"/>
                <a:gd name="connsiteY176" fmla="*/ 1588295 h 1877220"/>
                <a:gd name="connsiteX177" fmla="*/ 720296 w 1568450"/>
                <a:gd name="connsiteY177" fmla="*/ 1581945 h 1877220"/>
                <a:gd name="connsiteX178" fmla="*/ 717120 w 1568450"/>
                <a:gd name="connsiteY178" fmla="*/ 1576389 h 1877220"/>
                <a:gd name="connsiteX179" fmla="*/ 703474 w 1568450"/>
                <a:gd name="connsiteY179" fmla="*/ 1576389 h 1877220"/>
                <a:gd name="connsiteX180" fmla="*/ 703263 w 1568450"/>
                <a:gd name="connsiteY180" fmla="*/ 1576257 h 1877220"/>
                <a:gd name="connsiteX181" fmla="*/ 696119 w 1568450"/>
                <a:gd name="connsiteY181" fmla="*/ 1573875 h 1877220"/>
                <a:gd name="connsiteX182" fmla="*/ 688975 w 1568450"/>
                <a:gd name="connsiteY182" fmla="*/ 1573081 h 1877220"/>
                <a:gd name="connsiteX183" fmla="*/ 679450 w 1568450"/>
                <a:gd name="connsiteY183" fmla="*/ 1573081 h 1877220"/>
                <a:gd name="connsiteX184" fmla="*/ 360363 w 1568450"/>
                <a:gd name="connsiteY184" fmla="*/ 1573081 h 1877220"/>
                <a:gd name="connsiteX185" fmla="*/ 360363 w 1568450"/>
                <a:gd name="connsiteY185" fmla="*/ 1571493 h 1877220"/>
                <a:gd name="connsiteX186" fmla="*/ 0 w 1568450"/>
                <a:gd name="connsiteY186" fmla="*/ 1571493 h 1877220"/>
                <a:gd name="connsiteX187" fmla="*/ 0 w 1568450"/>
                <a:gd name="connsiteY187" fmla="*/ 0 h 187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568450" h="1877220">
                  <a:moveTo>
                    <a:pt x="0" y="0"/>
                  </a:moveTo>
                  <a:lnTo>
                    <a:pt x="1568450" y="0"/>
                  </a:lnTo>
                  <a:lnTo>
                    <a:pt x="1568450" y="678942"/>
                  </a:lnTo>
                  <a:lnTo>
                    <a:pt x="1568450" y="688471"/>
                  </a:lnTo>
                  <a:lnTo>
                    <a:pt x="1566069" y="696412"/>
                  </a:lnTo>
                  <a:lnTo>
                    <a:pt x="1565275" y="703559"/>
                  </a:lnTo>
                  <a:lnTo>
                    <a:pt x="1561306" y="708323"/>
                  </a:lnTo>
                  <a:lnTo>
                    <a:pt x="1558131" y="713088"/>
                  </a:lnTo>
                  <a:lnTo>
                    <a:pt x="1554163" y="717058"/>
                  </a:lnTo>
                  <a:lnTo>
                    <a:pt x="1549400" y="719440"/>
                  </a:lnTo>
                  <a:lnTo>
                    <a:pt x="1545911" y="720023"/>
                  </a:lnTo>
                  <a:lnTo>
                    <a:pt x="1540131" y="717854"/>
                  </a:lnTo>
                  <a:lnTo>
                    <a:pt x="1535371" y="714677"/>
                  </a:lnTo>
                  <a:lnTo>
                    <a:pt x="1529817" y="709913"/>
                  </a:lnTo>
                  <a:lnTo>
                    <a:pt x="1525056" y="703560"/>
                  </a:lnTo>
                  <a:lnTo>
                    <a:pt x="1520296" y="696414"/>
                  </a:lnTo>
                  <a:lnTo>
                    <a:pt x="1515535" y="688473"/>
                  </a:lnTo>
                  <a:lnTo>
                    <a:pt x="1509188" y="678944"/>
                  </a:lnTo>
                  <a:lnTo>
                    <a:pt x="1502047" y="668621"/>
                  </a:lnTo>
                  <a:lnTo>
                    <a:pt x="1491733" y="656709"/>
                  </a:lnTo>
                  <a:lnTo>
                    <a:pt x="1484592" y="650357"/>
                  </a:lnTo>
                  <a:lnTo>
                    <a:pt x="1477452" y="644798"/>
                  </a:lnTo>
                  <a:lnTo>
                    <a:pt x="1468724" y="640033"/>
                  </a:lnTo>
                  <a:lnTo>
                    <a:pt x="1459203" y="635269"/>
                  </a:lnTo>
                  <a:lnTo>
                    <a:pt x="1448889" y="630504"/>
                  </a:lnTo>
                  <a:lnTo>
                    <a:pt x="1438574" y="628122"/>
                  </a:lnTo>
                  <a:lnTo>
                    <a:pt x="1426673" y="625740"/>
                  </a:lnTo>
                  <a:lnTo>
                    <a:pt x="1413185" y="624152"/>
                  </a:lnTo>
                  <a:lnTo>
                    <a:pt x="1406746" y="624830"/>
                  </a:lnTo>
                  <a:lnTo>
                    <a:pt x="1400969" y="624150"/>
                  </a:lnTo>
                  <a:lnTo>
                    <a:pt x="1385888" y="625739"/>
                  </a:lnTo>
                  <a:lnTo>
                    <a:pt x="1371600" y="628121"/>
                  </a:lnTo>
                  <a:lnTo>
                    <a:pt x="1357313" y="632885"/>
                  </a:lnTo>
                  <a:lnTo>
                    <a:pt x="1343819" y="638444"/>
                  </a:lnTo>
                  <a:lnTo>
                    <a:pt x="1331119" y="647179"/>
                  </a:lnTo>
                  <a:lnTo>
                    <a:pt x="1319213" y="655120"/>
                  </a:lnTo>
                  <a:lnTo>
                    <a:pt x="1308894" y="666237"/>
                  </a:lnTo>
                  <a:lnTo>
                    <a:pt x="1297781" y="678148"/>
                  </a:lnTo>
                  <a:lnTo>
                    <a:pt x="1288256" y="690853"/>
                  </a:lnTo>
                  <a:lnTo>
                    <a:pt x="1280319" y="705147"/>
                  </a:lnTo>
                  <a:lnTo>
                    <a:pt x="1273175" y="720235"/>
                  </a:lnTo>
                  <a:lnTo>
                    <a:pt x="1266031" y="736116"/>
                  </a:lnTo>
                  <a:lnTo>
                    <a:pt x="1261269" y="752792"/>
                  </a:lnTo>
                  <a:lnTo>
                    <a:pt x="1257300" y="770262"/>
                  </a:lnTo>
                  <a:lnTo>
                    <a:pt x="1254919" y="788526"/>
                  </a:lnTo>
                  <a:lnTo>
                    <a:pt x="1254919" y="806790"/>
                  </a:lnTo>
                  <a:lnTo>
                    <a:pt x="1254919" y="825054"/>
                  </a:lnTo>
                  <a:lnTo>
                    <a:pt x="1257300" y="844112"/>
                  </a:lnTo>
                  <a:lnTo>
                    <a:pt x="1261269" y="860787"/>
                  </a:lnTo>
                  <a:lnTo>
                    <a:pt x="1266031" y="877463"/>
                  </a:lnTo>
                  <a:lnTo>
                    <a:pt x="1273175" y="894139"/>
                  </a:lnTo>
                  <a:lnTo>
                    <a:pt x="1280319" y="909227"/>
                  </a:lnTo>
                  <a:lnTo>
                    <a:pt x="1288256" y="921932"/>
                  </a:lnTo>
                  <a:lnTo>
                    <a:pt x="1297781" y="935431"/>
                  </a:lnTo>
                  <a:lnTo>
                    <a:pt x="1308894" y="947343"/>
                  </a:lnTo>
                  <a:lnTo>
                    <a:pt x="1319213" y="957666"/>
                  </a:lnTo>
                  <a:lnTo>
                    <a:pt x="1331119" y="967195"/>
                  </a:lnTo>
                  <a:lnTo>
                    <a:pt x="1343819" y="974341"/>
                  </a:lnTo>
                  <a:lnTo>
                    <a:pt x="1357313" y="980694"/>
                  </a:lnTo>
                  <a:lnTo>
                    <a:pt x="1371600" y="985459"/>
                  </a:lnTo>
                  <a:lnTo>
                    <a:pt x="1385888" y="987841"/>
                  </a:lnTo>
                  <a:lnTo>
                    <a:pt x="1400969" y="988635"/>
                  </a:lnTo>
                  <a:lnTo>
                    <a:pt x="1413147" y="988635"/>
                  </a:lnTo>
                  <a:lnTo>
                    <a:pt x="1413185" y="988637"/>
                  </a:lnTo>
                  <a:lnTo>
                    <a:pt x="1426673" y="988637"/>
                  </a:lnTo>
                  <a:lnTo>
                    <a:pt x="1438574" y="986254"/>
                  </a:lnTo>
                  <a:lnTo>
                    <a:pt x="1448889" y="983078"/>
                  </a:lnTo>
                  <a:lnTo>
                    <a:pt x="1459203" y="979108"/>
                  </a:lnTo>
                  <a:lnTo>
                    <a:pt x="1468724" y="974343"/>
                  </a:lnTo>
                  <a:lnTo>
                    <a:pt x="1477452" y="968785"/>
                  </a:lnTo>
                  <a:lnTo>
                    <a:pt x="1484592" y="962432"/>
                  </a:lnTo>
                  <a:lnTo>
                    <a:pt x="1491733" y="956873"/>
                  </a:lnTo>
                  <a:lnTo>
                    <a:pt x="1502047" y="944962"/>
                  </a:lnTo>
                  <a:lnTo>
                    <a:pt x="1509188" y="935433"/>
                  </a:lnTo>
                  <a:lnTo>
                    <a:pt x="1515535" y="924316"/>
                  </a:lnTo>
                  <a:lnTo>
                    <a:pt x="1520296" y="917169"/>
                  </a:lnTo>
                  <a:lnTo>
                    <a:pt x="1525056" y="910816"/>
                  </a:lnTo>
                  <a:lnTo>
                    <a:pt x="1529817" y="904464"/>
                  </a:lnTo>
                  <a:lnTo>
                    <a:pt x="1535371" y="899699"/>
                  </a:lnTo>
                  <a:lnTo>
                    <a:pt x="1540131" y="896523"/>
                  </a:lnTo>
                  <a:lnTo>
                    <a:pt x="1546479" y="894141"/>
                  </a:lnTo>
                  <a:lnTo>
                    <a:pt x="1547942" y="893653"/>
                  </a:lnTo>
                  <a:lnTo>
                    <a:pt x="1549400" y="894139"/>
                  </a:lnTo>
                  <a:lnTo>
                    <a:pt x="1554163" y="896521"/>
                  </a:lnTo>
                  <a:lnTo>
                    <a:pt x="1558131" y="899698"/>
                  </a:lnTo>
                  <a:lnTo>
                    <a:pt x="1561306" y="904462"/>
                  </a:lnTo>
                  <a:lnTo>
                    <a:pt x="1565275" y="910815"/>
                  </a:lnTo>
                  <a:lnTo>
                    <a:pt x="1566069" y="917167"/>
                  </a:lnTo>
                  <a:lnTo>
                    <a:pt x="1568450" y="925902"/>
                  </a:lnTo>
                  <a:lnTo>
                    <a:pt x="1568450" y="933843"/>
                  </a:lnTo>
                  <a:lnTo>
                    <a:pt x="1568450" y="1571493"/>
                  </a:lnTo>
                  <a:lnTo>
                    <a:pt x="1134269" y="1571493"/>
                  </a:lnTo>
                  <a:lnTo>
                    <a:pt x="1134269" y="1573081"/>
                  </a:lnTo>
                  <a:lnTo>
                    <a:pt x="935038" y="1573081"/>
                  </a:lnTo>
                  <a:lnTo>
                    <a:pt x="925513" y="1573081"/>
                  </a:lnTo>
                  <a:lnTo>
                    <a:pt x="918369" y="1573875"/>
                  </a:lnTo>
                  <a:lnTo>
                    <a:pt x="911225" y="1576257"/>
                  </a:lnTo>
                  <a:lnTo>
                    <a:pt x="911014" y="1576389"/>
                  </a:lnTo>
                  <a:lnTo>
                    <a:pt x="898186" y="1576389"/>
                  </a:lnTo>
                  <a:lnTo>
                    <a:pt x="895009" y="1581945"/>
                  </a:lnTo>
                  <a:lnTo>
                    <a:pt x="893421" y="1588295"/>
                  </a:lnTo>
                  <a:lnTo>
                    <a:pt x="893421" y="1595439"/>
                  </a:lnTo>
                  <a:lnTo>
                    <a:pt x="893439" y="1595493"/>
                  </a:lnTo>
                  <a:lnTo>
                    <a:pt x="892969" y="1596904"/>
                  </a:lnTo>
                  <a:lnTo>
                    <a:pt x="892969" y="1601668"/>
                  </a:lnTo>
                  <a:lnTo>
                    <a:pt x="894556" y="1607227"/>
                  </a:lnTo>
                  <a:lnTo>
                    <a:pt x="896938" y="1611991"/>
                  </a:lnTo>
                  <a:lnTo>
                    <a:pt x="900113" y="1617550"/>
                  </a:lnTo>
                  <a:lnTo>
                    <a:pt x="904081" y="1622314"/>
                  </a:lnTo>
                  <a:lnTo>
                    <a:pt x="909638" y="1628667"/>
                  </a:lnTo>
                  <a:lnTo>
                    <a:pt x="916781" y="1633431"/>
                  </a:lnTo>
                  <a:lnTo>
                    <a:pt x="925513" y="1636608"/>
                  </a:lnTo>
                  <a:lnTo>
                    <a:pt x="935831" y="1642960"/>
                  </a:lnTo>
                  <a:lnTo>
                    <a:pt x="945356" y="1650901"/>
                  </a:lnTo>
                  <a:lnTo>
                    <a:pt x="957263" y="1662018"/>
                  </a:lnTo>
                  <a:lnTo>
                    <a:pt x="963613" y="1669165"/>
                  </a:lnTo>
                  <a:lnTo>
                    <a:pt x="969169" y="1676312"/>
                  </a:lnTo>
                  <a:lnTo>
                    <a:pt x="975519" y="1684253"/>
                  </a:lnTo>
                  <a:lnTo>
                    <a:pt x="980281" y="1693782"/>
                  </a:lnTo>
                  <a:lnTo>
                    <a:pt x="983456" y="1703311"/>
                  </a:lnTo>
                  <a:lnTo>
                    <a:pt x="987425" y="1715222"/>
                  </a:lnTo>
                  <a:lnTo>
                    <a:pt x="988219" y="1727133"/>
                  </a:lnTo>
                  <a:lnTo>
                    <a:pt x="989538" y="1737690"/>
                  </a:lnTo>
                  <a:lnTo>
                    <a:pt x="988719" y="1745458"/>
                  </a:lnTo>
                  <a:lnTo>
                    <a:pt x="986337" y="1759745"/>
                  </a:lnTo>
                  <a:lnTo>
                    <a:pt x="981572" y="1774033"/>
                  </a:lnTo>
                  <a:lnTo>
                    <a:pt x="976013" y="1787527"/>
                  </a:lnTo>
                  <a:lnTo>
                    <a:pt x="967277" y="1800227"/>
                  </a:lnTo>
                  <a:lnTo>
                    <a:pt x="959336" y="1812133"/>
                  </a:lnTo>
                  <a:lnTo>
                    <a:pt x="948218" y="1824039"/>
                  </a:lnTo>
                  <a:lnTo>
                    <a:pt x="936305" y="1835152"/>
                  </a:lnTo>
                  <a:lnTo>
                    <a:pt x="923599" y="1843089"/>
                  </a:lnTo>
                  <a:lnTo>
                    <a:pt x="909304" y="1852614"/>
                  </a:lnTo>
                  <a:lnTo>
                    <a:pt x="895009" y="1859758"/>
                  </a:lnTo>
                  <a:lnTo>
                    <a:pt x="878332" y="1865314"/>
                  </a:lnTo>
                  <a:lnTo>
                    <a:pt x="861655" y="1870077"/>
                  </a:lnTo>
                  <a:lnTo>
                    <a:pt x="844184" y="1874045"/>
                  </a:lnTo>
                  <a:lnTo>
                    <a:pt x="825918" y="1876427"/>
                  </a:lnTo>
                  <a:lnTo>
                    <a:pt x="808447" y="1877220"/>
                  </a:lnTo>
                  <a:lnTo>
                    <a:pt x="789387" y="1876427"/>
                  </a:lnTo>
                  <a:lnTo>
                    <a:pt x="771916" y="1874045"/>
                  </a:lnTo>
                  <a:lnTo>
                    <a:pt x="753651" y="1870077"/>
                  </a:lnTo>
                  <a:lnTo>
                    <a:pt x="736973" y="1865314"/>
                  </a:lnTo>
                  <a:lnTo>
                    <a:pt x="720296" y="1859758"/>
                  </a:lnTo>
                  <a:lnTo>
                    <a:pt x="706001" y="1852614"/>
                  </a:lnTo>
                  <a:lnTo>
                    <a:pt x="691707" y="1843089"/>
                  </a:lnTo>
                  <a:lnTo>
                    <a:pt x="679000" y="1835152"/>
                  </a:lnTo>
                  <a:lnTo>
                    <a:pt x="667088" y="1824039"/>
                  </a:lnTo>
                  <a:lnTo>
                    <a:pt x="656764" y="1812133"/>
                  </a:lnTo>
                  <a:lnTo>
                    <a:pt x="648028" y="1800227"/>
                  </a:lnTo>
                  <a:lnTo>
                    <a:pt x="640087" y="1787527"/>
                  </a:lnTo>
                  <a:lnTo>
                    <a:pt x="633734" y="1774033"/>
                  </a:lnTo>
                  <a:lnTo>
                    <a:pt x="628969" y="1759745"/>
                  </a:lnTo>
                  <a:lnTo>
                    <a:pt x="626586" y="1745458"/>
                  </a:lnTo>
                  <a:lnTo>
                    <a:pt x="625918" y="1732759"/>
                  </a:lnTo>
                  <a:lnTo>
                    <a:pt x="626269" y="1727133"/>
                  </a:lnTo>
                  <a:lnTo>
                    <a:pt x="627856" y="1715222"/>
                  </a:lnTo>
                  <a:lnTo>
                    <a:pt x="631031" y="1703311"/>
                  </a:lnTo>
                  <a:lnTo>
                    <a:pt x="635000" y="1693782"/>
                  </a:lnTo>
                  <a:lnTo>
                    <a:pt x="640556" y="1684253"/>
                  </a:lnTo>
                  <a:lnTo>
                    <a:pt x="645319" y="1676312"/>
                  </a:lnTo>
                  <a:lnTo>
                    <a:pt x="651669" y="1669165"/>
                  </a:lnTo>
                  <a:lnTo>
                    <a:pt x="657225" y="1662018"/>
                  </a:lnTo>
                  <a:lnTo>
                    <a:pt x="669131" y="1650901"/>
                  </a:lnTo>
                  <a:lnTo>
                    <a:pt x="678656" y="1642960"/>
                  </a:lnTo>
                  <a:lnTo>
                    <a:pt x="688975" y="1636608"/>
                  </a:lnTo>
                  <a:lnTo>
                    <a:pt x="697706" y="1633431"/>
                  </a:lnTo>
                  <a:lnTo>
                    <a:pt x="704850" y="1628667"/>
                  </a:lnTo>
                  <a:lnTo>
                    <a:pt x="710406" y="1622314"/>
                  </a:lnTo>
                  <a:lnTo>
                    <a:pt x="714375" y="1617550"/>
                  </a:lnTo>
                  <a:lnTo>
                    <a:pt x="717550" y="1611991"/>
                  </a:lnTo>
                  <a:lnTo>
                    <a:pt x="719931" y="1607227"/>
                  </a:lnTo>
                  <a:lnTo>
                    <a:pt x="721519" y="1601668"/>
                  </a:lnTo>
                  <a:lnTo>
                    <a:pt x="721519" y="1596904"/>
                  </a:lnTo>
                  <a:lnTo>
                    <a:pt x="721457" y="1596719"/>
                  </a:lnTo>
                  <a:lnTo>
                    <a:pt x="721884" y="1595439"/>
                  </a:lnTo>
                  <a:lnTo>
                    <a:pt x="721884" y="1588295"/>
                  </a:lnTo>
                  <a:lnTo>
                    <a:pt x="720296" y="1581945"/>
                  </a:lnTo>
                  <a:lnTo>
                    <a:pt x="717120" y="1576389"/>
                  </a:lnTo>
                  <a:lnTo>
                    <a:pt x="703474" y="1576389"/>
                  </a:lnTo>
                  <a:lnTo>
                    <a:pt x="703263" y="1576257"/>
                  </a:lnTo>
                  <a:lnTo>
                    <a:pt x="696119" y="1573875"/>
                  </a:lnTo>
                  <a:lnTo>
                    <a:pt x="688975" y="1573081"/>
                  </a:lnTo>
                  <a:lnTo>
                    <a:pt x="679450" y="1573081"/>
                  </a:lnTo>
                  <a:lnTo>
                    <a:pt x="360363" y="1573081"/>
                  </a:lnTo>
                  <a:lnTo>
                    <a:pt x="360363" y="1571493"/>
                  </a:lnTo>
                  <a:lnTo>
                    <a:pt x="0" y="1571493"/>
                  </a:lnTo>
                  <a:lnTo>
                    <a:pt x="0"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47" name="TextBox 46"/>
            <p:cNvSpPr txBox="1"/>
            <p:nvPr/>
          </p:nvSpPr>
          <p:spPr>
            <a:xfrm>
              <a:off x="1436640" y="1089231"/>
              <a:ext cx="1290419" cy="369332"/>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Behaviour</a:t>
              </a:r>
            </a:p>
          </p:txBody>
        </p:sp>
      </p:grpSp>
      <p:grpSp>
        <p:nvGrpSpPr>
          <p:cNvPr id="56" name="Group 55"/>
          <p:cNvGrpSpPr/>
          <p:nvPr/>
        </p:nvGrpSpPr>
        <p:grpSpPr>
          <a:xfrm>
            <a:off x="1990984" y="1353350"/>
            <a:ext cx="1885950" cy="1884684"/>
            <a:chOff x="2700654" y="1081407"/>
            <a:chExt cx="1885950" cy="1884684"/>
          </a:xfrm>
        </p:grpSpPr>
        <p:pic>
          <p:nvPicPr>
            <p:cNvPr id="36" name="Picture 35"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20148" t="67" r="50000" b="60040"/>
            <a:stretch>
              <a:fillRect/>
            </a:stretch>
          </p:blipFill>
          <p:spPr bwMode="auto">
            <a:xfrm>
              <a:off x="2700654" y="1083317"/>
              <a:ext cx="1885950" cy="1882774"/>
            </a:xfrm>
            <a:custGeom>
              <a:avLst/>
              <a:gdLst>
                <a:gd name="connsiteX0" fmla="*/ 313400 w 1885950"/>
                <a:gd name="connsiteY0" fmla="*/ 0 h 1882774"/>
                <a:gd name="connsiteX1" fmla="*/ 1885950 w 1885950"/>
                <a:gd name="connsiteY1" fmla="*/ 0 h 1882774"/>
                <a:gd name="connsiteX2" fmla="*/ 1885950 w 1885950"/>
                <a:gd name="connsiteY2" fmla="*/ 710706 h 1882774"/>
                <a:gd name="connsiteX3" fmla="*/ 1880396 w 1885950"/>
                <a:gd name="connsiteY3" fmla="*/ 717059 h 1882774"/>
                <a:gd name="connsiteX4" fmla="*/ 1874049 w 1885950"/>
                <a:gd name="connsiteY4" fmla="*/ 720235 h 1882774"/>
                <a:gd name="connsiteX5" fmla="*/ 1868553 w 1885950"/>
                <a:gd name="connsiteY5" fmla="*/ 721457 h 1882774"/>
                <a:gd name="connsiteX6" fmla="*/ 1865562 w 1885950"/>
                <a:gd name="connsiteY6" fmla="*/ 720335 h 1882774"/>
                <a:gd name="connsiteX7" fmla="*/ 1860802 w 1885950"/>
                <a:gd name="connsiteY7" fmla="*/ 717158 h 1882774"/>
                <a:gd name="connsiteX8" fmla="*/ 1855248 w 1885950"/>
                <a:gd name="connsiteY8" fmla="*/ 712394 h 1882774"/>
                <a:gd name="connsiteX9" fmla="*/ 1850487 w 1885950"/>
                <a:gd name="connsiteY9" fmla="*/ 706041 h 1882774"/>
                <a:gd name="connsiteX10" fmla="*/ 1845727 w 1885950"/>
                <a:gd name="connsiteY10" fmla="*/ 698895 h 1882774"/>
                <a:gd name="connsiteX11" fmla="*/ 1840966 w 1885950"/>
                <a:gd name="connsiteY11" fmla="*/ 690954 h 1882774"/>
                <a:gd name="connsiteX12" fmla="*/ 1834619 w 1885950"/>
                <a:gd name="connsiteY12" fmla="*/ 681425 h 1882774"/>
                <a:gd name="connsiteX13" fmla="*/ 1827478 w 1885950"/>
                <a:gd name="connsiteY13" fmla="*/ 671102 h 1882774"/>
                <a:gd name="connsiteX14" fmla="*/ 1817164 w 1885950"/>
                <a:gd name="connsiteY14" fmla="*/ 659190 h 1882774"/>
                <a:gd name="connsiteX15" fmla="*/ 1810023 w 1885950"/>
                <a:gd name="connsiteY15" fmla="*/ 652838 h 1882774"/>
                <a:gd name="connsiteX16" fmla="*/ 1802883 w 1885950"/>
                <a:gd name="connsiteY16" fmla="*/ 647279 h 1882774"/>
                <a:gd name="connsiteX17" fmla="*/ 1794155 w 1885950"/>
                <a:gd name="connsiteY17" fmla="*/ 642514 h 1882774"/>
                <a:gd name="connsiteX18" fmla="*/ 1784634 w 1885950"/>
                <a:gd name="connsiteY18" fmla="*/ 637750 h 1882774"/>
                <a:gd name="connsiteX19" fmla="*/ 1774320 w 1885950"/>
                <a:gd name="connsiteY19" fmla="*/ 632985 h 1882774"/>
                <a:gd name="connsiteX20" fmla="*/ 1764005 w 1885950"/>
                <a:gd name="connsiteY20" fmla="*/ 630603 h 1882774"/>
                <a:gd name="connsiteX21" fmla="*/ 1752466 w 1885950"/>
                <a:gd name="connsiteY21" fmla="*/ 628294 h 1882774"/>
                <a:gd name="connsiteX22" fmla="*/ 1751863 w 1885950"/>
                <a:gd name="connsiteY22" fmla="*/ 628121 h 1882774"/>
                <a:gd name="connsiteX23" fmla="*/ 1739962 w 1885950"/>
                <a:gd name="connsiteY23" fmla="*/ 625739 h 1882774"/>
                <a:gd name="connsiteX24" fmla="*/ 1727267 w 1885950"/>
                <a:gd name="connsiteY24" fmla="*/ 625739 h 1882774"/>
                <a:gd name="connsiteX25" fmla="*/ 1711399 w 1885950"/>
                <a:gd name="connsiteY25" fmla="*/ 625739 h 1882774"/>
                <a:gd name="connsiteX26" fmla="*/ 1697117 w 1885950"/>
                <a:gd name="connsiteY26" fmla="*/ 628915 h 1882774"/>
                <a:gd name="connsiteX27" fmla="*/ 1682836 w 1885950"/>
                <a:gd name="connsiteY27" fmla="*/ 632886 h 1882774"/>
                <a:gd name="connsiteX28" fmla="*/ 1670141 w 1885950"/>
                <a:gd name="connsiteY28" fmla="*/ 640032 h 1882774"/>
                <a:gd name="connsiteX29" fmla="*/ 1657446 w 1885950"/>
                <a:gd name="connsiteY29" fmla="*/ 647179 h 1882774"/>
                <a:gd name="connsiteX30" fmla="*/ 1645545 w 1885950"/>
                <a:gd name="connsiteY30" fmla="*/ 656708 h 1882774"/>
                <a:gd name="connsiteX31" fmla="*/ 1634437 w 1885950"/>
                <a:gd name="connsiteY31" fmla="*/ 667031 h 1882774"/>
                <a:gd name="connsiteX32" fmla="*/ 1624123 w 1885950"/>
                <a:gd name="connsiteY32" fmla="*/ 678943 h 1882774"/>
                <a:gd name="connsiteX33" fmla="*/ 1614602 w 1885950"/>
                <a:gd name="connsiteY33" fmla="*/ 690854 h 1882774"/>
                <a:gd name="connsiteX34" fmla="*/ 1605874 w 1885950"/>
                <a:gd name="connsiteY34" fmla="*/ 705147 h 1882774"/>
                <a:gd name="connsiteX35" fmla="*/ 1598734 w 1885950"/>
                <a:gd name="connsiteY35" fmla="*/ 720235 h 1882774"/>
                <a:gd name="connsiteX36" fmla="*/ 1591593 w 1885950"/>
                <a:gd name="connsiteY36" fmla="*/ 736117 h 1882774"/>
                <a:gd name="connsiteX37" fmla="*/ 1586832 w 1885950"/>
                <a:gd name="connsiteY37" fmla="*/ 752793 h 1882774"/>
                <a:gd name="connsiteX38" fmla="*/ 1583659 w 1885950"/>
                <a:gd name="connsiteY38" fmla="*/ 770262 h 1882774"/>
                <a:gd name="connsiteX39" fmla="*/ 1581278 w 1885950"/>
                <a:gd name="connsiteY39" fmla="*/ 788526 h 1882774"/>
                <a:gd name="connsiteX40" fmla="*/ 1581278 w 1885950"/>
                <a:gd name="connsiteY40" fmla="*/ 806790 h 1882774"/>
                <a:gd name="connsiteX41" fmla="*/ 1581278 w 1885950"/>
                <a:gd name="connsiteY41" fmla="*/ 825848 h 1882774"/>
                <a:gd name="connsiteX42" fmla="*/ 1583659 w 1885950"/>
                <a:gd name="connsiteY42" fmla="*/ 844112 h 1882774"/>
                <a:gd name="connsiteX43" fmla="*/ 1586832 w 1885950"/>
                <a:gd name="connsiteY43" fmla="*/ 861582 h 1882774"/>
                <a:gd name="connsiteX44" fmla="*/ 1591593 w 1885950"/>
                <a:gd name="connsiteY44" fmla="*/ 878258 h 1882774"/>
                <a:gd name="connsiteX45" fmla="*/ 1598734 w 1885950"/>
                <a:gd name="connsiteY45" fmla="*/ 894140 h 1882774"/>
                <a:gd name="connsiteX46" fmla="*/ 1605874 w 1885950"/>
                <a:gd name="connsiteY46" fmla="*/ 909227 h 1882774"/>
                <a:gd name="connsiteX47" fmla="*/ 1614602 w 1885950"/>
                <a:gd name="connsiteY47" fmla="*/ 923521 h 1882774"/>
                <a:gd name="connsiteX48" fmla="*/ 1624123 w 1885950"/>
                <a:gd name="connsiteY48" fmla="*/ 936226 h 1882774"/>
                <a:gd name="connsiteX49" fmla="*/ 1634437 w 1885950"/>
                <a:gd name="connsiteY49" fmla="*/ 947343 h 1882774"/>
                <a:gd name="connsiteX50" fmla="*/ 1645545 w 1885950"/>
                <a:gd name="connsiteY50" fmla="*/ 957666 h 1882774"/>
                <a:gd name="connsiteX51" fmla="*/ 1657446 w 1885950"/>
                <a:gd name="connsiteY51" fmla="*/ 967195 h 1882774"/>
                <a:gd name="connsiteX52" fmla="*/ 1670141 w 1885950"/>
                <a:gd name="connsiteY52" fmla="*/ 974342 h 1882774"/>
                <a:gd name="connsiteX53" fmla="*/ 1682836 w 1885950"/>
                <a:gd name="connsiteY53" fmla="*/ 981489 h 1882774"/>
                <a:gd name="connsiteX54" fmla="*/ 1697117 w 1885950"/>
                <a:gd name="connsiteY54" fmla="*/ 985459 h 1882774"/>
                <a:gd name="connsiteX55" fmla="*/ 1711399 w 1885950"/>
                <a:gd name="connsiteY55" fmla="*/ 988636 h 1882774"/>
                <a:gd name="connsiteX56" fmla="*/ 1713425 w 1885950"/>
                <a:gd name="connsiteY56" fmla="*/ 988636 h 1882774"/>
                <a:gd name="connsiteX57" fmla="*/ 1723541 w 1885950"/>
                <a:gd name="connsiteY57" fmla="*/ 990324 h 1882774"/>
                <a:gd name="connsiteX58" fmla="*/ 1738616 w 1885950"/>
                <a:gd name="connsiteY58" fmla="*/ 991118 h 1882774"/>
                <a:gd name="connsiteX59" fmla="*/ 1752104 w 1885950"/>
                <a:gd name="connsiteY59" fmla="*/ 991118 h 1882774"/>
                <a:gd name="connsiteX60" fmla="*/ 1764005 w 1885950"/>
                <a:gd name="connsiteY60" fmla="*/ 988735 h 1882774"/>
                <a:gd name="connsiteX61" fmla="*/ 1774320 w 1885950"/>
                <a:gd name="connsiteY61" fmla="*/ 985559 h 1882774"/>
                <a:gd name="connsiteX62" fmla="*/ 1784634 w 1885950"/>
                <a:gd name="connsiteY62" fmla="*/ 981589 h 1882774"/>
                <a:gd name="connsiteX63" fmla="*/ 1794155 w 1885950"/>
                <a:gd name="connsiteY63" fmla="*/ 976824 h 1882774"/>
                <a:gd name="connsiteX64" fmla="*/ 1802883 w 1885950"/>
                <a:gd name="connsiteY64" fmla="*/ 971266 h 1882774"/>
                <a:gd name="connsiteX65" fmla="*/ 1810023 w 1885950"/>
                <a:gd name="connsiteY65" fmla="*/ 964913 h 1882774"/>
                <a:gd name="connsiteX66" fmla="*/ 1817164 w 1885950"/>
                <a:gd name="connsiteY66" fmla="*/ 959354 h 1882774"/>
                <a:gd name="connsiteX67" fmla="*/ 1827478 w 1885950"/>
                <a:gd name="connsiteY67" fmla="*/ 947443 h 1882774"/>
                <a:gd name="connsiteX68" fmla="*/ 1834619 w 1885950"/>
                <a:gd name="connsiteY68" fmla="*/ 937914 h 1882774"/>
                <a:gd name="connsiteX69" fmla="*/ 1840966 w 1885950"/>
                <a:gd name="connsiteY69" fmla="*/ 926797 h 1882774"/>
                <a:gd name="connsiteX70" fmla="*/ 1845727 w 1885950"/>
                <a:gd name="connsiteY70" fmla="*/ 919650 h 1882774"/>
                <a:gd name="connsiteX71" fmla="*/ 1850487 w 1885950"/>
                <a:gd name="connsiteY71" fmla="*/ 913297 h 1882774"/>
                <a:gd name="connsiteX72" fmla="*/ 1855248 w 1885950"/>
                <a:gd name="connsiteY72" fmla="*/ 906945 h 1882774"/>
                <a:gd name="connsiteX73" fmla="*/ 1860802 w 1885950"/>
                <a:gd name="connsiteY73" fmla="*/ 902180 h 1882774"/>
                <a:gd name="connsiteX74" fmla="*/ 1865562 w 1885950"/>
                <a:gd name="connsiteY74" fmla="*/ 899004 h 1882774"/>
                <a:gd name="connsiteX75" fmla="*/ 1871910 w 1885950"/>
                <a:gd name="connsiteY75" fmla="*/ 896622 h 1882774"/>
                <a:gd name="connsiteX76" fmla="*/ 1876169 w 1885950"/>
                <a:gd name="connsiteY76" fmla="*/ 895201 h 1882774"/>
                <a:gd name="connsiteX77" fmla="*/ 1880396 w 1885950"/>
                <a:gd name="connsiteY77" fmla="*/ 897316 h 1882774"/>
                <a:gd name="connsiteX78" fmla="*/ 1885950 w 1885950"/>
                <a:gd name="connsiteY78" fmla="*/ 903669 h 1882774"/>
                <a:gd name="connsiteX79" fmla="*/ 1885950 w 1885950"/>
                <a:gd name="connsiteY79" fmla="*/ 1569112 h 1882774"/>
                <a:gd name="connsiteX80" fmla="*/ 1877708 w 1885950"/>
                <a:gd name="connsiteY80" fmla="*/ 1569112 h 1882774"/>
                <a:gd name="connsiteX81" fmla="*/ 1877708 w 1885950"/>
                <a:gd name="connsiteY81" fmla="*/ 1568449 h 1882774"/>
                <a:gd name="connsiteX82" fmla="*/ 1242143 w 1885950"/>
                <a:gd name="connsiteY82" fmla="*/ 1568449 h 1882774"/>
                <a:gd name="connsiteX83" fmla="*/ 1232622 w 1885950"/>
                <a:gd name="connsiteY83" fmla="*/ 1569243 h 1882774"/>
                <a:gd name="connsiteX84" fmla="*/ 1223893 w 1885950"/>
                <a:gd name="connsiteY84" fmla="*/ 1570830 h 1882774"/>
                <a:gd name="connsiteX85" fmla="*/ 1216752 w 1885950"/>
                <a:gd name="connsiteY85" fmla="*/ 1573212 h 1882774"/>
                <a:gd name="connsiteX86" fmla="*/ 1211992 w 1885950"/>
                <a:gd name="connsiteY86" fmla="*/ 1575593 h 1882774"/>
                <a:gd name="connsiteX87" fmla="*/ 1207231 w 1885950"/>
                <a:gd name="connsiteY87" fmla="*/ 1578768 h 1882774"/>
                <a:gd name="connsiteX88" fmla="*/ 1204057 w 1885950"/>
                <a:gd name="connsiteY88" fmla="*/ 1582737 h 1882774"/>
                <a:gd name="connsiteX89" fmla="*/ 1201676 w 1885950"/>
                <a:gd name="connsiteY89" fmla="*/ 1587499 h 1882774"/>
                <a:gd name="connsiteX90" fmla="*/ 1200090 w 1885950"/>
                <a:gd name="connsiteY90" fmla="*/ 1592262 h 1882774"/>
                <a:gd name="connsiteX91" fmla="*/ 1200090 w 1885950"/>
                <a:gd name="connsiteY91" fmla="*/ 1597818 h 1882774"/>
                <a:gd name="connsiteX92" fmla="*/ 1201676 w 1885950"/>
                <a:gd name="connsiteY92" fmla="*/ 1602580 h 1882774"/>
                <a:gd name="connsiteX93" fmla="*/ 1202470 w 1885950"/>
                <a:gd name="connsiteY93" fmla="*/ 1608137 h 1882774"/>
                <a:gd name="connsiteX94" fmla="*/ 1206437 w 1885950"/>
                <a:gd name="connsiteY94" fmla="*/ 1612899 h 1882774"/>
                <a:gd name="connsiteX95" fmla="*/ 1211198 w 1885950"/>
                <a:gd name="connsiteY95" fmla="*/ 1619249 h 1882774"/>
                <a:gd name="connsiteX96" fmla="*/ 1216752 w 1885950"/>
                <a:gd name="connsiteY96" fmla="*/ 1624012 h 1882774"/>
                <a:gd name="connsiteX97" fmla="*/ 1223893 w 1885950"/>
                <a:gd name="connsiteY97" fmla="*/ 1628774 h 1882774"/>
                <a:gd name="connsiteX98" fmla="*/ 1232622 w 1885950"/>
                <a:gd name="connsiteY98" fmla="*/ 1633537 h 1882774"/>
                <a:gd name="connsiteX99" fmla="*/ 1242143 w 1885950"/>
                <a:gd name="connsiteY99" fmla="*/ 1639093 h 1882774"/>
                <a:gd name="connsiteX100" fmla="*/ 1252458 w 1885950"/>
                <a:gd name="connsiteY100" fmla="*/ 1646237 h 1882774"/>
                <a:gd name="connsiteX101" fmla="*/ 1264360 w 1885950"/>
                <a:gd name="connsiteY101" fmla="*/ 1657349 h 1882774"/>
                <a:gd name="connsiteX102" fmla="*/ 1270708 w 1885950"/>
                <a:gd name="connsiteY102" fmla="*/ 1664493 h 1882774"/>
                <a:gd name="connsiteX103" fmla="*/ 1276262 w 1885950"/>
                <a:gd name="connsiteY103" fmla="*/ 1671637 h 1882774"/>
                <a:gd name="connsiteX104" fmla="*/ 1281023 w 1885950"/>
                <a:gd name="connsiteY104" fmla="*/ 1679574 h 1882774"/>
                <a:gd name="connsiteX105" fmla="*/ 1285784 w 1885950"/>
                <a:gd name="connsiteY105" fmla="*/ 1689099 h 1882774"/>
                <a:gd name="connsiteX106" fmla="*/ 1290544 w 1885950"/>
                <a:gd name="connsiteY106" fmla="*/ 1700212 h 1882774"/>
                <a:gd name="connsiteX107" fmla="*/ 1292925 w 1885950"/>
                <a:gd name="connsiteY107" fmla="*/ 1710530 h 1882774"/>
                <a:gd name="connsiteX108" fmla="*/ 1295305 w 1885950"/>
                <a:gd name="connsiteY108" fmla="*/ 1722437 h 1882774"/>
                <a:gd name="connsiteX109" fmla="*/ 1296892 w 1885950"/>
                <a:gd name="connsiteY109" fmla="*/ 1735137 h 1882774"/>
                <a:gd name="connsiteX110" fmla="*/ 1295305 w 1885950"/>
                <a:gd name="connsiteY110" fmla="*/ 1751012 h 1882774"/>
                <a:gd name="connsiteX111" fmla="*/ 1292925 w 1885950"/>
                <a:gd name="connsiteY111" fmla="*/ 1765299 h 1882774"/>
                <a:gd name="connsiteX112" fmla="*/ 1288164 w 1885950"/>
                <a:gd name="connsiteY112" fmla="*/ 1779587 h 1882774"/>
                <a:gd name="connsiteX113" fmla="*/ 1282610 w 1885950"/>
                <a:gd name="connsiteY113" fmla="*/ 1792287 h 1882774"/>
                <a:gd name="connsiteX114" fmla="*/ 1273882 w 1885950"/>
                <a:gd name="connsiteY114" fmla="*/ 1805780 h 1882774"/>
                <a:gd name="connsiteX115" fmla="*/ 1265947 w 1885950"/>
                <a:gd name="connsiteY115" fmla="*/ 1817687 h 1882774"/>
                <a:gd name="connsiteX116" fmla="*/ 1254839 w 1885950"/>
                <a:gd name="connsiteY116" fmla="*/ 1829593 h 1882774"/>
                <a:gd name="connsiteX117" fmla="*/ 1242937 w 1885950"/>
                <a:gd name="connsiteY117" fmla="*/ 1838324 h 1882774"/>
                <a:gd name="connsiteX118" fmla="*/ 1230241 w 1885950"/>
                <a:gd name="connsiteY118" fmla="*/ 1847849 h 1882774"/>
                <a:gd name="connsiteX119" fmla="*/ 1215959 w 1885950"/>
                <a:gd name="connsiteY119" fmla="*/ 1856580 h 1882774"/>
                <a:gd name="connsiteX120" fmla="*/ 1200090 w 1885950"/>
                <a:gd name="connsiteY120" fmla="*/ 1864518 h 1882774"/>
                <a:gd name="connsiteX121" fmla="*/ 1185014 w 1885950"/>
                <a:gd name="connsiteY121" fmla="*/ 1870868 h 1882774"/>
                <a:gd name="connsiteX122" fmla="*/ 1168351 w 1885950"/>
                <a:gd name="connsiteY122" fmla="*/ 1875630 h 1882774"/>
                <a:gd name="connsiteX123" fmla="*/ 1150895 w 1885950"/>
                <a:gd name="connsiteY123" fmla="*/ 1878805 h 1882774"/>
                <a:gd name="connsiteX124" fmla="*/ 1132645 w 1885950"/>
                <a:gd name="connsiteY124" fmla="*/ 1881187 h 1882774"/>
                <a:gd name="connsiteX125" fmla="*/ 1113602 w 1885950"/>
                <a:gd name="connsiteY125" fmla="*/ 1882774 h 1882774"/>
                <a:gd name="connsiteX126" fmla="*/ 1096146 w 1885950"/>
                <a:gd name="connsiteY126" fmla="*/ 1881187 h 1882774"/>
                <a:gd name="connsiteX127" fmla="*/ 1080010 w 1885950"/>
                <a:gd name="connsiteY127" fmla="*/ 1879169 h 1882774"/>
                <a:gd name="connsiteX128" fmla="*/ 1067938 w 1885950"/>
                <a:gd name="connsiteY128" fmla="*/ 1876423 h 1882774"/>
                <a:gd name="connsiteX129" fmla="*/ 1051276 w 1885950"/>
                <a:gd name="connsiteY129" fmla="*/ 1871658 h 1882774"/>
                <a:gd name="connsiteX130" fmla="*/ 1035408 w 1885950"/>
                <a:gd name="connsiteY130" fmla="*/ 1864511 h 1882774"/>
                <a:gd name="connsiteX131" fmla="*/ 1020333 w 1885950"/>
                <a:gd name="connsiteY131" fmla="*/ 1857364 h 1882774"/>
                <a:gd name="connsiteX132" fmla="*/ 1006052 w 1885950"/>
                <a:gd name="connsiteY132" fmla="*/ 1849424 h 1882774"/>
                <a:gd name="connsiteX133" fmla="*/ 994151 w 1885950"/>
                <a:gd name="connsiteY133" fmla="*/ 1839895 h 1882774"/>
                <a:gd name="connsiteX134" fmla="*/ 982249 w 1885950"/>
                <a:gd name="connsiteY134" fmla="*/ 1829572 h 1882774"/>
                <a:gd name="connsiteX135" fmla="*/ 971935 w 1885950"/>
                <a:gd name="connsiteY135" fmla="*/ 1818454 h 1882774"/>
                <a:gd name="connsiteX136" fmla="*/ 962414 w 1885950"/>
                <a:gd name="connsiteY136" fmla="*/ 1806543 h 1882774"/>
                <a:gd name="connsiteX137" fmla="*/ 955273 w 1885950"/>
                <a:gd name="connsiteY137" fmla="*/ 1793838 h 1882774"/>
                <a:gd name="connsiteX138" fmla="*/ 948926 w 1885950"/>
                <a:gd name="connsiteY138" fmla="*/ 1780338 h 1882774"/>
                <a:gd name="connsiteX139" fmla="*/ 944165 w 1885950"/>
                <a:gd name="connsiteY139" fmla="*/ 1766045 h 1882774"/>
                <a:gd name="connsiteX140" fmla="*/ 940992 w 1885950"/>
                <a:gd name="connsiteY140" fmla="*/ 1751751 h 1882774"/>
                <a:gd name="connsiteX141" fmla="*/ 940992 w 1885950"/>
                <a:gd name="connsiteY141" fmla="*/ 1736664 h 1882774"/>
                <a:gd name="connsiteX142" fmla="*/ 940992 w 1885950"/>
                <a:gd name="connsiteY142" fmla="*/ 1723958 h 1882774"/>
                <a:gd name="connsiteX143" fmla="*/ 943372 w 1885950"/>
                <a:gd name="connsiteY143" fmla="*/ 1712047 h 1882774"/>
                <a:gd name="connsiteX144" fmla="*/ 946546 w 1885950"/>
                <a:gd name="connsiteY144" fmla="*/ 1700136 h 1882774"/>
                <a:gd name="connsiteX145" fmla="*/ 950513 w 1885950"/>
                <a:gd name="connsiteY145" fmla="*/ 1690607 h 1882774"/>
                <a:gd name="connsiteX146" fmla="*/ 955273 w 1885950"/>
                <a:gd name="connsiteY146" fmla="*/ 1681078 h 1882774"/>
                <a:gd name="connsiteX147" fmla="*/ 960827 w 1885950"/>
                <a:gd name="connsiteY147" fmla="*/ 1672343 h 1882774"/>
                <a:gd name="connsiteX148" fmla="*/ 965588 w 1885950"/>
                <a:gd name="connsiteY148" fmla="*/ 1665196 h 1882774"/>
                <a:gd name="connsiteX149" fmla="*/ 971935 w 1885950"/>
                <a:gd name="connsiteY149" fmla="*/ 1658049 h 1882774"/>
                <a:gd name="connsiteX150" fmla="*/ 983043 w 1885950"/>
                <a:gd name="connsiteY150" fmla="*/ 1647726 h 1882774"/>
                <a:gd name="connsiteX151" fmla="*/ 994151 w 1885950"/>
                <a:gd name="connsiteY151" fmla="*/ 1638991 h 1882774"/>
                <a:gd name="connsiteX152" fmla="*/ 1003672 w 1885950"/>
                <a:gd name="connsiteY152" fmla="*/ 1633433 h 1882774"/>
                <a:gd name="connsiteX153" fmla="*/ 1011606 w 1885950"/>
                <a:gd name="connsiteY153" fmla="*/ 1629462 h 1882774"/>
                <a:gd name="connsiteX154" fmla="*/ 1018746 w 1885950"/>
                <a:gd name="connsiteY154" fmla="*/ 1624698 h 1882774"/>
                <a:gd name="connsiteX155" fmla="*/ 1025094 w 1885950"/>
                <a:gd name="connsiteY155" fmla="*/ 1619933 h 1882774"/>
                <a:gd name="connsiteX156" fmla="*/ 1029854 w 1885950"/>
                <a:gd name="connsiteY156" fmla="*/ 1614375 h 1882774"/>
                <a:gd name="connsiteX157" fmla="*/ 1033028 w 1885950"/>
                <a:gd name="connsiteY157" fmla="*/ 1609610 h 1882774"/>
                <a:gd name="connsiteX158" fmla="*/ 1035408 w 1885950"/>
                <a:gd name="connsiteY158" fmla="*/ 1604051 h 1882774"/>
                <a:gd name="connsiteX159" fmla="*/ 1036995 w 1885950"/>
                <a:gd name="connsiteY159" fmla="*/ 1599287 h 1882774"/>
                <a:gd name="connsiteX160" fmla="*/ 1036995 w 1885950"/>
                <a:gd name="connsiteY160" fmla="*/ 1592934 h 1882774"/>
                <a:gd name="connsiteX161" fmla="*/ 1035408 w 1885950"/>
                <a:gd name="connsiteY161" fmla="*/ 1588170 h 1882774"/>
                <a:gd name="connsiteX162" fmla="*/ 1033028 w 1885950"/>
                <a:gd name="connsiteY162" fmla="*/ 1584993 h 1882774"/>
                <a:gd name="connsiteX163" fmla="*/ 1029854 w 1885950"/>
                <a:gd name="connsiteY163" fmla="*/ 1580229 h 1882774"/>
                <a:gd name="connsiteX164" fmla="*/ 1025094 w 1885950"/>
                <a:gd name="connsiteY164" fmla="*/ 1576258 h 1882774"/>
                <a:gd name="connsiteX165" fmla="*/ 1020333 w 1885950"/>
                <a:gd name="connsiteY165" fmla="*/ 1573876 h 1882774"/>
                <a:gd name="connsiteX166" fmla="*/ 1013193 w 1885950"/>
                <a:gd name="connsiteY166" fmla="*/ 1571494 h 1882774"/>
                <a:gd name="connsiteX167" fmla="*/ 1004465 w 1885950"/>
                <a:gd name="connsiteY167" fmla="*/ 1570700 h 1882774"/>
                <a:gd name="connsiteX168" fmla="*/ 996531 w 1885950"/>
                <a:gd name="connsiteY168" fmla="*/ 1569112 h 1882774"/>
                <a:gd name="connsiteX169" fmla="*/ 994032 w 1885950"/>
                <a:gd name="connsiteY169" fmla="*/ 1569121 h 1882774"/>
                <a:gd name="connsiteX170" fmla="*/ 986648 w 1885950"/>
                <a:gd name="connsiteY170" fmla="*/ 1568449 h 1882774"/>
                <a:gd name="connsiteX171" fmla="*/ 313400 w 1885950"/>
                <a:gd name="connsiteY171" fmla="*/ 1568449 h 1882774"/>
                <a:gd name="connsiteX172" fmla="*/ 313400 w 1885950"/>
                <a:gd name="connsiteY172" fmla="*/ 933844 h 1882774"/>
                <a:gd name="connsiteX173" fmla="*/ 311813 w 1885950"/>
                <a:gd name="connsiteY173" fmla="*/ 925903 h 1882774"/>
                <a:gd name="connsiteX174" fmla="*/ 311019 w 1885950"/>
                <a:gd name="connsiteY174" fmla="*/ 917168 h 1882774"/>
                <a:gd name="connsiteX175" fmla="*/ 308639 w 1885950"/>
                <a:gd name="connsiteY175" fmla="*/ 910815 h 1882774"/>
                <a:gd name="connsiteX176" fmla="*/ 306259 w 1885950"/>
                <a:gd name="connsiteY176" fmla="*/ 904463 h 1882774"/>
                <a:gd name="connsiteX177" fmla="*/ 303085 w 1885950"/>
                <a:gd name="connsiteY177" fmla="*/ 899698 h 1882774"/>
                <a:gd name="connsiteX178" fmla="*/ 299118 w 1885950"/>
                <a:gd name="connsiteY178" fmla="*/ 896522 h 1882774"/>
                <a:gd name="connsiteX179" fmla="*/ 294358 w 1885950"/>
                <a:gd name="connsiteY179" fmla="*/ 894140 h 1882774"/>
                <a:gd name="connsiteX180" fmla="*/ 289597 w 1885950"/>
                <a:gd name="connsiteY180" fmla="*/ 892551 h 1882774"/>
                <a:gd name="connsiteX181" fmla="*/ 284043 w 1885950"/>
                <a:gd name="connsiteY181" fmla="*/ 892551 h 1882774"/>
                <a:gd name="connsiteX182" fmla="*/ 280746 w 1885950"/>
                <a:gd name="connsiteY182" fmla="*/ 893652 h 1882774"/>
                <a:gd name="connsiteX183" fmla="*/ 277442 w 1885950"/>
                <a:gd name="connsiteY183" fmla="*/ 892550 h 1882774"/>
                <a:gd name="connsiteX184" fmla="*/ 272679 w 1885950"/>
                <a:gd name="connsiteY184" fmla="*/ 892550 h 1882774"/>
                <a:gd name="connsiteX185" fmla="*/ 267123 w 1885950"/>
                <a:gd name="connsiteY185" fmla="*/ 894138 h 1882774"/>
                <a:gd name="connsiteX186" fmla="*/ 262360 w 1885950"/>
                <a:gd name="connsiteY186" fmla="*/ 896520 h 1882774"/>
                <a:gd name="connsiteX187" fmla="*/ 256010 w 1885950"/>
                <a:gd name="connsiteY187" fmla="*/ 899697 h 1882774"/>
                <a:gd name="connsiteX188" fmla="*/ 251248 w 1885950"/>
                <a:gd name="connsiteY188" fmla="*/ 904461 h 1882774"/>
                <a:gd name="connsiteX189" fmla="*/ 245692 w 1885950"/>
                <a:gd name="connsiteY189" fmla="*/ 910814 h 1882774"/>
                <a:gd name="connsiteX190" fmla="*/ 240929 w 1885950"/>
                <a:gd name="connsiteY190" fmla="*/ 917166 h 1882774"/>
                <a:gd name="connsiteX191" fmla="*/ 236167 w 1885950"/>
                <a:gd name="connsiteY191" fmla="*/ 924313 h 1882774"/>
                <a:gd name="connsiteX192" fmla="*/ 229817 w 1885950"/>
                <a:gd name="connsiteY192" fmla="*/ 935430 h 1882774"/>
                <a:gd name="connsiteX193" fmla="*/ 222673 w 1885950"/>
                <a:gd name="connsiteY193" fmla="*/ 944959 h 1882774"/>
                <a:gd name="connsiteX194" fmla="*/ 212354 w 1885950"/>
                <a:gd name="connsiteY194" fmla="*/ 956871 h 1882774"/>
                <a:gd name="connsiteX195" fmla="*/ 205210 w 1885950"/>
                <a:gd name="connsiteY195" fmla="*/ 962429 h 1882774"/>
                <a:gd name="connsiteX196" fmla="*/ 198067 w 1885950"/>
                <a:gd name="connsiteY196" fmla="*/ 968782 h 1882774"/>
                <a:gd name="connsiteX197" fmla="*/ 189335 w 1885950"/>
                <a:gd name="connsiteY197" fmla="*/ 974340 h 1882774"/>
                <a:gd name="connsiteX198" fmla="*/ 180604 w 1885950"/>
                <a:gd name="connsiteY198" fmla="*/ 979105 h 1882774"/>
                <a:gd name="connsiteX199" fmla="*/ 169492 w 1885950"/>
                <a:gd name="connsiteY199" fmla="*/ 983075 h 1882774"/>
                <a:gd name="connsiteX200" fmla="*/ 159173 w 1885950"/>
                <a:gd name="connsiteY200" fmla="*/ 986252 h 1882774"/>
                <a:gd name="connsiteX201" fmla="*/ 147267 w 1885950"/>
                <a:gd name="connsiteY201" fmla="*/ 988634 h 1882774"/>
                <a:gd name="connsiteX202" fmla="*/ 145951 w 1885950"/>
                <a:gd name="connsiteY202" fmla="*/ 988634 h 1882774"/>
                <a:gd name="connsiteX203" fmla="*/ 130914 w 1885950"/>
                <a:gd name="connsiteY203" fmla="*/ 987842 h 1882774"/>
                <a:gd name="connsiteX204" fmla="*/ 116632 w 1885950"/>
                <a:gd name="connsiteY204" fmla="*/ 985459 h 1882774"/>
                <a:gd name="connsiteX205" fmla="*/ 102351 w 1885950"/>
                <a:gd name="connsiteY205" fmla="*/ 980695 h 1882774"/>
                <a:gd name="connsiteX206" fmla="*/ 88863 w 1885950"/>
                <a:gd name="connsiteY206" fmla="*/ 974342 h 1882774"/>
                <a:gd name="connsiteX207" fmla="*/ 76168 w 1885950"/>
                <a:gd name="connsiteY207" fmla="*/ 967195 h 1882774"/>
                <a:gd name="connsiteX208" fmla="*/ 64267 w 1885950"/>
                <a:gd name="connsiteY208" fmla="*/ 957666 h 1882774"/>
                <a:gd name="connsiteX209" fmla="*/ 52366 w 1885950"/>
                <a:gd name="connsiteY209" fmla="*/ 947343 h 1882774"/>
                <a:gd name="connsiteX210" fmla="*/ 42845 w 1885950"/>
                <a:gd name="connsiteY210" fmla="*/ 935432 h 1882774"/>
                <a:gd name="connsiteX211" fmla="*/ 33324 w 1885950"/>
                <a:gd name="connsiteY211" fmla="*/ 921933 h 1882774"/>
                <a:gd name="connsiteX212" fmla="*/ 25389 w 1885950"/>
                <a:gd name="connsiteY212" fmla="*/ 909227 h 1882774"/>
                <a:gd name="connsiteX213" fmla="*/ 16662 w 1885950"/>
                <a:gd name="connsiteY213" fmla="*/ 894140 h 1882774"/>
                <a:gd name="connsiteX214" fmla="*/ 11108 w 1885950"/>
                <a:gd name="connsiteY214" fmla="*/ 877464 h 1882774"/>
                <a:gd name="connsiteX215" fmla="*/ 6347 w 1885950"/>
                <a:gd name="connsiteY215" fmla="*/ 860788 h 1882774"/>
                <a:gd name="connsiteX216" fmla="*/ 2380 w 1885950"/>
                <a:gd name="connsiteY216" fmla="*/ 844112 h 1882774"/>
                <a:gd name="connsiteX217" fmla="*/ 0 w 1885950"/>
                <a:gd name="connsiteY217" fmla="*/ 825054 h 1882774"/>
                <a:gd name="connsiteX218" fmla="*/ 0 w 1885950"/>
                <a:gd name="connsiteY218" fmla="*/ 806790 h 1882774"/>
                <a:gd name="connsiteX219" fmla="*/ 0 w 1885950"/>
                <a:gd name="connsiteY219" fmla="*/ 788526 h 1882774"/>
                <a:gd name="connsiteX220" fmla="*/ 2380 w 1885950"/>
                <a:gd name="connsiteY220" fmla="*/ 770262 h 1882774"/>
                <a:gd name="connsiteX221" fmla="*/ 6347 w 1885950"/>
                <a:gd name="connsiteY221" fmla="*/ 752793 h 1882774"/>
                <a:gd name="connsiteX222" fmla="*/ 11108 w 1885950"/>
                <a:gd name="connsiteY222" fmla="*/ 736117 h 1882774"/>
                <a:gd name="connsiteX223" fmla="*/ 16662 w 1885950"/>
                <a:gd name="connsiteY223" fmla="*/ 720235 h 1882774"/>
                <a:gd name="connsiteX224" fmla="*/ 25389 w 1885950"/>
                <a:gd name="connsiteY224" fmla="*/ 705147 h 1882774"/>
                <a:gd name="connsiteX225" fmla="*/ 33324 w 1885950"/>
                <a:gd name="connsiteY225" fmla="*/ 690854 h 1882774"/>
                <a:gd name="connsiteX226" fmla="*/ 42845 w 1885950"/>
                <a:gd name="connsiteY226" fmla="*/ 678149 h 1882774"/>
                <a:gd name="connsiteX227" fmla="*/ 52366 w 1885950"/>
                <a:gd name="connsiteY227" fmla="*/ 666237 h 1882774"/>
                <a:gd name="connsiteX228" fmla="*/ 64267 w 1885950"/>
                <a:gd name="connsiteY228" fmla="*/ 655120 h 1882774"/>
                <a:gd name="connsiteX229" fmla="*/ 76168 w 1885950"/>
                <a:gd name="connsiteY229" fmla="*/ 647179 h 1882774"/>
                <a:gd name="connsiteX230" fmla="*/ 88863 w 1885950"/>
                <a:gd name="connsiteY230" fmla="*/ 638444 h 1882774"/>
                <a:gd name="connsiteX231" fmla="*/ 102351 w 1885950"/>
                <a:gd name="connsiteY231" fmla="*/ 632886 h 1882774"/>
                <a:gd name="connsiteX232" fmla="*/ 116632 w 1885950"/>
                <a:gd name="connsiteY232" fmla="*/ 628121 h 1882774"/>
                <a:gd name="connsiteX233" fmla="*/ 130914 w 1885950"/>
                <a:gd name="connsiteY233" fmla="*/ 625739 h 1882774"/>
                <a:gd name="connsiteX234" fmla="*/ 139550 w 1885950"/>
                <a:gd name="connsiteY234" fmla="*/ 624829 h 1882774"/>
                <a:gd name="connsiteX235" fmla="*/ 147267 w 1885950"/>
                <a:gd name="connsiteY235" fmla="*/ 625738 h 1882774"/>
                <a:gd name="connsiteX236" fmla="*/ 159173 w 1885950"/>
                <a:gd name="connsiteY236" fmla="*/ 628120 h 1882774"/>
                <a:gd name="connsiteX237" fmla="*/ 169492 w 1885950"/>
                <a:gd name="connsiteY237" fmla="*/ 630502 h 1882774"/>
                <a:gd name="connsiteX238" fmla="*/ 180604 w 1885950"/>
                <a:gd name="connsiteY238" fmla="*/ 635267 h 1882774"/>
                <a:gd name="connsiteX239" fmla="*/ 189335 w 1885950"/>
                <a:gd name="connsiteY239" fmla="*/ 640031 h 1882774"/>
                <a:gd name="connsiteX240" fmla="*/ 198067 w 1885950"/>
                <a:gd name="connsiteY240" fmla="*/ 644796 h 1882774"/>
                <a:gd name="connsiteX241" fmla="*/ 205210 w 1885950"/>
                <a:gd name="connsiteY241" fmla="*/ 650354 h 1882774"/>
                <a:gd name="connsiteX242" fmla="*/ 212354 w 1885950"/>
                <a:gd name="connsiteY242" fmla="*/ 656707 h 1882774"/>
                <a:gd name="connsiteX243" fmla="*/ 222673 w 1885950"/>
                <a:gd name="connsiteY243" fmla="*/ 668618 h 1882774"/>
                <a:gd name="connsiteX244" fmla="*/ 229817 w 1885950"/>
                <a:gd name="connsiteY244" fmla="*/ 678941 h 1882774"/>
                <a:gd name="connsiteX245" fmla="*/ 236167 w 1885950"/>
                <a:gd name="connsiteY245" fmla="*/ 688470 h 1882774"/>
                <a:gd name="connsiteX246" fmla="*/ 240929 w 1885950"/>
                <a:gd name="connsiteY246" fmla="*/ 696411 h 1882774"/>
                <a:gd name="connsiteX247" fmla="*/ 245692 w 1885950"/>
                <a:gd name="connsiteY247" fmla="*/ 703558 h 1882774"/>
                <a:gd name="connsiteX248" fmla="*/ 251248 w 1885950"/>
                <a:gd name="connsiteY248" fmla="*/ 709910 h 1882774"/>
                <a:gd name="connsiteX249" fmla="*/ 256010 w 1885950"/>
                <a:gd name="connsiteY249" fmla="*/ 714675 h 1882774"/>
                <a:gd name="connsiteX250" fmla="*/ 262360 w 1885950"/>
                <a:gd name="connsiteY250" fmla="*/ 717851 h 1882774"/>
                <a:gd name="connsiteX251" fmla="*/ 267123 w 1885950"/>
                <a:gd name="connsiteY251" fmla="*/ 720234 h 1882774"/>
                <a:gd name="connsiteX252" fmla="*/ 272679 w 1885950"/>
                <a:gd name="connsiteY252" fmla="*/ 720234 h 1882774"/>
                <a:gd name="connsiteX253" fmla="*/ 277442 w 1885950"/>
                <a:gd name="connsiteY253" fmla="*/ 720234 h 1882774"/>
                <a:gd name="connsiteX254" fmla="*/ 278715 w 1885950"/>
                <a:gd name="connsiteY254" fmla="*/ 720022 h 1882774"/>
                <a:gd name="connsiteX255" fmla="*/ 279283 w 1885950"/>
                <a:gd name="connsiteY255" fmla="*/ 720235 h 1882774"/>
                <a:gd name="connsiteX256" fmla="*/ 284043 w 1885950"/>
                <a:gd name="connsiteY256" fmla="*/ 720235 h 1882774"/>
                <a:gd name="connsiteX257" fmla="*/ 289597 w 1885950"/>
                <a:gd name="connsiteY257" fmla="*/ 720235 h 1882774"/>
                <a:gd name="connsiteX258" fmla="*/ 294358 w 1885950"/>
                <a:gd name="connsiteY258" fmla="*/ 719441 h 1882774"/>
                <a:gd name="connsiteX259" fmla="*/ 299118 w 1885950"/>
                <a:gd name="connsiteY259" fmla="*/ 717059 h 1882774"/>
                <a:gd name="connsiteX260" fmla="*/ 303085 w 1885950"/>
                <a:gd name="connsiteY260" fmla="*/ 713088 h 1882774"/>
                <a:gd name="connsiteX261" fmla="*/ 306259 w 1885950"/>
                <a:gd name="connsiteY261" fmla="*/ 708324 h 1882774"/>
                <a:gd name="connsiteX262" fmla="*/ 308639 w 1885950"/>
                <a:gd name="connsiteY262" fmla="*/ 703559 h 1882774"/>
                <a:gd name="connsiteX263" fmla="*/ 311019 w 1885950"/>
                <a:gd name="connsiteY263" fmla="*/ 696413 h 1882774"/>
                <a:gd name="connsiteX264" fmla="*/ 311813 w 1885950"/>
                <a:gd name="connsiteY264" fmla="*/ 688472 h 1882774"/>
                <a:gd name="connsiteX265" fmla="*/ 313400 w 1885950"/>
                <a:gd name="connsiteY265" fmla="*/ 678943 h 1882774"/>
                <a:gd name="connsiteX266" fmla="*/ 313400 w 1885950"/>
                <a:gd name="connsiteY266" fmla="*/ 0 h 1882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1885950" h="1882774">
                  <a:moveTo>
                    <a:pt x="313400" y="0"/>
                  </a:moveTo>
                  <a:lnTo>
                    <a:pt x="1885950" y="0"/>
                  </a:lnTo>
                  <a:lnTo>
                    <a:pt x="1885950" y="710706"/>
                  </a:lnTo>
                  <a:lnTo>
                    <a:pt x="1880396" y="717059"/>
                  </a:lnTo>
                  <a:lnTo>
                    <a:pt x="1874049" y="720235"/>
                  </a:lnTo>
                  <a:lnTo>
                    <a:pt x="1868553" y="721457"/>
                  </a:lnTo>
                  <a:lnTo>
                    <a:pt x="1865562" y="720335"/>
                  </a:lnTo>
                  <a:lnTo>
                    <a:pt x="1860802" y="717158"/>
                  </a:lnTo>
                  <a:lnTo>
                    <a:pt x="1855248" y="712394"/>
                  </a:lnTo>
                  <a:lnTo>
                    <a:pt x="1850487" y="706041"/>
                  </a:lnTo>
                  <a:lnTo>
                    <a:pt x="1845727" y="698895"/>
                  </a:lnTo>
                  <a:lnTo>
                    <a:pt x="1840966" y="690954"/>
                  </a:lnTo>
                  <a:lnTo>
                    <a:pt x="1834619" y="681425"/>
                  </a:lnTo>
                  <a:lnTo>
                    <a:pt x="1827478" y="671102"/>
                  </a:lnTo>
                  <a:lnTo>
                    <a:pt x="1817164" y="659190"/>
                  </a:lnTo>
                  <a:lnTo>
                    <a:pt x="1810023" y="652838"/>
                  </a:lnTo>
                  <a:lnTo>
                    <a:pt x="1802883" y="647279"/>
                  </a:lnTo>
                  <a:lnTo>
                    <a:pt x="1794155" y="642514"/>
                  </a:lnTo>
                  <a:lnTo>
                    <a:pt x="1784634" y="637750"/>
                  </a:lnTo>
                  <a:lnTo>
                    <a:pt x="1774320" y="632985"/>
                  </a:lnTo>
                  <a:lnTo>
                    <a:pt x="1764005" y="630603"/>
                  </a:lnTo>
                  <a:lnTo>
                    <a:pt x="1752466" y="628294"/>
                  </a:lnTo>
                  <a:lnTo>
                    <a:pt x="1751863" y="628121"/>
                  </a:lnTo>
                  <a:lnTo>
                    <a:pt x="1739962" y="625739"/>
                  </a:lnTo>
                  <a:lnTo>
                    <a:pt x="1727267" y="625739"/>
                  </a:lnTo>
                  <a:lnTo>
                    <a:pt x="1711399" y="625739"/>
                  </a:lnTo>
                  <a:lnTo>
                    <a:pt x="1697117" y="628915"/>
                  </a:lnTo>
                  <a:lnTo>
                    <a:pt x="1682836" y="632886"/>
                  </a:lnTo>
                  <a:lnTo>
                    <a:pt x="1670141" y="640032"/>
                  </a:lnTo>
                  <a:lnTo>
                    <a:pt x="1657446" y="647179"/>
                  </a:lnTo>
                  <a:lnTo>
                    <a:pt x="1645545" y="656708"/>
                  </a:lnTo>
                  <a:lnTo>
                    <a:pt x="1634437" y="667031"/>
                  </a:lnTo>
                  <a:lnTo>
                    <a:pt x="1624123" y="678943"/>
                  </a:lnTo>
                  <a:lnTo>
                    <a:pt x="1614602" y="690854"/>
                  </a:lnTo>
                  <a:lnTo>
                    <a:pt x="1605874" y="705147"/>
                  </a:lnTo>
                  <a:lnTo>
                    <a:pt x="1598734" y="720235"/>
                  </a:lnTo>
                  <a:lnTo>
                    <a:pt x="1591593" y="736117"/>
                  </a:lnTo>
                  <a:lnTo>
                    <a:pt x="1586832" y="752793"/>
                  </a:lnTo>
                  <a:lnTo>
                    <a:pt x="1583659" y="770262"/>
                  </a:lnTo>
                  <a:lnTo>
                    <a:pt x="1581278" y="788526"/>
                  </a:lnTo>
                  <a:lnTo>
                    <a:pt x="1581278" y="806790"/>
                  </a:lnTo>
                  <a:lnTo>
                    <a:pt x="1581278" y="825848"/>
                  </a:lnTo>
                  <a:lnTo>
                    <a:pt x="1583659" y="844112"/>
                  </a:lnTo>
                  <a:lnTo>
                    <a:pt x="1586832" y="861582"/>
                  </a:lnTo>
                  <a:lnTo>
                    <a:pt x="1591593" y="878258"/>
                  </a:lnTo>
                  <a:lnTo>
                    <a:pt x="1598734" y="894140"/>
                  </a:lnTo>
                  <a:lnTo>
                    <a:pt x="1605874" y="909227"/>
                  </a:lnTo>
                  <a:lnTo>
                    <a:pt x="1614602" y="923521"/>
                  </a:lnTo>
                  <a:lnTo>
                    <a:pt x="1624123" y="936226"/>
                  </a:lnTo>
                  <a:lnTo>
                    <a:pt x="1634437" y="947343"/>
                  </a:lnTo>
                  <a:lnTo>
                    <a:pt x="1645545" y="957666"/>
                  </a:lnTo>
                  <a:lnTo>
                    <a:pt x="1657446" y="967195"/>
                  </a:lnTo>
                  <a:lnTo>
                    <a:pt x="1670141" y="974342"/>
                  </a:lnTo>
                  <a:lnTo>
                    <a:pt x="1682836" y="981489"/>
                  </a:lnTo>
                  <a:lnTo>
                    <a:pt x="1697117" y="985459"/>
                  </a:lnTo>
                  <a:lnTo>
                    <a:pt x="1711399" y="988636"/>
                  </a:lnTo>
                  <a:lnTo>
                    <a:pt x="1713425" y="988636"/>
                  </a:lnTo>
                  <a:lnTo>
                    <a:pt x="1723541" y="990324"/>
                  </a:lnTo>
                  <a:lnTo>
                    <a:pt x="1738616" y="991118"/>
                  </a:lnTo>
                  <a:lnTo>
                    <a:pt x="1752104" y="991118"/>
                  </a:lnTo>
                  <a:lnTo>
                    <a:pt x="1764005" y="988735"/>
                  </a:lnTo>
                  <a:lnTo>
                    <a:pt x="1774320" y="985559"/>
                  </a:lnTo>
                  <a:lnTo>
                    <a:pt x="1784634" y="981589"/>
                  </a:lnTo>
                  <a:lnTo>
                    <a:pt x="1794155" y="976824"/>
                  </a:lnTo>
                  <a:lnTo>
                    <a:pt x="1802883" y="971266"/>
                  </a:lnTo>
                  <a:lnTo>
                    <a:pt x="1810023" y="964913"/>
                  </a:lnTo>
                  <a:lnTo>
                    <a:pt x="1817164" y="959354"/>
                  </a:lnTo>
                  <a:lnTo>
                    <a:pt x="1827478" y="947443"/>
                  </a:lnTo>
                  <a:lnTo>
                    <a:pt x="1834619" y="937914"/>
                  </a:lnTo>
                  <a:lnTo>
                    <a:pt x="1840966" y="926797"/>
                  </a:lnTo>
                  <a:lnTo>
                    <a:pt x="1845727" y="919650"/>
                  </a:lnTo>
                  <a:lnTo>
                    <a:pt x="1850487" y="913297"/>
                  </a:lnTo>
                  <a:lnTo>
                    <a:pt x="1855248" y="906945"/>
                  </a:lnTo>
                  <a:lnTo>
                    <a:pt x="1860802" y="902180"/>
                  </a:lnTo>
                  <a:lnTo>
                    <a:pt x="1865562" y="899004"/>
                  </a:lnTo>
                  <a:lnTo>
                    <a:pt x="1871910" y="896622"/>
                  </a:lnTo>
                  <a:lnTo>
                    <a:pt x="1876169" y="895201"/>
                  </a:lnTo>
                  <a:lnTo>
                    <a:pt x="1880396" y="897316"/>
                  </a:lnTo>
                  <a:lnTo>
                    <a:pt x="1885950" y="903669"/>
                  </a:lnTo>
                  <a:lnTo>
                    <a:pt x="1885950" y="1569112"/>
                  </a:lnTo>
                  <a:lnTo>
                    <a:pt x="1877708" y="1569112"/>
                  </a:lnTo>
                  <a:lnTo>
                    <a:pt x="1877708" y="1568449"/>
                  </a:lnTo>
                  <a:lnTo>
                    <a:pt x="1242143" y="1568449"/>
                  </a:lnTo>
                  <a:lnTo>
                    <a:pt x="1232622" y="1569243"/>
                  </a:lnTo>
                  <a:lnTo>
                    <a:pt x="1223893" y="1570830"/>
                  </a:lnTo>
                  <a:lnTo>
                    <a:pt x="1216752" y="1573212"/>
                  </a:lnTo>
                  <a:lnTo>
                    <a:pt x="1211992" y="1575593"/>
                  </a:lnTo>
                  <a:lnTo>
                    <a:pt x="1207231" y="1578768"/>
                  </a:lnTo>
                  <a:lnTo>
                    <a:pt x="1204057" y="1582737"/>
                  </a:lnTo>
                  <a:lnTo>
                    <a:pt x="1201676" y="1587499"/>
                  </a:lnTo>
                  <a:lnTo>
                    <a:pt x="1200090" y="1592262"/>
                  </a:lnTo>
                  <a:lnTo>
                    <a:pt x="1200090" y="1597818"/>
                  </a:lnTo>
                  <a:lnTo>
                    <a:pt x="1201676" y="1602580"/>
                  </a:lnTo>
                  <a:lnTo>
                    <a:pt x="1202470" y="1608137"/>
                  </a:lnTo>
                  <a:lnTo>
                    <a:pt x="1206437" y="1612899"/>
                  </a:lnTo>
                  <a:lnTo>
                    <a:pt x="1211198" y="1619249"/>
                  </a:lnTo>
                  <a:lnTo>
                    <a:pt x="1216752" y="1624012"/>
                  </a:lnTo>
                  <a:lnTo>
                    <a:pt x="1223893" y="1628774"/>
                  </a:lnTo>
                  <a:lnTo>
                    <a:pt x="1232622" y="1633537"/>
                  </a:lnTo>
                  <a:lnTo>
                    <a:pt x="1242143" y="1639093"/>
                  </a:lnTo>
                  <a:lnTo>
                    <a:pt x="1252458" y="1646237"/>
                  </a:lnTo>
                  <a:lnTo>
                    <a:pt x="1264360" y="1657349"/>
                  </a:lnTo>
                  <a:lnTo>
                    <a:pt x="1270708" y="1664493"/>
                  </a:lnTo>
                  <a:lnTo>
                    <a:pt x="1276262" y="1671637"/>
                  </a:lnTo>
                  <a:lnTo>
                    <a:pt x="1281023" y="1679574"/>
                  </a:lnTo>
                  <a:lnTo>
                    <a:pt x="1285784" y="1689099"/>
                  </a:lnTo>
                  <a:lnTo>
                    <a:pt x="1290544" y="1700212"/>
                  </a:lnTo>
                  <a:lnTo>
                    <a:pt x="1292925" y="1710530"/>
                  </a:lnTo>
                  <a:lnTo>
                    <a:pt x="1295305" y="1722437"/>
                  </a:lnTo>
                  <a:lnTo>
                    <a:pt x="1296892" y="1735137"/>
                  </a:lnTo>
                  <a:lnTo>
                    <a:pt x="1295305" y="1751012"/>
                  </a:lnTo>
                  <a:lnTo>
                    <a:pt x="1292925" y="1765299"/>
                  </a:lnTo>
                  <a:lnTo>
                    <a:pt x="1288164" y="1779587"/>
                  </a:lnTo>
                  <a:lnTo>
                    <a:pt x="1282610" y="1792287"/>
                  </a:lnTo>
                  <a:lnTo>
                    <a:pt x="1273882" y="1805780"/>
                  </a:lnTo>
                  <a:lnTo>
                    <a:pt x="1265947" y="1817687"/>
                  </a:lnTo>
                  <a:lnTo>
                    <a:pt x="1254839" y="1829593"/>
                  </a:lnTo>
                  <a:lnTo>
                    <a:pt x="1242937" y="1838324"/>
                  </a:lnTo>
                  <a:lnTo>
                    <a:pt x="1230241" y="1847849"/>
                  </a:lnTo>
                  <a:lnTo>
                    <a:pt x="1215959" y="1856580"/>
                  </a:lnTo>
                  <a:lnTo>
                    <a:pt x="1200090" y="1864518"/>
                  </a:lnTo>
                  <a:lnTo>
                    <a:pt x="1185014" y="1870868"/>
                  </a:lnTo>
                  <a:lnTo>
                    <a:pt x="1168351" y="1875630"/>
                  </a:lnTo>
                  <a:lnTo>
                    <a:pt x="1150895" y="1878805"/>
                  </a:lnTo>
                  <a:lnTo>
                    <a:pt x="1132645" y="1881187"/>
                  </a:lnTo>
                  <a:lnTo>
                    <a:pt x="1113602" y="1882774"/>
                  </a:lnTo>
                  <a:lnTo>
                    <a:pt x="1096146" y="1881187"/>
                  </a:lnTo>
                  <a:lnTo>
                    <a:pt x="1080010" y="1879169"/>
                  </a:lnTo>
                  <a:lnTo>
                    <a:pt x="1067938" y="1876423"/>
                  </a:lnTo>
                  <a:lnTo>
                    <a:pt x="1051276" y="1871658"/>
                  </a:lnTo>
                  <a:lnTo>
                    <a:pt x="1035408" y="1864511"/>
                  </a:lnTo>
                  <a:lnTo>
                    <a:pt x="1020333" y="1857364"/>
                  </a:lnTo>
                  <a:lnTo>
                    <a:pt x="1006052" y="1849424"/>
                  </a:lnTo>
                  <a:lnTo>
                    <a:pt x="994151" y="1839895"/>
                  </a:lnTo>
                  <a:lnTo>
                    <a:pt x="982249" y="1829572"/>
                  </a:lnTo>
                  <a:lnTo>
                    <a:pt x="971935" y="1818454"/>
                  </a:lnTo>
                  <a:lnTo>
                    <a:pt x="962414" y="1806543"/>
                  </a:lnTo>
                  <a:lnTo>
                    <a:pt x="955273" y="1793838"/>
                  </a:lnTo>
                  <a:lnTo>
                    <a:pt x="948926" y="1780338"/>
                  </a:lnTo>
                  <a:lnTo>
                    <a:pt x="944165" y="1766045"/>
                  </a:lnTo>
                  <a:lnTo>
                    <a:pt x="940992" y="1751751"/>
                  </a:lnTo>
                  <a:lnTo>
                    <a:pt x="940992" y="1736664"/>
                  </a:lnTo>
                  <a:lnTo>
                    <a:pt x="940992" y="1723958"/>
                  </a:lnTo>
                  <a:lnTo>
                    <a:pt x="943372" y="1712047"/>
                  </a:lnTo>
                  <a:lnTo>
                    <a:pt x="946546" y="1700136"/>
                  </a:lnTo>
                  <a:lnTo>
                    <a:pt x="950513" y="1690607"/>
                  </a:lnTo>
                  <a:lnTo>
                    <a:pt x="955273" y="1681078"/>
                  </a:lnTo>
                  <a:lnTo>
                    <a:pt x="960827" y="1672343"/>
                  </a:lnTo>
                  <a:lnTo>
                    <a:pt x="965588" y="1665196"/>
                  </a:lnTo>
                  <a:lnTo>
                    <a:pt x="971935" y="1658049"/>
                  </a:lnTo>
                  <a:lnTo>
                    <a:pt x="983043" y="1647726"/>
                  </a:lnTo>
                  <a:lnTo>
                    <a:pt x="994151" y="1638991"/>
                  </a:lnTo>
                  <a:lnTo>
                    <a:pt x="1003672" y="1633433"/>
                  </a:lnTo>
                  <a:lnTo>
                    <a:pt x="1011606" y="1629462"/>
                  </a:lnTo>
                  <a:lnTo>
                    <a:pt x="1018746" y="1624698"/>
                  </a:lnTo>
                  <a:lnTo>
                    <a:pt x="1025094" y="1619933"/>
                  </a:lnTo>
                  <a:lnTo>
                    <a:pt x="1029854" y="1614375"/>
                  </a:lnTo>
                  <a:lnTo>
                    <a:pt x="1033028" y="1609610"/>
                  </a:lnTo>
                  <a:lnTo>
                    <a:pt x="1035408" y="1604051"/>
                  </a:lnTo>
                  <a:lnTo>
                    <a:pt x="1036995" y="1599287"/>
                  </a:lnTo>
                  <a:lnTo>
                    <a:pt x="1036995" y="1592934"/>
                  </a:lnTo>
                  <a:lnTo>
                    <a:pt x="1035408" y="1588170"/>
                  </a:lnTo>
                  <a:lnTo>
                    <a:pt x="1033028" y="1584993"/>
                  </a:lnTo>
                  <a:lnTo>
                    <a:pt x="1029854" y="1580229"/>
                  </a:lnTo>
                  <a:lnTo>
                    <a:pt x="1025094" y="1576258"/>
                  </a:lnTo>
                  <a:lnTo>
                    <a:pt x="1020333" y="1573876"/>
                  </a:lnTo>
                  <a:lnTo>
                    <a:pt x="1013193" y="1571494"/>
                  </a:lnTo>
                  <a:lnTo>
                    <a:pt x="1004465" y="1570700"/>
                  </a:lnTo>
                  <a:lnTo>
                    <a:pt x="996531" y="1569112"/>
                  </a:lnTo>
                  <a:lnTo>
                    <a:pt x="994032" y="1569121"/>
                  </a:lnTo>
                  <a:lnTo>
                    <a:pt x="986648" y="1568449"/>
                  </a:lnTo>
                  <a:lnTo>
                    <a:pt x="313400" y="1568449"/>
                  </a:lnTo>
                  <a:lnTo>
                    <a:pt x="313400" y="933844"/>
                  </a:lnTo>
                  <a:lnTo>
                    <a:pt x="311813" y="925903"/>
                  </a:lnTo>
                  <a:lnTo>
                    <a:pt x="311019" y="917168"/>
                  </a:lnTo>
                  <a:lnTo>
                    <a:pt x="308639" y="910815"/>
                  </a:lnTo>
                  <a:lnTo>
                    <a:pt x="306259" y="904463"/>
                  </a:lnTo>
                  <a:lnTo>
                    <a:pt x="303085" y="899698"/>
                  </a:lnTo>
                  <a:lnTo>
                    <a:pt x="299118" y="896522"/>
                  </a:lnTo>
                  <a:lnTo>
                    <a:pt x="294358" y="894140"/>
                  </a:lnTo>
                  <a:lnTo>
                    <a:pt x="289597" y="892551"/>
                  </a:lnTo>
                  <a:lnTo>
                    <a:pt x="284043" y="892551"/>
                  </a:lnTo>
                  <a:lnTo>
                    <a:pt x="280746" y="893652"/>
                  </a:lnTo>
                  <a:lnTo>
                    <a:pt x="277442" y="892550"/>
                  </a:lnTo>
                  <a:lnTo>
                    <a:pt x="272679" y="892550"/>
                  </a:lnTo>
                  <a:lnTo>
                    <a:pt x="267123" y="894138"/>
                  </a:lnTo>
                  <a:lnTo>
                    <a:pt x="262360" y="896520"/>
                  </a:lnTo>
                  <a:lnTo>
                    <a:pt x="256010" y="899697"/>
                  </a:lnTo>
                  <a:lnTo>
                    <a:pt x="251248" y="904461"/>
                  </a:lnTo>
                  <a:lnTo>
                    <a:pt x="245692" y="910814"/>
                  </a:lnTo>
                  <a:lnTo>
                    <a:pt x="240929" y="917166"/>
                  </a:lnTo>
                  <a:lnTo>
                    <a:pt x="236167" y="924313"/>
                  </a:lnTo>
                  <a:lnTo>
                    <a:pt x="229817" y="935430"/>
                  </a:lnTo>
                  <a:lnTo>
                    <a:pt x="222673" y="944959"/>
                  </a:lnTo>
                  <a:lnTo>
                    <a:pt x="212354" y="956871"/>
                  </a:lnTo>
                  <a:lnTo>
                    <a:pt x="205210" y="962429"/>
                  </a:lnTo>
                  <a:lnTo>
                    <a:pt x="198067" y="968782"/>
                  </a:lnTo>
                  <a:lnTo>
                    <a:pt x="189335" y="974340"/>
                  </a:lnTo>
                  <a:lnTo>
                    <a:pt x="180604" y="979105"/>
                  </a:lnTo>
                  <a:lnTo>
                    <a:pt x="169492" y="983075"/>
                  </a:lnTo>
                  <a:lnTo>
                    <a:pt x="159173" y="986252"/>
                  </a:lnTo>
                  <a:lnTo>
                    <a:pt x="147267" y="988634"/>
                  </a:lnTo>
                  <a:lnTo>
                    <a:pt x="145951" y="988634"/>
                  </a:lnTo>
                  <a:lnTo>
                    <a:pt x="130914" y="987842"/>
                  </a:lnTo>
                  <a:lnTo>
                    <a:pt x="116632" y="985459"/>
                  </a:lnTo>
                  <a:lnTo>
                    <a:pt x="102351" y="980695"/>
                  </a:lnTo>
                  <a:lnTo>
                    <a:pt x="88863" y="974342"/>
                  </a:lnTo>
                  <a:lnTo>
                    <a:pt x="76168" y="967195"/>
                  </a:lnTo>
                  <a:lnTo>
                    <a:pt x="64267" y="957666"/>
                  </a:lnTo>
                  <a:lnTo>
                    <a:pt x="52366" y="947343"/>
                  </a:lnTo>
                  <a:lnTo>
                    <a:pt x="42845" y="935432"/>
                  </a:lnTo>
                  <a:lnTo>
                    <a:pt x="33324" y="921933"/>
                  </a:lnTo>
                  <a:lnTo>
                    <a:pt x="25389" y="909227"/>
                  </a:lnTo>
                  <a:lnTo>
                    <a:pt x="16662" y="894140"/>
                  </a:lnTo>
                  <a:lnTo>
                    <a:pt x="11108" y="877464"/>
                  </a:lnTo>
                  <a:lnTo>
                    <a:pt x="6347" y="860788"/>
                  </a:lnTo>
                  <a:lnTo>
                    <a:pt x="2380" y="844112"/>
                  </a:lnTo>
                  <a:lnTo>
                    <a:pt x="0" y="825054"/>
                  </a:lnTo>
                  <a:lnTo>
                    <a:pt x="0" y="806790"/>
                  </a:lnTo>
                  <a:lnTo>
                    <a:pt x="0" y="788526"/>
                  </a:lnTo>
                  <a:lnTo>
                    <a:pt x="2380" y="770262"/>
                  </a:lnTo>
                  <a:lnTo>
                    <a:pt x="6347" y="752793"/>
                  </a:lnTo>
                  <a:lnTo>
                    <a:pt x="11108" y="736117"/>
                  </a:lnTo>
                  <a:lnTo>
                    <a:pt x="16662" y="720235"/>
                  </a:lnTo>
                  <a:lnTo>
                    <a:pt x="25389" y="705147"/>
                  </a:lnTo>
                  <a:lnTo>
                    <a:pt x="33324" y="690854"/>
                  </a:lnTo>
                  <a:lnTo>
                    <a:pt x="42845" y="678149"/>
                  </a:lnTo>
                  <a:lnTo>
                    <a:pt x="52366" y="666237"/>
                  </a:lnTo>
                  <a:lnTo>
                    <a:pt x="64267" y="655120"/>
                  </a:lnTo>
                  <a:lnTo>
                    <a:pt x="76168" y="647179"/>
                  </a:lnTo>
                  <a:lnTo>
                    <a:pt x="88863" y="638444"/>
                  </a:lnTo>
                  <a:lnTo>
                    <a:pt x="102351" y="632886"/>
                  </a:lnTo>
                  <a:lnTo>
                    <a:pt x="116632" y="628121"/>
                  </a:lnTo>
                  <a:lnTo>
                    <a:pt x="130914" y="625739"/>
                  </a:lnTo>
                  <a:lnTo>
                    <a:pt x="139550" y="624829"/>
                  </a:lnTo>
                  <a:lnTo>
                    <a:pt x="147267" y="625738"/>
                  </a:lnTo>
                  <a:lnTo>
                    <a:pt x="159173" y="628120"/>
                  </a:lnTo>
                  <a:lnTo>
                    <a:pt x="169492" y="630502"/>
                  </a:lnTo>
                  <a:lnTo>
                    <a:pt x="180604" y="635267"/>
                  </a:lnTo>
                  <a:lnTo>
                    <a:pt x="189335" y="640031"/>
                  </a:lnTo>
                  <a:lnTo>
                    <a:pt x="198067" y="644796"/>
                  </a:lnTo>
                  <a:lnTo>
                    <a:pt x="205210" y="650354"/>
                  </a:lnTo>
                  <a:lnTo>
                    <a:pt x="212354" y="656707"/>
                  </a:lnTo>
                  <a:lnTo>
                    <a:pt x="222673" y="668618"/>
                  </a:lnTo>
                  <a:lnTo>
                    <a:pt x="229817" y="678941"/>
                  </a:lnTo>
                  <a:lnTo>
                    <a:pt x="236167" y="688470"/>
                  </a:lnTo>
                  <a:lnTo>
                    <a:pt x="240929" y="696411"/>
                  </a:lnTo>
                  <a:lnTo>
                    <a:pt x="245692" y="703558"/>
                  </a:lnTo>
                  <a:lnTo>
                    <a:pt x="251248" y="709910"/>
                  </a:lnTo>
                  <a:lnTo>
                    <a:pt x="256010" y="714675"/>
                  </a:lnTo>
                  <a:lnTo>
                    <a:pt x="262360" y="717851"/>
                  </a:lnTo>
                  <a:lnTo>
                    <a:pt x="267123" y="720234"/>
                  </a:lnTo>
                  <a:lnTo>
                    <a:pt x="272679" y="720234"/>
                  </a:lnTo>
                  <a:lnTo>
                    <a:pt x="277442" y="720234"/>
                  </a:lnTo>
                  <a:lnTo>
                    <a:pt x="278715" y="720022"/>
                  </a:lnTo>
                  <a:lnTo>
                    <a:pt x="279283" y="720235"/>
                  </a:lnTo>
                  <a:lnTo>
                    <a:pt x="284043" y="720235"/>
                  </a:lnTo>
                  <a:lnTo>
                    <a:pt x="289597" y="720235"/>
                  </a:lnTo>
                  <a:lnTo>
                    <a:pt x="294358" y="719441"/>
                  </a:lnTo>
                  <a:lnTo>
                    <a:pt x="299118" y="717059"/>
                  </a:lnTo>
                  <a:lnTo>
                    <a:pt x="303085" y="713088"/>
                  </a:lnTo>
                  <a:lnTo>
                    <a:pt x="306259" y="708324"/>
                  </a:lnTo>
                  <a:lnTo>
                    <a:pt x="308639" y="703559"/>
                  </a:lnTo>
                  <a:lnTo>
                    <a:pt x="311019" y="696413"/>
                  </a:lnTo>
                  <a:lnTo>
                    <a:pt x="311813" y="688472"/>
                  </a:lnTo>
                  <a:lnTo>
                    <a:pt x="313400" y="678943"/>
                  </a:lnTo>
                  <a:lnTo>
                    <a:pt x="313400"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48" name="TextBox 47"/>
            <p:cNvSpPr txBox="1"/>
            <p:nvPr/>
          </p:nvSpPr>
          <p:spPr>
            <a:xfrm>
              <a:off x="3024406" y="1081407"/>
              <a:ext cx="1397006" cy="646331"/>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Financial</a:t>
              </a:r>
            </a:p>
            <a:p>
              <a:r>
                <a:rPr lang="en-IN" dirty="0">
                  <a:solidFill>
                    <a:prstClr val="white"/>
                  </a:solidFill>
                </a:rPr>
                <a:t>Wherewithal</a:t>
              </a:r>
            </a:p>
          </p:txBody>
        </p:sp>
      </p:grpSp>
      <p:grpSp>
        <p:nvGrpSpPr>
          <p:cNvPr id="57" name="Group 56"/>
          <p:cNvGrpSpPr/>
          <p:nvPr/>
        </p:nvGrpSpPr>
        <p:grpSpPr>
          <a:xfrm>
            <a:off x="3583611" y="1357742"/>
            <a:ext cx="1885950" cy="1880292"/>
            <a:chOff x="4293281" y="1085799"/>
            <a:chExt cx="1885950" cy="1880292"/>
          </a:xfrm>
        </p:grpSpPr>
        <p:pic>
          <p:nvPicPr>
            <p:cNvPr id="37" name="Picture 36"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45357" t="120" r="24791" b="60040"/>
            <a:stretch>
              <a:fillRect/>
            </a:stretch>
          </p:blipFill>
          <p:spPr bwMode="auto">
            <a:xfrm>
              <a:off x="4293281" y="1085799"/>
              <a:ext cx="1885950" cy="1880292"/>
            </a:xfrm>
            <a:custGeom>
              <a:avLst/>
              <a:gdLst>
                <a:gd name="connsiteX0" fmla="*/ 313400 w 1885950"/>
                <a:gd name="connsiteY0" fmla="*/ 0 h 1880292"/>
                <a:gd name="connsiteX1" fmla="*/ 1885950 w 1885950"/>
                <a:gd name="connsiteY1" fmla="*/ 0 h 1880292"/>
                <a:gd name="connsiteX2" fmla="*/ 1885950 w 1885950"/>
                <a:gd name="connsiteY2" fmla="*/ 710706 h 1880292"/>
                <a:gd name="connsiteX3" fmla="*/ 1880396 w 1885950"/>
                <a:gd name="connsiteY3" fmla="*/ 717059 h 1880292"/>
                <a:gd name="connsiteX4" fmla="*/ 1875716 w 1885950"/>
                <a:gd name="connsiteY4" fmla="*/ 719401 h 1880292"/>
                <a:gd name="connsiteX5" fmla="*/ 1871452 w 1885950"/>
                <a:gd name="connsiteY5" fmla="*/ 719401 h 1880292"/>
                <a:gd name="connsiteX6" fmla="*/ 1866688 w 1885950"/>
                <a:gd name="connsiteY6" fmla="*/ 717813 h 1880292"/>
                <a:gd name="connsiteX7" fmla="*/ 1861129 w 1885950"/>
                <a:gd name="connsiteY7" fmla="*/ 715430 h 1880292"/>
                <a:gd name="connsiteX8" fmla="*/ 1856365 w 1885950"/>
                <a:gd name="connsiteY8" fmla="*/ 712254 h 1880292"/>
                <a:gd name="connsiteX9" fmla="*/ 1850012 w 1885950"/>
                <a:gd name="connsiteY9" fmla="*/ 707489 h 1880292"/>
                <a:gd name="connsiteX10" fmla="*/ 1845248 w 1885950"/>
                <a:gd name="connsiteY10" fmla="*/ 701136 h 1880292"/>
                <a:gd name="connsiteX11" fmla="*/ 1840483 w 1885950"/>
                <a:gd name="connsiteY11" fmla="*/ 693988 h 1880292"/>
                <a:gd name="connsiteX12" fmla="*/ 1835719 w 1885950"/>
                <a:gd name="connsiteY12" fmla="*/ 686047 h 1880292"/>
                <a:gd name="connsiteX13" fmla="*/ 1830160 w 1885950"/>
                <a:gd name="connsiteY13" fmla="*/ 676517 h 1880292"/>
                <a:gd name="connsiteX14" fmla="*/ 1823013 w 1885950"/>
                <a:gd name="connsiteY14" fmla="*/ 666193 h 1880292"/>
                <a:gd name="connsiteX15" fmla="*/ 1811102 w 1885950"/>
                <a:gd name="connsiteY15" fmla="*/ 654281 h 1880292"/>
                <a:gd name="connsiteX16" fmla="*/ 1804749 w 1885950"/>
                <a:gd name="connsiteY16" fmla="*/ 647928 h 1880292"/>
                <a:gd name="connsiteX17" fmla="*/ 1796808 w 1885950"/>
                <a:gd name="connsiteY17" fmla="*/ 643163 h 1880292"/>
                <a:gd name="connsiteX18" fmla="*/ 1788074 w 1885950"/>
                <a:gd name="connsiteY18" fmla="*/ 637604 h 1880292"/>
                <a:gd name="connsiteX19" fmla="*/ 1779339 w 1885950"/>
                <a:gd name="connsiteY19" fmla="*/ 632839 h 1880292"/>
                <a:gd name="connsiteX20" fmla="*/ 1769810 w 1885950"/>
                <a:gd name="connsiteY20" fmla="*/ 628868 h 1880292"/>
                <a:gd name="connsiteX21" fmla="*/ 1758692 w 1885950"/>
                <a:gd name="connsiteY21" fmla="*/ 625691 h 1880292"/>
                <a:gd name="connsiteX22" fmla="*/ 1745987 w 1885950"/>
                <a:gd name="connsiteY22" fmla="*/ 623309 h 1880292"/>
                <a:gd name="connsiteX23" fmla="*/ 1732488 w 1885950"/>
                <a:gd name="connsiteY23" fmla="*/ 623309 h 1880292"/>
                <a:gd name="connsiteX24" fmla="*/ 1718194 w 1885950"/>
                <a:gd name="connsiteY24" fmla="*/ 623309 h 1880292"/>
                <a:gd name="connsiteX25" fmla="*/ 1703901 w 1885950"/>
                <a:gd name="connsiteY25" fmla="*/ 626485 h 1880292"/>
                <a:gd name="connsiteX26" fmla="*/ 1689607 w 1885950"/>
                <a:gd name="connsiteY26" fmla="*/ 630456 h 1880292"/>
                <a:gd name="connsiteX27" fmla="*/ 1687143 w 1885950"/>
                <a:gd name="connsiteY27" fmla="*/ 631689 h 1880292"/>
                <a:gd name="connsiteX28" fmla="*/ 1682836 w 1885950"/>
                <a:gd name="connsiteY28" fmla="*/ 632886 h 1880292"/>
                <a:gd name="connsiteX29" fmla="*/ 1670141 w 1885950"/>
                <a:gd name="connsiteY29" fmla="*/ 640032 h 1880292"/>
                <a:gd name="connsiteX30" fmla="*/ 1657446 w 1885950"/>
                <a:gd name="connsiteY30" fmla="*/ 647179 h 1880292"/>
                <a:gd name="connsiteX31" fmla="*/ 1645545 w 1885950"/>
                <a:gd name="connsiteY31" fmla="*/ 656708 h 1880292"/>
                <a:gd name="connsiteX32" fmla="*/ 1634437 w 1885950"/>
                <a:gd name="connsiteY32" fmla="*/ 667031 h 1880292"/>
                <a:gd name="connsiteX33" fmla="*/ 1624123 w 1885950"/>
                <a:gd name="connsiteY33" fmla="*/ 678943 h 1880292"/>
                <a:gd name="connsiteX34" fmla="*/ 1614602 w 1885950"/>
                <a:gd name="connsiteY34" fmla="*/ 690854 h 1880292"/>
                <a:gd name="connsiteX35" fmla="*/ 1605874 w 1885950"/>
                <a:gd name="connsiteY35" fmla="*/ 705147 h 1880292"/>
                <a:gd name="connsiteX36" fmla="*/ 1598734 w 1885950"/>
                <a:gd name="connsiteY36" fmla="*/ 720235 h 1880292"/>
                <a:gd name="connsiteX37" fmla="*/ 1591593 w 1885950"/>
                <a:gd name="connsiteY37" fmla="*/ 736117 h 1880292"/>
                <a:gd name="connsiteX38" fmla="*/ 1586832 w 1885950"/>
                <a:gd name="connsiteY38" fmla="*/ 752793 h 1880292"/>
                <a:gd name="connsiteX39" fmla="*/ 1583659 w 1885950"/>
                <a:gd name="connsiteY39" fmla="*/ 770262 h 1880292"/>
                <a:gd name="connsiteX40" fmla="*/ 1581278 w 1885950"/>
                <a:gd name="connsiteY40" fmla="*/ 788526 h 1880292"/>
                <a:gd name="connsiteX41" fmla="*/ 1581278 w 1885950"/>
                <a:gd name="connsiteY41" fmla="*/ 806790 h 1880292"/>
                <a:gd name="connsiteX42" fmla="*/ 1581278 w 1885950"/>
                <a:gd name="connsiteY42" fmla="*/ 825848 h 1880292"/>
                <a:gd name="connsiteX43" fmla="*/ 1583659 w 1885950"/>
                <a:gd name="connsiteY43" fmla="*/ 844112 h 1880292"/>
                <a:gd name="connsiteX44" fmla="*/ 1586832 w 1885950"/>
                <a:gd name="connsiteY44" fmla="*/ 861582 h 1880292"/>
                <a:gd name="connsiteX45" fmla="*/ 1591593 w 1885950"/>
                <a:gd name="connsiteY45" fmla="*/ 878258 h 1880292"/>
                <a:gd name="connsiteX46" fmla="*/ 1598734 w 1885950"/>
                <a:gd name="connsiteY46" fmla="*/ 894140 h 1880292"/>
                <a:gd name="connsiteX47" fmla="*/ 1605874 w 1885950"/>
                <a:gd name="connsiteY47" fmla="*/ 909227 h 1880292"/>
                <a:gd name="connsiteX48" fmla="*/ 1614602 w 1885950"/>
                <a:gd name="connsiteY48" fmla="*/ 923521 h 1880292"/>
                <a:gd name="connsiteX49" fmla="*/ 1624123 w 1885950"/>
                <a:gd name="connsiteY49" fmla="*/ 936226 h 1880292"/>
                <a:gd name="connsiteX50" fmla="*/ 1634437 w 1885950"/>
                <a:gd name="connsiteY50" fmla="*/ 947343 h 1880292"/>
                <a:gd name="connsiteX51" fmla="*/ 1645545 w 1885950"/>
                <a:gd name="connsiteY51" fmla="*/ 957666 h 1880292"/>
                <a:gd name="connsiteX52" fmla="*/ 1657446 w 1885950"/>
                <a:gd name="connsiteY52" fmla="*/ 967195 h 1880292"/>
                <a:gd name="connsiteX53" fmla="*/ 1670141 w 1885950"/>
                <a:gd name="connsiteY53" fmla="*/ 974342 h 1880292"/>
                <a:gd name="connsiteX54" fmla="*/ 1682836 w 1885950"/>
                <a:gd name="connsiteY54" fmla="*/ 981489 h 1880292"/>
                <a:gd name="connsiteX55" fmla="*/ 1697117 w 1885950"/>
                <a:gd name="connsiteY55" fmla="*/ 985459 h 1880292"/>
                <a:gd name="connsiteX56" fmla="*/ 1711399 w 1885950"/>
                <a:gd name="connsiteY56" fmla="*/ 988636 h 1880292"/>
                <a:gd name="connsiteX57" fmla="*/ 1727267 w 1885950"/>
                <a:gd name="connsiteY57" fmla="*/ 988636 h 1880292"/>
                <a:gd name="connsiteX58" fmla="*/ 1739962 w 1885950"/>
                <a:gd name="connsiteY58" fmla="*/ 988636 h 1880292"/>
                <a:gd name="connsiteX59" fmla="*/ 1751863 w 1885950"/>
                <a:gd name="connsiteY59" fmla="*/ 986253 h 1880292"/>
                <a:gd name="connsiteX60" fmla="*/ 1762971 w 1885950"/>
                <a:gd name="connsiteY60" fmla="*/ 983871 h 1880292"/>
                <a:gd name="connsiteX61" fmla="*/ 1766745 w 1885950"/>
                <a:gd name="connsiteY61" fmla="*/ 982128 h 1880292"/>
                <a:gd name="connsiteX62" fmla="*/ 1769810 w 1885950"/>
                <a:gd name="connsiteY62" fmla="*/ 981471 h 1880292"/>
                <a:gd name="connsiteX63" fmla="*/ 1779339 w 1885950"/>
                <a:gd name="connsiteY63" fmla="*/ 976706 h 1880292"/>
                <a:gd name="connsiteX64" fmla="*/ 1788074 w 1885950"/>
                <a:gd name="connsiteY64" fmla="*/ 971942 h 1880292"/>
                <a:gd name="connsiteX65" fmla="*/ 1796808 w 1885950"/>
                <a:gd name="connsiteY65" fmla="*/ 966382 h 1880292"/>
                <a:gd name="connsiteX66" fmla="*/ 1804749 w 1885950"/>
                <a:gd name="connsiteY66" fmla="*/ 961618 h 1880292"/>
                <a:gd name="connsiteX67" fmla="*/ 1811102 w 1885950"/>
                <a:gd name="connsiteY67" fmla="*/ 955264 h 1880292"/>
                <a:gd name="connsiteX68" fmla="*/ 1823013 w 1885950"/>
                <a:gd name="connsiteY68" fmla="*/ 943352 h 1880292"/>
                <a:gd name="connsiteX69" fmla="*/ 1830160 w 1885950"/>
                <a:gd name="connsiteY69" fmla="*/ 933028 h 1880292"/>
                <a:gd name="connsiteX70" fmla="*/ 1835719 w 1885950"/>
                <a:gd name="connsiteY70" fmla="*/ 923498 h 1880292"/>
                <a:gd name="connsiteX71" fmla="*/ 1840483 w 1885950"/>
                <a:gd name="connsiteY71" fmla="*/ 914763 h 1880292"/>
                <a:gd name="connsiteX72" fmla="*/ 1845248 w 1885950"/>
                <a:gd name="connsiteY72" fmla="*/ 908409 h 1880292"/>
                <a:gd name="connsiteX73" fmla="*/ 1850012 w 1885950"/>
                <a:gd name="connsiteY73" fmla="*/ 902056 h 1880292"/>
                <a:gd name="connsiteX74" fmla="*/ 1856365 w 1885950"/>
                <a:gd name="connsiteY74" fmla="*/ 897291 h 1880292"/>
                <a:gd name="connsiteX75" fmla="*/ 1860660 w 1885950"/>
                <a:gd name="connsiteY75" fmla="*/ 894428 h 1880292"/>
                <a:gd name="connsiteX76" fmla="*/ 1866908 w 1885950"/>
                <a:gd name="connsiteY76" fmla="*/ 892551 h 1880292"/>
                <a:gd name="connsiteX77" fmla="*/ 1874049 w 1885950"/>
                <a:gd name="connsiteY77" fmla="*/ 894140 h 1880292"/>
                <a:gd name="connsiteX78" fmla="*/ 1880396 w 1885950"/>
                <a:gd name="connsiteY78" fmla="*/ 897316 h 1880292"/>
                <a:gd name="connsiteX79" fmla="*/ 1885950 w 1885950"/>
                <a:gd name="connsiteY79" fmla="*/ 903669 h 1880292"/>
                <a:gd name="connsiteX80" fmla="*/ 1885950 w 1885950"/>
                <a:gd name="connsiteY80" fmla="*/ 1569112 h 1880292"/>
                <a:gd name="connsiteX81" fmla="*/ 1881385 w 1885950"/>
                <a:gd name="connsiteY81" fmla="*/ 1569112 h 1880292"/>
                <a:gd name="connsiteX82" fmla="*/ 1881385 w 1885950"/>
                <a:gd name="connsiteY82" fmla="*/ 1565967 h 1880292"/>
                <a:gd name="connsiteX83" fmla="*/ 1245820 w 1885950"/>
                <a:gd name="connsiteY83" fmla="*/ 1565967 h 1880292"/>
                <a:gd name="connsiteX84" fmla="*/ 1236299 w 1885950"/>
                <a:gd name="connsiteY84" fmla="*/ 1566761 h 1880292"/>
                <a:gd name="connsiteX85" fmla="*/ 1227570 w 1885950"/>
                <a:gd name="connsiteY85" fmla="*/ 1568348 h 1880292"/>
                <a:gd name="connsiteX86" fmla="*/ 1220429 w 1885950"/>
                <a:gd name="connsiteY86" fmla="*/ 1570730 h 1880292"/>
                <a:gd name="connsiteX87" fmla="*/ 1215669 w 1885950"/>
                <a:gd name="connsiteY87" fmla="*/ 1573111 h 1880292"/>
                <a:gd name="connsiteX88" fmla="*/ 1210908 w 1885950"/>
                <a:gd name="connsiteY88" fmla="*/ 1576286 h 1880292"/>
                <a:gd name="connsiteX89" fmla="*/ 1207734 w 1885950"/>
                <a:gd name="connsiteY89" fmla="*/ 1580255 h 1880292"/>
                <a:gd name="connsiteX90" fmla="*/ 1205353 w 1885950"/>
                <a:gd name="connsiteY90" fmla="*/ 1585017 h 1880292"/>
                <a:gd name="connsiteX91" fmla="*/ 1203767 w 1885950"/>
                <a:gd name="connsiteY91" fmla="*/ 1589780 h 1880292"/>
                <a:gd name="connsiteX92" fmla="*/ 1203767 w 1885950"/>
                <a:gd name="connsiteY92" fmla="*/ 1595336 h 1880292"/>
                <a:gd name="connsiteX93" fmla="*/ 1205353 w 1885950"/>
                <a:gd name="connsiteY93" fmla="*/ 1600098 h 1880292"/>
                <a:gd name="connsiteX94" fmla="*/ 1206147 w 1885950"/>
                <a:gd name="connsiteY94" fmla="*/ 1605655 h 1880292"/>
                <a:gd name="connsiteX95" fmla="*/ 1210114 w 1885950"/>
                <a:gd name="connsiteY95" fmla="*/ 1610417 h 1880292"/>
                <a:gd name="connsiteX96" fmla="*/ 1214875 w 1885950"/>
                <a:gd name="connsiteY96" fmla="*/ 1616767 h 1880292"/>
                <a:gd name="connsiteX97" fmla="*/ 1220429 w 1885950"/>
                <a:gd name="connsiteY97" fmla="*/ 1621530 h 1880292"/>
                <a:gd name="connsiteX98" fmla="*/ 1224746 w 1885950"/>
                <a:gd name="connsiteY98" fmla="*/ 1624409 h 1880292"/>
                <a:gd name="connsiteX99" fmla="*/ 1225035 w 1885950"/>
                <a:gd name="connsiteY99" fmla="*/ 1624698 h 1880292"/>
                <a:gd name="connsiteX100" fmla="*/ 1232175 w 1885950"/>
                <a:gd name="connsiteY100" fmla="*/ 1629462 h 1880292"/>
                <a:gd name="connsiteX101" fmla="*/ 1238503 w 1885950"/>
                <a:gd name="connsiteY101" fmla="*/ 1632341 h 1880292"/>
                <a:gd name="connsiteX102" fmla="*/ 1245820 w 1885950"/>
                <a:gd name="connsiteY102" fmla="*/ 1636611 h 1880292"/>
                <a:gd name="connsiteX103" fmla="*/ 1255664 w 1885950"/>
                <a:gd name="connsiteY103" fmla="*/ 1643429 h 1880292"/>
                <a:gd name="connsiteX104" fmla="*/ 1256973 w 1885950"/>
                <a:gd name="connsiteY104" fmla="*/ 1644538 h 1880292"/>
                <a:gd name="connsiteX105" fmla="*/ 1268037 w 1885950"/>
                <a:gd name="connsiteY105" fmla="*/ 1654867 h 1880292"/>
                <a:gd name="connsiteX106" fmla="*/ 1274385 w 1885950"/>
                <a:gd name="connsiteY106" fmla="*/ 1662011 h 1880292"/>
                <a:gd name="connsiteX107" fmla="*/ 1279939 w 1885950"/>
                <a:gd name="connsiteY107" fmla="*/ 1669155 h 1880292"/>
                <a:gd name="connsiteX108" fmla="*/ 1284700 w 1885950"/>
                <a:gd name="connsiteY108" fmla="*/ 1677092 h 1880292"/>
                <a:gd name="connsiteX109" fmla="*/ 1289461 w 1885950"/>
                <a:gd name="connsiteY109" fmla="*/ 1686617 h 1880292"/>
                <a:gd name="connsiteX110" fmla="*/ 1294221 w 1885950"/>
                <a:gd name="connsiteY110" fmla="*/ 1697730 h 1880292"/>
                <a:gd name="connsiteX111" fmla="*/ 1296602 w 1885950"/>
                <a:gd name="connsiteY111" fmla="*/ 1708048 h 1880292"/>
                <a:gd name="connsiteX112" fmla="*/ 1298982 w 1885950"/>
                <a:gd name="connsiteY112" fmla="*/ 1719955 h 1880292"/>
                <a:gd name="connsiteX113" fmla="*/ 1300569 w 1885950"/>
                <a:gd name="connsiteY113" fmla="*/ 1732655 h 1880292"/>
                <a:gd name="connsiteX114" fmla="*/ 1298982 w 1885950"/>
                <a:gd name="connsiteY114" fmla="*/ 1748530 h 1880292"/>
                <a:gd name="connsiteX115" fmla="*/ 1296602 w 1885950"/>
                <a:gd name="connsiteY115" fmla="*/ 1762817 h 1880292"/>
                <a:gd name="connsiteX116" fmla="*/ 1291841 w 1885950"/>
                <a:gd name="connsiteY116" fmla="*/ 1777105 h 1880292"/>
                <a:gd name="connsiteX117" fmla="*/ 1286287 w 1885950"/>
                <a:gd name="connsiteY117" fmla="*/ 1789805 h 1880292"/>
                <a:gd name="connsiteX118" fmla="*/ 1277559 w 1885950"/>
                <a:gd name="connsiteY118" fmla="*/ 1803298 h 1880292"/>
                <a:gd name="connsiteX119" fmla="*/ 1269624 w 1885950"/>
                <a:gd name="connsiteY119" fmla="*/ 1815205 h 1880292"/>
                <a:gd name="connsiteX120" fmla="*/ 1258516 w 1885950"/>
                <a:gd name="connsiteY120" fmla="*/ 1827111 h 1880292"/>
                <a:gd name="connsiteX121" fmla="*/ 1246614 w 1885950"/>
                <a:gd name="connsiteY121" fmla="*/ 1835842 h 1880292"/>
                <a:gd name="connsiteX122" fmla="*/ 1233918 w 1885950"/>
                <a:gd name="connsiteY122" fmla="*/ 1845367 h 1880292"/>
                <a:gd name="connsiteX123" fmla="*/ 1219636 w 1885950"/>
                <a:gd name="connsiteY123" fmla="*/ 1854098 h 1880292"/>
                <a:gd name="connsiteX124" fmla="*/ 1203767 w 1885950"/>
                <a:gd name="connsiteY124" fmla="*/ 1862036 h 1880292"/>
                <a:gd name="connsiteX125" fmla="*/ 1188691 w 1885950"/>
                <a:gd name="connsiteY125" fmla="*/ 1868386 h 1880292"/>
                <a:gd name="connsiteX126" fmla="*/ 1172028 w 1885950"/>
                <a:gd name="connsiteY126" fmla="*/ 1873148 h 1880292"/>
                <a:gd name="connsiteX127" fmla="*/ 1154572 w 1885950"/>
                <a:gd name="connsiteY127" fmla="*/ 1876323 h 1880292"/>
                <a:gd name="connsiteX128" fmla="*/ 1136322 w 1885950"/>
                <a:gd name="connsiteY128" fmla="*/ 1878705 h 1880292"/>
                <a:gd name="connsiteX129" fmla="*/ 1117279 w 1885950"/>
                <a:gd name="connsiteY129" fmla="*/ 1880292 h 1880292"/>
                <a:gd name="connsiteX130" fmla="*/ 1099823 w 1885950"/>
                <a:gd name="connsiteY130" fmla="*/ 1878705 h 1880292"/>
                <a:gd name="connsiteX131" fmla="*/ 1080780 w 1885950"/>
                <a:gd name="connsiteY131" fmla="*/ 1876323 h 1880292"/>
                <a:gd name="connsiteX132" fmla="*/ 1064117 w 1885950"/>
                <a:gd name="connsiteY132" fmla="*/ 1873148 h 1880292"/>
                <a:gd name="connsiteX133" fmla="*/ 1047454 w 1885950"/>
                <a:gd name="connsiteY133" fmla="*/ 1868386 h 1880292"/>
                <a:gd name="connsiteX134" fmla="*/ 1030791 w 1885950"/>
                <a:gd name="connsiteY134" fmla="*/ 1862036 h 1880292"/>
                <a:gd name="connsiteX135" fmla="*/ 1015716 w 1885950"/>
                <a:gd name="connsiteY135" fmla="*/ 1854098 h 1880292"/>
                <a:gd name="connsiteX136" fmla="*/ 1002227 w 1885950"/>
                <a:gd name="connsiteY136" fmla="*/ 1845367 h 1880292"/>
                <a:gd name="connsiteX137" fmla="*/ 989531 w 1885950"/>
                <a:gd name="connsiteY137" fmla="*/ 1835842 h 1880292"/>
                <a:gd name="connsiteX138" fmla="*/ 989188 w 1885950"/>
                <a:gd name="connsiteY138" fmla="*/ 1835590 h 1880292"/>
                <a:gd name="connsiteX139" fmla="*/ 982249 w 1885950"/>
                <a:gd name="connsiteY139" fmla="*/ 1829572 h 1880292"/>
                <a:gd name="connsiteX140" fmla="*/ 971935 w 1885950"/>
                <a:gd name="connsiteY140" fmla="*/ 1818454 h 1880292"/>
                <a:gd name="connsiteX141" fmla="*/ 962414 w 1885950"/>
                <a:gd name="connsiteY141" fmla="*/ 1806543 h 1880292"/>
                <a:gd name="connsiteX142" fmla="*/ 955273 w 1885950"/>
                <a:gd name="connsiteY142" fmla="*/ 1793838 h 1880292"/>
                <a:gd name="connsiteX143" fmla="*/ 948926 w 1885950"/>
                <a:gd name="connsiteY143" fmla="*/ 1780338 h 1880292"/>
                <a:gd name="connsiteX144" fmla="*/ 944165 w 1885950"/>
                <a:gd name="connsiteY144" fmla="*/ 1766045 h 1880292"/>
                <a:gd name="connsiteX145" fmla="*/ 940992 w 1885950"/>
                <a:gd name="connsiteY145" fmla="*/ 1751751 h 1880292"/>
                <a:gd name="connsiteX146" fmla="*/ 940992 w 1885950"/>
                <a:gd name="connsiteY146" fmla="*/ 1736664 h 1880292"/>
                <a:gd name="connsiteX147" fmla="*/ 940992 w 1885950"/>
                <a:gd name="connsiteY147" fmla="*/ 1723958 h 1880292"/>
                <a:gd name="connsiteX148" fmla="*/ 943372 w 1885950"/>
                <a:gd name="connsiteY148" fmla="*/ 1712047 h 1880292"/>
                <a:gd name="connsiteX149" fmla="*/ 946546 w 1885950"/>
                <a:gd name="connsiteY149" fmla="*/ 1700136 h 1880292"/>
                <a:gd name="connsiteX150" fmla="*/ 950513 w 1885950"/>
                <a:gd name="connsiteY150" fmla="*/ 1690607 h 1880292"/>
                <a:gd name="connsiteX151" fmla="*/ 955273 w 1885950"/>
                <a:gd name="connsiteY151" fmla="*/ 1681078 h 1880292"/>
                <a:gd name="connsiteX152" fmla="*/ 960827 w 1885950"/>
                <a:gd name="connsiteY152" fmla="*/ 1672343 h 1880292"/>
                <a:gd name="connsiteX153" fmla="*/ 965588 w 1885950"/>
                <a:gd name="connsiteY153" fmla="*/ 1665196 h 1880292"/>
                <a:gd name="connsiteX154" fmla="*/ 971935 w 1885950"/>
                <a:gd name="connsiteY154" fmla="*/ 1658049 h 1880292"/>
                <a:gd name="connsiteX155" fmla="*/ 983043 w 1885950"/>
                <a:gd name="connsiteY155" fmla="*/ 1647726 h 1880292"/>
                <a:gd name="connsiteX156" fmla="*/ 994151 w 1885950"/>
                <a:gd name="connsiteY156" fmla="*/ 1638991 h 1880292"/>
                <a:gd name="connsiteX157" fmla="*/ 1003672 w 1885950"/>
                <a:gd name="connsiteY157" fmla="*/ 1633433 h 1880292"/>
                <a:gd name="connsiteX158" fmla="*/ 1011606 w 1885950"/>
                <a:gd name="connsiteY158" fmla="*/ 1629462 h 1880292"/>
                <a:gd name="connsiteX159" fmla="*/ 1018746 w 1885950"/>
                <a:gd name="connsiteY159" fmla="*/ 1624698 h 1880292"/>
                <a:gd name="connsiteX160" fmla="*/ 1025094 w 1885950"/>
                <a:gd name="connsiteY160" fmla="*/ 1619933 h 1880292"/>
                <a:gd name="connsiteX161" fmla="*/ 1029854 w 1885950"/>
                <a:gd name="connsiteY161" fmla="*/ 1614375 h 1880292"/>
                <a:gd name="connsiteX162" fmla="*/ 1033028 w 1885950"/>
                <a:gd name="connsiteY162" fmla="*/ 1609610 h 1880292"/>
                <a:gd name="connsiteX163" fmla="*/ 1035408 w 1885950"/>
                <a:gd name="connsiteY163" fmla="*/ 1604051 h 1880292"/>
                <a:gd name="connsiteX164" fmla="*/ 1036995 w 1885950"/>
                <a:gd name="connsiteY164" fmla="*/ 1599287 h 1880292"/>
                <a:gd name="connsiteX165" fmla="*/ 1036995 w 1885950"/>
                <a:gd name="connsiteY165" fmla="*/ 1592934 h 1880292"/>
                <a:gd name="connsiteX166" fmla="*/ 1035408 w 1885950"/>
                <a:gd name="connsiteY166" fmla="*/ 1588170 h 1880292"/>
                <a:gd name="connsiteX167" fmla="*/ 1033028 w 1885950"/>
                <a:gd name="connsiteY167" fmla="*/ 1584993 h 1880292"/>
                <a:gd name="connsiteX168" fmla="*/ 1029854 w 1885950"/>
                <a:gd name="connsiteY168" fmla="*/ 1580229 h 1880292"/>
                <a:gd name="connsiteX169" fmla="*/ 1025457 w 1885950"/>
                <a:gd name="connsiteY169" fmla="*/ 1576560 h 1880292"/>
                <a:gd name="connsiteX170" fmla="*/ 1025237 w 1885950"/>
                <a:gd name="connsiteY170" fmla="*/ 1576286 h 1880292"/>
                <a:gd name="connsiteX171" fmla="*/ 1020476 w 1885950"/>
                <a:gd name="connsiteY171" fmla="*/ 1573111 h 1880292"/>
                <a:gd name="connsiteX172" fmla="*/ 1014129 w 1885950"/>
                <a:gd name="connsiteY172" fmla="*/ 1570730 h 1880292"/>
                <a:gd name="connsiteX173" fmla="*/ 1006988 w 1885950"/>
                <a:gd name="connsiteY173" fmla="*/ 1568348 h 1880292"/>
                <a:gd name="connsiteX174" fmla="*/ 999053 w 1885950"/>
                <a:gd name="connsiteY174" fmla="*/ 1566761 h 1880292"/>
                <a:gd name="connsiteX175" fmla="*/ 990325 w 1885950"/>
                <a:gd name="connsiteY175" fmla="*/ 1565967 h 1880292"/>
                <a:gd name="connsiteX176" fmla="*/ 313400 w 1885950"/>
                <a:gd name="connsiteY176" fmla="*/ 1565967 h 1880292"/>
                <a:gd name="connsiteX177" fmla="*/ 313400 w 1885950"/>
                <a:gd name="connsiteY177" fmla="*/ 933844 h 1880292"/>
                <a:gd name="connsiteX178" fmla="*/ 311813 w 1885950"/>
                <a:gd name="connsiteY178" fmla="*/ 925903 h 1880292"/>
                <a:gd name="connsiteX179" fmla="*/ 311019 w 1885950"/>
                <a:gd name="connsiteY179" fmla="*/ 917168 h 1880292"/>
                <a:gd name="connsiteX180" fmla="*/ 308639 w 1885950"/>
                <a:gd name="connsiteY180" fmla="*/ 910815 h 1880292"/>
                <a:gd name="connsiteX181" fmla="*/ 306259 w 1885950"/>
                <a:gd name="connsiteY181" fmla="*/ 904463 h 1880292"/>
                <a:gd name="connsiteX182" fmla="*/ 303085 w 1885950"/>
                <a:gd name="connsiteY182" fmla="*/ 899698 h 1880292"/>
                <a:gd name="connsiteX183" fmla="*/ 299118 w 1885950"/>
                <a:gd name="connsiteY183" fmla="*/ 896522 h 1880292"/>
                <a:gd name="connsiteX184" fmla="*/ 294358 w 1885950"/>
                <a:gd name="connsiteY184" fmla="*/ 894140 h 1880292"/>
                <a:gd name="connsiteX185" fmla="*/ 289597 w 1885950"/>
                <a:gd name="connsiteY185" fmla="*/ 892551 h 1880292"/>
                <a:gd name="connsiteX186" fmla="*/ 284043 w 1885950"/>
                <a:gd name="connsiteY186" fmla="*/ 892551 h 1880292"/>
                <a:gd name="connsiteX187" fmla="*/ 283542 w 1885950"/>
                <a:gd name="connsiteY187" fmla="*/ 892719 h 1880292"/>
                <a:gd name="connsiteX188" fmla="*/ 281422 w 1885950"/>
                <a:gd name="connsiteY188" fmla="*/ 891658 h 1880292"/>
                <a:gd name="connsiteX189" fmla="*/ 274281 w 1885950"/>
                <a:gd name="connsiteY189" fmla="*/ 890069 h 1880292"/>
                <a:gd name="connsiteX190" fmla="*/ 266347 w 1885950"/>
                <a:gd name="connsiteY190" fmla="*/ 892452 h 1880292"/>
                <a:gd name="connsiteX191" fmla="*/ 259206 w 1885950"/>
                <a:gd name="connsiteY191" fmla="*/ 896422 h 1880292"/>
                <a:gd name="connsiteX192" fmla="*/ 250479 w 1885950"/>
                <a:gd name="connsiteY192" fmla="*/ 901981 h 1880292"/>
                <a:gd name="connsiteX193" fmla="*/ 243338 w 1885950"/>
                <a:gd name="connsiteY193" fmla="*/ 911510 h 1880292"/>
                <a:gd name="connsiteX194" fmla="*/ 236197 w 1885950"/>
                <a:gd name="connsiteY194" fmla="*/ 923421 h 1880292"/>
                <a:gd name="connsiteX195" fmla="*/ 230643 w 1885950"/>
                <a:gd name="connsiteY195" fmla="*/ 932950 h 1880292"/>
                <a:gd name="connsiteX196" fmla="*/ 223503 w 1885950"/>
                <a:gd name="connsiteY196" fmla="*/ 943273 h 1880292"/>
                <a:gd name="connsiteX197" fmla="*/ 212395 w 1885950"/>
                <a:gd name="connsiteY197" fmla="*/ 955184 h 1880292"/>
                <a:gd name="connsiteX198" fmla="*/ 205254 w 1885950"/>
                <a:gd name="connsiteY198" fmla="*/ 961537 h 1880292"/>
                <a:gd name="connsiteX199" fmla="*/ 198113 w 1885950"/>
                <a:gd name="connsiteY199" fmla="*/ 966302 h 1880292"/>
                <a:gd name="connsiteX200" fmla="*/ 190179 w 1885950"/>
                <a:gd name="connsiteY200" fmla="*/ 971860 h 1880292"/>
                <a:gd name="connsiteX201" fmla="*/ 180658 w 1885950"/>
                <a:gd name="connsiteY201" fmla="*/ 976625 h 1880292"/>
                <a:gd name="connsiteX202" fmla="*/ 170344 w 1885950"/>
                <a:gd name="connsiteY202" fmla="*/ 981389 h 1880292"/>
                <a:gd name="connsiteX203" fmla="*/ 159236 w 1885950"/>
                <a:gd name="connsiteY203" fmla="*/ 983771 h 1880292"/>
                <a:gd name="connsiteX204" fmla="*/ 147335 w 1885950"/>
                <a:gd name="connsiteY204" fmla="*/ 986154 h 1880292"/>
                <a:gd name="connsiteX205" fmla="*/ 134640 w 1885950"/>
                <a:gd name="connsiteY205" fmla="*/ 986154 h 1880292"/>
                <a:gd name="connsiteX206" fmla="*/ 120798 w 1885950"/>
                <a:gd name="connsiteY206" fmla="*/ 986154 h 1880292"/>
                <a:gd name="connsiteX207" fmla="*/ 116632 w 1885950"/>
                <a:gd name="connsiteY207" fmla="*/ 985459 h 1880292"/>
                <a:gd name="connsiteX208" fmla="*/ 102351 w 1885950"/>
                <a:gd name="connsiteY208" fmla="*/ 980695 h 1880292"/>
                <a:gd name="connsiteX209" fmla="*/ 88863 w 1885950"/>
                <a:gd name="connsiteY209" fmla="*/ 974342 h 1880292"/>
                <a:gd name="connsiteX210" fmla="*/ 76168 w 1885950"/>
                <a:gd name="connsiteY210" fmla="*/ 967195 h 1880292"/>
                <a:gd name="connsiteX211" fmla="*/ 64267 w 1885950"/>
                <a:gd name="connsiteY211" fmla="*/ 957666 h 1880292"/>
                <a:gd name="connsiteX212" fmla="*/ 52366 w 1885950"/>
                <a:gd name="connsiteY212" fmla="*/ 947343 h 1880292"/>
                <a:gd name="connsiteX213" fmla="*/ 42845 w 1885950"/>
                <a:gd name="connsiteY213" fmla="*/ 935432 h 1880292"/>
                <a:gd name="connsiteX214" fmla="*/ 33324 w 1885950"/>
                <a:gd name="connsiteY214" fmla="*/ 921933 h 1880292"/>
                <a:gd name="connsiteX215" fmla="*/ 25390 w 1885950"/>
                <a:gd name="connsiteY215" fmla="*/ 909227 h 1880292"/>
                <a:gd name="connsiteX216" fmla="*/ 16662 w 1885950"/>
                <a:gd name="connsiteY216" fmla="*/ 894140 h 1880292"/>
                <a:gd name="connsiteX217" fmla="*/ 11108 w 1885950"/>
                <a:gd name="connsiteY217" fmla="*/ 877464 h 1880292"/>
                <a:gd name="connsiteX218" fmla="*/ 6348 w 1885950"/>
                <a:gd name="connsiteY218" fmla="*/ 860788 h 1880292"/>
                <a:gd name="connsiteX219" fmla="*/ 2380 w 1885950"/>
                <a:gd name="connsiteY219" fmla="*/ 844112 h 1880292"/>
                <a:gd name="connsiteX220" fmla="*/ 0 w 1885950"/>
                <a:gd name="connsiteY220" fmla="*/ 825054 h 1880292"/>
                <a:gd name="connsiteX221" fmla="*/ 0 w 1885950"/>
                <a:gd name="connsiteY221" fmla="*/ 806790 h 1880292"/>
                <a:gd name="connsiteX222" fmla="*/ 0 w 1885950"/>
                <a:gd name="connsiteY222" fmla="*/ 788526 h 1880292"/>
                <a:gd name="connsiteX223" fmla="*/ 2380 w 1885950"/>
                <a:gd name="connsiteY223" fmla="*/ 770262 h 1880292"/>
                <a:gd name="connsiteX224" fmla="*/ 6348 w 1885950"/>
                <a:gd name="connsiteY224" fmla="*/ 752793 h 1880292"/>
                <a:gd name="connsiteX225" fmla="*/ 11108 w 1885950"/>
                <a:gd name="connsiteY225" fmla="*/ 736117 h 1880292"/>
                <a:gd name="connsiteX226" fmla="*/ 16662 w 1885950"/>
                <a:gd name="connsiteY226" fmla="*/ 720235 h 1880292"/>
                <a:gd name="connsiteX227" fmla="*/ 25390 w 1885950"/>
                <a:gd name="connsiteY227" fmla="*/ 705147 h 1880292"/>
                <a:gd name="connsiteX228" fmla="*/ 33324 w 1885950"/>
                <a:gd name="connsiteY228" fmla="*/ 690854 h 1880292"/>
                <a:gd name="connsiteX229" fmla="*/ 42845 w 1885950"/>
                <a:gd name="connsiteY229" fmla="*/ 678149 h 1880292"/>
                <a:gd name="connsiteX230" fmla="*/ 52366 w 1885950"/>
                <a:gd name="connsiteY230" fmla="*/ 666237 h 1880292"/>
                <a:gd name="connsiteX231" fmla="*/ 64267 w 1885950"/>
                <a:gd name="connsiteY231" fmla="*/ 655120 h 1880292"/>
                <a:gd name="connsiteX232" fmla="*/ 76168 w 1885950"/>
                <a:gd name="connsiteY232" fmla="*/ 647179 h 1880292"/>
                <a:gd name="connsiteX233" fmla="*/ 88863 w 1885950"/>
                <a:gd name="connsiteY233" fmla="*/ 638444 h 1880292"/>
                <a:gd name="connsiteX234" fmla="*/ 102351 w 1885950"/>
                <a:gd name="connsiteY234" fmla="*/ 632886 h 1880292"/>
                <a:gd name="connsiteX235" fmla="*/ 116632 w 1885950"/>
                <a:gd name="connsiteY235" fmla="*/ 628121 h 1880292"/>
                <a:gd name="connsiteX236" fmla="*/ 130914 w 1885950"/>
                <a:gd name="connsiteY236" fmla="*/ 625739 h 1880292"/>
                <a:gd name="connsiteX237" fmla="*/ 145989 w 1885950"/>
                <a:gd name="connsiteY237" fmla="*/ 624151 h 1880292"/>
                <a:gd name="connsiteX238" fmla="*/ 159477 w 1885950"/>
                <a:gd name="connsiteY238" fmla="*/ 625739 h 1880292"/>
                <a:gd name="connsiteX239" fmla="*/ 159839 w 1885950"/>
                <a:gd name="connsiteY239" fmla="*/ 625812 h 1880292"/>
                <a:gd name="connsiteX240" fmla="*/ 170344 w 1885950"/>
                <a:gd name="connsiteY240" fmla="*/ 628816 h 1880292"/>
                <a:gd name="connsiteX241" fmla="*/ 180658 w 1885950"/>
                <a:gd name="connsiteY241" fmla="*/ 632786 h 1880292"/>
                <a:gd name="connsiteX242" fmla="*/ 190179 w 1885950"/>
                <a:gd name="connsiteY242" fmla="*/ 637550 h 1880292"/>
                <a:gd name="connsiteX243" fmla="*/ 198113 w 1885950"/>
                <a:gd name="connsiteY243" fmla="*/ 643109 h 1880292"/>
                <a:gd name="connsiteX244" fmla="*/ 205254 w 1885950"/>
                <a:gd name="connsiteY244" fmla="*/ 647874 h 1880292"/>
                <a:gd name="connsiteX245" fmla="*/ 212395 w 1885950"/>
                <a:gd name="connsiteY245" fmla="*/ 654226 h 1880292"/>
                <a:gd name="connsiteX246" fmla="*/ 223503 w 1885950"/>
                <a:gd name="connsiteY246" fmla="*/ 666138 h 1880292"/>
                <a:gd name="connsiteX247" fmla="*/ 230643 w 1885950"/>
                <a:gd name="connsiteY247" fmla="*/ 676461 h 1880292"/>
                <a:gd name="connsiteX248" fmla="*/ 236197 w 1885950"/>
                <a:gd name="connsiteY248" fmla="*/ 685990 h 1880292"/>
                <a:gd name="connsiteX249" fmla="*/ 243338 w 1885950"/>
                <a:gd name="connsiteY249" fmla="*/ 697901 h 1880292"/>
                <a:gd name="connsiteX250" fmla="*/ 250479 w 1885950"/>
                <a:gd name="connsiteY250" fmla="*/ 707430 h 1880292"/>
                <a:gd name="connsiteX251" fmla="*/ 259206 w 1885950"/>
                <a:gd name="connsiteY251" fmla="*/ 712989 h 1880292"/>
                <a:gd name="connsiteX252" fmla="*/ 266347 w 1885950"/>
                <a:gd name="connsiteY252" fmla="*/ 717753 h 1880292"/>
                <a:gd name="connsiteX253" fmla="*/ 274281 w 1885950"/>
                <a:gd name="connsiteY253" fmla="*/ 719341 h 1880292"/>
                <a:gd name="connsiteX254" fmla="*/ 275926 w 1885950"/>
                <a:gd name="connsiteY254" fmla="*/ 718975 h 1880292"/>
                <a:gd name="connsiteX255" fmla="*/ 279283 w 1885950"/>
                <a:gd name="connsiteY255" fmla="*/ 720235 h 1880292"/>
                <a:gd name="connsiteX256" fmla="*/ 284043 w 1885950"/>
                <a:gd name="connsiteY256" fmla="*/ 720235 h 1880292"/>
                <a:gd name="connsiteX257" fmla="*/ 289597 w 1885950"/>
                <a:gd name="connsiteY257" fmla="*/ 720235 h 1880292"/>
                <a:gd name="connsiteX258" fmla="*/ 294358 w 1885950"/>
                <a:gd name="connsiteY258" fmla="*/ 719441 h 1880292"/>
                <a:gd name="connsiteX259" fmla="*/ 299118 w 1885950"/>
                <a:gd name="connsiteY259" fmla="*/ 717059 h 1880292"/>
                <a:gd name="connsiteX260" fmla="*/ 303085 w 1885950"/>
                <a:gd name="connsiteY260" fmla="*/ 713088 h 1880292"/>
                <a:gd name="connsiteX261" fmla="*/ 306259 w 1885950"/>
                <a:gd name="connsiteY261" fmla="*/ 708324 h 1880292"/>
                <a:gd name="connsiteX262" fmla="*/ 308639 w 1885950"/>
                <a:gd name="connsiteY262" fmla="*/ 703559 h 1880292"/>
                <a:gd name="connsiteX263" fmla="*/ 311019 w 1885950"/>
                <a:gd name="connsiteY263" fmla="*/ 696413 h 1880292"/>
                <a:gd name="connsiteX264" fmla="*/ 311813 w 1885950"/>
                <a:gd name="connsiteY264" fmla="*/ 688472 h 1880292"/>
                <a:gd name="connsiteX265" fmla="*/ 313400 w 1885950"/>
                <a:gd name="connsiteY265" fmla="*/ 678943 h 1880292"/>
                <a:gd name="connsiteX266" fmla="*/ 313400 w 1885950"/>
                <a:gd name="connsiteY266" fmla="*/ 0 h 188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1885950" h="1880292">
                  <a:moveTo>
                    <a:pt x="313400" y="0"/>
                  </a:moveTo>
                  <a:lnTo>
                    <a:pt x="1885950" y="0"/>
                  </a:lnTo>
                  <a:lnTo>
                    <a:pt x="1885950" y="710706"/>
                  </a:lnTo>
                  <a:lnTo>
                    <a:pt x="1880396" y="717059"/>
                  </a:lnTo>
                  <a:lnTo>
                    <a:pt x="1875716" y="719401"/>
                  </a:lnTo>
                  <a:lnTo>
                    <a:pt x="1871452" y="719401"/>
                  </a:lnTo>
                  <a:lnTo>
                    <a:pt x="1866688" y="717813"/>
                  </a:lnTo>
                  <a:lnTo>
                    <a:pt x="1861129" y="715430"/>
                  </a:lnTo>
                  <a:lnTo>
                    <a:pt x="1856365" y="712254"/>
                  </a:lnTo>
                  <a:lnTo>
                    <a:pt x="1850012" y="707489"/>
                  </a:lnTo>
                  <a:lnTo>
                    <a:pt x="1845248" y="701136"/>
                  </a:lnTo>
                  <a:lnTo>
                    <a:pt x="1840483" y="693988"/>
                  </a:lnTo>
                  <a:lnTo>
                    <a:pt x="1835719" y="686047"/>
                  </a:lnTo>
                  <a:lnTo>
                    <a:pt x="1830160" y="676517"/>
                  </a:lnTo>
                  <a:lnTo>
                    <a:pt x="1823013" y="666193"/>
                  </a:lnTo>
                  <a:lnTo>
                    <a:pt x="1811102" y="654281"/>
                  </a:lnTo>
                  <a:lnTo>
                    <a:pt x="1804749" y="647928"/>
                  </a:lnTo>
                  <a:lnTo>
                    <a:pt x="1796808" y="643163"/>
                  </a:lnTo>
                  <a:lnTo>
                    <a:pt x="1788074" y="637604"/>
                  </a:lnTo>
                  <a:lnTo>
                    <a:pt x="1779339" y="632839"/>
                  </a:lnTo>
                  <a:lnTo>
                    <a:pt x="1769810" y="628868"/>
                  </a:lnTo>
                  <a:lnTo>
                    <a:pt x="1758692" y="625691"/>
                  </a:lnTo>
                  <a:lnTo>
                    <a:pt x="1745987" y="623309"/>
                  </a:lnTo>
                  <a:lnTo>
                    <a:pt x="1732488" y="623309"/>
                  </a:lnTo>
                  <a:lnTo>
                    <a:pt x="1718194" y="623309"/>
                  </a:lnTo>
                  <a:lnTo>
                    <a:pt x="1703901" y="626485"/>
                  </a:lnTo>
                  <a:lnTo>
                    <a:pt x="1689607" y="630456"/>
                  </a:lnTo>
                  <a:lnTo>
                    <a:pt x="1687143" y="631689"/>
                  </a:lnTo>
                  <a:lnTo>
                    <a:pt x="1682836" y="632886"/>
                  </a:lnTo>
                  <a:lnTo>
                    <a:pt x="1670141" y="640032"/>
                  </a:lnTo>
                  <a:lnTo>
                    <a:pt x="1657446" y="647179"/>
                  </a:lnTo>
                  <a:lnTo>
                    <a:pt x="1645545" y="656708"/>
                  </a:lnTo>
                  <a:lnTo>
                    <a:pt x="1634437" y="667031"/>
                  </a:lnTo>
                  <a:lnTo>
                    <a:pt x="1624123" y="678943"/>
                  </a:lnTo>
                  <a:lnTo>
                    <a:pt x="1614602" y="690854"/>
                  </a:lnTo>
                  <a:lnTo>
                    <a:pt x="1605874" y="705147"/>
                  </a:lnTo>
                  <a:lnTo>
                    <a:pt x="1598734" y="720235"/>
                  </a:lnTo>
                  <a:lnTo>
                    <a:pt x="1591593" y="736117"/>
                  </a:lnTo>
                  <a:lnTo>
                    <a:pt x="1586832" y="752793"/>
                  </a:lnTo>
                  <a:lnTo>
                    <a:pt x="1583659" y="770262"/>
                  </a:lnTo>
                  <a:lnTo>
                    <a:pt x="1581278" y="788526"/>
                  </a:lnTo>
                  <a:lnTo>
                    <a:pt x="1581278" y="806790"/>
                  </a:lnTo>
                  <a:lnTo>
                    <a:pt x="1581278" y="825848"/>
                  </a:lnTo>
                  <a:lnTo>
                    <a:pt x="1583659" y="844112"/>
                  </a:lnTo>
                  <a:lnTo>
                    <a:pt x="1586832" y="861582"/>
                  </a:lnTo>
                  <a:lnTo>
                    <a:pt x="1591593" y="878258"/>
                  </a:lnTo>
                  <a:lnTo>
                    <a:pt x="1598734" y="894140"/>
                  </a:lnTo>
                  <a:lnTo>
                    <a:pt x="1605874" y="909227"/>
                  </a:lnTo>
                  <a:lnTo>
                    <a:pt x="1614602" y="923521"/>
                  </a:lnTo>
                  <a:lnTo>
                    <a:pt x="1624123" y="936226"/>
                  </a:lnTo>
                  <a:lnTo>
                    <a:pt x="1634437" y="947343"/>
                  </a:lnTo>
                  <a:lnTo>
                    <a:pt x="1645545" y="957666"/>
                  </a:lnTo>
                  <a:lnTo>
                    <a:pt x="1657446" y="967195"/>
                  </a:lnTo>
                  <a:lnTo>
                    <a:pt x="1670141" y="974342"/>
                  </a:lnTo>
                  <a:lnTo>
                    <a:pt x="1682836" y="981489"/>
                  </a:lnTo>
                  <a:lnTo>
                    <a:pt x="1697117" y="985459"/>
                  </a:lnTo>
                  <a:lnTo>
                    <a:pt x="1711399" y="988636"/>
                  </a:lnTo>
                  <a:lnTo>
                    <a:pt x="1727267" y="988636"/>
                  </a:lnTo>
                  <a:lnTo>
                    <a:pt x="1739962" y="988636"/>
                  </a:lnTo>
                  <a:lnTo>
                    <a:pt x="1751863" y="986253"/>
                  </a:lnTo>
                  <a:lnTo>
                    <a:pt x="1762971" y="983871"/>
                  </a:lnTo>
                  <a:lnTo>
                    <a:pt x="1766745" y="982128"/>
                  </a:lnTo>
                  <a:lnTo>
                    <a:pt x="1769810" y="981471"/>
                  </a:lnTo>
                  <a:lnTo>
                    <a:pt x="1779339" y="976706"/>
                  </a:lnTo>
                  <a:lnTo>
                    <a:pt x="1788074" y="971942"/>
                  </a:lnTo>
                  <a:lnTo>
                    <a:pt x="1796808" y="966382"/>
                  </a:lnTo>
                  <a:lnTo>
                    <a:pt x="1804749" y="961618"/>
                  </a:lnTo>
                  <a:lnTo>
                    <a:pt x="1811102" y="955264"/>
                  </a:lnTo>
                  <a:lnTo>
                    <a:pt x="1823013" y="943352"/>
                  </a:lnTo>
                  <a:lnTo>
                    <a:pt x="1830160" y="933028"/>
                  </a:lnTo>
                  <a:lnTo>
                    <a:pt x="1835719" y="923498"/>
                  </a:lnTo>
                  <a:lnTo>
                    <a:pt x="1840483" y="914763"/>
                  </a:lnTo>
                  <a:lnTo>
                    <a:pt x="1845248" y="908409"/>
                  </a:lnTo>
                  <a:lnTo>
                    <a:pt x="1850012" y="902056"/>
                  </a:lnTo>
                  <a:lnTo>
                    <a:pt x="1856365" y="897291"/>
                  </a:lnTo>
                  <a:lnTo>
                    <a:pt x="1860660" y="894428"/>
                  </a:lnTo>
                  <a:lnTo>
                    <a:pt x="1866908" y="892551"/>
                  </a:lnTo>
                  <a:lnTo>
                    <a:pt x="1874049" y="894140"/>
                  </a:lnTo>
                  <a:lnTo>
                    <a:pt x="1880396" y="897316"/>
                  </a:lnTo>
                  <a:lnTo>
                    <a:pt x="1885950" y="903669"/>
                  </a:lnTo>
                  <a:lnTo>
                    <a:pt x="1885950" y="1569112"/>
                  </a:lnTo>
                  <a:lnTo>
                    <a:pt x="1881385" y="1569112"/>
                  </a:lnTo>
                  <a:lnTo>
                    <a:pt x="1881385" y="1565967"/>
                  </a:lnTo>
                  <a:lnTo>
                    <a:pt x="1245820" y="1565967"/>
                  </a:lnTo>
                  <a:lnTo>
                    <a:pt x="1236299" y="1566761"/>
                  </a:lnTo>
                  <a:lnTo>
                    <a:pt x="1227570" y="1568348"/>
                  </a:lnTo>
                  <a:lnTo>
                    <a:pt x="1220429" y="1570730"/>
                  </a:lnTo>
                  <a:lnTo>
                    <a:pt x="1215669" y="1573111"/>
                  </a:lnTo>
                  <a:lnTo>
                    <a:pt x="1210908" y="1576286"/>
                  </a:lnTo>
                  <a:lnTo>
                    <a:pt x="1207734" y="1580255"/>
                  </a:lnTo>
                  <a:lnTo>
                    <a:pt x="1205353" y="1585017"/>
                  </a:lnTo>
                  <a:lnTo>
                    <a:pt x="1203767" y="1589780"/>
                  </a:lnTo>
                  <a:lnTo>
                    <a:pt x="1203767" y="1595336"/>
                  </a:lnTo>
                  <a:lnTo>
                    <a:pt x="1205353" y="1600098"/>
                  </a:lnTo>
                  <a:lnTo>
                    <a:pt x="1206147" y="1605655"/>
                  </a:lnTo>
                  <a:lnTo>
                    <a:pt x="1210114" y="1610417"/>
                  </a:lnTo>
                  <a:lnTo>
                    <a:pt x="1214875" y="1616767"/>
                  </a:lnTo>
                  <a:lnTo>
                    <a:pt x="1220429" y="1621530"/>
                  </a:lnTo>
                  <a:lnTo>
                    <a:pt x="1224746" y="1624409"/>
                  </a:lnTo>
                  <a:lnTo>
                    <a:pt x="1225035" y="1624698"/>
                  </a:lnTo>
                  <a:lnTo>
                    <a:pt x="1232175" y="1629462"/>
                  </a:lnTo>
                  <a:lnTo>
                    <a:pt x="1238503" y="1632341"/>
                  </a:lnTo>
                  <a:lnTo>
                    <a:pt x="1245820" y="1636611"/>
                  </a:lnTo>
                  <a:lnTo>
                    <a:pt x="1255664" y="1643429"/>
                  </a:lnTo>
                  <a:lnTo>
                    <a:pt x="1256973" y="1644538"/>
                  </a:lnTo>
                  <a:lnTo>
                    <a:pt x="1268037" y="1654867"/>
                  </a:lnTo>
                  <a:lnTo>
                    <a:pt x="1274385" y="1662011"/>
                  </a:lnTo>
                  <a:lnTo>
                    <a:pt x="1279939" y="1669155"/>
                  </a:lnTo>
                  <a:lnTo>
                    <a:pt x="1284700" y="1677092"/>
                  </a:lnTo>
                  <a:lnTo>
                    <a:pt x="1289461" y="1686617"/>
                  </a:lnTo>
                  <a:lnTo>
                    <a:pt x="1294221" y="1697730"/>
                  </a:lnTo>
                  <a:lnTo>
                    <a:pt x="1296602" y="1708048"/>
                  </a:lnTo>
                  <a:lnTo>
                    <a:pt x="1298982" y="1719955"/>
                  </a:lnTo>
                  <a:lnTo>
                    <a:pt x="1300569" y="1732655"/>
                  </a:lnTo>
                  <a:lnTo>
                    <a:pt x="1298982" y="1748530"/>
                  </a:lnTo>
                  <a:lnTo>
                    <a:pt x="1296602" y="1762817"/>
                  </a:lnTo>
                  <a:lnTo>
                    <a:pt x="1291841" y="1777105"/>
                  </a:lnTo>
                  <a:lnTo>
                    <a:pt x="1286287" y="1789805"/>
                  </a:lnTo>
                  <a:lnTo>
                    <a:pt x="1277559" y="1803298"/>
                  </a:lnTo>
                  <a:lnTo>
                    <a:pt x="1269624" y="1815205"/>
                  </a:lnTo>
                  <a:lnTo>
                    <a:pt x="1258516" y="1827111"/>
                  </a:lnTo>
                  <a:lnTo>
                    <a:pt x="1246614" y="1835842"/>
                  </a:lnTo>
                  <a:lnTo>
                    <a:pt x="1233918" y="1845367"/>
                  </a:lnTo>
                  <a:lnTo>
                    <a:pt x="1219636" y="1854098"/>
                  </a:lnTo>
                  <a:lnTo>
                    <a:pt x="1203767" y="1862036"/>
                  </a:lnTo>
                  <a:lnTo>
                    <a:pt x="1188691" y="1868386"/>
                  </a:lnTo>
                  <a:lnTo>
                    <a:pt x="1172028" y="1873148"/>
                  </a:lnTo>
                  <a:lnTo>
                    <a:pt x="1154572" y="1876323"/>
                  </a:lnTo>
                  <a:lnTo>
                    <a:pt x="1136322" y="1878705"/>
                  </a:lnTo>
                  <a:lnTo>
                    <a:pt x="1117279" y="1880292"/>
                  </a:lnTo>
                  <a:lnTo>
                    <a:pt x="1099823" y="1878705"/>
                  </a:lnTo>
                  <a:lnTo>
                    <a:pt x="1080780" y="1876323"/>
                  </a:lnTo>
                  <a:lnTo>
                    <a:pt x="1064117" y="1873148"/>
                  </a:lnTo>
                  <a:lnTo>
                    <a:pt x="1047454" y="1868386"/>
                  </a:lnTo>
                  <a:lnTo>
                    <a:pt x="1030791" y="1862036"/>
                  </a:lnTo>
                  <a:lnTo>
                    <a:pt x="1015716" y="1854098"/>
                  </a:lnTo>
                  <a:lnTo>
                    <a:pt x="1002227" y="1845367"/>
                  </a:lnTo>
                  <a:lnTo>
                    <a:pt x="989531" y="1835842"/>
                  </a:lnTo>
                  <a:lnTo>
                    <a:pt x="989188" y="1835590"/>
                  </a:lnTo>
                  <a:lnTo>
                    <a:pt x="982249" y="1829572"/>
                  </a:lnTo>
                  <a:lnTo>
                    <a:pt x="971935" y="1818454"/>
                  </a:lnTo>
                  <a:lnTo>
                    <a:pt x="962414" y="1806543"/>
                  </a:lnTo>
                  <a:lnTo>
                    <a:pt x="955273" y="1793838"/>
                  </a:lnTo>
                  <a:lnTo>
                    <a:pt x="948926" y="1780338"/>
                  </a:lnTo>
                  <a:lnTo>
                    <a:pt x="944165" y="1766045"/>
                  </a:lnTo>
                  <a:lnTo>
                    <a:pt x="940992" y="1751751"/>
                  </a:lnTo>
                  <a:lnTo>
                    <a:pt x="940992" y="1736664"/>
                  </a:lnTo>
                  <a:lnTo>
                    <a:pt x="940992" y="1723958"/>
                  </a:lnTo>
                  <a:lnTo>
                    <a:pt x="943372" y="1712047"/>
                  </a:lnTo>
                  <a:lnTo>
                    <a:pt x="946546" y="1700136"/>
                  </a:lnTo>
                  <a:lnTo>
                    <a:pt x="950513" y="1690607"/>
                  </a:lnTo>
                  <a:lnTo>
                    <a:pt x="955273" y="1681078"/>
                  </a:lnTo>
                  <a:lnTo>
                    <a:pt x="960827" y="1672343"/>
                  </a:lnTo>
                  <a:lnTo>
                    <a:pt x="965588" y="1665196"/>
                  </a:lnTo>
                  <a:lnTo>
                    <a:pt x="971935" y="1658049"/>
                  </a:lnTo>
                  <a:lnTo>
                    <a:pt x="983043" y="1647726"/>
                  </a:lnTo>
                  <a:lnTo>
                    <a:pt x="994151" y="1638991"/>
                  </a:lnTo>
                  <a:lnTo>
                    <a:pt x="1003672" y="1633433"/>
                  </a:lnTo>
                  <a:lnTo>
                    <a:pt x="1011606" y="1629462"/>
                  </a:lnTo>
                  <a:lnTo>
                    <a:pt x="1018746" y="1624698"/>
                  </a:lnTo>
                  <a:lnTo>
                    <a:pt x="1025094" y="1619933"/>
                  </a:lnTo>
                  <a:lnTo>
                    <a:pt x="1029854" y="1614375"/>
                  </a:lnTo>
                  <a:lnTo>
                    <a:pt x="1033028" y="1609610"/>
                  </a:lnTo>
                  <a:lnTo>
                    <a:pt x="1035408" y="1604051"/>
                  </a:lnTo>
                  <a:lnTo>
                    <a:pt x="1036995" y="1599287"/>
                  </a:lnTo>
                  <a:lnTo>
                    <a:pt x="1036995" y="1592934"/>
                  </a:lnTo>
                  <a:lnTo>
                    <a:pt x="1035408" y="1588170"/>
                  </a:lnTo>
                  <a:lnTo>
                    <a:pt x="1033028" y="1584993"/>
                  </a:lnTo>
                  <a:lnTo>
                    <a:pt x="1029854" y="1580229"/>
                  </a:lnTo>
                  <a:lnTo>
                    <a:pt x="1025457" y="1576560"/>
                  </a:lnTo>
                  <a:lnTo>
                    <a:pt x="1025237" y="1576286"/>
                  </a:lnTo>
                  <a:lnTo>
                    <a:pt x="1020476" y="1573111"/>
                  </a:lnTo>
                  <a:lnTo>
                    <a:pt x="1014129" y="1570730"/>
                  </a:lnTo>
                  <a:lnTo>
                    <a:pt x="1006988" y="1568348"/>
                  </a:lnTo>
                  <a:lnTo>
                    <a:pt x="999053" y="1566761"/>
                  </a:lnTo>
                  <a:lnTo>
                    <a:pt x="990325" y="1565967"/>
                  </a:lnTo>
                  <a:lnTo>
                    <a:pt x="313400" y="1565967"/>
                  </a:lnTo>
                  <a:lnTo>
                    <a:pt x="313400" y="933844"/>
                  </a:lnTo>
                  <a:lnTo>
                    <a:pt x="311813" y="925903"/>
                  </a:lnTo>
                  <a:lnTo>
                    <a:pt x="311019" y="917168"/>
                  </a:lnTo>
                  <a:lnTo>
                    <a:pt x="308639" y="910815"/>
                  </a:lnTo>
                  <a:lnTo>
                    <a:pt x="306259" y="904463"/>
                  </a:lnTo>
                  <a:lnTo>
                    <a:pt x="303085" y="899698"/>
                  </a:lnTo>
                  <a:lnTo>
                    <a:pt x="299118" y="896522"/>
                  </a:lnTo>
                  <a:lnTo>
                    <a:pt x="294358" y="894140"/>
                  </a:lnTo>
                  <a:lnTo>
                    <a:pt x="289597" y="892551"/>
                  </a:lnTo>
                  <a:lnTo>
                    <a:pt x="284043" y="892551"/>
                  </a:lnTo>
                  <a:lnTo>
                    <a:pt x="283542" y="892719"/>
                  </a:lnTo>
                  <a:lnTo>
                    <a:pt x="281422" y="891658"/>
                  </a:lnTo>
                  <a:lnTo>
                    <a:pt x="274281" y="890069"/>
                  </a:lnTo>
                  <a:lnTo>
                    <a:pt x="266347" y="892452"/>
                  </a:lnTo>
                  <a:lnTo>
                    <a:pt x="259206" y="896422"/>
                  </a:lnTo>
                  <a:lnTo>
                    <a:pt x="250479" y="901981"/>
                  </a:lnTo>
                  <a:lnTo>
                    <a:pt x="243338" y="911510"/>
                  </a:lnTo>
                  <a:lnTo>
                    <a:pt x="236197" y="923421"/>
                  </a:lnTo>
                  <a:lnTo>
                    <a:pt x="230643" y="932950"/>
                  </a:lnTo>
                  <a:lnTo>
                    <a:pt x="223503" y="943273"/>
                  </a:lnTo>
                  <a:lnTo>
                    <a:pt x="212395" y="955184"/>
                  </a:lnTo>
                  <a:lnTo>
                    <a:pt x="205254" y="961537"/>
                  </a:lnTo>
                  <a:lnTo>
                    <a:pt x="198113" y="966302"/>
                  </a:lnTo>
                  <a:lnTo>
                    <a:pt x="190179" y="971860"/>
                  </a:lnTo>
                  <a:lnTo>
                    <a:pt x="180658" y="976625"/>
                  </a:lnTo>
                  <a:lnTo>
                    <a:pt x="170344" y="981389"/>
                  </a:lnTo>
                  <a:lnTo>
                    <a:pt x="159236" y="983771"/>
                  </a:lnTo>
                  <a:lnTo>
                    <a:pt x="147335" y="986154"/>
                  </a:lnTo>
                  <a:lnTo>
                    <a:pt x="134640" y="986154"/>
                  </a:lnTo>
                  <a:lnTo>
                    <a:pt x="120798" y="986154"/>
                  </a:lnTo>
                  <a:lnTo>
                    <a:pt x="116632" y="985459"/>
                  </a:lnTo>
                  <a:lnTo>
                    <a:pt x="102351" y="980695"/>
                  </a:lnTo>
                  <a:lnTo>
                    <a:pt x="88863" y="974342"/>
                  </a:lnTo>
                  <a:lnTo>
                    <a:pt x="76168" y="967195"/>
                  </a:lnTo>
                  <a:lnTo>
                    <a:pt x="64267" y="957666"/>
                  </a:lnTo>
                  <a:lnTo>
                    <a:pt x="52366" y="947343"/>
                  </a:lnTo>
                  <a:lnTo>
                    <a:pt x="42845" y="935432"/>
                  </a:lnTo>
                  <a:lnTo>
                    <a:pt x="33324" y="921933"/>
                  </a:lnTo>
                  <a:lnTo>
                    <a:pt x="25390" y="909227"/>
                  </a:lnTo>
                  <a:lnTo>
                    <a:pt x="16662" y="894140"/>
                  </a:lnTo>
                  <a:lnTo>
                    <a:pt x="11108" y="877464"/>
                  </a:lnTo>
                  <a:lnTo>
                    <a:pt x="6348" y="860788"/>
                  </a:lnTo>
                  <a:lnTo>
                    <a:pt x="2380" y="844112"/>
                  </a:lnTo>
                  <a:lnTo>
                    <a:pt x="0" y="825054"/>
                  </a:lnTo>
                  <a:lnTo>
                    <a:pt x="0" y="806790"/>
                  </a:lnTo>
                  <a:lnTo>
                    <a:pt x="0" y="788526"/>
                  </a:lnTo>
                  <a:lnTo>
                    <a:pt x="2380" y="770262"/>
                  </a:lnTo>
                  <a:lnTo>
                    <a:pt x="6348" y="752793"/>
                  </a:lnTo>
                  <a:lnTo>
                    <a:pt x="11108" y="736117"/>
                  </a:lnTo>
                  <a:lnTo>
                    <a:pt x="16662" y="720235"/>
                  </a:lnTo>
                  <a:lnTo>
                    <a:pt x="25390" y="705147"/>
                  </a:lnTo>
                  <a:lnTo>
                    <a:pt x="33324" y="690854"/>
                  </a:lnTo>
                  <a:lnTo>
                    <a:pt x="42845" y="678149"/>
                  </a:lnTo>
                  <a:lnTo>
                    <a:pt x="52366" y="666237"/>
                  </a:lnTo>
                  <a:lnTo>
                    <a:pt x="64267" y="655120"/>
                  </a:lnTo>
                  <a:lnTo>
                    <a:pt x="76168" y="647179"/>
                  </a:lnTo>
                  <a:lnTo>
                    <a:pt x="88863" y="638444"/>
                  </a:lnTo>
                  <a:lnTo>
                    <a:pt x="102351" y="632886"/>
                  </a:lnTo>
                  <a:lnTo>
                    <a:pt x="116632" y="628121"/>
                  </a:lnTo>
                  <a:lnTo>
                    <a:pt x="130914" y="625739"/>
                  </a:lnTo>
                  <a:lnTo>
                    <a:pt x="145989" y="624151"/>
                  </a:lnTo>
                  <a:lnTo>
                    <a:pt x="159477" y="625739"/>
                  </a:lnTo>
                  <a:lnTo>
                    <a:pt x="159839" y="625812"/>
                  </a:lnTo>
                  <a:lnTo>
                    <a:pt x="170344" y="628816"/>
                  </a:lnTo>
                  <a:lnTo>
                    <a:pt x="180658" y="632786"/>
                  </a:lnTo>
                  <a:lnTo>
                    <a:pt x="190179" y="637550"/>
                  </a:lnTo>
                  <a:lnTo>
                    <a:pt x="198113" y="643109"/>
                  </a:lnTo>
                  <a:lnTo>
                    <a:pt x="205254" y="647874"/>
                  </a:lnTo>
                  <a:lnTo>
                    <a:pt x="212395" y="654226"/>
                  </a:lnTo>
                  <a:lnTo>
                    <a:pt x="223503" y="666138"/>
                  </a:lnTo>
                  <a:lnTo>
                    <a:pt x="230643" y="676461"/>
                  </a:lnTo>
                  <a:lnTo>
                    <a:pt x="236197" y="685990"/>
                  </a:lnTo>
                  <a:lnTo>
                    <a:pt x="243338" y="697901"/>
                  </a:lnTo>
                  <a:lnTo>
                    <a:pt x="250479" y="707430"/>
                  </a:lnTo>
                  <a:lnTo>
                    <a:pt x="259206" y="712989"/>
                  </a:lnTo>
                  <a:lnTo>
                    <a:pt x="266347" y="717753"/>
                  </a:lnTo>
                  <a:lnTo>
                    <a:pt x="274281" y="719341"/>
                  </a:lnTo>
                  <a:lnTo>
                    <a:pt x="275926" y="718975"/>
                  </a:lnTo>
                  <a:lnTo>
                    <a:pt x="279283" y="720235"/>
                  </a:lnTo>
                  <a:lnTo>
                    <a:pt x="284043" y="720235"/>
                  </a:lnTo>
                  <a:lnTo>
                    <a:pt x="289597" y="720235"/>
                  </a:lnTo>
                  <a:lnTo>
                    <a:pt x="294358" y="719441"/>
                  </a:lnTo>
                  <a:lnTo>
                    <a:pt x="299118" y="717059"/>
                  </a:lnTo>
                  <a:lnTo>
                    <a:pt x="303085" y="713088"/>
                  </a:lnTo>
                  <a:lnTo>
                    <a:pt x="306259" y="708324"/>
                  </a:lnTo>
                  <a:lnTo>
                    <a:pt x="308639" y="703559"/>
                  </a:lnTo>
                  <a:lnTo>
                    <a:pt x="311019" y="696413"/>
                  </a:lnTo>
                  <a:lnTo>
                    <a:pt x="311813" y="688472"/>
                  </a:lnTo>
                  <a:lnTo>
                    <a:pt x="313400" y="678943"/>
                  </a:lnTo>
                  <a:lnTo>
                    <a:pt x="313400"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49" name="TextBox 48"/>
            <p:cNvSpPr txBox="1"/>
            <p:nvPr/>
          </p:nvSpPr>
          <p:spPr>
            <a:xfrm>
              <a:off x="4655112" y="1109908"/>
              <a:ext cx="1290419" cy="646331"/>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Household</a:t>
              </a:r>
            </a:p>
            <a:p>
              <a:r>
                <a:rPr lang="en-IN" dirty="0">
                  <a:solidFill>
                    <a:prstClr val="white"/>
                  </a:solidFill>
                </a:rPr>
                <a:t>Profile</a:t>
              </a:r>
            </a:p>
          </p:txBody>
        </p:sp>
      </p:grpSp>
      <p:grpSp>
        <p:nvGrpSpPr>
          <p:cNvPr id="58" name="Group 57"/>
          <p:cNvGrpSpPr/>
          <p:nvPr/>
        </p:nvGrpSpPr>
        <p:grpSpPr>
          <a:xfrm>
            <a:off x="5169987" y="1355259"/>
            <a:ext cx="1865796" cy="1568450"/>
            <a:chOff x="5879657" y="1083316"/>
            <a:chExt cx="1865796" cy="1568450"/>
          </a:xfrm>
        </p:grpSpPr>
        <p:pic>
          <p:nvPicPr>
            <p:cNvPr id="35" name="Picture 34"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70467" t="67" b="66700"/>
            <a:stretch>
              <a:fillRect/>
            </a:stretch>
          </p:blipFill>
          <p:spPr bwMode="auto">
            <a:xfrm>
              <a:off x="5879657" y="1083316"/>
              <a:ext cx="1865796" cy="1568450"/>
            </a:xfrm>
            <a:custGeom>
              <a:avLst/>
              <a:gdLst>
                <a:gd name="connsiteX0" fmla="*/ 316046 w 1865796"/>
                <a:gd name="connsiteY0" fmla="*/ 0 h 1568450"/>
                <a:gd name="connsiteX1" fmla="*/ 1865796 w 1865796"/>
                <a:gd name="connsiteY1" fmla="*/ 0 h 1568450"/>
                <a:gd name="connsiteX2" fmla="*/ 1865796 w 1865796"/>
                <a:gd name="connsiteY2" fmla="*/ 1568450 h 1568450"/>
                <a:gd name="connsiteX3" fmla="*/ 1207801 w 1865796"/>
                <a:gd name="connsiteY3" fmla="*/ 1568450 h 1568450"/>
                <a:gd name="connsiteX4" fmla="*/ 1198272 w 1865796"/>
                <a:gd name="connsiteY4" fmla="*/ 1568450 h 1568450"/>
                <a:gd name="connsiteX5" fmla="*/ 1191126 w 1865796"/>
                <a:gd name="connsiteY5" fmla="*/ 1566862 h 1568450"/>
                <a:gd name="connsiteX6" fmla="*/ 1183979 w 1865796"/>
                <a:gd name="connsiteY6" fmla="*/ 1564479 h 1568450"/>
                <a:gd name="connsiteX7" fmla="*/ 1177626 w 1865796"/>
                <a:gd name="connsiteY7" fmla="*/ 1562097 h 1568450"/>
                <a:gd name="connsiteX8" fmla="*/ 1172862 w 1865796"/>
                <a:gd name="connsiteY8" fmla="*/ 1558920 h 1568450"/>
                <a:gd name="connsiteX9" fmla="*/ 1169685 w 1865796"/>
                <a:gd name="connsiteY9" fmla="*/ 1554155 h 1568450"/>
                <a:gd name="connsiteX10" fmla="*/ 1167303 w 1865796"/>
                <a:gd name="connsiteY10" fmla="*/ 1549391 h 1568450"/>
                <a:gd name="connsiteX11" fmla="*/ 1165799 w 1865796"/>
                <a:gd name="connsiteY11" fmla="*/ 1544878 h 1568450"/>
                <a:gd name="connsiteX12" fmla="*/ 1167242 w 1865796"/>
                <a:gd name="connsiteY12" fmla="*/ 1540553 h 1568450"/>
                <a:gd name="connsiteX13" fmla="*/ 1168036 w 1865796"/>
                <a:gd name="connsiteY13" fmla="*/ 1535792 h 1568450"/>
                <a:gd name="connsiteX14" fmla="*/ 1172007 w 1865796"/>
                <a:gd name="connsiteY14" fmla="*/ 1531032 h 1568450"/>
                <a:gd name="connsiteX15" fmla="*/ 1175183 w 1865796"/>
                <a:gd name="connsiteY15" fmla="*/ 1526271 h 1568450"/>
                <a:gd name="connsiteX16" fmla="*/ 1179154 w 1865796"/>
                <a:gd name="connsiteY16" fmla="*/ 1523098 h 1568450"/>
                <a:gd name="connsiteX17" fmla="*/ 1184713 w 1865796"/>
                <a:gd name="connsiteY17" fmla="*/ 1518337 h 1568450"/>
                <a:gd name="connsiteX18" fmla="*/ 1191067 w 1865796"/>
                <a:gd name="connsiteY18" fmla="*/ 1513577 h 1568450"/>
                <a:gd name="connsiteX19" fmla="*/ 1198214 w 1865796"/>
                <a:gd name="connsiteY19" fmla="*/ 1509610 h 1568450"/>
                <a:gd name="connsiteX20" fmla="*/ 1208538 w 1865796"/>
                <a:gd name="connsiteY20" fmla="*/ 1504056 h 1568450"/>
                <a:gd name="connsiteX21" fmla="*/ 1218068 w 1865796"/>
                <a:gd name="connsiteY21" fmla="*/ 1496915 h 1568450"/>
                <a:gd name="connsiteX22" fmla="*/ 1229980 w 1865796"/>
                <a:gd name="connsiteY22" fmla="*/ 1486601 h 1568450"/>
                <a:gd name="connsiteX23" fmla="*/ 1235539 w 1865796"/>
                <a:gd name="connsiteY23" fmla="*/ 1479460 h 1568450"/>
                <a:gd name="connsiteX24" fmla="*/ 1241892 w 1865796"/>
                <a:gd name="connsiteY24" fmla="*/ 1472319 h 1568450"/>
                <a:gd name="connsiteX25" fmla="*/ 1247451 w 1865796"/>
                <a:gd name="connsiteY25" fmla="*/ 1463592 h 1568450"/>
                <a:gd name="connsiteX26" fmla="*/ 1252216 w 1865796"/>
                <a:gd name="connsiteY26" fmla="*/ 1454071 h 1568450"/>
                <a:gd name="connsiteX27" fmla="*/ 1256187 w 1865796"/>
                <a:gd name="connsiteY27" fmla="*/ 1443756 h 1568450"/>
                <a:gd name="connsiteX28" fmla="*/ 1259363 w 1865796"/>
                <a:gd name="connsiteY28" fmla="*/ 1432648 h 1568450"/>
                <a:gd name="connsiteX29" fmla="*/ 1260952 w 1865796"/>
                <a:gd name="connsiteY29" fmla="*/ 1420747 h 1568450"/>
                <a:gd name="connsiteX30" fmla="*/ 1261746 w 1865796"/>
                <a:gd name="connsiteY30" fmla="*/ 1408052 h 1568450"/>
                <a:gd name="connsiteX31" fmla="*/ 1261570 w 1865796"/>
                <a:gd name="connsiteY31" fmla="*/ 1404543 h 1568450"/>
                <a:gd name="connsiteX32" fmla="*/ 1261799 w 1865796"/>
                <a:gd name="connsiteY32" fmla="*/ 1400884 h 1568450"/>
                <a:gd name="connsiteX33" fmla="*/ 1261005 w 1865796"/>
                <a:gd name="connsiteY33" fmla="*/ 1386589 h 1568450"/>
                <a:gd name="connsiteX34" fmla="*/ 1258623 w 1865796"/>
                <a:gd name="connsiteY34" fmla="*/ 1372295 h 1568450"/>
                <a:gd name="connsiteX35" fmla="*/ 1253858 w 1865796"/>
                <a:gd name="connsiteY35" fmla="*/ 1358000 h 1568450"/>
                <a:gd name="connsiteX36" fmla="*/ 1247505 w 1865796"/>
                <a:gd name="connsiteY36" fmla="*/ 1343705 h 1568450"/>
                <a:gd name="connsiteX37" fmla="*/ 1239565 w 1865796"/>
                <a:gd name="connsiteY37" fmla="*/ 1331793 h 1568450"/>
                <a:gd name="connsiteX38" fmla="*/ 1230830 w 1865796"/>
                <a:gd name="connsiteY38" fmla="*/ 1319881 h 1568450"/>
                <a:gd name="connsiteX39" fmla="*/ 1220507 w 1865796"/>
                <a:gd name="connsiteY39" fmla="*/ 1307968 h 1568450"/>
                <a:gd name="connsiteX40" fmla="*/ 1208595 w 1865796"/>
                <a:gd name="connsiteY40" fmla="*/ 1297644 h 1568450"/>
                <a:gd name="connsiteX41" fmla="*/ 1195890 w 1865796"/>
                <a:gd name="connsiteY41" fmla="*/ 1288115 h 1568450"/>
                <a:gd name="connsiteX42" fmla="*/ 1181597 w 1865796"/>
                <a:gd name="connsiteY42" fmla="*/ 1279379 h 1568450"/>
                <a:gd name="connsiteX43" fmla="*/ 1167303 w 1865796"/>
                <a:gd name="connsiteY43" fmla="*/ 1272232 h 1568450"/>
                <a:gd name="connsiteX44" fmla="*/ 1150627 w 1865796"/>
                <a:gd name="connsiteY44" fmla="*/ 1266672 h 1568450"/>
                <a:gd name="connsiteX45" fmla="*/ 1133951 w 1865796"/>
                <a:gd name="connsiteY45" fmla="*/ 1261908 h 1568450"/>
                <a:gd name="connsiteX46" fmla="*/ 1115688 w 1865796"/>
                <a:gd name="connsiteY46" fmla="*/ 1258731 h 1568450"/>
                <a:gd name="connsiteX47" fmla="*/ 1098218 w 1865796"/>
                <a:gd name="connsiteY47" fmla="*/ 1256348 h 1568450"/>
                <a:gd name="connsiteX48" fmla="*/ 1080748 w 1865796"/>
                <a:gd name="connsiteY48" fmla="*/ 1254760 h 1568450"/>
                <a:gd name="connsiteX49" fmla="*/ 1061690 w 1865796"/>
                <a:gd name="connsiteY49" fmla="*/ 1256348 h 1568450"/>
                <a:gd name="connsiteX50" fmla="*/ 1043426 w 1865796"/>
                <a:gd name="connsiteY50" fmla="*/ 1258731 h 1568450"/>
                <a:gd name="connsiteX51" fmla="*/ 1025956 w 1865796"/>
                <a:gd name="connsiteY51" fmla="*/ 1261908 h 1568450"/>
                <a:gd name="connsiteX52" fmla="*/ 1009281 w 1865796"/>
                <a:gd name="connsiteY52" fmla="*/ 1266672 h 1568450"/>
                <a:gd name="connsiteX53" fmla="*/ 992605 w 1865796"/>
                <a:gd name="connsiteY53" fmla="*/ 1272232 h 1568450"/>
                <a:gd name="connsiteX54" fmla="*/ 978311 w 1865796"/>
                <a:gd name="connsiteY54" fmla="*/ 1279379 h 1568450"/>
                <a:gd name="connsiteX55" fmla="*/ 964018 w 1865796"/>
                <a:gd name="connsiteY55" fmla="*/ 1288115 h 1568450"/>
                <a:gd name="connsiteX56" fmla="*/ 951313 w 1865796"/>
                <a:gd name="connsiteY56" fmla="*/ 1297644 h 1568450"/>
                <a:gd name="connsiteX57" fmla="*/ 939401 w 1865796"/>
                <a:gd name="connsiteY57" fmla="*/ 1307968 h 1568450"/>
                <a:gd name="connsiteX58" fmla="*/ 928284 w 1865796"/>
                <a:gd name="connsiteY58" fmla="*/ 1319881 h 1568450"/>
                <a:gd name="connsiteX59" fmla="*/ 920343 w 1865796"/>
                <a:gd name="connsiteY59" fmla="*/ 1331793 h 1568450"/>
                <a:gd name="connsiteX60" fmla="*/ 911608 w 1865796"/>
                <a:gd name="connsiteY60" fmla="*/ 1343705 h 1568450"/>
                <a:gd name="connsiteX61" fmla="*/ 906050 w 1865796"/>
                <a:gd name="connsiteY61" fmla="*/ 1358000 h 1568450"/>
                <a:gd name="connsiteX62" fmla="*/ 901285 w 1865796"/>
                <a:gd name="connsiteY62" fmla="*/ 1372295 h 1568450"/>
                <a:gd name="connsiteX63" fmla="*/ 898903 w 1865796"/>
                <a:gd name="connsiteY63" fmla="*/ 1386589 h 1568450"/>
                <a:gd name="connsiteX64" fmla="*/ 897315 w 1865796"/>
                <a:gd name="connsiteY64" fmla="*/ 1400884 h 1568450"/>
                <a:gd name="connsiteX65" fmla="*/ 897667 w 1865796"/>
                <a:gd name="connsiteY65" fmla="*/ 1403698 h 1568450"/>
                <a:gd name="connsiteX66" fmla="*/ 897231 w 1865796"/>
                <a:gd name="connsiteY66" fmla="*/ 1408052 h 1568450"/>
                <a:gd name="connsiteX67" fmla="*/ 898819 w 1865796"/>
                <a:gd name="connsiteY67" fmla="*/ 1420747 h 1568450"/>
                <a:gd name="connsiteX68" fmla="*/ 899613 w 1865796"/>
                <a:gd name="connsiteY68" fmla="*/ 1432648 h 1568450"/>
                <a:gd name="connsiteX69" fmla="*/ 903584 w 1865796"/>
                <a:gd name="connsiteY69" fmla="*/ 1443756 h 1568450"/>
                <a:gd name="connsiteX70" fmla="*/ 906761 w 1865796"/>
                <a:gd name="connsiteY70" fmla="*/ 1454071 h 1568450"/>
                <a:gd name="connsiteX71" fmla="*/ 913114 w 1865796"/>
                <a:gd name="connsiteY71" fmla="*/ 1463592 h 1568450"/>
                <a:gd name="connsiteX72" fmla="*/ 917879 w 1865796"/>
                <a:gd name="connsiteY72" fmla="*/ 1472319 h 1568450"/>
                <a:gd name="connsiteX73" fmla="*/ 923438 w 1865796"/>
                <a:gd name="connsiteY73" fmla="*/ 1479460 h 1568450"/>
                <a:gd name="connsiteX74" fmla="*/ 929791 w 1865796"/>
                <a:gd name="connsiteY74" fmla="*/ 1486601 h 1568450"/>
                <a:gd name="connsiteX75" fmla="*/ 941703 w 1865796"/>
                <a:gd name="connsiteY75" fmla="*/ 1496915 h 1568450"/>
                <a:gd name="connsiteX76" fmla="*/ 951233 w 1865796"/>
                <a:gd name="connsiteY76" fmla="*/ 1504056 h 1568450"/>
                <a:gd name="connsiteX77" fmla="*/ 961557 w 1865796"/>
                <a:gd name="connsiteY77" fmla="*/ 1509610 h 1568450"/>
                <a:gd name="connsiteX78" fmla="*/ 968704 w 1865796"/>
                <a:gd name="connsiteY78" fmla="*/ 1513577 h 1568450"/>
                <a:gd name="connsiteX79" fmla="*/ 975058 w 1865796"/>
                <a:gd name="connsiteY79" fmla="*/ 1518337 h 1568450"/>
                <a:gd name="connsiteX80" fmla="*/ 980617 w 1865796"/>
                <a:gd name="connsiteY80" fmla="*/ 1523098 h 1568450"/>
                <a:gd name="connsiteX81" fmla="*/ 985382 w 1865796"/>
                <a:gd name="connsiteY81" fmla="*/ 1526271 h 1568450"/>
                <a:gd name="connsiteX82" fmla="*/ 988558 w 1865796"/>
                <a:gd name="connsiteY82" fmla="*/ 1531032 h 1568450"/>
                <a:gd name="connsiteX83" fmla="*/ 990941 w 1865796"/>
                <a:gd name="connsiteY83" fmla="*/ 1535792 h 1568450"/>
                <a:gd name="connsiteX84" fmla="*/ 992529 w 1865796"/>
                <a:gd name="connsiteY84" fmla="*/ 1540553 h 1568450"/>
                <a:gd name="connsiteX85" fmla="*/ 993304 w 1865796"/>
                <a:gd name="connsiteY85" fmla="*/ 1545198 h 1568450"/>
                <a:gd name="connsiteX86" fmla="*/ 992605 w 1865796"/>
                <a:gd name="connsiteY86" fmla="*/ 1549391 h 1568450"/>
                <a:gd name="connsiteX87" fmla="*/ 990223 w 1865796"/>
                <a:gd name="connsiteY87" fmla="*/ 1554155 h 1568450"/>
                <a:gd name="connsiteX88" fmla="*/ 986252 w 1865796"/>
                <a:gd name="connsiteY88" fmla="*/ 1558920 h 1568450"/>
                <a:gd name="connsiteX89" fmla="*/ 982282 w 1865796"/>
                <a:gd name="connsiteY89" fmla="*/ 1562097 h 1568450"/>
                <a:gd name="connsiteX90" fmla="*/ 975929 w 1865796"/>
                <a:gd name="connsiteY90" fmla="*/ 1564479 h 1568450"/>
                <a:gd name="connsiteX91" fmla="*/ 968782 w 1865796"/>
                <a:gd name="connsiteY91" fmla="*/ 1566862 h 1568450"/>
                <a:gd name="connsiteX92" fmla="*/ 961636 w 1865796"/>
                <a:gd name="connsiteY92" fmla="*/ 1568450 h 1568450"/>
                <a:gd name="connsiteX93" fmla="*/ 952107 w 1865796"/>
                <a:gd name="connsiteY93" fmla="*/ 1568450 h 1568450"/>
                <a:gd name="connsiteX94" fmla="*/ 316046 w 1865796"/>
                <a:gd name="connsiteY94" fmla="*/ 1568450 h 1568450"/>
                <a:gd name="connsiteX95" fmla="*/ 316046 w 1865796"/>
                <a:gd name="connsiteY95" fmla="*/ 1134843 h 1568450"/>
                <a:gd name="connsiteX96" fmla="*/ 313663 w 1865796"/>
                <a:gd name="connsiteY96" fmla="*/ 1134843 h 1568450"/>
                <a:gd name="connsiteX97" fmla="*/ 313663 w 1865796"/>
                <a:gd name="connsiteY97" fmla="*/ 935511 h 1568450"/>
                <a:gd name="connsiteX98" fmla="*/ 313663 w 1865796"/>
                <a:gd name="connsiteY98" fmla="*/ 925981 h 1568450"/>
                <a:gd name="connsiteX99" fmla="*/ 312075 w 1865796"/>
                <a:gd name="connsiteY99" fmla="*/ 917246 h 1568450"/>
                <a:gd name="connsiteX100" fmla="*/ 309693 w 1865796"/>
                <a:gd name="connsiteY100" fmla="*/ 910892 h 1568450"/>
                <a:gd name="connsiteX101" fmla="*/ 308105 w 1865796"/>
                <a:gd name="connsiteY101" fmla="*/ 904539 h 1568450"/>
                <a:gd name="connsiteX102" fmla="*/ 304134 w 1865796"/>
                <a:gd name="connsiteY102" fmla="*/ 899774 h 1568450"/>
                <a:gd name="connsiteX103" fmla="*/ 299370 w 1865796"/>
                <a:gd name="connsiteY103" fmla="*/ 896598 h 1568450"/>
                <a:gd name="connsiteX104" fmla="*/ 294605 w 1865796"/>
                <a:gd name="connsiteY104" fmla="*/ 894215 h 1568450"/>
                <a:gd name="connsiteX105" fmla="*/ 289841 w 1865796"/>
                <a:gd name="connsiteY105" fmla="*/ 892627 h 1568450"/>
                <a:gd name="connsiteX106" fmla="*/ 285076 w 1865796"/>
                <a:gd name="connsiteY106" fmla="*/ 892627 h 1568450"/>
                <a:gd name="connsiteX107" fmla="*/ 280312 w 1865796"/>
                <a:gd name="connsiteY107" fmla="*/ 894215 h 1568450"/>
                <a:gd name="connsiteX108" fmla="*/ 274753 w 1865796"/>
                <a:gd name="connsiteY108" fmla="*/ 896598 h 1568450"/>
                <a:gd name="connsiteX109" fmla="*/ 274284 w 1865796"/>
                <a:gd name="connsiteY109" fmla="*/ 896911 h 1568450"/>
                <a:gd name="connsiteX110" fmla="*/ 272598 w 1865796"/>
                <a:gd name="connsiteY110" fmla="*/ 897417 h 1568450"/>
                <a:gd name="connsiteX111" fmla="*/ 265457 w 1865796"/>
                <a:gd name="connsiteY111" fmla="*/ 901387 h 1568450"/>
                <a:gd name="connsiteX112" fmla="*/ 256730 w 1865796"/>
                <a:gd name="connsiteY112" fmla="*/ 906946 h 1568450"/>
                <a:gd name="connsiteX113" fmla="*/ 249589 w 1865796"/>
                <a:gd name="connsiteY113" fmla="*/ 916475 h 1568450"/>
                <a:gd name="connsiteX114" fmla="*/ 242448 w 1865796"/>
                <a:gd name="connsiteY114" fmla="*/ 928386 h 1568450"/>
                <a:gd name="connsiteX115" fmla="*/ 236894 w 1865796"/>
                <a:gd name="connsiteY115" fmla="*/ 937915 h 1568450"/>
                <a:gd name="connsiteX116" fmla="*/ 229754 w 1865796"/>
                <a:gd name="connsiteY116" fmla="*/ 948238 h 1568450"/>
                <a:gd name="connsiteX117" fmla="*/ 218646 w 1865796"/>
                <a:gd name="connsiteY117" fmla="*/ 960149 h 1568450"/>
                <a:gd name="connsiteX118" fmla="*/ 211505 w 1865796"/>
                <a:gd name="connsiteY118" fmla="*/ 966502 h 1568450"/>
                <a:gd name="connsiteX119" fmla="*/ 204364 w 1865796"/>
                <a:gd name="connsiteY119" fmla="*/ 971267 h 1568450"/>
                <a:gd name="connsiteX120" fmla="*/ 196430 w 1865796"/>
                <a:gd name="connsiteY120" fmla="*/ 976825 h 1568450"/>
                <a:gd name="connsiteX121" fmla="*/ 186909 w 1865796"/>
                <a:gd name="connsiteY121" fmla="*/ 981590 h 1568450"/>
                <a:gd name="connsiteX122" fmla="*/ 180369 w 1865796"/>
                <a:gd name="connsiteY122" fmla="*/ 984611 h 1568450"/>
                <a:gd name="connsiteX123" fmla="*/ 172316 w 1865796"/>
                <a:gd name="connsiteY123" fmla="*/ 986337 h 1568450"/>
                <a:gd name="connsiteX124" fmla="*/ 159611 w 1865796"/>
                <a:gd name="connsiteY124" fmla="*/ 988719 h 1568450"/>
                <a:gd name="connsiteX125" fmla="*/ 146112 w 1865796"/>
                <a:gd name="connsiteY125" fmla="*/ 988719 h 1568450"/>
                <a:gd name="connsiteX126" fmla="*/ 131818 w 1865796"/>
                <a:gd name="connsiteY126" fmla="*/ 988719 h 1568450"/>
                <a:gd name="connsiteX127" fmla="*/ 117525 w 1865796"/>
                <a:gd name="connsiteY127" fmla="*/ 985543 h 1568450"/>
                <a:gd name="connsiteX128" fmla="*/ 103231 w 1865796"/>
                <a:gd name="connsiteY128" fmla="*/ 981572 h 1568450"/>
                <a:gd name="connsiteX129" fmla="*/ 88938 w 1865796"/>
                <a:gd name="connsiteY129" fmla="*/ 974425 h 1568450"/>
                <a:gd name="connsiteX130" fmla="*/ 77820 w 1865796"/>
                <a:gd name="connsiteY130" fmla="*/ 967277 h 1568450"/>
                <a:gd name="connsiteX131" fmla="*/ 65909 w 1865796"/>
                <a:gd name="connsiteY131" fmla="*/ 957747 h 1568450"/>
                <a:gd name="connsiteX132" fmla="*/ 53998 w 1865796"/>
                <a:gd name="connsiteY132" fmla="*/ 947423 h 1568450"/>
                <a:gd name="connsiteX133" fmla="*/ 42881 w 1865796"/>
                <a:gd name="connsiteY133" fmla="*/ 936305 h 1568450"/>
                <a:gd name="connsiteX134" fmla="*/ 33352 w 1865796"/>
                <a:gd name="connsiteY134" fmla="*/ 923599 h 1568450"/>
                <a:gd name="connsiteX135" fmla="*/ 25411 w 1865796"/>
                <a:gd name="connsiteY135" fmla="*/ 909304 h 1568450"/>
                <a:gd name="connsiteX136" fmla="*/ 18264 w 1865796"/>
                <a:gd name="connsiteY136" fmla="*/ 894215 h 1568450"/>
                <a:gd name="connsiteX137" fmla="*/ 11912 w 1865796"/>
                <a:gd name="connsiteY137" fmla="*/ 878332 h 1568450"/>
                <a:gd name="connsiteX138" fmla="*/ 7147 w 1865796"/>
                <a:gd name="connsiteY138" fmla="*/ 861655 h 1568450"/>
                <a:gd name="connsiteX139" fmla="*/ 3971 w 1865796"/>
                <a:gd name="connsiteY139" fmla="*/ 844184 h 1568450"/>
                <a:gd name="connsiteX140" fmla="*/ 1588 w 1865796"/>
                <a:gd name="connsiteY140" fmla="*/ 825918 h 1568450"/>
                <a:gd name="connsiteX141" fmla="*/ 0 w 1865796"/>
                <a:gd name="connsiteY141" fmla="*/ 806858 h 1568450"/>
                <a:gd name="connsiteX142" fmla="*/ 1588 w 1865796"/>
                <a:gd name="connsiteY142" fmla="*/ 788593 h 1568450"/>
                <a:gd name="connsiteX143" fmla="*/ 3971 w 1865796"/>
                <a:gd name="connsiteY143" fmla="*/ 770327 h 1568450"/>
                <a:gd name="connsiteX144" fmla="*/ 7147 w 1865796"/>
                <a:gd name="connsiteY144" fmla="*/ 752856 h 1568450"/>
                <a:gd name="connsiteX145" fmla="*/ 11912 w 1865796"/>
                <a:gd name="connsiteY145" fmla="*/ 736179 h 1568450"/>
                <a:gd name="connsiteX146" fmla="*/ 18264 w 1865796"/>
                <a:gd name="connsiteY146" fmla="*/ 720296 h 1568450"/>
                <a:gd name="connsiteX147" fmla="*/ 25411 w 1865796"/>
                <a:gd name="connsiteY147" fmla="*/ 705207 h 1568450"/>
                <a:gd name="connsiteX148" fmla="*/ 33352 w 1865796"/>
                <a:gd name="connsiteY148" fmla="*/ 690912 h 1568450"/>
                <a:gd name="connsiteX149" fmla="*/ 42881 w 1865796"/>
                <a:gd name="connsiteY149" fmla="*/ 679000 h 1568450"/>
                <a:gd name="connsiteX150" fmla="*/ 53998 w 1865796"/>
                <a:gd name="connsiteY150" fmla="*/ 667088 h 1568450"/>
                <a:gd name="connsiteX151" fmla="*/ 65909 w 1865796"/>
                <a:gd name="connsiteY151" fmla="*/ 656764 h 1568450"/>
                <a:gd name="connsiteX152" fmla="*/ 77820 w 1865796"/>
                <a:gd name="connsiteY152" fmla="*/ 647234 h 1568450"/>
                <a:gd name="connsiteX153" fmla="*/ 88938 w 1865796"/>
                <a:gd name="connsiteY153" fmla="*/ 640087 h 1568450"/>
                <a:gd name="connsiteX154" fmla="*/ 100767 w 1865796"/>
                <a:gd name="connsiteY154" fmla="*/ 634172 h 1568450"/>
                <a:gd name="connsiteX155" fmla="*/ 110741 w 1865796"/>
                <a:gd name="connsiteY155" fmla="*/ 631398 h 1568450"/>
                <a:gd name="connsiteX156" fmla="*/ 125023 w 1865796"/>
                <a:gd name="connsiteY156" fmla="*/ 628222 h 1568450"/>
                <a:gd name="connsiteX157" fmla="*/ 140891 w 1865796"/>
                <a:gd name="connsiteY157" fmla="*/ 628222 h 1568450"/>
                <a:gd name="connsiteX158" fmla="*/ 153586 w 1865796"/>
                <a:gd name="connsiteY158" fmla="*/ 628222 h 1568450"/>
                <a:gd name="connsiteX159" fmla="*/ 165487 w 1865796"/>
                <a:gd name="connsiteY159" fmla="*/ 630604 h 1568450"/>
                <a:gd name="connsiteX160" fmla="*/ 176595 w 1865796"/>
                <a:gd name="connsiteY160" fmla="*/ 633781 h 1568450"/>
                <a:gd name="connsiteX161" fmla="*/ 186909 w 1865796"/>
                <a:gd name="connsiteY161" fmla="*/ 637751 h 1568450"/>
                <a:gd name="connsiteX162" fmla="*/ 196430 w 1865796"/>
                <a:gd name="connsiteY162" fmla="*/ 642515 h 1568450"/>
                <a:gd name="connsiteX163" fmla="*/ 204364 w 1865796"/>
                <a:gd name="connsiteY163" fmla="*/ 648074 h 1568450"/>
                <a:gd name="connsiteX164" fmla="*/ 211505 w 1865796"/>
                <a:gd name="connsiteY164" fmla="*/ 652839 h 1568450"/>
                <a:gd name="connsiteX165" fmla="*/ 218646 w 1865796"/>
                <a:gd name="connsiteY165" fmla="*/ 659191 h 1568450"/>
                <a:gd name="connsiteX166" fmla="*/ 229754 w 1865796"/>
                <a:gd name="connsiteY166" fmla="*/ 671103 h 1568450"/>
                <a:gd name="connsiteX167" fmla="*/ 236894 w 1865796"/>
                <a:gd name="connsiteY167" fmla="*/ 681426 h 1568450"/>
                <a:gd name="connsiteX168" fmla="*/ 242448 w 1865796"/>
                <a:gd name="connsiteY168" fmla="*/ 690955 h 1568450"/>
                <a:gd name="connsiteX169" fmla="*/ 249589 w 1865796"/>
                <a:gd name="connsiteY169" fmla="*/ 702866 h 1568450"/>
                <a:gd name="connsiteX170" fmla="*/ 256730 w 1865796"/>
                <a:gd name="connsiteY170" fmla="*/ 712395 h 1568450"/>
                <a:gd name="connsiteX171" fmla="*/ 265457 w 1865796"/>
                <a:gd name="connsiteY171" fmla="*/ 717954 h 1568450"/>
                <a:gd name="connsiteX172" fmla="*/ 272598 w 1865796"/>
                <a:gd name="connsiteY172" fmla="*/ 722718 h 1568450"/>
                <a:gd name="connsiteX173" fmla="*/ 280532 w 1865796"/>
                <a:gd name="connsiteY173" fmla="*/ 724306 h 1568450"/>
                <a:gd name="connsiteX174" fmla="*/ 287673 w 1865796"/>
                <a:gd name="connsiteY174" fmla="*/ 722718 h 1568450"/>
                <a:gd name="connsiteX175" fmla="*/ 289340 w 1865796"/>
                <a:gd name="connsiteY175" fmla="*/ 721884 h 1568450"/>
                <a:gd name="connsiteX176" fmla="*/ 289841 w 1865796"/>
                <a:gd name="connsiteY176" fmla="*/ 721884 h 1568450"/>
                <a:gd name="connsiteX177" fmla="*/ 294605 w 1865796"/>
                <a:gd name="connsiteY177" fmla="*/ 720296 h 1568450"/>
                <a:gd name="connsiteX178" fmla="*/ 299370 w 1865796"/>
                <a:gd name="connsiteY178" fmla="*/ 717913 h 1568450"/>
                <a:gd name="connsiteX179" fmla="*/ 304134 w 1865796"/>
                <a:gd name="connsiteY179" fmla="*/ 714737 h 1568450"/>
                <a:gd name="connsiteX180" fmla="*/ 308105 w 1865796"/>
                <a:gd name="connsiteY180" fmla="*/ 709972 h 1568450"/>
                <a:gd name="connsiteX181" fmla="*/ 309693 w 1865796"/>
                <a:gd name="connsiteY181" fmla="*/ 703619 h 1568450"/>
                <a:gd name="connsiteX182" fmla="*/ 312075 w 1865796"/>
                <a:gd name="connsiteY182" fmla="*/ 696471 h 1568450"/>
                <a:gd name="connsiteX183" fmla="*/ 313663 w 1865796"/>
                <a:gd name="connsiteY183" fmla="*/ 688530 h 1568450"/>
                <a:gd name="connsiteX184" fmla="*/ 313663 w 1865796"/>
                <a:gd name="connsiteY184" fmla="*/ 679000 h 1568450"/>
                <a:gd name="connsiteX185" fmla="*/ 313663 w 1865796"/>
                <a:gd name="connsiteY185" fmla="*/ 360545 h 1568450"/>
                <a:gd name="connsiteX186" fmla="*/ 316046 w 1865796"/>
                <a:gd name="connsiteY186" fmla="*/ 360545 h 1568450"/>
                <a:gd name="connsiteX187" fmla="*/ 316046 w 1865796"/>
                <a:gd name="connsiteY187" fmla="*/ 0 h 156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865796" h="1568450">
                  <a:moveTo>
                    <a:pt x="316046" y="0"/>
                  </a:moveTo>
                  <a:lnTo>
                    <a:pt x="1865796" y="0"/>
                  </a:lnTo>
                  <a:lnTo>
                    <a:pt x="1865796" y="1568450"/>
                  </a:lnTo>
                  <a:lnTo>
                    <a:pt x="1207801" y="1568450"/>
                  </a:lnTo>
                  <a:lnTo>
                    <a:pt x="1198272" y="1568450"/>
                  </a:lnTo>
                  <a:lnTo>
                    <a:pt x="1191126" y="1566862"/>
                  </a:lnTo>
                  <a:lnTo>
                    <a:pt x="1183979" y="1564479"/>
                  </a:lnTo>
                  <a:lnTo>
                    <a:pt x="1177626" y="1562097"/>
                  </a:lnTo>
                  <a:lnTo>
                    <a:pt x="1172862" y="1558920"/>
                  </a:lnTo>
                  <a:lnTo>
                    <a:pt x="1169685" y="1554155"/>
                  </a:lnTo>
                  <a:lnTo>
                    <a:pt x="1167303" y="1549391"/>
                  </a:lnTo>
                  <a:lnTo>
                    <a:pt x="1165799" y="1544878"/>
                  </a:lnTo>
                  <a:lnTo>
                    <a:pt x="1167242" y="1540553"/>
                  </a:lnTo>
                  <a:lnTo>
                    <a:pt x="1168036" y="1535792"/>
                  </a:lnTo>
                  <a:lnTo>
                    <a:pt x="1172007" y="1531032"/>
                  </a:lnTo>
                  <a:lnTo>
                    <a:pt x="1175183" y="1526271"/>
                  </a:lnTo>
                  <a:lnTo>
                    <a:pt x="1179154" y="1523098"/>
                  </a:lnTo>
                  <a:lnTo>
                    <a:pt x="1184713" y="1518337"/>
                  </a:lnTo>
                  <a:lnTo>
                    <a:pt x="1191067" y="1513577"/>
                  </a:lnTo>
                  <a:lnTo>
                    <a:pt x="1198214" y="1509610"/>
                  </a:lnTo>
                  <a:lnTo>
                    <a:pt x="1208538" y="1504056"/>
                  </a:lnTo>
                  <a:lnTo>
                    <a:pt x="1218068" y="1496915"/>
                  </a:lnTo>
                  <a:lnTo>
                    <a:pt x="1229980" y="1486601"/>
                  </a:lnTo>
                  <a:lnTo>
                    <a:pt x="1235539" y="1479460"/>
                  </a:lnTo>
                  <a:lnTo>
                    <a:pt x="1241892" y="1472319"/>
                  </a:lnTo>
                  <a:lnTo>
                    <a:pt x="1247451" y="1463592"/>
                  </a:lnTo>
                  <a:lnTo>
                    <a:pt x="1252216" y="1454071"/>
                  </a:lnTo>
                  <a:lnTo>
                    <a:pt x="1256187" y="1443756"/>
                  </a:lnTo>
                  <a:lnTo>
                    <a:pt x="1259363" y="1432648"/>
                  </a:lnTo>
                  <a:lnTo>
                    <a:pt x="1260952" y="1420747"/>
                  </a:lnTo>
                  <a:lnTo>
                    <a:pt x="1261746" y="1408052"/>
                  </a:lnTo>
                  <a:lnTo>
                    <a:pt x="1261570" y="1404543"/>
                  </a:lnTo>
                  <a:lnTo>
                    <a:pt x="1261799" y="1400884"/>
                  </a:lnTo>
                  <a:lnTo>
                    <a:pt x="1261005" y="1386589"/>
                  </a:lnTo>
                  <a:lnTo>
                    <a:pt x="1258623" y="1372295"/>
                  </a:lnTo>
                  <a:lnTo>
                    <a:pt x="1253858" y="1358000"/>
                  </a:lnTo>
                  <a:lnTo>
                    <a:pt x="1247505" y="1343705"/>
                  </a:lnTo>
                  <a:lnTo>
                    <a:pt x="1239565" y="1331793"/>
                  </a:lnTo>
                  <a:lnTo>
                    <a:pt x="1230830" y="1319881"/>
                  </a:lnTo>
                  <a:lnTo>
                    <a:pt x="1220507" y="1307968"/>
                  </a:lnTo>
                  <a:lnTo>
                    <a:pt x="1208595" y="1297644"/>
                  </a:lnTo>
                  <a:lnTo>
                    <a:pt x="1195890" y="1288115"/>
                  </a:lnTo>
                  <a:lnTo>
                    <a:pt x="1181597" y="1279379"/>
                  </a:lnTo>
                  <a:lnTo>
                    <a:pt x="1167303" y="1272232"/>
                  </a:lnTo>
                  <a:lnTo>
                    <a:pt x="1150627" y="1266672"/>
                  </a:lnTo>
                  <a:lnTo>
                    <a:pt x="1133951" y="1261908"/>
                  </a:lnTo>
                  <a:lnTo>
                    <a:pt x="1115688" y="1258731"/>
                  </a:lnTo>
                  <a:lnTo>
                    <a:pt x="1098218" y="1256348"/>
                  </a:lnTo>
                  <a:lnTo>
                    <a:pt x="1080748" y="1254760"/>
                  </a:lnTo>
                  <a:lnTo>
                    <a:pt x="1061690" y="1256348"/>
                  </a:lnTo>
                  <a:lnTo>
                    <a:pt x="1043426" y="1258731"/>
                  </a:lnTo>
                  <a:lnTo>
                    <a:pt x="1025956" y="1261908"/>
                  </a:lnTo>
                  <a:lnTo>
                    <a:pt x="1009281" y="1266672"/>
                  </a:lnTo>
                  <a:lnTo>
                    <a:pt x="992605" y="1272232"/>
                  </a:lnTo>
                  <a:lnTo>
                    <a:pt x="978311" y="1279379"/>
                  </a:lnTo>
                  <a:lnTo>
                    <a:pt x="964018" y="1288115"/>
                  </a:lnTo>
                  <a:lnTo>
                    <a:pt x="951313" y="1297644"/>
                  </a:lnTo>
                  <a:lnTo>
                    <a:pt x="939401" y="1307968"/>
                  </a:lnTo>
                  <a:lnTo>
                    <a:pt x="928284" y="1319881"/>
                  </a:lnTo>
                  <a:lnTo>
                    <a:pt x="920343" y="1331793"/>
                  </a:lnTo>
                  <a:lnTo>
                    <a:pt x="911608" y="1343705"/>
                  </a:lnTo>
                  <a:lnTo>
                    <a:pt x="906050" y="1358000"/>
                  </a:lnTo>
                  <a:lnTo>
                    <a:pt x="901285" y="1372295"/>
                  </a:lnTo>
                  <a:lnTo>
                    <a:pt x="898903" y="1386589"/>
                  </a:lnTo>
                  <a:lnTo>
                    <a:pt x="897315" y="1400884"/>
                  </a:lnTo>
                  <a:lnTo>
                    <a:pt x="897667" y="1403698"/>
                  </a:lnTo>
                  <a:lnTo>
                    <a:pt x="897231" y="1408052"/>
                  </a:lnTo>
                  <a:lnTo>
                    <a:pt x="898819" y="1420747"/>
                  </a:lnTo>
                  <a:lnTo>
                    <a:pt x="899613" y="1432648"/>
                  </a:lnTo>
                  <a:lnTo>
                    <a:pt x="903584" y="1443756"/>
                  </a:lnTo>
                  <a:lnTo>
                    <a:pt x="906761" y="1454071"/>
                  </a:lnTo>
                  <a:lnTo>
                    <a:pt x="913114" y="1463592"/>
                  </a:lnTo>
                  <a:lnTo>
                    <a:pt x="917879" y="1472319"/>
                  </a:lnTo>
                  <a:lnTo>
                    <a:pt x="923438" y="1479460"/>
                  </a:lnTo>
                  <a:lnTo>
                    <a:pt x="929791" y="1486601"/>
                  </a:lnTo>
                  <a:lnTo>
                    <a:pt x="941703" y="1496915"/>
                  </a:lnTo>
                  <a:lnTo>
                    <a:pt x="951233" y="1504056"/>
                  </a:lnTo>
                  <a:lnTo>
                    <a:pt x="961557" y="1509610"/>
                  </a:lnTo>
                  <a:lnTo>
                    <a:pt x="968704" y="1513577"/>
                  </a:lnTo>
                  <a:lnTo>
                    <a:pt x="975058" y="1518337"/>
                  </a:lnTo>
                  <a:lnTo>
                    <a:pt x="980617" y="1523098"/>
                  </a:lnTo>
                  <a:lnTo>
                    <a:pt x="985382" y="1526271"/>
                  </a:lnTo>
                  <a:lnTo>
                    <a:pt x="988558" y="1531032"/>
                  </a:lnTo>
                  <a:lnTo>
                    <a:pt x="990941" y="1535792"/>
                  </a:lnTo>
                  <a:lnTo>
                    <a:pt x="992529" y="1540553"/>
                  </a:lnTo>
                  <a:lnTo>
                    <a:pt x="993304" y="1545198"/>
                  </a:lnTo>
                  <a:lnTo>
                    <a:pt x="992605" y="1549391"/>
                  </a:lnTo>
                  <a:lnTo>
                    <a:pt x="990223" y="1554155"/>
                  </a:lnTo>
                  <a:lnTo>
                    <a:pt x="986252" y="1558920"/>
                  </a:lnTo>
                  <a:lnTo>
                    <a:pt x="982282" y="1562097"/>
                  </a:lnTo>
                  <a:lnTo>
                    <a:pt x="975929" y="1564479"/>
                  </a:lnTo>
                  <a:lnTo>
                    <a:pt x="968782" y="1566862"/>
                  </a:lnTo>
                  <a:lnTo>
                    <a:pt x="961636" y="1568450"/>
                  </a:lnTo>
                  <a:lnTo>
                    <a:pt x="952107" y="1568450"/>
                  </a:lnTo>
                  <a:lnTo>
                    <a:pt x="316046" y="1568450"/>
                  </a:lnTo>
                  <a:lnTo>
                    <a:pt x="316046" y="1134843"/>
                  </a:lnTo>
                  <a:lnTo>
                    <a:pt x="313663" y="1134843"/>
                  </a:lnTo>
                  <a:lnTo>
                    <a:pt x="313663" y="935511"/>
                  </a:lnTo>
                  <a:lnTo>
                    <a:pt x="313663" y="925981"/>
                  </a:lnTo>
                  <a:lnTo>
                    <a:pt x="312075" y="917246"/>
                  </a:lnTo>
                  <a:lnTo>
                    <a:pt x="309693" y="910892"/>
                  </a:lnTo>
                  <a:lnTo>
                    <a:pt x="308105" y="904539"/>
                  </a:lnTo>
                  <a:lnTo>
                    <a:pt x="304134" y="899774"/>
                  </a:lnTo>
                  <a:lnTo>
                    <a:pt x="299370" y="896598"/>
                  </a:lnTo>
                  <a:lnTo>
                    <a:pt x="294605" y="894215"/>
                  </a:lnTo>
                  <a:lnTo>
                    <a:pt x="289841" y="892627"/>
                  </a:lnTo>
                  <a:lnTo>
                    <a:pt x="285076" y="892627"/>
                  </a:lnTo>
                  <a:lnTo>
                    <a:pt x="280312" y="894215"/>
                  </a:lnTo>
                  <a:lnTo>
                    <a:pt x="274753" y="896598"/>
                  </a:lnTo>
                  <a:lnTo>
                    <a:pt x="274284" y="896911"/>
                  </a:lnTo>
                  <a:lnTo>
                    <a:pt x="272598" y="897417"/>
                  </a:lnTo>
                  <a:lnTo>
                    <a:pt x="265457" y="901387"/>
                  </a:lnTo>
                  <a:lnTo>
                    <a:pt x="256730" y="906946"/>
                  </a:lnTo>
                  <a:lnTo>
                    <a:pt x="249589" y="916475"/>
                  </a:lnTo>
                  <a:lnTo>
                    <a:pt x="242448" y="928386"/>
                  </a:lnTo>
                  <a:lnTo>
                    <a:pt x="236894" y="937915"/>
                  </a:lnTo>
                  <a:lnTo>
                    <a:pt x="229754" y="948238"/>
                  </a:lnTo>
                  <a:lnTo>
                    <a:pt x="218646" y="960149"/>
                  </a:lnTo>
                  <a:lnTo>
                    <a:pt x="211505" y="966502"/>
                  </a:lnTo>
                  <a:lnTo>
                    <a:pt x="204364" y="971267"/>
                  </a:lnTo>
                  <a:lnTo>
                    <a:pt x="196430" y="976825"/>
                  </a:lnTo>
                  <a:lnTo>
                    <a:pt x="186909" y="981590"/>
                  </a:lnTo>
                  <a:lnTo>
                    <a:pt x="180369" y="984611"/>
                  </a:lnTo>
                  <a:lnTo>
                    <a:pt x="172316" y="986337"/>
                  </a:lnTo>
                  <a:lnTo>
                    <a:pt x="159611" y="988719"/>
                  </a:lnTo>
                  <a:lnTo>
                    <a:pt x="146112" y="988719"/>
                  </a:lnTo>
                  <a:lnTo>
                    <a:pt x="131818" y="988719"/>
                  </a:lnTo>
                  <a:lnTo>
                    <a:pt x="117525" y="985543"/>
                  </a:lnTo>
                  <a:lnTo>
                    <a:pt x="103231" y="981572"/>
                  </a:lnTo>
                  <a:lnTo>
                    <a:pt x="88938" y="974425"/>
                  </a:lnTo>
                  <a:lnTo>
                    <a:pt x="77820" y="967277"/>
                  </a:lnTo>
                  <a:lnTo>
                    <a:pt x="65909" y="957747"/>
                  </a:lnTo>
                  <a:lnTo>
                    <a:pt x="53998" y="947423"/>
                  </a:lnTo>
                  <a:lnTo>
                    <a:pt x="42881" y="936305"/>
                  </a:lnTo>
                  <a:lnTo>
                    <a:pt x="33352" y="923599"/>
                  </a:lnTo>
                  <a:lnTo>
                    <a:pt x="25411" y="909304"/>
                  </a:lnTo>
                  <a:lnTo>
                    <a:pt x="18264" y="894215"/>
                  </a:lnTo>
                  <a:lnTo>
                    <a:pt x="11912" y="878332"/>
                  </a:lnTo>
                  <a:lnTo>
                    <a:pt x="7147" y="861655"/>
                  </a:lnTo>
                  <a:lnTo>
                    <a:pt x="3971" y="844184"/>
                  </a:lnTo>
                  <a:lnTo>
                    <a:pt x="1588" y="825918"/>
                  </a:lnTo>
                  <a:lnTo>
                    <a:pt x="0" y="806858"/>
                  </a:lnTo>
                  <a:lnTo>
                    <a:pt x="1588" y="788593"/>
                  </a:lnTo>
                  <a:lnTo>
                    <a:pt x="3971" y="770327"/>
                  </a:lnTo>
                  <a:lnTo>
                    <a:pt x="7147" y="752856"/>
                  </a:lnTo>
                  <a:lnTo>
                    <a:pt x="11912" y="736179"/>
                  </a:lnTo>
                  <a:lnTo>
                    <a:pt x="18264" y="720296"/>
                  </a:lnTo>
                  <a:lnTo>
                    <a:pt x="25411" y="705207"/>
                  </a:lnTo>
                  <a:lnTo>
                    <a:pt x="33352" y="690912"/>
                  </a:lnTo>
                  <a:lnTo>
                    <a:pt x="42881" y="679000"/>
                  </a:lnTo>
                  <a:lnTo>
                    <a:pt x="53998" y="667088"/>
                  </a:lnTo>
                  <a:lnTo>
                    <a:pt x="65909" y="656764"/>
                  </a:lnTo>
                  <a:lnTo>
                    <a:pt x="77820" y="647234"/>
                  </a:lnTo>
                  <a:lnTo>
                    <a:pt x="88938" y="640087"/>
                  </a:lnTo>
                  <a:lnTo>
                    <a:pt x="100767" y="634172"/>
                  </a:lnTo>
                  <a:lnTo>
                    <a:pt x="110741" y="631398"/>
                  </a:lnTo>
                  <a:lnTo>
                    <a:pt x="125023" y="628222"/>
                  </a:lnTo>
                  <a:lnTo>
                    <a:pt x="140891" y="628222"/>
                  </a:lnTo>
                  <a:lnTo>
                    <a:pt x="153586" y="628222"/>
                  </a:lnTo>
                  <a:lnTo>
                    <a:pt x="165487" y="630604"/>
                  </a:lnTo>
                  <a:lnTo>
                    <a:pt x="176595" y="633781"/>
                  </a:lnTo>
                  <a:lnTo>
                    <a:pt x="186909" y="637751"/>
                  </a:lnTo>
                  <a:lnTo>
                    <a:pt x="196430" y="642515"/>
                  </a:lnTo>
                  <a:lnTo>
                    <a:pt x="204364" y="648074"/>
                  </a:lnTo>
                  <a:lnTo>
                    <a:pt x="211505" y="652839"/>
                  </a:lnTo>
                  <a:lnTo>
                    <a:pt x="218646" y="659191"/>
                  </a:lnTo>
                  <a:lnTo>
                    <a:pt x="229754" y="671103"/>
                  </a:lnTo>
                  <a:lnTo>
                    <a:pt x="236894" y="681426"/>
                  </a:lnTo>
                  <a:lnTo>
                    <a:pt x="242448" y="690955"/>
                  </a:lnTo>
                  <a:lnTo>
                    <a:pt x="249589" y="702866"/>
                  </a:lnTo>
                  <a:lnTo>
                    <a:pt x="256730" y="712395"/>
                  </a:lnTo>
                  <a:lnTo>
                    <a:pt x="265457" y="717954"/>
                  </a:lnTo>
                  <a:lnTo>
                    <a:pt x="272598" y="722718"/>
                  </a:lnTo>
                  <a:lnTo>
                    <a:pt x="280532" y="724306"/>
                  </a:lnTo>
                  <a:lnTo>
                    <a:pt x="287673" y="722718"/>
                  </a:lnTo>
                  <a:lnTo>
                    <a:pt x="289340" y="721884"/>
                  </a:lnTo>
                  <a:lnTo>
                    <a:pt x="289841" y="721884"/>
                  </a:lnTo>
                  <a:lnTo>
                    <a:pt x="294605" y="720296"/>
                  </a:lnTo>
                  <a:lnTo>
                    <a:pt x="299370" y="717913"/>
                  </a:lnTo>
                  <a:lnTo>
                    <a:pt x="304134" y="714737"/>
                  </a:lnTo>
                  <a:lnTo>
                    <a:pt x="308105" y="709972"/>
                  </a:lnTo>
                  <a:lnTo>
                    <a:pt x="309693" y="703619"/>
                  </a:lnTo>
                  <a:lnTo>
                    <a:pt x="312075" y="696471"/>
                  </a:lnTo>
                  <a:lnTo>
                    <a:pt x="313663" y="688530"/>
                  </a:lnTo>
                  <a:lnTo>
                    <a:pt x="313663" y="679000"/>
                  </a:lnTo>
                  <a:lnTo>
                    <a:pt x="313663" y="360545"/>
                  </a:lnTo>
                  <a:lnTo>
                    <a:pt x="316046" y="360545"/>
                  </a:lnTo>
                  <a:lnTo>
                    <a:pt x="316046"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50" name="TextBox 49"/>
            <p:cNvSpPr txBox="1"/>
            <p:nvPr/>
          </p:nvSpPr>
          <p:spPr>
            <a:xfrm>
              <a:off x="6195569" y="1083316"/>
              <a:ext cx="1503965" cy="646331"/>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Geo-Demographic</a:t>
              </a:r>
            </a:p>
          </p:txBody>
        </p:sp>
      </p:grpSp>
      <p:grpSp>
        <p:nvGrpSpPr>
          <p:cNvPr id="62" name="Group 61"/>
          <p:cNvGrpSpPr/>
          <p:nvPr/>
        </p:nvGrpSpPr>
        <p:grpSpPr>
          <a:xfrm>
            <a:off x="723788" y="4504860"/>
            <a:ext cx="1887539" cy="1566861"/>
            <a:chOff x="1433458" y="4232917"/>
            <a:chExt cx="1887539" cy="1566861"/>
          </a:xfrm>
        </p:grpSpPr>
        <p:pic>
          <p:nvPicPr>
            <p:cNvPr id="45" name="Picture 44"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90" t="66801" r="70033"/>
            <a:stretch>
              <a:fillRect/>
            </a:stretch>
          </p:blipFill>
          <p:spPr bwMode="auto">
            <a:xfrm>
              <a:off x="1433460" y="4232917"/>
              <a:ext cx="1887537" cy="1566861"/>
            </a:xfrm>
            <a:custGeom>
              <a:avLst/>
              <a:gdLst>
                <a:gd name="connsiteX0" fmla="*/ 0 w 1887537"/>
                <a:gd name="connsiteY0" fmla="*/ 0 h 1566861"/>
                <a:gd name="connsiteX1" fmla="*/ 679793 w 1887537"/>
                <a:gd name="connsiteY1" fmla="*/ 0 h 1566861"/>
                <a:gd name="connsiteX2" fmla="*/ 688529 w 1887537"/>
                <a:gd name="connsiteY2" fmla="*/ 794 h 1566861"/>
                <a:gd name="connsiteX3" fmla="*/ 696471 w 1887537"/>
                <a:gd name="connsiteY3" fmla="*/ 2382 h 1566861"/>
                <a:gd name="connsiteX4" fmla="*/ 703618 w 1887537"/>
                <a:gd name="connsiteY4" fmla="*/ 4763 h 1566861"/>
                <a:gd name="connsiteX5" fmla="*/ 709971 w 1887537"/>
                <a:gd name="connsiteY5" fmla="*/ 7144 h 1566861"/>
                <a:gd name="connsiteX6" fmla="*/ 714736 w 1887537"/>
                <a:gd name="connsiteY6" fmla="*/ 10319 h 1566861"/>
                <a:gd name="connsiteX7" fmla="*/ 717913 w 1887537"/>
                <a:gd name="connsiteY7" fmla="*/ 15082 h 1566861"/>
                <a:gd name="connsiteX8" fmla="*/ 720295 w 1887537"/>
                <a:gd name="connsiteY8" fmla="*/ 19050 h 1566861"/>
                <a:gd name="connsiteX9" fmla="*/ 721822 w 1887537"/>
                <a:gd name="connsiteY9" fmla="*/ 24394 h 1566861"/>
                <a:gd name="connsiteX10" fmla="*/ 721822 w 1887537"/>
                <a:gd name="connsiteY10" fmla="*/ 26223 h 1566861"/>
                <a:gd name="connsiteX11" fmla="*/ 720234 w 1887537"/>
                <a:gd name="connsiteY11" fmla="*/ 30990 h 1566861"/>
                <a:gd name="connsiteX12" fmla="*/ 717852 w 1887537"/>
                <a:gd name="connsiteY12" fmla="*/ 37346 h 1566861"/>
                <a:gd name="connsiteX13" fmla="*/ 714676 w 1887537"/>
                <a:gd name="connsiteY13" fmla="*/ 42114 h 1566861"/>
                <a:gd name="connsiteX14" fmla="*/ 709911 w 1887537"/>
                <a:gd name="connsiteY14" fmla="*/ 47676 h 1566861"/>
                <a:gd name="connsiteX15" fmla="*/ 703558 w 1887537"/>
                <a:gd name="connsiteY15" fmla="*/ 52443 h 1566861"/>
                <a:gd name="connsiteX16" fmla="*/ 696412 w 1887537"/>
                <a:gd name="connsiteY16" fmla="*/ 57210 h 1566861"/>
                <a:gd name="connsiteX17" fmla="*/ 689265 w 1887537"/>
                <a:gd name="connsiteY17" fmla="*/ 61978 h 1566861"/>
                <a:gd name="connsiteX18" fmla="*/ 678942 w 1887537"/>
                <a:gd name="connsiteY18" fmla="*/ 67540 h 1566861"/>
                <a:gd name="connsiteX19" fmla="*/ 669413 w 1887537"/>
                <a:gd name="connsiteY19" fmla="*/ 74691 h 1566861"/>
                <a:gd name="connsiteX20" fmla="*/ 657501 w 1887537"/>
                <a:gd name="connsiteY20" fmla="*/ 86609 h 1566861"/>
                <a:gd name="connsiteX21" fmla="*/ 651943 w 1887537"/>
                <a:gd name="connsiteY21" fmla="*/ 92965 h 1566861"/>
                <a:gd name="connsiteX22" fmla="*/ 645590 w 1887537"/>
                <a:gd name="connsiteY22" fmla="*/ 100911 h 1566861"/>
                <a:gd name="connsiteX23" fmla="*/ 640032 w 1887537"/>
                <a:gd name="connsiteY23" fmla="*/ 109651 h 1566861"/>
                <a:gd name="connsiteX24" fmla="*/ 635267 w 1887537"/>
                <a:gd name="connsiteY24" fmla="*/ 117596 h 1566861"/>
                <a:gd name="connsiteX25" fmla="*/ 631297 w 1887537"/>
                <a:gd name="connsiteY25" fmla="*/ 128720 h 1566861"/>
                <a:gd name="connsiteX26" fmla="*/ 628120 w 1887537"/>
                <a:gd name="connsiteY26" fmla="*/ 139049 h 1566861"/>
                <a:gd name="connsiteX27" fmla="*/ 625738 w 1887537"/>
                <a:gd name="connsiteY27" fmla="*/ 152557 h 1566861"/>
                <a:gd name="connsiteX28" fmla="*/ 625738 w 1887537"/>
                <a:gd name="connsiteY28" fmla="*/ 165270 h 1566861"/>
                <a:gd name="connsiteX29" fmla="*/ 625791 w 1887537"/>
                <a:gd name="connsiteY29" fmla="*/ 166225 h 1566861"/>
                <a:gd name="connsiteX30" fmla="*/ 625791 w 1887537"/>
                <a:gd name="connsiteY30" fmla="*/ 167481 h 1566861"/>
                <a:gd name="connsiteX31" fmla="*/ 626585 w 1887537"/>
                <a:gd name="connsiteY31" fmla="*/ 182563 h 1566861"/>
                <a:gd name="connsiteX32" fmla="*/ 628968 w 1887537"/>
                <a:gd name="connsiteY32" fmla="*/ 196850 h 1566861"/>
                <a:gd name="connsiteX33" fmla="*/ 633733 w 1887537"/>
                <a:gd name="connsiteY33" fmla="*/ 211138 h 1566861"/>
                <a:gd name="connsiteX34" fmla="*/ 640086 w 1887537"/>
                <a:gd name="connsiteY34" fmla="*/ 223838 h 1566861"/>
                <a:gd name="connsiteX35" fmla="*/ 647233 w 1887537"/>
                <a:gd name="connsiteY35" fmla="*/ 237331 h 1566861"/>
                <a:gd name="connsiteX36" fmla="*/ 656763 w 1887537"/>
                <a:gd name="connsiteY36" fmla="*/ 249238 h 1566861"/>
                <a:gd name="connsiteX37" fmla="*/ 667087 w 1887537"/>
                <a:gd name="connsiteY37" fmla="*/ 261144 h 1566861"/>
                <a:gd name="connsiteX38" fmla="*/ 678999 w 1887537"/>
                <a:gd name="connsiteY38" fmla="*/ 271463 h 1566861"/>
                <a:gd name="connsiteX39" fmla="*/ 691706 w 1887537"/>
                <a:gd name="connsiteY39" fmla="*/ 280988 h 1566861"/>
                <a:gd name="connsiteX40" fmla="*/ 705206 w 1887537"/>
                <a:gd name="connsiteY40" fmla="*/ 289719 h 1566861"/>
                <a:gd name="connsiteX41" fmla="*/ 720295 w 1887537"/>
                <a:gd name="connsiteY41" fmla="*/ 296863 h 1566861"/>
                <a:gd name="connsiteX42" fmla="*/ 736972 w 1887537"/>
                <a:gd name="connsiteY42" fmla="*/ 302419 h 1566861"/>
                <a:gd name="connsiteX43" fmla="*/ 753650 w 1887537"/>
                <a:gd name="connsiteY43" fmla="*/ 307181 h 1566861"/>
                <a:gd name="connsiteX44" fmla="*/ 770327 w 1887537"/>
                <a:gd name="connsiteY44" fmla="*/ 311150 h 1566861"/>
                <a:gd name="connsiteX45" fmla="*/ 789386 w 1887537"/>
                <a:gd name="connsiteY45" fmla="*/ 312738 h 1566861"/>
                <a:gd name="connsiteX46" fmla="*/ 806858 w 1887537"/>
                <a:gd name="connsiteY46" fmla="*/ 314325 h 1566861"/>
                <a:gd name="connsiteX47" fmla="*/ 825917 w 1887537"/>
                <a:gd name="connsiteY47" fmla="*/ 312738 h 1566861"/>
                <a:gd name="connsiteX48" fmla="*/ 844183 w 1887537"/>
                <a:gd name="connsiteY48" fmla="*/ 311150 h 1566861"/>
                <a:gd name="connsiteX49" fmla="*/ 861654 w 1887537"/>
                <a:gd name="connsiteY49" fmla="*/ 307181 h 1566861"/>
                <a:gd name="connsiteX50" fmla="*/ 878331 w 1887537"/>
                <a:gd name="connsiteY50" fmla="*/ 302419 h 1566861"/>
                <a:gd name="connsiteX51" fmla="*/ 893420 w 1887537"/>
                <a:gd name="connsiteY51" fmla="*/ 296863 h 1566861"/>
                <a:gd name="connsiteX52" fmla="*/ 909303 w 1887537"/>
                <a:gd name="connsiteY52" fmla="*/ 289719 h 1566861"/>
                <a:gd name="connsiteX53" fmla="*/ 923598 w 1887537"/>
                <a:gd name="connsiteY53" fmla="*/ 280988 h 1566861"/>
                <a:gd name="connsiteX54" fmla="*/ 936304 w 1887537"/>
                <a:gd name="connsiteY54" fmla="*/ 271463 h 1566861"/>
                <a:gd name="connsiteX55" fmla="*/ 948217 w 1887537"/>
                <a:gd name="connsiteY55" fmla="*/ 261144 h 1566861"/>
                <a:gd name="connsiteX56" fmla="*/ 957746 w 1887537"/>
                <a:gd name="connsiteY56" fmla="*/ 249238 h 1566861"/>
                <a:gd name="connsiteX57" fmla="*/ 967276 w 1887537"/>
                <a:gd name="connsiteY57" fmla="*/ 237331 h 1566861"/>
                <a:gd name="connsiteX58" fmla="*/ 976012 w 1887537"/>
                <a:gd name="connsiteY58" fmla="*/ 223838 h 1566861"/>
                <a:gd name="connsiteX59" fmla="*/ 981571 w 1887537"/>
                <a:gd name="connsiteY59" fmla="*/ 211138 h 1566861"/>
                <a:gd name="connsiteX60" fmla="*/ 986336 w 1887537"/>
                <a:gd name="connsiteY60" fmla="*/ 196850 h 1566861"/>
                <a:gd name="connsiteX61" fmla="*/ 988718 w 1887537"/>
                <a:gd name="connsiteY61" fmla="*/ 182563 h 1566861"/>
                <a:gd name="connsiteX62" fmla="*/ 990307 w 1887537"/>
                <a:gd name="connsiteY62" fmla="*/ 167481 h 1566861"/>
                <a:gd name="connsiteX63" fmla="*/ 990127 w 1887537"/>
                <a:gd name="connsiteY63" fmla="*/ 166133 h 1566861"/>
                <a:gd name="connsiteX64" fmla="*/ 990223 w 1887537"/>
                <a:gd name="connsiteY64" fmla="*/ 165270 h 1566861"/>
                <a:gd name="connsiteX65" fmla="*/ 988634 w 1887537"/>
                <a:gd name="connsiteY65" fmla="*/ 152557 h 1566861"/>
                <a:gd name="connsiteX66" fmla="*/ 986252 w 1887537"/>
                <a:gd name="connsiteY66" fmla="*/ 139049 h 1566861"/>
                <a:gd name="connsiteX67" fmla="*/ 983870 w 1887537"/>
                <a:gd name="connsiteY67" fmla="*/ 128720 h 1566861"/>
                <a:gd name="connsiteX68" fmla="*/ 979105 w 1887537"/>
                <a:gd name="connsiteY68" fmla="*/ 117596 h 1566861"/>
                <a:gd name="connsiteX69" fmla="*/ 974341 w 1887537"/>
                <a:gd name="connsiteY69" fmla="*/ 109651 h 1566861"/>
                <a:gd name="connsiteX70" fmla="*/ 969576 w 1887537"/>
                <a:gd name="connsiteY70" fmla="*/ 100911 h 1566861"/>
                <a:gd name="connsiteX71" fmla="*/ 964018 w 1887537"/>
                <a:gd name="connsiteY71" fmla="*/ 92965 h 1566861"/>
                <a:gd name="connsiteX72" fmla="*/ 957665 w 1887537"/>
                <a:gd name="connsiteY72" fmla="*/ 86609 h 1566861"/>
                <a:gd name="connsiteX73" fmla="*/ 945754 w 1887537"/>
                <a:gd name="connsiteY73" fmla="*/ 74691 h 1566861"/>
                <a:gd name="connsiteX74" fmla="*/ 935431 w 1887537"/>
                <a:gd name="connsiteY74" fmla="*/ 67540 h 1566861"/>
                <a:gd name="connsiteX75" fmla="*/ 925902 w 1887537"/>
                <a:gd name="connsiteY75" fmla="*/ 61978 h 1566861"/>
                <a:gd name="connsiteX76" fmla="*/ 917167 w 1887537"/>
                <a:gd name="connsiteY76" fmla="*/ 57210 h 1566861"/>
                <a:gd name="connsiteX77" fmla="*/ 910020 w 1887537"/>
                <a:gd name="connsiteY77" fmla="*/ 52443 h 1566861"/>
                <a:gd name="connsiteX78" fmla="*/ 904462 w 1887537"/>
                <a:gd name="connsiteY78" fmla="*/ 47676 h 1566861"/>
                <a:gd name="connsiteX79" fmla="*/ 899697 w 1887537"/>
                <a:gd name="connsiteY79" fmla="*/ 42114 h 1566861"/>
                <a:gd name="connsiteX80" fmla="*/ 895727 w 1887537"/>
                <a:gd name="connsiteY80" fmla="*/ 37346 h 1566861"/>
                <a:gd name="connsiteX81" fmla="*/ 893420 w 1887537"/>
                <a:gd name="connsiteY81" fmla="*/ 31193 h 1566861"/>
                <a:gd name="connsiteX82" fmla="*/ 893420 w 1887537"/>
                <a:gd name="connsiteY82" fmla="*/ 29369 h 1566861"/>
                <a:gd name="connsiteX83" fmla="*/ 893420 w 1887537"/>
                <a:gd name="connsiteY83" fmla="*/ 24607 h 1566861"/>
                <a:gd name="connsiteX84" fmla="*/ 895008 w 1887537"/>
                <a:gd name="connsiteY84" fmla="*/ 19050 h 1566861"/>
                <a:gd name="connsiteX85" fmla="*/ 897391 w 1887537"/>
                <a:gd name="connsiteY85" fmla="*/ 15082 h 1566861"/>
                <a:gd name="connsiteX86" fmla="*/ 900567 w 1887537"/>
                <a:gd name="connsiteY86" fmla="*/ 10319 h 1566861"/>
                <a:gd name="connsiteX87" fmla="*/ 905332 w 1887537"/>
                <a:gd name="connsiteY87" fmla="*/ 7144 h 1566861"/>
                <a:gd name="connsiteX88" fmla="*/ 910097 w 1887537"/>
                <a:gd name="connsiteY88" fmla="*/ 4763 h 1566861"/>
                <a:gd name="connsiteX89" fmla="*/ 917245 w 1887537"/>
                <a:gd name="connsiteY89" fmla="*/ 2382 h 1566861"/>
                <a:gd name="connsiteX90" fmla="*/ 925980 w 1887537"/>
                <a:gd name="connsiteY90" fmla="*/ 794 h 1566861"/>
                <a:gd name="connsiteX91" fmla="*/ 935510 w 1887537"/>
                <a:gd name="connsiteY91" fmla="*/ 0 h 1566861"/>
                <a:gd name="connsiteX92" fmla="*/ 1571492 w 1887537"/>
                <a:gd name="connsiteY92" fmla="*/ 0 h 1566861"/>
                <a:gd name="connsiteX93" fmla="*/ 1571492 w 1887537"/>
                <a:gd name="connsiteY93" fmla="*/ 431445 h 1566861"/>
                <a:gd name="connsiteX94" fmla="*/ 1572286 w 1887537"/>
                <a:gd name="connsiteY94" fmla="*/ 431445 h 1566861"/>
                <a:gd name="connsiteX95" fmla="*/ 1572286 w 1887537"/>
                <a:gd name="connsiteY95" fmla="*/ 630878 h 1566861"/>
                <a:gd name="connsiteX96" fmla="*/ 1573874 w 1887537"/>
                <a:gd name="connsiteY96" fmla="*/ 640413 h 1566861"/>
                <a:gd name="connsiteX97" fmla="*/ 1574668 w 1887537"/>
                <a:gd name="connsiteY97" fmla="*/ 648358 h 1566861"/>
                <a:gd name="connsiteX98" fmla="*/ 1577050 w 1887537"/>
                <a:gd name="connsiteY98" fmla="*/ 655509 h 1566861"/>
                <a:gd name="connsiteX99" fmla="*/ 1579433 w 1887537"/>
                <a:gd name="connsiteY99" fmla="*/ 661866 h 1566861"/>
                <a:gd name="connsiteX100" fmla="*/ 1583403 w 1887537"/>
                <a:gd name="connsiteY100" fmla="*/ 666633 h 1566861"/>
                <a:gd name="connsiteX101" fmla="*/ 1588168 w 1887537"/>
                <a:gd name="connsiteY101" fmla="*/ 669811 h 1566861"/>
                <a:gd name="connsiteX102" fmla="*/ 1591344 w 1887537"/>
                <a:gd name="connsiteY102" fmla="*/ 672195 h 1566861"/>
                <a:gd name="connsiteX103" fmla="*/ 1596108 w 1887537"/>
                <a:gd name="connsiteY103" fmla="*/ 673784 h 1566861"/>
                <a:gd name="connsiteX104" fmla="*/ 1602461 w 1887537"/>
                <a:gd name="connsiteY104" fmla="*/ 673784 h 1566861"/>
                <a:gd name="connsiteX105" fmla="*/ 1603845 w 1887537"/>
                <a:gd name="connsiteY105" fmla="*/ 673323 h 1566861"/>
                <a:gd name="connsiteX106" fmla="*/ 1609981 w 1887537"/>
                <a:gd name="connsiteY106" fmla="*/ 674687 h 1566861"/>
                <a:gd name="connsiteX107" fmla="*/ 1618705 w 1887537"/>
                <a:gd name="connsiteY107" fmla="*/ 672306 h 1566861"/>
                <a:gd name="connsiteX108" fmla="*/ 1626636 w 1887537"/>
                <a:gd name="connsiteY108" fmla="*/ 668337 h 1566861"/>
                <a:gd name="connsiteX109" fmla="*/ 1633774 w 1887537"/>
                <a:gd name="connsiteY109" fmla="*/ 662781 h 1566861"/>
                <a:gd name="connsiteX110" fmla="*/ 1640911 w 1887537"/>
                <a:gd name="connsiteY110" fmla="*/ 653256 h 1566861"/>
                <a:gd name="connsiteX111" fmla="*/ 1648049 w 1887537"/>
                <a:gd name="connsiteY111" fmla="*/ 641350 h 1566861"/>
                <a:gd name="connsiteX112" fmla="*/ 1654394 w 1887537"/>
                <a:gd name="connsiteY112" fmla="*/ 631825 h 1566861"/>
                <a:gd name="connsiteX113" fmla="*/ 1661532 w 1887537"/>
                <a:gd name="connsiteY113" fmla="*/ 621506 h 1566861"/>
                <a:gd name="connsiteX114" fmla="*/ 1671842 w 1887537"/>
                <a:gd name="connsiteY114" fmla="*/ 609600 h 1566861"/>
                <a:gd name="connsiteX115" fmla="*/ 1678979 w 1887537"/>
                <a:gd name="connsiteY115" fmla="*/ 603250 h 1566861"/>
                <a:gd name="connsiteX116" fmla="*/ 1686117 w 1887537"/>
                <a:gd name="connsiteY116" fmla="*/ 597694 h 1566861"/>
                <a:gd name="connsiteX117" fmla="*/ 1694048 w 1887537"/>
                <a:gd name="connsiteY117" fmla="*/ 592931 h 1566861"/>
                <a:gd name="connsiteX118" fmla="*/ 1703565 w 1887537"/>
                <a:gd name="connsiteY118" fmla="*/ 588169 h 1566861"/>
                <a:gd name="connsiteX119" fmla="*/ 1714668 w 1887537"/>
                <a:gd name="connsiteY119" fmla="*/ 583406 h 1566861"/>
                <a:gd name="connsiteX120" fmla="*/ 1724978 w 1887537"/>
                <a:gd name="connsiteY120" fmla="*/ 581025 h 1566861"/>
                <a:gd name="connsiteX121" fmla="*/ 1736874 w 1887537"/>
                <a:gd name="connsiteY121" fmla="*/ 578644 h 1566861"/>
                <a:gd name="connsiteX122" fmla="*/ 1750125 w 1887537"/>
                <a:gd name="connsiteY122" fmla="*/ 577084 h 1566861"/>
                <a:gd name="connsiteX123" fmla="*/ 1755719 w 1887537"/>
                <a:gd name="connsiteY123" fmla="*/ 577643 h 1566861"/>
                <a:gd name="connsiteX124" fmla="*/ 1770013 w 1887537"/>
                <a:gd name="connsiteY124" fmla="*/ 580821 h 1566861"/>
                <a:gd name="connsiteX125" fmla="*/ 1784306 w 1887537"/>
                <a:gd name="connsiteY125" fmla="*/ 584794 h 1566861"/>
                <a:gd name="connsiteX126" fmla="*/ 1797012 w 1887537"/>
                <a:gd name="connsiteY126" fmla="*/ 591945 h 1566861"/>
                <a:gd name="connsiteX127" fmla="*/ 1809717 w 1887537"/>
                <a:gd name="connsiteY127" fmla="*/ 599096 h 1566861"/>
                <a:gd name="connsiteX128" fmla="*/ 1821628 w 1887537"/>
                <a:gd name="connsiteY128" fmla="*/ 608631 h 1566861"/>
                <a:gd name="connsiteX129" fmla="*/ 1833539 w 1887537"/>
                <a:gd name="connsiteY129" fmla="*/ 618960 h 1566861"/>
                <a:gd name="connsiteX130" fmla="*/ 1843068 w 1887537"/>
                <a:gd name="connsiteY130" fmla="*/ 630083 h 1566861"/>
                <a:gd name="connsiteX131" fmla="*/ 1852598 w 1887537"/>
                <a:gd name="connsiteY131" fmla="*/ 642796 h 1566861"/>
                <a:gd name="connsiteX132" fmla="*/ 1862127 w 1887537"/>
                <a:gd name="connsiteY132" fmla="*/ 657098 h 1566861"/>
                <a:gd name="connsiteX133" fmla="*/ 1869273 w 1887537"/>
                <a:gd name="connsiteY133" fmla="*/ 672195 h 1566861"/>
                <a:gd name="connsiteX134" fmla="*/ 1875626 w 1887537"/>
                <a:gd name="connsiteY134" fmla="*/ 688086 h 1566861"/>
                <a:gd name="connsiteX135" fmla="*/ 1880390 w 1887537"/>
                <a:gd name="connsiteY135" fmla="*/ 704772 h 1566861"/>
                <a:gd name="connsiteX136" fmla="*/ 1883567 w 1887537"/>
                <a:gd name="connsiteY136" fmla="*/ 722252 h 1566861"/>
                <a:gd name="connsiteX137" fmla="*/ 1885949 w 1887537"/>
                <a:gd name="connsiteY137" fmla="*/ 740526 h 1566861"/>
                <a:gd name="connsiteX138" fmla="*/ 1887537 w 1887537"/>
                <a:gd name="connsiteY138" fmla="*/ 759596 h 1566861"/>
                <a:gd name="connsiteX139" fmla="*/ 1885949 w 1887537"/>
                <a:gd name="connsiteY139" fmla="*/ 777870 h 1566861"/>
                <a:gd name="connsiteX140" fmla="*/ 1883567 w 1887537"/>
                <a:gd name="connsiteY140" fmla="*/ 796145 h 1566861"/>
                <a:gd name="connsiteX141" fmla="*/ 1880390 w 1887537"/>
                <a:gd name="connsiteY141" fmla="*/ 813625 h 1566861"/>
                <a:gd name="connsiteX142" fmla="*/ 1875626 w 1887537"/>
                <a:gd name="connsiteY142" fmla="*/ 830311 h 1566861"/>
                <a:gd name="connsiteX143" fmla="*/ 1869273 w 1887537"/>
                <a:gd name="connsiteY143" fmla="*/ 846202 h 1566861"/>
                <a:gd name="connsiteX144" fmla="*/ 1862127 w 1887537"/>
                <a:gd name="connsiteY144" fmla="*/ 861299 h 1566861"/>
                <a:gd name="connsiteX145" fmla="*/ 1852598 w 1887537"/>
                <a:gd name="connsiteY145" fmla="*/ 875601 h 1566861"/>
                <a:gd name="connsiteX146" fmla="*/ 1843068 w 1887537"/>
                <a:gd name="connsiteY146" fmla="*/ 887519 h 1566861"/>
                <a:gd name="connsiteX147" fmla="*/ 1833539 w 1887537"/>
                <a:gd name="connsiteY147" fmla="*/ 899437 h 1566861"/>
                <a:gd name="connsiteX148" fmla="*/ 1821628 w 1887537"/>
                <a:gd name="connsiteY148" fmla="*/ 909766 h 1566861"/>
                <a:gd name="connsiteX149" fmla="*/ 1809717 w 1887537"/>
                <a:gd name="connsiteY149" fmla="*/ 919301 h 1566861"/>
                <a:gd name="connsiteX150" fmla="*/ 1797012 w 1887537"/>
                <a:gd name="connsiteY150" fmla="*/ 926452 h 1566861"/>
                <a:gd name="connsiteX151" fmla="*/ 1784306 w 1887537"/>
                <a:gd name="connsiteY151" fmla="*/ 933603 h 1566861"/>
                <a:gd name="connsiteX152" fmla="*/ 1770013 w 1887537"/>
                <a:gd name="connsiteY152" fmla="*/ 937576 h 1566861"/>
                <a:gd name="connsiteX153" fmla="*/ 1755719 w 1887537"/>
                <a:gd name="connsiteY153" fmla="*/ 940754 h 1566861"/>
                <a:gd name="connsiteX154" fmla="*/ 1739838 w 1887537"/>
                <a:gd name="connsiteY154" fmla="*/ 940754 h 1566861"/>
                <a:gd name="connsiteX155" fmla="*/ 1733712 w 1887537"/>
                <a:gd name="connsiteY155" fmla="*/ 940754 h 1566861"/>
                <a:gd name="connsiteX156" fmla="*/ 1724978 w 1887537"/>
                <a:gd name="connsiteY156" fmla="*/ 939006 h 1566861"/>
                <a:gd name="connsiteX157" fmla="*/ 1714668 w 1887537"/>
                <a:gd name="connsiteY157" fmla="*/ 935831 h 1566861"/>
                <a:gd name="connsiteX158" fmla="*/ 1703565 w 1887537"/>
                <a:gd name="connsiteY158" fmla="*/ 931862 h 1566861"/>
                <a:gd name="connsiteX159" fmla="*/ 1694048 w 1887537"/>
                <a:gd name="connsiteY159" fmla="*/ 927100 h 1566861"/>
                <a:gd name="connsiteX160" fmla="*/ 1686117 w 1887537"/>
                <a:gd name="connsiteY160" fmla="*/ 921544 h 1566861"/>
                <a:gd name="connsiteX161" fmla="*/ 1678979 w 1887537"/>
                <a:gd name="connsiteY161" fmla="*/ 916781 h 1566861"/>
                <a:gd name="connsiteX162" fmla="*/ 1671842 w 1887537"/>
                <a:gd name="connsiteY162" fmla="*/ 910431 h 1566861"/>
                <a:gd name="connsiteX163" fmla="*/ 1661532 w 1887537"/>
                <a:gd name="connsiteY163" fmla="*/ 898525 h 1566861"/>
                <a:gd name="connsiteX164" fmla="*/ 1654394 w 1887537"/>
                <a:gd name="connsiteY164" fmla="*/ 888206 h 1566861"/>
                <a:gd name="connsiteX165" fmla="*/ 1648049 w 1887537"/>
                <a:gd name="connsiteY165" fmla="*/ 878681 h 1566861"/>
                <a:gd name="connsiteX166" fmla="*/ 1640911 w 1887537"/>
                <a:gd name="connsiteY166" fmla="*/ 866775 h 1566861"/>
                <a:gd name="connsiteX167" fmla="*/ 1633774 w 1887537"/>
                <a:gd name="connsiteY167" fmla="*/ 857250 h 1566861"/>
                <a:gd name="connsiteX168" fmla="*/ 1626636 w 1887537"/>
                <a:gd name="connsiteY168" fmla="*/ 851694 h 1566861"/>
                <a:gd name="connsiteX169" fmla="*/ 1618705 w 1887537"/>
                <a:gd name="connsiteY169" fmla="*/ 846931 h 1566861"/>
                <a:gd name="connsiteX170" fmla="*/ 1609981 w 1887537"/>
                <a:gd name="connsiteY170" fmla="*/ 845344 h 1566861"/>
                <a:gd name="connsiteX171" fmla="*/ 1606785 w 1887537"/>
                <a:gd name="connsiteY171" fmla="*/ 846055 h 1566861"/>
                <a:gd name="connsiteX172" fmla="*/ 1602461 w 1887537"/>
                <a:gd name="connsiteY172" fmla="*/ 844613 h 1566861"/>
                <a:gd name="connsiteX173" fmla="*/ 1596108 w 1887537"/>
                <a:gd name="connsiteY173" fmla="*/ 844613 h 1566861"/>
                <a:gd name="connsiteX174" fmla="*/ 1591344 w 1887537"/>
                <a:gd name="connsiteY174" fmla="*/ 846202 h 1566861"/>
                <a:gd name="connsiteX175" fmla="*/ 1588168 w 1887537"/>
                <a:gd name="connsiteY175" fmla="*/ 848586 h 1566861"/>
                <a:gd name="connsiteX176" fmla="*/ 1583403 w 1887537"/>
                <a:gd name="connsiteY176" fmla="*/ 851764 h 1566861"/>
                <a:gd name="connsiteX177" fmla="*/ 1579433 w 1887537"/>
                <a:gd name="connsiteY177" fmla="*/ 856531 h 1566861"/>
                <a:gd name="connsiteX178" fmla="*/ 1577050 w 1887537"/>
                <a:gd name="connsiteY178" fmla="*/ 862888 h 1566861"/>
                <a:gd name="connsiteX179" fmla="*/ 1574668 w 1887537"/>
                <a:gd name="connsiteY179" fmla="*/ 870039 h 1566861"/>
                <a:gd name="connsiteX180" fmla="*/ 1573874 w 1887537"/>
                <a:gd name="connsiteY180" fmla="*/ 877984 h 1566861"/>
                <a:gd name="connsiteX181" fmla="*/ 1572286 w 1887537"/>
                <a:gd name="connsiteY181" fmla="*/ 887519 h 1566861"/>
                <a:gd name="connsiteX182" fmla="*/ 1572286 w 1887537"/>
                <a:gd name="connsiteY182" fmla="*/ 1206135 h 1566861"/>
                <a:gd name="connsiteX183" fmla="*/ 1571492 w 1887537"/>
                <a:gd name="connsiteY183" fmla="*/ 1206135 h 1566861"/>
                <a:gd name="connsiteX184" fmla="*/ 1571492 w 1887537"/>
                <a:gd name="connsiteY184" fmla="*/ 1566861 h 1566861"/>
                <a:gd name="connsiteX185" fmla="*/ 0 w 1887537"/>
                <a:gd name="connsiteY185" fmla="*/ 1566861 h 1566861"/>
                <a:gd name="connsiteX186" fmla="*/ 0 w 1887537"/>
                <a:gd name="connsiteY186" fmla="*/ 0 h 1566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887537" h="1566861">
                  <a:moveTo>
                    <a:pt x="0" y="0"/>
                  </a:moveTo>
                  <a:lnTo>
                    <a:pt x="679793" y="0"/>
                  </a:lnTo>
                  <a:lnTo>
                    <a:pt x="688529" y="794"/>
                  </a:lnTo>
                  <a:lnTo>
                    <a:pt x="696471" y="2382"/>
                  </a:lnTo>
                  <a:lnTo>
                    <a:pt x="703618" y="4763"/>
                  </a:lnTo>
                  <a:lnTo>
                    <a:pt x="709971" y="7144"/>
                  </a:lnTo>
                  <a:lnTo>
                    <a:pt x="714736" y="10319"/>
                  </a:lnTo>
                  <a:lnTo>
                    <a:pt x="717913" y="15082"/>
                  </a:lnTo>
                  <a:lnTo>
                    <a:pt x="720295" y="19050"/>
                  </a:lnTo>
                  <a:lnTo>
                    <a:pt x="721822" y="24394"/>
                  </a:lnTo>
                  <a:lnTo>
                    <a:pt x="721822" y="26223"/>
                  </a:lnTo>
                  <a:lnTo>
                    <a:pt x="720234" y="30990"/>
                  </a:lnTo>
                  <a:lnTo>
                    <a:pt x="717852" y="37346"/>
                  </a:lnTo>
                  <a:lnTo>
                    <a:pt x="714676" y="42114"/>
                  </a:lnTo>
                  <a:lnTo>
                    <a:pt x="709911" y="47676"/>
                  </a:lnTo>
                  <a:lnTo>
                    <a:pt x="703558" y="52443"/>
                  </a:lnTo>
                  <a:lnTo>
                    <a:pt x="696412" y="57210"/>
                  </a:lnTo>
                  <a:lnTo>
                    <a:pt x="689265" y="61978"/>
                  </a:lnTo>
                  <a:lnTo>
                    <a:pt x="678942" y="67540"/>
                  </a:lnTo>
                  <a:lnTo>
                    <a:pt x="669413" y="74691"/>
                  </a:lnTo>
                  <a:lnTo>
                    <a:pt x="657501" y="86609"/>
                  </a:lnTo>
                  <a:lnTo>
                    <a:pt x="651943" y="92965"/>
                  </a:lnTo>
                  <a:lnTo>
                    <a:pt x="645590" y="100911"/>
                  </a:lnTo>
                  <a:lnTo>
                    <a:pt x="640032" y="109651"/>
                  </a:lnTo>
                  <a:lnTo>
                    <a:pt x="635267" y="117596"/>
                  </a:lnTo>
                  <a:lnTo>
                    <a:pt x="631297" y="128720"/>
                  </a:lnTo>
                  <a:lnTo>
                    <a:pt x="628120" y="139049"/>
                  </a:lnTo>
                  <a:lnTo>
                    <a:pt x="625738" y="152557"/>
                  </a:lnTo>
                  <a:lnTo>
                    <a:pt x="625738" y="165270"/>
                  </a:lnTo>
                  <a:lnTo>
                    <a:pt x="625791" y="166225"/>
                  </a:lnTo>
                  <a:lnTo>
                    <a:pt x="625791" y="167481"/>
                  </a:lnTo>
                  <a:lnTo>
                    <a:pt x="626585" y="182563"/>
                  </a:lnTo>
                  <a:lnTo>
                    <a:pt x="628968" y="196850"/>
                  </a:lnTo>
                  <a:lnTo>
                    <a:pt x="633733" y="211138"/>
                  </a:lnTo>
                  <a:lnTo>
                    <a:pt x="640086" y="223838"/>
                  </a:lnTo>
                  <a:lnTo>
                    <a:pt x="647233" y="237331"/>
                  </a:lnTo>
                  <a:lnTo>
                    <a:pt x="656763" y="249238"/>
                  </a:lnTo>
                  <a:lnTo>
                    <a:pt x="667087" y="261144"/>
                  </a:lnTo>
                  <a:lnTo>
                    <a:pt x="678999" y="271463"/>
                  </a:lnTo>
                  <a:lnTo>
                    <a:pt x="691706" y="280988"/>
                  </a:lnTo>
                  <a:lnTo>
                    <a:pt x="705206" y="289719"/>
                  </a:lnTo>
                  <a:lnTo>
                    <a:pt x="720295" y="296863"/>
                  </a:lnTo>
                  <a:lnTo>
                    <a:pt x="736972" y="302419"/>
                  </a:lnTo>
                  <a:lnTo>
                    <a:pt x="753650" y="307181"/>
                  </a:lnTo>
                  <a:lnTo>
                    <a:pt x="770327" y="311150"/>
                  </a:lnTo>
                  <a:lnTo>
                    <a:pt x="789386" y="312738"/>
                  </a:lnTo>
                  <a:lnTo>
                    <a:pt x="806858" y="314325"/>
                  </a:lnTo>
                  <a:lnTo>
                    <a:pt x="825917" y="312738"/>
                  </a:lnTo>
                  <a:lnTo>
                    <a:pt x="844183" y="311150"/>
                  </a:lnTo>
                  <a:lnTo>
                    <a:pt x="861654" y="307181"/>
                  </a:lnTo>
                  <a:lnTo>
                    <a:pt x="878331" y="302419"/>
                  </a:lnTo>
                  <a:lnTo>
                    <a:pt x="893420" y="296863"/>
                  </a:lnTo>
                  <a:lnTo>
                    <a:pt x="909303" y="289719"/>
                  </a:lnTo>
                  <a:lnTo>
                    <a:pt x="923598" y="280988"/>
                  </a:lnTo>
                  <a:lnTo>
                    <a:pt x="936304" y="271463"/>
                  </a:lnTo>
                  <a:lnTo>
                    <a:pt x="948217" y="261144"/>
                  </a:lnTo>
                  <a:lnTo>
                    <a:pt x="957746" y="249238"/>
                  </a:lnTo>
                  <a:lnTo>
                    <a:pt x="967276" y="237331"/>
                  </a:lnTo>
                  <a:lnTo>
                    <a:pt x="976012" y="223838"/>
                  </a:lnTo>
                  <a:lnTo>
                    <a:pt x="981571" y="211138"/>
                  </a:lnTo>
                  <a:lnTo>
                    <a:pt x="986336" y="196850"/>
                  </a:lnTo>
                  <a:lnTo>
                    <a:pt x="988718" y="182563"/>
                  </a:lnTo>
                  <a:lnTo>
                    <a:pt x="990307" y="167481"/>
                  </a:lnTo>
                  <a:lnTo>
                    <a:pt x="990127" y="166133"/>
                  </a:lnTo>
                  <a:lnTo>
                    <a:pt x="990223" y="165270"/>
                  </a:lnTo>
                  <a:lnTo>
                    <a:pt x="988634" y="152557"/>
                  </a:lnTo>
                  <a:lnTo>
                    <a:pt x="986252" y="139049"/>
                  </a:lnTo>
                  <a:lnTo>
                    <a:pt x="983870" y="128720"/>
                  </a:lnTo>
                  <a:lnTo>
                    <a:pt x="979105" y="117596"/>
                  </a:lnTo>
                  <a:lnTo>
                    <a:pt x="974341" y="109651"/>
                  </a:lnTo>
                  <a:lnTo>
                    <a:pt x="969576" y="100911"/>
                  </a:lnTo>
                  <a:lnTo>
                    <a:pt x="964018" y="92965"/>
                  </a:lnTo>
                  <a:lnTo>
                    <a:pt x="957665" y="86609"/>
                  </a:lnTo>
                  <a:lnTo>
                    <a:pt x="945754" y="74691"/>
                  </a:lnTo>
                  <a:lnTo>
                    <a:pt x="935431" y="67540"/>
                  </a:lnTo>
                  <a:lnTo>
                    <a:pt x="925902" y="61978"/>
                  </a:lnTo>
                  <a:lnTo>
                    <a:pt x="917167" y="57210"/>
                  </a:lnTo>
                  <a:lnTo>
                    <a:pt x="910020" y="52443"/>
                  </a:lnTo>
                  <a:lnTo>
                    <a:pt x="904462" y="47676"/>
                  </a:lnTo>
                  <a:lnTo>
                    <a:pt x="899697" y="42114"/>
                  </a:lnTo>
                  <a:lnTo>
                    <a:pt x="895727" y="37346"/>
                  </a:lnTo>
                  <a:lnTo>
                    <a:pt x="893420" y="31193"/>
                  </a:lnTo>
                  <a:lnTo>
                    <a:pt x="893420" y="29369"/>
                  </a:lnTo>
                  <a:lnTo>
                    <a:pt x="893420" y="24607"/>
                  </a:lnTo>
                  <a:lnTo>
                    <a:pt x="895008" y="19050"/>
                  </a:lnTo>
                  <a:lnTo>
                    <a:pt x="897391" y="15082"/>
                  </a:lnTo>
                  <a:lnTo>
                    <a:pt x="900567" y="10319"/>
                  </a:lnTo>
                  <a:lnTo>
                    <a:pt x="905332" y="7144"/>
                  </a:lnTo>
                  <a:lnTo>
                    <a:pt x="910097" y="4763"/>
                  </a:lnTo>
                  <a:lnTo>
                    <a:pt x="917245" y="2382"/>
                  </a:lnTo>
                  <a:lnTo>
                    <a:pt x="925980" y="794"/>
                  </a:lnTo>
                  <a:lnTo>
                    <a:pt x="935510" y="0"/>
                  </a:lnTo>
                  <a:lnTo>
                    <a:pt x="1571492" y="0"/>
                  </a:lnTo>
                  <a:lnTo>
                    <a:pt x="1571492" y="431445"/>
                  </a:lnTo>
                  <a:lnTo>
                    <a:pt x="1572286" y="431445"/>
                  </a:lnTo>
                  <a:lnTo>
                    <a:pt x="1572286" y="630878"/>
                  </a:lnTo>
                  <a:lnTo>
                    <a:pt x="1573874" y="640413"/>
                  </a:lnTo>
                  <a:lnTo>
                    <a:pt x="1574668" y="648358"/>
                  </a:lnTo>
                  <a:lnTo>
                    <a:pt x="1577050" y="655509"/>
                  </a:lnTo>
                  <a:lnTo>
                    <a:pt x="1579433" y="661866"/>
                  </a:lnTo>
                  <a:lnTo>
                    <a:pt x="1583403" y="666633"/>
                  </a:lnTo>
                  <a:lnTo>
                    <a:pt x="1588168" y="669811"/>
                  </a:lnTo>
                  <a:lnTo>
                    <a:pt x="1591344" y="672195"/>
                  </a:lnTo>
                  <a:lnTo>
                    <a:pt x="1596108" y="673784"/>
                  </a:lnTo>
                  <a:lnTo>
                    <a:pt x="1602461" y="673784"/>
                  </a:lnTo>
                  <a:lnTo>
                    <a:pt x="1603845" y="673323"/>
                  </a:lnTo>
                  <a:lnTo>
                    <a:pt x="1609981" y="674687"/>
                  </a:lnTo>
                  <a:lnTo>
                    <a:pt x="1618705" y="672306"/>
                  </a:lnTo>
                  <a:lnTo>
                    <a:pt x="1626636" y="668337"/>
                  </a:lnTo>
                  <a:lnTo>
                    <a:pt x="1633774" y="662781"/>
                  </a:lnTo>
                  <a:lnTo>
                    <a:pt x="1640911" y="653256"/>
                  </a:lnTo>
                  <a:lnTo>
                    <a:pt x="1648049" y="641350"/>
                  </a:lnTo>
                  <a:lnTo>
                    <a:pt x="1654394" y="631825"/>
                  </a:lnTo>
                  <a:lnTo>
                    <a:pt x="1661532" y="621506"/>
                  </a:lnTo>
                  <a:lnTo>
                    <a:pt x="1671842" y="609600"/>
                  </a:lnTo>
                  <a:lnTo>
                    <a:pt x="1678979" y="603250"/>
                  </a:lnTo>
                  <a:lnTo>
                    <a:pt x="1686117" y="597694"/>
                  </a:lnTo>
                  <a:lnTo>
                    <a:pt x="1694048" y="592931"/>
                  </a:lnTo>
                  <a:lnTo>
                    <a:pt x="1703565" y="588169"/>
                  </a:lnTo>
                  <a:lnTo>
                    <a:pt x="1714668" y="583406"/>
                  </a:lnTo>
                  <a:lnTo>
                    <a:pt x="1724978" y="581025"/>
                  </a:lnTo>
                  <a:lnTo>
                    <a:pt x="1736874" y="578644"/>
                  </a:lnTo>
                  <a:lnTo>
                    <a:pt x="1750125" y="577084"/>
                  </a:lnTo>
                  <a:lnTo>
                    <a:pt x="1755719" y="577643"/>
                  </a:lnTo>
                  <a:lnTo>
                    <a:pt x="1770013" y="580821"/>
                  </a:lnTo>
                  <a:lnTo>
                    <a:pt x="1784306" y="584794"/>
                  </a:lnTo>
                  <a:lnTo>
                    <a:pt x="1797012" y="591945"/>
                  </a:lnTo>
                  <a:lnTo>
                    <a:pt x="1809717" y="599096"/>
                  </a:lnTo>
                  <a:lnTo>
                    <a:pt x="1821628" y="608631"/>
                  </a:lnTo>
                  <a:lnTo>
                    <a:pt x="1833539" y="618960"/>
                  </a:lnTo>
                  <a:lnTo>
                    <a:pt x="1843068" y="630083"/>
                  </a:lnTo>
                  <a:lnTo>
                    <a:pt x="1852598" y="642796"/>
                  </a:lnTo>
                  <a:lnTo>
                    <a:pt x="1862127" y="657098"/>
                  </a:lnTo>
                  <a:lnTo>
                    <a:pt x="1869273" y="672195"/>
                  </a:lnTo>
                  <a:lnTo>
                    <a:pt x="1875626" y="688086"/>
                  </a:lnTo>
                  <a:lnTo>
                    <a:pt x="1880390" y="704772"/>
                  </a:lnTo>
                  <a:lnTo>
                    <a:pt x="1883567" y="722252"/>
                  </a:lnTo>
                  <a:lnTo>
                    <a:pt x="1885949" y="740526"/>
                  </a:lnTo>
                  <a:lnTo>
                    <a:pt x="1887537" y="759596"/>
                  </a:lnTo>
                  <a:lnTo>
                    <a:pt x="1885949" y="777870"/>
                  </a:lnTo>
                  <a:lnTo>
                    <a:pt x="1883567" y="796145"/>
                  </a:lnTo>
                  <a:lnTo>
                    <a:pt x="1880390" y="813625"/>
                  </a:lnTo>
                  <a:lnTo>
                    <a:pt x="1875626" y="830311"/>
                  </a:lnTo>
                  <a:lnTo>
                    <a:pt x="1869273" y="846202"/>
                  </a:lnTo>
                  <a:lnTo>
                    <a:pt x="1862127" y="861299"/>
                  </a:lnTo>
                  <a:lnTo>
                    <a:pt x="1852598" y="875601"/>
                  </a:lnTo>
                  <a:lnTo>
                    <a:pt x="1843068" y="887519"/>
                  </a:lnTo>
                  <a:lnTo>
                    <a:pt x="1833539" y="899437"/>
                  </a:lnTo>
                  <a:lnTo>
                    <a:pt x="1821628" y="909766"/>
                  </a:lnTo>
                  <a:lnTo>
                    <a:pt x="1809717" y="919301"/>
                  </a:lnTo>
                  <a:lnTo>
                    <a:pt x="1797012" y="926452"/>
                  </a:lnTo>
                  <a:lnTo>
                    <a:pt x="1784306" y="933603"/>
                  </a:lnTo>
                  <a:lnTo>
                    <a:pt x="1770013" y="937576"/>
                  </a:lnTo>
                  <a:lnTo>
                    <a:pt x="1755719" y="940754"/>
                  </a:lnTo>
                  <a:lnTo>
                    <a:pt x="1739838" y="940754"/>
                  </a:lnTo>
                  <a:lnTo>
                    <a:pt x="1733712" y="940754"/>
                  </a:lnTo>
                  <a:lnTo>
                    <a:pt x="1724978" y="939006"/>
                  </a:lnTo>
                  <a:lnTo>
                    <a:pt x="1714668" y="935831"/>
                  </a:lnTo>
                  <a:lnTo>
                    <a:pt x="1703565" y="931862"/>
                  </a:lnTo>
                  <a:lnTo>
                    <a:pt x="1694048" y="927100"/>
                  </a:lnTo>
                  <a:lnTo>
                    <a:pt x="1686117" y="921544"/>
                  </a:lnTo>
                  <a:lnTo>
                    <a:pt x="1678979" y="916781"/>
                  </a:lnTo>
                  <a:lnTo>
                    <a:pt x="1671842" y="910431"/>
                  </a:lnTo>
                  <a:lnTo>
                    <a:pt x="1661532" y="898525"/>
                  </a:lnTo>
                  <a:lnTo>
                    <a:pt x="1654394" y="888206"/>
                  </a:lnTo>
                  <a:lnTo>
                    <a:pt x="1648049" y="878681"/>
                  </a:lnTo>
                  <a:lnTo>
                    <a:pt x="1640911" y="866775"/>
                  </a:lnTo>
                  <a:lnTo>
                    <a:pt x="1633774" y="857250"/>
                  </a:lnTo>
                  <a:lnTo>
                    <a:pt x="1626636" y="851694"/>
                  </a:lnTo>
                  <a:lnTo>
                    <a:pt x="1618705" y="846931"/>
                  </a:lnTo>
                  <a:lnTo>
                    <a:pt x="1609981" y="845344"/>
                  </a:lnTo>
                  <a:lnTo>
                    <a:pt x="1606785" y="846055"/>
                  </a:lnTo>
                  <a:lnTo>
                    <a:pt x="1602461" y="844613"/>
                  </a:lnTo>
                  <a:lnTo>
                    <a:pt x="1596108" y="844613"/>
                  </a:lnTo>
                  <a:lnTo>
                    <a:pt x="1591344" y="846202"/>
                  </a:lnTo>
                  <a:lnTo>
                    <a:pt x="1588168" y="848586"/>
                  </a:lnTo>
                  <a:lnTo>
                    <a:pt x="1583403" y="851764"/>
                  </a:lnTo>
                  <a:lnTo>
                    <a:pt x="1579433" y="856531"/>
                  </a:lnTo>
                  <a:lnTo>
                    <a:pt x="1577050" y="862888"/>
                  </a:lnTo>
                  <a:lnTo>
                    <a:pt x="1574668" y="870039"/>
                  </a:lnTo>
                  <a:lnTo>
                    <a:pt x="1573874" y="877984"/>
                  </a:lnTo>
                  <a:lnTo>
                    <a:pt x="1572286" y="887519"/>
                  </a:lnTo>
                  <a:lnTo>
                    <a:pt x="1572286" y="1206135"/>
                  </a:lnTo>
                  <a:lnTo>
                    <a:pt x="1571492" y="1206135"/>
                  </a:lnTo>
                  <a:lnTo>
                    <a:pt x="1571492" y="1566861"/>
                  </a:lnTo>
                  <a:lnTo>
                    <a:pt x="0" y="1566861"/>
                  </a:lnTo>
                  <a:lnTo>
                    <a:pt x="0"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51" name="TextBox 50"/>
            <p:cNvSpPr txBox="1"/>
            <p:nvPr/>
          </p:nvSpPr>
          <p:spPr>
            <a:xfrm>
              <a:off x="1433458" y="4942028"/>
              <a:ext cx="1503965" cy="369332"/>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Ethnic Profile</a:t>
              </a:r>
            </a:p>
          </p:txBody>
        </p:sp>
      </p:grpSp>
      <p:grpSp>
        <p:nvGrpSpPr>
          <p:cNvPr id="61" name="Group 60"/>
          <p:cNvGrpSpPr/>
          <p:nvPr/>
        </p:nvGrpSpPr>
        <p:grpSpPr>
          <a:xfrm>
            <a:off x="2314736" y="4187360"/>
            <a:ext cx="1884362" cy="1884361"/>
            <a:chOff x="3024406" y="3915417"/>
            <a:chExt cx="1884362" cy="1884361"/>
          </a:xfrm>
        </p:grpSpPr>
        <p:pic>
          <p:nvPicPr>
            <p:cNvPr id="42" name="Picture 41"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25273" t="60074" r="44901"/>
            <a:stretch>
              <a:fillRect/>
            </a:stretch>
          </p:blipFill>
          <p:spPr bwMode="auto">
            <a:xfrm>
              <a:off x="3024406" y="3915417"/>
              <a:ext cx="1884362" cy="1884361"/>
            </a:xfrm>
            <a:custGeom>
              <a:avLst/>
              <a:gdLst>
                <a:gd name="connsiteX0" fmla="*/ 763738 w 1884362"/>
                <a:gd name="connsiteY0" fmla="*/ 0 h 1884361"/>
                <a:gd name="connsiteX1" fmla="*/ 782772 w 1884362"/>
                <a:gd name="connsiteY1" fmla="*/ 1588 h 1884361"/>
                <a:gd name="connsiteX2" fmla="*/ 800220 w 1884362"/>
                <a:gd name="connsiteY2" fmla="*/ 2381 h 1884361"/>
                <a:gd name="connsiteX3" fmla="*/ 818460 w 1884362"/>
                <a:gd name="connsiteY3" fmla="*/ 7144 h 1884361"/>
                <a:gd name="connsiteX4" fmla="*/ 835115 w 1884362"/>
                <a:gd name="connsiteY4" fmla="*/ 11906 h 1884361"/>
                <a:gd name="connsiteX5" fmla="*/ 850184 w 1884362"/>
                <a:gd name="connsiteY5" fmla="*/ 18256 h 1884361"/>
                <a:gd name="connsiteX6" fmla="*/ 860914 w 1884362"/>
                <a:gd name="connsiteY6" fmla="*/ 23089 h 1884361"/>
                <a:gd name="connsiteX7" fmla="*/ 863642 w 1884362"/>
                <a:gd name="connsiteY7" fmla="*/ 24605 h 1884361"/>
                <a:gd name="connsiteX8" fmla="*/ 876338 w 1884362"/>
                <a:gd name="connsiteY8" fmla="*/ 34130 h 1884361"/>
                <a:gd name="connsiteX9" fmla="*/ 888240 w 1884362"/>
                <a:gd name="connsiteY9" fmla="*/ 44449 h 1884361"/>
                <a:gd name="connsiteX10" fmla="*/ 897761 w 1884362"/>
                <a:gd name="connsiteY10" fmla="*/ 55562 h 1884361"/>
                <a:gd name="connsiteX11" fmla="*/ 907283 w 1884362"/>
                <a:gd name="connsiteY11" fmla="*/ 67468 h 1884361"/>
                <a:gd name="connsiteX12" fmla="*/ 916011 w 1884362"/>
                <a:gd name="connsiteY12" fmla="*/ 80168 h 1884361"/>
                <a:gd name="connsiteX13" fmla="*/ 921565 w 1884362"/>
                <a:gd name="connsiteY13" fmla="*/ 93662 h 1884361"/>
                <a:gd name="connsiteX14" fmla="*/ 926326 w 1884362"/>
                <a:gd name="connsiteY14" fmla="*/ 107949 h 1884361"/>
                <a:gd name="connsiteX15" fmla="*/ 928706 w 1884362"/>
                <a:gd name="connsiteY15" fmla="*/ 122237 h 1884361"/>
                <a:gd name="connsiteX16" fmla="*/ 930293 w 1884362"/>
                <a:gd name="connsiteY16" fmla="*/ 137318 h 1884361"/>
                <a:gd name="connsiteX17" fmla="*/ 928706 w 1884362"/>
                <a:gd name="connsiteY17" fmla="*/ 150812 h 1884361"/>
                <a:gd name="connsiteX18" fmla="*/ 926326 w 1884362"/>
                <a:gd name="connsiteY18" fmla="*/ 161924 h 1884361"/>
                <a:gd name="connsiteX19" fmla="*/ 923945 w 1884362"/>
                <a:gd name="connsiteY19" fmla="*/ 173037 h 1884361"/>
                <a:gd name="connsiteX20" fmla="*/ 919185 w 1884362"/>
                <a:gd name="connsiteY20" fmla="*/ 183355 h 1884361"/>
                <a:gd name="connsiteX21" fmla="*/ 914424 w 1884362"/>
                <a:gd name="connsiteY21" fmla="*/ 192880 h 1884361"/>
                <a:gd name="connsiteX22" fmla="*/ 909663 w 1884362"/>
                <a:gd name="connsiteY22" fmla="*/ 201612 h 1884361"/>
                <a:gd name="connsiteX23" fmla="*/ 904109 w 1884362"/>
                <a:gd name="connsiteY23" fmla="*/ 208755 h 1884361"/>
                <a:gd name="connsiteX24" fmla="*/ 897761 w 1884362"/>
                <a:gd name="connsiteY24" fmla="*/ 215899 h 1884361"/>
                <a:gd name="connsiteX25" fmla="*/ 885859 w 1884362"/>
                <a:gd name="connsiteY25" fmla="*/ 226218 h 1884361"/>
                <a:gd name="connsiteX26" fmla="*/ 875544 w 1884362"/>
                <a:gd name="connsiteY26" fmla="*/ 233362 h 1884361"/>
                <a:gd name="connsiteX27" fmla="*/ 866023 w 1884362"/>
                <a:gd name="connsiteY27" fmla="*/ 239712 h 1884361"/>
                <a:gd name="connsiteX28" fmla="*/ 858088 w 1884362"/>
                <a:gd name="connsiteY28" fmla="*/ 244474 h 1884361"/>
                <a:gd name="connsiteX29" fmla="*/ 850947 w 1884362"/>
                <a:gd name="connsiteY29" fmla="*/ 249237 h 1884361"/>
                <a:gd name="connsiteX30" fmla="*/ 844599 w 1884362"/>
                <a:gd name="connsiteY30" fmla="*/ 254793 h 1884361"/>
                <a:gd name="connsiteX31" fmla="*/ 839838 w 1884362"/>
                <a:gd name="connsiteY31" fmla="*/ 259555 h 1884361"/>
                <a:gd name="connsiteX32" fmla="*/ 836664 w 1884362"/>
                <a:gd name="connsiteY32" fmla="*/ 265905 h 1884361"/>
                <a:gd name="connsiteX33" fmla="*/ 834284 w 1884362"/>
                <a:gd name="connsiteY33" fmla="*/ 270668 h 1884361"/>
                <a:gd name="connsiteX34" fmla="*/ 834284 w 1884362"/>
                <a:gd name="connsiteY34" fmla="*/ 276224 h 1884361"/>
                <a:gd name="connsiteX35" fmla="*/ 834284 w 1884362"/>
                <a:gd name="connsiteY35" fmla="*/ 280987 h 1884361"/>
                <a:gd name="connsiteX36" fmla="*/ 835077 w 1884362"/>
                <a:gd name="connsiteY36" fmla="*/ 285749 h 1884361"/>
                <a:gd name="connsiteX37" fmla="*/ 837458 w 1884362"/>
                <a:gd name="connsiteY37" fmla="*/ 290512 h 1884361"/>
                <a:gd name="connsiteX38" fmla="*/ 841425 w 1884362"/>
                <a:gd name="connsiteY38" fmla="*/ 293687 h 1884361"/>
                <a:gd name="connsiteX39" fmla="*/ 846186 w 1884362"/>
                <a:gd name="connsiteY39" fmla="*/ 297655 h 1884361"/>
                <a:gd name="connsiteX40" fmla="*/ 850947 w 1884362"/>
                <a:gd name="connsiteY40" fmla="*/ 300830 h 1884361"/>
                <a:gd name="connsiteX41" fmla="*/ 855927 w 1884362"/>
                <a:gd name="connsiteY41" fmla="*/ 301938 h 1884361"/>
                <a:gd name="connsiteX42" fmla="*/ 856528 w 1884362"/>
                <a:gd name="connsiteY42" fmla="*/ 302419 h 1884361"/>
                <a:gd name="connsiteX43" fmla="*/ 861287 w 1884362"/>
                <a:gd name="connsiteY43" fmla="*/ 306388 h 1884361"/>
                <a:gd name="connsiteX44" fmla="*/ 866838 w 1884362"/>
                <a:gd name="connsiteY44" fmla="*/ 309563 h 1884361"/>
                <a:gd name="connsiteX45" fmla="*/ 873976 w 1884362"/>
                <a:gd name="connsiteY45" fmla="*/ 311944 h 1884361"/>
                <a:gd name="connsiteX46" fmla="*/ 882700 w 1884362"/>
                <a:gd name="connsiteY46" fmla="*/ 313531 h 1884361"/>
                <a:gd name="connsiteX47" fmla="*/ 892217 w 1884362"/>
                <a:gd name="connsiteY47" fmla="*/ 313531 h 1884361"/>
                <a:gd name="connsiteX48" fmla="*/ 1569509 w 1884362"/>
                <a:gd name="connsiteY48" fmla="*/ 313531 h 1884361"/>
                <a:gd name="connsiteX49" fmla="*/ 1569509 w 1884362"/>
                <a:gd name="connsiteY49" fmla="*/ 950912 h 1884361"/>
                <a:gd name="connsiteX50" fmla="*/ 1571095 w 1884362"/>
                <a:gd name="connsiteY50" fmla="*/ 958850 h 1884361"/>
                <a:gd name="connsiteX51" fmla="*/ 1571888 w 1884362"/>
                <a:gd name="connsiteY51" fmla="*/ 966787 h 1884361"/>
                <a:gd name="connsiteX52" fmla="*/ 1574267 w 1884362"/>
                <a:gd name="connsiteY52" fmla="*/ 973931 h 1884361"/>
                <a:gd name="connsiteX53" fmla="*/ 1576647 w 1884362"/>
                <a:gd name="connsiteY53" fmla="*/ 980281 h 1884361"/>
                <a:gd name="connsiteX54" fmla="*/ 1580612 w 1884362"/>
                <a:gd name="connsiteY54" fmla="*/ 985044 h 1884361"/>
                <a:gd name="connsiteX55" fmla="*/ 1585370 w 1884362"/>
                <a:gd name="connsiteY55" fmla="*/ 988219 h 1884361"/>
                <a:gd name="connsiteX56" fmla="*/ 1588543 w 1884362"/>
                <a:gd name="connsiteY56" fmla="*/ 990600 h 1884361"/>
                <a:gd name="connsiteX57" fmla="*/ 1593301 w 1884362"/>
                <a:gd name="connsiteY57" fmla="*/ 992187 h 1884361"/>
                <a:gd name="connsiteX58" fmla="*/ 1599646 w 1884362"/>
                <a:gd name="connsiteY58" fmla="*/ 992187 h 1884361"/>
                <a:gd name="connsiteX59" fmla="*/ 1600680 w 1884362"/>
                <a:gd name="connsiteY59" fmla="*/ 991842 h 1884361"/>
                <a:gd name="connsiteX60" fmla="*/ 1602234 w 1884362"/>
                <a:gd name="connsiteY60" fmla="*/ 992188 h 1884361"/>
                <a:gd name="connsiteX61" fmla="*/ 1610958 w 1884362"/>
                <a:gd name="connsiteY61" fmla="*/ 989807 h 1884361"/>
                <a:gd name="connsiteX62" fmla="*/ 1618889 w 1884362"/>
                <a:gd name="connsiteY62" fmla="*/ 985838 h 1884361"/>
                <a:gd name="connsiteX63" fmla="*/ 1626027 w 1884362"/>
                <a:gd name="connsiteY63" fmla="*/ 980282 h 1884361"/>
                <a:gd name="connsiteX64" fmla="*/ 1633164 w 1884362"/>
                <a:gd name="connsiteY64" fmla="*/ 970757 h 1884361"/>
                <a:gd name="connsiteX65" fmla="*/ 1640302 w 1884362"/>
                <a:gd name="connsiteY65" fmla="*/ 958850 h 1884361"/>
                <a:gd name="connsiteX66" fmla="*/ 1646647 w 1884362"/>
                <a:gd name="connsiteY66" fmla="*/ 949325 h 1884361"/>
                <a:gd name="connsiteX67" fmla="*/ 1653785 w 1884362"/>
                <a:gd name="connsiteY67" fmla="*/ 939007 h 1884361"/>
                <a:gd name="connsiteX68" fmla="*/ 1664095 w 1884362"/>
                <a:gd name="connsiteY68" fmla="*/ 927100 h 1884361"/>
                <a:gd name="connsiteX69" fmla="*/ 1671232 w 1884362"/>
                <a:gd name="connsiteY69" fmla="*/ 920750 h 1884361"/>
                <a:gd name="connsiteX70" fmla="*/ 1678370 w 1884362"/>
                <a:gd name="connsiteY70" fmla="*/ 915194 h 1884361"/>
                <a:gd name="connsiteX71" fmla="*/ 1686301 w 1884362"/>
                <a:gd name="connsiteY71" fmla="*/ 910432 h 1884361"/>
                <a:gd name="connsiteX72" fmla="*/ 1695818 w 1884362"/>
                <a:gd name="connsiteY72" fmla="*/ 905669 h 1884361"/>
                <a:gd name="connsiteX73" fmla="*/ 1706921 w 1884362"/>
                <a:gd name="connsiteY73" fmla="*/ 900907 h 1884361"/>
                <a:gd name="connsiteX74" fmla="*/ 1717231 w 1884362"/>
                <a:gd name="connsiteY74" fmla="*/ 898525 h 1884361"/>
                <a:gd name="connsiteX75" fmla="*/ 1729127 w 1884362"/>
                <a:gd name="connsiteY75" fmla="*/ 896144 h 1884361"/>
                <a:gd name="connsiteX76" fmla="*/ 1736849 w 1884362"/>
                <a:gd name="connsiteY76" fmla="*/ 896144 h 1884361"/>
                <a:gd name="connsiteX77" fmla="*/ 1752711 w 1884362"/>
                <a:gd name="connsiteY77" fmla="*/ 896937 h 1884361"/>
                <a:gd name="connsiteX78" fmla="*/ 1766986 w 1884362"/>
                <a:gd name="connsiteY78" fmla="*/ 899319 h 1884361"/>
                <a:gd name="connsiteX79" fmla="*/ 1781262 w 1884362"/>
                <a:gd name="connsiteY79" fmla="*/ 904081 h 1884361"/>
                <a:gd name="connsiteX80" fmla="*/ 1793951 w 1884362"/>
                <a:gd name="connsiteY80" fmla="*/ 910431 h 1884361"/>
                <a:gd name="connsiteX81" fmla="*/ 1806640 w 1884362"/>
                <a:gd name="connsiteY81" fmla="*/ 917575 h 1884361"/>
                <a:gd name="connsiteX82" fmla="*/ 1818536 w 1884362"/>
                <a:gd name="connsiteY82" fmla="*/ 927100 h 1884361"/>
                <a:gd name="connsiteX83" fmla="*/ 1830433 w 1884362"/>
                <a:gd name="connsiteY83" fmla="*/ 937419 h 1884361"/>
                <a:gd name="connsiteX84" fmla="*/ 1841536 w 1884362"/>
                <a:gd name="connsiteY84" fmla="*/ 949325 h 1884361"/>
                <a:gd name="connsiteX85" fmla="*/ 1849467 w 1884362"/>
                <a:gd name="connsiteY85" fmla="*/ 962819 h 1884361"/>
                <a:gd name="connsiteX86" fmla="*/ 1858984 w 1884362"/>
                <a:gd name="connsiteY86" fmla="*/ 975519 h 1884361"/>
                <a:gd name="connsiteX87" fmla="*/ 1866121 w 1884362"/>
                <a:gd name="connsiteY87" fmla="*/ 990600 h 1884361"/>
                <a:gd name="connsiteX88" fmla="*/ 1872466 w 1884362"/>
                <a:gd name="connsiteY88" fmla="*/ 1007269 h 1884361"/>
                <a:gd name="connsiteX89" fmla="*/ 1877224 w 1884362"/>
                <a:gd name="connsiteY89" fmla="*/ 1023937 h 1884361"/>
                <a:gd name="connsiteX90" fmla="*/ 1880397 w 1884362"/>
                <a:gd name="connsiteY90" fmla="*/ 1040606 h 1884361"/>
                <a:gd name="connsiteX91" fmla="*/ 1882776 w 1884362"/>
                <a:gd name="connsiteY91" fmla="*/ 1059656 h 1884361"/>
                <a:gd name="connsiteX92" fmla="*/ 1884362 w 1884362"/>
                <a:gd name="connsiteY92" fmla="*/ 1077912 h 1884361"/>
                <a:gd name="connsiteX93" fmla="*/ 1882776 w 1884362"/>
                <a:gd name="connsiteY93" fmla="*/ 1096169 h 1884361"/>
                <a:gd name="connsiteX94" fmla="*/ 1880397 w 1884362"/>
                <a:gd name="connsiteY94" fmla="*/ 1114425 h 1884361"/>
                <a:gd name="connsiteX95" fmla="*/ 1877224 w 1884362"/>
                <a:gd name="connsiteY95" fmla="*/ 1131887 h 1884361"/>
                <a:gd name="connsiteX96" fmla="*/ 1872466 w 1884362"/>
                <a:gd name="connsiteY96" fmla="*/ 1148556 h 1884361"/>
                <a:gd name="connsiteX97" fmla="*/ 1866121 w 1884362"/>
                <a:gd name="connsiteY97" fmla="*/ 1164431 h 1884361"/>
                <a:gd name="connsiteX98" fmla="*/ 1858984 w 1884362"/>
                <a:gd name="connsiteY98" fmla="*/ 1179512 h 1884361"/>
                <a:gd name="connsiteX99" fmla="*/ 1849467 w 1884362"/>
                <a:gd name="connsiteY99" fmla="*/ 1193800 h 1884361"/>
                <a:gd name="connsiteX100" fmla="*/ 1841536 w 1884362"/>
                <a:gd name="connsiteY100" fmla="*/ 1206500 h 1884361"/>
                <a:gd name="connsiteX101" fmla="*/ 1830433 w 1884362"/>
                <a:gd name="connsiteY101" fmla="*/ 1218406 h 1884361"/>
                <a:gd name="connsiteX102" fmla="*/ 1818536 w 1884362"/>
                <a:gd name="connsiteY102" fmla="*/ 1227931 h 1884361"/>
                <a:gd name="connsiteX103" fmla="*/ 1806640 w 1884362"/>
                <a:gd name="connsiteY103" fmla="*/ 1237456 h 1884361"/>
                <a:gd name="connsiteX104" fmla="*/ 1793951 w 1884362"/>
                <a:gd name="connsiteY104" fmla="*/ 1246187 h 1884361"/>
                <a:gd name="connsiteX105" fmla="*/ 1781262 w 1884362"/>
                <a:gd name="connsiteY105" fmla="*/ 1251744 h 1884361"/>
                <a:gd name="connsiteX106" fmla="*/ 1766986 w 1884362"/>
                <a:gd name="connsiteY106" fmla="*/ 1256506 h 1884361"/>
                <a:gd name="connsiteX107" fmla="*/ 1752711 w 1884362"/>
                <a:gd name="connsiteY107" fmla="*/ 1258887 h 1884361"/>
                <a:gd name="connsiteX108" fmla="*/ 1752701 w 1884362"/>
                <a:gd name="connsiteY108" fmla="*/ 1258888 h 1884361"/>
                <a:gd name="connsiteX109" fmla="*/ 1742610 w 1884362"/>
                <a:gd name="connsiteY109" fmla="*/ 1258888 h 1884361"/>
                <a:gd name="connsiteX110" fmla="*/ 1729127 w 1884362"/>
                <a:gd name="connsiteY110" fmla="*/ 1258888 h 1884361"/>
                <a:gd name="connsiteX111" fmla="*/ 1717231 w 1884362"/>
                <a:gd name="connsiteY111" fmla="*/ 1256507 h 1884361"/>
                <a:gd name="connsiteX112" fmla="*/ 1706921 w 1884362"/>
                <a:gd name="connsiteY112" fmla="*/ 1253332 h 1884361"/>
                <a:gd name="connsiteX113" fmla="*/ 1695818 w 1884362"/>
                <a:gd name="connsiteY113" fmla="*/ 1249363 h 1884361"/>
                <a:gd name="connsiteX114" fmla="*/ 1686301 w 1884362"/>
                <a:gd name="connsiteY114" fmla="*/ 1244601 h 1884361"/>
                <a:gd name="connsiteX115" fmla="*/ 1678370 w 1884362"/>
                <a:gd name="connsiteY115" fmla="*/ 1239044 h 1884361"/>
                <a:gd name="connsiteX116" fmla="*/ 1671232 w 1884362"/>
                <a:gd name="connsiteY116" fmla="*/ 1234282 h 1884361"/>
                <a:gd name="connsiteX117" fmla="*/ 1664095 w 1884362"/>
                <a:gd name="connsiteY117" fmla="*/ 1227932 h 1884361"/>
                <a:gd name="connsiteX118" fmla="*/ 1653785 w 1884362"/>
                <a:gd name="connsiteY118" fmla="*/ 1216026 h 1884361"/>
                <a:gd name="connsiteX119" fmla="*/ 1646647 w 1884362"/>
                <a:gd name="connsiteY119" fmla="*/ 1205707 h 1884361"/>
                <a:gd name="connsiteX120" fmla="*/ 1640302 w 1884362"/>
                <a:gd name="connsiteY120" fmla="*/ 1196182 h 1884361"/>
                <a:gd name="connsiteX121" fmla="*/ 1633164 w 1884362"/>
                <a:gd name="connsiteY121" fmla="*/ 1184276 h 1884361"/>
                <a:gd name="connsiteX122" fmla="*/ 1626027 w 1884362"/>
                <a:gd name="connsiteY122" fmla="*/ 1174750 h 1884361"/>
                <a:gd name="connsiteX123" fmla="*/ 1618889 w 1884362"/>
                <a:gd name="connsiteY123" fmla="*/ 1169194 h 1884361"/>
                <a:gd name="connsiteX124" fmla="*/ 1610958 w 1884362"/>
                <a:gd name="connsiteY124" fmla="*/ 1164432 h 1884361"/>
                <a:gd name="connsiteX125" fmla="*/ 1602234 w 1884362"/>
                <a:gd name="connsiteY125" fmla="*/ 1162844 h 1884361"/>
                <a:gd name="connsiteX126" fmla="*/ 1595101 w 1884362"/>
                <a:gd name="connsiteY126" fmla="*/ 1164431 h 1884361"/>
                <a:gd name="connsiteX127" fmla="*/ 1593301 w 1884362"/>
                <a:gd name="connsiteY127" fmla="*/ 1164431 h 1884361"/>
                <a:gd name="connsiteX128" fmla="*/ 1588543 w 1884362"/>
                <a:gd name="connsiteY128" fmla="*/ 1165225 h 1884361"/>
                <a:gd name="connsiteX129" fmla="*/ 1585370 w 1884362"/>
                <a:gd name="connsiteY129" fmla="*/ 1167606 h 1884361"/>
                <a:gd name="connsiteX130" fmla="*/ 1580612 w 1884362"/>
                <a:gd name="connsiteY130" fmla="*/ 1171575 h 1884361"/>
                <a:gd name="connsiteX131" fmla="*/ 1576647 w 1884362"/>
                <a:gd name="connsiteY131" fmla="*/ 1176337 h 1884361"/>
                <a:gd name="connsiteX132" fmla="*/ 1574267 w 1884362"/>
                <a:gd name="connsiteY132" fmla="*/ 1181100 h 1884361"/>
                <a:gd name="connsiteX133" fmla="*/ 1571888 w 1884362"/>
                <a:gd name="connsiteY133" fmla="*/ 1188244 h 1884361"/>
                <a:gd name="connsiteX134" fmla="*/ 1571095 w 1884362"/>
                <a:gd name="connsiteY134" fmla="*/ 1196181 h 1884361"/>
                <a:gd name="connsiteX135" fmla="*/ 1569509 w 1884362"/>
                <a:gd name="connsiteY135" fmla="*/ 1205706 h 1884361"/>
                <a:gd name="connsiteX136" fmla="*/ 1569509 w 1884362"/>
                <a:gd name="connsiteY136" fmla="*/ 1884361 h 1884361"/>
                <a:gd name="connsiteX137" fmla="*/ 0 w 1884362"/>
                <a:gd name="connsiteY137" fmla="*/ 1884361 h 1884361"/>
                <a:gd name="connsiteX138" fmla="*/ 0 w 1884362"/>
                <a:gd name="connsiteY138" fmla="*/ 1173956 h 1884361"/>
                <a:gd name="connsiteX139" fmla="*/ 6345 w 1884362"/>
                <a:gd name="connsiteY139" fmla="*/ 1167606 h 1884361"/>
                <a:gd name="connsiteX140" fmla="*/ 11896 w 1884362"/>
                <a:gd name="connsiteY140" fmla="*/ 1164431 h 1884361"/>
                <a:gd name="connsiteX141" fmla="*/ 15838 w 1884362"/>
                <a:gd name="connsiteY141" fmla="*/ 1163555 h 1884361"/>
                <a:gd name="connsiteX142" fmla="*/ 16279 w 1884362"/>
                <a:gd name="connsiteY142" fmla="*/ 1163702 h 1884361"/>
                <a:gd name="connsiteX143" fmla="*/ 21837 w 1884362"/>
                <a:gd name="connsiteY143" fmla="*/ 1166086 h 1884361"/>
                <a:gd name="connsiteX144" fmla="*/ 26602 w 1884362"/>
                <a:gd name="connsiteY144" fmla="*/ 1169264 h 1884361"/>
                <a:gd name="connsiteX145" fmla="*/ 32954 w 1884362"/>
                <a:gd name="connsiteY145" fmla="*/ 1174031 h 1884361"/>
                <a:gd name="connsiteX146" fmla="*/ 37719 w 1884362"/>
                <a:gd name="connsiteY146" fmla="*/ 1180388 h 1884361"/>
                <a:gd name="connsiteX147" fmla="*/ 42483 w 1884362"/>
                <a:gd name="connsiteY147" fmla="*/ 1187539 h 1884361"/>
                <a:gd name="connsiteX148" fmla="*/ 47248 w 1884362"/>
                <a:gd name="connsiteY148" fmla="*/ 1195484 h 1884361"/>
                <a:gd name="connsiteX149" fmla="*/ 52806 w 1884362"/>
                <a:gd name="connsiteY149" fmla="*/ 1205019 h 1884361"/>
                <a:gd name="connsiteX150" fmla="*/ 59953 w 1884362"/>
                <a:gd name="connsiteY150" fmla="*/ 1215348 h 1884361"/>
                <a:gd name="connsiteX151" fmla="*/ 71070 w 1884362"/>
                <a:gd name="connsiteY151" fmla="*/ 1227266 h 1884361"/>
                <a:gd name="connsiteX152" fmla="*/ 78217 w 1884362"/>
                <a:gd name="connsiteY152" fmla="*/ 1233623 h 1884361"/>
                <a:gd name="connsiteX153" fmla="*/ 85364 w 1884362"/>
                <a:gd name="connsiteY153" fmla="*/ 1238390 h 1884361"/>
                <a:gd name="connsiteX154" fmla="*/ 93305 w 1884362"/>
                <a:gd name="connsiteY154" fmla="*/ 1243952 h 1884361"/>
                <a:gd name="connsiteX155" fmla="*/ 102834 w 1884362"/>
                <a:gd name="connsiteY155" fmla="*/ 1248719 h 1884361"/>
                <a:gd name="connsiteX156" fmla="*/ 113157 w 1884362"/>
                <a:gd name="connsiteY156" fmla="*/ 1252692 h 1884361"/>
                <a:gd name="connsiteX157" fmla="*/ 124274 w 1884362"/>
                <a:gd name="connsiteY157" fmla="*/ 1255870 h 1884361"/>
                <a:gd name="connsiteX158" fmla="*/ 136185 w 1884362"/>
                <a:gd name="connsiteY158" fmla="*/ 1258254 h 1884361"/>
                <a:gd name="connsiteX159" fmla="*/ 142765 w 1884362"/>
                <a:gd name="connsiteY159" fmla="*/ 1258254 h 1884361"/>
                <a:gd name="connsiteX160" fmla="*/ 145927 w 1884362"/>
                <a:gd name="connsiteY160" fmla="*/ 1258887 h 1884361"/>
                <a:gd name="connsiteX161" fmla="*/ 159410 w 1884362"/>
                <a:gd name="connsiteY161" fmla="*/ 1258887 h 1884361"/>
                <a:gd name="connsiteX162" fmla="*/ 174478 w 1884362"/>
                <a:gd name="connsiteY162" fmla="*/ 1258887 h 1884361"/>
                <a:gd name="connsiteX163" fmla="*/ 188754 w 1884362"/>
                <a:gd name="connsiteY163" fmla="*/ 1255712 h 1884361"/>
                <a:gd name="connsiteX164" fmla="*/ 203029 w 1884362"/>
                <a:gd name="connsiteY164" fmla="*/ 1251744 h 1884361"/>
                <a:gd name="connsiteX165" fmla="*/ 215718 w 1884362"/>
                <a:gd name="connsiteY165" fmla="*/ 1244600 h 1884361"/>
                <a:gd name="connsiteX166" fmla="*/ 229201 w 1884362"/>
                <a:gd name="connsiteY166" fmla="*/ 1237456 h 1884361"/>
                <a:gd name="connsiteX167" fmla="*/ 241097 w 1884362"/>
                <a:gd name="connsiteY167" fmla="*/ 1227931 h 1884361"/>
                <a:gd name="connsiteX168" fmla="*/ 252993 w 1884362"/>
                <a:gd name="connsiteY168" fmla="*/ 1217612 h 1884361"/>
                <a:gd name="connsiteX169" fmla="*/ 262510 w 1884362"/>
                <a:gd name="connsiteY169" fmla="*/ 1205706 h 1884361"/>
                <a:gd name="connsiteX170" fmla="*/ 272027 w 1884362"/>
                <a:gd name="connsiteY170" fmla="*/ 1193800 h 1884361"/>
                <a:gd name="connsiteX171" fmla="*/ 279958 w 1884362"/>
                <a:gd name="connsiteY171" fmla="*/ 1179512 h 1884361"/>
                <a:gd name="connsiteX172" fmla="*/ 288682 w 1884362"/>
                <a:gd name="connsiteY172" fmla="*/ 1164431 h 1884361"/>
                <a:gd name="connsiteX173" fmla="*/ 294234 w 1884362"/>
                <a:gd name="connsiteY173" fmla="*/ 1148556 h 1884361"/>
                <a:gd name="connsiteX174" fmla="*/ 298992 w 1884362"/>
                <a:gd name="connsiteY174" fmla="*/ 1131887 h 1884361"/>
                <a:gd name="connsiteX175" fmla="*/ 302957 w 1884362"/>
                <a:gd name="connsiteY175" fmla="*/ 1114425 h 1884361"/>
                <a:gd name="connsiteX176" fmla="*/ 305337 w 1884362"/>
                <a:gd name="connsiteY176" fmla="*/ 1096169 h 1884361"/>
                <a:gd name="connsiteX177" fmla="*/ 306130 w 1884362"/>
                <a:gd name="connsiteY177" fmla="*/ 1077912 h 1884361"/>
                <a:gd name="connsiteX178" fmla="*/ 305337 w 1884362"/>
                <a:gd name="connsiteY178" fmla="*/ 1058862 h 1884361"/>
                <a:gd name="connsiteX179" fmla="*/ 302957 w 1884362"/>
                <a:gd name="connsiteY179" fmla="*/ 1040606 h 1884361"/>
                <a:gd name="connsiteX180" fmla="*/ 298992 w 1884362"/>
                <a:gd name="connsiteY180" fmla="*/ 1023144 h 1884361"/>
                <a:gd name="connsiteX181" fmla="*/ 294234 w 1884362"/>
                <a:gd name="connsiteY181" fmla="*/ 1006475 h 1884361"/>
                <a:gd name="connsiteX182" fmla="*/ 288682 w 1884362"/>
                <a:gd name="connsiteY182" fmla="*/ 990600 h 1884361"/>
                <a:gd name="connsiteX183" fmla="*/ 279958 w 1884362"/>
                <a:gd name="connsiteY183" fmla="*/ 975519 h 1884361"/>
                <a:gd name="connsiteX184" fmla="*/ 272027 w 1884362"/>
                <a:gd name="connsiteY184" fmla="*/ 961231 h 1884361"/>
                <a:gd name="connsiteX185" fmla="*/ 262510 w 1884362"/>
                <a:gd name="connsiteY185" fmla="*/ 948531 h 1884361"/>
                <a:gd name="connsiteX186" fmla="*/ 252993 w 1884362"/>
                <a:gd name="connsiteY186" fmla="*/ 937419 h 1884361"/>
                <a:gd name="connsiteX187" fmla="*/ 241097 w 1884362"/>
                <a:gd name="connsiteY187" fmla="*/ 927100 h 1884361"/>
                <a:gd name="connsiteX188" fmla="*/ 229201 w 1884362"/>
                <a:gd name="connsiteY188" fmla="*/ 917575 h 1884361"/>
                <a:gd name="connsiteX189" fmla="*/ 215718 w 1884362"/>
                <a:gd name="connsiteY189" fmla="*/ 910431 h 1884361"/>
                <a:gd name="connsiteX190" fmla="*/ 203029 w 1884362"/>
                <a:gd name="connsiteY190" fmla="*/ 903287 h 1884361"/>
                <a:gd name="connsiteX191" fmla="*/ 188754 w 1884362"/>
                <a:gd name="connsiteY191" fmla="*/ 899319 h 1884361"/>
                <a:gd name="connsiteX192" fmla="*/ 174478 w 1884362"/>
                <a:gd name="connsiteY192" fmla="*/ 896144 h 1884361"/>
                <a:gd name="connsiteX193" fmla="*/ 159410 w 1884362"/>
                <a:gd name="connsiteY193" fmla="*/ 894556 h 1884361"/>
                <a:gd name="connsiteX194" fmla="*/ 159178 w 1884362"/>
                <a:gd name="connsiteY194" fmla="*/ 894584 h 1884361"/>
                <a:gd name="connsiteX195" fmla="*/ 148891 w 1884362"/>
                <a:gd name="connsiteY195" fmla="*/ 893554 h 1884361"/>
                <a:gd name="connsiteX196" fmla="*/ 136185 w 1884362"/>
                <a:gd name="connsiteY196" fmla="*/ 895143 h 1884361"/>
                <a:gd name="connsiteX197" fmla="*/ 124274 w 1884362"/>
                <a:gd name="connsiteY197" fmla="*/ 897527 h 1884361"/>
                <a:gd name="connsiteX198" fmla="*/ 113157 w 1884362"/>
                <a:gd name="connsiteY198" fmla="*/ 899910 h 1884361"/>
                <a:gd name="connsiteX199" fmla="*/ 102834 w 1884362"/>
                <a:gd name="connsiteY199" fmla="*/ 904678 h 1884361"/>
                <a:gd name="connsiteX200" fmla="*/ 93305 w 1884362"/>
                <a:gd name="connsiteY200" fmla="*/ 909445 h 1884361"/>
                <a:gd name="connsiteX201" fmla="*/ 85364 w 1884362"/>
                <a:gd name="connsiteY201" fmla="*/ 914212 h 1884361"/>
                <a:gd name="connsiteX202" fmla="*/ 78217 w 1884362"/>
                <a:gd name="connsiteY202" fmla="*/ 919774 h 1884361"/>
                <a:gd name="connsiteX203" fmla="*/ 71070 w 1884362"/>
                <a:gd name="connsiteY203" fmla="*/ 926131 h 1884361"/>
                <a:gd name="connsiteX204" fmla="*/ 59953 w 1884362"/>
                <a:gd name="connsiteY204" fmla="*/ 938049 h 1884361"/>
                <a:gd name="connsiteX205" fmla="*/ 52806 w 1884362"/>
                <a:gd name="connsiteY205" fmla="*/ 948378 h 1884361"/>
                <a:gd name="connsiteX206" fmla="*/ 47248 w 1884362"/>
                <a:gd name="connsiteY206" fmla="*/ 957913 h 1884361"/>
                <a:gd name="connsiteX207" fmla="*/ 42483 w 1884362"/>
                <a:gd name="connsiteY207" fmla="*/ 965858 h 1884361"/>
                <a:gd name="connsiteX208" fmla="*/ 37719 w 1884362"/>
                <a:gd name="connsiteY208" fmla="*/ 973009 h 1884361"/>
                <a:gd name="connsiteX209" fmla="*/ 32954 w 1884362"/>
                <a:gd name="connsiteY209" fmla="*/ 979366 h 1884361"/>
                <a:gd name="connsiteX210" fmla="*/ 26602 w 1884362"/>
                <a:gd name="connsiteY210" fmla="*/ 984133 h 1884361"/>
                <a:gd name="connsiteX211" fmla="*/ 21837 w 1884362"/>
                <a:gd name="connsiteY211" fmla="*/ 987311 h 1884361"/>
                <a:gd name="connsiteX212" fmla="*/ 16279 w 1884362"/>
                <a:gd name="connsiteY212" fmla="*/ 989695 h 1884361"/>
                <a:gd name="connsiteX213" fmla="*/ 12898 w 1884362"/>
                <a:gd name="connsiteY213" fmla="*/ 990823 h 1884361"/>
                <a:gd name="connsiteX214" fmla="*/ 11896 w 1884362"/>
                <a:gd name="connsiteY214" fmla="*/ 990600 h 1884361"/>
                <a:gd name="connsiteX215" fmla="*/ 6345 w 1884362"/>
                <a:gd name="connsiteY215" fmla="*/ 987425 h 1884361"/>
                <a:gd name="connsiteX216" fmla="*/ 0 w 1884362"/>
                <a:gd name="connsiteY216" fmla="*/ 981075 h 1884361"/>
                <a:gd name="connsiteX217" fmla="*/ 0 w 1884362"/>
                <a:gd name="connsiteY217" fmla="*/ 313531 h 1884361"/>
                <a:gd name="connsiteX218" fmla="*/ 636052 w 1884362"/>
                <a:gd name="connsiteY218" fmla="*/ 313531 h 1884361"/>
                <a:gd name="connsiteX219" fmla="*/ 645569 w 1884362"/>
                <a:gd name="connsiteY219" fmla="*/ 313531 h 1884361"/>
                <a:gd name="connsiteX220" fmla="*/ 653499 w 1884362"/>
                <a:gd name="connsiteY220" fmla="*/ 311944 h 1884361"/>
                <a:gd name="connsiteX221" fmla="*/ 660637 w 1884362"/>
                <a:gd name="connsiteY221" fmla="*/ 309563 h 1884361"/>
                <a:gd name="connsiteX222" fmla="*/ 666189 w 1884362"/>
                <a:gd name="connsiteY222" fmla="*/ 306388 h 1884361"/>
                <a:gd name="connsiteX223" fmla="*/ 670947 w 1884362"/>
                <a:gd name="connsiteY223" fmla="*/ 302419 h 1884361"/>
                <a:gd name="connsiteX224" fmla="*/ 674913 w 1884362"/>
                <a:gd name="connsiteY224" fmla="*/ 299244 h 1884361"/>
                <a:gd name="connsiteX225" fmla="*/ 677292 w 1884362"/>
                <a:gd name="connsiteY225" fmla="*/ 294481 h 1884361"/>
                <a:gd name="connsiteX226" fmla="*/ 678085 w 1884362"/>
                <a:gd name="connsiteY226" fmla="*/ 289719 h 1884361"/>
                <a:gd name="connsiteX227" fmla="*/ 678085 w 1884362"/>
                <a:gd name="connsiteY227" fmla="*/ 284956 h 1884361"/>
                <a:gd name="connsiteX228" fmla="*/ 677292 w 1884362"/>
                <a:gd name="connsiteY228" fmla="*/ 278606 h 1884361"/>
                <a:gd name="connsiteX229" fmla="*/ 674913 w 1884362"/>
                <a:gd name="connsiteY229" fmla="*/ 273844 h 1884361"/>
                <a:gd name="connsiteX230" fmla="*/ 670947 w 1884362"/>
                <a:gd name="connsiteY230" fmla="*/ 268288 h 1884361"/>
                <a:gd name="connsiteX231" fmla="*/ 666189 w 1884362"/>
                <a:gd name="connsiteY231" fmla="*/ 263525 h 1884361"/>
                <a:gd name="connsiteX232" fmla="*/ 660637 w 1884362"/>
                <a:gd name="connsiteY232" fmla="*/ 258763 h 1884361"/>
                <a:gd name="connsiteX233" fmla="*/ 653499 w 1884362"/>
                <a:gd name="connsiteY233" fmla="*/ 253206 h 1884361"/>
                <a:gd name="connsiteX234" fmla="*/ 645569 w 1884362"/>
                <a:gd name="connsiteY234" fmla="*/ 249238 h 1884361"/>
                <a:gd name="connsiteX235" fmla="*/ 638172 w 1884362"/>
                <a:gd name="connsiteY235" fmla="*/ 244919 h 1884361"/>
                <a:gd name="connsiteX236" fmla="*/ 637505 w 1884362"/>
                <a:gd name="connsiteY236" fmla="*/ 244474 h 1884361"/>
                <a:gd name="connsiteX237" fmla="*/ 634580 w 1884362"/>
                <a:gd name="connsiteY237" fmla="*/ 242524 h 1884361"/>
                <a:gd name="connsiteX238" fmla="*/ 624949 w 1884362"/>
                <a:gd name="connsiteY238" fmla="*/ 234950 h 1884361"/>
                <a:gd name="connsiteX239" fmla="*/ 614638 w 1884362"/>
                <a:gd name="connsiteY239" fmla="*/ 224631 h 1884361"/>
                <a:gd name="connsiteX240" fmla="*/ 607501 w 1884362"/>
                <a:gd name="connsiteY240" fmla="*/ 218281 h 1884361"/>
                <a:gd name="connsiteX241" fmla="*/ 602742 w 1884362"/>
                <a:gd name="connsiteY241" fmla="*/ 210344 h 1884361"/>
                <a:gd name="connsiteX242" fmla="*/ 596398 w 1884362"/>
                <a:gd name="connsiteY242" fmla="*/ 201613 h 1884361"/>
                <a:gd name="connsiteX243" fmla="*/ 591639 w 1884362"/>
                <a:gd name="connsiteY243" fmla="*/ 192088 h 1884361"/>
                <a:gd name="connsiteX244" fmla="*/ 588467 w 1884362"/>
                <a:gd name="connsiteY244" fmla="*/ 182563 h 1884361"/>
                <a:gd name="connsiteX245" fmla="*/ 584501 w 1884362"/>
                <a:gd name="connsiteY245" fmla="*/ 170656 h 1884361"/>
                <a:gd name="connsiteX246" fmla="*/ 582122 w 1884362"/>
                <a:gd name="connsiteY246" fmla="*/ 158750 h 1884361"/>
                <a:gd name="connsiteX247" fmla="*/ 582122 w 1884362"/>
                <a:gd name="connsiteY247" fmla="*/ 146050 h 1884361"/>
                <a:gd name="connsiteX248" fmla="*/ 582122 w 1884362"/>
                <a:gd name="connsiteY248" fmla="*/ 131763 h 1884361"/>
                <a:gd name="connsiteX249" fmla="*/ 586088 w 1884362"/>
                <a:gd name="connsiteY249" fmla="*/ 116681 h 1884361"/>
                <a:gd name="connsiteX250" fmla="*/ 590846 w 1884362"/>
                <a:gd name="connsiteY250" fmla="*/ 103188 h 1884361"/>
                <a:gd name="connsiteX251" fmla="*/ 596398 w 1884362"/>
                <a:gd name="connsiteY251" fmla="*/ 88900 h 1884361"/>
                <a:gd name="connsiteX252" fmla="*/ 603535 w 1884362"/>
                <a:gd name="connsiteY252" fmla="*/ 76994 h 1884361"/>
                <a:gd name="connsiteX253" fmla="*/ 613052 w 1884362"/>
                <a:gd name="connsiteY253" fmla="*/ 64294 h 1884361"/>
                <a:gd name="connsiteX254" fmla="*/ 624155 w 1884362"/>
                <a:gd name="connsiteY254" fmla="*/ 53181 h 1884361"/>
                <a:gd name="connsiteX255" fmla="*/ 636052 w 1884362"/>
                <a:gd name="connsiteY255" fmla="*/ 42863 h 1884361"/>
                <a:gd name="connsiteX256" fmla="*/ 647948 w 1884362"/>
                <a:gd name="connsiteY256" fmla="*/ 33338 h 1884361"/>
                <a:gd name="connsiteX257" fmla="*/ 662223 w 1884362"/>
                <a:gd name="connsiteY257" fmla="*/ 25400 h 1884361"/>
                <a:gd name="connsiteX258" fmla="*/ 677292 w 1884362"/>
                <a:gd name="connsiteY258" fmla="*/ 18256 h 1884361"/>
                <a:gd name="connsiteX259" fmla="*/ 692360 w 1884362"/>
                <a:gd name="connsiteY259" fmla="*/ 11906 h 1884361"/>
                <a:gd name="connsiteX260" fmla="*/ 709015 w 1884362"/>
                <a:gd name="connsiteY260" fmla="*/ 7144 h 1884361"/>
                <a:gd name="connsiteX261" fmla="*/ 727256 w 1884362"/>
                <a:gd name="connsiteY261" fmla="*/ 2381 h 1884361"/>
                <a:gd name="connsiteX262" fmla="*/ 744704 w 1884362"/>
                <a:gd name="connsiteY262" fmla="*/ 1588 h 1884361"/>
                <a:gd name="connsiteX263" fmla="*/ 763738 w 1884362"/>
                <a:gd name="connsiteY263" fmla="*/ 0 h 18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1884362" h="1884361">
                  <a:moveTo>
                    <a:pt x="763738" y="0"/>
                  </a:moveTo>
                  <a:lnTo>
                    <a:pt x="782772" y="1588"/>
                  </a:lnTo>
                  <a:lnTo>
                    <a:pt x="800220" y="2381"/>
                  </a:lnTo>
                  <a:lnTo>
                    <a:pt x="818460" y="7144"/>
                  </a:lnTo>
                  <a:lnTo>
                    <a:pt x="835115" y="11906"/>
                  </a:lnTo>
                  <a:lnTo>
                    <a:pt x="850184" y="18256"/>
                  </a:lnTo>
                  <a:lnTo>
                    <a:pt x="860914" y="23089"/>
                  </a:lnTo>
                  <a:lnTo>
                    <a:pt x="863642" y="24605"/>
                  </a:lnTo>
                  <a:lnTo>
                    <a:pt x="876338" y="34130"/>
                  </a:lnTo>
                  <a:lnTo>
                    <a:pt x="888240" y="44449"/>
                  </a:lnTo>
                  <a:lnTo>
                    <a:pt x="897761" y="55562"/>
                  </a:lnTo>
                  <a:lnTo>
                    <a:pt x="907283" y="67468"/>
                  </a:lnTo>
                  <a:lnTo>
                    <a:pt x="916011" y="80168"/>
                  </a:lnTo>
                  <a:lnTo>
                    <a:pt x="921565" y="93662"/>
                  </a:lnTo>
                  <a:lnTo>
                    <a:pt x="926326" y="107949"/>
                  </a:lnTo>
                  <a:lnTo>
                    <a:pt x="928706" y="122237"/>
                  </a:lnTo>
                  <a:lnTo>
                    <a:pt x="930293" y="137318"/>
                  </a:lnTo>
                  <a:lnTo>
                    <a:pt x="928706" y="150812"/>
                  </a:lnTo>
                  <a:lnTo>
                    <a:pt x="926326" y="161924"/>
                  </a:lnTo>
                  <a:lnTo>
                    <a:pt x="923945" y="173037"/>
                  </a:lnTo>
                  <a:lnTo>
                    <a:pt x="919185" y="183355"/>
                  </a:lnTo>
                  <a:lnTo>
                    <a:pt x="914424" y="192880"/>
                  </a:lnTo>
                  <a:lnTo>
                    <a:pt x="909663" y="201612"/>
                  </a:lnTo>
                  <a:lnTo>
                    <a:pt x="904109" y="208755"/>
                  </a:lnTo>
                  <a:lnTo>
                    <a:pt x="897761" y="215899"/>
                  </a:lnTo>
                  <a:lnTo>
                    <a:pt x="885859" y="226218"/>
                  </a:lnTo>
                  <a:lnTo>
                    <a:pt x="875544" y="233362"/>
                  </a:lnTo>
                  <a:lnTo>
                    <a:pt x="866023" y="239712"/>
                  </a:lnTo>
                  <a:lnTo>
                    <a:pt x="858088" y="244474"/>
                  </a:lnTo>
                  <a:lnTo>
                    <a:pt x="850947" y="249237"/>
                  </a:lnTo>
                  <a:lnTo>
                    <a:pt x="844599" y="254793"/>
                  </a:lnTo>
                  <a:lnTo>
                    <a:pt x="839838" y="259555"/>
                  </a:lnTo>
                  <a:lnTo>
                    <a:pt x="836664" y="265905"/>
                  </a:lnTo>
                  <a:lnTo>
                    <a:pt x="834284" y="270668"/>
                  </a:lnTo>
                  <a:lnTo>
                    <a:pt x="834284" y="276224"/>
                  </a:lnTo>
                  <a:lnTo>
                    <a:pt x="834284" y="280987"/>
                  </a:lnTo>
                  <a:lnTo>
                    <a:pt x="835077" y="285749"/>
                  </a:lnTo>
                  <a:lnTo>
                    <a:pt x="837458" y="290512"/>
                  </a:lnTo>
                  <a:lnTo>
                    <a:pt x="841425" y="293687"/>
                  </a:lnTo>
                  <a:lnTo>
                    <a:pt x="846186" y="297655"/>
                  </a:lnTo>
                  <a:lnTo>
                    <a:pt x="850947" y="300830"/>
                  </a:lnTo>
                  <a:lnTo>
                    <a:pt x="855927" y="301938"/>
                  </a:lnTo>
                  <a:lnTo>
                    <a:pt x="856528" y="302419"/>
                  </a:lnTo>
                  <a:lnTo>
                    <a:pt x="861287" y="306388"/>
                  </a:lnTo>
                  <a:lnTo>
                    <a:pt x="866838" y="309563"/>
                  </a:lnTo>
                  <a:lnTo>
                    <a:pt x="873976" y="311944"/>
                  </a:lnTo>
                  <a:lnTo>
                    <a:pt x="882700" y="313531"/>
                  </a:lnTo>
                  <a:lnTo>
                    <a:pt x="892217" y="313531"/>
                  </a:lnTo>
                  <a:lnTo>
                    <a:pt x="1569509" y="313531"/>
                  </a:lnTo>
                  <a:lnTo>
                    <a:pt x="1569509" y="950912"/>
                  </a:lnTo>
                  <a:lnTo>
                    <a:pt x="1571095" y="958850"/>
                  </a:lnTo>
                  <a:lnTo>
                    <a:pt x="1571888" y="966787"/>
                  </a:lnTo>
                  <a:lnTo>
                    <a:pt x="1574267" y="973931"/>
                  </a:lnTo>
                  <a:lnTo>
                    <a:pt x="1576647" y="980281"/>
                  </a:lnTo>
                  <a:lnTo>
                    <a:pt x="1580612" y="985044"/>
                  </a:lnTo>
                  <a:lnTo>
                    <a:pt x="1585370" y="988219"/>
                  </a:lnTo>
                  <a:lnTo>
                    <a:pt x="1588543" y="990600"/>
                  </a:lnTo>
                  <a:lnTo>
                    <a:pt x="1593301" y="992187"/>
                  </a:lnTo>
                  <a:lnTo>
                    <a:pt x="1599646" y="992187"/>
                  </a:lnTo>
                  <a:lnTo>
                    <a:pt x="1600680" y="991842"/>
                  </a:lnTo>
                  <a:lnTo>
                    <a:pt x="1602234" y="992188"/>
                  </a:lnTo>
                  <a:lnTo>
                    <a:pt x="1610958" y="989807"/>
                  </a:lnTo>
                  <a:lnTo>
                    <a:pt x="1618889" y="985838"/>
                  </a:lnTo>
                  <a:lnTo>
                    <a:pt x="1626027" y="980282"/>
                  </a:lnTo>
                  <a:lnTo>
                    <a:pt x="1633164" y="970757"/>
                  </a:lnTo>
                  <a:lnTo>
                    <a:pt x="1640302" y="958850"/>
                  </a:lnTo>
                  <a:lnTo>
                    <a:pt x="1646647" y="949325"/>
                  </a:lnTo>
                  <a:lnTo>
                    <a:pt x="1653785" y="939007"/>
                  </a:lnTo>
                  <a:lnTo>
                    <a:pt x="1664095" y="927100"/>
                  </a:lnTo>
                  <a:lnTo>
                    <a:pt x="1671232" y="920750"/>
                  </a:lnTo>
                  <a:lnTo>
                    <a:pt x="1678370" y="915194"/>
                  </a:lnTo>
                  <a:lnTo>
                    <a:pt x="1686301" y="910432"/>
                  </a:lnTo>
                  <a:lnTo>
                    <a:pt x="1695818" y="905669"/>
                  </a:lnTo>
                  <a:lnTo>
                    <a:pt x="1706921" y="900907"/>
                  </a:lnTo>
                  <a:lnTo>
                    <a:pt x="1717231" y="898525"/>
                  </a:lnTo>
                  <a:lnTo>
                    <a:pt x="1729127" y="896144"/>
                  </a:lnTo>
                  <a:lnTo>
                    <a:pt x="1736849" y="896144"/>
                  </a:lnTo>
                  <a:lnTo>
                    <a:pt x="1752711" y="896937"/>
                  </a:lnTo>
                  <a:lnTo>
                    <a:pt x="1766986" y="899319"/>
                  </a:lnTo>
                  <a:lnTo>
                    <a:pt x="1781262" y="904081"/>
                  </a:lnTo>
                  <a:lnTo>
                    <a:pt x="1793951" y="910431"/>
                  </a:lnTo>
                  <a:lnTo>
                    <a:pt x="1806640" y="917575"/>
                  </a:lnTo>
                  <a:lnTo>
                    <a:pt x="1818536" y="927100"/>
                  </a:lnTo>
                  <a:lnTo>
                    <a:pt x="1830433" y="937419"/>
                  </a:lnTo>
                  <a:lnTo>
                    <a:pt x="1841536" y="949325"/>
                  </a:lnTo>
                  <a:lnTo>
                    <a:pt x="1849467" y="962819"/>
                  </a:lnTo>
                  <a:lnTo>
                    <a:pt x="1858984" y="975519"/>
                  </a:lnTo>
                  <a:lnTo>
                    <a:pt x="1866121" y="990600"/>
                  </a:lnTo>
                  <a:lnTo>
                    <a:pt x="1872466" y="1007269"/>
                  </a:lnTo>
                  <a:lnTo>
                    <a:pt x="1877224" y="1023937"/>
                  </a:lnTo>
                  <a:lnTo>
                    <a:pt x="1880397" y="1040606"/>
                  </a:lnTo>
                  <a:lnTo>
                    <a:pt x="1882776" y="1059656"/>
                  </a:lnTo>
                  <a:lnTo>
                    <a:pt x="1884362" y="1077912"/>
                  </a:lnTo>
                  <a:lnTo>
                    <a:pt x="1882776" y="1096169"/>
                  </a:lnTo>
                  <a:lnTo>
                    <a:pt x="1880397" y="1114425"/>
                  </a:lnTo>
                  <a:lnTo>
                    <a:pt x="1877224" y="1131887"/>
                  </a:lnTo>
                  <a:lnTo>
                    <a:pt x="1872466" y="1148556"/>
                  </a:lnTo>
                  <a:lnTo>
                    <a:pt x="1866121" y="1164431"/>
                  </a:lnTo>
                  <a:lnTo>
                    <a:pt x="1858984" y="1179512"/>
                  </a:lnTo>
                  <a:lnTo>
                    <a:pt x="1849467" y="1193800"/>
                  </a:lnTo>
                  <a:lnTo>
                    <a:pt x="1841536" y="1206500"/>
                  </a:lnTo>
                  <a:lnTo>
                    <a:pt x="1830433" y="1218406"/>
                  </a:lnTo>
                  <a:lnTo>
                    <a:pt x="1818536" y="1227931"/>
                  </a:lnTo>
                  <a:lnTo>
                    <a:pt x="1806640" y="1237456"/>
                  </a:lnTo>
                  <a:lnTo>
                    <a:pt x="1793951" y="1246187"/>
                  </a:lnTo>
                  <a:lnTo>
                    <a:pt x="1781262" y="1251744"/>
                  </a:lnTo>
                  <a:lnTo>
                    <a:pt x="1766986" y="1256506"/>
                  </a:lnTo>
                  <a:lnTo>
                    <a:pt x="1752711" y="1258887"/>
                  </a:lnTo>
                  <a:lnTo>
                    <a:pt x="1752701" y="1258888"/>
                  </a:lnTo>
                  <a:lnTo>
                    <a:pt x="1742610" y="1258888"/>
                  </a:lnTo>
                  <a:lnTo>
                    <a:pt x="1729127" y="1258888"/>
                  </a:lnTo>
                  <a:lnTo>
                    <a:pt x="1717231" y="1256507"/>
                  </a:lnTo>
                  <a:lnTo>
                    <a:pt x="1706921" y="1253332"/>
                  </a:lnTo>
                  <a:lnTo>
                    <a:pt x="1695818" y="1249363"/>
                  </a:lnTo>
                  <a:lnTo>
                    <a:pt x="1686301" y="1244601"/>
                  </a:lnTo>
                  <a:lnTo>
                    <a:pt x="1678370" y="1239044"/>
                  </a:lnTo>
                  <a:lnTo>
                    <a:pt x="1671232" y="1234282"/>
                  </a:lnTo>
                  <a:lnTo>
                    <a:pt x="1664095" y="1227932"/>
                  </a:lnTo>
                  <a:lnTo>
                    <a:pt x="1653785" y="1216026"/>
                  </a:lnTo>
                  <a:lnTo>
                    <a:pt x="1646647" y="1205707"/>
                  </a:lnTo>
                  <a:lnTo>
                    <a:pt x="1640302" y="1196182"/>
                  </a:lnTo>
                  <a:lnTo>
                    <a:pt x="1633164" y="1184276"/>
                  </a:lnTo>
                  <a:lnTo>
                    <a:pt x="1626027" y="1174750"/>
                  </a:lnTo>
                  <a:lnTo>
                    <a:pt x="1618889" y="1169194"/>
                  </a:lnTo>
                  <a:lnTo>
                    <a:pt x="1610958" y="1164432"/>
                  </a:lnTo>
                  <a:lnTo>
                    <a:pt x="1602234" y="1162844"/>
                  </a:lnTo>
                  <a:lnTo>
                    <a:pt x="1595101" y="1164431"/>
                  </a:lnTo>
                  <a:lnTo>
                    <a:pt x="1593301" y="1164431"/>
                  </a:lnTo>
                  <a:lnTo>
                    <a:pt x="1588543" y="1165225"/>
                  </a:lnTo>
                  <a:lnTo>
                    <a:pt x="1585370" y="1167606"/>
                  </a:lnTo>
                  <a:lnTo>
                    <a:pt x="1580612" y="1171575"/>
                  </a:lnTo>
                  <a:lnTo>
                    <a:pt x="1576647" y="1176337"/>
                  </a:lnTo>
                  <a:lnTo>
                    <a:pt x="1574267" y="1181100"/>
                  </a:lnTo>
                  <a:lnTo>
                    <a:pt x="1571888" y="1188244"/>
                  </a:lnTo>
                  <a:lnTo>
                    <a:pt x="1571095" y="1196181"/>
                  </a:lnTo>
                  <a:lnTo>
                    <a:pt x="1569509" y="1205706"/>
                  </a:lnTo>
                  <a:lnTo>
                    <a:pt x="1569509" y="1884361"/>
                  </a:lnTo>
                  <a:lnTo>
                    <a:pt x="0" y="1884361"/>
                  </a:lnTo>
                  <a:lnTo>
                    <a:pt x="0" y="1173956"/>
                  </a:lnTo>
                  <a:lnTo>
                    <a:pt x="6345" y="1167606"/>
                  </a:lnTo>
                  <a:lnTo>
                    <a:pt x="11896" y="1164431"/>
                  </a:lnTo>
                  <a:lnTo>
                    <a:pt x="15838" y="1163555"/>
                  </a:lnTo>
                  <a:lnTo>
                    <a:pt x="16279" y="1163702"/>
                  </a:lnTo>
                  <a:lnTo>
                    <a:pt x="21837" y="1166086"/>
                  </a:lnTo>
                  <a:lnTo>
                    <a:pt x="26602" y="1169264"/>
                  </a:lnTo>
                  <a:lnTo>
                    <a:pt x="32954" y="1174031"/>
                  </a:lnTo>
                  <a:lnTo>
                    <a:pt x="37719" y="1180388"/>
                  </a:lnTo>
                  <a:lnTo>
                    <a:pt x="42483" y="1187539"/>
                  </a:lnTo>
                  <a:lnTo>
                    <a:pt x="47248" y="1195484"/>
                  </a:lnTo>
                  <a:lnTo>
                    <a:pt x="52806" y="1205019"/>
                  </a:lnTo>
                  <a:lnTo>
                    <a:pt x="59953" y="1215348"/>
                  </a:lnTo>
                  <a:lnTo>
                    <a:pt x="71070" y="1227266"/>
                  </a:lnTo>
                  <a:lnTo>
                    <a:pt x="78217" y="1233623"/>
                  </a:lnTo>
                  <a:lnTo>
                    <a:pt x="85364" y="1238390"/>
                  </a:lnTo>
                  <a:lnTo>
                    <a:pt x="93305" y="1243952"/>
                  </a:lnTo>
                  <a:lnTo>
                    <a:pt x="102834" y="1248719"/>
                  </a:lnTo>
                  <a:lnTo>
                    <a:pt x="113157" y="1252692"/>
                  </a:lnTo>
                  <a:lnTo>
                    <a:pt x="124274" y="1255870"/>
                  </a:lnTo>
                  <a:lnTo>
                    <a:pt x="136185" y="1258254"/>
                  </a:lnTo>
                  <a:lnTo>
                    <a:pt x="142765" y="1258254"/>
                  </a:lnTo>
                  <a:lnTo>
                    <a:pt x="145927" y="1258887"/>
                  </a:lnTo>
                  <a:lnTo>
                    <a:pt x="159410" y="1258887"/>
                  </a:lnTo>
                  <a:lnTo>
                    <a:pt x="174478" y="1258887"/>
                  </a:lnTo>
                  <a:lnTo>
                    <a:pt x="188754" y="1255712"/>
                  </a:lnTo>
                  <a:lnTo>
                    <a:pt x="203029" y="1251744"/>
                  </a:lnTo>
                  <a:lnTo>
                    <a:pt x="215718" y="1244600"/>
                  </a:lnTo>
                  <a:lnTo>
                    <a:pt x="229201" y="1237456"/>
                  </a:lnTo>
                  <a:lnTo>
                    <a:pt x="241097" y="1227931"/>
                  </a:lnTo>
                  <a:lnTo>
                    <a:pt x="252993" y="1217612"/>
                  </a:lnTo>
                  <a:lnTo>
                    <a:pt x="262510" y="1205706"/>
                  </a:lnTo>
                  <a:lnTo>
                    <a:pt x="272027" y="1193800"/>
                  </a:lnTo>
                  <a:lnTo>
                    <a:pt x="279958" y="1179512"/>
                  </a:lnTo>
                  <a:lnTo>
                    <a:pt x="288682" y="1164431"/>
                  </a:lnTo>
                  <a:lnTo>
                    <a:pt x="294234" y="1148556"/>
                  </a:lnTo>
                  <a:lnTo>
                    <a:pt x="298992" y="1131887"/>
                  </a:lnTo>
                  <a:lnTo>
                    <a:pt x="302957" y="1114425"/>
                  </a:lnTo>
                  <a:lnTo>
                    <a:pt x="305337" y="1096169"/>
                  </a:lnTo>
                  <a:lnTo>
                    <a:pt x="306130" y="1077912"/>
                  </a:lnTo>
                  <a:lnTo>
                    <a:pt x="305337" y="1058862"/>
                  </a:lnTo>
                  <a:lnTo>
                    <a:pt x="302957" y="1040606"/>
                  </a:lnTo>
                  <a:lnTo>
                    <a:pt x="298992" y="1023144"/>
                  </a:lnTo>
                  <a:lnTo>
                    <a:pt x="294234" y="1006475"/>
                  </a:lnTo>
                  <a:lnTo>
                    <a:pt x="288682" y="990600"/>
                  </a:lnTo>
                  <a:lnTo>
                    <a:pt x="279958" y="975519"/>
                  </a:lnTo>
                  <a:lnTo>
                    <a:pt x="272027" y="961231"/>
                  </a:lnTo>
                  <a:lnTo>
                    <a:pt x="262510" y="948531"/>
                  </a:lnTo>
                  <a:lnTo>
                    <a:pt x="252993" y="937419"/>
                  </a:lnTo>
                  <a:lnTo>
                    <a:pt x="241097" y="927100"/>
                  </a:lnTo>
                  <a:lnTo>
                    <a:pt x="229201" y="917575"/>
                  </a:lnTo>
                  <a:lnTo>
                    <a:pt x="215718" y="910431"/>
                  </a:lnTo>
                  <a:lnTo>
                    <a:pt x="203029" y="903287"/>
                  </a:lnTo>
                  <a:lnTo>
                    <a:pt x="188754" y="899319"/>
                  </a:lnTo>
                  <a:lnTo>
                    <a:pt x="174478" y="896144"/>
                  </a:lnTo>
                  <a:lnTo>
                    <a:pt x="159410" y="894556"/>
                  </a:lnTo>
                  <a:lnTo>
                    <a:pt x="159178" y="894584"/>
                  </a:lnTo>
                  <a:lnTo>
                    <a:pt x="148891" y="893554"/>
                  </a:lnTo>
                  <a:lnTo>
                    <a:pt x="136185" y="895143"/>
                  </a:lnTo>
                  <a:lnTo>
                    <a:pt x="124274" y="897527"/>
                  </a:lnTo>
                  <a:lnTo>
                    <a:pt x="113157" y="899910"/>
                  </a:lnTo>
                  <a:lnTo>
                    <a:pt x="102834" y="904678"/>
                  </a:lnTo>
                  <a:lnTo>
                    <a:pt x="93305" y="909445"/>
                  </a:lnTo>
                  <a:lnTo>
                    <a:pt x="85364" y="914212"/>
                  </a:lnTo>
                  <a:lnTo>
                    <a:pt x="78217" y="919774"/>
                  </a:lnTo>
                  <a:lnTo>
                    <a:pt x="71070" y="926131"/>
                  </a:lnTo>
                  <a:lnTo>
                    <a:pt x="59953" y="938049"/>
                  </a:lnTo>
                  <a:lnTo>
                    <a:pt x="52806" y="948378"/>
                  </a:lnTo>
                  <a:lnTo>
                    <a:pt x="47248" y="957913"/>
                  </a:lnTo>
                  <a:lnTo>
                    <a:pt x="42483" y="965858"/>
                  </a:lnTo>
                  <a:lnTo>
                    <a:pt x="37719" y="973009"/>
                  </a:lnTo>
                  <a:lnTo>
                    <a:pt x="32954" y="979366"/>
                  </a:lnTo>
                  <a:lnTo>
                    <a:pt x="26602" y="984133"/>
                  </a:lnTo>
                  <a:lnTo>
                    <a:pt x="21837" y="987311"/>
                  </a:lnTo>
                  <a:lnTo>
                    <a:pt x="16279" y="989695"/>
                  </a:lnTo>
                  <a:lnTo>
                    <a:pt x="12898" y="990823"/>
                  </a:lnTo>
                  <a:lnTo>
                    <a:pt x="11896" y="990600"/>
                  </a:lnTo>
                  <a:lnTo>
                    <a:pt x="6345" y="987425"/>
                  </a:lnTo>
                  <a:lnTo>
                    <a:pt x="0" y="981075"/>
                  </a:lnTo>
                  <a:lnTo>
                    <a:pt x="0" y="313531"/>
                  </a:lnTo>
                  <a:lnTo>
                    <a:pt x="636052" y="313531"/>
                  </a:lnTo>
                  <a:lnTo>
                    <a:pt x="645569" y="313531"/>
                  </a:lnTo>
                  <a:lnTo>
                    <a:pt x="653499" y="311944"/>
                  </a:lnTo>
                  <a:lnTo>
                    <a:pt x="660637" y="309563"/>
                  </a:lnTo>
                  <a:lnTo>
                    <a:pt x="666189" y="306388"/>
                  </a:lnTo>
                  <a:lnTo>
                    <a:pt x="670947" y="302419"/>
                  </a:lnTo>
                  <a:lnTo>
                    <a:pt x="674913" y="299244"/>
                  </a:lnTo>
                  <a:lnTo>
                    <a:pt x="677292" y="294481"/>
                  </a:lnTo>
                  <a:lnTo>
                    <a:pt x="678085" y="289719"/>
                  </a:lnTo>
                  <a:lnTo>
                    <a:pt x="678085" y="284956"/>
                  </a:lnTo>
                  <a:lnTo>
                    <a:pt x="677292" y="278606"/>
                  </a:lnTo>
                  <a:lnTo>
                    <a:pt x="674913" y="273844"/>
                  </a:lnTo>
                  <a:lnTo>
                    <a:pt x="670947" y="268288"/>
                  </a:lnTo>
                  <a:lnTo>
                    <a:pt x="666189" y="263525"/>
                  </a:lnTo>
                  <a:lnTo>
                    <a:pt x="660637" y="258763"/>
                  </a:lnTo>
                  <a:lnTo>
                    <a:pt x="653499" y="253206"/>
                  </a:lnTo>
                  <a:lnTo>
                    <a:pt x="645569" y="249238"/>
                  </a:lnTo>
                  <a:lnTo>
                    <a:pt x="638172" y="244919"/>
                  </a:lnTo>
                  <a:lnTo>
                    <a:pt x="637505" y="244474"/>
                  </a:lnTo>
                  <a:lnTo>
                    <a:pt x="634580" y="242524"/>
                  </a:lnTo>
                  <a:lnTo>
                    <a:pt x="624949" y="234950"/>
                  </a:lnTo>
                  <a:lnTo>
                    <a:pt x="614638" y="224631"/>
                  </a:lnTo>
                  <a:lnTo>
                    <a:pt x="607501" y="218281"/>
                  </a:lnTo>
                  <a:lnTo>
                    <a:pt x="602742" y="210344"/>
                  </a:lnTo>
                  <a:lnTo>
                    <a:pt x="596398" y="201613"/>
                  </a:lnTo>
                  <a:lnTo>
                    <a:pt x="591639" y="192088"/>
                  </a:lnTo>
                  <a:lnTo>
                    <a:pt x="588467" y="182563"/>
                  </a:lnTo>
                  <a:lnTo>
                    <a:pt x="584501" y="170656"/>
                  </a:lnTo>
                  <a:lnTo>
                    <a:pt x="582122" y="158750"/>
                  </a:lnTo>
                  <a:lnTo>
                    <a:pt x="582122" y="146050"/>
                  </a:lnTo>
                  <a:lnTo>
                    <a:pt x="582122" y="131763"/>
                  </a:lnTo>
                  <a:lnTo>
                    <a:pt x="586088" y="116681"/>
                  </a:lnTo>
                  <a:lnTo>
                    <a:pt x="590846" y="103188"/>
                  </a:lnTo>
                  <a:lnTo>
                    <a:pt x="596398" y="88900"/>
                  </a:lnTo>
                  <a:lnTo>
                    <a:pt x="603535" y="76994"/>
                  </a:lnTo>
                  <a:lnTo>
                    <a:pt x="613052" y="64294"/>
                  </a:lnTo>
                  <a:lnTo>
                    <a:pt x="624155" y="53181"/>
                  </a:lnTo>
                  <a:lnTo>
                    <a:pt x="636052" y="42863"/>
                  </a:lnTo>
                  <a:lnTo>
                    <a:pt x="647948" y="33338"/>
                  </a:lnTo>
                  <a:lnTo>
                    <a:pt x="662223" y="25400"/>
                  </a:lnTo>
                  <a:lnTo>
                    <a:pt x="677292" y="18256"/>
                  </a:lnTo>
                  <a:lnTo>
                    <a:pt x="692360" y="11906"/>
                  </a:lnTo>
                  <a:lnTo>
                    <a:pt x="709015" y="7144"/>
                  </a:lnTo>
                  <a:lnTo>
                    <a:pt x="727256" y="2381"/>
                  </a:lnTo>
                  <a:lnTo>
                    <a:pt x="744704" y="1588"/>
                  </a:lnTo>
                  <a:lnTo>
                    <a:pt x="763738"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52" name="TextBox 51"/>
            <p:cNvSpPr txBox="1"/>
            <p:nvPr/>
          </p:nvSpPr>
          <p:spPr>
            <a:xfrm>
              <a:off x="3373981" y="4425759"/>
              <a:ext cx="1178861" cy="923330"/>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Past Purchase</a:t>
              </a:r>
            </a:p>
            <a:p>
              <a:r>
                <a:rPr lang="en-IN" dirty="0">
                  <a:solidFill>
                    <a:prstClr val="white"/>
                  </a:solidFill>
                </a:rPr>
                <a:t>History</a:t>
              </a:r>
            </a:p>
          </p:txBody>
        </p:sp>
      </p:grpSp>
      <p:grpSp>
        <p:nvGrpSpPr>
          <p:cNvPr id="60" name="Group 59"/>
          <p:cNvGrpSpPr/>
          <p:nvPr/>
        </p:nvGrpSpPr>
        <p:grpSpPr>
          <a:xfrm>
            <a:off x="3897936" y="4187360"/>
            <a:ext cx="1884362" cy="1884361"/>
            <a:chOff x="4607606" y="3915417"/>
            <a:chExt cx="1884362" cy="1884361"/>
          </a:xfrm>
        </p:grpSpPr>
        <p:pic>
          <p:nvPicPr>
            <p:cNvPr id="43" name="Picture 42"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50332" t="60074" r="19841"/>
            <a:stretch>
              <a:fillRect/>
            </a:stretch>
          </p:blipFill>
          <p:spPr bwMode="auto">
            <a:xfrm>
              <a:off x="4607606" y="3915417"/>
              <a:ext cx="1884362" cy="1884361"/>
            </a:xfrm>
            <a:custGeom>
              <a:avLst/>
              <a:gdLst>
                <a:gd name="connsiteX0" fmla="*/ 763738 w 1884362"/>
                <a:gd name="connsiteY0" fmla="*/ 0 h 1884361"/>
                <a:gd name="connsiteX1" fmla="*/ 782772 w 1884362"/>
                <a:gd name="connsiteY1" fmla="*/ 1588 h 1884361"/>
                <a:gd name="connsiteX2" fmla="*/ 800220 w 1884362"/>
                <a:gd name="connsiteY2" fmla="*/ 2382 h 1884361"/>
                <a:gd name="connsiteX3" fmla="*/ 818460 w 1884362"/>
                <a:gd name="connsiteY3" fmla="*/ 7144 h 1884361"/>
                <a:gd name="connsiteX4" fmla="*/ 835115 w 1884362"/>
                <a:gd name="connsiteY4" fmla="*/ 11907 h 1884361"/>
                <a:gd name="connsiteX5" fmla="*/ 850184 w 1884362"/>
                <a:gd name="connsiteY5" fmla="*/ 18257 h 1884361"/>
                <a:gd name="connsiteX6" fmla="*/ 866045 w 1884362"/>
                <a:gd name="connsiteY6" fmla="*/ 25400 h 1884361"/>
                <a:gd name="connsiteX7" fmla="*/ 880321 w 1884362"/>
                <a:gd name="connsiteY7" fmla="*/ 33338 h 1884361"/>
                <a:gd name="connsiteX8" fmla="*/ 893010 w 1884362"/>
                <a:gd name="connsiteY8" fmla="*/ 42863 h 1884361"/>
                <a:gd name="connsiteX9" fmla="*/ 904906 w 1884362"/>
                <a:gd name="connsiteY9" fmla="*/ 53182 h 1884361"/>
                <a:gd name="connsiteX10" fmla="*/ 914423 w 1884362"/>
                <a:gd name="connsiteY10" fmla="*/ 64294 h 1884361"/>
                <a:gd name="connsiteX11" fmla="*/ 923940 w 1884362"/>
                <a:gd name="connsiteY11" fmla="*/ 76994 h 1884361"/>
                <a:gd name="connsiteX12" fmla="*/ 931078 w 1884362"/>
                <a:gd name="connsiteY12" fmla="*/ 88900 h 1884361"/>
                <a:gd name="connsiteX13" fmla="*/ 937097 w 1884362"/>
                <a:gd name="connsiteY13" fmla="*/ 100949 h 1884361"/>
                <a:gd name="connsiteX14" fmla="*/ 939108 w 1884362"/>
                <a:gd name="connsiteY14" fmla="*/ 106983 h 1884361"/>
                <a:gd name="connsiteX15" fmla="*/ 939661 w 1884362"/>
                <a:gd name="connsiteY15" fmla="*/ 109334 h 1884361"/>
                <a:gd name="connsiteX16" fmla="*/ 941810 w 1884362"/>
                <a:gd name="connsiteY16" fmla="*/ 122237 h 1884361"/>
                <a:gd name="connsiteX17" fmla="*/ 943397 w 1884362"/>
                <a:gd name="connsiteY17" fmla="*/ 137318 h 1884361"/>
                <a:gd name="connsiteX18" fmla="*/ 941810 w 1884362"/>
                <a:gd name="connsiteY18" fmla="*/ 150812 h 1884361"/>
                <a:gd name="connsiteX19" fmla="*/ 939430 w 1884362"/>
                <a:gd name="connsiteY19" fmla="*/ 161924 h 1884361"/>
                <a:gd name="connsiteX20" fmla="*/ 937049 w 1884362"/>
                <a:gd name="connsiteY20" fmla="*/ 173037 h 1884361"/>
                <a:gd name="connsiteX21" fmla="*/ 932289 w 1884362"/>
                <a:gd name="connsiteY21" fmla="*/ 183355 h 1884361"/>
                <a:gd name="connsiteX22" fmla="*/ 927528 w 1884362"/>
                <a:gd name="connsiteY22" fmla="*/ 192880 h 1884361"/>
                <a:gd name="connsiteX23" fmla="*/ 922767 w 1884362"/>
                <a:gd name="connsiteY23" fmla="*/ 201612 h 1884361"/>
                <a:gd name="connsiteX24" fmla="*/ 917213 w 1884362"/>
                <a:gd name="connsiteY24" fmla="*/ 208755 h 1884361"/>
                <a:gd name="connsiteX25" fmla="*/ 910865 w 1884362"/>
                <a:gd name="connsiteY25" fmla="*/ 215899 h 1884361"/>
                <a:gd name="connsiteX26" fmla="*/ 898963 w 1884362"/>
                <a:gd name="connsiteY26" fmla="*/ 226218 h 1884361"/>
                <a:gd name="connsiteX27" fmla="*/ 888648 w 1884362"/>
                <a:gd name="connsiteY27" fmla="*/ 233362 h 1884361"/>
                <a:gd name="connsiteX28" fmla="*/ 879127 w 1884362"/>
                <a:gd name="connsiteY28" fmla="*/ 239712 h 1884361"/>
                <a:gd name="connsiteX29" fmla="*/ 871192 w 1884362"/>
                <a:gd name="connsiteY29" fmla="*/ 244474 h 1884361"/>
                <a:gd name="connsiteX30" fmla="*/ 864051 w 1884362"/>
                <a:gd name="connsiteY30" fmla="*/ 249237 h 1884361"/>
                <a:gd name="connsiteX31" fmla="*/ 857703 w 1884362"/>
                <a:gd name="connsiteY31" fmla="*/ 254793 h 1884361"/>
                <a:gd name="connsiteX32" fmla="*/ 852942 w 1884362"/>
                <a:gd name="connsiteY32" fmla="*/ 259555 h 1884361"/>
                <a:gd name="connsiteX33" fmla="*/ 849768 w 1884362"/>
                <a:gd name="connsiteY33" fmla="*/ 265905 h 1884361"/>
                <a:gd name="connsiteX34" fmla="*/ 847388 w 1884362"/>
                <a:gd name="connsiteY34" fmla="*/ 270668 h 1884361"/>
                <a:gd name="connsiteX35" fmla="*/ 847388 w 1884362"/>
                <a:gd name="connsiteY35" fmla="*/ 276224 h 1884361"/>
                <a:gd name="connsiteX36" fmla="*/ 847388 w 1884362"/>
                <a:gd name="connsiteY36" fmla="*/ 280987 h 1884361"/>
                <a:gd name="connsiteX37" fmla="*/ 848181 w 1884362"/>
                <a:gd name="connsiteY37" fmla="*/ 285749 h 1884361"/>
                <a:gd name="connsiteX38" fmla="*/ 849391 w 1884362"/>
                <a:gd name="connsiteY38" fmla="*/ 288170 h 1884361"/>
                <a:gd name="connsiteX39" fmla="*/ 849391 w 1884362"/>
                <a:gd name="connsiteY39" fmla="*/ 289719 h 1884361"/>
                <a:gd name="connsiteX40" fmla="*/ 850184 w 1884362"/>
                <a:gd name="connsiteY40" fmla="*/ 294482 h 1884361"/>
                <a:gd name="connsiteX41" fmla="*/ 852563 w 1884362"/>
                <a:gd name="connsiteY41" fmla="*/ 299244 h 1884361"/>
                <a:gd name="connsiteX42" fmla="*/ 856528 w 1884362"/>
                <a:gd name="connsiteY42" fmla="*/ 302419 h 1884361"/>
                <a:gd name="connsiteX43" fmla="*/ 861287 w 1884362"/>
                <a:gd name="connsiteY43" fmla="*/ 306388 h 1884361"/>
                <a:gd name="connsiteX44" fmla="*/ 866838 w 1884362"/>
                <a:gd name="connsiteY44" fmla="*/ 309563 h 1884361"/>
                <a:gd name="connsiteX45" fmla="*/ 873976 w 1884362"/>
                <a:gd name="connsiteY45" fmla="*/ 311944 h 1884361"/>
                <a:gd name="connsiteX46" fmla="*/ 882700 w 1884362"/>
                <a:gd name="connsiteY46" fmla="*/ 313532 h 1884361"/>
                <a:gd name="connsiteX47" fmla="*/ 892217 w 1884362"/>
                <a:gd name="connsiteY47" fmla="*/ 313532 h 1884361"/>
                <a:gd name="connsiteX48" fmla="*/ 1569509 w 1884362"/>
                <a:gd name="connsiteY48" fmla="*/ 313532 h 1884361"/>
                <a:gd name="connsiteX49" fmla="*/ 1569509 w 1884362"/>
                <a:gd name="connsiteY49" fmla="*/ 950913 h 1884361"/>
                <a:gd name="connsiteX50" fmla="*/ 1571095 w 1884362"/>
                <a:gd name="connsiteY50" fmla="*/ 958850 h 1884361"/>
                <a:gd name="connsiteX51" fmla="*/ 1571888 w 1884362"/>
                <a:gd name="connsiteY51" fmla="*/ 966788 h 1884361"/>
                <a:gd name="connsiteX52" fmla="*/ 1574267 w 1884362"/>
                <a:gd name="connsiteY52" fmla="*/ 973932 h 1884361"/>
                <a:gd name="connsiteX53" fmla="*/ 1576647 w 1884362"/>
                <a:gd name="connsiteY53" fmla="*/ 980282 h 1884361"/>
                <a:gd name="connsiteX54" fmla="*/ 1580612 w 1884362"/>
                <a:gd name="connsiteY54" fmla="*/ 985044 h 1884361"/>
                <a:gd name="connsiteX55" fmla="*/ 1585370 w 1884362"/>
                <a:gd name="connsiteY55" fmla="*/ 988219 h 1884361"/>
                <a:gd name="connsiteX56" fmla="*/ 1588543 w 1884362"/>
                <a:gd name="connsiteY56" fmla="*/ 990600 h 1884361"/>
                <a:gd name="connsiteX57" fmla="*/ 1593301 w 1884362"/>
                <a:gd name="connsiteY57" fmla="*/ 992188 h 1884361"/>
                <a:gd name="connsiteX58" fmla="*/ 1599646 w 1884362"/>
                <a:gd name="connsiteY58" fmla="*/ 992188 h 1884361"/>
                <a:gd name="connsiteX59" fmla="*/ 1604404 w 1884362"/>
                <a:gd name="connsiteY59" fmla="*/ 990600 h 1884361"/>
                <a:gd name="connsiteX60" fmla="*/ 1607079 w 1884362"/>
                <a:gd name="connsiteY60" fmla="*/ 989453 h 1884361"/>
                <a:gd name="connsiteX61" fmla="*/ 1608621 w 1884362"/>
                <a:gd name="connsiteY61" fmla="*/ 990223 h 1884361"/>
                <a:gd name="connsiteX62" fmla="*/ 1613388 w 1884362"/>
                <a:gd name="connsiteY62" fmla="*/ 991812 h 1884361"/>
                <a:gd name="connsiteX63" fmla="*/ 1618155 w 1884362"/>
                <a:gd name="connsiteY63" fmla="*/ 991812 h 1884361"/>
                <a:gd name="connsiteX64" fmla="*/ 1623717 w 1884362"/>
                <a:gd name="connsiteY64" fmla="*/ 990223 h 1884361"/>
                <a:gd name="connsiteX65" fmla="*/ 1628484 w 1884362"/>
                <a:gd name="connsiteY65" fmla="*/ 987841 h 1884361"/>
                <a:gd name="connsiteX66" fmla="*/ 1634841 w 1884362"/>
                <a:gd name="connsiteY66" fmla="*/ 984665 h 1884361"/>
                <a:gd name="connsiteX67" fmla="*/ 1639608 w 1884362"/>
                <a:gd name="connsiteY67" fmla="*/ 979900 h 1884361"/>
                <a:gd name="connsiteX68" fmla="*/ 1645170 w 1884362"/>
                <a:gd name="connsiteY68" fmla="*/ 973548 h 1884361"/>
                <a:gd name="connsiteX69" fmla="*/ 1649937 w 1884362"/>
                <a:gd name="connsiteY69" fmla="*/ 966401 h 1884361"/>
                <a:gd name="connsiteX70" fmla="*/ 1653910 w 1884362"/>
                <a:gd name="connsiteY70" fmla="*/ 960048 h 1884361"/>
                <a:gd name="connsiteX71" fmla="*/ 1659472 w 1884362"/>
                <a:gd name="connsiteY71" fmla="*/ 948931 h 1884361"/>
                <a:gd name="connsiteX72" fmla="*/ 1668212 w 1884362"/>
                <a:gd name="connsiteY72" fmla="*/ 939402 h 1884361"/>
                <a:gd name="connsiteX73" fmla="*/ 1678541 w 1884362"/>
                <a:gd name="connsiteY73" fmla="*/ 927491 h 1884361"/>
                <a:gd name="connsiteX74" fmla="*/ 1685692 w 1884362"/>
                <a:gd name="connsiteY74" fmla="*/ 921932 h 1884361"/>
                <a:gd name="connsiteX75" fmla="*/ 1692843 w 1884362"/>
                <a:gd name="connsiteY75" fmla="*/ 915579 h 1884361"/>
                <a:gd name="connsiteX76" fmla="*/ 1700789 w 1884362"/>
                <a:gd name="connsiteY76" fmla="*/ 910021 h 1884361"/>
                <a:gd name="connsiteX77" fmla="*/ 1710323 w 1884362"/>
                <a:gd name="connsiteY77" fmla="*/ 905256 h 1884361"/>
                <a:gd name="connsiteX78" fmla="*/ 1719858 w 1884362"/>
                <a:gd name="connsiteY78" fmla="*/ 901286 h 1884361"/>
                <a:gd name="connsiteX79" fmla="*/ 1731776 w 1884362"/>
                <a:gd name="connsiteY79" fmla="*/ 898110 h 1884361"/>
                <a:gd name="connsiteX80" fmla="*/ 1740656 w 1884362"/>
                <a:gd name="connsiteY80" fmla="*/ 896335 h 1884361"/>
                <a:gd name="connsiteX81" fmla="*/ 1752711 w 1884362"/>
                <a:gd name="connsiteY81" fmla="*/ 896938 h 1884361"/>
                <a:gd name="connsiteX82" fmla="*/ 1766986 w 1884362"/>
                <a:gd name="connsiteY82" fmla="*/ 899319 h 1884361"/>
                <a:gd name="connsiteX83" fmla="*/ 1781262 w 1884362"/>
                <a:gd name="connsiteY83" fmla="*/ 904082 h 1884361"/>
                <a:gd name="connsiteX84" fmla="*/ 1793951 w 1884362"/>
                <a:gd name="connsiteY84" fmla="*/ 910432 h 1884361"/>
                <a:gd name="connsiteX85" fmla="*/ 1806640 w 1884362"/>
                <a:gd name="connsiteY85" fmla="*/ 917575 h 1884361"/>
                <a:gd name="connsiteX86" fmla="*/ 1818536 w 1884362"/>
                <a:gd name="connsiteY86" fmla="*/ 927100 h 1884361"/>
                <a:gd name="connsiteX87" fmla="*/ 1830433 w 1884362"/>
                <a:gd name="connsiteY87" fmla="*/ 937419 h 1884361"/>
                <a:gd name="connsiteX88" fmla="*/ 1841536 w 1884362"/>
                <a:gd name="connsiteY88" fmla="*/ 949325 h 1884361"/>
                <a:gd name="connsiteX89" fmla="*/ 1849467 w 1884362"/>
                <a:gd name="connsiteY89" fmla="*/ 962819 h 1884361"/>
                <a:gd name="connsiteX90" fmla="*/ 1858984 w 1884362"/>
                <a:gd name="connsiteY90" fmla="*/ 975519 h 1884361"/>
                <a:gd name="connsiteX91" fmla="*/ 1866121 w 1884362"/>
                <a:gd name="connsiteY91" fmla="*/ 990600 h 1884361"/>
                <a:gd name="connsiteX92" fmla="*/ 1872466 w 1884362"/>
                <a:gd name="connsiteY92" fmla="*/ 1007269 h 1884361"/>
                <a:gd name="connsiteX93" fmla="*/ 1877224 w 1884362"/>
                <a:gd name="connsiteY93" fmla="*/ 1023938 h 1884361"/>
                <a:gd name="connsiteX94" fmla="*/ 1880397 w 1884362"/>
                <a:gd name="connsiteY94" fmla="*/ 1040607 h 1884361"/>
                <a:gd name="connsiteX95" fmla="*/ 1882776 w 1884362"/>
                <a:gd name="connsiteY95" fmla="*/ 1059657 h 1884361"/>
                <a:gd name="connsiteX96" fmla="*/ 1884362 w 1884362"/>
                <a:gd name="connsiteY96" fmla="*/ 1077913 h 1884361"/>
                <a:gd name="connsiteX97" fmla="*/ 1882776 w 1884362"/>
                <a:gd name="connsiteY97" fmla="*/ 1096169 h 1884361"/>
                <a:gd name="connsiteX98" fmla="*/ 1880397 w 1884362"/>
                <a:gd name="connsiteY98" fmla="*/ 1114425 h 1884361"/>
                <a:gd name="connsiteX99" fmla="*/ 1877224 w 1884362"/>
                <a:gd name="connsiteY99" fmla="*/ 1131888 h 1884361"/>
                <a:gd name="connsiteX100" fmla="*/ 1872466 w 1884362"/>
                <a:gd name="connsiteY100" fmla="*/ 1148557 h 1884361"/>
                <a:gd name="connsiteX101" fmla="*/ 1866121 w 1884362"/>
                <a:gd name="connsiteY101" fmla="*/ 1164432 h 1884361"/>
                <a:gd name="connsiteX102" fmla="*/ 1858984 w 1884362"/>
                <a:gd name="connsiteY102" fmla="*/ 1179513 h 1884361"/>
                <a:gd name="connsiteX103" fmla="*/ 1849467 w 1884362"/>
                <a:gd name="connsiteY103" fmla="*/ 1193801 h 1884361"/>
                <a:gd name="connsiteX104" fmla="*/ 1841536 w 1884362"/>
                <a:gd name="connsiteY104" fmla="*/ 1206501 h 1884361"/>
                <a:gd name="connsiteX105" fmla="*/ 1830433 w 1884362"/>
                <a:gd name="connsiteY105" fmla="*/ 1218407 h 1884361"/>
                <a:gd name="connsiteX106" fmla="*/ 1818536 w 1884362"/>
                <a:gd name="connsiteY106" fmla="*/ 1227932 h 1884361"/>
                <a:gd name="connsiteX107" fmla="*/ 1806640 w 1884362"/>
                <a:gd name="connsiteY107" fmla="*/ 1237457 h 1884361"/>
                <a:gd name="connsiteX108" fmla="*/ 1793951 w 1884362"/>
                <a:gd name="connsiteY108" fmla="*/ 1246188 h 1884361"/>
                <a:gd name="connsiteX109" fmla="*/ 1781262 w 1884362"/>
                <a:gd name="connsiteY109" fmla="*/ 1251744 h 1884361"/>
                <a:gd name="connsiteX110" fmla="*/ 1766986 w 1884362"/>
                <a:gd name="connsiteY110" fmla="*/ 1256507 h 1884361"/>
                <a:gd name="connsiteX111" fmla="*/ 1752711 w 1884362"/>
                <a:gd name="connsiteY111" fmla="*/ 1258888 h 1884361"/>
                <a:gd name="connsiteX112" fmla="*/ 1749055 w 1884362"/>
                <a:gd name="connsiteY112" fmla="*/ 1259254 h 1884361"/>
                <a:gd name="connsiteX113" fmla="*/ 1743695 w 1884362"/>
                <a:gd name="connsiteY113" fmla="*/ 1258624 h 1884361"/>
                <a:gd name="connsiteX114" fmla="*/ 1731776 w 1884362"/>
                <a:gd name="connsiteY114" fmla="*/ 1256242 h 1884361"/>
                <a:gd name="connsiteX115" fmla="*/ 1719858 w 1884362"/>
                <a:gd name="connsiteY115" fmla="*/ 1253859 h 1884361"/>
                <a:gd name="connsiteX116" fmla="*/ 1710323 w 1884362"/>
                <a:gd name="connsiteY116" fmla="*/ 1249095 h 1884361"/>
                <a:gd name="connsiteX117" fmla="*/ 1700789 w 1884362"/>
                <a:gd name="connsiteY117" fmla="*/ 1244330 h 1884361"/>
                <a:gd name="connsiteX118" fmla="*/ 1692843 w 1884362"/>
                <a:gd name="connsiteY118" fmla="*/ 1239566 h 1884361"/>
                <a:gd name="connsiteX119" fmla="*/ 1685692 w 1884362"/>
                <a:gd name="connsiteY119" fmla="*/ 1234007 h 1884361"/>
                <a:gd name="connsiteX120" fmla="*/ 1678541 w 1884362"/>
                <a:gd name="connsiteY120" fmla="*/ 1227655 h 1884361"/>
                <a:gd name="connsiteX121" fmla="*/ 1668212 w 1884362"/>
                <a:gd name="connsiteY121" fmla="*/ 1215743 h 1884361"/>
                <a:gd name="connsiteX122" fmla="*/ 1659472 w 1884362"/>
                <a:gd name="connsiteY122" fmla="*/ 1205420 h 1884361"/>
                <a:gd name="connsiteX123" fmla="*/ 1653910 w 1884362"/>
                <a:gd name="connsiteY123" fmla="*/ 1195891 h 1884361"/>
                <a:gd name="connsiteX124" fmla="*/ 1649937 w 1884362"/>
                <a:gd name="connsiteY124" fmla="*/ 1187950 h 1884361"/>
                <a:gd name="connsiteX125" fmla="*/ 1645170 w 1884362"/>
                <a:gd name="connsiteY125" fmla="*/ 1180804 h 1884361"/>
                <a:gd name="connsiteX126" fmla="*/ 1639608 w 1884362"/>
                <a:gd name="connsiteY126" fmla="*/ 1174451 h 1884361"/>
                <a:gd name="connsiteX127" fmla="*/ 1634841 w 1884362"/>
                <a:gd name="connsiteY127" fmla="*/ 1169686 h 1884361"/>
                <a:gd name="connsiteX128" fmla="*/ 1628484 w 1884362"/>
                <a:gd name="connsiteY128" fmla="*/ 1166510 h 1884361"/>
                <a:gd name="connsiteX129" fmla="*/ 1623717 w 1884362"/>
                <a:gd name="connsiteY129" fmla="*/ 1164128 h 1884361"/>
                <a:gd name="connsiteX130" fmla="*/ 1618155 w 1884362"/>
                <a:gd name="connsiteY130" fmla="*/ 1164128 h 1884361"/>
                <a:gd name="connsiteX131" fmla="*/ 1613388 w 1884362"/>
                <a:gd name="connsiteY131" fmla="*/ 1164128 h 1884361"/>
                <a:gd name="connsiteX132" fmla="*/ 1608621 w 1884362"/>
                <a:gd name="connsiteY132" fmla="*/ 1164922 h 1884361"/>
                <a:gd name="connsiteX133" fmla="*/ 1607201 w 1884362"/>
                <a:gd name="connsiteY133" fmla="*/ 1165632 h 1884361"/>
                <a:gd name="connsiteX134" fmla="*/ 1604404 w 1884362"/>
                <a:gd name="connsiteY134" fmla="*/ 1164432 h 1884361"/>
                <a:gd name="connsiteX135" fmla="*/ 1599646 w 1884362"/>
                <a:gd name="connsiteY135" fmla="*/ 1164432 h 1884361"/>
                <a:gd name="connsiteX136" fmla="*/ 1593301 w 1884362"/>
                <a:gd name="connsiteY136" fmla="*/ 1164432 h 1884361"/>
                <a:gd name="connsiteX137" fmla="*/ 1588543 w 1884362"/>
                <a:gd name="connsiteY137" fmla="*/ 1165225 h 1884361"/>
                <a:gd name="connsiteX138" fmla="*/ 1585370 w 1884362"/>
                <a:gd name="connsiteY138" fmla="*/ 1167607 h 1884361"/>
                <a:gd name="connsiteX139" fmla="*/ 1580612 w 1884362"/>
                <a:gd name="connsiteY139" fmla="*/ 1171575 h 1884361"/>
                <a:gd name="connsiteX140" fmla="*/ 1576647 w 1884362"/>
                <a:gd name="connsiteY140" fmla="*/ 1176338 h 1884361"/>
                <a:gd name="connsiteX141" fmla="*/ 1574267 w 1884362"/>
                <a:gd name="connsiteY141" fmla="*/ 1181101 h 1884361"/>
                <a:gd name="connsiteX142" fmla="*/ 1571888 w 1884362"/>
                <a:gd name="connsiteY142" fmla="*/ 1188244 h 1884361"/>
                <a:gd name="connsiteX143" fmla="*/ 1571095 w 1884362"/>
                <a:gd name="connsiteY143" fmla="*/ 1196182 h 1884361"/>
                <a:gd name="connsiteX144" fmla="*/ 1569509 w 1884362"/>
                <a:gd name="connsiteY144" fmla="*/ 1205707 h 1884361"/>
                <a:gd name="connsiteX145" fmla="*/ 1569509 w 1884362"/>
                <a:gd name="connsiteY145" fmla="*/ 1884361 h 1884361"/>
                <a:gd name="connsiteX146" fmla="*/ 0 w 1884362"/>
                <a:gd name="connsiteY146" fmla="*/ 1884361 h 1884361"/>
                <a:gd name="connsiteX147" fmla="*/ 0 w 1884362"/>
                <a:gd name="connsiteY147" fmla="*/ 1173957 h 1884361"/>
                <a:gd name="connsiteX148" fmla="*/ 6345 w 1884362"/>
                <a:gd name="connsiteY148" fmla="*/ 1167607 h 1884361"/>
                <a:gd name="connsiteX149" fmla="*/ 11896 w 1884362"/>
                <a:gd name="connsiteY149" fmla="*/ 1164432 h 1884361"/>
                <a:gd name="connsiteX150" fmla="*/ 11901 w 1884362"/>
                <a:gd name="connsiteY150" fmla="*/ 1164431 h 1884361"/>
                <a:gd name="connsiteX151" fmla="*/ 16446 w 1884362"/>
                <a:gd name="connsiteY151" fmla="*/ 1164431 h 1884361"/>
                <a:gd name="connsiteX152" fmla="*/ 21204 w 1884362"/>
                <a:gd name="connsiteY152" fmla="*/ 1164431 h 1884361"/>
                <a:gd name="connsiteX153" fmla="*/ 26756 w 1884362"/>
                <a:gd name="connsiteY153" fmla="*/ 1166812 h 1884361"/>
                <a:gd name="connsiteX154" fmla="*/ 31514 w 1884362"/>
                <a:gd name="connsiteY154" fmla="*/ 1169987 h 1884361"/>
                <a:gd name="connsiteX155" fmla="*/ 37859 w 1884362"/>
                <a:gd name="connsiteY155" fmla="*/ 1174750 h 1884361"/>
                <a:gd name="connsiteX156" fmla="*/ 42618 w 1884362"/>
                <a:gd name="connsiteY156" fmla="*/ 1181100 h 1884361"/>
                <a:gd name="connsiteX157" fmla="*/ 47376 w 1884362"/>
                <a:gd name="connsiteY157" fmla="*/ 1188244 h 1884361"/>
                <a:gd name="connsiteX158" fmla="*/ 52135 w 1884362"/>
                <a:gd name="connsiteY158" fmla="*/ 1196181 h 1884361"/>
                <a:gd name="connsiteX159" fmla="*/ 57686 w 1884362"/>
                <a:gd name="connsiteY159" fmla="*/ 1205706 h 1884361"/>
                <a:gd name="connsiteX160" fmla="*/ 64824 w 1884362"/>
                <a:gd name="connsiteY160" fmla="*/ 1216025 h 1884361"/>
                <a:gd name="connsiteX161" fmla="*/ 75927 w 1884362"/>
                <a:gd name="connsiteY161" fmla="*/ 1227931 h 1884361"/>
                <a:gd name="connsiteX162" fmla="*/ 83065 w 1884362"/>
                <a:gd name="connsiteY162" fmla="*/ 1234281 h 1884361"/>
                <a:gd name="connsiteX163" fmla="*/ 90202 w 1884362"/>
                <a:gd name="connsiteY163" fmla="*/ 1239837 h 1884361"/>
                <a:gd name="connsiteX164" fmla="*/ 98926 w 1884362"/>
                <a:gd name="connsiteY164" fmla="*/ 1244600 h 1884361"/>
                <a:gd name="connsiteX165" fmla="*/ 107650 w 1884362"/>
                <a:gd name="connsiteY165" fmla="*/ 1249362 h 1884361"/>
                <a:gd name="connsiteX166" fmla="*/ 117960 w 1884362"/>
                <a:gd name="connsiteY166" fmla="*/ 1254125 h 1884361"/>
                <a:gd name="connsiteX167" fmla="*/ 129063 w 1884362"/>
                <a:gd name="connsiteY167" fmla="*/ 1256506 h 1884361"/>
                <a:gd name="connsiteX168" fmla="*/ 140960 w 1884362"/>
                <a:gd name="connsiteY168" fmla="*/ 1258887 h 1884361"/>
                <a:gd name="connsiteX169" fmla="*/ 153649 w 1884362"/>
                <a:gd name="connsiteY169" fmla="*/ 1260475 h 1884361"/>
                <a:gd name="connsiteX170" fmla="*/ 169501 w 1884362"/>
                <a:gd name="connsiteY170" fmla="*/ 1258888 h 1884361"/>
                <a:gd name="connsiteX171" fmla="*/ 174478 w 1884362"/>
                <a:gd name="connsiteY171" fmla="*/ 1258888 h 1884361"/>
                <a:gd name="connsiteX172" fmla="*/ 188754 w 1884362"/>
                <a:gd name="connsiteY172" fmla="*/ 1255713 h 1884361"/>
                <a:gd name="connsiteX173" fmla="*/ 203029 w 1884362"/>
                <a:gd name="connsiteY173" fmla="*/ 1251744 h 1884361"/>
                <a:gd name="connsiteX174" fmla="*/ 215718 w 1884362"/>
                <a:gd name="connsiteY174" fmla="*/ 1244601 h 1884361"/>
                <a:gd name="connsiteX175" fmla="*/ 229201 w 1884362"/>
                <a:gd name="connsiteY175" fmla="*/ 1237457 h 1884361"/>
                <a:gd name="connsiteX176" fmla="*/ 241097 w 1884362"/>
                <a:gd name="connsiteY176" fmla="*/ 1227932 h 1884361"/>
                <a:gd name="connsiteX177" fmla="*/ 252993 w 1884362"/>
                <a:gd name="connsiteY177" fmla="*/ 1217613 h 1884361"/>
                <a:gd name="connsiteX178" fmla="*/ 262510 w 1884362"/>
                <a:gd name="connsiteY178" fmla="*/ 1205707 h 1884361"/>
                <a:gd name="connsiteX179" fmla="*/ 272027 w 1884362"/>
                <a:gd name="connsiteY179" fmla="*/ 1193801 h 1884361"/>
                <a:gd name="connsiteX180" fmla="*/ 279958 w 1884362"/>
                <a:gd name="connsiteY180" fmla="*/ 1179513 h 1884361"/>
                <a:gd name="connsiteX181" fmla="*/ 288682 w 1884362"/>
                <a:gd name="connsiteY181" fmla="*/ 1164432 h 1884361"/>
                <a:gd name="connsiteX182" fmla="*/ 294234 w 1884362"/>
                <a:gd name="connsiteY182" fmla="*/ 1148557 h 1884361"/>
                <a:gd name="connsiteX183" fmla="*/ 298992 w 1884362"/>
                <a:gd name="connsiteY183" fmla="*/ 1131888 h 1884361"/>
                <a:gd name="connsiteX184" fmla="*/ 302957 w 1884362"/>
                <a:gd name="connsiteY184" fmla="*/ 1114425 h 1884361"/>
                <a:gd name="connsiteX185" fmla="*/ 305337 w 1884362"/>
                <a:gd name="connsiteY185" fmla="*/ 1096169 h 1884361"/>
                <a:gd name="connsiteX186" fmla="*/ 306130 w 1884362"/>
                <a:gd name="connsiteY186" fmla="*/ 1077913 h 1884361"/>
                <a:gd name="connsiteX187" fmla="*/ 305337 w 1884362"/>
                <a:gd name="connsiteY187" fmla="*/ 1058863 h 1884361"/>
                <a:gd name="connsiteX188" fmla="*/ 302957 w 1884362"/>
                <a:gd name="connsiteY188" fmla="*/ 1040607 h 1884361"/>
                <a:gd name="connsiteX189" fmla="*/ 298992 w 1884362"/>
                <a:gd name="connsiteY189" fmla="*/ 1023144 h 1884361"/>
                <a:gd name="connsiteX190" fmla="*/ 294234 w 1884362"/>
                <a:gd name="connsiteY190" fmla="*/ 1006475 h 1884361"/>
                <a:gd name="connsiteX191" fmla="*/ 288682 w 1884362"/>
                <a:gd name="connsiteY191" fmla="*/ 990600 h 1884361"/>
                <a:gd name="connsiteX192" fmla="*/ 279958 w 1884362"/>
                <a:gd name="connsiteY192" fmla="*/ 975519 h 1884361"/>
                <a:gd name="connsiteX193" fmla="*/ 272027 w 1884362"/>
                <a:gd name="connsiteY193" fmla="*/ 961232 h 1884361"/>
                <a:gd name="connsiteX194" fmla="*/ 262510 w 1884362"/>
                <a:gd name="connsiteY194" fmla="*/ 948532 h 1884361"/>
                <a:gd name="connsiteX195" fmla="*/ 252993 w 1884362"/>
                <a:gd name="connsiteY195" fmla="*/ 937419 h 1884361"/>
                <a:gd name="connsiteX196" fmla="*/ 241097 w 1884362"/>
                <a:gd name="connsiteY196" fmla="*/ 927100 h 1884361"/>
                <a:gd name="connsiteX197" fmla="*/ 229201 w 1884362"/>
                <a:gd name="connsiteY197" fmla="*/ 917575 h 1884361"/>
                <a:gd name="connsiteX198" fmla="*/ 215718 w 1884362"/>
                <a:gd name="connsiteY198" fmla="*/ 910432 h 1884361"/>
                <a:gd name="connsiteX199" fmla="*/ 203029 w 1884362"/>
                <a:gd name="connsiteY199" fmla="*/ 903288 h 1884361"/>
                <a:gd name="connsiteX200" fmla="*/ 188754 w 1884362"/>
                <a:gd name="connsiteY200" fmla="*/ 899319 h 1884361"/>
                <a:gd name="connsiteX201" fmla="*/ 174478 w 1884362"/>
                <a:gd name="connsiteY201" fmla="*/ 896144 h 1884361"/>
                <a:gd name="connsiteX202" fmla="*/ 159410 w 1884362"/>
                <a:gd name="connsiteY202" fmla="*/ 894557 h 1884361"/>
                <a:gd name="connsiteX203" fmla="*/ 145927 w 1884362"/>
                <a:gd name="connsiteY203" fmla="*/ 896144 h 1884361"/>
                <a:gd name="connsiteX204" fmla="*/ 140960 w 1884362"/>
                <a:gd name="connsiteY204" fmla="*/ 896144 h 1884361"/>
                <a:gd name="connsiteX205" fmla="*/ 129063 w 1884362"/>
                <a:gd name="connsiteY205" fmla="*/ 898525 h 1884361"/>
                <a:gd name="connsiteX206" fmla="*/ 117960 w 1884362"/>
                <a:gd name="connsiteY206" fmla="*/ 901700 h 1884361"/>
                <a:gd name="connsiteX207" fmla="*/ 107650 w 1884362"/>
                <a:gd name="connsiteY207" fmla="*/ 905669 h 1884361"/>
                <a:gd name="connsiteX208" fmla="*/ 98926 w 1884362"/>
                <a:gd name="connsiteY208" fmla="*/ 910431 h 1884361"/>
                <a:gd name="connsiteX209" fmla="*/ 90202 w 1884362"/>
                <a:gd name="connsiteY209" fmla="*/ 915987 h 1884361"/>
                <a:gd name="connsiteX210" fmla="*/ 83065 w 1884362"/>
                <a:gd name="connsiteY210" fmla="*/ 922337 h 1884361"/>
                <a:gd name="connsiteX211" fmla="*/ 75927 w 1884362"/>
                <a:gd name="connsiteY211" fmla="*/ 927894 h 1884361"/>
                <a:gd name="connsiteX212" fmla="*/ 64824 w 1884362"/>
                <a:gd name="connsiteY212" fmla="*/ 939800 h 1884361"/>
                <a:gd name="connsiteX213" fmla="*/ 57686 w 1884362"/>
                <a:gd name="connsiteY213" fmla="*/ 949325 h 1884361"/>
                <a:gd name="connsiteX214" fmla="*/ 52135 w 1884362"/>
                <a:gd name="connsiteY214" fmla="*/ 960437 h 1884361"/>
                <a:gd name="connsiteX215" fmla="*/ 47376 w 1884362"/>
                <a:gd name="connsiteY215" fmla="*/ 966787 h 1884361"/>
                <a:gd name="connsiteX216" fmla="*/ 42618 w 1884362"/>
                <a:gd name="connsiteY216" fmla="*/ 973931 h 1884361"/>
                <a:gd name="connsiteX217" fmla="*/ 37859 w 1884362"/>
                <a:gd name="connsiteY217" fmla="*/ 980281 h 1884361"/>
                <a:gd name="connsiteX218" fmla="*/ 31514 w 1884362"/>
                <a:gd name="connsiteY218" fmla="*/ 985044 h 1884361"/>
                <a:gd name="connsiteX219" fmla="*/ 26756 w 1884362"/>
                <a:gd name="connsiteY219" fmla="*/ 988219 h 1884361"/>
                <a:gd name="connsiteX220" fmla="*/ 21204 w 1884362"/>
                <a:gd name="connsiteY220" fmla="*/ 990600 h 1884361"/>
                <a:gd name="connsiteX221" fmla="*/ 17480 w 1884362"/>
                <a:gd name="connsiteY221" fmla="*/ 991842 h 1884361"/>
                <a:gd name="connsiteX222" fmla="*/ 11896 w 1884362"/>
                <a:gd name="connsiteY222" fmla="*/ 990600 h 1884361"/>
                <a:gd name="connsiteX223" fmla="*/ 6345 w 1884362"/>
                <a:gd name="connsiteY223" fmla="*/ 987425 h 1884361"/>
                <a:gd name="connsiteX224" fmla="*/ 0 w 1884362"/>
                <a:gd name="connsiteY224" fmla="*/ 981075 h 1884361"/>
                <a:gd name="connsiteX225" fmla="*/ 0 w 1884362"/>
                <a:gd name="connsiteY225" fmla="*/ 313532 h 1884361"/>
                <a:gd name="connsiteX226" fmla="*/ 636052 w 1884362"/>
                <a:gd name="connsiteY226" fmla="*/ 313532 h 1884361"/>
                <a:gd name="connsiteX227" fmla="*/ 645569 w 1884362"/>
                <a:gd name="connsiteY227" fmla="*/ 313532 h 1884361"/>
                <a:gd name="connsiteX228" fmla="*/ 653499 w 1884362"/>
                <a:gd name="connsiteY228" fmla="*/ 311944 h 1884361"/>
                <a:gd name="connsiteX229" fmla="*/ 660637 w 1884362"/>
                <a:gd name="connsiteY229" fmla="*/ 309563 h 1884361"/>
                <a:gd name="connsiteX230" fmla="*/ 666189 w 1884362"/>
                <a:gd name="connsiteY230" fmla="*/ 306388 h 1884361"/>
                <a:gd name="connsiteX231" fmla="*/ 670947 w 1884362"/>
                <a:gd name="connsiteY231" fmla="*/ 302419 h 1884361"/>
                <a:gd name="connsiteX232" fmla="*/ 674913 w 1884362"/>
                <a:gd name="connsiteY232" fmla="*/ 299244 h 1884361"/>
                <a:gd name="connsiteX233" fmla="*/ 677292 w 1884362"/>
                <a:gd name="connsiteY233" fmla="*/ 294482 h 1884361"/>
                <a:gd name="connsiteX234" fmla="*/ 678085 w 1884362"/>
                <a:gd name="connsiteY234" fmla="*/ 289719 h 1884361"/>
                <a:gd name="connsiteX235" fmla="*/ 678085 w 1884362"/>
                <a:gd name="connsiteY235" fmla="*/ 284957 h 1884361"/>
                <a:gd name="connsiteX236" fmla="*/ 677292 w 1884362"/>
                <a:gd name="connsiteY236" fmla="*/ 278607 h 1884361"/>
                <a:gd name="connsiteX237" fmla="*/ 674913 w 1884362"/>
                <a:gd name="connsiteY237" fmla="*/ 273844 h 1884361"/>
                <a:gd name="connsiteX238" fmla="*/ 674268 w 1884362"/>
                <a:gd name="connsiteY238" fmla="*/ 272941 h 1884361"/>
                <a:gd name="connsiteX239" fmla="*/ 673619 w 1884362"/>
                <a:gd name="connsiteY239" fmla="*/ 270668 h 1884361"/>
                <a:gd name="connsiteX240" fmla="*/ 671239 w 1884362"/>
                <a:gd name="connsiteY240" fmla="*/ 265905 h 1884361"/>
                <a:gd name="connsiteX241" fmla="*/ 668065 w 1884362"/>
                <a:gd name="connsiteY241" fmla="*/ 259555 h 1884361"/>
                <a:gd name="connsiteX242" fmla="*/ 663304 w 1884362"/>
                <a:gd name="connsiteY242" fmla="*/ 254793 h 1884361"/>
                <a:gd name="connsiteX243" fmla="*/ 657750 w 1884362"/>
                <a:gd name="connsiteY243" fmla="*/ 249237 h 1884361"/>
                <a:gd name="connsiteX244" fmla="*/ 650609 w 1884362"/>
                <a:gd name="connsiteY244" fmla="*/ 244474 h 1884361"/>
                <a:gd name="connsiteX245" fmla="*/ 643468 w 1884362"/>
                <a:gd name="connsiteY245" fmla="*/ 239712 h 1884361"/>
                <a:gd name="connsiteX246" fmla="*/ 632359 w 1884362"/>
                <a:gd name="connsiteY246" fmla="*/ 233362 h 1884361"/>
                <a:gd name="connsiteX247" fmla="*/ 622838 w 1884362"/>
                <a:gd name="connsiteY247" fmla="*/ 226218 h 1884361"/>
                <a:gd name="connsiteX248" fmla="*/ 610936 w 1884362"/>
                <a:gd name="connsiteY248" fmla="*/ 215899 h 1884361"/>
                <a:gd name="connsiteX249" fmla="*/ 605382 w 1884362"/>
                <a:gd name="connsiteY249" fmla="*/ 208755 h 1884361"/>
                <a:gd name="connsiteX250" fmla="*/ 599034 w 1884362"/>
                <a:gd name="connsiteY250" fmla="*/ 201612 h 1884361"/>
                <a:gd name="connsiteX251" fmla="*/ 593480 w 1884362"/>
                <a:gd name="connsiteY251" fmla="*/ 192880 h 1884361"/>
                <a:gd name="connsiteX252" fmla="*/ 588754 w 1884362"/>
                <a:gd name="connsiteY252" fmla="*/ 183426 h 1884361"/>
                <a:gd name="connsiteX253" fmla="*/ 588467 w 1884362"/>
                <a:gd name="connsiteY253" fmla="*/ 182563 h 1884361"/>
                <a:gd name="connsiteX254" fmla="*/ 584501 w 1884362"/>
                <a:gd name="connsiteY254" fmla="*/ 170657 h 1884361"/>
                <a:gd name="connsiteX255" fmla="*/ 582122 w 1884362"/>
                <a:gd name="connsiteY255" fmla="*/ 158750 h 1884361"/>
                <a:gd name="connsiteX256" fmla="*/ 582122 w 1884362"/>
                <a:gd name="connsiteY256" fmla="*/ 146050 h 1884361"/>
                <a:gd name="connsiteX257" fmla="*/ 582122 w 1884362"/>
                <a:gd name="connsiteY257" fmla="*/ 131763 h 1884361"/>
                <a:gd name="connsiteX258" fmla="*/ 586088 w 1884362"/>
                <a:gd name="connsiteY258" fmla="*/ 116682 h 1884361"/>
                <a:gd name="connsiteX259" fmla="*/ 590846 w 1884362"/>
                <a:gd name="connsiteY259" fmla="*/ 103188 h 1884361"/>
                <a:gd name="connsiteX260" fmla="*/ 596398 w 1884362"/>
                <a:gd name="connsiteY260" fmla="*/ 88900 h 1884361"/>
                <a:gd name="connsiteX261" fmla="*/ 603535 w 1884362"/>
                <a:gd name="connsiteY261" fmla="*/ 76994 h 1884361"/>
                <a:gd name="connsiteX262" fmla="*/ 613052 w 1884362"/>
                <a:gd name="connsiteY262" fmla="*/ 64294 h 1884361"/>
                <a:gd name="connsiteX263" fmla="*/ 624155 w 1884362"/>
                <a:gd name="connsiteY263" fmla="*/ 53182 h 1884361"/>
                <a:gd name="connsiteX264" fmla="*/ 636052 w 1884362"/>
                <a:gd name="connsiteY264" fmla="*/ 42863 h 1884361"/>
                <a:gd name="connsiteX265" fmla="*/ 647948 w 1884362"/>
                <a:gd name="connsiteY265" fmla="*/ 33338 h 1884361"/>
                <a:gd name="connsiteX266" fmla="*/ 662223 w 1884362"/>
                <a:gd name="connsiteY266" fmla="*/ 25400 h 1884361"/>
                <a:gd name="connsiteX267" fmla="*/ 677292 w 1884362"/>
                <a:gd name="connsiteY267" fmla="*/ 18257 h 1884361"/>
                <a:gd name="connsiteX268" fmla="*/ 692360 w 1884362"/>
                <a:gd name="connsiteY268" fmla="*/ 11907 h 1884361"/>
                <a:gd name="connsiteX269" fmla="*/ 709015 w 1884362"/>
                <a:gd name="connsiteY269" fmla="*/ 7144 h 1884361"/>
                <a:gd name="connsiteX270" fmla="*/ 727256 w 1884362"/>
                <a:gd name="connsiteY270" fmla="*/ 2382 h 1884361"/>
                <a:gd name="connsiteX271" fmla="*/ 744704 w 1884362"/>
                <a:gd name="connsiteY271" fmla="*/ 1588 h 1884361"/>
                <a:gd name="connsiteX272" fmla="*/ 763738 w 1884362"/>
                <a:gd name="connsiteY272" fmla="*/ 0 h 188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Lst>
              <a:rect l="l" t="t" r="r" b="b"/>
              <a:pathLst>
                <a:path w="1884362" h="1884361">
                  <a:moveTo>
                    <a:pt x="763738" y="0"/>
                  </a:moveTo>
                  <a:lnTo>
                    <a:pt x="782772" y="1588"/>
                  </a:lnTo>
                  <a:lnTo>
                    <a:pt x="800220" y="2382"/>
                  </a:lnTo>
                  <a:lnTo>
                    <a:pt x="818460" y="7144"/>
                  </a:lnTo>
                  <a:lnTo>
                    <a:pt x="835115" y="11907"/>
                  </a:lnTo>
                  <a:lnTo>
                    <a:pt x="850184" y="18257"/>
                  </a:lnTo>
                  <a:lnTo>
                    <a:pt x="866045" y="25400"/>
                  </a:lnTo>
                  <a:lnTo>
                    <a:pt x="880321" y="33338"/>
                  </a:lnTo>
                  <a:lnTo>
                    <a:pt x="893010" y="42863"/>
                  </a:lnTo>
                  <a:lnTo>
                    <a:pt x="904906" y="53182"/>
                  </a:lnTo>
                  <a:lnTo>
                    <a:pt x="914423" y="64294"/>
                  </a:lnTo>
                  <a:lnTo>
                    <a:pt x="923940" y="76994"/>
                  </a:lnTo>
                  <a:lnTo>
                    <a:pt x="931078" y="88900"/>
                  </a:lnTo>
                  <a:lnTo>
                    <a:pt x="937097" y="100949"/>
                  </a:lnTo>
                  <a:lnTo>
                    <a:pt x="939108" y="106983"/>
                  </a:lnTo>
                  <a:lnTo>
                    <a:pt x="939661" y="109334"/>
                  </a:lnTo>
                  <a:lnTo>
                    <a:pt x="941810" y="122237"/>
                  </a:lnTo>
                  <a:lnTo>
                    <a:pt x="943397" y="137318"/>
                  </a:lnTo>
                  <a:lnTo>
                    <a:pt x="941810" y="150812"/>
                  </a:lnTo>
                  <a:lnTo>
                    <a:pt x="939430" y="161924"/>
                  </a:lnTo>
                  <a:lnTo>
                    <a:pt x="937049" y="173037"/>
                  </a:lnTo>
                  <a:lnTo>
                    <a:pt x="932289" y="183355"/>
                  </a:lnTo>
                  <a:lnTo>
                    <a:pt x="927528" y="192880"/>
                  </a:lnTo>
                  <a:lnTo>
                    <a:pt x="922767" y="201612"/>
                  </a:lnTo>
                  <a:lnTo>
                    <a:pt x="917213" y="208755"/>
                  </a:lnTo>
                  <a:lnTo>
                    <a:pt x="910865" y="215899"/>
                  </a:lnTo>
                  <a:lnTo>
                    <a:pt x="898963" y="226218"/>
                  </a:lnTo>
                  <a:lnTo>
                    <a:pt x="888648" y="233362"/>
                  </a:lnTo>
                  <a:lnTo>
                    <a:pt x="879127" y="239712"/>
                  </a:lnTo>
                  <a:lnTo>
                    <a:pt x="871192" y="244474"/>
                  </a:lnTo>
                  <a:lnTo>
                    <a:pt x="864051" y="249237"/>
                  </a:lnTo>
                  <a:lnTo>
                    <a:pt x="857703" y="254793"/>
                  </a:lnTo>
                  <a:lnTo>
                    <a:pt x="852942" y="259555"/>
                  </a:lnTo>
                  <a:lnTo>
                    <a:pt x="849768" y="265905"/>
                  </a:lnTo>
                  <a:lnTo>
                    <a:pt x="847388" y="270668"/>
                  </a:lnTo>
                  <a:lnTo>
                    <a:pt x="847388" y="276224"/>
                  </a:lnTo>
                  <a:lnTo>
                    <a:pt x="847388" y="280987"/>
                  </a:lnTo>
                  <a:lnTo>
                    <a:pt x="848181" y="285749"/>
                  </a:lnTo>
                  <a:lnTo>
                    <a:pt x="849391" y="288170"/>
                  </a:lnTo>
                  <a:lnTo>
                    <a:pt x="849391" y="289719"/>
                  </a:lnTo>
                  <a:lnTo>
                    <a:pt x="850184" y="294482"/>
                  </a:lnTo>
                  <a:lnTo>
                    <a:pt x="852563" y="299244"/>
                  </a:lnTo>
                  <a:lnTo>
                    <a:pt x="856528" y="302419"/>
                  </a:lnTo>
                  <a:lnTo>
                    <a:pt x="861287" y="306388"/>
                  </a:lnTo>
                  <a:lnTo>
                    <a:pt x="866838" y="309563"/>
                  </a:lnTo>
                  <a:lnTo>
                    <a:pt x="873976" y="311944"/>
                  </a:lnTo>
                  <a:lnTo>
                    <a:pt x="882700" y="313532"/>
                  </a:lnTo>
                  <a:lnTo>
                    <a:pt x="892217" y="313532"/>
                  </a:lnTo>
                  <a:lnTo>
                    <a:pt x="1569509" y="313532"/>
                  </a:lnTo>
                  <a:lnTo>
                    <a:pt x="1569509" y="950913"/>
                  </a:lnTo>
                  <a:lnTo>
                    <a:pt x="1571095" y="958850"/>
                  </a:lnTo>
                  <a:lnTo>
                    <a:pt x="1571888" y="966788"/>
                  </a:lnTo>
                  <a:lnTo>
                    <a:pt x="1574267" y="973932"/>
                  </a:lnTo>
                  <a:lnTo>
                    <a:pt x="1576647" y="980282"/>
                  </a:lnTo>
                  <a:lnTo>
                    <a:pt x="1580612" y="985044"/>
                  </a:lnTo>
                  <a:lnTo>
                    <a:pt x="1585370" y="988219"/>
                  </a:lnTo>
                  <a:lnTo>
                    <a:pt x="1588543" y="990600"/>
                  </a:lnTo>
                  <a:lnTo>
                    <a:pt x="1593301" y="992188"/>
                  </a:lnTo>
                  <a:lnTo>
                    <a:pt x="1599646" y="992188"/>
                  </a:lnTo>
                  <a:lnTo>
                    <a:pt x="1604404" y="990600"/>
                  </a:lnTo>
                  <a:lnTo>
                    <a:pt x="1607079" y="989453"/>
                  </a:lnTo>
                  <a:lnTo>
                    <a:pt x="1608621" y="990223"/>
                  </a:lnTo>
                  <a:lnTo>
                    <a:pt x="1613388" y="991812"/>
                  </a:lnTo>
                  <a:lnTo>
                    <a:pt x="1618155" y="991812"/>
                  </a:lnTo>
                  <a:lnTo>
                    <a:pt x="1623717" y="990223"/>
                  </a:lnTo>
                  <a:lnTo>
                    <a:pt x="1628484" y="987841"/>
                  </a:lnTo>
                  <a:lnTo>
                    <a:pt x="1634841" y="984665"/>
                  </a:lnTo>
                  <a:lnTo>
                    <a:pt x="1639608" y="979900"/>
                  </a:lnTo>
                  <a:lnTo>
                    <a:pt x="1645170" y="973548"/>
                  </a:lnTo>
                  <a:lnTo>
                    <a:pt x="1649937" y="966401"/>
                  </a:lnTo>
                  <a:lnTo>
                    <a:pt x="1653910" y="960048"/>
                  </a:lnTo>
                  <a:lnTo>
                    <a:pt x="1659472" y="948931"/>
                  </a:lnTo>
                  <a:lnTo>
                    <a:pt x="1668212" y="939402"/>
                  </a:lnTo>
                  <a:lnTo>
                    <a:pt x="1678541" y="927491"/>
                  </a:lnTo>
                  <a:lnTo>
                    <a:pt x="1685692" y="921932"/>
                  </a:lnTo>
                  <a:lnTo>
                    <a:pt x="1692843" y="915579"/>
                  </a:lnTo>
                  <a:lnTo>
                    <a:pt x="1700789" y="910021"/>
                  </a:lnTo>
                  <a:lnTo>
                    <a:pt x="1710323" y="905256"/>
                  </a:lnTo>
                  <a:lnTo>
                    <a:pt x="1719858" y="901286"/>
                  </a:lnTo>
                  <a:lnTo>
                    <a:pt x="1731776" y="898110"/>
                  </a:lnTo>
                  <a:lnTo>
                    <a:pt x="1740656" y="896335"/>
                  </a:lnTo>
                  <a:lnTo>
                    <a:pt x="1752711" y="896938"/>
                  </a:lnTo>
                  <a:lnTo>
                    <a:pt x="1766986" y="899319"/>
                  </a:lnTo>
                  <a:lnTo>
                    <a:pt x="1781262" y="904082"/>
                  </a:lnTo>
                  <a:lnTo>
                    <a:pt x="1793951" y="910432"/>
                  </a:lnTo>
                  <a:lnTo>
                    <a:pt x="1806640" y="917575"/>
                  </a:lnTo>
                  <a:lnTo>
                    <a:pt x="1818536" y="927100"/>
                  </a:lnTo>
                  <a:lnTo>
                    <a:pt x="1830433" y="937419"/>
                  </a:lnTo>
                  <a:lnTo>
                    <a:pt x="1841536" y="949325"/>
                  </a:lnTo>
                  <a:lnTo>
                    <a:pt x="1849467" y="962819"/>
                  </a:lnTo>
                  <a:lnTo>
                    <a:pt x="1858984" y="975519"/>
                  </a:lnTo>
                  <a:lnTo>
                    <a:pt x="1866121" y="990600"/>
                  </a:lnTo>
                  <a:lnTo>
                    <a:pt x="1872466" y="1007269"/>
                  </a:lnTo>
                  <a:lnTo>
                    <a:pt x="1877224" y="1023938"/>
                  </a:lnTo>
                  <a:lnTo>
                    <a:pt x="1880397" y="1040607"/>
                  </a:lnTo>
                  <a:lnTo>
                    <a:pt x="1882776" y="1059657"/>
                  </a:lnTo>
                  <a:lnTo>
                    <a:pt x="1884362" y="1077913"/>
                  </a:lnTo>
                  <a:lnTo>
                    <a:pt x="1882776" y="1096169"/>
                  </a:lnTo>
                  <a:lnTo>
                    <a:pt x="1880397" y="1114425"/>
                  </a:lnTo>
                  <a:lnTo>
                    <a:pt x="1877224" y="1131888"/>
                  </a:lnTo>
                  <a:lnTo>
                    <a:pt x="1872466" y="1148557"/>
                  </a:lnTo>
                  <a:lnTo>
                    <a:pt x="1866121" y="1164432"/>
                  </a:lnTo>
                  <a:lnTo>
                    <a:pt x="1858984" y="1179513"/>
                  </a:lnTo>
                  <a:lnTo>
                    <a:pt x="1849467" y="1193801"/>
                  </a:lnTo>
                  <a:lnTo>
                    <a:pt x="1841536" y="1206501"/>
                  </a:lnTo>
                  <a:lnTo>
                    <a:pt x="1830433" y="1218407"/>
                  </a:lnTo>
                  <a:lnTo>
                    <a:pt x="1818536" y="1227932"/>
                  </a:lnTo>
                  <a:lnTo>
                    <a:pt x="1806640" y="1237457"/>
                  </a:lnTo>
                  <a:lnTo>
                    <a:pt x="1793951" y="1246188"/>
                  </a:lnTo>
                  <a:lnTo>
                    <a:pt x="1781262" y="1251744"/>
                  </a:lnTo>
                  <a:lnTo>
                    <a:pt x="1766986" y="1256507"/>
                  </a:lnTo>
                  <a:lnTo>
                    <a:pt x="1752711" y="1258888"/>
                  </a:lnTo>
                  <a:lnTo>
                    <a:pt x="1749055" y="1259254"/>
                  </a:lnTo>
                  <a:lnTo>
                    <a:pt x="1743695" y="1258624"/>
                  </a:lnTo>
                  <a:lnTo>
                    <a:pt x="1731776" y="1256242"/>
                  </a:lnTo>
                  <a:lnTo>
                    <a:pt x="1719858" y="1253859"/>
                  </a:lnTo>
                  <a:lnTo>
                    <a:pt x="1710323" y="1249095"/>
                  </a:lnTo>
                  <a:lnTo>
                    <a:pt x="1700789" y="1244330"/>
                  </a:lnTo>
                  <a:lnTo>
                    <a:pt x="1692843" y="1239566"/>
                  </a:lnTo>
                  <a:lnTo>
                    <a:pt x="1685692" y="1234007"/>
                  </a:lnTo>
                  <a:lnTo>
                    <a:pt x="1678541" y="1227655"/>
                  </a:lnTo>
                  <a:lnTo>
                    <a:pt x="1668212" y="1215743"/>
                  </a:lnTo>
                  <a:lnTo>
                    <a:pt x="1659472" y="1205420"/>
                  </a:lnTo>
                  <a:lnTo>
                    <a:pt x="1653910" y="1195891"/>
                  </a:lnTo>
                  <a:lnTo>
                    <a:pt x="1649937" y="1187950"/>
                  </a:lnTo>
                  <a:lnTo>
                    <a:pt x="1645170" y="1180804"/>
                  </a:lnTo>
                  <a:lnTo>
                    <a:pt x="1639608" y="1174451"/>
                  </a:lnTo>
                  <a:lnTo>
                    <a:pt x="1634841" y="1169686"/>
                  </a:lnTo>
                  <a:lnTo>
                    <a:pt x="1628484" y="1166510"/>
                  </a:lnTo>
                  <a:lnTo>
                    <a:pt x="1623717" y="1164128"/>
                  </a:lnTo>
                  <a:lnTo>
                    <a:pt x="1618155" y="1164128"/>
                  </a:lnTo>
                  <a:lnTo>
                    <a:pt x="1613388" y="1164128"/>
                  </a:lnTo>
                  <a:lnTo>
                    <a:pt x="1608621" y="1164922"/>
                  </a:lnTo>
                  <a:lnTo>
                    <a:pt x="1607201" y="1165632"/>
                  </a:lnTo>
                  <a:lnTo>
                    <a:pt x="1604404" y="1164432"/>
                  </a:lnTo>
                  <a:lnTo>
                    <a:pt x="1599646" y="1164432"/>
                  </a:lnTo>
                  <a:lnTo>
                    <a:pt x="1593301" y="1164432"/>
                  </a:lnTo>
                  <a:lnTo>
                    <a:pt x="1588543" y="1165225"/>
                  </a:lnTo>
                  <a:lnTo>
                    <a:pt x="1585370" y="1167607"/>
                  </a:lnTo>
                  <a:lnTo>
                    <a:pt x="1580612" y="1171575"/>
                  </a:lnTo>
                  <a:lnTo>
                    <a:pt x="1576647" y="1176338"/>
                  </a:lnTo>
                  <a:lnTo>
                    <a:pt x="1574267" y="1181101"/>
                  </a:lnTo>
                  <a:lnTo>
                    <a:pt x="1571888" y="1188244"/>
                  </a:lnTo>
                  <a:lnTo>
                    <a:pt x="1571095" y="1196182"/>
                  </a:lnTo>
                  <a:lnTo>
                    <a:pt x="1569509" y="1205707"/>
                  </a:lnTo>
                  <a:lnTo>
                    <a:pt x="1569509" y="1884361"/>
                  </a:lnTo>
                  <a:lnTo>
                    <a:pt x="0" y="1884361"/>
                  </a:lnTo>
                  <a:lnTo>
                    <a:pt x="0" y="1173957"/>
                  </a:lnTo>
                  <a:lnTo>
                    <a:pt x="6345" y="1167607"/>
                  </a:lnTo>
                  <a:lnTo>
                    <a:pt x="11896" y="1164432"/>
                  </a:lnTo>
                  <a:lnTo>
                    <a:pt x="11901" y="1164431"/>
                  </a:lnTo>
                  <a:lnTo>
                    <a:pt x="16446" y="1164431"/>
                  </a:lnTo>
                  <a:lnTo>
                    <a:pt x="21204" y="1164431"/>
                  </a:lnTo>
                  <a:lnTo>
                    <a:pt x="26756" y="1166812"/>
                  </a:lnTo>
                  <a:lnTo>
                    <a:pt x="31514" y="1169987"/>
                  </a:lnTo>
                  <a:lnTo>
                    <a:pt x="37859" y="1174750"/>
                  </a:lnTo>
                  <a:lnTo>
                    <a:pt x="42618" y="1181100"/>
                  </a:lnTo>
                  <a:lnTo>
                    <a:pt x="47376" y="1188244"/>
                  </a:lnTo>
                  <a:lnTo>
                    <a:pt x="52135" y="1196181"/>
                  </a:lnTo>
                  <a:lnTo>
                    <a:pt x="57686" y="1205706"/>
                  </a:lnTo>
                  <a:lnTo>
                    <a:pt x="64824" y="1216025"/>
                  </a:lnTo>
                  <a:lnTo>
                    <a:pt x="75927" y="1227931"/>
                  </a:lnTo>
                  <a:lnTo>
                    <a:pt x="83065" y="1234281"/>
                  </a:lnTo>
                  <a:lnTo>
                    <a:pt x="90202" y="1239837"/>
                  </a:lnTo>
                  <a:lnTo>
                    <a:pt x="98926" y="1244600"/>
                  </a:lnTo>
                  <a:lnTo>
                    <a:pt x="107650" y="1249362"/>
                  </a:lnTo>
                  <a:lnTo>
                    <a:pt x="117960" y="1254125"/>
                  </a:lnTo>
                  <a:lnTo>
                    <a:pt x="129063" y="1256506"/>
                  </a:lnTo>
                  <a:lnTo>
                    <a:pt x="140960" y="1258887"/>
                  </a:lnTo>
                  <a:lnTo>
                    <a:pt x="153649" y="1260475"/>
                  </a:lnTo>
                  <a:lnTo>
                    <a:pt x="169501" y="1258888"/>
                  </a:lnTo>
                  <a:lnTo>
                    <a:pt x="174478" y="1258888"/>
                  </a:lnTo>
                  <a:lnTo>
                    <a:pt x="188754" y="1255713"/>
                  </a:lnTo>
                  <a:lnTo>
                    <a:pt x="203029" y="1251744"/>
                  </a:lnTo>
                  <a:lnTo>
                    <a:pt x="215718" y="1244601"/>
                  </a:lnTo>
                  <a:lnTo>
                    <a:pt x="229201" y="1237457"/>
                  </a:lnTo>
                  <a:lnTo>
                    <a:pt x="241097" y="1227932"/>
                  </a:lnTo>
                  <a:lnTo>
                    <a:pt x="252993" y="1217613"/>
                  </a:lnTo>
                  <a:lnTo>
                    <a:pt x="262510" y="1205707"/>
                  </a:lnTo>
                  <a:lnTo>
                    <a:pt x="272027" y="1193801"/>
                  </a:lnTo>
                  <a:lnTo>
                    <a:pt x="279958" y="1179513"/>
                  </a:lnTo>
                  <a:lnTo>
                    <a:pt x="288682" y="1164432"/>
                  </a:lnTo>
                  <a:lnTo>
                    <a:pt x="294234" y="1148557"/>
                  </a:lnTo>
                  <a:lnTo>
                    <a:pt x="298992" y="1131888"/>
                  </a:lnTo>
                  <a:lnTo>
                    <a:pt x="302957" y="1114425"/>
                  </a:lnTo>
                  <a:lnTo>
                    <a:pt x="305337" y="1096169"/>
                  </a:lnTo>
                  <a:lnTo>
                    <a:pt x="306130" y="1077913"/>
                  </a:lnTo>
                  <a:lnTo>
                    <a:pt x="305337" y="1058863"/>
                  </a:lnTo>
                  <a:lnTo>
                    <a:pt x="302957" y="1040607"/>
                  </a:lnTo>
                  <a:lnTo>
                    <a:pt x="298992" y="1023144"/>
                  </a:lnTo>
                  <a:lnTo>
                    <a:pt x="294234" y="1006475"/>
                  </a:lnTo>
                  <a:lnTo>
                    <a:pt x="288682" y="990600"/>
                  </a:lnTo>
                  <a:lnTo>
                    <a:pt x="279958" y="975519"/>
                  </a:lnTo>
                  <a:lnTo>
                    <a:pt x="272027" y="961232"/>
                  </a:lnTo>
                  <a:lnTo>
                    <a:pt x="262510" y="948532"/>
                  </a:lnTo>
                  <a:lnTo>
                    <a:pt x="252993" y="937419"/>
                  </a:lnTo>
                  <a:lnTo>
                    <a:pt x="241097" y="927100"/>
                  </a:lnTo>
                  <a:lnTo>
                    <a:pt x="229201" y="917575"/>
                  </a:lnTo>
                  <a:lnTo>
                    <a:pt x="215718" y="910432"/>
                  </a:lnTo>
                  <a:lnTo>
                    <a:pt x="203029" y="903288"/>
                  </a:lnTo>
                  <a:lnTo>
                    <a:pt x="188754" y="899319"/>
                  </a:lnTo>
                  <a:lnTo>
                    <a:pt x="174478" y="896144"/>
                  </a:lnTo>
                  <a:lnTo>
                    <a:pt x="159410" y="894557"/>
                  </a:lnTo>
                  <a:lnTo>
                    <a:pt x="145927" y="896144"/>
                  </a:lnTo>
                  <a:lnTo>
                    <a:pt x="140960" y="896144"/>
                  </a:lnTo>
                  <a:lnTo>
                    <a:pt x="129063" y="898525"/>
                  </a:lnTo>
                  <a:lnTo>
                    <a:pt x="117960" y="901700"/>
                  </a:lnTo>
                  <a:lnTo>
                    <a:pt x="107650" y="905669"/>
                  </a:lnTo>
                  <a:lnTo>
                    <a:pt x="98926" y="910431"/>
                  </a:lnTo>
                  <a:lnTo>
                    <a:pt x="90202" y="915987"/>
                  </a:lnTo>
                  <a:lnTo>
                    <a:pt x="83065" y="922337"/>
                  </a:lnTo>
                  <a:lnTo>
                    <a:pt x="75927" y="927894"/>
                  </a:lnTo>
                  <a:lnTo>
                    <a:pt x="64824" y="939800"/>
                  </a:lnTo>
                  <a:lnTo>
                    <a:pt x="57686" y="949325"/>
                  </a:lnTo>
                  <a:lnTo>
                    <a:pt x="52135" y="960437"/>
                  </a:lnTo>
                  <a:lnTo>
                    <a:pt x="47376" y="966787"/>
                  </a:lnTo>
                  <a:lnTo>
                    <a:pt x="42618" y="973931"/>
                  </a:lnTo>
                  <a:lnTo>
                    <a:pt x="37859" y="980281"/>
                  </a:lnTo>
                  <a:lnTo>
                    <a:pt x="31514" y="985044"/>
                  </a:lnTo>
                  <a:lnTo>
                    <a:pt x="26756" y="988219"/>
                  </a:lnTo>
                  <a:lnTo>
                    <a:pt x="21204" y="990600"/>
                  </a:lnTo>
                  <a:lnTo>
                    <a:pt x="17480" y="991842"/>
                  </a:lnTo>
                  <a:lnTo>
                    <a:pt x="11896" y="990600"/>
                  </a:lnTo>
                  <a:lnTo>
                    <a:pt x="6345" y="987425"/>
                  </a:lnTo>
                  <a:lnTo>
                    <a:pt x="0" y="981075"/>
                  </a:lnTo>
                  <a:lnTo>
                    <a:pt x="0" y="313532"/>
                  </a:lnTo>
                  <a:lnTo>
                    <a:pt x="636052" y="313532"/>
                  </a:lnTo>
                  <a:lnTo>
                    <a:pt x="645569" y="313532"/>
                  </a:lnTo>
                  <a:lnTo>
                    <a:pt x="653499" y="311944"/>
                  </a:lnTo>
                  <a:lnTo>
                    <a:pt x="660637" y="309563"/>
                  </a:lnTo>
                  <a:lnTo>
                    <a:pt x="666189" y="306388"/>
                  </a:lnTo>
                  <a:lnTo>
                    <a:pt x="670947" y="302419"/>
                  </a:lnTo>
                  <a:lnTo>
                    <a:pt x="674913" y="299244"/>
                  </a:lnTo>
                  <a:lnTo>
                    <a:pt x="677292" y="294482"/>
                  </a:lnTo>
                  <a:lnTo>
                    <a:pt x="678085" y="289719"/>
                  </a:lnTo>
                  <a:lnTo>
                    <a:pt x="678085" y="284957"/>
                  </a:lnTo>
                  <a:lnTo>
                    <a:pt x="677292" y="278607"/>
                  </a:lnTo>
                  <a:lnTo>
                    <a:pt x="674913" y="273844"/>
                  </a:lnTo>
                  <a:lnTo>
                    <a:pt x="674268" y="272941"/>
                  </a:lnTo>
                  <a:lnTo>
                    <a:pt x="673619" y="270668"/>
                  </a:lnTo>
                  <a:lnTo>
                    <a:pt x="671239" y="265905"/>
                  </a:lnTo>
                  <a:lnTo>
                    <a:pt x="668065" y="259555"/>
                  </a:lnTo>
                  <a:lnTo>
                    <a:pt x="663304" y="254793"/>
                  </a:lnTo>
                  <a:lnTo>
                    <a:pt x="657750" y="249237"/>
                  </a:lnTo>
                  <a:lnTo>
                    <a:pt x="650609" y="244474"/>
                  </a:lnTo>
                  <a:lnTo>
                    <a:pt x="643468" y="239712"/>
                  </a:lnTo>
                  <a:lnTo>
                    <a:pt x="632359" y="233362"/>
                  </a:lnTo>
                  <a:lnTo>
                    <a:pt x="622838" y="226218"/>
                  </a:lnTo>
                  <a:lnTo>
                    <a:pt x="610936" y="215899"/>
                  </a:lnTo>
                  <a:lnTo>
                    <a:pt x="605382" y="208755"/>
                  </a:lnTo>
                  <a:lnTo>
                    <a:pt x="599034" y="201612"/>
                  </a:lnTo>
                  <a:lnTo>
                    <a:pt x="593480" y="192880"/>
                  </a:lnTo>
                  <a:lnTo>
                    <a:pt x="588754" y="183426"/>
                  </a:lnTo>
                  <a:lnTo>
                    <a:pt x="588467" y="182563"/>
                  </a:lnTo>
                  <a:lnTo>
                    <a:pt x="584501" y="170657"/>
                  </a:lnTo>
                  <a:lnTo>
                    <a:pt x="582122" y="158750"/>
                  </a:lnTo>
                  <a:lnTo>
                    <a:pt x="582122" y="146050"/>
                  </a:lnTo>
                  <a:lnTo>
                    <a:pt x="582122" y="131763"/>
                  </a:lnTo>
                  <a:lnTo>
                    <a:pt x="586088" y="116682"/>
                  </a:lnTo>
                  <a:lnTo>
                    <a:pt x="590846" y="103188"/>
                  </a:lnTo>
                  <a:lnTo>
                    <a:pt x="596398" y="88900"/>
                  </a:lnTo>
                  <a:lnTo>
                    <a:pt x="603535" y="76994"/>
                  </a:lnTo>
                  <a:lnTo>
                    <a:pt x="613052" y="64294"/>
                  </a:lnTo>
                  <a:lnTo>
                    <a:pt x="624155" y="53182"/>
                  </a:lnTo>
                  <a:lnTo>
                    <a:pt x="636052" y="42863"/>
                  </a:lnTo>
                  <a:lnTo>
                    <a:pt x="647948" y="33338"/>
                  </a:lnTo>
                  <a:lnTo>
                    <a:pt x="662223" y="25400"/>
                  </a:lnTo>
                  <a:lnTo>
                    <a:pt x="677292" y="18257"/>
                  </a:lnTo>
                  <a:lnTo>
                    <a:pt x="692360" y="11907"/>
                  </a:lnTo>
                  <a:lnTo>
                    <a:pt x="709015" y="7144"/>
                  </a:lnTo>
                  <a:lnTo>
                    <a:pt x="727256" y="2382"/>
                  </a:lnTo>
                  <a:lnTo>
                    <a:pt x="744704" y="1588"/>
                  </a:lnTo>
                  <a:lnTo>
                    <a:pt x="763738"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53" name="TextBox 52"/>
            <p:cNvSpPr txBox="1"/>
            <p:nvPr/>
          </p:nvSpPr>
          <p:spPr>
            <a:xfrm>
              <a:off x="4760132" y="5139852"/>
              <a:ext cx="1419099" cy="646331"/>
            </a:xfrm>
            <a:prstGeom prst="rect">
              <a:avLst/>
            </a:prstGeom>
            <a:solidFill>
              <a:schemeClr val="tx1">
                <a:lumMod val="65000"/>
                <a:lumOff val="35000"/>
                <a:alpha val="50000"/>
              </a:schemeClr>
            </a:solidFill>
          </p:spPr>
          <p:txBody>
            <a:bodyPr wrap="square" rtlCol="0">
              <a:spAutoFit/>
            </a:bodyPr>
            <a:lstStyle/>
            <a:p>
              <a:pPr algn="r"/>
              <a:r>
                <a:rPr lang="en-IN" dirty="0">
                  <a:solidFill>
                    <a:prstClr val="white"/>
                  </a:solidFill>
                </a:rPr>
                <a:t>Discretionary Wallet</a:t>
              </a:r>
            </a:p>
          </p:txBody>
        </p:sp>
      </p:grpSp>
      <p:grpSp>
        <p:nvGrpSpPr>
          <p:cNvPr id="59" name="Group 58"/>
          <p:cNvGrpSpPr/>
          <p:nvPr/>
        </p:nvGrpSpPr>
        <p:grpSpPr>
          <a:xfrm>
            <a:off x="5487487" y="4198599"/>
            <a:ext cx="1548296" cy="1873122"/>
            <a:chOff x="6197157" y="3926656"/>
            <a:chExt cx="1548296" cy="1873122"/>
          </a:xfrm>
        </p:grpSpPr>
        <p:pic>
          <p:nvPicPr>
            <p:cNvPr id="44" name="Picture 43"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75493" t="60312"/>
            <a:stretch>
              <a:fillRect/>
            </a:stretch>
          </p:blipFill>
          <p:spPr bwMode="auto">
            <a:xfrm>
              <a:off x="6197157" y="3926656"/>
              <a:ext cx="1548296" cy="1873122"/>
            </a:xfrm>
            <a:custGeom>
              <a:avLst/>
              <a:gdLst>
                <a:gd name="connsiteX0" fmla="*/ 744120 w 1548296"/>
                <a:gd name="connsiteY0" fmla="*/ 0 h 1873122"/>
                <a:gd name="connsiteX1" fmla="*/ 761591 w 1548296"/>
                <a:gd name="connsiteY1" fmla="*/ 0 h 1873122"/>
                <a:gd name="connsiteX2" fmla="*/ 780651 w 1548296"/>
                <a:gd name="connsiteY2" fmla="*/ 0 h 1873122"/>
                <a:gd name="connsiteX3" fmla="*/ 798122 w 1548296"/>
                <a:gd name="connsiteY3" fmla="*/ 2381 h 1873122"/>
                <a:gd name="connsiteX4" fmla="*/ 816388 w 1548296"/>
                <a:gd name="connsiteY4" fmla="*/ 5554 h 1873122"/>
                <a:gd name="connsiteX5" fmla="*/ 833065 w 1548296"/>
                <a:gd name="connsiteY5" fmla="*/ 10315 h 1873122"/>
                <a:gd name="connsiteX6" fmla="*/ 848154 w 1548296"/>
                <a:gd name="connsiteY6" fmla="*/ 17455 h 1873122"/>
                <a:gd name="connsiteX7" fmla="*/ 864037 w 1548296"/>
                <a:gd name="connsiteY7" fmla="*/ 24596 h 1873122"/>
                <a:gd name="connsiteX8" fmla="*/ 878331 w 1548296"/>
                <a:gd name="connsiteY8" fmla="*/ 33324 h 1873122"/>
                <a:gd name="connsiteX9" fmla="*/ 891038 w 1548296"/>
                <a:gd name="connsiteY9" fmla="*/ 42051 h 1873122"/>
                <a:gd name="connsiteX10" fmla="*/ 902950 w 1548296"/>
                <a:gd name="connsiteY10" fmla="*/ 53159 h 1873122"/>
                <a:gd name="connsiteX11" fmla="*/ 913274 w 1548296"/>
                <a:gd name="connsiteY11" fmla="*/ 63474 h 1873122"/>
                <a:gd name="connsiteX12" fmla="*/ 922010 w 1548296"/>
                <a:gd name="connsiteY12" fmla="*/ 75375 h 1873122"/>
                <a:gd name="connsiteX13" fmla="*/ 929951 w 1548296"/>
                <a:gd name="connsiteY13" fmla="*/ 88863 h 1873122"/>
                <a:gd name="connsiteX14" fmla="*/ 936304 w 1548296"/>
                <a:gd name="connsiteY14" fmla="*/ 101557 h 1873122"/>
                <a:gd name="connsiteX15" fmla="*/ 941069 w 1548296"/>
                <a:gd name="connsiteY15" fmla="*/ 115839 h 1873122"/>
                <a:gd name="connsiteX16" fmla="*/ 943452 w 1548296"/>
                <a:gd name="connsiteY16" fmla="*/ 130120 h 1873122"/>
                <a:gd name="connsiteX17" fmla="*/ 943752 w 1548296"/>
                <a:gd name="connsiteY17" fmla="*/ 136117 h 1873122"/>
                <a:gd name="connsiteX18" fmla="*/ 943135 w 1548296"/>
                <a:gd name="connsiteY18" fmla="*/ 145990 h 1873122"/>
                <a:gd name="connsiteX19" fmla="*/ 940751 w 1548296"/>
                <a:gd name="connsiteY19" fmla="*/ 157901 h 1873122"/>
                <a:gd name="connsiteX20" fmla="*/ 938367 w 1548296"/>
                <a:gd name="connsiteY20" fmla="*/ 169813 h 1873122"/>
                <a:gd name="connsiteX21" fmla="*/ 933600 w 1548296"/>
                <a:gd name="connsiteY21" fmla="*/ 179342 h 1873122"/>
                <a:gd name="connsiteX22" fmla="*/ 928833 w 1548296"/>
                <a:gd name="connsiteY22" fmla="*/ 188871 h 1873122"/>
                <a:gd name="connsiteX23" fmla="*/ 924065 w 1548296"/>
                <a:gd name="connsiteY23" fmla="*/ 196811 h 1873122"/>
                <a:gd name="connsiteX24" fmla="*/ 917709 w 1548296"/>
                <a:gd name="connsiteY24" fmla="*/ 203958 h 1873122"/>
                <a:gd name="connsiteX25" fmla="*/ 912147 w 1548296"/>
                <a:gd name="connsiteY25" fmla="*/ 211105 h 1873122"/>
                <a:gd name="connsiteX26" fmla="*/ 900229 w 1548296"/>
                <a:gd name="connsiteY26" fmla="*/ 222222 h 1873122"/>
                <a:gd name="connsiteX27" fmla="*/ 889899 w 1548296"/>
                <a:gd name="connsiteY27" fmla="*/ 230163 h 1873122"/>
                <a:gd name="connsiteX28" fmla="*/ 880365 w 1548296"/>
                <a:gd name="connsiteY28" fmla="*/ 236516 h 1873122"/>
                <a:gd name="connsiteX29" fmla="*/ 871625 w 1548296"/>
                <a:gd name="connsiteY29" fmla="*/ 239692 h 1873122"/>
                <a:gd name="connsiteX30" fmla="*/ 864474 w 1548296"/>
                <a:gd name="connsiteY30" fmla="*/ 244457 h 1873122"/>
                <a:gd name="connsiteX31" fmla="*/ 858912 w 1548296"/>
                <a:gd name="connsiteY31" fmla="*/ 250809 h 1873122"/>
                <a:gd name="connsiteX32" fmla="*/ 854145 w 1548296"/>
                <a:gd name="connsiteY32" fmla="*/ 255574 h 1873122"/>
                <a:gd name="connsiteX33" fmla="*/ 850172 w 1548296"/>
                <a:gd name="connsiteY33" fmla="*/ 261132 h 1873122"/>
                <a:gd name="connsiteX34" fmla="*/ 847788 w 1548296"/>
                <a:gd name="connsiteY34" fmla="*/ 265897 h 1873122"/>
                <a:gd name="connsiteX35" fmla="*/ 847788 w 1548296"/>
                <a:gd name="connsiteY35" fmla="*/ 271455 h 1873122"/>
                <a:gd name="connsiteX36" fmla="*/ 847788 w 1548296"/>
                <a:gd name="connsiteY36" fmla="*/ 276220 h 1873122"/>
                <a:gd name="connsiteX37" fmla="*/ 848746 w 1548296"/>
                <a:gd name="connsiteY37" fmla="*/ 279093 h 1873122"/>
                <a:gd name="connsiteX38" fmla="*/ 848154 w 1548296"/>
                <a:gd name="connsiteY38" fmla="*/ 280869 h 1873122"/>
                <a:gd name="connsiteX39" fmla="*/ 848154 w 1548296"/>
                <a:gd name="connsiteY39" fmla="*/ 288010 h 1873122"/>
                <a:gd name="connsiteX40" fmla="*/ 849742 w 1548296"/>
                <a:gd name="connsiteY40" fmla="*/ 293564 h 1873122"/>
                <a:gd name="connsiteX41" fmla="*/ 852919 w 1548296"/>
                <a:gd name="connsiteY41" fmla="*/ 299911 h 1873122"/>
                <a:gd name="connsiteX42" fmla="*/ 878923 w 1548296"/>
                <a:gd name="connsiteY42" fmla="*/ 299911 h 1873122"/>
                <a:gd name="connsiteX43" fmla="*/ 880365 w 1548296"/>
                <a:gd name="connsiteY43" fmla="*/ 300042 h 1873122"/>
                <a:gd name="connsiteX44" fmla="*/ 889899 w 1548296"/>
                <a:gd name="connsiteY44" fmla="*/ 300042 h 1873122"/>
                <a:gd name="connsiteX45" fmla="*/ 1209310 w 1548296"/>
                <a:gd name="connsiteY45" fmla="*/ 300042 h 1873122"/>
                <a:gd name="connsiteX46" fmla="*/ 1209310 w 1548296"/>
                <a:gd name="connsiteY46" fmla="*/ 301631 h 1873122"/>
                <a:gd name="connsiteX47" fmla="*/ 1548296 w 1548296"/>
                <a:gd name="connsiteY47" fmla="*/ 301631 h 1873122"/>
                <a:gd name="connsiteX48" fmla="*/ 1548296 w 1548296"/>
                <a:gd name="connsiteY48" fmla="*/ 1873122 h 1873122"/>
                <a:gd name="connsiteX49" fmla="*/ 0 w 1548296"/>
                <a:gd name="connsiteY49" fmla="*/ 1873122 h 1873122"/>
                <a:gd name="connsiteX50" fmla="*/ 0 w 1548296"/>
                <a:gd name="connsiteY50" fmla="*/ 1194181 h 1873122"/>
                <a:gd name="connsiteX51" fmla="*/ 0 w 1548296"/>
                <a:gd name="connsiteY51" fmla="*/ 1184652 h 1873122"/>
                <a:gd name="connsiteX52" fmla="*/ 795 w 1548296"/>
                <a:gd name="connsiteY52" fmla="*/ 1176711 h 1873122"/>
                <a:gd name="connsiteX53" fmla="*/ 3178 w 1548296"/>
                <a:gd name="connsiteY53" fmla="*/ 1169565 h 1873122"/>
                <a:gd name="connsiteX54" fmla="*/ 7151 w 1548296"/>
                <a:gd name="connsiteY54" fmla="*/ 1164800 h 1873122"/>
                <a:gd name="connsiteX55" fmla="*/ 10329 w 1548296"/>
                <a:gd name="connsiteY55" fmla="*/ 1160036 h 1873122"/>
                <a:gd name="connsiteX56" fmla="*/ 14302 w 1548296"/>
                <a:gd name="connsiteY56" fmla="*/ 1156065 h 1873122"/>
                <a:gd name="connsiteX57" fmla="*/ 17650 w 1548296"/>
                <a:gd name="connsiteY57" fmla="*/ 1154393 h 1873122"/>
                <a:gd name="connsiteX58" fmla="*/ 20405 w 1548296"/>
                <a:gd name="connsiteY58" fmla="*/ 1155574 h 1873122"/>
                <a:gd name="connsiteX59" fmla="*/ 25163 w 1548296"/>
                <a:gd name="connsiteY59" fmla="*/ 1158749 h 1873122"/>
                <a:gd name="connsiteX60" fmla="*/ 31508 w 1548296"/>
                <a:gd name="connsiteY60" fmla="*/ 1163511 h 1873122"/>
                <a:gd name="connsiteX61" fmla="*/ 36267 w 1548296"/>
                <a:gd name="connsiteY61" fmla="*/ 1169862 h 1873122"/>
                <a:gd name="connsiteX62" fmla="*/ 41025 w 1548296"/>
                <a:gd name="connsiteY62" fmla="*/ 1177005 h 1873122"/>
                <a:gd name="connsiteX63" fmla="*/ 45784 w 1548296"/>
                <a:gd name="connsiteY63" fmla="*/ 1184943 h 1873122"/>
                <a:gd name="connsiteX64" fmla="*/ 51335 w 1548296"/>
                <a:gd name="connsiteY64" fmla="*/ 1194468 h 1873122"/>
                <a:gd name="connsiteX65" fmla="*/ 58473 w 1548296"/>
                <a:gd name="connsiteY65" fmla="*/ 1204787 h 1873122"/>
                <a:gd name="connsiteX66" fmla="*/ 69576 w 1548296"/>
                <a:gd name="connsiteY66" fmla="*/ 1216693 h 1873122"/>
                <a:gd name="connsiteX67" fmla="*/ 76714 w 1548296"/>
                <a:gd name="connsiteY67" fmla="*/ 1223043 h 1873122"/>
                <a:gd name="connsiteX68" fmla="*/ 83851 w 1548296"/>
                <a:gd name="connsiteY68" fmla="*/ 1228599 h 1873122"/>
                <a:gd name="connsiteX69" fmla="*/ 92575 w 1548296"/>
                <a:gd name="connsiteY69" fmla="*/ 1233362 h 1873122"/>
                <a:gd name="connsiteX70" fmla="*/ 101299 w 1548296"/>
                <a:gd name="connsiteY70" fmla="*/ 1238124 h 1873122"/>
                <a:gd name="connsiteX71" fmla="*/ 111609 w 1548296"/>
                <a:gd name="connsiteY71" fmla="*/ 1242887 h 1873122"/>
                <a:gd name="connsiteX72" fmla="*/ 122712 w 1548296"/>
                <a:gd name="connsiteY72" fmla="*/ 1245268 h 1873122"/>
                <a:gd name="connsiteX73" fmla="*/ 134609 w 1548296"/>
                <a:gd name="connsiteY73" fmla="*/ 1247649 h 1873122"/>
                <a:gd name="connsiteX74" fmla="*/ 147298 w 1548296"/>
                <a:gd name="connsiteY74" fmla="*/ 1249237 h 1873122"/>
                <a:gd name="connsiteX75" fmla="*/ 159504 w 1548296"/>
                <a:gd name="connsiteY75" fmla="*/ 1248015 h 1873122"/>
                <a:gd name="connsiteX76" fmla="*/ 167651 w 1548296"/>
                <a:gd name="connsiteY76" fmla="*/ 1248973 h 1873122"/>
                <a:gd name="connsiteX77" fmla="*/ 181953 w 1548296"/>
                <a:gd name="connsiteY77" fmla="*/ 1247385 h 1873122"/>
                <a:gd name="connsiteX78" fmla="*/ 197049 w 1548296"/>
                <a:gd name="connsiteY78" fmla="*/ 1245003 h 1873122"/>
                <a:gd name="connsiteX79" fmla="*/ 210557 w 1548296"/>
                <a:gd name="connsiteY79" fmla="*/ 1240238 h 1873122"/>
                <a:gd name="connsiteX80" fmla="*/ 224064 w 1548296"/>
                <a:gd name="connsiteY80" fmla="*/ 1234679 h 1873122"/>
                <a:gd name="connsiteX81" fmla="*/ 237572 w 1548296"/>
                <a:gd name="connsiteY81" fmla="*/ 1225945 h 1873122"/>
                <a:gd name="connsiteX82" fmla="*/ 249490 w 1548296"/>
                <a:gd name="connsiteY82" fmla="*/ 1216416 h 1873122"/>
                <a:gd name="connsiteX83" fmla="*/ 259819 w 1548296"/>
                <a:gd name="connsiteY83" fmla="*/ 1206887 h 1873122"/>
                <a:gd name="connsiteX84" fmla="*/ 270943 w 1548296"/>
                <a:gd name="connsiteY84" fmla="*/ 1194975 h 1873122"/>
                <a:gd name="connsiteX85" fmla="*/ 280477 w 1548296"/>
                <a:gd name="connsiteY85" fmla="*/ 1182270 h 1873122"/>
                <a:gd name="connsiteX86" fmla="*/ 288423 w 1548296"/>
                <a:gd name="connsiteY86" fmla="*/ 1167976 h 1873122"/>
                <a:gd name="connsiteX87" fmla="*/ 295574 w 1548296"/>
                <a:gd name="connsiteY87" fmla="*/ 1152889 h 1873122"/>
                <a:gd name="connsiteX88" fmla="*/ 301930 w 1548296"/>
                <a:gd name="connsiteY88" fmla="*/ 1137007 h 1873122"/>
                <a:gd name="connsiteX89" fmla="*/ 307492 w 1548296"/>
                <a:gd name="connsiteY89" fmla="*/ 1120331 h 1873122"/>
                <a:gd name="connsiteX90" fmla="*/ 311465 w 1548296"/>
                <a:gd name="connsiteY90" fmla="*/ 1102862 h 1873122"/>
                <a:gd name="connsiteX91" fmla="*/ 312260 w 1548296"/>
                <a:gd name="connsiteY91" fmla="*/ 1084598 h 1873122"/>
                <a:gd name="connsiteX92" fmla="*/ 313849 w 1548296"/>
                <a:gd name="connsiteY92" fmla="*/ 1066334 h 1873122"/>
                <a:gd name="connsiteX93" fmla="*/ 312260 w 1548296"/>
                <a:gd name="connsiteY93" fmla="*/ 1048070 h 1873122"/>
                <a:gd name="connsiteX94" fmla="*/ 311465 w 1548296"/>
                <a:gd name="connsiteY94" fmla="*/ 1029012 h 1873122"/>
                <a:gd name="connsiteX95" fmla="*/ 307492 w 1548296"/>
                <a:gd name="connsiteY95" fmla="*/ 1012336 h 1873122"/>
                <a:gd name="connsiteX96" fmla="*/ 301930 w 1548296"/>
                <a:gd name="connsiteY96" fmla="*/ 995660 h 1873122"/>
                <a:gd name="connsiteX97" fmla="*/ 295574 w 1548296"/>
                <a:gd name="connsiteY97" fmla="*/ 978984 h 1873122"/>
                <a:gd name="connsiteX98" fmla="*/ 288423 w 1548296"/>
                <a:gd name="connsiteY98" fmla="*/ 963897 h 1873122"/>
                <a:gd name="connsiteX99" fmla="*/ 280477 w 1548296"/>
                <a:gd name="connsiteY99" fmla="*/ 951191 h 1873122"/>
                <a:gd name="connsiteX100" fmla="*/ 270943 w 1548296"/>
                <a:gd name="connsiteY100" fmla="*/ 937692 h 1873122"/>
                <a:gd name="connsiteX101" fmla="*/ 259819 w 1548296"/>
                <a:gd name="connsiteY101" fmla="*/ 925781 h 1873122"/>
                <a:gd name="connsiteX102" fmla="*/ 249490 w 1548296"/>
                <a:gd name="connsiteY102" fmla="*/ 915458 h 1873122"/>
                <a:gd name="connsiteX103" fmla="*/ 237572 w 1548296"/>
                <a:gd name="connsiteY103" fmla="*/ 905929 h 1873122"/>
                <a:gd name="connsiteX104" fmla="*/ 224064 w 1548296"/>
                <a:gd name="connsiteY104" fmla="*/ 898782 h 1873122"/>
                <a:gd name="connsiteX105" fmla="*/ 210557 w 1548296"/>
                <a:gd name="connsiteY105" fmla="*/ 892429 h 1873122"/>
                <a:gd name="connsiteX106" fmla="*/ 197049 w 1548296"/>
                <a:gd name="connsiteY106" fmla="*/ 887665 h 1873122"/>
                <a:gd name="connsiteX107" fmla="*/ 181953 w 1548296"/>
                <a:gd name="connsiteY107" fmla="*/ 885282 h 1873122"/>
                <a:gd name="connsiteX108" fmla="*/ 167651 w 1548296"/>
                <a:gd name="connsiteY108" fmla="*/ 884488 h 1873122"/>
                <a:gd name="connsiteX109" fmla="*/ 154144 w 1548296"/>
                <a:gd name="connsiteY109" fmla="*/ 884488 h 1873122"/>
                <a:gd name="connsiteX110" fmla="*/ 151105 w 1548296"/>
                <a:gd name="connsiteY110" fmla="*/ 885096 h 1873122"/>
                <a:gd name="connsiteX111" fmla="*/ 147298 w 1548296"/>
                <a:gd name="connsiteY111" fmla="*/ 884905 h 1873122"/>
                <a:gd name="connsiteX112" fmla="*/ 134609 w 1548296"/>
                <a:gd name="connsiteY112" fmla="*/ 884905 h 1873122"/>
                <a:gd name="connsiteX113" fmla="*/ 122712 w 1548296"/>
                <a:gd name="connsiteY113" fmla="*/ 887286 h 1873122"/>
                <a:gd name="connsiteX114" fmla="*/ 111609 w 1548296"/>
                <a:gd name="connsiteY114" fmla="*/ 890461 h 1873122"/>
                <a:gd name="connsiteX115" fmla="*/ 101299 w 1548296"/>
                <a:gd name="connsiteY115" fmla="*/ 894430 h 1873122"/>
                <a:gd name="connsiteX116" fmla="*/ 92575 w 1548296"/>
                <a:gd name="connsiteY116" fmla="*/ 899193 h 1873122"/>
                <a:gd name="connsiteX117" fmla="*/ 83851 w 1548296"/>
                <a:gd name="connsiteY117" fmla="*/ 904749 h 1873122"/>
                <a:gd name="connsiteX118" fmla="*/ 76714 w 1548296"/>
                <a:gd name="connsiteY118" fmla="*/ 911099 h 1873122"/>
                <a:gd name="connsiteX119" fmla="*/ 69576 w 1548296"/>
                <a:gd name="connsiteY119" fmla="*/ 916655 h 1873122"/>
                <a:gd name="connsiteX120" fmla="*/ 58473 w 1548296"/>
                <a:gd name="connsiteY120" fmla="*/ 928561 h 1873122"/>
                <a:gd name="connsiteX121" fmla="*/ 51335 w 1548296"/>
                <a:gd name="connsiteY121" fmla="*/ 938086 h 1873122"/>
                <a:gd name="connsiteX122" fmla="*/ 45784 w 1548296"/>
                <a:gd name="connsiteY122" fmla="*/ 949199 h 1873122"/>
                <a:gd name="connsiteX123" fmla="*/ 41025 w 1548296"/>
                <a:gd name="connsiteY123" fmla="*/ 955549 h 1873122"/>
                <a:gd name="connsiteX124" fmla="*/ 36267 w 1548296"/>
                <a:gd name="connsiteY124" fmla="*/ 962693 h 1873122"/>
                <a:gd name="connsiteX125" fmla="*/ 31508 w 1548296"/>
                <a:gd name="connsiteY125" fmla="*/ 969043 h 1873122"/>
                <a:gd name="connsiteX126" fmla="*/ 25163 w 1548296"/>
                <a:gd name="connsiteY126" fmla="*/ 973805 h 1873122"/>
                <a:gd name="connsiteX127" fmla="*/ 20405 w 1548296"/>
                <a:gd name="connsiteY127" fmla="*/ 976980 h 1873122"/>
                <a:gd name="connsiteX128" fmla="*/ 17528 w 1548296"/>
                <a:gd name="connsiteY128" fmla="*/ 978214 h 1873122"/>
                <a:gd name="connsiteX129" fmla="*/ 14302 w 1548296"/>
                <a:gd name="connsiteY129" fmla="*/ 976602 h 1873122"/>
                <a:gd name="connsiteX130" fmla="*/ 10329 w 1548296"/>
                <a:gd name="connsiteY130" fmla="*/ 973426 h 1873122"/>
                <a:gd name="connsiteX131" fmla="*/ 7151 w 1548296"/>
                <a:gd name="connsiteY131" fmla="*/ 968661 h 1873122"/>
                <a:gd name="connsiteX132" fmla="*/ 3178 w 1548296"/>
                <a:gd name="connsiteY132" fmla="*/ 962309 h 1873122"/>
                <a:gd name="connsiteX133" fmla="*/ 795 w 1548296"/>
                <a:gd name="connsiteY133" fmla="*/ 955162 h 1873122"/>
                <a:gd name="connsiteX134" fmla="*/ 0 w 1548296"/>
                <a:gd name="connsiteY134" fmla="*/ 947221 h 1873122"/>
                <a:gd name="connsiteX135" fmla="*/ 0 w 1548296"/>
                <a:gd name="connsiteY135" fmla="*/ 939280 h 1873122"/>
                <a:gd name="connsiteX136" fmla="*/ 0 w 1548296"/>
                <a:gd name="connsiteY136" fmla="*/ 301631 h 1873122"/>
                <a:gd name="connsiteX137" fmla="*/ 434621 w 1548296"/>
                <a:gd name="connsiteY137" fmla="*/ 301631 h 1873122"/>
                <a:gd name="connsiteX138" fmla="*/ 434621 w 1548296"/>
                <a:gd name="connsiteY138" fmla="*/ 300042 h 1873122"/>
                <a:gd name="connsiteX139" fmla="*/ 634054 w 1548296"/>
                <a:gd name="connsiteY139" fmla="*/ 300042 h 1873122"/>
                <a:gd name="connsiteX140" fmla="*/ 642794 w 1548296"/>
                <a:gd name="connsiteY140" fmla="*/ 300042 h 1873122"/>
                <a:gd name="connsiteX141" fmla="*/ 644105 w 1548296"/>
                <a:gd name="connsiteY141" fmla="*/ 299911 h 1873122"/>
                <a:gd name="connsiteX142" fmla="*/ 671058 w 1548296"/>
                <a:gd name="connsiteY142" fmla="*/ 299911 h 1873122"/>
                <a:gd name="connsiteX143" fmla="*/ 675029 w 1548296"/>
                <a:gd name="connsiteY143" fmla="*/ 293564 h 1873122"/>
                <a:gd name="connsiteX144" fmla="*/ 675823 w 1548296"/>
                <a:gd name="connsiteY144" fmla="*/ 288010 h 1873122"/>
                <a:gd name="connsiteX145" fmla="*/ 675823 w 1548296"/>
                <a:gd name="connsiteY145" fmla="*/ 280869 h 1873122"/>
                <a:gd name="connsiteX146" fmla="*/ 675005 w 1548296"/>
                <a:gd name="connsiteY146" fmla="*/ 278415 h 1873122"/>
                <a:gd name="connsiteX147" fmla="*/ 675370 w 1548296"/>
                <a:gd name="connsiteY147" fmla="*/ 276220 h 1873122"/>
                <a:gd name="connsiteX148" fmla="*/ 675370 w 1548296"/>
                <a:gd name="connsiteY148" fmla="*/ 271455 h 1873122"/>
                <a:gd name="connsiteX149" fmla="*/ 674576 w 1548296"/>
                <a:gd name="connsiteY149" fmla="*/ 265897 h 1873122"/>
                <a:gd name="connsiteX150" fmla="*/ 672192 w 1548296"/>
                <a:gd name="connsiteY150" fmla="*/ 261132 h 1873122"/>
                <a:gd name="connsiteX151" fmla="*/ 668219 w 1548296"/>
                <a:gd name="connsiteY151" fmla="*/ 255574 h 1873122"/>
                <a:gd name="connsiteX152" fmla="*/ 664247 w 1548296"/>
                <a:gd name="connsiteY152" fmla="*/ 250809 h 1873122"/>
                <a:gd name="connsiteX153" fmla="*/ 657890 w 1548296"/>
                <a:gd name="connsiteY153" fmla="*/ 244457 h 1873122"/>
                <a:gd name="connsiteX154" fmla="*/ 650739 w 1548296"/>
                <a:gd name="connsiteY154" fmla="*/ 239692 h 1873122"/>
                <a:gd name="connsiteX155" fmla="*/ 643588 w 1548296"/>
                <a:gd name="connsiteY155" fmla="*/ 236516 h 1873122"/>
                <a:gd name="connsiteX156" fmla="*/ 633259 w 1548296"/>
                <a:gd name="connsiteY156" fmla="*/ 230163 h 1873122"/>
                <a:gd name="connsiteX157" fmla="*/ 623724 w 1548296"/>
                <a:gd name="connsiteY157" fmla="*/ 222222 h 1873122"/>
                <a:gd name="connsiteX158" fmla="*/ 611806 w 1548296"/>
                <a:gd name="connsiteY158" fmla="*/ 211105 h 1873122"/>
                <a:gd name="connsiteX159" fmla="*/ 605450 w 1548296"/>
                <a:gd name="connsiteY159" fmla="*/ 203958 h 1873122"/>
                <a:gd name="connsiteX160" fmla="*/ 599888 w 1548296"/>
                <a:gd name="connsiteY160" fmla="*/ 196811 h 1873122"/>
                <a:gd name="connsiteX161" fmla="*/ 593531 w 1548296"/>
                <a:gd name="connsiteY161" fmla="*/ 188871 h 1873122"/>
                <a:gd name="connsiteX162" fmla="*/ 588764 w 1548296"/>
                <a:gd name="connsiteY162" fmla="*/ 179342 h 1873122"/>
                <a:gd name="connsiteX163" fmla="*/ 585586 w 1548296"/>
                <a:gd name="connsiteY163" fmla="*/ 169813 h 1873122"/>
                <a:gd name="connsiteX164" fmla="*/ 581613 w 1548296"/>
                <a:gd name="connsiteY164" fmla="*/ 157901 h 1873122"/>
                <a:gd name="connsiteX165" fmla="*/ 579731 w 1548296"/>
                <a:gd name="connsiteY165" fmla="*/ 148498 h 1873122"/>
                <a:gd name="connsiteX166" fmla="*/ 579731 w 1548296"/>
                <a:gd name="connsiteY166" fmla="*/ 145989 h 1873122"/>
                <a:gd name="connsiteX167" fmla="*/ 581319 w 1548296"/>
                <a:gd name="connsiteY167" fmla="*/ 130120 h 1873122"/>
                <a:gd name="connsiteX168" fmla="*/ 583702 w 1548296"/>
                <a:gd name="connsiteY168" fmla="*/ 115839 h 1873122"/>
                <a:gd name="connsiteX169" fmla="*/ 588466 w 1548296"/>
                <a:gd name="connsiteY169" fmla="*/ 101557 h 1873122"/>
                <a:gd name="connsiteX170" fmla="*/ 594026 w 1548296"/>
                <a:gd name="connsiteY170" fmla="*/ 88863 h 1873122"/>
                <a:gd name="connsiteX171" fmla="*/ 601173 w 1548296"/>
                <a:gd name="connsiteY171" fmla="*/ 75375 h 1873122"/>
                <a:gd name="connsiteX172" fmla="*/ 610703 w 1548296"/>
                <a:gd name="connsiteY172" fmla="*/ 63474 h 1873122"/>
                <a:gd name="connsiteX173" fmla="*/ 621821 w 1548296"/>
                <a:gd name="connsiteY173" fmla="*/ 53159 h 1873122"/>
                <a:gd name="connsiteX174" fmla="*/ 633733 w 1548296"/>
                <a:gd name="connsiteY174" fmla="*/ 42051 h 1873122"/>
                <a:gd name="connsiteX175" fmla="*/ 646440 w 1548296"/>
                <a:gd name="connsiteY175" fmla="*/ 33324 h 1873122"/>
                <a:gd name="connsiteX176" fmla="*/ 659940 w 1548296"/>
                <a:gd name="connsiteY176" fmla="*/ 24596 h 1873122"/>
                <a:gd name="connsiteX177" fmla="*/ 675029 w 1548296"/>
                <a:gd name="connsiteY177" fmla="*/ 17455 h 1873122"/>
                <a:gd name="connsiteX178" fmla="*/ 691706 w 1548296"/>
                <a:gd name="connsiteY178" fmla="*/ 10315 h 1873122"/>
                <a:gd name="connsiteX179" fmla="*/ 708383 w 1548296"/>
                <a:gd name="connsiteY179" fmla="*/ 5554 h 1873122"/>
                <a:gd name="connsiteX180" fmla="*/ 725060 w 1548296"/>
                <a:gd name="connsiteY180" fmla="*/ 2381 h 1873122"/>
                <a:gd name="connsiteX181" fmla="*/ 744120 w 1548296"/>
                <a:gd name="connsiteY181" fmla="*/ 0 h 187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1548296" h="1873122">
                  <a:moveTo>
                    <a:pt x="744120" y="0"/>
                  </a:moveTo>
                  <a:lnTo>
                    <a:pt x="761591" y="0"/>
                  </a:lnTo>
                  <a:lnTo>
                    <a:pt x="780651" y="0"/>
                  </a:lnTo>
                  <a:lnTo>
                    <a:pt x="798122" y="2381"/>
                  </a:lnTo>
                  <a:lnTo>
                    <a:pt x="816388" y="5554"/>
                  </a:lnTo>
                  <a:lnTo>
                    <a:pt x="833065" y="10315"/>
                  </a:lnTo>
                  <a:lnTo>
                    <a:pt x="848154" y="17455"/>
                  </a:lnTo>
                  <a:lnTo>
                    <a:pt x="864037" y="24596"/>
                  </a:lnTo>
                  <a:lnTo>
                    <a:pt x="878331" y="33324"/>
                  </a:lnTo>
                  <a:lnTo>
                    <a:pt x="891038" y="42051"/>
                  </a:lnTo>
                  <a:lnTo>
                    <a:pt x="902950" y="53159"/>
                  </a:lnTo>
                  <a:lnTo>
                    <a:pt x="913274" y="63474"/>
                  </a:lnTo>
                  <a:lnTo>
                    <a:pt x="922010" y="75375"/>
                  </a:lnTo>
                  <a:lnTo>
                    <a:pt x="929951" y="88863"/>
                  </a:lnTo>
                  <a:lnTo>
                    <a:pt x="936304" y="101557"/>
                  </a:lnTo>
                  <a:lnTo>
                    <a:pt x="941069" y="115839"/>
                  </a:lnTo>
                  <a:lnTo>
                    <a:pt x="943452" y="130120"/>
                  </a:lnTo>
                  <a:lnTo>
                    <a:pt x="943752" y="136117"/>
                  </a:lnTo>
                  <a:lnTo>
                    <a:pt x="943135" y="145990"/>
                  </a:lnTo>
                  <a:lnTo>
                    <a:pt x="940751" y="157901"/>
                  </a:lnTo>
                  <a:lnTo>
                    <a:pt x="938367" y="169813"/>
                  </a:lnTo>
                  <a:lnTo>
                    <a:pt x="933600" y="179342"/>
                  </a:lnTo>
                  <a:lnTo>
                    <a:pt x="928833" y="188871"/>
                  </a:lnTo>
                  <a:lnTo>
                    <a:pt x="924065" y="196811"/>
                  </a:lnTo>
                  <a:lnTo>
                    <a:pt x="917709" y="203958"/>
                  </a:lnTo>
                  <a:lnTo>
                    <a:pt x="912147" y="211105"/>
                  </a:lnTo>
                  <a:lnTo>
                    <a:pt x="900229" y="222222"/>
                  </a:lnTo>
                  <a:lnTo>
                    <a:pt x="889899" y="230163"/>
                  </a:lnTo>
                  <a:lnTo>
                    <a:pt x="880365" y="236516"/>
                  </a:lnTo>
                  <a:lnTo>
                    <a:pt x="871625" y="239692"/>
                  </a:lnTo>
                  <a:lnTo>
                    <a:pt x="864474" y="244457"/>
                  </a:lnTo>
                  <a:lnTo>
                    <a:pt x="858912" y="250809"/>
                  </a:lnTo>
                  <a:lnTo>
                    <a:pt x="854145" y="255574"/>
                  </a:lnTo>
                  <a:lnTo>
                    <a:pt x="850172" y="261132"/>
                  </a:lnTo>
                  <a:lnTo>
                    <a:pt x="847788" y="265897"/>
                  </a:lnTo>
                  <a:lnTo>
                    <a:pt x="847788" y="271455"/>
                  </a:lnTo>
                  <a:lnTo>
                    <a:pt x="847788" y="276220"/>
                  </a:lnTo>
                  <a:lnTo>
                    <a:pt x="848746" y="279093"/>
                  </a:lnTo>
                  <a:lnTo>
                    <a:pt x="848154" y="280869"/>
                  </a:lnTo>
                  <a:lnTo>
                    <a:pt x="848154" y="288010"/>
                  </a:lnTo>
                  <a:lnTo>
                    <a:pt x="849742" y="293564"/>
                  </a:lnTo>
                  <a:lnTo>
                    <a:pt x="852919" y="299911"/>
                  </a:lnTo>
                  <a:lnTo>
                    <a:pt x="878923" y="299911"/>
                  </a:lnTo>
                  <a:lnTo>
                    <a:pt x="880365" y="300042"/>
                  </a:lnTo>
                  <a:lnTo>
                    <a:pt x="889899" y="300042"/>
                  </a:lnTo>
                  <a:lnTo>
                    <a:pt x="1209310" y="300042"/>
                  </a:lnTo>
                  <a:lnTo>
                    <a:pt x="1209310" y="301631"/>
                  </a:lnTo>
                  <a:lnTo>
                    <a:pt x="1548296" y="301631"/>
                  </a:lnTo>
                  <a:lnTo>
                    <a:pt x="1548296" y="1873122"/>
                  </a:lnTo>
                  <a:lnTo>
                    <a:pt x="0" y="1873122"/>
                  </a:lnTo>
                  <a:lnTo>
                    <a:pt x="0" y="1194181"/>
                  </a:lnTo>
                  <a:lnTo>
                    <a:pt x="0" y="1184652"/>
                  </a:lnTo>
                  <a:lnTo>
                    <a:pt x="795" y="1176711"/>
                  </a:lnTo>
                  <a:lnTo>
                    <a:pt x="3178" y="1169565"/>
                  </a:lnTo>
                  <a:lnTo>
                    <a:pt x="7151" y="1164800"/>
                  </a:lnTo>
                  <a:lnTo>
                    <a:pt x="10329" y="1160036"/>
                  </a:lnTo>
                  <a:lnTo>
                    <a:pt x="14302" y="1156065"/>
                  </a:lnTo>
                  <a:lnTo>
                    <a:pt x="17650" y="1154393"/>
                  </a:lnTo>
                  <a:lnTo>
                    <a:pt x="20405" y="1155574"/>
                  </a:lnTo>
                  <a:lnTo>
                    <a:pt x="25163" y="1158749"/>
                  </a:lnTo>
                  <a:lnTo>
                    <a:pt x="31508" y="1163511"/>
                  </a:lnTo>
                  <a:lnTo>
                    <a:pt x="36267" y="1169862"/>
                  </a:lnTo>
                  <a:lnTo>
                    <a:pt x="41025" y="1177005"/>
                  </a:lnTo>
                  <a:lnTo>
                    <a:pt x="45784" y="1184943"/>
                  </a:lnTo>
                  <a:lnTo>
                    <a:pt x="51335" y="1194468"/>
                  </a:lnTo>
                  <a:lnTo>
                    <a:pt x="58473" y="1204787"/>
                  </a:lnTo>
                  <a:lnTo>
                    <a:pt x="69576" y="1216693"/>
                  </a:lnTo>
                  <a:lnTo>
                    <a:pt x="76714" y="1223043"/>
                  </a:lnTo>
                  <a:lnTo>
                    <a:pt x="83851" y="1228599"/>
                  </a:lnTo>
                  <a:lnTo>
                    <a:pt x="92575" y="1233362"/>
                  </a:lnTo>
                  <a:lnTo>
                    <a:pt x="101299" y="1238124"/>
                  </a:lnTo>
                  <a:lnTo>
                    <a:pt x="111609" y="1242887"/>
                  </a:lnTo>
                  <a:lnTo>
                    <a:pt x="122712" y="1245268"/>
                  </a:lnTo>
                  <a:lnTo>
                    <a:pt x="134609" y="1247649"/>
                  </a:lnTo>
                  <a:lnTo>
                    <a:pt x="147298" y="1249237"/>
                  </a:lnTo>
                  <a:lnTo>
                    <a:pt x="159504" y="1248015"/>
                  </a:lnTo>
                  <a:lnTo>
                    <a:pt x="167651" y="1248973"/>
                  </a:lnTo>
                  <a:lnTo>
                    <a:pt x="181953" y="1247385"/>
                  </a:lnTo>
                  <a:lnTo>
                    <a:pt x="197049" y="1245003"/>
                  </a:lnTo>
                  <a:lnTo>
                    <a:pt x="210557" y="1240238"/>
                  </a:lnTo>
                  <a:lnTo>
                    <a:pt x="224064" y="1234679"/>
                  </a:lnTo>
                  <a:lnTo>
                    <a:pt x="237572" y="1225945"/>
                  </a:lnTo>
                  <a:lnTo>
                    <a:pt x="249490" y="1216416"/>
                  </a:lnTo>
                  <a:lnTo>
                    <a:pt x="259819" y="1206887"/>
                  </a:lnTo>
                  <a:lnTo>
                    <a:pt x="270943" y="1194975"/>
                  </a:lnTo>
                  <a:lnTo>
                    <a:pt x="280477" y="1182270"/>
                  </a:lnTo>
                  <a:lnTo>
                    <a:pt x="288423" y="1167976"/>
                  </a:lnTo>
                  <a:lnTo>
                    <a:pt x="295574" y="1152889"/>
                  </a:lnTo>
                  <a:lnTo>
                    <a:pt x="301930" y="1137007"/>
                  </a:lnTo>
                  <a:lnTo>
                    <a:pt x="307492" y="1120331"/>
                  </a:lnTo>
                  <a:lnTo>
                    <a:pt x="311465" y="1102862"/>
                  </a:lnTo>
                  <a:lnTo>
                    <a:pt x="312260" y="1084598"/>
                  </a:lnTo>
                  <a:lnTo>
                    <a:pt x="313849" y="1066334"/>
                  </a:lnTo>
                  <a:lnTo>
                    <a:pt x="312260" y="1048070"/>
                  </a:lnTo>
                  <a:lnTo>
                    <a:pt x="311465" y="1029012"/>
                  </a:lnTo>
                  <a:lnTo>
                    <a:pt x="307492" y="1012336"/>
                  </a:lnTo>
                  <a:lnTo>
                    <a:pt x="301930" y="995660"/>
                  </a:lnTo>
                  <a:lnTo>
                    <a:pt x="295574" y="978984"/>
                  </a:lnTo>
                  <a:lnTo>
                    <a:pt x="288423" y="963897"/>
                  </a:lnTo>
                  <a:lnTo>
                    <a:pt x="280477" y="951191"/>
                  </a:lnTo>
                  <a:lnTo>
                    <a:pt x="270943" y="937692"/>
                  </a:lnTo>
                  <a:lnTo>
                    <a:pt x="259819" y="925781"/>
                  </a:lnTo>
                  <a:lnTo>
                    <a:pt x="249490" y="915458"/>
                  </a:lnTo>
                  <a:lnTo>
                    <a:pt x="237572" y="905929"/>
                  </a:lnTo>
                  <a:lnTo>
                    <a:pt x="224064" y="898782"/>
                  </a:lnTo>
                  <a:lnTo>
                    <a:pt x="210557" y="892429"/>
                  </a:lnTo>
                  <a:lnTo>
                    <a:pt x="197049" y="887665"/>
                  </a:lnTo>
                  <a:lnTo>
                    <a:pt x="181953" y="885282"/>
                  </a:lnTo>
                  <a:lnTo>
                    <a:pt x="167651" y="884488"/>
                  </a:lnTo>
                  <a:lnTo>
                    <a:pt x="154144" y="884488"/>
                  </a:lnTo>
                  <a:lnTo>
                    <a:pt x="151105" y="885096"/>
                  </a:lnTo>
                  <a:lnTo>
                    <a:pt x="147298" y="884905"/>
                  </a:lnTo>
                  <a:lnTo>
                    <a:pt x="134609" y="884905"/>
                  </a:lnTo>
                  <a:lnTo>
                    <a:pt x="122712" y="887286"/>
                  </a:lnTo>
                  <a:lnTo>
                    <a:pt x="111609" y="890461"/>
                  </a:lnTo>
                  <a:lnTo>
                    <a:pt x="101299" y="894430"/>
                  </a:lnTo>
                  <a:lnTo>
                    <a:pt x="92575" y="899193"/>
                  </a:lnTo>
                  <a:lnTo>
                    <a:pt x="83851" y="904749"/>
                  </a:lnTo>
                  <a:lnTo>
                    <a:pt x="76714" y="911099"/>
                  </a:lnTo>
                  <a:lnTo>
                    <a:pt x="69576" y="916655"/>
                  </a:lnTo>
                  <a:lnTo>
                    <a:pt x="58473" y="928561"/>
                  </a:lnTo>
                  <a:lnTo>
                    <a:pt x="51335" y="938086"/>
                  </a:lnTo>
                  <a:lnTo>
                    <a:pt x="45784" y="949199"/>
                  </a:lnTo>
                  <a:lnTo>
                    <a:pt x="41025" y="955549"/>
                  </a:lnTo>
                  <a:lnTo>
                    <a:pt x="36267" y="962693"/>
                  </a:lnTo>
                  <a:lnTo>
                    <a:pt x="31508" y="969043"/>
                  </a:lnTo>
                  <a:lnTo>
                    <a:pt x="25163" y="973805"/>
                  </a:lnTo>
                  <a:lnTo>
                    <a:pt x="20405" y="976980"/>
                  </a:lnTo>
                  <a:lnTo>
                    <a:pt x="17528" y="978214"/>
                  </a:lnTo>
                  <a:lnTo>
                    <a:pt x="14302" y="976602"/>
                  </a:lnTo>
                  <a:lnTo>
                    <a:pt x="10329" y="973426"/>
                  </a:lnTo>
                  <a:lnTo>
                    <a:pt x="7151" y="968661"/>
                  </a:lnTo>
                  <a:lnTo>
                    <a:pt x="3178" y="962309"/>
                  </a:lnTo>
                  <a:lnTo>
                    <a:pt x="795" y="955162"/>
                  </a:lnTo>
                  <a:lnTo>
                    <a:pt x="0" y="947221"/>
                  </a:lnTo>
                  <a:lnTo>
                    <a:pt x="0" y="939280"/>
                  </a:lnTo>
                  <a:lnTo>
                    <a:pt x="0" y="301631"/>
                  </a:lnTo>
                  <a:lnTo>
                    <a:pt x="434621" y="301631"/>
                  </a:lnTo>
                  <a:lnTo>
                    <a:pt x="434621" y="300042"/>
                  </a:lnTo>
                  <a:lnTo>
                    <a:pt x="634054" y="300042"/>
                  </a:lnTo>
                  <a:lnTo>
                    <a:pt x="642794" y="300042"/>
                  </a:lnTo>
                  <a:lnTo>
                    <a:pt x="644105" y="299911"/>
                  </a:lnTo>
                  <a:lnTo>
                    <a:pt x="671058" y="299911"/>
                  </a:lnTo>
                  <a:lnTo>
                    <a:pt x="675029" y="293564"/>
                  </a:lnTo>
                  <a:lnTo>
                    <a:pt x="675823" y="288010"/>
                  </a:lnTo>
                  <a:lnTo>
                    <a:pt x="675823" y="280869"/>
                  </a:lnTo>
                  <a:lnTo>
                    <a:pt x="675005" y="278415"/>
                  </a:lnTo>
                  <a:lnTo>
                    <a:pt x="675370" y="276220"/>
                  </a:lnTo>
                  <a:lnTo>
                    <a:pt x="675370" y="271455"/>
                  </a:lnTo>
                  <a:lnTo>
                    <a:pt x="674576" y="265897"/>
                  </a:lnTo>
                  <a:lnTo>
                    <a:pt x="672192" y="261132"/>
                  </a:lnTo>
                  <a:lnTo>
                    <a:pt x="668219" y="255574"/>
                  </a:lnTo>
                  <a:lnTo>
                    <a:pt x="664247" y="250809"/>
                  </a:lnTo>
                  <a:lnTo>
                    <a:pt x="657890" y="244457"/>
                  </a:lnTo>
                  <a:lnTo>
                    <a:pt x="650739" y="239692"/>
                  </a:lnTo>
                  <a:lnTo>
                    <a:pt x="643588" y="236516"/>
                  </a:lnTo>
                  <a:lnTo>
                    <a:pt x="633259" y="230163"/>
                  </a:lnTo>
                  <a:lnTo>
                    <a:pt x="623724" y="222222"/>
                  </a:lnTo>
                  <a:lnTo>
                    <a:pt x="611806" y="211105"/>
                  </a:lnTo>
                  <a:lnTo>
                    <a:pt x="605450" y="203958"/>
                  </a:lnTo>
                  <a:lnTo>
                    <a:pt x="599888" y="196811"/>
                  </a:lnTo>
                  <a:lnTo>
                    <a:pt x="593531" y="188871"/>
                  </a:lnTo>
                  <a:lnTo>
                    <a:pt x="588764" y="179342"/>
                  </a:lnTo>
                  <a:lnTo>
                    <a:pt x="585586" y="169813"/>
                  </a:lnTo>
                  <a:lnTo>
                    <a:pt x="581613" y="157901"/>
                  </a:lnTo>
                  <a:lnTo>
                    <a:pt x="579731" y="148498"/>
                  </a:lnTo>
                  <a:lnTo>
                    <a:pt x="579731" y="145989"/>
                  </a:lnTo>
                  <a:lnTo>
                    <a:pt x="581319" y="130120"/>
                  </a:lnTo>
                  <a:lnTo>
                    <a:pt x="583702" y="115839"/>
                  </a:lnTo>
                  <a:lnTo>
                    <a:pt x="588466" y="101557"/>
                  </a:lnTo>
                  <a:lnTo>
                    <a:pt x="594026" y="88863"/>
                  </a:lnTo>
                  <a:lnTo>
                    <a:pt x="601173" y="75375"/>
                  </a:lnTo>
                  <a:lnTo>
                    <a:pt x="610703" y="63474"/>
                  </a:lnTo>
                  <a:lnTo>
                    <a:pt x="621821" y="53159"/>
                  </a:lnTo>
                  <a:lnTo>
                    <a:pt x="633733" y="42051"/>
                  </a:lnTo>
                  <a:lnTo>
                    <a:pt x="646440" y="33324"/>
                  </a:lnTo>
                  <a:lnTo>
                    <a:pt x="659940" y="24596"/>
                  </a:lnTo>
                  <a:lnTo>
                    <a:pt x="675029" y="17455"/>
                  </a:lnTo>
                  <a:lnTo>
                    <a:pt x="691706" y="10315"/>
                  </a:lnTo>
                  <a:lnTo>
                    <a:pt x="708383" y="5554"/>
                  </a:lnTo>
                  <a:lnTo>
                    <a:pt x="725060" y="2381"/>
                  </a:lnTo>
                  <a:lnTo>
                    <a:pt x="744120"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54" name="TextBox 53"/>
            <p:cNvSpPr txBox="1"/>
            <p:nvPr/>
          </p:nvSpPr>
          <p:spPr>
            <a:xfrm>
              <a:off x="6599200" y="5111458"/>
              <a:ext cx="1113914" cy="646331"/>
            </a:xfrm>
            <a:prstGeom prst="rect">
              <a:avLst/>
            </a:prstGeom>
            <a:solidFill>
              <a:schemeClr val="tx1">
                <a:lumMod val="65000"/>
                <a:lumOff val="35000"/>
                <a:alpha val="50000"/>
              </a:schemeClr>
            </a:solidFill>
          </p:spPr>
          <p:txBody>
            <a:bodyPr wrap="square" rtlCol="0">
              <a:spAutoFit/>
            </a:bodyPr>
            <a:lstStyle/>
            <a:p>
              <a:pPr algn="r"/>
              <a:r>
                <a:rPr lang="en-IN" dirty="0">
                  <a:solidFill>
                    <a:prstClr val="white"/>
                  </a:solidFill>
                </a:rPr>
                <a:t>Digital Footprint</a:t>
              </a:r>
            </a:p>
          </p:txBody>
        </p:sp>
      </p:grpSp>
      <p:grpSp>
        <p:nvGrpSpPr>
          <p:cNvPr id="92" name="Group 91"/>
          <p:cNvGrpSpPr/>
          <p:nvPr/>
        </p:nvGrpSpPr>
        <p:grpSpPr>
          <a:xfrm>
            <a:off x="5485899" y="2617323"/>
            <a:ext cx="1549884" cy="1881187"/>
            <a:chOff x="5485899" y="2617323"/>
            <a:chExt cx="1549884" cy="1881187"/>
          </a:xfrm>
        </p:grpSpPr>
        <p:pic>
          <p:nvPicPr>
            <p:cNvPr id="38" name="Picture 37"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75468" t="26808" b="33333"/>
            <a:stretch>
              <a:fillRect/>
            </a:stretch>
          </p:blipFill>
          <p:spPr bwMode="auto">
            <a:xfrm>
              <a:off x="5485899" y="2617323"/>
              <a:ext cx="1549884" cy="1881187"/>
            </a:xfrm>
            <a:custGeom>
              <a:avLst/>
              <a:gdLst>
                <a:gd name="connsiteX0" fmla="*/ 745708 w 1549884"/>
                <a:gd name="connsiteY0" fmla="*/ 0 h 1881187"/>
                <a:gd name="connsiteX1" fmla="*/ 764768 w 1549884"/>
                <a:gd name="connsiteY1" fmla="*/ 0 h 1881187"/>
                <a:gd name="connsiteX2" fmla="*/ 782239 w 1549884"/>
                <a:gd name="connsiteY2" fmla="*/ 0 h 1881187"/>
                <a:gd name="connsiteX3" fmla="*/ 799710 w 1549884"/>
                <a:gd name="connsiteY3" fmla="*/ 2380 h 1881187"/>
                <a:gd name="connsiteX4" fmla="*/ 817976 w 1549884"/>
                <a:gd name="connsiteY4" fmla="*/ 5554 h 1881187"/>
                <a:gd name="connsiteX5" fmla="*/ 834653 w 1549884"/>
                <a:gd name="connsiteY5" fmla="*/ 10315 h 1881187"/>
                <a:gd name="connsiteX6" fmla="*/ 851330 w 1549884"/>
                <a:gd name="connsiteY6" fmla="*/ 16662 h 1881187"/>
                <a:gd name="connsiteX7" fmla="*/ 865625 w 1549884"/>
                <a:gd name="connsiteY7" fmla="*/ 24596 h 1881187"/>
                <a:gd name="connsiteX8" fmla="*/ 879919 w 1549884"/>
                <a:gd name="connsiteY8" fmla="*/ 33324 h 1881187"/>
                <a:gd name="connsiteX9" fmla="*/ 892626 w 1549884"/>
                <a:gd name="connsiteY9" fmla="*/ 42845 h 1881187"/>
                <a:gd name="connsiteX10" fmla="*/ 904538 w 1549884"/>
                <a:gd name="connsiteY10" fmla="*/ 52366 h 1881187"/>
                <a:gd name="connsiteX11" fmla="*/ 914862 w 1549884"/>
                <a:gd name="connsiteY11" fmla="*/ 64267 h 1881187"/>
                <a:gd name="connsiteX12" fmla="*/ 923598 w 1549884"/>
                <a:gd name="connsiteY12" fmla="*/ 76168 h 1881187"/>
                <a:gd name="connsiteX13" fmla="*/ 931539 w 1549884"/>
                <a:gd name="connsiteY13" fmla="*/ 88863 h 1881187"/>
                <a:gd name="connsiteX14" fmla="*/ 937892 w 1549884"/>
                <a:gd name="connsiteY14" fmla="*/ 102351 h 1881187"/>
                <a:gd name="connsiteX15" fmla="*/ 942657 w 1549884"/>
                <a:gd name="connsiteY15" fmla="*/ 116632 h 1881187"/>
                <a:gd name="connsiteX16" fmla="*/ 945040 w 1549884"/>
                <a:gd name="connsiteY16" fmla="*/ 130120 h 1881187"/>
                <a:gd name="connsiteX17" fmla="*/ 945658 w 1549884"/>
                <a:gd name="connsiteY17" fmla="*/ 142479 h 1881187"/>
                <a:gd name="connsiteX18" fmla="*/ 945093 w 1549884"/>
                <a:gd name="connsiteY18" fmla="*/ 151527 h 1881187"/>
                <a:gd name="connsiteX19" fmla="*/ 943505 w 1549884"/>
                <a:gd name="connsiteY19" fmla="*/ 165027 h 1881187"/>
                <a:gd name="connsiteX20" fmla="*/ 940329 w 1549884"/>
                <a:gd name="connsiteY20" fmla="*/ 175351 h 1881187"/>
                <a:gd name="connsiteX21" fmla="*/ 936358 w 1549884"/>
                <a:gd name="connsiteY21" fmla="*/ 184881 h 1881187"/>
                <a:gd name="connsiteX22" fmla="*/ 931593 w 1549884"/>
                <a:gd name="connsiteY22" fmla="*/ 194411 h 1881187"/>
                <a:gd name="connsiteX23" fmla="*/ 926035 w 1549884"/>
                <a:gd name="connsiteY23" fmla="*/ 203146 h 1881187"/>
                <a:gd name="connsiteX24" fmla="*/ 919682 w 1549884"/>
                <a:gd name="connsiteY24" fmla="*/ 211088 h 1881187"/>
                <a:gd name="connsiteX25" fmla="*/ 914124 w 1549884"/>
                <a:gd name="connsiteY25" fmla="*/ 217441 h 1881187"/>
                <a:gd name="connsiteX26" fmla="*/ 902212 w 1549884"/>
                <a:gd name="connsiteY26" fmla="*/ 229353 h 1881187"/>
                <a:gd name="connsiteX27" fmla="*/ 892683 w 1549884"/>
                <a:gd name="connsiteY27" fmla="*/ 235707 h 1881187"/>
                <a:gd name="connsiteX28" fmla="*/ 882360 w 1549884"/>
                <a:gd name="connsiteY28" fmla="*/ 242060 h 1881187"/>
                <a:gd name="connsiteX29" fmla="*/ 873625 w 1549884"/>
                <a:gd name="connsiteY29" fmla="*/ 246825 h 1881187"/>
                <a:gd name="connsiteX30" fmla="*/ 866479 w 1549884"/>
                <a:gd name="connsiteY30" fmla="*/ 251590 h 1881187"/>
                <a:gd name="connsiteX31" fmla="*/ 861714 w 1549884"/>
                <a:gd name="connsiteY31" fmla="*/ 256355 h 1881187"/>
                <a:gd name="connsiteX32" fmla="*/ 856950 w 1549884"/>
                <a:gd name="connsiteY32" fmla="*/ 261914 h 1881187"/>
                <a:gd name="connsiteX33" fmla="*/ 853773 w 1549884"/>
                <a:gd name="connsiteY33" fmla="*/ 266679 h 1881187"/>
                <a:gd name="connsiteX34" fmla="*/ 851391 w 1549884"/>
                <a:gd name="connsiteY34" fmla="*/ 273032 h 1881187"/>
                <a:gd name="connsiteX35" fmla="*/ 849803 w 1549884"/>
                <a:gd name="connsiteY35" fmla="*/ 277797 h 1881187"/>
                <a:gd name="connsiteX36" fmla="*/ 849803 w 1549884"/>
                <a:gd name="connsiteY36" fmla="*/ 282562 h 1881187"/>
                <a:gd name="connsiteX37" fmla="*/ 849887 w 1549884"/>
                <a:gd name="connsiteY37" fmla="*/ 282814 h 1881187"/>
                <a:gd name="connsiteX38" fmla="*/ 849742 w 1549884"/>
                <a:gd name="connsiteY38" fmla="*/ 283249 h 1881187"/>
                <a:gd name="connsiteX39" fmla="*/ 849742 w 1549884"/>
                <a:gd name="connsiteY39" fmla="*/ 288010 h 1881187"/>
                <a:gd name="connsiteX40" fmla="*/ 849742 w 1549884"/>
                <a:gd name="connsiteY40" fmla="*/ 291977 h 1881187"/>
                <a:gd name="connsiteX41" fmla="*/ 852124 w 1549884"/>
                <a:gd name="connsiteY41" fmla="*/ 296737 h 1881187"/>
                <a:gd name="connsiteX42" fmla="*/ 854507 w 1549884"/>
                <a:gd name="connsiteY42" fmla="*/ 299911 h 1881187"/>
                <a:gd name="connsiteX43" fmla="*/ 858477 w 1549884"/>
                <a:gd name="connsiteY43" fmla="*/ 303878 h 1881187"/>
                <a:gd name="connsiteX44" fmla="*/ 861654 w 1549884"/>
                <a:gd name="connsiteY44" fmla="*/ 306258 h 1881187"/>
                <a:gd name="connsiteX45" fmla="*/ 868007 w 1549884"/>
                <a:gd name="connsiteY45" fmla="*/ 308639 h 1881187"/>
                <a:gd name="connsiteX46" fmla="*/ 873566 w 1549884"/>
                <a:gd name="connsiteY46" fmla="*/ 311019 h 1881187"/>
                <a:gd name="connsiteX47" fmla="*/ 1549884 w 1549884"/>
                <a:gd name="connsiteY47" fmla="*/ 311019 h 1881187"/>
                <a:gd name="connsiteX48" fmla="*/ 1549884 w 1549884"/>
                <a:gd name="connsiteY48" fmla="*/ 1881187 h 1881187"/>
                <a:gd name="connsiteX49" fmla="*/ 880511 w 1549884"/>
                <a:gd name="connsiteY49" fmla="*/ 1881187 h 1881187"/>
                <a:gd name="connsiteX50" fmla="*/ 873213 w 1549884"/>
                <a:gd name="connsiteY50" fmla="*/ 1880524 h 1881187"/>
                <a:gd name="connsiteX51" fmla="*/ 866062 w 1549884"/>
                <a:gd name="connsiteY51" fmla="*/ 1878142 h 1881187"/>
                <a:gd name="connsiteX52" fmla="*/ 861295 w 1549884"/>
                <a:gd name="connsiteY52" fmla="*/ 1874172 h 1881187"/>
                <a:gd name="connsiteX53" fmla="*/ 856527 w 1549884"/>
                <a:gd name="connsiteY53" fmla="*/ 1870995 h 1881187"/>
                <a:gd name="connsiteX54" fmla="*/ 853349 w 1549884"/>
                <a:gd name="connsiteY54" fmla="*/ 1867025 h 1881187"/>
                <a:gd name="connsiteX55" fmla="*/ 850965 w 1549884"/>
                <a:gd name="connsiteY55" fmla="*/ 1862260 h 1881187"/>
                <a:gd name="connsiteX56" fmla="*/ 850334 w 1549884"/>
                <a:gd name="connsiteY56" fmla="*/ 1860369 h 1881187"/>
                <a:gd name="connsiteX57" fmla="*/ 852124 w 1549884"/>
                <a:gd name="connsiteY57" fmla="*/ 1855004 h 1881187"/>
                <a:gd name="connsiteX58" fmla="*/ 856889 w 1549884"/>
                <a:gd name="connsiteY58" fmla="*/ 1847864 h 1881187"/>
                <a:gd name="connsiteX59" fmla="*/ 863242 w 1549884"/>
                <a:gd name="connsiteY59" fmla="*/ 1842310 h 1881187"/>
                <a:gd name="connsiteX60" fmla="*/ 871184 w 1549884"/>
                <a:gd name="connsiteY60" fmla="*/ 1835169 h 1881187"/>
                <a:gd name="connsiteX61" fmla="*/ 882302 w 1549884"/>
                <a:gd name="connsiteY61" fmla="*/ 1828822 h 1881187"/>
                <a:gd name="connsiteX62" fmla="*/ 891832 w 1549884"/>
                <a:gd name="connsiteY62" fmla="*/ 1823268 h 1881187"/>
                <a:gd name="connsiteX63" fmla="*/ 902156 w 1549884"/>
                <a:gd name="connsiteY63" fmla="*/ 1816127 h 1881187"/>
                <a:gd name="connsiteX64" fmla="*/ 914068 w 1549884"/>
                <a:gd name="connsiteY64" fmla="*/ 1805019 h 1881187"/>
                <a:gd name="connsiteX65" fmla="*/ 919627 w 1549884"/>
                <a:gd name="connsiteY65" fmla="*/ 1797879 h 1881187"/>
                <a:gd name="connsiteX66" fmla="*/ 925980 w 1549884"/>
                <a:gd name="connsiteY66" fmla="*/ 1790738 h 1881187"/>
                <a:gd name="connsiteX67" fmla="*/ 930745 w 1549884"/>
                <a:gd name="connsiteY67" fmla="*/ 1782804 h 1881187"/>
                <a:gd name="connsiteX68" fmla="*/ 935510 w 1549884"/>
                <a:gd name="connsiteY68" fmla="*/ 1773283 h 1881187"/>
                <a:gd name="connsiteX69" fmla="*/ 940275 w 1549884"/>
                <a:gd name="connsiteY69" fmla="*/ 1762175 h 1881187"/>
                <a:gd name="connsiteX70" fmla="*/ 942657 w 1549884"/>
                <a:gd name="connsiteY70" fmla="*/ 1751861 h 1881187"/>
                <a:gd name="connsiteX71" fmla="*/ 945040 w 1549884"/>
                <a:gd name="connsiteY71" fmla="*/ 1739959 h 1881187"/>
                <a:gd name="connsiteX72" fmla="*/ 945834 w 1549884"/>
                <a:gd name="connsiteY72" fmla="*/ 1727265 h 1881187"/>
                <a:gd name="connsiteX73" fmla="*/ 945340 w 1549884"/>
                <a:gd name="connsiteY73" fmla="*/ 1717393 h 1881187"/>
                <a:gd name="connsiteX74" fmla="*/ 945517 w 1549884"/>
                <a:gd name="connsiteY74" fmla="*/ 1714561 h 1881187"/>
                <a:gd name="connsiteX75" fmla="*/ 944723 w 1549884"/>
                <a:gd name="connsiteY75" fmla="*/ 1700267 h 1881187"/>
                <a:gd name="connsiteX76" fmla="*/ 942339 w 1549884"/>
                <a:gd name="connsiteY76" fmla="*/ 1684386 h 1881187"/>
                <a:gd name="connsiteX77" fmla="*/ 937572 w 1549884"/>
                <a:gd name="connsiteY77" fmla="*/ 1671680 h 1881187"/>
                <a:gd name="connsiteX78" fmla="*/ 931215 w 1549884"/>
                <a:gd name="connsiteY78" fmla="*/ 1657387 h 1881187"/>
                <a:gd name="connsiteX79" fmla="*/ 923270 w 1549884"/>
                <a:gd name="connsiteY79" fmla="*/ 1643887 h 1881187"/>
                <a:gd name="connsiteX80" fmla="*/ 914530 w 1549884"/>
                <a:gd name="connsiteY80" fmla="*/ 1631976 h 1881187"/>
                <a:gd name="connsiteX81" fmla="*/ 904200 w 1549884"/>
                <a:gd name="connsiteY81" fmla="*/ 1621653 h 1881187"/>
                <a:gd name="connsiteX82" fmla="*/ 892282 w 1549884"/>
                <a:gd name="connsiteY82" fmla="*/ 1610536 h 1881187"/>
                <a:gd name="connsiteX83" fmla="*/ 879569 w 1549884"/>
                <a:gd name="connsiteY83" fmla="*/ 1601801 h 1881187"/>
                <a:gd name="connsiteX84" fmla="*/ 865267 w 1549884"/>
                <a:gd name="connsiteY84" fmla="*/ 1593066 h 1881187"/>
                <a:gd name="connsiteX85" fmla="*/ 849376 w 1549884"/>
                <a:gd name="connsiteY85" fmla="*/ 1585919 h 1881187"/>
                <a:gd name="connsiteX86" fmla="*/ 834280 w 1549884"/>
                <a:gd name="connsiteY86" fmla="*/ 1580361 h 1881187"/>
                <a:gd name="connsiteX87" fmla="*/ 817594 w 1549884"/>
                <a:gd name="connsiteY87" fmla="*/ 1574008 h 1881187"/>
                <a:gd name="connsiteX88" fmla="*/ 799319 w 1549884"/>
                <a:gd name="connsiteY88" fmla="*/ 1570832 h 1881187"/>
                <a:gd name="connsiteX89" fmla="*/ 781839 w 1549884"/>
                <a:gd name="connsiteY89" fmla="*/ 1569243 h 1881187"/>
                <a:gd name="connsiteX90" fmla="*/ 762770 w 1549884"/>
                <a:gd name="connsiteY90" fmla="*/ 1568449 h 1881187"/>
                <a:gd name="connsiteX91" fmla="*/ 745290 w 1549884"/>
                <a:gd name="connsiteY91" fmla="*/ 1569243 h 1881187"/>
                <a:gd name="connsiteX92" fmla="*/ 726221 w 1549884"/>
                <a:gd name="connsiteY92" fmla="*/ 1570832 h 1881187"/>
                <a:gd name="connsiteX93" fmla="*/ 709535 w 1549884"/>
                <a:gd name="connsiteY93" fmla="*/ 1574008 h 1881187"/>
                <a:gd name="connsiteX94" fmla="*/ 692849 w 1549884"/>
                <a:gd name="connsiteY94" fmla="*/ 1580361 h 1881187"/>
                <a:gd name="connsiteX95" fmla="*/ 676164 w 1549884"/>
                <a:gd name="connsiteY95" fmla="*/ 1585919 h 1881187"/>
                <a:gd name="connsiteX96" fmla="*/ 661067 w 1549884"/>
                <a:gd name="connsiteY96" fmla="*/ 1593066 h 1881187"/>
                <a:gd name="connsiteX97" fmla="*/ 647560 w 1549884"/>
                <a:gd name="connsiteY97" fmla="*/ 1601801 h 1881187"/>
                <a:gd name="connsiteX98" fmla="*/ 634847 w 1549884"/>
                <a:gd name="connsiteY98" fmla="*/ 1610536 h 1881187"/>
                <a:gd name="connsiteX99" fmla="*/ 622929 w 1549884"/>
                <a:gd name="connsiteY99" fmla="*/ 1621653 h 1881187"/>
                <a:gd name="connsiteX100" fmla="*/ 611805 w 1549884"/>
                <a:gd name="connsiteY100" fmla="*/ 1631976 h 1881187"/>
                <a:gd name="connsiteX101" fmla="*/ 602270 w 1549884"/>
                <a:gd name="connsiteY101" fmla="*/ 1643887 h 1881187"/>
                <a:gd name="connsiteX102" fmla="*/ 595119 w 1549884"/>
                <a:gd name="connsiteY102" fmla="*/ 1657387 h 1881187"/>
                <a:gd name="connsiteX103" fmla="*/ 589558 w 1549884"/>
                <a:gd name="connsiteY103" fmla="*/ 1671680 h 1881187"/>
                <a:gd name="connsiteX104" fmla="*/ 584790 w 1549884"/>
                <a:gd name="connsiteY104" fmla="*/ 1684386 h 1881187"/>
                <a:gd name="connsiteX105" fmla="*/ 582407 w 1549884"/>
                <a:gd name="connsiteY105" fmla="*/ 1700267 h 1881187"/>
                <a:gd name="connsiteX106" fmla="*/ 580817 w 1549884"/>
                <a:gd name="connsiteY106" fmla="*/ 1714561 h 1881187"/>
                <a:gd name="connsiteX107" fmla="*/ 580817 w 1549884"/>
                <a:gd name="connsiteY107" fmla="*/ 1727266 h 1881187"/>
                <a:gd name="connsiteX108" fmla="*/ 581319 w 1549884"/>
                <a:gd name="connsiteY108" fmla="*/ 1729774 h 1881187"/>
                <a:gd name="connsiteX109" fmla="*/ 581319 w 1549884"/>
                <a:gd name="connsiteY109" fmla="*/ 1739959 h 1881187"/>
                <a:gd name="connsiteX110" fmla="*/ 583701 w 1549884"/>
                <a:gd name="connsiteY110" fmla="*/ 1751861 h 1881187"/>
                <a:gd name="connsiteX111" fmla="*/ 587672 w 1549884"/>
                <a:gd name="connsiteY111" fmla="*/ 1762175 h 1881187"/>
                <a:gd name="connsiteX112" fmla="*/ 590849 w 1549884"/>
                <a:gd name="connsiteY112" fmla="*/ 1773283 h 1881187"/>
                <a:gd name="connsiteX113" fmla="*/ 595614 w 1549884"/>
                <a:gd name="connsiteY113" fmla="*/ 1782804 h 1881187"/>
                <a:gd name="connsiteX114" fmla="*/ 601967 w 1549884"/>
                <a:gd name="connsiteY114" fmla="*/ 1790738 h 1881187"/>
                <a:gd name="connsiteX115" fmla="*/ 607526 w 1549884"/>
                <a:gd name="connsiteY115" fmla="*/ 1797879 h 1881187"/>
                <a:gd name="connsiteX116" fmla="*/ 613879 w 1549884"/>
                <a:gd name="connsiteY116" fmla="*/ 1805019 h 1881187"/>
                <a:gd name="connsiteX117" fmla="*/ 625791 w 1549884"/>
                <a:gd name="connsiteY117" fmla="*/ 1816127 h 1881187"/>
                <a:gd name="connsiteX118" fmla="*/ 635321 w 1549884"/>
                <a:gd name="connsiteY118" fmla="*/ 1823268 h 1881187"/>
                <a:gd name="connsiteX119" fmla="*/ 645645 w 1549884"/>
                <a:gd name="connsiteY119" fmla="*/ 1828822 h 1881187"/>
                <a:gd name="connsiteX120" fmla="*/ 655175 w 1549884"/>
                <a:gd name="connsiteY120" fmla="*/ 1835169 h 1881187"/>
                <a:gd name="connsiteX121" fmla="*/ 663911 w 1549884"/>
                <a:gd name="connsiteY121" fmla="*/ 1842310 h 1881187"/>
                <a:gd name="connsiteX122" fmla="*/ 670264 w 1549884"/>
                <a:gd name="connsiteY122" fmla="*/ 1847864 h 1881187"/>
                <a:gd name="connsiteX123" fmla="*/ 675029 w 1549884"/>
                <a:gd name="connsiteY123" fmla="*/ 1855004 h 1881187"/>
                <a:gd name="connsiteX124" fmla="*/ 676593 w 1549884"/>
                <a:gd name="connsiteY124" fmla="*/ 1859691 h 1881187"/>
                <a:gd name="connsiteX125" fmla="*/ 676164 w 1549884"/>
                <a:gd name="connsiteY125" fmla="*/ 1862260 h 1881187"/>
                <a:gd name="connsiteX126" fmla="*/ 673780 w 1549884"/>
                <a:gd name="connsiteY126" fmla="*/ 1867025 h 1881187"/>
                <a:gd name="connsiteX127" fmla="*/ 669807 w 1549884"/>
                <a:gd name="connsiteY127" fmla="*/ 1870995 h 1881187"/>
                <a:gd name="connsiteX128" fmla="*/ 665835 w 1549884"/>
                <a:gd name="connsiteY128" fmla="*/ 1874172 h 1881187"/>
                <a:gd name="connsiteX129" fmla="*/ 659478 w 1549884"/>
                <a:gd name="connsiteY129" fmla="*/ 1878142 h 1881187"/>
                <a:gd name="connsiteX130" fmla="*/ 652327 w 1549884"/>
                <a:gd name="connsiteY130" fmla="*/ 1880524 h 1881187"/>
                <a:gd name="connsiteX131" fmla="*/ 645693 w 1549884"/>
                <a:gd name="connsiteY131" fmla="*/ 1881187 h 1881187"/>
                <a:gd name="connsiteX132" fmla="*/ 0 w 1549884"/>
                <a:gd name="connsiteY132" fmla="*/ 1881187 h 1881187"/>
                <a:gd name="connsiteX133" fmla="*/ 0 w 1549884"/>
                <a:gd name="connsiteY133" fmla="*/ 1169494 h 1881187"/>
                <a:gd name="connsiteX134" fmla="*/ 4765 w 1549884"/>
                <a:gd name="connsiteY134" fmla="*/ 1164733 h 1881187"/>
                <a:gd name="connsiteX135" fmla="*/ 11913 w 1549884"/>
                <a:gd name="connsiteY135" fmla="*/ 1160766 h 1881187"/>
                <a:gd name="connsiteX136" fmla="*/ 19060 w 1549884"/>
                <a:gd name="connsiteY136" fmla="*/ 1159973 h 1881187"/>
                <a:gd name="connsiteX137" fmla="*/ 26207 w 1549884"/>
                <a:gd name="connsiteY137" fmla="*/ 1160766 h 1881187"/>
                <a:gd name="connsiteX138" fmla="*/ 26958 w 1549884"/>
                <a:gd name="connsiteY138" fmla="*/ 1161216 h 1881187"/>
                <a:gd name="connsiteX139" fmla="*/ 31465 w 1549884"/>
                <a:gd name="connsiteY139" fmla="*/ 1165224 h 1881187"/>
                <a:gd name="connsiteX140" fmla="*/ 38606 w 1549884"/>
                <a:gd name="connsiteY140" fmla="*/ 1174749 h 1881187"/>
                <a:gd name="connsiteX141" fmla="*/ 45748 w 1549884"/>
                <a:gd name="connsiteY141" fmla="*/ 1185067 h 1881187"/>
                <a:gd name="connsiteX142" fmla="*/ 51302 w 1549884"/>
                <a:gd name="connsiteY142" fmla="*/ 1196180 h 1881187"/>
                <a:gd name="connsiteX143" fmla="*/ 58443 w 1549884"/>
                <a:gd name="connsiteY143" fmla="*/ 1205705 h 1881187"/>
                <a:gd name="connsiteX144" fmla="*/ 69551 w 1549884"/>
                <a:gd name="connsiteY144" fmla="*/ 1217611 h 1881187"/>
                <a:gd name="connsiteX145" fmla="*/ 76693 w 1549884"/>
                <a:gd name="connsiteY145" fmla="*/ 1223167 h 1881187"/>
                <a:gd name="connsiteX146" fmla="*/ 83834 w 1549884"/>
                <a:gd name="connsiteY146" fmla="*/ 1229517 h 1881187"/>
                <a:gd name="connsiteX147" fmla="*/ 92562 w 1549884"/>
                <a:gd name="connsiteY147" fmla="*/ 1235074 h 1881187"/>
                <a:gd name="connsiteX148" fmla="*/ 98068 w 1549884"/>
                <a:gd name="connsiteY148" fmla="*/ 1238078 h 1881187"/>
                <a:gd name="connsiteX149" fmla="*/ 103240 w 1549884"/>
                <a:gd name="connsiteY149" fmla="*/ 1241695 h 1881187"/>
                <a:gd name="connsiteX150" fmla="*/ 112770 w 1549884"/>
                <a:gd name="connsiteY150" fmla="*/ 1246455 h 1881187"/>
                <a:gd name="connsiteX151" fmla="*/ 122300 w 1549884"/>
                <a:gd name="connsiteY151" fmla="*/ 1250422 h 1881187"/>
                <a:gd name="connsiteX152" fmla="*/ 134212 w 1549884"/>
                <a:gd name="connsiteY152" fmla="*/ 1253596 h 1881187"/>
                <a:gd name="connsiteX153" fmla="*/ 146124 w 1549884"/>
                <a:gd name="connsiteY153" fmla="*/ 1255976 h 1881187"/>
                <a:gd name="connsiteX154" fmla="*/ 158830 w 1549884"/>
                <a:gd name="connsiteY154" fmla="*/ 1255976 h 1881187"/>
                <a:gd name="connsiteX155" fmla="*/ 173125 w 1549884"/>
                <a:gd name="connsiteY155" fmla="*/ 1255183 h 1881187"/>
                <a:gd name="connsiteX156" fmla="*/ 189008 w 1549884"/>
                <a:gd name="connsiteY156" fmla="*/ 1252802 h 1881187"/>
                <a:gd name="connsiteX157" fmla="*/ 201715 w 1549884"/>
                <a:gd name="connsiteY157" fmla="*/ 1248042 h 1881187"/>
                <a:gd name="connsiteX158" fmla="*/ 216009 w 1549884"/>
                <a:gd name="connsiteY158" fmla="*/ 1241695 h 1881187"/>
                <a:gd name="connsiteX159" fmla="*/ 227922 w 1549884"/>
                <a:gd name="connsiteY159" fmla="*/ 1234554 h 1881187"/>
                <a:gd name="connsiteX160" fmla="*/ 240628 w 1549884"/>
                <a:gd name="connsiteY160" fmla="*/ 1225033 h 1881187"/>
                <a:gd name="connsiteX161" fmla="*/ 251746 w 1549884"/>
                <a:gd name="connsiteY161" fmla="*/ 1214719 h 1881187"/>
                <a:gd name="connsiteX162" fmla="*/ 262070 w 1549884"/>
                <a:gd name="connsiteY162" fmla="*/ 1202817 h 1881187"/>
                <a:gd name="connsiteX163" fmla="*/ 271600 w 1549884"/>
                <a:gd name="connsiteY163" fmla="*/ 1189329 h 1881187"/>
                <a:gd name="connsiteX164" fmla="*/ 280336 w 1549884"/>
                <a:gd name="connsiteY164" fmla="*/ 1176635 h 1881187"/>
                <a:gd name="connsiteX165" fmla="*/ 287483 w 1549884"/>
                <a:gd name="connsiteY165" fmla="*/ 1160766 h 1881187"/>
                <a:gd name="connsiteX166" fmla="*/ 293042 w 1549884"/>
                <a:gd name="connsiteY166" fmla="*/ 1144898 h 1881187"/>
                <a:gd name="connsiteX167" fmla="*/ 297807 w 1549884"/>
                <a:gd name="connsiteY167" fmla="*/ 1128236 h 1881187"/>
                <a:gd name="connsiteX168" fmla="*/ 301778 w 1549884"/>
                <a:gd name="connsiteY168" fmla="*/ 1111575 h 1881187"/>
                <a:gd name="connsiteX169" fmla="*/ 304160 w 1549884"/>
                <a:gd name="connsiteY169" fmla="*/ 1092533 h 1881187"/>
                <a:gd name="connsiteX170" fmla="*/ 304954 w 1549884"/>
                <a:gd name="connsiteY170" fmla="*/ 1074284 h 1881187"/>
                <a:gd name="connsiteX171" fmla="*/ 304160 w 1549884"/>
                <a:gd name="connsiteY171" fmla="*/ 1055242 h 1881187"/>
                <a:gd name="connsiteX172" fmla="*/ 301778 w 1549884"/>
                <a:gd name="connsiteY172" fmla="*/ 1037787 h 1881187"/>
                <a:gd name="connsiteX173" fmla="*/ 297807 w 1549884"/>
                <a:gd name="connsiteY173" fmla="*/ 1020332 h 1881187"/>
                <a:gd name="connsiteX174" fmla="*/ 293042 w 1549884"/>
                <a:gd name="connsiteY174" fmla="*/ 1003670 h 1881187"/>
                <a:gd name="connsiteX175" fmla="*/ 287483 w 1549884"/>
                <a:gd name="connsiteY175" fmla="*/ 987802 h 1881187"/>
                <a:gd name="connsiteX176" fmla="*/ 280336 w 1549884"/>
                <a:gd name="connsiteY176" fmla="*/ 972727 h 1881187"/>
                <a:gd name="connsiteX177" fmla="*/ 271600 w 1549884"/>
                <a:gd name="connsiteY177" fmla="*/ 958445 h 1881187"/>
                <a:gd name="connsiteX178" fmla="*/ 262070 w 1549884"/>
                <a:gd name="connsiteY178" fmla="*/ 944957 h 1881187"/>
                <a:gd name="connsiteX179" fmla="*/ 251746 w 1549884"/>
                <a:gd name="connsiteY179" fmla="*/ 933056 h 1881187"/>
                <a:gd name="connsiteX180" fmla="*/ 240628 w 1549884"/>
                <a:gd name="connsiteY180" fmla="*/ 922742 h 1881187"/>
                <a:gd name="connsiteX181" fmla="*/ 227922 w 1549884"/>
                <a:gd name="connsiteY181" fmla="*/ 914808 h 1881187"/>
                <a:gd name="connsiteX182" fmla="*/ 216009 w 1549884"/>
                <a:gd name="connsiteY182" fmla="*/ 906080 h 1881187"/>
                <a:gd name="connsiteX183" fmla="*/ 212019 w 1549884"/>
                <a:gd name="connsiteY183" fmla="*/ 904530 h 1881187"/>
                <a:gd name="connsiteX184" fmla="*/ 204440 w 1549884"/>
                <a:gd name="connsiteY184" fmla="*/ 899317 h 1881187"/>
                <a:gd name="connsiteX185" fmla="*/ 191745 w 1549884"/>
                <a:gd name="connsiteY185" fmla="*/ 893761 h 1881187"/>
                <a:gd name="connsiteX186" fmla="*/ 177463 w 1549884"/>
                <a:gd name="connsiteY186" fmla="*/ 888999 h 1881187"/>
                <a:gd name="connsiteX187" fmla="*/ 163180 w 1549884"/>
                <a:gd name="connsiteY187" fmla="*/ 886617 h 1881187"/>
                <a:gd name="connsiteX188" fmla="*/ 147311 w 1549884"/>
                <a:gd name="connsiteY188" fmla="*/ 885030 h 1881187"/>
                <a:gd name="connsiteX189" fmla="*/ 134616 w 1549884"/>
                <a:gd name="connsiteY189" fmla="*/ 886617 h 1881187"/>
                <a:gd name="connsiteX190" fmla="*/ 122714 w 1549884"/>
                <a:gd name="connsiteY190" fmla="*/ 888999 h 1881187"/>
                <a:gd name="connsiteX191" fmla="*/ 111605 w 1549884"/>
                <a:gd name="connsiteY191" fmla="*/ 891380 h 1881187"/>
                <a:gd name="connsiteX192" fmla="*/ 101290 w 1549884"/>
                <a:gd name="connsiteY192" fmla="*/ 896142 h 1881187"/>
                <a:gd name="connsiteX193" fmla="*/ 92562 w 1549884"/>
                <a:gd name="connsiteY193" fmla="*/ 900905 h 1881187"/>
                <a:gd name="connsiteX194" fmla="*/ 83834 w 1549884"/>
                <a:gd name="connsiteY194" fmla="*/ 905667 h 1881187"/>
                <a:gd name="connsiteX195" fmla="*/ 76693 w 1549884"/>
                <a:gd name="connsiteY195" fmla="*/ 911224 h 1881187"/>
                <a:gd name="connsiteX196" fmla="*/ 69551 w 1549884"/>
                <a:gd name="connsiteY196" fmla="*/ 917574 h 1881187"/>
                <a:gd name="connsiteX197" fmla="*/ 58443 w 1549884"/>
                <a:gd name="connsiteY197" fmla="*/ 928686 h 1881187"/>
                <a:gd name="connsiteX198" fmla="*/ 51302 w 1549884"/>
                <a:gd name="connsiteY198" fmla="*/ 939799 h 1881187"/>
                <a:gd name="connsiteX199" fmla="*/ 45748 w 1549884"/>
                <a:gd name="connsiteY199" fmla="*/ 949324 h 1881187"/>
                <a:gd name="connsiteX200" fmla="*/ 38606 w 1549884"/>
                <a:gd name="connsiteY200" fmla="*/ 961230 h 1881187"/>
                <a:gd name="connsiteX201" fmla="*/ 31465 w 1549884"/>
                <a:gd name="connsiteY201" fmla="*/ 969167 h 1881187"/>
                <a:gd name="connsiteX202" fmla="*/ 24324 w 1549884"/>
                <a:gd name="connsiteY202" fmla="*/ 976311 h 1881187"/>
                <a:gd name="connsiteX203" fmla="*/ 15596 w 1549884"/>
                <a:gd name="connsiteY203" fmla="*/ 980280 h 1881187"/>
                <a:gd name="connsiteX204" fmla="*/ 8455 w 1549884"/>
                <a:gd name="connsiteY204" fmla="*/ 981074 h 1881187"/>
                <a:gd name="connsiteX205" fmla="*/ 2097 w 1549884"/>
                <a:gd name="connsiteY205" fmla="*/ 981074 h 1881187"/>
                <a:gd name="connsiteX206" fmla="*/ 0 w 1549884"/>
                <a:gd name="connsiteY206" fmla="*/ 978281 h 1881187"/>
                <a:gd name="connsiteX207" fmla="*/ 0 w 1549884"/>
                <a:gd name="connsiteY207" fmla="*/ 311019 h 1881187"/>
                <a:gd name="connsiteX208" fmla="*/ 654381 w 1549884"/>
                <a:gd name="connsiteY208" fmla="*/ 311019 h 1881187"/>
                <a:gd name="connsiteX209" fmla="*/ 659940 w 1549884"/>
                <a:gd name="connsiteY209" fmla="*/ 308639 h 1881187"/>
                <a:gd name="connsiteX210" fmla="*/ 666293 w 1549884"/>
                <a:gd name="connsiteY210" fmla="*/ 306258 h 1881187"/>
                <a:gd name="connsiteX211" fmla="*/ 669470 w 1549884"/>
                <a:gd name="connsiteY211" fmla="*/ 303878 h 1881187"/>
                <a:gd name="connsiteX212" fmla="*/ 672646 w 1549884"/>
                <a:gd name="connsiteY212" fmla="*/ 299911 h 1881187"/>
                <a:gd name="connsiteX213" fmla="*/ 675029 w 1549884"/>
                <a:gd name="connsiteY213" fmla="*/ 296737 h 1881187"/>
                <a:gd name="connsiteX214" fmla="*/ 677411 w 1549884"/>
                <a:gd name="connsiteY214" fmla="*/ 291977 h 1881187"/>
                <a:gd name="connsiteX215" fmla="*/ 677411 w 1549884"/>
                <a:gd name="connsiteY215" fmla="*/ 288010 h 1881187"/>
                <a:gd name="connsiteX216" fmla="*/ 677411 w 1549884"/>
                <a:gd name="connsiteY216" fmla="*/ 283249 h 1881187"/>
                <a:gd name="connsiteX217" fmla="*/ 677392 w 1549884"/>
                <a:gd name="connsiteY217" fmla="*/ 283134 h 1881187"/>
                <a:gd name="connsiteX218" fmla="*/ 677487 w 1549884"/>
                <a:gd name="connsiteY218" fmla="*/ 282562 h 1881187"/>
                <a:gd name="connsiteX219" fmla="*/ 677487 w 1549884"/>
                <a:gd name="connsiteY219" fmla="*/ 277797 h 1881187"/>
                <a:gd name="connsiteX220" fmla="*/ 676693 w 1549884"/>
                <a:gd name="connsiteY220" fmla="*/ 273032 h 1881187"/>
                <a:gd name="connsiteX221" fmla="*/ 674311 w 1549884"/>
                <a:gd name="connsiteY221" fmla="*/ 266679 h 1881187"/>
                <a:gd name="connsiteX222" fmla="*/ 670340 w 1549884"/>
                <a:gd name="connsiteY222" fmla="*/ 261914 h 1881187"/>
                <a:gd name="connsiteX223" fmla="*/ 667164 w 1549884"/>
                <a:gd name="connsiteY223" fmla="*/ 256355 h 1881187"/>
                <a:gd name="connsiteX224" fmla="*/ 661605 w 1549884"/>
                <a:gd name="connsiteY224" fmla="*/ 251590 h 1881187"/>
                <a:gd name="connsiteX225" fmla="*/ 654459 w 1549884"/>
                <a:gd name="connsiteY225" fmla="*/ 246825 h 1881187"/>
                <a:gd name="connsiteX226" fmla="*/ 645724 w 1549884"/>
                <a:gd name="connsiteY226" fmla="*/ 242060 h 1881187"/>
                <a:gd name="connsiteX227" fmla="*/ 635401 w 1549884"/>
                <a:gd name="connsiteY227" fmla="*/ 235707 h 1881187"/>
                <a:gd name="connsiteX228" fmla="*/ 625872 w 1549884"/>
                <a:gd name="connsiteY228" fmla="*/ 229353 h 1881187"/>
                <a:gd name="connsiteX229" fmla="*/ 613960 w 1549884"/>
                <a:gd name="connsiteY229" fmla="*/ 217441 h 1881187"/>
                <a:gd name="connsiteX230" fmla="*/ 607608 w 1549884"/>
                <a:gd name="connsiteY230" fmla="*/ 211088 h 1881187"/>
                <a:gd name="connsiteX231" fmla="*/ 602049 w 1549884"/>
                <a:gd name="connsiteY231" fmla="*/ 203146 h 1881187"/>
                <a:gd name="connsiteX232" fmla="*/ 597284 w 1549884"/>
                <a:gd name="connsiteY232" fmla="*/ 194411 h 1881187"/>
                <a:gd name="connsiteX233" fmla="*/ 590932 w 1549884"/>
                <a:gd name="connsiteY233" fmla="*/ 184881 h 1881187"/>
                <a:gd name="connsiteX234" fmla="*/ 587755 w 1549884"/>
                <a:gd name="connsiteY234" fmla="*/ 175351 h 1881187"/>
                <a:gd name="connsiteX235" fmla="*/ 583785 w 1549884"/>
                <a:gd name="connsiteY235" fmla="*/ 165027 h 1881187"/>
                <a:gd name="connsiteX236" fmla="*/ 582991 w 1549884"/>
                <a:gd name="connsiteY236" fmla="*/ 151527 h 1881187"/>
                <a:gd name="connsiteX237" fmla="*/ 581755 w 1549884"/>
                <a:gd name="connsiteY237" fmla="*/ 141634 h 1881187"/>
                <a:gd name="connsiteX238" fmla="*/ 582907 w 1549884"/>
                <a:gd name="connsiteY238" fmla="*/ 130120 h 1881187"/>
                <a:gd name="connsiteX239" fmla="*/ 585290 w 1549884"/>
                <a:gd name="connsiteY239" fmla="*/ 116632 h 1881187"/>
                <a:gd name="connsiteX240" fmla="*/ 590054 w 1549884"/>
                <a:gd name="connsiteY240" fmla="*/ 102351 h 1881187"/>
                <a:gd name="connsiteX241" fmla="*/ 595614 w 1549884"/>
                <a:gd name="connsiteY241" fmla="*/ 88863 h 1881187"/>
                <a:gd name="connsiteX242" fmla="*/ 604349 w 1549884"/>
                <a:gd name="connsiteY242" fmla="*/ 76168 h 1881187"/>
                <a:gd name="connsiteX243" fmla="*/ 612291 w 1549884"/>
                <a:gd name="connsiteY243" fmla="*/ 64267 h 1881187"/>
                <a:gd name="connsiteX244" fmla="*/ 623409 w 1549884"/>
                <a:gd name="connsiteY244" fmla="*/ 52366 h 1881187"/>
                <a:gd name="connsiteX245" fmla="*/ 635321 w 1549884"/>
                <a:gd name="connsiteY245" fmla="*/ 42845 h 1881187"/>
                <a:gd name="connsiteX246" fmla="*/ 648028 w 1549884"/>
                <a:gd name="connsiteY246" fmla="*/ 33324 h 1881187"/>
                <a:gd name="connsiteX247" fmla="*/ 662322 w 1549884"/>
                <a:gd name="connsiteY247" fmla="*/ 24596 h 1881187"/>
                <a:gd name="connsiteX248" fmla="*/ 676617 w 1549884"/>
                <a:gd name="connsiteY248" fmla="*/ 16662 h 1881187"/>
                <a:gd name="connsiteX249" fmla="*/ 693294 w 1549884"/>
                <a:gd name="connsiteY249" fmla="*/ 10315 h 1881187"/>
                <a:gd name="connsiteX250" fmla="*/ 709971 w 1549884"/>
                <a:gd name="connsiteY250" fmla="*/ 5554 h 1881187"/>
                <a:gd name="connsiteX251" fmla="*/ 727443 w 1549884"/>
                <a:gd name="connsiteY251" fmla="*/ 2380 h 1881187"/>
                <a:gd name="connsiteX252" fmla="*/ 745708 w 1549884"/>
                <a:gd name="connsiteY252" fmla="*/ 0 h 188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Lst>
              <a:rect l="l" t="t" r="r" b="b"/>
              <a:pathLst>
                <a:path w="1549884" h="1881187">
                  <a:moveTo>
                    <a:pt x="745708" y="0"/>
                  </a:moveTo>
                  <a:lnTo>
                    <a:pt x="764768" y="0"/>
                  </a:lnTo>
                  <a:lnTo>
                    <a:pt x="782239" y="0"/>
                  </a:lnTo>
                  <a:lnTo>
                    <a:pt x="799710" y="2380"/>
                  </a:lnTo>
                  <a:lnTo>
                    <a:pt x="817976" y="5554"/>
                  </a:lnTo>
                  <a:lnTo>
                    <a:pt x="834653" y="10315"/>
                  </a:lnTo>
                  <a:lnTo>
                    <a:pt x="851330" y="16662"/>
                  </a:lnTo>
                  <a:lnTo>
                    <a:pt x="865625" y="24596"/>
                  </a:lnTo>
                  <a:lnTo>
                    <a:pt x="879919" y="33324"/>
                  </a:lnTo>
                  <a:lnTo>
                    <a:pt x="892626" y="42845"/>
                  </a:lnTo>
                  <a:lnTo>
                    <a:pt x="904538" y="52366"/>
                  </a:lnTo>
                  <a:lnTo>
                    <a:pt x="914862" y="64267"/>
                  </a:lnTo>
                  <a:lnTo>
                    <a:pt x="923598" y="76168"/>
                  </a:lnTo>
                  <a:lnTo>
                    <a:pt x="931539" y="88863"/>
                  </a:lnTo>
                  <a:lnTo>
                    <a:pt x="937892" y="102351"/>
                  </a:lnTo>
                  <a:lnTo>
                    <a:pt x="942657" y="116632"/>
                  </a:lnTo>
                  <a:lnTo>
                    <a:pt x="945040" y="130120"/>
                  </a:lnTo>
                  <a:lnTo>
                    <a:pt x="945658" y="142479"/>
                  </a:lnTo>
                  <a:lnTo>
                    <a:pt x="945093" y="151527"/>
                  </a:lnTo>
                  <a:lnTo>
                    <a:pt x="943505" y="165027"/>
                  </a:lnTo>
                  <a:lnTo>
                    <a:pt x="940329" y="175351"/>
                  </a:lnTo>
                  <a:lnTo>
                    <a:pt x="936358" y="184881"/>
                  </a:lnTo>
                  <a:lnTo>
                    <a:pt x="931593" y="194411"/>
                  </a:lnTo>
                  <a:lnTo>
                    <a:pt x="926035" y="203146"/>
                  </a:lnTo>
                  <a:lnTo>
                    <a:pt x="919682" y="211088"/>
                  </a:lnTo>
                  <a:lnTo>
                    <a:pt x="914124" y="217441"/>
                  </a:lnTo>
                  <a:lnTo>
                    <a:pt x="902212" y="229353"/>
                  </a:lnTo>
                  <a:lnTo>
                    <a:pt x="892683" y="235707"/>
                  </a:lnTo>
                  <a:lnTo>
                    <a:pt x="882360" y="242060"/>
                  </a:lnTo>
                  <a:lnTo>
                    <a:pt x="873625" y="246825"/>
                  </a:lnTo>
                  <a:lnTo>
                    <a:pt x="866479" y="251590"/>
                  </a:lnTo>
                  <a:lnTo>
                    <a:pt x="861714" y="256355"/>
                  </a:lnTo>
                  <a:lnTo>
                    <a:pt x="856950" y="261914"/>
                  </a:lnTo>
                  <a:lnTo>
                    <a:pt x="853773" y="266679"/>
                  </a:lnTo>
                  <a:lnTo>
                    <a:pt x="851391" y="273032"/>
                  </a:lnTo>
                  <a:lnTo>
                    <a:pt x="849803" y="277797"/>
                  </a:lnTo>
                  <a:lnTo>
                    <a:pt x="849803" y="282562"/>
                  </a:lnTo>
                  <a:lnTo>
                    <a:pt x="849887" y="282814"/>
                  </a:lnTo>
                  <a:lnTo>
                    <a:pt x="849742" y="283249"/>
                  </a:lnTo>
                  <a:lnTo>
                    <a:pt x="849742" y="288010"/>
                  </a:lnTo>
                  <a:lnTo>
                    <a:pt x="849742" y="291977"/>
                  </a:lnTo>
                  <a:lnTo>
                    <a:pt x="852124" y="296737"/>
                  </a:lnTo>
                  <a:lnTo>
                    <a:pt x="854507" y="299911"/>
                  </a:lnTo>
                  <a:lnTo>
                    <a:pt x="858477" y="303878"/>
                  </a:lnTo>
                  <a:lnTo>
                    <a:pt x="861654" y="306258"/>
                  </a:lnTo>
                  <a:lnTo>
                    <a:pt x="868007" y="308639"/>
                  </a:lnTo>
                  <a:lnTo>
                    <a:pt x="873566" y="311019"/>
                  </a:lnTo>
                  <a:lnTo>
                    <a:pt x="1549884" y="311019"/>
                  </a:lnTo>
                  <a:lnTo>
                    <a:pt x="1549884" y="1881187"/>
                  </a:lnTo>
                  <a:lnTo>
                    <a:pt x="880511" y="1881187"/>
                  </a:lnTo>
                  <a:lnTo>
                    <a:pt x="873213" y="1880524"/>
                  </a:lnTo>
                  <a:lnTo>
                    <a:pt x="866062" y="1878142"/>
                  </a:lnTo>
                  <a:lnTo>
                    <a:pt x="861295" y="1874172"/>
                  </a:lnTo>
                  <a:lnTo>
                    <a:pt x="856527" y="1870995"/>
                  </a:lnTo>
                  <a:lnTo>
                    <a:pt x="853349" y="1867025"/>
                  </a:lnTo>
                  <a:lnTo>
                    <a:pt x="850965" y="1862260"/>
                  </a:lnTo>
                  <a:lnTo>
                    <a:pt x="850334" y="1860369"/>
                  </a:lnTo>
                  <a:lnTo>
                    <a:pt x="852124" y="1855004"/>
                  </a:lnTo>
                  <a:lnTo>
                    <a:pt x="856889" y="1847864"/>
                  </a:lnTo>
                  <a:lnTo>
                    <a:pt x="863242" y="1842310"/>
                  </a:lnTo>
                  <a:lnTo>
                    <a:pt x="871184" y="1835169"/>
                  </a:lnTo>
                  <a:lnTo>
                    <a:pt x="882302" y="1828822"/>
                  </a:lnTo>
                  <a:lnTo>
                    <a:pt x="891832" y="1823268"/>
                  </a:lnTo>
                  <a:lnTo>
                    <a:pt x="902156" y="1816127"/>
                  </a:lnTo>
                  <a:lnTo>
                    <a:pt x="914068" y="1805019"/>
                  </a:lnTo>
                  <a:lnTo>
                    <a:pt x="919627" y="1797879"/>
                  </a:lnTo>
                  <a:lnTo>
                    <a:pt x="925980" y="1790738"/>
                  </a:lnTo>
                  <a:lnTo>
                    <a:pt x="930745" y="1782804"/>
                  </a:lnTo>
                  <a:lnTo>
                    <a:pt x="935510" y="1773283"/>
                  </a:lnTo>
                  <a:lnTo>
                    <a:pt x="940275" y="1762175"/>
                  </a:lnTo>
                  <a:lnTo>
                    <a:pt x="942657" y="1751861"/>
                  </a:lnTo>
                  <a:lnTo>
                    <a:pt x="945040" y="1739959"/>
                  </a:lnTo>
                  <a:lnTo>
                    <a:pt x="945834" y="1727265"/>
                  </a:lnTo>
                  <a:lnTo>
                    <a:pt x="945340" y="1717393"/>
                  </a:lnTo>
                  <a:lnTo>
                    <a:pt x="945517" y="1714561"/>
                  </a:lnTo>
                  <a:lnTo>
                    <a:pt x="944723" y="1700267"/>
                  </a:lnTo>
                  <a:lnTo>
                    <a:pt x="942339" y="1684386"/>
                  </a:lnTo>
                  <a:lnTo>
                    <a:pt x="937572" y="1671680"/>
                  </a:lnTo>
                  <a:lnTo>
                    <a:pt x="931215" y="1657387"/>
                  </a:lnTo>
                  <a:lnTo>
                    <a:pt x="923270" y="1643887"/>
                  </a:lnTo>
                  <a:lnTo>
                    <a:pt x="914530" y="1631976"/>
                  </a:lnTo>
                  <a:lnTo>
                    <a:pt x="904200" y="1621653"/>
                  </a:lnTo>
                  <a:lnTo>
                    <a:pt x="892282" y="1610536"/>
                  </a:lnTo>
                  <a:lnTo>
                    <a:pt x="879569" y="1601801"/>
                  </a:lnTo>
                  <a:lnTo>
                    <a:pt x="865267" y="1593066"/>
                  </a:lnTo>
                  <a:lnTo>
                    <a:pt x="849376" y="1585919"/>
                  </a:lnTo>
                  <a:lnTo>
                    <a:pt x="834280" y="1580361"/>
                  </a:lnTo>
                  <a:lnTo>
                    <a:pt x="817594" y="1574008"/>
                  </a:lnTo>
                  <a:lnTo>
                    <a:pt x="799319" y="1570832"/>
                  </a:lnTo>
                  <a:lnTo>
                    <a:pt x="781839" y="1569243"/>
                  </a:lnTo>
                  <a:lnTo>
                    <a:pt x="762770" y="1568449"/>
                  </a:lnTo>
                  <a:lnTo>
                    <a:pt x="745290" y="1569243"/>
                  </a:lnTo>
                  <a:lnTo>
                    <a:pt x="726221" y="1570832"/>
                  </a:lnTo>
                  <a:lnTo>
                    <a:pt x="709535" y="1574008"/>
                  </a:lnTo>
                  <a:lnTo>
                    <a:pt x="692849" y="1580361"/>
                  </a:lnTo>
                  <a:lnTo>
                    <a:pt x="676164" y="1585919"/>
                  </a:lnTo>
                  <a:lnTo>
                    <a:pt x="661067" y="1593066"/>
                  </a:lnTo>
                  <a:lnTo>
                    <a:pt x="647560" y="1601801"/>
                  </a:lnTo>
                  <a:lnTo>
                    <a:pt x="634847" y="1610536"/>
                  </a:lnTo>
                  <a:lnTo>
                    <a:pt x="622929" y="1621653"/>
                  </a:lnTo>
                  <a:lnTo>
                    <a:pt x="611805" y="1631976"/>
                  </a:lnTo>
                  <a:lnTo>
                    <a:pt x="602270" y="1643887"/>
                  </a:lnTo>
                  <a:lnTo>
                    <a:pt x="595119" y="1657387"/>
                  </a:lnTo>
                  <a:lnTo>
                    <a:pt x="589558" y="1671680"/>
                  </a:lnTo>
                  <a:lnTo>
                    <a:pt x="584790" y="1684386"/>
                  </a:lnTo>
                  <a:lnTo>
                    <a:pt x="582407" y="1700267"/>
                  </a:lnTo>
                  <a:lnTo>
                    <a:pt x="580817" y="1714561"/>
                  </a:lnTo>
                  <a:lnTo>
                    <a:pt x="580817" y="1727266"/>
                  </a:lnTo>
                  <a:lnTo>
                    <a:pt x="581319" y="1729774"/>
                  </a:lnTo>
                  <a:lnTo>
                    <a:pt x="581319" y="1739959"/>
                  </a:lnTo>
                  <a:lnTo>
                    <a:pt x="583701" y="1751861"/>
                  </a:lnTo>
                  <a:lnTo>
                    <a:pt x="587672" y="1762175"/>
                  </a:lnTo>
                  <a:lnTo>
                    <a:pt x="590849" y="1773283"/>
                  </a:lnTo>
                  <a:lnTo>
                    <a:pt x="595614" y="1782804"/>
                  </a:lnTo>
                  <a:lnTo>
                    <a:pt x="601967" y="1790738"/>
                  </a:lnTo>
                  <a:lnTo>
                    <a:pt x="607526" y="1797879"/>
                  </a:lnTo>
                  <a:lnTo>
                    <a:pt x="613879" y="1805019"/>
                  </a:lnTo>
                  <a:lnTo>
                    <a:pt x="625791" y="1816127"/>
                  </a:lnTo>
                  <a:lnTo>
                    <a:pt x="635321" y="1823268"/>
                  </a:lnTo>
                  <a:lnTo>
                    <a:pt x="645645" y="1828822"/>
                  </a:lnTo>
                  <a:lnTo>
                    <a:pt x="655175" y="1835169"/>
                  </a:lnTo>
                  <a:lnTo>
                    <a:pt x="663911" y="1842310"/>
                  </a:lnTo>
                  <a:lnTo>
                    <a:pt x="670264" y="1847864"/>
                  </a:lnTo>
                  <a:lnTo>
                    <a:pt x="675029" y="1855004"/>
                  </a:lnTo>
                  <a:lnTo>
                    <a:pt x="676593" y="1859691"/>
                  </a:lnTo>
                  <a:lnTo>
                    <a:pt x="676164" y="1862260"/>
                  </a:lnTo>
                  <a:lnTo>
                    <a:pt x="673780" y="1867025"/>
                  </a:lnTo>
                  <a:lnTo>
                    <a:pt x="669807" y="1870995"/>
                  </a:lnTo>
                  <a:lnTo>
                    <a:pt x="665835" y="1874172"/>
                  </a:lnTo>
                  <a:lnTo>
                    <a:pt x="659478" y="1878142"/>
                  </a:lnTo>
                  <a:lnTo>
                    <a:pt x="652327" y="1880524"/>
                  </a:lnTo>
                  <a:lnTo>
                    <a:pt x="645693" y="1881187"/>
                  </a:lnTo>
                  <a:lnTo>
                    <a:pt x="0" y="1881187"/>
                  </a:lnTo>
                  <a:lnTo>
                    <a:pt x="0" y="1169494"/>
                  </a:lnTo>
                  <a:lnTo>
                    <a:pt x="4765" y="1164733"/>
                  </a:lnTo>
                  <a:lnTo>
                    <a:pt x="11913" y="1160766"/>
                  </a:lnTo>
                  <a:lnTo>
                    <a:pt x="19060" y="1159973"/>
                  </a:lnTo>
                  <a:lnTo>
                    <a:pt x="26207" y="1160766"/>
                  </a:lnTo>
                  <a:lnTo>
                    <a:pt x="26958" y="1161216"/>
                  </a:lnTo>
                  <a:lnTo>
                    <a:pt x="31465" y="1165224"/>
                  </a:lnTo>
                  <a:lnTo>
                    <a:pt x="38606" y="1174749"/>
                  </a:lnTo>
                  <a:lnTo>
                    <a:pt x="45748" y="1185067"/>
                  </a:lnTo>
                  <a:lnTo>
                    <a:pt x="51302" y="1196180"/>
                  </a:lnTo>
                  <a:lnTo>
                    <a:pt x="58443" y="1205705"/>
                  </a:lnTo>
                  <a:lnTo>
                    <a:pt x="69551" y="1217611"/>
                  </a:lnTo>
                  <a:lnTo>
                    <a:pt x="76693" y="1223167"/>
                  </a:lnTo>
                  <a:lnTo>
                    <a:pt x="83834" y="1229517"/>
                  </a:lnTo>
                  <a:lnTo>
                    <a:pt x="92562" y="1235074"/>
                  </a:lnTo>
                  <a:lnTo>
                    <a:pt x="98068" y="1238078"/>
                  </a:lnTo>
                  <a:lnTo>
                    <a:pt x="103240" y="1241695"/>
                  </a:lnTo>
                  <a:lnTo>
                    <a:pt x="112770" y="1246455"/>
                  </a:lnTo>
                  <a:lnTo>
                    <a:pt x="122300" y="1250422"/>
                  </a:lnTo>
                  <a:lnTo>
                    <a:pt x="134212" y="1253596"/>
                  </a:lnTo>
                  <a:lnTo>
                    <a:pt x="146124" y="1255976"/>
                  </a:lnTo>
                  <a:lnTo>
                    <a:pt x="158830" y="1255976"/>
                  </a:lnTo>
                  <a:lnTo>
                    <a:pt x="173125" y="1255183"/>
                  </a:lnTo>
                  <a:lnTo>
                    <a:pt x="189008" y="1252802"/>
                  </a:lnTo>
                  <a:lnTo>
                    <a:pt x="201715" y="1248042"/>
                  </a:lnTo>
                  <a:lnTo>
                    <a:pt x="216009" y="1241695"/>
                  </a:lnTo>
                  <a:lnTo>
                    <a:pt x="227922" y="1234554"/>
                  </a:lnTo>
                  <a:lnTo>
                    <a:pt x="240628" y="1225033"/>
                  </a:lnTo>
                  <a:lnTo>
                    <a:pt x="251746" y="1214719"/>
                  </a:lnTo>
                  <a:lnTo>
                    <a:pt x="262070" y="1202817"/>
                  </a:lnTo>
                  <a:lnTo>
                    <a:pt x="271600" y="1189329"/>
                  </a:lnTo>
                  <a:lnTo>
                    <a:pt x="280336" y="1176635"/>
                  </a:lnTo>
                  <a:lnTo>
                    <a:pt x="287483" y="1160766"/>
                  </a:lnTo>
                  <a:lnTo>
                    <a:pt x="293042" y="1144898"/>
                  </a:lnTo>
                  <a:lnTo>
                    <a:pt x="297807" y="1128236"/>
                  </a:lnTo>
                  <a:lnTo>
                    <a:pt x="301778" y="1111575"/>
                  </a:lnTo>
                  <a:lnTo>
                    <a:pt x="304160" y="1092533"/>
                  </a:lnTo>
                  <a:lnTo>
                    <a:pt x="304954" y="1074284"/>
                  </a:lnTo>
                  <a:lnTo>
                    <a:pt x="304160" y="1055242"/>
                  </a:lnTo>
                  <a:lnTo>
                    <a:pt x="301778" y="1037787"/>
                  </a:lnTo>
                  <a:lnTo>
                    <a:pt x="297807" y="1020332"/>
                  </a:lnTo>
                  <a:lnTo>
                    <a:pt x="293042" y="1003670"/>
                  </a:lnTo>
                  <a:lnTo>
                    <a:pt x="287483" y="987802"/>
                  </a:lnTo>
                  <a:lnTo>
                    <a:pt x="280336" y="972727"/>
                  </a:lnTo>
                  <a:lnTo>
                    <a:pt x="271600" y="958445"/>
                  </a:lnTo>
                  <a:lnTo>
                    <a:pt x="262070" y="944957"/>
                  </a:lnTo>
                  <a:lnTo>
                    <a:pt x="251746" y="933056"/>
                  </a:lnTo>
                  <a:lnTo>
                    <a:pt x="240628" y="922742"/>
                  </a:lnTo>
                  <a:lnTo>
                    <a:pt x="227922" y="914808"/>
                  </a:lnTo>
                  <a:lnTo>
                    <a:pt x="216009" y="906080"/>
                  </a:lnTo>
                  <a:lnTo>
                    <a:pt x="212019" y="904530"/>
                  </a:lnTo>
                  <a:lnTo>
                    <a:pt x="204440" y="899317"/>
                  </a:lnTo>
                  <a:lnTo>
                    <a:pt x="191745" y="893761"/>
                  </a:lnTo>
                  <a:lnTo>
                    <a:pt x="177463" y="888999"/>
                  </a:lnTo>
                  <a:lnTo>
                    <a:pt x="163180" y="886617"/>
                  </a:lnTo>
                  <a:lnTo>
                    <a:pt x="147311" y="885030"/>
                  </a:lnTo>
                  <a:lnTo>
                    <a:pt x="134616" y="886617"/>
                  </a:lnTo>
                  <a:lnTo>
                    <a:pt x="122714" y="888999"/>
                  </a:lnTo>
                  <a:lnTo>
                    <a:pt x="111605" y="891380"/>
                  </a:lnTo>
                  <a:lnTo>
                    <a:pt x="101290" y="896142"/>
                  </a:lnTo>
                  <a:lnTo>
                    <a:pt x="92562" y="900905"/>
                  </a:lnTo>
                  <a:lnTo>
                    <a:pt x="83834" y="905667"/>
                  </a:lnTo>
                  <a:lnTo>
                    <a:pt x="76693" y="911224"/>
                  </a:lnTo>
                  <a:lnTo>
                    <a:pt x="69551" y="917574"/>
                  </a:lnTo>
                  <a:lnTo>
                    <a:pt x="58443" y="928686"/>
                  </a:lnTo>
                  <a:lnTo>
                    <a:pt x="51302" y="939799"/>
                  </a:lnTo>
                  <a:lnTo>
                    <a:pt x="45748" y="949324"/>
                  </a:lnTo>
                  <a:lnTo>
                    <a:pt x="38606" y="961230"/>
                  </a:lnTo>
                  <a:lnTo>
                    <a:pt x="31465" y="969167"/>
                  </a:lnTo>
                  <a:lnTo>
                    <a:pt x="24324" y="976311"/>
                  </a:lnTo>
                  <a:lnTo>
                    <a:pt x="15596" y="980280"/>
                  </a:lnTo>
                  <a:lnTo>
                    <a:pt x="8455" y="981074"/>
                  </a:lnTo>
                  <a:lnTo>
                    <a:pt x="2097" y="981074"/>
                  </a:lnTo>
                  <a:lnTo>
                    <a:pt x="0" y="978281"/>
                  </a:lnTo>
                  <a:lnTo>
                    <a:pt x="0" y="311019"/>
                  </a:lnTo>
                  <a:lnTo>
                    <a:pt x="654381" y="311019"/>
                  </a:lnTo>
                  <a:lnTo>
                    <a:pt x="659940" y="308639"/>
                  </a:lnTo>
                  <a:lnTo>
                    <a:pt x="666293" y="306258"/>
                  </a:lnTo>
                  <a:lnTo>
                    <a:pt x="669470" y="303878"/>
                  </a:lnTo>
                  <a:lnTo>
                    <a:pt x="672646" y="299911"/>
                  </a:lnTo>
                  <a:lnTo>
                    <a:pt x="675029" y="296737"/>
                  </a:lnTo>
                  <a:lnTo>
                    <a:pt x="677411" y="291977"/>
                  </a:lnTo>
                  <a:lnTo>
                    <a:pt x="677411" y="288010"/>
                  </a:lnTo>
                  <a:lnTo>
                    <a:pt x="677411" y="283249"/>
                  </a:lnTo>
                  <a:lnTo>
                    <a:pt x="677392" y="283134"/>
                  </a:lnTo>
                  <a:lnTo>
                    <a:pt x="677487" y="282562"/>
                  </a:lnTo>
                  <a:lnTo>
                    <a:pt x="677487" y="277797"/>
                  </a:lnTo>
                  <a:lnTo>
                    <a:pt x="676693" y="273032"/>
                  </a:lnTo>
                  <a:lnTo>
                    <a:pt x="674311" y="266679"/>
                  </a:lnTo>
                  <a:lnTo>
                    <a:pt x="670340" y="261914"/>
                  </a:lnTo>
                  <a:lnTo>
                    <a:pt x="667164" y="256355"/>
                  </a:lnTo>
                  <a:lnTo>
                    <a:pt x="661605" y="251590"/>
                  </a:lnTo>
                  <a:lnTo>
                    <a:pt x="654459" y="246825"/>
                  </a:lnTo>
                  <a:lnTo>
                    <a:pt x="645724" y="242060"/>
                  </a:lnTo>
                  <a:lnTo>
                    <a:pt x="635401" y="235707"/>
                  </a:lnTo>
                  <a:lnTo>
                    <a:pt x="625872" y="229353"/>
                  </a:lnTo>
                  <a:lnTo>
                    <a:pt x="613960" y="217441"/>
                  </a:lnTo>
                  <a:lnTo>
                    <a:pt x="607608" y="211088"/>
                  </a:lnTo>
                  <a:lnTo>
                    <a:pt x="602049" y="203146"/>
                  </a:lnTo>
                  <a:lnTo>
                    <a:pt x="597284" y="194411"/>
                  </a:lnTo>
                  <a:lnTo>
                    <a:pt x="590932" y="184881"/>
                  </a:lnTo>
                  <a:lnTo>
                    <a:pt x="587755" y="175351"/>
                  </a:lnTo>
                  <a:lnTo>
                    <a:pt x="583785" y="165027"/>
                  </a:lnTo>
                  <a:lnTo>
                    <a:pt x="582991" y="151527"/>
                  </a:lnTo>
                  <a:lnTo>
                    <a:pt x="581755" y="141634"/>
                  </a:lnTo>
                  <a:lnTo>
                    <a:pt x="582907" y="130120"/>
                  </a:lnTo>
                  <a:lnTo>
                    <a:pt x="585290" y="116632"/>
                  </a:lnTo>
                  <a:lnTo>
                    <a:pt x="590054" y="102351"/>
                  </a:lnTo>
                  <a:lnTo>
                    <a:pt x="595614" y="88863"/>
                  </a:lnTo>
                  <a:lnTo>
                    <a:pt x="604349" y="76168"/>
                  </a:lnTo>
                  <a:lnTo>
                    <a:pt x="612291" y="64267"/>
                  </a:lnTo>
                  <a:lnTo>
                    <a:pt x="623409" y="52366"/>
                  </a:lnTo>
                  <a:lnTo>
                    <a:pt x="635321" y="42845"/>
                  </a:lnTo>
                  <a:lnTo>
                    <a:pt x="648028" y="33324"/>
                  </a:lnTo>
                  <a:lnTo>
                    <a:pt x="662322" y="24596"/>
                  </a:lnTo>
                  <a:lnTo>
                    <a:pt x="676617" y="16662"/>
                  </a:lnTo>
                  <a:lnTo>
                    <a:pt x="693294" y="10315"/>
                  </a:lnTo>
                  <a:lnTo>
                    <a:pt x="709971" y="5554"/>
                  </a:lnTo>
                  <a:lnTo>
                    <a:pt x="727443" y="2380"/>
                  </a:lnTo>
                  <a:lnTo>
                    <a:pt x="745708"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63" name="TextBox 62"/>
            <p:cNvSpPr txBox="1"/>
            <p:nvPr/>
          </p:nvSpPr>
          <p:spPr>
            <a:xfrm>
              <a:off x="5950873" y="2972115"/>
              <a:ext cx="1038991" cy="369332"/>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Attitudes</a:t>
              </a:r>
            </a:p>
          </p:txBody>
        </p:sp>
      </p:grpSp>
      <p:grpSp>
        <p:nvGrpSpPr>
          <p:cNvPr id="65" name="Group 64"/>
          <p:cNvGrpSpPr/>
          <p:nvPr/>
        </p:nvGrpSpPr>
        <p:grpSpPr>
          <a:xfrm>
            <a:off x="723790" y="2931648"/>
            <a:ext cx="1571625" cy="1884679"/>
            <a:chOff x="1433460" y="2659705"/>
            <a:chExt cx="1571625" cy="1884679"/>
          </a:xfrm>
        </p:grpSpPr>
        <p:pic>
          <p:nvPicPr>
            <p:cNvPr id="41" name="Picture 40"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90" t="33468" r="75033" b="26599"/>
            <a:stretch>
              <a:fillRect/>
            </a:stretch>
          </p:blipFill>
          <p:spPr bwMode="auto">
            <a:xfrm>
              <a:off x="1433460" y="2659705"/>
              <a:ext cx="1571625" cy="1884679"/>
            </a:xfrm>
            <a:custGeom>
              <a:avLst/>
              <a:gdLst>
                <a:gd name="connsiteX0" fmla="*/ 0 w 1571625"/>
                <a:gd name="connsiteY0" fmla="*/ 0 h 1884679"/>
                <a:gd name="connsiteX1" fmla="*/ 703473 w 1571625"/>
                <a:gd name="connsiteY1" fmla="*/ 0 h 1884679"/>
                <a:gd name="connsiteX2" fmla="*/ 709612 w 1571625"/>
                <a:gd name="connsiteY2" fmla="*/ 3839 h 1884679"/>
                <a:gd name="connsiteX3" fmla="*/ 714374 w 1571625"/>
                <a:gd name="connsiteY3" fmla="*/ 7015 h 1884679"/>
                <a:gd name="connsiteX4" fmla="*/ 717549 w 1571625"/>
                <a:gd name="connsiteY4" fmla="*/ 10986 h 1884679"/>
                <a:gd name="connsiteX5" fmla="*/ 719930 w 1571625"/>
                <a:gd name="connsiteY5" fmla="*/ 15750 h 1884679"/>
                <a:gd name="connsiteX6" fmla="*/ 721456 w 1571625"/>
                <a:gd name="connsiteY6" fmla="*/ 20330 h 1884679"/>
                <a:gd name="connsiteX7" fmla="*/ 719501 w 1571625"/>
                <a:gd name="connsiteY7" fmla="*/ 26194 h 1884679"/>
                <a:gd name="connsiteX8" fmla="*/ 714736 w 1571625"/>
                <a:gd name="connsiteY8" fmla="*/ 33338 h 1884679"/>
                <a:gd name="connsiteX9" fmla="*/ 708383 w 1571625"/>
                <a:gd name="connsiteY9" fmla="*/ 39688 h 1884679"/>
                <a:gd name="connsiteX10" fmla="*/ 700441 w 1571625"/>
                <a:gd name="connsiteY10" fmla="*/ 46038 h 1884679"/>
                <a:gd name="connsiteX11" fmla="*/ 689323 w 1571625"/>
                <a:gd name="connsiteY11" fmla="*/ 51594 h 1884679"/>
                <a:gd name="connsiteX12" fmla="*/ 678999 w 1571625"/>
                <a:gd name="connsiteY12" fmla="*/ 57944 h 1884679"/>
                <a:gd name="connsiteX13" fmla="*/ 669470 w 1571625"/>
                <a:gd name="connsiteY13" fmla="*/ 65088 h 1884679"/>
                <a:gd name="connsiteX14" fmla="*/ 657557 w 1571625"/>
                <a:gd name="connsiteY14" fmla="*/ 75406 h 1884679"/>
                <a:gd name="connsiteX15" fmla="*/ 651998 w 1571625"/>
                <a:gd name="connsiteY15" fmla="*/ 82550 h 1884679"/>
                <a:gd name="connsiteX16" fmla="*/ 645645 w 1571625"/>
                <a:gd name="connsiteY16" fmla="*/ 89694 h 1884679"/>
                <a:gd name="connsiteX17" fmla="*/ 640880 w 1571625"/>
                <a:gd name="connsiteY17" fmla="*/ 99219 h 1884679"/>
                <a:gd name="connsiteX18" fmla="*/ 635321 w 1571625"/>
                <a:gd name="connsiteY18" fmla="*/ 107950 h 1884679"/>
                <a:gd name="connsiteX19" fmla="*/ 631350 w 1571625"/>
                <a:gd name="connsiteY19" fmla="*/ 118269 h 1884679"/>
                <a:gd name="connsiteX20" fmla="*/ 628174 w 1571625"/>
                <a:gd name="connsiteY20" fmla="*/ 129381 h 1884679"/>
                <a:gd name="connsiteX21" fmla="*/ 626585 w 1571625"/>
                <a:gd name="connsiteY21" fmla="*/ 141288 h 1884679"/>
                <a:gd name="connsiteX22" fmla="*/ 625791 w 1571625"/>
                <a:gd name="connsiteY22" fmla="*/ 153988 h 1884679"/>
                <a:gd name="connsiteX23" fmla="*/ 625917 w 1571625"/>
                <a:gd name="connsiteY23" fmla="*/ 156370 h 1884679"/>
                <a:gd name="connsiteX24" fmla="*/ 625474 w 1571625"/>
                <a:gd name="connsiteY24" fmla="*/ 163450 h 1884679"/>
                <a:gd name="connsiteX25" fmla="*/ 626268 w 1571625"/>
                <a:gd name="connsiteY25" fmla="*/ 177743 h 1884679"/>
                <a:gd name="connsiteX26" fmla="*/ 628649 w 1571625"/>
                <a:gd name="connsiteY26" fmla="*/ 193625 h 1884679"/>
                <a:gd name="connsiteX27" fmla="*/ 633412 w 1571625"/>
                <a:gd name="connsiteY27" fmla="*/ 206330 h 1884679"/>
                <a:gd name="connsiteX28" fmla="*/ 639762 w 1571625"/>
                <a:gd name="connsiteY28" fmla="*/ 220624 h 1884679"/>
                <a:gd name="connsiteX29" fmla="*/ 647699 w 1571625"/>
                <a:gd name="connsiteY29" fmla="*/ 234123 h 1884679"/>
                <a:gd name="connsiteX30" fmla="*/ 656430 w 1571625"/>
                <a:gd name="connsiteY30" fmla="*/ 246034 h 1884679"/>
                <a:gd name="connsiteX31" fmla="*/ 666749 w 1571625"/>
                <a:gd name="connsiteY31" fmla="*/ 256358 h 1884679"/>
                <a:gd name="connsiteX32" fmla="*/ 678655 w 1571625"/>
                <a:gd name="connsiteY32" fmla="*/ 266681 h 1884679"/>
                <a:gd name="connsiteX33" fmla="*/ 691355 w 1571625"/>
                <a:gd name="connsiteY33" fmla="*/ 276210 h 1884679"/>
                <a:gd name="connsiteX34" fmla="*/ 705643 w 1571625"/>
                <a:gd name="connsiteY34" fmla="*/ 284945 h 1884679"/>
                <a:gd name="connsiteX35" fmla="*/ 719930 w 1571625"/>
                <a:gd name="connsiteY35" fmla="*/ 292091 h 1884679"/>
                <a:gd name="connsiteX36" fmla="*/ 736599 w 1571625"/>
                <a:gd name="connsiteY36" fmla="*/ 297650 h 1884679"/>
                <a:gd name="connsiteX37" fmla="*/ 753268 w 1571625"/>
                <a:gd name="connsiteY37" fmla="*/ 304003 h 1884679"/>
                <a:gd name="connsiteX38" fmla="*/ 771524 w 1571625"/>
                <a:gd name="connsiteY38" fmla="*/ 307179 h 1884679"/>
                <a:gd name="connsiteX39" fmla="*/ 788987 w 1571625"/>
                <a:gd name="connsiteY39" fmla="*/ 308767 h 1884679"/>
                <a:gd name="connsiteX40" fmla="*/ 808037 w 1571625"/>
                <a:gd name="connsiteY40" fmla="*/ 309561 h 1884679"/>
                <a:gd name="connsiteX41" fmla="*/ 825499 w 1571625"/>
                <a:gd name="connsiteY41" fmla="*/ 308767 h 1884679"/>
                <a:gd name="connsiteX42" fmla="*/ 843755 w 1571625"/>
                <a:gd name="connsiteY42" fmla="*/ 307179 h 1884679"/>
                <a:gd name="connsiteX43" fmla="*/ 861218 w 1571625"/>
                <a:gd name="connsiteY43" fmla="*/ 304003 h 1884679"/>
                <a:gd name="connsiteX44" fmla="*/ 877887 w 1571625"/>
                <a:gd name="connsiteY44" fmla="*/ 297650 h 1884679"/>
                <a:gd name="connsiteX45" fmla="*/ 894555 w 1571625"/>
                <a:gd name="connsiteY45" fmla="*/ 292091 h 1884679"/>
                <a:gd name="connsiteX46" fmla="*/ 908843 w 1571625"/>
                <a:gd name="connsiteY46" fmla="*/ 284945 h 1884679"/>
                <a:gd name="connsiteX47" fmla="*/ 923130 w 1571625"/>
                <a:gd name="connsiteY47" fmla="*/ 276210 h 1884679"/>
                <a:gd name="connsiteX48" fmla="*/ 935830 w 1571625"/>
                <a:gd name="connsiteY48" fmla="*/ 266681 h 1884679"/>
                <a:gd name="connsiteX49" fmla="*/ 947737 w 1571625"/>
                <a:gd name="connsiteY49" fmla="*/ 256358 h 1884679"/>
                <a:gd name="connsiteX50" fmla="*/ 958849 w 1571625"/>
                <a:gd name="connsiteY50" fmla="*/ 246034 h 1884679"/>
                <a:gd name="connsiteX51" fmla="*/ 966787 w 1571625"/>
                <a:gd name="connsiteY51" fmla="*/ 234123 h 1884679"/>
                <a:gd name="connsiteX52" fmla="*/ 975518 w 1571625"/>
                <a:gd name="connsiteY52" fmla="*/ 220624 h 1884679"/>
                <a:gd name="connsiteX53" fmla="*/ 981074 w 1571625"/>
                <a:gd name="connsiteY53" fmla="*/ 206330 h 1884679"/>
                <a:gd name="connsiteX54" fmla="*/ 985837 w 1571625"/>
                <a:gd name="connsiteY54" fmla="*/ 193625 h 1884679"/>
                <a:gd name="connsiteX55" fmla="*/ 988218 w 1571625"/>
                <a:gd name="connsiteY55" fmla="*/ 177743 h 1884679"/>
                <a:gd name="connsiteX56" fmla="*/ 989805 w 1571625"/>
                <a:gd name="connsiteY56" fmla="*/ 163450 h 1884679"/>
                <a:gd name="connsiteX57" fmla="*/ 989537 w 1571625"/>
                <a:gd name="connsiteY57" fmla="*/ 161301 h 1884679"/>
                <a:gd name="connsiteX58" fmla="*/ 990307 w 1571625"/>
                <a:gd name="connsiteY58" fmla="*/ 153988 h 1884679"/>
                <a:gd name="connsiteX59" fmla="*/ 988718 w 1571625"/>
                <a:gd name="connsiteY59" fmla="*/ 141288 h 1884679"/>
                <a:gd name="connsiteX60" fmla="*/ 987924 w 1571625"/>
                <a:gd name="connsiteY60" fmla="*/ 129381 h 1884679"/>
                <a:gd name="connsiteX61" fmla="*/ 983953 w 1571625"/>
                <a:gd name="connsiteY61" fmla="*/ 118269 h 1884679"/>
                <a:gd name="connsiteX62" fmla="*/ 980777 w 1571625"/>
                <a:gd name="connsiteY62" fmla="*/ 107950 h 1884679"/>
                <a:gd name="connsiteX63" fmla="*/ 976012 w 1571625"/>
                <a:gd name="connsiteY63" fmla="*/ 99219 h 1884679"/>
                <a:gd name="connsiteX64" fmla="*/ 969659 w 1571625"/>
                <a:gd name="connsiteY64" fmla="*/ 89694 h 1884679"/>
                <a:gd name="connsiteX65" fmla="*/ 964100 w 1571625"/>
                <a:gd name="connsiteY65" fmla="*/ 82550 h 1884679"/>
                <a:gd name="connsiteX66" fmla="*/ 957746 w 1571625"/>
                <a:gd name="connsiteY66" fmla="*/ 75406 h 1884679"/>
                <a:gd name="connsiteX67" fmla="*/ 945834 w 1571625"/>
                <a:gd name="connsiteY67" fmla="*/ 65088 h 1884679"/>
                <a:gd name="connsiteX68" fmla="*/ 936304 w 1571625"/>
                <a:gd name="connsiteY68" fmla="*/ 57944 h 1884679"/>
                <a:gd name="connsiteX69" fmla="*/ 925980 w 1571625"/>
                <a:gd name="connsiteY69" fmla="*/ 51594 h 1884679"/>
                <a:gd name="connsiteX70" fmla="*/ 914862 w 1571625"/>
                <a:gd name="connsiteY70" fmla="*/ 46038 h 1884679"/>
                <a:gd name="connsiteX71" fmla="*/ 906921 w 1571625"/>
                <a:gd name="connsiteY71" fmla="*/ 39688 h 1884679"/>
                <a:gd name="connsiteX72" fmla="*/ 900567 w 1571625"/>
                <a:gd name="connsiteY72" fmla="*/ 33338 h 1884679"/>
                <a:gd name="connsiteX73" fmla="*/ 895803 w 1571625"/>
                <a:gd name="connsiteY73" fmla="*/ 26194 h 1884679"/>
                <a:gd name="connsiteX74" fmla="*/ 893438 w 1571625"/>
                <a:gd name="connsiteY74" fmla="*/ 19104 h 1884679"/>
                <a:gd name="connsiteX75" fmla="*/ 894555 w 1571625"/>
                <a:gd name="connsiteY75" fmla="*/ 15750 h 1884679"/>
                <a:gd name="connsiteX76" fmla="*/ 896937 w 1571625"/>
                <a:gd name="connsiteY76" fmla="*/ 10986 h 1884679"/>
                <a:gd name="connsiteX77" fmla="*/ 900112 w 1571625"/>
                <a:gd name="connsiteY77" fmla="*/ 7015 h 1884679"/>
                <a:gd name="connsiteX78" fmla="*/ 904874 w 1571625"/>
                <a:gd name="connsiteY78" fmla="*/ 3839 h 1884679"/>
                <a:gd name="connsiteX79" fmla="*/ 911013 w 1571625"/>
                <a:gd name="connsiteY79" fmla="*/ 0 h 1884679"/>
                <a:gd name="connsiteX80" fmla="*/ 1571625 w 1571625"/>
                <a:gd name="connsiteY80" fmla="*/ 0 h 1884679"/>
                <a:gd name="connsiteX81" fmla="*/ 1571625 w 1571625"/>
                <a:gd name="connsiteY81" fmla="*/ 686743 h 1884679"/>
                <a:gd name="connsiteX82" fmla="*/ 1570671 w 1571625"/>
                <a:gd name="connsiteY82" fmla="*/ 690561 h 1884679"/>
                <a:gd name="connsiteX83" fmla="*/ 1568290 w 1571625"/>
                <a:gd name="connsiteY83" fmla="*/ 697705 h 1884679"/>
                <a:gd name="connsiteX84" fmla="*/ 1565116 w 1571625"/>
                <a:gd name="connsiteY84" fmla="*/ 704055 h 1884679"/>
                <a:gd name="connsiteX85" fmla="*/ 1560356 w 1571625"/>
                <a:gd name="connsiteY85" fmla="*/ 709611 h 1884679"/>
                <a:gd name="connsiteX86" fmla="*/ 1553214 w 1571625"/>
                <a:gd name="connsiteY86" fmla="*/ 713580 h 1884679"/>
                <a:gd name="connsiteX87" fmla="*/ 1546073 w 1571625"/>
                <a:gd name="connsiteY87" fmla="*/ 713580 h 1884679"/>
                <a:gd name="connsiteX88" fmla="*/ 1538139 w 1571625"/>
                <a:gd name="connsiteY88" fmla="*/ 711992 h 1884679"/>
                <a:gd name="connsiteX89" fmla="*/ 1530997 w 1571625"/>
                <a:gd name="connsiteY89" fmla="*/ 708817 h 1884679"/>
                <a:gd name="connsiteX90" fmla="*/ 1522269 w 1571625"/>
                <a:gd name="connsiteY90" fmla="*/ 701674 h 1884679"/>
                <a:gd name="connsiteX91" fmla="*/ 1518968 w 1571625"/>
                <a:gd name="connsiteY91" fmla="*/ 697637 h 1884679"/>
                <a:gd name="connsiteX92" fmla="*/ 1516035 w 1571625"/>
                <a:gd name="connsiteY92" fmla="*/ 691356 h 1884679"/>
                <a:gd name="connsiteX93" fmla="*/ 1510559 w 1571625"/>
                <a:gd name="connsiteY93" fmla="*/ 683146 h 1884679"/>
                <a:gd name="connsiteX94" fmla="*/ 1509574 w 1571625"/>
                <a:gd name="connsiteY94" fmla="*/ 681036 h 1884679"/>
                <a:gd name="connsiteX95" fmla="*/ 1503226 w 1571625"/>
                <a:gd name="connsiteY95" fmla="*/ 670717 h 1884679"/>
                <a:gd name="connsiteX96" fmla="*/ 1495292 w 1571625"/>
                <a:gd name="connsiteY96" fmla="*/ 661192 h 1884679"/>
                <a:gd name="connsiteX97" fmla="*/ 1484183 w 1571625"/>
                <a:gd name="connsiteY97" fmla="*/ 649286 h 1884679"/>
                <a:gd name="connsiteX98" fmla="*/ 1477042 w 1571625"/>
                <a:gd name="connsiteY98" fmla="*/ 642936 h 1884679"/>
                <a:gd name="connsiteX99" fmla="*/ 1469901 w 1571625"/>
                <a:gd name="connsiteY99" fmla="*/ 637380 h 1884679"/>
                <a:gd name="connsiteX100" fmla="*/ 1461966 w 1571625"/>
                <a:gd name="connsiteY100" fmla="*/ 632617 h 1884679"/>
                <a:gd name="connsiteX101" fmla="*/ 1452444 w 1571625"/>
                <a:gd name="connsiteY101" fmla="*/ 627855 h 1884679"/>
                <a:gd name="connsiteX102" fmla="*/ 1442923 w 1571625"/>
                <a:gd name="connsiteY102" fmla="*/ 623092 h 1884679"/>
                <a:gd name="connsiteX103" fmla="*/ 1431021 w 1571625"/>
                <a:gd name="connsiteY103" fmla="*/ 619124 h 1884679"/>
                <a:gd name="connsiteX104" fmla="*/ 1419119 w 1571625"/>
                <a:gd name="connsiteY104" fmla="*/ 618330 h 1884679"/>
                <a:gd name="connsiteX105" fmla="*/ 1406424 w 1571625"/>
                <a:gd name="connsiteY105" fmla="*/ 616742 h 1884679"/>
                <a:gd name="connsiteX106" fmla="*/ 1392141 w 1571625"/>
                <a:gd name="connsiteY106" fmla="*/ 618330 h 1884679"/>
                <a:gd name="connsiteX107" fmla="*/ 1376272 w 1571625"/>
                <a:gd name="connsiteY107" fmla="*/ 620711 h 1884679"/>
                <a:gd name="connsiteX108" fmla="*/ 1361990 w 1571625"/>
                <a:gd name="connsiteY108" fmla="*/ 625474 h 1884679"/>
                <a:gd name="connsiteX109" fmla="*/ 1349294 w 1571625"/>
                <a:gd name="connsiteY109" fmla="*/ 631030 h 1884679"/>
                <a:gd name="connsiteX110" fmla="*/ 1335805 w 1571625"/>
                <a:gd name="connsiteY110" fmla="*/ 639761 h 1884679"/>
                <a:gd name="connsiteX111" fmla="*/ 1324697 w 1571625"/>
                <a:gd name="connsiteY111" fmla="*/ 647699 h 1884679"/>
                <a:gd name="connsiteX112" fmla="*/ 1313588 w 1571625"/>
                <a:gd name="connsiteY112" fmla="*/ 658811 h 1884679"/>
                <a:gd name="connsiteX113" fmla="*/ 1303273 w 1571625"/>
                <a:gd name="connsiteY113" fmla="*/ 670717 h 1884679"/>
                <a:gd name="connsiteX114" fmla="*/ 1293752 w 1571625"/>
                <a:gd name="connsiteY114" fmla="*/ 683417 h 1884679"/>
                <a:gd name="connsiteX115" fmla="*/ 1285024 w 1571625"/>
                <a:gd name="connsiteY115" fmla="*/ 697705 h 1884679"/>
                <a:gd name="connsiteX116" fmla="*/ 1277882 w 1571625"/>
                <a:gd name="connsiteY116" fmla="*/ 711992 h 1884679"/>
                <a:gd name="connsiteX117" fmla="*/ 1272328 w 1571625"/>
                <a:gd name="connsiteY117" fmla="*/ 728661 h 1884679"/>
                <a:gd name="connsiteX118" fmla="*/ 1265980 w 1571625"/>
                <a:gd name="connsiteY118" fmla="*/ 745330 h 1884679"/>
                <a:gd name="connsiteX119" fmla="*/ 1262807 w 1571625"/>
                <a:gd name="connsiteY119" fmla="*/ 762792 h 1884679"/>
                <a:gd name="connsiteX120" fmla="*/ 1261220 w 1571625"/>
                <a:gd name="connsiteY120" fmla="*/ 781049 h 1884679"/>
                <a:gd name="connsiteX121" fmla="*/ 1260426 w 1571625"/>
                <a:gd name="connsiteY121" fmla="*/ 800099 h 1884679"/>
                <a:gd name="connsiteX122" fmla="*/ 1261220 w 1571625"/>
                <a:gd name="connsiteY122" fmla="*/ 817561 h 1884679"/>
                <a:gd name="connsiteX123" fmla="*/ 1262807 w 1571625"/>
                <a:gd name="connsiteY123" fmla="*/ 836611 h 1884679"/>
                <a:gd name="connsiteX124" fmla="*/ 1265980 w 1571625"/>
                <a:gd name="connsiteY124" fmla="*/ 853280 h 1884679"/>
                <a:gd name="connsiteX125" fmla="*/ 1272328 w 1571625"/>
                <a:gd name="connsiteY125" fmla="*/ 869949 h 1884679"/>
                <a:gd name="connsiteX126" fmla="*/ 1277882 w 1571625"/>
                <a:gd name="connsiteY126" fmla="*/ 886617 h 1884679"/>
                <a:gd name="connsiteX127" fmla="*/ 1285024 w 1571625"/>
                <a:gd name="connsiteY127" fmla="*/ 900905 h 1884679"/>
                <a:gd name="connsiteX128" fmla="*/ 1289478 w 1571625"/>
                <a:gd name="connsiteY128" fmla="*/ 908196 h 1884679"/>
                <a:gd name="connsiteX129" fmla="*/ 1291290 w 1571625"/>
                <a:gd name="connsiteY129" fmla="*/ 912019 h 1884679"/>
                <a:gd name="connsiteX130" fmla="*/ 1300026 w 1571625"/>
                <a:gd name="connsiteY130" fmla="*/ 925512 h 1884679"/>
                <a:gd name="connsiteX131" fmla="*/ 1309555 w 1571625"/>
                <a:gd name="connsiteY131" fmla="*/ 938212 h 1884679"/>
                <a:gd name="connsiteX132" fmla="*/ 1319879 w 1571625"/>
                <a:gd name="connsiteY132" fmla="*/ 950119 h 1884679"/>
                <a:gd name="connsiteX133" fmla="*/ 1330997 w 1571625"/>
                <a:gd name="connsiteY133" fmla="*/ 961231 h 1884679"/>
                <a:gd name="connsiteX134" fmla="*/ 1342116 w 1571625"/>
                <a:gd name="connsiteY134" fmla="*/ 969962 h 1884679"/>
                <a:gd name="connsiteX135" fmla="*/ 1355616 w 1571625"/>
                <a:gd name="connsiteY135" fmla="*/ 977106 h 1884679"/>
                <a:gd name="connsiteX136" fmla="*/ 1368323 w 1571625"/>
                <a:gd name="connsiteY136" fmla="*/ 983456 h 1884679"/>
                <a:gd name="connsiteX137" fmla="*/ 1382617 w 1571625"/>
                <a:gd name="connsiteY137" fmla="*/ 988219 h 1884679"/>
                <a:gd name="connsiteX138" fmla="*/ 1396912 w 1571625"/>
                <a:gd name="connsiteY138" fmla="*/ 990600 h 1884679"/>
                <a:gd name="connsiteX139" fmla="*/ 1412795 w 1571625"/>
                <a:gd name="connsiteY139" fmla="*/ 991394 h 1884679"/>
                <a:gd name="connsiteX140" fmla="*/ 1425501 w 1571625"/>
                <a:gd name="connsiteY140" fmla="*/ 991394 h 1884679"/>
                <a:gd name="connsiteX141" fmla="*/ 1437414 w 1571625"/>
                <a:gd name="connsiteY141" fmla="*/ 989012 h 1884679"/>
                <a:gd name="connsiteX142" fmla="*/ 1449326 w 1571625"/>
                <a:gd name="connsiteY142" fmla="*/ 985837 h 1884679"/>
                <a:gd name="connsiteX143" fmla="*/ 1458856 w 1571625"/>
                <a:gd name="connsiteY143" fmla="*/ 981869 h 1884679"/>
                <a:gd name="connsiteX144" fmla="*/ 1468386 w 1571625"/>
                <a:gd name="connsiteY144" fmla="*/ 977106 h 1884679"/>
                <a:gd name="connsiteX145" fmla="*/ 1476327 w 1571625"/>
                <a:gd name="connsiteY145" fmla="*/ 971550 h 1884679"/>
                <a:gd name="connsiteX146" fmla="*/ 1483474 w 1571625"/>
                <a:gd name="connsiteY146" fmla="*/ 965200 h 1884679"/>
                <a:gd name="connsiteX147" fmla="*/ 1490622 w 1571625"/>
                <a:gd name="connsiteY147" fmla="*/ 959644 h 1884679"/>
                <a:gd name="connsiteX148" fmla="*/ 1501740 w 1571625"/>
                <a:gd name="connsiteY148" fmla="*/ 949325 h 1884679"/>
                <a:gd name="connsiteX149" fmla="*/ 1509681 w 1571625"/>
                <a:gd name="connsiteY149" fmla="*/ 938212 h 1884679"/>
                <a:gd name="connsiteX150" fmla="*/ 1516035 w 1571625"/>
                <a:gd name="connsiteY150" fmla="*/ 928687 h 1884679"/>
                <a:gd name="connsiteX151" fmla="*/ 1521594 w 1571625"/>
                <a:gd name="connsiteY151" fmla="*/ 916781 h 1884679"/>
                <a:gd name="connsiteX152" fmla="*/ 1528741 w 1571625"/>
                <a:gd name="connsiteY152" fmla="*/ 907256 h 1884679"/>
                <a:gd name="connsiteX153" fmla="*/ 1537477 w 1571625"/>
                <a:gd name="connsiteY153" fmla="*/ 901700 h 1884679"/>
                <a:gd name="connsiteX154" fmla="*/ 1544624 w 1571625"/>
                <a:gd name="connsiteY154" fmla="*/ 896937 h 1884679"/>
                <a:gd name="connsiteX155" fmla="*/ 1552566 w 1571625"/>
                <a:gd name="connsiteY155" fmla="*/ 895350 h 1884679"/>
                <a:gd name="connsiteX156" fmla="*/ 1559713 w 1571625"/>
                <a:gd name="connsiteY156" fmla="*/ 896937 h 1884679"/>
                <a:gd name="connsiteX157" fmla="*/ 1566066 w 1571625"/>
                <a:gd name="connsiteY157" fmla="*/ 900112 h 1884679"/>
                <a:gd name="connsiteX158" fmla="*/ 1569231 w 1571625"/>
                <a:gd name="connsiteY158" fmla="*/ 903727 h 1884679"/>
                <a:gd name="connsiteX159" fmla="*/ 1570671 w 1571625"/>
                <a:gd name="connsiteY159" fmla="*/ 908049 h 1884679"/>
                <a:gd name="connsiteX160" fmla="*/ 1571625 w 1571625"/>
                <a:gd name="connsiteY160" fmla="*/ 911867 h 1884679"/>
                <a:gd name="connsiteX161" fmla="*/ 1571625 w 1571625"/>
                <a:gd name="connsiteY161" fmla="*/ 1573212 h 1884679"/>
                <a:gd name="connsiteX162" fmla="*/ 1571492 w 1571625"/>
                <a:gd name="connsiteY162" fmla="*/ 1573212 h 1884679"/>
                <a:gd name="connsiteX163" fmla="*/ 1571492 w 1571625"/>
                <a:gd name="connsiteY163" fmla="*/ 1570036 h 1884679"/>
                <a:gd name="connsiteX164" fmla="*/ 935431 w 1571625"/>
                <a:gd name="connsiteY164" fmla="*/ 1570036 h 1884679"/>
                <a:gd name="connsiteX165" fmla="*/ 925902 w 1571625"/>
                <a:gd name="connsiteY165" fmla="*/ 1570831 h 1884679"/>
                <a:gd name="connsiteX166" fmla="*/ 917167 w 1571625"/>
                <a:gd name="connsiteY166" fmla="*/ 1572420 h 1884679"/>
                <a:gd name="connsiteX167" fmla="*/ 910020 w 1571625"/>
                <a:gd name="connsiteY167" fmla="*/ 1574804 h 1884679"/>
                <a:gd name="connsiteX168" fmla="*/ 905256 w 1571625"/>
                <a:gd name="connsiteY168" fmla="*/ 1577187 h 1884679"/>
                <a:gd name="connsiteX169" fmla="*/ 900491 w 1571625"/>
                <a:gd name="connsiteY169" fmla="*/ 1580365 h 1884679"/>
                <a:gd name="connsiteX170" fmla="*/ 897315 w 1571625"/>
                <a:gd name="connsiteY170" fmla="*/ 1585133 h 1884679"/>
                <a:gd name="connsiteX171" fmla="*/ 894933 w 1571625"/>
                <a:gd name="connsiteY171" fmla="*/ 1589900 h 1884679"/>
                <a:gd name="connsiteX172" fmla="*/ 893344 w 1571625"/>
                <a:gd name="connsiteY172" fmla="*/ 1594667 h 1884679"/>
                <a:gd name="connsiteX173" fmla="*/ 893344 w 1571625"/>
                <a:gd name="connsiteY173" fmla="*/ 1599435 h 1884679"/>
                <a:gd name="connsiteX174" fmla="*/ 893344 w 1571625"/>
                <a:gd name="connsiteY174" fmla="*/ 1604202 h 1884679"/>
                <a:gd name="connsiteX175" fmla="*/ 893420 w 1571625"/>
                <a:gd name="connsiteY175" fmla="*/ 1604405 h 1884679"/>
                <a:gd name="connsiteX176" fmla="*/ 893420 w 1571625"/>
                <a:gd name="connsiteY176" fmla="*/ 1607344 h 1884679"/>
                <a:gd name="connsiteX177" fmla="*/ 895803 w 1571625"/>
                <a:gd name="connsiteY177" fmla="*/ 1613694 h 1884679"/>
                <a:gd name="connsiteX178" fmla="*/ 899773 w 1571625"/>
                <a:gd name="connsiteY178" fmla="*/ 1618456 h 1884679"/>
                <a:gd name="connsiteX179" fmla="*/ 904538 w 1571625"/>
                <a:gd name="connsiteY179" fmla="*/ 1624012 h 1884679"/>
                <a:gd name="connsiteX180" fmla="*/ 910097 w 1571625"/>
                <a:gd name="connsiteY180" fmla="*/ 1628775 h 1884679"/>
                <a:gd name="connsiteX181" fmla="*/ 917245 w 1571625"/>
                <a:gd name="connsiteY181" fmla="*/ 1633537 h 1884679"/>
                <a:gd name="connsiteX182" fmla="*/ 925980 w 1571625"/>
                <a:gd name="connsiteY182" fmla="*/ 1638300 h 1884679"/>
                <a:gd name="connsiteX183" fmla="*/ 935510 w 1571625"/>
                <a:gd name="connsiteY183" fmla="*/ 1644650 h 1884679"/>
                <a:gd name="connsiteX184" fmla="*/ 945834 w 1571625"/>
                <a:gd name="connsiteY184" fmla="*/ 1651793 h 1884679"/>
                <a:gd name="connsiteX185" fmla="*/ 957746 w 1571625"/>
                <a:gd name="connsiteY185" fmla="*/ 1662906 h 1884679"/>
                <a:gd name="connsiteX186" fmla="*/ 964100 w 1571625"/>
                <a:gd name="connsiteY186" fmla="*/ 1669256 h 1884679"/>
                <a:gd name="connsiteX187" fmla="*/ 969659 w 1571625"/>
                <a:gd name="connsiteY187" fmla="*/ 1677193 h 1884679"/>
                <a:gd name="connsiteX188" fmla="*/ 974424 w 1571625"/>
                <a:gd name="connsiteY188" fmla="*/ 1685925 h 1884679"/>
                <a:gd name="connsiteX189" fmla="*/ 979188 w 1571625"/>
                <a:gd name="connsiteY189" fmla="*/ 1693862 h 1884679"/>
                <a:gd name="connsiteX190" fmla="*/ 983953 w 1571625"/>
                <a:gd name="connsiteY190" fmla="*/ 1704975 h 1884679"/>
                <a:gd name="connsiteX191" fmla="*/ 986336 w 1571625"/>
                <a:gd name="connsiteY191" fmla="*/ 1715293 h 1884679"/>
                <a:gd name="connsiteX192" fmla="*/ 988718 w 1571625"/>
                <a:gd name="connsiteY192" fmla="*/ 1728787 h 1884679"/>
                <a:gd name="connsiteX193" fmla="*/ 990127 w 1571625"/>
                <a:gd name="connsiteY193" fmla="*/ 1739345 h 1884679"/>
                <a:gd name="connsiteX194" fmla="*/ 988634 w 1571625"/>
                <a:gd name="connsiteY194" fmla="*/ 1752784 h 1884679"/>
                <a:gd name="connsiteX195" fmla="*/ 986252 w 1571625"/>
                <a:gd name="connsiteY195" fmla="*/ 1767086 h 1884679"/>
                <a:gd name="connsiteX196" fmla="*/ 981488 w 1571625"/>
                <a:gd name="connsiteY196" fmla="*/ 1781388 h 1884679"/>
                <a:gd name="connsiteX197" fmla="*/ 975929 w 1571625"/>
                <a:gd name="connsiteY197" fmla="*/ 1794100 h 1884679"/>
                <a:gd name="connsiteX198" fmla="*/ 967194 w 1571625"/>
                <a:gd name="connsiteY198" fmla="*/ 1807608 h 1884679"/>
                <a:gd name="connsiteX199" fmla="*/ 957665 w 1571625"/>
                <a:gd name="connsiteY199" fmla="*/ 1819526 h 1884679"/>
                <a:gd name="connsiteX200" fmla="*/ 948136 w 1571625"/>
                <a:gd name="connsiteY200" fmla="*/ 1831444 h 1884679"/>
                <a:gd name="connsiteX201" fmla="*/ 936225 w 1571625"/>
                <a:gd name="connsiteY201" fmla="*/ 1841774 h 1884679"/>
                <a:gd name="connsiteX202" fmla="*/ 923520 w 1571625"/>
                <a:gd name="connsiteY202" fmla="*/ 1851308 h 1884679"/>
                <a:gd name="connsiteX203" fmla="*/ 909226 w 1571625"/>
                <a:gd name="connsiteY203" fmla="*/ 1860048 h 1884679"/>
                <a:gd name="connsiteX204" fmla="*/ 893344 w 1571625"/>
                <a:gd name="connsiteY204" fmla="*/ 1867199 h 1884679"/>
                <a:gd name="connsiteX205" fmla="*/ 878257 w 1571625"/>
                <a:gd name="connsiteY205" fmla="*/ 1872761 h 1884679"/>
                <a:gd name="connsiteX206" fmla="*/ 861581 w 1571625"/>
                <a:gd name="connsiteY206" fmla="*/ 1877528 h 1884679"/>
                <a:gd name="connsiteX207" fmla="*/ 844111 w 1571625"/>
                <a:gd name="connsiteY207" fmla="*/ 1880707 h 1884679"/>
                <a:gd name="connsiteX208" fmla="*/ 825847 w 1571625"/>
                <a:gd name="connsiteY208" fmla="*/ 1883090 h 1884679"/>
                <a:gd name="connsiteX209" fmla="*/ 806789 w 1571625"/>
                <a:gd name="connsiteY209" fmla="*/ 1884679 h 1884679"/>
                <a:gd name="connsiteX210" fmla="*/ 789319 w 1571625"/>
                <a:gd name="connsiteY210" fmla="*/ 1883090 h 1884679"/>
                <a:gd name="connsiteX211" fmla="*/ 770261 w 1571625"/>
                <a:gd name="connsiteY211" fmla="*/ 1880707 h 1884679"/>
                <a:gd name="connsiteX212" fmla="*/ 753586 w 1571625"/>
                <a:gd name="connsiteY212" fmla="*/ 1877528 h 1884679"/>
                <a:gd name="connsiteX213" fmla="*/ 736910 w 1571625"/>
                <a:gd name="connsiteY213" fmla="*/ 1872761 h 1884679"/>
                <a:gd name="connsiteX214" fmla="*/ 720234 w 1571625"/>
                <a:gd name="connsiteY214" fmla="*/ 1867199 h 1884679"/>
                <a:gd name="connsiteX215" fmla="*/ 705146 w 1571625"/>
                <a:gd name="connsiteY215" fmla="*/ 1860048 h 1884679"/>
                <a:gd name="connsiteX216" fmla="*/ 691647 w 1571625"/>
                <a:gd name="connsiteY216" fmla="*/ 1851308 h 1884679"/>
                <a:gd name="connsiteX217" fmla="*/ 678942 w 1571625"/>
                <a:gd name="connsiteY217" fmla="*/ 1841774 h 1884679"/>
                <a:gd name="connsiteX218" fmla="*/ 667030 w 1571625"/>
                <a:gd name="connsiteY218" fmla="*/ 1831444 h 1884679"/>
                <a:gd name="connsiteX219" fmla="*/ 656707 w 1571625"/>
                <a:gd name="connsiteY219" fmla="*/ 1819526 h 1884679"/>
                <a:gd name="connsiteX220" fmla="*/ 647178 w 1571625"/>
                <a:gd name="connsiteY220" fmla="*/ 1807608 h 1884679"/>
                <a:gd name="connsiteX221" fmla="*/ 640032 w 1571625"/>
                <a:gd name="connsiteY221" fmla="*/ 1794100 h 1884679"/>
                <a:gd name="connsiteX222" fmla="*/ 633679 w 1571625"/>
                <a:gd name="connsiteY222" fmla="*/ 1781388 h 1884679"/>
                <a:gd name="connsiteX223" fmla="*/ 628914 w 1571625"/>
                <a:gd name="connsiteY223" fmla="*/ 1767086 h 1884679"/>
                <a:gd name="connsiteX224" fmla="*/ 626532 w 1571625"/>
                <a:gd name="connsiteY224" fmla="*/ 1752784 h 1884679"/>
                <a:gd name="connsiteX225" fmla="*/ 625791 w 1571625"/>
                <a:gd name="connsiteY225" fmla="*/ 1739437 h 1884679"/>
                <a:gd name="connsiteX226" fmla="*/ 625791 w 1571625"/>
                <a:gd name="connsiteY226" fmla="*/ 1728787 h 1884679"/>
                <a:gd name="connsiteX227" fmla="*/ 628174 w 1571625"/>
                <a:gd name="connsiteY227" fmla="*/ 1715293 h 1884679"/>
                <a:gd name="connsiteX228" fmla="*/ 631350 w 1571625"/>
                <a:gd name="connsiteY228" fmla="*/ 1704975 h 1884679"/>
                <a:gd name="connsiteX229" fmla="*/ 635321 w 1571625"/>
                <a:gd name="connsiteY229" fmla="*/ 1693862 h 1884679"/>
                <a:gd name="connsiteX230" fmla="*/ 640086 w 1571625"/>
                <a:gd name="connsiteY230" fmla="*/ 1685925 h 1884679"/>
                <a:gd name="connsiteX231" fmla="*/ 645645 w 1571625"/>
                <a:gd name="connsiteY231" fmla="*/ 1677193 h 1884679"/>
                <a:gd name="connsiteX232" fmla="*/ 651998 w 1571625"/>
                <a:gd name="connsiteY232" fmla="*/ 1669256 h 1884679"/>
                <a:gd name="connsiteX233" fmla="*/ 657557 w 1571625"/>
                <a:gd name="connsiteY233" fmla="*/ 1662906 h 1884679"/>
                <a:gd name="connsiteX234" fmla="*/ 669470 w 1571625"/>
                <a:gd name="connsiteY234" fmla="*/ 1651793 h 1884679"/>
                <a:gd name="connsiteX235" fmla="*/ 678999 w 1571625"/>
                <a:gd name="connsiteY235" fmla="*/ 1644650 h 1884679"/>
                <a:gd name="connsiteX236" fmla="*/ 689323 w 1571625"/>
                <a:gd name="connsiteY236" fmla="*/ 1638300 h 1884679"/>
                <a:gd name="connsiteX237" fmla="*/ 696471 w 1571625"/>
                <a:gd name="connsiteY237" fmla="*/ 1633537 h 1884679"/>
                <a:gd name="connsiteX238" fmla="*/ 703618 w 1571625"/>
                <a:gd name="connsiteY238" fmla="*/ 1628775 h 1884679"/>
                <a:gd name="connsiteX239" fmla="*/ 709971 w 1571625"/>
                <a:gd name="connsiteY239" fmla="*/ 1624012 h 1884679"/>
                <a:gd name="connsiteX240" fmla="*/ 714736 w 1571625"/>
                <a:gd name="connsiteY240" fmla="*/ 1618456 h 1884679"/>
                <a:gd name="connsiteX241" fmla="*/ 717913 w 1571625"/>
                <a:gd name="connsiteY241" fmla="*/ 1613694 h 1884679"/>
                <a:gd name="connsiteX242" fmla="*/ 720295 w 1571625"/>
                <a:gd name="connsiteY242" fmla="*/ 1607344 h 1884679"/>
                <a:gd name="connsiteX243" fmla="*/ 721883 w 1571625"/>
                <a:gd name="connsiteY243" fmla="*/ 1602581 h 1884679"/>
                <a:gd name="connsiteX244" fmla="*/ 721883 w 1571625"/>
                <a:gd name="connsiteY244" fmla="*/ 1597819 h 1884679"/>
                <a:gd name="connsiteX245" fmla="*/ 721822 w 1571625"/>
                <a:gd name="connsiteY245" fmla="*/ 1597606 h 1884679"/>
                <a:gd name="connsiteX246" fmla="*/ 721822 w 1571625"/>
                <a:gd name="connsiteY246" fmla="*/ 1594667 h 1884679"/>
                <a:gd name="connsiteX247" fmla="*/ 720234 w 1571625"/>
                <a:gd name="connsiteY247" fmla="*/ 1589900 h 1884679"/>
                <a:gd name="connsiteX248" fmla="*/ 717852 w 1571625"/>
                <a:gd name="connsiteY248" fmla="*/ 1585133 h 1884679"/>
                <a:gd name="connsiteX249" fmla="*/ 714676 w 1571625"/>
                <a:gd name="connsiteY249" fmla="*/ 1580365 h 1884679"/>
                <a:gd name="connsiteX250" fmla="*/ 709911 w 1571625"/>
                <a:gd name="connsiteY250" fmla="*/ 1577187 h 1884679"/>
                <a:gd name="connsiteX251" fmla="*/ 703558 w 1571625"/>
                <a:gd name="connsiteY251" fmla="*/ 1574804 h 1884679"/>
                <a:gd name="connsiteX252" fmla="*/ 696412 w 1571625"/>
                <a:gd name="connsiteY252" fmla="*/ 1572420 h 1884679"/>
                <a:gd name="connsiteX253" fmla="*/ 688471 w 1571625"/>
                <a:gd name="connsiteY253" fmla="*/ 1570831 h 1884679"/>
                <a:gd name="connsiteX254" fmla="*/ 679736 w 1571625"/>
                <a:gd name="connsiteY254" fmla="*/ 1570036 h 1884679"/>
                <a:gd name="connsiteX255" fmla="*/ 0 w 1571625"/>
                <a:gd name="connsiteY255" fmla="*/ 1570036 h 1884679"/>
                <a:gd name="connsiteX256" fmla="*/ 0 w 1571625"/>
                <a:gd name="connsiteY256" fmla="*/ 0 h 188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571625" h="1884679">
                  <a:moveTo>
                    <a:pt x="0" y="0"/>
                  </a:moveTo>
                  <a:lnTo>
                    <a:pt x="703473" y="0"/>
                  </a:lnTo>
                  <a:lnTo>
                    <a:pt x="709612" y="3839"/>
                  </a:lnTo>
                  <a:lnTo>
                    <a:pt x="714374" y="7015"/>
                  </a:lnTo>
                  <a:lnTo>
                    <a:pt x="717549" y="10986"/>
                  </a:lnTo>
                  <a:lnTo>
                    <a:pt x="719930" y="15750"/>
                  </a:lnTo>
                  <a:lnTo>
                    <a:pt x="721456" y="20330"/>
                  </a:lnTo>
                  <a:lnTo>
                    <a:pt x="719501" y="26194"/>
                  </a:lnTo>
                  <a:lnTo>
                    <a:pt x="714736" y="33338"/>
                  </a:lnTo>
                  <a:lnTo>
                    <a:pt x="708383" y="39688"/>
                  </a:lnTo>
                  <a:lnTo>
                    <a:pt x="700441" y="46038"/>
                  </a:lnTo>
                  <a:lnTo>
                    <a:pt x="689323" y="51594"/>
                  </a:lnTo>
                  <a:lnTo>
                    <a:pt x="678999" y="57944"/>
                  </a:lnTo>
                  <a:lnTo>
                    <a:pt x="669470" y="65088"/>
                  </a:lnTo>
                  <a:lnTo>
                    <a:pt x="657557" y="75406"/>
                  </a:lnTo>
                  <a:lnTo>
                    <a:pt x="651998" y="82550"/>
                  </a:lnTo>
                  <a:lnTo>
                    <a:pt x="645645" y="89694"/>
                  </a:lnTo>
                  <a:lnTo>
                    <a:pt x="640880" y="99219"/>
                  </a:lnTo>
                  <a:lnTo>
                    <a:pt x="635321" y="107950"/>
                  </a:lnTo>
                  <a:lnTo>
                    <a:pt x="631350" y="118269"/>
                  </a:lnTo>
                  <a:lnTo>
                    <a:pt x="628174" y="129381"/>
                  </a:lnTo>
                  <a:lnTo>
                    <a:pt x="626585" y="141288"/>
                  </a:lnTo>
                  <a:lnTo>
                    <a:pt x="625791" y="153988"/>
                  </a:lnTo>
                  <a:lnTo>
                    <a:pt x="625917" y="156370"/>
                  </a:lnTo>
                  <a:lnTo>
                    <a:pt x="625474" y="163450"/>
                  </a:lnTo>
                  <a:lnTo>
                    <a:pt x="626268" y="177743"/>
                  </a:lnTo>
                  <a:lnTo>
                    <a:pt x="628649" y="193625"/>
                  </a:lnTo>
                  <a:lnTo>
                    <a:pt x="633412" y="206330"/>
                  </a:lnTo>
                  <a:lnTo>
                    <a:pt x="639762" y="220624"/>
                  </a:lnTo>
                  <a:lnTo>
                    <a:pt x="647699" y="234123"/>
                  </a:lnTo>
                  <a:lnTo>
                    <a:pt x="656430" y="246034"/>
                  </a:lnTo>
                  <a:lnTo>
                    <a:pt x="666749" y="256358"/>
                  </a:lnTo>
                  <a:lnTo>
                    <a:pt x="678655" y="266681"/>
                  </a:lnTo>
                  <a:lnTo>
                    <a:pt x="691355" y="276210"/>
                  </a:lnTo>
                  <a:lnTo>
                    <a:pt x="705643" y="284945"/>
                  </a:lnTo>
                  <a:lnTo>
                    <a:pt x="719930" y="292091"/>
                  </a:lnTo>
                  <a:lnTo>
                    <a:pt x="736599" y="297650"/>
                  </a:lnTo>
                  <a:lnTo>
                    <a:pt x="753268" y="304003"/>
                  </a:lnTo>
                  <a:lnTo>
                    <a:pt x="771524" y="307179"/>
                  </a:lnTo>
                  <a:lnTo>
                    <a:pt x="788987" y="308767"/>
                  </a:lnTo>
                  <a:lnTo>
                    <a:pt x="808037" y="309561"/>
                  </a:lnTo>
                  <a:lnTo>
                    <a:pt x="825499" y="308767"/>
                  </a:lnTo>
                  <a:lnTo>
                    <a:pt x="843755" y="307179"/>
                  </a:lnTo>
                  <a:lnTo>
                    <a:pt x="861218" y="304003"/>
                  </a:lnTo>
                  <a:lnTo>
                    <a:pt x="877887" y="297650"/>
                  </a:lnTo>
                  <a:lnTo>
                    <a:pt x="894555" y="292091"/>
                  </a:lnTo>
                  <a:lnTo>
                    <a:pt x="908843" y="284945"/>
                  </a:lnTo>
                  <a:lnTo>
                    <a:pt x="923130" y="276210"/>
                  </a:lnTo>
                  <a:lnTo>
                    <a:pt x="935830" y="266681"/>
                  </a:lnTo>
                  <a:lnTo>
                    <a:pt x="947737" y="256358"/>
                  </a:lnTo>
                  <a:lnTo>
                    <a:pt x="958849" y="246034"/>
                  </a:lnTo>
                  <a:lnTo>
                    <a:pt x="966787" y="234123"/>
                  </a:lnTo>
                  <a:lnTo>
                    <a:pt x="975518" y="220624"/>
                  </a:lnTo>
                  <a:lnTo>
                    <a:pt x="981074" y="206330"/>
                  </a:lnTo>
                  <a:lnTo>
                    <a:pt x="985837" y="193625"/>
                  </a:lnTo>
                  <a:lnTo>
                    <a:pt x="988218" y="177743"/>
                  </a:lnTo>
                  <a:lnTo>
                    <a:pt x="989805" y="163450"/>
                  </a:lnTo>
                  <a:lnTo>
                    <a:pt x="989537" y="161301"/>
                  </a:lnTo>
                  <a:lnTo>
                    <a:pt x="990307" y="153988"/>
                  </a:lnTo>
                  <a:lnTo>
                    <a:pt x="988718" y="141288"/>
                  </a:lnTo>
                  <a:lnTo>
                    <a:pt x="987924" y="129381"/>
                  </a:lnTo>
                  <a:lnTo>
                    <a:pt x="983953" y="118269"/>
                  </a:lnTo>
                  <a:lnTo>
                    <a:pt x="980777" y="107950"/>
                  </a:lnTo>
                  <a:lnTo>
                    <a:pt x="976012" y="99219"/>
                  </a:lnTo>
                  <a:lnTo>
                    <a:pt x="969659" y="89694"/>
                  </a:lnTo>
                  <a:lnTo>
                    <a:pt x="964100" y="82550"/>
                  </a:lnTo>
                  <a:lnTo>
                    <a:pt x="957746" y="75406"/>
                  </a:lnTo>
                  <a:lnTo>
                    <a:pt x="945834" y="65088"/>
                  </a:lnTo>
                  <a:lnTo>
                    <a:pt x="936304" y="57944"/>
                  </a:lnTo>
                  <a:lnTo>
                    <a:pt x="925980" y="51594"/>
                  </a:lnTo>
                  <a:lnTo>
                    <a:pt x="914862" y="46038"/>
                  </a:lnTo>
                  <a:lnTo>
                    <a:pt x="906921" y="39688"/>
                  </a:lnTo>
                  <a:lnTo>
                    <a:pt x="900567" y="33338"/>
                  </a:lnTo>
                  <a:lnTo>
                    <a:pt x="895803" y="26194"/>
                  </a:lnTo>
                  <a:lnTo>
                    <a:pt x="893438" y="19104"/>
                  </a:lnTo>
                  <a:lnTo>
                    <a:pt x="894555" y="15750"/>
                  </a:lnTo>
                  <a:lnTo>
                    <a:pt x="896937" y="10986"/>
                  </a:lnTo>
                  <a:lnTo>
                    <a:pt x="900112" y="7015"/>
                  </a:lnTo>
                  <a:lnTo>
                    <a:pt x="904874" y="3839"/>
                  </a:lnTo>
                  <a:lnTo>
                    <a:pt x="911013" y="0"/>
                  </a:lnTo>
                  <a:lnTo>
                    <a:pt x="1571625" y="0"/>
                  </a:lnTo>
                  <a:lnTo>
                    <a:pt x="1571625" y="686743"/>
                  </a:lnTo>
                  <a:lnTo>
                    <a:pt x="1570671" y="690561"/>
                  </a:lnTo>
                  <a:lnTo>
                    <a:pt x="1568290" y="697705"/>
                  </a:lnTo>
                  <a:lnTo>
                    <a:pt x="1565116" y="704055"/>
                  </a:lnTo>
                  <a:lnTo>
                    <a:pt x="1560356" y="709611"/>
                  </a:lnTo>
                  <a:lnTo>
                    <a:pt x="1553214" y="713580"/>
                  </a:lnTo>
                  <a:lnTo>
                    <a:pt x="1546073" y="713580"/>
                  </a:lnTo>
                  <a:lnTo>
                    <a:pt x="1538139" y="711992"/>
                  </a:lnTo>
                  <a:lnTo>
                    <a:pt x="1530997" y="708817"/>
                  </a:lnTo>
                  <a:lnTo>
                    <a:pt x="1522269" y="701674"/>
                  </a:lnTo>
                  <a:lnTo>
                    <a:pt x="1518968" y="697637"/>
                  </a:lnTo>
                  <a:lnTo>
                    <a:pt x="1516035" y="691356"/>
                  </a:lnTo>
                  <a:lnTo>
                    <a:pt x="1510559" y="683146"/>
                  </a:lnTo>
                  <a:lnTo>
                    <a:pt x="1509574" y="681036"/>
                  </a:lnTo>
                  <a:lnTo>
                    <a:pt x="1503226" y="670717"/>
                  </a:lnTo>
                  <a:lnTo>
                    <a:pt x="1495292" y="661192"/>
                  </a:lnTo>
                  <a:lnTo>
                    <a:pt x="1484183" y="649286"/>
                  </a:lnTo>
                  <a:lnTo>
                    <a:pt x="1477042" y="642936"/>
                  </a:lnTo>
                  <a:lnTo>
                    <a:pt x="1469901" y="637380"/>
                  </a:lnTo>
                  <a:lnTo>
                    <a:pt x="1461966" y="632617"/>
                  </a:lnTo>
                  <a:lnTo>
                    <a:pt x="1452444" y="627855"/>
                  </a:lnTo>
                  <a:lnTo>
                    <a:pt x="1442923" y="623092"/>
                  </a:lnTo>
                  <a:lnTo>
                    <a:pt x="1431021" y="619124"/>
                  </a:lnTo>
                  <a:lnTo>
                    <a:pt x="1419119" y="618330"/>
                  </a:lnTo>
                  <a:lnTo>
                    <a:pt x="1406424" y="616742"/>
                  </a:lnTo>
                  <a:lnTo>
                    <a:pt x="1392141" y="618330"/>
                  </a:lnTo>
                  <a:lnTo>
                    <a:pt x="1376272" y="620711"/>
                  </a:lnTo>
                  <a:lnTo>
                    <a:pt x="1361990" y="625474"/>
                  </a:lnTo>
                  <a:lnTo>
                    <a:pt x="1349294" y="631030"/>
                  </a:lnTo>
                  <a:lnTo>
                    <a:pt x="1335805" y="639761"/>
                  </a:lnTo>
                  <a:lnTo>
                    <a:pt x="1324697" y="647699"/>
                  </a:lnTo>
                  <a:lnTo>
                    <a:pt x="1313588" y="658811"/>
                  </a:lnTo>
                  <a:lnTo>
                    <a:pt x="1303273" y="670717"/>
                  </a:lnTo>
                  <a:lnTo>
                    <a:pt x="1293752" y="683417"/>
                  </a:lnTo>
                  <a:lnTo>
                    <a:pt x="1285024" y="697705"/>
                  </a:lnTo>
                  <a:lnTo>
                    <a:pt x="1277882" y="711992"/>
                  </a:lnTo>
                  <a:lnTo>
                    <a:pt x="1272328" y="728661"/>
                  </a:lnTo>
                  <a:lnTo>
                    <a:pt x="1265980" y="745330"/>
                  </a:lnTo>
                  <a:lnTo>
                    <a:pt x="1262807" y="762792"/>
                  </a:lnTo>
                  <a:lnTo>
                    <a:pt x="1261220" y="781049"/>
                  </a:lnTo>
                  <a:lnTo>
                    <a:pt x="1260426" y="800099"/>
                  </a:lnTo>
                  <a:lnTo>
                    <a:pt x="1261220" y="817561"/>
                  </a:lnTo>
                  <a:lnTo>
                    <a:pt x="1262807" y="836611"/>
                  </a:lnTo>
                  <a:lnTo>
                    <a:pt x="1265980" y="853280"/>
                  </a:lnTo>
                  <a:lnTo>
                    <a:pt x="1272328" y="869949"/>
                  </a:lnTo>
                  <a:lnTo>
                    <a:pt x="1277882" y="886617"/>
                  </a:lnTo>
                  <a:lnTo>
                    <a:pt x="1285024" y="900905"/>
                  </a:lnTo>
                  <a:lnTo>
                    <a:pt x="1289478" y="908196"/>
                  </a:lnTo>
                  <a:lnTo>
                    <a:pt x="1291290" y="912019"/>
                  </a:lnTo>
                  <a:lnTo>
                    <a:pt x="1300026" y="925512"/>
                  </a:lnTo>
                  <a:lnTo>
                    <a:pt x="1309555" y="938212"/>
                  </a:lnTo>
                  <a:lnTo>
                    <a:pt x="1319879" y="950119"/>
                  </a:lnTo>
                  <a:lnTo>
                    <a:pt x="1330997" y="961231"/>
                  </a:lnTo>
                  <a:lnTo>
                    <a:pt x="1342116" y="969962"/>
                  </a:lnTo>
                  <a:lnTo>
                    <a:pt x="1355616" y="977106"/>
                  </a:lnTo>
                  <a:lnTo>
                    <a:pt x="1368323" y="983456"/>
                  </a:lnTo>
                  <a:lnTo>
                    <a:pt x="1382617" y="988219"/>
                  </a:lnTo>
                  <a:lnTo>
                    <a:pt x="1396912" y="990600"/>
                  </a:lnTo>
                  <a:lnTo>
                    <a:pt x="1412795" y="991394"/>
                  </a:lnTo>
                  <a:lnTo>
                    <a:pt x="1425501" y="991394"/>
                  </a:lnTo>
                  <a:lnTo>
                    <a:pt x="1437414" y="989012"/>
                  </a:lnTo>
                  <a:lnTo>
                    <a:pt x="1449326" y="985837"/>
                  </a:lnTo>
                  <a:lnTo>
                    <a:pt x="1458856" y="981869"/>
                  </a:lnTo>
                  <a:lnTo>
                    <a:pt x="1468386" y="977106"/>
                  </a:lnTo>
                  <a:lnTo>
                    <a:pt x="1476327" y="971550"/>
                  </a:lnTo>
                  <a:lnTo>
                    <a:pt x="1483474" y="965200"/>
                  </a:lnTo>
                  <a:lnTo>
                    <a:pt x="1490622" y="959644"/>
                  </a:lnTo>
                  <a:lnTo>
                    <a:pt x="1501740" y="949325"/>
                  </a:lnTo>
                  <a:lnTo>
                    <a:pt x="1509681" y="938212"/>
                  </a:lnTo>
                  <a:lnTo>
                    <a:pt x="1516035" y="928687"/>
                  </a:lnTo>
                  <a:lnTo>
                    <a:pt x="1521594" y="916781"/>
                  </a:lnTo>
                  <a:lnTo>
                    <a:pt x="1528741" y="907256"/>
                  </a:lnTo>
                  <a:lnTo>
                    <a:pt x="1537477" y="901700"/>
                  </a:lnTo>
                  <a:lnTo>
                    <a:pt x="1544624" y="896937"/>
                  </a:lnTo>
                  <a:lnTo>
                    <a:pt x="1552566" y="895350"/>
                  </a:lnTo>
                  <a:lnTo>
                    <a:pt x="1559713" y="896937"/>
                  </a:lnTo>
                  <a:lnTo>
                    <a:pt x="1566066" y="900112"/>
                  </a:lnTo>
                  <a:lnTo>
                    <a:pt x="1569231" y="903727"/>
                  </a:lnTo>
                  <a:lnTo>
                    <a:pt x="1570671" y="908049"/>
                  </a:lnTo>
                  <a:lnTo>
                    <a:pt x="1571625" y="911867"/>
                  </a:lnTo>
                  <a:lnTo>
                    <a:pt x="1571625" y="1573212"/>
                  </a:lnTo>
                  <a:lnTo>
                    <a:pt x="1571492" y="1573212"/>
                  </a:lnTo>
                  <a:lnTo>
                    <a:pt x="1571492" y="1570036"/>
                  </a:lnTo>
                  <a:lnTo>
                    <a:pt x="935431" y="1570036"/>
                  </a:lnTo>
                  <a:lnTo>
                    <a:pt x="925902" y="1570831"/>
                  </a:lnTo>
                  <a:lnTo>
                    <a:pt x="917167" y="1572420"/>
                  </a:lnTo>
                  <a:lnTo>
                    <a:pt x="910020" y="1574804"/>
                  </a:lnTo>
                  <a:lnTo>
                    <a:pt x="905256" y="1577187"/>
                  </a:lnTo>
                  <a:lnTo>
                    <a:pt x="900491" y="1580365"/>
                  </a:lnTo>
                  <a:lnTo>
                    <a:pt x="897315" y="1585133"/>
                  </a:lnTo>
                  <a:lnTo>
                    <a:pt x="894933" y="1589900"/>
                  </a:lnTo>
                  <a:lnTo>
                    <a:pt x="893344" y="1594667"/>
                  </a:lnTo>
                  <a:lnTo>
                    <a:pt x="893344" y="1599435"/>
                  </a:lnTo>
                  <a:lnTo>
                    <a:pt x="893344" y="1604202"/>
                  </a:lnTo>
                  <a:lnTo>
                    <a:pt x="893420" y="1604405"/>
                  </a:lnTo>
                  <a:lnTo>
                    <a:pt x="893420" y="1607344"/>
                  </a:lnTo>
                  <a:lnTo>
                    <a:pt x="895803" y="1613694"/>
                  </a:lnTo>
                  <a:lnTo>
                    <a:pt x="899773" y="1618456"/>
                  </a:lnTo>
                  <a:lnTo>
                    <a:pt x="904538" y="1624012"/>
                  </a:lnTo>
                  <a:lnTo>
                    <a:pt x="910097" y="1628775"/>
                  </a:lnTo>
                  <a:lnTo>
                    <a:pt x="917245" y="1633537"/>
                  </a:lnTo>
                  <a:lnTo>
                    <a:pt x="925980" y="1638300"/>
                  </a:lnTo>
                  <a:lnTo>
                    <a:pt x="935510" y="1644650"/>
                  </a:lnTo>
                  <a:lnTo>
                    <a:pt x="945834" y="1651793"/>
                  </a:lnTo>
                  <a:lnTo>
                    <a:pt x="957746" y="1662906"/>
                  </a:lnTo>
                  <a:lnTo>
                    <a:pt x="964100" y="1669256"/>
                  </a:lnTo>
                  <a:lnTo>
                    <a:pt x="969659" y="1677193"/>
                  </a:lnTo>
                  <a:lnTo>
                    <a:pt x="974424" y="1685925"/>
                  </a:lnTo>
                  <a:lnTo>
                    <a:pt x="979188" y="1693862"/>
                  </a:lnTo>
                  <a:lnTo>
                    <a:pt x="983953" y="1704975"/>
                  </a:lnTo>
                  <a:lnTo>
                    <a:pt x="986336" y="1715293"/>
                  </a:lnTo>
                  <a:lnTo>
                    <a:pt x="988718" y="1728787"/>
                  </a:lnTo>
                  <a:lnTo>
                    <a:pt x="990127" y="1739345"/>
                  </a:lnTo>
                  <a:lnTo>
                    <a:pt x="988634" y="1752784"/>
                  </a:lnTo>
                  <a:lnTo>
                    <a:pt x="986252" y="1767086"/>
                  </a:lnTo>
                  <a:lnTo>
                    <a:pt x="981488" y="1781388"/>
                  </a:lnTo>
                  <a:lnTo>
                    <a:pt x="975929" y="1794100"/>
                  </a:lnTo>
                  <a:lnTo>
                    <a:pt x="967194" y="1807608"/>
                  </a:lnTo>
                  <a:lnTo>
                    <a:pt x="957665" y="1819526"/>
                  </a:lnTo>
                  <a:lnTo>
                    <a:pt x="948136" y="1831444"/>
                  </a:lnTo>
                  <a:lnTo>
                    <a:pt x="936225" y="1841774"/>
                  </a:lnTo>
                  <a:lnTo>
                    <a:pt x="923520" y="1851308"/>
                  </a:lnTo>
                  <a:lnTo>
                    <a:pt x="909226" y="1860048"/>
                  </a:lnTo>
                  <a:lnTo>
                    <a:pt x="893344" y="1867199"/>
                  </a:lnTo>
                  <a:lnTo>
                    <a:pt x="878257" y="1872761"/>
                  </a:lnTo>
                  <a:lnTo>
                    <a:pt x="861581" y="1877528"/>
                  </a:lnTo>
                  <a:lnTo>
                    <a:pt x="844111" y="1880707"/>
                  </a:lnTo>
                  <a:lnTo>
                    <a:pt x="825847" y="1883090"/>
                  </a:lnTo>
                  <a:lnTo>
                    <a:pt x="806789" y="1884679"/>
                  </a:lnTo>
                  <a:lnTo>
                    <a:pt x="789319" y="1883090"/>
                  </a:lnTo>
                  <a:lnTo>
                    <a:pt x="770261" y="1880707"/>
                  </a:lnTo>
                  <a:lnTo>
                    <a:pt x="753586" y="1877528"/>
                  </a:lnTo>
                  <a:lnTo>
                    <a:pt x="736910" y="1872761"/>
                  </a:lnTo>
                  <a:lnTo>
                    <a:pt x="720234" y="1867199"/>
                  </a:lnTo>
                  <a:lnTo>
                    <a:pt x="705146" y="1860048"/>
                  </a:lnTo>
                  <a:lnTo>
                    <a:pt x="691647" y="1851308"/>
                  </a:lnTo>
                  <a:lnTo>
                    <a:pt x="678942" y="1841774"/>
                  </a:lnTo>
                  <a:lnTo>
                    <a:pt x="667030" y="1831444"/>
                  </a:lnTo>
                  <a:lnTo>
                    <a:pt x="656707" y="1819526"/>
                  </a:lnTo>
                  <a:lnTo>
                    <a:pt x="647178" y="1807608"/>
                  </a:lnTo>
                  <a:lnTo>
                    <a:pt x="640032" y="1794100"/>
                  </a:lnTo>
                  <a:lnTo>
                    <a:pt x="633679" y="1781388"/>
                  </a:lnTo>
                  <a:lnTo>
                    <a:pt x="628914" y="1767086"/>
                  </a:lnTo>
                  <a:lnTo>
                    <a:pt x="626532" y="1752784"/>
                  </a:lnTo>
                  <a:lnTo>
                    <a:pt x="625791" y="1739437"/>
                  </a:lnTo>
                  <a:lnTo>
                    <a:pt x="625791" y="1728787"/>
                  </a:lnTo>
                  <a:lnTo>
                    <a:pt x="628174" y="1715293"/>
                  </a:lnTo>
                  <a:lnTo>
                    <a:pt x="631350" y="1704975"/>
                  </a:lnTo>
                  <a:lnTo>
                    <a:pt x="635321" y="1693862"/>
                  </a:lnTo>
                  <a:lnTo>
                    <a:pt x="640086" y="1685925"/>
                  </a:lnTo>
                  <a:lnTo>
                    <a:pt x="645645" y="1677193"/>
                  </a:lnTo>
                  <a:lnTo>
                    <a:pt x="651998" y="1669256"/>
                  </a:lnTo>
                  <a:lnTo>
                    <a:pt x="657557" y="1662906"/>
                  </a:lnTo>
                  <a:lnTo>
                    <a:pt x="669470" y="1651793"/>
                  </a:lnTo>
                  <a:lnTo>
                    <a:pt x="678999" y="1644650"/>
                  </a:lnTo>
                  <a:lnTo>
                    <a:pt x="689323" y="1638300"/>
                  </a:lnTo>
                  <a:lnTo>
                    <a:pt x="696471" y="1633537"/>
                  </a:lnTo>
                  <a:lnTo>
                    <a:pt x="703618" y="1628775"/>
                  </a:lnTo>
                  <a:lnTo>
                    <a:pt x="709971" y="1624012"/>
                  </a:lnTo>
                  <a:lnTo>
                    <a:pt x="714736" y="1618456"/>
                  </a:lnTo>
                  <a:lnTo>
                    <a:pt x="717913" y="1613694"/>
                  </a:lnTo>
                  <a:lnTo>
                    <a:pt x="720295" y="1607344"/>
                  </a:lnTo>
                  <a:lnTo>
                    <a:pt x="721883" y="1602581"/>
                  </a:lnTo>
                  <a:lnTo>
                    <a:pt x="721883" y="1597819"/>
                  </a:lnTo>
                  <a:lnTo>
                    <a:pt x="721822" y="1597606"/>
                  </a:lnTo>
                  <a:lnTo>
                    <a:pt x="721822" y="1594667"/>
                  </a:lnTo>
                  <a:lnTo>
                    <a:pt x="720234" y="1589900"/>
                  </a:lnTo>
                  <a:lnTo>
                    <a:pt x="717852" y="1585133"/>
                  </a:lnTo>
                  <a:lnTo>
                    <a:pt x="714676" y="1580365"/>
                  </a:lnTo>
                  <a:lnTo>
                    <a:pt x="709911" y="1577187"/>
                  </a:lnTo>
                  <a:lnTo>
                    <a:pt x="703558" y="1574804"/>
                  </a:lnTo>
                  <a:lnTo>
                    <a:pt x="696412" y="1572420"/>
                  </a:lnTo>
                  <a:lnTo>
                    <a:pt x="688471" y="1570831"/>
                  </a:lnTo>
                  <a:lnTo>
                    <a:pt x="679736" y="1570036"/>
                  </a:lnTo>
                  <a:lnTo>
                    <a:pt x="0" y="1570036"/>
                  </a:lnTo>
                  <a:lnTo>
                    <a:pt x="0"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64" name="TextBox 63"/>
            <p:cNvSpPr txBox="1"/>
            <p:nvPr/>
          </p:nvSpPr>
          <p:spPr>
            <a:xfrm>
              <a:off x="1448778" y="3055577"/>
              <a:ext cx="1205434" cy="830997"/>
            </a:xfrm>
            <a:prstGeom prst="rect">
              <a:avLst/>
            </a:prstGeom>
            <a:solidFill>
              <a:schemeClr val="tx1">
                <a:lumMod val="65000"/>
                <a:lumOff val="35000"/>
                <a:alpha val="50000"/>
              </a:schemeClr>
            </a:solidFill>
          </p:spPr>
          <p:txBody>
            <a:bodyPr wrap="square" rtlCol="0">
              <a:spAutoFit/>
            </a:bodyPr>
            <a:lstStyle/>
            <a:p>
              <a:r>
                <a:rPr lang="en-IN" sz="1600" dirty="0">
                  <a:solidFill>
                    <a:prstClr val="white"/>
                  </a:solidFill>
                </a:rPr>
                <a:t>Relationship with the Tata brand</a:t>
              </a:r>
            </a:p>
          </p:txBody>
        </p:sp>
      </p:grpSp>
      <p:grpSp>
        <p:nvGrpSpPr>
          <p:cNvPr id="67" name="Group 66"/>
          <p:cNvGrpSpPr/>
          <p:nvPr/>
        </p:nvGrpSpPr>
        <p:grpSpPr>
          <a:xfrm>
            <a:off x="1990460" y="2923709"/>
            <a:ext cx="2194030" cy="1568450"/>
            <a:chOff x="2700130" y="2651766"/>
            <a:chExt cx="2194030" cy="1568450"/>
          </a:xfrm>
        </p:grpSpPr>
        <p:pic>
          <p:nvPicPr>
            <p:cNvPr id="39" name="Picture 38"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20140" t="33300" r="45132" b="33468"/>
            <a:stretch>
              <a:fillRect/>
            </a:stretch>
          </p:blipFill>
          <p:spPr bwMode="auto">
            <a:xfrm>
              <a:off x="2700130" y="2651766"/>
              <a:ext cx="2194030" cy="1568450"/>
            </a:xfrm>
            <a:custGeom>
              <a:avLst/>
              <a:gdLst>
                <a:gd name="connsiteX0" fmla="*/ 307967 w 2194030"/>
                <a:gd name="connsiteY0" fmla="*/ 0 h 1568450"/>
                <a:gd name="connsiteX1" fmla="*/ 313924 w 2194030"/>
                <a:gd name="connsiteY1" fmla="*/ 0 h 1568450"/>
                <a:gd name="connsiteX2" fmla="*/ 313924 w 2194030"/>
                <a:gd name="connsiteY2" fmla="*/ 3045 h 1568450"/>
                <a:gd name="connsiteX3" fmla="*/ 994556 w 2194030"/>
                <a:gd name="connsiteY3" fmla="*/ 672 h 1568450"/>
                <a:gd name="connsiteX4" fmla="*/ 995900 w 2194030"/>
                <a:gd name="connsiteY4" fmla="*/ 794 h 1568450"/>
                <a:gd name="connsiteX5" fmla="*/ 1003835 w 2194030"/>
                <a:gd name="connsiteY5" fmla="*/ 2381 h 1568450"/>
                <a:gd name="connsiteX6" fmla="*/ 1010976 w 2194030"/>
                <a:gd name="connsiteY6" fmla="*/ 4763 h 1568450"/>
                <a:gd name="connsiteX7" fmla="*/ 1017323 w 2194030"/>
                <a:gd name="connsiteY7" fmla="*/ 7144 h 1568450"/>
                <a:gd name="connsiteX8" fmla="*/ 1022084 w 2194030"/>
                <a:gd name="connsiteY8" fmla="*/ 10319 h 1568450"/>
                <a:gd name="connsiteX9" fmla="*/ 1025258 w 2194030"/>
                <a:gd name="connsiteY9" fmla="*/ 14288 h 1568450"/>
                <a:gd name="connsiteX10" fmla="*/ 1027638 w 2194030"/>
                <a:gd name="connsiteY10" fmla="*/ 19050 h 1568450"/>
                <a:gd name="connsiteX11" fmla="*/ 1029225 w 2194030"/>
                <a:gd name="connsiteY11" fmla="*/ 23813 h 1568450"/>
                <a:gd name="connsiteX12" fmla="*/ 1029225 w 2194030"/>
                <a:gd name="connsiteY12" fmla="*/ 29369 h 1568450"/>
                <a:gd name="connsiteX13" fmla="*/ 1027638 w 2194030"/>
                <a:gd name="connsiteY13" fmla="*/ 34131 h 1568450"/>
                <a:gd name="connsiteX14" fmla="*/ 1025258 w 2194030"/>
                <a:gd name="connsiteY14" fmla="*/ 39688 h 1568450"/>
                <a:gd name="connsiteX15" fmla="*/ 1022084 w 2194030"/>
                <a:gd name="connsiteY15" fmla="*/ 44450 h 1568450"/>
                <a:gd name="connsiteX16" fmla="*/ 1017323 w 2194030"/>
                <a:gd name="connsiteY16" fmla="*/ 50800 h 1568450"/>
                <a:gd name="connsiteX17" fmla="*/ 1010976 w 2194030"/>
                <a:gd name="connsiteY17" fmla="*/ 55563 h 1568450"/>
                <a:gd name="connsiteX18" fmla="*/ 1005422 w 2194030"/>
                <a:gd name="connsiteY18" fmla="*/ 60325 h 1568450"/>
                <a:gd name="connsiteX19" fmla="*/ 996693 w 2194030"/>
                <a:gd name="connsiteY19" fmla="*/ 65088 h 1568450"/>
                <a:gd name="connsiteX20" fmla="*/ 986378 w 2194030"/>
                <a:gd name="connsiteY20" fmla="*/ 70644 h 1568450"/>
                <a:gd name="connsiteX21" fmla="*/ 976857 w 2194030"/>
                <a:gd name="connsiteY21" fmla="*/ 77788 h 1568450"/>
                <a:gd name="connsiteX22" fmla="*/ 964955 w 2194030"/>
                <a:gd name="connsiteY22" fmla="*/ 88900 h 1568450"/>
                <a:gd name="connsiteX23" fmla="*/ 959401 w 2194030"/>
                <a:gd name="connsiteY23" fmla="*/ 96044 h 1568450"/>
                <a:gd name="connsiteX24" fmla="*/ 953053 w 2194030"/>
                <a:gd name="connsiteY24" fmla="*/ 103188 h 1568450"/>
                <a:gd name="connsiteX25" fmla="*/ 947499 w 2194030"/>
                <a:gd name="connsiteY25" fmla="*/ 111125 h 1568450"/>
                <a:gd name="connsiteX26" fmla="*/ 942738 w 2194030"/>
                <a:gd name="connsiteY26" fmla="*/ 120650 h 1568450"/>
                <a:gd name="connsiteX27" fmla="*/ 938771 w 2194030"/>
                <a:gd name="connsiteY27" fmla="*/ 131763 h 1568450"/>
                <a:gd name="connsiteX28" fmla="*/ 935597 w 2194030"/>
                <a:gd name="connsiteY28" fmla="*/ 142081 h 1568450"/>
                <a:gd name="connsiteX29" fmla="*/ 933216 w 2194030"/>
                <a:gd name="connsiteY29" fmla="*/ 153988 h 1568450"/>
                <a:gd name="connsiteX30" fmla="*/ 933216 w 2194030"/>
                <a:gd name="connsiteY30" fmla="*/ 166688 h 1568450"/>
                <a:gd name="connsiteX31" fmla="*/ 934010 w 2194030"/>
                <a:gd name="connsiteY31" fmla="*/ 182563 h 1568450"/>
                <a:gd name="connsiteX32" fmla="*/ 936390 w 2194030"/>
                <a:gd name="connsiteY32" fmla="*/ 196850 h 1568450"/>
                <a:gd name="connsiteX33" fmla="*/ 941151 w 2194030"/>
                <a:gd name="connsiteY33" fmla="*/ 211138 h 1568450"/>
                <a:gd name="connsiteX34" fmla="*/ 947499 w 2194030"/>
                <a:gd name="connsiteY34" fmla="*/ 223838 h 1568450"/>
                <a:gd name="connsiteX35" fmla="*/ 954640 w 2194030"/>
                <a:gd name="connsiteY35" fmla="*/ 237331 h 1568450"/>
                <a:gd name="connsiteX36" fmla="*/ 964161 w 2194030"/>
                <a:gd name="connsiteY36" fmla="*/ 249238 h 1568450"/>
                <a:gd name="connsiteX37" fmla="*/ 974476 w 2194030"/>
                <a:gd name="connsiteY37" fmla="*/ 261144 h 1568450"/>
                <a:gd name="connsiteX38" fmla="*/ 986378 w 2194030"/>
                <a:gd name="connsiteY38" fmla="*/ 269875 h 1568450"/>
                <a:gd name="connsiteX39" fmla="*/ 999074 w 2194030"/>
                <a:gd name="connsiteY39" fmla="*/ 279400 h 1568450"/>
                <a:gd name="connsiteX40" fmla="*/ 1012563 w 2194030"/>
                <a:gd name="connsiteY40" fmla="*/ 288131 h 1568450"/>
                <a:gd name="connsiteX41" fmla="*/ 1027638 w 2194030"/>
                <a:gd name="connsiteY41" fmla="*/ 296069 h 1568450"/>
                <a:gd name="connsiteX42" fmla="*/ 1044301 w 2194030"/>
                <a:gd name="connsiteY42" fmla="*/ 302419 h 1568450"/>
                <a:gd name="connsiteX43" fmla="*/ 1060964 w 2194030"/>
                <a:gd name="connsiteY43" fmla="*/ 307181 h 1568450"/>
                <a:gd name="connsiteX44" fmla="*/ 1077627 w 2194030"/>
                <a:gd name="connsiteY44" fmla="*/ 310356 h 1568450"/>
                <a:gd name="connsiteX45" fmla="*/ 1080534 w 2194030"/>
                <a:gd name="connsiteY45" fmla="*/ 310720 h 1568450"/>
                <a:gd name="connsiteX46" fmla="*/ 1085917 w 2194030"/>
                <a:gd name="connsiteY46" fmla="*/ 311944 h 1568450"/>
                <a:gd name="connsiteX47" fmla="*/ 1103373 w 2194030"/>
                <a:gd name="connsiteY47" fmla="*/ 314326 h 1568450"/>
                <a:gd name="connsiteX48" fmla="*/ 1122415 w 2194030"/>
                <a:gd name="connsiteY48" fmla="*/ 314326 h 1568450"/>
                <a:gd name="connsiteX49" fmla="*/ 1141456 w 2194030"/>
                <a:gd name="connsiteY49" fmla="*/ 314326 h 1568450"/>
                <a:gd name="connsiteX50" fmla="*/ 1159705 w 2194030"/>
                <a:gd name="connsiteY50" fmla="*/ 311944 h 1568450"/>
                <a:gd name="connsiteX51" fmla="*/ 1177160 w 2194030"/>
                <a:gd name="connsiteY51" fmla="*/ 307974 h 1568450"/>
                <a:gd name="connsiteX52" fmla="*/ 1193822 w 2194030"/>
                <a:gd name="connsiteY52" fmla="*/ 303209 h 1568450"/>
                <a:gd name="connsiteX53" fmla="*/ 1208897 w 2194030"/>
                <a:gd name="connsiteY53" fmla="*/ 296062 h 1568450"/>
                <a:gd name="connsiteX54" fmla="*/ 1224765 w 2194030"/>
                <a:gd name="connsiteY54" fmla="*/ 288915 h 1568450"/>
                <a:gd name="connsiteX55" fmla="*/ 1239047 w 2194030"/>
                <a:gd name="connsiteY55" fmla="*/ 280975 h 1568450"/>
                <a:gd name="connsiteX56" fmla="*/ 1251741 w 2194030"/>
                <a:gd name="connsiteY56" fmla="*/ 271446 h 1568450"/>
                <a:gd name="connsiteX57" fmla="*/ 1262849 w 2194030"/>
                <a:gd name="connsiteY57" fmla="*/ 261123 h 1568450"/>
                <a:gd name="connsiteX58" fmla="*/ 1273164 w 2194030"/>
                <a:gd name="connsiteY58" fmla="*/ 250005 h 1568450"/>
                <a:gd name="connsiteX59" fmla="*/ 1282685 w 2194030"/>
                <a:gd name="connsiteY59" fmla="*/ 238094 h 1568450"/>
                <a:gd name="connsiteX60" fmla="*/ 1289825 w 2194030"/>
                <a:gd name="connsiteY60" fmla="*/ 225389 h 1568450"/>
                <a:gd name="connsiteX61" fmla="*/ 1296966 w 2194030"/>
                <a:gd name="connsiteY61" fmla="*/ 211889 h 1568450"/>
                <a:gd name="connsiteX62" fmla="*/ 1300933 w 2194030"/>
                <a:gd name="connsiteY62" fmla="*/ 197596 h 1568450"/>
                <a:gd name="connsiteX63" fmla="*/ 1304107 w 2194030"/>
                <a:gd name="connsiteY63" fmla="*/ 183302 h 1568450"/>
                <a:gd name="connsiteX64" fmla="*/ 1305694 w 2194030"/>
                <a:gd name="connsiteY64" fmla="*/ 168215 h 1568450"/>
                <a:gd name="connsiteX65" fmla="*/ 1304107 w 2194030"/>
                <a:gd name="connsiteY65" fmla="*/ 155509 h 1568450"/>
                <a:gd name="connsiteX66" fmla="*/ 1301727 w 2194030"/>
                <a:gd name="connsiteY66" fmla="*/ 143598 h 1568450"/>
                <a:gd name="connsiteX67" fmla="*/ 1299346 w 2194030"/>
                <a:gd name="connsiteY67" fmla="*/ 131687 h 1568450"/>
                <a:gd name="connsiteX68" fmla="*/ 1294586 w 2194030"/>
                <a:gd name="connsiteY68" fmla="*/ 122158 h 1568450"/>
                <a:gd name="connsiteX69" fmla="*/ 1289825 w 2194030"/>
                <a:gd name="connsiteY69" fmla="*/ 112629 h 1568450"/>
                <a:gd name="connsiteX70" fmla="*/ 1285065 w 2194030"/>
                <a:gd name="connsiteY70" fmla="*/ 103894 h 1568450"/>
                <a:gd name="connsiteX71" fmla="*/ 1279511 w 2194030"/>
                <a:gd name="connsiteY71" fmla="*/ 96747 h 1568450"/>
                <a:gd name="connsiteX72" fmla="*/ 1273164 w 2194030"/>
                <a:gd name="connsiteY72" fmla="*/ 89600 h 1568450"/>
                <a:gd name="connsiteX73" fmla="*/ 1261262 w 2194030"/>
                <a:gd name="connsiteY73" fmla="*/ 79277 h 1568450"/>
                <a:gd name="connsiteX74" fmla="*/ 1250948 w 2194030"/>
                <a:gd name="connsiteY74" fmla="*/ 70542 h 1568450"/>
                <a:gd name="connsiteX75" fmla="*/ 1241427 w 2194030"/>
                <a:gd name="connsiteY75" fmla="*/ 64984 h 1568450"/>
                <a:gd name="connsiteX76" fmla="*/ 1232699 w 2194030"/>
                <a:gd name="connsiteY76" fmla="*/ 61013 h 1568450"/>
                <a:gd name="connsiteX77" fmla="*/ 1225559 w 2194030"/>
                <a:gd name="connsiteY77" fmla="*/ 56249 h 1568450"/>
                <a:gd name="connsiteX78" fmla="*/ 1220005 w 2194030"/>
                <a:gd name="connsiteY78" fmla="*/ 50690 h 1568450"/>
                <a:gd name="connsiteX79" fmla="*/ 1215244 w 2194030"/>
                <a:gd name="connsiteY79" fmla="*/ 45926 h 1568450"/>
                <a:gd name="connsiteX80" fmla="*/ 1211277 w 2194030"/>
                <a:gd name="connsiteY80" fmla="*/ 40367 h 1568450"/>
                <a:gd name="connsiteX81" fmla="*/ 1208897 w 2194030"/>
                <a:gd name="connsiteY81" fmla="*/ 35602 h 1568450"/>
                <a:gd name="connsiteX82" fmla="*/ 1208103 w 2194030"/>
                <a:gd name="connsiteY82" fmla="*/ 29250 h 1568450"/>
                <a:gd name="connsiteX83" fmla="*/ 1208103 w 2194030"/>
                <a:gd name="connsiteY83" fmla="*/ 24485 h 1568450"/>
                <a:gd name="connsiteX84" fmla="*/ 1208897 w 2194030"/>
                <a:gd name="connsiteY84" fmla="*/ 19721 h 1568450"/>
                <a:gd name="connsiteX85" fmla="*/ 1211277 w 2194030"/>
                <a:gd name="connsiteY85" fmla="*/ 14956 h 1568450"/>
                <a:gd name="connsiteX86" fmla="*/ 1215244 w 2194030"/>
                <a:gd name="connsiteY86" fmla="*/ 11780 h 1568450"/>
                <a:gd name="connsiteX87" fmla="*/ 1220005 w 2194030"/>
                <a:gd name="connsiteY87" fmla="*/ 7809 h 1568450"/>
                <a:gd name="connsiteX88" fmla="*/ 1225559 w 2194030"/>
                <a:gd name="connsiteY88" fmla="*/ 4633 h 1568450"/>
                <a:gd name="connsiteX89" fmla="*/ 1232699 w 2194030"/>
                <a:gd name="connsiteY89" fmla="*/ 2251 h 1568450"/>
                <a:gd name="connsiteX90" fmla="*/ 1241427 w 2194030"/>
                <a:gd name="connsiteY90" fmla="*/ 663 h 1568450"/>
                <a:gd name="connsiteX91" fmla="*/ 1250948 w 2194030"/>
                <a:gd name="connsiteY91" fmla="*/ 663 h 1568450"/>
                <a:gd name="connsiteX92" fmla="*/ 1878232 w 2194030"/>
                <a:gd name="connsiteY92" fmla="*/ 663 h 1568450"/>
                <a:gd name="connsiteX93" fmla="*/ 1878232 w 2194030"/>
                <a:gd name="connsiteY93" fmla="*/ 434181 h 1568450"/>
                <a:gd name="connsiteX94" fmla="*/ 1879025 w 2194030"/>
                <a:gd name="connsiteY94" fmla="*/ 434181 h 1568450"/>
                <a:gd name="connsiteX95" fmla="*/ 1879025 w 2194030"/>
                <a:gd name="connsiteY95" fmla="*/ 633413 h 1568450"/>
                <a:gd name="connsiteX96" fmla="*/ 1880612 w 2194030"/>
                <a:gd name="connsiteY96" fmla="*/ 642938 h 1568450"/>
                <a:gd name="connsiteX97" fmla="*/ 1881405 w 2194030"/>
                <a:gd name="connsiteY97" fmla="*/ 652463 h 1568450"/>
                <a:gd name="connsiteX98" fmla="*/ 1883786 w 2194030"/>
                <a:gd name="connsiteY98" fmla="*/ 659606 h 1568450"/>
                <a:gd name="connsiteX99" fmla="*/ 1887753 w 2194030"/>
                <a:gd name="connsiteY99" fmla="*/ 665163 h 1568450"/>
                <a:gd name="connsiteX100" fmla="*/ 1893307 w 2194030"/>
                <a:gd name="connsiteY100" fmla="*/ 671513 h 1568450"/>
                <a:gd name="connsiteX101" fmla="*/ 1900449 w 2194030"/>
                <a:gd name="connsiteY101" fmla="*/ 674688 h 1568450"/>
                <a:gd name="connsiteX102" fmla="*/ 1902684 w 2194030"/>
                <a:gd name="connsiteY102" fmla="*/ 674688 h 1568450"/>
                <a:gd name="connsiteX103" fmla="*/ 1902684 w 2194030"/>
                <a:gd name="connsiteY103" fmla="*/ 675340 h 1568450"/>
                <a:gd name="connsiteX104" fmla="*/ 1907667 w 2194030"/>
                <a:gd name="connsiteY104" fmla="*/ 681038 h 1568450"/>
                <a:gd name="connsiteX105" fmla="*/ 1914809 w 2194030"/>
                <a:gd name="connsiteY105" fmla="*/ 684213 h 1568450"/>
                <a:gd name="connsiteX106" fmla="*/ 1921950 w 2194030"/>
                <a:gd name="connsiteY106" fmla="*/ 684213 h 1568450"/>
                <a:gd name="connsiteX107" fmla="*/ 1929091 w 2194030"/>
                <a:gd name="connsiteY107" fmla="*/ 683419 h 1568450"/>
                <a:gd name="connsiteX108" fmla="*/ 1937819 w 2194030"/>
                <a:gd name="connsiteY108" fmla="*/ 679450 h 1568450"/>
                <a:gd name="connsiteX109" fmla="*/ 1944960 w 2194030"/>
                <a:gd name="connsiteY109" fmla="*/ 672306 h 1568450"/>
                <a:gd name="connsiteX110" fmla="*/ 1952101 w 2194030"/>
                <a:gd name="connsiteY110" fmla="*/ 664369 h 1568450"/>
                <a:gd name="connsiteX111" fmla="*/ 1959243 w 2194030"/>
                <a:gd name="connsiteY111" fmla="*/ 652463 h 1568450"/>
                <a:gd name="connsiteX112" fmla="*/ 1964797 w 2194030"/>
                <a:gd name="connsiteY112" fmla="*/ 642938 h 1568450"/>
                <a:gd name="connsiteX113" fmla="*/ 1971938 w 2194030"/>
                <a:gd name="connsiteY113" fmla="*/ 631825 h 1568450"/>
                <a:gd name="connsiteX114" fmla="*/ 1983046 w 2194030"/>
                <a:gd name="connsiteY114" fmla="*/ 620713 h 1568450"/>
                <a:gd name="connsiteX115" fmla="*/ 1990188 w 2194030"/>
                <a:gd name="connsiteY115" fmla="*/ 614363 h 1568450"/>
                <a:gd name="connsiteX116" fmla="*/ 1997329 w 2194030"/>
                <a:gd name="connsiteY116" fmla="*/ 608806 h 1568450"/>
                <a:gd name="connsiteX117" fmla="*/ 2006057 w 2194030"/>
                <a:gd name="connsiteY117" fmla="*/ 604044 h 1568450"/>
                <a:gd name="connsiteX118" fmla="*/ 2014785 w 2194030"/>
                <a:gd name="connsiteY118" fmla="*/ 599281 h 1568450"/>
                <a:gd name="connsiteX119" fmla="*/ 2025100 w 2194030"/>
                <a:gd name="connsiteY119" fmla="*/ 594519 h 1568450"/>
                <a:gd name="connsiteX120" fmla="*/ 2036209 w 2194030"/>
                <a:gd name="connsiteY120" fmla="*/ 592138 h 1568450"/>
                <a:gd name="connsiteX121" fmla="*/ 2048111 w 2194030"/>
                <a:gd name="connsiteY121" fmla="*/ 589756 h 1568450"/>
                <a:gd name="connsiteX122" fmla="*/ 2060806 w 2194030"/>
                <a:gd name="connsiteY122" fmla="*/ 588169 h 1568450"/>
                <a:gd name="connsiteX123" fmla="*/ 2076675 w 2194030"/>
                <a:gd name="connsiteY123" fmla="*/ 589756 h 1568450"/>
                <a:gd name="connsiteX124" fmla="*/ 2090958 w 2194030"/>
                <a:gd name="connsiteY124" fmla="*/ 592138 h 1568450"/>
                <a:gd name="connsiteX125" fmla="*/ 2105240 w 2194030"/>
                <a:gd name="connsiteY125" fmla="*/ 596900 h 1568450"/>
                <a:gd name="connsiteX126" fmla="*/ 2116554 w 2194030"/>
                <a:gd name="connsiteY126" fmla="*/ 601851 h 1568450"/>
                <a:gd name="connsiteX127" fmla="*/ 2128173 w 2194030"/>
                <a:gd name="connsiteY127" fmla="*/ 609600 h 1568450"/>
                <a:gd name="connsiteX128" fmla="*/ 2140075 w 2194030"/>
                <a:gd name="connsiteY128" fmla="*/ 619919 h 1568450"/>
                <a:gd name="connsiteX129" fmla="*/ 2151183 w 2194030"/>
                <a:gd name="connsiteY129" fmla="*/ 631825 h 1568450"/>
                <a:gd name="connsiteX130" fmla="*/ 2159118 w 2194030"/>
                <a:gd name="connsiteY130" fmla="*/ 645319 h 1568450"/>
                <a:gd name="connsiteX131" fmla="*/ 2168639 w 2194030"/>
                <a:gd name="connsiteY131" fmla="*/ 659606 h 1568450"/>
                <a:gd name="connsiteX132" fmla="*/ 2175780 w 2194030"/>
                <a:gd name="connsiteY132" fmla="*/ 674688 h 1568450"/>
                <a:gd name="connsiteX133" fmla="*/ 2182128 w 2194030"/>
                <a:gd name="connsiteY133" fmla="*/ 690563 h 1568450"/>
                <a:gd name="connsiteX134" fmla="*/ 2186889 w 2194030"/>
                <a:gd name="connsiteY134" fmla="*/ 707231 h 1568450"/>
                <a:gd name="connsiteX135" fmla="*/ 2190063 w 2194030"/>
                <a:gd name="connsiteY135" fmla="*/ 724694 h 1568450"/>
                <a:gd name="connsiteX136" fmla="*/ 2192443 w 2194030"/>
                <a:gd name="connsiteY136" fmla="*/ 742156 h 1568450"/>
                <a:gd name="connsiteX137" fmla="*/ 2194030 w 2194030"/>
                <a:gd name="connsiteY137" fmla="*/ 761206 h 1568450"/>
                <a:gd name="connsiteX138" fmla="*/ 2192443 w 2194030"/>
                <a:gd name="connsiteY138" fmla="*/ 779463 h 1568450"/>
                <a:gd name="connsiteX139" fmla="*/ 2190063 w 2194030"/>
                <a:gd name="connsiteY139" fmla="*/ 798513 h 1568450"/>
                <a:gd name="connsiteX140" fmla="*/ 2186889 w 2194030"/>
                <a:gd name="connsiteY140" fmla="*/ 815181 h 1568450"/>
                <a:gd name="connsiteX141" fmla="*/ 2182128 w 2194030"/>
                <a:gd name="connsiteY141" fmla="*/ 831850 h 1568450"/>
                <a:gd name="connsiteX142" fmla="*/ 2175780 w 2194030"/>
                <a:gd name="connsiteY142" fmla="*/ 847725 h 1568450"/>
                <a:gd name="connsiteX143" fmla="*/ 2168639 w 2194030"/>
                <a:gd name="connsiteY143" fmla="*/ 863600 h 1568450"/>
                <a:gd name="connsiteX144" fmla="*/ 2159118 w 2194030"/>
                <a:gd name="connsiteY144" fmla="*/ 876300 h 1568450"/>
                <a:gd name="connsiteX145" fmla="*/ 2151183 w 2194030"/>
                <a:gd name="connsiteY145" fmla="*/ 889794 h 1568450"/>
                <a:gd name="connsiteX146" fmla="*/ 2140075 w 2194030"/>
                <a:gd name="connsiteY146" fmla="*/ 901700 h 1568450"/>
                <a:gd name="connsiteX147" fmla="*/ 2128173 w 2194030"/>
                <a:gd name="connsiteY147" fmla="*/ 912019 h 1568450"/>
                <a:gd name="connsiteX148" fmla="*/ 2116271 w 2194030"/>
                <a:gd name="connsiteY148" fmla="*/ 921544 h 1568450"/>
                <a:gd name="connsiteX149" fmla="*/ 2103575 w 2194030"/>
                <a:gd name="connsiteY149" fmla="*/ 928688 h 1568450"/>
                <a:gd name="connsiteX150" fmla="*/ 2090880 w 2194030"/>
                <a:gd name="connsiteY150" fmla="*/ 935038 h 1568450"/>
                <a:gd name="connsiteX151" fmla="*/ 2076598 w 2194030"/>
                <a:gd name="connsiteY151" fmla="*/ 939800 h 1568450"/>
                <a:gd name="connsiteX152" fmla="*/ 2062315 w 2194030"/>
                <a:gd name="connsiteY152" fmla="*/ 942181 h 1568450"/>
                <a:gd name="connsiteX153" fmla="*/ 2046446 w 2194030"/>
                <a:gd name="connsiteY153" fmla="*/ 942975 h 1568450"/>
                <a:gd name="connsiteX154" fmla="*/ 2033751 w 2194030"/>
                <a:gd name="connsiteY154" fmla="*/ 942975 h 1568450"/>
                <a:gd name="connsiteX155" fmla="*/ 2021849 w 2194030"/>
                <a:gd name="connsiteY155" fmla="*/ 940594 h 1568450"/>
                <a:gd name="connsiteX156" fmla="*/ 2010740 w 2194030"/>
                <a:gd name="connsiteY156" fmla="*/ 937419 h 1568450"/>
                <a:gd name="connsiteX157" fmla="*/ 2000425 w 2194030"/>
                <a:gd name="connsiteY157" fmla="*/ 933450 h 1568450"/>
                <a:gd name="connsiteX158" fmla="*/ 1994724 w 2194030"/>
                <a:gd name="connsiteY158" fmla="*/ 930340 h 1568450"/>
                <a:gd name="connsiteX159" fmla="*/ 1990188 w 2194030"/>
                <a:gd name="connsiteY159" fmla="*/ 926306 h 1568450"/>
                <a:gd name="connsiteX160" fmla="*/ 1983046 w 2194030"/>
                <a:gd name="connsiteY160" fmla="*/ 920750 h 1568450"/>
                <a:gd name="connsiteX161" fmla="*/ 1971938 w 2194030"/>
                <a:gd name="connsiteY161" fmla="*/ 908844 h 1568450"/>
                <a:gd name="connsiteX162" fmla="*/ 1964797 w 2194030"/>
                <a:gd name="connsiteY162" fmla="*/ 899319 h 1568450"/>
                <a:gd name="connsiteX163" fmla="*/ 1959243 w 2194030"/>
                <a:gd name="connsiteY163" fmla="*/ 888206 h 1568450"/>
                <a:gd name="connsiteX164" fmla="*/ 1952101 w 2194030"/>
                <a:gd name="connsiteY164" fmla="*/ 877888 h 1568450"/>
                <a:gd name="connsiteX165" fmla="*/ 1944960 w 2194030"/>
                <a:gd name="connsiteY165" fmla="*/ 868363 h 1568450"/>
                <a:gd name="connsiteX166" fmla="*/ 1937819 w 2194030"/>
                <a:gd name="connsiteY166" fmla="*/ 862013 h 1568450"/>
                <a:gd name="connsiteX167" fmla="*/ 1929091 w 2194030"/>
                <a:gd name="connsiteY167" fmla="*/ 857250 h 1568450"/>
                <a:gd name="connsiteX168" fmla="*/ 1928775 w 2194030"/>
                <a:gd name="connsiteY168" fmla="*/ 857215 h 1568450"/>
                <a:gd name="connsiteX169" fmla="*/ 1923459 w 2194030"/>
                <a:gd name="connsiteY169" fmla="*/ 852488 h 1568450"/>
                <a:gd name="connsiteX170" fmla="*/ 1914731 w 2194030"/>
                <a:gd name="connsiteY170" fmla="*/ 847725 h 1568450"/>
                <a:gd name="connsiteX171" fmla="*/ 1907590 w 2194030"/>
                <a:gd name="connsiteY171" fmla="*/ 846931 h 1568450"/>
                <a:gd name="connsiteX172" fmla="*/ 1900449 w 2194030"/>
                <a:gd name="connsiteY172" fmla="*/ 847725 h 1568450"/>
                <a:gd name="connsiteX173" fmla="*/ 1893307 w 2194030"/>
                <a:gd name="connsiteY173" fmla="*/ 851694 h 1568450"/>
                <a:gd name="connsiteX174" fmla="*/ 1887753 w 2194030"/>
                <a:gd name="connsiteY174" fmla="*/ 856456 h 1568450"/>
                <a:gd name="connsiteX175" fmla="*/ 1883786 w 2194030"/>
                <a:gd name="connsiteY175" fmla="*/ 862013 h 1568450"/>
                <a:gd name="connsiteX176" fmla="*/ 1881405 w 2194030"/>
                <a:gd name="connsiteY176" fmla="*/ 870744 h 1568450"/>
                <a:gd name="connsiteX177" fmla="*/ 1880612 w 2194030"/>
                <a:gd name="connsiteY177" fmla="*/ 878681 h 1568450"/>
                <a:gd name="connsiteX178" fmla="*/ 1879025 w 2194030"/>
                <a:gd name="connsiteY178" fmla="*/ 888206 h 1568450"/>
                <a:gd name="connsiteX179" fmla="*/ 1879025 w 2194030"/>
                <a:gd name="connsiteY179" fmla="*/ 1207294 h 1568450"/>
                <a:gd name="connsiteX180" fmla="*/ 1878232 w 2194030"/>
                <a:gd name="connsiteY180" fmla="*/ 1207294 h 1568450"/>
                <a:gd name="connsiteX181" fmla="*/ 1878232 w 2194030"/>
                <a:gd name="connsiteY181" fmla="*/ 1568450 h 1568450"/>
                <a:gd name="connsiteX182" fmla="*/ 1199820 w 2194030"/>
                <a:gd name="connsiteY182" fmla="*/ 1568450 h 1568450"/>
                <a:gd name="connsiteX183" fmla="*/ 1190299 w 2194030"/>
                <a:gd name="connsiteY183" fmla="*/ 1568450 h 1568450"/>
                <a:gd name="connsiteX184" fmla="*/ 1182364 w 2194030"/>
                <a:gd name="connsiteY184" fmla="*/ 1566069 h 1568450"/>
                <a:gd name="connsiteX185" fmla="*/ 1180203 w 2194030"/>
                <a:gd name="connsiteY185" fmla="*/ 1565589 h 1568450"/>
                <a:gd name="connsiteX186" fmla="*/ 1176839 w 2194030"/>
                <a:gd name="connsiteY186" fmla="*/ 1562895 h 1568450"/>
                <a:gd name="connsiteX187" fmla="*/ 1174460 w 2194030"/>
                <a:gd name="connsiteY187" fmla="*/ 1558132 h 1568450"/>
                <a:gd name="connsiteX188" fmla="*/ 1173667 w 2194030"/>
                <a:gd name="connsiteY188" fmla="*/ 1553370 h 1568450"/>
                <a:gd name="connsiteX189" fmla="*/ 1173667 w 2194030"/>
                <a:gd name="connsiteY189" fmla="*/ 1548607 h 1568450"/>
                <a:gd name="connsiteX190" fmla="*/ 1174460 w 2194030"/>
                <a:gd name="connsiteY190" fmla="*/ 1542257 h 1568450"/>
                <a:gd name="connsiteX191" fmla="*/ 1176839 w 2194030"/>
                <a:gd name="connsiteY191" fmla="*/ 1537495 h 1568450"/>
                <a:gd name="connsiteX192" fmla="*/ 1180804 w 2194030"/>
                <a:gd name="connsiteY192" fmla="*/ 1531939 h 1568450"/>
                <a:gd name="connsiteX193" fmla="*/ 1185563 w 2194030"/>
                <a:gd name="connsiteY193" fmla="*/ 1527176 h 1568450"/>
                <a:gd name="connsiteX194" fmla="*/ 1191114 w 2194030"/>
                <a:gd name="connsiteY194" fmla="*/ 1522414 h 1568450"/>
                <a:gd name="connsiteX195" fmla="*/ 1198252 w 2194030"/>
                <a:gd name="connsiteY195" fmla="*/ 1516857 h 1568450"/>
                <a:gd name="connsiteX196" fmla="*/ 1206976 w 2194030"/>
                <a:gd name="connsiteY196" fmla="*/ 1512889 h 1568450"/>
                <a:gd name="connsiteX197" fmla="*/ 1216493 w 2194030"/>
                <a:gd name="connsiteY197" fmla="*/ 1507332 h 1568450"/>
                <a:gd name="connsiteX198" fmla="*/ 1226803 w 2194030"/>
                <a:gd name="connsiteY198" fmla="*/ 1498601 h 1568450"/>
                <a:gd name="connsiteX199" fmla="*/ 1238699 w 2194030"/>
                <a:gd name="connsiteY199" fmla="*/ 1488282 h 1568450"/>
                <a:gd name="connsiteX200" fmla="*/ 1244251 w 2194030"/>
                <a:gd name="connsiteY200" fmla="*/ 1481932 h 1568450"/>
                <a:gd name="connsiteX201" fmla="*/ 1250596 w 2194030"/>
                <a:gd name="connsiteY201" fmla="*/ 1473995 h 1568450"/>
                <a:gd name="connsiteX202" fmla="*/ 1255354 w 2194030"/>
                <a:gd name="connsiteY202" fmla="*/ 1465264 h 1568450"/>
                <a:gd name="connsiteX203" fmla="*/ 1260113 w 2194030"/>
                <a:gd name="connsiteY203" fmla="*/ 1455739 h 1568450"/>
                <a:gd name="connsiteX204" fmla="*/ 1264871 w 2194030"/>
                <a:gd name="connsiteY204" fmla="*/ 1446214 h 1568450"/>
                <a:gd name="connsiteX205" fmla="*/ 1267250 w 2194030"/>
                <a:gd name="connsiteY205" fmla="*/ 1434307 h 1568450"/>
                <a:gd name="connsiteX206" fmla="*/ 1269630 w 2194030"/>
                <a:gd name="connsiteY206" fmla="*/ 1422401 h 1568450"/>
                <a:gd name="connsiteX207" fmla="*/ 1270423 w 2194030"/>
                <a:gd name="connsiteY207" fmla="*/ 1409701 h 1568450"/>
                <a:gd name="connsiteX208" fmla="*/ 1269630 w 2194030"/>
                <a:gd name="connsiteY208" fmla="*/ 1395414 h 1568450"/>
                <a:gd name="connsiteX209" fmla="*/ 1265664 w 2194030"/>
                <a:gd name="connsiteY209" fmla="*/ 1380332 h 1568450"/>
                <a:gd name="connsiteX210" fmla="*/ 1262492 w 2194030"/>
                <a:gd name="connsiteY210" fmla="*/ 1366839 h 1568450"/>
                <a:gd name="connsiteX211" fmla="*/ 1255354 w 2194030"/>
                <a:gd name="connsiteY211" fmla="*/ 1352551 h 1568450"/>
                <a:gd name="connsiteX212" fmla="*/ 1248216 w 2194030"/>
                <a:gd name="connsiteY212" fmla="*/ 1340645 h 1568450"/>
                <a:gd name="connsiteX213" fmla="*/ 1238699 w 2194030"/>
                <a:gd name="connsiteY213" fmla="*/ 1327945 h 1568450"/>
                <a:gd name="connsiteX214" fmla="*/ 1229182 w 2194030"/>
                <a:gd name="connsiteY214" fmla="*/ 1316832 h 1568450"/>
                <a:gd name="connsiteX215" fmla="*/ 1217286 w 2194030"/>
                <a:gd name="connsiteY215" fmla="*/ 1306514 h 1568450"/>
                <a:gd name="connsiteX216" fmla="*/ 1204597 w 2194030"/>
                <a:gd name="connsiteY216" fmla="*/ 1296989 h 1568450"/>
                <a:gd name="connsiteX217" fmla="*/ 1190321 w 2194030"/>
                <a:gd name="connsiteY217" fmla="*/ 1289051 h 1568450"/>
                <a:gd name="connsiteX218" fmla="*/ 1185190 w 2194030"/>
                <a:gd name="connsiteY218" fmla="*/ 1286740 h 1568450"/>
                <a:gd name="connsiteX219" fmla="*/ 1173636 w 2194030"/>
                <a:gd name="connsiteY219" fmla="*/ 1280319 h 1568450"/>
                <a:gd name="connsiteX220" fmla="*/ 1158560 w 2194030"/>
                <a:gd name="connsiteY220" fmla="*/ 1273175 h 1568450"/>
                <a:gd name="connsiteX221" fmla="*/ 1142691 w 2194030"/>
                <a:gd name="connsiteY221" fmla="*/ 1266031 h 1568450"/>
                <a:gd name="connsiteX222" fmla="*/ 1126028 w 2194030"/>
                <a:gd name="connsiteY222" fmla="*/ 1261269 h 1568450"/>
                <a:gd name="connsiteX223" fmla="*/ 1108572 w 2194030"/>
                <a:gd name="connsiteY223" fmla="*/ 1257300 h 1568450"/>
                <a:gd name="connsiteX224" fmla="*/ 1090322 w 2194030"/>
                <a:gd name="connsiteY224" fmla="*/ 1254919 h 1568450"/>
                <a:gd name="connsiteX225" fmla="*/ 1072072 w 2194030"/>
                <a:gd name="connsiteY225" fmla="*/ 1254919 h 1568450"/>
                <a:gd name="connsiteX226" fmla="*/ 1053823 w 2194030"/>
                <a:gd name="connsiteY226" fmla="*/ 1254919 h 1568450"/>
                <a:gd name="connsiteX227" fmla="*/ 1034780 w 2194030"/>
                <a:gd name="connsiteY227" fmla="*/ 1257300 h 1568450"/>
                <a:gd name="connsiteX228" fmla="*/ 1018117 w 2194030"/>
                <a:gd name="connsiteY228" fmla="*/ 1261269 h 1568450"/>
                <a:gd name="connsiteX229" fmla="*/ 1000661 w 2194030"/>
                <a:gd name="connsiteY229" fmla="*/ 1266031 h 1568450"/>
                <a:gd name="connsiteX230" fmla="*/ 984791 w 2194030"/>
                <a:gd name="connsiteY230" fmla="*/ 1273175 h 1568450"/>
                <a:gd name="connsiteX231" fmla="*/ 969716 w 2194030"/>
                <a:gd name="connsiteY231" fmla="*/ 1280319 h 1568450"/>
                <a:gd name="connsiteX232" fmla="*/ 957020 w 2194030"/>
                <a:gd name="connsiteY232" fmla="*/ 1288256 h 1568450"/>
                <a:gd name="connsiteX233" fmla="*/ 943531 w 2194030"/>
                <a:gd name="connsiteY233" fmla="*/ 1297781 h 1568450"/>
                <a:gd name="connsiteX234" fmla="*/ 931629 w 2194030"/>
                <a:gd name="connsiteY234" fmla="*/ 1308100 h 1568450"/>
                <a:gd name="connsiteX235" fmla="*/ 921314 w 2194030"/>
                <a:gd name="connsiteY235" fmla="*/ 1319213 h 1568450"/>
                <a:gd name="connsiteX236" fmla="*/ 911793 w 2194030"/>
                <a:gd name="connsiteY236" fmla="*/ 1331119 h 1568450"/>
                <a:gd name="connsiteX237" fmla="*/ 904652 w 2194030"/>
                <a:gd name="connsiteY237" fmla="*/ 1343819 h 1568450"/>
                <a:gd name="connsiteX238" fmla="*/ 898304 w 2194030"/>
                <a:gd name="connsiteY238" fmla="*/ 1357313 h 1568450"/>
                <a:gd name="connsiteX239" fmla="*/ 893543 w 2194030"/>
                <a:gd name="connsiteY239" fmla="*/ 1371600 h 1568450"/>
                <a:gd name="connsiteX240" fmla="*/ 891163 w 2194030"/>
                <a:gd name="connsiteY240" fmla="*/ 1385888 h 1568450"/>
                <a:gd name="connsiteX241" fmla="*/ 890369 w 2194030"/>
                <a:gd name="connsiteY241" fmla="*/ 1400969 h 1568450"/>
                <a:gd name="connsiteX242" fmla="*/ 890369 w 2194030"/>
                <a:gd name="connsiteY242" fmla="*/ 1414463 h 1568450"/>
                <a:gd name="connsiteX243" fmla="*/ 892750 w 2194030"/>
                <a:gd name="connsiteY243" fmla="*/ 1425575 h 1568450"/>
                <a:gd name="connsiteX244" fmla="*/ 895924 w 2194030"/>
                <a:gd name="connsiteY244" fmla="*/ 1436688 h 1568450"/>
                <a:gd name="connsiteX245" fmla="*/ 899891 w 2194030"/>
                <a:gd name="connsiteY245" fmla="*/ 1447006 h 1568450"/>
                <a:gd name="connsiteX246" fmla="*/ 904652 w 2194030"/>
                <a:gd name="connsiteY246" fmla="*/ 1456531 h 1568450"/>
                <a:gd name="connsiteX247" fmla="*/ 910206 w 2194030"/>
                <a:gd name="connsiteY247" fmla="*/ 1465263 h 1568450"/>
                <a:gd name="connsiteX248" fmla="*/ 916554 w 2194030"/>
                <a:gd name="connsiteY248" fmla="*/ 1472406 h 1568450"/>
                <a:gd name="connsiteX249" fmla="*/ 922108 w 2194030"/>
                <a:gd name="connsiteY249" fmla="*/ 1479550 h 1568450"/>
                <a:gd name="connsiteX250" fmla="*/ 934010 w 2194030"/>
                <a:gd name="connsiteY250" fmla="*/ 1489869 h 1568450"/>
                <a:gd name="connsiteX251" fmla="*/ 943531 w 2194030"/>
                <a:gd name="connsiteY251" fmla="*/ 1497013 h 1568450"/>
                <a:gd name="connsiteX252" fmla="*/ 954640 w 2194030"/>
                <a:gd name="connsiteY252" fmla="*/ 1503363 h 1568450"/>
                <a:gd name="connsiteX253" fmla="*/ 958856 w 2194030"/>
                <a:gd name="connsiteY253" fmla="*/ 1506175 h 1568450"/>
                <a:gd name="connsiteX254" fmla="*/ 960328 w 2194030"/>
                <a:gd name="connsiteY254" fmla="*/ 1507332 h 1568450"/>
                <a:gd name="connsiteX255" fmla="*/ 962448 w 2194030"/>
                <a:gd name="connsiteY255" fmla="*/ 1508570 h 1568450"/>
                <a:gd name="connsiteX256" fmla="*/ 968922 w 2194030"/>
                <a:gd name="connsiteY256" fmla="*/ 1512888 h 1568450"/>
                <a:gd name="connsiteX257" fmla="*/ 974476 w 2194030"/>
                <a:gd name="connsiteY257" fmla="*/ 1518444 h 1568450"/>
                <a:gd name="connsiteX258" fmla="*/ 979237 w 2194030"/>
                <a:gd name="connsiteY258" fmla="*/ 1523206 h 1568450"/>
                <a:gd name="connsiteX259" fmla="*/ 982411 w 2194030"/>
                <a:gd name="connsiteY259" fmla="*/ 1529556 h 1568450"/>
                <a:gd name="connsiteX260" fmla="*/ 984791 w 2194030"/>
                <a:gd name="connsiteY260" fmla="*/ 1534319 h 1568450"/>
                <a:gd name="connsiteX261" fmla="*/ 986378 w 2194030"/>
                <a:gd name="connsiteY261" fmla="*/ 1539875 h 1568450"/>
                <a:gd name="connsiteX262" fmla="*/ 986378 w 2194030"/>
                <a:gd name="connsiteY262" fmla="*/ 1544638 h 1568450"/>
                <a:gd name="connsiteX263" fmla="*/ 984791 w 2194030"/>
                <a:gd name="connsiteY263" fmla="*/ 1549400 h 1568450"/>
                <a:gd name="connsiteX264" fmla="*/ 982411 w 2194030"/>
                <a:gd name="connsiteY264" fmla="*/ 1554163 h 1568450"/>
                <a:gd name="connsiteX265" fmla="*/ 979237 w 2194030"/>
                <a:gd name="connsiteY265" fmla="*/ 1557338 h 1568450"/>
                <a:gd name="connsiteX266" fmla="*/ 974476 w 2194030"/>
                <a:gd name="connsiteY266" fmla="*/ 1561306 h 1568450"/>
                <a:gd name="connsiteX267" fmla="*/ 968922 w 2194030"/>
                <a:gd name="connsiteY267" fmla="*/ 1564481 h 1568450"/>
                <a:gd name="connsiteX268" fmla="*/ 961781 w 2194030"/>
                <a:gd name="connsiteY268" fmla="*/ 1566069 h 1568450"/>
                <a:gd name="connsiteX269" fmla="*/ 953053 w 2194030"/>
                <a:gd name="connsiteY269" fmla="*/ 1568450 h 1568450"/>
                <a:gd name="connsiteX270" fmla="*/ 945118 w 2194030"/>
                <a:gd name="connsiteY270" fmla="*/ 1568450 h 1568450"/>
                <a:gd name="connsiteX271" fmla="*/ 307967 w 2194030"/>
                <a:gd name="connsiteY271" fmla="*/ 1568450 h 1568450"/>
                <a:gd name="connsiteX272" fmla="*/ 307967 w 2194030"/>
                <a:gd name="connsiteY272" fmla="*/ 1134269 h 1568450"/>
                <a:gd name="connsiteX273" fmla="*/ 306380 w 2194030"/>
                <a:gd name="connsiteY273" fmla="*/ 1134269 h 1568450"/>
                <a:gd name="connsiteX274" fmla="*/ 306380 w 2194030"/>
                <a:gd name="connsiteY274" fmla="*/ 935038 h 1568450"/>
                <a:gd name="connsiteX275" fmla="*/ 306380 w 2194030"/>
                <a:gd name="connsiteY275" fmla="*/ 925513 h 1568450"/>
                <a:gd name="connsiteX276" fmla="*/ 304954 w 2194030"/>
                <a:gd name="connsiteY276" fmla="*/ 919806 h 1568450"/>
                <a:gd name="connsiteX277" fmla="*/ 304954 w 2194030"/>
                <a:gd name="connsiteY277" fmla="*/ 914401 h 1568450"/>
                <a:gd name="connsiteX278" fmla="*/ 302560 w 2194030"/>
                <a:gd name="connsiteY278" fmla="*/ 911666 h 1568450"/>
                <a:gd name="connsiteX279" fmla="*/ 301619 w 2194030"/>
                <a:gd name="connsiteY279" fmla="*/ 908844 h 1568450"/>
                <a:gd name="connsiteX280" fmla="*/ 298445 w 2194030"/>
                <a:gd name="connsiteY280" fmla="*/ 902494 h 1568450"/>
                <a:gd name="connsiteX281" fmla="*/ 293685 w 2194030"/>
                <a:gd name="connsiteY281" fmla="*/ 896938 h 1568450"/>
                <a:gd name="connsiteX282" fmla="*/ 286543 w 2194030"/>
                <a:gd name="connsiteY282" fmla="*/ 894556 h 1568450"/>
                <a:gd name="connsiteX283" fmla="*/ 279402 w 2194030"/>
                <a:gd name="connsiteY283" fmla="*/ 892969 h 1568450"/>
                <a:gd name="connsiteX284" fmla="*/ 271468 w 2194030"/>
                <a:gd name="connsiteY284" fmla="*/ 894556 h 1568450"/>
                <a:gd name="connsiteX285" fmla="*/ 264326 w 2194030"/>
                <a:gd name="connsiteY285" fmla="*/ 897731 h 1568450"/>
                <a:gd name="connsiteX286" fmla="*/ 255598 w 2194030"/>
                <a:gd name="connsiteY286" fmla="*/ 904875 h 1568450"/>
                <a:gd name="connsiteX287" fmla="*/ 248457 w 2194030"/>
                <a:gd name="connsiteY287" fmla="*/ 914400 h 1568450"/>
                <a:gd name="connsiteX288" fmla="*/ 242903 w 2194030"/>
                <a:gd name="connsiteY288" fmla="*/ 925513 h 1568450"/>
                <a:gd name="connsiteX289" fmla="*/ 236555 w 2194030"/>
                <a:gd name="connsiteY289" fmla="*/ 935831 h 1568450"/>
                <a:gd name="connsiteX290" fmla="*/ 228621 w 2194030"/>
                <a:gd name="connsiteY290" fmla="*/ 945356 h 1568450"/>
                <a:gd name="connsiteX291" fmla="*/ 217512 w 2194030"/>
                <a:gd name="connsiteY291" fmla="*/ 957263 h 1568450"/>
                <a:gd name="connsiteX292" fmla="*/ 210371 w 2194030"/>
                <a:gd name="connsiteY292" fmla="*/ 962819 h 1568450"/>
                <a:gd name="connsiteX293" fmla="*/ 203230 w 2194030"/>
                <a:gd name="connsiteY293" fmla="*/ 969169 h 1568450"/>
                <a:gd name="connsiteX294" fmla="*/ 195295 w 2194030"/>
                <a:gd name="connsiteY294" fmla="*/ 974725 h 1568450"/>
                <a:gd name="connsiteX295" fmla="*/ 185773 w 2194030"/>
                <a:gd name="connsiteY295" fmla="*/ 979488 h 1568450"/>
                <a:gd name="connsiteX296" fmla="*/ 176252 w 2194030"/>
                <a:gd name="connsiteY296" fmla="*/ 983456 h 1568450"/>
                <a:gd name="connsiteX297" fmla="*/ 164350 w 2194030"/>
                <a:gd name="connsiteY297" fmla="*/ 986631 h 1568450"/>
                <a:gd name="connsiteX298" fmla="*/ 152448 w 2194030"/>
                <a:gd name="connsiteY298" fmla="*/ 988219 h 1568450"/>
                <a:gd name="connsiteX299" fmla="*/ 139753 w 2194030"/>
                <a:gd name="connsiteY299" fmla="*/ 989013 h 1568450"/>
                <a:gd name="connsiteX300" fmla="*/ 125470 w 2194030"/>
                <a:gd name="connsiteY300" fmla="*/ 988219 h 1568450"/>
                <a:gd name="connsiteX301" fmla="*/ 109601 w 2194030"/>
                <a:gd name="connsiteY301" fmla="*/ 985838 h 1568450"/>
                <a:gd name="connsiteX302" fmla="*/ 95319 w 2194030"/>
                <a:gd name="connsiteY302" fmla="*/ 981075 h 1568450"/>
                <a:gd name="connsiteX303" fmla="*/ 82623 w 2194030"/>
                <a:gd name="connsiteY303" fmla="*/ 974725 h 1568450"/>
                <a:gd name="connsiteX304" fmla="*/ 69134 w 2194030"/>
                <a:gd name="connsiteY304" fmla="*/ 967581 h 1568450"/>
                <a:gd name="connsiteX305" fmla="*/ 58026 w 2194030"/>
                <a:gd name="connsiteY305" fmla="*/ 958850 h 1568450"/>
                <a:gd name="connsiteX306" fmla="*/ 46917 w 2194030"/>
                <a:gd name="connsiteY306" fmla="*/ 947738 h 1568450"/>
                <a:gd name="connsiteX307" fmla="*/ 36602 w 2194030"/>
                <a:gd name="connsiteY307" fmla="*/ 935831 h 1568450"/>
                <a:gd name="connsiteX308" fmla="*/ 27081 w 2194030"/>
                <a:gd name="connsiteY308" fmla="*/ 923131 h 1568450"/>
                <a:gd name="connsiteX309" fmla="*/ 22807 w 2194030"/>
                <a:gd name="connsiteY309" fmla="*/ 916135 h 1568450"/>
                <a:gd name="connsiteX310" fmla="*/ 17471 w 2194030"/>
                <a:gd name="connsiteY310" fmla="*/ 904876 h 1568450"/>
                <a:gd name="connsiteX311" fmla="*/ 11912 w 2194030"/>
                <a:gd name="connsiteY311" fmla="*/ 889001 h 1568450"/>
                <a:gd name="connsiteX312" fmla="*/ 5559 w 2194030"/>
                <a:gd name="connsiteY312" fmla="*/ 871539 h 1568450"/>
                <a:gd name="connsiteX313" fmla="*/ 2383 w 2194030"/>
                <a:gd name="connsiteY313" fmla="*/ 854870 h 1568450"/>
                <a:gd name="connsiteX314" fmla="*/ 0 w 2194030"/>
                <a:gd name="connsiteY314" fmla="*/ 835820 h 1568450"/>
                <a:gd name="connsiteX315" fmla="*/ 0 w 2194030"/>
                <a:gd name="connsiteY315" fmla="*/ 818358 h 1568450"/>
                <a:gd name="connsiteX316" fmla="*/ 0 w 2194030"/>
                <a:gd name="connsiteY316" fmla="*/ 799308 h 1568450"/>
                <a:gd name="connsiteX317" fmla="*/ 2383 w 2194030"/>
                <a:gd name="connsiteY317" fmla="*/ 781051 h 1568450"/>
                <a:gd name="connsiteX318" fmla="*/ 5559 w 2194030"/>
                <a:gd name="connsiteY318" fmla="*/ 763589 h 1568450"/>
                <a:gd name="connsiteX319" fmla="*/ 11912 w 2194030"/>
                <a:gd name="connsiteY319" fmla="*/ 746920 h 1568450"/>
                <a:gd name="connsiteX320" fmla="*/ 17471 w 2194030"/>
                <a:gd name="connsiteY320" fmla="*/ 731839 h 1568450"/>
                <a:gd name="connsiteX321" fmla="*/ 24619 w 2194030"/>
                <a:gd name="connsiteY321" fmla="*/ 715964 h 1568450"/>
                <a:gd name="connsiteX322" fmla="*/ 33355 w 2194030"/>
                <a:gd name="connsiteY322" fmla="*/ 701676 h 1568450"/>
                <a:gd name="connsiteX323" fmla="*/ 42884 w 2194030"/>
                <a:gd name="connsiteY323" fmla="*/ 688976 h 1568450"/>
                <a:gd name="connsiteX324" fmla="*/ 53208 w 2194030"/>
                <a:gd name="connsiteY324" fmla="*/ 677070 h 1568450"/>
                <a:gd name="connsiteX325" fmla="*/ 64326 w 2194030"/>
                <a:gd name="connsiteY325" fmla="*/ 667545 h 1568450"/>
                <a:gd name="connsiteX326" fmla="*/ 75445 w 2194030"/>
                <a:gd name="connsiteY326" fmla="*/ 658020 h 1568450"/>
                <a:gd name="connsiteX327" fmla="*/ 88945 w 2194030"/>
                <a:gd name="connsiteY327" fmla="*/ 649289 h 1568450"/>
                <a:gd name="connsiteX328" fmla="*/ 101652 w 2194030"/>
                <a:gd name="connsiteY328" fmla="*/ 643733 h 1568450"/>
                <a:gd name="connsiteX329" fmla="*/ 115946 w 2194030"/>
                <a:gd name="connsiteY329" fmla="*/ 638970 h 1568450"/>
                <a:gd name="connsiteX330" fmla="*/ 130241 w 2194030"/>
                <a:gd name="connsiteY330" fmla="*/ 636589 h 1568450"/>
                <a:gd name="connsiteX331" fmla="*/ 146124 w 2194030"/>
                <a:gd name="connsiteY331" fmla="*/ 635001 h 1568450"/>
                <a:gd name="connsiteX332" fmla="*/ 158830 w 2194030"/>
                <a:gd name="connsiteY332" fmla="*/ 636589 h 1568450"/>
                <a:gd name="connsiteX333" fmla="*/ 170743 w 2194030"/>
                <a:gd name="connsiteY333" fmla="*/ 638970 h 1568450"/>
                <a:gd name="connsiteX334" fmla="*/ 182655 w 2194030"/>
                <a:gd name="connsiteY334" fmla="*/ 641351 h 1568450"/>
                <a:gd name="connsiteX335" fmla="*/ 192185 w 2194030"/>
                <a:gd name="connsiteY335" fmla="*/ 646114 h 1568450"/>
                <a:gd name="connsiteX336" fmla="*/ 201715 w 2194030"/>
                <a:gd name="connsiteY336" fmla="*/ 650876 h 1568450"/>
                <a:gd name="connsiteX337" fmla="*/ 209656 w 2194030"/>
                <a:gd name="connsiteY337" fmla="*/ 655639 h 1568450"/>
                <a:gd name="connsiteX338" fmla="*/ 216803 w 2194030"/>
                <a:gd name="connsiteY338" fmla="*/ 661195 h 1568450"/>
                <a:gd name="connsiteX339" fmla="*/ 223951 w 2194030"/>
                <a:gd name="connsiteY339" fmla="*/ 667545 h 1568450"/>
                <a:gd name="connsiteX340" fmla="*/ 235069 w 2194030"/>
                <a:gd name="connsiteY340" fmla="*/ 679451 h 1568450"/>
                <a:gd name="connsiteX341" fmla="*/ 243010 w 2194030"/>
                <a:gd name="connsiteY341" fmla="*/ 689770 h 1568450"/>
                <a:gd name="connsiteX342" fmla="*/ 243888 w 2194030"/>
                <a:gd name="connsiteY342" fmla="*/ 691085 h 1568450"/>
                <a:gd name="connsiteX343" fmla="*/ 248457 w 2194030"/>
                <a:gd name="connsiteY343" fmla="*/ 700881 h 1568450"/>
                <a:gd name="connsiteX344" fmla="*/ 252297 w 2194030"/>
                <a:gd name="connsiteY344" fmla="*/ 705576 h 1568450"/>
                <a:gd name="connsiteX345" fmla="*/ 254923 w 2194030"/>
                <a:gd name="connsiteY345" fmla="*/ 711201 h 1568450"/>
                <a:gd name="connsiteX346" fmla="*/ 262070 w 2194030"/>
                <a:gd name="connsiteY346" fmla="*/ 719933 h 1568450"/>
                <a:gd name="connsiteX347" fmla="*/ 270806 w 2194030"/>
                <a:gd name="connsiteY347" fmla="*/ 727076 h 1568450"/>
                <a:gd name="connsiteX348" fmla="*/ 277953 w 2194030"/>
                <a:gd name="connsiteY348" fmla="*/ 730251 h 1568450"/>
                <a:gd name="connsiteX349" fmla="*/ 285895 w 2194030"/>
                <a:gd name="connsiteY349" fmla="*/ 732633 h 1568450"/>
                <a:gd name="connsiteX350" fmla="*/ 293042 w 2194030"/>
                <a:gd name="connsiteY350" fmla="*/ 731839 h 1568450"/>
                <a:gd name="connsiteX351" fmla="*/ 299395 w 2194030"/>
                <a:gd name="connsiteY351" fmla="*/ 727870 h 1568450"/>
                <a:gd name="connsiteX352" fmla="*/ 304954 w 2194030"/>
                <a:gd name="connsiteY352" fmla="*/ 722314 h 1568450"/>
                <a:gd name="connsiteX353" fmla="*/ 304954 w 2194030"/>
                <a:gd name="connsiteY353" fmla="*/ 694682 h 1568450"/>
                <a:gd name="connsiteX354" fmla="*/ 306380 w 2194030"/>
                <a:gd name="connsiteY354" fmla="*/ 688975 h 1568450"/>
                <a:gd name="connsiteX355" fmla="*/ 306380 w 2194030"/>
                <a:gd name="connsiteY355" fmla="*/ 679450 h 1568450"/>
                <a:gd name="connsiteX356" fmla="*/ 306380 w 2194030"/>
                <a:gd name="connsiteY356" fmla="*/ 360363 h 1568450"/>
                <a:gd name="connsiteX357" fmla="*/ 307967 w 2194030"/>
                <a:gd name="connsiteY357" fmla="*/ 360363 h 1568450"/>
                <a:gd name="connsiteX358" fmla="*/ 307967 w 2194030"/>
                <a:gd name="connsiteY358" fmla="*/ 0 h 156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Lst>
              <a:rect l="l" t="t" r="r" b="b"/>
              <a:pathLst>
                <a:path w="2194030" h="1568450">
                  <a:moveTo>
                    <a:pt x="307967" y="0"/>
                  </a:moveTo>
                  <a:lnTo>
                    <a:pt x="313924" y="0"/>
                  </a:lnTo>
                  <a:lnTo>
                    <a:pt x="313924" y="3045"/>
                  </a:lnTo>
                  <a:lnTo>
                    <a:pt x="994556" y="672"/>
                  </a:lnTo>
                  <a:lnTo>
                    <a:pt x="995900" y="794"/>
                  </a:lnTo>
                  <a:lnTo>
                    <a:pt x="1003835" y="2381"/>
                  </a:lnTo>
                  <a:lnTo>
                    <a:pt x="1010976" y="4763"/>
                  </a:lnTo>
                  <a:lnTo>
                    <a:pt x="1017323" y="7144"/>
                  </a:lnTo>
                  <a:lnTo>
                    <a:pt x="1022084" y="10319"/>
                  </a:lnTo>
                  <a:lnTo>
                    <a:pt x="1025258" y="14288"/>
                  </a:lnTo>
                  <a:lnTo>
                    <a:pt x="1027638" y="19050"/>
                  </a:lnTo>
                  <a:lnTo>
                    <a:pt x="1029225" y="23813"/>
                  </a:lnTo>
                  <a:lnTo>
                    <a:pt x="1029225" y="29369"/>
                  </a:lnTo>
                  <a:lnTo>
                    <a:pt x="1027638" y="34131"/>
                  </a:lnTo>
                  <a:lnTo>
                    <a:pt x="1025258" y="39688"/>
                  </a:lnTo>
                  <a:lnTo>
                    <a:pt x="1022084" y="44450"/>
                  </a:lnTo>
                  <a:lnTo>
                    <a:pt x="1017323" y="50800"/>
                  </a:lnTo>
                  <a:lnTo>
                    <a:pt x="1010976" y="55563"/>
                  </a:lnTo>
                  <a:lnTo>
                    <a:pt x="1005422" y="60325"/>
                  </a:lnTo>
                  <a:lnTo>
                    <a:pt x="996693" y="65088"/>
                  </a:lnTo>
                  <a:lnTo>
                    <a:pt x="986378" y="70644"/>
                  </a:lnTo>
                  <a:lnTo>
                    <a:pt x="976857" y="77788"/>
                  </a:lnTo>
                  <a:lnTo>
                    <a:pt x="964955" y="88900"/>
                  </a:lnTo>
                  <a:lnTo>
                    <a:pt x="959401" y="96044"/>
                  </a:lnTo>
                  <a:lnTo>
                    <a:pt x="953053" y="103188"/>
                  </a:lnTo>
                  <a:lnTo>
                    <a:pt x="947499" y="111125"/>
                  </a:lnTo>
                  <a:lnTo>
                    <a:pt x="942738" y="120650"/>
                  </a:lnTo>
                  <a:lnTo>
                    <a:pt x="938771" y="131763"/>
                  </a:lnTo>
                  <a:lnTo>
                    <a:pt x="935597" y="142081"/>
                  </a:lnTo>
                  <a:lnTo>
                    <a:pt x="933216" y="153988"/>
                  </a:lnTo>
                  <a:lnTo>
                    <a:pt x="933216" y="166688"/>
                  </a:lnTo>
                  <a:lnTo>
                    <a:pt x="934010" y="182563"/>
                  </a:lnTo>
                  <a:lnTo>
                    <a:pt x="936390" y="196850"/>
                  </a:lnTo>
                  <a:lnTo>
                    <a:pt x="941151" y="211138"/>
                  </a:lnTo>
                  <a:lnTo>
                    <a:pt x="947499" y="223838"/>
                  </a:lnTo>
                  <a:lnTo>
                    <a:pt x="954640" y="237331"/>
                  </a:lnTo>
                  <a:lnTo>
                    <a:pt x="964161" y="249238"/>
                  </a:lnTo>
                  <a:lnTo>
                    <a:pt x="974476" y="261144"/>
                  </a:lnTo>
                  <a:lnTo>
                    <a:pt x="986378" y="269875"/>
                  </a:lnTo>
                  <a:lnTo>
                    <a:pt x="999074" y="279400"/>
                  </a:lnTo>
                  <a:lnTo>
                    <a:pt x="1012563" y="288131"/>
                  </a:lnTo>
                  <a:lnTo>
                    <a:pt x="1027638" y="296069"/>
                  </a:lnTo>
                  <a:lnTo>
                    <a:pt x="1044301" y="302419"/>
                  </a:lnTo>
                  <a:lnTo>
                    <a:pt x="1060964" y="307181"/>
                  </a:lnTo>
                  <a:lnTo>
                    <a:pt x="1077627" y="310356"/>
                  </a:lnTo>
                  <a:lnTo>
                    <a:pt x="1080534" y="310720"/>
                  </a:lnTo>
                  <a:lnTo>
                    <a:pt x="1085917" y="311944"/>
                  </a:lnTo>
                  <a:lnTo>
                    <a:pt x="1103373" y="314326"/>
                  </a:lnTo>
                  <a:lnTo>
                    <a:pt x="1122415" y="314326"/>
                  </a:lnTo>
                  <a:lnTo>
                    <a:pt x="1141456" y="314326"/>
                  </a:lnTo>
                  <a:lnTo>
                    <a:pt x="1159705" y="311944"/>
                  </a:lnTo>
                  <a:lnTo>
                    <a:pt x="1177160" y="307974"/>
                  </a:lnTo>
                  <a:lnTo>
                    <a:pt x="1193822" y="303209"/>
                  </a:lnTo>
                  <a:lnTo>
                    <a:pt x="1208897" y="296062"/>
                  </a:lnTo>
                  <a:lnTo>
                    <a:pt x="1224765" y="288915"/>
                  </a:lnTo>
                  <a:lnTo>
                    <a:pt x="1239047" y="280975"/>
                  </a:lnTo>
                  <a:lnTo>
                    <a:pt x="1251741" y="271446"/>
                  </a:lnTo>
                  <a:lnTo>
                    <a:pt x="1262849" y="261123"/>
                  </a:lnTo>
                  <a:lnTo>
                    <a:pt x="1273164" y="250005"/>
                  </a:lnTo>
                  <a:lnTo>
                    <a:pt x="1282685" y="238094"/>
                  </a:lnTo>
                  <a:lnTo>
                    <a:pt x="1289825" y="225389"/>
                  </a:lnTo>
                  <a:lnTo>
                    <a:pt x="1296966" y="211889"/>
                  </a:lnTo>
                  <a:lnTo>
                    <a:pt x="1300933" y="197596"/>
                  </a:lnTo>
                  <a:lnTo>
                    <a:pt x="1304107" y="183302"/>
                  </a:lnTo>
                  <a:lnTo>
                    <a:pt x="1305694" y="168215"/>
                  </a:lnTo>
                  <a:lnTo>
                    <a:pt x="1304107" y="155509"/>
                  </a:lnTo>
                  <a:lnTo>
                    <a:pt x="1301727" y="143598"/>
                  </a:lnTo>
                  <a:lnTo>
                    <a:pt x="1299346" y="131687"/>
                  </a:lnTo>
                  <a:lnTo>
                    <a:pt x="1294586" y="122158"/>
                  </a:lnTo>
                  <a:lnTo>
                    <a:pt x="1289825" y="112629"/>
                  </a:lnTo>
                  <a:lnTo>
                    <a:pt x="1285065" y="103894"/>
                  </a:lnTo>
                  <a:lnTo>
                    <a:pt x="1279511" y="96747"/>
                  </a:lnTo>
                  <a:lnTo>
                    <a:pt x="1273164" y="89600"/>
                  </a:lnTo>
                  <a:lnTo>
                    <a:pt x="1261262" y="79277"/>
                  </a:lnTo>
                  <a:lnTo>
                    <a:pt x="1250948" y="70542"/>
                  </a:lnTo>
                  <a:lnTo>
                    <a:pt x="1241427" y="64984"/>
                  </a:lnTo>
                  <a:lnTo>
                    <a:pt x="1232699" y="61013"/>
                  </a:lnTo>
                  <a:lnTo>
                    <a:pt x="1225559" y="56249"/>
                  </a:lnTo>
                  <a:lnTo>
                    <a:pt x="1220005" y="50690"/>
                  </a:lnTo>
                  <a:lnTo>
                    <a:pt x="1215244" y="45926"/>
                  </a:lnTo>
                  <a:lnTo>
                    <a:pt x="1211277" y="40367"/>
                  </a:lnTo>
                  <a:lnTo>
                    <a:pt x="1208897" y="35602"/>
                  </a:lnTo>
                  <a:lnTo>
                    <a:pt x="1208103" y="29250"/>
                  </a:lnTo>
                  <a:lnTo>
                    <a:pt x="1208103" y="24485"/>
                  </a:lnTo>
                  <a:lnTo>
                    <a:pt x="1208897" y="19721"/>
                  </a:lnTo>
                  <a:lnTo>
                    <a:pt x="1211277" y="14956"/>
                  </a:lnTo>
                  <a:lnTo>
                    <a:pt x="1215244" y="11780"/>
                  </a:lnTo>
                  <a:lnTo>
                    <a:pt x="1220005" y="7809"/>
                  </a:lnTo>
                  <a:lnTo>
                    <a:pt x="1225559" y="4633"/>
                  </a:lnTo>
                  <a:lnTo>
                    <a:pt x="1232699" y="2251"/>
                  </a:lnTo>
                  <a:lnTo>
                    <a:pt x="1241427" y="663"/>
                  </a:lnTo>
                  <a:lnTo>
                    <a:pt x="1250948" y="663"/>
                  </a:lnTo>
                  <a:lnTo>
                    <a:pt x="1878232" y="663"/>
                  </a:lnTo>
                  <a:lnTo>
                    <a:pt x="1878232" y="434181"/>
                  </a:lnTo>
                  <a:lnTo>
                    <a:pt x="1879025" y="434181"/>
                  </a:lnTo>
                  <a:lnTo>
                    <a:pt x="1879025" y="633413"/>
                  </a:lnTo>
                  <a:lnTo>
                    <a:pt x="1880612" y="642938"/>
                  </a:lnTo>
                  <a:lnTo>
                    <a:pt x="1881405" y="652463"/>
                  </a:lnTo>
                  <a:lnTo>
                    <a:pt x="1883786" y="659606"/>
                  </a:lnTo>
                  <a:lnTo>
                    <a:pt x="1887753" y="665163"/>
                  </a:lnTo>
                  <a:lnTo>
                    <a:pt x="1893307" y="671513"/>
                  </a:lnTo>
                  <a:lnTo>
                    <a:pt x="1900449" y="674688"/>
                  </a:lnTo>
                  <a:lnTo>
                    <a:pt x="1902684" y="674688"/>
                  </a:lnTo>
                  <a:lnTo>
                    <a:pt x="1902684" y="675340"/>
                  </a:lnTo>
                  <a:lnTo>
                    <a:pt x="1907667" y="681038"/>
                  </a:lnTo>
                  <a:lnTo>
                    <a:pt x="1914809" y="684213"/>
                  </a:lnTo>
                  <a:lnTo>
                    <a:pt x="1921950" y="684213"/>
                  </a:lnTo>
                  <a:lnTo>
                    <a:pt x="1929091" y="683419"/>
                  </a:lnTo>
                  <a:lnTo>
                    <a:pt x="1937819" y="679450"/>
                  </a:lnTo>
                  <a:lnTo>
                    <a:pt x="1944960" y="672306"/>
                  </a:lnTo>
                  <a:lnTo>
                    <a:pt x="1952101" y="664369"/>
                  </a:lnTo>
                  <a:lnTo>
                    <a:pt x="1959243" y="652463"/>
                  </a:lnTo>
                  <a:lnTo>
                    <a:pt x="1964797" y="642938"/>
                  </a:lnTo>
                  <a:lnTo>
                    <a:pt x="1971938" y="631825"/>
                  </a:lnTo>
                  <a:lnTo>
                    <a:pt x="1983046" y="620713"/>
                  </a:lnTo>
                  <a:lnTo>
                    <a:pt x="1990188" y="614363"/>
                  </a:lnTo>
                  <a:lnTo>
                    <a:pt x="1997329" y="608806"/>
                  </a:lnTo>
                  <a:lnTo>
                    <a:pt x="2006057" y="604044"/>
                  </a:lnTo>
                  <a:lnTo>
                    <a:pt x="2014785" y="599281"/>
                  </a:lnTo>
                  <a:lnTo>
                    <a:pt x="2025100" y="594519"/>
                  </a:lnTo>
                  <a:lnTo>
                    <a:pt x="2036209" y="592138"/>
                  </a:lnTo>
                  <a:lnTo>
                    <a:pt x="2048111" y="589756"/>
                  </a:lnTo>
                  <a:lnTo>
                    <a:pt x="2060806" y="588169"/>
                  </a:lnTo>
                  <a:lnTo>
                    <a:pt x="2076675" y="589756"/>
                  </a:lnTo>
                  <a:lnTo>
                    <a:pt x="2090958" y="592138"/>
                  </a:lnTo>
                  <a:lnTo>
                    <a:pt x="2105240" y="596900"/>
                  </a:lnTo>
                  <a:lnTo>
                    <a:pt x="2116554" y="601851"/>
                  </a:lnTo>
                  <a:lnTo>
                    <a:pt x="2128173" y="609600"/>
                  </a:lnTo>
                  <a:lnTo>
                    <a:pt x="2140075" y="619919"/>
                  </a:lnTo>
                  <a:lnTo>
                    <a:pt x="2151183" y="631825"/>
                  </a:lnTo>
                  <a:lnTo>
                    <a:pt x="2159118" y="645319"/>
                  </a:lnTo>
                  <a:lnTo>
                    <a:pt x="2168639" y="659606"/>
                  </a:lnTo>
                  <a:lnTo>
                    <a:pt x="2175780" y="674688"/>
                  </a:lnTo>
                  <a:lnTo>
                    <a:pt x="2182128" y="690563"/>
                  </a:lnTo>
                  <a:lnTo>
                    <a:pt x="2186889" y="707231"/>
                  </a:lnTo>
                  <a:lnTo>
                    <a:pt x="2190063" y="724694"/>
                  </a:lnTo>
                  <a:lnTo>
                    <a:pt x="2192443" y="742156"/>
                  </a:lnTo>
                  <a:lnTo>
                    <a:pt x="2194030" y="761206"/>
                  </a:lnTo>
                  <a:lnTo>
                    <a:pt x="2192443" y="779463"/>
                  </a:lnTo>
                  <a:lnTo>
                    <a:pt x="2190063" y="798513"/>
                  </a:lnTo>
                  <a:lnTo>
                    <a:pt x="2186889" y="815181"/>
                  </a:lnTo>
                  <a:lnTo>
                    <a:pt x="2182128" y="831850"/>
                  </a:lnTo>
                  <a:lnTo>
                    <a:pt x="2175780" y="847725"/>
                  </a:lnTo>
                  <a:lnTo>
                    <a:pt x="2168639" y="863600"/>
                  </a:lnTo>
                  <a:lnTo>
                    <a:pt x="2159118" y="876300"/>
                  </a:lnTo>
                  <a:lnTo>
                    <a:pt x="2151183" y="889794"/>
                  </a:lnTo>
                  <a:lnTo>
                    <a:pt x="2140075" y="901700"/>
                  </a:lnTo>
                  <a:lnTo>
                    <a:pt x="2128173" y="912019"/>
                  </a:lnTo>
                  <a:lnTo>
                    <a:pt x="2116271" y="921544"/>
                  </a:lnTo>
                  <a:lnTo>
                    <a:pt x="2103575" y="928688"/>
                  </a:lnTo>
                  <a:lnTo>
                    <a:pt x="2090880" y="935038"/>
                  </a:lnTo>
                  <a:lnTo>
                    <a:pt x="2076598" y="939800"/>
                  </a:lnTo>
                  <a:lnTo>
                    <a:pt x="2062315" y="942181"/>
                  </a:lnTo>
                  <a:lnTo>
                    <a:pt x="2046446" y="942975"/>
                  </a:lnTo>
                  <a:lnTo>
                    <a:pt x="2033751" y="942975"/>
                  </a:lnTo>
                  <a:lnTo>
                    <a:pt x="2021849" y="940594"/>
                  </a:lnTo>
                  <a:lnTo>
                    <a:pt x="2010740" y="937419"/>
                  </a:lnTo>
                  <a:lnTo>
                    <a:pt x="2000425" y="933450"/>
                  </a:lnTo>
                  <a:lnTo>
                    <a:pt x="1994724" y="930340"/>
                  </a:lnTo>
                  <a:lnTo>
                    <a:pt x="1990188" y="926306"/>
                  </a:lnTo>
                  <a:lnTo>
                    <a:pt x="1983046" y="920750"/>
                  </a:lnTo>
                  <a:lnTo>
                    <a:pt x="1971938" y="908844"/>
                  </a:lnTo>
                  <a:lnTo>
                    <a:pt x="1964797" y="899319"/>
                  </a:lnTo>
                  <a:lnTo>
                    <a:pt x="1959243" y="888206"/>
                  </a:lnTo>
                  <a:lnTo>
                    <a:pt x="1952101" y="877888"/>
                  </a:lnTo>
                  <a:lnTo>
                    <a:pt x="1944960" y="868363"/>
                  </a:lnTo>
                  <a:lnTo>
                    <a:pt x="1937819" y="862013"/>
                  </a:lnTo>
                  <a:lnTo>
                    <a:pt x="1929091" y="857250"/>
                  </a:lnTo>
                  <a:lnTo>
                    <a:pt x="1928775" y="857215"/>
                  </a:lnTo>
                  <a:lnTo>
                    <a:pt x="1923459" y="852488"/>
                  </a:lnTo>
                  <a:lnTo>
                    <a:pt x="1914731" y="847725"/>
                  </a:lnTo>
                  <a:lnTo>
                    <a:pt x="1907590" y="846931"/>
                  </a:lnTo>
                  <a:lnTo>
                    <a:pt x="1900449" y="847725"/>
                  </a:lnTo>
                  <a:lnTo>
                    <a:pt x="1893307" y="851694"/>
                  </a:lnTo>
                  <a:lnTo>
                    <a:pt x="1887753" y="856456"/>
                  </a:lnTo>
                  <a:lnTo>
                    <a:pt x="1883786" y="862013"/>
                  </a:lnTo>
                  <a:lnTo>
                    <a:pt x="1881405" y="870744"/>
                  </a:lnTo>
                  <a:lnTo>
                    <a:pt x="1880612" y="878681"/>
                  </a:lnTo>
                  <a:lnTo>
                    <a:pt x="1879025" y="888206"/>
                  </a:lnTo>
                  <a:lnTo>
                    <a:pt x="1879025" y="1207294"/>
                  </a:lnTo>
                  <a:lnTo>
                    <a:pt x="1878232" y="1207294"/>
                  </a:lnTo>
                  <a:lnTo>
                    <a:pt x="1878232" y="1568450"/>
                  </a:lnTo>
                  <a:lnTo>
                    <a:pt x="1199820" y="1568450"/>
                  </a:lnTo>
                  <a:lnTo>
                    <a:pt x="1190299" y="1568450"/>
                  </a:lnTo>
                  <a:lnTo>
                    <a:pt x="1182364" y="1566069"/>
                  </a:lnTo>
                  <a:lnTo>
                    <a:pt x="1180203" y="1565589"/>
                  </a:lnTo>
                  <a:lnTo>
                    <a:pt x="1176839" y="1562895"/>
                  </a:lnTo>
                  <a:lnTo>
                    <a:pt x="1174460" y="1558132"/>
                  </a:lnTo>
                  <a:lnTo>
                    <a:pt x="1173667" y="1553370"/>
                  </a:lnTo>
                  <a:lnTo>
                    <a:pt x="1173667" y="1548607"/>
                  </a:lnTo>
                  <a:lnTo>
                    <a:pt x="1174460" y="1542257"/>
                  </a:lnTo>
                  <a:lnTo>
                    <a:pt x="1176839" y="1537495"/>
                  </a:lnTo>
                  <a:lnTo>
                    <a:pt x="1180804" y="1531939"/>
                  </a:lnTo>
                  <a:lnTo>
                    <a:pt x="1185563" y="1527176"/>
                  </a:lnTo>
                  <a:lnTo>
                    <a:pt x="1191114" y="1522414"/>
                  </a:lnTo>
                  <a:lnTo>
                    <a:pt x="1198252" y="1516857"/>
                  </a:lnTo>
                  <a:lnTo>
                    <a:pt x="1206976" y="1512889"/>
                  </a:lnTo>
                  <a:lnTo>
                    <a:pt x="1216493" y="1507332"/>
                  </a:lnTo>
                  <a:lnTo>
                    <a:pt x="1226803" y="1498601"/>
                  </a:lnTo>
                  <a:lnTo>
                    <a:pt x="1238699" y="1488282"/>
                  </a:lnTo>
                  <a:lnTo>
                    <a:pt x="1244251" y="1481932"/>
                  </a:lnTo>
                  <a:lnTo>
                    <a:pt x="1250596" y="1473995"/>
                  </a:lnTo>
                  <a:lnTo>
                    <a:pt x="1255354" y="1465264"/>
                  </a:lnTo>
                  <a:lnTo>
                    <a:pt x="1260113" y="1455739"/>
                  </a:lnTo>
                  <a:lnTo>
                    <a:pt x="1264871" y="1446214"/>
                  </a:lnTo>
                  <a:lnTo>
                    <a:pt x="1267250" y="1434307"/>
                  </a:lnTo>
                  <a:lnTo>
                    <a:pt x="1269630" y="1422401"/>
                  </a:lnTo>
                  <a:lnTo>
                    <a:pt x="1270423" y="1409701"/>
                  </a:lnTo>
                  <a:lnTo>
                    <a:pt x="1269630" y="1395414"/>
                  </a:lnTo>
                  <a:lnTo>
                    <a:pt x="1265664" y="1380332"/>
                  </a:lnTo>
                  <a:lnTo>
                    <a:pt x="1262492" y="1366839"/>
                  </a:lnTo>
                  <a:lnTo>
                    <a:pt x="1255354" y="1352551"/>
                  </a:lnTo>
                  <a:lnTo>
                    <a:pt x="1248216" y="1340645"/>
                  </a:lnTo>
                  <a:lnTo>
                    <a:pt x="1238699" y="1327945"/>
                  </a:lnTo>
                  <a:lnTo>
                    <a:pt x="1229182" y="1316832"/>
                  </a:lnTo>
                  <a:lnTo>
                    <a:pt x="1217286" y="1306514"/>
                  </a:lnTo>
                  <a:lnTo>
                    <a:pt x="1204597" y="1296989"/>
                  </a:lnTo>
                  <a:lnTo>
                    <a:pt x="1190321" y="1289051"/>
                  </a:lnTo>
                  <a:lnTo>
                    <a:pt x="1185190" y="1286740"/>
                  </a:lnTo>
                  <a:lnTo>
                    <a:pt x="1173636" y="1280319"/>
                  </a:lnTo>
                  <a:lnTo>
                    <a:pt x="1158560" y="1273175"/>
                  </a:lnTo>
                  <a:lnTo>
                    <a:pt x="1142691" y="1266031"/>
                  </a:lnTo>
                  <a:lnTo>
                    <a:pt x="1126028" y="1261269"/>
                  </a:lnTo>
                  <a:lnTo>
                    <a:pt x="1108572" y="1257300"/>
                  </a:lnTo>
                  <a:lnTo>
                    <a:pt x="1090322" y="1254919"/>
                  </a:lnTo>
                  <a:lnTo>
                    <a:pt x="1072072" y="1254919"/>
                  </a:lnTo>
                  <a:lnTo>
                    <a:pt x="1053823" y="1254919"/>
                  </a:lnTo>
                  <a:lnTo>
                    <a:pt x="1034780" y="1257300"/>
                  </a:lnTo>
                  <a:lnTo>
                    <a:pt x="1018117" y="1261269"/>
                  </a:lnTo>
                  <a:lnTo>
                    <a:pt x="1000661" y="1266031"/>
                  </a:lnTo>
                  <a:lnTo>
                    <a:pt x="984791" y="1273175"/>
                  </a:lnTo>
                  <a:lnTo>
                    <a:pt x="969716" y="1280319"/>
                  </a:lnTo>
                  <a:lnTo>
                    <a:pt x="957020" y="1288256"/>
                  </a:lnTo>
                  <a:lnTo>
                    <a:pt x="943531" y="1297781"/>
                  </a:lnTo>
                  <a:lnTo>
                    <a:pt x="931629" y="1308100"/>
                  </a:lnTo>
                  <a:lnTo>
                    <a:pt x="921314" y="1319213"/>
                  </a:lnTo>
                  <a:lnTo>
                    <a:pt x="911793" y="1331119"/>
                  </a:lnTo>
                  <a:lnTo>
                    <a:pt x="904652" y="1343819"/>
                  </a:lnTo>
                  <a:lnTo>
                    <a:pt x="898304" y="1357313"/>
                  </a:lnTo>
                  <a:lnTo>
                    <a:pt x="893543" y="1371600"/>
                  </a:lnTo>
                  <a:lnTo>
                    <a:pt x="891163" y="1385888"/>
                  </a:lnTo>
                  <a:lnTo>
                    <a:pt x="890369" y="1400969"/>
                  </a:lnTo>
                  <a:lnTo>
                    <a:pt x="890369" y="1414463"/>
                  </a:lnTo>
                  <a:lnTo>
                    <a:pt x="892750" y="1425575"/>
                  </a:lnTo>
                  <a:lnTo>
                    <a:pt x="895924" y="1436688"/>
                  </a:lnTo>
                  <a:lnTo>
                    <a:pt x="899891" y="1447006"/>
                  </a:lnTo>
                  <a:lnTo>
                    <a:pt x="904652" y="1456531"/>
                  </a:lnTo>
                  <a:lnTo>
                    <a:pt x="910206" y="1465263"/>
                  </a:lnTo>
                  <a:lnTo>
                    <a:pt x="916554" y="1472406"/>
                  </a:lnTo>
                  <a:lnTo>
                    <a:pt x="922108" y="1479550"/>
                  </a:lnTo>
                  <a:lnTo>
                    <a:pt x="934010" y="1489869"/>
                  </a:lnTo>
                  <a:lnTo>
                    <a:pt x="943531" y="1497013"/>
                  </a:lnTo>
                  <a:lnTo>
                    <a:pt x="954640" y="1503363"/>
                  </a:lnTo>
                  <a:lnTo>
                    <a:pt x="958856" y="1506175"/>
                  </a:lnTo>
                  <a:lnTo>
                    <a:pt x="960328" y="1507332"/>
                  </a:lnTo>
                  <a:lnTo>
                    <a:pt x="962448" y="1508570"/>
                  </a:lnTo>
                  <a:lnTo>
                    <a:pt x="968922" y="1512888"/>
                  </a:lnTo>
                  <a:lnTo>
                    <a:pt x="974476" y="1518444"/>
                  </a:lnTo>
                  <a:lnTo>
                    <a:pt x="979237" y="1523206"/>
                  </a:lnTo>
                  <a:lnTo>
                    <a:pt x="982411" y="1529556"/>
                  </a:lnTo>
                  <a:lnTo>
                    <a:pt x="984791" y="1534319"/>
                  </a:lnTo>
                  <a:lnTo>
                    <a:pt x="986378" y="1539875"/>
                  </a:lnTo>
                  <a:lnTo>
                    <a:pt x="986378" y="1544638"/>
                  </a:lnTo>
                  <a:lnTo>
                    <a:pt x="984791" y="1549400"/>
                  </a:lnTo>
                  <a:lnTo>
                    <a:pt x="982411" y="1554163"/>
                  </a:lnTo>
                  <a:lnTo>
                    <a:pt x="979237" y="1557338"/>
                  </a:lnTo>
                  <a:lnTo>
                    <a:pt x="974476" y="1561306"/>
                  </a:lnTo>
                  <a:lnTo>
                    <a:pt x="968922" y="1564481"/>
                  </a:lnTo>
                  <a:lnTo>
                    <a:pt x="961781" y="1566069"/>
                  </a:lnTo>
                  <a:lnTo>
                    <a:pt x="953053" y="1568450"/>
                  </a:lnTo>
                  <a:lnTo>
                    <a:pt x="945118" y="1568450"/>
                  </a:lnTo>
                  <a:lnTo>
                    <a:pt x="307967" y="1568450"/>
                  </a:lnTo>
                  <a:lnTo>
                    <a:pt x="307967" y="1134269"/>
                  </a:lnTo>
                  <a:lnTo>
                    <a:pt x="306380" y="1134269"/>
                  </a:lnTo>
                  <a:lnTo>
                    <a:pt x="306380" y="935038"/>
                  </a:lnTo>
                  <a:lnTo>
                    <a:pt x="306380" y="925513"/>
                  </a:lnTo>
                  <a:lnTo>
                    <a:pt x="304954" y="919806"/>
                  </a:lnTo>
                  <a:lnTo>
                    <a:pt x="304954" y="914401"/>
                  </a:lnTo>
                  <a:lnTo>
                    <a:pt x="302560" y="911666"/>
                  </a:lnTo>
                  <a:lnTo>
                    <a:pt x="301619" y="908844"/>
                  </a:lnTo>
                  <a:lnTo>
                    <a:pt x="298445" y="902494"/>
                  </a:lnTo>
                  <a:lnTo>
                    <a:pt x="293685" y="896938"/>
                  </a:lnTo>
                  <a:lnTo>
                    <a:pt x="286543" y="894556"/>
                  </a:lnTo>
                  <a:lnTo>
                    <a:pt x="279402" y="892969"/>
                  </a:lnTo>
                  <a:lnTo>
                    <a:pt x="271468" y="894556"/>
                  </a:lnTo>
                  <a:lnTo>
                    <a:pt x="264326" y="897731"/>
                  </a:lnTo>
                  <a:lnTo>
                    <a:pt x="255598" y="904875"/>
                  </a:lnTo>
                  <a:lnTo>
                    <a:pt x="248457" y="914400"/>
                  </a:lnTo>
                  <a:lnTo>
                    <a:pt x="242903" y="925513"/>
                  </a:lnTo>
                  <a:lnTo>
                    <a:pt x="236555" y="935831"/>
                  </a:lnTo>
                  <a:lnTo>
                    <a:pt x="228621" y="945356"/>
                  </a:lnTo>
                  <a:lnTo>
                    <a:pt x="217512" y="957263"/>
                  </a:lnTo>
                  <a:lnTo>
                    <a:pt x="210371" y="962819"/>
                  </a:lnTo>
                  <a:lnTo>
                    <a:pt x="203230" y="969169"/>
                  </a:lnTo>
                  <a:lnTo>
                    <a:pt x="195295" y="974725"/>
                  </a:lnTo>
                  <a:lnTo>
                    <a:pt x="185773" y="979488"/>
                  </a:lnTo>
                  <a:lnTo>
                    <a:pt x="176252" y="983456"/>
                  </a:lnTo>
                  <a:lnTo>
                    <a:pt x="164350" y="986631"/>
                  </a:lnTo>
                  <a:lnTo>
                    <a:pt x="152448" y="988219"/>
                  </a:lnTo>
                  <a:lnTo>
                    <a:pt x="139753" y="989013"/>
                  </a:lnTo>
                  <a:lnTo>
                    <a:pt x="125470" y="988219"/>
                  </a:lnTo>
                  <a:lnTo>
                    <a:pt x="109601" y="985838"/>
                  </a:lnTo>
                  <a:lnTo>
                    <a:pt x="95319" y="981075"/>
                  </a:lnTo>
                  <a:lnTo>
                    <a:pt x="82623" y="974725"/>
                  </a:lnTo>
                  <a:lnTo>
                    <a:pt x="69134" y="967581"/>
                  </a:lnTo>
                  <a:lnTo>
                    <a:pt x="58026" y="958850"/>
                  </a:lnTo>
                  <a:lnTo>
                    <a:pt x="46917" y="947738"/>
                  </a:lnTo>
                  <a:lnTo>
                    <a:pt x="36602" y="935831"/>
                  </a:lnTo>
                  <a:lnTo>
                    <a:pt x="27081" y="923131"/>
                  </a:lnTo>
                  <a:lnTo>
                    <a:pt x="22807" y="916135"/>
                  </a:lnTo>
                  <a:lnTo>
                    <a:pt x="17471" y="904876"/>
                  </a:lnTo>
                  <a:lnTo>
                    <a:pt x="11912" y="889001"/>
                  </a:lnTo>
                  <a:lnTo>
                    <a:pt x="5559" y="871539"/>
                  </a:lnTo>
                  <a:lnTo>
                    <a:pt x="2383" y="854870"/>
                  </a:lnTo>
                  <a:lnTo>
                    <a:pt x="0" y="835820"/>
                  </a:lnTo>
                  <a:lnTo>
                    <a:pt x="0" y="818358"/>
                  </a:lnTo>
                  <a:lnTo>
                    <a:pt x="0" y="799308"/>
                  </a:lnTo>
                  <a:lnTo>
                    <a:pt x="2383" y="781051"/>
                  </a:lnTo>
                  <a:lnTo>
                    <a:pt x="5559" y="763589"/>
                  </a:lnTo>
                  <a:lnTo>
                    <a:pt x="11912" y="746920"/>
                  </a:lnTo>
                  <a:lnTo>
                    <a:pt x="17471" y="731839"/>
                  </a:lnTo>
                  <a:lnTo>
                    <a:pt x="24619" y="715964"/>
                  </a:lnTo>
                  <a:lnTo>
                    <a:pt x="33355" y="701676"/>
                  </a:lnTo>
                  <a:lnTo>
                    <a:pt x="42884" y="688976"/>
                  </a:lnTo>
                  <a:lnTo>
                    <a:pt x="53208" y="677070"/>
                  </a:lnTo>
                  <a:lnTo>
                    <a:pt x="64326" y="667545"/>
                  </a:lnTo>
                  <a:lnTo>
                    <a:pt x="75445" y="658020"/>
                  </a:lnTo>
                  <a:lnTo>
                    <a:pt x="88945" y="649289"/>
                  </a:lnTo>
                  <a:lnTo>
                    <a:pt x="101652" y="643733"/>
                  </a:lnTo>
                  <a:lnTo>
                    <a:pt x="115946" y="638970"/>
                  </a:lnTo>
                  <a:lnTo>
                    <a:pt x="130241" y="636589"/>
                  </a:lnTo>
                  <a:lnTo>
                    <a:pt x="146124" y="635001"/>
                  </a:lnTo>
                  <a:lnTo>
                    <a:pt x="158830" y="636589"/>
                  </a:lnTo>
                  <a:lnTo>
                    <a:pt x="170743" y="638970"/>
                  </a:lnTo>
                  <a:lnTo>
                    <a:pt x="182655" y="641351"/>
                  </a:lnTo>
                  <a:lnTo>
                    <a:pt x="192185" y="646114"/>
                  </a:lnTo>
                  <a:lnTo>
                    <a:pt x="201715" y="650876"/>
                  </a:lnTo>
                  <a:lnTo>
                    <a:pt x="209656" y="655639"/>
                  </a:lnTo>
                  <a:lnTo>
                    <a:pt x="216803" y="661195"/>
                  </a:lnTo>
                  <a:lnTo>
                    <a:pt x="223951" y="667545"/>
                  </a:lnTo>
                  <a:lnTo>
                    <a:pt x="235069" y="679451"/>
                  </a:lnTo>
                  <a:lnTo>
                    <a:pt x="243010" y="689770"/>
                  </a:lnTo>
                  <a:lnTo>
                    <a:pt x="243888" y="691085"/>
                  </a:lnTo>
                  <a:lnTo>
                    <a:pt x="248457" y="700881"/>
                  </a:lnTo>
                  <a:lnTo>
                    <a:pt x="252297" y="705576"/>
                  </a:lnTo>
                  <a:lnTo>
                    <a:pt x="254923" y="711201"/>
                  </a:lnTo>
                  <a:lnTo>
                    <a:pt x="262070" y="719933"/>
                  </a:lnTo>
                  <a:lnTo>
                    <a:pt x="270806" y="727076"/>
                  </a:lnTo>
                  <a:lnTo>
                    <a:pt x="277953" y="730251"/>
                  </a:lnTo>
                  <a:lnTo>
                    <a:pt x="285895" y="732633"/>
                  </a:lnTo>
                  <a:lnTo>
                    <a:pt x="293042" y="731839"/>
                  </a:lnTo>
                  <a:lnTo>
                    <a:pt x="299395" y="727870"/>
                  </a:lnTo>
                  <a:lnTo>
                    <a:pt x="304954" y="722314"/>
                  </a:lnTo>
                  <a:lnTo>
                    <a:pt x="304954" y="694682"/>
                  </a:lnTo>
                  <a:lnTo>
                    <a:pt x="306380" y="688975"/>
                  </a:lnTo>
                  <a:lnTo>
                    <a:pt x="306380" y="679450"/>
                  </a:lnTo>
                  <a:lnTo>
                    <a:pt x="306380" y="360363"/>
                  </a:lnTo>
                  <a:lnTo>
                    <a:pt x="307967" y="360363"/>
                  </a:lnTo>
                  <a:lnTo>
                    <a:pt x="307967"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66" name="TextBox 65"/>
            <p:cNvSpPr txBox="1"/>
            <p:nvPr/>
          </p:nvSpPr>
          <p:spPr>
            <a:xfrm>
              <a:off x="3040702" y="3324135"/>
              <a:ext cx="1255491" cy="369332"/>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Risk Profile</a:t>
              </a:r>
            </a:p>
          </p:txBody>
        </p:sp>
      </p:grpSp>
      <p:grpSp>
        <p:nvGrpSpPr>
          <p:cNvPr id="68" name="Group 67"/>
          <p:cNvGrpSpPr/>
          <p:nvPr/>
        </p:nvGrpSpPr>
        <p:grpSpPr>
          <a:xfrm>
            <a:off x="0" y="533388"/>
            <a:ext cx="12192001" cy="479192"/>
            <a:chOff x="0" y="1056577"/>
            <a:chExt cx="12192001" cy="479192"/>
          </a:xfrm>
        </p:grpSpPr>
        <p:grpSp>
          <p:nvGrpSpPr>
            <p:cNvPr id="69" name="Group 68"/>
            <p:cNvGrpSpPr/>
            <p:nvPr/>
          </p:nvGrpSpPr>
          <p:grpSpPr>
            <a:xfrm>
              <a:off x="0" y="1056577"/>
              <a:ext cx="12192001" cy="479192"/>
              <a:chOff x="2275096" y="1046125"/>
              <a:chExt cx="9516888" cy="479192"/>
            </a:xfrm>
          </p:grpSpPr>
          <p:sp>
            <p:nvSpPr>
              <p:cNvPr id="73" name="Pentagon 72"/>
              <p:cNvSpPr/>
              <p:nvPr/>
            </p:nvSpPr>
            <p:spPr>
              <a:xfrm>
                <a:off x="8003124" y="1046125"/>
                <a:ext cx="3788860" cy="479192"/>
              </a:xfrm>
              <a:prstGeom prst="homePlat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Business Results</a:t>
                </a:r>
              </a:p>
            </p:txBody>
          </p:sp>
          <p:sp>
            <p:nvSpPr>
              <p:cNvPr id="75" name="Pentagon 74"/>
              <p:cNvSpPr/>
              <p:nvPr/>
            </p:nvSpPr>
            <p:spPr>
              <a:xfrm>
                <a:off x="2275096" y="1046125"/>
                <a:ext cx="6052740" cy="479192"/>
              </a:xfrm>
              <a:prstGeom prst="homePlate">
                <a:avLst/>
              </a:prstGeom>
              <a:solidFill>
                <a:srgbClr val="213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Building a Complete Customer Picture for Every Indian</a:t>
                </a:r>
              </a:p>
            </p:txBody>
          </p:sp>
        </p:grpSp>
        <p:sp>
          <p:nvSpPr>
            <p:cNvPr id="72" name="Equal 71"/>
            <p:cNvSpPr/>
            <p:nvPr/>
          </p:nvSpPr>
          <p:spPr>
            <a:xfrm>
              <a:off x="7371757" y="1100062"/>
              <a:ext cx="471515" cy="419374"/>
            </a:xfrm>
            <a:prstGeom prst="mathEqual">
              <a:avLst/>
            </a:prstGeom>
            <a:solidFill>
              <a:srgbClr val="00B05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prstClr val="white"/>
                </a:solidFill>
              </a:endParaRPr>
            </a:p>
          </p:txBody>
        </p:sp>
      </p:grpSp>
      <p:sp>
        <p:nvSpPr>
          <p:cNvPr id="76" name="Rectangle 75"/>
          <p:cNvSpPr/>
          <p:nvPr/>
        </p:nvSpPr>
        <p:spPr>
          <a:xfrm flipH="1">
            <a:off x="3788" y="1509869"/>
            <a:ext cx="720000" cy="445967"/>
          </a:xfrm>
          <a:prstGeom prst="rect">
            <a:avLst/>
          </a:prstGeom>
          <a:solidFill>
            <a:srgbClr val="EB8027"/>
          </a:solidFill>
          <a:ln>
            <a:solidFill>
              <a:srgbClr val="EB80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sp>
        <p:nvSpPr>
          <p:cNvPr id="77" name="Rectangle 76"/>
          <p:cNvSpPr/>
          <p:nvPr/>
        </p:nvSpPr>
        <p:spPr>
          <a:xfrm flipH="1">
            <a:off x="3789" y="2087277"/>
            <a:ext cx="720000" cy="445967"/>
          </a:xfrm>
          <a:prstGeom prst="rect">
            <a:avLst/>
          </a:prstGeom>
          <a:solidFill>
            <a:srgbClr val="13B6E7"/>
          </a:solidFill>
          <a:ln>
            <a:solidFill>
              <a:srgbClr val="13B6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sp>
        <p:nvSpPr>
          <p:cNvPr id="78" name="Rectangle 77"/>
          <p:cNvSpPr/>
          <p:nvPr/>
        </p:nvSpPr>
        <p:spPr>
          <a:xfrm flipH="1">
            <a:off x="3791" y="2664685"/>
            <a:ext cx="720000" cy="445967"/>
          </a:xfrm>
          <a:prstGeom prst="rect">
            <a:avLst/>
          </a:prstGeom>
          <a:solidFill>
            <a:srgbClr val="84C041"/>
          </a:solidFill>
          <a:ln>
            <a:solidFill>
              <a:srgbClr val="84C0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sp>
        <p:nvSpPr>
          <p:cNvPr id="79" name="Rectangle 78"/>
          <p:cNvSpPr/>
          <p:nvPr/>
        </p:nvSpPr>
        <p:spPr>
          <a:xfrm flipH="1">
            <a:off x="3791" y="3240617"/>
            <a:ext cx="720000" cy="445967"/>
          </a:xfrm>
          <a:prstGeom prst="rect">
            <a:avLst/>
          </a:prstGeom>
          <a:solidFill>
            <a:srgbClr val="FCB215"/>
          </a:solidFill>
          <a:ln>
            <a:solidFill>
              <a:srgbClr val="FCB2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sp>
        <p:nvSpPr>
          <p:cNvPr id="80" name="Rectangle 79"/>
          <p:cNvSpPr/>
          <p:nvPr/>
        </p:nvSpPr>
        <p:spPr>
          <a:xfrm flipH="1">
            <a:off x="3793" y="3819501"/>
            <a:ext cx="720000" cy="445967"/>
          </a:xfrm>
          <a:prstGeom prst="rect">
            <a:avLst/>
          </a:prstGeom>
          <a:solidFill>
            <a:srgbClr val="D65628"/>
          </a:solidFill>
          <a:ln>
            <a:solidFill>
              <a:srgbClr val="D656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sp>
        <p:nvSpPr>
          <p:cNvPr id="81" name="Rectangle 80"/>
          <p:cNvSpPr/>
          <p:nvPr/>
        </p:nvSpPr>
        <p:spPr>
          <a:xfrm flipH="1">
            <a:off x="3793" y="4396909"/>
            <a:ext cx="720000" cy="445967"/>
          </a:xfrm>
          <a:prstGeom prst="rect">
            <a:avLst/>
          </a:prstGeom>
          <a:solidFill>
            <a:srgbClr val="EE315F"/>
          </a:solidFill>
          <a:ln>
            <a:solidFill>
              <a:srgbClr val="EE31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sp>
        <p:nvSpPr>
          <p:cNvPr id="82" name="Rectangle 81"/>
          <p:cNvSpPr/>
          <p:nvPr/>
        </p:nvSpPr>
        <p:spPr>
          <a:xfrm flipH="1">
            <a:off x="3793" y="4974318"/>
            <a:ext cx="720000" cy="445967"/>
          </a:xfrm>
          <a:prstGeom prst="rect">
            <a:avLst/>
          </a:prstGeom>
          <a:solidFill>
            <a:srgbClr val="3D67B1"/>
          </a:solidFill>
          <a:ln>
            <a:solidFill>
              <a:srgbClr val="3D6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dirty="0">
              <a:solidFill>
                <a:prstClr val="white"/>
              </a:solidFill>
            </a:endParaRPr>
          </a:p>
        </p:txBody>
      </p:sp>
      <p:grpSp>
        <p:nvGrpSpPr>
          <p:cNvPr id="2" name="Group 1"/>
          <p:cNvGrpSpPr/>
          <p:nvPr/>
        </p:nvGrpSpPr>
        <p:grpSpPr>
          <a:xfrm>
            <a:off x="3883846" y="2923709"/>
            <a:ext cx="1896949" cy="1568450"/>
            <a:chOff x="3883846" y="2923709"/>
            <a:chExt cx="1896949" cy="1568450"/>
          </a:xfrm>
        </p:grpSpPr>
        <p:pic>
          <p:nvPicPr>
            <p:cNvPr id="40" name="Picture 39" descr="http://media.vietq.vn/files/kem-chong-nang-mua-he00.jpg"/>
            <p:cNvPicPr>
              <a:picLocks noChangeAspect="1" noChangeArrowheads="1"/>
            </p:cNvPicPr>
            <p:nvPr/>
          </p:nvPicPr>
          <p:blipFill>
            <a:blip r:embed="rId4">
              <a:extLst>
                <a:ext uri="{28A0092B-C50C-407E-A947-70E740481C1C}">
                  <a14:useLocalDpi xmlns:a14="http://schemas.microsoft.com/office/drawing/2010/main" val="0"/>
                </a:ext>
              </a:extLst>
            </a:blip>
            <a:srcRect l="50109" t="33300" r="19865" b="33468"/>
            <a:stretch>
              <a:fillRect/>
            </a:stretch>
          </p:blipFill>
          <p:spPr bwMode="auto">
            <a:xfrm>
              <a:off x="3883846" y="2923709"/>
              <a:ext cx="1896949" cy="1568450"/>
            </a:xfrm>
            <a:custGeom>
              <a:avLst/>
              <a:gdLst>
                <a:gd name="connsiteX0" fmla="*/ 10886 w 1896949"/>
                <a:gd name="connsiteY0" fmla="*/ 0 h 1568450"/>
                <a:gd name="connsiteX1" fmla="*/ 13166 w 1896949"/>
                <a:gd name="connsiteY1" fmla="*/ 0 h 1568450"/>
                <a:gd name="connsiteX2" fmla="*/ 13166 w 1896949"/>
                <a:gd name="connsiteY2" fmla="*/ 5527 h 1568450"/>
                <a:gd name="connsiteX3" fmla="*/ 696297 w 1896949"/>
                <a:gd name="connsiteY3" fmla="*/ 3145 h 1568450"/>
                <a:gd name="connsiteX4" fmla="*/ 704231 w 1896949"/>
                <a:gd name="connsiteY4" fmla="*/ 4733 h 1568450"/>
                <a:gd name="connsiteX5" fmla="*/ 712959 w 1896949"/>
                <a:gd name="connsiteY5" fmla="*/ 5527 h 1568450"/>
                <a:gd name="connsiteX6" fmla="*/ 720099 w 1896949"/>
                <a:gd name="connsiteY6" fmla="*/ 7909 h 1568450"/>
                <a:gd name="connsiteX7" fmla="*/ 724860 w 1896949"/>
                <a:gd name="connsiteY7" fmla="*/ 10291 h 1568450"/>
                <a:gd name="connsiteX8" fmla="*/ 725223 w 1896949"/>
                <a:gd name="connsiteY8" fmla="*/ 10593 h 1568450"/>
                <a:gd name="connsiteX9" fmla="*/ 728177 w 1896949"/>
                <a:gd name="connsiteY9" fmla="*/ 14288 h 1568450"/>
                <a:gd name="connsiteX10" fmla="*/ 730557 w 1896949"/>
                <a:gd name="connsiteY10" fmla="*/ 19050 h 1568450"/>
                <a:gd name="connsiteX11" fmla="*/ 732144 w 1896949"/>
                <a:gd name="connsiteY11" fmla="*/ 23813 h 1568450"/>
                <a:gd name="connsiteX12" fmla="*/ 732144 w 1896949"/>
                <a:gd name="connsiteY12" fmla="*/ 29369 h 1568450"/>
                <a:gd name="connsiteX13" fmla="*/ 730557 w 1896949"/>
                <a:gd name="connsiteY13" fmla="*/ 34131 h 1568450"/>
                <a:gd name="connsiteX14" fmla="*/ 728177 w 1896949"/>
                <a:gd name="connsiteY14" fmla="*/ 39688 h 1568450"/>
                <a:gd name="connsiteX15" fmla="*/ 725003 w 1896949"/>
                <a:gd name="connsiteY15" fmla="*/ 44450 h 1568450"/>
                <a:gd name="connsiteX16" fmla="*/ 720242 w 1896949"/>
                <a:gd name="connsiteY16" fmla="*/ 50800 h 1568450"/>
                <a:gd name="connsiteX17" fmla="*/ 713895 w 1896949"/>
                <a:gd name="connsiteY17" fmla="*/ 55563 h 1568450"/>
                <a:gd name="connsiteX18" fmla="*/ 708341 w 1896949"/>
                <a:gd name="connsiteY18" fmla="*/ 60325 h 1568450"/>
                <a:gd name="connsiteX19" fmla="*/ 699612 w 1896949"/>
                <a:gd name="connsiteY19" fmla="*/ 65088 h 1568450"/>
                <a:gd name="connsiteX20" fmla="*/ 689297 w 1896949"/>
                <a:gd name="connsiteY20" fmla="*/ 70644 h 1568450"/>
                <a:gd name="connsiteX21" fmla="*/ 679776 w 1896949"/>
                <a:gd name="connsiteY21" fmla="*/ 77788 h 1568450"/>
                <a:gd name="connsiteX22" fmla="*/ 667874 w 1896949"/>
                <a:gd name="connsiteY22" fmla="*/ 88900 h 1568450"/>
                <a:gd name="connsiteX23" fmla="*/ 662320 w 1896949"/>
                <a:gd name="connsiteY23" fmla="*/ 96044 h 1568450"/>
                <a:gd name="connsiteX24" fmla="*/ 655972 w 1896949"/>
                <a:gd name="connsiteY24" fmla="*/ 103188 h 1568450"/>
                <a:gd name="connsiteX25" fmla="*/ 650418 w 1896949"/>
                <a:gd name="connsiteY25" fmla="*/ 111125 h 1568450"/>
                <a:gd name="connsiteX26" fmla="*/ 645657 w 1896949"/>
                <a:gd name="connsiteY26" fmla="*/ 120650 h 1568450"/>
                <a:gd name="connsiteX27" fmla="*/ 641690 w 1896949"/>
                <a:gd name="connsiteY27" fmla="*/ 131763 h 1568450"/>
                <a:gd name="connsiteX28" fmla="*/ 638516 w 1896949"/>
                <a:gd name="connsiteY28" fmla="*/ 142081 h 1568450"/>
                <a:gd name="connsiteX29" fmla="*/ 636135 w 1896949"/>
                <a:gd name="connsiteY29" fmla="*/ 153988 h 1568450"/>
                <a:gd name="connsiteX30" fmla="*/ 636135 w 1896949"/>
                <a:gd name="connsiteY30" fmla="*/ 166688 h 1568450"/>
                <a:gd name="connsiteX31" fmla="*/ 636929 w 1896949"/>
                <a:gd name="connsiteY31" fmla="*/ 182563 h 1568450"/>
                <a:gd name="connsiteX32" fmla="*/ 639309 w 1896949"/>
                <a:gd name="connsiteY32" fmla="*/ 196850 h 1568450"/>
                <a:gd name="connsiteX33" fmla="*/ 644070 w 1896949"/>
                <a:gd name="connsiteY33" fmla="*/ 211138 h 1568450"/>
                <a:gd name="connsiteX34" fmla="*/ 650418 w 1896949"/>
                <a:gd name="connsiteY34" fmla="*/ 223838 h 1568450"/>
                <a:gd name="connsiteX35" fmla="*/ 657559 w 1896949"/>
                <a:gd name="connsiteY35" fmla="*/ 237331 h 1568450"/>
                <a:gd name="connsiteX36" fmla="*/ 667080 w 1896949"/>
                <a:gd name="connsiteY36" fmla="*/ 249238 h 1568450"/>
                <a:gd name="connsiteX37" fmla="*/ 677395 w 1896949"/>
                <a:gd name="connsiteY37" fmla="*/ 261144 h 1568450"/>
                <a:gd name="connsiteX38" fmla="*/ 688954 w 1896949"/>
                <a:gd name="connsiteY38" fmla="*/ 269623 h 1568450"/>
                <a:gd name="connsiteX39" fmla="*/ 693917 w 1896949"/>
                <a:gd name="connsiteY39" fmla="*/ 273928 h 1568450"/>
                <a:gd name="connsiteX40" fmla="*/ 705818 w 1896949"/>
                <a:gd name="connsiteY40" fmla="*/ 283457 h 1568450"/>
                <a:gd name="connsiteX41" fmla="*/ 720099 w 1896949"/>
                <a:gd name="connsiteY41" fmla="*/ 291397 h 1568450"/>
                <a:gd name="connsiteX42" fmla="*/ 735174 w 1896949"/>
                <a:gd name="connsiteY42" fmla="*/ 298544 h 1568450"/>
                <a:gd name="connsiteX43" fmla="*/ 751042 w 1896949"/>
                <a:gd name="connsiteY43" fmla="*/ 305691 h 1568450"/>
                <a:gd name="connsiteX44" fmla="*/ 767704 w 1896949"/>
                <a:gd name="connsiteY44" fmla="*/ 310456 h 1568450"/>
                <a:gd name="connsiteX45" fmla="*/ 785159 w 1896949"/>
                <a:gd name="connsiteY45" fmla="*/ 314426 h 1568450"/>
                <a:gd name="connsiteX46" fmla="*/ 802615 w 1896949"/>
                <a:gd name="connsiteY46" fmla="*/ 316808 h 1568450"/>
                <a:gd name="connsiteX47" fmla="*/ 821657 w 1896949"/>
                <a:gd name="connsiteY47" fmla="*/ 316808 h 1568450"/>
                <a:gd name="connsiteX48" fmla="*/ 840698 w 1896949"/>
                <a:gd name="connsiteY48" fmla="*/ 316808 h 1568450"/>
                <a:gd name="connsiteX49" fmla="*/ 858947 w 1896949"/>
                <a:gd name="connsiteY49" fmla="*/ 314426 h 1568450"/>
                <a:gd name="connsiteX50" fmla="*/ 876402 w 1896949"/>
                <a:gd name="connsiteY50" fmla="*/ 310456 h 1568450"/>
                <a:gd name="connsiteX51" fmla="*/ 893064 w 1896949"/>
                <a:gd name="connsiteY51" fmla="*/ 305691 h 1568450"/>
                <a:gd name="connsiteX52" fmla="*/ 908139 w 1896949"/>
                <a:gd name="connsiteY52" fmla="*/ 298544 h 1568450"/>
                <a:gd name="connsiteX53" fmla="*/ 924007 w 1896949"/>
                <a:gd name="connsiteY53" fmla="*/ 291397 h 1568450"/>
                <a:gd name="connsiteX54" fmla="*/ 938289 w 1896949"/>
                <a:gd name="connsiteY54" fmla="*/ 283457 h 1568450"/>
                <a:gd name="connsiteX55" fmla="*/ 950983 w 1896949"/>
                <a:gd name="connsiteY55" fmla="*/ 273928 h 1568450"/>
                <a:gd name="connsiteX56" fmla="*/ 962091 w 1896949"/>
                <a:gd name="connsiteY56" fmla="*/ 263605 h 1568450"/>
                <a:gd name="connsiteX57" fmla="*/ 972406 w 1896949"/>
                <a:gd name="connsiteY57" fmla="*/ 252487 h 1568450"/>
                <a:gd name="connsiteX58" fmla="*/ 981927 w 1896949"/>
                <a:gd name="connsiteY58" fmla="*/ 240576 h 1568450"/>
                <a:gd name="connsiteX59" fmla="*/ 989067 w 1896949"/>
                <a:gd name="connsiteY59" fmla="*/ 227871 h 1568450"/>
                <a:gd name="connsiteX60" fmla="*/ 996208 w 1896949"/>
                <a:gd name="connsiteY60" fmla="*/ 214371 h 1568450"/>
                <a:gd name="connsiteX61" fmla="*/ 1000175 w 1896949"/>
                <a:gd name="connsiteY61" fmla="*/ 200078 h 1568450"/>
                <a:gd name="connsiteX62" fmla="*/ 1003349 w 1896949"/>
                <a:gd name="connsiteY62" fmla="*/ 185784 h 1568450"/>
                <a:gd name="connsiteX63" fmla="*/ 1004936 w 1896949"/>
                <a:gd name="connsiteY63" fmla="*/ 170697 h 1568450"/>
                <a:gd name="connsiteX64" fmla="*/ 1003349 w 1896949"/>
                <a:gd name="connsiteY64" fmla="*/ 157991 h 1568450"/>
                <a:gd name="connsiteX65" fmla="*/ 1000969 w 1896949"/>
                <a:gd name="connsiteY65" fmla="*/ 146080 h 1568450"/>
                <a:gd name="connsiteX66" fmla="*/ 998588 w 1896949"/>
                <a:gd name="connsiteY66" fmla="*/ 134169 h 1568450"/>
                <a:gd name="connsiteX67" fmla="*/ 993828 w 1896949"/>
                <a:gd name="connsiteY67" fmla="*/ 124640 h 1568450"/>
                <a:gd name="connsiteX68" fmla="*/ 989067 w 1896949"/>
                <a:gd name="connsiteY68" fmla="*/ 115111 h 1568450"/>
                <a:gd name="connsiteX69" fmla="*/ 984307 w 1896949"/>
                <a:gd name="connsiteY69" fmla="*/ 106376 h 1568450"/>
                <a:gd name="connsiteX70" fmla="*/ 978753 w 1896949"/>
                <a:gd name="connsiteY70" fmla="*/ 99229 h 1568450"/>
                <a:gd name="connsiteX71" fmla="*/ 972406 w 1896949"/>
                <a:gd name="connsiteY71" fmla="*/ 92082 h 1568450"/>
                <a:gd name="connsiteX72" fmla="*/ 960504 w 1896949"/>
                <a:gd name="connsiteY72" fmla="*/ 81759 h 1568450"/>
                <a:gd name="connsiteX73" fmla="*/ 956739 w 1896949"/>
                <a:gd name="connsiteY73" fmla="*/ 78571 h 1568450"/>
                <a:gd name="connsiteX74" fmla="*/ 955901 w 1896949"/>
                <a:gd name="connsiteY74" fmla="*/ 77788 h 1568450"/>
                <a:gd name="connsiteX75" fmla="*/ 955430 w 1896949"/>
                <a:gd name="connsiteY75" fmla="*/ 77462 h 1568450"/>
                <a:gd name="connsiteX76" fmla="*/ 950190 w 1896949"/>
                <a:gd name="connsiteY76" fmla="*/ 73024 h 1568450"/>
                <a:gd name="connsiteX77" fmla="*/ 940669 w 1896949"/>
                <a:gd name="connsiteY77" fmla="*/ 67466 h 1568450"/>
                <a:gd name="connsiteX78" fmla="*/ 938269 w 1896949"/>
                <a:gd name="connsiteY78" fmla="*/ 66374 h 1568450"/>
                <a:gd name="connsiteX79" fmla="*/ 936065 w 1896949"/>
                <a:gd name="connsiteY79" fmla="*/ 65088 h 1568450"/>
                <a:gd name="connsiteX80" fmla="*/ 927336 w 1896949"/>
                <a:gd name="connsiteY80" fmla="*/ 60325 h 1568450"/>
                <a:gd name="connsiteX81" fmla="*/ 924512 w 1896949"/>
                <a:gd name="connsiteY81" fmla="*/ 58442 h 1568450"/>
                <a:gd name="connsiteX82" fmla="*/ 919247 w 1896949"/>
                <a:gd name="connsiteY82" fmla="*/ 53172 h 1568450"/>
                <a:gd name="connsiteX83" fmla="*/ 914486 w 1896949"/>
                <a:gd name="connsiteY83" fmla="*/ 48408 h 1568450"/>
                <a:gd name="connsiteX84" fmla="*/ 910519 w 1896949"/>
                <a:gd name="connsiteY84" fmla="*/ 42849 h 1568450"/>
                <a:gd name="connsiteX85" fmla="*/ 908139 w 1896949"/>
                <a:gd name="connsiteY85" fmla="*/ 38084 h 1568450"/>
                <a:gd name="connsiteX86" fmla="*/ 907345 w 1896949"/>
                <a:gd name="connsiteY86" fmla="*/ 31732 h 1568450"/>
                <a:gd name="connsiteX87" fmla="*/ 907345 w 1896949"/>
                <a:gd name="connsiteY87" fmla="*/ 26967 h 1568450"/>
                <a:gd name="connsiteX88" fmla="*/ 908139 w 1896949"/>
                <a:gd name="connsiteY88" fmla="*/ 22203 h 1568450"/>
                <a:gd name="connsiteX89" fmla="*/ 910519 w 1896949"/>
                <a:gd name="connsiteY89" fmla="*/ 17438 h 1568450"/>
                <a:gd name="connsiteX90" fmla="*/ 914486 w 1896949"/>
                <a:gd name="connsiteY90" fmla="*/ 14262 h 1568450"/>
                <a:gd name="connsiteX91" fmla="*/ 919247 w 1896949"/>
                <a:gd name="connsiteY91" fmla="*/ 10291 h 1568450"/>
                <a:gd name="connsiteX92" fmla="*/ 924801 w 1896949"/>
                <a:gd name="connsiteY92" fmla="*/ 7115 h 1568450"/>
                <a:gd name="connsiteX93" fmla="*/ 931941 w 1896949"/>
                <a:gd name="connsiteY93" fmla="*/ 4733 h 1568450"/>
                <a:gd name="connsiteX94" fmla="*/ 940669 w 1896949"/>
                <a:gd name="connsiteY94" fmla="*/ 3145 h 1568450"/>
                <a:gd name="connsiteX95" fmla="*/ 950190 w 1896949"/>
                <a:gd name="connsiteY95" fmla="*/ 3145 h 1568450"/>
                <a:gd name="connsiteX96" fmla="*/ 1581151 w 1896949"/>
                <a:gd name="connsiteY96" fmla="*/ 3145 h 1568450"/>
                <a:gd name="connsiteX97" fmla="*/ 1581151 w 1896949"/>
                <a:gd name="connsiteY97" fmla="*/ 434181 h 1568450"/>
                <a:gd name="connsiteX98" fmla="*/ 1581944 w 1896949"/>
                <a:gd name="connsiteY98" fmla="*/ 434181 h 1568450"/>
                <a:gd name="connsiteX99" fmla="*/ 1581944 w 1896949"/>
                <a:gd name="connsiteY99" fmla="*/ 633413 h 1568450"/>
                <a:gd name="connsiteX100" fmla="*/ 1583531 w 1896949"/>
                <a:gd name="connsiteY100" fmla="*/ 642938 h 1568450"/>
                <a:gd name="connsiteX101" fmla="*/ 1584324 w 1896949"/>
                <a:gd name="connsiteY101" fmla="*/ 652463 h 1568450"/>
                <a:gd name="connsiteX102" fmla="*/ 1586705 w 1896949"/>
                <a:gd name="connsiteY102" fmla="*/ 659606 h 1568450"/>
                <a:gd name="connsiteX103" fmla="*/ 1590672 w 1896949"/>
                <a:gd name="connsiteY103" fmla="*/ 665163 h 1568450"/>
                <a:gd name="connsiteX104" fmla="*/ 1596226 w 1896949"/>
                <a:gd name="connsiteY104" fmla="*/ 671513 h 1568450"/>
                <a:gd name="connsiteX105" fmla="*/ 1603368 w 1896949"/>
                <a:gd name="connsiteY105" fmla="*/ 674688 h 1568450"/>
                <a:gd name="connsiteX106" fmla="*/ 1604151 w 1896949"/>
                <a:gd name="connsiteY106" fmla="*/ 674688 h 1568450"/>
                <a:gd name="connsiteX107" fmla="*/ 1606819 w 1896949"/>
                <a:gd name="connsiteY107" fmla="*/ 678242 h 1568450"/>
                <a:gd name="connsiteX108" fmla="*/ 1613967 w 1896949"/>
                <a:gd name="connsiteY108" fmla="*/ 681416 h 1568450"/>
                <a:gd name="connsiteX109" fmla="*/ 1621114 w 1896949"/>
                <a:gd name="connsiteY109" fmla="*/ 681416 h 1568450"/>
                <a:gd name="connsiteX110" fmla="*/ 1628261 w 1896949"/>
                <a:gd name="connsiteY110" fmla="*/ 680622 h 1568450"/>
                <a:gd name="connsiteX111" fmla="*/ 1636203 w 1896949"/>
                <a:gd name="connsiteY111" fmla="*/ 676655 h 1568450"/>
                <a:gd name="connsiteX112" fmla="*/ 1644938 w 1896949"/>
                <a:gd name="connsiteY112" fmla="*/ 669515 h 1568450"/>
                <a:gd name="connsiteX113" fmla="*/ 1652086 w 1896949"/>
                <a:gd name="connsiteY113" fmla="*/ 661580 h 1568450"/>
                <a:gd name="connsiteX114" fmla="*/ 1657645 w 1896949"/>
                <a:gd name="connsiteY114" fmla="*/ 649679 h 1568450"/>
                <a:gd name="connsiteX115" fmla="*/ 1663998 w 1896949"/>
                <a:gd name="connsiteY115" fmla="*/ 640158 h 1568450"/>
                <a:gd name="connsiteX116" fmla="*/ 1671940 w 1896949"/>
                <a:gd name="connsiteY116" fmla="*/ 629050 h 1568450"/>
                <a:gd name="connsiteX117" fmla="*/ 1683058 w 1896949"/>
                <a:gd name="connsiteY117" fmla="*/ 617943 h 1568450"/>
                <a:gd name="connsiteX118" fmla="*/ 1688617 w 1896949"/>
                <a:gd name="connsiteY118" fmla="*/ 611595 h 1568450"/>
                <a:gd name="connsiteX119" fmla="*/ 1697352 w 1896949"/>
                <a:gd name="connsiteY119" fmla="*/ 606041 h 1568450"/>
                <a:gd name="connsiteX120" fmla="*/ 1705294 w 1896949"/>
                <a:gd name="connsiteY120" fmla="*/ 601281 h 1568450"/>
                <a:gd name="connsiteX121" fmla="*/ 1714824 w 1896949"/>
                <a:gd name="connsiteY121" fmla="*/ 596520 h 1568450"/>
                <a:gd name="connsiteX122" fmla="*/ 1724354 w 1896949"/>
                <a:gd name="connsiteY122" fmla="*/ 591760 h 1568450"/>
                <a:gd name="connsiteX123" fmla="*/ 1736266 w 1896949"/>
                <a:gd name="connsiteY123" fmla="*/ 589380 h 1568450"/>
                <a:gd name="connsiteX124" fmla="*/ 1748178 w 1896949"/>
                <a:gd name="connsiteY124" fmla="*/ 586999 h 1568450"/>
                <a:gd name="connsiteX125" fmla="*/ 1760884 w 1896949"/>
                <a:gd name="connsiteY125" fmla="*/ 585413 h 1568450"/>
                <a:gd name="connsiteX126" fmla="*/ 1775179 w 1896949"/>
                <a:gd name="connsiteY126" fmla="*/ 586999 h 1568450"/>
                <a:gd name="connsiteX127" fmla="*/ 1791062 w 1896949"/>
                <a:gd name="connsiteY127" fmla="*/ 589380 h 1568450"/>
                <a:gd name="connsiteX128" fmla="*/ 1803769 w 1896949"/>
                <a:gd name="connsiteY128" fmla="*/ 594140 h 1568450"/>
                <a:gd name="connsiteX129" fmla="*/ 1814073 w 1896949"/>
                <a:gd name="connsiteY129" fmla="*/ 598144 h 1568450"/>
                <a:gd name="connsiteX130" fmla="*/ 1819190 w 1896949"/>
                <a:gd name="connsiteY130" fmla="*/ 601663 h 1568450"/>
                <a:gd name="connsiteX131" fmla="*/ 1831092 w 1896949"/>
                <a:gd name="connsiteY131" fmla="*/ 609600 h 1568450"/>
                <a:gd name="connsiteX132" fmla="*/ 1842994 w 1896949"/>
                <a:gd name="connsiteY132" fmla="*/ 619919 h 1568450"/>
                <a:gd name="connsiteX133" fmla="*/ 1854102 w 1896949"/>
                <a:gd name="connsiteY133" fmla="*/ 631825 h 1568450"/>
                <a:gd name="connsiteX134" fmla="*/ 1862037 w 1896949"/>
                <a:gd name="connsiteY134" fmla="*/ 645319 h 1568450"/>
                <a:gd name="connsiteX135" fmla="*/ 1871558 w 1896949"/>
                <a:gd name="connsiteY135" fmla="*/ 659606 h 1568450"/>
                <a:gd name="connsiteX136" fmla="*/ 1878699 w 1896949"/>
                <a:gd name="connsiteY136" fmla="*/ 674688 h 1568450"/>
                <a:gd name="connsiteX137" fmla="*/ 1885047 w 1896949"/>
                <a:gd name="connsiteY137" fmla="*/ 690563 h 1568450"/>
                <a:gd name="connsiteX138" fmla="*/ 1889808 w 1896949"/>
                <a:gd name="connsiteY138" fmla="*/ 707231 h 1568450"/>
                <a:gd name="connsiteX139" fmla="*/ 1892982 w 1896949"/>
                <a:gd name="connsiteY139" fmla="*/ 724694 h 1568450"/>
                <a:gd name="connsiteX140" fmla="*/ 1895362 w 1896949"/>
                <a:gd name="connsiteY140" fmla="*/ 742156 h 1568450"/>
                <a:gd name="connsiteX141" fmla="*/ 1896949 w 1896949"/>
                <a:gd name="connsiteY141" fmla="*/ 761206 h 1568450"/>
                <a:gd name="connsiteX142" fmla="*/ 1895362 w 1896949"/>
                <a:gd name="connsiteY142" fmla="*/ 779463 h 1568450"/>
                <a:gd name="connsiteX143" fmla="*/ 1892982 w 1896949"/>
                <a:gd name="connsiteY143" fmla="*/ 798513 h 1568450"/>
                <a:gd name="connsiteX144" fmla="*/ 1889808 w 1896949"/>
                <a:gd name="connsiteY144" fmla="*/ 815181 h 1568450"/>
                <a:gd name="connsiteX145" fmla="*/ 1885047 w 1896949"/>
                <a:gd name="connsiteY145" fmla="*/ 831850 h 1568450"/>
                <a:gd name="connsiteX146" fmla="*/ 1878699 w 1896949"/>
                <a:gd name="connsiteY146" fmla="*/ 847725 h 1568450"/>
                <a:gd name="connsiteX147" fmla="*/ 1871558 w 1896949"/>
                <a:gd name="connsiteY147" fmla="*/ 863600 h 1568450"/>
                <a:gd name="connsiteX148" fmla="*/ 1862037 w 1896949"/>
                <a:gd name="connsiteY148" fmla="*/ 876300 h 1568450"/>
                <a:gd name="connsiteX149" fmla="*/ 1854102 w 1896949"/>
                <a:gd name="connsiteY149" fmla="*/ 889794 h 1568450"/>
                <a:gd name="connsiteX150" fmla="*/ 1842994 w 1896949"/>
                <a:gd name="connsiteY150" fmla="*/ 901700 h 1568450"/>
                <a:gd name="connsiteX151" fmla="*/ 1831092 w 1896949"/>
                <a:gd name="connsiteY151" fmla="*/ 912019 h 1568450"/>
                <a:gd name="connsiteX152" fmla="*/ 1819190 w 1896949"/>
                <a:gd name="connsiteY152" fmla="*/ 921544 h 1568450"/>
                <a:gd name="connsiteX153" fmla="*/ 1806494 w 1896949"/>
                <a:gd name="connsiteY153" fmla="*/ 928688 h 1568450"/>
                <a:gd name="connsiteX154" fmla="*/ 1793799 w 1896949"/>
                <a:gd name="connsiteY154" fmla="*/ 935038 h 1568450"/>
                <a:gd name="connsiteX155" fmla="*/ 1779517 w 1896949"/>
                <a:gd name="connsiteY155" fmla="*/ 939800 h 1568450"/>
                <a:gd name="connsiteX156" fmla="*/ 1765234 w 1896949"/>
                <a:gd name="connsiteY156" fmla="*/ 942181 h 1568450"/>
                <a:gd name="connsiteX157" fmla="*/ 1749365 w 1896949"/>
                <a:gd name="connsiteY157" fmla="*/ 942975 h 1568450"/>
                <a:gd name="connsiteX158" fmla="*/ 1736670 w 1896949"/>
                <a:gd name="connsiteY158" fmla="*/ 942975 h 1568450"/>
                <a:gd name="connsiteX159" fmla="*/ 1724768 w 1896949"/>
                <a:gd name="connsiteY159" fmla="*/ 940594 h 1568450"/>
                <a:gd name="connsiteX160" fmla="*/ 1713659 w 1896949"/>
                <a:gd name="connsiteY160" fmla="*/ 937419 h 1568450"/>
                <a:gd name="connsiteX161" fmla="*/ 1703344 w 1896949"/>
                <a:gd name="connsiteY161" fmla="*/ 933450 h 1568450"/>
                <a:gd name="connsiteX162" fmla="*/ 1700122 w 1896949"/>
                <a:gd name="connsiteY162" fmla="*/ 931692 h 1568450"/>
                <a:gd name="connsiteX163" fmla="*/ 1697352 w 1896949"/>
                <a:gd name="connsiteY163" fmla="*/ 929755 h 1568450"/>
                <a:gd name="connsiteX164" fmla="*/ 1688617 w 1896949"/>
                <a:gd name="connsiteY164" fmla="*/ 923407 h 1568450"/>
                <a:gd name="connsiteX165" fmla="*/ 1683058 w 1896949"/>
                <a:gd name="connsiteY165" fmla="*/ 917854 h 1568450"/>
                <a:gd name="connsiteX166" fmla="*/ 1671940 w 1896949"/>
                <a:gd name="connsiteY166" fmla="*/ 905952 h 1568450"/>
                <a:gd name="connsiteX167" fmla="*/ 1663998 w 1896949"/>
                <a:gd name="connsiteY167" fmla="*/ 896431 h 1568450"/>
                <a:gd name="connsiteX168" fmla="*/ 1657645 w 1896949"/>
                <a:gd name="connsiteY168" fmla="*/ 885324 h 1568450"/>
                <a:gd name="connsiteX169" fmla="*/ 1652086 w 1896949"/>
                <a:gd name="connsiteY169" fmla="*/ 875009 h 1568450"/>
                <a:gd name="connsiteX170" fmla="*/ 1644938 w 1896949"/>
                <a:gd name="connsiteY170" fmla="*/ 865488 h 1568450"/>
                <a:gd name="connsiteX171" fmla="*/ 1636203 w 1896949"/>
                <a:gd name="connsiteY171" fmla="*/ 859141 h 1568450"/>
                <a:gd name="connsiteX172" fmla="*/ 1629012 w 1896949"/>
                <a:gd name="connsiteY172" fmla="*/ 854830 h 1568450"/>
                <a:gd name="connsiteX173" fmla="*/ 1626378 w 1896949"/>
                <a:gd name="connsiteY173" fmla="*/ 852488 h 1568450"/>
                <a:gd name="connsiteX174" fmla="*/ 1617650 w 1896949"/>
                <a:gd name="connsiteY174" fmla="*/ 847725 h 1568450"/>
                <a:gd name="connsiteX175" fmla="*/ 1610509 w 1896949"/>
                <a:gd name="connsiteY175" fmla="*/ 846931 h 1568450"/>
                <a:gd name="connsiteX176" fmla="*/ 1603368 w 1896949"/>
                <a:gd name="connsiteY176" fmla="*/ 847725 h 1568450"/>
                <a:gd name="connsiteX177" fmla="*/ 1596226 w 1896949"/>
                <a:gd name="connsiteY177" fmla="*/ 851694 h 1568450"/>
                <a:gd name="connsiteX178" fmla="*/ 1590672 w 1896949"/>
                <a:gd name="connsiteY178" fmla="*/ 856456 h 1568450"/>
                <a:gd name="connsiteX179" fmla="*/ 1586705 w 1896949"/>
                <a:gd name="connsiteY179" fmla="*/ 862013 h 1568450"/>
                <a:gd name="connsiteX180" fmla="*/ 1584324 w 1896949"/>
                <a:gd name="connsiteY180" fmla="*/ 870744 h 1568450"/>
                <a:gd name="connsiteX181" fmla="*/ 1583531 w 1896949"/>
                <a:gd name="connsiteY181" fmla="*/ 878681 h 1568450"/>
                <a:gd name="connsiteX182" fmla="*/ 1581944 w 1896949"/>
                <a:gd name="connsiteY182" fmla="*/ 888206 h 1568450"/>
                <a:gd name="connsiteX183" fmla="*/ 1581944 w 1896949"/>
                <a:gd name="connsiteY183" fmla="*/ 1207294 h 1568450"/>
                <a:gd name="connsiteX184" fmla="*/ 1581151 w 1896949"/>
                <a:gd name="connsiteY184" fmla="*/ 1207294 h 1568450"/>
                <a:gd name="connsiteX185" fmla="*/ 1581151 w 1896949"/>
                <a:gd name="connsiteY185" fmla="*/ 1568450 h 1568450"/>
                <a:gd name="connsiteX186" fmla="*/ 902739 w 1896949"/>
                <a:gd name="connsiteY186" fmla="*/ 1568450 h 1568450"/>
                <a:gd name="connsiteX187" fmla="*/ 893218 w 1896949"/>
                <a:gd name="connsiteY187" fmla="*/ 1568450 h 1568450"/>
                <a:gd name="connsiteX188" fmla="*/ 885283 w 1896949"/>
                <a:gd name="connsiteY188" fmla="*/ 1566069 h 1568450"/>
                <a:gd name="connsiteX189" fmla="*/ 878142 w 1896949"/>
                <a:gd name="connsiteY189" fmla="*/ 1564481 h 1568450"/>
                <a:gd name="connsiteX190" fmla="*/ 873381 w 1896949"/>
                <a:gd name="connsiteY190" fmla="*/ 1561306 h 1568450"/>
                <a:gd name="connsiteX191" fmla="*/ 868620 w 1896949"/>
                <a:gd name="connsiteY191" fmla="*/ 1557338 h 1568450"/>
                <a:gd name="connsiteX192" fmla="*/ 864653 w 1896949"/>
                <a:gd name="connsiteY192" fmla="*/ 1554163 h 1568450"/>
                <a:gd name="connsiteX193" fmla="*/ 863482 w 1896949"/>
                <a:gd name="connsiteY193" fmla="*/ 1551821 h 1568450"/>
                <a:gd name="connsiteX194" fmla="*/ 863482 w 1896949"/>
                <a:gd name="connsiteY194" fmla="*/ 1548608 h 1568450"/>
                <a:gd name="connsiteX195" fmla="*/ 864275 w 1896949"/>
                <a:gd name="connsiteY195" fmla="*/ 1542258 h 1568450"/>
                <a:gd name="connsiteX196" fmla="*/ 866654 w 1896949"/>
                <a:gd name="connsiteY196" fmla="*/ 1537495 h 1568450"/>
                <a:gd name="connsiteX197" fmla="*/ 870619 w 1896949"/>
                <a:gd name="connsiteY197" fmla="*/ 1531939 h 1568450"/>
                <a:gd name="connsiteX198" fmla="*/ 875378 w 1896949"/>
                <a:gd name="connsiteY198" fmla="*/ 1527176 h 1568450"/>
                <a:gd name="connsiteX199" fmla="*/ 880929 w 1896949"/>
                <a:gd name="connsiteY199" fmla="*/ 1522414 h 1568450"/>
                <a:gd name="connsiteX200" fmla="*/ 888067 w 1896949"/>
                <a:gd name="connsiteY200" fmla="*/ 1516858 h 1568450"/>
                <a:gd name="connsiteX201" fmla="*/ 896791 w 1896949"/>
                <a:gd name="connsiteY201" fmla="*/ 1512889 h 1568450"/>
                <a:gd name="connsiteX202" fmla="*/ 906308 w 1896949"/>
                <a:gd name="connsiteY202" fmla="*/ 1507333 h 1568450"/>
                <a:gd name="connsiteX203" fmla="*/ 916618 w 1896949"/>
                <a:gd name="connsiteY203" fmla="*/ 1498601 h 1568450"/>
                <a:gd name="connsiteX204" fmla="*/ 928514 w 1896949"/>
                <a:gd name="connsiteY204" fmla="*/ 1488283 h 1568450"/>
                <a:gd name="connsiteX205" fmla="*/ 934066 w 1896949"/>
                <a:gd name="connsiteY205" fmla="*/ 1481933 h 1568450"/>
                <a:gd name="connsiteX206" fmla="*/ 940411 w 1896949"/>
                <a:gd name="connsiteY206" fmla="*/ 1473995 h 1568450"/>
                <a:gd name="connsiteX207" fmla="*/ 945169 w 1896949"/>
                <a:gd name="connsiteY207" fmla="*/ 1465264 h 1568450"/>
                <a:gd name="connsiteX208" fmla="*/ 949928 w 1896949"/>
                <a:gd name="connsiteY208" fmla="*/ 1455739 h 1568450"/>
                <a:gd name="connsiteX209" fmla="*/ 954686 w 1896949"/>
                <a:gd name="connsiteY209" fmla="*/ 1446214 h 1568450"/>
                <a:gd name="connsiteX210" fmla="*/ 957065 w 1896949"/>
                <a:gd name="connsiteY210" fmla="*/ 1434308 h 1568450"/>
                <a:gd name="connsiteX211" fmla="*/ 959445 w 1896949"/>
                <a:gd name="connsiteY211" fmla="*/ 1422401 h 1568450"/>
                <a:gd name="connsiteX212" fmla="*/ 960238 w 1896949"/>
                <a:gd name="connsiteY212" fmla="*/ 1409701 h 1568450"/>
                <a:gd name="connsiteX213" fmla="*/ 959445 w 1896949"/>
                <a:gd name="connsiteY213" fmla="*/ 1395414 h 1568450"/>
                <a:gd name="connsiteX214" fmla="*/ 955479 w 1896949"/>
                <a:gd name="connsiteY214" fmla="*/ 1380333 h 1568450"/>
                <a:gd name="connsiteX215" fmla="*/ 953752 w 1896949"/>
                <a:gd name="connsiteY215" fmla="*/ 1372985 h 1568450"/>
                <a:gd name="connsiteX216" fmla="*/ 953521 w 1896949"/>
                <a:gd name="connsiteY216" fmla="*/ 1371600 h 1568450"/>
                <a:gd name="connsiteX217" fmla="*/ 953199 w 1896949"/>
                <a:gd name="connsiteY217" fmla="*/ 1370634 h 1568450"/>
                <a:gd name="connsiteX218" fmla="*/ 952307 w 1896949"/>
                <a:gd name="connsiteY218" fmla="*/ 1366839 h 1568450"/>
                <a:gd name="connsiteX219" fmla="*/ 951188 w 1896949"/>
                <a:gd name="connsiteY219" fmla="*/ 1364600 h 1568450"/>
                <a:gd name="connsiteX220" fmla="*/ 948760 w 1896949"/>
                <a:gd name="connsiteY220" fmla="*/ 1357313 h 1568450"/>
                <a:gd name="connsiteX221" fmla="*/ 943206 w 1896949"/>
                <a:gd name="connsiteY221" fmla="*/ 1343819 h 1568450"/>
                <a:gd name="connsiteX222" fmla="*/ 934478 w 1896949"/>
                <a:gd name="connsiteY222" fmla="*/ 1331119 h 1568450"/>
                <a:gd name="connsiteX223" fmla="*/ 924956 w 1896949"/>
                <a:gd name="connsiteY223" fmla="*/ 1319213 h 1568450"/>
                <a:gd name="connsiteX224" fmla="*/ 915435 w 1896949"/>
                <a:gd name="connsiteY224" fmla="*/ 1308100 h 1568450"/>
                <a:gd name="connsiteX225" fmla="*/ 903533 w 1896949"/>
                <a:gd name="connsiteY225" fmla="*/ 1297781 h 1568450"/>
                <a:gd name="connsiteX226" fmla="*/ 890837 w 1896949"/>
                <a:gd name="connsiteY226" fmla="*/ 1288256 h 1568450"/>
                <a:gd name="connsiteX227" fmla="*/ 876555 w 1896949"/>
                <a:gd name="connsiteY227" fmla="*/ 1280319 h 1568450"/>
                <a:gd name="connsiteX228" fmla="*/ 861479 w 1896949"/>
                <a:gd name="connsiteY228" fmla="*/ 1273175 h 1568450"/>
                <a:gd name="connsiteX229" fmla="*/ 845610 w 1896949"/>
                <a:gd name="connsiteY229" fmla="*/ 1266031 h 1568450"/>
                <a:gd name="connsiteX230" fmla="*/ 828947 w 1896949"/>
                <a:gd name="connsiteY230" fmla="*/ 1261269 h 1568450"/>
                <a:gd name="connsiteX231" fmla="*/ 811491 w 1896949"/>
                <a:gd name="connsiteY231" fmla="*/ 1257300 h 1568450"/>
                <a:gd name="connsiteX232" fmla="*/ 793241 w 1896949"/>
                <a:gd name="connsiteY232" fmla="*/ 1254919 h 1568450"/>
                <a:gd name="connsiteX233" fmla="*/ 774991 w 1896949"/>
                <a:gd name="connsiteY233" fmla="*/ 1254919 h 1568450"/>
                <a:gd name="connsiteX234" fmla="*/ 756742 w 1896949"/>
                <a:gd name="connsiteY234" fmla="*/ 1254919 h 1568450"/>
                <a:gd name="connsiteX235" fmla="*/ 737699 w 1896949"/>
                <a:gd name="connsiteY235" fmla="*/ 1257300 h 1568450"/>
                <a:gd name="connsiteX236" fmla="*/ 721036 w 1896949"/>
                <a:gd name="connsiteY236" fmla="*/ 1261269 h 1568450"/>
                <a:gd name="connsiteX237" fmla="*/ 703580 w 1896949"/>
                <a:gd name="connsiteY237" fmla="*/ 1266031 h 1568450"/>
                <a:gd name="connsiteX238" fmla="*/ 687710 w 1896949"/>
                <a:gd name="connsiteY238" fmla="*/ 1273175 h 1568450"/>
                <a:gd name="connsiteX239" fmla="*/ 672635 w 1896949"/>
                <a:gd name="connsiteY239" fmla="*/ 1280319 h 1568450"/>
                <a:gd name="connsiteX240" fmla="*/ 659939 w 1896949"/>
                <a:gd name="connsiteY240" fmla="*/ 1288256 h 1568450"/>
                <a:gd name="connsiteX241" fmla="*/ 646450 w 1896949"/>
                <a:gd name="connsiteY241" fmla="*/ 1297781 h 1568450"/>
                <a:gd name="connsiteX242" fmla="*/ 634548 w 1896949"/>
                <a:gd name="connsiteY242" fmla="*/ 1308100 h 1568450"/>
                <a:gd name="connsiteX243" fmla="*/ 624233 w 1896949"/>
                <a:gd name="connsiteY243" fmla="*/ 1319213 h 1568450"/>
                <a:gd name="connsiteX244" fmla="*/ 614712 w 1896949"/>
                <a:gd name="connsiteY244" fmla="*/ 1331119 h 1568450"/>
                <a:gd name="connsiteX245" fmla="*/ 607571 w 1896949"/>
                <a:gd name="connsiteY245" fmla="*/ 1343819 h 1568450"/>
                <a:gd name="connsiteX246" fmla="*/ 601223 w 1896949"/>
                <a:gd name="connsiteY246" fmla="*/ 1357313 h 1568450"/>
                <a:gd name="connsiteX247" fmla="*/ 596462 w 1896949"/>
                <a:gd name="connsiteY247" fmla="*/ 1371600 h 1568450"/>
                <a:gd name="connsiteX248" fmla="*/ 594082 w 1896949"/>
                <a:gd name="connsiteY248" fmla="*/ 1385888 h 1568450"/>
                <a:gd name="connsiteX249" fmla="*/ 593288 w 1896949"/>
                <a:gd name="connsiteY249" fmla="*/ 1400969 h 1568450"/>
                <a:gd name="connsiteX250" fmla="*/ 593288 w 1896949"/>
                <a:gd name="connsiteY250" fmla="*/ 1414463 h 1568450"/>
                <a:gd name="connsiteX251" fmla="*/ 595669 w 1896949"/>
                <a:gd name="connsiteY251" fmla="*/ 1425575 h 1568450"/>
                <a:gd name="connsiteX252" fmla="*/ 598843 w 1896949"/>
                <a:gd name="connsiteY252" fmla="*/ 1436688 h 1568450"/>
                <a:gd name="connsiteX253" fmla="*/ 602810 w 1896949"/>
                <a:gd name="connsiteY253" fmla="*/ 1447006 h 1568450"/>
                <a:gd name="connsiteX254" fmla="*/ 602845 w 1896949"/>
                <a:gd name="connsiteY254" fmla="*/ 1447077 h 1568450"/>
                <a:gd name="connsiteX255" fmla="*/ 605730 w 1896949"/>
                <a:gd name="connsiteY255" fmla="*/ 1455739 h 1568450"/>
                <a:gd name="connsiteX256" fmla="*/ 610489 w 1896949"/>
                <a:gd name="connsiteY256" fmla="*/ 1465264 h 1568450"/>
                <a:gd name="connsiteX257" fmla="*/ 616833 w 1896949"/>
                <a:gd name="connsiteY257" fmla="*/ 1473995 h 1568450"/>
                <a:gd name="connsiteX258" fmla="*/ 621592 w 1896949"/>
                <a:gd name="connsiteY258" fmla="*/ 1481933 h 1568450"/>
                <a:gd name="connsiteX259" fmla="*/ 628729 w 1896949"/>
                <a:gd name="connsiteY259" fmla="*/ 1488283 h 1568450"/>
                <a:gd name="connsiteX260" fmla="*/ 639040 w 1896949"/>
                <a:gd name="connsiteY260" fmla="*/ 1498601 h 1568450"/>
                <a:gd name="connsiteX261" fmla="*/ 650143 w 1896949"/>
                <a:gd name="connsiteY261" fmla="*/ 1507333 h 1568450"/>
                <a:gd name="connsiteX262" fmla="*/ 659660 w 1896949"/>
                <a:gd name="connsiteY262" fmla="*/ 1512889 h 1568450"/>
                <a:gd name="connsiteX263" fmla="*/ 667590 w 1896949"/>
                <a:gd name="connsiteY263" fmla="*/ 1516858 h 1568450"/>
                <a:gd name="connsiteX264" fmla="*/ 674728 w 1896949"/>
                <a:gd name="connsiteY264" fmla="*/ 1522414 h 1568450"/>
                <a:gd name="connsiteX265" fmla="*/ 680280 w 1896949"/>
                <a:gd name="connsiteY265" fmla="*/ 1527176 h 1568450"/>
                <a:gd name="connsiteX266" fmla="*/ 685038 w 1896949"/>
                <a:gd name="connsiteY266" fmla="*/ 1531939 h 1568450"/>
                <a:gd name="connsiteX267" fmla="*/ 688359 w 1896949"/>
                <a:gd name="connsiteY267" fmla="*/ 1536592 h 1568450"/>
                <a:gd name="connsiteX268" fmla="*/ 689297 w 1896949"/>
                <a:gd name="connsiteY268" fmla="*/ 1539875 h 1568450"/>
                <a:gd name="connsiteX269" fmla="*/ 689297 w 1896949"/>
                <a:gd name="connsiteY269" fmla="*/ 1544638 h 1568450"/>
                <a:gd name="connsiteX270" fmla="*/ 687710 w 1896949"/>
                <a:gd name="connsiteY270" fmla="*/ 1549400 h 1568450"/>
                <a:gd name="connsiteX271" fmla="*/ 685330 w 1896949"/>
                <a:gd name="connsiteY271" fmla="*/ 1554163 h 1568450"/>
                <a:gd name="connsiteX272" fmla="*/ 682156 w 1896949"/>
                <a:gd name="connsiteY272" fmla="*/ 1557338 h 1568450"/>
                <a:gd name="connsiteX273" fmla="*/ 677395 w 1896949"/>
                <a:gd name="connsiteY273" fmla="*/ 1561306 h 1568450"/>
                <a:gd name="connsiteX274" fmla="*/ 671841 w 1896949"/>
                <a:gd name="connsiteY274" fmla="*/ 1564481 h 1568450"/>
                <a:gd name="connsiteX275" fmla="*/ 664700 w 1896949"/>
                <a:gd name="connsiteY275" fmla="*/ 1566069 h 1568450"/>
                <a:gd name="connsiteX276" fmla="*/ 655972 w 1896949"/>
                <a:gd name="connsiteY276" fmla="*/ 1568450 h 1568450"/>
                <a:gd name="connsiteX277" fmla="*/ 648037 w 1896949"/>
                <a:gd name="connsiteY277" fmla="*/ 1568450 h 1568450"/>
                <a:gd name="connsiteX278" fmla="*/ 10886 w 1896949"/>
                <a:gd name="connsiteY278" fmla="*/ 1568450 h 1568450"/>
                <a:gd name="connsiteX279" fmla="*/ 10886 w 1896949"/>
                <a:gd name="connsiteY279" fmla="*/ 1134269 h 1568450"/>
                <a:gd name="connsiteX280" fmla="*/ 9299 w 1896949"/>
                <a:gd name="connsiteY280" fmla="*/ 1134269 h 1568450"/>
                <a:gd name="connsiteX281" fmla="*/ 9299 w 1896949"/>
                <a:gd name="connsiteY281" fmla="*/ 935038 h 1568450"/>
                <a:gd name="connsiteX282" fmla="*/ 9299 w 1896949"/>
                <a:gd name="connsiteY282" fmla="*/ 925513 h 1568450"/>
                <a:gd name="connsiteX283" fmla="*/ 6919 w 1896949"/>
                <a:gd name="connsiteY283" fmla="*/ 915988 h 1568450"/>
                <a:gd name="connsiteX284" fmla="*/ 4538 w 1896949"/>
                <a:gd name="connsiteY284" fmla="*/ 908844 h 1568450"/>
                <a:gd name="connsiteX285" fmla="*/ 1364 w 1896949"/>
                <a:gd name="connsiteY285" fmla="*/ 902494 h 1568450"/>
                <a:gd name="connsiteX286" fmla="*/ 0 w 1896949"/>
                <a:gd name="connsiteY286" fmla="*/ 900902 h 1568450"/>
                <a:gd name="connsiteX287" fmla="*/ 0 w 1896949"/>
                <a:gd name="connsiteY287" fmla="*/ 897731 h 1568450"/>
                <a:gd name="connsiteX288" fmla="*/ 1587 w 1896949"/>
                <a:gd name="connsiteY288" fmla="*/ 888206 h 1568450"/>
                <a:gd name="connsiteX289" fmla="*/ 2380 w 1896949"/>
                <a:gd name="connsiteY289" fmla="*/ 880269 h 1568450"/>
                <a:gd name="connsiteX290" fmla="*/ 4761 w 1896949"/>
                <a:gd name="connsiteY290" fmla="*/ 871538 h 1568450"/>
                <a:gd name="connsiteX291" fmla="*/ 8728 w 1896949"/>
                <a:gd name="connsiteY291" fmla="*/ 865981 h 1568450"/>
                <a:gd name="connsiteX292" fmla="*/ 14282 w 1896949"/>
                <a:gd name="connsiteY292" fmla="*/ 861219 h 1568450"/>
                <a:gd name="connsiteX293" fmla="*/ 21424 w 1896949"/>
                <a:gd name="connsiteY293" fmla="*/ 857250 h 1568450"/>
                <a:gd name="connsiteX294" fmla="*/ 28565 w 1896949"/>
                <a:gd name="connsiteY294" fmla="*/ 856456 h 1568450"/>
                <a:gd name="connsiteX295" fmla="*/ 35390 w 1896949"/>
                <a:gd name="connsiteY295" fmla="*/ 857215 h 1568450"/>
                <a:gd name="connsiteX296" fmla="*/ 37215 w 1896949"/>
                <a:gd name="connsiteY296" fmla="*/ 858838 h 1568450"/>
                <a:gd name="connsiteX297" fmla="*/ 44356 w 1896949"/>
                <a:gd name="connsiteY297" fmla="*/ 868363 h 1568450"/>
                <a:gd name="connsiteX298" fmla="*/ 51498 w 1896949"/>
                <a:gd name="connsiteY298" fmla="*/ 878681 h 1568450"/>
                <a:gd name="connsiteX299" fmla="*/ 57052 w 1896949"/>
                <a:gd name="connsiteY299" fmla="*/ 889794 h 1568450"/>
                <a:gd name="connsiteX300" fmla="*/ 64193 w 1896949"/>
                <a:gd name="connsiteY300" fmla="*/ 899319 h 1568450"/>
                <a:gd name="connsiteX301" fmla="*/ 75301 w 1896949"/>
                <a:gd name="connsiteY301" fmla="*/ 911225 h 1568450"/>
                <a:gd name="connsiteX302" fmla="*/ 82443 w 1896949"/>
                <a:gd name="connsiteY302" fmla="*/ 916781 h 1568450"/>
                <a:gd name="connsiteX303" fmla="*/ 89584 w 1896949"/>
                <a:gd name="connsiteY303" fmla="*/ 923131 h 1568450"/>
                <a:gd name="connsiteX304" fmla="*/ 98312 w 1896949"/>
                <a:gd name="connsiteY304" fmla="*/ 928688 h 1568450"/>
                <a:gd name="connsiteX305" fmla="*/ 101339 w 1896949"/>
                <a:gd name="connsiteY305" fmla="*/ 930340 h 1568450"/>
                <a:gd name="connsiteX306" fmla="*/ 103944 w 1896949"/>
                <a:gd name="connsiteY306" fmla="*/ 932656 h 1568450"/>
                <a:gd name="connsiteX307" fmla="*/ 112672 w 1896949"/>
                <a:gd name="connsiteY307" fmla="*/ 938213 h 1568450"/>
                <a:gd name="connsiteX308" fmla="*/ 121400 w 1896949"/>
                <a:gd name="connsiteY308" fmla="*/ 942975 h 1568450"/>
                <a:gd name="connsiteX309" fmla="*/ 131715 w 1896949"/>
                <a:gd name="connsiteY309" fmla="*/ 946944 h 1568450"/>
                <a:gd name="connsiteX310" fmla="*/ 142824 w 1896949"/>
                <a:gd name="connsiteY310" fmla="*/ 950119 h 1568450"/>
                <a:gd name="connsiteX311" fmla="*/ 154726 w 1896949"/>
                <a:gd name="connsiteY311" fmla="*/ 952500 h 1568450"/>
                <a:gd name="connsiteX312" fmla="*/ 167421 w 1896949"/>
                <a:gd name="connsiteY312" fmla="*/ 952500 h 1568450"/>
                <a:gd name="connsiteX313" fmla="*/ 183290 w 1896949"/>
                <a:gd name="connsiteY313" fmla="*/ 951706 h 1568450"/>
                <a:gd name="connsiteX314" fmla="*/ 197573 w 1896949"/>
                <a:gd name="connsiteY314" fmla="*/ 949325 h 1568450"/>
                <a:gd name="connsiteX315" fmla="*/ 211855 w 1896949"/>
                <a:gd name="connsiteY315" fmla="*/ 944563 h 1568450"/>
                <a:gd name="connsiteX316" fmla="*/ 224550 w 1896949"/>
                <a:gd name="connsiteY316" fmla="*/ 938213 h 1568450"/>
                <a:gd name="connsiteX317" fmla="*/ 237246 w 1896949"/>
                <a:gd name="connsiteY317" fmla="*/ 931069 h 1568450"/>
                <a:gd name="connsiteX318" fmla="*/ 249148 w 1896949"/>
                <a:gd name="connsiteY318" fmla="*/ 921544 h 1568450"/>
                <a:gd name="connsiteX319" fmla="*/ 261050 w 1896949"/>
                <a:gd name="connsiteY319" fmla="*/ 911225 h 1568450"/>
                <a:gd name="connsiteX320" fmla="*/ 272158 w 1896949"/>
                <a:gd name="connsiteY320" fmla="*/ 899319 h 1568450"/>
                <a:gd name="connsiteX321" fmla="*/ 280093 w 1896949"/>
                <a:gd name="connsiteY321" fmla="*/ 885825 h 1568450"/>
                <a:gd name="connsiteX322" fmla="*/ 289614 w 1896949"/>
                <a:gd name="connsiteY322" fmla="*/ 873125 h 1568450"/>
                <a:gd name="connsiteX323" fmla="*/ 296755 w 1896949"/>
                <a:gd name="connsiteY323" fmla="*/ 857250 h 1568450"/>
                <a:gd name="connsiteX324" fmla="*/ 303103 w 1896949"/>
                <a:gd name="connsiteY324" fmla="*/ 841375 h 1568450"/>
                <a:gd name="connsiteX325" fmla="*/ 307864 w 1896949"/>
                <a:gd name="connsiteY325" fmla="*/ 824706 h 1568450"/>
                <a:gd name="connsiteX326" fmla="*/ 311038 w 1896949"/>
                <a:gd name="connsiteY326" fmla="*/ 808038 h 1568450"/>
                <a:gd name="connsiteX327" fmla="*/ 313418 w 1896949"/>
                <a:gd name="connsiteY327" fmla="*/ 788988 h 1568450"/>
                <a:gd name="connsiteX328" fmla="*/ 315005 w 1896949"/>
                <a:gd name="connsiteY328" fmla="*/ 770731 h 1568450"/>
                <a:gd name="connsiteX329" fmla="*/ 313418 w 1896949"/>
                <a:gd name="connsiteY329" fmla="*/ 751681 h 1568450"/>
                <a:gd name="connsiteX330" fmla="*/ 311038 w 1896949"/>
                <a:gd name="connsiteY330" fmla="*/ 734219 h 1568450"/>
                <a:gd name="connsiteX331" fmla="*/ 307864 w 1896949"/>
                <a:gd name="connsiteY331" fmla="*/ 716756 h 1568450"/>
                <a:gd name="connsiteX332" fmla="*/ 303103 w 1896949"/>
                <a:gd name="connsiteY332" fmla="*/ 700088 h 1568450"/>
                <a:gd name="connsiteX333" fmla="*/ 296755 w 1896949"/>
                <a:gd name="connsiteY333" fmla="*/ 684213 h 1568450"/>
                <a:gd name="connsiteX334" fmla="*/ 289614 w 1896949"/>
                <a:gd name="connsiteY334" fmla="*/ 669131 h 1568450"/>
                <a:gd name="connsiteX335" fmla="*/ 280093 w 1896949"/>
                <a:gd name="connsiteY335" fmla="*/ 654844 h 1568450"/>
                <a:gd name="connsiteX336" fmla="*/ 272158 w 1896949"/>
                <a:gd name="connsiteY336" fmla="*/ 641350 h 1568450"/>
                <a:gd name="connsiteX337" fmla="*/ 261050 w 1896949"/>
                <a:gd name="connsiteY337" fmla="*/ 629444 h 1568450"/>
                <a:gd name="connsiteX338" fmla="*/ 249148 w 1896949"/>
                <a:gd name="connsiteY338" fmla="*/ 619125 h 1568450"/>
                <a:gd name="connsiteX339" fmla="*/ 237246 w 1896949"/>
                <a:gd name="connsiteY339" fmla="*/ 611188 h 1568450"/>
                <a:gd name="connsiteX340" fmla="*/ 224550 w 1896949"/>
                <a:gd name="connsiteY340" fmla="*/ 602456 h 1568450"/>
                <a:gd name="connsiteX341" fmla="*/ 223169 w 1896949"/>
                <a:gd name="connsiteY341" fmla="*/ 601851 h 1568450"/>
                <a:gd name="connsiteX342" fmla="*/ 222886 w 1896949"/>
                <a:gd name="connsiteY342" fmla="*/ 601663 h 1568450"/>
                <a:gd name="connsiteX343" fmla="*/ 210190 w 1896949"/>
                <a:gd name="connsiteY343" fmla="*/ 592931 h 1568450"/>
                <a:gd name="connsiteX344" fmla="*/ 197495 w 1896949"/>
                <a:gd name="connsiteY344" fmla="*/ 587375 h 1568450"/>
                <a:gd name="connsiteX345" fmla="*/ 183213 w 1896949"/>
                <a:gd name="connsiteY345" fmla="*/ 582613 h 1568450"/>
                <a:gd name="connsiteX346" fmla="*/ 168930 w 1896949"/>
                <a:gd name="connsiteY346" fmla="*/ 580231 h 1568450"/>
                <a:gd name="connsiteX347" fmla="*/ 153061 w 1896949"/>
                <a:gd name="connsiteY347" fmla="*/ 578644 h 1568450"/>
                <a:gd name="connsiteX348" fmla="*/ 140366 w 1896949"/>
                <a:gd name="connsiteY348" fmla="*/ 580231 h 1568450"/>
                <a:gd name="connsiteX349" fmla="*/ 128464 w 1896949"/>
                <a:gd name="connsiteY349" fmla="*/ 582613 h 1568450"/>
                <a:gd name="connsiteX350" fmla="*/ 117355 w 1896949"/>
                <a:gd name="connsiteY350" fmla="*/ 584994 h 1568450"/>
                <a:gd name="connsiteX351" fmla="*/ 107040 w 1896949"/>
                <a:gd name="connsiteY351" fmla="*/ 589756 h 1568450"/>
                <a:gd name="connsiteX352" fmla="*/ 98312 w 1896949"/>
                <a:gd name="connsiteY352" fmla="*/ 594519 h 1568450"/>
                <a:gd name="connsiteX353" fmla="*/ 89584 w 1896949"/>
                <a:gd name="connsiteY353" fmla="*/ 599281 h 1568450"/>
                <a:gd name="connsiteX354" fmla="*/ 82443 w 1896949"/>
                <a:gd name="connsiteY354" fmla="*/ 604838 h 1568450"/>
                <a:gd name="connsiteX355" fmla="*/ 75301 w 1896949"/>
                <a:gd name="connsiteY355" fmla="*/ 611188 h 1568450"/>
                <a:gd name="connsiteX356" fmla="*/ 64193 w 1896949"/>
                <a:gd name="connsiteY356" fmla="*/ 622300 h 1568450"/>
                <a:gd name="connsiteX357" fmla="*/ 57052 w 1896949"/>
                <a:gd name="connsiteY357" fmla="*/ 633413 h 1568450"/>
                <a:gd name="connsiteX358" fmla="*/ 51498 w 1896949"/>
                <a:gd name="connsiteY358" fmla="*/ 642938 h 1568450"/>
                <a:gd name="connsiteX359" fmla="*/ 44356 w 1896949"/>
                <a:gd name="connsiteY359" fmla="*/ 654844 h 1568450"/>
                <a:gd name="connsiteX360" fmla="*/ 37215 w 1896949"/>
                <a:gd name="connsiteY360" fmla="*/ 662781 h 1568450"/>
                <a:gd name="connsiteX361" fmla="*/ 30074 w 1896949"/>
                <a:gd name="connsiteY361" fmla="*/ 669925 h 1568450"/>
                <a:gd name="connsiteX362" fmla="*/ 21346 w 1896949"/>
                <a:gd name="connsiteY362" fmla="*/ 673894 h 1568450"/>
                <a:gd name="connsiteX363" fmla="*/ 14205 w 1896949"/>
                <a:gd name="connsiteY363" fmla="*/ 674688 h 1568450"/>
                <a:gd name="connsiteX364" fmla="*/ 9299 w 1896949"/>
                <a:gd name="connsiteY364" fmla="*/ 674688 h 1568450"/>
                <a:gd name="connsiteX365" fmla="*/ 9299 w 1896949"/>
                <a:gd name="connsiteY365" fmla="*/ 360363 h 1568450"/>
                <a:gd name="connsiteX366" fmla="*/ 10886 w 1896949"/>
                <a:gd name="connsiteY366" fmla="*/ 360363 h 1568450"/>
                <a:gd name="connsiteX367" fmla="*/ 10886 w 1896949"/>
                <a:gd name="connsiteY367" fmla="*/ 0 h 156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Lst>
              <a:rect l="l" t="t" r="r" b="b"/>
              <a:pathLst>
                <a:path w="1896949" h="1568450">
                  <a:moveTo>
                    <a:pt x="10886" y="0"/>
                  </a:moveTo>
                  <a:lnTo>
                    <a:pt x="13166" y="0"/>
                  </a:lnTo>
                  <a:lnTo>
                    <a:pt x="13166" y="5527"/>
                  </a:lnTo>
                  <a:lnTo>
                    <a:pt x="696297" y="3145"/>
                  </a:lnTo>
                  <a:lnTo>
                    <a:pt x="704231" y="4733"/>
                  </a:lnTo>
                  <a:lnTo>
                    <a:pt x="712959" y="5527"/>
                  </a:lnTo>
                  <a:lnTo>
                    <a:pt x="720099" y="7909"/>
                  </a:lnTo>
                  <a:lnTo>
                    <a:pt x="724860" y="10291"/>
                  </a:lnTo>
                  <a:lnTo>
                    <a:pt x="725223" y="10593"/>
                  </a:lnTo>
                  <a:lnTo>
                    <a:pt x="728177" y="14288"/>
                  </a:lnTo>
                  <a:lnTo>
                    <a:pt x="730557" y="19050"/>
                  </a:lnTo>
                  <a:lnTo>
                    <a:pt x="732144" y="23813"/>
                  </a:lnTo>
                  <a:lnTo>
                    <a:pt x="732144" y="29369"/>
                  </a:lnTo>
                  <a:lnTo>
                    <a:pt x="730557" y="34131"/>
                  </a:lnTo>
                  <a:lnTo>
                    <a:pt x="728177" y="39688"/>
                  </a:lnTo>
                  <a:lnTo>
                    <a:pt x="725003" y="44450"/>
                  </a:lnTo>
                  <a:lnTo>
                    <a:pt x="720242" y="50800"/>
                  </a:lnTo>
                  <a:lnTo>
                    <a:pt x="713895" y="55563"/>
                  </a:lnTo>
                  <a:lnTo>
                    <a:pt x="708341" y="60325"/>
                  </a:lnTo>
                  <a:lnTo>
                    <a:pt x="699612" y="65088"/>
                  </a:lnTo>
                  <a:lnTo>
                    <a:pt x="689297" y="70644"/>
                  </a:lnTo>
                  <a:lnTo>
                    <a:pt x="679776" y="77788"/>
                  </a:lnTo>
                  <a:lnTo>
                    <a:pt x="667874" y="88900"/>
                  </a:lnTo>
                  <a:lnTo>
                    <a:pt x="662320" y="96044"/>
                  </a:lnTo>
                  <a:lnTo>
                    <a:pt x="655972" y="103188"/>
                  </a:lnTo>
                  <a:lnTo>
                    <a:pt x="650418" y="111125"/>
                  </a:lnTo>
                  <a:lnTo>
                    <a:pt x="645657" y="120650"/>
                  </a:lnTo>
                  <a:lnTo>
                    <a:pt x="641690" y="131763"/>
                  </a:lnTo>
                  <a:lnTo>
                    <a:pt x="638516" y="142081"/>
                  </a:lnTo>
                  <a:lnTo>
                    <a:pt x="636135" y="153988"/>
                  </a:lnTo>
                  <a:lnTo>
                    <a:pt x="636135" y="166688"/>
                  </a:lnTo>
                  <a:lnTo>
                    <a:pt x="636929" y="182563"/>
                  </a:lnTo>
                  <a:lnTo>
                    <a:pt x="639309" y="196850"/>
                  </a:lnTo>
                  <a:lnTo>
                    <a:pt x="644070" y="211138"/>
                  </a:lnTo>
                  <a:lnTo>
                    <a:pt x="650418" y="223838"/>
                  </a:lnTo>
                  <a:lnTo>
                    <a:pt x="657559" y="237331"/>
                  </a:lnTo>
                  <a:lnTo>
                    <a:pt x="667080" y="249238"/>
                  </a:lnTo>
                  <a:lnTo>
                    <a:pt x="677395" y="261144"/>
                  </a:lnTo>
                  <a:lnTo>
                    <a:pt x="688954" y="269623"/>
                  </a:lnTo>
                  <a:lnTo>
                    <a:pt x="693917" y="273928"/>
                  </a:lnTo>
                  <a:lnTo>
                    <a:pt x="705818" y="283457"/>
                  </a:lnTo>
                  <a:lnTo>
                    <a:pt x="720099" y="291397"/>
                  </a:lnTo>
                  <a:lnTo>
                    <a:pt x="735174" y="298544"/>
                  </a:lnTo>
                  <a:lnTo>
                    <a:pt x="751042" y="305691"/>
                  </a:lnTo>
                  <a:lnTo>
                    <a:pt x="767704" y="310456"/>
                  </a:lnTo>
                  <a:lnTo>
                    <a:pt x="785159" y="314426"/>
                  </a:lnTo>
                  <a:lnTo>
                    <a:pt x="802615" y="316808"/>
                  </a:lnTo>
                  <a:lnTo>
                    <a:pt x="821657" y="316808"/>
                  </a:lnTo>
                  <a:lnTo>
                    <a:pt x="840698" y="316808"/>
                  </a:lnTo>
                  <a:lnTo>
                    <a:pt x="858947" y="314426"/>
                  </a:lnTo>
                  <a:lnTo>
                    <a:pt x="876402" y="310456"/>
                  </a:lnTo>
                  <a:lnTo>
                    <a:pt x="893064" y="305691"/>
                  </a:lnTo>
                  <a:lnTo>
                    <a:pt x="908139" y="298544"/>
                  </a:lnTo>
                  <a:lnTo>
                    <a:pt x="924007" y="291397"/>
                  </a:lnTo>
                  <a:lnTo>
                    <a:pt x="938289" y="283457"/>
                  </a:lnTo>
                  <a:lnTo>
                    <a:pt x="950983" y="273928"/>
                  </a:lnTo>
                  <a:lnTo>
                    <a:pt x="962091" y="263605"/>
                  </a:lnTo>
                  <a:lnTo>
                    <a:pt x="972406" y="252487"/>
                  </a:lnTo>
                  <a:lnTo>
                    <a:pt x="981927" y="240576"/>
                  </a:lnTo>
                  <a:lnTo>
                    <a:pt x="989067" y="227871"/>
                  </a:lnTo>
                  <a:lnTo>
                    <a:pt x="996208" y="214371"/>
                  </a:lnTo>
                  <a:lnTo>
                    <a:pt x="1000175" y="200078"/>
                  </a:lnTo>
                  <a:lnTo>
                    <a:pt x="1003349" y="185784"/>
                  </a:lnTo>
                  <a:lnTo>
                    <a:pt x="1004936" y="170697"/>
                  </a:lnTo>
                  <a:lnTo>
                    <a:pt x="1003349" y="157991"/>
                  </a:lnTo>
                  <a:lnTo>
                    <a:pt x="1000969" y="146080"/>
                  </a:lnTo>
                  <a:lnTo>
                    <a:pt x="998588" y="134169"/>
                  </a:lnTo>
                  <a:lnTo>
                    <a:pt x="993828" y="124640"/>
                  </a:lnTo>
                  <a:lnTo>
                    <a:pt x="989067" y="115111"/>
                  </a:lnTo>
                  <a:lnTo>
                    <a:pt x="984307" y="106376"/>
                  </a:lnTo>
                  <a:lnTo>
                    <a:pt x="978753" y="99229"/>
                  </a:lnTo>
                  <a:lnTo>
                    <a:pt x="972406" y="92082"/>
                  </a:lnTo>
                  <a:lnTo>
                    <a:pt x="960504" y="81759"/>
                  </a:lnTo>
                  <a:lnTo>
                    <a:pt x="956739" y="78571"/>
                  </a:lnTo>
                  <a:lnTo>
                    <a:pt x="955901" y="77788"/>
                  </a:lnTo>
                  <a:lnTo>
                    <a:pt x="955430" y="77462"/>
                  </a:lnTo>
                  <a:lnTo>
                    <a:pt x="950190" y="73024"/>
                  </a:lnTo>
                  <a:lnTo>
                    <a:pt x="940669" y="67466"/>
                  </a:lnTo>
                  <a:lnTo>
                    <a:pt x="938269" y="66374"/>
                  </a:lnTo>
                  <a:lnTo>
                    <a:pt x="936065" y="65088"/>
                  </a:lnTo>
                  <a:lnTo>
                    <a:pt x="927336" y="60325"/>
                  </a:lnTo>
                  <a:lnTo>
                    <a:pt x="924512" y="58442"/>
                  </a:lnTo>
                  <a:lnTo>
                    <a:pt x="919247" y="53172"/>
                  </a:lnTo>
                  <a:lnTo>
                    <a:pt x="914486" y="48408"/>
                  </a:lnTo>
                  <a:lnTo>
                    <a:pt x="910519" y="42849"/>
                  </a:lnTo>
                  <a:lnTo>
                    <a:pt x="908139" y="38084"/>
                  </a:lnTo>
                  <a:lnTo>
                    <a:pt x="907345" y="31732"/>
                  </a:lnTo>
                  <a:lnTo>
                    <a:pt x="907345" y="26967"/>
                  </a:lnTo>
                  <a:lnTo>
                    <a:pt x="908139" y="22203"/>
                  </a:lnTo>
                  <a:lnTo>
                    <a:pt x="910519" y="17438"/>
                  </a:lnTo>
                  <a:lnTo>
                    <a:pt x="914486" y="14262"/>
                  </a:lnTo>
                  <a:lnTo>
                    <a:pt x="919247" y="10291"/>
                  </a:lnTo>
                  <a:lnTo>
                    <a:pt x="924801" y="7115"/>
                  </a:lnTo>
                  <a:lnTo>
                    <a:pt x="931941" y="4733"/>
                  </a:lnTo>
                  <a:lnTo>
                    <a:pt x="940669" y="3145"/>
                  </a:lnTo>
                  <a:lnTo>
                    <a:pt x="950190" y="3145"/>
                  </a:lnTo>
                  <a:lnTo>
                    <a:pt x="1581151" y="3145"/>
                  </a:lnTo>
                  <a:lnTo>
                    <a:pt x="1581151" y="434181"/>
                  </a:lnTo>
                  <a:lnTo>
                    <a:pt x="1581944" y="434181"/>
                  </a:lnTo>
                  <a:lnTo>
                    <a:pt x="1581944" y="633413"/>
                  </a:lnTo>
                  <a:lnTo>
                    <a:pt x="1583531" y="642938"/>
                  </a:lnTo>
                  <a:lnTo>
                    <a:pt x="1584324" y="652463"/>
                  </a:lnTo>
                  <a:lnTo>
                    <a:pt x="1586705" y="659606"/>
                  </a:lnTo>
                  <a:lnTo>
                    <a:pt x="1590672" y="665163"/>
                  </a:lnTo>
                  <a:lnTo>
                    <a:pt x="1596226" y="671513"/>
                  </a:lnTo>
                  <a:lnTo>
                    <a:pt x="1603368" y="674688"/>
                  </a:lnTo>
                  <a:lnTo>
                    <a:pt x="1604151" y="674688"/>
                  </a:lnTo>
                  <a:lnTo>
                    <a:pt x="1606819" y="678242"/>
                  </a:lnTo>
                  <a:lnTo>
                    <a:pt x="1613967" y="681416"/>
                  </a:lnTo>
                  <a:lnTo>
                    <a:pt x="1621114" y="681416"/>
                  </a:lnTo>
                  <a:lnTo>
                    <a:pt x="1628261" y="680622"/>
                  </a:lnTo>
                  <a:lnTo>
                    <a:pt x="1636203" y="676655"/>
                  </a:lnTo>
                  <a:lnTo>
                    <a:pt x="1644938" y="669515"/>
                  </a:lnTo>
                  <a:lnTo>
                    <a:pt x="1652086" y="661580"/>
                  </a:lnTo>
                  <a:lnTo>
                    <a:pt x="1657645" y="649679"/>
                  </a:lnTo>
                  <a:lnTo>
                    <a:pt x="1663998" y="640158"/>
                  </a:lnTo>
                  <a:lnTo>
                    <a:pt x="1671940" y="629050"/>
                  </a:lnTo>
                  <a:lnTo>
                    <a:pt x="1683058" y="617943"/>
                  </a:lnTo>
                  <a:lnTo>
                    <a:pt x="1688617" y="611595"/>
                  </a:lnTo>
                  <a:lnTo>
                    <a:pt x="1697352" y="606041"/>
                  </a:lnTo>
                  <a:lnTo>
                    <a:pt x="1705294" y="601281"/>
                  </a:lnTo>
                  <a:lnTo>
                    <a:pt x="1714824" y="596520"/>
                  </a:lnTo>
                  <a:lnTo>
                    <a:pt x="1724354" y="591760"/>
                  </a:lnTo>
                  <a:lnTo>
                    <a:pt x="1736266" y="589380"/>
                  </a:lnTo>
                  <a:lnTo>
                    <a:pt x="1748178" y="586999"/>
                  </a:lnTo>
                  <a:lnTo>
                    <a:pt x="1760884" y="585413"/>
                  </a:lnTo>
                  <a:lnTo>
                    <a:pt x="1775179" y="586999"/>
                  </a:lnTo>
                  <a:lnTo>
                    <a:pt x="1791062" y="589380"/>
                  </a:lnTo>
                  <a:lnTo>
                    <a:pt x="1803769" y="594140"/>
                  </a:lnTo>
                  <a:lnTo>
                    <a:pt x="1814073" y="598144"/>
                  </a:lnTo>
                  <a:lnTo>
                    <a:pt x="1819190" y="601663"/>
                  </a:lnTo>
                  <a:lnTo>
                    <a:pt x="1831092" y="609600"/>
                  </a:lnTo>
                  <a:lnTo>
                    <a:pt x="1842994" y="619919"/>
                  </a:lnTo>
                  <a:lnTo>
                    <a:pt x="1854102" y="631825"/>
                  </a:lnTo>
                  <a:lnTo>
                    <a:pt x="1862037" y="645319"/>
                  </a:lnTo>
                  <a:lnTo>
                    <a:pt x="1871558" y="659606"/>
                  </a:lnTo>
                  <a:lnTo>
                    <a:pt x="1878699" y="674688"/>
                  </a:lnTo>
                  <a:lnTo>
                    <a:pt x="1885047" y="690563"/>
                  </a:lnTo>
                  <a:lnTo>
                    <a:pt x="1889808" y="707231"/>
                  </a:lnTo>
                  <a:lnTo>
                    <a:pt x="1892982" y="724694"/>
                  </a:lnTo>
                  <a:lnTo>
                    <a:pt x="1895362" y="742156"/>
                  </a:lnTo>
                  <a:lnTo>
                    <a:pt x="1896949" y="761206"/>
                  </a:lnTo>
                  <a:lnTo>
                    <a:pt x="1895362" y="779463"/>
                  </a:lnTo>
                  <a:lnTo>
                    <a:pt x="1892982" y="798513"/>
                  </a:lnTo>
                  <a:lnTo>
                    <a:pt x="1889808" y="815181"/>
                  </a:lnTo>
                  <a:lnTo>
                    <a:pt x="1885047" y="831850"/>
                  </a:lnTo>
                  <a:lnTo>
                    <a:pt x="1878699" y="847725"/>
                  </a:lnTo>
                  <a:lnTo>
                    <a:pt x="1871558" y="863600"/>
                  </a:lnTo>
                  <a:lnTo>
                    <a:pt x="1862037" y="876300"/>
                  </a:lnTo>
                  <a:lnTo>
                    <a:pt x="1854102" y="889794"/>
                  </a:lnTo>
                  <a:lnTo>
                    <a:pt x="1842994" y="901700"/>
                  </a:lnTo>
                  <a:lnTo>
                    <a:pt x="1831092" y="912019"/>
                  </a:lnTo>
                  <a:lnTo>
                    <a:pt x="1819190" y="921544"/>
                  </a:lnTo>
                  <a:lnTo>
                    <a:pt x="1806494" y="928688"/>
                  </a:lnTo>
                  <a:lnTo>
                    <a:pt x="1793799" y="935038"/>
                  </a:lnTo>
                  <a:lnTo>
                    <a:pt x="1779517" y="939800"/>
                  </a:lnTo>
                  <a:lnTo>
                    <a:pt x="1765234" y="942181"/>
                  </a:lnTo>
                  <a:lnTo>
                    <a:pt x="1749365" y="942975"/>
                  </a:lnTo>
                  <a:lnTo>
                    <a:pt x="1736670" y="942975"/>
                  </a:lnTo>
                  <a:lnTo>
                    <a:pt x="1724768" y="940594"/>
                  </a:lnTo>
                  <a:lnTo>
                    <a:pt x="1713659" y="937419"/>
                  </a:lnTo>
                  <a:lnTo>
                    <a:pt x="1703344" y="933450"/>
                  </a:lnTo>
                  <a:lnTo>
                    <a:pt x="1700122" y="931692"/>
                  </a:lnTo>
                  <a:lnTo>
                    <a:pt x="1697352" y="929755"/>
                  </a:lnTo>
                  <a:lnTo>
                    <a:pt x="1688617" y="923407"/>
                  </a:lnTo>
                  <a:lnTo>
                    <a:pt x="1683058" y="917854"/>
                  </a:lnTo>
                  <a:lnTo>
                    <a:pt x="1671940" y="905952"/>
                  </a:lnTo>
                  <a:lnTo>
                    <a:pt x="1663998" y="896431"/>
                  </a:lnTo>
                  <a:lnTo>
                    <a:pt x="1657645" y="885324"/>
                  </a:lnTo>
                  <a:lnTo>
                    <a:pt x="1652086" y="875009"/>
                  </a:lnTo>
                  <a:lnTo>
                    <a:pt x="1644938" y="865488"/>
                  </a:lnTo>
                  <a:lnTo>
                    <a:pt x="1636203" y="859141"/>
                  </a:lnTo>
                  <a:lnTo>
                    <a:pt x="1629012" y="854830"/>
                  </a:lnTo>
                  <a:lnTo>
                    <a:pt x="1626378" y="852488"/>
                  </a:lnTo>
                  <a:lnTo>
                    <a:pt x="1617650" y="847725"/>
                  </a:lnTo>
                  <a:lnTo>
                    <a:pt x="1610509" y="846931"/>
                  </a:lnTo>
                  <a:lnTo>
                    <a:pt x="1603368" y="847725"/>
                  </a:lnTo>
                  <a:lnTo>
                    <a:pt x="1596226" y="851694"/>
                  </a:lnTo>
                  <a:lnTo>
                    <a:pt x="1590672" y="856456"/>
                  </a:lnTo>
                  <a:lnTo>
                    <a:pt x="1586705" y="862013"/>
                  </a:lnTo>
                  <a:lnTo>
                    <a:pt x="1584324" y="870744"/>
                  </a:lnTo>
                  <a:lnTo>
                    <a:pt x="1583531" y="878681"/>
                  </a:lnTo>
                  <a:lnTo>
                    <a:pt x="1581944" y="888206"/>
                  </a:lnTo>
                  <a:lnTo>
                    <a:pt x="1581944" y="1207294"/>
                  </a:lnTo>
                  <a:lnTo>
                    <a:pt x="1581151" y="1207294"/>
                  </a:lnTo>
                  <a:lnTo>
                    <a:pt x="1581151" y="1568450"/>
                  </a:lnTo>
                  <a:lnTo>
                    <a:pt x="902739" y="1568450"/>
                  </a:lnTo>
                  <a:lnTo>
                    <a:pt x="893218" y="1568450"/>
                  </a:lnTo>
                  <a:lnTo>
                    <a:pt x="885283" y="1566069"/>
                  </a:lnTo>
                  <a:lnTo>
                    <a:pt x="878142" y="1564481"/>
                  </a:lnTo>
                  <a:lnTo>
                    <a:pt x="873381" y="1561306"/>
                  </a:lnTo>
                  <a:lnTo>
                    <a:pt x="868620" y="1557338"/>
                  </a:lnTo>
                  <a:lnTo>
                    <a:pt x="864653" y="1554163"/>
                  </a:lnTo>
                  <a:lnTo>
                    <a:pt x="863482" y="1551821"/>
                  </a:lnTo>
                  <a:lnTo>
                    <a:pt x="863482" y="1548608"/>
                  </a:lnTo>
                  <a:lnTo>
                    <a:pt x="864275" y="1542258"/>
                  </a:lnTo>
                  <a:lnTo>
                    <a:pt x="866654" y="1537495"/>
                  </a:lnTo>
                  <a:lnTo>
                    <a:pt x="870619" y="1531939"/>
                  </a:lnTo>
                  <a:lnTo>
                    <a:pt x="875378" y="1527176"/>
                  </a:lnTo>
                  <a:lnTo>
                    <a:pt x="880929" y="1522414"/>
                  </a:lnTo>
                  <a:lnTo>
                    <a:pt x="888067" y="1516858"/>
                  </a:lnTo>
                  <a:lnTo>
                    <a:pt x="896791" y="1512889"/>
                  </a:lnTo>
                  <a:lnTo>
                    <a:pt x="906308" y="1507333"/>
                  </a:lnTo>
                  <a:lnTo>
                    <a:pt x="916618" y="1498601"/>
                  </a:lnTo>
                  <a:lnTo>
                    <a:pt x="928514" y="1488283"/>
                  </a:lnTo>
                  <a:lnTo>
                    <a:pt x="934066" y="1481933"/>
                  </a:lnTo>
                  <a:lnTo>
                    <a:pt x="940411" y="1473995"/>
                  </a:lnTo>
                  <a:lnTo>
                    <a:pt x="945169" y="1465264"/>
                  </a:lnTo>
                  <a:lnTo>
                    <a:pt x="949928" y="1455739"/>
                  </a:lnTo>
                  <a:lnTo>
                    <a:pt x="954686" y="1446214"/>
                  </a:lnTo>
                  <a:lnTo>
                    <a:pt x="957065" y="1434308"/>
                  </a:lnTo>
                  <a:lnTo>
                    <a:pt x="959445" y="1422401"/>
                  </a:lnTo>
                  <a:lnTo>
                    <a:pt x="960238" y="1409701"/>
                  </a:lnTo>
                  <a:lnTo>
                    <a:pt x="959445" y="1395414"/>
                  </a:lnTo>
                  <a:lnTo>
                    <a:pt x="955479" y="1380333"/>
                  </a:lnTo>
                  <a:lnTo>
                    <a:pt x="953752" y="1372985"/>
                  </a:lnTo>
                  <a:lnTo>
                    <a:pt x="953521" y="1371600"/>
                  </a:lnTo>
                  <a:lnTo>
                    <a:pt x="953199" y="1370634"/>
                  </a:lnTo>
                  <a:lnTo>
                    <a:pt x="952307" y="1366839"/>
                  </a:lnTo>
                  <a:lnTo>
                    <a:pt x="951188" y="1364600"/>
                  </a:lnTo>
                  <a:lnTo>
                    <a:pt x="948760" y="1357313"/>
                  </a:lnTo>
                  <a:lnTo>
                    <a:pt x="943206" y="1343819"/>
                  </a:lnTo>
                  <a:lnTo>
                    <a:pt x="934478" y="1331119"/>
                  </a:lnTo>
                  <a:lnTo>
                    <a:pt x="924956" y="1319213"/>
                  </a:lnTo>
                  <a:lnTo>
                    <a:pt x="915435" y="1308100"/>
                  </a:lnTo>
                  <a:lnTo>
                    <a:pt x="903533" y="1297781"/>
                  </a:lnTo>
                  <a:lnTo>
                    <a:pt x="890837" y="1288256"/>
                  </a:lnTo>
                  <a:lnTo>
                    <a:pt x="876555" y="1280319"/>
                  </a:lnTo>
                  <a:lnTo>
                    <a:pt x="861479" y="1273175"/>
                  </a:lnTo>
                  <a:lnTo>
                    <a:pt x="845610" y="1266031"/>
                  </a:lnTo>
                  <a:lnTo>
                    <a:pt x="828947" y="1261269"/>
                  </a:lnTo>
                  <a:lnTo>
                    <a:pt x="811491" y="1257300"/>
                  </a:lnTo>
                  <a:lnTo>
                    <a:pt x="793241" y="1254919"/>
                  </a:lnTo>
                  <a:lnTo>
                    <a:pt x="774991" y="1254919"/>
                  </a:lnTo>
                  <a:lnTo>
                    <a:pt x="756742" y="1254919"/>
                  </a:lnTo>
                  <a:lnTo>
                    <a:pt x="737699" y="1257300"/>
                  </a:lnTo>
                  <a:lnTo>
                    <a:pt x="721036" y="1261269"/>
                  </a:lnTo>
                  <a:lnTo>
                    <a:pt x="703580" y="1266031"/>
                  </a:lnTo>
                  <a:lnTo>
                    <a:pt x="687710" y="1273175"/>
                  </a:lnTo>
                  <a:lnTo>
                    <a:pt x="672635" y="1280319"/>
                  </a:lnTo>
                  <a:lnTo>
                    <a:pt x="659939" y="1288256"/>
                  </a:lnTo>
                  <a:lnTo>
                    <a:pt x="646450" y="1297781"/>
                  </a:lnTo>
                  <a:lnTo>
                    <a:pt x="634548" y="1308100"/>
                  </a:lnTo>
                  <a:lnTo>
                    <a:pt x="624233" y="1319213"/>
                  </a:lnTo>
                  <a:lnTo>
                    <a:pt x="614712" y="1331119"/>
                  </a:lnTo>
                  <a:lnTo>
                    <a:pt x="607571" y="1343819"/>
                  </a:lnTo>
                  <a:lnTo>
                    <a:pt x="601223" y="1357313"/>
                  </a:lnTo>
                  <a:lnTo>
                    <a:pt x="596462" y="1371600"/>
                  </a:lnTo>
                  <a:lnTo>
                    <a:pt x="594082" y="1385888"/>
                  </a:lnTo>
                  <a:lnTo>
                    <a:pt x="593288" y="1400969"/>
                  </a:lnTo>
                  <a:lnTo>
                    <a:pt x="593288" y="1414463"/>
                  </a:lnTo>
                  <a:lnTo>
                    <a:pt x="595669" y="1425575"/>
                  </a:lnTo>
                  <a:lnTo>
                    <a:pt x="598843" y="1436688"/>
                  </a:lnTo>
                  <a:lnTo>
                    <a:pt x="602810" y="1447006"/>
                  </a:lnTo>
                  <a:lnTo>
                    <a:pt x="602845" y="1447077"/>
                  </a:lnTo>
                  <a:lnTo>
                    <a:pt x="605730" y="1455739"/>
                  </a:lnTo>
                  <a:lnTo>
                    <a:pt x="610489" y="1465264"/>
                  </a:lnTo>
                  <a:lnTo>
                    <a:pt x="616833" y="1473995"/>
                  </a:lnTo>
                  <a:lnTo>
                    <a:pt x="621592" y="1481933"/>
                  </a:lnTo>
                  <a:lnTo>
                    <a:pt x="628729" y="1488283"/>
                  </a:lnTo>
                  <a:lnTo>
                    <a:pt x="639040" y="1498601"/>
                  </a:lnTo>
                  <a:lnTo>
                    <a:pt x="650143" y="1507333"/>
                  </a:lnTo>
                  <a:lnTo>
                    <a:pt x="659660" y="1512889"/>
                  </a:lnTo>
                  <a:lnTo>
                    <a:pt x="667590" y="1516858"/>
                  </a:lnTo>
                  <a:lnTo>
                    <a:pt x="674728" y="1522414"/>
                  </a:lnTo>
                  <a:lnTo>
                    <a:pt x="680280" y="1527176"/>
                  </a:lnTo>
                  <a:lnTo>
                    <a:pt x="685038" y="1531939"/>
                  </a:lnTo>
                  <a:lnTo>
                    <a:pt x="688359" y="1536592"/>
                  </a:lnTo>
                  <a:lnTo>
                    <a:pt x="689297" y="1539875"/>
                  </a:lnTo>
                  <a:lnTo>
                    <a:pt x="689297" y="1544638"/>
                  </a:lnTo>
                  <a:lnTo>
                    <a:pt x="687710" y="1549400"/>
                  </a:lnTo>
                  <a:lnTo>
                    <a:pt x="685330" y="1554163"/>
                  </a:lnTo>
                  <a:lnTo>
                    <a:pt x="682156" y="1557338"/>
                  </a:lnTo>
                  <a:lnTo>
                    <a:pt x="677395" y="1561306"/>
                  </a:lnTo>
                  <a:lnTo>
                    <a:pt x="671841" y="1564481"/>
                  </a:lnTo>
                  <a:lnTo>
                    <a:pt x="664700" y="1566069"/>
                  </a:lnTo>
                  <a:lnTo>
                    <a:pt x="655972" y="1568450"/>
                  </a:lnTo>
                  <a:lnTo>
                    <a:pt x="648037" y="1568450"/>
                  </a:lnTo>
                  <a:lnTo>
                    <a:pt x="10886" y="1568450"/>
                  </a:lnTo>
                  <a:lnTo>
                    <a:pt x="10886" y="1134269"/>
                  </a:lnTo>
                  <a:lnTo>
                    <a:pt x="9299" y="1134269"/>
                  </a:lnTo>
                  <a:lnTo>
                    <a:pt x="9299" y="935038"/>
                  </a:lnTo>
                  <a:lnTo>
                    <a:pt x="9299" y="925513"/>
                  </a:lnTo>
                  <a:lnTo>
                    <a:pt x="6919" y="915988"/>
                  </a:lnTo>
                  <a:lnTo>
                    <a:pt x="4538" y="908844"/>
                  </a:lnTo>
                  <a:lnTo>
                    <a:pt x="1364" y="902494"/>
                  </a:lnTo>
                  <a:lnTo>
                    <a:pt x="0" y="900902"/>
                  </a:lnTo>
                  <a:lnTo>
                    <a:pt x="0" y="897731"/>
                  </a:lnTo>
                  <a:lnTo>
                    <a:pt x="1587" y="888206"/>
                  </a:lnTo>
                  <a:lnTo>
                    <a:pt x="2380" y="880269"/>
                  </a:lnTo>
                  <a:lnTo>
                    <a:pt x="4761" y="871538"/>
                  </a:lnTo>
                  <a:lnTo>
                    <a:pt x="8728" y="865981"/>
                  </a:lnTo>
                  <a:lnTo>
                    <a:pt x="14282" y="861219"/>
                  </a:lnTo>
                  <a:lnTo>
                    <a:pt x="21424" y="857250"/>
                  </a:lnTo>
                  <a:lnTo>
                    <a:pt x="28565" y="856456"/>
                  </a:lnTo>
                  <a:lnTo>
                    <a:pt x="35390" y="857215"/>
                  </a:lnTo>
                  <a:lnTo>
                    <a:pt x="37215" y="858838"/>
                  </a:lnTo>
                  <a:lnTo>
                    <a:pt x="44356" y="868363"/>
                  </a:lnTo>
                  <a:lnTo>
                    <a:pt x="51498" y="878681"/>
                  </a:lnTo>
                  <a:lnTo>
                    <a:pt x="57052" y="889794"/>
                  </a:lnTo>
                  <a:lnTo>
                    <a:pt x="64193" y="899319"/>
                  </a:lnTo>
                  <a:lnTo>
                    <a:pt x="75301" y="911225"/>
                  </a:lnTo>
                  <a:lnTo>
                    <a:pt x="82443" y="916781"/>
                  </a:lnTo>
                  <a:lnTo>
                    <a:pt x="89584" y="923131"/>
                  </a:lnTo>
                  <a:lnTo>
                    <a:pt x="98312" y="928688"/>
                  </a:lnTo>
                  <a:lnTo>
                    <a:pt x="101339" y="930340"/>
                  </a:lnTo>
                  <a:lnTo>
                    <a:pt x="103944" y="932656"/>
                  </a:lnTo>
                  <a:lnTo>
                    <a:pt x="112672" y="938213"/>
                  </a:lnTo>
                  <a:lnTo>
                    <a:pt x="121400" y="942975"/>
                  </a:lnTo>
                  <a:lnTo>
                    <a:pt x="131715" y="946944"/>
                  </a:lnTo>
                  <a:lnTo>
                    <a:pt x="142824" y="950119"/>
                  </a:lnTo>
                  <a:lnTo>
                    <a:pt x="154726" y="952500"/>
                  </a:lnTo>
                  <a:lnTo>
                    <a:pt x="167421" y="952500"/>
                  </a:lnTo>
                  <a:lnTo>
                    <a:pt x="183290" y="951706"/>
                  </a:lnTo>
                  <a:lnTo>
                    <a:pt x="197573" y="949325"/>
                  </a:lnTo>
                  <a:lnTo>
                    <a:pt x="211855" y="944563"/>
                  </a:lnTo>
                  <a:lnTo>
                    <a:pt x="224550" y="938213"/>
                  </a:lnTo>
                  <a:lnTo>
                    <a:pt x="237246" y="931069"/>
                  </a:lnTo>
                  <a:lnTo>
                    <a:pt x="249148" y="921544"/>
                  </a:lnTo>
                  <a:lnTo>
                    <a:pt x="261050" y="911225"/>
                  </a:lnTo>
                  <a:lnTo>
                    <a:pt x="272158" y="899319"/>
                  </a:lnTo>
                  <a:lnTo>
                    <a:pt x="280093" y="885825"/>
                  </a:lnTo>
                  <a:lnTo>
                    <a:pt x="289614" y="873125"/>
                  </a:lnTo>
                  <a:lnTo>
                    <a:pt x="296755" y="857250"/>
                  </a:lnTo>
                  <a:lnTo>
                    <a:pt x="303103" y="841375"/>
                  </a:lnTo>
                  <a:lnTo>
                    <a:pt x="307864" y="824706"/>
                  </a:lnTo>
                  <a:lnTo>
                    <a:pt x="311038" y="808038"/>
                  </a:lnTo>
                  <a:lnTo>
                    <a:pt x="313418" y="788988"/>
                  </a:lnTo>
                  <a:lnTo>
                    <a:pt x="315005" y="770731"/>
                  </a:lnTo>
                  <a:lnTo>
                    <a:pt x="313418" y="751681"/>
                  </a:lnTo>
                  <a:lnTo>
                    <a:pt x="311038" y="734219"/>
                  </a:lnTo>
                  <a:lnTo>
                    <a:pt x="307864" y="716756"/>
                  </a:lnTo>
                  <a:lnTo>
                    <a:pt x="303103" y="700088"/>
                  </a:lnTo>
                  <a:lnTo>
                    <a:pt x="296755" y="684213"/>
                  </a:lnTo>
                  <a:lnTo>
                    <a:pt x="289614" y="669131"/>
                  </a:lnTo>
                  <a:lnTo>
                    <a:pt x="280093" y="654844"/>
                  </a:lnTo>
                  <a:lnTo>
                    <a:pt x="272158" y="641350"/>
                  </a:lnTo>
                  <a:lnTo>
                    <a:pt x="261050" y="629444"/>
                  </a:lnTo>
                  <a:lnTo>
                    <a:pt x="249148" y="619125"/>
                  </a:lnTo>
                  <a:lnTo>
                    <a:pt x="237246" y="611188"/>
                  </a:lnTo>
                  <a:lnTo>
                    <a:pt x="224550" y="602456"/>
                  </a:lnTo>
                  <a:lnTo>
                    <a:pt x="223169" y="601851"/>
                  </a:lnTo>
                  <a:lnTo>
                    <a:pt x="222886" y="601663"/>
                  </a:lnTo>
                  <a:lnTo>
                    <a:pt x="210190" y="592931"/>
                  </a:lnTo>
                  <a:lnTo>
                    <a:pt x="197495" y="587375"/>
                  </a:lnTo>
                  <a:lnTo>
                    <a:pt x="183213" y="582613"/>
                  </a:lnTo>
                  <a:lnTo>
                    <a:pt x="168930" y="580231"/>
                  </a:lnTo>
                  <a:lnTo>
                    <a:pt x="153061" y="578644"/>
                  </a:lnTo>
                  <a:lnTo>
                    <a:pt x="140366" y="580231"/>
                  </a:lnTo>
                  <a:lnTo>
                    <a:pt x="128464" y="582613"/>
                  </a:lnTo>
                  <a:lnTo>
                    <a:pt x="117355" y="584994"/>
                  </a:lnTo>
                  <a:lnTo>
                    <a:pt x="107040" y="589756"/>
                  </a:lnTo>
                  <a:lnTo>
                    <a:pt x="98312" y="594519"/>
                  </a:lnTo>
                  <a:lnTo>
                    <a:pt x="89584" y="599281"/>
                  </a:lnTo>
                  <a:lnTo>
                    <a:pt x="82443" y="604838"/>
                  </a:lnTo>
                  <a:lnTo>
                    <a:pt x="75301" y="611188"/>
                  </a:lnTo>
                  <a:lnTo>
                    <a:pt x="64193" y="622300"/>
                  </a:lnTo>
                  <a:lnTo>
                    <a:pt x="57052" y="633413"/>
                  </a:lnTo>
                  <a:lnTo>
                    <a:pt x="51498" y="642938"/>
                  </a:lnTo>
                  <a:lnTo>
                    <a:pt x="44356" y="654844"/>
                  </a:lnTo>
                  <a:lnTo>
                    <a:pt x="37215" y="662781"/>
                  </a:lnTo>
                  <a:lnTo>
                    <a:pt x="30074" y="669925"/>
                  </a:lnTo>
                  <a:lnTo>
                    <a:pt x="21346" y="673894"/>
                  </a:lnTo>
                  <a:lnTo>
                    <a:pt x="14205" y="674688"/>
                  </a:lnTo>
                  <a:lnTo>
                    <a:pt x="9299" y="674688"/>
                  </a:lnTo>
                  <a:lnTo>
                    <a:pt x="9299" y="360363"/>
                  </a:lnTo>
                  <a:lnTo>
                    <a:pt x="10886" y="360363"/>
                  </a:lnTo>
                  <a:lnTo>
                    <a:pt x="10886" y="0"/>
                  </a:lnTo>
                  <a:close/>
                </a:path>
              </a:pathLst>
            </a:cu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83" name="TextBox 82"/>
            <p:cNvSpPr txBox="1"/>
            <p:nvPr/>
          </p:nvSpPr>
          <p:spPr>
            <a:xfrm>
              <a:off x="4555130" y="3278934"/>
              <a:ext cx="873803" cy="369332"/>
            </a:xfrm>
            <a:prstGeom prst="rect">
              <a:avLst/>
            </a:prstGeom>
            <a:solidFill>
              <a:schemeClr val="tx1">
                <a:lumMod val="65000"/>
                <a:lumOff val="35000"/>
                <a:alpha val="50000"/>
              </a:schemeClr>
            </a:solidFill>
          </p:spPr>
          <p:txBody>
            <a:bodyPr wrap="square" rtlCol="0">
              <a:spAutoFit/>
            </a:bodyPr>
            <a:lstStyle/>
            <a:p>
              <a:r>
                <a:rPr lang="en-IN" dirty="0">
                  <a:solidFill>
                    <a:prstClr val="white"/>
                  </a:solidFill>
                </a:rPr>
                <a:t>Loyalty </a:t>
              </a:r>
            </a:p>
          </p:txBody>
        </p:sp>
      </p:grpSp>
      <p:grpSp>
        <p:nvGrpSpPr>
          <p:cNvPr id="3" name="Group 2"/>
          <p:cNvGrpSpPr/>
          <p:nvPr/>
        </p:nvGrpSpPr>
        <p:grpSpPr>
          <a:xfrm>
            <a:off x="7264634" y="1288545"/>
            <a:ext cx="5108454" cy="4908329"/>
            <a:chOff x="7264634" y="1288545"/>
            <a:chExt cx="5108454" cy="4908329"/>
          </a:xfrm>
        </p:grpSpPr>
        <p:grpSp>
          <p:nvGrpSpPr>
            <p:cNvPr id="137" name="Group 136"/>
            <p:cNvGrpSpPr/>
            <p:nvPr/>
          </p:nvGrpSpPr>
          <p:grpSpPr>
            <a:xfrm>
              <a:off x="8361490" y="4545742"/>
              <a:ext cx="1801328" cy="1651132"/>
              <a:chOff x="8644330" y="4004778"/>
              <a:chExt cx="2375820" cy="2391313"/>
            </a:xfrm>
          </p:grpSpPr>
          <p:grpSp>
            <p:nvGrpSpPr>
              <p:cNvPr id="100" name="Group 99"/>
              <p:cNvGrpSpPr/>
              <p:nvPr/>
            </p:nvGrpSpPr>
            <p:grpSpPr>
              <a:xfrm>
                <a:off x="8644330" y="4031851"/>
                <a:ext cx="2375820" cy="2364240"/>
                <a:chOff x="8920719" y="1979472"/>
                <a:chExt cx="2375820" cy="2364240"/>
              </a:xfrm>
            </p:grpSpPr>
            <p:pic>
              <p:nvPicPr>
                <p:cNvPr id="101" name="Picture 2" descr="http://sales.prospecting.io/wp-content/uploads/2015/08/people-search.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933785" y="1979472"/>
                  <a:ext cx="2321227" cy="2321228"/>
                </a:xfrm>
                <a:prstGeom prst="rect">
                  <a:avLst/>
                </a:prstGeom>
                <a:noFill/>
                <a:extLst>
                  <a:ext uri="{909E8E84-426E-40DD-AFC4-6F175D3DCCD1}">
                    <a14:hiddenFill xmlns:a14="http://schemas.microsoft.com/office/drawing/2010/main">
                      <a:solidFill>
                        <a:srgbClr val="FFFFFF"/>
                      </a:solidFill>
                    </a14:hiddenFill>
                  </a:ext>
                </a:extLst>
              </p:spPr>
            </p:pic>
            <p:cxnSp>
              <p:nvCxnSpPr>
                <p:cNvPr id="102" name="Straight Arrow Connector 101"/>
                <p:cNvCxnSpPr/>
                <p:nvPr/>
              </p:nvCxnSpPr>
              <p:spPr>
                <a:xfrm flipV="1">
                  <a:off x="10108629" y="3800329"/>
                  <a:ext cx="0" cy="239241"/>
                </a:xfrm>
                <a:prstGeom prst="straightConnector1">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bwMode="gray">
                <a:xfrm>
                  <a:off x="8920719" y="3999119"/>
                  <a:ext cx="2375820" cy="344593"/>
                </a:xfrm>
                <a:prstGeom prst="rect">
                  <a:avLst/>
                </a:prstGeom>
              </p:spPr>
              <p:txBody>
                <a:bodyPr vert="horz" wrap="none" lIns="91440" tIns="45720" rIns="91440" bIns="45720" rtlCol="0" anchor="ctr">
                  <a:noAutofit/>
                </a:bodyPr>
                <a:lstStyle/>
                <a:p>
                  <a:pPr algn="ctr"/>
                  <a:r>
                    <a:rPr lang="en-IN" sz="1600" b="1" dirty="0">
                      <a:solidFill>
                        <a:srgbClr val="00B0F0"/>
                      </a:solidFill>
                    </a:rPr>
                    <a:t>Identified Prospect</a:t>
                  </a:r>
                </a:p>
              </p:txBody>
            </p:sp>
          </p:grpSp>
          <p:sp>
            <p:nvSpPr>
              <p:cNvPr id="104" name="Rectangle 103"/>
              <p:cNvSpPr/>
              <p:nvPr/>
            </p:nvSpPr>
            <p:spPr>
              <a:xfrm>
                <a:off x="8932224" y="4004778"/>
                <a:ext cx="1800032" cy="3842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2060"/>
                    </a:solidFill>
                  </a:rPr>
                  <a:t>Universe of People</a:t>
                </a:r>
              </a:p>
            </p:txBody>
          </p:sp>
        </p:grpSp>
        <p:grpSp>
          <p:nvGrpSpPr>
            <p:cNvPr id="136" name="Group 135"/>
            <p:cNvGrpSpPr/>
            <p:nvPr/>
          </p:nvGrpSpPr>
          <p:grpSpPr>
            <a:xfrm>
              <a:off x="7959272" y="1600208"/>
              <a:ext cx="3318163" cy="2298947"/>
              <a:chOff x="8299540" y="1170877"/>
              <a:chExt cx="3777053" cy="2805580"/>
            </a:xfrm>
          </p:grpSpPr>
          <p:sp>
            <p:nvSpPr>
              <p:cNvPr id="110" name="Rectangle 109"/>
              <p:cNvSpPr/>
              <p:nvPr/>
            </p:nvSpPr>
            <p:spPr>
              <a:xfrm>
                <a:off x="10711414" y="1805651"/>
                <a:ext cx="534418" cy="1748584"/>
              </a:xfrm>
              <a:prstGeom prst="rect">
                <a:avLst/>
              </a:prstGeom>
              <a:solidFill>
                <a:sysClr val="window" lastClr="FFFFFF">
                  <a:lumMod val="95000"/>
                </a:sysClr>
              </a:solidFill>
              <a:ln w="19050" cap="rnd" cmpd="sng" algn="ctr">
                <a:solidFill>
                  <a:sysClr val="window" lastClr="FFFFFF">
                    <a:lumMod val="95000"/>
                  </a:sysClr>
                </a:solidFill>
                <a:prstDash val="solid"/>
              </a:ln>
              <a:effectLst/>
            </p:spPr>
            <p:txBody>
              <a:bodyPr rtlCol="0" anchor="ctr"/>
              <a:lstStyle/>
              <a:p>
                <a:pPr algn="ctr">
                  <a:defRPr/>
                </a:pPr>
                <a:endParaRPr lang="en-IN" kern="0" dirty="0">
                  <a:solidFill>
                    <a:prstClr val="white"/>
                  </a:solidFill>
                  <a:latin typeface="Century Gothic"/>
                </a:endParaRPr>
              </a:p>
            </p:txBody>
          </p:sp>
          <p:grpSp>
            <p:nvGrpSpPr>
              <p:cNvPr id="121" name="Group 120"/>
              <p:cNvGrpSpPr/>
              <p:nvPr/>
            </p:nvGrpSpPr>
            <p:grpSpPr>
              <a:xfrm>
                <a:off x="8299540" y="1170877"/>
                <a:ext cx="3777053" cy="2805580"/>
                <a:chOff x="8299540" y="1170877"/>
                <a:chExt cx="3777053" cy="2805580"/>
              </a:xfrm>
            </p:grpSpPr>
            <p:sp>
              <p:nvSpPr>
                <p:cNvPr id="122" name="Rectangle 121"/>
                <p:cNvSpPr/>
                <p:nvPr/>
              </p:nvSpPr>
              <p:spPr>
                <a:xfrm>
                  <a:off x="9357607" y="2280787"/>
                  <a:ext cx="534418" cy="1273448"/>
                </a:xfrm>
                <a:prstGeom prst="rect">
                  <a:avLst/>
                </a:prstGeom>
                <a:solidFill>
                  <a:schemeClr val="accent6">
                    <a:lumMod val="20000"/>
                    <a:lumOff val="80000"/>
                  </a:schemeClr>
                </a:solidFill>
                <a:ln w="19050" cap="rnd" cmpd="sng" algn="ctr">
                  <a:noFill/>
                  <a:prstDash val="solid"/>
                </a:ln>
                <a:effectLst/>
              </p:spPr>
              <p:txBody>
                <a:bodyPr rtlCol="0" anchor="ctr"/>
                <a:lstStyle/>
                <a:p>
                  <a:pPr algn="ctr">
                    <a:defRPr/>
                  </a:pPr>
                  <a:r>
                    <a:rPr lang="en-IN" sz="1400" kern="0" dirty="0">
                      <a:solidFill>
                        <a:prstClr val="black"/>
                      </a:solidFill>
                      <a:latin typeface="Century Gothic"/>
                    </a:rPr>
                    <a:t>70%</a:t>
                  </a:r>
                </a:p>
              </p:txBody>
            </p:sp>
            <p:sp>
              <p:nvSpPr>
                <p:cNvPr id="123" name="Rectangle 122"/>
                <p:cNvSpPr/>
                <p:nvPr/>
              </p:nvSpPr>
              <p:spPr>
                <a:xfrm>
                  <a:off x="10057203" y="1841486"/>
                  <a:ext cx="534418" cy="429955"/>
                </a:xfrm>
                <a:prstGeom prst="rect">
                  <a:avLst/>
                </a:prstGeom>
                <a:solidFill>
                  <a:schemeClr val="accent6"/>
                </a:solidFill>
                <a:ln w="19050" cap="rnd" cmpd="sng" algn="ctr">
                  <a:noFill/>
                  <a:prstDash val="solid"/>
                </a:ln>
                <a:effectLst/>
              </p:spPr>
              <p:txBody>
                <a:bodyPr rtlCol="0" anchor="ctr"/>
                <a:lstStyle/>
                <a:p>
                  <a:pPr algn="ctr">
                    <a:defRPr/>
                  </a:pPr>
                  <a:r>
                    <a:rPr lang="en-IN" sz="1200" kern="0" dirty="0">
                      <a:solidFill>
                        <a:prstClr val="white"/>
                      </a:solidFill>
                      <a:latin typeface="Century Gothic"/>
                    </a:rPr>
                    <a:t>20%</a:t>
                  </a:r>
                </a:p>
              </p:txBody>
            </p:sp>
            <p:sp>
              <p:nvSpPr>
                <p:cNvPr id="124" name="Rectangle 123"/>
                <p:cNvSpPr/>
                <p:nvPr/>
              </p:nvSpPr>
              <p:spPr>
                <a:xfrm>
                  <a:off x="10711414" y="1482766"/>
                  <a:ext cx="534418" cy="357178"/>
                </a:xfrm>
                <a:prstGeom prst="rect">
                  <a:avLst/>
                </a:prstGeom>
                <a:solidFill>
                  <a:schemeClr val="accent6"/>
                </a:solidFill>
                <a:ln w="19050" cap="rnd" cmpd="sng" algn="ctr">
                  <a:noFill/>
                  <a:prstDash val="solid"/>
                </a:ln>
                <a:effectLst/>
              </p:spPr>
              <p:txBody>
                <a:bodyPr rtlCol="0" anchor="ctr"/>
                <a:lstStyle/>
                <a:p>
                  <a:pPr algn="ctr">
                    <a:defRPr/>
                  </a:pPr>
                  <a:r>
                    <a:rPr lang="en-IN" sz="1200" kern="0" dirty="0">
                      <a:solidFill>
                        <a:prstClr val="white"/>
                      </a:solidFill>
                      <a:latin typeface="Century Gothic"/>
                    </a:rPr>
                    <a:t>10%</a:t>
                  </a:r>
                </a:p>
              </p:txBody>
            </p:sp>
            <p:sp>
              <p:nvSpPr>
                <p:cNvPr id="125" name="Rectangle 124"/>
                <p:cNvSpPr/>
                <p:nvPr/>
              </p:nvSpPr>
              <p:spPr>
                <a:xfrm>
                  <a:off x="8658012" y="1486542"/>
                  <a:ext cx="534418" cy="2067693"/>
                </a:xfrm>
                <a:prstGeom prst="rect">
                  <a:avLst/>
                </a:prstGeom>
                <a:solidFill>
                  <a:schemeClr val="accent6">
                    <a:lumMod val="20000"/>
                    <a:lumOff val="80000"/>
                  </a:schemeClr>
                </a:solidFill>
                <a:ln w="19050" cap="rnd" cmpd="sng" algn="ctr">
                  <a:noFill/>
                  <a:prstDash val="solid"/>
                </a:ln>
                <a:effectLst/>
              </p:spPr>
              <p:txBody>
                <a:bodyPr rtlCol="0" anchor="ctr"/>
                <a:lstStyle/>
                <a:p>
                  <a:pPr algn="ctr">
                    <a:defRPr/>
                  </a:pPr>
                  <a:endParaRPr lang="en-IN" sz="1600" kern="0" dirty="0">
                    <a:solidFill>
                      <a:prstClr val="black"/>
                    </a:solidFill>
                    <a:latin typeface="Century Gothic"/>
                  </a:endParaRPr>
                </a:p>
              </p:txBody>
            </p:sp>
            <p:sp>
              <p:nvSpPr>
                <p:cNvPr id="126" name="Rectangle 125"/>
                <p:cNvSpPr/>
                <p:nvPr/>
              </p:nvSpPr>
              <p:spPr>
                <a:xfrm>
                  <a:off x="10057203" y="2271441"/>
                  <a:ext cx="534418" cy="1282794"/>
                </a:xfrm>
                <a:prstGeom prst="rect">
                  <a:avLst/>
                </a:prstGeom>
                <a:solidFill>
                  <a:sysClr val="window" lastClr="FFFFFF">
                    <a:lumMod val="95000"/>
                  </a:sysClr>
                </a:solidFill>
                <a:ln w="19050" cap="rnd" cmpd="sng" algn="ctr">
                  <a:solidFill>
                    <a:sysClr val="window" lastClr="FFFFFF">
                      <a:lumMod val="95000"/>
                    </a:sysClr>
                  </a:solidFill>
                  <a:prstDash val="solid"/>
                </a:ln>
                <a:effectLst/>
              </p:spPr>
              <p:txBody>
                <a:bodyPr rtlCol="0" anchor="ctr"/>
                <a:lstStyle/>
                <a:p>
                  <a:pPr algn="ctr">
                    <a:defRPr/>
                  </a:pPr>
                  <a:endParaRPr lang="en-IN" kern="0" dirty="0">
                    <a:solidFill>
                      <a:prstClr val="white"/>
                    </a:solidFill>
                    <a:latin typeface="Century Gothic"/>
                  </a:endParaRPr>
                </a:p>
              </p:txBody>
            </p:sp>
            <p:sp>
              <p:nvSpPr>
                <p:cNvPr id="127" name="TextBox 126"/>
                <p:cNvSpPr txBox="1"/>
                <p:nvPr/>
              </p:nvSpPr>
              <p:spPr bwMode="gray">
                <a:xfrm>
                  <a:off x="8299540" y="3615219"/>
                  <a:ext cx="1696453" cy="361238"/>
                </a:xfrm>
                <a:prstGeom prst="rect">
                  <a:avLst/>
                </a:prstGeom>
              </p:spPr>
              <p:txBody>
                <a:bodyPr vert="horz" wrap="none" lIns="91440" tIns="45720" rIns="91440" bIns="45720" rtlCol="0" anchor="ctr">
                  <a:noAutofit/>
                </a:bodyPr>
                <a:lstStyle/>
                <a:p>
                  <a:r>
                    <a:rPr lang="en-IN" sz="1200" dirty="0">
                      <a:solidFill>
                        <a:prstClr val="black"/>
                      </a:solidFill>
                      <a:latin typeface="Century Gothic"/>
                    </a:rPr>
                    <a:t>Company</a:t>
                  </a:r>
                </a:p>
                <a:p>
                  <a:r>
                    <a:rPr lang="en-IN" sz="1200" dirty="0">
                      <a:solidFill>
                        <a:prstClr val="black"/>
                      </a:solidFill>
                      <a:latin typeface="Century Gothic"/>
                    </a:rPr>
                    <a:t>Value of Customers</a:t>
                  </a:r>
                </a:p>
              </p:txBody>
            </p:sp>
            <p:sp>
              <p:nvSpPr>
                <p:cNvPr id="128" name="TextBox 127"/>
                <p:cNvSpPr txBox="1"/>
                <p:nvPr/>
              </p:nvSpPr>
              <p:spPr bwMode="gray">
                <a:xfrm>
                  <a:off x="10145930" y="1505216"/>
                  <a:ext cx="355424" cy="361238"/>
                </a:xfrm>
                <a:prstGeom prst="rect">
                  <a:avLst/>
                </a:prstGeom>
              </p:spPr>
              <p:txBody>
                <a:bodyPr vert="horz" wrap="none" lIns="91440" tIns="45720" rIns="91440" bIns="45720" rtlCol="0" anchor="ctr">
                  <a:noAutofit/>
                </a:bodyPr>
                <a:lstStyle/>
                <a:p>
                  <a:pPr algn="ctr"/>
                  <a:r>
                    <a:rPr lang="en-IN" sz="1400" b="1" dirty="0">
                      <a:solidFill>
                        <a:prstClr val="black"/>
                      </a:solidFill>
                      <a:latin typeface="Century Gothic"/>
                    </a:rPr>
                    <a:t>High</a:t>
                  </a:r>
                </a:p>
              </p:txBody>
            </p:sp>
            <p:sp>
              <p:nvSpPr>
                <p:cNvPr id="129" name="TextBox 128"/>
                <p:cNvSpPr txBox="1"/>
                <p:nvPr/>
              </p:nvSpPr>
              <p:spPr bwMode="gray">
                <a:xfrm>
                  <a:off x="10057205" y="3614328"/>
                  <a:ext cx="2019388" cy="361240"/>
                </a:xfrm>
                <a:prstGeom prst="rect">
                  <a:avLst/>
                </a:prstGeom>
              </p:spPr>
              <p:txBody>
                <a:bodyPr vert="horz" wrap="none" lIns="91440" tIns="45720" rIns="91440" bIns="45720" rtlCol="0" anchor="ctr">
                  <a:noAutofit/>
                </a:bodyPr>
                <a:lstStyle/>
                <a:p>
                  <a:r>
                    <a:rPr lang="en-IN" sz="1200" dirty="0">
                      <a:solidFill>
                        <a:prstClr val="black"/>
                      </a:solidFill>
                      <a:latin typeface="Century Gothic"/>
                    </a:rPr>
                    <a:t>Actual Value of</a:t>
                  </a:r>
                </a:p>
                <a:p>
                  <a:r>
                    <a:rPr lang="en-IN" sz="1200" dirty="0">
                      <a:solidFill>
                        <a:prstClr val="black"/>
                      </a:solidFill>
                      <a:latin typeface="Century Gothic"/>
                    </a:rPr>
                    <a:t>Customers</a:t>
                  </a:r>
                </a:p>
              </p:txBody>
            </p:sp>
            <p:sp>
              <p:nvSpPr>
                <p:cNvPr id="130" name="TextBox 129"/>
                <p:cNvSpPr txBox="1"/>
                <p:nvPr/>
              </p:nvSpPr>
              <p:spPr bwMode="gray">
                <a:xfrm>
                  <a:off x="9435476" y="1995319"/>
                  <a:ext cx="355424" cy="361238"/>
                </a:xfrm>
                <a:prstGeom prst="rect">
                  <a:avLst/>
                </a:prstGeom>
              </p:spPr>
              <p:txBody>
                <a:bodyPr vert="horz" wrap="none" lIns="91440" tIns="45720" rIns="91440" bIns="45720" rtlCol="0" anchor="ctr">
                  <a:noAutofit/>
                </a:bodyPr>
                <a:lstStyle/>
                <a:p>
                  <a:pPr algn="ctr"/>
                  <a:r>
                    <a:rPr lang="en-IN" sz="1400" b="1" dirty="0">
                      <a:solidFill>
                        <a:prstClr val="black"/>
                      </a:solidFill>
                      <a:latin typeface="Century Gothic"/>
                    </a:rPr>
                    <a:t>Low</a:t>
                  </a:r>
                </a:p>
              </p:txBody>
            </p:sp>
            <p:sp>
              <p:nvSpPr>
                <p:cNvPr id="131" name="TextBox 130"/>
                <p:cNvSpPr txBox="1"/>
                <p:nvPr/>
              </p:nvSpPr>
              <p:spPr bwMode="gray">
                <a:xfrm>
                  <a:off x="10477324" y="1170877"/>
                  <a:ext cx="1002597" cy="337011"/>
                </a:xfrm>
                <a:prstGeom prst="rect">
                  <a:avLst/>
                </a:prstGeom>
              </p:spPr>
              <p:txBody>
                <a:bodyPr vert="horz" wrap="none" lIns="91440" tIns="45720" rIns="91440" bIns="45720" rtlCol="0" anchor="ctr">
                  <a:noAutofit/>
                </a:bodyPr>
                <a:lstStyle/>
                <a:p>
                  <a:pPr algn="ctr"/>
                  <a:r>
                    <a:rPr lang="en-IN" sz="1400" b="1" dirty="0">
                      <a:solidFill>
                        <a:prstClr val="black"/>
                      </a:solidFill>
                      <a:latin typeface="Century Gothic"/>
                    </a:rPr>
                    <a:t>Ultra High</a:t>
                  </a:r>
                </a:p>
              </p:txBody>
            </p:sp>
            <p:sp>
              <p:nvSpPr>
                <p:cNvPr id="132" name="TextBox 131"/>
                <p:cNvSpPr txBox="1"/>
                <p:nvPr/>
              </p:nvSpPr>
              <p:spPr bwMode="gray">
                <a:xfrm>
                  <a:off x="8738808" y="1179518"/>
                  <a:ext cx="355424" cy="361238"/>
                </a:xfrm>
                <a:prstGeom prst="rect">
                  <a:avLst/>
                </a:prstGeom>
              </p:spPr>
              <p:txBody>
                <a:bodyPr vert="horz" wrap="none" lIns="91440" tIns="45720" rIns="91440" bIns="45720" rtlCol="0" anchor="ctr">
                  <a:noAutofit/>
                </a:bodyPr>
                <a:lstStyle/>
                <a:p>
                  <a:pPr algn="ctr"/>
                  <a:r>
                    <a:rPr lang="en-IN" sz="1400" b="1" dirty="0">
                      <a:solidFill>
                        <a:prstClr val="black"/>
                      </a:solidFill>
                      <a:latin typeface="Century Gothic"/>
                    </a:rPr>
                    <a:t>Low</a:t>
                  </a:r>
                </a:p>
              </p:txBody>
            </p:sp>
            <p:sp>
              <p:nvSpPr>
                <p:cNvPr id="133" name="TextBox 132"/>
                <p:cNvSpPr txBox="1"/>
                <p:nvPr/>
              </p:nvSpPr>
              <p:spPr bwMode="gray">
                <a:xfrm rot="16200000">
                  <a:off x="8035633" y="3007401"/>
                  <a:ext cx="914400" cy="223645"/>
                </a:xfrm>
                <a:prstGeom prst="rect">
                  <a:avLst/>
                </a:prstGeom>
              </p:spPr>
              <p:txBody>
                <a:bodyPr vert="horz" wrap="none" lIns="91440" tIns="45720" rIns="91440" bIns="45720" rtlCol="0" anchor="ctr">
                  <a:noAutofit/>
                </a:bodyPr>
                <a:lstStyle/>
                <a:p>
                  <a:r>
                    <a:rPr lang="en-IN" dirty="0">
                      <a:solidFill>
                        <a:prstClr val="white">
                          <a:lumMod val="50000"/>
                        </a:prstClr>
                      </a:solidFill>
                      <a:latin typeface="Century Gothic"/>
                    </a:rPr>
                    <a:t>*Illustrative</a:t>
                  </a:r>
                </a:p>
              </p:txBody>
            </p:sp>
            <p:sp>
              <p:nvSpPr>
                <p:cNvPr id="134" name="Rectangle 133"/>
                <p:cNvSpPr/>
                <p:nvPr/>
              </p:nvSpPr>
              <p:spPr>
                <a:xfrm>
                  <a:off x="10057203" y="1484492"/>
                  <a:ext cx="1188629" cy="773213"/>
                </a:xfrm>
                <a:prstGeom prst="rect">
                  <a:avLst/>
                </a:prstGeom>
                <a:noFill/>
                <a:ln w="28575" cap="rnd" cmpd="sng" algn="ctr">
                  <a:solidFill>
                    <a:srgbClr val="C00000"/>
                  </a:solidFill>
                  <a:prstDash val="sysDash"/>
                </a:ln>
                <a:effectLst/>
              </p:spPr>
              <p:txBody>
                <a:bodyPr rtlCol="0" anchor="ctr"/>
                <a:lstStyle/>
                <a:p>
                  <a:pPr algn="ctr">
                    <a:defRPr/>
                  </a:pPr>
                  <a:endParaRPr lang="en-IN" kern="0" dirty="0">
                    <a:solidFill>
                      <a:prstClr val="white"/>
                    </a:solidFill>
                    <a:latin typeface="Century Gothic"/>
                  </a:endParaRPr>
                </a:p>
              </p:txBody>
            </p:sp>
            <p:sp>
              <p:nvSpPr>
                <p:cNvPr id="135" name="TextBox 134"/>
                <p:cNvSpPr txBox="1"/>
                <p:nvPr/>
              </p:nvSpPr>
              <p:spPr bwMode="gray">
                <a:xfrm>
                  <a:off x="10165410" y="2366796"/>
                  <a:ext cx="1037627" cy="361238"/>
                </a:xfrm>
                <a:prstGeom prst="rect">
                  <a:avLst/>
                </a:prstGeom>
              </p:spPr>
              <p:txBody>
                <a:bodyPr vert="horz" wrap="none" lIns="91440" tIns="45720" rIns="91440" bIns="45720" rtlCol="0" anchor="ctr">
                  <a:noAutofit/>
                </a:bodyPr>
                <a:lstStyle/>
                <a:p>
                  <a:pPr algn="ctr"/>
                  <a:r>
                    <a:rPr lang="en-IN" sz="1400" b="1" dirty="0">
                      <a:solidFill>
                        <a:prstClr val="black"/>
                      </a:solidFill>
                      <a:latin typeface="Century Gothic"/>
                    </a:rPr>
                    <a:t>Untapped </a:t>
                  </a:r>
                </a:p>
                <a:p>
                  <a:pPr algn="ctr"/>
                  <a:r>
                    <a:rPr lang="en-IN" sz="1400" b="1" dirty="0">
                      <a:solidFill>
                        <a:prstClr val="black"/>
                      </a:solidFill>
                      <a:latin typeface="Century Gothic"/>
                    </a:rPr>
                    <a:t>Potential</a:t>
                  </a:r>
                </a:p>
              </p:txBody>
            </p:sp>
          </p:grpSp>
        </p:grpSp>
        <p:grpSp>
          <p:nvGrpSpPr>
            <p:cNvPr id="146" name="Group 145"/>
            <p:cNvGrpSpPr/>
            <p:nvPr/>
          </p:nvGrpSpPr>
          <p:grpSpPr>
            <a:xfrm>
              <a:off x="10360184" y="4999765"/>
              <a:ext cx="1665550" cy="1142890"/>
              <a:chOff x="7638169" y="3937916"/>
              <a:chExt cx="1665550" cy="1142890"/>
            </a:xfrm>
          </p:grpSpPr>
          <p:graphicFrame>
            <p:nvGraphicFramePr>
              <p:cNvPr id="142" name="Diagram 141"/>
              <p:cNvGraphicFramePr/>
              <p:nvPr>
                <p:extLst/>
              </p:nvPr>
            </p:nvGraphicFramePr>
            <p:xfrm>
              <a:off x="7638169" y="3937916"/>
              <a:ext cx="1665550" cy="114289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143" name="Straight Connector 142"/>
              <p:cNvCxnSpPr/>
              <p:nvPr/>
            </p:nvCxnSpPr>
            <p:spPr>
              <a:xfrm>
                <a:off x="8008021" y="4494206"/>
                <a:ext cx="1080000" cy="0"/>
              </a:xfrm>
              <a:prstGeom prst="line">
                <a:avLst/>
              </a:prstGeom>
              <a:noFill/>
              <a:ln w="28575" cap="flat" cmpd="sng" algn="ctr">
                <a:solidFill>
                  <a:sysClr val="window" lastClr="FFFFFF">
                    <a:lumMod val="75000"/>
                  </a:sysClr>
                </a:solidFill>
                <a:prstDash val="sysDash"/>
                <a:miter lim="800000"/>
              </a:ln>
              <a:effectLst/>
            </p:spPr>
          </p:cxnSp>
        </p:grpSp>
        <p:sp>
          <p:nvSpPr>
            <p:cNvPr id="147" name="Rectangle 146"/>
            <p:cNvSpPr/>
            <p:nvPr/>
          </p:nvSpPr>
          <p:spPr>
            <a:xfrm>
              <a:off x="7264634" y="1288545"/>
              <a:ext cx="513813" cy="4824000"/>
            </a:xfrm>
            <a:prstGeom prst="rect">
              <a:avLst/>
            </a:prstGeom>
            <a:ln/>
          </p:spPr>
          <p:style>
            <a:lnRef idx="0">
              <a:schemeClr val="accent4"/>
            </a:lnRef>
            <a:fillRef idx="3">
              <a:schemeClr val="accent4"/>
            </a:fillRef>
            <a:effectRef idx="3">
              <a:schemeClr val="accent4"/>
            </a:effectRef>
            <a:fontRef idx="minor">
              <a:schemeClr val="lt1"/>
            </a:fontRef>
          </p:style>
          <p:txBody>
            <a:bodyPr vert="vert270" rtlCol="0" anchor="ctr"/>
            <a:lstStyle/>
            <a:p>
              <a:pPr algn="ctr"/>
              <a:r>
                <a:rPr lang="en-IN" sz="3500" dirty="0">
                  <a:solidFill>
                    <a:prstClr val="white"/>
                  </a:solidFill>
                </a:rPr>
                <a:t>DISCOVER</a:t>
              </a:r>
            </a:p>
          </p:txBody>
        </p:sp>
        <p:sp>
          <p:nvSpPr>
            <p:cNvPr id="148" name="Pentagon 147"/>
            <p:cNvSpPr/>
            <p:nvPr/>
          </p:nvSpPr>
          <p:spPr>
            <a:xfrm>
              <a:off x="7792881" y="1291283"/>
              <a:ext cx="2923925" cy="315341"/>
            </a:xfrm>
            <a:prstGeom prst="homePlat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dirty="0">
                  <a:solidFill>
                    <a:prstClr val="white"/>
                  </a:solidFill>
                </a:rPr>
                <a:t>Existing Untapped Potential</a:t>
              </a:r>
            </a:p>
          </p:txBody>
        </p:sp>
        <p:sp>
          <p:nvSpPr>
            <p:cNvPr id="149" name="Pentagon 148"/>
            <p:cNvSpPr/>
            <p:nvPr/>
          </p:nvSpPr>
          <p:spPr>
            <a:xfrm>
              <a:off x="7790627" y="4139687"/>
              <a:ext cx="3053356" cy="315341"/>
            </a:xfrm>
            <a:prstGeom prst="homePlat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dirty="0">
                  <a:solidFill>
                    <a:prstClr val="white"/>
                  </a:solidFill>
                </a:rPr>
                <a:t>New Avenues for Growth</a:t>
              </a:r>
            </a:p>
          </p:txBody>
        </p:sp>
        <p:graphicFrame>
          <p:nvGraphicFramePr>
            <p:cNvPr id="85" name="Diagram 84"/>
            <p:cNvGraphicFramePr/>
            <p:nvPr>
              <p:extLst/>
            </p:nvPr>
          </p:nvGraphicFramePr>
          <p:xfrm>
            <a:off x="10707538" y="2156724"/>
            <a:ext cx="1665550" cy="114289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cxnSp>
          <p:nvCxnSpPr>
            <p:cNvPr id="86" name="Straight Connector 85"/>
            <p:cNvCxnSpPr/>
            <p:nvPr/>
          </p:nvCxnSpPr>
          <p:spPr>
            <a:xfrm>
              <a:off x="11105101" y="2696259"/>
              <a:ext cx="1080000" cy="0"/>
            </a:xfrm>
            <a:prstGeom prst="line">
              <a:avLst/>
            </a:prstGeom>
            <a:noFill/>
            <a:ln w="28575" cap="flat" cmpd="sng" algn="ctr">
              <a:solidFill>
                <a:sysClr val="window" lastClr="FFFFFF">
                  <a:lumMod val="75000"/>
                </a:sysClr>
              </a:solidFill>
              <a:prstDash val="sysDash"/>
              <a:miter lim="800000"/>
            </a:ln>
            <a:effectLst/>
          </p:spPr>
        </p:cxnSp>
      </p:grpSp>
      <p:sp>
        <p:nvSpPr>
          <p:cNvPr id="4" name="Slide Number Placeholder 3"/>
          <p:cNvSpPr>
            <a:spLocks noGrp="1"/>
          </p:cNvSpPr>
          <p:nvPr>
            <p:ph type="sldNum" sz="quarter" idx="12"/>
          </p:nvPr>
        </p:nvSpPr>
        <p:spPr/>
        <p:txBody>
          <a:bodyPr/>
          <a:lstStyle/>
          <a:p>
            <a:fld id="{3040F425-731D-4835-A38A-9545B9CAE996}" type="slidenum">
              <a:rPr lang="en-IN" smtClean="0"/>
              <a:t>30</a:t>
            </a:fld>
            <a:endParaRPr lang="en-IN" dirty="0"/>
          </a:p>
        </p:txBody>
      </p:sp>
    </p:spTree>
    <p:extLst>
      <p:ext uri="{BB962C8B-B14F-4D97-AF65-F5344CB8AC3E}">
        <p14:creationId xmlns:p14="http://schemas.microsoft.com/office/powerpoint/2010/main" val="32768829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250"/>
                                        <p:tgtEl>
                                          <p:spTgt spid="55"/>
                                        </p:tgtEl>
                                      </p:cBhvr>
                                    </p:animEffect>
                                  </p:childTnLst>
                                </p:cTn>
                              </p:par>
                              <p:par>
                                <p:cTn id="8" presetID="10" presetClass="entr" presetSubtype="0" fill="hold" nodeType="withEffect">
                                  <p:stCondLst>
                                    <p:cond delay="25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250"/>
                                        <p:tgtEl>
                                          <p:spTgt spid="56"/>
                                        </p:tgtEl>
                                      </p:cBhvr>
                                    </p:animEffect>
                                  </p:childTnLst>
                                </p:cTn>
                              </p:par>
                              <p:par>
                                <p:cTn id="11" presetID="10" presetClass="entr" presetSubtype="0" fill="hold" nodeType="withEffect">
                                  <p:stCondLst>
                                    <p:cond delay="50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250"/>
                                        <p:tgtEl>
                                          <p:spTgt spid="57"/>
                                        </p:tgtEl>
                                      </p:cBhvr>
                                    </p:animEffect>
                                  </p:childTnLst>
                                </p:cTn>
                              </p:par>
                              <p:par>
                                <p:cTn id="14" presetID="10" presetClass="entr" presetSubtype="0" fill="hold" nodeType="withEffect">
                                  <p:stCondLst>
                                    <p:cond delay="75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250"/>
                                        <p:tgtEl>
                                          <p:spTgt spid="58"/>
                                        </p:tgtEl>
                                      </p:cBhvr>
                                    </p:animEffect>
                                  </p:childTnLst>
                                </p:cTn>
                              </p:par>
                              <p:par>
                                <p:cTn id="17" presetID="10" presetClass="entr" presetSubtype="0" fill="hold" nodeType="withEffect">
                                  <p:stCondLst>
                                    <p:cond delay="100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250"/>
                                        <p:tgtEl>
                                          <p:spTgt spid="65"/>
                                        </p:tgtEl>
                                      </p:cBhvr>
                                    </p:animEffect>
                                  </p:childTnLst>
                                </p:cTn>
                              </p:par>
                              <p:par>
                                <p:cTn id="20" presetID="10" presetClass="entr" presetSubtype="0" fill="hold" nodeType="withEffect">
                                  <p:stCondLst>
                                    <p:cond delay="125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250"/>
                                        <p:tgtEl>
                                          <p:spTgt spid="67"/>
                                        </p:tgtEl>
                                      </p:cBhvr>
                                    </p:animEffect>
                                  </p:childTnLst>
                                </p:cTn>
                              </p:par>
                              <p:par>
                                <p:cTn id="23" presetID="10" presetClass="entr" presetSubtype="0" fill="hold" nodeType="withEffect">
                                  <p:stCondLst>
                                    <p:cond delay="150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250"/>
                                        <p:tgtEl>
                                          <p:spTgt spid="2"/>
                                        </p:tgtEl>
                                      </p:cBhvr>
                                    </p:animEffect>
                                  </p:childTnLst>
                                </p:cTn>
                              </p:par>
                              <p:par>
                                <p:cTn id="26" presetID="10" presetClass="entr" presetSubtype="0" fill="hold" nodeType="withEffect">
                                  <p:stCondLst>
                                    <p:cond delay="1750"/>
                                  </p:stCondLst>
                                  <p:childTnLst>
                                    <p:set>
                                      <p:cBhvr>
                                        <p:cTn id="27" dur="1" fill="hold">
                                          <p:stCondLst>
                                            <p:cond delay="0"/>
                                          </p:stCondLst>
                                        </p:cTn>
                                        <p:tgtEl>
                                          <p:spTgt spid="92"/>
                                        </p:tgtEl>
                                        <p:attrNameLst>
                                          <p:attrName>style.visibility</p:attrName>
                                        </p:attrNameLst>
                                      </p:cBhvr>
                                      <p:to>
                                        <p:strVal val="visible"/>
                                      </p:to>
                                    </p:set>
                                    <p:animEffect transition="in" filter="fade">
                                      <p:cBhvr>
                                        <p:cTn id="28" dur="250"/>
                                        <p:tgtEl>
                                          <p:spTgt spid="92"/>
                                        </p:tgtEl>
                                      </p:cBhvr>
                                    </p:animEffect>
                                  </p:childTnLst>
                                </p:cTn>
                              </p:par>
                              <p:par>
                                <p:cTn id="29" presetID="10" presetClass="entr" presetSubtype="0" fill="hold" nodeType="withEffect">
                                  <p:stCondLst>
                                    <p:cond delay="2000"/>
                                  </p:stCondLst>
                                  <p:childTnLst>
                                    <p:set>
                                      <p:cBhvr>
                                        <p:cTn id="30" dur="1" fill="hold">
                                          <p:stCondLst>
                                            <p:cond delay="0"/>
                                          </p:stCondLst>
                                        </p:cTn>
                                        <p:tgtEl>
                                          <p:spTgt spid="62"/>
                                        </p:tgtEl>
                                        <p:attrNameLst>
                                          <p:attrName>style.visibility</p:attrName>
                                        </p:attrNameLst>
                                      </p:cBhvr>
                                      <p:to>
                                        <p:strVal val="visible"/>
                                      </p:to>
                                    </p:set>
                                    <p:animEffect transition="in" filter="fade">
                                      <p:cBhvr>
                                        <p:cTn id="31" dur="250"/>
                                        <p:tgtEl>
                                          <p:spTgt spid="62"/>
                                        </p:tgtEl>
                                      </p:cBhvr>
                                    </p:animEffect>
                                  </p:childTnLst>
                                </p:cTn>
                              </p:par>
                              <p:par>
                                <p:cTn id="32" presetID="10" presetClass="entr" presetSubtype="0" fill="hold" nodeType="withEffect">
                                  <p:stCondLst>
                                    <p:cond delay="2250"/>
                                  </p:stCondLst>
                                  <p:childTnLst>
                                    <p:set>
                                      <p:cBhvr>
                                        <p:cTn id="33" dur="1" fill="hold">
                                          <p:stCondLst>
                                            <p:cond delay="0"/>
                                          </p:stCondLst>
                                        </p:cTn>
                                        <p:tgtEl>
                                          <p:spTgt spid="61"/>
                                        </p:tgtEl>
                                        <p:attrNameLst>
                                          <p:attrName>style.visibility</p:attrName>
                                        </p:attrNameLst>
                                      </p:cBhvr>
                                      <p:to>
                                        <p:strVal val="visible"/>
                                      </p:to>
                                    </p:set>
                                    <p:animEffect transition="in" filter="fade">
                                      <p:cBhvr>
                                        <p:cTn id="34" dur="250"/>
                                        <p:tgtEl>
                                          <p:spTgt spid="61"/>
                                        </p:tgtEl>
                                      </p:cBhvr>
                                    </p:animEffect>
                                  </p:childTnLst>
                                </p:cTn>
                              </p:par>
                              <p:par>
                                <p:cTn id="35" presetID="10" presetClass="entr" presetSubtype="0" fill="hold" nodeType="withEffect">
                                  <p:stCondLst>
                                    <p:cond delay="250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250"/>
                                        <p:tgtEl>
                                          <p:spTgt spid="60"/>
                                        </p:tgtEl>
                                      </p:cBhvr>
                                    </p:animEffect>
                                  </p:childTnLst>
                                </p:cTn>
                              </p:par>
                              <p:par>
                                <p:cTn id="38" presetID="10" presetClass="entr" presetSubtype="0" fill="hold" nodeType="withEffect">
                                  <p:stCondLst>
                                    <p:cond delay="2750"/>
                                  </p:stCondLst>
                                  <p:childTnLst>
                                    <p:set>
                                      <p:cBhvr>
                                        <p:cTn id="39" dur="1" fill="hold">
                                          <p:stCondLst>
                                            <p:cond delay="0"/>
                                          </p:stCondLst>
                                        </p:cTn>
                                        <p:tgtEl>
                                          <p:spTgt spid="59"/>
                                        </p:tgtEl>
                                        <p:attrNameLst>
                                          <p:attrName>style.visibility</p:attrName>
                                        </p:attrNameLst>
                                      </p:cBhvr>
                                      <p:to>
                                        <p:strVal val="visible"/>
                                      </p:to>
                                    </p:set>
                                    <p:animEffect transition="in" filter="fade">
                                      <p:cBhvr>
                                        <p:cTn id="40" dur="250"/>
                                        <p:tgtEl>
                                          <p:spTgt spid="59"/>
                                        </p:tgtEl>
                                      </p:cBhvr>
                                    </p:animEffect>
                                  </p:childTnLst>
                                </p:cTn>
                              </p:par>
                              <p:par>
                                <p:cTn id="41" presetID="10" presetClass="entr" presetSubtype="0" fill="hold" nodeType="withEffect">
                                  <p:stCondLst>
                                    <p:cond delay="275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3040F425-731D-4835-A38A-9545B9CAE996}" type="slidenum">
              <a:rPr lang="en-IN" sz="1800" kern="0">
                <a:solidFill>
                  <a:srgbClr val="000000">
                    <a:tint val="75000"/>
                  </a:srgbClr>
                </a:solidFill>
              </a:rPr>
              <a:pPr/>
              <a:t>31</a:t>
            </a:fld>
            <a:endParaRPr lang="en-IN" sz="1800" kern="0" dirty="0">
              <a:solidFill>
                <a:srgbClr val="000000">
                  <a:tint val="75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683602234"/>
              </p:ext>
            </p:extLst>
          </p:nvPr>
        </p:nvGraphicFramePr>
        <p:xfrm>
          <a:off x="206061" y="1466188"/>
          <a:ext cx="11797050" cy="4832893"/>
        </p:xfrm>
        <a:graphic>
          <a:graphicData uri="http://schemas.openxmlformats.org/drawingml/2006/table">
            <a:tbl>
              <a:tblPr>
                <a:tableStyleId>{5940675A-B579-460E-94D1-54222C63F5DA}</a:tableStyleId>
              </a:tblPr>
              <a:tblGrid>
                <a:gridCol w="998076">
                  <a:extLst>
                    <a:ext uri="{9D8B030D-6E8A-4147-A177-3AD203B41FA5}">
                      <a16:colId xmlns:a16="http://schemas.microsoft.com/office/drawing/2014/main" xmlns="" val="298264944"/>
                    </a:ext>
                  </a:extLst>
                </a:gridCol>
                <a:gridCol w="1482327">
                  <a:extLst>
                    <a:ext uri="{9D8B030D-6E8A-4147-A177-3AD203B41FA5}">
                      <a16:colId xmlns:a16="http://schemas.microsoft.com/office/drawing/2014/main" xmlns="" val="263316971"/>
                    </a:ext>
                  </a:extLst>
                </a:gridCol>
                <a:gridCol w="838902">
                  <a:extLst>
                    <a:ext uri="{9D8B030D-6E8A-4147-A177-3AD203B41FA5}">
                      <a16:colId xmlns:a16="http://schemas.microsoft.com/office/drawing/2014/main" xmlns="" val="2166704414"/>
                    </a:ext>
                  </a:extLst>
                </a:gridCol>
                <a:gridCol w="838902">
                  <a:extLst>
                    <a:ext uri="{9D8B030D-6E8A-4147-A177-3AD203B41FA5}">
                      <a16:colId xmlns:a16="http://schemas.microsoft.com/office/drawing/2014/main" xmlns="" val="1729486"/>
                    </a:ext>
                  </a:extLst>
                </a:gridCol>
                <a:gridCol w="7638843">
                  <a:extLst>
                    <a:ext uri="{9D8B030D-6E8A-4147-A177-3AD203B41FA5}">
                      <a16:colId xmlns:a16="http://schemas.microsoft.com/office/drawing/2014/main" xmlns="" val="1468714176"/>
                    </a:ext>
                  </a:extLst>
                </a:gridCol>
              </a:tblGrid>
              <a:tr h="346825">
                <a:tc>
                  <a:txBody>
                    <a:bodyPr/>
                    <a:lstStyle/>
                    <a:p>
                      <a:pPr algn="ctr" rtl="0" fontAlgn="ctr"/>
                      <a:r>
                        <a:rPr lang="en-US" sz="1100" b="1" u="none" strike="noStrike" dirty="0">
                          <a:solidFill>
                            <a:schemeClr val="bg1"/>
                          </a:solidFill>
                          <a:effectLst/>
                          <a:latin typeface="+mn-lt"/>
                        </a:rPr>
                        <a:t>Sector</a:t>
                      </a:r>
                      <a:endParaRPr lang="en-US" sz="1100" b="1" i="0" u="none" strike="noStrike" dirty="0">
                        <a:solidFill>
                          <a:schemeClr val="bg1"/>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rtl="0" fontAlgn="ctr"/>
                      <a:r>
                        <a:rPr lang="en-US" sz="1100" b="1" u="none" strike="noStrike" dirty="0">
                          <a:solidFill>
                            <a:schemeClr val="bg1"/>
                          </a:solidFill>
                          <a:effectLst/>
                          <a:latin typeface="+mn-lt"/>
                        </a:rPr>
                        <a:t>CLIENT</a:t>
                      </a:r>
                      <a:endParaRPr lang="en-US" sz="1100" b="1" i="0" u="none" strike="noStrike" dirty="0">
                        <a:solidFill>
                          <a:schemeClr val="bg1"/>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rtl="0" fontAlgn="ctr"/>
                      <a:r>
                        <a:rPr lang="en-US" sz="1100" b="1" u="none" strike="noStrike" dirty="0">
                          <a:solidFill>
                            <a:schemeClr val="bg1"/>
                          </a:solidFill>
                          <a:effectLst/>
                          <a:latin typeface="+mn-lt"/>
                        </a:rPr>
                        <a:t>PoC</a:t>
                      </a:r>
                      <a:endParaRPr lang="en-US" sz="1100" b="1" i="0" u="none" strike="noStrike" dirty="0">
                        <a:solidFill>
                          <a:schemeClr val="bg1"/>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rtl="0" fontAlgn="ctr"/>
                      <a:r>
                        <a:rPr lang="en-US" sz="1100" b="1" u="none" strike="noStrike" dirty="0">
                          <a:solidFill>
                            <a:schemeClr val="bg1"/>
                          </a:solidFill>
                          <a:effectLst/>
                          <a:latin typeface="+mn-lt"/>
                        </a:rPr>
                        <a:t>Turnkey/Full Partnership</a:t>
                      </a:r>
                      <a:endParaRPr lang="en-US" sz="1100" b="1" i="0" u="none" strike="noStrike" dirty="0">
                        <a:solidFill>
                          <a:schemeClr val="bg1"/>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rtl="0" fontAlgn="ctr"/>
                      <a:r>
                        <a:rPr lang="en-US" sz="1100" b="1" u="none" strike="noStrike" dirty="0">
                          <a:solidFill>
                            <a:schemeClr val="bg1"/>
                          </a:solidFill>
                          <a:effectLst/>
                          <a:latin typeface="+mn-lt"/>
                        </a:rPr>
                        <a:t>ENGAGEMENT OVERVIEW</a:t>
                      </a:r>
                      <a:endParaRPr lang="en-US" sz="1100" b="1" i="0" u="none" strike="noStrike" dirty="0">
                        <a:solidFill>
                          <a:schemeClr val="bg1"/>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xmlns="" val="3992853803"/>
                  </a:ext>
                </a:extLst>
              </a:tr>
              <a:tr h="248694">
                <a:tc rowSpan="3">
                  <a:txBody>
                    <a:bodyPr/>
                    <a:lstStyle/>
                    <a:p>
                      <a:pPr algn="ctr" fontAlgn="b"/>
                      <a:r>
                        <a:rPr lang="en-US" sz="1100" u="none" strike="noStrike" dirty="0">
                          <a:effectLst/>
                          <a:latin typeface="+mn-lt"/>
                        </a:rPr>
                        <a:t>Financial Services</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8000"/>
                    </a:solidFill>
                  </a:tcPr>
                </a:tc>
                <a:tc>
                  <a:txBody>
                    <a:bodyPr/>
                    <a:lstStyle/>
                    <a:p>
                      <a:pPr algn="l" rtl="0" fontAlgn="ctr"/>
                      <a:r>
                        <a:rPr lang="en-US" sz="1200" b="1" u="none" strike="noStrike" dirty="0">
                          <a:solidFill>
                            <a:srgbClr val="0070C0"/>
                          </a:solidFill>
                          <a:effectLst/>
                          <a:latin typeface="+mn-lt"/>
                        </a:rPr>
                        <a:t>Digital, Reactivation/Lapsation</a:t>
                      </a:r>
                      <a:r>
                        <a:rPr lang="en-US" sz="1200" u="none" strike="noStrike" dirty="0">
                          <a:solidFill>
                            <a:schemeClr val="bg1">
                              <a:lumMod val="65000"/>
                            </a:schemeClr>
                          </a:solidFill>
                          <a:effectLst/>
                          <a:latin typeface="+mn-lt"/>
                        </a:rPr>
                        <a:t>, </a:t>
                      </a:r>
                      <a:r>
                        <a:rPr lang="en-US" sz="1200" b="1" u="none" strike="noStrike" dirty="0">
                          <a:solidFill>
                            <a:schemeClr val="bg1">
                              <a:lumMod val="75000"/>
                            </a:schemeClr>
                          </a:solidFill>
                          <a:effectLst/>
                          <a:latin typeface="+mn-lt"/>
                        </a:rPr>
                        <a:t>Prospecting</a:t>
                      </a:r>
                      <a:r>
                        <a:rPr lang="en-US" sz="1200" u="none" strike="noStrike" dirty="0">
                          <a:solidFill>
                            <a:schemeClr val="bg1">
                              <a:lumMod val="75000"/>
                            </a:schemeClr>
                          </a:solidFill>
                          <a:effectLst/>
                          <a:latin typeface="+mn-lt"/>
                        </a:rPr>
                        <a:t>, </a:t>
                      </a:r>
                      <a:r>
                        <a:rPr lang="en-US" sz="1200" b="1" u="none" strike="noStrike" dirty="0">
                          <a:solidFill>
                            <a:srgbClr val="0070C0"/>
                          </a:solidFill>
                          <a:effectLst/>
                          <a:latin typeface="+mn-lt"/>
                        </a:rPr>
                        <a:t>Salesforce management</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3767786994"/>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8000"/>
                    </a:solidFill>
                  </a:tcPr>
                </a:tc>
                <a:tc>
                  <a:txBody>
                    <a:bodyPr/>
                    <a:lstStyle/>
                    <a:p>
                      <a:pPr algn="l" rtl="0" fontAlgn="ctr"/>
                      <a:r>
                        <a:rPr lang="en-US" sz="1200" b="0" u="none" strike="noStrike" dirty="0">
                          <a:solidFill>
                            <a:schemeClr val="bg1">
                              <a:lumMod val="65000"/>
                            </a:schemeClr>
                          </a:solidFill>
                          <a:effectLst/>
                          <a:latin typeface="+mn-lt"/>
                        </a:rPr>
                        <a:t>R</a:t>
                      </a:r>
                      <a:r>
                        <a:rPr lang="en-US" sz="1200" u="none" strike="noStrike" dirty="0">
                          <a:solidFill>
                            <a:schemeClr val="bg1">
                              <a:lumMod val="65000"/>
                            </a:schemeClr>
                          </a:solidFill>
                          <a:effectLst/>
                          <a:latin typeface="+mn-lt"/>
                        </a:rPr>
                        <a:t>enewal / Lapsation Strategies, Cross Sell, Contactability Enhancement</a:t>
                      </a:r>
                      <a:r>
                        <a:rPr lang="en-US" sz="1200" u="none" strike="noStrike" dirty="0">
                          <a:effectLst/>
                          <a:latin typeface="+mn-lt"/>
                        </a:rPr>
                        <a:t>, </a:t>
                      </a:r>
                      <a:r>
                        <a:rPr lang="en-US" sz="1200" b="1" u="none" strike="noStrike" dirty="0">
                          <a:solidFill>
                            <a:srgbClr val="0070C0"/>
                          </a:solidFill>
                          <a:effectLst/>
                          <a:latin typeface="+mn-lt"/>
                        </a:rPr>
                        <a:t>Fraud &amp; Digital</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2814613275"/>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008000"/>
                    </a:solidFill>
                  </a:tcPr>
                </a:tc>
                <a:tc>
                  <a:txBody>
                    <a:bodyPr/>
                    <a:lstStyle/>
                    <a:p>
                      <a:pPr algn="l" rtl="0" fontAlgn="ctr"/>
                      <a:r>
                        <a:rPr lang="en-US" sz="1200" b="0" u="none" strike="noStrike" dirty="0">
                          <a:solidFill>
                            <a:schemeClr val="bg1">
                              <a:lumMod val="65000"/>
                            </a:schemeClr>
                          </a:solidFill>
                          <a:effectLst/>
                          <a:latin typeface="+mn-lt"/>
                        </a:rPr>
                        <a:t>B</a:t>
                      </a:r>
                      <a:r>
                        <a:rPr lang="en-US" sz="1200" u="none" strike="noStrike" dirty="0">
                          <a:solidFill>
                            <a:schemeClr val="bg1">
                              <a:lumMod val="65000"/>
                            </a:schemeClr>
                          </a:solidFill>
                          <a:effectLst/>
                          <a:latin typeface="+mn-lt"/>
                        </a:rPr>
                        <a:t>L</a:t>
                      </a:r>
                      <a:r>
                        <a:rPr lang="en-US" sz="1200" u="none" strike="noStrike" baseline="0" dirty="0">
                          <a:solidFill>
                            <a:schemeClr val="bg1">
                              <a:lumMod val="65000"/>
                            </a:schemeClr>
                          </a:solidFill>
                          <a:effectLst/>
                          <a:latin typeface="+mn-lt"/>
                        </a:rPr>
                        <a:t> </a:t>
                      </a:r>
                      <a:r>
                        <a:rPr lang="en-US" sz="1200" u="none" strike="noStrike" dirty="0">
                          <a:solidFill>
                            <a:schemeClr val="bg1">
                              <a:lumMod val="65000"/>
                            </a:schemeClr>
                          </a:solidFill>
                          <a:effectLst/>
                          <a:latin typeface="+mn-lt"/>
                        </a:rPr>
                        <a:t>Opportunity framework</a:t>
                      </a:r>
                      <a:r>
                        <a:rPr lang="en-US" sz="1200" u="none" strike="noStrike" dirty="0">
                          <a:effectLst/>
                          <a:latin typeface="+mn-lt"/>
                        </a:rPr>
                        <a:t>, </a:t>
                      </a:r>
                      <a:r>
                        <a:rPr lang="en-US" sz="1200" b="1" u="none" strike="noStrike" dirty="0">
                          <a:solidFill>
                            <a:srgbClr val="0070C0"/>
                          </a:solidFill>
                          <a:effectLst/>
                          <a:latin typeface="+mn-lt"/>
                        </a:rPr>
                        <a:t>Digital analytics, Fund raising on Neo base, Prospecting </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xmlns="" val="144632102"/>
                  </a:ext>
                </a:extLst>
              </a:tr>
              <a:tr h="248694">
                <a:tc rowSpan="6">
                  <a:txBody>
                    <a:bodyPr/>
                    <a:lstStyle/>
                    <a:p>
                      <a:pPr algn="ctr" fontAlgn="b"/>
                      <a:r>
                        <a:rPr lang="en-US" sz="1100" u="none" strike="noStrike" dirty="0">
                          <a:effectLst/>
                          <a:latin typeface="+mn-lt"/>
                        </a:rPr>
                        <a:t>Retail</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8000"/>
                    </a:solidFill>
                  </a:tcPr>
                </a:tc>
                <a:tc>
                  <a:txBody>
                    <a:bodyPr/>
                    <a:lstStyle/>
                    <a:p>
                      <a:pPr algn="l" rtl="0" fontAlgn="ctr"/>
                      <a:r>
                        <a:rPr lang="en-US" sz="1200" b="1" u="none" strike="noStrike" dirty="0">
                          <a:solidFill>
                            <a:schemeClr val="bg1">
                              <a:lumMod val="75000"/>
                            </a:schemeClr>
                          </a:solidFill>
                          <a:effectLst/>
                          <a:latin typeface="+mn-lt"/>
                        </a:rPr>
                        <a:t>Customer,</a:t>
                      </a:r>
                      <a:r>
                        <a:rPr lang="en-US" sz="1200" u="none" strike="noStrike" dirty="0">
                          <a:solidFill>
                            <a:schemeClr val="bg1">
                              <a:lumMod val="75000"/>
                            </a:schemeClr>
                          </a:solidFill>
                          <a:effectLst/>
                          <a:latin typeface="+mn-lt"/>
                        </a:rPr>
                        <a:t> </a:t>
                      </a:r>
                      <a:r>
                        <a:rPr lang="en-US" sz="1200" b="1" u="none" strike="noStrike" dirty="0">
                          <a:solidFill>
                            <a:srgbClr val="0070C0"/>
                          </a:solidFill>
                          <a:effectLst/>
                          <a:latin typeface="+mn-lt"/>
                        </a:rPr>
                        <a:t>Store &amp; Merchandizing, Campaign Management,,  Data Management, Visualization</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742791623"/>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008000"/>
                    </a:solidFill>
                  </a:tcPr>
                </a:tc>
                <a:tc>
                  <a:txBody>
                    <a:bodyPr/>
                    <a:lstStyle/>
                    <a:p>
                      <a:pPr algn="l" rtl="0" fontAlgn="ctr"/>
                      <a:r>
                        <a:rPr lang="en-US" sz="1200" u="none" strike="noStrike" dirty="0">
                          <a:solidFill>
                            <a:schemeClr val="bg1">
                              <a:lumMod val="65000"/>
                            </a:schemeClr>
                          </a:solidFill>
                          <a:effectLst/>
                          <a:latin typeface="+mn-lt"/>
                        </a:rPr>
                        <a:t>Segmentation,</a:t>
                      </a:r>
                      <a:r>
                        <a:rPr lang="en-US" sz="1200" u="none" strike="noStrike" baseline="0" dirty="0">
                          <a:solidFill>
                            <a:schemeClr val="bg1">
                              <a:lumMod val="65000"/>
                            </a:schemeClr>
                          </a:solidFill>
                          <a:effectLst/>
                          <a:latin typeface="+mn-lt"/>
                        </a:rPr>
                        <a:t> </a:t>
                      </a:r>
                      <a:r>
                        <a:rPr lang="en-US" sz="1200" u="none" strike="noStrike" dirty="0">
                          <a:solidFill>
                            <a:schemeClr val="bg1">
                              <a:lumMod val="65000"/>
                            </a:schemeClr>
                          </a:solidFill>
                          <a:effectLst/>
                          <a:latin typeface="+mn-lt"/>
                        </a:rPr>
                        <a:t>Next Best Product, </a:t>
                      </a:r>
                      <a:r>
                        <a:rPr lang="en-US" sz="1200" b="1" u="none" strike="noStrike" dirty="0">
                          <a:solidFill>
                            <a:srgbClr val="0070C0"/>
                          </a:solidFill>
                          <a:effectLst/>
                          <a:latin typeface="+mn-lt"/>
                        </a:rPr>
                        <a:t>Prospecting, Digital, Data Management, Recommender Engine</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3531188015"/>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l" rtl="0" fontAlgn="ctr"/>
                      <a:r>
                        <a:rPr lang="en-US" sz="1200" b="1" u="none" strike="noStrike" dirty="0">
                          <a:solidFill>
                            <a:srgbClr val="0070C0"/>
                          </a:solidFill>
                          <a:effectLst/>
                          <a:latin typeface="+mn-lt"/>
                        </a:rPr>
                        <a:t>Migration &amp; Dormancy, Customer Enrichment</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4089094167"/>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l" rtl="0" fontAlgn="ctr"/>
                      <a:r>
                        <a:rPr lang="en-US" sz="1200" u="none" strike="noStrike" dirty="0">
                          <a:solidFill>
                            <a:schemeClr val="bg1">
                              <a:lumMod val="65000"/>
                            </a:schemeClr>
                          </a:solidFill>
                          <a:effectLst/>
                          <a:latin typeface="+mn-lt"/>
                        </a:rPr>
                        <a:t>Enrichment,  Store Potential &amp; Attractiveness, </a:t>
                      </a:r>
                      <a:r>
                        <a:rPr lang="en-US" sz="1200" b="1" u="none" strike="noStrike" dirty="0">
                          <a:solidFill>
                            <a:srgbClr val="0070C0"/>
                          </a:solidFill>
                          <a:effectLst/>
                          <a:latin typeface="+mn-lt"/>
                        </a:rPr>
                        <a:t>Customer Potential assessment</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3425492102"/>
                  </a:ext>
                </a:extLst>
              </a:tr>
              <a:tr h="248694">
                <a:tc vMerge="1">
                  <a:txBody>
                    <a:bodyPr/>
                    <a:lstStyle/>
                    <a:p>
                      <a:endParaRPr lang="en-US"/>
                    </a:p>
                  </a:txBody>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r>
                        <a:rPr lang="en-US" sz="1100" u="none" strike="noStrike" dirty="0">
                          <a:effectLst/>
                          <a:latin typeface="+mn-lt"/>
                        </a:rPr>
                        <a:t> </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dirty="0">
                          <a:solidFill>
                            <a:srgbClr val="0070C0"/>
                          </a:solidFill>
                          <a:effectLst/>
                          <a:latin typeface="+mn-lt"/>
                        </a:rPr>
                        <a:t>Store Attractiveness </a:t>
                      </a:r>
                      <a:r>
                        <a:rPr lang="en-US" sz="1200" b="0" u="none" strike="noStrike" dirty="0">
                          <a:solidFill>
                            <a:srgbClr val="0070C0"/>
                          </a:solidFill>
                          <a:effectLst/>
                          <a:latin typeface="+mn-lt"/>
                        </a:rPr>
                        <a:t>(</a:t>
                      </a:r>
                      <a:r>
                        <a:rPr lang="en-US" sz="1200" u="none" strike="noStrike" dirty="0">
                          <a:solidFill>
                            <a:schemeClr val="bg1">
                              <a:lumMod val="65000"/>
                            </a:schemeClr>
                          </a:solidFill>
                          <a:effectLst/>
                          <a:latin typeface="+mn-lt"/>
                        </a:rPr>
                        <a:t>Bandra), Customer Segmentation, </a:t>
                      </a:r>
                      <a:r>
                        <a:rPr lang="en-US" sz="1200" b="0" u="none" strike="noStrike" dirty="0">
                          <a:solidFill>
                            <a:schemeClr val="bg1">
                              <a:lumMod val="65000"/>
                            </a:schemeClr>
                          </a:solidFill>
                          <a:effectLst/>
                          <a:latin typeface="+mn-lt"/>
                        </a:rPr>
                        <a:t>Market &amp; media mix,</a:t>
                      </a:r>
                      <a:r>
                        <a:rPr lang="en-US" sz="1200" b="0" u="none" strike="noStrike" baseline="0" dirty="0">
                          <a:solidFill>
                            <a:schemeClr val="bg1">
                              <a:lumMod val="65000"/>
                            </a:schemeClr>
                          </a:solidFill>
                          <a:effectLst/>
                          <a:latin typeface="+mn-lt"/>
                        </a:rPr>
                        <a:t> </a:t>
                      </a:r>
                      <a:r>
                        <a:rPr lang="en-US" sz="1200" b="1" u="none" strike="noStrike" baseline="0" dirty="0">
                          <a:solidFill>
                            <a:srgbClr val="0070C0"/>
                          </a:solidFill>
                          <a:effectLst/>
                          <a:latin typeface="+mn-lt"/>
                        </a:rPr>
                        <a:t>Drive Store Footfall</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449681598"/>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F9DDD4"/>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bg2">
                              <a:lumMod val="75000"/>
                            </a:schemeClr>
                          </a:solidFill>
                          <a:effectLst/>
                          <a:latin typeface="+mn-lt"/>
                        </a:rPr>
                        <a:t>Organization-wide Category dashboard</a:t>
                      </a:r>
                      <a:r>
                        <a:rPr lang="en-US" sz="1200" b="1" i="0" u="none" strike="noStrike" dirty="0">
                          <a:solidFill>
                            <a:srgbClr val="0070C0"/>
                          </a:solidFill>
                          <a:effectLst/>
                          <a:latin typeface="+mn-lt"/>
                        </a:rPr>
                        <a:t>, Margin analysis, Promotions Planning</a:t>
                      </a: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xmlns="" val="1444193134"/>
                  </a:ext>
                </a:extLst>
              </a:tr>
              <a:tr h="248694">
                <a:tc>
                  <a:txBody>
                    <a:bodyPr/>
                    <a:lstStyle/>
                    <a:p>
                      <a:pPr algn="ctr" fontAlgn="b"/>
                      <a:r>
                        <a:rPr lang="en-US" sz="1100" u="none" strike="noStrike" dirty="0">
                          <a:effectLst/>
                          <a:latin typeface="+mn-lt"/>
                        </a:rPr>
                        <a:t>Hospitality</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008000"/>
                    </a:solidFill>
                  </a:tcPr>
                </a:tc>
                <a:tc>
                  <a:txBody>
                    <a:bodyPr/>
                    <a:lstStyle/>
                    <a:p>
                      <a:pPr algn="l" rtl="0" fontAlgn="ctr"/>
                      <a:r>
                        <a:rPr lang="en-US" sz="1200" b="0" u="none" strike="noStrike" dirty="0">
                          <a:solidFill>
                            <a:schemeClr val="bg2">
                              <a:lumMod val="75000"/>
                            </a:schemeClr>
                          </a:solidFill>
                          <a:effectLst/>
                          <a:latin typeface="+mn-lt"/>
                        </a:rPr>
                        <a:t>Segmentation &amp; Propensity Models</a:t>
                      </a:r>
                      <a:endParaRPr lang="en-US" sz="1200" b="0" i="0" u="none" strike="noStrike" dirty="0">
                        <a:solidFill>
                          <a:schemeClr val="bg2">
                            <a:lumMod val="75000"/>
                          </a:schemeClr>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xmlns="" val="1965921258"/>
                  </a:ext>
                </a:extLst>
              </a:tr>
              <a:tr h="248694">
                <a:tc rowSpan="3">
                  <a:txBody>
                    <a:bodyPr/>
                    <a:lstStyle/>
                    <a:p>
                      <a:pPr algn="ctr" fontAlgn="b"/>
                      <a:r>
                        <a:rPr lang="en-US" sz="1100" u="none" strike="noStrike" dirty="0">
                          <a:effectLst/>
                          <a:latin typeface="+mn-lt"/>
                        </a:rPr>
                        <a:t>Manufacturing</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8E8F1"/>
                    </a:solidFill>
                  </a:tcPr>
                </a:tc>
                <a:tc>
                  <a:txBody>
                    <a:bodyPr/>
                    <a:lstStyle/>
                    <a:p>
                      <a:pPr algn="l" rtl="0" fontAlgn="ctr"/>
                      <a:r>
                        <a:rPr lang="en-US" sz="1200" u="none" strike="noStrike" dirty="0">
                          <a:solidFill>
                            <a:schemeClr val="bg1">
                              <a:lumMod val="65000"/>
                            </a:schemeClr>
                          </a:solidFill>
                          <a:effectLst/>
                          <a:latin typeface="+mn-lt"/>
                        </a:rPr>
                        <a:t>Territory attractiveness, </a:t>
                      </a:r>
                      <a:r>
                        <a:rPr lang="en-US" sz="1200" b="1" u="none" strike="noStrike" dirty="0">
                          <a:solidFill>
                            <a:srgbClr val="0070C0"/>
                          </a:solidFill>
                          <a:effectLst/>
                          <a:latin typeface="+mn-lt"/>
                        </a:rPr>
                        <a:t>Net Promoter Score</a:t>
                      </a:r>
                      <a:r>
                        <a:rPr lang="en-US" sz="1200" b="1" u="none" strike="noStrike" baseline="0" dirty="0">
                          <a:solidFill>
                            <a:srgbClr val="0070C0"/>
                          </a:solidFill>
                          <a:effectLst/>
                          <a:latin typeface="+mn-lt"/>
                        </a:rPr>
                        <a:t> A</a:t>
                      </a:r>
                      <a:r>
                        <a:rPr lang="en-US" sz="1200" b="1" u="none" strike="noStrike" dirty="0">
                          <a:solidFill>
                            <a:srgbClr val="0070C0"/>
                          </a:solidFill>
                          <a:effectLst/>
                          <a:latin typeface="+mn-lt"/>
                        </a:rPr>
                        <a:t>nalysis, Factory Analytics, Analytics COE</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3473417914"/>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l" rtl="0" fontAlgn="ctr"/>
                      <a:r>
                        <a:rPr lang="en-US" sz="1200" u="none" strike="noStrike" dirty="0">
                          <a:solidFill>
                            <a:schemeClr val="bg1">
                              <a:lumMod val="65000"/>
                            </a:schemeClr>
                          </a:solidFill>
                          <a:effectLst/>
                          <a:latin typeface="+mn-lt"/>
                        </a:rPr>
                        <a:t>Customer Analytics, Location planning, </a:t>
                      </a:r>
                      <a:r>
                        <a:rPr lang="en-US" sz="1200" b="1" u="none" strike="noStrike" dirty="0">
                          <a:solidFill>
                            <a:srgbClr val="0070C0"/>
                          </a:solidFill>
                          <a:effectLst/>
                          <a:latin typeface="+mn-lt"/>
                        </a:rPr>
                        <a:t>Demand forecasting, Survey</a:t>
                      </a:r>
                      <a:r>
                        <a:rPr lang="en-US" sz="1200" u="none" strike="noStrike" dirty="0">
                          <a:solidFill>
                            <a:schemeClr val="bg1">
                              <a:lumMod val="65000"/>
                            </a:schemeClr>
                          </a:solidFill>
                          <a:effectLst/>
                          <a:latin typeface="+mn-lt"/>
                        </a:rPr>
                        <a:t>, Prospecting, Social Analytics</a:t>
                      </a:r>
                      <a:endParaRPr lang="en-US" sz="1200" b="0" i="0" u="none" strike="noStrike" dirty="0">
                        <a:solidFill>
                          <a:schemeClr val="bg1">
                            <a:lumMod val="65000"/>
                          </a:schemeClr>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1298568038"/>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l" rtl="0" fontAlgn="ctr"/>
                      <a:r>
                        <a:rPr lang="en-US" sz="1200" b="1" u="none" strike="noStrike" dirty="0">
                          <a:solidFill>
                            <a:srgbClr val="0070C0"/>
                          </a:solidFill>
                          <a:effectLst/>
                          <a:latin typeface="+mn-lt"/>
                        </a:rPr>
                        <a:t>FGD analysis, Territory attractiveness, </a:t>
                      </a:r>
                      <a:r>
                        <a:rPr lang="en-US" sz="1200" u="none" strike="noStrike" dirty="0">
                          <a:solidFill>
                            <a:schemeClr val="bg1">
                              <a:lumMod val="65000"/>
                            </a:schemeClr>
                          </a:solidFill>
                          <a:effectLst/>
                          <a:latin typeface="+mn-lt"/>
                        </a:rPr>
                        <a:t>Data Management &amp; Visualizations</a:t>
                      </a:r>
                      <a:endParaRPr lang="en-US" sz="1200" b="0" i="0" u="none" strike="noStrike" dirty="0">
                        <a:solidFill>
                          <a:schemeClr val="bg1">
                            <a:lumMod val="65000"/>
                          </a:schemeClr>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xmlns="" val="3106594590"/>
                  </a:ext>
                </a:extLst>
              </a:tr>
              <a:tr h="248694">
                <a:tc rowSpan="4">
                  <a:txBody>
                    <a:bodyPr/>
                    <a:lstStyle/>
                    <a:p>
                      <a:pPr algn="ctr" fontAlgn="b"/>
                      <a:r>
                        <a:rPr lang="en-US" sz="1100" u="none" strike="noStrike" dirty="0">
                          <a:effectLst/>
                          <a:latin typeface="+mn-lt"/>
                        </a:rPr>
                        <a:t>Utilities</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8E8F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dirty="0">
                          <a:solidFill>
                            <a:srgbClr val="0070C0"/>
                          </a:solidFill>
                          <a:effectLst/>
                          <a:latin typeface="+mn-lt"/>
                        </a:rPr>
                        <a:t>Location Planning, Wi-fi Planning</a:t>
                      </a:r>
                      <a:r>
                        <a:rPr lang="en-US" sz="1200" u="none" strike="noStrike" dirty="0">
                          <a:solidFill>
                            <a:schemeClr val="bg1">
                              <a:lumMod val="65000"/>
                            </a:schemeClr>
                          </a:solidFill>
                          <a:effectLst/>
                          <a:latin typeface="+mn-lt"/>
                        </a:rPr>
                        <a:t>, Data Enrichment, </a:t>
                      </a:r>
                      <a:r>
                        <a:rPr lang="en-US" sz="1200" b="1" u="none" strike="noStrike" dirty="0">
                          <a:solidFill>
                            <a:srgbClr val="0070C0"/>
                          </a:solidFill>
                          <a:effectLst/>
                          <a:latin typeface="+mn-lt"/>
                        </a:rPr>
                        <a:t>Churn</a:t>
                      </a:r>
                      <a:r>
                        <a:rPr lang="en-US" sz="1200" b="1" u="none" strike="noStrike" baseline="0" dirty="0">
                          <a:solidFill>
                            <a:srgbClr val="0070C0"/>
                          </a:solidFill>
                          <a:effectLst/>
                          <a:latin typeface="+mn-lt"/>
                        </a:rPr>
                        <a:t> Models, Data Management </a:t>
                      </a:r>
                      <a:r>
                        <a:rPr lang="en-US" sz="1200" b="0" u="none" strike="noStrike" baseline="0" dirty="0">
                          <a:solidFill>
                            <a:schemeClr val="bg1">
                              <a:lumMod val="65000"/>
                            </a:schemeClr>
                          </a:solidFill>
                          <a:effectLst/>
                          <a:latin typeface="+mn-lt"/>
                        </a:rPr>
                        <a:t>(SME Business)</a:t>
                      </a:r>
                      <a:endParaRPr lang="en-US" sz="1200" b="0" i="0" u="none" strike="noStrike" dirty="0">
                        <a:solidFill>
                          <a:schemeClr val="bg1">
                            <a:lumMod val="65000"/>
                          </a:schemeClr>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152671981"/>
                  </a:ext>
                </a:extLst>
              </a:tr>
              <a:tr h="248694">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sz="1100" u="none" strike="noStrike" dirty="0">
                          <a:effectLst/>
                          <a:latin typeface="+mn-lt"/>
                        </a:rPr>
                        <a:t> </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8E8F1"/>
                    </a:solidFill>
                  </a:tcPr>
                </a:tc>
                <a:tc>
                  <a:txBody>
                    <a:bodyPr/>
                    <a:lstStyle/>
                    <a:p>
                      <a:pPr algn="l" rtl="0" fontAlgn="ctr"/>
                      <a:r>
                        <a:rPr lang="en-US" sz="1200" b="1" u="none" strike="noStrike" dirty="0">
                          <a:solidFill>
                            <a:srgbClr val="0070C0"/>
                          </a:solidFill>
                          <a:effectLst/>
                          <a:latin typeface="+mn-lt"/>
                        </a:rPr>
                        <a:t>Call center analytics</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3307725311"/>
                  </a:ext>
                </a:extLst>
              </a:tr>
              <a:tr h="253653">
                <a:tc vMerge="1">
                  <a:txBody>
                    <a:bodyPr/>
                    <a:lstStyle/>
                    <a:p>
                      <a:endParaRPr lang="en-US"/>
                    </a:p>
                  </a:txBody>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8E8F1"/>
                    </a:solidFill>
                  </a:tcPr>
                </a:tc>
                <a:tc>
                  <a:txBody>
                    <a:bodyPr/>
                    <a:lstStyle/>
                    <a:p>
                      <a:pPr algn="l" rtl="0" fontAlgn="ctr"/>
                      <a:r>
                        <a:rPr lang="en-US" sz="1200" b="1" i="0" u="none" strike="noStrike" dirty="0">
                          <a:solidFill>
                            <a:srgbClr val="0070C0"/>
                          </a:solidFill>
                          <a:effectLst/>
                          <a:latin typeface="+mn-lt"/>
                        </a:rPr>
                        <a:t>Prospecting in rural markets, </a:t>
                      </a:r>
                      <a:r>
                        <a:rPr lang="en-US" sz="1200" u="none" strike="noStrike" dirty="0">
                          <a:solidFill>
                            <a:schemeClr val="bg1">
                              <a:lumMod val="65000"/>
                            </a:schemeClr>
                          </a:solidFill>
                          <a:effectLst/>
                          <a:latin typeface="+mn-lt"/>
                        </a:rPr>
                        <a:t>Cross Sell, </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xmlns="" val="3909013438"/>
                  </a:ext>
                </a:extLst>
              </a:tr>
              <a:tr h="253653">
                <a:tc vMerge="1">
                  <a:txBody>
                    <a:bodyPr/>
                    <a:lstStyle/>
                    <a:p>
                      <a:pPr algn="ctr" fontAlgn="b"/>
                      <a:endParaRPr lang="en-US" sz="1100" b="0" i="0" u="none" strike="noStrike" dirty="0">
                        <a:solidFill>
                          <a:srgbClr val="000000"/>
                        </a:solidFill>
                        <a:effectLst/>
                        <a:latin typeface="Calibri" panose="020F0502020204030204" pitchFamily="34" charset="0"/>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6">
                        <a:lumMod val="20000"/>
                        <a:lumOff val="80000"/>
                      </a:schemeClr>
                    </a:solidFill>
                  </a:tcPr>
                </a:tc>
                <a:tc>
                  <a:txBody>
                    <a:bodyPr/>
                    <a:lstStyle/>
                    <a:p>
                      <a:pPr algn="ctr" rtl="0" fontAlgn="ctr"/>
                      <a:r>
                        <a:rPr lang="en-US" sz="1100" u="none" strike="noStrike" dirty="0">
                          <a:effectLst/>
                          <a:latin typeface="+mn-lt"/>
                        </a:rPr>
                        <a:t> </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D8E8F1"/>
                    </a:solidFill>
                  </a:tcPr>
                </a:tc>
                <a:tc>
                  <a:txBody>
                    <a:bodyPr/>
                    <a:lstStyle/>
                    <a:p>
                      <a:pPr algn="l" rtl="0" fontAlgn="ctr"/>
                      <a:r>
                        <a:rPr lang="en-US" sz="1200" b="1" u="none" strike="noStrike" dirty="0">
                          <a:solidFill>
                            <a:srgbClr val="0070C0"/>
                          </a:solidFill>
                          <a:effectLst/>
                          <a:latin typeface="+mn-lt"/>
                        </a:rPr>
                        <a:t>Pricing &amp; Churn Analytics</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xmlns="" val="4055703344"/>
                  </a:ext>
                </a:extLst>
              </a:tr>
              <a:tr h="248352">
                <a:tc>
                  <a:txBody>
                    <a:bodyPr/>
                    <a:lstStyle/>
                    <a:p>
                      <a:pPr algn="ctr" fontAlgn="b"/>
                      <a:r>
                        <a:rPr lang="en-US" sz="1100" u="none" strike="noStrike" dirty="0">
                          <a:effectLst/>
                          <a:latin typeface="+mn-lt"/>
                        </a:rPr>
                        <a:t>Automotive</a:t>
                      </a: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chemeClr val="accent1">
                        <a:lumMod val="20000"/>
                        <a:lumOff val="80000"/>
                      </a:schemeClr>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92D050"/>
                    </a:solidFill>
                  </a:tcPr>
                </a:tc>
                <a:tc>
                  <a:txBody>
                    <a:bodyPr/>
                    <a:lstStyle/>
                    <a:p>
                      <a:pPr algn="ctr" rtl="0" fontAlgn="ctr"/>
                      <a:endParaRPr lang="en-US" sz="1100" b="0" i="0" u="none" strike="noStrike" dirty="0">
                        <a:solidFill>
                          <a:srgbClr val="000000"/>
                        </a:solidFill>
                        <a:effectLst/>
                        <a:latin typeface="+mn-lt"/>
                      </a:endParaRPr>
                    </a:p>
                  </a:txBody>
                  <a:tcPr marL="5186"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solidFill>
                      <a:srgbClr val="D8E8F1"/>
                    </a:solidFill>
                  </a:tcPr>
                </a:tc>
                <a:tc>
                  <a:txBody>
                    <a:bodyPr/>
                    <a:lstStyle/>
                    <a:p>
                      <a:pPr algn="l" rtl="0" fontAlgn="ctr"/>
                      <a:r>
                        <a:rPr lang="en-US" sz="1200" u="none" strike="noStrike" dirty="0">
                          <a:solidFill>
                            <a:schemeClr val="bg1">
                              <a:lumMod val="65000"/>
                            </a:schemeClr>
                          </a:solidFill>
                          <a:effectLst/>
                          <a:latin typeface="+mn-lt"/>
                        </a:rPr>
                        <a:t>Lead Prioritization, </a:t>
                      </a:r>
                      <a:r>
                        <a:rPr lang="en-US" sz="1200" b="1" u="none" strike="noStrike" dirty="0">
                          <a:solidFill>
                            <a:srgbClr val="0070C0"/>
                          </a:solidFill>
                          <a:effectLst/>
                          <a:latin typeface="+mn-lt"/>
                        </a:rPr>
                        <a:t>Dealer Location planning, HR Analytics, AMC Pricing, Procurement, Telematics</a:t>
                      </a:r>
                      <a:endParaRPr lang="en-US" sz="1200" b="1" i="0" u="none" strike="noStrike" dirty="0">
                        <a:solidFill>
                          <a:srgbClr val="0070C0"/>
                        </a:solidFill>
                        <a:effectLst/>
                        <a:latin typeface="+mn-lt"/>
                      </a:endParaRPr>
                    </a:p>
                  </a:txBody>
                  <a:tcPr marR="5186" marT="518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2">
                          <a:lumMod val="50000"/>
                        </a:schemeClr>
                      </a:solidFill>
                      <a:prstDash val="solid"/>
                      <a:round/>
                      <a:headEnd type="none" w="med" len="med"/>
                      <a:tailEnd type="none" w="med" len="med"/>
                    </a:lnT>
                    <a:lnB w="285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xmlns="" val="299628383"/>
                  </a:ext>
                </a:extLst>
              </a:tr>
            </a:tbl>
          </a:graphicData>
        </a:graphic>
      </p:graphicFrame>
      <p:pic>
        <p:nvPicPr>
          <p:cNvPr id="10" name="Picture 9"/>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26559" b="36654"/>
          <a:stretch/>
        </p:blipFill>
        <p:spPr>
          <a:xfrm>
            <a:off x="1331030" y="1786815"/>
            <a:ext cx="840222" cy="309093"/>
          </a:xfrm>
          <a:prstGeom prst="rect">
            <a:avLst/>
          </a:prstGeom>
        </p:spPr>
      </p:pic>
      <p:pic>
        <p:nvPicPr>
          <p:cNvPr id="11" name="Picture 10"/>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51348" y="2120099"/>
            <a:ext cx="546869" cy="197196"/>
          </a:xfrm>
          <a:prstGeom prst="rect">
            <a:avLst/>
          </a:prstGeom>
        </p:spPr>
      </p:pic>
      <p:pic>
        <p:nvPicPr>
          <p:cNvPr id="12" name="Picture 11"/>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t="27024" b="23285"/>
          <a:stretch/>
        </p:blipFill>
        <p:spPr>
          <a:xfrm>
            <a:off x="1362368" y="2583024"/>
            <a:ext cx="777546" cy="257578"/>
          </a:xfrm>
          <a:prstGeom prst="rect">
            <a:avLst/>
          </a:prstGeom>
        </p:spPr>
      </p:pic>
      <p:pic>
        <p:nvPicPr>
          <p:cNvPr id="2054" name="Picture 6" descr="Image result for tata capita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7822" y="2350681"/>
            <a:ext cx="1206639" cy="19230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22951" y="2814297"/>
            <a:ext cx="856380" cy="238332"/>
          </a:xfrm>
          <a:prstGeom prst="rect">
            <a:avLst/>
          </a:prstGeom>
        </p:spPr>
      </p:pic>
      <p:pic>
        <p:nvPicPr>
          <p:cNvPr id="2056" name="Picture 8" descr="https://encrypted-tbn1.gstatic.com/images?q=tbn:ANd9GcRsdvQhND1KYc1fuaVybxRMhExFD9O-IKQg_m39QGqvz6Jnps2A1SLX0YU"/>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88219" y="3096263"/>
            <a:ext cx="724320" cy="1440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282294" y="3330855"/>
            <a:ext cx="900545" cy="207818"/>
          </a:xfrm>
          <a:prstGeom prst="rect">
            <a:avLst/>
          </a:prstGeom>
        </p:spPr>
      </p:pic>
      <p:pic>
        <p:nvPicPr>
          <p:cNvPr id="19" name="Picture 1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362368" y="3563453"/>
            <a:ext cx="668372" cy="202981"/>
          </a:xfrm>
          <a:prstGeom prst="rect">
            <a:avLst/>
          </a:prstGeom>
        </p:spPr>
      </p:pic>
      <p:pic>
        <p:nvPicPr>
          <p:cNvPr id="21" name="Picture 20"/>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98373" y="4038265"/>
            <a:ext cx="305536" cy="258658"/>
          </a:xfrm>
          <a:prstGeom prst="rect">
            <a:avLst/>
          </a:prstGeom>
        </p:spPr>
      </p:pic>
      <p:pic>
        <p:nvPicPr>
          <p:cNvPr id="23" name="Picture 22"/>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222799" y="4617732"/>
            <a:ext cx="1056684" cy="134558"/>
          </a:xfrm>
          <a:prstGeom prst="rect">
            <a:avLst/>
          </a:prstGeom>
        </p:spPr>
      </p:pic>
      <p:pic>
        <p:nvPicPr>
          <p:cNvPr id="27" name="Picture 26"/>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82739" y="4775636"/>
            <a:ext cx="335279" cy="254745"/>
          </a:xfrm>
          <a:prstGeom prst="rect">
            <a:avLst/>
          </a:prstGeom>
        </p:spPr>
      </p:pic>
      <p:pic>
        <p:nvPicPr>
          <p:cNvPr id="29" name="Picture 28"/>
          <p:cNvPicPr>
            <a:picLocks noChangeAspect="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95155" y="5039967"/>
            <a:ext cx="710446" cy="252522"/>
          </a:xfrm>
          <a:prstGeom prst="rect">
            <a:avLst/>
          </a:prstGeom>
        </p:spPr>
      </p:pic>
      <p:pic>
        <p:nvPicPr>
          <p:cNvPr id="30" name="Picture 2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259884" y="5357539"/>
            <a:ext cx="980988" cy="117718"/>
          </a:xfrm>
          <a:prstGeom prst="rect">
            <a:avLst/>
          </a:prstGeom>
        </p:spPr>
      </p:pic>
      <p:pic>
        <p:nvPicPr>
          <p:cNvPr id="2070" name="Picture 22" descr="https://encrypted-tbn1.gstatic.com/images?q=tbn:ANd9GcTbvG83s0iQeUfkZ2C2SSSJY1VrzyzsjILyr9E2dAWD9khDe3Z2AJ8iiA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259740" y="6102925"/>
            <a:ext cx="1057669" cy="135115"/>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3"/>
          <p:cNvSpPr/>
          <p:nvPr/>
        </p:nvSpPr>
        <p:spPr>
          <a:xfrm>
            <a:off x="2966017" y="237066"/>
            <a:ext cx="6260048" cy="523220"/>
          </a:xfrm>
          <a:prstGeom prst="rect">
            <a:avLst/>
          </a:prstGeom>
          <a:solidFill>
            <a:schemeClr val="bg1"/>
          </a:solidFill>
        </p:spPr>
        <p:txBody>
          <a:bodyPr wrap="none" anchor="ctr">
            <a:spAutoFit/>
          </a:bodyPr>
          <a:lstStyle/>
          <a:p>
            <a:pPr algn="ctr">
              <a:defRPr/>
            </a:pPr>
            <a:r>
              <a:rPr lang="en-IN" sz="2800" b="1" kern="0" dirty="0">
                <a:solidFill>
                  <a:srgbClr val="0070C0"/>
                </a:solidFill>
                <a:latin typeface="Leelawadee UI" panose="020B0502040204020203" pitchFamily="34" charset="-34"/>
                <a:cs typeface="Leelawadee UI" panose="020B0502040204020203" pitchFamily="34" charset="-34"/>
              </a:rPr>
              <a:t>Summary of Analytics Engagements</a:t>
            </a:r>
          </a:p>
        </p:txBody>
      </p:sp>
      <p:sp>
        <p:nvSpPr>
          <p:cNvPr id="46" name="TextBox 45"/>
          <p:cNvSpPr txBox="1"/>
          <p:nvPr/>
        </p:nvSpPr>
        <p:spPr>
          <a:xfrm>
            <a:off x="2674069" y="1180050"/>
            <a:ext cx="1640354" cy="253916"/>
          </a:xfrm>
          <a:prstGeom prst="rect">
            <a:avLst/>
          </a:prstGeom>
          <a:solidFill>
            <a:schemeClr val="accent1">
              <a:lumMod val="20000"/>
              <a:lumOff val="80000"/>
              <a:alpha val="57000"/>
            </a:schemeClr>
          </a:solidFill>
          <a:ln>
            <a:solidFill>
              <a:schemeClr val="bg1">
                <a:lumMod val="75000"/>
              </a:schemeClr>
            </a:solidFill>
          </a:ln>
        </p:spPr>
        <p:txBody>
          <a:bodyPr wrap="square" rtlCol="0">
            <a:spAutoFit/>
          </a:bodyPr>
          <a:lstStyle/>
          <a:p>
            <a:pPr algn="ctr">
              <a:defRPr/>
            </a:pPr>
            <a:r>
              <a:rPr lang="en-US" sz="1050" b="1" kern="0" dirty="0">
                <a:solidFill>
                  <a:srgbClr val="418AB3">
                    <a:lumMod val="75000"/>
                  </a:srgbClr>
                </a:solidFill>
                <a:latin typeface="Century Gothic" panose="020B0502020202020204" pitchFamily="34" charset="0"/>
              </a:rPr>
              <a:t>As on Dec 11th, 2016</a:t>
            </a:r>
          </a:p>
        </p:txBody>
      </p:sp>
      <p:sp>
        <p:nvSpPr>
          <p:cNvPr id="2049" name="Rectangle 2048"/>
          <p:cNvSpPr/>
          <p:nvPr/>
        </p:nvSpPr>
        <p:spPr>
          <a:xfrm>
            <a:off x="-25399" y="656830"/>
            <a:ext cx="12191999" cy="523220"/>
          </a:xfrm>
          <a:prstGeom prst="rect">
            <a:avLst/>
          </a:prstGeom>
        </p:spPr>
        <p:txBody>
          <a:bodyPr wrap="square">
            <a:spAutoFit/>
          </a:bodyPr>
          <a:lstStyle/>
          <a:p>
            <a:pPr algn="ctr">
              <a:defRPr/>
            </a:pPr>
            <a:r>
              <a:rPr lang="en-US" sz="1400" i="1" kern="0" dirty="0">
                <a:solidFill>
                  <a:srgbClr val="2585C9"/>
                </a:solidFill>
                <a:latin typeface="Century Gothic" panose="020B0502020202020204" pitchFamily="34" charset="0"/>
              </a:rPr>
              <a:t>Active engagements with </a:t>
            </a:r>
            <a:r>
              <a:rPr lang="en-US" sz="1400" b="1" i="1" kern="0" dirty="0">
                <a:solidFill>
                  <a:srgbClr val="2585C9"/>
                </a:solidFill>
                <a:latin typeface="Century Gothic" panose="020B0502020202020204" pitchFamily="34" charset="0"/>
              </a:rPr>
              <a:t>18 Group companies </a:t>
            </a:r>
            <a:r>
              <a:rPr lang="en-US" sz="1400" i="1" kern="0" dirty="0">
                <a:solidFill>
                  <a:srgbClr val="2585C9"/>
                </a:solidFill>
                <a:latin typeface="Century Gothic" panose="020B0502020202020204" pitchFamily="34" charset="0"/>
              </a:rPr>
              <a:t>across a diverse set of initiatives ranging from Customer, Operations, Pricing, Risk management, Digital, and Geo location based decision management. </a:t>
            </a:r>
          </a:p>
        </p:txBody>
      </p:sp>
      <p:sp>
        <p:nvSpPr>
          <p:cNvPr id="48" name="Rectangle 47"/>
          <p:cNvSpPr/>
          <p:nvPr/>
        </p:nvSpPr>
        <p:spPr>
          <a:xfrm>
            <a:off x="408111" y="6583655"/>
            <a:ext cx="1552918" cy="19686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050" b="1" kern="0" dirty="0">
                <a:solidFill>
                  <a:srgbClr val="000000"/>
                </a:solidFill>
                <a:latin typeface="Century Gothic" panose="020B0502020202020204" pitchFamily="34" charset="0"/>
              </a:rPr>
              <a:t>PoC Stage</a:t>
            </a:r>
          </a:p>
        </p:txBody>
      </p:sp>
      <p:sp>
        <p:nvSpPr>
          <p:cNvPr id="49" name="Rectangle 48"/>
          <p:cNvSpPr/>
          <p:nvPr/>
        </p:nvSpPr>
        <p:spPr>
          <a:xfrm>
            <a:off x="2031094" y="6583655"/>
            <a:ext cx="1758846" cy="189609"/>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050" b="1" kern="0" dirty="0">
                <a:solidFill>
                  <a:prstClr val="white"/>
                </a:solidFill>
                <a:latin typeface="Century Gothic" panose="020B0502020202020204" pitchFamily="34" charset="0"/>
              </a:rPr>
              <a:t>Turnkey / full Partnership</a:t>
            </a:r>
          </a:p>
        </p:txBody>
      </p:sp>
      <p:pic>
        <p:nvPicPr>
          <p:cNvPr id="35" name="Picture 34"/>
          <p:cNvPicPr>
            <a:picLocks noChangeAspect="1"/>
          </p:cNvPicPr>
          <p:nvPr/>
        </p:nvPicPr>
        <p:blipFill rotWithShape="1">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rcRect t="33219" b="33945"/>
          <a:stretch/>
        </p:blipFill>
        <p:spPr>
          <a:xfrm>
            <a:off x="1228022" y="4329748"/>
            <a:ext cx="1046238" cy="232732"/>
          </a:xfrm>
          <a:prstGeom prst="rect">
            <a:avLst/>
          </a:prstGeom>
        </p:spPr>
      </p:pic>
      <p:pic>
        <p:nvPicPr>
          <p:cNvPr id="36" name="Picture 35"/>
          <p:cNvPicPr>
            <a:picLocks noChangeAspect="1"/>
          </p:cNvPicPr>
          <p:nvPr/>
        </p:nvPicPr>
        <p:blipFill rotWithShape="1">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t="31982" b="32714"/>
          <a:stretch/>
        </p:blipFill>
        <p:spPr>
          <a:xfrm>
            <a:off x="1279499" y="5781757"/>
            <a:ext cx="1204913" cy="257578"/>
          </a:xfrm>
          <a:prstGeom prst="rect">
            <a:avLst/>
          </a:prstGeom>
        </p:spPr>
      </p:pic>
      <p:sp>
        <p:nvSpPr>
          <p:cNvPr id="26" name="Rectangle 25"/>
          <p:cNvSpPr/>
          <p:nvPr/>
        </p:nvSpPr>
        <p:spPr>
          <a:xfrm>
            <a:off x="3860005" y="6595511"/>
            <a:ext cx="1224000" cy="189609"/>
          </a:xfrm>
          <a:prstGeom prst="rect">
            <a:avLst/>
          </a:prstGeom>
          <a:solidFill>
            <a:srgbClr val="F9DD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050" b="1" kern="0" dirty="0">
                <a:solidFill>
                  <a:srgbClr val="000000"/>
                </a:solidFill>
                <a:latin typeface="Century Gothic" panose="020B0502020202020204" pitchFamily="34" charset="0"/>
              </a:rPr>
              <a:t>PoC yet to start</a:t>
            </a:r>
          </a:p>
        </p:txBody>
      </p:sp>
      <p:pic>
        <p:nvPicPr>
          <p:cNvPr id="3" name="Picture 2"/>
          <p:cNvPicPr>
            <a:picLocks noChangeAspect="1"/>
          </p:cNvPicPr>
          <p:nvPr/>
        </p:nvPicPr>
        <p:blipFill>
          <a:blip r:embed="rId19"/>
          <a:stretch>
            <a:fillRect/>
          </a:stretch>
        </p:blipFill>
        <p:spPr>
          <a:xfrm>
            <a:off x="1422417" y="3821686"/>
            <a:ext cx="575800" cy="170885"/>
          </a:xfrm>
          <a:prstGeom prst="rect">
            <a:avLst/>
          </a:prstGeom>
        </p:spPr>
      </p:pic>
      <p:pic>
        <p:nvPicPr>
          <p:cNvPr id="7" name="Picture 6"/>
          <p:cNvPicPr>
            <a:picLocks noChangeAspect="1"/>
          </p:cNvPicPr>
          <p:nvPr/>
        </p:nvPicPr>
        <p:blipFill>
          <a:blip r:embed="rId20"/>
          <a:stretch>
            <a:fillRect/>
          </a:stretch>
        </p:blipFill>
        <p:spPr>
          <a:xfrm>
            <a:off x="1345226" y="5591506"/>
            <a:ext cx="774679" cy="166826"/>
          </a:xfrm>
          <a:prstGeom prst="rect">
            <a:avLst/>
          </a:prstGeom>
        </p:spPr>
      </p:pic>
    </p:spTree>
    <p:extLst>
      <p:ext uri="{BB962C8B-B14F-4D97-AF65-F5344CB8AC3E}">
        <p14:creationId xmlns:p14="http://schemas.microsoft.com/office/powerpoint/2010/main" val="270042734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ikWV5Nz1USE7H82Y_O7i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TQQTwg5kky6XP36LMEB6A"/>
</p:tagLst>
</file>

<file path=ppt/theme/theme1.xml><?xml version="1.0" encoding="utf-8"?>
<a:theme xmlns:a="http://schemas.openxmlformats.org/drawingml/2006/main" name="2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6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16040</TotalTime>
  <Words>3738</Words>
  <Application>Microsoft Office PowerPoint</Application>
  <PresentationFormat>Widescreen</PresentationFormat>
  <Paragraphs>703</Paragraphs>
  <Slides>31</Slides>
  <Notes>17</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31</vt:i4>
      </vt:variant>
    </vt:vector>
  </HeadingPairs>
  <TitlesOfParts>
    <vt:vector size="46" baseType="lpstr">
      <vt:lpstr>Adobe Clean Light</vt:lpstr>
      <vt:lpstr>Arial</vt:lpstr>
      <vt:lpstr>Calibri</vt:lpstr>
      <vt:lpstr>Calibri Light</vt:lpstr>
      <vt:lpstr>Century Gothic</vt:lpstr>
      <vt:lpstr>Leelawadee UI</vt:lpstr>
      <vt:lpstr>Symbol</vt:lpstr>
      <vt:lpstr>Times New Roman</vt:lpstr>
      <vt:lpstr>Wingdings</vt:lpstr>
      <vt:lpstr>Wingdings 3</vt:lpstr>
      <vt:lpstr>2_Office Theme</vt:lpstr>
      <vt:lpstr>1_Office Theme</vt:lpstr>
      <vt:lpstr>3_Office Theme</vt:lpstr>
      <vt:lpstr>6_Office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Hindol Basu</cp:lastModifiedBy>
  <cp:revision>843</cp:revision>
  <dcterms:created xsi:type="dcterms:W3CDTF">2016-01-28T03:55:22Z</dcterms:created>
  <dcterms:modified xsi:type="dcterms:W3CDTF">2016-12-19T06:18:08Z</dcterms:modified>
</cp:coreProperties>
</file>
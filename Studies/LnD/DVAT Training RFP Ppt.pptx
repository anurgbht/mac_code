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 id="2147483696" r:id="rId4"/>
    <p:sldMasterId id="2147483709" r:id="rId5"/>
  </p:sldMasterIdLst>
  <p:notesMasterIdLst>
    <p:notesMasterId r:id="rId23"/>
  </p:notesMasterIdLst>
  <p:sldIdLst>
    <p:sldId id="257" r:id="rId6"/>
    <p:sldId id="269" r:id="rId7"/>
    <p:sldId id="270" r:id="rId8"/>
    <p:sldId id="272" r:id="rId9"/>
    <p:sldId id="271" r:id="rId10"/>
    <p:sldId id="274" r:id="rId11"/>
    <p:sldId id="273" r:id="rId12"/>
    <p:sldId id="258" r:id="rId13"/>
    <p:sldId id="259" r:id="rId14"/>
    <p:sldId id="262" r:id="rId15"/>
    <p:sldId id="261" r:id="rId16"/>
    <p:sldId id="268" r:id="rId17"/>
    <p:sldId id="264" r:id="rId18"/>
    <p:sldId id="263" r:id="rId19"/>
    <p:sldId id="266" r:id="rId20"/>
    <p:sldId id="265" r:id="rId21"/>
    <p:sldId id="26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EC280A-95C2-4D69-8784-F0E8F3F8105D}" type="datetimeFigureOut">
              <a:rPr lang="en-IN" smtClean="0"/>
              <a:t>22-11-2016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A6F103-87BC-4DA4-8FA5-E229699B781A}" type="slidenum">
              <a:rPr lang="en-IN" smtClean="0"/>
              <a:t>‹#›</a:t>
            </a:fld>
            <a:endParaRPr lang="en-IN"/>
          </a:p>
        </p:txBody>
      </p:sp>
    </p:spTree>
    <p:extLst>
      <p:ext uri="{BB962C8B-B14F-4D97-AF65-F5344CB8AC3E}">
        <p14:creationId xmlns:p14="http://schemas.microsoft.com/office/powerpoint/2010/main" val="112421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C922AD0-3546-44A3-A368-81335D1AFDE3}" type="slidenum">
              <a:rPr lang="en-IN" smtClean="0">
                <a:solidFill>
                  <a:prstClr val="black"/>
                </a:solidFill>
              </a:rPr>
              <a:pPr/>
              <a:t>2</a:t>
            </a:fld>
            <a:endParaRPr lang="en-IN" dirty="0">
              <a:solidFill>
                <a:prstClr val="black"/>
              </a:solidFill>
            </a:endParaRPr>
          </a:p>
        </p:txBody>
      </p:sp>
    </p:spTree>
    <p:extLst>
      <p:ext uri="{BB962C8B-B14F-4D97-AF65-F5344CB8AC3E}">
        <p14:creationId xmlns:p14="http://schemas.microsoft.com/office/powerpoint/2010/main" val="1499463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C922AD0-3546-44A3-A368-81335D1AFDE3}" type="slidenum">
              <a:rPr lang="en-IN" smtClean="0">
                <a:solidFill>
                  <a:prstClr val="black"/>
                </a:solidFill>
              </a:rPr>
              <a:pPr/>
              <a:t>3</a:t>
            </a:fld>
            <a:endParaRPr lang="en-IN" dirty="0">
              <a:solidFill>
                <a:prstClr val="black"/>
              </a:solidFill>
            </a:endParaRPr>
          </a:p>
        </p:txBody>
      </p:sp>
    </p:spTree>
    <p:extLst>
      <p:ext uri="{BB962C8B-B14F-4D97-AF65-F5344CB8AC3E}">
        <p14:creationId xmlns:p14="http://schemas.microsoft.com/office/powerpoint/2010/main" val="19727048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C922AD0-3546-44A3-A368-81335D1AFDE3}" type="slidenum">
              <a:rPr lang="en-IN" smtClean="0">
                <a:solidFill>
                  <a:prstClr val="black"/>
                </a:solidFill>
              </a:rPr>
              <a:pPr/>
              <a:t>13</a:t>
            </a:fld>
            <a:endParaRPr lang="en-IN">
              <a:solidFill>
                <a:prstClr val="black"/>
              </a:solidFill>
            </a:endParaRPr>
          </a:p>
        </p:txBody>
      </p:sp>
    </p:spTree>
    <p:extLst>
      <p:ext uri="{BB962C8B-B14F-4D97-AF65-F5344CB8AC3E}">
        <p14:creationId xmlns:p14="http://schemas.microsoft.com/office/powerpoint/2010/main" val="27487512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12790738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58668227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7572164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412665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8" name="Footer Placeholder 7"/>
          <p:cNvSpPr>
            <a:spLocks noGrp="1"/>
          </p:cNvSpPr>
          <p:nvPr>
            <p:ph type="ftr" sz="quarter" idx="11"/>
          </p:nvPr>
        </p:nvSpPr>
        <p:spPr/>
        <p:txBody>
          <a:bodyPr/>
          <a:lstStyle/>
          <a:p>
            <a:endParaRPr lang="en-IN" dirty="0">
              <a:solidFill>
                <a:srgbClr val="000000">
                  <a:tint val="75000"/>
                </a:srgbClr>
              </a:solidFill>
            </a:endParaRPr>
          </a:p>
        </p:txBody>
      </p:sp>
      <p:sp>
        <p:nvSpPr>
          <p:cNvPr id="9" name="Slide Number Placeholder 8"/>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83055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4" name="Footer Placeholder 3"/>
          <p:cNvSpPr>
            <a:spLocks noGrp="1"/>
          </p:cNvSpPr>
          <p:nvPr>
            <p:ph type="ftr" sz="quarter" idx="11"/>
          </p:nvPr>
        </p:nvSpPr>
        <p:spPr/>
        <p:txBody>
          <a:bodyPr/>
          <a:lstStyle/>
          <a:p>
            <a:endParaRPr lang="en-IN" dirty="0">
              <a:solidFill>
                <a:srgbClr val="000000">
                  <a:tint val="75000"/>
                </a:srgbClr>
              </a:solidFill>
            </a:endParaRPr>
          </a:p>
        </p:txBody>
      </p:sp>
      <p:sp>
        <p:nvSpPr>
          <p:cNvPr id="5" name="Slide Number Placeholder 4"/>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247063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3" name="Footer Placeholder 2"/>
          <p:cNvSpPr>
            <a:spLocks noGrp="1"/>
          </p:cNvSpPr>
          <p:nvPr>
            <p:ph type="ftr" sz="quarter" idx="11"/>
          </p:nvPr>
        </p:nvSpPr>
        <p:spPr/>
        <p:txBody>
          <a:bodyPr/>
          <a:lstStyle/>
          <a:p>
            <a:endParaRPr lang="en-IN" dirty="0">
              <a:solidFill>
                <a:srgbClr val="000000">
                  <a:tint val="75000"/>
                </a:srgbClr>
              </a:solidFill>
            </a:endParaRPr>
          </a:p>
        </p:txBody>
      </p:sp>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1114932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700183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61496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179064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321285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2C70331-5D15-4227-BB8E-CD7ECE159DC5}" type="datetime1">
              <a:rPr lang="en-IN" smtClean="0">
                <a:solidFill>
                  <a:srgbClr val="000000">
                    <a:tint val="75000"/>
                  </a:srgbClr>
                </a:solidFill>
              </a:rPr>
              <a:pPr/>
              <a:t>22-11-2016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9493364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9D340F-73A4-46C1-9348-2DA5D3FA2B5B}" type="datetime1">
              <a:rPr lang="en-IN" smtClean="0">
                <a:solidFill>
                  <a:srgbClr val="000000">
                    <a:tint val="75000"/>
                  </a:srgbClr>
                </a:solidFill>
              </a:rPr>
              <a:pPr/>
              <a:t>22-11-2016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1112837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4F73F8-C9F7-4BDB-BF89-00C405F88CA4}" type="datetime1">
              <a:rPr lang="en-IN" smtClean="0">
                <a:solidFill>
                  <a:srgbClr val="000000">
                    <a:tint val="75000"/>
                  </a:srgbClr>
                </a:solidFill>
              </a:rPr>
              <a:pPr/>
              <a:t>22-11-2016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574734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FAEDB53-CF0D-4812-A7DC-C70A68DB7777}" type="datetime1">
              <a:rPr lang="en-IN" smtClean="0">
                <a:solidFill>
                  <a:srgbClr val="000000">
                    <a:tint val="75000"/>
                  </a:srgbClr>
                </a:solidFill>
              </a:rPr>
              <a:pPr/>
              <a:t>22-11-2016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519758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3C723E-235F-4FCD-8B58-27D1DF33C245}" type="datetime1">
              <a:rPr lang="en-IN" smtClean="0">
                <a:solidFill>
                  <a:srgbClr val="000000">
                    <a:tint val="75000"/>
                  </a:srgbClr>
                </a:solidFill>
              </a:rPr>
              <a:pPr/>
              <a:t>22-11-2016</a:t>
            </a:fld>
            <a:endParaRPr lang="en-IN" dirty="0">
              <a:solidFill>
                <a:srgbClr val="000000">
                  <a:tint val="75000"/>
                </a:srgbClr>
              </a:solidFill>
            </a:endParaRPr>
          </a:p>
        </p:txBody>
      </p:sp>
      <p:sp>
        <p:nvSpPr>
          <p:cNvPr id="8" name="Footer Placeholder 7"/>
          <p:cNvSpPr>
            <a:spLocks noGrp="1"/>
          </p:cNvSpPr>
          <p:nvPr>
            <p:ph type="ftr" sz="quarter" idx="11"/>
          </p:nvPr>
        </p:nvSpPr>
        <p:spPr/>
        <p:txBody>
          <a:bodyPr/>
          <a:lstStyle/>
          <a:p>
            <a:endParaRPr lang="en-IN" dirty="0">
              <a:solidFill>
                <a:srgbClr val="000000">
                  <a:tint val="75000"/>
                </a:srgbClr>
              </a:solidFill>
            </a:endParaRPr>
          </a:p>
        </p:txBody>
      </p:sp>
      <p:sp>
        <p:nvSpPr>
          <p:cNvPr id="9" name="Slide Number Placeholder 8"/>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8536823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CEEA07-DE76-4FFB-B900-3D892DF5CD8B}" type="datetime1">
              <a:rPr lang="en-IN" smtClean="0">
                <a:solidFill>
                  <a:srgbClr val="000000">
                    <a:tint val="75000"/>
                  </a:srgbClr>
                </a:solidFill>
              </a:rPr>
              <a:pPr/>
              <a:t>22-11-2016</a:t>
            </a:fld>
            <a:endParaRPr lang="en-IN" dirty="0">
              <a:solidFill>
                <a:srgbClr val="000000">
                  <a:tint val="75000"/>
                </a:srgbClr>
              </a:solidFill>
            </a:endParaRPr>
          </a:p>
        </p:txBody>
      </p:sp>
      <p:sp>
        <p:nvSpPr>
          <p:cNvPr id="4" name="Footer Placeholder 3"/>
          <p:cNvSpPr>
            <a:spLocks noGrp="1"/>
          </p:cNvSpPr>
          <p:nvPr>
            <p:ph type="ftr" sz="quarter" idx="11"/>
          </p:nvPr>
        </p:nvSpPr>
        <p:spPr/>
        <p:txBody>
          <a:bodyPr/>
          <a:lstStyle/>
          <a:p>
            <a:endParaRPr lang="en-IN" dirty="0">
              <a:solidFill>
                <a:srgbClr val="000000">
                  <a:tint val="75000"/>
                </a:srgbClr>
              </a:solidFill>
            </a:endParaRPr>
          </a:p>
        </p:txBody>
      </p:sp>
      <p:sp>
        <p:nvSpPr>
          <p:cNvPr id="5" name="Slide Number Placeholder 4"/>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2393433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AB9AD8-AF5B-46AA-A080-60AC6C3C6BA7}" type="datetime1">
              <a:rPr lang="en-IN" smtClean="0">
                <a:solidFill>
                  <a:srgbClr val="000000">
                    <a:tint val="75000"/>
                  </a:srgbClr>
                </a:solidFill>
              </a:rPr>
              <a:pPr/>
              <a:t>22-11-2016</a:t>
            </a:fld>
            <a:endParaRPr lang="en-IN" dirty="0">
              <a:solidFill>
                <a:srgbClr val="000000">
                  <a:tint val="75000"/>
                </a:srgbClr>
              </a:solidFill>
            </a:endParaRPr>
          </a:p>
        </p:txBody>
      </p:sp>
      <p:sp>
        <p:nvSpPr>
          <p:cNvPr id="3" name="Footer Placeholder 2"/>
          <p:cNvSpPr>
            <a:spLocks noGrp="1"/>
          </p:cNvSpPr>
          <p:nvPr>
            <p:ph type="ftr" sz="quarter" idx="11"/>
          </p:nvPr>
        </p:nvSpPr>
        <p:spPr/>
        <p:txBody>
          <a:bodyPr/>
          <a:lstStyle/>
          <a:p>
            <a:endParaRPr lang="en-IN" dirty="0">
              <a:solidFill>
                <a:srgbClr val="000000">
                  <a:tint val="75000"/>
                </a:srgbClr>
              </a:solidFill>
            </a:endParaRPr>
          </a:p>
        </p:txBody>
      </p:sp>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6287770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A93B3B0-8D0E-44B4-8AC3-AE3FB47C25C7}" type="datetime1">
              <a:rPr lang="en-IN" smtClean="0">
                <a:solidFill>
                  <a:srgbClr val="000000">
                    <a:tint val="75000"/>
                  </a:srgbClr>
                </a:solidFill>
              </a:rPr>
              <a:pPr/>
              <a:t>22-11-2016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0448654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8BAB754-67B6-490D-BE85-CC10965643FC}" type="datetime1">
              <a:rPr lang="en-IN" smtClean="0">
                <a:solidFill>
                  <a:srgbClr val="000000">
                    <a:tint val="75000"/>
                  </a:srgbClr>
                </a:solidFill>
              </a:rPr>
              <a:pPr/>
              <a:t>22-11-2016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9337296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EA4216-9C81-4BEB-A82B-40C2D5367460}" type="datetime1">
              <a:rPr lang="en-IN" smtClean="0">
                <a:solidFill>
                  <a:srgbClr val="000000">
                    <a:tint val="75000"/>
                  </a:srgbClr>
                </a:solidFill>
              </a:rPr>
              <a:pPr/>
              <a:t>22-11-2016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3105641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FA8BC5-A94E-4AC6-821C-18FA81972737}" type="datetime1">
              <a:rPr lang="en-IN" smtClean="0">
                <a:solidFill>
                  <a:srgbClr val="000000">
                    <a:tint val="75000"/>
                  </a:srgbClr>
                </a:solidFill>
              </a:rPr>
              <a:pPr/>
              <a:t>22-11-2016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0436334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0715522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6232674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61052160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3636271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8" name="Footer Placeholder 7"/>
          <p:cNvSpPr>
            <a:spLocks noGrp="1"/>
          </p:cNvSpPr>
          <p:nvPr>
            <p:ph type="ftr" sz="quarter" idx="11"/>
          </p:nvPr>
        </p:nvSpPr>
        <p:spPr/>
        <p:txBody>
          <a:bodyPr/>
          <a:lstStyle/>
          <a:p>
            <a:endParaRPr lang="en-IN" dirty="0">
              <a:solidFill>
                <a:srgbClr val="000000">
                  <a:tint val="75000"/>
                </a:srgbClr>
              </a:solidFill>
            </a:endParaRPr>
          </a:p>
        </p:txBody>
      </p:sp>
      <p:sp>
        <p:nvSpPr>
          <p:cNvPr id="9" name="Slide Number Placeholder 8"/>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8419056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4" name="Footer Placeholder 3"/>
          <p:cNvSpPr>
            <a:spLocks noGrp="1"/>
          </p:cNvSpPr>
          <p:nvPr>
            <p:ph type="ftr" sz="quarter" idx="11"/>
          </p:nvPr>
        </p:nvSpPr>
        <p:spPr/>
        <p:txBody>
          <a:bodyPr/>
          <a:lstStyle/>
          <a:p>
            <a:endParaRPr lang="en-IN" dirty="0">
              <a:solidFill>
                <a:srgbClr val="000000">
                  <a:tint val="75000"/>
                </a:srgbClr>
              </a:solidFill>
            </a:endParaRPr>
          </a:p>
        </p:txBody>
      </p:sp>
      <p:sp>
        <p:nvSpPr>
          <p:cNvPr id="5" name="Slide Number Placeholder 4"/>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31302880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3" name="Footer Placeholder 2"/>
          <p:cNvSpPr>
            <a:spLocks noGrp="1"/>
          </p:cNvSpPr>
          <p:nvPr>
            <p:ph type="ftr" sz="quarter" idx="11"/>
          </p:nvPr>
        </p:nvSpPr>
        <p:spPr/>
        <p:txBody>
          <a:bodyPr/>
          <a:lstStyle/>
          <a:p>
            <a:endParaRPr lang="en-IN" dirty="0">
              <a:solidFill>
                <a:srgbClr val="000000">
                  <a:tint val="75000"/>
                </a:srgbClr>
              </a:solidFill>
            </a:endParaRPr>
          </a:p>
        </p:txBody>
      </p:sp>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406177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9936432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5291510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42731146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2988734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3891211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66613490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08896682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2848846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8" name="Footer Placeholder 7"/>
          <p:cNvSpPr>
            <a:spLocks noGrp="1"/>
          </p:cNvSpPr>
          <p:nvPr>
            <p:ph type="ftr" sz="quarter" idx="11"/>
          </p:nvPr>
        </p:nvSpPr>
        <p:spPr/>
        <p:txBody>
          <a:bodyPr/>
          <a:lstStyle/>
          <a:p>
            <a:endParaRPr lang="en-IN" dirty="0">
              <a:solidFill>
                <a:srgbClr val="000000">
                  <a:tint val="75000"/>
                </a:srgbClr>
              </a:solidFill>
            </a:endParaRPr>
          </a:p>
        </p:txBody>
      </p:sp>
      <p:sp>
        <p:nvSpPr>
          <p:cNvPr id="9" name="Slide Number Placeholder 8"/>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96478474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4" name="Footer Placeholder 3"/>
          <p:cNvSpPr>
            <a:spLocks noGrp="1"/>
          </p:cNvSpPr>
          <p:nvPr>
            <p:ph type="ftr" sz="quarter" idx="11"/>
          </p:nvPr>
        </p:nvSpPr>
        <p:spPr/>
        <p:txBody>
          <a:bodyPr/>
          <a:lstStyle/>
          <a:p>
            <a:endParaRPr lang="en-IN" dirty="0">
              <a:solidFill>
                <a:srgbClr val="000000">
                  <a:tint val="75000"/>
                </a:srgbClr>
              </a:solidFill>
            </a:endParaRPr>
          </a:p>
        </p:txBody>
      </p:sp>
      <p:sp>
        <p:nvSpPr>
          <p:cNvPr id="5" name="Slide Number Placeholder 4"/>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7287015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3" name="Footer Placeholder 2"/>
          <p:cNvSpPr>
            <a:spLocks noGrp="1"/>
          </p:cNvSpPr>
          <p:nvPr>
            <p:ph type="ftr" sz="quarter" idx="11"/>
          </p:nvPr>
        </p:nvSpPr>
        <p:spPr/>
        <p:txBody>
          <a:bodyPr/>
          <a:lstStyle/>
          <a:p>
            <a:endParaRPr lang="en-IN" dirty="0">
              <a:solidFill>
                <a:srgbClr val="000000">
                  <a:tint val="75000"/>
                </a:srgbClr>
              </a:solidFill>
            </a:endParaRPr>
          </a:p>
        </p:txBody>
      </p:sp>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94998706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36024650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47819923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4035413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22-11-2016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6093171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2C1B97-C155-4CFC-AA97-CF72E949F1D8}" type="datetime1">
              <a:rPr lang="en-US" smtClean="0">
                <a:solidFill>
                  <a:srgbClr val="ACD433"/>
                </a:solidFill>
              </a:rPr>
              <a:pPr/>
              <a:t>11/22/2016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6" name="Text Placeholder 9"/>
          <p:cNvSpPr>
            <a:spLocks noGrp="1"/>
          </p:cNvSpPr>
          <p:nvPr>
            <p:ph type="body" sz="quarter" idx="13"/>
          </p:nvPr>
        </p:nvSpPr>
        <p:spPr>
          <a:xfrm>
            <a:off x="528357" y="1217086"/>
            <a:ext cx="11113180" cy="582362"/>
          </a:xfrm>
        </p:spPr>
        <p:txBody>
          <a:bodyPr>
            <a:normAutofit/>
          </a:bodyPr>
          <a:lstStyle>
            <a:lvl1pPr marL="0" indent="0">
              <a:buNone/>
              <a:defRPr sz="1800">
                <a:solidFill>
                  <a:schemeClr val="tx2">
                    <a:lumMod val="60000"/>
                    <a:lumOff val="40000"/>
                  </a:schemeClr>
                </a:solidFill>
              </a:defRPr>
            </a:lvl1pPr>
          </a:lstStyle>
          <a:p>
            <a:pPr lvl="0"/>
            <a:endParaRPr lang="en-IN" dirty="0"/>
          </a:p>
        </p:txBody>
      </p:sp>
    </p:spTree>
    <p:extLst>
      <p:ext uri="{BB962C8B-B14F-4D97-AF65-F5344CB8AC3E}">
        <p14:creationId xmlns:p14="http://schemas.microsoft.com/office/powerpoint/2010/main" val="342720007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B2FF8D3-827B-46C7-970B-BED96715392A}" type="datetimeFigureOut">
              <a:rPr lang="en-IN" smtClean="0">
                <a:solidFill>
                  <a:prstClr val="black">
                    <a:tint val="75000"/>
                  </a:prstClr>
                </a:solidFill>
              </a:rPr>
              <a:pPr/>
              <a:t>22-11-2016</a:t>
            </a:fld>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IN"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304417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B2FF8D3-827B-46C7-970B-BED96715392A}" type="datetimeFigureOut">
              <a:rPr lang="en-IN" smtClean="0">
                <a:solidFill>
                  <a:prstClr val="black">
                    <a:tint val="75000"/>
                  </a:prstClr>
                </a:solidFill>
              </a:rPr>
              <a:pPr/>
              <a:t>22-11-2016</a:t>
            </a:fld>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IN"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6941791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B2FF8D3-827B-46C7-970B-BED96715392A}" type="datetimeFigureOut">
              <a:rPr lang="en-IN" smtClean="0">
                <a:solidFill>
                  <a:prstClr val="black">
                    <a:tint val="75000"/>
                  </a:prstClr>
                </a:solidFill>
              </a:rPr>
              <a:pPr/>
              <a:t>22-11-2016</a:t>
            </a:fld>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IN"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58423975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B2FF8D3-827B-46C7-970B-BED96715392A}" type="datetimeFigureOut">
              <a:rPr lang="en-IN" smtClean="0">
                <a:solidFill>
                  <a:prstClr val="black">
                    <a:tint val="75000"/>
                  </a:prstClr>
                </a:solidFill>
              </a:rPr>
              <a:pPr/>
              <a:t>22-11-2016</a:t>
            </a:fld>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IN"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47286809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B2FF8D3-827B-46C7-970B-BED96715392A}" type="datetimeFigureOut">
              <a:rPr lang="en-IN" smtClean="0">
                <a:solidFill>
                  <a:prstClr val="black">
                    <a:tint val="75000"/>
                  </a:prstClr>
                </a:solidFill>
              </a:rPr>
              <a:pPr/>
              <a:t>22-11-2016</a:t>
            </a:fld>
            <a:endParaRPr lang="en-IN"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IN"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3040F425-731D-4835-A38A-9545B9CAE996}"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8784555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B2FF8D3-827B-46C7-970B-BED96715392A}" type="datetimeFigureOut">
              <a:rPr lang="en-IN" smtClean="0">
                <a:solidFill>
                  <a:prstClr val="black">
                    <a:tint val="75000"/>
                  </a:prstClr>
                </a:solidFill>
              </a:rPr>
              <a:pPr/>
              <a:t>22-11-2016</a:t>
            </a:fld>
            <a:endParaRPr lang="en-IN"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IN"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3040F425-731D-4835-A38A-9545B9CAE996}"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6908802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2FF8D3-827B-46C7-970B-BED96715392A}" type="datetimeFigureOut">
              <a:rPr lang="en-IN" smtClean="0">
                <a:solidFill>
                  <a:prstClr val="black">
                    <a:tint val="75000"/>
                  </a:prstClr>
                </a:solidFill>
              </a:rPr>
              <a:pPr/>
              <a:t>22-11-2016</a:t>
            </a:fld>
            <a:endParaRPr lang="en-IN"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IN"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3040F425-731D-4835-A38A-9545B9CAE996}"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2313666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2FF8D3-827B-46C7-970B-BED96715392A}" type="datetimeFigureOut">
              <a:rPr lang="en-IN" smtClean="0">
                <a:solidFill>
                  <a:prstClr val="black">
                    <a:tint val="75000"/>
                  </a:prstClr>
                </a:solidFill>
              </a:rPr>
              <a:pPr/>
              <a:t>22-11-2016</a:t>
            </a:fld>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IN"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77691085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2FF8D3-827B-46C7-970B-BED96715392A}" type="datetimeFigureOut">
              <a:rPr lang="en-IN" smtClean="0">
                <a:solidFill>
                  <a:prstClr val="black">
                    <a:tint val="75000"/>
                  </a:prstClr>
                </a:solidFill>
              </a:rPr>
              <a:pPr/>
              <a:t>22-11-2016</a:t>
            </a:fld>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IN"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423575847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B2FF8D3-827B-46C7-970B-BED96715392A}" type="datetimeFigureOut">
              <a:rPr lang="en-IN" smtClean="0">
                <a:solidFill>
                  <a:prstClr val="black">
                    <a:tint val="75000"/>
                  </a:prstClr>
                </a:solidFill>
              </a:rPr>
              <a:pPr/>
              <a:t>22-11-2016</a:t>
            </a:fld>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IN"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59730821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B2FF8D3-827B-46C7-970B-BED96715392A}" type="datetimeFigureOut">
              <a:rPr lang="en-IN" smtClean="0">
                <a:solidFill>
                  <a:prstClr val="black">
                    <a:tint val="75000"/>
                  </a:prstClr>
                </a:solidFill>
              </a:rPr>
              <a:pPr/>
              <a:t>22-11-2016</a:t>
            </a:fld>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IN"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995502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4.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F87393B5-8BA9-476F-99E3-FFB38A1E2962}" type="datetime1">
              <a:rPr lang="en-US" smtClean="0">
                <a:solidFill>
                  <a:srgbClr val="ACD433"/>
                </a:solidFill>
              </a:rPr>
              <a:pPr defTabSz="457200"/>
              <a:t>11/22/2016</a:t>
            </a:fld>
            <a:endParaRPr lang="en-US" dirty="0">
              <a:solidFill>
                <a:srgbClr val="ACD433"/>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4"/>
          </p:nvPr>
        </p:nvSpPr>
        <p:spPr>
          <a:xfrm>
            <a:off x="9448800" y="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cxnSp>
        <p:nvCxnSpPr>
          <p:cNvPr id="7" name="Straight Connector 6"/>
          <p:cNvCxnSpPr/>
          <p:nvPr userDrawn="1"/>
        </p:nvCxnSpPr>
        <p:spPr>
          <a:xfrm>
            <a:off x="1" y="512914"/>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rotWithShape="1">
          <a:blip r:embed="rId13"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10" name="Rectangle 9"/>
          <p:cNvSpPr/>
          <p:nvPr userDrawn="1"/>
        </p:nvSpPr>
        <p:spPr>
          <a:xfrm>
            <a:off x="6002452" y="6572578"/>
            <a:ext cx="6096000" cy="230832"/>
          </a:xfrm>
          <a:prstGeom prst="rect">
            <a:avLst/>
          </a:prstGeom>
        </p:spPr>
        <p:txBody>
          <a:bodyPr>
            <a:spAutoFit/>
          </a:bodyPr>
          <a:lstStyle/>
          <a:p>
            <a:pPr algn="r"/>
            <a:r>
              <a:rPr lang="en-IN" sz="900"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p>
        </p:txBody>
      </p:sp>
    </p:spTree>
    <p:extLst>
      <p:ext uri="{BB962C8B-B14F-4D97-AF65-F5344CB8AC3E}">
        <p14:creationId xmlns:p14="http://schemas.microsoft.com/office/powerpoint/2010/main" val="8348068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847CFC83-902A-4824-AF17-94DF2E9EAD8C}" type="datetime1">
              <a:rPr lang="en-IN" smtClean="0">
                <a:solidFill>
                  <a:srgbClr val="ACD433"/>
                </a:solidFill>
              </a:rPr>
              <a:pPr defTabSz="457200"/>
              <a:t>22-11-2016</a:t>
            </a:fld>
            <a:endParaRPr lang="en-US" dirty="0">
              <a:solidFill>
                <a:srgbClr val="ACD433"/>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endParaRPr lang="en-US" dirty="0">
              <a:solidFill>
                <a:srgbClr val="EBEBEB">
                  <a:lumMod val="75000"/>
                </a:srgbClr>
              </a:solidFill>
            </a:endParaRPr>
          </a:p>
        </p:txBody>
      </p:sp>
      <p:sp>
        <p:nvSpPr>
          <p:cNvPr id="6" name="Slide Number Placeholder 5"/>
          <p:cNvSpPr>
            <a:spLocks noGrp="1"/>
          </p:cNvSpPr>
          <p:nvPr>
            <p:ph type="sldNum" sz="quarter" idx="4"/>
          </p:nvPr>
        </p:nvSpPr>
        <p:spPr>
          <a:xfrm>
            <a:off x="9448800" y="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178068418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F87393B5-8BA9-476F-99E3-FFB38A1E2962}" type="datetime1">
              <a:rPr lang="en-US" smtClean="0">
                <a:solidFill>
                  <a:srgbClr val="ACD433"/>
                </a:solidFill>
              </a:rPr>
              <a:pPr defTabSz="457200"/>
              <a:t>11/22/2016</a:t>
            </a:fld>
            <a:endParaRPr lang="en-US" dirty="0">
              <a:solidFill>
                <a:srgbClr val="ACD433"/>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4"/>
          </p:nvPr>
        </p:nvSpPr>
        <p:spPr>
          <a:xfrm>
            <a:off x="9448800" y="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85589167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F87393B5-8BA9-476F-99E3-FFB38A1E2962}" type="datetime1">
              <a:rPr lang="en-US" smtClean="0">
                <a:solidFill>
                  <a:srgbClr val="ACD433"/>
                </a:solidFill>
              </a:rPr>
              <a:pPr defTabSz="457200"/>
              <a:t>11/22/2016</a:t>
            </a:fld>
            <a:endParaRPr lang="en-US" dirty="0">
              <a:solidFill>
                <a:srgbClr val="ACD433"/>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286749535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2FF8D3-827B-46C7-970B-BED96715392A}" type="datetimeFigureOut">
              <a:rPr lang="en-IN" smtClean="0">
                <a:solidFill>
                  <a:prstClr val="black">
                    <a:tint val="75000"/>
                  </a:prstClr>
                </a:solidFill>
              </a:rPr>
              <a:pPr/>
              <a:t>22-11-2016</a:t>
            </a:fld>
            <a:endParaRPr lang="en-IN"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solidFill>
                <a:prstClr val="black">
                  <a:tint val="75000"/>
                </a:prstClr>
              </a:solidFill>
            </a:endParaRPr>
          </a:p>
        </p:txBody>
      </p:sp>
      <p:sp>
        <p:nvSpPr>
          <p:cNvPr id="6" name="Slide Number Placeholder 5"/>
          <p:cNvSpPr>
            <a:spLocks noGrp="1"/>
          </p:cNvSpPr>
          <p:nvPr>
            <p:ph type="sldNum" sz="quarter" idx="4"/>
          </p:nvPr>
        </p:nvSpPr>
        <p:spPr>
          <a:xfrm>
            <a:off x="9448800" y="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40F425-731D-4835-A38A-9545B9CAE996}"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19997691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1.jpeg"/><Relationship Id="rId7"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jpeg"/><Relationship Id="rId9" Type="http://schemas.openxmlformats.org/officeDocument/2006/relationships/image" Target="../media/image10.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jpeg"/><Relationship Id="rId7" Type="http://schemas.openxmlformats.org/officeDocument/2006/relationships/image" Target="../media/image17.pn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hyperlink" Target="https://upgrad.com/programs/data-analytics/" TargetMode="External"/><Relationship Id="rId4" Type="http://schemas.openxmlformats.org/officeDocument/2006/relationships/image" Target="../media/image14.jpeg"/><Relationship Id="rId9"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25.jpeg"/><Relationship Id="rId13" Type="http://schemas.openxmlformats.org/officeDocument/2006/relationships/image" Target="../media/image29.jpg"/><Relationship Id="rId18" Type="http://schemas.openxmlformats.org/officeDocument/2006/relationships/image" Target="../media/image34.png"/><Relationship Id="rId3" Type="http://schemas.openxmlformats.org/officeDocument/2006/relationships/slideLayout" Target="../slideLayouts/slideLayout24.xml"/><Relationship Id="rId21" Type="http://schemas.openxmlformats.org/officeDocument/2006/relationships/image" Target="../media/image37.png"/><Relationship Id="rId7" Type="http://schemas.openxmlformats.org/officeDocument/2006/relationships/image" Target="../media/image24.jpeg"/><Relationship Id="rId12" Type="http://schemas.openxmlformats.org/officeDocument/2006/relationships/image" Target="../media/image28.png"/><Relationship Id="rId17" Type="http://schemas.openxmlformats.org/officeDocument/2006/relationships/image" Target="../media/image33.jpeg"/><Relationship Id="rId2" Type="http://schemas.openxmlformats.org/officeDocument/2006/relationships/tags" Target="../tags/tag2.xml"/><Relationship Id="rId16" Type="http://schemas.openxmlformats.org/officeDocument/2006/relationships/image" Target="../media/image32.png"/><Relationship Id="rId20" Type="http://schemas.openxmlformats.org/officeDocument/2006/relationships/image" Target="../media/image36.jpeg"/><Relationship Id="rId1" Type="http://schemas.openxmlformats.org/officeDocument/2006/relationships/tags" Target="../tags/tag1.xml"/><Relationship Id="rId6" Type="http://schemas.openxmlformats.org/officeDocument/2006/relationships/image" Target="../media/image23.jpeg"/><Relationship Id="rId11" Type="http://schemas.openxmlformats.org/officeDocument/2006/relationships/image" Target="../media/image27.png"/><Relationship Id="rId5" Type="http://schemas.openxmlformats.org/officeDocument/2006/relationships/image" Target="../media/image1.jpeg"/><Relationship Id="rId15" Type="http://schemas.openxmlformats.org/officeDocument/2006/relationships/image" Target="../media/image31.png"/><Relationship Id="rId10" Type="http://schemas.openxmlformats.org/officeDocument/2006/relationships/image" Target="../media/image7.jpeg"/><Relationship Id="rId19" Type="http://schemas.openxmlformats.org/officeDocument/2006/relationships/image" Target="../media/image35.jpeg"/><Relationship Id="rId4" Type="http://schemas.openxmlformats.org/officeDocument/2006/relationships/notesSlide" Target="../notesSlides/notesSlide3.xml"/><Relationship Id="rId9" Type="http://schemas.openxmlformats.org/officeDocument/2006/relationships/image" Target="../media/image26.png"/><Relationship Id="rId14" Type="http://schemas.openxmlformats.org/officeDocument/2006/relationships/image" Target="../media/image30.png"/><Relationship Id="rId22"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49.png"/><Relationship Id="rId3" Type="http://schemas.openxmlformats.org/officeDocument/2006/relationships/image" Target="../media/image41.png"/><Relationship Id="rId7" Type="http://schemas.openxmlformats.org/officeDocument/2006/relationships/image" Target="../media/image44.jpeg"/><Relationship Id="rId12" Type="http://schemas.openxmlformats.org/officeDocument/2006/relationships/image" Target="../media/image48.png"/><Relationship Id="rId2" Type="http://schemas.openxmlformats.org/officeDocument/2006/relationships/image" Target="../media/image40.png"/><Relationship Id="rId1" Type="http://schemas.openxmlformats.org/officeDocument/2006/relationships/slideLayout" Target="../slideLayouts/slideLayout47.xml"/><Relationship Id="rId6" Type="http://schemas.openxmlformats.org/officeDocument/2006/relationships/image" Target="../media/image43.gif"/><Relationship Id="rId11" Type="http://schemas.openxmlformats.org/officeDocument/2006/relationships/image" Target="../media/image47.png"/><Relationship Id="rId5" Type="http://schemas.microsoft.com/office/2007/relationships/hdphoto" Target="../media/hdphoto1.wdp"/><Relationship Id="rId10" Type="http://schemas.openxmlformats.org/officeDocument/2006/relationships/image" Target="../media/image46.png"/><Relationship Id="rId4" Type="http://schemas.openxmlformats.org/officeDocument/2006/relationships/image" Target="../media/image42.png"/><Relationship Id="rId9" Type="http://schemas.openxmlformats.org/officeDocument/2006/relationships/image" Target="../media/image1.jpeg"/></Relationships>
</file>

<file path=ppt/slides/_rels/slide16.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png"/><Relationship Id="rId18" Type="http://schemas.openxmlformats.org/officeDocument/2006/relationships/image" Target="../media/image62.png"/><Relationship Id="rId3" Type="http://schemas.openxmlformats.org/officeDocument/2006/relationships/image" Target="../media/image12.jpeg"/><Relationship Id="rId21" Type="http://schemas.openxmlformats.org/officeDocument/2006/relationships/image" Target="../media/image65.png"/><Relationship Id="rId7" Type="http://schemas.openxmlformats.org/officeDocument/2006/relationships/image" Target="../media/image51.png"/><Relationship Id="rId12" Type="http://schemas.openxmlformats.org/officeDocument/2006/relationships/image" Target="../media/image56.png"/><Relationship Id="rId17" Type="http://schemas.openxmlformats.org/officeDocument/2006/relationships/image" Target="../media/image61.png"/><Relationship Id="rId25" Type="http://schemas.openxmlformats.org/officeDocument/2006/relationships/image" Target="../media/image69.png"/><Relationship Id="rId2" Type="http://schemas.openxmlformats.org/officeDocument/2006/relationships/image" Target="../media/image1.jpeg"/><Relationship Id="rId16" Type="http://schemas.openxmlformats.org/officeDocument/2006/relationships/image" Target="../media/image60.png"/><Relationship Id="rId20" Type="http://schemas.openxmlformats.org/officeDocument/2006/relationships/image" Target="../media/image64.png"/><Relationship Id="rId1" Type="http://schemas.openxmlformats.org/officeDocument/2006/relationships/slideLayout" Target="../slideLayouts/slideLayout35.xml"/><Relationship Id="rId6" Type="http://schemas.openxmlformats.org/officeDocument/2006/relationships/image" Target="../media/image50.png"/><Relationship Id="rId11" Type="http://schemas.openxmlformats.org/officeDocument/2006/relationships/image" Target="../media/image55.png"/><Relationship Id="rId24" Type="http://schemas.openxmlformats.org/officeDocument/2006/relationships/image" Target="../media/image68.jpeg"/><Relationship Id="rId5" Type="http://schemas.openxmlformats.org/officeDocument/2006/relationships/image" Target="../media/image14.jpeg"/><Relationship Id="rId15" Type="http://schemas.openxmlformats.org/officeDocument/2006/relationships/image" Target="../media/image59.png"/><Relationship Id="rId23" Type="http://schemas.openxmlformats.org/officeDocument/2006/relationships/image" Target="../media/image67.jpeg"/><Relationship Id="rId10" Type="http://schemas.openxmlformats.org/officeDocument/2006/relationships/image" Target="../media/image54.png"/><Relationship Id="rId19" Type="http://schemas.openxmlformats.org/officeDocument/2006/relationships/image" Target="../media/image63.png"/><Relationship Id="rId4" Type="http://schemas.openxmlformats.org/officeDocument/2006/relationships/image" Target="../media/image13.jpeg"/><Relationship Id="rId9" Type="http://schemas.openxmlformats.org/officeDocument/2006/relationships/image" Target="../media/image53.png"/><Relationship Id="rId14" Type="http://schemas.openxmlformats.org/officeDocument/2006/relationships/image" Target="../media/image58.png"/><Relationship Id="rId22" Type="http://schemas.openxmlformats.org/officeDocument/2006/relationships/image" Target="../media/image66.jpeg"/></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12879"/>
            <a:ext cx="12192000" cy="6858000"/>
          </a:xfrm>
          <a:prstGeom prst="rect">
            <a:avLst/>
          </a:prstGeom>
        </p:spPr>
      </p:pic>
      <p:sp>
        <p:nvSpPr>
          <p:cNvPr id="7" name="Rectangle 6"/>
          <p:cNvSpPr/>
          <p:nvPr/>
        </p:nvSpPr>
        <p:spPr>
          <a:xfrm>
            <a:off x="228600" y="4887774"/>
            <a:ext cx="5080000" cy="1754326"/>
          </a:xfrm>
          <a:prstGeom prst="rect">
            <a:avLst/>
          </a:prstGeom>
        </p:spPr>
        <p:txBody>
          <a:bodyPr wrap="square" anchor="b">
            <a:spAutoFit/>
          </a:bodyPr>
          <a:lstStyle/>
          <a:p>
            <a:r>
              <a:rPr lang="en-US" sz="900" dirty="0">
                <a:solidFill>
                  <a:prstClr val="white"/>
                </a:solidFill>
                <a:latin typeface="Century Gothic"/>
              </a:rPr>
              <a:t>The information contained in the document is proprietary to Tata Industries Limited- Tata Insights &amp; Quants Division and is strictly confidential. </a:t>
            </a:r>
            <a:r>
              <a:rPr lang="en-IN" sz="900" dirty="0">
                <a:solidFill>
                  <a:prstClr val="white"/>
                </a:solidFill>
                <a:latin typeface="Century Gothic"/>
              </a:rPr>
              <a:t>In consideration of receipt of this document, the recipient agrees that the information is being shared only for the limited purpose. The recipient of this information further agrees to maintain such information in confidence and to not reproduce, disclose, duplicate, electronically transmit or use in whole or in part for any other purpose. Prior written consent shall be obtained from the Insights &amp; Quants Division of Tata Industries in case the information is necessitated to be shared with anyone other than the Recipient to whom this information is addressed. The above restriction shall not limit the right to use the information contained in this deck, if it is obtained from another source without restriction.</a:t>
            </a:r>
            <a:br>
              <a:rPr lang="en-IN" sz="900" dirty="0">
                <a:solidFill>
                  <a:prstClr val="white"/>
                </a:solidFill>
                <a:latin typeface="Century Gothic"/>
              </a:rPr>
            </a:br>
            <a:r>
              <a:rPr lang="en-IN" sz="900" dirty="0">
                <a:solidFill>
                  <a:prstClr val="white"/>
                </a:solidFill>
                <a:latin typeface="Century Gothic"/>
              </a:rPr>
              <a:t> </a:t>
            </a:r>
            <a:br>
              <a:rPr lang="en-IN" sz="900" dirty="0">
                <a:solidFill>
                  <a:prstClr val="white"/>
                </a:solidFill>
                <a:latin typeface="Century Gothic"/>
              </a:rPr>
            </a:br>
            <a:r>
              <a:rPr lang="en-IN" sz="900" dirty="0">
                <a:solidFill>
                  <a:prstClr val="white"/>
                </a:solidFill>
                <a:latin typeface="Century Gothic"/>
              </a:rPr>
              <a:t>© Copyright, Tata Insights &amp; Quants Division, Tata Industries Limited </a:t>
            </a:r>
          </a:p>
        </p:txBody>
      </p:sp>
      <p:sp>
        <p:nvSpPr>
          <p:cNvPr id="8" name="Rectangle 7"/>
          <p:cNvSpPr/>
          <p:nvPr/>
        </p:nvSpPr>
        <p:spPr>
          <a:xfrm>
            <a:off x="842545" y="1860964"/>
            <a:ext cx="9679494" cy="1569660"/>
          </a:xfrm>
          <a:prstGeom prst="rect">
            <a:avLst/>
          </a:prstGeom>
        </p:spPr>
        <p:txBody>
          <a:bodyPr wrap="square">
            <a:spAutoFit/>
          </a:bodyPr>
          <a:lstStyle/>
          <a:p>
            <a:pPr algn="ctr"/>
            <a:r>
              <a:rPr lang="en-US" sz="4800" b="1" dirty="0">
                <a:solidFill>
                  <a:prstClr val="white"/>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rPr>
              <a:t>Tata Steel – </a:t>
            </a:r>
            <a:r>
              <a:rPr lang="en-US" sz="4800" b="1" dirty="0" smtClean="0">
                <a:solidFill>
                  <a:prstClr val="white"/>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rPr>
              <a:t>Tata iQ</a:t>
            </a:r>
          </a:p>
          <a:p>
            <a:pPr algn="ctr"/>
            <a:r>
              <a:rPr lang="en-US" sz="4800" b="1" dirty="0" smtClean="0">
                <a:solidFill>
                  <a:prstClr val="white"/>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rPr>
              <a:t>Analytics Capability Building</a:t>
            </a:r>
            <a:endParaRPr lang="en-US" sz="4800" b="1" dirty="0">
              <a:solidFill>
                <a:prstClr val="white"/>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endParaRPr>
          </a:p>
        </p:txBody>
      </p:sp>
      <p:sp>
        <p:nvSpPr>
          <p:cNvPr id="10" name="Rectangle 9"/>
          <p:cNvSpPr/>
          <p:nvPr/>
        </p:nvSpPr>
        <p:spPr>
          <a:xfrm>
            <a:off x="4216400" y="3949222"/>
            <a:ext cx="7239000" cy="400110"/>
          </a:xfrm>
          <a:prstGeom prst="rect">
            <a:avLst/>
          </a:prstGeom>
        </p:spPr>
        <p:txBody>
          <a:bodyPr wrap="square">
            <a:spAutoFit/>
          </a:bodyPr>
          <a:lstStyle/>
          <a:p>
            <a:pPr algn="r"/>
            <a:r>
              <a:rPr lang="en-US" sz="2000" b="1" dirty="0" smtClean="0">
                <a:solidFill>
                  <a:prstClr val="white"/>
                </a:solidFill>
                <a:latin typeface="Leelawadee UI" panose="020B0502040204020203" pitchFamily="34" charset="-34"/>
                <a:cs typeface="Leelawadee UI" panose="020B0502040204020203" pitchFamily="34" charset="-34"/>
              </a:rPr>
              <a:t>10 / </a:t>
            </a:r>
            <a:r>
              <a:rPr lang="en-US" sz="2000" b="1" dirty="0">
                <a:solidFill>
                  <a:prstClr val="white"/>
                </a:solidFill>
                <a:latin typeface="Leelawadee UI" panose="020B0502040204020203" pitchFamily="34" charset="-34"/>
                <a:cs typeface="Leelawadee UI" panose="020B0502040204020203" pitchFamily="34" charset="-34"/>
              </a:rPr>
              <a:t>11 / 2016</a:t>
            </a:r>
          </a:p>
        </p:txBody>
      </p:sp>
    </p:spTree>
    <p:extLst>
      <p:ext uri="{BB962C8B-B14F-4D97-AF65-F5344CB8AC3E}">
        <p14:creationId xmlns:p14="http://schemas.microsoft.com/office/powerpoint/2010/main" val="36463949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1689418" y="291779"/>
              <a:ext cx="8813246"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The analytic journey in delivering business benefits</a:t>
              </a:r>
            </a:p>
          </p:txBody>
        </p:sp>
      </p:grpSp>
      <p:sp>
        <p:nvSpPr>
          <p:cNvPr id="2" name="TextBox 1"/>
          <p:cNvSpPr txBox="1"/>
          <p:nvPr/>
        </p:nvSpPr>
        <p:spPr>
          <a:xfrm>
            <a:off x="248992" y="788763"/>
            <a:ext cx="11694017" cy="646331"/>
          </a:xfrm>
          <a:prstGeom prst="rect">
            <a:avLst/>
          </a:prstGeom>
          <a:noFill/>
        </p:spPr>
        <p:txBody>
          <a:bodyPr wrap="square" rtlCol="0">
            <a:spAutoFit/>
          </a:bodyPr>
          <a:lstStyle/>
          <a:p>
            <a:pPr algn="ctr"/>
            <a:r>
              <a:rPr lang="en-IN" dirty="0">
                <a:solidFill>
                  <a:srgbClr val="002060"/>
                </a:solidFill>
              </a:rPr>
              <a:t>The </a:t>
            </a:r>
            <a:r>
              <a:rPr lang="en-IN" dirty="0" smtClean="0">
                <a:solidFill>
                  <a:srgbClr val="002060"/>
                </a:solidFill>
              </a:rPr>
              <a:t>analytic journey towards increased sophistication requires a set of diverse tools and talent to leverage the power of diverse data sources</a:t>
            </a:r>
            <a:endParaRPr lang="en-IN" dirty="0">
              <a:solidFill>
                <a:srgbClr val="002060"/>
              </a:solidFill>
            </a:endParaRPr>
          </a:p>
        </p:txBody>
      </p:sp>
      <p:sp>
        <p:nvSpPr>
          <p:cNvPr id="81" name="Slide Number Placeholder 3"/>
          <p:cNvSpPr>
            <a:spLocks noGrp="1"/>
          </p:cNvSpPr>
          <p:nvPr>
            <p:ph type="sldNum" sz="quarter" idx="12"/>
          </p:nvPr>
        </p:nvSpPr>
        <p:spPr>
          <a:xfrm>
            <a:off x="9448800" y="6350"/>
            <a:ext cx="2743200" cy="365125"/>
          </a:xfrm>
        </p:spPr>
        <p:txBody>
          <a:bodyPr/>
          <a:lstStyle/>
          <a:p>
            <a:r>
              <a:rPr lang="en-IN" dirty="0" smtClean="0"/>
              <a:t>11</a:t>
            </a:r>
            <a:endParaRPr lang="en-IN" dirty="0"/>
          </a:p>
        </p:txBody>
      </p:sp>
      <p:sp>
        <p:nvSpPr>
          <p:cNvPr id="7" name="TextBox 6"/>
          <p:cNvSpPr txBox="1"/>
          <p:nvPr/>
        </p:nvSpPr>
        <p:spPr>
          <a:xfrm>
            <a:off x="1" y="1541160"/>
            <a:ext cx="5082987" cy="461665"/>
          </a:xfrm>
          <a:prstGeom prst="rect">
            <a:avLst/>
          </a:prstGeom>
          <a:noFill/>
        </p:spPr>
        <p:txBody>
          <a:bodyPr wrap="square" rtlCol="0">
            <a:spAutoFit/>
          </a:bodyPr>
          <a:lstStyle/>
          <a:p>
            <a:pPr algn="ctr"/>
            <a:r>
              <a:rPr lang="en-IN" sz="2400" dirty="0" smtClean="0"/>
              <a:t>Leveraging multiple data sources</a:t>
            </a:r>
            <a:endParaRPr lang="en-IN" sz="2400" dirty="0"/>
          </a:p>
        </p:txBody>
      </p:sp>
      <p:sp>
        <p:nvSpPr>
          <p:cNvPr id="108" name="TextBox 107"/>
          <p:cNvSpPr txBox="1"/>
          <p:nvPr/>
        </p:nvSpPr>
        <p:spPr>
          <a:xfrm>
            <a:off x="4509872" y="1568608"/>
            <a:ext cx="7705188" cy="461665"/>
          </a:xfrm>
          <a:prstGeom prst="rect">
            <a:avLst/>
          </a:prstGeom>
          <a:noFill/>
        </p:spPr>
        <p:txBody>
          <a:bodyPr wrap="square" rtlCol="0">
            <a:spAutoFit/>
          </a:bodyPr>
          <a:lstStyle/>
          <a:p>
            <a:pPr algn="ctr"/>
            <a:r>
              <a:rPr lang="en-IN" sz="2400" dirty="0" smtClean="0"/>
              <a:t>…..to deliver insights, prediction and optimized strategies</a:t>
            </a:r>
            <a:endParaRPr lang="en-IN" sz="2400" dirty="0"/>
          </a:p>
        </p:txBody>
      </p:sp>
      <p:pic>
        <p:nvPicPr>
          <p:cNvPr id="11" name="Picture 10"/>
          <p:cNvPicPr>
            <a:picLocks noChangeAspect="1"/>
          </p:cNvPicPr>
          <p:nvPr/>
        </p:nvPicPr>
        <p:blipFill>
          <a:blip r:embed="rId4"/>
          <a:stretch>
            <a:fillRect/>
          </a:stretch>
        </p:blipFill>
        <p:spPr>
          <a:xfrm>
            <a:off x="6071411" y="2041486"/>
            <a:ext cx="6089861" cy="2269400"/>
          </a:xfrm>
          <a:prstGeom prst="rect">
            <a:avLst/>
          </a:prstGeom>
        </p:spPr>
      </p:pic>
      <p:sp>
        <p:nvSpPr>
          <p:cNvPr id="26" name="Left-Right Arrow 25"/>
          <p:cNvSpPr/>
          <p:nvPr/>
        </p:nvSpPr>
        <p:spPr>
          <a:xfrm>
            <a:off x="6504548" y="4102376"/>
            <a:ext cx="1451893" cy="905693"/>
          </a:xfrm>
          <a:prstGeom prst="leftRightArrow">
            <a:avLst>
              <a:gd name="adj1" fmla="val 50000"/>
              <a:gd name="adj2" fmla="val 0"/>
            </a:avLst>
          </a:prstGeom>
          <a:solidFill>
            <a:schemeClr val="accent1">
              <a:alpha val="5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p:cNvSpPr txBox="1"/>
          <p:nvPr/>
        </p:nvSpPr>
        <p:spPr>
          <a:xfrm>
            <a:off x="6643236" y="4391098"/>
            <a:ext cx="1178053" cy="307777"/>
          </a:xfrm>
          <a:prstGeom prst="rect">
            <a:avLst/>
          </a:prstGeom>
          <a:noFill/>
        </p:spPr>
        <p:txBody>
          <a:bodyPr wrap="square" rtlCol="0">
            <a:spAutoFit/>
          </a:bodyPr>
          <a:lstStyle/>
          <a:p>
            <a:r>
              <a:rPr lang="en-IN" sz="1400" b="1" dirty="0" smtClean="0">
                <a:solidFill>
                  <a:schemeClr val="accent6">
                    <a:lumMod val="50000"/>
                  </a:schemeClr>
                </a:solidFill>
              </a:rPr>
              <a:t>Visualization</a:t>
            </a:r>
            <a:endParaRPr lang="en-IN" sz="1400" b="1" dirty="0">
              <a:solidFill>
                <a:schemeClr val="accent6">
                  <a:lumMod val="50000"/>
                </a:schemeClr>
              </a:solidFill>
            </a:endParaRPr>
          </a:p>
        </p:txBody>
      </p:sp>
      <p:sp>
        <p:nvSpPr>
          <p:cNvPr id="57" name="Left-Right Arrow 56"/>
          <p:cNvSpPr/>
          <p:nvPr/>
        </p:nvSpPr>
        <p:spPr>
          <a:xfrm>
            <a:off x="8052823" y="4091892"/>
            <a:ext cx="1089486" cy="905693"/>
          </a:xfrm>
          <a:prstGeom prst="leftRightArrow">
            <a:avLst>
              <a:gd name="adj1" fmla="val 50000"/>
              <a:gd name="adj2" fmla="val 0"/>
            </a:avLst>
          </a:prstGeom>
          <a:solidFill>
            <a:schemeClr val="accent1">
              <a:alpha val="5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TextBox 57"/>
          <p:cNvSpPr txBox="1"/>
          <p:nvPr/>
        </p:nvSpPr>
        <p:spPr>
          <a:xfrm>
            <a:off x="8025928" y="4295758"/>
            <a:ext cx="1178053" cy="523220"/>
          </a:xfrm>
          <a:prstGeom prst="rect">
            <a:avLst/>
          </a:prstGeom>
          <a:noFill/>
        </p:spPr>
        <p:txBody>
          <a:bodyPr wrap="square" rtlCol="0">
            <a:spAutoFit/>
          </a:bodyPr>
          <a:lstStyle/>
          <a:p>
            <a:pPr algn="ctr"/>
            <a:r>
              <a:rPr lang="en-IN" sz="1400" b="1" dirty="0" smtClean="0">
                <a:solidFill>
                  <a:schemeClr val="accent6">
                    <a:lumMod val="50000"/>
                  </a:schemeClr>
                </a:solidFill>
              </a:rPr>
              <a:t>Visualization</a:t>
            </a:r>
          </a:p>
          <a:p>
            <a:pPr algn="ctr"/>
            <a:r>
              <a:rPr lang="en-IN" sz="1400" b="1" dirty="0" smtClean="0">
                <a:solidFill>
                  <a:schemeClr val="accent6">
                    <a:lumMod val="50000"/>
                  </a:schemeClr>
                </a:solidFill>
              </a:rPr>
              <a:t>Biz Analysis</a:t>
            </a:r>
            <a:endParaRPr lang="en-IN" sz="1400" b="1" dirty="0">
              <a:solidFill>
                <a:schemeClr val="accent6">
                  <a:lumMod val="50000"/>
                </a:schemeClr>
              </a:solidFill>
            </a:endParaRPr>
          </a:p>
        </p:txBody>
      </p:sp>
      <p:sp>
        <p:nvSpPr>
          <p:cNvPr id="59" name="Left-Right Arrow 58"/>
          <p:cNvSpPr/>
          <p:nvPr/>
        </p:nvSpPr>
        <p:spPr>
          <a:xfrm>
            <a:off x="9300362" y="4084932"/>
            <a:ext cx="1368552" cy="905693"/>
          </a:xfrm>
          <a:prstGeom prst="leftRightArrow">
            <a:avLst>
              <a:gd name="adj1" fmla="val 50000"/>
              <a:gd name="adj2" fmla="val 0"/>
            </a:avLst>
          </a:prstGeom>
          <a:solidFill>
            <a:schemeClr val="accent1">
              <a:alpha val="5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TextBox 59"/>
          <p:cNvSpPr txBox="1"/>
          <p:nvPr/>
        </p:nvSpPr>
        <p:spPr>
          <a:xfrm>
            <a:off x="9398287" y="4410836"/>
            <a:ext cx="1178053" cy="307777"/>
          </a:xfrm>
          <a:prstGeom prst="rect">
            <a:avLst/>
          </a:prstGeom>
          <a:noFill/>
        </p:spPr>
        <p:txBody>
          <a:bodyPr wrap="square" rtlCol="0">
            <a:spAutoFit/>
          </a:bodyPr>
          <a:lstStyle/>
          <a:p>
            <a:pPr algn="ctr"/>
            <a:r>
              <a:rPr lang="en-IN" sz="1400" b="1" dirty="0" smtClean="0">
                <a:solidFill>
                  <a:schemeClr val="accent6">
                    <a:lumMod val="50000"/>
                  </a:schemeClr>
                </a:solidFill>
              </a:rPr>
              <a:t>Prediction</a:t>
            </a:r>
            <a:endParaRPr lang="en-IN" sz="1400" b="1" dirty="0">
              <a:solidFill>
                <a:schemeClr val="accent6">
                  <a:lumMod val="50000"/>
                </a:schemeClr>
              </a:solidFill>
            </a:endParaRPr>
          </a:p>
        </p:txBody>
      </p:sp>
      <p:sp>
        <p:nvSpPr>
          <p:cNvPr id="61" name="Left-Right Arrow 60"/>
          <p:cNvSpPr/>
          <p:nvPr/>
        </p:nvSpPr>
        <p:spPr>
          <a:xfrm>
            <a:off x="10816549" y="4077627"/>
            <a:ext cx="1126460" cy="905693"/>
          </a:xfrm>
          <a:prstGeom prst="leftRightArrow">
            <a:avLst>
              <a:gd name="adj1" fmla="val 50000"/>
              <a:gd name="adj2" fmla="val 0"/>
            </a:avLst>
          </a:prstGeom>
          <a:solidFill>
            <a:schemeClr val="accent1">
              <a:alpha val="5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2" name="TextBox 61"/>
          <p:cNvSpPr txBox="1"/>
          <p:nvPr/>
        </p:nvSpPr>
        <p:spPr>
          <a:xfrm>
            <a:off x="10790752" y="4303322"/>
            <a:ext cx="1178053" cy="523220"/>
          </a:xfrm>
          <a:prstGeom prst="rect">
            <a:avLst/>
          </a:prstGeom>
          <a:noFill/>
        </p:spPr>
        <p:txBody>
          <a:bodyPr wrap="square" rtlCol="0">
            <a:spAutoFit/>
          </a:bodyPr>
          <a:lstStyle/>
          <a:p>
            <a:pPr algn="ctr"/>
            <a:r>
              <a:rPr lang="en-IN" sz="1400" b="1" dirty="0" smtClean="0">
                <a:solidFill>
                  <a:schemeClr val="accent6">
                    <a:lumMod val="50000"/>
                  </a:schemeClr>
                </a:solidFill>
              </a:rPr>
              <a:t>Simulation </a:t>
            </a:r>
          </a:p>
          <a:p>
            <a:pPr algn="ctr"/>
            <a:r>
              <a:rPr lang="en-IN" sz="1400" b="1" dirty="0" smtClean="0">
                <a:solidFill>
                  <a:schemeClr val="accent6">
                    <a:lumMod val="50000"/>
                  </a:schemeClr>
                </a:solidFill>
              </a:rPr>
              <a:t>Optimization</a:t>
            </a:r>
            <a:endParaRPr lang="en-IN" sz="1400" b="1" dirty="0">
              <a:solidFill>
                <a:schemeClr val="accent6">
                  <a:lumMod val="50000"/>
                </a:schemeClr>
              </a:solidFill>
            </a:endParaRPr>
          </a:p>
        </p:txBody>
      </p:sp>
      <p:sp>
        <p:nvSpPr>
          <p:cNvPr id="28" name="Rectangle 27"/>
          <p:cNvSpPr/>
          <p:nvPr/>
        </p:nvSpPr>
        <p:spPr>
          <a:xfrm>
            <a:off x="6504548" y="5008069"/>
            <a:ext cx="2637761" cy="290014"/>
          </a:xfrm>
          <a:prstGeom prst="rect">
            <a:avLst/>
          </a:prstGeom>
          <a:solidFill>
            <a:schemeClr val="accent2">
              <a:lumMod val="60000"/>
              <a:lumOff val="40000"/>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solidFill>
                  <a:schemeClr val="tx1"/>
                </a:solidFill>
              </a:rPr>
              <a:t>Tableau, D3…</a:t>
            </a:r>
            <a:endParaRPr lang="en-IN" sz="1600" b="1" dirty="0">
              <a:solidFill>
                <a:schemeClr val="tx1"/>
              </a:solidFill>
            </a:endParaRPr>
          </a:p>
        </p:txBody>
      </p:sp>
      <p:sp>
        <p:nvSpPr>
          <p:cNvPr id="64" name="Rectangle 63"/>
          <p:cNvSpPr/>
          <p:nvPr/>
        </p:nvSpPr>
        <p:spPr>
          <a:xfrm>
            <a:off x="7956441" y="5297386"/>
            <a:ext cx="3911856" cy="325391"/>
          </a:xfrm>
          <a:prstGeom prst="rect">
            <a:avLst/>
          </a:prstGeom>
          <a:solidFill>
            <a:schemeClr val="accent2">
              <a:lumMod val="60000"/>
              <a:lumOff val="40000"/>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tx1"/>
                </a:solidFill>
              </a:rPr>
              <a:t>R, SAS, </a:t>
            </a:r>
            <a:r>
              <a:rPr lang="en-IN" sz="1600" b="1" dirty="0" smtClean="0">
                <a:solidFill>
                  <a:schemeClr val="tx1"/>
                </a:solidFill>
              </a:rPr>
              <a:t>Python, Angoss, </a:t>
            </a:r>
            <a:r>
              <a:rPr lang="en-IN" sz="1600" b="1" dirty="0" err="1" smtClean="0">
                <a:solidFill>
                  <a:schemeClr val="tx1"/>
                </a:solidFill>
              </a:rPr>
              <a:t>MatLab</a:t>
            </a:r>
            <a:r>
              <a:rPr lang="en-IN" sz="1600" b="1" dirty="0" smtClean="0">
                <a:solidFill>
                  <a:schemeClr val="tx1"/>
                </a:solidFill>
              </a:rPr>
              <a:t>…</a:t>
            </a:r>
            <a:endParaRPr lang="en-IN" sz="1600" b="1" dirty="0">
              <a:solidFill>
                <a:schemeClr val="tx1"/>
              </a:solidFill>
            </a:endParaRPr>
          </a:p>
        </p:txBody>
      </p:sp>
      <p:sp>
        <p:nvSpPr>
          <p:cNvPr id="65" name="Rectangle 64"/>
          <p:cNvSpPr/>
          <p:nvPr/>
        </p:nvSpPr>
        <p:spPr>
          <a:xfrm>
            <a:off x="6504547" y="5727049"/>
            <a:ext cx="5438461" cy="371422"/>
          </a:xfrm>
          <a:prstGeom prst="rect">
            <a:avLst/>
          </a:prstGeom>
          <a:solidFill>
            <a:schemeClr val="bg1">
              <a:lumMod val="75000"/>
              <a:alpha val="76000"/>
            </a:schemeClr>
          </a:solid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solidFill>
              </a:rPr>
              <a:t>Big Data Platform</a:t>
            </a:r>
            <a:endParaRPr lang="en-IN" b="1" dirty="0">
              <a:solidFill>
                <a:schemeClr val="tx1"/>
              </a:solidFill>
            </a:endParaRPr>
          </a:p>
        </p:txBody>
      </p:sp>
      <p:sp>
        <p:nvSpPr>
          <p:cNvPr id="32" name="Rectangle 31"/>
          <p:cNvSpPr/>
          <p:nvPr/>
        </p:nvSpPr>
        <p:spPr>
          <a:xfrm>
            <a:off x="6504547" y="4992879"/>
            <a:ext cx="5438461" cy="617036"/>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en-IN" sz="1200" dirty="0">
              <a:solidFill>
                <a:schemeClr val="tx1"/>
              </a:solidFill>
            </a:endParaRPr>
          </a:p>
        </p:txBody>
      </p:sp>
      <p:sp>
        <p:nvSpPr>
          <p:cNvPr id="33" name="Isosceles Triangle 32"/>
          <p:cNvSpPr/>
          <p:nvPr/>
        </p:nvSpPr>
        <p:spPr>
          <a:xfrm rot="5400000">
            <a:off x="3968007" y="3999154"/>
            <a:ext cx="4056986" cy="317383"/>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3" name="Picture 12"/>
          <p:cNvPicPr>
            <a:picLocks noChangeAspect="1"/>
          </p:cNvPicPr>
          <p:nvPr/>
        </p:nvPicPr>
        <p:blipFill>
          <a:blip r:embed="rId5"/>
          <a:stretch>
            <a:fillRect/>
          </a:stretch>
        </p:blipFill>
        <p:spPr>
          <a:xfrm>
            <a:off x="10720" y="2108891"/>
            <a:ext cx="5868224" cy="4114270"/>
          </a:xfrm>
          <a:prstGeom prst="rect">
            <a:avLst/>
          </a:prstGeom>
        </p:spPr>
      </p:pic>
    </p:spTree>
    <p:extLst>
      <p:ext uri="{BB962C8B-B14F-4D97-AF65-F5344CB8AC3E}">
        <p14:creationId xmlns:p14="http://schemas.microsoft.com/office/powerpoint/2010/main" val="1703003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1623"/>
            <a:ext cx="12192000" cy="954107"/>
            <a:chOff x="1" y="76336"/>
            <a:chExt cx="12192000" cy="954107"/>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1883753" y="76336"/>
              <a:ext cx="8424615" cy="954107"/>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Tools will not deliver ROI unless </a:t>
              </a:r>
            </a:p>
            <a:p>
              <a:pPr algn="ctr"/>
              <a:r>
                <a:rPr lang="en-IN" sz="2800" b="1" dirty="0" smtClean="0">
                  <a:solidFill>
                    <a:srgbClr val="0070C0"/>
                  </a:solidFill>
                  <a:latin typeface="Leelawadee UI" panose="020B0502040204020203" pitchFamily="34" charset="-34"/>
                  <a:cs typeface="Leelawadee UI" panose="020B0502040204020203" pitchFamily="34" charset="-34"/>
                </a:rPr>
                <a:t>supported by the right people and the right data</a:t>
              </a:r>
            </a:p>
          </p:txBody>
        </p:sp>
      </p:grpSp>
      <p:sp>
        <p:nvSpPr>
          <p:cNvPr id="81" name="Slide Number Placeholder 3"/>
          <p:cNvSpPr>
            <a:spLocks noGrp="1"/>
          </p:cNvSpPr>
          <p:nvPr>
            <p:ph type="sldNum" sz="quarter" idx="12"/>
          </p:nvPr>
        </p:nvSpPr>
        <p:spPr>
          <a:xfrm>
            <a:off x="9448800" y="6350"/>
            <a:ext cx="2743200" cy="365125"/>
          </a:xfrm>
        </p:spPr>
        <p:txBody>
          <a:bodyPr/>
          <a:lstStyle/>
          <a:p>
            <a:r>
              <a:rPr lang="en-IN" dirty="0" smtClean="0"/>
              <a:t>12</a:t>
            </a:r>
            <a:endParaRPr lang="en-IN" dirty="0"/>
          </a:p>
        </p:txBody>
      </p:sp>
      <p:sp>
        <p:nvSpPr>
          <p:cNvPr id="7" name="TextBox 6"/>
          <p:cNvSpPr txBox="1"/>
          <p:nvPr/>
        </p:nvSpPr>
        <p:spPr>
          <a:xfrm>
            <a:off x="-246835" y="1137586"/>
            <a:ext cx="5082987" cy="461665"/>
          </a:xfrm>
          <a:prstGeom prst="rect">
            <a:avLst/>
          </a:prstGeom>
          <a:noFill/>
        </p:spPr>
        <p:txBody>
          <a:bodyPr wrap="square" rtlCol="0">
            <a:spAutoFit/>
          </a:bodyPr>
          <a:lstStyle/>
          <a:p>
            <a:pPr algn="ctr"/>
            <a:r>
              <a:rPr lang="en-IN" sz="2400" dirty="0" smtClean="0"/>
              <a:t>Selection of the right tool is critical</a:t>
            </a:r>
            <a:endParaRPr lang="en-IN" sz="2400" dirty="0"/>
          </a:p>
        </p:txBody>
      </p:sp>
      <p:sp>
        <p:nvSpPr>
          <p:cNvPr id="108" name="TextBox 107"/>
          <p:cNvSpPr txBox="1"/>
          <p:nvPr/>
        </p:nvSpPr>
        <p:spPr>
          <a:xfrm>
            <a:off x="4509872" y="1151751"/>
            <a:ext cx="7705188" cy="830997"/>
          </a:xfrm>
          <a:prstGeom prst="rect">
            <a:avLst/>
          </a:prstGeom>
          <a:noFill/>
        </p:spPr>
        <p:txBody>
          <a:bodyPr wrap="square" rtlCol="0">
            <a:spAutoFit/>
          </a:bodyPr>
          <a:lstStyle/>
          <a:p>
            <a:pPr algn="ctr"/>
            <a:r>
              <a:rPr lang="en-IN" sz="2400" dirty="0" smtClean="0"/>
              <a:t>…..but getting the right data and having the right people is more critical</a:t>
            </a:r>
            <a:endParaRPr lang="en-IN" sz="2400" dirty="0"/>
          </a:p>
        </p:txBody>
      </p:sp>
      <p:sp>
        <p:nvSpPr>
          <p:cNvPr id="33" name="Isosceles Triangle 32"/>
          <p:cNvSpPr/>
          <p:nvPr/>
        </p:nvSpPr>
        <p:spPr>
          <a:xfrm rot="5400000">
            <a:off x="2695753" y="4045627"/>
            <a:ext cx="4056986" cy="22381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9" name="Picture 4" descr="multitasking : Beautiful business woman looking confident with six arms  Stock Pho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4320" y="2097809"/>
            <a:ext cx="1011269" cy="1189111"/>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07689" y="3407554"/>
            <a:ext cx="904907" cy="904907"/>
          </a:xfrm>
          <a:prstGeom prst="rect">
            <a:avLst/>
          </a:prstGeom>
        </p:spPr>
      </p:pic>
      <p:grpSp>
        <p:nvGrpSpPr>
          <p:cNvPr id="31" name="Group 30"/>
          <p:cNvGrpSpPr/>
          <p:nvPr/>
        </p:nvGrpSpPr>
        <p:grpSpPr>
          <a:xfrm>
            <a:off x="8398635" y="3248043"/>
            <a:ext cx="1968800" cy="1707666"/>
            <a:chOff x="1550288" y="4209766"/>
            <a:chExt cx="1142151" cy="1142151"/>
          </a:xfrm>
        </p:grpSpPr>
        <p:sp>
          <p:nvSpPr>
            <p:cNvPr id="34" name="Oval 33"/>
            <p:cNvSpPr/>
            <p:nvPr/>
          </p:nvSpPr>
          <p:spPr>
            <a:xfrm>
              <a:off x="1550288" y="4209766"/>
              <a:ext cx="1142151" cy="1142151"/>
            </a:xfrm>
            <a:prstGeom prst="ellipse">
              <a:avLst/>
            </a:prstGeom>
            <a:solidFill>
              <a:schemeClr val="bg1"/>
            </a:solid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pic>
          <p:nvPicPr>
            <p:cNvPr id="35" name="Picture 10" descr="http://www.d2-analytics.com/images/business_analytics_4.jpg"/>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42802" y="4355256"/>
              <a:ext cx="930492" cy="91756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Oval 2"/>
          <p:cNvSpPr/>
          <p:nvPr/>
        </p:nvSpPr>
        <p:spPr>
          <a:xfrm>
            <a:off x="4967130" y="3209836"/>
            <a:ext cx="1786029" cy="1678555"/>
          </a:xfrm>
          <a:prstGeom prst="ellipse">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p:cNvSpPr txBox="1"/>
          <p:nvPr/>
        </p:nvSpPr>
        <p:spPr>
          <a:xfrm>
            <a:off x="7067393" y="3097836"/>
            <a:ext cx="1065126" cy="646331"/>
          </a:xfrm>
          <a:prstGeom prst="rect">
            <a:avLst/>
          </a:prstGeom>
          <a:noFill/>
        </p:spPr>
        <p:txBody>
          <a:bodyPr wrap="square" rtlCol="0">
            <a:spAutoFit/>
          </a:bodyPr>
          <a:lstStyle/>
          <a:p>
            <a:pPr algn="ctr"/>
            <a:r>
              <a:rPr lang="en-IN" b="1" dirty="0" smtClean="0"/>
              <a:t>Right People</a:t>
            </a:r>
            <a:endParaRPr lang="en-IN" b="1" dirty="0"/>
          </a:p>
        </p:txBody>
      </p:sp>
      <p:pic>
        <p:nvPicPr>
          <p:cNvPr id="1026" name="Picture 2" descr="Related imag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87642" y="4614803"/>
            <a:ext cx="762000" cy="762000"/>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p:cNvSpPr txBox="1"/>
          <p:nvPr/>
        </p:nvSpPr>
        <p:spPr>
          <a:xfrm>
            <a:off x="5111735" y="4370372"/>
            <a:ext cx="1496817" cy="369332"/>
          </a:xfrm>
          <a:prstGeom prst="rect">
            <a:avLst/>
          </a:prstGeom>
          <a:noFill/>
        </p:spPr>
        <p:txBody>
          <a:bodyPr wrap="square" rtlCol="0">
            <a:spAutoFit/>
          </a:bodyPr>
          <a:lstStyle/>
          <a:p>
            <a:pPr algn="ctr"/>
            <a:r>
              <a:rPr lang="en-IN" b="1" dirty="0" smtClean="0"/>
              <a:t>Right Data</a:t>
            </a:r>
            <a:endParaRPr lang="en-IN" b="1" dirty="0"/>
          </a:p>
        </p:txBody>
      </p:sp>
      <p:sp>
        <p:nvSpPr>
          <p:cNvPr id="43" name="TextBox 42"/>
          <p:cNvSpPr txBox="1"/>
          <p:nvPr/>
        </p:nvSpPr>
        <p:spPr>
          <a:xfrm>
            <a:off x="8626620" y="4264799"/>
            <a:ext cx="1496817" cy="646331"/>
          </a:xfrm>
          <a:prstGeom prst="rect">
            <a:avLst/>
          </a:prstGeom>
          <a:noFill/>
        </p:spPr>
        <p:txBody>
          <a:bodyPr wrap="square" rtlCol="0">
            <a:spAutoFit/>
          </a:bodyPr>
          <a:lstStyle/>
          <a:p>
            <a:pPr algn="ctr"/>
            <a:r>
              <a:rPr lang="en-IN" b="1" dirty="0" smtClean="0"/>
              <a:t>Right Methodology</a:t>
            </a:r>
            <a:endParaRPr lang="en-IN" b="1" dirty="0"/>
          </a:p>
        </p:txBody>
      </p:sp>
      <p:sp>
        <p:nvSpPr>
          <p:cNvPr id="45" name="Oval 44"/>
          <p:cNvSpPr/>
          <p:nvPr/>
        </p:nvSpPr>
        <p:spPr>
          <a:xfrm>
            <a:off x="6706941" y="2070200"/>
            <a:ext cx="1786029" cy="1678555"/>
          </a:xfrm>
          <a:prstGeom prst="ellipse">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Oval 45"/>
          <p:cNvSpPr/>
          <p:nvPr/>
        </p:nvSpPr>
        <p:spPr>
          <a:xfrm>
            <a:off x="6684887" y="4308810"/>
            <a:ext cx="1786029" cy="1678555"/>
          </a:xfrm>
          <a:prstGeom prst="ellipse">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TextBox 46"/>
          <p:cNvSpPr txBox="1"/>
          <p:nvPr/>
        </p:nvSpPr>
        <p:spPr>
          <a:xfrm>
            <a:off x="7009185" y="5291925"/>
            <a:ext cx="1065126" cy="646331"/>
          </a:xfrm>
          <a:prstGeom prst="rect">
            <a:avLst/>
          </a:prstGeom>
          <a:noFill/>
        </p:spPr>
        <p:txBody>
          <a:bodyPr wrap="square" rtlCol="0">
            <a:spAutoFit/>
          </a:bodyPr>
          <a:lstStyle/>
          <a:p>
            <a:pPr algn="ctr"/>
            <a:r>
              <a:rPr lang="en-IN" b="1" dirty="0" smtClean="0"/>
              <a:t>Right Tool</a:t>
            </a:r>
            <a:endParaRPr lang="en-IN" b="1" dirty="0"/>
          </a:p>
        </p:txBody>
      </p:sp>
      <p:pic>
        <p:nvPicPr>
          <p:cNvPr id="1028" name="Picture 4" descr="Related imag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06772" y="3668113"/>
            <a:ext cx="762000" cy="762000"/>
          </a:xfrm>
          <a:prstGeom prst="rect">
            <a:avLst/>
          </a:prstGeom>
          <a:noFill/>
          <a:extLst>
            <a:ext uri="{909E8E84-426E-40DD-AFC4-6F175D3DCCD1}">
              <a14:hiddenFill xmlns:a14="http://schemas.microsoft.com/office/drawing/2010/main">
                <a:solidFill>
                  <a:srgbClr val="FFFFFF"/>
                </a:solidFill>
              </a14:hiddenFill>
            </a:ext>
          </a:extLst>
        </p:spPr>
      </p:pic>
      <p:sp>
        <p:nvSpPr>
          <p:cNvPr id="49" name="Oval 48"/>
          <p:cNvSpPr/>
          <p:nvPr/>
        </p:nvSpPr>
        <p:spPr>
          <a:xfrm>
            <a:off x="10633551" y="3380660"/>
            <a:ext cx="1508443" cy="1429901"/>
          </a:xfrm>
          <a:prstGeom prst="ellipse">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1" name="Straight Arrow Connector 20"/>
          <p:cNvCxnSpPr>
            <a:stCxn id="3" idx="7"/>
          </p:cNvCxnSpPr>
          <p:nvPr/>
        </p:nvCxnSpPr>
        <p:spPr>
          <a:xfrm flipV="1">
            <a:off x="6491601" y="3209836"/>
            <a:ext cx="261558" cy="245819"/>
          </a:xfrm>
          <a:prstGeom prst="straightConnector1">
            <a:avLst/>
          </a:prstGeom>
          <a:ln w="6032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6426464" y="4739705"/>
            <a:ext cx="298020" cy="216004"/>
          </a:xfrm>
          <a:prstGeom prst="straightConnector1">
            <a:avLst/>
          </a:prstGeom>
          <a:ln w="6032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45" idx="6"/>
          </p:cNvCxnSpPr>
          <p:nvPr/>
        </p:nvCxnSpPr>
        <p:spPr>
          <a:xfrm>
            <a:off x="8492970" y="2909478"/>
            <a:ext cx="394345" cy="498076"/>
          </a:xfrm>
          <a:prstGeom prst="straightConnector1">
            <a:avLst/>
          </a:prstGeom>
          <a:ln w="6032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46" idx="6"/>
          </p:cNvCxnSpPr>
          <p:nvPr/>
        </p:nvCxnSpPr>
        <p:spPr>
          <a:xfrm flipV="1">
            <a:off x="8470916" y="4837455"/>
            <a:ext cx="434483" cy="310633"/>
          </a:xfrm>
          <a:prstGeom prst="straightConnector1">
            <a:avLst/>
          </a:prstGeom>
          <a:ln w="6032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4" idx="6"/>
            <a:endCxn id="49" idx="2"/>
          </p:cNvCxnSpPr>
          <p:nvPr/>
        </p:nvCxnSpPr>
        <p:spPr>
          <a:xfrm flipV="1">
            <a:off x="10367435" y="4095611"/>
            <a:ext cx="266116" cy="6265"/>
          </a:xfrm>
          <a:prstGeom prst="straightConnector1">
            <a:avLst/>
          </a:prstGeom>
          <a:ln w="6032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494169" y="5929919"/>
            <a:ext cx="6976176" cy="369332"/>
          </a:xfrm>
          <a:prstGeom prst="rect">
            <a:avLst/>
          </a:prstGeom>
          <a:noFill/>
        </p:spPr>
        <p:txBody>
          <a:bodyPr wrap="square" rtlCol="0">
            <a:spAutoFit/>
          </a:bodyPr>
          <a:lstStyle/>
          <a:p>
            <a:pPr algn="ctr"/>
            <a:r>
              <a:rPr lang="en-IN" b="1" i="1" dirty="0" smtClean="0">
                <a:solidFill>
                  <a:schemeClr val="bg1">
                    <a:lumMod val="75000"/>
                  </a:schemeClr>
                </a:solidFill>
              </a:rPr>
              <a:t>The tool is just one piece in the journey to business impact</a:t>
            </a:r>
            <a:endParaRPr lang="en-IN" b="1" i="1" dirty="0">
              <a:solidFill>
                <a:schemeClr val="bg1">
                  <a:lumMod val="75000"/>
                </a:schemeClr>
              </a:solidFill>
            </a:endParaRPr>
          </a:p>
        </p:txBody>
      </p:sp>
      <p:pic>
        <p:nvPicPr>
          <p:cNvPr id="48" name="Picture 47"/>
          <p:cNvPicPr>
            <a:picLocks noChangeAspect="1"/>
          </p:cNvPicPr>
          <p:nvPr/>
        </p:nvPicPr>
        <p:blipFill>
          <a:blip r:embed="rId9"/>
          <a:stretch>
            <a:fillRect/>
          </a:stretch>
        </p:blipFill>
        <p:spPr>
          <a:xfrm>
            <a:off x="84294" y="2262906"/>
            <a:ext cx="4416220" cy="3363249"/>
          </a:xfrm>
          <a:prstGeom prst="rect">
            <a:avLst/>
          </a:prstGeom>
        </p:spPr>
      </p:pic>
    </p:spTree>
    <p:extLst>
      <p:ext uri="{BB962C8B-B14F-4D97-AF65-F5344CB8AC3E}">
        <p14:creationId xmlns:p14="http://schemas.microsoft.com/office/powerpoint/2010/main" val="40185562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1" y="237066"/>
            <a:ext cx="12192000" cy="523220"/>
            <a:chOff x="1" y="291779"/>
            <a:chExt cx="12192000" cy="523220"/>
          </a:xfrm>
        </p:grpSpPr>
        <p:cxnSp>
          <p:nvCxnSpPr>
            <p:cNvPr id="6" name="Straight Connector 5"/>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2501332" y="291779"/>
              <a:ext cx="7189469"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Tata Steel and Tata </a:t>
              </a:r>
              <a:r>
                <a:rPr lang="en-IN" sz="2800" b="1" dirty="0" err="1" smtClean="0">
                  <a:solidFill>
                    <a:srgbClr val="0070C0"/>
                  </a:solidFill>
                  <a:latin typeface="Leelawadee UI" panose="020B0502040204020203" pitchFamily="34" charset="-34"/>
                  <a:cs typeface="Leelawadee UI" panose="020B0502040204020203" pitchFamily="34" charset="-34"/>
                </a:rPr>
                <a:t>iQ</a:t>
              </a:r>
              <a:r>
                <a:rPr lang="en-IN" sz="2800" b="1" dirty="0" smtClean="0">
                  <a:solidFill>
                    <a:srgbClr val="0070C0"/>
                  </a:solidFill>
                  <a:latin typeface="Leelawadee UI" panose="020B0502040204020203" pitchFamily="34" charset="-34"/>
                  <a:cs typeface="Leelawadee UI" panose="020B0502040204020203" pitchFamily="34" charset="-34"/>
                </a:rPr>
                <a:t> </a:t>
              </a:r>
              <a:r>
                <a:rPr lang="en-IN" sz="2400" i="1" dirty="0" smtClean="0">
                  <a:solidFill>
                    <a:srgbClr val="0070C0"/>
                  </a:solidFill>
                  <a:latin typeface="Leelawadee UI" panose="020B0502040204020203" pitchFamily="34" charset="-34"/>
                  <a:cs typeface="Leelawadee UI" panose="020B0502040204020203" pitchFamily="34" charset="-34"/>
                </a:rPr>
                <a:t>– the partnership model</a:t>
              </a:r>
            </a:p>
          </p:txBody>
        </p:sp>
      </p:grpSp>
      <p:sp>
        <p:nvSpPr>
          <p:cNvPr id="67" name="Slide Number Placeholder 3"/>
          <p:cNvSpPr txBox="1">
            <a:spLocks/>
          </p:cNvSpPr>
          <p:nvPr/>
        </p:nvSpPr>
        <p:spPr>
          <a:xfrm>
            <a:off x="9448800" y="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smtClean="0"/>
              <a:t>14</a:t>
            </a:r>
            <a:endParaRPr lang="en-IN" dirty="0"/>
          </a:p>
        </p:txBody>
      </p:sp>
      <p:sp>
        <p:nvSpPr>
          <p:cNvPr id="3" name="TextBox 2"/>
          <p:cNvSpPr txBox="1"/>
          <p:nvPr/>
        </p:nvSpPr>
        <p:spPr>
          <a:xfrm>
            <a:off x="4171566" y="2032141"/>
            <a:ext cx="2215167" cy="369332"/>
          </a:xfrm>
          <a:prstGeom prst="rect">
            <a:avLst/>
          </a:prstGeom>
          <a:noFill/>
        </p:spPr>
        <p:txBody>
          <a:bodyPr wrap="square" rtlCol="0">
            <a:spAutoFit/>
          </a:bodyPr>
          <a:lstStyle/>
          <a:p>
            <a:pPr algn="ctr"/>
            <a:r>
              <a:rPr lang="en-IN" dirty="0" smtClean="0">
                <a:solidFill>
                  <a:schemeClr val="bg1"/>
                </a:solidFill>
              </a:rPr>
              <a:t>COE</a:t>
            </a:r>
            <a:endParaRPr lang="en-IN" dirty="0">
              <a:solidFill>
                <a:schemeClr val="bg1"/>
              </a:solidFill>
            </a:endParaRPr>
          </a:p>
        </p:txBody>
      </p:sp>
      <p:sp>
        <p:nvSpPr>
          <p:cNvPr id="8" name="Oval 7"/>
          <p:cNvSpPr/>
          <p:nvPr/>
        </p:nvSpPr>
        <p:spPr>
          <a:xfrm>
            <a:off x="4171566" y="2964180"/>
            <a:ext cx="1434902" cy="8507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Tata Steel Seed  Team</a:t>
            </a:r>
            <a:endParaRPr lang="en-IN" sz="1400" dirty="0"/>
          </a:p>
        </p:txBody>
      </p:sp>
      <p:sp>
        <p:nvSpPr>
          <p:cNvPr id="21" name="Oval 20"/>
          <p:cNvSpPr/>
          <p:nvPr/>
        </p:nvSpPr>
        <p:spPr>
          <a:xfrm>
            <a:off x="5606468" y="2964180"/>
            <a:ext cx="1434902" cy="850772"/>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Tata </a:t>
            </a:r>
            <a:r>
              <a:rPr lang="en-IN" sz="1400" dirty="0" err="1" smtClean="0"/>
              <a:t>iQ</a:t>
            </a:r>
            <a:r>
              <a:rPr lang="en-IN" sz="1400" dirty="0" smtClean="0"/>
              <a:t> Seed Team</a:t>
            </a:r>
            <a:endParaRPr lang="en-IN" sz="1400" dirty="0"/>
          </a:p>
        </p:txBody>
      </p:sp>
      <p:sp>
        <p:nvSpPr>
          <p:cNvPr id="9" name="Oval 8"/>
          <p:cNvSpPr/>
          <p:nvPr/>
        </p:nvSpPr>
        <p:spPr>
          <a:xfrm>
            <a:off x="3733452" y="2588459"/>
            <a:ext cx="3834969" cy="1631853"/>
          </a:xfrm>
          <a:prstGeom prst="ellipse">
            <a:avLst/>
          </a:prstGeom>
          <a:noFill/>
          <a:ln w="41275">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ight Arrow 26"/>
          <p:cNvSpPr/>
          <p:nvPr/>
        </p:nvSpPr>
        <p:spPr>
          <a:xfrm>
            <a:off x="7568421" y="3114695"/>
            <a:ext cx="295422" cy="5793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p:cNvSpPr txBox="1"/>
          <p:nvPr/>
        </p:nvSpPr>
        <p:spPr>
          <a:xfrm>
            <a:off x="7816949" y="3219718"/>
            <a:ext cx="937845" cy="369332"/>
          </a:xfrm>
          <a:prstGeom prst="rect">
            <a:avLst/>
          </a:prstGeom>
          <a:noFill/>
        </p:spPr>
        <p:txBody>
          <a:bodyPr wrap="square" rtlCol="0">
            <a:spAutoFit/>
          </a:bodyPr>
          <a:lstStyle/>
          <a:p>
            <a:r>
              <a:rPr lang="en-IN" dirty="0" smtClean="0"/>
              <a:t>Training</a:t>
            </a:r>
            <a:endParaRPr lang="en-IN" dirty="0"/>
          </a:p>
        </p:txBody>
      </p:sp>
      <p:sp>
        <p:nvSpPr>
          <p:cNvPr id="38" name="Right Arrow 37"/>
          <p:cNvSpPr/>
          <p:nvPr/>
        </p:nvSpPr>
        <p:spPr>
          <a:xfrm rot="5400000">
            <a:off x="5437656" y="4057373"/>
            <a:ext cx="337623" cy="6635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p:cNvSpPr txBox="1"/>
          <p:nvPr/>
        </p:nvSpPr>
        <p:spPr>
          <a:xfrm>
            <a:off x="4986307" y="4557937"/>
            <a:ext cx="1903826" cy="369332"/>
          </a:xfrm>
          <a:prstGeom prst="rect">
            <a:avLst/>
          </a:prstGeom>
          <a:noFill/>
        </p:spPr>
        <p:txBody>
          <a:bodyPr wrap="square" rtlCol="0">
            <a:spAutoFit/>
          </a:bodyPr>
          <a:lstStyle/>
          <a:p>
            <a:r>
              <a:rPr lang="en-IN" dirty="0" smtClean="0"/>
              <a:t>Recruitment</a:t>
            </a:r>
            <a:endParaRPr lang="en-IN" dirty="0"/>
          </a:p>
        </p:txBody>
      </p:sp>
      <p:sp>
        <p:nvSpPr>
          <p:cNvPr id="40" name="Right Arrow 39"/>
          <p:cNvSpPr/>
          <p:nvPr/>
        </p:nvSpPr>
        <p:spPr>
          <a:xfrm rot="10800000">
            <a:off x="3444909" y="3167829"/>
            <a:ext cx="290892" cy="5164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p:cNvSpPr txBox="1"/>
          <p:nvPr/>
        </p:nvSpPr>
        <p:spPr>
          <a:xfrm>
            <a:off x="2379246" y="3241372"/>
            <a:ext cx="1381306" cy="369332"/>
          </a:xfrm>
          <a:prstGeom prst="rect">
            <a:avLst/>
          </a:prstGeom>
          <a:noFill/>
        </p:spPr>
        <p:txBody>
          <a:bodyPr wrap="square" rtlCol="0">
            <a:spAutoFit/>
          </a:bodyPr>
          <a:lstStyle/>
          <a:p>
            <a:r>
              <a:rPr lang="en-IN" dirty="0" smtClean="0"/>
              <a:t>Efficiency</a:t>
            </a:r>
            <a:endParaRPr lang="en-IN" dirty="0"/>
          </a:p>
        </p:txBody>
      </p:sp>
      <p:sp>
        <p:nvSpPr>
          <p:cNvPr id="42" name="Right Arrow 41"/>
          <p:cNvSpPr/>
          <p:nvPr/>
        </p:nvSpPr>
        <p:spPr>
          <a:xfrm rot="16200000">
            <a:off x="5517423" y="2090956"/>
            <a:ext cx="267026" cy="6635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TextBox 42"/>
          <p:cNvSpPr txBox="1"/>
          <p:nvPr/>
        </p:nvSpPr>
        <p:spPr>
          <a:xfrm>
            <a:off x="4713866" y="1971756"/>
            <a:ext cx="2537645" cy="369332"/>
          </a:xfrm>
          <a:prstGeom prst="rect">
            <a:avLst/>
          </a:prstGeom>
          <a:noFill/>
        </p:spPr>
        <p:txBody>
          <a:bodyPr wrap="square" rtlCol="0">
            <a:spAutoFit/>
          </a:bodyPr>
          <a:lstStyle/>
          <a:p>
            <a:r>
              <a:rPr lang="en-IN" dirty="0" smtClean="0"/>
              <a:t>Repeatable Success</a:t>
            </a:r>
            <a:endParaRPr lang="en-IN" dirty="0"/>
          </a:p>
        </p:txBody>
      </p:sp>
      <p:sp>
        <p:nvSpPr>
          <p:cNvPr id="44" name="Right Arrow 43"/>
          <p:cNvSpPr/>
          <p:nvPr/>
        </p:nvSpPr>
        <p:spPr>
          <a:xfrm rot="18092212">
            <a:off x="6850338" y="2379480"/>
            <a:ext cx="384729" cy="5265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TextBox 44"/>
          <p:cNvSpPr txBox="1"/>
          <p:nvPr/>
        </p:nvSpPr>
        <p:spPr>
          <a:xfrm>
            <a:off x="6984611" y="2203008"/>
            <a:ext cx="1414518" cy="369332"/>
          </a:xfrm>
          <a:prstGeom prst="rect">
            <a:avLst/>
          </a:prstGeom>
          <a:noFill/>
        </p:spPr>
        <p:txBody>
          <a:bodyPr wrap="square" rtlCol="0">
            <a:spAutoFit/>
          </a:bodyPr>
          <a:lstStyle/>
          <a:p>
            <a:r>
              <a:rPr lang="en-IN" dirty="0" smtClean="0"/>
              <a:t>Innovation</a:t>
            </a:r>
            <a:endParaRPr lang="en-IN" dirty="0"/>
          </a:p>
        </p:txBody>
      </p:sp>
      <p:sp>
        <p:nvSpPr>
          <p:cNvPr id="46" name="Right Arrow 45"/>
          <p:cNvSpPr/>
          <p:nvPr/>
        </p:nvSpPr>
        <p:spPr>
          <a:xfrm rot="6787887">
            <a:off x="4250108" y="3957055"/>
            <a:ext cx="318292" cy="5265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TextBox 46"/>
          <p:cNvSpPr txBox="1"/>
          <p:nvPr/>
        </p:nvSpPr>
        <p:spPr>
          <a:xfrm rot="1461632">
            <a:off x="3498092" y="4303678"/>
            <a:ext cx="1557751" cy="369332"/>
          </a:xfrm>
          <a:prstGeom prst="rect">
            <a:avLst/>
          </a:prstGeom>
          <a:noFill/>
        </p:spPr>
        <p:txBody>
          <a:bodyPr wrap="square" rtlCol="0">
            <a:spAutoFit/>
          </a:bodyPr>
          <a:lstStyle/>
          <a:p>
            <a:r>
              <a:rPr lang="en-IN" dirty="0" smtClean="0"/>
              <a:t>Relationships</a:t>
            </a:r>
            <a:endParaRPr lang="en-IN" dirty="0"/>
          </a:p>
        </p:txBody>
      </p:sp>
      <p:sp>
        <p:nvSpPr>
          <p:cNvPr id="48" name="Right Arrow 47"/>
          <p:cNvSpPr/>
          <p:nvPr/>
        </p:nvSpPr>
        <p:spPr>
          <a:xfrm rot="14422498">
            <a:off x="4023653" y="2441592"/>
            <a:ext cx="297242" cy="5265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TextBox 48"/>
          <p:cNvSpPr txBox="1"/>
          <p:nvPr/>
        </p:nvSpPr>
        <p:spPr>
          <a:xfrm rot="19557600">
            <a:off x="3670431" y="1996426"/>
            <a:ext cx="1557751" cy="369332"/>
          </a:xfrm>
          <a:prstGeom prst="rect">
            <a:avLst/>
          </a:prstGeom>
          <a:noFill/>
        </p:spPr>
        <p:txBody>
          <a:bodyPr wrap="square" rtlCol="0">
            <a:spAutoFit/>
          </a:bodyPr>
          <a:lstStyle/>
          <a:p>
            <a:r>
              <a:rPr lang="en-IN" dirty="0" smtClean="0"/>
              <a:t>KM</a:t>
            </a:r>
            <a:endParaRPr lang="en-IN" dirty="0"/>
          </a:p>
        </p:txBody>
      </p:sp>
      <p:sp>
        <p:nvSpPr>
          <p:cNvPr id="50" name="Right Arrow 49"/>
          <p:cNvSpPr/>
          <p:nvPr/>
        </p:nvSpPr>
        <p:spPr>
          <a:xfrm rot="3921412">
            <a:off x="6786910" y="3960684"/>
            <a:ext cx="422969" cy="5698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TextBox 50"/>
          <p:cNvSpPr txBox="1"/>
          <p:nvPr/>
        </p:nvSpPr>
        <p:spPr>
          <a:xfrm rot="19865332">
            <a:off x="6573645" y="4204459"/>
            <a:ext cx="1619811" cy="369332"/>
          </a:xfrm>
          <a:prstGeom prst="rect">
            <a:avLst/>
          </a:prstGeom>
          <a:noFill/>
        </p:spPr>
        <p:txBody>
          <a:bodyPr wrap="square" rtlCol="0">
            <a:spAutoFit/>
          </a:bodyPr>
          <a:lstStyle/>
          <a:p>
            <a:r>
              <a:rPr lang="en-IN" dirty="0" smtClean="0"/>
              <a:t>Technology </a:t>
            </a:r>
            <a:endParaRPr lang="en-IN" dirty="0"/>
          </a:p>
        </p:txBody>
      </p:sp>
      <p:sp>
        <p:nvSpPr>
          <p:cNvPr id="29" name="Oval 28"/>
          <p:cNvSpPr/>
          <p:nvPr/>
        </p:nvSpPr>
        <p:spPr>
          <a:xfrm>
            <a:off x="2166426" y="1592076"/>
            <a:ext cx="7090116" cy="3627042"/>
          </a:xfrm>
          <a:prstGeom prst="ellipse">
            <a:avLst/>
          </a:prstGeom>
          <a:solidFill>
            <a:schemeClr val="accent1">
              <a:lumMod val="60000"/>
              <a:lumOff val="40000"/>
              <a:alpha val="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p:cNvSpPr/>
          <p:nvPr/>
        </p:nvSpPr>
        <p:spPr>
          <a:xfrm>
            <a:off x="1182154" y="1420452"/>
            <a:ext cx="1638548" cy="899009"/>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Customers - plant</a:t>
            </a:r>
            <a:endParaRPr lang="en-IN" sz="1600" dirty="0"/>
          </a:p>
        </p:txBody>
      </p:sp>
      <p:sp>
        <p:nvSpPr>
          <p:cNvPr id="54" name="Oval 53"/>
          <p:cNvSpPr/>
          <p:nvPr/>
        </p:nvSpPr>
        <p:spPr>
          <a:xfrm>
            <a:off x="212079" y="2300783"/>
            <a:ext cx="1638548" cy="899009"/>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Customers - marketing</a:t>
            </a:r>
            <a:endParaRPr lang="en-IN" sz="1600" dirty="0"/>
          </a:p>
        </p:txBody>
      </p:sp>
      <p:sp>
        <p:nvSpPr>
          <p:cNvPr id="55" name="Oval 54"/>
          <p:cNvSpPr/>
          <p:nvPr/>
        </p:nvSpPr>
        <p:spPr>
          <a:xfrm>
            <a:off x="179362" y="3565002"/>
            <a:ext cx="1638548" cy="899009"/>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Customers – supply chain</a:t>
            </a:r>
            <a:endParaRPr lang="en-IN" sz="1600" dirty="0"/>
          </a:p>
        </p:txBody>
      </p:sp>
      <p:sp>
        <p:nvSpPr>
          <p:cNvPr id="56" name="Oval 55"/>
          <p:cNvSpPr/>
          <p:nvPr/>
        </p:nvSpPr>
        <p:spPr>
          <a:xfrm>
            <a:off x="1016040" y="4492823"/>
            <a:ext cx="1638548" cy="899009"/>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Customers – HR/Fin</a:t>
            </a:r>
            <a:endParaRPr lang="en-IN" sz="1600" dirty="0"/>
          </a:p>
        </p:txBody>
      </p:sp>
      <p:cxnSp>
        <p:nvCxnSpPr>
          <p:cNvPr id="32" name="Straight Arrow Connector 31"/>
          <p:cNvCxnSpPr>
            <a:stCxn id="29" idx="1"/>
            <a:endCxn id="30" idx="6"/>
          </p:cNvCxnSpPr>
          <p:nvPr/>
        </p:nvCxnSpPr>
        <p:spPr>
          <a:xfrm flipH="1" flipV="1">
            <a:off x="2820702" y="1869957"/>
            <a:ext cx="384047" cy="253287"/>
          </a:xfrm>
          <a:prstGeom prst="straightConnector1">
            <a:avLst/>
          </a:prstGeom>
          <a:ln w="6985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endCxn id="54" idx="6"/>
          </p:cNvCxnSpPr>
          <p:nvPr/>
        </p:nvCxnSpPr>
        <p:spPr>
          <a:xfrm flipH="1" flipV="1">
            <a:off x="1850627" y="2750288"/>
            <a:ext cx="471044" cy="194099"/>
          </a:xfrm>
          <a:prstGeom prst="straightConnector1">
            <a:avLst/>
          </a:prstGeom>
          <a:ln w="6985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55" idx="6"/>
          </p:cNvCxnSpPr>
          <p:nvPr/>
        </p:nvCxnSpPr>
        <p:spPr>
          <a:xfrm flipH="1">
            <a:off x="1817910" y="3814952"/>
            <a:ext cx="411014" cy="199555"/>
          </a:xfrm>
          <a:prstGeom prst="straightConnector1">
            <a:avLst/>
          </a:prstGeom>
          <a:ln w="6985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endCxn id="56" idx="6"/>
          </p:cNvCxnSpPr>
          <p:nvPr/>
        </p:nvCxnSpPr>
        <p:spPr>
          <a:xfrm flipH="1">
            <a:off x="2654588" y="4670478"/>
            <a:ext cx="425664" cy="271850"/>
          </a:xfrm>
          <a:prstGeom prst="straightConnector1">
            <a:avLst/>
          </a:prstGeom>
          <a:ln w="6985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Oval 52"/>
          <p:cNvSpPr/>
          <p:nvPr/>
        </p:nvSpPr>
        <p:spPr>
          <a:xfrm>
            <a:off x="10016084" y="2904087"/>
            <a:ext cx="2133712" cy="1000594"/>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Tata </a:t>
            </a:r>
            <a:r>
              <a:rPr lang="en-IN" sz="1400" dirty="0" err="1" smtClean="0"/>
              <a:t>iQ</a:t>
            </a:r>
            <a:r>
              <a:rPr lang="en-IN" sz="1400" dirty="0" smtClean="0"/>
              <a:t> ad-hoc project team</a:t>
            </a:r>
            <a:endParaRPr lang="en-IN" sz="1400" dirty="0"/>
          </a:p>
        </p:txBody>
      </p:sp>
      <p:cxnSp>
        <p:nvCxnSpPr>
          <p:cNvPr id="58" name="Straight Arrow Connector 57"/>
          <p:cNvCxnSpPr>
            <a:stCxn id="53" idx="2"/>
            <a:endCxn id="29" idx="6"/>
          </p:cNvCxnSpPr>
          <p:nvPr/>
        </p:nvCxnSpPr>
        <p:spPr>
          <a:xfrm flipH="1">
            <a:off x="9256542" y="3404384"/>
            <a:ext cx="759542" cy="1213"/>
          </a:xfrm>
          <a:prstGeom prst="straightConnector1">
            <a:avLst/>
          </a:prstGeom>
          <a:ln w="66675">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3" name="Oval 72"/>
          <p:cNvSpPr/>
          <p:nvPr/>
        </p:nvSpPr>
        <p:spPr>
          <a:xfrm>
            <a:off x="8785784" y="1282083"/>
            <a:ext cx="2004854" cy="899009"/>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Other partners - tech</a:t>
            </a:r>
            <a:endParaRPr lang="en-IN" sz="1600" dirty="0"/>
          </a:p>
        </p:txBody>
      </p:sp>
      <p:sp>
        <p:nvSpPr>
          <p:cNvPr id="74" name="Oval 73"/>
          <p:cNvSpPr/>
          <p:nvPr/>
        </p:nvSpPr>
        <p:spPr>
          <a:xfrm>
            <a:off x="8948762" y="4678468"/>
            <a:ext cx="2004854" cy="899009"/>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Other partners – specialised services</a:t>
            </a:r>
            <a:endParaRPr lang="en-IN" sz="1600" dirty="0"/>
          </a:p>
        </p:txBody>
      </p:sp>
      <p:cxnSp>
        <p:nvCxnSpPr>
          <p:cNvPr id="76" name="Straight Arrow Connector 75"/>
          <p:cNvCxnSpPr>
            <a:stCxn id="74" idx="1"/>
          </p:cNvCxnSpPr>
          <p:nvPr/>
        </p:nvCxnSpPr>
        <p:spPr>
          <a:xfrm flipH="1" flipV="1">
            <a:off x="8754794" y="4346921"/>
            <a:ext cx="487572" cy="463204"/>
          </a:xfrm>
          <a:prstGeom prst="straightConnector1">
            <a:avLst/>
          </a:prstGeom>
          <a:ln w="66675">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73" idx="2"/>
            <a:endCxn id="29" idx="7"/>
          </p:cNvCxnSpPr>
          <p:nvPr/>
        </p:nvCxnSpPr>
        <p:spPr>
          <a:xfrm flipH="1">
            <a:off x="8218219" y="1731588"/>
            <a:ext cx="567565" cy="391656"/>
          </a:xfrm>
          <a:prstGeom prst="straightConnector1">
            <a:avLst/>
          </a:prstGeom>
          <a:ln w="66675">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3204750" y="870976"/>
            <a:ext cx="4971266" cy="707886"/>
          </a:xfrm>
          <a:prstGeom prst="rect">
            <a:avLst/>
          </a:prstGeom>
          <a:noFill/>
        </p:spPr>
        <p:txBody>
          <a:bodyPr wrap="square" rtlCol="0">
            <a:spAutoFit/>
          </a:bodyPr>
          <a:lstStyle/>
          <a:p>
            <a:pPr algn="ctr"/>
            <a:r>
              <a:rPr lang="en-IN" sz="2400" b="1" dirty="0" smtClean="0">
                <a:solidFill>
                  <a:schemeClr val="accent3">
                    <a:lumMod val="50000"/>
                  </a:schemeClr>
                </a:solidFill>
              </a:rPr>
              <a:t>Tata Steel Analytics COE – </a:t>
            </a:r>
            <a:r>
              <a:rPr lang="en-IN" sz="1600" b="1" dirty="0" smtClean="0">
                <a:solidFill>
                  <a:schemeClr val="accent3">
                    <a:lumMod val="50000"/>
                  </a:schemeClr>
                </a:solidFill>
              </a:rPr>
              <a:t>consisting of members of Tata Steel team and dedicated Tata </a:t>
            </a:r>
            <a:r>
              <a:rPr lang="en-IN" sz="1600" b="1" dirty="0" err="1" smtClean="0">
                <a:solidFill>
                  <a:schemeClr val="accent3">
                    <a:lumMod val="50000"/>
                  </a:schemeClr>
                </a:solidFill>
              </a:rPr>
              <a:t>iQ</a:t>
            </a:r>
            <a:r>
              <a:rPr lang="en-IN" sz="1600" b="1" dirty="0" smtClean="0">
                <a:solidFill>
                  <a:schemeClr val="accent3">
                    <a:lumMod val="50000"/>
                  </a:schemeClr>
                </a:solidFill>
              </a:rPr>
              <a:t> team</a:t>
            </a:r>
            <a:endParaRPr lang="en-IN" sz="1600" b="1" dirty="0">
              <a:solidFill>
                <a:schemeClr val="accent3">
                  <a:lumMod val="50000"/>
                </a:schemeClr>
              </a:solidFill>
            </a:endParaRPr>
          </a:p>
        </p:txBody>
      </p:sp>
      <p:sp>
        <p:nvSpPr>
          <p:cNvPr id="82" name="TextBox 81"/>
          <p:cNvSpPr txBox="1"/>
          <p:nvPr/>
        </p:nvSpPr>
        <p:spPr>
          <a:xfrm>
            <a:off x="0" y="5627077"/>
            <a:ext cx="11999742" cy="646331"/>
          </a:xfrm>
          <a:prstGeom prst="rect">
            <a:avLst/>
          </a:prstGeom>
          <a:noFill/>
        </p:spPr>
        <p:txBody>
          <a:bodyPr wrap="square" rtlCol="0">
            <a:spAutoFit/>
          </a:bodyPr>
          <a:lstStyle/>
          <a:p>
            <a:pPr algn="ctr"/>
            <a:r>
              <a:rPr lang="en-IN" dirty="0" smtClean="0">
                <a:solidFill>
                  <a:schemeClr val="accent1">
                    <a:lumMod val="75000"/>
                  </a:schemeClr>
                </a:solidFill>
              </a:rPr>
              <a:t>Build the analytics COE, deliver quick impact projects, partner in creating POCs that are experimental in nature. And help manage peak loads when required.</a:t>
            </a:r>
            <a:endParaRPr lang="en-IN" dirty="0">
              <a:solidFill>
                <a:schemeClr val="accent1">
                  <a:lumMod val="75000"/>
                </a:schemeClr>
              </a:solidFill>
            </a:endParaRPr>
          </a:p>
        </p:txBody>
      </p:sp>
    </p:spTree>
    <p:extLst>
      <p:ext uri="{BB962C8B-B14F-4D97-AF65-F5344CB8AC3E}">
        <p14:creationId xmlns:p14="http://schemas.microsoft.com/office/powerpoint/2010/main" val="5821416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5</a:t>
            </a:fld>
            <a:endParaRPr lang="en-IN" dirty="0">
              <a:solidFill>
                <a:srgbClr val="000000">
                  <a:tint val="75000"/>
                </a:srgbClr>
              </a:solidFill>
            </a:endParaRPr>
          </a:p>
        </p:txBody>
      </p:sp>
      <p:sp>
        <p:nvSpPr>
          <p:cNvPr id="17" name="Rectangle 16"/>
          <p:cNvSpPr/>
          <p:nvPr/>
        </p:nvSpPr>
        <p:spPr>
          <a:xfrm>
            <a:off x="2926080" y="188912"/>
            <a:ext cx="6963508" cy="523220"/>
          </a:xfrm>
          <a:prstGeom prst="rect">
            <a:avLst/>
          </a:prstGeom>
          <a:solidFill>
            <a:schemeClr val="bg1"/>
          </a:solidFill>
        </p:spPr>
        <p:txBody>
          <a:bodyPr wrap="squar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Analytics @ Tata Steel – </a:t>
            </a:r>
            <a:r>
              <a:rPr lang="en-IN" sz="2400" i="1" dirty="0" smtClean="0">
                <a:solidFill>
                  <a:srgbClr val="0070C0"/>
                </a:solidFill>
                <a:latin typeface="Leelawadee UI" panose="020B0502040204020203" pitchFamily="34" charset="-34"/>
                <a:cs typeface="Leelawadee UI" panose="020B0502040204020203" pitchFamily="34" charset="-34"/>
              </a:rPr>
              <a:t>a semi outsider view</a:t>
            </a:r>
            <a:endParaRPr lang="en-IN" sz="2400" i="1" dirty="0">
              <a:solidFill>
                <a:srgbClr val="0070C0"/>
              </a:solidFill>
              <a:latin typeface="Leelawadee UI" panose="020B0502040204020203" pitchFamily="34" charset="-34"/>
              <a:cs typeface="Leelawadee UI" panose="020B0502040204020203" pitchFamily="34" charset="-34"/>
            </a:endParaRPr>
          </a:p>
        </p:txBody>
      </p:sp>
      <p:sp>
        <p:nvSpPr>
          <p:cNvPr id="19" name="Rectangle 18"/>
          <p:cNvSpPr/>
          <p:nvPr/>
        </p:nvSpPr>
        <p:spPr>
          <a:xfrm>
            <a:off x="1392701" y="1392701"/>
            <a:ext cx="2436054" cy="1983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Analytics Centre of Excellence</a:t>
            </a:r>
            <a:endParaRPr lang="en-IN" sz="2400" dirty="0"/>
          </a:p>
        </p:txBody>
      </p:sp>
      <p:sp>
        <p:nvSpPr>
          <p:cNvPr id="22" name="Rectangle 21"/>
          <p:cNvSpPr/>
          <p:nvPr/>
        </p:nvSpPr>
        <p:spPr>
          <a:xfrm>
            <a:off x="4935415" y="1392701"/>
            <a:ext cx="2436054" cy="1983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Operating Business Units</a:t>
            </a:r>
            <a:endParaRPr lang="en-IN" sz="2400" dirty="0"/>
          </a:p>
        </p:txBody>
      </p:sp>
      <p:sp>
        <p:nvSpPr>
          <p:cNvPr id="24" name="Rectangle 23"/>
          <p:cNvSpPr/>
          <p:nvPr/>
        </p:nvSpPr>
        <p:spPr>
          <a:xfrm>
            <a:off x="8675077" y="1392700"/>
            <a:ext cx="2436054" cy="1983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Partners</a:t>
            </a:r>
            <a:endParaRPr lang="en-IN" sz="2400" dirty="0"/>
          </a:p>
        </p:txBody>
      </p:sp>
      <p:sp>
        <p:nvSpPr>
          <p:cNvPr id="25" name="Rectangle 24"/>
          <p:cNvSpPr/>
          <p:nvPr/>
        </p:nvSpPr>
        <p:spPr>
          <a:xfrm>
            <a:off x="1392702" y="3376245"/>
            <a:ext cx="2436054" cy="2475915"/>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50000"/>
              </a:lnSpc>
            </a:pPr>
            <a:r>
              <a:rPr lang="en-IN" sz="2400" dirty="0" smtClean="0">
                <a:solidFill>
                  <a:schemeClr val="tx1"/>
                </a:solidFill>
                <a:latin typeface="Leelawadee" panose="020B0502040204020203" pitchFamily="34" charset="-34"/>
                <a:cs typeface="Leelawadee" panose="020B0502040204020203" pitchFamily="34" charset="-34"/>
              </a:rPr>
              <a:t>Depth</a:t>
            </a:r>
          </a:p>
          <a:p>
            <a:pPr lvl="0" algn="ctr">
              <a:lnSpc>
                <a:spcPct val="150000"/>
              </a:lnSpc>
            </a:pPr>
            <a:r>
              <a:rPr lang="en-IN" sz="2400" dirty="0" smtClean="0">
                <a:solidFill>
                  <a:schemeClr val="tx1"/>
                </a:solidFill>
                <a:latin typeface="Leelawadee" panose="020B0502040204020203" pitchFamily="34" charset="-34"/>
                <a:cs typeface="Leelawadee" panose="020B0502040204020203" pitchFamily="34" charset="-34"/>
              </a:rPr>
              <a:t>Expertise</a:t>
            </a:r>
            <a:endParaRPr lang="en-IN" sz="2400" dirty="0">
              <a:solidFill>
                <a:schemeClr val="tx1"/>
              </a:solidFill>
              <a:latin typeface="Leelawadee" panose="020B0502040204020203" pitchFamily="34" charset="-34"/>
              <a:cs typeface="Leelawadee" panose="020B0502040204020203" pitchFamily="34" charset="-34"/>
            </a:endParaRPr>
          </a:p>
        </p:txBody>
      </p:sp>
      <p:sp>
        <p:nvSpPr>
          <p:cNvPr id="26" name="Rectangle 25"/>
          <p:cNvSpPr/>
          <p:nvPr/>
        </p:nvSpPr>
        <p:spPr>
          <a:xfrm>
            <a:off x="4935414" y="3376245"/>
            <a:ext cx="2436054" cy="2475915"/>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50000"/>
              </a:lnSpc>
            </a:pPr>
            <a:r>
              <a:rPr lang="en-IN" sz="2400" dirty="0" smtClean="0">
                <a:solidFill>
                  <a:schemeClr val="tx1"/>
                </a:solidFill>
                <a:latin typeface="Leelawadee" panose="020B0502040204020203" pitchFamily="34" charset="-34"/>
                <a:cs typeface="Leelawadee" panose="020B0502040204020203" pitchFamily="34" charset="-34"/>
              </a:rPr>
              <a:t>Users</a:t>
            </a:r>
          </a:p>
          <a:p>
            <a:pPr lvl="0" algn="ctr">
              <a:lnSpc>
                <a:spcPct val="150000"/>
              </a:lnSpc>
            </a:pPr>
            <a:r>
              <a:rPr lang="en-IN" sz="2400" dirty="0" smtClean="0">
                <a:solidFill>
                  <a:schemeClr val="tx1"/>
                </a:solidFill>
                <a:latin typeface="Leelawadee" panose="020B0502040204020203" pitchFamily="34" charset="-34"/>
                <a:cs typeface="Leelawadee" panose="020B0502040204020203" pitchFamily="34" charset="-34"/>
              </a:rPr>
              <a:t>Evangelists</a:t>
            </a:r>
            <a:endParaRPr lang="en-IN" sz="2400" dirty="0">
              <a:solidFill>
                <a:schemeClr val="tx1"/>
              </a:solidFill>
              <a:latin typeface="Leelawadee" panose="020B0502040204020203" pitchFamily="34" charset="-34"/>
              <a:cs typeface="Leelawadee" panose="020B0502040204020203" pitchFamily="34" charset="-34"/>
            </a:endParaRPr>
          </a:p>
          <a:p>
            <a:pPr lvl="0" algn="ctr">
              <a:lnSpc>
                <a:spcPct val="150000"/>
              </a:lnSpc>
            </a:pPr>
            <a:r>
              <a:rPr lang="en-IN" sz="2400" dirty="0" smtClean="0">
                <a:solidFill>
                  <a:schemeClr val="tx1"/>
                </a:solidFill>
                <a:latin typeface="Leelawadee" panose="020B0502040204020203" pitchFamily="34" charset="-34"/>
                <a:cs typeface="Leelawadee" panose="020B0502040204020203" pitchFamily="34" charset="-34"/>
              </a:rPr>
              <a:t>Analytics aware</a:t>
            </a:r>
          </a:p>
        </p:txBody>
      </p:sp>
      <p:sp>
        <p:nvSpPr>
          <p:cNvPr id="27" name="Rectangle 26"/>
          <p:cNvSpPr/>
          <p:nvPr/>
        </p:nvSpPr>
        <p:spPr>
          <a:xfrm>
            <a:off x="8671561" y="3376245"/>
            <a:ext cx="2436054" cy="2475915"/>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50000"/>
              </a:lnSpc>
            </a:pPr>
            <a:r>
              <a:rPr lang="en-IN" sz="2400" dirty="0" smtClean="0">
                <a:solidFill>
                  <a:schemeClr val="tx1"/>
                </a:solidFill>
                <a:latin typeface="Leelawadee" panose="020B0502040204020203" pitchFamily="34" charset="-34"/>
                <a:cs typeface="Leelawadee" panose="020B0502040204020203" pitchFamily="34" charset="-34"/>
              </a:rPr>
              <a:t>Build Expertise</a:t>
            </a:r>
          </a:p>
          <a:p>
            <a:pPr lvl="0" algn="ctr">
              <a:lnSpc>
                <a:spcPct val="150000"/>
              </a:lnSpc>
            </a:pPr>
            <a:r>
              <a:rPr lang="en-IN" sz="2400" dirty="0" smtClean="0">
                <a:solidFill>
                  <a:schemeClr val="tx1"/>
                </a:solidFill>
                <a:latin typeface="Leelawadee" panose="020B0502040204020203" pitchFamily="34" charset="-34"/>
                <a:cs typeface="Leelawadee" panose="020B0502040204020203" pitchFamily="34" charset="-34"/>
              </a:rPr>
              <a:t>Co-learn</a:t>
            </a:r>
          </a:p>
          <a:p>
            <a:pPr lvl="0" algn="ctr">
              <a:lnSpc>
                <a:spcPct val="150000"/>
              </a:lnSpc>
            </a:pPr>
            <a:r>
              <a:rPr lang="en-IN" sz="2400" dirty="0" smtClean="0">
                <a:solidFill>
                  <a:schemeClr val="tx1"/>
                </a:solidFill>
                <a:latin typeface="Leelawadee" panose="020B0502040204020203" pitchFamily="34" charset="-34"/>
                <a:cs typeface="Leelawadee" panose="020B0502040204020203" pitchFamily="34" charset="-34"/>
              </a:rPr>
              <a:t>Co-create</a:t>
            </a:r>
          </a:p>
        </p:txBody>
      </p:sp>
    </p:spTree>
    <p:extLst>
      <p:ext uri="{BB962C8B-B14F-4D97-AF65-F5344CB8AC3E}">
        <p14:creationId xmlns:p14="http://schemas.microsoft.com/office/powerpoint/2010/main" val="23239715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6</a:t>
            </a:fld>
            <a:endParaRPr lang="en-IN" dirty="0">
              <a:solidFill>
                <a:srgbClr val="000000">
                  <a:tint val="75000"/>
                </a:srgbClr>
              </a:solidFill>
            </a:endParaRPr>
          </a:p>
        </p:txBody>
      </p:sp>
      <p:sp>
        <p:nvSpPr>
          <p:cNvPr id="17" name="Rectangle 16"/>
          <p:cNvSpPr/>
          <p:nvPr/>
        </p:nvSpPr>
        <p:spPr>
          <a:xfrm>
            <a:off x="3615397" y="188912"/>
            <a:ext cx="4881490" cy="523220"/>
          </a:xfrm>
          <a:prstGeom prst="rect">
            <a:avLst/>
          </a:prstGeom>
          <a:solidFill>
            <a:schemeClr val="bg1"/>
          </a:solidFill>
        </p:spPr>
        <p:txBody>
          <a:bodyPr wrap="squar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Tata </a:t>
            </a:r>
            <a:r>
              <a:rPr lang="en-IN" sz="2800" b="1" dirty="0" err="1" smtClean="0">
                <a:solidFill>
                  <a:srgbClr val="0070C0"/>
                </a:solidFill>
                <a:latin typeface="Leelawadee UI" panose="020B0502040204020203" pitchFamily="34" charset="-34"/>
                <a:cs typeface="Leelawadee UI" panose="020B0502040204020203" pitchFamily="34" charset="-34"/>
              </a:rPr>
              <a:t>iQ</a:t>
            </a:r>
            <a:r>
              <a:rPr lang="en-IN" sz="2800" b="1" dirty="0" smtClean="0">
                <a:solidFill>
                  <a:srgbClr val="0070C0"/>
                </a:solidFill>
                <a:latin typeface="Leelawadee UI" panose="020B0502040204020203" pitchFamily="34" charset="-34"/>
                <a:cs typeface="Leelawadee UI" panose="020B0502040204020203" pitchFamily="34" charset="-34"/>
              </a:rPr>
              <a:t> </a:t>
            </a:r>
            <a:r>
              <a:rPr lang="en-IN" sz="2400" i="1" dirty="0" smtClean="0">
                <a:solidFill>
                  <a:srgbClr val="0070C0"/>
                </a:solidFill>
                <a:latin typeface="Leelawadee UI" panose="020B0502040204020203" pitchFamily="34" charset="-34"/>
                <a:cs typeface="Leelawadee UI" panose="020B0502040204020203" pitchFamily="34" charset="-34"/>
              </a:rPr>
              <a:t>- about us</a:t>
            </a:r>
            <a:endParaRPr lang="en-IN" sz="2400" i="1" dirty="0">
              <a:solidFill>
                <a:srgbClr val="0070C0"/>
              </a:solidFill>
              <a:latin typeface="Leelawadee UI" panose="020B0502040204020203" pitchFamily="34" charset="-34"/>
              <a:cs typeface="Leelawadee UI" panose="020B0502040204020203" pitchFamily="34" charset="-34"/>
            </a:endParaRPr>
          </a:p>
        </p:txBody>
      </p:sp>
      <p:pic>
        <p:nvPicPr>
          <p:cNvPr id="3074" name="Picture 1" descr="tataiq"/>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7513" y="1026663"/>
            <a:ext cx="6197258" cy="2931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379829" y="4272595"/>
            <a:ext cx="11812171" cy="1446550"/>
          </a:xfrm>
          <a:prstGeom prst="rect">
            <a:avLst/>
          </a:prstGeom>
        </p:spPr>
        <p:txBody>
          <a:bodyPr wrap="square">
            <a:spAutoFit/>
          </a:bodyPr>
          <a:lstStyle/>
          <a:p>
            <a:pPr algn="ctr">
              <a:spcAft>
                <a:spcPts val="0"/>
              </a:spcAft>
            </a:pPr>
            <a:r>
              <a:rPr lang="en-US" sz="2200" b="1" i="1" dirty="0">
                <a:latin typeface="Calibri" panose="020F0502020204030204" pitchFamily="34" charset="0"/>
                <a:ea typeface="Calibri" panose="020F0502020204030204" pitchFamily="34" charset="0"/>
                <a:cs typeface="Times New Roman" panose="02020603050405020304" pitchFamily="18" charset="0"/>
              </a:rPr>
              <a:t>Tata </a:t>
            </a:r>
            <a:r>
              <a:rPr lang="en-US" sz="2200" b="1" i="1" dirty="0" err="1">
                <a:latin typeface="Calibri" panose="020F0502020204030204" pitchFamily="34" charset="0"/>
                <a:ea typeface="Calibri" panose="020F0502020204030204" pitchFamily="34" charset="0"/>
                <a:cs typeface="Times New Roman" panose="02020603050405020304" pitchFamily="18" charset="0"/>
              </a:rPr>
              <a:t>iQ</a:t>
            </a:r>
            <a:r>
              <a:rPr lang="en-US" sz="2200" b="1" i="1" dirty="0">
                <a:latin typeface="Calibri" panose="020F0502020204030204" pitchFamily="34" charset="0"/>
                <a:ea typeface="Calibri" panose="020F0502020204030204" pitchFamily="34" charset="0"/>
                <a:cs typeface="Times New Roman" panose="02020603050405020304" pitchFamily="18" charset="0"/>
              </a:rPr>
              <a:t> in the list of Analytics India Magazine’s (AIM) Top 10 most desirable Analytics Indian Firms to work for in 2016! </a:t>
            </a:r>
            <a:endParaRPr lang="en-IN" sz="2200" b="1" i="1" dirty="0">
              <a:latin typeface="Calibri" panose="020F0502020204030204" pitchFamily="34" charset="0"/>
              <a:ea typeface="Calibri" panose="020F0502020204030204" pitchFamily="34" charset="0"/>
              <a:cs typeface="Times New Roman" panose="02020603050405020304" pitchFamily="18" charset="0"/>
            </a:endParaRPr>
          </a:p>
          <a:p>
            <a:pPr algn="ctr">
              <a:spcAft>
                <a:spcPts val="0"/>
              </a:spcAft>
            </a:pPr>
            <a:r>
              <a:rPr lang="en-US" sz="2200" b="1" i="1" dirty="0">
                <a:latin typeface="Calibri" panose="020F0502020204030204" pitchFamily="34" charset="0"/>
                <a:ea typeface="Calibri" panose="020F0502020204030204" pitchFamily="34" charset="0"/>
                <a:cs typeface="Times New Roman" panose="02020603050405020304" pitchFamily="18" charset="0"/>
              </a:rPr>
              <a:t>AIM charters this list every year based on a thorough research conducted in the analytics community and lists 10 most popular and talked about analytics providers from India.</a:t>
            </a:r>
            <a:endParaRPr lang="en-IN" sz="2200" b="1" i="1"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051992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7</a:t>
            </a:fld>
            <a:endParaRPr lang="en-IN" dirty="0">
              <a:solidFill>
                <a:srgbClr val="000000">
                  <a:tint val="75000"/>
                </a:srgbClr>
              </a:solidFill>
            </a:endParaRPr>
          </a:p>
        </p:txBody>
      </p:sp>
      <p:sp>
        <p:nvSpPr>
          <p:cNvPr id="17" name="Rectangle 16"/>
          <p:cNvSpPr/>
          <p:nvPr/>
        </p:nvSpPr>
        <p:spPr>
          <a:xfrm>
            <a:off x="3615397" y="188912"/>
            <a:ext cx="4881490" cy="523220"/>
          </a:xfrm>
          <a:prstGeom prst="rect">
            <a:avLst/>
          </a:prstGeom>
          <a:solidFill>
            <a:schemeClr val="bg1"/>
          </a:solidFill>
        </p:spPr>
        <p:txBody>
          <a:bodyPr wrap="squar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Tata </a:t>
            </a:r>
            <a:r>
              <a:rPr lang="en-IN" sz="2800" b="1" dirty="0" err="1" smtClean="0">
                <a:solidFill>
                  <a:srgbClr val="0070C0"/>
                </a:solidFill>
                <a:latin typeface="Leelawadee UI" panose="020B0502040204020203" pitchFamily="34" charset="-34"/>
                <a:cs typeface="Leelawadee UI" panose="020B0502040204020203" pitchFamily="34" charset="-34"/>
              </a:rPr>
              <a:t>iQ</a:t>
            </a:r>
            <a:r>
              <a:rPr lang="en-IN" sz="2800" b="1" dirty="0" smtClean="0">
                <a:solidFill>
                  <a:srgbClr val="0070C0"/>
                </a:solidFill>
                <a:latin typeface="Leelawadee UI" panose="020B0502040204020203" pitchFamily="34" charset="-34"/>
                <a:cs typeface="Leelawadee UI" panose="020B0502040204020203" pitchFamily="34" charset="-34"/>
              </a:rPr>
              <a:t> as Training Partner</a:t>
            </a:r>
            <a:endParaRPr lang="en-IN" sz="2400" i="1" dirty="0">
              <a:solidFill>
                <a:srgbClr val="0070C0"/>
              </a:solidFill>
              <a:latin typeface="Leelawadee UI" panose="020B0502040204020203" pitchFamily="34" charset="-34"/>
              <a:cs typeface="Leelawadee UI" panose="020B0502040204020203" pitchFamily="34" charset="-34"/>
            </a:endParaRPr>
          </a:p>
        </p:txBody>
      </p:sp>
      <p:sp>
        <p:nvSpPr>
          <p:cNvPr id="11" name="Rectangle 10"/>
          <p:cNvSpPr/>
          <p:nvPr/>
        </p:nvSpPr>
        <p:spPr>
          <a:xfrm>
            <a:off x="386371" y="1457927"/>
            <a:ext cx="2457978" cy="4534911"/>
          </a:xfrm>
          <a:prstGeom prst="rect">
            <a:avLst/>
          </a:prstGeom>
          <a:noFill/>
          <a:ln w="28575" cap="rnd" cmpd="sng" algn="ctr">
            <a:solidFill>
              <a:schemeClr val="bg1">
                <a:lumMod val="75000"/>
              </a:schemeClr>
            </a:solidFill>
            <a:prstDash val="solid"/>
          </a:ln>
          <a:effectLst/>
        </p:spPr>
        <p:txBody>
          <a:bodyPr rtlCol="0" anchor="ctr"/>
          <a:lstStyle/>
          <a:p>
            <a:pPr algn="ctr">
              <a:defRPr/>
            </a:pPr>
            <a:endParaRPr lang="en-IN" sz="1200" kern="0" dirty="0">
              <a:solidFill>
                <a:prstClr val="white"/>
              </a:solidFill>
              <a:latin typeface="Century Gothic" panose="020B0502020202020204" pitchFamily="34" charset="0"/>
            </a:endParaRPr>
          </a:p>
          <a:p>
            <a:pPr algn="ctr">
              <a:defRPr/>
            </a:pPr>
            <a:endParaRPr lang="en-IN" sz="1200" kern="0" dirty="0">
              <a:solidFill>
                <a:prstClr val="white"/>
              </a:solidFill>
              <a:latin typeface="Century Gothic" panose="020B0502020202020204" pitchFamily="34" charset="0"/>
            </a:endParaRPr>
          </a:p>
        </p:txBody>
      </p:sp>
      <p:pic>
        <p:nvPicPr>
          <p:cNvPr id="12" name="Picture 2" descr="https://gsbcomphoto.chicagobooth.edu/fpchinta.jpg"/>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533960" y="1845609"/>
            <a:ext cx="547035" cy="63915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http://scmc.iimb.ernet.in/drupal/sites/default/files/Pulak_Ghosh.jpg"/>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533960" y="2522056"/>
            <a:ext cx="547034" cy="602599"/>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533960" y="3161952"/>
            <a:ext cx="547034" cy="615922"/>
          </a:xfrm>
          <a:prstGeom prst="rect">
            <a:avLst/>
          </a:prstGeom>
        </p:spPr>
      </p:pic>
      <p:sp>
        <p:nvSpPr>
          <p:cNvPr id="15" name="Rectangle 14"/>
          <p:cNvSpPr/>
          <p:nvPr/>
        </p:nvSpPr>
        <p:spPr>
          <a:xfrm>
            <a:off x="1067642" y="1950621"/>
            <a:ext cx="2439011" cy="415498"/>
          </a:xfrm>
          <a:prstGeom prst="rect">
            <a:avLst/>
          </a:prstGeom>
        </p:spPr>
        <p:txBody>
          <a:bodyPr wrap="square">
            <a:spAutoFit/>
          </a:bodyPr>
          <a:lstStyle/>
          <a:p>
            <a:pPr>
              <a:defRPr/>
            </a:pPr>
            <a:r>
              <a:rPr lang="en-IN" sz="1050" b="1" kern="0" dirty="0">
                <a:solidFill>
                  <a:prstClr val="black"/>
                </a:solidFill>
                <a:latin typeface="Century Gothic" panose="020B0502020202020204" pitchFamily="34" charset="0"/>
              </a:rPr>
              <a:t>Pradeep K. Chintagunta</a:t>
            </a:r>
          </a:p>
          <a:p>
            <a:pPr>
              <a:defRPr/>
            </a:pPr>
            <a:r>
              <a:rPr lang="en-US" sz="1000" i="1" kern="0" dirty="0">
                <a:solidFill>
                  <a:prstClr val="black"/>
                </a:solidFill>
                <a:latin typeface="Century Gothic" panose="020B0502020202020204" pitchFamily="34" charset="0"/>
              </a:rPr>
              <a:t>University of Chicago</a:t>
            </a:r>
            <a:endParaRPr lang="en-IN" sz="1000" i="1" kern="0" dirty="0">
              <a:solidFill>
                <a:prstClr val="black"/>
              </a:solidFill>
              <a:latin typeface="Century Gothic" panose="020B0502020202020204" pitchFamily="34" charset="0"/>
            </a:endParaRPr>
          </a:p>
        </p:txBody>
      </p:sp>
      <p:sp>
        <p:nvSpPr>
          <p:cNvPr id="16" name="Rectangle 15"/>
          <p:cNvSpPr/>
          <p:nvPr/>
        </p:nvSpPr>
        <p:spPr>
          <a:xfrm>
            <a:off x="1067642" y="3260190"/>
            <a:ext cx="1744541" cy="423193"/>
          </a:xfrm>
          <a:prstGeom prst="rect">
            <a:avLst/>
          </a:prstGeom>
        </p:spPr>
        <p:txBody>
          <a:bodyPr wrap="square">
            <a:spAutoFit/>
          </a:bodyPr>
          <a:lstStyle/>
          <a:p>
            <a:pPr>
              <a:defRPr/>
            </a:pPr>
            <a:r>
              <a:rPr lang="en-IN" sz="1050" b="1" kern="0" dirty="0">
                <a:solidFill>
                  <a:prstClr val="black"/>
                </a:solidFill>
                <a:latin typeface="Century Gothic" panose="020B0502020202020204" pitchFamily="34" charset="0"/>
              </a:rPr>
              <a:t>Gah-Yi Vahn</a:t>
            </a:r>
          </a:p>
          <a:p>
            <a:pPr>
              <a:defRPr/>
            </a:pPr>
            <a:r>
              <a:rPr lang="en-US" sz="1000" i="1" kern="0" dirty="0">
                <a:solidFill>
                  <a:prstClr val="black"/>
                </a:solidFill>
                <a:latin typeface="Century Gothic" panose="020B0502020202020204" pitchFamily="34" charset="0"/>
              </a:rPr>
              <a:t>London Business School</a:t>
            </a:r>
            <a:endParaRPr lang="en-IN" sz="1000" i="1" kern="0" dirty="0">
              <a:solidFill>
                <a:prstClr val="black"/>
              </a:solidFill>
              <a:latin typeface="Century Gothic" panose="020B0502020202020204" pitchFamily="34" charset="0"/>
            </a:endParaRPr>
          </a:p>
        </p:txBody>
      </p:sp>
      <p:sp>
        <p:nvSpPr>
          <p:cNvPr id="18" name="Rectangle 17"/>
          <p:cNvSpPr/>
          <p:nvPr/>
        </p:nvSpPr>
        <p:spPr>
          <a:xfrm>
            <a:off x="1067642" y="2616084"/>
            <a:ext cx="1314096" cy="407804"/>
          </a:xfrm>
          <a:prstGeom prst="rect">
            <a:avLst/>
          </a:prstGeom>
        </p:spPr>
        <p:txBody>
          <a:bodyPr wrap="square">
            <a:spAutoFit/>
          </a:bodyPr>
          <a:lstStyle/>
          <a:p>
            <a:pPr>
              <a:defRPr/>
            </a:pPr>
            <a:r>
              <a:rPr lang="en-IN" sz="1050" b="1" kern="0" dirty="0">
                <a:solidFill>
                  <a:prstClr val="black"/>
                </a:solidFill>
                <a:latin typeface="Century Gothic" panose="020B0502020202020204" pitchFamily="34" charset="0"/>
              </a:rPr>
              <a:t>Pulak Ghosh</a:t>
            </a:r>
          </a:p>
          <a:p>
            <a:pPr>
              <a:defRPr/>
            </a:pPr>
            <a:r>
              <a:rPr lang="en-US" sz="1000" i="1" kern="0" dirty="0">
                <a:solidFill>
                  <a:prstClr val="black"/>
                </a:solidFill>
                <a:latin typeface="Century Gothic" panose="020B0502020202020204" pitchFamily="34" charset="0"/>
              </a:rPr>
              <a:t>IIM, Bangalore</a:t>
            </a:r>
            <a:endParaRPr lang="en-IN" sz="1000" i="1" kern="0" dirty="0">
              <a:solidFill>
                <a:prstClr val="black"/>
              </a:solidFill>
              <a:latin typeface="Century Gothic" panose="020B0502020202020204" pitchFamily="34" charset="0"/>
            </a:endParaRPr>
          </a:p>
        </p:txBody>
      </p:sp>
      <p:sp>
        <p:nvSpPr>
          <p:cNvPr id="20" name="Rectangle 19"/>
          <p:cNvSpPr/>
          <p:nvPr/>
        </p:nvSpPr>
        <p:spPr>
          <a:xfrm>
            <a:off x="680754" y="1465121"/>
            <a:ext cx="1851469" cy="369332"/>
          </a:xfrm>
          <a:prstGeom prst="rect">
            <a:avLst/>
          </a:prstGeom>
        </p:spPr>
        <p:txBody>
          <a:bodyPr wrap="none">
            <a:spAutoFit/>
          </a:bodyPr>
          <a:lstStyle/>
          <a:p>
            <a:r>
              <a:rPr lang="en-IN" b="1" dirty="0">
                <a:solidFill>
                  <a:srgbClr val="000000">
                    <a:lumMod val="75000"/>
                    <a:lumOff val="25000"/>
                  </a:srgbClr>
                </a:solidFill>
                <a:latin typeface="Leelawadee UI" panose="020B0502040204020203" pitchFamily="34" charset="-34"/>
                <a:cs typeface="Leelawadee UI" panose="020B0502040204020203" pitchFamily="34" charset="-34"/>
              </a:rPr>
              <a:t>Advisory Board</a:t>
            </a:r>
          </a:p>
        </p:txBody>
      </p:sp>
      <p:sp>
        <p:nvSpPr>
          <p:cNvPr id="54" name="Rectangle 53"/>
          <p:cNvSpPr/>
          <p:nvPr/>
        </p:nvSpPr>
        <p:spPr>
          <a:xfrm>
            <a:off x="376129" y="810608"/>
            <a:ext cx="2468220" cy="6437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Academic Partnerships</a:t>
            </a:r>
            <a:endParaRPr lang="en-IN" dirty="0"/>
          </a:p>
        </p:txBody>
      </p:sp>
      <p:pic>
        <p:nvPicPr>
          <p:cNvPr id="2" name="Picture 1"/>
          <p:cNvPicPr>
            <a:picLocks noChangeAspect="1"/>
          </p:cNvPicPr>
          <p:nvPr/>
        </p:nvPicPr>
        <p:blipFill rotWithShape="1">
          <a:blip r:embed="rId5"/>
          <a:srcRect l="51503" r="13051"/>
          <a:stretch/>
        </p:blipFill>
        <p:spPr>
          <a:xfrm>
            <a:off x="533960" y="3913409"/>
            <a:ext cx="547034" cy="480793"/>
          </a:xfrm>
          <a:prstGeom prst="rect">
            <a:avLst/>
          </a:prstGeom>
        </p:spPr>
      </p:pic>
      <p:sp>
        <p:nvSpPr>
          <p:cNvPr id="55" name="Rectangle 54"/>
          <p:cNvSpPr/>
          <p:nvPr/>
        </p:nvSpPr>
        <p:spPr>
          <a:xfrm>
            <a:off x="1130147" y="3942208"/>
            <a:ext cx="1744541" cy="423193"/>
          </a:xfrm>
          <a:prstGeom prst="rect">
            <a:avLst/>
          </a:prstGeom>
        </p:spPr>
        <p:txBody>
          <a:bodyPr wrap="square">
            <a:spAutoFit/>
          </a:bodyPr>
          <a:lstStyle/>
          <a:p>
            <a:pPr>
              <a:defRPr/>
            </a:pPr>
            <a:r>
              <a:rPr lang="en-IN" sz="1050" b="1" kern="0" dirty="0" smtClean="0">
                <a:solidFill>
                  <a:prstClr val="black"/>
                </a:solidFill>
                <a:latin typeface="Century Gothic" panose="020B0502020202020204" pitchFamily="34" charset="0"/>
              </a:rPr>
              <a:t>Phanish </a:t>
            </a:r>
            <a:r>
              <a:rPr lang="en-IN" sz="1050" b="1" kern="0" dirty="0" err="1" smtClean="0">
                <a:solidFill>
                  <a:prstClr val="black"/>
                </a:solidFill>
                <a:latin typeface="Century Gothic" panose="020B0502020202020204" pitchFamily="34" charset="0"/>
              </a:rPr>
              <a:t>Puranam</a:t>
            </a:r>
            <a:endParaRPr lang="en-IN" sz="1050" b="1" kern="0" dirty="0">
              <a:solidFill>
                <a:prstClr val="black"/>
              </a:solidFill>
              <a:latin typeface="Century Gothic" panose="020B0502020202020204" pitchFamily="34" charset="0"/>
            </a:endParaRPr>
          </a:p>
          <a:p>
            <a:pPr>
              <a:defRPr/>
            </a:pPr>
            <a:r>
              <a:rPr lang="en-US" sz="1000" i="1" kern="0" dirty="0" smtClean="0">
                <a:solidFill>
                  <a:prstClr val="black"/>
                </a:solidFill>
                <a:latin typeface="Century Gothic" panose="020B0502020202020204" pitchFamily="34" charset="0"/>
              </a:rPr>
              <a:t>INSEAD </a:t>
            </a:r>
            <a:endParaRPr lang="en-IN" sz="1000" i="1" kern="0" dirty="0">
              <a:solidFill>
                <a:prstClr val="black"/>
              </a:solidFill>
              <a:latin typeface="Century Gothic" panose="020B0502020202020204" pitchFamily="34" charset="0"/>
            </a:endParaRPr>
          </a:p>
        </p:txBody>
      </p:sp>
      <p:sp>
        <p:nvSpPr>
          <p:cNvPr id="56" name="Rectangle 55"/>
          <p:cNvSpPr/>
          <p:nvPr/>
        </p:nvSpPr>
        <p:spPr>
          <a:xfrm>
            <a:off x="3138732" y="821398"/>
            <a:ext cx="4232740" cy="6437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Analytics @ Tata Group</a:t>
            </a:r>
            <a:endParaRPr lang="en-IN" dirty="0"/>
          </a:p>
        </p:txBody>
      </p:sp>
      <p:sp>
        <p:nvSpPr>
          <p:cNvPr id="57" name="Rectangle 56"/>
          <p:cNvSpPr/>
          <p:nvPr/>
        </p:nvSpPr>
        <p:spPr>
          <a:xfrm>
            <a:off x="7665855" y="810607"/>
            <a:ext cx="4232740" cy="6437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Current Knowledge Partnerships</a:t>
            </a:r>
            <a:endParaRPr lang="en-IN" dirty="0"/>
          </a:p>
        </p:txBody>
      </p:sp>
      <p:pic>
        <p:nvPicPr>
          <p:cNvPr id="3" name="Picture 2"/>
          <p:cNvPicPr>
            <a:picLocks noChangeAspect="1"/>
          </p:cNvPicPr>
          <p:nvPr/>
        </p:nvPicPr>
        <p:blipFill rotWithShape="1">
          <a:blip r:embed="rId6"/>
          <a:srcRect b="28537"/>
          <a:stretch/>
        </p:blipFill>
        <p:spPr>
          <a:xfrm>
            <a:off x="7743522" y="2204765"/>
            <a:ext cx="4077405" cy="1638245"/>
          </a:xfrm>
          <a:prstGeom prst="rect">
            <a:avLst/>
          </a:prstGeom>
        </p:spPr>
      </p:pic>
      <p:pic>
        <p:nvPicPr>
          <p:cNvPr id="6" name="Picture 5"/>
          <p:cNvPicPr>
            <a:picLocks noChangeAspect="1"/>
          </p:cNvPicPr>
          <p:nvPr/>
        </p:nvPicPr>
        <p:blipFill rotWithShape="1">
          <a:blip r:embed="rId7"/>
          <a:srcRect l="49651" t="8174" r="16075" b="6635"/>
          <a:stretch/>
        </p:blipFill>
        <p:spPr>
          <a:xfrm>
            <a:off x="7743522" y="3913409"/>
            <a:ext cx="1820377" cy="1906747"/>
          </a:xfrm>
          <a:prstGeom prst="rect">
            <a:avLst/>
          </a:prstGeom>
        </p:spPr>
      </p:pic>
      <p:sp>
        <p:nvSpPr>
          <p:cNvPr id="7" name="TextBox 6"/>
          <p:cNvSpPr txBox="1"/>
          <p:nvPr/>
        </p:nvSpPr>
        <p:spPr>
          <a:xfrm>
            <a:off x="7743522" y="1465121"/>
            <a:ext cx="4155073" cy="646331"/>
          </a:xfrm>
          <a:prstGeom prst="rect">
            <a:avLst/>
          </a:prstGeom>
          <a:noFill/>
        </p:spPr>
        <p:txBody>
          <a:bodyPr wrap="square" rtlCol="0">
            <a:spAutoFit/>
          </a:bodyPr>
          <a:lstStyle/>
          <a:p>
            <a:pPr algn="ctr"/>
            <a:r>
              <a:rPr lang="en-IN" dirty="0" smtClean="0"/>
              <a:t>One of the topmost selling analytics  reference books in India</a:t>
            </a:r>
            <a:endParaRPr lang="en-IN" dirty="0"/>
          </a:p>
        </p:txBody>
      </p:sp>
      <p:sp>
        <p:nvSpPr>
          <p:cNvPr id="59" name="TextBox 58"/>
          <p:cNvSpPr txBox="1"/>
          <p:nvPr/>
        </p:nvSpPr>
        <p:spPr>
          <a:xfrm>
            <a:off x="9641567" y="4012401"/>
            <a:ext cx="2168097" cy="1200329"/>
          </a:xfrm>
          <a:prstGeom prst="rect">
            <a:avLst/>
          </a:prstGeom>
          <a:noFill/>
        </p:spPr>
        <p:txBody>
          <a:bodyPr wrap="square" rtlCol="0">
            <a:spAutoFit/>
          </a:bodyPr>
          <a:lstStyle/>
          <a:p>
            <a:pPr marL="285750" indent="-285750">
              <a:buFont typeface="Arial" panose="020B0604020202020204" pitchFamily="34" charset="0"/>
              <a:buChar char="•"/>
            </a:pPr>
            <a:r>
              <a:rPr lang="en-IN" dirty="0" smtClean="0"/>
              <a:t>Tata </a:t>
            </a:r>
            <a:r>
              <a:rPr lang="en-IN" dirty="0" err="1" smtClean="0"/>
              <a:t>iQ</a:t>
            </a:r>
            <a:r>
              <a:rPr lang="en-IN" dirty="0" smtClean="0"/>
              <a:t> members are faculty of the IIITB program in analytics</a:t>
            </a:r>
            <a:endParaRPr lang="en-IN" dirty="0"/>
          </a:p>
        </p:txBody>
      </p:sp>
      <p:pic>
        <p:nvPicPr>
          <p:cNvPr id="8" name="Picture 7"/>
          <p:cNvPicPr>
            <a:picLocks noChangeAspect="1"/>
          </p:cNvPicPr>
          <p:nvPr/>
        </p:nvPicPr>
        <p:blipFill>
          <a:blip r:embed="rId8"/>
          <a:stretch>
            <a:fillRect/>
          </a:stretch>
        </p:blipFill>
        <p:spPr>
          <a:xfrm>
            <a:off x="526939" y="4529737"/>
            <a:ext cx="561076" cy="629887"/>
          </a:xfrm>
          <a:prstGeom prst="rect">
            <a:avLst/>
          </a:prstGeom>
        </p:spPr>
      </p:pic>
      <p:sp>
        <p:nvSpPr>
          <p:cNvPr id="61" name="Rectangle 60"/>
          <p:cNvSpPr/>
          <p:nvPr/>
        </p:nvSpPr>
        <p:spPr>
          <a:xfrm>
            <a:off x="1114977" y="4503069"/>
            <a:ext cx="1744541" cy="707886"/>
          </a:xfrm>
          <a:prstGeom prst="rect">
            <a:avLst/>
          </a:prstGeom>
        </p:spPr>
        <p:txBody>
          <a:bodyPr wrap="square">
            <a:spAutoFit/>
          </a:bodyPr>
          <a:lstStyle/>
          <a:p>
            <a:pPr>
              <a:defRPr/>
            </a:pPr>
            <a:r>
              <a:rPr lang="en-IN" sz="1000" i="1" kern="0" dirty="0" smtClean="0">
                <a:solidFill>
                  <a:prstClr val="black"/>
                </a:solidFill>
                <a:latin typeface="Century Gothic" panose="020B0502020202020204" pitchFamily="34" charset="0"/>
              </a:rPr>
              <a:t>II</a:t>
            </a:r>
            <a:r>
              <a:rPr lang="en-IN" sz="1000" b="1" i="1" kern="0" dirty="0" smtClean="0">
                <a:solidFill>
                  <a:prstClr val="black"/>
                </a:solidFill>
                <a:latin typeface="Century Gothic" panose="020B0502020202020204" pitchFamily="34" charset="0"/>
              </a:rPr>
              <a:t>T Kharagpur </a:t>
            </a:r>
            <a:r>
              <a:rPr lang="en-IN" sz="1000" i="1" kern="0" dirty="0" smtClean="0">
                <a:solidFill>
                  <a:prstClr val="black"/>
                </a:solidFill>
                <a:latin typeface="Century Gothic" panose="020B0502020202020204" pitchFamily="34" charset="0"/>
              </a:rPr>
              <a:t>– Metallurgical and Materials Engineering Department</a:t>
            </a:r>
            <a:endParaRPr lang="en-IN" sz="1000" i="1" kern="0" dirty="0">
              <a:solidFill>
                <a:prstClr val="black"/>
              </a:solidFill>
              <a:latin typeface="Century Gothic" panose="020B0502020202020204" pitchFamily="34" charset="0"/>
            </a:endParaRPr>
          </a:p>
        </p:txBody>
      </p:sp>
      <p:pic>
        <p:nvPicPr>
          <p:cNvPr id="2058" name="Picture 10" descr="Related image"/>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73281" y="5333499"/>
            <a:ext cx="607713" cy="57798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9641567" y="5145438"/>
            <a:ext cx="2106453" cy="1200329"/>
          </a:xfrm>
          <a:prstGeom prst="rect">
            <a:avLst/>
          </a:prstGeom>
        </p:spPr>
        <p:txBody>
          <a:bodyPr wrap="square">
            <a:spAutoFit/>
          </a:bodyPr>
          <a:lstStyle/>
          <a:p>
            <a:r>
              <a:rPr lang="en-IN" dirty="0">
                <a:hlinkClick r:id="rId10"/>
              </a:rPr>
              <a:t>https://upgrad.com/programs/data-analytics</a:t>
            </a:r>
            <a:r>
              <a:rPr lang="en-IN" dirty="0" smtClean="0">
                <a:hlinkClick r:id="rId10"/>
              </a:rPr>
              <a:t>/</a:t>
            </a:r>
            <a:endParaRPr lang="en-IN" dirty="0" smtClean="0"/>
          </a:p>
          <a:p>
            <a:endParaRPr lang="en-IN" dirty="0"/>
          </a:p>
        </p:txBody>
      </p:sp>
      <p:sp>
        <p:nvSpPr>
          <p:cNvPr id="64" name="Rectangle 63"/>
          <p:cNvSpPr/>
          <p:nvPr/>
        </p:nvSpPr>
        <p:spPr>
          <a:xfrm>
            <a:off x="1130147" y="5499382"/>
            <a:ext cx="1744541" cy="246221"/>
          </a:xfrm>
          <a:prstGeom prst="rect">
            <a:avLst/>
          </a:prstGeom>
        </p:spPr>
        <p:txBody>
          <a:bodyPr wrap="square">
            <a:spAutoFit/>
          </a:bodyPr>
          <a:lstStyle/>
          <a:p>
            <a:pPr>
              <a:defRPr/>
            </a:pPr>
            <a:r>
              <a:rPr lang="en-IN" sz="1000" b="1" i="1" kern="0" dirty="0" smtClean="0">
                <a:solidFill>
                  <a:prstClr val="black"/>
                </a:solidFill>
                <a:latin typeface="Century Gothic" panose="020B0502020202020204" pitchFamily="34" charset="0"/>
              </a:rPr>
              <a:t>IIT Kanpur</a:t>
            </a:r>
            <a:endParaRPr lang="en-IN" sz="1000" b="1" i="1" kern="0" dirty="0">
              <a:solidFill>
                <a:prstClr val="black"/>
              </a:solidFill>
              <a:latin typeface="Century Gothic" panose="020B0502020202020204" pitchFamily="34" charset="0"/>
            </a:endParaRPr>
          </a:p>
        </p:txBody>
      </p:sp>
      <p:sp>
        <p:nvSpPr>
          <p:cNvPr id="65" name="Rectangle 64"/>
          <p:cNvSpPr/>
          <p:nvPr/>
        </p:nvSpPr>
        <p:spPr>
          <a:xfrm>
            <a:off x="3153900" y="1468398"/>
            <a:ext cx="4237977" cy="4534911"/>
          </a:xfrm>
          <a:prstGeom prst="rect">
            <a:avLst/>
          </a:prstGeom>
          <a:noFill/>
          <a:ln w="28575" cap="rnd" cmpd="sng" algn="ctr">
            <a:solidFill>
              <a:schemeClr val="bg1">
                <a:lumMod val="75000"/>
              </a:schemeClr>
            </a:solidFill>
            <a:prstDash val="solid"/>
          </a:ln>
          <a:effectLst/>
        </p:spPr>
        <p:txBody>
          <a:bodyPr rtlCol="0" anchor="ctr"/>
          <a:lstStyle/>
          <a:p>
            <a:pPr algn="ctr">
              <a:defRPr/>
            </a:pPr>
            <a:endParaRPr lang="en-IN" sz="1200" kern="0" dirty="0">
              <a:solidFill>
                <a:prstClr val="white"/>
              </a:solidFill>
              <a:latin typeface="Century Gothic" panose="020B0502020202020204" pitchFamily="34" charset="0"/>
            </a:endParaRPr>
          </a:p>
          <a:p>
            <a:pPr algn="ctr">
              <a:defRPr/>
            </a:pPr>
            <a:endParaRPr lang="en-IN" sz="1200" kern="0" dirty="0">
              <a:solidFill>
                <a:prstClr val="white"/>
              </a:solidFill>
              <a:latin typeface="Century Gothic" panose="020B0502020202020204" pitchFamily="34" charset="0"/>
            </a:endParaRPr>
          </a:p>
        </p:txBody>
      </p:sp>
      <p:sp>
        <p:nvSpPr>
          <p:cNvPr id="58" name="TextBox 57"/>
          <p:cNvSpPr txBox="1"/>
          <p:nvPr/>
        </p:nvSpPr>
        <p:spPr>
          <a:xfrm>
            <a:off x="3345865" y="1957815"/>
            <a:ext cx="3446585" cy="3693319"/>
          </a:xfrm>
          <a:prstGeom prst="rect">
            <a:avLst/>
          </a:prstGeom>
          <a:noFill/>
        </p:spPr>
        <p:txBody>
          <a:bodyPr wrap="square" rtlCol="0">
            <a:spAutoFit/>
          </a:bodyPr>
          <a:lstStyle/>
          <a:p>
            <a:pPr marL="285750" indent="-285750">
              <a:buFont typeface="Arial" panose="020B0604020202020204" pitchFamily="34" charset="0"/>
              <a:buChar char="•"/>
            </a:pPr>
            <a:r>
              <a:rPr lang="en-IN" dirty="0" smtClean="0"/>
              <a:t>Understanding of analytics challenges within the Group</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smtClean="0"/>
              <a:t>Knowledge of change management requirement</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smtClean="0"/>
              <a:t>Appreciation of the unique challenge of “communicating analytics”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smtClean="0"/>
              <a:t>Experience of  in benefit assessment and adopting a test &amp; learn approach</a:t>
            </a:r>
            <a:endParaRPr lang="en-IN" dirty="0"/>
          </a:p>
        </p:txBody>
      </p:sp>
      <p:sp>
        <p:nvSpPr>
          <p:cNvPr id="67" name="Rectangle 66"/>
          <p:cNvSpPr/>
          <p:nvPr/>
        </p:nvSpPr>
        <p:spPr>
          <a:xfrm>
            <a:off x="7665854" y="1466043"/>
            <a:ext cx="4237977" cy="4534911"/>
          </a:xfrm>
          <a:prstGeom prst="rect">
            <a:avLst/>
          </a:prstGeom>
          <a:noFill/>
          <a:ln w="28575" cap="rnd" cmpd="sng" algn="ctr">
            <a:solidFill>
              <a:schemeClr val="bg1">
                <a:lumMod val="75000"/>
              </a:schemeClr>
            </a:solidFill>
            <a:prstDash val="solid"/>
          </a:ln>
          <a:effectLst/>
        </p:spPr>
        <p:txBody>
          <a:bodyPr rtlCol="0" anchor="ctr"/>
          <a:lstStyle/>
          <a:p>
            <a:pPr algn="ctr">
              <a:defRPr/>
            </a:pPr>
            <a:endParaRPr lang="en-IN" sz="1200" kern="0" dirty="0">
              <a:solidFill>
                <a:prstClr val="white"/>
              </a:solidFill>
              <a:latin typeface="Century Gothic" panose="020B0502020202020204" pitchFamily="34" charset="0"/>
            </a:endParaRPr>
          </a:p>
          <a:p>
            <a:pPr algn="ctr">
              <a:defRPr/>
            </a:pPr>
            <a:endParaRPr lang="en-IN" sz="1200" kern="0"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11129713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8</a:t>
            </a:fld>
            <a:endParaRPr lang="en-IN" dirty="0">
              <a:solidFill>
                <a:srgbClr val="000000">
                  <a:tint val="75000"/>
                </a:srgbClr>
              </a:solidFill>
            </a:endParaRPr>
          </a:p>
        </p:txBody>
      </p:sp>
      <p:sp>
        <p:nvSpPr>
          <p:cNvPr id="17" name="Rectangle 16"/>
          <p:cNvSpPr/>
          <p:nvPr/>
        </p:nvSpPr>
        <p:spPr>
          <a:xfrm>
            <a:off x="838156" y="237066"/>
            <a:ext cx="11229348" cy="523220"/>
          </a:xfrm>
          <a:prstGeom prst="rect">
            <a:avLst/>
          </a:prstGeom>
          <a:solidFill>
            <a:schemeClr val="bg1"/>
          </a:solidFill>
        </p:spPr>
        <p:txBody>
          <a:bodyPr wrap="squar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Stakeholders &amp; Objectives - </a:t>
            </a:r>
            <a:r>
              <a:rPr lang="en-IN" sz="2000" i="1" dirty="0" smtClean="0">
                <a:solidFill>
                  <a:srgbClr val="0070C0"/>
                </a:solidFill>
                <a:latin typeface="Leelawadee UI" panose="020B0502040204020203" pitchFamily="34" charset="-34"/>
                <a:cs typeface="Leelawadee UI" panose="020B0502040204020203" pitchFamily="34" charset="-34"/>
              </a:rPr>
              <a:t>analytics training within the context of Tata Steel </a:t>
            </a:r>
            <a:endParaRPr lang="en-IN" sz="2000" i="1" dirty="0">
              <a:solidFill>
                <a:srgbClr val="0070C0"/>
              </a:solidFill>
              <a:latin typeface="Leelawadee UI" panose="020B0502040204020203" pitchFamily="34" charset="-34"/>
              <a:cs typeface="Leelawadee UI" panose="020B0502040204020203" pitchFamily="34" charset="-34"/>
            </a:endParaRPr>
          </a:p>
        </p:txBody>
      </p:sp>
      <p:grpSp>
        <p:nvGrpSpPr>
          <p:cNvPr id="6" name="Group 5"/>
          <p:cNvGrpSpPr/>
          <p:nvPr/>
        </p:nvGrpSpPr>
        <p:grpSpPr>
          <a:xfrm>
            <a:off x="89401" y="1436531"/>
            <a:ext cx="2100007" cy="4115527"/>
            <a:chOff x="512635" y="1420131"/>
            <a:chExt cx="2357804" cy="4115527"/>
          </a:xfrm>
        </p:grpSpPr>
        <p:sp>
          <p:nvSpPr>
            <p:cNvPr id="7" name="Freeform 6"/>
            <p:cNvSpPr/>
            <p:nvPr/>
          </p:nvSpPr>
          <p:spPr>
            <a:xfrm rot="21600000">
              <a:off x="932970" y="1420131"/>
              <a:ext cx="1937468" cy="840673"/>
            </a:xfrm>
            <a:custGeom>
              <a:avLst/>
              <a:gdLst>
                <a:gd name="connsiteX0" fmla="*/ 0 w 1937468"/>
                <a:gd name="connsiteY0" fmla="*/ 0 h 840671"/>
                <a:gd name="connsiteX1" fmla="*/ 1517133 w 1937468"/>
                <a:gd name="connsiteY1" fmla="*/ 0 h 840671"/>
                <a:gd name="connsiteX2" fmla="*/ 1937468 w 1937468"/>
                <a:gd name="connsiteY2" fmla="*/ 420336 h 840671"/>
                <a:gd name="connsiteX3" fmla="*/ 1517133 w 1937468"/>
                <a:gd name="connsiteY3" fmla="*/ 840671 h 840671"/>
                <a:gd name="connsiteX4" fmla="*/ 0 w 1937468"/>
                <a:gd name="connsiteY4" fmla="*/ 840671 h 840671"/>
                <a:gd name="connsiteX5" fmla="*/ 0 w 1937468"/>
                <a:gd name="connsiteY5" fmla="*/ 0 h 840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37468" h="840671">
                  <a:moveTo>
                    <a:pt x="1937468" y="840670"/>
                  </a:moveTo>
                  <a:lnTo>
                    <a:pt x="420335" y="840670"/>
                  </a:lnTo>
                  <a:lnTo>
                    <a:pt x="0" y="420335"/>
                  </a:lnTo>
                  <a:lnTo>
                    <a:pt x="420335" y="1"/>
                  </a:lnTo>
                  <a:lnTo>
                    <a:pt x="1937468" y="1"/>
                  </a:lnTo>
                  <a:lnTo>
                    <a:pt x="1937468" y="84067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80881" tIns="60961" rIns="113792" bIns="60961" numCol="1" spcCol="1270" anchor="ctr" anchorCtr="0">
              <a:noAutofit/>
            </a:bodyPr>
            <a:lstStyle/>
            <a:p>
              <a:pPr lvl="0" algn="ctr" defTabSz="711200">
                <a:lnSpc>
                  <a:spcPct val="90000"/>
                </a:lnSpc>
                <a:spcBef>
                  <a:spcPct val="0"/>
                </a:spcBef>
                <a:spcAft>
                  <a:spcPct val="35000"/>
                </a:spcAft>
              </a:pPr>
              <a:r>
                <a:rPr lang="en-IN" sz="1600" kern="1200" dirty="0" smtClean="0">
                  <a:latin typeface="Leelawadee" panose="020B0502040204020203" pitchFamily="34" charset="-34"/>
                  <a:cs typeface="Leelawadee" panose="020B0502040204020203" pitchFamily="34" charset="-34"/>
                </a:rPr>
                <a:t>Employees</a:t>
              </a:r>
              <a:endParaRPr lang="en-IN" sz="1600" kern="1200" dirty="0">
                <a:latin typeface="Leelawadee" panose="020B0502040204020203" pitchFamily="34" charset="-34"/>
                <a:cs typeface="Leelawadee" panose="020B0502040204020203" pitchFamily="34" charset="-34"/>
              </a:endParaRPr>
            </a:p>
          </p:txBody>
        </p:sp>
        <p:sp>
          <p:nvSpPr>
            <p:cNvPr id="10" name="Oval 9"/>
            <p:cNvSpPr/>
            <p:nvPr/>
          </p:nvSpPr>
          <p:spPr>
            <a:xfrm>
              <a:off x="512635" y="1420132"/>
              <a:ext cx="840671" cy="840671"/>
            </a:xfrm>
            <a:prstGeom prst="ellipse">
              <a:avLst/>
            </a:prstGeom>
            <a:scene3d>
              <a:camera prst="orthographicFront"/>
              <a:lightRig rig="flat" dir="t"/>
            </a:scene3d>
            <a:sp3d z="127000" prstMaterial="plastic">
              <a:bevelT w="88900" h="88900"/>
              <a:bevelB w="88900" h="31750" prst="angle"/>
            </a:sp3d>
          </p:spPr>
          <p:style>
            <a:lnRef idx="0">
              <a:schemeClr val="lt1">
                <a:hueOff val="0"/>
                <a:satOff val="0"/>
                <a:lumOff val="0"/>
                <a:alphaOff val="0"/>
              </a:schemeClr>
            </a:lnRef>
            <a:fillRef idx="3">
              <a:schemeClr val="accent1">
                <a:tint val="50000"/>
                <a:hueOff val="0"/>
                <a:satOff val="0"/>
                <a:lumOff val="0"/>
                <a:alphaOff val="0"/>
              </a:schemeClr>
            </a:fillRef>
            <a:effectRef idx="2">
              <a:schemeClr val="accent1">
                <a:tint val="50000"/>
                <a:hueOff val="0"/>
                <a:satOff val="0"/>
                <a:lumOff val="0"/>
                <a:alphaOff val="0"/>
              </a:schemeClr>
            </a:effectRef>
            <a:fontRef idx="minor">
              <a:schemeClr val="lt1">
                <a:hueOff val="0"/>
                <a:satOff val="0"/>
                <a:lumOff val="0"/>
                <a:alphaOff val="0"/>
              </a:schemeClr>
            </a:fontRef>
          </p:style>
          <p:txBody>
            <a:bodyPr anchor="ctr"/>
            <a:lstStyle/>
            <a:p>
              <a:pPr algn="ctr"/>
              <a:r>
                <a:rPr lang="en-IN" sz="2400" b="1" dirty="0" smtClean="0"/>
                <a:t>1</a:t>
              </a:r>
              <a:endParaRPr lang="en-IN" sz="2400" b="1" dirty="0"/>
            </a:p>
          </p:txBody>
        </p:sp>
        <p:sp>
          <p:nvSpPr>
            <p:cNvPr id="11" name="Freeform 10"/>
            <p:cNvSpPr/>
            <p:nvPr/>
          </p:nvSpPr>
          <p:spPr>
            <a:xfrm rot="21600000">
              <a:off x="932970" y="2511750"/>
              <a:ext cx="1937468" cy="840672"/>
            </a:xfrm>
            <a:custGeom>
              <a:avLst/>
              <a:gdLst>
                <a:gd name="connsiteX0" fmla="*/ 0 w 1937468"/>
                <a:gd name="connsiteY0" fmla="*/ 0 h 840671"/>
                <a:gd name="connsiteX1" fmla="*/ 1517133 w 1937468"/>
                <a:gd name="connsiteY1" fmla="*/ 0 h 840671"/>
                <a:gd name="connsiteX2" fmla="*/ 1937468 w 1937468"/>
                <a:gd name="connsiteY2" fmla="*/ 420336 h 840671"/>
                <a:gd name="connsiteX3" fmla="*/ 1517133 w 1937468"/>
                <a:gd name="connsiteY3" fmla="*/ 840671 h 840671"/>
                <a:gd name="connsiteX4" fmla="*/ 0 w 1937468"/>
                <a:gd name="connsiteY4" fmla="*/ 840671 h 840671"/>
                <a:gd name="connsiteX5" fmla="*/ 0 w 1937468"/>
                <a:gd name="connsiteY5" fmla="*/ 0 h 840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37468" h="840671">
                  <a:moveTo>
                    <a:pt x="1937468" y="840670"/>
                  </a:moveTo>
                  <a:lnTo>
                    <a:pt x="420335" y="840670"/>
                  </a:lnTo>
                  <a:lnTo>
                    <a:pt x="0" y="420335"/>
                  </a:lnTo>
                  <a:lnTo>
                    <a:pt x="420335" y="1"/>
                  </a:lnTo>
                  <a:lnTo>
                    <a:pt x="1937468" y="1"/>
                  </a:lnTo>
                  <a:lnTo>
                    <a:pt x="1937468" y="84067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80881" tIns="60961" rIns="113792" bIns="60960" numCol="1" spcCol="1270" anchor="ctr" anchorCtr="0">
              <a:noAutofit/>
            </a:bodyPr>
            <a:lstStyle/>
            <a:p>
              <a:pPr lvl="0" algn="ctr" defTabSz="711200">
                <a:lnSpc>
                  <a:spcPct val="90000"/>
                </a:lnSpc>
                <a:spcBef>
                  <a:spcPct val="0"/>
                </a:spcBef>
                <a:spcAft>
                  <a:spcPct val="35000"/>
                </a:spcAft>
              </a:pPr>
              <a:r>
                <a:rPr lang="en-IN" sz="1600" kern="1200" dirty="0" err="1" smtClean="0">
                  <a:latin typeface="Leelawadee" panose="020B0502040204020203" pitchFamily="34" charset="-34"/>
                  <a:cs typeface="Leelawadee" panose="020B0502040204020203" pitchFamily="34" charset="-34"/>
                </a:rPr>
                <a:t>ACoE</a:t>
              </a:r>
              <a:endParaRPr lang="en-IN" sz="1600" kern="1200" dirty="0">
                <a:latin typeface="Leelawadee" panose="020B0502040204020203" pitchFamily="34" charset="-34"/>
                <a:cs typeface="Leelawadee" panose="020B0502040204020203" pitchFamily="34" charset="-34"/>
              </a:endParaRPr>
            </a:p>
          </p:txBody>
        </p:sp>
        <p:sp>
          <p:nvSpPr>
            <p:cNvPr id="12" name="Oval 11"/>
            <p:cNvSpPr/>
            <p:nvPr/>
          </p:nvSpPr>
          <p:spPr>
            <a:xfrm>
              <a:off x="512635" y="2511751"/>
              <a:ext cx="840671" cy="840671"/>
            </a:xfrm>
            <a:prstGeom prst="ellipse">
              <a:avLst/>
            </a:prstGeom>
            <a:scene3d>
              <a:camera prst="orthographicFront"/>
              <a:lightRig rig="flat" dir="t"/>
            </a:scene3d>
            <a:sp3d z="127000" prstMaterial="plastic">
              <a:bevelT w="88900" h="88900"/>
              <a:bevelB w="88900" h="31750" prst="angle"/>
            </a:sp3d>
          </p:spPr>
          <p:style>
            <a:lnRef idx="0">
              <a:schemeClr val="lt1">
                <a:hueOff val="0"/>
                <a:satOff val="0"/>
                <a:lumOff val="0"/>
                <a:alphaOff val="0"/>
              </a:schemeClr>
            </a:lnRef>
            <a:fillRef idx="3">
              <a:schemeClr val="accent1">
                <a:tint val="50000"/>
                <a:hueOff val="0"/>
                <a:satOff val="0"/>
                <a:lumOff val="0"/>
                <a:alphaOff val="0"/>
              </a:schemeClr>
            </a:fillRef>
            <a:effectRef idx="2">
              <a:schemeClr val="accent1">
                <a:tint val="50000"/>
                <a:hueOff val="0"/>
                <a:satOff val="0"/>
                <a:lumOff val="0"/>
                <a:alphaOff val="0"/>
              </a:schemeClr>
            </a:effectRef>
            <a:fontRef idx="minor">
              <a:schemeClr val="lt1">
                <a:hueOff val="0"/>
                <a:satOff val="0"/>
                <a:lumOff val="0"/>
                <a:alphaOff val="0"/>
              </a:schemeClr>
            </a:fontRef>
          </p:style>
          <p:txBody>
            <a:bodyPr anchor="ctr"/>
            <a:lstStyle/>
            <a:p>
              <a:pPr algn="ctr"/>
              <a:r>
                <a:rPr lang="en-IN" sz="2400" b="1" dirty="0" smtClean="0"/>
                <a:t>2</a:t>
              </a:r>
              <a:endParaRPr lang="en-IN" sz="2400" b="1" dirty="0"/>
            </a:p>
          </p:txBody>
        </p:sp>
        <p:sp>
          <p:nvSpPr>
            <p:cNvPr id="13" name="Freeform 12"/>
            <p:cNvSpPr/>
            <p:nvPr/>
          </p:nvSpPr>
          <p:spPr>
            <a:xfrm rot="21600000">
              <a:off x="932970" y="3603368"/>
              <a:ext cx="1937469" cy="840672"/>
            </a:xfrm>
            <a:custGeom>
              <a:avLst/>
              <a:gdLst>
                <a:gd name="connsiteX0" fmla="*/ 0 w 1937468"/>
                <a:gd name="connsiteY0" fmla="*/ 0 h 840671"/>
                <a:gd name="connsiteX1" fmla="*/ 1517133 w 1937468"/>
                <a:gd name="connsiteY1" fmla="*/ 0 h 840671"/>
                <a:gd name="connsiteX2" fmla="*/ 1937468 w 1937468"/>
                <a:gd name="connsiteY2" fmla="*/ 420336 h 840671"/>
                <a:gd name="connsiteX3" fmla="*/ 1517133 w 1937468"/>
                <a:gd name="connsiteY3" fmla="*/ 840671 h 840671"/>
                <a:gd name="connsiteX4" fmla="*/ 0 w 1937468"/>
                <a:gd name="connsiteY4" fmla="*/ 840671 h 840671"/>
                <a:gd name="connsiteX5" fmla="*/ 0 w 1937468"/>
                <a:gd name="connsiteY5" fmla="*/ 0 h 840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37468" h="840671">
                  <a:moveTo>
                    <a:pt x="1937468" y="840670"/>
                  </a:moveTo>
                  <a:lnTo>
                    <a:pt x="420335" y="840670"/>
                  </a:lnTo>
                  <a:lnTo>
                    <a:pt x="0" y="420335"/>
                  </a:lnTo>
                  <a:lnTo>
                    <a:pt x="420335" y="1"/>
                  </a:lnTo>
                  <a:lnTo>
                    <a:pt x="1937468" y="1"/>
                  </a:lnTo>
                  <a:lnTo>
                    <a:pt x="1937468" y="84067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80881" tIns="60961" rIns="113793" bIns="60960" numCol="1" spcCol="1270" anchor="ctr" anchorCtr="0">
              <a:noAutofit/>
            </a:bodyPr>
            <a:lstStyle/>
            <a:p>
              <a:pPr lvl="0" algn="ctr" defTabSz="711200">
                <a:lnSpc>
                  <a:spcPct val="90000"/>
                </a:lnSpc>
                <a:spcBef>
                  <a:spcPct val="0"/>
                </a:spcBef>
                <a:spcAft>
                  <a:spcPct val="35000"/>
                </a:spcAft>
              </a:pPr>
              <a:r>
                <a:rPr lang="en-IN" sz="1600" kern="1200" dirty="0" smtClean="0">
                  <a:latin typeface="Leelawadee" panose="020B0502040204020203" pitchFamily="34" charset="-34"/>
                  <a:cs typeface="Leelawadee" panose="020B0502040204020203" pitchFamily="34" charset="-34"/>
                </a:rPr>
                <a:t>Operating BU’s</a:t>
              </a:r>
              <a:endParaRPr lang="en-IN" sz="1600" kern="1200" dirty="0">
                <a:latin typeface="Leelawadee" panose="020B0502040204020203" pitchFamily="34" charset="-34"/>
                <a:cs typeface="Leelawadee" panose="020B0502040204020203" pitchFamily="34" charset="-34"/>
              </a:endParaRPr>
            </a:p>
          </p:txBody>
        </p:sp>
        <p:sp>
          <p:nvSpPr>
            <p:cNvPr id="14" name="Oval 13"/>
            <p:cNvSpPr/>
            <p:nvPr/>
          </p:nvSpPr>
          <p:spPr>
            <a:xfrm>
              <a:off x="512635" y="3603369"/>
              <a:ext cx="840671" cy="840671"/>
            </a:xfrm>
            <a:prstGeom prst="ellipse">
              <a:avLst/>
            </a:prstGeom>
            <a:scene3d>
              <a:camera prst="orthographicFront"/>
              <a:lightRig rig="flat" dir="t"/>
            </a:scene3d>
            <a:sp3d z="127000" prstMaterial="plastic">
              <a:bevelT w="88900" h="88900"/>
              <a:bevelB w="88900" h="31750" prst="angle"/>
            </a:sp3d>
          </p:spPr>
          <p:style>
            <a:lnRef idx="0">
              <a:schemeClr val="lt1">
                <a:hueOff val="0"/>
                <a:satOff val="0"/>
                <a:lumOff val="0"/>
                <a:alphaOff val="0"/>
              </a:schemeClr>
            </a:lnRef>
            <a:fillRef idx="3">
              <a:schemeClr val="accent1">
                <a:tint val="50000"/>
                <a:hueOff val="0"/>
                <a:satOff val="0"/>
                <a:lumOff val="0"/>
                <a:alphaOff val="0"/>
              </a:schemeClr>
            </a:fillRef>
            <a:effectRef idx="2">
              <a:schemeClr val="accent1">
                <a:tint val="50000"/>
                <a:hueOff val="0"/>
                <a:satOff val="0"/>
                <a:lumOff val="0"/>
                <a:alphaOff val="0"/>
              </a:schemeClr>
            </a:effectRef>
            <a:fontRef idx="minor">
              <a:schemeClr val="lt1">
                <a:hueOff val="0"/>
                <a:satOff val="0"/>
                <a:lumOff val="0"/>
                <a:alphaOff val="0"/>
              </a:schemeClr>
            </a:fontRef>
          </p:style>
          <p:txBody>
            <a:bodyPr anchor="ctr"/>
            <a:lstStyle/>
            <a:p>
              <a:pPr algn="ctr"/>
              <a:r>
                <a:rPr lang="en-IN" sz="2400" b="1" dirty="0" smtClean="0"/>
                <a:t>3</a:t>
              </a:r>
              <a:endParaRPr lang="en-IN" sz="2400" b="1" dirty="0"/>
            </a:p>
          </p:txBody>
        </p:sp>
        <p:sp>
          <p:nvSpPr>
            <p:cNvPr id="15" name="Freeform 14"/>
            <p:cNvSpPr/>
            <p:nvPr/>
          </p:nvSpPr>
          <p:spPr>
            <a:xfrm rot="21600000">
              <a:off x="932970" y="4694986"/>
              <a:ext cx="1937468" cy="840672"/>
            </a:xfrm>
            <a:custGeom>
              <a:avLst/>
              <a:gdLst>
                <a:gd name="connsiteX0" fmla="*/ 0 w 1937468"/>
                <a:gd name="connsiteY0" fmla="*/ 0 h 840671"/>
                <a:gd name="connsiteX1" fmla="*/ 1517133 w 1937468"/>
                <a:gd name="connsiteY1" fmla="*/ 0 h 840671"/>
                <a:gd name="connsiteX2" fmla="*/ 1937468 w 1937468"/>
                <a:gd name="connsiteY2" fmla="*/ 420336 h 840671"/>
                <a:gd name="connsiteX3" fmla="*/ 1517133 w 1937468"/>
                <a:gd name="connsiteY3" fmla="*/ 840671 h 840671"/>
                <a:gd name="connsiteX4" fmla="*/ 0 w 1937468"/>
                <a:gd name="connsiteY4" fmla="*/ 840671 h 840671"/>
                <a:gd name="connsiteX5" fmla="*/ 0 w 1937468"/>
                <a:gd name="connsiteY5" fmla="*/ 0 h 840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37468" h="840671">
                  <a:moveTo>
                    <a:pt x="1937468" y="840670"/>
                  </a:moveTo>
                  <a:lnTo>
                    <a:pt x="420335" y="840670"/>
                  </a:lnTo>
                  <a:lnTo>
                    <a:pt x="0" y="420335"/>
                  </a:lnTo>
                  <a:lnTo>
                    <a:pt x="420335" y="1"/>
                  </a:lnTo>
                  <a:lnTo>
                    <a:pt x="1937468" y="1"/>
                  </a:lnTo>
                  <a:lnTo>
                    <a:pt x="1937468" y="84067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80881" tIns="60961" rIns="113792" bIns="60960" numCol="1" spcCol="1270" anchor="ctr" anchorCtr="0">
              <a:noAutofit/>
            </a:bodyPr>
            <a:lstStyle/>
            <a:p>
              <a:pPr lvl="0" algn="ctr" defTabSz="711200">
                <a:lnSpc>
                  <a:spcPct val="90000"/>
                </a:lnSpc>
                <a:spcBef>
                  <a:spcPct val="0"/>
                </a:spcBef>
                <a:spcAft>
                  <a:spcPct val="35000"/>
                </a:spcAft>
              </a:pPr>
              <a:r>
                <a:rPr lang="en-IN" sz="1600" kern="1200" dirty="0" smtClean="0">
                  <a:latin typeface="Leelawadee" panose="020B0502040204020203" pitchFamily="34" charset="-34"/>
                  <a:cs typeface="Leelawadee" panose="020B0502040204020203" pitchFamily="34" charset="-34"/>
                </a:rPr>
                <a:t>Partners</a:t>
              </a:r>
              <a:endParaRPr lang="en-IN" sz="1600" kern="1200" dirty="0">
                <a:latin typeface="Leelawadee" panose="020B0502040204020203" pitchFamily="34" charset="-34"/>
                <a:cs typeface="Leelawadee" panose="020B0502040204020203" pitchFamily="34" charset="-34"/>
              </a:endParaRPr>
            </a:p>
          </p:txBody>
        </p:sp>
        <p:sp>
          <p:nvSpPr>
            <p:cNvPr id="16" name="Oval 15"/>
            <p:cNvSpPr/>
            <p:nvPr/>
          </p:nvSpPr>
          <p:spPr>
            <a:xfrm>
              <a:off x="512635" y="4694987"/>
              <a:ext cx="840671" cy="840671"/>
            </a:xfrm>
            <a:prstGeom prst="ellipse">
              <a:avLst/>
            </a:prstGeom>
            <a:scene3d>
              <a:camera prst="orthographicFront"/>
              <a:lightRig rig="flat" dir="t"/>
            </a:scene3d>
            <a:sp3d z="127000" prstMaterial="plastic">
              <a:bevelT w="88900" h="88900"/>
              <a:bevelB w="88900" h="31750" prst="angle"/>
            </a:sp3d>
          </p:spPr>
          <p:style>
            <a:lnRef idx="0">
              <a:schemeClr val="lt1">
                <a:hueOff val="0"/>
                <a:satOff val="0"/>
                <a:lumOff val="0"/>
                <a:alphaOff val="0"/>
              </a:schemeClr>
            </a:lnRef>
            <a:fillRef idx="3">
              <a:schemeClr val="accent1">
                <a:tint val="50000"/>
                <a:hueOff val="0"/>
                <a:satOff val="0"/>
                <a:lumOff val="0"/>
                <a:alphaOff val="0"/>
              </a:schemeClr>
            </a:fillRef>
            <a:effectRef idx="2">
              <a:schemeClr val="accent1">
                <a:tint val="50000"/>
                <a:hueOff val="0"/>
                <a:satOff val="0"/>
                <a:lumOff val="0"/>
                <a:alphaOff val="0"/>
              </a:schemeClr>
            </a:effectRef>
            <a:fontRef idx="minor">
              <a:schemeClr val="lt1">
                <a:hueOff val="0"/>
                <a:satOff val="0"/>
                <a:lumOff val="0"/>
                <a:alphaOff val="0"/>
              </a:schemeClr>
            </a:fontRef>
          </p:style>
          <p:txBody>
            <a:bodyPr anchor="ctr"/>
            <a:lstStyle/>
            <a:p>
              <a:pPr algn="ctr"/>
              <a:r>
                <a:rPr lang="en-IN" sz="2400" b="1" dirty="0" smtClean="0"/>
                <a:t>4</a:t>
              </a:r>
              <a:endParaRPr lang="en-IN" sz="2400" b="1" dirty="0"/>
            </a:p>
          </p:txBody>
        </p:sp>
      </p:grpSp>
      <p:sp>
        <p:nvSpPr>
          <p:cNvPr id="3" name="Rectangle 2"/>
          <p:cNvSpPr/>
          <p:nvPr/>
        </p:nvSpPr>
        <p:spPr>
          <a:xfrm>
            <a:off x="3311996" y="1239146"/>
            <a:ext cx="4350933" cy="4664608"/>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lvl="0" indent="-285750">
              <a:lnSpc>
                <a:spcPct val="150000"/>
              </a:lnSpc>
              <a:buFont typeface="Arial" panose="020B0604020202020204" pitchFamily="34" charset="0"/>
              <a:buChar char="•"/>
            </a:pPr>
            <a:r>
              <a:rPr lang="en-IN" sz="1600" dirty="0">
                <a:solidFill>
                  <a:schemeClr val="tx1"/>
                </a:solidFill>
                <a:latin typeface="Leelawadee" panose="020B0502040204020203" pitchFamily="34" charset="-34"/>
                <a:cs typeface="Leelawadee" panose="020B0502040204020203" pitchFamily="34" charset="-34"/>
              </a:rPr>
              <a:t>Develop </a:t>
            </a:r>
            <a:r>
              <a:rPr lang="en-IN" sz="1600" b="1" i="1" dirty="0">
                <a:solidFill>
                  <a:schemeClr val="tx1"/>
                </a:solidFill>
                <a:latin typeface="Leelawadee" panose="020B0502040204020203" pitchFamily="34" charset="-34"/>
                <a:cs typeface="Leelawadee" panose="020B0502040204020203" pitchFamily="34" charset="-34"/>
              </a:rPr>
              <a:t>analytics talent </a:t>
            </a:r>
            <a:r>
              <a:rPr lang="en-IN" sz="1600" dirty="0">
                <a:solidFill>
                  <a:schemeClr val="tx1"/>
                </a:solidFill>
                <a:latin typeface="Leelawadee" panose="020B0502040204020203" pitchFamily="34" charset="-34"/>
                <a:cs typeface="Leelawadee" panose="020B0502040204020203" pitchFamily="34" charset="-34"/>
              </a:rPr>
              <a:t>for </a:t>
            </a:r>
            <a:r>
              <a:rPr lang="en-IN" sz="1600" dirty="0" err="1">
                <a:solidFill>
                  <a:schemeClr val="tx1"/>
                </a:solidFill>
                <a:latin typeface="Leelawadee" panose="020B0502040204020203" pitchFamily="34" charset="-34"/>
                <a:cs typeface="Leelawadee" panose="020B0502040204020203" pitchFamily="34" charset="-34"/>
              </a:rPr>
              <a:t>CoE</a:t>
            </a:r>
            <a:endParaRPr lang="en-IN" sz="1600" dirty="0">
              <a:solidFill>
                <a:schemeClr val="tx1"/>
              </a:solidFill>
              <a:latin typeface="Leelawadee" panose="020B0502040204020203" pitchFamily="34" charset="-34"/>
              <a:cs typeface="Leelawadee" panose="020B0502040204020203" pitchFamily="34" charset="-34"/>
            </a:endParaRPr>
          </a:p>
          <a:p>
            <a:pPr marL="285750" lvl="0" indent="-285750">
              <a:lnSpc>
                <a:spcPct val="150000"/>
              </a:lnSpc>
              <a:buFont typeface="Arial" panose="020B0604020202020204" pitchFamily="34" charset="0"/>
              <a:buChar char="•"/>
            </a:pPr>
            <a:r>
              <a:rPr lang="en-IN" sz="1600" dirty="0">
                <a:solidFill>
                  <a:schemeClr val="tx1"/>
                </a:solidFill>
                <a:latin typeface="Leelawadee" panose="020B0502040204020203" pitchFamily="34" charset="-34"/>
                <a:cs typeface="Leelawadee" panose="020B0502040204020203" pitchFamily="34" charset="-34"/>
              </a:rPr>
              <a:t>Develop analytics talent for </a:t>
            </a:r>
            <a:r>
              <a:rPr lang="en-IN" sz="1600" b="1" i="1" dirty="0" smtClean="0">
                <a:solidFill>
                  <a:schemeClr val="tx1"/>
                </a:solidFill>
                <a:latin typeface="Leelawadee" panose="020B0502040204020203" pitchFamily="34" charset="-34"/>
                <a:cs typeface="Leelawadee" panose="020B0502040204020203" pitchFamily="34" charset="-34"/>
              </a:rPr>
              <a:t>Business Units</a:t>
            </a:r>
            <a:endParaRPr lang="en-IN" sz="1600" b="1" i="1" dirty="0">
              <a:solidFill>
                <a:schemeClr val="tx1"/>
              </a:solidFill>
              <a:latin typeface="Leelawadee" panose="020B0502040204020203" pitchFamily="34" charset="-34"/>
              <a:cs typeface="Leelawadee" panose="020B0502040204020203" pitchFamily="34" charset="-34"/>
            </a:endParaRPr>
          </a:p>
          <a:p>
            <a:pPr marL="285750" lvl="0" indent="-285750">
              <a:lnSpc>
                <a:spcPct val="150000"/>
              </a:lnSpc>
              <a:buFont typeface="Arial" panose="020B0604020202020204" pitchFamily="34" charset="0"/>
              <a:buChar char="•"/>
            </a:pPr>
            <a:r>
              <a:rPr lang="en-IN" sz="1600" b="1" i="1" dirty="0">
                <a:solidFill>
                  <a:schemeClr val="tx1"/>
                </a:solidFill>
                <a:latin typeface="Leelawadee" panose="020B0502040204020203" pitchFamily="34" charset="-34"/>
                <a:cs typeface="Leelawadee" panose="020B0502040204020203" pitchFamily="34" charset="-34"/>
              </a:rPr>
              <a:t>Certified expertise </a:t>
            </a:r>
            <a:r>
              <a:rPr lang="en-IN" sz="1600" dirty="0">
                <a:solidFill>
                  <a:schemeClr val="tx1"/>
                </a:solidFill>
                <a:latin typeface="Leelawadee" panose="020B0502040204020203" pitchFamily="34" charset="-34"/>
                <a:cs typeface="Leelawadee" panose="020B0502040204020203" pitchFamily="34" charset="-34"/>
              </a:rPr>
              <a:t>: Uniform Certification </a:t>
            </a:r>
            <a:r>
              <a:rPr lang="en-IN" sz="1600" dirty="0" smtClean="0">
                <a:solidFill>
                  <a:schemeClr val="tx1"/>
                </a:solidFill>
                <a:latin typeface="Leelawadee" panose="020B0502040204020203" pitchFamily="34" charset="-34"/>
                <a:cs typeface="Leelawadee" panose="020B0502040204020203" pitchFamily="34" charset="-34"/>
              </a:rPr>
              <a:t>Process across the organization</a:t>
            </a:r>
            <a:endParaRPr lang="en-IN" sz="1600" dirty="0">
              <a:solidFill>
                <a:schemeClr val="tx1"/>
              </a:solidFill>
              <a:latin typeface="Leelawadee" panose="020B0502040204020203" pitchFamily="34" charset="-34"/>
              <a:cs typeface="Leelawadee" panose="020B0502040204020203" pitchFamily="34" charset="-34"/>
            </a:endParaRPr>
          </a:p>
          <a:p>
            <a:pPr marL="285750" lvl="0" indent="-285750">
              <a:lnSpc>
                <a:spcPct val="150000"/>
              </a:lnSpc>
              <a:buFont typeface="Arial" panose="020B0604020202020204" pitchFamily="34" charset="0"/>
              <a:buChar char="•"/>
            </a:pPr>
            <a:r>
              <a:rPr lang="en-IN" sz="1600" dirty="0">
                <a:solidFill>
                  <a:schemeClr val="tx1"/>
                </a:solidFill>
                <a:latin typeface="Leelawadee" panose="020B0502040204020203" pitchFamily="34" charset="-34"/>
                <a:cs typeface="Leelawadee" panose="020B0502040204020203" pitchFamily="34" charset="-34"/>
              </a:rPr>
              <a:t>Uniform definition of </a:t>
            </a:r>
            <a:r>
              <a:rPr lang="en-IN" sz="1600" b="1" i="1" dirty="0" smtClean="0">
                <a:solidFill>
                  <a:schemeClr val="tx1"/>
                </a:solidFill>
                <a:latin typeface="Leelawadee" panose="020B0502040204020203" pitchFamily="34" charset="-34"/>
                <a:cs typeface="Leelawadee" panose="020B0502040204020203" pitchFamily="34" charset="-34"/>
              </a:rPr>
              <a:t>capabilities</a:t>
            </a:r>
          </a:p>
          <a:p>
            <a:pPr marL="285750" lvl="0" indent="-285750">
              <a:lnSpc>
                <a:spcPct val="150000"/>
              </a:lnSpc>
              <a:buFont typeface="Arial" panose="020B0604020202020204" pitchFamily="34" charset="0"/>
              <a:buChar char="•"/>
            </a:pPr>
            <a:r>
              <a:rPr lang="en-IN" sz="1600" dirty="0" smtClean="0">
                <a:solidFill>
                  <a:schemeClr val="tx1"/>
                </a:solidFill>
                <a:latin typeface="Leelawadee" panose="020B0502040204020203" pitchFamily="34" charset="-34"/>
                <a:cs typeface="Leelawadee" panose="020B0502040204020203" pitchFamily="34" charset="-34"/>
              </a:rPr>
              <a:t>Develop uniform </a:t>
            </a:r>
            <a:r>
              <a:rPr lang="en-IN" sz="1600" b="1" i="1" dirty="0" smtClean="0">
                <a:solidFill>
                  <a:schemeClr val="tx1"/>
                </a:solidFill>
                <a:latin typeface="Leelawadee" panose="020B0502040204020203" pitchFamily="34" charset="-34"/>
                <a:cs typeface="Leelawadee" panose="020B0502040204020203" pitchFamily="34" charset="-34"/>
              </a:rPr>
              <a:t>Skill Matrix </a:t>
            </a:r>
            <a:r>
              <a:rPr lang="en-IN" sz="1600" dirty="0" smtClean="0">
                <a:solidFill>
                  <a:schemeClr val="tx1"/>
                </a:solidFill>
                <a:latin typeface="Leelawadee" panose="020B0502040204020203" pitchFamily="34" charset="-34"/>
                <a:cs typeface="Leelawadee" panose="020B0502040204020203" pitchFamily="34" charset="-34"/>
              </a:rPr>
              <a:t>for the organization : Lingua Franca for all analytics discussions</a:t>
            </a:r>
            <a:endParaRPr lang="en-IN" sz="1600" dirty="0">
              <a:solidFill>
                <a:schemeClr val="tx1"/>
              </a:solidFill>
              <a:latin typeface="Leelawadee" panose="020B0502040204020203" pitchFamily="34" charset="-34"/>
              <a:cs typeface="Leelawadee" panose="020B0502040204020203" pitchFamily="34" charset="-34"/>
            </a:endParaRPr>
          </a:p>
          <a:p>
            <a:pPr marL="285750" lvl="0" indent="-285750">
              <a:lnSpc>
                <a:spcPct val="150000"/>
              </a:lnSpc>
              <a:buFont typeface="Arial" panose="020B0604020202020204" pitchFamily="34" charset="0"/>
              <a:buChar char="•"/>
            </a:pPr>
            <a:r>
              <a:rPr lang="en-IN" sz="1600" b="1" i="1" dirty="0">
                <a:solidFill>
                  <a:schemeClr val="tx1"/>
                </a:solidFill>
                <a:latin typeface="Leelawadee" panose="020B0502040204020203" pitchFamily="34" charset="-34"/>
                <a:cs typeface="Leelawadee" panose="020B0502040204020203" pitchFamily="34" charset="-34"/>
              </a:rPr>
              <a:t>People perspective </a:t>
            </a:r>
            <a:r>
              <a:rPr lang="en-IN" sz="1600" dirty="0">
                <a:solidFill>
                  <a:schemeClr val="tx1"/>
                </a:solidFill>
                <a:latin typeface="Leelawadee" panose="020B0502040204020203" pitchFamily="34" charset="-34"/>
                <a:cs typeface="Leelawadee" panose="020B0502040204020203" pitchFamily="34" charset="-34"/>
              </a:rPr>
              <a:t>: individual growth &amp; personal Value add</a:t>
            </a:r>
          </a:p>
          <a:p>
            <a:pPr marL="285750" lvl="0" indent="-285750">
              <a:lnSpc>
                <a:spcPct val="150000"/>
              </a:lnSpc>
              <a:buFont typeface="Arial" panose="020B0604020202020204" pitchFamily="34" charset="0"/>
              <a:buChar char="•"/>
            </a:pPr>
            <a:r>
              <a:rPr lang="en-IN" sz="1600" b="1" i="1" dirty="0" smtClean="0">
                <a:solidFill>
                  <a:schemeClr val="tx1"/>
                </a:solidFill>
                <a:latin typeface="Leelawadee" panose="020B0502040204020203" pitchFamily="34" charset="-34"/>
                <a:cs typeface="Leelawadee" panose="020B0502040204020203" pitchFamily="34" charset="-34"/>
              </a:rPr>
              <a:t>Delivering &amp; tracking </a:t>
            </a:r>
            <a:r>
              <a:rPr lang="en-IN" sz="1600" b="1" i="1" dirty="0">
                <a:solidFill>
                  <a:schemeClr val="tx1"/>
                </a:solidFill>
                <a:latin typeface="Leelawadee" panose="020B0502040204020203" pitchFamily="34" charset="-34"/>
                <a:cs typeface="Leelawadee" panose="020B0502040204020203" pitchFamily="34" charset="-34"/>
              </a:rPr>
              <a:t>value</a:t>
            </a:r>
            <a:r>
              <a:rPr lang="en-IN" sz="1600" dirty="0">
                <a:solidFill>
                  <a:schemeClr val="tx1"/>
                </a:solidFill>
                <a:latin typeface="Leelawadee" panose="020B0502040204020203" pitchFamily="34" charset="-34"/>
                <a:cs typeface="Leelawadee" panose="020B0502040204020203" pitchFamily="34" charset="-34"/>
              </a:rPr>
              <a:t> through </a:t>
            </a:r>
            <a:r>
              <a:rPr lang="en-IN" sz="1600" dirty="0" smtClean="0">
                <a:solidFill>
                  <a:schemeClr val="tx1"/>
                </a:solidFill>
                <a:latin typeface="Leelawadee" panose="020B0502040204020203" pitchFamily="34" charset="-34"/>
                <a:cs typeface="Leelawadee" panose="020B0502040204020203" pitchFamily="34" charset="-34"/>
              </a:rPr>
              <a:t>ROI assessment</a:t>
            </a:r>
            <a:endParaRPr lang="en-IN" sz="1600" dirty="0">
              <a:solidFill>
                <a:schemeClr val="tx1"/>
              </a:solidFill>
              <a:latin typeface="Leelawadee" panose="020B0502040204020203" pitchFamily="34" charset="-34"/>
              <a:cs typeface="Leelawadee" panose="020B0502040204020203" pitchFamily="34" charset="-34"/>
            </a:endParaRPr>
          </a:p>
        </p:txBody>
      </p:sp>
      <p:sp>
        <p:nvSpPr>
          <p:cNvPr id="5" name="TextBox 4"/>
          <p:cNvSpPr txBox="1"/>
          <p:nvPr/>
        </p:nvSpPr>
        <p:spPr>
          <a:xfrm>
            <a:off x="4531120" y="957228"/>
            <a:ext cx="1696490" cy="461665"/>
          </a:xfrm>
          <a:prstGeom prst="rect">
            <a:avLst/>
          </a:prstGeom>
          <a:solidFill>
            <a:schemeClr val="bg1"/>
          </a:solidFill>
          <a:ln>
            <a:solidFill>
              <a:schemeClr val="bg1"/>
            </a:solidFill>
          </a:ln>
        </p:spPr>
        <p:txBody>
          <a:bodyPr wrap="none" rtlCol="0">
            <a:spAutoFit/>
          </a:bodyPr>
          <a:lstStyle/>
          <a:p>
            <a:r>
              <a:rPr lang="en-IN" sz="2400" b="1" dirty="0" smtClean="0">
                <a:solidFill>
                  <a:srgbClr val="00B0F0"/>
                </a:solidFill>
                <a:latin typeface="Leelawadee" panose="020B0502040204020203" pitchFamily="34" charset="-34"/>
                <a:cs typeface="Leelawadee" panose="020B0502040204020203" pitchFamily="34" charset="-34"/>
              </a:rPr>
              <a:t>Objectives</a:t>
            </a:r>
            <a:endParaRPr lang="en-IN" sz="2400" b="1" dirty="0">
              <a:solidFill>
                <a:srgbClr val="00B0F0"/>
              </a:solidFill>
              <a:latin typeface="Leelawadee" panose="020B0502040204020203" pitchFamily="34" charset="-34"/>
              <a:cs typeface="Leelawadee" panose="020B0502040204020203" pitchFamily="34" charset="-34"/>
            </a:endParaRPr>
          </a:p>
        </p:txBody>
      </p:sp>
      <p:sp>
        <p:nvSpPr>
          <p:cNvPr id="8" name="Rectangle 7"/>
          <p:cNvSpPr/>
          <p:nvPr/>
        </p:nvSpPr>
        <p:spPr>
          <a:xfrm>
            <a:off x="8014489" y="1243938"/>
            <a:ext cx="4053015" cy="409504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lvl="0" indent="-285750">
              <a:lnSpc>
                <a:spcPct val="150000"/>
              </a:lnSpc>
              <a:buFont typeface="Arial" panose="020B0604020202020204" pitchFamily="34" charset="0"/>
              <a:buChar char="•"/>
            </a:pPr>
            <a:r>
              <a:rPr lang="en-IN" sz="1600" dirty="0">
                <a:solidFill>
                  <a:schemeClr val="tx1"/>
                </a:solidFill>
                <a:latin typeface="Leelawadee" panose="020B0502040204020203" pitchFamily="34" charset="-34"/>
                <a:cs typeface="Leelawadee" panose="020B0502040204020203" pitchFamily="34" charset="-34"/>
              </a:rPr>
              <a:t>Lack of </a:t>
            </a:r>
            <a:r>
              <a:rPr lang="en-IN" sz="1600" b="1" i="1" dirty="0">
                <a:solidFill>
                  <a:schemeClr val="tx1"/>
                </a:solidFill>
                <a:latin typeface="Leelawadee" panose="020B0502040204020203" pitchFamily="34" charset="-34"/>
                <a:cs typeface="Leelawadee" panose="020B0502040204020203" pitchFamily="34" charset="-34"/>
              </a:rPr>
              <a:t>contextualization</a:t>
            </a:r>
          </a:p>
          <a:p>
            <a:pPr marL="285750" lvl="0" indent="-285750">
              <a:lnSpc>
                <a:spcPct val="150000"/>
              </a:lnSpc>
              <a:buFont typeface="Arial" panose="020B0604020202020204" pitchFamily="34" charset="0"/>
              <a:buChar char="•"/>
            </a:pPr>
            <a:r>
              <a:rPr lang="en-IN" sz="1600" dirty="0">
                <a:solidFill>
                  <a:schemeClr val="tx1"/>
                </a:solidFill>
                <a:latin typeface="Leelawadee" panose="020B0502040204020203" pitchFamily="34" charset="-34"/>
                <a:cs typeface="Leelawadee" panose="020B0502040204020203" pitchFamily="34" charset="-34"/>
              </a:rPr>
              <a:t>Lack of </a:t>
            </a:r>
            <a:r>
              <a:rPr lang="en-IN" sz="1600" b="1" i="1" dirty="0">
                <a:solidFill>
                  <a:schemeClr val="tx1"/>
                </a:solidFill>
                <a:latin typeface="Leelawadee" panose="020B0502040204020203" pitchFamily="34" charset="-34"/>
                <a:cs typeface="Leelawadee" panose="020B0502040204020203" pitchFamily="34" charset="-34"/>
              </a:rPr>
              <a:t>interactiveness</a:t>
            </a:r>
          </a:p>
          <a:p>
            <a:pPr marL="285750" lvl="0" indent="-285750">
              <a:lnSpc>
                <a:spcPct val="150000"/>
              </a:lnSpc>
              <a:buFont typeface="Arial" panose="020B0604020202020204" pitchFamily="34" charset="0"/>
              <a:buChar char="•"/>
            </a:pPr>
            <a:r>
              <a:rPr lang="en-IN" sz="1600" dirty="0">
                <a:solidFill>
                  <a:schemeClr val="tx1"/>
                </a:solidFill>
                <a:latin typeface="Leelawadee" panose="020B0502040204020203" pitchFamily="34" charset="-34"/>
                <a:cs typeface="Leelawadee" panose="020B0502040204020203" pitchFamily="34" charset="-34"/>
              </a:rPr>
              <a:t>Lack of </a:t>
            </a:r>
            <a:r>
              <a:rPr lang="en-IN" sz="1600" b="1" i="1" dirty="0">
                <a:solidFill>
                  <a:schemeClr val="tx1"/>
                </a:solidFill>
                <a:latin typeface="Leelawadee" panose="020B0502040204020203" pitchFamily="34" charset="-34"/>
                <a:cs typeface="Leelawadee" panose="020B0502040204020203" pitchFamily="34" charset="-34"/>
              </a:rPr>
              <a:t>collective </a:t>
            </a:r>
            <a:r>
              <a:rPr lang="en-IN" sz="1600" b="1" i="1" dirty="0" smtClean="0">
                <a:solidFill>
                  <a:schemeClr val="tx1"/>
                </a:solidFill>
                <a:latin typeface="Leelawadee" panose="020B0502040204020203" pitchFamily="34" charset="-34"/>
                <a:cs typeface="Leelawadee" panose="020B0502040204020203" pitchFamily="34" charset="-34"/>
              </a:rPr>
              <a:t>learning</a:t>
            </a:r>
            <a:endParaRPr lang="en-IN" sz="1600" b="1" i="1" dirty="0">
              <a:solidFill>
                <a:schemeClr val="tx1"/>
              </a:solidFill>
              <a:latin typeface="Leelawadee" panose="020B0502040204020203" pitchFamily="34" charset="-34"/>
              <a:cs typeface="Leelawadee" panose="020B0502040204020203" pitchFamily="34" charset="-34"/>
            </a:endParaRPr>
          </a:p>
          <a:p>
            <a:pPr marL="285750" lvl="0" indent="-285750">
              <a:lnSpc>
                <a:spcPct val="150000"/>
              </a:lnSpc>
              <a:buFont typeface="Arial" panose="020B0604020202020204" pitchFamily="34" charset="0"/>
              <a:buChar char="•"/>
            </a:pPr>
            <a:r>
              <a:rPr lang="en-IN" sz="1600" dirty="0" smtClean="0">
                <a:solidFill>
                  <a:schemeClr val="tx1"/>
                </a:solidFill>
                <a:latin typeface="Leelawadee" panose="020B0502040204020203" pitchFamily="34" charset="-34"/>
                <a:cs typeface="Leelawadee" panose="020B0502040204020203" pitchFamily="34" charset="-34"/>
              </a:rPr>
              <a:t>Lack of </a:t>
            </a:r>
            <a:r>
              <a:rPr lang="en-IN" sz="1600" b="1" i="1" dirty="0" smtClean="0">
                <a:solidFill>
                  <a:schemeClr val="tx1"/>
                </a:solidFill>
                <a:latin typeface="Leelawadee" panose="020B0502040204020203" pitchFamily="34" charset="-34"/>
                <a:cs typeface="Leelawadee" panose="020B0502040204020203" pitchFamily="34" charset="-34"/>
              </a:rPr>
              <a:t>Application</a:t>
            </a:r>
            <a:r>
              <a:rPr lang="en-IN" sz="1600" dirty="0" smtClean="0">
                <a:solidFill>
                  <a:schemeClr val="tx1"/>
                </a:solidFill>
                <a:latin typeface="Leelawadee" panose="020B0502040204020203" pitchFamily="34" charset="-34"/>
                <a:cs typeface="Leelawadee" panose="020B0502040204020203" pitchFamily="34" charset="-34"/>
              </a:rPr>
              <a:t> </a:t>
            </a:r>
            <a:r>
              <a:rPr lang="en-IN" sz="1600" dirty="0">
                <a:solidFill>
                  <a:schemeClr val="tx1"/>
                </a:solidFill>
                <a:latin typeface="Leelawadee" panose="020B0502040204020203" pitchFamily="34" charset="-34"/>
                <a:cs typeface="Leelawadee" panose="020B0502040204020203" pitchFamily="34" charset="-34"/>
              </a:rPr>
              <a:t>orientation</a:t>
            </a:r>
          </a:p>
          <a:p>
            <a:pPr marL="285750" lvl="0" indent="-285750">
              <a:lnSpc>
                <a:spcPct val="150000"/>
              </a:lnSpc>
              <a:buFont typeface="Arial" panose="020B0604020202020204" pitchFamily="34" charset="0"/>
              <a:buChar char="•"/>
            </a:pPr>
            <a:r>
              <a:rPr lang="en-IN" sz="1600" dirty="0" smtClean="0">
                <a:solidFill>
                  <a:schemeClr val="tx1"/>
                </a:solidFill>
                <a:latin typeface="Leelawadee" panose="020B0502040204020203" pitchFamily="34" charset="-34"/>
                <a:cs typeface="Leelawadee" panose="020B0502040204020203" pitchFamily="34" charset="-34"/>
              </a:rPr>
              <a:t>Lack of </a:t>
            </a:r>
            <a:r>
              <a:rPr lang="en-IN" sz="1600" b="1" i="1" dirty="0" smtClean="0">
                <a:solidFill>
                  <a:schemeClr val="tx1"/>
                </a:solidFill>
                <a:latin typeface="Leelawadee" panose="020B0502040204020203" pitchFamily="34" charset="-34"/>
                <a:cs typeface="Leelawadee" panose="020B0502040204020203" pitchFamily="34" charset="-34"/>
              </a:rPr>
              <a:t>Balance</a:t>
            </a:r>
            <a:r>
              <a:rPr lang="en-IN" sz="1600" dirty="0" smtClean="0">
                <a:solidFill>
                  <a:schemeClr val="tx1"/>
                </a:solidFill>
                <a:latin typeface="Leelawadee" panose="020B0502040204020203" pitchFamily="34" charset="-34"/>
                <a:cs typeface="Leelawadee" panose="020B0502040204020203" pitchFamily="34" charset="-34"/>
              </a:rPr>
              <a:t> </a:t>
            </a:r>
            <a:r>
              <a:rPr lang="en-IN" sz="1600" dirty="0">
                <a:solidFill>
                  <a:schemeClr val="tx1"/>
                </a:solidFill>
                <a:latin typeface="Leelawadee" panose="020B0502040204020203" pitchFamily="34" charset="-34"/>
                <a:cs typeface="Leelawadee" panose="020B0502040204020203" pitchFamily="34" charset="-34"/>
              </a:rPr>
              <a:t>between </a:t>
            </a:r>
            <a:r>
              <a:rPr lang="en-IN" sz="1600" dirty="0" smtClean="0">
                <a:solidFill>
                  <a:schemeClr val="tx1"/>
                </a:solidFill>
                <a:latin typeface="Leelawadee" panose="020B0502040204020203" pitchFamily="34" charset="-34"/>
                <a:cs typeface="Leelawadee" panose="020B0502040204020203" pitchFamily="34" charset="-34"/>
              </a:rPr>
              <a:t>organization </a:t>
            </a:r>
            <a:r>
              <a:rPr lang="en-IN" sz="1600" dirty="0">
                <a:solidFill>
                  <a:schemeClr val="tx1"/>
                </a:solidFill>
                <a:latin typeface="Leelawadee" panose="020B0502040204020203" pitchFamily="34" charset="-34"/>
                <a:cs typeface="Leelawadee" panose="020B0502040204020203" pitchFamily="34" charset="-34"/>
              </a:rPr>
              <a:t>and individual learning </a:t>
            </a:r>
            <a:r>
              <a:rPr lang="en-IN" sz="1600" dirty="0" smtClean="0">
                <a:solidFill>
                  <a:schemeClr val="tx1"/>
                </a:solidFill>
                <a:latin typeface="Leelawadee" panose="020B0502040204020203" pitchFamily="34" charset="-34"/>
                <a:cs typeface="Leelawadee" panose="020B0502040204020203" pitchFamily="34" charset="-34"/>
              </a:rPr>
              <a:t>objectives</a:t>
            </a:r>
          </a:p>
          <a:p>
            <a:pPr marL="285750" lvl="0" indent="-285750">
              <a:lnSpc>
                <a:spcPct val="150000"/>
              </a:lnSpc>
              <a:buFont typeface="Arial" panose="020B0604020202020204" pitchFamily="34" charset="0"/>
              <a:buChar char="•"/>
            </a:pPr>
            <a:r>
              <a:rPr lang="en-IN" sz="1600" dirty="0" smtClean="0">
                <a:solidFill>
                  <a:schemeClr val="tx1"/>
                </a:solidFill>
                <a:latin typeface="Leelawadee" panose="020B0502040204020203" pitchFamily="34" charset="-34"/>
                <a:cs typeface="Leelawadee" panose="020B0502040204020203" pitchFamily="34" charset="-34"/>
              </a:rPr>
              <a:t>Lack of focus on </a:t>
            </a:r>
            <a:r>
              <a:rPr lang="en-IN" sz="1600" b="1" dirty="0" smtClean="0">
                <a:solidFill>
                  <a:schemeClr val="tx1"/>
                </a:solidFill>
                <a:latin typeface="Leelawadee" panose="020B0502040204020203" pitchFamily="34" charset="-34"/>
                <a:cs typeface="Leelawadee" panose="020B0502040204020203" pitchFamily="34" charset="-34"/>
              </a:rPr>
              <a:t>value assessment of analytics</a:t>
            </a:r>
          </a:p>
          <a:p>
            <a:pPr marL="285750" lvl="0" indent="-285750">
              <a:lnSpc>
                <a:spcPct val="150000"/>
              </a:lnSpc>
              <a:buFont typeface="Arial" panose="020B0604020202020204" pitchFamily="34" charset="0"/>
              <a:buChar char="•"/>
            </a:pPr>
            <a:r>
              <a:rPr lang="en-IN" sz="1600" dirty="0" smtClean="0">
                <a:solidFill>
                  <a:schemeClr val="tx1"/>
                </a:solidFill>
                <a:latin typeface="Leelawadee" panose="020B0502040204020203" pitchFamily="34" charset="-34"/>
                <a:cs typeface="Leelawadee" panose="020B0502040204020203" pitchFamily="34" charset="-34"/>
              </a:rPr>
              <a:t>Lack of focus on </a:t>
            </a:r>
            <a:r>
              <a:rPr lang="en-IN" sz="1600" b="1" dirty="0" smtClean="0">
                <a:solidFill>
                  <a:schemeClr val="tx1"/>
                </a:solidFill>
                <a:latin typeface="Leelawadee" panose="020B0502040204020203" pitchFamily="34" charset="-34"/>
                <a:cs typeface="Leelawadee" panose="020B0502040204020203" pitchFamily="34" charset="-34"/>
              </a:rPr>
              <a:t>implementation &amp; change management</a:t>
            </a:r>
          </a:p>
        </p:txBody>
      </p:sp>
      <p:sp>
        <p:nvSpPr>
          <p:cNvPr id="9" name="TextBox 8"/>
          <p:cNvSpPr txBox="1"/>
          <p:nvPr/>
        </p:nvSpPr>
        <p:spPr>
          <a:xfrm>
            <a:off x="8665698" y="971926"/>
            <a:ext cx="2616591" cy="461665"/>
          </a:xfrm>
          <a:prstGeom prst="rect">
            <a:avLst/>
          </a:prstGeom>
          <a:solidFill>
            <a:schemeClr val="bg1"/>
          </a:solidFill>
          <a:ln>
            <a:solidFill>
              <a:schemeClr val="bg1"/>
            </a:solidFill>
          </a:ln>
        </p:spPr>
        <p:txBody>
          <a:bodyPr wrap="square" rtlCol="0">
            <a:spAutoFit/>
          </a:bodyPr>
          <a:lstStyle/>
          <a:p>
            <a:pPr algn="ctr"/>
            <a:r>
              <a:rPr lang="en-IN" sz="2400" b="1" dirty="0" smtClean="0">
                <a:solidFill>
                  <a:srgbClr val="00B0F0"/>
                </a:solidFill>
                <a:latin typeface="Leelawadee" panose="020B0502040204020203" pitchFamily="34" charset="-34"/>
                <a:cs typeface="Leelawadee" panose="020B0502040204020203" pitchFamily="34" charset="-34"/>
              </a:rPr>
              <a:t>Common Risks</a:t>
            </a:r>
            <a:endParaRPr lang="en-IN" sz="2400" b="1" dirty="0">
              <a:solidFill>
                <a:srgbClr val="00B0F0"/>
              </a:solidFill>
              <a:latin typeface="Leelawadee" panose="020B0502040204020203" pitchFamily="34" charset="-34"/>
              <a:cs typeface="Leelawadee" panose="020B0502040204020203" pitchFamily="34" charset="-34"/>
            </a:endParaRPr>
          </a:p>
        </p:txBody>
      </p:sp>
      <p:sp>
        <p:nvSpPr>
          <p:cNvPr id="20" name="TextBox 19"/>
          <p:cNvSpPr txBox="1"/>
          <p:nvPr/>
        </p:nvSpPr>
        <p:spPr>
          <a:xfrm>
            <a:off x="524608" y="925884"/>
            <a:ext cx="2057936" cy="461665"/>
          </a:xfrm>
          <a:prstGeom prst="rect">
            <a:avLst/>
          </a:prstGeom>
          <a:solidFill>
            <a:schemeClr val="bg1"/>
          </a:solidFill>
          <a:ln>
            <a:solidFill>
              <a:schemeClr val="bg1"/>
            </a:solidFill>
          </a:ln>
        </p:spPr>
        <p:txBody>
          <a:bodyPr wrap="none" rtlCol="0">
            <a:spAutoFit/>
          </a:bodyPr>
          <a:lstStyle/>
          <a:p>
            <a:r>
              <a:rPr lang="en-IN" sz="2400" b="1" dirty="0" smtClean="0">
                <a:solidFill>
                  <a:srgbClr val="00B0F0"/>
                </a:solidFill>
                <a:latin typeface="Leelawadee" panose="020B0502040204020203" pitchFamily="34" charset="-34"/>
                <a:cs typeface="Leelawadee" panose="020B0502040204020203" pitchFamily="34" charset="-34"/>
              </a:rPr>
              <a:t>Stakeholders</a:t>
            </a:r>
            <a:endParaRPr lang="en-IN" sz="2400" b="1" dirty="0">
              <a:solidFill>
                <a:srgbClr val="00B0F0"/>
              </a:solidFill>
              <a:latin typeface="Leelawadee" panose="020B0502040204020203" pitchFamily="34" charset="-34"/>
              <a:cs typeface="Leelawadee" panose="020B0502040204020203" pitchFamily="34" charset="-34"/>
            </a:endParaRPr>
          </a:p>
        </p:txBody>
      </p:sp>
      <p:sp>
        <p:nvSpPr>
          <p:cNvPr id="23" name="Rectangle 22"/>
          <p:cNvSpPr/>
          <p:nvPr/>
        </p:nvSpPr>
        <p:spPr>
          <a:xfrm>
            <a:off x="8014489" y="5338988"/>
            <a:ext cx="4053015" cy="56476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i="1" dirty="0" smtClean="0"/>
              <a:t>Communicating Analytics </a:t>
            </a:r>
            <a:r>
              <a:rPr lang="en-IN" dirty="0" smtClean="0"/>
              <a:t>: Essence of all Trainings</a:t>
            </a:r>
            <a:endParaRPr lang="en-IN" dirty="0"/>
          </a:p>
        </p:txBody>
      </p:sp>
      <p:sp>
        <p:nvSpPr>
          <p:cNvPr id="2" name="Isosceles Triangle 1"/>
          <p:cNvSpPr/>
          <p:nvPr/>
        </p:nvSpPr>
        <p:spPr>
          <a:xfrm rot="5400000">
            <a:off x="629476" y="3341244"/>
            <a:ext cx="3906135" cy="460411"/>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p:cNvSpPr txBox="1"/>
          <p:nvPr/>
        </p:nvSpPr>
        <p:spPr>
          <a:xfrm rot="16200000">
            <a:off x="826712" y="3337270"/>
            <a:ext cx="4202477" cy="369332"/>
          </a:xfrm>
          <a:prstGeom prst="rect">
            <a:avLst/>
          </a:prstGeom>
          <a:noFill/>
        </p:spPr>
        <p:txBody>
          <a:bodyPr wrap="square" rtlCol="0">
            <a:spAutoFit/>
          </a:bodyPr>
          <a:lstStyle/>
          <a:p>
            <a:r>
              <a:rPr lang="en-IN" dirty="0" smtClean="0"/>
              <a:t>Expertise, Usage, Evangelism, Awareness  </a:t>
            </a:r>
            <a:endParaRPr lang="en-IN" dirty="0"/>
          </a:p>
        </p:txBody>
      </p:sp>
    </p:spTree>
    <p:extLst>
      <p:ext uri="{BB962C8B-B14F-4D97-AF65-F5344CB8AC3E}">
        <p14:creationId xmlns:p14="http://schemas.microsoft.com/office/powerpoint/2010/main" val="36649326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9</a:t>
            </a:fld>
            <a:endParaRPr lang="en-IN" dirty="0">
              <a:solidFill>
                <a:srgbClr val="000000">
                  <a:tint val="75000"/>
                </a:srgbClr>
              </a:solidFill>
            </a:endParaRPr>
          </a:p>
        </p:txBody>
      </p:sp>
      <p:sp>
        <p:nvSpPr>
          <p:cNvPr id="5" name="Rectangle 4"/>
          <p:cNvSpPr/>
          <p:nvPr/>
        </p:nvSpPr>
        <p:spPr>
          <a:xfrm>
            <a:off x="4467314" y="237066"/>
            <a:ext cx="3257495"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Training Overview</a:t>
            </a:r>
            <a:endParaRPr lang="en-IN" sz="2800" b="1" dirty="0">
              <a:solidFill>
                <a:srgbClr val="0070C0"/>
              </a:solidFill>
              <a:latin typeface="Leelawadee UI" panose="020B0502040204020203" pitchFamily="34" charset="-34"/>
              <a:cs typeface="Leelawadee UI" panose="020B0502040204020203" pitchFamily="34" charset="-34"/>
            </a:endParaRPr>
          </a:p>
        </p:txBody>
      </p:sp>
      <p:sp>
        <p:nvSpPr>
          <p:cNvPr id="7" name="Rectangle 6"/>
          <p:cNvSpPr/>
          <p:nvPr/>
        </p:nvSpPr>
        <p:spPr>
          <a:xfrm>
            <a:off x="489396" y="760286"/>
            <a:ext cx="3026655" cy="437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Components</a:t>
            </a:r>
            <a:endParaRPr lang="en-IN" dirty="0"/>
          </a:p>
        </p:txBody>
      </p:sp>
      <p:sp>
        <p:nvSpPr>
          <p:cNvPr id="8" name="Rectangle 7"/>
          <p:cNvSpPr/>
          <p:nvPr/>
        </p:nvSpPr>
        <p:spPr>
          <a:xfrm>
            <a:off x="515153" y="1300761"/>
            <a:ext cx="2998631" cy="2446993"/>
          </a:xfrm>
          <a:prstGeom prst="rect">
            <a:avLst/>
          </a:prstGeom>
          <a:solidFill>
            <a:schemeClr val="accent1">
              <a:lumMod val="20000"/>
              <a:lumOff val="80000"/>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mj-lt"/>
              <a:buAutoNum type="arabicPeriod"/>
            </a:pPr>
            <a:r>
              <a:rPr lang="en-IN" dirty="0" smtClean="0">
                <a:solidFill>
                  <a:schemeClr val="tx1"/>
                </a:solidFill>
              </a:rPr>
              <a:t>Theoretical underpinnings</a:t>
            </a:r>
            <a:endParaRPr lang="en-IN" dirty="0">
              <a:solidFill>
                <a:schemeClr val="tx1"/>
              </a:solidFill>
            </a:endParaRPr>
          </a:p>
          <a:p>
            <a:pPr marL="342900" indent="-342900">
              <a:buFont typeface="+mj-lt"/>
              <a:buAutoNum type="arabicPeriod"/>
            </a:pPr>
            <a:r>
              <a:rPr lang="en-IN" dirty="0">
                <a:solidFill>
                  <a:schemeClr val="tx1"/>
                </a:solidFill>
              </a:rPr>
              <a:t>Business Perspective</a:t>
            </a:r>
          </a:p>
          <a:p>
            <a:pPr marL="342900" indent="-342900">
              <a:buFont typeface="+mj-lt"/>
              <a:buAutoNum type="arabicPeriod"/>
            </a:pPr>
            <a:r>
              <a:rPr lang="en-IN" dirty="0" smtClean="0">
                <a:solidFill>
                  <a:schemeClr val="tx1"/>
                </a:solidFill>
              </a:rPr>
              <a:t>Hands on expertise</a:t>
            </a:r>
          </a:p>
          <a:p>
            <a:pPr marL="342900" indent="-342900">
              <a:buFont typeface="+mj-lt"/>
              <a:buAutoNum type="arabicPeriod"/>
            </a:pPr>
            <a:r>
              <a:rPr lang="en-IN" dirty="0" smtClean="0">
                <a:solidFill>
                  <a:schemeClr val="tx1"/>
                </a:solidFill>
              </a:rPr>
              <a:t>Communicating analytics</a:t>
            </a:r>
          </a:p>
          <a:p>
            <a:pPr marL="342900" indent="-342900">
              <a:buFont typeface="+mj-lt"/>
              <a:buAutoNum type="arabicPeriod"/>
            </a:pPr>
            <a:r>
              <a:rPr lang="en-IN" dirty="0" smtClean="0">
                <a:solidFill>
                  <a:schemeClr val="tx1"/>
                </a:solidFill>
              </a:rPr>
              <a:t>Quantifying value of analytics</a:t>
            </a:r>
            <a:endParaRPr lang="en-IN" dirty="0">
              <a:solidFill>
                <a:schemeClr val="tx1"/>
              </a:solidFill>
            </a:endParaRPr>
          </a:p>
          <a:p>
            <a:pPr marL="342900" indent="-342900">
              <a:buFont typeface="+mj-lt"/>
              <a:buAutoNum type="arabicPeriod"/>
            </a:pPr>
            <a:r>
              <a:rPr lang="en-IN" dirty="0">
                <a:solidFill>
                  <a:schemeClr val="tx1"/>
                </a:solidFill>
              </a:rPr>
              <a:t>Change Management and implementation</a:t>
            </a:r>
          </a:p>
        </p:txBody>
      </p:sp>
      <p:sp>
        <p:nvSpPr>
          <p:cNvPr id="9" name="Rectangle 8"/>
          <p:cNvSpPr/>
          <p:nvPr/>
        </p:nvSpPr>
        <p:spPr>
          <a:xfrm>
            <a:off x="4457130" y="760286"/>
            <a:ext cx="2997590" cy="437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Conduits</a:t>
            </a:r>
            <a:endParaRPr lang="en-IN" dirty="0"/>
          </a:p>
        </p:txBody>
      </p:sp>
      <p:sp>
        <p:nvSpPr>
          <p:cNvPr id="10" name="Rectangle 9"/>
          <p:cNvSpPr/>
          <p:nvPr/>
        </p:nvSpPr>
        <p:spPr>
          <a:xfrm>
            <a:off x="4484884" y="1300761"/>
            <a:ext cx="2969835" cy="2446993"/>
          </a:xfrm>
          <a:prstGeom prst="rect">
            <a:avLst/>
          </a:prstGeom>
          <a:solidFill>
            <a:schemeClr val="accent1">
              <a:lumMod val="20000"/>
              <a:lumOff val="80000"/>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mj-lt"/>
              <a:buAutoNum type="arabicPeriod"/>
            </a:pPr>
            <a:r>
              <a:rPr lang="en-IN" dirty="0">
                <a:solidFill>
                  <a:schemeClr val="tx1"/>
                </a:solidFill>
              </a:rPr>
              <a:t>Classroom</a:t>
            </a:r>
          </a:p>
          <a:p>
            <a:pPr marL="342900" indent="-342900">
              <a:buFont typeface="+mj-lt"/>
              <a:buAutoNum type="arabicPeriod"/>
            </a:pPr>
            <a:r>
              <a:rPr lang="en-IN" dirty="0">
                <a:solidFill>
                  <a:schemeClr val="tx1"/>
                </a:solidFill>
              </a:rPr>
              <a:t>Group Problem Solving</a:t>
            </a:r>
          </a:p>
          <a:p>
            <a:pPr marL="342900" indent="-342900">
              <a:buFont typeface="+mj-lt"/>
              <a:buAutoNum type="arabicPeriod"/>
            </a:pPr>
            <a:r>
              <a:rPr lang="en-IN" dirty="0">
                <a:solidFill>
                  <a:schemeClr val="tx1"/>
                </a:solidFill>
              </a:rPr>
              <a:t>Field Applications</a:t>
            </a:r>
          </a:p>
          <a:p>
            <a:pPr marL="342900" indent="-342900">
              <a:buFont typeface="+mj-lt"/>
              <a:buAutoNum type="arabicPeriod"/>
            </a:pPr>
            <a:r>
              <a:rPr lang="en-IN" dirty="0">
                <a:solidFill>
                  <a:schemeClr val="tx1"/>
                </a:solidFill>
              </a:rPr>
              <a:t>Quizzes</a:t>
            </a:r>
          </a:p>
          <a:p>
            <a:pPr marL="342900" indent="-342900">
              <a:buFont typeface="+mj-lt"/>
              <a:buAutoNum type="arabicPeriod"/>
            </a:pPr>
            <a:r>
              <a:rPr lang="en-IN" dirty="0">
                <a:solidFill>
                  <a:schemeClr val="tx1"/>
                </a:solidFill>
              </a:rPr>
              <a:t>Assessment</a:t>
            </a:r>
          </a:p>
          <a:p>
            <a:pPr marL="342900" indent="-342900">
              <a:buFont typeface="+mj-lt"/>
              <a:buAutoNum type="arabicPeriod"/>
            </a:pPr>
            <a:r>
              <a:rPr lang="en-IN" dirty="0">
                <a:solidFill>
                  <a:schemeClr val="tx1"/>
                </a:solidFill>
              </a:rPr>
              <a:t>Gamification</a:t>
            </a:r>
          </a:p>
        </p:txBody>
      </p:sp>
      <p:sp>
        <p:nvSpPr>
          <p:cNvPr id="11" name="Rectangle 10"/>
          <p:cNvSpPr/>
          <p:nvPr/>
        </p:nvSpPr>
        <p:spPr>
          <a:xfrm>
            <a:off x="8613819" y="760286"/>
            <a:ext cx="2781836" cy="437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Stakeholders : Trainees</a:t>
            </a:r>
            <a:endParaRPr lang="en-IN" dirty="0"/>
          </a:p>
        </p:txBody>
      </p:sp>
      <p:sp>
        <p:nvSpPr>
          <p:cNvPr id="12" name="Rectangle 11"/>
          <p:cNvSpPr/>
          <p:nvPr/>
        </p:nvSpPr>
        <p:spPr>
          <a:xfrm>
            <a:off x="8639575" y="1300761"/>
            <a:ext cx="2756079" cy="2446993"/>
          </a:xfrm>
          <a:prstGeom prst="rect">
            <a:avLst/>
          </a:prstGeom>
          <a:solidFill>
            <a:schemeClr val="accent1">
              <a:lumMod val="20000"/>
              <a:lumOff val="80000"/>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IN" dirty="0" smtClean="0">
                <a:solidFill>
                  <a:schemeClr val="tx1"/>
                </a:solidFill>
              </a:rPr>
              <a:t>Business unit employees</a:t>
            </a:r>
          </a:p>
          <a:p>
            <a:r>
              <a:rPr lang="en-IN" dirty="0" smtClean="0">
                <a:solidFill>
                  <a:schemeClr val="tx1"/>
                </a:solidFill>
              </a:rPr>
              <a:t>ACOE resources</a:t>
            </a:r>
          </a:p>
          <a:p>
            <a:r>
              <a:rPr lang="en-IN" dirty="0" smtClean="0">
                <a:solidFill>
                  <a:schemeClr val="tx1"/>
                </a:solidFill>
              </a:rPr>
              <a:t>Analytics champions</a:t>
            </a:r>
          </a:p>
          <a:p>
            <a:r>
              <a:rPr lang="en-IN" dirty="0" smtClean="0">
                <a:solidFill>
                  <a:schemeClr val="tx1"/>
                </a:solidFill>
              </a:rPr>
              <a:t>Analytics users</a:t>
            </a:r>
            <a:endParaRPr lang="en-IN" dirty="0">
              <a:solidFill>
                <a:schemeClr val="tx1"/>
              </a:solidFill>
            </a:endParaRPr>
          </a:p>
        </p:txBody>
      </p:sp>
      <p:pic>
        <p:nvPicPr>
          <p:cNvPr id="13" name="Picture 12"/>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882127" y="1693435"/>
            <a:ext cx="609602" cy="609602"/>
          </a:xfrm>
          <a:prstGeom prst="rect">
            <a:avLst/>
          </a:prstGeom>
        </p:spPr>
      </p:pic>
      <p:pic>
        <p:nvPicPr>
          <p:cNvPr id="14" name="Picture 13"/>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42327" y="1693435"/>
            <a:ext cx="609602" cy="609602"/>
          </a:xfrm>
          <a:prstGeom prst="rect">
            <a:avLst/>
          </a:prstGeom>
        </p:spPr>
      </p:pic>
      <p:pic>
        <p:nvPicPr>
          <p:cNvPr id="15" name="Picture 14"/>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602527" y="1693435"/>
            <a:ext cx="609602" cy="609602"/>
          </a:xfrm>
          <a:prstGeom prst="rect">
            <a:avLst/>
          </a:prstGeom>
        </p:spPr>
      </p:pic>
      <p:pic>
        <p:nvPicPr>
          <p:cNvPr id="16" name="Picture 15"/>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312227" y="1681957"/>
            <a:ext cx="609602" cy="609602"/>
          </a:xfrm>
          <a:prstGeom prst="rect">
            <a:avLst/>
          </a:prstGeom>
        </p:spPr>
      </p:pic>
      <p:pic>
        <p:nvPicPr>
          <p:cNvPr id="17" name="Picture 16"/>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128162" y="1681957"/>
            <a:ext cx="609602" cy="609602"/>
          </a:xfrm>
          <a:prstGeom prst="rect">
            <a:avLst/>
          </a:prstGeom>
        </p:spPr>
      </p:pic>
      <p:sp>
        <p:nvSpPr>
          <p:cNvPr id="20" name="Isosceles Triangle 19"/>
          <p:cNvSpPr/>
          <p:nvPr/>
        </p:nvSpPr>
        <p:spPr>
          <a:xfrm rot="5400000">
            <a:off x="3391264" y="2429960"/>
            <a:ext cx="1060704" cy="2663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Isosceles Triangle 20"/>
          <p:cNvSpPr/>
          <p:nvPr/>
        </p:nvSpPr>
        <p:spPr>
          <a:xfrm rot="5400000">
            <a:off x="7441585" y="2429960"/>
            <a:ext cx="1060704" cy="2663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Rectangle 33"/>
          <p:cNvSpPr/>
          <p:nvPr/>
        </p:nvSpPr>
        <p:spPr>
          <a:xfrm>
            <a:off x="515152" y="4340178"/>
            <a:ext cx="11191743" cy="1880318"/>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IN" dirty="0">
                <a:solidFill>
                  <a:schemeClr val="tx1"/>
                </a:solidFill>
              </a:rPr>
              <a:t>Course-1: Introduction to analytics and data mining</a:t>
            </a:r>
          </a:p>
          <a:p>
            <a:pPr lvl="0"/>
            <a:r>
              <a:rPr lang="en-IN" dirty="0">
                <a:solidFill>
                  <a:schemeClr val="tx1"/>
                </a:solidFill>
              </a:rPr>
              <a:t>Course-2: Forecasting, Optimization and Simulation</a:t>
            </a:r>
          </a:p>
          <a:p>
            <a:pPr lvl="0"/>
            <a:r>
              <a:rPr lang="en-IN" dirty="0">
                <a:solidFill>
                  <a:schemeClr val="tx1"/>
                </a:solidFill>
              </a:rPr>
              <a:t>Course-3: Introduction to big data and unstructured data analytics (image, text, satellite image, speech, video etc.)</a:t>
            </a:r>
          </a:p>
          <a:p>
            <a:pPr lvl="0"/>
            <a:r>
              <a:rPr lang="en-IN" dirty="0">
                <a:solidFill>
                  <a:schemeClr val="tx1"/>
                </a:solidFill>
              </a:rPr>
              <a:t>Course-4: Introduction to machine learning </a:t>
            </a:r>
          </a:p>
          <a:p>
            <a:pPr lvl="0"/>
            <a:r>
              <a:rPr lang="en-IN" dirty="0">
                <a:solidFill>
                  <a:schemeClr val="tx1"/>
                </a:solidFill>
              </a:rPr>
              <a:t>Course-5: </a:t>
            </a:r>
            <a:r>
              <a:rPr lang="en-IN" dirty="0" smtClean="0">
                <a:solidFill>
                  <a:schemeClr val="tx1"/>
                </a:solidFill>
              </a:rPr>
              <a:t>Analytics for specific business functions (marketing, HR, Finance)</a:t>
            </a:r>
            <a:endParaRPr lang="en-IN" dirty="0">
              <a:solidFill>
                <a:schemeClr val="tx1"/>
              </a:solidFill>
            </a:endParaRPr>
          </a:p>
          <a:p>
            <a:pPr lvl="0"/>
            <a:r>
              <a:rPr lang="en-IN" dirty="0">
                <a:solidFill>
                  <a:schemeClr val="tx1"/>
                </a:solidFill>
              </a:rPr>
              <a:t>Course-6: Advanced topics in big data and machine learning including deep learning and other similar emerging areas</a:t>
            </a:r>
          </a:p>
        </p:txBody>
      </p:sp>
      <p:sp>
        <p:nvSpPr>
          <p:cNvPr id="36" name="Rectangle 35"/>
          <p:cNvSpPr/>
          <p:nvPr/>
        </p:nvSpPr>
        <p:spPr>
          <a:xfrm>
            <a:off x="515152" y="3850783"/>
            <a:ext cx="11191743" cy="386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Course Overview</a:t>
            </a:r>
            <a:endParaRPr lang="en-IN" dirty="0"/>
          </a:p>
        </p:txBody>
      </p:sp>
    </p:spTree>
    <p:extLst>
      <p:ext uri="{BB962C8B-B14F-4D97-AF65-F5344CB8AC3E}">
        <p14:creationId xmlns:p14="http://schemas.microsoft.com/office/powerpoint/2010/main" val="30716786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10</a:t>
            </a:fld>
            <a:endParaRPr lang="en-IN" dirty="0">
              <a:solidFill>
                <a:srgbClr val="000000">
                  <a:tint val="75000"/>
                </a:srgbClr>
              </a:solidFill>
            </a:endParaRPr>
          </a:p>
        </p:txBody>
      </p:sp>
      <p:sp>
        <p:nvSpPr>
          <p:cNvPr id="5" name="Rectangle 4"/>
          <p:cNvSpPr/>
          <p:nvPr/>
        </p:nvSpPr>
        <p:spPr>
          <a:xfrm>
            <a:off x="172774" y="960367"/>
            <a:ext cx="4821256" cy="11919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Academic Committee </a:t>
            </a:r>
            <a:r>
              <a:rPr lang="en-IN" dirty="0"/>
              <a:t>- to anchor all analytics training programs in the </a:t>
            </a:r>
            <a:r>
              <a:rPr lang="en-IN" b="1" i="1" dirty="0"/>
              <a:t>relevant business context </a:t>
            </a:r>
            <a:r>
              <a:rPr lang="en-IN" dirty="0"/>
              <a:t>in order to provide actionable learning.</a:t>
            </a:r>
          </a:p>
          <a:p>
            <a:pPr algn="ctr"/>
            <a:endParaRPr lang="en-IN" dirty="0"/>
          </a:p>
        </p:txBody>
      </p:sp>
      <p:sp>
        <p:nvSpPr>
          <p:cNvPr id="6" name="Rectangle 5"/>
          <p:cNvSpPr/>
          <p:nvPr/>
        </p:nvSpPr>
        <p:spPr>
          <a:xfrm>
            <a:off x="172773" y="2152356"/>
            <a:ext cx="4821257" cy="394136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600" dirty="0" smtClean="0">
              <a:solidFill>
                <a:schemeClr val="tx1"/>
              </a:solidFill>
            </a:endParaRPr>
          </a:p>
          <a:p>
            <a:pPr marL="285750" indent="-285750">
              <a:buFont typeface="Arial" panose="020B0604020202020204" pitchFamily="34" charset="0"/>
              <a:buChar char="•"/>
            </a:pPr>
            <a:r>
              <a:rPr lang="en-IN" sz="1600" b="1" dirty="0" smtClean="0">
                <a:solidFill>
                  <a:schemeClr val="tx1"/>
                </a:solidFill>
              </a:rPr>
              <a:t>Tata iQ Analytics SME</a:t>
            </a:r>
            <a:r>
              <a:rPr lang="en-IN" sz="1600" dirty="0" smtClean="0">
                <a:solidFill>
                  <a:schemeClr val="tx1"/>
                </a:solidFill>
              </a:rPr>
              <a:t> -  co-ordinator and lead</a:t>
            </a:r>
          </a:p>
          <a:p>
            <a:pPr marL="285750" indent="-285750">
              <a:buFont typeface="Arial" panose="020B0604020202020204" pitchFamily="34" charset="0"/>
              <a:buChar char="•"/>
            </a:pPr>
            <a:endParaRPr lang="en-IN" sz="1600" dirty="0" smtClean="0">
              <a:solidFill>
                <a:schemeClr val="tx1"/>
              </a:solidFill>
            </a:endParaRPr>
          </a:p>
          <a:p>
            <a:pPr marL="285750" lvl="0" indent="-285750">
              <a:buFont typeface="Arial" panose="020B0604020202020204" pitchFamily="34" charset="0"/>
              <a:buChar char="•"/>
            </a:pPr>
            <a:r>
              <a:rPr lang="en-IN" sz="1600" b="1" dirty="0" smtClean="0">
                <a:solidFill>
                  <a:schemeClr val="tx1"/>
                </a:solidFill>
              </a:rPr>
              <a:t>Tata iQ manager and senior analyst </a:t>
            </a:r>
            <a:r>
              <a:rPr lang="en-IN" sz="1600" dirty="0" smtClean="0">
                <a:solidFill>
                  <a:schemeClr val="tx1"/>
                </a:solidFill>
              </a:rPr>
              <a:t>- creator </a:t>
            </a:r>
            <a:r>
              <a:rPr lang="en-IN" sz="1600" dirty="0">
                <a:solidFill>
                  <a:schemeClr val="tx1"/>
                </a:solidFill>
              </a:rPr>
              <a:t>of training content and facilitator of hands on </a:t>
            </a:r>
            <a:r>
              <a:rPr lang="en-IN" sz="1600" dirty="0" smtClean="0">
                <a:solidFill>
                  <a:schemeClr val="tx1"/>
                </a:solidFill>
              </a:rPr>
              <a:t>training</a:t>
            </a:r>
          </a:p>
          <a:p>
            <a:pPr marL="285750" lvl="0" indent="-285750">
              <a:buFont typeface="Arial" panose="020B0604020202020204" pitchFamily="34" charset="0"/>
              <a:buChar char="•"/>
            </a:pPr>
            <a:endParaRPr lang="en-IN" sz="1600" dirty="0">
              <a:solidFill>
                <a:schemeClr val="tx1"/>
              </a:solidFill>
            </a:endParaRPr>
          </a:p>
          <a:p>
            <a:pPr marL="285750" indent="-285750">
              <a:buFont typeface="Arial" panose="020B0604020202020204" pitchFamily="34" charset="0"/>
              <a:buChar char="•"/>
            </a:pPr>
            <a:r>
              <a:rPr lang="en-IN" sz="1600" b="1" dirty="0" smtClean="0">
                <a:solidFill>
                  <a:schemeClr val="tx1"/>
                </a:solidFill>
              </a:rPr>
              <a:t>Tata </a:t>
            </a:r>
            <a:r>
              <a:rPr lang="en-IN" sz="1600" b="1" dirty="0">
                <a:solidFill>
                  <a:schemeClr val="tx1"/>
                </a:solidFill>
              </a:rPr>
              <a:t>Steel analytics or automation </a:t>
            </a:r>
            <a:r>
              <a:rPr lang="en-IN" sz="1600" b="1" dirty="0" smtClean="0">
                <a:solidFill>
                  <a:schemeClr val="tx1"/>
                </a:solidFill>
              </a:rPr>
              <a:t>expert </a:t>
            </a:r>
            <a:r>
              <a:rPr lang="en-IN" sz="1600" dirty="0" smtClean="0">
                <a:solidFill>
                  <a:schemeClr val="tx1"/>
                </a:solidFill>
              </a:rPr>
              <a:t>– internal expertise for identification of Tata Steel examples &amp; case studies</a:t>
            </a:r>
          </a:p>
          <a:p>
            <a:pPr marL="285750" indent="-285750">
              <a:buFont typeface="Arial" panose="020B0604020202020204" pitchFamily="34" charset="0"/>
              <a:buChar char="•"/>
            </a:pPr>
            <a:endParaRPr lang="en-IN" sz="1600" b="1" dirty="0">
              <a:solidFill>
                <a:schemeClr val="tx1"/>
              </a:solidFill>
            </a:endParaRPr>
          </a:p>
          <a:p>
            <a:pPr marL="285750" lvl="0" indent="-285750">
              <a:buFont typeface="Arial" panose="020B0604020202020204" pitchFamily="34" charset="0"/>
              <a:buChar char="•"/>
            </a:pPr>
            <a:r>
              <a:rPr lang="en-IN" sz="1600" b="1" dirty="0" smtClean="0">
                <a:solidFill>
                  <a:schemeClr val="tx1"/>
                </a:solidFill>
              </a:rPr>
              <a:t>Tata </a:t>
            </a:r>
            <a:r>
              <a:rPr lang="en-IN" sz="1600" b="1" dirty="0">
                <a:solidFill>
                  <a:schemeClr val="tx1"/>
                </a:solidFill>
              </a:rPr>
              <a:t>Steel business expert </a:t>
            </a:r>
            <a:r>
              <a:rPr lang="en-IN" sz="1600" dirty="0" smtClean="0">
                <a:solidFill>
                  <a:schemeClr val="tx1"/>
                </a:solidFill>
              </a:rPr>
              <a:t>– providing the Tata Steel specific business perspective &amp; challenges. Helping in ROI assessment</a:t>
            </a:r>
          </a:p>
          <a:p>
            <a:pPr marL="285750" lvl="0" indent="-285750">
              <a:buFont typeface="Arial" panose="020B0604020202020204" pitchFamily="34" charset="0"/>
              <a:buChar char="•"/>
            </a:pPr>
            <a:endParaRPr lang="en-IN" sz="1600" b="1" dirty="0">
              <a:solidFill>
                <a:schemeClr val="tx1"/>
              </a:solidFill>
            </a:endParaRPr>
          </a:p>
          <a:p>
            <a:pPr marL="285750" lvl="0" indent="-285750">
              <a:buFont typeface="Arial" panose="020B0604020202020204" pitchFamily="34" charset="0"/>
              <a:buChar char="•"/>
            </a:pPr>
            <a:r>
              <a:rPr lang="en-IN" sz="1600" b="1" dirty="0" smtClean="0">
                <a:solidFill>
                  <a:schemeClr val="tx1"/>
                </a:solidFill>
              </a:rPr>
              <a:t>Academic experts </a:t>
            </a:r>
            <a:r>
              <a:rPr lang="en-IN" sz="1600" dirty="0" smtClean="0">
                <a:solidFill>
                  <a:schemeClr val="tx1"/>
                </a:solidFill>
              </a:rPr>
              <a:t>– bridging the overall knowledge gap</a:t>
            </a:r>
            <a:endParaRPr lang="en-IN" sz="1600" b="1" dirty="0">
              <a:solidFill>
                <a:schemeClr val="tx1"/>
              </a:solidFill>
            </a:endParaRPr>
          </a:p>
          <a:p>
            <a:endParaRPr lang="en-IN" sz="1600" dirty="0">
              <a:solidFill>
                <a:schemeClr val="tx1"/>
              </a:solidFill>
            </a:endParaRPr>
          </a:p>
        </p:txBody>
      </p:sp>
      <p:pic>
        <p:nvPicPr>
          <p:cNvPr id="7" name="Picture 6"/>
          <p:cNvPicPr/>
          <p:nvPr/>
        </p:nvPicPr>
        <p:blipFill rotWithShape="1">
          <a:blip r:embed="rId2" cstate="print">
            <a:extLst>
              <a:ext uri="{28A0092B-C50C-407E-A947-70E740481C1C}">
                <a14:useLocalDpi xmlns:a14="http://schemas.microsoft.com/office/drawing/2010/main" val="0"/>
              </a:ext>
            </a:extLst>
          </a:blip>
          <a:srcRect l="20960" r="20576"/>
          <a:stretch/>
        </p:blipFill>
        <p:spPr bwMode="auto">
          <a:xfrm>
            <a:off x="5838093" y="661813"/>
            <a:ext cx="6478073" cy="5553326"/>
          </a:xfrm>
          <a:prstGeom prst="rect">
            <a:avLst/>
          </a:prstGeom>
          <a:noFill/>
          <a:ln>
            <a:noFill/>
          </a:ln>
          <a:extLst>
            <a:ext uri="{53640926-AAD7-44D8-BBD7-CCE9431645EC}">
              <a14:shadowObscured xmlns:a14="http://schemas.microsoft.com/office/drawing/2010/main"/>
            </a:ext>
          </a:extLst>
        </p:spPr>
      </p:pic>
      <p:sp>
        <p:nvSpPr>
          <p:cNvPr id="8" name="Rectangle 7"/>
          <p:cNvSpPr/>
          <p:nvPr/>
        </p:nvSpPr>
        <p:spPr>
          <a:xfrm>
            <a:off x="3437007" y="237066"/>
            <a:ext cx="5318123"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Creating the Training Program</a:t>
            </a:r>
            <a:endParaRPr lang="en-IN" sz="2800" b="1" dirty="0">
              <a:solidFill>
                <a:srgbClr val="0070C0"/>
              </a:solidFill>
              <a:latin typeface="Leelawadee UI" panose="020B0502040204020203" pitchFamily="34" charset="-34"/>
              <a:cs typeface="Leelawadee UI" panose="020B0502040204020203" pitchFamily="34" charset="-34"/>
            </a:endParaRPr>
          </a:p>
        </p:txBody>
      </p:sp>
      <p:sp>
        <p:nvSpPr>
          <p:cNvPr id="9" name="Isosceles Triangle 8"/>
          <p:cNvSpPr/>
          <p:nvPr/>
        </p:nvSpPr>
        <p:spPr>
          <a:xfrm rot="5400000">
            <a:off x="2920927" y="3225295"/>
            <a:ext cx="4990267" cy="460411"/>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077211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11</a:t>
            </a:fld>
            <a:endParaRPr lang="en-IN" dirty="0">
              <a:solidFill>
                <a:srgbClr val="000000">
                  <a:tint val="75000"/>
                </a:srgbClr>
              </a:solidFill>
            </a:endParaRPr>
          </a:p>
        </p:txBody>
      </p:sp>
      <p:sp>
        <p:nvSpPr>
          <p:cNvPr id="6" name="Rectangle 5"/>
          <p:cNvSpPr/>
          <p:nvPr/>
        </p:nvSpPr>
        <p:spPr>
          <a:xfrm>
            <a:off x="3862672" y="237066"/>
            <a:ext cx="4466800"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The Analytics Skill Matrix</a:t>
            </a:r>
            <a:endParaRPr lang="en-IN" sz="2800" b="1" dirty="0">
              <a:solidFill>
                <a:srgbClr val="0070C0"/>
              </a:solidFill>
              <a:latin typeface="Leelawadee UI" panose="020B0502040204020203" pitchFamily="34" charset="-34"/>
              <a:cs typeface="Leelawadee UI" panose="020B0502040204020203" pitchFamily="34" charset="-34"/>
            </a:endParaRPr>
          </a:p>
        </p:txBody>
      </p:sp>
      <p:sp>
        <p:nvSpPr>
          <p:cNvPr id="2" name="Rectangle 1"/>
          <p:cNvSpPr/>
          <p:nvPr/>
        </p:nvSpPr>
        <p:spPr>
          <a:xfrm>
            <a:off x="1488697" y="1364564"/>
            <a:ext cx="1603716" cy="914401"/>
          </a:xfrm>
          <a:prstGeom prst="rect">
            <a:avLst/>
          </a:prstGeom>
          <a:solidFill>
            <a:schemeClr val="accent1">
              <a:alpha val="1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1"/>
                </a:solidFill>
              </a:rPr>
              <a:t>Theory</a:t>
            </a:r>
            <a:endParaRPr lang="en-IN" sz="1600" dirty="0">
              <a:solidFill>
                <a:schemeClr val="tx1"/>
              </a:solidFill>
            </a:endParaRPr>
          </a:p>
        </p:txBody>
      </p:sp>
      <p:sp>
        <p:nvSpPr>
          <p:cNvPr id="8" name="Rectangle 7"/>
          <p:cNvSpPr/>
          <p:nvPr/>
        </p:nvSpPr>
        <p:spPr>
          <a:xfrm>
            <a:off x="3289394" y="1364564"/>
            <a:ext cx="1603716" cy="914401"/>
          </a:xfrm>
          <a:prstGeom prst="rect">
            <a:avLst/>
          </a:prstGeom>
          <a:solidFill>
            <a:schemeClr val="accent1">
              <a:alpha val="1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1"/>
                </a:solidFill>
              </a:rPr>
              <a:t>Business Perspective</a:t>
            </a:r>
            <a:endParaRPr lang="en-IN" sz="1600" dirty="0">
              <a:solidFill>
                <a:schemeClr val="tx1"/>
              </a:solidFill>
            </a:endParaRPr>
          </a:p>
        </p:txBody>
      </p:sp>
      <p:sp>
        <p:nvSpPr>
          <p:cNvPr id="9" name="Rectangle 8"/>
          <p:cNvSpPr/>
          <p:nvPr/>
        </p:nvSpPr>
        <p:spPr>
          <a:xfrm>
            <a:off x="5090091" y="1364568"/>
            <a:ext cx="1603716" cy="914401"/>
          </a:xfrm>
          <a:prstGeom prst="rect">
            <a:avLst/>
          </a:prstGeom>
          <a:solidFill>
            <a:schemeClr val="accent1">
              <a:alpha val="1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1"/>
                </a:solidFill>
              </a:rPr>
              <a:t>Hands-on Expertise</a:t>
            </a:r>
            <a:endParaRPr lang="en-IN" sz="1600" dirty="0">
              <a:solidFill>
                <a:schemeClr val="tx1"/>
              </a:solidFill>
            </a:endParaRPr>
          </a:p>
        </p:txBody>
      </p:sp>
      <p:sp>
        <p:nvSpPr>
          <p:cNvPr id="10" name="Rectangle 9"/>
          <p:cNvSpPr/>
          <p:nvPr/>
        </p:nvSpPr>
        <p:spPr>
          <a:xfrm>
            <a:off x="6890788" y="1364568"/>
            <a:ext cx="1603716" cy="914401"/>
          </a:xfrm>
          <a:prstGeom prst="rect">
            <a:avLst/>
          </a:prstGeom>
          <a:solidFill>
            <a:schemeClr val="accent1">
              <a:alpha val="1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1"/>
                </a:solidFill>
              </a:rPr>
              <a:t>Communicating Analytics</a:t>
            </a:r>
            <a:endParaRPr lang="en-IN" sz="1600" dirty="0">
              <a:solidFill>
                <a:schemeClr val="tx1"/>
              </a:solidFill>
            </a:endParaRPr>
          </a:p>
        </p:txBody>
      </p:sp>
      <p:sp>
        <p:nvSpPr>
          <p:cNvPr id="11" name="Rectangle 10"/>
          <p:cNvSpPr/>
          <p:nvPr/>
        </p:nvSpPr>
        <p:spPr>
          <a:xfrm>
            <a:off x="8691485" y="1364566"/>
            <a:ext cx="1603716" cy="914401"/>
          </a:xfrm>
          <a:prstGeom prst="rect">
            <a:avLst/>
          </a:prstGeom>
          <a:solidFill>
            <a:schemeClr val="accent1">
              <a:alpha val="1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1"/>
                </a:solidFill>
              </a:rPr>
              <a:t>Quantifying Value</a:t>
            </a:r>
            <a:endParaRPr lang="en-IN" sz="1600" dirty="0">
              <a:solidFill>
                <a:schemeClr val="tx1"/>
              </a:solidFill>
            </a:endParaRPr>
          </a:p>
        </p:txBody>
      </p:sp>
      <p:sp>
        <p:nvSpPr>
          <p:cNvPr id="12" name="Rectangle 11"/>
          <p:cNvSpPr/>
          <p:nvPr/>
        </p:nvSpPr>
        <p:spPr>
          <a:xfrm>
            <a:off x="10492183" y="1364564"/>
            <a:ext cx="1603716" cy="914401"/>
          </a:xfrm>
          <a:prstGeom prst="rect">
            <a:avLst/>
          </a:prstGeom>
          <a:solidFill>
            <a:schemeClr val="accent1">
              <a:alpha val="1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1"/>
                </a:solidFill>
              </a:rPr>
              <a:t>Change Management &amp; Implementation</a:t>
            </a:r>
            <a:endParaRPr lang="en-IN" sz="1600" dirty="0">
              <a:solidFill>
                <a:schemeClr val="tx1"/>
              </a:solidFill>
            </a:endParaRPr>
          </a:p>
        </p:txBody>
      </p:sp>
      <p:sp>
        <p:nvSpPr>
          <p:cNvPr id="13" name="Rectangle 12"/>
          <p:cNvSpPr/>
          <p:nvPr/>
        </p:nvSpPr>
        <p:spPr>
          <a:xfrm>
            <a:off x="105042" y="2283593"/>
            <a:ext cx="1383656" cy="628416"/>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1"/>
                </a:solidFill>
              </a:rPr>
              <a:t>L1: Analytics Aware</a:t>
            </a:r>
            <a:endParaRPr lang="en-IN" sz="1600" dirty="0">
              <a:solidFill>
                <a:schemeClr val="tx1"/>
              </a:solidFill>
            </a:endParaRPr>
          </a:p>
        </p:txBody>
      </p:sp>
      <p:sp>
        <p:nvSpPr>
          <p:cNvPr id="14" name="Rectangle 13"/>
          <p:cNvSpPr/>
          <p:nvPr/>
        </p:nvSpPr>
        <p:spPr>
          <a:xfrm>
            <a:off x="105042" y="3941141"/>
            <a:ext cx="1383656" cy="628416"/>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1"/>
                </a:solidFill>
              </a:rPr>
              <a:t>L3: Analytics User</a:t>
            </a:r>
            <a:endParaRPr lang="en-IN" sz="1600" dirty="0">
              <a:solidFill>
                <a:schemeClr val="tx1"/>
              </a:solidFill>
            </a:endParaRPr>
          </a:p>
        </p:txBody>
      </p:sp>
      <p:sp>
        <p:nvSpPr>
          <p:cNvPr id="15" name="Rectangle 14"/>
          <p:cNvSpPr/>
          <p:nvPr/>
        </p:nvSpPr>
        <p:spPr>
          <a:xfrm>
            <a:off x="105041" y="3112367"/>
            <a:ext cx="1383656" cy="628416"/>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1"/>
                </a:solidFill>
              </a:rPr>
              <a:t>L2: Analytics Evangelist</a:t>
            </a:r>
            <a:endParaRPr lang="en-IN" sz="1600" dirty="0">
              <a:solidFill>
                <a:schemeClr val="tx1"/>
              </a:solidFill>
            </a:endParaRPr>
          </a:p>
        </p:txBody>
      </p:sp>
      <p:sp>
        <p:nvSpPr>
          <p:cNvPr id="16" name="Rectangle 15"/>
          <p:cNvSpPr/>
          <p:nvPr/>
        </p:nvSpPr>
        <p:spPr>
          <a:xfrm>
            <a:off x="105041" y="4769915"/>
            <a:ext cx="1383656" cy="628416"/>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1"/>
                </a:solidFill>
              </a:rPr>
              <a:t>L4: Analytics Creator</a:t>
            </a:r>
            <a:endParaRPr lang="en-IN" sz="1600" dirty="0">
              <a:solidFill>
                <a:schemeClr val="tx1"/>
              </a:solidFill>
            </a:endParaRPr>
          </a:p>
        </p:txBody>
      </p:sp>
      <p:sp>
        <p:nvSpPr>
          <p:cNvPr id="17" name="Rectangle 16"/>
          <p:cNvSpPr/>
          <p:nvPr/>
        </p:nvSpPr>
        <p:spPr>
          <a:xfrm>
            <a:off x="105041" y="5598689"/>
            <a:ext cx="1383656" cy="628416"/>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1"/>
                </a:solidFill>
              </a:rPr>
              <a:t>L5: Analytics Expert</a:t>
            </a:r>
            <a:endParaRPr lang="en-IN" sz="1600" dirty="0">
              <a:solidFill>
                <a:schemeClr val="tx1"/>
              </a:solidFill>
            </a:endParaRPr>
          </a:p>
        </p:txBody>
      </p:sp>
      <p:sp>
        <p:nvSpPr>
          <p:cNvPr id="18" name="Rectangle 17"/>
          <p:cNvSpPr/>
          <p:nvPr/>
        </p:nvSpPr>
        <p:spPr>
          <a:xfrm>
            <a:off x="1488697" y="2283593"/>
            <a:ext cx="10607202" cy="628416"/>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schemeClr val="tx1"/>
              </a:solidFill>
            </a:endParaRPr>
          </a:p>
        </p:txBody>
      </p:sp>
      <p:sp>
        <p:nvSpPr>
          <p:cNvPr id="19" name="Rectangle 18"/>
          <p:cNvSpPr/>
          <p:nvPr/>
        </p:nvSpPr>
        <p:spPr>
          <a:xfrm>
            <a:off x="1488697" y="3125214"/>
            <a:ext cx="10607202" cy="628416"/>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schemeClr val="tx1"/>
              </a:solidFill>
            </a:endParaRPr>
          </a:p>
        </p:txBody>
      </p:sp>
      <p:sp>
        <p:nvSpPr>
          <p:cNvPr id="20" name="Rectangle 19"/>
          <p:cNvSpPr/>
          <p:nvPr/>
        </p:nvSpPr>
        <p:spPr>
          <a:xfrm>
            <a:off x="1488697" y="3941141"/>
            <a:ext cx="10607202" cy="628416"/>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schemeClr val="tx1"/>
              </a:solidFill>
            </a:endParaRPr>
          </a:p>
        </p:txBody>
      </p:sp>
      <p:sp>
        <p:nvSpPr>
          <p:cNvPr id="21" name="Rectangle 20"/>
          <p:cNvSpPr/>
          <p:nvPr/>
        </p:nvSpPr>
        <p:spPr>
          <a:xfrm>
            <a:off x="1488697" y="4769915"/>
            <a:ext cx="10607202" cy="628416"/>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schemeClr val="tx1"/>
              </a:solidFill>
            </a:endParaRPr>
          </a:p>
        </p:txBody>
      </p:sp>
      <p:sp>
        <p:nvSpPr>
          <p:cNvPr id="22" name="Rectangle 21"/>
          <p:cNvSpPr/>
          <p:nvPr/>
        </p:nvSpPr>
        <p:spPr>
          <a:xfrm>
            <a:off x="1488697" y="5598689"/>
            <a:ext cx="10607202" cy="628416"/>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schemeClr val="tx1"/>
              </a:solidFill>
            </a:endParaRPr>
          </a:p>
        </p:txBody>
      </p:sp>
      <p:sp>
        <p:nvSpPr>
          <p:cNvPr id="23" name="Rectangle 22"/>
          <p:cNvSpPr/>
          <p:nvPr/>
        </p:nvSpPr>
        <p:spPr>
          <a:xfrm>
            <a:off x="1488696" y="2283593"/>
            <a:ext cx="1603717" cy="3943512"/>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schemeClr val="tx1"/>
              </a:solidFill>
            </a:endParaRPr>
          </a:p>
        </p:txBody>
      </p:sp>
      <p:sp>
        <p:nvSpPr>
          <p:cNvPr id="24" name="Rectangle 23"/>
          <p:cNvSpPr/>
          <p:nvPr/>
        </p:nvSpPr>
        <p:spPr>
          <a:xfrm>
            <a:off x="3289394" y="2283593"/>
            <a:ext cx="1603717" cy="3943512"/>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schemeClr val="tx1"/>
              </a:solidFill>
            </a:endParaRPr>
          </a:p>
        </p:txBody>
      </p:sp>
      <p:sp>
        <p:nvSpPr>
          <p:cNvPr id="25" name="Rectangle 24"/>
          <p:cNvSpPr/>
          <p:nvPr/>
        </p:nvSpPr>
        <p:spPr>
          <a:xfrm>
            <a:off x="5090091" y="2283593"/>
            <a:ext cx="1603717" cy="3943512"/>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schemeClr val="tx1"/>
              </a:solidFill>
            </a:endParaRPr>
          </a:p>
        </p:txBody>
      </p:sp>
      <p:sp>
        <p:nvSpPr>
          <p:cNvPr id="26" name="Rectangle 25"/>
          <p:cNvSpPr/>
          <p:nvPr/>
        </p:nvSpPr>
        <p:spPr>
          <a:xfrm>
            <a:off x="6890787" y="2283593"/>
            <a:ext cx="1603717" cy="3943512"/>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schemeClr val="tx1"/>
              </a:solidFill>
            </a:endParaRPr>
          </a:p>
        </p:txBody>
      </p:sp>
      <p:sp>
        <p:nvSpPr>
          <p:cNvPr id="27" name="Rectangle 26"/>
          <p:cNvSpPr/>
          <p:nvPr/>
        </p:nvSpPr>
        <p:spPr>
          <a:xfrm>
            <a:off x="8691484" y="2283593"/>
            <a:ext cx="1603717" cy="3943512"/>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schemeClr val="tx1"/>
              </a:solidFill>
            </a:endParaRPr>
          </a:p>
        </p:txBody>
      </p:sp>
      <p:sp>
        <p:nvSpPr>
          <p:cNvPr id="28" name="Rectangle 27"/>
          <p:cNvSpPr/>
          <p:nvPr/>
        </p:nvSpPr>
        <p:spPr>
          <a:xfrm>
            <a:off x="10492182" y="2283593"/>
            <a:ext cx="1603717" cy="3943512"/>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schemeClr val="tx1"/>
              </a:solidFill>
            </a:endParaRPr>
          </a:p>
        </p:txBody>
      </p:sp>
      <p:pic>
        <p:nvPicPr>
          <p:cNvPr id="1026"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79466" t="-1" b="27864"/>
          <a:stretch/>
        </p:blipFill>
        <p:spPr bwMode="auto">
          <a:xfrm>
            <a:off x="7425056" y="3255229"/>
            <a:ext cx="456972" cy="39477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59628" r="19801" b="26368"/>
          <a:stretch/>
        </p:blipFill>
        <p:spPr bwMode="auto">
          <a:xfrm>
            <a:off x="2144390" y="2425997"/>
            <a:ext cx="376732" cy="380234"/>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39173" r="39620" b="26327"/>
          <a:stretch/>
        </p:blipFill>
        <p:spPr bwMode="auto">
          <a:xfrm>
            <a:off x="3876570" y="2411461"/>
            <a:ext cx="411663" cy="39477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59628" r="19801" b="26368"/>
          <a:stretch/>
        </p:blipFill>
        <p:spPr bwMode="auto">
          <a:xfrm>
            <a:off x="5654265" y="2411462"/>
            <a:ext cx="441801" cy="39477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39173" r="39620" b="26327"/>
          <a:stretch/>
        </p:blipFill>
        <p:spPr bwMode="auto">
          <a:xfrm>
            <a:off x="7447710" y="2411460"/>
            <a:ext cx="411663" cy="394771"/>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79466" t="-1" b="27864"/>
          <a:stretch/>
        </p:blipFill>
        <p:spPr bwMode="auto">
          <a:xfrm>
            <a:off x="9280812" y="3242036"/>
            <a:ext cx="443096" cy="39477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79466" t="-1" b="27864"/>
          <a:stretch/>
        </p:blipFill>
        <p:spPr bwMode="auto">
          <a:xfrm>
            <a:off x="11156559" y="3238460"/>
            <a:ext cx="476415" cy="394771"/>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59628" r="19801" b="26368"/>
          <a:stretch/>
        </p:blipFill>
        <p:spPr bwMode="auto">
          <a:xfrm>
            <a:off x="2144390" y="3269766"/>
            <a:ext cx="376732" cy="380234"/>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79466" t="-1" b="27864"/>
          <a:stretch/>
        </p:blipFill>
        <p:spPr bwMode="auto">
          <a:xfrm>
            <a:off x="3876569" y="3269765"/>
            <a:ext cx="393298" cy="394771"/>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59628" r="19801" b="26368"/>
          <a:stretch/>
        </p:blipFill>
        <p:spPr bwMode="auto">
          <a:xfrm>
            <a:off x="5693084" y="3269765"/>
            <a:ext cx="441801" cy="394771"/>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39173" r="39620" b="26327"/>
          <a:stretch/>
        </p:blipFill>
        <p:spPr bwMode="auto">
          <a:xfrm>
            <a:off x="3885420" y="4040545"/>
            <a:ext cx="411663" cy="39477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39173" r="39620" b="26327"/>
          <a:stretch/>
        </p:blipFill>
        <p:spPr bwMode="auto">
          <a:xfrm>
            <a:off x="5669333" y="4077580"/>
            <a:ext cx="411663" cy="39477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79466" t="-1" b="27864"/>
          <a:stretch/>
        </p:blipFill>
        <p:spPr bwMode="auto">
          <a:xfrm>
            <a:off x="9316543" y="4040545"/>
            <a:ext cx="432970" cy="394771"/>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79466" t="-1" b="27864"/>
          <a:stretch/>
        </p:blipFill>
        <p:spPr bwMode="auto">
          <a:xfrm>
            <a:off x="11156559" y="4077580"/>
            <a:ext cx="476415" cy="394771"/>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39173" r="39620" b="26327"/>
          <a:stretch/>
        </p:blipFill>
        <p:spPr bwMode="auto">
          <a:xfrm>
            <a:off x="7470365" y="4057963"/>
            <a:ext cx="411663" cy="394771"/>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79466" t="-1" b="27864"/>
          <a:stretch/>
        </p:blipFill>
        <p:spPr bwMode="auto">
          <a:xfrm>
            <a:off x="2136107" y="4906354"/>
            <a:ext cx="393298" cy="394771"/>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79466" t="-1" b="27864"/>
          <a:stretch/>
        </p:blipFill>
        <p:spPr bwMode="auto">
          <a:xfrm>
            <a:off x="3903785" y="4906354"/>
            <a:ext cx="393298" cy="394771"/>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79466" t="-1" b="27864"/>
          <a:stretch/>
        </p:blipFill>
        <p:spPr bwMode="auto">
          <a:xfrm>
            <a:off x="5693084" y="4917286"/>
            <a:ext cx="417549" cy="394771"/>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39173" r="39620" b="26327"/>
          <a:stretch/>
        </p:blipFill>
        <p:spPr bwMode="auto">
          <a:xfrm>
            <a:off x="7470364" y="4913352"/>
            <a:ext cx="411663" cy="394771"/>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79466" t="-1" b="27864"/>
          <a:stretch/>
        </p:blipFill>
        <p:spPr bwMode="auto">
          <a:xfrm>
            <a:off x="2136107" y="5703674"/>
            <a:ext cx="393298" cy="394771"/>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79466" t="-1" b="27864"/>
          <a:stretch/>
        </p:blipFill>
        <p:spPr bwMode="auto">
          <a:xfrm>
            <a:off x="3903785" y="5703674"/>
            <a:ext cx="393298" cy="394771"/>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79466" t="-1" b="27864"/>
          <a:stretch/>
        </p:blipFill>
        <p:spPr bwMode="auto">
          <a:xfrm>
            <a:off x="5693084" y="5714606"/>
            <a:ext cx="417549" cy="394771"/>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79466" t="-1" b="27864"/>
          <a:stretch/>
        </p:blipFill>
        <p:spPr bwMode="auto">
          <a:xfrm>
            <a:off x="9370284" y="5710672"/>
            <a:ext cx="393297" cy="394771"/>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79466" t="-1" b="27864"/>
          <a:stretch/>
        </p:blipFill>
        <p:spPr bwMode="auto">
          <a:xfrm>
            <a:off x="11258043" y="5710672"/>
            <a:ext cx="374931" cy="394771"/>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79466" t="-1" b="27864"/>
          <a:stretch/>
        </p:blipFill>
        <p:spPr bwMode="auto">
          <a:xfrm>
            <a:off x="7474559" y="5752453"/>
            <a:ext cx="417549" cy="394771"/>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59628" r="19801" b="26368"/>
          <a:stretch/>
        </p:blipFill>
        <p:spPr bwMode="auto">
          <a:xfrm>
            <a:off x="2144390" y="4113527"/>
            <a:ext cx="376732" cy="38023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05041" y="705386"/>
            <a:ext cx="11990858" cy="646331"/>
          </a:xfrm>
          <a:prstGeom prst="rect">
            <a:avLst/>
          </a:prstGeom>
          <a:noFill/>
        </p:spPr>
        <p:txBody>
          <a:bodyPr wrap="square" rtlCol="0">
            <a:spAutoFit/>
          </a:bodyPr>
          <a:lstStyle/>
          <a:p>
            <a:pPr algn="ctr"/>
            <a:r>
              <a:rPr lang="en-IN" dirty="0" smtClean="0"/>
              <a:t>The certification is tied to the expected role that will be taken up by an individual and will not always indicate a progression in analytics knowledge</a:t>
            </a:r>
            <a:endParaRPr lang="en-IN" dirty="0"/>
          </a:p>
        </p:txBody>
      </p:sp>
      <p:pic>
        <p:nvPicPr>
          <p:cNvPr id="62"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39173" r="39620" b="26327"/>
          <a:stretch/>
        </p:blipFill>
        <p:spPr bwMode="auto">
          <a:xfrm>
            <a:off x="9416399" y="4922138"/>
            <a:ext cx="411663" cy="394771"/>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39173" r="39620" b="26327"/>
          <a:stretch/>
        </p:blipFill>
        <p:spPr bwMode="auto">
          <a:xfrm>
            <a:off x="11285792" y="4922137"/>
            <a:ext cx="411663" cy="394771"/>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59628" r="19801" b="26368"/>
          <a:stretch/>
        </p:blipFill>
        <p:spPr bwMode="auto">
          <a:xfrm>
            <a:off x="9272441" y="2411460"/>
            <a:ext cx="441801" cy="394771"/>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59628" r="19801" b="26368"/>
          <a:stretch/>
        </p:blipFill>
        <p:spPr bwMode="auto">
          <a:xfrm>
            <a:off x="11156559" y="2380684"/>
            <a:ext cx="441801" cy="394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37412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12879"/>
            <a:ext cx="12192000" cy="6858000"/>
          </a:xfrm>
          <a:prstGeom prst="rect">
            <a:avLst/>
          </a:prstGeom>
        </p:spPr>
      </p:pic>
      <p:sp>
        <p:nvSpPr>
          <p:cNvPr id="7" name="Rectangle 6"/>
          <p:cNvSpPr/>
          <p:nvPr/>
        </p:nvSpPr>
        <p:spPr>
          <a:xfrm>
            <a:off x="228600" y="4887774"/>
            <a:ext cx="5080000" cy="1754326"/>
          </a:xfrm>
          <a:prstGeom prst="rect">
            <a:avLst/>
          </a:prstGeom>
        </p:spPr>
        <p:txBody>
          <a:bodyPr wrap="square" anchor="b">
            <a:spAutoFit/>
          </a:bodyPr>
          <a:lstStyle/>
          <a:p>
            <a:r>
              <a:rPr lang="en-US" sz="900" dirty="0">
                <a:solidFill>
                  <a:prstClr val="white"/>
                </a:solidFill>
                <a:latin typeface="Century Gothic"/>
              </a:rPr>
              <a:t>The information contained in the document is proprietary to Tata Industries Limited- Tata Insights &amp; Quants Division and is strictly confidential. </a:t>
            </a:r>
            <a:r>
              <a:rPr lang="en-IN" sz="900" dirty="0">
                <a:solidFill>
                  <a:prstClr val="white"/>
                </a:solidFill>
                <a:latin typeface="Century Gothic"/>
              </a:rPr>
              <a:t>In consideration of receipt of this document, the recipient agrees that the information is being shared only for the limited purpose. The recipient of this information further agrees to maintain such information in confidence and to not reproduce, disclose, duplicate, electronically transmit or use in whole or in part for any other purpose. Prior written consent shall be obtained from the Insights &amp; Quants Division of Tata Industries in case the information is necessitated to be shared with anyone other than the Recipient to whom this information is addressed. The above restriction shall not limit the right to use the information contained in this deck, if it is obtained from another source without restriction.</a:t>
            </a:r>
            <a:br>
              <a:rPr lang="en-IN" sz="900" dirty="0">
                <a:solidFill>
                  <a:prstClr val="white"/>
                </a:solidFill>
                <a:latin typeface="Century Gothic"/>
              </a:rPr>
            </a:br>
            <a:r>
              <a:rPr lang="en-IN" sz="900" dirty="0">
                <a:solidFill>
                  <a:prstClr val="white"/>
                </a:solidFill>
                <a:latin typeface="Century Gothic"/>
              </a:rPr>
              <a:t> </a:t>
            </a:r>
            <a:br>
              <a:rPr lang="en-IN" sz="900" dirty="0">
                <a:solidFill>
                  <a:prstClr val="white"/>
                </a:solidFill>
                <a:latin typeface="Century Gothic"/>
              </a:rPr>
            </a:br>
            <a:r>
              <a:rPr lang="en-IN" sz="900" dirty="0">
                <a:solidFill>
                  <a:prstClr val="white"/>
                </a:solidFill>
                <a:latin typeface="Century Gothic"/>
              </a:rPr>
              <a:t>© Copyright, Tata Insights &amp; Quants Division, Tata Industries Limited </a:t>
            </a:r>
          </a:p>
        </p:txBody>
      </p:sp>
      <p:sp>
        <p:nvSpPr>
          <p:cNvPr id="8" name="Rectangle 7"/>
          <p:cNvSpPr/>
          <p:nvPr/>
        </p:nvSpPr>
        <p:spPr>
          <a:xfrm>
            <a:off x="842545" y="1860964"/>
            <a:ext cx="9679494" cy="830997"/>
          </a:xfrm>
          <a:prstGeom prst="rect">
            <a:avLst/>
          </a:prstGeom>
        </p:spPr>
        <p:txBody>
          <a:bodyPr wrap="square">
            <a:spAutoFit/>
          </a:bodyPr>
          <a:lstStyle/>
          <a:p>
            <a:pPr algn="ctr"/>
            <a:r>
              <a:rPr lang="en-US" sz="4800" b="1" dirty="0" smtClean="0">
                <a:solidFill>
                  <a:prstClr val="white"/>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rPr>
              <a:t>About Tata iQ</a:t>
            </a:r>
            <a:endParaRPr lang="en-US" sz="4800" b="1" dirty="0">
              <a:solidFill>
                <a:prstClr val="white"/>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endParaRPr>
          </a:p>
        </p:txBody>
      </p:sp>
    </p:spTree>
    <p:extLst>
      <p:ext uri="{BB962C8B-B14F-4D97-AF65-F5344CB8AC3E}">
        <p14:creationId xmlns:p14="http://schemas.microsoft.com/office/powerpoint/2010/main" val="18917735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4838332" y="291779"/>
              <a:ext cx="2515369" cy="523220"/>
            </a:xfrm>
            <a:prstGeom prst="rect">
              <a:avLst/>
            </a:prstGeom>
            <a:solidFill>
              <a:schemeClr val="bg1"/>
            </a:solidFill>
          </p:spPr>
          <p:txBody>
            <a:bodyPr wrap="none" anchor="ctr">
              <a:spAutoFit/>
            </a:bodyPr>
            <a:lstStyle/>
            <a:p>
              <a:pPr algn="ctr"/>
              <a:r>
                <a:rPr lang="en-IN" sz="2800" b="1" dirty="0">
                  <a:solidFill>
                    <a:srgbClr val="0070C0"/>
                  </a:solidFill>
                  <a:latin typeface="Leelawadee UI" panose="020B0502040204020203" pitchFamily="34" charset="-34"/>
                  <a:cs typeface="Leelawadee UI" panose="020B0502040204020203" pitchFamily="34" charset="-34"/>
                </a:rPr>
                <a:t>About Tata </a:t>
              </a:r>
              <a:r>
                <a:rPr lang="en-IN" sz="2800" b="1" dirty="0" err="1">
                  <a:solidFill>
                    <a:srgbClr val="0070C0"/>
                  </a:solidFill>
                  <a:latin typeface="Leelawadee UI" panose="020B0502040204020203" pitchFamily="34" charset="-34"/>
                  <a:cs typeface="Leelawadee UI" panose="020B0502040204020203" pitchFamily="34" charset="-34"/>
                </a:rPr>
                <a:t>iQ</a:t>
              </a:r>
              <a:endParaRPr lang="en-IN" sz="2800" b="1" dirty="0">
                <a:solidFill>
                  <a:srgbClr val="0070C0"/>
                </a:solidFill>
                <a:latin typeface="Leelawadee UI" panose="020B0502040204020203" pitchFamily="34" charset="-34"/>
                <a:cs typeface="Leelawadee UI" panose="020B0502040204020203" pitchFamily="34" charset="-34"/>
              </a:endParaRPr>
            </a:p>
          </p:txBody>
        </p:sp>
      </p:grpSp>
      <p:sp>
        <p:nvSpPr>
          <p:cNvPr id="2" name="TextBox 1"/>
          <p:cNvSpPr txBox="1"/>
          <p:nvPr/>
        </p:nvSpPr>
        <p:spPr>
          <a:xfrm>
            <a:off x="248991" y="647459"/>
            <a:ext cx="11694017" cy="646331"/>
          </a:xfrm>
          <a:prstGeom prst="rect">
            <a:avLst/>
          </a:prstGeom>
          <a:noFill/>
        </p:spPr>
        <p:txBody>
          <a:bodyPr wrap="square" rtlCol="0">
            <a:spAutoFit/>
          </a:bodyPr>
          <a:lstStyle/>
          <a:p>
            <a:r>
              <a:rPr lang="en-IN" dirty="0">
                <a:solidFill>
                  <a:srgbClr val="002060"/>
                </a:solidFill>
              </a:rPr>
              <a:t>Our goal is to be </a:t>
            </a:r>
            <a:r>
              <a:rPr lang="en-IN" b="1" dirty="0">
                <a:solidFill>
                  <a:srgbClr val="002060"/>
                </a:solidFill>
              </a:rPr>
              <a:t>India’s premier Omni-channel Marketing Solutions &amp; Decision Sciences company </a:t>
            </a:r>
            <a:r>
              <a:rPr lang="en-IN" dirty="0">
                <a:solidFill>
                  <a:srgbClr val="002060"/>
                </a:solidFill>
              </a:rPr>
              <a:t>powered by the richest and most valuable database, and high impact insights and analytics</a:t>
            </a:r>
          </a:p>
        </p:txBody>
      </p:sp>
      <p:sp>
        <p:nvSpPr>
          <p:cNvPr id="23" name="Rectangle 22"/>
          <p:cNvSpPr/>
          <p:nvPr/>
        </p:nvSpPr>
        <p:spPr>
          <a:xfrm>
            <a:off x="591464" y="2507283"/>
            <a:ext cx="3070487" cy="2055080"/>
          </a:xfrm>
          <a:prstGeom prst="rect">
            <a:avLst/>
          </a:prstGeom>
          <a:solidFill>
            <a:schemeClr val="bg1">
              <a:lumMod val="95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4" name="Rectangle 23"/>
          <p:cNvSpPr/>
          <p:nvPr/>
        </p:nvSpPr>
        <p:spPr>
          <a:xfrm>
            <a:off x="4496149" y="2723634"/>
            <a:ext cx="3070487" cy="2055080"/>
          </a:xfrm>
          <a:prstGeom prst="rect">
            <a:avLst/>
          </a:prstGeom>
          <a:solidFill>
            <a:schemeClr val="bg1">
              <a:lumMod val="95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5" name="Rectangle 24"/>
          <p:cNvSpPr/>
          <p:nvPr/>
        </p:nvSpPr>
        <p:spPr>
          <a:xfrm>
            <a:off x="8434470" y="2550158"/>
            <a:ext cx="3070487" cy="2055080"/>
          </a:xfrm>
          <a:prstGeom prst="rect">
            <a:avLst/>
          </a:prstGeom>
          <a:solidFill>
            <a:schemeClr val="bg1">
              <a:lumMod val="95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6" name="Rectangle 25"/>
          <p:cNvSpPr/>
          <p:nvPr/>
        </p:nvSpPr>
        <p:spPr>
          <a:xfrm>
            <a:off x="478052" y="2299991"/>
            <a:ext cx="3296960" cy="3841324"/>
          </a:xfrm>
          <a:prstGeom prst="rect">
            <a:avLst/>
          </a:prstGeom>
          <a:solidFill>
            <a:schemeClr val="bg1"/>
          </a:solid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5E5E5E">
                  <a:lumMod val="75000"/>
                </a:srgbClr>
              </a:solidFill>
            </a:endParaRPr>
          </a:p>
        </p:txBody>
      </p:sp>
      <p:sp>
        <p:nvSpPr>
          <p:cNvPr id="27" name="Rectangle 26"/>
          <p:cNvSpPr/>
          <p:nvPr/>
        </p:nvSpPr>
        <p:spPr>
          <a:xfrm>
            <a:off x="4386162" y="2299991"/>
            <a:ext cx="3296960" cy="3841324"/>
          </a:xfrm>
          <a:prstGeom prst="rect">
            <a:avLst/>
          </a:prstGeom>
          <a:solidFill>
            <a:schemeClr val="bg1"/>
          </a:solid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5E5E5E">
                  <a:lumMod val="75000"/>
                </a:srgbClr>
              </a:solidFill>
            </a:endParaRPr>
          </a:p>
        </p:txBody>
      </p:sp>
      <p:sp>
        <p:nvSpPr>
          <p:cNvPr id="28" name="Rectangle 27"/>
          <p:cNvSpPr/>
          <p:nvPr/>
        </p:nvSpPr>
        <p:spPr>
          <a:xfrm>
            <a:off x="8316184" y="2299990"/>
            <a:ext cx="3296960" cy="3824743"/>
          </a:xfrm>
          <a:prstGeom prst="rect">
            <a:avLst/>
          </a:prstGeom>
          <a:solidFill>
            <a:schemeClr val="bg1"/>
          </a:solid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5E5E5E">
                  <a:lumMod val="75000"/>
                </a:srgbClr>
              </a:solidFill>
            </a:endParaRPr>
          </a:p>
        </p:txBody>
      </p:sp>
      <p:grpSp>
        <p:nvGrpSpPr>
          <p:cNvPr id="29" name="Group 28"/>
          <p:cNvGrpSpPr/>
          <p:nvPr/>
        </p:nvGrpSpPr>
        <p:grpSpPr>
          <a:xfrm>
            <a:off x="103844" y="1282705"/>
            <a:ext cx="11906807" cy="542786"/>
            <a:chOff x="528357" y="1705748"/>
            <a:chExt cx="11135092" cy="446386"/>
          </a:xfrm>
        </p:grpSpPr>
        <p:sp>
          <p:nvSpPr>
            <p:cNvPr id="30" name="Left-Right Arrow 29"/>
            <p:cNvSpPr/>
            <p:nvPr/>
          </p:nvSpPr>
          <p:spPr>
            <a:xfrm>
              <a:off x="528357" y="1705748"/>
              <a:ext cx="11135092" cy="446386"/>
            </a:xfrm>
            <a:prstGeom prst="leftRightArrow">
              <a:avLst/>
            </a:prstGeom>
            <a:solidFill>
              <a:srgbClr val="002060"/>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sp>
          <p:nvSpPr>
            <p:cNvPr id="31" name="TextBox 30"/>
            <p:cNvSpPr txBox="1"/>
            <p:nvPr/>
          </p:nvSpPr>
          <p:spPr bwMode="gray">
            <a:xfrm>
              <a:off x="1561276" y="1746633"/>
              <a:ext cx="1734793" cy="354833"/>
            </a:xfrm>
            <a:prstGeom prst="rect">
              <a:avLst/>
            </a:prstGeom>
          </p:spPr>
          <p:txBody>
            <a:bodyPr vert="horz" wrap="none" lIns="91440" tIns="45720" rIns="91440" bIns="45720" rtlCol="0" anchor="ctr">
              <a:noAutofit/>
            </a:bodyPr>
            <a:lstStyle/>
            <a:p>
              <a:r>
                <a:rPr lang="en-IN" b="1" dirty="0">
                  <a:solidFill>
                    <a:prstClr val="white"/>
                  </a:solidFill>
                </a:rPr>
                <a:t>Analytic Services</a:t>
              </a:r>
            </a:p>
          </p:txBody>
        </p:sp>
        <p:sp>
          <p:nvSpPr>
            <p:cNvPr id="32" name="TextBox 31"/>
            <p:cNvSpPr txBox="1"/>
            <p:nvPr/>
          </p:nvSpPr>
          <p:spPr bwMode="gray">
            <a:xfrm>
              <a:off x="4672881" y="1747677"/>
              <a:ext cx="2881557" cy="354833"/>
            </a:xfrm>
            <a:prstGeom prst="rect">
              <a:avLst/>
            </a:prstGeom>
          </p:spPr>
          <p:txBody>
            <a:bodyPr vert="horz" wrap="none" lIns="91440" tIns="45720" rIns="91440" bIns="45720" rtlCol="0" anchor="ctr">
              <a:noAutofit/>
            </a:bodyPr>
            <a:lstStyle/>
            <a:p>
              <a:r>
                <a:rPr lang="en-IN" b="1" dirty="0">
                  <a:solidFill>
                    <a:prstClr val="white"/>
                  </a:solidFill>
                </a:rPr>
                <a:t>Largest and Richest Database</a:t>
              </a:r>
            </a:p>
          </p:txBody>
        </p:sp>
        <p:sp>
          <p:nvSpPr>
            <p:cNvPr id="33" name="TextBox 32"/>
            <p:cNvSpPr txBox="1"/>
            <p:nvPr/>
          </p:nvSpPr>
          <p:spPr bwMode="gray">
            <a:xfrm>
              <a:off x="8390154" y="1746632"/>
              <a:ext cx="2275780" cy="354833"/>
            </a:xfrm>
            <a:prstGeom prst="rect">
              <a:avLst/>
            </a:prstGeom>
          </p:spPr>
          <p:txBody>
            <a:bodyPr vert="horz" wrap="none" lIns="91440" tIns="45720" rIns="91440" bIns="45720" rtlCol="0" anchor="ctr">
              <a:noAutofit/>
            </a:bodyPr>
            <a:lstStyle/>
            <a:p>
              <a:r>
                <a:rPr lang="en-IN" b="1" dirty="0">
                  <a:solidFill>
                    <a:prstClr val="white"/>
                  </a:solidFill>
                </a:rPr>
                <a:t>Collaboration and One Tata</a:t>
              </a:r>
            </a:p>
          </p:txBody>
        </p:sp>
      </p:grpSp>
      <p:grpSp>
        <p:nvGrpSpPr>
          <p:cNvPr id="34" name="Group 33"/>
          <p:cNvGrpSpPr/>
          <p:nvPr/>
        </p:nvGrpSpPr>
        <p:grpSpPr>
          <a:xfrm>
            <a:off x="4414356" y="2484552"/>
            <a:ext cx="1107537" cy="1897484"/>
            <a:chOff x="2953253" y="2191887"/>
            <a:chExt cx="1400538" cy="2379509"/>
          </a:xfrm>
        </p:grpSpPr>
        <p:sp>
          <p:nvSpPr>
            <p:cNvPr id="35" name="Rounded Rectangle 34"/>
            <p:cNvSpPr/>
            <p:nvPr>
              <p:custDataLst>
                <p:tags r:id="rId1"/>
              </p:custDataLst>
            </p:nvPr>
          </p:nvSpPr>
          <p:spPr bwMode="gray">
            <a:xfrm>
              <a:off x="3094944" y="2191887"/>
              <a:ext cx="1108539" cy="2379509"/>
            </a:xfrm>
            <a:prstGeom prst="roundRect">
              <a:avLst>
                <a:gd name="adj" fmla="val 9878"/>
              </a:avLst>
            </a:prstGeom>
            <a:solidFill>
              <a:schemeClr val="bg1">
                <a:lumMod val="95000"/>
              </a:schemeClr>
            </a:solidFill>
            <a:ln w="6350" cap="flat" cmpd="sng" algn="ctr">
              <a:solidFill>
                <a:schemeClr val="bg1">
                  <a:lumMod val="65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tIns="91440"/>
            <a:lstStyle/>
            <a:p>
              <a:pPr indent="-171450" defTabSz="895350" fontAlgn="base">
                <a:spcBef>
                  <a:spcPct val="0"/>
                </a:spcBef>
                <a:spcAft>
                  <a:spcPct val="0"/>
                </a:spcAft>
                <a:buClr>
                  <a:srgbClr val="11356F"/>
                </a:buClr>
                <a:buSzPct val="100000"/>
                <a:defRPr/>
              </a:pPr>
              <a:endParaRPr lang="en-GB" sz="1400" dirty="0">
                <a:solidFill>
                  <a:prstClr val="black">
                    <a:lumMod val="65000"/>
                    <a:lumOff val="35000"/>
                  </a:prstClr>
                </a:solidFill>
                <a:cs typeface="Arial" pitchFamily="34" charset="0"/>
              </a:endParaRPr>
            </a:p>
          </p:txBody>
        </p:sp>
        <p:pic>
          <p:nvPicPr>
            <p:cNvPr id="36" name="Picture 35" descr="http://socialmediab2b.com/wp-content/uploads/2011/12/Dun-Bradstreet-social-media.jpg"/>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a:stretch/>
          </p:blipFill>
          <p:spPr bwMode="auto">
            <a:xfrm>
              <a:off x="3358113" y="2274159"/>
              <a:ext cx="551730" cy="535528"/>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http://www.ucanews.com/uploads/2011/03/FFT505_1s.jpg"/>
            <p:cNvPicPr>
              <a:picLocks noChangeAspect="1" noChangeArrowheads="1"/>
            </p:cNvPicPr>
            <p:nvPr/>
          </p:nvPicPr>
          <p:blipFill rotWithShape="1">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bwMode="auto">
            <a:xfrm>
              <a:off x="3233586" y="3034527"/>
              <a:ext cx="440738" cy="500307"/>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http://3.bp.blogspot.com/-b_9jTjLfg5Y/T9WJY1TcvVI/AAAAAAAAAg4/02iZ1BRgO3c/s1600/Rajasthan%2BGovernment%25E2%2580%2599s.jpg"/>
            <p:cNvPicPr>
              <a:picLocks noChangeAspect="1" noChangeArrowheads="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749813" y="3049044"/>
              <a:ext cx="280314" cy="467330"/>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368583" y="3801468"/>
              <a:ext cx="576049" cy="486336"/>
            </a:xfrm>
            <a:prstGeom prst="rect">
              <a:avLst/>
            </a:prstGeom>
          </p:spPr>
        </p:pic>
        <p:sp>
          <p:nvSpPr>
            <p:cNvPr id="41" name="Rounded Rectangle 40"/>
            <p:cNvSpPr/>
            <p:nvPr>
              <p:custDataLst>
                <p:tags r:id="rId2"/>
              </p:custDataLst>
            </p:nvPr>
          </p:nvSpPr>
          <p:spPr bwMode="gray">
            <a:xfrm>
              <a:off x="3190972" y="2203966"/>
              <a:ext cx="931272" cy="324668"/>
            </a:xfrm>
            <a:prstGeom prst="roundRect">
              <a:avLst/>
            </a:prstGeom>
          </p:spPr>
          <p:txBody>
            <a:bodyPr vert="horz" lIns="91440" tIns="45720" rIns="91440" bIns="45720" rtlCol="0" anchor="ctr">
              <a:noAutofit/>
            </a:bodyPr>
            <a:lstStyle/>
            <a:p>
              <a:pPr fontAlgn="base">
                <a:spcBef>
                  <a:spcPct val="0"/>
                </a:spcBef>
                <a:spcAft>
                  <a:spcPct val="0"/>
                </a:spcAft>
              </a:pPr>
              <a:endParaRPr lang="en-GB" sz="1600" b="1" dirty="0">
                <a:solidFill>
                  <a:srgbClr val="0091CF"/>
                </a:solidFill>
                <a:cs typeface="Calibri"/>
              </a:endParaRPr>
            </a:p>
          </p:txBody>
        </p:sp>
        <p:sp>
          <p:nvSpPr>
            <p:cNvPr id="42" name="TextBox 41"/>
            <p:cNvSpPr txBox="1"/>
            <p:nvPr/>
          </p:nvSpPr>
          <p:spPr bwMode="gray">
            <a:xfrm>
              <a:off x="2953253" y="2733506"/>
              <a:ext cx="1400011" cy="353038"/>
            </a:xfrm>
            <a:prstGeom prst="rect">
              <a:avLst/>
            </a:prstGeom>
            <a:noFill/>
            <a:ln>
              <a:noFill/>
            </a:ln>
          </p:spPr>
          <p:txBody>
            <a:bodyPr vert="horz" wrap="square" lIns="91440" tIns="45720" rIns="91440" bIns="45720" rtlCol="0" anchor="ctr">
              <a:noAutofit/>
            </a:bodyPr>
            <a:lstStyle>
              <a:defPPr>
                <a:defRPr lang="en-US"/>
              </a:defPPr>
              <a:lvl1pPr algn="ctr">
                <a:defRPr sz="3600" b="1">
                  <a:solidFill>
                    <a:schemeClr val="bg1">
                      <a:lumMod val="50000"/>
                    </a:schemeClr>
                  </a:solidFill>
                </a:defRPr>
              </a:lvl1pPr>
            </a:lstStyle>
            <a:p>
              <a:r>
                <a:rPr lang="en-IN" sz="1200" b="0" dirty="0" smtClean="0">
                  <a:solidFill>
                    <a:srgbClr val="000000"/>
                  </a:solidFill>
                </a:rPr>
                <a:t>Proprietary</a:t>
              </a:r>
              <a:endParaRPr lang="en-IN" sz="1200" b="0" dirty="0">
                <a:solidFill>
                  <a:srgbClr val="000000"/>
                </a:solidFill>
              </a:endParaRPr>
            </a:p>
          </p:txBody>
        </p:sp>
        <p:sp>
          <p:nvSpPr>
            <p:cNvPr id="43" name="TextBox 42"/>
            <p:cNvSpPr txBox="1"/>
            <p:nvPr/>
          </p:nvSpPr>
          <p:spPr bwMode="gray">
            <a:xfrm>
              <a:off x="2953779" y="3485396"/>
              <a:ext cx="1400012" cy="353038"/>
            </a:xfrm>
            <a:prstGeom prst="rect">
              <a:avLst/>
            </a:prstGeom>
            <a:noFill/>
            <a:ln>
              <a:noFill/>
            </a:ln>
          </p:spPr>
          <p:txBody>
            <a:bodyPr vert="horz" wrap="square" lIns="91440" tIns="45720" rIns="91440" bIns="45720" rtlCol="0" anchor="ctr">
              <a:noAutofit/>
            </a:bodyPr>
            <a:lstStyle>
              <a:defPPr>
                <a:defRPr lang="en-US"/>
              </a:defPPr>
              <a:lvl1pPr algn="ctr">
                <a:defRPr sz="1000" b="1">
                  <a:latin typeface="Calibri" panose="020F0502020204030204" pitchFamily="34" charset="0"/>
                </a:defRPr>
              </a:lvl1pPr>
            </a:lstStyle>
            <a:p>
              <a:r>
                <a:rPr lang="en-IN" sz="1200" b="0" dirty="0">
                  <a:solidFill>
                    <a:srgbClr val="000000"/>
                  </a:solidFill>
                </a:rPr>
                <a:t>Public</a:t>
              </a:r>
            </a:p>
          </p:txBody>
        </p:sp>
      </p:grpSp>
      <p:sp>
        <p:nvSpPr>
          <p:cNvPr id="44" name="TextBox 43"/>
          <p:cNvSpPr txBox="1"/>
          <p:nvPr/>
        </p:nvSpPr>
        <p:spPr bwMode="gray">
          <a:xfrm>
            <a:off x="4417911" y="4530699"/>
            <a:ext cx="3198955" cy="190193"/>
          </a:xfrm>
          <a:prstGeom prst="rect">
            <a:avLst/>
          </a:prstGeom>
          <a:noFill/>
          <a:ln>
            <a:noFill/>
          </a:ln>
        </p:spPr>
        <p:txBody>
          <a:bodyPr vert="horz" wrap="square" lIns="91440" tIns="45720" rIns="91440" bIns="45720" rtlCol="0" anchor="ctr">
            <a:noAutofit/>
          </a:bodyPr>
          <a:lstStyle>
            <a:defPPr>
              <a:defRPr lang="en-US"/>
            </a:defPPr>
            <a:lvl1pPr algn="ctr">
              <a:defRPr sz="1000" b="1">
                <a:latin typeface="Calibri" panose="020F0502020204030204" pitchFamily="34" charset="0"/>
              </a:defRPr>
            </a:lvl1pPr>
          </a:lstStyle>
          <a:p>
            <a:r>
              <a:rPr lang="en-IN" sz="1800" dirty="0" smtClean="0">
                <a:solidFill>
                  <a:srgbClr val="000000"/>
                </a:solidFill>
              </a:rPr>
              <a:t>Tata iQ Proprietary Database</a:t>
            </a:r>
            <a:endParaRPr lang="en-IN" sz="1800" dirty="0">
              <a:solidFill>
                <a:srgbClr val="000000"/>
              </a:solidFill>
            </a:endParaRPr>
          </a:p>
        </p:txBody>
      </p:sp>
      <p:sp>
        <p:nvSpPr>
          <p:cNvPr id="45" name="Rectangle 44"/>
          <p:cNvSpPr/>
          <p:nvPr/>
        </p:nvSpPr>
        <p:spPr>
          <a:xfrm>
            <a:off x="4419934" y="4930163"/>
            <a:ext cx="3252120" cy="1077218"/>
          </a:xfrm>
          <a:prstGeom prst="rect">
            <a:avLst/>
          </a:prstGeom>
        </p:spPr>
        <p:txBody>
          <a:bodyPr wrap="square">
            <a:spAutoFit/>
          </a:bodyPr>
          <a:lstStyle/>
          <a:p>
            <a:pPr marL="1588" algn="ctr" defTabSz="457200">
              <a:buClr>
                <a:srgbClr val="000000"/>
              </a:buClr>
            </a:pPr>
            <a:r>
              <a:rPr lang="en-US" sz="1600" b="1" dirty="0">
                <a:solidFill>
                  <a:srgbClr val="5E5E5E">
                    <a:lumMod val="60000"/>
                    <a:lumOff val="40000"/>
                  </a:srgbClr>
                </a:solidFill>
                <a:cs typeface="Arial" charset="0"/>
              </a:rPr>
              <a:t>900MM People Base</a:t>
            </a:r>
          </a:p>
          <a:p>
            <a:pPr marL="1588" algn="ctr" defTabSz="457200">
              <a:buClr>
                <a:srgbClr val="000000"/>
              </a:buClr>
            </a:pPr>
            <a:r>
              <a:rPr lang="en-US" sz="1600" b="1">
                <a:solidFill>
                  <a:srgbClr val="5E5E5E">
                    <a:lumMod val="60000"/>
                    <a:lumOff val="40000"/>
                  </a:srgbClr>
                </a:solidFill>
                <a:cs typeface="Arial" charset="0"/>
              </a:rPr>
              <a:t>300 </a:t>
            </a:r>
            <a:r>
              <a:rPr lang="en-US" sz="1600" b="1" dirty="0">
                <a:solidFill>
                  <a:srgbClr val="5E5E5E">
                    <a:lumMod val="60000"/>
                    <a:lumOff val="40000"/>
                  </a:srgbClr>
                </a:solidFill>
                <a:cs typeface="Arial" charset="0"/>
              </a:rPr>
              <a:t>MM Enriched Base </a:t>
            </a:r>
          </a:p>
          <a:p>
            <a:pPr marL="1588" algn="ctr" defTabSz="457200">
              <a:buClr>
                <a:srgbClr val="000000"/>
              </a:buClr>
            </a:pPr>
            <a:r>
              <a:rPr lang="en-US" sz="1600" b="1" dirty="0">
                <a:solidFill>
                  <a:srgbClr val="5E5E5E">
                    <a:lumMod val="60000"/>
                    <a:lumOff val="40000"/>
                  </a:srgbClr>
                </a:solidFill>
                <a:cs typeface="Arial" charset="0"/>
              </a:rPr>
              <a:t>Data across Individuals &amp; Institutions</a:t>
            </a:r>
          </a:p>
        </p:txBody>
      </p:sp>
      <p:sp>
        <p:nvSpPr>
          <p:cNvPr id="46" name="TextBox 45"/>
          <p:cNvSpPr txBox="1"/>
          <p:nvPr/>
        </p:nvSpPr>
        <p:spPr bwMode="gray">
          <a:xfrm>
            <a:off x="4645465" y="4192987"/>
            <a:ext cx="734968" cy="251122"/>
          </a:xfrm>
          <a:prstGeom prst="rect">
            <a:avLst/>
          </a:prstGeom>
          <a:noFill/>
          <a:ln>
            <a:noFill/>
          </a:ln>
        </p:spPr>
        <p:txBody>
          <a:bodyPr vert="horz" wrap="square" lIns="91440" tIns="45720" rIns="91440" bIns="45720" rtlCol="0" anchor="ctr">
            <a:noAutofit/>
          </a:bodyPr>
          <a:lstStyle>
            <a:defPPr>
              <a:defRPr lang="en-US"/>
            </a:defPPr>
            <a:lvl1pPr algn="ctr">
              <a:defRPr sz="1000" b="1">
                <a:latin typeface="Calibri" panose="020F0502020204030204" pitchFamily="34" charset="0"/>
              </a:defRPr>
            </a:lvl1pPr>
          </a:lstStyle>
          <a:p>
            <a:r>
              <a:rPr lang="en-IN" sz="1200" b="0" dirty="0" smtClean="0">
                <a:solidFill>
                  <a:srgbClr val="000000"/>
                </a:solidFill>
              </a:rPr>
              <a:t>Internal</a:t>
            </a:r>
            <a:endParaRPr lang="en-IN" sz="1200" b="0" dirty="0">
              <a:solidFill>
                <a:srgbClr val="000000"/>
              </a:solidFill>
            </a:endParaRPr>
          </a:p>
        </p:txBody>
      </p:sp>
      <p:sp>
        <p:nvSpPr>
          <p:cNvPr id="47" name="TextBox 46"/>
          <p:cNvSpPr txBox="1"/>
          <p:nvPr/>
        </p:nvSpPr>
        <p:spPr bwMode="gray">
          <a:xfrm>
            <a:off x="700333" y="2971693"/>
            <a:ext cx="758997" cy="354833"/>
          </a:xfrm>
          <a:prstGeom prst="rect">
            <a:avLst/>
          </a:prstGeom>
        </p:spPr>
        <p:txBody>
          <a:bodyPr vert="horz" wrap="none" lIns="91440" tIns="45720" rIns="91440" bIns="45720" rtlCol="0" anchor="ctr">
            <a:noAutofit/>
          </a:bodyPr>
          <a:lstStyle/>
          <a:p>
            <a:pPr algn="ctr"/>
            <a:r>
              <a:rPr lang="en-IN" sz="1100" dirty="0">
                <a:solidFill>
                  <a:srgbClr val="000000"/>
                </a:solidFill>
              </a:rPr>
              <a:t>Campaigns</a:t>
            </a:r>
          </a:p>
        </p:txBody>
      </p:sp>
      <p:sp>
        <p:nvSpPr>
          <p:cNvPr id="48" name="TextBox 47"/>
          <p:cNvSpPr txBox="1"/>
          <p:nvPr/>
        </p:nvSpPr>
        <p:spPr bwMode="gray">
          <a:xfrm>
            <a:off x="2807895" y="3018079"/>
            <a:ext cx="758997" cy="354833"/>
          </a:xfrm>
          <a:prstGeom prst="rect">
            <a:avLst/>
          </a:prstGeom>
        </p:spPr>
        <p:txBody>
          <a:bodyPr vert="horz" wrap="none" lIns="91440" tIns="45720" rIns="91440" bIns="45720" rtlCol="0" anchor="ctr">
            <a:noAutofit/>
          </a:bodyPr>
          <a:lstStyle/>
          <a:p>
            <a:pPr algn="ctr"/>
            <a:r>
              <a:rPr lang="en-IN" sz="1100" dirty="0">
                <a:solidFill>
                  <a:srgbClr val="000000"/>
                </a:solidFill>
              </a:rPr>
              <a:t>Customer Insight &amp; </a:t>
            </a:r>
          </a:p>
          <a:p>
            <a:pPr algn="ctr"/>
            <a:r>
              <a:rPr lang="en-IN" sz="1100" dirty="0">
                <a:solidFill>
                  <a:srgbClr val="000000"/>
                </a:solidFill>
              </a:rPr>
              <a:t>Prospecting</a:t>
            </a:r>
          </a:p>
        </p:txBody>
      </p:sp>
      <p:sp>
        <p:nvSpPr>
          <p:cNvPr id="49" name="TextBox 48"/>
          <p:cNvSpPr txBox="1"/>
          <p:nvPr/>
        </p:nvSpPr>
        <p:spPr bwMode="gray">
          <a:xfrm>
            <a:off x="1852348" y="3563726"/>
            <a:ext cx="681041" cy="354833"/>
          </a:xfrm>
          <a:prstGeom prst="rect">
            <a:avLst/>
          </a:prstGeom>
        </p:spPr>
        <p:txBody>
          <a:bodyPr vert="horz" wrap="none" lIns="91440" tIns="45720" rIns="91440" bIns="45720" rtlCol="0" anchor="ctr">
            <a:noAutofit/>
          </a:bodyPr>
          <a:lstStyle/>
          <a:p>
            <a:pPr algn="ctr"/>
            <a:r>
              <a:rPr lang="en-IN" sz="1100" dirty="0">
                <a:solidFill>
                  <a:srgbClr val="000000"/>
                </a:solidFill>
              </a:rPr>
              <a:t>Risk Analytics</a:t>
            </a:r>
          </a:p>
        </p:txBody>
      </p:sp>
      <p:sp>
        <p:nvSpPr>
          <p:cNvPr id="50" name="TextBox 49"/>
          <p:cNvSpPr txBox="1"/>
          <p:nvPr/>
        </p:nvSpPr>
        <p:spPr bwMode="gray">
          <a:xfrm>
            <a:off x="2436613" y="4014042"/>
            <a:ext cx="605963" cy="354833"/>
          </a:xfrm>
          <a:prstGeom prst="rect">
            <a:avLst/>
          </a:prstGeom>
        </p:spPr>
        <p:txBody>
          <a:bodyPr vert="horz" wrap="none" lIns="91440" tIns="45720" rIns="91440" bIns="45720" rtlCol="0" anchor="ctr">
            <a:noAutofit/>
          </a:bodyPr>
          <a:lstStyle/>
          <a:p>
            <a:pPr algn="ctr"/>
            <a:r>
              <a:rPr lang="en-IN" sz="1100" dirty="0">
                <a:solidFill>
                  <a:srgbClr val="000000"/>
                </a:solidFill>
              </a:rPr>
              <a:t>Operations</a:t>
            </a:r>
          </a:p>
        </p:txBody>
      </p:sp>
      <p:sp>
        <p:nvSpPr>
          <p:cNvPr id="53" name="TextBox 52"/>
          <p:cNvSpPr txBox="1"/>
          <p:nvPr/>
        </p:nvSpPr>
        <p:spPr bwMode="gray">
          <a:xfrm>
            <a:off x="699281" y="4014042"/>
            <a:ext cx="1100035" cy="354833"/>
          </a:xfrm>
          <a:prstGeom prst="rect">
            <a:avLst/>
          </a:prstGeom>
        </p:spPr>
        <p:txBody>
          <a:bodyPr vert="horz" wrap="none" lIns="91440" tIns="45720" rIns="91440" bIns="45720" rtlCol="0" anchor="ctr">
            <a:noAutofit/>
          </a:bodyPr>
          <a:lstStyle/>
          <a:p>
            <a:pPr algn="ctr"/>
            <a:r>
              <a:rPr lang="en-IN" sz="1100" dirty="0">
                <a:solidFill>
                  <a:srgbClr val="000000"/>
                </a:solidFill>
              </a:rPr>
              <a:t>Supply Chain</a:t>
            </a:r>
            <a:endParaRPr lang="en-IN" sz="1000" dirty="0">
              <a:solidFill>
                <a:srgbClr val="000000"/>
              </a:solidFill>
            </a:endParaRPr>
          </a:p>
        </p:txBody>
      </p:sp>
      <p:sp>
        <p:nvSpPr>
          <p:cNvPr id="55" name="TextBox 54"/>
          <p:cNvSpPr txBox="1"/>
          <p:nvPr/>
        </p:nvSpPr>
        <p:spPr bwMode="gray">
          <a:xfrm>
            <a:off x="472788" y="4828015"/>
            <a:ext cx="3307410" cy="1263954"/>
          </a:xfrm>
          <a:prstGeom prst="rect">
            <a:avLst/>
          </a:prstGeom>
        </p:spPr>
        <p:txBody>
          <a:bodyPr vert="horz" wrap="square" lIns="91440" tIns="45720" rIns="91440" bIns="45720" rtlCol="0" anchor="ctr">
            <a:noAutofit/>
          </a:bodyPr>
          <a:lstStyle/>
          <a:p>
            <a:pPr algn="ctr" defTabSz="457200"/>
            <a:r>
              <a:rPr lang="en-US" sz="1400" b="1" dirty="0">
                <a:solidFill>
                  <a:srgbClr val="5E5E5E">
                    <a:lumMod val="60000"/>
                    <a:lumOff val="40000"/>
                  </a:srgbClr>
                </a:solidFill>
                <a:cs typeface="Arial" charset="0"/>
              </a:rPr>
              <a:t>Profiling, Segmentation, Predictive Analytics, Machine Learning</a:t>
            </a:r>
          </a:p>
          <a:p>
            <a:pPr algn="ctr" defTabSz="457200"/>
            <a:r>
              <a:rPr lang="en-US" sz="1400" b="1" dirty="0">
                <a:solidFill>
                  <a:srgbClr val="5E5E5E">
                    <a:lumMod val="60000"/>
                    <a:lumOff val="40000"/>
                  </a:srgbClr>
                </a:solidFill>
                <a:cs typeface="Arial" charset="0"/>
              </a:rPr>
              <a:t>Quantitative Analytics, </a:t>
            </a:r>
            <a:r>
              <a:rPr lang="en-IN" sz="1400" b="1" dirty="0">
                <a:solidFill>
                  <a:srgbClr val="5E5E5E">
                    <a:lumMod val="60000"/>
                    <a:lumOff val="40000"/>
                  </a:srgbClr>
                </a:solidFill>
                <a:cs typeface="Arial" charset="0"/>
              </a:rPr>
              <a:t>Existing Customer management (cross-sell, up-sell), Pricing, Channel, Store, Online, Assortment, Risk, Digital, Operations, Prospecting  </a:t>
            </a:r>
          </a:p>
        </p:txBody>
      </p:sp>
      <p:sp>
        <p:nvSpPr>
          <p:cNvPr id="56" name="TextBox 55"/>
          <p:cNvSpPr txBox="1"/>
          <p:nvPr/>
        </p:nvSpPr>
        <p:spPr bwMode="gray">
          <a:xfrm>
            <a:off x="646262" y="4451531"/>
            <a:ext cx="2979196" cy="205610"/>
          </a:xfrm>
          <a:prstGeom prst="rect">
            <a:avLst/>
          </a:prstGeom>
          <a:noFill/>
          <a:ln>
            <a:noFill/>
          </a:ln>
        </p:spPr>
        <p:txBody>
          <a:bodyPr vert="horz" wrap="square" lIns="91440" tIns="45720" rIns="91440" bIns="45720" rtlCol="0" anchor="ctr">
            <a:noAutofit/>
          </a:bodyPr>
          <a:lstStyle>
            <a:defPPr>
              <a:defRPr lang="en-US"/>
            </a:defPPr>
            <a:lvl1pPr algn="ctr">
              <a:defRPr sz="1000" b="1">
                <a:latin typeface="Calibri" panose="020F0502020204030204" pitchFamily="34" charset="0"/>
              </a:defRPr>
            </a:lvl1pPr>
          </a:lstStyle>
          <a:p>
            <a:r>
              <a:rPr lang="en-IN" sz="1800" dirty="0" smtClean="0">
                <a:solidFill>
                  <a:srgbClr val="000000"/>
                </a:solidFill>
              </a:rPr>
              <a:t>Advanced Analytic Solutions</a:t>
            </a:r>
            <a:endParaRPr lang="en-IN" sz="1800" dirty="0">
              <a:solidFill>
                <a:srgbClr val="000000"/>
              </a:solidFill>
            </a:endParaRPr>
          </a:p>
        </p:txBody>
      </p:sp>
      <p:grpSp>
        <p:nvGrpSpPr>
          <p:cNvPr id="58" name="Group 57"/>
          <p:cNvGrpSpPr/>
          <p:nvPr/>
        </p:nvGrpSpPr>
        <p:grpSpPr>
          <a:xfrm rot="16200000">
            <a:off x="5814434" y="3138145"/>
            <a:ext cx="827490" cy="1477908"/>
            <a:chOff x="6878550" y="2886966"/>
            <a:chExt cx="800806" cy="1430249"/>
          </a:xfrm>
        </p:grpSpPr>
        <p:sp>
          <p:nvSpPr>
            <p:cNvPr id="59" name="Oval 58"/>
            <p:cNvSpPr/>
            <p:nvPr/>
          </p:nvSpPr>
          <p:spPr>
            <a:xfrm>
              <a:off x="6897467" y="3535326"/>
              <a:ext cx="781889" cy="781889"/>
            </a:xfrm>
            <a:prstGeom prst="ellipse">
              <a:avLst/>
            </a:prstGeom>
            <a:solidFill>
              <a:schemeClr val="accent6">
                <a:lumMod val="75000"/>
                <a:alpha val="79000"/>
              </a:schemeClr>
            </a:solidFill>
            <a:ln>
              <a:solidFill>
                <a:schemeClr val="accent6">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IN" sz="1050" dirty="0">
                  <a:solidFill>
                    <a:prstClr val="white"/>
                  </a:solidFill>
                </a:rPr>
                <a:t>Online</a:t>
              </a:r>
            </a:p>
            <a:p>
              <a:pPr algn="ctr"/>
              <a:r>
                <a:rPr lang="en-IN" sz="1050" dirty="0">
                  <a:solidFill>
                    <a:prstClr val="white"/>
                  </a:solidFill>
                </a:rPr>
                <a:t>Data</a:t>
              </a:r>
            </a:p>
          </p:txBody>
        </p:sp>
        <p:sp>
          <p:nvSpPr>
            <p:cNvPr id="60" name="Oval 59"/>
            <p:cNvSpPr/>
            <p:nvPr/>
          </p:nvSpPr>
          <p:spPr>
            <a:xfrm>
              <a:off x="6878550" y="2886966"/>
              <a:ext cx="781889" cy="781889"/>
            </a:xfrm>
            <a:prstGeom prst="ellipse">
              <a:avLst/>
            </a:prstGeom>
            <a:solidFill>
              <a:schemeClr val="tx2">
                <a:lumMod val="60000"/>
                <a:lumOff val="40000"/>
                <a:alpha val="79000"/>
              </a:schemeClr>
            </a:solidFill>
            <a:ln>
              <a:solidFill>
                <a:schemeClr val="tx2">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IN" sz="1050" dirty="0">
                  <a:solidFill>
                    <a:prstClr val="white"/>
                  </a:solidFill>
                </a:rPr>
                <a:t>Offline</a:t>
              </a:r>
            </a:p>
            <a:p>
              <a:pPr algn="ctr"/>
              <a:r>
                <a:rPr lang="en-IN" sz="1050" dirty="0">
                  <a:solidFill>
                    <a:prstClr val="white"/>
                  </a:solidFill>
                </a:rPr>
                <a:t>Data</a:t>
              </a:r>
            </a:p>
          </p:txBody>
        </p:sp>
      </p:grpSp>
      <p:grpSp>
        <p:nvGrpSpPr>
          <p:cNvPr id="61" name="Group 60"/>
          <p:cNvGrpSpPr/>
          <p:nvPr/>
        </p:nvGrpSpPr>
        <p:grpSpPr>
          <a:xfrm>
            <a:off x="1623658" y="1784659"/>
            <a:ext cx="954046" cy="954046"/>
            <a:chOff x="1550288" y="4209766"/>
            <a:chExt cx="1142151" cy="1142151"/>
          </a:xfrm>
        </p:grpSpPr>
        <p:sp>
          <p:nvSpPr>
            <p:cNvPr id="62" name="Oval 61"/>
            <p:cNvSpPr/>
            <p:nvPr/>
          </p:nvSpPr>
          <p:spPr>
            <a:xfrm>
              <a:off x="1550288" y="4209766"/>
              <a:ext cx="1142151" cy="1142151"/>
            </a:xfrm>
            <a:prstGeom prst="ellipse">
              <a:avLst/>
            </a:prstGeom>
            <a:solidFill>
              <a:schemeClr val="bg1"/>
            </a:solid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pic>
          <p:nvPicPr>
            <p:cNvPr id="63" name="Picture 10" descr="http://www.d2-analytics.com/images/business_analytics_4.jpg"/>
            <p:cNvPicPr>
              <a:picLocks noChangeAspect="1" noChangeArrowheads="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42802" y="4355256"/>
              <a:ext cx="930492" cy="91756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4" name="Group 63"/>
          <p:cNvGrpSpPr/>
          <p:nvPr/>
        </p:nvGrpSpPr>
        <p:grpSpPr>
          <a:xfrm>
            <a:off x="9450817" y="1784659"/>
            <a:ext cx="954046" cy="954046"/>
            <a:chOff x="9623954" y="2236108"/>
            <a:chExt cx="782029" cy="782029"/>
          </a:xfrm>
        </p:grpSpPr>
        <p:sp>
          <p:nvSpPr>
            <p:cNvPr id="65" name="Oval 64"/>
            <p:cNvSpPr/>
            <p:nvPr/>
          </p:nvSpPr>
          <p:spPr>
            <a:xfrm>
              <a:off x="9623954" y="2236108"/>
              <a:ext cx="782029" cy="782029"/>
            </a:xfrm>
            <a:prstGeom prst="ellipse">
              <a:avLst/>
            </a:prstGeom>
            <a:solidFill>
              <a:schemeClr val="bg1"/>
            </a:solid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pic>
          <p:nvPicPr>
            <p:cNvPr id="66" name="Picture 12" descr="http://static1.squarespace.com/static/52f2e912e4b052b2dabe3343/t/536d2006e4b03a731bdb54b3/1392326037613/NETWORK%20ICON_87%20copy.pn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9702191" y="2335725"/>
              <a:ext cx="616675" cy="61500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7" name="Group 66"/>
          <p:cNvGrpSpPr/>
          <p:nvPr/>
        </p:nvGrpSpPr>
        <p:grpSpPr>
          <a:xfrm>
            <a:off x="5568971" y="1802508"/>
            <a:ext cx="954046" cy="954046"/>
            <a:chOff x="5742108" y="2253957"/>
            <a:chExt cx="782029" cy="782029"/>
          </a:xfrm>
        </p:grpSpPr>
        <p:sp>
          <p:nvSpPr>
            <p:cNvPr id="68" name="Oval 67"/>
            <p:cNvSpPr/>
            <p:nvPr/>
          </p:nvSpPr>
          <p:spPr>
            <a:xfrm>
              <a:off x="5742108" y="2253957"/>
              <a:ext cx="782029" cy="782029"/>
            </a:xfrm>
            <a:prstGeom prst="ellipse">
              <a:avLst/>
            </a:prstGeom>
            <a:solidFill>
              <a:schemeClr val="bg1"/>
            </a:solid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pic>
          <p:nvPicPr>
            <p:cNvPr id="69" name="Picture 16" descr="https://cdn3.iconfinder.com/data/icons/chemistry-1/512/DNA_binary_code-128.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5890895" y="2394743"/>
              <a:ext cx="484454" cy="484454"/>
            </a:xfrm>
            <a:prstGeom prst="rect">
              <a:avLst/>
            </a:prstGeom>
            <a:noFill/>
            <a:extLst>
              <a:ext uri="{909E8E84-426E-40DD-AFC4-6F175D3DCCD1}">
                <a14:hiddenFill xmlns:a14="http://schemas.microsoft.com/office/drawing/2010/main">
                  <a:solidFill>
                    <a:srgbClr val="FFFFFF"/>
                  </a:solidFill>
                </a14:hiddenFill>
              </a:ext>
            </a:extLst>
          </p:spPr>
        </p:pic>
      </p:grpSp>
      <p:pic>
        <p:nvPicPr>
          <p:cNvPr id="70" name="Picture 69"/>
          <p:cNvPicPr>
            <a:picLocks noChangeAspect="1"/>
          </p:cNvPicPr>
          <p:nvPr/>
        </p:nvPicPr>
        <p:blipFill>
          <a:blip r:embed="rId1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509845" y="2875903"/>
            <a:ext cx="920796" cy="883466"/>
          </a:xfrm>
          <a:prstGeom prst="rect">
            <a:avLst/>
          </a:prstGeom>
        </p:spPr>
      </p:pic>
      <p:pic>
        <p:nvPicPr>
          <p:cNvPr id="71" name="Picture 7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320319" y="2332116"/>
            <a:ext cx="1496810" cy="1150784"/>
          </a:xfrm>
          <a:prstGeom prst="rect">
            <a:avLst/>
          </a:prstGeom>
        </p:spPr>
      </p:pic>
      <p:pic>
        <p:nvPicPr>
          <p:cNvPr id="72" name="Picture 71"/>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852457" y="2821601"/>
            <a:ext cx="192322" cy="357169"/>
          </a:xfrm>
          <a:prstGeom prst="rect">
            <a:avLst/>
          </a:prstGeom>
        </p:spPr>
      </p:pic>
      <p:sp>
        <p:nvSpPr>
          <p:cNvPr id="73" name="TextBox 72"/>
          <p:cNvSpPr txBox="1"/>
          <p:nvPr/>
        </p:nvSpPr>
        <p:spPr bwMode="gray">
          <a:xfrm>
            <a:off x="8430470" y="3708130"/>
            <a:ext cx="1100035" cy="354833"/>
          </a:xfrm>
          <a:prstGeom prst="rect">
            <a:avLst/>
          </a:prstGeom>
        </p:spPr>
        <p:txBody>
          <a:bodyPr vert="horz" wrap="none" lIns="91440" tIns="45720" rIns="91440" bIns="45720" rtlCol="0" anchor="ctr">
            <a:noAutofit/>
          </a:bodyPr>
          <a:lstStyle/>
          <a:p>
            <a:pPr algn="ctr"/>
            <a:r>
              <a:rPr lang="en-IN" sz="1400">
                <a:solidFill>
                  <a:srgbClr val="000000"/>
                </a:solidFill>
              </a:rPr>
              <a:t>TSSS’15</a:t>
            </a:r>
            <a:endParaRPr lang="en-IN" sz="1400" dirty="0">
              <a:solidFill>
                <a:srgbClr val="000000"/>
              </a:solidFill>
            </a:endParaRPr>
          </a:p>
        </p:txBody>
      </p:sp>
      <p:sp>
        <p:nvSpPr>
          <p:cNvPr id="74" name="TextBox 73"/>
          <p:cNvSpPr txBox="1"/>
          <p:nvPr/>
        </p:nvSpPr>
        <p:spPr bwMode="gray">
          <a:xfrm>
            <a:off x="9445656" y="3211353"/>
            <a:ext cx="1100035" cy="205589"/>
          </a:xfrm>
          <a:prstGeom prst="rect">
            <a:avLst/>
          </a:prstGeom>
        </p:spPr>
        <p:txBody>
          <a:bodyPr vert="horz" wrap="none" lIns="91440" tIns="45720" rIns="91440" bIns="45720" rtlCol="0" anchor="ctr">
            <a:noAutofit/>
          </a:bodyPr>
          <a:lstStyle/>
          <a:p>
            <a:pPr algn="ctr"/>
            <a:r>
              <a:rPr lang="en-IN" sz="1400" dirty="0" err="1">
                <a:solidFill>
                  <a:srgbClr val="000000"/>
                </a:solidFill>
              </a:rPr>
              <a:t>ShopsAPP</a:t>
            </a:r>
            <a:endParaRPr lang="en-IN" sz="1400" dirty="0">
              <a:solidFill>
                <a:srgbClr val="000000"/>
              </a:solidFill>
            </a:endParaRPr>
          </a:p>
        </p:txBody>
      </p:sp>
      <p:pic>
        <p:nvPicPr>
          <p:cNvPr id="75" name="Picture 22" descr="http://www.businessexpocenter.com/resource/resmgr/affiliate_programs_icon_75.png"/>
          <p:cNvPicPr>
            <a:picLocks noChangeAspect="1" noChangeArrowheads="1"/>
          </p:cNvPicPr>
          <p:nvPr/>
        </p:nvPicPr>
        <p:blipFill>
          <a:blip r:embed="rId1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448950" y="2864511"/>
            <a:ext cx="973911" cy="676187"/>
          </a:xfrm>
          <a:prstGeom prst="rect">
            <a:avLst/>
          </a:prstGeom>
          <a:noFill/>
          <a:extLst>
            <a:ext uri="{909E8E84-426E-40DD-AFC4-6F175D3DCCD1}">
              <a14:hiddenFill xmlns:a14="http://schemas.microsoft.com/office/drawing/2010/main">
                <a:solidFill>
                  <a:srgbClr val="FFFFFF"/>
                </a:solidFill>
              </a14:hiddenFill>
            </a:ext>
          </a:extLst>
        </p:spPr>
      </p:pic>
      <p:sp>
        <p:nvSpPr>
          <p:cNvPr id="76" name="TextBox 75"/>
          <p:cNvSpPr txBox="1"/>
          <p:nvPr/>
        </p:nvSpPr>
        <p:spPr bwMode="gray">
          <a:xfrm>
            <a:off x="10463023" y="3583074"/>
            <a:ext cx="1100035" cy="354833"/>
          </a:xfrm>
          <a:prstGeom prst="rect">
            <a:avLst/>
          </a:prstGeom>
        </p:spPr>
        <p:txBody>
          <a:bodyPr vert="horz" wrap="none" lIns="91440" tIns="45720" rIns="91440" bIns="45720" rtlCol="0" anchor="ctr">
            <a:noAutofit/>
          </a:bodyPr>
          <a:lstStyle/>
          <a:p>
            <a:pPr algn="ctr"/>
            <a:r>
              <a:rPr lang="en-IN" sz="1400" dirty="0">
                <a:solidFill>
                  <a:srgbClr val="000000"/>
                </a:solidFill>
              </a:rPr>
              <a:t>Affiliate </a:t>
            </a:r>
          </a:p>
          <a:p>
            <a:pPr algn="ctr"/>
            <a:r>
              <a:rPr lang="en-IN" sz="1400" dirty="0">
                <a:solidFill>
                  <a:srgbClr val="000000"/>
                </a:solidFill>
              </a:rPr>
              <a:t>Marketing</a:t>
            </a:r>
          </a:p>
        </p:txBody>
      </p:sp>
      <p:pic>
        <p:nvPicPr>
          <p:cNvPr id="77" name="Picture 24" descr="https://encrypted-tbn0.gstatic.com/images?q=tbn:ANd9GcTp2Q72evBRMBCXyt7L9AyX-dWTT6cUj52C3z9LgGqokZx3IQdCvQ"/>
          <p:cNvPicPr>
            <a:picLocks noChangeAspect="1" noChangeArrowheads="1"/>
          </p:cNvPicPr>
          <p:nvPr/>
        </p:nvPicPr>
        <p:blipFill>
          <a:blip r:embed="rId17" cstate="print">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9428290" y="3566571"/>
            <a:ext cx="1040656" cy="638172"/>
          </a:xfrm>
          <a:prstGeom prst="rect">
            <a:avLst/>
          </a:prstGeom>
          <a:noFill/>
          <a:extLst>
            <a:ext uri="{909E8E84-426E-40DD-AFC4-6F175D3DCCD1}">
              <a14:hiddenFill xmlns:a14="http://schemas.microsoft.com/office/drawing/2010/main">
                <a:solidFill>
                  <a:srgbClr val="FFFFFF"/>
                </a:solidFill>
              </a14:hiddenFill>
            </a:ext>
          </a:extLst>
        </p:spPr>
      </p:pic>
      <p:sp>
        <p:nvSpPr>
          <p:cNvPr id="78" name="TextBox 77"/>
          <p:cNvSpPr txBox="1"/>
          <p:nvPr/>
        </p:nvSpPr>
        <p:spPr bwMode="gray">
          <a:xfrm>
            <a:off x="9428290" y="4113552"/>
            <a:ext cx="1100035" cy="184503"/>
          </a:xfrm>
          <a:prstGeom prst="rect">
            <a:avLst/>
          </a:prstGeom>
        </p:spPr>
        <p:txBody>
          <a:bodyPr vert="horz" wrap="none" lIns="91440" tIns="45720" rIns="91440" bIns="45720" rtlCol="0" anchor="ctr">
            <a:noAutofit/>
          </a:bodyPr>
          <a:lstStyle/>
          <a:p>
            <a:pPr algn="ctr"/>
            <a:r>
              <a:rPr lang="en-IN" sz="1400" dirty="0">
                <a:solidFill>
                  <a:srgbClr val="000000"/>
                </a:solidFill>
              </a:rPr>
              <a:t>Group-wide Loyalty</a:t>
            </a:r>
          </a:p>
        </p:txBody>
      </p:sp>
      <p:sp>
        <p:nvSpPr>
          <p:cNvPr id="79" name="TextBox 78"/>
          <p:cNvSpPr txBox="1"/>
          <p:nvPr/>
        </p:nvSpPr>
        <p:spPr bwMode="gray">
          <a:xfrm>
            <a:off x="8980487" y="4520610"/>
            <a:ext cx="2134384" cy="204693"/>
          </a:xfrm>
          <a:prstGeom prst="rect">
            <a:avLst/>
          </a:prstGeom>
          <a:noFill/>
          <a:ln>
            <a:noFill/>
          </a:ln>
        </p:spPr>
        <p:txBody>
          <a:bodyPr vert="horz" wrap="square" lIns="91440" tIns="45720" rIns="91440" bIns="45720" rtlCol="0" anchor="ctr">
            <a:noAutofit/>
          </a:bodyPr>
          <a:lstStyle>
            <a:defPPr>
              <a:defRPr lang="en-US"/>
            </a:defPPr>
            <a:lvl1pPr algn="ctr">
              <a:defRPr sz="1000" b="1">
                <a:latin typeface="Calibri" panose="020F0502020204030204" pitchFamily="34" charset="0"/>
              </a:defRPr>
            </a:lvl1pPr>
          </a:lstStyle>
          <a:p>
            <a:r>
              <a:rPr lang="en-IN" sz="1800" dirty="0" smtClean="0">
                <a:solidFill>
                  <a:srgbClr val="000000"/>
                </a:solidFill>
              </a:rPr>
              <a:t>Building One Tata</a:t>
            </a:r>
            <a:endParaRPr lang="en-IN" sz="1800" dirty="0">
              <a:solidFill>
                <a:srgbClr val="000000"/>
              </a:solidFill>
            </a:endParaRPr>
          </a:p>
        </p:txBody>
      </p:sp>
      <p:sp>
        <p:nvSpPr>
          <p:cNvPr id="80" name="Rectangle 79"/>
          <p:cNvSpPr/>
          <p:nvPr/>
        </p:nvSpPr>
        <p:spPr>
          <a:xfrm>
            <a:off x="7852786" y="4869328"/>
            <a:ext cx="3778185" cy="1169551"/>
          </a:xfrm>
          <a:prstGeom prst="rect">
            <a:avLst/>
          </a:prstGeom>
        </p:spPr>
        <p:txBody>
          <a:bodyPr wrap="square">
            <a:spAutoFit/>
          </a:bodyPr>
          <a:lstStyle/>
          <a:p>
            <a:pPr lvl="1" algn="ctr"/>
            <a:r>
              <a:rPr lang="en-IN" sz="1400" b="1" dirty="0">
                <a:solidFill>
                  <a:srgbClr val="5E5E5E">
                    <a:lumMod val="60000"/>
                    <a:lumOff val="40000"/>
                  </a:srgbClr>
                </a:solidFill>
                <a:cs typeface="Arial" charset="0"/>
              </a:rPr>
              <a:t>Unified customer view, Maximize Revenue</a:t>
            </a:r>
          </a:p>
          <a:p>
            <a:pPr lvl="1" algn="ctr"/>
            <a:r>
              <a:rPr lang="en-IN" sz="1400" b="1" dirty="0">
                <a:solidFill>
                  <a:srgbClr val="5E5E5E">
                    <a:lumMod val="60000"/>
                    <a:lumOff val="40000"/>
                  </a:srgbClr>
                </a:solidFill>
                <a:cs typeface="Arial" charset="0"/>
              </a:rPr>
              <a:t>Minimize Expenses,</a:t>
            </a:r>
          </a:p>
          <a:p>
            <a:pPr lvl="1" algn="ctr"/>
            <a:r>
              <a:rPr lang="en-IN" sz="1400" b="1" dirty="0">
                <a:solidFill>
                  <a:srgbClr val="5E5E5E">
                    <a:lumMod val="60000"/>
                    <a:lumOff val="40000"/>
                  </a:srgbClr>
                </a:solidFill>
                <a:cs typeface="Arial" charset="0"/>
              </a:rPr>
              <a:t>Encompassing Loyalty mitigate risks, superior customer experience, sales/revenue growth </a:t>
            </a:r>
          </a:p>
        </p:txBody>
      </p:sp>
      <p:cxnSp>
        <p:nvCxnSpPr>
          <p:cNvPr id="82" name="Straight Connector 81"/>
          <p:cNvCxnSpPr/>
          <p:nvPr/>
        </p:nvCxnSpPr>
        <p:spPr>
          <a:xfrm>
            <a:off x="472788" y="4769191"/>
            <a:ext cx="329696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4382912" y="4820436"/>
            <a:ext cx="329696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8329827" y="4820436"/>
            <a:ext cx="329696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85" name="Picture 84"/>
          <p:cNvPicPr>
            <a:picLocks noChangeAspect="1"/>
          </p:cNvPicPr>
          <p:nvPr/>
        </p:nvPicPr>
        <p:blipFill>
          <a:blip r:embed="rId18"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841612" y="3457374"/>
            <a:ext cx="625169" cy="625169"/>
          </a:xfrm>
          <a:prstGeom prst="rect">
            <a:avLst/>
          </a:prstGeom>
        </p:spPr>
      </p:pic>
      <p:pic>
        <p:nvPicPr>
          <p:cNvPr id="86" name="Picture 10" descr="https://encrypted-tbn3.gstatic.com/images?q=tbn:ANd9GcSD-3EzO6E8A8YH_E1QeV--zMX3M-uOeZkKLMhkGbZj5ZZKtqZ3pg"/>
          <p:cNvPicPr>
            <a:picLocks noChangeAspect="1" noChangeArrowheads="1"/>
          </p:cNvPicPr>
          <p:nvPr/>
        </p:nvPicPr>
        <p:blipFill>
          <a:blip r:embed="rId19">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rot="1226465">
            <a:off x="723904" y="2505823"/>
            <a:ext cx="871614" cy="611431"/>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38" descr="https://i.ytimg.com/vi/w-CK8VxMz9g/maxresdefault.jpg"/>
          <p:cNvPicPr>
            <a:picLocks noChangeAspect="1" noChangeArrowheads="1"/>
          </p:cNvPicPr>
          <p:nvPr/>
        </p:nvPicPr>
        <p:blipFill>
          <a:blip r:embed="rId20"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765504" y="3100181"/>
            <a:ext cx="810187" cy="607640"/>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89"/>
          <p:cNvPicPr>
            <a:picLocks noChangeAspect="1"/>
          </p:cNvPicPr>
          <p:nvPr/>
        </p:nvPicPr>
        <p:blipFill>
          <a:blip r:embed="rId21">
            <a:clrChange>
              <a:clrFrom>
                <a:srgbClr val="FFFFFF"/>
              </a:clrFrom>
              <a:clrTo>
                <a:srgbClr val="FFFFFF">
                  <a:alpha val="0"/>
                </a:srgbClr>
              </a:clrTo>
            </a:clrChange>
          </a:blip>
          <a:stretch>
            <a:fillRect/>
          </a:stretch>
        </p:blipFill>
        <p:spPr>
          <a:xfrm>
            <a:off x="2905673" y="2502481"/>
            <a:ext cx="629705" cy="549627"/>
          </a:xfrm>
          <a:prstGeom prst="rect">
            <a:avLst/>
          </a:prstGeom>
        </p:spPr>
      </p:pic>
      <p:pic>
        <p:nvPicPr>
          <p:cNvPr id="1026" name="Picture 2" descr="http://www.operationsmanager.com/wp-content/uploads/2015/02/secret-weapon.png"/>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659127" y="3526610"/>
            <a:ext cx="971024" cy="776820"/>
          </a:xfrm>
          <a:prstGeom prst="rect">
            <a:avLst/>
          </a:prstGeom>
          <a:noFill/>
          <a:extLst>
            <a:ext uri="{909E8E84-426E-40DD-AFC4-6F175D3DCCD1}">
              <a14:hiddenFill xmlns:a14="http://schemas.microsoft.com/office/drawing/2010/main">
                <a:solidFill>
                  <a:srgbClr val="FFFFFF"/>
                </a:solidFill>
              </a14:hiddenFill>
            </a:ext>
          </a:extLst>
        </p:spPr>
      </p:pic>
      <p:sp>
        <p:nvSpPr>
          <p:cNvPr id="81" name="Slide Number Placeholder 3"/>
          <p:cNvSpPr>
            <a:spLocks noGrp="1"/>
          </p:cNvSpPr>
          <p:nvPr>
            <p:ph type="sldNum" sz="quarter" idx="12"/>
          </p:nvPr>
        </p:nvSpPr>
        <p:spPr>
          <a:xfrm>
            <a:off x="9448800" y="6350"/>
            <a:ext cx="2743200" cy="365125"/>
          </a:xfrm>
        </p:spPr>
        <p:txBody>
          <a:bodyPr/>
          <a:lstStyle/>
          <a:p>
            <a:fld id="{CFADFFA0-845F-42C3-957F-96883DAC01F9}" type="slidenum">
              <a:rPr lang="en-IN" smtClean="0">
                <a:solidFill>
                  <a:srgbClr val="000000">
                    <a:tint val="75000"/>
                  </a:srgbClr>
                </a:solidFill>
              </a:rPr>
              <a:pPr/>
              <a:t>13</a:t>
            </a:fld>
            <a:endParaRPr lang="en-IN" dirty="0">
              <a:solidFill>
                <a:srgbClr val="000000">
                  <a:tint val="75000"/>
                </a:srgbClr>
              </a:solidFill>
            </a:endParaRPr>
          </a:p>
        </p:txBody>
      </p:sp>
    </p:spTree>
    <p:extLst>
      <p:ext uri="{BB962C8B-B14F-4D97-AF65-F5344CB8AC3E}">
        <p14:creationId xmlns:p14="http://schemas.microsoft.com/office/powerpoint/2010/main" val="19571625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grpSp>
        <p:nvGrpSpPr>
          <p:cNvPr id="8" name="Group 7"/>
          <p:cNvGrpSpPr/>
          <p:nvPr/>
        </p:nvGrpSpPr>
        <p:grpSpPr>
          <a:xfrm>
            <a:off x="1" y="237066"/>
            <a:ext cx="12192000" cy="497030"/>
            <a:chOff x="1" y="291779"/>
            <a:chExt cx="12192000" cy="523220"/>
          </a:xfrm>
        </p:grpSpPr>
        <p:cxnSp>
          <p:nvCxnSpPr>
            <p:cNvPr id="9" name="Straight Connector 8"/>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2627009" y="291779"/>
              <a:ext cx="6938118" cy="523220"/>
            </a:xfrm>
            <a:prstGeom prst="rect">
              <a:avLst/>
            </a:prstGeom>
            <a:solidFill>
              <a:schemeClr val="bg1"/>
            </a:solidFill>
          </p:spPr>
          <p:txBody>
            <a:bodyPr wrap="none" anchor="ctr">
              <a:spAutoFit/>
            </a:bodyPr>
            <a:lstStyle/>
            <a:p>
              <a:pPr algn="ctr">
                <a:defRPr/>
              </a:pPr>
              <a:r>
                <a:rPr lang="en-IN" sz="2800" b="1" kern="0" dirty="0">
                  <a:solidFill>
                    <a:srgbClr val="0070C0"/>
                  </a:solidFill>
                  <a:latin typeface="Leelawadee UI" panose="020B0502040204020203" pitchFamily="34" charset="-34"/>
                  <a:cs typeface="Leelawadee UI" panose="020B0502040204020203" pitchFamily="34" charset="-34"/>
                </a:rPr>
                <a:t>Summary of our Analytics Engagements</a:t>
              </a:r>
            </a:p>
          </p:txBody>
        </p:sp>
      </p:grpSp>
      <p:sp>
        <p:nvSpPr>
          <p:cNvPr id="4" name="Slide Number Placeholder 3"/>
          <p:cNvSpPr>
            <a:spLocks noGrp="1"/>
          </p:cNvSpPr>
          <p:nvPr>
            <p:ph type="sldNum" sz="quarter" idx="12"/>
          </p:nvPr>
        </p:nvSpPr>
        <p:spPr/>
        <p:txBody>
          <a:bodyPr/>
          <a:lstStyle/>
          <a:p>
            <a:pPr>
              <a:defRPr/>
            </a:pPr>
            <a:fld id="{3040F425-731D-4835-A38A-9545B9CAE996}" type="slidenum">
              <a:rPr lang="en-IN" sz="1800" kern="0" smtClean="0">
                <a:solidFill>
                  <a:sysClr val="windowText" lastClr="000000"/>
                </a:solidFill>
              </a:rPr>
              <a:pPr>
                <a:defRPr/>
              </a:pPr>
              <a:t>14</a:t>
            </a:fld>
            <a:endParaRPr lang="en-IN" sz="1800" kern="0" dirty="0">
              <a:solidFill>
                <a:sysClr val="windowText" lastClr="000000"/>
              </a:solidFill>
            </a:endParaRPr>
          </a:p>
        </p:txBody>
      </p:sp>
      <p:sp>
        <p:nvSpPr>
          <p:cNvPr id="12" name="Text Placeholder 5"/>
          <p:cNvSpPr txBox="1">
            <a:spLocks/>
          </p:cNvSpPr>
          <p:nvPr/>
        </p:nvSpPr>
        <p:spPr>
          <a:xfrm>
            <a:off x="245021" y="633515"/>
            <a:ext cx="11645721" cy="616849"/>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Clr>
                <a:srgbClr val="418AB3"/>
              </a:buClr>
              <a:buFont typeface="Wingdings 3" charset="2"/>
              <a:buNone/>
              <a:defRPr/>
            </a:pPr>
            <a:r>
              <a:rPr lang="en-IN" dirty="0" smtClean="0">
                <a:solidFill>
                  <a:srgbClr val="0070C0"/>
                </a:solidFill>
              </a:rPr>
              <a:t>Active engagements with 16 Group companies across a diverse set of initiatives ranging from Customer, Operations, Pricing, Risk management, Digital, and Geo location based decision management.  </a:t>
            </a:r>
            <a:endParaRPr lang="en-IN" b="1" dirty="0">
              <a:solidFill>
                <a:srgbClr val="0070C0"/>
              </a:solidFill>
            </a:endParaRPr>
          </a:p>
        </p:txBody>
      </p:sp>
      <p:cxnSp>
        <p:nvCxnSpPr>
          <p:cNvPr id="14" name="Straight Connector 13"/>
          <p:cNvCxnSpPr/>
          <p:nvPr/>
        </p:nvCxnSpPr>
        <p:spPr>
          <a:xfrm>
            <a:off x="326187" y="1263243"/>
            <a:ext cx="11457984"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pic>
        <p:nvPicPr>
          <p:cNvPr id="18" name="Picture 17"/>
          <p:cNvPicPr>
            <a:picLocks noChangeAspect="1"/>
          </p:cNvPicPr>
          <p:nvPr/>
        </p:nvPicPr>
        <p:blipFill>
          <a:blip r:embed="rId3"/>
          <a:stretch>
            <a:fillRect/>
          </a:stretch>
        </p:blipFill>
        <p:spPr>
          <a:xfrm>
            <a:off x="270779" y="1371892"/>
            <a:ext cx="11513392" cy="4889991"/>
          </a:xfrm>
          <a:prstGeom prst="rect">
            <a:avLst/>
          </a:prstGeom>
        </p:spPr>
      </p:pic>
    </p:spTree>
    <p:extLst>
      <p:ext uri="{BB962C8B-B14F-4D97-AF65-F5344CB8AC3E}">
        <p14:creationId xmlns:p14="http://schemas.microsoft.com/office/powerpoint/2010/main" val="21832529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 name="Picture 2" descr="http://ancientgreekparty.global2.vic.edu.au/files/2012/11/Doric-Column-10yjnto.jpg"/>
          <p:cNvPicPr>
            <a:picLocks noChangeAspect="1" noChangeArrowheads="1"/>
          </p:cNvPicPr>
          <p:nvPr/>
        </p:nvPicPr>
        <p:blipFill rotWithShape="1">
          <a:blip r:embed="rId2">
            <a:duotone>
              <a:schemeClr val="bg2">
                <a:shade val="45000"/>
                <a:satMod val="135000"/>
              </a:schemeClr>
              <a:prstClr val="white"/>
            </a:duotone>
            <a:extLst>
              <a:ext uri="{28A0092B-C50C-407E-A947-70E740481C1C}">
                <a14:useLocalDpi xmlns:a14="http://schemas.microsoft.com/office/drawing/2010/main" val="0"/>
              </a:ext>
            </a:extLst>
          </a:blip>
          <a:srcRect l="32692" r="30836"/>
          <a:stretch/>
        </p:blipFill>
        <p:spPr bwMode="auto">
          <a:xfrm>
            <a:off x="1497750" y="3135248"/>
            <a:ext cx="1042332" cy="1806013"/>
          </a:xfrm>
          <a:prstGeom prst="rect">
            <a:avLst/>
          </a:prstGeom>
          <a:noFill/>
          <a:extLst>
            <a:ext uri="{909E8E84-426E-40DD-AFC4-6F175D3DCCD1}">
              <a14:hiddenFill xmlns:a14="http://schemas.microsoft.com/office/drawing/2010/main">
                <a:solidFill>
                  <a:srgbClr val="FFFFFF"/>
                </a:solidFill>
              </a14:hiddenFill>
            </a:ext>
          </a:extLst>
        </p:spPr>
      </p:pic>
      <p:sp>
        <p:nvSpPr>
          <p:cNvPr id="131" name="Flowchart: Manual Input 130"/>
          <p:cNvSpPr/>
          <p:nvPr/>
        </p:nvSpPr>
        <p:spPr>
          <a:xfrm flipH="1" flipV="1">
            <a:off x="2508433" y="2755872"/>
            <a:ext cx="1312830" cy="499441"/>
          </a:xfrm>
          <a:prstGeom prst="flowChartManualInpu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10" name="Flowchart: Manual Operation 9"/>
          <p:cNvSpPr/>
          <p:nvPr/>
        </p:nvSpPr>
        <p:spPr>
          <a:xfrm rot="16200000">
            <a:off x="2938002" y="1763854"/>
            <a:ext cx="496517" cy="1312830"/>
          </a:xfrm>
          <a:prstGeom prst="flowChartManualOperation">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125" name="Rectangle 124"/>
          <p:cNvSpPr/>
          <p:nvPr/>
        </p:nvSpPr>
        <p:spPr>
          <a:xfrm>
            <a:off x="162608" y="1598399"/>
            <a:ext cx="2319030" cy="502285"/>
          </a:xfrm>
          <a:prstGeom prst="rect">
            <a:avLst/>
          </a:prstGeom>
          <a:solidFill>
            <a:schemeClr val="bg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prstClr val="black"/>
                </a:solidFill>
              </a:rPr>
              <a:t>Tata iQ Proprietary </a:t>
            </a:r>
            <a:r>
              <a:rPr lang="en-IN" sz="1400" dirty="0">
                <a:solidFill>
                  <a:prstClr val="black"/>
                </a:solidFill>
              </a:rPr>
              <a:t>Database</a:t>
            </a:r>
          </a:p>
        </p:txBody>
      </p:sp>
      <p:sp>
        <p:nvSpPr>
          <p:cNvPr id="6" name="Flowchart: Manual Input 5"/>
          <p:cNvSpPr/>
          <p:nvPr/>
        </p:nvSpPr>
        <p:spPr>
          <a:xfrm flipH="1">
            <a:off x="2506480" y="1600440"/>
            <a:ext cx="1285906" cy="499441"/>
          </a:xfrm>
          <a:prstGeom prst="flowChartManualInpu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nvGrpSpPr>
          <p:cNvPr id="12" name="Group 11"/>
          <p:cNvGrpSpPr/>
          <p:nvPr/>
        </p:nvGrpSpPr>
        <p:grpSpPr>
          <a:xfrm>
            <a:off x="1" y="-189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1043147" y="291779"/>
              <a:ext cx="10105715" cy="523220"/>
            </a:xfrm>
            <a:prstGeom prst="rect">
              <a:avLst/>
            </a:prstGeom>
            <a:solidFill>
              <a:schemeClr val="bg1"/>
            </a:solidFill>
          </p:spPr>
          <p:txBody>
            <a:bodyPr wrap="none" anchor="ctr">
              <a:spAutoFit/>
            </a:bodyPr>
            <a:lstStyle/>
            <a:p>
              <a:pPr algn="ctr"/>
              <a:r>
                <a:rPr lang="en-IN" sz="2800" b="1" dirty="0">
                  <a:solidFill>
                    <a:srgbClr val="0070C0"/>
                  </a:solidFill>
                  <a:latin typeface="Leelawadee UI" panose="020B0502040204020203" pitchFamily="34" charset="-34"/>
                  <a:cs typeface="Leelawadee UI" panose="020B0502040204020203" pitchFamily="34" charset="-34"/>
                </a:rPr>
                <a:t>Tata iQ is Creating the Richest and Most Valuable Database</a:t>
              </a:r>
            </a:p>
          </p:txBody>
        </p:sp>
      </p:grpSp>
      <p:grpSp>
        <p:nvGrpSpPr>
          <p:cNvPr id="176" name="Group 175"/>
          <p:cNvGrpSpPr/>
          <p:nvPr/>
        </p:nvGrpSpPr>
        <p:grpSpPr>
          <a:xfrm flipH="1">
            <a:off x="9097176" y="4256492"/>
            <a:ext cx="1886265" cy="154250"/>
            <a:chOff x="600166" y="5398225"/>
            <a:chExt cx="2418018" cy="343749"/>
          </a:xfrm>
        </p:grpSpPr>
        <p:grpSp>
          <p:nvGrpSpPr>
            <p:cNvPr id="192" name="Group 191"/>
            <p:cNvGrpSpPr/>
            <p:nvPr/>
          </p:nvGrpSpPr>
          <p:grpSpPr>
            <a:xfrm>
              <a:off x="1204668" y="5398225"/>
              <a:ext cx="1209011" cy="343749"/>
              <a:chOff x="1384696" y="5417889"/>
              <a:chExt cx="1209011" cy="343749"/>
            </a:xfrm>
          </p:grpSpPr>
          <p:cxnSp>
            <p:nvCxnSpPr>
              <p:cNvPr id="195" name="Straight Connector 194"/>
              <p:cNvCxnSpPr/>
              <p:nvPr/>
            </p:nvCxnSpPr>
            <p:spPr>
              <a:xfrm flipH="1">
                <a:off x="2593707" y="5417899"/>
                <a:ext cx="0" cy="343739"/>
              </a:xfrm>
              <a:prstGeom prst="line">
                <a:avLst/>
              </a:prstGeom>
              <a:ln w="28575">
                <a:solidFill>
                  <a:srgbClr val="3D67B1"/>
                </a:solidFill>
                <a:prstDash val="solid"/>
              </a:ln>
            </p:spPr>
            <p:style>
              <a:lnRef idx="1">
                <a:schemeClr val="accent1"/>
              </a:lnRef>
              <a:fillRef idx="0">
                <a:schemeClr val="accent1"/>
              </a:fillRef>
              <a:effectRef idx="0">
                <a:schemeClr val="accent1"/>
              </a:effectRef>
              <a:fontRef idx="minor">
                <a:schemeClr val="tx1"/>
              </a:fontRef>
            </p:style>
          </p:cxnSp>
          <p:cxnSp>
            <p:nvCxnSpPr>
              <p:cNvPr id="196" name="Straight Connector 195"/>
              <p:cNvCxnSpPr/>
              <p:nvPr/>
            </p:nvCxnSpPr>
            <p:spPr>
              <a:xfrm flipH="1">
                <a:off x="1989202" y="5417889"/>
                <a:ext cx="0" cy="343739"/>
              </a:xfrm>
              <a:prstGeom prst="line">
                <a:avLst/>
              </a:prstGeom>
              <a:ln w="28575">
                <a:solidFill>
                  <a:srgbClr val="3D67B1"/>
                </a:solidFill>
                <a:prstDash val="solid"/>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a:xfrm flipH="1">
                <a:off x="1384696" y="5417889"/>
                <a:ext cx="0" cy="343739"/>
              </a:xfrm>
              <a:prstGeom prst="line">
                <a:avLst/>
              </a:prstGeom>
              <a:ln w="28575">
                <a:solidFill>
                  <a:srgbClr val="3D67B1"/>
                </a:solidFill>
                <a:prstDash val="solid"/>
              </a:ln>
            </p:spPr>
            <p:style>
              <a:lnRef idx="1">
                <a:schemeClr val="accent1"/>
              </a:lnRef>
              <a:fillRef idx="0">
                <a:schemeClr val="accent1"/>
              </a:fillRef>
              <a:effectRef idx="0">
                <a:schemeClr val="accent1"/>
              </a:effectRef>
              <a:fontRef idx="minor">
                <a:schemeClr val="tx1"/>
              </a:fontRef>
            </p:style>
          </p:cxnSp>
        </p:grpSp>
        <p:cxnSp>
          <p:nvCxnSpPr>
            <p:cNvPr id="193" name="Straight Connector 192"/>
            <p:cNvCxnSpPr/>
            <p:nvPr/>
          </p:nvCxnSpPr>
          <p:spPr>
            <a:xfrm flipH="1">
              <a:off x="3018184" y="5398235"/>
              <a:ext cx="0" cy="343738"/>
            </a:xfrm>
            <a:prstGeom prst="line">
              <a:avLst/>
            </a:prstGeom>
            <a:ln w="28575">
              <a:solidFill>
                <a:srgbClr val="3D67B1"/>
              </a:solidFill>
              <a:prstDash val="solid"/>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a:xfrm flipH="1">
              <a:off x="600166" y="5398225"/>
              <a:ext cx="0" cy="343739"/>
            </a:xfrm>
            <a:prstGeom prst="line">
              <a:avLst/>
            </a:prstGeom>
            <a:ln w="28575">
              <a:solidFill>
                <a:srgbClr val="3D67B1"/>
              </a:solidFill>
              <a:prstDash val="solid"/>
            </a:ln>
          </p:spPr>
          <p:style>
            <a:lnRef idx="1">
              <a:schemeClr val="accent1"/>
            </a:lnRef>
            <a:fillRef idx="0">
              <a:schemeClr val="accent1"/>
            </a:fillRef>
            <a:effectRef idx="0">
              <a:schemeClr val="accent1"/>
            </a:effectRef>
            <a:fontRef idx="minor">
              <a:schemeClr val="tx1"/>
            </a:fontRef>
          </p:style>
        </p:cxnSp>
      </p:grpSp>
      <p:sp>
        <p:nvSpPr>
          <p:cNvPr id="185" name="Rectangle 184"/>
          <p:cNvSpPr/>
          <p:nvPr/>
        </p:nvSpPr>
        <p:spPr>
          <a:xfrm flipH="1">
            <a:off x="8675313" y="1305787"/>
            <a:ext cx="3516685" cy="396346"/>
          </a:xfrm>
          <a:prstGeom prst="rect">
            <a:avLst/>
          </a:prstGeom>
          <a:solidFill>
            <a:srgbClr val="EB8027"/>
          </a:solidFill>
          <a:ln>
            <a:solidFill>
              <a:srgbClr val="EB80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b="1" dirty="0">
                <a:solidFill>
                  <a:prstClr val="white"/>
                </a:solidFill>
              </a:rPr>
              <a:t>Identifier Information</a:t>
            </a:r>
          </a:p>
        </p:txBody>
      </p:sp>
      <p:sp>
        <p:nvSpPr>
          <p:cNvPr id="186" name="Rectangle 185"/>
          <p:cNvSpPr/>
          <p:nvPr/>
        </p:nvSpPr>
        <p:spPr>
          <a:xfrm flipH="1">
            <a:off x="8675314" y="1818949"/>
            <a:ext cx="3516685" cy="396346"/>
          </a:xfrm>
          <a:prstGeom prst="rect">
            <a:avLst/>
          </a:prstGeom>
          <a:solidFill>
            <a:srgbClr val="13B6E7"/>
          </a:solidFill>
          <a:ln>
            <a:solidFill>
              <a:srgbClr val="13B6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b="1" dirty="0">
                <a:solidFill>
                  <a:prstClr val="white"/>
                </a:solidFill>
              </a:rPr>
              <a:t>Purchase Behaviour</a:t>
            </a:r>
          </a:p>
        </p:txBody>
      </p:sp>
      <p:sp>
        <p:nvSpPr>
          <p:cNvPr id="187" name="Rectangle 186"/>
          <p:cNvSpPr/>
          <p:nvPr/>
        </p:nvSpPr>
        <p:spPr>
          <a:xfrm flipH="1">
            <a:off x="8675316" y="2332111"/>
            <a:ext cx="3516682" cy="396346"/>
          </a:xfrm>
          <a:prstGeom prst="rect">
            <a:avLst/>
          </a:prstGeom>
          <a:solidFill>
            <a:srgbClr val="84C041"/>
          </a:solidFill>
          <a:ln>
            <a:solidFill>
              <a:srgbClr val="84C0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b="1" dirty="0">
                <a:solidFill>
                  <a:prstClr val="white"/>
                </a:solidFill>
              </a:rPr>
              <a:t>Location &amp; Demographics</a:t>
            </a:r>
          </a:p>
        </p:txBody>
      </p:sp>
      <p:sp>
        <p:nvSpPr>
          <p:cNvPr id="188" name="Rectangle 187"/>
          <p:cNvSpPr/>
          <p:nvPr/>
        </p:nvSpPr>
        <p:spPr>
          <a:xfrm flipH="1">
            <a:off x="8675316" y="2843961"/>
            <a:ext cx="3516681" cy="396346"/>
          </a:xfrm>
          <a:prstGeom prst="rect">
            <a:avLst/>
          </a:prstGeom>
          <a:solidFill>
            <a:srgbClr val="FCB215"/>
          </a:solidFill>
          <a:ln>
            <a:solidFill>
              <a:srgbClr val="FCB2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b="1" dirty="0">
                <a:solidFill>
                  <a:prstClr val="white"/>
                </a:solidFill>
              </a:rPr>
              <a:t>Digital Persona</a:t>
            </a:r>
          </a:p>
        </p:txBody>
      </p:sp>
      <p:sp>
        <p:nvSpPr>
          <p:cNvPr id="189" name="Rectangle 188"/>
          <p:cNvSpPr/>
          <p:nvPr/>
        </p:nvSpPr>
        <p:spPr>
          <a:xfrm flipH="1">
            <a:off x="8675318" y="3358434"/>
            <a:ext cx="3516678" cy="396346"/>
          </a:xfrm>
          <a:prstGeom prst="rect">
            <a:avLst/>
          </a:prstGeom>
          <a:solidFill>
            <a:srgbClr val="D65628"/>
          </a:solidFill>
          <a:ln>
            <a:solidFill>
              <a:srgbClr val="D656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b="1" dirty="0">
                <a:solidFill>
                  <a:prstClr val="white"/>
                </a:solidFill>
              </a:rPr>
              <a:t>Associations, Clubs and Passions</a:t>
            </a:r>
          </a:p>
        </p:txBody>
      </p:sp>
      <p:sp>
        <p:nvSpPr>
          <p:cNvPr id="190" name="Rectangle 189"/>
          <p:cNvSpPr/>
          <p:nvPr/>
        </p:nvSpPr>
        <p:spPr>
          <a:xfrm flipH="1">
            <a:off x="8675318" y="3871596"/>
            <a:ext cx="3516677" cy="396346"/>
          </a:xfrm>
          <a:prstGeom prst="rect">
            <a:avLst/>
          </a:prstGeom>
          <a:solidFill>
            <a:srgbClr val="EE315F"/>
          </a:solidFill>
          <a:ln>
            <a:solidFill>
              <a:srgbClr val="EE31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b="1" dirty="0">
                <a:solidFill>
                  <a:prstClr val="white"/>
                </a:solidFill>
              </a:rPr>
              <a:t>Individuals, Households and Lineages</a:t>
            </a:r>
          </a:p>
        </p:txBody>
      </p:sp>
      <p:sp>
        <p:nvSpPr>
          <p:cNvPr id="191" name="Rectangle 190"/>
          <p:cNvSpPr/>
          <p:nvPr/>
        </p:nvSpPr>
        <p:spPr>
          <a:xfrm flipH="1">
            <a:off x="8675318" y="4384758"/>
            <a:ext cx="3516681" cy="396346"/>
          </a:xfrm>
          <a:prstGeom prst="rect">
            <a:avLst/>
          </a:prstGeom>
          <a:solidFill>
            <a:srgbClr val="3D67B1"/>
          </a:solidFill>
          <a:ln>
            <a:solidFill>
              <a:srgbClr val="3D67B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b="1" dirty="0">
                <a:solidFill>
                  <a:prstClr val="white"/>
                </a:solidFill>
              </a:rPr>
              <a:t>Tata Company Relationships</a:t>
            </a:r>
          </a:p>
        </p:txBody>
      </p:sp>
      <p:grpSp>
        <p:nvGrpSpPr>
          <p:cNvPr id="2" name="Group 1"/>
          <p:cNvGrpSpPr/>
          <p:nvPr/>
        </p:nvGrpSpPr>
        <p:grpSpPr>
          <a:xfrm>
            <a:off x="0" y="4919642"/>
            <a:ext cx="12192000" cy="1386742"/>
            <a:chOff x="0" y="5321978"/>
            <a:chExt cx="12192000" cy="1386742"/>
          </a:xfrm>
        </p:grpSpPr>
        <p:grpSp>
          <p:nvGrpSpPr>
            <p:cNvPr id="254" name="Group 253"/>
            <p:cNvGrpSpPr/>
            <p:nvPr/>
          </p:nvGrpSpPr>
          <p:grpSpPr>
            <a:xfrm>
              <a:off x="0" y="5321978"/>
              <a:ext cx="12192000" cy="254000"/>
              <a:chOff x="-996320" y="5511929"/>
              <a:chExt cx="13188320" cy="274757"/>
            </a:xfrm>
          </p:grpSpPr>
          <p:pic>
            <p:nvPicPr>
              <p:cNvPr id="238" name="Picture 237"/>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1367730" y="5511929"/>
                <a:ext cx="824270" cy="274757"/>
              </a:xfrm>
              <a:prstGeom prst="rect">
                <a:avLst/>
              </a:prstGeom>
            </p:spPr>
          </p:pic>
          <p:pic>
            <p:nvPicPr>
              <p:cNvPr id="239" name="Picture 238"/>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10543460" y="5511929"/>
                <a:ext cx="824270" cy="274757"/>
              </a:xfrm>
              <a:prstGeom prst="rect">
                <a:avLst/>
              </a:prstGeom>
            </p:spPr>
          </p:pic>
          <p:pic>
            <p:nvPicPr>
              <p:cNvPr id="240" name="Picture 239"/>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9719190" y="5511929"/>
                <a:ext cx="824270" cy="274757"/>
              </a:xfrm>
              <a:prstGeom prst="rect">
                <a:avLst/>
              </a:prstGeom>
            </p:spPr>
          </p:pic>
          <p:pic>
            <p:nvPicPr>
              <p:cNvPr id="241" name="Picture 240"/>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8894920" y="5511929"/>
                <a:ext cx="824270" cy="274757"/>
              </a:xfrm>
              <a:prstGeom prst="rect">
                <a:avLst/>
              </a:prstGeom>
            </p:spPr>
          </p:pic>
          <p:pic>
            <p:nvPicPr>
              <p:cNvPr id="242" name="Picture 241"/>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8070650" y="5511929"/>
                <a:ext cx="824270" cy="274757"/>
              </a:xfrm>
              <a:prstGeom prst="rect">
                <a:avLst/>
              </a:prstGeom>
            </p:spPr>
          </p:pic>
          <p:pic>
            <p:nvPicPr>
              <p:cNvPr id="243" name="Picture 24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7246380" y="5511929"/>
                <a:ext cx="824270" cy="274757"/>
              </a:xfrm>
              <a:prstGeom prst="rect">
                <a:avLst/>
              </a:prstGeom>
            </p:spPr>
          </p:pic>
          <p:pic>
            <p:nvPicPr>
              <p:cNvPr id="244" name="Picture 24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422110" y="5511929"/>
                <a:ext cx="824270" cy="274757"/>
              </a:xfrm>
              <a:prstGeom prst="rect">
                <a:avLst/>
              </a:prstGeom>
            </p:spPr>
          </p:pic>
          <p:pic>
            <p:nvPicPr>
              <p:cNvPr id="245" name="Picture 244"/>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5597840" y="5511929"/>
                <a:ext cx="824270" cy="274757"/>
              </a:xfrm>
              <a:prstGeom prst="rect">
                <a:avLst/>
              </a:prstGeom>
            </p:spPr>
          </p:pic>
          <p:pic>
            <p:nvPicPr>
              <p:cNvPr id="246" name="Picture 245"/>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773570" y="5511929"/>
                <a:ext cx="824270" cy="274757"/>
              </a:xfrm>
              <a:prstGeom prst="rect">
                <a:avLst/>
              </a:prstGeom>
            </p:spPr>
          </p:pic>
          <p:pic>
            <p:nvPicPr>
              <p:cNvPr id="247" name="Picture 246"/>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3949300" y="5511929"/>
                <a:ext cx="824270" cy="274757"/>
              </a:xfrm>
              <a:prstGeom prst="rect">
                <a:avLst/>
              </a:prstGeom>
            </p:spPr>
          </p:pic>
          <p:pic>
            <p:nvPicPr>
              <p:cNvPr id="248" name="Picture 247"/>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3125030" y="5511929"/>
                <a:ext cx="824270" cy="274757"/>
              </a:xfrm>
              <a:prstGeom prst="rect">
                <a:avLst/>
              </a:prstGeom>
            </p:spPr>
          </p:pic>
          <p:pic>
            <p:nvPicPr>
              <p:cNvPr id="249" name="Picture 248"/>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2300760" y="5511929"/>
                <a:ext cx="824270" cy="274757"/>
              </a:xfrm>
              <a:prstGeom prst="rect">
                <a:avLst/>
              </a:prstGeom>
            </p:spPr>
          </p:pic>
          <p:pic>
            <p:nvPicPr>
              <p:cNvPr id="250" name="Picture 249"/>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476490" y="5511929"/>
                <a:ext cx="824270" cy="274757"/>
              </a:xfrm>
              <a:prstGeom prst="rect">
                <a:avLst/>
              </a:prstGeom>
            </p:spPr>
          </p:pic>
          <p:pic>
            <p:nvPicPr>
              <p:cNvPr id="251" name="Picture 250"/>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652220" y="5511929"/>
                <a:ext cx="824270" cy="274757"/>
              </a:xfrm>
              <a:prstGeom prst="rect">
                <a:avLst/>
              </a:prstGeom>
            </p:spPr>
          </p:pic>
          <p:pic>
            <p:nvPicPr>
              <p:cNvPr id="252" name="Picture 251"/>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72050" y="5511929"/>
                <a:ext cx="824270" cy="274757"/>
              </a:xfrm>
              <a:prstGeom prst="rect">
                <a:avLst/>
              </a:prstGeom>
            </p:spPr>
          </p:pic>
          <p:pic>
            <p:nvPicPr>
              <p:cNvPr id="253" name="Picture 25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996320" y="5511929"/>
                <a:ext cx="824270" cy="274757"/>
              </a:xfrm>
              <a:prstGeom prst="rect">
                <a:avLst/>
              </a:prstGeom>
            </p:spPr>
          </p:pic>
        </p:grpSp>
        <p:sp>
          <p:nvSpPr>
            <p:cNvPr id="255" name="Rectangle 254"/>
            <p:cNvSpPr/>
            <p:nvPr/>
          </p:nvSpPr>
          <p:spPr>
            <a:xfrm>
              <a:off x="5066266" y="5821379"/>
              <a:ext cx="2059468" cy="461664"/>
            </a:xfrm>
            <a:prstGeom prst="rect">
              <a:avLst/>
            </a:prstGeom>
          </p:spPr>
          <p:txBody>
            <a:bodyPr wrap="square">
              <a:spAutoFit/>
            </a:bodyPr>
            <a:lstStyle/>
            <a:p>
              <a:pPr algn="ctr"/>
              <a:r>
                <a:rPr lang="en-IN" sz="2400" dirty="0">
                  <a:solidFill>
                    <a:prstClr val="black"/>
                  </a:solidFill>
                  <a:latin typeface="Leelawadee UI" panose="020B0502040204020203" pitchFamily="34" charset="-34"/>
                  <a:cs typeface="Leelawadee UI" panose="020B0502040204020203" pitchFamily="34" charset="-34"/>
                </a:rPr>
                <a:t>ON THE</a:t>
              </a:r>
            </a:p>
          </p:txBody>
        </p:sp>
        <p:grpSp>
          <p:nvGrpSpPr>
            <p:cNvPr id="270" name="Group 269"/>
            <p:cNvGrpSpPr/>
            <p:nvPr/>
          </p:nvGrpSpPr>
          <p:grpSpPr>
            <a:xfrm>
              <a:off x="1158420" y="5668510"/>
              <a:ext cx="683080" cy="683080"/>
              <a:chOff x="986796" y="5626903"/>
              <a:chExt cx="816796" cy="816796"/>
            </a:xfrm>
          </p:grpSpPr>
          <p:sp>
            <p:nvSpPr>
              <p:cNvPr id="258" name="Oval 257"/>
              <p:cNvSpPr/>
              <p:nvPr/>
            </p:nvSpPr>
            <p:spPr>
              <a:xfrm>
                <a:off x="986796" y="5626903"/>
                <a:ext cx="816796" cy="816796"/>
              </a:xfrm>
              <a:prstGeom prst="ellipse">
                <a:avLst/>
              </a:prstGeom>
              <a:noFill/>
              <a:ln w="3810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pic>
            <p:nvPicPr>
              <p:cNvPr id="259" name="Picture 14" descr="http://www.safenet-inc.com/uploadedImages/images/Icons/orange-checklist-clipboard.png"/>
              <p:cNvPicPr>
                <a:picLocks noChangeAspect="1" noChangeArrowheads="1"/>
              </p:cNvPicPr>
              <p:nvPr/>
            </p:nvPicPr>
            <p:blipFill>
              <a:blip r:embed="rId4" cstate="email">
                <a:duotone>
                  <a:prstClr val="black"/>
                  <a:schemeClr val="accent4">
                    <a:tint val="45000"/>
                    <a:satMod val="400000"/>
                  </a:schemeClr>
                </a:duotone>
                <a:extLst>
                  <a:ext uri="{BEBA8EAE-BF5A-486C-A8C5-ECC9F3942E4B}">
                    <a14:imgProps xmlns:a14="http://schemas.microsoft.com/office/drawing/2010/main">
                      <a14:imgLayer r:embed="rId5">
                        <a14:imgEffect>
                          <a14:brightnessContrast bright="-20000" contrast="40000"/>
                        </a14:imgEffect>
                      </a14:imgLayer>
                    </a14:imgProps>
                  </a:ext>
                  <a:ext uri="{28A0092B-C50C-407E-A947-70E740481C1C}">
                    <a14:useLocalDpi xmlns:a14="http://schemas.microsoft.com/office/drawing/2010/main"/>
                  </a:ext>
                </a:extLst>
              </a:blip>
              <a:srcRect/>
              <a:stretch>
                <a:fillRect/>
              </a:stretch>
            </p:blipFill>
            <p:spPr bwMode="auto">
              <a:xfrm>
                <a:off x="1090459" y="5719421"/>
                <a:ext cx="586607" cy="586608"/>
              </a:xfrm>
              <a:prstGeom prst="rect">
                <a:avLst/>
              </a:prstGeom>
              <a:noFill/>
              <a:ln>
                <a:noFill/>
              </a:ln>
              <a:extLst>
                <a:ext uri="{909E8E84-426E-40DD-AFC4-6F175D3DCCD1}">
                  <a14:hiddenFill xmlns:a14="http://schemas.microsoft.com/office/drawing/2010/main">
                    <a:solidFill>
                      <a:srgbClr val="FFFFFF"/>
                    </a:solidFill>
                  </a14:hiddenFill>
                </a:ext>
              </a:extLst>
            </p:spPr>
          </p:pic>
        </p:grpSp>
        <p:grpSp>
          <p:nvGrpSpPr>
            <p:cNvPr id="272" name="Group 271"/>
            <p:cNvGrpSpPr/>
            <p:nvPr/>
          </p:nvGrpSpPr>
          <p:grpSpPr>
            <a:xfrm>
              <a:off x="10357682" y="5669376"/>
              <a:ext cx="710568" cy="691910"/>
              <a:chOff x="10183367" y="5652310"/>
              <a:chExt cx="849666" cy="827357"/>
            </a:xfrm>
          </p:grpSpPr>
          <p:sp>
            <p:nvSpPr>
              <p:cNvPr id="267" name="Oval 266"/>
              <p:cNvSpPr/>
              <p:nvPr/>
            </p:nvSpPr>
            <p:spPr>
              <a:xfrm>
                <a:off x="10194522" y="5652310"/>
                <a:ext cx="827357" cy="827357"/>
              </a:xfrm>
              <a:prstGeom prst="ellipse">
                <a:avLst/>
              </a:prstGeom>
              <a:no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pic>
            <p:nvPicPr>
              <p:cNvPr id="268" name="Picture 2" descr="http://www.marcresearch.com/blogs/merrill/wp-content/uploads/2015/05/Thumbs-up-thumbs-down.gif"/>
              <p:cNvPicPr>
                <a:picLocks noChangeAspect="1" noChangeArrowheads="1"/>
              </p:cNvPicPr>
              <p:nvPr/>
            </p:nvPicPr>
            <p:blipFill>
              <a:blip r:embed="rId6" cstate="email">
                <a:clrChange>
                  <a:clrFrom>
                    <a:srgbClr val="FCFEFC"/>
                  </a:clrFrom>
                  <a:clrTo>
                    <a:srgbClr val="FCFEFC">
                      <a:alpha val="0"/>
                    </a:srgbClr>
                  </a:clrTo>
                </a:clrChange>
                <a:extLst>
                  <a:ext uri="{28A0092B-C50C-407E-A947-70E740481C1C}">
                    <a14:useLocalDpi xmlns:a14="http://schemas.microsoft.com/office/drawing/2010/main"/>
                  </a:ext>
                </a:extLst>
              </a:blip>
              <a:srcRect/>
              <a:stretch>
                <a:fillRect/>
              </a:stretch>
            </p:blipFill>
            <p:spPr bwMode="auto">
              <a:xfrm>
                <a:off x="10183367" y="5792669"/>
                <a:ext cx="849666" cy="546638"/>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273" name="Rectangle 272"/>
            <p:cNvSpPr/>
            <p:nvPr/>
          </p:nvSpPr>
          <p:spPr>
            <a:xfrm>
              <a:off x="5066266" y="6058681"/>
              <a:ext cx="2059468" cy="461664"/>
            </a:xfrm>
            <a:prstGeom prst="rect">
              <a:avLst/>
            </a:prstGeom>
          </p:spPr>
          <p:txBody>
            <a:bodyPr wrap="square">
              <a:spAutoFit/>
            </a:bodyPr>
            <a:lstStyle/>
            <a:p>
              <a:pPr algn="ctr"/>
              <a:r>
                <a:rPr lang="en-IN" sz="2400" b="1" dirty="0">
                  <a:solidFill>
                    <a:srgbClr val="3F51B5"/>
                  </a:solidFill>
                  <a:latin typeface="Leelawadee UI" panose="020B0502040204020203" pitchFamily="34" charset="-34"/>
                  <a:cs typeface="Leelawadee UI" panose="020B0502040204020203" pitchFamily="34" charset="-34"/>
                </a:rPr>
                <a:t>BEDROCK</a:t>
              </a:r>
              <a:r>
                <a:rPr lang="en-IN" sz="2400" b="1" dirty="0">
                  <a:solidFill>
                    <a:prstClr val="black"/>
                  </a:solidFill>
                  <a:latin typeface="Leelawadee UI" panose="020B0502040204020203" pitchFamily="34" charset="-34"/>
                  <a:cs typeface="Leelawadee UI" panose="020B0502040204020203" pitchFamily="34" charset="-34"/>
                </a:rPr>
                <a:t> </a:t>
              </a:r>
              <a:r>
                <a:rPr lang="en-IN" sz="2400" dirty="0">
                  <a:solidFill>
                    <a:prstClr val="black"/>
                  </a:solidFill>
                  <a:latin typeface="Leelawadee UI" panose="020B0502040204020203" pitchFamily="34" charset="-34"/>
                  <a:cs typeface="Leelawadee UI" panose="020B0502040204020203" pitchFamily="34" charset="-34"/>
                </a:rPr>
                <a:t>OF</a:t>
              </a:r>
            </a:p>
          </p:txBody>
        </p:sp>
        <p:sp>
          <p:nvSpPr>
            <p:cNvPr id="282" name="TextBox 281"/>
            <p:cNvSpPr txBox="1"/>
            <p:nvPr/>
          </p:nvSpPr>
          <p:spPr bwMode="gray">
            <a:xfrm flipH="1">
              <a:off x="777420" y="6459458"/>
              <a:ext cx="1445080" cy="249262"/>
            </a:xfrm>
            <a:prstGeom prst="rect">
              <a:avLst/>
            </a:prstGeom>
            <a:noFill/>
          </p:spPr>
          <p:txBody>
            <a:bodyPr vert="horz" wrap="square" lIns="91440" tIns="45720" rIns="91440" bIns="45720" rtlCol="0" anchor="ctr">
              <a:noAutofit/>
            </a:bodyPr>
            <a:lstStyle/>
            <a:p>
              <a:pPr algn="ctr" defTabSz="457200"/>
              <a:r>
                <a:rPr lang="en-IN" sz="1400" b="1" spc="50" dirty="0">
                  <a:ln w="0"/>
                  <a:solidFill>
                    <a:srgbClr val="212745">
                      <a:lumMod val="50000"/>
                    </a:srgbClr>
                  </a:solidFill>
                  <a:effectLst>
                    <a:innerShdw blurRad="63500" dist="50800" dir="13500000">
                      <a:srgbClr val="000000">
                        <a:alpha val="50000"/>
                      </a:srgbClr>
                    </a:innerShdw>
                  </a:effectLst>
                  <a:latin typeface="Leelawadee UI" panose="020B0502040204020203" pitchFamily="34" charset="-34"/>
                  <a:cs typeface="Leelawadee UI" panose="020B0502040204020203" pitchFamily="34" charset="-34"/>
                </a:rPr>
                <a:t>ISO 27001</a:t>
              </a:r>
            </a:p>
            <a:p>
              <a:pPr algn="ctr" defTabSz="457200"/>
              <a:r>
                <a:rPr lang="en-IN" sz="1400" b="1" spc="50" dirty="0">
                  <a:ln w="0"/>
                  <a:solidFill>
                    <a:srgbClr val="212745">
                      <a:lumMod val="50000"/>
                    </a:srgbClr>
                  </a:solidFill>
                  <a:effectLst>
                    <a:innerShdw blurRad="63500" dist="50800" dir="13500000">
                      <a:srgbClr val="000000">
                        <a:alpha val="50000"/>
                      </a:srgbClr>
                    </a:innerShdw>
                  </a:effectLst>
                  <a:latin typeface="Leelawadee UI" panose="020B0502040204020203" pitchFamily="34" charset="-34"/>
                  <a:cs typeface="Leelawadee UI" panose="020B0502040204020203" pitchFamily="34" charset="-34"/>
                </a:rPr>
                <a:t>Certification</a:t>
              </a:r>
            </a:p>
          </p:txBody>
        </p:sp>
        <p:grpSp>
          <p:nvGrpSpPr>
            <p:cNvPr id="287" name="Group 286"/>
            <p:cNvGrpSpPr/>
            <p:nvPr/>
          </p:nvGrpSpPr>
          <p:grpSpPr>
            <a:xfrm>
              <a:off x="2969158" y="5668485"/>
              <a:ext cx="1615542" cy="1040235"/>
              <a:chOff x="2588158" y="5668485"/>
              <a:chExt cx="1615542" cy="1040235"/>
            </a:xfrm>
          </p:grpSpPr>
          <p:grpSp>
            <p:nvGrpSpPr>
              <p:cNvPr id="269" name="Group 268"/>
              <p:cNvGrpSpPr/>
              <p:nvPr/>
            </p:nvGrpSpPr>
            <p:grpSpPr>
              <a:xfrm>
                <a:off x="3050989" y="5668485"/>
                <a:ext cx="689880" cy="682832"/>
                <a:chOff x="3405665" y="5654978"/>
                <a:chExt cx="824926" cy="816498"/>
              </a:xfrm>
            </p:grpSpPr>
            <p:sp>
              <p:nvSpPr>
                <p:cNvPr id="263" name="Oval 262"/>
                <p:cNvSpPr/>
                <p:nvPr/>
              </p:nvSpPr>
              <p:spPr>
                <a:xfrm>
                  <a:off x="3409879" y="5654978"/>
                  <a:ext cx="816498" cy="816498"/>
                </a:xfrm>
                <a:prstGeom prst="ellipse">
                  <a:avLst/>
                </a:prstGeom>
                <a:noFill/>
                <a:ln w="38100">
                  <a:solidFill>
                    <a:srgbClr val="A9494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pic>
              <p:nvPicPr>
                <p:cNvPr id="264" name="Picture 20" descr="http://www.utahcountylistings.com/extra/images/confidential_real_estate.jpg"/>
                <p:cNvPicPr>
                  <a:picLocks noChangeAspect="1" noChangeArrowheads="1"/>
                </p:cNvPicPr>
                <p:nvPr/>
              </p:nvPicPr>
              <p:blipFill rotWithShape="1">
                <a:blip r:embed="rId7"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3405665" y="5794946"/>
                  <a:ext cx="824926" cy="536562"/>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283" name="TextBox 282"/>
              <p:cNvSpPr txBox="1"/>
              <p:nvPr/>
            </p:nvSpPr>
            <p:spPr bwMode="gray">
              <a:xfrm flipH="1">
                <a:off x="2588158" y="6459458"/>
                <a:ext cx="1615542" cy="249262"/>
              </a:xfrm>
              <a:prstGeom prst="rect">
                <a:avLst/>
              </a:prstGeom>
              <a:noFill/>
            </p:spPr>
            <p:txBody>
              <a:bodyPr vert="horz" wrap="square" lIns="91440" tIns="45720" rIns="91440" bIns="45720" rtlCol="0" anchor="ctr">
                <a:noAutofit/>
              </a:bodyPr>
              <a:lstStyle/>
              <a:p>
                <a:pPr algn="ctr" defTabSz="457200"/>
                <a:r>
                  <a:rPr lang="en-IN" sz="1400" b="1" spc="50" dirty="0">
                    <a:ln w="0"/>
                    <a:solidFill>
                      <a:srgbClr val="212745">
                        <a:lumMod val="50000"/>
                      </a:srgbClr>
                    </a:solidFill>
                    <a:effectLst>
                      <a:innerShdw blurRad="63500" dist="50800" dir="13500000">
                        <a:srgbClr val="000000">
                          <a:alpha val="50000"/>
                        </a:srgbClr>
                      </a:innerShdw>
                    </a:effectLst>
                    <a:latin typeface="Leelawadee UI" panose="020B0502040204020203" pitchFamily="34" charset="-34"/>
                    <a:cs typeface="Leelawadee UI" panose="020B0502040204020203" pitchFamily="34" charset="-34"/>
                  </a:rPr>
                  <a:t>Non-disclosure</a:t>
                </a:r>
              </a:p>
            </p:txBody>
          </p:sp>
        </p:grpSp>
        <p:grpSp>
          <p:nvGrpSpPr>
            <p:cNvPr id="288" name="Group 287"/>
            <p:cNvGrpSpPr/>
            <p:nvPr/>
          </p:nvGrpSpPr>
          <p:grpSpPr>
            <a:xfrm>
              <a:off x="7607300" y="5669544"/>
              <a:ext cx="1615542" cy="1039176"/>
              <a:chOff x="7988300" y="5669544"/>
              <a:chExt cx="1615542" cy="1039176"/>
            </a:xfrm>
          </p:grpSpPr>
          <p:grpSp>
            <p:nvGrpSpPr>
              <p:cNvPr id="271" name="Group 270"/>
              <p:cNvGrpSpPr/>
              <p:nvPr/>
            </p:nvGrpSpPr>
            <p:grpSpPr>
              <a:xfrm>
                <a:off x="8451500" y="5669544"/>
                <a:ext cx="693634" cy="693632"/>
                <a:chOff x="7690972" y="5601652"/>
                <a:chExt cx="829415" cy="829415"/>
              </a:xfrm>
            </p:grpSpPr>
            <p:sp>
              <p:nvSpPr>
                <p:cNvPr id="265" name="Oval 264"/>
                <p:cNvSpPr/>
                <p:nvPr/>
              </p:nvSpPr>
              <p:spPr>
                <a:xfrm>
                  <a:off x="7690972" y="5601652"/>
                  <a:ext cx="829415" cy="829415"/>
                </a:xfrm>
                <a:prstGeom prst="ellipse">
                  <a:avLst/>
                </a:prstGeom>
                <a:no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pic>
              <p:nvPicPr>
                <p:cNvPr id="266" name="Picture 4" descr="http://niftymd.elasticbeanstalk.com/assets/img/feature/security.png"/>
                <p:cNvPicPr>
                  <a:picLocks noChangeAspect="1" noChangeArrowheads="1"/>
                </p:cNvPicPr>
                <p:nvPr/>
              </p:nvPicPr>
              <p:blipFill rotWithShape="1">
                <a:blip r:embed="rId8" cstate="email">
                  <a:duotone>
                    <a:prstClr val="black"/>
                    <a:schemeClr val="accent6">
                      <a:tint val="45000"/>
                      <a:satMod val="400000"/>
                    </a:schemeClr>
                  </a:duotone>
                  <a:extLst>
                    <a:ext uri="{28A0092B-C50C-407E-A947-70E740481C1C}">
                      <a14:useLocalDpi xmlns:a14="http://schemas.microsoft.com/office/drawing/2010/main"/>
                    </a:ext>
                  </a:extLst>
                </a:blip>
                <a:srcRect l="20744" r="20744"/>
                <a:stretch/>
              </p:blipFill>
              <p:spPr bwMode="auto">
                <a:xfrm>
                  <a:off x="7791259" y="5693938"/>
                  <a:ext cx="628842" cy="644843"/>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284" name="TextBox 283"/>
              <p:cNvSpPr txBox="1"/>
              <p:nvPr/>
            </p:nvSpPr>
            <p:spPr bwMode="gray">
              <a:xfrm flipH="1">
                <a:off x="7988300" y="6459458"/>
                <a:ext cx="1615542" cy="249262"/>
              </a:xfrm>
              <a:prstGeom prst="rect">
                <a:avLst/>
              </a:prstGeom>
              <a:noFill/>
            </p:spPr>
            <p:txBody>
              <a:bodyPr vert="horz" wrap="square" lIns="91440" tIns="45720" rIns="91440" bIns="45720" rtlCol="0" anchor="ctr">
                <a:noAutofit/>
              </a:bodyPr>
              <a:lstStyle/>
              <a:p>
                <a:pPr algn="ctr" defTabSz="457200"/>
                <a:r>
                  <a:rPr lang="en-IN" sz="1400" b="1" spc="50" dirty="0">
                    <a:ln w="0"/>
                    <a:solidFill>
                      <a:srgbClr val="212745">
                        <a:lumMod val="50000"/>
                      </a:srgbClr>
                    </a:solidFill>
                    <a:effectLst>
                      <a:innerShdw blurRad="63500" dist="50800" dir="13500000">
                        <a:srgbClr val="000000">
                          <a:alpha val="50000"/>
                        </a:srgbClr>
                      </a:innerShdw>
                    </a:effectLst>
                    <a:latin typeface="Leelawadee UI" panose="020B0502040204020203" pitchFamily="34" charset="-34"/>
                    <a:cs typeface="Leelawadee UI" panose="020B0502040204020203" pitchFamily="34" charset="-34"/>
                  </a:rPr>
                  <a:t>Security</a:t>
                </a:r>
              </a:p>
            </p:txBody>
          </p:sp>
        </p:grpSp>
        <p:sp>
          <p:nvSpPr>
            <p:cNvPr id="285" name="TextBox 284"/>
            <p:cNvSpPr txBox="1"/>
            <p:nvPr/>
          </p:nvSpPr>
          <p:spPr bwMode="gray">
            <a:xfrm flipH="1">
              <a:off x="9990426" y="6459458"/>
              <a:ext cx="1445080" cy="249262"/>
            </a:xfrm>
            <a:prstGeom prst="rect">
              <a:avLst/>
            </a:prstGeom>
            <a:noFill/>
          </p:spPr>
          <p:txBody>
            <a:bodyPr vert="horz" wrap="square" lIns="91440" tIns="45720" rIns="91440" bIns="45720" rtlCol="0" anchor="ctr">
              <a:noAutofit/>
            </a:bodyPr>
            <a:lstStyle/>
            <a:p>
              <a:pPr algn="ctr" defTabSz="457200"/>
              <a:r>
                <a:rPr lang="en-IN" sz="1400" b="1" spc="50" dirty="0">
                  <a:ln w="0"/>
                  <a:solidFill>
                    <a:srgbClr val="212745">
                      <a:lumMod val="50000"/>
                    </a:srgbClr>
                  </a:solidFill>
                  <a:effectLst>
                    <a:innerShdw blurRad="63500" dist="50800" dir="13500000">
                      <a:srgbClr val="000000">
                        <a:alpha val="50000"/>
                      </a:srgbClr>
                    </a:innerShdw>
                  </a:effectLst>
                  <a:latin typeface="Leelawadee UI" panose="020B0502040204020203" pitchFamily="34" charset="-34"/>
                  <a:cs typeface="Leelawadee UI" panose="020B0502040204020203" pitchFamily="34" charset="-34"/>
                </a:rPr>
                <a:t>Purpose</a:t>
              </a:r>
            </a:p>
            <a:p>
              <a:pPr algn="ctr" defTabSz="457200"/>
              <a:r>
                <a:rPr lang="en-IN" sz="1400" b="1" spc="50" dirty="0">
                  <a:ln w="0"/>
                  <a:solidFill>
                    <a:srgbClr val="212745">
                      <a:lumMod val="50000"/>
                    </a:srgbClr>
                  </a:solidFill>
                  <a:effectLst>
                    <a:innerShdw blurRad="63500" dist="50800" dir="13500000">
                      <a:srgbClr val="000000">
                        <a:alpha val="50000"/>
                      </a:srgbClr>
                    </a:innerShdw>
                  </a:effectLst>
                  <a:latin typeface="Leelawadee UI" panose="020B0502040204020203" pitchFamily="34" charset="-34"/>
                  <a:cs typeface="Leelawadee UI" panose="020B0502040204020203" pitchFamily="34" charset="-34"/>
                </a:rPr>
                <a:t>&amp; Consent</a:t>
              </a:r>
            </a:p>
          </p:txBody>
        </p:sp>
      </p:grpSp>
      <p:grpSp>
        <p:nvGrpSpPr>
          <p:cNvPr id="4" name="Group 3"/>
          <p:cNvGrpSpPr/>
          <p:nvPr/>
        </p:nvGrpSpPr>
        <p:grpSpPr>
          <a:xfrm>
            <a:off x="-12156" y="504755"/>
            <a:ext cx="12192002" cy="508037"/>
            <a:chOff x="-12156" y="788219"/>
            <a:chExt cx="12192002" cy="508037"/>
          </a:xfrm>
        </p:grpSpPr>
        <p:grpSp>
          <p:nvGrpSpPr>
            <p:cNvPr id="91" name="Group 90"/>
            <p:cNvGrpSpPr/>
            <p:nvPr/>
          </p:nvGrpSpPr>
          <p:grpSpPr>
            <a:xfrm>
              <a:off x="-12156" y="788219"/>
              <a:ext cx="12192002" cy="508037"/>
              <a:chOff x="-1" y="1027732"/>
              <a:chExt cx="12192002" cy="508037"/>
            </a:xfrm>
          </p:grpSpPr>
          <p:grpSp>
            <p:nvGrpSpPr>
              <p:cNvPr id="92" name="Group 91"/>
              <p:cNvGrpSpPr/>
              <p:nvPr/>
            </p:nvGrpSpPr>
            <p:grpSpPr>
              <a:xfrm>
                <a:off x="-1" y="1056577"/>
                <a:ext cx="12192002" cy="479192"/>
                <a:chOff x="2275095" y="1046125"/>
                <a:chExt cx="9516889" cy="479192"/>
              </a:xfrm>
            </p:grpSpPr>
            <p:sp>
              <p:nvSpPr>
                <p:cNvPr id="96" name="Pentagon 95"/>
                <p:cNvSpPr/>
                <p:nvPr/>
              </p:nvSpPr>
              <p:spPr>
                <a:xfrm>
                  <a:off x="8003124" y="1046125"/>
                  <a:ext cx="3788860" cy="479192"/>
                </a:xfrm>
                <a:prstGeom prst="homePlat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prstClr val="white"/>
                      </a:solidFill>
                      <a:latin typeface="Leelawadee UI" panose="020B0502040204020203" pitchFamily="34" charset="-34"/>
                      <a:cs typeface="Leelawadee UI" panose="020B0502040204020203" pitchFamily="34" charset="-34"/>
                    </a:rPr>
                    <a:t>               Tata iQ Attributes</a:t>
                  </a:r>
                </a:p>
              </p:txBody>
            </p:sp>
            <p:sp>
              <p:nvSpPr>
                <p:cNvPr id="97" name="Pentagon 96"/>
                <p:cNvSpPr/>
                <p:nvPr/>
              </p:nvSpPr>
              <p:spPr>
                <a:xfrm>
                  <a:off x="4377764" y="1046125"/>
                  <a:ext cx="4449680" cy="479192"/>
                </a:xfrm>
                <a:prstGeom prst="homePlat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prstClr val="white"/>
                      </a:solidFill>
                      <a:latin typeface="Leelawadee UI" panose="020B0502040204020203" pitchFamily="34" charset="-34"/>
                      <a:cs typeface="Leelawadee UI" panose="020B0502040204020203" pitchFamily="34" charset="-34"/>
                    </a:rPr>
                    <a:t>         Superior Data &amp; Analytics Capabilities</a:t>
                  </a:r>
                </a:p>
              </p:txBody>
            </p:sp>
            <p:sp>
              <p:nvSpPr>
                <p:cNvPr id="98" name="Pentagon 97"/>
                <p:cNvSpPr/>
                <p:nvPr/>
              </p:nvSpPr>
              <p:spPr>
                <a:xfrm>
                  <a:off x="2275095" y="1046125"/>
                  <a:ext cx="2386736" cy="479192"/>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prstClr val="white"/>
                      </a:solidFill>
                      <a:latin typeface="Leelawadee UI" panose="020B0502040204020203" pitchFamily="34" charset="-34"/>
                      <a:cs typeface="Leelawadee UI" panose="020B0502040204020203" pitchFamily="34" charset="-34"/>
                    </a:rPr>
                    <a:t>Access to Strategic Sources</a:t>
                  </a:r>
                </a:p>
              </p:txBody>
            </p:sp>
          </p:grpSp>
          <p:sp>
            <p:nvSpPr>
              <p:cNvPr id="94" name="Plus 93"/>
              <p:cNvSpPr/>
              <p:nvPr/>
            </p:nvSpPr>
            <p:spPr>
              <a:xfrm>
                <a:off x="2795650" y="1027732"/>
                <a:ext cx="499444" cy="499444"/>
              </a:xfrm>
              <a:prstGeom prst="mathPlus">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prstClr val="white"/>
                  </a:solidFill>
                </a:endParaRPr>
              </a:p>
            </p:txBody>
          </p:sp>
        </p:grpSp>
        <p:sp>
          <p:nvSpPr>
            <p:cNvPr id="99" name="Equal 98"/>
            <p:cNvSpPr/>
            <p:nvPr/>
          </p:nvSpPr>
          <p:spPr>
            <a:xfrm>
              <a:off x="8178159" y="794504"/>
              <a:ext cx="499444" cy="499444"/>
            </a:xfrm>
            <a:prstGeom prst="mathEqual">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prstClr val="white"/>
                </a:solidFill>
              </a:endParaRPr>
            </a:p>
          </p:txBody>
        </p:sp>
      </p:grpSp>
      <p:pic>
        <p:nvPicPr>
          <p:cNvPr id="110" name="Picture 109"/>
          <p:cNvPicPr>
            <a:picLocks noChangeAspect="1"/>
          </p:cNvPicPr>
          <p:nvPr/>
        </p:nvPicPr>
        <p:blipFill rotWithShape="1">
          <a:blip r:embed="rId9"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grpSp>
        <p:nvGrpSpPr>
          <p:cNvPr id="230" name="Group 229"/>
          <p:cNvGrpSpPr/>
          <p:nvPr/>
        </p:nvGrpSpPr>
        <p:grpSpPr>
          <a:xfrm>
            <a:off x="6508208" y="1305021"/>
            <a:ext cx="2161067" cy="3479321"/>
            <a:chOff x="6528049" y="1433846"/>
            <a:chExt cx="2638607" cy="3914922"/>
          </a:xfrm>
        </p:grpSpPr>
        <p:grpSp>
          <p:nvGrpSpPr>
            <p:cNvPr id="47" name="Group 46"/>
            <p:cNvGrpSpPr/>
            <p:nvPr/>
          </p:nvGrpSpPr>
          <p:grpSpPr>
            <a:xfrm flipV="1">
              <a:off x="6528049" y="1433846"/>
              <a:ext cx="2638605" cy="1672044"/>
              <a:chOff x="6528049" y="1915497"/>
              <a:chExt cx="2638605" cy="1672044"/>
            </a:xfrm>
          </p:grpSpPr>
          <p:sp>
            <p:nvSpPr>
              <p:cNvPr id="223" name="Rectangle 219"/>
              <p:cNvSpPr/>
              <p:nvPr/>
            </p:nvSpPr>
            <p:spPr>
              <a:xfrm flipH="1">
                <a:off x="7420198" y="1915497"/>
                <a:ext cx="1746456" cy="513582"/>
              </a:xfrm>
              <a:custGeom>
                <a:avLst/>
                <a:gdLst>
                  <a:gd name="connsiteX0" fmla="*/ 0 w 1673431"/>
                  <a:gd name="connsiteY0" fmla="*/ 0 h 453257"/>
                  <a:gd name="connsiteX1" fmla="*/ 1673431 w 1673431"/>
                  <a:gd name="connsiteY1" fmla="*/ 0 h 453257"/>
                  <a:gd name="connsiteX2" fmla="*/ 1673431 w 1673431"/>
                  <a:gd name="connsiteY2" fmla="*/ 453257 h 453257"/>
                  <a:gd name="connsiteX3" fmla="*/ 0 w 1673431"/>
                  <a:gd name="connsiteY3" fmla="*/ 453257 h 453257"/>
                  <a:gd name="connsiteX4" fmla="*/ 0 w 1673431"/>
                  <a:gd name="connsiteY4" fmla="*/ 0 h 453257"/>
                  <a:gd name="connsiteX0" fmla="*/ 0 w 1673431"/>
                  <a:gd name="connsiteY0" fmla="*/ 60325 h 513582"/>
                  <a:gd name="connsiteX1" fmla="*/ 1663906 w 1673431"/>
                  <a:gd name="connsiteY1" fmla="*/ 0 h 513582"/>
                  <a:gd name="connsiteX2" fmla="*/ 1673431 w 1673431"/>
                  <a:gd name="connsiteY2" fmla="*/ 513582 h 513582"/>
                  <a:gd name="connsiteX3" fmla="*/ 0 w 1673431"/>
                  <a:gd name="connsiteY3" fmla="*/ 513582 h 513582"/>
                  <a:gd name="connsiteX4" fmla="*/ 0 w 1673431"/>
                  <a:gd name="connsiteY4" fmla="*/ 60325 h 513582"/>
                  <a:gd name="connsiteX0" fmla="*/ 0 w 1740106"/>
                  <a:gd name="connsiteY0" fmla="*/ 60325 h 513582"/>
                  <a:gd name="connsiteX1" fmla="*/ 1663906 w 1740106"/>
                  <a:gd name="connsiteY1" fmla="*/ 0 h 513582"/>
                  <a:gd name="connsiteX2" fmla="*/ 1740106 w 1740106"/>
                  <a:gd name="connsiteY2" fmla="*/ 411982 h 513582"/>
                  <a:gd name="connsiteX3" fmla="*/ 0 w 1740106"/>
                  <a:gd name="connsiteY3" fmla="*/ 513582 h 513582"/>
                  <a:gd name="connsiteX4" fmla="*/ 0 w 1740106"/>
                  <a:gd name="connsiteY4" fmla="*/ 60325 h 513582"/>
                  <a:gd name="connsiteX0" fmla="*/ 0 w 1746456"/>
                  <a:gd name="connsiteY0" fmla="*/ 60325 h 513582"/>
                  <a:gd name="connsiteX1" fmla="*/ 1663906 w 1746456"/>
                  <a:gd name="connsiteY1" fmla="*/ 0 h 513582"/>
                  <a:gd name="connsiteX2" fmla="*/ 1746456 w 1746456"/>
                  <a:gd name="connsiteY2" fmla="*/ 354832 h 513582"/>
                  <a:gd name="connsiteX3" fmla="*/ 0 w 1746456"/>
                  <a:gd name="connsiteY3" fmla="*/ 513582 h 513582"/>
                  <a:gd name="connsiteX4" fmla="*/ 0 w 1746456"/>
                  <a:gd name="connsiteY4" fmla="*/ 60325 h 5135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6456" h="513582">
                    <a:moveTo>
                      <a:pt x="0" y="60325"/>
                    </a:moveTo>
                    <a:lnTo>
                      <a:pt x="1663906" y="0"/>
                    </a:lnTo>
                    <a:lnTo>
                      <a:pt x="1746456" y="354832"/>
                    </a:lnTo>
                    <a:lnTo>
                      <a:pt x="0" y="513582"/>
                    </a:lnTo>
                    <a:lnTo>
                      <a:pt x="0" y="60325"/>
                    </a:lnTo>
                    <a:close/>
                  </a:path>
                </a:pathLst>
              </a:custGeom>
              <a:solidFill>
                <a:srgbClr val="CBE1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prstClr val="white"/>
                  </a:solidFill>
                </a:endParaRPr>
              </a:p>
            </p:txBody>
          </p:sp>
          <p:sp>
            <p:nvSpPr>
              <p:cNvPr id="224" name="Rectangle 220"/>
              <p:cNvSpPr/>
              <p:nvPr/>
            </p:nvSpPr>
            <p:spPr>
              <a:xfrm flipH="1">
                <a:off x="6985646" y="2404475"/>
                <a:ext cx="2181006" cy="605657"/>
              </a:xfrm>
              <a:custGeom>
                <a:avLst/>
                <a:gdLst>
                  <a:gd name="connsiteX0" fmla="*/ 0 w 2238157"/>
                  <a:gd name="connsiteY0" fmla="*/ 0 h 453257"/>
                  <a:gd name="connsiteX1" fmla="*/ 2238157 w 2238157"/>
                  <a:gd name="connsiteY1" fmla="*/ 0 h 453257"/>
                  <a:gd name="connsiteX2" fmla="*/ 2238157 w 2238157"/>
                  <a:gd name="connsiteY2" fmla="*/ 453257 h 453257"/>
                  <a:gd name="connsiteX3" fmla="*/ 0 w 2238157"/>
                  <a:gd name="connsiteY3" fmla="*/ 453257 h 453257"/>
                  <a:gd name="connsiteX4" fmla="*/ 0 w 2238157"/>
                  <a:gd name="connsiteY4" fmla="*/ 0 h 453257"/>
                  <a:gd name="connsiteX0" fmla="*/ 0 w 2238157"/>
                  <a:gd name="connsiteY0" fmla="*/ 152400 h 605657"/>
                  <a:gd name="connsiteX1" fmla="*/ 2092107 w 2238157"/>
                  <a:gd name="connsiteY1" fmla="*/ 0 h 605657"/>
                  <a:gd name="connsiteX2" fmla="*/ 2238157 w 2238157"/>
                  <a:gd name="connsiteY2" fmla="*/ 605657 h 605657"/>
                  <a:gd name="connsiteX3" fmla="*/ 0 w 2238157"/>
                  <a:gd name="connsiteY3" fmla="*/ 605657 h 605657"/>
                  <a:gd name="connsiteX4" fmla="*/ 0 w 2238157"/>
                  <a:gd name="connsiteY4" fmla="*/ 152400 h 605657"/>
                  <a:gd name="connsiteX0" fmla="*/ 0 w 2181007"/>
                  <a:gd name="connsiteY0" fmla="*/ 152400 h 605657"/>
                  <a:gd name="connsiteX1" fmla="*/ 2092107 w 2181007"/>
                  <a:gd name="connsiteY1" fmla="*/ 0 h 605657"/>
                  <a:gd name="connsiteX2" fmla="*/ 2181007 w 2181007"/>
                  <a:gd name="connsiteY2" fmla="*/ 332607 h 605657"/>
                  <a:gd name="connsiteX3" fmla="*/ 0 w 2181007"/>
                  <a:gd name="connsiteY3" fmla="*/ 605657 h 605657"/>
                  <a:gd name="connsiteX4" fmla="*/ 0 w 2181007"/>
                  <a:gd name="connsiteY4" fmla="*/ 152400 h 605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1007" h="605657">
                    <a:moveTo>
                      <a:pt x="0" y="152400"/>
                    </a:moveTo>
                    <a:lnTo>
                      <a:pt x="2092107" y="0"/>
                    </a:lnTo>
                    <a:lnTo>
                      <a:pt x="2181007" y="332607"/>
                    </a:lnTo>
                    <a:lnTo>
                      <a:pt x="0" y="605657"/>
                    </a:lnTo>
                    <a:lnTo>
                      <a:pt x="0" y="152400"/>
                    </a:lnTo>
                    <a:close/>
                  </a:path>
                </a:pathLst>
              </a:custGeom>
              <a:solidFill>
                <a:srgbClr val="B1DD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prstClr val="white"/>
                  </a:solidFill>
                </a:endParaRPr>
              </a:p>
            </p:txBody>
          </p:sp>
          <p:sp>
            <p:nvSpPr>
              <p:cNvPr id="225" name="Rectangle 221"/>
              <p:cNvSpPr/>
              <p:nvPr/>
            </p:nvSpPr>
            <p:spPr>
              <a:xfrm flipH="1">
                <a:off x="6528049" y="2842183"/>
                <a:ext cx="2638601" cy="745358"/>
              </a:xfrm>
              <a:custGeom>
                <a:avLst/>
                <a:gdLst>
                  <a:gd name="connsiteX0" fmla="*/ 0 w 2638603"/>
                  <a:gd name="connsiteY0" fmla="*/ 0 h 453257"/>
                  <a:gd name="connsiteX1" fmla="*/ 2638603 w 2638603"/>
                  <a:gd name="connsiteY1" fmla="*/ 0 h 453257"/>
                  <a:gd name="connsiteX2" fmla="*/ 2638603 w 2638603"/>
                  <a:gd name="connsiteY2" fmla="*/ 453257 h 453257"/>
                  <a:gd name="connsiteX3" fmla="*/ 0 w 2638603"/>
                  <a:gd name="connsiteY3" fmla="*/ 453257 h 453257"/>
                  <a:gd name="connsiteX4" fmla="*/ 0 w 2638603"/>
                  <a:gd name="connsiteY4" fmla="*/ 0 h 453257"/>
                  <a:gd name="connsiteX0" fmla="*/ 0 w 2638603"/>
                  <a:gd name="connsiteY0" fmla="*/ 292100 h 745357"/>
                  <a:gd name="connsiteX1" fmla="*/ 2549703 w 2638603"/>
                  <a:gd name="connsiteY1" fmla="*/ 0 h 745357"/>
                  <a:gd name="connsiteX2" fmla="*/ 2638603 w 2638603"/>
                  <a:gd name="connsiteY2" fmla="*/ 745357 h 745357"/>
                  <a:gd name="connsiteX3" fmla="*/ 0 w 2638603"/>
                  <a:gd name="connsiteY3" fmla="*/ 745357 h 745357"/>
                  <a:gd name="connsiteX4" fmla="*/ 0 w 2638603"/>
                  <a:gd name="connsiteY4" fmla="*/ 292100 h 745357"/>
                  <a:gd name="connsiteX0" fmla="*/ 0 w 2638603"/>
                  <a:gd name="connsiteY0" fmla="*/ 292100 h 745357"/>
                  <a:gd name="connsiteX1" fmla="*/ 2549703 w 2638603"/>
                  <a:gd name="connsiteY1" fmla="*/ 0 h 745357"/>
                  <a:gd name="connsiteX2" fmla="*/ 2638603 w 2638603"/>
                  <a:gd name="connsiteY2" fmla="*/ 224657 h 745357"/>
                  <a:gd name="connsiteX3" fmla="*/ 0 w 2638603"/>
                  <a:gd name="connsiteY3" fmla="*/ 745357 h 745357"/>
                  <a:gd name="connsiteX4" fmla="*/ 0 w 2638603"/>
                  <a:gd name="connsiteY4" fmla="*/ 292100 h 745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38603" h="745357">
                    <a:moveTo>
                      <a:pt x="0" y="292100"/>
                    </a:moveTo>
                    <a:lnTo>
                      <a:pt x="2549703" y="0"/>
                    </a:lnTo>
                    <a:lnTo>
                      <a:pt x="2638603" y="224657"/>
                    </a:lnTo>
                    <a:lnTo>
                      <a:pt x="0" y="745357"/>
                    </a:lnTo>
                    <a:lnTo>
                      <a:pt x="0" y="292100"/>
                    </a:lnTo>
                    <a:close/>
                  </a:path>
                </a:pathLst>
              </a:custGeom>
              <a:solidFill>
                <a:srgbClr val="F8C7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prstClr val="white"/>
                  </a:solidFill>
                </a:endParaRPr>
              </a:p>
            </p:txBody>
          </p:sp>
        </p:grpSp>
        <p:grpSp>
          <p:nvGrpSpPr>
            <p:cNvPr id="229" name="Group 228"/>
            <p:cNvGrpSpPr/>
            <p:nvPr/>
          </p:nvGrpSpPr>
          <p:grpSpPr>
            <a:xfrm>
              <a:off x="6528050" y="3676724"/>
              <a:ext cx="2638604" cy="1672044"/>
              <a:chOff x="6528050" y="3676724"/>
              <a:chExt cx="2638604" cy="1672044"/>
            </a:xfrm>
          </p:grpSpPr>
          <p:sp>
            <p:nvSpPr>
              <p:cNvPr id="220" name="Rectangle 219"/>
              <p:cNvSpPr/>
              <p:nvPr/>
            </p:nvSpPr>
            <p:spPr>
              <a:xfrm flipH="1">
                <a:off x="7420198" y="3676724"/>
                <a:ext cx="1746456" cy="513582"/>
              </a:xfrm>
              <a:custGeom>
                <a:avLst/>
                <a:gdLst>
                  <a:gd name="connsiteX0" fmla="*/ 0 w 1673431"/>
                  <a:gd name="connsiteY0" fmla="*/ 0 h 453257"/>
                  <a:gd name="connsiteX1" fmla="*/ 1673431 w 1673431"/>
                  <a:gd name="connsiteY1" fmla="*/ 0 h 453257"/>
                  <a:gd name="connsiteX2" fmla="*/ 1673431 w 1673431"/>
                  <a:gd name="connsiteY2" fmla="*/ 453257 h 453257"/>
                  <a:gd name="connsiteX3" fmla="*/ 0 w 1673431"/>
                  <a:gd name="connsiteY3" fmla="*/ 453257 h 453257"/>
                  <a:gd name="connsiteX4" fmla="*/ 0 w 1673431"/>
                  <a:gd name="connsiteY4" fmla="*/ 0 h 453257"/>
                  <a:gd name="connsiteX0" fmla="*/ 0 w 1673431"/>
                  <a:gd name="connsiteY0" fmla="*/ 60325 h 513582"/>
                  <a:gd name="connsiteX1" fmla="*/ 1663906 w 1673431"/>
                  <a:gd name="connsiteY1" fmla="*/ 0 h 513582"/>
                  <a:gd name="connsiteX2" fmla="*/ 1673431 w 1673431"/>
                  <a:gd name="connsiteY2" fmla="*/ 513582 h 513582"/>
                  <a:gd name="connsiteX3" fmla="*/ 0 w 1673431"/>
                  <a:gd name="connsiteY3" fmla="*/ 513582 h 513582"/>
                  <a:gd name="connsiteX4" fmla="*/ 0 w 1673431"/>
                  <a:gd name="connsiteY4" fmla="*/ 60325 h 513582"/>
                  <a:gd name="connsiteX0" fmla="*/ 0 w 1740106"/>
                  <a:gd name="connsiteY0" fmla="*/ 60325 h 513582"/>
                  <a:gd name="connsiteX1" fmla="*/ 1663906 w 1740106"/>
                  <a:gd name="connsiteY1" fmla="*/ 0 h 513582"/>
                  <a:gd name="connsiteX2" fmla="*/ 1740106 w 1740106"/>
                  <a:gd name="connsiteY2" fmla="*/ 411982 h 513582"/>
                  <a:gd name="connsiteX3" fmla="*/ 0 w 1740106"/>
                  <a:gd name="connsiteY3" fmla="*/ 513582 h 513582"/>
                  <a:gd name="connsiteX4" fmla="*/ 0 w 1740106"/>
                  <a:gd name="connsiteY4" fmla="*/ 60325 h 513582"/>
                  <a:gd name="connsiteX0" fmla="*/ 0 w 1746456"/>
                  <a:gd name="connsiteY0" fmla="*/ 60325 h 513582"/>
                  <a:gd name="connsiteX1" fmla="*/ 1663906 w 1746456"/>
                  <a:gd name="connsiteY1" fmla="*/ 0 h 513582"/>
                  <a:gd name="connsiteX2" fmla="*/ 1746456 w 1746456"/>
                  <a:gd name="connsiteY2" fmla="*/ 354832 h 513582"/>
                  <a:gd name="connsiteX3" fmla="*/ 0 w 1746456"/>
                  <a:gd name="connsiteY3" fmla="*/ 513582 h 513582"/>
                  <a:gd name="connsiteX4" fmla="*/ 0 w 1746456"/>
                  <a:gd name="connsiteY4" fmla="*/ 60325 h 5135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6456" h="513582">
                    <a:moveTo>
                      <a:pt x="0" y="60325"/>
                    </a:moveTo>
                    <a:lnTo>
                      <a:pt x="1663906" y="0"/>
                    </a:lnTo>
                    <a:lnTo>
                      <a:pt x="1746456" y="354832"/>
                    </a:lnTo>
                    <a:lnTo>
                      <a:pt x="0" y="513582"/>
                    </a:lnTo>
                    <a:lnTo>
                      <a:pt x="0" y="60325"/>
                    </a:lnTo>
                    <a:close/>
                  </a:path>
                </a:pathLst>
              </a:custGeom>
              <a:solidFill>
                <a:srgbClr val="EEB5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prstClr val="white"/>
                  </a:solidFill>
                </a:endParaRPr>
              </a:p>
            </p:txBody>
          </p:sp>
          <p:sp>
            <p:nvSpPr>
              <p:cNvPr id="221" name="Rectangle 220"/>
              <p:cNvSpPr/>
              <p:nvPr/>
            </p:nvSpPr>
            <p:spPr>
              <a:xfrm flipH="1">
                <a:off x="6985646" y="4165702"/>
                <a:ext cx="2181007" cy="605657"/>
              </a:xfrm>
              <a:custGeom>
                <a:avLst/>
                <a:gdLst>
                  <a:gd name="connsiteX0" fmla="*/ 0 w 2238157"/>
                  <a:gd name="connsiteY0" fmla="*/ 0 h 453257"/>
                  <a:gd name="connsiteX1" fmla="*/ 2238157 w 2238157"/>
                  <a:gd name="connsiteY1" fmla="*/ 0 h 453257"/>
                  <a:gd name="connsiteX2" fmla="*/ 2238157 w 2238157"/>
                  <a:gd name="connsiteY2" fmla="*/ 453257 h 453257"/>
                  <a:gd name="connsiteX3" fmla="*/ 0 w 2238157"/>
                  <a:gd name="connsiteY3" fmla="*/ 453257 h 453257"/>
                  <a:gd name="connsiteX4" fmla="*/ 0 w 2238157"/>
                  <a:gd name="connsiteY4" fmla="*/ 0 h 453257"/>
                  <a:gd name="connsiteX0" fmla="*/ 0 w 2238157"/>
                  <a:gd name="connsiteY0" fmla="*/ 152400 h 605657"/>
                  <a:gd name="connsiteX1" fmla="*/ 2092107 w 2238157"/>
                  <a:gd name="connsiteY1" fmla="*/ 0 h 605657"/>
                  <a:gd name="connsiteX2" fmla="*/ 2238157 w 2238157"/>
                  <a:gd name="connsiteY2" fmla="*/ 605657 h 605657"/>
                  <a:gd name="connsiteX3" fmla="*/ 0 w 2238157"/>
                  <a:gd name="connsiteY3" fmla="*/ 605657 h 605657"/>
                  <a:gd name="connsiteX4" fmla="*/ 0 w 2238157"/>
                  <a:gd name="connsiteY4" fmla="*/ 152400 h 605657"/>
                  <a:gd name="connsiteX0" fmla="*/ 0 w 2181007"/>
                  <a:gd name="connsiteY0" fmla="*/ 152400 h 605657"/>
                  <a:gd name="connsiteX1" fmla="*/ 2092107 w 2181007"/>
                  <a:gd name="connsiteY1" fmla="*/ 0 h 605657"/>
                  <a:gd name="connsiteX2" fmla="*/ 2181007 w 2181007"/>
                  <a:gd name="connsiteY2" fmla="*/ 332607 h 605657"/>
                  <a:gd name="connsiteX3" fmla="*/ 0 w 2181007"/>
                  <a:gd name="connsiteY3" fmla="*/ 605657 h 605657"/>
                  <a:gd name="connsiteX4" fmla="*/ 0 w 2181007"/>
                  <a:gd name="connsiteY4" fmla="*/ 152400 h 605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1007" h="605657">
                    <a:moveTo>
                      <a:pt x="0" y="152400"/>
                    </a:moveTo>
                    <a:lnTo>
                      <a:pt x="2092107" y="0"/>
                    </a:lnTo>
                    <a:lnTo>
                      <a:pt x="2181007" y="332607"/>
                    </a:lnTo>
                    <a:lnTo>
                      <a:pt x="0" y="605657"/>
                    </a:lnTo>
                    <a:lnTo>
                      <a:pt x="0" y="152400"/>
                    </a:lnTo>
                    <a:close/>
                  </a:path>
                </a:pathLst>
              </a:custGeom>
              <a:solidFill>
                <a:srgbClr val="F8B1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prstClr val="white"/>
                  </a:solidFill>
                </a:endParaRPr>
              </a:p>
            </p:txBody>
          </p:sp>
          <p:sp>
            <p:nvSpPr>
              <p:cNvPr id="222" name="Rectangle 221"/>
              <p:cNvSpPr/>
              <p:nvPr/>
            </p:nvSpPr>
            <p:spPr>
              <a:xfrm flipH="1">
                <a:off x="6528050" y="4603411"/>
                <a:ext cx="2638603" cy="745357"/>
              </a:xfrm>
              <a:custGeom>
                <a:avLst/>
                <a:gdLst>
                  <a:gd name="connsiteX0" fmla="*/ 0 w 2638603"/>
                  <a:gd name="connsiteY0" fmla="*/ 0 h 453257"/>
                  <a:gd name="connsiteX1" fmla="*/ 2638603 w 2638603"/>
                  <a:gd name="connsiteY1" fmla="*/ 0 h 453257"/>
                  <a:gd name="connsiteX2" fmla="*/ 2638603 w 2638603"/>
                  <a:gd name="connsiteY2" fmla="*/ 453257 h 453257"/>
                  <a:gd name="connsiteX3" fmla="*/ 0 w 2638603"/>
                  <a:gd name="connsiteY3" fmla="*/ 453257 h 453257"/>
                  <a:gd name="connsiteX4" fmla="*/ 0 w 2638603"/>
                  <a:gd name="connsiteY4" fmla="*/ 0 h 453257"/>
                  <a:gd name="connsiteX0" fmla="*/ 0 w 2638603"/>
                  <a:gd name="connsiteY0" fmla="*/ 292100 h 745357"/>
                  <a:gd name="connsiteX1" fmla="*/ 2549703 w 2638603"/>
                  <a:gd name="connsiteY1" fmla="*/ 0 h 745357"/>
                  <a:gd name="connsiteX2" fmla="*/ 2638603 w 2638603"/>
                  <a:gd name="connsiteY2" fmla="*/ 745357 h 745357"/>
                  <a:gd name="connsiteX3" fmla="*/ 0 w 2638603"/>
                  <a:gd name="connsiteY3" fmla="*/ 745357 h 745357"/>
                  <a:gd name="connsiteX4" fmla="*/ 0 w 2638603"/>
                  <a:gd name="connsiteY4" fmla="*/ 292100 h 745357"/>
                  <a:gd name="connsiteX0" fmla="*/ 0 w 2638603"/>
                  <a:gd name="connsiteY0" fmla="*/ 292100 h 745357"/>
                  <a:gd name="connsiteX1" fmla="*/ 2549703 w 2638603"/>
                  <a:gd name="connsiteY1" fmla="*/ 0 h 745357"/>
                  <a:gd name="connsiteX2" fmla="*/ 2638603 w 2638603"/>
                  <a:gd name="connsiteY2" fmla="*/ 224657 h 745357"/>
                  <a:gd name="connsiteX3" fmla="*/ 0 w 2638603"/>
                  <a:gd name="connsiteY3" fmla="*/ 745357 h 745357"/>
                  <a:gd name="connsiteX4" fmla="*/ 0 w 2638603"/>
                  <a:gd name="connsiteY4" fmla="*/ 292100 h 745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38603" h="745357">
                    <a:moveTo>
                      <a:pt x="0" y="292100"/>
                    </a:moveTo>
                    <a:lnTo>
                      <a:pt x="2549703" y="0"/>
                    </a:lnTo>
                    <a:lnTo>
                      <a:pt x="2638603" y="224657"/>
                    </a:lnTo>
                    <a:lnTo>
                      <a:pt x="0" y="745357"/>
                    </a:lnTo>
                    <a:lnTo>
                      <a:pt x="0" y="292100"/>
                    </a:lnTo>
                    <a:close/>
                  </a:path>
                </a:pathLst>
              </a:custGeom>
              <a:solidFill>
                <a:srgbClr val="A9B2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prstClr val="white"/>
                  </a:solidFill>
                </a:endParaRPr>
              </a:p>
            </p:txBody>
          </p:sp>
        </p:grpSp>
        <p:sp>
          <p:nvSpPr>
            <p:cNvPr id="213" name="Rectangle 212"/>
            <p:cNvSpPr/>
            <p:nvPr/>
          </p:nvSpPr>
          <p:spPr>
            <a:xfrm flipH="1">
              <a:off x="7660121" y="3163979"/>
              <a:ext cx="1506535" cy="448920"/>
            </a:xfrm>
            <a:prstGeom prst="rect">
              <a:avLst/>
            </a:prstGeom>
            <a:solidFill>
              <a:srgbClr val="FFDD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prstClr val="white"/>
                </a:solidFill>
              </a:endParaRPr>
            </a:p>
          </p:txBody>
        </p:sp>
      </p:grpSp>
      <p:sp>
        <p:nvSpPr>
          <p:cNvPr id="111" name="Rectangle 110"/>
          <p:cNvSpPr/>
          <p:nvPr/>
        </p:nvSpPr>
        <p:spPr>
          <a:xfrm>
            <a:off x="6089101" y="6633085"/>
            <a:ext cx="6096000" cy="230832"/>
          </a:xfrm>
          <a:prstGeom prst="rect">
            <a:avLst/>
          </a:prstGeom>
        </p:spPr>
        <p:txBody>
          <a:bodyPr>
            <a:spAutoFit/>
          </a:bodyPr>
          <a:lstStyle/>
          <a:p>
            <a:pPr algn="r"/>
            <a:r>
              <a:rPr lang="en-IN" sz="900"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p>
        </p:txBody>
      </p:sp>
      <p:pic>
        <p:nvPicPr>
          <p:cNvPr id="115" name="Picture 2" descr="http://www.clipartbest.com/cliparts/ncE/gjB/ncEgjBRcA.png"/>
          <p:cNvPicPr>
            <a:picLocks noChangeAspect="1" noChangeArrowheads="1"/>
          </p:cNvPicPr>
          <p:nvPr/>
        </p:nvPicPr>
        <p:blipFill>
          <a:blip r:embed="rId1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1278829">
            <a:off x="5023380" y="1341400"/>
            <a:ext cx="3503927" cy="3492248"/>
          </a:xfrm>
          <a:prstGeom prst="rect">
            <a:avLst/>
          </a:prstGeom>
          <a:noFill/>
          <a:extLst>
            <a:ext uri="{909E8E84-426E-40DD-AFC4-6F175D3DCCD1}">
              <a14:hiddenFill xmlns:a14="http://schemas.microsoft.com/office/drawing/2010/main">
                <a:solidFill>
                  <a:srgbClr val="FFFFFF"/>
                </a:solidFill>
              </a14:hiddenFill>
            </a:ext>
          </a:extLst>
        </p:spPr>
      </p:pic>
      <p:pic>
        <p:nvPicPr>
          <p:cNvPr id="159" name="Picture 10" descr="http://www.inteneosystems.com/datawarehouse_files/Prism-Logo8b.png"/>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6264647" y="2542418"/>
            <a:ext cx="848726" cy="58426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www.clipartbest.com/cliparts/ncE/gjB/ncEgjBRcA.png"/>
          <p:cNvPicPr>
            <a:picLocks noChangeAspect="1" noChangeArrowheads="1"/>
          </p:cNvPicPr>
          <p:nvPr/>
        </p:nvPicPr>
        <p:blipFill>
          <a:blip r:embed="rId10">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992721" y="1330950"/>
            <a:ext cx="3503927" cy="3492248"/>
          </a:xfrm>
          <a:prstGeom prst="rect">
            <a:avLst/>
          </a:prstGeom>
          <a:noFill/>
          <a:extLst>
            <a:ext uri="{909E8E84-426E-40DD-AFC4-6F175D3DCCD1}">
              <a14:hiddenFill xmlns:a14="http://schemas.microsoft.com/office/drawing/2010/main">
                <a:solidFill>
                  <a:srgbClr val="FFFFFF"/>
                </a:solidFill>
              </a14:hiddenFill>
            </a:ext>
          </a:extLst>
        </p:spPr>
      </p:pic>
      <p:grpSp>
        <p:nvGrpSpPr>
          <p:cNvPr id="161" name="Group 160"/>
          <p:cNvGrpSpPr/>
          <p:nvPr/>
        </p:nvGrpSpPr>
        <p:grpSpPr>
          <a:xfrm>
            <a:off x="5161996" y="1876092"/>
            <a:ext cx="2793701" cy="2397340"/>
            <a:chOff x="5434935" y="2517445"/>
            <a:chExt cx="3287429" cy="2971800"/>
          </a:xfrm>
        </p:grpSpPr>
        <p:sp>
          <p:nvSpPr>
            <p:cNvPr id="168" name="Oval 2"/>
            <p:cNvSpPr>
              <a:spLocks noChangeArrowheads="1"/>
            </p:cNvSpPr>
            <p:nvPr/>
          </p:nvSpPr>
          <p:spPr bwMode="auto">
            <a:xfrm>
              <a:off x="5750565" y="2517445"/>
              <a:ext cx="2971799" cy="2971800"/>
            </a:xfrm>
            <a:prstGeom prst="ellipse">
              <a:avLst/>
            </a:prstGeom>
            <a:solidFill>
              <a:schemeClr val="bg1"/>
            </a:solidFill>
            <a:ln w="635000" algn="ctr">
              <a:solidFill>
                <a:srgbClr val="749BB8"/>
              </a:solidFill>
              <a:round/>
              <a:headEnd/>
              <a:tailEnd/>
            </a:ln>
          </p:spPr>
          <p:txBody>
            <a:bodyPr wrap="none" anchor="ctr"/>
            <a:lstStyle/>
            <a:p>
              <a:pPr>
                <a:defRPr/>
              </a:pPr>
              <a:endParaRPr lang="en-US" sz="1200" b="1" kern="0" dirty="0">
                <a:solidFill>
                  <a:sysClr val="windowText" lastClr="000000"/>
                </a:solidFill>
                <a:latin typeface="Arial"/>
                <a:cs typeface="Arial" charset="0"/>
              </a:endParaRPr>
            </a:p>
          </p:txBody>
        </p:sp>
        <p:sp>
          <p:nvSpPr>
            <p:cNvPr id="169" name="AutoShape 14"/>
            <p:cNvSpPr>
              <a:spLocks noChangeArrowheads="1"/>
            </p:cNvSpPr>
            <p:nvPr/>
          </p:nvSpPr>
          <p:spPr bwMode="auto">
            <a:xfrm rot="5400000" flipH="1">
              <a:off x="5625435" y="3655775"/>
              <a:ext cx="304800" cy="685800"/>
            </a:xfrm>
            <a:prstGeom prst="chevron">
              <a:avLst>
                <a:gd name="adj" fmla="val 71431"/>
              </a:avLst>
            </a:prstGeom>
            <a:solidFill>
              <a:schemeClr val="bg1"/>
            </a:solidFill>
            <a:ln w="9525" algn="ctr">
              <a:solidFill>
                <a:srgbClr val="749BB8"/>
              </a:solidFill>
              <a:miter lim="800000"/>
              <a:headEnd/>
              <a:tailEnd/>
            </a:ln>
          </p:spPr>
          <p:txBody>
            <a:bodyPr rot="10800000" wrap="none" anchor="ctr"/>
            <a:lstStyle/>
            <a:p>
              <a:pPr algn="ctr" eaLnBrk="0" hangingPunct="0">
                <a:defRPr/>
              </a:pPr>
              <a:endParaRPr lang="en-US" sz="1000" b="1" kern="0" dirty="0">
                <a:solidFill>
                  <a:sysClr val="windowText" lastClr="000000"/>
                </a:solidFill>
                <a:latin typeface="Arial"/>
                <a:cs typeface="Arial" charset="0"/>
              </a:endParaRPr>
            </a:p>
          </p:txBody>
        </p:sp>
        <p:sp>
          <p:nvSpPr>
            <p:cNvPr id="170" name="AutoShape 14"/>
            <p:cNvSpPr>
              <a:spLocks noChangeArrowheads="1"/>
            </p:cNvSpPr>
            <p:nvPr/>
          </p:nvSpPr>
          <p:spPr bwMode="auto">
            <a:xfrm rot="13294204" flipH="1">
              <a:off x="8139434" y="2597976"/>
              <a:ext cx="313146" cy="722455"/>
            </a:xfrm>
            <a:prstGeom prst="chevron">
              <a:avLst>
                <a:gd name="adj" fmla="val 71431"/>
              </a:avLst>
            </a:prstGeom>
            <a:solidFill>
              <a:schemeClr val="bg1"/>
            </a:solidFill>
            <a:ln w="9525" algn="ctr">
              <a:solidFill>
                <a:srgbClr val="749BB8"/>
              </a:solidFill>
              <a:miter lim="800000"/>
              <a:headEnd/>
              <a:tailEnd/>
            </a:ln>
          </p:spPr>
          <p:txBody>
            <a:bodyPr rot="10800000" wrap="none" anchor="ctr"/>
            <a:lstStyle/>
            <a:p>
              <a:pPr algn="ctr" eaLnBrk="0" hangingPunct="0">
                <a:defRPr/>
              </a:pPr>
              <a:endParaRPr lang="en-US" sz="1000" b="1" kern="0" dirty="0">
                <a:solidFill>
                  <a:sysClr val="windowText" lastClr="000000"/>
                </a:solidFill>
                <a:latin typeface="Arial"/>
                <a:cs typeface="Arial" charset="0"/>
              </a:endParaRPr>
            </a:p>
          </p:txBody>
        </p:sp>
      </p:grpSp>
      <p:sp>
        <p:nvSpPr>
          <p:cNvPr id="165" name="TextBox 164"/>
          <p:cNvSpPr txBox="1"/>
          <p:nvPr/>
        </p:nvSpPr>
        <p:spPr>
          <a:xfrm rot="10800000">
            <a:off x="4731112" y="1791898"/>
            <a:ext cx="3029686" cy="2486655"/>
          </a:xfrm>
          <a:prstGeom prst="rect">
            <a:avLst/>
          </a:prstGeom>
          <a:noFill/>
        </p:spPr>
        <p:txBody>
          <a:bodyPr wrap="none" lIns="68586" tIns="34294" rIns="68586" bIns="34294" rtlCol="0">
            <a:prstTxWarp prst="textCircle">
              <a:avLst>
                <a:gd name="adj" fmla="val 7755756"/>
              </a:avLst>
            </a:prstTxWarp>
            <a:spAutoFit/>
          </a:bodyPr>
          <a:lstStyle/>
          <a:p>
            <a:pPr algn="ctr" defTabSz="914324"/>
            <a:r>
              <a:rPr lang="en-US" sz="1600" b="1" dirty="0">
                <a:solidFill>
                  <a:prstClr val="white"/>
                </a:solidFill>
                <a:latin typeface="Adobe Clean Light"/>
                <a:cs typeface="Adobe Clean Light"/>
              </a:rPr>
              <a:t>Proprietary</a:t>
            </a:r>
          </a:p>
          <a:p>
            <a:pPr algn="ctr" defTabSz="914324"/>
            <a:r>
              <a:rPr lang="en-US" sz="1600" b="1" dirty="0">
                <a:solidFill>
                  <a:prstClr val="white"/>
                </a:solidFill>
                <a:latin typeface="Adobe Clean Light"/>
                <a:cs typeface="Adobe Clean Light"/>
              </a:rPr>
              <a:t> Logic</a:t>
            </a:r>
          </a:p>
        </p:txBody>
      </p:sp>
      <p:sp>
        <p:nvSpPr>
          <p:cNvPr id="166" name="Donut 165"/>
          <p:cNvSpPr/>
          <p:nvPr/>
        </p:nvSpPr>
        <p:spPr>
          <a:xfrm>
            <a:off x="5849264" y="2273870"/>
            <a:ext cx="1687395" cy="1601780"/>
          </a:xfrm>
          <a:prstGeom prst="donut">
            <a:avLst>
              <a:gd name="adj" fmla="val 10713"/>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dirty="0">
              <a:solidFill>
                <a:prstClr val="black"/>
              </a:solidFill>
            </a:endParaRPr>
          </a:p>
        </p:txBody>
      </p:sp>
      <p:grpSp>
        <p:nvGrpSpPr>
          <p:cNvPr id="128" name="Group 127"/>
          <p:cNvGrpSpPr/>
          <p:nvPr/>
        </p:nvGrpSpPr>
        <p:grpSpPr>
          <a:xfrm>
            <a:off x="3197870" y="1609750"/>
            <a:ext cx="3093751" cy="2951247"/>
            <a:chOff x="3944769" y="1722539"/>
            <a:chExt cx="3304459" cy="3320735"/>
          </a:xfrm>
        </p:grpSpPr>
        <p:pic>
          <p:nvPicPr>
            <p:cNvPr id="129" name="Picture 10" descr="http://www.inteneosystems.com/datawarehouse_files/Prism-Logo8b.png"/>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5122518" y="2783537"/>
              <a:ext cx="906531" cy="657418"/>
            </a:xfrm>
            <a:prstGeom prst="rect">
              <a:avLst/>
            </a:prstGeom>
            <a:noFill/>
            <a:extLst>
              <a:ext uri="{909E8E84-426E-40DD-AFC4-6F175D3DCCD1}">
                <a14:hiddenFill xmlns:a14="http://schemas.microsoft.com/office/drawing/2010/main">
                  <a:solidFill>
                    <a:srgbClr val="FFFFFF"/>
                  </a:solidFill>
                </a14:hiddenFill>
              </a:ext>
            </a:extLst>
          </p:spPr>
        </p:pic>
        <p:grpSp>
          <p:nvGrpSpPr>
            <p:cNvPr id="130" name="Group 129"/>
            <p:cNvGrpSpPr/>
            <p:nvPr/>
          </p:nvGrpSpPr>
          <p:grpSpPr>
            <a:xfrm flipH="1">
              <a:off x="3944769" y="1722539"/>
              <a:ext cx="3304459" cy="3320735"/>
              <a:chOff x="3944769" y="1722539"/>
              <a:chExt cx="3304459" cy="3320735"/>
            </a:xfrm>
          </p:grpSpPr>
          <p:grpSp>
            <p:nvGrpSpPr>
              <p:cNvPr id="132" name="Group 131"/>
              <p:cNvGrpSpPr/>
              <p:nvPr/>
            </p:nvGrpSpPr>
            <p:grpSpPr>
              <a:xfrm flipH="1">
                <a:off x="3944769" y="1722539"/>
                <a:ext cx="3304459" cy="3320735"/>
                <a:chOff x="5434935" y="2174544"/>
                <a:chExt cx="3640507" cy="3658439"/>
              </a:xfrm>
            </p:grpSpPr>
            <p:sp>
              <p:nvSpPr>
                <p:cNvPr id="139" name="Oval 2"/>
                <p:cNvSpPr>
                  <a:spLocks noChangeArrowheads="1"/>
                </p:cNvSpPr>
                <p:nvPr/>
              </p:nvSpPr>
              <p:spPr bwMode="auto">
                <a:xfrm>
                  <a:off x="5750566" y="2517446"/>
                  <a:ext cx="2971800" cy="2971799"/>
                </a:xfrm>
                <a:prstGeom prst="ellipse">
                  <a:avLst/>
                </a:prstGeom>
                <a:solidFill>
                  <a:schemeClr val="bg1"/>
                </a:solidFill>
                <a:ln w="635000" algn="ctr">
                  <a:solidFill>
                    <a:srgbClr val="253D9B"/>
                  </a:solidFill>
                  <a:round/>
                  <a:headEnd/>
                  <a:tailEnd/>
                </a:ln>
              </p:spPr>
              <p:txBody>
                <a:bodyPr wrap="none" anchor="ctr"/>
                <a:lstStyle/>
                <a:p>
                  <a:pPr>
                    <a:defRPr/>
                  </a:pPr>
                  <a:endParaRPr lang="en-US" sz="1200" b="1" kern="0" dirty="0">
                    <a:solidFill>
                      <a:sysClr val="windowText" lastClr="000000"/>
                    </a:solidFill>
                    <a:latin typeface="Arial"/>
                    <a:cs typeface="Arial" charset="0"/>
                  </a:endParaRPr>
                </a:p>
              </p:txBody>
            </p:sp>
            <p:sp>
              <p:nvSpPr>
                <p:cNvPr id="140" name="AutoShape 14"/>
                <p:cNvSpPr>
                  <a:spLocks noChangeArrowheads="1"/>
                </p:cNvSpPr>
                <p:nvPr/>
              </p:nvSpPr>
              <p:spPr bwMode="auto">
                <a:xfrm rot="5400000" flipH="1">
                  <a:off x="5625435" y="3655775"/>
                  <a:ext cx="304800" cy="685800"/>
                </a:xfrm>
                <a:prstGeom prst="chevron">
                  <a:avLst>
                    <a:gd name="adj" fmla="val 71431"/>
                  </a:avLst>
                </a:prstGeom>
                <a:solidFill>
                  <a:schemeClr val="bg1"/>
                </a:solidFill>
                <a:ln w="9525" algn="ctr">
                  <a:noFill/>
                  <a:miter lim="800000"/>
                  <a:headEnd/>
                  <a:tailEnd/>
                </a:ln>
              </p:spPr>
              <p:txBody>
                <a:bodyPr rot="10800000" wrap="none" anchor="ctr"/>
                <a:lstStyle/>
                <a:p>
                  <a:pPr algn="ctr" eaLnBrk="0" hangingPunct="0">
                    <a:defRPr/>
                  </a:pPr>
                  <a:endParaRPr lang="en-US" sz="1000" b="1" kern="0" dirty="0">
                    <a:solidFill>
                      <a:sysClr val="windowText" lastClr="000000"/>
                    </a:solidFill>
                    <a:latin typeface="Arial"/>
                    <a:cs typeface="Arial" charset="0"/>
                  </a:endParaRPr>
                </a:p>
              </p:txBody>
            </p:sp>
            <p:sp>
              <p:nvSpPr>
                <p:cNvPr id="141" name="AutoShape 14"/>
                <p:cNvSpPr>
                  <a:spLocks noChangeArrowheads="1"/>
                </p:cNvSpPr>
                <p:nvPr/>
              </p:nvSpPr>
              <p:spPr bwMode="auto">
                <a:xfrm rot="16200000" flipH="1">
                  <a:off x="8580142" y="3655776"/>
                  <a:ext cx="304800" cy="685800"/>
                </a:xfrm>
                <a:prstGeom prst="chevron">
                  <a:avLst>
                    <a:gd name="adj" fmla="val 71431"/>
                  </a:avLst>
                </a:prstGeom>
                <a:solidFill>
                  <a:schemeClr val="bg1"/>
                </a:solidFill>
                <a:ln w="9525" algn="ctr">
                  <a:noFill/>
                  <a:miter lim="800000"/>
                  <a:headEnd/>
                  <a:tailEnd/>
                </a:ln>
              </p:spPr>
              <p:txBody>
                <a:bodyPr rot="10800000" wrap="none" anchor="ctr"/>
                <a:lstStyle/>
                <a:p>
                  <a:pPr algn="ctr" eaLnBrk="0" hangingPunct="0">
                    <a:defRPr/>
                  </a:pPr>
                  <a:endParaRPr lang="en-US" sz="1000" b="1" kern="0" dirty="0">
                    <a:solidFill>
                      <a:sysClr val="windowText" lastClr="000000"/>
                    </a:solidFill>
                    <a:latin typeface="Arial"/>
                    <a:cs typeface="Arial" charset="0"/>
                  </a:endParaRPr>
                </a:p>
              </p:txBody>
            </p:sp>
            <p:sp>
              <p:nvSpPr>
                <p:cNvPr id="142" name="AutoShape 14"/>
                <p:cNvSpPr>
                  <a:spLocks noChangeArrowheads="1"/>
                </p:cNvSpPr>
                <p:nvPr/>
              </p:nvSpPr>
              <p:spPr bwMode="auto">
                <a:xfrm rot="10800000" flipH="1">
                  <a:off x="7084065" y="2174544"/>
                  <a:ext cx="304800" cy="685800"/>
                </a:xfrm>
                <a:prstGeom prst="chevron">
                  <a:avLst>
                    <a:gd name="adj" fmla="val 71431"/>
                  </a:avLst>
                </a:prstGeom>
                <a:solidFill>
                  <a:schemeClr val="bg1"/>
                </a:solidFill>
                <a:ln w="9525" algn="ctr">
                  <a:noFill/>
                  <a:miter lim="800000"/>
                  <a:headEnd/>
                  <a:tailEnd/>
                </a:ln>
              </p:spPr>
              <p:txBody>
                <a:bodyPr rot="10800000" wrap="none" anchor="ctr"/>
                <a:lstStyle/>
                <a:p>
                  <a:pPr algn="ctr" eaLnBrk="0" hangingPunct="0">
                    <a:defRPr/>
                  </a:pPr>
                  <a:endParaRPr lang="en-US" sz="1000" b="1" kern="0" dirty="0">
                    <a:solidFill>
                      <a:sysClr val="windowText" lastClr="000000"/>
                    </a:solidFill>
                    <a:latin typeface="Arial"/>
                    <a:cs typeface="Arial" charset="0"/>
                  </a:endParaRPr>
                </a:p>
              </p:txBody>
            </p:sp>
            <p:sp>
              <p:nvSpPr>
                <p:cNvPr id="143" name="AutoShape 14"/>
                <p:cNvSpPr>
                  <a:spLocks noChangeArrowheads="1"/>
                </p:cNvSpPr>
                <p:nvPr/>
              </p:nvSpPr>
              <p:spPr bwMode="auto">
                <a:xfrm flipH="1">
                  <a:off x="7084065" y="5147183"/>
                  <a:ext cx="304800" cy="685800"/>
                </a:xfrm>
                <a:prstGeom prst="chevron">
                  <a:avLst>
                    <a:gd name="adj" fmla="val 71431"/>
                  </a:avLst>
                </a:prstGeom>
                <a:solidFill>
                  <a:schemeClr val="bg1"/>
                </a:solidFill>
                <a:ln w="9525" algn="ctr">
                  <a:noFill/>
                  <a:miter lim="800000"/>
                  <a:headEnd/>
                  <a:tailEnd/>
                </a:ln>
              </p:spPr>
              <p:txBody>
                <a:bodyPr rot="10800000" wrap="none" anchor="ctr"/>
                <a:lstStyle/>
                <a:p>
                  <a:pPr algn="ctr" eaLnBrk="0" hangingPunct="0">
                    <a:defRPr/>
                  </a:pPr>
                  <a:endParaRPr lang="en-US" sz="1000" b="1" kern="0" dirty="0">
                    <a:solidFill>
                      <a:sysClr val="windowText" lastClr="000000"/>
                    </a:solidFill>
                    <a:latin typeface="Arial"/>
                    <a:cs typeface="Arial" charset="0"/>
                  </a:endParaRPr>
                </a:p>
              </p:txBody>
            </p:sp>
          </p:grpSp>
          <p:sp>
            <p:nvSpPr>
              <p:cNvPr id="133" name="TextBox 132"/>
              <p:cNvSpPr txBox="1"/>
              <p:nvPr/>
            </p:nvSpPr>
            <p:spPr>
              <a:xfrm rot="18987772" flipH="1">
                <a:off x="5210315" y="2093523"/>
                <a:ext cx="1482499" cy="1886429"/>
              </a:xfrm>
              <a:prstGeom prst="rect">
                <a:avLst/>
              </a:prstGeom>
              <a:noFill/>
            </p:spPr>
            <p:txBody>
              <a:bodyPr wrap="none" lIns="68586" tIns="34294" rIns="68586" bIns="34294" rtlCol="0">
                <a:prstTxWarp prst="textCircle">
                  <a:avLst>
                    <a:gd name="adj" fmla="val 7755756"/>
                  </a:avLst>
                </a:prstTxWarp>
                <a:spAutoFit/>
              </a:bodyPr>
              <a:lstStyle/>
              <a:p>
                <a:pPr algn="ctr" defTabSz="914324"/>
                <a:r>
                  <a:rPr lang="en-US" sz="1600" b="1" dirty="0">
                    <a:solidFill>
                      <a:prstClr val="white"/>
                    </a:solidFill>
                    <a:latin typeface="Adobe Clean Light"/>
                    <a:cs typeface="Adobe Clean Light"/>
                  </a:rPr>
                  <a:t>Data </a:t>
                </a:r>
              </a:p>
              <a:p>
                <a:pPr algn="ctr" defTabSz="914324"/>
                <a:r>
                  <a:rPr lang="en-US" sz="1600" b="1" dirty="0">
                    <a:solidFill>
                      <a:prstClr val="white"/>
                    </a:solidFill>
                    <a:latin typeface="Adobe Clean Light"/>
                    <a:cs typeface="Adobe Clean Light"/>
                  </a:rPr>
                  <a:t>Engineering</a:t>
                </a:r>
              </a:p>
            </p:txBody>
          </p:sp>
          <p:sp>
            <p:nvSpPr>
              <p:cNvPr id="134" name="TextBox 133"/>
              <p:cNvSpPr txBox="1"/>
              <p:nvPr/>
            </p:nvSpPr>
            <p:spPr>
              <a:xfrm rot="13357475" flipH="1">
                <a:off x="4588766" y="1986839"/>
                <a:ext cx="1061189" cy="1902505"/>
              </a:xfrm>
              <a:prstGeom prst="rect">
                <a:avLst/>
              </a:prstGeom>
              <a:noFill/>
            </p:spPr>
            <p:txBody>
              <a:bodyPr wrap="none" lIns="68586" tIns="34294" rIns="68586" bIns="34294" rtlCol="0">
                <a:prstTxWarp prst="textCircle">
                  <a:avLst>
                    <a:gd name="adj" fmla="val 7755756"/>
                  </a:avLst>
                </a:prstTxWarp>
                <a:spAutoFit/>
              </a:bodyPr>
              <a:lstStyle/>
              <a:p>
                <a:pPr algn="ctr" defTabSz="914324"/>
                <a:r>
                  <a:rPr lang="en-US" sz="1600" b="1" dirty="0">
                    <a:solidFill>
                      <a:prstClr val="white"/>
                    </a:solidFill>
                    <a:latin typeface="Adobe Clean Light"/>
                    <a:cs typeface="Adobe Clean Light"/>
                  </a:rPr>
                  <a:t>Data</a:t>
                </a:r>
              </a:p>
              <a:p>
                <a:pPr algn="ctr" defTabSz="914324"/>
                <a:r>
                  <a:rPr lang="en-US" sz="1600" b="1" dirty="0">
                    <a:solidFill>
                      <a:prstClr val="white"/>
                    </a:solidFill>
                    <a:latin typeface="Adobe Clean Light"/>
                    <a:cs typeface="Adobe Clean Light"/>
                  </a:rPr>
                  <a:t>Mining</a:t>
                </a:r>
              </a:p>
            </p:txBody>
          </p:sp>
          <p:sp>
            <p:nvSpPr>
              <p:cNvPr id="135" name="TextBox 134"/>
              <p:cNvSpPr txBox="1"/>
              <p:nvPr/>
            </p:nvSpPr>
            <p:spPr>
              <a:xfrm rot="2482117" flipH="1">
                <a:off x="5583603" y="2897224"/>
                <a:ext cx="1061189" cy="1902505"/>
              </a:xfrm>
              <a:prstGeom prst="rect">
                <a:avLst/>
              </a:prstGeom>
              <a:noFill/>
            </p:spPr>
            <p:txBody>
              <a:bodyPr wrap="none" lIns="68586" tIns="34294" rIns="68586" bIns="34294" rtlCol="0">
                <a:prstTxWarp prst="textCircle">
                  <a:avLst>
                    <a:gd name="adj" fmla="val 7755756"/>
                  </a:avLst>
                </a:prstTxWarp>
                <a:spAutoFit/>
              </a:bodyPr>
              <a:lstStyle/>
              <a:p>
                <a:pPr algn="ctr" defTabSz="914324"/>
                <a:r>
                  <a:rPr lang="en-US" sz="1600" b="1" dirty="0">
                    <a:solidFill>
                      <a:prstClr val="white"/>
                    </a:solidFill>
                    <a:latin typeface="Adobe Clean Light"/>
                    <a:cs typeface="Adobe Clean Light"/>
                  </a:rPr>
                  <a:t>Data</a:t>
                </a:r>
              </a:p>
              <a:p>
                <a:pPr algn="ctr" defTabSz="914324"/>
                <a:r>
                  <a:rPr lang="en-US" sz="1600" b="1" dirty="0">
                    <a:solidFill>
                      <a:prstClr val="white"/>
                    </a:solidFill>
                    <a:latin typeface="Adobe Clean Light"/>
                    <a:cs typeface="Adobe Clean Light"/>
                  </a:rPr>
                  <a:t>Intelligence</a:t>
                </a:r>
              </a:p>
            </p:txBody>
          </p:sp>
          <p:sp>
            <p:nvSpPr>
              <p:cNvPr id="136" name="TextBox 135"/>
              <p:cNvSpPr txBox="1"/>
              <p:nvPr/>
            </p:nvSpPr>
            <p:spPr>
              <a:xfrm rot="8018559" flipH="1">
                <a:off x="4590577" y="2964340"/>
                <a:ext cx="1061189" cy="1815203"/>
              </a:xfrm>
              <a:prstGeom prst="rect">
                <a:avLst/>
              </a:prstGeom>
              <a:noFill/>
            </p:spPr>
            <p:txBody>
              <a:bodyPr wrap="none" lIns="68586" tIns="34294" rIns="68586" bIns="34294" rtlCol="0">
                <a:prstTxWarp prst="textCircle">
                  <a:avLst>
                    <a:gd name="adj" fmla="val 7755756"/>
                  </a:avLst>
                </a:prstTxWarp>
                <a:spAutoFit/>
              </a:bodyPr>
              <a:lstStyle/>
              <a:p>
                <a:pPr algn="ctr" defTabSz="914324"/>
                <a:r>
                  <a:rPr lang="en-US" sz="1600" b="1" dirty="0">
                    <a:solidFill>
                      <a:prstClr val="white"/>
                    </a:solidFill>
                    <a:latin typeface="Adobe Clean Light"/>
                    <a:cs typeface="Adobe Clean Light"/>
                  </a:rPr>
                  <a:t>Data</a:t>
                </a:r>
              </a:p>
              <a:p>
                <a:pPr algn="ctr" defTabSz="914324"/>
                <a:r>
                  <a:rPr lang="en-US" sz="1600" b="1" dirty="0">
                    <a:solidFill>
                      <a:prstClr val="white"/>
                    </a:solidFill>
                    <a:latin typeface="Adobe Clean Light"/>
                    <a:cs typeface="Adobe Clean Light"/>
                  </a:rPr>
                  <a:t>Insights</a:t>
                </a:r>
              </a:p>
            </p:txBody>
          </p:sp>
          <p:sp>
            <p:nvSpPr>
              <p:cNvPr id="138" name="Donut 137"/>
              <p:cNvSpPr/>
              <p:nvPr/>
            </p:nvSpPr>
            <p:spPr>
              <a:xfrm flipH="1">
                <a:off x="4712834" y="2481367"/>
                <a:ext cx="1802319" cy="1802318"/>
              </a:xfrm>
              <a:prstGeom prst="donut">
                <a:avLst>
                  <a:gd name="adj" fmla="val 10713"/>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dirty="0">
                  <a:solidFill>
                    <a:prstClr val="black"/>
                  </a:solidFill>
                </a:endParaRPr>
              </a:p>
            </p:txBody>
          </p:sp>
        </p:grpSp>
      </p:grpSp>
      <p:sp>
        <p:nvSpPr>
          <p:cNvPr id="116" name="TextBox 115"/>
          <p:cNvSpPr txBox="1"/>
          <p:nvPr/>
        </p:nvSpPr>
        <p:spPr>
          <a:xfrm rot="5636852">
            <a:off x="6205070" y="1691693"/>
            <a:ext cx="993523" cy="1690819"/>
          </a:xfrm>
          <a:prstGeom prst="rect">
            <a:avLst/>
          </a:prstGeom>
          <a:noFill/>
        </p:spPr>
        <p:txBody>
          <a:bodyPr wrap="none" lIns="68586" tIns="34294" rIns="68586" bIns="34294" rtlCol="0">
            <a:prstTxWarp prst="textCircle">
              <a:avLst>
                <a:gd name="adj" fmla="val 7755756"/>
              </a:avLst>
            </a:prstTxWarp>
            <a:spAutoFit/>
          </a:bodyPr>
          <a:lstStyle/>
          <a:p>
            <a:pPr algn="ctr" defTabSz="914324"/>
            <a:r>
              <a:rPr lang="en-US" sz="1600" b="1" dirty="0">
                <a:solidFill>
                  <a:prstClr val="white"/>
                </a:solidFill>
                <a:latin typeface="Adobe Clean Light"/>
                <a:cs typeface="Adobe Clean Light"/>
              </a:rPr>
              <a:t>Advanced</a:t>
            </a:r>
          </a:p>
          <a:p>
            <a:pPr algn="ctr" defTabSz="914324"/>
            <a:r>
              <a:rPr lang="en-US" sz="1600" b="1" dirty="0">
                <a:solidFill>
                  <a:prstClr val="white"/>
                </a:solidFill>
                <a:latin typeface="Adobe Clean Light"/>
                <a:cs typeface="Adobe Clean Light"/>
              </a:rPr>
              <a:t>Algorithms</a:t>
            </a:r>
          </a:p>
        </p:txBody>
      </p:sp>
      <p:sp>
        <p:nvSpPr>
          <p:cNvPr id="117" name="AutoShape 14"/>
          <p:cNvSpPr>
            <a:spLocks noChangeArrowheads="1"/>
          </p:cNvSpPr>
          <p:nvPr/>
        </p:nvSpPr>
        <p:spPr bwMode="auto">
          <a:xfrm rot="18337604" flipH="1">
            <a:off x="7486942" y="3606200"/>
            <a:ext cx="266116" cy="582802"/>
          </a:xfrm>
          <a:prstGeom prst="chevron">
            <a:avLst>
              <a:gd name="adj" fmla="val 71431"/>
            </a:avLst>
          </a:prstGeom>
          <a:solidFill>
            <a:schemeClr val="bg1"/>
          </a:solidFill>
          <a:ln w="9525" algn="ctr">
            <a:noFill/>
            <a:miter lim="800000"/>
            <a:headEnd/>
            <a:tailEnd/>
          </a:ln>
        </p:spPr>
        <p:txBody>
          <a:bodyPr rot="10800000" wrap="none" anchor="ctr"/>
          <a:lstStyle/>
          <a:p>
            <a:pPr algn="ctr" eaLnBrk="0" hangingPunct="0">
              <a:defRPr/>
            </a:pPr>
            <a:endParaRPr lang="en-US" sz="1000" b="1" kern="0" dirty="0">
              <a:solidFill>
                <a:sysClr val="windowText" lastClr="000000"/>
              </a:solidFill>
              <a:latin typeface="Arial"/>
              <a:cs typeface="Arial" charset="0"/>
            </a:endParaRPr>
          </a:p>
        </p:txBody>
      </p:sp>
      <p:sp>
        <p:nvSpPr>
          <p:cNvPr id="118" name="&quot;Tata Co. Data&quot;"/>
          <p:cNvSpPr txBox="1"/>
          <p:nvPr/>
        </p:nvSpPr>
        <p:spPr>
          <a:xfrm>
            <a:off x="5034024" y="-440494"/>
            <a:ext cx="3417164" cy="4628638"/>
          </a:xfrm>
          <a:prstGeom prst="rect">
            <a:avLst/>
          </a:prstGeom>
          <a:noFill/>
          <a:ln>
            <a:noFill/>
          </a:ln>
        </p:spPr>
        <p:txBody>
          <a:bodyPr wrap="square" lIns="68586" tIns="34294" rIns="68586" bIns="34294" rtlCol="0">
            <a:prstTxWarp prst="textArchDown">
              <a:avLst>
                <a:gd name="adj" fmla="val 122530"/>
              </a:avLst>
            </a:prstTxWarp>
            <a:spAutoFit/>
          </a:bodyPr>
          <a:lstStyle/>
          <a:p>
            <a:pPr algn="ctr" defTabSz="914324">
              <a:spcAft>
                <a:spcPts val="50"/>
              </a:spcAft>
            </a:pPr>
            <a:r>
              <a:rPr lang="en-US" sz="1600" b="1" dirty="0">
                <a:solidFill>
                  <a:prstClr val="white"/>
                </a:solidFill>
                <a:latin typeface="Adobe Clean Light"/>
                <a:cs typeface="Adobe Clean Light"/>
              </a:rPr>
              <a:t> Clusters </a:t>
            </a:r>
          </a:p>
          <a:p>
            <a:pPr algn="ctr" defTabSz="914324">
              <a:spcAft>
                <a:spcPts val="50"/>
              </a:spcAft>
            </a:pPr>
            <a:r>
              <a:rPr lang="en-US" sz="1600" b="1" dirty="0">
                <a:solidFill>
                  <a:prstClr val="white"/>
                </a:solidFill>
                <a:latin typeface="Adobe Clean Light"/>
                <a:cs typeface="Adobe Clean Light"/>
              </a:rPr>
              <a:t>&amp; Networks</a:t>
            </a:r>
            <a:r>
              <a:rPr lang="en-US" sz="1600" b="1" dirty="0">
                <a:solidFill>
                  <a:prstClr val="black"/>
                </a:solidFill>
                <a:latin typeface="Adobe Clean Light"/>
                <a:cs typeface="Adobe Clean Light"/>
              </a:rPr>
              <a:t>  </a:t>
            </a:r>
            <a:endParaRPr lang="en-US" sz="1600" b="1" dirty="0">
              <a:solidFill>
                <a:prstClr val="black">
                  <a:lumMod val="50000"/>
                  <a:lumOff val="50000"/>
                </a:prstClr>
              </a:solidFill>
              <a:latin typeface="Adobe Clean Light"/>
              <a:cs typeface="Adobe Clean Light"/>
            </a:endParaRPr>
          </a:p>
        </p:txBody>
      </p:sp>
      <p:pic>
        <p:nvPicPr>
          <p:cNvPr id="4102" name="Picture 6" descr="https://www.seowebanalyst.com/img/analyze_icon1.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478993" y="2552694"/>
            <a:ext cx="442376" cy="442376"/>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4104" name="Picture 8" descr="http://blog.reskill.me/wp-content/uploads/2015/07/big-data-icon.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499006" y="2554263"/>
            <a:ext cx="451187" cy="451187"/>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26" name="Rectangle 125"/>
          <p:cNvSpPr/>
          <p:nvPr/>
        </p:nvSpPr>
        <p:spPr>
          <a:xfrm>
            <a:off x="1406742" y="3446192"/>
            <a:ext cx="1162376" cy="13635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prstClr val="black"/>
                </a:solidFill>
              </a:rPr>
              <a:t>Big Data Capabilities </a:t>
            </a:r>
            <a:r>
              <a:rPr lang="en-IN" sz="1400" dirty="0">
                <a:solidFill>
                  <a:prstClr val="black"/>
                </a:solidFill>
              </a:rPr>
              <a:t>to handle large data volumes</a:t>
            </a:r>
          </a:p>
        </p:txBody>
      </p:sp>
      <p:pic>
        <p:nvPicPr>
          <p:cNvPr id="119" name="Picture 2" descr="http://ancientgreekparty.global2.vic.edu.au/files/2012/11/Doric-Column-10yjnto.jpg"/>
          <p:cNvPicPr>
            <a:picLocks noChangeAspect="1" noChangeArrowheads="1"/>
          </p:cNvPicPr>
          <p:nvPr/>
        </p:nvPicPr>
        <p:blipFill rotWithShape="1">
          <a:blip r:embed="rId2">
            <a:duotone>
              <a:schemeClr val="bg2">
                <a:shade val="45000"/>
                <a:satMod val="135000"/>
              </a:schemeClr>
              <a:prstClr val="white"/>
            </a:duotone>
            <a:extLst>
              <a:ext uri="{28A0092B-C50C-407E-A947-70E740481C1C}">
                <a14:useLocalDpi xmlns:a14="http://schemas.microsoft.com/office/drawing/2010/main" val="0"/>
              </a:ext>
            </a:extLst>
          </a:blip>
          <a:srcRect l="32692" r="30836"/>
          <a:stretch/>
        </p:blipFill>
        <p:spPr bwMode="auto">
          <a:xfrm>
            <a:off x="263293" y="3147990"/>
            <a:ext cx="1042332" cy="1806013"/>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166175" y="3446192"/>
            <a:ext cx="1091316" cy="1366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prstClr val="black"/>
                </a:solidFill>
              </a:rPr>
              <a:t>Permissible access </a:t>
            </a:r>
            <a:r>
              <a:rPr lang="en-IN" sz="1400" dirty="0">
                <a:solidFill>
                  <a:prstClr val="black"/>
                </a:solidFill>
              </a:rPr>
              <a:t>to leverage Group  Co. Data</a:t>
            </a:r>
          </a:p>
        </p:txBody>
      </p:sp>
      <p:sp>
        <p:nvSpPr>
          <p:cNvPr id="5" name="Rectangle 4"/>
          <p:cNvSpPr/>
          <p:nvPr/>
        </p:nvSpPr>
        <p:spPr>
          <a:xfrm>
            <a:off x="166175" y="2759109"/>
            <a:ext cx="2319030" cy="502285"/>
          </a:xfrm>
          <a:prstGeom prst="rect">
            <a:avLst/>
          </a:prstGeom>
          <a:solidFill>
            <a:schemeClr val="bg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prstClr val="black"/>
                </a:solidFill>
              </a:rPr>
              <a:t>Public </a:t>
            </a:r>
            <a:r>
              <a:rPr lang="en-IN" sz="1400" dirty="0">
                <a:solidFill>
                  <a:prstClr val="black"/>
                </a:solidFill>
              </a:rPr>
              <a:t>Database</a:t>
            </a:r>
          </a:p>
        </p:txBody>
      </p:sp>
      <p:sp>
        <p:nvSpPr>
          <p:cNvPr id="124" name="Rectangle 123"/>
          <p:cNvSpPr/>
          <p:nvPr/>
        </p:nvSpPr>
        <p:spPr>
          <a:xfrm>
            <a:off x="163561" y="2179122"/>
            <a:ext cx="2319030" cy="487455"/>
          </a:xfrm>
          <a:prstGeom prst="rect">
            <a:avLst/>
          </a:prstGeom>
          <a:solidFill>
            <a:schemeClr val="bg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prstClr val="black"/>
                </a:solidFill>
              </a:rPr>
              <a:t>Internal</a:t>
            </a:r>
            <a:r>
              <a:rPr lang="en-IN" sz="1400" dirty="0">
                <a:solidFill>
                  <a:prstClr val="black"/>
                </a:solidFill>
              </a:rPr>
              <a:t> Tata Co. Data</a:t>
            </a:r>
          </a:p>
        </p:txBody>
      </p:sp>
      <p:sp>
        <p:nvSpPr>
          <p:cNvPr id="13" name="TextBox 12"/>
          <p:cNvSpPr txBox="1"/>
          <p:nvPr/>
        </p:nvSpPr>
        <p:spPr>
          <a:xfrm>
            <a:off x="4069465" y="3038213"/>
            <a:ext cx="1323291" cy="646331"/>
          </a:xfrm>
          <a:prstGeom prst="rect">
            <a:avLst/>
          </a:prstGeom>
          <a:noFill/>
        </p:spPr>
        <p:txBody>
          <a:bodyPr wrap="square" rtlCol="0">
            <a:spAutoFit/>
          </a:bodyPr>
          <a:lstStyle/>
          <a:p>
            <a:pPr algn="ctr"/>
            <a:r>
              <a:rPr lang="en-IN" sz="1200" b="1" dirty="0">
                <a:solidFill>
                  <a:prstClr val="black"/>
                </a:solidFill>
              </a:rPr>
              <a:t>Big Data Management Expertise</a:t>
            </a:r>
          </a:p>
        </p:txBody>
      </p:sp>
      <p:sp>
        <p:nvSpPr>
          <p:cNvPr id="144" name="TextBox 143"/>
          <p:cNvSpPr txBox="1"/>
          <p:nvPr/>
        </p:nvSpPr>
        <p:spPr>
          <a:xfrm>
            <a:off x="6191829" y="3035772"/>
            <a:ext cx="1169745" cy="646331"/>
          </a:xfrm>
          <a:prstGeom prst="rect">
            <a:avLst/>
          </a:prstGeom>
          <a:noFill/>
        </p:spPr>
        <p:txBody>
          <a:bodyPr wrap="square" rtlCol="0">
            <a:spAutoFit/>
          </a:bodyPr>
          <a:lstStyle/>
          <a:p>
            <a:pPr algn="ctr"/>
            <a:r>
              <a:rPr lang="en-IN" sz="1200" b="1" dirty="0">
                <a:solidFill>
                  <a:prstClr val="black"/>
                </a:solidFill>
              </a:rPr>
              <a:t>Analytics to mine Customer Insights</a:t>
            </a:r>
          </a:p>
        </p:txBody>
      </p:sp>
      <p:sp>
        <p:nvSpPr>
          <p:cNvPr id="120" name="Slide Number Placeholder 3"/>
          <p:cNvSpPr>
            <a:spLocks noGrp="1"/>
          </p:cNvSpPr>
          <p:nvPr>
            <p:ph type="sldNum" sz="quarter" idx="12"/>
          </p:nvPr>
        </p:nvSpPr>
        <p:spPr>
          <a:xfrm>
            <a:off x="9448800" y="-37192"/>
            <a:ext cx="2743200" cy="365125"/>
          </a:xfrm>
        </p:spPr>
        <p:txBody>
          <a:bodyPr/>
          <a:lstStyle/>
          <a:p>
            <a:fld id="{BD492131-B48F-41F5-954C-AE8F4BAC3006}" type="slidenum">
              <a:rPr lang="en-IN" smtClean="0">
                <a:solidFill>
                  <a:prstClr val="black">
                    <a:tint val="75000"/>
                  </a:prstClr>
                </a:solidFill>
              </a:rPr>
              <a:pPr/>
              <a:t>15</a:t>
            </a:fld>
            <a:endParaRPr lang="en-IN" dirty="0">
              <a:solidFill>
                <a:prstClr val="black">
                  <a:tint val="75000"/>
                </a:prstClr>
              </a:solidFill>
            </a:endParaRPr>
          </a:p>
        </p:txBody>
      </p:sp>
    </p:spTree>
    <p:extLst>
      <p:ext uri="{BB962C8B-B14F-4D97-AF65-F5344CB8AC3E}">
        <p14:creationId xmlns:p14="http://schemas.microsoft.com/office/powerpoint/2010/main" val="18456867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9" name="Straight Connector 38"/>
          <p:cNvCxnSpPr/>
          <p:nvPr/>
        </p:nvCxnSpPr>
        <p:spPr>
          <a:xfrm>
            <a:off x="6096000" y="1673883"/>
            <a:ext cx="0" cy="4248431"/>
          </a:xfrm>
          <a:prstGeom prst="line">
            <a:avLst/>
          </a:prstGeom>
          <a:ln w="28575">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p>
        </p:txBody>
      </p:sp>
      <p:grpSp>
        <p:nvGrpSpPr>
          <p:cNvPr id="12" name="Group 11"/>
          <p:cNvGrpSpPr/>
          <p:nvPr/>
        </p:nvGrpSpPr>
        <p:grpSpPr>
          <a:xfrm>
            <a:off x="1" y="9726"/>
            <a:ext cx="12192000" cy="954107"/>
            <a:chOff x="1" y="60293"/>
            <a:chExt cx="12192000" cy="954107"/>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1862472" y="60293"/>
              <a:ext cx="8467061" cy="954107"/>
            </a:xfrm>
            <a:prstGeom prst="rect">
              <a:avLst/>
            </a:prstGeom>
            <a:solidFill>
              <a:schemeClr val="bg1"/>
            </a:solidFill>
          </p:spPr>
          <p:txBody>
            <a:bodyPr wrap="none" anchor="ctr">
              <a:spAutoFit/>
            </a:bodyPr>
            <a:lstStyle/>
            <a:p>
              <a:pPr marL="0" lvl="1" algn="ctr"/>
              <a:r>
                <a:rPr lang="en-IN" sz="2800" b="1" dirty="0">
                  <a:solidFill>
                    <a:srgbClr val="0070C0"/>
                  </a:solidFill>
                  <a:latin typeface="Leelawadee UI" panose="020B0502040204020203" pitchFamily="34" charset="-34"/>
                  <a:cs typeface="Leelawadee UI" panose="020B0502040204020203" pitchFamily="34" charset="-34"/>
                </a:rPr>
                <a:t>Tata iQ is building a World Class Technology Solution</a:t>
              </a:r>
            </a:p>
            <a:p>
              <a:pPr marL="0" lvl="1" algn="ctr"/>
              <a:r>
                <a:rPr lang="en-IN" sz="2800" b="1" dirty="0">
                  <a:solidFill>
                    <a:srgbClr val="0070C0"/>
                  </a:solidFill>
                  <a:latin typeface="Leelawadee UI" panose="020B0502040204020203" pitchFamily="34" charset="-34"/>
                  <a:cs typeface="Leelawadee UI" panose="020B0502040204020203" pitchFamily="34" charset="-34"/>
                </a:rPr>
                <a:t>with the Right Mix of Talent</a:t>
              </a:r>
            </a:p>
          </p:txBody>
        </p:sp>
      </p:grpSp>
      <p:grpSp>
        <p:nvGrpSpPr>
          <p:cNvPr id="42" name="Group 41"/>
          <p:cNvGrpSpPr/>
          <p:nvPr/>
        </p:nvGrpSpPr>
        <p:grpSpPr>
          <a:xfrm>
            <a:off x="1" y="964472"/>
            <a:ext cx="12254051" cy="479339"/>
            <a:chOff x="-80752" y="1326530"/>
            <a:chExt cx="12673612" cy="479339"/>
          </a:xfrm>
          <a:solidFill>
            <a:srgbClr val="7030A0"/>
          </a:solidFill>
        </p:grpSpPr>
        <p:sp>
          <p:nvSpPr>
            <p:cNvPr id="43" name="Rectangle 42"/>
            <p:cNvSpPr/>
            <p:nvPr/>
          </p:nvSpPr>
          <p:spPr>
            <a:xfrm>
              <a:off x="-80752" y="1326530"/>
              <a:ext cx="6304718" cy="47919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spc="600" dirty="0">
                  <a:solidFill>
                    <a:prstClr val="white"/>
                  </a:solidFill>
                  <a:latin typeface="Leelawadee UI" panose="020B0502040204020203" pitchFamily="34" charset="-34"/>
                  <a:cs typeface="Leelawadee UI" panose="020B0502040204020203" pitchFamily="34" charset="-34"/>
                </a:rPr>
                <a:t>TECHNOLOGY</a:t>
              </a:r>
            </a:p>
          </p:txBody>
        </p:sp>
        <p:sp>
          <p:nvSpPr>
            <p:cNvPr id="46" name="Rectangle 45"/>
            <p:cNvSpPr/>
            <p:nvPr/>
          </p:nvSpPr>
          <p:spPr>
            <a:xfrm>
              <a:off x="6223965" y="1326677"/>
              <a:ext cx="6368895" cy="479192"/>
            </a:xfrm>
            <a:prstGeom prst="rect">
              <a:avLst/>
            </a:prstGeom>
            <a:solidFill>
              <a:srgbClr val="7030A0">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spc="600" dirty="0">
                  <a:solidFill>
                    <a:prstClr val="white"/>
                  </a:solidFill>
                  <a:latin typeface="Leelawadee UI" panose="020B0502040204020203" pitchFamily="34" charset="-34"/>
                  <a:cs typeface="Leelawadee UI" panose="020B0502040204020203" pitchFamily="34" charset="-34"/>
                </a:rPr>
                <a:t>TALENT</a:t>
              </a:r>
            </a:p>
          </p:txBody>
        </p:sp>
      </p:grpSp>
      <p:grpSp>
        <p:nvGrpSpPr>
          <p:cNvPr id="8" name="Group 7"/>
          <p:cNvGrpSpPr/>
          <p:nvPr/>
        </p:nvGrpSpPr>
        <p:grpSpPr>
          <a:xfrm>
            <a:off x="266700" y="1584893"/>
            <a:ext cx="5718232" cy="4111561"/>
            <a:chOff x="266700" y="1758637"/>
            <a:chExt cx="5718232" cy="4111561"/>
          </a:xfrm>
        </p:grpSpPr>
        <p:sp>
          <p:nvSpPr>
            <p:cNvPr id="91" name="Rectangle 90"/>
            <p:cNvSpPr/>
            <p:nvPr/>
          </p:nvSpPr>
          <p:spPr>
            <a:xfrm>
              <a:off x="266700" y="1758637"/>
              <a:ext cx="5379999" cy="1261884"/>
            </a:xfrm>
            <a:prstGeom prst="rect">
              <a:avLst/>
            </a:prstGeom>
            <a:solidFill>
              <a:schemeClr val="bg1"/>
            </a:solidFill>
          </p:spPr>
          <p:txBody>
            <a:bodyPr wrap="none" anchor="ctr">
              <a:spAutoFit/>
            </a:bodyPr>
            <a:lstStyle/>
            <a:p>
              <a:pPr marL="0" lvl="1"/>
              <a:r>
                <a:rPr lang="en-IN" sz="2800" b="1" dirty="0">
                  <a:solidFill>
                    <a:srgbClr val="000000">
                      <a:lumMod val="75000"/>
                      <a:lumOff val="25000"/>
                    </a:srgbClr>
                  </a:solidFill>
                  <a:latin typeface="Leelawadee UI" panose="020B0502040204020203" pitchFamily="34" charset="-34"/>
                  <a:cs typeface="Leelawadee UI" panose="020B0502040204020203" pitchFamily="34" charset="-34"/>
                </a:rPr>
                <a:t>NIMBLE</a:t>
              </a:r>
              <a:endParaRPr lang="en-IN" sz="2000" b="1" dirty="0">
                <a:solidFill>
                  <a:srgbClr val="000000">
                    <a:lumMod val="75000"/>
                    <a:lumOff val="25000"/>
                  </a:srgbClr>
                </a:solidFill>
                <a:latin typeface="Leelawadee UI" panose="020B0502040204020203" pitchFamily="34" charset="-34"/>
                <a:cs typeface="Leelawadee UI" panose="020B0502040204020203" pitchFamily="34" charset="-34"/>
              </a:endParaRPr>
            </a:p>
            <a:p>
              <a:pPr marL="231775" lvl="1" indent="-231775" defTabSz="711200">
                <a:lnSpc>
                  <a:spcPct val="90000"/>
                </a:lnSpc>
                <a:spcBef>
                  <a:spcPct val="0"/>
                </a:spcBef>
                <a:spcAft>
                  <a:spcPct val="15000"/>
                </a:spcAft>
                <a:buClr>
                  <a:srgbClr val="7030A0"/>
                </a:buClr>
                <a:buFontTx/>
                <a:buChar char="••"/>
                <a:defRPr/>
              </a:pPr>
              <a:r>
                <a:rPr lang="en-IN" sz="1600" i="1" kern="0" dirty="0">
                  <a:solidFill>
                    <a:prstClr val="black">
                      <a:hueOff val="0"/>
                      <a:satOff val="0"/>
                      <a:lumOff val="0"/>
                      <a:alphaOff val="0"/>
                    </a:prstClr>
                  </a:solidFill>
                  <a:latin typeface="Century Gothic"/>
                </a:rPr>
                <a:t>Industry grade Hardware – Dell, Cisco, </a:t>
              </a:r>
            </a:p>
            <a:p>
              <a:pPr marL="231775" lvl="1" indent="-231775" defTabSz="711200">
                <a:lnSpc>
                  <a:spcPct val="90000"/>
                </a:lnSpc>
                <a:spcBef>
                  <a:spcPct val="0"/>
                </a:spcBef>
                <a:spcAft>
                  <a:spcPct val="15000"/>
                </a:spcAft>
                <a:buClr>
                  <a:srgbClr val="7030A0"/>
                </a:buClr>
                <a:buFontTx/>
                <a:buChar char="••"/>
                <a:defRPr/>
              </a:pPr>
              <a:r>
                <a:rPr lang="en-IN" sz="1600" i="1" kern="0" dirty="0">
                  <a:solidFill>
                    <a:prstClr val="black">
                      <a:hueOff val="0"/>
                      <a:satOff val="0"/>
                      <a:lumOff val="0"/>
                      <a:alphaOff val="0"/>
                    </a:prstClr>
                  </a:solidFill>
                  <a:latin typeface="Century Gothic"/>
                </a:rPr>
                <a:t>World Class data centre – Tata Communications</a:t>
              </a:r>
            </a:p>
            <a:p>
              <a:pPr marL="231775" lvl="1" indent="-231775" defTabSz="711200">
                <a:lnSpc>
                  <a:spcPct val="90000"/>
                </a:lnSpc>
                <a:spcBef>
                  <a:spcPct val="0"/>
                </a:spcBef>
                <a:spcAft>
                  <a:spcPct val="15000"/>
                </a:spcAft>
                <a:buClr>
                  <a:srgbClr val="7030A0"/>
                </a:buClr>
                <a:buFontTx/>
                <a:buChar char="••"/>
                <a:defRPr/>
              </a:pPr>
              <a:r>
                <a:rPr lang="en-IN" sz="1600" i="1" kern="0" dirty="0">
                  <a:solidFill>
                    <a:prstClr val="black">
                      <a:hueOff val="0"/>
                      <a:satOff val="0"/>
                      <a:lumOff val="0"/>
                      <a:alphaOff val="0"/>
                    </a:prstClr>
                  </a:solidFill>
                  <a:latin typeface="Century Gothic"/>
                </a:rPr>
                <a:t>Best of breed technology stack</a:t>
              </a:r>
              <a:endParaRPr lang="en-IN" sz="2000" b="1" dirty="0">
                <a:solidFill>
                  <a:srgbClr val="000000">
                    <a:lumMod val="75000"/>
                    <a:lumOff val="25000"/>
                  </a:srgbClr>
                </a:solidFill>
                <a:latin typeface="Leelawadee UI" panose="020B0502040204020203" pitchFamily="34" charset="-34"/>
                <a:cs typeface="Leelawadee UI" panose="020B0502040204020203" pitchFamily="34" charset="-34"/>
              </a:endParaRPr>
            </a:p>
          </p:txBody>
        </p:sp>
        <p:sp>
          <p:nvSpPr>
            <p:cNvPr id="92" name="Rectangle 91"/>
            <p:cNvSpPr/>
            <p:nvPr/>
          </p:nvSpPr>
          <p:spPr>
            <a:xfrm>
              <a:off x="266700" y="3190400"/>
              <a:ext cx="5718232" cy="1261884"/>
            </a:xfrm>
            <a:prstGeom prst="rect">
              <a:avLst/>
            </a:prstGeom>
            <a:solidFill>
              <a:schemeClr val="bg1"/>
            </a:solidFill>
          </p:spPr>
          <p:txBody>
            <a:bodyPr wrap="none" anchor="ctr">
              <a:spAutoFit/>
            </a:bodyPr>
            <a:lstStyle/>
            <a:p>
              <a:pPr marL="0" lvl="1"/>
              <a:r>
                <a:rPr lang="en-IN" sz="2800" b="1" dirty="0">
                  <a:solidFill>
                    <a:srgbClr val="000000">
                      <a:lumMod val="75000"/>
                      <a:lumOff val="25000"/>
                    </a:srgbClr>
                  </a:solidFill>
                  <a:latin typeface="Leelawadee UI" panose="020B0502040204020203" pitchFamily="34" charset="-34"/>
                  <a:cs typeface="Leelawadee UI" panose="020B0502040204020203" pitchFamily="34" charset="-34"/>
                </a:rPr>
                <a:t>COST EFFICIENT</a:t>
              </a:r>
              <a:endParaRPr lang="en-IN" sz="2000" b="1" dirty="0">
                <a:solidFill>
                  <a:srgbClr val="000000">
                    <a:lumMod val="75000"/>
                    <a:lumOff val="25000"/>
                  </a:srgbClr>
                </a:solidFill>
                <a:latin typeface="Leelawadee UI" panose="020B0502040204020203" pitchFamily="34" charset="-34"/>
                <a:cs typeface="Leelawadee UI" panose="020B0502040204020203" pitchFamily="34" charset="-34"/>
              </a:endParaRPr>
            </a:p>
            <a:p>
              <a:pPr marL="231775" lvl="1" indent="-231775" defTabSz="711200">
                <a:lnSpc>
                  <a:spcPct val="90000"/>
                </a:lnSpc>
                <a:spcBef>
                  <a:spcPct val="0"/>
                </a:spcBef>
                <a:spcAft>
                  <a:spcPct val="15000"/>
                </a:spcAft>
                <a:buClr>
                  <a:srgbClr val="7030A0"/>
                </a:buClr>
                <a:buFontTx/>
                <a:buChar char="••"/>
                <a:defRPr/>
              </a:pPr>
              <a:r>
                <a:rPr lang="en-IN" sz="1600" i="1" kern="0" dirty="0">
                  <a:solidFill>
                    <a:prstClr val="black">
                      <a:hueOff val="0"/>
                      <a:satOff val="0"/>
                      <a:lumOff val="0"/>
                      <a:alphaOff val="0"/>
                    </a:prstClr>
                  </a:solidFill>
                  <a:latin typeface="Century Gothic"/>
                </a:rPr>
                <a:t>Use of Big Data (Hadoop) </a:t>
              </a:r>
              <a:r>
                <a:rPr lang="en-IN" sz="1600" i="1" kern="0">
                  <a:solidFill>
                    <a:prstClr val="black">
                      <a:hueOff val="0"/>
                      <a:satOff val="0"/>
                      <a:lumOff val="0"/>
                      <a:alphaOff val="0"/>
                    </a:prstClr>
                  </a:solidFill>
                  <a:latin typeface="Century Gothic"/>
                </a:rPr>
                <a:t>Infra 1/5 </a:t>
              </a:r>
              <a:r>
                <a:rPr lang="en-IN" sz="1600" i="1" kern="0" dirty="0">
                  <a:solidFill>
                    <a:prstClr val="black">
                      <a:hueOff val="0"/>
                      <a:satOff val="0"/>
                      <a:lumOff val="0"/>
                      <a:alphaOff val="0"/>
                    </a:prstClr>
                  </a:solidFill>
                  <a:latin typeface="Century Gothic"/>
                </a:rPr>
                <a:t>Cost to traditional </a:t>
              </a:r>
            </a:p>
            <a:p>
              <a:pPr marL="231775" lvl="1" indent="-231775" defTabSz="711200">
                <a:lnSpc>
                  <a:spcPct val="90000"/>
                </a:lnSpc>
                <a:spcBef>
                  <a:spcPct val="0"/>
                </a:spcBef>
                <a:spcAft>
                  <a:spcPct val="15000"/>
                </a:spcAft>
                <a:buClr>
                  <a:srgbClr val="7030A0"/>
                </a:buClr>
                <a:buFontTx/>
                <a:buChar char="••"/>
                <a:defRPr/>
              </a:pPr>
              <a:r>
                <a:rPr lang="en-IN" sz="1600" i="1" kern="0" dirty="0">
                  <a:solidFill>
                    <a:prstClr val="black">
                      <a:hueOff val="0"/>
                      <a:satOff val="0"/>
                      <a:lumOff val="0"/>
                      <a:alphaOff val="0"/>
                    </a:prstClr>
                  </a:solidFill>
                  <a:latin typeface="Century Gothic"/>
                </a:rPr>
                <a:t>Mix of Open Source &amp; industry grade tools. </a:t>
              </a:r>
            </a:p>
            <a:p>
              <a:pPr marL="231775" lvl="1" indent="-231775" defTabSz="711200">
                <a:lnSpc>
                  <a:spcPct val="90000"/>
                </a:lnSpc>
                <a:spcBef>
                  <a:spcPct val="0"/>
                </a:spcBef>
                <a:spcAft>
                  <a:spcPct val="15000"/>
                </a:spcAft>
                <a:buClr>
                  <a:srgbClr val="7030A0"/>
                </a:buClr>
                <a:buFontTx/>
                <a:buChar char="••"/>
                <a:defRPr/>
              </a:pPr>
              <a:r>
                <a:rPr lang="en-IN" sz="1600" i="1" kern="0" dirty="0">
                  <a:solidFill>
                    <a:prstClr val="black">
                      <a:hueOff val="0"/>
                      <a:satOff val="0"/>
                      <a:lumOff val="0"/>
                      <a:alphaOff val="0"/>
                    </a:prstClr>
                  </a:solidFill>
                  <a:latin typeface="Century Gothic"/>
                </a:rPr>
                <a:t>Best of breed tools </a:t>
              </a:r>
            </a:p>
          </p:txBody>
        </p:sp>
        <p:sp>
          <p:nvSpPr>
            <p:cNvPr id="93" name="Rectangle 92"/>
            <p:cNvSpPr/>
            <p:nvPr/>
          </p:nvSpPr>
          <p:spPr>
            <a:xfrm>
              <a:off x="266700" y="4608314"/>
              <a:ext cx="5157181" cy="1261884"/>
            </a:xfrm>
            <a:prstGeom prst="rect">
              <a:avLst/>
            </a:prstGeom>
            <a:solidFill>
              <a:schemeClr val="bg1"/>
            </a:solidFill>
          </p:spPr>
          <p:txBody>
            <a:bodyPr wrap="none" anchor="ctr">
              <a:spAutoFit/>
            </a:bodyPr>
            <a:lstStyle/>
            <a:p>
              <a:pPr marL="0" lvl="1"/>
              <a:r>
                <a:rPr lang="en-IN" sz="2800" b="1" dirty="0">
                  <a:solidFill>
                    <a:srgbClr val="000000">
                      <a:lumMod val="75000"/>
                      <a:lumOff val="25000"/>
                    </a:srgbClr>
                  </a:solidFill>
                  <a:latin typeface="Leelawadee UI" panose="020B0502040204020203" pitchFamily="34" charset="-34"/>
                  <a:cs typeface="Leelawadee UI" panose="020B0502040204020203" pitchFamily="34" charset="-34"/>
                </a:rPr>
                <a:t>SCALABLE</a:t>
              </a:r>
              <a:endParaRPr lang="en-IN" sz="2000" b="1" dirty="0">
                <a:solidFill>
                  <a:srgbClr val="000000">
                    <a:lumMod val="75000"/>
                    <a:lumOff val="25000"/>
                  </a:srgbClr>
                </a:solidFill>
                <a:latin typeface="Leelawadee UI" panose="020B0502040204020203" pitchFamily="34" charset="-34"/>
                <a:cs typeface="Leelawadee UI" panose="020B0502040204020203" pitchFamily="34" charset="-34"/>
              </a:endParaRPr>
            </a:p>
            <a:p>
              <a:pPr marL="231775" lvl="1" indent="-231775" defTabSz="711200">
                <a:lnSpc>
                  <a:spcPct val="90000"/>
                </a:lnSpc>
                <a:spcBef>
                  <a:spcPct val="0"/>
                </a:spcBef>
                <a:spcAft>
                  <a:spcPct val="15000"/>
                </a:spcAft>
                <a:buClr>
                  <a:srgbClr val="7030A0"/>
                </a:buClr>
                <a:buFontTx/>
                <a:buChar char="••"/>
                <a:defRPr/>
              </a:pPr>
              <a:r>
                <a:rPr lang="en-IN" sz="1600" i="1" kern="0" dirty="0">
                  <a:solidFill>
                    <a:prstClr val="black">
                      <a:hueOff val="0"/>
                      <a:satOff val="0"/>
                      <a:lumOff val="0"/>
                      <a:alphaOff val="0"/>
                    </a:prstClr>
                  </a:solidFill>
                  <a:latin typeface="Century Gothic"/>
                </a:rPr>
                <a:t>Big data Infra Scalable </a:t>
              </a:r>
              <a:r>
                <a:rPr lang="en-IN" sz="1600" i="1" kern="0">
                  <a:solidFill>
                    <a:prstClr val="black">
                      <a:hueOff val="0"/>
                      <a:satOff val="0"/>
                      <a:lumOff val="0"/>
                      <a:alphaOff val="0"/>
                    </a:prstClr>
                  </a:solidFill>
                  <a:latin typeface="Century Gothic"/>
                </a:rPr>
                <a:t>to 100x </a:t>
              </a:r>
              <a:r>
                <a:rPr lang="en-IN" sz="1600" i="1" kern="0" dirty="0">
                  <a:solidFill>
                    <a:prstClr val="black">
                      <a:hueOff val="0"/>
                      <a:satOff val="0"/>
                      <a:lumOff val="0"/>
                      <a:alphaOff val="0"/>
                    </a:prstClr>
                  </a:solidFill>
                  <a:latin typeface="Century Gothic"/>
                </a:rPr>
                <a:t>capacity</a:t>
              </a:r>
            </a:p>
            <a:p>
              <a:pPr marL="231775" lvl="1" indent="-231775" defTabSz="711200">
                <a:lnSpc>
                  <a:spcPct val="90000"/>
                </a:lnSpc>
                <a:spcBef>
                  <a:spcPct val="0"/>
                </a:spcBef>
                <a:spcAft>
                  <a:spcPct val="15000"/>
                </a:spcAft>
                <a:buClr>
                  <a:srgbClr val="7030A0"/>
                </a:buClr>
                <a:buFontTx/>
                <a:buChar char="••"/>
                <a:defRPr/>
              </a:pPr>
              <a:r>
                <a:rPr lang="en-IN" sz="1600" i="1" kern="0" dirty="0">
                  <a:solidFill>
                    <a:prstClr val="black">
                      <a:hueOff val="0"/>
                      <a:satOff val="0"/>
                      <a:lumOff val="0"/>
                      <a:alphaOff val="0"/>
                    </a:prstClr>
                  </a:solidFill>
                  <a:latin typeface="Century Gothic"/>
                </a:rPr>
                <a:t>Flexible infra model with Tata Communications. </a:t>
              </a:r>
            </a:p>
            <a:p>
              <a:pPr marL="231775" lvl="1" indent="-231775" defTabSz="711200">
                <a:lnSpc>
                  <a:spcPct val="90000"/>
                </a:lnSpc>
                <a:spcBef>
                  <a:spcPct val="0"/>
                </a:spcBef>
                <a:spcAft>
                  <a:spcPct val="15000"/>
                </a:spcAft>
                <a:buClr>
                  <a:srgbClr val="7030A0"/>
                </a:buClr>
                <a:buFontTx/>
                <a:buChar char="••"/>
                <a:defRPr/>
              </a:pPr>
              <a:r>
                <a:rPr lang="en-IN" sz="1600" i="1" kern="0" dirty="0">
                  <a:solidFill>
                    <a:prstClr val="black">
                      <a:hueOff val="0"/>
                      <a:satOff val="0"/>
                      <a:lumOff val="0"/>
                      <a:alphaOff val="0"/>
                    </a:prstClr>
                  </a:solidFill>
                  <a:latin typeface="Century Gothic"/>
                </a:rPr>
                <a:t>Time to scale </a:t>
              </a:r>
              <a:r>
                <a:rPr lang="en-IN" sz="1600" i="1" kern="0">
                  <a:solidFill>
                    <a:prstClr val="black">
                      <a:hueOff val="0"/>
                      <a:satOff val="0"/>
                      <a:lumOff val="0"/>
                      <a:alphaOff val="0"/>
                    </a:prstClr>
                  </a:solidFill>
                  <a:latin typeface="Century Gothic"/>
                </a:rPr>
                <a:t>&lt; 3 </a:t>
              </a:r>
              <a:r>
                <a:rPr lang="en-IN" sz="1600" i="1" kern="0" dirty="0">
                  <a:solidFill>
                    <a:prstClr val="black">
                      <a:hueOff val="0"/>
                      <a:satOff val="0"/>
                      <a:lumOff val="0"/>
                      <a:alphaOff val="0"/>
                    </a:prstClr>
                  </a:solidFill>
                  <a:latin typeface="Century Gothic"/>
                </a:rPr>
                <a:t>months.</a:t>
              </a:r>
            </a:p>
          </p:txBody>
        </p:sp>
      </p:grpSp>
      <p:grpSp>
        <p:nvGrpSpPr>
          <p:cNvPr id="5" name="Group 4"/>
          <p:cNvGrpSpPr/>
          <p:nvPr/>
        </p:nvGrpSpPr>
        <p:grpSpPr>
          <a:xfrm>
            <a:off x="6533952" y="1626738"/>
            <a:ext cx="5120084" cy="4425719"/>
            <a:chOff x="6385521" y="1881009"/>
            <a:chExt cx="5120084" cy="4821153"/>
          </a:xfrm>
        </p:grpSpPr>
        <p:sp>
          <p:nvSpPr>
            <p:cNvPr id="133" name="Rectangle 132"/>
            <p:cNvSpPr/>
            <p:nvPr/>
          </p:nvSpPr>
          <p:spPr>
            <a:xfrm>
              <a:off x="6385521" y="1881009"/>
              <a:ext cx="2457978" cy="2663696"/>
            </a:xfrm>
            <a:prstGeom prst="rect">
              <a:avLst/>
            </a:prstGeom>
            <a:noFill/>
            <a:ln w="28575" cap="rnd" cmpd="sng" algn="ctr">
              <a:solidFill>
                <a:schemeClr val="bg1">
                  <a:lumMod val="75000"/>
                </a:schemeClr>
              </a:solidFill>
              <a:prstDash val="solid"/>
            </a:ln>
            <a:effectLst/>
          </p:spPr>
          <p:txBody>
            <a:bodyPr rtlCol="0" anchor="ctr"/>
            <a:lstStyle/>
            <a:p>
              <a:pPr algn="ctr">
                <a:defRPr/>
              </a:pPr>
              <a:endParaRPr lang="en-IN" sz="1200" kern="0" dirty="0">
                <a:solidFill>
                  <a:prstClr val="white"/>
                </a:solidFill>
                <a:latin typeface="Century Gothic" panose="020B0502020202020204" pitchFamily="34" charset="0"/>
              </a:endParaRPr>
            </a:p>
            <a:p>
              <a:pPr algn="ctr">
                <a:defRPr/>
              </a:pPr>
              <a:endParaRPr lang="en-IN" sz="1200" kern="0" dirty="0">
                <a:solidFill>
                  <a:prstClr val="white"/>
                </a:solidFill>
                <a:latin typeface="Century Gothic" panose="020B0502020202020204" pitchFamily="34" charset="0"/>
              </a:endParaRPr>
            </a:p>
          </p:txBody>
        </p:sp>
        <p:pic>
          <p:nvPicPr>
            <p:cNvPr id="134" name="Picture 2" descr="https://gsbcomphoto.chicagobooth.edu/fpchinta.jpg"/>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6533110" y="2303329"/>
              <a:ext cx="547035" cy="696257"/>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2" descr="http://scmc.iimb.ernet.in/drupal/sites/default/files/Pulak_Ghosh.jpg"/>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6533110" y="3040216"/>
              <a:ext cx="547034" cy="656441"/>
            </a:xfrm>
            <a:prstGeom prst="rect">
              <a:avLst/>
            </a:prstGeom>
            <a:noFill/>
            <a:extLst>
              <a:ext uri="{909E8E84-426E-40DD-AFC4-6F175D3DCCD1}">
                <a14:hiddenFill xmlns:a14="http://schemas.microsoft.com/office/drawing/2010/main">
                  <a:solidFill>
                    <a:srgbClr val="FFFFFF"/>
                  </a:solidFill>
                </a14:hiddenFill>
              </a:ext>
            </a:extLst>
          </p:spPr>
        </p:pic>
        <p:pic>
          <p:nvPicPr>
            <p:cNvPr id="136" name="Picture 135"/>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6533110" y="3737286"/>
              <a:ext cx="547034" cy="670954"/>
            </a:xfrm>
            <a:prstGeom prst="rect">
              <a:avLst/>
            </a:prstGeom>
          </p:spPr>
        </p:pic>
        <p:sp>
          <p:nvSpPr>
            <p:cNvPr id="137" name="Rectangle 136"/>
            <p:cNvSpPr/>
            <p:nvPr/>
          </p:nvSpPr>
          <p:spPr>
            <a:xfrm>
              <a:off x="7066792" y="2417724"/>
              <a:ext cx="2439011" cy="452622"/>
            </a:xfrm>
            <a:prstGeom prst="rect">
              <a:avLst/>
            </a:prstGeom>
          </p:spPr>
          <p:txBody>
            <a:bodyPr wrap="square">
              <a:spAutoFit/>
            </a:bodyPr>
            <a:lstStyle/>
            <a:p>
              <a:pPr>
                <a:defRPr/>
              </a:pPr>
              <a:r>
                <a:rPr lang="en-IN" sz="1050" b="1" kern="0" dirty="0">
                  <a:solidFill>
                    <a:prstClr val="black"/>
                  </a:solidFill>
                  <a:latin typeface="Century Gothic" panose="020B0502020202020204" pitchFamily="34" charset="0"/>
                </a:rPr>
                <a:t>Pradeep K. Chintagunta</a:t>
              </a:r>
            </a:p>
            <a:p>
              <a:pPr>
                <a:defRPr/>
              </a:pPr>
              <a:r>
                <a:rPr lang="en-US" sz="1000" i="1" kern="0" dirty="0">
                  <a:solidFill>
                    <a:prstClr val="black"/>
                  </a:solidFill>
                  <a:latin typeface="Century Gothic" panose="020B0502020202020204" pitchFamily="34" charset="0"/>
                </a:rPr>
                <a:t>University of Chicago</a:t>
              </a:r>
              <a:endParaRPr lang="en-IN" sz="1000" i="1" kern="0" dirty="0">
                <a:solidFill>
                  <a:prstClr val="black"/>
                </a:solidFill>
                <a:latin typeface="Century Gothic" panose="020B0502020202020204" pitchFamily="34" charset="0"/>
              </a:endParaRPr>
            </a:p>
          </p:txBody>
        </p:sp>
        <p:sp>
          <p:nvSpPr>
            <p:cNvPr id="138" name="Rectangle 137"/>
            <p:cNvSpPr/>
            <p:nvPr/>
          </p:nvSpPr>
          <p:spPr>
            <a:xfrm>
              <a:off x="7066792" y="3844301"/>
              <a:ext cx="1744541" cy="461005"/>
            </a:xfrm>
            <a:prstGeom prst="rect">
              <a:avLst/>
            </a:prstGeom>
          </p:spPr>
          <p:txBody>
            <a:bodyPr wrap="square">
              <a:spAutoFit/>
            </a:bodyPr>
            <a:lstStyle/>
            <a:p>
              <a:pPr>
                <a:defRPr/>
              </a:pPr>
              <a:r>
                <a:rPr lang="en-IN" sz="1050" b="1" kern="0" dirty="0">
                  <a:solidFill>
                    <a:prstClr val="black"/>
                  </a:solidFill>
                  <a:latin typeface="Century Gothic" panose="020B0502020202020204" pitchFamily="34" charset="0"/>
                </a:rPr>
                <a:t>Gah-Yi Vahn</a:t>
              </a:r>
            </a:p>
            <a:p>
              <a:pPr>
                <a:defRPr/>
              </a:pPr>
              <a:r>
                <a:rPr lang="en-US" sz="1000" i="1" kern="0" dirty="0">
                  <a:solidFill>
                    <a:prstClr val="black"/>
                  </a:solidFill>
                  <a:latin typeface="Century Gothic" panose="020B0502020202020204" pitchFamily="34" charset="0"/>
                </a:rPr>
                <a:t>London Business School</a:t>
              </a:r>
              <a:endParaRPr lang="en-IN" sz="1000" i="1" kern="0" dirty="0">
                <a:solidFill>
                  <a:prstClr val="black"/>
                </a:solidFill>
                <a:latin typeface="Century Gothic" panose="020B0502020202020204" pitchFamily="34" charset="0"/>
              </a:endParaRPr>
            </a:p>
          </p:txBody>
        </p:sp>
        <p:sp>
          <p:nvSpPr>
            <p:cNvPr id="139" name="Rectangle 138"/>
            <p:cNvSpPr/>
            <p:nvPr/>
          </p:nvSpPr>
          <p:spPr>
            <a:xfrm>
              <a:off x="7066792" y="3142645"/>
              <a:ext cx="1314096" cy="444241"/>
            </a:xfrm>
            <a:prstGeom prst="rect">
              <a:avLst/>
            </a:prstGeom>
          </p:spPr>
          <p:txBody>
            <a:bodyPr wrap="square">
              <a:spAutoFit/>
            </a:bodyPr>
            <a:lstStyle/>
            <a:p>
              <a:pPr>
                <a:defRPr/>
              </a:pPr>
              <a:r>
                <a:rPr lang="en-IN" sz="1050" b="1" kern="0" dirty="0">
                  <a:solidFill>
                    <a:prstClr val="black"/>
                  </a:solidFill>
                  <a:latin typeface="Century Gothic" panose="020B0502020202020204" pitchFamily="34" charset="0"/>
                </a:rPr>
                <a:t>Pulak Ghosh</a:t>
              </a:r>
            </a:p>
            <a:p>
              <a:pPr>
                <a:defRPr/>
              </a:pPr>
              <a:r>
                <a:rPr lang="en-US" sz="1000" i="1" kern="0" dirty="0">
                  <a:solidFill>
                    <a:prstClr val="black"/>
                  </a:solidFill>
                  <a:latin typeface="Century Gothic" panose="020B0502020202020204" pitchFamily="34" charset="0"/>
                </a:rPr>
                <a:t>IIM, Bangalore</a:t>
              </a:r>
              <a:endParaRPr lang="en-IN" sz="1000" i="1" kern="0" dirty="0">
                <a:solidFill>
                  <a:prstClr val="black"/>
                </a:solidFill>
                <a:latin typeface="Century Gothic" panose="020B0502020202020204" pitchFamily="34" charset="0"/>
              </a:endParaRPr>
            </a:p>
          </p:txBody>
        </p:sp>
        <p:sp>
          <p:nvSpPr>
            <p:cNvPr id="140" name="Rectangle 139"/>
            <p:cNvSpPr/>
            <p:nvPr/>
          </p:nvSpPr>
          <p:spPr>
            <a:xfrm>
              <a:off x="6679904" y="1888845"/>
              <a:ext cx="1851469" cy="402331"/>
            </a:xfrm>
            <a:prstGeom prst="rect">
              <a:avLst/>
            </a:prstGeom>
          </p:spPr>
          <p:txBody>
            <a:bodyPr wrap="none">
              <a:spAutoFit/>
            </a:bodyPr>
            <a:lstStyle/>
            <a:p>
              <a:r>
                <a:rPr lang="en-IN" b="1" dirty="0">
                  <a:solidFill>
                    <a:srgbClr val="000000">
                      <a:lumMod val="75000"/>
                      <a:lumOff val="25000"/>
                    </a:srgbClr>
                  </a:solidFill>
                  <a:latin typeface="Leelawadee UI" panose="020B0502040204020203" pitchFamily="34" charset="-34"/>
                  <a:cs typeface="Leelawadee UI" panose="020B0502040204020203" pitchFamily="34" charset="-34"/>
                </a:rPr>
                <a:t>Advisory Board</a:t>
              </a:r>
            </a:p>
          </p:txBody>
        </p:sp>
        <p:grpSp>
          <p:nvGrpSpPr>
            <p:cNvPr id="141" name="Group 140"/>
            <p:cNvGrpSpPr/>
            <p:nvPr/>
          </p:nvGrpSpPr>
          <p:grpSpPr>
            <a:xfrm>
              <a:off x="9055223" y="2682677"/>
              <a:ext cx="2417676" cy="1618933"/>
              <a:chOff x="8849953" y="2601432"/>
              <a:chExt cx="2525107" cy="1690871"/>
            </a:xfrm>
          </p:grpSpPr>
          <p:pic>
            <p:nvPicPr>
              <p:cNvPr id="142" name="Picture 141"/>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935226" y="2605802"/>
                <a:ext cx="637637" cy="683679"/>
              </a:xfrm>
              <a:prstGeom prst="rect">
                <a:avLst/>
              </a:prstGeom>
            </p:spPr>
          </p:pic>
          <p:pic>
            <p:nvPicPr>
              <p:cNvPr id="143" name="Picture 142"/>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9664843" y="2644657"/>
                <a:ext cx="858936" cy="644824"/>
              </a:xfrm>
              <a:prstGeom prst="rect">
                <a:avLst/>
              </a:prstGeom>
            </p:spPr>
          </p:pic>
          <p:pic>
            <p:nvPicPr>
              <p:cNvPr id="144" name="Picture 143"/>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9798313" y="3428726"/>
                <a:ext cx="638124" cy="832115"/>
              </a:xfrm>
              <a:prstGeom prst="rect">
                <a:avLst/>
              </a:prstGeom>
            </p:spPr>
          </p:pic>
          <p:pic>
            <p:nvPicPr>
              <p:cNvPr id="145" name="Picture 144"/>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0623415" y="2601432"/>
                <a:ext cx="751645" cy="816761"/>
              </a:xfrm>
              <a:prstGeom prst="rect">
                <a:avLst/>
              </a:prstGeom>
            </p:spPr>
          </p:pic>
          <p:pic>
            <p:nvPicPr>
              <p:cNvPr id="146" name="Picture 145"/>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8849953" y="3475160"/>
                <a:ext cx="828109" cy="817143"/>
              </a:xfrm>
              <a:prstGeom prst="rect">
                <a:avLst/>
              </a:prstGeom>
            </p:spPr>
          </p:pic>
          <p:pic>
            <p:nvPicPr>
              <p:cNvPr id="147" name="Picture 146"/>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10694410" y="3592980"/>
                <a:ext cx="641290" cy="687595"/>
              </a:xfrm>
              <a:prstGeom prst="rect">
                <a:avLst/>
              </a:prstGeom>
            </p:spPr>
          </p:pic>
        </p:grpSp>
        <p:sp>
          <p:nvSpPr>
            <p:cNvPr id="148" name="Rectangle 147"/>
            <p:cNvSpPr/>
            <p:nvPr/>
          </p:nvSpPr>
          <p:spPr>
            <a:xfrm>
              <a:off x="8958634" y="1881009"/>
              <a:ext cx="2546971" cy="2663696"/>
            </a:xfrm>
            <a:prstGeom prst="rect">
              <a:avLst/>
            </a:prstGeom>
            <a:noFill/>
            <a:ln w="28575" cap="rnd" cmpd="sng" algn="ctr">
              <a:solidFill>
                <a:schemeClr val="bg1">
                  <a:lumMod val="75000"/>
                </a:schemeClr>
              </a:solidFill>
              <a:prstDash val="solid"/>
            </a:ln>
            <a:effectLst/>
          </p:spPr>
          <p:txBody>
            <a:bodyPr rtlCol="0" anchor="ctr"/>
            <a:lstStyle/>
            <a:p>
              <a:pPr algn="ctr">
                <a:defRPr/>
              </a:pPr>
              <a:endParaRPr lang="en-IN" kern="0" dirty="0">
                <a:solidFill>
                  <a:prstClr val="white"/>
                </a:solidFill>
                <a:latin typeface="Century Gothic"/>
              </a:endParaRPr>
            </a:p>
          </p:txBody>
        </p:sp>
        <p:sp>
          <p:nvSpPr>
            <p:cNvPr id="149" name="Rectangle 148"/>
            <p:cNvSpPr/>
            <p:nvPr/>
          </p:nvSpPr>
          <p:spPr>
            <a:xfrm>
              <a:off x="9190997" y="1888845"/>
              <a:ext cx="2111284" cy="704080"/>
            </a:xfrm>
            <a:prstGeom prst="rect">
              <a:avLst/>
            </a:prstGeom>
          </p:spPr>
          <p:txBody>
            <a:bodyPr wrap="none">
              <a:spAutoFit/>
            </a:bodyPr>
            <a:lstStyle/>
            <a:p>
              <a:pPr algn="ctr"/>
              <a:r>
                <a:rPr lang="en-IN" b="1" dirty="0">
                  <a:solidFill>
                    <a:srgbClr val="000000">
                      <a:lumMod val="75000"/>
                      <a:lumOff val="25000"/>
                    </a:srgbClr>
                  </a:solidFill>
                  <a:latin typeface="Leelawadee UI" panose="020B0502040204020203" pitchFamily="34" charset="-34"/>
                  <a:cs typeface="Leelawadee UI" panose="020B0502040204020203" pitchFamily="34" charset="-34"/>
                </a:rPr>
                <a:t>Hiring from </a:t>
              </a:r>
            </a:p>
            <a:p>
              <a:pPr algn="ctr"/>
              <a:r>
                <a:rPr lang="en-IN" b="1" dirty="0">
                  <a:solidFill>
                    <a:srgbClr val="000000">
                      <a:lumMod val="75000"/>
                      <a:lumOff val="25000"/>
                    </a:srgbClr>
                  </a:solidFill>
                  <a:latin typeface="Leelawadee UI" panose="020B0502040204020203" pitchFamily="34" charset="-34"/>
                  <a:cs typeface="Leelawadee UI" panose="020B0502040204020203" pitchFamily="34" charset="-34"/>
                </a:rPr>
                <a:t>Premier Institutes</a:t>
              </a:r>
            </a:p>
          </p:txBody>
        </p:sp>
        <p:grpSp>
          <p:nvGrpSpPr>
            <p:cNvPr id="150" name="Group 149"/>
            <p:cNvGrpSpPr/>
            <p:nvPr/>
          </p:nvGrpSpPr>
          <p:grpSpPr>
            <a:xfrm>
              <a:off x="6456066" y="5225362"/>
              <a:ext cx="2305580" cy="1310345"/>
              <a:chOff x="2058079" y="5082321"/>
              <a:chExt cx="3430357" cy="1479990"/>
            </a:xfrm>
          </p:grpSpPr>
          <p:pic>
            <p:nvPicPr>
              <p:cNvPr id="151" name="Picture 21"/>
              <p:cNvPicPr>
                <a:picLocks noChangeAspect="1" noChangeArrowheads="1"/>
              </p:cNvPicPr>
              <p:nvPr/>
            </p:nvPicPr>
            <p:blipFill>
              <a:blip r:embed="rId12"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928679" y="6252087"/>
                <a:ext cx="574699" cy="247993"/>
              </a:xfrm>
              <a:prstGeom prst="rect">
                <a:avLst/>
              </a:prstGeom>
              <a:noFill/>
              <a:ln w="38100">
                <a:noFill/>
              </a:ln>
              <a:extLst>
                <a:ext uri="{909E8E84-426E-40DD-AFC4-6F175D3DCCD1}">
                  <a14:hiddenFill xmlns:a14="http://schemas.microsoft.com/office/drawing/2010/main">
                    <a:solidFill>
                      <a:srgbClr val="FFFFFF"/>
                    </a:solidFill>
                  </a14:hiddenFill>
                </a:ext>
              </a:extLst>
            </p:spPr>
          </p:pic>
          <p:pic>
            <p:nvPicPr>
              <p:cNvPr id="152" name="Picture 23"/>
              <p:cNvPicPr>
                <a:picLocks noChangeAspect="1" noChangeArrowheads="1"/>
              </p:cNvPicPr>
              <p:nvPr/>
            </p:nvPicPr>
            <p:blipFill>
              <a:blip r:embed="rId1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144258" y="5090953"/>
                <a:ext cx="442540" cy="492314"/>
              </a:xfrm>
              <a:prstGeom prst="rect">
                <a:avLst/>
              </a:prstGeom>
              <a:noFill/>
              <a:ln w="38100">
                <a:noFill/>
              </a:ln>
              <a:extLst>
                <a:ext uri="{909E8E84-426E-40DD-AFC4-6F175D3DCCD1}">
                  <a14:hiddenFill xmlns:a14="http://schemas.microsoft.com/office/drawing/2010/main">
                    <a:solidFill>
                      <a:srgbClr val="FFFFFF"/>
                    </a:solidFill>
                  </a14:hiddenFill>
                </a:ext>
              </a:extLst>
            </p:spPr>
          </p:pic>
          <p:pic>
            <p:nvPicPr>
              <p:cNvPr id="153" name="Picture 25"/>
              <p:cNvPicPr>
                <a:picLocks noChangeAspect="1" noChangeArrowheads="1"/>
              </p:cNvPicPr>
              <p:nvPr/>
            </p:nvPicPr>
            <p:blipFill>
              <a:blip r:embed="rId14"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520724" y="5648971"/>
                <a:ext cx="495493" cy="373309"/>
              </a:xfrm>
              <a:prstGeom prst="rect">
                <a:avLst/>
              </a:prstGeom>
              <a:noFill/>
              <a:ln w="38100">
                <a:noFill/>
              </a:ln>
              <a:extLst>
                <a:ext uri="{909E8E84-426E-40DD-AFC4-6F175D3DCCD1}">
                  <a14:hiddenFill xmlns:a14="http://schemas.microsoft.com/office/drawing/2010/main">
                    <a:solidFill>
                      <a:srgbClr val="FFFFFF"/>
                    </a:solidFill>
                  </a14:hiddenFill>
                </a:ext>
              </a:extLst>
            </p:spPr>
          </p:pic>
          <p:pic>
            <p:nvPicPr>
              <p:cNvPr id="154" name="Picture 27"/>
              <p:cNvPicPr>
                <a:picLocks noChangeAspect="1" noChangeArrowheads="1"/>
              </p:cNvPicPr>
              <p:nvPr/>
            </p:nvPicPr>
            <p:blipFill>
              <a:blip r:embed="rId1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104988" y="6176583"/>
                <a:ext cx="395259" cy="362743"/>
              </a:xfrm>
              <a:prstGeom prst="rect">
                <a:avLst/>
              </a:prstGeom>
              <a:noFill/>
              <a:ln w="38100">
                <a:noFill/>
              </a:ln>
              <a:extLst>
                <a:ext uri="{909E8E84-426E-40DD-AFC4-6F175D3DCCD1}">
                  <a14:hiddenFill xmlns:a14="http://schemas.microsoft.com/office/drawing/2010/main">
                    <a:solidFill>
                      <a:srgbClr val="FFFFFF"/>
                    </a:solidFill>
                  </a14:hiddenFill>
                </a:ext>
              </a:extLst>
            </p:spPr>
          </p:pic>
          <p:pic>
            <p:nvPicPr>
              <p:cNvPr id="155" name="Picture 31"/>
              <p:cNvPicPr>
                <a:picLocks noChangeAspect="1" noChangeArrowheads="1"/>
              </p:cNvPicPr>
              <p:nvPr/>
            </p:nvPicPr>
            <p:blipFill>
              <a:blip r:embed="rId16" cstate="email">
                <a:extLst>
                  <a:ext uri="{28A0092B-C50C-407E-A947-70E740481C1C}">
                    <a14:useLocalDpi xmlns:a14="http://schemas.microsoft.com/office/drawing/2010/main"/>
                  </a:ext>
                </a:extLst>
              </a:blip>
              <a:srcRect/>
              <a:stretch>
                <a:fillRect/>
              </a:stretch>
            </p:blipFill>
            <p:spPr bwMode="auto">
              <a:xfrm>
                <a:off x="4258952" y="5720158"/>
                <a:ext cx="357437" cy="332809"/>
              </a:xfrm>
              <a:prstGeom prst="rect">
                <a:avLst/>
              </a:prstGeom>
              <a:noFill/>
              <a:ln w="38100">
                <a:solidFill>
                  <a:sysClr val="window" lastClr="FFFFFF"/>
                </a:solidFill>
              </a:ln>
              <a:extLst>
                <a:ext uri="{909E8E84-426E-40DD-AFC4-6F175D3DCCD1}">
                  <a14:hiddenFill xmlns:a14="http://schemas.microsoft.com/office/drawing/2010/main">
                    <a:solidFill>
                      <a:srgbClr val="FFFFFF"/>
                    </a:solidFill>
                  </a14:hiddenFill>
                </a:ext>
              </a:extLst>
            </p:spPr>
          </p:pic>
          <p:pic>
            <p:nvPicPr>
              <p:cNvPr id="156" name="Picture 35"/>
              <p:cNvPicPr>
                <a:picLocks noChangeAspect="1" noChangeArrowheads="1"/>
              </p:cNvPicPr>
              <p:nvPr/>
            </p:nvPicPr>
            <p:blipFill>
              <a:blip r:embed="rId17"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530737" y="5750752"/>
                <a:ext cx="886970" cy="357460"/>
              </a:xfrm>
              <a:prstGeom prst="rect">
                <a:avLst/>
              </a:prstGeom>
              <a:noFill/>
              <a:ln w="38100">
                <a:noFill/>
              </a:ln>
              <a:extLst>
                <a:ext uri="{909E8E84-426E-40DD-AFC4-6F175D3DCCD1}">
                  <a14:hiddenFill xmlns:a14="http://schemas.microsoft.com/office/drawing/2010/main">
                    <a:solidFill>
                      <a:srgbClr val="FFFFFF"/>
                    </a:solidFill>
                  </a14:hiddenFill>
                </a:ext>
              </a:extLst>
            </p:spPr>
          </p:pic>
          <p:pic>
            <p:nvPicPr>
              <p:cNvPr id="157" name="Picture 39"/>
              <p:cNvPicPr>
                <a:picLocks noChangeAspect="1" noChangeArrowheads="1"/>
              </p:cNvPicPr>
              <p:nvPr/>
            </p:nvPicPr>
            <p:blipFill>
              <a:blip r:embed="rId18"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972958" y="5706317"/>
                <a:ext cx="401371" cy="347448"/>
              </a:xfrm>
              <a:prstGeom prst="rect">
                <a:avLst/>
              </a:prstGeom>
              <a:noFill/>
              <a:ln w="38100">
                <a:noFill/>
              </a:ln>
              <a:extLst>
                <a:ext uri="{909E8E84-426E-40DD-AFC4-6F175D3DCCD1}">
                  <a14:hiddenFill xmlns:a14="http://schemas.microsoft.com/office/drawing/2010/main">
                    <a:solidFill>
                      <a:srgbClr val="FFFFFF"/>
                    </a:solidFill>
                  </a14:hiddenFill>
                </a:ext>
              </a:extLst>
            </p:spPr>
          </p:pic>
          <p:pic>
            <p:nvPicPr>
              <p:cNvPr id="158" name="Picture 40"/>
              <p:cNvPicPr>
                <a:picLocks noChangeAspect="1" noChangeArrowheads="1"/>
              </p:cNvPicPr>
              <p:nvPr/>
            </p:nvPicPr>
            <p:blipFill>
              <a:blip r:embed="rId19"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058079" y="5659941"/>
                <a:ext cx="482230" cy="453239"/>
              </a:xfrm>
              <a:prstGeom prst="rect">
                <a:avLst/>
              </a:prstGeom>
              <a:noFill/>
              <a:ln w="38100">
                <a:noFill/>
              </a:ln>
              <a:extLst>
                <a:ext uri="{909E8E84-426E-40DD-AFC4-6F175D3DCCD1}">
                  <a14:hiddenFill xmlns:a14="http://schemas.microsoft.com/office/drawing/2010/main">
                    <a:solidFill>
                      <a:srgbClr val="FFFFFF"/>
                    </a:solidFill>
                  </a14:hiddenFill>
                </a:ext>
              </a:extLst>
            </p:spPr>
          </p:pic>
          <p:pic>
            <p:nvPicPr>
              <p:cNvPr id="159" name="Picture 42"/>
              <p:cNvPicPr>
                <a:picLocks noChangeAspect="1" noChangeArrowheads="1"/>
              </p:cNvPicPr>
              <p:nvPr/>
            </p:nvPicPr>
            <p:blipFill>
              <a:blip r:embed="rId20" cstate="email">
                <a:extLst>
                  <a:ext uri="{28A0092B-C50C-407E-A947-70E740481C1C}">
                    <a14:useLocalDpi xmlns:a14="http://schemas.microsoft.com/office/drawing/2010/main"/>
                  </a:ext>
                </a:extLst>
              </a:blip>
              <a:srcRect/>
              <a:stretch>
                <a:fillRect/>
              </a:stretch>
            </p:blipFill>
            <p:spPr bwMode="auto">
              <a:xfrm>
                <a:off x="4937478" y="5148803"/>
                <a:ext cx="550958" cy="376612"/>
              </a:xfrm>
              <a:prstGeom prst="rect">
                <a:avLst/>
              </a:prstGeom>
              <a:noFill/>
              <a:ln w="38100">
                <a:solidFill>
                  <a:sysClr val="window" lastClr="FFFFFF"/>
                </a:solidFill>
              </a:ln>
              <a:extLst>
                <a:ext uri="{909E8E84-426E-40DD-AFC4-6F175D3DCCD1}">
                  <a14:hiddenFill xmlns:a14="http://schemas.microsoft.com/office/drawing/2010/main">
                    <a:solidFill>
                      <a:srgbClr val="FFFFFF"/>
                    </a:solidFill>
                  </a14:hiddenFill>
                </a:ext>
              </a:extLst>
            </p:spPr>
          </p:pic>
          <p:pic>
            <p:nvPicPr>
              <p:cNvPr id="160" name="Picture 14"/>
              <p:cNvPicPr>
                <a:picLocks noChangeAspect="1" noChangeArrowheads="1"/>
              </p:cNvPicPr>
              <p:nvPr/>
            </p:nvPicPr>
            <p:blipFill>
              <a:blip r:embed="rId21">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548311" y="5106575"/>
                <a:ext cx="1068078" cy="426215"/>
              </a:xfrm>
              <a:prstGeom prst="rect">
                <a:avLst/>
              </a:prstGeom>
              <a:noFill/>
              <a:ln w="38100">
                <a:noFill/>
              </a:ln>
              <a:extLst>
                <a:ext uri="{909E8E84-426E-40DD-AFC4-6F175D3DCCD1}">
                  <a14:hiddenFill xmlns:a14="http://schemas.microsoft.com/office/drawing/2010/main">
                    <a:solidFill>
                      <a:srgbClr val="FFFFFF"/>
                    </a:solidFill>
                  </a14:hiddenFill>
                </a:ext>
              </a:extLst>
            </p:spPr>
          </p:pic>
          <p:pic>
            <p:nvPicPr>
              <p:cNvPr id="161" name="Picture 13" descr="http://www.tata.com/images/article/titan_company_logo.jpg"/>
              <p:cNvPicPr>
                <a:picLocks noChangeAspect="1" noChangeArrowheads="1"/>
              </p:cNvPicPr>
              <p:nvPr/>
            </p:nvPicPr>
            <p:blipFill>
              <a:blip r:embed="rId22"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730321" y="5082321"/>
                <a:ext cx="657446" cy="577620"/>
              </a:xfrm>
              <a:prstGeom prst="rect">
                <a:avLst/>
              </a:prstGeom>
              <a:noFill/>
              <a:ln w="38100">
                <a:noFill/>
              </a:ln>
              <a:extLst>
                <a:ext uri="{909E8E84-426E-40DD-AFC4-6F175D3DCCD1}">
                  <a14:hiddenFill xmlns:a14="http://schemas.microsoft.com/office/drawing/2010/main">
                    <a:solidFill>
                      <a:srgbClr val="FFFFFF"/>
                    </a:solidFill>
                  </a14:hiddenFill>
                </a:ext>
              </a:extLst>
            </p:spPr>
          </p:pic>
          <p:pic>
            <p:nvPicPr>
              <p:cNvPr id="162" name="Picture 15" descr="Image result for deloitte logo"/>
              <p:cNvPicPr>
                <a:picLocks noChangeAspect="1" noChangeArrowheads="1"/>
              </p:cNvPicPr>
              <p:nvPr/>
            </p:nvPicPr>
            <p:blipFill>
              <a:blip r:embed="rId2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829320" y="6175424"/>
                <a:ext cx="886971" cy="380323"/>
              </a:xfrm>
              <a:prstGeom prst="rect">
                <a:avLst/>
              </a:prstGeom>
              <a:noFill/>
              <a:ln w="38100">
                <a:noFill/>
              </a:ln>
              <a:extLst>
                <a:ext uri="{909E8E84-426E-40DD-AFC4-6F175D3DCCD1}">
                  <a14:hiddenFill xmlns:a14="http://schemas.microsoft.com/office/drawing/2010/main">
                    <a:solidFill>
                      <a:srgbClr val="FFFFFF"/>
                    </a:solidFill>
                  </a14:hiddenFill>
                </a:ext>
              </a:extLst>
            </p:spPr>
          </p:pic>
          <p:pic>
            <p:nvPicPr>
              <p:cNvPr id="163" name="Picture 17" descr="https://regmedia.co.uk/2015/02/02/vmware_cloud_logo.jpg?x=648&amp;y=429&amp;crop=1"/>
              <p:cNvPicPr>
                <a:picLocks noChangeAspect="1" noChangeArrowheads="1"/>
              </p:cNvPicPr>
              <p:nvPr/>
            </p:nvPicPr>
            <p:blipFill>
              <a:blip r:embed="rId24"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928154" y="6153598"/>
                <a:ext cx="512641" cy="408713"/>
              </a:xfrm>
              <a:prstGeom prst="rect">
                <a:avLst/>
              </a:prstGeom>
              <a:noFill/>
              <a:ln w="38100">
                <a:noFill/>
              </a:ln>
              <a:extLst>
                <a:ext uri="{909E8E84-426E-40DD-AFC4-6F175D3DCCD1}">
                  <a14:hiddenFill xmlns:a14="http://schemas.microsoft.com/office/drawing/2010/main">
                    <a:solidFill>
                      <a:srgbClr val="FFFFFF"/>
                    </a:solidFill>
                  </a14:hiddenFill>
                </a:ext>
              </a:extLst>
            </p:spPr>
          </p:pic>
        </p:grpSp>
        <p:sp>
          <p:nvSpPr>
            <p:cNvPr id="164" name="Rectangle 163"/>
            <p:cNvSpPr/>
            <p:nvPr/>
          </p:nvSpPr>
          <p:spPr>
            <a:xfrm>
              <a:off x="6385523" y="4694406"/>
              <a:ext cx="2457976" cy="2007756"/>
            </a:xfrm>
            <a:prstGeom prst="rect">
              <a:avLst/>
            </a:prstGeom>
            <a:noFill/>
            <a:ln w="28575" cap="rnd" cmpd="sng" algn="ctr">
              <a:solidFill>
                <a:schemeClr val="bg1">
                  <a:lumMod val="75000"/>
                </a:schemeClr>
              </a:solidFill>
              <a:prstDash val="solid"/>
            </a:ln>
            <a:effectLst/>
          </p:spPr>
          <p:txBody>
            <a:bodyPr rtlCol="0" anchor="ctr"/>
            <a:lstStyle/>
            <a:p>
              <a:pPr algn="ctr">
                <a:defRPr/>
              </a:pPr>
              <a:endParaRPr lang="en-IN" kern="0" dirty="0">
                <a:solidFill>
                  <a:prstClr val="white"/>
                </a:solidFill>
                <a:latin typeface="Century Gothic"/>
              </a:endParaRPr>
            </a:p>
          </p:txBody>
        </p:sp>
        <p:sp>
          <p:nvSpPr>
            <p:cNvPr id="165" name="Rectangle 164"/>
            <p:cNvSpPr/>
            <p:nvPr/>
          </p:nvSpPr>
          <p:spPr>
            <a:xfrm>
              <a:off x="6456066" y="4706328"/>
              <a:ext cx="2093202" cy="402331"/>
            </a:xfrm>
            <a:prstGeom prst="rect">
              <a:avLst/>
            </a:prstGeom>
          </p:spPr>
          <p:txBody>
            <a:bodyPr wrap="none">
              <a:spAutoFit/>
            </a:bodyPr>
            <a:lstStyle/>
            <a:p>
              <a:r>
                <a:rPr lang="en-IN" b="1" dirty="0">
                  <a:solidFill>
                    <a:srgbClr val="000000">
                      <a:lumMod val="75000"/>
                      <a:lumOff val="25000"/>
                    </a:srgbClr>
                  </a:solidFill>
                  <a:latin typeface="Leelawadee UI" panose="020B0502040204020203" pitchFamily="34" charset="-34"/>
                  <a:cs typeface="Leelawadee UI" panose="020B0502040204020203" pitchFamily="34" charset="-34"/>
                </a:rPr>
                <a:t>Global Businesses</a:t>
              </a:r>
            </a:p>
          </p:txBody>
        </p:sp>
        <p:sp>
          <p:nvSpPr>
            <p:cNvPr id="166" name="Rectangle 165"/>
            <p:cNvSpPr/>
            <p:nvPr/>
          </p:nvSpPr>
          <p:spPr>
            <a:xfrm>
              <a:off x="8965381" y="4694406"/>
              <a:ext cx="2520243" cy="2007756"/>
            </a:xfrm>
            <a:prstGeom prst="rect">
              <a:avLst/>
            </a:prstGeom>
            <a:noFill/>
            <a:ln w="28575" cap="rnd" cmpd="sng" algn="ctr">
              <a:solidFill>
                <a:schemeClr val="bg1">
                  <a:lumMod val="75000"/>
                </a:schemeClr>
              </a:solidFill>
              <a:prstDash val="solid"/>
            </a:ln>
            <a:effectLst/>
          </p:spPr>
          <p:txBody>
            <a:bodyPr rtlCol="0" anchor="ctr"/>
            <a:lstStyle/>
            <a:p>
              <a:pPr algn="ctr">
                <a:defRPr/>
              </a:pPr>
              <a:endParaRPr lang="en-IN" kern="0" dirty="0">
                <a:solidFill>
                  <a:prstClr val="white"/>
                </a:solidFill>
                <a:latin typeface="Century Gothic"/>
              </a:endParaRPr>
            </a:p>
          </p:txBody>
        </p:sp>
        <p:pic>
          <p:nvPicPr>
            <p:cNvPr id="167" name="Picture 166"/>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9020579" y="5063738"/>
              <a:ext cx="2403959" cy="1531411"/>
            </a:xfrm>
            <a:prstGeom prst="rect">
              <a:avLst/>
            </a:prstGeom>
          </p:spPr>
        </p:pic>
        <p:sp>
          <p:nvSpPr>
            <p:cNvPr id="168" name="Rectangle 167"/>
            <p:cNvSpPr/>
            <p:nvPr/>
          </p:nvSpPr>
          <p:spPr>
            <a:xfrm>
              <a:off x="9118332" y="4667400"/>
              <a:ext cx="2310761" cy="402331"/>
            </a:xfrm>
            <a:prstGeom prst="rect">
              <a:avLst/>
            </a:prstGeom>
          </p:spPr>
          <p:txBody>
            <a:bodyPr wrap="none">
              <a:spAutoFit/>
            </a:bodyPr>
            <a:lstStyle/>
            <a:p>
              <a:pPr algn="ctr"/>
              <a:r>
                <a:rPr lang="en-IN" b="1" dirty="0">
                  <a:solidFill>
                    <a:srgbClr val="000000">
                      <a:lumMod val="75000"/>
                      <a:lumOff val="25000"/>
                    </a:srgbClr>
                  </a:solidFill>
                  <a:latin typeface="Leelawadee UI" panose="020B0502040204020203" pitchFamily="34" charset="-34"/>
                  <a:cs typeface="Leelawadee UI" panose="020B0502040204020203" pitchFamily="34" charset="-34"/>
                </a:rPr>
                <a:t>Superior Talent Mix</a:t>
              </a:r>
            </a:p>
          </p:txBody>
        </p:sp>
      </p:grpSp>
    </p:spTree>
    <p:extLst>
      <p:ext uri="{BB962C8B-B14F-4D97-AF65-F5344CB8AC3E}">
        <p14:creationId xmlns:p14="http://schemas.microsoft.com/office/powerpoint/2010/main" val="88204766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0"/>
            <a:ext cx="12192000" cy="6858000"/>
          </a:xfrm>
          <a:prstGeom prst="rect">
            <a:avLst/>
          </a:prstGeom>
        </p:spPr>
      </p:pic>
      <p:grpSp>
        <p:nvGrpSpPr>
          <p:cNvPr id="6" name="Group 5"/>
          <p:cNvGrpSpPr/>
          <p:nvPr/>
        </p:nvGrpSpPr>
        <p:grpSpPr>
          <a:xfrm>
            <a:off x="0" y="5341203"/>
            <a:ext cx="12192001" cy="830997"/>
            <a:chOff x="0" y="2598003"/>
            <a:chExt cx="12192001" cy="830997"/>
          </a:xfrm>
        </p:grpSpPr>
        <p:sp>
          <p:nvSpPr>
            <p:cNvPr id="8" name="Rectangle 7"/>
            <p:cNvSpPr/>
            <p:nvPr/>
          </p:nvSpPr>
          <p:spPr>
            <a:xfrm>
              <a:off x="4496459" y="2598003"/>
              <a:ext cx="3199082" cy="830997"/>
            </a:xfrm>
            <a:prstGeom prst="rect">
              <a:avLst/>
            </a:prstGeom>
          </p:spPr>
          <p:txBody>
            <a:bodyPr wrap="none">
              <a:spAutoFit/>
            </a:bodyPr>
            <a:lstStyle/>
            <a:p>
              <a:pPr algn="ctr"/>
              <a:r>
                <a:rPr lang="en-US" sz="4800" b="1" dirty="0">
                  <a:solidFill>
                    <a:prstClr val="white"/>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rPr>
                <a:t>Thank You</a:t>
              </a:r>
            </a:p>
          </p:txBody>
        </p:sp>
        <p:cxnSp>
          <p:nvCxnSpPr>
            <p:cNvPr id="9" name="Straight Connector 8"/>
            <p:cNvCxnSpPr/>
            <p:nvPr/>
          </p:nvCxnSpPr>
          <p:spPr>
            <a:xfrm>
              <a:off x="7802880" y="3014443"/>
              <a:ext cx="438912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3014443"/>
              <a:ext cx="438912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34206460"/>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pikWV5Nz1USE7H82Y_O7i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ETQQTwg5kky6XP36LMEB6A"/>
</p:tagLst>
</file>

<file path=ppt/theme/theme1.xml><?xml version="1.0" encoding="utf-8"?>
<a:theme xmlns:a="http://schemas.openxmlformats.org/drawingml/2006/main" name="1_Office Theme">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Office Theme">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Theme">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1640</TotalTime>
  <Words>1559</Words>
  <Application>Microsoft Office PowerPoint</Application>
  <PresentationFormat>Widescreen</PresentationFormat>
  <Paragraphs>294</Paragraphs>
  <Slides>17</Slides>
  <Notes>3</Notes>
  <HiddenSlides>0</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17</vt:i4>
      </vt:variant>
    </vt:vector>
  </HeadingPairs>
  <TitlesOfParts>
    <vt:vector size="31" baseType="lpstr">
      <vt:lpstr>Adobe Clean Light</vt:lpstr>
      <vt:lpstr>Arial</vt:lpstr>
      <vt:lpstr>Calibri</vt:lpstr>
      <vt:lpstr>Calibri Light</vt:lpstr>
      <vt:lpstr>Century Gothic</vt:lpstr>
      <vt:lpstr>Leelawadee</vt:lpstr>
      <vt:lpstr>Leelawadee UI</vt:lpstr>
      <vt:lpstr>Times New Roman</vt:lpstr>
      <vt:lpstr>Wingdings 3</vt:lpstr>
      <vt:lpstr>1_Office Theme</vt:lpstr>
      <vt:lpstr>2_Office Theme</vt:lpstr>
      <vt:lpstr>3_Office Theme</vt:lpstr>
      <vt:lpstr>5_Office Theme</vt:lpstr>
      <vt:lpstr>4_Office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Chitra Chatterjee</dc:creator>
  <cp:lastModifiedBy>Hindol Basu</cp:lastModifiedBy>
  <cp:revision>59</cp:revision>
  <dcterms:created xsi:type="dcterms:W3CDTF">2016-11-09T04:49:15Z</dcterms:created>
  <dcterms:modified xsi:type="dcterms:W3CDTF">2016-11-22T11:26:24Z</dcterms:modified>
</cp:coreProperties>
</file>
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71" r:id="rId2"/>
    <p:sldId id="270" r:id="rId3"/>
    <p:sldId id="257" r:id="rId4"/>
    <p:sldId id="259" r:id="rId5"/>
    <p:sldId id="268" r:id="rId6"/>
    <p:sldId id="263" r:id="rId7"/>
    <p:sldId id="269" r:id="rId8"/>
    <p:sldId id="261" r:id="rId9"/>
    <p:sldId id="260" r:id="rId10"/>
    <p:sldId id="262" r:id="rId11"/>
    <p:sldId id="264" r:id="rId12"/>
    <p:sldId id="265" r:id="rId13"/>
    <p:sldId id="266" r:id="rId14"/>
    <p:sldId id="27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5902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8" d="100"/>
          <a:sy n="68" d="100"/>
        </p:scale>
        <p:origin x="78" y="21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88A61C-E6CF-455D-96BC-A627C3B662AA}" type="datetimeFigureOut">
              <a:rPr lang="en-IN" smtClean="0"/>
              <a:t>08-11-2016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ED887B-202E-4A25-BB61-C5241461357D}" type="slidenum">
              <a:rPr lang="en-IN" smtClean="0"/>
              <a:t>‹#›</a:t>
            </a:fld>
            <a:endParaRPr lang="en-IN"/>
          </a:p>
        </p:txBody>
      </p:sp>
    </p:spTree>
    <p:extLst>
      <p:ext uri="{BB962C8B-B14F-4D97-AF65-F5344CB8AC3E}">
        <p14:creationId xmlns:p14="http://schemas.microsoft.com/office/powerpoint/2010/main" val="11636200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D7ED887B-202E-4A25-BB61-C5241461357D}" type="slidenum">
              <a:rPr lang="en-IN" smtClean="0"/>
              <a:t>2</a:t>
            </a:fld>
            <a:endParaRPr lang="en-IN"/>
          </a:p>
        </p:txBody>
      </p:sp>
    </p:spTree>
    <p:extLst>
      <p:ext uri="{BB962C8B-B14F-4D97-AF65-F5344CB8AC3E}">
        <p14:creationId xmlns:p14="http://schemas.microsoft.com/office/powerpoint/2010/main" val="11552262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D7ED887B-202E-4A25-BB61-C5241461357D}" type="slidenum">
              <a:rPr lang="en-IN" smtClean="0"/>
              <a:t>3</a:t>
            </a:fld>
            <a:endParaRPr lang="en-IN"/>
          </a:p>
        </p:txBody>
      </p:sp>
    </p:spTree>
    <p:extLst>
      <p:ext uri="{BB962C8B-B14F-4D97-AF65-F5344CB8AC3E}">
        <p14:creationId xmlns:p14="http://schemas.microsoft.com/office/powerpoint/2010/main" val="22863369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B3D5C89C-3192-485F-AB37-5050B640CCBC}" type="datetimeFigureOut">
              <a:rPr lang="en-IN" smtClean="0"/>
              <a:t>08-11-2016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84C60A-400A-4F57-8107-5332B3F927B2}" type="slidenum">
              <a:rPr lang="en-IN" smtClean="0"/>
              <a:t>‹#›</a:t>
            </a:fld>
            <a:endParaRPr lang="en-IN"/>
          </a:p>
        </p:txBody>
      </p:sp>
    </p:spTree>
    <p:extLst>
      <p:ext uri="{BB962C8B-B14F-4D97-AF65-F5344CB8AC3E}">
        <p14:creationId xmlns:p14="http://schemas.microsoft.com/office/powerpoint/2010/main" val="8883943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B3D5C89C-3192-485F-AB37-5050B640CCBC}" type="datetimeFigureOut">
              <a:rPr lang="en-IN" smtClean="0"/>
              <a:t>08-11-2016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84C60A-400A-4F57-8107-5332B3F927B2}" type="slidenum">
              <a:rPr lang="en-IN" smtClean="0"/>
              <a:t>‹#›</a:t>
            </a:fld>
            <a:endParaRPr lang="en-IN"/>
          </a:p>
        </p:txBody>
      </p:sp>
    </p:spTree>
    <p:extLst>
      <p:ext uri="{BB962C8B-B14F-4D97-AF65-F5344CB8AC3E}">
        <p14:creationId xmlns:p14="http://schemas.microsoft.com/office/powerpoint/2010/main" val="23885848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3D5C89C-3192-485F-AB37-5050B640CCBC}" type="datetimeFigureOut">
              <a:rPr lang="en-IN" smtClean="0"/>
              <a:t>08-11-2016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84C60A-400A-4F57-8107-5332B3F927B2}" type="slidenum">
              <a:rPr lang="en-IN" smtClean="0"/>
              <a:t>‹#›</a:t>
            </a:fld>
            <a:endParaRPr lang="en-IN"/>
          </a:p>
        </p:txBody>
      </p:sp>
    </p:spTree>
    <p:extLst>
      <p:ext uri="{BB962C8B-B14F-4D97-AF65-F5344CB8AC3E}">
        <p14:creationId xmlns:p14="http://schemas.microsoft.com/office/powerpoint/2010/main" val="1404800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46038"/>
            <a:ext cx="12192000" cy="944470"/>
          </a:xfrm>
        </p:spPr>
        <p:txBody>
          <a:bodyPr/>
          <a:lstStyle/>
          <a:p>
            <a:r>
              <a:rPr lang="en-US" dirty="0" smtClean="0"/>
              <a:t>Click to edit Master title style</a:t>
            </a:r>
            <a:endParaRPr lang="en-IN" dirty="0"/>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B3D5C89C-3192-485F-AB37-5050B640CCBC}" type="datetimeFigureOut">
              <a:rPr lang="en-IN" smtClean="0"/>
              <a:t>08-11-2016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884C60A-400A-4F57-8107-5332B3F927B2}" type="slidenum">
              <a:rPr lang="en-IN" smtClean="0"/>
              <a:t>‹#›</a:t>
            </a:fld>
            <a:endParaRPr lang="en-IN"/>
          </a:p>
        </p:txBody>
      </p:sp>
      <p:sp>
        <p:nvSpPr>
          <p:cNvPr id="8" name="Rectangle 7"/>
          <p:cNvSpPr/>
          <p:nvPr userDrawn="1"/>
        </p:nvSpPr>
        <p:spPr>
          <a:xfrm>
            <a:off x="0" y="990508"/>
            <a:ext cx="12192000" cy="201706"/>
          </a:xfrm>
          <a:prstGeom prst="rect">
            <a:avLst/>
          </a:prstGeom>
          <a:pattFill prst="pct50">
            <a:fgClr>
              <a:schemeClr val="accent1"/>
            </a:fgClr>
            <a:bgClr>
              <a:schemeClr val="accent1">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1303843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B3D5C89C-3192-485F-AB37-5050B640CCBC}" type="datetimeFigureOut">
              <a:rPr lang="en-IN" smtClean="0"/>
              <a:t>08-11-2016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884C60A-400A-4F57-8107-5332B3F927B2}" type="slidenum">
              <a:rPr lang="en-IN" smtClean="0"/>
              <a:t>‹#›</a:t>
            </a:fld>
            <a:endParaRPr lang="en-IN"/>
          </a:p>
        </p:txBody>
      </p:sp>
    </p:spTree>
    <p:extLst>
      <p:ext uri="{BB962C8B-B14F-4D97-AF65-F5344CB8AC3E}">
        <p14:creationId xmlns:p14="http://schemas.microsoft.com/office/powerpoint/2010/main" val="8817633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B3D5C89C-3192-485F-AB37-5050B640CCBC}" type="datetimeFigureOut">
              <a:rPr lang="en-IN" smtClean="0"/>
              <a:t>08-11-2016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884C60A-400A-4F57-8107-5332B3F927B2}" type="slidenum">
              <a:rPr lang="en-IN" smtClean="0"/>
              <a:t>‹#›</a:t>
            </a:fld>
            <a:endParaRPr lang="en-IN"/>
          </a:p>
        </p:txBody>
      </p:sp>
    </p:spTree>
    <p:extLst>
      <p:ext uri="{BB962C8B-B14F-4D97-AF65-F5344CB8AC3E}">
        <p14:creationId xmlns:p14="http://schemas.microsoft.com/office/powerpoint/2010/main" val="23644380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D5C89C-3192-485F-AB37-5050B640CCBC}" type="datetimeFigureOut">
              <a:rPr lang="en-IN" smtClean="0"/>
              <a:t>08-11-2016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884C60A-400A-4F57-8107-5332B3F927B2}" type="slidenum">
              <a:rPr lang="en-IN" smtClean="0"/>
              <a:t>‹#›</a:t>
            </a:fld>
            <a:endParaRPr lang="en-IN"/>
          </a:p>
        </p:txBody>
      </p:sp>
    </p:spTree>
    <p:extLst>
      <p:ext uri="{BB962C8B-B14F-4D97-AF65-F5344CB8AC3E}">
        <p14:creationId xmlns:p14="http://schemas.microsoft.com/office/powerpoint/2010/main" val="32913400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3D5C89C-3192-485F-AB37-5050B640CCBC}" type="datetimeFigureOut">
              <a:rPr lang="en-IN" smtClean="0"/>
              <a:t>08-11-2016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884C60A-400A-4F57-8107-5332B3F927B2}" type="slidenum">
              <a:rPr lang="en-IN" smtClean="0"/>
              <a:t>‹#›</a:t>
            </a:fld>
            <a:endParaRPr lang="en-IN"/>
          </a:p>
        </p:txBody>
      </p:sp>
    </p:spTree>
    <p:extLst>
      <p:ext uri="{BB962C8B-B14F-4D97-AF65-F5344CB8AC3E}">
        <p14:creationId xmlns:p14="http://schemas.microsoft.com/office/powerpoint/2010/main" val="2138169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3D5C89C-3192-485F-AB37-5050B640CCBC}" type="datetimeFigureOut">
              <a:rPr lang="en-IN" smtClean="0"/>
              <a:t>08-11-2016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884C60A-400A-4F57-8107-5332B3F927B2}" type="slidenum">
              <a:rPr lang="en-IN" smtClean="0"/>
              <a:t>‹#›</a:t>
            </a:fld>
            <a:endParaRPr lang="en-IN"/>
          </a:p>
        </p:txBody>
      </p:sp>
    </p:spTree>
    <p:extLst>
      <p:ext uri="{BB962C8B-B14F-4D97-AF65-F5344CB8AC3E}">
        <p14:creationId xmlns:p14="http://schemas.microsoft.com/office/powerpoint/2010/main" val="40469223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B3D5C89C-3192-485F-AB37-5050B640CCBC}" type="datetimeFigureOut">
              <a:rPr lang="en-IN" smtClean="0"/>
              <a:t>08-11-2016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84C60A-400A-4F57-8107-5332B3F927B2}" type="slidenum">
              <a:rPr lang="en-IN" smtClean="0"/>
              <a:t>‹#›</a:t>
            </a:fld>
            <a:endParaRPr lang="en-IN"/>
          </a:p>
        </p:txBody>
      </p:sp>
    </p:spTree>
    <p:extLst>
      <p:ext uri="{BB962C8B-B14F-4D97-AF65-F5344CB8AC3E}">
        <p14:creationId xmlns:p14="http://schemas.microsoft.com/office/powerpoint/2010/main" val="3049490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B3D5C89C-3192-485F-AB37-5050B640CCBC}" type="datetimeFigureOut">
              <a:rPr lang="en-IN" smtClean="0"/>
              <a:t>08-11-2016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84C60A-400A-4F57-8107-5332B3F927B2}" type="slidenum">
              <a:rPr lang="en-IN" smtClean="0"/>
              <a:t>‹#›</a:t>
            </a:fld>
            <a:endParaRPr lang="en-IN"/>
          </a:p>
        </p:txBody>
      </p:sp>
    </p:spTree>
    <p:extLst>
      <p:ext uri="{BB962C8B-B14F-4D97-AF65-F5344CB8AC3E}">
        <p14:creationId xmlns:p14="http://schemas.microsoft.com/office/powerpoint/2010/main" val="42421714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D5C89C-3192-485F-AB37-5050B640CCBC}" type="datetimeFigureOut">
              <a:rPr lang="en-IN" smtClean="0"/>
              <a:t>08-11-2016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884C60A-400A-4F57-8107-5332B3F927B2}" type="slidenum">
              <a:rPr lang="en-IN" smtClean="0"/>
              <a:t>‹#›</a:t>
            </a:fld>
            <a:endParaRPr lang="en-IN"/>
          </a:p>
        </p:txBody>
      </p:sp>
    </p:spTree>
    <p:extLst>
      <p:ext uri="{BB962C8B-B14F-4D97-AF65-F5344CB8AC3E}">
        <p14:creationId xmlns:p14="http://schemas.microsoft.com/office/powerpoint/2010/main" val="33887307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9.wmf"/><Relationship Id="rId4" Type="http://schemas.openxmlformats.org/officeDocument/2006/relationships/package" Target="../embeddings/Microsoft_Excel_Worksheet1.xlsx"/></Relationships>
</file>

<file path=ppt/slides/_rels/slide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cstate="email">
            <a:extLst>
              <a:ext uri="{28A0092B-C50C-407E-A947-70E740481C1C}">
                <a14:useLocalDpi xmlns:a14="http://schemas.microsoft.com/office/drawing/2010/main" val="0"/>
              </a:ext>
            </a:extLst>
          </a:blip>
          <a:srcRect/>
          <a:stretch/>
        </p:blipFill>
        <p:spPr>
          <a:xfrm flipH="1">
            <a:off x="0" y="0"/>
            <a:ext cx="12192000" cy="6858000"/>
          </a:xfrm>
          <a:prstGeom prst="rect">
            <a:avLst/>
          </a:prstGeom>
        </p:spPr>
      </p:pic>
      <p:sp>
        <p:nvSpPr>
          <p:cNvPr id="7" name="Rectangle 6"/>
          <p:cNvSpPr/>
          <p:nvPr/>
        </p:nvSpPr>
        <p:spPr>
          <a:xfrm>
            <a:off x="228600" y="4887774"/>
            <a:ext cx="5080000" cy="1754326"/>
          </a:xfrm>
          <a:prstGeom prst="rect">
            <a:avLst/>
          </a:prstGeom>
        </p:spPr>
        <p:txBody>
          <a:bodyPr wrap="square" anchor="b">
            <a:spAutoFit/>
          </a:bodyPr>
          <a:lstStyle/>
          <a:p>
            <a:r>
              <a:rPr lang="en-US" sz="900" dirty="0">
                <a:solidFill>
                  <a:prstClr val="white"/>
                </a:solidFill>
                <a:latin typeface="Century Gothic"/>
              </a:rPr>
              <a:t>The information contained in the document is proprietary to Tata Industries Limited- Tata Insights &amp; Quants Division and is strictly confidential. </a:t>
            </a:r>
            <a:r>
              <a:rPr lang="en-IN" sz="900" dirty="0">
                <a:solidFill>
                  <a:prstClr val="white"/>
                </a:solidFill>
                <a:latin typeface="Century Gothic"/>
              </a:rPr>
              <a:t>In consideration of receipt of this document, the recipient agrees that the information is being shared only for the limited purpose. The recipient of this information further agrees to maintain such information in confidence and to not reproduce, disclose, duplicate, electronically transmit or use in whole or in part for any other purpose. Prior written consent shall be obtained from the Insights &amp; Quants Division of Tata Industries in case the information is necessitated to be shared with anyone other than the Recipient to whom this information is addressed. The above restriction shall not limit the right to use the information contained in this deck, if it is obtained from another source without restriction.</a:t>
            </a:r>
            <a:br>
              <a:rPr lang="en-IN" sz="900" dirty="0">
                <a:solidFill>
                  <a:prstClr val="white"/>
                </a:solidFill>
                <a:latin typeface="Century Gothic"/>
              </a:rPr>
            </a:br>
            <a:r>
              <a:rPr lang="en-IN" sz="900" dirty="0">
                <a:solidFill>
                  <a:prstClr val="white"/>
                </a:solidFill>
                <a:latin typeface="Century Gothic"/>
              </a:rPr>
              <a:t> </a:t>
            </a:r>
            <a:br>
              <a:rPr lang="en-IN" sz="900" dirty="0">
                <a:solidFill>
                  <a:prstClr val="white"/>
                </a:solidFill>
                <a:latin typeface="Century Gothic"/>
              </a:rPr>
            </a:br>
            <a:r>
              <a:rPr lang="en-IN" sz="900" dirty="0">
                <a:solidFill>
                  <a:prstClr val="white"/>
                </a:solidFill>
                <a:latin typeface="Century Gothic"/>
              </a:rPr>
              <a:t>© Copyright, Tata Insights &amp; Quants Division, Tata Industries Limited </a:t>
            </a:r>
          </a:p>
        </p:txBody>
      </p:sp>
      <p:sp>
        <p:nvSpPr>
          <p:cNvPr id="8" name="Rectangle 7"/>
          <p:cNvSpPr/>
          <p:nvPr/>
        </p:nvSpPr>
        <p:spPr>
          <a:xfrm>
            <a:off x="697326" y="2071327"/>
            <a:ext cx="10758074" cy="3046988"/>
          </a:xfrm>
          <a:prstGeom prst="rect">
            <a:avLst/>
          </a:prstGeom>
        </p:spPr>
        <p:txBody>
          <a:bodyPr wrap="none">
            <a:spAutoFit/>
          </a:bodyPr>
          <a:lstStyle/>
          <a:p>
            <a:pPr algn="r"/>
            <a:r>
              <a:rPr lang="en-US" sz="4800" b="1" dirty="0" smtClean="0">
                <a:solidFill>
                  <a:prstClr val="white"/>
                </a:solidFill>
                <a:effectLst>
                  <a:outerShdw blurRad="38100" dist="38100" dir="2700000" algn="tl">
                    <a:srgbClr val="000000">
                      <a:alpha val="43137"/>
                    </a:srgbClr>
                  </a:outerShdw>
                </a:effectLst>
                <a:latin typeface="Leelawadee UI" panose="020B0502040204020203" pitchFamily="34" charset="-34"/>
                <a:cs typeface="Leelawadee UI" panose="020B0502040204020203" pitchFamily="34" charset="-34"/>
              </a:rPr>
              <a:t>Introduction to classification models</a:t>
            </a:r>
          </a:p>
          <a:p>
            <a:pPr algn="r"/>
            <a:endParaRPr lang="en-US" sz="4800" b="1" dirty="0">
              <a:solidFill>
                <a:prstClr val="white"/>
              </a:solidFill>
              <a:effectLst>
                <a:outerShdw blurRad="38100" dist="38100" dir="2700000" algn="tl">
                  <a:srgbClr val="000000">
                    <a:alpha val="43137"/>
                  </a:srgbClr>
                </a:outerShdw>
              </a:effectLst>
              <a:latin typeface="Leelawadee UI" panose="020B0502040204020203" pitchFamily="34" charset="-34"/>
              <a:cs typeface="Leelawadee UI" panose="020B0502040204020203" pitchFamily="34" charset="-34"/>
            </a:endParaRPr>
          </a:p>
          <a:p>
            <a:pPr algn="r"/>
            <a:r>
              <a:rPr lang="en-US" sz="4800" b="1" dirty="0" smtClean="0">
                <a:solidFill>
                  <a:prstClr val="white"/>
                </a:solidFill>
                <a:effectLst>
                  <a:outerShdw blurRad="38100" dist="38100" dir="2700000" algn="tl">
                    <a:srgbClr val="000000">
                      <a:alpha val="43137"/>
                    </a:srgbClr>
                  </a:outerShdw>
                </a:effectLst>
                <a:latin typeface="Leelawadee UI" panose="020B0502040204020203" pitchFamily="34" charset="-34"/>
                <a:cs typeface="Leelawadee UI" panose="020B0502040204020203" pitchFamily="34" charset="-34"/>
              </a:rPr>
              <a:t>Hindol Basu</a:t>
            </a:r>
          </a:p>
          <a:p>
            <a:pPr algn="r"/>
            <a:r>
              <a:rPr lang="en-US" sz="4800" b="1" dirty="0" smtClean="0">
                <a:solidFill>
                  <a:prstClr val="white"/>
                </a:solidFill>
                <a:effectLst>
                  <a:outerShdw blurRad="38100" dist="38100" dir="2700000" algn="tl">
                    <a:srgbClr val="000000">
                      <a:alpha val="43137"/>
                    </a:srgbClr>
                  </a:outerShdw>
                </a:effectLst>
                <a:latin typeface="Leelawadee UI" panose="020B0502040204020203" pitchFamily="34" charset="-34"/>
                <a:cs typeface="Leelawadee UI" panose="020B0502040204020203" pitchFamily="34" charset="-34"/>
              </a:rPr>
              <a:t>Tata </a:t>
            </a:r>
            <a:r>
              <a:rPr lang="en-US" sz="4800" b="1" dirty="0" err="1" smtClean="0">
                <a:solidFill>
                  <a:prstClr val="white"/>
                </a:solidFill>
                <a:effectLst>
                  <a:outerShdw blurRad="38100" dist="38100" dir="2700000" algn="tl">
                    <a:srgbClr val="000000">
                      <a:alpha val="43137"/>
                    </a:srgbClr>
                  </a:outerShdw>
                </a:effectLst>
                <a:latin typeface="Leelawadee UI" panose="020B0502040204020203" pitchFamily="34" charset="-34"/>
                <a:cs typeface="Leelawadee UI" panose="020B0502040204020203" pitchFamily="34" charset="-34"/>
              </a:rPr>
              <a:t>iQ</a:t>
            </a:r>
            <a:endParaRPr lang="en-US" sz="4800" b="1" dirty="0">
              <a:solidFill>
                <a:prstClr val="white"/>
              </a:solidFill>
              <a:effectLst>
                <a:outerShdw blurRad="38100" dist="38100" dir="2700000" algn="tl">
                  <a:srgbClr val="000000">
                    <a:alpha val="43137"/>
                  </a:srgbClr>
                </a:outerShdw>
              </a:effectLst>
              <a:latin typeface="Leelawadee UI" panose="020B0502040204020203" pitchFamily="34" charset="-34"/>
              <a:cs typeface="Leelawadee UI" panose="020B0502040204020203" pitchFamily="34" charset="-34"/>
            </a:endParaRPr>
          </a:p>
        </p:txBody>
      </p:sp>
    </p:spTree>
    <p:extLst>
      <p:ext uri="{BB962C8B-B14F-4D97-AF65-F5344CB8AC3E}">
        <p14:creationId xmlns:p14="http://schemas.microsoft.com/office/powerpoint/2010/main" val="57112266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normAutofit/>
          </a:bodyPr>
          <a:lstStyle/>
          <a:p>
            <a:pPr algn="ctr"/>
            <a:r>
              <a:rPr lang="en-IN" sz="3600" b="1" i="1" dirty="0" smtClean="0"/>
              <a:t>What are we trying to achieve in this session</a:t>
            </a:r>
            <a:endParaRPr lang="en-IN" sz="3600" b="1" i="1" dirty="0"/>
          </a:p>
        </p:txBody>
      </p:sp>
      <p:sp>
        <p:nvSpPr>
          <p:cNvPr id="4" name="Rectangle 3"/>
          <p:cNvSpPr/>
          <p:nvPr/>
        </p:nvSpPr>
        <p:spPr>
          <a:xfrm>
            <a:off x="0" y="1139483"/>
            <a:ext cx="12192000" cy="1828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TextBox 28"/>
          <p:cNvSpPr txBox="1"/>
          <p:nvPr/>
        </p:nvSpPr>
        <p:spPr>
          <a:xfrm>
            <a:off x="377780" y="1434905"/>
            <a:ext cx="11436440" cy="4893647"/>
          </a:xfrm>
          <a:prstGeom prst="rect">
            <a:avLst/>
          </a:prstGeom>
          <a:noFill/>
        </p:spPr>
        <p:txBody>
          <a:bodyPr wrap="square" rtlCol="0">
            <a:spAutoFit/>
          </a:bodyPr>
          <a:lstStyle/>
          <a:p>
            <a:pPr marL="285750" indent="-285750">
              <a:lnSpc>
                <a:spcPct val="120000"/>
              </a:lnSpc>
              <a:buFont typeface="Wingdings" panose="05000000000000000000" pitchFamily="2" charset="2"/>
              <a:buChar char="Ø"/>
            </a:pPr>
            <a:r>
              <a:rPr lang="en-IN" sz="2000" dirty="0" smtClean="0"/>
              <a:t>Understand what we mean by classification algorithms and why they are important?</a:t>
            </a:r>
          </a:p>
          <a:p>
            <a:pPr marL="285750" indent="-285750">
              <a:lnSpc>
                <a:spcPct val="120000"/>
              </a:lnSpc>
              <a:buFont typeface="Wingdings" panose="05000000000000000000" pitchFamily="2" charset="2"/>
              <a:buChar char="Ø"/>
            </a:pPr>
            <a:endParaRPr lang="en-IN" sz="2000" dirty="0"/>
          </a:p>
          <a:p>
            <a:pPr marL="285750" indent="-285750">
              <a:lnSpc>
                <a:spcPct val="120000"/>
              </a:lnSpc>
              <a:buFont typeface="Wingdings" panose="05000000000000000000" pitchFamily="2" charset="2"/>
              <a:buChar char="Ø"/>
            </a:pPr>
            <a:r>
              <a:rPr lang="en-IN" sz="2000" dirty="0" smtClean="0"/>
              <a:t>Get our hands dirty and try to evaluate a classification model – we will try to answer the question “how good is my classification model?” without going into the details of how we can build one</a:t>
            </a:r>
          </a:p>
          <a:p>
            <a:pPr marL="285750" indent="-285750">
              <a:lnSpc>
                <a:spcPct val="120000"/>
              </a:lnSpc>
              <a:buFont typeface="Wingdings" panose="05000000000000000000" pitchFamily="2" charset="2"/>
              <a:buChar char="Ø"/>
            </a:pPr>
            <a:endParaRPr lang="en-IN" sz="2000" dirty="0"/>
          </a:p>
          <a:p>
            <a:pPr marL="285750" indent="-285750">
              <a:lnSpc>
                <a:spcPct val="120000"/>
              </a:lnSpc>
              <a:buFont typeface="Wingdings" panose="05000000000000000000" pitchFamily="2" charset="2"/>
              <a:buChar char="Ø"/>
            </a:pPr>
            <a:r>
              <a:rPr lang="en-IN" sz="2000" dirty="0" smtClean="0"/>
              <a:t>Learn the types of classification algorithms</a:t>
            </a:r>
          </a:p>
          <a:p>
            <a:pPr marL="285750" indent="-285750">
              <a:lnSpc>
                <a:spcPct val="120000"/>
              </a:lnSpc>
              <a:buFont typeface="Wingdings" panose="05000000000000000000" pitchFamily="2" charset="2"/>
              <a:buChar char="Ø"/>
            </a:pPr>
            <a:endParaRPr lang="en-IN" sz="2000" dirty="0"/>
          </a:p>
          <a:p>
            <a:pPr marL="285750" indent="-285750">
              <a:lnSpc>
                <a:spcPct val="120000"/>
              </a:lnSpc>
              <a:buFont typeface="Wingdings" panose="05000000000000000000" pitchFamily="2" charset="2"/>
              <a:buChar char="Ø"/>
            </a:pPr>
            <a:r>
              <a:rPr lang="en-IN" sz="2000" dirty="0" smtClean="0"/>
              <a:t>We all talk about complex machine learning algorithms. Are they really worth all the complexity?</a:t>
            </a:r>
          </a:p>
          <a:p>
            <a:pPr marL="285750" indent="-285750">
              <a:lnSpc>
                <a:spcPct val="120000"/>
              </a:lnSpc>
              <a:buFont typeface="Wingdings" panose="05000000000000000000" pitchFamily="2" charset="2"/>
              <a:buChar char="Ø"/>
            </a:pPr>
            <a:endParaRPr lang="en-IN" sz="2000" dirty="0"/>
          </a:p>
          <a:p>
            <a:pPr marL="285750" indent="-285750">
              <a:lnSpc>
                <a:spcPct val="120000"/>
              </a:lnSpc>
              <a:buFont typeface="Wingdings" panose="05000000000000000000" pitchFamily="2" charset="2"/>
              <a:buChar char="Ø"/>
            </a:pPr>
            <a:r>
              <a:rPr lang="en-IN" sz="2000" dirty="0"/>
              <a:t>Analytical challenges –  what are some of the typical challenges that we may </a:t>
            </a:r>
            <a:r>
              <a:rPr lang="en-IN" sz="2000" dirty="0" smtClean="0"/>
              <a:t>face while developing a classification model</a:t>
            </a:r>
          </a:p>
          <a:p>
            <a:pPr marL="285750" indent="-285750">
              <a:lnSpc>
                <a:spcPct val="120000"/>
              </a:lnSpc>
              <a:buFont typeface="Wingdings" panose="05000000000000000000" pitchFamily="2" charset="2"/>
              <a:buChar char="Ø"/>
            </a:pPr>
            <a:endParaRPr lang="en-IN" sz="2000" dirty="0"/>
          </a:p>
          <a:p>
            <a:pPr marL="285750" indent="-285750">
              <a:lnSpc>
                <a:spcPct val="120000"/>
              </a:lnSpc>
              <a:buFont typeface="Wingdings" panose="05000000000000000000" pitchFamily="2" charset="2"/>
              <a:buChar char="Ø"/>
            </a:pPr>
            <a:r>
              <a:rPr lang="en-IN" sz="2000" dirty="0" smtClean="0"/>
              <a:t>A more comprehensive view on “</a:t>
            </a:r>
            <a:r>
              <a:rPr lang="en-IN" sz="2000" dirty="0"/>
              <a:t>how good is my classification model?” </a:t>
            </a:r>
          </a:p>
        </p:txBody>
      </p:sp>
    </p:spTree>
    <p:extLst>
      <p:ext uri="{BB962C8B-B14F-4D97-AF65-F5344CB8AC3E}">
        <p14:creationId xmlns:p14="http://schemas.microsoft.com/office/powerpoint/2010/main" val="77348773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normAutofit/>
          </a:bodyPr>
          <a:lstStyle/>
          <a:p>
            <a:pPr algn="ctr"/>
            <a:r>
              <a:rPr lang="en-IN" sz="3600" b="1" i="1" dirty="0" smtClean="0"/>
              <a:t>Basic classification problem types – what are we trying to solve?  </a:t>
            </a:r>
            <a:endParaRPr lang="en-IN" sz="3600" b="1" i="1" dirty="0"/>
          </a:p>
        </p:txBody>
      </p:sp>
      <p:sp>
        <p:nvSpPr>
          <p:cNvPr id="4" name="Rectangle 3"/>
          <p:cNvSpPr/>
          <p:nvPr/>
        </p:nvSpPr>
        <p:spPr>
          <a:xfrm>
            <a:off x="0" y="1139483"/>
            <a:ext cx="12192000" cy="1828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050" name="Picture 2" descr="Related ima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88071" y="2082020"/>
            <a:ext cx="2713056" cy="1519311"/>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Related image"/>
          <p:cNvPicPr>
            <a:picLocks noChangeAspect="1" noChangeArrowheads="1"/>
          </p:cNvPicPr>
          <p:nvPr/>
        </p:nvPicPr>
        <p:blipFill rotWithShape="1">
          <a:blip r:embed="rId4">
            <a:extLst>
              <a:ext uri="{28A0092B-C50C-407E-A947-70E740481C1C}">
                <a14:useLocalDpi xmlns:a14="http://schemas.microsoft.com/office/drawing/2010/main" val="0"/>
              </a:ext>
            </a:extLst>
          </a:blip>
          <a:srcRect l="4991" t="13806" r="70605" b="39769"/>
          <a:stretch/>
        </p:blipFill>
        <p:spPr bwMode="auto">
          <a:xfrm>
            <a:off x="675246" y="2662306"/>
            <a:ext cx="1290519" cy="989672"/>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Related image"/>
          <p:cNvPicPr>
            <a:picLocks noChangeAspect="1" noChangeArrowheads="1"/>
          </p:cNvPicPr>
          <p:nvPr/>
        </p:nvPicPr>
        <p:blipFill rotWithShape="1">
          <a:blip r:embed="rId4">
            <a:extLst>
              <a:ext uri="{28A0092B-C50C-407E-A947-70E740481C1C}">
                <a14:useLocalDpi xmlns:a14="http://schemas.microsoft.com/office/drawing/2010/main" val="0"/>
              </a:ext>
            </a:extLst>
          </a:blip>
          <a:srcRect l="35728" t="7338" r="37959" b="30357"/>
          <a:stretch/>
        </p:blipFill>
        <p:spPr bwMode="auto">
          <a:xfrm>
            <a:off x="690587" y="4223821"/>
            <a:ext cx="1290519" cy="1023426"/>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descr="http://www.myvaastu.in/images/Child_Career_Plan1.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37103" y="2724434"/>
            <a:ext cx="1734543" cy="1502904"/>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Connector 7"/>
          <p:cNvCxnSpPr>
            <a:stCxn id="2050" idx="2"/>
          </p:cNvCxnSpPr>
          <p:nvPr/>
        </p:nvCxnSpPr>
        <p:spPr>
          <a:xfrm>
            <a:off x="5944599" y="3601331"/>
            <a:ext cx="0" cy="3221501"/>
          </a:xfrm>
          <a:prstGeom prst="line">
            <a:avLst/>
          </a:prstGeom>
          <a:ln w="31750">
            <a:prstDash val="dash"/>
          </a:ln>
        </p:spPr>
        <p:style>
          <a:lnRef idx="1">
            <a:schemeClr val="accent1"/>
          </a:lnRef>
          <a:fillRef idx="0">
            <a:schemeClr val="accent1"/>
          </a:fillRef>
          <a:effectRef idx="0">
            <a:schemeClr val="accent1"/>
          </a:effectRef>
          <a:fontRef idx="minor">
            <a:schemeClr val="tx1"/>
          </a:fontRef>
        </p:style>
      </p:cxnSp>
      <p:pic>
        <p:nvPicPr>
          <p:cNvPr id="2064" name="Picture 16" descr="Related image"/>
          <p:cNvPicPr>
            <a:picLocks noChangeAspect="1" noChangeArrowheads="1"/>
          </p:cNvPicPr>
          <p:nvPr/>
        </p:nvPicPr>
        <p:blipFill rotWithShape="1">
          <a:blip r:embed="rId6">
            <a:extLst>
              <a:ext uri="{28A0092B-C50C-407E-A947-70E740481C1C}">
                <a14:useLocalDpi xmlns:a14="http://schemas.microsoft.com/office/drawing/2010/main" val="0"/>
              </a:ext>
            </a:extLst>
          </a:blip>
          <a:srcRect b="11644"/>
          <a:stretch/>
        </p:blipFill>
        <p:spPr bwMode="auto">
          <a:xfrm>
            <a:off x="9866876" y="5057135"/>
            <a:ext cx="1875395" cy="1557026"/>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p:cNvSpPr/>
          <p:nvPr/>
        </p:nvSpPr>
        <p:spPr>
          <a:xfrm>
            <a:off x="0" y="1322363"/>
            <a:ext cx="12192000" cy="759657"/>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As a teacher you may want to understand your students in different ways  - you may want to know their preferred learning styles so that you can teach them accordingly. You may also want to know who may become a “future doctor”, a “future scientist” etc.</a:t>
            </a:r>
            <a:endParaRPr lang="en-IN" dirty="0"/>
          </a:p>
        </p:txBody>
      </p:sp>
      <p:sp>
        <p:nvSpPr>
          <p:cNvPr id="19" name="Rectangle 18"/>
          <p:cNvSpPr/>
          <p:nvPr/>
        </p:nvSpPr>
        <p:spPr>
          <a:xfrm>
            <a:off x="675247" y="2208623"/>
            <a:ext cx="1290519" cy="453683"/>
          </a:xfrm>
          <a:prstGeom prst="rect">
            <a:avLst/>
          </a:prstGeom>
          <a:solidFill>
            <a:schemeClr val="accent6">
              <a:lumMod val="50000"/>
            </a:schemeClr>
          </a:solidFill>
          <a:ln w="222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Visual</a:t>
            </a:r>
          </a:p>
        </p:txBody>
      </p:sp>
      <p:sp>
        <p:nvSpPr>
          <p:cNvPr id="13" name="Rectangle 12"/>
          <p:cNvSpPr/>
          <p:nvPr/>
        </p:nvSpPr>
        <p:spPr>
          <a:xfrm>
            <a:off x="675247" y="2662306"/>
            <a:ext cx="1290519" cy="1019910"/>
          </a:xfrm>
          <a:prstGeom prst="rect">
            <a:avLst/>
          </a:prstGeom>
          <a:noFill/>
          <a:ln w="22225">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Rectangle 20"/>
          <p:cNvSpPr/>
          <p:nvPr/>
        </p:nvSpPr>
        <p:spPr>
          <a:xfrm>
            <a:off x="675247" y="3773654"/>
            <a:ext cx="1290519" cy="453683"/>
          </a:xfrm>
          <a:prstGeom prst="rect">
            <a:avLst/>
          </a:prstGeom>
          <a:solidFill>
            <a:schemeClr val="accent6">
              <a:lumMod val="50000"/>
            </a:schemeClr>
          </a:solidFill>
          <a:ln w="222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Auditory</a:t>
            </a:r>
          </a:p>
        </p:txBody>
      </p:sp>
      <p:sp>
        <p:nvSpPr>
          <p:cNvPr id="22" name="Rectangle 21"/>
          <p:cNvSpPr/>
          <p:nvPr/>
        </p:nvSpPr>
        <p:spPr>
          <a:xfrm>
            <a:off x="675247" y="4227337"/>
            <a:ext cx="1290519" cy="1019910"/>
          </a:xfrm>
          <a:prstGeom prst="rect">
            <a:avLst/>
          </a:prstGeom>
          <a:noFill/>
          <a:ln w="22225">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Rectangle 22"/>
          <p:cNvSpPr/>
          <p:nvPr/>
        </p:nvSpPr>
        <p:spPr>
          <a:xfrm>
            <a:off x="658204" y="5321100"/>
            <a:ext cx="1307562" cy="453683"/>
          </a:xfrm>
          <a:prstGeom prst="rect">
            <a:avLst/>
          </a:prstGeom>
          <a:solidFill>
            <a:schemeClr val="accent6">
              <a:lumMod val="50000"/>
            </a:schemeClr>
          </a:solidFill>
          <a:ln w="222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Kinaesthetic</a:t>
            </a:r>
          </a:p>
        </p:txBody>
      </p:sp>
      <p:sp>
        <p:nvSpPr>
          <p:cNvPr id="24" name="Rectangle 23"/>
          <p:cNvSpPr/>
          <p:nvPr/>
        </p:nvSpPr>
        <p:spPr>
          <a:xfrm>
            <a:off x="658204" y="5774783"/>
            <a:ext cx="1307562" cy="1019910"/>
          </a:xfrm>
          <a:prstGeom prst="rect">
            <a:avLst/>
          </a:prstGeom>
          <a:noFill/>
          <a:ln w="22225">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5" name="Elbow Connector 14"/>
          <p:cNvCxnSpPr>
            <a:stCxn id="2050" idx="1"/>
            <a:endCxn id="13" idx="3"/>
          </p:cNvCxnSpPr>
          <p:nvPr/>
        </p:nvCxnSpPr>
        <p:spPr>
          <a:xfrm rot="10800000" flipV="1">
            <a:off x="1965767" y="2841675"/>
            <a:ext cx="2622305" cy="330585"/>
          </a:xfrm>
          <a:prstGeom prst="bentConnector3">
            <a:avLst/>
          </a:prstGeom>
          <a:ln w="31750">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 name="Elbow Connector 16"/>
          <p:cNvCxnSpPr>
            <a:stCxn id="2050" idx="1"/>
            <a:endCxn id="22" idx="3"/>
          </p:cNvCxnSpPr>
          <p:nvPr/>
        </p:nvCxnSpPr>
        <p:spPr>
          <a:xfrm rot="10800000" flipV="1">
            <a:off x="1965767" y="2841676"/>
            <a:ext cx="2622305" cy="1895616"/>
          </a:xfrm>
          <a:prstGeom prst="bentConnector3">
            <a:avLst/>
          </a:prstGeom>
          <a:ln w="31750">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6" name="Elbow Connector 25"/>
          <p:cNvCxnSpPr>
            <a:stCxn id="2050" idx="1"/>
            <a:endCxn id="24" idx="3"/>
          </p:cNvCxnSpPr>
          <p:nvPr/>
        </p:nvCxnSpPr>
        <p:spPr>
          <a:xfrm rot="10800000" flipV="1">
            <a:off x="1965767" y="2841676"/>
            <a:ext cx="2622305" cy="3443062"/>
          </a:xfrm>
          <a:prstGeom prst="bentConnector3">
            <a:avLst/>
          </a:prstGeom>
          <a:ln w="31750">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3" name="Elbow Connector 32"/>
          <p:cNvCxnSpPr>
            <a:stCxn id="2050" idx="3"/>
            <a:endCxn id="36" idx="1"/>
          </p:cNvCxnSpPr>
          <p:nvPr/>
        </p:nvCxnSpPr>
        <p:spPr>
          <a:xfrm>
            <a:off x="7301127" y="2841676"/>
            <a:ext cx="2360492" cy="657760"/>
          </a:xfrm>
          <a:prstGeom prst="bentConnector3">
            <a:avLst>
              <a:gd name="adj1" fmla="val 50000"/>
            </a:avLst>
          </a:prstGeom>
          <a:ln w="31750">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6" name="Rectangle 35"/>
          <p:cNvSpPr/>
          <p:nvPr/>
        </p:nvSpPr>
        <p:spPr>
          <a:xfrm>
            <a:off x="9661619" y="2648237"/>
            <a:ext cx="2227579" cy="1702397"/>
          </a:xfrm>
          <a:prstGeom prst="rect">
            <a:avLst/>
          </a:prstGeom>
          <a:noFill/>
          <a:ln w="22225">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Rectangle 37"/>
          <p:cNvSpPr/>
          <p:nvPr/>
        </p:nvSpPr>
        <p:spPr>
          <a:xfrm>
            <a:off x="9670507" y="4937760"/>
            <a:ext cx="2227579" cy="1828800"/>
          </a:xfrm>
          <a:prstGeom prst="rect">
            <a:avLst/>
          </a:prstGeom>
          <a:noFill/>
          <a:ln w="22225">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9" name="Elbow Connector 38"/>
          <p:cNvCxnSpPr>
            <a:stCxn id="2050" idx="3"/>
            <a:endCxn id="38" idx="1"/>
          </p:cNvCxnSpPr>
          <p:nvPr/>
        </p:nvCxnSpPr>
        <p:spPr>
          <a:xfrm>
            <a:off x="7301127" y="2841676"/>
            <a:ext cx="2369380" cy="3010484"/>
          </a:xfrm>
          <a:prstGeom prst="bentConnector3">
            <a:avLst>
              <a:gd name="adj1" fmla="val 50000"/>
            </a:avLst>
          </a:prstGeom>
          <a:ln w="31750">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3539036" y="4039910"/>
            <a:ext cx="1899138" cy="2031325"/>
          </a:xfrm>
          <a:prstGeom prst="rect">
            <a:avLst/>
          </a:prstGeom>
          <a:noFill/>
        </p:spPr>
        <p:txBody>
          <a:bodyPr wrap="square" rtlCol="0">
            <a:spAutoFit/>
          </a:bodyPr>
          <a:lstStyle/>
          <a:p>
            <a:r>
              <a:rPr lang="en-IN" b="1" i="1" dirty="0" smtClean="0"/>
              <a:t>Identification of distinct groups or classes. So that each group is distinct with respect to one or more dimensions</a:t>
            </a:r>
            <a:endParaRPr lang="en-IN" b="1" i="1" dirty="0"/>
          </a:p>
        </p:txBody>
      </p:sp>
      <p:sp>
        <p:nvSpPr>
          <p:cNvPr id="43" name="TextBox 42"/>
          <p:cNvSpPr txBox="1"/>
          <p:nvPr/>
        </p:nvSpPr>
        <p:spPr>
          <a:xfrm>
            <a:off x="6336745" y="4039909"/>
            <a:ext cx="1899138" cy="1477328"/>
          </a:xfrm>
          <a:prstGeom prst="rect">
            <a:avLst/>
          </a:prstGeom>
          <a:noFill/>
        </p:spPr>
        <p:txBody>
          <a:bodyPr wrap="square" rtlCol="0">
            <a:spAutoFit/>
          </a:bodyPr>
          <a:lstStyle/>
          <a:p>
            <a:r>
              <a:rPr lang="en-IN" b="1" i="1" dirty="0" smtClean="0"/>
              <a:t>Prediction of future state or prediction of level of a future phenomena</a:t>
            </a:r>
            <a:endParaRPr lang="en-IN" b="1" i="1" dirty="0"/>
          </a:p>
        </p:txBody>
      </p:sp>
      <p:sp>
        <p:nvSpPr>
          <p:cNvPr id="47" name="Rectangle 46"/>
          <p:cNvSpPr/>
          <p:nvPr/>
        </p:nvSpPr>
        <p:spPr>
          <a:xfrm>
            <a:off x="9661619" y="2177558"/>
            <a:ext cx="2236467" cy="453683"/>
          </a:xfrm>
          <a:prstGeom prst="rect">
            <a:avLst/>
          </a:prstGeom>
          <a:solidFill>
            <a:schemeClr val="accent6">
              <a:lumMod val="50000"/>
            </a:schemeClr>
          </a:solidFill>
          <a:ln w="222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t>Future career</a:t>
            </a:r>
            <a:endParaRPr lang="en-IN" sz="1600" dirty="0"/>
          </a:p>
        </p:txBody>
      </p:sp>
      <p:sp>
        <p:nvSpPr>
          <p:cNvPr id="48" name="Rectangle 47"/>
          <p:cNvSpPr/>
          <p:nvPr/>
        </p:nvSpPr>
        <p:spPr>
          <a:xfrm>
            <a:off x="9666799" y="4484077"/>
            <a:ext cx="2236467" cy="453683"/>
          </a:xfrm>
          <a:prstGeom prst="rect">
            <a:avLst/>
          </a:prstGeom>
          <a:solidFill>
            <a:schemeClr val="accent6">
              <a:lumMod val="50000"/>
            </a:schemeClr>
          </a:solidFill>
          <a:ln w="222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t>Future level of proficiency</a:t>
            </a:r>
            <a:endParaRPr lang="en-IN" sz="1600" dirty="0"/>
          </a:p>
        </p:txBody>
      </p:sp>
      <p:pic>
        <p:nvPicPr>
          <p:cNvPr id="2066" name="Picture 18" descr="Related imag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6316" y="5774782"/>
            <a:ext cx="1274109" cy="10199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928665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normAutofit/>
          </a:bodyPr>
          <a:lstStyle/>
          <a:p>
            <a:pPr algn="ctr"/>
            <a:r>
              <a:rPr lang="en-IN" sz="3600" b="1" i="1" dirty="0" smtClean="0"/>
              <a:t>Criticality of classification problems –  why are we trying to solve these problems?</a:t>
            </a:r>
            <a:endParaRPr lang="en-IN" sz="3600" b="1" i="1" dirty="0"/>
          </a:p>
        </p:txBody>
      </p:sp>
      <p:sp>
        <p:nvSpPr>
          <p:cNvPr id="4" name="Rectangle 3"/>
          <p:cNvSpPr/>
          <p:nvPr/>
        </p:nvSpPr>
        <p:spPr>
          <a:xfrm>
            <a:off x="0" y="1139483"/>
            <a:ext cx="12192000" cy="1828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p:cNvSpPr/>
          <p:nvPr/>
        </p:nvSpPr>
        <p:spPr>
          <a:xfrm>
            <a:off x="0" y="1322363"/>
            <a:ext cx="12192000" cy="759657"/>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Classification is possibly the most widely used technique –  based on the availability of an objective function and the requirement of predicting future states, we use either a supervised or un-supervised method</a:t>
            </a:r>
            <a:endParaRPr lang="en-IN" dirty="0"/>
          </a:p>
        </p:txBody>
      </p:sp>
      <p:pic>
        <p:nvPicPr>
          <p:cNvPr id="3074" name="Picture 2" descr="Related image"/>
          <p:cNvPicPr>
            <a:picLocks noChangeAspect="1" noChangeArrowheads="1"/>
          </p:cNvPicPr>
          <p:nvPr/>
        </p:nvPicPr>
        <p:blipFill rotWithShape="1">
          <a:blip r:embed="rId2">
            <a:extLst>
              <a:ext uri="{28A0092B-C50C-407E-A947-70E740481C1C}">
                <a14:useLocalDpi xmlns:a14="http://schemas.microsoft.com/office/drawing/2010/main" val="0"/>
              </a:ext>
            </a:extLst>
          </a:blip>
          <a:srcRect l="12432" r="13971"/>
          <a:stretch/>
        </p:blipFill>
        <p:spPr bwMode="auto">
          <a:xfrm>
            <a:off x="351690" y="2812933"/>
            <a:ext cx="1772527" cy="1378549"/>
          </a:xfrm>
          <a:prstGeom prst="rect">
            <a:avLst/>
          </a:prstGeom>
          <a:noFill/>
          <a:ln w="22225">
            <a:noFill/>
          </a:ln>
          <a:extLst>
            <a:ext uri="{909E8E84-426E-40DD-AFC4-6F175D3DCCD1}">
              <a14:hiddenFill xmlns:a14="http://schemas.microsoft.com/office/drawing/2010/main">
                <a:solidFill>
                  <a:srgbClr val="FFFFFF"/>
                </a:solidFill>
              </a14:hiddenFill>
            </a:ext>
          </a:extLst>
        </p:spPr>
      </p:pic>
      <p:sp>
        <p:nvSpPr>
          <p:cNvPr id="28" name="Rectangle 27"/>
          <p:cNvSpPr/>
          <p:nvPr/>
        </p:nvSpPr>
        <p:spPr>
          <a:xfrm>
            <a:off x="211012" y="2744662"/>
            <a:ext cx="2082019" cy="1619251"/>
          </a:xfrm>
          <a:prstGeom prst="rect">
            <a:avLst/>
          </a:prstGeom>
          <a:noFill/>
          <a:ln w="22225">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Rectangle 28"/>
          <p:cNvSpPr/>
          <p:nvPr/>
        </p:nvSpPr>
        <p:spPr>
          <a:xfrm>
            <a:off x="211013" y="2275445"/>
            <a:ext cx="2082019" cy="453683"/>
          </a:xfrm>
          <a:prstGeom prst="rect">
            <a:avLst/>
          </a:prstGeom>
          <a:solidFill>
            <a:schemeClr val="accent6">
              <a:lumMod val="50000"/>
            </a:schemeClr>
          </a:solidFill>
          <a:ln w="222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Segmentation</a:t>
            </a:r>
          </a:p>
        </p:txBody>
      </p:sp>
      <p:pic>
        <p:nvPicPr>
          <p:cNvPr id="3076" name="Picture 4" descr="Related image"/>
          <p:cNvPicPr>
            <a:picLocks noChangeAspect="1" noChangeArrowheads="1"/>
          </p:cNvPicPr>
          <p:nvPr/>
        </p:nvPicPr>
        <p:blipFill rotWithShape="1">
          <a:blip r:embed="rId3">
            <a:extLst>
              <a:ext uri="{28A0092B-C50C-407E-A947-70E740481C1C}">
                <a14:useLocalDpi xmlns:a14="http://schemas.microsoft.com/office/drawing/2010/main" val="0"/>
              </a:ext>
            </a:extLst>
          </a:blip>
          <a:srcRect l="7380" t="6743" r="7655" b="4946"/>
          <a:stretch/>
        </p:blipFill>
        <p:spPr bwMode="auto">
          <a:xfrm>
            <a:off x="351690" y="5191226"/>
            <a:ext cx="1800661" cy="1401857"/>
          </a:xfrm>
          <a:prstGeom prst="rect">
            <a:avLst/>
          </a:prstGeom>
          <a:noFill/>
          <a:extLst>
            <a:ext uri="{909E8E84-426E-40DD-AFC4-6F175D3DCCD1}">
              <a14:hiddenFill xmlns:a14="http://schemas.microsoft.com/office/drawing/2010/main">
                <a:solidFill>
                  <a:srgbClr val="FFFFFF"/>
                </a:solidFill>
              </a14:hiddenFill>
            </a:ext>
          </a:extLst>
        </p:spPr>
      </p:pic>
      <p:sp>
        <p:nvSpPr>
          <p:cNvPr id="34" name="Rectangle 33"/>
          <p:cNvSpPr/>
          <p:nvPr/>
        </p:nvSpPr>
        <p:spPr>
          <a:xfrm>
            <a:off x="211012" y="5082530"/>
            <a:ext cx="2082019" cy="1619251"/>
          </a:xfrm>
          <a:prstGeom prst="rect">
            <a:avLst/>
          </a:prstGeom>
          <a:noFill/>
          <a:ln w="22225">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Rectangle 34"/>
          <p:cNvSpPr/>
          <p:nvPr/>
        </p:nvSpPr>
        <p:spPr>
          <a:xfrm>
            <a:off x="211012" y="4615076"/>
            <a:ext cx="2082019" cy="453683"/>
          </a:xfrm>
          <a:prstGeom prst="rect">
            <a:avLst/>
          </a:prstGeom>
          <a:solidFill>
            <a:schemeClr val="accent6">
              <a:lumMod val="50000"/>
            </a:schemeClr>
          </a:solidFill>
          <a:ln w="222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Prediction = Classification</a:t>
            </a:r>
          </a:p>
        </p:txBody>
      </p:sp>
      <p:sp>
        <p:nvSpPr>
          <p:cNvPr id="5" name="TextBox 4"/>
          <p:cNvSpPr txBox="1"/>
          <p:nvPr/>
        </p:nvSpPr>
        <p:spPr>
          <a:xfrm>
            <a:off x="2675208" y="2247309"/>
            <a:ext cx="9338602" cy="1274195"/>
          </a:xfrm>
          <a:prstGeom prst="rect">
            <a:avLst/>
          </a:prstGeom>
          <a:noFill/>
        </p:spPr>
        <p:txBody>
          <a:bodyPr wrap="square" rtlCol="0">
            <a:spAutoFit/>
          </a:bodyPr>
          <a:lstStyle/>
          <a:p>
            <a:pPr marL="285750" indent="-285750">
              <a:lnSpc>
                <a:spcPct val="120000"/>
              </a:lnSpc>
              <a:buFont typeface="Wingdings" panose="05000000000000000000" pitchFamily="2" charset="2"/>
              <a:buChar char="Ø"/>
            </a:pPr>
            <a:r>
              <a:rPr lang="en-IN" sz="1600" dirty="0" smtClean="0"/>
              <a:t>Distinct groups of customer, suppliers, employees etc. that needs to be treated differently</a:t>
            </a:r>
          </a:p>
          <a:p>
            <a:pPr marL="285750" indent="-285750">
              <a:lnSpc>
                <a:spcPct val="120000"/>
              </a:lnSpc>
              <a:buFont typeface="Wingdings" panose="05000000000000000000" pitchFamily="2" charset="2"/>
              <a:buChar char="Ø"/>
            </a:pPr>
            <a:r>
              <a:rPr lang="en-IN" sz="1600" dirty="0" smtClean="0"/>
              <a:t>More often than not, we do not know the extract criteria or criterion based on which the distinctness needs to be established</a:t>
            </a:r>
          </a:p>
          <a:p>
            <a:pPr marL="285750" indent="-285750">
              <a:lnSpc>
                <a:spcPct val="120000"/>
              </a:lnSpc>
              <a:buFont typeface="Wingdings" panose="05000000000000000000" pitchFamily="2" charset="2"/>
              <a:buChar char="Ø"/>
            </a:pPr>
            <a:r>
              <a:rPr lang="en-IN" sz="1600" dirty="0" smtClean="0"/>
              <a:t>Use supervised or unsupervised approaches</a:t>
            </a:r>
            <a:endParaRPr lang="en-IN" sz="1600" dirty="0"/>
          </a:p>
        </p:txBody>
      </p:sp>
      <p:sp>
        <p:nvSpPr>
          <p:cNvPr id="40" name="TextBox 39"/>
          <p:cNvSpPr txBox="1"/>
          <p:nvPr/>
        </p:nvSpPr>
        <p:spPr>
          <a:xfrm>
            <a:off x="2548598" y="4868655"/>
            <a:ext cx="9338602" cy="1569660"/>
          </a:xfrm>
          <a:prstGeom prst="rect">
            <a:avLst/>
          </a:prstGeom>
          <a:noFill/>
        </p:spPr>
        <p:txBody>
          <a:bodyPr wrap="square" rtlCol="0">
            <a:spAutoFit/>
          </a:bodyPr>
          <a:lstStyle/>
          <a:p>
            <a:pPr marL="285750" indent="-285750">
              <a:lnSpc>
                <a:spcPct val="120000"/>
              </a:lnSpc>
              <a:buFont typeface="Wingdings" panose="05000000000000000000" pitchFamily="2" charset="2"/>
              <a:buChar char="Ø"/>
            </a:pPr>
            <a:r>
              <a:rPr lang="en-IN" sz="1600" dirty="0" smtClean="0"/>
              <a:t>Most business problems tend to involve a prediction of future state</a:t>
            </a:r>
          </a:p>
          <a:p>
            <a:pPr marL="285750" indent="-285750">
              <a:lnSpc>
                <a:spcPct val="120000"/>
              </a:lnSpc>
              <a:buFont typeface="Wingdings" panose="05000000000000000000" pitchFamily="2" charset="2"/>
              <a:buChar char="Ø"/>
            </a:pPr>
            <a:r>
              <a:rPr lang="en-IN" sz="1600" dirty="0" smtClean="0"/>
              <a:t>Most point predictions tend to be inaccurate – a data scientist’s solution is to convert them into prediction of future classes (classification saves our reputation &amp; our jobs): convert a continuous outcome to a High, Medium, Low</a:t>
            </a:r>
          </a:p>
          <a:p>
            <a:pPr marL="285750" indent="-285750">
              <a:lnSpc>
                <a:spcPct val="120000"/>
              </a:lnSpc>
              <a:buFont typeface="Wingdings" panose="05000000000000000000" pitchFamily="2" charset="2"/>
              <a:buChar char="Ø"/>
            </a:pPr>
            <a:r>
              <a:rPr lang="en-IN" sz="1600" dirty="0" smtClean="0"/>
              <a:t>Use supervised approaches</a:t>
            </a:r>
            <a:endParaRPr lang="en-IN" sz="1600" dirty="0"/>
          </a:p>
        </p:txBody>
      </p:sp>
    </p:spTree>
    <p:extLst>
      <p:ext uri="{BB962C8B-B14F-4D97-AF65-F5344CB8AC3E}">
        <p14:creationId xmlns:p14="http://schemas.microsoft.com/office/powerpoint/2010/main" val="163112582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normAutofit/>
          </a:bodyPr>
          <a:lstStyle/>
          <a:p>
            <a:pPr algn="ctr"/>
            <a:r>
              <a:rPr lang="en-IN" sz="3600" b="1" i="1" dirty="0" smtClean="0"/>
              <a:t>I have a classification model – how do I know that it is useful?: lets get our hands dirty</a:t>
            </a:r>
            <a:endParaRPr lang="en-IN" sz="3600" b="1" i="1" dirty="0"/>
          </a:p>
        </p:txBody>
      </p:sp>
      <p:sp>
        <p:nvSpPr>
          <p:cNvPr id="4" name="Rectangle 3"/>
          <p:cNvSpPr/>
          <p:nvPr/>
        </p:nvSpPr>
        <p:spPr>
          <a:xfrm>
            <a:off x="0" y="1139483"/>
            <a:ext cx="12192000" cy="1828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p:cNvSpPr/>
          <p:nvPr/>
        </p:nvSpPr>
        <p:spPr>
          <a:xfrm>
            <a:off x="0" y="1322363"/>
            <a:ext cx="12192000" cy="759657"/>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All models are wrong but some are still useful</a:t>
            </a:r>
            <a:endParaRPr lang="en-IN" dirty="0"/>
          </a:p>
        </p:txBody>
      </p:sp>
      <p:pic>
        <p:nvPicPr>
          <p:cNvPr id="6" name="Picture 5"/>
          <p:cNvPicPr>
            <a:picLocks noChangeAspect="1"/>
          </p:cNvPicPr>
          <p:nvPr/>
        </p:nvPicPr>
        <p:blipFill rotWithShape="1">
          <a:blip r:embed="rId3"/>
          <a:srcRect l="4064" t="31998" r="33220" b="31911"/>
          <a:stretch/>
        </p:blipFill>
        <p:spPr>
          <a:xfrm>
            <a:off x="132149" y="2614411"/>
            <a:ext cx="12021011" cy="3889420"/>
          </a:xfrm>
          <a:prstGeom prst="rect">
            <a:avLst/>
          </a:prstGeom>
        </p:spPr>
      </p:pic>
      <p:graphicFrame>
        <p:nvGraphicFramePr>
          <p:cNvPr id="7" name="Object 6"/>
          <p:cNvGraphicFramePr>
            <a:graphicFrameLocks noChangeAspect="1"/>
          </p:cNvGraphicFramePr>
          <p:nvPr>
            <p:extLst>
              <p:ext uri="{D42A27DB-BD31-4B8C-83A1-F6EECF244321}">
                <p14:modId xmlns:p14="http://schemas.microsoft.com/office/powerpoint/2010/main" val="668317160"/>
              </p:ext>
            </p:extLst>
          </p:nvPr>
        </p:nvGraphicFramePr>
        <p:xfrm>
          <a:off x="10094889" y="4173358"/>
          <a:ext cx="1534733" cy="1294931"/>
        </p:xfrm>
        <a:graphic>
          <a:graphicData uri="http://schemas.openxmlformats.org/presentationml/2006/ole">
            <mc:AlternateContent xmlns:mc="http://schemas.openxmlformats.org/markup-compatibility/2006">
              <mc:Choice xmlns:v="urn:schemas-microsoft-com:vml" Requires="v">
                <p:oleObj spid="_x0000_s1064" name="Worksheet" showAsIcon="1" r:id="rId4" imgW="914400" imgH="771480" progId="Excel.Sheet.12">
                  <p:embed/>
                </p:oleObj>
              </mc:Choice>
              <mc:Fallback>
                <p:oleObj name="Worksheet" showAsIcon="1" r:id="rId4" imgW="914400" imgH="771480" progId="Excel.Sheet.12">
                  <p:embed/>
                  <p:pic>
                    <p:nvPicPr>
                      <p:cNvPr id="0" name=""/>
                      <p:cNvPicPr/>
                      <p:nvPr/>
                    </p:nvPicPr>
                    <p:blipFill>
                      <a:blip r:embed="rId5"/>
                      <a:stretch>
                        <a:fillRect/>
                      </a:stretch>
                    </p:blipFill>
                    <p:spPr>
                      <a:xfrm>
                        <a:off x="10094889" y="4173358"/>
                        <a:ext cx="1534733" cy="1294931"/>
                      </a:xfrm>
                      <a:prstGeom prst="rect">
                        <a:avLst/>
                      </a:prstGeom>
                    </p:spPr>
                  </p:pic>
                </p:oleObj>
              </mc:Fallback>
            </mc:AlternateContent>
          </a:graphicData>
        </a:graphic>
      </p:graphicFrame>
    </p:spTree>
    <p:extLst>
      <p:ext uri="{BB962C8B-B14F-4D97-AF65-F5344CB8AC3E}">
        <p14:creationId xmlns:p14="http://schemas.microsoft.com/office/powerpoint/2010/main" val="299715216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Related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70497" y="3516922"/>
            <a:ext cx="2466975" cy="184785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0" y="0"/>
            <a:ext cx="12192000" cy="1325563"/>
          </a:xfrm>
        </p:spPr>
        <p:txBody>
          <a:bodyPr>
            <a:normAutofit/>
          </a:bodyPr>
          <a:lstStyle/>
          <a:p>
            <a:pPr algn="ctr"/>
            <a:r>
              <a:rPr lang="en-IN" sz="3600" b="1" i="1" dirty="0" smtClean="0"/>
              <a:t>The available tools –  what are the tools that we have at our disposal?</a:t>
            </a:r>
            <a:endParaRPr lang="en-IN" sz="3600" b="1" i="1" dirty="0"/>
          </a:p>
        </p:txBody>
      </p:sp>
      <p:sp>
        <p:nvSpPr>
          <p:cNvPr id="4" name="Rectangle 3"/>
          <p:cNvSpPr/>
          <p:nvPr/>
        </p:nvSpPr>
        <p:spPr>
          <a:xfrm>
            <a:off x="0" y="1139483"/>
            <a:ext cx="12192000" cy="1828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p:cNvSpPr/>
          <p:nvPr/>
        </p:nvSpPr>
        <p:spPr>
          <a:xfrm>
            <a:off x="0" y="1322363"/>
            <a:ext cx="12192000" cy="652481"/>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A data scientist should know the classification tools in her kitty and keep them ready to handle the appropriate analytical challenge</a:t>
            </a:r>
            <a:endParaRPr lang="en-IN" dirty="0"/>
          </a:p>
        </p:txBody>
      </p:sp>
      <p:sp>
        <p:nvSpPr>
          <p:cNvPr id="3" name="Oval 2"/>
          <p:cNvSpPr/>
          <p:nvPr/>
        </p:nvSpPr>
        <p:spPr>
          <a:xfrm>
            <a:off x="2672167" y="3673515"/>
            <a:ext cx="2182836" cy="1617785"/>
          </a:xfrm>
          <a:prstGeom prst="ellipse">
            <a:avLst/>
          </a:prstGeom>
          <a:solidFill>
            <a:schemeClr val="accent1">
              <a:alpha val="5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chemeClr val="tx1">
                    <a:lumMod val="95000"/>
                    <a:lumOff val="5000"/>
                  </a:schemeClr>
                </a:solidFill>
              </a:rPr>
              <a:t>Unsupervised</a:t>
            </a:r>
            <a:endParaRPr lang="en-IN" b="1" dirty="0">
              <a:solidFill>
                <a:schemeClr val="tx1">
                  <a:lumMod val="95000"/>
                  <a:lumOff val="5000"/>
                </a:schemeClr>
              </a:solidFill>
            </a:endParaRPr>
          </a:p>
        </p:txBody>
      </p:sp>
      <p:sp>
        <p:nvSpPr>
          <p:cNvPr id="18" name="Oval 17"/>
          <p:cNvSpPr/>
          <p:nvPr/>
        </p:nvSpPr>
        <p:spPr>
          <a:xfrm>
            <a:off x="5970089" y="3620426"/>
            <a:ext cx="2182836" cy="1617785"/>
          </a:xfrm>
          <a:prstGeom prst="ellipse">
            <a:avLst/>
          </a:prstGeom>
          <a:solidFill>
            <a:schemeClr val="bg1">
              <a:lumMod val="85000"/>
              <a:alpha val="71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lumMod val="95000"/>
                    <a:lumOff val="5000"/>
                  </a:schemeClr>
                </a:solidFill>
              </a:rPr>
              <a:t>Supervised</a:t>
            </a:r>
          </a:p>
        </p:txBody>
      </p:sp>
      <p:sp>
        <p:nvSpPr>
          <p:cNvPr id="5" name="Rectangle 4"/>
          <p:cNvSpPr/>
          <p:nvPr/>
        </p:nvSpPr>
        <p:spPr>
          <a:xfrm>
            <a:off x="168812" y="2307102"/>
            <a:ext cx="1941342" cy="7596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t>Clustering Based </a:t>
            </a:r>
            <a:endParaRPr lang="en-IN" b="1" dirty="0"/>
          </a:p>
        </p:txBody>
      </p:sp>
      <p:sp>
        <p:nvSpPr>
          <p:cNvPr id="20" name="Rectangle 19"/>
          <p:cNvSpPr/>
          <p:nvPr/>
        </p:nvSpPr>
        <p:spPr>
          <a:xfrm>
            <a:off x="168812" y="4103910"/>
            <a:ext cx="1941342" cy="7596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t>Similarity Based </a:t>
            </a:r>
            <a:endParaRPr lang="en-IN" b="1" dirty="0"/>
          </a:p>
        </p:txBody>
      </p:sp>
      <p:sp>
        <p:nvSpPr>
          <p:cNvPr id="21" name="Rectangle 20"/>
          <p:cNvSpPr/>
          <p:nvPr/>
        </p:nvSpPr>
        <p:spPr>
          <a:xfrm>
            <a:off x="168812" y="5900719"/>
            <a:ext cx="1941342" cy="7596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t>Based on Outlier Detection</a:t>
            </a:r>
            <a:endParaRPr lang="en-IN" b="1" dirty="0"/>
          </a:p>
        </p:txBody>
      </p:sp>
      <p:sp>
        <p:nvSpPr>
          <p:cNvPr id="22" name="Rectangle 21"/>
          <p:cNvSpPr/>
          <p:nvPr/>
        </p:nvSpPr>
        <p:spPr>
          <a:xfrm>
            <a:off x="8904843" y="2045779"/>
            <a:ext cx="3024551" cy="61127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lumMod val="95000"/>
                    <a:lumOff val="5000"/>
                  </a:schemeClr>
                </a:solidFill>
              </a:rPr>
              <a:t>Regression Based </a:t>
            </a:r>
          </a:p>
        </p:txBody>
      </p:sp>
      <p:sp>
        <p:nvSpPr>
          <p:cNvPr id="23" name="Rectangle 22"/>
          <p:cNvSpPr/>
          <p:nvPr/>
        </p:nvSpPr>
        <p:spPr>
          <a:xfrm>
            <a:off x="8904843" y="2717166"/>
            <a:ext cx="3024551" cy="61127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lumMod val="95000"/>
                    <a:lumOff val="5000"/>
                  </a:schemeClr>
                </a:solidFill>
              </a:rPr>
              <a:t>Tree Based </a:t>
            </a:r>
          </a:p>
        </p:txBody>
      </p:sp>
      <p:sp>
        <p:nvSpPr>
          <p:cNvPr id="24" name="Rectangle 23"/>
          <p:cNvSpPr/>
          <p:nvPr/>
        </p:nvSpPr>
        <p:spPr>
          <a:xfrm>
            <a:off x="8904844" y="3375587"/>
            <a:ext cx="3024550" cy="61127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chemeClr val="tx1">
                    <a:lumMod val="95000"/>
                    <a:lumOff val="5000"/>
                  </a:schemeClr>
                </a:solidFill>
              </a:rPr>
              <a:t>Machine Learning: Ensemble Based </a:t>
            </a:r>
            <a:endParaRPr lang="en-IN" b="1" dirty="0">
              <a:solidFill>
                <a:schemeClr val="tx1">
                  <a:lumMod val="95000"/>
                  <a:lumOff val="5000"/>
                </a:schemeClr>
              </a:solidFill>
            </a:endParaRPr>
          </a:p>
        </p:txBody>
      </p:sp>
      <p:sp>
        <p:nvSpPr>
          <p:cNvPr id="26" name="Rectangle 25"/>
          <p:cNvSpPr/>
          <p:nvPr/>
        </p:nvSpPr>
        <p:spPr>
          <a:xfrm>
            <a:off x="8904843" y="4051946"/>
            <a:ext cx="3024551" cy="61127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chemeClr val="tx1">
                    <a:lumMod val="95000"/>
                    <a:lumOff val="5000"/>
                  </a:schemeClr>
                </a:solidFill>
              </a:rPr>
              <a:t>Machine Learning: Combination Based</a:t>
            </a:r>
            <a:endParaRPr lang="en-IN" b="1" dirty="0">
              <a:solidFill>
                <a:schemeClr val="tx1">
                  <a:lumMod val="95000"/>
                  <a:lumOff val="5000"/>
                </a:schemeClr>
              </a:solidFill>
            </a:endParaRPr>
          </a:p>
        </p:txBody>
      </p:sp>
      <p:sp>
        <p:nvSpPr>
          <p:cNvPr id="27" name="Rectangle 26"/>
          <p:cNvSpPr/>
          <p:nvPr/>
        </p:nvSpPr>
        <p:spPr>
          <a:xfrm>
            <a:off x="8904843" y="4733370"/>
            <a:ext cx="3024551" cy="61127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chemeClr val="tx1">
                    <a:lumMod val="95000"/>
                    <a:lumOff val="5000"/>
                  </a:schemeClr>
                </a:solidFill>
              </a:rPr>
              <a:t>Machine Learning: Latent Class Based</a:t>
            </a:r>
            <a:endParaRPr lang="en-IN" b="1" dirty="0">
              <a:solidFill>
                <a:schemeClr val="tx1">
                  <a:lumMod val="95000"/>
                  <a:lumOff val="5000"/>
                </a:schemeClr>
              </a:solidFill>
            </a:endParaRPr>
          </a:p>
        </p:txBody>
      </p:sp>
      <p:sp>
        <p:nvSpPr>
          <p:cNvPr id="28" name="Rectangle 27"/>
          <p:cNvSpPr/>
          <p:nvPr/>
        </p:nvSpPr>
        <p:spPr>
          <a:xfrm>
            <a:off x="8904843" y="6115266"/>
            <a:ext cx="3024551" cy="61127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chemeClr val="tx1">
                    <a:lumMod val="95000"/>
                    <a:lumOff val="5000"/>
                  </a:schemeClr>
                </a:solidFill>
              </a:rPr>
              <a:t>Dimensionality Reduction</a:t>
            </a:r>
            <a:endParaRPr lang="en-IN" b="1" dirty="0">
              <a:solidFill>
                <a:schemeClr val="tx1">
                  <a:lumMod val="95000"/>
                  <a:lumOff val="5000"/>
                </a:schemeClr>
              </a:solidFill>
            </a:endParaRPr>
          </a:p>
        </p:txBody>
      </p:sp>
      <p:cxnSp>
        <p:nvCxnSpPr>
          <p:cNvPr id="30" name="Elbow Connector 29"/>
          <p:cNvCxnSpPr>
            <a:stCxn id="3" idx="4"/>
            <a:endCxn id="21" idx="3"/>
          </p:cNvCxnSpPr>
          <p:nvPr/>
        </p:nvCxnSpPr>
        <p:spPr>
          <a:xfrm rot="5400000">
            <a:off x="2442247" y="4959208"/>
            <a:ext cx="989247" cy="1653431"/>
          </a:xfrm>
          <a:prstGeom prst="bentConnector2">
            <a:avLst/>
          </a:prstGeom>
          <a:ln w="31750">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3" name="Elbow Connector 32"/>
          <p:cNvCxnSpPr>
            <a:stCxn id="3" idx="2"/>
            <a:endCxn id="20" idx="3"/>
          </p:cNvCxnSpPr>
          <p:nvPr/>
        </p:nvCxnSpPr>
        <p:spPr>
          <a:xfrm rot="10800000" flipV="1">
            <a:off x="2110155" y="4482408"/>
            <a:ext cx="562013" cy="1330"/>
          </a:xfrm>
          <a:prstGeom prst="bentConnector3">
            <a:avLst/>
          </a:prstGeom>
          <a:ln w="31750">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6" name="Elbow Connector 35"/>
          <p:cNvCxnSpPr>
            <a:stCxn id="3" idx="0"/>
            <a:endCxn id="5" idx="3"/>
          </p:cNvCxnSpPr>
          <p:nvPr/>
        </p:nvCxnSpPr>
        <p:spPr>
          <a:xfrm rot="16200000" flipV="1">
            <a:off x="2443578" y="2353507"/>
            <a:ext cx="986585" cy="1653431"/>
          </a:xfrm>
          <a:prstGeom prst="bentConnector2">
            <a:avLst/>
          </a:prstGeom>
          <a:ln w="31750">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0" name="Elbow Connector 39"/>
          <p:cNvCxnSpPr>
            <a:stCxn id="18" idx="6"/>
            <a:endCxn id="22" idx="1"/>
          </p:cNvCxnSpPr>
          <p:nvPr/>
        </p:nvCxnSpPr>
        <p:spPr>
          <a:xfrm flipV="1">
            <a:off x="8152925" y="2351415"/>
            <a:ext cx="751918" cy="2077904"/>
          </a:xfrm>
          <a:prstGeom prst="bentConnector3">
            <a:avLst>
              <a:gd name="adj1" fmla="val 50000"/>
            </a:avLst>
          </a:prstGeom>
          <a:ln w="31750">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2" name="Elbow Connector 41"/>
          <p:cNvCxnSpPr>
            <a:stCxn id="18" idx="6"/>
            <a:endCxn id="23" idx="1"/>
          </p:cNvCxnSpPr>
          <p:nvPr/>
        </p:nvCxnSpPr>
        <p:spPr>
          <a:xfrm flipV="1">
            <a:off x="8152925" y="3022802"/>
            <a:ext cx="751918" cy="1406517"/>
          </a:xfrm>
          <a:prstGeom prst="bentConnector3">
            <a:avLst>
              <a:gd name="adj1" fmla="val 50000"/>
            </a:avLst>
          </a:prstGeom>
          <a:ln w="31750">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5" name="Elbow Connector 44"/>
          <p:cNvCxnSpPr>
            <a:stCxn id="18" idx="6"/>
            <a:endCxn id="26" idx="1"/>
          </p:cNvCxnSpPr>
          <p:nvPr/>
        </p:nvCxnSpPr>
        <p:spPr>
          <a:xfrm flipV="1">
            <a:off x="8152925" y="4357582"/>
            <a:ext cx="751918" cy="71737"/>
          </a:xfrm>
          <a:prstGeom prst="bentConnector3">
            <a:avLst>
              <a:gd name="adj1" fmla="val 50000"/>
            </a:avLst>
          </a:prstGeom>
          <a:ln w="31750">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8" name="Elbow Connector 47"/>
          <p:cNvCxnSpPr>
            <a:stCxn id="18" idx="6"/>
            <a:endCxn id="27" idx="1"/>
          </p:cNvCxnSpPr>
          <p:nvPr/>
        </p:nvCxnSpPr>
        <p:spPr>
          <a:xfrm>
            <a:off x="8152925" y="4429319"/>
            <a:ext cx="751918" cy="609687"/>
          </a:xfrm>
          <a:prstGeom prst="bentConnector3">
            <a:avLst>
              <a:gd name="adj1" fmla="val 50000"/>
            </a:avLst>
          </a:prstGeom>
          <a:ln w="31750">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1" name="Elbow Connector 50"/>
          <p:cNvCxnSpPr>
            <a:stCxn id="18" idx="6"/>
            <a:endCxn id="28" idx="1"/>
          </p:cNvCxnSpPr>
          <p:nvPr/>
        </p:nvCxnSpPr>
        <p:spPr>
          <a:xfrm>
            <a:off x="8152925" y="4429319"/>
            <a:ext cx="751918" cy="1991583"/>
          </a:xfrm>
          <a:prstGeom prst="bentConnector3">
            <a:avLst>
              <a:gd name="adj1" fmla="val 50000"/>
            </a:avLst>
          </a:prstGeom>
          <a:ln w="31750">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0" name="Elbow Connector 59"/>
          <p:cNvCxnSpPr>
            <a:stCxn id="18" idx="6"/>
            <a:endCxn id="23" idx="1"/>
          </p:cNvCxnSpPr>
          <p:nvPr/>
        </p:nvCxnSpPr>
        <p:spPr>
          <a:xfrm flipV="1">
            <a:off x="8152925" y="3022802"/>
            <a:ext cx="751918" cy="1406517"/>
          </a:xfrm>
          <a:prstGeom prst="bentConnector3">
            <a:avLst>
              <a:gd name="adj1" fmla="val 50000"/>
            </a:avLst>
          </a:prstGeom>
          <a:ln w="31750">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7" name="Rectangle 66"/>
          <p:cNvSpPr/>
          <p:nvPr/>
        </p:nvSpPr>
        <p:spPr>
          <a:xfrm>
            <a:off x="8904842" y="5433842"/>
            <a:ext cx="3024551" cy="61127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chemeClr val="tx1">
                    <a:lumMod val="95000"/>
                    <a:lumOff val="5000"/>
                  </a:schemeClr>
                </a:solidFill>
              </a:rPr>
              <a:t>Boltzmann machine and other Deep Learning </a:t>
            </a:r>
            <a:endParaRPr lang="en-IN" b="1" dirty="0">
              <a:solidFill>
                <a:schemeClr val="tx1">
                  <a:lumMod val="95000"/>
                  <a:lumOff val="5000"/>
                </a:schemeClr>
              </a:solidFill>
            </a:endParaRPr>
          </a:p>
        </p:txBody>
      </p:sp>
      <p:cxnSp>
        <p:nvCxnSpPr>
          <p:cNvPr id="68" name="Elbow Connector 67"/>
          <p:cNvCxnSpPr>
            <a:stCxn id="18" idx="6"/>
            <a:endCxn id="24" idx="1"/>
          </p:cNvCxnSpPr>
          <p:nvPr/>
        </p:nvCxnSpPr>
        <p:spPr>
          <a:xfrm flipV="1">
            <a:off x="8152925" y="3681223"/>
            <a:ext cx="751919" cy="748096"/>
          </a:xfrm>
          <a:prstGeom prst="bentConnector3">
            <a:avLst>
              <a:gd name="adj1" fmla="val 50000"/>
            </a:avLst>
          </a:prstGeom>
          <a:ln w="31750">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1" name="Elbow Connector 70"/>
          <p:cNvCxnSpPr>
            <a:stCxn id="18" idx="6"/>
            <a:endCxn id="67" idx="1"/>
          </p:cNvCxnSpPr>
          <p:nvPr/>
        </p:nvCxnSpPr>
        <p:spPr>
          <a:xfrm>
            <a:off x="8152925" y="4429319"/>
            <a:ext cx="751917" cy="1310159"/>
          </a:xfrm>
          <a:prstGeom prst="bentConnector3">
            <a:avLst>
              <a:gd name="adj1" fmla="val 50000"/>
            </a:avLst>
          </a:prstGeom>
          <a:ln w="31750">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525649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normAutofit/>
          </a:bodyPr>
          <a:lstStyle/>
          <a:p>
            <a:pPr algn="ctr"/>
            <a:r>
              <a:rPr lang="en-IN" sz="3600" b="1" i="1" dirty="0" smtClean="0"/>
              <a:t>Are complex methods necessarily better?</a:t>
            </a:r>
            <a:endParaRPr lang="en-IN" sz="3600" b="1" i="1" dirty="0"/>
          </a:p>
        </p:txBody>
      </p:sp>
      <p:sp>
        <p:nvSpPr>
          <p:cNvPr id="4" name="Rectangle 3"/>
          <p:cNvSpPr/>
          <p:nvPr/>
        </p:nvSpPr>
        <p:spPr>
          <a:xfrm>
            <a:off x="0" y="1139483"/>
            <a:ext cx="12192000" cy="1828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p:cNvSpPr/>
          <p:nvPr/>
        </p:nvSpPr>
        <p:spPr>
          <a:xfrm>
            <a:off x="0" y="1322363"/>
            <a:ext cx="12192000" cy="652481"/>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Interaction effects are the major driver for adopting more complex methods</a:t>
            </a:r>
            <a:endParaRPr lang="en-IN" dirty="0"/>
          </a:p>
        </p:txBody>
      </p:sp>
      <p:cxnSp>
        <p:nvCxnSpPr>
          <p:cNvPr id="7" name="Straight Arrow Connector 6"/>
          <p:cNvCxnSpPr/>
          <p:nvPr/>
        </p:nvCxnSpPr>
        <p:spPr>
          <a:xfrm flipV="1">
            <a:off x="429361" y="4275786"/>
            <a:ext cx="2369713" cy="128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1163456" y="4275786"/>
            <a:ext cx="1687133" cy="338554"/>
          </a:xfrm>
          <a:prstGeom prst="rect">
            <a:avLst/>
          </a:prstGeom>
          <a:noFill/>
        </p:spPr>
        <p:txBody>
          <a:bodyPr wrap="square" rtlCol="0">
            <a:spAutoFit/>
          </a:bodyPr>
          <a:lstStyle/>
          <a:p>
            <a:r>
              <a:rPr lang="en-IN" sz="1600" dirty="0" smtClean="0"/>
              <a:t>Var-1</a:t>
            </a:r>
            <a:endParaRPr lang="en-IN" sz="1600" dirty="0"/>
          </a:p>
        </p:txBody>
      </p:sp>
      <p:cxnSp>
        <p:nvCxnSpPr>
          <p:cNvPr id="10" name="Straight Arrow Connector 9"/>
          <p:cNvCxnSpPr/>
          <p:nvPr/>
        </p:nvCxnSpPr>
        <p:spPr>
          <a:xfrm flipV="1">
            <a:off x="480876" y="2781837"/>
            <a:ext cx="12879" cy="15068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rot="16200000">
            <a:off x="-557724" y="3238085"/>
            <a:ext cx="1687133" cy="338554"/>
          </a:xfrm>
          <a:prstGeom prst="rect">
            <a:avLst/>
          </a:prstGeom>
          <a:noFill/>
        </p:spPr>
        <p:txBody>
          <a:bodyPr wrap="square" rtlCol="0">
            <a:spAutoFit/>
          </a:bodyPr>
          <a:lstStyle/>
          <a:p>
            <a:r>
              <a:rPr lang="en-IN" sz="1600" dirty="0"/>
              <a:t>O</a:t>
            </a:r>
            <a:r>
              <a:rPr lang="en-IN" sz="1600" dirty="0" smtClean="0"/>
              <a:t>utcome</a:t>
            </a:r>
            <a:endParaRPr lang="en-IN" sz="1600" dirty="0"/>
          </a:p>
        </p:txBody>
      </p:sp>
      <p:sp>
        <p:nvSpPr>
          <p:cNvPr id="11" name="Freeform 10"/>
          <p:cNvSpPr/>
          <p:nvPr/>
        </p:nvSpPr>
        <p:spPr>
          <a:xfrm>
            <a:off x="738454" y="3279952"/>
            <a:ext cx="1687132" cy="772732"/>
          </a:xfrm>
          <a:custGeom>
            <a:avLst/>
            <a:gdLst>
              <a:gd name="connsiteX0" fmla="*/ 0 w 1687132"/>
              <a:gd name="connsiteY0" fmla="*/ 772732 h 772732"/>
              <a:gd name="connsiteX1" fmla="*/ 399245 w 1687132"/>
              <a:gd name="connsiteY1" fmla="*/ 592428 h 772732"/>
              <a:gd name="connsiteX2" fmla="*/ 1030310 w 1687132"/>
              <a:gd name="connsiteY2" fmla="*/ 218940 h 772732"/>
              <a:gd name="connsiteX3" fmla="*/ 1687132 w 1687132"/>
              <a:gd name="connsiteY3" fmla="*/ 0 h 772732"/>
            </a:gdLst>
            <a:ahLst/>
            <a:cxnLst>
              <a:cxn ang="0">
                <a:pos x="connsiteX0" y="connsiteY0"/>
              </a:cxn>
              <a:cxn ang="0">
                <a:pos x="connsiteX1" y="connsiteY1"/>
              </a:cxn>
              <a:cxn ang="0">
                <a:pos x="connsiteX2" y="connsiteY2"/>
              </a:cxn>
              <a:cxn ang="0">
                <a:pos x="connsiteX3" y="connsiteY3"/>
              </a:cxn>
            </a:cxnLst>
            <a:rect l="l" t="t" r="r" b="b"/>
            <a:pathLst>
              <a:path w="1687132" h="772732">
                <a:moveTo>
                  <a:pt x="0" y="772732"/>
                </a:moveTo>
                <a:cubicBezTo>
                  <a:pt x="113763" y="728729"/>
                  <a:pt x="227527" y="684727"/>
                  <a:pt x="399245" y="592428"/>
                </a:cubicBezTo>
                <a:cubicBezTo>
                  <a:pt x="570963" y="500129"/>
                  <a:pt x="815662" y="317678"/>
                  <a:pt x="1030310" y="218940"/>
                </a:cubicBezTo>
                <a:cubicBezTo>
                  <a:pt x="1244958" y="120202"/>
                  <a:pt x="1466045" y="60101"/>
                  <a:pt x="1687132"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Rectangle 36"/>
          <p:cNvSpPr/>
          <p:nvPr/>
        </p:nvSpPr>
        <p:spPr>
          <a:xfrm>
            <a:off x="90807" y="2621364"/>
            <a:ext cx="3068875" cy="2094613"/>
          </a:xfrm>
          <a:prstGeom prst="rect">
            <a:avLst/>
          </a:prstGeom>
          <a:noFill/>
          <a:ln w="22225">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Rectangle 37"/>
          <p:cNvSpPr/>
          <p:nvPr/>
        </p:nvSpPr>
        <p:spPr>
          <a:xfrm>
            <a:off x="90807" y="2135317"/>
            <a:ext cx="3068875" cy="453683"/>
          </a:xfrm>
          <a:prstGeom prst="rect">
            <a:avLst/>
          </a:prstGeom>
          <a:solidFill>
            <a:schemeClr val="accent6">
              <a:lumMod val="50000"/>
            </a:schemeClr>
          </a:solidFill>
          <a:ln w="222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t>Approximately Linear</a:t>
            </a:r>
            <a:endParaRPr lang="en-IN" sz="1600" dirty="0"/>
          </a:p>
        </p:txBody>
      </p:sp>
      <p:cxnSp>
        <p:nvCxnSpPr>
          <p:cNvPr id="39" name="Straight Arrow Connector 38"/>
          <p:cNvCxnSpPr/>
          <p:nvPr/>
        </p:nvCxnSpPr>
        <p:spPr>
          <a:xfrm flipV="1">
            <a:off x="3742935" y="4275786"/>
            <a:ext cx="2369713" cy="128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4477030" y="4275786"/>
            <a:ext cx="1687133" cy="338554"/>
          </a:xfrm>
          <a:prstGeom prst="rect">
            <a:avLst/>
          </a:prstGeom>
          <a:noFill/>
        </p:spPr>
        <p:txBody>
          <a:bodyPr wrap="square" rtlCol="0">
            <a:spAutoFit/>
          </a:bodyPr>
          <a:lstStyle/>
          <a:p>
            <a:r>
              <a:rPr lang="en-IN" sz="1600" dirty="0" smtClean="0"/>
              <a:t>Var-1</a:t>
            </a:r>
            <a:endParaRPr lang="en-IN" sz="1600" dirty="0"/>
          </a:p>
        </p:txBody>
      </p:sp>
      <p:cxnSp>
        <p:nvCxnSpPr>
          <p:cNvPr id="43" name="Straight Arrow Connector 42"/>
          <p:cNvCxnSpPr/>
          <p:nvPr/>
        </p:nvCxnSpPr>
        <p:spPr>
          <a:xfrm flipV="1">
            <a:off x="3794450" y="2781837"/>
            <a:ext cx="12879" cy="15068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rot="16200000">
            <a:off x="2755850" y="3238085"/>
            <a:ext cx="1687133" cy="338554"/>
          </a:xfrm>
          <a:prstGeom prst="rect">
            <a:avLst/>
          </a:prstGeom>
          <a:noFill/>
        </p:spPr>
        <p:txBody>
          <a:bodyPr wrap="square" rtlCol="0">
            <a:spAutoFit/>
          </a:bodyPr>
          <a:lstStyle/>
          <a:p>
            <a:r>
              <a:rPr lang="en-IN" sz="1600" dirty="0"/>
              <a:t>O</a:t>
            </a:r>
            <a:r>
              <a:rPr lang="en-IN" sz="1600" dirty="0" smtClean="0"/>
              <a:t>utcome</a:t>
            </a:r>
            <a:endParaRPr lang="en-IN" sz="1600" dirty="0"/>
          </a:p>
        </p:txBody>
      </p:sp>
      <p:sp>
        <p:nvSpPr>
          <p:cNvPr id="47" name="Rectangle 46"/>
          <p:cNvSpPr/>
          <p:nvPr/>
        </p:nvSpPr>
        <p:spPr>
          <a:xfrm>
            <a:off x="3404381" y="2621364"/>
            <a:ext cx="3068875" cy="2094613"/>
          </a:xfrm>
          <a:prstGeom prst="rect">
            <a:avLst/>
          </a:prstGeom>
          <a:noFill/>
          <a:ln w="22225">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Rectangle 48"/>
          <p:cNvSpPr/>
          <p:nvPr/>
        </p:nvSpPr>
        <p:spPr>
          <a:xfrm>
            <a:off x="3404381" y="2135317"/>
            <a:ext cx="3068875" cy="453683"/>
          </a:xfrm>
          <a:prstGeom prst="rect">
            <a:avLst/>
          </a:prstGeom>
          <a:solidFill>
            <a:schemeClr val="accent6">
              <a:lumMod val="50000"/>
            </a:schemeClr>
          </a:solidFill>
          <a:ln w="222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t>Non Linear</a:t>
            </a:r>
            <a:endParaRPr lang="en-IN" sz="1600" dirty="0"/>
          </a:p>
        </p:txBody>
      </p:sp>
      <p:sp>
        <p:nvSpPr>
          <p:cNvPr id="15" name="Freeform 14"/>
          <p:cNvSpPr/>
          <p:nvPr/>
        </p:nvSpPr>
        <p:spPr>
          <a:xfrm>
            <a:off x="3996809" y="3232597"/>
            <a:ext cx="2086378" cy="875764"/>
          </a:xfrm>
          <a:custGeom>
            <a:avLst/>
            <a:gdLst>
              <a:gd name="connsiteX0" fmla="*/ 0 w 2086378"/>
              <a:gd name="connsiteY0" fmla="*/ 875764 h 875764"/>
              <a:gd name="connsiteX1" fmla="*/ 257578 w 2086378"/>
              <a:gd name="connsiteY1" fmla="*/ 502276 h 875764"/>
              <a:gd name="connsiteX2" fmla="*/ 888642 w 2086378"/>
              <a:gd name="connsiteY2" fmla="*/ 656823 h 875764"/>
              <a:gd name="connsiteX3" fmla="*/ 1326524 w 2086378"/>
              <a:gd name="connsiteY3" fmla="*/ 321972 h 875764"/>
              <a:gd name="connsiteX4" fmla="*/ 1326524 w 2086378"/>
              <a:gd name="connsiteY4" fmla="*/ 321972 h 875764"/>
              <a:gd name="connsiteX5" fmla="*/ 1751527 w 2086378"/>
              <a:gd name="connsiteY5" fmla="*/ 0 h 875764"/>
              <a:gd name="connsiteX6" fmla="*/ 2086378 w 2086378"/>
              <a:gd name="connsiteY6" fmla="*/ 321972 h 875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86378" h="875764">
                <a:moveTo>
                  <a:pt x="0" y="875764"/>
                </a:moveTo>
                <a:cubicBezTo>
                  <a:pt x="54735" y="707265"/>
                  <a:pt x="109471" y="538766"/>
                  <a:pt x="257578" y="502276"/>
                </a:cubicBezTo>
                <a:cubicBezTo>
                  <a:pt x="405685" y="465786"/>
                  <a:pt x="710484" y="686874"/>
                  <a:pt x="888642" y="656823"/>
                </a:cubicBezTo>
                <a:cubicBezTo>
                  <a:pt x="1066800" y="626772"/>
                  <a:pt x="1326524" y="321972"/>
                  <a:pt x="1326524" y="321972"/>
                </a:cubicBezTo>
                <a:lnTo>
                  <a:pt x="1326524" y="321972"/>
                </a:lnTo>
                <a:cubicBezTo>
                  <a:pt x="1397358" y="268310"/>
                  <a:pt x="1624885" y="0"/>
                  <a:pt x="1751527" y="0"/>
                </a:cubicBezTo>
                <a:cubicBezTo>
                  <a:pt x="1878169" y="0"/>
                  <a:pt x="1982273" y="160986"/>
                  <a:pt x="2086378" y="321972"/>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0" name="Straight Arrow Connector 49"/>
          <p:cNvCxnSpPr/>
          <p:nvPr/>
        </p:nvCxnSpPr>
        <p:spPr>
          <a:xfrm flipV="1">
            <a:off x="7020836" y="4250930"/>
            <a:ext cx="4345859" cy="248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2" name="TextBox 51"/>
          <p:cNvSpPr txBox="1"/>
          <p:nvPr/>
        </p:nvSpPr>
        <p:spPr>
          <a:xfrm>
            <a:off x="9327667" y="4290074"/>
            <a:ext cx="1687133" cy="338554"/>
          </a:xfrm>
          <a:prstGeom prst="rect">
            <a:avLst/>
          </a:prstGeom>
          <a:noFill/>
        </p:spPr>
        <p:txBody>
          <a:bodyPr wrap="square" rtlCol="0">
            <a:spAutoFit/>
          </a:bodyPr>
          <a:lstStyle/>
          <a:p>
            <a:r>
              <a:rPr lang="en-IN" sz="1600" dirty="0" smtClean="0"/>
              <a:t>Var-1</a:t>
            </a:r>
            <a:endParaRPr lang="en-IN" sz="1600" dirty="0"/>
          </a:p>
        </p:txBody>
      </p:sp>
      <p:cxnSp>
        <p:nvCxnSpPr>
          <p:cNvPr id="53" name="Straight Arrow Connector 52"/>
          <p:cNvCxnSpPr/>
          <p:nvPr/>
        </p:nvCxnSpPr>
        <p:spPr>
          <a:xfrm flipV="1">
            <a:off x="7093293" y="2781837"/>
            <a:ext cx="12879" cy="15068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4" name="TextBox 53"/>
          <p:cNvSpPr txBox="1"/>
          <p:nvPr/>
        </p:nvSpPr>
        <p:spPr>
          <a:xfrm rot="16200000">
            <a:off x="6210123" y="3307322"/>
            <a:ext cx="1459474" cy="338554"/>
          </a:xfrm>
          <a:prstGeom prst="rect">
            <a:avLst/>
          </a:prstGeom>
          <a:noFill/>
        </p:spPr>
        <p:txBody>
          <a:bodyPr wrap="square" rtlCol="0">
            <a:spAutoFit/>
          </a:bodyPr>
          <a:lstStyle/>
          <a:p>
            <a:r>
              <a:rPr lang="en-IN" sz="1600" dirty="0"/>
              <a:t>O</a:t>
            </a:r>
            <a:r>
              <a:rPr lang="en-IN" sz="1600" dirty="0" smtClean="0"/>
              <a:t>utcome</a:t>
            </a:r>
            <a:endParaRPr lang="en-IN" sz="1600" dirty="0"/>
          </a:p>
        </p:txBody>
      </p:sp>
      <p:sp>
        <p:nvSpPr>
          <p:cNvPr id="55" name="Rectangle 54"/>
          <p:cNvSpPr/>
          <p:nvPr/>
        </p:nvSpPr>
        <p:spPr>
          <a:xfrm>
            <a:off x="6646357" y="2621364"/>
            <a:ext cx="5308408" cy="2094613"/>
          </a:xfrm>
          <a:prstGeom prst="rect">
            <a:avLst/>
          </a:prstGeom>
          <a:noFill/>
          <a:ln w="22225">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Rectangle 55"/>
          <p:cNvSpPr/>
          <p:nvPr/>
        </p:nvSpPr>
        <p:spPr>
          <a:xfrm>
            <a:off x="6646357" y="2135317"/>
            <a:ext cx="5308408" cy="453683"/>
          </a:xfrm>
          <a:prstGeom prst="rect">
            <a:avLst/>
          </a:prstGeom>
          <a:solidFill>
            <a:schemeClr val="accent6">
              <a:lumMod val="50000"/>
            </a:schemeClr>
          </a:solidFill>
          <a:ln w="222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t>Interaction</a:t>
            </a:r>
            <a:endParaRPr lang="en-IN" sz="1600" dirty="0"/>
          </a:p>
        </p:txBody>
      </p:sp>
      <p:sp>
        <p:nvSpPr>
          <p:cNvPr id="16" name="Freeform 15"/>
          <p:cNvSpPr/>
          <p:nvPr/>
        </p:nvSpPr>
        <p:spPr>
          <a:xfrm>
            <a:off x="7572776" y="3155324"/>
            <a:ext cx="3554769" cy="875763"/>
          </a:xfrm>
          <a:custGeom>
            <a:avLst/>
            <a:gdLst>
              <a:gd name="connsiteX0" fmla="*/ 0 w 1120462"/>
              <a:gd name="connsiteY0" fmla="*/ 0 h 875763"/>
              <a:gd name="connsiteX1" fmla="*/ 875764 w 1120462"/>
              <a:gd name="connsiteY1" fmla="*/ 399245 h 875763"/>
              <a:gd name="connsiteX2" fmla="*/ 1120462 w 1120462"/>
              <a:gd name="connsiteY2" fmla="*/ 875763 h 875763"/>
              <a:gd name="connsiteX3" fmla="*/ 1120462 w 1120462"/>
              <a:gd name="connsiteY3" fmla="*/ 875763 h 875763"/>
            </a:gdLst>
            <a:ahLst/>
            <a:cxnLst>
              <a:cxn ang="0">
                <a:pos x="connsiteX0" y="connsiteY0"/>
              </a:cxn>
              <a:cxn ang="0">
                <a:pos x="connsiteX1" y="connsiteY1"/>
              </a:cxn>
              <a:cxn ang="0">
                <a:pos x="connsiteX2" y="connsiteY2"/>
              </a:cxn>
              <a:cxn ang="0">
                <a:pos x="connsiteX3" y="connsiteY3"/>
              </a:cxn>
            </a:cxnLst>
            <a:rect l="l" t="t" r="r" b="b"/>
            <a:pathLst>
              <a:path w="1120462" h="875763">
                <a:moveTo>
                  <a:pt x="0" y="0"/>
                </a:moveTo>
                <a:cubicBezTo>
                  <a:pt x="344510" y="126642"/>
                  <a:pt x="689020" y="253285"/>
                  <a:pt x="875764" y="399245"/>
                </a:cubicBezTo>
                <a:cubicBezTo>
                  <a:pt x="1062508" y="545206"/>
                  <a:pt x="1120462" y="875763"/>
                  <a:pt x="1120462" y="875763"/>
                </a:cubicBezTo>
                <a:lnTo>
                  <a:pt x="1120462" y="875763"/>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Freeform 16"/>
          <p:cNvSpPr/>
          <p:nvPr/>
        </p:nvSpPr>
        <p:spPr>
          <a:xfrm>
            <a:off x="7637171" y="2791455"/>
            <a:ext cx="3138681" cy="1304027"/>
          </a:xfrm>
          <a:custGeom>
            <a:avLst/>
            <a:gdLst>
              <a:gd name="connsiteX0" fmla="*/ 0 w 1390918"/>
              <a:gd name="connsiteY0" fmla="*/ 888643 h 888643"/>
              <a:gd name="connsiteX1" fmla="*/ 450760 w 1390918"/>
              <a:gd name="connsiteY1" fmla="*/ 450761 h 888643"/>
              <a:gd name="connsiteX2" fmla="*/ 1390918 w 1390918"/>
              <a:gd name="connsiteY2" fmla="*/ 0 h 888643"/>
              <a:gd name="connsiteX3" fmla="*/ 1390918 w 1390918"/>
              <a:gd name="connsiteY3" fmla="*/ 0 h 888643"/>
            </a:gdLst>
            <a:ahLst/>
            <a:cxnLst>
              <a:cxn ang="0">
                <a:pos x="connsiteX0" y="connsiteY0"/>
              </a:cxn>
              <a:cxn ang="0">
                <a:pos x="connsiteX1" y="connsiteY1"/>
              </a:cxn>
              <a:cxn ang="0">
                <a:pos x="connsiteX2" y="connsiteY2"/>
              </a:cxn>
              <a:cxn ang="0">
                <a:pos x="connsiteX3" y="connsiteY3"/>
              </a:cxn>
            </a:cxnLst>
            <a:rect l="l" t="t" r="r" b="b"/>
            <a:pathLst>
              <a:path w="1390918" h="888643">
                <a:moveTo>
                  <a:pt x="0" y="888643"/>
                </a:moveTo>
                <a:cubicBezTo>
                  <a:pt x="109470" y="743755"/>
                  <a:pt x="218940" y="598868"/>
                  <a:pt x="450760" y="450761"/>
                </a:cubicBezTo>
                <a:cubicBezTo>
                  <a:pt x="682580" y="302654"/>
                  <a:pt x="1390918" y="0"/>
                  <a:pt x="1390918" y="0"/>
                </a:cubicBezTo>
                <a:lnTo>
                  <a:pt x="1390918" y="0"/>
                </a:lnTo>
              </a:path>
            </a:pathLst>
          </a:cu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8" name="TextBox 57"/>
          <p:cNvSpPr txBox="1"/>
          <p:nvPr/>
        </p:nvSpPr>
        <p:spPr>
          <a:xfrm>
            <a:off x="8958253" y="2660373"/>
            <a:ext cx="1687133" cy="338554"/>
          </a:xfrm>
          <a:prstGeom prst="rect">
            <a:avLst/>
          </a:prstGeom>
          <a:noFill/>
        </p:spPr>
        <p:txBody>
          <a:bodyPr wrap="square" rtlCol="0">
            <a:spAutoFit/>
          </a:bodyPr>
          <a:lstStyle/>
          <a:p>
            <a:r>
              <a:rPr lang="en-IN" sz="1600" dirty="0" smtClean="0"/>
              <a:t>Where var2&gt;a</a:t>
            </a:r>
            <a:endParaRPr lang="en-IN" sz="1600" dirty="0"/>
          </a:p>
        </p:txBody>
      </p:sp>
      <p:sp>
        <p:nvSpPr>
          <p:cNvPr id="59" name="TextBox 58"/>
          <p:cNvSpPr txBox="1"/>
          <p:nvPr/>
        </p:nvSpPr>
        <p:spPr>
          <a:xfrm>
            <a:off x="8302117" y="3919766"/>
            <a:ext cx="1687133" cy="338554"/>
          </a:xfrm>
          <a:prstGeom prst="rect">
            <a:avLst/>
          </a:prstGeom>
          <a:noFill/>
        </p:spPr>
        <p:txBody>
          <a:bodyPr wrap="square" rtlCol="0">
            <a:spAutoFit/>
          </a:bodyPr>
          <a:lstStyle/>
          <a:p>
            <a:r>
              <a:rPr lang="en-IN" sz="1600" dirty="0" smtClean="0"/>
              <a:t>Where var2&lt;a</a:t>
            </a:r>
            <a:endParaRPr lang="en-IN" sz="1600" dirty="0"/>
          </a:p>
        </p:txBody>
      </p:sp>
      <p:sp>
        <p:nvSpPr>
          <p:cNvPr id="19" name="Freeform 18"/>
          <p:cNvSpPr/>
          <p:nvPr/>
        </p:nvSpPr>
        <p:spPr>
          <a:xfrm>
            <a:off x="7596553" y="3348111"/>
            <a:ext cx="3530992" cy="603918"/>
          </a:xfrm>
          <a:custGeom>
            <a:avLst/>
            <a:gdLst>
              <a:gd name="connsiteX0" fmla="*/ 0 w 1378634"/>
              <a:gd name="connsiteY0" fmla="*/ 351692 h 603918"/>
              <a:gd name="connsiteX1" fmla="*/ 548640 w 1378634"/>
              <a:gd name="connsiteY1" fmla="*/ 590843 h 603918"/>
              <a:gd name="connsiteX2" fmla="*/ 1378634 w 1378634"/>
              <a:gd name="connsiteY2" fmla="*/ 0 h 603918"/>
            </a:gdLst>
            <a:ahLst/>
            <a:cxnLst>
              <a:cxn ang="0">
                <a:pos x="connsiteX0" y="connsiteY0"/>
              </a:cxn>
              <a:cxn ang="0">
                <a:pos x="connsiteX1" y="connsiteY1"/>
              </a:cxn>
              <a:cxn ang="0">
                <a:pos x="connsiteX2" y="connsiteY2"/>
              </a:cxn>
            </a:cxnLst>
            <a:rect l="l" t="t" r="r" b="b"/>
            <a:pathLst>
              <a:path w="1378634" h="603918">
                <a:moveTo>
                  <a:pt x="0" y="351692"/>
                </a:moveTo>
                <a:cubicBezTo>
                  <a:pt x="159434" y="500575"/>
                  <a:pt x="318868" y="649458"/>
                  <a:pt x="548640" y="590843"/>
                </a:cubicBezTo>
                <a:cubicBezTo>
                  <a:pt x="778412" y="532228"/>
                  <a:pt x="1078523" y="266114"/>
                  <a:pt x="1378634" y="0"/>
                </a:cubicBezTo>
              </a:path>
            </a:pathLst>
          </a:custGeom>
          <a:no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1" name="TextBox 60"/>
          <p:cNvSpPr txBox="1"/>
          <p:nvPr/>
        </p:nvSpPr>
        <p:spPr>
          <a:xfrm>
            <a:off x="9516701" y="3789126"/>
            <a:ext cx="2438064" cy="338554"/>
          </a:xfrm>
          <a:prstGeom prst="rect">
            <a:avLst/>
          </a:prstGeom>
          <a:noFill/>
        </p:spPr>
        <p:txBody>
          <a:bodyPr wrap="square" rtlCol="0">
            <a:spAutoFit/>
          </a:bodyPr>
          <a:lstStyle/>
          <a:p>
            <a:r>
              <a:rPr lang="en-IN" sz="1600" dirty="0" smtClean="0"/>
              <a:t>Where var3&gt;c &amp; var4&lt;d</a:t>
            </a:r>
            <a:endParaRPr lang="en-IN" sz="1600" dirty="0"/>
          </a:p>
        </p:txBody>
      </p:sp>
      <p:cxnSp>
        <p:nvCxnSpPr>
          <p:cNvPr id="62" name="Straight Arrow Connector 61"/>
          <p:cNvCxnSpPr/>
          <p:nvPr/>
        </p:nvCxnSpPr>
        <p:spPr>
          <a:xfrm flipV="1">
            <a:off x="455120" y="6464658"/>
            <a:ext cx="1683169" cy="112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3" name="TextBox 62"/>
          <p:cNvSpPr txBox="1"/>
          <p:nvPr/>
        </p:nvSpPr>
        <p:spPr>
          <a:xfrm>
            <a:off x="983152" y="6464658"/>
            <a:ext cx="1687133" cy="338554"/>
          </a:xfrm>
          <a:prstGeom prst="rect">
            <a:avLst/>
          </a:prstGeom>
          <a:noFill/>
        </p:spPr>
        <p:txBody>
          <a:bodyPr wrap="square" rtlCol="0">
            <a:spAutoFit/>
          </a:bodyPr>
          <a:lstStyle/>
          <a:p>
            <a:r>
              <a:rPr lang="en-IN" sz="1600" dirty="0" smtClean="0"/>
              <a:t>Var-1</a:t>
            </a:r>
            <a:endParaRPr lang="en-IN" sz="1600" dirty="0"/>
          </a:p>
        </p:txBody>
      </p:sp>
      <p:cxnSp>
        <p:nvCxnSpPr>
          <p:cNvPr id="64" name="Straight Arrow Connector 63"/>
          <p:cNvCxnSpPr/>
          <p:nvPr/>
        </p:nvCxnSpPr>
        <p:spPr>
          <a:xfrm flipV="1">
            <a:off x="480876" y="5438342"/>
            <a:ext cx="12879" cy="1089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5" name="TextBox 64"/>
          <p:cNvSpPr txBox="1"/>
          <p:nvPr/>
        </p:nvSpPr>
        <p:spPr>
          <a:xfrm rot="16200000">
            <a:off x="-557724" y="5374086"/>
            <a:ext cx="1687133" cy="338554"/>
          </a:xfrm>
          <a:prstGeom prst="rect">
            <a:avLst/>
          </a:prstGeom>
          <a:noFill/>
        </p:spPr>
        <p:txBody>
          <a:bodyPr wrap="square" rtlCol="0">
            <a:spAutoFit/>
          </a:bodyPr>
          <a:lstStyle/>
          <a:p>
            <a:r>
              <a:rPr lang="en-IN" sz="1600" dirty="0"/>
              <a:t>O</a:t>
            </a:r>
            <a:r>
              <a:rPr lang="en-IN" sz="1600" dirty="0" smtClean="0"/>
              <a:t>utcome</a:t>
            </a:r>
            <a:endParaRPr lang="en-IN" sz="1600" dirty="0"/>
          </a:p>
        </p:txBody>
      </p:sp>
      <p:sp>
        <p:nvSpPr>
          <p:cNvPr id="69" name="Rectangle 68"/>
          <p:cNvSpPr/>
          <p:nvPr/>
        </p:nvSpPr>
        <p:spPr>
          <a:xfrm>
            <a:off x="90807" y="5277869"/>
            <a:ext cx="6382449" cy="1486997"/>
          </a:xfrm>
          <a:prstGeom prst="rect">
            <a:avLst/>
          </a:prstGeom>
          <a:noFill/>
          <a:ln w="22225">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0" name="Rectangle 69"/>
          <p:cNvSpPr/>
          <p:nvPr/>
        </p:nvSpPr>
        <p:spPr>
          <a:xfrm>
            <a:off x="90807" y="4791822"/>
            <a:ext cx="6382449" cy="453683"/>
          </a:xfrm>
          <a:prstGeom prst="rect">
            <a:avLst/>
          </a:prstGeom>
          <a:solidFill>
            <a:schemeClr val="accent6">
              <a:lumMod val="50000"/>
            </a:schemeClr>
          </a:solidFill>
          <a:ln w="222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t>Latent relationships</a:t>
            </a:r>
            <a:endParaRPr lang="en-IN" sz="1600" dirty="0"/>
          </a:p>
        </p:txBody>
      </p:sp>
      <p:sp>
        <p:nvSpPr>
          <p:cNvPr id="32" name="Freeform 31"/>
          <p:cNvSpPr/>
          <p:nvPr/>
        </p:nvSpPr>
        <p:spPr>
          <a:xfrm>
            <a:off x="604910" y="5914485"/>
            <a:ext cx="1318593" cy="401954"/>
          </a:xfrm>
          <a:custGeom>
            <a:avLst/>
            <a:gdLst>
              <a:gd name="connsiteX0" fmla="*/ 0 w 1318593"/>
              <a:gd name="connsiteY0" fmla="*/ 275298 h 401954"/>
              <a:gd name="connsiteX1" fmla="*/ 239151 w 1318593"/>
              <a:gd name="connsiteY1" fmla="*/ 261230 h 401954"/>
              <a:gd name="connsiteX2" fmla="*/ 450166 w 1318593"/>
              <a:gd name="connsiteY2" fmla="*/ 148689 h 401954"/>
              <a:gd name="connsiteX3" fmla="*/ 548640 w 1318593"/>
              <a:gd name="connsiteY3" fmla="*/ 247163 h 401954"/>
              <a:gd name="connsiteX4" fmla="*/ 801859 w 1318593"/>
              <a:gd name="connsiteY4" fmla="*/ 247163 h 401954"/>
              <a:gd name="connsiteX5" fmla="*/ 801859 w 1318593"/>
              <a:gd name="connsiteY5" fmla="*/ 36147 h 401954"/>
              <a:gd name="connsiteX6" fmla="*/ 998806 w 1318593"/>
              <a:gd name="connsiteY6" fmla="*/ 401907 h 401954"/>
              <a:gd name="connsiteX7" fmla="*/ 1041009 w 1318593"/>
              <a:gd name="connsiteY7" fmla="*/ 8012 h 401954"/>
              <a:gd name="connsiteX8" fmla="*/ 1294228 w 1318593"/>
              <a:gd name="connsiteY8" fmla="*/ 148689 h 401954"/>
              <a:gd name="connsiteX9" fmla="*/ 1294228 w 1318593"/>
              <a:gd name="connsiteY9" fmla="*/ 289366 h 401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18593" h="401954">
                <a:moveTo>
                  <a:pt x="0" y="275298"/>
                </a:moveTo>
                <a:cubicBezTo>
                  <a:pt x="82061" y="278814"/>
                  <a:pt x="164123" y="282331"/>
                  <a:pt x="239151" y="261230"/>
                </a:cubicBezTo>
                <a:cubicBezTo>
                  <a:pt x="314179" y="240129"/>
                  <a:pt x="398585" y="151033"/>
                  <a:pt x="450166" y="148689"/>
                </a:cubicBezTo>
                <a:cubicBezTo>
                  <a:pt x="501747" y="146345"/>
                  <a:pt x="490025" y="230751"/>
                  <a:pt x="548640" y="247163"/>
                </a:cubicBezTo>
                <a:cubicBezTo>
                  <a:pt x="607256" y="263575"/>
                  <a:pt x="759656" y="282332"/>
                  <a:pt x="801859" y="247163"/>
                </a:cubicBezTo>
                <a:cubicBezTo>
                  <a:pt x="844062" y="211994"/>
                  <a:pt x="769035" y="10356"/>
                  <a:pt x="801859" y="36147"/>
                </a:cubicBezTo>
                <a:cubicBezTo>
                  <a:pt x="834683" y="61938"/>
                  <a:pt x="958948" y="406596"/>
                  <a:pt x="998806" y="401907"/>
                </a:cubicBezTo>
                <a:cubicBezTo>
                  <a:pt x="1038664" y="397218"/>
                  <a:pt x="991772" y="50215"/>
                  <a:pt x="1041009" y="8012"/>
                </a:cubicBezTo>
                <a:cubicBezTo>
                  <a:pt x="1090246" y="-34191"/>
                  <a:pt x="1252025" y="101797"/>
                  <a:pt x="1294228" y="148689"/>
                </a:cubicBezTo>
                <a:cubicBezTo>
                  <a:pt x="1336431" y="195581"/>
                  <a:pt x="1315329" y="242473"/>
                  <a:pt x="1294228" y="289366"/>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9" name="Straight Arrow Connector 78"/>
          <p:cNvCxnSpPr/>
          <p:nvPr/>
        </p:nvCxnSpPr>
        <p:spPr>
          <a:xfrm flipV="1">
            <a:off x="2267508" y="6504516"/>
            <a:ext cx="1683169" cy="112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p:cNvCxnSpPr/>
          <p:nvPr/>
        </p:nvCxnSpPr>
        <p:spPr>
          <a:xfrm flipV="1">
            <a:off x="2293264" y="5478200"/>
            <a:ext cx="12879" cy="1089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1" name="Freeform 80"/>
          <p:cNvSpPr/>
          <p:nvPr/>
        </p:nvSpPr>
        <p:spPr>
          <a:xfrm>
            <a:off x="2417298" y="5954343"/>
            <a:ext cx="1318593" cy="401954"/>
          </a:xfrm>
          <a:custGeom>
            <a:avLst/>
            <a:gdLst>
              <a:gd name="connsiteX0" fmla="*/ 0 w 1318593"/>
              <a:gd name="connsiteY0" fmla="*/ 275298 h 401954"/>
              <a:gd name="connsiteX1" fmla="*/ 239151 w 1318593"/>
              <a:gd name="connsiteY1" fmla="*/ 261230 h 401954"/>
              <a:gd name="connsiteX2" fmla="*/ 450166 w 1318593"/>
              <a:gd name="connsiteY2" fmla="*/ 148689 h 401954"/>
              <a:gd name="connsiteX3" fmla="*/ 548640 w 1318593"/>
              <a:gd name="connsiteY3" fmla="*/ 247163 h 401954"/>
              <a:gd name="connsiteX4" fmla="*/ 801859 w 1318593"/>
              <a:gd name="connsiteY4" fmla="*/ 247163 h 401954"/>
              <a:gd name="connsiteX5" fmla="*/ 801859 w 1318593"/>
              <a:gd name="connsiteY5" fmla="*/ 36147 h 401954"/>
              <a:gd name="connsiteX6" fmla="*/ 998806 w 1318593"/>
              <a:gd name="connsiteY6" fmla="*/ 401907 h 401954"/>
              <a:gd name="connsiteX7" fmla="*/ 1041009 w 1318593"/>
              <a:gd name="connsiteY7" fmla="*/ 8012 h 401954"/>
              <a:gd name="connsiteX8" fmla="*/ 1294228 w 1318593"/>
              <a:gd name="connsiteY8" fmla="*/ 148689 h 401954"/>
              <a:gd name="connsiteX9" fmla="*/ 1294228 w 1318593"/>
              <a:gd name="connsiteY9" fmla="*/ 289366 h 401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18593" h="401954">
                <a:moveTo>
                  <a:pt x="0" y="275298"/>
                </a:moveTo>
                <a:cubicBezTo>
                  <a:pt x="82061" y="278814"/>
                  <a:pt x="164123" y="282331"/>
                  <a:pt x="239151" y="261230"/>
                </a:cubicBezTo>
                <a:cubicBezTo>
                  <a:pt x="314179" y="240129"/>
                  <a:pt x="398585" y="151033"/>
                  <a:pt x="450166" y="148689"/>
                </a:cubicBezTo>
                <a:cubicBezTo>
                  <a:pt x="501747" y="146345"/>
                  <a:pt x="490025" y="230751"/>
                  <a:pt x="548640" y="247163"/>
                </a:cubicBezTo>
                <a:cubicBezTo>
                  <a:pt x="607256" y="263575"/>
                  <a:pt x="759656" y="282332"/>
                  <a:pt x="801859" y="247163"/>
                </a:cubicBezTo>
                <a:cubicBezTo>
                  <a:pt x="844062" y="211994"/>
                  <a:pt x="769035" y="10356"/>
                  <a:pt x="801859" y="36147"/>
                </a:cubicBezTo>
                <a:cubicBezTo>
                  <a:pt x="834683" y="61938"/>
                  <a:pt x="958948" y="406596"/>
                  <a:pt x="998806" y="401907"/>
                </a:cubicBezTo>
                <a:cubicBezTo>
                  <a:pt x="1038664" y="397218"/>
                  <a:pt x="991772" y="50215"/>
                  <a:pt x="1041009" y="8012"/>
                </a:cubicBezTo>
                <a:cubicBezTo>
                  <a:pt x="1090246" y="-34191"/>
                  <a:pt x="1252025" y="101797"/>
                  <a:pt x="1294228" y="148689"/>
                </a:cubicBezTo>
                <a:cubicBezTo>
                  <a:pt x="1336431" y="195581"/>
                  <a:pt x="1315329" y="242473"/>
                  <a:pt x="1294228" y="289366"/>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2" name="TextBox 81"/>
          <p:cNvSpPr txBox="1"/>
          <p:nvPr/>
        </p:nvSpPr>
        <p:spPr>
          <a:xfrm>
            <a:off x="2627686" y="6475878"/>
            <a:ext cx="1687133" cy="338554"/>
          </a:xfrm>
          <a:prstGeom prst="rect">
            <a:avLst/>
          </a:prstGeom>
          <a:noFill/>
        </p:spPr>
        <p:txBody>
          <a:bodyPr wrap="square" rtlCol="0">
            <a:spAutoFit/>
          </a:bodyPr>
          <a:lstStyle/>
          <a:p>
            <a:r>
              <a:rPr lang="en-IN" sz="1600" dirty="0" smtClean="0"/>
              <a:t>Var-2</a:t>
            </a:r>
            <a:endParaRPr lang="en-IN" sz="1600" dirty="0"/>
          </a:p>
        </p:txBody>
      </p:sp>
      <p:cxnSp>
        <p:nvCxnSpPr>
          <p:cNvPr id="83" name="Straight Arrow Connector 82"/>
          <p:cNvCxnSpPr/>
          <p:nvPr/>
        </p:nvCxnSpPr>
        <p:spPr>
          <a:xfrm flipV="1">
            <a:off x="4150234" y="6516239"/>
            <a:ext cx="1683169" cy="112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p:cNvCxnSpPr/>
          <p:nvPr/>
        </p:nvCxnSpPr>
        <p:spPr>
          <a:xfrm flipV="1">
            <a:off x="4175990" y="5489923"/>
            <a:ext cx="12879" cy="1089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6" name="TextBox 85"/>
          <p:cNvSpPr txBox="1"/>
          <p:nvPr/>
        </p:nvSpPr>
        <p:spPr>
          <a:xfrm>
            <a:off x="4510412" y="6487601"/>
            <a:ext cx="1687133" cy="338554"/>
          </a:xfrm>
          <a:prstGeom prst="rect">
            <a:avLst/>
          </a:prstGeom>
          <a:noFill/>
        </p:spPr>
        <p:txBody>
          <a:bodyPr wrap="square" rtlCol="0">
            <a:spAutoFit/>
          </a:bodyPr>
          <a:lstStyle/>
          <a:p>
            <a:r>
              <a:rPr lang="en-IN" sz="1600" dirty="0" smtClean="0"/>
              <a:t>F(Var-1,var-2)</a:t>
            </a:r>
            <a:endParaRPr lang="en-IN" sz="1600" dirty="0"/>
          </a:p>
        </p:txBody>
      </p:sp>
      <p:sp>
        <p:nvSpPr>
          <p:cNvPr id="87" name="Freeform 86"/>
          <p:cNvSpPr/>
          <p:nvPr/>
        </p:nvSpPr>
        <p:spPr>
          <a:xfrm>
            <a:off x="4314819" y="5852709"/>
            <a:ext cx="1290919" cy="487999"/>
          </a:xfrm>
          <a:custGeom>
            <a:avLst/>
            <a:gdLst>
              <a:gd name="connsiteX0" fmla="*/ 0 w 1687132"/>
              <a:gd name="connsiteY0" fmla="*/ 772732 h 772732"/>
              <a:gd name="connsiteX1" fmla="*/ 399245 w 1687132"/>
              <a:gd name="connsiteY1" fmla="*/ 592428 h 772732"/>
              <a:gd name="connsiteX2" fmla="*/ 1030310 w 1687132"/>
              <a:gd name="connsiteY2" fmla="*/ 218940 h 772732"/>
              <a:gd name="connsiteX3" fmla="*/ 1687132 w 1687132"/>
              <a:gd name="connsiteY3" fmla="*/ 0 h 772732"/>
            </a:gdLst>
            <a:ahLst/>
            <a:cxnLst>
              <a:cxn ang="0">
                <a:pos x="connsiteX0" y="connsiteY0"/>
              </a:cxn>
              <a:cxn ang="0">
                <a:pos x="connsiteX1" y="connsiteY1"/>
              </a:cxn>
              <a:cxn ang="0">
                <a:pos x="connsiteX2" y="connsiteY2"/>
              </a:cxn>
              <a:cxn ang="0">
                <a:pos x="connsiteX3" y="connsiteY3"/>
              </a:cxn>
            </a:cxnLst>
            <a:rect l="l" t="t" r="r" b="b"/>
            <a:pathLst>
              <a:path w="1687132" h="772732">
                <a:moveTo>
                  <a:pt x="0" y="772732"/>
                </a:moveTo>
                <a:cubicBezTo>
                  <a:pt x="113763" y="728729"/>
                  <a:pt x="227527" y="684727"/>
                  <a:pt x="399245" y="592428"/>
                </a:cubicBezTo>
                <a:cubicBezTo>
                  <a:pt x="570963" y="500129"/>
                  <a:pt x="815662" y="317678"/>
                  <a:pt x="1030310" y="218940"/>
                </a:cubicBezTo>
                <a:cubicBezTo>
                  <a:pt x="1244958" y="120202"/>
                  <a:pt x="1466045" y="60101"/>
                  <a:pt x="1687132"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0" name="TextBox 89"/>
          <p:cNvSpPr txBox="1"/>
          <p:nvPr/>
        </p:nvSpPr>
        <p:spPr>
          <a:xfrm>
            <a:off x="6646357" y="4849520"/>
            <a:ext cx="5545643" cy="1915345"/>
          </a:xfrm>
          <a:prstGeom prst="rect">
            <a:avLst/>
          </a:prstGeom>
          <a:noFill/>
          <a:ln>
            <a:solidFill>
              <a:schemeClr val="accent1">
                <a:shade val="50000"/>
              </a:schemeClr>
            </a:solidFill>
            <a:prstDash val="dash"/>
          </a:ln>
        </p:spPr>
        <p:txBody>
          <a:bodyPr wrap="square" rtlCol="0">
            <a:noAutofit/>
          </a:bodyPr>
          <a:lstStyle/>
          <a:p>
            <a:pPr marL="285750" indent="-285750">
              <a:lnSpc>
                <a:spcPct val="120000"/>
              </a:lnSpc>
              <a:buFont typeface="Wingdings" panose="05000000000000000000" pitchFamily="2" charset="2"/>
              <a:buChar char="Ø"/>
            </a:pPr>
            <a:r>
              <a:rPr lang="en-IN" sz="1600" dirty="0" smtClean="0"/>
              <a:t>Complex methods are better at picking out interactions</a:t>
            </a:r>
            <a:r>
              <a:rPr lang="en-IN" sz="1600" dirty="0"/>
              <a:t> </a:t>
            </a:r>
            <a:r>
              <a:rPr lang="en-IN" sz="1600" dirty="0" smtClean="0"/>
              <a:t>and latent relationships</a:t>
            </a:r>
          </a:p>
          <a:p>
            <a:pPr marL="285750" indent="-285750">
              <a:lnSpc>
                <a:spcPct val="120000"/>
              </a:lnSpc>
              <a:buFont typeface="Wingdings" panose="05000000000000000000" pitchFamily="2" charset="2"/>
              <a:buChar char="Ø"/>
            </a:pPr>
            <a:r>
              <a:rPr lang="en-IN" sz="1600" dirty="0" smtClean="0"/>
              <a:t>But tend to over fit the data. As we do not know if such complex interactions are for real</a:t>
            </a:r>
          </a:p>
          <a:p>
            <a:pPr marL="285750" indent="-285750">
              <a:lnSpc>
                <a:spcPct val="120000"/>
              </a:lnSpc>
              <a:buFont typeface="Wingdings" panose="05000000000000000000" pitchFamily="2" charset="2"/>
              <a:buChar char="Ø"/>
            </a:pPr>
            <a:r>
              <a:rPr lang="en-IN" sz="1600" dirty="0" smtClean="0"/>
              <a:t>They also make our models “black boxes”</a:t>
            </a:r>
          </a:p>
          <a:p>
            <a:pPr marL="285750" indent="-285750">
              <a:lnSpc>
                <a:spcPct val="120000"/>
              </a:lnSpc>
              <a:buFont typeface="Wingdings" panose="05000000000000000000" pitchFamily="2" charset="2"/>
              <a:buChar char="Ø"/>
            </a:pPr>
            <a:r>
              <a:rPr lang="en-IN" sz="1600" dirty="0" smtClean="0"/>
              <a:t>What are the pros and cons of using more complex methods</a:t>
            </a:r>
          </a:p>
        </p:txBody>
      </p:sp>
    </p:spTree>
    <p:extLst>
      <p:ext uri="{BB962C8B-B14F-4D97-AF65-F5344CB8AC3E}">
        <p14:creationId xmlns:p14="http://schemas.microsoft.com/office/powerpoint/2010/main" val="332369486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normAutofit/>
          </a:bodyPr>
          <a:lstStyle/>
          <a:p>
            <a:pPr algn="ctr"/>
            <a:r>
              <a:rPr lang="en-IN" sz="3600" b="1" i="1" dirty="0" smtClean="0"/>
              <a:t>The available tools –  a bit more detail</a:t>
            </a:r>
            <a:endParaRPr lang="en-IN" sz="3600" b="1" i="1" dirty="0"/>
          </a:p>
        </p:txBody>
      </p:sp>
      <p:sp>
        <p:nvSpPr>
          <p:cNvPr id="4" name="Rectangle 3"/>
          <p:cNvSpPr/>
          <p:nvPr/>
        </p:nvSpPr>
        <p:spPr>
          <a:xfrm>
            <a:off x="0" y="1139483"/>
            <a:ext cx="12192000" cy="1828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p:cNvSpPr/>
          <p:nvPr/>
        </p:nvSpPr>
        <p:spPr>
          <a:xfrm>
            <a:off x="309489" y="1434907"/>
            <a:ext cx="5866228" cy="652481"/>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Unsupervised Methodologies</a:t>
            </a:r>
            <a:endParaRPr lang="en-IN" dirty="0"/>
          </a:p>
        </p:txBody>
      </p:sp>
      <p:cxnSp>
        <p:nvCxnSpPr>
          <p:cNvPr id="39" name="Straight Connector 38"/>
          <p:cNvCxnSpPr/>
          <p:nvPr/>
        </p:nvCxnSpPr>
        <p:spPr>
          <a:xfrm>
            <a:off x="6260121" y="2166424"/>
            <a:ext cx="42204" cy="4691576"/>
          </a:xfrm>
          <a:prstGeom prst="line">
            <a:avLst/>
          </a:prstGeom>
          <a:ln w="31750">
            <a:prstDash val="dash"/>
          </a:ln>
        </p:spPr>
        <p:style>
          <a:lnRef idx="1">
            <a:schemeClr val="accent1"/>
          </a:lnRef>
          <a:fillRef idx="0">
            <a:schemeClr val="accent1"/>
          </a:fillRef>
          <a:effectRef idx="0">
            <a:schemeClr val="accent1"/>
          </a:effectRef>
          <a:fontRef idx="minor">
            <a:schemeClr val="tx1"/>
          </a:fontRef>
        </p:style>
      </p:cxnSp>
      <p:pic>
        <p:nvPicPr>
          <p:cNvPr id="5122" name="Picture 2" descr="Related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97409" y="3710811"/>
            <a:ext cx="1325423" cy="1325423"/>
          </a:xfrm>
          <a:prstGeom prst="rect">
            <a:avLst/>
          </a:prstGeom>
          <a:noFill/>
          <a:extLst>
            <a:ext uri="{909E8E84-426E-40DD-AFC4-6F175D3DCCD1}">
              <a14:hiddenFill xmlns:a14="http://schemas.microsoft.com/office/drawing/2010/main">
                <a:solidFill>
                  <a:srgbClr val="FFFFFF"/>
                </a:solidFill>
              </a14:hiddenFill>
            </a:ext>
          </a:extLst>
        </p:spPr>
      </p:pic>
      <p:sp>
        <p:nvSpPr>
          <p:cNvPr id="41" name="Rectangle 40"/>
          <p:cNvSpPr/>
          <p:nvPr/>
        </p:nvSpPr>
        <p:spPr>
          <a:xfrm>
            <a:off x="407963" y="2190670"/>
            <a:ext cx="2180492" cy="1350866"/>
          </a:xfrm>
          <a:prstGeom prst="rect">
            <a:avLst/>
          </a:prstGeom>
          <a:solidFill>
            <a:schemeClr val="accent6">
              <a:lumMod val="50000"/>
            </a:schemeClr>
          </a:solidFill>
          <a:ln w="222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600" dirty="0" smtClean="0"/>
              <a:t>Identify groups which are distinct to one another </a:t>
            </a:r>
          </a:p>
          <a:p>
            <a:endParaRPr lang="en-IN" sz="1400" dirty="0" smtClean="0"/>
          </a:p>
          <a:p>
            <a:r>
              <a:rPr lang="en-IN" sz="1400" i="1" dirty="0" smtClean="0"/>
              <a:t>Identify customer segments that are distinct</a:t>
            </a:r>
            <a:endParaRPr lang="en-IN" sz="1400" i="1" dirty="0"/>
          </a:p>
        </p:txBody>
      </p:sp>
      <p:sp>
        <p:nvSpPr>
          <p:cNvPr id="7" name="TextBox 6"/>
          <p:cNvSpPr txBox="1"/>
          <p:nvPr/>
        </p:nvSpPr>
        <p:spPr>
          <a:xfrm>
            <a:off x="2588456" y="2166424"/>
            <a:ext cx="2926080" cy="1364567"/>
          </a:xfrm>
          <a:prstGeom prst="rect">
            <a:avLst/>
          </a:prstGeom>
          <a:noFill/>
          <a:ln>
            <a:solidFill>
              <a:schemeClr val="bg1">
                <a:lumMod val="75000"/>
              </a:schemeClr>
            </a:solidFill>
            <a:prstDash val="dashDot"/>
          </a:ln>
        </p:spPr>
        <p:txBody>
          <a:bodyPr wrap="square" rtlCol="0">
            <a:noAutofit/>
          </a:bodyPr>
          <a:lstStyle/>
          <a:p>
            <a:pPr marL="285750" indent="-285750">
              <a:buFont typeface="Arial" panose="020B0604020202020204" pitchFamily="34" charset="0"/>
              <a:buChar char="•"/>
            </a:pPr>
            <a:r>
              <a:rPr lang="en-IN" sz="1400" dirty="0" smtClean="0"/>
              <a:t>Clustering based on continuous data – K-Means, Hierarchical, PCA based clustering, KNN</a:t>
            </a:r>
          </a:p>
          <a:p>
            <a:pPr marL="285750" indent="-285750">
              <a:buFont typeface="Arial" panose="020B0604020202020204" pitchFamily="34" charset="0"/>
              <a:buChar char="•"/>
            </a:pPr>
            <a:endParaRPr lang="en-IN" sz="1400" dirty="0" smtClean="0"/>
          </a:p>
          <a:p>
            <a:pPr marL="285750" indent="-285750">
              <a:buFont typeface="Arial" panose="020B0604020202020204" pitchFamily="34" charset="0"/>
              <a:buChar char="•"/>
            </a:pPr>
            <a:r>
              <a:rPr lang="en-IN" sz="1400" dirty="0" smtClean="0"/>
              <a:t>Clustering based on expectation maximization for discreet data</a:t>
            </a:r>
          </a:p>
        </p:txBody>
      </p:sp>
      <p:sp>
        <p:nvSpPr>
          <p:cNvPr id="52" name="Rectangle 51"/>
          <p:cNvSpPr/>
          <p:nvPr/>
        </p:nvSpPr>
        <p:spPr>
          <a:xfrm>
            <a:off x="407963" y="3820816"/>
            <a:ext cx="2180492" cy="1431285"/>
          </a:xfrm>
          <a:prstGeom prst="rect">
            <a:avLst/>
          </a:prstGeom>
          <a:solidFill>
            <a:schemeClr val="accent6">
              <a:lumMod val="50000"/>
            </a:schemeClr>
          </a:solidFill>
          <a:ln w="222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600" dirty="0" smtClean="0"/>
              <a:t>Identify similarity between vectors</a:t>
            </a:r>
          </a:p>
          <a:p>
            <a:endParaRPr lang="en-IN" sz="1400" dirty="0" smtClean="0"/>
          </a:p>
          <a:p>
            <a:r>
              <a:rPr lang="en-IN" sz="1400" i="1" dirty="0" smtClean="0"/>
              <a:t>Identify the similarity between two customers. Recommender systems</a:t>
            </a:r>
          </a:p>
        </p:txBody>
      </p:sp>
      <p:sp>
        <p:nvSpPr>
          <p:cNvPr id="53" name="TextBox 52"/>
          <p:cNvSpPr txBox="1"/>
          <p:nvPr/>
        </p:nvSpPr>
        <p:spPr>
          <a:xfrm>
            <a:off x="2588456" y="3810272"/>
            <a:ext cx="2926080" cy="1441830"/>
          </a:xfrm>
          <a:prstGeom prst="rect">
            <a:avLst/>
          </a:prstGeom>
          <a:noFill/>
          <a:ln>
            <a:solidFill>
              <a:schemeClr val="bg1">
                <a:lumMod val="75000"/>
              </a:schemeClr>
            </a:solidFill>
            <a:prstDash val="dashDot"/>
          </a:ln>
        </p:spPr>
        <p:txBody>
          <a:bodyPr wrap="square" rtlCol="0">
            <a:noAutofit/>
          </a:bodyPr>
          <a:lstStyle/>
          <a:p>
            <a:pPr marL="285750" indent="-285750">
              <a:buFont typeface="Arial" panose="020B0604020202020204" pitchFamily="34" charset="0"/>
              <a:buChar char="•"/>
            </a:pPr>
            <a:r>
              <a:rPr lang="en-IN" sz="1400" dirty="0" smtClean="0"/>
              <a:t>Similarity</a:t>
            </a:r>
          </a:p>
          <a:p>
            <a:pPr marL="285750" indent="-285750">
              <a:buFont typeface="Arial" panose="020B0604020202020204" pitchFamily="34" charset="0"/>
              <a:buChar char="•"/>
            </a:pPr>
            <a:endParaRPr lang="en-IN" sz="1400" dirty="0" smtClean="0"/>
          </a:p>
          <a:p>
            <a:pPr marL="285750" indent="-285750">
              <a:buFont typeface="Arial" panose="020B0604020202020204" pitchFamily="34" charset="0"/>
              <a:buChar char="•"/>
            </a:pPr>
            <a:r>
              <a:rPr lang="en-IN" sz="1400" dirty="0" smtClean="0"/>
              <a:t>Cosine similarity, </a:t>
            </a:r>
            <a:r>
              <a:rPr lang="en-IN" sz="1400" dirty="0" err="1" smtClean="0"/>
              <a:t>Jaccard</a:t>
            </a:r>
            <a:r>
              <a:rPr lang="en-IN" sz="1400" dirty="0" smtClean="0"/>
              <a:t> </a:t>
            </a:r>
            <a:r>
              <a:rPr lang="en-IN" sz="1400" dirty="0" err="1" smtClean="0"/>
              <a:t>Coeffecient</a:t>
            </a:r>
            <a:r>
              <a:rPr lang="en-IN" sz="1400" dirty="0" smtClean="0"/>
              <a:t>, KL Divergence, Hamming distance, </a:t>
            </a:r>
            <a:r>
              <a:rPr lang="en-IN" sz="1400" dirty="0" err="1" smtClean="0"/>
              <a:t>SimRank</a:t>
            </a:r>
            <a:r>
              <a:rPr lang="en-IN" sz="1400" dirty="0" smtClean="0"/>
              <a:t>, Pearson correlation, etc.</a:t>
            </a:r>
          </a:p>
        </p:txBody>
      </p:sp>
      <p:sp>
        <p:nvSpPr>
          <p:cNvPr id="54" name="Rectangle 53"/>
          <p:cNvSpPr/>
          <p:nvPr/>
        </p:nvSpPr>
        <p:spPr>
          <a:xfrm>
            <a:off x="407963" y="5443681"/>
            <a:ext cx="2180492" cy="1294744"/>
          </a:xfrm>
          <a:prstGeom prst="rect">
            <a:avLst/>
          </a:prstGeom>
          <a:solidFill>
            <a:schemeClr val="accent6">
              <a:lumMod val="50000"/>
            </a:schemeClr>
          </a:solidFill>
          <a:ln w="222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600" dirty="0" smtClean="0"/>
              <a:t>Identify outliers</a:t>
            </a:r>
          </a:p>
          <a:p>
            <a:endParaRPr lang="en-IN" sz="1400" dirty="0" smtClean="0"/>
          </a:p>
          <a:p>
            <a:r>
              <a:rPr lang="en-IN" sz="1400" i="1" dirty="0" smtClean="0"/>
              <a:t>Identify machine fault, onset of heart attack, network intrusion, frauds, crimes</a:t>
            </a:r>
          </a:p>
        </p:txBody>
      </p:sp>
      <p:sp>
        <p:nvSpPr>
          <p:cNvPr id="55" name="TextBox 54"/>
          <p:cNvSpPr txBox="1"/>
          <p:nvPr/>
        </p:nvSpPr>
        <p:spPr>
          <a:xfrm>
            <a:off x="2588456" y="5405072"/>
            <a:ext cx="2926080" cy="1333354"/>
          </a:xfrm>
          <a:prstGeom prst="rect">
            <a:avLst/>
          </a:prstGeom>
          <a:noFill/>
          <a:ln>
            <a:solidFill>
              <a:schemeClr val="bg1">
                <a:lumMod val="75000"/>
              </a:schemeClr>
            </a:solidFill>
            <a:prstDash val="dashDot"/>
          </a:ln>
        </p:spPr>
        <p:txBody>
          <a:bodyPr wrap="square" rtlCol="0">
            <a:noAutofit/>
          </a:bodyPr>
          <a:lstStyle/>
          <a:p>
            <a:pPr marL="285750" indent="-285750">
              <a:buFont typeface="Arial" panose="020B0604020202020204" pitchFamily="34" charset="0"/>
              <a:buChar char="•"/>
            </a:pPr>
            <a:r>
              <a:rPr lang="en-IN" sz="1400" dirty="0" smtClean="0"/>
              <a:t>Anomaly and outlier detection</a:t>
            </a:r>
          </a:p>
          <a:p>
            <a:pPr marL="285750" indent="-285750">
              <a:buFont typeface="Arial" panose="020B0604020202020204" pitchFamily="34" charset="0"/>
              <a:buChar char="•"/>
            </a:pPr>
            <a:endParaRPr lang="en-IN" sz="1400" dirty="0" smtClean="0"/>
          </a:p>
          <a:p>
            <a:pPr marL="285750" indent="-285750">
              <a:buFont typeface="Arial" panose="020B0604020202020204" pitchFamily="34" charset="0"/>
              <a:buChar char="•"/>
            </a:pPr>
            <a:r>
              <a:rPr lang="en-IN" sz="1400" dirty="0" smtClean="0"/>
              <a:t>Control charts, </a:t>
            </a:r>
            <a:r>
              <a:rPr lang="en-IN" sz="1400" dirty="0" err="1" smtClean="0"/>
              <a:t>Kalman</a:t>
            </a:r>
            <a:r>
              <a:rPr lang="en-IN" sz="1400" dirty="0" smtClean="0"/>
              <a:t> filter, Time series anomaly detection, wavelets for anomaly detection</a:t>
            </a:r>
          </a:p>
          <a:p>
            <a:pPr marL="285750" indent="-285750">
              <a:buFont typeface="Arial" panose="020B0604020202020204" pitchFamily="34" charset="0"/>
              <a:buChar char="•"/>
            </a:pPr>
            <a:endParaRPr lang="en-IN" sz="1400" dirty="0" smtClean="0"/>
          </a:p>
        </p:txBody>
      </p:sp>
      <p:sp>
        <p:nvSpPr>
          <p:cNvPr id="56" name="Rectangle 55"/>
          <p:cNvSpPr/>
          <p:nvPr/>
        </p:nvSpPr>
        <p:spPr>
          <a:xfrm>
            <a:off x="6344527" y="1401865"/>
            <a:ext cx="5777132" cy="652481"/>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Supervised Methodologies</a:t>
            </a:r>
            <a:endParaRPr lang="en-IN" dirty="0"/>
          </a:p>
        </p:txBody>
      </p:sp>
      <p:sp>
        <p:nvSpPr>
          <p:cNvPr id="57" name="Rectangle 56"/>
          <p:cNvSpPr/>
          <p:nvPr/>
        </p:nvSpPr>
        <p:spPr>
          <a:xfrm>
            <a:off x="6977570" y="2166424"/>
            <a:ext cx="2180492" cy="2578279"/>
          </a:xfrm>
          <a:prstGeom prst="rect">
            <a:avLst/>
          </a:prstGeom>
          <a:solidFill>
            <a:schemeClr val="accent6">
              <a:lumMod val="50000"/>
            </a:schemeClr>
          </a:solidFill>
          <a:ln w="222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600" dirty="0" smtClean="0"/>
              <a:t>Predict future state </a:t>
            </a:r>
          </a:p>
          <a:p>
            <a:endParaRPr lang="en-IN" sz="1400" i="1" dirty="0" smtClean="0"/>
          </a:p>
          <a:p>
            <a:r>
              <a:rPr lang="en-IN" sz="1400" i="1" dirty="0" smtClean="0"/>
              <a:t>Identify customers, who will respond, go bad, commit fraud etc.</a:t>
            </a:r>
          </a:p>
          <a:p>
            <a:endParaRPr lang="en-IN" sz="1400" i="1" dirty="0"/>
          </a:p>
          <a:p>
            <a:r>
              <a:rPr lang="en-IN" sz="1400" i="1" dirty="0" smtClean="0"/>
              <a:t>Identify suppliers who will perform better, default etc.</a:t>
            </a:r>
          </a:p>
          <a:p>
            <a:endParaRPr lang="en-IN" sz="1400" i="1" dirty="0"/>
          </a:p>
          <a:p>
            <a:r>
              <a:rPr lang="en-IN" sz="1400" i="1" dirty="0" smtClean="0"/>
              <a:t>Identify employees who will attrite, perform better etc.</a:t>
            </a:r>
            <a:endParaRPr lang="en-IN" sz="1400" i="1" dirty="0"/>
          </a:p>
        </p:txBody>
      </p:sp>
      <p:sp>
        <p:nvSpPr>
          <p:cNvPr id="58" name="Rectangle 57"/>
          <p:cNvSpPr/>
          <p:nvPr/>
        </p:nvSpPr>
        <p:spPr>
          <a:xfrm>
            <a:off x="6977570" y="4856782"/>
            <a:ext cx="2180492" cy="1881644"/>
          </a:xfrm>
          <a:prstGeom prst="rect">
            <a:avLst/>
          </a:prstGeom>
          <a:solidFill>
            <a:schemeClr val="accent6">
              <a:lumMod val="50000"/>
            </a:schemeClr>
          </a:solidFill>
          <a:ln w="222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600" dirty="0" smtClean="0"/>
              <a:t>Predict levels of a future outcome state </a:t>
            </a:r>
          </a:p>
          <a:p>
            <a:endParaRPr lang="en-IN" sz="1400" i="1" dirty="0" smtClean="0"/>
          </a:p>
          <a:p>
            <a:r>
              <a:rPr lang="en-IN" sz="1400" i="1" dirty="0" smtClean="0"/>
              <a:t>Predict levels of revenue, loss, income etc.</a:t>
            </a:r>
            <a:endParaRPr lang="en-IN" sz="1400" i="1" dirty="0"/>
          </a:p>
        </p:txBody>
      </p:sp>
      <p:sp>
        <p:nvSpPr>
          <p:cNvPr id="59" name="TextBox 58"/>
          <p:cNvSpPr txBox="1"/>
          <p:nvPr/>
        </p:nvSpPr>
        <p:spPr>
          <a:xfrm>
            <a:off x="9158062" y="2166424"/>
            <a:ext cx="2963597" cy="4572000"/>
          </a:xfrm>
          <a:prstGeom prst="rect">
            <a:avLst/>
          </a:prstGeom>
          <a:noFill/>
          <a:ln>
            <a:solidFill>
              <a:schemeClr val="bg1">
                <a:lumMod val="75000"/>
              </a:schemeClr>
            </a:solidFill>
            <a:prstDash val="dashDot"/>
          </a:ln>
        </p:spPr>
        <p:txBody>
          <a:bodyPr wrap="square" rtlCol="0">
            <a:noAutofit/>
          </a:bodyPr>
          <a:lstStyle/>
          <a:p>
            <a:pPr marL="285750" indent="-285750">
              <a:buFont typeface="Arial" panose="020B0604020202020204" pitchFamily="34" charset="0"/>
              <a:buChar char="•"/>
            </a:pPr>
            <a:r>
              <a:rPr lang="en-IN" sz="1400" dirty="0" smtClean="0"/>
              <a:t>Regression based techniques – logistic regression, </a:t>
            </a:r>
            <a:r>
              <a:rPr lang="en-IN" sz="1400" dirty="0" err="1" smtClean="0"/>
              <a:t>Probit</a:t>
            </a:r>
            <a:r>
              <a:rPr lang="en-IN" sz="1400" dirty="0" smtClean="0"/>
              <a:t> etc.</a:t>
            </a:r>
          </a:p>
          <a:p>
            <a:pPr marL="285750" indent="-285750">
              <a:buFont typeface="Arial" panose="020B0604020202020204" pitchFamily="34" charset="0"/>
              <a:buChar char="•"/>
            </a:pPr>
            <a:endParaRPr lang="en-IN" sz="1400" dirty="0"/>
          </a:p>
          <a:p>
            <a:pPr marL="285750" indent="-285750">
              <a:buFont typeface="Arial" panose="020B0604020202020204" pitchFamily="34" charset="0"/>
              <a:buChar char="•"/>
            </a:pPr>
            <a:r>
              <a:rPr lang="en-IN" sz="1400" dirty="0" smtClean="0"/>
              <a:t>Tree &amp; entropy based techniques CHAID, CRT, C5</a:t>
            </a:r>
          </a:p>
          <a:p>
            <a:pPr marL="285750" indent="-285750">
              <a:buFont typeface="Arial" panose="020B0604020202020204" pitchFamily="34" charset="0"/>
              <a:buChar char="•"/>
            </a:pPr>
            <a:endParaRPr lang="en-IN" sz="1400" dirty="0"/>
          </a:p>
          <a:p>
            <a:pPr marL="285750" indent="-285750">
              <a:buFont typeface="Arial" panose="020B0604020202020204" pitchFamily="34" charset="0"/>
              <a:buChar char="•"/>
            </a:pPr>
            <a:r>
              <a:rPr lang="en-IN" sz="1400" dirty="0" smtClean="0"/>
              <a:t>Machine learning algorithms using ensembles: Random Forest, Stochastic Gradient Boosting, MARS</a:t>
            </a:r>
          </a:p>
          <a:p>
            <a:pPr marL="285750" indent="-285750">
              <a:buFont typeface="Arial" panose="020B0604020202020204" pitchFamily="34" charset="0"/>
              <a:buChar char="•"/>
            </a:pPr>
            <a:endParaRPr lang="en-IN" sz="1400" dirty="0"/>
          </a:p>
          <a:p>
            <a:pPr marL="285750" indent="-285750">
              <a:buFont typeface="Arial" panose="020B0604020202020204" pitchFamily="34" charset="0"/>
              <a:buChar char="•"/>
            </a:pPr>
            <a:r>
              <a:rPr lang="en-IN" sz="1400" dirty="0" smtClean="0"/>
              <a:t>Machine learning using  complex combination of variables; SVM, Neural Networks, Naïve Bayes </a:t>
            </a:r>
          </a:p>
          <a:p>
            <a:pPr marL="285750" indent="-285750">
              <a:buFont typeface="Arial" panose="020B0604020202020204" pitchFamily="34" charset="0"/>
              <a:buChar char="•"/>
            </a:pPr>
            <a:endParaRPr lang="en-IN" sz="1400" dirty="0"/>
          </a:p>
          <a:p>
            <a:pPr marL="285750" indent="-285750">
              <a:buFont typeface="Arial" panose="020B0604020202020204" pitchFamily="34" charset="0"/>
              <a:buChar char="•"/>
            </a:pPr>
            <a:r>
              <a:rPr lang="en-IN" sz="1400" dirty="0" smtClean="0"/>
              <a:t>Machine learning for latent relationship identification: SEM, Latent class models</a:t>
            </a:r>
          </a:p>
          <a:p>
            <a:pPr marL="285750" indent="-285750">
              <a:buFont typeface="Arial" panose="020B0604020202020204" pitchFamily="34" charset="0"/>
              <a:buChar char="•"/>
            </a:pPr>
            <a:endParaRPr lang="en-IN" sz="1400" dirty="0"/>
          </a:p>
          <a:p>
            <a:pPr marL="285750" indent="-285750">
              <a:buFont typeface="Arial" panose="020B0604020202020204" pitchFamily="34" charset="0"/>
              <a:buChar char="•"/>
            </a:pPr>
            <a:r>
              <a:rPr lang="en-IN" sz="1400" dirty="0" smtClean="0"/>
              <a:t>Handling high dimensionality: PCA, Lasso, </a:t>
            </a:r>
            <a:r>
              <a:rPr lang="en-IN" sz="1400" dirty="0" err="1" smtClean="0"/>
              <a:t>ElasticNet</a:t>
            </a:r>
            <a:endParaRPr lang="en-IN" sz="1400" dirty="0"/>
          </a:p>
        </p:txBody>
      </p:sp>
    </p:spTree>
    <p:extLst>
      <p:ext uri="{BB962C8B-B14F-4D97-AF65-F5344CB8AC3E}">
        <p14:creationId xmlns:p14="http://schemas.microsoft.com/office/powerpoint/2010/main" val="360495397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normAutofit/>
          </a:bodyPr>
          <a:lstStyle/>
          <a:p>
            <a:pPr algn="ctr"/>
            <a:r>
              <a:rPr lang="en-IN" sz="3600" b="1" i="1" dirty="0" smtClean="0"/>
              <a:t>Analytical challenges –  what are some of the typical challenges that we may face?</a:t>
            </a:r>
            <a:endParaRPr lang="en-IN" sz="3600" b="1" i="1" dirty="0"/>
          </a:p>
        </p:txBody>
      </p:sp>
      <p:sp>
        <p:nvSpPr>
          <p:cNvPr id="4" name="Rectangle 3"/>
          <p:cNvSpPr/>
          <p:nvPr/>
        </p:nvSpPr>
        <p:spPr>
          <a:xfrm>
            <a:off x="0" y="1139483"/>
            <a:ext cx="12192000" cy="1828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p:cNvSpPr/>
          <p:nvPr/>
        </p:nvSpPr>
        <p:spPr>
          <a:xfrm>
            <a:off x="0" y="1322363"/>
            <a:ext cx="12192000" cy="759657"/>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Most business problems present one or a combination of these challenges which needs to be addressed either by the use of the right data or the right technique. The approach to selection &amp; evaluation of a technique also depends on the challenges. </a:t>
            </a:r>
            <a:endParaRPr lang="en-IN" dirty="0"/>
          </a:p>
        </p:txBody>
      </p:sp>
      <p:sp>
        <p:nvSpPr>
          <p:cNvPr id="13" name="Rectangle 12"/>
          <p:cNvSpPr/>
          <p:nvPr/>
        </p:nvSpPr>
        <p:spPr>
          <a:xfrm>
            <a:off x="98473" y="2267474"/>
            <a:ext cx="2278963" cy="522672"/>
          </a:xfrm>
          <a:prstGeom prst="rect">
            <a:avLst/>
          </a:prstGeom>
          <a:solidFill>
            <a:schemeClr val="accent6">
              <a:lumMod val="50000"/>
            </a:schemeClr>
          </a:solidFill>
          <a:ln w="222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t>Rare events</a:t>
            </a:r>
            <a:endParaRPr lang="en-IN" sz="1600" dirty="0"/>
          </a:p>
        </p:txBody>
      </p:sp>
      <p:sp>
        <p:nvSpPr>
          <p:cNvPr id="14" name="Rectangle 13"/>
          <p:cNvSpPr/>
          <p:nvPr/>
        </p:nvSpPr>
        <p:spPr>
          <a:xfrm>
            <a:off x="98473" y="2790146"/>
            <a:ext cx="2278963" cy="1489006"/>
          </a:xfrm>
          <a:prstGeom prst="rect">
            <a:avLst/>
          </a:prstGeom>
          <a:noFill/>
          <a:ln w="22225">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p:cNvSpPr/>
          <p:nvPr/>
        </p:nvSpPr>
        <p:spPr>
          <a:xfrm>
            <a:off x="4974253" y="2264900"/>
            <a:ext cx="2273633" cy="543800"/>
          </a:xfrm>
          <a:prstGeom prst="rect">
            <a:avLst/>
          </a:prstGeom>
          <a:solidFill>
            <a:schemeClr val="accent6">
              <a:lumMod val="50000"/>
            </a:schemeClr>
          </a:solidFill>
          <a:ln w="222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t>Disproportionate </a:t>
            </a:r>
            <a:r>
              <a:rPr lang="en-IN" sz="1600" dirty="0" err="1" smtClean="0"/>
              <a:t>mis</a:t>
            </a:r>
            <a:r>
              <a:rPr lang="en-IN" sz="1600" dirty="0" smtClean="0"/>
              <a:t>-classification costs</a:t>
            </a:r>
            <a:endParaRPr lang="en-IN" sz="1600" dirty="0"/>
          </a:p>
        </p:txBody>
      </p:sp>
      <p:sp>
        <p:nvSpPr>
          <p:cNvPr id="18" name="Rectangle 17"/>
          <p:cNvSpPr/>
          <p:nvPr/>
        </p:nvSpPr>
        <p:spPr>
          <a:xfrm>
            <a:off x="4973611" y="2818981"/>
            <a:ext cx="2278963" cy="1489006"/>
          </a:xfrm>
          <a:prstGeom prst="rect">
            <a:avLst/>
          </a:prstGeom>
          <a:noFill/>
          <a:ln w="22225">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p:cNvSpPr/>
          <p:nvPr/>
        </p:nvSpPr>
        <p:spPr>
          <a:xfrm>
            <a:off x="9758303" y="2266320"/>
            <a:ext cx="2278963" cy="522672"/>
          </a:xfrm>
          <a:prstGeom prst="rect">
            <a:avLst/>
          </a:prstGeom>
          <a:solidFill>
            <a:schemeClr val="accent6">
              <a:lumMod val="50000"/>
            </a:schemeClr>
          </a:solidFill>
          <a:ln w="222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t>Sparse data &amp; Missing values</a:t>
            </a:r>
            <a:endParaRPr lang="en-IN" sz="1600" dirty="0"/>
          </a:p>
        </p:txBody>
      </p:sp>
      <p:sp>
        <p:nvSpPr>
          <p:cNvPr id="20" name="Rectangle 19"/>
          <p:cNvSpPr/>
          <p:nvPr/>
        </p:nvSpPr>
        <p:spPr>
          <a:xfrm>
            <a:off x="9758303" y="2788992"/>
            <a:ext cx="2278963" cy="1489006"/>
          </a:xfrm>
          <a:prstGeom prst="rect">
            <a:avLst/>
          </a:prstGeom>
          <a:noFill/>
          <a:ln w="22225">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Rectangle 20"/>
          <p:cNvSpPr/>
          <p:nvPr/>
        </p:nvSpPr>
        <p:spPr>
          <a:xfrm>
            <a:off x="7378286" y="2267412"/>
            <a:ext cx="2278963" cy="522672"/>
          </a:xfrm>
          <a:prstGeom prst="rect">
            <a:avLst/>
          </a:prstGeom>
          <a:solidFill>
            <a:schemeClr val="accent6">
              <a:lumMod val="50000"/>
            </a:schemeClr>
          </a:solidFill>
          <a:ln w="222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t>Truncated data &amp; sampling bias</a:t>
            </a:r>
            <a:endParaRPr lang="en-IN" sz="1600" dirty="0"/>
          </a:p>
        </p:txBody>
      </p:sp>
      <p:sp>
        <p:nvSpPr>
          <p:cNvPr id="22" name="Rectangle 21"/>
          <p:cNvSpPr/>
          <p:nvPr/>
        </p:nvSpPr>
        <p:spPr>
          <a:xfrm>
            <a:off x="7378286" y="2790084"/>
            <a:ext cx="2278963" cy="1489006"/>
          </a:xfrm>
          <a:prstGeom prst="rect">
            <a:avLst/>
          </a:prstGeom>
          <a:noFill/>
          <a:ln w="22225">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Rectangle 22"/>
          <p:cNvSpPr/>
          <p:nvPr/>
        </p:nvSpPr>
        <p:spPr>
          <a:xfrm>
            <a:off x="4918974" y="4638952"/>
            <a:ext cx="2274269" cy="522672"/>
          </a:xfrm>
          <a:prstGeom prst="rect">
            <a:avLst/>
          </a:prstGeom>
          <a:solidFill>
            <a:schemeClr val="accent6">
              <a:lumMod val="50000"/>
            </a:schemeClr>
          </a:solidFill>
          <a:ln w="222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t>Extensive interaction effects</a:t>
            </a:r>
            <a:endParaRPr lang="en-IN" sz="1600" dirty="0"/>
          </a:p>
        </p:txBody>
      </p:sp>
      <p:sp>
        <p:nvSpPr>
          <p:cNvPr id="24" name="Rectangle 23"/>
          <p:cNvSpPr/>
          <p:nvPr/>
        </p:nvSpPr>
        <p:spPr>
          <a:xfrm>
            <a:off x="4918974" y="5161624"/>
            <a:ext cx="2274269" cy="1489006"/>
          </a:xfrm>
          <a:prstGeom prst="rect">
            <a:avLst/>
          </a:prstGeom>
          <a:noFill/>
          <a:ln w="22225">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24"/>
          <p:cNvSpPr/>
          <p:nvPr/>
        </p:nvSpPr>
        <p:spPr>
          <a:xfrm>
            <a:off x="98473" y="4636390"/>
            <a:ext cx="2274269" cy="522672"/>
          </a:xfrm>
          <a:prstGeom prst="rect">
            <a:avLst/>
          </a:prstGeom>
          <a:solidFill>
            <a:schemeClr val="accent6">
              <a:lumMod val="50000"/>
            </a:schemeClr>
          </a:solidFill>
          <a:ln w="222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t>Latent structures</a:t>
            </a:r>
            <a:endParaRPr lang="en-IN" sz="1600" dirty="0"/>
          </a:p>
        </p:txBody>
      </p:sp>
      <p:sp>
        <p:nvSpPr>
          <p:cNvPr id="26" name="Rectangle 25"/>
          <p:cNvSpPr/>
          <p:nvPr/>
        </p:nvSpPr>
        <p:spPr>
          <a:xfrm>
            <a:off x="98473" y="5159062"/>
            <a:ext cx="2274269" cy="1489006"/>
          </a:xfrm>
          <a:prstGeom prst="rect">
            <a:avLst/>
          </a:prstGeom>
          <a:noFill/>
          <a:ln w="22225">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Rectangle 26"/>
          <p:cNvSpPr/>
          <p:nvPr/>
        </p:nvSpPr>
        <p:spPr>
          <a:xfrm>
            <a:off x="2536905" y="2249593"/>
            <a:ext cx="2289627" cy="522672"/>
          </a:xfrm>
          <a:prstGeom prst="rect">
            <a:avLst/>
          </a:prstGeom>
          <a:solidFill>
            <a:schemeClr val="accent6">
              <a:lumMod val="50000"/>
            </a:schemeClr>
          </a:solidFill>
          <a:ln w="222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t>High event rates</a:t>
            </a:r>
            <a:endParaRPr lang="en-IN" sz="1600" dirty="0"/>
          </a:p>
        </p:txBody>
      </p:sp>
      <p:sp>
        <p:nvSpPr>
          <p:cNvPr id="30" name="Rectangle 29"/>
          <p:cNvSpPr/>
          <p:nvPr/>
        </p:nvSpPr>
        <p:spPr>
          <a:xfrm>
            <a:off x="2547569" y="2782550"/>
            <a:ext cx="2278963" cy="1489006"/>
          </a:xfrm>
          <a:prstGeom prst="rect">
            <a:avLst/>
          </a:prstGeom>
          <a:noFill/>
          <a:ln w="22225">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Rectangle 30"/>
          <p:cNvSpPr/>
          <p:nvPr/>
        </p:nvSpPr>
        <p:spPr>
          <a:xfrm>
            <a:off x="2513661" y="4636390"/>
            <a:ext cx="2274269" cy="522672"/>
          </a:xfrm>
          <a:prstGeom prst="rect">
            <a:avLst/>
          </a:prstGeom>
          <a:solidFill>
            <a:schemeClr val="accent6">
              <a:lumMod val="50000"/>
            </a:schemeClr>
          </a:solidFill>
          <a:ln w="222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t>Action effects</a:t>
            </a:r>
            <a:endParaRPr lang="en-IN" sz="1600" dirty="0"/>
          </a:p>
        </p:txBody>
      </p:sp>
      <p:sp>
        <p:nvSpPr>
          <p:cNvPr id="32" name="Rectangle 31"/>
          <p:cNvSpPr/>
          <p:nvPr/>
        </p:nvSpPr>
        <p:spPr>
          <a:xfrm>
            <a:off x="2513661" y="5159062"/>
            <a:ext cx="2274269" cy="1489006"/>
          </a:xfrm>
          <a:prstGeom prst="rect">
            <a:avLst/>
          </a:prstGeom>
          <a:noFill/>
          <a:ln w="22225">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Rectangle 32"/>
          <p:cNvSpPr/>
          <p:nvPr/>
        </p:nvSpPr>
        <p:spPr>
          <a:xfrm>
            <a:off x="7378286" y="4631508"/>
            <a:ext cx="2274269" cy="522672"/>
          </a:xfrm>
          <a:prstGeom prst="rect">
            <a:avLst/>
          </a:prstGeom>
          <a:solidFill>
            <a:schemeClr val="accent6">
              <a:lumMod val="50000"/>
            </a:schemeClr>
          </a:solidFill>
          <a:ln w="222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t>Extraneous impact</a:t>
            </a:r>
            <a:endParaRPr lang="en-IN" sz="1600" dirty="0"/>
          </a:p>
        </p:txBody>
      </p:sp>
      <p:sp>
        <p:nvSpPr>
          <p:cNvPr id="36" name="Rectangle 35"/>
          <p:cNvSpPr/>
          <p:nvPr/>
        </p:nvSpPr>
        <p:spPr>
          <a:xfrm>
            <a:off x="7378286" y="5154180"/>
            <a:ext cx="2274269" cy="1489006"/>
          </a:xfrm>
          <a:prstGeom prst="rect">
            <a:avLst/>
          </a:prstGeom>
          <a:noFill/>
          <a:ln w="22225">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Rectangle 36"/>
          <p:cNvSpPr/>
          <p:nvPr/>
        </p:nvSpPr>
        <p:spPr>
          <a:xfrm>
            <a:off x="9739474" y="4625699"/>
            <a:ext cx="2274269" cy="522672"/>
          </a:xfrm>
          <a:prstGeom prst="rect">
            <a:avLst/>
          </a:prstGeom>
          <a:solidFill>
            <a:schemeClr val="accent6">
              <a:lumMod val="50000"/>
            </a:schemeClr>
          </a:solidFill>
          <a:ln w="222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t>Self learning &amp; adaptation</a:t>
            </a:r>
            <a:endParaRPr lang="en-IN" sz="1600" dirty="0"/>
          </a:p>
        </p:txBody>
      </p:sp>
      <p:sp>
        <p:nvSpPr>
          <p:cNvPr id="38" name="Rectangle 37"/>
          <p:cNvSpPr/>
          <p:nvPr/>
        </p:nvSpPr>
        <p:spPr>
          <a:xfrm>
            <a:off x="9739474" y="5148371"/>
            <a:ext cx="2274269" cy="1489006"/>
          </a:xfrm>
          <a:prstGeom prst="rect">
            <a:avLst/>
          </a:prstGeom>
          <a:noFill/>
          <a:ln w="22225">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p:cNvSpPr txBox="1"/>
          <p:nvPr/>
        </p:nvSpPr>
        <p:spPr>
          <a:xfrm>
            <a:off x="138450" y="2787729"/>
            <a:ext cx="2169473" cy="1600438"/>
          </a:xfrm>
          <a:prstGeom prst="rect">
            <a:avLst/>
          </a:prstGeom>
          <a:noFill/>
        </p:spPr>
        <p:txBody>
          <a:bodyPr wrap="square" rtlCol="0">
            <a:spAutoFit/>
          </a:bodyPr>
          <a:lstStyle/>
          <a:p>
            <a:r>
              <a:rPr lang="en-IN" sz="1400" dirty="0" smtClean="0"/>
              <a:t>Common in cases of fraud, catastrophe, crimes etc.</a:t>
            </a:r>
            <a:endParaRPr lang="en-IN" sz="1400" dirty="0"/>
          </a:p>
          <a:p>
            <a:endParaRPr lang="en-IN" sz="1400" dirty="0" smtClean="0"/>
          </a:p>
          <a:p>
            <a:r>
              <a:rPr lang="en-IN" sz="1400" dirty="0" smtClean="0"/>
              <a:t>Bootstrapping, sampling, naive Bayes, anomaly detection etc.</a:t>
            </a:r>
          </a:p>
          <a:p>
            <a:pPr marL="285750" indent="-285750">
              <a:buFont typeface="Arial" panose="020B0604020202020204" pitchFamily="34" charset="0"/>
              <a:buChar char="•"/>
            </a:pPr>
            <a:endParaRPr lang="en-IN" sz="1400" dirty="0"/>
          </a:p>
        </p:txBody>
      </p:sp>
      <p:sp>
        <p:nvSpPr>
          <p:cNvPr id="42" name="TextBox 41"/>
          <p:cNvSpPr txBox="1"/>
          <p:nvPr/>
        </p:nvSpPr>
        <p:spPr>
          <a:xfrm>
            <a:off x="2527902" y="2785617"/>
            <a:ext cx="2169473" cy="1384995"/>
          </a:xfrm>
          <a:prstGeom prst="rect">
            <a:avLst/>
          </a:prstGeom>
          <a:noFill/>
        </p:spPr>
        <p:txBody>
          <a:bodyPr wrap="square" rtlCol="0">
            <a:spAutoFit/>
          </a:bodyPr>
          <a:lstStyle/>
          <a:p>
            <a:r>
              <a:rPr lang="en-IN" sz="1400" dirty="0" smtClean="0"/>
              <a:t>Difficulty in separating out events </a:t>
            </a:r>
          </a:p>
          <a:p>
            <a:endParaRPr lang="en-IN" sz="1400" dirty="0"/>
          </a:p>
          <a:p>
            <a:r>
              <a:rPr lang="en-IN" sz="1400" dirty="0" smtClean="0"/>
              <a:t>Separation on both ends of the spectrum which is difficult</a:t>
            </a:r>
            <a:endParaRPr lang="en-IN" sz="1400" dirty="0"/>
          </a:p>
        </p:txBody>
      </p:sp>
      <p:sp>
        <p:nvSpPr>
          <p:cNvPr id="43" name="TextBox 42"/>
          <p:cNvSpPr txBox="1"/>
          <p:nvPr/>
        </p:nvSpPr>
        <p:spPr>
          <a:xfrm>
            <a:off x="4963411" y="2813752"/>
            <a:ext cx="2169473" cy="1384995"/>
          </a:xfrm>
          <a:prstGeom prst="rect">
            <a:avLst/>
          </a:prstGeom>
          <a:noFill/>
        </p:spPr>
        <p:txBody>
          <a:bodyPr wrap="square" rtlCol="0">
            <a:spAutoFit/>
          </a:bodyPr>
          <a:lstStyle/>
          <a:p>
            <a:r>
              <a:rPr lang="en-IN" sz="1400" dirty="0" smtClean="0"/>
              <a:t>Differential minimization of error is always a challenge</a:t>
            </a:r>
          </a:p>
          <a:p>
            <a:endParaRPr lang="en-IN" sz="1400" dirty="0"/>
          </a:p>
          <a:p>
            <a:r>
              <a:rPr lang="en-IN" sz="1400" dirty="0" smtClean="0"/>
              <a:t>Meta cost based classification techniques are often less effective</a:t>
            </a:r>
            <a:endParaRPr lang="en-IN" sz="1400" dirty="0"/>
          </a:p>
        </p:txBody>
      </p:sp>
      <p:sp>
        <p:nvSpPr>
          <p:cNvPr id="44" name="TextBox 43"/>
          <p:cNvSpPr txBox="1"/>
          <p:nvPr/>
        </p:nvSpPr>
        <p:spPr>
          <a:xfrm>
            <a:off x="7402968" y="2921776"/>
            <a:ext cx="2249587" cy="1169551"/>
          </a:xfrm>
          <a:prstGeom prst="rect">
            <a:avLst/>
          </a:prstGeom>
          <a:noFill/>
        </p:spPr>
        <p:txBody>
          <a:bodyPr wrap="square" rtlCol="0">
            <a:spAutoFit/>
          </a:bodyPr>
          <a:lstStyle/>
          <a:p>
            <a:r>
              <a:rPr lang="en-IN" sz="1400" dirty="0" smtClean="0"/>
              <a:t>Lack of observations &amp; truncation of available data</a:t>
            </a:r>
          </a:p>
          <a:p>
            <a:endParaRPr lang="en-IN" sz="1400" dirty="0"/>
          </a:p>
          <a:p>
            <a:r>
              <a:rPr lang="en-IN" sz="1400" dirty="0" err="1" smtClean="0"/>
              <a:t>Heckmann</a:t>
            </a:r>
            <a:r>
              <a:rPr lang="en-IN" sz="1400" dirty="0" smtClean="0"/>
              <a:t> correction provides the basic principle</a:t>
            </a:r>
            <a:endParaRPr lang="en-IN" sz="1400" dirty="0"/>
          </a:p>
        </p:txBody>
      </p:sp>
      <p:sp>
        <p:nvSpPr>
          <p:cNvPr id="45" name="TextBox 44"/>
          <p:cNvSpPr txBox="1"/>
          <p:nvPr/>
        </p:nvSpPr>
        <p:spPr>
          <a:xfrm>
            <a:off x="9810486" y="2844739"/>
            <a:ext cx="2249587" cy="1384995"/>
          </a:xfrm>
          <a:prstGeom prst="rect">
            <a:avLst/>
          </a:prstGeom>
          <a:noFill/>
        </p:spPr>
        <p:txBody>
          <a:bodyPr wrap="square" rtlCol="0">
            <a:spAutoFit/>
          </a:bodyPr>
          <a:lstStyle/>
          <a:p>
            <a:r>
              <a:rPr lang="en-IN" sz="1400" dirty="0" smtClean="0"/>
              <a:t>Sparse data – that can be augmented</a:t>
            </a:r>
          </a:p>
          <a:p>
            <a:endParaRPr lang="en-IN" sz="1400" dirty="0"/>
          </a:p>
          <a:p>
            <a:r>
              <a:rPr lang="en-IN" sz="1400" dirty="0" smtClean="0"/>
              <a:t>Cold start</a:t>
            </a:r>
          </a:p>
          <a:p>
            <a:endParaRPr lang="en-IN" sz="1400" dirty="0"/>
          </a:p>
          <a:p>
            <a:r>
              <a:rPr lang="en-IN" sz="1400" dirty="0" smtClean="0"/>
              <a:t>Missing values</a:t>
            </a:r>
            <a:endParaRPr lang="en-IN" sz="1400" dirty="0"/>
          </a:p>
        </p:txBody>
      </p:sp>
      <p:sp>
        <p:nvSpPr>
          <p:cNvPr id="46" name="TextBox 45"/>
          <p:cNvSpPr txBox="1"/>
          <p:nvPr/>
        </p:nvSpPr>
        <p:spPr>
          <a:xfrm>
            <a:off x="166614" y="5252382"/>
            <a:ext cx="2249587" cy="1384995"/>
          </a:xfrm>
          <a:prstGeom prst="rect">
            <a:avLst/>
          </a:prstGeom>
          <a:noFill/>
        </p:spPr>
        <p:txBody>
          <a:bodyPr wrap="square" rtlCol="0">
            <a:spAutoFit/>
          </a:bodyPr>
          <a:lstStyle/>
          <a:p>
            <a:r>
              <a:rPr lang="en-IN" sz="1400" dirty="0" smtClean="0"/>
              <a:t>Latent hierarchies which may need to be uncovered along with classification</a:t>
            </a:r>
          </a:p>
          <a:p>
            <a:endParaRPr lang="en-IN" sz="1400" dirty="0"/>
          </a:p>
          <a:p>
            <a:r>
              <a:rPr lang="en-IN" sz="1400" dirty="0" smtClean="0"/>
              <a:t>PCA, SEM stage-wise models</a:t>
            </a:r>
            <a:endParaRPr lang="en-IN" sz="1400" dirty="0"/>
          </a:p>
        </p:txBody>
      </p:sp>
      <p:sp>
        <p:nvSpPr>
          <p:cNvPr id="47" name="TextBox 46"/>
          <p:cNvSpPr txBox="1"/>
          <p:nvPr/>
        </p:nvSpPr>
        <p:spPr>
          <a:xfrm>
            <a:off x="2576865" y="5252382"/>
            <a:ext cx="2249587" cy="1384995"/>
          </a:xfrm>
          <a:prstGeom prst="rect">
            <a:avLst/>
          </a:prstGeom>
          <a:noFill/>
        </p:spPr>
        <p:txBody>
          <a:bodyPr wrap="square" rtlCol="0">
            <a:spAutoFit/>
          </a:bodyPr>
          <a:lstStyle/>
          <a:p>
            <a:r>
              <a:rPr lang="en-IN" sz="1400" dirty="0" smtClean="0"/>
              <a:t>Actions and past treatments may cause an impact which is hard to measure</a:t>
            </a:r>
          </a:p>
          <a:p>
            <a:endParaRPr lang="en-IN" sz="1400" dirty="0"/>
          </a:p>
          <a:p>
            <a:r>
              <a:rPr lang="en-IN" sz="1400" dirty="0" smtClean="0"/>
              <a:t>Future action space may be unknown – simulation?</a:t>
            </a:r>
            <a:endParaRPr lang="en-IN" sz="1400" dirty="0"/>
          </a:p>
        </p:txBody>
      </p:sp>
      <p:sp>
        <p:nvSpPr>
          <p:cNvPr id="48" name="TextBox 47"/>
          <p:cNvSpPr txBox="1"/>
          <p:nvPr/>
        </p:nvSpPr>
        <p:spPr>
          <a:xfrm>
            <a:off x="4987115" y="5308098"/>
            <a:ext cx="2145769" cy="738664"/>
          </a:xfrm>
          <a:prstGeom prst="rect">
            <a:avLst/>
          </a:prstGeom>
          <a:noFill/>
        </p:spPr>
        <p:txBody>
          <a:bodyPr wrap="square" rtlCol="0">
            <a:spAutoFit/>
          </a:bodyPr>
          <a:lstStyle/>
          <a:p>
            <a:r>
              <a:rPr lang="en-IN" sz="1400" dirty="0" smtClean="0"/>
              <a:t>Most of classification may involve uncovering hidden interactions. </a:t>
            </a:r>
            <a:endParaRPr lang="en-IN" sz="1400" dirty="0"/>
          </a:p>
        </p:txBody>
      </p:sp>
      <p:sp>
        <p:nvSpPr>
          <p:cNvPr id="49" name="TextBox 48"/>
          <p:cNvSpPr txBox="1"/>
          <p:nvPr/>
        </p:nvSpPr>
        <p:spPr>
          <a:xfrm>
            <a:off x="7372684" y="5308098"/>
            <a:ext cx="2249587" cy="954107"/>
          </a:xfrm>
          <a:prstGeom prst="rect">
            <a:avLst/>
          </a:prstGeom>
          <a:noFill/>
        </p:spPr>
        <p:txBody>
          <a:bodyPr wrap="square" rtlCol="0">
            <a:spAutoFit/>
          </a:bodyPr>
          <a:lstStyle/>
          <a:p>
            <a:r>
              <a:rPr lang="en-IN" sz="1400" dirty="0" smtClean="0"/>
              <a:t>Extraneous factors like economy, competition etc. may have an impact which is difficult to filter out </a:t>
            </a:r>
            <a:endParaRPr lang="en-IN" sz="1400" dirty="0"/>
          </a:p>
        </p:txBody>
      </p:sp>
      <p:sp>
        <p:nvSpPr>
          <p:cNvPr id="50" name="TextBox 49"/>
          <p:cNvSpPr txBox="1"/>
          <p:nvPr/>
        </p:nvSpPr>
        <p:spPr>
          <a:xfrm>
            <a:off x="9764156" y="5308098"/>
            <a:ext cx="2249587" cy="954107"/>
          </a:xfrm>
          <a:prstGeom prst="rect">
            <a:avLst/>
          </a:prstGeom>
          <a:noFill/>
        </p:spPr>
        <p:txBody>
          <a:bodyPr wrap="square" rtlCol="0">
            <a:spAutoFit/>
          </a:bodyPr>
          <a:lstStyle/>
          <a:p>
            <a:r>
              <a:rPr lang="en-IN" sz="1400" dirty="0" smtClean="0"/>
              <a:t>Today the advent of digital and </a:t>
            </a:r>
            <a:r>
              <a:rPr lang="en-IN" sz="1400" dirty="0" err="1" smtClean="0"/>
              <a:t>IoT</a:t>
            </a:r>
            <a:r>
              <a:rPr lang="en-IN" sz="1400" dirty="0" smtClean="0"/>
              <a:t> are forcing us to adopt self learning or adaptive structures</a:t>
            </a:r>
            <a:endParaRPr lang="en-IN" sz="1400" dirty="0"/>
          </a:p>
        </p:txBody>
      </p:sp>
    </p:spTree>
    <p:extLst>
      <p:ext uri="{BB962C8B-B14F-4D97-AF65-F5344CB8AC3E}">
        <p14:creationId xmlns:p14="http://schemas.microsoft.com/office/powerpoint/2010/main" val="187538058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normAutofit/>
          </a:bodyPr>
          <a:lstStyle/>
          <a:p>
            <a:pPr algn="ctr"/>
            <a:r>
              <a:rPr lang="en-IN" sz="3600" b="1" i="1" dirty="0" smtClean="0"/>
              <a:t>The right tool for the right problem – a few learnings from the field</a:t>
            </a:r>
            <a:endParaRPr lang="en-IN" sz="3600" b="1" i="1" dirty="0"/>
          </a:p>
        </p:txBody>
      </p:sp>
      <p:sp>
        <p:nvSpPr>
          <p:cNvPr id="4" name="Rectangle 3"/>
          <p:cNvSpPr/>
          <p:nvPr/>
        </p:nvSpPr>
        <p:spPr>
          <a:xfrm>
            <a:off x="0" y="1139483"/>
            <a:ext cx="12192000" cy="1828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p:cNvSpPr/>
          <p:nvPr/>
        </p:nvSpPr>
        <p:spPr>
          <a:xfrm>
            <a:off x="0" y="1322363"/>
            <a:ext cx="12192000" cy="759657"/>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A few use cases and the appropriate unsupervised classification technique that can help </a:t>
            </a:r>
            <a:endParaRPr lang="en-IN" dirty="0"/>
          </a:p>
        </p:txBody>
      </p:sp>
      <p:sp>
        <p:nvSpPr>
          <p:cNvPr id="3" name="Rectangle 2"/>
          <p:cNvSpPr/>
          <p:nvPr/>
        </p:nvSpPr>
        <p:spPr>
          <a:xfrm>
            <a:off x="126608" y="2307102"/>
            <a:ext cx="3235569" cy="1167618"/>
          </a:xfrm>
          <a:prstGeom prst="rect">
            <a:avLst/>
          </a:prstGeom>
          <a:noFill/>
          <a:ln>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IN" dirty="0" smtClean="0">
                <a:solidFill>
                  <a:schemeClr val="tx1">
                    <a:lumMod val="95000"/>
                    <a:lumOff val="5000"/>
                  </a:schemeClr>
                </a:solidFill>
              </a:rPr>
              <a:t>Segmentation – customer, supplier markets</a:t>
            </a:r>
            <a:endParaRPr lang="en-IN" dirty="0">
              <a:solidFill>
                <a:schemeClr val="tx1">
                  <a:lumMod val="95000"/>
                  <a:lumOff val="5000"/>
                </a:schemeClr>
              </a:solidFill>
            </a:endParaRPr>
          </a:p>
        </p:txBody>
      </p:sp>
      <p:sp>
        <p:nvSpPr>
          <p:cNvPr id="21" name="Rectangle 20"/>
          <p:cNvSpPr/>
          <p:nvPr/>
        </p:nvSpPr>
        <p:spPr>
          <a:xfrm>
            <a:off x="126608" y="3699802"/>
            <a:ext cx="3235569" cy="1167618"/>
          </a:xfrm>
          <a:prstGeom prst="rect">
            <a:avLst/>
          </a:prstGeom>
          <a:noFill/>
          <a:ln>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IN" dirty="0" smtClean="0">
                <a:solidFill>
                  <a:schemeClr val="tx1">
                    <a:lumMod val="95000"/>
                    <a:lumOff val="5000"/>
                  </a:schemeClr>
                </a:solidFill>
              </a:rPr>
              <a:t>Recommender Systems </a:t>
            </a:r>
          </a:p>
          <a:p>
            <a:pPr marL="285750" indent="-285750">
              <a:buFont typeface="Arial" panose="020B0604020202020204" pitchFamily="34" charset="0"/>
              <a:buChar char="•"/>
            </a:pPr>
            <a:r>
              <a:rPr lang="en-IN" dirty="0" smtClean="0">
                <a:solidFill>
                  <a:schemeClr val="tx1">
                    <a:lumMod val="95000"/>
                    <a:lumOff val="5000"/>
                  </a:schemeClr>
                </a:solidFill>
              </a:rPr>
              <a:t>Text Classification</a:t>
            </a:r>
          </a:p>
          <a:p>
            <a:pPr marL="285750" indent="-285750">
              <a:buFont typeface="Arial" panose="020B0604020202020204" pitchFamily="34" charset="0"/>
              <a:buChar char="•"/>
            </a:pPr>
            <a:r>
              <a:rPr lang="en-IN" dirty="0" smtClean="0">
                <a:solidFill>
                  <a:schemeClr val="tx1">
                    <a:lumMod val="95000"/>
                    <a:lumOff val="5000"/>
                  </a:schemeClr>
                </a:solidFill>
              </a:rPr>
              <a:t>Perceptual Maps</a:t>
            </a:r>
            <a:endParaRPr lang="en-IN" dirty="0">
              <a:solidFill>
                <a:schemeClr val="tx1">
                  <a:lumMod val="95000"/>
                  <a:lumOff val="5000"/>
                </a:schemeClr>
              </a:solidFill>
            </a:endParaRPr>
          </a:p>
        </p:txBody>
      </p:sp>
      <p:sp>
        <p:nvSpPr>
          <p:cNvPr id="22" name="Rectangle 21"/>
          <p:cNvSpPr/>
          <p:nvPr/>
        </p:nvSpPr>
        <p:spPr>
          <a:xfrm>
            <a:off x="126608" y="5202699"/>
            <a:ext cx="3235569" cy="1535725"/>
          </a:xfrm>
          <a:prstGeom prst="rect">
            <a:avLst/>
          </a:prstGeom>
          <a:noFill/>
          <a:ln>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IN" dirty="0" smtClean="0">
                <a:solidFill>
                  <a:schemeClr val="tx1">
                    <a:lumMod val="95000"/>
                    <a:lumOff val="5000"/>
                  </a:schemeClr>
                </a:solidFill>
              </a:rPr>
              <a:t>Insurance claims fraud</a:t>
            </a:r>
          </a:p>
          <a:p>
            <a:pPr marL="285750" indent="-285750">
              <a:buFont typeface="Arial" panose="020B0604020202020204" pitchFamily="34" charset="0"/>
              <a:buChar char="•"/>
            </a:pPr>
            <a:r>
              <a:rPr lang="en-IN" dirty="0" smtClean="0">
                <a:solidFill>
                  <a:schemeClr val="tx1">
                    <a:lumMod val="95000"/>
                    <a:lumOff val="5000"/>
                  </a:schemeClr>
                </a:solidFill>
              </a:rPr>
              <a:t>Equipment failure &amp; anomaly detection</a:t>
            </a:r>
          </a:p>
          <a:p>
            <a:pPr marL="285750" indent="-285750">
              <a:buFont typeface="Arial" panose="020B0604020202020204" pitchFamily="34" charset="0"/>
              <a:buChar char="•"/>
            </a:pPr>
            <a:r>
              <a:rPr lang="en-IN" dirty="0" smtClean="0">
                <a:solidFill>
                  <a:schemeClr val="tx1">
                    <a:lumMod val="95000"/>
                    <a:lumOff val="5000"/>
                  </a:schemeClr>
                </a:solidFill>
              </a:rPr>
              <a:t>Sudden medical emergency detection</a:t>
            </a:r>
            <a:endParaRPr lang="en-IN" dirty="0">
              <a:solidFill>
                <a:schemeClr val="tx1">
                  <a:lumMod val="95000"/>
                  <a:lumOff val="5000"/>
                </a:schemeClr>
              </a:solidFill>
            </a:endParaRPr>
          </a:p>
        </p:txBody>
      </p:sp>
      <p:sp>
        <p:nvSpPr>
          <p:cNvPr id="5" name="Isosceles Triangle 4"/>
          <p:cNvSpPr/>
          <p:nvPr/>
        </p:nvSpPr>
        <p:spPr>
          <a:xfrm rot="5400000">
            <a:off x="3207433" y="2651760"/>
            <a:ext cx="1167618" cy="478303"/>
          </a:xfrm>
          <a:prstGeom prst="triangle">
            <a:avLst>
              <a:gd name="adj" fmla="val 5241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Isosceles Triangle 23"/>
          <p:cNvSpPr/>
          <p:nvPr/>
        </p:nvSpPr>
        <p:spPr>
          <a:xfrm rot="5400000">
            <a:off x="3207433" y="4050321"/>
            <a:ext cx="1167618" cy="478303"/>
          </a:xfrm>
          <a:prstGeom prst="triangle">
            <a:avLst>
              <a:gd name="adj" fmla="val 5241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Isosceles Triangle 24"/>
          <p:cNvSpPr/>
          <p:nvPr/>
        </p:nvSpPr>
        <p:spPr>
          <a:xfrm rot="5400000">
            <a:off x="3023378" y="5731411"/>
            <a:ext cx="1535726" cy="478303"/>
          </a:xfrm>
          <a:prstGeom prst="triangle">
            <a:avLst>
              <a:gd name="adj" fmla="val 5241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25"/>
          <p:cNvSpPr/>
          <p:nvPr/>
        </p:nvSpPr>
        <p:spPr>
          <a:xfrm>
            <a:off x="4220307" y="2307102"/>
            <a:ext cx="7652825" cy="1167618"/>
          </a:xfrm>
          <a:prstGeom prst="rect">
            <a:avLst/>
          </a:prstGeom>
          <a:noFill/>
          <a:ln>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IN" sz="1400" dirty="0" smtClean="0">
                <a:solidFill>
                  <a:schemeClr val="tx1">
                    <a:lumMod val="95000"/>
                    <a:lumOff val="5000"/>
                  </a:schemeClr>
                </a:solidFill>
              </a:rPr>
              <a:t>Clustering algorithms using Euclidian or </a:t>
            </a:r>
            <a:r>
              <a:rPr lang="en-IN" sz="1400" dirty="0" err="1" smtClean="0">
                <a:solidFill>
                  <a:schemeClr val="tx1">
                    <a:lumMod val="95000"/>
                    <a:lumOff val="5000"/>
                  </a:schemeClr>
                </a:solidFill>
              </a:rPr>
              <a:t>Mahalanobis</a:t>
            </a:r>
            <a:r>
              <a:rPr lang="en-IN" sz="1400" dirty="0" smtClean="0">
                <a:solidFill>
                  <a:schemeClr val="tx1">
                    <a:lumMod val="95000"/>
                    <a:lumOff val="5000"/>
                  </a:schemeClr>
                </a:solidFill>
              </a:rPr>
              <a:t> distance</a:t>
            </a:r>
          </a:p>
          <a:p>
            <a:pPr marL="285750" indent="-285750">
              <a:buFont typeface="Arial" panose="020B0604020202020204" pitchFamily="34" charset="0"/>
              <a:buChar char="•"/>
            </a:pPr>
            <a:r>
              <a:rPr lang="en-IN" sz="1400" dirty="0" smtClean="0">
                <a:solidFill>
                  <a:schemeClr val="tx1">
                    <a:lumMod val="95000"/>
                    <a:lumOff val="5000"/>
                  </a:schemeClr>
                </a:solidFill>
              </a:rPr>
              <a:t>Expectation maximization for categorical variables</a:t>
            </a:r>
          </a:p>
          <a:p>
            <a:pPr marL="285750" indent="-285750">
              <a:buFont typeface="Arial" panose="020B0604020202020204" pitchFamily="34" charset="0"/>
              <a:buChar char="•"/>
            </a:pPr>
            <a:r>
              <a:rPr lang="en-IN" sz="1400" dirty="0" smtClean="0">
                <a:solidFill>
                  <a:schemeClr val="tx1">
                    <a:lumMod val="95000"/>
                    <a:lumOff val="5000"/>
                  </a:schemeClr>
                </a:solidFill>
              </a:rPr>
              <a:t>Principal Component based approach to create orthogonal dimensions</a:t>
            </a:r>
          </a:p>
          <a:p>
            <a:pPr marL="285750" indent="-285750">
              <a:buFont typeface="Arial" panose="020B0604020202020204" pitchFamily="34" charset="0"/>
              <a:buChar char="•"/>
            </a:pPr>
            <a:r>
              <a:rPr lang="en-IN" sz="1400" dirty="0" smtClean="0">
                <a:solidFill>
                  <a:schemeClr val="tx1">
                    <a:lumMod val="95000"/>
                    <a:lumOff val="5000"/>
                  </a:schemeClr>
                </a:solidFill>
              </a:rPr>
              <a:t>Use predictive models as inputs for clustering</a:t>
            </a:r>
          </a:p>
          <a:p>
            <a:pPr marL="285750" indent="-285750">
              <a:buFont typeface="Arial" panose="020B0604020202020204" pitchFamily="34" charset="0"/>
              <a:buChar char="•"/>
            </a:pPr>
            <a:r>
              <a:rPr lang="en-IN" sz="1400" dirty="0" smtClean="0">
                <a:solidFill>
                  <a:schemeClr val="tx1">
                    <a:lumMod val="95000"/>
                    <a:lumOff val="5000"/>
                  </a:schemeClr>
                </a:solidFill>
              </a:rPr>
              <a:t>Use a an objective function as an overlay or relevance driver</a:t>
            </a:r>
            <a:endParaRPr lang="en-IN" sz="1400" dirty="0">
              <a:solidFill>
                <a:schemeClr val="tx1">
                  <a:lumMod val="95000"/>
                  <a:lumOff val="5000"/>
                </a:schemeClr>
              </a:solidFill>
            </a:endParaRPr>
          </a:p>
        </p:txBody>
      </p:sp>
      <p:sp>
        <p:nvSpPr>
          <p:cNvPr id="27" name="Rectangle 26"/>
          <p:cNvSpPr/>
          <p:nvPr/>
        </p:nvSpPr>
        <p:spPr>
          <a:xfrm>
            <a:off x="4220307" y="3770139"/>
            <a:ext cx="7652825" cy="1167618"/>
          </a:xfrm>
          <a:prstGeom prst="rect">
            <a:avLst/>
          </a:prstGeom>
          <a:noFill/>
          <a:ln>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IN" sz="1400" dirty="0" smtClean="0">
                <a:solidFill>
                  <a:schemeClr val="tx1">
                    <a:lumMod val="95000"/>
                    <a:lumOff val="5000"/>
                  </a:schemeClr>
                </a:solidFill>
              </a:rPr>
              <a:t>Use of similarity measures </a:t>
            </a:r>
          </a:p>
          <a:p>
            <a:pPr marL="285750" indent="-285750">
              <a:buFont typeface="Arial" panose="020B0604020202020204" pitchFamily="34" charset="0"/>
              <a:buChar char="•"/>
            </a:pPr>
            <a:r>
              <a:rPr lang="en-IN" sz="1400" dirty="0" smtClean="0">
                <a:solidFill>
                  <a:schemeClr val="tx1">
                    <a:lumMod val="95000"/>
                    <a:lumOff val="5000"/>
                  </a:schemeClr>
                </a:solidFill>
              </a:rPr>
              <a:t>Cold start and Sparse matrix is a common challenge – use implicit ratings </a:t>
            </a:r>
          </a:p>
          <a:p>
            <a:pPr marL="285750" indent="-285750">
              <a:buFont typeface="Arial" panose="020B0604020202020204" pitchFamily="34" charset="0"/>
              <a:buChar char="•"/>
            </a:pPr>
            <a:r>
              <a:rPr lang="en-IN" sz="1400" dirty="0" smtClean="0">
                <a:solidFill>
                  <a:schemeClr val="tx1">
                    <a:lumMod val="95000"/>
                    <a:lumOff val="5000"/>
                  </a:schemeClr>
                </a:solidFill>
              </a:rPr>
              <a:t>Initial clustering for identifying broad groups prior to similarity calculation </a:t>
            </a:r>
            <a:endParaRPr lang="en-IN" sz="1400" dirty="0">
              <a:solidFill>
                <a:schemeClr val="tx1">
                  <a:lumMod val="95000"/>
                  <a:lumOff val="5000"/>
                </a:schemeClr>
              </a:solidFill>
            </a:endParaRPr>
          </a:p>
        </p:txBody>
      </p:sp>
      <p:sp>
        <p:nvSpPr>
          <p:cNvPr id="28" name="Rectangle 27"/>
          <p:cNvSpPr/>
          <p:nvPr/>
        </p:nvSpPr>
        <p:spPr>
          <a:xfrm>
            <a:off x="4220307" y="5386752"/>
            <a:ext cx="7652825" cy="1167618"/>
          </a:xfrm>
          <a:prstGeom prst="rect">
            <a:avLst/>
          </a:prstGeom>
          <a:noFill/>
          <a:ln>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IN" sz="1400" dirty="0" smtClean="0">
                <a:solidFill>
                  <a:schemeClr val="tx1">
                    <a:lumMod val="95000"/>
                    <a:lumOff val="5000"/>
                  </a:schemeClr>
                </a:solidFill>
              </a:rPr>
              <a:t>Outlier detection in cross section and time series data</a:t>
            </a:r>
          </a:p>
          <a:p>
            <a:pPr marL="285750" indent="-285750">
              <a:buFont typeface="Arial" panose="020B0604020202020204" pitchFamily="34" charset="0"/>
              <a:buChar char="•"/>
            </a:pPr>
            <a:r>
              <a:rPr lang="en-IN" sz="1400" dirty="0" err="1" smtClean="0">
                <a:solidFill>
                  <a:schemeClr val="tx1">
                    <a:lumMod val="95000"/>
                    <a:lumOff val="5000"/>
                  </a:schemeClr>
                </a:solidFill>
              </a:rPr>
              <a:t>Kalman</a:t>
            </a:r>
            <a:r>
              <a:rPr lang="en-IN" sz="1400" dirty="0" smtClean="0">
                <a:solidFill>
                  <a:schemeClr val="tx1">
                    <a:lumMod val="95000"/>
                    <a:lumOff val="5000"/>
                  </a:schemeClr>
                </a:solidFill>
              </a:rPr>
              <a:t> filter is a common technique that is used</a:t>
            </a:r>
            <a:endParaRPr lang="en-IN" sz="1400" dirty="0">
              <a:solidFill>
                <a:schemeClr val="tx1">
                  <a:lumMod val="95000"/>
                  <a:lumOff val="5000"/>
                </a:schemeClr>
              </a:solidFill>
            </a:endParaRPr>
          </a:p>
        </p:txBody>
      </p:sp>
    </p:spTree>
    <p:extLst>
      <p:ext uri="{BB962C8B-B14F-4D97-AF65-F5344CB8AC3E}">
        <p14:creationId xmlns:p14="http://schemas.microsoft.com/office/powerpoint/2010/main" val="337479884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normAutofit/>
          </a:bodyPr>
          <a:lstStyle/>
          <a:p>
            <a:pPr algn="ctr"/>
            <a:r>
              <a:rPr lang="en-IN" sz="3600" b="1" i="1" dirty="0" smtClean="0"/>
              <a:t>The right tool for the right problem – a few learnings from the field</a:t>
            </a:r>
            <a:endParaRPr lang="en-IN" sz="3600" b="1" i="1" dirty="0"/>
          </a:p>
        </p:txBody>
      </p:sp>
      <p:sp>
        <p:nvSpPr>
          <p:cNvPr id="4" name="Rectangle 3"/>
          <p:cNvSpPr/>
          <p:nvPr/>
        </p:nvSpPr>
        <p:spPr>
          <a:xfrm>
            <a:off x="0" y="1139483"/>
            <a:ext cx="12192000" cy="1828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p:cNvSpPr/>
          <p:nvPr/>
        </p:nvSpPr>
        <p:spPr>
          <a:xfrm>
            <a:off x="0" y="1322363"/>
            <a:ext cx="12192000" cy="759657"/>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A few use cases and the appropriate supervised classification technique that can help </a:t>
            </a:r>
            <a:endParaRPr lang="en-IN" dirty="0"/>
          </a:p>
        </p:txBody>
      </p:sp>
      <p:sp>
        <p:nvSpPr>
          <p:cNvPr id="3" name="Rectangle 2"/>
          <p:cNvSpPr/>
          <p:nvPr/>
        </p:nvSpPr>
        <p:spPr>
          <a:xfrm>
            <a:off x="126608" y="2307101"/>
            <a:ext cx="3235569" cy="1308295"/>
          </a:xfrm>
          <a:prstGeom prst="rect">
            <a:avLst/>
          </a:prstGeom>
          <a:noFill/>
          <a:ln>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IN" dirty="0" smtClean="0">
                <a:solidFill>
                  <a:schemeClr val="tx1">
                    <a:lumMod val="95000"/>
                    <a:lumOff val="5000"/>
                  </a:schemeClr>
                </a:solidFill>
              </a:rPr>
              <a:t>Response models</a:t>
            </a:r>
          </a:p>
          <a:p>
            <a:pPr marL="285750" indent="-285750">
              <a:buFont typeface="Arial" panose="020B0604020202020204" pitchFamily="34" charset="0"/>
              <a:buChar char="•"/>
            </a:pPr>
            <a:r>
              <a:rPr lang="en-IN" dirty="0" smtClean="0">
                <a:solidFill>
                  <a:schemeClr val="tx1">
                    <a:lumMod val="95000"/>
                    <a:lumOff val="5000"/>
                  </a:schemeClr>
                </a:solidFill>
              </a:rPr>
              <a:t>Credit risk models</a:t>
            </a:r>
          </a:p>
          <a:p>
            <a:pPr marL="285750" indent="-285750">
              <a:buFont typeface="Arial" panose="020B0604020202020204" pitchFamily="34" charset="0"/>
              <a:buChar char="•"/>
            </a:pPr>
            <a:r>
              <a:rPr lang="en-IN" dirty="0" smtClean="0">
                <a:solidFill>
                  <a:schemeClr val="tx1">
                    <a:lumMod val="95000"/>
                    <a:lumOff val="5000"/>
                  </a:schemeClr>
                </a:solidFill>
              </a:rPr>
              <a:t>Collection models</a:t>
            </a:r>
          </a:p>
        </p:txBody>
      </p:sp>
      <p:sp>
        <p:nvSpPr>
          <p:cNvPr id="21" name="Rectangle 20"/>
          <p:cNvSpPr/>
          <p:nvPr/>
        </p:nvSpPr>
        <p:spPr>
          <a:xfrm>
            <a:off x="126607" y="3770138"/>
            <a:ext cx="3235569" cy="1603718"/>
          </a:xfrm>
          <a:prstGeom prst="rect">
            <a:avLst/>
          </a:prstGeom>
          <a:noFill/>
          <a:ln>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IN" dirty="0" smtClean="0">
                <a:solidFill>
                  <a:schemeClr val="tx1">
                    <a:lumMod val="95000"/>
                    <a:lumOff val="5000"/>
                  </a:schemeClr>
                </a:solidFill>
              </a:rPr>
              <a:t>Telematics</a:t>
            </a:r>
          </a:p>
          <a:p>
            <a:pPr marL="285750" indent="-285750">
              <a:buFont typeface="Arial" panose="020B0604020202020204" pitchFamily="34" charset="0"/>
              <a:buChar char="•"/>
            </a:pPr>
            <a:r>
              <a:rPr lang="en-IN" dirty="0" err="1" smtClean="0">
                <a:solidFill>
                  <a:schemeClr val="tx1">
                    <a:lumMod val="95000"/>
                    <a:lumOff val="5000"/>
                  </a:schemeClr>
                </a:solidFill>
              </a:rPr>
              <a:t>IoT</a:t>
            </a:r>
            <a:r>
              <a:rPr lang="en-IN" dirty="0" smtClean="0">
                <a:solidFill>
                  <a:schemeClr val="tx1">
                    <a:lumMod val="95000"/>
                    <a:lumOff val="5000"/>
                  </a:schemeClr>
                </a:solidFill>
              </a:rPr>
              <a:t> based predictions</a:t>
            </a:r>
          </a:p>
          <a:p>
            <a:pPr marL="285750" indent="-285750">
              <a:buFont typeface="Arial" panose="020B0604020202020204" pitchFamily="34" charset="0"/>
              <a:buChar char="•"/>
            </a:pPr>
            <a:r>
              <a:rPr lang="en-IN" dirty="0" smtClean="0">
                <a:solidFill>
                  <a:schemeClr val="tx1">
                    <a:lumMod val="95000"/>
                    <a:lumOff val="5000"/>
                  </a:schemeClr>
                </a:solidFill>
              </a:rPr>
              <a:t>Operations, quality and modelling of  physical systems</a:t>
            </a:r>
          </a:p>
          <a:p>
            <a:pPr marL="285750" indent="-285750">
              <a:buFont typeface="Arial" panose="020B0604020202020204" pitchFamily="34" charset="0"/>
              <a:buChar char="•"/>
            </a:pPr>
            <a:r>
              <a:rPr lang="en-IN" dirty="0" smtClean="0">
                <a:solidFill>
                  <a:schemeClr val="tx1">
                    <a:lumMod val="95000"/>
                    <a:lumOff val="5000"/>
                  </a:schemeClr>
                </a:solidFill>
              </a:rPr>
              <a:t>Transaction fraud</a:t>
            </a:r>
          </a:p>
        </p:txBody>
      </p:sp>
      <p:sp>
        <p:nvSpPr>
          <p:cNvPr id="5" name="Isosceles Triangle 4"/>
          <p:cNvSpPr/>
          <p:nvPr/>
        </p:nvSpPr>
        <p:spPr>
          <a:xfrm rot="5400000">
            <a:off x="3207433" y="2651760"/>
            <a:ext cx="1167618" cy="478303"/>
          </a:xfrm>
          <a:prstGeom prst="triangle">
            <a:avLst>
              <a:gd name="adj" fmla="val 5241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Isosceles Triangle 23"/>
          <p:cNvSpPr/>
          <p:nvPr/>
        </p:nvSpPr>
        <p:spPr>
          <a:xfrm rot="5400000">
            <a:off x="2992313" y="4329915"/>
            <a:ext cx="1597857" cy="478303"/>
          </a:xfrm>
          <a:prstGeom prst="triangle">
            <a:avLst>
              <a:gd name="adj" fmla="val 5241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25"/>
          <p:cNvSpPr/>
          <p:nvPr/>
        </p:nvSpPr>
        <p:spPr>
          <a:xfrm>
            <a:off x="4220307" y="2307102"/>
            <a:ext cx="7652825" cy="1308294"/>
          </a:xfrm>
          <a:prstGeom prst="rect">
            <a:avLst/>
          </a:prstGeom>
          <a:noFill/>
          <a:ln>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IN" sz="1400" dirty="0" smtClean="0">
                <a:solidFill>
                  <a:schemeClr val="tx1">
                    <a:lumMod val="95000"/>
                    <a:lumOff val="5000"/>
                  </a:schemeClr>
                </a:solidFill>
              </a:rPr>
              <a:t>Trees and Logistic regression reigns supreme – however random forest, gradient boosting, SVM and Neural networks should always be tested as a challenger</a:t>
            </a:r>
          </a:p>
          <a:p>
            <a:pPr marL="285750" indent="-285750">
              <a:buFont typeface="Arial" panose="020B0604020202020204" pitchFamily="34" charset="0"/>
              <a:buChar char="•"/>
            </a:pPr>
            <a:r>
              <a:rPr lang="en-IN" sz="1400" dirty="0" smtClean="0">
                <a:solidFill>
                  <a:schemeClr val="tx1">
                    <a:lumMod val="95000"/>
                    <a:lumOff val="5000"/>
                  </a:schemeClr>
                </a:solidFill>
              </a:rPr>
              <a:t>K-Cross validation is always critical</a:t>
            </a:r>
          </a:p>
          <a:p>
            <a:pPr marL="285750" indent="-285750">
              <a:buFont typeface="Arial" panose="020B0604020202020204" pitchFamily="34" charset="0"/>
              <a:buChar char="•"/>
            </a:pPr>
            <a:r>
              <a:rPr lang="en-IN" sz="1400" dirty="0" smtClean="0">
                <a:solidFill>
                  <a:schemeClr val="tx1">
                    <a:lumMod val="95000"/>
                    <a:lumOff val="5000"/>
                  </a:schemeClr>
                </a:solidFill>
              </a:rPr>
              <a:t>Incorporation of extraneous factors – macro economy, competitive activity</a:t>
            </a:r>
          </a:p>
          <a:p>
            <a:pPr marL="285750" indent="-285750">
              <a:buFont typeface="Arial" panose="020B0604020202020204" pitchFamily="34" charset="0"/>
              <a:buChar char="•"/>
            </a:pPr>
            <a:r>
              <a:rPr lang="en-IN" sz="1400" dirty="0" smtClean="0">
                <a:solidFill>
                  <a:schemeClr val="tx1">
                    <a:lumMod val="95000"/>
                    <a:lumOff val="5000"/>
                  </a:schemeClr>
                </a:solidFill>
              </a:rPr>
              <a:t>Incorporate action effects wherever applicable</a:t>
            </a:r>
          </a:p>
        </p:txBody>
      </p:sp>
      <p:sp>
        <p:nvSpPr>
          <p:cNvPr id="27" name="Rectangle 26"/>
          <p:cNvSpPr/>
          <p:nvPr/>
        </p:nvSpPr>
        <p:spPr>
          <a:xfrm>
            <a:off x="4220307" y="3770138"/>
            <a:ext cx="7652825" cy="1597857"/>
          </a:xfrm>
          <a:prstGeom prst="rect">
            <a:avLst/>
          </a:prstGeom>
          <a:noFill/>
          <a:ln>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IN" sz="1400" dirty="0" smtClean="0">
                <a:solidFill>
                  <a:schemeClr val="tx1">
                    <a:lumMod val="95000"/>
                    <a:lumOff val="5000"/>
                  </a:schemeClr>
                </a:solidFill>
              </a:rPr>
              <a:t>Neural network and SVM are always the first choice</a:t>
            </a:r>
          </a:p>
          <a:p>
            <a:pPr marL="285750" indent="-285750">
              <a:buFont typeface="Arial" panose="020B0604020202020204" pitchFamily="34" charset="0"/>
              <a:buChar char="•"/>
            </a:pPr>
            <a:r>
              <a:rPr lang="en-IN" sz="1400" dirty="0" smtClean="0">
                <a:solidFill>
                  <a:schemeClr val="tx1">
                    <a:lumMod val="95000"/>
                    <a:lumOff val="5000"/>
                  </a:schemeClr>
                </a:solidFill>
              </a:rPr>
              <a:t>Latent hidden relationships are critical to know the hidden relationships – SEM, stage wise models</a:t>
            </a:r>
          </a:p>
          <a:p>
            <a:pPr marL="285750" indent="-285750">
              <a:buFont typeface="Arial" panose="020B0604020202020204" pitchFamily="34" charset="0"/>
              <a:buChar char="•"/>
            </a:pPr>
            <a:r>
              <a:rPr lang="en-IN" sz="1400" dirty="0" smtClean="0">
                <a:solidFill>
                  <a:schemeClr val="tx1">
                    <a:lumMod val="95000"/>
                    <a:lumOff val="5000"/>
                  </a:schemeClr>
                </a:solidFill>
              </a:rPr>
              <a:t>PCA based techniques</a:t>
            </a:r>
          </a:p>
          <a:p>
            <a:pPr marL="285750" indent="-285750">
              <a:buFont typeface="Arial" panose="020B0604020202020204" pitchFamily="34" charset="0"/>
              <a:buChar char="•"/>
            </a:pPr>
            <a:r>
              <a:rPr lang="en-IN" sz="1400" dirty="0" smtClean="0">
                <a:solidFill>
                  <a:schemeClr val="tx1">
                    <a:lumMod val="95000"/>
                    <a:lumOff val="5000"/>
                  </a:schemeClr>
                </a:solidFill>
              </a:rPr>
              <a:t>Lasso or </a:t>
            </a:r>
            <a:r>
              <a:rPr lang="en-IN" sz="1400" dirty="0" err="1" smtClean="0">
                <a:solidFill>
                  <a:schemeClr val="tx1">
                    <a:lumMod val="95000"/>
                    <a:lumOff val="5000"/>
                  </a:schemeClr>
                </a:solidFill>
              </a:rPr>
              <a:t>ElasticNet</a:t>
            </a:r>
            <a:r>
              <a:rPr lang="en-IN" sz="1400" dirty="0" smtClean="0">
                <a:solidFill>
                  <a:schemeClr val="tx1">
                    <a:lumMod val="95000"/>
                    <a:lumOff val="5000"/>
                  </a:schemeClr>
                </a:solidFill>
              </a:rPr>
              <a:t> </a:t>
            </a:r>
            <a:endParaRPr lang="en-IN" sz="1400" dirty="0">
              <a:solidFill>
                <a:schemeClr val="tx1">
                  <a:lumMod val="95000"/>
                  <a:lumOff val="5000"/>
                </a:schemeClr>
              </a:solidFill>
            </a:endParaRPr>
          </a:p>
        </p:txBody>
      </p:sp>
      <p:sp>
        <p:nvSpPr>
          <p:cNvPr id="14" name="Rectangle 13"/>
          <p:cNvSpPr/>
          <p:nvPr/>
        </p:nvSpPr>
        <p:spPr>
          <a:xfrm>
            <a:off x="126607" y="5486393"/>
            <a:ext cx="11746525" cy="1329403"/>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b="1" dirty="0" smtClean="0">
                <a:solidFill>
                  <a:schemeClr val="tx1">
                    <a:lumMod val="95000"/>
                    <a:lumOff val="5000"/>
                  </a:schemeClr>
                </a:solidFill>
              </a:rPr>
              <a:t>Choice between logistic regression, tree ensemble models, neural network and SVM</a:t>
            </a:r>
          </a:p>
          <a:p>
            <a:pPr marL="285750" indent="-285750">
              <a:buFont typeface="Arial" panose="020B0604020202020204" pitchFamily="34" charset="0"/>
              <a:buChar char="•"/>
            </a:pPr>
            <a:r>
              <a:rPr lang="en-IN" sz="1600" dirty="0" smtClean="0">
                <a:solidFill>
                  <a:schemeClr val="tx1">
                    <a:lumMod val="95000"/>
                    <a:lumOff val="5000"/>
                  </a:schemeClr>
                </a:solidFill>
              </a:rPr>
              <a:t>Choice between intuitive understanding and predictive power </a:t>
            </a:r>
          </a:p>
          <a:p>
            <a:pPr marL="285750" indent="-285750">
              <a:buFont typeface="Arial" panose="020B0604020202020204" pitchFamily="34" charset="0"/>
              <a:buChar char="•"/>
            </a:pPr>
            <a:r>
              <a:rPr lang="en-IN" sz="1600" dirty="0" smtClean="0">
                <a:solidFill>
                  <a:schemeClr val="tx1">
                    <a:lumMod val="95000"/>
                    <a:lumOff val="5000"/>
                  </a:schemeClr>
                </a:solidFill>
              </a:rPr>
              <a:t>Stability of predictions</a:t>
            </a:r>
          </a:p>
          <a:p>
            <a:pPr marL="285750" indent="-285750">
              <a:buFont typeface="Arial" panose="020B0604020202020204" pitchFamily="34" charset="0"/>
              <a:buChar char="•"/>
            </a:pPr>
            <a:r>
              <a:rPr lang="en-IN" sz="1600" dirty="0" smtClean="0">
                <a:solidFill>
                  <a:schemeClr val="tx1">
                    <a:lumMod val="95000"/>
                    <a:lumOff val="5000"/>
                  </a:schemeClr>
                </a:solidFill>
              </a:rPr>
              <a:t>Presence of interactions and capturing of interaction effects – tree ensembles are usually good at identifying interaction effects</a:t>
            </a:r>
          </a:p>
          <a:p>
            <a:pPr marL="285750" indent="-285750">
              <a:buFont typeface="Arial" panose="020B0604020202020204" pitchFamily="34" charset="0"/>
              <a:buChar char="•"/>
            </a:pPr>
            <a:r>
              <a:rPr lang="en-IN" sz="1600" dirty="0" smtClean="0">
                <a:solidFill>
                  <a:schemeClr val="tx1">
                    <a:lumMod val="95000"/>
                    <a:lumOff val="5000"/>
                  </a:schemeClr>
                </a:solidFill>
              </a:rPr>
              <a:t>Presence of hidden latent relationships – neural networks and SVM are usually good at identifying hidden relations</a:t>
            </a:r>
            <a:endParaRPr lang="en-IN" sz="1600" dirty="0">
              <a:solidFill>
                <a:schemeClr val="tx1">
                  <a:lumMod val="95000"/>
                  <a:lumOff val="5000"/>
                </a:schemeClr>
              </a:solidFill>
            </a:endParaRPr>
          </a:p>
        </p:txBody>
      </p:sp>
    </p:spTree>
    <p:extLst>
      <p:ext uri="{BB962C8B-B14F-4D97-AF65-F5344CB8AC3E}">
        <p14:creationId xmlns:p14="http://schemas.microsoft.com/office/powerpoint/2010/main" val="90580899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normAutofit/>
          </a:bodyPr>
          <a:lstStyle/>
          <a:p>
            <a:pPr algn="ctr"/>
            <a:r>
              <a:rPr lang="en-IN" sz="3600" b="1" i="1" dirty="0" smtClean="0"/>
              <a:t>The data scientist’s dilemma (s)</a:t>
            </a:r>
            <a:endParaRPr lang="en-IN" sz="3600" b="1" i="1" dirty="0"/>
          </a:p>
        </p:txBody>
      </p:sp>
      <p:sp>
        <p:nvSpPr>
          <p:cNvPr id="4" name="Rectangle 3"/>
          <p:cNvSpPr/>
          <p:nvPr/>
        </p:nvSpPr>
        <p:spPr>
          <a:xfrm>
            <a:off x="0" y="1139483"/>
            <a:ext cx="12192000" cy="1828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p:cNvSpPr/>
          <p:nvPr/>
        </p:nvSpPr>
        <p:spPr>
          <a:xfrm>
            <a:off x="0" y="1322363"/>
            <a:ext cx="12192000" cy="759657"/>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Intuitive understanding is critical in most cases particularly during early stages of analytics adoption</a:t>
            </a:r>
            <a:endParaRPr lang="en-IN" dirty="0"/>
          </a:p>
        </p:txBody>
      </p:sp>
      <p:sp>
        <p:nvSpPr>
          <p:cNvPr id="6" name="Rectangle 5"/>
          <p:cNvSpPr/>
          <p:nvPr/>
        </p:nvSpPr>
        <p:spPr>
          <a:xfrm>
            <a:off x="562706" y="2180488"/>
            <a:ext cx="4684542" cy="717461"/>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chemeClr val="tx2"/>
                </a:solidFill>
              </a:rPr>
              <a:t>Intuitive and business interpretable models</a:t>
            </a:r>
            <a:endParaRPr lang="en-IN" b="1" dirty="0">
              <a:solidFill>
                <a:schemeClr val="tx2"/>
              </a:solidFill>
            </a:endParaRPr>
          </a:p>
        </p:txBody>
      </p:sp>
      <p:sp>
        <p:nvSpPr>
          <p:cNvPr id="13" name="Rectangle 12"/>
          <p:cNvSpPr/>
          <p:nvPr/>
        </p:nvSpPr>
        <p:spPr>
          <a:xfrm>
            <a:off x="6693878" y="2180488"/>
            <a:ext cx="4684542" cy="717461"/>
          </a:xfrm>
          <a:prstGeom prst="rect">
            <a:avLst/>
          </a:prstGeom>
          <a:solidFill>
            <a:srgbClr val="F590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rgbClr val="C00000"/>
                </a:solidFill>
              </a:rPr>
              <a:t>Predictive power</a:t>
            </a:r>
            <a:endParaRPr lang="en-IN" b="1" dirty="0">
              <a:solidFill>
                <a:srgbClr val="C00000"/>
              </a:solidFill>
            </a:endParaRPr>
          </a:p>
        </p:txBody>
      </p:sp>
      <p:sp>
        <p:nvSpPr>
          <p:cNvPr id="15" name="Rectangle 14"/>
          <p:cNvSpPr/>
          <p:nvPr/>
        </p:nvSpPr>
        <p:spPr>
          <a:xfrm>
            <a:off x="562706" y="2991135"/>
            <a:ext cx="4684542" cy="717461"/>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chemeClr val="tx2"/>
                </a:solidFill>
              </a:rPr>
              <a:t>Robustness &amp; stability</a:t>
            </a:r>
            <a:endParaRPr lang="en-IN" b="1" dirty="0">
              <a:solidFill>
                <a:schemeClr val="tx2"/>
              </a:solidFill>
            </a:endParaRPr>
          </a:p>
        </p:txBody>
      </p:sp>
      <p:sp>
        <p:nvSpPr>
          <p:cNvPr id="16" name="Rectangle 15"/>
          <p:cNvSpPr/>
          <p:nvPr/>
        </p:nvSpPr>
        <p:spPr>
          <a:xfrm>
            <a:off x="6693878" y="2987579"/>
            <a:ext cx="4684542" cy="717461"/>
          </a:xfrm>
          <a:prstGeom prst="rect">
            <a:avLst/>
          </a:prstGeom>
          <a:solidFill>
            <a:srgbClr val="F590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rgbClr val="C00000"/>
                </a:solidFill>
              </a:rPr>
              <a:t>In-sample predictive accuracy</a:t>
            </a:r>
            <a:endParaRPr lang="en-IN" b="1" dirty="0">
              <a:solidFill>
                <a:srgbClr val="C00000"/>
              </a:solidFill>
            </a:endParaRPr>
          </a:p>
        </p:txBody>
      </p:sp>
      <p:sp>
        <p:nvSpPr>
          <p:cNvPr id="18" name="Rectangle 17"/>
          <p:cNvSpPr/>
          <p:nvPr/>
        </p:nvSpPr>
        <p:spPr>
          <a:xfrm>
            <a:off x="562706" y="3801782"/>
            <a:ext cx="4684542" cy="717461"/>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chemeClr val="tx2"/>
                </a:solidFill>
              </a:rPr>
              <a:t>Sensitivity – False negative</a:t>
            </a:r>
            <a:endParaRPr lang="en-IN" b="1" dirty="0">
              <a:solidFill>
                <a:schemeClr val="tx2"/>
              </a:solidFill>
            </a:endParaRPr>
          </a:p>
        </p:txBody>
      </p:sp>
      <p:sp>
        <p:nvSpPr>
          <p:cNvPr id="19" name="Rectangle 18"/>
          <p:cNvSpPr/>
          <p:nvPr/>
        </p:nvSpPr>
        <p:spPr>
          <a:xfrm>
            <a:off x="6693878" y="3794670"/>
            <a:ext cx="4684542" cy="717461"/>
          </a:xfrm>
          <a:prstGeom prst="rect">
            <a:avLst/>
          </a:prstGeom>
          <a:solidFill>
            <a:srgbClr val="F590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rgbClr val="C00000"/>
                </a:solidFill>
              </a:rPr>
              <a:t>Specificity – False Positive</a:t>
            </a:r>
            <a:endParaRPr lang="en-IN" b="1" dirty="0">
              <a:solidFill>
                <a:srgbClr val="C00000"/>
              </a:solidFill>
            </a:endParaRPr>
          </a:p>
        </p:txBody>
      </p:sp>
      <p:sp>
        <p:nvSpPr>
          <p:cNvPr id="20" name="Rectangle 19"/>
          <p:cNvSpPr/>
          <p:nvPr/>
        </p:nvSpPr>
        <p:spPr>
          <a:xfrm>
            <a:off x="562706" y="4612430"/>
            <a:ext cx="4684542" cy="717461"/>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chemeClr val="tx2"/>
                </a:solidFill>
              </a:rPr>
              <a:t>Self learning &amp; adaptive</a:t>
            </a:r>
            <a:endParaRPr lang="en-IN" b="1" dirty="0">
              <a:solidFill>
                <a:schemeClr val="tx2"/>
              </a:solidFill>
            </a:endParaRPr>
          </a:p>
        </p:txBody>
      </p:sp>
      <p:sp>
        <p:nvSpPr>
          <p:cNvPr id="22" name="Rectangle 21"/>
          <p:cNvSpPr/>
          <p:nvPr/>
        </p:nvSpPr>
        <p:spPr>
          <a:xfrm>
            <a:off x="6693878" y="4601761"/>
            <a:ext cx="4684542" cy="717461"/>
          </a:xfrm>
          <a:prstGeom prst="rect">
            <a:avLst/>
          </a:prstGeom>
          <a:solidFill>
            <a:srgbClr val="F590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rgbClr val="C00000"/>
                </a:solidFill>
              </a:rPr>
              <a:t>Control and mean reverting</a:t>
            </a:r>
            <a:endParaRPr lang="en-IN" b="1" dirty="0">
              <a:solidFill>
                <a:srgbClr val="C00000"/>
              </a:solidFill>
            </a:endParaRPr>
          </a:p>
        </p:txBody>
      </p:sp>
      <p:pic>
        <p:nvPicPr>
          <p:cNvPr id="8194" name="Picture 2" descr="Related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6200000">
            <a:off x="3976327" y="3517715"/>
            <a:ext cx="3988472" cy="1228726"/>
          </a:xfrm>
          <a:prstGeom prst="rect">
            <a:avLst/>
          </a:prstGeom>
          <a:noFill/>
          <a:extLst>
            <a:ext uri="{909E8E84-426E-40DD-AFC4-6F175D3DCCD1}">
              <a14:hiddenFill xmlns:a14="http://schemas.microsoft.com/office/drawing/2010/main">
                <a:solidFill>
                  <a:srgbClr val="FFFFFF"/>
                </a:solidFill>
              </a14:hiddenFill>
            </a:ext>
          </a:extLst>
        </p:spPr>
      </p:pic>
      <p:sp>
        <p:nvSpPr>
          <p:cNvPr id="23" name="Rectangle 22"/>
          <p:cNvSpPr/>
          <p:nvPr/>
        </p:nvSpPr>
        <p:spPr>
          <a:xfrm>
            <a:off x="562706" y="5423078"/>
            <a:ext cx="4684542" cy="717461"/>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chemeClr val="tx2"/>
                </a:solidFill>
              </a:rPr>
              <a:t>Outlier scenarios </a:t>
            </a:r>
            <a:endParaRPr lang="en-IN" b="1" dirty="0">
              <a:solidFill>
                <a:schemeClr val="tx2"/>
              </a:solidFill>
            </a:endParaRPr>
          </a:p>
        </p:txBody>
      </p:sp>
      <p:sp>
        <p:nvSpPr>
          <p:cNvPr id="25" name="Rectangle 24"/>
          <p:cNvSpPr/>
          <p:nvPr/>
        </p:nvSpPr>
        <p:spPr>
          <a:xfrm>
            <a:off x="6693878" y="5408853"/>
            <a:ext cx="4684542" cy="717461"/>
          </a:xfrm>
          <a:prstGeom prst="rect">
            <a:avLst/>
          </a:prstGeom>
          <a:solidFill>
            <a:srgbClr val="F590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rgbClr val="C00000"/>
                </a:solidFill>
              </a:rPr>
              <a:t>The norm</a:t>
            </a:r>
            <a:endParaRPr lang="en-IN" b="1" dirty="0">
              <a:solidFill>
                <a:srgbClr val="C00000"/>
              </a:solidFill>
            </a:endParaRPr>
          </a:p>
        </p:txBody>
      </p:sp>
      <p:sp>
        <p:nvSpPr>
          <p:cNvPr id="28" name="Rectangle 27"/>
          <p:cNvSpPr/>
          <p:nvPr/>
        </p:nvSpPr>
        <p:spPr>
          <a:xfrm>
            <a:off x="562706" y="6233726"/>
            <a:ext cx="10815714" cy="624274"/>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chemeClr val="tx1">
                    <a:lumMod val="95000"/>
                    <a:lumOff val="5000"/>
                  </a:schemeClr>
                </a:solidFill>
              </a:rPr>
              <a:t>Building the best model with the available data to suite the implementation environment and user understanding is a challenge</a:t>
            </a:r>
          </a:p>
        </p:txBody>
      </p:sp>
    </p:spTree>
    <p:extLst>
      <p:ext uri="{BB962C8B-B14F-4D97-AF65-F5344CB8AC3E}">
        <p14:creationId xmlns:p14="http://schemas.microsoft.com/office/powerpoint/2010/main" val="172053126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normAutofit/>
          </a:bodyPr>
          <a:lstStyle/>
          <a:p>
            <a:pPr algn="ctr"/>
            <a:r>
              <a:rPr lang="en-IN" sz="3600" b="1" i="1" dirty="0" smtClean="0"/>
              <a:t>What is a good classification model?</a:t>
            </a:r>
            <a:endParaRPr lang="en-IN" sz="3600" b="1" i="1" dirty="0"/>
          </a:p>
        </p:txBody>
      </p:sp>
      <p:sp>
        <p:nvSpPr>
          <p:cNvPr id="4" name="Rectangle 3"/>
          <p:cNvSpPr/>
          <p:nvPr/>
        </p:nvSpPr>
        <p:spPr>
          <a:xfrm>
            <a:off x="0" y="1139483"/>
            <a:ext cx="12192000" cy="1828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p:cNvSpPr/>
          <p:nvPr/>
        </p:nvSpPr>
        <p:spPr>
          <a:xfrm>
            <a:off x="0" y="1322363"/>
            <a:ext cx="12192000" cy="759657"/>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All models are wrong but some of them are useful</a:t>
            </a:r>
            <a:endParaRPr lang="en-IN" dirty="0"/>
          </a:p>
        </p:txBody>
      </p:sp>
      <p:pic>
        <p:nvPicPr>
          <p:cNvPr id="10242" name="Picture 2" descr="Related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995" y="2855741"/>
            <a:ext cx="6537460" cy="360836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rot="16200000">
            <a:off x="-886264" y="3938953"/>
            <a:ext cx="2954215" cy="369332"/>
          </a:xfrm>
          <a:prstGeom prst="rect">
            <a:avLst/>
          </a:prstGeom>
          <a:noFill/>
        </p:spPr>
        <p:txBody>
          <a:bodyPr wrap="square" rtlCol="0">
            <a:spAutoFit/>
          </a:bodyPr>
          <a:lstStyle/>
          <a:p>
            <a:r>
              <a:rPr lang="en-IN" b="1" dirty="0" smtClean="0">
                <a:solidFill>
                  <a:schemeClr val="accent1"/>
                </a:solidFill>
              </a:rPr>
              <a:t>DISCRIMINATION</a:t>
            </a:r>
            <a:endParaRPr lang="en-IN" b="1" dirty="0">
              <a:solidFill>
                <a:schemeClr val="accent1"/>
              </a:solidFill>
            </a:endParaRPr>
          </a:p>
        </p:txBody>
      </p:sp>
      <p:sp>
        <p:nvSpPr>
          <p:cNvPr id="21" name="TextBox 20"/>
          <p:cNvSpPr txBox="1"/>
          <p:nvPr/>
        </p:nvSpPr>
        <p:spPr>
          <a:xfrm rot="16200000">
            <a:off x="121531" y="3942469"/>
            <a:ext cx="2954215" cy="369332"/>
          </a:xfrm>
          <a:prstGeom prst="rect">
            <a:avLst/>
          </a:prstGeom>
          <a:noFill/>
        </p:spPr>
        <p:txBody>
          <a:bodyPr wrap="square" rtlCol="0">
            <a:spAutoFit/>
          </a:bodyPr>
          <a:lstStyle/>
          <a:p>
            <a:r>
              <a:rPr lang="en-IN" b="1" dirty="0" smtClean="0">
                <a:solidFill>
                  <a:schemeClr val="accent1"/>
                </a:solidFill>
              </a:rPr>
              <a:t>DISCRIMINATION</a:t>
            </a:r>
            <a:endParaRPr lang="en-IN" b="1" dirty="0">
              <a:solidFill>
                <a:schemeClr val="accent1"/>
              </a:solidFill>
            </a:endParaRPr>
          </a:p>
        </p:txBody>
      </p:sp>
      <p:sp>
        <p:nvSpPr>
          <p:cNvPr id="24" name="TextBox 23"/>
          <p:cNvSpPr txBox="1"/>
          <p:nvPr/>
        </p:nvSpPr>
        <p:spPr>
          <a:xfrm rot="16200000">
            <a:off x="1529166" y="4592206"/>
            <a:ext cx="2576174" cy="369332"/>
          </a:xfrm>
          <a:prstGeom prst="rect">
            <a:avLst/>
          </a:prstGeom>
          <a:noFill/>
        </p:spPr>
        <p:txBody>
          <a:bodyPr wrap="square" rtlCol="0">
            <a:spAutoFit/>
          </a:bodyPr>
          <a:lstStyle/>
          <a:p>
            <a:pPr algn="ctr"/>
            <a:r>
              <a:rPr lang="en-IN" b="1" dirty="0" smtClean="0">
                <a:solidFill>
                  <a:schemeClr val="accent1"/>
                </a:solidFill>
              </a:rPr>
              <a:t>STABILITY</a:t>
            </a:r>
            <a:endParaRPr lang="en-IN" b="1" dirty="0">
              <a:solidFill>
                <a:schemeClr val="accent1"/>
              </a:solidFill>
            </a:endParaRPr>
          </a:p>
        </p:txBody>
      </p:sp>
      <p:sp>
        <p:nvSpPr>
          <p:cNvPr id="26" name="TextBox 25"/>
          <p:cNvSpPr txBox="1"/>
          <p:nvPr/>
        </p:nvSpPr>
        <p:spPr>
          <a:xfrm rot="16200000">
            <a:off x="2588257" y="4546486"/>
            <a:ext cx="2576174" cy="369332"/>
          </a:xfrm>
          <a:prstGeom prst="rect">
            <a:avLst/>
          </a:prstGeom>
          <a:noFill/>
        </p:spPr>
        <p:txBody>
          <a:bodyPr wrap="square" rtlCol="0">
            <a:spAutoFit/>
          </a:bodyPr>
          <a:lstStyle/>
          <a:p>
            <a:pPr algn="ctr"/>
            <a:r>
              <a:rPr lang="en-IN" b="1" dirty="0" smtClean="0">
                <a:solidFill>
                  <a:schemeClr val="accent1"/>
                </a:solidFill>
              </a:rPr>
              <a:t>STABILITY</a:t>
            </a:r>
            <a:endParaRPr lang="en-IN" b="1" dirty="0">
              <a:solidFill>
                <a:schemeClr val="accent1"/>
              </a:solidFill>
            </a:endParaRPr>
          </a:p>
        </p:txBody>
      </p:sp>
      <p:sp>
        <p:nvSpPr>
          <p:cNvPr id="27" name="TextBox 26"/>
          <p:cNvSpPr txBox="1"/>
          <p:nvPr/>
        </p:nvSpPr>
        <p:spPr>
          <a:xfrm rot="16200000">
            <a:off x="3806872" y="4592206"/>
            <a:ext cx="2576174" cy="369332"/>
          </a:xfrm>
          <a:prstGeom prst="rect">
            <a:avLst/>
          </a:prstGeom>
          <a:noFill/>
        </p:spPr>
        <p:txBody>
          <a:bodyPr wrap="square" rtlCol="0">
            <a:spAutoFit/>
          </a:bodyPr>
          <a:lstStyle/>
          <a:p>
            <a:pPr algn="ctr"/>
            <a:r>
              <a:rPr lang="en-IN" b="1" dirty="0" smtClean="0">
                <a:solidFill>
                  <a:schemeClr val="accent1"/>
                </a:solidFill>
              </a:rPr>
              <a:t>ACCURACY</a:t>
            </a:r>
            <a:endParaRPr lang="en-IN" b="1" dirty="0">
              <a:solidFill>
                <a:schemeClr val="accent1"/>
              </a:solidFill>
            </a:endParaRPr>
          </a:p>
        </p:txBody>
      </p:sp>
      <p:sp>
        <p:nvSpPr>
          <p:cNvPr id="29" name="TextBox 28"/>
          <p:cNvSpPr txBox="1"/>
          <p:nvPr/>
        </p:nvSpPr>
        <p:spPr>
          <a:xfrm rot="16200000">
            <a:off x="4840821" y="4532418"/>
            <a:ext cx="2576174" cy="369332"/>
          </a:xfrm>
          <a:prstGeom prst="rect">
            <a:avLst/>
          </a:prstGeom>
          <a:noFill/>
        </p:spPr>
        <p:txBody>
          <a:bodyPr wrap="square" rtlCol="0">
            <a:spAutoFit/>
          </a:bodyPr>
          <a:lstStyle/>
          <a:p>
            <a:pPr algn="ctr"/>
            <a:r>
              <a:rPr lang="en-IN" b="1" dirty="0" smtClean="0">
                <a:solidFill>
                  <a:schemeClr val="accent1"/>
                </a:solidFill>
              </a:rPr>
              <a:t>ACCURACY</a:t>
            </a:r>
            <a:endParaRPr lang="en-IN" b="1" dirty="0">
              <a:solidFill>
                <a:schemeClr val="accent1"/>
              </a:solidFill>
            </a:endParaRPr>
          </a:p>
        </p:txBody>
      </p:sp>
      <p:sp>
        <p:nvSpPr>
          <p:cNvPr id="30" name="Rectangle 29"/>
          <p:cNvSpPr/>
          <p:nvPr/>
        </p:nvSpPr>
        <p:spPr>
          <a:xfrm>
            <a:off x="27408" y="2201571"/>
            <a:ext cx="6991923" cy="62427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dirty="0" smtClean="0">
                <a:solidFill>
                  <a:schemeClr val="tx1">
                    <a:lumMod val="95000"/>
                    <a:lumOff val="5000"/>
                  </a:schemeClr>
                </a:solidFill>
              </a:rPr>
              <a:t>Specific measures for rare events, high event rates, action effects, disproportionate </a:t>
            </a:r>
            <a:r>
              <a:rPr lang="en-IN" sz="1600" b="1" dirty="0" err="1" smtClean="0">
                <a:solidFill>
                  <a:schemeClr val="tx1">
                    <a:lumMod val="95000"/>
                    <a:lumOff val="5000"/>
                  </a:schemeClr>
                </a:solidFill>
              </a:rPr>
              <a:t>mis</a:t>
            </a:r>
            <a:r>
              <a:rPr lang="en-IN" sz="1600" b="1" dirty="0" smtClean="0">
                <a:solidFill>
                  <a:schemeClr val="tx1">
                    <a:lumMod val="95000"/>
                    <a:lumOff val="5000"/>
                  </a:schemeClr>
                </a:solidFill>
              </a:rPr>
              <a:t>-classification costs, truncated data and extraneous impact</a:t>
            </a:r>
          </a:p>
        </p:txBody>
      </p:sp>
      <p:sp>
        <p:nvSpPr>
          <p:cNvPr id="31" name="Isosceles Triangle 30"/>
          <p:cNvSpPr/>
          <p:nvPr/>
        </p:nvSpPr>
        <p:spPr>
          <a:xfrm rot="5400000">
            <a:off x="4979704" y="4255487"/>
            <a:ext cx="4656429" cy="478303"/>
          </a:xfrm>
          <a:prstGeom prst="triangle">
            <a:avLst>
              <a:gd name="adj" fmla="val 5241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Rectangle 31"/>
          <p:cNvSpPr/>
          <p:nvPr/>
        </p:nvSpPr>
        <p:spPr>
          <a:xfrm>
            <a:off x="7596507" y="2307102"/>
            <a:ext cx="4405241" cy="4360984"/>
          </a:xfrm>
          <a:prstGeom prst="rect">
            <a:avLst/>
          </a:prstGeom>
          <a:noFill/>
          <a:ln>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IN" sz="1400" dirty="0" smtClean="0">
                <a:solidFill>
                  <a:schemeClr val="tx1">
                    <a:lumMod val="95000"/>
                    <a:lumOff val="5000"/>
                  </a:schemeClr>
                </a:solidFill>
              </a:rPr>
              <a:t>Discrimination for supervised</a:t>
            </a:r>
          </a:p>
          <a:p>
            <a:pPr marL="742950" lvl="1" indent="-285750">
              <a:buFont typeface="Arial" panose="020B0604020202020204" pitchFamily="34" charset="0"/>
              <a:buChar char="•"/>
            </a:pPr>
            <a:r>
              <a:rPr lang="en-IN" sz="1400" dirty="0" smtClean="0">
                <a:solidFill>
                  <a:schemeClr val="tx1">
                    <a:lumMod val="95000"/>
                    <a:lumOff val="5000"/>
                  </a:schemeClr>
                </a:solidFill>
              </a:rPr>
              <a:t>ROC, KS, Gini, Divergence, Lift, Sensitivity &amp; Specificity, Capture rate (Identification rate) of each class</a:t>
            </a:r>
          </a:p>
          <a:p>
            <a:pPr marL="285750" indent="-285750">
              <a:buFont typeface="Arial" panose="020B0604020202020204" pitchFamily="34" charset="0"/>
              <a:buChar char="•"/>
            </a:pPr>
            <a:r>
              <a:rPr lang="en-IN" sz="1400" dirty="0" smtClean="0">
                <a:solidFill>
                  <a:schemeClr val="tx1">
                    <a:lumMod val="95000"/>
                    <a:lumOff val="5000"/>
                  </a:schemeClr>
                </a:solidFill>
              </a:rPr>
              <a:t>Additional discrimination for unsupervised methods discrimination usually involves</a:t>
            </a:r>
          </a:p>
          <a:p>
            <a:pPr marL="742950" lvl="1" indent="-285750">
              <a:buFont typeface="Arial" panose="020B0604020202020204" pitchFamily="34" charset="0"/>
              <a:buChar char="•"/>
            </a:pPr>
            <a:r>
              <a:rPr lang="en-IN" sz="1400" dirty="0" smtClean="0">
                <a:solidFill>
                  <a:schemeClr val="tx1">
                    <a:lumMod val="95000"/>
                    <a:lumOff val="5000"/>
                  </a:schemeClr>
                </a:solidFill>
              </a:rPr>
              <a:t>Within &amp; between group variance of variables and orthogonal components</a:t>
            </a:r>
          </a:p>
          <a:p>
            <a:pPr marL="742950" lvl="1" indent="-285750">
              <a:buFont typeface="Arial" panose="020B0604020202020204" pitchFamily="34" charset="0"/>
              <a:buChar char="•"/>
            </a:pPr>
            <a:r>
              <a:rPr lang="en-IN" sz="1400" dirty="0" smtClean="0">
                <a:solidFill>
                  <a:schemeClr val="tx1">
                    <a:lumMod val="95000"/>
                    <a:lumOff val="5000"/>
                  </a:schemeClr>
                </a:solidFill>
              </a:rPr>
              <a:t>Divergence of orthogonal components</a:t>
            </a:r>
          </a:p>
          <a:p>
            <a:pPr marL="742950" lvl="1" indent="-285750">
              <a:buFont typeface="Arial" panose="020B0604020202020204" pitchFamily="34" charset="0"/>
              <a:buChar char="•"/>
            </a:pPr>
            <a:r>
              <a:rPr lang="en-IN" sz="1400" dirty="0" smtClean="0">
                <a:solidFill>
                  <a:schemeClr val="tx1">
                    <a:lumMod val="95000"/>
                    <a:lumOff val="5000"/>
                  </a:schemeClr>
                </a:solidFill>
              </a:rPr>
              <a:t>Accuracy of cluster membership prediction</a:t>
            </a:r>
          </a:p>
          <a:p>
            <a:pPr marL="285750" indent="-285750">
              <a:buFont typeface="Arial" panose="020B0604020202020204" pitchFamily="34" charset="0"/>
              <a:buChar char="•"/>
            </a:pPr>
            <a:r>
              <a:rPr lang="en-IN" sz="1400" dirty="0" smtClean="0">
                <a:solidFill>
                  <a:schemeClr val="tx1">
                    <a:lumMod val="95000"/>
                    <a:lumOff val="5000"/>
                  </a:schemeClr>
                </a:solidFill>
              </a:rPr>
              <a:t>Stability</a:t>
            </a:r>
          </a:p>
          <a:p>
            <a:pPr marL="742950" lvl="1" indent="-285750">
              <a:buFont typeface="Arial" panose="020B0604020202020204" pitchFamily="34" charset="0"/>
              <a:buChar char="•"/>
            </a:pPr>
            <a:r>
              <a:rPr lang="en-IN" sz="1400" dirty="0" smtClean="0">
                <a:solidFill>
                  <a:schemeClr val="tx1">
                    <a:lumMod val="95000"/>
                    <a:lumOff val="5000"/>
                  </a:schemeClr>
                </a:solidFill>
              </a:rPr>
              <a:t>K-Cross validation</a:t>
            </a:r>
          </a:p>
          <a:p>
            <a:pPr marL="742950" lvl="1" indent="-285750">
              <a:buFont typeface="Arial" panose="020B0604020202020204" pitchFamily="34" charset="0"/>
              <a:buChar char="•"/>
            </a:pPr>
            <a:r>
              <a:rPr lang="en-IN" sz="1400" dirty="0" smtClean="0">
                <a:solidFill>
                  <a:schemeClr val="tx1">
                    <a:lumMod val="95000"/>
                    <a:lumOff val="5000"/>
                  </a:schemeClr>
                </a:solidFill>
              </a:rPr>
              <a:t>PSI and predictor stability</a:t>
            </a:r>
          </a:p>
          <a:p>
            <a:pPr marL="742950" lvl="1" indent="-285750">
              <a:buFont typeface="Arial" panose="020B0604020202020204" pitchFamily="34" charset="0"/>
              <a:buChar char="•"/>
            </a:pPr>
            <a:r>
              <a:rPr lang="en-IN" sz="1400" dirty="0" smtClean="0">
                <a:solidFill>
                  <a:schemeClr val="tx1">
                    <a:lumMod val="95000"/>
                    <a:lumOff val="5000"/>
                  </a:schemeClr>
                </a:solidFill>
              </a:rPr>
              <a:t>Stability of predictive pattern &amp; relationships</a:t>
            </a:r>
          </a:p>
          <a:p>
            <a:pPr marL="742950" lvl="1" indent="-285750">
              <a:buFont typeface="Arial" panose="020B0604020202020204" pitchFamily="34" charset="0"/>
              <a:buChar char="•"/>
            </a:pPr>
            <a:r>
              <a:rPr lang="en-IN" sz="1400" dirty="0" smtClean="0">
                <a:solidFill>
                  <a:schemeClr val="tx1">
                    <a:lumMod val="95000"/>
                    <a:lumOff val="5000"/>
                  </a:schemeClr>
                </a:solidFill>
              </a:rPr>
              <a:t>Cluster/group/segment migration</a:t>
            </a:r>
          </a:p>
          <a:p>
            <a:pPr marL="742950" lvl="1" indent="-285750">
              <a:buFont typeface="Arial" panose="020B0604020202020204" pitchFamily="34" charset="0"/>
              <a:buChar char="•"/>
            </a:pPr>
            <a:r>
              <a:rPr lang="en-IN" sz="1400" dirty="0" smtClean="0">
                <a:solidFill>
                  <a:schemeClr val="tx1">
                    <a:lumMod val="95000"/>
                    <a:lumOff val="5000"/>
                  </a:schemeClr>
                </a:solidFill>
              </a:rPr>
              <a:t>Stability across various extraneous factors</a:t>
            </a:r>
          </a:p>
          <a:p>
            <a:pPr marL="285750" indent="-285750">
              <a:buFont typeface="Arial" panose="020B0604020202020204" pitchFamily="34" charset="0"/>
              <a:buChar char="•"/>
            </a:pPr>
            <a:r>
              <a:rPr lang="en-IN" sz="1400" dirty="0" smtClean="0">
                <a:solidFill>
                  <a:schemeClr val="tx1">
                    <a:lumMod val="95000"/>
                    <a:lumOff val="5000"/>
                  </a:schemeClr>
                </a:solidFill>
              </a:rPr>
              <a:t>Accuracy</a:t>
            </a:r>
          </a:p>
          <a:p>
            <a:pPr marL="742950" lvl="1" indent="-285750">
              <a:buFont typeface="Arial" panose="020B0604020202020204" pitchFamily="34" charset="0"/>
              <a:buChar char="•"/>
            </a:pPr>
            <a:r>
              <a:rPr lang="en-IN" sz="1400" dirty="0" smtClean="0">
                <a:solidFill>
                  <a:schemeClr val="tx1">
                    <a:lumMod val="95000"/>
                    <a:lumOff val="5000"/>
                  </a:schemeClr>
                </a:solidFill>
              </a:rPr>
              <a:t>Actual vs. predicted, sensitivity vs. specificity, stability of accuracy,  accuracy of relationships</a:t>
            </a:r>
          </a:p>
        </p:txBody>
      </p:sp>
    </p:spTree>
    <p:extLst>
      <p:ext uri="{BB962C8B-B14F-4D97-AF65-F5344CB8AC3E}">
        <p14:creationId xmlns:p14="http://schemas.microsoft.com/office/powerpoint/2010/main" val="123041460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cstate="email">
            <a:extLst>
              <a:ext uri="{28A0092B-C50C-407E-A947-70E740481C1C}">
                <a14:useLocalDpi xmlns:a14="http://schemas.microsoft.com/office/drawing/2010/main" val="0"/>
              </a:ext>
            </a:extLst>
          </a:blip>
          <a:srcRect/>
          <a:stretch/>
        </p:blipFill>
        <p:spPr>
          <a:xfrm flipH="1">
            <a:off x="0" y="0"/>
            <a:ext cx="12192000" cy="6858000"/>
          </a:xfrm>
          <a:prstGeom prst="rect">
            <a:avLst/>
          </a:prstGeom>
        </p:spPr>
      </p:pic>
      <p:grpSp>
        <p:nvGrpSpPr>
          <p:cNvPr id="6" name="Group 5"/>
          <p:cNvGrpSpPr/>
          <p:nvPr/>
        </p:nvGrpSpPr>
        <p:grpSpPr>
          <a:xfrm>
            <a:off x="0" y="5341203"/>
            <a:ext cx="12192001" cy="830997"/>
            <a:chOff x="0" y="2598003"/>
            <a:chExt cx="12192001" cy="830997"/>
          </a:xfrm>
        </p:grpSpPr>
        <p:sp>
          <p:nvSpPr>
            <p:cNvPr id="8" name="Rectangle 7"/>
            <p:cNvSpPr/>
            <p:nvPr/>
          </p:nvSpPr>
          <p:spPr>
            <a:xfrm>
              <a:off x="4496459" y="2598003"/>
              <a:ext cx="3199082" cy="830997"/>
            </a:xfrm>
            <a:prstGeom prst="rect">
              <a:avLst/>
            </a:prstGeom>
          </p:spPr>
          <p:txBody>
            <a:bodyPr wrap="none">
              <a:spAutoFit/>
            </a:bodyPr>
            <a:lstStyle/>
            <a:p>
              <a:pPr algn="ctr"/>
              <a:r>
                <a:rPr lang="en-US" sz="4800" b="1" dirty="0">
                  <a:solidFill>
                    <a:prstClr val="white"/>
                  </a:solidFill>
                  <a:effectLst>
                    <a:outerShdw blurRad="38100" dist="38100" dir="2700000" algn="tl">
                      <a:srgbClr val="000000">
                        <a:alpha val="43137"/>
                      </a:srgbClr>
                    </a:outerShdw>
                  </a:effectLst>
                  <a:latin typeface="Leelawadee UI" panose="020B0502040204020203" pitchFamily="34" charset="-34"/>
                  <a:cs typeface="Leelawadee UI" panose="020B0502040204020203" pitchFamily="34" charset="-34"/>
                </a:rPr>
                <a:t>Thank You</a:t>
              </a:r>
            </a:p>
          </p:txBody>
        </p:sp>
        <p:cxnSp>
          <p:nvCxnSpPr>
            <p:cNvPr id="9" name="Straight Connector 8"/>
            <p:cNvCxnSpPr/>
            <p:nvPr/>
          </p:nvCxnSpPr>
          <p:spPr>
            <a:xfrm>
              <a:off x="7802880" y="3014443"/>
              <a:ext cx="438912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3014443"/>
              <a:ext cx="438912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0558814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862</TotalTime>
  <Words>1715</Words>
  <Application>Microsoft Office PowerPoint</Application>
  <PresentationFormat>Widescreen</PresentationFormat>
  <Paragraphs>235</Paragraphs>
  <Slides>14</Slides>
  <Notes>2</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14</vt:i4>
      </vt:variant>
    </vt:vector>
  </HeadingPairs>
  <TitlesOfParts>
    <vt:vector size="22" baseType="lpstr">
      <vt:lpstr>Arial</vt:lpstr>
      <vt:lpstr>Calibri</vt:lpstr>
      <vt:lpstr>Calibri Light</vt:lpstr>
      <vt:lpstr>Century Gothic</vt:lpstr>
      <vt:lpstr>Leelawadee UI</vt:lpstr>
      <vt:lpstr>Wingdings</vt:lpstr>
      <vt:lpstr>Office Theme</vt:lpstr>
      <vt:lpstr>Microsoft Excel Worksheet</vt:lpstr>
      <vt:lpstr>PowerPoint Presentation</vt:lpstr>
      <vt:lpstr>What are we trying to achieve in this session</vt:lpstr>
      <vt:lpstr>Basic classification problem types – what are we trying to solve?  </vt:lpstr>
      <vt:lpstr>Criticality of classification problems –  why are we trying to solve these problems?</vt:lpstr>
      <vt:lpstr>I have a classification model – how do I know that it is useful?: lets get our hands dirty</vt:lpstr>
      <vt:lpstr>The available tools –  what are the tools that we have at our disposal?</vt:lpstr>
      <vt:lpstr>Are complex methods necessarily better?</vt:lpstr>
      <vt:lpstr>The available tools –  a bit more detail</vt:lpstr>
      <vt:lpstr>Analytical challenges –  what are some of the typical challenges that we may face?</vt:lpstr>
      <vt:lpstr>The right tool for the right problem – a few learnings from the field</vt:lpstr>
      <vt:lpstr>The right tool for the right problem – a few learnings from the field</vt:lpstr>
      <vt:lpstr>The data scientist’s dilemma (s)</vt:lpstr>
      <vt:lpstr>What is a good classification model?</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good is my classification algorithm?  – field notes from industry applications</dc:title>
  <dc:creator>Hindol Basu</dc:creator>
  <cp:lastModifiedBy>Hindol Basu</cp:lastModifiedBy>
  <cp:revision>166</cp:revision>
  <dcterms:created xsi:type="dcterms:W3CDTF">2016-09-11T03:44:28Z</dcterms:created>
  <dcterms:modified xsi:type="dcterms:W3CDTF">2016-11-08T17:37:36Z</dcterms:modified>
</cp:coreProperties>
</file>
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27"/>
  </p:notesMasterIdLst>
  <p:sldIdLst>
    <p:sldId id="257" r:id="rId3"/>
    <p:sldId id="312" r:id="rId4"/>
    <p:sldId id="269" r:id="rId5"/>
    <p:sldId id="265" r:id="rId6"/>
    <p:sldId id="304" r:id="rId7"/>
    <p:sldId id="303" r:id="rId8"/>
    <p:sldId id="302" r:id="rId9"/>
    <p:sldId id="301" r:id="rId10"/>
    <p:sldId id="305" r:id="rId11"/>
    <p:sldId id="278" r:id="rId12"/>
    <p:sldId id="300" r:id="rId13"/>
    <p:sldId id="306" r:id="rId14"/>
    <p:sldId id="310" r:id="rId15"/>
    <p:sldId id="307" r:id="rId16"/>
    <p:sldId id="311" r:id="rId17"/>
    <p:sldId id="308" r:id="rId18"/>
    <p:sldId id="297" r:id="rId19"/>
    <p:sldId id="299" r:id="rId20"/>
    <p:sldId id="296" r:id="rId21"/>
    <p:sldId id="272" r:id="rId22"/>
    <p:sldId id="309" r:id="rId23"/>
    <p:sldId id="271" r:id="rId24"/>
    <p:sldId id="298" r:id="rId25"/>
    <p:sldId id="31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DEECFD"/>
    <a:srgbClr val="CC6600"/>
    <a:srgbClr val="803C09"/>
    <a:srgbClr val="D9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4"/>
            <c:bubble3D val="0"/>
            <c:spPr>
              <a:solidFill>
                <a:schemeClr val="accent5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6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1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2"/>
            <c:bubble3D val="0"/>
            <c:spPr>
              <a:solidFill>
                <a:schemeClr val="accent1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3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5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7"/>
            <c:bubble3D val="0"/>
            <c:spPr>
              <a:solidFill>
                <a:schemeClr val="accent6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9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2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3"/>
            <c:bubble3D val="0"/>
            <c:spPr>
              <a:solidFill>
                <a:schemeClr val="accent6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8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9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1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2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3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5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7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8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9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1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2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3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4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5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6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7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8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9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3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4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5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6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val>
            <c:numRef>
              <c:f>SME!$F$7:$F$93</c:f>
              <c:numCache>
                <c:formatCode>General</c:formatCode>
                <c:ptCount val="87"/>
                <c:pt idx="0">
                  <c:v>17265</c:v>
                </c:pt>
                <c:pt idx="1">
                  <c:v>3575</c:v>
                </c:pt>
                <c:pt idx="2">
                  <c:v>2838</c:v>
                </c:pt>
                <c:pt idx="3">
                  <c:v>1987</c:v>
                </c:pt>
                <c:pt idx="4">
                  <c:v>1614</c:v>
                </c:pt>
                <c:pt idx="5">
                  <c:v>1035</c:v>
                </c:pt>
                <c:pt idx="6">
                  <c:v>1011</c:v>
                </c:pt>
                <c:pt idx="7">
                  <c:v>710</c:v>
                </c:pt>
                <c:pt idx="8">
                  <c:v>676</c:v>
                </c:pt>
                <c:pt idx="9">
                  <c:v>647</c:v>
                </c:pt>
                <c:pt idx="10">
                  <c:v>573</c:v>
                </c:pt>
                <c:pt idx="11">
                  <c:v>550</c:v>
                </c:pt>
                <c:pt idx="12">
                  <c:v>447</c:v>
                </c:pt>
                <c:pt idx="13">
                  <c:v>399</c:v>
                </c:pt>
                <c:pt idx="14">
                  <c:v>388</c:v>
                </c:pt>
                <c:pt idx="15">
                  <c:v>335</c:v>
                </c:pt>
                <c:pt idx="16">
                  <c:v>280</c:v>
                </c:pt>
                <c:pt idx="17">
                  <c:v>277</c:v>
                </c:pt>
                <c:pt idx="18">
                  <c:v>266</c:v>
                </c:pt>
                <c:pt idx="19">
                  <c:v>253</c:v>
                </c:pt>
                <c:pt idx="20">
                  <c:v>242</c:v>
                </c:pt>
                <c:pt idx="21">
                  <c:v>214</c:v>
                </c:pt>
                <c:pt idx="22">
                  <c:v>213</c:v>
                </c:pt>
                <c:pt idx="23">
                  <c:v>203</c:v>
                </c:pt>
                <c:pt idx="24">
                  <c:v>185</c:v>
                </c:pt>
                <c:pt idx="25">
                  <c:v>179</c:v>
                </c:pt>
                <c:pt idx="26">
                  <c:v>165</c:v>
                </c:pt>
                <c:pt idx="27">
                  <c:v>158</c:v>
                </c:pt>
                <c:pt idx="28">
                  <c:v>147</c:v>
                </c:pt>
                <c:pt idx="29">
                  <c:v>126</c:v>
                </c:pt>
                <c:pt idx="30">
                  <c:v>125</c:v>
                </c:pt>
                <c:pt idx="31">
                  <c:v>112</c:v>
                </c:pt>
                <c:pt idx="32">
                  <c:v>94</c:v>
                </c:pt>
                <c:pt idx="33">
                  <c:v>89</c:v>
                </c:pt>
                <c:pt idx="34">
                  <c:v>89</c:v>
                </c:pt>
                <c:pt idx="35">
                  <c:v>86</c:v>
                </c:pt>
                <c:pt idx="36">
                  <c:v>81</c:v>
                </c:pt>
                <c:pt idx="37">
                  <c:v>75</c:v>
                </c:pt>
                <c:pt idx="38">
                  <c:v>74</c:v>
                </c:pt>
                <c:pt idx="39">
                  <c:v>73</c:v>
                </c:pt>
                <c:pt idx="40">
                  <c:v>72</c:v>
                </c:pt>
                <c:pt idx="41">
                  <c:v>62</c:v>
                </c:pt>
                <c:pt idx="42">
                  <c:v>60</c:v>
                </c:pt>
                <c:pt idx="43">
                  <c:v>58</c:v>
                </c:pt>
                <c:pt idx="44">
                  <c:v>57</c:v>
                </c:pt>
                <c:pt idx="45">
                  <c:v>55</c:v>
                </c:pt>
                <c:pt idx="46">
                  <c:v>52</c:v>
                </c:pt>
                <c:pt idx="47">
                  <c:v>51</c:v>
                </c:pt>
                <c:pt idx="48">
                  <c:v>49</c:v>
                </c:pt>
                <c:pt idx="49">
                  <c:v>48</c:v>
                </c:pt>
                <c:pt idx="50">
                  <c:v>46</c:v>
                </c:pt>
                <c:pt idx="51">
                  <c:v>46</c:v>
                </c:pt>
                <c:pt idx="52">
                  <c:v>44</c:v>
                </c:pt>
                <c:pt idx="53">
                  <c:v>41</c:v>
                </c:pt>
                <c:pt idx="54">
                  <c:v>34</c:v>
                </c:pt>
                <c:pt idx="55">
                  <c:v>33</c:v>
                </c:pt>
                <c:pt idx="56">
                  <c:v>33</c:v>
                </c:pt>
                <c:pt idx="57">
                  <c:v>31</c:v>
                </c:pt>
                <c:pt idx="58">
                  <c:v>30</c:v>
                </c:pt>
                <c:pt idx="59">
                  <c:v>29</c:v>
                </c:pt>
                <c:pt idx="60">
                  <c:v>29</c:v>
                </c:pt>
                <c:pt idx="61">
                  <c:v>28</c:v>
                </c:pt>
                <c:pt idx="62">
                  <c:v>28</c:v>
                </c:pt>
                <c:pt idx="63">
                  <c:v>27</c:v>
                </c:pt>
                <c:pt idx="64">
                  <c:v>21</c:v>
                </c:pt>
                <c:pt idx="65">
                  <c:v>20</c:v>
                </c:pt>
                <c:pt idx="66">
                  <c:v>18</c:v>
                </c:pt>
                <c:pt idx="67">
                  <c:v>17</c:v>
                </c:pt>
                <c:pt idx="68">
                  <c:v>15</c:v>
                </c:pt>
                <c:pt idx="69">
                  <c:v>15</c:v>
                </c:pt>
                <c:pt idx="70">
                  <c:v>15</c:v>
                </c:pt>
                <c:pt idx="71">
                  <c:v>15</c:v>
                </c:pt>
                <c:pt idx="72">
                  <c:v>12</c:v>
                </c:pt>
                <c:pt idx="73">
                  <c:v>11</c:v>
                </c:pt>
                <c:pt idx="74">
                  <c:v>10</c:v>
                </c:pt>
                <c:pt idx="75">
                  <c:v>8</c:v>
                </c:pt>
                <c:pt idx="76">
                  <c:v>7</c:v>
                </c:pt>
                <c:pt idx="77">
                  <c:v>6</c:v>
                </c:pt>
                <c:pt idx="78">
                  <c:v>5</c:v>
                </c:pt>
                <c:pt idx="79">
                  <c:v>5</c:v>
                </c:pt>
                <c:pt idx="80">
                  <c:v>4</c:v>
                </c:pt>
                <c:pt idx="81">
                  <c:v>3</c:v>
                </c:pt>
                <c:pt idx="82">
                  <c:v>3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4"/>
            <c:bubble3D val="0"/>
            <c:spPr>
              <a:solidFill>
                <a:schemeClr val="accent5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6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1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2"/>
            <c:bubble3D val="0"/>
            <c:spPr>
              <a:solidFill>
                <a:schemeClr val="accent1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3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5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7"/>
            <c:bubble3D val="0"/>
            <c:spPr>
              <a:solidFill>
                <a:schemeClr val="accent6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9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2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3"/>
            <c:bubble3D val="0"/>
            <c:spPr>
              <a:solidFill>
                <a:schemeClr val="accent6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8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9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1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2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3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5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7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8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9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1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2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3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4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5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6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7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8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9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3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4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5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6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val>
            <c:numRef>
              <c:f>MICRO!$D$7:$D$93</c:f>
              <c:numCache>
                <c:formatCode>General</c:formatCode>
                <c:ptCount val="87"/>
                <c:pt idx="0">
                  <c:v>19490</c:v>
                </c:pt>
                <c:pt idx="1">
                  <c:v>8343</c:v>
                </c:pt>
                <c:pt idx="2">
                  <c:v>2196</c:v>
                </c:pt>
                <c:pt idx="3">
                  <c:v>1635</c:v>
                </c:pt>
                <c:pt idx="4">
                  <c:v>1096</c:v>
                </c:pt>
                <c:pt idx="5">
                  <c:v>822</c:v>
                </c:pt>
                <c:pt idx="6">
                  <c:v>810</c:v>
                </c:pt>
                <c:pt idx="7">
                  <c:v>823</c:v>
                </c:pt>
                <c:pt idx="8">
                  <c:v>735</c:v>
                </c:pt>
                <c:pt idx="9">
                  <c:v>757</c:v>
                </c:pt>
                <c:pt idx="10">
                  <c:v>699</c:v>
                </c:pt>
                <c:pt idx="11">
                  <c:v>412</c:v>
                </c:pt>
                <c:pt idx="12">
                  <c:v>632</c:v>
                </c:pt>
                <c:pt idx="13">
                  <c:v>345</c:v>
                </c:pt>
                <c:pt idx="14">
                  <c:v>343</c:v>
                </c:pt>
                <c:pt idx="15">
                  <c:v>306</c:v>
                </c:pt>
                <c:pt idx="16">
                  <c:v>381</c:v>
                </c:pt>
                <c:pt idx="17">
                  <c:v>197</c:v>
                </c:pt>
                <c:pt idx="18">
                  <c:v>214</c:v>
                </c:pt>
                <c:pt idx="19">
                  <c:v>302</c:v>
                </c:pt>
                <c:pt idx="20">
                  <c:v>227</c:v>
                </c:pt>
                <c:pt idx="21">
                  <c:v>144</c:v>
                </c:pt>
                <c:pt idx="22">
                  <c:v>149</c:v>
                </c:pt>
                <c:pt idx="23">
                  <c:v>191</c:v>
                </c:pt>
                <c:pt idx="24">
                  <c:v>156</c:v>
                </c:pt>
                <c:pt idx="25">
                  <c:v>135</c:v>
                </c:pt>
                <c:pt idx="26">
                  <c:v>182</c:v>
                </c:pt>
                <c:pt idx="27">
                  <c:v>151</c:v>
                </c:pt>
                <c:pt idx="28">
                  <c:v>137</c:v>
                </c:pt>
                <c:pt idx="29">
                  <c:v>172</c:v>
                </c:pt>
                <c:pt idx="30">
                  <c:v>130</c:v>
                </c:pt>
                <c:pt idx="31">
                  <c:v>99</c:v>
                </c:pt>
                <c:pt idx="32">
                  <c:v>70</c:v>
                </c:pt>
                <c:pt idx="33">
                  <c:v>113</c:v>
                </c:pt>
                <c:pt idx="34">
                  <c:v>93</c:v>
                </c:pt>
                <c:pt idx="35">
                  <c:v>128</c:v>
                </c:pt>
                <c:pt idx="36">
                  <c:v>135</c:v>
                </c:pt>
                <c:pt idx="37">
                  <c:v>94</c:v>
                </c:pt>
                <c:pt idx="38">
                  <c:v>86</c:v>
                </c:pt>
                <c:pt idx="39">
                  <c:v>73</c:v>
                </c:pt>
                <c:pt idx="40">
                  <c:v>77</c:v>
                </c:pt>
                <c:pt idx="41">
                  <c:v>76</c:v>
                </c:pt>
                <c:pt idx="42">
                  <c:v>35</c:v>
                </c:pt>
                <c:pt idx="43">
                  <c:v>54</c:v>
                </c:pt>
                <c:pt idx="44">
                  <c:v>58</c:v>
                </c:pt>
                <c:pt idx="45">
                  <c:v>37</c:v>
                </c:pt>
                <c:pt idx="46">
                  <c:v>30</c:v>
                </c:pt>
                <c:pt idx="47">
                  <c:v>49</c:v>
                </c:pt>
                <c:pt idx="48">
                  <c:v>36</c:v>
                </c:pt>
                <c:pt idx="49">
                  <c:v>30</c:v>
                </c:pt>
                <c:pt idx="50">
                  <c:v>41</c:v>
                </c:pt>
                <c:pt idx="51">
                  <c:v>33</c:v>
                </c:pt>
                <c:pt idx="52">
                  <c:v>44</c:v>
                </c:pt>
                <c:pt idx="53">
                  <c:v>17</c:v>
                </c:pt>
                <c:pt idx="54">
                  <c:v>43</c:v>
                </c:pt>
                <c:pt idx="55">
                  <c:v>30</c:v>
                </c:pt>
                <c:pt idx="56">
                  <c:v>18</c:v>
                </c:pt>
                <c:pt idx="57">
                  <c:v>26</c:v>
                </c:pt>
                <c:pt idx="58">
                  <c:v>15</c:v>
                </c:pt>
                <c:pt idx="59">
                  <c:v>31</c:v>
                </c:pt>
                <c:pt idx="60">
                  <c:v>28</c:v>
                </c:pt>
                <c:pt idx="61">
                  <c:v>25</c:v>
                </c:pt>
                <c:pt idx="62">
                  <c:v>17</c:v>
                </c:pt>
                <c:pt idx="63">
                  <c:v>12</c:v>
                </c:pt>
                <c:pt idx="64">
                  <c:v>16</c:v>
                </c:pt>
                <c:pt idx="65">
                  <c:v>21</c:v>
                </c:pt>
                <c:pt idx="66">
                  <c:v>9</c:v>
                </c:pt>
                <c:pt idx="67">
                  <c:v>4</c:v>
                </c:pt>
                <c:pt idx="68">
                  <c:v>7</c:v>
                </c:pt>
                <c:pt idx="69">
                  <c:v>9</c:v>
                </c:pt>
                <c:pt idx="70">
                  <c:v>7</c:v>
                </c:pt>
                <c:pt idx="71">
                  <c:v>4</c:v>
                </c:pt>
                <c:pt idx="72">
                  <c:v>4</c:v>
                </c:pt>
                <c:pt idx="73">
                  <c:v>9</c:v>
                </c:pt>
                <c:pt idx="74">
                  <c:v>3</c:v>
                </c:pt>
                <c:pt idx="75">
                  <c:v>7</c:v>
                </c:pt>
                <c:pt idx="76">
                  <c:v>3</c:v>
                </c:pt>
                <c:pt idx="77">
                  <c:v>6</c:v>
                </c:pt>
                <c:pt idx="78">
                  <c:v>4</c:v>
                </c:pt>
                <c:pt idx="79">
                  <c:v>5</c:v>
                </c:pt>
                <c:pt idx="80">
                  <c:v>4</c:v>
                </c:pt>
                <c:pt idx="81">
                  <c:v>4</c:v>
                </c:pt>
                <c:pt idx="82">
                  <c:v>2</c:v>
                </c:pt>
                <c:pt idx="83">
                  <c:v>2</c:v>
                </c:pt>
                <c:pt idx="85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5AA0F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6B6B6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4"/>
            <c:bubble3D val="0"/>
            <c:spPr>
              <a:solidFill>
                <a:schemeClr val="accent5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6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1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2"/>
            <c:bubble3D val="0"/>
            <c:spPr>
              <a:solidFill>
                <a:schemeClr val="accent1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3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5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7"/>
            <c:bubble3D val="0"/>
            <c:spPr>
              <a:solidFill>
                <a:schemeClr val="accent6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9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2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3"/>
            <c:bubble3D val="0"/>
            <c:spPr>
              <a:solidFill>
                <a:schemeClr val="accent6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8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9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1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2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3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5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7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8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9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1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2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3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4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5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6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7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8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9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3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4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5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6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val>
            <c:numRef>
              <c:f>LOW!$C$7:$C$93</c:f>
              <c:numCache>
                <c:formatCode>General</c:formatCode>
                <c:ptCount val="87"/>
                <c:pt idx="0">
                  <c:v>4395</c:v>
                </c:pt>
                <c:pt idx="1">
                  <c:v>2620</c:v>
                </c:pt>
                <c:pt idx="2">
                  <c:v>534</c:v>
                </c:pt>
                <c:pt idx="3">
                  <c:v>384</c:v>
                </c:pt>
                <c:pt idx="4">
                  <c:v>234</c:v>
                </c:pt>
                <c:pt idx="5">
                  <c:v>215</c:v>
                </c:pt>
                <c:pt idx="6">
                  <c:v>203</c:v>
                </c:pt>
                <c:pt idx="7">
                  <c:v>196</c:v>
                </c:pt>
                <c:pt idx="8">
                  <c:v>156</c:v>
                </c:pt>
                <c:pt idx="9">
                  <c:v>141</c:v>
                </c:pt>
                <c:pt idx="10">
                  <c:v>113</c:v>
                </c:pt>
                <c:pt idx="11">
                  <c:v>96</c:v>
                </c:pt>
                <c:pt idx="12">
                  <c:v>91</c:v>
                </c:pt>
                <c:pt idx="13">
                  <c:v>86</c:v>
                </c:pt>
                <c:pt idx="14">
                  <c:v>84</c:v>
                </c:pt>
                <c:pt idx="15">
                  <c:v>79</c:v>
                </c:pt>
                <c:pt idx="16">
                  <c:v>72</c:v>
                </c:pt>
                <c:pt idx="17">
                  <c:v>62</c:v>
                </c:pt>
                <c:pt idx="18">
                  <c:v>52</c:v>
                </c:pt>
                <c:pt idx="19">
                  <c:v>39</c:v>
                </c:pt>
                <c:pt idx="20">
                  <c:v>33</c:v>
                </c:pt>
                <c:pt idx="21">
                  <c:v>29</c:v>
                </c:pt>
                <c:pt idx="22">
                  <c:v>27</c:v>
                </c:pt>
                <c:pt idx="23">
                  <c:v>26</c:v>
                </c:pt>
                <c:pt idx="24">
                  <c:v>26</c:v>
                </c:pt>
                <c:pt idx="25">
                  <c:v>25</c:v>
                </c:pt>
                <c:pt idx="26">
                  <c:v>25</c:v>
                </c:pt>
                <c:pt idx="27">
                  <c:v>23</c:v>
                </c:pt>
                <c:pt idx="28">
                  <c:v>23</c:v>
                </c:pt>
                <c:pt idx="29">
                  <c:v>21</c:v>
                </c:pt>
                <c:pt idx="30">
                  <c:v>21</c:v>
                </c:pt>
                <c:pt idx="31">
                  <c:v>18</c:v>
                </c:pt>
                <c:pt idx="32">
                  <c:v>17</c:v>
                </c:pt>
                <c:pt idx="33">
                  <c:v>17</c:v>
                </c:pt>
                <c:pt idx="34">
                  <c:v>15</c:v>
                </c:pt>
                <c:pt idx="35">
                  <c:v>15</c:v>
                </c:pt>
                <c:pt idx="36">
                  <c:v>14</c:v>
                </c:pt>
                <c:pt idx="37">
                  <c:v>11</c:v>
                </c:pt>
                <c:pt idx="38">
                  <c:v>11</c:v>
                </c:pt>
                <c:pt idx="39">
                  <c:v>10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7</c:v>
                </c:pt>
                <c:pt idx="45">
                  <c:v>7</c:v>
                </c:pt>
                <c:pt idx="46">
                  <c:v>6</c:v>
                </c:pt>
                <c:pt idx="47">
                  <c:v>6</c:v>
                </c:pt>
                <c:pt idx="48">
                  <c:v>6</c:v>
                </c:pt>
                <c:pt idx="49">
                  <c:v>6</c:v>
                </c:pt>
                <c:pt idx="50">
                  <c:v>5</c:v>
                </c:pt>
                <c:pt idx="51">
                  <c:v>5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3</c:v>
                </c:pt>
                <c:pt idx="60">
                  <c:v>3</c:v>
                </c:pt>
                <c:pt idx="61">
                  <c:v>3</c:v>
                </c:pt>
                <c:pt idx="62">
                  <c:v>3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smtClean="0"/>
              <a:t>SME</a:t>
            </a:r>
            <a:endParaRPr lang="en-US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Sheet1!$A$2:$A$12</c:f>
              <c:strCache>
                <c:ptCount val="11"/>
                <c:pt idx="0">
                  <c:v>Proprietorship</c:v>
                </c:pt>
                <c:pt idx="1">
                  <c:v>Not Classified</c:v>
                </c:pt>
                <c:pt idx="2">
                  <c:v>Partnership</c:v>
                </c:pt>
                <c:pt idx="3">
                  <c:v>Pvt</c:v>
                </c:pt>
                <c:pt idx="4">
                  <c:v>Public</c:v>
                </c:pt>
                <c:pt idx="5">
                  <c:v>Govt</c:v>
                </c:pt>
                <c:pt idx="6">
                  <c:v>Trust</c:v>
                </c:pt>
                <c:pt idx="7">
                  <c:v>HUF</c:v>
                </c:pt>
                <c:pt idx="8">
                  <c:v>&lt;blank&gt;</c:v>
                </c:pt>
                <c:pt idx="9">
                  <c:v>Co Op</c:v>
                </c:pt>
                <c:pt idx="10">
                  <c:v>Entity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14775</c:v>
                </c:pt>
                <c:pt idx="1">
                  <c:v>4316</c:v>
                </c:pt>
                <c:pt idx="2">
                  <c:v>9551</c:v>
                </c:pt>
                <c:pt idx="3">
                  <c:v>8014</c:v>
                </c:pt>
                <c:pt idx="4">
                  <c:v>1126</c:v>
                </c:pt>
                <c:pt idx="5">
                  <c:v>257</c:v>
                </c:pt>
                <c:pt idx="6">
                  <c:v>475</c:v>
                </c:pt>
                <c:pt idx="7">
                  <c:v>160</c:v>
                </c:pt>
                <c:pt idx="8">
                  <c:v>171</c:v>
                </c:pt>
                <c:pt idx="9">
                  <c:v>172</c:v>
                </c:pt>
                <c:pt idx="10">
                  <c:v>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MICRO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Sheet1!$A$2:$A$12</c:f>
              <c:strCache>
                <c:ptCount val="11"/>
                <c:pt idx="0">
                  <c:v>Proprietorship</c:v>
                </c:pt>
                <c:pt idx="1">
                  <c:v>Not Classified</c:v>
                </c:pt>
                <c:pt idx="2">
                  <c:v>Partnership</c:v>
                </c:pt>
                <c:pt idx="3">
                  <c:v>Pvt</c:v>
                </c:pt>
                <c:pt idx="4">
                  <c:v>Public</c:v>
                </c:pt>
                <c:pt idx="5">
                  <c:v>Govt</c:v>
                </c:pt>
                <c:pt idx="6">
                  <c:v>Trust</c:v>
                </c:pt>
                <c:pt idx="7">
                  <c:v>HUF</c:v>
                </c:pt>
                <c:pt idx="8">
                  <c:v>&lt;blank&gt;</c:v>
                </c:pt>
                <c:pt idx="9">
                  <c:v>Co Op</c:v>
                </c:pt>
                <c:pt idx="10">
                  <c:v>Entity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24072</c:v>
                </c:pt>
                <c:pt idx="1">
                  <c:v>8750</c:v>
                </c:pt>
                <c:pt idx="2">
                  <c:v>6270</c:v>
                </c:pt>
                <c:pt idx="3">
                  <c:v>2655</c:v>
                </c:pt>
                <c:pt idx="4">
                  <c:v>405</c:v>
                </c:pt>
                <c:pt idx="5">
                  <c:v>576</c:v>
                </c:pt>
                <c:pt idx="6">
                  <c:v>360</c:v>
                </c:pt>
                <c:pt idx="7">
                  <c:v>345</c:v>
                </c:pt>
                <c:pt idx="8">
                  <c:v>459</c:v>
                </c:pt>
                <c:pt idx="9">
                  <c:v>186</c:v>
                </c:pt>
                <c:pt idx="10">
                  <c:v>118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3006915595398933"/>
          <c:w val="1"/>
          <c:h val="0.14713908030746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smtClean="0"/>
              <a:t>LOW</a:t>
            </a:r>
            <a:endParaRPr lang="en-US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Sheet1!$A$2:$A$12</c:f>
              <c:strCache>
                <c:ptCount val="11"/>
                <c:pt idx="0">
                  <c:v>Proprietorship</c:v>
                </c:pt>
                <c:pt idx="1">
                  <c:v>Not Classified</c:v>
                </c:pt>
                <c:pt idx="2">
                  <c:v>Partnership</c:v>
                </c:pt>
                <c:pt idx="3">
                  <c:v>Pvt</c:v>
                </c:pt>
                <c:pt idx="4">
                  <c:v>Public</c:v>
                </c:pt>
                <c:pt idx="5">
                  <c:v>Govt</c:v>
                </c:pt>
                <c:pt idx="6">
                  <c:v>Trust</c:v>
                </c:pt>
                <c:pt idx="7">
                  <c:v>HUF</c:v>
                </c:pt>
                <c:pt idx="8">
                  <c:v>&lt;blank&gt;</c:v>
                </c:pt>
                <c:pt idx="9">
                  <c:v>Co Op</c:v>
                </c:pt>
                <c:pt idx="10">
                  <c:v>Entity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2922</c:v>
                </c:pt>
                <c:pt idx="1">
                  <c:v>6106</c:v>
                </c:pt>
                <c:pt idx="2">
                  <c:v>434</c:v>
                </c:pt>
                <c:pt idx="3">
                  <c:v>218</c:v>
                </c:pt>
                <c:pt idx="4">
                  <c:v>57</c:v>
                </c:pt>
                <c:pt idx="5">
                  <c:v>220</c:v>
                </c:pt>
                <c:pt idx="6">
                  <c:v>78</c:v>
                </c:pt>
                <c:pt idx="7">
                  <c:v>219</c:v>
                </c:pt>
                <c:pt idx="8">
                  <c:v>34</c:v>
                </c:pt>
                <c:pt idx="9">
                  <c:v>84</c:v>
                </c:pt>
                <c:pt idx="10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SME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Sheet1!$B$3:$B$10</c:f>
              <c:strCache>
                <c:ptCount val="8"/>
                <c:pt idx="0">
                  <c:v>Delhi</c:v>
                </c:pt>
                <c:pt idx="1">
                  <c:v>Mumbai</c:v>
                </c:pt>
                <c:pt idx="2">
                  <c:v>Bangalore</c:v>
                </c:pt>
                <c:pt idx="3">
                  <c:v>Pune</c:v>
                </c:pt>
                <c:pt idx="4">
                  <c:v>Chennai</c:v>
                </c:pt>
                <c:pt idx="5">
                  <c:v>Hyderabad</c:v>
                </c:pt>
                <c:pt idx="6">
                  <c:v>Kolkata</c:v>
                </c:pt>
                <c:pt idx="7">
                  <c:v>Others</c:v>
                </c:pt>
              </c:strCache>
            </c:strRef>
          </c:cat>
          <c:val>
            <c:numRef>
              <c:f>Sheet1!$C$3:$C$10</c:f>
              <c:numCache>
                <c:formatCode>General</c:formatCode>
                <c:ptCount val="8"/>
                <c:pt idx="0">
                  <c:v>2861</c:v>
                </c:pt>
                <c:pt idx="1">
                  <c:v>2570</c:v>
                </c:pt>
                <c:pt idx="2">
                  <c:v>1475</c:v>
                </c:pt>
                <c:pt idx="3">
                  <c:v>915</c:v>
                </c:pt>
                <c:pt idx="4">
                  <c:v>1014</c:v>
                </c:pt>
                <c:pt idx="5">
                  <c:v>1013</c:v>
                </c:pt>
                <c:pt idx="6">
                  <c:v>826</c:v>
                </c:pt>
                <c:pt idx="7">
                  <c:v>28442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MICRO</a:t>
            </a:r>
          </a:p>
        </c:rich>
      </c:tx>
      <c:layout>
        <c:manualLayout>
          <c:xMode val="edge"/>
          <c:yMode val="edge"/>
          <c:x val="0.42489566929133854"/>
          <c:y val="3.99457869618838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0952384076990369"/>
          <c:y val="0.21098578338878038"/>
          <c:w val="0.39206364829396323"/>
          <c:h val="0.56380647492898617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Sheet1!$B$3:$B$10</c:f>
              <c:strCache>
                <c:ptCount val="8"/>
                <c:pt idx="0">
                  <c:v>Delhi</c:v>
                </c:pt>
                <c:pt idx="1">
                  <c:v>Mumbai</c:v>
                </c:pt>
                <c:pt idx="2">
                  <c:v>Bangalore</c:v>
                </c:pt>
                <c:pt idx="3">
                  <c:v>Pune</c:v>
                </c:pt>
                <c:pt idx="4">
                  <c:v>Chennai</c:v>
                </c:pt>
                <c:pt idx="5">
                  <c:v>Hyderabad</c:v>
                </c:pt>
                <c:pt idx="6">
                  <c:v>Kolkata</c:v>
                </c:pt>
                <c:pt idx="7">
                  <c:v>Others</c:v>
                </c:pt>
              </c:strCache>
            </c:strRef>
          </c:cat>
          <c:val>
            <c:numRef>
              <c:f>Sheet1!$D$3:$D$10</c:f>
              <c:numCache>
                <c:formatCode>General</c:formatCode>
                <c:ptCount val="8"/>
                <c:pt idx="0">
                  <c:v>1857</c:v>
                </c:pt>
                <c:pt idx="1">
                  <c:v>1425</c:v>
                </c:pt>
                <c:pt idx="2">
                  <c:v>1130</c:v>
                </c:pt>
                <c:pt idx="3">
                  <c:v>783</c:v>
                </c:pt>
                <c:pt idx="4">
                  <c:v>673</c:v>
                </c:pt>
                <c:pt idx="5">
                  <c:v>664</c:v>
                </c:pt>
                <c:pt idx="6">
                  <c:v>565</c:v>
                </c:pt>
                <c:pt idx="7">
                  <c:v>37099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930310328439296"/>
          <c:w val="1"/>
          <c:h val="0.126729424538476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LOW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5.6046259842519631E-2"/>
                  <c:y val="-1.8476961213181684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4.2687554680664916E-2"/>
                  <c:y val="-4.3316200058326045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7004593175853019E-3"/>
                  <c:y val="-5.2505103528725575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5.4281167979002627E-2"/>
                  <c:y val="-5.5651793525809276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7.3963363954505687E-2"/>
                  <c:y val="7.1602508019830858E-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7.5475721784776906E-2"/>
                  <c:y val="8.9549431321084866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Sheet1!$B$3:$B$10</c:f>
              <c:strCache>
                <c:ptCount val="8"/>
                <c:pt idx="0">
                  <c:v>Delhi</c:v>
                </c:pt>
                <c:pt idx="1">
                  <c:v>Mumbai</c:v>
                </c:pt>
                <c:pt idx="2">
                  <c:v>Bangalore</c:v>
                </c:pt>
                <c:pt idx="3">
                  <c:v>Pune</c:v>
                </c:pt>
                <c:pt idx="4">
                  <c:v>Chennai</c:v>
                </c:pt>
                <c:pt idx="5">
                  <c:v>Hyderabad</c:v>
                </c:pt>
                <c:pt idx="6">
                  <c:v>Kolkata</c:v>
                </c:pt>
                <c:pt idx="7">
                  <c:v>Others</c:v>
                </c:pt>
              </c:strCache>
            </c:strRef>
          </c:cat>
          <c:val>
            <c:numRef>
              <c:f>Sheet1!$E$3:$E$10</c:f>
              <c:numCache>
                <c:formatCode>General</c:formatCode>
                <c:ptCount val="8"/>
                <c:pt idx="0">
                  <c:v>190</c:v>
                </c:pt>
                <c:pt idx="1">
                  <c:v>166</c:v>
                </c:pt>
                <c:pt idx="2">
                  <c:v>143</c:v>
                </c:pt>
                <c:pt idx="3">
                  <c:v>118</c:v>
                </c:pt>
                <c:pt idx="4">
                  <c:v>116</c:v>
                </c:pt>
                <c:pt idx="5">
                  <c:v>85</c:v>
                </c:pt>
                <c:pt idx="6">
                  <c:v>74</c:v>
                </c:pt>
                <c:pt idx="7">
                  <c:v>9501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smtClean="0"/>
              <a:t>Others</a:t>
            </a:r>
            <a:endParaRPr lang="en-US" sz="1400" dirty="0"/>
          </a:p>
        </c:rich>
      </c:tx>
      <c:layout>
        <c:manualLayout>
          <c:xMode val="edge"/>
          <c:yMode val="edge"/>
          <c:x val="0.44448327092991852"/>
          <c:y val="3.10216756834437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255268230915723"/>
          <c:y val="0.19215363301683352"/>
          <c:w val="0.26014032791172048"/>
          <c:h val="0.5443192675953356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Sheet1!$A$2:$A$12</c:f>
              <c:strCache>
                <c:ptCount val="11"/>
                <c:pt idx="0">
                  <c:v>Proprietorship</c:v>
                </c:pt>
                <c:pt idx="1">
                  <c:v>Partnership</c:v>
                </c:pt>
                <c:pt idx="2">
                  <c:v>Pvt</c:v>
                </c:pt>
                <c:pt idx="3">
                  <c:v>Not Classified</c:v>
                </c:pt>
                <c:pt idx="4">
                  <c:v>Public</c:v>
                </c:pt>
                <c:pt idx="5">
                  <c:v>Trust</c:v>
                </c:pt>
                <c:pt idx="6">
                  <c:v>Govt</c:v>
                </c:pt>
                <c:pt idx="7">
                  <c:v>Co Op</c:v>
                </c:pt>
                <c:pt idx="8">
                  <c:v>&lt;blank&gt;</c:v>
                </c:pt>
                <c:pt idx="9">
                  <c:v>HUF</c:v>
                </c:pt>
                <c:pt idx="10">
                  <c:v>Entity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13145</c:v>
                </c:pt>
                <c:pt idx="1">
                  <c:v>8331</c:v>
                </c:pt>
                <c:pt idx="2">
                  <c:v>6850</c:v>
                </c:pt>
                <c:pt idx="3">
                  <c:v>3728</c:v>
                </c:pt>
                <c:pt idx="4">
                  <c:v>958</c:v>
                </c:pt>
                <c:pt idx="5">
                  <c:v>432</c:v>
                </c:pt>
                <c:pt idx="6">
                  <c:v>245</c:v>
                </c:pt>
                <c:pt idx="7">
                  <c:v>153</c:v>
                </c:pt>
                <c:pt idx="8">
                  <c:v>86</c:v>
                </c:pt>
                <c:pt idx="9">
                  <c:v>153</c:v>
                </c:pt>
                <c:pt idx="10">
                  <c:v>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0970407473155883"/>
          <c:y val="4.3599310889245908E-2"/>
          <c:w val="0.25495556529244257"/>
          <c:h val="0.884961150535331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smtClean="0"/>
              <a:t>'New</a:t>
            </a:r>
            <a:r>
              <a:rPr lang="en-US" sz="1400" baseline="0" dirty="0" smtClean="0"/>
              <a:t> </a:t>
            </a:r>
            <a:r>
              <a:rPr lang="en-US" sz="1400" dirty="0" smtClean="0"/>
              <a:t>Account' </a:t>
            </a:r>
            <a:endParaRPr lang="en-US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Sheet1!$A$2:$A$12</c:f>
              <c:strCache>
                <c:ptCount val="11"/>
                <c:pt idx="0">
                  <c:v>Proprietorship</c:v>
                </c:pt>
                <c:pt idx="1">
                  <c:v>Partnership</c:v>
                </c:pt>
                <c:pt idx="2">
                  <c:v>Pvt</c:v>
                </c:pt>
                <c:pt idx="3">
                  <c:v>Not Classified</c:v>
                </c:pt>
                <c:pt idx="4">
                  <c:v>Public</c:v>
                </c:pt>
                <c:pt idx="5">
                  <c:v>Trust</c:v>
                </c:pt>
                <c:pt idx="6">
                  <c:v>Govt</c:v>
                </c:pt>
                <c:pt idx="7">
                  <c:v>Co Op</c:v>
                </c:pt>
                <c:pt idx="8">
                  <c:v>&lt;blank&gt;</c:v>
                </c:pt>
                <c:pt idx="9">
                  <c:v>HUF</c:v>
                </c:pt>
                <c:pt idx="10">
                  <c:v>Entity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1630</c:v>
                </c:pt>
                <c:pt idx="1">
                  <c:v>1220</c:v>
                </c:pt>
                <c:pt idx="2">
                  <c:v>1164</c:v>
                </c:pt>
                <c:pt idx="3">
                  <c:v>588</c:v>
                </c:pt>
                <c:pt idx="4">
                  <c:v>168</c:v>
                </c:pt>
                <c:pt idx="5">
                  <c:v>43</c:v>
                </c:pt>
                <c:pt idx="6">
                  <c:v>12</c:v>
                </c:pt>
                <c:pt idx="7">
                  <c:v>19</c:v>
                </c:pt>
                <c:pt idx="8">
                  <c:v>85</c:v>
                </c:pt>
                <c:pt idx="9">
                  <c:v>7</c:v>
                </c:pt>
                <c:pt idx="10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smtClean="0"/>
              <a:t>Others</a:t>
            </a:r>
            <a:endParaRPr lang="en-US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Sheet1!$A$2:$A$9</c:f>
              <c:strCache>
                <c:ptCount val="8"/>
                <c:pt idx="0">
                  <c:v>Delhi</c:v>
                </c:pt>
                <c:pt idx="1">
                  <c:v>Mumbai</c:v>
                </c:pt>
                <c:pt idx="2">
                  <c:v>Bangalore</c:v>
                </c:pt>
                <c:pt idx="3">
                  <c:v>Chennai</c:v>
                </c:pt>
                <c:pt idx="4">
                  <c:v>Hyderabad</c:v>
                </c:pt>
                <c:pt idx="5">
                  <c:v>Pune</c:v>
                </c:pt>
                <c:pt idx="6">
                  <c:v>Kolkata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2423</c:v>
                </c:pt>
                <c:pt idx="1">
                  <c:v>2271</c:v>
                </c:pt>
                <c:pt idx="2">
                  <c:v>1236</c:v>
                </c:pt>
                <c:pt idx="3">
                  <c:v>879</c:v>
                </c:pt>
                <c:pt idx="4">
                  <c:v>878</c:v>
                </c:pt>
                <c:pt idx="5">
                  <c:v>777</c:v>
                </c:pt>
                <c:pt idx="6">
                  <c:v>688</c:v>
                </c:pt>
                <c:pt idx="7">
                  <c:v>25020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1033286700077325"/>
          <c:y val="1.7105716519833822E-2"/>
          <c:w val="0.2896671329992267"/>
          <c:h val="0.796649227984547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smtClean="0"/>
              <a:t>'New</a:t>
            </a:r>
            <a:r>
              <a:rPr lang="en-US" sz="1400" baseline="0" dirty="0" smtClean="0"/>
              <a:t> </a:t>
            </a:r>
            <a:r>
              <a:rPr lang="en-US" sz="1400" dirty="0" smtClean="0"/>
              <a:t>Account' </a:t>
            </a:r>
            <a:endParaRPr lang="en-US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Sheet1!$A$2:$A$9</c:f>
              <c:strCache>
                <c:ptCount val="8"/>
                <c:pt idx="0">
                  <c:v>Delhi</c:v>
                </c:pt>
                <c:pt idx="1">
                  <c:v>Mumbai</c:v>
                </c:pt>
                <c:pt idx="2">
                  <c:v>Bangalore</c:v>
                </c:pt>
                <c:pt idx="3">
                  <c:v>Chennai</c:v>
                </c:pt>
                <c:pt idx="4">
                  <c:v>Hyderabad</c:v>
                </c:pt>
                <c:pt idx="5">
                  <c:v>Pune</c:v>
                </c:pt>
                <c:pt idx="6">
                  <c:v>Kolkata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438</c:v>
                </c:pt>
                <c:pt idx="1">
                  <c:v>299</c:v>
                </c:pt>
                <c:pt idx="2">
                  <c:v>238</c:v>
                </c:pt>
                <c:pt idx="3">
                  <c:v>135</c:v>
                </c:pt>
                <c:pt idx="4">
                  <c:v>135</c:v>
                </c:pt>
                <c:pt idx="5">
                  <c:v>138</c:v>
                </c:pt>
                <c:pt idx="6">
                  <c:v>138</c:v>
                </c:pt>
                <c:pt idx="7">
                  <c:v>3423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smtClean="0"/>
              <a:t>Others</a:t>
            </a:r>
            <a:endParaRPr lang="en-US" sz="1400" dirty="0"/>
          </a:p>
        </c:rich>
      </c:tx>
      <c:layout>
        <c:manualLayout>
          <c:xMode val="edge"/>
          <c:yMode val="edge"/>
          <c:x val="0.32727678879080813"/>
          <c:y val="3.10216756834437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626720503198239"/>
          <c:y val="0.19215363301683352"/>
          <c:w val="0.260768611506149"/>
          <c:h val="0.542250748774501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Sheet1!$A$2:$A$10</c:f>
              <c:strCache>
                <c:ptCount val="9"/>
                <c:pt idx="0">
                  <c:v>OTHERS</c:v>
                </c:pt>
                <c:pt idx="1">
                  <c:v>RETAIL</c:v>
                </c:pt>
                <c:pt idx="2">
                  <c:v>INDUSTRIAL</c:v>
                </c:pt>
                <c:pt idx="3">
                  <c:v>FOOD</c:v>
                </c:pt>
                <c:pt idx="4">
                  <c:v>APPAREL</c:v>
                </c:pt>
                <c:pt idx="5">
                  <c:v>FMCG</c:v>
                </c:pt>
                <c:pt idx="6">
                  <c:v>AUTO</c:v>
                </c:pt>
                <c:pt idx="7">
                  <c:v>SERVICES</c:v>
                </c:pt>
                <c:pt idx="8">
                  <c:v>All other subdomains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15071</c:v>
                </c:pt>
                <c:pt idx="1">
                  <c:v>3168</c:v>
                </c:pt>
                <c:pt idx="2">
                  <c:v>2447</c:v>
                </c:pt>
                <c:pt idx="3">
                  <c:v>1776</c:v>
                </c:pt>
                <c:pt idx="4">
                  <c:v>1403</c:v>
                </c:pt>
                <c:pt idx="5">
                  <c:v>915</c:v>
                </c:pt>
                <c:pt idx="6">
                  <c:v>852</c:v>
                </c:pt>
                <c:pt idx="7">
                  <c:v>599</c:v>
                </c:pt>
                <c:pt idx="8">
                  <c:v>7941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46027180348204"/>
          <c:y val="4.3599310889245908E-2"/>
          <c:w val="0.31005687762735012"/>
          <c:h val="0.79706653823747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smtClean="0"/>
              <a:t>'New Account' </a:t>
            </a:r>
            <a:endParaRPr lang="en-US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Sheet1!$A$2:$A$10</c:f>
              <c:strCache>
                <c:ptCount val="9"/>
                <c:pt idx="0">
                  <c:v>OTHERS</c:v>
                </c:pt>
                <c:pt idx="1">
                  <c:v>RETAIL</c:v>
                </c:pt>
                <c:pt idx="2">
                  <c:v>INDUSTRIAL</c:v>
                </c:pt>
                <c:pt idx="3">
                  <c:v>FOOD</c:v>
                </c:pt>
                <c:pt idx="4">
                  <c:v>APPAREL</c:v>
                </c:pt>
                <c:pt idx="5">
                  <c:v>FMCG</c:v>
                </c:pt>
                <c:pt idx="6">
                  <c:v>AUTO</c:v>
                </c:pt>
                <c:pt idx="7">
                  <c:v>SERVICES</c:v>
                </c:pt>
                <c:pt idx="8">
                  <c:v>All other subdomains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2194</c:v>
                </c:pt>
                <c:pt idx="1">
                  <c:v>407</c:v>
                </c:pt>
                <c:pt idx="2">
                  <c:v>391</c:v>
                </c:pt>
                <c:pt idx="3">
                  <c:v>211</c:v>
                </c:pt>
                <c:pt idx="4">
                  <c:v>211</c:v>
                </c:pt>
                <c:pt idx="5">
                  <c:v>120</c:v>
                </c:pt>
                <c:pt idx="6">
                  <c:v>159</c:v>
                </c:pt>
                <c:pt idx="7">
                  <c:v>111</c:v>
                </c:pt>
                <c:pt idx="8">
                  <c:v>1140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Count of Trades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15.5</c:v>
                </c:pt>
                <c:pt idx="1">
                  <c:v>3.154733009708738</c:v>
                </c:pt>
                <c:pt idx="2">
                  <c:v>9.8230177993527512</c:v>
                </c:pt>
                <c:pt idx="3">
                  <c:v>2.404733009708738</c:v>
                </c:pt>
                <c:pt idx="4">
                  <c:v>0.11751618122977346</c:v>
                </c:pt>
                <c:pt idx="5">
                  <c:v>9.7285598705501624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5.8566955402083574</c:v>
                </c:pt>
                <c:pt idx="1">
                  <c:v>1.6627355729837294</c:v>
                </c:pt>
                <c:pt idx="2">
                  <c:v>3.5915661945452415</c:v>
                </c:pt>
                <c:pt idx="3">
                  <c:v>0.59466814936205081</c:v>
                </c:pt>
                <c:pt idx="4">
                  <c:v>7.6963595926489523E-3</c:v>
                </c:pt>
                <c:pt idx="5">
                  <c:v>4.3218424441062862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354088000"/>
        <c:axId val="-1135228496"/>
      </c:barChart>
      <c:catAx>
        <c:axId val="-135408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5228496"/>
        <c:crosses val="autoZero"/>
        <c:auto val="1"/>
        <c:lblAlgn val="ctr"/>
        <c:lblOffset val="100"/>
        <c:noMultiLvlLbl val="0"/>
      </c:catAx>
      <c:valAx>
        <c:axId val="-113522849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35408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Latest Balance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13960905.08697411</c:v>
                </c:pt>
                <c:pt idx="1">
                  <c:v>9435399.3044093847</c:v>
                </c:pt>
                <c:pt idx="2">
                  <c:v>3473010.2271440132</c:v>
                </c:pt>
                <c:pt idx="3">
                  <c:v>1046518.6856796116</c:v>
                </c:pt>
                <c:pt idx="4">
                  <c:v>5976.8697411003241</c:v>
                </c:pt>
                <c:pt idx="5">
                  <c:v>11477456.548139159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10949622.954260798</c:v>
                </c:pt>
                <c:pt idx="1">
                  <c:v>7251887.2716258923</c:v>
                </c:pt>
                <c:pt idx="2">
                  <c:v>2972638.9853681377</c:v>
                </c:pt>
                <c:pt idx="3">
                  <c:v>710243.41967107577</c:v>
                </c:pt>
                <c:pt idx="4">
                  <c:v>14853.27759569238</c:v>
                </c:pt>
                <c:pt idx="5">
                  <c:v>9067666.2578134146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5227952"/>
        <c:axId val="-1135223600"/>
      </c:barChart>
      <c:catAx>
        <c:axId val="-1135227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5223600"/>
        <c:crosses val="autoZero"/>
        <c:auto val="1"/>
        <c:lblAlgn val="ctr"/>
        <c:lblOffset val="100"/>
        <c:noMultiLvlLbl val="0"/>
      </c:catAx>
      <c:valAx>
        <c:axId val="-11352236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5227952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Latest Credit</a:t>
            </a:r>
            <a:r>
              <a:rPr lang="en-IN" baseline="0" dirty="0" smtClean="0"/>
              <a:t> Limit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34807607.836367317</c:v>
                </c:pt>
                <c:pt idx="1">
                  <c:v>8889605.2758899685</c:v>
                </c:pt>
                <c:pt idx="2">
                  <c:v>21040135.270226538</c:v>
                </c:pt>
                <c:pt idx="3">
                  <c:v>1908212.821197411</c:v>
                </c:pt>
                <c:pt idx="4">
                  <c:v>0</c:v>
                </c:pt>
                <c:pt idx="5">
                  <c:v>25726700.906957928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26566952.396728314</c:v>
                </c:pt>
                <c:pt idx="1">
                  <c:v>6925122.5064965468</c:v>
                </c:pt>
                <c:pt idx="2">
                  <c:v>16178480.911330914</c:v>
                </c:pt>
                <c:pt idx="3">
                  <c:v>1052312.4898162237</c:v>
                </c:pt>
                <c:pt idx="4">
                  <c:v>0</c:v>
                </c:pt>
                <c:pt idx="5">
                  <c:v>20253695.860616878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5225232"/>
        <c:axId val="-1135230128"/>
      </c:barChart>
      <c:catAx>
        <c:axId val="-1135225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5230128"/>
        <c:crosses val="autoZero"/>
        <c:auto val="1"/>
        <c:lblAlgn val="ctr"/>
        <c:lblOffset val="100"/>
        <c:noMultiLvlLbl val="0"/>
      </c:catAx>
      <c:valAx>
        <c:axId val="-113523012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5225232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TL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0.20519999999999999</c:v>
                </c:pt>
                <c:pt idx="1">
                  <c:v>0.28439999999999999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0.63319999999999999</c:v>
                </c:pt>
                <c:pt idx="1">
                  <c:v>0.61299999999999999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NF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Sheet1!$D$2:$D$3</c:f>
              <c:numCache>
                <c:formatCode>0.00%</c:formatCode>
                <c:ptCount val="2"/>
                <c:pt idx="0">
                  <c:v>0.15379999999999999</c:v>
                </c:pt>
                <c:pt idx="1">
                  <c:v>0.1013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FX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Sheet1!$E$2:$E$3</c:f>
              <c:numCache>
                <c:formatCode>0.00%</c:formatCode>
                <c:ptCount val="2"/>
                <c:pt idx="0">
                  <c:v>7.7999999999999996E-3</c:v>
                </c:pt>
                <c:pt idx="1">
                  <c:v>1.2999999999999999E-3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1134682864"/>
        <c:axId val="-1134687216"/>
      </c:barChart>
      <c:catAx>
        <c:axId val="-113468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7216"/>
        <c:crosses val="autoZero"/>
        <c:auto val="1"/>
        <c:lblAlgn val="ctr"/>
        <c:lblOffset val="100"/>
        <c:noMultiLvlLbl val="0"/>
      </c:catAx>
      <c:valAx>
        <c:axId val="-113468721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2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56777751417112"/>
          <c:y val="0.24908855555120624"/>
          <c:w val="0.5309701670507293"/>
          <c:h val="0.5692353585104817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 LOAN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7.8E-2</c:v>
                </c:pt>
                <c:pt idx="1">
                  <c:v>4.0899999999999999E-2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COMMERCIAL VEHICLE LOAN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0.26619999999999999</c:v>
                </c:pt>
                <c:pt idx="1">
                  <c:v>0.18659999999999999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EQUIPMENT FINANCING 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Sheet1!$D$2:$D$3</c:f>
              <c:numCache>
                <c:formatCode>0.00%</c:formatCode>
                <c:ptCount val="2"/>
                <c:pt idx="0">
                  <c:v>5.16E-2</c:v>
                </c:pt>
                <c:pt idx="1">
                  <c:v>5.7200000000000001E-2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LONG TERM LOAN 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Sheet1!$E$2:$E$3</c:f>
              <c:numCache>
                <c:formatCode>0.00%</c:formatCode>
                <c:ptCount val="2"/>
                <c:pt idx="0">
                  <c:v>0.39040000000000002</c:v>
                </c:pt>
                <c:pt idx="1">
                  <c:v>0.4662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MEDIUM TERM LOAN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Sheet1!$F$2:$F$3</c:f>
              <c:numCache>
                <c:formatCode>0.00%</c:formatCode>
                <c:ptCount val="2"/>
                <c:pt idx="0">
                  <c:v>0.2089</c:v>
                </c:pt>
                <c:pt idx="1">
                  <c:v>0.24129999999999999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PROPERTY LOAN</c:v>
                </c:pt>
              </c:strCache>
            </c:strRef>
          </c:tx>
          <c:spPr>
            <a:solidFill>
              <a:schemeClr val="accent6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Sheet1!$G$2:$G$3</c:f>
              <c:numCache>
                <c:formatCode>0.00%</c:formatCode>
                <c:ptCount val="2"/>
                <c:pt idx="0">
                  <c:v>4.8999999999999998E-3</c:v>
                </c:pt>
                <c:pt idx="1">
                  <c:v>7.7000000000000002E-3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1134690480"/>
        <c:axId val="-1134692656"/>
      </c:barChart>
      <c:catAx>
        <c:axId val="-1134690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92656"/>
        <c:crosses val="autoZero"/>
        <c:auto val="1"/>
        <c:lblAlgn val="ctr"/>
        <c:lblOffset val="100"/>
        <c:noMultiLvlLbl val="0"/>
      </c:catAx>
      <c:valAx>
        <c:axId val="-113469265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9048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599340557594743"/>
          <c:y val="0.11817035606813983"/>
          <c:w val="0.33196210364922796"/>
          <c:h val="0.71399293880825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56777751417112"/>
          <c:y val="0.14543322485319371"/>
          <c:w val="0.50321400023565177"/>
          <c:h val="0.6949855238072840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OVERDRAFT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0.30099999999999999</c:v>
                </c:pt>
                <c:pt idx="1">
                  <c:v>0.23949999999999999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PACKING CREDIT 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0.1182</c:v>
                </c:pt>
                <c:pt idx="1">
                  <c:v>6.0900000000000003E-2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CASH CREDIT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Sheet1!$D$2:$D$3</c:f>
              <c:numCache>
                <c:formatCode>0.00%</c:formatCode>
                <c:ptCount val="2"/>
                <c:pt idx="0">
                  <c:v>0.1007</c:v>
                </c:pt>
                <c:pt idx="1">
                  <c:v>0.25619999999999998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DEMAND LOAN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Sheet1!$E$2:$E$3</c:f>
              <c:numCache>
                <c:formatCode>0.00%</c:formatCode>
                <c:ptCount val="2"/>
                <c:pt idx="0">
                  <c:v>9.5799999999999996E-2</c:v>
                </c:pt>
                <c:pt idx="1">
                  <c:v>0.1174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INLAND BILLS DISCOUNTED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Sheet1!$F$2:$F$3</c:f>
              <c:numCache>
                <c:formatCode>0.00%</c:formatCode>
                <c:ptCount val="2"/>
                <c:pt idx="0">
                  <c:v>8.2100000000000006E-2</c:v>
                </c:pt>
                <c:pt idx="1">
                  <c:v>4.24E-2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6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Sheet1!$G$2:$G$3</c:f>
              <c:numCache>
                <c:formatCode>0.00%</c:formatCode>
                <c:ptCount val="2"/>
                <c:pt idx="0">
                  <c:v>0.30220000000000002</c:v>
                </c:pt>
                <c:pt idx="1">
                  <c:v>0.28360000000000002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1134686128"/>
        <c:axId val="-1134691568"/>
      </c:barChart>
      <c:catAx>
        <c:axId val="-113468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91568"/>
        <c:crosses val="autoZero"/>
        <c:auto val="1"/>
        <c:lblAlgn val="ctr"/>
        <c:lblOffset val="100"/>
        <c:noMultiLvlLbl val="0"/>
      </c:catAx>
      <c:valAx>
        <c:axId val="-113469156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436095707055302"/>
          <c:y val="9.9590968052964107E-2"/>
          <c:w val="0.30402475037805149"/>
          <c:h val="0.747991852498365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Count of Trades last 12 months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2.2342233009708736</c:v>
                </c:pt>
                <c:pt idx="1">
                  <c:v>0.51739482200647247</c:v>
                </c:pt>
                <c:pt idx="2">
                  <c:v>1.2271440129449838</c:v>
                </c:pt>
                <c:pt idx="3">
                  <c:v>0.47795307443365698</c:v>
                </c:pt>
                <c:pt idx="4">
                  <c:v>1.1731391585760517E-2</c:v>
                </c:pt>
                <c:pt idx="5">
                  <c:v>1.2967233009708738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0.52086503570174414</c:v>
                </c:pt>
                <c:pt idx="1">
                  <c:v>0.1776893362987241</c:v>
                </c:pt>
                <c:pt idx="2">
                  <c:v>0.28988645674821489</c:v>
                </c:pt>
                <c:pt idx="3">
                  <c:v>5.1679737797026809E-2</c:v>
                </c:pt>
                <c:pt idx="4">
                  <c:v>1.6095048577782979E-3</c:v>
                </c:pt>
                <c:pt idx="5">
                  <c:v>0.3969038979281283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4684496"/>
        <c:axId val="-1134681776"/>
      </c:barChart>
      <c:catAx>
        <c:axId val="-1134684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1776"/>
        <c:crosses val="autoZero"/>
        <c:auto val="1"/>
        <c:lblAlgn val="ctr"/>
        <c:lblOffset val="100"/>
        <c:noMultiLvlLbl val="0"/>
      </c:catAx>
      <c:valAx>
        <c:axId val="-11346817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4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Latest Balance last 12 months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3488629.3232200649</c:v>
                </c:pt>
                <c:pt idx="1">
                  <c:v>1019416.3222087378</c:v>
                </c:pt>
                <c:pt idx="2">
                  <c:v>2217996.5002022656</c:v>
                </c:pt>
                <c:pt idx="3">
                  <c:v>249406.21521035599</c:v>
                </c:pt>
                <c:pt idx="4">
                  <c:v>1810.2855987055016</c:v>
                </c:pt>
                <c:pt idx="5">
                  <c:v>2660603.0748381875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2204242.977466932</c:v>
                </c:pt>
                <c:pt idx="1">
                  <c:v>689969.58817160246</c:v>
                </c:pt>
                <c:pt idx="2">
                  <c:v>1380407.8536228491</c:v>
                </c:pt>
                <c:pt idx="3">
                  <c:v>128618.23709469741</c:v>
                </c:pt>
                <c:pt idx="4">
                  <c:v>5247.2985777829799</c:v>
                </c:pt>
                <c:pt idx="5">
                  <c:v>1838333.5118518085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4683952"/>
        <c:axId val="-1134680688"/>
      </c:barChart>
      <c:catAx>
        <c:axId val="-1134683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0688"/>
        <c:crosses val="autoZero"/>
        <c:auto val="1"/>
        <c:lblAlgn val="ctr"/>
        <c:lblOffset val="100"/>
        <c:noMultiLvlLbl val="0"/>
      </c:catAx>
      <c:valAx>
        <c:axId val="-113468068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3952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Enquiries</a:t>
            </a:r>
            <a:r>
              <a:rPr lang="en-IN" baseline="0" dirty="0" smtClean="0"/>
              <a:t> last 4-6 months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0.28964401294498382</c:v>
                </c:pt>
                <c:pt idx="1">
                  <c:v>7.3624595469255663E-2</c:v>
                </c:pt>
                <c:pt idx="2">
                  <c:v>0.2127831715210356</c:v>
                </c:pt>
                <c:pt idx="3">
                  <c:v>3.2362459546925568E-3</c:v>
                </c:pt>
                <c:pt idx="4">
                  <c:v>0</c:v>
                </c:pt>
                <c:pt idx="5">
                  <c:v>0.19741100323624594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0.20376331499473252</c:v>
                </c:pt>
                <c:pt idx="1">
                  <c:v>4.1115533185063793E-2</c:v>
                </c:pt>
                <c:pt idx="2">
                  <c:v>0.16054079363221352</c:v>
                </c:pt>
                <c:pt idx="3">
                  <c:v>1.9606695540208357E-3</c:v>
                </c:pt>
                <c:pt idx="4">
                  <c:v>1.4631862343439072E-4</c:v>
                </c:pt>
                <c:pt idx="5">
                  <c:v>0.14386047056069295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4680144"/>
        <c:axId val="-1134693200"/>
      </c:barChart>
      <c:catAx>
        <c:axId val="-113468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93200"/>
        <c:crosses val="autoZero"/>
        <c:auto val="1"/>
        <c:lblAlgn val="ctr"/>
        <c:lblOffset val="100"/>
        <c:noMultiLvlLbl val="0"/>
      </c:catAx>
      <c:valAx>
        <c:axId val="-11346932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Enquiries </a:t>
            </a:r>
            <a:r>
              <a:rPr lang="en-IN" baseline="0" dirty="0" smtClean="0"/>
              <a:t>last 0-3 months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0.3389967637540453</c:v>
                </c:pt>
                <c:pt idx="1">
                  <c:v>7.1197411003236247E-2</c:v>
                </c:pt>
                <c:pt idx="2">
                  <c:v>0.2645631067961165</c:v>
                </c:pt>
                <c:pt idx="3">
                  <c:v>3.2362459546925568E-3</c:v>
                </c:pt>
                <c:pt idx="4">
                  <c:v>0</c:v>
                </c:pt>
                <c:pt idx="5">
                  <c:v>0.23442556634304207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0.20496312770689454</c:v>
                </c:pt>
                <c:pt idx="1">
                  <c:v>3.8218424441062861E-2</c:v>
                </c:pt>
                <c:pt idx="2">
                  <c:v>0.16475476998712396</c:v>
                </c:pt>
                <c:pt idx="3">
                  <c:v>1.8728783799602012E-3</c:v>
                </c:pt>
                <c:pt idx="4">
                  <c:v>1.1705489874751258E-4</c:v>
                </c:pt>
                <c:pt idx="5">
                  <c:v>0.14655273323188575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4689392"/>
        <c:axId val="-1134688848"/>
      </c:barChart>
      <c:catAx>
        <c:axId val="-1134689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8848"/>
        <c:crosses val="autoZero"/>
        <c:auto val="1"/>
        <c:lblAlgn val="ctr"/>
        <c:lblOffset val="100"/>
        <c:noMultiLvlLbl val="0"/>
      </c:catAx>
      <c:valAx>
        <c:axId val="-113468884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689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TL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0.18990000000000001</c:v>
                </c:pt>
                <c:pt idx="1">
                  <c:v>0.32579999999999998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0.59670000000000001</c:v>
                </c:pt>
                <c:pt idx="1">
                  <c:v>0.57069999999999999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NF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Sheet1!$D$2:$D$3</c:f>
              <c:numCache>
                <c:formatCode>0.00%</c:formatCode>
                <c:ptCount val="2"/>
                <c:pt idx="0">
                  <c:v>0.20710000000000001</c:v>
                </c:pt>
                <c:pt idx="1">
                  <c:v>0.1002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FX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Sheet1!$E$2:$E$3</c:f>
              <c:numCache>
                <c:formatCode>0.00%</c:formatCode>
                <c:ptCount val="2"/>
                <c:pt idx="0">
                  <c:v>6.3E-3</c:v>
                </c:pt>
                <c:pt idx="1">
                  <c:v>3.3999999999999998E-3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1134854048"/>
        <c:axId val="-1134850784"/>
      </c:barChart>
      <c:catAx>
        <c:axId val="-113485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0784"/>
        <c:crosses val="autoZero"/>
        <c:auto val="1"/>
        <c:lblAlgn val="ctr"/>
        <c:lblOffset val="100"/>
        <c:noMultiLvlLbl val="0"/>
      </c:catAx>
      <c:valAx>
        <c:axId val="-113485078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4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56777751417112"/>
          <c:y val="0.24908855555120624"/>
          <c:w val="0.5309701670507293"/>
          <c:h val="0.5692353585104817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 LOAN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0.16070000000000001</c:v>
                </c:pt>
                <c:pt idx="1">
                  <c:v>0.115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COMMERCIAL VEHICLE LOAN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0.36059999999999998</c:v>
                </c:pt>
                <c:pt idx="1">
                  <c:v>0.26860000000000001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EQUIPMENT FINANCING 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Sheet1!$D$2:$D$3</c:f>
              <c:numCache>
                <c:formatCode>0.00%</c:formatCode>
                <c:ptCount val="2"/>
                <c:pt idx="0">
                  <c:v>8.77E-2</c:v>
                </c:pt>
                <c:pt idx="1">
                  <c:v>6.6799999999999998E-2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LONG TERM LOAN 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Sheet1!$E$2:$E$3</c:f>
              <c:numCache>
                <c:formatCode>0.00%</c:formatCode>
                <c:ptCount val="2"/>
                <c:pt idx="0">
                  <c:v>0.2455</c:v>
                </c:pt>
                <c:pt idx="1">
                  <c:v>0.36149999999999999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MEDIUM TERM LOAN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Sheet1!$F$2:$F$3</c:f>
              <c:numCache>
                <c:formatCode>0.00%</c:formatCode>
                <c:ptCount val="2"/>
                <c:pt idx="0">
                  <c:v>0.13289999999999999</c:v>
                </c:pt>
                <c:pt idx="1">
                  <c:v>0.16339999999999999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PROPERTY LOAN</c:v>
                </c:pt>
              </c:strCache>
            </c:strRef>
          </c:tx>
          <c:spPr>
            <a:solidFill>
              <a:schemeClr val="accent6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Sheet1!$G$2:$G$3</c:f>
              <c:numCache>
                <c:formatCode>0.00%</c:formatCode>
                <c:ptCount val="2"/>
                <c:pt idx="0">
                  <c:v>1.2699999999999999E-2</c:v>
                </c:pt>
                <c:pt idx="1">
                  <c:v>2.46E-2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1134857856"/>
        <c:axId val="-1134853504"/>
      </c:barChart>
      <c:catAx>
        <c:axId val="-1134857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3504"/>
        <c:crosses val="autoZero"/>
        <c:auto val="1"/>
        <c:lblAlgn val="ctr"/>
        <c:lblOffset val="100"/>
        <c:noMultiLvlLbl val="0"/>
      </c:catAx>
      <c:valAx>
        <c:axId val="-113485350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785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599340557594743"/>
          <c:y val="0.11817035606813983"/>
          <c:w val="0.33196210364922796"/>
          <c:h val="0.71399293880825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56777751417112"/>
          <c:y val="0.14543322485319371"/>
          <c:w val="0.50321400023565177"/>
          <c:h val="0.6949855238072840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OVERDRAFT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0.23080000000000001</c:v>
                </c:pt>
                <c:pt idx="1">
                  <c:v>0.22189999999999999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PACKING CREDIT 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0.2019</c:v>
                </c:pt>
                <c:pt idx="1">
                  <c:v>3.4200000000000001E-2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CASH CREDIT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Sheet1!$D$2:$D$3</c:f>
              <c:numCache>
                <c:formatCode>0.00%</c:formatCode>
                <c:ptCount val="2"/>
                <c:pt idx="0">
                  <c:v>6.9800000000000001E-2</c:v>
                </c:pt>
                <c:pt idx="1">
                  <c:v>0.30709999999999998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DEMAND LOAN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Sheet1!$E$2:$E$3</c:f>
              <c:numCache>
                <c:formatCode>0.00%</c:formatCode>
                <c:ptCount val="2"/>
                <c:pt idx="0">
                  <c:v>5.6899999999999999E-2</c:v>
                </c:pt>
                <c:pt idx="1">
                  <c:v>0.1128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INLAND BILLS DISCOUNTED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Sheet1!$F$2:$F$3</c:f>
              <c:numCache>
                <c:formatCode>0.00%</c:formatCode>
                <c:ptCount val="2"/>
                <c:pt idx="0">
                  <c:v>0.1134</c:v>
                </c:pt>
                <c:pt idx="1">
                  <c:v>3.2199999999999999E-2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6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New Account</c:v>
                </c:pt>
                <c:pt idx="1">
                  <c:v>Others</c:v>
                </c:pt>
              </c:strCache>
            </c:strRef>
          </c:cat>
          <c:val>
            <c:numRef>
              <c:f>Sheet1!$G$2:$G$3</c:f>
              <c:numCache>
                <c:formatCode>0.00%</c:formatCode>
                <c:ptCount val="2"/>
                <c:pt idx="0">
                  <c:v>0.3271</c:v>
                </c:pt>
                <c:pt idx="1">
                  <c:v>0.29170000000000001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1134858944"/>
        <c:axId val="-1134844800"/>
      </c:barChart>
      <c:catAx>
        <c:axId val="-113485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44800"/>
        <c:crosses val="autoZero"/>
        <c:auto val="1"/>
        <c:lblAlgn val="ctr"/>
        <c:lblOffset val="100"/>
        <c:noMultiLvlLbl val="0"/>
      </c:catAx>
      <c:valAx>
        <c:axId val="-113484480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8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436095707055302"/>
          <c:y val="9.9590968052964107E-2"/>
          <c:w val="0.30402475037805149"/>
          <c:h val="0.747991852498365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% Increase – Balance 6/12</a:t>
            </a:r>
            <a:r>
              <a:rPr lang="en-IN" baseline="0" dirty="0" smtClean="0"/>
              <a:t> months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4.4175715258369198E-2</c:v>
                </c:pt>
                <c:pt idx="1">
                  <c:v>6.1270789871183867E-2</c:v>
                </c:pt>
                <c:pt idx="2">
                  <c:v>3.9844220134055496E-2</c:v>
                </c:pt>
                <c:pt idx="3">
                  <c:v>2.3558174382245729E-2</c:v>
                </c:pt>
                <c:pt idx="4">
                  <c:v>-0.16105256846463056</c:v>
                </c:pt>
                <c:pt idx="5">
                  <c:v>2.5334872346539521E-2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4.4175715258369198E-2</c:v>
                </c:pt>
                <c:pt idx="1">
                  <c:v>9.0680362283065447E-2</c:v>
                </c:pt>
                <c:pt idx="2">
                  <c:v>6.9817113997766189E-2</c:v>
                </c:pt>
                <c:pt idx="3">
                  <c:v>3.9511988055711253E-2</c:v>
                </c:pt>
                <c:pt idx="4">
                  <c:v>-0.35887665624740672</c:v>
                </c:pt>
                <c:pt idx="5">
                  <c:v>4.6951672276943822E-2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4849696"/>
        <c:axId val="-1134857312"/>
      </c:barChart>
      <c:catAx>
        <c:axId val="-1134849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7312"/>
        <c:crosses val="autoZero"/>
        <c:auto val="1"/>
        <c:lblAlgn val="ctr"/>
        <c:lblOffset val="100"/>
        <c:noMultiLvlLbl val="0"/>
      </c:catAx>
      <c:valAx>
        <c:axId val="-113485731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4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baseline="0" dirty="0" smtClean="0">
                <a:effectLst/>
              </a:rPr>
              <a:t>$ Increase – Balance 6/12 months</a:t>
            </a:r>
            <a:endParaRPr lang="en-IN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522772.32544498518</c:v>
                </c:pt>
                <c:pt idx="1">
                  <c:v>191507.27690129448</c:v>
                </c:pt>
                <c:pt idx="2">
                  <c:v>311884.5960760517</c:v>
                </c:pt>
                <c:pt idx="3">
                  <c:v>20574.077063106815</c:v>
                </c:pt>
                <c:pt idx="4">
                  <c:v>-1193.6245954692558</c:v>
                </c:pt>
                <c:pt idx="5">
                  <c:v>245978.72471682914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335404.99332787097</c:v>
                </c:pt>
                <c:pt idx="1">
                  <c:v>209139.74206953077</c:v>
                </c:pt>
                <c:pt idx="2">
                  <c:v>84955.509744820185</c:v>
                </c:pt>
                <c:pt idx="3">
                  <c:v>40714.255296734162</c:v>
                </c:pt>
                <c:pt idx="4">
                  <c:v>595.48621678567179</c:v>
                </c:pt>
                <c:pt idx="5">
                  <c:v>308506.37554137874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4847520"/>
        <c:axId val="-1134855680"/>
      </c:barChart>
      <c:catAx>
        <c:axId val="-1134847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5680"/>
        <c:crosses val="autoZero"/>
        <c:auto val="1"/>
        <c:lblAlgn val="ctr"/>
        <c:lblOffset val="100"/>
        <c:noMultiLvlLbl val="0"/>
      </c:catAx>
      <c:valAx>
        <c:axId val="-113485568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47520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baseline="0" dirty="0" smtClean="0">
                <a:effectLst/>
              </a:rPr>
              <a:t># Increase – Enquiries 3/6 months</a:t>
            </a:r>
            <a:endParaRPr lang="en-IN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4.9352750809061485E-2</c:v>
                </c:pt>
                <c:pt idx="1">
                  <c:v>-2.4271844660194164E-3</c:v>
                </c:pt>
                <c:pt idx="2">
                  <c:v>5.1779935275080902E-2</c:v>
                </c:pt>
                <c:pt idx="3">
                  <c:v>0</c:v>
                </c:pt>
                <c:pt idx="4">
                  <c:v>0</c:v>
                </c:pt>
                <c:pt idx="5">
                  <c:v>3.7014563106796128E-2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0.000</c:formatCode>
                <c:ptCount val="6"/>
                <c:pt idx="0">
                  <c:v>1.1998127121620183E-3</c:v>
                </c:pt>
                <c:pt idx="1">
                  <c:v>-2.8971087440009327E-3</c:v>
                </c:pt>
                <c:pt idx="2">
                  <c:v>4.2139763549104425E-3</c:v>
                </c:pt>
                <c:pt idx="3">
                  <c:v>-8.7791174060634436E-5</c:v>
                </c:pt>
                <c:pt idx="4">
                  <c:v>-2.9263724686878141E-5</c:v>
                </c:pt>
                <c:pt idx="5">
                  <c:v>2.6922626711927966E-3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4848608"/>
        <c:axId val="-1134852960"/>
      </c:barChart>
      <c:catAx>
        <c:axId val="-1134848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2960"/>
        <c:crosses val="autoZero"/>
        <c:auto val="1"/>
        <c:lblAlgn val="ctr"/>
        <c:lblOffset val="100"/>
        <c:noMultiLvlLbl val="0"/>
      </c:catAx>
      <c:valAx>
        <c:axId val="-113485296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48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baseline="0" dirty="0" smtClean="0">
                <a:effectLst/>
              </a:rPr>
              <a:t>% Increase – Enquiries 3/6 months</a:t>
            </a:r>
            <a:endParaRPr lang="en-IN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0.17039106145251395</c:v>
                </c:pt>
                <c:pt idx="1">
                  <c:v>-3.2967032967032954E-2</c:v>
                </c:pt>
                <c:pt idx="2">
                  <c:v>0.24334600760456271</c:v>
                </c:pt>
                <c:pt idx="3">
                  <c:v>0</c:v>
                </c:pt>
                <c:pt idx="4">
                  <c:v>0</c:v>
                </c:pt>
                <c:pt idx="5">
                  <c:v>0.18750000000000008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Total Trades</c:v>
                </c:pt>
                <c:pt idx="1">
                  <c:v>TL</c:v>
                </c:pt>
                <c:pt idx="2">
                  <c:v>WC</c:v>
                </c:pt>
                <c:pt idx="3">
                  <c:v>NF</c:v>
                </c:pt>
                <c:pt idx="4">
                  <c:v>FX</c:v>
                </c:pt>
                <c:pt idx="5">
                  <c:v>Fund Trades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5.8882665517737314E-3</c:v>
                </c:pt>
                <c:pt idx="1">
                  <c:v>-7.0462633451957205E-2</c:v>
                </c:pt>
                <c:pt idx="2">
                  <c:v>2.6248632883703906E-2</c:v>
                </c:pt>
                <c:pt idx="3">
                  <c:v>-4.4776119402985079E-2</c:v>
                </c:pt>
                <c:pt idx="4">
                  <c:v>-0.19999999999999998</c:v>
                </c:pt>
                <c:pt idx="5">
                  <c:v>1.871440195280721E-2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134851328"/>
        <c:axId val="-1134849152"/>
      </c:barChart>
      <c:catAx>
        <c:axId val="-11348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49152"/>
        <c:crosses val="autoZero"/>
        <c:auto val="1"/>
        <c:lblAlgn val="ctr"/>
        <c:lblOffset val="100"/>
        <c:noMultiLvlLbl val="0"/>
      </c:catAx>
      <c:valAx>
        <c:axId val="-113484915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Fund</a:t>
            </a:r>
            <a:r>
              <a:rPr lang="en-IN" baseline="0" dirty="0" smtClean="0"/>
              <a:t> Trades per borrower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1.6855905419641812E-2</c:v>
                </c:pt>
                <c:pt idx="1">
                  <c:v>9.8503236245954695E-2</c:v>
                </c:pt>
                <c:pt idx="2">
                  <c:v>0.15999190938511326</c:v>
                </c:pt>
                <c:pt idx="3">
                  <c:v>0.10376213592233009</c:v>
                </c:pt>
                <c:pt idx="4">
                  <c:v>0.1183252427184466</c:v>
                </c:pt>
                <c:pt idx="5">
                  <c:v>0.10659385113268609</c:v>
                </c:pt>
                <c:pt idx="6">
                  <c:v>0.11630258899676375</c:v>
                </c:pt>
                <c:pt idx="7">
                  <c:v>0.10234627831715211</c:v>
                </c:pt>
                <c:pt idx="8">
                  <c:v>0.13228155339805825</c:v>
                </c:pt>
                <c:pt idx="9">
                  <c:v>0.10578478964401294</c:v>
                </c:pt>
                <c:pt idx="10">
                  <c:v>0.125</c:v>
                </c:pt>
                <c:pt idx="11">
                  <c:v>0.21925566343042072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3.8130633267002223E-2</c:v>
                </c:pt>
                <c:pt idx="1">
                  <c:v>3.1458504038394008E-2</c:v>
                </c:pt>
                <c:pt idx="2">
                  <c:v>4.8197354559288308E-2</c:v>
                </c:pt>
                <c:pt idx="3">
                  <c:v>2.1479573920168558E-2</c:v>
                </c:pt>
                <c:pt idx="4">
                  <c:v>2.7771274727847361E-2</c:v>
                </c:pt>
                <c:pt idx="5">
                  <c:v>3.5438370595809433E-2</c:v>
                </c:pt>
                <c:pt idx="6">
                  <c:v>2.9468570759686293E-2</c:v>
                </c:pt>
                <c:pt idx="7">
                  <c:v>3.0726910921222053E-2</c:v>
                </c:pt>
                <c:pt idx="8">
                  <c:v>3.9593819501346134E-2</c:v>
                </c:pt>
                <c:pt idx="9">
                  <c:v>2.7449373756291702E-2</c:v>
                </c:pt>
                <c:pt idx="10">
                  <c:v>2.9995317804050098E-2</c:v>
                </c:pt>
                <c:pt idx="11">
                  <c:v>3.8306215615123491E-2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34845888"/>
        <c:axId val="-1134749136"/>
      </c:lineChart>
      <c:catAx>
        <c:axId val="-1134845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749136"/>
        <c:crosses val="autoZero"/>
        <c:auto val="1"/>
        <c:lblAlgn val="ctr"/>
        <c:lblOffset val="100"/>
        <c:noMultiLvlLbl val="0"/>
      </c:catAx>
      <c:valAx>
        <c:axId val="-113474913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845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Total</a:t>
            </a:r>
            <a:r>
              <a:rPr lang="en-IN" baseline="0" dirty="0" smtClean="0"/>
              <a:t> Trades per borrower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3.1604822661828395E-2</c:v>
                </c:pt>
                <c:pt idx="1">
                  <c:v>0.17617313915857605</c:v>
                </c:pt>
                <c:pt idx="2">
                  <c:v>0.2675970873786408</c:v>
                </c:pt>
                <c:pt idx="3">
                  <c:v>0.18547734627831716</c:v>
                </c:pt>
                <c:pt idx="4">
                  <c:v>0.20084951456310679</c:v>
                </c:pt>
                <c:pt idx="5">
                  <c:v>0.1808252427184466</c:v>
                </c:pt>
                <c:pt idx="6">
                  <c:v>0.20347896440129451</c:v>
                </c:pt>
                <c:pt idx="7">
                  <c:v>0.19114077669902912</c:v>
                </c:pt>
                <c:pt idx="8">
                  <c:v>0.24110032362459546</c:v>
                </c:pt>
                <c:pt idx="9">
                  <c:v>0.19498381877022652</c:v>
                </c:pt>
                <c:pt idx="10">
                  <c:v>0.24979773462783172</c:v>
                </c:pt>
                <c:pt idx="11">
                  <c:v>0.375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5.5015802411330916E-2</c:v>
                </c:pt>
                <c:pt idx="1">
                  <c:v>4.0354676343204963E-2</c:v>
                </c:pt>
                <c:pt idx="2">
                  <c:v>6.3941238440828746E-2</c:v>
                </c:pt>
                <c:pt idx="3">
                  <c:v>2.920519723750439E-2</c:v>
                </c:pt>
                <c:pt idx="4">
                  <c:v>3.7984314643567836E-2</c:v>
                </c:pt>
                <c:pt idx="5">
                  <c:v>4.5856256584338055E-2</c:v>
                </c:pt>
                <c:pt idx="6">
                  <c:v>3.8979281282921691E-2</c:v>
                </c:pt>
                <c:pt idx="7">
                  <c:v>4.0822895938195013E-2</c:v>
                </c:pt>
                <c:pt idx="8">
                  <c:v>5.1094463303289241E-2</c:v>
                </c:pt>
                <c:pt idx="9">
                  <c:v>3.6140699988294507E-2</c:v>
                </c:pt>
                <c:pt idx="10">
                  <c:v>3.9710874400093646E-2</c:v>
                </c:pt>
                <c:pt idx="11">
                  <c:v>4.9631277068945337E-2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34746416"/>
        <c:axId val="-1134748048"/>
      </c:lineChart>
      <c:catAx>
        <c:axId val="-113474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748048"/>
        <c:crosses val="autoZero"/>
        <c:auto val="1"/>
        <c:lblAlgn val="ctr"/>
        <c:lblOffset val="100"/>
        <c:noMultiLvlLbl val="0"/>
      </c:catAx>
      <c:valAx>
        <c:axId val="-113474804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746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WC</a:t>
            </a:r>
            <a:r>
              <a:rPr lang="en-IN" baseline="0" dirty="0" smtClean="0"/>
              <a:t> Trades per borrower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1.9197003394592065E-2</c:v>
                </c:pt>
                <c:pt idx="1">
                  <c:v>0.10983009708737865</c:v>
                </c:pt>
                <c:pt idx="2">
                  <c:v>0.16666666666666666</c:v>
                </c:pt>
                <c:pt idx="3">
                  <c:v>9.9919093851132693E-2</c:v>
                </c:pt>
                <c:pt idx="4">
                  <c:v>0.12034789644012946</c:v>
                </c:pt>
                <c:pt idx="5">
                  <c:v>0.11751618122977346</c:v>
                </c:pt>
                <c:pt idx="6">
                  <c:v>0.12621359223300971</c:v>
                </c:pt>
                <c:pt idx="7">
                  <c:v>0.10659385113268609</c:v>
                </c:pt>
                <c:pt idx="8">
                  <c:v>0.15958737864077671</c:v>
                </c:pt>
                <c:pt idx="9">
                  <c:v>0.11913430420711973</c:v>
                </c:pt>
                <c:pt idx="10">
                  <c:v>0.13025889967637541</c:v>
                </c:pt>
                <c:pt idx="11">
                  <c:v>0.21318770226537218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3.4648250029263722E-2</c:v>
                </c:pt>
                <c:pt idx="1">
                  <c:v>2.0630925904249094E-2</c:v>
                </c:pt>
                <c:pt idx="2">
                  <c:v>3.9125599906356084E-2</c:v>
                </c:pt>
                <c:pt idx="3">
                  <c:v>1.5948729954348588E-2</c:v>
                </c:pt>
                <c:pt idx="4">
                  <c:v>1.9372585742713333E-2</c:v>
                </c:pt>
                <c:pt idx="5">
                  <c:v>2.5166803230715205E-2</c:v>
                </c:pt>
                <c:pt idx="6">
                  <c:v>2.1333255296734167E-2</c:v>
                </c:pt>
                <c:pt idx="7">
                  <c:v>2.1889266065784854E-2</c:v>
                </c:pt>
                <c:pt idx="8">
                  <c:v>3.0814702095282687E-2</c:v>
                </c:pt>
                <c:pt idx="9">
                  <c:v>2.0630925904249094E-2</c:v>
                </c:pt>
                <c:pt idx="10">
                  <c:v>2.3410979749502518E-2</c:v>
                </c:pt>
                <c:pt idx="11">
                  <c:v>2.8766241367201219E-2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34744784"/>
        <c:axId val="-1134744240"/>
      </c:lineChart>
      <c:catAx>
        <c:axId val="-113474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744240"/>
        <c:crosses val="autoZero"/>
        <c:auto val="1"/>
        <c:lblAlgn val="ctr"/>
        <c:lblOffset val="100"/>
        <c:noMultiLvlLbl val="0"/>
      </c:catAx>
      <c:valAx>
        <c:axId val="-113474424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744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TL</a:t>
            </a:r>
            <a:r>
              <a:rPr lang="en-IN" baseline="0" dirty="0" smtClean="0"/>
              <a:t> Trades per borrower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5.4137890670724574E-3</c:v>
                </c:pt>
                <c:pt idx="1">
                  <c:v>2.8923948220064725E-2</c:v>
                </c:pt>
                <c:pt idx="2">
                  <c:v>5.1779935275080909E-2</c:v>
                </c:pt>
                <c:pt idx="3">
                  <c:v>4.0453074433656956E-2</c:v>
                </c:pt>
                <c:pt idx="4">
                  <c:v>3.7014563106796114E-2</c:v>
                </c:pt>
                <c:pt idx="5">
                  <c:v>2.7305825242718445E-2</c:v>
                </c:pt>
                <c:pt idx="6">
                  <c:v>3.964401294498382E-2</c:v>
                </c:pt>
                <c:pt idx="7">
                  <c:v>3.3980582524271843E-2</c:v>
                </c:pt>
                <c:pt idx="8">
                  <c:v>3.6003236245954695E-2</c:v>
                </c:pt>
                <c:pt idx="9">
                  <c:v>3.3171521035598707E-2</c:v>
                </c:pt>
                <c:pt idx="10">
                  <c:v>4.7734627831715212E-2</c:v>
                </c:pt>
                <c:pt idx="11">
                  <c:v>9.6480582524271843E-2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1.5187873112489758E-2</c:v>
                </c:pt>
                <c:pt idx="1">
                  <c:v>1.5714620156853563E-2</c:v>
                </c:pt>
                <c:pt idx="2">
                  <c:v>1.8172773030551329E-2</c:v>
                </c:pt>
                <c:pt idx="3">
                  <c:v>9.5985016972960323E-3</c:v>
                </c:pt>
                <c:pt idx="4">
                  <c:v>1.3549104530024581E-2</c:v>
                </c:pt>
                <c:pt idx="5">
                  <c:v>1.6504740723399275E-2</c:v>
                </c:pt>
                <c:pt idx="6">
                  <c:v>1.340278590659019E-2</c:v>
                </c:pt>
                <c:pt idx="7">
                  <c:v>1.4573334894065317E-2</c:v>
                </c:pt>
                <c:pt idx="8">
                  <c:v>1.5626828982792929E-2</c:v>
                </c:pt>
                <c:pt idx="9">
                  <c:v>1.23200280931757E-2</c:v>
                </c:pt>
                <c:pt idx="10">
                  <c:v>1.1968863396933161E-2</c:v>
                </c:pt>
                <c:pt idx="11">
                  <c:v>1.5626828982792929E-2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34750768"/>
        <c:axId val="-1134750224"/>
      </c:lineChart>
      <c:catAx>
        <c:axId val="-1134750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750224"/>
        <c:crosses val="autoZero"/>
        <c:auto val="1"/>
        <c:lblAlgn val="ctr"/>
        <c:lblOffset val="100"/>
        <c:noMultiLvlLbl val="0"/>
      </c:catAx>
      <c:valAx>
        <c:axId val="-113475022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475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Fund</a:t>
            </a:r>
            <a:r>
              <a:rPr lang="en-IN" baseline="0" dirty="0" smtClean="0"/>
              <a:t> Enquiries per borrower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6.6545307443365689E-2</c:v>
                </c:pt>
                <c:pt idx="1">
                  <c:v>6.553398058252427E-2</c:v>
                </c:pt>
                <c:pt idx="2">
                  <c:v>8.1917475728155345E-2</c:v>
                </c:pt>
                <c:pt idx="3">
                  <c:v>5.0161812297734629E-2</c:v>
                </c:pt>
                <c:pt idx="4">
                  <c:v>5.7645631067961167E-2</c:v>
                </c:pt>
                <c:pt idx="5">
                  <c:v>5.5825242718446605E-2</c:v>
                </c:pt>
                <c:pt idx="6">
                  <c:v>6.3309061488673143E-2</c:v>
                </c:pt>
                <c:pt idx="7">
                  <c:v>5.5420711974110033E-2</c:v>
                </c:pt>
                <c:pt idx="8">
                  <c:v>6.7152103559870543E-2</c:v>
                </c:pt>
                <c:pt idx="9">
                  <c:v>5.6634304207119741E-2</c:v>
                </c:pt>
                <c:pt idx="10">
                  <c:v>6.6545307443365689E-2</c:v>
                </c:pt>
                <c:pt idx="11">
                  <c:v>0.10173948220064725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3.6521128409223926E-2</c:v>
                </c:pt>
                <c:pt idx="1">
                  <c:v>3.28046353739904E-2</c:v>
                </c:pt>
                <c:pt idx="2">
                  <c:v>4.8372936907409576E-2</c:v>
                </c:pt>
                <c:pt idx="3">
                  <c:v>2.4230364040735104E-2</c:v>
                </c:pt>
                <c:pt idx="4">
                  <c:v>3.1195130516212102E-2</c:v>
                </c:pt>
                <c:pt idx="5">
                  <c:v>3.4911623551445628E-2</c:v>
                </c:pt>
                <c:pt idx="6">
                  <c:v>3.5262788247688165E-2</c:v>
                </c:pt>
                <c:pt idx="7">
                  <c:v>3.1955987358070932E-2</c:v>
                </c:pt>
                <c:pt idx="8">
                  <c:v>3.9418237153224865E-2</c:v>
                </c:pt>
                <c:pt idx="9">
                  <c:v>3.2190097155565964E-2</c:v>
                </c:pt>
                <c:pt idx="10">
                  <c:v>3.3448437317101717E-2</c:v>
                </c:pt>
                <c:pt idx="11">
                  <c:v>4.1847126302235749E-2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211328832"/>
        <c:axId val="-1211322848"/>
      </c:lineChart>
      <c:catAx>
        <c:axId val="-1211328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22848"/>
        <c:crosses val="autoZero"/>
        <c:auto val="1"/>
        <c:lblAlgn val="ctr"/>
        <c:lblOffset val="100"/>
        <c:noMultiLvlLbl val="0"/>
      </c:catAx>
      <c:valAx>
        <c:axId val="-121132284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2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Total</a:t>
            </a:r>
            <a:r>
              <a:rPr lang="en-IN" baseline="0" dirty="0" smtClean="0"/>
              <a:t> Enquiries per borrower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Account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9.6682847896440133E-2</c:v>
                </c:pt>
                <c:pt idx="1">
                  <c:v>0.11286407766990292</c:v>
                </c:pt>
                <c:pt idx="2">
                  <c:v>0.10315533980582524</c:v>
                </c:pt>
                <c:pt idx="3">
                  <c:v>7.1601941747572811E-2</c:v>
                </c:pt>
                <c:pt idx="4">
                  <c:v>9.7694174757281552E-2</c:v>
                </c:pt>
                <c:pt idx="5">
                  <c:v>8.4142394822006472E-2</c:v>
                </c:pt>
                <c:pt idx="6">
                  <c:v>9.4053398058252427E-2</c:v>
                </c:pt>
                <c:pt idx="7">
                  <c:v>8.4749190938511326E-2</c:v>
                </c:pt>
                <c:pt idx="8">
                  <c:v>9.9514563106796114E-2</c:v>
                </c:pt>
                <c:pt idx="9">
                  <c:v>8.3131067961165053E-2</c:v>
                </c:pt>
                <c:pt idx="10">
                  <c:v>0.10436893203883495</c:v>
                </c:pt>
                <c:pt idx="11">
                  <c:v>0.14097896440129451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5.1182254477349878E-2</c:v>
                </c:pt>
                <c:pt idx="1">
                  <c:v>6.3736392368020603E-2</c:v>
                </c:pt>
                <c:pt idx="2">
                  <c:v>6.3911974716141864E-2</c:v>
                </c:pt>
                <c:pt idx="3">
                  <c:v>3.675523820671895E-2</c:v>
                </c:pt>
                <c:pt idx="4">
                  <c:v>4.8665574154278357E-2</c:v>
                </c:pt>
                <c:pt idx="5">
                  <c:v>5.0362870186117292E-2</c:v>
                </c:pt>
                <c:pt idx="6">
                  <c:v>5.1299309376097391E-2</c:v>
                </c:pt>
                <c:pt idx="7">
                  <c:v>4.8694837878965232E-2</c:v>
                </c:pt>
                <c:pt idx="8">
                  <c:v>5.5454758281634084E-2</c:v>
                </c:pt>
                <c:pt idx="9">
                  <c:v>4.4510125248741657E-2</c:v>
                </c:pt>
                <c:pt idx="10">
                  <c:v>5.0187287837996017E-2</c:v>
                </c:pt>
                <c:pt idx="11">
                  <c:v>5.8995668968746341E-2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211323392"/>
        <c:axId val="-1211319040"/>
      </c:lineChart>
      <c:catAx>
        <c:axId val="-1211323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19040"/>
        <c:crosses val="autoZero"/>
        <c:auto val="1"/>
        <c:lblAlgn val="ctr"/>
        <c:lblOffset val="100"/>
        <c:noMultiLvlLbl val="0"/>
      </c:catAx>
      <c:valAx>
        <c:axId val="-121131904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23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WC</a:t>
            </a:r>
            <a:r>
              <a:rPr lang="en-IN" baseline="0" dirty="0" smtClean="0"/>
              <a:t> Enquiries per borrower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7.6254045307443369E-2</c:v>
                </c:pt>
                <c:pt idx="1">
                  <c:v>9.4255663430420716E-2</c:v>
                </c:pt>
                <c:pt idx="2">
                  <c:v>7.9288025889967639E-2</c:v>
                </c:pt>
                <c:pt idx="3">
                  <c:v>5.3600323624595471E-2</c:v>
                </c:pt>
                <c:pt idx="4">
                  <c:v>7.8478964401294496E-2</c:v>
                </c:pt>
                <c:pt idx="5">
                  <c:v>6.2904530744336565E-2</c:v>
                </c:pt>
                <c:pt idx="6">
                  <c:v>6.9174757281553395E-2</c:v>
                </c:pt>
                <c:pt idx="7">
                  <c:v>6.0477346278317155E-2</c:v>
                </c:pt>
                <c:pt idx="8">
                  <c:v>7.3624595469255663E-2</c:v>
                </c:pt>
                <c:pt idx="9">
                  <c:v>6.2297734627831718E-2</c:v>
                </c:pt>
                <c:pt idx="10">
                  <c:v>8.3940129449838183E-2</c:v>
                </c:pt>
                <c:pt idx="11">
                  <c:v>0.10922330097087378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4.1817862577548867E-2</c:v>
                </c:pt>
                <c:pt idx="1">
                  <c:v>5.4693901439775254E-2</c:v>
                </c:pt>
                <c:pt idx="2">
                  <c:v>5.0567716258925435E-2</c:v>
                </c:pt>
                <c:pt idx="3">
                  <c:v>2.7537164930352336E-2</c:v>
                </c:pt>
                <c:pt idx="4">
                  <c:v>3.8247688165749735E-2</c:v>
                </c:pt>
                <c:pt idx="5">
                  <c:v>3.994498419758867E-2</c:v>
                </c:pt>
                <c:pt idx="6">
                  <c:v>3.9857193023528033E-2</c:v>
                </c:pt>
                <c:pt idx="7">
                  <c:v>3.7867259744820324E-2</c:v>
                </c:pt>
                <c:pt idx="8">
                  <c:v>4.4100433103125364E-2</c:v>
                </c:pt>
                <c:pt idx="9">
                  <c:v>3.502867845019314E-2</c:v>
                </c:pt>
                <c:pt idx="10">
                  <c:v>4.0003511646962427E-2</c:v>
                </c:pt>
                <c:pt idx="11">
                  <c:v>4.7377970268055715E-2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211319584"/>
        <c:axId val="-1211317952"/>
      </c:lineChart>
      <c:catAx>
        <c:axId val="-121131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17952"/>
        <c:crosses val="autoZero"/>
        <c:auto val="1"/>
        <c:lblAlgn val="ctr"/>
        <c:lblOffset val="100"/>
        <c:noMultiLvlLbl val="0"/>
      </c:catAx>
      <c:valAx>
        <c:axId val="-121131795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1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TL</a:t>
            </a:r>
            <a:r>
              <a:rPr lang="en-IN" baseline="0" dirty="0" smtClean="0"/>
              <a:t> Enquiries per borrower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1.8810679611650484E-2</c:v>
                </c:pt>
                <c:pt idx="1">
                  <c:v>1.7799352750809062E-2</c:v>
                </c:pt>
                <c:pt idx="2">
                  <c:v>2.3260517799352752E-2</c:v>
                </c:pt>
                <c:pt idx="3">
                  <c:v>1.7597087378640776E-2</c:v>
                </c:pt>
                <c:pt idx="4">
                  <c:v>1.8001618122977348E-2</c:v>
                </c:pt>
                <c:pt idx="5">
                  <c:v>1.9619741100323624E-2</c:v>
                </c:pt>
                <c:pt idx="6">
                  <c:v>2.3867313915857606E-2</c:v>
                </c:pt>
                <c:pt idx="7">
                  <c:v>2.3260517799352752E-2</c:v>
                </c:pt>
                <c:pt idx="8">
                  <c:v>2.4676375404530743E-2</c:v>
                </c:pt>
                <c:pt idx="9">
                  <c:v>1.9417475728155338E-2</c:v>
                </c:pt>
                <c:pt idx="10">
                  <c:v>1.982200647249191E-2</c:v>
                </c:pt>
                <c:pt idx="11">
                  <c:v>3.0542071197411005E-2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8.7498536813765664E-3</c:v>
                </c:pt>
                <c:pt idx="1">
                  <c:v>8.4279527098209059E-3</c:v>
                </c:pt>
                <c:pt idx="2">
                  <c:v>1.2671192789418237E-2</c:v>
                </c:pt>
                <c:pt idx="3">
                  <c:v>8.8376448554372006E-3</c:v>
                </c:pt>
                <c:pt idx="4">
                  <c:v>9.5107105232353981E-3</c:v>
                </c:pt>
                <c:pt idx="5">
                  <c:v>9.9204026688516911E-3</c:v>
                </c:pt>
                <c:pt idx="6">
                  <c:v>1.0710523235397401E-2</c:v>
                </c:pt>
                <c:pt idx="7">
                  <c:v>1.0388622263841742E-2</c:v>
                </c:pt>
                <c:pt idx="8">
                  <c:v>1.0739786960084279E-2</c:v>
                </c:pt>
                <c:pt idx="9">
                  <c:v>8.8083811307503226E-3</c:v>
                </c:pt>
                <c:pt idx="10">
                  <c:v>9.8326114947910569E-3</c:v>
                </c:pt>
                <c:pt idx="11">
                  <c:v>1.0827578134144915E-2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211325568"/>
        <c:axId val="-1211327744"/>
      </c:lineChart>
      <c:catAx>
        <c:axId val="-121132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27744"/>
        <c:crosses val="autoZero"/>
        <c:auto val="1"/>
        <c:lblAlgn val="ctr"/>
        <c:lblOffset val="100"/>
        <c:noMultiLvlLbl val="0"/>
      </c:catAx>
      <c:valAx>
        <c:axId val="-121132774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25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Data Extraction Waterfall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noFill/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noFill/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noFill/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noFill/>
              <a:ln>
                <a:noFill/>
              </a:ln>
              <a:effectLst/>
            </c:spPr>
          </c:dPt>
          <c:dLbls>
            <c:dLbl>
              <c:idx val="0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smtClean="0"/>
                      <a:t>10 MM</a:t>
                    </a: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Total Borrowers in Commercial Bureau</c:v>
                </c:pt>
                <c:pt idx="1">
                  <c:v>New Borrowers with first reporting month after 31st Dec 2014</c:v>
                </c:pt>
                <c:pt idx="2">
                  <c:v>Excluding SHG &amp; AoP</c:v>
                </c:pt>
                <c:pt idx="3">
                  <c:v>NA</c:v>
                </c:pt>
                <c:pt idx="4">
                  <c:v>&gt;20CR</c:v>
                </c:pt>
                <c:pt idx="5">
                  <c:v>50L-20CR</c:v>
                </c:pt>
                <c:pt idx="6">
                  <c:v>10-50L</c:v>
                </c:pt>
                <c:pt idx="7">
                  <c:v>0-10L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10000000</c:v>
                </c:pt>
                <c:pt idx="1">
                  <c:v>8650000</c:v>
                </c:pt>
                <c:pt idx="2">
                  <c:v>7500000</c:v>
                </c:pt>
                <c:pt idx="3">
                  <c:v>5640000</c:v>
                </c:pt>
                <c:pt idx="4">
                  <c:v>5600000</c:v>
                </c:pt>
                <c:pt idx="5">
                  <c:v>5160000</c:v>
                </c:pt>
                <c:pt idx="6">
                  <c:v>4013480.5931223882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</c:dPt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Total Borrowers in Commercial Bureau</c:v>
                </c:pt>
                <c:pt idx="1">
                  <c:v>New Borrowers with first reporting month after 31st Dec 2014</c:v>
                </c:pt>
                <c:pt idx="2">
                  <c:v>Excluding SHG &amp; AoP</c:v>
                </c:pt>
                <c:pt idx="3">
                  <c:v>NA</c:v>
                </c:pt>
                <c:pt idx="4">
                  <c:v>&gt;20CR</c:v>
                </c:pt>
                <c:pt idx="5">
                  <c:v>50L-20CR</c:v>
                </c:pt>
                <c:pt idx="6">
                  <c:v>10-50L</c:v>
                </c:pt>
                <c:pt idx="7">
                  <c:v>0-10L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1">
                  <c:v>1350000</c:v>
                </c:pt>
                <c:pt idx="2">
                  <c:v>1150000</c:v>
                </c:pt>
                <c:pt idx="3">
                  <c:v>1860000</c:v>
                </c:pt>
                <c:pt idx="4">
                  <c:v>40000</c:v>
                </c:pt>
                <c:pt idx="5">
                  <c:v>440000</c:v>
                </c:pt>
                <c:pt idx="6">
                  <c:v>1146519.4068776118</c:v>
                </c:pt>
                <c:pt idx="7">
                  <c:v>4013480.5931223882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1211316864"/>
        <c:axId val="-1211316320"/>
      </c:barChart>
      <c:catAx>
        <c:axId val="-12113168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16320"/>
        <c:crossesAt val="0"/>
        <c:auto val="1"/>
        <c:lblAlgn val="ctr"/>
        <c:lblOffset val="100"/>
        <c:noMultiLvlLbl val="0"/>
      </c:catAx>
      <c:valAx>
        <c:axId val="-1211316320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50000"/>
                </a:schemeClr>
              </a:solidFill>
              <a:prstDash val="sys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1686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184045744195582E-2"/>
          <c:y val="2.7205055427622769E-2"/>
          <c:w val="0.96781600379650357"/>
          <c:h val="0.94558988914475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Borrower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SME (50L-20CR): 1in 13 Sample</c:v>
                </c:pt>
                <c:pt idx="1">
                  <c:v>MICRO(10-50L): 1 in 20 Sample</c:v>
                </c:pt>
                <c:pt idx="2">
                  <c:v>LOW (0-10L): 1 in 300 Sample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39286</c:v>
                </c:pt>
                <c:pt idx="1">
                  <c:v>44984</c:v>
                </c:pt>
                <c:pt idx="2">
                  <c:v>10498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7"/>
        <c:overlap val="36"/>
        <c:axId val="-1211314688"/>
        <c:axId val="-1211323936"/>
      </c:barChart>
      <c:catAx>
        <c:axId val="-1211314688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-1211323936"/>
        <c:crosses val="autoZero"/>
        <c:auto val="1"/>
        <c:lblAlgn val="ctr"/>
        <c:lblOffset val="100"/>
        <c:noMultiLvlLbl val="0"/>
      </c:catAx>
      <c:valAx>
        <c:axId val="-1211323936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-1211314688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baseline="0" dirty="0" smtClean="0">
                <a:effectLst/>
              </a:rPr>
              <a:t>Average Balance reported per borrower – Fund Trades</a:t>
            </a:r>
            <a:endParaRPr lang="en-US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6053274.5321601946</c:v>
                </c:pt>
                <c:pt idx="1">
                  <c:v>6681168.8203883497</c:v>
                </c:pt>
                <c:pt idx="2">
                  <c:v>6618307.795509709</c:v>
                </c:pt>
                <c:pt idx="3">
                  <c:v>7037365.0273058256</c:v>
                </c:pt>
                <c:pt idx="4">
                  <c:v>7276598.0845469255</c:v>
                </c:pt>
                <c:pt idx="5">
                  <c:v>8228448.5942556635</c:v>
                </c:pt>
                <c:pt idx="6">
                  <c:v>8121332.8458737861</c:v>
                </c:pt>
                <c:pt idx="7">
                  <c:v>8468894.640978964</c:v>
                </c:pt>
                <c:pt idx="8">
                  <c:v>9831786.6140776705</c:v>
                </c:pt>
                <c:pt idx="9">
                  <c:v>8525144.6703074425</c:v>
                </c:pt>
                <c:pt idx="10">
                  <c:v>8914699.3838996757</c:v>
                </c:pt>
                <c:pt idx="11">
                  <c:v>11342489.681432039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4779480.1985836355</c:v>
                </c:pt>
                <c:pt idx="1">
                  <c:v>5013768.3115123492</c:v>
                </c:pt>
                <c:pt idx="2">
                  <c:v>5288705.6998419762</c:v>
                </c:pt>
                <c:pt idx="3">
                  <c:v>5505756.8264953764</c:v>
                </c:pt>
                <c:pt idx="4">
                  <c:v>5693959.7106988179</c:v>
                </c:pt>
                <c:pt idx="5">
                  <c:v>6554576.7184244413</c:v>
                </c:pt>
                <c:pt idx="6">
                  <c:v>6468409.4412969686</c:v>
                </c:pt>
                <c:pt idx="7">
                  <c:v>6824524.0128760384</c:v>
                </c:pt>
                <c:pt idx="8">
                  <c:v>7954954.2586327987</c:v>
                </c:pt>
                <c:pt idx="9">
                  <c:v>6792579.1366908578</c:v>
                </c:pt>
                <c:pt idx="10">
                  <c:v>6888600.6262729717</c:v>
                </c:pt>
                <c:pt idx="11">
                  <c:v>8967459.6570876744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211329376"/>
        <c:axId val="-1211327200"/>
      </c:lineChart>
      <c:catAx>
        <c:axId val="-1211329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27200"/>
        <c:crosses val="autoZero"/>
        <c:auto val="1"/>
        <c:lblAlgn val="ctr"/>
        <c:lblOffset val="100"/>
        <c:noMultiLvlLbl val="0"/>
      </c:catAx>
      <c:valAx>
        <c:axId val="-12113272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211329376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Average Balance reported per borrower – All Trades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7274541.5744336573</c:v>
                </c:pt>
                <c:pt idx="1">
                  <c:v>7997987.5026294496</c:v>
                </c:pt>
                <c:pt idx="2">
                  <c:v>7926693.1537216827</c:v>
                </c:pt>
                <c:pt idx="3">
                  <c:v>8298968.039239482</c:v>
                </c:pt>
                <c:pt idx="4">
                  <c:v>8806016.6599919088</c:v>
                </c:pt>
                <c:pt idx="5">
                  <c:v>10031983.7394822</c:v>
                </c:pt>
                <c:pt idx="6">
                  <c:v>9916758.3705501612</c:v>
                </c:pt>
                <c:pt idx="7">
                  <c:v>10182151.067354368</c:v>
                </c:pt>
                <c:pt idx="8">
                  <c:v>12031021.742313916</c:v>
                </c:pt>
                <c:pt idx="9">
                  <c:v>10658899.763551779</c:v>
                </c:pt>
                <c:pt idx="10">
                  <c:v>11182549.955299353</c:v>
                </c:pt>
                <c:pt idx="11">
                  <c:v>13812140.778519418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5676535.8918120097</c:v>
                </c:pt>
                <c:pt idx="1">
                  <c:v>5988970.967458738</c:v>
                </c:pt>
                <c:pt idx="2">
                  <c:v>6253992.5492508486</c:v>
                </c:pt>
                <c:pt idx="3">
                  <c:v>6478065.3932166686</c:v>
                </c:pt>
                <c:pt idx="4">
                  <c:v>6829419.2128350697</c:v>
                </c:pt>
                <c:pt idx="5">
                  <c:v>7856022.4819150185</c:v>
                </c:pt>
                <c:pt idx="6">
                  <c:v>7794325.3289535288</c:v>
                </c:pt>
                <c:pt idx="7">
                  <c:v>8115129.2512876038</c:v>
                </c:pt>
                <c:pt idx="8">
                  <c:v>9580622.037750205</c:v>
                </c:pt>
                <c:pt idx="9">
                  <c:v>8215020.9472082406</c:v>
                </c:pt>
                <c:pt idx="10">
                  <c:v>8395431.6220589951</c:v>
                </c:pt>
                <c:pt idx="11">
                  <c:v>10836920.155419642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30251312"/>
        <c:axId val="-1130254032"/>
      </c:lineChart>
      <c:catAx>
        <c:axId val="-113025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0254032"/>
        <c:crosses val="autoZero"/>
        <c:auto val="1"/>
        <c:lblAlgn val="ctr"/>
        <c:lblOffset val="100"/>
        <c:noMultiLvlLbl val="0"/>
      </c:catAx>
      <c:valAx>
        <c:axId val="-113025403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0251312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baseline="0" dirty="0" smtClean="0">
                <a:effectLst/>
              </a:rPr>
              <a:t>Average Balance reported per borrower – WC Trades</a:t>
            </a:r>
            <a:endParaRPr lang="en-US" dirty="0">
              <a:effectLst/>
            </a:endParaRPr>
          </a:p>
        </c:rich>
      </c:tx>
      <c:layout>
        <c:manualLayout>
          <c:xMode val="edge"/>
          <c:yMode val="edge"/>
          <c:x val="4.319976430580242E-2"/>
          <c:y val="4.10879573461708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4475917.8025889965</c:v>
                </c:pt>
                <c:pt idx="1">
                  <c:v>4828653.9459951455</c:v>
                </c:pt>
                <c:pt idx="2">
                  <c:v>4772508.9937297739</c:v>
                </c:pt>
                <c:pt idx="3">
                  <c:v>5127423.1864886731</c:v>
                </c:pt>
                <c:pt idx="4">
                  <c:v>5470388.525687702</c:v>
                </c:pt>
                <c:pt idx="5">
                  <c:v>6329647.8800566345</c:v>
                </c:pt>
                <c:pt idx="6">
                  <c:v>6251357.9381067958</c:v>
                </c:pt>
                <c:pt idx="7">
                  <c:v>6624987.9771440132</c:v>
                </c:pt>
                <c:pt idx="8">
                  <c:v>7838332.2700242717</c:v>
                </c:pt>
                <c:pt idx="9">
                  <c:v>6938251.2841828475</c:v>
                </c:pt>
                <c:pt idx="10">
                  <c:v>7508239.6810275083</c:v>
                </c:pt>
                <c:pt idx="11">
                  <c:v>9300093.171521036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3557387.0927367434</c:v>
                </c:pt>
                <c:pt idx="1">
                  <c:v>3684384.0026922626</c:v>
                </c:pt>
                <c:pt idx="2">
                  <c:v>3875964.5419641812</c:v>
                </c:pt>
                <c:pt idx="3">
                  <c:v>4024234.5236450895</c:v>
                </c:pt>
                <c:pt idx="4">
                  <c:v>4243269.7027976122</c:v>
                </c:pt>
                <c:pt idx="5">
                  <c:v>4984129.4281282919</c:v>
                </c:pt>
                <c:pt idx="6">
                  <c:v>4952586.5382769518</c:v>
                </c:pt>
                <c:pt idx="7">
                  <c:v>5194459.8489113897</c:v>
                </c:pt>
                <c:pt idx="8">
                  <c:v>6185182.711518202</c:v>
                </c:pt>
                <c:pt idx="9">
                  <c:v>5292122.0191092119</c:v>
                </c:pt>
                <c:pt idx="10">
                  <c:v>5509073.8967575794</c:v>
                </c:pt>
                <c:pt idx="11">
                  <c:v>7144213.9943813644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30261104"/>
        <c:axId val="-1130249136"/>
      </c:lineChart>
      <c:catAx>
        <c:axId val="-113026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0249136"/>
        <c:crosses val="autoZero"/>
        <c:auto val="1"/>
        <c:lblAlgn val="ctr"/>
        <c:lblOffset val="100"/>
        <c:noMultiLvlLbl val="0"/>
      </c:catAx>
      <c:valAx>
        <c:axId val="-113024913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026110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baseline="0" dirty="0" smtClean="0">
                <a:effectLst/>
              </a:rPr>
              <a:t>Average Balance reported per borrower – TL Trades</a:t>
            </a:r>
            <a:endParaRPr lang="en-US" dirty="0">
              <a:effectLst/>
            </a:endParaRPr>
          </a:p>
        </c:rich>
      </c:tx>
      <c:layout>
        <c:manualLayout>
          <c:xMode val="edge"/>
          <c:yMode val="edge"/>
          <c:x val="0.31926018609422196"/>
          <c:y val="3.08159680096281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2235984.383697411</c:v>
                </c:pt>
                <c:pt idx="1">
                  <c:v>2558817.9203074435</c:v>
                </c:pt>
                <c:pt idx="2">
                  <c:v>2560595.8555825241</c:v>
                </c:pt>
                <c:pt idx="3">
                  <c:v>2589240.9599514562</c:v>
                </c:pt>
                <c:pt idx="4">
                  <c:v>2619639.0169902914</c:v>
                </c:pt>
                <c:pt idx="5">
                  <c:v>2879777.0883899676</c:v>
                </c:pt>
                <c:pt idx="6">
                  <c:v>2849690.9370954693</c:v>
                </c:pt>
                <c:pt idx="7">
                  <c:v>2816110.5115291262</c:v>
                </c:pt>
                <c:pt idx="8">
                  <c:v>3251534.7665857607</c:v>
                </c:pt>
                <c:pt idx="9">
                  <c:v>2825931.4882686082</c:v>
                </c:pt>
                <c:pt idx="10">
                  <c:v>2864223.2423139159</c:v>
                </c:pt>
                <c:pt idx="11">
                  <c:v>3466335.7965210355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1728551.2296031839</c:v>
                </c:pt>
                <c:pt idx="1">
                  <c:v>1923027.1818447851</c:v>
                </c:pt>
                <c:pt idx="2">
                  <c:v>1975328.0417300714</c:v>
                </c:pt>
                <c:pt idx="3">
                  <c:v>1998135.3773557299</c:v>
                </c:pt>
                <c:pt idx="4">
                  <c:v>2066631.7434449256</c:v>
                </c:pt>
                <c:pt idx="5">
                  <c:v>2303171.4705606932</c:v>
                </c:pt>
                <c:pt idx="6">
                  <c:v>2261317.4390729251</c:v>
                </c:pt>
                <c:pt idx="7">
                  <c:v>2351345.9990342972</c:v>
                </c:pt>
                <c:pt idx="8">
                  <c:v>2753049.1411974714</c:v>
                </c:pt>
                <c:pt idx="9">
                  <c:v>2355243.4210172072</c:v>
                </c:pt>
                <c:pt idx="10">
                  <c:v>2302151.4600842795</c:v>
                </c:pt>
                <c:pt idx="11">
                  <c:v>2972019.2971438603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30259472"/>
        <c:axId val="-1130252944"/>
      </c:lineChart>
      <c:catAx>
        <c:axId val="-1130259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0252944"/>
        <c:crosses val="autoZero"/>
        <c:auto val="1"/>
        <c:lblAlgn val="ctr"/>
        <c:lblOffset val="100"/>
        <c:noMultiLvlLbl val="0"/>
      </c:catAx>
      <c:valAx>
        <c:axId val="-113025294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130259472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4ECF33-C8A9-4977-AAFD-421A4114A68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227B748-B8B6-45CB-A0F4-3C2B48691FD1}">
      <dgm:prSet/>
      <dgm:spPr/>
      <dgm:t>
        <a:bodyPr/>
        <a:lstStyle/>
        <a:p>
          <a:r>
            <a:rPr lang="en-IN" dirty="0" smtClean="0"/>
            <a:t>0-50 L       </a:t>
          </a:r>
        </a:p>
        <a:p>
          <a:r>
            <a:rPr lang="en-IN" b="1" dirty="0" smtClean="0">
              <a:solidFill>
                <a:schemeClr val="tx1"/>
              </a:solidFill>
            </a:rPr>
            <a:t>5.2 MM</a:t>
          </a:r>
          <a:endParaRPr lang="en-IN" b="1" dirty="0">
            <a:solidFill>
              <a:schemeClr val="tx1"/>
            </a:solidFill>
          </a:endParaRPr>
        </a:p>
      </dgm:t>
    </dgm:pt>
    <dgm:pt modelId="{C40D97A7-2C26-4DDE-AD56-8D7628A9EF43}" type="parTrans" cxnId="{401B6333-C7F9-4A98-9CE6-5BF801F44AF6}">
      <dgm:prSet/>
      <dgm:spPr/>
      <dgm:t>
        <a:bodyPr/>
        <a:lstStyle/>
        <a:p>
          <a:endParaRPr lang="en-IN"/>
        </a:p>
      </dgm:t>
    </dgm:pt>
    <dgm:pt modelId="{DA6B6EDE-CB9B-49C3-959B-ADC78DB06DD9}" type="sibTrans" cxnId="{401B6333-C7F9-4A98-9CE6-5BF801F44AF6}">
      <dgm:prSet/>
      <dgm:spPr/>
      <dgm:t>
        <a:bodyPr/>
        <a:lstStyle/>
        <a:p>
          <a:endParaRPr lang="en-IN"/>
        </a:p>
      </dgm:t>
    </dgm:pt>
    <dgm:pt modelId="{C9ACF57C-836B-4FDE-A530-75FA76C87966}">
      <dgm:prSet/>
      <dgm:spPr/>
      <dgm:t>
        <a:bodyPr/>
        <a:lstStyle/>
        <a:p>
          <a:r>
            <a:rPr lang="en-IN" dirty="0" smtClean="0"/>
            <a:t>50 L – 20 CR</a:t>
          </a:r>
        </a:p>
        <a:p>
          <a:r>
            <a:rPr lang="en-IN" dirty="0" smtClean="0"/>
            <a:t>SME proxy</a:t>
          </a:r>
        </a:p>
        <a:p>
          <a:r>
            <a:rPr lang="en-IN" b="1" dirty="0" smtClean="0"/>
            <a:t>0.4 MM</a:t>
          </a:r>
          <a:endParaRPr lang="en-IN" b="1" dirty="0"/>
        </a:p>
      </dgm:t>
    </dgm:pt>
    <dgm:pt modelId="{4F4B1F46-3D35-42B2-8475-E00060C02496}" type="parTrans" cxnId="{99575AC4-7543-4142-B2F3-E57682D57D22}">
      <dgm:prSet/>
      <dgm:spPr/>
      <dgm:t>
        <a:bodyPr/>
        <a:lstStyle/>
        <a:p>
          <a:endParaRPr lang="en-IN"/>
        </a:p>
      </dgm:t>
    </dgm:pt>
    <dgm:pt modelId="{4335448A-BB9B-47EC-A9AA-C4327CECA91B}" type="sibTrans" cxnId="{99575AC4-7543-4142-B2F3-E57682D57D22}">
      <dgm:prSet/>
      <dgm:spPr/>
      <dgm:t>
        <a:bodyPr/>
        <a:lstStyle/>
        <a:p>
          <a:endParaRPr lang="en-IN"/>
        </a:p>
      </dgm:t>
    </dgm:pt>
    <dgm:pt modelId="{D1705AE4-1061-4497-9458-700FF2F99C01}">
      <dgm:prSet phldrT="[Text]"/>
      <dgm:spPr/>
      <dgm:t>
        <a:bodyPr/>
        <a:lstStyle/>
        <a:p>
          <a:r>
            <a:rPr lang="en-IN" dirty="0" smtClean="0"/>
            <a:t>Exclude New Accounts – </a:t>
          </a:r>
        </a:p>
        <a:p>
          <a:r>
            <a:rPr lang="en-IN" b="1" dirty="0" smtClean="0"/>
            <a:t>1.35 MM</a:t>
          </a:r>
          <a:endParaRPr lang="en-IN" b="1" dirty="0"/>
        </a:p>
      </dgm:t>
    </dgm:pt>
    <dgm:pt modelId="{C3D77C0D-40C1-4980-8199-07CF983FBC1F}" type="sibTrans" cxnId="{9CEA4C2F-D3A1-4E44-A924-DE5FF9870641}">
      <dgm:prSet/>
      <dgm:spPr/>
      <dgm:t>
        <a:bodyPr/>
        <a:lstStyle/>
        <a:p>
          <a:endParaRPr lang="en-IN"/>
        </a:p>
      </dgm:t>
    </dgm:pt>
    <dgm:pt modelId="{9DD0ABF8-25E6-4C08-8332-6552C0E2A536}" type="parTrans" cxnId="{9CEA4C2F-D3A1-4E44-A924-DE5FF9870641}">
      <dgm:prSet/>
      <dgm:spPr/>
      <dgm:t>
        <a:bodyPr/>
        <a:lstStyle/>
        <a:p>
          <a:endParaRPr lang="en-IN"/>
        </a:p>
      </dgm:t>
    </dgm:pt>
    <dgm:pt modelId="{B677FBB8-B088-4626-B50B-1516A7B23E1A}">
      <dgm:prSet/>
      <dgm:spPr/>
      <dgm:t>
        <a:bodyPr/>
        <a:lstStyle/>
        <a:p>
          <a:r>
            <a:rPr lang="en-IN" dirty="0" smtClean="0"/>
            <a:t>NA</a:t>
          </a:r>
        </a:p>
        <a:p>
          <a:r>
            <a:rPr lang="en-IN" b="1" dirty="0" smtClean="0"/>
            <a:t>1.9 MM</a:t>
          </a:r>
          <a:endParaRPr lang="en-IN" b="1" dirty="0"/>
        </a:p>
      </dgm:t>
    </dgm:pt>
    <dgm:pt modelId="{AB377635-F902-4926-852B-55FDD442B78A}" type="sibTrans" cxnId="{8E9BF121-9A55-428D-8EB2-7360C8CB7E30}">
      <dgm:prSet/>
      <dgm:spPr/>
      <dgm:t>
        <a:bodyPr/>
        <a:lstStyle/>
        <a:p>
          <a:endParaRPr lang="en-IN"/>
        </a:p>
      </dgm:t>
    </dgm:pt>
    <dgm:pt modelId="{37523411-EB5E-4E7E-9FD5-94BB53B2B9EB}" type="parTrans" cxnId="{8E9BF121-9A55-428D-8EB2-7360C8CB7E30}">
      <dgm:prSet/>
      <dgm:spPr/>
      <dgm:t>
        <a:bodyPr/>
        <a:lstStyle/>
        <a:p>
          <a:endParaRPr lang="en-IN"/>
        </a:p>
      </dgm:t>
    </dgm:pt>
    <dgm:pt modelId="{AA5FC8BE-74FA-4CCC-9949-FC63178B5224}">
      <dgm:prSet phldrT="[Text]"/>
      <dgm:spPr/>
      <dgm:t>
        <a:bodyPr/>
        <a:lstStyle/>
        <a:p>
          <a:r>
            <a:rPr lang="en-IN" dirty="0" smtClean="0"/>
            <a:t>Total Borrowers</a:t>
          </a:r>
        </a:p>
        <a:p>
          <a:r>
            <a:rPr lang="en-IN" b="1" dirty="0" smtClean="0"/>
            <a:t>10 MM</a:t>
          </a:r>
          <a:endParaRPr lang="en-IN" b="1" dirty="0"/>
        </a:p>
      </dgm:t>
    </dgm:pt>
    <dgm:pt modelId="{ECE5221B-6BE6-425C-A421-23ED0E1942B8}" type="sibTrans" cxnId="{30633C0D-FD01-4B8E-AABE-B28FD822C54D}">
      <dgm:prSet/>
      <dgm:spPr/>
      <dgm:t>
        <a:bodyPr/>
        <a:lstStyle/>
        <a:p>
          <a:endParaRPr lang="en-IN"/>
        </a:p>
      </dgm:t>
    </dgm:pt>
    <dgm:pt modelId="{9BB0F590-0819-485D-A4A8-FE306A7D3A97}" type="parTrans" cxnId="{30633C0D-FD01-4B8E-AABE-B28FD822C54D}">
      <dgm:prSet/>
      <dgm:spPr/>
      <dgm:t>
        <a:bodyPr/>
        <a:lstStyle/>
        <a:p>
          <a:endParaRPr lang="en-IN"/>
        </a:p>
      </dgm:t>
    </dgm:pt>
    <dgm:pt modelId="{343B393A-D6B8-439A-8305-20F432D5FA3E}">
      <dgm:prSet phldrT="[Text]"/>
      <dgm:spPr/>
      <dgm:t>
        <a:bodyPr/>
        <a:lstStyle/>
        <a:p>
          <a:r>
            <a:rPr lang="en-IN" dirty="0" smtClean="0"/>
            <a:t>Excluding SHG &amp; </a:t>
          </a:r>
        </a:p>
        <a:p>
          <a:r>
            <a:rPr lang="en-IN" dirty="0" err="1" smtClean="0"/>
            <a:t>AoP</a:t>
          </a:r>
          <a:r>
            <a:rPr lang="en-IN" dirty="0" smtClean="0"/>
            <a:t> –</a:t>
          </a:r>
        </a:p>
        <a:p>
          <a:r>
            <a:rPr lang="en-IN" b="1" dirty="0" smtClean="0"/>
            <a:t>1.15 MM</a:t>
          </a:r>
          <a:endParaRPr lang="en-IN" b="1" dirty="0"/>
        </a:p>
      </dgm:t>
    </dgm:pt>
    <dgm:pt modelId="{08D9C8CA-243B-4CFC-9F38-7A110F31AC5C}" type="sibTrans" cxnId="{1CB489C3-4C89-4987-A032-B13A45E22B5C}">
      <dgm:prSet/>
      <dgm:spPr/>
      <dgm:t>
        <a:bodyPr/>
        <a:lstStyle/>
        <a:p>
          <a:endParaRPr lang="en-IN"/>
        </a:p>
      </dgm:t>
    </dgm:pt>
    <dgm:pt modelId="{C193C692-5D32-4D47-81BC-045E11EB65BA}" type="parTrans" cxnId="{1CB489C3-4C89-4987-A032-B13A45E22B5C}">
      <dgm:prSet/>
      <dgm:spPr/>
      <dgm:t>
        <a:bodyPr/>
        <a:lstStyle/>
        <a:p>
          <a:endParaRPr lang="en-IN"/>
        </a:p>
      </dgm:t>
    </dgm:pt>
    <dgm:pt modelId="{F3F36615-2CAF-4E6A-A6EB-A6E7BED080D3}">
      <dgm:prSet/>
      <dgm:spPr>
        <a:solidFill>
          <a:schemeClr val="accent1">
            <a:alpha val="90000"/>
          </a:schemeClr>
        </a:solidFill>
      </dgm:spPr>
      <dgm:t>
        <a:bodyPr/>
        <a:lstStyle/>
        <a:p>
          <a:r>
            <a:rPr lang="en-IN" dirty="0" smtClean="0"/>
            <a:t>1 in 13 sample</a:t>
          </a:r>
        </a:p>
        <a:p>
          <a:r>
            <a:rPr lang="en-IN" b="1" dirty="0" smtClean="0"/>
            <a:t>39 K</a:t>
          </a:r>
          <a:endParaRPr lang="en-IN" b="1" dirty="0"/>
        </a:p>
      </dgm:t>
    </dgm:pt>
    <dgm:pt modelId="{60B3BDDC-E0E3-4C1E-AECC-FD79E6B73FFB}" type="parTrans" cxnId="{9A9C3A45-7ED4-4315-A5AC-B1A262FF6BF2}">
      <dgm:prSet/>
      <dgm:spPr>
        <a:ln>
          <a:prstDash val="sysDash"/>
        </a:ln>
      </dgm:spPr>
      <dgm:t>
        <a:bodyPr/>
        <a:lstStyle/>
        <a:p>
          <a:endParaRPr lang="en-IN"/>
        </a:p>
      </dgm:t>
    </dgm:pt>
    <dgm:pt modelId="{971809D5-9857-476B-8EB8-01BB8FE77738}" type="sibTrans" cxnId="{9A9C3A45-7ED4-4315-A5AC-B1A262FF6BF2}">
      <dgm:prSet/>
      <dgm:spPr/>
      <dgm:t>
        <a:bodyPr/>
        <a:lstStyle/>
        <a:p>
          <a:endParaRPr lang="en-IN"/>
        </a:p>
      </dgm:t>
    </dgm:pt>
    <dgm:pt modelId="{3E4A9B78-32F9-47EF-BB19-4C70A8583F70}">
      <dgm:prSet/>
      <dgm:spPr/>
      <dgm:t>
        <a:bodyPr/>
        <a:lstStyle/>
        <a:p>
          <a:r>
            <a:rPr lang="en-IN" dirty="0" smtClean="0"/>
            <a:t>0-10L</a:t>
          </a:r>
        </a:p>
        <a:p>
          <a:r>
            <a:rPr lang="en-IN" dirty="0" smtClean="0"/>
            <a:t>Low Exposure proxy</a:t>
          </a:r>
        </a:p>
        <a:p>
          <a:r>
            <a:rPr lang="en-IN" dirty="0" smtClean="0"/>
            <a:t>1 in 300 sample</a:t>
          </a:r>
        </a:p>
        <a:p>
          <a:r>
            <a:rPr lang="en-IN" b="1" dirty="0" smtClean="0"/>
            <a:t>10 K</a:t>
          </a:r>
          <a:endParaRPr lang="en-IN" b="1" dirty="0"/>
        </a:p>
      </dgm:t>
    </dgm:pt>
    <dgm:pt modelId="{99E07C8C-2F0A-4648-A57D-CCF997907200}" type="parTrans" cxnId="{24E5A180-6BCE-4D63-AD42-5420B85677CC}">
      <dgm:prSet/>
      <dgm:spPr>
        <a:ln>
          <a:prstDash val="sysDash"/>
        </a:ln>
      </dgm:spPr>
      <dgm:t>
        <a:bodyPr/>
        <a:lstStyle/>
        <a:p>
          <a:endParaRPr lang="en-IN"/>
        </a:p>
      </dgm:t>
    </dgm:pt>
    <dgm:pt modelId="{25DF5E7E-C01B-4174-A857-9EAA4BB77D3D}" type="sibTrans" cxnId="{24E5A180-6BCE-4D63-AD42-5420B85677CC}">
      <dgm:prSet/>
      <dgm:spPr/>
      <dgm:t>
        <a:bodyPr/>
        <a:lstStyle/>
        <a:p>
          <a:endParaRPr lang="en-IN"/>
        </a:p>
      </dgm:t>
    </dgm:pt>
    <dgm:pt modelId="{015EB5E8-0653-4A76-9888-2A4FE18EBF7D}">
      <dgm:prSet/>
      <dgm:spPr/>
      <dgm:t>
        <a:bodyPr/>
        <a:lstStyle/>
        <a:p>
          <a:r>
            <a:rPr lang="en-IN" dirty="0" smtClean="0"/>
            <a:t>20 CR +</a:t>
          </a:r>
        </a:p>
        <a:p>
          <a:r>
            <a:rPr lang="en-IN" dirty="0" smtClean="0"/>
            <a:t>Large Enterprise proxy</a:t>
          </a:r>
        </a:p>
        <a:p>
          <a:r>
            <a:rPr lang="en-IN" b="1" dirty="0" smtClean="0"/>
            <a:t>0.04 MM</a:t>
          </a:r>
          <a:endParaRPr lang="en-IN" b="1" dirty="0"/>
        </a:p>
      </dgm:t>
    </dgm:pt>
    <dgm:pt modelId="{BAAEFEE6-85CF-4B41-AB63-848222B40A98}" type="parTrans" cxnId="{063C1762-36F5-4D25-8EA2-E63AC85A1D08}">
      <dgm:prSet/>
      <dgm:spPr/>
      <dgm:t>
        <a:bodyPr/>
        <a:lstStyle/>
        <a:p>
          <a:endParaRPr lang="en-IN"/>
        </a:p>
      </dgm:t>
    </dgm:pt>
    <dgm:pt modelId="{4450FDD2-43B4-45BD-8666-49603CC87711}" type="sibTrans" cxnId="{063C1762-36F5-4D25-8EA2-E63AC85A1D08}">
      <dgm:prSet/>
      <dgm:spPr/>
      <dgm:t>
        <a:bodyPr/>
        <a:lstStyle/>
        <a:p>
          <a:endParaRPr lang="en-IN"/>
        </a:p>
      </dgm:t>
    </dgm:pt>
    <dgm:pt modelId="{94C049DF-85B0-4398-B10F-232161E6D560}">
      <dgm:prSet/>
      <dgm:spPr/>
      <dgm:t>
        <a:bodyPr/>
        <a:lstStyle/>
        <a:p>
          <a:r>
            <a:rPr lang="en-IN" dirty="0" smtClean="0"/>
            <a:t>10-50L</a:t>
          </a:r>
        </a:p>
        <a:p>
          <a:r>
            <a:rPr lang="en-IN" dirty="0" smtClean="0"/>
            <a:t>Micro enterprise proxy</a:t>
          </a:r>
        </a:p>
        <a:p>
          <a:r>
            <a:rPr lang="en-IN" dirty="0" smtClean="0"/>
            <a:t>1 in 20 sample</a:t>
          </a:r>
        </a:p>
        <a:p>
          <a:r>
            <a:rPr lang="en-IN" b="1" dirty="0" smtClean="0"/>
            <a:t>45 K</a:t>
          </a:r>
          <a:endParaRPr lang="en-IN" dirty="0"/>
        </a:p>
      </dgm:t>
    </dgm:pt>
    <dgm:pt modelId="{D72314C9-8F11-4E45-B357-CFBFF627FA3A}" type="parTrans" cxnId="{415CD76C-95C5-4330-BA20-2DA8C002AAF2}">
      <dgm:prSet/>
      <dgm:spPr>
        <a:ln>
          <a:prstDash val="sysDash"/>
        </a:ln>
      </dgm:spPr>
      <dgm:t>
        <a:bodyPr/>
        <a:lstStyle/>
        <a:p>
          <a:endParaRPr lang="en-IN"/>
        </a:p>
      </dgm:t>
    </dgm:pt>
    <dgm:pt modelId="{96D33523-141F-4DD2-A35A-3DF37E8ABA21}" type="sibTrans" cxnId="{415CD76C-95C5-4330-BA20-2DA8C002AAF2}">
      <dgm:prSet/>
      <dgm:spPr/>
      <dgm:t>
        <a:bodyPr/>
        <a:lstStyle/>
        <a:p>
          <a:endParaRPr lang="en-IN"/>
        </a:p>
      </dgm:t>
    </dgm:pt>
    <dgm:pt modelId="{A022F27D-7A79-42B9-AF46-2183D3DA5018}" type="pres">
      <dgm:prSet presAssocID="{F14ECF33-C8A9-4977-AAFD-421A4114A6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F2773870-1E79-4006-89E3-DB10596EDA60}" type="pres">
      <dgm:prSet presAssocID="{AA5FC8BE-74FA-4CCC-9949-FC63178B5224}" presName="hierRoot1" presStyleCnt="0"/>
      <dgm:spPr/>
    </dgm:pt>
    <dgm:pt modelId="{E553449C-94A3-4010-A895-A5AF8D976586}" type="pres">
      <dgm:prSet presAssocID="{AA5FC8BE-74FA-4CCC-9949-FC63178B5224}" presName="composite" presStyleCnt="0"/>
      <dgm:spPr/>
    </dgm:pt>
    <dgm:pt modelId="{2C262DFC-8D8D-4BC5-B7B9-0AE01E3E000A}" type="pres">
      <dgm:prSet presAssocID="{AA5FC8BE-74FA-4CCC-9949-FC63178B5224}" presName="background" presStyleLbl="node0" presStyleIdx="0" presStyleCnt="1"/>
      <dgm:spPr/>
    </dgm:pt>
    <dgm:pt modelId="{CEF1BC16-8F24-4AB3-85FB-61CB6D0FCF5F}" type="pres">
      <dgm:prSet presAssocID="{AA5FC8BE-74FA-4CCC-9949-FC63178B5224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51C2C0C-2094-49FE-B76A-281903E95641}" type="pres">
      <dgm:prSet presAssocID="{AA5FC8BE-74FA-4CCC-9949-FC63178B5224}" presName="hierChild2" presStyleCnt="0"/>
      <dgm:spPr/>
    </dgm:pt>
    <dgm:pt modelId="{8C368309-6476-4CD1-AED3-B581371CC269}" type="pres">
      <dgm:prSet presAssocID="{9DD0ABF8-25E6-4C08-8332-6552C0E2A536}" presName="Name10" presStyleLbl="parChTrans1D2" presStyleIdx="0" presStyleCnt="1"/>
      <dgm:spPr/>
      <dgm:t>
        <a:bodyPr/>
        <a:lstStyle/>
        <a:p>
          <a:endParaRPr lang="en-IN"/>
        </a:p>
      </dgm:t>
    </dgm:pt>
    <dgm:pt modelId="{EBEAC2BD-D9F5-4E4F-ADCC-583DA1B61372}" type="pres">
      <dgm:prSet presAssocID="{D1705AE4-1061-4497-9458-700FF2F99C01}" presName="hierRoot2" presStyleCnt="0"/>
      <dgm:spPr/>
    </dgm:pt>
    <dgm:pt modelId="{CDFBB081-4FE7-4879-A048-AFD79B7C6B43}" type="pres">
      <dgm:prSet presAssocID="{D1705AE4-1061-4497-9458-700FF2F99C01}" presName="composite2" presStyleCnt="0"/>
      <dgm:spPr/>
    </dgm:pt>
    <dgm:pt modelId="{7A2850EE-546B-4FC5-9A03-1EF6924C9005}" type="pres">
      <dgm:prSet presAssocID="{D1705AE4-1061-4497-9458-700FF2F99C01}" presName="background2" presStyleLbl="node2" presStyleIdx="0" presStyleCnt="1"/>
      <dgm:spPr>
        <a:solidFill>
          <a:schemeClr val="accent2"/>
        </a:solidFill>
      </dgm:spPr>
    </dgm:pt>
    <dgm:pt modelId="{C32104F3-12DA-4891-A7BE-FD2D671A29A8}" type="pres">
      <dgm:prSet presAssocID="{D1705AE4-1061-4497-9458-700FF2F99C01}" presName="text2" presStyleLbl="fgAcc2" presStyleIdx="0" presStyleCnt="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4F7925B-16DF-4507-898E-D6127D3341F6}" type="pres">
      <dgm:prSet presAssocID="{D1705AE4-1061-4497-9458-700FF2F99C01}" presName="hierChild3" presStyleCnt="0"/>
      <dgm:spPr/>
    </dgm:pt>
    <dgm:pt modelId="{EEEF741C-BA3B-4BB8-AFC7-CAA0EA3906B6}" type="pres">
      <dgm:prSet presAssocID="{C193C692-5D32-4D47-81BC-045E11EB65BA}" presName="Name17" presStyleLbl="parChTrans1D3" presStyleIdx="0" presStyleCnt="1"/>
      <dgm:spPr/>
      <dgm:t>
        <a:bodyPr/>
        <a:lstStyle/>
        <a:p>
          <a:endParaRPr lang="en-IN"/>
        </a:p>
      </dgm:t>
    </dgm:pt>
    <dgm:pt modelId="{F273BFA7-FB92-4953-8E0D-485C4459AB58}" type="pres">
      <dgm:prSet presAssocID="{343B393A-D6B8-439A-8305-20F432D5FA3E}" presName="hierRoot3" presStyleCnt="0"/>
      <dgm:spPr/>
    </dgm:pt>
    <dgm:pt modelId="{611F3787-614B-49ED-9863-3FC06768BCA8}" type="pres">
      <dgm:prSet presAssocID="{343B393A-D6B8-439A-8305-20F432D5FA3E}" presName="composite3" presStyleCnt="0"/>
      <dgm:spPr/>
    </dgm:pt>
    <dgm:pt modelId="{413C4087-E7FC-45B0-807C-A28509B3A675}" type="pres">
      <dgm:prSet presAssocID="{343B393A-D6B8-439A-8305-20F432D5FA3E}" presName="background3" presStyleLbl="node3" presStyleIdx="0" presStyleCnt="1"/>
      <dgm:spPr>
        <a:solidFill>
          <a:schemeClr val="accent2"/>
        </a:solidFill>
      </dgm:spPr>
    </dgm:pt>
    <dgm:pt modelId="{A62EB303-422A-48A6-97E5-DB40EE2F5F69}" type="pres">
      <dgm:prSet presAssocID="{343B393A-D6B8-439A-8305-20F432D5FA3E}" presName="text3" presStyleLbl="fgAcc3" presStyleIdx="0" presStyleCnt="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68B91717-35C5-4DB4-9908-A2C0BFB744C9}" type="pres">
      <dgm:prSet presAssocID="{343B393A-D6B8-439A-8305-20F432D5FA3E}" presName="hierChild4" presStyleCnt="0"/>
      <dgm:spPr/>
    </dgm:pt>
    <dgm:pt modelId="{B575CDE6-7F65-4CB0-A7D1-8978B4381A73}" type="pres">
      <dgm:prSet presAssocID="{37523411-EB5E-4E7E-9FD5-94BB53B2B9EB}" presName="Name23" presStyleLbl="parChTrans1D4" presStyleIdx="0" presStyleCnt="7"/>
      <dgm:spPr/>
      <dgm:t>
        <a:bodyPr/>
        <a:lstStyle/>
        <a:p>
          <a:endParaRPr lang="en-IN"/>
        </a:p>
      </dgm:t>
    </dgm:pt>
    <dgm:pt modelId="{F12EFC0F-D2A4-4E43-A329-DE794B44B291}" type="pres">
      <dgm:prSet presAssocID="{B677FBB8-B088-4626-B50B-1516A7B23E1A}" presName="hierRoot4" presStyleCnt="0"/>
      <dgm:spPr/>
    </dgm:pt>
    <dgm:pt modelId="{5DB91079-8FF8-4C54-9625-C733CBADFD99}" type="pres">
      <dgm:prSet presAssocID="{B677FBB8-B088-4626-B50B-1516A7B23E1A}" presName="composite4" presStyleCnt="0"/>
      <dgm:spPr/>
    </dgm:pt>
    <dgm:pt modelId="{23E3DAC5-3CD4-44D5-A7A9-50D225A55D16}" type="pres">
      <dgm:prSet presAssocID="{B677FBB8-B088-4626-B50B-1516A7B23E1A}" presName="background4" presStyleLbl="node4" presStyleIdx="0" presStyleCnt="7"/>
      <dgm:spPr/>
    </dgm:pt>
    <dgm:pt modelId="{1A6B2595-EA62-4581-A050-4D9D99437826}" type="pres">
      <dgm:prSet presAssocID="{B677FBB8-B088-4626-B50B-1516A7B23E1A}" presName="text4" presStyleLbl="fgAcc4" presStyleIdx="0" presStyleCnt="7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8A62A45-DC38-403E-B1C7-08B50C028FB9}" type="pres">
      <dgm:prSet presAssocID="{B677FBB8-B088-4626-B50B-1516A7B23E1A}" presName="hierChild5" presStyleCnt="0"/>
      <dgm:spPr/>
    </dgm:pt>
    <dgm:pt modelId="{E7CA4616-05DF-40A2-85C4-6638FE67B80C}" type="pres">
      <dgm:prSet presAssocID="{C40D97A7-2C26-4DDE-AD56-8D7628A9EF43}" presName="Name23" presStyleLbl="parChTrans1D4" presStyleIdx="1" presStyleCnt="7"/>
      <dgm:spPr/>
      <dgm:t>
        <a:bodyPr/>
        <a:lstStyle/>
        <a:p>
          <a:endParaRPr lang="en-IN"/>
        </a:p>
      </dgm:t>
    </dgm:pt>
    <dgm:pt modelId="{78093D43-6757-40BA-8460-526CF3B3F24B}" type="pres">
      <dgm:prSet presAssocID="{2227B748-B8B6-45CB-A0F4-3C2B48691FD1}" presName="hierRoot4" presStyleCnt="0"/>
      <dgm:spPr/>
    </dgm:pt>
    <dgm:pt modelId="{EABD8360-96FB-4C18-9B1A-5F0250EBF755}" type="pres">
      <dgm:prSet presAssocID="{2227B748-B8B6-45CB-A0F4-3C2B48691FD1}" presName="composite4" presStyleCnt="0"/>
      <dgm:spPr/>
    </dgm:pt>
    <dgm:pt modelId="{547E3212-3429-4422-B978-998DEB2BDE50}" type="pres">
      <dgm:prSet presAssocID="{2227B748-B8B6-45CB-A0F4-3C2B48691FD1}" presName="background4" presStyleLbl="node4" presStyleIdx="1" presStyleCnt="7"/>
      <dgm:spPr/>
    </dgm:pt>
    <dgm:pt modelId="{F215A956-F558-4C93-A2D1-FD1EB2F079F0}" type="pres">
      <dgm:prSet presAssocID="{2227B748-B8B6-45CB-A0F4-3C2B48691FD1}" presName="text4" presStyleLbl="fgAcc4" presStyleIdx="1" presStyleCnt="7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1CA8B46-E57D-40E0-B4B2-880CCBFFC6EA}" type="pres">
      <dgm:prSet presAssocID="{2227B748-B8B6-45CB-A0F4-3C2B48691FD1}" presName="hierChild5" presStyleCnt="0"/>
      <dgm:spPr/>
    </dgm:pt>
    <dgm:pt modelId="{8C05D834-AA5E-4E51-AA0B-07C578157636}" type="pres">
      <dgm:prSet presAssocID="{99E07C8C-2F0A-4648-A57D-CCF997907200}" presName="Name23" presStyleLbl="parChTrans1D4" presStyleIdx="2" presStyleCnt="7"/>
      <dgm:spPr/>
      <dgm:t>
        <a:bodyPr/>
        <a:lstStyle/>
        <a:p>
          <a:endParaRPr lang="en-IN"/>
        </a:p>
      </dgm:t>
    </dgm:pt>
    <dgm:pt modelId="{7FB888C8-2822-425E-A887-FF583DDAAD8A}" type="pres">
      <dgm:prSet presAssocID="{3E4A9B78-32F9-47EF-BB19-4C70A8583F70}" presName="hierRoot4" presStyleCnt="0"/>
      <dgm:spPr/>
    </dgm:pt>
    <dgm:pt modelId="{0B4C2BC9-1191-432A-BDC7-8DEDAF16D31A}" type="pres">
      <dgm:prSet presAssocID="{3E4A9B78-32F9-47EF-BB19-4C70A8583F70}" presName="composite4" presStyleCnt="0"/>
      <dgm:spPr/>
    </dgm:pt>
    <dgm:pt modelId="{CA19B841-3D31-45DF-943D-69DE7946F560}" type="pres">
      <dgm:prSet presAssocID="{3E4A9B78-32F9-47EF-BB19-4C70A8583F70}" presName="background4" presStyleLbl="node4" presStyleIdx="2" presStyleCnt="7"/>
      <dgm:spPr/>
    </dgm:pt>
    <dgm:pt modelId="{CBC43BE7-BB70-4569-9F05-5C0B74A979D7}" type="pres">
      <dgm:prSet presAssocID="{3E4A9B78-32F9-47EF-BB19-4C70A8583F70}" presName="text4" presStyleLbl="fgAcc4" presStyleIdx="2" presStyleCnt="7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6DCE940-B089-4EA0-9849-818B946EE0FD}" type="pres">
      <dgm:prSet presAssocID="{3E4A9B78-32F9-47EF-BB19-4C70A8583F70}" presName="hierChild5" presStyleCnt="0"/>
      <dgm:spPr/>
    </dgm:pt>
    <dgm:pt modelId="{0B98F9AD-5002-4E90-B5C1-F07C0AA2366F}" type="pres">
      <dgm:prSet presAssocID="{D72314C9-8F11-4E45-B357-CFBFF627FA3A}" presName="Name23" presStyleLbl="parChTrans1D4" presStyleIdx="3" presStyleCnt="7"/>
      <dgm:spPr/>
      <dgm:t>
        <a:bodyPr/>
        <a:lstStyle/>
        <a:p>
          <a:endParaRPr lang="en-IN"/>
        </a:p>
      </dgm:t>
    </dgm:pt>
    <dgm:pt modelId="{5E4781C6-B27D-49AB-BCD5-C2DA5AE97987}" type="pres">
      <dgm:prSet presAssocID="{94C049DF-85B0-4398-B10F-232161E6D560}" presName="hierRoot4" presStyleCnt="0"/>
      <dgm:spPr/>
    </dgm:pt>
    <dgm:pt modelId="{88A5AD8B-142D-4480-A86C-13B8E7C85A55}" type="pres">
      <dgm:prSet presAssocID="{94C049DF-85B0-4398-B10F-232161E6D560}" presName="composite4" presStyleCnt="0"/>
      <dgm:spPr/>
    </dgm:pt>
    <dgm:pt modelId="{504092F4-CA61-46E0-B016-C41C34C8AC61}" type="pres">
      <dgm:prSet presAssocID="{94C049DF-85B0-4398-B10F-232161E6D560}" presName="background4" presStyleLbl="node4" presStyleIdx="3" presStyleCnt="7"/>
      <dgm:spPr/>
    </dgm:pt>
    <dgm:pt modelId="{53DD0970-1085-4974-A5AC-21F45DF1F36D}" type="pres">
      <dgm:prSet presAssocID="{94C049DF-85B0-4398-B10F-232161E6D560}" presName="text4" presStyleLbl="fgAcc4" presStyleIdx="3" presStyleCnt="7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8889332-3468-40A3-969E-8804A0BE197E}" type="pres">
      <dgm:prSet presAssocID="{94C049DF-85B0-4398-B10F-232161E6D560}" presName="hierChild5" presStyleCnt="0"/>
      <dgm:spPr/>
    </dgm:pt>
    <dgm:pt modelId="{1B97E719-E745-477E-AB40-D787A197DE6E}" type="pres">
      <dgm:prSet presAssocID="{4F4B1F46-3D35-42B2-8475-E00060C02496}" presName="Name23" presStyleLbl="parChTrans1D4" presStyleIdx="4" presStyleCnt="7"/>
      <dgm:spPr/>
      <dgm:t>
        <a:bodyPr/>
        <a:lstStyle/>
        <a:p>
          <a:endParaRPr lang="en-IN"/>
        </a:p>
      </dgm:t>
    </dgm:pt>
    <dgm:pt modelId="{E1E45F10-0476-415F-BC4B-48D28A124B0B}" type="pres">
      <dgm:prSet presAssocID="{C9ACF57C-836B-4FDE-A530-75FA76C87966}" presName="hierRoot4" presStyleCnt="0"/>
      <dgm:spPr/>
    </dgm:pt>
    <dgm:pt modelId="{814DC9BA-A843-4E8D-828F-50E722292B48}" type="pres">
      <dgm:prSet presAssocID="{C9ACF57C-836B-4FDE-A530-75FA76C87966}" presName="composite4" presStyleCnt="0"/>
      <dgm:spPr/>
    </dgm:pt>
    <dgm:pt modelId="{A1105E4B-8214-42BD-8530-78FDBB9B47AF}" type="pres">
      <dgm:prSet presAssocID="{C9ACF57C-836B-4FDE-A530-75FA76C87966}" presName="background4" presStyleLbl="node4" presStyleIdx="4" presStyleCnt="7"/>
      <dgm:spPr/>
    </dgm:pt>
    <dgm:pt modelId="{C648F98C-8EFB-4429-A70B-C083CDB3D5B6}" type="pres">
      <dgm:prSet presAssocID="{C9ACF57C-836B-4FDE-A530-75FA76C87966}" presName="text4" presStyleLbl="fgAcc4" presStyleIdx="4" presStyleCnt="7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78D3F72-9D00-4FE6-B9C1-DF987135A863}" type="pres">
      <dgm:prSet presAssocID="{C9ACF57C-836B-4FDE-A530-75FA76C87966}" presName="hierChild5" presStyleCnt="0"/>
      <dgm:spPr/>
    </dgm:pt>
    <dgm:pt modelId="{DB7CDC3C-735B-4E0E-8F3B-A227E2848333}" type="pres">
      <dgm:prSet presAssocID="{60B3BDDC-E0E3-4C1E-AECC-FD79E6B73FFB}" presName="Name23" presStyleLbl="parChTrans1D4" presStyleIdx="5" presStyleCnt="7"/>
      <dgm:spPr/>
      <dgm:t>
        <a:bodyPr/>
        <a:lstStyle/>
        <a:p>
          <a:endParaRPr lang="en-IN"/>
        </a:p>
      </dgm:t>
    </dgm:pt>
    <dgm:pt modelId="{BB9EE5BB-6300-46DC-911C-43DE56DF3C5C}" type="pres">
      <dgm:prSet presAssocID="{F3F36615-2CAF-4E6A-A6EB-A6E7BED080D3}" presName="hierRoot4" presStyleCnt="0"/>
      <dgm:spPr/>
    </dgm:pt>
    <dgm:pt modelId="{4101285C-0172-4664-8F89-31F3B7E038C4}" type="pres">
      <dgm:prSet presAssocID="{F3F36615-2CAF-4E6A-A6EB-A6E7BED080D3}" presName="composite4" presStyleCnt="0"/>
      <dgm:spPr/>
    </dgm:pt>
    <dgm:pt modelId="{AC460E2F-F1B1-48EB-8B05-C860FFAAEA60}" type="pres">
      <dgm:prSet presAssocID="{F3F36615-2CAF-4E6A-A6EB-A6E7BED080D3}" presName="background4" presStyleLbl="node4" presStyleIdx="5" presStyleCnt="7"/>
      <dgm:spPr/>
    </dgm:pt>
    <dgm:pt modelId="{165A25AF-1550-4E8E-B5A4-D5106479E75C}" type="pres">
      <dgm:prSet presAssocID="{F3F36615-2CAF-4E6A-A6EB-A6E7BED080D3}" presName="text4" presStyleLbl="fgAcc4" presStyleIdx="5" presStyleCnt="7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BA574BD-9729-458E-9ECF-9046884DEEF0}" type="pres">
      <dgm:prSet presAssocID="{F3F36615-2CAF-4E6A-A6EB-A6E7BED080D3}" presName="hierChild5" presStyleCnt="0"/>
      <dgm:spPr/>
    </dgm:pt>
    <dgm:pt modelId="{16405663-5043-452B-9FFB-CF47561A4952}" type="pres">
      <dgm:prSet presAssocID="{BAAEFEE6-85CF-4B41-AB63-848222B40A98}" presName="Name23" presStyleLbl="parChTrans1D4" presStyleIdx="6" presStyleCnt="7"/>
      <dgm:spPr/>
      <dgm:t>
        <a:bodyPr/>
        <a:lstStyle/>
        <a:p>
          <a:endParaRPr lang="en-IN"/>
        </a:p>
      </dgm:t>
    </dgm:pt>
    <dgm:pt modelId="{31FA55BE-637A-4EA1-9FEC-45C290582486}" type="pres">
      <dgm:prSet presAssocID="{015EB5E8-0653-4A76-9888-2A4FE18EBF7D}" presName="hierRoot4" presStyleCnt="0"/>
      <dgm:spPr/>
    </dgm:pt>
    <dgm:pt modelId="{A831DEE9-9AC1-4FED-9A1E-075A888809D0}" type="pres">
      <dgm:prSet presAssocID="{015EB5E8-0653-4A76-9888-2A4FE18EBF7D}" presName="composite4" presStyleCnt="0"/>
      <dgm:spPr/>
    </dgm:pt>
    <dgm:pt modelId="{70633B51-B37D-4D3F-B612-FE81E8F87946}" type="pres">
      <dgm:prSet presAssocID="{015EB5E8-0653-4A76-9888-2A4FE18EBF7D}" presName="background4" presStyleLbl="node4" presStyleIdx="6" presStyleCnt="7"/>
      <dgm:spPr/>
    </dgm:pt>
    <dgm:pt modelId="{967FA60A-56E8-4E4E-AA07-980F75E99E30}" type="pres">
      <dgm:prSet presAssocID="{015EB5E8-0653-4A76-9888-2A4FE18EBF7D}" presName="text4" presStyleLbl="fgAcc4" presStyleIdx="6" presStyleCnt="7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B3BE8EC-270C-4C3A-AFDC-9BD442B37EE9}" type="pres">
      <dgm:prSet presAssocID="{015EB5E8-0653-4A76-9888-2A4FE18EBF7D}" presName="hierChild5" presStyleCnt="0"/>
      <dgm:spPr/>
    </dgm:pt>
  </dgm:ptLst>
  <dgm:cxnLst>
    <dgm:cxn modelId="{801D1EA7-C08B-44E7-8293-6EF557CB842C}" type="presOf" srcId="{F3F36615-2CAF-4E6A-A6EB-A6E7BED080D3}" destId="{165A25AF-1550-4E8E-B5A4-D5106479E75C}" srcOrd="0" destOrd="0" presId="urn:microsoft.com/office/officeart/2005/8/layout/hierarchy1"/>
    <dgm:cxn modelId="{9CEA4C2F-D3A1-4E44-A924-DE5FF9870641}" srcId="{AA5FC8BE-74FA-4CCC-9949-FC63178B5224}" destId="{D1705AE4-1061-4497-9458-700FF2F99C01}" srcOrd="0" destOrd="0" parTransId="{9DD0ABF8-25E6-4C08-8332-6552C0E2A536}" sibTransId="{C3D77C0D-40C1-4980-8199-07CF983FBC1F}"/>
    <dgm:cxn modelId="{C47785A3-5EC6-4816-9777-093DCE5977A4}" type="presOf" srcId="{60B3BDDC-E0E3-4C1E-AECC-FD79E6B73FFB}" destId="{DB7CDC3C-735B-4E0E-8F3B-A227E2848333}" srcOrd="0" destOrd="0" presId="urn:microsoft.com/office/officeart/2005/8/layout/hierarchy1"/>
    <dgm:cxn modelId="{9260DAD3-3071-447C-99A4-1ED0A77AA6D0}" type="presOf" srcId="{343B393A-D6B8-439A-8305-20F432D5FA3E}" destId="{A62EB303-422A-48A6-97E5-DB40EE2F5F69}" srcOrd="0" destOrd="0" presId="urn:microsoft.com/office/officeart/2005/8/layout/hierarchy1"/>
    <dgm:cxn modelId="{A1A55323-B4CC-4643-9378-4F788DA3AA6A}" type="presOf" srcId="{9DD0ABF8-25E6-4C08-8332-6552C0E2A536}" destId="{8C368309-6476-4CD1-AED3-B581371CC269}" srcOrd="0" destOrd="0" presId="urn:microsoft.com/office/officeart/2005/8/layout/hierarchy1"/>
    <dgm:cxn modelId="{6E82048E-AFFC-4F0F-A67A-3E28832AE8ED}" type="presOf" srcId="{C40D97A7-2C26-4DDE-AD56-8D7628A9EF43}" destId="{E7CA4616-05DF-40A2-85C4-6638FE67B80C}" srcOrd="0" destOrd="0" presId="urn:microsoft.com/office/officeart/2005/8/layout/hierarchy1"/>
    <dgm:cxn modelId="{99575AC4-7543-4142-B2F3-E57682D57D22}" srcId="{343B393A-D6B8-439A-8305-20F432D5FA3E}" destId="{C9ACF57C-836B-4FDE-A530-75FA76C87966}" srcOrd="2" destOrd="0" parTransId="{4F4B1F46-3D35-42B2-8475-E00060C02496}" sibTransId="{4335448A-BB9B-47EC-A9AA-C4327CECA91B}"/>
    <dgm:cxn modelId="{5659574B-FCAB-46C3-8CA2-44B2358ED252}" type="presOf" srcId="{AA5FC8BE-74FA-4CCC-9949-FC63178B5224}" destId="{CEF1BC16-8F24-4AB3-85FB-61CB6D0FCF5F}" srcOrd="0" destOrd="0" presId="urn:microsoft.com/office/officeart/2005/8/layout/hierarchy1"/>
    <dgm:cxn modelId="{24E5A180-6BCE-4D63-AD42-5420B85677CC}" srcId="{2227B748-B8B6-45CB-A0F4-3C2B48691FD1}" destId="{3E4A9B78-32F9-47EF-BB19-4C70A8583F70}" srcOrd="0" destOrd="0" parTransId="{99E07C8C-2F0A-4648-A57D-CCF997907200}" sibTransId="{25DF5E7E-C01B-4174-A857-9EAA4BB77D3D}"/>
    <dgm:cxn modelId="{30633C0D-FD01-4B8E-AABE-B28FD822C54D}" srcId="{F14ECF33-C8A9-4977-AAFD-421A4114A683}" destId="{AA5FC8BE-74FA-4CCC-9949-FC63178B5224}" srcOrd="0" destOrd="0" parTransId="{9BB0F590-0819-485D-A4A8-FE306A7D3A97}" sibTransId="{ECE5221B-6BE6-425C-A421-23ED0E1942B8}"/>
    <dgm:cxn modelId="{9A9C3A45-7ED4-4315-A5AC-B1A262FF6BF2}" srcId="{C9ACF57C-836B-4FDE-A530-75FA76C87966}" destId="{F3F36615-2CAF-4E6A-A6EB-A6E7BED080D3}" srcOrd="0" destOrd="0" parTransId="{60B3BDDC-E0E3-4C1E-AECC-FD79E6B73FFB}" sibTransId="{971809D5-9857-476B-8EB8-01BB8FE77738}"/>
    <dgm:cxn modelId="{063C1762-36F5-4D25-8EA2-E63AC85A1D08}" srcId="{343B393A-D6B8-439A-8305-20F432D5FA3E}" destId="{015EB5E8-0653-4A76-9888-2A4FE18EBF7D}" srcOrd="3" destOrd="0" parTransId="{BAAEFEE6-85CF-4B41-AB63-848222B40A98}" sibTransId="{4450FDD2-43B4-45BD-8666-49603CC87711}"/>
    <dgm:cxn modelId="{1CB489C3-4C89-4987-A032-B13A45E22B5C}" srcId="{D1705AE4-1061-4497-9458-700FF2F99C01}" destId="{343B393A-D6B8-439A-8305-20F432D5FA3E}" srcOrd="0" destOrd="0" parTransId="{C193C692-5D32-4D47-81BC-045E11EB65BA}" sibTransId="{08D9C8CA-243B-4CFC-9F38-7A110F31AC5C}"/>
    <dgm:cxn modelId="{09369652-4FD3-4C11-9002-77D5083B5B5C}" type="presOf" srcId="{4F4B1F46-3D35-42B2-8475-E00060C02496}" destId="{1B97E719-E745-477E-AB40-D787A197DE6E}" srcOrd="0" destOrd="0" presId="urn:microsoft.com/office/officeart/2005/8/layout/hierarchy1"/>
    <dgm:cxn modelId="{8E9BF121-9A55-428D-8EB2-7360C8CB7E30}" srcId="{343B393A-D6B8-439A-8305-20F432D5FA3E}" destId="{B677FBB8-B088-4626-B50B-1516A7B23E1A}" srcOrd="0" destOrd="0" parTransId="{37523411-EB5E-4E7E-9FD5-94BB53B2B9EB}" sibTransId="{AB377635-F902-4926-852B-55FDD442B78A}"/>
    <dgm:cxn modelId="{08662E4D-1E0F-4FB8-A03D-85BD07FDC793}" type="presOf" srcId="{D1705AE4-1061-4497-9458-700FF2F99C01}" destId="{C32104F3-12DA-4891-A7BE-FD2D671A29A8}" srcOrd="0" destOrd="0" presId="urn:microsoft.com/office/officeart/2005/8/layout/hierarchy1"/>
    <dgm:cxn modelId="{5CC48D83-BD4F-45C2-BC16-70C1897B2C44}" type="presOf" srcId="{94C049DF-85B0-4398-B10F-232161E6D560}" destId="{53DD0970-1085-4974-A5AC-21F45DF1F36D}" srcOrd="0" destOrd="0" presId="urn:microsoft.com/office/officeart/2005/8/layout/hierarchy1"/>
    <dgm:cxn modelId="{2CCAFD75-4C49-4F24-AD83-CEC9501A9900}" type="presOf" srcId="{37523411-EB5E-4E7E-9FD5-94BB53B2B9EB}" destId="{B575CDE6-7F65-4CB0-A7D1-8978B4381A73}" srcOrd="0" destOrd="0" presId="urn:microsoft.com/office/officeart/2005/8/layout/hierarchy1"/>
    <dgm:cxn modelId="{45129F7B-2C19-4168-B485-4D9C8E763D3D}" type="presOf" srcId="{F14ECF33-C8A9-4977-AAFD-421A4114A683}" destId="{A022F27D-7A79-42B9-AF46-2183D3DA5018}" srcOrd="0" destOrd="0" presId="urn:microsoft.com/office/officeart/2005/8/layout/hierarchy1"/>
    <dgm:cxn modelId="{2E2C367F-B91B-4C79-BEB8-A52BE1877E03}" type="presOf" srcId="{99E07C8C-2F0A-4648-A57D-CCF997907200}" destId="{8C05D834-AA5E-4E51-AA0B-07C578157636}" srcOrd="0" destOrd="0" presId="urn:microsoft.com/office/officeart/2005/8/layout/hierarchy1"/>
    <dgm:cxn modelId="{14DE43F6-653E-49A6-909D-9C1D6B0AD9B5}" type="presOf" srcId="{B677FBB8-B088-4626-B50B-1516A7B23E1A}" destId="{1A6B2595-EA62-4581-A050-4D9D99437826}" srcOrd="0" destOrd="0" presId="urn:microsoft.com/office/officeart/2005/8/layout/hierarchy1"/>
    <dgm:cxn modelId="{401B6333-C7F9-4A98-9CE6-5BF801F44AF6}" srcId="{343B393A-D6B8-439A-8305-20F432D5FA3E}" destId="{2227B748-B8B6-45CB-A0F4-3C2B48691FD1}" srcOrd="1" destOrd="0" parTransId="{C40D97A7-2C26-4DDE-AD56-8D7628A9EF43}" sibTransId="{DA6B6EDE-CB9B-49C3-959B-ADC78DB06DD9}"/>
    <dgm:cxn modelId="{60419081-9F16-4546-A3C7-AB020EE0905B}" type="presOf" srcId="{BAAEFEE6-85CF-4B41-AB63-848222B40A98}" destId="{16405663-5043-452B-9FFB-CF47561A4952}" srcOrd="0" destOrd="0" presId="urn:microsoft.com/office/officeart/2005/8/layout/hierarchy1"/>
    <dgm:cxn modelId="{1653D7D8-B8E1-4FD4-AB45-6710040EBA1A}" type="presOf" srcId="{C9ACF57C-836B-4FDE-A530-75FA76C87966}" destId="{C648F98C-8EFB-4429-A70B-C083CDB3D5B6}" srcOrd="0" destOrd="0" presId="urn:microsoft.com/office/officeart/2005/8/layout/hierarchy1"/>
    <dgm:cxn modelId="{554E30E1-84B6-4B83-964E-635F1028916F}" type="presOf" srcId="{3E4A9B78-32F9-47EF-BB19-4C70A8583F70}" destId="{CBC43BE7-BB70-4569-9F05-5C0B74A979D7}" srcOrd="0" destOrd="0" presId="urn:microsoft.com/office/officeart/2005/8/layout/hierarchy1"/>
    <dgm:cxn modelId="{C4418382-56F7-4E60-A050-A0F796104860}" type="presOf" srcId="{015EB5E8-0653-4A76-9888-2A4FE18EBF7D}" destId="{967FA60A-56E8-4E4E-AA07-980F75E99E30}" srcOrd="0" destOrd="0" presId="urn:microsoft.com/office/officeart/2005/8/layout/hierarchy1"/>
    <dgm:cxn modelId="{44D9BB6B-5418-4E28-831E-7EB737BDA2B0}" type="presOf" srcId="{C193C692-5D32-4D47-81BC-045E11EB65BA}" destId="{EEEF741C-BA3B-4BB8-AFC7-CAA0EA3906B6}" srcOrd="0" destOrd="0" presId="urn:microsoft.com/office/officeart/2005/8/layout/hierarchy1"/>
    <dgm:cxn modelId="{643B4FD8-BA33-44C2-99BE-532D19A05A6F}" type="presOf" srcId="{2227B748-B8B6-45CB-A0F4-3C2B48691FD1}" destId="{F215A956-F558-4C93-A2D1-FD1EB2F079F0}" srcOrd="0" destOrd="0" presId="urn:microsoft.com/office/officeart/2005/8/layout/hierarchy1"/>
    <dgm:cxn modelId="{415CD76C-95C5-4330-BA20-2DA8C002AAF2}" srcId="{2227B748-B8B6-45CB-A0F4-3C2B48691FD1}" destId="{94C049DF-85B0-4398-B10F-232161E6D560}" srcOrd="1" destOrd="0" parTransId="{D72314C9-8F11-4E45-B357-CFBFF627FA3A}" sibTransId="{96D33523-141F-4DD2-A35A-3DF37E8ABA21}"/>
    <dgm:cxn modelId="{99A7F0B6-CDCF-48C6-884E-D8D99A59CFBD}" type="presOf" srcId="{D72314C9-8F11-4E45-B357-CFBFF627FA3A}" destId="{0B98F9AD-5002-4E90-B5C1-F07C0AA2366F}" srcOrd="0" destOrd="0" presId="urn:microsoft.com/office/officeart/2005/8/layout/hierarchy1"/>
    <dgm:cxn modelId="{05E52065-CD3D-4812-B1D6-833FE75359D3}" type="presParOf" srcId="{A022F27D-7A79-42B9-AF46-2183D3DA5018}" destId="{F2773870-1E79-4006-89E3-DB10596EDA60}" srcOrd="0" destOrd="0" presId="urn:microsoft.com/office/officeart/2005/8/layout/hierarchy1"/>
    <dgm:cxn modelId="{14256A57-CD8C-4AC6-8E2A-BECDCECDAAAB}" type="presParOf" srcId="{F2773870-1E79-4006-89E3-DB10596EDA60}" destId="{E553449C-94A3-4010-A895-A5AF8D976586}" srcOrd="0" destOrd="0" presId="urn:microsoft.com/office/officeart/2005/8/layout/hierarchy1"/>
    <dgm:cxn modelId="{BEE7A053-5E44-4080-B8B5-3F163AADF87C}" type="presParOf" srcId="{E553449C-94A3-4010-A895-A5AF8D976586}" destId="{2C262DFC-8D8D-4BC5-B7B9-0AE01E3E000A}" srcOrd="0" destOrd="0" presId="urn:microsoft.com/office/officeart/2005/8/layout/hierarchy1"/>
    <dgm:cxn modelId="{B6FECE6B-C8B4-456B-92DD-67A47EE832E4}" type="presParOf" srcId="{E553449C-94A3-4010-A895-A5AF8D976586}" destId="{CEF1BC16-8F24-4AB3-85FB-61CB6D0FCF5F}" srcOrd="1" destOrd="0" presId="urn:microsoft.com/office/officeart/2005/8/layout/hierarchy1"/>
    <dgm:cxn modelId="{79B09455-12CA-4F4A-BB4F-ED0D8B5AC312}" type="presParOf" srcId="{F2773870-1E79-4006-89E3-DB10596EDA60}" destId="{051C2C0C-2094-49FE-B76A-281903E95641}" srcOrd="1" destOrd="0" presId="urn:microsoft.com/office/officeart/2005/8/layout/hierarchy1"/>
    <dgm:cxn modelId="{81D2CCCC-1E5C-48D2-830F-DFD0C83F48DA}" type="presParOf" srcId="{051C2C0C-2094-49FE-B76A-281903E95641}" destId="{8C368309-6476-4CD1-AED3-B581371CC269}" srcOrd="0" destOrd="0" presId="urn:microsoft.com/office/officeart/2005/8/layout/hierarchy1"/>
    <dgm:cxn modelId="{E1957977-3722-4691-A5AF-9FC84D70D60B}" type="presParOf" srcId="{051C2C0C-2094-49FE-B76A-281903E95641}" destId="{EBEAC2BD-D9F5-4E4F-ADCC-583DA1B61372}" srcOrd="1" destOrd="0" presId="urn:microsoft.com/office/officeart/2005/8/layout/hierarchy1"/>
    <dgm:cxn modelId="{1081EDCA-B15D-45C2-90FD-F309BA1C463A}" type="presParOf" srcId="{EBEAC2BD-D9F5-4E4F-ADCC-583DA1B61372}" destId="{CDFBB081-4FE7-4879-A048-AFD79B7C6B43}" srcOrd="0" destOrd="0" presId="urn:microsoft.com/office/officeart/2005/8/layout/hierarchy1"/>
    <dgm:cxn modelId="{DCC1F700-34A7-413E-8C79-53EC62AF516D}" type="presParOf" srcId="{CDFBB081-4FE7-4879-A048-AFD79B7C6B43}" destId="{7A2850EE-546B-4FC5-9A03-1EF6924C9005}" srcOrd="0" destOrd="0" presId="urn:microsoft.com/office/officeart/2005/8/layout/hierarchy1"/>
    <dgm:cxn modelId="{18B91A1E-5A40-456A-9DB2-3AE3A66D8C73}" type="presParOf" srcId="{CDFBB081-4FE7-4879-A048-AFD79B7C6B43}" destId="{C32104F3-12DA-4891-A7BE-FD2D671A29A8}" srcOrd="1" destOrd="0" presId="urn:microsoft.com/office/officeart/2005/8/layout/hierarchy1"/>
    <dgm:cxn modelId="{7AEC264E-E0E2-4084-8506-C08C4DA12012}" type="presParOf" srcId="{EBEAC2BD-D9F5-4E4F-ADCC-583DA1B61372}" destId="{B4F7925B-16DF-4507-898E-D6127D3341F6}" srcOrd="1" destOrd="0" presId="urn:microsoft.com/office/officeart/2005/8/layout/hierarchy1"/>
    <dgm:cxn modelId="{3A7E4993-AFA2-48A8-9E36-34C5B5378C4C}" type="presParOf" srcId="{B4F7925B-16DF-4507-898E-D6127D3341F6}" destId="{EEEF741C-BA3B-4BB8-AFC7-CAA0EA3906B6}" srcOrd="0" destOrd="0" presId="urn:microsoft.com/office/officeart/2005/8/layout/hierarchy1"/>
    <dgm:cxn modelId="{15380A51-CA98-49DD-BF73-6C4CD51AAFBA}" type="presParOf" srcId="{B4F7925B-16DF-4507-898E-D6127D3341F6}" destId="{F273BFA7-FB92-4953-8E0D-485C4459AB58}" srcOrd="1" destOrd="0" presId="urn:microsoft.com/office/officeart/2005/8/layout/hierarchy1"/>
    <dgm:cxn modelId="{BCDD274B-B8F1-4DB4-B602-59670158D965}" type="presParOf" srcId="{F273BFA7-FB92-4953-8E0D-485C4459AB58}" destId="{611F3787-614B-49ED-9863-3FC06768BCA8}" srcOrd="0" destOrd="0" presId="urn:microsoft.com/office/officeart/2005/8/layout/hierarchy1"/>
    <dgm:cxn modelId="{D9154EF0-556C-4E0E-A732-3473ADEBDC6B}" type="presParOf" srcId="{611F3787-614B-49ED-9863-3FC06768BCA8}" destId="{413C4087-E7FC-45B0-807C-A28509B3A675}" srcOrd="0" destOrd="0" presId="urn:microsoft.com/office/officeart/2005/8/layout/hierarchy1"/>
    <dgm:cxn modelId="{01E440FB-BDCE-4C09-897A-0B500DF45827}" type="presParOf" srcId="{611F3787-614B-49ED-9863-3FC06768BCA8}" destId="{A62EB303-422A-48A6-97E5-DB40EE2F5F69}" srcOrd="1" destOrd="0" presId="urn:microsoft.com/office/officeart/2005/8/layout/hierarchy1"/>
    <dgm:cxn modelId="{C75553BE-677D-47DD-B801-0B2A41772B7D}" type="presParOf" srcId="{F273BFA7-FB92-4953-8E0D-485C4459AB58}" destId="{68B91717-35C5-4DB4-9908-A2C0BFB744C9}" srcOrd="1" destOrd="0" presId="urn:microsoft.com/office/officeart/2005/8/layout/hierarchy1"/>
    <dgm:cxn modelId="{D64F03FC-EAFD-4558-8948-1750079716DC}" type="presParOf" srcId="{68B91717-35C5-4DB4-9908-A2C0BFB744C9}" destId="{B575CDE6-7F65-4CB0-A7D1-8978B4381A73}" srcOrd="0" destOrd="0" presId="urn:microsoft.com/office/officeart/2005/8/layout/hierarchy1"/>
    <dgm:cxn modelId="{94525424-7BF4-4B0A-AAD8-B8D858987BAA}" type="presParOf" srcId="{68B91717-35C5-4DB4-9908-A2C0BFB744C9}" destId="{F12EFC0F-D2A4-4E43-A329-DE794B44B291}" srcOrd="1" destOrd="0" presId="urn:microsoft.com/office/officeart/2005/8/layout/hierarchy1"/>
    <dgm:cxn modelId="{4AFB75E2-C79A-4A72-81DB-57E3EA4E2AF9}" type="presParOf" srcId="{F12EFC0F-D2A4-4E43-A329-DE794B44B291}" destId="{5DB91079-8FF8-4C54-9625-C733CBADFD99}" srcOrd="0" destOrd="0" presId="urn:microsoft.com/office/officeart/2005/8/layout/hierarchy1"/>
    <dgm:cxn modelId="{4CFAFFC3-9381-4481-BF89-E0B72E4584DD}" type="presParOf" srcId="{5DB91079-8FF8-4C54-9625-C733CBADFD99}" destId="{23E3DAC5-3CD4-44D5-A7A9-50D225A55D16}" srcOrd="0" destOrd="0" presId="urn:microsoft.com/office/officeart/2005/8/layout/hierarchy1"/>
    <dgm:cxn modelId="{E08F1EB9-87B1-4F48-84BF-AF0FF9873F7D}" type="presParOf" srcId="{5DB91079-8FF8-4C54-9625-C733CBADFD99}" destId="{1A6B2595-EA62-4581-A050-4D9D99437826}" srcOrd="1" destOrd="0" presId="urn:microsoft.com/office/officeart/2005/8/layout/hierarchy1"/>
    <dgm:cxn modelId="{B615BF8E-8B59-44E2-B816-02FB01B21773}" type="presParOf" srcId="{F12EFC0F-D2A4-4E43-A329-DE794B44B291}" destId="{58A62A45-DC38-403E-B1C7-08B50C028FB9}" srcOrd="1" destOrd="0" presId="urn:microsoft.com/office/officeart/2005/8/layout/hierarchy1"/>
    <dgm:cxn modelId="{47729790-C6C2-436D-9794-391FB1EEDA84}" type="presParOf" srcId="{68B91717-35C5-4DB4-9908-A2C0BFB744C9}" destId="{E7CA4616-05DF-40A2-85C4-6638FE67B80C}" srcOrd="2" destOrd="0" presId="urn:microsoft.com/office/officeart/2005/8/layout/hierarchy1"/>
    <dgm:cxn modelId="{32E892C2-5170-4047-BD80-4E471F606F2F}" type="presParOf" srcId="{68B91717-35C5-4DB4-9908-A2C0BFB744C9}" destId="{78093D43-6757-40BA-8460-526CF3B3F24B}" srcOrd="3" destOrd="0" presId="urn:microsoft.com/office/officeart/2005/8/layout/hierarchy1"/>
    <dgm:cxn modelId="{AC41033E-8C13-4B4D-9730-B2F8D28D7054}" type="presParOf" srcId="{78093D43-6757-40BA-8460-526CF3B3F24B}" destId="{EABD8360-96FB-4C18-9B1A-5F0250EBF755}" srcOrd="0" destOrd="0" presId="urn:microsoft.com/office/officeart/2005/8/layout/hierarchy1"/>
    <dgm:cxn modelId="{64D370C3-F63A-49B4-9A49-9C3D692F911F}" type="presParOf" srcId="{EABD8360-96FB-4C18-9B1A-5F0250EBF755}" destId="{547E3212-3429-4422-B978-998DEB2BDE50}" srcOrd="0" destOrd="0" presId="urn:microsoft.com/office/officeart/2005/8/layout/hierarchy1"/>
    <dgm:cxn modelId="{68C0BF5C-E6C7-4DBE-A59C-757907475CE8}" type="presParOf" srcId="{EABD8360-96FB-4C18-9B1A-5F0250EBF755}" destId="{F215A956-F558-4C93-A2D1-FD1EB2F079F0}" srcOrd="1" destOrd="0" presId="urn:microsoft.com/office/officeart/2005/8/layout/hierarchy1"/>
    <dgm:cxn modelId="{3BD75BB5-919E-43F8-BE38-D8E6FC99DBF5}" type="presParOf" srcId="{78093D43-6757-40BA-8460-526CF3B3F24B}" destId="{11CA8B46-E57D-40E0-B4B2-880CCBFFC6EA}" srcOrd="1" destOrd="0" presId="urn:microsoft.com/office/officeart/2005/8/layout/hierarchy1"/>
    <dgm:cxn modelId="{61EDF598-E9D2-44AA-BBDA-B89D14FB4467}" type="presParOf" srcId="{11CA8B46-E57D-40E0-B4B2-880CCBFFC6EA}" destId="{8C05D834-AA5E-4E51-AA0B-07C578157636}" srcOrd="0" destOrd="0" presId="urn:microsoft.com/office/officeart/2005/8/layout/hierarchy1"/>
    <dgm:cxn modelId="{4C819142-FFA6-4799-AB1A-71BF263EF3E3}" type="presParOf" srcId="{11CA8B46-E57D-40E0-B4B2-880CCBFFC6EA}" destId="{7FB888C8-2822-425E-A887-FF583DDAAD8A}" srcOrd="1" destOrd="0" presId="urn:microsoft.com/office/officeart/2005/8/layout/hierarchy1"/>
    <dgm:cxn modelId="{177B22A3-EE2A-4078-AC33-A728FA27844E}" type="presParOf" srcId="{7FB888C8-2822-425E-A887-FF583DDAAD8A}" destId="{0B4C2BC9-1191-432A-BDC7-8DEDAF16D31A}" srcOrd="0" destOrd="0" presId="urn:microsoft.com/office/officeart/2005/8/layout/hierarchy1"/>
    <dgm:cxn modelId="{81436930-2254-45FF-B9D9-EC2DB4975FC0}" type="presParOf" srcId="{0B4C2BC9-1191-432A-BDC7-8DEDAF16D31A}" destId="{CA19B841-3D31-45DF-943D-69DE7946F560}" srcOrd="0" destOrd="0" presId="urn:microsoft.com/office/officeart/2005/8/layout/hierarchy1"/>
    <dgm:cxn modelId="{A4F34CAD-D142-41AB-9187-5C833BF623EC}" type="presParOf" srcId="{0B4C2BC9-1191-432A-BDC7-8DEDAF16D31A}" destId="{CBC43BE7-BB70-4569-9F05-5C0B74A979D7}" srcOrd="1" destOrd="0" presId="urn:microsoft.com/office/officeart/2005/8/layout/hierarchy1"/>
    <dgm:cxn modelId="{8AC3341A-F5D3-4BC0-9B33-1BCCE7937C9C}" type="presParOf" srcId="{7FB888C8-2822-425E-A887-FF583DDAAD8A}" destId="{E6DCE940-B089-4EA0-9849-818B946EE0FD}" srcOrd="1" destOrd="0" presId="urn:microsoft.com/office/officeart/2005/8/layout/hierarchy1"/>
    <dgm:cxn modelId="{8AC8527A-3818-463C-916C-2DCDA62B00C5}" type="presParOf" srcId="{11CA8B46-E57D-40E0-B4B2-880CCBFFC6EA}" destId="{0B98F9AD-5002-4E90-B5C1-F07C0AA2366F}" srcOrd="2" destOrd="0" presId="urn:microsoft.com/office/officeart/2005/8/layout/hierarchy1"/>
    <dgm:cxn modelId="{92EFB179-16F4-4996-B068-88008A5F9B9D}" type="presParOf" srcId="{11CA8B46-E57D-40E0-B4B2-880CCBFFC6EA}" destId="{5E4781C6-B27D-49AB-BCD5-C2DA5AE97987}" srcOrd="3" destOrd="0" presId="urn:microsoft.com/office/officeart/2005/8/layout/hierarchy1"/>
    <dgm:cxn modelId="{6EA0F7FD-DAC8-45F6-A612-35127FD93F1F}" type="presParOf" srcId="{5E4781C6-B27D-49AB-BCD5-C2DA5AE97987}" destId="{88A5AD8B-142D-4480-A86C-13B8E7C85A55}" srcOrd="0" destOrd="0" presId="urn:microsoft.com/office/officeart/2005/8/layout/hierarchy1"/>
    <dgm:cxn modelId="{57F7B5B6-A2F9-4172-8D4D-44E67FE73256}" type="presParOf" srcId="{88A5AD8B-142D-4480-A86C-13B8E7C85A55}" destId="{504092F4-CA61-46E0-B016-C41C34C8AC61}" srcOrd="0" destOrd="0" presId="urn:microsoft.com/office/officeart/2005/8/layout/hierarchy1"/>
    <dgm:cxn modelId="{F5922336-FECD-42B7-8E00-C2D0DBECD29A}" type="presParOf" srcId="{88A5AD8B-142D-4480-A86C-13B8E7C85A55}" destId="{53DD0970-1085-4974-A5AC-21F45DF1F36D}" srcOrd="1" destOrd="0" presId="urn:microsoft.com/office/officeart/2005/8/layout/hierarchy1"/>
    <dgm:cxn modelId="{902234B1-AD82-49EF-BAAB-C6EE5CDB438A}" type="presParOf" srcId="{5E4781C6-B27D-49AB-BCD5-C2DA5AE97987}" destId="{38889332-3468-40A3-969E-8804A0BE197E}" srcOrd="1" destOrd="0" presId="urn:microsoft.com/office/officeart/2005/8/layout/hierarchy1"/>
    <dgm:cxn modelId="{A4C1B71E-9227-4119-9CD9-C921765DA62C}" type="presParOf" srcId="{68B91717-35C5-4DB4-9908-A2C0BFB744C9}" destId="{1B97E719-E745-477E-AB40-D787A197DE6E}" srcOrd="4" destOrd="0" presId="urn:microsoft.com/office/officeart/2005/8/layout/hierarchy1"/>
    <dgm:cxn modelId="{79F7008A-F81B-4864-9590-7747E493D1D3}" type="presParOf" srcId="{68B91717-35C5-4DB4-9908-A2C0BFB744C9}" destId="{E1E45F10-0476-415F-BC4B-48D28A124B0B}" srcOrd="5" destOrd="0" presId="urn:microsoft.com/office/officeart/2005/8/layout/hierarchy1"/>
    <dgm:cxn modelId="{D85388D9-43AD-4A9A-BEE3-4FD5CA704163}" type="presParOf" srcId="{E1E45F10-0476-415F-BC4B-48D28A124B0B}" destId="{814DC9BA-A843-4E8D-828F-50E722292B48}" srcOrd="0" destOrd="0" presId="urn:microsoft.com/office/officeart/2005/8/layout/hierarchy1"/>
    <dgm:cxn modelId="{28FFE93C-BF94-4021-98CE-B5C06B3B0B05}" type="presParOf" srcId="{814DC9BA-A843-4E8D-828F-50E722292B48}" destId="{A1105E4B-8214-42BD-8530-78FDBB9B47AF}" srcOrd="0" destOrd="0" presId="urn:microsoft.com/office/officeart/2005/8/layout/hierarchy1"/>
    <dgm:cxn modelId="{662EA3A3-B630-4DCD-9124-19E5D5E1B65E}" type="presParOf" srcId="{814DC9BA-A843-4E8D-828F-50E722292B48}" destId="{C648F98C-8EFB-4429-A70B-C083CDB3D5B6}" srcOrd="1" destOrd="0" presId="urn:microsoft.com/office/officeart/2005/8/layout/hierarchy1"/>
    <dgm:cxn modelId="{416D8D2C-E285-4940-A228-3FCBDDD19B1D}" type="presParOf" srcId="{E1E45F10-0476-415F-BC4B-48D28A124B0B}" destId="{178D3F72-9D00-4FE6-B9C1-DF987135A863}" srcOrd="1" destOrd="0" presId="urn:microsoft.com/office/officeart/2005/8/layout/hierarchy1"/>
    <dgm:cxn modelId="{737D140C-9A8F-45EC-9FBB-3FD06C96F3BF}" type="presParOf" srcId="{178D3F72-9D00-4FE6-B9C1-DF987135A863}" destId="{DB7CDC3C-735B-4E0E-8F3B-A227E2848333}" srcOrd="0" destOrd="0" presId="urn:microsoft.com/office/officeart/2005/8/layout/hierarchy1"/>
    <dgm:cxn modelId="{9C2E250E-0346-4E3D-AA31-163BCD3ABE00}" type="presParOf" srcId="{178D3F72-9D00-4FE6-B9C1-DF987135A863}" destId="{BB9EE5BB-6300-46DC-911C-43DE56DF3C5C}" srcOrd="1" destOrd="0" presId="urn:microsoft.com/office/officeart/2005/8/layout/hierarchy1"/>
    <dgm:cxn modelId="{7B905459-1061-4E90-9D75-B297DA22F98E}" type="presParOf" srcId="{BB9EE5BB-6300-46DC-911C-43DE56DF3C5C}" destId="{4101285C-0172-4664-8F89-31F3B7E038C4}" srcOrd="0" destOrd="0" presId="urn:microsoft.com/office/officeart/2005/8/layout/hierarchy1"/>
    <dgm:cxn modelId="{4AF6A41A-C7C3-478C-B6B2-F0B1F16239C5}" type="presParOf" srcId="{4101285C-0172-4664-8F89-31F3B7E038C4}" destId="{AC460E2F-F1B1-48EB-8B05-C860FFAAEA60}" srcOrd="0" destOrd="0" presId="urn:microsoft.com/office/officeart/2005/8/layout/hierarchy1"/>
    <dgm:cxn modelId="{2AC55219-66DB-4751-8AAC-EBA613720514}" type="presParOf" srcId="{4101285C-0172-4664-8F89-31F3B7E038C4}" destId="{165A25AF-1550-4E8E-B5A4-D5106479E75C}" srcOrd="1" destOrd="0" presId="urn:microsoft.com/office/officeart/2005/8/layout/hierarchy1"/>
    <dgm:cxn modelId="{18B40FDA-B01F-4D57-B525-0FAD463615D1}" type="presParOf" srcId="{BB9EE5BB-6300-46DC-911C-43DE56DF3C5C}" destId="{ABA574BD-9729-458E-9ECF-9046884DEEF0}" srcOrd="1" destOrd="0" presId="urn:microsoft.com/office/officeart/2005/8/layout/hierarchy1"/>
    <dgm:cxn modelId="{C110E86C-3694-4C8F-8BDB-19F367B175D4}" type="presParOf" srcId="{68B91717-35C5-4DB4-9908-A2C0BFB744C9}" destId="{16405663-5043-452B-9FFB-CF47561A4952}" srcOrd="6" destOrd="0" presId="urn:microsoft.com/office/officeart/2005/8/layout/hierarchy1"/>
    <dgm:cxn modelId="{11E0E949-3EF9-4607-9FC6-77D281505740}" type="presParOf" srcId="{68B91717-35C5-4DB4-9908-A2C0BFB744C9}" destId="{31FA55BE-637A-4EA1-9FEC-45C290582486}" srcOrd="7" destOrd="0" presId="urn:microsoft.com/office/officeart/2005/8/layout/hierarchy1"/>
    <dgm:cxn modelId="{4EF488CA-36FC-457F-B43D-AE86D1F97EEA}" type="presParOf" srcId="{31FA55BE-637A-4EA1-9FEC-45C290582486}" destId="{A831DEE9-9AC1-4FED-9A1E-075A888809D0}" srcOrd="0" destOrd="0" presId="urn:microsoft.com/office/officeart/2005/8/layout/hierarchy1"/>
    <dgm:cxn modelId="{2C0A0B07-A391-4D34-86B9-6F4652517594}" type="presParOf" srcId="{A831DEE9-9AC1-4FED-9A1E-075A888809D0}" destId="{70633B51-B37D-4D3F-B612-FE81E8F87946}" srcOrd="0" destOrd="0" presId="urn:microsoft.com/office/officeart/2005/8/layout/hierarchy1"/>
    <dgm:cxn modelId="{561DBDB2-C862-479B-B07E-0A54A393921A}" type="presParOf" srcId="{A831DEE9-9AC1-4FED-9A1E-075A888809D0}" destId="{967FA60A-56E8-4E4E-AA07-980F75E99E30}" srcOrd="1" destOrd="0" presId="urn:microsoft.com/office/officeart/2005/8/layout/hierarchy1"/>
    <dgm:cxn modelId="{995A2EDA-A608-4ECB-A901-8E128EAA0907}" type="presParOf" srcId="{31FA55BE-637A-4EA1-9FEC-45C290582486}" destId="{3B3BE8EC-270C-4C3A-AFDC-9BD442B37EE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05663-5043-452B-9FFB-CF47561A4952}">
      <dsp:nvSpPr>
        <dsp:cNvPr id="0" name=""/>
        <dsp:cNvSpPr/>
      </dsp:nvSpPr>
      <dsp:spPr>
        <a:xfrm>
          <a:off x="4699404" y="2970444"/>
          <a:ext cx="2553315" cy="3471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596"/>
              </a:lnTo>
              <a:lnTo>
                <a:pt x="2553315" y="236596"/>
              </a:lnTo>
              <a:lnTo>
                <a:pt x="2553315" y="34718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CDC3C-735B-4E0E-8F3B-A227E2848333}">
      <dsp:nvSpPr>
        <dsp:cNvPr id="0" name=""/>
        <dsp:cNvSpPr/>
      </dsp:nvSpPr>
      <dsp:spPr>
        <a:xfrm>
          <a:off x="5747962" y="4075665"/>
          <a:ext cx="91440" cy="3471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7184"/>
              </a:lnTo>
            </a:path>
          </a:pathLst>
        </a:custGeom>
        <a:noFill/>
        <a:ln w="19050" cap="rnd" cmpd="sng" algn="ctr">
          <a:solidFill>
            <a:scrgbClr r="0" g="0" b="0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97E719-E745-477E-AB40-D787A197DE6E}">
      <dsp:nvSpPr>
        <dsp:cNvPr id="0" name=""/>
        <dsp:cNvSpPr/>
      </dsp:nvSpPr>
      <dsp:spPr>
        <a:xfrm>
          <a:off x="4699404" y="2970444"/>
          <a:ext cx="1094278" cy="3471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596"/>
              </a:lnTo>
              <a:lnTo>
                <a:pt x="1094278" y="236596"/>
              </a:lnTo>
              <a:lnTo>
                <a:pt x="1094278" y="34718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98F9AD-5002-4E90-B5C1-F07C0AA2366F}">
      <dsp:nvSpPr>
        <dsp:cNvPr id="0" name=""/>
        <dsp:cNvSpPr/>
      </dsp:nvSpPr>
      <dsp:spPr>
        <a:xfrm>
          <a:off x="3605125" y="4075665"/>
          <a:ext cx="729518" cy="3471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596"/>
              </a:lnTo>
              <a:lnTo>
                <a:pt x="729518" y="236596"/>
              </a:lnTo>
              <a:lnTo>
                <a:pt x="729518" y="347184"/>
              </a:lnTo>
            </a:path>
          </a:pathLst>
        </a:custGeom>
        <a:noFill/>
        <a:ln w="19050" cap="rnd" cmpd="sng" algn="ctr">
          <a:solidFill>
            <a:scrgbClr r="0" g="0" b="0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05D834-AA5E-4E51-AA0B-07C578157636}">
      <dsp:nvSpPr>
        <dsp:cNvPr id="0" name=""/>
        <dsp:cNvSpPr/>
      </dsp:nvSpPr>
      <dsp:spPr>
        <a:xfrm>
          <a:off x="2875607" y="4075665"/>
          <a:ext cx="729518" cy="347184"/>
        </a:xfrm>
        <a:custGeom>
          <a:avLst/>
          <a:gdLst/>
          <a:ahLst/>
          <a:cxnLst/>
          <a:rect l="0" t="0" r="0" b="0"/>
          <a:pathLst>
            <a:path>
              <a:moveTo>
                <a:pt x="729518" y="0"/>
              </a:moveTo>
              <a:lnTo>
                <a:pt x="729518" y="236596"/>
              </a:lnTo>
              <a:lnTo>
                <a:pt x="0" y="236596"/>
              </a:lnTo>
              <a:lnTo>
                <a:pt x="0" y="347184"/>
              </a:lnTo>
            </a:path>
          </a:pathLst>
        </a:custGeom>
        <a:noFill/>
        <a:ln w="19050" cap="rnd" cmpd="sng" algn="ctr">
          <a:solidFill>
            <a:scrgbClr r="0" g="0" b="0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CA4616-05DF-40A2-85C4-6638FE67B80C}">
      <dsp:nvSpPr>
        <dsp:cNvPr id="0" name=""/>
        <dsp:cNvSpPr/>
      </dsp:nvSpPr>
      <dsp:spPr>
        <a:xfrm>
          <a:off x="3605125" y="2970444"/>
          <a:ext cx="1094278" cy="347184"/>
        </a:xfrm>
        <a:custGeom>
          <a:avLst/>
          <a:gdLst/>
          <a:ahLst/>
          <a:cxnLst/>
          <a:rect l="0" t="0" r="0" b="0"/>
          <a:pathLst>
            <a:path>
              <a:moveTo>
                <a:pt x="1094278" y="0"/>
              </a:moveTo>
              <a:lnTo>
                <a:pt x="1094278" y="236596"/>
              </a:lnTo>
              <a:lnTo>
                <a:pt x="0" y="236596"/>
              </a:lnTo>
              <a:lnTo>
                <a:pt x="0" y="34718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5CDE6-7F65-4CB0-A7D1-8978B4381A73}">
      <dsp:nvSpPr>
        <dsp:cNvPr id="0" name=""/>
        <dsp:cNvSpPr/>
      </dsp:nvSpPr>
      <dsp:spPr>
        <a:xfrm>
          <a:off x="2146088" y="2970444"/>
          <a:ext cx="2553315" cy="347184"/>
        </a:xfrm>
        <a:custGeom>
          <a:avLst/>
          <a:gdLst/>
          <a:ahLst/>
          <a:cxnLst/>
          <a:rect l="0" t="0" r="0" b="0"/>
          <a:pathLst>
            <a:path>
              <a:moveTo>
                <a:pt x="2553315" y="0"/>
              </a:moveTo>
              <a:lnTo>
                <a:pt x="2553315" y="236596"/>
              </a:lnTo>
              <a:lnTo>
                <a:pt x="0" y="236596"/>
              </a:lnTo>
              <a:lnTo>
                <a:pt x="0" y="34718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EF741C-BA3B-4BB8-AFC7-CAA0EA3906B6}">
      <dsp:nvSpPr>
        <dsp:cNvPr id="0" name=""/>
        <dsp:cNvSpPr/>
      </dsp:nvSpPr>
      <dsp:spPr>
        <a:xfrm>
          <a:off x="4653684" y="1865223"/>
          <a:ext cx="91440" cy="3471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718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68309-6476-4CD1-AED3-B581371CC269}">
      <dsp:nvSpPr>
        <dsp:cNvPr id="0" name=""/>
        <dsp:cNvSpPr/>
      </dsp:nvSpPr>
      <dsp:spPr>
        <a:xfrm>
          <a:off x="4653684" y="760002"/>
          <a:ext cx="91440" cy="3471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718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262DFC-8D8D-4BC5-B7B9-0AE01E3E000A}">
      <dsp:nvSpPr>
        <dsp:cNvPr id="0" name=""/>
        <dsp:cNvSpPr/>
      </dsp:nvSpPr>
      <dsp:spPr>
        <a:xfrm>
          <a:off x="4102525" y="1966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1BC16-8F24-4AB3-85FB-61CB6D0FCF5F}">
      <dsp:nvSpPr>
        <dsp:cNvPr id="0" name=""/>
        <dsp:cNvSpPr/>
      </dsp:nvSpPr>
      <dsp:spPr>
        <a:xfrm>
          <a:off x="4235164" y="127973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Total Borrowers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10 MM</a:t>
          </a:r>
          <a:endParaRPr lang="en-IN" sz="800" b="1" kern="1200" dirty="0"/>
        </a:p>
      </dsp:txBody>
      <dsp:txXfrm>
        <a:off x="4257366" y="150175"/>
        <a:ext cx="1149354" cy="713632"/>
      </dsp:txXfrm>
    </dsp:sp>
    <dsp:sp modelId="{7A2850EE-546B-4FC5-9A03-1EF6924C9005}">
      <dsp:nvSpPr>
        <dsp:cNvPr id="0" name=""/>
        <dsp:cNvSpPr/>
      </dsp:nvSpPr>
      <dsp:spPr>
        <a:xfrm>
          <a:off x="4102525" y="1107186"/>
          <a:ext cx="1193758" cy="758036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104F3-12DA-4891-A7BE-FD2D671A29A8}">
      <dsp:nvSpPr>
        <dsp:cNvPr id="0" name=""/>
        <dsp:cNvSpPr/>
      </dsp:nvSpPr>
      <dsp:spPr>
        <a:xfrm>
          <a:off x="4235164" y="1233194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Exclude New Accounts – 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1.35 MM</a:t>
          </a:r>
          <a:endParaRPr lang="en-IN" sz="800" b="1" kern="1200" dirty="0"/>
        </a:p>
      </dsp:txBody>
      <dsp:txXfrm>
        <a:off x="4257366" y="1255396"/>
        <a:ext cx="1149354" cy="713632"/>
      </dsp:txXfrm>
    </dsp:sp>
    <dsp:sp modelId="{413C4087-E7FC-45B0-807C-A28509B3A675}">
      <dsp:nvSpPr>
        <dsp:cNvPr id="0" name=""/>
        <dsp:cNvSpPr/>
      </dsp:nvSpPr>
      <dsp:spPr>
        <a:xfrm>
          <a:off x="4102525" y="2212407"/>
          <a:ext cx="1193758" cy="758036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EB303-422A-48A6-97E5-DB40EE2F5F69}">
      <dsp:nvSpPr>
        <dsp:cNvPr id="0" name=""/>
        <dsp:cNvSpPr/>
      </dsp:nvSpPr>
      <dsp:spPr>
        <a:xfrm>
          <a:off x="4235164" y="2338415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Excluding SHG &amp; 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err="1" smtClean="0"/>
            <a:t>AoP</a:t>
          </a:r>
          <a:r>
            <a:rPr lang="en-IN" sz="800" kern="1200" dirty="0" smtClean="0"/>
            <a:t> –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1.15 MM</a:t>
          </a:r>
          <a:endParaRPr lang="en-IN" sz="800" b="1" kern="1200" dirty="0"/>
        </a:p>
      </dsp:txBody>
      <dsp:txXfrm>
        <a:off x="4257366" y="2360617"/>
        <a:ext cx="1149354" cy="713632"/>
      </dsp:txXfrm>
    </dsp:sp>
    <dsp:sp modelId="{23E3DAC5-3CD4-44D5-A7A9-50D225A55D16}">
      <dsp:nvSpPr>
        <dsp:cNvPr id="0" name=""/>
        <dsp:cNvSpPr/>
      </dsp:nvSpPr>
      <dsp:spPr>
        <a:xfrm>
          <a:off x="1549209" y="3317628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B2595-EA62-4581-A050-4D9D99437826}">
      <dsp:nvSpPr>
        <dsp:cNvPr id="0" name=""/>
        <dsp:cNvSpPr/>
      </dsp:nvSpPr>
      <dsp:spPr>
        <a:xfrm>
          <a:off x="1681849" y="3443636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NA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1.9 MM</a:t>
          </a:r>
          <a:endParaRPr lang="en-IN" sz="800" b="1" kern="1200" dirty="0"/>
        </a:p>
      </dsp:txBody>
      <dsp:txXfrm>
        <a:off x="1704051" y="3465838"/>
        <a:ext cx="1149354" cy="713632"/>
      </dsp:txXfrm>
    </dsp:sp>
    <dsp:sp modelId="{547E3212-3429-4422-B978-998DEB2BDE50}">
      <dsp:nvSpPr>
        <dsp:cNvPr id="0" name=""/>
        <dsp:cNvSpPr/>
      </dsp:nvSpPr>
      <dsp:spPr>
        <a:xfrm>
          <a:off x="3008246" y="3317628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5A956-F558-4C93-A2D1-FD1EB2F079F0}">
      <dsp:nvSpPr>
        <dsp:cNvPr id="0" name=""/>
        <dsp:cNvSpPr/>
      </dsp:nvSpPr>
      <dsp:spPr>
        <a:xfrm>
          <a:off x="3140886" y="3443636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0-50 L       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>
              <a:solidFill>
                <a:schemeClr val="tx1"/>
              </a:solidFill>
            </a:rPr>
            <a:t>5.2 MM</a:t>
          </a:r>
          <a:endParaRPr lang="en-IN" sz="800" b="1" kern="1200" dirty="0">
            <a:solidFill>
              <a:schemeClr val="tx1"/>
            </a:solidFill>
          </a:endParaRPr>
        </a:p>
      </dsp:txBody>
      <dsp:txXfrm>
        <a:off x="3163088" y="3465838"/>
        <a:ext cx="1149354" cy="713632"/>
      </dsp:txXfrm>
    </dsp:sp>
    <dsp:sp modelId="{CA19B841-3D31-45DF-943D-69DE7946F560}">
      <dsp:nvSpPr>
        <dsp:cNvPr id="0" name=""/>
        <dsp:cNvSpPr/>
      </dsp:nvSpPr>
      <dsp:spPr>
        <a:xfrm>
          <a:off x="2278728" y="4422849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43BE7-BB70-4569-9F05-5C0B74A979D7}">
      <dsp:nvSpPr>
        <dsp:cNvPr id="0" name=""/>
        <dsp:cNvSpPr/>
      </dsp:nvSpPr>
      <dsp:spPr>
        <a:xfrm>
          <a:off x="2411367" y="4548857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0-10L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Low Exposure proxy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1 in 300 sample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10 K</a:t>
          </a:r>
          <a:endParaRPr lang="en-IN" sz="800" b="1" kern="1200" dirty="0"/>
        </a:p>
      </dsp:txBody>
      <dsp:txXfrm>
        <a:off x="2433569" y="4571059"/>
        <a:ext cx="1149354" cy="713632"/>
      </dsp:txXfrm>
    </dsp:sp>
    <dsp:sp modelId="{504092F4-CA61-46E0-B016-C41C34C8AC61}">
      <dsp:nvSpPr>
        <dsp:cNvPr id="0" name=""/>
        <dsp:cNvSpPr/>
      </dsp:nvSpPr>
      <dsp:spPr>
        <a:xfrm>
          <a:off x="3737765" y="4422849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D0970-1085-4974-A5AC-21F45DF1F36D}">
      <dsp:nvSpPr>
        <dsp:cNvPr id="0" name=""/>
        <dsp:cNvSpPr/>
      </dsp:nvSpPr>
      <dsp:spPr>
        <a:xfrm>
          <a:off x="3870405" y="4548857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10-50L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Micro enterprise proxy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1 in 20 sample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45 K</a:t>
          </a:r>
          <a:endParaRPr lang="en-IN" sz="800" kern="1200" dirty="0"/>
        </a:p>
      </dsp:txBody>
      <dsp:txXfrm>
        <a:off x="3892607" y="4571059"/>
        <a:ext cx="1149354" cy="713632"/>
      </dsp:txXfrm>
    </dsp:sp>
    <dsp:sp modelId="{A1105E4B-8214-42BD-8530-78FDBB9B47AF}">
      <dsp:nvSpPr>
        <dsp:cNvPr id="0" name=""/>
        <dsp:cNvSpPr/>
      </dsp:nvSpPr>
      <dsp:spPr>
        <a:xfrm>
          <a:off x="5196803" y="3317628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8F98C-8EFB-4429-A70B-C083CDB3D5B6}">
      <dsp:nvSpPr>
        <dsp:cNvPr id="0" name=""/>
        <dsp:cNvSpPr/>
      </dsp:nvSpPr>
      <dsp:spPr>
        <a:xfrm>
          <a:off x="5329443" y="3443636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50 L – 20 CR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SME proxy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0.4 MM</a:t>
          </a:r>
          <a:endParaRPr lang="en-IN" sz="800" b="1" kern="1200" dirty="0"/>
        </a:p>
      </dsp:txBody>
      <dsp:txXfrm>
        <a:off x="5351645" y="3465838"/>
        <a:ext cx="1149354" cy="713632"/>
      </dsp:txXfrm>
    </dsp:sp>
    <dsp:sp modelId="{AC460E2F-F1B1-48EB-8B05-C860FFAAEA60}">
      <dsp:nvSpPr>
        <dsp:cNvPr id="0" name=""/>
        <dsp:cNvSpPr/>
      </dsp:nvSpPr>
      <dsp:spPr>
        <a:xfrm>
          <a:off x="5196803" y="4422849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A25AF-1550-4E8E-B5A4-D5106479E75C}">
      <dsp:nvSpPr>
        <dsp:cNvPr id="0" name=""/>
        <dsp:cNvSpPr/>
      </dsp:nvSpPr>
      <dsp:spPr>
        <a:xfrm>
          <a:off x="5329443" y="4548857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alpha val="9000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1 in 13 sample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39 K</a:t>
          </a:r>
          <a:endParaRPr lang="en-IN" sz="800" b="1" kern="1200" dirty="0"/>
        </a:p>
      </dsp:txBody>
      <dsp:txXfrm>
        <a:off x="5351645" y="4571059"/>
        <a:ext cx="1149354" cy="713632"/>
      </dsp:txXfrm>
    </dsp:sp>
    <dsp:sp modelId="{70633B51-B37D-4D3F-B612-FE81E8F87946}">
      <dsp:nvSpPr>
        <dsp:cNvPr id="0" name=""/>
        <dsp:cNvSpPr/>
      </dsp:nvSpPr>
      <dsp:spPr>
        <a:xfrm>
          <a:off x="6655840" y="3317628"/>
          <a:ext cx="1193758" cy="758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FA60A-56E8-4E4E-AA07-980F75E99E30}">
      <dsp:nvSpPr>
        <dsp:cNvPr id="0" name=""/>
        <dsp:cNvSpPr/>
      </dsp:nvSpPr>
      <dsp:spPr>
        <a:xfrm>
          <a:off x="6788480" y="3443636"/>
          <a:ext cx="1193758" cy="758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20 CR +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 smtClean="0"/>
            <a:t>Large Enterprise proxy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1" kern="1200" dirty="0" smtClean="0"/>
            <a:t>0.04 MM</a:t>
          </a:r>
          <a:endParaRPr lang="en-IN" sz="800" b="1" kern="1200" dirty="0"/>
        </a:p>
      </dsp:txBody>
      <dsp:txXfrm>
        <a:off x="6810682" y="3465838"/>
        <a:ext cx="1149354" cy="7136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47282-5322-4920-A04A-F88BF4A9D3DE}" type="datetimeFigureOut">
              <a:rPr lang="en-IN" smtClean="0"/>
              <a:t>26-11-2015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D4397-2931-438B-B195-D24BFA6F0B7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107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80FA6-BA02-4C3D-AB3D-7F99A89BBA54}" type="slidenum">
              <a:rPr lang="en-IN" smtClean="0">
                <a:solidFill>
                  <a:prstClr val="black"/>
                </a:solidFill>
              </a:rPr>
              <a:pPr/>
              <a:t>1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55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32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79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1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03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864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47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80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22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472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5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39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12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249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322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66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36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>
                <a:solidFill>
                  <a:srgbClr val="ACD433"/>
                </a:solidFill>
              </a:rPr>
              <a:pPr/>
              <a:t>26-11-2015</a:t>
            </a:fld>
            <a:endParaRPr lang="en-IN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srgbClr val="ACD43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1283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3A260-0EC9-43E7-92D7-2B7F1E9B0D3A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6498" y="6647419"/>
            <a:ext cx="8964000" cy="1984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765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14FC-95CC-4112-B4AE-C7356EFBF9D9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IN" dirty="0" smtClean="0">
                <a:solidFill>
                  <a:prstClr val="white">
                    <a:lumMod val="50000"/>
                  </a:prst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208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DEFF4-E5D7-40E3-9F07-A97091335251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919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6C49-0AE7-488E-97EC-96C9E77398C9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79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4742-B436-4121-8625-7255589F0C2E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9655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9CD4-C54D-4FA8-86FF-9193FE31B4AE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08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4E20-0E7B-405D-B98F-206096EEE83F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534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631D-CFB3-4F05-A0BE-048E4986D3C9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4170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0A81-ACC1-4719-B82F-168E1D300DFB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056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1B5B-E79D-4004-AAE1-BA858283289F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8645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F28D-178C-44CD-886C-CCC1D1AFBBE5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096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FE2F0-37D3-40DA-804A-8AD2523582A8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26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52F5-F43F-46F3-AC66-C35140D634AF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670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79C36-066F-4D49-83BF-071CB4A34EBA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367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8F9D-15CA-4DE4-A4C6-099D68AC7ACF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846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AF75-AF7D-4078-9925-92DA47835428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752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0664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6FD8-9FB0-4121-95D0-242F0404545D}" type="datetime1">
              <a:rPr lang="en-US" smtClean="0">
                <a:solidFill>
                  <a:srgbClr val="ACD433"/>
                </a:solidFill>
              </a:rPr>
              <a:pPr/>
              <a:t>11/26/2015</a:t>
            </a:fld>
            <a:endParaRPr lang="en-IN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IN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455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defTabSz="457200"/>
            <a:fld id="{40642DC7-B585-4536-91D5-231B0D5F1DDB}" type="datetime1">
              <a:rPr lang="en-US" smtClean="0">
                <a:solidFill>
                  <a:srgbClr val="ACD433"/>
                </a:solidFill>
              </a:rPr>
              <a:pPr defTabSz="457200"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pPr defTabSz="457200"/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pPr defTabSz="457200"/>
            <a:fld id="{D57F1E4F-1CFF-5643-939E-217C01CDF565}" type="slidenum">
              <a:rPr lang="en-US" smtClean="0">
                <a:solidFill>
                  <a:srgbClr val="0E5580"/>
                </a:solidFill>
              </a:rPr>
              <a:pPr defTabSz="457200"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92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55228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defTabSz="457200"/>
            <a:fld id="{95BE9852-49D4-406B-86D6-3D83B6F978EF}" type="datetime1">
              <a:rPr lang="en-US" smtClean="0">
                <a:solidFill>
                  <a:srgbClr val="ACD433"/>
                </a:solidFill>
              </a:rPr>
              <a:pPr defTabSz="457200"/>
              <a:t>11/26/2015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6498" y="6647419"/>
            <a:ext cx="8964000" cy="1984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</a:lstStyle>
          <a:p>
            <a:pPr defTabSz="457200"/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pPr defTabSz="457200"/>
            <a:fld id="{D57F1E4F-1CFF-5643-939E-217C01CDF565}" type="slidenum">
              <a:rPr lang="en-US" smtClean="0">
                <a:solidFill>
                  <a:srgbClr val="0E5580"/>
                </a:solidFill>
              </a:rPr>
              <a:pPr defTabSz="457200"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34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package" Target="../embeddings/Microsoft_Excel_Worksheet8.xlsx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package" Target="../embeddings/Microsoft_Excel_Worksheet12.xlsx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7" Type="http://schemas.openxmlformats.org/officeDocument/2006/relationships/chart" Target="../charts/chart15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2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2.xml"/><Relationship Id="rId4" Type="http://schemas.openxmlformats.org/officeDocument/2006/relationships/chart" Target="../charts/char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2.xml"/><Relationship Id="rId4" Type="http://schemas.openxmlformats.org/officeDocument/2006/relationships/chart" Target="../charts/char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2.xml"/><Relationship Id="rId5" Type="http://schemas.openxmlformats.org/officeDocument/2006/relationships/chart" Target="../charts/chart25.xml"/><Relationship Id="rId4" Type="http://schemas.openxmlformats.org/officeDocument/2006/relationships/chart" Target="../charts/char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2.xml"/><Relationship Id="rId4" Type="http://schemas.openxmlformats.org/officeDocument/2006/relationships/chart" Target="../charts/char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2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22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22.xml"/><Relationship Id="rId5" Type="http://schemas.openxmlformats.org/officeDocument/2006/relationships/chart" Target="../charts/chart40.xml"/><Relationship Id="rId4" Type="http://schemas.openxmlformats.org/officeDocument/2006/relationships/chart" Target="../charts/chart3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22.xml"/><Relationship Id="rId5" Type="http://schemas.openxmlformats.org/officeDocument/2006/relationships/chart" Target="../charts/chart46.xml"/><Relationship Id="rId4" Type="http://schemas.openxmlformats.org/officeDocument/2006/relationships/chart" Target="../charts/chart4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54954" y="1481547"/>
            <a:ext cx="9989861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 smtClean="0">
                <a:solidFill>
                  <a:prstClr val="black"/>
                </a:solidFill>
              </a:rPr>
              <a:t>Consumer Analytics Division</a:t>
            </a:r>
          </a:p>
          <a:p>
            <a:pPr algn="l"/>
            <a:r>
              <a:rPr lang="en-US" sz="3500" dirty="0" smtClean="0">
                <a:solidFill>
                  <a:prstClr val="black"/>
                </a:solidFill>
              </a:rPr>
              <a:t>Tata Capital – CIBIL Sample Data Exploration</a:t>
            </a:r>
            <a:r>
              <a:rPr lang="en-US" sz="4000" b="1" dirty="0" smtClean="0">
                <a:solidFill>
                  <a:prstClr val="black"/>
                </a:solidFill>
              </a:rPr>
              <a:t/>
            </a:r>
            <a:br>
              <a:rPr lang="en-US" sz="4000" b="1" dirty="0" smtClean="0">
                <a:solidFill>
                  <a:prstClr val="black"/>
                </a:solidFill>
              </a:rPr>
            </a:br>
            <a:endParaRPr lang="en-IN" sz="3600" dirty="0">
              <a:solidFill>
                <a:prstClr val="black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54954" y="5526232"/>
            <a:ext cx="8825657" cy="566738"/>
          </a:xfrm>
        </p:spPr>
        <p:txBody>
          <a:bodyPr>
            <a:normAutofit/>
          </a:bodyPr>
          <a:lstStyle/>
          <a:p>
            <a:r>
              <a:rPr lang="en-US" b="1" dirty="0" smtClean="0"/>
              <a:t>Tata Capital Analytics Exploratory Data Analysis</a:t>
            </a:r>
            <a:endParaRPr lang="en-IN" b="1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1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8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2" name="TextBox 1"/>
          <p:cNvSpPr txBox="1"/>
          <p:nvPr/>
        </p:nvSpPr>
        <p:spPr bwMode="gray">
          <a:xfrm>
            <a:off x="824248" y="1519707"/>
            <a:ext cx="7585656" cy="431442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IN" sz="2000" dirty="0" smtClean="0"/>
          </a:p>
        </p:txBody>
      </p:sp>
      <p:sp>
        <p:nvSpPr>
          <p:cNvPr id="6" name="TextBox 5"/>
          <p:cNvSpPr txBox="1"/>
          <p:nvPr/>
        </p:nvSpPr>
        <p:spPr bwMode="gray">
          <a:xfrm>
            <a:off x="862885" y="1519707"/>
            <a:ext cx="9839459" cy="49841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/>
              <a:t>CIBIL Data – Samples received</a:t>
            </a:r>
          </a:p>
          <a:p>
            <a:endParaRPr lang="en-IN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/>
              <a:t>Extraction Waterfall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/>
              <a:t>Initial Distributions</a:t>
            </a:r>
          </a:p>
          <a:p>
            <a:endParaRPr lang="en-IN" sz="2000" dirty="0" smtClean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000" dirty="0" smtClean="0"/>
              <a:t>Domain, Legal Constitution, Location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/>
              <a:t>Model build – Objective definition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/>
              <a:t>Exploratory Analysis - SME segment</a:t>
            </a:r>
          </a:p>
          <a:p>
            <a:endParaRPr lang="en-IN" sz="2000" dirty="0" smtClean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IN" sz="2000" dirty="0" smtClean="0"/>
          </a:p>
          <a:p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val="275160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CIBIL Data Received Status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3</a:t>
            </a:fld>
            <a:endParaRPr lang="en-US" dirty="0">
              <a:solidFill>
                <a:srgbClr val="0E558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392445"/>
              </p:ext>
            </p:extLst>
          </p:nvPr>
        </p:nvGraphicFramePr>
        <p:xfrm>
          <a:off x="467151" y="1831998"/>
          <a:ext cx="11278381" cy="1356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837"/>
                <a:gridCol w="1631852"/>
                <a:gridCol w="2331518"/>
                <a:gridCol w="2067435"/>
                <a:gridCol w="1907170"/>
                <a:gridCol w="2147569"/>
              </a:tblGrid>
              <a:tr h="53617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CIBIL Data </a:t>
                      </a:r>
                      <a:r>
                        <a:rPr lang="en-IN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Files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Columns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Rows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Numeric Columns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Character </a:t>
                      </a:r>
                      <a:r>
                        <a:rPr lang="en-IN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Columns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Distinct </a:t>
                      </a:r>
                      <a:r>
                        <a:rPr lang="en-IN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Borrower ID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</a:tr>
              <a:tr h="2735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Borrower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94,774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94,774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735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Enquiry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106,711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30,546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735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389,441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93,492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76520" y="1495139"/>
            <a:ext cx="6297767" cy="298245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CIBIL Data Overview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0179211" y="2675229"/>
            <a:ext cx="922378" cy="2124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/>
          <p:cNvSpPr txBox="1"/>
          <p:nvPr/>
        </p:nvSpPr>
        <p:spPr bwMode="gray">
          <a:xfrm>
            <a:off x="829994" y="5359791"/>
            <a:ext cx="1434904" cy="63304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IN" sz="20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476520" y="3730731"/>
            <a:ext cx="11269012" cy="22621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Notes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Population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comprises borrowers in the Commercial bureau with a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trade sanction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date on or before Dec 31st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2014</a:t>
            </a:r>
          </a:p>
          <a:p>
            <a:endParaRPr lang="en-IN" sz="1500" dirty="0" smtClean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All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variables and metrics have been defined as of 31st December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2014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E.g. OTH_FUND_CNT_NEW_12 - pertains to Count of Fund Based Credit facility opened in past 12 months from 31st Dec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2014</a:t>
            </a:r>
          </a:p>
          <a:p>
            <a:pPr lvl="1"/>
            <a:endParaRPr lang="en-IN" sz="1500" dirty="0" smtClean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Variables incorporate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Borrower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behaviour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at TATA Capital and other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lenders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We cannot differentiate behaviour with TATA Capital</a:t>
            </a:r>
            <a:endParaRPr lang="en-IN" sz="15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09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Quality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4</a:t>
            </a:fld>
            <a:endParaRPr lang="en-US" dirty="0">
              <a:solidFill>
                <a:srgbClr val="0E5580"/>
              </a:solidFill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166945"/>
              </p:ext>
            </p:extLst>
          </p:nvPr>
        </p:nvGraphicFramePr>
        <p:xfrm>
          <a:off x="467151" y="1817927"/>
          <a:ext cx="11201110" cy="4845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22"/>
                <a:gridCol w="2240222"/>
                <a:gridCol w="2240222"/>
                <a:gridCol w="2240222"/>
                <a:gridCol w="2240222"/>
              </a:tblGrid>
              <a:tr h="81612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CIBIL Data </a:t>
                      </a:r>
                      <a:r>
                        <a:rPr lang="en-IN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Files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Key Data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Themes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Data Elements </a:t>
                      </a:r>
                    </a:p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– low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fill rates 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Data Elements </a:t>
                      </a:r>
                    </a:p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not populated/shared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652185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Borrower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Location and Domain</a:t>
                      </a:r>
                      <a:r>
                        <a:rPr lang="en-I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of business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2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IN" sz="1200" dirty="0" smtClean="0">
                          <a:latin typeface="Calibri" panose="020F0502020204030204" pitchFamily="34" charset="0"/>
                        </a:rPr>
                        <a:t>Address – </a:t>
                      </a:r>
                      <a:r>
                        <a:rPr lang="en-IN" sz="1200" b="1" dirty="0" smtClean="0">
                          <a:latin typeface="Calibri" panose="020F0502020204030204" pitchFamily="34" charset="0"/>
                        </a:rPr>
                        <a:t>15%</a:t>
                      </a:r>
                    </a:p>
                    <a:p>
                      <a:pPr algn="ctr" fontAlgn="b"/>
                      <a:endParaRPr lang="en-IN" sz="1200" b="1" dirty="0" smtClean="0"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n-IN" sz="1200" dirty="0" smtClean="0">
                          <a:latin typeface="Calibri" panose="020F0502020204030204" pitchFamily="34" charset="0"/>
                        </a:rPr>
                        <a:t>% Change in Borrower </a:t>
                      </a:r>
                    </a:p>
                    <a:p>
                      <a:pPr algn="ctr" fontAlgn="b"/>
                      <a:r>
                        <a:rPr lang="en-IN" sz="1200" dirty="0" smtClean="0">
                          <a:latin typeface="Calibri" panose="020F0502020204030204" pitchFamily="34" charset="0"/>
                        </a:rPr>
                        <a:t>Exposure </a:t>
                      </a:r>
                      <a:r>
                        <a:rPr lang="en-IN" sz="1200" baseline="0" dirty="0" smtClean="0">
                          <a:latin typeface="Calibri" panose="020F0502020204030204" pitchFamily="34" charset="0"/>
                        </a:rPr>
                        <a:t>– </a:t>
                      </a:r>
                      <a:r>
                        <a:rPr lang="en-IN" sz="1200" b="1" baseline="0" dirty="0" smtClean="0">
                          <a:latin typeface="Calibri" panose="020F0502020204030204" pitchFamily="34" charset="0"/>
                        </a:rPr>
                        <a:t>20%</a:t>
                      </a:r>
                      <a:endParaRPr lang="en-IN" sz="1200" b="1" dirty="0"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Identifiable/Contact</a:t>
                      </a:r>
                      <a:r>
                        <a:rPr lang="en-IN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Information </a:t>
                      </a:r>
                      <a:r>
                        <a:rPr lang="en-I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 Name, Telephone, DUNS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5218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Volume</a:t>
                      </a:r>
                      <a:r>
                        <a:rPr lang="en-I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of Credit </a:t>
                      </a:r>
                      <a:r>
                        <a:rPr lang="en-IN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</a:t>
                      </a:r>
                      <a:endParaRPr lang="en-IN" sz="12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Trades</a:t>
                      </a:r>
                    </a:p>
                    <a:p>
                      <a:pPr algn="ctr" fontAlgn="b"/>
                      <a:endParaRPr lang="en-IN" sz="12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n-I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Balances</a:t>
                      </a:r>
                    </a:p>
                    <a:p>
                      <a:pPr algn="ctr" fontAlgn="b"/>
                      <a:endParaRPr lang="en-IN" sz="12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n-I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Credit Limit</a:t>
                      </a:r>
                    </a:p>
                    <a:p>
                      <a:pPr algn="ctr" fontAlgn="b"/>
                      <a:endParaRPr lang="en-IN" sz="12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n-I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Enquiries</a:t>
                      </a:r>
                    </a:p>
                    <a:p>
                      <a:pPr algn="ctr" fontAlgn="b"/>
                      <a:endParaRPr lang="en-IN" sz="12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n-IN" sz="1200" b="0" i="1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type of trade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65218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Recent</a:t>
                      </a:r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Credit </a:t>
                      </a:r>
                      <a:r>
                        <a:rPr lang="en-IN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65218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Recent increase</a:t>
                      </a:r>
                      <a:r>
                        <a:rPr lang="en-IN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N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trends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9719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Enquiry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Enquiry</a:t>
                      </a:r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history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Enquiries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 – </a:t>
                      </a:r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Identifiable/Contact</a:t>
                      </a:r>
                      <a:r>
                        <a:rPr lang="en-IN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Information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9719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 behaviour </a:t>
                      </a:r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history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Trades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 – </a:t>
                      </a:r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  <a:p>
                      <a:pPr algn="ctr" fontAlgn="b"/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of Activity – </a:t>
                      </a:r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Identifiable/Contact</a:t>
                      </a:r>
                      <a:r>
                        <a:rPr lang="en-IN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Information </a:t>
                      </a:r>
                    </a:p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 of Facility of Trade</a:t>
                      </a:r>
                      <a:endParaRPr lang="en-IN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260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Vintage </a:t>
                      </a:r>
                      <a:r>
                        <a:rPr lang="en-I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 Borrower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76520" y="1481071"/>
            <a:ext cx="6297767" cy="32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CIBIL Data Samples – Data Quality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19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33769" y="1246485"/>
            <a:ext cx="9531448" cy="5409051"/>
            <a:chOff x="333769" y="1349517"/>
            <a:chExt cx="9531448" cy="5409051"/>
          </a:xfrm>
        </p:grpSpPr>
        <p:sp>
          <p:nvSpPr>
            <p:cNvPr id="4" name="TextBox 3"/>
            <p:cNvSpPr txBox="1"/>
            <p:nvPr/>
          </p:nvSpPr>
          <p:spPr bwMode="gray">
            <a:xfrm>
              <a:off x="629984" y="5699342"/>
              <a:ext cx="6504912" cy="1059226"/>
            </a:xfrm>
            <a:prstGeom prst="rect">
              <a:avLst/>
            </a:prstGeom>
            <a:solidFill>
              <a:srgbClr val="DEECFD">
                <a:alpha val="69804"/>
              </a:srgbClr>
            </a:solidFill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r>
                <a:rPr lang="en-IN" sz="1200" dirty="0" smtClean="0"/>
                <a:t>Data Samples </a:t>
              </a:r>
            </a:p>
            <a:p>
              <a:r>
                <a:rPr lang="en-IN" sz="1200" dirty="0" smtClean="0"/>
                <a:t>Received</a:t>
              </a:r>
            </a:p>
          </p:txBody>
        </p:sp>
        <p:graphicFrame>
          <p:nvGraphicFramePr>
            <p:cNvPr id="9" name="Diagram 8"/>
            <p:cNvGraphicFramePr/>
            <p:nvPr>
              <p:extLst>
                <p:ext uri="{D42A27DB-BD31-4B8C-83A1-F6EECF244321}">
                  <p14:modId xmlns:p14="http://schemas.microsoft.com/office/powerpoint/2010/main" val="859729162"/>
                </p:ext>
              </p:extLst>
            </p:nvPr>
          </p:nvGraphicFramePr>
          <p:xfrm>
            <a:off x="333769" y="1349517"/>
            <a:ext cx="9531448" cy="53088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sp>
        <p:nvSpPr>
          <p:cNvPr id="18" name="Flowchart: Manual Operation 17"/>
          <p:cNvSpPr/>
          <p:nvPr/>
        </p:nvSpPr>
        <p:spPr>
          <a:xfrm>
            <a:off x="3808085" y="2324982"/>
            <a:ext cx="2601532" cy="2061865"/>
          </a:xfrm>
          <a:prstGeom prst="flowChartManualOperation">
            <a:avLst/>
          </a:prstGeom>
          <a:solidFill>
            <a:srgbClr val="CC6600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Extraction </a:t>
            </a:r>
            <a:r>
              <a:rPr lang="en-IN" dirty="0" smtClean="0"/>
              <a:t>Summary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5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 bwMode="gray">
          <a:xfrm>
            <a:off x="6491745" y="2582511"/>
            <a:ext cx="1751527" cy="6181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lang="en-IN" sz="1000" dirty="0"/>
              <a:t>New Borrowers with First reporting month after 31st Dec 2014</a:t>
            </a:r>
          </a:p>
        </p:txBody>
      </p:sp>
      <p:sp>
        <p:nvSpPr>
          <p:cNvPr id="28" name="TextBox 27"/>
          <p:cNvSpPr txBox="1"/>
          <p:nvPr/>
        </p:nvSpPr>
        <p:spPr bwMode="gray">
          <a:xfrm>
            <a:off x="5872765" y="1495959"/>
            <a:ext cx="1751527" cy="6181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lang="en-IN" sz="1000" dirty="0"/>
              <a:t>Total Borrowers in Commercial Bureau  </a:t>
            </a:r>
          </a:p>
        </p:txBody>
      </p:sp>
      <p:sp>
        <p:nvSpPr>
          <p:cNvPr id="29" name="TextBox 28"/>
          <p:cNvSpPr txBox="1"/>
          <p:nvPr/>
        </p:nvSpPr>
        <p:spPr bwMode="gray">
          <a:xfrm>
            <a:off x="1285741" y="4099659"/>
            <a:ext cx="3002924" cy="33728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lang="en-IN" sz="1000" dirty="0" smtClean="0"/>
              <a:t>Maximum exposure in the last 100 months</a:t>
            </a:r>
            <a:endParaRPr lang="en-IN" sz="1000" dirty="0"/>
          </a:p>
        </p:txBody>
      </p:sp>
      <p:sp>
        <p:nvSpPr>
          <p:cNvPr id="30" name="TextBox 29"/>
          <p:cNvSpPr txBox="1"/>
          <p:nvPr/>
        </p:nvSpPr>
        <p:spPr bwMode="gray">
          <a:xfrm>
            <a:off x="6491745" y="3567259"/>
            <a:ext cx="1751527" cy="6181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lang="en-IN" sz="1000" dirty="0" smtClean="0"/>
              <a:t>Excluding Self help groups and Association of Persons</a:t>
            </a:r>
            <a:endParaRPr lang="en-IN" sz="1000" dirty="0"/>
          </a:p>
        </p:txBody>
      </p:sp>
      <p:sp>
        <p:nvSpPr>
          <p:cNvPr id="16" name="Bent-Up Arrow 15"/>
          <p:cNvSpPr/>
          <p:nvPr/>
        </p:nvSpPr>
        <p:spPr>
          <a:xfrm>
            <a:off x="7247462" y="5195887"/>
            <a:ext cx="3168205" cy="1001138"/>
          </a:xfrm>
          <a:prstGeom prst="bentUpArrow">
            <a:avLst>
              <a:gd name="adj1" fmla="val 14709"/>
              <a:gd name="adj2" fmla="val 24034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/>
          <p:cNvSpPr txBox="1"/>
          <p:nvPr/>
        </p:nvSpPr>
        <p:spPr bwMode="gray">
          <a:xfrm>
            <a:off x="9198412" y="4510686"/>
            <a:ext cx="1992327" cy="6181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 algn="ctr"/>
            <a:r>
              <a:rPr lang="en-IN" sz="1400" dirty="0" smtClean="0"/>
              <a:t>Focus for </a:t>
            </a:r>
          </a:p>
          <a:p>
            <a:pPr lvl="0" algn="ctr"/>
            <a:r>
              <a:rPr lang="en-IN" sz="1400" dirty="0" smtClean="0"/>
              <a:t>Model build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7564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Borrower distribution by Domain of Business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459333"/>
              </p:ext>
            </p:extLst>
          </p:nvPr>
        </p:nvGraphicFramePr>
        <p:xfrm>
          <a:off x="3604086" y="2487942"/>
          <a:ext cx="4502682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0894"/>
                <a:gridCol w="1500894"/>
                <a:gridCol w="1500894"/>
              </a:tblGrid>
              <a:tr h="2733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MICRO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LOW</a:t>
                      </a:r>
                      <a:endParaRPr lang="en-US" sz="1400" dirty="0"/>
                    </a:p>
                  </a:txBody>
                  <a:tcPr/>
                </a:tc>
              </a:tr>
              <a:tr h="2733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39,116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44,196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10,393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116756"/>
              </p:ext>
            </p:extLst>
          </p:nvPr>
        </p:nvGraphicFramePr>
        <p:xfrm>
          <a:off x="4735553" y="1777948"/>
          <a:ext cx="2239749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974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Total 93,711 Borrowers*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 bwMode="gray">
          <a:xfrm>
            <a:off x="122829" y="6386418"/>
            <a:ext cx="3739487" cy="261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*Excluding customer not present in Trade and Enquiry files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377475" y="2161667"/>
            <a:ext cx="3004400" cy="339154"/>
            <a:chOff x="4377475" y="1865450"/>
            <a:chExt cx="3004400" cy="339154"/>
          </a:xfrm>
        </p:grpSpPr>
        <p:cxnSp>
          <p:nvCxnSpPr>
            <p:cNvPr id="36" name="Straight Arrow Connector 35"/>
            <p:cNvCxnSpPr>
              <a:stCxn id="4" idx="2"/>
              <a:endCxn id="2" idx="0"/>
            </p:cNvCxnSpPr>
            <p:nvPr/>
          </p:nvCxnSpPr>
          <p:spPr>
            <a:xfrm>
              <a:off x="5855427" y="1865450"/>
              <a:ext cx="0" cy="339154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4377475" y="2009775"/>
              <a:ext cx="0" cy="18195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7377850" y="2009775"/>
              <a:ext cx="0" cy="18195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4377475" y="2009775"/>
              <a:ext cx="30044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 bwMode="gray">
          <a:xfrm>
            <a:off x="8876710" y="6386418"/>
            <a:ext cx="2873479" cy="261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SME: 20CR-50L; MICRO: 50L-10L; LOW: 10L-0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10954638" y="570178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" name="Worksheet" showAsIcon="1" r:id="rId3" imgW="914400" imgH="771480" progId="Excel.Sheet.12">
                  <p:embed/>
                </p:oleObj>
              </mc:Choice>
              <mc:Fallback>
                <p:oleObj name="Worksheet" showAsIcon="1" r:id="rId3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54638" y="570178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6</a:t>
            </a:r>
            <a:endParaRPr lang="en-US" dirty="0">
              <a:solidFill>
                <a:srgbClr val="0E5580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08096" y="2993174"/>
            <a:ext cx="3654220" cy="2780935"/>
            <a:chOff x="208096" y="2993174"/>
            <a:chExt cx="3654220" cy="2780935"/>
          </a:xfrm>
        </p:grpSpPr>
        <p:grpSp>
          <p:nvGrpSpPr>
            <p:cNvPr id="29" name="Group 28"/>
            <p:cNvGrpSpPr/>
            <p:nvPr/>
          </p:nvGrpSpPr>
          <p:grpSpPr>
            <a:xfrm>
              <a:off x="208096" y="3453084"/>
              <a:ext cx="3654220" cy="2321025"/>
              <a:chOff x="208096" y="3453084"/>
              <a:chExt cx="3654220" cy="2321025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208096" y="3453084"/>
                <a:ext cx="3654220" cy="2321025"/>
                <a:chOff x="1422747" y="3543115"/>
                <a:chExt cx="3942580" cy="2520735"/>
              </a:xfrm>
            </p:grpSpPr>
            <p:graphicFrame>
              <p:nvGraphicFramePr>
                <p:cNvPr id="9" name="Chart 8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1422747" y="3543115"/>
                <a:ext cx="3942580" cy="245417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5"/>
                </a:graphicData>
              </a:graphic>
            </p:graphicFrame>
            <p:sp>
              <p:nvSpPr>
                <p:cNvPr id="10" name="TextBox 9"/>
                <p:cNvSpPr txBox="1"/>
                <p:nvPr/>
              </p:nvSpPr>
              <p:spPr bwMode="gray">
                <a:xfrm>
                  <a:off x="4126726" y="5386981"/>
                  <a:ext cx="922352" cy="28624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defTabSz="457200"/>
                  <a:r>
                    <a:rPr lang="en-US" sz="1000" dirty="0" smtClean="0">
                      <a:solidFill>
                        <a:prstClr val="black"/>
                      </a:solidFill>
                    </a:rPr>
                    <a:t>Others (44%)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 bwMode="gray">
                <a:xfrm>
                  <a:off x="3394037" y="5777603"/>
                  <a:ext cx="467803" cy="28624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algn="ctr" defTabSz="457200"/>
                  <a:r>
                    <a:rPr lang="en-US" sz="1000" dirty="0" smtClean="0">
                      <a:solidFill>
                        <a:prstClr val="black"/>
                      </a:solidFill>
                    </a:rPr>
                    <a:t>Retail (9%)</a:t>
                  </a: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 bwMode="gray">
                <a:xfrm>
                  <a:off x="2413097" y="5711044"/>
                  <a:ext cx="467803" cy="28624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algn="ctr" defTabSz="457200"/>
                  <a:r>
                    <a:rPr lang="en-US" sz="1000" dirty="0" smtClean="0">
                      <a:solidFill>
                        <a:prstClr val="black"/>
                      </a:solidFill>
                    </a:rPr>
                    <a:t>Industrial (7%)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 bwMode="gray">
                <a:xfrm>
                  <a:off x="2085195" y="5424797"/>
                  <a:ext cx="467803" cy="28624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algn="ctr" defTabSz="457200"/>
                  <a:r>
                    <a:rPr lang="en-US" sz="1000" dirty="0" smtClean="0">
                      <a:solidFill>
                        <a:prstClr val="black"/>
                      </a:solidFill>
                    </a:rPr>
                    <a:t>Food (5%)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 bwMode="gray">
                <a:xfrm>
                  <a:off x="1811538" y="5114697"/>
                  <a:ext cx="467803" cy="286247"/>
                </a:xfrm>
                <a:prstGeom prst="rect">
                  <a:avLst/>
                </a:prstGeom>
              </p:spPr>
              <p:txBody>
                <a:bodyPr vert="horz" wrap="none" lIns="91440" tIns="45720" rIns="91440" bIns="45720" rtlCol="0" anchor="ctr">
                  <a:noAutofit/>
                </a:bodyPr>
                <a:lstStyle/>
                <a:p>
                  <a:pPr algn="ctr" defTabSz="457200"/>
                  <a:r>
                    <a:rPr lang="en-US" sz="1000" dirty="0" smtClean="0">
                      <a:solidFill>
                        <a:prstClr val="black"/>
                      </a:solidFill>
                    </a:rPr>
                    <a:t>Apparel (4%)</a:t>
                  </a:r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 bwMode="gray">
              <a:xfrm>
                <a:off x="529461" y="4698586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FMCG (3%)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 bwMode="gray">
              <a:xfrm>
                <a:off x="488676" y="4516135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Auto (3%)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 bwMode="gray">
            <a:xfrm>
              <a:off x="1786073" y="2993174"/>
              <a:ext cx="914400" cy="9144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SME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684675" y="2993174"/>
            <a:ext cx="4572000" cy="2780936"/>
            <a:chOff x="3684675" y="2993174"/>
            <a:chExt cx="4572000" cy="2780936"/>
          </a:xfrm>
        </p:grpSpPr>
        <p:grpSp>
          <p:nvGrpSpPr>
            <p:cNvPr id="23" name="Group 22"/>
            <p:cNvGrpSpPr/>
            <p:nvPr/>
          </p:nvGrpSpPr>
          <p:grpSpPr>
            <a:xfrm>
              <a:off x="3684675" y="3453084"/>
              <a:ext cx="4572000" cy="2321026"/>
              <a:chOff x="3602787" y="3743724"/>
              <a:chExt cx="4572000" cy="2321026"/>
            </a:xfrm>
          </p:grpSpPr>
          <p:graphicFrame>
            <p:nvGraphicFramePr>
              <p:cNvPr id="16" name="Chart 15"/>
              <p:cNvGraphicFramePr>
                <a:graphicFrameLocks/>
              </p:cNvGraphicFramePr>
              <p:nvPr>
                <p:extLst/>
              </p:nvPr>
            </p:nvGraphicFramePr>
            <p:xfrm>
              <a:off x="3602787" y="3743724"/>
              <a:ext cx="4572000" cy="22597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sp>
            <p:nvSpPr>
              <p:cNvPr id="17" name="TextBox 16"/>
              <p:cNvSpPr txBox="1"/>
              <p:nvPr/>
            </p:nvSpPr>
            <p:spPr bwMode="gray">
              <a:xfrm>
                <a:off x="6547856" y="5422618"/>
                <a:ext cx="854891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Others (44%)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gray">
              <a:xfrm>
                <a:off x="5521374" y="5801181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Retail (19%)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 bwMode="gray">
              <a:xfrm>
                <a:off x="4486396" y="5347447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Industrial (5%)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 bwMode="gray">
              <a:xfrm>
                <a:off x="4459458" y="5099784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Food (4%)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 bwMode="gray">
              <a:xfrm>
                <a:off x="4295587" y="4893065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Apparel (2%)</a:t>
                </a:r>
              </a:p>
            </p:txBody>
          </p:sp>
        </p:grpSp>
        <p:sp>
          <p:nvSpPr>
            <p:cNvPr id="37" name="TextBox 36"/>
            <p:cNvSpPr txBox="1"/>
            <p:nvPr/>
          </p:nvSpPr>
          <p:spPr bwMode="gray">
            <a:xfrm>
              <a:off x="4402047" y="4452206"/>
              <a:ext cx="433588" cy="263569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 defTabSz="457200"/>
              <a:r>
                <a:rPr lang="en-US" sz="1000" dirty="0" smtClean="0">
                  <a:solidFill>
                    <a:prstClr val="black"/>
                  </a:solidFill>
                </a:rPr>
                <a:t>FMCG (2%)</a:t>
              </a:r>
            </a:p>
          </p:txBody>
        </p:sp>
        <p:sp>
          <p:nvSpPr>
            <p:cNvPr id="38" name="TextBox 37"/>
            <p:cNvSpPr txBox="1"/>
            <p:nvPr/>
          </p:nvSpPr>
          <p:spPr bwMode="gray">
            <a:xfrm>
              <a:off x="4468536" y="4295284"/>
              <a:ext cx="433588" cy="263569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 defTabSz="457200"/>
              <a:r>
                <a:rPr lang="en-US" sz="1000" dirty="0" smtClean="0">
                  <a:solidFill>
                    <a:prstClr val="black"/>
                  </a:solidFill>
                </a:rPr>
                <a:t>Auto (2%)</a:t>
              </a:r>
            </a:p>
          </p:txBody>
        </p:sp>
        <p:sp>
          <p:nvSpPr>
            <p:cNvPr id="48" name="TextBox 47"/>
            <p:cNvSpPr txBox="1"/>
            <p:nvPr/>
          </p:nvSpPr>
          <p:spPr bwMode="gray">
            <a:xfrm>
              <a:off x="5530021" y="2993174"/>
              <a:ext cx="914400" cy="9144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MICRO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150444" y="2993174"/>
            <a:ext cx="3428522" cy="2719650"/>
            <a:chOff x="8150444" y="2993174"/>
            <a:chExt cx="3428522" cy="2719650"/>
          </a:xfrm>
        </p:grpSpPr>
        <p:grpSp>
          <p:nvGrpSpPr>
            <p:cNvPr id="28" name="Group 27"/>
            <p:cNvGrpSpPr/>
            <p:nvPr/>
          </p:nvGrpSpPr>
          <p:grpSpPr>
            <a:xfrm>
              <a:off x="8218146" y="3453084"/>
              <a:ext cx="3360820" cy="2259740"/>
              <a:chOff x="8218146" y="3743724"/>
              <a:chExt cx="3360820" cy="2259740"/>
            </a:xfrm>
          </p:grpSpPr>
          <p:graphicFrame>
            <p:nvGraphicFramePr>
              <p:cNvPr id="22" name="Chart 21"/>
              <p:cNvGraphicFramePr>
                <a:graphicFrameLocks/>
              </p:cNvGraphicFramePr>
              <p:nvPr>
                <p:extLst/>
              </p:nvPr>
            </p:nvGraphicFramePr>
            <p:xfrm>
              <a:off x="8218146" y="3743724"/>
              <a:ext cx="3360820" cy="22597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24" name="TextBox 23"/>
              <p:cNvSpPr txBox="1"/>
              <p:nvPr/>
            </p:nvSpPr>
            <p:spPr bwMode="gray">
              <a:xfrm>
                <a:off x="10685669" y="5363353"/>
                <a:ext cx="854891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Others (42%)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 bwMode="gray">
              <a:xfrm>
                <a:off x="8954524" y="5739895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Retail (25%)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 bwMode="gray">
              <a:xfrm>
                <a:off x="8394251" y="5099784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Food (5%)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 bwMode="gray">
              <a:xfrm>
                <a:off x="8281247" y="4788528"/>
                <a:ext cx="433588" cy="263569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000" dirty="0" smtClean="0">
                    <a:solidFill>
                      <a:prstClr val="black"/>
                    </a:solidFill>
                  </a:rPr>
                  <a:t>Finance (4%)</a:t>
                </a:r>
              </a:p>
            </p:txBody>
          </p:sp>
        </p:grpSp>
        <p:sp>
          <p:nvSpPr>
            <p:cNvPr id="39" name="TextBox 38"/>
            <p:cNvSpPr txBox="1"/>
            <p:nvPr/>
          </p:nvSpPr>
          <p:spPr bwMode="gray">
            <a:xfrm>
              <a:off x="8371535" y="4282404"/>
              <a:ext cx="433588" cy="263569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 defTabSz="457200"/>
              <a:r>
                <a:rPr lang="en-US" sz="1000" dirty="0" smtClean="0">
                  <a:solidFill>
                    <a:prstClr val="black"/>
                  </a:solidFill>
                </a:rPr>
                <a:t>HRD (2%)</a:t>
              </a:r>
            </a:p>
          </p:txBody>
        </p:sp>
        <p:sp>
          <p:nvSpPr>
            <p:cNvPr id="41" name="TextBox 40"/>
            <p:cNvSpPr txBox="1"/>
            <p:nvPr/>
          </p:nvSpPr>
          <p:spPr bwMode="gray">
            <a:xfrm>
              <a:off x="8150444" y="4112833"/>
              <a:ext cx="433588" cy="263569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 defTabSz="457200"/>
              <a:r>
                <a:rPr lang="en-US" sz="1000" dirty="0" smtClean="0">
                  <a:solidFill>
                    <a:prstClr val="black"/>
                  </a:solidFill>
                </a:rPr>
                <a:t>Personal Loan (2%)</a:t>
              </a:r>
            </a:p>
          </p:txBody>
        </p:sp>
        <p:sp>
          <p:nvSpPr>
            <p:cNvPr id="49" name="TextBox 48"/>
            <p:cNvSpPr txBox="1"/>
            <p:nvPr/>
          </p:nvSpPr>
          <p:spPr bwMode="gray">
            <a:xfrm>
              <a:off x="9572188" y="2993174"/>
              <a:ext cx="914400" cy="9144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sz="14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LOW</a:t>
              </a:r>
            </a:p>
          </p:txBody>
        </p:sp>
      </p:grpSp>
      <p:sp>
        <p:nvSpPr>
          <p:cNvPr id="50" name="TextBox 49"/>
          <p:cNvSpPr txBox="1"/>
          <p:nvPr/>
        </p:nvSpPr>
        <p:spPr bwMode="gray">
          <a:xfrm>
            <a:off x="528358" y="1183579"/>
            <a:ext cx="9328200" cy="44811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endParaRPr lang="en-US" sz="1600" dirty="0" smtClean="0">
              <a:solidFill>
                <a:prstClr val="black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346234" y="1762022"/>
            <a:ext cx="3366307" cy="738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US" sz="1200" dirty="0">
                <a:solidFill>
                  <a:prstClr val="black"/>
                </a:solidFill>
              </a:rPr>
              <a:t>Retail, Industrial and Food are the top domains of business, after “Others”</a:t>
            </a:r>
          </a:p>
        </p:txBody>
      </p:sp>
    </p:spTree>
    <p:extLst>
      <p:ext uri="{BB962C8B-B14F-4D97-AF65-F5344CB8AC3E}">
        <p14:creationId xmlns:p14="http://schemas.microsoft.com/office/powerpoint/2010/main" val="182607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Borrower distribution by Legal Constitution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981571"/>
              </p:ext>
            </p:extLst>
          </p:nvPr>
        </p:nvGraphicFramePr>
        <p:xfrm>
          <a:off x="3604086" y="2526578"/>
          <a:ext cx="4502682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0894"/>
                <a:gridCol w="1500894"/>
                <a:gridCol w="1500894"/>
              </a:tblGrid>
              <a:tr h="2733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MICRO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LOW</a:t>
                      </a:r>
                      <a:endParaRPr lang="en-US" sz="1400" dirty="0"/>
                    </a:p>
                  </a:txBody>
                  <a:tcPr/>
                </a:tc>
              </a:tr>
              <a:tr h="2733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39,116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44,196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10,393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715120"/>
              </p:ext>
            </p:extLst>
          </p:nvPr>
        </p:nvGraphicFramePr>
        <p:xfrm>
          <a:off x="4735553" y="1816584"/>
          <a:ext cx="2239749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974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Total 93,711 Borrowers*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7</a:t>
            </a:r>
            <a:endParaRPr lang="en-US" dirty="0">
              <a:solidFill>
                <a:srgbClr val="0E5580"/>
              </a:solidFill>
            </a:endParaRPr>
          </a:p>
        </p:txBody>
      </p:sp>
      <p:graphicFrame>
        <p:nvGraphicFramePr>
          <p:cNvPr id="31" name="Chart 30"/>
          <p:cNvGraphicFramePr/>
          <p:nvPr>
            <p:extLst/>
          </p:nvPr>
        </p:nvGraphicFramePr>
        <p:xfrm>
          <a:off x="332853" y="3275535"/>
          <a:ext cx="3361385" cy="2449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/>
          <p:cNvGraphicFramePr/>
          <p:nvPr>
            <p:extLst/>
          </p:nvPr>
        </p:nvGraphicFramePr>
        <p:xfrm>
          <a:off x="3502055" y="3275534"/>
          <a:ext cx="4817697" cy="3132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3" name="Chart 32"/>
          <p:cNvGraphicFramePr/>
          <p:nvPr>
            <p:extLst/>
          </p:nvPr>
        </p:nvGraphicFramePr>
        <p:xfrm>
          <a:off x="8016615" y="3275535"/>
          <a:ext cx="3361385" cy="2449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 bwMode="gray">
          <a:xfrm>
            <a:off x="2310048" y="4416902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Proprietorship </a:t>
            </a:r>
            <a:r>
              <a:rPr lang="en-US" sz="1000" dirty="0" smtClean="0">
                <a:solidFill>
                  <a:prstClr val="black"/>
                </a:solidFill>
              </a:rPr>
              <a:t>(38%)</a:t>
            </a:r>
          </a:p>
        </p:txBody>
      </p:sp>
      <p:sp>
        <p:nvSpPr>
          <p:cNvPr id="12" name="TextBox 11"/>
          <p:cNvSpPr txBox="1"/>
          <p:nvPr/>
        </p:nvSpPr>
        <p:spPr bwMode="gray">
          <a:xfrm>
            <a:off x="949348" y="3590916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/>
                </a:solidFill>
              </a:rPr>
              <a:t>Public (3%)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005428" y="4378296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/>
                </a:solidFill>
              </a:rPr>
              <a:t>Pvt. (20%)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92239" y="5020582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Partnership </a:t>
            </a:r>
            <a:r>
              <a:rPr lang="en-US" sz="1000" dirty="0" smtClean="0">
                <a:solidFill>
                  <a:prstClr val="black"/>
                </a:solidFill>
              </a:rPr>
              <a:t>(24%)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2058165" y="5327888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Not Classified (11%)</a:t>
            </a:r>
            <a:endParaRPr lang="en-US" sz="1000" dirty="0" smtClean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 bwMode="gray">
          <a:xfrm>
            <a:off x="6166516" y="4814870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Proprietorship </a:t>
            </a:r>
            <a:r>
              <a:rPr lang="en-US" sz="1000" dirty="0" smtClean="0">
                <a:solidFill>
                  <a:prstClr val="black"/>
                </a:solidFill>
              </a:rPr>
              <a:t>(54%)</a:t>
            </a:r>
          </a:p>
        </p:txBody>
      </p:sp>
      <p:sp>
        <p:nvSpPr>
          <p:cNvPr id="17" name="TextBox 16"/>
          <p:cNvSpPr txBox="1"/>
          <p:nvPr/>
        </p:nvSpPr>
        <p:spPr bwMode="gray">
          <a:xfrm>
            <a:off x="4308107" y="4964528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Not Classified </a:t>
            </a:r>
            <a:r>
              <a:rPr lang="en-US" sz="1000" dirty="0" smtClean="0">
                <a:solidFill>
                  <a:prstClr val="black"/>
                </a:solidFill>
              </a:rPr>
              <a:t>(20%)</a:t>
            </a:r>
          </a:p>
        </p:txBody>
      </p:sp>
      <p:sp>
        <p:nvSpPr>
          <p:cNvPr id="18" name="TextBox 17"/>
          <p:cNvSpPr txBox="1"/>
          <p:nvPr/>
        </p:nvSpPr>
        <p:spPr bwMode="gray">
          <a:xfrm>
            <a:off x="4368470" y="4265044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Partnership </a:t>
            </a:r>
            <a:r>
              <a:rPr lang="en-US" sz="1000" dirty="0" smtClean="0">
                <a:solidFill>
                  <a:prstClr val="black"/>
                </a:solidFill>
              </a:rPr>
              <a:t>(14%)</a:t>
            </a:r>
          </a:p>
        </p:txBody>
      </p:sp>
      <p:sp>
        <p:nvSpPr>
          <p:cNvPr id="19" name="TextBox 18"/>
          <p:cNvSpPr txBox="1"/>
          <p:nvPr/>
        </p:nvSpPr>
        <p:spPr bwMode="gray">
          <a:xfrm>
            <a:off x="4844279" y="3688008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/>
                </a:solidFill>
              </a:rPr>
              <a:t>Pvt. (6%)</a:t>
            </a:r>
          </a:p>
        </p:txBody>
      </p:sp>
      <p:sp>
        <p:nvSpPr>
          <p:cNvPr id="20" name="TextBox 19"/>
          <p:cNvSpPr txBox="1"/>
          <p:nvPr/>
        </p:nvSpPr>
        <p:spPr bwMode="gray">
          <a:xfrm>
            <a:off x="9788512" y="4265043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Proprietorship </a:t>
            </a:r>
            <a:r>
              <a:rPr lang="en-US" sz="1000" dirty="0" smtClean="0">
                <a:solidFill>
                  <a:prstClr val="black"/>
                </a:solidFill>
              </a:rPr>
              <a:t>(28%)</a:t>
            </a:r>
          </a:p>
        </p:txBody>
      </p:sp>
      <p:sp>
        <p:nvSpPr>
          <p:cNvPr id="21" name="TextBox 20"/>
          <p:cNvSpPr txBox="1"/>
          <p:nvPr/>
        </p:nvSpPr>
        <p:spPr bwMode="gray">
          <a:xfrm>
            <a:off x="8933621" y="4946654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Not Classified </a:t>
            </a:r>
            <a:r>
              <a:rPr lang="en-US" sz="1000" dirty="0" smtClean="0">
                <a:solidFill>
                  <a:prstClr val="black"/>
                </a:solidFill>
              </a:rPr>
              <a:t>(59%)</a:t>
            </a:r>
          </a:p>
        </p:txBody>
      </p:sp>
      <p:sp>
        <p:nvSpPr>
          <p:cNvPr id="22" name="TextBox 21"/>
          <p:cNvSpPr txBox="1"/>
          <p:nvPr/>
        </p:nvSpPr>
        <p:spPr bwMode="gray">
          <a:xfrm>
            <a:off x="8016615" y="3793846"/>
            <a:ext cx="854891" cy="26356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Partnership </a:t>
            </a:r>
            <a:r>
              <a:rPr lang="en-US" sz="1000" dirty="0" smtClean="0">
                <a:solidFill>
                  <a:prstClr val="black"/>
                </a:solidFill>
              </a:rPr>
              <a:t>(4%)</a:t>
            </a:r>
          </a:p>
        </p:txBody>
      </p:sp>
      <p:sp>
        <p:nvSpPr>
          <p:cNvPr id="23" name="TextBox 22"/>
          <p:cNvSpPr txBox="1"/>
          <p:nvPr/>
        </p:nvSpPr>
        <p:spPr bwMode="gray">
          <a:xfrm>
            <a:off x="8876710" y="6386418"/>
            <a:ext cx="2873479" cy="261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SME: 20CR-50L; MICRO: 50L-10L; LOW: 10L-0</a:t>
            </a:r>
          </a:p>
        </p:txBody>
      </p:sp>
      <p:sp>
        <p:nvSpPr>
          <p:cNvPr id="24" name="TextBox 23"/>
          <p:cNvSpPr txBox="1"/>
          <p:nvPr/>
        </p:nvSpPr>
        <p:spPr bwMode="gray">
          <a:xfrm>
            <a:off x="122829" y="6386418"/>
            <a:ext cx="3739487" cy="261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/>
                </a:solidFill>
              </a:rPr>
              <a:t>*Excluding customer not present in Trade and Enquiry files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10728100" y="5724758"/>
          <a:ext cx="120685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" name="Worksheet" showAsIcon="1" r:id="rId6" imgW="914400" imgH="771480" progId="Excel.Sheet.12">
                  <p:embed/>
                </p:oleObj>
              </mc:Choice>
              <mc:Fallback>
                <p:oleObj name="Worksheet" showAsIcon="1" r:id="rId6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28100" y="5724758"/>
                        <a:ext cx="1206857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4377475" y="2187424"/>
            <a:ext cx="3004400" cy="339154"/>
            <a:chOff x="4377475" y="1852571"/>
            <a:chExt cx="3004400" cy="339154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5855427" y="1852571"/>
              <a:ext cx="0" cy="339154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4377475" y="2009775"/>
              <a:ext cx="0" cy="18195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7377850" y="2009775"/>
              <a:ext cx="0" cy="18195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377475" y="2009775"/>
              <a:ext cx="30044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 bwMode="gray">
          <a:xfrm>
            <a:off x="528358" y="1183579"/>
            <a:ext cx="9328200" cy="44811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endParaRPr lang="en-US" sz="1600" dirty="0" smtClean="0">
              <a:solidFill>
                <a:prstClr val="black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83882" y="1816584"/>
            <a:ext cx="3366307" cy="738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US" sz="1200" dirty="0">
                <a:solidFill>
                  <a:prstClr val="black"/>
                </a:solidFill>
              </a:rPr>
              <a:t>Maximum borrowers have legal constitution as “Proprietorship”</a:t>
            </a:r>
          </a:p>
        </p:txBody>
      </p:sp>
    </p:spTree>
    <p:extLst>
      <p:ext uri="{BB962C8B-B14F-4D97-AF65-F5344CB8AC3E}">
        <p14:creationId xmlns:p14="http://schemas.microsoft.com/office/powerpoint/2010/main" val="145685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Borrower distribution by Location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130123"/>
              </p:ext>
            </p:extLst>
          </p:nvPr>
        </p:nvGraphicFramePr>
        <p:xfrm>
          <a:off x="3604086" y="2462183"/>
          <a:ext cx="4502682" cy="609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0894"/>
                <a:gridCol w="1500894"/>
                <a:gridCol w="1500894"/>
              </a:tblGrid>
              <a:tr h="2733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MICRO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LOW</a:t>
                      </a:r>
                      <a:endParaRPr lang="en-US" sz="1400" dirty="0"/>
                    </a:p>
                  </a:txBody>
                  <a:tcPr/>
                </a:tc>
              </a:tr>
              <a:tr h="2733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39,116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44,196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10,393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5580"/>
              </p:ext>
            </p:extLst>
          </p:nvPr>
        </p:nvGraphicFramePr>
        <p:xfrm>
          <a:off x="4735553" y="1752189"/>
          <a:ext cx="2239749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974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Total 93,711 Borrowers*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0" name="Chart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2280871"/>
              </p:ext>
            </p:extLst>
          </p:nvPr>
        </p:nvGraphicFramePr>
        <p:xfrm>
          <a:off x="0" y="322592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9384486"/>
              </p:ext>
            </p:extLst>
          </p:nvPr>
        </p:nvGraphicFramePr>
        <p:xfrm>
          <a:off x="3604086" y="3157888"/>
          <a:ext cx="4572000" cy="3179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 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5893651"/>
              </p:ext>
            </p:extLst>
          </p:nvPr>
        </p:nvGraphicFramePr>
        <p:xfrm>
          <a:off x="7377850" y="323034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Box 6"/>
          <p:cNvSpPr txBox="1"/>
          <p:nvPr/>
        </p:nvSpPr>
        <p:spPr bwMode="gray">
          <a:xfrm>
            <a:off x="528358" y="1183579"/>
            <a:ext cx="9328200" cy="44811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endParaRPr lang="en-US" sz="1600" dirty="0" smtClean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gray">
          <a:xfrm>
            <a:off x="122829" y="6386418"/>
            <a:ext cx="3739487" cy="261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/>
                </a:solidFill>
              </a:rPr>
              <a:t>*Excluding customer not present in Trade and Enquiry files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377475" y="2123029"/>
            <a:ext cx="3004400" cy="339154"/>
            <a:chOff x="4377475" y="1852571"/>
            <a:chExt cx="3004400" cy="339154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855427" y="1852571"/>
              <a:ext cx="0" cy="339154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4377475" y="2009775"/>
              <a:ext cx="0" cy="18195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377850" y="2009775"/>
              <a:ext cx="0" cy="18195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377475" y="2009775"/>
              <a:ext cx="30044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 bwMode="gray">
          <a:xfrm>
            <a:off x="8876710" y="6386418"/>
            <a:ext cx="2873479" cy="261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SME: 20CR-50L; MICRO: 50L-10L; LOW: 10L-0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10835789" y="569866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" name="Worksheet" showAsIcon="1" r:id="rId6" imgW="914400" imgH="771480" progId="Excel.Sheet.12">
                  <p:embed/>
                </p:oleObj>
              </mc:Choice>
              <mc:Fallback>
                <p:oleObj name="Worksheet" showAsIcon="1" r:id="rId6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835789" y="569866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8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383882" y="1750174"/>
            <a:ext cx="3366307" cy="738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US" sz="1200" dirty="0">
                <a:solidFill>
                  <a:prstClr val="black"/>
                </a:solidFill>
              </a:rPr>
              <a:t>Delhi, Mumbai, Bangalore, Pune, Chennai, Hyderabad and Kolkata cover </a:t>
            </a:r>
            <a:r>
              <a:rPr lang="en-US" sz="1200" dirty="0" smtClean="0">
                <a:solidFill>
                  <a:prstClr val="black"/>
                </a:solidFill>
              </a:rPr>
              <a:t>18K borrowers </a:t>
            </a:r>
            <a:r>
              <a:rPr lang="en-US" sz="1200" dirty="0">
                <a:solidFill>
                  <a:prstClr val="black"/>
                </a:solidFill>
              </a:rPr>
              <a:t>(approx. 20%)</a:t>
            </a:r>
          </a:p>
        </p:txBody>
      </p:sp>
    </p:spTree>
    <p:extLst>
      <p:ext uri="{BB962C8B-B14F-4D97-AF65-F5344CB8AC3E}">
        <p14:creationId xmlns:p14="http://schemas.microsoft.com/office/powerpoint/2010/main" val="363008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build – Objective definition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3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9</a:t>
            </a:r>
            <a:endParaRPr lang="en-US" dirty="0">
              <a:solidFill>
                <a:srgbClr val="0E558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56637"/>
              </p:ext>
            </p:extLst>
          </p:nvPr>
        </p:nvGraphicFramePr>
        <p:xfrm>
          <a:off x="1153552" y="2184562"/>
          <a:ext cx="9931788" cy="191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30"/>
                <a:gridCol w="1168230"/>
                <a:gridCol w="1252457"/>
                <a:gridCol w="1194097"/>
                <a:gridCol w="344014"/>
                <a:gridCol w="1201190"/>
                <a:gridCol w="1201190"/>
                <a:gridCol w="1201190"/>
                <a:gridCol w="1201190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Population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# Borrowers</a:t>
                      </a:r>
                      <a:endParaRPr lang="en-IN" sz="1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% '</a:t>
                      </a:r>
                      <a:r>
                        <a:rPr lang="en-IN" sz="1000" dirty="0" err="1" smtClean="0"/>
                        <a:t>New_Acct_tag</a:t>
                      </a:r>
                      <a:r>
                        <a:rPr lang="en-IN" sz="1000" dirty="0" smtClean="0"/>
                        <a:t>‘ (any facility) Borrowers</a:t>
                      </a:r>
                      <a:endParaRPr lang="en-IN" sz="1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% '</a:t>
                      </a:r>
                      <a:r>
                        <a:rPr lang="en-IN" sz="1000" dirty="0" err="1" smtClean="0"/>
                        <a:t>New_Acct_tag</a:t>
                      </a:r>
                      <a:r>
                        <a:rPr lang="en-IN" sz="1000" dirty="0" smtClean="0"/>
                        <a:t>' - </a:t>
                      </a:r>
                      <a:r>
                        <a:rPr lang="en-IN" sz="1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Fund loan Borrowers</a:t>
                      </a:r>
                      <a:endParaRPr lang="en-IN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 smtClean="0"/>
                        <a:t>% '</a:t>
                      </a:r>
                      <a:r>
                        <a:rPr lang="en-IN" sz="1000" dirty="0" err="1" smtClean="0"/>
                        <a:t>New_Acct_tag</a:t>
                      </a:r>
                      <a:r>
                        <a:rPr lang="en-IN" sz="1000" dirty="0" smtClean="0"/>
                        <a:t>' by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 anchor="ctr"/>
                </a:tc>
              </a:tr>
              <a:tr h="426664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IN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IN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Term</a:t>
                      </a:r>
                      <a:r>
                        <a:rPr lang="en-IN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Loans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IN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Working</a:t>
                      </a:r>
                      <a:r>
                        <a:rPr lang="en-IN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Capital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IN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</a:t>
                      </a:r>
                      <a:r>
                        <a:rPr lang="en-IN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Fund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IN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Foreign</a:t>
                      </a:r>
                      <a:r>
                        <a:rPr lang="en-IN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Exchange</a:t>
                      </a:r>
                      <a:endParaRPr lang="en-I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SME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39,116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12.6%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9.8%</a:t>
                      </a:r>
                      <a:endParaRPr lang="en-IN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3.4%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8.7%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0.0%</a:t>
                      </a:r>
                      <a:endParaRPr lang="en-IN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MICRO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44,196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4.7%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3.9%</a:t>
                      </a:r>
                      <a:endParaRPr lang="en-IN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0.7%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3.9%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0.2%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0.0%</a:t>
                      </a:r>
                      <a:endParaRPr lang="en-IN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LOW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10,393</a:t>
                      </a:r>
                      <a:endParaRPr lang="en-IN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1.0%</a:t>
                      </a:r>
                      <a:endParaRPr lang="en-IN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0.8%</a:t>
                      </a:r>
                      <a:endParaRPr lang="en-IN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0.1%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0.9%</a:t>
                      </a:r>
                      <a:endParaRPr lang="en-IN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0.0%</a:t>
                      </a:r>
                      <a:endParaRPr lang="en-IN" sz="1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0.0%</a:t>
                      </a:r>
                      <a:endParaRPr lang="en-IN" sz="1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 bwMode="gray">
          <a:xfrm>
            <a:off x="1085211" y="1427113"/>
            <a:ext cx="4437614" cy="81592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b="1" dirty="0" smtClean="0"/>
              <a:t>Population as of Dec 14</a:t>
            </a:r>
          </a:p>
          <a:p>
            <a:r>
              <a:rPr lang="en-IN" sz="1200" dirty="0" smtClean="0"/>
              <a:t>Post period performance: Jan to Jun 2015 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336440" y="4238590"/>
            <a:ext cx="10040107" cy="35032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/>
                </a:solidFill>
              </a:rPr>
              <a:t>*</a:t>
            </a:r>
            <a:r>
              <a:rPr lang="en-IN" sz="1000" dirty="0" smtClean="0">
                <a:solidFill>
                  <a:prstClr val="black"/>
                </a:solidFill>
              </a:rPr>
              <a:t>''</a:t>
            </a:r>
            <a:r>
              <a:rPr lang="en-IN" sz="1000" dirty="0" err="1" smtClean="0">
                <a:solidFill>
                  <a:prstClr val="black"/>
                </a:solidFill>
              </a:rPr>
              <a:t>New_Acct_tag</a:t>
            </a:r>
            <a:r>
              <a:rPr lang="en-IN" sz="1000" dirty="0" smtClean="0">
                <a:solidFill>
                  <a:prstClr val="black"/>
                </a:solidFill>
              </a:rPr>
              <a:t>'  is </a:t>
            </a:r>
            <a:r>
              <a:rPr lang="en-IN" sz="1000" dirty="0">
                <a:solidFill>
                  <a:prstClr val="black"/>
                </a:solidFill>
              </a:rPr>
              <a:t>all </a:t>
            </a:r>
            <a:r>
              <a:rPr lang="en-IN" sz="1000" dirty="0" smtClean="0">
                <a:solidFill>
                  <a:prstClr val="black"/>
                </a:solidFill>
              </a:rPr>
              <a:t>borrowers </a:t>
            </a:r>
            <a:r>
              <a:rPr lang="en-IN" sz="10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1000" dirty="0" smtClean="0">
                <a:solidFill>
                  <a:prstClr val="black"/>
                </a:solidFill>
              </a:rPr>
              <a:t>2015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1581" y="4837234"/>
            <a:ext cx="7469824" cy="1027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 smtClean="0">
                <a:solidFill>
                  <a:schemeClr val="tx1"/>
                </a:solidFill>
              </a:rPr>
              <a:t>The ‘New Account’ essentially comprises Working Capital (WC) loan borrowers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200" dirty="0" smtClean="0">
                <a:solidFill>
                  <a:schemeClr val="tx1"/>
                </a:solidFill>
              </a:rPr>
              <a:t>About 70% of ‘New Account’ are WC borrowers.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sz="12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 smtClean="0">
                <a:solidFill>
                  <a:schemeClr val="tx1"/>
                </a:solidFill>
              </a:rPr>
              <a:t>FX loans are an insignificant component of ‘New Account’ borrowing behaviour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7261" y="2243040"/>
            <a:ext cx="1055078" cy="19955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sz="1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82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10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54954" y="1481547"/>
            <a:ext cx="9989861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000" b="1" dirty="0" smtClean="0">
              <a:solidFill>
                <a:prstClr val="black"/>
              </a:solidFill>
            </a:endParaRPr>
          </a:p>
          <a:p>
            <a:pPr algn="l"/>
            <a:endParaRPr lang="en-US" sz="4000" b="1" dirty="0" smtClean="0">
              <a:solidFill>
                <a:prstClr val="black"/>
              </a:solidFill>
            </a:endParaRPr>
          </a:p>
          <a:p>
            <a:pPr algn="l"/>
            <a:r>
              <a:rPr lang="en-US" sz="4000" b="1" dirty="0" smtClean="0">
                <a:solidFill>
                  <a:prstClr val="black"/>
                </a:solidFill>
              </a:rPr>
              <a:t>Exploratory Analysis</a:t>
            </a:r>
          </a:p>
          <a:p>
            <a:pPr algn="l"/>
            <a:r>
              <a:rPr lang="en-US" sz="4000" b="1" dirty="0" smtClean="0">
                <a:solidFill>
                  <a:prstClr val="black"/>
                </a:solidFill>
              </a:rPr>
              <a:t>SME Segment </a:t>
            </a:r>
            <a:r>
              <a:rPr lang="en-US" sz="4000" dirty="0" smtClean="0">
                <a:solidFill>
                  <a:prstClr val="black"/>
                </a:solidFill>
              </a:rPr>
              <a:t>(50L-20CR)</a:t>
            </a:r>
            <a:r>
              <a:rPr lang="en-US" sz="2400" dirty="0" smtClean="0">
                <a:solidFill>
                  <a:prstClr val="black"/>
                </a:solidFill>
              </a:rPr>
              <a:t/>
            </a:r>
            <a:br>
              <a:rPr lang="en-US" sz="2400" dirty="0" smtClean="0">
                <a:solidFill>
                  <a:prstClr val="black"/>
                </a:solidFill>
              </a:rPr>
            </a:br>
            <a:endParaRPr lang="en-IN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40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‘New Account’ – Domain, Legal Constitution, Location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3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11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gray">
          <a:xfrm>
            <a:off x="1799527" y="1211771"/>
            <a:ext cx="2377431" cy="81592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IN" sz="1600" b="1" dirty="0" smtClean="0"/>
              <a:t>Legal Constitution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133389874"/>
              </p:ext>
            </p:extLst>
          </p:nvPr>
        </p:nvGraphicFramePr>
        <p:xfrm>
          <a:off x="771382" y="1825480"/>
          <a:ext cx="5139676" cy="2456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946331479"/>
              </p:ext>
            </p:extLst>
          </p:nvPr>
        </p:nvGraphicFramePr>
        <p:xfrm>
          <a:off x="-481436" y="1834220"/>
          <a:ext cx="3746666" cy="1940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 bwMode="gray">
          <a:xfrm>
            <a:off x="6866170" y="1211770"/>
            <a:ext cx="2377431" cy="81592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IN" sz="1600" b="1" dirty="0" smtClean="0"/>
              <a:t>Location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2582311411"/>
              </p:ext>
            </p:extLst>
          </p:nvPr>
        </p:nvGraphicFramePr>
        <p:xfrm>
          <a:off x="7542240" y="1867002"/>
          <a:ext cx="4235175" cy="2876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393067222"/>
              </p:ext>
            </p:extLst>
          </p:nvPr>
        </p:nvGraphicFramePr>
        <p:xfrm>
          <a:off x="5757529" y="1834221"/>
          <a:ext cx="3746666" cy="2130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/>
          <p:cNvSpPr txBox="1"/>
          <p:nvPr/>
        </p:nvSpPr>
        <p:spPr bwMode="gray">
          <a:xfrm>
            <a:off x="1653655" y="3997008"/>
            <a:ext cx="2377431" cy="53274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IN" sz="1600" b="1" dirty="0" smtClean="0"/>
              <a:t>Domain of Business</a:t>
            </a:r>
          </a:p>
        </p:txBody>
      </p:sp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1568375342"/>
              </p:ext>
            </p:extLst>
          </p:nvPr>
        </p:nvGraphicFramePr>
        <p:xfrm>
          <a:off x="1196499" y="4578929"/>
          <a:ext cx="5107808" cy="2456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394337733"/>
              </p:ext>
            </p:extLst>
          </p:nvPr>
        </p:nvGraphicFramePr>
        <p:xfrm>
          <a:off x="-480577" y="4546147"/>
          <a:ext cx="3746666" cy="1940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Rectangle 15"/>
          <p:cNvSpPr/>
          <p:nvPr/>
        </p:nvSpPr>
        <p:spPr>
          <a:xfrm>
            <a:off x="6866170" y="4529756"/>
            <a:ext cx="4493410" cy="831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 smtClean="0">
                <a:solidFill>
                  <a:schemeClr val="tx1"/>
                </a:solidFill>
              </a:rPr>
              <a:t>No significant variation is seen between 'New Account'  and ‘Other'  borrowers in the above variables</a:t>
            </a:r>
          </a:p>
        </p:txBody>
      </p:sp>
      <p:sp>
        <p:nvSpPr>
          <p:cNvPr id="17" name="TextBox 16"/>
          <p:cNvSpPr txBox="1"/>
          <p:nvPr/>
        </p:nvSpPr>
        <p:spPr bwMode="gray">
          <a:xfrm>
            <a:off x="6866170" y="6277234"/>
            <a:ext cx="4493410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85408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'New Account' Population – Credit Behavior: Volume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3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12</a:t>
            </a:r>
            <a:endParaRPr lang="en-US" dirty="0">
              <a:solidFill>
                <a:srgbClr val="0E5580"/>
              </a:solidFill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455226806"/>
              </p:ext>
            </p:extLst>
          </p:nvPr>
        </p:nvGraphicFramePr>
        <p:xfrm>
          <a:off x="460778" y="1249326"/>
          <a:ext cx="5527899" cy="2873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3845927836"/>
              </p:ext>
            </p:extLst>
          </p:nvPr>
        </p:nvGraphicFramePr>
        <p:xfrm>
          <a:off x="6157883" y="1249326"/>
          <a:ext cx="5527899" cy="2873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 bwMode="gray">
          <a:xfrm>
            <a:off x="5029201" y="1205287"/>
            <a:ext cx="1918952" cy="2188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000" dirty="0" smtClean="0"/>
              <a:t>As of Dec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5332" y="5015743"/>
            <a:ext cx="3366307" cy="738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200" dirty="0" smtClean="0">
                <a:solidFill>
                  <a:prstClr val="black"/>
                </a:solidFill>
              </a:rPr>
              <a:t>'New Account' Borrowers demonstrate higher trade count, balances and credit limit</a:t>
            </a:r>
            <a:endParaRPr lang="en-US" sz="1200" dirty="0">
              <a:solidFill>
                <a:prstClr val="black"/>
              </a:solidFill>
            </a:endParaRPr>
          </a:p>
        </p:txBody>
      </p:sp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2297502638"/>
              </p:ext>
            </p:extLst>
          </p:nvPr>
        </p:nvGraphicFramePr>
        <p:xfrm>
          <a:off x="316112" y="4308776"/>
          <a:ext cx="5527899" cy="2581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Oval 9"/>
          <p:cNvSpPr/>
          <p:nvPr/>
        </p:nvSpPr>
        <p:spPr>
          <a:xfrm>
            <a:off x="844805" y="1956290"/>
            <a:ext cx="857385" cy="102606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845843" y="1702315"/>
            <a:ext cx="857385" cy="689194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25341" y="4829830"/>
            <a:ext cx="857385" cy="642502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 bwMode="gray">
          <a:xfrm>
            <a:off x="10014180" y="4040659"/>
            <a:ext cx="2102039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362065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3016962391"/>
              </p:ext>
            </p:extLst>
          </p:nvPr>
        </p:nvGraphicFramePr>
        <p:xfrm>
          <a:off x="651024" y="1311573"/>
          <a:ext cx="4216398" cy="2745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13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'New Account' Population – Trades by Type</a:t>
            </a:r>
            <a:endParaRPr lang="en-US" dirty="0"/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444034392"/>
              </p:ext>
            </p:extLst>
          </p:nvPr>
        </p:nvGraphicFramePr>
        <p:xfrm>
          <a:off x="5908684" y="1538059"/>
          <a:ext cx="5935924" cy="2222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1793619" y="1331376"/>
            <a:ext cx="2520242" cy="378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Total Trades by Type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7258929" y="1331376"/>
            <a:ext cx="2161169" cy="378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TL trades by Type</a:t>
            </a:r>
            <a:endParaRPr lang="en-IN" dirty="0"/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655143273"/>
              </p:ext>
            </p:extLst>
          </p:nvPr>
        </p:nvGraphicFramePr>
        <p:xfrm>
          <a:off x="422526" y="4628271"/>
          <a:ext cx="6836403" cy="1871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Rectangle 18"/>
          <p:cNvSpPr/>
          <p:nvPr/>
        </p:nvSpPr>
        <p:spPr>
          <a:xfrm>
            <a:off x="1340854" y="4249385"/>
            <a:ext cx="3425234" cy="37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WC trades by Type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692374" y="4362522"/>
            <a:ext cx="4368543" cy="1683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 defTabSz="45720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prstClr val="black"/>
                </a:solidFill>
              </a:rPr>
              <a:t>'New Account' Borrowers demonstrate higher tendency to take a </a:t>
            </a:r>
            <a:r>
              <a:rPr lang="en-US" sz="1200" b="1" dirty="0" smtClean="0">
                <a:solidFill>
                  <a:prstClr val="black"/>
                </a:solidFill>
              </a:rPr>
              <a:t>commercial vehicle loan </a:t>
            </a:r>
            <a:r>
              <a:rPr lang="en-US" sz="1200" dirty="0" smtClean="0">
                <a:solidFill>
                  <a:prstClr val="black"/>
                </a:solidFill>
              </a:rPr>
              <a:t>and a lesser tendency to take a </a:t>
            </a:r>
            <a:r>
              <a:rPr lang="en-US" sz="1200" b="1" dirty="0" smtClean="0">
                <a:solidFill>
                  <a:prstClr val="black"/>
                </a:solidFill>
              </a:rPr>
              <a:t>longer term loan</a:t>
            </a:r>
          </a:p>
          <a:p>
            <a:pPr marL="171450" indent="-171450" algn="ctr" defTabSz="457200">
              <a:buFont typeface="Wingdings" panose="05000000000000000000" pitchFamily="2" charset="2"/>
              <a:buChar char="Ø"/>
            </a:pPr>
            <a:endParaRPr lang="en-US" sz="1200" dirty="0" smtClean="0">
              <a:solidFill>
                <a:prstClr val="black"/>
              </a:solidFill>
            </a:endParaRPr>
          </a:p>
          <a:p>
            <a:pPr marL="171450" indent="-171450" algn="ctr" defTabSz="45720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prstClr val="black"/>
                </a:solidFill>
              </a:rPr>
              <a:t>'New Account‘ </a:t>
            </a:r>
            <a:r>
              <a:rPr lang="en-US" sz="1200" dirty="0">
                <a:solidFill>
                  <a:prstClr val="black"/>
                </a:solidFill>
              </a:rPr>
              <a:t>Borrowers demonstrate higher tendency to take </a:t>
            </a:r>
            <a:r>
              <a:rPr lang="en-US" sz="1200" dirty="0" smtClean="0">
                <a:solidFill>
                  <a:prstClr val="black"/>
                </a:solidFill>
              </a:rPr>
              <a:t>an </a:t>
            </a:r>
            <a:r>
              <a:rPr lang="en-US" sz="1200" b="1" dirty="0" smtClean="0">
                <a:solidFill>
                  <a:prstClr val="black"/>
                </a:solidFill>
              </a:rPr>
              <a:t>Overdraft </a:t>
            </a:r>
            <a:r>
              <a:rPr lang="en-US" sz="1200" dirty="0" smtClean="0">
                <a:solidFill>
                  <a:prstClr val="black"/>
                </a:solidFill>
              </a:rPr>
              <a:t>and a lesser tendency for </a:t>
            </a:r>
            <a:r>
              <a:rPr lang="en-US" sz="1200" b="1" dirty="0" smtClean="0">
                <a:solidFill>
                  <a:prstClr val="black"/>
                </a:solidFill>
              </a:rPr>
              <a:t>Cash Credit</a:t>
            </a: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 bwMode="gray">
          <a:xfrm>
            <a:off x="1715383" y="4697468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47.3 K</a:t>
            </a:r>
          </a:p>
        </p:txBody>
      </p:sp>
      <p:sp>
        <p:nvSpPr>
          <p:cNvPr id="22" name="TextBox 21"/>
          <p:cNvSpPr txBox="1"/>
          <p:nvPr/>
        </p:nvSpPr>
        <p:spPr bwMode="gray">
          <a:xfrm>
            <a:off x="3459000" y="4697467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121.6 K</a:t>
            </a:r>
          </a:p>
        </p:txBody>
      </p:sp>
      <p:sp>
        <p:nvSpPr>
          <p:cNvPr id="23" name="TextBox 22"/>
          <p:cNvSpPr txBox="1"/>
          <p:nvPr/>
        </p:nvSpPr>
        <p:spPr bwMode="gray">
          <a:xfrm>
            <a:off x="1676746" y="1955283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74.7 K</a:t>
            </a:r>
          </a:p>
        </p:txBody>
      </p:sp>
      <p:sp>
        <p:nvSpPr>
          <p:cNvPr id="24" name="TextBox 23"/>
          <p:cNvSpPr txBox="1"/>
          <p:nvPr/>
        </p:nvSpPr>
        <p:spPr bwMode="gray">
          <a:xfrm>
            <a:off x="3402844" y="1944641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198.4 K</a:t>
            </a:r>
          </a:p>
        </p:txBody>
      </p:sp>
      <p:sp>
        <p:nvSpPr>
          <p:cNvPr id="25" name="TextBox 24"/>
          <p:cNvSpPr txBox="1"/>
          <p:nvPr/>
        </p:nvSpPr>
        <p:spPr bwMode="gray">
          <a:xfrm>
            <a:off x="8619463" y="1849134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56.4 K</a:t>
            </a:r>
          </a:p>
        </p:txBody>
      </p:sp>
      <p:sp>
        <p:nvSpPr>
          <p:cNvPr id="26" name="TextBox 25"/>
          <p:cNvSpPr txBox="1"/>
          <p:nvPr/>
        </p:nvSpPr>
        <p:spPr bwMode="gray">
          <a:xfrm>
            <a:off x="7015144" y="1849133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15.3 K</a:t>
            </a:r>
          </a:p>
        </p:txBody>
      </p:sp>
      <p:sp>
        <p:nvSpPr>
          <p:cNvPr id="27" name="TextBox 26"/>
          <p:cNvSpPr txBox="1"/>
          <p:nvPr/>
        </p:nvSpPr>
        <p:spPr bwMode="gray">
          <a:xfrm>
            <a:off x="5029201" y="1205287"/>
            <a:ext cx="1918952" cy="2188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000" dirty="0" smtClean="0"/>
              <a:t>As of Dec 14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757587" y="2605471"/>
            <a:ext cx="718328" cy="728571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3503109" y="2481420"/>
            <a:ext cx="718328" cy="85262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ounded Rectangle 30"/>
          <p:cNvSpPr/>
          <p:nvPr/>
        </p:nvSpPr>
        <p:spPr>
          <a:xfrm>
            <a:off x="7073522" y="2940147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8645498" y="3044377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7073522" y="2460638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8645498" y="2545021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ounded Rectangle 35"/>
          <p:cNvSpPr/>
          <p:nvPr/>
        </p:nvSpPr>
        <p:spPr>
          <a:xfrm>
            <a:off x="1793619" y="5846980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ounded Rectangle 36"/>
          <p:cNvSpPr/>
          <p:nvPr/>
        </p:nvSpPr>
        <p:spPr>
          <a:xfrm>
            <a:off x="3503109" y="5893209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ounded Rectangle 37"/>
          <p:cNvSpPr/>
          <p:nvPr/>
        </p:nvSpPr>
        <p:spPr>
          <a:xfrm>
            <a:off x="1806979" y="5457253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ounded Rectangle 38"/>
          <p:cNvSpPr/>
          <p:nvPr/>
        </p:nvSpPr>
        <p:spPr>
          <a:xfrm>
            <a:off x="3494440" y="5505892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/>
          <p:cNvSpPr txBox="1"/>
          <p:nvPr/>
        </p:nvSpPr>
        <p:spPr bwMode="gray">
          <a:xfrm>
            <a:off x="8461421" y="6223021"/>
            <a:ext cx="3650516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62837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'New Account' Population – Credit Behavior: Recency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3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14</a:t>
            </a:r>
            <a:endParaRPr lang="en-US" dirty="0">
              <a:solidFill>
                <a:srgbClr val="0E5580"/>
              </a:solidFill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583963743"/>
              </p:ext>
            </p:extLst>
          </p:nvPr>
        </p:nvGraphicFramePr>
        <p:xfrm>
          <a:off x="460778" y="1249326"/>
          <a:ext cx="5527899" cy="2873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224539423"/>
              </p:ext>
            </p:extLst>
          </p:nvPr>
        </p:nvGraphicFramePr>
        <p:xfrm>
          <a:off x="6157883" y="1249326"/>
          <a:ext cx="5527899" cy="2873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/>
          <p:cNvGraphicFramePr/>
          <p:nvPr>
            <p:extLst/>
          </p:nvPr>
        </p:nvGraphicFramePr>
        <p:xfrm>
          <a:off x="6157882" y="4308776"/>
          <a:ext cx="5527899" cy="2581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/>
          <p:nvPr>
            <p:extLst/>
          </p:nvPr>
        </p:nvGraphicFramePr>
        <p:xfrm>
          <a:off x="460778" y="4308776"/>
          <a:ext cx="5527899" cy="2581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ectangle 9"/>
          <p:cNvSpPr/>
          <p:nvPr/>
        </p:nvSpPr>
        <p:spPr>
          <a:xfrm>
            <a:off x="4605346" y="3773879"/>
            <a:ext cx="3315162" cy="5348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200" dirty="0" smtClean="0">
                <a:solidFill>
                  <a:prstClr val="black"/>
                </a:solidFill>
              </a:rPr>
              <a:t>'New Account' Borrowers demonstrate more credit activity in the immediate past 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 bwMode="gray">
          <a:xfrm>
            <a:off x="5029201" y="1205287"/>
            <a:ext cx="1918952" cy="2188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000" dirty="0" smtClean="0"/>
              <a:t>As of Dec 14</a:t>
            </a:r>
          </a:p>
        </p:txBody>
      </p:sp>
      <p:sp>
        <p:nvSpPr>
          <p:cNvPr id="12" name="Oval 11"/>
          <p:cNvSpPr/>
          <p:nvPr/>
        </p:nvSpPr>
        <p:spPr>
          <a:xfrm>
            <a:off x="915143" y="1843748"/>
            <a:ext cx="857385" cy="1223009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10675" y="1784223"/>
            <a:ext cx="771812" cy="860503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0716" y="4928306"/>
            <a:ext cx="771812" cy="860503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709857" y="4993786"/>
            <a:ext cx="703817" cy="795024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 bwMode="gray">
          <a:xfrm>
            <a:off x="10014180" y="4040659"/>
            <a:ext cx="2102039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12285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29466808"/>
              </p:ext>
            </p:extLst>
          </p:nvPr>
        </p:nvGraphicFramePr>
        <p:xfrm>
          <a:off x="651024" y="1311573"/>
          <a:ext cx="4216398" cy="2745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15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'New Account' Population – Recent Trades by Type</a:t>
            </a:r>
            <a:endParaRPr lang="en-US" dirty="0"/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881766529"/>
              </p:ext>
            </p:extLst>
          </p:nvPr>
        </p:nvGraphicFramePr>
        <p:xfrm>
          <a:off x="5908684" y="1538059"/>
          <a:ext cx="5935924" cy="2222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946435" y="1331376"/>
            <a:ext cx="4214615" cy="378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Total Trades last 12 months by Type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6411744" y="1331376"/>
            <a:ext cx="3855544" cy="378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TL trades last 12 months by Type</a:t>
            </a:r>
            <a:endParaRPr lang="en-IN" dirty="0"/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053732445"/>
              </p:ext>
            </p:extLst>
          </p:nvPr>
        </p:nvGraphicFramePr>
        <p:xfrm>
          <a:off x="422526" y="4628271"/>
          <a:ext cx="6836403" cy="1871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Rectangle 18"/>
          <p:cNvSpPr/>
          <p:nvPr/>
        </p:nvSpPr>
        <p:spPr>
          <a:xfrm>
            <a:off x="929453" y="4249385"/>
            <a:ext cx="4248577" cy="37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WC trades last 12 months by Type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589343" y="4135648"/>
            <a:ext cx="4368543" cy="21367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 defTabSz="45720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prstClr val="black"/>
                </a:solidFill>
              </a:rPr>
              <a:t>'New Account' Borrowers have a much lesser tendency to take a </a:t>
            </a:r>
            <a:r>
              <a:rPr lang="en-US" sz="1200" b="1" dirty="0" smtClean="0">
                <a:solidFill>
                  <a:prstClr val="black"/>
                </a:solidFill>
              </a:rPr>
              <a:t>Term Loan</a:t>
            </a:r>
            <a:endParaRPr lang="en-US" sz="1200" b="1" dirty="0">
              <a:solidFill>
                <a:prstClr val="black"/>
              </a:solidFill>
            </a:endParaRPr>
          </a:p>
          <a:p>
            <a:pPr marL="171450" indent="-171450" algn="ctr" defTabSz="457200">
              <a:buFont typeface="Wingdings" panose="05000000000000000000" pitchFamily="2" charset="2"/>
              <a:buChar char="Ø"/>
            </a:pPr>
            <a:endParaRPr lang="en-US" sz="1200" dirty="0" smtClean="0">
              <a:solidFill>
                <a:prstClr val="black"/>
              </a:solidFill>
            </a:endParaRPr>
          </a:p>
          <a:p>
            <a:pPr marL="171450" indent="-171450" algn="ctr" defTabSz="45720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prstClr val="black"/>
                </a:solidFill>
              </a:rPr>
              <a:t>'New Account' Borrowers demonstrate higher tendency to take a </a:t>
            </a:r>
            <a:r>
              <a:rPr lang="en-US" sz="1200" b="1" dirty="0" smtClean="0">
                <a:solidFill>
                  <a:prstClr val="black"/>
                </a:solidFill>
              </a:rPr>
              <a:t>commercial vehicle loan </a:t>
            </a:r>
            <a:r>
              <a:rPr lang="en-US" sz="1200" dirty="0" smtClean="0">
                <a:solidFill>
                  <a:prstClr val="black"/>
                </a:solidFill>
              </a:rPr>
              <a:t>and a lesser tendency to take a </a:t>
            </a:r>
            <a:r>
              <a:rPr lang="en-US" sz="1200" b="1" dirty="0" smtClean="0">
                <a:solidFill>
                  <a:prstClr val="black"/>
                </a:solidFill>
              </a:rPr>
              <a:t>longer term loan</a:t>
            </a:r>
          </a:p>
          <a:p>
            <a:pPr marL="171450" indent="-171450" algn="ctr" defTabSz="457200">
              <a:buFont typeface="Wingdings" panose="05000000000000000000" pitchFamily="2" charset="2"/>
              <a:buChar char="Ø"/>
            </a:pPr>
            <a:endParaRPr lang="en-US" sz="1200" dirty="0" smtClean="0">
              <a:solidFill>
                <a:prstClr val="black"/>
              </a:solidFill>
            </a:endParaRPr>
          </a:p>
          <a:p>
            <a:pPr marL="171450" indent="-171450" algn="ctr" defTabSz="45720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prstClr val="black"/>
                </a:solidFill>
              </a:rPr>
              <a:t>'New Account' </a:t>
            </a:r>
            <a:r>
              <a:rPr lang="en-US" sz="1200" dirty="0">
                <a:solidFill>
                  <a:prstClr val="black"/>
                </a:solidFill>
              </a:rPr>
              <a:t>Borrowers demonstrate higher tendency to take </a:t>
            </a:r>
            <a:r>
              <a:rPr lang="en-US" sz="1200" dirty="0" smtClean="0">
                <a:solidFill>
                  <a:prstClr val="black"/>
                </a:solidFill>
              </a:rPr>
              <a:t>a ‘</a:t>
            </a:r>
            <a:r>
              <a:rPr lang="en-US" sz="1200" b="1" dirty="0" smtClean="0">
                <a:solidFill>
                  <a:prstClr val="black"/>
                </a:solidFill>
              </a:rPr>
              <a:t>Packing Credit</a:t>
            </a:r>
            <a:r>
              <a:rPr lang="en-US" sz="1200" dirty="0" smtClean="0">
                <a:solidFill>
                  <a:prstClr val="black"/>
                </a:solidFill>
              </a:rPr>
              <a:t>’ and a lesser tendency for </a:t>
            </a:r>
            <a:r>
              <a:rPr lang="en-US" sz="1200" b="1" dirty="0" smtClean="0">
                <a:solidFill>
                  <a:prstClr val="black"/>
                </a:solidFill>
              </a:rPr>
              <a:t>Cash Credit</a:t>
            </a: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 bwMode="gray">
          <a:xfrm>
            <a:off x="1676746" y="1955283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13.7 K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3402844" y="1944641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18.0 K</a:t>
            </a:r>
          </a:p>
        </p:txBody>
      </p:sp>
      <p:sp>
        <p:nvSpPr>
          <p:cNvPr id="21" name="TextBox 20"/>
          <p:cNvSpPr txBox="1"/>
          <p:nvPr/>
        </p:nvSpPr>
        <p:spPr bwMode="gray">
          <a:xfrm>
            <a:off x="3457181" y="4697469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10.3 K</a:t>
            </a:r>
          </a:p>
        </p:txBody>
      </p:sp>
      <p:sp>
        <p:nvSpPr>
          <p:cNvPr id="22" name="TextBox 21"/>
          <p:cNvSpPr txBox="1"/>
          <p:nvPr/>
        </p:nvSpPr>
        <p:spPr bwMode="gray">
          <a:xfrm>
            <a:off x="1715383" y="4697468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7.9 K</a:t>
            </a:r>
          </a:p>
        </p:txBody>
      </p:sp>
      <p:sp>
        <p:nvSpPr>
          <p:cNvPr id="23" name="TextBox 22"/>
          <p:cNvSpPr txBox="1"/>
          <p:nvPr/>
        </p:nvSpPr>
        <p:spPr bwMode="gray">
          <a:xfrm>
            <a:off x="8619463" y="1849134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5.8 K</a:t>
            </a:r>
          </a:p>
        </p:txBody>
      </p:sp>
      <p:sp>
        <p:nvSpPr>
          <p:cNvPr id="24" name="TextBox 23"/>
          <p:cNvSpPr txBox="1"/>
          <p:nvPr/>
        </p:nvSpPr>
        <p:spPr bwMode="gray">
          <a:xfrm>
            <a:off x="7015144" y="1849133"/>
            <a:ext cx="901521" cy="15789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dirty="0" smtClean="0"/>
              <a:t>2.5 K</a:t>
            </a:r>
          </a:p>
        </p:txBody>
      </p:sp>
      <p:sp>
        <p:nvSpPr>
          <p:cNvPr id="25" name="TextBox 24"/>
          <p:cNvSpPr txBox="1"/>
          <p:nvPr/>
        </p:nvSpPr>
        <p:spPr bwMode="gray">
          <a:xfrm>
            <a:off x="5029201" y="1205287"/>
            <a:ext cx="1918952" cy="2188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000" dirty="0" smtClean="0"/>
              <a:t>As of Dec 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06979" y="5457253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3494440" y="5505892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1806979" y="5873195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ounded Rectangle 28"/>
          <p:cNvSpPr/>
          <p:nvPr/>
        </p:nvSpPr>
        <p:spPr>
          <a:xfrm>
            <a:off x="3494440" y="5921834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ounded Rectangle 29"/>
          <p:cNvSpPr/>
          <p:nvPr/>
        </p:nvSpPr>
        <p:spPr>
          <a:xfrm>
            <a:off x="1738068" y="3095519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ounded Rectangle 30"/>
          <p:cNvSpPr/>
          <p:nvPr/>
        </p:nvSpPr>
        <p:spPr>
          <a:xfrm>
            <a:off x="3483590" y="3030060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7099273" y="2772214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8688537" y="2886893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7099273" y="2300948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8669738" y="2408588"/>
            <a:ext cx="718328" cy="2896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/>
          <p:cNvSpPr txBox="1"/>
          <p:nvPr/>
        </p:nvSpPr>
        <p:spPr bwMode="gray">
          <a:xfrm>
            <a:off x="8589123" y="6297093"/>
            <a:ext cx="3296844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72576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629984" y="542362"/>
            <a:ext cx="9785683" cy="706964"/>
          </a:xfrm>
        </p:spPr>
        <p:txBody>
          <a:bodyPr/>
          <a:lstStyle/>
          <a:p>
            <a:r>
              <a:rPr lang="en-US" dirty="0" smtClean="0"/>
              <a:t>'New Account' Population – Credit Behavior: Increase</a:t>
            </a:r>
            <a:endParaRPr lang="en-US" dirty="0"/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2938463470"/>
              </p:ext>
            </p:extLst>
          </p:nvPr>
        </p:nvGraphicFramePr>
        <p:xfrm>
          <a:off x="460778" y="1249326"/>
          <a:ext cx="5527899" cy="2873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315161822"/>
              </p:ext>
            </p:extLst>
          </p:nvPr>
        </p:nvGraphicFramePr>
        <p:xfrm>
          <a:off x="6157883" y="1249326"/>
          <a:ext cx="5527899" cy="2873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/>
          <p:nvPr>
            <p:extLst/>
          </p:nvPr>
        </p:nvGraphicFramePr>
        <p:xfrm>
          <a:off x="6157882" y="4308776"/>
          <a:ext cx="5527899" cy="2581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/>
          <p:cNvGraphicFramePr/>
          <p:nvPr>
            <p:extLst/>
          </p:nvPr>
        </p:nvGraphicFramePr>
        <p:xfrm>
          <a:off x="460778" y="4308776"/>
          <a:ext cx="5527899" cy="2581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16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5346" y="3773879"/>
            <a:ext cx="3315162" cy="5348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200" dirty="0" smtClean="0">
                <a:solidFill>
                  <a:prstClr val="black"/>
                </a:solidFill>
              </a:rPr>
              <a:t>'New Account' Borrowers demonstrate higher increase in credit activity in the immediate past 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 bwMode="gray">
          <a:xfrm>
            <a:off x="5029201" y="1205287"/>
            <a:ext cx="1918952" cy="2188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000" dirty="0" smtClean="0"/>
              <a:t>As of Dec 14</a:t>
            </a:r>
          </a:p>
        </p:txBody>
      </p:sp>
      <p:sp>
        <p:nvSpPr>
          <p:cNvPr id="15" name="Oval 14"/>
          <p:cNvSpPr/>
          <p:nvPr/>
        </p:nvSpPr>
        <p:spPr>
          <a:xfrm>
            <a:off x="6948153" y="1807143"/>
            <a:ext cx="857385" cy="823515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7346" y="5106572"/>
            <a:ext cx="857385" cy="78779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705165" y="4969301"/>
            <a:ext cx="857385" cy="1503291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 bwMode="gray">
          <a:xfrm>
            <a:off x="10014180" y="4040659"/>
            <a:ext cx="2102039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220553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629984" y="542362"/>
            <a:ext cx="9785683" cy="706964"/>
          </a:xfrm>
        </p:spPr>
        <p:txBody>
          <a:bodyPr/>
          <a:lstStyle/>
          <a:p>
            <a:r>
              <a:rPr lang="en-US" dirty="0" smtClean="0"/>
              <a:t>'New Account' Population – Credit Behavior: Trade count trend</a:t>
            </a:r>
            <a:endParaRPr lang="en-US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765336432"/>
              </p:ext>
            </p:extLst>
          </p:nvPr>
        </p:nvGraphicFramePr>
        <p:xfrm>
          <a:off x="6414150" y="1535922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275730920"/>
              </p:ext>
            </p:extLst>
          </p:nvPr>
        </p:nvGraphicFramePr>
        <p:xfrm>
          <a:off x="629984" y="1514570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572593705"/>
              </p:ext>
            </p:extLst>
          </p:nvPr>
        </p:nvGraphicFramePr>
        <p:xfrm>
          <a:off x="629984" y="4273911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4118945039"/>
              </p:ext>
            </p:extLst>
          </p:nvPr>
        </p:nvGraphicFramePr>
        <p:xfrm>
          <a:off x="6414150" y="4295262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17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5346" y="3773879"/>
            <a:ext cx="3315162" cy="5348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200" dirty="0" smtClean="0">
                <a:solidFill>
                  <a:prstClr val="black"/>
                </a:solidFill>
              </a:rPr>
              <a:t>'New Account' Borrowers demonstrate increase in trades across categories in the immediate past 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gray">
          <a:xfrm>
            <a:off x="5303451" y="1178836"/>
            <a:ext cx="1918952" cy="2188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000" dirty="0" smtClean="0"/>
              <a:t>As of Dec 14</a:t>
            </a:r>
          </a:p>
        </p:txBody>
      </p:sp>
      <p:sp>
        <p:nvSpPr>
          <p:cNvPr id="2" name="TextBox 1"/>
          <p:cNvSpPr txBox="1"/>
          <p:nvPr/>
        </p:nvSpPr>
        <p:spPr bwMode="gray">
          <a:xfrm>
            <a:off x="1068946" y="3622834"/>
            <a:ext cx="1159099" cy="2939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800" dirty="0" smtClean="0"/>
              <a:t>Last 12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7864" y="2034176"/>
            <a:ext cx="1591173" cy="1187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197851" y="2034176"/>
            <a:ext cx="1591173" cy="1187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05346" y="4965895"/>
            <a:ext cx="1591173" cy="135781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197851" y="4916619"/>
            <a:ext cx="1591173" cy="1407093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 bwMode="gray">
          <a:xfrm>
            <a:off x="10014180" y="4040659"/>
            <a:ext cx="2102039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36652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629984" y="542362"/>
            <a:ext cx="9785683" cy="706964"/>
          </a:xfrm>
        </p:spPr>
        <p:txBody>
          <a:bodyPr/>
          <a:lstStyle/>
          <a:p>
            <a:r>
              <a:rPr lang="en-US" dirty="0" smtClean="0"/>
              <a:t>'New Account' Population – Credit Behavior: Enquiries trend</a:t>
            </a:r>
            <a:endParaRPr lang="en-US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903811298"/>
              </p:ext>
            </p:extLst>
          </p:nvPr>
        </p:nvGraphicFramePr>
        <p:xfrm>
          <a:off x="6414150" y="1535922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1116468740"/>
              </p:ext>
            </p:extLst>
          </p:nvPr>
        </p:nvGraphicFramePr>
        <p:xfrm>
          <a:off x="629984" y="1514570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410359574"/>
              </p:ext>
            </p:extLst>
          </p:nvPr>
        </p:nvGraphicFramePr>
        <p:xfrm>
          <a:off x="629984" y="4273911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552053517"/>
              </p:ext>
            </p:extLst>
          </p:nvPr>
        </p:nvGraphicFramePr>
        <p:xfrm>
          <a:off x="6414150" y="4293999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18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gray">
          <a:xfrm>
            <a:off x="5303451" y="1178836"/>
            <a:ext cx="1918952" cy="2188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000" dirty="0" smtClean="0"/>
              <a:t>As of Dec 14</a:t>
            </a:r>
          </a:p>
        </p:txBody>
      </p:sp>
      <p:sp>
        <p:nvSpPr>
          <p:cNvPr id="12" name="TextBox 11"/>
          <p:cNvSpPr txBox="1"/>
          <p:nvPr/>
        </p:nvSpPr>
        <p:spPr bwMode="gray">
          <a:xfrm>
            <a:off x="1068946" y="3622834"/>
            <a:ext cx="1159099" cy="2939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800" dirty="0" smtClean="0"/>
              <a:t>Last 12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5346" y="3773879"/>
            <a:ext cx="3315162" cy="6859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US" sz="1200" dirty="0" smtClean="0">
                <a:solidFill>
                  <a:prstClr val="black"/>
                </a:solidFill>
              </a:rPr>
              <a:t>'New Account' borrowers demonstrate an increasing trend with respect to enquiries in the immediate past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864" y="2034176"/>
            <a:ext cx="1591173" cy="1187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197851" y="2034176"/>
            <a:ext cx="1591173" cy="1187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07863" y="4861153"/>
            <a:ext cx="1591173" cy="1187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197851" y="4861153"/>
            <a:ext cx="1591173" cy="118732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 bwMode="gray">
          <a:xfrm>
            <a:off x="10014180" y="4040659"/>
            <a:ext cx="2102039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245320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629984" y="542362"/>
            <a:ext cx="9785683" cy="706964"/>
          </a:xfrm>
        </p:spPr>
        <p:txBody>
          <a:bodyPr/>
          <a:lstStyle/>
          <a:p>
            <a:r>
              <a:rPr lang="en-US" dirty="0" smtClean="0"/>
              <a:t>'New Account' Population – Additional Profiling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77745"/>
              </p:ext>
            </p:extLst>
          </p:nvPr>
        </p:nvGraphicFramePr>
        <p:xfrm>
          <a:off x="1744892" y="2529492"/>
          <a:ext cx="783530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768"/>
                <a:gridCol w="2611768"/>
                <a:gridCol w="2611768"/>
              </a:tblGrid>
              <a:tr h="240966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'New Account' 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Others</a:t>
                      </a:r>
                      <a:endParaRPr lang="en-IN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4096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# Borrowers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4,944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34,172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0966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Avg. Months since first trade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93.35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79.60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096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Avg. Months since</a:t>
                      </a:r>
                      <a:r>
                        <a:rPr lang="en-IN" sz="1200" baseline="0" dirty="0" smtClean="0"/>
                        <a:t> last trade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17.90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30.39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 bwMode="gray">
          <a:xfrm>
            <a:off x="1641861" y="1889986"/>
            <a:ext cx="4437614" cy="81592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b="1" dirty="0" smtClean="0"/>
              <a:t>Population as of Dec 14</a:t>
            </a:r>
          </a:p>
          <a:p>
            <a:r>
              <a:rPr lang="en-IN" sz="1200" dirty="0" smtClean="0"/>
              <a:t>Metrics of Dec 14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19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6594176" y="6386419"/>
            <a:ext cx="2873479" cy="26100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*Delinquent Account Status: 2, 3, 4, 5, Greater than 1000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7750" y="4146207"/>
            <a:ext cx="6632619" cy="5735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sz="1200" dirty="0">
              <a:solidFill>
                <a:prstClr val="black"/>
              </a:solidFill>
            </a:endParaRPr>
          </a:p>
          <a:p>
            <a:pPr defTabSz="457200"/>
            <a:r>
              <a:rPr lang="en-IN" sz="1200" dirty="0">
                <a:solidFill>
                  <a:schemeClr val="tx1"/>
                </a:solidFill>
              </a:rPr>
              <a:t>'New Account' </a:t>
            </a:r>
            <a:r>
              <a:rPr lang="en-US" sz="1200" dirty="0" smtClean="0">
                <a:solidFill>
                  <a:prstClr val="black"/>
                </a:solidFill>
              </a:rPr>
              <a:t>borrowers are of a higher vintage, and also are active more recently</a:t>
            </a:r>
          </a:p>
          <a:p>
            <a:pPr defTabSz="457200"/>
            <a:endParaRPr lang="en-US" sz="1200" dirty="0" smtClean="0">
              <a:solidFill>
                <a:prstClr val="black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88472" y="3028910"/>
            <a:ext cx="3605362" cy="69902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sz="120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gray">
          <a:xfrm>
            <a:off x="6207617" y="4906938"/>
            <a:ext cx="3372579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362544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Appendix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20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94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Extraction </a:t>
            </a:r>
            <a:r>
              <a:rPr lang="en-IN" dirty="0" smtClean="0"/>
              <a:t>Summary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21</a:t>
            </a:fld>
            <a:endParaRPr lang="en-US" dirty="0">
              <a:solidFill>
                <a:srgbClr val="0E5580"/>
              </a:solidFill>
            </a:endParaRPr>
          </a:p>
        </p:txBody>
      </p:sp>
      <p:graphicFrame>
        <p:nvGraphicFramePr>
          <p:cNvPr id="8" name="Chart 7"/>
          <p:cNvGraphicFramePr/>
          <p:nvPr>
            <p:extLst/>
          </p:nvPr>
        </p:nvGraphicFramePr>
        <p:xfrm>
          <a:off x="386079" y="1439332"/>
          <a:ext cx="7576235" cy="4877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942535" y="6443003"/>
            <a:ext cx="253219" cy="19000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2881532" y="6426591"/>
            <a:ext cx="253219" cy="19000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221542" y="6454726"/>
            <a:ext cx="1437252" cy="1782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ysClr val="windowText" lastClr="000000"/>
                </a:solidFill>
              </a:rPr>
              <a:t>Filtered out Data</a:t>
            </a:r>
            <a:endParaRPr lang="en-IN" sz="12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60539" y="6438313"/>
            <a:ext cx="1437252" cy="1782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ysClr val="windowText" lastClr="000000"/>
                </a:solidFill>
              </a:rPr>
              <a:t>Data of Interest</a:t>
            </a:r>
            <a:endParaRPr lang="en-IN" sz="12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9" name="Chart 18"/>
          <p:cNvGraphicFramePr/>
          <p:nvPr>
            <p:extLst/>
          </p:nvPr>
        </p:nvGraphicFramePr>
        <p:xfrm>
          <a:off x="7920000" y="4784400"/>
          <a:ext cx="4172260" cy="141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Box 25"/>
          <p:cNvSpPr txBox="1"/>
          <p:nvPr/>
        </p:nvSpPr>
        <p:spPr bwMode="gray">
          <a:xfrm>
            <a:off x="175845" y="4881488"/>
            <a:ext cx="1533379" cy="81592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dirty="0" smtClean="0"/>
              <a:t>Maximum Exposure over last 100 months</a:t>
            </a:r>
          </a:p>
        </p:txBody>
      </p:sp>
      <p:sp>
        <p:nvSpPr>
          <p:cNvPr id="27" name="Left Brace 26"/>
          <p:cNvSpPr/>
          <p:nvPr/>
        </p:nvSpPr>
        <p:spPr>
          <a:xfrm>
            <a:off x="1709224" y="4037428"/>
            <a:ext cx="358727" cy="2278966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064000" y="4023362"/>
            <a:ext cx="3710658" cy="75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rgbClr val="92D050"/>
                </a:solidFill>
              </a:rPr>
              <a:t>Borrower Count Across tags in the received CIBIL Data</a:t>
            </a:r>
          </a:p>
        </p:txBody>
      </p:sp>
      <p:sp>
        <p:nvSpPr>
          <p:cNvPr id="7" name="TextBox 6"/>
          <p:cNvSpPr txBox="1"/>
          <p:nvPr/>
        </p:nvSpPr>
        <p:spPr bwMode="gray">
          <a:xfrm>
            <a:off x="8064000" y="4925896"/>
            <a:ext cx="2598957" cy="2227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dirty="0" smtClean="0"/>
              <a:t>SME (50L-20CR): 39286 Borrowers </a:t>
            </a:r>
          </a:p>
        </p:txBody>
      </p:sp>
      <p:sp>
        <p:nvSpPr>
          <p:cNvPr id="24" name="TextBox 23"/>
          <p:cNvSpPr txBox="1"/>
          <p:nvPr/>
        </p:nvSpPr>
        <p:spPr bwMode="gray">
          <a:xfrm>
            <a:off x="8064000" y="5367504"/>
            <a:ext cx="2713843" cy="22507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dirty="0" smtClean="0"/>
              <a:t>MICRO (10L-50L): 44984 Borrowers </a:t>
            </a:r>
          </a:p>
        </p:txBody>
      </p:sp>
      <p:sp>
        <p:nvSpPr>
          <p:cNvPr id="25" name="TextBox 24"/>
          <p:cNvSpPr txBox="1"/>
          <p:nvPr/>
        </p:nvSpPr>
        <p:spPr bwMode="gray">
          <a:xfrm>
            <a:off x="8064000" y="5811451"/>
            <a:ext cx="2432492" cy="25286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dirty="0" smtClean="0"/>
              <a:t>LOW (0L-10L): 10498 Borrowers </a:t>
            </a:r>
          </a:p>
        </p:txBody>
      </p:sp>
      <p:sp>
        <p:nvSpPr>
          <p:cNvPr id="31" name="TextBox 30"/>
          <p:cNvSpPr txBox="1"/>
          <p:nvPr/>
        </p:nvSpPr>
        <p:spPr bwMode="gray">
          <a:xfrm>
            <a:off x="6240783" y="5736996"/>
            <a:ext cx="1416007" cy="2411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dirty="0" smtClean="0"/>
              <a:t>1 in 300 Sample</a:t>
            </a:r>
          </a:p>
        </p:txBody>
      </p:sp>
      <p:sp>
        <p:nvSpPr>
          <p:cNvPr id="32" name="TextBox 31"/>
          <p:cNvSpPr txBox="1"/>
          <p:nvPr/>
        </p:nvSpPr>
        <p:spPr bwMode="gray">
          <a:xfrm>
            <a:off x="6240784" y="5289451"/>
            <a:ext cx="1416007" cy="2411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dirty="0" smtClean="0"/>
              <a:t>1 in 20 Sample</a:t>
            </a:r>
          </a:p>
        </p:txBody>
      </p:sp>
      <p:sp>
        <p:nvSpPr>
          <p:cNvPr id="33" name="TextBox 32"/>
          <p:cNvSpPr txBox="1"/>
          <p:nvPr/>
        </p:nvSpPr>
        <p:spPr bwMode="gray">
          <a:xfrm>
            <a:off x="6240784" y="4778362"/>
            <a:ext cx="1416007" cy="2411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dirty="0" smtClean="0"/>
              <a:t>1 in 13 Sample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697415" y="5037266"/>
            <a:ext cx="222258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666933" y="5513223"/>
            <a:ext cx="222258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692722" y="5989179"/>
            <a:ext cx="222258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89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CIBIL Data Received Status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22</a:t>
            </a:fld>
            <a:endParaRPr lang="en-US" dirty="0">
              <a:solidFill>
                <a:srgbClr val="0E558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467151" y="1831998"/>
          <a:ext cx="11278381" cy="1356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837"/>
                <a:gridCol w="1631852"/>
                <a:gridCol w="2331518"/>
                <a:gridCol w="2067435"/>
                <a:gridCol w="1907170"/>
                <a:gridCol w="2147569"/>
              </a:tblGrid>
              <a:tr h="53617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CIBIL Data </a:t>
                      </a:r>
                      <a:r>
                        <a:rPr lang="en-IN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Files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Columns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Rows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Numeric Columns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Character </a:t>
                      </a:r>
                      <a:r>
                        <a:rPr lang="en-IN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Columns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  <a:r>
                        <a:rPr lang="en-IN" sz="15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of </a:t>
                      </a:r>
                      <a:r>
                        <a:rPr lang="en-IN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Distinct </a:t>
                      </a:r>
                      <a:r>
                        <a:rPr lang="en-IN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Borrower ID</a:t>
                      </a: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</a:tr>
              <a:tr h="2735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Borrower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94774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94774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735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Enquiry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106711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30546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735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389441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93492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76520" y="1495139"/>
            <a:ext cx="6297767" cy="298245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CIBIL Data Overview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467151" y="4039778"/>
            <a:ext cx="6274157" cy="243634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Not Disclosed Columns 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0114816" y="2662350"/>
            <a:ext cx="922378" cy="2124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467151" y="4363777"/>
            <a:ext cx="11269012" cy="16290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Trade and Enquiry table 10 Columns are not disclosed</a:t>
            </a:r>
          </a:p>
          <a:p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Name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searched in bureau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Type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of Identifier (By default DUNS),Value of ID (by Default DUNS ID),Name of borrower as per bureau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DUNS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Number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Short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Name as per bureau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PAN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Number as reported to Bureau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Telephone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number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Fax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Number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Name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of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Institution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( Except own trade or suit filed account, other trades reported as 'Not 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Disclosed‘</a:t>
            </a:r>
          </a:p>
          <a:p>
            <a:endParaRPr lang="en-IN" sz="15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</a:rPr>
              <a:t>Trade and Enquiry table 10 Columns are not disclosed</a:t>
            </a:r>
          </a:p>
          <a:p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Name of borrower as per bureau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DUNS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Number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Borrowers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latest status</a:t>
            </a:r>
            <a:r>
              <a:rPr lang="en-IN" sz="1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Borrower </a:t>
            </a:r>
            <a:r>
              <a:rPr lang="en-IN" sz="1500" dirty="0">
                <a:solidFill>
                  <a:schemeClr val="tx1"/>
                </a:solidFill>
                <a:latin typeface="Calibri" panose="020F0502020204030204" pitchFamily="34" charset="0"/>
              </a:rPr>
              <a:t>last 12 month status, 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829994" y="5359791"/>
            <a:ext cx="1434904" cy="63304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val="7762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629984" y="542362"/>
            <a:ext cx="9785683" cy="706964"/>
          </a:xfrm>
        </p:spPr>
        <p:txBody>
          <a:bodyPr/>
          <a:lstStyle/>
          <a:p>
            <a:r>
              <a:rPr lang="en-US" dirty="0" smtClean="0"/>
              <a:t>‘New Account’ Population – Credit Behavior: Balance trend</a:t>
            </a:r>
            <a:endParaRPr lang="en-US" dirty="0"/>
          </a:p>
        </p:txBody>
      </p:sp>
      <p:graphicFrame>
        <p:nvGraphicFramePr>
          <p:cNvPr id="6" name="Chart 5"/>
          <p:cNvGraphicFramePr/>
          <p:nvPr>
            <p:extLst/>
          </p:nvPr>
        </p:nvGraphicFramePr>
        <p:xfrm>
          <a:off x="6414150" y="1535922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/>
          <p:nvPr>
            <p:extLst/>
          </p:nvPr>
        </p:nvGraphicFramePr>
        <p:xfrm>
          <a:off x="629984" y="1514570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07187322"/>
              </p:ext>
            </p:extLst>
          </p:nvPr>
        </p:nvGraphicFramePr>
        <p:xfrm>
          <a:off x="629984" y="4273911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3189289889"/>
              </p:ext>
            </p:extLst>
          </p:nvPr>
        </p:nvGraphicFramePr>
        <p:xfrm>
          <a:off x="6414150" y="4295262"/>
          <a:ext cx="5566535" cy="2472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23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gray">
          <a:xfrm>
            <a:off x="1196498" y="3654382"/>
            <a:ext cx="1159099" cy="2939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800" dirty="0" smtClean="0"/>
              <a:t>Last 12 reports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5303451" y="1178836"/>
            <a:ext cx="1918952" cy="21886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000" dirty="0" smtClean="0"/>
              <a:t>As of Dec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5346" y="3773878"/>
            <a:ext cx="3315162" cy="10685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defTabSz="45720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prstClr val="black"/>
                </a:solidFill>
              </a:rPr>
              <a:t>‘New Account’ and ‘Other’ Borrowers demonstrate similar trend with respect to reported balances</a:t>
            </a:r>
          </a:p>
          <a:p>
            <a:pPr marL="171450" indent="-171450" defTabSz="45720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prstClr val="black"/>
                </a:solidFill>
              </a:rPr>
              <a:t>However, ‘New Account’ borrowers do have a higher level of balance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 bwMode="gray">
          <a:xfrm>
            <a:off x="10014180" y="4040659"/>
            <a:ext cx="2102039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26783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EBEBEB">
                    <a:lumMod val="75000"/>
                  </a:srgbClr>
                </a:solidFill>
              </a:rPr>
              <a:t>The information contained in this document is strictly private and confidential. © Copyright, Consumer Analytics Division, Tata Industries Limited   </a:t>
            </a:r>
            <a:endParaRPr lang="en-US" dirty="0">
              <a:solidFill>
                <a:srgbClr val="EBEBEB">
                  <a:lumMod val="75000"/>
                </a:srgbClr>
              </a:solidFill>
            </a:endParaRPr>
          </a:p>
        </p:txBody>
      </p:sp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629984" y="542362"/>
            <a:ext cx="9785683" cy="706964"/>
          </a:xfrm>
        </p:spPr>
        <p:txBody>
          <a:bodyPr/>
          <a:lstStyle/>
          <a:p>
            <a:r>
              <a:rPr lang="en-US" dirty="0" smtClean="0"/>
              <a:t>‘New Account’ Population – Additional Profiling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37587"/>
              </p:ext>
            </p:extLst>
          </p:nvPr>
        </p:nvGraphicFramePr>
        <p:xfrm>
          <a:off x="1586605" y="1771014"/>
          <a:ext cx="841560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5202"/>
                <a:gridCol w="2805202"/>
                <a:gridCol w="2805202"/>
              </a:tblGrid>
              <a:tr h="240966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New Account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Others</a:t>
                      </a:r>
                      <a:endParaRPr lang="en-IN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4096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# Borrowers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4,944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34,172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0966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Avg. Months since first trade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93.35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79.60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096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Avg. Months since</a:t>
                      </a:r>
                      <a:r>
                        <a:rPr lang="en-IN" sz="1200" baseline="0" dirty="0" smtClean="0"/>
                        <a:t> last trade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17.90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30.39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9708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Avg.</a:t>
                      </a:r>
                      <a:r>
                        <a:rPr lang="en-IN" sz="1200" baseline="0" dirty="0" smtClean="0"/>
                        <a:t> Max Sanction amount                  (0-6 months)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60,91,433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97,10,899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9708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Avg.</a:t>
                      </a:r>
                      <a:r>
                        <a:rPr lang="en-IN" sz="1200" baseline="0" dirty="0" smtClean="0"/>
                        <a:t> Max Sanction amount                      (7-12 months)</a:t>
                      </a:r>
                      <a:endParaRPr lang="en-IN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64,28,944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1,01,77,582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4096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Avg. Months since first enquiry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30.80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27.16</a:t>
                      </a:r>
                      <a:endParaRPr 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096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Avg. Months since</a:t>
                      </a:r>
                      <a:r>
                        <a:rPr lang="en-IN" sz="1200" baseline="0" dirty="0" smtClean="0"/>
                        <a:t> last enquiry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10.75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12.64</a:t>
                      </a:r>
                      <a:endParaRPr 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41591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% Borrowers with deteriorating</a:t>
                      </a:r>
                      <a:r>
                        <a:rPr lang="en-IN" sz="1200" baseline="0" dirty="0" smtClean="0"/>
                        <a:t> </a:t>
                      </a:r>
                      <a:r>
                        <a:rPr lang="en-IN" sz="1200" dirty="0" smtClean="0"/>
                        <a:t>delinquency status</a:t>
                      </a:r>
                      <a:r>
                        <a:rPr lang="en-IN" sz="1200" baseline="0" dirty="0" smtClean="0"/>
                        <a:t> in last 2 reporting</a:t>
                      </a:r>
                      <a:endParaRPr lang="en-IN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2.6% (127 Borrowers)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5% (1,718 Borrowers)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 bwMode="gray">
          <a:xfrm>
            <a:off x="1483574" y="1131508"/>
            <a:ext cx="4437614" cy="81592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b="1" dirty="0" smtClean="0"/>
              <a:t>Population as of Dec 14</a:t>
            </a:r>
          </a:p>
          <a:p>
            <a:r>
              <a:rPr lang="en-IN" sz="1200" dirty="0" smtClean="0"/>
              <a:t>Metrics of Dec 14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r>
              <a:rPr lang="en-US" dirty="0" smtClean="0">
                <a:solidFill>
                  <a:srgbClr val="0E5580"/>
                </a:solidFill>
              </a:rPr>
              <a:t>24</a:t>
            </a:r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6594176" y="6386419"/>
            <a:ext cx="2873479" cy="26100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0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*Delinquent Account Status: 2, 3, 4, 5, Greater than 1000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5036" y="5232414"/>
            <a:ext cx="6632619" cy="5735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endParaRPr lang="en-US" sz="1200" dirty="0">
              <a:solidFill>
                <a:prstClr val="black"/>
              </a:solidFill>
            </a:endParaRPr>
          </a:p>
          <a:p>
            <a:pPr defTabSz="457200"/>
            <a:r>
              <a:rPr lang="en-US" sz="1200" dirty="0" smtClean="0">
                <a:solidFill>
                  <a:prstClr val="black"/>
                </a:solidFill>
              </a:rPr>
              <a:t>‘New Account’ borrowers are of a higher vintage, and also are active more recently</a:t>
            </a:r>
          </a:p>
          <a:p>
            <a:pPr defTabSz="457200"/>
            <a:endParaRPr lang="en-US" sz="1200" dirty="0" smtClean="0">
              <a:solidFill>
                <a:prstClr val="black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44733" y="2318197"/>
            <a:ext cx="3644720" cy="55379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 bwMode="gray">
          <a:xfrm>
            <a:off x="6787167" y="5949310"/>
            <a:ext cx="3373332" cy="350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defTabSz="457200"/>
            <a:r>
              <a:rPr lang="en-US" sz="800" dirty="0" smtClean="0">
                <a:solidFill>
                  <a:prstClr val="black"/>
                </a:solidFill>
              </a:rPr>
              <a:t>*’New Account</a:t>
            </a:r>
            <a:r>
              <a:rPr lang="en-IN" sz="800" dirty="0" smtClean="0">
                <a:solidFill>
                  <a:prstClr val="black"/>
                </a:solidFill>
              </a:rPr>
              <a:t>'  is all borrowers </a:t>
            </a:r>
            <a:r>
              <a:rPr lang="en-IN" sz="800" dirty="0">
                <a:solidFill>
                  <a:prstClr val="black"/>
                </a:solidFill>
              </a:rPr>
              <a:t>within the chosen base with a new trade opened between 1st Jan 2015 and 30th June </a:t>
            </a:r>
            <a:r>
              <a:rPr lang="en-IN" sz="800" dirty="0" smtClean="0">
                <a:solidFill>
                  <a:prstClr val="black"/>
                </a:solidFill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308278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2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0A3F60"/>
      </a:hlink>
      <a:folHlink>
        <a:srgbClr val="062A40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3912</TotalTime>
  <Words>2414</Words>
  <Application>Microsoft Office PowerPoint</Application>
  <PresentationFormat>Widescreen</PresentationFormat>
  <Paragraphs>487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Century Gothic</vt:lpstr>
      <vt:lpstr>Wingdings</vt:lpstr>
      <vt:lpstr>Wingdings 3</vt:lpstr>
      <vt:lpstr>Ion Boardroom</vt:lpstr>
      <vt:lpstr>1_Ion Boardroom</vt:lpstr>
      <vt:lpstr>Worksheet</vt:lpstr>
      <vt:lpstr>Tata Capital Analytics Exploratory Data Analysis</vt:lpstr>
      <vt:lpstr>Agenda</vt:lpstr>
      <vt:lpstr>CIBIL Data Received Status</vt:lpstr>
      <vt:lpstr>Data Quality</vt:lpstr>
      <vt:lpstr>Data Extraction Summary</vt:lpstr>
      <vt:lpstr>Borrower distribution by Domain of Business</vt:lpstr>
      <vt:lpstr>Borrower distribution by Legal Constitution</vt:lpstr>
      <vt:lpstr>Borrower distribution by Location</vt:lpstr>
      <vt:lpstr>Model build – Objective definition</vt:lpstr>
      <vt:lpstr>PowerPoint Presentation</vt:lpstr>
      <vt:lpstr>‘New Account’ – Domain, Legal Constitution, Location</vt:lpstr>
      <vt:lpstr>'New Account' Population – Credit Behavior: Volume</vt:lpstr>
      <vt:lpstr>'New Account' Population – Trades by Type</vt:lpstr>
      <vt:lpstr>'New Account' Population – Credit Behavior: Recency</vt:lpstr>
      <vt:lpstr>'New Account' Population – Recent Trades by Type</vt:lpstr>
      <vt:lpstr>'New Account' Population – Credit Behavior: Increase</vt:lpstr>
      <vt:lpstr>'New Account' Population – Credit Behavior: Trade count trend</vt:lpstr>
      <vt:lpstr>'New Account' Population – Credit Behavior: Enquiries trend</vt:lpstr>
      <vt:lpstr>'New Account' Population – Additional Profiling</vt:lpstr>
      <vt:lpstr>Appendix</vt:lpstr>
      <vt:lpstr>Data Extraction Summary</vt:lpstr>
      <vt:lpstr>CIBIL Data Received Status</vt:lpstr>
      <vt:lpstr>‘New Account’ Population – Credit Behavior: Balance trend</vt:lpstr>
      <vt:lpstr>‘New Account’ Population – Additional Profiling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AIA Analytics Deliverables and Timelines</dc:title>
  <dc:creator>Chitra Chatterjee</dc:creator>
  <cp:lastModifiedBy>C R Ganesh</cp:lastModifiedBy>
  <cp:revision>233</cp:revision>
  <dcterms:created xsi:type="dcterms:W3CDTF">2015-08-17T07:42:22Z</dcterms:created>
  <dcterms:modified xsi:type="dcterms:W3CDTF">2015-11-26T07:33:06Z</dcterms:modified>
</cp:coreProperties>
</file>
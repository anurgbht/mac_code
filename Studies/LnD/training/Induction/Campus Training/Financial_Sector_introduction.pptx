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9" r:id="rId1"/>
    <p:sldMasterId id="2147483811" r:id="rId2"/>
  </p:sldMasterIdLst>
  <p:notesMasterIdLst>
    <p:notesMasterId r:id="rId35"/>
  </p:notesMasterIdLst>
  <p:handoutMasterIdLst>
    <p:handoutMasterId r:id="rId36"/>
  </p:handoutMasterIdLst>
  <p:sldIdLst>
    <p:sldId id="256" r:id="rId3"/>
    <p:sldId id="318" r:id="rId4"/>
    <p:sldId id="317" r:id="rId5"/>
    <p:sldId id="305" r:id="rId6"/>
    <p:sldId id="306" r:id="rId7"/>
    <p:sldId id="303" r:id="rId8"/>
    <p:sldId id="308" r:id="rId9"/>
    <p:sldId id="319" r:id="rId10"/>
    <p:sldId id="309" r:id="rId11"/>
    <p:sldId id="316" r:id="rId12"/>
    <p:sldId id="320" r:id="rId13"/>
    <p:sldId id="327" r:id="rId14"/>
    <p:sldId id="328" r:id="rId15"/>
    <p:sldId id="329" r:id="rId16"/>
    <p:sldId id="322" r:id="rId17"/>
    <p:sldId id="324" r:id="rId18"/>
    <p:sldId id="323" r:id="rId19"/>
    <p:sldId id="330" r:id="rId20"/>
    <p:sldId id="331" r:id="rId21"/>
    <p:sldId id="333" r:id="rId22"/>
    <p:sldId id="337" r:id="rId23"/>
    <p:sldId id="334" r:id="rId24"/>
    <p:sldId id="321" r:id="rId25"/>
    <p:sldId id="310" r:id="rId26"/>
    <p:sldId id="311" r:id="rId27"/>
    <p:sldId id="312" r:id="rId28"/>
    <p:sldId id="314" r:id="rId29"/>
    <p:sldId id="332" r:id="rId30"/>
    <p:sldId id="315" r:id="rId31"/>
    <p:sldId id="338" r:id="rId32"/>
    <p:sldId id="340" r:id="rId33"/>
    <p:sldId id="29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68" userDrawn="1">
          <p15:clr>
            <a:srgbClr val="A4A3A4"/>
          </p15:clr>
        </p15:guide>
        <p15:guide id="4" pos="7512" userDrawn="1">
          <p15:clr>
            <a:srgbClr val="A4A3A4"/>
          </p15:clr>
        </p15:guide>
        <p15:guide id="5" orient="horz" pos="144" userDrawn="1">
          <p15:clr>
            <a:srgbClr val="A4A3A4"/>
          </p15:clr>
        </p15:guide>
        <p15:guide id="6" orient="horz" pos="417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67C8"/>
    <a:srgbClr val="4FADF3"/>
    <a:srgbClr val="7030A0"/>
    <a:srgbClr val="C1260C"/>
    <a:srgbClr val="FF66CC"/>
    <a:srgbClr val="EBE9EC"/>
    <a:srgbClr val="92D050"/>
    <a:srgbClr val="D9D9D9"/>
    <a:srgbClr val="749BB8"/>
    <a:srgbClr val="5CCD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0221" autoAdjust="0"/>
    <p:restoredTop sz="80488" autoAdjust="0"/>
  </p:normalViewPr>
  <p:slideViewPr>
    <p:cSldViewPr snapToGrid="0" showGuides="1">
      <p:cViewPr varScale="1">
        <p:scale>
          <a:sx n="74" d="100"/>
          <a:sy n="74" d="100"/>
        </p:scale>
        <p:origin x="774" y="90"/>
      </p:cViewPr>
      <p:guideLst>
        <p:guide orient="horz" pos="2160"/>
        <p:guide pos="3840"/>
        <p:guide pos="168"/>
        <p:guide pos="7512"/>
        <p:guide orient="horz" pos="144"/>
        <p:guide orient="horz" pos="4176"/>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7" d="100"/>
          <a:sy n="57" d="100"/>
        </p:scale>
        <p:origin x="28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128F27-9C14-40E2-8DA3-BAD950E8554F}"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IN"/>
        </a:p>
      </dgm:t>
    </dgm:pt>
    <dgm:pt modelId="{05C78C44-B029-4901-9970-52785FD45E84}">
      <dgm:prSet phldrT="[Text]" custT="1"/>
      <dgm:spPr/>
      <dgm:t>
        <a:bodyPr/>
        <a:lstStyle/>
        <a:p>
          <a:r>
            <a:rPr lang="en-IN" sz="1400" dirty="0" smtClean="0"/>
            <a:t>Investors pull in money</a:t>
          </a:r>
          <a:endParaRPr lang="en-IN" sz="1400" dirty="0"/>
        </a:p>
      </dgm:t>
    </dgm:pt>
    <dgm:pt modelId="{F101650A-908C-4833-9776-59A28C7172F3}" type="parTrans" cxnId="{CEA9BF98-0B0C-437C-BB4E-7020FB84C5A3}">
      <dgm:prSet/>
      <dgm:spPr/>
      <dgm:t>
        <a:bodyPr/>
        <a:lstStyle/>
        <a:p>
          <a:endParaRPr lang="en-IN"/>
        </a:p>
      </dgm:t>
    </dgm:pt>
    <dgm:pt modelId="{754DF058-B74F-49DA-A314-8A1A403F373D}" type="sibTrans" cxnId="{CEA9BF98-0B0C-437C-BB4E-7020FB84C5A3}">
      <dgm:prSet/>
      <dgm:spPr/>
      <dgm:t>
        <a:bodyPr/>
        <a:lstStyle/>
        <a:p>
          <a:endParaRPr lang="en-IN"/>
        </a:p>
      </dgm:t>
    </dgm:pt>
    <dgm:pt modelId="{576B976A-809C-4092-A7DF-CF3EB02923CF}">
      <dgm:prSet phldrT="[Text]" custT="1"/>
      <dgm:spPr/>
      <dgm:t>
        <a:bodyPr/>
        <a:lstStyle/>
        <a:p>
          <a:r>
            <a:rPr lang="en-IN" sz="1400" dirty="0" smtClean="0"/>
            <a:t>Fund Managers decide on securities to invest</a:t>
          </a:r>
          <a:endParaRPr lang="en-IN" sz="1400" dirty="0"/>
        </a:p>
      </dgm:t>
    </dgm:pt>
    <dgm:pt modelId="{DB6D9B7A-D4D3-4612-B4AE-5F101F94AA62}" type="parTrans" cxnId="{61FCCE23-52A2-4F4E-A50D-A49CC2B019FD}">
      <dgm:prSet/>
      <dgm:spPr/>
      <dgm:t>
        <a:bodyPr/>
        <a:lstStyle/>
        <a:p>
          <a:endParaRPr lang="en-IN"/>
        </a:p>
      </dgm:t>
    </dgm:pt>
    <dgm:pt modelId="{F3C2C01B-6969-433B-A06C-CFD7B0E27BCB}" type="sibTrans" cxnId="{61FCCE23-52A2-4F4E-A50D-A49CC2B019FD}">
      <dgm:prSet/>
      <dgm:spPr/>
      <dgm:t>
        <a:bodyPr/>
        <a:lstStyle/>
        <a:p>
          <a:endParaRPr lang="en-IN"/>
        </a:p>
      </dgm:t>
    </dgm:pt>
    <dgm:pt modelId="{936260D4-AD03-478F-A59F-032CA0B18C5C}">
      <dgm:prSet phldrT="[Text]" custT="1"/>
      <dgm:spPr/>
      <dgm:t>
        <a:bodyPr/>
        <a:lstStyle/>
        <a:p>
          <a:r>
            <a:rPr lang="en-IN" sz="1400" dirty="0" smtClean="0"/>
            <a:t>Fund manager generates returns and </a:t>
          </a:r>
          <a:r>
            <a:rPr lang="en-IN" sz="1400" dirty="0" err="1" smtClean="0"/>
            <a:t>paases</a:t>
          </a:r>
          <a:r>
            <a:rPr lang="en-IN" sz="1400" dirty="0" smtClean="0"/>
            <a:t> it back to investors</a:t>
          </a:r>
          <a:endParaRPr lang="en-IN" sz="1400" dirty="0"/>
        </a:p>
      </dgm:t>
    </dgm:pt>
    <dgm:pt modelId="{FB1CA058-34B3-4B49-AC7A-C7FDB02B3C0D}" type="parTrans" cxnId="{D0E5D87A-5FD6-42E1-AC56-E6F20ECF03B4}">
      <dgm:prSet/>
      <dgm:spPr/>
      <dgm:t>
        <a:bodyPr/>
        <a:lstStyle/>
        <a:p>
          <a:endParaRPr lang="en-IN"/>
        </a:p>
      </dgm:t>
    </dgm:pt>
    <dgm:pt modelId="{5ED2477D-4010-4AF6-AF96-7B848ABF0039}" type="sibTrans" cxnId="{D0E5D87A-5FD6-42E1-AC56-E6F20ECF03B4}">
      <dgm:prSet/>
      <dgm:spPr/>
      <dgm:t>
        <a:bodyPr/>
        <a:lstStyle/>
        <a:p>
          <a:endParaRPr lang="en-IN"/>
        </a:p>
      </dgm:t>
    </dgm:pt>
    <dgm:pt modelId="{09861950-5A95-4F38-AADB-8C07946018EC}" type="pres">
      <dgm:prSet presAssocID="{7A128F27-9C14-40E2-8DA3-BAD950E8554F}" presName="cycle" presStyleCnt="0">
        <dgm:presLayoutVars>
          <dgm:dir/>
          <dgm:resizeHandles val="exact"/>
        </dgm:presLayoutVars>
      </dgm:prSet>
      <dgm:spPr/>
      <dgm:t>
        <a:bodyPr/>
        <a:lstStyle/>
        <a:p>
          <a:endParaRPr lang="en-IN"/>
        </a:p>
      </dgm:t>
    </dgm:pt>
    <dgm:pt modelId="{17EF46C3-9327-40CE-B5C7-B74D7D463D01}" type="pres">
      <dgm:prSet presAssocID="{05C78C44-B029-4901-9970-52785FD45E84}" presName="node" presStyleLbl="node1" presStyleIdx="0" presStyleCnt="3">
        <dgm:presLayoutVars>
          <dgm:bulletEnabled val="1"/>
        </dgm:presLayoutVars>
      </dgm:prSet>
      <dgm:spPr/>
      <dgm:t>
        <a:bodyPr/>
        <a:lstStyle/>
        <a:p>
          <a:endParaRPr lang="en-IN"/>
        </a:p>
      </dgm:t>
    </dgm:pt>
    <dgm:pt modelId="{77A6AD34-471B-485A-9EB6-516A6C7698B4}" type="pres">
      <dgm:prSet presAssocID="{754DF058-B74F-49DA-A314-8A1A403F373D}" presName="sibTrans" presStyleLbl="sibTrans2D1" presStyleIdx="0" presStyleCnt="3"/>
      <dgm:spPr/>
      <dgm:t>
        <a:bodyPr/>
        <a:lstStyle/>
        <a:p>
          <a:endParaRPr lang="en-IN"/>
        </a:p>
      </dgm:t>
    </dgm:pt>
    <dgm:pt modelId="{904485B6-2CE9-46EE-94A8-A8378A52BBD1}" type="pres">
      <dgm:prSet presAssocID="{754DF058-B74F-49DA-A314-8A1A403F373D}" presName="connectorText" presStyleLbl="sibTrans2D1" presStyleIdx="0" presStyleCnt="3"/>
      <dgm:spPr/>
      <dgm:t>
        <a:bodyPr/>
        <a:lstStyle/>
        <a:p>
          <a:endParaRPr lang="en-IN"/>
        </a:p>
      </dgm:t>
    </dgm:pt>
    <dgm:pt modelId="{75A89B86-E4BB-4C05-B6E4-36108CE07FF1}" type="pres">
      <dgm:prSet presAssocID="{576B976A-809C-4092-A7DF-CF3EB02923CF}" presName="node" presStyleLbl="node1" presStyleIdx="1" presStyleCnt="3">
        <dgm:presLayoutVars>
          <dgm:bulletEnabled val="1"/>
        </dgm:presLayoutVars>
      </dgm:prSet>
      <dgm:spPr/>
      <dgm:t>
        <a:bodyPr/>
        <a:lstStyle/>
        <a:p>
          <a:endParaRPr lang="en-IN"/>
        </a:p>
      </dgm:t>
    </dgm:pt>
    <dgm:pt modelId="{FD96B6D6-1B00-4C1E-AD94-F30F789BC46F}" type="pres">
      <dgm:prSet presAssocID="{F3C2C01B-6969-433B-A06C-CFD7B0E27BCB}" presName="sibTrans" presStyleLbl="sibTrans2D1" presStyleIdx="1" presStyleCnt="3"/>
      <dgm:spPr/>
      <dgm:t>
        <a:bodyPr/>
        <a:lstStyle/>
        <a:p>
          <a:endParaRPr lang="en-IN"/>
        </a:p>
      </dgm:t>
    </dgm:pt>
    <dgm:pt modelId="{50BCFC7C-6550-45F1-BE5F-763ABE6D78B1}" type="pres">
      <dgm:prSet presAssocID="{F3C2C01B-6969-433B-A06C-CFD7B0E27BCB}" presName="connectorText" presStyleLbl="sibTrans2D1" presStyleIdx="1" presStyleCnt="3"/>
      <dgm:spPr/>
      <dgm:t>
        <a:bodyPr/>
        <a:lstStyle/>
        <a:p>
          <a:endParaRPr lang="en-IN"/>
        </a:p>
      </dgm:t>
    </dgm:pt>
    <dgm:pt modelId="{2B1F3C98-051F-432A-AA91-C1309FF1570F}" type="pres">
      <dgm:prSet presAssocID="{936260D4-AD03-478F-A59F-032CA0B18C5C}" presName="node" presStyleLbl="node1" presStyleIdx="2" presStyleCnt="3">
        <dgm:presLayoutVars>
          <dgm:bulletEnabled val="1"/>
        </dgm:presLayoutVars>
      </dgm:prSet>
      <dgm:spPr/>
      <dgm:t>
        <a:bodyPr/>
        <a:lstStyle/>
        <a:p>
          <a:endParaRPr lang="en-IN"/>
        </a:p>
      </dgm:t>
    </dgm:pt>
    <dgm:pt modelId="{49E19C99-35A1-4776-ACD4-D8BFCE447723}" type="pres">
      <dgm:prSet presAssocID="{5ED2477D-4010-4AF6-AF96-7B848ABF0039}" presName="sibTrans" presStyleLbl="sibTrans2D1" presStyleIdx="2" presStyleCnt="3"/>
      <dgm:spPr/>
      <dgm:t>
        <a:bodyPr/>
        <a:lstStyle/>
        <a:p>
          <a:endParaRPr lang="en-IN"/>
        </a:p>
      </dgm:t>
    </dgm:pt>
    <dgm:pt modelId="{1EF2ADFB-2AD9-480C-A4B7-90F5E6C4B18B}" type="pres">
      <dgm:prSet presAssocID="{5ED2477D-4010-4AF6-AF96-7B848ABF0039}" presName="connectorText" presStyleLbl="sibTrans2D1" presStyleIdx="2" presStyleCnt="3"/>
      <dgm:spPr/>
      <dgm:t>
        <a:bodyPr/>
        <a:lstStyle/>
        <a:p>
          <a:endParaRPr lang="en-IN"/>
        </a:p>
      </dgm:t>
    </dgm:pt>
  </dgm:ptLst>
  <dgm:cxnLst>
    <dgm:cxn modelId="{CEA9BF98-0B0C-437C-BB4E-7020FB84C5A3}" srcId="{7A128F27-9C14-40E2-8DA3-BAD950E8554F}" destId="{05C78C44-B029-4901-9970-52785FD45E84}" srcOrd="0" destOrd="0" parTransId="{F101650A-908C-4833-9776-59A28C7172F3}" sibTransId="{754DF058-B74F-49DA-A314-8A1A403F373D}"/>
    <dgm:cxn modelId="{ECB2E1FE-F6A8-4689-8BCE-54AA659758D2}" type="presOf" srcId="{754DF058-B74F-49DA-A314-8A1A403F373D}" destId="{77A6AD34-471B-485A-9EB6-516A6C7698B4}" srcOrd="0" destOrd="0" presId="urn:microsoft.com/office/officeart/2005/8/layout/cycle2"/>
    <dgm:cxn modelId="{3A9E22A2-9C64-4342-AE6D-AC9F3A246081}" type="presOf" srcId="{5ED2477D-4010-4AF6-AF96-7B848ABF0039}" destId="{49E19C99-35A1-4776-ACD4-D8BFCE447723}" srcOrd="0" destOrd="0" presId="urn:microsoft.com/office/officeart/2005/8/layout/cycle2"/>
    <dgm:cxn modelId="{A9B8948E-396D-412E-AA99-BFFA6FD6E701}" type="presOf" srcId="{5ED2477D-4010-4AF6-AF96-7B848ABF0039}" destId="{1EF2ADFB-2AD9-480C-A4B7-90F5E6C4B18B}" srcOrd="1" destOrd="0" presId="urn:microsoft.com/office/officeart/2005/8/layout/cycle2"/>
    <dgm:cxn modelId="{1A9173A4-4F76-45B4-B886-B49ECD2271C5}" type="presOf" srcId="{576B976A-809C-4092-A7DF-CF3EB02923CF}" destId="{75A89B86-E4BB-4C05-B6E4-36108CE07FF1}" srcOrd="0" destOrd="0" presId="urn:microsoft.com/office/officeart/2005/8/layout/cycle2"/>
    <dgm:cxn modelId="{2446CCCF-A124-4B12-B4A2-4CDD70FC4880}" type="presOf" srcId="{936260D4-AD03-478F-A59F-032CA0B18C5C}" destId="{2B1F3C98-051F-432A-AA91-C1309FF1570F}" srcOrd="0" destOrd="0" presId="urn:microsoft.com/office/officeart/2005/8/layout/cycle2"/>
    <dgm:cxn modelId="{12810475-3E90-40B7-BCDE-A458A968DC0B}" type="presOf" srcId="{05C78C44-B029-4901-9970-52785FD45E84}" destId="{17EF46C3-9327-40CE-B5C7-B74D7D463D01}" srcOrd="0" destOrd="0" presId="urn:microsoft.com/office/officeart/2005/8/layout/cycle2"/>
    <dgm:cxn modelId="{48CD7E67-F606-4C65-A5D2-3289450FFBA3}" type="presOf" srcId="{F3C2C01B-6969-433B-A06C-CFD7B0E27BCB}" destId="{50BCFC7C-6550-45F1-BE5F-763ABE6D78B1}" srcOrd="1" destOrd="0" presId="urn:microsoft.com/office/officeart/2005/8/layout/cycle2"/>
    <dgm:cxn modelId="{92832CE5-6464-4D62-815F-9A730B57331C}" type="presOf" srcId="{7A128F27-9C14-40E2-8DA3-BAD950E8554F}" destId="{09861950-5A95-4F38-AADB-8C07946018EC}" srcOrd="0" destOrd="0" presId="urn:microsoft.com/office/officeart/2005/8/layout/cycle2"/>
    <dgm:cxn modelId="{D0E5D87A-5FD6-42E1-AC56-E6F20ECF03B4}" srcId="{7A128F27-9C14-40E2-8DA3-BAD950E8554F}" destId="{936260D4-AD03-478F-A59F-032CA0B18C5C}" srcOrd="2" destOrd="0" parTransId="{FB1CA058-34B3-4B49-AC7A-C7FDB02B3C0D}" sibTransId="{5ED2477D-4010-4AF6-AF96-7B848ABF0039}"/>
    <dgm:cxn modelId="{61FCCE23-52A2-4F4E-A50D-A49CC2B019FD}" srcId="{7A128F27-9C14-40E2-8DA3-BAD950E8554F}" destId="{576B976A-809C-4092-A7DF-CF3EB02923CF}" srcOrd="1" destOrd="0" parTransId="{DB6D9B7A-D4D3-4612-B4AE-5F101F94AA62}" sibTransId="{F3C2C01B-6969-433B-A06C-CFD7B0E27BCB}"/>
    <dgm:cxn modelId="{DFD5846E-6160-4566-BD38-99E954474CDB}" type="presOf" srcId="{F3C2C01B-6969-433B-A06C-CFD7B0E27BCB}" destId="{FD96B6D6-1B00-4C1E-AD94-F30F789BC46F}" srcOrd="0" destOrd="0" presId="urn:microsoft.com/office/officeart/2005/8/layout/cycle2"/>
    <dgm:cxn modelId="{694C12E3-80D9-482B-8096-9A3FFB26F003}" type="presOf" srcId="{754DF058-B74F-49DA-A314-8A1A403F373D}" destId="{904485B6-2CE9-46EE-94A8-A8378A52BBD1}" srcOrd="1" destOrd="0" presId="urn:microsoft.com/office/officeart/2005/8/layout/cycle2"/>
    <dgm:cxn modelId="{363A3A2C-4E3A-4012-832B-EF29AE0DC350}" type="presParOf" srcId="{09861950-5A95-4F38-AADB-8C07946018EC}" destId="{17EF46C3-9327-40CE-B5C7-B74D7D463D01}" srcOrd="0" destOrd="0" presId="urn:microsoft.com/office/officeart/2005/8/layout/cycle2"/>
    <dgm:cxn modelId="{2D771D77-EF69-4E48-B491-1253FD1CCD51}" type="presParOf" srcId="{09861950-5A95-4F38-AADB-8C07946018EC}" destId="{77A6AD34-471B-485A-9EB6-516A6C7698B4}" srcOrd="1" destOrd="0" presId="urn:microsoft.com/office/officeart/2005/8/layout/cycle2"/>
    <dgm:cxn modelId="{A4E460E6-6F55-42D5-BBB8-AE673A15BA45}" type="presParOf" srcId="{77A6AD34-471B-485A-9EB6-516A6C7698B4}" destId="{904485B6-2CE9-46EE-94A8-A8378A52BBD1}" srcOrd="0" destOrd="0" presId="urn:microsoft.com/office/officeart/2005/8/layout/cycle2"/>
    <dgm:cxn modelId="{1CCE6705-5012-49C4-9EA8-16C515D9850D}" type="presParOf" srcId="{09861950-5A95-4F38-AADB-8C07946018EC}" destId="{75A89B86-E4BB-4C05-B6E4-36108CE07FF1}" srcOrd="2" destOrd="0" presId="urn:microsoft.com/office/officeart/2005/8/layout/cycle2"/>
    <dgm:cxn modelId="{5B968B97-9999-4E45-BFEE-E31D14BED9DD}" type="presParOf" srcId="{09861950-5A95-4F38-AADB-8C07946018EC}" destId="{FD96B6D6-1B00-4C1E-AD94-F30F789BC46F}" srcOrd="3" destOrd="0" presId="urn:microsoft.com/office/officeart/2005/8/layout/cycle2"/>
    <dgm:cxn modelId="{BF523ABA-7EB6-498C-9F54-67012561D1C9}" type="presParOf" srcId="{FD96B6D6-1B00-4C1E-AD94-F30F789BC46F}" destId="{50BCFC7C-6550-45F1-BE5F-763ABE6D78B1}" srcOrd="0" destOrd="0" presId="urn:microsoft.com/office/officeart/2005/8/layout/cycle2"/>
    <dgm:cxn modelId="{EB16A146-9357-47E3-881A-F3B6AA55349F}" type="presParOf" srcId="{09861950-5A95-4F38-AADB-8C07946018EC}" destId="{2B1F3C98-051F-432A-AA91-C1309FF1570F}" srcOrd="4" destOrd="0" presId="urn:microsoft.com/office/officeart/2005/8/layout/cycle2"/>
    <dgm:cxn modelId="{4A400016-7691-4127-9FFB-02A69B69D73C}" type="presParOf" srcId="{09861950-5A95-4F38-AADB-8C07946018EC}" destId="{49E19C99-35A1-4776-ACD4-D8BFCE447723}" srcOrd="5" destOrd="0" presId="urn:microsoft.com/office/officeart/2005/8/layout/cycle2"/>
    <dgm:cxn modelId="{8C64D683-5423-4D59-A268-8BCC2985BE2A}" type="presParOf" srcId="{49E19C99-35A1-4776-ACD4-D8BFCE447723}" destId="{1EF2ADFB-2AD9-480C-A4B7-90F5E6C4B18B}"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41977E-8B77-4E26-B9E4-872B9F5D811D}" type="doc">
      <dgm:prSet loTypeId="urn:microsoft.com/office/officeart/2005/8/layout/cycle4#1" loCatId="cycle" qsTypeId="urn:microsoft.com/office/officeart/2005/8/quickstyle/simple1" qsCatId="simple" csTypeId="urn:microsoft.com/office/officeart/2005/8/colors/accent1_2" csCatId="accent1" phldr="1"/>
      <dgm:spPr/>
      <dgm:t>
        <a:bodyPr/>
        <a:lstStyle/>
        <a:p>
          <a:endParaRPr lang="en-IN"/>
        </a:p>
      </dgm:t>
    </dgm:pt>
    <dgm:pt modelId="{ED518D5B-31C7-4E54-B9E2-C921DA14D2AC}">
      <dgm:prSet phldrT="[Text]" custT="1"/>
      <dgm:spPr>
        <a:solidFill>
          <a:schemeClr val="accent1">
            <a:lumMod val="50000"/>
          </a:schemeClr>
        </a:solidFill>
        <a:ln>
          <a:solidFill>
            <a:schemeClr val="accent1">
              <a:lumMod val="50000"/>
            </a:schemeClr>
          </a:solidFill>
        </a:ln>
      </dgm:spPr>
      <dgm:t>
        <a:bodyPr/>
        <a:lstStyle/>
        <a:p>
          <a:r>
            <a:rPr lang="en-US" sz="1200" dirty="0" smtClean="0"/>
            <a:t>Customer Management</a:t>
          </a:r>
          <a:endParaRPr lang="en-IN" sz="1200" dirty="0" smtClean="0"/>
        </a:p>
      </dgm:t>
    </dgm:pt>
    <dgm:pt modelId="{D970F40A-4329-4C87-92CD-BDD6CC87E660}" type="parTrans" cxnId="{2FDF2E22-7E03-47B7-8DC1-62BF8B42B1F0}">
      <dgm:prSet/>
      <dgm:spPr/>
      <dgm:t>
        <a:bodyPr/>
        <a:lstStyle/>
        <a:p>
          <a:endParaRPr lang="en-IN"/>
        </a:p>
      </dgm:t>
    </dgm:pt>
    <dgm:pt modelId="{0C409065-AF8F-4D65-9342-BC593390CF5A}" type="sibTrans" cxnId="{2FDF2E22-7E03-47B7-8DC1-62BF8B42B1F0}">
      <dgm:prSet/>
      <dgm:spPr/>
      <dgm:t>
        <a:bodyPr/>
        <a:lstStyle/>
        <a:p>
          <a:endParaRPr lang="en-IN"/>
        </a:p>
      </dgm:t>
    </dgm:pt>
    <dgm:pt modelId="{84181489-6311-469A-B501-EED4940A67FB}">
      <dgm:prSet phldrT="[Text]" custT="1"/>
      <dgm:spPr>
        <a:solidFill>
          <a:schemeClr val="accent1">
            <a:lumMod val="50000"/>
          </a:schemeClr>
        </a:solidFill>
        <a:ln>
          <a:noFill/>
        </a:ln>
      </dgm:spPr>
      <dgm:t>
        <a:bodyPr/>
        <a:lstStyle/>
        <a:p>
          <a:pPr>
            <a:lnSpc>
              <a:spcPct val="100000"/>
            </a:lnSpc>
          </a:pPr>
          <a:r>
            <a:rPr lang="en-US" sz="1200" dirty="0" smtClean="0"/>
            <a:t>Claim</a:t>
          </a:r>
        </a:p>
        <a:p>
          <a:pPr>
            <a:lnSpc>
              <a:spcPct val="100000"/>
            </a:lnSpc>
          </a:pPr>
          <a:r>
            <a:rPr lang="en-US" sz="1200" dirty="0" smtClean="0"/>
            <a:t>Management</a:t>
          </a:r>
          <a:endParaRPr lang="en-IN" sz="1200" dirty="0"/>
        </a:p>
      </dgm:t>
    </dgm:pt>
    <dgm:pt modelId="{381CB815-5FE2-485F-9531-1D1FF4281A33}" type="parTrans" cxnId="{9D86E122-2EF3-4E6E-BD22-A6444C782C6B}">
      <dgm:prSet/>
      <dgm:spPr/>
      <dgm:t>
        <a:bodyPr/>
        <a:lstStyle/>
        <a:p>
          <a:endParaRPr lang="en-IN"/>
        </a:p>
      </dgm:t>
    </dgm:pt>
    <dgm:pt modelId="{3FA85DEF-66D5-46C1-8827-AC2AA40DFB12}" type="sibTrans" cxnId="{9D86E122-2EF3-4E6E-BD22-A6444C782C6B}">
      <dgm:prSet/>
      <dgm:spPr/>
      <dgm:t>
        <a:bodyPr/>
        <a:lstStyle/>
        <a:p>
          <a:endParaRPr lang="en-IN"/>
        </a:p>
      </dgm:t>
    </dgm:pt>
    <dgm:pt modelId="{418A7EDD-2B1C-4BE0-8796-5ADC08641253}">
      <dgm:prSet phldrT="[Text]" custT="1"/>
      <dgm:spPr>
        <a:solidFill>
          <a:schemeClr val="accent1">
            <a:lumMod val="50000"/>
          </a:schemeClr>
        </a:solidFill>
        <a:ln>
          <a:noFill/>
        </a:ln>
      </dgm:spPr>
      <dgm:t>
        <a:bodyPr/>
        <a:lstStyle/>
        <a:p>
          <a:r>
            <a:rPr lang="en-US" sz="1200" dirty="0" smtClean="0"/>
            <a:t>Risk Management</a:t>
          </a:r>
          <a:endParaRPr lang="en-IN" sz="1200" dirty="0"/>
        </a:p>
      </dgm:t>
    </dgm:pt>
    <dgm:pt modelId="{40FCDBD7-5404-4939-8B2D-35C5B197857C}" type="parTrans" cxnId="{7D17805E-F42C-44B9-9E13-C224260EDDD8}">
      <dgm:prSet/>
      <dgm:spPr/>
      <dgm:t>
        <a:bodyPr/>
        <a:lstStyle/>
        <a:p>
          <a:endParaRPr lang="en-IN"/>
        </a:p>
      </dgm:t>
    </dgm:pt>
    <dgm:pt modelId="{12148E0C-625C-4A65-92EB-597196B46175}" type="sibTrans" cxnId="{7D17805E-F42C-44B9-9E13-C224260EDDD8}">
      <dgm:prSet/>
      <dgm:spPr/>
      <dgm:t>
        <a:bodyPr/>
        <a:lstStyle/>
        <a:p>
          <a:endParaRPr lang="en-IN"/>
        </a:p>
      </dgm:t>
    </dgm:pt>
    <dgm:pt modelId="{F8737A6A-B643-4907-A80D-EA8CAB72AD01}">
      <dgm:prSet phldrT="[Text]" custT="1"/>
      <dgm:spPr>
        <a:ln w="25400">
          <a:solidFill>
            <a:schemeClr val="tx2">
              <a:lumMod val="75000"/>
            </a:schemeClr>
          </a:solidFill>
          <a:prstDash val="sysDash"/>
        </a:ln>
      </dgm:spPr>
      <dgm:t>
        <a:bodyPr tIns="0" bIns="0" anchor="t" anchorCtr="0"/>
        <a:lstStyle/>
        <a:p>
          <a:endParaRPr lang="en-IN" sz="1200" dirty="0">
            <a:solidFill>
              <a:schemeClr val="bg1">
                <a:lumMod val="50000"/>
              </a:schemeClr>
            </a:solidFill>
          </a:endParaRPr>
        </a:p>
      </dgm:t>
    </dgm:pt>
    <dgm:pt modelId="{4387723F-B807-4571-879F-F53FBDB626BE}" type="parTrans" cxnId="{B4B456D9-A7E1-4167-BC06-BAE6E4BF5FAE}">
      <dgm:prSet/>
      <dgm:spPr/>
      <dgm:t>
        <a:bodyPr/>
        <a:lstStyle/>
        <a:p>
          <a:endParaRPr lang="en-IN"/>
        </a:p>
      </dgm:t>
    </dgm:pt>
    <dgm:pt modelId="{F84467D5-A64A-4513-9F2B-945CFDD82601}" type="sibTrans" cxnId="{B4B456D9-A7E1-4167-BC06-BAE6E4BF5FAE}">
      <dgm:prSet/>
      <dgm:spPr/>
      <dgm:t>
        <a:bodyPr/>
        <a:lstStyle/>
        <a:p>
          <a:endParaRPr lang="en-IN"/>
        </a:p>
      </dgm:t>
    </dgm:pt>
    <dgm:pt modelId="{2949A73D-619A-4AEF-AF5D-700909E51798}">
      <dgm:prSet phldrT="[Text]" custT="1"/>
      <dgm:spPr>
        <a:ln w="25400">
          <a:solidFill>
            <a:schemeClr val="tx2">
              <a:lumMod val="75000"/>
            </a:schemeClr>
          </a:solidFill>
          <a:prstDash val="sysDash"/>
        </a:ln>
      </dgm:spPr>
      <dgm:t>
        <a:bodyPr anchor="ctr"/>
        <a:lstStyle/>
        <a:p>
          <a:pPr algn="l"/>
          <a:endParaRPr lang="en-IN" sz="1400" dirty="0">
            <a:solidFill>
              <a:schemeClr val="bg1">
                <a:lumMod val="50000"/>
              </a:schemeClr>
            </a:solidFill>
          </a:endParaRPr>
        </a:p>
      </dgm:t>
    </dgm:pt>
    <dgm:pt modelId="{8F145A47-F13A-41DC-8312-1D3BE9DD1FA1}" type="parTrans" cxnId="{21FC5691-F57A-4E4D-A373-A498EE099276}">
      <dgm:prSet/>
      <dgm:spPr/>
      <dgm:t>
        <a:bodyPr/>
        <a:lstStyle/>
        <a:p>
          <a:endParaRPr lang="en-IN"/>
        </a:p>
      </dgm:t>
    </dgm:pt>
    <dgm:pt modelId="{1BF2AA23-A209-449B-A869-D94010D36C79}" type="sibTrans" cxnId="{21FC5691-F57A-4E4D-A373-A498EE099276}">
      <dgm:prSet/>
      <dgm:spPr/>
      <dgm:t>
        <a:bodyPr/>
        <a:lstStyle/>
        <a:p>
          <a:endParaRPr lang="en-IN"/>
        </a:p>
      </dgm:t>
    </dgm:pt>
    <dgm:pt modelId="{EDDEBDCA-9955-4077-9810-1ADC7869C5D0}">
      <dgm:prSet phldrT="[Text]" custT="1"/>
      <dgm:spPr>
        <a:ln w="25400">
          <a:solidFill>
            <a:schemeClr val="tx2">
              <a:lumMod val="75000"/>
            </a:schemeClr>
          </a:solidFill>
          <a:prstDash val="sysDash"/>
        </a:ln>
      </dgm:spPr>
      <dgm:t>
        <a:bodyPr/>
        <a:lstStyle/>
        <a:p>
          <a:endParaRPr lang="en-IN" sz="1400" dirty="0"/>
        </a:p>
      </dgm:t>
    </dgm:pt>
    <dgm:pt modelId="{4485C366-20D4-43EE-B3C1-DD07FF8D018A}" type="parTrans" cxnId="{1C964AC2-2A28-4484-825F-E0B06B14A238}">
      <dgm:prSet/>
      <dgm:spPr/>
      <dgm:t>
        <a:bodyPr/>
        <a:lstStyle/>
        <a:p>
          <a:endParaRPr lang="en-IN"/>
        </a:p>
      </dgm:t>
    </dgm:pt>
    <dgm:pt modelId="{032EA678-A96E-4D41-AFC0-26069924E8AB}" type="sibTrans" cxnId="{1C964AC2-2A28-4484-825F-E0B06B14A238}">
      <dgm:prSet/>
      <dgm:spPr/>
      <dgm:t>
        <a:bodyPr/>
        <a:lstStyle/>
        <a:p>
          <a:endParaRPr lang="en-IN"/>
        </a:p>
      </dgm:t>
    </dgm:pt>
    <dgm:pt modelId="{A3707838-35B5-44F2-80F9-2F85791609BC}">
      <dgm:prSet phldrT="[Text]" custT="1"/>
      <dgm:spPr>
        <a:ln w="25400">
          <a:solidFill>
            <a:schemeClr val="tx2">
              <a:lumMod val="75000"/>
            </a:schemeClr>
          </a:solidFill>
          <a:prstDash val="sysDash"/>
        </a:ln>
      </dgm:spPr>
      <dgm:t>
        <a:bodyPr/>
        <a:lstStyle/>
        <a:p>
          <a:endParaRPr lang="en-IN" sz="1400" dirty="0"/>
        </a:p>
      </dgm:t>
    </dgm:pt>
    <dgm:pt modelId="{BEC8214F-0655-4834-92B8-017B08479294}" type="parTrans" cxnId="{905B1219-42A1-4811-8BAF-2A008C898074}">
      <dgm:prSet/>
      <dgm:spPr/>
      <dgm:t>
        <a:bodyPr/>
        <a:lstStyle/>
        <a:p>
          <a:endParaRPr lang="en-IN"/>
        </a:p>
      </dgm:t>
    </dgm:pt>
    <dgm:pt modelId="{FBFEAB90-B781-4776-B4CD-CD1F8D45C189}" type="sibTrans" cxnId="{905B1219-42A1-4811-8BAF-2A008C898074}">
      <dgm:prSet/>
      <dgm:spPr/>
      <dgm:t>
        <a:bodyPr/>
        <a:lstStyle/>
        <a:p>
          <a:endParaRPr lang="en-IN"/>
        </a:p>
      </dgm:t>
    </dgm:pt>
    <dgm:pt modelId="{C510DFE1-4E9D-4D43-AE86-5279A0B75B9A}">
      <dgm:prSet phldrT="[Text]" custT="1"/>
      <dgm:spPr>
        <a:ln w="25400">
          <a:solidFill>
            <a:schemeClr val="tx2">
              <a:lumMod val="75000"/>
            </a:schemeClr>
          </a:solidFill>
          <a:prstDash val="sysDash"/>
        </a:ln>
      </dgm:spPr>
      <dgm:t>
        <a:bodyPr anchor="ctr"/>
        <a:lstStyle/>
        <a:p>
          <a:pPr algn="l"/>
          <a:endParaRPr lang="en-IN" sz="1200" dirty="0">
            <a:solidFill>
              <a:schemeClr val="bg1">
                <a:lumMod val="50000"/>
              </a:schemeClr>
            </a:solidFill>
          </a:endParaRPr>
        </a:p>
      </dgm:t>
    </dgm:pt>
    <dgm:pt modelId="{75AFE48C-5216-4CD3-A8C8-BBC59620A011}" type="parTrans" cxnId="{590B863E-0CDE-4EBC-A053-67AB56CA18D0}">
      <dgm:prSet/>
      <dgm:spPr/>
      <dgm:t>
        <a:bodyPr/>
        <a:lstStyle/>
        <a:p>
          <a:endParaRPr lang="en-IN"/>
        </a:p>
      </dgm:t>
    </dgm:pt>
    <dgm:pt modelId="{0AA1BA18-7CE6-4CFF-A193-63F97BF9CA8A}" type="sibTrans" cxnId="{590B863E-0CDE-4EBC-A053-67AB56CA18D0}">
      <dgm:prSet/>
      <dgm:spPr/>
      <dgm:t>
        <a:bodyPr/>
        <a:lstStyle/>
        <a:p>
          <a:endParaRPr lang="en-IN"/>
        </a:p>
      </dgm:t>
    </dgm:pt>
    <dgm:pt modelId="{4034ED69-AA85-49C0-9ED3-D4584C5D94CA}">
      <dgm:prSet phldrT="[Text]" custT="1"/>
      <dgm:spPr>
        <a:ln w="25400">
          <a:solidFill>
            <a:schemeClr val="tx2">
              <a:lumMod val="75000"/>
            </a:schemeClr>
          </a:solidFill>
          <a:prstDash val="sysDash"/>
        </a:ln>
      </dgm:spPr>
      <dgm:t>
        <a:bodyPr anchor="ctr"/>
        <a:lstStyle/>
        <a:p>
          <a:pPr algn="l"/>
          <a:endParaRPr lang="en-IN" sz="1400" dirty="0">
            <a:solidFill>
              <a:schemeClr val="bg1">
                <a:lumMod val="50000"/>
              </a:schemeClr>
            </a:solidFill>
          </a:endParaRPr>
        </a:p>
      </dgm:t>
    </dgm:pt>
    <dgm:pt modelId="{5A1792C4-9FE4-429E-AEAA-A32718B14603}" type="parTrans" cxnId="{4271B99F-B76B-4873-AD30-E28278E896CC}">
      <dgm:prSet/>
      <dgm:spPr/>
      <dgm:t>
        <a:bodyPr/>
        <a:lstStyle/>
        <a:p>
          <a:endParaRPr lang="en-IN"/>
        </a:p>
      </dgm:t>
    </dgm:pt>
    <dgm:pt modelId="{900E522E-973E-4754-ACA5-4298D4236F0F}" type="sibTrans" cxnId="{4271B99F-B76B-4873-AD30-E28278E896CC}">
      <dgm:prSet/>
      <dgm:spPr/>
      <dgm:t>
        <a:bodyPr/>
        <a:lstStyle/>
        <a:p>
          <a:endParaRPr lang="en-IN"/>
        </a:p>
      </dgm:t>
    </dgm:pt>
    <dgm:pt modelId="{A2F736F5-FEED-4FFC-8622-08E03BE84010}">
      <dgm:prSet phldrT="[Text]" custT="1"/>
      <dgm:spPr>
        <a:ln w="25400">
          <a:solidFill>
            <a:schemeClr val="tx2">
              <a:lumMod val="75000"/>
            </a:schemeClr>
          </a:solidFill>
          <a:prstDash val="sysDash"/>
        </a:ln>
      </dgm:spPr>
      <dgm:t>
        <a:bodyPr/>
        <a:lstStyle/>
        <a:p>
          <a:endParaRPr lang="en-IN" sz="1400" dirty="0"/>
        </a:p>
      </dgm:t>
    </dgm:pt>
    <dgm:pt modelId="{5CE548D4-0A13-436A-983B-587ACB74F7E9}" type="parTrans" cxnId="{BD197145-A844-41B3-9E25-97FA82850A4B}">
      <dgm:prSet/>
      <dgm:spPr/>
      <dgm:t>
        <a:bodyPr/>
        <a:lstStyle/>
        <a:p>
          <a:endParaRPr lang="en-US"/>
        </a:p>
      </dgm:t>
    </dgm:pt>
    <dgm:pt modelId="{64797E80-74FE-4D5B-8536-B6BD481D4FA6}" type="sibTrans" cxnId="{BD197145-A844-41B3-9E25-97FA82850A4B}">
      <dgm:prSet/>
      <dgm:spPr/>
      <dgm:t>
        <a:bodyPr/>
        <a:lstStyle/>
        <a:p>
          <a:endParaRPr lang="en-US"/>
        </a:p>
      </dgm:t>
    </dgm:pt>
    <dgm:pt modelId="{B74B3AF5-8650-4AC1-9EC6-5718B9BBFFF7}">
      <dgm:prSet phldrT="[Text]" custT="1"/>
      <dgm:spPr>
        <a:ln w="25400">
          <a:solidFill>
            <a:schemeClr val="tx2">
              <a:lumMod val="75000"/>
            </a:schemeClr>
          </a:solidFill>
          <a:prstDash val="sysDash"/>
        </a:ln>
      </dgm:spPr>
      <dgm:t>
        <a:bodyPr/>
        <a:lstStyle/>
        <a:p>
          <a:endParaRPr lang="en-IN" sz="1400" dirty="0">
            <a:solidFill>
              <a:schemeClr val="bg1">
                <a:lumMod val="50000"/>
              </a:schemeClr>
            </a:solidFill>
          </a:endParaRPr>
        </a:p>
      </dgm:t>
    </dgm:pt>
    <dgm:pt modelId="{9FA3809E-7E11-4362-A168-41BCE97784C0}" type="sibTrans" cxnId="{D2D018CC-B6E2-4897-92FD-CB5A9E82FE50}">
      <dgm:prSet/>
      <dgm:spPr/>
      <dgm:t>
        <a:bodyPr/>
        <a:lstStyle/>
        <a:p>
          <a:endParaRPr lang="en-US"/>
        </a:p>
      </dgm:t>
    </dgm:pt>
    <dgm:pt modelId="{72DB22C2-F6EE-46DD-AF1B-86865AD3BFC8}" type="parTrans" cxnId="{D2D018CC-B6E2-4897-92FD-CB5A9E82FE50}">
      <dgm:prSet/>
      <dgm:spPr/>
      <dgm:t>
        <a:bodyPr/>
        <a:lstStyle/>
        <a:p>
          <a:endParaRPr lang="en-US"/>
        </a:p>
      </dgm:t>
    </dgm:pt>
    <dgm:pt modelId="{0F68DA45-85A0-4AC4-A4DC-A4B0EF3D9718}">
      <dgm:prSet phldrT="[Text]" custT="1"/>
      <dgm:spPr>
        <a:solidFill>
          <a:schemeClr val="accent1">
            <a:lumMod val="50000"/>
          </a:schemeClr>
        </a:solidFill>
        <a:ln>
          <a:noFill/>
        </a:ln>
      </dgm:spPr>
      <dgm:t>
        <a:bodyPr anchor="ctr"/>
        <a:lstStyle/>
        <a:p>
          <a:r>
            <a:rPr lang="en-US" sz="1200" dirty="0" smtClean="0"/>
            <a:t>Channel, Sales &amp;  Distribution Management</a:t>
          </a:r>
          <a:endParaRPr lang="en-IN" sz="1200" dirty="0"/>
        </a:p>
      </dgm:t>
    </dgm:pt>
    <dgm:pt modelId="{F9E26085-7F61-40D2-A391-111CE89EF2D1}" type="sibTrans" cxnId="{09C97201-6C9D-40A0-861A-3560AD5DE2FF}">
      <dgm:prSet/>
      <dgm:spPr/>
      <dgm:t>
        <a:bodyPr/>
        <a:lstStyle/>
        <a:p>
          <a:endParaRPr lang="en-IN"/>
        </a:p>
      </dgm:t>
    </dgm:pt>
    <dgm:pt modelId="{1DB84AE4-12FB-4E8C-9CD0-1A59BD03AEE2}" type="parTrans" cxnId="{09C97201-6C9D-40A0-861A-3560AD5DE2FF}">
      <dgm:prSet/>
      <dgm:spPr/>
      <dgm:t>
        <a:bodyPr/>
        <a:lstStyle/>
        <a:p>
          <a:endParaRPr lang="en-IN"/>
        </a:p>
      </dgm:t>
    </dgm:pt>
    <dgm:pt modelId="{04D3DC2D-4657-4DE5-909E-598B08CFE9AB}" type="pres">
      <dgm:prSet presAssocID="{4F41977E-8B77-4E26-B9E4-872B9F5D811D}" presName="cycleMatrixDiagram" presStyleCnt="0">
        <dgm:presLayoutVars>
          <dgm:chMax val="1"/>
          <dgm:dir/>
          <dgm:animLvl val="lvl"/>
          <dgm:resizeHandles val="exact"/>
        </dgm:presLayoutVars>
      </dgm:prSet>
      <dgm:spPr/>
      <dgm:t>
        <a:bodyPr/>
        <a:lstStyle/>
        <a:p>
          <a:endParaRPr lang="en-IN"/>
        </a:p>
      </dgm:t>
    </dgm:pt>
    <dgm:pt modelId="{174E4B53-E53E-4723-8508-33A717CFB8D2}" type="pres">
      <dgm:prSet presAssocID="{4F41977E-8B77-4E26-B9E4-872B9F5D811D}" presName="children" presStyleCnt="0"/>
      <dgm:spPr/>
    </dgm:pt>
    <dgm:pt modelId="{90A07D5F-35AD-46A2-892C-E2F8D3075F67}" type="pres">
      <dgm:prSet presAssocID="{4F41977E-8B77-4E26-B9E4-872B9F5D811D}" presName="child1group" presStyleCnt="0"/>
      <dgm:spPr/>
    </dgm:pt>
    <dgm:pt modelId="{EA1CF468-DFD6-47EA-BA3B-D6596839DE24}" type="pres">
      <dgm:prSet presAssocID="{4F41977E-8B77-4E26-B9E4-872B9F5D811D}" presName="child1" presStyleLbl="bgAcc1" presStyleIdx="0" presStyleCnt="4" custScaleX="219130" custScaleY="145411" custLinFactNeighborX="-28202" custLinFactNeighborY="28702"/>
      <dgm:spPr/>
      <dgm:t>
        <a:bodyPr/>
        <a:lstStyle/>
        <a:p>
          <a:endParaRPr lang="en-IN"/>
        </a:p>
      </dgm:t>
    </dgm:pt>
    <dgm:pt modelId="{D44E9886-EE47-4AEC-B3A9-184FE1FD28BF}" type="pres">
      <dgm:prSet presAssocID="{4F41977E-8B77-4E26-B9E4-872B9F5D811D}" presName="child1Text" presStyleLbl="bgAcc1" presStyleIdx="0" presStyleCnt="4">
        <dgm:presLayoutVars>
          <dgm:bulletEnabled val="1"/>
        </dgm:presLayoutVars>
      </dgm:prSet>
      <dgm:spPr/>
      <dgm:t>
        <a:bodyPr/>
        <a:lstStyle/>
        <a:p>
          <a:endParaRPr lang="en-IN"/>
        </a:p>
      </dgm:t>
    </dgm:pt>
    <dgm:pt modelId="{7C0CAA45-5DF8-452E-B442-5249A5501F83}" type="pres">
      <dgm:prSet presAssocID="{4F41977E-8B77-4E26-B9E4-872B9F5D811D}" presName="child2group" presStyleCnt="0"/>
      <dgm:spPr/>
    </dgm:pt>
    <dgm:pt modelId="{FF479E3D-9041-4422-850F-BDBE1E018A26}" type="pres">
      <dgm:prSet presAssocID="{4F41977E-8B77-4E26-B9E4-872B9F5D811D}" presName="child2" presStyleLbl="bgAcc1" presStyleIdx="1" presStyleCnt="4" custScaleX="224861" custScaleY="143846" custLinFactNeighborX="36316" custLinFactNeighborY="28597"/>
      <dgm:spPr/>
      <dgm:t>
        <a:bodyPr/>
        <a:lstStyle/>
        <a:p>
          <a:endParaRPr lang="en-IN"/>
        </a:p>
      </dgm:t>
    </dgm:pt>
    <dgm:pt modelId="{F687DB78-8653-41D8-B47A-D1349D3DE866}" type="pres">
      <dgm:prSet presAssocID="{4F41977E-8B77-4E26-B9E4-872B9F5D811D}" presName="child2Text" presStyleLbl="bgAcc1" presStyleIdx="1" presStyleCnt="4">
        <dgm:presLayoutVars>
          <dgm:bulletEnabled val="1"/>
        </dgm:presLayoutVars>
      </dgm:prSet>
      <dgm:spPr/>
      <dgm:t>
        <a:bodyPr/>
        <a:lstStyle/>
        <a:p>
          <a:endParaRPr lang="en-IN"/>
        </a:p>
      </dgm:t>
    </dgm:pt>
    <dgm:pt modelId="{BE7BC13E-376C-4189-A069-E551B3461088}" type="pres">
      <dgm:prSet presAssocID="{4F41977E-8B77-4E26-B9E4-872B9F5D811D}" presName="child3group" presStyleCnt="0"/>
      <dgm:spPr/>
    </dgm:pt>
    <dgm:pt modelId="{9D4A2B47-CA3E-4D38-8FE4-821B105AC727}" type="pres">
      <dgm:prSet presAssocID="{4F41977E-8B77-4E26-B9E4-872B9F5D811D}" presName="child3" presStyleLbl="bgAcc1" presStyleIdx="2" presStyleCnt="4" custScaleX="225600" custScaleY="142172" custLinFactNeighborX="36316" custLinFactNeighborY="-31523"/>
      <dgm:spPr/>
      <dgm:t>
        <a:bodyPr/>
        <a:lstStyle/>
        <a:p>
          <a:endParaRPr lang="en-IN"/>
        </a:p>
      </dgm:t>
    </dgm:pt>
    <dgm:pt modelId="{5E27B9DA-4D8C-4B78-82F9-3051D6C393D1}" type="pres">
      <dgm:prSet presAssocID="{4F41977E-8B77-4E26-B9E4-872B9F5D811D}" presName="child3Text" presStyleLbl="bgAcc1" presStyleIdx="2" presStyleCnt="4">
        <dgm:presLayoutVars>
          <dgm:bulletEnabled val="1"/>
        </dgm:presLayoutVars>
      </dgm:prSet>
      <dgm:spPr/>
      <dgm:t>
        <a:bodyPr/>
        <a:lstStyle/>
        <a:p>
          <a:endParaRPr lang="en-IN"/>
        </a:p>
      </dgm:t>
    </dgm:pt>
    <dgm:pt modelId="{E19694CE-DA13-4567-92C0-8146D849C541}" type="pres">
      <dgm:prSet presAssocID="{4F41977E-8B77-4E26-B9E4-872B9F5D811D}" presName="child4group" presStyleCnt="0"/>
      <dgm:spPr/>
    </dgm:pt>
    <dgm:pt modelId="{7B0C5E8F-FA50-4B7C-ACB1-CD02C01968C1}" type="pres">
      <dgm:prSet presAssocID="{4F41977E-8B77-4E26-B9E4-872B9F5D811D}" presName="child4" presStyleLbl="bgAcc1" presStyleIdx="3" presStyleCnt="4" custScaleX="216808" custScaleY="144112" custLinFactNeighborX="-29004" custLinFactNeighborY="-30562"/>
      <dgm:spPr/>
      <dgm:t>
        <a:bodyPr/>
        <a:lstStyle/>
        <a:p>
          <a:endParaRPr lang="en-IN"/>
        </a:p>
      </dgm:t>
    </dgm:pt>
    <dgm:pt modelId="{63B66627-9970-4C61-889A-FA882A541B4A}" type="pres">
      <dgm:prSet presAssocID="{4F41977E-8B77-4E26-B9E4-872B9F5D811D}" presName="child4Text" presStyleLbl="bgAcc1" presStyleIdx="3" presStyleCnt="4">
        <dgm:presLayoutVars>
          <dgm:bulletEnabled val="1"/>
        </dgm:presLayoutVars>
      </dgm:prSet>
      <dgm:spPr/>
      <dgm:t>
        <a:bodyPr/>
        <a:lstStyle/>
        <a:p>
          <a:endParaRPr lang="en-IN"/>
        </a:p>
      </dgm:t>
    </dgm:pt>
    <dgm:pt modelId="{D864359C-7F85-488C-AF4D-EC05F8F37D1D}" type="pres">
      <dgm:prSet presAssocID="{4F41977E-8B77-4E26-B9E4-872B9F5D811D}" presName="childPlaceholder" presStyleCnt="0"/>
      <dgm:spPr/>
    </dgm:pt>
    <dgm:pt modelId="{E21232DA-D349-4C35-8182-B2ED9C9747B8}" type="pres">
      <dgm:prSet presAssocID="{4F41977E-8B77-4E26-B9E4-872B9F5D811D}" presName="circle" presStyleCnt="0"/>
      <dgm:spPr/>
    </dgm:pt>
    <dgm:pt modelId="{0F544FD3-0813-4A38-8462-F11F00483A7E}" type="pres">
      <dgm:prSet presAssocID="{4F41977E-8B77-4E26-B9E4-872B9F5D811D}" presName="quadrant1" presStyleLbl="node1" presStyleIdx="0" presStyleCnt="4" custScaleX="80862" custScaleY="73330" custLinFactNeighborX="9528" custLinFactNeighborY="12042">
        <dgm:presLayoutVars>
          <dgm:chMax val="1"/>
          <dgm:bulletEnabled val="1"/>
        </dgm:presLayoutVars>
      </dgm:prSet>
      <dgm:spPr/>
      <dgm:t>
        <a:bodyPr/>
        <a:lstStyle/>
        <a:p>
          <a:endParaRPr lang="en-IN"/>
        </a:p>
      </dgm:t>
    </dgm:pt>
    <dgm:pt modelId="{9656CC54-3EA8-4711-9509-019C326ABD33}" type="pres">
      <dgm:prSet presAssocID="{4F41977E-8B77-4E26-B9E4-872B9F5D811D}" presName="quadrant2" presStyleLbl="node1" presStyleIdx="1" presStyleCnt="4" custScaleX="79279" custScaleY="73154" custLinFactNeighborX="-9152" custLinFactNeighborY="12532">
        <dgm:presLayoutVars>
          <dgm:chMax val="1"/>
          <dgm:bulletEnabled val="1"/>
        </dgm:presLayoutVars>
      </dgm:prSet>
      <dgm:spPr/>
      <dgm:t>
        <a:bodyPr/>
        <a:lstStyle/>
        <a:p>
          <a:endParaRPr lang="en-IN"/>
        </a:p>
      </dgm:t>
    </dgm:pt>
    <dgm:pt modelId="{C8537255-4021-49E3-9EEB-BA556861C454}" type="pres">
      <dgm:prSet presAssocID="{4F41977E-8B77-4E26-B9E4-872B9F5D811D}" presName="quadrant3" presStyleLbl="node1" presStyleIdx="2" presStyleCnt="4" custScaleX="80203" custScaleY="70209" custLinFactNeighborX="-8153" custLinFactNeighborY="-15106">
        <dgm:presLayoutVars>
          <dgm:chMax val="1"/>
          <dgm:bulletEnabled val="1"/>
        </dgm:presLayoutVars>
      </dgm:prSet>
      <dgm:spPr/>
      <dgm:t>
        <a:bodyPr/>
        <a:lstStyle/>
        <a:p>
          <a:endParaRPr lang="en-IN"/>
        </a:p>
      </dgm:t>
    </dgm:pt>
    <dgm:pt modelId="{3A15B5C4-B4FB-48DB-87A8-F15600CA87AD}" type="pres">
      <dgm:prSet presAssocID="{4F41977E-8B77-4E26-B9E4-872B9F5D811D}" presName="quadrant4" presStyleLbl="node1" presStyleIdx="3" presStyleCnt="4" custScaleX="77956" custScaleY="69298" custLinFactNeighborX="9384" custLinFactNeighborY="-15232">
        <dgm:presLayoutVars>
          <dgm:chMax val="1"/>
          <dgm:bulletEnabled val="1"/>
        </dgm:presLayoutVars>
      </dgm:prSet>
      <dgm:spPr>
        <a:ln>
          <a:solidFill>
            <a:schemeClr val="tx2">
              <a:lumMod val="60000"/>
              <a:lumOff val="40000"/>
            </a:schemeClr>
          </a:solidFill>
        </a:ln>
      </dgm:spPr>
      <dgm:t>
        <a:bodyPr/>
        <a:lstStyle/>
        <a:p>
          <a:endParaRPr lang="en-IN"/>
        </a:p>
      </dgm:t>
    </dgm:pt>
    <dgm:pt modelId="{E9675016-B5AE-4EEC-A538-8959372B3625}" type="pres">
      <dgm:prSet presAssocID="{4F41977E-8B77-4E26-B9E4-872B9F5D811D}" presName="quadrantPlaceholder" presStyleCnt="0"/>
      <dgm:spPr/>
    </dgm:pt>
    <dgm:pt modelId="{5D5F69F0-B686-4866-8058-CC2086B95543}" type="pres">
      <dgm:prSet presAssocID="{4F41977E-8B77-4E26-B9E4-872B9F5D811D}" presName="center1" presStyleLbl="fgShp" presStyleIdx="0" presStyleCnt="2" custScaleX="73238" custScaleY="80991" custLinFactNeighborX="0"/>
      <dgm:spPr>
        <a:solidFill>
          <a:schemeClr val="bg1">
            <a:lumMod val="65000"/>
          </a:schemeClr>
        </a:solidFill>
        <a:ln>
          <a:solidFill>
            <a:schemeClr val="tx2">
              <a:lumMod val="50000"/>
            </a:schemeClr>
          </a:solidFill>
        </a:ln>
      </dgm:spPr>
      <dgm:t>
        <a:bodyPr/>
        <a:lstStyle/>
        <a:p>
          <a:endParaRPr lang="en-US"/>
        </a:p>
      </dgm:t>
    </dgm:pt>
    <dgm:pt modelId="{EE41C78E-A51A-496A-824D-E3F90B6114ED}" type="pres">
      <dgm:prSet presAssocID="{4F41977E-8B77-4E26-B9E4-872B9F5D811D}" presName="center2" presStyleLbl="fgShp" presStyleIdx="1" presStyleCnt="2" custScaleX="74194" custScaleY="88698" custLinFactNeighborX="0"/>
      <dgm:spPr>
        <a:solidFill>
          <a:schemeClr val="bg1">
            <a:lumMod val="65000"/>
          </a:schemeClr>
        </a:solidFill>
        <a:ln>
          <a:solidFill>
            <a:schemeClr val="tx2">
              <a:lumMod val="50000"/>
            </a:schemeClr>
          </a:solidFill>
        </a:ln>
      </dgm:spPr>
      <dgm:t>
        <a:bodyPr/>
        <a:lstStyle/>
        <a:p>
          <a:endParaRPr lang="en-US"/>
        </a:p>
      </dgm:t>
    </dgm:pt>
  </dgm:ptLst>
  <dgm:cxnLst>
    <dgm:cxn modelId="{C809AAA6-24DE-439D-83BB-695ADE2D9518}" type="presOf" srcId="{C510DFE1-4E9D-4D43-AE86-5279A0B75B9A}" destId="{5E27B9DA-4D8C-4B78-82F9-3051D6C393D1}" srcOrd="1" destOrd="0" presId="urn:microsoft.com/office/officeart/2005/8/layout/cycle4#1"/>
    <dgm:cxn modelId="{C88AEEC5-FC49-4B96-9D2B-53F2246DF4A0}" type="presOf" srcId="{A3707838-35B5-44F2-80F9-2F85791609BC}" destId="{D44E9886-EE47-4AEC-B3A9-184FE1FD28BF}" srcOrd="1" destOrd="1" presId="urn:microsoft.com/office/officeart/2005/8/layout/cycle4#1"/>
    <dgm:cxn modelId="{E5B7230A-6970-4280-BAA2-3053489FC857}" type="presOf" srcId="{2949A73D-619A-4AEF-AF5D-700909E51798}" destId="{5E27B9DA-4D8C-4B78-82F9-3051D6C393D1}" srcOrd="1" destOrd="2" presId="urn:microsoft.com/office/officeart/2005/8/layout/cycle4#1"/>
    <dgm:cxn modelId="{2FDF2E22-7E03-47B7-8DC1-62BF8B42B1F0}" srcId="{4F41977E-8B77-4E26-B9E4-872B9F5D811D}" destId="{ED518D5B-31C7-4E54-B9E2-C921DA14D2AC}" srcOrd="0" destOrd="0" parTransId="{D970F40A-4329-4C87-92CD-BDD6CC87E660}" sibTransId="{0C409065-AF8F-4D65-9342-BC593390CF5A}"/>
    <dgm:cxn modelId="{D689B4FC-8F80-47D8-BF1E-047F75C03F3E}" type="presOf" srcId="{A2F736F5-FEED-4FFC-8622-08E03BE84010}" destId="{EA1CF468-DFD6-47EA-BA3B-D6596839DE24}" srcOrd="0" destOrd="0" presId="urn:microsoft.com/office/officeart/2005/8/layout/cycle4#1"/>
    <dgm:cxn modelId="{590B863E-0CDE-4EBC-A053-67AB56CA18D0}" srcId="{84181489-6311-469A-B501-EED4940A67FB}" destId="{C510DFE1-4E9D-4D43-AE86-5279A0B75B9A}" srcOrd="0" destOrd="0" parTransId="{75AFE48C-5216-4CD3-A8C8-BBC59620A011}" sibTransId="{0AA1BA18-7CE6-4CFF-A193-63F97BF9CA8A}"/>
    <dgm:cxn modelId="{78A35B53-4900-48E2-9B15-08C6DCC67217}" type="presOf" srcId="{ED518D5B-31C7-4E54-B9E2-C921DA14D2AC}" destId="{0F544FD3-0813-4A38-8462-F11F00483A7E}" srcOrd="0" destOrd="0" presId="urn:microsoft.com/office/officeart/2005/8/layout/cycle4#1"/>
    <dgm:cxn modelId="{0EFE8B3C-1AA7-48B4-9D45-B003222B7E8E}" type="presOf" srcId="{4034ED69-AA85-49C0-9ED3-D4584C5D94CA}" destId="{5E27B9DA-4D8C-4B78-82F9-3051D6C393D1}" srcOrd="1" destOrd="1" presId="urn:microsoft.com/office/officeart/2005/8/layout/cycle4#1"/>
    <dgm:cxn modelId="{4ED56B3B-67A6-4B42-BE1D-8ADD58E230B1}" type="presOf" srcId="{A3707838-35B5-44F2-80F9-2F85791609BC}" destId="{EA1CF468-DFD6-47EA-BA3B-D6596839DE24}" srcOrd="0" destOrd="1" presId="urn:microsoft.com/office/officeart/2005/8/layout/cycle4#1"/>
    <dgm:cxn modelId="{6F2D8DF1-B7A3-450C-87B7-FF7DF8246EAD}" type="presOf" srcId="{0F68DA45-85A0-4AC4-A4DC-A4B0EF3D9718}" destId="{9656CC54-3EA8-4711-9509-019C326ABD33}" srcOrd="0" destOrd="0" presId="urn:microsoft.com/office/officeart/2005/8/layout/cycle4#1"/>
    <dgm:cxn modelId="{A4B092B5-BF30-44E4-ABF0-8063918F00B9}" type="presOf" srcId="{EDDEBDCA-9955-4077-9810-1ADC7869C5D0}" destId="{D44E9886-EE47-4AEC-B3A9-184FE1FD28BF}" srcOrd="1" destOrd="2" presId="urn:microsoft.com/office/officeart/2005/8/layout/cycle4#1"/>
    <dgm:cxn modelId="{13DF745B-547D-485C-99B3-A3427936DFE5}" type="presOf" srcId="{EDDEBDCA-9955-4077-9810-1ADC7869C5D0}" destId="{EA1CF468-DFD6-47EA-BA3B-D6596839DE24}" srcOrd="0" destOrd="2" presId="urn:microsoft.com/office/officeart/2005/8/layout/cycle4#1"/>
    <dgm:cxn modelId="{4D872B44-7C2B-4146-ADB9-9730F9999692}" type="presOf" srcId="{2949A73D-619A-4AEF-AF5D-700909E51798}" destId="{9D4A2B47-CA3E-4D38-8FE4-821B105AC727}" srcOrd="0" destOrd="2" presId="urn:microsoft.com/office/officeart/2005/8/layout/cycle4#1"/>
    <dgm:cxn modelId="{1490A867-07A7-47D3-908D-A61294F88A3D}" type="presOf" srcId="{84181489-6311-469A-B501-EED4940A67FB}" destId="{C8537255-4021-49E3-9EEB-BA556861C454}" srcOrd="0" destOrd="0" presId="urn:microsoft.com/office/officeart/2005/8/layout/cycle4#1"/>
    <dgm:cxn modelId="{DEDC8AF2-1BFC-4DE4-8E22-DC21CCB88E73}" type="presOf" srcId="{F8737A6A-B643-4907-A80D-EA8CAB72AD01}" destId="{7B0C5E8F-FA50-4B7C-ACB1-CD02C01968C1}" srcOrd="0" destOrd="0" presId="urn:microsoft.com/office/officeart/2005/8/layout/cycle4#1"/>
    <dgm:cxn modelId="{C8315BDB-45C7-431D-9CE8-7C5DA0745FA6}" type="presOf" srcId="{4034ED69-AA85-49C0-9ED3-D4584C5D94CA}" destId="{9D4A2B47-CA3E-4D38-8FE4-821B105AC727}" srcOrd="0" destOrd="1" presId="urn:microsoft.com/office/officeart/2005/8/layout/cycle4#1"/>
    <dgm:cxn modelId="{8577F572-319F-4063-99BD-908818118ABE}" type="presOf" srcId="{4F41977E-8B77-4E26-B9E4-872B9F5D811D}" destId="{04D3DC2D-4657-4DE5-909E-598B08CFE9AB}" srcOrd="0" destOrd="0" presId="urn:microsoft.com/office/officeart/2005/8/layout/cycle4#1"/>
    <dgm:cxn modelId="{9D86E122-2EF3-4E6E-BD22-A6444C782C6B}" srcId="{4F41977E-8B77-4E26-B9E4-872B9F5D811D}" destId="{84181489-6311-469A-B501-EED4940A67FB}" srcOrd="2" destOrd="0" parTransId="{381CB815-5FE2-485F-9531-1D1FF4281A33}" sibTransId="{3FA85DEF-66D5-46C1-8827-AC2AA40DFB12}"/>
    <dgm:cxn modelId="{443A321F-D3F6-48BE-9B31-58DF3611AD32}" type="presOf" srcId="{B74B3AF5-8650-4AC1-9EC6-5718B9BBFFF7}" destId="{FF479E3D-9041-4422-850F-BDBE1E018A26}" srcOrd="0" destOrd="0" presId="urn:microsoft.com/office/officeart/2005/8/layout/cycle4#1"/>
    <dgm:cxn modelId="{905B1219-42A1-4811-8BAF-2A008C898074}" srcId="{ED518D5B-31C7-4E54-B9E2-C921DA14D2AC}" destId="{A3707838-35B5-44F2-80F9-2F85791609BC}" srcOrd="1" destOrd="0" parTransId="{BEC8214F-0655-4834-92B8-017B08479294}" sibTransId="{FBFEAB90-B781-4776-B4CD-CD1F8D45C189}"/>
    <dgm:cxn modelId="{21FC5691-F57A-4E4D-A373-A498EE099276}" srcId="{84181489-6311-469A-B501-EED4940A67FB}" destId="{2949A73D-619A-4AEF-AF5D-700909E51798}" srcOrd="2" destOrd="0" parTransId="{8F145A47-F13A-41DC-8312-1D3BE9DD1FA1}" sibTransId="{1BF2AA23-A209-449B-A869-D94010D36C79}"/>
    <dgm:cxn modelId="{D2D018CC-B6E2-4897-92FD-CB5A9E82FE50}" srcId="{0F68DA45-85A0-4AC4-A4DC-A4B0EF3D9718}" destId="{B74B3AF5-8650-4AC1-9EC6-5718B9BBFFF7}" srcOrd="0" destOrd="0" parTransId="{72DB22C2-F6EE-46DD-AF1B-86865AD3BFC8}" sibTransId="{9FA3809E-7E11-4362-A168-41BCE97784C0}"/>
    <dgm:cxn modelId="{ACFA7D46-E2BA-4E5D-A38D-1831B2BFCB54}" type="presOf" srcId="{C510DFE1-4E9D-4D43-AE86-5279A0B75B9A}" destId="{9D4A2B47-CA3E-4D38-8FE4-821B105AC727}" srcOrd="0" destOrd="0" presId="urn:microsoft.com/office/officeart/2005/8/layout/cycle4#1"/>
    <dgm:cxn modelId="{1C964AC2-2A28-4484-825F-E0B06B14A238}" srcId="{ED518D5B-31C7-4E54-B9E2-C921DA14D2AC}" destId="{EDDEBDCA-9955-4077-9810-1ADC7869C5D0}" srcOrd="2" destOrd="0" parTransId="{4485C366-20D4-43EE-B3C1-DD07FF8D018A}" sibTransId="{032EA678-A96E-4D41-AFC0-26069924E8AB}"/>
    <dgm:cxn modelId="{B4B456D9-A7E1-4167-BC06-BAE6E4BF5FAE}" srcId="{418A7EDD-2B1C-4BE0-8796-5ADC08641253}" destId="{F8737A6A-B643-4907-A80D-EA8CAB72AD01}" srcOrd="0" destOrd="0" parTransId="{4387723F-B807-4571-879F-F53FBDB626BE}" sibTransId="{F84467D5-A64A-4513-9F2B-945CFDD82601}"/>
    <dgm:cxn modelId="{BD197145-A844-41B3-9E25-97FA82850A4B}" srcId="{ED518D5B-31C7-4E54-B9E2-C921DA14D2AC}" destId="{A2F736F5-FEED-4FFC-8622-08E03BE84010}" srcOrd="0" destOrd="0" parTransId="{5CE548D4-0A13-436A-983B-587ACB74F7E9}" sibTransId="{64797E80-74FE-4D5B-8536-B6BD481D4FA6}"/>
    <dgm:cxn modelId="{09C97201-6C9D-40A0-861A-3560AD5DE2FF}" srcId="{4F41977E-8B77-4E26-B9E4-872B9F5D811D}" destId="{0F68DA45-85A0-4AC4-A4DC-A4B0EF3D9718}" srcOrd="1" destOrd="0" parTransId="{1DB84AE4-12FB-4E8C-9CD0-1A59BD03AEE2}" sibTransId="{F9E26085-7F61-40D2-A391-111CE89EF2D1}"/>
    <dgm:cxn modelId="{7D17805E-F42C-44B9-9E13-C224260EDDD8}" srcId="{4F41977E-8B77-4E26-B9E4-872B9F5D811D}" destId="{418A7EDD-2B1C-4BE0-8796-5ADC08641253}" srcOrd="3" destOrd="0" parTransId="{40FCDBD7-5404-4939-8B2D-35C5B197857C}" sibTransId="{12148E0C-625C-4A65-92EB-597196B46175}"/>
    <dgm:cxn modelId="{63B3FE77-4DBD-4126-B7D9-B521E8E6E7E0}" type="presOf" srcId="{418A7EDD-2B1C-4BE0-8796-5ADC08641253}" destId="{3A15B5C4-B4FB-48DB-87A8-F15600CA87AD}" srcOrd="0" destOrd="0" presId="urn:microsoft.com/office/officeart/2005/8/layout/cycle4#1"/>
    <dgm:cxn modelId="{813E7D12-A980-40E5-A9C0-5FDE1AC62019}" type="presOf" srcId="{B74B3AF5-8650-4AC1-9EC6-5718B9BBFFF7}" destId="{F687DB78-8653-41D8-B47A-D1349D3DE866}" srcOrd="1" destOrd="0" presId="urn:microsoft.com/office/officeart/2005/8/layout/cycle4#1"/>
    <dgm:cxn modelId="{4271B99F-B76B-4873-AD30-E28278E896CC}" srcId="{84181489-6311-469A-B501-EED4940A67FB}" destId="{4034ED69-AA85-49C0-9ED3-D4584C5D94CA}" srcOrd="1" destOrd="0" parTransId="{5A1792C4-9FE4-429E-AEAA-A32718B14603}" sibTransId="{900E522E-973E-4754-ACA5-4298D4236F0F}"/>
    <dgm:cxn modelId="{0E6F8B2F-EBAC-4DA8-BA57-47A3BD7AA96E}" type="presOf" srcId="{A2F736F5-FEED-4FFC-8622-08E03BE84010}" destId="{D44E9886-EE47-4AEC-B3A9-184FE1FD28BF}" srcOrd="1" destOrd="0" presId="urn:microsoft.com/office/officeart/2005/8/layout/cycle4#1"/>
    <dgm:cxn modelId="{4A0273C7-7215-469B-8D0B-ADEEDA5C6688}" type="presOf" srcId="{F8737A6A-B643-4907-A80D-EA8CAB72AD01}" destId="{63B66627-9970-4C61-889A-FA882A541B4A}" srcOrd="1" destOrd="0" presId="urn:microsoft.com/office/officeart/2005/8/layout/cycle4#1"/>
    <dgm:cxn modelId="{36BE35AE-C226-4EDA-AF50-7156C6FF289E}" type="presParOf" srcId="{04D3DC2D-4657-4DE5-909E-598B08CFE9AB}" destId="{174E4B53-E53E-4723-8508-33A717CFB8D2}" srcOrd="0" destOrd="0" presId="urn:microsoft.com/office/officeart/2005/8/layout/cycle4#1"/>
    <dgm:cxn modelId="{E94A4425-338F-485B-8740-83B3383BA045}" type="presParOf" srcId="{174E4B53-E53E-4723-8508-33A717CFB8D2}" destId="{90A07D5F-35AD-46A2-892C-E2F8D3075F67}" srcOrd="0" destOrd="0" presId="urn:microsoft.com/office/officeart/2005/8/layout/cycle4#1"/>
    <dgm:cxn modelId="{51D9E21B-D89B-4E55-8090-54994B38C096}" type="presParOf" srcId="{90A07D5F-35AD-46A2-892C-E2F8D3075F67}" destId="{EA1CF468-DFD6-47EA-BA3B-D6596839DE24}" srcOrd="0" destOrd="0" presId="urn:microsoft.com/office/officeart/2005/8/layout/cycle4#1"/>
    <dgm:cxn modelId="{B65095BD-578A-4E40-8710-F270AAA1039F}" type="presParOf" srcId="{90A07D5F-35AD-46A2-892C-E2F8D3075F67}" destId="{D44E9886-EE47-4AEC-B3A9-184FE1FD28BF}" srcOrd="1" destOrd="0" presId="urn:microsoft.com/office/officeart/2005/8/layout/cycle4#1"/>
    <dgm:cxn modelId="{B341D2B2-28A1-4C88-A051-EBA7357AD734}" type="presParOf" srcId="{174E4B53-E53E-4723-8508-33A717CFB8D2}" destId="{7C0CAA45-5DF8-452E-B442-5249A5501F83}" srcOrd="1" destOrd="0" presId="urn:microsoft.com/office/officeart/2005/8/layout/cycle4#1"/>
    <dgm:cxn modelId="{59C0170F-84DF-48EB-A50A-9103B920064F}" type="presParOf" srcId="{7C0CAA45-5DF8-452E-B442-5249A5501F83}" destId="{FF479E3D-9041-4422-850F-BDBE1E018A26}" srcOrd="0" destOrd="0" presId="urn:microsoft.com/office/officeart/2005/8/layout/cycle4#1"/>
    <dgm:cxn modelId="{025301F8-6631-48BB-8498-B265B48D811D}" type="presParOf" srcId="{7C0CAA45-5DF8-452E-B442-5249A5501F83}" destId="{F687DB78-8653-41D8-B47A-D1349D3DE866}" srcOrd="1" destOrd="0" presId="urn:microsoft.com/office/officeart/2005/8/layout/cycle4#1"/>
    <dgm:cxn modelId="{B2F5BCAF-0974-46DD-96C4-E8E0A110AD00}" type="presParOf" srcId="{174E4B53-E53E-4723-8508-33A717CFB8D2}" destId="{BE7BC13E-376C-4189-A069-E551B3461088}" srcOrd="2" destOrd="0" presId="urn:microsoft.com/office/officeart/2005/8/layout/cycle4#1"/>
    <dgm:cxn modelId="{9C6E7CA5-6234-4786-B199-0F4C76E96E0B}" type="presParOf" srcId="{BE7BC13E-376C-4189-A069-E551B3461088}" destId="{9D4A2B47-CA3E-4D38-8FE4-821B105AC727}" srcOrd="0" destOrd="0" presId="urn:microsoft.com/office/officeart/2005/8/layout/cycle4#1"/>
    <dgm:cxn modelId="{C163A26F-8D99-4B8B-A8B1-F20A7D2CEA6C}" type="presParOf" srcId="{BE7BC13E-376C-4189-A069-E551B3461088}" destId="{5E27B9DA-4D8C-4B78-82F9-3051D6C393D1}" srcOrd="1" destOrd="0" presId="urn:microsoft.com/office/officeart/2005/8/layout/cycle4#1"/>
    <dgm:cxn modelId="{9ABBE639-67C9-4340-BF81-F1906762ED39}" type="presParOf" srcId="{174E4B53-E53E-4723-8508-33A717CFB8D2}" destId="{E19694CE-DA13-4567-92C0-8146D849C541}" srcOrd="3" destOrd="0" presId="urn:microsoft.com/office/officeart/2005/8/layout/cycle4#1"/>
    <dgm:cxn modelId="{A81C0CC3-5839-4E91-9125-1FFDD6F378D5}" type="presParOf" srcId="{E19694CE-DA13-4567-92C0-8146D849C541}" destId="{7B0C5E8F-FA50-4B7C-ACB1-CD02C01968C1}" srcOrd="0" destOrd="0" presId="urn:microsoft.com/office/officeart/2005/8/layout/cycle4#1"/>
    <dgm:cxn modelId="{5D030253-6B45-415C-BB32-9F6C70A8E483}" type="presParOf" srcId="{E19694CE-DA13-4567-92C0-8146D849C541}" destId="{63B66627-9970-4C61-889A-FA882A541B4A}" srcOrd="1" destOrd="0" presId="urn:microsoft.com/office/officeart/2005/8/layout/cycle4#1"/>
    <dgm:cxn modelId="{A83E0BCF-F4DA-424A-9813-DD1C3850F52F}" type="presParOf" srcId="{174E4B53-E53E-4723-8508-33A717CFB8D2}" destId="{D864359C-7F85-488C-AF4D-EC05F8F37D1D}" srcOrd="4" destOrd="0" presId="urn:microsoft.com/office/officeart/2005/8/layout/cycle4#1"/>
    <dgm:cxn modelId="{F1DCBAF6-DF15-461A-9702-885214479980}" type="presParOf" srcId="{04D3DC2D-4657-4DE5-909E-598B08CFE9AB}" destId="{E21232DA-D349-4C35-8182-B2ED9C9747B8}" srcOrd="1" destOrd="0" presId="urn:microsoft.com/office/officeart/2005/8/layout/cycle4#1"/>
    <dgm:cxn modelId="{D5F067B7-FE26-4E8C-99CB-652F2FE0DCD4}" type="presParOf" srcId="{E21232DA-D349-4C35-8182-B2ED9C9747B8}" destId="{0F544FD3-0813-4A38-8462-F11F00483A7E}" srcOrd="0" destOrd="0" presId="urn:microsoft.com/office/officeart/2005/8/layout/cycle4#1"/>
    <dgm:cxn modelId="{C08A685D-ECFE-4C36-B3E0-244656ECCE05}" type="presParOf" srcId="{E21232DA-D349-4C35-8182-B2ED9C9747B8}" destId="{9656CC54-3EA8-4711-9509-019C326ABD33}" srcOrd="1" destOrd="0" presId="urn:microsoft.com/office/officeart/2005/8/layout/cycle4#1"/>
    <dgm:cxn modelId="{8022D77D-057E-4CA0-B0EA-82F97530755D}" type="presParOf" srcId="{E21232DA-D349-4C35-8182-B2ED9C9747B8}" destId="{C8537255-4021-49E3-9EEB-BA556861C454}" srcOrd="2" destOrd="0" presId="urn:microsoft.com/office/officeart/2005/8/layout/cycle4#1"/>
    <dgm:cxn modelId="{3890264C-FD17-49A9-9365-6448F6508C0D}" type="presParOf" srcId="{E21232DA-D349-4C35-8182-B2ED9C9747B8}" destId="{3A15B5C4-B4FB-48DB-87A8-F15600CA87AD}" srcOrd="3" destOrd="0" presId="urn:microsoft.com/office/officeart/2005/8/layout/cycle4#1"/>
    <dgm:cxn modelId="{DDAE7294-05BB-4C22-85D6-DD39A5847A72}" type="presParOf" srcId="{E21232DA-D349-4C35-8182-B2ED9C9747B8}" destId="{E9675016-B5AE-4EEC-A538-8959372B3625}" srcOrd="4" destOrd="0" presId="urn:microsoft.com/office/officeart/2005/8/layout/cycle4#1"/>
    <dgm:cxn modelId="{5DF5D7A3-9129-46C7-A6E7-6FA2E1B77567}" type="presParOf" srcId="{04D3DC2D-4657-4DE5-909E-598B08CFE9AB}" destId="{5D5F69F0-B686-4866-8058-CC2086B95543}" srcOrd="2" destOrd="0" presId="urn:microsoft.com/office/officeart/2005/8/layout/cycle4#1"/>
    <dgm:cxn modelId="{F72FC5CE-176D-4F5C-8B1B-7FE68D33A9C8}" type="presParOf" srcId="{04D3DC2D-4657-4DE5-909E-598B08CFE9AB}" destId="{EE41C78E-A51A-496A-824D-E3F90B6114ED}" srcOrd="3" destOrd="0" presId="urn:microsoft.com/office/officeart/2005/8/layout/cycle4#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EF46C3-9327-40CE-B5C7-B74D7D463D01}">
      <dsp:nvSpPr>
        <dsp:cNvPr id="0" name=""/>
        <dsp:cNvSpPr/>
      </dsp:nvSpPr>
      <dsp:spPr>
        <a:xfrm>
          <a:off x="1712683" y="228"/>
          <a:ext cx="1729043" cy="172904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IN" sz="1400" kern="1200" dirty="0" smtClean="0"/>
            <a:t>Investors pull in money</a:t>
          </a:r>
          <a:endParaRPr lang="en-IN" sz="1400" kern="1200" dirty="0"/>
        </a:p>
      </dsp:txBody>
      <dsp:txXfrm>
        <a:off x="1965895" y="253440"/>
        <a:ext cx="1222619" cy="1222619"/>
      </dsp:txXfrm>
    </dsp:sp>
    <dsp:sp modelId="{77A6AD34-471B-485A-9EB6-516A6C7698B4}">
      <dsp:nvSpPr>
        <dsp:cNvPr id="0" name=""/>
        <dsp:cNvSpPr/>
      </dsp:nvSpPr>
      <dsp:spPr>
        <a:xfrm rot="3600000">
          <a:off x="2989870" y="1687472"/>
          <a:ext cx="461580" cy="58355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111250">
            <a:lnSpc>
              <a:spcPct val="90000"/>
            </a:lnSpc>
            <a:spcBef>
              <a:spcPct val="0"/>
            </a:spcBef>
            <a:spcAft>
              <a:spcPct val="35000"/>
            </a:spcAft>
          </a:pPr>
          <a:endParaRPr lang="en-IN" sz="2500" kern="1200"/>
        </a:p>
      </dsp:txBody>
      <dsp:txXfrm>
        <a:off x="3024489" y="1744221"/>
        <a:ext cx="323106" cy="350132"/>
      </dsp:txXfrm>
    </dsp:sp>
    <dsp:sp modelId="{75A89B86-E4BB-4C05-B6E4-36108CE07FF1}">
      <dsp:nvSpPr>
        <dsp:cNvPr id="0" name=""/>
        <dsp:cNvSpPr/>
      </dsp:nvSpPr>
      <dsp:spPr>
        <a:xfrm>
          <a:off x="3012658" y="2251851"/>
          <a:ext cx="1729043" cy="172904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IN" sz="1400" kern="1200" dirty="0" smtClean="0"/>
            <a:t>Fund Managers decide on securities to invest</a:t>
          </a:r>
          <a:endParaRPr lang="en-IN" sz="1400" kern="1200" dirty="0"/>
        </a:p>
      </dsp:txBody>
      <dsp:txXfrm>
        <a:off x="3265870" y="2505063"/>
        <a:ext cx="1222619" cy="1222619"/>
      </dsp:txXfrm>
    </dsp:sp>
    <dsp:sp modelId="{FD96B6D6-1B00-4C1E-AD94-F30F789BC46F}">
      <dsp:nvSpPr>
        <dsp:cNvPr id="0" name=""/>
        <dsp:cNvSpPr/>
      </dsp:nvSpPr>
      <dsp:spPr>
        <a:xfrm rot="10800000">
          <a:off x="2359478" y="2824596"/>
          <a:ext cx="461580" cy="58355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111250">
            <a:lnSpc>
              <a:spcPct val="90000"/>
            </a:lnSpc>
            <a:spcBef>
              <a:spcPct val="0"/>
            </a:spcBef>
            <a:spcAft>
              <a:spcPct val="35000"/>
            </a:spcAft>
          </a:pPr>
          <a:endParaRPr lang="en-IN" sz="2500" kern="1200"/>
        </a:p>
      </dsp:txBody>
      <dsp:txXfrm rot="10800000">
        <a:off x="2497952" y="2941306"/>
        <a:ext cx="323106" cy="350132"/>
      </dsp:txXfrm>
    </dsp:sp>
    <dsp:sp modelId="{2B1F3C98-051F-432A-AA91-C1309FF1570F}">
      <dsp:nvSpPr>
        <dsp:cNvPr id="0" name=""/>
        <dsp:cNvSpPr/>
      </dsp:nvSpPr>
      <dsp:spPr>
        <a:xfrm>
          <a:off x="412708" y="2251851"/>
          <a:ext cx="1729043" cy="172904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IN" sz="1400" kern="1200" dirty="0" smtClean="0"/>
            <a:t>Fund manager generates returns and </a:t>
          </a:r>
          <a:r>
            <a:rPr lang="en-IN" sz="1400" kern="1200" dirty="0" err="1" smtClean="0"/>
            <a:t>paases</a:t>
          </a:r>
          <a:r>
            <a:rPr lang="en-IN" sz="1400" kern="1200" dirty="0" smtClean="0"/>
            <a:t> it back to investors</a:t>
          </a:r>
          <a:endParaRPr lang="en-IN" sz="1400" kern="1200" dirty="0"/>
        </a:p>
      </dsp:txBody>
      <dsp:txXfrm>
        <a:off x="665920" y="2505063"/>
        <a:ext cx="1222619" cy="1222619"/>
      </dsp:txXfrm>
    </dsp:sp>
    <dsp:sp modelId="{49E19C99-35A1-4776-ACD4-D8BFCE447723}">
      <dsp:nvSpPr>
        <dsp:cNvPr id="0" name=""/>
        <dsp:cNvSpPr/>
      </dsp:nvSpPr>
      <dsp:spPr>
        <a:xfrm rot="18000000">
          <a:off x="1689895" y="1710098"/>
          <a:ext cx="461580" cy="58355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111250">
            <a:lnSpc>
              <a:spcPct val="90000"/>
            </a:lnSpc>
            <a:spcBef>
              <a:spcPct val="0"/>
            </a:spcBef>
            <a:spcAft>
              <a:spcPct val="35000"/>
            </a:spcAft>
          </a:pPr>
          <a:endParaRPr lang="en-IN" sz="2500" kern="1200"/>
        </a:p>
      </dsp:txBody>
      <dsp:txXfrm>
        <a:off x="1724514" y="1886769"/>
        <a:ext cx="323106" cy="3501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4A2B47-CA3E-4D38-8FE4-821B105AC727}">
      <dsp:nvSpPr>
        <dsp:cNvPr id="0" name=""/>
        <dsp:cNvSpPr/>
      </dsp:nvSpPr>
      <dsp:spPr>
        <a:xfrm>
          <a:off x="6009005" y="2604400"/>
          <a:ext cx="5655599" cy="2308748"/>
        </a:xfrm>
        <a:prstGeom prst="roundRect">
          <a:avLst>
            <a:gd name="adj" fmla="val 10000"/>
          </a:avLst>
        </a:prstGeom>
        <a:solidFill>
          <a:schemeClr val="lt1">
            <a:alpha val="90000"/>
            <a:hueOff val="0"/>
            <a:satOff val="0"/>
            <a:lumOff val="0"/>
            <a:alphaOff val="0"/>
          </a:schemeClr>
        </a:solidFill>
        <a:ln w="25400" cap="flat" cmpd="sng" algn="ctr">
          <a:solidFill>
            <a:schemeClr val="tx2">
              <a:lumMod val="75000"/>
            </a:schemeClr>
          </a:solidFill>
          <a:prstDash val="sysDash"/>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endParaRPr lang="en-IN" sz="1200" kern="1200" dirty="0">
            <a:solidFill>
              <a:schemeClr val="bg1">
                <a:lumMod val="50000"/>
              </a:schemeClr>
            </a:solidFill>
          </a:endParaRPr>
        </a:p>
        <a:p>
          <a:pPr marL="114300" lvl="1" indent="-114300" algn="l" defTabSz="622300">
            <a:lnSpc>
              <a:spcPct val="90000"/>
            </a:lnSpc>
            <a:spcBef>
              <a:spcPct val="0"/>
            </a:spcBef>
            <a:spcAft>
              <a:spcPct val="15000"/>
            </a:spcAft>
            <a:buChar char="••"/>
          </a:pPr>
          <a:endParaRPr lang="en-IN" sz="1400" kern="1200" dirty="0">
            <a:solidFill>
              <a:schemeClr val="bg1">
                <a:lumMod val="50000"/>
              </a:schemeClr>
            </a:solidFill>
          </a:endParaRPr>
        </a:p>
        <a:p>
          <a:pPr marL="114300" lvl="1" indent="-114300" algn="l" defTabSz="622300">
            <a:lnSpc>
              <a:spcPct val="90000"/>
            </a:lnSpc>
            <a:spcBef>
              <a:spcPct val="0"/>
            </a:spcBef>
            <a:spcAft>
              <a:spcPct val="15000"/>
            </a:spcAft>
            <a:buChar char="••"/>
          </a:pPr>
          <a:endParaRPr lang="en-IN" sz="1400" kern="1200" dirty="0">
            <a:solidFill>
              <a:schemeClr val="bg1">
                <a:lumMod val="50000"/>
              </a:schemeClr>
            </a:solidFill>
          </a:endParaRPr>
        </a:p>
      </dsp:txBody>
      <dsp:txXfrm>
        <a:off x="7756401" y="3232303"/>
        <a:ext cx="3857487" cy="1630129"/>
      </dsp:txXfrm>
    </dsp:sp>
    <dsp:sp modelId="{7B0C5E8F-FA50-4B7C-ACB1-CD02C01968C1}">
      <dsp:nvSpPr>
        <dsp:cNvPr id="0" name=""/>
        <dsp:cNvSpPr/>
      </dsp:nvSpPr>
      <dsp:spPr>
        <a:xfrm>
          <a:off x="391462" y="2604254"/>
          <a:ext cx="5435191" cy="2340252"/>
        </a:xfrm>
        <a:prstGeom prst="roundRect">
          <a:avLst>
            <a:gd name="adj" fmla="val 10000"/>
          </a:avLst>
        </a:prstGeom>
        <a:solidFill>
          <a:schemeClr val="lt1">
            <a:alpha val="90000"/>
            <a:hueOff val="0"/>
            <a:satOff val="0"/>
            <a:lumOff val="0"/>
            <a:alphaOff val="0"/>
          </a:schemeClr>
        </a:solidFill>
        <a:ln w="25400" cap="flat" cmpd="sng" algn="ctr">
          <a:solidFill>
            <a:schemeClr val="tx2">
              <a:lumMod val="75000"/>
            </a:schemeClr>
          </a:solidFill>
          <a:prstDash val="sysDash"/>
          <a:miter lim="800000"/>
        </a:ln>
        <a:effectLst/>
      </dsp:spPr>
      <dsp:style>
        <a:lnRef idx="2">
          <a:scrgbClr r="0" g="0" b="0"/>
        </a:lnRef>
        <a:fillRef idx="1">
          <a:scrgbClr r="0" g="0" b="0"/>
        </a:fillRef>
        <a:effectRef idx="0">
          <a:scrgbClr r="0" g="0" b="0"/>
        </a:effectRef>
        <a:fontRef idx="minor"/>
      </dsp:style>
      <dsp:txBody>
        <a:bodyPr spcFirstLastPara="0" vert="horz" wrap="square" lIns="45720" tIns="0" rIns="45720" bIns="0" numCol="1" spcCol="1270" anchor="t" anchorCtr="0">
          <a:noAutofit/>
        </a:bodyPr>
        <a:lstStyle/>
        <a:p>
          <a:pPr marL="114300" lvl="1" indent="-114300" algn="l" defTabSz="533400">
            <a:lnSpc>
              <a:spcPct val="90000"/>
            </a:lnSpc>
            <a:spcBef>
              <a:spcPct val="0"/>
            </a:spcBef>
            <a:spcAft>
              <a:spcPct val="15000"/>
            </a:spcAft>
            <a:buChar char="••"/>
          </a:pPr>
          <a:endParaRPr lang="en-IN" sz="1200" kern="1200" dirty="0">
            <a:solidFill>
              <a:schemeClr val="bg1">
                <a:lumMod val="50000"/>
              </a:schemeClr>
            </a:solidFill>
          </a:endParaRPr>
        </a:p>
      </dsp:txBody>
      <dsp:txXfrm>
        <a:off x="442870" y="3240725"/>
        <a:ext cx="3701818" cy="1652373"/>
      </dsp:txXfrm>
    </dsp:sp>
    <dsp:sp modelId="{FF479E3D-9041-4422-850F-BDBE1E018A26}">
      <dsp:nvSpPr>
        <dsp:cNvPr id="0" name=""/>
        <dsp:cNvSpPr/>
      </dsp:nvSpPr>
      <dsp:spPr>
        <a:xfrm>
          <a:off x="6018268" y="116290"/>
          <a:ext cx="5637073" cy="2335933"/>
        </a:xfrm>
        <a:prstGeom prst="roundRect">
          <a:avLst>
            <a:gd name="adj" fmla="val 10000"/>
          </a:avLst>
        </a:prstGeom>
        <a:solidFill>
          <a:schemeClr val="lt1">
            <a:alpha val="90000"/>
            <a:hueOff val="0"/>
            <a:satOff val="0"/>
            <a:lumOff val="0"/>
            <a:alphaOff val="0"/>
          </a:schemeClr>
        </a:solidFill>
        <a:ln w="25400" cap="flat" cmpd="sng" algn="ctr">
          <a:solidFill>
            <a:schemeClr val="tx2">
              <a:lumMod val="75000"/>
            </a:schemeClr>
          </a:solidFill>
          <a:prstDash val="sysDash"/>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endParaRPr lang="en-IN" sz="1400" kern="1200" dirty="0">
            <a:solidFill>
              <a:schemeClr val="bg1">
                <a:lumMod val="50000"/>
              </a:schemeClr>
            </a:solidFill>
          </a:endParaRPr>
        </a:p>
      </dsp:txBody>
      <dsp:txXfrm>
        <a:off x="7760703" y="167603"/>
        <a:ext cx="3843325" cy="1649323"/>
      </dsp:txXfrm>
    </dsp:sp>
    <dsp:sp modelId="{EA1CF468-DFD6-47EA-BA3B-D6596839DE24}">
      <dsp:nvSpPr>
        <dsp:cNvPr id="0" name=""/>
        <dsp:cNvSpPr/>
      </dsp:nvSpPr>
      <dsp:spPr>
        <a:xfrm>
          <a:off x="382463" y="105288"/>
          <a:ext cx="5493402" cy="2361347"/>
        </a:xfrm>
        <a:prstGeom prst="roundRect">
          <a:avLst>
            <a:gd name="adj" fmla="val 10000"/>
          </a:avLst>
        </a:prstGeom>
        <a:solidFill>
          <a:schemeClr val="lt1">
            <a:alpha val="90000"/>
            <a:hueOff val="0"/>
            <a:satOff val="0"/>
            <a:lumOff val="0"/>
            <a:alphaOff val="0"/>
          </a:schemeClr>
        </a:solidFill>
        <a:ln w="25400" cap="flat" cmpd="sng" algn="ctr">
          <a:solidFill>
            <a:schemeClr val="tx2">
              <a:lumMod val="75000"/>
            </a:schemeClr>
          </a:solidFill>
          <a:prstDash val="sysDash"/>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endParaRPr lang="en-IN" sz="1400" kern="1200" dirty="0"/>
        </a:p>
        <a:p>
          <a:pPr marL="114300" lvl="1" indent="-114300" algn="l" defTabSz="622300">
            <a:lnSpc>
              <a:spcPct val="90000"/>
            </a:lnSpc>
            <a:spcBef>
              <a:spcPct val="0"/>
            </a:spcBef>
            <a:spcAft>
              <a:spcPct val="15000"/>
            </a:spcAft>
            <a:buChar char="••"/>
          </a:pPr>
          <a:endParaRPr lang="en-IN" sz="1400" kern="1200" dirty="0"/>
        </a:p>
        <a:p>
          <a:pPr marL="114300" lvl="1" indent="-114300" algn="l" defTabSz="622300">
            <a:lnSpc>
              <a:spcPct val="90000"/>
            </a:lnSpc>
            <a:spcBef>
              <a:spcPct val="0"/>
            </a:spcBef>
            <a:spcAft>
              <a:spcPct val="15000"/>
            </a:spcAft>
            <a:buChar char="••"/>
          </a:pPr>
          <a:endParaRPr lang="en-IN" sz="1400" kern="1200" dirty="0"/>
        </a:p>
      </dsp:txBody>
      <dsp:txXfrm>
        <a:off x="434334" y="157159"/>
        <a:ext cx="3741639" cy="1667268"/>
      </dsp:txXfrm>
    </dsp:sp>
    <dsp:sp modelId="{0F544FD3-0813-4A38-8462-F11F00483A7E}">
      <dsp:nvSpPr>
        <dsp:cNvPr id="0" name=""/>
        <dsp:cNvSpPr/>
      </dsp:nvSpPr>
      <dsp:spPr>
        <a:xfrm>
          <a:off x="4093353" y="849519"/>
          <a:ext cx="1776826" cy="1611321"/>
        </a:xfrm>
        <a:prstGeom prst="pieWedge">
          <a:avLst/>
        </a:prstGeom>
        <a:solidFill>
          <a:schemeClr val="accent1">
            <a:lumMod val="50000"/>
          </a:schemeClr>
        </a:solidFill>
        <a:ln w="12700" cap="flat" cmpd="sng" algn="ctr">
          <a:solidFill>
            <a:schemeClr val="accent1">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n-US" sz="1200" kern="1200" dirty="0" smtClean="0"/>
            <a:t>Customer Management</a:t>
          </a:r>
          <a:endParaRPr lang="en-IN" sz="1200" kern="1200" dirty="0" smtClean="0"/>
        </a:p>
      </dsp:txBody>
      <dsp:txXfrm>
        <a:off x="4613773" y="1321464"/>
        <a:ext cx="1256406" cy="1139376"/>
      </dsp:txXfrm>
    </dsp:sp>
    <dsp:sp modelId="{9656CC54-3EA8-4711-9509-019C326ABD33}">
      <dsp:nvSpPr>
        <dsp:cNvPr id="0" name=""/>
        <dsp:cNvSpPr/>
      </dsp:nvSpPr>
      <dsp:spPr>
        <a:xfrm rot="5400000">
          <a:off x="6066424" y="794926"/>
          <a:ext cx="1607454" cy="1742042"/>
        </a:xfrm>
        <a:prstGeom prst="pieWedge">
          <a:avLst/>
        </a:prstGeom>
        <a:solidFill>
          <a:schemeClr val="accent1">
            <a:lumMod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n-US" sz="1200" kern="1200" dirty="0" smtClean="0"/>
            <a:t>Channel, Sales &amp;  Distribution Management</a:t>
          </a:r>
          <a:endParaRPr lang="en-IN" sz="1200" kern="1200" dirty="0"/>
        </a:p>
      </dsp:txBody>
      <dsp:txXfrm rot="-5400000">
        <a:off x="5999130" y="1333032"/>
        <a:ext cx="1231810" cy="1136642"/>
      </dsp:txXfrm>
    </dsp:sp>
    <dsp:sp modelId="{C8537255-4021-49E3-9EEB-BA556861C454}">
      <dsp:nvSpPr>
        <dsp:cNvPr id="0" name=""/>
        <dsp:cNvSpPr/>
      </dsp:nvSpPr>
      <dsp:spPr>
        <a:xfrm rot="10800000">
          <a:off x="6010930" y="2586121"/>
          <a:ext cx="1762345" cy="1542742"/>
        </a:xfrm>
        <a:prstGeom prst="pieWedge">
          <a:avLst/>
        </a:prstGeom>
        <a:solidFill>
          <a:schemeClr val="accent1">
            <a:lumMod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100000"/>
            </a:lnSpc>
            <a:spcBef>
              <a:spcPct val="0"/>
            </a:spcBef>
            <a:spcAft>
              <a:spcPct val="35000"/>
            </a:spcAft>
          </a:pPr>
          <a:r>
            <a:rPr lang="en-US" sz="1200" kern="1200" dirty="0" smtClean="0"/>
            <a:t>Claim</a:t>
          </a:r>
        </a:p>
        <a:p>
          <a:pPr lvl="0" algn="ctr" defTabSz="533400">
            <a:lnSpc>
              <a:spcPct val="100000"/>
            </a:lnSpc>
            <a:spcBef>
              <a:spcPct val="0"/>
            </a:spcBef>
            <a:spcAft>
              <a:spcPct val="35000"/>
            </a:spcAft>
          </a:pPr>
          <a:r>
            <a:rPr lang="en-US" sz="1200" kern="1200" dirty="0" smtClean="0"/>
            <a:t>Management</a:t>
          </a:r>
          <a:endParaRPr lang="en-IN" sz="1200" kern="1200" dirty="0"/>
        </a:p>
      </dsp:txBody>
      <dsp:txXfrm rot="10800000">
        <a:off x="6010930" y="2586121"/>
        <a:ext cx="1246166" cy="1090883"/>
      </dsp:txXfrm>
    </dsp:sp>
    <dsp:sp modelId="{3A15B5C4-B4FB-48DB-87A8-F15600CA87AD}">
      <dsp:nvSpPr>
        <dsp:cNvPr id="0" name=""/>
        <dsp:cNvSpPr/>
      </dsp:nvSpPr>
      <dsp:spPr>
        <a:xfrm rot="16200000">
          <a:off x="4217240" y="2498238"/>
          <a:ext cx="1522724" cy="1712971"/>
        </a:xfrm>
        <a:prstGeom prst="pieWedge">
          <a:avLst/>
        </a:prstGeom>
        <a:solidFill>
          <a:schemeClr val="accent1">
            <a:lumMod val="50000"/>
          </a:schemeClr>
        </a:solidFill>
        <a:ln w="12700" cap="flat" cmpd="sng" algn="ctr">
          <a:solidFill>
            <a:schemeClr val="tx2">
              <a:lumMod val="60000"/>
              <a:lum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n-US" sz="1200" kern="1200" dirty="0" smtClean="0"/>
            <a:t>Risk Management</a:t>
          </a:r>
          <a:endParaRPr lang="en-IN" sz="1200" kern="1200" dirty="0"/>
        </a:p>
      </dsp:txBody>
      <dsp:txXfrm rot="5400000">
        <a:off x="4623835" y="2593361"/>
        <a:ext cx="1211253" cy="1076728"/>
      </dsp:txXfrm>
    </dsp:sp>
    <dsp:sp modelId="{5D5F69F0-B686-4866-8058-CC2086B95543}">
      <dsp:nvSpPr>
        <dsp:cNvPr id="0" name=""/>
        <dsp:cNvSpPr/>
      </dsp:nvSpPr>
      <dsp:spPr>
        <a:xfrm>
          <a:off x="5644010" y="2145977"/>
          <a:ext cx="555635" cy="534309"/>
        </a:xfrm>
        <a:prstGeom prst="circularArrow">
          <a:avLst/>
        </a:prstGeom>
        <a:solidFill>
          <a:schemeClr val="bg1">
            <a:lumMod val="65000"/>
          </a:schemeClr>
        </a:solidFill>
        <a:ln w="12700" cap="flat" cmpd="sng" algn="ctr">
          <a:solidFill>
            <a:schemeClr val="tx2">
              <a:lumMod val="50000"/>
            </a:schemeClr>
          </a:solidFill>
          <a:prstDash val="solid"/>
          <a:miter lim="800000"/>
        </a:ln>
        <a:effectLst/>
      </dsp:spPr>
      <dsp:style>
        <a:lnRef idx="2">
          <a:scrgbClr r="0" g="0" b="0"/>
        </a:lnRef>
        <a:fillRef idx="1">
          <a:scrgbClr r="0" g="0" b="0"/>
        </a:fillRef>
        <a:effectRef idx="0">
          <a:scrgbClr r="0" g="0" b="0"/>
        </a:effectRef>
        <a:fontRef idx="minor"/>
      </dsp:style>
    </dsp:sp>
    <dsp:sp modelId="{EE41C78E-A51A-496A-824D-E3F90B6114ED}">
      <dsp:nvSpPr>
        <dsp:cNvPr id="0" name=""/>
        <dsp:cNvSpPr/>
      </dsp:nvSpPr>
      <dsp:spPr>
        <a:xfrm rot="10800000">
          <a:off x="5640384" y="2374291"/>
          <a:ext cx="562888" cy="585153"/>
        </a:xfrm>
        <a:prstGeom prst="circularArrow">
          <a:avLst/>
        </a:prstGeom>
        <a:solidFill>
          <a:schemeClr val="bg1">
            <a:lumMod val="65000"/>
          </a:schemeClr>
        </a:solidFill>
        <a:ln w="12700" cap="flat" cmpd="sng" algn="ctr">
          <a:solidFill>
            <a:schemeClr val="tx2">
              <a:lumMod val="5000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4#1">
  <dgm:title val=""/>
  <dgm:desc val=""/>
  <dgm:catLst>
    <dgm:cat type="relationship" pri="26000"/>
    <dgm:cat type="cycle" pri="13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6DFD725-F82F-4B1D-BC76-CDAEDC521F68}" type="datetimeFigureOut">
              <a:rPr lang="en-IN" smtClean="0"/>
              <a:t>26-07-2016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81379CB-9B61-4449-893A-1CE31AD8B5A7}" type="slidenum">
              <a:rPr lang="en-IN" smtClean="0"/>
              <a:t>‹#›</a:t>
            </a:fld>
            <a:endParaRPr lang="en-IN"/>
          </a:p>
        </p:txBody>
      </p:sp>
    </p:spTree>
    <p:extLst>
      <p:ext uri="{BB962C8B-B14F-4D97-AF65-F5344CB8AC3E}">
        <p14:creationId xmlns:p14="http://schemas.microsoft.com/office/powerpoint/2010/main" val="3038941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1615BD-D018-E545-9289-4AB1AE8F6686}" type="datetimeFigureOut">
              <a:rPr lang="en-US" smtClean="0"/>
              <a:t>7/26/2016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7CCB0-914D-D143-908C-7E6DBE57730A}" type="slidenum">
              <a:rPr lang="en-US" smtClean="0"/>
              <a:t>‹#›</a:t>
            </a:fld>
            <a:endParaRPr lang="en-US"/>
          </a:p>
        </p:txBody>
      </p:sp>
    </p:spTree>
    <p:extLst>
      <p:ext uri="{BB962C8B-B14F-4D97-AF65-F5344CB8AC3E}">
        <p14:creationId xmlns:p14="http://schemas.microsoft.com/office/powerpoint/2010/main" val="519056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AA2ACDC-3E14-445A-B67B-C922197BA19F}" type="datetime1">
              <a:rPr lang="en-IN" smtClean="0"/>
              <a:t>26-07-2016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734794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84B5105-2589-46F7-958F-0FECE4207F2F}" type="datetime1">
              <a:rPr lang="en-IN" smtClean="0"/>
              <a:t>26-07-2016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902321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E02590-414C-4838-AB94-3292635F41E9}" type="datetime1">
              <a:rPr lang="en-IN" smtClean="0"/>
              <a:t>26-07-2016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1202397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2EE3695-2318-41B3-84BC-59117BBE1346}" type="datetime1">
              <a:rPr lang="en-IN" smtClean="0"/>
              <a:t>26-07-2016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2168367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940983F-6FBA-4117-A5A6-B19EBCD1AC57}" type="datetime1">
              <a:rPr lang="en-IN" smtClean="0"/>
              <a:t>26-07-2016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1260690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8FF1ACF-E03D-4B77-8741-42C8F5D8D1B7}" type="datetime1">
              <a:rPr lang="en-IN" smtClean="0"/>
              <a:t>26-07-2016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1494097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AFA962-7E3F-4B97-A36A-F664B8566886}" type="datetime1">
              <a:rPr lang="en-IN" smtClean="0"/>
              <a:t>26-07-2016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1320391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3713E94-DDBD-4EAF-A494-EB0D698C57B7}" type="datetime1">
              <a:rPr lang="en-IN" smtClean="0"/>
              <a:t>26-07-2016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883831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05C53F-D991-43A7-9654-8D501BBC254A}" type="datetime1">
              <a:rPr lang="en-IN" smtClean="0"/>
              <a:t>26-07-2016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3033494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E62C983-ED9D-4F9D-96E3-7EBDCE01BCB2}" type="datetime1">
              <a:rPr lang="en-IN" smtClean="0"/>
              <a:t>26-07-2016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503303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FF2997B-452F-4B46-8667-DA60255E1C3A}" type="datetime1">
              <a:rPr lang="en-IN" smtClean="0"/>
              <a:t>26-07-2016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69571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26-07-2016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686789307"/>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26-07-2016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31758333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26-07-2016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938173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26-07-2016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570050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B2FF8D3-827B-46C7-970B-BED96715392A}" type="datetimeFigureOut">
              <a:rPr lang="en-IN" smtClean="0">
                <a:solidFill>
                  <a:srgbClr val="000000">
                    <a:tint val="75000"/>
                  </a:srgbClr>
                </a:solidFill>
              </a:rPr>
              <a:pPr/>
              <a:t>26-07-2016</a:t>
            </a:fld>
            <a:endParaRPr lang="en-IN" dirty="0">
              <a:solidFill>
                <a:srgbClr val="000000">
                  <a:tint val="75000"/>
                </a:srgbClr>
              </a:solidFill>
            </a:endParaRPr>
          </a:p>
        </p:txBody>
      </p:sp>
      <p:sp>
        <p:nvSpPr>
          <p:cNvPr id="8" name="Footer Placeholder 7"/>
          <p:cNvSpPr>
            <a:spLocks noGrp="1"/>
          </p:cNvSpPr>
          <p:nvPr>
            <p:ph type="ftr" sz="quarter" idx="11"/>
          </p:nvPr>
        </p:nvSpPr>
        <p:spPr/>
        <p:txBody>
          <a:bodyPr/>
          <a:lstStyle/>
          <a:p>
            <a:endParaRPr lang="en-IN" dirty="0">
              <a:solidFill>
                <a:srgbClr val="000000">
                  <a:tint val="75000"/>
                </a:srgbClr>
              </a:solidFill>
            </a:endParaRPr>
          </a:p>
        </p:txBody>
      </p:sp>
      <p:sp>
        <p:nvSpPr>
          <p:cNvPr id="9" name="Slide Number Placeholder 8"/>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1682546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B2FF8D3-827B-46C7-970B-BED96715392A}" type="datetimeFigureOut">
              <a:rPr lang="en-IN" smtClean="0">
                <a:solidFill>
                  <a:srgbClr val="000000">
                    <a:tint val="75000"/>
                  </a:srgbClr>
                </a:solidFill>
              </a:rPr>
              <a:pPr/>
              <a:t>26-07-2016</a:t>
            </a:fld>
            <a:endParaRPr lang="en-IN" dirty="0">
              <a:solidFill>
                <a:srgbClr val="000000">
                  <a:tint val="75000"/>
                </a:srgbClr>
              </a:solidFill>
            </a:endParaRPr>
          </a:p>
        </p:txBody>
      </p:sp>
      <p:sp>
        <p:nvSpPr>
          <p:cNvPr id="4" name="Footer Placeholder 3"/>
          <p:cNvSpPr>
            <a:spLocks noGrp="1"/>
          </p:cNvSpPr>
          <p:nvPr>
            <p:ph type="ftr" sz="quarter" idx="11"/>
          </p:nvPr>
        </p:nvSpPr>
        <p:spPr/>
        <p:txBody>
          <a:bodyPr/>
          <a:lstStyle/>
          <a:p>
            <a:endParaRPr lang="en-IN" dirty="0">
              <a:solidFill>
                <a:srgbClr val="000000">
                  <a:tint val="75000"/>
                </a:srgbClr>
              </a:solidFill>
            </a:endParaRPr>
          </a:p>
        </p:txBody>
      </p:sp>
      <p:sp>
        <p:nvSpPr>
          <p:cNvPr id="5" name="Slide Number Placeholder 4"/>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3695953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2FF8D3-827B-46C7-970B-BED96715392A}" type="datetimeFigureOut">
              <a:rPr lang="en-IN" smtClean="0">
                <a:solidFill>
                  <a:srgbClr val="000000">
                    <a:tint val="75000"/>
                  </a:srgbClr>
                </a:solidFill>
              </a:rPr>
              <a:pPr/>
              <a:t>26-07-2016</a:t>
            </a:fld>
            <a:endParaRPr lang="en-IN" dirty="0">
              <a:solidFill>
                <a:srgbClr val="000000">
                  <a:tint val="75000"/>
                </a:srgbClr>
              </a:solidFill>
            </a:endParaRPr>
          </a:p>
        </p:txBody>
      </p:sp>
      <p:sp>
        <p:nvSpPr>
          <p:cNvPr id="3" name="Footer Placeholder 2"/>
          <p:cNvSpPr>
            <a:spLocks noGrp="1"/>
          </p:cNvSpPr>
          <p:nvPr>
            <p:ph type="ftr" sz="quarter" idx="11"/>
          </p:nvPr>
        </p:nvSpPr>
        <p:spPr/>
        <p:txBody>
          <a:bodyPr/>
          <a:lstStyle/>
          <a:p>
            <a:endParaRPr lang="en-IN" dirty="0">
              <a:solidFill>
                <a:srgbClr val="000000">
                  <a:tint val="75000"/>
                </a:srgbClr>
              </a:solidFill>
            </a:endParaRPr>
          </a:p>
        </p:txBody>
      </p:sp>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952531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26-07-2016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1165941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26-07-2016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0832510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26-07-2016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2824686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26-07-2016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85577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1DC25D-03A7-41BA-A8C3-C87B1BB53F6B}" type="datetime1">
              <a:rPr lang="en-IN" smtClean="0">
                <a:solidFill>
                  <a:prstClr val="black">
                    <a:tint val="75000"/>
                  </a:prstClr>
                </a:solidFill>
              </a:rPr>
              <a:t>26-07-2016</a:t>
            </a:fld>
            <a:endParaRPr lang="en-IN"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40F425-731D-4835-A38A-9545B9CAE99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50887830"/>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F87393B5-8BA9-476F-99E3-FFB38A1E2962}" type="datetime1">
              <a:rPr lang="en-US" smtClean="0">
                <a:solidFill>
                  <a:srgbClr val="ACD433"/>
                </a:solidFill>
              </a:rPr>
              <a:pPr defTabSz="457200"/>
              <a:t>7/26/2016</a:t>
            </a:fld>
            <a:endParaRPr lang="en-US" dirty="0">
              <a:solidFill>
                <a:srgbClr val="ACD433"/>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9448800" y="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cxnSp>
        <p:nvCxnSpPr>
          <p:cNvPr id="7" name="Straight Connector 6"/>
          <p:cNvCxnSpPr/>
          <p:nvPr userDrawn="1"/>
        </p:nvCxnSpPr>
        <p:spPr>
          <a:xfrm>
            <a:off x="1" y="512914"/>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rotWithShape="1">
          <a:blip r:embed="rId13"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10" name="Rectangle 9"/>
          <p:cNvSpPr/>
          <p:nvPr userDrawn="1"/>
        </p:nvSpPr>
        <p:spPr>
          <a:xfrm>
            <a:off x="6002452" y="6572578"/>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spTree>
    <p:extLst>
      <p:ext uri="{BB962C8B-B14F-4D97-AF65-F5344CB8AC3E}">
        <p14:creationId xmlns:p14="http://schemas.microsoft.com/office/powerpoint/2010/main" val="2462980119"/>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13.jpg"/><Relationship Id="rId4" Type="http://schemas.openxmlformats.org/officeDocument/2006/relationships/image" Target="../media/image12.jpg"/></Relationships>
</file>

<file path=ppt/slides/_rels/slide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image" Target="../media/image20.jpg"/><Relationship Id="rId13" Type="http://schemas.openxmlformats.org/officeDocument/2006/relationships/image" Target="../media/image25.jpg"/><Relationship Id="rId18" Type="http://schemas.openxmlformats.org/officeDocument/2006/relationships/image" Target="../media/image30.jpg"/><Relationship Id="rId3" Type="http://schemas.openxmlformats.org/officeDocument/2006/relationships/image" Target="../media/image15.jpg"/><Relationship Id="rId7" Type="http://schemas.openxmlformats.org/officeDocument/2006/relationships/image" Target="../media/image19.jp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image" Target="../media/image1.jpeg"/><Relationship Id="rId16" Type="http://schemas.openxmlformats.org/officeDocument/2006/relationships/image" Target="../media/image28.png"/><Relationship Id="rId1" Type="http://schemas.openxmlformats.org/officeDocument/2006/relationships/slideLayout" Target="../slideLayouts/slideLayout13.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jpg"/><Relationship Id="rId15" Type="http://schemas.openxmlformats.org/officeDocument/2006/relationships/image" Target="../media/image27.jpg"/><Relationship Id="rId10" Type="http://schemas.openxmlformats.org/officeDocument/2006/relationships/image" Target="../media/image22.png"/><Relationship Id="rId4" Type="http://schemas.openxmlformats.org/officeDocument/2006/relationships/image" Target="../media/image16.jpg"/><Relationship Id="rId9" Type="http://schemas.openxmlformats.org/officeDocument/2006/relationships/image" Target="../media/image21.png"/><Relationship Id="rId14" Type="http://schemas.openxmlformats.org/officeDocument/2006/relationships/image" Target="../media/image26.jpg"/></Relationships>
</file>

<file path=ppt/slides/_rels/slide8.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34.jp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8" Type="http://schemas.openxmlformats.org/officeDocument/2006/relationships/image" Target="../media/image40.jpg"/><Relationship Id="rId3" Type="http://schemas.openxmlformats.org/officeDocument/2006/relationships/image" Target="../media/image35.jpg"/><Relationship Id="rId7" Type="http://schemas.openxmlformats.org/officeDocument/2006/relationships/image" Target="../media/image39.jp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38.jpg"/><Relationship Id="rId5" Type="http://schemas.openxmlformats.org/officeDocument/2006/relationships/image" Target="../media/image37.jpg"/><Relationship Id="rId4" Type="http://schemas.openxmlformats.org/officeDocument/2006/relationships/image" Target="../media/image36.jpg"/><Relationship Id="rId9" Type="http://schemas.openxmlformats.org/officeDocument/2006/relationships/image" Target="../media/image41.jpg"/></Relationships>
</file>

<file path=ppt/slides/_rels/slide11.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47.jpg"/><Relationship Id="rId5" Type="http://schemas.openxmlformats.org/officeDocument/2006/relationships/image" Target="../media/image46.jpg"/><Relationship Id="rId4" Type="http://schemas.openxmlformats.org/officeDocument/2006/relationships/image" Target="../media/image45.jpg"/></Relationships>
</file>

<file path=ppt/slides/_rels/slide14.xml.rels><?xml version="1.0" encoding="UTF-8" standalone="yes"?>
<Relationships xmlns="http://schemas.openxmlformats.org/package/2006/relationships"><Relationship Id="rId8" Type="http://schemas.openxmlformats.org/officeDocument/2006/relationships/image" Target="../media/image53.jpg"/><Relationship Id="rId3" Type="http://schemas.openxmlformats.org/officeDocument/2006/relationships/image" Target="../media/image48.jpg"/><Relationship Id="rId7" Type="http://schemas.openxmlformats.org/officeDocument/2006/relationships/image" Target="../media/image52.jp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51.jpg"/><Relationship Id="rId5" Type="http://schemas.openxmlformats.org/officeDocument/2006/relationships/image" Target="../media/image50.jpg"/><Relationship Id="rId4" Type="http://schemas.openxmlformats.org/officeDocument/2006/relationships/image" Target="../media/image49.jpg"/><Relationship Id="rId9" Type="http://schemas.openxmlformats.org/officeDocument/2006/relationships/image" Target="../media/image54.jpg"/></Relationships>
</file>

<file path=ppt/slides/_rels/slide15.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8" Type="http://schemas.openxmlformats.org/officeDocument/2006/relationships/image" Target="../media/image56.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60.jpg"/><Relationship Id="rId4" Type="http://schemas.openxmlformats.org/officeDocument/2006/relationships/image" Target="../media/image59.jpg"/></Relationships>
</file>

<file path=ppt/slides/_rels/slide19.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67.jpg"/><Relationship Id="rId3" Type="http://schemas.openxmlformats.org/officeDocument/2006/relationships/image" Target="../media/image62.jpg"/><Relationship Id="rId7" Type="http://schemas.openxmlformats.org/officeDocument/2006/relationships/image" Target="../media/image66.jp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65.jpg"/><Relationship Id="rId5" Type="http://schemas.openxmlformats.org/officeDocument/2006/relationships/image" Target="../media/image64.jpg"/><Relationship Id="rId10" Type="http://schemas.openxmlformats.org/officeDocument/2006/relationships/image" Target="../media/image69.png"/><Relationship Id="rId4" Type="http://schemas.openxmlformats.org/officeDocument/2006/relationships/image" Target="../media/image63.jpg"/><Relationship Id="rId9" Type="http://schemas.openxmlformats.org/officeDocument/2006/relationships/image" Target="../media/image68.jpg"/></Relationships>
</file>

<file path=ppt/slides/_rels/slide21.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image" Target="../media/image71.jp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73.jp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8" Type="http://schemas.openxmlformats.org/officeDocument/2006/relationships/image" Target="../media/image27.jpg"/><Relationship Id="rId3" Type="http://schemas.openxmlformats.org/officeDocument/2006/relationships/image" Target="../media/image74.jpg"/><Relationship Id="rId7" Type="http://schemas.openxmlformats.org/officeDocument/2006/relationships/image" Target="../media/image26.jp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25.jpg"/><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8" Type="http://schemas.openxmlformats.org/officeDocument/2006/relationships/image" Target="../media/image80.jpg"/><Relationship Id="rId3" Type="http://schemas.openxmlformats.org/officeDocument/2006/relationships/image" Target="../media/image75.jpg"/><Relationship Id="rId7" Type="http://schemas.openxmlformats.org/officeDocument/2006/relationships/image" Target="../media/image79.jp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78.jpg"/><Relationship Id="rId5" Type="http://schemas.openxmlformats.org/officeDocument/2006/relationships/image" Target="../media/image77.jpg"/><Relationship Id="rId4" Type="http://schemas.openxmlformats.org/officeDocument/2006/relationships/image" Target="../media/image76.jpeg"/><Relationship Id="rId9" Type="http://schemas.openxmlformats.org/officeDocument/2006/relationships/image" Target="../media/image81.jpg"/></Relationships>
</file>

<file path=ppt/slides/_rels/slide26.xml.rels><?xml version="1.0" encoding="UTF-8" standalone="yes"?>
<Relationships xmlns="http://schemas.openxmlformats.org/package/2006/relationships"><Relationship Id="rId8" Type="http://schemas.openxmlformats.org/officeDocument/2006/relationships/image" Target="../media/image87.jpg"/><Relationship Id="rId13" Type="http://schemas.openxmlformats.org/officeDocument/2006/relationships/image" Target="../media/image92.jpg"/><Relationship Id="rId3" Type="http://schemas.openxmlformats.org/officeDocument/2006/relationships/image" Target="../media/image82.png"/><Relationship Id="rId7" Type="http://schemas.openxmlformats.org/officeDocument/2006/relationships/image" Target="../media/image86.jpg"/><Relationship Id="rId12" Type="http://schemas.openxmlformats.org/officeDocument/2006/relationships/image" Target="../media/image91.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85.jpg"/><Relationship Id="rId11" Type="http://schemas.openxmlformats.org/officeDocument/2006/relationships/image" Target="../media/image90.jpg"/><Relationship Id="rId5" Type="http://schemas.openxmlformats.org/officeDocument/2006/relationships/image" Target="../media/image84.png"/><Relationship Id="rId10" Type="http://schemas.openxmlformats.org/officeDocument/2006/relationships/image" Target="../media/image89.png"/><Relationship Id="rId4" Type="http://schemas.openxmlformats.org/officeDocument/2006/relationships/image" Target="../media/image83.png"/><Relationship Id="rId9" Type="http://schemas.openxmlformats.org/officeDocument/2006/relationships/image" Target="../media/image88.jpg"/></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93.jp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8" Type="http://schemas.openxmlformats.org/officeDocument/2006/relationships/image" Target="../media/image98.jpg"/><Relationship Id="rId3" Type="http://schemas.openxmlformats.org/officeDocument/2006/relationships/image" Target="../media/image94.png"/><Relationship Id="rId7" Type="http://schemas.openxmlformats.org/officeDocument/2006/relationships/image" Target="../media/image97.jp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96.jpg"/><Relationship Id="rId11" Type="http://schemas.openxmlformats.org/officeDocument/2006/relationships/image" Target="../media/image101.jpg"/><Relationship Id="rId5" Type="http://schemas.openxmlformats.org/officeDocument/2006/relationships/image" Target="../media/image75.jpg"/><Relationship Id="rId10" Type="http://schemas.openxmlformats.org/officeDocument/2006/relationships/image" Target="../media/image100.jpg"/><Relationship Id="rId4" Type="http://schemas.openxmlformats.org/officeDocument/2006/relationships/image" Target="../media/image95.png"/><Relationship Id="rId9" Type="http://schemas.openxmlformats.org/officeDocument/2006/relationships/image" Target="../media/image99.png"/></Relationships>
</file>

<file path=ppt/slides/_rels/slide30.xml.rels><?xml version="1.0" encoding="UTF-8" standalone="yes"?>
<Relationships xmlns="http://schemas.openxmlformats.org/package/2006/relationships"><Relationship Id="rId2" Type="http://schemas.openxmlformats.org/officeDocument/2006/relationships/image" Target="../media/image102.jp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18" Type="http://schemas.openxmlformats.org/officeDocument/2006/relationships/image" Target="../media/image97.jpg"/><Relationship Id="rId3" Type="http://schemas.openxmlformats.org/officeDocument/2006/relationships/diagramLayout" Target="../diagrams/layout2.xml"/><Relationship Id="rId21" Type="http://schemas.openxmlformats.org/officeDocument/2006/relationships/image" Target="../media/image116.jpg"/><Relationship Id="rId7" Type="http://schemas.openxmlformats.org/officeDocument/2006/relationships/image" Target="../media/image103.png"/><Relationship Id="rId12" Type="http://schemas.openxmlformats.org/officeDocument/2006/relationships/image" Target="../media/image108.png"/><Relationship Id="rId17" Type="http://schemas.openxmlformats.org/officeDocument/2006/relationships/image" Target="../media/image113.jpg"/><Relationship Id="rId2" Type="http://schemas.openxmlformats.org/officeDocument/2006/relationships/diagramData" Target="../diagrams/data2.xml"/><Relationship Id="rId16" Type="http://schemas.openxmlformats.org/officeDocument/2006/relationships/image" Target="../media/image112.png"/><Relationship Id="rId20" Type="http://schemas.openxmlformats.org/officeDocument/2006/relationships/image" Target="../media/image115.png"/><Relationship Id="rId1" Type="http://schemas.openxmlformats.org/officeDocument/2006/relationships/slideLayout" Target="../slideLayouts/slideLayout13.xml"/><Relationship Id="rId6" Type="http://schemas.microsoft.com/office/2007/relationships/diagramDrawing" Target="../diagrams/drawing2.xml"/><Relationship Id="rId11" Type="http://schemas.openxmlformats.org/officeDocument/2006/relationships/image" Target="../media/image107.png"/><Relationship Id="rId5" Type="http://schemas.openxmlformats.org/officeDocument/2006/relationships/diagramColors" Target="../diagrams/colors2.xml"/><Relationship Id="rId15" Type="http://schemas.openxmlformats.org/officeDocument/2006/relationships/image" Target="../media/image111.png"/><Relationship Id="rId10" Type="http://schemas.openxmlformats.org/officeDocument/2006/relationships/image" Target="../media/image106.png"/><Relationship Id="rId19" Type="http://schemas.openxmlformats.org/officeDocument/2006/relationships/image" Target="../media/image114.jpg"/><Relationship Id="rId4" Type="http://schemas.openxmlformats.org/officeDocument/2006/relationships/diagramQuickStyle" Target="../diagrams/quickStyle2.xml"/><Relationship Id="rId9" Type="http://schemas.openxmlformats.org/officeDocument/2006/relationships/image" Target="../media/image105.png"/><Relationship Id="rId14" Type="http://schemas.openxmlformats.org/officeDocument/2006/relationships/image" Target="../media/image110.png"/></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112655"/>
            <a:ext cx="12192000" cy="6858000"/>
          </a:xfrm>
          <a:prstGeom prst="rect">
            <a:avLst/>
          </a:prstGeom>
        </p:spPr>
      </p:pic>
      <p:sp>
        <p:nvSpPr>
          <p:cNvPr id="7" name="Rectangle 6"/>
          <p:cNvSpPr/>
          <p:nvPr/>
        </p:nvSpPr>
        <p:spPr>
          <a:xfrm>
            <a:off x="114300" y="5796043"/>
            <a:ext cx="11963400" cy="923330"/>
          </a:xfrm>
          <a:prstGeom prst="rect">
            <a:avLst/>
          </a:prstGeom>
        </p:spPr>
        <p:txBody>
          <a:bodyPr wrap="square" anchor="b">
            <a:spAutoFit/>
          </a:bodyPr>
          <a:lstStyle/>
          <a:p>
            <a:pPr lvl="0"/>
            <a:r>
              <a:rPr lang="en-US" sz="900" dirty="0">
                <a:solidFill>
                  <a:prstClr val="white"/>
                </a:solidFill>
                <a:latin typeface="Calibri" charset="0"/>
                <a:ea typeface="Calibri" charset="0"/>
                <a:cs typeface="Calibri" charset="0"/>
              </a:rPr>
              <a:t>The information contained in the document is proprietary to Tata Industries Limited- Tata Insights &amp; Quants Division and is strictly confidential. </a:t>
            </a:r>
            <a:r>
              <a:rPr lang="en-IN" sz="900" dirty="0">
                <a:solidFill>
                  <a:prstClr val="white"/>
                </a:solidFill>
                <a:latin typeface="Calibri" charset="0"/>
                <a:ea typeface="Calibri" charset="0"/>
                <a:cs typeface="Calibri" charset="0"/>
              </a:rPr>
              <a:t>In consideration of receipt of this document, the recipient agrees that the information is being shared only for the limited purpose. The recipient of this information further agrees to maintain such information in confidence and to not reproduce, disclose, duplicate, electronically transmit or use in whole or in part for any other purpose. Prior written consent shall be obtained from the Insights &amp; Quants Division of Tata Industries in case the information is necessitated to be shared with anyone other than the Recipient to whom this information is addressed. The above restriction shall not limit the right to use the information contained in this deck, if it is obtained from another source without restriction.</a:t>
            </a:r>
            <a:br>
              <a:rPr lang="en-IN" sz="900" dirty="0">
                <a:solidFill>
                  <a:prstClr val="white"/>
                </a:solidFill>
                <a:latin typeface="Calibri" charset="0"/>
                <a:ea typeface="Calibri" charset="0"/>
                <a:cs typeface="Calibri" charset="0"/>
              </a:rPr>
            </a:br>
            <a:r>
              <a:rPr lang="en-IN" sz="900" dirty="0">
                <a:solidFill>
                  <a:prstClr val="white"/>
                </a:solidFill>
                <a:latin typeface="Calibri" charset="0"/>
                <a:ea typeface="Calibri" charset="0"/>
                <a:cs typeface="Calibri" charset="0"/>
              </a:rPr>
              <a:t> </a:t>
            </a:r>
            <a:br>
              <a:rPr lang="en-IN" sz="900" dirty="0">
                <a:solidFill>
                  <a:prstClr val="white"/>
                </a:solidFill>
                <a:latin typeface="Calibri" charset="0"/>
                <a:ea typeface="Calibri" charset="0"/>
                <a:cs typeface="Calibri" charset="0"/>
              </a:rPr>
            </a:br>
            <a:r>
              <a:rPr lang="en-IN" sz="900" dirty="0">
                <a:solidFill>
                  <a:prstClr val="white"/>
                </a:solidFill>
                <a:latin typeface="Calibri" charset="0"/>
                <a:ea typeface="Calibri" charset="0"/>
                <a:cs typeface="Calibri" charset="0"/>
              </a:rPr>
              <a:t>© Copyright, Tata Insights &amp; Quants Division, Tata Industries Limited </a:t>
            </a:r>
          </a:p>
        </p:txBody>
      </p:sp>
      <p:sp>
        <p:nvSpPr>
          <p:cNvPr id="8" name="Rectangle 7"/>
          <p:cNvSpPr/>
          <p:nvPr/>
        </p:nvSpPr>
        <p:spPr>
          <a:xfrm>
            <a:off x="1844360" y="562341"/>
            <a:ext cx="8731879" cy="830997"/>
          </a:xfrm>
          <a:prstGeom prst="rect">
            <a:avLst/>
          </a:prstGeom>
        </p:spPr>
        <p:txBody>
          <a:bodyPr wrap="none">
            <a:spAutoFit/>
          </a:bodyPr>
          <a:lstStyle/>
          <a:p>
            <a:pPr algn="r"/>
            <a:r>
              <a:rPr lang="en-GB" sz="48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rPr>
              <a:t>Introduction to Financial  Domain</a:t>
            </a:r>
            <a:endParaRPr lang="en-IN" sz="32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endParaRPr>
          </a:p>
        </p:txBody>
      </p:sp>
      <p:sp>
        <p:nvSpPr>
          <p:cNvPr id="2" name="Slide Number Placeholder 1"/>
          <p:cNvSpPr>
            <a:spLocks noGrp="1"/>
          </p:cNvSpPr>
          <p:nvPr>
            <p:ph type="sldNum" sz="quarter" idx="12"/>
          </p:nvPr>
        </p:nvSpPr>
        <p:spPr/>
        <p:txBody>
          <a:bodyPr/>
          <a:lstStyle/>
          <a:p>
            <a:fld id="{3040F425-731D-4835-A38A-9545B9CAE996}" type="slidenum">
              <a:rPr lang="en-IN" smtClean="0"/>
              <a:t>1</a:t>
            </a:fld>
            <a:endParaRPr lang="en-IN" dirty="0"/>
          </a:p>
        </p:txBody>
      </p:sp>
      <p:sp>
        <p:nvSpPr>
          <p:cNvPr id="9" name="Rectangle 8"/>
          <p:cNvSpPr/>
          <p:nvPr/>
        </p:nvSpPr>
        <p:spPr>
          <a:xfrm>
            <a:off x="10417017" y="1553535"/>
            <a:ext cx="1444627" cy="400110"/>
          </a:xfrm>
          <a:prstGeom prst="rect">
            <a:avLst/>
          </a:prstGeom>
        </p:spPr>
        <p:txBody>
          <a:bodyPr wrap="none">
            <a:spAutoFit/>
          </a:bodyPr>
          <a:lstStyle/>
          <a:p>
            <a:pPr algn="r"/>
            <a:r>
              <a:rPr lang="en-GB" sz="20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rPr>
              <a:t>01/08/2016</a:t>
            </a:r>
            <a:endParaRPr lang="en-IN" sz="20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endParaRPr>
          </a:p>
        </p:txBody>
      </p:sp>
    </p:spTree>
    <p:extLst>
      <p:ext uri="{BB962C8B-B14F-4D97-AF65-F5344CB8AC3E}">
        <p14:creationId xmlns:p14="http://schemas.microsoft.com/office/powerpoint/2010/main" val="41203208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2</a:t>
            </a:fld>
            <a:endParaRPr lang="en-IN" dirty="0">
              <a:solidFill>
                <a:srgbClr val="000000">
                  <a:tint val="75000"/>
                </a:srgbClr>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310648"/>
          </a:xfrm>
          <a:prstGeom prst="rect">
            <a:avLst/>
          </a:prstGeom>
        </p:spPr>
      </p:pic>
      <p:sp>
        <p:nvSpPr>
          <p:cNvPr id="5" name="Rectangle 4"/>
          <p:cNvSpPr/>
          <p:nvPr/>
        </p:nvSpPr>
        <p:spPr>
          <a:xfrm>
            <a:off x="-367378" y="188912"/>
            <a:ext cx="5091779" cy="1569660"/>
          </a:xfrm>
          <a:prstGeom prst="rect">
            <a:avLst/>
          </a:prstGeom>
        </p:spPr>
        <p:txBody>
          <a:bodyPr wrap="none">
            <a:spAutoFit/>
          </a:bodyPr>
          <a:lstStyle/>
          <a:p>
            <a:pPr algn="r"/>
            <a:r>
              <a:rPr lang="en-GB" sz="4800" b="1" dirty="0" smtClean="0">
                <a:solidFill>
                  <a:schemeClr val="accent1">
                    <a:lumMod val="50000"/>
                  </a:schemeClr>
                </a:solidFill>
                <a:effectLst>
                  <a:outerShdw blurRad="38100" dist="38100" dir="2700000" algn="tl">
                    <a:srgbClr val="000000">
                      <a:alpha val="43137"/>
                    </a:srgbClr>
                  </a:outerShdw>
                </a:effectLst>
                <a:latin typeface="Calibri" charset="0"/>
                <a:ea typeface="Calibri" charset="0"/>
                <a:cs typeface="Calibri" charset="0"/>
              </a:rPr>
              <a:t>Introduction to </a:t>
            </a:r>
          </a:p>
          <a:p>
            <a:pPr algn="r"/>
            <a:r>
              <a:rPr lang="en-GB" sz="4800" b="1" dirty="0" smtClean="0">
                <a:solidFill>
                  <a:schemeClr val="accent1">
                    <a:lumMod val="50000"/>
                  </a:schemeClr>
                </a:solidFill>
                <a:effectLst>
                  <a:outerShdw blurRad="38100" dist="38100" dir="2700000" algn="tl">
                    <a:srgbClr val="000000">
                      <a:alpha val="43137"/>
                    </a:srgbClr>
                  </a:outerShdw>
                </a:effectLst>
                <a:latin typeface="Calibri" charset="0"/>
                <a:ea typeface="Calibri" charset="0"/>
                <a:cs typeface="Calibri" charset="0"/>
              </a:rPr>
              <a:t>   Exchange System </a:t>
            </a:r>
            <a:endParaRPr lang="en-IN" sz="3200" b="1" dirty="0" smtClean="0">
              <a:solidFill>
                <a:schemeClr val="accent1">
                  <a:lumMod val="50000"/>
                </a:schemeClr>
              </a:solidFill>
              <a:effectLst>
                <a:outerShdw blurRad="38100" dist="38100" dir="2700000" algn="tl">
                  <a:srgbClr val="000000">
                    <a:alpha val="43137"/>
                  </a:srgbClr>
                </a:outerShdw>
              </a:effectLst>
              <a:latin typeface="Calibri" charset="0"/>
              <a:ea typeface="Calibri" charset="0"/>
              <a:cs typeface="Calibri" charset="0"/>
            </a:endParaRPr>
          </a:p>
        </p:txBody>
      </p:sp>
    </p:spTree>
    <p:extLst>
      <p:ext uri="{BB962C8B-B14F-4D97-AF65-F5344CB8AC3E}">
        <p14:creationId xmlns:p14="http://schemas.microsoft.com/office/powerpoint/2010/main" val="36729979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3</a:t>
            </a:fld>
            <a:endParaRPr lang="en-IN" dirty="0">
              <a:solidFill>
                <a:srgbClr val="000000">
                  <a:tint val="75000"/>
                </a:srgbClr>
              </a:solidFill>
            </a:endParaRPr>
          </a:p>
        </p:txBody>
      </p:sp>
      <p:sp>
        <p:nvSpPr>
          <p:cNvPr id="5" name="Rectangle 4"/>
          <p:cNvSpPr/>
          <p:nvPr/>
        </p:nvSpPr>
        <p:spPr>
          <a:xfrm>
            <a:off x="2552849" y="237066"/>
            <a:ext cx="7086427"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Earliest Form of Exchange: Barter System</a:t>
            </a:r>
            <a:endParaRPr lang="en-IN" sz="2800" b="1" dirty="0">
              <a:solidFill>
                <a:srgbClr val="0070C0"/>
              </a:solidFill>
              <a:latin typeface="Leelawadee UI" panose="020B0502040204020203" pitchFamily="34" charset="-34"/>
              <a:cs typeface="Leelawadee UI" panose="020B0502040204020203" pitchFamily="34" charset="-34"/>
            </a:endParaRPr>
          </a:p>
        </p:txBody>
      </p:sp>
      <p:sp>
        <p:nvSpPr>
          <p:cNvPr id="69" name="Rounded Rectangle 68"/>
          <p:cNvSpPr/>
          <p:nvPr/>
        </p:nvSpPr>
        <p:spPr>
          <a:xfrm>
            <a:off x="8620948" y="609126"/>
            <a:ext cx="3426658" cy="497562"/>
          </a:xfrm>
          <a:prstGeom prst="roundRect">
            <a:avLst/>
          </a:prstGeom>
          <a:noFill/>
          <a:ln w="19050" cap="rnd" cmpd="sng" algn="ctr">
            <a:noFill/>
            <a:prstDash val="dash"/>
          </a:ln>
          <a:effectLst/>
        </p:spPr>
        <p:txBody>
          <a:bodyPr rtlCol="0" anchor="t"/>
          <a:lstStyle/>
          <a:p>
            <a:pPr>
              <a:defRPr/>
            </a:pPr>
            <a:endParaRPr lang="en-IN" sz="1200" kern="0" dirty="0" smtClean="0">
              <a:solidFill>
                <a:prstClr val="black"/>
              </a:solidFill>
              <a:latin typeface="Century Gothic"/>
            </a:endParaRPr>
          </a:p>
        </p:txBody>
      </p:sp>
      <p:sp>
        <p:nvSpPr>
          <p:cNvPr id="2" name="Rectangle 1"/>
          <p:cNvSpPr/>
          <p:nvPr/>
        </p:nvSpPr>
        <p:spPr>
          <a:xfrm>
            <a:off x="386366" y="997937"/>
            <a:ext cx="11661240" cy="769441"/>
          </a:xfrm>
          <a:prstGeom prst="rect">
            <a:avLst/>
          </a:prstGeom>
        </p:spPr>
        <p:txBody>
          <a:bodyPr wrap="square">
            <a:spAutoFit/>
          </a:bodyPr>
          <a:lstStyle/>
          <a:p>
            <a:r>
              <a:rPr lang="en-IN" sz="2400" b="1" dirty="0" smtClean="0">
                <a:solidFill>
                  <a:srgbClr val="4E67C8"/>
                </a:solidFill>
              </a:rPr>
              <a:t>Barter </a:t>
            </a:r>
            <a:r>
              <a:rPr lang="en-IN" sz="2400" b="1" dirty="0">
                <a:solidFill>
                  <a:srgbClr val="4E67C8"/>
                </a:solidFill>
              </a:rPr>
              <a:t>system </a:t>
            </a:r>
            <a:r>
              <a:rPr lang="en-IN" sz="2000" dirty="0"/>
              <a:t>is </a:t>
            </a:r>
            <a:r>
              <a:rPr lang="en-IN" sz="2000" dirty="0" smtClean="0"/>
              <a:t>the oldest method </a:t>
            </a:r>
            <a:r>
              <a:rPr lang="en-IN" sz="2000" dirty="0"/>
              <a:t>of </a:t>
            </a:r>
            <a:r>
              <a:rPr lang="en-IN" sz="2000" dirty="0" smtClean="0"/>
              <a:t>exchange, used for </a:t>
            </a:r>
            <a:r>
              <a:rPr lang="en-IN" sz="2000" dirty="0"/>
              <a:t>centuries and long </a:t>
            </a:r>
            <a:r>
              <a:rPr lang="en-IN" sz="2400" b="1" dirty="0">
                <a:solidFill>
                  <a:srgbClr val="4E67C8"/>
                </a:solidFill>
              </a:rPr>
              <a:t>before money </a:t>
            </a:r>
            <a:r>
              <a:rPr lang="en-IN" sz="2000" dirty="0"/>
              <a:t>was </a:t>
            </a:r>
            <a:r>
              <a:rPr lang="en-IN" sz="2000" dirty="0" smtClean="0"/>
              <a:t>invented where people </a:t>
            </a:r>
            <a:r>
              <a:rPr lang="en-IN" sz="2000" dirty="0"/>
              <a:t>exchanged services and goods for other services and goods in return. </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b="15184"/>
          <a:stretch/>
        </p:blipFill>
        <p:spPr>
          <a:xfrm>
            <a:off x="386366" y="2005029"/>
            <a:ext cx="3899332" cy="3326825"/>
          </a:xfrm>
          <a:prstGeom prst="rect">
            <a:avLst/>
          </a:prstGeom>
        </p:spPr>
      </p:pic>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b="35195"/>
          <a:stretch/>
        </p:blipFill>
        <p:spPr>
          <a:xfrm>
            <a:off x="6452314" y="2023936"/>
            <a:ext cx="5076423" cy="1830838"/>
          </a:xfrm>
          <a:prstGeom prst="rect">
            <a:avLst/>
          </a:prstGeom>
        </p:spPr>
      </p:pic>
      <p:sp>
        <p:nvSpPr>
          <p:cNvPr id="10" name="TextBox 9"/>
          <p:cNvSpPr txBox="1"/>
          <p:nvPr/>
        </p:nvSpPr>
        <p:spPr>
          <a:xfrm>
            <a:off x="5111455" y="4515464"/>
            <a:ext cx="7018986" cy="1754326"/>
          </a:xfrm>
          <a:prstGeom prst="rect">
            <a:avLst/>
          </a:prstGeom>
          <a:noFill/>
        </p:spPr>
        <p:txBody>
          <a:bodyPr wrap="square" rtlCol="0">
            <a:spAutoFit/>
          </a:bodyPr>
          <a:lstStyle/>
          <a:p>
            <a:r>
              <a:rPr lang="en-IN" dirty="0" smtClean="0"/>
              <a:t>1. Exchange of goods can take place between two people if each possess </a:t>
            </a:r>
          </a:p>
          <a:p>
            <a:r>
              <a:rPr lang="en-IN" dirty="0"/>
              <a:t> </a:t>
            </a:r>
            <a:r>
              <a:rPr lang="en-IN" dirty="0" smtClean="0"/>
              <a:t>   the good other person wants</a:t>
            </a:r>
          </a:p>
          <a:p>
            <a:r>
              <a:rPr lang="en-IN" dirty="0" smtClean="0"/>
              <a:t>2. If incidentally two person met together who wants each other’s goods  </a:t>
            </a:r>
          </a:p>
          <a:p>
            <a:r>
              <a:rPr lang="en-IN" dirty="0"/>
              <a:t> </a:t>
            </a:r>
            <a:r>
              <a:rPr lang="en-IN" dirty="0" smtClean="0"/>
              <a:t>   they cannot find a satisfactory value of their goods</a:t>
            </a:r>
          </a:p>
          <a:p>
            <a:r>
              <a:rPr lang="en-IN" dirty="0" smtClean="0"/>
              <a:t>3. Goods cannot be stored for a long time because their value declines as </a:t>
            </a:r>
          </a:p>
          <a:p>
            <a:r>
              <a:rPr lang="en-IN" dirty="0"/>
              <a:t> </a:t>
            </a:r>
            <a:r>
              <a:rPr lang="en-IN" dirty="0" smtClean="0"/>
              <a:t>   time passes</a:t>
            </a:r>
            <a:endParaRPr lang="en-IN" dirty="0"/>
          </a:p>
        </p:txBody>
      </p:sp>
      <p:sp>
        <p:nvSpPr>
          <p:cNvPr id="11" name="TextBox 10"/>
          <p:cNvSpPr txBox="1"/>
          <p:nvPr/>
        </p:nvSpPr>
        <p:spPr>
          <a:xfrm>
            <a:off x="6241960" y="4053799"/>
            <a:ext cx="5950040" cy="461665"/>
          </a:xfrm>
          <a:prstGeom prst="rect">
            <a:avLst/>
          </a:prstGeom>
          <a:noFill/>
        </p:spPr>
        <p:txBody>
          <a:bodyPr wrap="square" rtlCol="0">
            <a:spAutoFit/>
          </a:bodyPr>
          <a:lstStyle/>
          <a:p>
            <a:r>
              <a:rPr lang="en-IN" sz="2400" b="1" dirty="0" smtClean="0">
                <a:solidFill>
                  <a:srgbClr val="4E67C8"/>
                </a:solidFill>
              </a:rPr>
              <a:t>Inconvenience of Barter System</a:t>
            </a:r>
            <a:endParaRPr lang="en-IN" sz="2400" b="1" dirty="0">
              <a:solidFill>
                <a:srgbClr val="4E67C8"/>
              </a:solidFill>
            </a:endParaRPr>
          </a:p>
        </p:txBody>
      </p:sp>
    </p:spTree>
    <p:extLst>
      <p:ext uri="{BB962C8B-B14F-4D97-AF65-F5344CB8AC3E}">
        <p14:creationId xmlns:p14="http://schemas.microsoft.com/office/powerpoint/2010/main" val="31312811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128" name="Group 127"/>
          <p:cNvGrpSpPr/>
          <p:nvPr/>
        </p:nvGrpSpPr>
        <p:grpSpPr>
          <a:xfrm>
            <a:off x="2250341" y="1588085"/>
            <a:ext cx="2458294" cy="3560140"/>
            <a:chOff x="155669" y="604120"/>
            <a:chExt cx="2458294" cy="3560140"/>
          </a:xfrm>
        </p:grpSpPr>
        <p:sp>
          <p:nvSpPr>
            <p:cNvPr id="115" name="Oval 114"/>
            <p:cNvSpPr/>
            <p:nvPr/>
          </p:nvSpPr>
          <p:spPr>
            <a:xfrm>
              <a:off x="290206" y="604120"/>
              <a:ext cx="2160000" cy="2160000"/>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TextBox 112"/>
            <p:cNvSpPr txBox="1"/>
            <p:nvPr/>
          </p:nvSpPr>
          <p:spPr>
            <a:xfrm>
              <a:off x="538402" y="804299"/>
              <a:ext cx="1675172" cy="646331"/>
            </a:xfrm>
            <a:prstGeom prst="rect">
              <a:avLst/>
            </a:prstGeom>
            <a:noFill/>
          </p:spPr>
          <p:txBody>
            <a:bodyPr wrap="square" rtlCol="0">
              <a:spAutoFit/>
            </a:bodyPr>
            <a:lstStyle/>
            <a:p>
              <a:pPr algn="ctr"/>
              <a:r>
                <a:rPr lang="en-IN" dirty="0" smtClean="0">
                  <a:latin typeface="Century Gothic" panose="020B0502020202020204" pitchFamily="34" charset="0"/>
                </a:rPr>
                <a:t>Metallic</a:t>
              </a:r>
            </a:p>
            <a:p>
              <a:pPr algn="ctr"/>
              <a:r>
                <a:rPr lang="en-IN" dirty="0" smtClean="0">
                  <a:latin typeface="Century Gothic" panose="020B0502020202020204" pitchFamily="34" charset="0"/>
                </a:rPr>
                <a:t>Money</a:t>
              </a:r>
              <a:endParaRPr lang="en-IN" dirty="0">
                <a:latin typeface="Century Gothic" panose="020B0502020202020204" pitchFamily="34" charset="0"/>
              </a:endParaRPr>
            </a:p>
          </p:txBody>
        </p:sp>
        <p:sp>
          <p:nvSpPr>
            <p:cNvPr id="114" name="TextBox 113"/>
            <p:cNvSpPr txBox="1"/>
            <p:nvPr/>
          </p:nvSpPr>
          <p:spPr>
            <a:xfrm>
              <a:off x="155669" y="2963931"/>
              <a:ext cx="2458294" cy="1200329"/>
            </a:xfrm>
            <a:prstGeom prst="rect">
              <a:avLst/>
            </a:prstGeom>
            <a:noFill/>
          </p:spPr>
          <p:txBody>
            <a:bodyPr wrap="square" rtlCol="0">
              <a:spAutoFit/>
            </a:bodyPr>
            <a:lstStyle/>
            <a:p>
              <a:pPr algn="ctr"/>
              <a:r>
                <a:rPr lang="en-IN" sz="1200" dirty="0" smtClean="0">
                  <a:latin typeface="Century Gothic" panose="020B0502020202020204" pitchFamily="34" charset="0"/>
                </a:rPr>
                <a:t>Earliest form of money</a:t>
              </a:r>
            </a:p>
            <a:p>
              <a:pPr algn="ctr"/>
              <a:r>
                <a:rPr lang="en-IN" sz="1200" dirty="0" smtClean="0">
                  <a:latin typeface="Century Gothic" panose="020B0502020202020204" pitchFamily="34" charset="0"/>
                </a:rPr>
                <a:t>Minted and used for exchange. Typically made of expensive metals like gold , silver </a:t>
              </a:r>
              <a:r>
                <a:rPr lang="en-IN" sz="1200" dirty="0" err="1" smtClean="0">
                  <a:latin typeface="Century Gothic" panose="020B0502020202020204" pitchFamily="34" charset="0"/>
                </a:rPr>
                <a:t>etc</a:t>
              </a:r>
              <a:endParaRPr lang="en-IN" sz="1200" dirty="0" smtClean="0">
                <a:latin typeface="Century Gothic" panose="020B0502020202020204" pitchFamily="34" charset="0"/>
              </a:endParaRPr>
            </a:p>
            <a:p>
              <a:pPr algn="ctr"/>
              <a:r>
                <a:rPr lang="en-IN" sz="1200" dirty="0" smtClean="0">
                  <a:latin typeface="Century Gothic" panose="020B0502020202020204" pitchFamily="34" charset="0"/>
                </a:rPr>
                <a:t> </a:t>
              </a:r>
              <a:endParaRPr lang="en-IN" sz="1200" dirty="0">
                <a:latin typeface="Century Gothic" panose="020B0502020202020204" pitchFamily="34" charset="0"/>
              </a:endParaRPr>
            </a:p>
          </p:txBody>
        </p:sp>
      </p:grpSp>
      <p:grpSp>
        <p:nvGrpSpPr>
          <p:cNvPr id="125" name="Group 124"/>
          <p:cNvGrpSpPr/>
          <p:nvPr/>
        </p:nvGrpSpPr>
        <p:grpSpPr>
          <a:xfrm>
            <a:off x="4766134" y="2570783"/>
            <a:ext cx="2458294" cy="2559065"/>
            <a:chOff x="8366876" y="1746805"/>
            <a:chExt cx="2458294" cy="2559065"/>
          </a:xfrm>
        </p:grpSpPr>
        <p:sp>
          <p:nvSpPr>
            <p:cNvPr id="117" name="Oval 116"/>
            <p:cNvSpPr/>
            <p:nvPr/>
          </p:nvSpPr>
          <p:spPr>
            <a:xfrm>
              <a:off x="8516023" y="1746805"/>
              <a:ext cx="2160000" cy="2160000"/>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6" name="TextBox 115"/>
            <p:cNvSpPr txBox="1"/>
            <p:nvPr/>
          </p:nvSpPr>
          <p:spPr>
            <a:xfrm>
              <a:off x="8646433" y="1882461"/>
              <a:ext cx="1950135" cy="646331"/>
            </a:xfrm>
            <a:prstGeom prst="rect">
              <a:avLst/>
            </a:prstGeom>
            <a:noFill/>
          </p:spPr>
          <p:txBody>
            <a:bodyPr wrap="square" rtlCol="0">
              <a:spAutoFit/>
            </a:bodyPr>
            <a:lstStyle/>
            <a:p>
              <a:pPr algn="ctr"/>
              <a:r>
                <a:rPr lang="en-IN" dirty="0" smtClean="0">
                  <a:latin typeface="Century Gothic" panose="020B0502020202020204" pitchFamily="34" charset="0"/>
                </a:rPr>
                <a:t>Paper </a:t>
              </a:r>
            </a:p>
            <a:p>
              <a:pPr algn="ctr"/>
              <a:r>
                <a:rPr lang="en-IN" dirty="0" smtClean="0">
                  <a:latin typeface="Century Gothic" panose="020B0502020202020204" pitchFamily="34" charset="0"/>
                </a:rPr>
                <a:t>Money</a:t>
              </a:r>
              <a:endParaRPr lang="en-IN" dirty="0">
                <a:latin typeface="Century Gothic" panose="020B0502020202020204" pitchFamily="34" charset="0"/>
              </a:endParaRPr>
            </a:p>
          </p:txBody>
        </p:sp>
        <p:sp>
          <p:nvSpPr>
            <p:cNvPr id="118" name="TextBox 117"/>
            <p:cNvSpPr txBox="1"/>
            <p:nvPr/>
          </p:nvSpPr>
          <p:spPr>
            <a:xfrm>
              <a:off x="8366876" y="4028871"/>
              <a:ext cx="2458294" cy="276999"/>
            </a:xfrm>
            <a:prstGeom prst="rect">
              <a:avLst/>
            </a:prstGeom>
            <a:noFill/>
          </p:spPr>
          <p:txBody>
            <a:bodyPr wrap="square" rtlCol="0">
              <a:spAutoFit/>
            </a:bodyPr>
            <a:lstStyle/>
            <a:p>
              <a:pPr algn="ctr"/>
              <a:r>
                <a:rPr lang="en-IN" sz="1200" dirty="0" smtClean="0">
                  <a:latin typeface="Century Gothic" panose="020B0502020202020204" pitchFamily="34" charset="0"/>
                </a:rPr>
                <a:t>Most popular form of money </a:t>
              </a:r>
              <a:endParaRPr lang="en-IN" sz="1200" dirty="0">
                <a:latin typeface="Century Gothic" panose="020B0502020202020204" pitchFamily="34" charset="0"/>
              </a:endParaRPr>
            </a:p>
          </p:txBody>
        </p:sp>
      </p:grpSp>
      <p:grpSp>
        <p:nvGrpSpPr>
          <p:cNvPr id="126" name="Group 125"/>
          <p:cNvGrpSpPr/>
          <p:nvPr/>
        </p:nvGrpSpPr>
        <p:grpSpPr>
          <a:xfrm>
            <a:off x="94699" y="2853838"/>
            <a:ext cx="2458294" cy="2749700"/>
            <a:chOff x="4498066" y="2151782"/>
            <a:chExt cx="2458294" cy="2749700"/>
          </a:xfrm>
        </p:grpSpPr>
        <p:sp>
          <p:nvSpPr>
            <p:cNvPr id="120" name="Oval 119"/>
            <p:cNvSpPr/>
            <p:nvPr/>
          </p:nvSpPr>
          <p:spPr>
            <a:xfrm>
              <a:off x="4678563" y="2151782"/>
              <a:ext cx="2160000" cy="2160000"/>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9" name="TextBox 118"/>
            <p:cNvSpPr txBox="1"/>
            <p:nvPr/>
          </p:nvSpPr>
          <p:spPr>
            <a:xfrm>
              <a:off x="4771784" y="2261086"/>
              <a:ext cx="1950135" cy="646331"/>
            </a:xfrm>
            <a:prstGeom prst="rect">
              <a:avLst/>
            </a:prstGeom>
            <a:noFill/>
          </p:spPr>
          <p:txBody>
            <a:bodyPr wrap="square" rtlCol="0">
              <a:spAutoFit/>
            </a:bodyPr>
            <a:lstStyle/>
            <a:p>
              <a:pPr algn="ctr"/>
              <a:r>
                <a:rPr lang="en-IN" dirty="0" smtClean="0">
                  <a:latin typeface="Century Gothic" panose="020B0502020202020204" pitchFamily="34" charset="0"/>
                </a:rPr>
                <a:t>Commodity Money</a:t>
              </a:r>
              <a:endParaRPr lang="en-IN" dirty="0">
                <a:latin typeface="Century Gothic" panose="020B0502020202020204" pitchFamily="34" charset="0"/>
              </a:endParaRPr>
            </a:p>
          </p:txBody>
        </p:sp>
        <p:sp>
          <p:nvSpPr>
            <p:cNvPr id="121" name="TextBox 120"/>
            <p:cNvSpPr txBox="1"/>
            <p:nvPr/>
          </p:nvSpPr>
          <p:spPr>
            <a:xfrm>
              <a:off x="4498066" y="4439817"/>
              <a:ext cx="2458294" cy="461665"/>
            </a:xfrm>
            <a:prstGeom prst="rect">
              <a:avLst/>
            </a:prstGeom>
            <a:noFill/>
          </p:spPr>
          <p:txBody>
            <a:bodyPr wrap="square" rtlCol="0">
              <a:spAutoFit/>
            </a:bodyPr>
            <a:lstStyle/>
            <a:p>
              <a:pPr algn="ctr"/>
              <a:r>
                <a:rPr lang="en-IN" sz="1200" dirty="0" smtClean="0">
                  <a:latin typeface="Century Gothic" panose="020B0502020202020204" pitchFamily="34" charset="0"/>
                </a:rPr>
                <a:t>The Barter system for exchange</a:t>
              </a:r>
              <a:endParaRPr lang="en-IN" sz="1200" dirty="0">
                <a:latin typeface="Century Gothic" panose="020B0502020202020204" pitchFamily="34" charset="0"/>
              </a:endParaRPr>
            </a:p>
          </p:txBody>
        </p:sp>
      </p:grpSp>
      <p:grpSp>
        <p:nvGrpSpPr>
          <p:cNvPr id="127" name="Group 126"/>
          <p:cNvGrpSpPr/>
          <p:nvPr/>
        </p:nvGrpSpPr>
        <p:grpSpPr>
          <a:xfrm>
            <a:off x="7141398" y="1766473"/>
            <a:ext cx="2595070" cy="2917637"/>
            <a:chOff x="1647028" y="3047583"/>
            <a:chExt cx="2595070" cy="2917637"/>
          </a:xfrm>
        </p:grpSpPr>
        <p:sp>
          <p:nvSpPr>
            <p:cNvPr id="123" name="Oval 122"/>
            <p:cNvSpPr/>
            <p:nvPr/>
          </p:nvSpPr>
          <p:spPr>
            <a:xfrm>
              <a:off x="1827759" y="3047583"/>
              <a:ext cx="2160000" cy="2160000"/>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2" name="TextBox 121"/>
            <p:cNvSpPr txBox="1"/>
            <p:nvPr/>
          </p:nvSpPr>
          <p:spPr>
            <a:xfrm>
              <a:off x="1647028" y="3169005"/>
              <a:ext cx="2595070" cy="646331"/>
            </a:xfrm>
            <a:prstGeom prst="rect">
              <a:avLst/>
            </a:prstGeom>
            <a:noFill/>
          </p:spPr>
          <p:txBody>
            <a:bodyPr wrap="square" rtlCol="0">
              <a:spAutoFit/>
            </a:bodyPr>
            <a:lstStyle/>
            <a:p>
              <a:pPr algn="ctr"/>
              <a:r>
                <a:rPr lang="en-IN" dirty="0" smtClean="0">
                  <a:latin typeface="Century Gothic" panose="020B0502020202020204" pitchFamily="34" charset="0"/>
                </a:rPr>
                <a:t>Credit </a:t>
              </a:r>
            </a:p>
            <a:p>
              <a:pPr algn="ctr"/>
              <a:r>
                <a:rPr lang="en-IN" dirty="0" smtClean="0">
                  <a:latin typeface="Century Gothic" panose="020B0502020202020204" pitchFamily="34" charset="0"/>
                </a:rPr>
                <a:t>Money</a:t>
              </a:r>
              <a:endParaRPr lang="en-IN" dirty="0">
                <a:latin typeface="Century Gothic" panose="020B0502020202020204" pitchFamily="34" charset="0"/>
              </a:endParaRPr>
            </a:p>
          </p:txBody>
        </p:sp>
        <p:sp>
          <p:nvSpPr>
            <p:cNvPr id="124" name="TextBox 123"/>
            <p:cNvSpPr txBox="1"/>
            <p:nvPr/>
          </p:nvSpPr>
          <p:spPr>
            <a:xfrm>
              <a:off x="1678612" y="5318889"/>
              <a:ext cx="2458294" cy="646331"/>
            </a:xfrm>
            <a:prstGeom prst="rect">
              <a:avLst/>
            </a:prstGeom>
            <a:noFill/>
          </p:spPr>
          <p:txBody>
            <a:bodyPr wrap="square" rtlCol="0">
              <a:spAutoFit/>
            </a:bodyPr>
            <a:lstStyle/>
            <a:p>
              <a:pPr algn="ctr"/>
              <a:r>
                <a:rPr lang="en-IN" sz="1200" dirty="0" smtClean="0">
                  <a:latin typeface="Century Gothic" panose="020B0502020202020204" pitchFamily="34" charset="0"/>
                </a:rPr>
                <a:t>Money issued against cheques, treasury bills, bonds and recently credit cards</a:t>
              </a:r>
              <a:endParaRPr lang="en-IN" sz="1200" dirty="0">
                <a:latin typeface="Century Gothic" panose="020B0502020202020204" pitchFamily="34" charset="0"/>
              </a:endParaRPr>
            </a:p>
          </p:txBody>
        </p:sp>
      </p:grpSp>
      <p:sp>
        <p:nvSpPr>
          <p:cNvPr id="129" name="Arc 128"/>
          <p:cNvSpPr/>
          <p:nvPr/>
        </p:nvSpPr>
        <p:spPr>
          <a:xfrm rot="14858471">
            <a:off x="1248123" y="1743145"/>
            <a:ext cx="1800000" cy="1800000"/>
          </a:xfrm>
          <a:prstGeom prst="arc">
            <a:avLst>
              <a:gd name="adj1" fmla="val 16767746"/>
              <a:gd name="adj2" fmla="val 3628973"/>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0" name="Arc 129"/>
          <p:cNvSpPr/>
          <p:nvPr/>
        </p:nvSpPr>
        <p:spPr>
          <a:xfrm rot="8524516">
            <a:off x="4265637" y="1901572"/>
            <a:ext cx="1800000" cy="1800000"/>
          </a:xfrm>
          <a:prstGeom prst="arc">
            <a:avLst>
              <a:gd name="adj1" fmla="val 19418203"/>
              <a:gd name="adj2" fmla="val 551807"/>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1" name="Arc 130"/>
          <p:cNvSpPr/>
          <p:nvPr/>
        </p:nvSpPr>
        <p:spPr>
          <a:xfrm rot="14863476">
            <a:off x="6356012" y="1549224"/>
            <a:ext cx="1800000" cy="1800000"/>
          </a:xfrm>
          <a:prstGeom prst="arc">
            <a:avLst>
              <a:gd name="adj1" fmla="val 16767746"/>
              <a:gd name="adj2" fmla="val 3993732"/>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267025" y="291779"/>
              <a:ext cx="3658053" cy="523220"/>
            </a:xfrm>
            <a:prstGeom prst="rect">
              <a:avLst/>
            </a:prstGeom>
            <a:solidFill>
              <a:schemeClr val="bg1"/>
            </a:solidFill>
          </p:spPr>
          <p:txBody>
            <a:bodyPr wrap="none" anchor="ctr">
              <a:spAutoFit/>
            </a:bodyPr>
            <a:lstStyle/>
            <a:p>
              <a:pPr algn="ctr"/>
              <a:r>
                <a:rPr lang="en-IN" sz="2800" b="1" dirty="0">
                  <a:solidFill>
                    <a:srgbClr val="0070C0"/>
                  </a:solidFill>
                  <a:latin typeface="Leelawadee UI" panose="020B0502040204020203" pitchFamily="34" charset="-34"/>
                  <a:cs typeface="Leelawadee UI" panose="020B0502040204020203" pitchFamily="34" charset="-34"/>
                </a:rPr>
                <a:t>Evolution Of Money </a:t>
              </a:r>
            </a:p>
          </p:txBody>
        </p:sp>
      </p:grpSp>
      <p:grpSp>
        <p:nvGrpSpPr>
          <p:cNvPr id="37" name="Group 36"/>
          <p:cNvGrpSpPr/>
          <p:nvPr/>
        </p:nvGrpSpPr>
        <p:grpSpPr>
          <a:xfrm>
            <a:off x="9472265" y="2947985"/>
            <a:ext cx="2595070" cy="2917637"/>
            <a:chOff x="1600360" y="3047583"/>
            <a:chExt cx="2595070" cy="2917637"/>
          </a:xfrm>
        </p:grpSpPr>
        <p:sp>
          <p:nvSpPr>
            <p:cNvPr id="38" name="Oval 37"/>
            <p:cNvSpPr/>
            <p:nvPr/>
          </p:nvSpPr>
          <p:spPr>
            <a:xfrm>
              <a:off x="1827759" y="3047583"/>
              <a:ext cx="2160000" cy="2160000"/>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TextBox 39"/>
            <p:cNvSpPr txBox="1"/>
            <p:nvPr/>
          </p:nvSpPr>
          <p:spPr>
            <a:xfrm>
              <a:off x="1600360" y="3252718"/>
              <a:ext cx="2595070" cy="646331"/>
            </a:xfrm>
            <a:prstGeom prst="rect">
              <a:avLst/>
            </a:prstGeom>
            <a:noFill/>
          </p:spPr>
          <p:txBody>
            <a:bodyPr wrap="square" rtlCol="0">
              <a:spAutoFit/>
            </a:bodyPr>
            <a:lstStyle/>
            <a:p>
              <a:pPr algn="ctr"/>
              <a:r>
                <a:rPr lang="en-IN" dirty="0" smtClean="0">
                  <a:latin typeface="Century Gothic" panose="020B0502020202020204" pitchFamily="34" charset="0"/>
                </a:rPr>
                <a:t>Electronic </a:t>
              </a:r>
            </a:p>
            <a:p>
              <a:pPr algn="ctr"/>
              <a:r>
                <a:rPr lang="en-IN" dirty="0" smtClean="0">
                  <a:latin typeface="Century Gothic" panose="020B0502020202020204" pitchFamily="34" charset="0"/>
                </a:rPr>
                <a:t>Money</a:t>
              </a:r>
              <a:endParaRPr lang="en-IN" dirty="0">
                <a:latin typeface="Century Gothic" panose="020B0502020202020204" pitchFamily="34" charset="0"/>
              </a:endParaRPr>
            </a:p>
          </p:txBody>
        </p:sp>
        <p:sp>
          <p:nvSpPr>
            <p:cNvPr id="41" name="TextBox 40"/>
            <p:cNvSpPr txBox="1"/>
            <p:nvPr/>
          </p:nvSpPr>
          <p:spPr>
            <a:xfrm>
              <a:off x="1678612" y="5318889"/>
              <a:ext cx="2458294" cy="646331"/>
            </a:xfrm>
            <a:prstGeom prst="rect">
              <a:avLst/>
            </a:prstGeom>
            <a:noFill/>
          </p:spPr>
          <p:txBody>
            <a:bodyPr wrap="square" rtlCol="0">
              <a:spAutoFit/>
            </a:bodyPr>
            <a:lstStyle/>
            <a:p>
              <a:pPr algn="ctr"/>
              <a:r>
                <a:rPr lang="en-IN" sz="1200" dirty="0" smtClean="0">
                  <a:latin typeface="Century Gothic" panose="020B0502020202020204" pitchFamily="34" charset="0"/>
                </a:rPr>
                <a:t>Transfer across accounts or institutions without human interference</a:t>
              </a:r>
              <a:endParaRPr lang="en-IN" sz="1200" dirty="0">
                <a:latin typeface="Century Gothic" panose="020B0502020202020204" pitchFamily="34" charset="0"/>
              </a:endParaRPr>
            </a:p>
          </p:txBody>
        </p:sp>
      </p:grpSp>
      <p:sp>
        <p:nvSpPr>
          <p:cNvPr id="50" name="Arc 49"/>
          <p:cNvSpPr/>
          <p:nvPr/>
        </p:nvSpPr>
        <p:spPr>
          <a:xfrm rot="8524516" flipH="1" flipV="1">
            <a:off x="8297585" y="3184261"/>
            <a:ext cx="1800000" cy="1800000"/>
          </a:xfrm>
          <a:prstGeom prst="arc">
            <a:avLst>
              <a:gd name="adj1" fmla="val 19418203"/>
              <a:gd name="adj2" fmla="val 21470461"/>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pic>
        <p:nvPicPr>
          <p:cNvPr id="42" name="Picture 4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898" y="3602830"/>
            <a:ext cx="1007608" cy="1228252"/>
          </a:xfrm>
          <a:prstGeom prst="rect">
            <a:avLst/>
          </a:prstGeom>
        </p:spPr>
      </p:pic>
      <p:pic>
        <p:nvPicPr>
          <p:cNvPr id="43" name="Picture 4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86993" y="2514104"/>
            <a:ext cx="1286413" cy="940975"/>
          </a:xfrm>
          <a:prstGeom prst="rect">
            <a:avLst/>
          </a:prstGeom>
        </p:spPr>
      </p:pic>
      <p:pic>
        <p:nvPicPr>
          <p:cNvPr id="44" name="Picture 4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36316" y="3533256"/>
            <a:ext cx="1209957" cy="951705"/>
          </a:xfrm>
          <a:prstGeom prst="rect">
            <a:avLst/>
          </a:prstGeom>
        </p:spPr>
      </p:pic>
      <p:pic>
        <p:nvPicPr>
          <p:cNvPr id="45" name="Picture 44"/>
          <p:cNvPicPr>
            <a:picLocks noChangeAspect="1"/>
          </p:cNvPicPr>
          <p:nvPr/>
        </p:nvPicPr>
        <p:blipFill rotWithShape="1">
          <a:blip r:embed="rId6">
            <a:extLst>
              <a:ext uri="{28A0092B-C50C-407E-A947-70E740481C1C}">
                <a14:useLocalDpi xmlns:a14="http://schemas.microsoft.com/office/drawing/2010/main" val="0"/>
              </a:ext>
            </a:extLst>
          </a:blip>
          <a:srcRect b="-737"/>
          <a:stretch/>
        </p:blipFill>
        <p:spPr>
          <a:xfrm>
            <a:off x="7572962" y="2747123"/>
            <a:ext cx="1731942" cy="882753"/>
          </a:xfrm>
          <a:prstGeom prst="ellipse">
            <a:avLst/>
          </a:prstGeom>
        </p:spPr>
      </p:pic>
      <p:pic>
        <p:nvPicPr>
          <p:cNvPr id="51" name="Picture 5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37440" y="3870871"/>
            <a:ext cx="1371895" cy="883817"/>
          </a:xfrm>
          <a:prstGeom prst="rect">
            <a:avLst/>
          </a:prstGeom>
        </p:spPr>
      </p:pic>
      <p:sp>
        <p:nvSpPr>
          <p:cNvPr id="52" name="Rectangle 51"/>
          <p:cNvSpPr/>
          <p:nvPr/>
        </p:nvSpPr>
        <p:spPr>
          <a:xfrm>
            <a:off x="404405" y="686627"/>
            <a:ext cx="13047085" cy="769441"/>
          </a:xfrm>
          <a:prstGeom prst="rect">
            <a:avLst/>
          </a:prstGeom>
        </p:spPr>
        <p:txBody>
          <a:bodyPr wrap="square">
            <a:spAutoFit/>
          </a:bodyPr>
          <a:lstStyle/>
          <a:p>
            <a:r>
              <a:rPr lang="en-IN" sz="2400" dirty="0" smtClean="0">
                <a:solidFill>
                  <a:srgbClr val="4E67C8"/>
                </a:solidFill>
              </a:rPr>
              <a:t>Money </a:t>
            </a:r>
            <a:r>
              <a:rPr lang="en-IN" sz="2000" dirty="0" smtClean="0"/>
              <a:t>is the current method </a:t>
            </a:r>
            <a:r>
              <a:rPr lang="en-IN" sz="2000" dirty="0"/>
              <a:t>of </a:t>
            </a:r>
            <a:r>
              <a:rPr lang="en-IN" sz="2000" dirty="0" smtClean="0"/>
              <a:t>exchange, in </a:t>
            </a:r>
            <a:r>
              <a:rPr lang="en-IN" sz="2000" dirty="0"/>
              <a:t>the form of coins and </a:t>
            </a:r>
            <a:r>
              <a:rPr lang="en-IN" sz="2000" dirty="0" smtClean="0"/>
              <a:t>banknotes paid either physically </a:t>
            </a:r>
          </a:p>
          <a:p>
            <a:r>
              <a:rPr lang="en-IN" sz="2000" dirty="0" smtClean="0"/>
              <a:t>or electronically </a:t>
            </a:r>
            <a:endParaRPr lang="en-IN" sz="2000" dirty="0"/>
          </a:p>
        </p:txBody>
      </p:sp>
    </p:spTree>
    <p:extLst>
      <p:ext uri="{BB962C8B-B14F-4D97-AF65-F5344CB8AC3E}">
        <p14:creationId xmlns:p14="http://schemas.microsoft.com/office/powerpoint/2010/main" val="21512669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1929183" y="291779"/>
              <a:ext cx="8333756"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How money exchange happens: Parties involved</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2" name="Rectangle 51"/>
          <p:cNvSpPr/>
          <p:nvPr/>
        </p:nvSpPr>
        <p:spPr>
          <a:xfrm>
            <a:off x="404405" y="686627"/>
            <a:ext cx="13047085" cy="769441"/>
          </a:xfrm>
          <a:prstGeom prst="rect">
            <a:avLst/>
          </a:prstGeom>
        </p:spPr>
        <p:txBody>
          <a:bodyPr wrap="square">
            <a:spAutoFit/>
          </a:bodyPr>
          <a:lstStyle/>
          <a:p>
            <a:r>
              <a:rPr lang="en-IN" sz="2400" dirty="0" smtClean="0">
                <a:solidFill>
                  <a:srgbClr val="4E67C8"/>
                </a:solidFill>
              </a:rPr>
              <a:t>Money </a:t>
            </a:r>
            <a:r>
              <a:rPr lang="en-IN" sz="2000" dirty="0" smtClean="0"/>
              <a:t>is the current method </a:t>
            </a:r>
            <a:r>
              <a:rPr lang="en-IN" sz="2000" dirty="0"/>
              <a:t>of </a:t>
            </a:r>
            <a:r>
              <a:rPr lang="en-IN" sz="2000" dirty="0" smtClean="0"/>
              <a:t>exchange, in </a:t>
            </a:r>
            <a:r>
              <a:rPr lang="en-IN" sz="2000" dirty="0"/>
              <a:t>the form of coins and </a:t>
            </a:r>
            <a:r>
              <a:rPr lang="en-IN" sz="2000" dirty="0" smtClean="0"/>
              <a:t>banknotes paid either physically </a:t>
            </a:r>
          </a:p>
          <a:p>
            <a:r>
              <a:rPr lang="en-IN" sz="2000" dirty="0" smtClean="0"/>
              <a:t>or electronically </a:t>
            </a:r>
            <a:endParaRPr lang="en-IN" sz="2000" dirty="0"/>
          </a:p>
        </p:txBody>
      </p:sp>
      <p:cxnSp>
        <p:nvCxnSpPr>
          <p:cNvPr id="36" name="Straight Connector 35"/>
          <p:cNvCxnSpPr/>
          <p:nvPr/>
        </p:nvCxnSpPr>
        <p:spPr>
          <a:xfrm flipH="1">
            <a:off x="3996591" y="1861633"/>
            <a:ext cx="1" cy="4080681"/>
          </a:xfrm>
          <a:prstGeom prst="line">
            <a:avLst/>
          </a:prstGeom>
          <a:ln w="6350">
            <a:solidFill>
              <a:srgbClr val="082A67"/>
            </a:solidFill>
            <a:prstDash val="dashDot"/>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8156869" y="1929762"/>
            <a:ext cx="1" cy="4080681"/>
          </a:xfrm>
          <a:prstGeom prst="line">
            <a:avLst/>
          </a:prstGeom>
          <a:ln w="6350">
            <a:solidFill>
              <a:srgbClr val="082A67"/>
            </a:solidFill>
            <a:prstDash val="dashDot"/>
          </a:ln>
        </p:spPr>
        <p:style>
          <a:lnRef idx="1">
            <a:schemeClr val="accent1"/>
          </a:lnRef>
          <a:fillRef idx="0">
            <a:schemeClr val="accent1"/>
          </a:fillRef>
          <a:effectRef idx="0">
            <a:schemeClr val="accent1"/>
          </a:effectRef>
          <a:fontRef idx="minor">
            <a:schemeClr val="tx1"/>
          </a:fontRef>
        </p:style>
      </p:cxnSp>
      <p:sp>
        <p:nvSpPr>
          <p:cNvPr id="80" name="Rectangle 79"/>
          <p:cNvSpPr/>
          <p:nvPr/>
        </p:nvSpPr>
        <p:spPr>
          <a:xfrm>
            <a:off x="71951" y="1606976"/>
            <a:ext cx="697892" cy="7678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tx2"/>
                </a:solidFill>
              </a:rPr>
              <a:t>A</a:t>
            </a:r>
            <a:endParaRPr lang="en-IN" sz="3600" b="1" dirty="0">
              <a:solidFill>
                <a:schemeClr val="tx2"/>
              </a:solidFill>
            </a:endParaRPr>
          </a:p>
        </p:txBody>
      </p:sp>
      <p:sp>
        <p:nvSpPr>
          <p:cNvPr id="81" name="Rectangle 80"/>
          <p:cNvSpPr/>
          <p:nvPr/>
        </p:nvSpPr>
        <p:spPr>
          <a:xfrm>
            <a:off x="1001048" y="1638015"/>
            <a:ext cx="3579581" cy="695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rgbClr val="4E67C8"/>
                </a:solidFill>
              </a:rPr>
              <a:t>        Financial </a:t>
            </a:r>
          </a:p>
          <a:p>
            <a:r>
              <a:rPr lang="en-US" sz="2000" dirty="0" smtClean="0">
                <a:solidFill>
                  <a:srgbClr val="4E67C8"/>
                </a:solidFill>
              </a:rPr>
              <a:t>        Borrower</a:t>
            </a:r>
          </a:p>
        </p:txBody>
      </p:sp>
      <p:sp>
        <p:nvSpPr>
          <p:cNvPr id="82" name="Rectangle 81"/>
          <p:cNvSpPr/>
          <p:nvPr/>
        </p:nvSpPr>
        <p:spPr>
          <a:xfrm>
            <a:off x="167811" y="4579895"/>
            <a:ext cx="3680418" cy="14873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Clr>
                <a:schemeClr val="accent1">
                  <a:lumMod val="50000"/>
                </a:schemeClr>
              </a:buClr>
              <a:buSzPct val="120000"/>
              <a:buFont typeface="Webdings" panose="05030102010509060703" pitchFamily="18" charset="2"/>
              <a:buChar char="4"/>
            </a:pPr>
            <a:r>
              <a:rPr lang="en-IN" sz="1400" dirty="0">
                <a:solidFill>
                  <a:srgbClr val="4E67C8"/>
                </a:solidFill>
              </a:rPr>
              <a:t>A </a:t>
            </a:r>
            <a:r>
              <a:rPr lang="en-IN" sz="1400" dirty="0" smtClean="0">
                <a:solidFill>
                  <a:srgbClr val="4E67C8"/>
                </a:solidFill>
              </a:rPr>
              <a:t>person </a:t>
            </a:r>
            <a:r>
              <a:rPr lang="en-IN" sz="1400" dirty="0">
                <a:solidFill>
                  <a:srgbClr val="4E67C8"/>
                </a:solidFill>
              </a:rPr>
              <a:t>or entity that obtains funds from a business or individual for a specified period of time upon condition of promising to repay the loan</a:t>
            </a:r>
            <a:r>
              <a:rPr lang="en-IN" sz="1400" dirty="0" smtClean="0">
                <a:solidFill>
                  <a:srgbClr val="4E67C8"/>
                </a:solidFill>
              </a:rPr>
              <a:t>.</a:t>
            </a:r>
          </a:p>
          <a:p>
            <a:pPr marL="285750" indent="-285750">
              <a:buClr>
                <a:schemeClr val="accent1">
                  <a:lumMod val="50000"/>
                </a:schemeClr>
              </a:buClr>
              <a:buSzPct val="120000"/>
              <a:buFont typeface="Webdings" panose="05030102010509060703" pitchFamily="18" charset="2"/>
              <a:buChar char="4"/>
            </a:pPr>
            <a:r>
              <a:rPr lang="en-US" sz="1400" dirty="0" smtClean="0">
                <a:solidFill>
                  <a:srgbClr val="4E67C8"/>
                </a:solidFill>
              </a:rPr>
              <a:t>Borrowers can be individuals, companies, state/central governments , municipalities, public corporations </a:t>
            </a:r>
            <a:r>
              <a:rPr lang="en-US" sz="1400" dirty="0" err="1" smtClean="0">
                <a:solidFill>
                  <a:srgbClr val="4E67C8"/>
                </a:solidFill>
              </a:rPr>
              <a:t>etc</a:t>
            </a:r>
            <a:endParaRPr lang="en-US" sz="1400" dirty="0" smtClean="0">
              <a:solidFill>
                <a:srgbClr val="4E67C8"/>
              </a:solidFill>
            </a:endParaRPr>
          </a:p>
          <a:p>
            <a:pPr marL="285750" indent="-285750"/>
            <a:r>
              <a:rPr lang="en-US" sz="1400" dirty="0" smtClean="0">
                <a:solidFill>
                  <a:schemeClr val="tx2"/>
                </a:solidFill>
              </a:rPr>
              <a:t>       </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320" y="2515580"/>
            <a:ext cx="2819400" cy="1619250"/>
          </a:xfrm>
          <a:prstGeom prst="rect">
            <a:avLst/>
          </a:prstGeom>
        </p:spPr>
      </p:pic>
      <p:sp>
        <p:nvSpPr>
          <p:cNvPr id="83" name="Rectangle 82"/>
          <p:cNvSpPr/>
          <p:nvPr/>
        </p:nvSpPr>
        <p:spPr>
          <a:xfrm>
            <a:off x="4178167" y="1707860"/>
            <a:ext cx="697892" cy="7678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tx2"/>
                </a:solidFill>
              </a:rPr>
              <a:t>B</a:t>
            </a:r>
            <a:endParaRPr lang="en-IN" sz="3600" b="1" dirty="0">
              <a:solidFill>
                <a:schemeClr val="tx2"/>
              </a:solidFill>
            </a:endParaRPr>
          </a:p>
        </p:txBody>
      </p:sp>
      <p:sp>
        <p:nvSpPr>
          <p:cNvPr id="84" name="Rectangle 83"/>
          <p:cNvSpPr/>
          <p:nvPr/>
        </p:nvSpPr>
        <p:spPr>
          <a:xfrm>
            <a:off x="5107264" y="1738899"/>
            <a:ext cx="3579581" cy="695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rgbClr val="4E67C8"/>
                </a:solidFill>
              </a:rPr>
              <a:t>       Financial </a:t>
            </a:r>
          </a:p>
          <a:p>
            <a:r>
              <a:rPr lang="en-US" sz="2000" dirty="0" smtClean="0">
                <a:solidFill>
                  <a:srgbClr val="4E67C8"/>
                </a:solidFill>
              </a:rPr>
              <a:t>       Lenders</a:t>
            </a:r>
          </a:p>
        </p:txBody>
      </p:sp>
      <p:sp>
        <p:nvSpPr>
          <p:cNvPr id="85" name="Rectangle 84"/>
          <p:cNvSpPr/>
          <p:nvPr/>
        </p:nvSpPr>
        <p:spPr>
          <a:xfrm>
            <a:off x="4274027" y="4616384"/>
            <a:ext cx="3680418" cy="14873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Clr>
                <a:schemeClr val="accent1">
                  <a:lumMod val="50000"/>
                </a:schemeClr>
              </a:buClr>
              <a:buSzPct val="120000"/>
              <a:buFont typeface="Webdings" panose="05030102010509060703" pitchFamily="18" charset="2"/>
              <a:buChar char="4"/>
            </a:pPr>
            <a:r>
              <a:rPr lang="en-IN" sz="1400" dirty="0">
                <a:solidFill>
                  <a:srgbClr val="4E67C8"/>
                </a:solidFill>
              </a:rPr>
              <a:t>A </a:t>
            </a:r>
            <a:r>
              <a:rPr lang="en-IN" sz="1400" dirty="0" smtClean="0">
                <a:solidFill>
                  <a:srgbClr val="4E67C8"/>
                </a:solidFill>
              </a:rPr>
              <a:t>person </a:t>
            </a:r>
            <a:r>
              <a:rPr lang="en-IN" sz="1400" dirty="0">
                <a:solidFill>
                  <a:srgbClr val="4E67C8"/>
                </a:solidFill>
              </a:rPr>
              <a:t>or entity </a:t>
            </a:r>
            <a:r>
              <a:rPr lang="en-IN" sz="1400" dirty="0" smtClean="0">
                <a:solidFill>
                  <a:srgbClr val="4E67C8"/>
                </a:solidFill>
              </a:rPr>
              <a:t>which has excessive funds who are ready to lend their money for a specified period upon condition of repaying interest </a:t>
            </a:r>
          </a:p>
          <a:p>
            <a:pPr marL="285750" indent="-285750">
              <a:buClr>
                <a:schemeClr val="accent1">
                  <a:lumMod val="50000"/>
                </a:schemeClr>
              </a:buClr>
              <a:buSzPct val="120000"/>
              <a:buFont typeface="Webdings" panose="05030102010509060703" pitchFamily="18" charset="2"/>
              <a:buChar char="4"/>
            </a:pPr>
            <a:r>
              <a:rPr lang="en-US" sz="1400" dirty="0" smtClean="0">
                <a:solidFill>
                  <a:srgbClr val="4E67C8"/>
                </a:solidFill>
              </a:rPr>
              <a:t>Borrowers can be individuals, companies, state/central governments , municipalities, public corporations </a:t>
            </a:r>
            <a:r>
              <a:rPr lang="en-US" sz="1400" dirty="0" err="1" smtClean="0">
                <a:solidFill>
                  <a:srgbClr val="4E67C8"/>
                </a:solidFill>
              </a:rPr>
              <a:t>etc</a:t>
            </a:r>
            <a:endParaRPr lang="en-US" sz="1400" dirty="0" smtClean="0">
              <a:solidFill>
                <a:srgbClr val="4E67C8"/>
              </a:solidFill>
            </a:endParaRPr>
          </a:p>
          <a:p>
            <a:pPr marL="285750" indent="-285750"/>
            <a:r>
              <a:rPr lang="en-US" sz="1400" dirty="0" smtClean="0">
                <a:solidFill>
                  <a:schemeClr val="tx2"/>
                </a:solidFill>
              </a:rPr>
              <a:t>       </a:t>
            </a:r>
          </a:p>
        </p:txBody>
      </p:sp>
      <p:sp>
        <p:nvSpPr>
          <p:cNvPr id="87" name="Rectangle 86"/>
          <p:cNvSpPr/>
          <p:nvPr/>
        </p:nvSpPr>
        <p:spPr>
          <a:xfrm>
            <a:off x="8260780" y="1669223"/>
            <a:ext cx="697892" cy="7678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tx2"/>
                </a:solidFill>
              </a:rPr>
              <a:t>C</a:t>
            </a:r>
            <a:endParaRPr lang="en-IN" sz="3600" b="1" dirty="0">
              <a:solidFill>
                <a:schemeClr val="tx2"/>
              </a:solidFill>
            </a:endParaRPr>
          </a:p>
        </p:txBody>
      </p:sp>
      <p:sp>
        <p:nvSpPr>
          <p:cNvPr id="88" name="Rectangle 87"/>
          <p:cNvSpPr/>
          <p:nvPr/>
        </p:nvSpPr>
        <p:spPr>
          <a:xfrm>
            <a:off x="8918050" y="1677072"/>
            <a:ext cx="3579581" cy="695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rgbClr val="4E67C8"/>
                </a:solidFill>
              </a:rPr>
              <a:t>                 Financial Institutions/Intermediaries</a:t>
            </a:r>
          </a:p>
        </p:txBody>
      </p:sp>
      <p:sp>
        <p:nvSpPr>
          <p:cNvPr id="89" name="Rectangle 88"/>
          <p:cNvSpPr/>
          <p:nvPr/>
        </p:nvSpPr>
        <p:spPr>
          <a:xfrm>
            <a:off x="8356640" y="4642142"/>
            <a:ext cx="3680418" cy="14873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Clr>
                <a:schemeClr val="accent1">
                  <a:lumMod val="50000"/>
                </a:schemeClr>
              </a:buClr>
              <a:buSzPct val="120000"/>
              <a:buFont typeface="Webdings" panose="05030102010509060703" pitchFamily="18" charset="2"/>
              <a:buChar char="4"/>
            </a:pPr>
            <a:r>
              <a:rPr lang="en-IN" sz="1400" dirty="0" smtClean="0">
                <a:solidFill>
                  <a:srgbClr val="4E67C8"/>
                </a:solidFill>
              </a:rPr>
              <a:t>Financial institutions </a:t>
            </a:r>
            <a:r>
              <a:rPr lang="en-IN" sz="1400" dirty="0" err="1" smtClean="0">
                <a:solidFill>
                  <a:srgbClr val="4E67C8"/>
                </a:solidFill>
              </a:rPr>
              <a:t>aacts</a:t>
            </a:r>
            <a:r>
              <a:rPr lang="en-IN" sz="1400" dirty="0" smtClean="0">
                <a:solidFill>
                  <a:srgbClr val="4E67C8"/>
                </a:solidFill>
              </a:rPr>
              <a:t> as facilitators  between borrowers and lenders</a:t>
            </a:r>
          </a:p>
          <a:p>
            <a:pPr marL="285750" indent="-285750">
              <a:buClr>
                <a:schemeClr val="accent1">
                  <a:lumMod val="50000"/>
                </a:schemeClr>
              </a:buClr>
              <a:buSzPct val="120000"/>
              <a:buFont typeface="Webdings" panose="05030102010509060703" pitchFamily="18" charset="2"/>
              <a:buChar char="4"/>
            </a:pPr>
            <a:r>
              <a:rPr lang="en-IN" sz="1400" dirty="0">
                <a:solidFill>
                  <a:srgbClr val="4E67C8"/>
                </a:solidFill>
              </a:rPr>
              <a:t> </a:t>
            </a:r>
            <a:r>
              <a:rPr lang="en-IN" sz="1400" dirty="0" smtClean="0">
                <a:solidFill>
                  <a:srgbClr val="4E67C8"/>
                </a:solidFill>
              </a:rPr>
              <a:t>They act as mobilisers  and depositors  of savings </a:t>
            </a:r>
            <a:endParaRPr lang="en-US" sz="1400" dirty="0" smtClean="0">
              <a:solidFill>
                <a:schemeClr val="tx2"/>
              </a:solidFill>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3500" y="2476500"/>
            <a:ext cx="1905000" cy="1905000"/>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35723" y="2292379"/>
            <a:ext cx="1870752" cy="2233530"/>
          </a:xfrm>
          <a:prstGeom prst="rect">
            <a:avLst/>
          </a:prstGeom>
        </p:spPr>
      </p:pic>
    </p:spTree>
    <p:extLst>
      <p:ext uri="{BB962C8B-B14F-4D97-AF65-F5344CB8AC3E}">
        <p14:creationId xmlns:p14="http://schemas.microsoft.com/office/powerpoint/2010/main" val="42720193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6</a:t>
            </a:fld>
            <a:endParaRPr lang="en-IN" dirty="0">
              <a:solidFill>
                <a:srgbClr val="000000">
                  <a:tint val="75000"/>
                </a:srgbClr>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92000" cy="6310646"/>
          </a:xfrm>
          <a:prstGeom prst="rect">
            <a:avLst/>
          </a:prstGeom>
        </p:spPr>
      </p:pic>
      <p:sp>
        <p:nvSpPr>
          <p:cNvPr id="12" name="Rectangle 11"/>
          <p:cNvSpPr/>
          <p:nvPr/>
        </p:nvSpPr>
        <p:spPr>
          <a:xfrm>
            <a:off x="362841" y="1"/>
            <a:ext cx="5494902" cy="830997"/>
          </a:xfrm>
          <a:prstGeom prst="rect">
            <a:avLst/>
          </a:prstGeom>
        </p:spPr>
        <p:txBody>
          <a:bodyPr wrap="none">
            <a:spAutoFit/>
          </a:bodyPr>
          <a:lstStyle/>
          <a:p>
            <a:pPr algn="r"/>
            <a:r>
              <a:rPr lang="en-GB" sz="48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rPr>
              <a:t>Financial Institutions</a:t>
            </a:r>
            <a:endParaRPr lang="en-IN" sz="32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endParaRPr>
          </a:p>
        </p:txBody>
      </p:sp>
    </p:spTree>
    <p:extLst>
      <p:ext uri="{BB962C8B-B14F-4D97-AF65-F5344CB8AC3E}">
        <p14:creationId xmlns:p14="http://schemas.microsoft.com/office/powerpoint/2010/main" val="9055844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3519467" y="291779"/>
              <a:ext cx="5153207"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Types of financial institutions</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 name="Rounded Rectangle 4"/>
          <p:cNvSpPr/>
          <p:nvPr/>
        </p:nvSpPr>
        <p:spPr>
          <a:xfrm>
            <a:off x="4936440" y="760286"/>
            <a:ext cx="2021983"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Elbow Connector 7"/>
          <p:cNvCxnSpPr>
            <a:stCxn id="5" idx="2"/>
          </p:cNvCxnSpPr>
          <p:nvPr/>
        </p:nvCxnSpPr>
        <p:spPr>
          <a:xfrm rot="16200000" flipH="1">
            <a:off x="7808894" y="-549497"/>
            <a:ext cx="503956" cy="4226880"/>
          </a:xfrm>
          <a:prstGeom prst="bentConnector2">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5" idx="2"/>
          </p:cNvCxnSpPr>
          <p:nvPr/>
        </p:nvCxnSpPr>
        <p:spPr>
          <a:xfrm rot="5400000">
            <a:off x="4196370" y="64859"/>
            <a:ext cx="503956" cy="2998169"/>
          </a:xfrm>
          <a:prstGeom prst="bentConnector2">
            <a:avLst/>
          </a:prstGeom>
          <a:ln>
            <a:prstDash val="sysDash"/>
          </a:ln>
        </p:spPr>
        <p:style>
          <a:lnRef idx="1">
            <a:schemeClr val="accent1"/>
          </a:lnRef>
          <a:fillRef idx="0">
            <a:schemeClr val="accent1"/>
          </a:fillRef>
          <a:effectRef idx="0">
            <a:schemeClr val="accent1"/>
          </a:effectRef>
          <a:fontRef idx="minor">
            <a:schemeClr val="tx1"/>
          </a:fontRef>
        </p:style>
      </p:cxnSp>
      <p:sp>
        <p:nvSpPr>
          <p:cNvPr id="35" name="Rounded Rectangle 34"/>
          <p:cNvSpPr/>
          <p:nvPr/>
        </p:nvSpPr>
        <p:spPr>
          <a:xfrm>
            <a:off x="9357418" y="2028404"/>
            <a:ext cx="2021983"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Connector 14"/>
          <p:cNvCxnSpPr/>
          <p:nvPr/>
        </p:nvCxnSpPr>
        <p:spPr>
          <a:xfrm>
            <a:off x="2949263" y="1815921"/>
            <a:ext cx="0" cy="27584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0174310" y="1815921"/>
            <a:ext cx="0" cy="27584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0" name="Elbow Connector 39"/>
          <p:cNvCxnSpPr/>
          <p:nvPr/>
        </p:nvCxnSpPr>
        <p:spPr>
          <a:xfrm>
            <a:off x="1785409" y="2627409"/>
            <a:ext cx="1754136" cy="552013"/>
          </a:xfrm>
          <a:prstGeom prst="bentConnector3">
            <a:avLst>
              <a:gd name="adj1" fmla="val 50000"/>
            </a:avLst>
          </a:prstGeom>
          <a:ln>
            <a:prstDash val="sysDash"/>
          </a:ln>
        </p:spPr>
        <p:style>
          <a:lnRef idx="1">
            <a:schemeClr val="accent1"/>
          </a:lnRef>
          <a:fillRef idx="0">
            <a:schemeClr val="accent1"/>
          </a:fillRef>
          <a:effectRef idx="0">
            <a:schemeClr val="accent1"/>
          </a:effectRef>
          <a:fontRef idx="minor">
            <a:schemeClr val="tx1"/>
          </a:fontRef>
        </p:style>
      </p:cxnSp>
      <p:sp>
        <p:nvSpPr>
          <p:cNvPr id="34" name="Rounded Rectangle 33"/>
          <p:cNvSpPr/>
          <p:nvPr/>
        </p:nvSpPr>
        <p:spPr>
          <a:xfrm>
            <a:off x="1708416" y="2091761"/>
            <a:ext cx="2021983"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ounded Rectangle 42"/>
          <p:cNvSpPr/>
          <p:nvPr/>
        </p:nvSpPr>
        <p:spPr>
          <a:xfrm>
            <a:off x="3193960" y="3441627"/>
            <a:ext cx="2021983"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ounded Rectangle 43"/>
          <p:cNvSpPr/>
          <p:nvPr/>
        </p:nvSpPr>
        <p:spPr>
          <a:xfrm>
            <a:off x="225199" y="3441627"/>
            <a:ext cx="2021983"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5" name="Straight Connector 44"/>
          <p:cNvCxnSpPr/>
          <p:nvPr/>
        </p:nvCxnSpPr>
        <p:spPr>
          <a:xfrm>
            <a:off x="1759651" y="3172437"/>
            <a:ext cx="0" cy="27584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3513787" y="3179422"/>
            <a:ext cx="0" cy="27584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109845" y="71295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Financial Institutions</a:t>
            </a:r>
            <a:endParaRPr lang="en-IN" dirty="0">
              <a:solidFill>
                <a:schemeClr val="bg1"/>
              </a:solidFill>
              <a:latin typeface="Century Gothic" panose="020B0502020202020204" pitchFamily="34" charset="0"/>
            </a:endParaRPr>
          </a:p>
        </p:txBody>
      </p:sp>
      <p:sp>
        <p:nvSpPr>
          <p:cNvPr id="53" name="TextBox 52"/>
          <p:cNvSpPr txBox="1"/>
          <p:nvPr/>
        </p:nvSpPr>
        <p:spPr>
          <a:xfrm>
            <a:off x="1946921" y="2028404"/>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Banking</a:t>
            </a:r>
          </a:p>
          <a:p>
            <a:pPr algn="ctr"/>
            <a:r>
              <a:rPr lang="en-IN" dirty="0" smtClean="0">
                <a:solidFill>
                  <a:schemeClr val="bg1"/>
                </a:solidFill>
                <a:latin typeface="Century Gothic" panose="020B0502020202020204" pitchFamily="34" charset="0"/>
              </a:rPr>
              <a:t>Institutions</a:t>
            </a:r>
            <a:endParaRPr lang="en-IN" dirty="0">
              <a:solidFill>
                <a:schemeClr val="bg1"/>
              </a:solidFill>
              <a:latin typeface="Century Gothic" panose="020B0502020202020204" pitchFamily="34" charset="0"/>
            </a:endParaRPr>
          </a:p>
        </p:txBody>
      </p:sp>
      <p:sp>
        <p:nvSpPr>
          <p:cNvPr id="54" name="TextBox 53"/>
          <p:cNvSpPr txBox="1"/>
          <p:nvPr/>
        </p:nvSpPr>
        <p:spPr>
          <a:xfrm>
            <a:off x="9383468" y="198189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Insurance Institutions</a:t>
            </a:r>
            <a:endParaRPr lang="en-IN" dirty="0">
              <a:solidFill>
                <a:schemeClr val="bg1"/>
              </a:solidFill>
              <a:latin typeface="Century Gothic" panose="020B0502020202020204" pitchFamily="34" charset="0"/>
            </a:endParaRPr>
          </a:p>
        </p:txBody>
      </p:sp>
      <p:sp>
        <p:nvSpPr>
          <p:cNvPr id="55" name="TextBox 54"/>
          <p:cNvSpPr txBox="1"/>
          <p:nvPr/>
        </p:nvSpPr>
        <p:spPr>
          <a:xfrm>
            <a:off x="116902" y="3385894"/>
            <a:ext cx="2307771"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Retail/Commercial Banking</a:t>
            </a:r>
            <a:endParaRPr lang="en-IN" dirty="0">
              <a:solidFill>
                <a:schemeClr val="bg1"/>
              </a:solidFill>
              <a:latin typeface="Century Gothic" panose="020B0502020202020204" pitchFamily="34" charset="0"/>
            </a:endParaRPr>
          </a:p>
        </p:txBody>
      </p:sp>
      <p:sp>
        <p:nvSpPr>
          <p:cNvPr id="56" name="TextBox 55"/>
          <p:cNvSpPr txBox="1"/>
          <p:nvPr/>
        </p:nvSpPr>
        <p:spPr>
          <a:xfrm>
            <a:off x="3341887" y="338491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Investment </a:t>
            </a:r>
          </a:p>
          <a:p>
            <a:pPr algn="ctr"/>
            <a:r>
              <a:rPr lang="en-IN" dirty="0">
                <a:solidFill>
                  <a:schemeClr val="bg1"/>
                </a:solidFill>
                <a:latin typeface="Century Gothic" panose="020B0502020202020204" pitchFamily="34" charset="0"/>
              </a:rPr>
              <a:t> </a:t>
            </a:r>
            <a:r>
              <a:rPr lang="en-IN" dirty="0" smtClean="0">
                <a:solidFill>
                  <a:schemeClr val="bg1"/>
                </a:solidFill>
                <a:latin typeface="Century Gothic" panose="020B0502020202020204" pitchFamily="34" charset="0"/>
              </a:rPr>
              <a:t>Bank</a:t>
            </a:r>
            <a:endParaRPr lang="en-IN" dirty="0">
              <a:solidFill>
                <a:schemeClr val="bg1"/>
              </a:solidFill>
              <a:latin typeface="Century Gothic" panose="020B0502020202020204" pitchFamily="34" charset="0"/>
            </a:endParaRPr>
          </a:p>
        </p:txBody>
      </p:sp>
      <p:sp>
        <p:nvSpPr>
          <p:cNvPr id="63" name="Rounded Rectangle 62"/>
          <p:cNvSpPr/>
          <p:nvPr/>
        </p:nvSpPr>
        <p:spPr>
          <a:xfrm>
            <a:off x="5691067" y="2050976"/>
            <a:ext cx="2021983"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TextBox 63"/>
          <p:cNvSpPr txBox="1"/>
          <p:nvPr/>
        </p:nvSpPr>
        <p:spPr>
          <a:xfrm>
            <a:off x="5855272" y="2011861"/>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Non-Banking</a:t>
            </a:r>
          </a:p>
          <a:p>
            <a:pPr algn="ctr"/>
            <a:r>
              <a:rPr lang="en-IN" dirty="0" smtClean="0">
                <a:solidFill>
                  <a:schemeClr val="bg1"/>
                </a:solidFill>
                <a:latin typeface="Century Gothic" panose="020B0502020202020204" pitchFamily="34" charset="0"/>
              </a:rPr>
              <a:t>Institutions</a:t>
            </a:r>
            <a:endParaRPr lang="en-IN" dirty="0">
              <a:solidFill>
                <a:schemeClr val="bg1"/>
              </a:solidFill>
              <a:latin typeface="Century Gothic" panose="020B0502020202020204" pitchFamily="34" charset="0"/>
            </a:endParaRPr>
          </a:p>
        </p:txBody>
      </p:sp>
      <p:cxnSp>
        <p:nvCxnSpPr>
          <p:cNvPr id="66" name="Straight Connector 65"/>
          <p:cNvCxnSpPr/>
          <p:nvPr/>
        </p:nvCxnSpPr>
        <p:spPr>
          <a:xfrm flipH="1">
            <a:off x="6720629" y="1815921"/>
            <a:ext cx="64388" cy="23505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294" y="4157139"/>
            <a:ext cx="1358902" cy="615590"/>
          </a:xfrm>
          <a:prstGeom prst="rect">
            <a:avLst/>
          </a:prstGeom>
        </p:spPr>
      </p:pic>
      <p:pic>
        <p:nvPicPr>
          <p:cNvPr id="28" name="Picture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13098" y="5551213"/>
            <a:ext cx="869287" cy="527373"/>
          </a:xfrm>
          <a:prstGeom prst="rect">
            <a:avLst/>
          </a:prstGeom>
        </p:spPr>
      </p:pic>
      <p:pic>
        <p:nvPicPr>
          <p:cNvPr id="29" name="Picture 2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9848" y="4945285"/>
            <a:ext cx="921700" cy="442712"/>
          </a:xfrm>
          <a:prstGeom prst="rect">
            <a:avLst/>
          </a:prstGeom>
        </p:spPr>
      </p:pic>
      <p:pic>
        <p:nvPicPr>
          <p:cNvPr id="30" name="Picture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4611" y="5455258"/>
            <a:ext cx="898636" cy="673110"/>
          </a:xfrm>
          <a:prstGeom prst="rect">
            <a:avLst/>
          </a:prstGeom>
        </p:spPr>
      </p:pic>
      <p:pic>
        <p:nvPicPr>
          <p:cNvPr id="49" name="Picture 4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48233" y="5177802"/>
            <a:ext cx="1809088" cy="507335"/>
          </a:xfrm>
          <a:prstGeom prst="rect">
            <a:avLst/>
          </a:prstGeom>
        </p:spPr>
      </p:pic>
      <p:pic>
        <p:nvPicPr>
          <p:cNvPr id="65" name="Picture 6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48233" y="4496848"/>
            <a:ext cx="1809088" cy="532641"/>
          </a:xfrm>
          <a:prstGeom prst="rect">
            <a:avLst/>
          </a:prstGeom>
        </p:spPr>
      </p:pic>
      <p:pic>
        <p:nvPicPr>
          <p:cNvPr id="67" name="Picture 6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03284" y="3673071"/>
            <a:ext cx="1727159" cy="629866"/>
          </a:xfrm>
          <a:prstGeom prst="rect">
            <a:avLst/>
          </a:prstGeom>
        </p:spPr>
      </p:pic>
      <p:pic>
        <p:nvPicPr>
          <p:cNvPr id="68" name="Picture 67"/>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728521" y="2674735"/>
            <a:ext cx="1828800" cy="952500"/>
          </a:xfrm>
          <a:prstGeom prst="rect">
            <a:avLst/>
          </a:prstGeom>
        </p:spPr>
      </p:pic>
      <p:pic>
        <p:nvPicPr>
          <p:cNvPr id="69" name="Picture 68"/>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338421" y="4484766"/>
            <a:ext cx="1905000" cy="542925"/>
          </a:xfrm>
          <a:prstGeom prst="rect">
            <a:avLst/>
          </a:prstGeom>
        </p:spPr>
      </p:pic>
      <p:pic>
        <p:nvPicPr>
          <p:cNvPr id="70" name="Picture 6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648819" y="5301192"/>
            <a:ext cx="1144470" cy="627003"/>
          </a:xfrm>
          <a:prstGeom prst="rect">
            <a:avLst/>
          </a:prstGeom>
        </p:spPr>
      </p:pic>
      <p:pic>
        <p:nvPicPr>
          <p:cNvPr id="71" name="Picture 70"/>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357418" y="3874635"/>
            <a:ext cx="1923532" cy="360198"/>
          </a:xfrm>
          <a:prstGeom prst="rect">
            <a:avLst/>
          </a:prstGeom>
        </p:spPr>
      </p:pic>
      <p:pic>
        <p:nvPicPr>
          <p:cNvPr id="72" name="Picture 7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282992" y="2967833"/>
            <a:ext cx="1372821" cy="749633"/>
          </a:xfrm>
          <a:prstGeom prst="rect">
            <a:avLst/>
          </a:prstGeom>
        </p:spPr>
      </p:pic>
      <p:pic>
        <p:nvPicPr>
          <p:cNvPr id="73" name="Picture 7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329145" y="2701310"/>
            <a:ext cx="771083" cy="727689"/>
          </a:xfrm>
          <a:prstGeom prst="rect">
            <a:avLst/>
          </a:prstGeom>
        </p:spPr>
      </p:pic>
      <p:cxnSp>
        <p:nvCxnSpPr>
          <p:cNvPr id="75" name="Straight Connector 74"/>
          <p:cNvCxnSpPr/>
          <p:nvPr/>
        </p:nvCxnSpPr>
        <p:spPr>
          <a:xfrm flipH="1">
            <a:off x="1759651" y="3179422"/>
            <a:ext cx="959757"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248347" y="4676826"/>
            <a:ext cx="847135" cy="474395"/>
          </a:xfrm>
          <a:prstGeom prst="rect">
            <a:avLst/>
          </a:prstGeom>
        </p:spPr>
      </p:pic>
      <p:pic>
        <p:nvPicPr>
          <p:cNvPr id="3" name="Picture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3162069" y="3970296"/>
            <a:ext cx="1136660" cy="636530"/>
          </a:xfrm>
          <a:prstGeom prst="rect">
            <a:avLst/>
          </a:prstGeom>
        </p:spPr>
      </p:pic>
      <p:pic>
        <p:nvPicPr>
          <p:cNvPr id="47" name="Picture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60298" y="4306850"/>
            <a:ext cx="869287" cy="527373"/>
          </a:xfrm>
          <a:prstGeom prst="rect">
            <a:avLst/>
          </a:prstGeom>
        </p:spPr>
      </p:pic>
      <p:pic>
        <p:nvPicPr>
          <p:cNvPr id="7" name="Picture 6"/>
          <p:cNvPicPr>
            <a:picLocks noChangeAspect="1"/>
          </p:cNvPicPr>
          <p:nvPr/>
        </p:nvPicPr>
        <p:blipFill rotWithShape="1">
          <a:blip r:embed="rId18">
            <a:extLst>
              <a:ext uri="{28A0092B-C50C-407E-A947-70E740481C1C}">
                <a14:useLocalDpi xmlns:a14="http://schemas.microsoft.com/office/drawing/2010/main" val="0"/>
              </a:ext>
            </a:extLst>
          </a:blip>
          <a:srcRect l="22110" t="20524" r="23002" b="14575"/>
          <a:stretch/>
        </p:blipFill>
        <p:spPr>
          <a:xfrm>
            <a:off x="3912887" y="5257863"/>
            <a:ext cx="1216698" cy="445133"/>
          </a:xfrm>
          <a:prstGeom prst="rect">
            <a:avLst/>
          </a:prstGeom>
        </p:spPr>
      </p:pic>
      <p:pic>
        <p:nvPicPr>
          <p:cNvPr id="48" name="Picture 4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3635" y="5770477"/>
            <a:ext cx="892351" cy="404240"/>
          </a:xfrm>
          <a:prstGeom prst="rect">
            <a:avLst/>
          </a:prstGeom>
        </p:spPr>
      </p:pic>
    </p:spTree>
    <p:extLst>
      <p:ext uri="{BB962C8B-B14F-4D97-AF65-F5344CB8AC3E}">
        <p14:creationId xmlns:p14="http://schemas.microsoft.com/office/powerpoint/2010/main" val="36894080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8</a:t>
            </a:fld>
            <a:endParaRPr lang="en-IN" dirty="0">
              <a:solidFill>
                <a:srgbClr val="000000">
                  <a:tint val="75000"/>
                </a:srgbClr>
              </a:solidFill>
            </a:endParaRP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b="9320"/>
          <a:stretch/>
        </p:blipFill>
        <p:spPr>
          <a:xfrm>
            <a:off x="0" y="1"/>
            <a:ext cx="12192000" cy="6336406"/>
          </a:xfrm>
          <a:prstGeom prst="rect">
            <a:avLst/>
          </a:prstGeom>
        </p:spPr>
      </p:pic>
      <p:sp>
        <p:nvSpPr>
          <p:cNvPr id="5" name="Rectangle 4"/>
          <p:cNvSpPr/>
          <p:nvPr/>
        </p:nvSpPr>
        <p:spPr>
          <a:xfrm>
            <a:off x="666108" y="1348010"/>
            <a:ext cx="2371162" cy="830997"/>
          </a:xfrm>
          <a:prstGeom prst="rect">
            <a:avLst/>
          </a:prstGeom>
        </p:spPr>
        <p:txBody>
          <a:bodyPr wrap="none">
            <a:spAutoFit/>
          </a:bodyPr>
          <a:lstStyle/>
          <a:p>
            <a:pPr algn="r"/>
            <a:r>
              <a:rPr lang="en-GB" sz="4800" b="1" dirty="0" smtClean="0">
                <a:solidFill>
                  <a:schemeClr val="accent1">
                    <a:lumMod val="50000"/>
                  </a:schemeClr>
                </a:solidFill>
                <a:effectLst>
                  <a:outerShdw blurRad="38100" dist="38100" dir="2700000" algn="tl">
                    <a:srgbClr val="000000">
                      <a:alpha val="43137"/>
                    </a:srgbClr>
                  </a:outerShdw>
                </a:effectLst>
                <a:latin typeface="Calibri" charset="0"/>
                <a:ea typeface="Calibri" charset="0"/>
                <a:cs typeface="Calibri" charset="0"/>
              </a:rPr>
              <a:t>Banking </a:t>
            </a:r>
            <a:endParaRPr lang="en-IN" sz="3200" b="1" dirty="0" smtClean="0">
              <a:solidFill>
                <a:schemeClr val="accent1">
                  <a:lumMod val="50000"/>
                </a:schemeClr>
              </a:solidFill>
              <a:effectLst>
                <a:outerShdw blurRad="38100" dist="38100" dir="2700000" algn="tl">
                  <a:srgbClr val="000000">
                    <a:alpha val="43137"/>
                  </a:srgbClr>
                </a:outerShdw>
              </a:effectLst>
              <a:latin typeface="Calibri" charset="0"/>
              <a:ea typeface="Calibri" charset="0"/>
              <a:cs typeface="Calibri" charset="0"/>
            </a:endParaRPr>
          </a:p>
        </p:txBody>
      </p:sp>
    </p:spTree>
    <p:extLst>
      <p:ext uri="{BB962C8B-B14F-4D97-AF65-F5344CB8AC3E}">
        <p14:creationId xmlns:p14="http://schemas.microsoft.com/office/powerpoint/2010/main" val="31568588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758367" y="291779"/>
              <a:ext cx="2675412"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What is a bank</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0" name="TextBox 49"/>
          <p:cNvSpPr txBox="1"/>
          <p:nvPr/>
        </p:nvSpPr>
        <p:spPr>
          <a:xfrm>
            <a:off x="5109845" y="71295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Financial Institutions</a:t>
            </a:r>
            <a:endParaRPr lang="en-IN" dirty="0">
              <a:solidFill>
                <a:schemeClr val="bg1"/>
              </a:solidFill>
              <a:latin typeface="Century Gothic" panose="020B0502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436" y="712958"/>
            <a:ext cx="2647950" cy="1724025"/>
          </a:xfrm>
          <a:prstGeom prst="rect">
            <a:avLst/>
          </a:prstGeom>
        </p:spPr>
      </p:pic>
      <p:sp>
        <p:nvSpPr>
          <p:cNvPr id="51" name="Rectangle 50"/>
          <p:cNvSpPr/>
          <p:nvPr/>
        </p:nvSpPr>
        <p:spPr>
          <a:xfrm>
            <a:off x="2583574" y="960329"/>
            <a:ext cx="8402885" cy="1077218"/>
          </a:xfrm>
          <a:prstGeom prst="rect">
            <a:avLst/>
          </a:prstGeom>
        </p:spPr>
        <p:txBody>
          <a:bodyPr wrap="square">
            <a:spAutoFit/>
          </a:bodyPr>
          <a:lstStyle/>
          <a:p>
            <a:r>
              <a:rPr lang="en-IN" sz="2400" b="1" dirty="0" smtClean="0">
                <a:solidFill>
                  <a:srgbClr val="4E67C8"/>
                </a:solidFill>
              </a:rPr>
              <a:t>Bank </a:t>
            </a:r>
            <a:r>
              <a:rPr lang="en-IN" sz="2000" dirty="0" smtClean="0"/>
              <a:t>is an establishment authorised by a government to accept deposits, pay interest, provide loans, act as intermediary in financial transactions and provide multiple financial services to customers</a:t>
            </a:r>
            <a:endParaRPr lang="en-IN" sz="2000" dirty="0"/>
          </a:p>
        </p:txBody>
      </p:sp>
      <p:sp>
        <p:nvSpPr>
          <p:cNvPr id="52" name="Rectangle 51"/>
          <p:cNvSpPr/>
          <p:nvPr/>
        </p:nvSpPr>
        <p:spPr>
          <a:xfrm>
            <a:off x="2620064" y="2683949"/>
            <a:ext cx="8402885" cy="1384995"/>
          </a:xfrm>
          <a:prstGeom prst="rect">
            <a:avLst/>
          </a:prstGeom>
        </p:spPr>
        <p:txBody>
          <a:bodyPr wrap="square">
            <a:spAutoFit/>
          </a:bodyPr>
          <a:lstStyle/>
          <a:p>
            <a:r>
              <a:rPr lang="en-IN" sz="2000" dirty="0" smtClean="0"/>
              <a:t>A</a:t>
            </a:r>
            <a:r>
              <a:rPr lang="en-IN" sz="2000" dirty="0"/>
              <a:t> </a:t>
            </a:r>
            <a:r>
              <a:rPr lang="en-IN" sz="2400" b="1" dirty="0" smtClean="0">
                <a:solidFill>
                  <a:srgbClr val="4E67C8"/>
                </a:solidFill>
              </a:rPr>
              <a:t>Retail/</a:t>
            </a:r>
            <a:r>
              <a:rPr lang="en-IN" sz="2400" b="1" dirty="0" smtClean="0">
                <a:solidFill>
                  <a:schemeClr val="accent1">
                    <a:lumMod val="75000"/>
                  </a:schemeClr>
                </a:solidFill>
              </a:rPr>
              <a:t>commercial </a:t>
            </a:r>
            <a:r>
              <a:rPr lang="en-IN" sz="2400" b="1" dirty="0">
                <a:solidFill>
                  <a:schemeClr val="accent1">
                    <a:lumMod val="75000"/>
                  </a:schemeClr>
                </a:solidFill>
              </a:rPr>
              <a:t>bank</a:t>
            </a:r>
            <a:r>
              <a:rPr lang="en-IN" sz="2000" dirty="0"/>
              <a:t> is a financial institution that provides services, such as accepting deposits, giving business loans and auto loans, mortgage lending, and basic investment products like savings accounts and certificates of deposit.</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344" y="2637026"/>
            <a:ext cx="1381125" cy="1104900"/>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4344" y="4454233"/>
            <a:ext cx="1152525" cy="1152525"/>
          </a:xfrm>
          <a:prstGeom prst="rect">
            <a:avLst/>
          </a:prstGeom>
        </p:spPr>
      </p:pic>
      <p:sp>
        <p:nvSpPr>
          <p:cNvPr id="12" name="Rectangle 11"/>
          <p:cNvSpPr/>
          <p:nvPr/>
        </p:nvSpPr>
        <p:spPr>
          <a:xfrm>
            <a:off x="2583573" y="4208581"/>
            <a:ext cx="9445295" cy="2000548"/>
          </a:xfrm>
          <a:prstGeom prst="rect">
            <a:avLst/>
          </a:prstGeom>
        </p:spPr>
        <p:txBody>
          <a:bodyPr wrap="square">
            <a:spAutoFit/>
          </a:bodyPr>
          <a:lstStyle/>
          <a:p>
            <a:r>
              <a:rPr lang="en-IN" sz="2000" dirty="0" smtClean="0"/>
              <a:t>An </a:t>
            </a:r>
            <a:r>
              <a:rPr lang="en-IN" sz="2400" b="1" dirty="0" smtClean="0">
                <a:solidFill>
                  <a:srgbClr val="4E67C8"/>
                </a:solidFill>
              </a:rPr>
              <a:t>Investment </a:t>
            </a:r>
            <a:r>
              <a:rPr lang="en-IN" sz="2400" b="1" dirty="0">
                <a:solidFill>
                  <a:srgbClr val="4E67C8"/>
                </a:solidFill>
              </a:rPr>
              <a:t>bank</a:t>
            </a:r>
            <a:r>
              <a:rPr lang="en-IN" sz="2000" dirty="0"/>
              <a:t> Investment banking is a specific division </a:t>
            </a:r>
            <a:r>
              <a:rPr lang="en-IN" sz="2000" dirty="0" smtClean="0"/>
              <a:t>of banking</a:t>
            </a:r>
            <a:r>
              <a:rPr lang="en-IN" sz="2000" dirty="0"/>
              <a:t> related to the creation of </a:t>
            </a:r>
            <a:r>
              <a:rPr lang="en-IN" sz="2000" dirty="0" smtClean="0"/>
              <a:t>capital</a:t>
            </a:r>
            <a:r>
              <a:rPr lang="en-IN" sz="2000" dirty="0"/>
              <a:t> for other companies, governments and other entities. </a:t>
            </a:r>
            <a:r>
              <a:rPr lang="en-IN" sz="2000" dirty="0" smtClean="0"/>
              <a:t>Investment banks underwrite </a:t>
            </a:r>
            <a:r>
              <a:rPr lang="en-IN" sz="2000" dirty="0"/>
              <a:t>new </a:t>
            </a:r>
            <a:r>
              <a:rPr lang="en-IN" sz="2000" dirty="0" smtClean="0"/>
              <a:t>debt</a:t>
            </a:r>
            <a:r>
              <a:rPr lang="en-IN" sz="2000" dirty="0"/>
              <a:t> and </a:t>
            </a:r>
            <a:r>
              <a:rPr lang="en-IN" sz="2000" dirty="0" smtClean="0"/>
              <a:t>equity</a:t>
            </a:r>
            <a:r>
              <a:rPr lang="en-IN" sz="2000" dirty="0"/>
              <a:t> </a:t>
            </a:r>
            <a:r>
              <a:rPr lang="en-IN" sz="2000" dirty="0" smtClean="0"/>
              <a:t>securities</a:t>
            </a:r>
            <a:r>
              <a:rPr lang="en-IN" sz="2000" dirty="0"/>
              <a:t> for all types of </a:t>
            </a:r>
            <a:r>
              <a:rPr lang="en-IN" sz="2000" dirty="0" smtClean="0"/>
              <a:t>corporations aid </a:t>
            </a:r>
            <a:r>
              <a:rPr lang="en-IN" sz="2000" dirty="0"/>
              <a:t>in the sale of </a:t>
            </a:r>
            <a:r>
              <a:rPr lang="en-IN" sz="2000" dirty="0" smtClean="0"/>
              <a:t>securities and </a:t>
            </a:r>
            <a:r>
              <a:rPr lang="en-IN" sz="2000" dirty="0"/>
              <a:t>help to facilitate </a:t>
            </a:r>
            <a:r>
              <a:rPr lang="en-IN" sz="2000" dirty="0" smtClean="0"/>
              <a:t>mergers and acquisition</a:t>
            </a:r>
            <a:r>
              <a:rPr lang="en-IN" sz="2000" dirty="0"/>
              <a:t/>
            </a:r>
            <a:br>
              <a:rPr lang="en-IN" sz="2000" dirty="0"/>
            </a:br>
            <a:r>
              <a:rPr lang="en-IN" sz="2000" dirty="0"/>
              <a:t/>
            </a:r>
            <a:br>
              <a:rPr lang="en-IN" sz="2000" dirty="0"/>
            </a:br>
            <a:endParaRPr lang="en-IN" sz="2000" dirty="0"/>
          </a:p>
        </p:txBody>
      </p:sp>
    </p:spTree>
    <p:extLst>
      <p:ext uri="{BB962C8B-B14F-4D97-AF65-F5344CB8AC3E}">
        <p14:creationId xmlns:p14="http://schemas.microsoft.com/office/powerpoint/2010/main" val="17742996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3817251" y="291779"/>
              <a:ext cx="4557658"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Banking Operating Model</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 name="Rectangle 4"/>
          <p:cNvSpPr/>
          <p:nvPr/>
        </p:nvSpPr>
        <p:spPr>
          <a:xfrm>
            <a:off x="334851" y="876268"/>
            <a:ext cx="3026533" cy="142955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t>ASSETS</a:t>
            </a:r>
          </a:p>
          <a:p>
            <a:pPr algn="ctr"/>
            <a:r>
              <a:rPr lang="en-IN" sz="1400" dirty="0" smtClean="0"/>
              <a:t>(Assets portion </a:t>
            </a:r>
            <a:r>
              <a:rPr lang="en-IN" sz="1400" dirty="0"/>
              <a:t>of a bank's </a:t>
            </a:r>
            <a:r>
              <a:rPr lang="en-IN" sz="1400" b="1" dirty="0"/>
              <a:t>capital</a:t>
            </a:r>
            <a:r>
              <a:rPr lang="en-IN" sz="1400" dirty="0"/>
              <a:t> includes </a:t>
            </a:r>
            <a:r>
              <a:rPr lang="en-IN" sz="1400" b="1" dirty="0"/>
              <a:t>cash</a:t>
            </a:r>
            <a:r>
              <a:rPr lang="en-IN" sz="1400" dirty="0"/>
              <a:t>, government securities and interest-earning loans, such as mortgages, letters of credit and inter-bank </a:t>
            </a:r>
            <a:r>
              <a:rPr lang="en-IN" sz="1400" dirty="0" smtClean="0"/>
              <a:t>loans)</a:t>
            </a:r>
            <a:endParaRPr lang="en-IN" sz="1400" dirty="0"/>
          </a:p>
        </p:txBody>
      </p:sp>
      <p:sp>
        <p:nvSpPr>
          <p:cNvPr id="7" name="Rectangle 6"/>
          <p:cNvSpPr/>
          <p:nvPr/>
        </p:nvSpPr>
        <p:spPr>
          <a:xfrm>
            <a:off x="4840311" y="3366827"/>
            <a:ext cx="2665928" cy="8128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Connector 8"/>
          <p:cNvCxnSpPr>
            <a:stCxn id="5" idx="3"/>
          </p:cNvCxnSpPr>
          <p:nvPr/>
        </p:nvCxnSpPr>
        <p:spPr>
          <a:xfrm>
            <a:off x="3361384" y="1591046"/>
            <a:ext cx="1478927" cy="25249"/>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34" idx="1"/>
          </p:cNvCxnSpPr>
          <p:nvPr/>
        </p:nvCxnSpPr>
        <p:spPr>
          <a:xfrm>
            <a:off x="7481974" y="1616294"/>
            <a:ext cx="1363666"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6173273" y="2331072"/>
            <a:ext cx="5368" cy="1366179"/>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834027" y="3459168"/>
            <a:ext cx="4678491" cy="615553"/>
          </a:xfrm>
          <a:prstGeom prst="rect">
            <a:avLst/>
          </a:prstGeom>
          <a:noFill/>
        </p:spPr>
        <p:txBody>
          <a:bodyPr wrap="square" rtlCol="0">
            <a:spAutoFit/>
          </a:bodyPr>
          <a:lstStyle/>
          <a:p>
            <a:pPr algn="ctr"/>
            <a:r>
              <a:rPr lang="en-IN" sz="1400" b="1" dirty="0" smtClean="0">
                <a:solidFill>
                  <a:schemeClr val="bg1"/>
                </a:solidFill>
                <a:latin typeface="Century Gothic" panose="020B0502020202020204" pitchFamily="34" charset="0"/>
              </a:rPr>
              <a:t>ALCO </a:t>
            </a:r>
          </a:p>
          <a:p>
            <a:pPr algn="ctr"/>
            <a:r>
              <a:rPr lang="en-IN" sz="1000" dirty="0" smtClean="0">
                <a:solidFill>
                  <a:schemeClr val="bg1"/>
                </a:solidFill>
                <a:latin typeface="Century Gothic" panose="020B0502020202020204" pitchFamily="34" charset="0"/>
              </a:rPr>
              <a:t>(Facilitates management of the interest </a:t>
            </a:r>
          </a:p>
          <a:p>
            <a:pPr algn="ctr"/>
            <a:r>
              <a:rPr lang="en-IN" sz="1000" dirty="0" smtClean="0">
                <a:solidFill>
                  <a:schemeClr val="bg1"/>
                </a:solidFill>
                <a:latin typeface="Century Gothic" panose="020B0502020202020204" pitchFamily="34" charset="0"/>
              </a:rPr>
              <a:t>rates  for borrowing/lending within banks)</a:t>
            </a:r>
            <a:endParaRPr lang="en-IN" sz="1000" dirty="0">
              <a:solidFill>
                <a:schemeClr val="bg1"/>
              </a:solidFill>
              <a:latin typeface="Century Gothic" panose="020B0502020202020204" pitchFamily="34" charset="0"/>
            </a:endParaRPr>
          </a:p>
        </p:txBody>
      </p:sp>
      <p:sp>
        <p:nvSpPr>
          <p:cNvPr id="34" name="Rectangle 33"/>
          <p:cNvSpPr/>
          <p:nvPr/>
        </p:nvSpPr>
        <p:spPr>
          <a:xfrm>
            <a:off x="8845640" y="901516"/>
            <a:ext cx="2990045" cy="142955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t>LIABILITIES</a:t>
            </a:r>
          </a:p>
          <a:p>
            <a:pPr algn="ctr"/>
            <a:r>
              <a:rPr lang="en-IN" sz="1400" dirty="0" smtClean="0"/>
              <a:t>(Liabilities </a:t>
            </a:r>
            <a:r>
              <a:rPr lang="en-IN" sz="1400" dirty="0"/>
              <a:t>section of a bank's </a:t>
            </a:r>
            <a:r>
              <a:rPr lang="en-IN" sz="1400" b="1" dirty="0"/>
              <a:t>capital</a:t>
            </a:r>
            <a:r>
              <a:rPr lang="en-IN" sz="1400" dirty="0"/>
              <a:t> includes loan-loss reserves and any debt it </a:t>
            </a:r>
            <a:r>
              <a:rPr lang="en-IN" sz="1400" dirty="0" smtClean="0"/>
              <a:t>owes, and all deposits/savings on which it ha to pay out  interest to customer)</a:t>
            </a:r>
            <a:endParaRPr lang="en-IN" sz="1400" dirty="0"/>
          </a:p>
        </p:txBody>
      </p:sp>
      <p:sp>
        <p:nvSpPr>
          <p:cNvPr id="36" name="Rectangle 35"/>
          <p:cNvSpPr/>
          <p:nvPr/>
        </p:nvSpPr>
        <p:spPr>
          <a:xfrm>
            <a:off x="4525738" y="850255"/>
            <a:ext cx="3245475" cy="142955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b="1" dirty="0" smtClean="0"/>
          </a:p>
          <a:p>
            <a:pPr algn="ctr"/>
            <a:r>
              <a:rPr lang="en-IN" sz="1400" b="1" dirty="0" smtClean="0"/>
              <a:t>INSURANCE</a:t>
            </a:r>
          </a:p>
          <a:p>
            <a:pPr algn="ctr"/>
            <a:r>
              <a:rPr lang="en-IN" sz="1400" dirty="0" smtClean="0"/>
              <a:t>(An </a:t>
            </a:r>
            <a:r>
              <a:rPr lang="en-IN" sz="1400" dirty="0"/>
              <a:t>arrangement by which a company or the state undertakes to provide a guarantee of compensation for specified </a:t>
            </a:r>
            <a:r>
              <a:rPr lang="en-IN" sz="1400" dirty="0" smtClean="0"/>
              <a:t>loss </a:t>
            </a:r>
            <a:r>
              <a:rPr lang="en-IN" sz="1400" dirty="0"/>
              <a:t>in return for payment of a specified </a:t>
            </a:r>
            <a:r>
              <a:rPr lang="en-IN" sz="1400" dirty="0" smtClean="0"/>
              <a:t>premium)</a:t>
            </a:r>
            <a:endParaRPr lang="en-IN" sz="1400" dirty="0"/>
          </a:p>
          <a:p>
            <a:pPr algn="ctr"/>
            <a:r>
              <a:rPr lang="en-IN" sz="1400" dirty="0" smtClean="0"/>
              <a:t> )</a:t>
            </a:r>
            <a:endParaRPr lang="en-IN" sz="1400" dirty="0"/>
          </a:p>
        </p:txBody>
      </p:sp>
      <p:cxnSp>
        <p:nvCxnSpPr>
          <p:cNvPr id="38" name="Elbow Connector 37"/>
          <p:cNvCxnSpPr/>
          <p:nvPr/>
        </p:nvCxnSpPr>
        <p:spPr>
          <a:xfrm>
            <a:off x="180304" y="2588649"/>
            <a:ext cx="4639185" cy="1314413"/>
          </a:xfrm>
          <a:prstGeom prst="bentConnector3">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180304" y="1475636"/>
            <a:ext cx="1" cy="1108602"/>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201764" y="1475636"/>
            <a:ext cx="133087"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rot="10800000" flipV="1">
            <a:off x="7506240" y="2591320"/>
            <a:ext cx="4522629" cy="1311741"/>
          </a:xfrm>
          <a:prstGeom prst="bentConnector3">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11988081" y="1482972"/>
            <a:ext cx="1" cy="1108602"/>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11835685" y="1482972"/>
            <a:ext cx="133087"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363833" y="2614662"/>
            <a:ext cx="3118314" cy="400110"/>
          </a:xfrm>
          <a:prstGeom prst="rect">
            <a:avLst/>
          </a:prstGeom>
          <a:noFill/>
        </p:spPr>
        <p:txBody>
          <a:bodyPr wrap="square" rtlCol="0">
            <a:spAutoFit/>
          </a:bodyPr>
          <a:lstStyle/>
          <a:p>
            <a:pPr marL="228600" indent="-228600">
              <a:buAutoNum type="arabicPeriod"/>
            </a:pPr>
            <a:r>
              <a:rPr lang="en-IN" sz="1000" dirty="0" smtClean="0">
                <a:solidFill>
                  <a:schemeClr val="bg2">
                    <a:lumMod val="50000"/>
                  </a:schemeClr>
                </a:solidFill>
                <a:latin typeface="Century Gothic" panose="020B0502020202020204" pitchFamily="34" charset="0"/>
              </a:rPr>
              <a:t>Net Interest Income</a:t>
            </a:r>
          </a:p>
          <a:p>
            <a:pPr marL="228600" indent="-228600">
              <a:buAutoNum type="arabicPeriod"/>
            </a:pPr>
            <a:r>
              <a:rPr lang="en-IN" sz="1000" dirty="0" smtClean="0">
                <a:solidFill>
                  <a:schemeClr val="bg2">
                    <a:lumMod val="50000"/>
                  </a:schemeClr>
                </a:solidFill>
                <a:latin typeface="Century Gothic" panose="020B0502020202020204" pitchFamily="34" charset="0"/>
              </a:rPr>
              <a:t>Net Fee Income</a:t>
            </a:r>
            <a:endParaRPr lang="en-IN" sz="1000" dirty="0">
              <a:solidFill>
                <a:schemeClr val="bg2">
                  <a:lumMod val="50000"/>
                </a:schemeClr>
              </a:solidFill>
              <a:latin typeface="Century Gothic" panose="020B0502020202020204" pitchFamily="34" charset="0"/>
            </a:endParaRPr>
          </a:p>
        </p:txBody>
      </p:sp>
      <p:sp>
        <p:nvSpPr>
          <p:cNvPr id="57" name="TextBox 56"/>
          <p:cNvSpPr txBox="1"/>
          <p:nvPr/>
        </p:nvSpPr>
        <p:spPr>
          <a:xfrm>
            <a:off x="10054212" y="3229367"/>
            <a:ext cx="3118314" cy="246221"/>
          </a:xfrm>
          <a:prstGeom prst="rect">
            <a:avLst/>
          </a:prstGeom>
          <a:noFill/>
        </p:spPr>
        <p:txBody>
          <a:bodyPr wrap="square" rtlCol="0">
            <a:spAutoFit/>
          </a:bodyPr>
          <a:lstStyle/>
          <a:p>
            <a:pPr marL="228600" indent="-228600">
              <a:buAutoNum type="arabicPeriod"/>
            </a:pPr>
            <a:r>
              <a:rPr lang="en-IN" sz="1000" dirty="0" smtClean="0">
                <a:solidFill>
                  <a:schemeClr val="bg2">
                    <a:lumMod val="50000"/>
                  </a:schemeClr>
                </a:solidFill>
                <a:latin typeface="Century Gothic" panose="020B0502020202020204" pitchFamily="34" charset="0"/>
              </a:rPr>
              <a:t>Net Interest Income</a:t>
            </a:r>
          </a:p>
        </p:txBody>
      </p:sp>
      <p:sp>
        <p:nvSpPr>
          <p:cNvPr id="58" name="TextBox 57"/>
          <p:cNvSpPr txBox="1"/>
          <p:nvPr/>
        </p:nvSpPr>
        <p:spPr>
          <a:xfrm>
            <a:off x="5455642" y="2728922"/>
            <a:ext cx="3118314" cy="400110"/>
          </a:xfrm>
          <a:prstGeom prst="rect">
            <a:avLst/>
          </a:prstGeom>
          <a:noFill/>
        </p:spPr>
        <p:txBody>
          <a:bodyPr wrap="square" rtlCol="0">
            <a:spAutoFit/>
          </a:bodyPr>
          <a:lstStyle/>
          <a:p>
            <a:pPr marL="228600" indent="-228600">
              <a:buAutoNum type="arabicPeriod"/>
            </a:pPr>
            <a:r>
              <a:rPr lang="en-IN" sz="1000" dirty="0" smtClean="0">
                <a:solidFill>
                  <a:schemeClr val="bg2">
                    <a:lumMod val="50000"/>
                  </a:schemeClr>
                </a:solidFill>
                <a:latin typeface="Century Gothic" panose="020B0502020202020204" pitchFamily="34" charset="0"/>
              </a:rPr>
              <a:t>Net Feet Income</a:t>
            </a:r>
          </a:p>
          <a:p>
            <a:pPr marL="228600" indent="-228600">
              <a:buAutoNum type="arabicPeriod"/>
            </a:pPr>
            <a:r>
              <a:rPr lang="en-IN" sz="1000" dirty="0" smtClean="0">
                <a:solidFill>
                  <a:schemeClr val="bg2">
                    <a:lumMod val="50000"/>
                  </a:schemeClr>
                </a:solidFill>
                <a:latin typeface="Century Gothic" panose="020B0502020202020204" pitchFamily="34" charset="0"/>
              </a:rPr>
              <a:t>Commission Rate</a:t>
            </a:r>
            <a:endParaRPr lang="en-IN" sz="1000" dirty="0">
              <a:solidFill>
                <a:schemeClr val="bg2">
                  <a:lumMod val="50000"/>
                </a:schemeClr>
              </a:solidFill>
              <a:latin typeface="Century Gothic" panose="020B0502020202020204" pitchFamily="34" charset="0"/>
            </a:endParaRPr>
          </a:p>
        </p:txBody>
      </p:sp>
      <p:pic>
        <p:nvPicPr>
          <p:cNvPr id="61" name="Picture 6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304" y="4505680"/>
            <a:ext cx="1072899" cy="964251"/>
          </a:xfrm>
          <a:prstGeom prst="rect">
            <a:avLst/>
          </a:prstGeom>
        </p:spPr>
      </p:pic>
      <p:pic>
        <p:nvPicPr>
          <p:cNvPr id="62" name="Picture 6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7488" y="3971493"/>
            <a:ext cx="1256773" cy="884919"/>
          </a:xfrm>
          <a:prstGeom prst="rect">
            <a:avLst/>
          </a:prstGeom>
        </p:spPr>
      </p:pic>
      <p:pic>
        <p:nvPicPr>
          <p:cNvPr id="63" name="Picture 6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3833" y="3179966"/>
            <a:ext cx="1124275" cy="709649"/>
          </a:xfrm>
          <a:prstGeom prst="rect">
            <a:avLst/>
          </a:prstGeom>
        </p:spPr>
      </p:pic>
      <p:pic>
        <p:nvPicPr>
          <p:cNvPr id="64" name="Picture 6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43592" y="4782601"/>
            <a:ext cx="1031404" cy="772557"/>
          </a:xfrm>
          <a:prstGeom prst="rect">
            <a:avLst/>
          </a:prstGeom>
        </p:spPr>
      </p:pic>
      <p:pic>
        <p:nvPicPr>
          <p:cNvPr id="65" name="Picture 6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43377" y="4385686"/>
            <a:ext cx="1258851" cy="999088"/>
          </a:xfrm>
          <a:prstGeom prst="rect">
            <a:avLst/>
          </a:prstGeom>
        </p:spPr>
      </p:pic>
      <p:pic>
        <p:nvPicPr>
          <p:cNvPr id="69" name="Picture 6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841579" y="3084972"/>
            <a:ext cx="1127193" cy="1127193"/>
          </a:xfrm>
          <a:prstGeom prst="rect">
            <a:avLst/>
          </a:prstGeom>
        </p:spPr>
      </p:pic>
      <p:pic>
        <p:nvPicPr>
          <p:cNvPr id="70" name="Picture 6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65319" y="4106716"/>
            <a:ext cx="1278058" cy="1278058"/>
          </a:xfrm>
          <a:prstGeom prst="rect">
            <a:avLst/>
          </a:prstGeom>
        </p:spPr>
      </p:pic>
      <p:sp>
        <p:nvSpPr>
          <p:cNvPr id="71" name="Rectangle 70"/>
          <p:cNvSpPr/>
          <p:nvPr/>
        </p:nvSpPr>
        <p:spPr>
          <a:xfrm>
            <a:off x="4665385" y="4843533"/>
            <a:ext cx="3245475" cy="142955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t>INVESTMENT </a:t>
            </a:r>
          </a:p>
          <a:p>
            <a:pPr algn="ctr"/>
            <a:r>
              <a:rPr lang="en-IN" sz="1400" b="1" dirty="0" smtClean="0"/>
              <a:t>(</a:t>
            </a:r>
            <a:r>
              <a:rPr lang="en-IN" sz="1400" dirty="0"/>
              <a:t>An </a:t>
            </a:r>
            <a:r>
              <a:rPr lang="en-IN" sz="1400" b="1" dirty="0"/>
              <a:t>investment</a:t>
            </a:r>
            <a:r>
              <a:rPr lang="en-IN" sz="1400" dirty="0"/>
              <a:t> is an asset or item that is purchased with the hope that it will generate income or appreciate in the </a:t>
            </a:r>
            <a:r>
              <a:rPr lang="en-IN" sz="1400" dirty="0" smtClean="0"/>
              <a:t>future)</a:t>
            </a:r>
            <a:endParaRPr lang="en-IN" sz="1400" dirty="0"/>
          </a:p>
        </p:txBody>
      </p:sp>
      <p:cxnSp>
        <p:nvCxnSpPr>
          <p:cNvPr id="72" name="Straight Connector 71"/>
          <p:cNvCxnSpPr>
            <a:stCxn id="71" idx="0"/>
          </p:cNvCxnSpPr>
          <p:nvPr/>
        </p:nvCxnSpPr>
        <p:spPr>
          <a:xfrm flipH="1" flipV="1">
            <a:off x="6173272" y="3866574"/>
            <a:ext cx="0" cy="976959"/>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5394204" y="4400738"/>
            <a:ext cx="3118314" cy="400110"/>
          </a:xfrm>
          <a:prstGeom prst="rect">
            <a:avLst/>
          </a:prstGeom>
          <a:noFill/>
        </p:spPr>
        <p:txBody>
          <a:bodyPr wrap="square" rtlCol="0">
            <a:spAutoFit/>
          </a:bodyPr>
          <a:lstStyle/>
          <a:p>
            <a:pPr marL="228600" indent="-228600">
              <a:buAutoNum type="arabicPeriod"/>
            </a:pPr>
            <a:r>
              <a:rPr lang="en-IN" sz="1000" dirty="0" smtClean="0">
                <a:solidFill>
                  <a:schemeClr val="bg2">
                    <a:lumMod val="50000"/>
                  </a:schemeClr>
                </a:solidFill>
                <a:latin typeface="Century Gothic" panose="020B0502020202020204" pitchFamily="34" charset="0"/>
              </a:rPr>
              <a:t>Net Fee Income</a:t>
            </a:r>
          </a:p>
          <a:p>
            <a:pPr marL="228600" indent="-228600">
              <a:buAutoNum type="arabicPeriod"/>
            </a:pPr>
            <a:r>
              <a:rPr lang="en-IN" sz="1000" dirty="0" smtClean="0">
                <a:solidFill>
                  <a:schemeClr val="bg2">
                    <a:lumMod val="50000"/>
                  </a:schemeClr>
                </a:solidFill>
                <a:latin typeface="Century Gothic" panose="020B0502020202020204" pitchFamily="34" charset="0"/>
              </a:rPr>
              <a:t>Commission Rate</a:t>
            </a:r>
            <a:endParaRPr lang="en-IN" sz="1000" dirty="0">
              <a:solidFill>
                <a:schemeClr val="bg2">
                  <a:lumMod val="50000"/>
                </a:schemeClr>
              </a:solidFill>
              <a:latin typeface="Century Gothic" panose="020B0502020202020204" pitchFamily="34" charset="0"/>
            </a:endParaRPr>
          </a:p>
        </p:txBody>
      </p:sp>
    </p:spTree>
    <p:extLst>
      <p:ext uri="{BB962C8B-B14F-4D97-AF65-F5344CB8AC3E}">
        <p14:creationId xmlns:p14="http://schemas.microsoft.com/office/powerpoint/2010/main" val="34630017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11</a:t>
            </a:fld>
            <a:endParaRPr lang="en-IN" dirty="0">
              <a:solidFill>
                <a:srgbClr val="000000">
                  <a:tint val="75000"/>
                </a:srgbClr>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30"/>
            <a:ext cx="12192000" cy="6291419"/>
          </a:xfrm>
          <a:prstGeom prst="rect">
            <a:avLst/>
          </a:prstGeom>
        </p:spPr>
      </p:pic>
      <p:sp>
        <p:nvSpPr>
          <p:cNvPr id="5" name="Rectangle 4"/>
          <p:cNvSpPr/>
          <p:nvPr/>
        </p:nvSpPr>
        <p:spPr>
          <a:xfrm>
            <a:off x="0" y="188912"/>
            <a:ext cx="6139309" cy="830997"/>
          </a:xfrm>
          <a:prstGeom prst="rect">
            <a:avLst/>
          </a:prstGeom>
        </p:spPr>
        <p:txBody>
          <a:bodyPr wrap="none">
            <a:spAutoFit/>
          </a:bodyPr>
          <a:lstStyle/>
          <a:p>
            <a:pPr algn="r"/>
            <a:r>
              <a:rPr lang="en-GB" sz="48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rPr>
              <a:t>Banking Asset Products</a:t>
            </a:r>
            <a:endParaRPr lang="en-IN" sz="32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endParaRPr>
          </a:p>
        </p:txBody>
      </p:sp>
    </p:spTree>
    <p:extLst>
      <p:ext uri="{BB962C8B-B14F-4D97-AF65-F5344CB8AC3E}">
        <p14:creationId xmlns:p14="http://schemas.microsoft.com/office/powerpoint/2010/main" val="5144886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112731" y="291779"/>
              <a:ext cx="3966728"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Loan Against Property</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0" name="TextBox 49"/>
          <p:cNvSpPr txBox="1"/>
          <p:nvPr/>
        </p:nvSpPr>
        <p:spPr>
          <a:xfrm>
            <a:off x="5109845" y="71295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Financial Institutions</a:t>
            </a:r>
            <a:endParaRPr lang="en-IN" dirty="0">
              <a:solidFill>
                <a:schemeClr val="bg1"/>
              </a:solidFill>
              <a:latin typeface="Century Gothic" panose="020B0502020202020204" pitchFamily="34" charset="0"/>
            </a:endParaRPr>
          </a:p>
        </p:txBody>
      </p:sp>
      <p:sp>
        <p:nvSpPr>
          <p:cNvPr id="7" name="Rectangle 6"/>
          <p:cNvSpPr/>
          <p:nvPr/>
        </p:nvSpPr>
        <p:spPr>
          <a:xfrm>
            <a:off x="236408" y="727473"/>
            <a:ext cx="11955593" cy="584775"/>
          </a:xfrm>
          <a:prstGeom prst="rect">
            <a:avLst/>
          </a:prstGeom>
        </p:spPr>
        <p:txBody>
          <a:bodyPr wrap="square">
            <a:spAutoFit/>
          </a:bodyPr>
          <a:lstStyle/>
          <a:p>
            <a:r>
              <a:rPr lang="en-IN" sz="1600" dirty="0">
                <a:solidFill>
                  <a:srgbClr val="252525"/>
                </a:solidFill>
              </a:rPr>
              <a:t>A </a:t>
            </a:r>
            <a:r>
              <a:rPr lang="en-IN" sz="1600" b="1" dirty="0">
                <a:solidFill>
                  <a:srgbClr val="252525"/>
                </a:solidFill>
              </a:rPr>
              <a:t>home equity loan</a:t>
            </a:r>
            <a:r>
              <a:rPr lang="en-IN" sz="1600" dirty="0">
                <a:solidFill>
                  <a:srgbClr val="252525"/>
                </a:solidFill>
              </a:rPr>
              <a:t> is a type of </a:t>
            </a:r>
            <a:r>
              <a:rPr lang="en-IN" sz="1600" dirty="0" smtClean="0">
                <a:solidFill>
                  <a:srgbClr val="0B0080"/>
                </a:solidFill>
              </a:rPr>
              <a:t>loan</a:t>
            </a:r>
            <a:r>
              <a:rPr lang="en-IN" sz="1600" dirty="0">
                <a:solidFill>
                  <a:srgbClr val="252525"/>
                </a:solidFill>
              </a:rPr>
              <a:t> in which the borrower uses the </a:t>
            </a:r>
            <a:r>
              <a:rPr lang="en-IN" sz="1600" dirty="0" smtClean="0">
                <a:solidFill>
                  <a:srgbClr val="0B0080"/>
                </a:solidFill>
              </a:rPr>
              <a:t>equity </a:t>
            </a:r>
            <a:r>
              <a:rPr lang="en-IN" sz="1600" dirty="0">
                <a:solidFill>
                  <a:srgbClr val="252525"/>
                </a:solidFill>
              </a:rPr>
              <a:t> of </a:t>
            </a:r>
            <a:r>
              <a:rPr lang="en-IN" sz="1600" dirty="0" smtClean="0">
                <a:solidFill>
                  <a:srgbClr val="252525"/>
                </a:solidFill>
              </a:rPr>
              <a:t>home </a:t>
            </a:r>
            <a:r>
              <a:rPr lang="en-IN" sz="1600" dirty="0">
                <a:solidFill>
                  <a:srgbClr val="252525"/>
                </a:solidFill>
              </a:rPr>
              <a:t> as </a:t>
            </a:r>
            <a:r>
              <a:rPr lang="en-IN" sz="1600" dirty="0" smtClean="0">
                <a:solidFill>
                  <a:srgbClr val="252525"/>
                </a:solidFill>
              </a:rPr>
              <a:t>collateral. </a:t>
            </a:r>
            <a:r>
              <a:rPr lang="en-IN" sz="1600" dirty="0">
                <a:solidFill>
                  <a:srgbClr val="252525"/>
                </a:solidFill>
              </a:rPr>
              <a:t>The loan amount is determined by the value of the property, and the value of the property is determined by an appraiser from the lending institution</a:t>
            </a:r>
            <a:endParaRPr lang="en-IN" sz="16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4400" y="2407546"/>
            <a:ext cx="3271569" cy="3077046"/>
          </a:xfrm>
          <a:prstGeom prst="rect">
            <a:avLst/>
          </a:prstGeom>
        </p:spPr>
      </p:pic>
      <p:sp>
        <p:nvSpPr>
          <p:cNvPr id="9" name="Oval 8"/>
          <p:cNvSpPr/>
          <p:nvPr/>
        </p:nvSpPr>
        <p:spPr>
          <a:xfrm>
            <a:off x="3816514" y="1888665"/>
            <a:ext cx="4181263" cy="356151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Moon 2"/>
          <p:cNvSpPr/>
          <p:nvPr/>
        </p:nvSpPr>
        <p:spPr>
          <a:xfrm>
            <a:off x="2910625" y="2407546"/>
            <a:ext cx="1056068" cy="2744003"/>
          </a:xfrm>
          <a:prstGeom prst="mo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p:cNvSpPr/>
          <p:nvPr/>
        </p:nvSpPr>
        <p:spPr>
          <a:xfrm>
            <a:off x="412118" y="2407546"/>
            <a:ext cx="2210800" cy="2465645"/>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Moon 12"/>
          <p:cNvSpPr/>
          <p:nvPr/>
        </p:nvSpPr>
        <p:spPr>
          <a:xfrm flipH="1">
            <a:off x="7963855" y="2297419"/>
            <a:ext cx="1056068" cy="2744003"/>
          </a:xfrm>
          <a:prstGeom prst="mo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p:cNvSpPr/>
          <p:nvPr/>
        </p:nvSpPr>
        <p:spPr>
          <a:xfrm>
            <a:off x="9462510" y="2436597"/>
            <a:ext cx="2210800" cy="2465645"/>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a:off x="477595" y="2960651"/>
            <a:ext cx="2593899" cy="1569660"/>
          </a:xfrm>
          <a:prstGeom prst="rect">
            <a:avLst/>
          </a:prstGeom>
          <a:noFill/>
        </p:spPr>
        <p:txBody>
          <a:bodyPr wrap="square" rtlCol="0">
            <a:spAutoFit/>
          </a:bodyPr>
          <a:lstStyle/>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Loan on property</a:t>
            </a:r>
          </a:p>
          <a:p>
            <a:pPr>
              <a:buClr>
                <a:schemeClr val="bg2">
                  <a:lumMod val="25000"/>
                </a:schemeClr>
              </a:buClr>
            </a:pPr>
            <a:r>
              <a:rPr lang="en-IN" sz="1200" dirty="0">
                <a:solidFill>
                  <a:schemeClr val="bg2">
                    <a:lumMod val="50000"/>
                  </a:schemeClr>
                </a:solidFill>
                <a:latin typeface="Century Gothic" panose="020B0502020202020204" pitchFamily="34" charset="0"/>
              </a:rPr>
              <a:t> </a:t>
            </a:r>
            <a:r>
              <a:rPr lang="en-IN" sz="1200" dirty="0" smtClean="0">
                <a:solidFill>
                  <a:schemeClr val="bg2">
                    <a:lumMod val="50000"/>
                  </a:schemeClr>
                </a:solidFill>
                <a:latin typeface="Century Gothic" panose="020B0502020202020204" pitchFamily="34" charset="0"/>
              </a:rPr>
              <a:t>    at a fixed rate for the </a:t>
            </a:r>
          </a:p>
          <a:p>
            <a:pPr>
              <a:buClr>
                <a:schemeClr val="bg2">
                  <a:lumMod val="25000"/>
                </a:schemeClr>
              </a:buClr>
            </a:pPr>
            <a:r>
              <a:rPr lang="en-IN" sz="1200" dirty="0">
                <a:solidFill>
                  <a:schemeClr val="bg2">
                    <a:lumMod val="50000"/>
                  </a:schemeClr>
                </a:solidFill>
                <a:latin typeface="Century Gothic" panose="020B0502020202020204" pitchFamily="34" charset="0"/>
              </a:rPr>
              <a:t> </a:t>
            </a:r>
            <a:r>
              <a:rPr lang="en-IN" sz="1200" dirty="0" smtClean="0">
                <a:solidFill>
                  <a:schemeClr val="bg2">
                    <a:lumMod val="50000"/>
                  </a:schemeClr>
                </a:solidFill>
                <a:latin typeface="Century Gothic" panose="020B0502020202020204" pitchFamily="34" charset="0"/>
              </a:rPr>
              <a:t>    entire tenure</a:t>
            </a:r>
          </a:p>
          <a:p>
            <a:pPr marL="171450" indent="-17145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Loan repayment </a:t>
            </a:r>
          </a:p>
          <a:p>
            <a:pPr>
              <a:buClr>
                <a:schemeClr val="bg2">
                  <a:lumMod val="25000"/>
                </a:schemeClr>
              </a:buClr>
            </a:pPr>
            <a:r>
              <a:rPr lang="en-IN" sz="1200" dirty="0" smtClean="0">
                <a:solidFill>
                  <a:schemeClr val="bg2">
                    <a:lumMod val="50000"/>
                  </a:schemeClr>
                </a:solidFill>
                <a:latin typeface="Century Gothic" panose="020B0502020202020204" pitchFamily="34" charset="0"/>
              </a:rPr>
              <a:t>    instalment </a:t>
            </a:r>
          </a:p>
          <a:p>
            <a:pPr>
              <a:buClr>
                <a:schemeClr val="bg2">
                  <a:lumMod val="25000"/>
                </a:schemeClr>
              </a:buClr>
            </a:pPr>
            <a:r>
              <a:rPr lang="en-IN" sz="1200" dirty="0">
                <a:solidFill>
                  <a:schemeClr val="bg2">
                    <a:lumMod val="50000"/>
                  </a:schemeClr>
                </a:solidFill>
                <a:latin typeface="Century Gothic" panose="020B0502020202020204" pitchFamily="34" charset="0"/>
              </a:rPr>
              <a:t> </a:t>
            </a:r>
            <a:r>
              <a:rPr lang="en-IN" sz="1200" dirty="0" smtClean="0">
                <a:solidFill>
                  <a:schemeClr val="bg2">
                    <a:lumMod val="50000"/>
                  </a:schemeClr>
                </a:solidFill>
                <a:latin typeface="Century Gothic" panose="020B0502020202020204" pitchFamily="34" charset="0"/>
              </a:rPr>
              <a:t>   independent of market </a:t>
            </a:r>
          </a:p>
          <a:p>
            <a:pPr>
              <a:buClr>
                <a:schemeClr val="bg2">
                  <a:lumMod val="25000"/>
                </a:schemeClr>
              </a:buClr>
            </a:pPr>
            <a:r>
              <a:rPr lang="en-IN" sz="1200" dirty="0" smtClean="0">
                <a:solidFill>
                  <a:schemeClr val="bg2">
                    <a:lumMod val="50000"/>
                  </a:schemeClr>
                </a:solidFill>
                <a:latin typeface="Century Gothic" panose="020B0502020202020204" pitchFamily="34" charset="0"/>
              </a:rPr>
              <a:t>    conditions</a:t>
            </a:r>
          </a:p>
          <a:p>
            <a:pPr>
              <a:buClr>
                <a:schemeClr val="bg2">
                  <a:lumMod val="25000"/>
                </a:schemeClr>
              </a:buClr>
            </a:pPr>
            <a:endParaRPr lang="en-IN" sz="1200" dirty="0" smtClean="0">
              <a:solidFill>
                <a:schemeClr val="bg2">
                  <a:lumMod val="50000"/>
                </a:schemeClr>
              </a:solidFill>
              <a:latin typeface="Century Gothic" panose="020B0502020202020204" pitchFamily="34" charset="0"/>
            </a:endParaRPr>
          </a:p>
        </p:txBody>
      </p:sp>
      <p:sp>
        <p:nvSpPr>
          <p:cNvPr id="16" name="Rounded Rectangle 15"/>
          <p:cNvSpPr/>
          <p:nvPr/>
        </p:nvSpPr>
        <p:spPr>
          <a:xfrm>
            <a:off x="294788" y="1813907"/>
            <a:ext cx="2691685" cy="426464"/>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Fixed Rate Loan</a:t>
            </a:r>
            <a:endParaRPr lang="en-IN" dirty="0"/>
          </a:p>
        </p:txBody>
      </p:sp>
      <p:sp>
        <p:nvSpPr>
          <p:cNvPr id="17" name="Rounded Rectangle 16"/>
          <p:cNvSpPr/>
          <p:nvPr/>
        </p:nvSpPr>
        <p:spPr>
          <a:xfrm>
            <a:off x="9333610" y="1739667"/>
            <a:ext cx="2691685" cy="426464"/>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Flexible Rate Loan</a:t>
            </a:r>
            <a:endParaRPr lang="en-IN" dirty="0"/>
          </a:p>
        </p:txBody>
      </p:sp>
      <p:sp>
        <p:nvSpPr>
          <p:cNvPr id="18" name="TextBox 17"/>
          <p:cNvSpPr txBox="1"/>
          <p:nvPr/>
        </p:nvSpPr>
        <p:spPr>
          <a:xfrm>
            <a:off x="9557051" y="2855538"/>
            <a:ext cx="2593899" cy="1569660"/>
          </a:xfrm>
          <a:prstGeom prst="rect">
            <a:avLst/>
          </a:prstGeom>
          <a:noFill/>
        </p:spPr>
        <p:txBody>
          <a:bodyPr wrap="square" rtlCol="0">
            <a:spAutoFit/>
          </a:bodyPr>
          <a:lstStyle/>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Loan on property</a:t>
            </a:r>
          </a:p>
          <a:p>
            <a:pPr>
              <a:buClr>
                <a:schemeClr val="bg2">
                  <a:lumMod val="25000"/>
                </a:schemeClr>
              </a:buClr>
            </a:pPr>
            <a:r>
              <a:rPr lang="en-IN" sz="1200" dirty="0">
                <a:solidFill>
                  <a:schemeClr val="bg2">
                    <a:lumMod val="50000"/>
                  </a:schemeClr>
                </a:solidFill>
                <a:latin typeface="Century Gothic" panose="020B0502020202020204" pitchFamily="34" charset="0"/>
              </a:rPr>
              <a:t> </a:t>
            </a:r>
            <a:r>
              <a:rPr lang="en-IN" sz="1200" dirty="0" smtClean="0">
                <a:solidFill>
                  <a:schemeClr val="bg2">
                    <a:lumMod val="50000"/>
                  </a:schemeClr>
                </a:solidFill>
                <a:latin typeface="Century Gothic" panose="020B0502020202020204" pitchFamily="34" charset="0"/>
              </a:rPr>
              <a:t>    at a flexible rate for the </a:t>
            </a:r>
          </a:p>
          <a:p>
            <a:pPr>
              <a:buClr>
                <a:schemeClr val="bg2">
                  <a:lumMod val="25000"/>
                </a:schemeClr>
              </a:buClr>
            </a:pPr>
            <a:r>
              <a:rPr lang="en-IN" sz="1200" dirty="0">
                <a:solidFill>
                  <a:schemeClr val="bg2">
                    <a:lumMod val="50000"/>
                  </a:schemeClr>
                </a:solidFill>
                <a:latin typeface="Century Gothic" panose="020B0502020202020204" pitchFamily="34" charset="0"/>
              </a:rPr>
              <a:t> </a:t>
            </a:r>
            <a:r>
              <a:rPr lang="en-IN" sz="1200" dirty="0" smtClean="0">
                <a:solidFill>
                  <a:schemeClr val="bg2">
                    <a:lumMod val="50000"/>
                  </a:schemeClr>
                </a:solidFill>
                <a:latin typeface="Century Gothic" panose="020B0502020202020204" pitchFamily="34" charset="0"/>
              </a:rPr>
              <a:t>    entire tenure</a:t>
            </a:r>
          </a:p>
          <a:p>
            <a:pPr marL="171450" indent="-17145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Loan repayment </a:t>
            </a:r>
          </a:p>
          <a:p>
            <a:pPr>
              <a:buClr>
                <a:schemeClr val="bg2">
                  <a:lumMod val="25000"/>
                </a:schemeClr>
              </a:buClr>
            </a:pPr>
            <a:r>
              <a:rPr lang="en-IN" sz="1200" dirty="0" smtClean="0">
                <a:solidFill>
                  <a:schemeClr val="bg2">
                    <a:lumMod val="50000"/>
                  </a:schemeClr>
                </a:solidFill>
                <a:latin typeface="Century Gothic" panose="020B0502020202020204" pitchFamily="34" charset="0"/>
              </a:rPr>
              <a:t>    instalment can go up or </a:t>
            </a:r>
          </a:p>
          <a:p>
            <a:pPr>
              <a:buClr>
                <a:schemeClr val="bg2">
                  <a:lumMod val="25000"/>
                </a:schemeClr>
              </a:buClr>
            </a:pPr>
            <a:r>
              <a:rPr lang="en-IN" sz="1200" dirty="0">
                <a:solidFill>
                  <a:schemeClr val="bg2">
                    <a:lumMod val="50000"/>
                  </a:schemeClr>
                </a:solidFill>
                <a:latin typeface="Century Gothic" panose="020B0502020202020204" pitchFamily="34" charset="0"/>
              </a:rPr>
              <a:t> </a:t>
            </a:r>
            <a:r>
              <a:rPr lang="en-IN" sz="1200" dirty="0" smtClean="0">
                <a:solidFill>
                  <a:schemeClr val="bg2">
                    <a:lumMod val="50000"/>
                  </a:schemeClr>
                </a:solidFill>
                <a:latin typeface="Century Gothic" panose="020B0502020202020204" pitchFamily="34" charset="0"/>
              </a:rPr>
              <a:t>   down based  on market </a:t>
            </a:r>
          </a:p>
          <a:p>
            <a:pPr>
              <a:buClr>
                <a:schemeClr val="bg2">
                  <a:lumMod val="25000"/>
                </a:schemeClr>
              </a:buClr>
            </a:pPr>
            <a:r>
              <a:rPr lang="en-IN" sz="1200" dirty="0" smtClean="0">
                <a:solidFill>
                  <a:schemeClr val="bg2">
                    <a:lumMod val="50000"/>
                  </a:schemeClr>
                </a:solidFill>
                <a:latin typeface="Century Gothic" panose="020B0502020202020204" pitchFamily="34" charset="0"/>
              </a:rPr>
              <a:t>    conditions</a:t>
            </a:r>
          </a:p>
          <a:p>
            <a:pPr>
              <a:buClr>
                <a:schemeClr val="bg2">
                  <a:lumMod val="25000"/>
                </a:schemeClr>
              </a:buClr>
            </a:pPr>
            <a:endParaRPr lang="en-IN" sz="1200" dirty="0" smtClean="0">
              <a:solidFill>
                <a:schemeClr val="bg2">
                  <a:lumMod val="50000"/>
                </a:schemeClr>
              </a:solidFill>
              <a:latin typeface="Century Gothic" panose="020B0502020202020204" pitchFamily="34" charset="0"/>
            </a:endParaRPr>
          </a:p>
        </p:txBody>
      </p:sp>
      <p:sp>
        <p:nvSpPr>
          <p:cNvPr id="19" name="Rounded Rectangle 18"/>
          <p:cNvSpPr/>
          <p:nvPr/>
        </p:nvSpPr>
        <p:spPr>
          <a:xfrm>
            <a:off x="477595" y="5553668"/>
            <a:ext cx="11547700" cy="426464"/>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Home Loan is always given </a:t>
            </a:r>
            <a:r>
              <a:rPr lang="en-IN" dirty="0" err="1" smtClean="0"/>
              <a:t>upto</a:t>
            </a:r>
            <a:r>
              <a:rPr lang="en-IN" dirty="0" smtClean="0"/>
              <a:t> 80% of the Loan to Value of the property</a:t>
            </a:r>
            <a:endParaRPr lang="en-IN" dirty="0"/>
          </a:p>
        </p:txBody>
      </p:sp>
    </p:spTree>
    <p:extLst>
      <p:ext uri="{BB962C8B-B14F-4D97-AF65-F5344CB8AC3E}">
        <p14:creationId xmlns:p14="http://schemas.microsoft.com/office/powerpoint/2010/main" val="833028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5518210" y="291779"/>
              <a:ext cx="1155766"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Loans</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0" name="TextBox 49"/>
          <p:cNvSpPr txBox="1"/>
          <p:nvPr/>
        </p:nvSpPr>
        <p:spPr>
          <a:xfrm>
            <a:off x="5109845" y="71295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Financial Institutions</a:t>
            </a:r>
            <a:endParaRPr lang="en-IN" dirty="0">
              <a:solidFill>
                <a:schemeClr val="bg1"/>
              </a:solidFill>
              <a:latin typeface="Century Gothic" panose="020B0502020202020204" pitchFamily="34" charset="0"/>
            </a:endParaRPr>
          </a:p>
        </p:txBody>
      </p:sp>
      <p:sp>
        <p:nvSpPr>
          <p:cNvPr id="2" name="Rounded Rectangle 1"/>
          <p:cNvSpPr/>
          <p:nvPr/>
        </p:nvSpPr>
        <p:spPr>
          <a:xfrm>
            <a:off x="231817" y="1442438"/>
            <a:ext cx="2691685" cy="4881091"/>
          </a:xfrm>
          <a:prstGeom prst="roundRect">
            <a:avLst/>
          </a:prstGeom>
          <a:solidFill>
            <a:schemeClr val="accent1">
              <a:alpha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ounded Rectangle 7"/>
          <p:cNvSpPr/>
          <p:nvPr/>
        </p:nvSpPr>
        <p:spPr>
          <a:xfrm>
            <a:off x="3300358" y="1442437"/>
            <a:ext cx="2691685" cy="4881091"/>
          </a:xfrm>
          <a:prstGeom prst="roundRect">
            <a:avLst/>
          </a:prstGeom>
          <a:solidFill>
            <a:schemeClr val="accent1">
              <a:alpha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ounded Rectangle 8"/>
          <p:cNvSpPr/>
          <p:nvPr/>
        </p:nvSpPr>
        <p:spPr>
          <a:xfrm>
            <a:off x="6385770" y="1442436"/>
            <a:ext cx="2691685" cy="4881091"/>
          </a:xfrm>
          <a:prstGeom prst="roundRect">
            <a:avLst/>
          </a:prstGeom>
          <a:solidFill>
            <a:schemeClr val="accent1">
              <a:alpha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ounded Rectangle 9"/>
          <p:cNvSpPr/>
          <p:nvPr/>
        </p:nvSpPr>
        <p:spPr>
          <a:xfrm>
            <a:off x="9416600" y="1442435"/>
            <a:ext cx="2691685" cy="4881091"/>
          </a:xfrm>
          <a:prstGeom prst="roundRect">
            <a:avLst/>
          </a:prstGeom>
          <a:solidFill>
            <a:schemeClr val="accent1">
              <a:alpha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29508" y="685131"/>
            <a:ext cx="11955593" cy="584775"/>
          </a:xfrm>
          <a:prstGeom prst="rect">
            <a:avLst/>
          </a:prstGeom>
        </p:spPr>
        <p:txBody>
          <a:bodyPr wrap="square">
            <a:spAutoFit/>
          </a:bodyPr>
          <a:lstStyle/>
          <a:p>
            <a:r>
              <a:rPr lang="en-IN" sz="1600" dirty="0" smtClean="0">
                <a:solidFill>
                  <a:srgbClr val="222222"/>
                </a:solidFill>
              </a:rPr>
              <a:t>Loan is something that </a:t>
            </a:r>
            <a:r>
              <a:rPr lang="en-IN" sz="1600" dirty="0">
                <a:solidFill>
                  <a:srgbClr val="222222"/>
                </a:solidFill>
              </a:rPr>
              <a:t>is borrowed, especially a sum of money that is expected to be paid back with interest</a:t>
            </a:r>
            <a:r>
              <a:rPr lang="en-IN" sz="1600" dirty="0" smtClean="0">
                <a:solidFill>
                  <a:srgbClr val="222222"/>
                </a:solidFill>
              </a:rPr>
              <a:t>. Banks makes money out of the interest levied and fees like processing fee, late fees etc.</a:t>
            </a:r>
            <a:endParaRPr lang="en-IN" sz="1600" dirty="0"/>
          </a:p>
        </p:txBody>
      </p:sp>
      <p:sp>
        <p:nvSpPr>
          <p:cNvPr id="12" name="Rounded Rectangle 11"/>
          <p:cNvSpPr/>
          <p:nvPr/>
        </p:nvSpPr>
        <p:spPr>
          <a:xfrm>
            <a:off x="3311089" y="1414532"/>
            <a:ext cx="2691685" cy="83927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Overdraft</a:t>
            </a:r>
            <a:endParaRPr lang="en-IN" b="1" dirty="0"/>
          </a:p>
        </p:txBody>
      </p:sp>
      <p:sp>
        <p:nvSpPr>
          <p:cNvPr id="13" name="Rounded Rectangle 12"/>
          <p:cNvSpPr/>
          <p:nvPr/>
        </p:nvSpPr>
        <p:spPr>
          <a:xfrm>
            <a:off x="236408" y="1403506"/>
            <a:ext cx="2691685" cy="83927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Personal Loan</a:t>
            </a:r>
            <a:endParaRPr lang="en-IN" dirty="0"/>
          </a:p>
        </p:txBody>
      </p:sp>
      <p:sp>
        <p:nvSpPr>
          <p:cNvPr id="14" name="Rounded Rectangle 13"/>
          <p:cNvSpPr/>
          <p:nvPr/>
        </p:nvSpPr>
        <p:spPr>
          <a:xfrm>
            <a:off x="6394657" y="1429549"/>
            <a:ext cx="2691685" cy="83927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Auto Loans</a:t>
            </a:r>
            <a:endParaRPr lang="en-IN" b="1" dirty="0"/>
          </a:p>
        </p:txBody>
      </p:sp>
      <p:sp>
        <p:nvSpPr>
          <p:cNvPr id="15" name="Rounded Rectangle 14"/>
          <p:cNvSpPr/>
          <p:nvPr/>
        </p:nvSpPr>
        <p:spPr>
          <a:xfrm>
            <a:off x="9418741" y="1416384"/>
            <a:ext cx="2691685" cy="83927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Consumer Durable Loan</a:t>
            </a:r>
            <a:endParaRPr lang="en-IN" b="1" dirty="0"/>
          </a:p>
        </p:txBody>
      </p:sp>
      <p:sp>
        <p:nvSpPr>
          <p:cNvPr id="16" name="TextBox 15"/>
          <p:cNvSpPr txBox="1"/>
          <p:nvPr/>
        </p:nvSpPr>
        <p:spPr>
          <a:xfrm>
            <a:off x="229676" y="2474580"/>
            <a:ext cx="2593899" cy="1938992"/>
          </a:xfrm>
          <a:prstGeom prst="rect">
            <a:avLst/>
          </a:prstGeom>
          <a:noFill/>
        </p:spPr>
        <p:txBody>
          <a:bodyPr wrap="square" rtlCol="0">
            <a:spAutoFit/>
          </a:bodyPr>
          <a:lstStyle/>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Loan against no collateral. Fixed payments on a monthly basis throughout tenure</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Unsecured lending </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Loan closure possible only after 6 months. </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Loan closure fees levied on customer</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Highest interest rate within loan products</a:t>
            </a:r>
            <a:endParaRPr lang="en-IN" sz="1200" dirty="0">
              <a:solidFill>
                <a:schemeClr val="bg2">
                  <a:lumMod val="50000"/>
                </a:schemeClr>
              </a:solidFill>
              <a:latin typeface="Century Gothic" panose="020B0502020202020204" pitchFamily="34" charset="0"/>
            </a:endParaRPr>
          </a:p>
        </p:txBody>
      </p:sp>
      <p:sp>
        <p:nvSpPr>
          <p:cNvPr id="17" name="TextBox 16"/>
          <p:cNvSpPr txBox="1"/>
          <p:nvPr/>
        </p:nvSpPr>
        <p:spPr>
          <a:xfrm>
            <a:off x="3306498" y="2393442"/>
            <a:ext cx="2593899" cy="1569660"/>
          </a:xfrm>
          <a:prstGeom prst="rect">
            <a:avLst/>
          </a:prstGeom>
          <a:noFill/>
        </p:spPr>
        <p:txBody>
          <a:bodyPr wrap="square" rtlCol="0">
            <a:spAutoFit/>
          </a:bodyPr>
          <a:lstStyle/>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Loan against no collateral associated with savings account</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Fixed payments on a monthly basis throughout tenure</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Unsecured lending </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Loan closure fees levied on customer</a:t>
            </a:r>
          </a:p>
        </p:txBody>
      </p:sp>
      <p:sp>
        <p:nvSpPr>
          <p:cNvPr id="18" name="TextBox 17"/>
          <p:cNvSpPr txBox="1"/>
          <p:nvPr/>
        </p:nvSpPr>
        <p:spPr>
          <a:xfrm>
            <a:off x="6394657" y="2392376"/>
            <a:ext cx="2593899" cy="1200329"/>
          </a:xfrm>
          <a:prstGeom prst="rect">
            <a:avLst/>
          </a:prstGeom>
          <a:noFill/>
        </p:spPr>
        <p:txBody>
          <a:bodyPr wrap="square" rtlCol="0">
            <a:spAutoFit/>
          </a:bodyPr>
          <a:lstStyle/>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Loan against car. Fixed payments on a monthly basis throughout tenure</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Secured lending </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Loan closure fees levied on customer</a:t>
            </a:r>
          </a:p>
        </p:txBody>
      </p:sp>
      <p:sp>
        <p:nvSpPr>
          <p:cNvPr id="19" name="TextBox 18"/>
          <p:cNvSpPr txBox="1"/>
          <p:nvPr/>
        </p:nvSpPr>
        <p:spPr>
          <a:xfrm>
            <a:off x="9471182" y="2392376"/>
            <a:ext cx="2593899" cy="1384995"/>
          </a:xfrm>
          <a:prstGeom prst="rect">
            <a:avLst/>
          </a:prstGeom>
          <a:noFill/>
        </p:spPr>
        <p:txBody>
          <a:bodyPr wrap="square" rtlCol="0">
            <a:spAutoFit/>
          </a:bodyPr>
          <a:lstStyle/>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Loan against consumer durables. Fixed payments on a monthly basis throughout tenure</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Secured lending </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No loan closure fees levied on customer</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1924" y="4242287"/>
            <a:ext cx="2619375" cy="1743075"/>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71181" y="4242287"/>
            <a:ext cx="2593899" cy="1875180"/>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46173" y="4181040"/>
            <a:ext cx="2621516" cy="1759050"/>
          </a:xfrm>
          <a:prstGeom prst="rect">
            <a:avLst/>
          </a:prstGeom>
        </p:spPr>
      </p:pic>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2166" y="4363582"/>
            <a:ext cx="2650460" cy="1739582"/>
          </a:xfrm>
          <a:prstGeom prst="rect">
            <a:avLst/>
          </a:prstGeom>
        </p:spPr>
      </p:pic>
    </p:spTree>
    <p:extLst>
      <p:ext uri="{BB962C8B-B14F-4D97-AF65-F5344CB8AC3E}">
        <p14:creationId xmlns:p14="http://schemas.microsoft.com/office/powerpoint/2010/main" val="5119741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972036" y="291779"/>
              <a:ext cx="2248116"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Credit Cards</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0" name="TextBox 49"/>
          <p:cNvSpPr txBox="1"/>
          <p:nvPr/>
        </p:nvSpPr>
        <p:spPr>
          <a:xfrm>
            <a:off x="5109845" y="71295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Financial Institutions</a:t>
            </a:r>
            <a:endParaRPr lang="en-IN" dirty="0">
              <a:solidFill>
                <a:schemeClr val="bg1"/>
              </a:solidFill>
              <a:latin typeface="Century Gothic" panose="020B0502020202020204" pitchFamily="34" charset="0"/>
            </a:endParaRPr>
          </a:p>
        </p:txBody>
      </p:sp>
      <p:sp>
        <p:nvSpPr>
          <p:cNvPr id="3" name="Rectangle 2"/>
          <p:cNvSpPr/>
          <p:nvPr/>
        </p:nvSpPr>
        <p:spPr>
          <a:xfrm>
            <a:off x="126941" y="780523"/>
            <a:ext cx="12058159" cy="584775"/>
          </a:xfrm>
          <a:prstGeom prst="rect">
            <a:avLst/>
          </a:prstGeom>
        </p:spPr>
        <p:txBody>
          <a:bodyPr wrap="square">
            <a:spAutoFit/>
          </a:bodyPr>
          <a:lstStyle/>
          <a:p>
            <a:r>
              <a:rPr lang="en-IN" sz="1600" dirty="0" smtClean="0"/>
              <a:t>A credit card is a payment card issued to users as a method of payment which allows the cardholder to pay for goods and services based on the holder's promise to pay for them.</a:t>
            </a:r>
            <a:endParaRPr lang="en-IN" sz="1600" dirty="0"/>
          </a:p>
        </p:txBody>
      </p:sp>
      <p:sp>
        <p:nvSpPr>
          <p:cNvPr id="10" name="Rectangle 9"/>
          <p:cNvSpPr/>
          <p:nvPr/>
        </p:nvSpPr>
        <p:spPr>
          <a:xfrm>
            <a:off x="3664946" y="1626897"/>
            <a:ext cx="5682261" cy="400110"/>
          </a:xfrm>
          <a:prstGeom prst="rect">
            <a:avLst/>
          </a:prstGeom>
          <a:solidFill>
            <a:schemeClr val="bg1"/>
          </a:solidFill>
        </p:spPr>
        <p:txBody>
          <a:bodyPr wrap="none" anchor="ctr">
            <a:spAutoFit/>
          </a:bodyPr>
          <a:lstStyle/>
          <a:p>
            <a:pPr algn="ctr"/>
            <a:r>
              <a:rPr lang="en-IN" sz="2000" b="1" dirty="0" smtClean="0">
                <a:solidFill>
                  <a:srgbClr val="0070C0"/>
                </a:solidFill>
                <a:latin typeface="Leelawadee UI" panose="020B0502040204020203" pitchFamily="34" charset="-34"/>
                <a:cs typeface="Leelawadee UI" panose="020B0502040204020203" pitchFamily="34" charset="-34"/>
              </a:rPr>
              <a:t>Credit Cards…….Some commonly used terms</a:t>
            </a:r>
            <a:endParaRPr lang="en-IN" sz="2000" b="1" dirty="0">
              <a:solidFill>
                <a:srgbClr val="0070C0"/>
              </a:solidFill>
              <a:latin typeface="Leelawadee UI" panose="020B0502040204020203" pitchFamily="34" charset="-34"/>
              <a:cs typeface="Leelawadee UI" panose="020B0502040204020203" pitchFamily="34" charset="-34"/>
            </a:endParaRPr>
          </a:p>
        </p:txBody>
      </p:sp>
      <p:grpSp>
        <p:nvGrpSpPr>
          <p:cNvPr id="8" name="Group 7"/>
          <p:cNvGrpSpPr/>
          <p:nvPr/>
        </p:nvGrpSpPr>
        <p:grpSpPr>
          <a:xfrm>
            <a:off x="9478348" y="4146582"/>
            <a:ext cx="2363029" cy="1506828"/>
            <a:chOff x="2367996" y="3257670"/>
            <a:chExt cx="2363029" cy="1506828"/>
          </a:xfrm>
        </p:grpSpPr>
        <p:sp>
          <p:nvSpPr>
            <p:cNvPr id="5" name="Rectangle 4"/>
            <p:cNvSpPr/>
            <p:nvPr/>
          </p:nvSpPr>
          <p:spPr>
            <a:xfrm>
              <a:off x="2367996" y="3257670"/>
              <a:ext cx="2349778" cy="1506828"/>
            </a:xfrm>
            <a:prstGeom prst="rect">
              <a:avLst/>
            </a:prstGeom>
            <a:solidFill>
              <a:schemeClr val="accent1">
                <a:alpha val="1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2381247" y="3257670"/>
              <a:ext cx="2349778" cy="3090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Credit Cycle</a:t>
              </a:r>
              <a:endParaRPr lang="en-IN" dirty="0"/>
            </a:p>
          </p:txBody>
        </p:sp>
      </p:grpSp>
      <p:grpSp>
        <p:nvGrpSpPr>
          <p:cNvPr id="17" name="Group 16"/>
          <p:cNvGrpSpPr/>
          <p:nvPr/>
        </p:nvGrpSpPr>
        <p:grpSpPr>
          <a:xfrm>
            <a:off x="3463914" y="2142891"/>
            <a:ext cx="2363029" cy="1506828"/>
            <a:chOff x="2367996" y="3257670"/>
            <a:chExt cx="2363029" cy="1506828"/>
          </a:xfrm>
        </p:grpSpPr>
        <p:sp>
          <p:nvSpPr>
            <p:cNvPr id="18" name="Rectangle 17"/>
            <p:cNvSpPr/>
            <p:nvPr/>
          </p:nvSpPr>
          <p:spPr>
            <a:xfrm>
              <a:off x="2367996" y="3257670"/>
              <a:ext cx="2349778" cy="1506828"/>
            </a:xfrm>
            <a:prstGeom prst="rect">
              <a:avLst/>
            </a:prstGeom>
            <a:solidFill>
              <a:schemeClr val="accent1">
                <a:alpha val="1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2381247" y="3257670"/>
              <a:ext cx="2349778" cy="3090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Credit Limit</a:t>
              </a:r>
              <a:endParaRPr lang="en-IN" dirty="0"/>
            </a:p>
          </p:txBody>
        </p:sp>
      </p:grpSp>
      <p:grpSp>
        <p:nvGrpSpPr>
          <p:cNvPr id="20" name="Group 19"/>
          <p:cNvGrpSpPr/>
          <p:nvPr/>
        </p:nvGrpSpPr>
        <p:grpSpPr>
          <a:xfrm>
            <a:off x="6526567" y="2154901"/>
            <a:ext cx="2363029" cy="1506828"/>
            <a:chOff x="2367996" y="3257670"/>
            <a:chExt cx="2363029" cy="1506828"/>
          </a:xfrm>
        </p:grpSpPr>
        <p:sp>
          <p:nvSpPr>
            <p:cNvPr id="21" name="Rectangle 20"/>
            <p:cNvSpPr/>
            <p:nvPr/>
          </p:nvSpPr>
          <p:spPr>
            <a:xfrm>
              <a:off x="2367996" y="3257670"/>
              <a:ext cx="2349778" cy="1506828"/>
            </a:xfrm>
            <a:prstGeom prst="rect">
              <a:avLst/>
            </a:prstGeom>
            <a:solidFill>
              <a:schemeClr val="accent1">
                <a:alpha val="1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2381247" y="3257670"/>
              <a:ext cx="2349778" cy="3090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Outstanding Balance</a:t>
              </a:r>
              <a:endParaRPr lang="en-IN" dirty="0"/>
            </a:p>
          </p:txBody>
        </p:sp>
      </p:grpSp>
      <p:grpSp>
        <p:nvGrpSpPr>
          <p:cNvPr id="23" name="Group 22"/>
          <p:cNvGrpSpPr/>
          <p:nvPr/>
        </p:nvGrpSpPr>
        <p:grpSpPr>
          <a:xfrm>
            <a:off x="9478348" y="2154901"/>
            <a:ext cx="2363029" cy="1506828"/>
            <a:chOff x="2367996" y="3257670"/>
            <a:chExt cx="2363029" cy="1506828"/>
          </a:xfrm>
        </p:grpSpPr>
        <p:sp>
          <p:nvSpPr>
            <p:cNvPr id="24" name="Rectangle 23"/>
            <p:cNvSpPr/>
            <p:nvPr/>
          </p:nvSpPr>
          <p:spPr>
            <a:xfrm>
              <a:off x="2367996" y="3257670"/>
              <a:ext cx="2349778" cy="1506828"/>
            </a:xfrm>
            <a:prstGeom prst="rect">
              <a:avLst/>
            </a:prstGeom>
            <a:solidFill>
              <a:schemeClr val="accent1">
                <a:alpha val="1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p:cNvSpPr/>
            <p:nvPr/>
          </p:nvSpPr>
          <p:spPr>
            <a:xfrm>
              <a:off x="2381247" y="3257670"/>
              <a:ext cx="2349778" cy="3090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Annual Fees</a:t>
              </a:r>
              <a:endParaRPr lang="en-IN" dirty="0"/>
            </a:p>
          </p:txBody>
        </p:sp>
      </p:grpSp>
      <p:grpSp>
        <p:nvGrpSpPr>
          <p:cNvPr id="26" name="Group 25"/>
          <p:cNvGrpSpPr/>
          <p:nvPr/>
        </p:nvGrpSpPr>
        <p:grpSpPr>
          <a:xfrm>
            <a:off x="503549" y="4146582"/>
            <a:ext cx="2363029" cy="1506828"/>
            <a:chOff x="2367996" y="3257670"/>
            <a:chExt cx="2363029" cy="1506828"/>
          </a:xfrm>
        </p:grpSpPr>
        <p:sp>
          <p:nvSpPr>
            <p:cNvPr id="27" name="Rectangle 26"/>
            <p:cNvSpPr/>
            <p:nvPr/>
          </p:nvSpPr>
          <p:spPr>
            <a:xfrm>
              <a:off x="2367996" y="3257670"/>
              <a:ext cx="2349778" cy="1506828"/>
            </a:xfrm>
            <a:prstGeom prst="rect">
              <a:avLst/>
            </a:prstGeom>
            <a:solidFill>
              <a:schemeClr val="accent1">
                <a:alpha val="1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p:cNvSpPr/>
            <p:nvPr/>
          </p:nvSpPr>
          <p:spPr>
            <a:xfrm>
              <a:off x="2381247" y="3257670"/>
              <a:ext cx="2349778" cy="3090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Late Fees</a:t>
              </a:r>
              <a:endParaRPr lang="en-IN" dirty="0"/>
            </a:p>
          </p:txBody>
        </p:sp>
      </p:grpSp>
      <p:grpSp>
        <p:nvGrpSpPr>
          <p:cNvPr id="29" name="Group 28"/>
          <p:cNvGrpSpPr/>
          <p:nvPr/>
        </p:nvGrpSpPr>
        <p:grpSpPr>
          <a:xfrm>
            <a:off x="3477165" y="4160667"/>
            <a:ext cx="5705472" cy="1506828"/>
            <a:chOff x="2367996" y="3257670"/>
            <a:chExt cx="2363029" cy="1506828"/>
          </a:xfrm>
        </p:grpSpPr>
        <p:sp>
          <p:nvSpPr>
            <p:cNvPr id="30" name="Rectangle 29"/>
            <p:cNvSpPr/>
            <p:nvPr/>
          </p:nvSpPr>
          <p:spPr>
            <a:xfrm>
              <a:off x="2367996" y="3257670"/>
              <a:ext cx="2349778" cy="1506828"/>
            </a:xfrm>
            <a:prstGeom prst="rect">
              <a:avLst/>
            </a:prstGeom>
            <a:solidFill>
              <a:schemeClr val="accent1">
                <a:alpha val="1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33"/>
            <p:cNvSpPr/>
            <p:nvPr/>
          </p:nvSpPr>
          <p:spPr>
            <a:xfrm>
              <a:off x="2381247" y="3257670"/>
              <a:ext cx="2349778" cy="3090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Trans-actors/Defaulters/Revolvers</a:t>
              </a:r>
              <a:endParaRPr lang="en-IN" dirty="0"/>
            </a:p>
          </p:txBody>
        </p:sp>
      </p:grpSp>
      <p:grpSp>
        <p:nvGrpSpPr>
          <p:cNvPr id="38" name="Group 37"/>
          <p:cNvGrpSpPr/>
          <p:nvPr/>
        </p:nvGrpSpPr>
        <p:grpSpPr>
          <a:xfrm>
            <a:off x="540410" y="2140743"/>
            <a:ext cx="2363029" cy="1506828"/>
            <a:chOff x="2367996" y="3257670"/>
            <a:chExt cx="2363029" cy="1506828"/>
          </a:xfrm>
        </p:grpSpPr>
        <p:sp>
          <p:nvSpPr>
            <p:cNvPr id="39" name="Rectangle 38"/>
            <p:cNvSpPr/>
            <p:nvPr/>
          </p:nvSpPr>
          <p:spPr>
            <a:xfrm>
              <a:off x="2367996" y="3257670"/>
              <a:ext cx="2349778" cy="1506828"/>
            </a:xfrm>
            <a:prstGeom prst="rect">
              <a:avLst/>
            </a:prstGeom>
            <a:solidFill>
              <a:schemeClr val="accent1">
                <a:alpha val="1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p:cNvSpPr/>
            <p:nvPr/>
          </p:nvSpPr>
          <p:spPr>
            <a:xfrm>
              <a:off x="2381247" y="3257670"/>
              <a:ext cx="2349778" cy="3090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APR</a:t>
              </a:r>
              <a:endParaRPr lang="en-IN" dirty="0"/>
            </a:p>
          </p:txBody>
        </p:sp>
      </p:grpSp>
      <p:sp>
        <p:nvSpPr>
          <p:cNvPr id="41" name="TextBox 40"/>
          <p:cNvSpPr txBox="1"/>
          <p:nvPr/>
        </p:nvSpPr>
        <p:spPr>
          <a:xfrm>
            <a:off x="606906" y="2723482"/>
            <a:ext cx="2806698" cy="646331"/>
          </a:xfrm>
          <a:prstGeom prst="rect">
            <a:avLst/>
          </a:prstGeom>
          <a:noFill/>
        </p:spPr>
        <p:txBody>
          <a:bodyPr wrap="square" rtlCol="0">
            <a:spAutoFit/>
          </a:bodyPr>
          <a:lstStyle/>
          <a:p>
            <a:r>
              <a:rPr lang="en-IN" sz="1200" b="1" dirty="0" smtClean="0">
                <a:solidFill>
                  <a:schemeClr val="accent1">
                    <a:lumMod val="50000"/>
                  </a:schemeClr>
                </a:solidFill>
                <a:latin typeface="Century Gothic" panose="020B0502020202020204" pitchFamily="34" charset="0"/>
              </a:rPr>
              <a:t>Annualised interest rate </a:t>
            </a:r>
          </a:p>
          <a:p>
            <a:r>
              <a:rPr lang="en-IN" sz="1200" b="1" dirty="0" smtClean="0">
                <a:solidFill>
                  <a:schemeClr val="accent1">
                    <a:lumMod val="50000"/>
                  </a:schemeClr>
                </a:solidFill>
                <a:latin typeface="Century Gothic" panose="020B0502020202020204" pitchFamily="34" charset="0"/>
              </a:rPr>
              <a:t>charged on the outstanding balance</a:t>
            </a:r>
            <a:endParaRPr lang="en-IN" sz="1200" b="1" dirty="0">
              <a:solidFill>
                <a:schemeClr val="accent1">
                  <a:lumMod val="50000"/>
                </a:schemeClr>
              </a:solidFill>
              <a:latin typeface="Century Gothic" panose="020B0502020202020204" pitchFamily="34" charset="0"/>
            </a:endParaRPr>
          </a:p>
        </p:txBody>
      </p:sp>
      <p:sp>
        <p:nvSpPr>
          <p:cNvPr id="45" name="TextBox 44"/>
          <p:cNvSpPr txBox="1"/>
          <p:nvPr/>
        </p:nvSpPr>
        <p:spPr>
          <a:xfrm>
            <a:off x="3492191" y="2780376"/>
            <a:ext cx="2806698" cy="461665"/>
          </a:xfrm>
          <a:prstGeom prst="rect">
            <a:avLst/>
          </a:prstGeom>
          <a:noFill/>
        </p:spPr>
        <p:txBody>
          <a:bodyPr wrap="square" rtlCol="0">
            <a:spAutoFit/>
          </a:bodyPr>
          <a:lstStyle/>
          <a:p>
            <a:r>
              <a:rPr lang="en-IN" sz="1200" b="1" dirty="0" smtClean="0">
                <a:solidFill>
                  <a:schemeClr val="accent1">
                    <a:lumMod val="50000"/>
                  </a:schemeClr>
                </a:solidFill>
                <a:latin typeface="Century Gothic" panose="020B0502020202020204" pitchFamily="34" charset="0"/>
              </a:rPr>
              <a:t>Total amount you can spend </a:t>
            </a:r>
          </a:p>
          <a:p>
            <a:r>
              <a:rPr lang="en-IN" sz="1200" b="1" dirty="0" smtClean="0">
                <a:solidFill>
                  <a:schemeClr val="accent1">
                    <a:lumMod val="50000"/>
                  </a:schemeClr>
                </a:solidFill>
                <a:latin typeface="Century Gothic" panose="020B0502020202020204" pitchFamily="34" charset="0"/>
              </a:rPr>
              <a:t>on your card </a:t>
            </a:r>
            <a:endParaRPr lang="en-IN" sz="1200" b="1" dirty="0">
              <a:solidFill>
                <a:schemeClr val="accent1">
                  <a:lumMod val="50000"/>
                </a:schemeClr>
              </a:solidFill>
              <a:latin typeface="Century Gothic" panose="020B0502020202020204" pitchFamily="34" charset="0"/>
            </a:endParaRPr>
          </a:p>
        </p:txBody>
      </p:sp>
      <p:sp>
        <p:nvSpPr>
          <p:cNvPr id="46" name="TextBox 45"/>
          <p:cNvSpPr txBox="1"/>
          <p:nvPr/>
        </p:nvSpPr>
        <p:spPr>
          <a:xfrm>
            <a:off x="6526567" y="2723482"/>
            <a:ext cx="2806698" cy="646331"/>
          </a:xfrm>
          <a:prstGeom prst="rect">
            <a:avLst/>
          </a:prstGeom>
          <a:noFill/>
        </p:spPr>
        <p:txBody>
          <a:bodyPr wrap="square" rtlCol="0">
            <a:spAutoFit/>
          </a:bodyPr>
          <a:lstStyle/>
          <a:p>
            <a:r>
              <a:rPr lang="en-IN" sz="1200" b="1" dirty="0" smtClean="0">
                <a:solidFill>
                  <a:schemeClr val="accent1">
                    <a:lumMod val="50000"/>
                  </a:schemeClr>
                </a:solidFill>
                <a:latin typeface="Century Gothic" panose="020B0502020202020204" pitchFamily="34" charset="0"/>
              </a:rPr>
              <a:t>Total amount that you have</a:t>
            </a:r>
          </a:p>
          <a:p>
            <a:r>
              <a:rPr lang="en-IN" sz="1200" b="1" dirty="0" smtClean="0">
                <a:solidFill>
                  <a:schemeClr val="accent1">
                    <a:lumMod val="50000"/>
                  </a:schemeClr>
                </a:solidFill>
                <a:latin typeface="Century Gothic" panose="020B0502020202020204" pitchFamily="34" charset="0"/>
              </a:rPr>
              <a:t>Spend on your card which you</a:t>
            </a:r>
          </a:p>
          <a:p>
            <a:r>
              <a:rPr lang="en-IN" sz="1200" b="1" dirty="0" smtClean="0">
                <a:solidFill>
                  <a:schemeClr val="accent1">
                    <a:lumMod val="50000"/>
                  </a:schemeClr>
                </a:solidFill>
                <a:latin typeface="Century Gothic" panose="020B0502020202020204" pitchFamily="34" charset="0"/>
              </a:rPr>
              <a:t>Have to pay back</a:t>
            </a:r>
            <a:endParaRPr lang="en-IN" sz="1200" b="1" dirty="0">
              <a:solidFill>
                <a:schemeClr val="accent1">
                  <a:lumMod val="50000"/>
                </a:schemeClr>
              </a:solidFill>
              <a:latin typeface="Century Gothic" panose="020B0502020202020204" pitchFamily="34" charset="0"/>
            </a:endParaRPr>
          </a:p>
        </p:txBody>
      </p:sp>
      <p:sp>
        <p:nvSpPr>
          <p:cNvPr id="47" name="TextBox 46"/>
          <p:cNvSpPr txBox="1"/>
          <p:nvPr/>
        </p:nvSpPr>
        <p:spPr>
          <a:xfrm>
            <a:off x="9491599" y="2684209"/>
            <a:ext cx="2806698" cy="646331"/>
          </a:xfrm>
          <a:prstGeom prst="rect">
            <a:avLst/>
          </a:prstGeom>
          <a:noFill/>
        </p:spPr>
        <p:txBody>
          <a:bodyPr wrap="square" rtlCol="0">
            <a:spAutoFit/>
          </a:bodyPr>
          <a:lstStyle/>
          <a:p>
            <a:r>
              <a:rPr lang="en-IN" sz="1200" b="1" dirty="0" smtClean="0">
                <a:solidFill>
                  <a:schemeClr val="accent1">
                    <a:lumMod val="50000"/>
                  </a:schemeClr>
                </a:solidFill>
                <a:latin typeface="Century Gothic" panose="020B0502020202020204" pitchFamily="34" charset="0"/>
              </a:rPr>
              <a:t>Total fees you need to pay annually/one time for card maintenance</a:t>
            </a:r>
            <a:endParaRPr lang="en-IN" sz="1200" b="1" dirty="0">
              <a:solidFill>
                <a:schemeClr val="accent1">
                  <a:lumMod val="50000"/>
                </a:schemeClr>
              </a:solidFill>
              <a:latin typeface="Century Gothic" panose="020B0502020202020204" pitchFamily="34" charset="0"/>
            </a:endParaRPr>
          </a:p>
        </p:txBody>
      </p:sp>
      <p:sp>
        <p:nvSpPr>
          <p:cNvPr id="48" name="TextBox 47"/>
          <p:cNvSpPr txBox="1"/>
          <p:nvPr/>
        </p:nvSpPr>
        <p:spPr>
          <a:xfrm>
            <a:off x="606906" y="4631520"/>
            <a:ext cx="2806698" cy="646331"/>
          </a:xfrm>
          <a:prstGeom prst="rect">
            <a:avLst/>
          </a:prstGeom>
          <a:noFill/>
        </p:spPr>
        <p:txBody>
          <a:bodyPr wrap="square" rtlCol="0">
            <a:spAutoFit/>
          </a:bodyPr>
          <a:lstStyle/>
          <a:p>
            <a:r>
              <a:rPr lang="en-IN" sz="1200" b="1" dirty="0" smtClean="0">
                <a:solidFill>
                  <a:schemeClr val="accent1">
                    <a:lumMod val="50000"/>
                  </a:schemeClr>
                </a:solidFill>
                <a:latin typeface="Century Gothic" panose="020B0502020202020204" pitchFamily="34" charset="0"/>
              </a:rPr>
              <a:t>If you do not pay the credit</a:t>
            </a:r>
          </a:p>
          <a:p>
            <a:r>
              <a:rPr lang="en-IN" sz="1200" b="1" dirty="0" smtClean="0">
                <a:solidFill>
                  <a:schemeClr val="accent1">
                    <a:lumMod val="50000"/>
                  </a:schemeClr>
                </a:solidFill>
                <a:latin typeface="Century Gothic" panose="020B0502020202020204" pitchFamily="34" charset="0"/>
              </a:rPr>
              <a:t>Card bill on time, the fees</a:t>
            </a:r>
          </a:p>
          <a:p>
            <a:r>
              <a:rPr lang="en-IN" sz="1200" b="1" dirty="0" smtClean="0">
                <a:solidFill>
                  <a:schemeClr val="accent1">
                    <a:lumMod val="50000"/>
                  </a:schemeClr>
                </a:solidFill>
                <a:latin typeface="Century Gothic" panose="020B0502020202020204" pitchFamily="34" charset="0"/>
              </a:rPr>
              <a:t> levied for late payment</a:t>
            </a:r>
            <a:endParaRPr lang="en-IN" sz="1200" b="1" dirty="0">
              <a:solidFill>
                <a:schemeClr val="accent1">
                  <a:lumMod val="50000"/>
                </a:schemeClr>
              </a:solidFill>
              <a:latin typeface="Century Gothic" panose="020B0502020202020204" pitchFamily="34" charset="0"/>
            </a:endParaRPr>
          </a:p>
        </p:txBody>
      </p:sp>
      <p:sp>
        <p:nvSpPr>
          <p:cNvPr id="49" name="TextBox 48"/>
          <p:cNvSpPr txBox="1"/>
          <p:nvPr/>
        </p:nvSpPr>
        <p:spPr>
          <a:xfrm>
            <a:off x="9491599" y="4550892"/>
            <a:ext cx="2806698" cy="830997"/>
          </a:xfrm>
          <a:prstGeom prst="rect">
            <a:avLst/>
          </a:prstGeom>
          <a:noFill/>
        </p:spPr>
        <p:txBody>
          <a:bodyPr wrap="square" rtlCol="0">
            <a:spAutoFit/>
          </a:bodyPr>
          <a:lstStyle/>
          <a:p>
            <a:r>
              <a:rPr lang="en-IN" sz="1200" b="1" dirty="0" smtClean="0">
                <a:solidFill>
                  <a:schemeClr val="accent1">
                    <a:lumMod val="50000"/>
                  </a:schemeClr>
                </a:solidFill>
                <a:latin typeface="Century Gothic" panose="020B0502020202020204" pitchFamily="34" charset="0"/>
              </a:rPr>
              <a:t>The days within which you </a:t>
            </a:r>
          </a:p>
          <a:p>
            <a:r>
              <a:rPr lang="en-IN" sz="1200" b="1" dirty="0" smtClean="0">
                <a:solidFill>
                  <a:schemeClr val="accent1">
                    <a:lumMod val="50000"/>
                  </a:schemeClr>
                </a:solidFill>
                <a:latin typeface="Century Gothic" panose="020B0502020202020204" pitchFamily="34" charset="0"/>
              </a:rPr>
              <a:t>Have to pay back the amount</a:t>
            </a:r>
          </a:p>
          <a:p>
            <a:r>
              <a:rPr lang="en-IN" sz="1200" b="1" dirty="0" smtClean="0">
                <a:solidFill>
                  <a:schemeClr val="accent1">
                    <a:lumMod val="50000"/>
                  </a:schemeClr>
                </a:solidFill>
                <a:latin typeface="Century Gothic" panose="020B0502020202020204" pitchFamily="34" charset="0"/>
              </a:rPr>
              <a:t>spend on card. Its usually </a:t>
            </a:r>
          </a:p>
          <a:p>
            <a:r>
              <a:rPr lang="en-IN" sz="1200" b="1" dirty="0" smtClean="0">
                <a:solidFill>
                  <a:schemeClr val="accent1">
                    <a:lumMod val="50000"/>
                  </a:schemeClr>
                </a:solidFill>
                <a:latin typeface="Century Gothic" panose="020B0502020202020204" pitchFamily="34" charset="0"/>
              </a:rPr>
              <a:t>45 days</a:t>
            </a:r>
            <a:endParaRPr lang="en-IN" sz="1200" b="1" dirty="0">
              <a:solidFill>
                <a:schemeClr val="accent1">
                  <a:lumMod val="50000"/>
                </a:schemeClr>
              </a:solidFill>
              <a:latin typeface="Century Gothic" panose="020B0502020202020204" pitchFamily="34" charset="0"/>
            </a:endParaRPr>
          </a:p>
        </p:txBody>
      </p:sp>
      <p:sp>
        <p:nvSpPr>
          <p:cNvPr id="51" name="TextBox 50"/>
          <p:cNvSpPr txBox="1"/>
          <p:nvPr/>
        </p:nvSpPr>
        <p:spPr>
          <a:xfrm>
            <a:off x="3477165" y="4469760"/>
            <a:ext cx="5531012" cy="1200329"/>
          </a:xfrm>
          <a:prstGeom prst="rect">
            <a:avLst/>
          </a:prstGeom>
          <a:noFill/>
        </p:spPr>
        <p:txBody>
          <a:bodyPr wrap="square" rtlCol="0">
            <a:spAutoFit/>
          </a:bodyPr>
          <a:lstStyle/>
          <a:p>
            <a:r>
              <a:rPr lang="en-IN" sz="1200" b="1" dirty="0" err="1" smtClean="0">
                <a:solidFill>
                  <a:schemeClr val="accent1">
                    <a:lumMod val="50000"/>
                  </a:schemeClr>
                </a:solidFill>
                <a:latin typeface="Century Gothic" panose="020B0502020202020204" pitchFamily="34" charset="0"/>
              </a:rPr>
              <a:t>Transactors</a:t>
            </a:r>
            <a:r>
              <a:rPr lang="en-IN" sz="1200" b="1" dirty="0" smtClean="0">
                <a:solidFill>
                  <a:schemeClr val="accent1">
                    <a:lumMod val="50000"/>
                  </a:schemeClr>
                </a:solidFill>
                <a:latin typeface="Century Gothic" panose="020B0502020202020204" pitchFamily="34" charset="0"/>
              </a:rPr>
              <a:t>: Customers who pay the entire outstanding balance every time</a:t>
            </a:r>
          </a:p>
          <a:p>
            <a:r>
              <a:rPr lang="en-IN" sz="1200" b="1" dirty="0" smtClean="0">
                <a:solidFill>
                  <a:schemeClr val="accent1">
                    <a:lumMod val="50000"/>
                  </a:schemeClr>
                </a:solidFill>
                <a:latin typeface="Century Gothic" panose="020B0502020202020204" pitchFamily="34" charset="0"/>
              </a:rPr>
              <a:t>Revolvers: Customer who pay part of the outstanding balance every time</a:t>
            </a:r>
          </a:p>
          <a:p>
            <a:r>
              <a:rPr lang="en-IN" sz="1200" b="1" dirty="0" smtClean="0">
                <a:solidFill>
                  <a:schemeClr val="accent1">
                    <a:lumMod val="50000"/>
                  </a:schemeClr>
                </a:solidFill>
                <a:latin typeface="Century Gothic" panose="020B0502020202020204" pitchFamily="34" charset="0"/>
              </a:rPr>
              <a:t>Defaulters: Customers who does not pay anything of the outstanding balance</a:t>
            </a:r>
            <a:endParaRPr lang="en-IN" sz="1200" b="1" dirty="0">
              <a:solidFill>
                <a:schemeClr val="accent1">
                  <a:lumMod val="50000"/>
                </a:schemeClr>
              </a:solidFill>
              <a:latin typeface="Century Gothic" panose="020B0502020202020204" pitchFamily="34" charset="0"/>
            </a:endParaRPr>
          </a:p>
        </p:txBody>
      </p:sp>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l="57212" t="54988" r="12304" b="681"/>
          <a:stretch/>
        </p:blipFill>
        <p:spPr>
          <a:xfrm>
            <a:off x="2245510" y="3159292"/>
            <a:ext cx="798491" cy="772732"/>
          </a:xfrm>
          <a:prstGeom prst="rect">
            <a:avLst/>
          </a:prstGeom>
        </p:spPr>
      </p:pic>
      <p:pic>
        <p:nvPicPr>
          <p:cNvPr id="14" name="Picture 13"/>
          <p:cNvPicPr>
            <a:picLocks noChangeAspect="1"/>
          </p:cNvPicPr>
          <p:nvPr/>
        </p:nvPicPr>
        <p:blipFill rotWithShape="1">
          <a:blip r:embed="rId4" cstate="print">
            <a:extLst>
              <a:ext uri="{28A0092B-C50C-407E-A947-70E740481C1C}">
                <a14:useLocalDpi xmlns:a14="http://schemas.microsoft.com/office/drawing/2010/main" val="0"/>
              </a:ext>
            </a:extLst>
          </a:blip>
          <a:srcRect r="2852" b="14027"/>
          <a:stretch/>
        </p:blipFill>
        <p:spPr>
          <a:xfrm>
            <a:off x="4904141" y="3195597"/>
            <a:ext cx="1043290" cy="606629"/>
          </a:xfrm>
          <a:prstGeom prst="rect">
            <a:avLst/>
          </a:prstGeom>
        </p:spPr>
      </p:pic>
      <p:pic>
        <p:nvPicPr>
          <p:cNvPr id="15" name="Picture 14"/>
          <p:cNvPicPr>
            <a:picLocks noChangeAspect="1"/>
          </p:cNvPicPr>
          <p:nvPr/>
        </p:nvPicPr>
        <p:blipFill rotWithShape="1">
          <a:blip r:embed="rId5">
            <a:extLst>
              <a:ext uri="{28A0092B-C50C-407E-A947-70E740481C1C}">
                <a14:useLocalDpi xmlns:a14="http://schemas.microsoft.com/office/drawing/2010/main" val="0"/>
              </a:ext>
            </a:extLst>
          </a:blip>
          <a:srcRect l="41995" t="34572" b="17584"/>
          <a:stretch/>
        </p:blipFill>
        <p:spPr>
          <a:xfrm>
            <a:off x="8109910" y="3244482"/>
            <a:ext cx="1074062" cy="667003"/>
          </a:xfrm>
          <a:prstGeom prst="rect">
            <a:avLst/>
          </a:prstGeom>
        </p:spPr>
      </p:pic>
      <p:pic>
        <p:nvPicPr>
          <p:cNvPr id="16" name="Picture 1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141856" y="3198194"/>
            <a:ext cx="825361" cy="668716"/>
          </a:xfrm>
          <a:prstGeom prst="rect">
            <a:avLst/>
          </a:prstGeom>
        </p:spPr>
      </p:pic>
      <p:pic>
        <p:nvPicPr>
          <p:cNvPr id="52" name="Picture 5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44380" y="5274973"/>
            <a:ext cx="1062614" cy="875962"/>
          </a:xfrm>
          <a:prstGeom prst="rect">
            <a:avLst/>
          </a:prstGeom>
        </p:spPr>
      </p:pic>
      <p:pic>
        <p:nvPicPr>
          <p:cNvPr id="53" name="Picture 5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474038" y="5387971"/>
            <a:ext cx="791682" cy="791682"/>
          </a:xfrm>
          <a:prstGeom prst="rect">
            <a:avLst/>
          </a:prstGeom>
        </p:spPr>
      </p:pic>
      <p:pic>
        <p:nvPicPr>
          <p:cNvPr id="54" name="Picture 5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397230" y="5415636"/>
            <a:ext cx="665982" cy="665982"/>
          </a:xfrm>
          <a:prstGeom prst="rect">
            <a:avLst/>
          </a:prstGeom>
        </p:spPr>
      </p:pic>
    </p:spTree>
    <p:extLst>
      <p:ext uri="{BB962C8B-B14F-4D97-AF65-F5344CB8AC3E}">
        <p14:creationId xmlns:p14="http://schemas.microsoft.com/office/powerpoint/2010/main" val="35046839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15</a:t>
            </a:fld>
            <a:endParaRPr lang="en-IN" dirty="0">
              <a:solidFill>
                <a:srgbClr val="000000">
                  <a:tint val="75000"/>
                </a:srgbClr>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6350"/>
            <a:ext cx="12192000" cy="6317177"/>
          </a:xfrm>
          <a:prstGeom prst="rect">
            <a:avLst/>
          </a:prstGeom>
        </p:spPr>
      </p:pic>
      <p:sp>
        <p:nvSpPr>
          <p:cNvPr id="5" name="Rectangle 4"/>
          <p:cNvSpPr/>
          <p:nvPr/>
        </p:nvSpPr>
        <p:spPr>
          <a:xfrm>
            <a:off x="0" y="188912"/>
            <a:ext cx="7636129" cy="830997"/>
          </a:xfrm>
          <a:prstGeom prst="rect">
            <a:avLst/>
          </a:prstGeom>
        </p:spPr>
        <p:txBody>
          <a:bodyPr wrap="none">
            <a:spAutoFit/>
          </a:bodyPr>
          <a:lstStyle/>
          <a:p>
            <a:pPr algn="r"/>
            <a:r>
              <a:rPr lang="en-GB" sz="48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rPr>
              <a:t>Banking Investment Products</a:t>
            </a:r>
            <a:endParaRPr lang="en-IN" sz="32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endParaRPr>
          </a:p>
        </p:txBody>
      </p:sp>
    </p:spTree>
    <p:extLst>
      <p:ext uri="{BB962C8B-B14F-4D97-AF65-F5344CB8AC3E}">
        <p14:creationId xmlns:p14="http://schemas.microsoft.com/office/powerpoint/2010/main" val="15496499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796689" y="291779"/>
              <a:ext cx="2598788"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Mutual Funds </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0" name="TextBox 49"/>
          <p:cNvSpPr txBox="1"/>
          <p:nvPr/>
        </p:nvSpPr>
        <p:spPr>
          <a:xfrm>
            <a:off x="5109845" y="71295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Financial Institutions</a:t>
            </a:r>
            <a:endParaRPr lang="en-IN" dirty="0">
              <a:solidFill>
                <a:schemeClr val="bg1"/>
              </a:solidFill>
              <a:latin typeface="Century Gothic" panose="020B0502020202020204" pitchFamily="34" charset="0"/>
            </a:endParaRPr>
          </a:p>
        </p:txBody>
      </p:sp>
      <p:sp>
        <p:nvSpPr>
          <p:cNvPr id="22" name="Rectangle 21"/>
          <p:cNvSpPr/>
          <p:nvPr/>
        </p:nvSpPr>
        <p:spPr>
          <a:xfrm>
            <a:off x="66921" y="721233"/>
            <a:ext cx="12058159" cy="584775"/>
          </a:xfrm>
          <a:prstGeom prst="rect">
            <a:avLst/>
          </a:prstGeom>
        </p:spPr>
        <p:txBody>
          <a:bodyPr wrap="square">
            <a:spAutoFit/>
          </a:bodyPr>
          <a:lstStyle/>
          <a:p>
            <a:r>
              <a:rPr lang="en-IN" sz="1600" dirty="0" smtClean="0"/>
              <a:t>Mutual Funds is a professionally managed investment scheme that pools money from many investors to buy stocks, </a:t>
            </a:r>
          </a:p>
          <a:p>
            <a:r>
              <a:rPr lang="en-IN" sz="1600" dirty="0" smtClean="0"/>
              <a:t>bonds and other securities</a:t>
            </a:r>
            <a:endParaRPr lang="en-IN" sz="1600" dirty="0"/>
          </a:p>
        </p:txBody>
      </p:sp>
      <p:graphicFrame>
        <p:nvGraphicFramePr>
          <p:cNvPr id="2" name="Diagram 1"/>
          <p:cNvGraphicFramePr/>
          <p:nvPr>
            <p:extLst>
              <p:ext uri="{D42A27DB-BD31-4B8C-83A1-F6EECF244321}">
                <p14:modId xmlns:p14="http://schemas.microsoft.com/office/powerpoint/2010/main" val="1161425421"/>
              </p:ext>
            </p:extLst>
          </p:nvPr>
        </p:nvGraphicFramePr>
        <p:xfrm>
          <a:off x="360609" y="1798175"/>
          <a:ext cx="5154411" cy="39811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 name="Rectangle 22"/>
          <p:cNvSpPr/>
          <p:nvPr/>
        </p:nvSpPr>
        <p:spPr>
          <a:xfrm>
            <a:off x="892352" y="1290482"/>
            <a:ext cx="4345741"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Mutual Funds Life-Cycle </a:t>
            </a:r>
            <a:endParaRPr lang="en-IN" sz="2800" b="1" dirty="0">
              <a:solidFill>
                <a:srgbClr val="0070C0"/>
              </a:solidFill>
              <a:latin typeface="Leelawadee UI" panose="020B0502040204020203" pitchFamily="34" charset="-34"/>
              <a:cs typeface="Leelawadee UI" panose="020B0502040204020203" pitchFamily="34" charset="-34"/>
            </a:endParaRPr>
          </a:p>
        </p:txBody>
      </p:sp>
      <p:sp>
        <p:nvSpPr>
          <p:cNvPr id="24" name="Rectangle 23"/>
          <p:cNvSpPr/>
          <p:nvPr/>
        </p:nvSpPr>
        <p:spPr>
          <a:xfrm>
            <a:off x="7170363" y="1159276"/>
            <a:ext cx="4390947"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Mutual Funds Categories</a:t>
            </a:r>
            <a:endParaRPr lang="en-IN" sz="2800" b="1" dirty="0">
              <a:solidFill>
                <a:srgbClr val="0070C0"/>
              </a:solidFill>
              <a:latin typeface="Leelawadee UI" panose="020B0502040204020203" pitchFamily="34" charset="-34"/>
              <a:cs typeface="Leelawadee UI" panose="020B0502040204020203" pitchFamily="34" charset="-34"/>
            </a:endParaRPr>
          </a:p>
        </p:txBody>
      </p:sp>
      <p:sp>
        <p:nvSpPr>
          <p:cNvPr id="25" name="Rounded Rectangle 24"/>
          <p:cNvSpPr/>
          <p:nvPr/>
        </p:nvSpPr>
        <p:spPr>
          <a:xfrm>
            <a:off x="6626273" y="2033299"/>
            <a:ext cx="2021983"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Maturity Period</a:t>
            </a:r>
            <a:endParaRPr lang="en-IN" dirty="0"/>
          </a:p>
        </p:txBody>
      </p:sp>
      <p:sp>
        <p:nvSpPr>
          <p:cNvPr id="26" name="Rounded Rectangle 25"/>
          <p:cNvSpPr/>
          <p:nvPr/>
        </p:nvSpPr>
        <p:spPr>
          <a:xfrm>
            <a:off x="9641143" y="2033299"/>
            <a:ext cx="2021983"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Investment Type</a:t>
            </a:r>
            <a:endParaRPr lang="en-IN" dirty="0"/>
          </a:p>
        </p:txBody>
      </p:sp>
      <p:cxnSp>
        <p:nvCxnSpPr>
          <p:cNvPr id="4" name="Straight Arrow Connector 3"/>
          <p:cNvCxnSpPr>
            <a:endCxn id="25" idx="0"/>
          </p:cNvCxnSpPr>
          <p:nvPr/>
        </p:nvCxnSpPr>
        <p:spPr>
          <a:xfrm flipH="1">
            <a:off x="7637265" y="1682496"/>
            <a:ext cx="1400718" cy="350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9059150" y="1677759"/>
            <a:ext cx="1400718" cy="350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ounded Rectangle 28"/>
          <p:cNvSpPr/>
          <p:nvPr/>
        </p:nvSpPr>
        <p:spPr>
          <a:xfrm>
            <a:off x="6626272" y="2824951"/>
            <a:ext cx="2021983" cy="1440857"/>
          </a:xfrm>
          <a:prstGeom prst="roundRect">
            <a:avLst/>
          </a:prstGeom>
          <a:solidFill>
            <a:srgbClr val="92D05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Open Ended: (</a:t>
            </a:r>
            <a:r>
              <a:rPr lang="en-IN" sz="1400" dirty="0" smtClean="0"/>
              <a:t>Subscription and purchase on continuous basis with no fixed maturity period)</a:t>
            </a:r>
            <a:endParaRPr lang="en-IN" sz="1400" dirty="0"/>
          </a:p>
        </p:txBody>
      </p:sp>
      <p:sp>
        <p:nvSpPr>
          <p:cNvPr id="34" name="Rounded Rectangle 33"/>
          <p:cNvSpPr/>
          <p:nvPr/>
        </p:nvSpPr>
        <p:spPr>
          <a:xfrm>
            <a:off x="9641142" y="2755676"/>
            <a:ext cx="2021983" cy="583872"/>
          </a:xfrm>
          <a:prstGeom prst="roundRect">
            <a:avLst/>
          </a:prstGeom>
          <a:solidFill>
            <a:srgbClr val="92D05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Equity</a:t>
            </a:r>
          </a:p>
          <a:p>
            <a:pPr algn="ctr"/>
            <a:r>
              <a:rPr lang="en-IN" sz="1200" dirty="0" smtClean="0"/>
              <a:t>Capital appreciation, highly risky</a:t>
            </a:r>
            <a:endParaRPr lang="en-IN" sz="1200" dirty="0"/>
          </a:p>
        </p:txBody>
      </p:sp>
      <p:sp>
        <p:nvSpPr>
          <p:cNvPr id="39" name="Rounded Rectangle 38"/>
          <p:cNvSpPr/>
          <p:nvPr/>
        </p:nvSpPr>
        <p:spPr>
          <a:xfrm>
            <a:off x="6640461" y="4505781"/>
            <a:ext cx="2021983" cy="1440857"/>
          </a:xfrm>
          <a:prstGeom prst="roundRect">
            <a:avLst/>
          </a:prstGeom>
          <a:solidFill>
            <a:srgbClr val="92D05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Close Ended: (</a:t>
            </a:r>
            <a:r>
              <a:rPr lang="en-IN" sz="1400" dirty="0" smtClean="0"/>
              <a:t>Subscription and purchase  not on continuous basis with fixed maturity period)</a:t>
            </a:r>
            <a:endParaRPr lang="en-IN" sz="1400" dirty="0"/>
          </a:p>
        </p:txBody>
      </p:sp>
      <p:sp>
        <p:nvSpPr>
          <p:cNvPr id="40" name="Rounded Rectangle 39"/>
          <p:cNvSpPr/>
          <p:nvPr/>
        </p:nvSpPr>
        <p:spPr>
          <a:xfrm>
            <a:off x="9641141" y="3446526"/>
            <a:ext cx="2021983" cy="583872"/>
          </a:xfrm>
          <a:prstGeom prst="roundRect">
            <a:avLst/>
          </a:prstGeom>
          <a:solidFill>
            <a:srgbClr val="92D05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Income</a:t>
            </a:r>
          </a:p>
          <a:p>
            <a:pPr algn="ctr"/>
            <a:r>
              <a:rPr lang="en-IN" sz="1200" dirty="0" smtClean="0"/>
              <a:t>Regular and steady income, less risky</a:t>
            </a:r>
            <a:endParaRPr lang="en-IN" sz="1200" dirty="0"/>
          </a:p>
        </p:txBody>
      </p:sp>
      <p:sp>
        <p:nvSpPr>
          <p:cNvPr id="41" name="Rounded Rectangle 40"/>
          <p:cNvSpPr/>
          <p:nvPr/>
        </p:nvSpPr>
        <p:spPr>
          <a:xfrm>
            <a:off x="9641141" y="4113599"/>
            <a:ext cx="2021983" cy="583872"/>
          </a:xfrm>
          <a:prstGeom prst="roundRect">
            <a:avLst/>
          </a:prstGeom>
          <a:solidFill>
            <a:srgbClr val="92D05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Balanced</a:t>
            </a:r>
          </a:p>
          <a:p>
            <a:pPr algn="ctr"/>
            <a:r>
              <a:rPr lang="en-IN" sz="1200" dirty="0" smtClean="0"/>
              <a:t>Both in equities and income funds</a:t>
            </a:r>
            <a:endParaRPr lang="en-IN" sz="1200" dirty="0"/>
          </a:p>
        </p:txBody>
      </p:sp>
      <p:sp>
        <p:nvSpPr>
          <p:cNvPr id="42" name="Rounded Rectangle 41"/>
          <p:cNvSpPr/>
          <p:nvPr/>
        </p:nvSpPr>
        <p:spPr>
          <a:xfrm>
            <a:off x="9641141" y="4762026"/>
            <a:ext cx="2021983" cy="583872"/>
          </a:xfrm>
          <a:prstGeom prst="roundRect">
            <a:avLst/>
          </a:prstGeom>
          <a:solidFill>
            <a:srgbClr val="92D05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Money Market</a:t>
            </a:r>
          </a:p>
          <a:p>
            <a:pPr algn="ctr"/>
            <a:r>
              <a:rPr lang="en-IN" sz="1200" dirty="0" smtClean="0"/>
              <a:t>Investments in government securities</a:t>
            </a:r>
            <a:endParaRPr lang="en-IN" sz="1200" dirty="0"/>
          </a:p>
        </p:txBody>
      </p:sp>
      <p:sp>
        <p:nvSpPr>
          <p:cNvPr id="43" name="Rounded Rectangle 42"/>
          <p:cNvSpPr/>
          <p:nvPr/>
        </p:nvSpPr>
        <p:spPr>
          <a:xfrm>
            <a:off x="9641140" y="5437938"/>
            <a:ext cx="2021983" cy="583872"/>
          </a:xfrm>
          <a:prstGeom prst="roundRect">
            <a:avLst/>
          </a:prstGeom>
          <a:solidFill>
            <a:srgbClr val="92D05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Index</a:t>
            </a:r>
          </a:p>
          <a:p>
            <a:pPr algn="ctr"/>
            <a:r>
              <a:rPr lang="en-IN" sz="1200" dirty="0" smtClean="0"/>
              <a:t>Rise and fall in accordance with market index</a:t>
            </a:r>
            <a:endParaRPr lang="en-IN" sz="1200" dirty="0"/>
          </a:p>
        </p:txBody>
      </p:sp>
      <p:pic>
        <p:nvPicPr>
          <p:cNvPr id="7" name="Picture 6"/>
          <p:cNvPicPr>
            <a:picLocks noChangeAspect="1"/>
          </p:cNvPicPr>
          <p:nvPr/>
        </p:nvPicPr>
        <p:blipFill rotWithShape="1">
          <a:blip r:embed="rId8">
            <a:extLst>
              <a:ext uri="{28A0092B-C50C-407E-A947-70E740481C1C}">
                <a14:useLocalDpi xmlns:a14="http://schemas.microsoft.com/office/drawing/2010/main" val="0"/>
              </a:ext>
            </a:extLst>
          </a:blip>
          <a:srcRect l="17084" r="20448"/>
          <a:stretch/>
        </p:blipFill>
        <p:spPr>
          <a:xfrm>
            <a:off x="10670227" y="0"/>
            <a:ext cx="1514874" cy="1222334"/>
          </a:xfrm>
          <a:prstGeom prst="rect">
            <a:avLst/>
          </a:prstGeom>
        </p:spPr>
      </p:pic>
    </p:spTree>
    <p:extLst>
      <p:ext uri="{BB962C8B-B14F-4D97-AF65-F5344CB8AC3E}">
        <p14:creationId xmlns:p14="http://schemas.microsoft.com/office/powerpoint/2010/main" val="9425157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17</a:t>
            </a:fld>
            <a:endParaRPr lang="en-IN" dirty="0">
              <a:solidFill>
                <a:srgbClr val="000000">
                  <a:tint val="75000"/>
                </a:srgbClr>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349285"/>
          </a:xfrm>
          <a:prstGeom prst="rect">
            <a:avLst/>
          </a:prstGeom>
        </p:spPr>
      </p:pic>
      <p:sp>
        <p:nvSpPr>
          <p:cNvPr id="5" name="Rectangle 4"/>
          <p:cNvSpPr/>
          <p:nvPr/>
        </p:nvSpPr>
        <p:spPr>
          <a:xfrm>
            <a:off x="106509" y="148263"/>
            <a:ext cx="6898555" cy="830997"/>
          </a:xfrm>
          <a:prstGeom prst="rect">
            <a:avLst/>
          </a:prstGeom>
        </p:spPr>
        <p:txBody>
          <a:bodyPr wrap="none">
            <a:spAutoFit/>
          </a:bodyPr>
          <a:lstStyle/>
          <a:p>
            <a:pPr algn="r"/>
            <a:r>
              <a:rPr lang="en-GB" sz="48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rPr>
              <a:t>Banking Liability Products</a:t>
            </a:r>
            <a:endParaRPr lang="en-IN" sz="32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endParaRPr>
          </a:p>
        </p:txBody>
      </p:sp>
    </p:spTree>
    <p:extLst>
      <p:ext uri="{BB962C8B-B14F-4D97-AF65-F5344CB8AC3E}">
        <p14:creationId xmlns:p14="http://schemas.microsoft.com/office/powerpoint/2010/main" val="40200538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556956" y="291779"/>
              <a:ext cx="3078279"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Deposit Products</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0" name="TextBox 49"/>
          <p:cNvSpPr txBox="1"/>
          <p:nvPr/>
        </p:nvSpPr>
        <p:spPr>
          <a:xfrm>
            <a:off x="5109845" y="71295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Financial Institutions</a:t>
            </a:r>
            <a:endParaRPr lang="en-IN" dirty="0">
              <a:solidFill>
                <a:schemeClr val="bg1"/>
              </a:solidFill>
              <a:latin typeface="Century Gothic" panose="020B0502020202020204" pitchFamily="34" charset="0"/>
            </a:endParaRPr>
          </a:p>
        </p:txBody>
      </p:sp>
      <p:sp>
        <p:nvSpPr>
          <p:cNvPr id="7" name="Rounded Rectangle 6"/>
          <p:cNvSpPr/>
          <p:nvPr/>
        </p:nvSpPr>
        <p:spPr>
          <a:xfrm>
            <a:off x="244696" y="1043189"/>
            <a:ext cx="3170354" cy="4881091"/>
          </a:xfrm>
          <a:prstGeom prst="roundRect">
            <a:avLst/>
          </a:prstGeom>
          <a:solidFill>
            <a:schemeClr val="accent1">
              <a:alpha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ounded Rectangle 7"/>
          <p:cNvSpPr/>
          <p:nvPr/>
        </p:nvSpPr>
        <p:spPr>
          <a:xfrm>
            <a:off x="4446579" y="1043188"/>
            <a:ext cx="3170354" cy="4881091"/>
          </a:xfrm>
          <a:prstGeom prst="roundRect">
            <a:avLst/>
          </a:prstGeom>
          <a:solidFill>
            <a:schemeClr val="accent1">
              <a:alpha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ounded Rectangle 8"/>
          <p:cNvSpPr/>
          <p:nvPr/>
        </p:nvSpPr>
        <p:spPr>
          <a:xfrm>
            <a:off x="8588057" y="1043187"/>
            <a:ext cx="3170354" cy="4881091"/>
          </a:xfrm>
          <a:prstGeom prst="roundRect">
            <a:avLst/>
          </a:prstGeom>
          <a:solidFill>
            <a:schemeClr val="accent1">
              <a:alpha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ounded Rectangle 10"/>
          <p:cNvSpPr/>
          <p:nvPr/>
        </p:nvSpPr>
        <p:spPr>
          <a:xfrm>
            <a:off x="4457310" y="1015283"/>
            <a:ext cx="3170354" cy="83927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Current</a:t>
            </a:r>
            <a:endParaRPr lang="en-IN" b="1" dirty="0"/>
          </a:p>
        </p:txBody>
      </p:sp>
      <p:sp>
        <p:nvSpPr>
          <p:cNvPr id="12" name="Rounded Rectangle 11"/>
          <p:cNvSpPr/>
          <p:nvPr/>
        </p:nvSpPr>
        <p:spPr>
          <a:xfrm>
            <a:off x="236408" y="1004257"/>
            <a:ext cx="3178642" cy="83927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Savings</a:t>
            </a:r>
            <a:endParaRPr lang="en-IN" b="1" dirty="0"/>
          </a:p>
        </p:txBody>
      </p:sp>
      <p:sp>
        <p:nvSpPr>
          <p:cNvPr id="13" name="Rounded Rectangle 12"/>
          <p:cNvSpPr/>
          <p:nvPr/>
        </p:nvSpPr>
        <p:spPr>
          <a:xfrm>
            <a:off x="8584065" y="1030300"/>
            <a:ext cx="3170354" cy="83927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Fixed Deposits</a:t>
            </a:r>
            <a:endParaRPr lang="en-IN" b="1" dirty="0"/>
          </a:p>
        </p:txBody>
      </p:sp>
      <p:sp>
        <p:nvSpPr>
          <p:cNvPr id="15" name="TextBox 14"/>
          <p:cNvSpPr txBox="1"/>
          <p:nvPr/>
        </p:nvSpPr>
        <p:spPr>
          <a:xfrm>
            <a:off x="244696" y="1983283"/>
            <a:ext cx="3170354" cy="1938992"/>
          </a:xfrm>
          <a:prstGeom prst="rect">
            <a:avLst/>
          </a:prstGeom>
          <a:noFill/>
        </p:spPr>
        <p:txBody>
          <a:bodyPr wrap="square" rtlCol="0">
            <a:spAutoFit/>
          </a:bodyPr>
          <a:lstStyle/>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Banking product where you keep money with a guaranteed interest</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Liquidate anytime</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Can be accessed through internet, debit cards, ATM’s</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Salary account is a type of savings account</a:t>
            </a:r>
          </a:p>
          <a:p>
            <a:pPr marL="228600" indent="-228600">
              <a:buClr>
                <a:schemeClr val="bg2">
                  <a:lumMod val="25000"/>
                </a:schemeClr>
              </a:buClr>
              <a:buFont typeface="Webdings" panose="05030102010509060703" pitchFamily="18" charset="2"/>
              <a:buChar char="4"/>
            </a:pPr>
            <a:r>
              <a:rPr lang="en-IN" sz="1200" dirty="0">
                <a:solidFill>
                  <a:schemeClr val="bg2">
                    <a:lumMod val="50000"/>
                  </a:schemeClr>
                </a:solidFill>
                <a:latin typeface="Century Gothic" panose="020B0502020202020204" pitchFamily="34" charset="0"/>
              </a:rPr>
              <a:t> </a:t>
            </a:r>
            <a:r>
              <a:rPr lang="en-IN" sz="1200" dirty="0" smtClean="0">
                <a:solidFill>
                  <a:schemeClr val="bg2">
                    <a:lumMod val="50000"/>
                  </a:schemeClr>
                </a:solidFill>
                <a:latin typeface="Century Gothic" panose="020B0502020202020204" pitchFamily="34" charset="0"/>
              </a:rPr>
              <a:t>Minimum quarterly balance to be maintained</a:t>
            </a:r>
          </a:p>
          <a:p>
            <a:pPr marL="228600" indent="-228600">
              <a:buClr>
                <a:schemeClr val="bg2">
                  <a:lumMod val="25000"/>
                </a:schemeClr>
              </a:buClr>
              <a:buFont typeface="Webdings" panose="05030102010509060703" pitchFamily="18" charset="2"/>
              <a:buChar char="4"/>
            </a:pPr>
            <a:endParaRPr lang="en-IN" sz="1200" dirty="0" smtClean="0">
              <a:solidFill>
                <a:schemeClr val="bg2">
                  <a:lumMod val="50000"/>
                </a:schemeClr>
              </a:solidFill>
              <a:latin typeface="Century Gothic" panose="020B0502020202020204" pitchFamily="34" charset="0"/>
            </a:endParaRPr>
          </a:p>
        </p:txBody>
      </p:sp>
      <p:sp>
        <p:nvSpPr>
          <p:cNvPr id="17" name="TextBox 16"/>
          <p:cNvSpPr txBox="1"/>
          <p:nvPr/>
        </p:nvSpPr>
        <p:spPr>
          <a:xfrm>
            <a:off x="8687096" y="1994193"/>
            <a:ext cx="3067323" cy="1200329"/>
          </a:xfrm>
          <a:prstGeom prst="rect">
            <a:avLst/>
          </a:prstGeom>
          <a:noFill/>
        </p:spPr>
        <p:txBody>
          <a:bodyPr wrap="square" rtlCol="0">
            <a:spAutoFit/>
          </a:bodyPr>
          <a:lstStyle/>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Banking product where a certain amount of money is locked in for a certain tenure with guaranteed returns</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Liquidated post completion of tenure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0665" y="4081247"/>
            <a:ext cx="2665927" cy="1706833"/>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3262" y="4094126"/>
            <a:ext cx="2838450" cy="1609725"/>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4027" y="4053255"/>
            <a:ext cx="2705100" cy="1685925"/>
          </a:xfrm>
          <a:prstGeom prst="rect">
            <a:avLst/>
          </a:prstGeom>
        </p:spPr>
      </p:pic>
      <p:sp>
        <p:nvSpPr>
          <p:cNvPr id="26" name="TextBox 25"/>
          <p:cNvSpPr txBox="1"/>
          <p:nvPr/>
        </p:nvSpPr>
        <p:spPr>
          <a:xfrm>
            <a:off x="4416376" y="2052662"/>
            <a:ext cx="3170354" cy="1754326"/>
          </a:xfrm>
          <a:prstGeom prst="rect">
            <a:avLst/>
          </a:prstGeom>
          <a:noFill/>
        </p:spPr>
        <p:txBody>
          <a:bodyPr wrap="square" rtlCol="0">
            <a:spAutoFit/>
          </a:bodyPr>
          <a:lstStyle/>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Banking product where you keep money but receive no interest</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Liquidate anytime</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Can be accessed through internet, debit cards, ATM’s</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Business account is a type of current account</a:t>
            </a:r>
          </a:p>
          <a:p>
            <a:pPr marL="228600" indent="-228600">
              <a:buClr>
                <a:schemeClr val="bg2">
                  <a:lumMod val="25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No minimum balance to be maintained </a:t>
            </a:r>
          </a:p>
        </p:txBody>
      </p:sp>
    </p:spTree>
    <p:extLst>
      <p:ext uri="{BB962C8B-B14F-4D97-AF65-F5344CB8AC3E}">
        <p14:creationId xmlns:p14="http://schemas.microsoft.com/office/powerpoint/2010/main" val="15691041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19</a:t>
            </a:fld>
            <a:endParaRPr lang="en-IN" dirty="0">
              <a:solidFill>
                <a:srgbClr val="000000">
                  <a:tint val="75000"/>
                </a:srgbClr>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12192000" cy="6310650"/>
          </a:xfrm>
          <a:prstGeom prst="rect">
            <a:avLst/>
          </a:prstGeom>
        </p:spPr>
      </p:pic>
      <p:sp>
        <p:nvSpPr>
          <p:cNvPr id="5" name="Rectangle 4"/>
          <p:cNvSpPr/>
          <p:nvPr/>
        </p:nvSpPr>
        <p:spPr>
          <a:xfrm>
            <a:off x="154546" y="6350"/>
            <a:ext cx="3569696" cy="830997"/>
          </a:xfrm>
          <a:prstGeom prst="rect">
            <a:avLst/>
          </a:prstGeom>
        </p:spPr>
        <p:txBody>
          <a:bodyPr wrap="none">
            <a:spAutoFit/>
          </a:bodyPr>
          <a:lstStyle/>
          <a:p>
            <a:pPr algn="r"/>
            <a:r>
              <a:rPr lang="en-GB" sz="48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rPr>
              <a:t>Banking </a:t>
            </a:r>
            <a:r>
              <a:rPr lang="en-GB" sz="48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rPr>
              <a:t>Data</a:t>
            </a:r>
            <a:endParaRPr lang="en-IN" sz="32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endParaRPr>
          </a:p>
        </p:txBody>
      </p:sp>
    </p:spTree>
    <p:extLst>
      <p:ext uri="{BB962C8B-B14F-4D97-AF65-F5344CB8AC3E}">
        <p14:creationId xmlns:p14="http://schemas.microsoft.com/office/powerpoint/2010/main" val="26996756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242757" y="291779"/>
              <a:ext cx="3706657"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Banking Data Source</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0" name="TextBox 49"/>
          <p:cNvSpPr txBox="1"/>
          <p:nvPr/>
        </p:nvSpPr>
        <p:spPr>
          <a:xfrm>
            <a:off x="5109845" y="71295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Financial Institutions</a:t>
            </a:r>
            <a:endParaRPr lang="en-IN" dirty="0">
              <a:solidFill>
                <a:schemeClr val="bg1"/>
              </a:solidFill>
              <a:latin typeface="Century Gothic" panose="020B0502020202020204" pitchFamily="34" charset="0"/>
            </a:endParaRPr>
          </a:p>
        </p:txBody>
      </p:sp>
      <p:grpSp>
        <p:nvGrpSpPr>
          <p:cNvPr id="26" name="Group 25"/>
          <p:cNvGrpSpPr/>
          <p:nvPr/>
        </p:nvGrpSpPr>
        <p:grpSpPr>
          <a:xfrm>
            <a:off x="263492" y="816830"/>
            <a:ext cx="2458294" cy="2099191"/>
            <a:chOff x="111092" y="664430"/>
            <a:chExt cx="2458294" cy="2099191"/>
          </a:xfrm>
        </p:grpSpPr>
        <p:sp>
          <p:nvSpPr>
            <p:cNvPr id="27" name="Oval 26"/>
            <p:cNvSpPr/>
            <p:nvPr/>
          </p:nvSpPr>
          <p:spPr>
            <a:xfrm>
              <a:off x="275196" y="664430"/>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p:cNvSpPr txBox="1"/>
            <p:nvPr/>
          </p:nvSpPr>
          <p:spPr>
            <a:xfrm>
              <a:off x="296537" y="828187"/>
              <a:ext cx="1950135" cy="338554"/>
            </a:xfrm>
            <a:prstGeom prst="rect">
              <a:avLst/>
            </a:prstGeom>
            <a:noFill/>
          </p:spPr>
          <p:txBody>
            <a:bodyPr wrap="square" rtlCol="0">
              <a:spAutoFit/>
            </a:bodyPr>
            <a:lstStyle/>
            <a:p>
              <a:pPr algn="ctr"/>
              <a:r>
                <a:rPr lang="en-IN" sz="1600" b="1" dirty="0" smtClean="0">
                  <a:solidFill>
                    <a:schemeClr val="accent1">
                      <a:lumMod val="50000"/>
                    </a:schemeClr>
                  </a:solidFill>
                  <a:latin typeface="Century Gothic" panose="020B0502020202020204" pitchFamily="34" charset="0"/>
                </a:rPr>
                <a:t>Customer</a:t>
              </a:r>
              <a:endParaRPr lang="en-IN" sz="1600" b="1" dirty="0">
                <a:solidFill>
                  <a:schemeClr val="accent1">
                    <a:lumMod val="50000"/>
                  </a:schemeClr>
                </a:solidFill>
                <a:latin typeface="Century Gothic" panose="020B0502020202020204" pitchFamily="34" charset="0"/>
              </a:endParaRPr>
            </a:p>
          </p:txBody>
        </p:sp>
        <p:sp>
          <p:nvSpPr>
            <p:cNvPr id="29" name="TextBox 28"/>
            <p:cNvSpPr txBox="1"/>
            <p:nvPr/>
          </p:nvSpPr>
          <p:spPr>
            <a:xfrm>
              <a:off x="111092" y="2486622"/>
              <a:ext cx="2458294" cy="276999"/>
            </a:xfrm>
            <a:prstGeom prst="rect">
              <a:avLst/>
            </a:prstGeom>
            <a:noFill/>
          </p:spPr>
          <p:txBody>
            <a:bodyPr wrap="square" rtlCol="0">
              <a:spAutoFit/>
            </a:bodyPr>
            <a:lstStyle/>
            <a:p>
              <a:pPr algn="ctr"/>
              <a:r>
                <a:rPr lang="en-IN" sz="1200" dirty="0" smtClean="0">
                  <a:solidFill>
                    <a:srgbClr val="222222"/>
                  </a:solidFill>
                </a:rPr>
                <a:t>Customer information and contacts</a:t>
              </a:r>
              <a:endParaRPr lang="en-IN" sz="1200" dirty="0"/>
            </a:p>
          </p:txBody>
        </p:sp>
      </p:grpSp>
      <p:grpSp>
        <p:nvGrpSpPr>
          <p:cNvPr id="34" name="Group 33"/>
          <p:cNvGrpSpPr/>
          <p:nvPr/>
        </p:nvGrpSpPr>
        <p:grpSpPr>
          <a:xfrm>
            <a:off x="3168579" y="854146"/>
            <a:ext cx="2458294" cy="2099191"/>
            <a:chOff x="111092" y="664430"/>
            <a:chExt cx="2458294" cy="2099191"/>
          </a:xfrm>
        </p:grpSpPr>
        <p:sp>
          <p:nvSpPr>
            <p:cNvPr id="35" name="Oval 34"/>
            <p:cNvSpPr/>
            <p:nvPr/>
          </p:nvSpPr>
          <p:spPr>
            <a:xfrm>
              <a:off x="275196" y="664430"/>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p:cNvSpPr txBox="1"/>
            <p:nvPr/>
          </p:nvSpPr>
          <p:spPr>
            <a:xfrm>
              <a:off x="296537" y="833401"/>
              <a:ext cx="1950135" cy="338554"/>
            </a:xfrm>
            <a:prstGeom prst="rect">
              <a:avLst/>
            </a:prstGeom>
            <a:noFill/>
          </p:spPr>
          <p:txBody>
            <a:bodyPr wrap="square" rtlCol="0">
              <a:spAutoFit/>
            </a:bodyPr>
            <a:lstStyle/>
            <a:p>
              <a:pPr algn="ctr"/>
              <a:r>
                <a:rPr lang="en-IN" sz="1600" b="1" dirty="0" smtClean="0">
                  <a:solidFill>
                    <a:schemeClr val="accent1">
                      <a:lumMod val="50000"/>
                    </a:schemeClr>
                  </a:solidFill>
                  <a:latin typeface="Century Gothic" panose="020B0502020202020204" pitchFamily="34" charset="0"/>
                </a:rPr>
                <a:t>Transaction</a:t>
              </a:r>
              <a:endParaRPr lang="en-IN" sz="1600" b="1" dirty="0">
                <a:solidFill>
                  <a:schemeClr val="accent1">
                    <a:lumMod val="50000"/>
                  </a:schemeClr>
                </a:solidFill>
                <a:latin typeface="Century Gothic" panose="020B0502020202020204" pitchFamily="34" charset="0"/>
              </a:endParaRPr>
            </a:p>
          </p:txBody>
        </p:sp>
        <p:sp>
          <p:nvSpPr>
            <p:cNvPr id="37" name="TextBox 36"/>
            <p:cNvSpPr txBox="1"/>
            <p:nvPr/>
          </p:nvSpPr>
          <p:spPr>
            <a:xfrm>
              <a:off x="111092" y="2486622"/>
              <a:ext cx="2458294" cy="276999"/>
            </a:xfrm>
            <a:prstGeom prst="rect">
              <a:avLst/>
            </a:prstGeom>
            <a:noFill/>
          </p:spPr>
          <p:txBody>
            <a:bodyPr wrap="square" rtlCol="0">
              <a:spAutoFit/>
            </a:bodyPr>
            <a:lstStyle/>
            <a:p>
              <a:pPr algn="ctr"/>
              <a:r>
                <a:rPr lang="en-IN" sz="1200" dirty="0" smtClean="0">
                  <a:solidFill>
                    <a:srgbClr val="222222"/>
                  </a:solidFill>
                </a:rPr>
                <a:t>Daily </a:t>
              </a:r>
              <a:r>
                <a:rPr lang="en-IN" sz="1200" dirty="0" smtClean="0">
                  <a:solidFill>
                    <a:srgbClr val="222222"/>
                  </a:solidFill>
                </a:rPr>
                <a:t>data on customer transactions</a:t>
              </a:r>
              <a:endParaRPr lang="en-IN" sz="1200" dirty="0"/>
            </a:p>
          </p:txBody>
        </p:sp>
      </p:grpSp>
      <p:grpSp>
        <p:nvGrpSpPr>
          <p:cNvPr id="38" name="Group 37"/>
          <p:cNvGrpSpPr/>
          <p:nvPr/>
        </p:nvGrpSpPr>
        <p:grpSpPr>
          <a:xfrm>
            <a:off x="6138069" y="816830"/>
            <a:ext cx="2458294" cy="2099191"/>
            <a:chOff x="111092" y="664430"/>
            <a:chExt cx="2458294" cy="2099191"/>
          </a:xfrm>
        </p:grpSpPr>
        <p:sp>
          <p:nvSpPr>
            <p:cNvPr id="39" name="Oval 38"/>
            <p:cNvSpPr/>
            <p:nvPr/>
          </p:nvSpPr>
          <p:spPr>
            <a:xfrm>
              <a:off x="275196" y="664430"/>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TextBox 39"/>
            <p:cNvSpPr txBox="1"/>
            <p:nvPr/>
          </p:nvSpPr>
          <p:spPr>
            <a:xfrm>
              <a:off x="296537" y="833401"/>
              <a:ext cx="1950135" cy="338554"/>
            </a:xfrm>
            <a:prstGeom prst="rect">
              <a:avLst/>
            </a:prstGeom>
            <a:noFill/>
          </p:spPr>
          <p:txBody>
            <a:bodyPr wrap="square" rtlCol="0">
              <a:spAutoFit/>
            </a:bodyPr>
            <a:lstStyle/>
            <a:p>
              <a:pPr algn="ctr"/>
              <a:r>
                <a:rPr lang="en-IN" sz="1600" b="1" dirty="0" smtClean="0">
                  <a:solidFill>
                    <a:schemeClr val="accent1">
                      <a:lumMod val="50000"/>
                    </a:schemeClr>
                  </a:solidFill>
                  <a:latin typeface="Century Gothic" panose="020B0502020202020204" pitchFamily="34" charset="0"/>
                </a:rPr>
                <a:t>Products</a:t>
              </a:r>
              <a:endParaRPr lang="en-IN" sz="1600" b="1" dirty="0">
                <a:solidFill>
                  <a:schemeClr val="accent1">
                    <a:lumMod val="50000"/>
                  </a:schemeClr>
                </a:solidFill>
                <a:latin typeface="Century Gothic" panose="020B0502020202020204" pitchFamily="34" charset="0"/>
              </a:endParaRPr>
            </a:p>
          </p:txBody>
        </p:sp>
        <p:sp>
          <p:nvSpPr>
            <p:cNvPr id="41" name="TextBox 40"/>
            <p:cNvSpPr txBox="1"/>
            <p:nvPr/>
          </p:nvSpPr>
          <p:spPr>
            <a:xfrm>
              <a:off x="111092" y="2486622"/>
              <a:ext cx="2458294" cy="276999"/>
            </a:xfrm>
            <a:prstGeom prst="rect">
              <a:avLst/>
            </a:prstGeom>
            <a:noFill/>
          </p:spPr>
          <p:txBody>
            <a:bodyPr wrap="square" rtlCol="0">
              <a:spAutoFit/>
            </a:bodyPr>
            <a:lstStyle/>
            <a:p>
              <a:pPr algn="ctr"/>
              <a:r>
                <a:rPr lang="en-IN" sz="1200" dirty="0" smtClean="0">
                  <a:solidFill>
                    <a:srgbClr val="222222"/>
                  </a:solidFill>
                </a:rPr>
                <a:t>Product holdings for customers</a:t>
              </a:r>
              <a:endParaRPr lang="en-IN" sz="1200" dirty="0"/>
            </a:p>
          </p:txBody>
        </p:sp>
      </p:grpSp>
      <p:grpSp>
        <p:nvGrpSpPr>
          <p:cNvPr id="42" name="Group 41"/>
          <p:cNvGrpSpPr/>
          <p:nvPr/>
        </p:nvGrpSpPr>
        <p:grpSpPr>
          <a:xfrm>
            <a:off x="9365870" y="848314"/>
            <a:ext cx="2458294" cy="2283857"/>
            <a:chOff x="111092" y="664430"/>
            <a:chExt cx="2458294" cy="2283857"/>
          </a:xfrm>
        </p:grpSpPr>
        <p:sp>
          <p:nvSpPr>
            <p:cNvPr id="43" name="Oval 42"/>
            <p:cNvSpPr/>
            <p:nvPr/>
          </p:nvSpPr>
          <p:spPr>
            <a:xfrm>
              <a:off x="275196" y="664430"/>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p:cNvSpPr txBox="1"/>
            <p:nvPr/>
          </p:nvSpPr>
          <p:spPr>
            <a:xfrm>
              <a:off x="296537" y="833401"/>
              <a:ext cx="1950135" cy="338554"/>
            </a:xfrm>
            <a:prstGeom prst="rect">
              <a:avLst/>
            </a:prstGeom>
            <a:noFill/>
          </p:spPr>
          <p:txBody>
            <a:bodyPr wrap="square" rtlCol="0">
              <a:spAutoFit/>
            </a:bodyPr>
            <a:lstStyle/>
            <a:p>
              <a:pPr algn="ctr"/>
              <a:r>
                <a:rPr lang="en-IN" sz="1600" b="1" dirty="0" smtClean="0">
                  <a:solidFill>
                    <a:schemeClr val="accent1">
                      <a:lumMod val="50000"/>
                    </a:schemeClr>
                  </a:solidFill>
                  <a:latin typeface="Century Gothic" panose="020B0502020202020204" pitchFamily="34" charset="0"/>
                </a:rPr>
                <a:t>Account</a:t>
              </a:r>
              <a:endParaRPr lang="en-IN" sz="1600" b="1" dirty="0">
                <a:solidFill>
                  <a:schemeClr val="accent1">
                    <a:lumMod val="50000"/>
                  </a:schemeClr>
                </a:solidFill>
                <a:latin typeface="Century Gothic" panose="020B0502020202020204" pitchFamily="34" charset="0"/>
              </a:endParaRPr>
            </a:p>
          </p:txBody>
        </p:sp>
        <p:sp>
          <p:nvSpPr>
            <p:cNvPr id="45" name="TextBox 44"/>
            <p:cNvSpPr txBox="1"/>
            <p:nvPr/>
          </p:nvSpPr>
          <p:spPr>
            <a:xfrm>
              <a:off x="111092" y="2486622"/>
              <a:ext cx="2458294" cy="461665"/>
            </a:xfrm>
            <a:prstGeom prst="rect">
              <a:avLst/>
            </a:prstGeom>
            <a:noFill/>
          </p:spPr>
          <p:txBody>
            <a:bodyPr wrap="square" rtlCol="0">
              <a:spAutoFit/>
            </a:bodyPr>
            <a:lstStyle/>
            <a:p>
              <a:pPr algn="ctr"/>
              <a:r>
                <a:rPr lang="en-IN" sz="1200" dirty="0" smtClean="0">
                  <a:solidFill>
                    <a:srgbClr val="222222"/>
                  </a:solidFill>
                </a:rPr>
                <a:t>Account level information for customers</a:t>
              </a:r>
              <a:endParaRPr lang="en-IN" sz="1200" dirty="0"/>
            </a:p>
          </p:txBody>
        </p:sp>
      </p:grpSp>
      <p:grpSp>
        <p:nvGrpSpPr>
          <p:cNvPr id="46" name="Group 45"/>
          <p:cNvGrpSpPr/>
          <p:nvPr/>
        </p:nvGrpSpPr>
        <p:grpSpPr>
          <a:xfrm>
            <a:off x="287103" y="3596519"/>
            <a:ext cx="2458294" cy="2283857"/>
            <a:chOff x="111092" y="664430"/>
            <a:chExt cx="2458294" cy="2283857"/>
          </a:xfrm>
        </p:grpSpPr>
        <p:sp>
          <p:nvSpPr>
            <p:cNvPr id="47" name="Oval 46"/>
            <p:cNvSpPr/>
            <p:nvPr/>
          </p:nvSpPr>
          <p:spPr>
            <a:xfrm>
              <a:off x="275196" y="664430"/>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TextBox 47"/>
            <p:cNvSpPr txBox="1"/>
            <p:nvPr/>
          </p:nvSpPr>
          <p:spPr>
            <a:xfrm>
              <a:off x="296537" y="828187"/>
              <a:ext cx="1950135" cy="338554"/>
            </a:xfrm>
            <a:prstGeom prst="rect">
              <a:avLst/>
            </a:prstGeom>
            <a:noFill/>
          </p:spPr>
          <p:txBody>
            <a:bodyPr wrap="square" rtlCol="0">
              <a:spAutoFit/>
            </a:bodyPr>
            <a:lstStyle/>
            <a:p>
              <a:pPr algn="ctr"/>
              <a:r>
                <a:rPr lang="en-IN" sz="1600" b="1" dirty="0" smtClean="0">
                  <a:solidFill>
                    <a:schemeClr val="accent1">
                      <a:lumMod val="50000"/>
                    </a:schemeClr>
                  </a:solidFill>
                  <a:latin typeface="Century Gothic" panose="020B0502020202020204" pitchFamily="34" charset="0"/>
                </a:rPr>
                <a:t>CRM</a:t>
              </a:r>
              <a:endParaRPr lang="en-IN" sz="1600" b="1" dirty="0">
                <a:solidFill>
                  <a:schemeClr val="accent1">
                    <a:lumMod val="50000"/>
                  </a:schemeClr>
                </a:solidFill>
                <a:latin typeface="Century Gothic" panose="020B0502020202020204" pitchFamily="34" charset="0"/>
              </a:endParaRPr>
            </a:p>
          </p:txBody>
        </p:sp>
        <p:sp>
          <p:nvSpPr>
            <p:cNvPr id="49" name="TextBox 48"/>
            <p:cNvSpPr txBox="1"/>
            <p:nvPr/>
          </p:nvSpPr>
          <p:spPr>
            <a:xfrm>
              <a:off x="111092" y="2486622"/>
              <a:ext cx="2458294" cy="461665"/>
            </a:xfrm>
            <a:prstGeom prst="rect">
              <a:avLst/>
            </a:prstGeom>
            <a:noFill/>
          </p:spPr>
          <p:txBody>
            <a:bodyPr wrap="square" rtlCol="0">
              <a:spAutoFit/>
            </a:bodyPr>
            <a:lstStyle/>
            <a:p>
              <a:pPr algn="ctr"/>
              <a:r>
                <a:rPr lang="en-IN" sz="1200" dirty="0" smtClean="0">
                  <a:solidFill>
                    <a:srgbClr val="222222"/>
                  </a:solidFill>
                </a:rPr>
                <a:t>Customer relationship management details</a:t>
              </a:r>
              <a:endParaRPr lang="en-IN" sz="1200" dirty="0"/>
            </a:p>
          </p:txBody>
        </p:sp>
      </p:grpSp>
      <p:grpSp>
        <p:nvGrpSpPr>
          <p:cNvPr id="51" name="Group 50"/>
          <p:cNvGrpSpPr/>
          <p:nvPr/>
        </p:nvGrpSpPr>
        <p:grpSpPr>
          <a:xfrm>
            <a:off x="3192190" y="3633835"/>
            <a:ext cx="2458294" cy="2099191"/>
            <a:chOff x="111092" y="664430"/>
            <a:chExt cx="2458294" cy="2099191"/>
          </a:xfrm>
        </p:grpSpPr>
        <p:sp>
          <p:nvSpPr>
            <p:cNvPr id="52" name="Oval 51"/>
            <p:cNvSpPr/>
            <p:nvPr/>
          </p:nvSpPr>
          <p:spPr>
            <a:xfrm>
              <a:off x="275196" y="664430"/>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TextBox 52"/>
            <p:cNvSpPr txBox="1"/>
            <p:nvPr/>
          </p:nvSpPr>
          <p:spPr>
            <a:xfrm>
              <a:off x="296537" y="833401"/>
              <a:ext cx="1950135" cy="338554"/>
            </a:xfrm>
            <a:prstGeom prst="rect">
              <a:avLst/>
            </a:prstGeom>
            <a:noFill/>
          </p:spPr>
          <p:txBody>
            <a:bodyPr wrap="square" rtlCol="0">
              <a:spAutoFit/>
            </a:bodyPr>
            <a:lstStyle/>
            <a:p>
              <a:pPr algn="ctr"/>
              <a:r>
                <a:rPr lang="en-IN" sz="1600" b="1" dirty="0" smtClean="0">
                  <a:solidFill>
                    <a:schemeClr val="accent1">
                      <a:lumMod val="50000"/>
                    </a:schemeClr>
                  </a:solidFill>
                  <a:latin typeface="Century Gothic" panose="020B0502020202020204" pitchFamily="34" charset="0"/>
                </a:rPr>
                <a:t>Credit Bureau</a:t>
              </a:r>
              <a:endParaRPr lang="en-IN" sz="1600" b="1" dirty="0">
                <a:solidFill>
                  <a:schemeClr val="accent1">
                    <a:lumMod val="50000"/>
                  </a:schemeClr>
                </a:solidFill>
                <a:latin typeface="Century Gothic" panose="020B0502020202020204" pitchFamily="34" charset="0"/>
              </a:endParaRPr>
            </a:p>
          </p:txBody>
        </p:sp>
        <p:sp>
          <p:nvSpPr>
            <p:cNvPr id="54" name="TextBox 53"/>
            <p:cNvSpPr txBox="1"/>
            <p:nvPr/>
          </p:nvSpPr>
          <p:spPr>
            <a:xfrm>
              <a:off x="111092" y="2486622"/>
              <a:ext cx="2458294" cy="276999"/>
            </a:xfrm>
            <a:prstGeom prst="rect">
              <a:avLst/>
            </a:prstGeom>
            <a:noFill/>
          </p:spPr>
          <p:txBody>
            <a:bodyPr wrap="square" rtlCol="0">
              <a:spAutoFit/>
            </a:bodyPr>
            <a:lstStyle/>
            <a:p>
              <a:pPr algn="ctr"/>
              <a:r>
                <a:rPr lang="en-IN" sz="1200" dirty="0" smtClean="0">
                  <a:solidFill>
                    <a:srgbClr val="222222"/>
                  </a:solidFill>
                </a:rPr>
                <a:t>Customer’s historic credit </a:t>
              </a:r>
              <a:r>
                <a:rPr lang="en-IN" sz="1200" dirty="0" smtClean="0">
                  <a:solidFill>
                    <a:srgbClr val="222222"/>
                  </a:solidFill>
                </a:rPr>
                <a:t>data</a:t>
              </a:r>
              <a:endParaRPr lang="en-IN" sz="1200" dirty="0"/>
            </a:p>
          </p:txBody>
        </p:sp>
      </p:grpSp>
      <p:grpSp>
        <p:nvGrpSpPr>
          <p:cNvPr id="55" name="Group 54"/>
          <p:cNvGrpSpPr/>
          <p:nvPr/>
        </p:nvGrpSpPr>
        <p:grpSpPr>
          <a:xfrm>
            <a:off x="6161680" y="3596519"/>
            <a:ext cx="2458294" cy="2099191"/>
            <a:chOff x="111092" y="664430"/>
            <a:chExt cx="2458294" cy="2099191"/>
          </a:xfrm>
        </p:grpSpPr>
        <p:sp>
          <p:nvSpPr>
            <p:cNvPr id="56" name="Oval 55"/>
            <p:cNvSpPr/>
            <p:nvPr/>
          </p:nvSpPr>
          <p:spPr>
            <a:xfrm>
              <a:off x="275196" y="664430"/>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TextBox 56"/>
            <p:cNvSpPr txBox="1"/>
            <p:nvPr/>
          </p:nvSpPr>
          <p:spPr>
            <a:xfrm>
              <a:off x="296537" y="833401"/>
              <a:ext cx="1950135" cy="338554"/>
            </a:xfrm>
            <a:prstGeom prst="rect">
              <a:avLst/>
            </a:prstGeom>
            <a:noFill/>
          </p:spPr>
          <p:txBody>
            <a:bodyPr wrap="square" rtlCol="0">
              <a:spAutoFit/>
            </a:bodyPr>
            <a:lstStyle/>
            <a:p>
              <a:pPr algn="ctr"/>
              <a:r>
                <a:rPr lang="en-IN" sz="1600" b="1" dirty="0" smtClean="0">
                  <a:solidFill>
                    <a:schemeClr val="accent1">
                      <a:lumMod val="50000"/>
                    </a:schemeClr>
                  </a:solidFill>
                  <a:latin typeface="Century Gothic" panose="020B0502020202020204" pitchFamily="34" charset="0"/>
                </a:rPr>
                <a:t>Funds</a:t>
              </a:r>
              <a:endParaRPr lang="en-IN" sz="1600" b="1" dirty="0">
                <a:solidFill>
                  <a:schemeClr val="accent1">
                    <a:lumMod val="50000"/>
                  </a:schemeClr>
                </a:solidFill>
                <a:latin typeface="Century Gothic" panose="020B0502020202020204" pitchFamily="34" charset="0"/>
              </a:endParaRPr>
            </a:p>
          </p:txBody>
        </p:sp>
        <p:sp>
          <p:nvSpPr>
            <p:cNvPr id="58" name="TextBox 57"/>
            <p:cNvSpPr txBox="1"/>
            <p:nvPr/>
          </p:nvSpPr>
          <p:spPr>
            <a:xfrm>
              <a:off x="111092" y="2486622"/>
              <a:ext cx="2458294" cy="276999"/>
            </a:xfrm>
            <a:prstGeom prst="rect">
              <a:avLst/>
            </a:prstGeom>
            <a:noFill/>
          </p:spPr>
          <p:txBody>
            <a:bodyPr wrap="square" rtlCol="0">
              <a:spAutoFit/>
            </a:bodyPr>
            <a:lstStyle/>
            <a:p>
              <a:pPr algn="ctr"/>
              <a:r>
                <a:rPr lang="en-IN" sz="1200" dirty="0" smtClean="0"/>
                <a:t>Daily data on value of holdings</a:t>
              </a:r>
              <a:endParaRPr lang="en-IN" sz="1200" dirty="0"/>
            </a:p>
          </p:txBody>
        </p:sp>
      </p:grpSp>
      <p:grpSp>
        <p:nvGrpSpPr>
          <p:cNvPr id="59" name="Group 58"/>
          <p:cNvGrpSpPr/>
          <p:nvPr/>
        </p:nvGrpSpPr>
        <p:grpSpPr>
          <a:xfrm>
            <a:off x="9389481" y="3628003"/>
            <a:ext cx="2458294" cy="2099191"/>
            <a:chOff x="111092" y="664430"/>
            <a:chExt cx="2458294" cy="2099191"/>
          </a:xfrm>
        </p:grpSpPr>
        <p:sp>
          <p:nvSpPr>
            <p:cNvPr id="60" name="Oval 59"/>
            <p:cNvSpPr/>
            <p:nvPr/>
          </p:nvSpPr>
          <p:spPr>
            <a:xfrm>
              <a:off x="275196" y="664430"/>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TextBox 60"/>
            <p:cNvSpPr txBox="1"/>
            <p:nvPr/>
          </p:nvSpPr>
          <p:spPr>
            <a:xfrm>
              <a:off x="296537" y="833401"/>
              <a:ext cx="1950135" cy="338554"/>
            </a:xfrm>
            <a:prstGeom prst="rect">
              <a:avLst/>
            </a:prstGeom>
            <a:noFill/>
          </p:spPr>
          <p:txBody>
            <a:bodyPr wrap="square" rtlCol="0">
              <a:spAutoFit/>
            </a:bodyPr>
            <a:lstStyle/>
            <a:p>
              <a:pPr algn="ctr"/>
              <a:r>
                <a:rPr lang="en-IN" sz="1600" b="1" dirty="0" smtClean="0">
                  <a:solidFill>
                    <a:schemeClr val="accent1">
                      <a:lumMod val="50000"/>
                    </a:schemeClr>
                  </a:solidFill>
                  <a:latin typeface="Century Gothic" panose="020B0502020202020204" pitchFamily="34" charset="0"/>
                </a:rPr>
                <a:t>Digital/Social </a:t>
              </a:r>
              <a:endParaRPr lang="en-IN" sz="1600" b="1" dirty="0">
                <a:solidFill>
                  <a:schemeClr val="accent1">
                    <a:lumMod val="50000"/>
                  </a:schemeClr>
                </a:solidFill>
                <a:latin typeface="Century Gothic" panose="020B0502020202020204" pitchFamily="34" charset="0"/>
              </a:endParaRPr>
            </a:p>
          </p:txBody>
        </p:sp>
        <p:sp>
          <p:nvSpPr>
            <p:cNvPr id="62" name="TextBox 61"/>
            <p:cNvSpPr txBox="1"/>
            <p:nvPr/>
          </p:nvSpPr>
          <p:spPr>
            <a:xfrm>
              <a:off x="111092" y="2486622"/>
              <a:ext cx="2458294" cy="276999"/>
            </a:xfrm>
            <a:prstGeom prst="rect">
              <a:avLst/>
            </a:prstGeom>
            <a:noFill/>
          </p:spPr>
          <p:txBody>
            <a:bodyPr wrap="square" rtlCol="0">
              <a:spAutoFit/>
            </a:bodyPr>
            <a:lstStyle/>
            <a:p>
              <a:pPr algn="ctr"/>
              <a:r>
                <a:rPr lang="en-IN" sz="1200" dirty="0" smtClean="0">
                  <a:solidFill>
                    <a:srgbClr val="222222"/>
                  </a:solidFill>
                </a:rPr>
                <a:t>Data on digital effectiveness </a:t>
              </a:r>
              <a:endParaRPr lang="en-IN" sz="1200" dirty="0"/>
            </a:p>
          </p:txBody>
        </p:sp>
      </p:gr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275" y="4070102"/>
            <a:ext cx="1433525" cy="1254334"/>
          </a:xfrm>
          <a:prstGeom prst="ellipse">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617" y="1284500"/>
            <a:ext cx="1434063" cy="1074163"/>
          </a:xfrm>
          <a:prstGeom prst="ellipse">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13678" y="4152038"/>
            <a:ext cx="1700012" cy="722362"/>
          </a:xfrm>
          <a:prstGeom prst="rect">
            <a:avLst/>
          </a:prstGeom>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19838" y="1550083"/>
            <a:ext cx="1018506" cy="675314"/>
          </a:xfrm>
          <a:prstGeom prst="rect">
            <a:avLst/>
          </a:prstGeom>
        </p:spPr>
      </p:pic>
      <p:pic>
        <p:nvPicPr>
          <p:cNvPr id="8" name="Pictur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76695" y="1277569"/>
            <a:ext cx="1090993" cy="1038815"/>
          </a:xfrm>
          <a:prstGeom prst="rect">
            <a:avLst/>
          </a:prstGeom>
        </p:spPr>
      </p:pic>
      <p:pic>
        <p:nvPicPr>
          <p:cNvPr id="9" name="Picture 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06633" y="1424361"/>
            <a:ext cx="1120714" cy="852453"/>
          </a:xfrm>
          <a:prstGeom prst="rect">
            <a:avLst/>
          </a:prstGeom>
        </p:spPr>
      </p:pic>
      <p:pic>
        <p:nvPicPr>
          <p:cNvPr id="10" name="Picture 9"/>
          <p:cNvPicPr>
            <a:picLocks noChangeAspect="1"/>
          </p:cNvPicPr>
          <p:nvPr/>
        </p:nvPicPr>
        <p:blipFill rotWithShape="1">
          <a:blip r:embed="rId9">
            <a:extLst>
              <a:ext uri="{28A0092B-C50C-407E-A947-70E740481C1C}">
                <a14:useLocalDpi xmlns:a14="http://schemas.microsoft.com/office/drawing/2010/main" val="0"/>
              </a:ext>
            </a:extLst>
          </a:blip>
          <a:srcRect l="26298" b="21625"/>
          <a:stretch/>
        </p:blipFill>
        <p:spPr>
          <a:xfrm>
            <a:off x="9867451" y="4280992"/>
            <a:ext cx="1365083" cy="827907"/>
          </a:xfrm>
          <a:prstGeom prst="rect">
            <a:avLst/>
          </a:prstGeom>
        </p:spPr>
      </p:pic>
      <p:pic>
        <p:nvPicPr>
          <p:cNvPr id="11" name="Picture 10"/>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26875" y="4162119"/>
            <a:ext cx="1220139" cy="880009"/>
          </a:xfrm>
          <a:prstGeom prst="rect">
            <a:avLst/>
          </a:prstGeom>
        </p:spPr>
      </p:pic>
    </p:spTree>
    <p:extLst>
      <p:ext uri="{BB962C8B-B14F-4D97-AF65-F5344CB8AC3E}">
        <p14:creationId xmlns:p14="http://schemas.microsoft.com/office/powerpoint/2010/main" val="4117784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21</a:t>
            </a:fld>
            <a:endParaRPr lang="en-IN" dirty="0">
              <a:solidFill>
                <a:srgbClr val="000000">
                  <a:tint val="75000"/>
                </a:srgbClr>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024"/>
            <a:ext cx="12192000" cy="6354672"/>
          </a:xfrm>
          <a:prstGeom prst="rect">
            <a:avLst/>
          </a:prstGeom>
        </p:spPr>
      </p:pic>
      <p:sp>
        <p:nvSpPr>
          <p:cNvPr id="6" name="Rectangle 5"/>
          <p:cNvSpPr/>
          <p:nvPr/>
        </p:nvSpPr>
        <p:spPr>
          <a:xfrm>
            <a:off x="0" y="6350"/>
            <a:ext cx="8608255" cy="830997"/>
          </a:xfrm>
          <a:prstGeom prst="rect">
            <a:avLst/>
          </a:prstGeom>
        </p:spPr>
        <p:txBody>
          <a:bodyPr wrap="none">
            <a:spAutoFit/>
          </a:bodyPr>
          <a:lstStyle/>
          <a:p>
            <a:pPr algn="r"/>
            <a:r>
              <a:rPr lang="en-GB" sz="48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rPr>
              <a:t>Analytics Opportunity in Banking</a:t>
            </a:r>
            <a:endParaRPr lang="en-IN" sz="32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endParaRPr>
          </a:p>
        </p:txBody>
      </p:sp>
    </p:spTree>
    <p:extLst>
      <p:ext uri="{BB962C8B-B14F-4D97-AF65-F5344CB8AC3E}">
        <p14:creationId xmlns:p14="http://schemas.microsoft.com/office/powerpoint/2010/main" val="164295578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22</a:t>
            </a:fld>
            <a:endParaRPr lang="en-IN" dirty="0">
              <a:solidFill>
                <a:srgbClr val="000000">
                  <a:tint val="75000"/>
                </a:srgbClr>
              </a:solidFill>
            </a:endParaRPr>
          </a:p>
        </p:txBody>
      </p:sp>
      <p:grpSp>
        <p:nvGrpSpPr>
          <p:cNvPr id="24" name="Group 23"/>
          <p:cNvGrpSpPr/>
          <p:nvPr/>
        </p:nvGrpSpPr>
        <p:grpSpPr>
          <a:xfrm>
            <a:off x="3490174" y="1098736"/>
            <a:ext cx="5151549" cy="4928177"/>
            <a:chOff x="2253803" y="682580"/>
            <a:chExt cx="6387921" cy="5370091"/>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3803" y="682580"/>
              <a:ext cx="6387921" cy="5370091"/>
            </a:xfrm>
            <a:prstGeom prst="rect">
              <a:avLst/>
            </a:prstGeom>
          </p:spPr>
        </p:pic>
        <p:pic>
          <p:nvPicPr>
            <p:cNvPr id="22" name="Picture 21"/>
            <p:cNvPicPr>
              <a:picLocks noChangeAspect="1"/>
            </p:cNvPicPr>
            <p:nvPr/>
          </p:nvPicPr>
          <p:blipFill rotWithShape="1">
            <a:blip r:embed="rId3">
              <a:extLst>
                <a:ext uri="{28A0092B-C50C-407E-A947-70E740481C1C}">
                  <a14:useLocalDpi xmlns:a14="http://schemas.microsoft.com/office/drawing/2010/main" val="0"/>
                </a:ext>
              </a:extLst>
            </a:blip>
            <a:srcRect l="938" t="959" r="-938" b="34929"/>
            <a:stretch/>
          </p:blipFill>
          <p:spPr>
            <a:xfrm>
              <a:off x="4649273" y="2745904"/>
              <a:ext cx="1622738" cy="1247237"/>
            </a:xfrm>
            <a:prstGeom prst="rect">
              <a:avLst/>
            </a:prstGeom>
          </p:spPr>
        </p:pic>
      </p:grpSp>
      <p:sp>
        <p:nvSpPr>
          <p:cNvPr id="23" name="Rectangle 22"/>
          <p:cNvSpPr/>
          <p:nvPr/>
        </p:nvSpPr>
        <p:spPr>
          <a:xfrm>
            <a:off x="1822951" y="188912"/>
            <a:ext cx="7589514"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Customer Life-cycle &amp; Analytics Application</a:t>
            </a:r>
            <a:endParaRPr lang="en-IN" sz="2800" b="1" dirty="0">
              <a:solidFill>
                <a:srgbClr val="0070C0"/>
              </a:solidFill>
              <a:latin typeface="Leelawadee UI" panose="020B0502040204020203" pitchFamily="34" charset="-34"/>
              <a:cs typeface="Leelawadee UI" panose="020B0502040204020203" pitchFamily="34" charset="-34"/>
            </a:endParaRPr>
          </a:p>
        </p:txBody>
      </p:sp>
      <p:sp>
        <p:nvSpPr>
          <p:cNvPr id="25" name="TextBox 24"/>
          <p:cNvSpPr txBox="1"/>
          <p:nvPr/>
        </p:nvSpPr>
        <p:spPr>
          <a:xfrm>
            <a:off x="8706117" y="4135741"/>
            <a:ext cx="3699897" cy="2123658"/>
          </a:xfrm>
          <a:prstGeom prst="rect">
            <a:avLst/>
          </a:prstGeom>
          <a:noFill/>
        </p:spPr>
        <p:txBody>
          <a:bodyPr wrap="square" rtlCol="0">
            <a:spAutoFit/>
          </a:bodyPr>
          <a:lstStyle/>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Effective cross-sell/up-sell</a:t>
            </a:r>
          </a:p>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Customer Life-stage based targeting</a:t>
            </a:r>
          </a:p>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Next Best Product/Offer</a:t>
            </a:r>
          </a:p>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Contact Strategy</a:t>
            </a:r>
          </a:p>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Customer Channel preference</a:t>
            </a:r>
          </a:p>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 Sales Effectiveness</a:t>
            </a:r>
          </a:p>
          <a:p>
            <a:pPr marL="171450" indent="-171450">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   Customer Lifetime Value</a:t>
            </a:r>
          </a:p>
          <a:p>
            <a:pPr marL="171450" indent="-171450">
              <a:buClr>
                <a:schemeClr val="tx2">
                  <a:lumMod val="50000"/>
                </a:schemeClr>
              </a:buClr>
              <a:buFont typeface="Webdings" panose="05030102010509060703" pitchFamily="18" charset="2"/>
              <a:buChar char="4"/>
            </a:pPr>
            <a:r>
              <a:rPr lang="en-IN" sz="1200" dirty="0">
                <a:solidFill>
                  <a:schemeClr val="bg2">
                    <a:lumMod val="50000"/>
                  </a:schemeClr>
                </a:solidFill>
                <a:latin typeface="Century Gothic" panose="020B0502020202020204" pitchFamily="34" charset="0"/>
              </a:rPr>
              <a:t> </a:t>
            </a:r>
            <a:r>
              <a:rPr lang="en-IN" sz="1200" dirty="0" smtClean="0">
                <a:solidFill>
                  <a:schemeClr val="bg2">
                    <a:lumMod val="50000"/>
                  </a:schemeClr>
                </a:solidFill>
                <a:latin typeface="Century Gothic" panose="020B0502020202020204" pitchFamily="34" charset="0"/>
              </a:rPr>
              <a:t>  Customer Sentiment Analysis</a:t>
            </a:r>
            <a:endParaRPr lang="en-IN" sz="1200" dirty="0">
              <a:solidFill>
                <a:schemeClr val="bg2">
                  <a:lumMod val="50000"/>
                </a:schemeClr>
              </a:solidFill>
              <a:latin typeface="Century Gothic" panose="020B0502020202020204" pitchFamily="34" charset="0"/>
            </a:endParaRPr>
          </a:p>
        </p:txBody>
      </p:sp>
      <p:sp>
        <p:nvSpPr>
          <p:cNvPr id="26" name="Rectangle 25"/>
          <p:cNvSpPr/>
          <p:nvPr/>
        </p:nvSpPr>
        <p:spPr>
          <a:xfrm>
            <a:off x="8479224" y="991673"/>
            <a:ext cx="3562522" cy="26564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Acquisition</a:t>
            </a:r>
            <a:endParaRPr lang="en-IN" dirty="0"/>
          </a:p>
        </p:txBody>
      </p:sp>
      <p:sp>
        <p:nvSpPr>
          <p:cNvPr id="27" name="Rectangle 26"/>
          <p:cNvSpPr/>
          <p:nvPr/>
        </p:nvSpPr>
        <p:spPr>
          <a:xfrm>
            <a:off x="8475766" y="1317531"/>
            <a:ext cx="3562522" cy="128456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Rectangle 27"/>
          <p:cNvSpPr/>
          <p:nvPr/>
        </p:nvSpPr>
        <p:spPr>
          <a:xfrm>
            <a:off x="8447183" y="3908735"/>
            <a:ext cx="3562522" cy="26564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Growth</a:t>
            </a:r>
            <a:endParaRPr lang="en-IN" dirty="0"/>
          </a:p>
        </p:txBody>
      </p:sp>
      <p:sp>
        <p:nvSpPr>
          <p:cNvPr id="29" name="Rectangle 28"/>
          <p:cNvSpPr/>
          <p:nvPr/>
        </p:nvSpPr>
        <p:spPr>
          <a:xfrm>
            <a:off x="8447183" y="4220049"/>
            <a:ext cx="3562522" cy="2046748"/>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Rectangle 29"/>
          <p:cNvSpPr/>
          <p:nvPr/>
        </p:nvSpPr>
        <p:spPr>
          <a:xfrm>
            <a:off x="41690" y="858851"/>
            <a:ext cx="3562522" cy="26564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Win-back</a:t>
            </a:r>
            <a:endParaRPr lang="en-IN" dirty="0"/>
          </a:p>
        </p:txBody>
      </p:sp>
      <p:sp>
        <p:nvSpPr>
          <p:cNvPr id="31" name="Rectangle 30"/>
          <p:cNvSpPr/>
          <p:nvPr/>
        </p:nvSpPr>
        <p:spPr>
          <a:xfrm>
            <a:off x="53675" y="1163144"/>
            <a:ext cx="3562522" cy="93366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7" name="TextBox 36"/>
          <p:cNvSpPr txBox="1"/>
          <p:nvPr/>
        </p:nvSpPr>
        <p:spPr>
          <a:xfrm>
            <a:off x="8706116" y="1328429"/>
            <a:ext cx="3699897" cy="1384995"/>
          </a:xfrm>
          <a:prstGeom prst="rect">
            <a:avLst/>
          </a:prstGeom>
          <a:noFill/>
        </p:spPr>
        <p:txBody>
          <a:bodyPr wrap="square" rtlCol="0">
            <a:spAutoFit/>
          </a:bodyPr>
          <a:lstStyle/>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Prospecting</a:t>
            </a:r>
          </a:p>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Offers/Promotion</a:t>
            </a:r>
          </a:p>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On-boarding</a:t>
            </a:r>
          </a:p>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Customer Experience Management </a:t>
            </a:r>
            <a:endParaRPr lang="en-IN" sz="1200" dirty="0" smtClean="0">
              <a:solidFill>
                <a:schemeClr val="bg2">
                  <a:lumMod val="50000"/>
                </a:schemeClr>
              </a:solidFill>
              <a:latin typeface="Century Gothic" panose="020B0502020202020204" pitchFamily="34" charset="0"/>
            </a:endParaRPr>
          </a:p>
          <a:p>
            <a:pPr marL="171450" indent="-171450">
              <a:buClr>
                <a:schemeClr val="tx2">
                  <a:lumMod val="50000"/>
                </a:schemeClr>
              </a:buClr>
              <a:buFont typeface="Webdings" panose="05030102010509060703" pitchFamily="18" charset="2"/>
              <a:buChar char="4"/>
            </a:pPr>
            <a:endParaRPr lang="en-IN" sz="1200" dirty="0">
              <a:solidFill>
                <a:schemeClr val="bg2">
                  <a:lumMod val="50000"/>
                </a:schemeClr>
              </a:solidFill>
              <a:latin typeface="Century Gothic" panose="020B0502020202020204" pitchFamily="34" charset="0"/>
            </a:endParaRPr>
          </a:p>
        </p:txBody>
      </p:sp>
      <p:sp>
        <p:nvSpPr>
          <p:cNvPr id="38" name="TextBox 37"/>
          <p:cNvSpPr txBox="1"/>
          <p:nvPr/>
        </p:nvSpPr>
        <p:spPr>
          <a:xfrm>
            <a:off x="103532" y="1173479"/>
            <a:ext cx="3699897" cy="923330"/>
          </a:xfrm>
          <a:prstGeom prst="rect">
            <a:avLst/>
          </a:prstGeom>
          <a:noFill/>
        </p:spPr>
        <p:txBody>
          <a:bodyPr wrap="square" rtlCol="0">
            <a:spAutoFit/>
          </a:bodyPr>
          <a:lstStyle/>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Win-back strategy</a:t>
            </a:r>
          </a:p>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Win back offers/promotions</a:t>
            </a:r>
          </a:p>
          <a:p>
            <a:pPr>
              <a:lnSpc>
                <a:spcPct val="150000"/>
              </a:lnSpc>
              <a:buClr>
                <a:schemeClr val="tx2">
                  <a:lumMod val="50000"/>
                </a:schemeClr>
              </a:buClr>
            </a:pPr>
            <a:endParaRPr lang="en-IN" sz="1200" dirty="0" smtClean="0">
              <a:solidFill>
                <a:schemeClr val="bg2">
                  <a:lumMod val="50000"/>
                </a:schemeClr>
              </a:solidFill>
              <a:latin typeface="Century Gothic" panose="020B0502020202020204" pitchFamily="34" charset="0"/>
            </a:endParaRPr>
          </a:p>
        </p:txBody>
      </p:sp>
      <p:sp>
        <p:nvSpPr>
          <p:cNvPr id="39" name="Rectangle 38"/>
          <p:cNvSpPr/>
          <p:nvPr/>
        </p:nvSpPr>
        <p:spPr>
          <a:xfrm>
            <a:off x="66554" y="3870098"/>
            <a:ext cx="3562522" cy="26564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Retention</a:t>
            </a:r>
            <a:endParaRPr lang="en-IN" dirty="0"/>
          </a:p>
        </p:txBody>
      </p:sp>
      <p:sp>
        <p:nvSpPr>
          <p:cNvPr id="40" name="Rectangle 39"/>
          <p:cNvSpPr/>
          <p:nvPr/>
        </p:nvSpPr>
        <p:spPr>
          <a:xfrm>
            <a:off x="81909" y="4163908"/>
            <a:ext cx="3562522" cy="144943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1" name="TextBox 40"/>
          <p:cNvSpPr txBox="1"/>
          <p:nvPr/>
        </p:nvSpPr>
        <p:spPr>
          <a:xfrm>
            <a:off x="128396" y="4184726"/>
            <a:ext cx="3699897" cy="1200329"/>
          </a:xfrm>
          <a:prstGeom prst="rect">
            <a:avLst/>
          </a:prstGeom>
          <a:noFill/>
        </p:spPr>
        <p:txBody>
          <a:bodyPr wrap="square" rtlCol="0">
            <a:spAutoFit/>
          </a:bodyPr>
          <a:lstStyle/>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Proactive/Reactive Retention</a:t>
            </a:r>
          </a:p>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Attrition/Churn Analysis</a:t>
            </a:r>
          </a:p>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Preferential Pricing for retention</a:t>
            </a:r>
          </a:p>
          <a:p>
            <a:pPr marL="285750" indent="-285750">
              <a:lnSpc>
                <a:spcPct val="150000"/>
              </a:lnSpc>
              <a:buClr>
                <a:schemeClr val="tx2">
                  <a:lumMod val="50000"/>
                </a:schemeClr>
              </a:buClr>
              <a:buFont typeface="Webdings" panose="05030102010509060703" pitchFamily="18" charset="2"/>
              <a:buChar char="4"/>
            </a:pPr>
            <a:r>
              <a:rPr lang="en-IN" sz="1200" dirty="0" smtClean="0">
                <a:solidFill>
                  <a:schemeClr val="bg2">
                    <a:lumMod val="50000"/>
                  </a:schemeClr>
                </a:solidFill>
                <a:latin typeface="Century Gothic" panose="020B0502020202020204" pitchFamily="34" charset="0"/>
              </a:rPr>
              <a:t>Top-up framework for non sticky products</a:t>
            </a:r>
          </a:p>
        </p:txBody>
      </p:sp>
    </p:spTree>
    <p:extLst>
      <p:ext uri="{BB962C8B-B14F-4D97-AF65-F5344CB8AC3E}">
        <p14:creationId xmlns:p14="http://schemas.microsoft.com/office/powerpoint/2010/main" val="7239144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23</a:t>
            </a:fld>
            <a:endParaRPr lang="en-IN" dirty="0">
              <a:solidFill>
                <a:srgbClr val="000000">
                  <a:tint val="75000"/>
                </a:srgbClr>
              </a:solidFill>
            </a:endParaRP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r="40967"/>
          <a:stretch/>
        </p:blipFill>
        <p:spPr>
          <a:xfrm>
            <a:off x="1" y="6351"/>
            <a:ext cx="12192000" cy="6291418"/>
          </a:xfrm>
          <a:prstGeom prst="rect">
            <a:avLst/>
          </a:prstGeom>
        </p:spPr>
      </p:pic>
      <p:sp>
        <p:nvSpPr>
          <p:cNvPr id="5" name="Rectangle 4"/>
          <p:cNvSpPr/>
          <p:nvPr/>
        </p:nvSpPr>
        <p:spPr>
          <a:xfrm>
            <a:off x="303688" y="32108"/>
            <a:ext cx="4921412" cy="830997"/>
          </a:xfrm>
          <a:prstGeom prst="rect">
            <a:avLst/>
          </a:prstGeom>
        </p:spPr>
        <p:txBody>
          <a:bodyPr wrap="none">
            <a:spAutoFit/>
          </a:bodyPr>
          <a:lstStyle/>
          <a:p>
            <a:pPr algn="r"/>
            <a:r>
              <a:rPr lang="en-GB" sz="4800" b="1" dirty="0" smtClean="0">
                <a:solidFill>
                  <a:schemeClr val="accent1">
                    <a:lumMod val="50000"/>
                  </a:schemeClr>
                </a:solidFill>
                <a:effectLst>
                  <a:outerShdw blurRad="38100" dist="38100" dir="2700000" algn="tl">
                    <a:srgbClr val="000000">
                      <a:alpha val="43137"/>
                    </a:srgbClr>
                  </a:outerShdw>
                </a:effectLst>
                <a:latin typeface="Calibri" charset="0"/>
                <a:ea typeface="Calibri" charset="0"/>
                <a:cs typeface="Calibri" charset="0"/>
              </a:rPr>
              <a:t>Insurance Industry</a:t>
            </a:r>
            <a:endParaRPr lang="en-IN" sz="3200" b="1" dirty="0" smtClean="0">
              <a:solidFill>
                <a:schemeClr val="accent1">
                  <a:lumMod val="50000"/>
                </a:schemeClr>
              </a:solidFill>
              <a:effectLst>
                <a:outerShdw blurRad="38100" dist="38100" dir="2700000" algn="tl">
                  <a:srgbClr val="000000">
                    <a:alpha val="43137"/>
                  </a:srgbClr>
                </a:outerShdw>
              </a:effectLst>
              <a:latin typeface="Calibri" charset="0"/>
              <a:ea typeface="Calibri" charset="0"/>
              <a:cs typeface="Calibri" charset="0"/>
            </a:endParaRPr>
          </a:p>
        </p:txBody>
      </p:sp>
    </p:spTree>
    <p:extLst>
      <p:ext uri="{BB962C8B-B14F-4D97-AF65-F5344CB8AC3E}">
        <p14:creationId xmlns:p14="http://schemas.microsoft.com/office/powerpoint/2010/main" val="35754328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175523" y="291779"/>
              <a:ext cx="3841116"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Insurance Institutions</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0" name="TextBox 49"/>
          <p:cNvSpPr txBox="1"/>
          <p:nvPr/>
        </p:nvSpPr>
        <p:spPr>
          <a:xfrm>
            <a:off x="5109845" y="71295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Financial Institutions</a:t>
            </a:r>
            <a:endParaRPr lang="en-IN" dirty="0">
              <a:solidFill>
                <a:schemeClr val="bg1"/>
              </a:solidFill>
              <a:latin typeface="Century Gothic" panose="020B0502020202020204" pitchFamily="34" charset="0"/>
            </a:endParaRPr>
          </a:p>
        </p:txBody>
      </p:sp>
      <p:sp>
        <p:nvSpPr>
          <p:cNvPr id="13" name="Rectangle 12"/>
          <p:cNvSpPr/>
          <p:nvPr/>
        </p:nvSpPr>
        <p:spPr>
          <a:xfrm>
            <a:off x="103032" y="883055"/>
            <a:ext cx="11925836" cy="769441"/>
          </a:xfrm>
          <a:prstGeom prst="rect">
            <a:avLst/>
          </a:prstGeom>
        </p:spPr>
        <p:txBody>
          <a:bodyPr wrap="square">
            <a:spAutoFit/>
          </a:bodyPr>
          <a:lstStyle/>
          <a:p>
            <a:r>
              <a:rPr lang="en-IN" sz="2400" b="1" dirty="0" smtClean="0">
                <a:solidFill>
                  <a:srgbClr val="4E67C8"/>
                </a:solidFill>
              </a:rPr>
              <a:t>Insurance </a:t>
            </a:r>
            <a:r>
              <a:rPr lang="en-IN" sz="2000" dirty="0" smtClean="0"/>
              <a:t>is an arrangement </a:t>
            </a:r>
            <a:r>
              <a:rPr lang="en-IN" sz="2000" dirty="0"/>
              <a:t>by which a company or the state undertakes to provide a guarantee of compensation for specified loss, damage, illness, or death in return for payment of a specified premium.</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2131" y="1775265"/>
            <a:ext cx="4854508" cy="1972144"/>
          </a:xfrm>
          <a:prstGeom prst="rect">
            <a:avLst/>
          </a:prstGeom>
        </p:spPr>
      </p:pic>
      <p:sp>
        <p:nvSpPr>
          <p:cNvPr id="15" name="TextBox 14"/>
          <p:cNvSpPr txBox="1"/>
          <p:nvPr/>
        </p:nvSpPr>
        <p:spPr>
          <a:xfrm>
            <a:off x="2458407" y="4451846"/>
            <a:ext cx="7018986" cy="923330"/>
          </a:xfrm>
          <a:prstGeom prst="rect">
            <a:avLst/>
          </a:prstGeom>
          <a:noFill/>
        </p:spPr>
        <p:txBody>
          <a:bodyPr wrap="square" rtlCol="0">
            <a:spAutoFit/>
          </a:bodyPr>
          <a:lstStyle/>
          <a:p>
            <a:r>
              <a:rPr lang="en-IN" dirty="0" smtClean="0"/>
              <a:t>1.  Degree of uncertainty associated with any loss cannot be quantified</a:t>
            </a:r>
          </a:p>
          <a:p>
            <a:r>
              <a:rPr lang="en-IN" dirty="0" smtClean="0"/>
              <a:t>2.  Accuracies in predicting uncertainty</a:t>
            </a:r>
          </a:p>
          <a:p>
            <a:r>
              <a:rPr lang="en-IN" dirty="0" smtClean="0"/>
              <a:t>3.  Ensure your dependants are taken care of in your absence</a:t>
            </a:r>
            <a:endParaRPr lang="en-IN" dirty="0"/>
          </a:p>
        </p:txBody>
      </p:sp>
      <p:sp>
        <p:nvSpPr>
          <p:cNvPr id="16" name="TextBox 15"/>
          <p:cNvSpPr txBox="1"/>
          <p:nvPr/>
        </p:nvSpPr>
        <p:spPr>
          <a:xfrm>
            <a:off x="3576033" y="3990181"/>
            <a:ext cx="5950040" cy="461665"/>
          </a:xfrm>
          <a:prstGeom prst="rect">
            <a:avLst/>
          </a:prstGeom>
          <a:noFill/>
        </p:spPr>
        <p:txBody>
          <a:bodyPr wrap="square" rtlCol="0">
            <a:spAutoFit/>
          </a:bodyPr>
          <a:lstStyle/>
          <a:p>
            <a:r>
              <a:rPr lang="en-IN" sz="2400" b="1" dirty="0" smtClean="0">
                <a:solidFill>
                  <a:srgbClr val="4E67C8"/>
                </a:solidFill>
              </a:rPr>
              <a:t>Why do we need insurance?</a:t>
            </a:r>
            <a:endParaRPr lang="en-IN" sz="2400" b="1" dirty="0">
              <a:solidFill>
                <a:srgbClr val="4E67C8"/>
              </a:solidFill>
            </a:endParaRPr>
          </a:p>
        </p:txBody>
      </p:sp>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70523" y="5536688"/>
            <a:ext cx="1905000" cy="542925"/>
          </a:xfrm>
          <a:prstGeom prst="rect">
            <a:avLst/>
          </a:prstGeom>
        </p:spPr>
      </p:pic>
      <p:pic>
        <p:nvPicPr>
          <p:cNvPr id="18" name="Picture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10914" y="5475901"/>
            <a:ext cx="1144470" cy="627003"/>
          </a:xfrm>
          <a:prstGeom prst="rect">
            <a:avLst/>
          </a:prstGeom>
        </p:spPr>
      </p:pic>
      <p:pic>
        <p:nvPicPr>
          <p:cNvPr id="19" name="Picture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16639" y="5536688"/>
            <a:ext cx="1923532" cy="360198"/>
          </a:xfrm>
          <a:prstGeom prst="rect">
            <a:avLst/>
          </a:prstGeom>
        </p:spPr>
      </p:pic>
      <p:pic>
        <p:nvPicPr>
          <p:cNvPr id="20" name="Picture 1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56047" y="5335527"/>
            <a:ext cx="1372821" cy="749633"/>
          </a:xfrm>
          <a:prstGeom prst="rect">
            <a:avLst/>
          </a:prstGeom>
        </p:spPr>
      </p:pic>
      <p:pic>
        <p:nvPicPr>
          <p:cNvPr id="21" name="Picture 2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2570" y="5425559"/>
            <a:ext cx="771083" cy="727689"/>
          </a:xfrm>
          <a:prstGeom prst="rect">
            <a:avLst/>
          </a:prstGeom>
        </p:spPr>
      </p:pic>
    </p:spTree>
    <p:extLst>
      <p:ext uri="{BB962C8B-B14F-4D97-AF65-F5344CB8AC3E}">
        <p14:creationId xmlns:p14="http://schemas.microsoft.com/office/powerpoint/2010/main" val="5014846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Oval 76"/>
          <p:cNvSpPr/>
          <p:nvPr/>
        </p:nvSpPr>
        <p:spPr>
          <a:xfrm>
            <a:off x="1512742" y="3669363"/>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p:cNvSpPr/>
          <p:nvPr/>
        </p:nvSpPr>
        <p:spPr>
          <a:xfrm>
            <a:off x="8003801" y="3644416"/>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Oval 74"/>
          <p:cNvSpPr/>
          <p:nvPr/>
        </p:nvSpPr>
        <p:spPr>
          <a:xfrm>
            <a:off x="4861185" y="3695760"/>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Oval 69"/>
          <p:cNvSpPr/>
          <p:nvPr/>
        </p:nvSpPr>
        <p:spPr>
          <a:xfrm>
            <a:off x="9668620" y="880456"/>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Oval 59"/>
          <p:cNvSpPr/>
          <p:nvPr/>
        </p:nvSpPr>
        <p:spPr>
          <a:xfrm>
            <a:off x="3399307" y="876594"/>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3788399" y="291779"/>
              <a:ext cx="4615366"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Insurance: Basic  Concepts</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0" name="TextBox 49"/>
          <p:cNvSpPr txBox="1"/>
          <p:nvPr/>
        </p:nvSpPr>
        <p:spPr>
          <a:xfrm>
            <a:off x="5109845" y="71295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Financial Institutions</a:t>
            </a:r>
            <a:endParaRPr lang="en-IN" dirty="0">
              <a:solidFill>
                <a:schemeClr val="bg1"/>
              </a:solidFill>
              <a:latin typeface="Century Gothic" panose="020B0502020202020204" pitchFamily="34" charset="0"/>
            </a:endParaRPr>
          </a:p>
        </p:txBody>
      </p:sp>
      <p:sp>
        <p:nvSpPr>
          <p:cNvPr id="29" name="TextBox 28"/>
          <p:cNvSpPr txBox="1"/>
          <p:nvPr/>
        </p:nvSpPr>
        <p:spPr>
          <a:xfrm>
            <a:off x="6367356" y="2886841"/>
            <a:ext cx="2458294" cy="461665"/>
          </a:xfrm>
          <a:prstGeom prst="rect">
            <a:avLst/>
          </a:prstGeom>
          <a:noFill/>
        </p:spPr>
        <p:txBody>
          <a:bodyPr wrap="square" rtlCol="0">
            <a:spAutoFit/>
          </a:bodyPr>
          <a:lstStyle/>
          <a:p>
            <a:pPr algn="ctr"/>
            <a:r>
              <a:rPr lang="en-IN" sz="1200" dirty="0" smtClean="0"/>
              <a:t>Person/organization </a:t>
            </a:r>
            <a:r>
              <a:rPr lang="en-IN" sz="1200" dirty="0"/>
              <a:t>covered by </a:t>
            </a:r>
            <a:r>
              <a:rPr lang="en-IN" sz="1200" dirty="0" smtClean="0"/>
              <a:t>insurance</a:t>
            </a:r>
            <a:endParaRPr lang="en-IN" sz="1200" dirty="0"/>
          </a:p>
        </p:txBody>
      </p:sp>
      <p:grpSp>
        <p:nvGrpSpPr>
          <p:cNvPr id="39" name="Group 38"/>
          <p:cNvGrpSpPr/>
          <p:nvPr/>
        </p:nvGrpSpPr>
        <p:grpSpPr>
          <a:xfrm>
            <a:off x="3155898" y="1067311"/>
            <a:ext cx="2458294" cy="2603584"/>
            <a:chOff x="94699" y="854307"/>
            <a:chExt cx="2458294" cy="2603584"/>
          </a:xfrm>
        </p:grpSpPr>
        <p:sp>
          <p:nvSpPr>
            <p:cNvPr id="41" name="TextBox 40"/>
            <p:cNvSpPr txBox="1"/>
            <p:nvPr/>
          </p:nvSpPr>
          <p:spPr>
            <a:xfrm>
              <a:off x="356401" y="854307"/>
              <a:ext cx="1950135" cy="369332"/>
            </a:xfrm>
            <a:prstGeom prst="rect">
              <a:avLst/>
            </a:prstGeom>
            <a:noFill/>
          </p:spPr>
          <p:txBody>
            <a:bodyPr wrap="square" rtlCol="0">
              <a:spAutoFit/>
            </a:bodyPr>
            <a:lstStyle/>
            <a:p>
              <a:pPr algn="ctr"/>
              <a:r>
                <a:rPr lang="en-IN" dirty="0" smtClean="0">
                  <a:latin typeface="Century Gothic" panose="020B0502020202020204" pitchFamily="34" charset="0"/>
                </a:rPr>
                <a:t>Underwriting</a:t>
              </a:r>
              <a:endParaRPr lang="en-IN" dirty="0">
                <a:latin typeface="Century Gothic" panose="020B0502020202020204" pitchFamily="34" charset="0"/>
              </a:endParaRPr>
            </a:p>
          </p:txBody>
        </p:sp>
        <p:sp>
          <p:nvSpPr>
            <p:cNvPr id="42" name="TextBox 41"/>
            <p:cNvSpPr txBox="1"/>
            <p:nvPr/>
          </p:nvSpPr>
          <p:spPr>
            <a:xfrm>
              <a:off x="94699" y="2626894"/>
              <a:ext cx="2458294" cy="830997"/>
            </a:xfrm>
            <a:prstGeom prst="rect">
              <a:avLst/>
            </a:prstGeom>
            <a:noFill/>
          </p:spPr>
          <p:txBody>
            <a:bodyPr wrap="square" rtlCol="0">
              <a:spAutoFit/>
            </a:bodyPr>
            <a:lstStyle/>
            <a:p>
              <a:pPr algn="ctr"/>
              <a:r>
                <a:rPr lang="en-IN" sz="1200" dirty="0" smtClean="0"/>
                <a:t>Sign </a:t>
              </a:r>
              <a:r>
                <a:rPr lang="en-IN" sz="1200" dirty="0"/>
                <a:t>and accept liability under (an insurance policy), thus guaranteeing payment in case loss or damage occurs.</a:t>
              </a:r>
            </a:p>
          </p:txBody>
        </p:sp>
      </p:grpSp>
      <p:grpSp>
        <p:nvGrpSpPr>
          <p:cNvPr id="43" name="Group 42"/>
          <p:cNvGrpSpPr/>
          <p:nvPr/>
        </p:nvGrpSpPr>
        <p:grpSpPr>
          <a:xfrm>
            <a:off x="263492" y="816830"/>
            <a:ext cx="2458294" cy="2653189"/>
            <a:chOff x="111092" y="664430"/>
            <a:chExt cx="2458294" cy="2653189"/>
          </a:xfrm>
        </p:grpSpPr>
        <p:sp>
          <p:nvSpPr>
            <p:cNvPr id="44" name="Oval 43"/>
            <p:cNvSpPr/>
            <p:nvPr/>
          </p:nvSpPr>
          <p:spPr>
            <a:xfrm>
              <a:off x="275196" y="664430"/>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p:cNvSpPr txBox="1"/>
            <p:nvPr/>
          </p:nvSpPr>
          <p:spPr>
            <a:xfrm>
              <a:off x="301996" y="816654"/>
              <a:ext cx="1950135" cy="369332"/>
            </a:xfrm>
            <a:prstGeom prst="rect">
              <a:avLst/>
            </a:prstGeom>
            <a:noFill/>
          </p:spPr>
          <p:txBody>
            <a:bodyPr wrap="square" rtlCol="0">
              <a:spAutoFit/>
            </a:bodyPr>
            <a:lstStyle/>
            <a:p>
              <a:pPr algn="ctr"/>
              <a:r>
                <a:rPr lang="en-IN" dirty="0" smtClean="0">
                  <a:latin typeface="Century Gothic" panose="020B0502020202020204" pitchFamily="34" charset="0"/>
                </a:rPr>
                <a:t>Insurer</a:t>
              </a:r>
              <a:endParaRPr lang="en-IN" dirty="0">
                <a:latin typeface="Century Gothic" panose="020B0502020202020204" pitchFamily="34" charset="0"/>
              </a:endParaRPr>
            </a:p>
          </p:txBody>
        </p:sp>
        <p:sp>
          <p:nvSpPr>
            <p:cNvPr id="46" name="TextBox 45"/>
            <p:cNvSpPr txBox="1"/>
            <p:nvPr/>
          </p:nvSpPr>
          <p:spPr>
            <a:xfrm>
              <a:off x="111092" y="2486622"/>
              <a:ext cx="2458294" cy="830997"/>
            </a:xfrm>
            <a:prstGeom prst="rect">
              <a:avLst/>
            </a:prstGeom>
            <a:noFill/>
          </p:spPr>
          <p:txBody>
            <a:bodyPr wrap="square" rtlCol="0">
              <a:spAutoFit/>
            </a:bodyPr>
            <a:lstStyle/>
            <a:p>
              <a:pPr algn="ctr"/>
              <a:r>
                <a:rPr lang="en-IN" sz="1200" dirty="0" smtClean="0">
                  <a:solidFill>
                    <a:srgbClr val="222222"/>
                  </a:solidFill>
                </a:rPr>
                <a:t>Person/company </a:t>
              </a:r>
              <a:r>
                <a:rPr lang="en-IN" sz="1200" dirty="0">
                  <a:solidFill>
                    <a:srgbClr val="222222"/>
                  </a:solidFill>
                </a:rPr>
                <a:t>that underwrites an insurance risk; the party in an insurance contract undertaking to pay compensation</a:t>
              </a:r>
              <a:endParaRPr lang="en-IN" sz="1200" dirty="0"/>
            </a:p>
          </p:txBody>
        </p:sp>
      </p:grpSp>
      <p:grpSp>
        <p:nvGrpSpPr>
          <p:cNvPr id="47" name="Group 46"/>
          <p:cNvGrpSpPr/>
          <p:nvPr/>
        </p:nvGrpSpPr>
        <p:grpSpPr>
          <a:xfrm>
            <a:off x="7240719" y="3783810"/>
            <a:ext cx="4302562" cy="2393909"/>
            <a:chOff x="-4409669" y="855512"/>
            <a:chExt cx="4302562" cy="2393909"/>
          </a:xfrm>
        </p:grpSpPr>
        <p:sp>
          <p:nvSpPr>
            <p:cNvPr id="49" name="TextBox 48"/>
            <p:cNvSpPr txBox="1"/>
            <p:nvPr/>
          </p:nvSpPr>
          <p:spPr>
            <a:xfrm>
              <a:off x="-3646587" y="855512"/>
              <a:ext cx="1950135" cy="369332"/>
            </a:xfrm>
            <a:prstGeom prst="rect">
              <a:avLst/>
            </a:prstGeom>
            <a:noFill/>
          </p:spPr>
          <p:txBody>
            <a:bodyPr wrap="square" rtlCol="0">
              <a:spAutoFit/>
            </a:bodyPr>
            <a:lstStyle/>
            <a:p>
              <a:pPr algn="ctr"/>
              <a:r>
                <a:rPr lang="en-IN" dirty="0" smtClean="0">
                  <a:latin typeface="Century Gothic" panose="020B0502020202020204" pitchFamily="34" charset="0"/>
                </a:rPr>
                <a:t>Premium</a:t>
              </a:r>
              <a:endParaRPr lang="en-IN" dirty="0">
                <a:latin typeface="Century Gothic" panose="020B0502020202020204" pitchFamily="34" charset="0"/>
              </a:endParaRPr>
            </a:p>
          </p:txBody>
        </p:sp>
        <p:sp>
          <p:nvSpPr>
            <p:cNvPr id="51" name="TextBox 50"/>
            <p:cNvSpPr txBox="1"/>
            <p:nvPr/>
          </p:nvSpPr>
          <p:spPr>
            <a:xfrm>
              <a:off x="-4409669" y="2418424"/>
              <a:ext cx="4302562" cy="830997"/>
            </a:xfrm>
            <a:prstGeom prst="rect">
              <a:avLst/>
            </a:prstGeom>
            <a:noFill/>
          </p:spPr>
          <p:txBody>
            <a:bodyPr wrap="square" rtlCol="0">
              <a:spAutoFit/>
            </a:bodyPr>
            <a:lstStyle/>
            <a:p>
              <a:pPr algn="ctr"/>
              <a:r>
                <a:rPr lang="en-IN" sz="1200" dirty="0" smtClean="0"/>
                <a:t>Premium</a:t>
              </a:r>
              <a:r>
                <a:rPr lang="en-IN" sz="1200" dirty="0"/>
                <a:t> is the amount of money that an </a:t>
              </a:r>
              <a:r>
                <a:rPr lang="en-IN" sz="1200" dirty="0" smtClean="0"/>
                <a:t>individual/business </a:t>
              </a:r>
              <a:r>
                <a:rPr lang="en-IN" sz="1200" dirty="0"/>
                <a:t>must pay for an </a:t>
              </a:r>
              <a:r>
                <a:rPr lang="en-IN" sz="1200" dirty="0" smtClean="0"/>
                <a:t>policy</a:t>
              </a:r>
              <a:r>
                <a:rPr lang="en-IN" sz="1200" dirty="0"/>
                <a:t>. </a:t>
              </a:r>
              <a:r>
                <a:rPr lang="en-IN" sz="1200" dirty="0" smtClean="0"/>
                <a:t>The premium</a:t>
              </a:r>
              <a:r>
                <a:rPr lang="en-IN" sz="1200" dirty="0"/>
                <a:t> is considered income by the </a:t>
              </a:r>
              <a:r>
                <a:rPr lang="en-IN" sz="1200" dirty="0" smtClean="0"/>
                <a:t>insurance company  &amp; also </a:t>
              </a:r>
              <a:r>
                <a:rPr lang="en-IN" sz="1200" dirty="0"/>
                <a:t>represents a liability </a:t>
              </a:r>
              <a:r>
                <a:rPr lang="en-IN" sz="1200" dirty="0" smtClean="0"/>
                <a:t>that insurer </a:t>
              </a:r>
              <a:r>
                <a:rPr lang="en-IN" sz="1200" dirty="0"/>
                <a:t>must provide coverage for claims being made against the </a:t>
              </a:r>
              <a:r>
                <a:rPr lang="en-IN" sz="1200" dirty="0" smtClean="0"/>
                <a:t>policy</a:t>
              </a:r>
              <a:endParaRPr lang="en-IN" sz="1200" dirty="0"/>
            </a:p>
          </p:txBody>
        </p:sp>
      </p:grpSp>
      <p:grpSp>
        <p:nvGrpSpPr>
          <p:cNvPr id="52" name="Group 51"/>
          <p:cNvGrpSpPr/>
          <p:nvPr/>
        </p:nvGrpSpPr>
        <p:grpSpPr>
          <a:xfrm>
            <a:off x="9425211" y="996649"/>
            <a:ext cx="2458294" cy="2674969"/>
            <a:chOff x="-59830" y="892949"/>
            <a:chExt cx="2458294" cy="2674969"/>
          </a:xfrm>
        </p:grpSpPr>
        <p:sp>
          <p:nvSpPr>
            <p:cNvPr id="55" name="TextBox 54"/>
            <p:cNvSpPr txBox="1"/>
            <p:nvPr/>
          </p:nvSpPr>
          <p:spPr>
            <a:xfrm>
              <a:off x="-59830" y="2552255"/>
              <a:ext cx="2458294" cy="1015663"/>
            </a:xfrm>
            <a:prstGeom prst="rect">
              <a:avLst/>
            </a:prstGeom>
            <a:noFill/>
          </p:spPr>
          <p:txBody>
            <a:bodyPr wrap="square" rtlCol="0">
              <a:spAutoFit/>
            </a:bodyPr>
            <a:lstStyle/>
            <a:p>
              <a:pPr algn="ctr"/>
              <a:r>
                <a:rPr lang="en-IN" sz="1200" dirty="0">
                  <a:solidFill>
                    <a:srgbClr val="222222"/>
                  </a:solidFill>
                </a:rPr>
                <a:t>Insurance Regulatory and Development Authority of India, an agency of Government </a:t>
              </a:r>
              <a:r>
                <a:rPr lang="en-IN" sz="1200" dirty="0" smtClean="0">
                  <a:solidFill>
                    <a:srgbClr val="222222"/>
                  </a:solidFill>
                </a:rPr>
                <a:t> </a:t>
              </a:r>
              <a:r>
                <a:rPr lang="en-IN" sz="1200" dirty="0">
                  <a:solidFill>
                    <a:srgbClr val="222222"/>
                  </a:solidFill>
                </a:rPr>
                <a:t>for insurance sector </a:t>
              </a:r>
              <a:r>
                <a:rPr lang="en-IN" sz="1200" dirty="0" smtClean="0">
                  <a:solidFill>
                    <a:srgbClr val="222222"/>
                  </a:solidFill>
                </a:rPr>
                <a:t>supervision &amp; </a:t>
              </a:r>
              <a:r>
                <a:rPr lang="en-IN" sz="1200" dirty="0">
                  <a:solidFill>
                    <a:srgbClr val="222222"/>
                  </a:solidFill>
                </a:rPr>
                <a:t>development.</a:t>
              </a:r>
              <a:endParaRPr lang="en-IN" sz="1200" dirty="0"/>
            </a:p>
          </p:txBody>
        </p:sp>
        <p:sp>
          <p:nvSpPr>
            <p:cNvPr id="54" name="TextBox 53"/>
            <p:cNvSpPr txBox="1"/>
            <p:nvPr/>
          </p:nvSpPr>
          <p:spPr>
            <a:xfrm>
              <a:off x="207128" y="892949"/>
              <a:ext cx="1950135" cy="369332"/>
            </a:xfrm>
            <a:prstGeom prst="rect">
              <a:avLst/>
            </a:prstGeom>
            <a:noFill/>
          </p:spPr>
          <p:txBody>
            <a:bodyPr wrap="square" rtlCol="0">
              <a:spAutoFit/>
            </a:bodyPr>
            <a:lstStyle/>
            <a:p>
              <a:pPr algn="ctr"/>
              <a:r>
                <a:rPr lang="en-IN" dirty="0" smtClean="0">
                  <a:latin typeface="Century Gothic" panose="020B0502020202020204" pitchFamily="34" charset="0"/>
                </a:rPr>
                <a:t>IRDA</a:t>
              </a:r>
              <a:endParaRPr lang="en-IN" dirty="0">
                <a:latin typeface="Century Gothic" panose="020B0502020202020204" pitchFamily="34" charset="0"/>
              </a:endParaRPr>
            </a:p>
          </p:txBody>
        </p:sp>
      </p:grpSp>
      <p:sp>
        <p:nvSpPr>
          <p:cNvPr id="58" name="TextBox 57"/>
          <p:cNvSpPr txBox="1"/>
          <p:nvPr/>
        </p:nvSpPr>
        <p:spPr>
          <a:xfrm>
            <a:off x="1568371" y="3897563"/>
            <a:ext cx="1950135" cy="369332"/>
          </a:xfrm>
          <a:prstGeom prst="rect">
            <a:avLst/>
          </a:prstGeom>
          <a:noFill/>
        </p:spPr>
        <p:txBody>
          <a:bodyPr wrap="square" rtlCol="0">
            <a:spAutoFit/>
          </a:bodyPr>
          <a:lstStyle/>
          <a:p>
            <a:pPr algn="ctr"/>
            <a:r>
              <a:rPr lang="en-IN" dirty="0" smtClean="0">
                <a:latin typeface="Century Gothic" panose="020B0502020202020204" pitchFamily="34" charset="0"/>
              </a:rPr>
              <a:t>Sum Assured</a:t>
            </a:r>
            <a:endParaRPr lang="en-IN" dirty="0">
              <a:latin typeface="Century Gothic" panose="020B0502020202020204" pitchFamily="34" charset="0"/>
            </a:endParaRPr>
          </a:p>
        </p:txBody>
      </p:sp>
      <p:sp>
        <p:nvSpPr>
          <p:cNvPr id="59" name="TextBox 58"/>
          <p:cNvSpPr txBox="1"/>
          <p:nvPr/>
        </p:nvSpPr>
        <p:spPr>
          <a:xfrm>
            <a:off x="4680952" y="5575493"/>
            <a:ext cx="2458294" cy="646331"/>
          </a:xfrm>
          <a:prstGeom prst="rect">
            <a:avLst/>
          </a:prstGeom>
          <a:noFill/>
        </p:spPr>
        <p:txBody>
          <a:bodyPr wrap="square" rtlCol="0">
            <a:spAutoFit/>
          </a:bodyPr>
          <a:lstStyle/>
          <a:p>
            <a:pPr algn="ctr"/>
            <a:r>
              <a:rPr lang="en-IN" sz="1200" dirty="0" smtClean="0"/>
              <a:t>Document </a:t>
            </a:r>
            <a:r>
              <a:rPr lang="en-IN" sz="1200" dirty="0"/>
              <a:t>detailing the terms and conditions of a contract of insurance.</a:t>
            </a:r>
          </a:p>
        </p:txBody>
      </p:sp>
      <p:sp>
        <p:nvSpPr>
          <p:cNvPr id="66" name="Oval 65"/>
          <p:cNvSpPr/>
          <p:nvPr/>
        </p:nvSpPr>
        <p:spPr>
          <a:xfrm>
            <a:off x="6604006" y="925962"/>
            <a:ext cx="1971476" cy="1725026"/>
          </a:xfrm>
          <a:prstGeom prst="ellipse">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TextBox 67"/>
          <p:cNvSpPr txBox="1"/>
          <p:nvPr/>
        </p:nvSpPr>
        <p:spPr>
          <a:xfrm>
            <a:off x="6634315" y="1036106"/>
            <a:ext cx="1950135" cy="369332"/>
          </a:xfrm>
          <a:prstGeom prst="rect">
            <a:avLst/>
          </a:prstGeom>
          <a:noFill/>
        </p:spPr>
        <p:txBody>
          <a:bodyPr wrap="square" rtlCol="0">
            <a:spAutoFit/>
          </a:bodyPr>
          <a:lstStyle/>
          <a:p>
            <a:pPr algn="ctr"/>
            <a:r>
              <a:rPr lang="en-IN" dirty="0" smtClean="0">
                <a:latin typeface="Century Gothic" panose="020B0502020202020204" pitchFamily="34" charset="0"/>
              </a:rPr>
              <a:t>Insured</a:t>
            </a:r>
            <a:endParaRPr lang="en-IN" dirty="0">
              <a:latin typeface="Century Gothic" panose="020B0502020202020204" pitchFamily="34" charset="0"/>
            </a:endParaRPr>
          </a:p>
        </p:txBody>
      </p:sp>
      <p:sp>
        <p:nvSpPr>
          <p:cNvPr id="78" name="TextBox 77"/>
          <p:cNvSpPr txBox="1"/>
          <p:nvPr/>
        </p:nvSpPr>
        <p:spPr>
          <a:xfrm>
            <a:off x="637818" y="5483084"/>
            <a:ext cx="3483677" cy="830997"/>
          </a:xfrm>
          <a:prstGeom prst="rect">
            <a:avLst/>
          </a:prstGeom>
          <a:noFill/>
        </p:spPr>
        <p:txBody>
          <a:bodyPr wrap="square" rtlCol="0">
            <a:spAutoFit/>
          </a:bodyPr>
          <a:lstStyle/>
          <a:p>
            <a:pPr algn="ctr"/>
            <a:r>
              <a:rPr lang="en-IN" sz="1200" dirty="0" smtClean="0"/>
              <a:t>Sum </a:t>
            </a:r>
            <a:r>
              <a:rPr lang="en-IN" sz="1200" dirty="0"/>
              <a:t>assured is the amount of money an insurance policy guarantees to pay up before any bonuses are added. In other words, sum assured is the guaranteed amount the policyholder will receive.</a:t>
            </a:r>
          </a:p>
        </p:txBody>
      </p:sp>
      <p:sp>
        <p:nvSpPr>
          <p:cNvPr id="79" name="TextBox 78"/>
          <p:cNvSpPr txBox="1"/>
          <p:nvPr/>
        </p:nvSpPr>
        <p:spPr>
          <a:xfrm>
            <a:off x="4893941" y="3815970"/>
            <a:ext cx="1950135" cy="369332"/>
          </a:xfrm>
          <a:prstGeom prst="rect">
            <a:avLst/>
          </a:prstGeom>
          <a:noFill/>
        </p:spPr>
        <p:txBody>
          <a:bodyPr wrap="square" rtlCol="0">
            <a:spAutoFit/>
          </a:bodyPr>
          <a:lstStyle/>
          <a:p>
            <a:pPr algn="ctr"/>
            <a:r>
              <a:rPr lang="en-IN" dirty="0" smtClean="0">
                <a:latin typeface="Century Gothic" panose="020B0502020202020204" pitchFamily="34" charset="0"/>
              </a:rPr>
              <a:t>Policy</a:t>
            </a:r>
            <a:endParaRPr lang="en-IN" dirty="0">
              <a:latin typeface="Century Gothic" panose="020B0502020202020204" pitchFamily="34"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4341" y="4224703"/>
            <a:ext cx="1014342" cy="1027988"/>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48094" y="4142240"/>
            <a:ext cx="1261547" cy="883083"/>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01032" y="4279442"/>
            <a:ext cx="1353517" cy="900704"/>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99575" y="1466272"/>
            <a:ext cx="1309566" cy="799969"/>
          </a:xfrm>
          <a:prstGeom prst="rect">
            <a:avLst/>
          </a:prstGeom>
        </p:spPr>
      </p:pic>
      <p:pic>
        <p:nvPicPr>
          <p:cNvPr id="10" name="Picture 9"/>
          <p:cNvPicPr>
            <a:picLocks noChangeAspect="1"/>
          </p:cNvPicPr>
          <p:nvPr/>
        </p:nvPicPr>
        <p:blipFill rotWithShape="1">
          <a:blip r:embed="rId7">
            <a:extLst>
              <a:ext uri="{28A0092B-C50C-407E-A947-70E740481C1C}">
                <a14:useLocalDpi xmlns:a14="http://schemas.microsoft.com/office/drawing/2010/main" val="0"/>
              </a:ext>
            </a:extLst>
          </a:blip>
          <a:srcRect l="23367" t="31549" r="23777" b="8226"/>
          <a:stretch/>
        </p:blipFill>
        <p:spPr>
          <a:xfrm>
            <a:off x="7281115" y="1591043"/>
            <a:ext cx="656534" cy="778678"/>
          </a:xfrm>
          <a:prstGeom prst="rect">
            <a:avLst/>
          </a:prstGeom>
        </p:spPr>
      </p:pic>
      <p:pic>
        <p:nvPicPr>
          <p:cNvPr id="11" name="Picture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0372" y="1444840"/>
            <a:ext cx="1085923" cy="842832"/>
          </a:xfrm>
          <a:prstGeom prst="rect">
            <a:avLst/>
          </a:prstGeom>
        </p:spPr>
      </p:pic>
      <p:pic>
        <p:nvPicPr>
          <p:cNvPr id="12" name="Picture 11"/>
          <p:cNvPicPr>
            <a:picLocks noChangeAspect="1"/>
          </p:cNvPicPr>
          <p:nvPr/>
        </p:nvPicPr>
        <p:blipFill rotWithShape="1">
          <a:blip r:embed="rId9">
            <a:extLst>
              <a:ext uri="{28A0092B-C50C-407E-A947-70E740481C1C}">
                <a14:useLocalDpi xmlns:a14="http://schemas.microsoft.com/office/drawing/2010/main" val="0"/>
              </a:ext>
            </a:extLst>
          </a:blip>
          <a:srcRect r="44006"/>
          <a:stretch/>
        </p:blipFill>
        <p:spPr>
          <a:xfrm>
            <a:off x="3814999" y="1578749"/>
            <a:ext cx="1249780" cy="795451"/>
          </a:xfrm>
          <a:prstGeom prst="rect">
            <a:avLst/>
          </a:prstGeom>
        </p:spPr>
      </p:pic>
    </p:spTree>
    <p:extLst>
      <p:ext uri="{BB962C8B-B14F-4D97-AF65-F5344CB8AC3E}">
        <p14:creationId xmlns:p14="http://schemas.microsoft.com/office/powerpoint/2010/main" val="11793584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ounded Rectangle 61"/>
          <p:cNvSpPr/>
          <p:nvPr/>
        </p:nvSpPr>
        <p:spPr>
          <a:xfrm>
            <a:off x="446844" y="1542358"/>
            <a:ext cx="3429697" cy="602920"/>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2732957" y="291779"/>
              <a:ext cx="6726265"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Insurance: Different products available</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0" name="TextBox 49"/>
          <p:cNvSpPr txBox="1"/>
          <p:nvPr/>
        </p:nvSpPr>
        <p:spPr>
          <a:xfrm>
            <a:off x="5109845" y="71295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Financial Institutions</a:t>
            </a:r>
            <a:endParaRPr lang="en-IN" dirty="0">
              <a:solidFill>
                <a:schemeClr val="bg1"/>
              </a:solidFill>
              <a:latin typeface="Century Gothic" panose="020B0502020202020204" pitchFamily="34" charset="0"/>
            </a:endParaRPr>
          </a:p>
        </p:txBody>
      </p:sp>
      <p:grpSp>
        <p:nvGrpSpPr>
          <p:cNvPr id="18" name="Group 17"/>
          <p:cNvGrpSpPr/>
          <p:nvPr/>
        </p:nvGrpSpPr>
        <p:grpSpPr>
          <a:xfrm>
            <a:off x="-285613" y="3060112"/>
            <a:ext cx="2031768" cy="551679"/>
            <a:chOff x="-285613" y="3858604"/>
            <a:chExt cx="2031768" cy="551679"/>
          </a:xfrm>
        </p:grpSpPr>
        <p:sp>
          <p:nvSpPr>
            <p:cNvPr id="40" name="Rounded Rectangle 39"/>
            <p:cNvSpPr/>
            <p:nvPr/>
          </p:nvSpPr>
          <p:spPr>
            <a:xfrm>
              <a:off x="95382" y="3858604"/>
              <a:ext cx="1269779"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TextBox 52"/>
            <p:cNvSpPr txBox="1"/>
            <p:nvPr/>
          </p:nvSpPr>
          <p:spPr>
            <a:xfrm>
              <a:off x="-285613" y="3965204"/>
              <a:ext cx="2031768" cy="369332"/>
            </a:xfrm>
            <a:prstGeom prst="rect">
              <a:avLst/>
            </a:prstGeom>
            <a:noFill/>
          </p:spPr>
          <p:txBody>
            <a:bodyPr wrap="square" rtlCol="0">
              <a:spAutoFit/>
            </a:bodyPr>
            <a:lstStyle/>
            <a:p>
              <a:pPr algn="ctr"/>
              <a:r>
                <a:rPr lang="en-IN" b="1" dirty="0" smtClean="0">
                  <a:solidFill>
                    <a:schemeClr val="bg1"/>
                  </a:solidFill>
                  <a:latin typeface="Century Gothic" panose="020B0502020202020204" pitchFamily="34" charset="0"/>
                </a:rPr>
                <a:t>Term</a:t>
              </a:r>
              <a:endParaRPr lang="en-IN" b="1" dirty="0">
                <a:solidFill>
                  <a:schemeClr val="bg1"/>
                </a:solidFill>
                <a:latin typeface="Century Gothic" panose="020B0502020202020204" pitchFamily="34" charset="0"/>
              </a:endParaRPr>
            </a:p>
          </p:txBody>
        </p:sp>
      </p:grpSp>
      <p:sp>
        <p:nvSpPr>
          <p:cNvPr id="56" name="TextBox 55"/>
          <p:cNvSpPr txBox="1"/>
          <p:nvPr/>
        </p:nvSpPr>
        <p:spPr>
          <a:xfrm>
            <a:off x="204466" y="1652600"/>
            <a:ext cx="3914452" cy="369332"/>
          </a:xfrm>
          <a:prstGeom prst="rect">
            <a:avLst/>
          </a:prstGeom>
          <a:noFill/>
        </p:spPr>
        <p:txBody>
          <a:bodyPr wrap="square" rtlCol="0">
            <a:spAutoFit/>
          </a:bodyPr>
          <a:lstStyle/>
          <a:p>
            <a:pPr algn="ctr"/>
            <a:r>
              <a:rPr lang="en-IN" b="1" dirty="0" smtClean="0">
                <a:solidFill>
                  <a:schemeClr val="bg1"/>
                </a:solidFill>
                <a:latin typeface="Century Gothic" panose="020B0502020202020204" pitchFamily="34" charset="0"/>
              </a:rPr>
              <a:t>Life Insurance</a:t>
            </a:r>
            <a:endParaRPr lang="en-IN" b="1" dirty="0">
              <a:solidFill>
                <a:schemeClr val="bg1"/>
              </a:solidFill>
              <a:latin typeface="Century Gothic" panose="020B0502020202020204" pitchFamily="34" charset="0"/>
            </a:endParaRPr>
          </a:p>
        </p:txBody>
      </p:sp>
      <p:sp>
        <p:nvSpPr>
          <p:cNvPr id="57" name="TextBox 56"/>
          <p:cNvSpPr txBox="1"/>
          <p:nvPr/>
        </p:nvSpPr>
        <p:spPr>
          <a:xfrm>
            <a:off x="6304027" y="2145277"/>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Investment </a:t>
            </a:r>
          </a:p>
          <a:p>
            <a:pPr algn="ctr"/>
            <a:r>
              <a:rPr lang="en-IN" dirty="0">
                <a:solidFill>
                  <a:schemeClr val="bg1"/>
                </a:solidFill>
                <a:latin typeface="Century Gothic" panose="020B0502020202020204" pitchFamily="34" charset="0"/>
              </a:rPr>
              <a:t> </a:t>
            </a:r>
            <a:r>
              <a:rPr lang="en-IN" dirty="0" smtClean="0">
                <a:solidFill>
                  <a:schemeClr val="bg1"/>
                </a:solidFill>
                <a:latin typeface="Century Gothic" panose="020B0502020202020204" pitchFamily="34" charset="0"/>
              </a:rPr>
              <a:t>Bank</a:t>
            </a:r>
            <a:endParaRPr lang="en-IN" dirty="0">
              <a:solidFill>
                <a:schemeClr val="bg1"/>
              </a:solidFill>
              <a:latin typeface="Century Gothic" panose="020B0502020202020204" pitchFamily="34" charset="0"/>
            </a:endParaRPr>
          </a:p>
        </p:txBody>
      </p:sp>
      <p:sp>
        <p:nvSpPr>
          <p:cNvPr id="63" name="Rounded Rectangle 62"/>
          <p:cNvSpPr/>
          <p:nvPr/>
        </p:nvSpPr>
        <p:spPr>
          <a:xfrm>
            <a:off x="8221577" y="1542358"/>
            <a:ext cx="3429697" cy="641814"/>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TextBox 63"/>
          <p:cNvSpPr txBox="1"/>
          <p:nvPr/>
        </p:nvSpPr>
        <p:spPr>
          <a:xfrm>
            <a:off x="7979199" y="1726797"/>
            <a:ext cx="3914452" cy="369332"/>
          </a:xfrm>
          <a:prstGeom prst="rect">
            <a:avLst/>
          </a:prstGeom>
          <a:noFill/>
        </p:spPr>
        <p:txBody>
          <a:bodyPr wrap="square" rtlCol="0">
            <a:spAutoFit/>
          </a:bodyPr>
          <a:lstStyle/>
          <a:p>
            <a:pPr algn="ctr"/>
            <a:r>
              <a:rPr lang="en-IN" b="1" dirty="0" smtClean="0">
                <a:solidFill>
                  <a:schemeClr val="bg1"/>
                </a:solidFill>
                <a:latin typeface="Century Gothic" panose="020B0502020202020204" pitchFamily="34" charset="0"/>
              </a:rPr>
              <a:t>General Insurance</a:t>
            </a:r>
            <a:endParaRPr lang="en-IN" b="1" dirty="0">
              <a:solidFill>
                <a:schemeClr val="bg1"/>
              </a:solidFill>
              <a:latin typeface="Century Gothic" panose="020B0502020202020204" pitchFamily="34" charset="0"/>
            </a:endParaRPr>
          </a:p>
        </p:txBody>
      </p:sp>
      <p:cxnSp>
        <p:nvCxnSpPr>
          <p:cNvPr id="3" name="Straight Connector 2"/>
          <p:cNvCxnSpPr/>
          <p:nvPr/>
        </p:nvCxnSpPr>
        <p:spPr>
          <a:xfrm>
            <a:off x="6074164" y="1450653"/>
            <a:ext cx="0" cy="484457"/>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3876541" y="1935110"/>
            <a:ext cx="4345036"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nvGrpSpPr>
          <p:cNvPr id="67" name="Group 66"/>
          <p:cNvGrpSpPr/>
          <p:nvPr/>
        </p:nvGrpSpPr>
        <p:grpSpPr>
          <a:xfrm>
            <a:off x="5127755" y="898974"/>
            <a:ext cx="2044104" cy="551679"/>
            <a:chOff x="4975355" y="746574"/>
            <a:chExt cx="2044104" cy="551679"/>
          </a:xfrm>
        </p:grpSpPr>
        <p:sp>
          <p:nvSpPr>
            <p:cNvPr id="69" name="Rounded Rectangle 68"/>
            <p:cNvSpPr/>
            <p:nvPr/>
          </p:nvSpPr>
          <p:spPr>
            <a:xfrm>
              <a:off x="4975355" y="746574"/>
              <a:ext cx="2021983"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TextBox 70"/>
            <p:cNvSpPr txBox="1"/>
            <p:nvPr/>
          </p:nvSpPr>
          <p:spPr>
            <a:xfrm>
              <a:off x="4987691" y="827191"/>
              <a:ext cx="2031768" cy="369332"/>
            </a:xfrm>
            <a:prstGeom prst="rect">
              <a:avLst/>
            </a:prstGeom>
            <a:noFill/>
          </p:spPr>
          <p:txBody>
            <a:bodyPr wrap="square" rtlCol="0">
              <a:spAutoFit/>
            </a:bodyPr>
            <a:lstStyle/>
            <a:p>
              <a:pPr algn="ctr"/>
              <a:r>
                <a:rPr lang="en-IN" b="1" dirty="0" smtClean="0">
                  <a:solidFill>
                    <a:schemeClr val="bg1"/>
                  </a:solidFill>
                  <a:latin typeface="Century Gothic" panose="020B0502020202020204" pitchFamily="34" charset="0"/>
                </a:rPr>
                <a:t>Insurance</a:t>
              </a:r>
              <a:endParaRPr lang="en-IN" b="1" dirty="0">
                <a:solidFill>
                  <a:schemeClr val="bg1"/>
                </a:solidFill>
                <a:latin typeface="Century Gothic" panose="020B0502020202020204" pitchFamily="34" charset="0"/>
              </a:endParaRPr>
            </a:p>
          </p:txBody>
        </p:sp>
      </p:grpSp>
      <p:grpSp>
        <p:nvGrpSpPr>
          <p:cNvPr id="72" name="Group 71"/>
          <p:cNvGrpSpPr/>
          <p:nvPr/>
        </p:nvGrpSpPr>
        <p:grpSpPr>
          <a:xfrm>
            <a:off x="1033992" y="3060111"/>
            <a:ext cx="2031768" cy="551679"/>
            <a:chOff x="-285613" y="3858604"/>
            <a:chExt cx="2031768" cy="551679"/>
          </a:xfrm>
        </p:grpSpPr>
        <p:sp>
          <p:nvSpPr>
            <p:cNvPr id="73" name="Rounded Rectangle 72"/>
            <p:cNvSpPr/>
            <p:nvPr/>
          </p:nvSpPr>
          <p:spPr>
            <a:xfrm>
              <a:off x="95382" y="3858604"/>
              <a:ext cx="1269779"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TextBox 73"/>
            <p:cNvSpPr txBox="1"/>
            <p:nvPr/>
          </p:nvSpPr>
          <p:spPr>
            <a:xfrm>
              <a:off x="-285613" y="3965204"/>
              <a:ext cx="2031768" cy="369332"/>
            </a:xfrm>
            <a:prstGeom prst="rect">
              <a:avLst/>
            </a:prstGeom>
            <a:noFill/>
          </p:spPr>
          <p:txBody>
            <a:bodyPr wrap="square" rtlCol="0">
              <a:spAutoFit/>
            </a:bodyPr>
            <a:lstStyle/>
            <a:p>
              <a:pPr algn="ctr"/>
              <a:r>
                <a:rPr lang="en-IN" b="1" dirty="0" smtClean="0">
                  <a:solidFill>
                    <a:schemeClr val="bg1"/>
                  </a:solidFill>
                  <a:latin typeface="Century Gothic" panose="020B0502020202020204" pitchFamily="34" charset="0"/>
                </a:rPr>
                <a:t>ULIP</a:t>
              </a:r>
              <a:endParaRPr lang="en-IN" b="1" dirty="0">
                <a:solidFill>
                  <a:schemeClr val="bg1"/>
                </a:solidFill>
                <a:latin typeface="Century Gothic" panose="020B0502020202020204" pitchFamily="34" charset="0"/>
              </a:endParaRPr>
            </a:p>
          </p:txBody>
        </p:sp>
      </p:grpSp>
      <p:grpSp>
        <p:nvGrpSpPr>
          <p:cNvPr id="80" name="Group 79"/>
          <p:cNvGrpSpPr/>
          <p:nvPr/>
        </p:nvGrpSpPr>
        <p:grpSpPr>
          <a:xfrm>
            <a:off x="2403924" y="3057998"/>
            <a:ext cx="2031768" cy="551679"/>
            <a:chOff x="-285613" y="3858604"/>
            <a:chExt cx="2031768" cy="551679"/>
          </a:xfrm>
        </p:grpSpPr>
        <p:sp>
          <p:nvSpPr>
            <p:cNvPr id="81" name="Rounded Rectangle 80"/>
            <p:cNvSpPr/>
            <p:nvPr/>
          </p:nvSpPr>
          <p:spPr>
            <a:xfrm>
              <a:off x="95382" y="3858604"/>
              <a:ext cx="1269779"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TextBox 81"/>
            <p:cNvSpPr txBox="1"/>
            <p:nvPr/>
          </p:nvSpPr>
          <p:spPr>
            <a:xfrm>
              <a:off x="-285613" y="3965204"/>
              <a:ext cx="2031768" cy="369332"/>
            </a:xfrm>
            <a:prstGeom prst="rect">
              <a:avLst/>
            </a:prstGeom>
            <a:noFill/>
          </p:spPr>
          <p:txBody>
            <a:bodyPr wrap="square" rtlCol="0">
              <a:spAutoFit/>
            </a:bodyPr>
            <a:lstStyle/>
            <a:p>
              <a:pPr algn="ctr"/>
              <a:r>
                <a:rPr lang="en-IN" b="1" dirty="0" smtClean="0">
                  <a:solidFill>
                    <a:schemeClr val="bg1"/>
                  </a:solidFill>
                  <a:latin typeface="Century Gothic" panose="020B0502020202020204" pitchFamily="34" charset="0"/>
                </a:rPr>
                <a:t>Savings</a:t>
              </a:r>
              <a:endParaRPr lang="en-IN" b="1" dirty="0">
                <a:solidFill>
                  <a:schemeClr val="bg1"/>
                </a:solidFill>
                <a:latin typeface="Century Gothic" panose="020B0502020202020204" pitchFamily="34" charset="0"/>
              </a:endParaRPr>
            </a:p>
          </p:txBody>
        </p:sp>
      </p:grpSp>
      <p:grpSp>
        <p:nvGrpSpPr>
          <p:cNvPr id="83" name="Group 82"/>
          <p:cNvGrpSpPr/>
          <p:nvPr/>
        </p:nvGrpSpPr>
        <p:grpSpPr>
          <a:xfrm>
            <a:off x="3760355" y="3043006"/>
            <a:ext cx="2031768" cy="551679"/>
            <a:chOff x="-285613" y="3858604"/>
            <a:chExt cx="2031768" cy="551679"/>
          </a:xfrm>
        </p:grpSpPr>
        <p:sp>
          <p:nvSpPr>
            <p:cNvPr id="84" name="Rounded Rectangle 83"/>
            <p:cNvSpPr/>
            <p:nvPr/>
          </p:nvSpPr>
          <p:spPr>
            <a:xfrm>
              <a:off x="95382" y="3858604"/>
              <a:ext cx="1269779"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TextBox 84"/>
            <p:cNvSpPr txBox="1"/>
            <p:nvPr/>
          </p:nvSpPr>
          <p:spPr>
            <a:xfrm>
              <a:off x="-285613" y="3965204"/>
              <a:ext cx="2031768" cy="369332"/>
            </a:xfrm>
            <a:prstGeom prst="rect">
              <a:avLst/>
            </a:prstGeom>
            <a:noFill/>
          </p:spPr>
          <p:txBody>
            <a:bodyPr wrap="square" rtlCol="0">
              <a:spAutoFit/>
            </a:bodyPr>
            <a:lstStyle/>
            <a:p>
              <a:pPr algn="ctr"/>
              <a:r>
                <a:rPr lang="en-IN" b="1" dirty="0" smtClean="0">
                  <a:solidFill>
                    <a:schemeClr val="bg1"/>
                  </a:solidFill>
                  <a:latin typeface="Century Gothic" panose="020B0502020202020204" pitchFamily="34" charset="0"/>
                </a:rPr>
                <a:t>Retirement</a:t>
              </a:r>
              <a:endParaRPr lang="en-IN" b="1" dirty="0">
                <a:solidFill>
                  <a:schemeClr val="bg1"/>
                </a:solidFill>
                <a:latin typeface="Century Gothic" panose="020B0502020202020204" pitchFamily="34" charset="0"/>
              </a:endParaRPr>
            </a:p>
          </p:txBody>
        </p:sp>
      </p:grpSp>
      <p:grpSp>
        <p:nvGrpSpPr>
          <p:cNvPr id="86" name="Group 85"/>
          <p:cNvGrpSpPr/>
          <p:nvPr/>
        </p:nvGrpSpPr>
        <p:grpSpPr>
          <a:xfrm>
            <a:off x="5097133" y="3041539"/>
            <a:ext cx="2031768" cy="551679"/>
            <a:chOff x="-285613" y="3858604"/>
            <a:chExt cx="2031768" cy="551679"/>
          </a:xfrm>
        </p:grpSpPr>
        <p:sp>
          <p:nvSpPr>
            <p:cNvPr id="87" name="Rounded Rectangle 86"/>
            <p:cNvSpPr/>
            <p:nvPr/>
          </p:nvSpPr>
          <p:spPr>
            <a:xfrm>
              <a:off x="95382" y="3858604"/>
              <a:ext cx="1269779" cy="551679"/>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TextBox 87"/>
            <p:cNvSpPr txBox="1"/>
            <p:nvPr/>
          </p:nvSpPr>
          <p:spPr>
            <a:xfrm>
              <a:off x="-285613" y="3965204"/>
              <a:ext cx="2031768" cy="369332"/>
            </a:xfrm>
            <a:prstGeom prst="rect">
              <a:avLst/>
            </a:prstGeom>
            <a:noFill/>
          </p:spPr>
          <p:txBody>
            <a:bodyPr wrap="square" rtlCol="0">
              <a:spAutoFit/>
            </a:bodyPr>
            <a:lstStyle/>
            <a:p>
              <a:pPr algn="ctr"/>
              <a:r>
                <a:rPr lang="en-IN" b="1" dirty="0" smtClean="0">
                  <a:solidFill>
                    <a:schemeClr val="bg1"/>
                  </a:solidFill>
                  <a:latin typeface="Century Gothic" panose="020B0502020202020204" pitchFamily="34" charset="0"/>
                </a:rPr>
                <a:t>Child</a:t>
              </a:r>
              <a:endParaRPr lang="en-IN" b="1" dirty="0">
                <a:solidFill>
                  <a:schemeClr val="bg1"/>
                </a:solidFill>
                <a:latin typeface="Century Gothic" panose="020B0502020202020204" pitchFamily="34" charset="0"/>
              </a:endParaRPr>
            </a:p>
          </p:txBody>
        </p:sp>
      </p:grpSp>
      <p:cxnSp>
        <p:nvCxnSpPr>
          <p:cNvPr id="101" name="Straight Connector 100"/>
          <p:cNvCxnSpPr/>
          <p:nvPr/>
        </p:nvCxnSpPr>
        <p:spPr>
          <a:xfrm>
            <a:off x="9747758" y="2184171"/>
            <a:ext cx="0" cy="1559846"/>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6901118" y="3787802"/>
            <a:ext cx="5154455" cy="3698"/>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6905037" y="3756896"/>
            <a:ext cx="0" cy="52374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8099262" y="3787802"/>
            <a:ext cx="0" cy="52374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9476687" y="3787802"/>
            <a:ext cx="0" cy="52374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flipH="1">
            <a:off x="10623636" y="3787802"/>
            <a:ext cx="0" cy="52374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2403924" y="2171292"/>
            <a:ext cx="0" cy="28427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V="1">
            <a:off x="444082" y="2481322"/>
            <a:ext cx="5872824" cy="1132"/>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a:off x="446844" y="2507337"/>
            <a:ext cx="0" cy="534202"/>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2049876" y="2507337"/>
            <a:ext cx="0" cy="534202"/>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a:off x="3522748" y="2507337"/>
            <a:ext cx="0" cy="534202"/>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a:off x="4776239" y="2507337"/>
            <a:ext cx="0" cy="534202"/>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a:off x="6297964" y="2507337"/>
            <a:ext cx="0" cy="534202"/>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pic>
        <p:nvPicPr>
          <p:cNvPr id="118" name="Picture 1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84353" y="4943341"/>
            <a:ext cx="462776" cy="389110"/>
          </a:xfrm>
          <a:prstGeom prst="rect">
            <a:avLst/>
          </a:prstGeom>
        </p:spPr>
      </p:pic>
      <p:pic>
        <p:nvPicPr>
          <p:cNvPr id="119" name="Picture 1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17066" y="4725098"/>
            <a:ext cx="1019359" cy="1019359"/>
          </a:xfrm>
          <a:prstGeom prst="rect">
            <a:avLst/>
          </a:prstGeom>
        </p:spPr>
      </p:pic>
      <p:pic>
        <p:nvPicPr>
          <p:cNvPr id="120" name="Picture 1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5669" y="4751458"/>
            <a:ext cx="986567" cy="986567"/>
          </a:xfrm>
          <a:prstGeom prst="rect">
            <a:avLst/>
          </a:prstGeom>
        </p:spPr>
      </p:pic>
      <p:pic>
        <p:nvPicPr>
          <p:cNvPr id="125" name="Picture 12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07655" y="4849177"/>
            <a:ext cx="1081743" cy="976703"/>
          </a:xfrm>
          <a:prstGeom prst="rect">
            <a:avLst/>
          </a:prstGeom>
        </p:spPr>
      </p:pic>
      <p:pic>
        <p:nvPicPr>
          <p:cNvPr id="126" name="Picture 12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80327" y="3749350"/>
            <a:ext cx="787110" cy="787110"/>
          </a:xfrm>
          <a:prstGeom prst="rect">
            <a:avLst/>
          </a:prstGeom>
        </p:spPr>
      </p:pic>
      <p:pic>
        <p:nvPicPr>
          <p:cNvPr id="127" name="Picture 12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883080" y="3699282"/>
            <a:ext cx="1053715" cy="863138"/>
          </a:xfrm>
          <a:prstGeom prst="rect">
            <a:avLst/>
          </a:prstGeom>
        </p:spPr>
      </p:pic>
      <p:pic>
        <p:nvPicPr>
          <p:cNvPr id="128" name="Picture 12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04466" y="3791500"/>
            <a:ext cx="1024599" cy="795897"/>
          </a:xfrm>
          <a:prstGeom prst="rect">
            <a:avLst/>
          </a:prstGeom>
        </p:spPr>
      </p:pic>
      <p:pic>
        <p:nvPicPr>
          <p:cNvPr id="129" name="Picture 12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57111" y="3684187"/>
            <a:ext cx="818902" cy="818902"/>
          </a:xfrm>
          <a:prstGeom prst="rect">
            <a:avLst/>
          </a:prstGeom>
        </p:spPr>
      </p:pic>
      <p:pic>
        <p:nvPicPr>
          <p:cNvPr id="130" name="Picture 129"/>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616043" y="3684187"/>
            <a:ext cx="836469" cy="836469"/>
          </a:xfrm>
          <a:prstGeom prst="rect">
            <a:avLst/>
          </a:prstGeom>
        </p:spPr>
      </p:pic>
      <p:pic>
        <p:nvPicPr>
          <p:cNvPr id="131" name="Picture 130"/>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447129" y="5042646"/>
            <a:ext cx="627962" cy="627962"/>
          </a:xfrm>
          <a:prstGeom prst="rect">
            <a:avLst/>
          </a:prstGeom>
        </p:spPr>
      </p:pic>
      <p:grpSp>
        <p:nvGrpSpPr>
          <p:cNvPr id="138" name="Group 137"/>
          <p:cNvGrpSpPr/>
          <p:nvPr/>
        </p:nvGrpSpPr>
        <p:grpSpPr>
          <a:xfrm>
            <a:off x="10664674" y="4320444"/>
            <a:ext cx="2031768" cy="437156"/>
            <a:chOff x="10487010" y="4706468"/>
            <a:chExt cx="2031768" cy="437156"/>
          </a:xfrm>
        </p:grpSpPr>
        <p:sp>
          <p:nvSpPr>
            <p:cNvPr id="133" name="Rounded Rectangle 132"/>
            <p:cNvSpPr/>
            <p:nvPr/>
          </p:nvSpPr>
          <p:spPr>
            <a:xfrm>
              <a:off x="10981273" y="4706468"/>
              <a:ext cx="1043242" cy="437156"/>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4" name="TextBox 133"/>
            <p:cNvSpPr txBox="1"/>
            <p:nvPr/>
          </p:nvSpPr>
          <p:spPr>
            <a:xfrm>
              <a:off x="10487010" y="4766016"/>
              <a:ext cx="2031768" cy="369332"/>
            </a:xfrm>
            <a:prstGeom prst="rect">
              <a:avLst/>
            </a:prstGeom>
            <a:noFill/>
          </p:spPr>
          <p:txBody>
            <a:bodyPr wrap="square" rtlCol="0">
              <a:spAutoFit/>
            </a:bodyPr>
            <a:lstStyle/>
            <a:p>
              <a:pPr algn="ctr"/>
              <a:r>
                <a:rPr lang="en-IN" b="1" dirty="0" smtClean="0">
                  <a:solidFill>
                    <a:schemeClr val="bg1"/>
                  </a:solidFill>
                  <a:latin typeface="Century Gothic" panose="020B0502020202020204" pitchFamily="34" charset="0"/>
                </a:rPr>
                <a:t>Travel</a:t>
              </a:r>
              <a:endParaRPr lang="en-IN" b="1" dirty="0">
                <a:solidFill>
                  <a:schemeClr val="bg1"/>
                </a:solidFill>
                <a:latin typeface="Century Gothic" panose="020B0502020202020204" pitchFamily="34" charset="0"/>
              </a:endParaRPr>
            </a:p>
          </p:txBody>
        </p:sp>
      </p:grpSp>
      <p:cxnSp>
        <p:nvCxnSpPr>
          <p:cNvPr id="135" name="Straight Connector 134"/>
          <p:cNvCxnSpPr/>
          <p:nvPr/>
        </p:nvCxnSpPr>
        <p:spPr>
          <a:xfrm flipH="1">
            <a:off x="12055573" y="3787802"/>
            <a:ext cx="0" cy="52374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nvGrpSpPr>
          <p:cNvPr id="139" name="Group 138"/>
          <p:cNvGrpSpPr/>
          <p:nvPr/>
        </p:nvGrpSpPr>
        <p:grpSpPr>
          <a:xfrm>
            <a:off x="7157794" y="4306329"/>
            <a:ext cx="2031768" cy="437156"/>
            <a:chOff x="10487010" y="4706468"/>
            <a:chExt cx="2031768" cy="437156"/>
          </a:xfrm>
        </p:grpSpPr>
        <p:sp>
          <p:nvSpPr>
            <p:cNvPr id="140" name="Rounded Rectangle 139"/>
            <p:cNvSpPr/>
            <p:nvPr/>
          </p:nvSpPr>
          <p:spPr>
            <a:xfrm>
              <a:off x="10981273" y="4706468"/>
              <a:ext cx="1043242" cy="437156"/>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1" name="TextBox 140"/>
            <p:cNvSpPr txBox="1"/>
            <p:nvPr/>
          </p:nvSpPr>
          <p:spPr>
            <a:xfrm>
              <a:off x="10487010" y="4766016"/>
              <a:ext cx="2031768" cy="369332"/>
            </a:xfrm>
            <a:prstGeom prst="rect">
              <a:avLst/>
            </a:prstGeom>
            <a:noFill/>
          </p:spPr>
          <p:txBody>
            <a:bodyPr wrap="square" rtlCol="0">
              <a:spAutoFit/>
            </a:bodyPr>
            <a:lstStyle/>
            <a:p>
              <a:pPr algn="ctr"/>
              <a:r>
                <a:rPr lang="en-IN" b="1" dirty="0" smtClean="0">
                  <a:solidFill>
                    <a:schemeClr val="bg1"/>
                  </a:solidFill>
                  <a:latin typeface="Century Gothic" panose="020B0502020202020204" pitchFamily="34" charset="0"/>
                </a:rPr>
                <a:t>Health</a:t>
              </a:r>
              <a:endParaRPr lang="en-IN" b="1" dirty="0">
                <a:solidFill>
                  <a:schemeClr val="bg1"/>
                </a:solidFill>
                <a:latin typeface="Century Gothic" panose="020B0502020202020204" pitchFamily="34" charset="0"/>
              </a:endParaRPr>
            </a:p>
          </p:txBody>
        </p:sp>
      </p:grpSp>
      <p:grpSp>
        <p:nvGrpSpPr>
          <p:cNvPr id="142" name="Group 141"/>
          <p:cNvGrpSpPr/>
          <p:nvPr/>
        </p:nvGrpSpPr>
        <p:grpSpPr>
          <a:xfrm>
            <a:off x="9547321" y="4329813"/>
            <a:ext cx="2031768" cy="437156"/>
            <a:chOff x="10487010" y="4706468"/>
            <a:chExt cx="2031768" cy="437156"/>
          </a:xfrm>
        </p:grpSpPr>
        <p:sp>
          <p:nvSpPr>
            <p:cNvPr id="143" name="Rounded Rectangle 142"/>
            <p:cNvSpPr/>
            <p:nvPr/>
          </p:nvSpPr>
          <p:spPr>
            <a:xfrm>
              <a:off x="10981273" y="4706468"/>
              <a:ext cx="1043242" cy="437156"/>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4" name="TextBox 143"/>
            <p:cNvSpPr txBox="1"/>
            <p:nvPr/>
          </p:nvSpPr>
          <p:spPr>
            <a:xfrm>
              <a:off x="10487010" y="4766016"/>
              <a:ext cx="2031768" cy="369332"/>
            </a:xfrm>
            <a:prstGeom prst="rect">
              <a:avLst/>
            </a:prstGeom>
            <a:noFill/>
          </p:spPr>
          <p:txBody>
            <a:bodyPr wrap="square" rtlCol="0">
              <a:spAutoFit/>
            </a:bodyPr>
            <a:lstStyle/>
            <a:p>
              <a:pPr algn="ctr"/>
              <a:r>
                <a:rPr lang="en-IN" b="1" dirty="0" smtClean="0">
                  <a:solidFill>
                    <a:schemeClr val="bg1"/>
                  </a:solidFill>
                  <a:latin typeface="Century Gothic" panose="020B0502020202020204" pitchFamily="34" charset="0"/>
                </a:rPr>
                <a:t>Auto</a:t>
              </a:r>
              <a:endParaRPr lang="en-IN" b="1" dirty="0">
                <a:solidFill>
                  <a:schemeClr val="bg1"/>
                </a:solidFill>
                <a:latin typeface="Century Gothic" panose="020B0502020202020204" pitchFamily="34" charset="0"/>
              </a:endParaRPr>
            </a:p>
          </p:txBody>
        </p:sp>
      </p:grpSp>
      <p:grpSp>
        <p:nvGrpSpPr>
          <p:cNvPr id="145" name="Group 144"/>
          <p:cNvGrpSpPr/>
          <p:nvPr/>
        </p:nvGrpSpPr>
        <p:grpSpPr>
          <a:xfrm>
            <a:off x="8363874" y="4331326"/>
            <a:ext cx="2031768" cy="437156"/>
            <a:chOff x="10487010" y="4706468"/>
            <a:chExt cx="2031768" cy="437156"/>
          </a:xfrm>
        </p:grpSpPr>
        <p:sp>
          <p:nvSpPr>
            <p:cNvPr id="146" name="Rounded Rectangle 145"/>
            <p:cNvSpPr/>
            <p:nvPr/>
          </p:nvSpPr>
          <p:spPr>
            <a:xfrm>
              <a:off x="10981273" y="4706468"/>
              <a:ext cx="1043242" cy="437156"/>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7" name="TextBox 146"/>
            <p:cNvSpPr txBox="1"/>
            <p:nvPr/>
          </p:nvSpPr>
          <p:spPr>
            <a:xfrm>
              <a:off x="10487010" y="4766016"/>
              <a:ext cx="2031768" cy="369332"/>
            </a:xfrm>
            <a:prstGeom prst="rect">
              <a:avLst/>
            </a:prstGeom>
            <a:noFill/>
          </p:spPr>
          <p:txBody>
            <a:bodyPr wrap="square" rtlCol="0">
              <a:spAutoFit/>
            </a:bodyPr>
            <a:lstStyle/>
            <a:p>
              <a:pPr algn="ctr"/>
              <a:r>
                <a:rPr lang="en-IN" b="1" dirty="0" smtClean="0">
                  <a:solidFill>
                    <a:schemeClr val="bg1"/>
                  </a:solidFill>
                  <a:latin typeface="Century Gothic" panose="020B0502020202020204" pitchFamily="34" charset="0"/>
                </a:rPr>
                <a:t>Fire</a:t>
              </a:r>
              <a:endParaRPr lang="en-IN" b="1" dirty="0">
                <a:solidFill>
                  <a:schemeClr val="bg1"/>
                </a:solidFill>
                <a:latin typeface="Century Gothic" panose="020B0502020202020204" pitchFamily="34" charset="0"/>
              </a:endParaRPr>
            </a:p>
          </p:txBody>
        </p:sp>
      </p:grpSp>
      <p:grpSp>
        <p:nvGrpSpPr>
          <p:cNvPr id="148" name="Group 147"/>
          <p:cNvGrpSpPr/>
          <p:nvPr/>
        </p:nvGrpSpPr>
        <p:grpSpPr>
          <a:xfrm>
            <a:off x="5969681" y="4315366"/>
            <a:ext cx="2031768" cy="437156"/>
            <a:chOff x="10487010" y="4706468"/>
            <a:chExt cx="2031768" cy="437156"/>
          </a:xfrm>
        </p:grpSpPr>
        <p:sp>
          <p:nvSpPr>
            <p:cNvPr id="149" name="Rounded Rectangle 148"/>
            <p:cNvSpPr/>
            <p:nvPr/>
          </p:nvSpPr>
          <p:spPr>
            <a:xfrm>
              <a:off x="10981273" y="4706468"/>
              <a:ext cx="1043242" cy="437156"/>
            </a:xfrm>
            <a:prstGeom prst="round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0" name="TextBox 149"/>
            <p:cNvSpPr txBox="1"/>
            <p:nvPr/>
          </p:nvSpPr>
          <p:spPr>
            <a:xfrm>
              <a:off x="10487010" y="4766016"/>
              <a:ext cx="2031768" cy="369332"/>
            </a:xfrm>
            <a:prstGeom prst="rect">
              <a:avLst/>
            </a:prstGeom>
            <a:noFill/>
          </p:spPr>
          <p:txBody>
            <a:bodyPr wrap="square" rtlCol="0">
              <a:spAutoFit/>
            </a:bodyPr>
            <a:lstStyle/>
            <a:p>
              <a:pPr algn="ctr"/>
              <a:r>
                <a:rPr lang="en-IN" b="1" dirty="0" smtClean="0">
                  <a:solidFill>
                    <a:schemeClr val="bg1"/>
                  </a:solidFill>
                  <a:latin typeface="Century Gothic" panose="020B0502020202020204" pitchFamily="34" charset="0"/>
                </a:rPr>
                <a:t>Marine</a:t>
              </a:r>
              <a:endParaRPr lang="en-IN" b="1" dirty="0">
                <a:solidFill>
                  <a:schemeClr val="bg1"/>
                </a:solidFill>
                <a:latin typeface="Century Gothic" panose="020B0502020202020204" pitchFamily="34" charset="0"/>
              </a:endParaRPr>
            </a:p>
          </p:txBody>
        </p:sp>
      </p:grpSp>
      <p:pic>
        <p:nvPicPr>
          <p:cNvPr id="151" name="Picture 150"/>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207389" y="4849177"/>
            <a:ext cx="887770" cy="887770"/>
          </a:xfrm>
          <a:prstGeom prst="rect">
            <a:avLst/>
          </a:prstGeom>
        </p:spPr>
      </p:pic>
    </p:spTree>
    <p:extLst>
      <p:ext uri="{BB962C8B-B14F-4D97-AF65-F5344CB8AC3E}">
        <p14:creationId xmlns:p14="http://schemas.microsoft.com/office/powerpoint/2010/main" val="71980775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2578304" y="291779"/>
              <a:ext cx="7035580"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Insurance Life Cycle &amp; Product Offerings</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0" name="TextBox 49"/>
          <p:cNvSpPr txBox="1"/>
          <p:nvPr/>
        </p:nvSpPr>
        <p:spPr>
          <a:xfrm>
            <a:off x="5109845" y="71295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Financial Institutions</a:t>
            </a:r>
            <a:endParaRPr lang="en-IN" dirty="0">
              <a:solidFill>
                <a:schemeClr val="bg1"/>
              </a:solidFill>
              <a:latin typeface="Century Gothic" panose="020B0502020202020204" pitchFamily="34" charset="0"/>
            </a:endParaRPr>
          </a:p>
        </p:txBody>
      </p:sp>
      <p:sp>
        <p:nvSpPr>
          <p:cNvPr id="8" name="Shape 7"/>
          <p:cNvSpPr/>
          <p:nvPr/>
        </p:nvSpPr>
        <p:spPr>
          <a:xfrm>
            <a:off x="631065" y="1359289"/>
            <a:ext cx="10673039" cy="3628426"/>
          </a:xfrm>
          <a:prstGeom prst="swooshArrow">
            <a:avLst>
              <a:gd name="adj1" fmla="val 25000"/>
              <a:gd name="adj2" fmla="val 25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3" name="Oval 2"/>
          <p:cNvSpPr/>
          <p:nvPr/>
        </p:nvSpPr>
        <p:spPr>
          <a:xfrm>
            <a:off x="1841494" y="3864771"/>
            <a:ext cx="331304" cy="344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p:cNvSpPr/>
          <p:nvPr/>
        </p:nvSpPr>
        <p:spPr>
          <a:xfrm>
            <a:off x="3376677" y="3236937"/>
            <a:ext cx="331304" cy="344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p:cNvSpPr/>
          <p:nvPr/>
        </p:nvSpPr>
        <p:spPr>
          <a:xfrm>
            <a:off x="5126444" y="2749875"/>
            <a:ext cx="331304" cy="344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p:cNvSpPr/>
          <p:nvPr/>
        </p:nvSpPr>
        <p:spPr>
          <a:xfrm>
            <a:off x="7030279" y="2431077"/>
            <a:ext cx="331304" cy="344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8835887" y="2206537"/>
            <a:ext cx="331304" cy="344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p:cNvSpPr/>
          <p:nvPr/>
        </p:nvSpPr>
        <p:spPr>
          <a:xfrm>
            <a:off x="10475843" y="2011164"/>
            <a:ext cx="331304" cy="344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a:off x="-6899" y="3574893"/>
            <a:ext cx="1950135" cy="276999"/>
          </a:xfrm>
          <a:prstGeom prst="rect">
            <a:avLst/>
          </a:prstGeom>
          <a:noFill/>
        </p:spPr>
        <p:txBody>
          <a:bodyPr wrap="square" rtlCol="0">
            <a:spAutoFit/>
          </a:bodyPr>
          <a:lstStyle/>
          <a:p>
            <a:pPr algn="ctr"/>
            <a:r>
              <a:rPr lang="en-IN" sz="1200" b="1" dirty="0" smtClean="0">
                <a:solidFill>
                  <a:schemeClr val="accent1">
                    <a:lumMod val="50000"/>
                  </a:schemeClr>
                </a:solidFill>
                <a:latin typeface="Century Gothic" panose="020B0502020202020204" pitchFamily="34" charset="0"/>
              </a:rPr>
              <a:t>Start Career</a:t>
            </a:r>
            <a:endParaRPr lang="en-IN" sz="1200" b="1" dirty="0">
              <a:solidFill>
                <a:schemeClr val="accent1">
                  <a:lumMod val="50000"/>
                </a:schemeClr>
              </a:solidFill>
              <a:latin typeface="Century Gothic" panose="020B0502020202020204" pitchFamily="34" charset="0"/>
            </a:endParaRPr>
          </a:p>
        </p:txBody>
      </p:sp>
      <p:cxnSp>
        <p:nvCxnSpPr>
          <p:cNvPr id="4" name="Straight Connector 3"/>
          <p:cNvCxnSpPr/>
          <p:nvPr/>
        </p:nvCxnSpPr>
        <p:spPr>
          <a:xfrm>
            <a:off x="519901" y="5586718"/>
            <a:ext cx="11096661" cy="0"/>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508903" y="5293217"/>
            <a:ext cx="0" cy="708338"/>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489277" y="5275479"/>
            <a:ext cx="0" cy="708338"/>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568375" y="5275479"/>
            <a:ext cx="0" cy="708338"/>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785017" y="5232549"/>
            <a:ext cx="0" cy="708338"/>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9001539" y="5232549"/>
            <a:ext cx="0" cy="708338"/>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1616562" y="5232549"/>
            <a:ext cx="0" cy="708338"/>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531037" y="5625303"/>
            <a:ext cx="1950135" cy="276999"/>
          </a:xfrm>
          <a:prstGeom prst="rect">
            <a:avLst/>
          </a:prstGeom>
          <a:noFill/>
        </p:spPr>
        <p:txBody>
          <a:bodyPr wrap="square" rtlCol="0">
            <a:spAutoFit/>
          </a:bodyPr>
          <a:lstStyle/>
          <a:p>
            <a:pPr algn="ctr"/>
            <a:r>
              <a:rPr lang="en-IN" sz="1200" dirty="0" smtClean="0">
                <a:latin typeface="Century Gothic" panose="020B0502020202020204" pitchFamily="34" charset="0"/>
              </a:rPr>
              <a:t>25</a:t>
            </a:r>
            <a:endParaRPr lang="en-IN" sz="1200" dirty="0">
              <a:latin typeface="Century Gothic" panose="020B0502020202020204" pitchFamily="34" charset="0"/>
            </a:endParaRPr>
          </a:p>
        </p:txBody>
      </p:sp>
      <p:sp>
        <p:nvSpPr>
          <p:cNvPr id="30" name="TextBox 29"/>
          <p:cNvSpPr txBox="1"/>
          <p:nvPr/>
        </p:nvSpPr>
        <p:spPr>
          <a:xfrm>
            <a:off x="2567262" y="5625302"/>
            <a:ext cx="1950135" cy="276999"/>
          </a:xfrm>
          <a:prstGeom prst="rect">
            <a:avLst/>
          </a:prstGeom>
          <a:noFill/>
        </p:spPr>
        <p:txBody>
          <a:bodyPr wrap="square" rtlCol="0">
            <a:spAutoFit/>
          </a:bodyPr>
          <a:lstStyle/>
          <a:p>
            <a:pPr algn="ctr"/>
            <a:r>
              <a:rPr lang="en-IN" sz="1200" dirty="0" smtClean="0">
                <a:latin typeface="Century Gothic" panose="020B0502020202020204" pitchFamily="34" charset="0"/>
              </a:rPr>
              <a:t>35</a:t>
            </a:r>
            <a:endParaRPr lang="en-IN" sz="1200" dirty="0">
              <a:latin typeface="Century Gothic" panose="020B0502020202020204" pitchFamily="34" charset="0"/>
            </a:endParaRPr>
          </a:p>
        </p:txBody>
      </p:sp>
      <p:sp>
        <p:nvSpPr>
          <p:cNvPr id="34" name="TextBox 33"/>
          <p:cNvSpPr txBox="1"/>
          <p:nvPr/>
        </p:nvSpPr>
        <p:spPr>
          <a:xfrm>
            <a:off x="4486866" y="5619420"/>
            <a:ext cx="1950135" cy="276999"/>
          </a:xfrm>
          <a:prstGeom prst="rect">
            <a:avLst/>
          </a:prstGeom>
          <a:noFill/>
        </p:spPr>
        <p:txBody>
          <a:bodyPr wrap="square" rtlCol="0">
            <a:spAutoFit/>
          </a:bodyPr>
          <a:lstStyle/>
          <a:p>
            <a:pPr algn="ctr"/>
            <a:r>
              <a:rPr lang="en-IN" sz="1200" dirty="0" smtClean="0">
                <a:latin typeface="Century Gothic" panose="020B0502020202020204" pitchFamily="34" charset="0"/>
              </a:rPr>
              <a:t>45</a:t>
            </a:r>
            <a:endParaRPr lang="en-IN" sz="1200" dirty="0">
              <a:latin typeface="Century Gothic" panose="020B0502020202020204" pitchFamily="34" charset="0"/>
            </a:endParaRPr>
          </a:p>
        </p:txBody>
      </p:sp>
      <p:sp>
        <p:nvSpPr>
          <p:cNvPr id="35" name="TextBox 34"/>
          <p:cNvSpPr txBox="1"/>
          <p:nvPr/>
        </p:nvSpPr>
        <p:spPr>
          <a:xfrm>
            <a:off x="6716267" y="5646768"/>
            <a:ext cx="1950135" cy="276999"/>
          </a:xfrm>
          <a:prstGeom prst="rect">
            <a:avLst/>
          </a:prstGeom>
          <a:noFill/>
        </p:spPr>
        <p:txBody>
          <a:bodyPr wrap="square" rtlCol="0">
            <a:spAutoFit/>
          </a:bodyPr>
          <a:lstStyle/>
          <a:p>
            <a:pPr algn="ctr"/>
            <a:r>
              <a:rPr lang="en-IN" sz="1200" dirty="0" smtClean="0">
                <a:latin typeface="Century Gothic" panose="020B0502020202020204" pitchFamily="34" charset="0"/>
              </a:rPr>
              <a:t>55</a:t>
            </a:r>
            <a:endParaRPr lang="en-IN" sz="1200" dirty="0">
              <a:latin typeface="Century Gothic" panose="020B0502020202020204" pitchFamily="34" charset="0"/>
            </a:endParaRPr>
          </a:p>
        </p:txBody>
      </p:sp>
      <p:sp>
        <p:nvSpPr>
          <p:cNvPr id="36" name="TextBox 35"/>
          <p:cNvSpPr txBox="1"/>
          <p:nvPr/>
        </p:nvSpPr>
        <p:spPr>
          <a:xfrm>
            <a:off x="9267926" y="5639059"/>
            <a:ext cx="1950135" cy="276999"/>
          </a:xfrm>
          <a:prstGeom prst="rect">
            <a:avLst/>
          </a:prstGeom>
          <a:noFill/>
        </p:spPr>
        <p:txBody>
          <a:bodyPr wrap="square" rtlCol="0">
            <a:spAutoFit/>
          </a:bodyPr>
          <a:lstStyle/>
          <a:p>
            <a:pPr algn="ctr"/>
            <a:r>
              <a:rPr lang="en-IN" sz="1200" dirty="0" smtClean="0">
                <a:latin typeface="Century Gothic" panose="020B0502020202020204" pitchFamily="34" charset="0"/>
              </a:rPr>
              <a:t>65</a:t>
            </a:r>
            <a:endParaRPr lang="en-IN" sz="1200" dirty="0">
              <a:latin typeface="Century Gothic" panose="020B0502020202020204" pitchFamily="34" charset="0"/>
            </a:endParaRPr>
          </a:p>
        </p:txBody>
      </p:sp>
      <p:sp>
        <p:nvSpPr>
          <p:cNvPr id="37" name="TextBox 36"/>
          <p:cNvSpPr txBox="1"/>
          <p:nvPr/>
        </p:nvSpPr>
        <p:spPr>
          <a:xfrm>
            <a:off x="3972268" y="2228042"/>
            <a:ext cx="1950135" cy="276999"/>
          </a:xfrm>
          <a:prstGeom prst="rect">
            <a:avLst/>
          </a:prstGeom>
          <a:noFill/>
        </p:spPr>
        <p:txBody>
          <a:bodyPr wrap="square" rtlCol="0">
            <a:spAutoFit/>
          </a:bodyPr>
          <a:lstStyle/>
          <a:p>
            <a:pPr algn="ctr"/>
            <a:r>
              <a:rPr lang="en-IN" sz="1200" b="1" dirty="0" smtClean="0">
                <a:solidFill>
                  <a:schemeClr val="accent1">
                    <a:lumMod val="50000"/>
                  </a:schemeClr>
                </a:solidFill>
                <a:latin typeface="Century Gothic" panose="020B0502020202020204" pitchFamily="34" charset="0"/>
              </a:rPr>
              <a:t>Grow Income/Family</a:t>
            </a:r>
            <a:endParaRPr lang="en-IN" sz="1200" b="1" dirty="0">
              <a:solidFill>
                <a:schemeClr val="accent1">
                  <a:lumMod val="50000"/>
                </a:schemeClr>
              </a:solidFill>
              <a:latin typeface="Century Gothic" panose="020B0502020202020204" pitchFamily="34" charset="0"/>
            </a:endParaRPr>
          </a:p>
        </p:txBody>
      </p:sp>
      <p:sp>
        <p:nvSpPr>
          <p:cNvPr id="38" name="TextBox 37"/>
          <p:cNvSpPr txBox="1"/>
          <p:nvPr/>
        </p:nvSpPr>
        <p:spPr>
          <a:xfrm>
            <a:off x="6055211" y="1687444"/>
            <a:ext cx="1950135" cy="461665"/>
          </a:xfrm>
          <a:prstGeom prst="rect">
            <a:avLst/>
          </a:prstGeom>
          <a:noFill/>
        </p:spPr>
        <p:txBody>
          <a:bodyPr wrap="square" rtlCol="0">
            <a:spAutoFit/>
          </a:bodyPr>
          <a:lstStyle/>
          <a:p>
            <a:pPr algn="ctr"/>
            <a:r>
              <a:rPr lang="en-IN" sz="1200" b="1" dirty="0" smtClean="0">
                <a:solidFill>
                  <a:schemeClr val="accent1">
                    <a:lumMod val="50000"/>
                  </a:schemeClr>
                </a:solidFill>
                <a:latin typeface="Century Gothic" panose="020B0502020202020204" pitchFamily="34" charset="0"/>
              </a:rPr>
              <a:t>Estate/Retirement Planning</a:t>
            </a:r>
            <a:endParaRPr lang="en-IN" sz="1200" b="1" dirty="0">
              <a:solidFill>
                <a:schemeClr val="accent1">
                  <a:lumMod val="50000"/>
                </a:schemeClr>
              </a:solidFill>
              <a:latin typeface="Century Gothic" panose="020B0502020202020204" pitchFamily="34" charset="0"/>
            </a:endParaRPr>
          </a:p>
        </p:txBody>
      </p:sp>
      <p:sp>
        <p:nvSpPr>
          <p:cNvPr id="40" name="TextBox 39"/>
          <p:cNvSpPr txBox="1"/>
          <p:nvPr/>
        </p:nvSpPr>
        <p:spPr>
          <a:xfrm>
            <a:off x="10199201" y="1496000"/>
            <a:ext cx="1950135" cy="276999"/>
          </a:xfrm>
          <a:prstGeom prst="rect">
            <a:avLst/>
          </a:prstGeom>
          <a:noFill/>
        </p:spPr>
        <p:txBody>
          <a:bodyPr wrap="square" rtlCol="0">
            <a:spAutoFit/>
          </a:bodyPr>
          <a:lstStyle/>
          <a:p>
            <a:pPr algn="ctr"/>
            <a:r>
              <a:rPr lang="en-IN" sz="1200" b="1" dirty="0" smtClean="0">
                <a:solidFill>
                  <a:schemeClr val="accent1">
                    <a:lumMod val="50000"/>
                  </a:schemeClr>
                </a:solidFill>
                <a:latin typeface="Century Gothic" panose="020B0502020202020204" pitchFamily="34" charset="0"/>
              </a:rPr>
              <a:t>Retirement</a:t>
            </a:r>
            <a:endParaRPr lang="en-IN" sz="1200" b="1" dirty="0">
              <a:solidFill>
                <a:schemeClr val="accent1">
                  <a:lumMod val="50000"/>
                </a:schemeClr>
              </a:solidFill>
              <a:latin typeface="Century Gothic" panose="020B0502020202020204" pitchFamily="34" charset="0"/>
            </a:endParaRPr>
          </a:p>
        </p:txBody>
      </p:sp>
      <p:sp>
        <p:nvSpPr>
          <p:cNvPr id="41" name="TextBox 40"/>
          <p:cNvSpPr txBox="1"/>
          <p:nvPr/>
        </p:nvSpPr>
        <p:spPr>
          <a:xfrm>
            <a:off x="8292858" y="1635419"/>
            <a:ext cx="1950135" cy="461665"/>
          </a:xfrm>
          <a:prstGeom prst="rect">
            <a:avLst/>
          </a:prstGeom>
          <a:noFill/>
        </p:spPr>
        <p:txBody>
          <a:bodyPr wrap="square" rtlCol="0">
            <a:spAutoFit/>
          </a:bodyPr>
          <a:lstStyle/>
          <a:p>
            <a:pPr algn="ctr"/>
            <a:r>
              <a:rPr lang="en-IN" sz="1200" b="1" dirty="0" smtClean="0">
                <a:solidFill>
                  <a:schemeClr val="accent1">
                    <a:lumMod val="50000"/>
                  </a:schemeClr>
                </a:solidFill>
                <a:latin typeface="Century Gothic" panose="020B0502020202020204" pitchFamily="34" charset="0"/>
              </a:rPr>
              <a:t>Highest Income &amp; Tax Savings</a:t>
            </a:r>
            <a:endParaRPr lang="en-IN" sz="1200" b="1" dirty="0">
              <a:solidFill>
                <a:schemeClr val="accent1">
                  <a:lumMod val="50000"/>
                </a:schemeClr>
              </a:solidFill>
              <a:latin typeface="Century Gothic" panose="020B0502020202020204" pitchFamily="34" charset="0"/>
            </a:endParaRPr>
          </a:p>
        </p:txBody>
      </p:sp>
      <p:sp>
        <p:nvSpPr>
          <p:cNvPr id="42" name="TextBox 41"/>
          <p:cNvSpPr txBox="1"/>
          <p:nvPr/>
        </p:nvSpPr>
        <p:spPr>
          <a:xfrm>
            <a:off x="1841494" y="2877569"/>
            <a:ext cx="1950135" cy="276999"/>
          </a:xfrm>
          <a:prstGeom prst="rect">
            <a:avLst/>
          </a:prstGeom>
          <a:noFill/>
        </p:spPr>
        <p:txBody>
          <a:bodyPr wrap="square" rtlCol="0">
            <a:spAutoFit/>
          </a:bodyPr>
          <a:lstStyle/>
          <a:p>
            <a:pPr algn="ctr"/>
            <a:r>
              <a:rPr lang="en-IN" sz="1200" b="1" dirty="0" smtClean="0">
                <a:solidFill>
                  <a:schemeClr val="accent1">
                    <a:lumMod val="50000"/>
                  </a:schemeClr>
                </a:solidFill>
                <a:latin typeface="Century Gothic" panose="020B0502020202020204" pitchFamily="34" charset="0"/>
              </a:rPr>
              <a:t>Getting Married</a:t>
            </a:r>
            <a:endParaRPr lang="en-IN" sz="1200" b="1" dirty="0">
              <a:solidFill>
                <a:schemeClr val="accent1">
                  <a:lumMod val="50000"/>
                </a:schemeClr>
              </a:solidFill>
              <a:latin typeface="Century Gothic" panose="020B0502020202020204" pitchFamily="34" charset="0"/>
            </a:endParaRPr>
          </a:p>
        </p:txBody>
      </p:sp>
      <p:cxnSp>
        <p:nvCxnSpPr>
          <p:cNvPr id="21" name="Straight Arrow Connector 20"/>
          <p:cNvCxnSpPr/>
          <p:nvPr/>
        </p:nvCxnSpPr>
        <p:spPr>
          <a:xfrm flipH="1">
            <a:off x="2481172" y="1087639"/>
            <a:ext cx="7461319" cy="0"/>
          </a:xfrm>
          <a:prstGeom prst="straightConnector1">
            <a:avLst/>
          </a:prstGeom>
          <a:ln>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4486867" y="905835"/>
            <a:ext cx="2460984" cy="461665"/>
          </a:xfrm>
          <a:prstGeom prst="rect">
            <a:avLst/>
          </a:prstGeom>
          <a:solidFill>
            <a:schemeClr val="bg1"/>
          </a:solidFill>
        </p:spPr>
        <p:txBody>
          <a:bodyPr wrap="square" rtlCol="0">
            <a:spAutoFit/>
          </a:bodyPr>
          <a:lstStyle/>
          <a:p>
            <a:pPr algn="ctr"/>
            <a:r>
              <a:rPr lang="en-IN" sz="1200" dirty="0" smtClean="0">
                <a:latin typeface="Century Gothic" panose="020B0502020202020204" pitchFamily="34" charset="0"/>
              </a:rPr>
              <a:t>Convert Term to permanent coverage</a:t>
            </a:r>
            <a:endParaRPr lang="en-IN" sz="1200" dirty="0">
              <a:latin typeface="Century Gothic" panose="020B0502020202020204" pitchFamily="34" charset="0"/>
            </a:endParaRPr>
          </a:p>
        </p:txBody>
      </p:sp>
      <p:cxnSp>
        <p:nvCxnSpPr>
          <p:cNvPr id="44" name="Straight Arrow Connector 43"/>
          <p:cNvCxnSpPr/>
          <p:nvPr/>
        </p:nvCxnSpPr>
        <p:spPr>
          <a:xfrm flipH="1">
            <a:off x="1267055" y="1478410"/>
            <a:ext cx="7461319" cy="0"/>
          </a:xfrm>
          <a:prstGeom prst="straightConnector1">
            <a:avLst/>
          </a:prstGeom>
          <a:ln>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783598" y="1376118"/>
            <a:ext cx="1950135" cy="276999"/>
          </a:xfrm>
          <a:prstGeom prst="rect">
            <a:avLst/>
          </a:prstGeom>
          <a:solidFill>
            <a:schemeClr val="bg1"/>
          </a:solidFill>
        </p:spPr>
        <p:txBody>
          <a:bodyPr wrap="square" rtlCol="0">
            <a:spAutoFit/>
          </a:bodyPr>
          <a:lstStyle/>
          <a:p>
            <a:pPr algn="ctr"/>
            <a:r>
              <a:rPr lang="en-IN" sz="1200" dirty="0" smtClean="0">
                <a:latin typeface="Century Gothic" panose="020B0502020202020204" pitchFamily="34" charset="0"/>
              </a:rPr>
              <a:t>Term Life Insurance</a:t>
            </a:r>
            <a:endParaRPr lang="en-IN" sz="1200" dirty="0">
              <a:latin typeface="Century Gothic" panose="020B0502020202020204" pitchFamily="34" charset="0"/>
            </a:endParaRPr>
          </a:p>
        </p:txBody>
      </p:sp>
      <p:sp>
        <p:nvSpPr>
          <p:cNvPr id="46" name="TextBox 45"/>
          <p:cNvSpPr txBox="1"/>
          <p:nvPr/>
        </p:nvSpPr>
        <p:spPr>
          <a:xfrm>
            <a:off x="1267055" y="4604554"/>
            <a:ext cx="2593899" cy="400110"/>
          </a:xfrm>
          <a:prstGeom prst="rect">
            <a:avLst/>
          </a:prstGeom>
          <a:noFill/>
        </p:spPr>
        <p:txBody>
          <a:bodyPr wrap="square" rtlCol="0">
            <a:spAutoFit/>
          </a:bodyPr>
          <a:lstStyle/>
          <a:p>
            <a:pPr marL="228600" indent="-228600">
              <a:buAutoNum type="arabicPeriod"/>
            </a:pPr>
            <a:r>
              <a:rPr lang="en-IN" sz="1000" dirty="0" smtClean="0">
                <a:solidFill>
                  <a:schemeClr val="bg2">
                    <a:lumMod val="50000"/>
                  </a:schemeClr>
                </a:solidFill>
                <a:latin typeface="Century Gothic" panose="020B0502020202020204" pitchFamily="34" charset="0"/>
              </a:rPr>
              <a:t>Basic Protection (Savings)</a:t>
            </a:r>
          </a:p>
          <a:p>
            <a:pPr marL="228600" indent="-228600">
              <a:buAutoNum type="arabicPeriod"/>
            </a:pPr>
            <a:r>
              <a:rPr lang="en-IN" sz="1000" dirty="0" smtClean="0">
                <a:solidFill>
                  <a:schemeClr val="bg2">
                    <a:lumMod val="50000"/>
                  </a:schemeClr>
                </a:solidFill>
                <a:latin typeface="Century Gothic" panose="020B0502020202020204" pitchFamily="34" charset="0"/>
              </a:rPr>
              <a:t>Quick Gains (ULIP)</a:t>
            </a:r>
            <a:endParaRPr lang="en-IN" sz="1000" dirty="0">
              <a:solidFill>
                <a:schemeClr val="bg2">
                  <a:lumMod val="50000"/>
                </a:schemeClr>
              </a:solidFill>
              <a:latin typeface="Century Gothic" panose="020B0502020202020204" pitchFamily="34" charset="0"/>
            </a:endParaRPr>
          </a:p>
        </p:txBody>
      </p:sp>
      <p:sp>
        <p:nvSpPr>
          <p:cNvPr id="47" name="TextBox 46"/>
          <p:cNvSpPr txBox="1"/>
          <p:nvPr/>
        </p:nvSpPr>
        <p:spPr>
          <a:xfrm>
            <a:off x="2977687" y="3762010"/>
            <a:ext cx="3118314" cy="553998"/>
          </a:xfrm>
          <a:prstGeom prst="rect">
            <a:avLst/>
          </a:prstGeom>
          <a:noFill/>
        </p:spPr>
        <p:txBody>
          <a:bodyPr wrap="square" rtlCol="0">
            <a:spAutoFit/>
          </a:bodyPr>
          <a:lstStyle/>
          <a:p>
            <a:pPr marL="228600" indent="-228600">
              <a:buAutoNum type="arabicPeriod"/>
            </a:pPr>
            <a:r>
              <a:rPr lang="en-IN" sz="1000" dirty="0" smtClean="0">
                <a:solidFill>
                  <a:schemeClr val="bg2">
                    <a:lumMod val="50000"/>
                  </a:schemeClr>
                </a:solidFill>
                <a:latin typeface="Century Gothic" panose="020B0502020202020204" pitchFamily="34" charset="0"/>
              </a:rPr>
              <a:t>Basic Family Protection (Term)</a:t>
            </a:r>
          </a:p>
          <a:p>
            <a:pPr marL="228600" indent="-228600">
              <a:buAutoNum type="arabicPeriod"/>
            </a:pPr>
            <a:r>
              <a:rPr lang="en-IN" sz="1000" dirty="0" smtClean="0">
                <a:solidFill>
                  <a:schemeClr val="bg2">
                    <a:lumMod val="50000"/>
                  </a:schemeClr>
                </a:solidFill>
                <a:latin typeface="Century Gothic" panose="020B0502020202020204" pitchFamily="34" charset="0"/>
              </a:rPr>
              <a:t>Quick Gains (ULIP)</a:t>
            </a:r>
          </a:p>
          <a:p>
            <a:pPr marL="228600" indent="-228600">
              <a:buAutoNum type="arabicPeriod"/>
            </a:pPr>
            <a:r>
              <a:rPr lang="en-IN" sz="1000" dirty="0" smtClean="0">
                <a:solidFill>
                  <a:schemeClr val="bg2">
                    <a:lumMod val="50000"/>
                  </a:schemeClr>
                </a:solidFill>
                <a:latin typeface="Century Gothic" panose="020B0502020202020204" pitchFamily="34" charset="0"/>
              </a:rPr>
              <a:t>Long Term  Savings (Savings)</a:t>
            </a:r>
            <a:endParaRPr lang="en-IN" sz="1000" dirty="0">
              <a:solidFill>
                <a:schemeClr val="bg2">
                  <a:lumMod val="50000"/>
                </a:schemeClr>
              </a:solidFill>
              <a:latin typeface="Century Gothic" panose="020B0502020202020204" pitchFamily="34" charset="0"/>
            </a:endParaRPr>
          </a:p>
        </p:txBody>
      </p:sp>
      <p:sp>
        <p:nvSpPr>
          <p:cNvPr id="48" name="TextBox 47"/>
          <p:cNvSpPr txBox="1"/>
          <p:nvPr/>
        </p:nvSpPr>
        <p:spPr>
          <a:xfrm>
            <a:off x="4688848" y="3185112"/>
            <a:ext cx="3118314" cy="400110"/>
          </a:xfrm>
          <a:prstGeom prst="rect">
            <a:avLst/>
          </a:prstGeom>
          <a:noFill/>
        </p:spPr>
        <p:txBody>
          <a:bodyPr wrap="square" rtlCol="0">
            <a:spAutoFit/>
          </a:bodyPr>
          <a:lstStyle/>
          <a:p>
            <a:pPr marL="228600" indent="-228600">
              <a:buAutoNum type="arabicPeriod"/>
            </a:pPr>
            <a:r>
              <a:rPr lang="en-IN" sz="1000" dirty="0" smtClean="0">
                <a:solidFill>
                  <a:schemeClr val="bg2">
                    <a:lumMod val="50000"/>
                  </a:schemeClr>
                </a:solidFill>
                <a:latin typeface="Century Gothic" panose="020B0502020202020204" pitchFamily="34" charset="0"/>
              </a:rPr>
              <a:t> Increase cover age on Savings</a:t>
            </a:r>
          </a:p>
          <a:p>
            <a:pPr marL="228600" indent="-228600">
              <a:buAutoNum type="arabicPeriod"/>
            </a:pPr>
            <a:r>
              <a:rPr lang="en-IN" sz="1000" dirty="0">
                <a:solidFill>
                  <a:schemeClr val="bg2">
                    <a:lumMod val="50000"/>
                  </a:schemeClr>
                </a:solidFill>
                <a:latin typeface="Century Gothic" panose="020B0502020202020204" pitchFamily="34" charset="0"/>
              </a:rPr>
              <a:t> </a:t>
            </a:r>
            <a:r>
              <a:rPr lang="en-IN" sz="1000" dirty="0" smtClean="0">
                <a:solidFill>
                  <a:schemeClr val="bg2">
                    <a:lumMod val="50000"/>
                  </a:schemeClr>
                </a:solidFill>
                <a:latin typeface="Century Gothic" panose="020B0502020202020204" pitchFamily="34" charset="0"/>
              </a:rPr>
              <a:t>Secure Child future (Child)</a:t>
            </a:r>
            <a:endParaRPr lang="en-IN" sz="1000" dirty="0">
              <a:solidFill>
                <a:schemeClr val="bg2">
                  <a:lumMod val="50000"/>
                </a:schemeClr>
              </a:solidFill>
              <a:latin typeface="Century Gothic" panose="020B0502020202020204" pitchFamily="34" charset="0"/>
            </a:endParaRPr>
          </a:p>
        </p:txBody>
      </p:sp>
      <p:sp>
        <p:nvSpPr>
          <p:cNvPr id="49" name="TextBox 48"/>
          <p:cNvSpPr txBox="1"/>
          <p:nvPr/>
        </p:nvSpPr>
        <p:spPr>
          <a:xfrm>
            <a:off x="7169217" y="2869529"/>
            <a:ext cx="3118314" cy="400110"/>
          </a:xfrm>
          <a:prstGeom prst="rect">
            <a:avLst/>
          </a:prstGeom>
          <a:noFill/>
        </p:spPr>
        <p:txBody>
          <a:bodyPr wrap="square" rtlCol="0">
            <a:spAutoFit/>
          </a:bodyPr>
          <a:lstStyle/>
          <a:p>
            <a:pPr marL="228600" indent="-228600">
              <a:buAutoNum type="arabicPeriod"/>
            </a:pPr>
            <a:r>
              <a:rPr lang="en-IN" sz="1000" dirty="0" smtClean="0">
                <a:solidFill>
                  <a:schemeClr val="bg2">
                    <a:lumMod val="50000"/>
                  </a:schemeClr>
                </a:solidFill>
                <a:latin typeface="Century Gothic" panose="020B0502020202020204" pitchFamily="34" charset="0"/>
              </a:rPr>
              <a:t>Plan for retirement (Retirement)</a:t>
            </a:r>
          </a:p>
          <a:p>
            <a:pPr marL="228600" indent="-228600">
              <a:buAutoNum type="arabicPeriod"/>
            </a:pPr>
            <a:r>
              <a:rPr lang="en-IN" sz="1000" dirty="0" smtClean="0">
                <a:solidFill>
                  <a:schemeClr val="bg2">
                    <a:lumMod val="50000"/>
                  </a:schemeClr>
                </a:solidFill>
                <a:latin typeface="Century Gothic" panose="020B0502020202020204" pitchFamily="34" charset="0"/>
              </a:rPr>
              <a:t>Charitable Involvement</a:t>
            </a:r>
            <a:endParaRPr lang="en-IN" sz="1000" dirty="0">
              <a:solidFill>
                <a:schemeClr val="bg2">
                  <a:lumMod val="50000"/>
                </a:schemeClr>
              </a:solidFill>
              <a:latin typeface="Century Gothic" panose="020B0502020202020204" pitchFamily="34" charset="0"/>
            </a:endParaRPr>
          </a:p>
        </p:txBody>
      </p:sp>
      <p:sp>
        <p:nvSpPr>
          <p:cNvPr id="51" name="TextBox 50"/>
          <p:cNvSpPr txBox="1"/>
          <p:nvPr/>
        </p:nvSpPr>
        <p:spPr>
          <a:xfrm>
            <a:off x="10057405" y="2394419"/>
            <a:ext cx="3118314" cy="400110"/>
          </a:xfrm>
          <a:prstGeom prst="rect">
            <a:avLst/>
          </a:prstGeom>
          <a:noFill/>
        </p:spPr>
        <p:txBody>
          <a:bodyPr wrap="square" rtlCol="0">
            <a:spAutoFit/>
          </a:bodyPr>
          <a:lstStyle/>
          <a:p>
            <a:pPr marL="228600" indent="-228600">
              <a:buAutoNum type="arabicPeriod"/>
            </a:pPr>
            <a:r>
              <a:rPr lang="en-IN" sz="1000" dirty="0" smtClean="0">
                <a:solidFill>
                  <a:schemeClr val="bg2">
                    <a:lumMod val="50000"/>
                  </a:schemeClr>
                </a:solidFill>
                <a:latin typeface="Century Gothic" panose="020B0502020202020204" pitchFamily="34" charset="0"/>
              </a:rPr>
              <a:t>Savings(</a:t>
            </a:r>
          </a:p>
          <a:p>
            <a:pPr marL="228600" indent="-228600">
              <a:buAutoNum type="arabicPeriod"/>
            </a:pPr>
            <a:r>
              <a:rPr lang="en-IN" sz="1000" dirty="0" smtClean="0">
                <a:solidFill>
                  <a:schemeClr val="bg2">
                    <a:lumMod val="50000"/>
                  </a:schemeClr>
                </a:solidFill>
                <a:latin typeface="Century Gothic" panose="020B0502020202020204" pitchFamily="34" charset="0"/>
              </a:rPr>
              <a:t>Charitable Involvement</a:t>
            </a:r>
            <a:endParaRPr lang="en-IN" sz="1000" dirty="0">
              <a:solidFill>
                <a:schemeClr val="bg2">
                  <a:lumMod val="50000"/>
                </a:schemeClr>
              </a:solidFill>
              <a:latin typeface="Century Gothic" panose="020B0502020202020204" pitchFamily="34" charset="0"/>
            </a:endParaRPr>
          </a:p>
        </p:txBody>
      </p:sp>
    </p:spTree>
    <p:extLst>
      <p:ext uri="{BB962C8B-B14F-4D97-AF65-F5344CB8AC3E}">
        <p14:creationId xmlns:p14="http://schemas.microsoft.com/office/powerpoint/2010/main" val="268649422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28</a:t>
            </a:fld>
            <a:endParaRPr lang="en-IN" dirty="0">
              <a:solidFill>
                <a:srgbClr val="000000">
                  <a:tint val="75000"/>
                </a:srgbClr>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349285"/>
          </a:xfrm>
          <a:prstGeom prst="rect">
            <a:avLst/>
          </a:prstGeom>
        </p:spPr>
      </p:pic>
      <p:sp>
        <p:nvSpPr>
          <p:cNvPr id="5" name="Rectangle 4"/>
          <p:cNvSpPr/>
          <p:nvPr/>
        </p:nvSpPr>
        <p:spPr>
          <a:xfrm>
            <a:off x="103030" y="188912"/>
            <a:ext cx="4000199" cy="830997"/>
          </a:xfrm>
          <a:prstGeom prst="rect">
            <a:avLst/>
          </a:prstGeom>
        </p:spPr>
        <p:txBody>
          <a:bodyPr wrap="none">
            <a:spAutoFit/>
          </a:bodyPr>
          <a:lstStyle/>
          <a:p>
            <a:pPr algn="r"/>
            <a:r>
              <a:rPr lang="en-GB" sz="48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rPr>
              <a:t>Insurance Data</a:t>
            </a:r>
            <a:endParaRPr lang="en-IN" sz="32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endParaRPr>
          </a:p>
        </p:txBody>
      </p:sp>
    </p:spTree>
    <p:extLst>
      <p:ext uri="{BB962C8B-B14F-4D97-AF65-F5344CB8AC3E}">
        <p14:creationId xmlns:p14="http://schemas.microsoft.com/office/powerpoint/2010/main" val="402134795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3900719" y="291779"/>
              <a:ext cx="4390754"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Insurance Data Offerings</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0" name="TextBox 49"/>
          <p:cNvSpPr txBox="1"/>
          <p:nvPr/>
        </p:nvSpPr>
        <p:spPr>
          <a:xfrm>
            <a:off x="5109845" y="712958"/>
            <a:ext cx="1675172" cy="646331"/>
          </a:xfrm>
          <a:prstGeom prst="rect">
            <a:avLst/>
          </a:prstGeom>
          <a:noFill/>
        </p:spPr>
        <p:txBody>
          <a:bodyPr wrap="square" rtlCol="0">
            <a:spAutoFit/>
          </a:bodyPr>
          <a:lstStyle/>
          <a:p>
            <a:pPr algn="ctr"/>
            <a:r>
              <a:rPr lang="en-IN" dirty="0" smtClean="0">
                <a:solidFill>
                  <a:schemeClr val="bg1"/>
                </a:solidFill>
                <a:latin typeface="Century Gothic" panose="020B0502020202020204" pitchFamily="34" charset="0"/>
              </a:rPr>
              <a:t>Financial Institutions</a:t>
            </a:r>
            <a:endParaRPr lang="en-IN" dirty="0">
              <a:solidFill>
                <a:schemeClr val="bg1"/>
              </a:solidFill>
              <a:latin typeface="Century Gothic" panose="020B0502020202020204" pitchFamily="34" charset="0"/>
            </a:endParaRPr>
          </a:p>
        </p:txBody>
      </p:sp>
      <p:pic>
        <p:nvPicPr>
          <p:cNvPr id="52" name="Picture 51"/>
          <p:cNvPicPr>
            <a:picLocks noChangeAspect="1"/>
          </p:cNvPicPr>
          <p:nvPr/>
        </p:nvPicPr>
        <p:blipFill>
          <a:blip r:embed="rId3"/>
          <a:stretch>
            <a:fillRect/>
          </a:stretch>
        </p:blipFill>
        <p:spPr>
          <a:xfrm>
            <a:off x="2006127" y="960478"/>
            <a:ext cx="7624068" cy="4745049"/>
          </a:xfrm>
          <a:prstGeom prst="rect">
            <a:avLst/>
          </a:prstGeom>
        </p:spPr>
      </p:pic>
      <p:sp>
        <p:nvSpPr>
          <p:cNvPr id="53" name="Flowchart: Terminator 52"/>
          <p:cNvSpPr/>
          <p:nvPr/>
        </p:nvSpPr>
        <p:spPr>
          <a:xfrm>
            <a:off x="7655641" y="3996468"/>
            <a:ext cx="1509183" cy="509890"/>
          </a:xfrm>
          <a:prstGeom prst="flowChartTerminator">
            <a:avLst/>
          </a:prstGeom>
          <a:solidFill>
            <a:schemeClr val="tx2">
              <a:lumMod val="20000"/>
              <a:lumOff val="80000"/>
            </a:schemeClr>
          </a:solidFill>
          <a:ln>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2">
                    <a:lumMod val="50000"/>
                  </a:schemeClr>
                </a:solidFill>
              </a:rPr>
              <a:t>4</a:t>
            </a:r>
            <a:r>
              <a:rPr lang="en-US" sz="1600" dirty="0" smtClean="0">
                <a:solidFill>
                  <a:schemeClr val="tx2">
                    <a:lumMod val="50000"/>
                  </a:schemeClr>
                </a:solidFill>
              </a:rPr>
              <a:t>. 	</a:t>
            </a:r>
            <a:endParaRPr lang="en-IN" sz="1600" dirty="0">
              <a:solidFill>
                <a:schemeClr val="tx2">
                  <a:lumMod val="50000"/>
                </a:schemeClr>
              </a:solidFill>
            </a:endParaRPr>
          </a:p>
        </p:txBody>
      </p:sp>
      <p:sp>
        <p:nvSpPr>
          <p:cNvPr id="54" name="Flowchart: Terminator 53"/>
          <p:cNvSpPr/>
          <p:nvPr/>
        </p:nvSpPr>
        <p:spPr>
          <a:xfrm>
            <a:off x="8028070" y="2476681"/>
            <a:ext cx="1607133" cy="524319"/>
          </a:xfrm>
          <a:prstGeom prst="flowChartTerminator">
            <a:avLst/>
          </a:prstGeom>
          <a:solidFill>
            <a:schemeClr val="tx2">
              <a:lumMod val="20000"/>
              <a:lumOff val="80000"/>
            </a:schemeClr>
          </a:solidFill>
          <a:ln>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2">
                    <a:lumMod val="50000"/>
                  </a:schemeClr>
                </a:solidFill>
              </a:rPr>
              <a:t>3</a:t>
            </a:r>
            <a:r>
              <a:rPr lang="en-US" sz="1600" dirty="0" smtClean="0">
                <a:solidFill>
                  <a:schemeClr val="tx2">
                    <a:lumMod val="50000"/>
                  </a:schemeClr>
                </a:solidFill>
              </a:rPr>
              <a:t>. 		</a:t>
            </a:r>
            <a:endParaRPr lang="en-IN" sz="1600" dirty="0">
              <a:solidFill>
                <a:schemeClr val="tx2">
                  <a:lumMod val="50000"/>
                </a:schemeClr>
              </a:solidFill>
            </a:endParaRPr>
          </a:p>
        </p:txBody>
      </p:sp>
      <p:sp>
        <p:nvSpPr>
          <p:cNvPr id="55" name="Flowchart: Terminator 54"/>
          <p:cNvSpPr/>
          <p:nvPr/>
        </p:nvSpPr>
        <p:spPr>
          <a:xfrm>
            <a:off x="5773030" y="1147722"/>
            <a:ext cx="1251288" cy="437401"/>
          </a:xfrm>
          <a:prstGeom prst="flowChartTerminator">
            <a:avLst/>
          </a:prstGeom>
          <a:solidFill>
            <a:schemeClr val="tx2">
              <a:lumMod val="20000"/>
              <a:lumOff val="80000"/>
            </a:schemeClr>
          </a:solidFill>
          <a:ln>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solidFill>
                  <a:schemeClr val="tx2">
                    <a:lumMod val="50000"/>
                  </a:schemeClr>
                </a:solidFill>
              </a:rPr>
              <a:t> 2. 		           </a:t>
            </a:r>
            <a:endParaRPr lang="en-IN" sz="1600" dirty="0">
              <a:solidFill>
                <a:schemeClr val="tx2">
                  <a:lumMod val="50000"/>
                </a:schemeClr>
              </a:solidFill>
            </a:endParaRPr>
          </a:p>
        </p:txBody>
      </p:sp>
      <p:sp>
        <p:nvSpPr>
          <p:cNvPr id="57" name="Flowchart: Terminator 56"/>
          <p:cNvSpPr/>
          <p:nvPr/>
        </p:nvSpPr>
        <p:spPr>
          <a:xfrm>
            <a:off x="352192" y="2554316"/>
            <a:ext cx="2410302" cy="509890"/>
          </a:xfrm>
          <a:prstGeom prst="flowChartTerminator">
            <a:avLst/>
          </a:prstGeom>
          <a:solidFill>
            <a:schemeClr val="tx2">
              <a:lumMod val="20000"/>
              <a:lumOff val="80000"/>
            </a:schemeClr>
          </a:solidFill>
          <a:ln>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2">
                    <a:lumMod val="50000"/>
                  </a:schemeClr>
                </a:solidFill>
              </a:rPr>
              <a:t>7</a:t>
            </a:r>
            <a:r>
              <a:rPr lang="en-US" sz="1600" dirty="0" smtClean="0">
                <a:solidFill>
                  <a:schemeClr val="tx2">
                    <a:lumMod val="50000"/>
                  </a:schemeClr>
                </a:solidFill>
              </a:rPr>
              <a:t>. Product</a:t>
            </a:r>
            <a:endParaRPr lang="en-IN" sz="1600" dirty="0">
              <a:solidFill>
                <a:schemeClr val="tx2">
                  <a:lumMod val="50000"/>
                </a:schemeClr>
              </a:solidFill>
            </a:endParaRPr>
          </a:p>
        </p:txBody>
      </p:sp>
      <p:sp>
        <p:nvSpPr>
          <p:cNvPr id="58" name="Flowchart: Terminator 57"/>
          <p:cNvSpPr/>
          <p:nvPr/>
        </p:nvSpPr>
        <p:spPr>
          <a:xfrm>
            <a:off x="2284411" y="4643121"/>
            <a:ext cx="1927434" cy="443300"/>
          </a:xfrm>
          <a:prstGeom prst="flowChartTerminator">
            <a:avLst/>
          </a:prstGeom>
          <a:solidFill>
            <a:schemeClr val="tx2">
              <a:lumMod val="20000"/>
              <a:lumOff val="80000"/>
            </a:schemeClr>
          </a:solidFill>
          <a:ln>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2">
                    <a:lumMod val="50000"/>
                  </a:schemeClr>
                </a:solidFill>
              </a:rPr>
              <a:t>6</a:t>
            </a:r>
            <a:r>
              <a:rPr lang="en-US" sz="1600" dirty="0" smtClean="0">
                <a:solidFill>
                  <a:schemeClr val="tx2">
                    <a:lumMod val="50000"/>
                  </a:schemeClr>
                </a:solidFill>
              </a:rPr>
              <a:t>. CRM</a:t>
            </a:r>
            <a:endParaRPr lang="en-IN" sz="1600" dirty="0">
              <a:solidFill>
                <a:schemeClr val="tx2">
                  <a:lumMod val="50000"/>
                </a:schemeClr>
              </a:solidFill>
            </a:endParaRPr>
          </a:p>
        </p:txBody>
      </p:sp>
      <p:sp>
        <p:nvSpPr>
          <p:cNvPr id="59" name="Flowchart: Terminator 58"/>
          <p:cNvSpPr/>
          <p:nvPr/>
        </p:nvSpPr>
        <p:spPr>
          <a:xfrm>
            <a:off x="8800828" y="3970851"/>
            <a:ext cx="2778480" cy="509890"/>
          </a:xfrm>
          <a:prstGeom prst="flowChartTerminator">
            <a:avLst/>
          </a:prstGeom>
          <a:solidFill>
            <a:schemeClr val="tx2">
              <a:lumMod val="20000"/>
              <a:lumOff val="80000"/>
            </a:schemeClr>
          </a:solidFill>
          <a:ln>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2">
                    <a:lumMod val="50000"/>
                  </a:schemeClr>
                </a:solidFill>
              </a:rPr>
              <a:t> Claims</a:t>
            </a:r>
            <a:endParaRPr lang="en-IN" sz="1600" dirty="0">
              <a:solidFill>
                <a:schemeClr val="tx2">
                  <a:lumMod val="50000"/>
                </a:schemeClr>
              </a:solidFill>
            </a:endParaRPr>
          </a:p>
        </p:txBody>
      </p:sp>
      <p:sp>
        <p:nvSpPr>
          <p:cNvPr id="60" name="Flowchart: Terminator 59"/>
          <p:cNvSpPr/>
          <p:nvPr/>
        </p:nvSpPr>
        <p:spPr>
          <a:xfrm>
            <a:off x="9166981" y="2459110"/>
            <a:ext cx="2564214" cy="524319"/>
          </a:xfrm>
          <a:prstGeom prst="flowChartTerminator">
            <a:avLst/>
          </a:prstGeom>
          <a:solidFill>
            <a:schemeClr val="tx2">
              <a:lumMod val="20000"/>
              <a:lumOff val="80000"/>
            </a:schemeClr>
          </a:solidFill>
          <a:ln>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2">
                    <a:lumMod val="50000"/>
                  </a:schemeClr>
                </a:solidFill>
              </a:rPr>
              <a:t>Agent</a:t>
            </a:r>
            <a:endParaRPr lang="en-IN" sz="1600" dirty="0">
              <a:solidFill>
                <a:schemeClr val="tx2">
                  <a:lumMod val="50000"/>
                </a:schemeClr>
              </a:solidFill>
            </a:endParaRPr>
          </a:p>
        </p:txBody>
      </p:sp>
      <p:sp>
        <p:nvSpPr>
          <p:cNvPr id="61" name="Flowchart: Terminator 60"/>
          <p:cNvSpPr/>
          <p:nvPr/>
        </p:nvSpPr>
        <p:spPr>
          <a:xfrm>
            <a:off x="7327978" y="1159920"/>
            <a:ext cx="1618917" cy="437401"/>
          </a:xfrm>
          <a:prstGeom prst="flowChartTerminator">
            <a:avLst/>
          </a:prstGeom>
          <a:solidFill>
            <a:schemeClr val="tx2">
              <a:lumMod val="20000"/>
              <a:lumOff val="80000"/>
            </a:schemeClr>
          </a:solidFill>
          <a:ln>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2">
                    <a:lumMod val="50000"/>
                  </a:schemeClr>
                </a:solidFill>
              </a:rPr>
              <a:t> Policy</a:t>
            </a:r>
            <a:endParaRPr lang="en-IN" sz="1600" dirty="0">
              <a:solidFill>
                <a:schemeClr val="tx2">
                  <a:lumMod val="50000"/>
                </a:schemeClr>
              </a:solidFill>
            </a:endParaRPr>
          </a:p>
        </p:txBody>
      </p:sp>
      <p:sp>
        <p:nvSpPr>
          <p:cNvPr id="63" name="Oval 62"/>
          <p:cNvSpPr/>
          <p:nvPr/>
        </p:nvSpPr>
        <p:spPr>
          <a:xfrm>
            <a:off x="8084824" y="3644702"/>
            <a:ext cx="1080000" cy="1080000"/>
          </a:xfrm>
          <a:prstGeom prst="ellipse">
            <a:avLst/>
          </a:prstGeom>
          <a:solidFill>
            <a:schemeClr val="bg1"/>
          </a:solidFill>
          <a:ln w="38100">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Oval 64"/>
          <p:cNvSpPr/>
          <p:nvPr/>
        </p:nvSpPr>
        <p:spPr>
          <a:xfrm>
            <a:off x="3980573" y="4325049"/>
            <a:ext cx="1080000" cy="1080000"/>
          </a:xfrm>
          <a:prstGeom prst="ellipse">
            <a:avLst/>
          </a:prstGeom>
          <a:solidFill>
            <a:schemeClr val="bg1"/>
          </a:solidFill>
          <a:ln w="38100">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Oval 65"/>
          <p:cNvSpPr/>
          <p:nvPr/>
        </p:nvSpPr>
        <p:spPr>
          <a:xfrm>
            <a:off x="2502865" y="2173368"/>
            <a:ext cx="1080000" cy="1080000"/>
          </a:xfrm>
          <a:prstGeom prst="ellipse">
            <a:avLst/>
          </a:prstGeom>
          <a:solidFill>
            <a:schemeClr val="bg1"/>
          </a:solidFill>
          <a:ln w="38100">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Oval 66"/>
          <p:cNvSpPr/>
          <p:nvPr/>
        </p:nvSpPr>
        <p:spPr>
          <a:xfrm>
            <a:off x="6473434" y="919047"/>
            <a:ext cx="1080000" cy="1080000"/>
          </a:xfrm>
          <a:prstGeom prst="ellipse">
            <a:avLst/>
          </a:prstGeom>
          <a:solidFill>
            <a:schemeClr val="bg1"/>
          </a:solidFill>
          <a:ln w="38100">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Oval 67"/>
          <p:cNvSpPr/>
          <p:nvPr/>
        </p:nvSpPr>
        <p:spPr>
          <a:xfrm>
            <a:off x="8438395" y="2183129"/>
            <a:ext cx="1080000" cy="1080000"/>
          </a:xfrm>
          <a:prstGeom prst="ellipse">
            <a:avLst/>
          </a:prstGeom>
          <a:solidFill>
            <a:schemeClr val="bg1"/>
          </a:solidFill>
          <a:ln w="38100">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Rectangle 72"/>
          <p:cNvSpPr/>
          <p:nvPr/>
        </p:nvSpPr>
        <p:spPr>
          <a:xfrm>
            <a:off x="8952758" y="1157162"/>
            <a:ext cx="2755681" cy="360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Customer Policy Information</a:t>
            </a:r>
            <a:endParaRPr lang="en-IN" sz="1400" dirty="0">
              <a:solidFill>
                <a:schemeClr val="tx1"/>
              </a:solidFill>
            </a:endParaRPr>
          </a:p>
        </p:txBody>
      </p:sp>
      <p:sp>
        <p:nvSpPr>
          <p:cNvPr id="74" name="Rectangle 73"/>
          <p:cNvSpPr/>
          <p:nvPr/>
        </p:nvSpPr>
        <p:spPr>
          <a:xfrm>
            <a:off x="9010996" y="4528031"/>
            <a:ext cx="3197521" cy="5159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History of all claims on the policies and its resolution</a:t>
            </a:r>
            <a:endParaRPr lang="en-IN" sz="1400" dirty="0">
              <a:solidFill>
                <a:schemeClr val="tx1"/>
              </a:solidFill>
            </a:endParaRPr>
          </a:p>
        </p:txBody>
      </p:sp>
      <p:sp>
        <p:nvSpPr>
          <p:cNvPr id="75" name="Rectangle 74"/>
          <p:cNvSpPr/>
          <p:nvPr/>
        </p:nvSpPr>
        <p:spPr>
          <a:xfrm>
            <a:off x="172537" y="4486926"/>
            <a:ext cx="2134535" cy="14354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dirty="0" smtClean="0">
                <a:solidFill>
                  <a:schemeClr val="tx1"/>
                </a:solidFill>
              </a:rPr>
              <a:t>All data on customer relationship management, customer complaints</a:t>
            </a:r>
            <a:endParaRPr lang="en-IN" sz="1400" dirty="0">
              <a:solidFill>
                <a:schemeClr val="tx1"/>
              </a:solidFill>
            </a:endParaRPr>
          </a:p>
        </p:txBody>
      </p:sp>
      <p:sp>
        <p:nvSpPr>
          <p:cNvPr id="76" name="Rectangle 75"/>
          <p:cNvSpPr/>
          <p:nvPr/>
        </p:nvSpPr>
        <p:spPr>
          <a:xfrm>
            <a:off x="425693" y="2993865"/>
            <a:ext cx="2219308" cy="5598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Product related information</a:t>
            </a:r>
            <a:endParaRPr lang="en-IN" sz="1400" dirty="0">
              <a:solidFill>
                <a:schemeClr val="tx1"/>
              </a:solidFill>
            </a:endParaRPr>
          </a:p>
        </p:txBody>
      </p:sp>
      <p:sp>
        <p:nvSpPr>
          <p:cNvPr id="77" name="Rectangle 76"/>
          <p:cNvSpPr/>
          <p:nvPr/>
        </p:nvSpPr>
        <p:spPr>
          <a:xfrm>
            <a:off x="9331210" y="3165699"/>
            <a:ext cx="2581346" cy="2220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Data of all agents who facilitate insurance policy sell</a:t>
            </a:r>
            <a:endParaRPr lang="en-IN" sz="1400" dirty="0">
              <a:solidFill>
                <a:schemeClr val="tx1"/>
              </a:solidFill>
            </a:endParaRPr>
          </a:p>
        </p:txBody>
      </p:sp>
      <p:sp>
        <p:nvSpPr>
          <p:cNvPr id="78" name="Flowchart: Terminator 77"/>
          <p:cNvSpPr/>
          <p:nvPr/>
        </p:nvSpPr>
        <p:spPr>
          <a:xfrm>
            <a:off x="2429350" y="1175429"/>
            <a:ext cx="2201806" cy="451125"/>
          </a:xfrm>
          <a:prstGeom prst="flowChartTerminator">
            <a:avLst/>
          </a:prstGeom>
          <a:solidFill>
            <a:schemeClr val="tx2">
              <a:lumMod val="20000"/>
              <a:lumOff val="80000"/>
            </a:schemeClr>
          </a:solidFill>
          <a:ln>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2">
                    <a:lumMod val="50000"/>
                  </a:schemeClr>
                </a:solidFill>
              </a:rPr>
              <a:t>1. Customer</a:t>
            </a:r>
          </a:p>
        </p:txBody>
      </p:sp>
      <p:pic>
        <p:nvPicPr>
          <p:cNvPr id="79" name="Picture 2" descr="http://static1.squarespace.com/static/52cf6a7ae4b0578e3678a9cf/t/53427862e4b057b06885590f/13968651231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8598" y="908120"/>
            <a:ext cx="1097475" cy="1085068"/>
          </a:xfrm>
          <a:prstGeom prst="rect">
            <a:avLst/>
          </a:prstGeom>
          <a:noFill/>
          <a:extLst>
            <a:ext uri="{909E8E84-426E-40DD-AFC4-6F175D3DCCD1}">
              <a14:hiddenFill xmlns:a14="http://schemas.microsoft.com/office/drawing/2010/main">
                <a:solidFill>
                  <a:srgbClr val="FFFFFF"/>
                </a:solidFill>
              </a14:hiddenFill>
            </a:ext>
          </a:extLst>
        </p:spPr>
      </p:pic>
      <p:sp>
        <p:nvSpPr>
          <p:cNvPr id="80" name="Oval 79"/>
          <p:cNvSpPr/>
          <p:nvPr/>
        </p:nvSpPr>
        <p:spPr>
          <a:xfrm>
            <a:off x="4396073" y="913188"/>
            <a:ext cx="1080000" cy="1080000"/>
          </a:xfrm>
          <a:prstGeom prst="ellipse">
            <a:avLst/>
          </a:prstGeom>
          <a:noFill/>
          <a:ln w="38100">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Rectangle 82"/>
          <p:cNvSpPr/>
          <p:nvPr/>
        </p:nvSpPr>
        <p:spPr>
          <a:xfrm>
            <a:off x="549907" y="1112453"/>
            <a:ext cx="1854757" cy="5598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dirty="0" smtClean="0">
                <a:solidFill>
                  <a:schemeClr val="tx1"/>
                </a:solidFill>
              </a:rPr>
              <a:t>Existing customer base</a:t>
            </a:r>
            <a:endParaRPr lang="en-IN" sz="1400" dirty="0">
              <a:solidFill>
                <a:schemeClr val="tx1"/>
              </a:solidFill>
            </a:endParaRPr>
          </a:p>
        </p:txBody>
      </p:sp>
      <p:sp>
        <p:nvSpPr>
          <p:cNvPr id="84" name="Flowchart: Terminator 83"/>
          <p:cNvSpPr/>
          <p:nvPr/>
        </p:nvSpPr>
        <p:spPr>
          <a:xfrm>
            <a:off x="5382010" y="4898552"/>
            <a:ext cx="1509183" cy="509890"/>
          </a:xfrm>
          <a:prstGeom prst="flowChartTerminator">
            <a:avLst/>
          </a:prstGeom>
          <a:solidFill>
            <a:schemeClr val="tx2">
              <a:lumMod val="20000"/>
              <a:lumOff val="80000"/>
            </a:schemeClr>
          </a:solidFill>
          <a:ln>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2">
                    <a:lumMod val="50000"/>
                  </a:schemeClr>
                </a:solidFill>
              </a:rPr>
              <a:t>5</a:t>
            </a:r>
            <a:r>
              <a:rPr lang="en-US" sz="1600" dirty="0" smtClean="0">
                <a:solidFill>
                  <a:schemeClr val="tx2">
                    <a:lumMod val="50000"/>
                  </a:schemeClr>
                </a:solidFill>
              </a:rPr>
              <a:t>. 	</a:t>
            </a:r>
            <a:endParaRPr lang="en-IN" sz="1600" dirty="0">
              <a:solidFill>
                <a:schemeClr val="tx2">
                  <a:lumMod val="50000"/>
                </a:schemeClr>
              </a:solidFill>
            </a:endParaRPr>
          </a:p>
        </p:txBody>
      </p:sp>
      <p:sp>
        <p:nvSpPr>
          <p:cNvPr id="85" name="Flowchart: Terminator 84"/>
          <p:cNvSpPr/>
          <p:nvPr/>
        </p:nvSpPr>
        <p:spPr>
          <a:xfrm>
            <a:off x="6452591" y="4914591"/>
            <a:ext cx="2459420" cy="509890"/>
          </a:xfrm>
          <a:prstGeom prst="flowChartTerminator">
            <a:avLst/>
          </a:prstGeom>
          <a:solidFill>
            <a:schemeClr val="tx2">
              <a:lumMod val="20000"/>
              <a:lumOff val="80000"/>
            </a:schemeClr>
          </a:solidFill>
          <a:ln>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2">
                    <a:lumMod val="50000"/>
                  </a:schemeClr>
                </a:solidFill>
              </a:rPr>
              <a:t> Payout</a:t>
            </a:r>
            <a:endParaRPr lang="en-IN" sz="1600" dirty="0">
              <a:solidFill>
                <a:schemeClr val="tx2">
                  <a:lumMod val="50000"/>
                </a:schemeClr>
              </a:solidFill>
            </a:endParaRPr>
          </a:p>
        </p:txBody>
      </p:sp>
      <p:sp>
        <p:nvSpPr>
          <p:cNvPr id="86" name="Oval 85"/>
          <p:cNvSpPr/>
          <p:nvPr/>
        </p:nvSpPr>
        <p:spPr>
          <a:xfrm>
            <a:off x="5743942" y="4606484"/>
            <a:ext cx="1080000" cy="1080000"/>
          </a:xfrm>
          <a:prstGeom prst="ellipse">
            <a:avLst/>
          </a:prstGeom>
          <a:solidFill>
            <a:schemeClr val="bg1"/>
          </a:solidFill>
          <a:ln w="38100">
            <a:solidFill>
              <a:srgbClr val="00A8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Rectangle 87"/>
          <p:cNvSpPr/>
          <p:nvPr/>
        </p:nvSpPr>
        <p:spPr>
          <a:xfrm>
            <a:off x="6659612" y="5432394"/>
            <a:ext cx="3530456" cy="5159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All payouts made by the </a:t>
            </a:r>
          </a:p>
          <a:p>
            <a:r>
              <a:rPr lang="en-US" sz="1400" dirty="0" smtClean="0">
                <a:solidFill>
                  <a:schemeClr val="tx1"/>
                </a:solidFill>
              </a:rPr>
              <a:t>insurance company</a:t>
            </a:r>
          </a:p>
        </p:txBody>
      </p:sp>
      <p:pic>
        <p:nvPicPr>
          <p:cNvPr id="89" name="Picture 8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40859" y="1133674"/>
            <a:ext cx="574300" cy="582026"/>
          </a:xfrm>
          <a:prstGeom prst="rect">
            <a:avLst/>
          </a:prstGeom>
        </p:spPr>
      </p:pic>
      <p:pic>
        <p:nvPicPr>
          <p:cNvPr id="2" name="Picture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618903" y="2456797"/>
            <a:ext cx="701245" cy="549567"/>
          </a:xfrm>
          <a:prstGeom prst="rect">
            <a:avLst/>
          </a:prstGeom>
        </p:spPr>
      </p:pic>
      <p:pic>
        <p:nvPicPr>
          <p:cNvPr id="5" name="Picture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62683" y="3996137"/>
            <a:ext cx="853394" cy="444533"/>
          </a:xfrm>
          <a:prstGeom prst="rect">
            <a:avLst/>
          </a:prstGeom>
        </p:spPr>
      </p:pic>
      <p:pic>
        <p:nvPicPr>
          <p:cNvPr id="9" name="Picture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871980" y="4824766"/>
            <a:ext cx="771579" cy="656616"/>
          </a:xfrm>
          <a:prstGeom prst="rect">
            <a:avLst/>
          </a:prstGeom>
        </p:spPr>
      </p:pic>
      <p:pic>
        <p:nvPicPr>
          <p:cNvPr id="16" name="Picture 1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211845" y="4574469"/>
            <a:ext cx="625992" cy="625992"/>
          </a:xfrm>
          <a:prstGeom prst="rect">
            <a:avLst/>
          </a:prstGeom>
        </p:spPr>
      </p:pic>
      <p:pic>
        <p:nvPicPr>
          <p:cNvPr id="18" name="Picture 1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734800" y="2343436"/>
            <a:ext cx="652343" cy="652343"/>
          </a:xfrm>
          <a:prstGeom prst="rect">
            <a:avLst/>
          </a:prstGeom>
        </p:spPr>
      </p:pic>
      <p:pic>
        <p:nvPicPr>
          <p:cNvPr id="19" name="Picture 18"/>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100034" y="2582042"/>
            <a:ext cx="1972885" cy="917092"/>
          </a:xfrm>
          <a:prstGeom prst="ellipse">
            <a:avLst/>
          </a:prstGeom>
        </p:spPr>
      </p:pic>
    </p:spTree>
    <p:extLst>
      <p:ext uri="{BB962C8B-B14F-4D97-AF65-F5344CB8AC3E}">
        <p14:creationId xmlns:p14="http://schemas.microsoft.com/office/powerpoint/2010/main" val="132233863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30</a:t>
            </a:fld>
            <a:endParaRPr lang="en-IN" dirty="0">
              <a:solidFill>
                <a:srgbClr val="000000">
                  <a:tint val="75000"/>
                </a:srgbClr>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50"/>
            <a:ext cx="12192000" cy="6304298"/>
          </a:xfrm>
          <a:prstGeom prst="rect">
            <a:avLst/>
          </a:prstGeom>
        </p:spPr>
      </p:pic>
      <p:sp>
        <p:nvSpPr>
          <p:cNvPr id="6" name="Rectangle 5"/>
          <p:cNvSpPr/>
          <p:nvPr/>
        </p:nvSpPr>
        <p:spPr>
          <a:xfrm>
            <a:off x="155143" y="188912"/>
            <a:ext cx="5940857" cy="1569660"/>
          </a:xfrm>
          <a:prstGeom prst="rect">
            <a:avLst/>
          </a:prstGeom>
        </p:spPr>
        <p:txBody>
          <a:bodyPr wrap="none">
            <a:spAutoFit/>
          </a:bodyPr>
          <a:lstStyle/>
          <a:p>
            <a:pPr algn="r"/>
            <a:r>
              <a:rPr lang="en-GB" sz="48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rPr>
              <a:t>Analytics Opportunity </a:t>
            </a:r>
          </a:p>
          <a:p>
            <a:pPr algn="ctr"/>
            <a:r>
              <a:rPr lang="en-GB" sz="48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rPr>
              <a:t>in Insurance</a:t>
            </a:r>
            <a:endParaRPr lang="en-IN" sz="3200" b="1" dirty="0" smtClean="0">
              <a:solidFill>
                <a:schemeClr val="bg1"/>
              </a:solidFill>
              <a:effectLst>
                <a:outerShdw blurRad="38100" dist="38100" dir="2700000" algn="tl">
                  <a:srgbClr val="000000">
                    <a:alpha val="43137"/>
                  </a:srgbClr>
                </a:outerShdw>
              </a:effectLst>
              <a:latin typeface="Calibri" charset="0"/>
              <a:ea typeface="Calibri" charset="0"/>
              <a:cs typeface="Calibri" charset="0"/>
            </a:endParaRPr>
          </a:p>
        </p:txBody>
      </p:sp>
    </p:spTree>
    <p:extLst>
      <p:ext uri="{BB962C8B-B14F-4D97-AF65-F5344CB8AC3E}">
        <p14:creationId xmlns:p14="http://schemas.microsoft.com/office/powerpoint/2010/main" val="14800500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31</a:t>
            </a:fld>
            <a:endParaRPr lang="en-IN" dirty="0">
              <a:solidFill>
                <a:srgbClr val="000000">
                  <a:tint val="75000"/>
                </a:srgbClr>
              </a:solidFill>
            </a:endParaRPr>
          </a:p>
        </p:txBody>
      </p:sp>
      <p:graphicFrame>
        <p:nvGraphicFramePr>
          <p:cNvPr id="30" name="Diagram 29"/>
          <p:cNvGraphicFramePr/>
          <p:nvPr>
            <p:extLst>
              <p:ext uri="{D42A27DB-BD31-4B8C-83A1-F6EECF244321}">
                <p14:modId xmlns:p14="http://schemas.microsoft.com/office/powerpoint/2010/main" val="556541478"/>
              </p:ext>
            </p:extLst>
          </p:nvPr>
        </p:nvGraphicFramePr>
        <p:xfrm>
          <a:off x="65961" y="862729"/>
          <a:ext cx="11843657" cy="508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1" name="TextBox 30"/>
          <p:cNvSpPr txBox="1"/>
          <p:nvPr/>
        </p:nvSpPr>
        <p:spPr bwMode="gray">
          <a:xfrm>
            <a:off x="519741" y="766333"/>
            <a:ext cx="2642840" cy="2349500"/>
          </a:xfrm>
          <a:prstGeom prst="rect">
            <a:avLst/>
          </a:prstGeom>
        </p:spPr>
        <p:txBody>
          <a:bodyPr vert="horz" wrap="none" lIns="91440" tIns="45720" rIns="91440" bIns="45720" rtlCol="0" anchor="t">
            <a:noAutofit/>
          </a:bodyPr>
          <a:lstStyle/>
          <a:p>
            <a:pPr lvl="0">
              <a:lnSpc>
                <a:spcPct val="150000"/>
              </a:lnSpc>
            </a:pPr>
            <a:r>
              <a:rPr lang="en-IN" sz="1200" dirty="0" smtClean="0"/>
              <a:t> </a:t>
            </a:r>
          </a:p>
          <a:p>
            <a:pPr lvl="0">
              <a:lnSpc>
                <a:spcPct val="150000"/>
              </a:lnSpc>
              <a:buFont typeface="Arial" pitchFamily="34" charset="0"/>
              <a:buChar char="•"/>
            </a:pPr>
            <a:r>
              <a:rPr lang="en-IN" sz="1200" dirty="0" smtClean="0"/>
              <a:t>  </a:t>
            </a:r>
            <a:r>
              <a:rPr lang="en-IN" sz="1300" dirty="0" smtClean="0"/>
              <a:t>Increase Cross-Sell/Up-sell</a:t>
            </a:r>
          </a:p>
          <a:p>
            <a:pPr lvl="0">
              <a:lnSpc>
                <a:spcPct val="150000"/>
              </a:lnSpc>
              <a:buFont typeface="Arial" pitchFamily="34" charset="0"/>
              <a:buChar char="•"/>
            </a:pPr>
            <a:r>
              <a:rPr lang="en-IN" sz="1300" dirty="0" smtClean="0"/>
              <a:t>  Social media </a:t>
            </a:r>
            <a:r>
              <a:rPr lang="en-IN" sz="1300" dirty="0" smtClean="0"/>
              <a:t>analysis</a:t>
            </a:r>
          </a:p>
          <a:p>
            <a:pPr lvl="0">
              <a:lnSpc>
                <a:spcPct val="150000"/>
              </a:lnSpc>
              <a:buFont typeface="Arial" pitchFamily="34" charset="0"/>
              <a:buChar char="•"/>
            </a:pPr>
            <a:r>
              <a:rPr lang="en-IN" sz="1300" dirty="0"/>
              <a:t> </a:t>
            </a:r>
            <a:r>
              <a:rPr lang="en-IN" sz="1300" dirty="0" smtClean="0"/>
              <a:t>Digital Effectiveness</a:t>
            </a:r>
            <a:endParaRPr lang="en-IN" sz="1300" dirty="0" smtClean="0"/>
          </a:p>
          <a:p>
            <a:pPr lvl="0">
              <a:lnSpc>
                <a:spcPct val="150000"/>
              </a:lnSpc>
              <a:buFont typeface="Arial" pitchFamily="34" charset="0"/>
              <a:buChar char="•"/>
            </a:pPr>
            <a:r>
              <a:rPr lang="en-IN" sz="1300" dirty="0" smtClean="0"/>
              <a:t>  Life-stage based targeting</a:t>
            </a:r>
          </a:p>
          <a:p>
            <a:pPr lvl="0">
              <a:lnSpc>
                <a:spcPct val="150000"/>
              </a:lnSpc>
              <a:buFont typeface="Arial" pitchFamily="34" charset="0"/>
              <a:buChar char="•"/>
            </a:pPr>
            <a:r>
              <a:rPr lang="en-IN" sz="1300" dirty="0" smtClean="0"/>
              <a:t>  </a:t>
            </a:r>
            <a:r>
              <a:rPr lang="en-IN" sz="1300" dirty="0" smtClean="0"/>
              <a:t>Retention &amp; Renewals</a:t>
            </a:r>
            <a:endParaRPr lang="en-IN" sz="1300" dirty="0" smtClean="0"/>
          </a:p>
          <a:p>
            <a:pPr lvl="0">
              <a:lnSpc>
                <a:spcPct val="150000"/>
              </a:lnSpc>
              <a:buFont typeface="Arial" pitchFamily="34" charset="0"/>
              <a:buChar char="•"/>
            </a:pPr>
            <a:r>
              <a:rPr lang="en-IN" sz="1300" dirty="0" smtClean="0"/>
              <a:t>  </a:t>
            </a:r>
            <a:r>
              <a:rPr lang="en-IN" sz="1300" dirty="0" smtClean="0"/>
              <a:t>Event Triggers </a:t>
            </a:r>
            <a:endParaRPr lang="en-US" sz="1200" dirty="0" smtClean="0"/>
          </a:p>
        </p:txBody>
      </p:sp>
      <p:sp>
        <p:nvSpPr>
          <p:cNvPr id="32" name="TextBox 31"/>
          <p:cNvSpPr txBox="1"/>
          <p:nvPr/>
        </p:nvSpPr>
        <p:spPr bwMode="gray">
          <a:xfrm>
            <a:off x="7590349" y="1031577"/>
            <a:ext cx="3995225" cy="2349500"/>
          </a:xfrm>
          <a:prstGeom prst="rect">
            <a:avLst/>
          </a:prstGeom>
        </p:spPr>
        <p:txBody>
          <a:bodyPr vert="horz" wrap="none" lIns="91440" tIns="45720" rIns="91440" bIns="45720" rtlCol="0" anchor="t">
            <a:noAutofit/>
          </a:bodyPr>
          <a:lstStyle/>
          <a:p>
            <a:pPr lvl="0" algn="r">
              <a:lnSpc>
                <a:spcPct val="150000"/>
              </a:lnSpc>
              <a:buFont typeface="Arial" pitchFamily="34" charset="0"/>
              <a:buChar char="•"/>
            </a:pPr>
            <a:endParaRPr lang="en-US" sz="1200" dirty="0" smtClean="0"/>
          </a:p>
          <a:p>
            <a:pPr lvl="0" algn="r">
              <a:lnSpc>
                <a:spcPct val="150000"/>
              </a:lnSpc>
              <a:buFont typeface="Arial" pitchFamily="34" charset="0"/>
              <a:buChar char="•"/>
            </a:pPr>
            <a:r>
              <a:rPr lang="en-US" sz="1200" dirty="0" smtClean="0"/>
              <a:t>  Sales -force management</a:t>
            </a:r>
            <a:endParaRPr lang="en-IN" sz="1200" dirty="0" smtClean="0"/>
          </a:p>
          <a:p>
            <a:pPr lvl="0" algn="r">
              <a:lnSpc>
                <a:spcPct val="150000"/>
              </a:lnSpc>
              <a:buFont typeface="Arial" pitchFamily="34" charset="0"/>
              <a:buChar char="•"/>
            </a:pPr>
            <a:r>
              <a:rPr lang="en-US" sz="1200" dirty="0" smtClean="0"/>
              <a:t>  Sales forecasting at city/region level</a:t>
            </a:r>
            <a:endParaRPr lang="en-IN" sz="1200" dirty="0" smtClean="0"/>
          </a:p>
          <a:p>
            <a:pPr lvl="0" algn="r">
              <a:lnSpc>
                <a:spcPct val="150000"/>
              </a:lnSpc>
              <a:buFont typeface="Arial" pitchFamily="34" charset="0"/>
              <a:buChar char="•"/>
            </a:pPr>
            <a:r>
              <a:rPr lang="en-IN" sz="1200" dirty="0" smtClean="0"/>
              <a:t>  Lead Generation and optimization</a:t>
            </a:r>
          </a:p>
          <a:p>
            <a:pPr lvl="0" algn="r">
              <a:lnSpc>
                <a:spcPct val="150000"/>
              </a:lnSpc>
              <a:buFont typeface="Arial" pitchFamily="34" charset="0"/>
              <a:buChar char="•"/>
            </a:pPr>
            <a:r>
              <a:rPr lang="en-IN" sz="1200" dirty="0" smtClean="0"/>
              <a:t> </a:t>
            </a:r>
            <a:r>
              <a:rPr lang="en-IN" sz="1200" dirty="0" smtClean="0"/>
              <a:t>  </a:t>
            </a:r>
            <a:r>
              <a:rPr lang="en-IN" sz="1200" dirty="0" smtClean="0"/>
              <a:t>Call centre </a:t>
            </a:r>
            <a:r>
              <a:rPr lang="en-IN" sz="1200" dirty="0" smtClean="0"/>
              <a:t>management</a:t>
            </a:r>
          </a:p>
          <a:p>
            <a:pPr lvl="0" algn="r">
              <a:lnSpc>
                <a:spcPct val="150000"/>
              </a:lnSpc>
              <a:buFont typeface="Arial" pitchFamily="34" charset="0"/>
              <a:buChar char="•"/>
            </a:pPr>
            <a:r>
              <a:rPr lang="en-IN" sz="1200" dirty="0" smtClean="0"/>
              <a:t>Call centre optimization</a:t>
            </a:r>
            <a:endParaRPr lang="en-IN" sz="1200" dirty="0" smtClean="0"/>
          </a:p>
          <a:p>
            <a:pPr marL="171450" indent="-171450">
              <a:buFont typeface="Arial" panose="020B0604020202020204" pitchFamily="34" charset="0"/>
              <a:buChar char="•"/>
            </a:pPr>
            <a:endParaRPr lang="en-US" sz="1200" dirty="0"/>
          </a:p>
        </p:txBody>
      </p:sp>
      <p:sp>
        <p:nvSpPr>
          <p:cNvPr id="33" name="TextBox 32"/>
          <p:cNvSpPr txBox="1"/>
          <p:nvPr/>
        </p:nvSpPr>
        <p:spPr bwMode="gray">
          <a:xfrm>
            <a:off x="553434" y="3787658"/>
            <a:ext cx="4152901" cy="2096051"/>
          </a:xfrm>
          <a:prstGeom prst="rect">
            <a:avLst/>
          </a:prstGeom>
        </p:spPr>
        <p:txBody>
          <a:bodyPr vert="horz" wrap="none" lIns="91440" tIns="45720" rIns="91440" bIns="45720" rtlCol="0" anchor="t">
            <a:noAutofit/>
          </a:bodyPr>
          <a:lstStyle/>
          <a:p>
            <a:pPr lvl="0">
              <a:lnSpc>
                <a:spcPct val="150000"/>
              </a:lnSpc>
              <a:buFont typeface="Arial" pitchFamily="34" charset="0"/>
              <a:buChar char="•"/>
            </a:pPr>
            <a:r>
              <a:rPr lang="en-US" sz="1300" dirty="0" smtClean="0">
                <a:solidFill>
                  <a:schemeClr val="bg2">
                    <a:lumMod val="25000"/>
                  </a:schemeClr>
                </a:solidFill>
              </a:rPr>
              <a:t>  Planning and budgeting</a:t>
            </a:r>
            <a:endParaRPr lang="en-IN" sz="1300" dirty="0" smtClean="0">
              <a:solidFill>
                <a:schemeClr val="bg2">
                  <a:lumMod val="25000"/>
                </a:schemeClr>
              </a:solidFill>
            </a:endParaRPr>
          </a:p>
          <a:p>
            <a:pPr lvl="0">
              <a:lnSpc>
                <a:spcPct val="150000"/>
              </a:lnSpc>
              <a:buFont typeface="Arial" pitchFamily="34" charset="0"/>
              <a:buChar char="•"/>
            </a:pPr>
            <a:r>
              <a:rPr lang="en-US" sz="1300" dirty="0" smtClean="0">
                <a:solidFill>
                  <a:schemeClr val="bg2">
                    <a:lumMod val="25000"/>
                  </a:schemeClr>
                </a:solidFill>
              </a:rPr>
              <a:t>  Compliance management</a:t>
            </a:r>
          </a:p>
          <a:p>
            <a:pPr lvl="0">
              <a:lnSpc>
                <a:spcPct val="150000"/>
              </a:lnSpc>
              <a:buFont typeface="Arial" pitchFamily="34" charset="0"/>
              <a:buChar char="•"/>
            </a:pPr>
            <a:r>
              <a:rPr lang="en-US" sz="1300" dirty="0" smtClean="0">
                <a:solidFill>
                  <a:schemeClr val="bg2">
                    <a:lumMod val="25000"/>
                  </a:schemeClr>
                </a:solidFill>
              </a:rPr>
              <a:t>  Reinsurance policy management</a:t>
            </a:r>
          </a:p>
          <a:p>
            <a:pPr lvl="0">
              <a:lnSpc>
                <a:spcPct val="150000"/>
              </a:lnSpc>
              <a:buFont typeface="Arial" pitchFamily="34" charset="0"/>
              <a:buChar char="•"/>
            </a:pPr>
            <a:r>
              <a:rPr lang="en-US" sz="1300" dirty="0" smtClean="0">
                <a:solidFill>
                  <a:schemeClr val="bg2">
                    <a:lumMod val="25000"/>
                  </a:schemeClr>
                </a:solidFill>
              </a:rPr>
              <a:t>  Underwriting policy management</a:t>
            </a:r>
          </a:p>
          <a:p>
            <a:pPr lvl="0">
              <a:lnSpc>
                <a:spcPct val="150000"/>
              </a:lnSpc>
              <a:buFont typeface="Arial" pitchFamily="34" charset="0"/>
              <a:buChar char="•"/>
            </a:pPr>
            <a:r>
              <a:rPr lang="en-US" sz="1300" dirty="0" smtClean="0">
                <a:solidFill>
                  <a:schemeClr val="bg2">
                    <a:lumMod val="25000"/>
                  </a:schemeClr>
                </a:solidFill>
              </a:rPr>
              <a:t>  Actuarial analysis</a:t>
            </a:r>
          </a:p>
        </p:txBody>
      </p:sp>
      <p:sp>
        <p:nvSpPr>
          <p:cNvPr id="34" name="TextBox 33"/>
          <p:cNvSpPr txBox="1"/>
          <p:nvPr/>
        </p:nvSpPr>
        <p:spPr bwMode="gray">
          <a:xfrm>
            <a:off x="7435849" y="3566186"/>
            <a:ext cx="4025901" cy="1905501"/>
          </a:xfrm>
          <a:prstGeom prst="rect">
            <a:avLst/>
          </a:prstGeom>
        </p:spPr>
        <p:txBody>
          <a:bodyPr vert="horz" wrap="none" lIns="91440" tIns="45720" rIns="91440" bIns="45720" rtlCol="0" anchor="t">
            <a:noAutofit/>
          </a:bodyPr>
          <a:lstStyle/>
          <a:p>
            <a:pPr lvl="0" algn="r">
              <a:lnSpc>
                <a:spcPct val="150000"/>
              </a:lnSpc>
              <a:buFont typeface="Arial" pitchFamily="34" charset="0"/>
              <a:buChar char="•"/>
            </a:pPr>
            <a:r>
              <a:rPr lang="en-US" sz="1200" dirty="0" smtClean="0"/>
              <a:t>  </a:t>
            </a:r>
            <a:r>
              <a:rPr lang="en-US" sz="1300" dirty="0" smtClean="0"/>
              <a:t>Claims registration </a:t>
            </a:r>
            <a:endParaRPr lang="en-IN" sz="1300" dirty="0" smtClean="0"/>
          </a:p>
          <a:p>
            <a:pPr lvl="0" algn="r">
              <a:lnSpc>
                <a:spcPct val="150000"/>
              </a:lnSpc>
              <a:buFont typeface="Arial" pitchFamily="34" charset="0"/>
              <a:buChar char="•"/>
            </a:pPr>
            <a:r>
              <a:rPr lang="en-US" sz="1300" dirty="0" smtClean="0"/>
              <a:t>  Fraud detection</a:t>
            </a:r>
          </a:p>
          <a:p>
            <a:pPr lvl="0" algn="r">
              <a:lnSpc>
                <a:spcPct val="150000"/>
              </a:lnSpc>
              <a:buFont typeface="Arial" pitchFamily="34" charset="0"/>
              <a:buChar char="•"/>
            </a:pPr>
            <a:r>
              <a:rPr lang="en-US" sz="1300" dirty="0" smtClean="0"/>
              <a:t>  Claims estimation analysis</a:t>
            </a:r>
          </a:p>
          <a:p>
            <a:pPr lvl="0" algn="r">
              <a:lnSpc>
                <a:spcPct val="150000"/>
              </a:lnSpc>
              <a:buFont typeface="Arial" pitchFamily="34" charset="0"/>
              <a:buChar char="•"/>
            </a:pPr>
            <a:r>
              <a:rPr lang="en-US" sz="1300" dirty="0" smtClean="0"/>
              <a:t>  Medical </a:t>
            </a:r>
            <a:r>
              <a:rPr lang="en-US" sz="1300" dirty="0" smtClean="0"/>
              <a:t>Management</a:t>
            </a:r>
          </a:p>
          <a:p>
            <a:pPr lvl="0" algn="r">
              <a:lnSpc>
                <a:spcPct val="150000"/>
              </a:lnSpc>
              <a:buFont typeface="Arial" pitchFamily="34" charset="0"/>
              <a:buChar char="•"/>
            </a:pPr>
            <a:r>
              <a:rPr lang="en-US" sz="1300" dirty="0"/>
              <a:t> </a:t>
            </a:r>
            <a:r>
              <a:rPr lang="en-US" sz="1300" dirty="0" smtClean="0"/>
              <a:t>Claim payouts</a:t>
            </a:r>
            <a:endParaRPr lang="en-US" sz="1300" dirty="0" smtClean="0"/>
          </a:p>
        </p:txBody>
      </p:sp>
      <p:pic>
        <p:nvPicPr>
          <p:cNvPr id="35" name="Picture 2"/>
          <p:cNvPicPr>
            <a:picLocks noChangeAspect="1" noChangeArrowheads="1"/>
          </p:cNvPicPr>
          <p:nvPr/>
        </p:nvPicPr>
        <p:blipFill>
          <a:blip r:embed="rId7"/>
          <a:srcRect/>
          <a:stretch>
            <a:fillRect/>
          </a:stretch>
        </p:blipFill>
        <p:spPr bwMode="auto">
          <a:xfrm>
            <a:off x="3004239" y="1941083"/>
            <a:ext cx="710040" cy="624287"/>
          </a:xfrm>
          <a:prstGeom prst="rect">
            <a:avLst/>
          </a:prstGeom>
          <a:noFill/>
          <a:ln w="9525">
            <a:noFill/>
            <a:miter lim="800000"/>
            <a:headEnd/>
            <a:tailEnd/>
          </a:ln>
          <a:effectLst/>
        </p:spPr>
      </p:pic>
      <p:pic>
        <p:nvPicPr>
          <p:cNvPr id="36" name="Picture 5"/>
          <p:cNvPicPr>
            <a:picLocks noChangeAspect="1" noChangeArrowheads="1"/>
          </p:cNvPicPr>
          <p:nvPr/>
        </p:nvPicPr>
        <p:blipFill>
          <a:blip r:embed="rId8"/>
          <a:srcRect/>
          <a:stretch>
            <a:fillRect/>
          </a:stretch>
        </p:blipFill>
        <p:spPr bwMode="auto">
          <a:xfrm>
            <a:off x="2670395" y="1193787"/>
            <a:ext cx="1156797" cy="582123"/>
          </a:xfrm>
          <a:prstGeom prst="rect">
            <a:avLst/>
          </a:prstGeom>
          <a:noFill/>
          <a:ln w="9525">
            <a:noFill/>
            <a:miter lim="800000"/>
            <a:headEnd/>
            <a:tailEnd/>
          </a:ln>
          <a:effectLst/>
        </p:spPr>
      </p:pic>
      <p:pic>
        <p:nvPicPr>
          <p:cNvPr id="37" name="Picture 7"/>
          <p:cNvPicPr>
            <a:picLocks noChangeAspect="1" noChangeArrowheads="1"/>
          </p:cNvPicPr>
          <p:nvPr/>
        </p:nvPicPr>
        <p:blipFill>
          <a:blip r:embed="rId9"/>
          <a:srcRect/>
          <a:stretch>
            <a:fillRect/>
          </a:stretch>
        </p:blipFill>
        <p:spPr bwMode="auto">
          <a:xfrm>
            <a:off x="4006556" y="1524372"/>
            <a:ext cx="588241" cy="484433"/>
          </a:xfrm>
          <a:prstGeom prst="rect">
            <a:avLst/>
          </a:prstGeom>
          <a:noFill/>
          <a:ln w="9525">
            <a:noFill/>
            <a:miter lim="800000"/>
            <a:headEnd/>
            <a:tailEnd/>
          </a:ln>
          <a:effectLst/>
        </p:spPr>
      </p:pic>
      <p:pic>
        <p:nvPicPr>
          <p:cNvPr id="38" name="Picture 8"/>
          <p:cNvPicPr>
            <a:picLocks noChangeAspect="1" noChangeArrowheads="1"/>
          </p:cNvPicPr>
          <p:nvPr/>
        </p:nvPicPr>
        <p:blipFill>
          <a:blip r:embed="rId10"/>
          <a:srcRect/>
          <a:stretch>
            <a:fillRect/>
          </a:stretch>
        </p:blipFill>
        <p:spPr bwMode="auto">
          <a:xfrm>
            <a:off x="3570594" y="2765538"/>
            <a:ext cx="430300" cy="424712"/>
          </a:xfrm>
          <a:prstGeom prst="rect">
            <a:avLst/>
          </a:prstGeom>
          <a:noFill/>
          <a:ln w="9525">
            <a:noFill/>
            <a:miter lim="800000"/>
            <a:headEnd/>
            <a:tailEnd/>
          </a:ln>
          <a:effectLst/>
        </p:spPr>
      </p:pic>
      <p:pic>
        <p:nvPicPr>
          <p:cNvPr id="39" name="Picture 6"/>
          <p:cNvPicPr>
            <a:picLocks noChangeAspect="1" noChangeArrowheads="1"/>
          </p:cNvPicPr>
          <p:nvPr/>
        </p:nvPicPr>
        <p:blipFill>
          <a:blip r:embed="rId11"/>
          <a:srcRect/>
          <a:stretch>
            <a:fillRect/>
          </a:stretch>
        </p:blipFill>
        <p:spPr bwMode="auto">
          <a:xfrm>
            <a:off x="7182774" y="1311632"/>
            <a:ext cx="934305" cy="745610"/>
          </a:xfrm>
          <a:prstGeom prst="rect">
            <a:avLst/>
          </a:prstGeom>
          <a:noFill/>
          <a:ln w="9525">
            <a:noFill/>
            <a:miter lim="800000"/>
            <a:headEnd/>
            <a:tailEnd/>
          </a:ln>
          <a:effectLst/>
        </p:spPr>
      </p:pic>
      <p:pic>
        <p:nvPicPr>
          <p:cNvPr id="40" name="Picture 11"/>
          <p:cNvPicPr>
            <a:picLocks noChangeAspect="1" noChangeArrowheads="1"/>
          </p:cNvPicPr>
          <p:nvPr/>
        </p:nvPicPr>
        <p:blipFill>
          <a:blip r:embed="rId12"/>
          <a:srcRect/>
          <a:stretch>
            <a:fillRect/>
          </a:stretch>
        </p:blipFill>
        <p:spPr bwMode="auto">
          <a:xfrm>
            <a:off x="8612845" y="1161021"/>
            <a:ext cx="835954" cy="452522"/>
          </a:xfrm>
          <a:prstGeom prst="rect">
            <a:avLst/>
          </a:prstGeom>
          <a:noFill/>
          <a:ln w="9525">
            <a:noFill/>
            <a:miter lim="800000"/>
            <a:headEnd/>
            <a:tailEnd/>
          </a:ln>
          <a:effectLst/>
        </p:spPr>
      </p:pic>
      <p:pic>
        <p:nvPicPr>
          <p:cNvPr id="41" name="Picture 7"/>
          <p:cNvPicPr>
            <a:picLocks noChangeAspect="1" noChangeArrowheads="1"/>
          </p:cNvPicPr>
          <p:nvPr/>
        </p:nvPicPr>
        <p:blipFill>
          <a:blip r:embed="rId13"/>
          <a:srcRect/>
          <a:stretch>
            <a:fillRect/>
          </a:stretch>
        </p:blipFill>
        <p:spPr bwMode="auto">
          <a:xfrm>
            <a:off x="2215165" y="2651443"/>
            <a:ext cx="789073" cy="543198"/>
          </a:xfrm>
          <a:prstGeom prst="rect">
            <a:avLst/>
          </a:prstGeom>
          <a:noFill/>
          <a:ln w="9525">
            <a:noFill/>
            <a:miter lim="800000"/>
            <a:headEnd/>
            <a:tailEnd/>
          </a:ln>
          <a:effectLst/>
        </p:spPr>
      </p:pic>
      <p:pic>
        <p:nvPicPr>
          <p:cNvPr id="42" name="Picture 8"/>
          <p:cNvPicPr>
            <a:picLocks noChangeAspect="1" noChangeArrowheads="1"/>
          </p:cNvPicPr>
          <p:nvPr/>
        </p:nvPicPr>
        <p:blipFill>
          <a:blip r:embed="rId14"/>
          <a:srcRect/>
          <a:stretch>
            <a:fillRect/>
          </a:stretch>
        </p:blipFill>
        <p:spPr bwMode="auto">
          <a:xfrm>
            <a:off x="3156854" y="3602384"/>
            <a:ext cx="886001" cy="916553"/>
          </a:xfrm>
          <a:prstGeom prst="rect">
            <a:avLst/>
          </a:prstGeom>
          <a:noFill/>
          <a:ln w="9525">
            <a:noFill/>
            <a:miter lim="800000"/>
            <a:headEnd/>
            <a:tailEnd/>
          </a:ln>
          <a:effectLst/>
        </p:spPr>
      </p:pic>
      <p:pic>
        <p:nvPicPr>
          <p:cNvPr id="43" name="Picture 9"/>
          <p:cNvPicPr>
            <a:picLocks noChangeAspect="1" noChangeArrowheads="1"/>
          </p:cNvPicPr>
          <p:nvPr/>
        </p:nvPicPr>
        <p:blipFill>
          <a:blip r:embed="rId15"/>
          <a:srcRect/>
          <a:stretch>
            <a:fillRect/>
          </a:stretch>
        </p:blipFill>
        <p:spPr bwMode="auto">
          <a:xfrm>
            <a:off x="4281701" y="5113448"/>
            <a:ext cx="1166264" cy="533181"/>
          </a:xfrm>
          <a:prstGeom prst="rect">
            <a:avLst/>
          </a:prstGeom>
          <a:noFill/>
          <a:ln w="9525">
            <a:noFill/>
            <a:miter lim="800000"/>
            <a:headEnd/>
            <a:tailEnd/>
          </a:ln>
          <a:effectLst/>
        </p:spPr>
      </p:pic>
      <p:pic>
        <p:nvPicPr>
          <p:cNvPr id="44" name="Picture 10"/>
          <p:cNvPicPr>
            <a:picLocks noChangeAspect="1" noChangeArrowheads="1"/>
          </p:cNvPicPr>
          <p:nvPr/>
        </p:nvPicPr>
        <p:blipFill>
          <a:blip r:embed="rId16"/>
          <a:srcRect/>
          <a:stretch>
            <a:fillRect/>
          </a:stretch>
        </p:blipFill>
        <p:spPr bwMode="auto">
          <a:xfrm>
            <a:off x="8012602" y="3787658"/>
            <a:ext cx="1140475" cy="796422"/>
          </a:xfrm>
          <a:prstGeom prst="rect">
            <a:avLst/>
          </a:prstGeom>
          <a:noFill/>
          <a:ln w="9525">
            <a:noFill/>
            <a:miter lim="800000"/>
            <a:headEnd/>
            <a:tailEnd/>
          </a:ln>
          <a:effectLst/>
        </p:spPr>
      </p:pic>
      <p:sp>
        <p:nvSpPr>
          <p:cNvPr id="46" name="Rectangle 45"/>
          <p:cNvSpPr/>
          <p:nvPr/>
        </p:nvSpPr>
        <p:spPr>
          <a:xfrm>
            <a:off x="3056740" y="224187"/>
            <a:ext cx="6078716"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Analytics Opportunity In Insurance</a:t>
            </a:r>
            <a:endParaRPr lang="en-IN" sz="2800" b="1" dirty="0">
              <a:solidFill>
                <a:srgbClr val="0070C0"/>
              </a:solidFill>
              <a:latin typeface="Leelawadee UI" panose="020B0502040204020203" pitchFamily="34" charset="-34"/>
              <a:cs typeface="Leelawadee UI" panose="020B0502040204020203" pitchFamily="34" charset="-34"/>
            </a:endParaRPr>
          </a:p>
        </p:txBody>
      </p:sp>
      <p:pic>
        <p:nvPicPr>
          <p:cNvPr id="2" name="Picture 1"/>
          <p:cNvPicPr>
            <a:picLocks noChangeAspect="1"/>
          </p:cNvPicPr>
          <p:nvPr/>
        </p:nvPicPr>
        <p:blipFill rotWithShape="1">
          <a:blip r:embed="rId17">
            <a:extLst>
              <a:ext uri="{28A0092B-C50C-407E-A947-70E740481C1C}">
                <a14:useLocalDpi xmlns:a14="http://schemas.microsoft.com/office/drawing/2010/main" val="0"/>
              </a:ext>
            </a:extLst>
          </a:blip>
          <a:srcRect l="52436" r="6635"/>
          <a:stretch/>
        </p:blipFill>
        <p:spPr>
          <a:xfrm>
            <a:off x="3156854" y="4735890"/>
            <a:ext cx="873974" cy="784886"/>
          </a:xfrm>
          <a:prstGeom prst="ellipse">
            <a:avLst/>
          </a:prstGeom>
        </p:spPr>
      </p:pic>
      <p:pic>
        <p:nvPicPr>
          <p:cNvPr id="47" name="Picture 46"/>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197546" y="4805552"/>
            <a:ext cx="1026084" cy="723602"/>
          </a:xfrm>
          <a:prstGeom prst="rect">
            <a:avLst/>
          </a:prstGeom>
        </p:spPr>
      </p:pic>
      <p:pic>
        <p:nvPicPr>
          <p:cNvPr id="48" name="Picture 4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9066688" y="4765206"/>
            <a:ext cx="683342" cy="696483"/>
          </a:xfrm>
          <a:prstGeom prst="rect">
            <a:avLst/>
          </a:prstGeom>
        </p:spPr>
      </p:pic>
      <p:pic>
        <p:nvPicPr>
          <p:cNvPr id="49" name="Picture 48"/>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8184252" y="1891096"/>
            <a:ext cx="630462" cy="630462"/>
          </a:xfrm>
          <a:prstGeom prst="rect">
            <a:avLst/>
          </a:prstGeom>
        </p:spPr>
      </p:pic>
      <p:pic>
        <p:nvPicPr>
          <p:cNvPr id="50" name="Picture 49"/>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8833782" y="2430092"/>
            <a:ext cx="910908" cy="694700"/>
          </a:xfrm>
          <a:prstGeom prst="rect">
            <a:avLst/>
          </a:prstGeom>
        </p:spPr>
      </p:pic>
    </p:spTree>
    <p:extLst>
      <p:ext uri="{BB962C8B-B14F-4D97-AF65-F5344CB8AC3E}">
        <p14:creationId xmlns:p14="http://schemas.microsoft.com/office/powerpoint/2010/main" val="651383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0"/>
            <a:ext cx="12192000" cy="6858000"/>
          </a:xfrm>
          <a:prstGeom prst="rect">
            <a:avLst/>
          </a:prstGeom>
        </p:spPr>
      </p:pic>
      <p:grpSp>
        <p:nvGrpSpPr>
          <p:cNvPr id="6" name="Group 5"/>
          <p:cNvGrpSpPr/>
          <p:nvPr/>
        </p:nvGrpSpPr>
        <p:grpSpPr>
          <a:xfrm>
            <a:off x="0" y="5341203"/>
            <a:ext cx="12192001" cy="830997"/>
            <a:chOff x="0" y="2598003"/>
            <a:chExt cx="12192001" cy="830997"/>
          </a:xfrm>
        </p:grpSpPr>
        <p:sp>
          <p:nvSpPr>
            <p:cNvPr id="8" name="Rectangle 7"/>
            <p:cNvSpPr/>
            <p:nvPr/>
          </p:nvSpPr>
          <p:spPr>
            <a:xfrm>
              <a:off x="4496459" y="2598003"/>
              <a:ext cx="3199082" cy="830997"/>
            </a:xfrm>
            <a:prstGeom prst="rect">
              <a:avLst/>
            </a:prstGeom>
          </p:spPr>
          <p:txBody>
            <a:bodyPr wrap="none">
              <a:spAutoFit/>
            </a:bodyPr>
            <a:lstStyle/>
            <a:p>
              <a:pPr algn="ctr"/>
              <a:r>
                <a:rPr lang="en-US" sz="4800" b="1" dirty="0" smtClean="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Thank You</a:t>
              </a:r>
              <a:endParaRPr lang="en-US" sz="4800" b="1" dirty="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p:txBody>
        </p:sp>
        <p:cxnSp>
          <p:nvCxnSpPr>
            <p:cNvPr id="9" name="Straight Connector 8"/>
            <p:cNvCxnSpPr/>
            <p:nvPr/>
          </p:nvCxnSpPr>
          <p:spPr>
            <a:xfrm>
              <a:off x="7802880" y="3014443"/>
              <a:ext cx="43891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3014443"/>
              <a:ext cx="43891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Slide Number Placeholder 1"/>
          <p:cNvSpPr>
            <a:spLocks noGrp="1"/>
          </p:cNvSpPr>
          <p:nvPr>
            <p:ph type="sldNum" sz="quarter" idx="12"/>
          </p:nvPr>
        </p:nvSpPr>
        <p:spPr/>
        <p:txBody>
          <a:bodyPr/>
          <a:lstStyle/>
          <a:p>
            <a:fld id="{3040F425-731D-4835-A38A-9545B9CAE996}" type="slidenum">
              <a:rPr lang="en-IN" smtClean="0"/>
              <a:t>32</a:t>
            </a:fld>
            <a:endParaRPr lang="en-IN" dirty="0"/>
          </a:p>
        </p:txBody>
      </p:sp>
    </p:spTree>
    <p:extLst>
      <p:ext uri="{BB962C8B-B14F-4D97-AF65-F5344CB8AC3E}">
        <p14:creationId xmlns:p14="http://schemas.microsoft.com/office/powerpoint/2010/main" val="126379894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12792</TotalTime>
  <Words>1834</Words>
  <Application>Microsoft Office PowerPoint</Application>
  <PresentationFormat>Widescreen</PresentationFormat>
  <Paragraphs>384</Paragraphs>
  <Slides>32</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32</vt:i4>
      </vt:variant>
    </vt:vector>
  </HeadingPairs>
  <TitlesOfParts>
    <vt:vector size="40" baseType="lpstr">
      <vt:lpstr>Arial</vt:lpstr>
      <vt:lpstr>Calibri</vt:lpstr>
      <vt:lpstr>Calibri Light</vt:lpstr>
      <vt:lpstr>Century Gothic</vt:lpstr>
      <vt:lpstr>Leelawadee UI</vt:lpstr>
      <vt:lpstr>Webdings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 Thomas</dc:creator>
  <cp:lastModifiedBy>Antara Arora</cp:lastModifiedBy>
  <cp:revision>366</cp:revision>
  <dcterms:created xsi:type="dcterms:W3CDTF">2016-01-28T03:55:22Z</dcterms:created>
  <dcterms:modified xsi:type="dcterms:W3CDTF">2016-07-26T08:16:03Z</dcterms:modified>
</cp:coreProperties>
</file>
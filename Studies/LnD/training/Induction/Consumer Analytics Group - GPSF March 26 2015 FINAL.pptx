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62" r:id="rId2"/>
    <p:sldId id="286" r:id="rId3"/>
    <p:sldId id="257" r:id="rId4"/>
    <p:sldId id="263" r:id="rId5"/>
    <p:sldId id="264" r:id="rId6"/>
    <p:sldId id="285" r:id="rId7"/>
    <p:sldId id="279" r:id="rId8"/>
    <p:sldId id="259" r:id="rId9"/>
    <p:sldId id="260" r:id="rId10"/>
    <p:sldId id="282" r:id="rId11"/>
    <p:sldId id="280" r:id="rId12"/>
    <p:sldId id="266" r:id="rId13"/>
    <p:sldId id="270" r:id="rId14"/>
    <p:sldId id="271" r:id="rId15"/>
    <p:sldId id="284" r:id="rId16"/>
    <p:sldId id="272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F7EC"/>
    <a:srgbClr val="0C33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C87B24-D743-48DE-BB1A-41307804DD3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B8A0DDA-4C3D-4246-8691-C4E563861A4F}">
      <dgm:prSet phldrT="[Text]" custT="1"/>
      <dgm:spPr>
        <a:solidFill>
          <a:schemeClr val="tx2">
            <a:alpha val="50000"/>
          </a:schemeClr>
        </a:solidFill>
      </dgm:spPr>
      <dgm:t>
        <a:bodyPr/>
        <a:lstStyle/>
        <a:p>
          <a:r>
            <a:rPr lang="en-IN" sz="1800" dirty="0" smtClean="0"/>
            <a:t>Capture</a:t>
          </a:r>
          <a:endParaRPr lang="en-IN" sz="1800" dirty="0"/>
        </a:p>
      </dgm:t>
    </dgm:pt>
    <dgm:pt modelId="{2F237809-3FF4-4C74-9FB7-A707B4C742A6}" type="parTrans" cxnId="{B46E83A0-1141-4190-9ADA-13DD6092E845}">
      <dgm:prSet/>
      <dgm:spPr/>
      <dgm:t>
        <a:bodyPr/>
        <a:lstStyle/>
        <a:p>
          <a:endParaRPr lang="en-IN"/>
        </a:p>
      </dgm:t>
    </dgm:pt>
    <dgm:pt modelId="{D1B7F163-1F76-437D-B974-F5685E47AFC1}" type="sibTrans" cxnId="{B46E83A0-1141-4190-9ADA-13DD6092E845}">
      <dgm:prSet/>
      <dgm:spPr/>
      <dgm:t>
        <a:bodyPr/>
        <a:lstStyle/>
        <a:p>
          <a:endParaRPr lang="en-IN"/>
        </a:p>
      </dgm:t>
    </dgm:pt>
    <dgm:pt modelId="{4692C4A3-B01E-4562-8EF5-3076644D401B}">
      <dgm:prSet phldrT="[Text]" custT="1"/>
      <dgm:spPr>
        <a:solidFill>
          <a:schemeClr val="tx2">
            <a:alpha val="70000"/>
          </a:schemeClr>
        </a:solidFill>
      </dgm:spPr>
      <dgm:t>
        <a:bodyPr/>
        <a:lstStyle/>
        <a:p>
          <a:r>
            <a:rPr lang="en-IN" sz="1800" dirty="0" smtClean="0"/>
            <a:t>Storage</a:t>
          </a:r>
          <a:endParaRPr lang="en-IN" sz="1800" dirty="0"/>
        </a:p>
      </dgm:t>
    </dgm:pt>
    <dgm:pt modelId="{12E7C5B2-749F-4732-9F11-BEBCCEE812BA}" type="parTrans" cxnId="{8D53D7EA-DCE8-4F17-8DA9-8DACBCB30868}">
      <dgm:prSet/>
      <dgm:spPr/>
      <dgm:t>
        <a:bodyPr/>
        <a:lstStyle/>
        <a:p>
          <a:endParaRPr lang="en-IN"/>
        </a:p>
      </dgm:t>
    </dgm:pt>
    <dgm:pt modelId="{4A7F748B-A233-4252-BE07-6C0E41200E48}" type="sibTrans" cxnId="{8D53D7EA-DCE8-4F17-8DA9-8DACBCB30868}">
      <dgm:prSet/>
      <dgm:spPr/>
      <dgm:t>
        <a:bodyPr/>
        <a:lstStyle/>
        <a:p>
          <a:endParaRPr lang="en-IN"/>
        </a:p>
      </dgm:t>
    </dgm:pt>
    <dgm:pt modelId="{39F3F48B-CE3A-4466-8817-6C813BDB4AE6}">
      <dgm:prSet phldrT="[Text]" custT="1"/>
      <dgm:spPr>
        <a:solidFill>
          <a:schemeClr val="tx2"/>
        </a:solidFill>
      </dgm:spPr>
      <dgm:t>
        <a:bodyPr/>
        <a:lstStyle/>
        <a:p>
          <a:r>
            <a:rPr lang="en-IN" sz="1800" dirty="0" smtClean="0"/>
            <a:t>Application</a:t>
          </a:r>
          <a:endParaRPr lang="en-IN" sz="1800" dirty="0"/>
        </a:p>
      </dgm:t>
    </dgm:pt>
    <dgm:pt modelId="{017B3EC3-210A-4C49-9607-425BDC68AD73}" type="parTrans" cxnId="{019682FD-D2A7-4903-B296-13E42A67F516}">
      <dgm:prSet/>
      <dgm:spPr/>
      <dgm:t>
        <a:bodyPr/>
        <a:lstStyle/>
        <a:p>
          <a:endParaRPr lang="en-IN"/>
        </a:p>
      </dgm:t>
    </dgm:pt>
    <dgm:pt modelId="{76627C62-F105-4F16-89D1-D43C7C6CC2FF}" type="sibTrans" cxnId="{019682FD-D2A7-4903-B296-13E42A67F516}">
      <dgm:prSet/>
      <dgm:spPr/>
      <dgm:t>
        <a:bodyPr/>
        <a:lstStyle/>
        <a:p>
          <a:endParaRPr lang="en-IN"/>
        </a:p>
      </dgm:t>
    </dgm:pt>
    <dgm:pt modelId="{8D490B27-41D3-40CB-A696-A5E0EEF6CC8E}" type="pres">
      <dgm:prSet presAssocID="{CAC87B24-D743-48DE-BB1A-41307804DD33}" presName="Name0" presStyleCnt="0">
        <dgm:presLayoutVars>
          <dgm:dir/>
          <dgm:animLvl val="lvl"/>
          <dgm:resizeHandles val="exact"/>
        </dgm:presLayoutVars>
      </dgm:prSet>
      <dgm:spPr/>
    </dgm:pt>
    <dgm:pt modelId="{89B0B01B-68E2-4B7E-B006-7488AF6D87E5}" type="pres">
      <dgm:prSet presAssocID="{7B8A0DDA-4C3D-4246-8691-C4E563861A4F}" presName="parTxOnly" presStyleLbl="node1" presStyleIdx="0" presStyleCnt="3" custScaleX="81793" custLinFactNeighborX="295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C6FFB95-9D5B-427A-84D2-EB36B72A1480}" type="pres">
      <dgm:prSet presAssocID="{D1B7F163-1F76-437D-B974-F5685E47AFC1}" presName="parTxOnlySpace" presStyleCnt="0"/>
      <dgm:spPr/>
    </dgm:pt>
    <dgm:pt modelId="{72201BC2-1298-4235-9197-D7879C6870B9}" type="pres">
      <dgm:prSet presAssocID="{4692C4A3-B01E-4562-8EF5-3076644D401B}" presName="parTxOnly" presStyleLbl="node1" presStyleIdx="1" presStyleCnt="3" custScaleX="83128" custLinFactNeighborX="2401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EE14825-B3C4-42BC-B462-56D8259FC1FA}" type="pres">
      <dgm:prSet presAssocID="{4A7F748B-A233-4252-BE07-6C0E41200E48}" presName="parTxOnlySpace" presStyleCnt="0"/>
      <dgm:spPr/>
    </dgm:pt>
    <dgm:pt modelId="{508B4877-83C7-46CC-A57B-9C19090A1EBB}" type="pres">
      <dgm:prSet presAssocID="{39F3F48B-CE3A-4466-8817-6C813BDB4AE6}" presName="parTxOnly" presStyleLbl="node1" presStyleIdx="2" presStyleCnt="3" custScaleX="67736" custLinFactNeighborX="384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D8AEF0F0-B48F-4145-B2CE-7AD4172AA59F}" type="presOf" srcId="{7B8A0DDA-4C3D-4246-8691-C4E563861A4F}" destId="{89B0B01B-68E2-4B7E-B006-7488AF6D87E5}" srcOrd="0" destOrd="0" presId="urn:microsoft.com/office/officeart/2005/8/layout/chevron1"/>
    <dgm:cxn modelId="{5E04EEBA-D155-4CE5-8CCD-A5043AB5FB33}" type="presOf" srcId="{CAC87B24-D743-48DE-BB1A-41307804DD33}" destId="{8D490B27-41D3-40CB-A696-A5E0EEF6CC8E}" srcOrd="0" destOrd="0" presId="urn:microsoft.com/office/officeart/2005/8/layout/chevron1"/>
    <dgm:cxn modelId="{8D53D7EA-DCE8-4F17-8DA9-8DACBCB30868}" srcId="{CAC87B24-D743-48DE-BB1A-41307804DD33}" destId="{4692C4A3-B01E-4562-8EF5-3076644D401B}" srcOrd="1" destOrd="0" parTransId="{12E7C5B2-749F-4732-9F11-BEBCCEE812BA}" sibTransId="{4A7F748B-A233-4252-BE07-6C0E41200E48}"/>
    <dgm:cxn modelId="{019682FD-D2A7-4903-B296-13E42A67F516}" srcId="{CAC87B24-D743-48DE-BB1A-41307804DD33}" destId="{39F3F48B-CE3A-4466-8817-6C813BDB4AE6}" srcOrd="2" destOrd="0" parTransId="{017B3EC3-210A-4C49-9607-425BDC68AD73}" sibTransId="{76627C62-F105-4F16-89D1-D43C7C6CC2FF}"/>
    <dgm:cxn modelId="{EB967DDE-EA27-4D46-8E1F-AB0E8495F33C}" type="presOf" srcId="{39F3F48B-CE3A-4466-8817-6C813BDB4AE6}" destId="{508B4877-83C7-46CC-A57B-9C19090A1EBB}" srcOrd="0" destOrd="0" presId="urn:microsoft.com/office/officeart/2005/8/layout/chevron1"/>
    <dgm:cxn modelId="{2FAB99B3-6935-425C-BE8F-BE29F375793B}" type="presOf" srcId="{4692C4A3-B01E-4562-8EF5-3076644D401B}" destId="{72201BC2-1298-4235-9197-D7879C6870B9}" srcOrd="0" destOrd="0" presId="urn:microsoft.com/office/officeart/2005/8/layout/chevron1"/>
    <dgm:cxn modelId="{B46E83A0-1141-4190-9ADA-13DD6092E845}" srcId="{CAC87B24-D743-48DE-BB1A-41307804DD33}" destId="{7B8A0DDA-4C3D-4246-8691-C4E563861A4F}" srcOrd="0" destOrd="0" parTransId="{2F237809-3FF4-4C74-9FB7-A707B4C742A6}" sibTransId="{D1B7F163-1F76-437D-B974-F5685E47AFC1}"/>
    <dgm:cxn modelId="{F89A6E5F-2C0A-40E1-831A-E805D0EB8A29}" type="presParOf" srcId="{8D490B27-41D3-40CB-A696-A5E0EEF6CC8E}" destId="{89B0B01B-68E2-4B7E-B006-7488AF6D87E5}" srcOrd="0" destOrd="0" presId="urn:microsoft.com/office/officeart/2005/8/layout/chevron1"/>
    <dgm:cxn modelId="{2B72262C-CE39-412C-81D1-5F9EC87A6023}" type="presParOf" srcId="{8D490B27-41D3-40CB-A696-A5E0EEF6CC8E}" destId="{FC6FFB95-9D5B-427A-84D2-EB36B72A1480}" srcOrd="1" destOrd="0" presId="urn:microsoft.com/office/officeart/2005/8/layout/chevron1"/>
    <dgm:cxn modelId="{1B94C668-18C5-4BCF-84AA-89E59AA0A606}" type="presParOf" srcId="{8D490B27-41D3-40CB-A696-A5E0EEF6CC8E}" destId="{72201BC2-1298-4235-9197-D7879C6870B9}" srcOrd="2" destOrd="0" presId="urn:microsoft.com/office/officeart/2005/8/layout/chevron1"/>
    <dgm:cxn modelId="{DCDB2196-62FE-4447-88FA-9781BD029793}" type="presParOf" srcId="{8D490B27-41D3-40CB-A696-A5E0EEF6CC8E}" destId="{EEE14825-B3C4-42BC-B462-56D8259FC1FA}" srcOrd="3" destOrd="0" presId="urn:microsoft.com/office/officeart/2005/8/layout/chevron1"/>
    <dgm:cxn modelId="{00598444-0E98-42EF-BB98-373AE94C1C17}" type="presParOf" srcId="{8D490B27-41D3-40CB-A696-A5E0EEF6CC8E}" destId="{508B4877-83C7-46CC-A57B-9C19090A1EBB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D8AE1F-90E8-44AA-84BB-67787820966A}" type="doc">
      <dgm:prSet loTypeId="urn:microsoft.com/office/officeart/2005/8/layout/cycle7" loCatId="cycle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IN"/>
        </a:p>
      </dgm:t>
    </dgm:pt>
    <dgm:pt modelId="{3C46104B-6FFF-4025-B7AE-DFF6533B5486}">
      <dgm:prSet phldrT="[Text]" phldr="1"/>
      <dgm:spPr>
        <a:noFill/>
        <a:ln>
          <a:noFill/>
        </a:ln>
      </dgm:spPr>
      <dgm:t>
        <a:bodyPr/>
        <a:lstStyle/>
        <a:p>
          <a:endParaRPr lang="en-IN" dirty="0"/>
        </a:p>
      </dgm:t>
    </dgm:pt>
    <dgm:pt modelId="{CE0D0735-AFCF-4CF1-B73D-D19E2E1D17D5}" type="parTrans" cxnId="{74409AA2-4647-4C85-AC72-11EBDE893483}">
      <dgm:prSet/>
      <dgm:spPr/>
      <dgm:t>
        <a:bodyPr/>
        <a:lstStyle/>
        <a:p>
          <a:endParaRPr lang="en-IN"/>
        </a:p>
      </dgm:t>
    </dgm:pt>
    <dgm:pt modelId="{AB478691-3FC5-44DB-82A4-BC9C7FDD725D}" type="sibTrans" cxnId="{74409AA2-4647-4C85-AC72-11EBDE893483}">
      <dgm:prSet/>
      <dgm:spPr/>
      <dgm:t>
        <a:bodyPr/>
        <a:lstStyle/>
        <a:p>
          <a:endParaRPr lang="en-IN"/>
        </a:p>
      </dgm:t>
    </dgm:pt>
    <dgm:pt modelId="{8EECD50F-6123-4C7D-BC1F-2333FBFB613F}">
      <dgm:prSet phldrT="[Text]" phldr="1"/>
      <dgm:spPr>
        <a:noFill/>
        <a:ln>
          <a:noFill/>
        </a:ln>
      </dgm:spPr>
      <dgm:t>
        <a:bodyPr/>
        <a:lstStyle/>
        <a:p>
          <a:endParaRPr lang="en-IN" dirty="0"/>
        </a:p>
      </dgm:t>
    </dgm:pt>
    <dgm:pt modelId="{751776AF-4E32-4785-84FB-6EB5832943DD}" type="parTrans" cxnId="{93F5AA02-D416-49AF-B13C-925FBA237291}">
      <dgm:prSet/>
      <dgm:spPr/>
      <dgm:t>
        <a:bodyPr/>
        <a:lstStyle/>
        <a:p>
          <a:endParaRPr lang="en-IN"/>
        </a:p>
      </dgm:t>
    </dgm:pt>
    <dgm:pt modelId="{4891ED30-6D5B-4007-B8C4-78D81D899573}" type="sibTrans" cxnId="{93F5AA02-D416-49AF-B13C-925FBA237291}">
      <dgm:prSet/>
      <dgm:spPr/>
      <dgm:t>
        <a:bodyPr/>
        <a:lstStyle/>
        <a:p>
          <a:endParaRPr lang="en-IN"/>
        </a:p>
      </dgm:t>
    </dgm:pt>
    <dgm:pt modelId="{2C656685-A963-4DF6-9C6D-49519C5F6D36}">
      <dgm:prSet phldrT="[Text]" phldr="1"/>
      <dgm:spPr>
        <a:noFill/>
        <a:ln>
          <a:noFill/>
        </a:ln>
      </dgm:spPr>
      <dgm:t>
        <a:bodyPr/>
        <a:lstStyle/>
        <a:p>
          <a:endParaRPr lang="en-IN" dirty="0"/>
        </a:p>
      </dgm:t>
    </dgm:pt>
    <dgm:pt modelId="{1B16EB1A-DB6D-4E8E-9719-F17FC5902E85}" type="parTrans" cxnId="{B83EF488-3F9E-4F25-8AAB-E9BEDC729F9E}">
      <dgm:prSet/>
      <dgm:spPr/>
      <dgm:t>
        <a:bodyPr/>
        <a:lstStyle/>
        <a:p>
          <a:endParaRPr lang="en-IN"/>
        </a:p>
      </dgm:t>
    </dgm:pt>
    <dgm:pt modelId="{E0A9C898-75BA-4B9E-B7FF-282648568654}" type="sibTrans" cxnId="{B83EF488-3F9E-4F25-8AAB-E9BEDC729F9E}">
      <dgm:prSet/>
      <dgm:spPr/>
      <dgm:t>
        <a:bodyPr/>
        <a:lstStyle/>
        <a:p>
          <a:endParaRPr lang="en-IN"/>
        </a:p>
      </dgm:t>
    </dgm:pt>
    <dgm:pt modelId="{3B00469C-CF3E-43E4-B51B-734558145D89}" type="pres">
      <dgm:prSet presAssocID="{74D8AE1F-90E8-44AA-84BB-67787820966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838B734D-D5A8-4244-BA8D-75463DB2BE22}" type="pres">
      <dgm:prSet presAssocID="{3C46104B-6FFF-4025-B7AE-DFF6533B5486}" presName="node" presStyleLbl="node1" presStyleIdx="0" presStyleCnt="3" custScaleY="22313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A06F4CA-BA04-46DB-A9B2-C774289458E4}" type="pres">
      <dgm:prSet presAssocID="{AB478691-3FC5-44DB-82A4-BC9C7FDD725D}" presName="sibTrans" presStyleLbl="sibTrans2D1" presStyleIdx="0" presStyleCnt="3"/>
      <dgm:spPr/>
      <dgm:t>
        <a:bodyPr/>
        <a:lstStyle/>
        <a:p>
          <a:endParaRPr lang="en-IN"/>
        </a:p>
      </dgm:t>
    </dgm:pt>
    <dgm:pt modelId="{BF8ECA86-1450-42AB-A5D8-BBA6FE5B9129}" type="pres">
      <dgm:prSet presAssocID="{AB478691-3FC5-44DB-82A4-BC9C7FDD725D}" presName="connectorText" presStyleLbl="sibTrans2D1" presStyleIdx="0" presStyleCnt="3"/>
      <dgm:spPr/>
      <dgm:t>
        <a:bodyPr/>
        <a:lstStyle/>
        <a:p>
          <a:endParaRPr lang="en-IN"/>
        </a:p>
      </dgm:t>
    </dgm:pt>
    <dgm:pt modelId="{38853AC3-1EC4-43AB-BAF0-44239FB4DF4C}" type="pres">
      <dgm:prSet presAssocID="{8EECD50F-6123-4C7D-BC1F-2333FBFB613F}" presName="node" presStyleLbl="node1" presStyleIdx="1" presStyleCnt="3" custScaleY="22709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F62F2B3-69C6-4DF1-9DB4-470BD4744136}" type="pres">
      <dgm:prSet presAssocID="{4891ED30-6D5B-4007-B8C4-78D81D899573}" presName="sibTrans" presStyleLbl="sibTrans2D1" presStyleIdx="1" presStyleCnt="3"/>
      <dgm:spPr/>
      <dgm:t>
        <a:bodyPr/>
        <a:lstStyle/>
        <a:p>
          <a:endParaRPr lang="en-IN"/>
        </a:p>
      </dgm:t>
    </dgm:pt>
    <dgm:pt modelId="{F9FD9CB8-7075-4BCC-AD82-46962111A066}" type="pres">
      <dgm:prSet presAssocID="{4891ED30-6D5B-4007-B8C4-78D81D899573}" presName="connectorText" presStyleLbl="sibTrans2D1" presStyleIdx="1" presStyleCnt="3"/>
      <dgm:spPr/>
      <dgm:t>
        <a:bodyPr/>
        <a:lstStyle/>
        <a:p>
          <a:endParaRPr lang="en-IN"/>
        </a:p>
      </dgm:t>
    </dgm:pt>
    <dgm:pt modelId="{FAA21D54-03B8-477A-8627-42FB8516EB44}" type="pres">
      <dgm:prSet presAssocID="{2C656685-A963-4DF6-9C6D-49519C5F6D36}" presName="node" presStyleLbl="node1" presStyleIdx="2" presStyleCnt="3" custScaleY="23105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11284D5-3845-40EE-BD47-5F7105AC0679}" type="pres">
      <dgm:prSet presAssocID="{E0A9C898-75BA-4B9E-B7FF-282648568654}" presName="sibTrans" presStyleLbl="sibTrans2D1" presStyleIdx="2" presStyleCnt="3"/>
      <dgm:spPr/>
      <dgm:t>
        <a:bodyPr/>
        <a:lstStyle/>
        <a:p>
          <a:endParaRPr lang="en-IN"/>
        </a:p>
      </dgm:t>
    </dgm:pt>
    <dgm:pt modelId="{5B07ED98-536A-479F-AD1F-0B427577946A}" type="pres">
      <dgm:prSet presAssocID="{E0A9C898-75BA-4B9E-B7FF-282648568654}" presName="connectorText" presStyleLbl="sibTrans2D1" presStyleIdx="2" presStyleCnt="3"/>
      <dgm:spPr/>
      <dgm:t>
        <a:bodyPr/>
        <a:lstStyle/>
        <a:p>
          <a:endParaRPr lang="en-IN"/>
        </a:p>
      </dgm:t>
    </dgm:pt>
  </dgm:ptLst>
  <dgm:cxnLst>
    <dgm:cxn modelId="{B83EF488-3F9E-4F25-8AAB-E9BEDC729F9E}" srcId="{74D8AE1F-90E8-44AA-84BB-67787820966A}" destId="{2C656685-A963-4DF6-9C6D-49519C5F6D36}" srcOrd="2" destOrd="0" parTransId="{1B16EB1A-DB6D-4E8E-9719-F17FC5902E85}" sibTransId="{E0A9C898-75BA-4B9E-B7FF-282648568654}"/>
    <dgm:cxn modelId="{A1C47DE0-1056-4A21-AABA-7981B13BAB93}" type="presOf" srcId="{AB478691-3FC5-44DB-82A4-BC9C7FDD725D}" destId="{BF8ECA86-1450-42AB-A5D8-BBA6FE5B9129}" srcOrd="1" destOrd="0" presId="urn:microsoft.com/office/officeart/2005/8/layout/cycle7"/>
    <dgm:cxn modelId="{E9C2273C-79BE-4770-8715-6A4FE77F9C3B}" type="presOf" srcId="{8EECD50F-6123-4C7D-BC1F-2333FBFB613F}" destId="{38853AC3-1EC4-43AB-BAF0-44239FB4DF4C}" srcOrd="0" destOrd="0" presId="urn:microsoft.com/office/officeart/2005/8/layout/cycle7"/>
    <dgm:cxn modelId="{74409AA2-4647-4C85-AC72-11EBDE893483}" srcId="{74D8AE1F-90E8-44AA-84BB-67787820966A}" destId="{3C46104B-6FFF-4025-B7AE-DFF6533B5486}" srcOrd="0" destOrd="0" parTransId="{CE0D0735-AFCF-4CF1-B73D-D19E2E1D17D5}" sibTransId="{AB478691-3FC5-44DB-82A4-BC9C7FDD725D}"/>
    <dgm:cxn modelId="{93B5252B-E2E8-4DA0-B4B7-56CE556E440D}" type="presOf" srcId="{3C46104B-6FFF-4025-B7AE-DFF6533B5486}" destId="{838B734D-D5A8-4244-BA8D-75463DB2BE22}" srcOrd="0" destOrd="0" presId="urn:microsoft.com/office/officeart/2005/8/layout/cycle7"/>
    <dgm:cxn modelId="{07C2F810-115D-4A39-8A9B-AC5A5B555228}" type="presOf" srcId="{74D8AE1F-90E8-44AA-84BB-67787820966A}" destId="{3B00469C-CF3E-43E4-B51B-734558145D89}" srcOrd="0" destOrd="0" presId="urn:microsoft.com/office/officeart/2005/8/layout/cycle7"/>
    <dgm:cxn modelId="{EBE8E5DB-A64E-46A8-9564-7422BB425722}" type="presOf" srcId="{4891ED30-6D5B-4007-B8C4-78D81D899573}" destId="{F9FD9CB8-7075-4BCC-AD82-46962111A066}" srcOrd="1" destOrd="0" presId="urn:microsoft.com/office/officeart/2005/8/layout/cycle7"/>
    <dgm:cxn modelId="{F3169095-86C0-4A2B-B0D6-CB117B286ACE}" type="presOf" srcId="{E0A9C898-75BA-4B9E-B7FF-282648568654}" destId="{5B07ED98-536A-479F-AD1F-0B427577946A}" srcOrd="1" destOrd="0" presId="urn:microsoft.com/office/officeart/2005/8/layout/cycle7"/>
    <dgm:cxn modelId="{93F5AA02-D416-49AF-B13C-925FBA237291}" srcId="{74D8AE1F-90E8-44AA-84BB-67787820966A}" destId="{8EECD50F-6123-4C7D-BC1F-2333FBFB613F}" srcOrd="1" destOrd="0" parTransId="{751776AF-4E32-4785-84FB-6EB5832943DD}" sibTransId="{4891ED30-6D5B-4007-B8C4-78D81D899573}"/>
    <dgm:cxn modelId="{5C9B4A31-0A3D-45BC-856E-C5C31CB7C2E4}" type="presOf" srcId="{E0A9C898-75BA-4B9E-B7FF-282648568654}" destId="{E11284D5-3845-40EE-BD47-5F7105AC0679}" srcOrd="0" destOrd="0" presId="urn:microsoft.com/office/officeart/2005/8/layout/cycle7"/>
    <dgm:cxn modelId="{C3D5B681-8631-468C-82FE-626B8A0DAAB9}" type="presOf" srcId="{AB478691-3FC5-44DB-82A4-BC9C7FDD725D}" destId="{AA06F4CA-BA04-46DB-A9B2-C774289458E4}" srcOrd="0" destOrd="0" presId="urn:microsoft.com/office/officeart/2005/8/layout/cycle7"/>
    <dgm:cxn modelId="{0CC2A05B-1B2D-468D-A10C-1C8AFBC40FD5}" type="presOf" srcId="{2C656685-A963-4DF6-9C6D-49519C5F6D36}" destId="{FAA21D54-03B8-477A-8627-42FB8516EB44}" srcOrd="0" destOrd="0" presId="urn:microsoft.com/office/officeart/2005/8/layout/cycle7"/>
    <dgm:cxn modelId="{093CD439-4E9F-43C7-97F0-89CBF2E6B19D}" type="presOf" srcId="{4891ED30-6D5B-4007-B8C4-78D81D899573}" destId="{EF62F2B3-69C6-4DF1-9DB4-470BD4744136}" srcOrd="0" destOrd="0" presId="urn:microsoft.com/office/officeart/2005/8/layout/cycle7"/>
    <dgm:cxn modelId="{631AC660-A5C9-40DB-ADDE-C0DB6A81ACBB}" type="presParOf" srcId="{3B00469C-CF3E-43E4-B51B-734558145D89}" destId="{838B734D-D5A8-4244-BA8D-75463DB2BE22}" srcOrd="0" destOrd="0" presId="urn:microsoft.com/office/officeart/2005/8/layout/cycle7"/>
    <dgm:cxn modelId="{F964F2D1-3F07-4EC8-9717-4DA50A546481}" type="presParOf" srcId="{3B00469C-CF3E-43E4-B51B-734558145D89}" destId="{AA06F4CA-BA04-46DB-A9B2-C774289458E4}" srcOrd="1" destOrd="0" presId="urn:microsoft.com/office/officeart/2005/8/layout/cycle7"/>
    <dgm:cxn modelId="{BE8340B9-77B7-44F8-89D5-165511575440}" type="presParOf" srcId="{AA06F4CA-BA04-46DB-A9B2-C774289458E4}" destId="{BF8ECA86-1450-42AB-A5D8-BBA6FE5B9129}" srcOrd="0" destOrd="0" presId="urn:microsoft.com/office/officeart/2005/8/layout/cycle7"/>
    <dgm:cxn modelId="{ACFA6B08-2817-4541-945F-D4E113EB7788}" type="presParOf" srcId="{3B00469C-CF3E-43E4-B51B-734558145D89}" destId="{38853AC3-1EC4-43AB-BAF0-44239FB4DF4C}" srcOrd="2" destOrd="0" presId="urn:microsoft.com/office/officeart/2005/8/layout/cycle7"/>
    <dgm:cxn modelId="{9E2340AB-B70A-4585-88A6-1EC31208CF7E}" type="presParOf" srcId="{3B00469C-CF3E-43E4-B51B-734558145D89}" destId="{EF62F2B3-69C6-4DF1-9DB4-470BD4744136}" srcOrd="3" destOrd="0" presId="urn:microsoft.com/office/officeart/2005/8/layout/cycle7"/>
    <dgm:cxn modelId="{D0E0586E-11CE-4D79-9A21-3DAF1B81BF1D}" type="presParOf" srcId="{EF62F2B3-69C6-4DF1-9DB4-470BD4744136}" destId="{F9FD9CB8-7075-4BCC-AD82-46962111A066}" srcOrd="0" destOrd="0" presId="urn:microsoft.com/office/officeart/2005/8/layout/cycle7"/>
    <dgm:cxn modelId="{6B33BC00-B419-49D9-99B8-D4C20653B669}" type="presParOf" srcId="{3B00469C-CF3E-43E4-B51B-734558145D89}" destId="{FAA21D54-03B8-477A-8627-42FB8516EB44}" srcOrd="4" destOrd="0" presId="urn:microsoft.com/office/officeart/2005/8/layout/cycle7"/>
    <dgm:cxn modelId="{7FFE0878-5B15-458A-BB69-0287327234E2}" type="presParOf" srcId="{3B00469C-CF3E-43E4-B51B-734558145D89}" destId="{E11284D5-3845-40EE-BD47-5F7105AC0679}" srcOrd="5" destOrd="0" presId="urn:microsoft.com/office/officeart/2005/8/layout/cycle7"/>
    <dgm:cxn modelId="{B73EC753-C937-4203-BE30-410DBE6E485C}" type="presParOf" srcId="{E11284D5-3845-40EE-BD47-5F7105AC0679}" destId="{5B07ED98-536A-479F-AD1F-0B427577946A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8F59B-EDBB-489C-B412-7C175ABC22D7}" type="datetimeFigureOut">
              <a:rPr lang="en-IN" smtClean="0"/>
              <a:pPr/>
              <a:t>15-03-2016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4FC8F-7974-44ED-81D0-37AD4A41DB3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8650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3A60C-86C9-49BD-89C6-495DE1C679CE}" type="datetimeFigureOut">
              <a:rPr lang="en-IN" smtClean="0"/>
              <a:pPr/>
              <a:t>15-03-2016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80FA6-BA02-4C3D-AB3D-7F99A89BBA5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79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>
                <a:solidFill>
                  <a:prstClr val="black"/>
                </a:solidFill>
              </a:rPr>
              <a:pPr/>
              <a:t>3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113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Alter</a:t>
            </a:r>
            <a:r>
              <a:rPr lang="en-US" baseline="0" dirty="0" smtClean="0"/>
              <a:t> the circular view. Green, light green and amber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>
                <a:solidFill>
                  <a:prstClr val="black"/>
                </a:solidFill>
              </a:rPr>
              <a:pPr/>
              <a:t>8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22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Data Cleansing/linking,</a:t>
            </a:r>
            <a:r>
              <a:rPr lang="en-US" baseline="0" dirty="0" smtClean="0"/>
              <a:t> attribute creation, Marketing.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>
                <a:solidFill>
                  <a:prstClr val="black"/>
                </a:solidFill>
              </a:rPr>
              <a:pPr/>
              <a:t>9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505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022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>
                <a:solidFill>
                  <a:prstClr val="black"/>
                </a:solidFill>
              </a:rPr>
              <a:pPr/>
              <a:t>15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11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9027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820DAEB-5A8C-44B7-9724-CE9580D01F0B}" type="datetime1">
              <a:rPr lang="en-US" smtClean="0">
                <a:solidFill>
                  <a:prstClr val="white"/>
                </a:solidFill>
              </a:rPr>
              <a:pPr/>
              <a:t>3/15/2016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prstClr val="white"/>
                </a:solidFill>
              </a:rPr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3518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1B97-C155-4CFC-AA97-CF72E949F1D8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09548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5522-3AA0-4A80-92C7-2AC281EBADF4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15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34B9-F39B-4A6F-8022-0CCE308A2419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326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1948E-581D-4169-8736-D78C52183DC6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sz="1800" b="0" i="0" kern="1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096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0C7-AADD-421B-8FBC-91AD055047E0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9496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E4F3-E305-4ED2-971B-C2A5123F3D9C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422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C74D-C361-4376-8174-AE28B7E8A445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658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ABCB-FCE6-4FC8-9691-E916C6279CCA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492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E84-D85D-497A-9A5B-2C115F808617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483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FD7DB-F981-46C5-8A0D-B8D1888769EB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922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D92A-5A66-48EC-BB04-2DB931A39FAD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831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0C19-0998-4D52-8DDD-94BF7F80CAE5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827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07827-9700-4CDC-9E1D-449DE82DEC8D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9722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0FD-A1FC-4920-A3C2-085B8E2F9EFA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394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D277-BE34-4141-BD49-E063BB7174E9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612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2973-F785-4CAE-8F28-6C5AAE1DB252}" type="datetime1">
              <a:rPr lang="en-US" smtClean="0">
                <a:solidFill>
                  <a:srgbClr val="ACD433"/>
                </a:solidFill>
              </a:rPr>
              <a:pPr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8406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3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516222"/>
            <a:ext cx="9130460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pPr defTabSz="457200"/>
            <a:fld id="{40642DC7-B585-4536-91D5-231B0D5F1DDB}" type="datetime1">
              <a:rPr lang="en-US" smtClean="0">
                <a:solidFill>
                  <a:srgbClr val="ACD433"/>
                </a:solidFill>
              </a:rPr>
              <a:pPr defTabSz="457200"/>
              <a:t>3/15/2016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pPr defTabSz="457200"/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0613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defTabSz="457200"/>
            <a:fld id="{D57F1E4F-1CFF-5643-939E-217C01CDF565}" type="slidenum">
              <a:rPr lang="en-US" dirty="0">
                <a:solidFill>
                  <a:prstClr val="white"/>
                </a:solidFill>
              </a:rPr>
              <a:pPr defTabSz="457200"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962" y="0"/>
            <a:ext cx="477038" cy="450761"/>
          </a:xfrm>
          <a:prstGeom prst="rect">
            <a:avLst/>
          </a:prstGeom>
        </p:spPr>
      </p:pic>
      <p:sp>
        <p:nvSpPr>
          <p:cNvPr id="32" name="Rectangle 31"/>
          <p:cNvSpPr/>
          <p:nvPr userDrawn="1"/>
        </p:nvSpPr>
        <p:spPr>
          <a:xfrm>
            <a:off x="484906" y="1893122"/>
            <a:ext cx="11230056" cy="412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472206" y="1829553"/>
            <a:ext cx="11196000" cy="1176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 userDrawn="1"/>
        </p:nvSpPr>
        <p:spPr>
          <a:xfrm>
            <a:off x="444500" y="1151908"/>
            <a:ext cx="11270462" cy="104348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071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7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9" Type="http://schemas.openxmlformats.org/officeDocument/2006/relationships/image" Target="../media/image63.png"/><Relationship Id="rId21" Type="http://schemas.openxmlformats.org/officeDocument/2006/relationships/image" Target="../media/image46.png"/><Relationship Id="rId34" Type="http://schemas.openxmlformats.org/officeDocument/2006/relationships/image" Target="../media/image58.png"/><Relationship Id="rId7" Type="http://schemas.openxmlformats.org/officeDocument/2006/relationships/image" Target="../media/image32.png"/><Relationship Id="rId12" Type="http://schemas.openxmlformats.org/officeDocument/2006/relationships/image" Target="../media/image37.jpe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33" Type="http://schemas.openxmlformats.org/officeDocument/2006/relationships/image" Target="../media/image57.png"/><Relationship Id="rId38" Type="http://schemas.openxmlformats.org/officeDocument/2006/relationships/image" Target="../media/image62.jpeg"/><Relationship Id="rId2" Type="http://schemas.openxmlformats.org/officeDocument/2006/relationships/diagramData" Target="../diagrams/data2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32" Type="http://schemas.openxmlformats.org/officeDocument/2006/relationships/image" Target="../media/image56.jpeg"/><Relationship Id="rId37" Type="http://schemas.openxmlformats.org/officeDocument/2006/relationships/image" Target="../media/image61.png"/><Relationship Id="rId40" Type="http://schemas.openxmlformats.org/officeDocument/2006/relationships/image" Target="../media/image64.jpeg"/><Relationship Id="rId5" Type="http://schemas.openxmlformats.org/officeDocument/2006/relationships/diagramColors" Target="../diagrams/colors2.xml"/><Relationship Id="rId15" Type="http://schemas.openxmlformats.org/officeDocument/2006/relationships/image" Target="../media/image40.png"/><Relationship Id="rId23" Type="http://schemas.openxmlformats.org/officeDocument/2006/relationships/image" Target="../media/image48.jpeg"/><Relationship Id="rId28" Type="http://schemas.openxmlformats.org/officeDocument/2006/relationships/image" Target="../media/image52.jpeg"/><Relationship Id="rId36" Type="http://schemas.openxmlformats.org/officeDocument/2006/relationships/image" Target="../media/image60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31" Type="http://schemas.openxmlformats.org/officeDocument/2006/relationships/image" Target="../media/image55.jpe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jpeg"/><Relationship Id="rId27" Type="http://schemas.openxmlformats.org/officeDocument/2006/relationships/hyperlink" Target="https://www.google.com/url?q=http://inside-bigdata.com/2013/10/29/cloudera-enterprise-5-announced/&amp;sa=U&amp;ei=sbhFU9_eAcbPrQfh_YHIBg&amp;ved=0CCMQ9QEwAA&amp;usg=AFQjCNESua-gAYbr3EcuDYZxLWWMfhdlvw" TargetMode="External"/><Relationship Id="rId30" Type="http://schemas.openxmlformats.org/officeDocument/2006/relationships/image" Target="../media/image54.png"/><Relationship Id="rId35" Type="http://schemas.openxmlformats.org/officeDocument/2006/relationships/image" Target="../media/image59.jpeg"/><Relationship Id="rId8" Type="http://schemas.openxmlformats.org/officeDocument/2006/relationships/image" Target="../media/image33.png"/><Relationship Id="rId3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33.png"/><Relationship Id="rId7" Type="http://schemas.openxmlformats.org/officeDocument/2006/relationships/image" Target="../media/image6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jpeg"/><Relationship Id="rId5" Type="http://schemas.openxmlformats.org/officeDocument/2006/relationships/image" Target="../media/image43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jpe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54954" y="2099733"/>
            <a:ext cx="9989861" cy="2677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 smtClean="0"/>
              <a:t>Consumer Analytics Group, </a:t>
            </a:r>
            <a:br>
              <a:rPr lang="en-US" sz="4000" b="1" dirty="0" smtClean="0"/>
            </a:br>
            <a:r>
              <a:rPr lang="en-US" sz="4000" dirty="0" smtClean="0"/>
              <a:t>Big Data Initiative</a:t>
            </a:r>
            <a:br>
              <a:rPr lang="en-US" sz="4000" dirty="0" smtClean="0"/>
            </a:br>
            <a:r>
              <a:rPr lang="en-US" sz="4000" b="1" dirty="0" smtClean="0"/>
              <a:t/>
            </a:r>
            <a:br>
              <a:rPr lang="en-US" sz="4000" b="1" dirty="0" smtClean="0"/>
            </a:br>
            <a:endParaRPr lang="en-IN" sz="36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54954" y="5526232"/>
            <a:ext cx="8825657" cy="56673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+mn-lt"/>
              </a:rPr>
              <a:t>GP &amp; SF</a:t>
            </a:r>
            <a:r>
              <a:rPr lang="en-US" b="1" dirty="0">
                <a:latin typeface="+mn-lt"/>
              </a:rPr>
              <a:t>, March 26</a:t>
            </a:r>
            <a:r>
              <a:rPr lang="en-US" b="1" baseline="30000" dirty="0">
                <a:latin typeface="+mn-lt"/>
              </a:rPr>
              <a:t>th</a:t>
            </a:r>
            <a:r>
              <a:rPr lang="en-US" b="1" dirty="0">
                <a:latin typeface="+mn-lt"/>
              </a:rPr>
              <a:t> 2015</a:t>
            </a:r>
            <a:r>
              <a:rPr lang="en-IN" b="1" dirty="0">
                <a:latin typeface="+mn-lt"/>
              </a:rPr>
              <a:t/>
            </a:r>
            <a:br>
              <a:rPr lang="en-IN" b="1" dirty="0">
                <a:latin typeface="+mn-lt"/>
              </a:rPr>
            </a:br>
            <a:endParaRPr lang="en-IN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343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06400" y="1617167"/>
            <a:ext cx="11176000" cy="4953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342900" indent="-342900" algn="l">
              <a:lnSpc>
                <a:spcPts val="4000"/>
              </a:lnSpc>
              <a:spcAft>
                <a:spcPts val="0"/>
              </a:spcAft>
              <a:buClr>
                <a:srgbClr val="002D72"/>
              </a:buClr>
              <a:buFont typeface="Wingdings" pitchFamily="2" charset="2"/>
              <a:buChar char="§"/>
            </a:pPr>
            <a:r>
              <a:rPr lang="en-US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Data Analytics and Big Data: An introduction……….………………………………………………</a:t>
            </a:r>
          </a:p>
          <a:p>
            <a:pPr marL="342900" indent="-342900">
              <a:lnSpc>
                <a:spcPts val="4000"/>
              </a:lnSpc>
              <a:buClr>
                <a:srgbClr val="002D72"/>
              </a:buClr>
              <a:buFont typeface="Wingdings" pitchFamily="2" charset="2"/>
              <a:buChar char="§"/>
            </a:pPr>
            <a:endParaRPr lang="en-US" sz="1600" dirty="0" smtClean="0">
              <a:solidFill>
                <a:srgbClr val="002060"/>
              </a:solidFill>
              <a:cs typeface="Arial" pitchFamily="34" charset="0"/>
            </a:endParaRPr>
          </a:p>
          <a:p>
            <a:pPr marL="342900" indent="-342900">
              <a:lnSpc>
                <a:spcPts val="4000"/>
              </a:lnSpc>
              <a:buClr>
                <a:srgbClr val="002D72"/>
              </a:buClr>
              <a:buFont typeface="Wingdings" pitchFamily="2" charset="2"/>
              <a:buChar char="§"/>
            </a:pPr>
            <a:r>
              <a:rPr lang="en-US" sz="1600" dirty="0" smtClean="0">
                <a:solidFill>
                  <a:srgbClr val="002060"/>
                </a:solidFill>
                <a:cs typeface="Arial" pitchFamily="34" charset="0"/>
              </a:rPr>
              <a:t>Analytic application: Company, Cluster, and Group Level……………………………………. …</a:t>
            </a:r>
            <a:endParaRPr lang="en-US" sz="1600" dirty="0">
              <a:solidFill>
                <a:srgbClr val="002060"/>
              </a:solidFill>
              <a:cs typeface="Arial" pitchFamily="34" charset="0"/>
            </a:endParaRPr>
          </a:p>
          <a:p>
            <a:pPr marL="342900" indent="-342900">
              <a:lnSpc>
                <a:spcPts val="4000"/>
              </a:lnSpc>
              <a:buClr>
                <a:srgbClr val="002D72"/>
              </a:buClr>
              <a:buFont typeface="Wingdings" pitchFamily="2" charset="2"/>
              <a:buChar char="§"/>
            </a:pPr>
            <a:endParaRPr lang="en-US" sz="1600" dirty="0" smtClean="0">
              <a:solidFill>
                <a:srgbClr val="002060"/>
              </a:solidFill>
              <a:cs typeface="Arial" pitchFamily="34" charset="0"/>
            </a:endParaRPr>
          </a:p>
          <a:p>
            <a:pPr marL="342900" indent="-342900">
              <a:lnSpc>
                <a:spcPts val="4000"/>
              </a:lnSpc>
              <a:buClr>
                <a:srgbClr val="002D72"/>
              </a:buClr>
              <a:buFont typeface="Wingdings" pitchFamily="2" charset="2"/>
              <a:buChar char="§"/>
            </a:pPr>
            <a:r>
              <a:rPr lang="en-US" sz="1600" dirty="0" smtClean="0">
                <a:solidFill>
                  <a:srgbClr val="002060"/>
                </a:solidFill>
                <a:cs typeface="Arial" pitchFamily="34" charset="0"/>
              </a:rPr>
              <a:t>Data Governance and Privacy: ..……………………………………………………...……………...</a:t>
            </a:r>
            <a:endParaRPr lang="en-US" sz="1600" dirty="0">
              <a:solidFill>
                <a:srgbClr val="002060"/>
              </a:solidFill>
              <a:cs typeface="Arial" pitchFamily="34" charset="0"/>
            </a:endParaRPr>
          </a:p>
          <a:p>
            <a:pPr marL="342900" indent="-342900">
              <a:lnSpc>
                <a:spcPts val="4000"/>
              </a:lnSpc>
              <a:buClr>
                <a:srgbClr val="002D72"/>
              </a:buClr>
              <a:buFont typeface="Wingdings" pitchFamily="2" charset="2"/>
              <a:buChar char="§"/>
            </a:pPr>
            <a:endParaRPr lang="en-US" sz="1600" dirty="0" smtClean="0">
              <a:solidFill>
                <a:srgbClr val="002060"/>
              </a:solidFill>
              <a:cs typeface="Arial" pitchFamily="34" charset="0"/>
            </a:endParaRPr>
          </a:p>
          <a:p>
            <a:pPr marL="342900" indent="-342900">
              <a:lnSpc>
                <a:spcPts val="4000"/>
              </a:lnSpc>
              <a:buClr>
                <a:srgbClr val="002D72"/>
              </a:buClr>
              <a:buFont typeface="Wingdings" pitchFamily="2" charset="2"/>
              <a:buChar char="§"/>
            </a:pPr>
            <a:r>
              <a:rPr lang="en-US" sz="1600" dirty="0" smtClean="0">
                <a:solidFill>
                  <a:srgbClr val="002060"/>
                </a:solidFill>
                <a:cs typeface="Arial" pitchFamily="34" charset="0"/>
              </a:rPr>
              <a:t>Group Consumer Analytics: Value Proposition ..…………………………………………………….</a:t>
            </a:r>
          </a:p>
          <a:p>
            <a:pPr marL="342900" indent="-342900">
              <a:lnSpc>
                <a:spcPts val="4000"/>
              </a:lnSpc>
              <a:buClr>
                <a:srgbClr val="002D72"/>
              </a:buClr>
              <a:buFont typeface="Wingdings" pitchFamily="2" charset="2"/>
              <a:buChar char="§"/>
            </a:pPr>
            <a:endParaRPr lang="en-US" sz="1600" dirty="0" smtClean="0">
              <a:solidFill>
                <a:srgbClr val="002060"/>
              </a:solidFill>
              <a:cs typeface="Arial" pitchFamily="34" charset="0"/>
            </a:endParaRPr>
          </a:p>
          <a:p>
            <a:pPr marL="342900" indent="-342900">
              <a:lnSpc>
                <a:spcPts val="4000"/>
              </a:lnSpc>
              <a:buClr>
                <a:srgbClr val="002D72"/>
              </a:buClr>
              <a:buFont typeface="Wingdings" pitchFamily="2" charset="2"/>
              <a:buChar char="§"/>
            </a:pPr>
            <a:r>
              <a:rPr lang="en-US" sz="1600" dirty="0" smtClean="0">
                <a:solidFill>
                  <a:srgbClr val="002060"/>
                </a:solidFill>
                <a:cs typeface="Arial" pitchFamily="34" charset="0"/>
              </a:rPr>
              <a:t>Appendix  </a:t>
            </a:r>
          </a:p>
          <a:p>
            <a:pPr marL="342900" indent="-342900">
              <a:lnSpc>
                <a:spcPts val="4000"/>
              </a:lnSpc>
              <a:buClr>
                <a:srgbClr val="002D72"/>
              </a:buClr>
              <a:buFont typeface="Wingdings" pitchFamily="2" charset="2"/>
              <a:buChar char="§"/>
            </a:pPr>
            <a:endParaRPr lang="en-US" sz="1600" dirty="0" smtClean="0">
              <a:solidFill>
                <a:srgbClr val="002060"/>
              </a:solidFill>
              <a:cs typeface="Arial" pitchFamily="34" charset="0"/>
            </a:endParaRPr>
          </a:p>
          <a:p>
            <a:pPr marL="342900" indent="-342900">
              <a:lnSpc>
                <a:spcPts val="4000"/>
              </a:lnSpc>
              <a:buClr>
                <a:srgbClr val="002D72"/>
              </a:buClr>
              <a:buFont typeface="Wingdings" pitchFamily="2" charset="2"/>
              <a:buChar char="§"/>
            </a:pPr>
            <a:endParaRPr lang="en-US" sz="1600" dirty="0">
              <a:solidFill>
                <a:srgbClr val="002060"/>
              </a:solidFill>
              <a:cs typeface="Arial" pitchFamily="34" charset="0"/>
            </a:endParaRPr>
          </a:p>
          <a:p>
            <a:pPr marL="342900" indent="-342900">
              <a:lnSpc>
                <a:spcPts val="4000"/>
              </a:lnSpc>
              <a:buClr>
                <a:srgbClr val="002D72"/>
              </a:buClr>
              <a:buFont typeface="Wingdings" pitchFamily="2" charset="2"/>
              <a:buChar char="§"/>
            </a:pPr>
            <a:endParaRPr lang="en-US" sz="1600" dirty="0">
              <a:solidFill>
                <a:srgbClr val="002060"/>
              </a:solidFill>
              <a:cs typeface="Arial" pitchFamily="34" charset="0"/>
            </a:endParaRPr>
          </a:p>
          <a:p>
            <a:pPr marL="342900" indent="-342900" algn="l">
              <a:lnSpc>
                <a:spcPts val="4000"/>
              </a:lnSpc>
              <a:spcAft>
                <a:spcPts val="0"/>
              </a:spcAft>
              <a:buClr>
                <a:srgbClr val="002D72"/>
              </a:buClr>
            </a:pPr>
            <a:endParaRPr lang="en-US" sz="1600" dirty="0" smtClean="0">
              <a:solidFill>
                <a:srgbClr val="00206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69600" y="1693370"/>
            <a:ext cx="609600" cy="4953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342900" indent="-342900">
              <a:lnSpc>
                <a:spcPts val="4000"/>
              </a:lnSpc>
              <a:spcAft>
                <a:spcPts val="0"/>
              </a:spcAft>
              <a:buClr>
                <a:schemeClr val="tx2"/>
              </a:buClr>
            </a:pPr>
            <a:r>
              <a:rPr lang="en-US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3 - 5</a:t>
            </a:r>
          </a:p>
          <a:p>
            <a:pPr marL="342900" indent="-342900">
              <a:lnSpc>
                <a:spcPts val="4000"/>
              </a:lnSpc>
              <a:spcAft>
                <a:spcPts val="0"/>
              </a:spcAft>
              <a:buClr>
                <a:schemeClr val="tx2"/>
              </a:buClr>
            </a:pPr>
            <a:endParaRPr lang="en-US" sz="1600" dirty="0" smtClean="0">
              <a:solidFill>
                <a:srgbClr val="002060"/>
              </a:solidFill>
              <a:latin typeface="+mj-lt"/>
              <a:cs typeface="Arial" pitchFamily="34" charset="0"/>
            </a:endParaRPr>
          </a:p>
          <a:p>
            <a:pPr marL="342900" indent="-342900">
              <a:lnSpc>
                <a:spcPts val="4000"/>
              </a:lnSpc>
              <a:spcAft>
                <a:spcPts val="0"/>
              </a:spcAft>
              <a:buClr>
                <a:schemeClr val="tx2"/>
              </a:buClr>
            </a:pPr>
            <a:r>
              <a:rPr lang="en-US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6 - 9</a:t>
            </a:r>
          </a:p>
          <a:p>
            <a:pPr marL="342900" indent="-342900">
              <a:lnSpc>
                <a:spcPts val="4000"/>
              </a:lnSpc>
              <a:spcAft>
                <a:spcPts val="0"/>
              </a:spcAft>
              <a:buClr>
                <a:schemeClr val="tx2"/>
              </a:buClr>
            </a:pPr>
            <a:endParaRPr lang="en-US" sz="1600" dirty="0" smtClean="0">
              <a:solidFill>
                <a:srgbClr val="002060"/>
              </a:solidFill>
              <a:latin typeface="+mj-lt"/>
              <a:cs typeface="Arial" pitchFamily="34" charset="0"/>
            </a:endParaRPr>
          </a:p>
          <a:p>
            <a:pPr marL="342900" indent="-342900">
              <a:lnSpc>
                <a:spcPts val="4000"/>
              </a:lnSpc>
              <a:spcAft>
                <a:spcPts val="0"/>
              </a:spcAft>
              <a:buClr>
                <a:schemeClr val="tx2"/>
              </a:buClr>
            </a:pPr>
            <a:r>
              <a:rPr lang="en-US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10</a:t>
            </a:r>
          </a:p>
          <a:p>
            <a:pPr marL="342900" indent="-342900">
              <a:lnSpc>
                <a:spcPts val="4000"/>
              </a:lnSpc>
              <a:spcAft>
                <a:spcPts val="0"/>
              </a:spcAft>
              <a:buClr>
                <a:schemeClr val="tx2"/>
              </a:buClr>
            </a:pPr>
            <a:endParaRPr lang="en-US" sz="1600" dirty="0" smtClean="0">
              <a:solidFill>
                <a:srgbClr val="002060"/>
              </a:solidFill>
              <a:latin typeface="+mj-lt"/>
              <a:cs typeface="Arial" pitchFamily="34" charset="0"/>
            </a:endParaRPr>
          </a:p>
          <a:p>
            <a:pPr marL="342900" indent="-342900">
              <a:lnSpc>
                <a:spcPts val="4000"/>
              </a:lnSpc>
              <a:spcAft>
                <a:spcPts val="0"/>
              </a:spcAft>
              <a:buClr>
                <a:schemeClr val="tx2"/>
              </a:buClr>
            </a:pPr>
            <a:r>
              <a:rPr lang="en-US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11-13</a:t>
            </a:r>
          </a:p>
          <a:p>
            <a:pPr marL="342900" indent="-342900">
              <a:lnSpc>
                <a:spcPts val="4000"/>
              </a:lnSpc>
              <a:spcAft>
                <a:spcPts val="0"/>
              </a:spcAft>
              <a:buClr>
                <a:schemeClr val="tx2"/>
              </a:buClr>
            </a:pPr>
            <a:endParaRPr lang="en-US" sz="1600" dirty="0" smtClean="0">
              <a:solidFill>
                <a:srgbClr val="002060"/>
              </a:solidFill>
              <a:latin typeface="+mj-lt"/>
              <a:cs typeface="Arial" pitchFamily="34" charset="0"/>
            </a:endParaRPr>
          </a:p>
          <a:p>
            <a:pPr marL="342900" indent="-342900">
              <a:lnSpc>
                <a:spcPts val="4000"/>
              </a:lnSpc>
              <a:spcAft>
                <a:spcPts val="0"/>
              </a:spcAft>
              <a:buClr>
                <a:schemeClr val="tx2"/>
              </a:buClr>
            </a:pPr>
            <a:endParaRPr lang="en-US" sz="1600" dirty="0" smtClean="0">
              <a:solidFill>
                <a:srgbClr val="000000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14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Analytics: Enabling smarter decisions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white"/>
                </a:solidFill>
              </a:rPr>
              <a:pPr/>
              <a:t>3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28356" y="1217086"/>
            <a:ext cx="11333750" cy="582362"/>
          </a:xfrm>
        </p:spPr>
        <p:txBody>
          <a:bodyPr>
            <a:noAutofit/>
          </a:bodyPr>
          <a:lstStyle/>
          <a:p>
            <a:r>
              <a:rPr lang="en-IN" dirty="0" smtClean="0">
                <a:solidFill>
                  <a:schemeClr val="tx1"/>
                </a:solidFill>
                <a:latin typeface="+mj-lt"/>
              </a:rPr>
              <a:t>Evolution of analytics entails building the decision capabilities for end-to-end decision management </a:t>
            </a:r>
          </a:p>
        </p:txBody>
      </p:sp>
      <p:grpSp>
        <p:nvGrpSpPr>
          <p:cNvPr id="30" name="Group 16"/>
          <p:cNvGrpSpPr>
            <a:grpSpLocks/>
          </p:cNvGrpSpPr>
          <p:nvPr/>
        </p:nvGrpSpPr>
        <p:grpSpPr bwMode="auto">
          <a:xfrm>
            <a:off x="387315" y="2041735"/>
            <a:ext cx="11638107" cy="4348431"/>
            <a:chOff x="1903773" y="1766213"/>
            <a:chExt cx="5868594" cy="4102414"/>
          </a:xfrm>
        </p:grpSpPr>
        <p:cxnSp>
          <p:nvCxnSpPr>
            <p:cNvPr id="31" name="Straight Connector 30"/>
            <p:cNvCxnSpPr/>
            <p:nvPr/>
          </p:nvCxnSpPr>
          <p:spPr>
            <a:xfrm rot="5400000">
              <a:off x="-146873" y="3816860"/>
              <a:ext cx="4102414" cy="1121"/>
            </a:xfrm>
            <a:prstGeom prst="line">
              <a:avLst/>
            </a:prstGeom>
            <a:noFill/>
            <a:ln w="34925" cap="flat" cmpd="sng" algn="ctr">
              <a:solidFill>
                <a:srgbClr val="00B0F0"/>
              </a:solidFill>
              <a:prstDash val="solid"/>
              <a:headEnd type="triangle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>
            <a:xfrm rot="10800000" flipV="1">
              <a:off x="1904334" y="5867734"/>
              <a:ext cx="5868033" cy="0"/>
            </a:xfrm>
            <a:prstGeom prst="line">
              <a:avLst/>
            </a:prstGeom>
            <a:noFill/>
            <a:ln w="34925" cap="flat" cmpd="sng" algn="ctr">
              <a:solidFill>
                <a:srgbClr val="00B0F0"/>
              </a:solidFill>
              <a:prstDash val="solid"/>
              <a:headEnd type="triangle"/>
            </a:ln>
            <a:effectLst/>
          </p:spPr>
        </p:cxnSp>
      </p:grp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39767" y="5509718"/>
            <a:ext cx="4524291" cy="438842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Raw &amp; Cleansed Data, MIS</a:t>
            </a: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45" name="TextBox 40"/>
          <p:cNvSpPr txBox="1">
            <a:spLocks noChangeArrowheads="1"/>
          </p:cNvSpPr>
          <p:nvPr/>
        </p:nvSpPr>
        <p:spPr bwMode="auto">
          <a:xfrm rot="16200000">
            <a:off x="-973482" y="3866138"/>
            <a:ext cx="228940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i="1" kern="0" dirty="0" smtClean="0">
                <a:solidFill>
                  <a:srgbClr val="002D72"/>
                </a:solidFill>
              </a:rPr>
              <a:t>Competitive Advantage</a:t>
            </a:r>
            <a:endParaRPr lang="en-US" sz="1400" b="1" i="1" kern="0" dirty="0">
              <a:solidFill>
                <a:srgbClr val="002D72"/>
              </a:solidFill>
            </a:endParaRPr>
          </a:p>
        </p:txBody>
      </p:sp>
      <p:sp>
        <p:nvSpPr>
          <p:cNvPr id="46" name="TextBox 39"/>
          <p:cNvSpPr txBox="1">
            <a:spLocks noChangeArrowheads="1"/>
          </p:cNvSpPr>
          <p:nvPr/>
        </p:nvSpPr>
        <p:spPr bwMode="auto">
          <a:xfrm>
            <a:off x="4902934" y="6381307"/>
            <a:ext cx="173477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b="1" i="1" kern="0" dirty="0" smtClean="0">
                <a:solidFill>
                  <a:srgbClr val="002D72"/>
                </a:solidFill>
              </a:rPr>
              <a:t>Analytics Maturity</a:t>
            </a:r>
            <a:endParaRPr lang="en-US" sz="1400" b="1" i="1" kern="0" dirty="0">
              <a:solidFill>
                <a:srgbClr val="002D72"/>
              </a:solidFill>
            </a:endParaRPr>
          </a:p>
        </p:txBody>
      </p:sp>
      <p:sp>
        <p:nvSpPr>
          <p:cNvPr id="47" name="Left-Right Arrow 46"/>
          <p:cNvSpPr/>
          <p:nvPr/>
        </p:nvSpPr>
        <p:spPr bwMode="auto">
          <a:xfrm>
            <a:off x="491673" y="2193461"/>
            <a:ext cx="4252136" cy="653311"/>
          </a:xfrm>
          <a:prstGeom prst="leftRightArrow">
            <a:avLst>
              <a:gd name="adj1" fmla="val 50000"/>
              <a:gd name="adj2" fmla="val 36111"/>
            </a:avLst>
          </a:prstGeom>
          <a:solidFill>
            <a:srgbClr val="00B0F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457200">
              <a:lnSpc>
                <a:spcPct val="130000"/>
              </a:lnSpc>
            </a:pPr>
            <a:r>
              <a:rPr lang="en-US" dirty="0">
                <a:solidFill>
                  <a:prstClr val="white"/>
                </a:solidFill>
              </a:rPr>
              <a:t>Decision Support</a:t>
            </a:r>
          </a:p>
        </p:txBody>
      </p:sp>
      <p:sp>
        <p:nvSpPr>
          <p:cNvPr id="48" name="Left-Right Arrow 47"/>
          <p:cNvSpPr/>
          <p:nvPr/>
        </p:nvSpPr>
        <p:spPr bwMode="auto">
          <a:xfrm>
            <a:off x="4927326" y="2193461"/>
            <a:ext cx="6450465" cy="653311"/>
          </a:xfrm>
          <a:prstGeom prst="leftRightArrow">
            <a:avLst>
              <a:gd name="adj1" fmla="val 50000"/>
              <a:gd name="adj2" fmla="val 36111"/>
            </a:avLst>
          </a:prstGeom>
          <a:solidFill>
            <a:srgbClr val="00B0F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457200">
              <a:lnSpc>
                <a:spcPct val="130000"/>
              </a:lnSpc>
            </a:pPr>
            <a:r>
              <a:rPr lang="en-US" dirty="0">
                <a:solidFill>
                  <a:prstClr val="white"/>
                </a:solidFill>
              </a:rPr>
              <a:t>Decision Making</a:t>
            </a:r>
          </a:p>
        </p:txBody>
      </p: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8860864" y="3989688"/>
            <a:ext cx="2928220" cy="767396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600" b="1" kern="0" dirty="0" smtClean="0">
                <a:solidFill>
                  <a:schemeClr val="tx2"/>
                </a:solidFill>
                <a:cs typeface="Arial" pitchFamily="34" charset="0"/>
              </a:rPr>
              <a:t>What is the best outcome?</a:t>
            </a:r>
            <a:endParaRPr lang="en-US" sz="1600" b="1" kern="0" dirty="0">
              <a:solidFill>
                <a:schemeClr val="tx2"/>
              </a:solidFill>
              <a:cs typeface="Arial" pitchFamily="34" charset="0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493893" y="1561373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64977" y="1681988"/>
            <a:ext cx="107976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 smtClean="0">
                <a:solidFill>
                  <a:srgbClr val="00BDF2"/>
                </a:solidFill>
                <a:ea typeface="ヒラギノ角ゴ Pro W3" charset="0"/>
                <a:cs typeface="Geneva" charset="0"/>
              </a:rPr>
              <a:t>“Nothing </a:t>
            </a:r>
            <a:r>
              <a:rPr lang="en-US" sz="2000" i="1" dirty="0">
                <a:solidFill>
                  <a:srgbClr val="00BDF2"/>
                </a:solidFill>
                <a:ea typeface="ヒラギノ角ゴ Pro W3" charset="0"/>
                <a:cs typeface="Geneva" charset="0"/>
              </a:rPr>
              <a:t>is more difficult, and therefore more precious, than to be able to </a:t>
            </a:r>
            <a:r>
              <a:rPr lang="en-US" sz="2000" i="1" dirty="0" smtClean="0">
                <a:solidFill>
                  <a:srgbClr val="00BDF2"/>
                </a:solidFill>
                <a:ea typeface="ヒラギノ角ゴ Pro W3" charset="0"/>
                <a:cs typeface="Geneva" charset="0"/>
              </a:rPr>
              <a:t>decide”</a:t>
            </a:r>
            <a:r>
              <a:rPr lang="en-US" sz="1400" dirty="0" smtClean="0"/>
              <a:t>*</a:t>
            </a:r>
            <a:endParaRPr lang="en-US" sz="1200" i="1" dirty="0">
              <a:solidFill>
                <a:srgbClr val="00BDF2"/>
              </a:solidFill>
              <a:ea typeface="ヒラギノ角ゴ Pro W3" charset="0"/>
              <a:cs typeface="Geneva" charset="0"/>
            </a:endParaRPr>
          </a:p>
        </p:txBody>
      </p:sp>
      <p:sp>
        <p:nvSpPr>
          <p:cNvPr id="73" name="TextBox 72"/>
          <p:cNvSpPr txBox="1"/>
          <p:nvPr/>
        </p:nvSpPr>
        <p:spPr bwMode="gray">
          <a:xfrm>
            <a:off x="128919" y="6612253"/>
            <a:ext cx="3091543" cy="24574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000" dirty="0" smtClean="0"/>
              <a:t>*Source: Thinking, Fast and Slow – Daniel </a:t>
            </a:r>
            <a:r>
              <a:rPr lang="en-US" sz="1000" dirty="0" err="1" smtClean="0"/>
              <a:t>Kahneman</a:t>
            </a:r>
            <a:endParaRPr lang="en-IN" sz="1000" dirty="0" smtClean="0"/>
          </a:p>
        </p:txBody>
      </p:sp>
      <p:sp>
        <p:nvSpPr>
          <p:cNvPr id="53" name="Rectangle 13"/>
          <p:cNvSpPr>
            <a:spLocks noChangeArrowheads="1"/>
          </p:cNvSpPr>
          <p:nvPr/>
        </p:nvSpPr>
        <p:spPr bwMode="auto">
          <a:xfrm>
            <a:off x="6491740" y="4218068"/>
            <a:ext cx="2452552" cy="767396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600" b="1" kern="0" dirty="0" smtClean="0">
                <a:solidFill>
                  <a:schemeClr val="tx2"/>
                </a:solidFill>
                <a:cs typeface="Arial" pitchFamily="34" charset="0"/>
              </a:rPr>
              <a:t>What will happen?</a:t>
            </a:r>
            <a:endParaRPr lang="en-US" sz="1600" b="1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55" name="Rectangle 13"/>
          <p:cNvSpPr>
            <a:spLocks noChangeArrowheads="1"/>
          </p:cNvSpPr>
          <p:nvPr/>
        </p:nvSpPr>
        <p:spPr bwMode="auto">
          <a:xfrm>
            <a:off x="4156557" y="4457354"/>
            <a:ext cx="2408748" cy="767396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600" b="1" kern="0" dirty="0" smtClean="0">
                <a:solidFill>
                  <a:schemeClr val="tx2"/>
                </a:solidFill>
                <a:cs typeface="Arial" pitchFamily="34" charset="0"/>
              </a:rPr>
              <a:t>Why did it happen?</a:t>
            </a:r>
            <a:endParaRPr lang="en-US" sz="1600" b="1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57" name="Rectangle 13"/>
          <p:cNvSpPr>
            <a:spLocks noChangeArrowheads="1"/>
          </p:cNvSpPr>
          <p:nvPr/>
        </p:nvSpPr>
        <p:spPr bwMode="auto">
          <a:xfrm>
            <a:off x="1153577" y="5200395"/>
            <a:ext cx="2021118" cy="767396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600" b="1" kern="0" dirty="0" smtClean="0">
                <a:solidFill>
                  <a:schemeClr val="tx2"/>
                </a:solidFill>
                <a:cs typeface="Arial" pitchFamily="34" charset="0"/>
              </a:rPr>
              <a:t>What happened?</a:t>
            </a:r>
            <a:endParaRPr lang="en-US" sz="1600" b="1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58" name="Rectangle 13"/>
          <p:cNvSpPr>
            <a:spLocks noChangeArrowheads="1"/>
          </p:cNvSpPr>
          <p:nvPr/>
        </p:nvSpPr>
        <p:spPr bwMode="auto">
          <a:xfrm>
            <a:off x="3508760" y="4813390"/>
            <a:ext cx="3768437" cy="385846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Business Intelligence &amp; Analysis  </a:t>
            </a: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6467392" y="4553057"/>
            <a:ext cx="2535453" cy="385846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Predictive Modeling  </a:t>
            </a: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60" name="Rectangle 13"/>
          <p:cNvSpPr>
            <a:spLocks noChangeArrowheads="1"/>
          </p:cNvSpPr>
          <p:nvPr/>
        </p:nvSpPr>
        <p:spPr bwMode="auto">
          <a:xfrm>
            <a:off x="8851101" y="4340013"/>
            <a:ext cx="3117850" cy="385846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>
              <a:defRPr/>
            </a:pPr>
            <a:r>
              <a:rPr lang="en-US" sz="1400" kern="0" dirty="0" smtClean="0">
                <a:solidFill>
                  <a:schemeClr val="tx2"/>
                </a:solidFill>
                <a:cs typeface="Arial" pitchFamily="34" charset="0"/>
              </a:rPr>
              <a:t>Advanced Quantitative Science</a:t>
            </a:r>
            <a:endParaRPr lang="en-US" sz="14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89" name="Freeform 88"/>
          <p:cNvSpPr/>
          <p:nvPr/>
        </p:nvSpPr>
        <p:spPr>
          <a:xfrm>
            <a:off x="1330036" y="3445164"/>
            <a:ext cx="8876146" cy="1080653"/>
          </a:xfrm>
          <a:custGeom>
            <a:avLst/>
            <a:gdLst>
              <a:gd name="connsiteX0" fmla="*/ 0 w 8525164"/>
              <a:gd name="connsiteY0" fmla="*/ 1062182 h 1062182"/>
              <a:gd name="connsiteX1" fmla="*/ 1200727 w 8525164"/>
              <a:gd name="connsiteY1" fmla="*/ 905164 h 1062182"/>
              <a:gd name="connsiteX2" fmla="*/ 8525164 w 8525164"/>
              <a:gd name="connsiteY2" fmla="*/ 0 h 1062182"/>
              <a:gd name="connsiteX3" fmla="*/ 8525164 w 8525164"/>
              <a:gd name="connsiteY3" fmla="*/ 0 h 106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25164" h="1062182">
                <a:moveTo>
                  <a:pt x="0" y="1062182"/>
                </a:moveTo>
                <a:lnTo>
                  <a:pt x="1200727" y="905164"/>
                </a:lnTo>
                <a:lnTo>
                  <a:pt x="8525164" y="0"/>
                </a:lnTo>
                <a:lnTo>
                  <a:pt x="8525164" y="0"/>
                </a:lnTo>
              </a:path>
            </a:pathLst>
          </a:custGeom>
          <a:ln w="25400">
            <a:solidFill>
              <a:schemeClr val="bg1">
                <a:lumMod val="85000"/>
                <a:alpha val="3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/>
          <p:cNvSpPr/>
          <p:nvPr/>
        </p:nvSpPr>
        <p:spPr>
          <a:xfrm>
            <a:off x="9452273" y="2946409"/>
            <a:ext cx="1339284" cy="103446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/>
          <p:cNvSpPr/>
          <p:nvPr/>
        </p:nvSpPr>
        <p:spPr>
          <a:xfrm>
            <a:off x="1019498" y="4285678"/>
            <a:ext cx="544945" cy="480291"/>
          </a:xfrm>
          <a:prstGeom prst="ellipse">
            <a:avLst/>
          </a:prstGeom>
          <a:solidFill>
            <a:schemeClr val="accent5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/>
          <p:cNvSpPr/>
          <p:nvPr/>
        </p:nvSpPr>
        <p:spPr>
          <a:xfrm>
            <a:off x="2730656" y="3985497"/>
            <a:ext cx="743536" cy="660399"/>
          </a:xfrm>
          <a:prstGeom prst="ellipse">
            <a:avLst/>
          </a:prstGeom>
          <a:solidFill>
            <a:schemeClr val="accent5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/>
          <p:cNvSpPr/>
          <p:nvPr/>
        </p:nvSpPr>
        <p:spPr>
          <a:xfrm>
            <a:off x="4923036" y="3620299"/>
            <a:ext cx="960591" cy="812799"/>
          </a:xfrm>
          <a:prstGeom prst="ellipse">
            <a:avLst/>
          </a:prstGeom>
          <a:solidFill>
            <a:schemeClr val="accent4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/>
          <p:cNvSpPr/>
          <p:nvPr/>
        </p:nvSpPr>
        <p:spPr>
          <a:xfrm>
            <a:off x="7092381" y="3246589"/>
            <a:ext cx="1159175" cy="919016"/>
          </a:xfrm>
          <a:prstGeom prst="ellipse">
            <a:avLst/>
          </a:prstGeom>
          <a:solidFill>
            <a:schemeClr val="tx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TextBox 89"/>
          <p:cNvSpPr txBox="1"/>
          <p:nvPr/>
        </p:nvSpPr>
        <p:spPr bwMode="gray">
          <a:xfrm>
            <a:off x="1523999" y="2604674"/>
            <a:ext cx="2198255" cy="88669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IN" sz="1600" b="1" dirty="0" smtClean="0"/>
              <a:t>Sense and Respond</a:t>
            </a:r>
          </a:p>
        </p:txBody>
      </p:sp>
      <p:sp>
        <p:nvSpPr>
          <p:cNvPr id="91" name="TextBox 90"/>
          <p:cNvSpPr txBox="1"/>
          <p:nvPr/>
        </p:nvSpPr>
        <p:spPr bwMode="gray">
          <a:xfrm>
            <a:off x="7097931" y="2600062"/>
            <a:ext cx="2198255" cy="88669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IN" sz="1600" b="1" dirty="0" smtClean="0"/>
              <a:t>Predict and Act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99022" y="4633201"/>
            <a:ext cx="3161174" cy="1406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buFontTx/>
              <a:buChar char="-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Optimization</a:t>
            </a:r>
          </a:p>
          <a:p>
            <a:pPr defTabSz="457200">
              <a:buFontTx/>
              <a:buChar char="-"/>
            </a:pP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 Digital/E-commerce </a:t>
            </a:r>
            <a:endParaRPr lang="en-US" sz="1400" dirty="0">
              <a:solidFill>
                <a:schemeClr val="bg2">
                  <a:lumMod val="75000"/>
                </a:schemeClr>
              </a:solidFill>
            </a:endParaRP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 Location based modeling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 Social media </a:t>
            </a: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text/voice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analytics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 Pattern </a:t>
            </a: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recognition</a:t>
            </a:r>
          </a:p>
          <a:p>
            <a:pPr defTabSz="457200">
              <a:buFontTx/>
              <a:buChar char="-"/>
            </a:pP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 Machine learning</a:t>
            </a:r>
            <a:endParaRPr lang="en-IN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6615053" y="4809359"/>
            <a:ext cx="2481239" cy="1083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buFontTx/>
              <a:buChar char="-"/>
            </a:pP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 Clustering, Segmentation</a:t>
            </a:r>
            <a:endParaRPr lang="en-US" sz="1400" dirty="0">
              <a:solidFill>
                <a:schemeClr val="bg2">
                  <a:lumMod val="75000"/>
                </a:schemeClr>
              </a:solidFill>
            </a:endParaRP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Time Series Forecasting</a:t>
            </a:r>
          </a:p>
          <a:p>
            <a:pPr defTabSz="457200">
              <a:buFontTx/>
              <a:buChar char="-"/>
            </a:pP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 Propensity Modeling</a:t>
            </a:r>
            <a:endParaRPr lang="en-IN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4175427" y="5020668"/>
            <a:ext cx="2481239" cy="1083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buFontTx/>
              <a:buChar char="-"/>
            </a:pP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 Trends, </a:t>
            </a:r>
          </a:p>
          <a:p>
            <a:pPr defTabSz="457200">
              <a:buFontTx/>
              <a:buChar char="-"/>
            </a:pP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 Impact Analysis</a:t>
            </a:r>
          </a:p>
          <a:p>
            <a:pPr defTabSz="457200">
              <a:buFontTx/>
              <a:buChar char="-"/>
            </a:pP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 Business Hypothesis </a:t>
            </a:r>
            <a:endParaRPr lang="en-IN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723240" y="5545223"/>
            <a:ext cx="3242686" cy="1083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buFontTx/>
              <a:buChar char="-"/>
            </a:pP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 Customer Database </a:t>
            </a:r>
          </a:p>
          <a:p>
            <a:pPr defTabSz="457200">
              <a:buFontTx/>
              <a:buChar char="-"/>
            </a:pP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</a:rPr>
              <a:t> Business Performance Dashboards</a:t>
            </a:r>
            <a:endParaRPr lang="en-IN" sz="1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84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 data: Driving the Evolution of Analytics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200530" cy="582362"/>
          </a:xfrm>
        </p:spPr>
        <p:txBody>
          <a:bodyPr>
            <a:no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Big Data enables analysis of traditional as well as digital data, </a:t>
            </a:r>
            <a:r>
              <a:rPr lang="en-IN" dirty="0">
                <a:solidFill>
                  <a:schemeClr val="tx1"/>
                </a:solidFill>
              </a:rPr>
              <a:t>hence managers can </a:t>
            </a:r>
            <a:r>
              <a:rPr lang="en-IN" dirty="0" smtClean="0">
                <a:solidFill>
                  <a:schemeClr val="tx1"/>
                </a:solidFill>
              </a:rPr>
              <a:t>measure and </a:t>
            </a:r>
            <a:r>
              <a:rPr lang="en-IN" dirty="0">
                <a:solidFill>
                  <a:schemeClr val="tx1"/>
                </a:solidFill>
              </a:rPr>
              <a:t>know radically more about their </a:t>
            </a:r>
            <a:r>
              <a:rPr lang="en-IN" dirty="0" smtClean="0">
                <a:solidFill>
                  <a:schemeClr val="tx1"/>
                </a:solidFill>
              </a:rPr>
              <a:t>businesses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 bwMode="gray">
          <a:xfrm>
            <a:off x="24971" y="2415450"/>
            <a:ext cx="6289818" cy="43457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b="1" dirty="0" smtClean="0"/>
              <a:t>Key Sources and Characteristics of Big Data</a:t>
            </a:r>
            <a:endParaRPr lang="en-IN" b="1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970" y="2977329"/>
            <a:ext cx="3898231" cy="3059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37191" y="3423363"/>
            <a:ext cx="2579743" cy="2613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0" name="TextBox 59"/>
          <p:cNvSpPr txBox="1"/>
          <p:nvPr/>
        </p:nvSpPr>
        <p:spPr bwMode="gray">
          <a:xfrm>
            <a:off x="6382295" y="2415450"/>
            <a:ext cx="5621232" cy="43457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b="1" dirty="0" smtClean="0"/>
              <a:t>Big Data Analytics</a:t>
            </a:r>
            <a:endParaRPr lang="en-IN" b="1" dirty="0" smtClean="0"/>
          </a:p>
        </p:txBody>
      </p:sp>
      <p:sp>
        <p:nvSpPr>
          <p:cNvPr id="153" name="TextBox 2"/>
          <p:cNvSpPr txBox="1">
            <a:spLocks noChangeArrowheads="1"/>
          </p:cNvSpPr>
          <p:nvPr/>
        </p:nvSpPr>
        <p:spPr bwMode="auto">
          <a:xfrm>
            <a:off x="6112887" y="2925351"/>
            <a:ext cx="3519487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Aft>
                <a:spcPts val="1425"/>
              </a:spcAft>
              <a:buSzPct val="100000"/>
            </a:pPr>
            <a:r>
              <a:rPr lang="en-US" altLang="en-US" sz="1600" b="1" dirty="0"/>
              <a:t>Traditional Approach</a:t>
            </a:r>
          </a:p>
        </p:txBody>
      </p:sp>
      <p:sp>
        <p:nvSpPr>
          <p:cNvPr id="154" name="TextBox 3"/>
          <p:cNvSpPr txBox="1">
            <a:spLocks noChangeArrowheads="1"/>
          </p:cNvSpPr>
          <p:nvPr/>
        </p:nvSpPr>
        <p:spPr bwMode="auto">
          <a:xfrm>
            <a:off x="8709614" y="2925354"/>
            <a:ext cx="3519488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Aft>
                <a:spcPts val="1425"/>
              </a:spcAft>
              <a:buSzPct val="100000"/>
            </a:pPr>
            <a:r>
              <a:rPr lang="en-US" altLang="en-US" sz="1600" b="1" dirty="0">
                <a:solidFill>
                  <a:srgbClr val="FF6600"/>
                </a:solidFill>
              </a:rPr>
              <a:t>Big Data </a:t>
            </a:r>
            <a:r>
              <a:rPr lang="en-US" altLang="en-US" sz="1600" b="1" dirty="0" smtClean="0">
                <a:solidFill>
                  <a:srgbClr val="FF6600"/>
                </a:solidFill>
              </a:rPr>
              <a:t>Approach</a:t>
            </a:r>
            <a:endParaRPr lang="en-US" altLang="en-US" sz="1600" b="1" dirty="0">
              <a:solidFill>
                <a:srgbClr val="FF6600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07278" y="3493181"/>
            <a:ext cx="2609222" cy="2196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427686" y="3482563"/>
            <a:ext cx="2762263" cy="216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Straight Connector 14"/>
          <p:cNvCxnSpPr/>
          <p:nvPr/>
        </p:nvCxnSpPr>
        <p:spPr>
          <a:xfrm>
            <a:off x="496887" y="1829944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2"/>
          <p:cNvSpPr txBox="1">
            <a:spLocks noChangeArrowheads="1"/>
          </p:cNvSpPr>
          <p:nvPr/>
        </p:nvSpPr>
        <p:spPr bwMode="auto">
          <a:xfrm>
            <a:off x="6209871" y="6134867"/>
            <a:ext cx="3519487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Aft>
                <a:spcPts val="1425"/>
              </a:spcAft>
              <a:buSzPct val="100000"/>
            </a:pPr>
            <a:r>
              <a:rPr lang="en-US" altLang="en-US" sz="1600" dirty="0" smtClean="0"/>
              <a:t>Analyze </a:t>
            </a:r>
            <a:r>
              <a:rPr lang="en-US" altLang="en-US" sz="1600" u="sng" dirty="0" smtClean="0"/>
              <a:t>small set</a:t>
            </a:r>
            <a:r>
              <a:rPr lang="en-US" altLang="en-US" sz="1600" dirty="0" smtClean="0"/>
              <a:t> of data</a:t>
            </a:r>
            <a:endParaRPr lang="en-US" altLang="en-US" sz="1600" dirty="0"/>
          </a:p>
        </p:txBody>
      </p:sp>
      <p:sp>
        <p:nvSpPr>
          <p:cNvPr id="18" name="TextBox 3"/>
          <p:cNvSpPr txBox="1">
            <a:spLocks noChangeArrowheads="1"/>
          </p:cNvSpPr>
          <p:nvPr/>
        </p:nvSpPr>
        <p:spPr bwMode="auto">
          <a:xfrm>
            <a:off x="8806598" y="6134870"/>
            <a:ext cx="3519488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Aft>
                <a:spcPts val="1425"/>
              </a:spcAft>
              <a:buSzPct val="100000"/>
            </a:pPr>
            <a:r>
              <a:rPr lang="en-US" altLang="en-US" sz="1600" dirty="0" smtClean="0">
                <a:solidFill>
                  <a:srgbClr val="FF6600"/>
                </a:solidFill>
              </a:rPr>
              <a:t>Analyze </a:t>
            </a:r>
            <a:r>
              <a:rPr lang="en-US" altLang="en-US" sz="1600" u="sng" dirty="0" smtClean="0">
                <a:solidFill>
                  <a:srgbClr val="FF6600"/>
                </a:solidFill>
              </a:rPr>
              <a:t>all</a:t>
            </a:r>
            <a:r>
              <a:rPr lang="en-US" altLang="en-US" sz="1600" dirty="0" smtClean="0">
                <a:solidFill>
                  <a:srgbClr val="FF6600"/>
                </a:solidFill>
              </a:rPr>
              <a:t> data </a:t>
            </a:r>
            <a:endParaRPr lang="en-US" altLang="en-US" sz="1600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10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92723" y="2038357"/>
            <a:ext cx="3233330" cy="262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Rectangle 24"/>
          <p:cNvSpPr/>
          <p:nvPr/>
        </p:nvSpPr>
        <p:spPr>
          <a:xfrm>
            <a:off x="8599945" y="2091425"/>
            <a:ext cx="776177" cy="758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 Data: Significantly better insights into our customers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white"/>
                </a:solidFill>
              </a:rPr>
              <a:pPr/>
              <a:t>5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Big data offers </a:t>
            </a:r>
            <a:r>
              <a:rPr lang="en-US" dirty="0">
                <a:solidFill>
                  <a:schemeClr val="tx1"/>
                </a:solidFill>
              </a:rPr>
              <a:t>complete and comprehensive understanding of consumer preferences and behavior </a:t>
            </a:r>
            <a:r>
              <a:rPr lang="en-US" dirty="0" smtClean="0">
                <a:solidFill>
                  <a:schemeClr val="tx1"/>
                </a:solidFill>
              </a:rPr>
              <a:t>across various clusters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97" y="2257975"/>
            <a:ext cx="868960" cy="2150208"/>
          </a:xfrm>
          <a:prstGeom prst="rect">
            <a:avLst/>
          </a:prstGeom>
        </p:spPr>
      </p:pic>
      <p:sp>
        <p:nvSpPr>
          <p:cNvPr id="104" name="Pentagon 103"/>
          <p:cNvSpPr/>
          <p:nvPr/>
        </p:nvSpPr>
        <p:spPr bwMode="auto">
          <a:xfrm rot="5400000">
            <a:off x="6127831" y="2969765"/>
            <a:ext cx="470658" cy="4342480"/>
          </a:xfrm>
          <a:prstGeom prst="homePlate">
            <a:avLst>
              <a:gd name="adj" fmla="val 100000"/>
            </a:avLst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b="1" kern="0" dirty="0">
              <a:solidFill>
                <a:srgbClr val="53565A"/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6267595" y="5578063"/>
            <a:ext cx="2495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spcBef>
                <a:spcPts val="600"/>
              </a:spcBef>
            </a:pPr>
            <a:r>
              <a:rPr lang="en-US" sz="1600" kern="0" dirty="0" smtClean="0">
                <a:solidFill>
                  <a:schemeClr val="bg2">
                    <a:lumMod val="75000"/>
                  </a:schemeClr>
                </a:solidFill>
                <a:cs typeface="Arial" pitchFamily="34" charset="0"/>
              </a:rPr>
              <a:t>Develop </a:t>
            </a:r>
            <a:r>
              <a:rPr lang="en-US" sz="1600" b="1" kern="0" dirty="0" smtClean="0">
                <a:cs typeface="Arial" pitchFamily="34" charset="0"/>
              </a:rPr>
              <a:t>Key insights </a:t>
            </a:r>
            <a:r>
              <a:rPr lang="en-US" sz="1600" kern="0" dirty="0" smtClean="0">
                <a:solidFill>
                  <a:schemeClr val="bg2">
                    <a:lumMod val="75000"/>
                  </a:schemeClr>
                </a:solidFill>
                <a:cs typeface="Arial" pitchFamily="34" charset="0"/>
              </a:rPr>
              <a:t>and </a:t>
            </a:r>
            <a:r>
              <a:rPr lang="en-US" sz="1600" b="1" kern="0" dirty="0" smtClean="0">
                <a:cs typeface="Arial" pitchFamily="34" charset="0"/>
              </a:rPr>
              <a:t>Predict</a:t>
            </a:r>
            <a:r>
              <a:rPr lang="en-US" sz="1600" b="1" kern="0" dirty="0" smtClean="0">
                <a:solidFill>
                  <a:schemeClr val="bg2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en-US" sz="1600" kern="0" dirty="0" smtClean="0">
                <a:solidFill>
                  <a:schemeClr val="bg2">
                    <a:lumMod val="75000"/>
                  </a:schemeClr>
                </a:solidFill>
                <a:cs typeface="Arial" pitchFamily="34" charset="0"/>
              </a:rPr>
              <a:t>behavior</a:t>
            </a:r>
            <a:endParaRPr lang="en-US" sz="1600" kern="0" dirty="0">
              <a:solidFill>
                <a:schemeClr val="bg2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9273109" y="5569596"/>
            <a:ext cx="26310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spcBef>
                <a:spcPts val="600"/>
              </a:spcBef>
            </a:pPr>
            <a:r>
              <a:rPr lang="en-US" sz="1600" b="1" kern="0" dirty="0" smtClean="0">
                <a:cs typeface="Arial" pitchFamily="34" charset="0"/>
              </a:rPr>
              <a:t>Personalized offers           </a:t>
            </a:r>
            <a:r>
              <a:rPr lang="en-US" sz="1600" kern="0" dirty="0" smtClean="0">
                <a:solidFill>
                  <a:schemeClr val="bg2">
                    <a:lumMod val="75000"/>
                  </a:schemeClr>
                </a:solidFill>
                <a:cs typeface="Arial" pitchFamily="34" charset="0"/>
              </a:rPr>
              <a:t>that delight customers </a:t>
            </a:r>
            <a:endParaRPr lang="en-US" sz="1600" kern="0" dirty="0">
              <a:solidFill>
                <a:schemeClr val="bg2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7579456" y="2856971"/>
            <a:ext cx="894356" cy="9109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7585806" y="3826608"/>
            <a:ext cx="889974" cy="836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9678673" y="2953754"/>
            <a:ext cx="894356" cy="9109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338" y="2271442"/>
            <a:ext cx="764739" cy="53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" name="Picture 4" descr="http://shoppingonlinestore.co.uk/wp-content/uploads/2013/01/Shopping-for-Fashion-Online-02.jpg"/>
          <p:cNvPicPr>
            <a:picLocks noChangeAspect="1" noChangeArrowheads="1"/>
          </p:cNvPicPr>
          <p:nvPr/>
        </p:nvPicPr>
        <p:blipFill>
          <a:blip r:embed="rId5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808" y="2193580"/>
            <a:ext cx="648065" cy="50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Rectangle 113"/>
          <p:cNvSpPr/>
          <p:nvPr/>
        </p:nvSpPr>
        <p:spPr>
          <a:xfrm>
            <a:off x="246708" y="5569596"/>
            <a:ext cx="2804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spcBef>
                <a:spcPts val="600"/>
              </a:spcBef>
            </a:pPr>
            <a:r>
              <a:rPr lang="en-US" sz="1600" b="1" kern="0" dirty="0" smtClean="0">
                <a:cs typeface="Arial" pitchFamily="34" charset="0"/>
              </a:rPr>
              <a:t>Customer Information </a:t>
            </a:r>
            <a:r>
              <a:rPr lang="en-US" sz="1600" kern="0" dirty="0" smtClean="0">
                <a:solidFill>
                  <a:schemeClr val="bg2">
                    <a:lumMod val="75000"/>
                  </a:schemeClr>
                </a:solidFill>
                <a:cs typeface="Arial" pitchFamily="34" charset="0"/>
              </a:rPr>
              <a:t>from </a:t>
            </a:r>
            <a:r>
              <a:rPr lang="en-US" sz="1600" kern="0" dirty="0">
                <a:solidFill>
                  <a:schemeClr val="bg2">
                    <a:lumMod val="75000"/>
                  </a:schemeClr>
                </a:solidFill>
                <a:cs typeface="Arial" pitchFamily="34" charset="0"/>
              </a:rPr>
              <a:t>multiple touch-points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37652" y="2673371"/>
            <a:ext cx="1681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In Store Shopper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45618" y="2880423"/>
            <a:ext cx="1892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100" dirty="0"/>
              <a:t>Emerging Online Shopper*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30463" y="6536965"/>
            <a:ext cx="9636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i="1" dirty="0">
                <a:solidFill>
                  <a:prstClr val="black"/>
                </a:solidFill>
              </a:rPr>
              <a:t>*Low involvement categories like Books/ Movies etc. ** High involvement categories like Apparel/ Electronics etc.</a:t>
            </a:r>
          </a:p>
        </p:txBody>
      </p:sp>
      <p:pic>
        <p:nvPicPr>
          <p:cNvPr id="119" name="Picture 14" descr="http://1.bp.blogspot.com/-TIDw-ZgfvrU/VB_4szTzr4I/AAAAAAAAGcE/StMcsSwro3k/s1600/icon-online-shopping-girl.png"/>
          <p:cNvPicPr>
            <a:picLocks noChangeAspect="1" noChangeArrowheads="1"/>
          </p:cNvPicPr>
          <p:nvPr/>
        </p:nvPicPr>
        <p:blipFill>
          <a:blip r:embed="rId6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026198" y="3412411"/>
            <a:ext cx="740504" cy="82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TextBox 119"/>
          <p:cNvSpPr txBox="1"/>
          <p:nvPr/>
        </p:nvSpPr>
        <p:spPr>
          <a:xfrm>
            <a:off x="9943247" y="4231623"/>
            <a:ext cx="27770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Advanced Online </a:t>
            </a:r>
          </a:p>
          <a:p>
            <a:pPr algn="ctr" defTabSz="457200"/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Shopper**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808899" y="2510142"/>
            <a:ext cx="1070473" cy="1163748"/>
            <a:chOff x="9332457" y="2896098"/>
            <a:chExt cx="1492048" cy="1698697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9332457" y="3812092"/>
              <a:ext cx="276262" cy="0"/>
            </a:xfrm>
            <a:prstGeom prst="line">
              <a:avLst/>
            </a:prstGeom>
            <a:ln>
              <a:solidFill>
                <a:srgbClr val="ACD4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 flipV="1">
              <a:off x="9592895" y="3050361"/>
              <a:ext cx="15824" cy="1390176"/>
            </a:xfrm>
            <a:prstGeom prst="line">
              <a:avLst/>
            </a:prstGeom>
            <a:ln>
              <a:solidFill>
                <a:srgbClr val="ACD4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endCxn id="36" idx="1"/>
            </p:cNvCxnSpPr>
            <p:nvPr/>
          </p:nvCxnSpPr>
          <p:spPr>
            <a:xfrm>
              <a:off x="9601193" y="3050360"/>
              <a:ext cx="308913" cy="0"/>
            </a:xfrm>
            <a:prstGeom prst="line">
              <a:avLst/>
            </a:prstGeom>
            <a:ln>
              <a:solidFill>
                <a:srgbClr val="ACD4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9595521" y="3496860"/>
              <a:ext cx="308876" cy="0"/>
            </a:xfrm>
            <a:prstGeom prst="line">
              <a:avLst/>
            </a:prstGeom>
            <a:ln>
              <a:solidFill>
                <a:srgbClr val="ACD4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endCxn id="38" idx="1"/>
            </p:cNvCxnSpPr>
            <p:nvPr/>
          </p:nvCxnSpPr>
          <p:spPr>
            <a:xfrm>
              <a:off x="9608719" y="3990785"/>
              <a:ext cx="301386" cy="1"/>
            </a:xfrm>
            <a:prstGeom prst="line">
              <a:avLst/>
            </a:prstGeom>
            <a:ln>
              <a:solidFill>
                <a:srgbClr val="ACD4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endCxn id="39" idx="1"/>
            </p:cNvCxnSpPr>
            <p:nvPr/>
          </p:nvCxnSpPr>
          <p:spPr>
            <a:xfrm flipV="1">
              <a:off x="9626272" y="4440533"/>
              <a:ext cx="283834" cy="4"/>
            </a:xfrm>
            <a:prstGeom prst="line">
              <a:avLst/>
            </a:prstGeom>
            <a:ln>
              <a:solidFill>
                <a:srgbClr val="ACD4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 bwMode="gray">
            <a:xfrm>
              <a:off x="9910105" y="2896098"/>
              <a:ext cx="914400" cy="308523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defTabSz="457200"/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</a:rPr>
                <a:t>Preferences</a:t>
              </a:r>
              <a:endParaRPr lang="en-IN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 bwMode="gray">
            <a:xfrm>
              <a:off x="9910105" y="3345845"/>
              <a:ext cx="914400" cy="308523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defTabSz="457200"/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</a:rPr>
                <a:t>Interests</a:t>
              </a:r>
              <a:endParaRPr lang="en-IN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 bwMode="gray">
            <a:xfrm>
              <a:off x="9910105" y="3836525"/>
              <a:ext cx="914400" cy="308523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defTabSz="457200"/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</a:rPr>
                <a:t>Passions</a:t>
              </a:r>
              <a:endParaRPr lang="en-IN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 bwMode="gray">
            <a:xfrm>
              <a:off x="9910105" y="4286272"/>
              <a:ext cx="914400" cy="308523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defTabSz="457200"/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</a:rPr>
                <a:t>Sentiments</a:t>
              </a:r>
              <a:endParaRPr lang="en-IN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74" name="Oval 73"/>
          <p:cNvSpPr/>
          <p:nvPr/>
        </p:nvSpPr>
        <p:spPr>
          <a:xfrm>
            <a:off x="10708099" y="2015004"/>
            <a:ext cx="1385180" cy="141086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5161" y="1981858"/>
            <a:ext cx="5117096" cy="2532725"/>
            <a:chOff x="574186" y="2079245"/>
            <a:chExt cx="8057425" cy="3529617"/>
          </a:xfrm>
        </p:grpSpPr>
        <p:grpSp>
          <p:nvGrpSpPr>
            <p:cNvPr id="43" name="Group 42"/>
            <p:cNvGrpSpPr/>
            <p:nvPr/>
          </p:nvGrpSpPr>
          <p:grpSpPr>
            <a:xfrm>
              <a:off x="574186" y="2079245"/>
              <a:ext cx="8057425" cy="3529617"/>
              <a:chOff x="491508" y="1953119"/>
              <a:chExt cx="8730240" cy="3801296"/>
            </a:xfrm>
          </p:grpSpPr>
          <p:sp>
            <p:nvSpPr>
              <p:cNvPr id="82" name="Oval 81"/>
              <p:cNvSpPr/>
              <p:nvPr/>
            </p:nvSpPr>
            <p:spPr>
              <a:xfrm>
                <a:off x="3990883" y="4159163"/>
                <a:ext cx="1614369" cy="1595252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83" name="Straight Connector 82"/>
              <p:cNvCxnSpPr>
                <a:stCxn id="82" idx="3"/>
                <a:endCxn id="92" idx="5"/>
              </p:cNvCxnSpPr>
              <p:nvPr/>
            </p:nvCxnSpPr>
            <p:spPr>
              <a:xfrm flipH="1" flipV="1">
                <a:off x="2483786" y="3141254"/>
                <a:ext cx="1743516" cy="2379542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>
                <a:endCxn id="94" idx="3"/>
              </p:cNvCxnSpPr>
              <p:nvPr/>
            </p:nvCxnSpPr>
            <p:spPr>
              <a:xfrm flipV="1">
                <a:off x="4328150" y="3059828"/>
                <a:ext cx="3158369" cy="1238249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>
                <a:endCxn id="92" idx="5"/>
              </p:cNvCxnSpPr>
              <p:nvPr/>
            </p:nvCxnSpPr>
            <p:spPr>
              <a:xfrm flipH="1" flipV="1">
                <a:off x="2483786" y="3141254"/>
                <a:ext cx="2759463" cy="1136745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>
                <a:stCxn id="82" idx="5"/>
                <a:endCxn id="94" idx="3"/>
              </p:cNvCxnSpPr>
              <p:nvPr/>
            </p:nvCxnSpPr>
            <p:spPr>
              <a:xfrm flipV="1">
                <a:off x="5368834" y="3059828"/>
                <a:ext cx="2117685" cy="2460968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>
                <a:endCxn id="93" idx="4"/>
              </p:cNvCxnSpPr>
              <p:nvPr/>
            </p:nvCxnSpPr>
            <p:spPr>
              <a:xfrm flipH="1" flipV="1">
                <a:off x="4929424" y="3184299"/>
                <a:ext cx="633865" cy="1492773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>
                <a:endCxn id="93" idx="4"/>
              </p:cNvCxnSpPr>
              <p:nvPr/>
            </p:nvCxnSpPr>
            <p:spPr>
              <a:xfrm flipV="1">
                <a:off x="3990884" y="3184299"/>
                <a:ext cx="938540" cy="164212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9" name="Group 88"/>
              <p:cNvGrpSpPr/>
              <p:nvPr/>
            </p:nvGrpSpPr>
            <p:grpSpPr>
              <a:xfrm rot="16200000">
                <a:off x="2249624" y="3286171"/>
                <a:ext cx="1550753" cy="3296753"/>
                <a:chOff x="4056401" y="1512703"/>
                <a:chExt cx="1618843" cy="3536781"/>
              </a:xfrm>
            </p:grpSpPr>
            <p:cxnSp>
              <p:nvCxnSpPr>
                <p:cNvPr id="105" name="Straight Connector 104"/>
                <p:cNvCxnSpPr/>
                <p:nvPr/>
              </p:nvCxnSpPr>
              <p:spPr>
                <a:xfrm rot="5400000" flipH="1">
                  <a:off x="3419947" y="2794188"/>
                  <a:ext cx="3536781" cy="973812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/>
                <p:cNvCxnSpPr/>
                <p:nvPr/>
              </p:nvCxnSpPr>
              <p:spPr>
                <a:xfrm rot="5400000" flipH="1" flipV="1">
                  <a:off x="2674803" y="2894303"/>
                  <a:ext cx="3408226" cy="645029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oup 89"/>
              <p:cNvGrpSpPr/>
              <p:nvPr/>
            </p:nvGrpSpPr>
            <p:grpSpPr>
              <a:xfrm rot="5400000">
                <a:off x="5610598" y="3579349"/>
                <a:ext cx="1527195" cy="2733348"/>
                <a:chOff x="5744167" y="3333256"/>
                <a:chExt cx="1594248" cy="2909521"/>
              </a:xfrm>
            </p:grpSpPr>
            <p:cxnSp>
              <p:nvCxnSpPr>
                <p:cNvPr id="102" name="Straight Connector 101"/>
                <p:cNvCxnSpPr>
                  <a:endCxn id="95" idx="2"/>
                </p:cNvCxnSpPr>
                <p:nvPr/>
              </p:nvCxnSpPr>
              <p:spPr>
                <a:xfrm rot="16200000" flipV="1">
                  <a:off x="5537119" y="4441481"/>
                  <a:ext cx="2909521" cy="693071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>
                  <a:endCxn id="95" idx="2"/>
                </p:cNvCxnSpPr>
                <p:nvPr/>
              </p:nvCxnSpPr>
              <p:spPr>
                <a:xfrm rot="16200000">
                  <a:off x="4870387" y="4207036"/>
                  <a:ext cx="2648736" cy="901176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Oval 90"/>
              <p:cNvSpPr/>
              <p:nvPr/>
            </p:nvSpPr>
            <p:spPr>
              <a:xfrm>
                <a:off x="528355" y="4430109"/>
                <a:ext cx="1404246" cy="123118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400" b="1" dirty="0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1285188" y="2090376"/>
                <a:ext cx="1404246" cy="123118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400" b="1" dirty="0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4227301" y="1953119"/>
                <a:ext cx="1404246" cy="123118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400" b="1" dirty="0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7280871" y="2008950"/>
                <a:ext cx="1404246" cy="123118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7740869" y="4430109"/>
                <a:ext cx="1404246" cy="123118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200" dirty="0"/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7674313" y="4679012"/>
                <a:ext cx="1547435" cy="732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400" b="1"/>
                </a:lvl1pPr>
              </a:lstStyle>
              <a:p>
                <a:pPr algn="ctr"/>
                <a:r>
                  <a:rPr lang="en-US" sz="1300" dirty="0">
                    <a:solidFill>
                      <a:schemeClr val="bg1"/>
                    </a:solidFill>
                  </a:rPr>
                  <a:t>Financial</a:t>
                </a:r>
              </a:p>
              <a:p>
                <a:pPr algn="ctr"/>
                <a:r>
                  <a:rPr lang="en-US" sz="1300" dirty="0">
                    <a:solidFill>
                      <a:schemeClr val="bg1"/>
                    </a:solidFill>
                  </a:rPr>
                  <a:t>Services</a:t>
                </a:r>
                <a:endParaRPr lang="en-IN" sz="13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7633308" y="2419843"/>
                <a:ext cx="745614" cy="294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400" b="1"/>
                </a:lvl1pPr>
              </a:lstStyle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Lifestyle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4083665" y="4627670"/>
                <a:ext cx="1389659" cy="303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sz="1400" b="1" dirty="0"/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4228060" y="2171292"/>
                <a:ext cx="1397266" cy="777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400" b="1"/>
                </a:lvl1pPr>
              </a:lstStyle>
              <a:p>
                <a:pPr algn="ctr"/>
                <a:r>
                  <a:rPr lang="en-US" dirty="0" smtClean="0">
                    <a:solidFill>
                      <a:schemeClr val="bg1"/>
                    </a:solidFill>
                  </a:rPr>
                  <a:t>Retail &amp; CPG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1077874" y="2275246"/>
                <a:ext cx="1890305" cy="732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400" b="1"/>
                </a:lvl1pPr>
              </a:lstStyle>
              <a:p>
                <a:pPr algn="ctr"/>
                <a:r>
                  <a:rPr lang="en-US" sz="1300" dirty="0" smtClean="0">
                    <a:solidFill>
                      <a:schemeClr val="bg1"/>
                    </a:solidFill>
                  </a:rPr>
                  <a:t>Travel  Hospitality</a:t>
                </a:r>
                <a:endParaRPr lang="en-IN" sz="13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491508" y="4575394"/>
                <a:ext cx="1531519" cy="777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400" b="1"/>
                </a:lvl1pPr>
              </a:lstStyle>
              <a:p>
                <a:pPr algn="ctr"/>
                <a:r>
                  <a:rPr lang="en-US" dirty="0" smtClean="0">
                    <a:solidFill>
                      <a:schemeClr val="bg1"/>
                    </a:solidFill>
                  </a:rPr>
                  <a:t>Tele Services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7684" y="3403190"/>
              <a:ext cx="138306" cy="43402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5365" y="3476586"/>
              <a:ext cx="138306" cy="43402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6551" y="3735383"/>
              <a:ext cx="138306" cy="434027"/>
            </a:xfrm>
            <a:prstGeom prst="rect">
              <a:avLst/>
            </a:prstGeom>
          </p:spPr>
        </p:pic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9264" y="4770985"/>
              <a:ext cx="138306" cy="434027"/>
            </a:xfrm>
            <a:prstGeom prst="rect">
              <a:avLst/>
            </a:prstGeom>
          </p:spPr>
        </p:pic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9822" y="4636218"/>
              <a:ext cx="138306" cy="434027"/>
            </a:xfrm>
            <a:prstGeom prst="rect">
              <a:avLst/>
            </a:prstGeom>
          </p:spPr>
        </p:pic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0098" y="4868920"/>
              <a:ext cx="138306" cy="434027"/>
            </a:xfrm>
            <a:prstGeom prst="rect">
              <a:avLst/>
            </a:prstGeom>
          </p:spPr>
        </p:pic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4093" y="4393037"/>
              <a:ext cx="138306" cy="434027"/>
            </a:xfrm>
            <a:prstGeom prst="rect">
              <a:avLst/>
            </a:prstGeom>
          </p:spPr>
        </p:pic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7181" y="4593122"/>
              <a:ext cx="129009" cy="404851"/>
            </a:xfrm>
            <a:prstGeom prst="rect">
              <a:avLst/>
            </a:prstGeom>
          </p:spPr>
        </p:pic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0132" y="4351595"/>
              <a:ext cx="138306" cy="434027"/>
            </a:xfrm>
            <a:prstGeom prst="rect">
              <a:avLst/>
            </a:prstGeom>
          </p:spPr>
        </p:pic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5755" y="4476589"/>
              <a:ext cx="138305" cy="434027"/>
            </a:xfrm>
            <a:prstGeom prst="rect">
              <a:avLst/>
            </a:prstGeom>
          </p:spPr>
        </p:pic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2919" y="4208581"/>
              <a:ext cx="138306" cy="434027"/>
            </a:xfrm>
            <a:prstGeom prst="rect">
              <a:avLst/>
            </a:prstGeom>
          </p:spPr>
        </p:pic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912" y="4378637"/>
              <a:ext cx="138306" cy="434027"/>
            </a:xfrm>
            <a:prstGeom prst="rect">
              <a:avLst/>
            </a:prstGeom>
          </p:spPr>
        </p:pic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3922" y="3378696"/>
              <a:ext cx="138306" cy="434027"/>
            </a:xfrm>
            <a:prstGeom prst="rect">
              <a:avLst/>
            </a:prstGeom>
          </p:spPr>
        </p:pic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8455" y="3982146"/>
              <a:ext cx="138306" cy="434027"/>
            </a:xfrm>
            <a:prstGeom prst="rect">
              <a:avLst/>
            </a:prstGeom>
          </p:spPr>
        </p:pic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63118" y="2766864"/>
              <a:ext cx="138306" cy="434027"/>
            </a:xfrm>
            <a:prstGeom prst="rect">
              <a:avLst/>
            </a:prstGeom>
          </p:spPr>
        </p:pic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4215" y="2678516"/>
              <a:ext cx="138306" cy="434027"/>
            </a:xfrm>
            <a:prstGeom prst="rect">
              <a:avLst/>
            </a:prstGeom>
          </p:spPr>
        </p:pic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7508" y="3154761"/>
              <a:ext cx="138306" cy="434027"/>
            </a:xfrm>
            <a:prstGeom prst="rect">
              <a:avLst/>
            </a:prstGeom>
          </p:spPr>
        </p:pic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3873" y="3620204"/>
              <a:ext cx="138306" cy="434027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5586" y="3243372"/>
              <a:ext cx="138306" cy="434027"/>
            </a:xfrm>
            <a:prstGeom prst="rect">
              <a:avLst/>
            </a:prstGeom>
          </p:spPr>
        </p:pic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500" y="4054230"/>
              <a:ext cx="138306" cy="434027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8651" y="3677399"/>
              <a:ext cx="226679" cy="542166"/>
            </a:xfrm>
            <a:prstGeom prst="rect">
              <a:avLst/>
            </a:prstGeom>
          </p:spPr>
        </p:pic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4244" y="4766572"/>
              <a:ext cx="330081" cy="789481"/>
            </a:xfrm>
            <a:prstGeom prst="rect">
              <a:avLst/>
            </a:prstGeom>
          </p:spPr>
        </p:pic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8250" y="3753473"/>
              <a:ext cx="226679" cy="542166"/>
            </a:xfrm>
            <a:prstGeom prst="rect">
              <a:avLst/>
            </a:prstGeom>
          </p:spPr>
        </p:pic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7312" y="4649688"/>
              <a:ext cx="226679" cy="542166"/>
            </a:xfrm>
            <a:prstGeom prst="rect">
              <a:avLst/>
            </a:prstGeom>
          </p:spPr>
        </p:pic>
        <p:pic>
          <p:nvPicPr>
            <p:cNvPr id="68" name="Picture 6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4854" y="3395845"/>
              <a:ext cx="226679" cy="542166"/>
            </a:xfrm>
            <a:prstGeom prst="rect">
              <a:avLst/>
            </a:prstGeom>
          </p:spPr>
        </p:pic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9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2311" y="3990950"/>
              <a:ext cx="226679" cy="542166"/>
            </a:xfrm>
            <a:prstGeom prst="rect">
              <a:avLst/>
            </a:prstGeom>
          </p:spPr>
        </p:pic>
        <p:pic>
          <p:nvPicPr>
            <p:cNvPr id="70" name="Picture 69"/>
            <p:cNvPicPr>
              <a:picLocks noChangeAspect="1"/>
            </p:cNvPicPr>
            <p:nvPr/>
          </p:nvPicPr>
          <p:blipFill>
            <a:blip r:embed="rId9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3026" y="2902421"/>
              <a:ext cx="226679" cy="542166"/>
            </a:xfrm>
            <a:prstGeom prst="rect">
              <a:avLst/>
            </a:prstGeom>
          </p:spPr>
        </p:pic>
        <p:pic>
          <p:nvPicPr>
            <p:cNvPr id="71" name="Picture 70"/>
            <p:cNvPicPr>
              <a:picLocks noChangeAspect="1"/>
            </p:cNvPicPr>
            <p:nvPr/>
          </p:nvPicPr>
          <p:blipFill>
            <a:blip r:embed="rId9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1984" y="2886877"/>
              <a:ext cx="226679" cy="542166"/>
            </a:xfrm>
            <a:prstGeom prst="rect">
              <a:avLst/>
            </a:prstGeom>
          </p:spPr>
        </p:pic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9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3999" y="3856540"/>
              <a:ext cx="226679" cy="542166"/>
            </a:xfrm>
            <a:prstGeom prst="rect">
              <a:avLst/>
            </a:prstGeom>
          </p:spPr>
        </p:pic>
      </p:grpSp>
      <p:grpSp>
        <p:nvGrpSpPr>
          <p:cNvPr id="182" name="Group 160"/>
          <p:cNvGrpSpPr>
            <a:grpSpLocks/>
          </p:cNvGrpSpPr>
          <p:nvPr/>
        </p:nvGrpSpPr>
        <p:grpSpPr bwMode="auto">
          <a:xfrm rot="20676531" flipH="1">
            <a:off x="2143745" y="3691693"/>
            <a:ext cx="1340487" cy="1017762"/>
            <a:chOff x="1675" y="975"/>
            <a:chExt cx="2205" cy="1704"/>
          </a:xfrm>
        </p:grpSpPr>
        <p:sp>
          <p:nvSpPr>
            <p:cNvPr id="183" name="Oval 161"/>
            <p:cNvSpPr>
              <a:spLocks noChangeArrowheads="1"/>
            </p:cNvSpPr>
            <p:nvPr/>
          </p:nvSpPr>
          <p:spPr bwMode="gray">
            <a:xfrm rot="5400000">
              <a:off x="2511" y="976"/>
              <a:ext cx="1276" cy="1274"/>
            </a:xfrm>
            <a:prstGeom prst="ellipse">
              <a:avLst/>
            </a:prstGeom>
            <a:noFill/>
            <a:ln w="19050" algn="ctr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lIns="0" tIns="0" rIns="0" bIns="0" anchor="ctr"/>
            <a:lstStyle/>
            <a:p>
              <a:pPr>
                <a:lnSpc>
                  <a:spcPct val="100000"/>
                </a:lnSpc>
                <a:buFont typeface="Wingdings" pitchFamily="2" charset="2"/>
                <a:buNone/>
              </a:pPr>
              <a:endParaRPr lang="en-US" sz="1200"/>
            </a:p>
          </p:txBody>
        </p:sp>
        <p:sp>
          <p:nvSpPr>
            <p:cNvPr id="184" name="AutoShape 162"/>
            <p:cNvSpPr>
              <a:spLocks noChangeArrowheads="1"/>
            </p:cNvSpPr>
            <p:nvPr/>
          </p:nvSpPr>
          <p:spPr bwMode="gray">
            <a:xfrm>
              <a:off x="2519" y="975"/>
              <a:ext cx="634" cy="1269"/>
            </a:xfrm>
            <a:prstGeom prst="moon">
              <a:avLst>
                <a:gd name="adj" fmla="val 13699"/>
              </a:avLst>
            </a:prstGeom>
            <a:gradFill rotWithShape="1">
              <a:gsLst>
                <a:gs pos="0">
                  <a:schemeClr val="tx1"/>
                </a:gs>
                <a:gs pos="50000">
                  <a:schemeClr val="tx1">
                    <a:gamma/>
                    <a:tint val="48627"/>
                    <a:invGamma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9525" algn="ctr">
              <a:solidFill>
                <a:srgbClr val="9F9F9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lnSpc>
                  <a:spcPct val="100000"/>
                </a:lnSpc>
                <a:buFont typeface="Wingdings" pitchFamily="2" charset="2"/>
                <a:buNone/>
              </a:pPr>
              <a:endParaRPr lang="en-US" sz="1200"/>
            </a:p>
          </p:txBody>
        </p:sp>
        <p:sp>
          <p:nvSpPr>
            <p:cNvPr id="185" name="Oval 163"/>
            <p:cNvSpPr>
              <a:spLocks noChangeArrowheads="1"/>
            </p:cNvSpPr>
            <p:nvPr/>
          </p:nvSpPr>
          <p:spPr bwMode="gray">
            <a:xfrm rot="5400000">
              <a:off x="2605" y="976"/>
              <a:ext cx="1276" cy="1274"/>
            </a:xfrm>
            <a:prstGeom prst="ellipse">
              <a:avLst/>
            </a:prstGeom>
            <a:noFill/>
            <a:ln w="19050" algn="ctr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lIns="0" tIns="0" rIns="0" bIns="0" anchor="ctr"/>
            <a:lstStyle/>
            <a:p>
              <a:pPr>
                <a:lnSpc>
                  <a:spcPct val="100000"/>
                </a:lnSpc>
                <a:buFont typeface="Wingdings" pitchFamily="2" charset="2"/>
                <a:buNone/>
              </a:pPr>
              <a:endParaRPr lang="en-US" sz="1200"/>
            </a:p>
          </p:txBody>
        </p:sp>
        <p:sp>
          <p:nvSpPr>
            <p:cNvPr id="186" name="AutoShape 164"/>
            <p:cNvSpPr>
              <a:spLocks noChangeArrowheads="1"/>
            </p:cNvSpPr>
            <p:nvPr/>
          </p:nvSpPr>
          <p:spPr bwMode="gray">
            <a:xfrm rot="21600000" flipH="1" flipV="1">
              <a:off x="3246" y="975"/>
              <a:ext cx="634" cy="1269"/>
            </a:xfrm>
            <a:prstGeom prst="moon">
              <a:avLst>
                <a:gd name="adj" fmla="val 13699"/>
              </a:avLst>
            </a:prstGeom>
            <a:gradFill rotWithShape="1">
              <a:gsLst>
                <a:gs pos="0">
                  <a:schemeClr val="tx1"/>
                </a:gs>
                <a:gs pos="50000">
                  <a:schemeClr val="tx1">
                    <a:gamma/>
                    <a:tint val="48627"/>
                    <a:invGamma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9525" algn="ctr">
              <a:solidFill>
                <a:srgbClr val="9F9F9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lIns="0" tIns="0" rIns="0" bIns="0" anchor="ctr"/>
            <a:lstStyle/>
            <a:p>
              <a:pPr>
                <a:lnSpc>
                  <a:spcPct val="100000"/>
                </a:lnSpc>
                <a:buFont typeface="Wingdings" pitchFamily="2" charset="2"/>
                <a:buNone/>
              </a:pPr>
              <a:endParaRPr lang="en-US" sz="1200"/>
            </a:p>
          </p:txBody>
        </p:sp>
        <p:sp>
          <p:nvSpPr>
            <p:cNvPr id="187" name="AutoShape 165"/>
            <p:cNvSpPr>
              <a:spLocks noChangeArrowheads="1"/>
            </p:cNvSpPr>
            <p:nvPr/>
          </p:nvSpPr>
          <p:spPr bwMode="gray">
            <a:xfrm rot="13500000">
              <a:off x="2606" y="2014"/>
              <a:ext cx="154" cy="222"/>
            </a:xfrm>
            <a:prstGeom prst="can">
              <a:avLst>
                <a:gd name="adj" fmla="val 24673"/>
              </a:avLst>
            </a:prstGeom>
            <a:solidFill>
              <a:schemeClr val="tx1"/>
            </a:solidFill>
            <a:ln w="9525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/>
            <a:p>
              <a:pPr>
                <a:lnSpc>
                  <a:spcPct val="100000"/>
                </a:lnSpc>
                <a:buFont typeface="Wingdings" pitchFamily="2" charset="2"/>
                <a:buNone/>
              </a:pPr>
              <a:endParaRPr lang="en-US" sz="1200"/>
            </a:p>
          </p:txBody>
        </p:sp>
        <p:sp>
          <p:nvSpPr>
            <p:cNvPr id="188" name="AutoShape 166"/>
            <p:cNvSpPr>
              <a:spLocks noChangeArrowheads="1"/>
            </p:cNvSpPr>
            <p:nvPr/>
          </p:nvSpPr>
          <p:spPr bwMode="gray">
            <a:xfrm rot="13500000">
              <a:off x="2132" y="2010"/>
              <a:ext cx="212" cy="1126"/>
            </a:xfrm>
            <a:prstGeom prst="can">
              <a:avLst>
                <a:gd name="adj" fmla="val 25324"/>
              </a:avLst>
            </a:prstGeom>
            <a:solidFill>
              <a:schemeClr val="accent3"/>
            </a:solidFill>
            <a:ln w="9525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0" tIns="0" rIns="0" bIns="0" anchor="ctr"/>
            <a:lstStyle/>
            <a:p>
              <a:pPr>
                <a:lnSpc>
                  <a:spcPct val="100000"/>
                </a:lnSpc>
                <a:buFont typeface="Wingdings" pitchFamily="2" charset="2"/>
                <a:buNone/>
              </a:pPr>
              <a:endParaRPr lang="en-US" sz="1200"/>
            </a:p>
          </p:txBody>
        </p:sp>
      </p:grpSp>
      <p:cxnSp>
        <p:nvCxnSpPr>
          <p:cNvPr id="189" name="Straight Connector 188"/>
          <p:cNvCxnSpPr/>
          <p:nvPr/>
        </p:nvCxnSpPr>
        <p:spPr>
          <a:xfrm>
            <a:off x="496887" y="1829944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3170777" y="5583767"/>
            <a:ext cx="2840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spcBef>
                <a:spcPts val="600"/>
              </a:spcBef>
            </a:pPr>
            <a:r>
              <a:rPr lang="en-US" sz="1600" b="1" kern="0" dirty="0" smtClean="0">
                <a:cs typeface="Arial" pitchFamily="34" charset="0"/>
              </a:rPr>
              <a:t>Holistic perspective </a:t>
            </a:r>
            <a:r>
              <a:rPr lang="en-US" sz="1600" kern="0" dirty="0" smtClean="0">
                <a:solidFill>
                  <a:schemeClr val="bg2">
                    <a:lumMod val="75000"/>
                  </a:schemeClr>
                </a:solidFill>
                <a:cs typeface="Arial" pitchFamily="34" charset="0"/>
              </a:rPr>
              <a:t>of all customer attributes</a:t>
            </a:r>
            <a:endParaRPr lang="en-US" sz="1600" kern="0" dirty="0">
              <a:solidFill>
                <a:schemeClr val="bg2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203198" y="5494862"/>
            <a:ext cx="338667" cy="2963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>
                <a:solidFill>
                  <a:schemeClr val="tx1"/>
                </a:solidFill>
              </a:rPr>
              <a:t>1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2929566" y="5494862"/>
            <a:ext cx="338667" cy="2963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>
                <a:solidFill>
                  <a:schemeClr val="tx1"/>
                </a:solidFill>
              </a:rPr>
              <a:t>2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6130092" y="5494862"/>
            <a:ext cx="338667" cy="2963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>
                <a:solidFill>
                  <a:schemeClr val="tx1"/>
                </a:solidFill>
              </a:rPr>
              <a:t>3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9288265" y="5494862"/>
            <a:ext cx="338667" cy="2963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>
                <a:solidFill>
                  <a:schemeClr val="tx1"/>
                </a:solidFill>
              </a:rPr>
              <a:t>4</a:t>
            </a:r>
            <a:endParaRPr lang="en-IN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54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65" y="5346004"/>
            <a:ext cx="4615278" cy="10339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IHCL:	</a:t>
            </a:r>
            <a:r>
              <a:rPr lang="en-US" i="1" dirty="0" smtClean="0"/>
              <a:t> Illustrative Example</a:t>
            </a:r>
            <a:endParaRPr lang="en-IN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white"/>
                </a:solidFill>
              </a:rPr>
              <a:pPr/>
              <a:t>6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P</a:t>
            </a:r>
            <a:r>
              <a:rPr lang="en-IN" dirty="0" smtClean="0">
                <a:solidFill>
                  <a:schemeClr val="tx1"/>
                </a:solidFill>
              </a:rPr>
              <a:t>in </a:t>
            </a:r>
            <a:r>
              <a:rPr lang="en-IN" dirty="0">
                <a:solidFill>
                  <a:schemeClr val="tx1"/>
                </a:solidFill>
              </a:rPr>
              <a:t>point the areas of customer discontentment and </a:t>
            </a:r>
            <a:r>
              <a:rPr lang="en-IN" dirty="0" smtClean="0">
                <a:solidFill>
                  <a:schemeClr val="tx1"/>
                </a:solidFill>
              </a:rPr>
              <a:t>simultaneously </a:t>
            </a:r>
            <a:r>
              <a:rPr lang="en-IN" dirty="0">
                <a:solidFill>
                  <a:schemeClr val="tx1"/>
                </a:solidFill>
              </a:rPr>
              <a:t>generate key insights for higher </a:t>
            </a:r>
            <a:r>
              <a:rPr lang="en-IN" dirty="0" smtClean="0">
                <a:solidFill>
                  <a:schemeClr val="tx1"/>
                </a:solidFill>
              </a:rPr>
              <a:t>allegiance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 bwMode="gray">
          <a:xfrm>
            <a:off x="1264038" y="1857768"/>
            <a:ext cx="3252729" cy="37302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457200"/>
            <a:r>
              <a:rPr lang="en-US" sz="1600" b="1" dirty="0">
                <a:solidFill>
                  <a:prstClr val="black"/>
                </a:solidFill>
              </a:rPr>
              <a:t>Analytics can help..</a:t>
            </a:r>
            <a:endParaRPr lang="en-IN" sz="1600" b="1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 bwMode="gray">
          <a:xfrm>
            <a:off x="717657" y="2351519"/>
            <a:ext cx="4166402" cy="409038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457200"/>
            <a:r>
              <a:rPr lang="en-US" sz="1600" dirty="0">
                <a:solidFill>
                  <a:prstClr val="black"/>
                </a:solidFill>
              </a:rPr>
              <a:t>Understand Preferences</a:t>
            </a:r>
            <a:endParaRPr lang="en-IN" sz="1600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 bwMode="gray">
          <a:xfrm>
            <a:off x="27117" y="3154129"/>
            <a:ext cx="6484849" cy="409038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457200"/>
            <a:r>
              <a:rPr lang="en-US" sz="1400" dirty="0">
                <a:solidFill>
                  <a:prstClr val="black"/>
                </a:solidFill>
              </a:rPr>
              <a:t>Personalize &amp; Standardize Experience </a:t>
            </a:r>
            <a:endParaRPr lang="en-IN" sz="1400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 bwMode="gray">
          <a:xfrm>
            <a:off x="675999" y="5081508"/>
            <a:ext cx="4166402" cy="409038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457200"/>
            <a:r>
              <a:rPr lang="en-US" sz="1600" dirty="0">
                <a:solidFill>
                  <a:prstClr val="black"/>
                </a:solidFill>
              </a:rPr>
              <a:t>Study Voice of Customer</a:t>
            </a:r>
            <a:endParaRPr lang="en-IN" sz="1600" dirty="0">
              <a:solidFill>
                <a:prstClr val="black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0255" y="5648151"/>
            <a:ext cx="4416812" cy="87271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defTabSz="457200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 marL="342900" indent="-342900" algn="ctr" defTabSz="457200"/>
            <a:r>
              <a:rPr lang="en-US" sz="1400" dirty="0" smtClean="0">
                <a:solidFill>
                  <a:schemeClr val="tx1"/>
                </a:solidFill>
              </a:rPr>
              <a:t>Website enhancement</a:t>
            </a:r>
          </a:p>
          <a:p>
            <a:pPr marL="342900" indent="-342900" algn="ctr" defTabSz="457200"/>
            <a:r>
              <a:rPr lang="en-US" sz="1400" dirty="0" smtClean="0">
                <a:solidFill>
                  <a:schemeClr val="tx1"/>
                </a:solidFill>
              </a:rPr>
              <a:t>Reinforce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representative knowledge</a:t>
            </a:r>
          </a:p>
          <a:p>
            <a:pPr marL="342900" indent="-342900" algn="ctr" defTabSz="457200"/>
            <a:r>
              <a:rPr lang="en-US" sz="1400" dirty="0">
                <a:solidFill>
                  <a:schemeClr val="tx1"/>
                </a:solidFill>
              </a:rPr>
              <a:t>Institutionalize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 customer </a:t>
            </a:r>
            <a:r>
              <a:rPr lang="en-US" sz="1400" dirty="0">
                <a:solidFill>
                  <a:schemeClr val="tx1"/>
                </a:solidFill>
              </a:rPr>
              <a:t>preferences</a:t>
            </a:r>
          </a:p>
        </p:txBody>
      </p:sp>
      <p:sp>
        <p:nvSpPr>
          <p:cNvPr id="12" name="TextBox 11"/>
          <p:cNvSpPr txBox="1"/>
          <p:nvPr/>
        </p:nvSpPr>
        <p:spPr bwMode="gray">
          <a:xfrm>
            <a:off x="7378702" y="1848532"/>
            <a:ext cx="4650986" cy="510943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457200"/>
            <a:r>
              <a:rPr lang="en-US" sz="1600" b="1" dirty="0">
                <a:solidFill>
                  <a:prstClr val="black"/>
                </a:solidFill>
              </a:rPr>
              <a:t>Illustrative Example: To Identify Drivers for NPS</a:t>
            </a:r>
            <a:endParaRPr lang="en-IN" sz="1600" b="1" dirty="0">
              <a:solidFill>
                <a:prstClr val="black"/>
              </a:solidFill>
            </a:endParaRPr>
          </a:p>
        </p:txBody>
      </p:sp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631" y="3011202"/>
            <a:ext cx="2755149" cy="247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810" y="3032068"/>
            <a:ext cx="2946177" cy="2478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ounded Rectangle 14"/>
          <p:cNvSpPr/>
          <p:nvPr/>
        </p:nvSpPr>
        <p:spPr>
          <a:xfrm>
            <a:off x="7495789" y="2330743"/>
            <a:ext cx="4416812" cy="556275"/>
          </a:xfrm>
          <a:prstGeom prst="roundRect">
            <a:avLst/>
          </a:prstGeom>
          <a:solidFill>
            <a:srgbClr val="15477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defTabSz="457200"/>
            <a:r>
              <a:rPr lang="en-US" sz="1400" dirty="0">
                <a:solidFill>
                  <a:prstClr val="white"/>
                </a:solidFill>
              </a:rPr>
              <a:t>(SPSS Text Analytics)</a:t>
            </a:r>
          </a:p>
          <a:p>
            <a:pPr algn="ctr" defTabSz="457200"/>
            <a:r>
              <a:rPr lang="en-US" sz="1400" dirty="0">
                <a:solidFill>
                  <a:prstClr val="white"/>
                </a:solidFill>
              </a:rPr>
              <a:t>Analyzing Structured + Unstructured Data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9" y="3857059"/>
            <a:ext cx="4257675" cy="9048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9" y="2707006"/>
            <a:ext cx="4512861" cy="704850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 flipV="1">
            <a:off x="4747491" y="5342092"/>
            <a:ext cx="2840220" cy="753908"/>
          </a:xfrm>
          <a:prstGeom prst="line">
            <a:avLst/>
          </a:prstGeom>
          <a:ln>
            <a:solidFill>
              <a:srgbClr val="15487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gray">
          <a:xfrm>
            <a:off x="4590461" y="4820960"/>
            <a:ext cx="2900227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defTabSz="457200"/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VoC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 captured across web, </a:t>
            </a:r>
          </a:p>
          <a:p>
            <a:pPr defTabSz="457200"/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feedback forms, survey 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4608945" y="2962690"/>
            <a:ext cx="2813888" cy="1997237"/>
          </a:xfrm>
          <a:prstGeom prst="straightConnector1">
            <a:avLst/>
          </a:prstGeom>
          <a:ln>
            <a:solidFill>
              <a:srgbClr val="15487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96887" y="1817065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entagon 22"/>
          <p:cNvSpPr/>
          <p:nvPr/>
        </p:nvSpPr>
        <p:spPr bwMode="auto">
          <a:xfrm rot="5400000">
            <a:off x="9379142" y="4152132"/>
            <a:ext cx="305570" cy="3029527"/>
          </a:xfrm>
          <a:prstGeom prst="homePlate">
            <a:avLst>
              <a:gd name="adj" fmla="val 100000"/>
            </a:avLst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b="1" kern="0" dirty="0">
              <a:solidFill>
                <a:srgbClr val="53565A"/>
              </a:solidFill>
            </a:endParaRPr>
          </a:p>
        </p:txBody>
      </p:sp>
      <p:sp>
        <p:nvSpPr>
          <p:cNvPr id="29" name="TextBox 28"/>
          <p:cNvSpPr txBox="1"/>
          <p:nvPr/>
        </p:nvSpPr>
        <p:spPr bwMode="gray">
          <a:xfrm>
            <a:off x="-143743" y="3583609"/>
            <a:ext cx="6484849" cy="409038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457200"/>
            <a:r>
              <a:rPr lang="en-US" sz="1600" dirty="0">
                <a:solidFill>
                  <a:prstClr val="black"/>
                </a:solidFill>
              </a:rPr>
              <a:t>Personalize &amp; Standardize Experience </a:t>
            </a:r>
            <a:endParaRPr lang="en-IN" sz="1600" dirty="0">
              <a:solidFill>
                <a:prstClr val="black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43327" y="4655196"/>
            <a:ext cx="4590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spcBef>
                <a:spcPts val="600"/>
              </a:spcBef>
            </a:pPr>
            <a:r>
              <a:rPr lang="en-US" sz="1400" kern="0" dirty="0" smtClean="0">
                <a:solidFill>
                  <a:schemeClr val="bg2">
                    <a:lumMod val="75000"/>
                  </a:schemeClr>
                </a:solidFill>
                <a:cs typeface="Arial" pitchFamily="34" charset="0"/>
              </a:rPr>
              <a:t>Event triggers, Pricing, Personalization </a:t>
            </a:r>
            <a:endParaRPr lang="en-US" sz="1400" kern="0" dirty="0">
              <a:solidFill>
                <a:schemeClr val="bg2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3859" y="6340772"/>
            <a:ext cx="56572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spcBef>
                <a:spcPts val="600"/>
              </a:spcBef>
            </a:pPr>
            <a:r>
              <a:rPr lang="en-US" sz="1400" kern="0" dirty="0" smtClean="0">
                <a:solidFill>
                  <a:schemeClr val="bg2">
                    <a:lumMod val="75000"/>
                  </a:schemeClr>
                </a:solidFill>
                <a:cs typeface="Arial" pitchFamily="34" charset="0"/>
              </a:rPr>
              <a:t>Customer Experience, Capacity Planning, Resource Utilization</a:t>
            </a:r>
            <a:endParaRPr lang="en-US" sz="1400" kern="0" dirty="0">
              <a:solidFill>
                <a:schemeClr val="bg2">
                  <a:lumMod val="7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01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251" y="2307259"/>
            <a:ext cx="4955958" cy="380205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white"/>
                </a:solidFill>
              </a:rPr>
              <a:pPr/>
              <a:t>7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TCC can help retail companies drive revenue and profitability using internal and external data thereby driving synergies and opportunities of data monetization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96887" y="1817065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 bwMode="gray">
          <a:xfrm>
            <a:off x="1088741" y="1912331"/>
            <a:ext cx="3252729" cy="37302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457200"/>
            <a:r>
              <a:rPr lang="en-US" sz="1600" b="1" dirty="0">
                <a:solidFill>
                  <a:prstClr val="black"/>
                </a:solidFill>
              </a:rPr>
              <a:t>Analytics can help..</a:t>
            </a:r>
            <a:endParaRPr lang="en-IN" sz="1600" b="1" dirty="0">
              <a:solidFill>
                <a:prstClr val="black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47776" y="4412485"/>
            <a:ext cx="2678338" cy="405599"/>
          </a:xfrm>
          <a:prstGeom prst="rect">
            <a:avLst/>
          </a:prstGeom>
          <a:noFill/>
          <a:ln w="25400" cap="flat" cmpd="sng" algn="ctr">
            <a:solidFill>
              <a:srgbClr val="4F81BD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sp>
      <p:sp>
        <p:nvSpPr>
          <p:cNvPr id="77" name="Rectangle 76"/>
          <p:cNvSpPr/>
          <p:nvPr/>
        </p:nvSpPr>
        <p:spPr>
          <a:xfrm>
            <a:off x="157446" y="4412485"/>
            <a:ext cx="2678338" cy="405599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177800" tIns="101600" rIns="177800" bIns="101600" numCol="1" spcCol="1270" anchor="ctr" anchorCtr="0">
            <a:noAutofit/>
          </a:bodyPr>
          <a:lstStyle/>
          <a:p>
            <a:pPr marL="0" marR="0" lvl="0" indent="0" algn="ctr" defTabSz="11112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Merchandizing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78" name="Group 77"/>
          <p:cNvGrpSpPr/>
          <p:nvPr/>
        </p:nvGrpSpPr>
        <p:grpSpPr>
          <a:xfrm>
            <a:off x="147961" y="4845247"/>
            <a:ext cx="2672101" cy="1251185"/>
            <a:chOff x="2571" y="1240397"/>
            <a:chExt cx="2507456" cy="2950875"/>
          </a:xfrm>
          <a:noFill/>
        </p:grpSpPr>
        <p:sp>
          <p:nvSpPr>
            <p:cNvPr id="79" name="Rectangle 78"/>
            <p:cNvSpPr/>
            <p:nvPr/>
          </p:nvSpPr>
          <p:spPr>
            <a:xfrm>
              <a:off x="2571" y="1240397"/>
              <a:ext cx="2507456" cy="29508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Rectangle 79"/>
            <p:cNvSpPr/>
            <p:nvPr/>
          </p:nvSpPr>
          <p:spPr>
            <a:xfrm>
              <a:off x="2571" y="1240397"/>
              <a:ext cx="2507456" cy="29508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Assortment Planning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Price Optimization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Cross-sell Opportunities</a:t>
              </a:r>
            </a:p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Competitive Intelligence</a:t>
              </a:r>
            </a:p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Promotion Testing  </a:t>
              </a:r>
              <a:endParaRPr lang="en-US" sz="1400" dirty="0" smtClean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176629" y="2625019"/>
            <a:ext cx="2664535" cy="405599"/>
            <a:chOff x="2571" y="334690"/>
            <a:chExt cx="2516509" cy="905707"/>
          </a:xfrm>
          <a:noFill/>
        </p:grpSpPr>
        <p:sp>
          <p:nvSpPr>
            <p:cNvPr id="82" name="Rectangle 81"/>
            <p:cNvSpPr/>
            <p:nvPr/>
          </p:nvSpPr>
          <p:spPr>
            <a:xfrm>
              <a:off x="2571" y="334690"/>
              <a:ext cx="2507456" cy="905707"/>
            </a:xfrm>
            <a:prstGeom prst="rect">
              <a:avLst/>
            </a:prstGeom>
            <a:grpFill/>
            <a:ln w="25400" cap="flat" cmpd="sng" algn="ctr">
              <a:solidFill>
                <a:srgbClr val="4F81BD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</p:sp>
        <p:sp>
          <p:nvSpPr>
            <p:cNvPr id="83" name="Rectangle 82"/>
            <p:cNvSpPr/>
            <p:nvPr/>
          </p:nvSpPr>
          <p:spPr>
            <a:xfrm>
              <a:off x="11624" y="334690"/>
              <a:ext cx="2507456" cy="905707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marR="0" lvl="0" indent="0" algn="ctr" defTabSz="11112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Store Analytics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167578" y="3057781"/>
            <a:ext cx="2672101" cy="1251185"/>
            <a:chOff x="2571" y="1240397"/>
            <a:chExt cx="2507456" cy="2950875"/>
          </a:xfrm>
          <a:noFill/>
        </p:grpSpPr>
        <p:sp>
          <p:nvSpPr>
            <p:cNvPr id="85" name="Rectangle 84"/>
            <p:cNvSpPr/>
            <p:nvPr/>
          </p:nvSpPr>
          <p:spPr>
            <a:xfrm>
              <a:off x="2571" y="1240397"/>
              <a:ext cx="2507456" cy="29508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6" name="Rectangle 85"/>
            <p:cNvSpPr/>
            <p:nvPr/>
          </p:nvSpPr>
          <p:spPr>
            <a:xfrm>
              <a:off x="2571" y="1240397"/>
              <a:ext cx="2507456" cy="29508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Network Optimization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Store performance</a:t>
              </a:r>
            </a:p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Sales effectiveness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Resource Optimization</a:t>
              </a:r>
            </a:p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US" sz="1400" dirty="0" smtClean="0">
                  <a:solidFill>
                    <a:schemeClr val="bg1">
                      <a:lumMod val="65000"/>
                    </a:schemeClr>
                  </a:solidFill>
                </a:rPr>
                <a:t>Loss Prevention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3015600" y="4398637"/>
            <a:ext cx="2664535" cy="405599"/>
            <a:chOff x="2571" y="334690"/>
            <a:chExt cx="2516509" cy="905707"/>
          </a:xfrm>
          <a:noFill/>
        </p:grpSpPr>
        <p:sp>
          <p:nvSpPr>
            <p:cNvPr id="88" name="Rectangle 87"/>
            <p:cNvSpPr/>
            <p:nvPr/>
          </p:nvSpPr>
          <p:spPr>
            <a:xfrm>
              <a:off x="2571" y="334690"/>
              <a:ext cx="2507456" cy="905707"/>
            </a:xfrm>
            <a:prstGeom prst="rect">
              <a:avLst/>
            </a:prstGeom>
            <a:grpFill/>
            <a:ln w="25400" cap="flat" cmpd="sng" algn="ctr">
              <a:solidFill>
                <a:srgbClr val="4F81BD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</p:sp>
        <p:sp>
          <p:nvSpPr>
            <p:cNvPr id="89" name="Rectangle 88"/>
            <p:cNvSpPr/>
            <p:nvPr/>
          </p:nvSpPr>
          <p:spPr>
            <a:xfrm>
              <a:off x="11624" y="334690"/>
              <a:ext cx="2507456" cy="905707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marR="0" lvl="0" indent="0" algn="ctr" defTabSz="11112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Customer Value &amp; Loyalty</a:t>
              </a:r>
              <a:r>
                <a:rPr kumimoji="0" lang="en-IN" sz="1400" b="0" i="0" u="none" strike="noStrike" kern="1200" cap="none" spc="0" normalizeH="0" noProof="0" dirty="0" smtClean="0">
                  <a:ln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 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3006549" y="4831399"/>
            <a:ext cx="2672101" cy="1251185"/>
            <a:chOff x="2571" y="1240397"/>
            <a:chExt cx="2507456" cy="2950875"/>
          </a:xfrm>
          <a:noFill/>
        </p:grpSpPr>
        <p:sp>
          <p:nvSpPr>
            <p:cNvPr id="91" name="Rectangle 90"/>
            <p:cNvSpPr/>
            <p:nvPr/>
          </p:nvSpPr>
          <p:spPr>
            <a:xfrm>
              <a:off x="2571" y="1240397"/>
              <a:ext cx="2507456" cy="29508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91"/>
            <p:cNvSpPr/>
            <p:nvPr/>
          </p:nvSpPr>
          <p:spPr>
            <a:xfrm>
              <a:off x="2571" y="1240397"/>
              <a:ext cx="2507456" cy="29508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Customer Insights</a:t>
              </a:r>
            </a:p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Loyalty Management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Customer Life time value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228600" lvl="1" indent="-228600" defTabSz="457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Retention</a:t>
              </a:r>
            </a:p>
          </p:txBody>
        </p:sp>
      </p:grpSp>
      <p:sp>
        <p:nvSpPr>
          <p:cNvPr id="93" name="TextBox 92"/>
          <p:cNvSpPr txBox="1"/>
          <p:nvPr/>
        </p:nvSpPr>
        <p:spPr bwMode="gray">
          <a:xfrm>
            <a:off x="6081476" y="1912331"/>
            <a:ext cx="5561162" cy="394928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457200"/>
            <a:r>
              <a:rPr lang="en-US" sz="1600" b="1" dirty="0">
                <a:solidFill>
                  <a:prstClr val="black"/>
                </a:solidFill>
              </a:rPr>
              <a:t>Illustrative Example: </a:t>
            </a:r>
            <a:r>
              <a:rPr lang="en-US" sz="1600" b="1" dirty="0" smtClean="0">
                <a:solidFill>
                  <a:prstClr val="black"/>
                </a:solidFill>
              </a:rPr>
              <a:t>Cross Basket Affinity to Drive Sales</a:t>
            </a:r>
            <a:endParaRPr lang="en-IN" sz="1600" b="1" dirty="0">
              <a:solidFill>
                <a:prstClr val="black"/>
              </a:solidFill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3007974" y="2628239"/>
            <a:ext cx="2661167" cy="405599"/>
            <a:chOff x="2571" y="334690"/>
            <a:chExt cx="2516509" cy="905707"/>
          </a:xfrm>
          <a:noFill/>
        </p:grpSpPr>
        <p:sp>
          <p:nvSpPr>
            <p:cNvPr id="95" name="Rectangle 94"/>
            <p:cNvSpPr/>
            <p:nvPr/>
          </p:nvSpPr>
          <p:spPr>
            <a:xfrm>
              <a:off x="2571" y="334690"/>
              <a:ext cx="2507456" cy="905707"/>
            </a:xfrm>
            <a:prstGeom prst="rect">
              <a:avLst/>
            </a:prstGeom>
            <a:grpFill/>
            <a:ln w="25400" cap="flat" cmpd="sng" algn="ctr">
              <a:solidFill>
                <a:srgbClr val="4F81BD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</p:sp>
        <p:sp>
          <p:nvSpPr>
            <p:cNvPr id="96" name="Rectangle 95"/>
            <p:cNvSpPr/>
            <p:nvPr/>
          </p:nvSpPr>
          <p:spPr>
            <a:xfrm>
              <a:off x="11624" y="334690"/>
              <a:ext cx="2507456" cy="905707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marR="0" lvl="0" indent="0" algn="ctr" defTabSz="11112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Marketing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2998923" y="3061001"/>
            <a:ext cx="2672101" cy="1251185"/>
            <a:chOff x="2571" y="1240397"/>
            <a:chExt cx="2507456" cy="2950875"/>
          </a:xfrm>
          <a:noFill/>
        </p:grpSpPr>
        <p:sp>
          <p:nvSpPr>
            <p:cNvPr id="98" name="Rectangle 97"/>
            <p:cNvSpPr/>
            <p:nvPr/>
          </p:nvSpPr>
          <p:spPr>
            <a:xfrm>
              <a:off x="2571" y="1240397"/>
              <a:ext cx="2507456" cy="29508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" name="Rectangle 98"/>
            <p:cNvSpPr/>
            <p:nvPr/>
          </p:nvSpPr>
          <p:spPr>
            <a:xfrm>
              <a:off x="2571" y="1240397"/>
              <a:ext cx="2507456" cy="29508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marL="228600" marR="0" lvl="1" indent="-228600" defTabSz="457200" fontAlgn="auto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•"/>
                <a:tabLst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Customer Segmentation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228600" marR="0" lvl="1" indent="-228600" defTabSz="457200" fontAlgn="auto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•"/>
                <a:tabLst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Market Mix Optimization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228600" marR="0" lvl="1" indent="-228600" defTabSz="457200" fontAlgn="auto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•"/>
                <a:tabLst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Marketing Effectiveness</a:t>
              </a:r>
            </a:p>
            <a:p>
              <a:pPr marL="228600" marR="0" lvl="1" indent="-228600" defTabSz="457200" fontAlgn="auto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•"/>
                <a:tabLst/>
                <a:defRPr/>
              </a:pPr>
              <a:r>
                <a:rPr lang="en-IN" sz="1400" b="1" dirty="0" smtClean="0">
                  <a:solidFill>
                    <a:schemeClr val="bg1">
                      <a:lumMod val="65000"/>
                    </a:schemeClr>
                  </a:solidFill>
                </a:rPr>
                <a:t>Market Basket Analysis</a:t>
              </a:r>
            </a:p>
            <a:p>
              <a:pPr marL="228600" marR="0" lvl="1" indent="-228600" defTabSz="457200" fontAlgn="auto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•"/>
                <a:tabLst/>
                <a:defRPr/>
              </a:pPr>
              <a:r>
                <a:rPr lang="en-IN" sz="1400" dirty="0" smtClean="0">
                  <a:solidFill>
                    <a:schemeClr val="bg1">
                      <a:lumMod val="65000"/>
                    </a:schemeClr>
                  </a:solidFill>
                </a:rPr>
                <a:t>Recommendation Engine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19" name="Rounded Rectangle 118"/>
          <p:cNvSpPr/>
          <p:nvPr/>
        </p:nvSpPr>
        <p:spPr>
          <a:xfrm>
            <a:off x="10454652" y="2400554"/>
            <a:ext cx="1672696" cy="592028"/>
          </a:xfrm>
          <a:prstGeom prst="roundRect">
            <a:avLst>
              <a:gd name="adj" fmla="val 10062"/>
            </a:avLst>
          </a:prstGeom>
          <a:solidFill>
            <a:schemeClr val="accent4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1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MS PGothic" pitchFamily="34" charset="-128"/>
              </a:rPr>
              <a:t>High Affinity across some SKUs</a:t>
            </a:r>
            <a:endParaRPr kumimoji="0" lang="en-US" sz="1400" i="0" u="none" strike="noStrike" kern="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MS PGothic" pitchFamily="34" charset="-128"/>
            </a:endParaRPr>
          </a:p>
        </p:txBody>
      </p:sp>
      <p:cxnSp>
        <p:nvCxnSpPr>
          <p:cNvPr id="100" name="Straight Connector 99"/>
          <p:cNvCxnSpPr/>
          <p:nvPr/>
        </p:nvCxnSpPr>
        <p:spPr>
          <a:xfrm rot="16200000" flipH="1">
            <a:off x="5593329" y="4106275"/>
            <a:ext cx="1085064" cy="954749"/>
          </a:xfrm>
          <a:prstGeom prst="line">
            <a:avLst/>
          </a:prstGeom>
          <a:ln>
            <a:solidFill>
              <a:srgbClr val="15487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tle 1"/>
          <p:cNvSpPr txBox="1">
            <a:spLocks/>
          </p:cNvSpPr>
          <p:nvPr/>
        </p:nvSpPr>
        <p:spPr bwMode="gray">
          <a:xfrm>
            <a:off x="1154953" y="516222"/>
            <a:ext cx="9130460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Star Bazaar:	 </a:t>
            </a:r>
            <a:r>
              <a:rPr lang="en-US" i="1" dirty="0"/>
              <a:t>Illustrative Example</a:t>
            </a:r>
            <a:endParaRPr lang="en-IN" dirty="0"/>
          </a:p>
        </p:txBody>
      </p:sp>
      <p:cxnSp>
        <p:nvCxnSpPr>
          <p:cNvPr id="40" name="Straight Connector 39"/>
          <p:cNvCxnSpPr/>
          <p:nvPr/>
        </p:nvCxnSpPr>
        <p:spPr>
          <a:xfrm rot="10800000" flipH="1">
            <a:off x="5533301" y="2808623"/>
            <a:ext cx="1085064" cy="954749"/>
          </a:xfrm>
          <a:prstGeom prst="line">
            <a:avLst/>
          </a:prstGeom>
          <a:ln>
            <a:solidFill>
              <a:srgbClr val="15487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469161" y="5240736"/>
            <a:ext cx="1672696" cy="592028"/>
          </a:xfrm>
          <a:prstGeom prst="roundRect">
            <a:avLst>
              <a:gd name="adj" fmla="val 10062"/>
            </a:avLst>
          </a:prstGeom>
          <a:solidFill>
            <a:schemeClr val="accent4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45720" rIns="45720" anchor="ctr"/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1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MS PGothic" pitchFamily="34" charset="-128"/>
              </a:rPr>
              <a:t>Low Affinity across some SKUs</a:t>
            </a:r>
            <a:endParaRPr kumimoji="0" lang="en-US" sz="1400" i="0" u="none" strike="noStrike" kern="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957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/>
          <a:p>
            <a:r>
              <a:rPr lang="en-US" dirty="0"/>
              <a:t>Finance and Insurance Cluster: </a:t>
            </a:r>
            <a:r>
              <a:rPr lang="en-US" i="1" dirty="0"/>
              <a:t>Illustrative Example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white"/>
                </a:solidFill>
              </a:rPr>
              <a:pPr/>
              <a:t>8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5229" y="1170904"/>
            <a:ext cx="11113180" cy="582362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Leverage all data sources to </a:t>
            </a:r>
            <a:r>
              <a:rPr lang="en-US" dirty="0" smtClean="0">
                <a:solidFill>
                  <a:schemeClr val="tx1"/>
                </a:solidFill>
              </a:rPr>
              <a:t>understand your customer and to roll the </a:t>
            </a:r>
            <a:r>
              <a:rPr lang="en-US" dirty="0">
                <a:solidFill>
                  <a:schemeClr val="tx1"/>
                </a:solidFill>
              </a:rPr>
              <a:t>right offer </a:t>
            </a:r>
            <a:r>
              <a:rPr lang="en-US" dirty="0" smtClean="0">
                <a:solidFill>
                  <a:schemeClr val="tx1"/>
                </a:solidFill>
              </a:rPr>
              <a:t>across </a:t>
            </a:r>
            <a:r>
              <a:rPr lang="en-US" dirty="0">
                <a:solidFill>
                  <a:schemeClr val="tx1"/>
                </a:solidFill>
              </a:rPr>
              <a:t>customer segments taking into account customer </a:t>
            </a:r>
            <a:r>
              <a:rPr lang="en-US" dirty="0" smtClean="0">
                <a:solidFill>
                  <a:schemeClr val="tx1"/>
                </a:solidFill>
              </a:rPr>
              <a:t>value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476636" y="2945482"/>
            <a:ext cx="4388480" cy="2875080"/>
            <a:chOff x="4338782" y="3021898"/>
            <a:chExt cx="4104296" cy="2875080"/>
          </a:xfrm>
        </p:grpSpPr>
        <p:grpSp>
          <p:nvGrpSpPr>
            <p:cNvPr id="3" name="Group 84"/>
            <p:cNvGrpSpPr/>
            <p:nvPr/>
          </p:nvGrpSpPr>
          <p:grpSpPr>
            <a:xfrm>
              <a:off x="4338782" y="3021898"/>
              <a:ext cx="4056407" cy="2875080"/>
              <a:chOff x="4485284" y="2564706"/>
              <a:chExt cx="4734223" cy="3921338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5465878" y="5587873"/>
                <a:ext cx="1197173" cy="342593"/>
              </a:xfrm>
              <a:prstGeom prst="rect">
                <a:avLst/>
              </a:prstGeom>
              <a:solidFill>
                <a:srgbClr val="C5E06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r>
                  <a:rPr lang="en-US" sz="1200" b="1" dirty="0">
                    <a:solidFill>
                      <a:prstClr val="white"/>
                    </a:solidFill>
                  </a:rPr>
                  <a:t>Low</a:t>
                </a:r>
                <a:endParaRPr lang="en-IN" sz="12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6711917" y="5593912"/>
                <a:ext cx="1235197" cy="33655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r>
                  <a:rPr lang="en-US" sz="1200" b="1" dirty="0">
                    <a:solidFill>
                      <a:prstClr val="white"/>
                    </a:solidFill>
                  </a:rPr>
                  <a:t>Medium</a:t>
                </a:r>
                <a:endParaRPr lang="en-IN" sz="12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7984310" y="5593912"/>
                <a:ext cx="1235197" cy="33655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r>
                  <a:rPr lang="en-US" sz="1200" b="1" dirty="0">
                    <a:solidFill>
                      <a:prstClr val="white"/>
                    </a:solidFill>
                  </a:rPr>
                  <a:t>High</a:t>
                </a:r>
                <a:endParaRPr lang="en-IN" sz="12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Rectangle 57"/>
              <p:cNvSpPr/>
              <p:nvPr/>
            </p:nvSpPr>
            <p:spPr>
              <a:xfrm rot="16200000">
                <a:off x="4641178" y="4845141"/>
                <a:ext cx="961702" cy="560276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r>
                  <a:rPr lang="en-US" sz="1200" b="1" dirty="0">
                    <a:solidFill>
                      <a:prstClr val="white"/>
                    </a:solidFill>
                  </a:rPr>
                  <a:t>Exit</a:t>
                </a:r>
                <a:endParaRPr lang="en-IN" sz="12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Rectangle 58"/>
              <p:cNvSpPr/>
              <p:nvPr/>
            </p:nvSpPr>
            <p:spPr>
              <a:xfrm rot="16200000">
                <a:off x="4658410" y="3841073"/>
                <a:ext cx="927236" cy="560278"/>
              </a:xfrm>
              <a:prstGeom prst="rect">
                <a:avLst/>
              </a:prstGeom>
              <a:solidFill>
                <a:srgbClr val="116497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IN" sz="12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Rectangle 59"/>
              <p:cNvSpPr/>
              <p:nvPr/>
            </p:nvSpPr>
            <p:spPr>
              <a:xfrm rot="16200000">
                <a:off x="4679297" y="2875077"/>
                <a:ext cx="890008" cy="55573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r>
                  <a:rPr lang="en-US" sz="1200" b="1" dirty="0">
                    <a:solidFill>
                      <a:prstClr val="white"/>
                    </a:solidFill>
                  </a:rPr>
                  <a:t>Grow</a:t>
                </a:r>
                <a:endParaRPr lang="en-IN" sz="1200" b="1" dirty="0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67" name="Straight Connector 66"/>
              <p:cNvCxnSpPr/>
              <p:nvPr/>
            </p:nvCxnSpPr>
            <p:spPr>
              <a:xfrm>
                <a:off x="5465878" y="3616566"/>
                <a:ext cx="2505587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7933225" y="2707942"/>
                <a:ext cx="0" cy="288597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7971465" y="4672276"/>
                <a:ext cx="1235197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6682857" y="3657595"/>
                <a:ext cx="3371" cy="96815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/>
              <p:cNvSpPr txBox="1"/>
              <p:nvPr/>
            </p:nvSpPr>
            <p:spPr bwMode="gray">
              <a:xfrm>
                <a:off x="5746420" y="6124895"/>
                <a:ext cx="3289111" cy="36114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algn="ctr" defTabSz="457200"/>
                <a:r>
                  <a:rPr lang="en-US" sz="1200" b="1" dirty="0">
                    <a:solidFill>
                      <a:prstClr val="black"/>
                    </a:solidFill>
                  </a:rPr>
                  <a:t>Customer Value</a:t>
                </a:r>
                <a:endParaRPr lang="en-IN" sz="1200" b="1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 bwMode="gray">
              <a:xfrm rot="16200000">
                <a:off x="3021303" y="4028687"/>
                <a:ext cx="3289111" cy="36114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algn="ctr" defTabSz="457200"/>
                <a:r>
                  <a:rPr lang="en-US" sz="1200" b="1" dirty="0">
                    <a:solidFill>
                      <a:prstClr val="black"/>
                    </a:solidFill>
                  </a:rPr>
                  <a:t>Customer Segments</a:t>
                </a:r>
                <a:endParaRPr lang="en-IN" sz="1200" b="1" dirty="0">
                  <a:solidFill>
                    <a:prstClr val="black"/>
                  </a:solidFill>
                </a:endParaRPr>
              </a:p>
            </p:txBody>
          </p:sp>
          <p:cxnSp>
            <p:nvCxnSpPr>
              <p:cNvPr id="80" name="Straight Connector 79"/>
              <p:cNvCxnSpPr/>
              <p:nvPr/>
            </p:nvCxnSpPr>
            <p:spPr>
              <a:xfrm>
                <a:off x="5455232" y="4672275"/>
                <a:ext cx="2516233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/>
            <p:cNvSpPr txBox="1"/>
            <p:nvPr/>
          </p:nvSpPr>
          <p:spPr bwMode="gray">
            <a:xfrm>
              <a:off x="5194057" y="4681514"/>
              <a:ext cx="2131776" cy="461665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algn="ctr" defTabSz="457200"/>
              <a:r>
                <a:rPr lang="en-US" sz="1200" dirty="0"/>
                <a:t>Reminder offers</a:t>
              </a:r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 through </a:t>
              </a:r>
              <a:r>
                <a:rPr lang="en-US" sz="1200" dirty="0" smtClean="0">
                  <a:solidFill>
                    <a:schemeClr val="bg1">
                      <a:lumMod val="65000"/>
                    </a:schemeClr>
                  </a:solidFill>
                </a:rPr>
                <a:t>low cost channels</a:t>
              </a:r>
              <a:endParaRPr lang="en-IN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7" name="TextBox 86"/>
            <p:cNvSpPr txBox="1"/>
            <p:nvPr/>
          </p:nvSpPr>
          <p:spPr bwMode="gray">
            <a:xfrm>
              <a:off x="7256627" y="4584613"/>
              <a:ext cx="1186451" cy="646331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algn="ctr" defTabSz="457200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Offers through</a:t>
              </a:r>
              <a:r>
                <a:rPr lang="en-US" sz="1200" dirty="0"/>
                <a:t> </a:t>
              </a:r>
              <a:r>
                <a:rPr lang="en-US" sz="1200" dirty="0" smtClean="0"/>
                <a:t>personalized channels</a:t>
              </a:r>
              <a:endParaRPr lang="en-IN" sz="1200" dirty="0"/>
            </a:p>
          </p:txBody>
        </p:sp>
        <p:sp>
          <p:nvSpPr>
            <p:cNvPr id="88" name="TextBox 87"/>
            <p:cNvSpPr txBox="1"/>
            <p:nvPr/>
          </p:nvSpPr>
          <p:spPr bwMode="gray">
            <a:xfrm>
              <a:off x="7356405" y="3241226"/>
              <a:ext cx="1022067" cy="1015663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algn="ctr" defTabSz="457200"/>
              <a:r>
                <a:rPr lang="en-US" sz="1200" dirty="0"/>
                <a:t>Dedicated </a:t>
              </a:r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wealth manage-</a:t>
              </a:r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ment</a:t>
              </a:r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en-US" sz="1200" dirty="0"/>
                <a:t>services</a:t>
              </a:r>
              <a:endParaRPr lang="en-IN" sz="1200" dirty="0"/>
            </a:p>
          </p:txBody>
        </p:sp>
        <p:sp>
          <p:nvSpPr>
            <p:cNvPr id="89" name="TextBox 88"/>
            <p:cNvSpPr txBox="1"/>
            <p:nvPr/>
          </p:nvSpPr>
          <p:spPr bwMode="gray">
            <a:xfrm>
              <a:off x="5075651" y="3128159"/>
              <a:ext cx="2339114" cy="646331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algn="ctr" defTabSz="457200"/>
              <a:r>
                <a:rPr lang="en-US" sz="1200" dirty="0"/>
                <a:t>Regular portfolio review </a:t>
              </a:r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by experts and </a:t>
              </a:r>
              <a:r>
                <a:rPr lang="en-US" sz="1200" dirty="0"/>
                <a:t>limited wealth management support</a:t>
              </a:r>
              <a:endParaRPr lang="en-IN" sz="1200" dirty="0"/>
            </a:p>
          </p:txBody>
        </p:sp>
        <p:sp>
          <p:nvSpPr>
            <p:cNvPr id="90" name="TextBox 89"/>
            <p:cNvSpPr txBox="1"/>
            <p:nvPr/>
          </p:nvSpPr>
          <p:spPr bwMode="gray">
            <a:xfrm>
              <a:off x="5169859" y="3755249"/>
              <a:ext cx="1073426" cy="830997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algn="ctr" defTabSz="457200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Regular portfolio and support over telephone</a:t>
              </a:r>
              <a:endParaRPr lang="en-IN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1" name="TextBox 90"/>
            <p:cNvSpPr txBox="1"/>
            <p:nvPr/>
          </p:nvSpPr>
          <p:spPr bwMode="gray">
            <a:xfrm>
              <a:off x="6220606" y="3768115"/>
              <a:ext cx="1073426" cy="830997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algn="ctr" defTabSz="457200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Regular portfolio and support and discounts</a:t>
              </a:r>
              <a:endParaRPr lang="en-IN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69" name="TextBox 68"/>
          <p:cNvSpPr txBox="1"/>
          <p:nvPr/>
        </p:nvSpPr>
        <p:spPr bwMode="gray">
          <a:xfrm>
            <a:off x="4062352" y="2124545"/>
            <a:ext cx="3450232" cy="27857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457200"/>
            <a:r>
              <a:rPr lang="en-US" sz="1400" b="1" dirty="0">
                <a:solidFill>
                  <a:prstClr val="black"/>
                </a:solidFill>
              </a:rPr>
              <a:t>2. Roll out segment specific strategies</a:t>
            </a:r>
            <a:endParaRPr lang="en-IN" sz="1400" b="1" dirty="0">
              <a:solidFill>
                <a:prstClr val="black"/>
              </a:solidFill>
            </a:endParaRPr>
          </a:p>
        </p:txBody>
      </p:sp>
      <p:sp>
        <p:nvSpPr>
          <p:cNvPr id="70" name="TextBox 69"/>
          <p:cNvSpPr txBox="1"/>
          <p:nvPr/>
        </p:nvSpPr>
        <p:spPr bwMode="gray">
          <a:xfrm>
            <a:off x="8381657" y="2151496"/>
            <a:ext cx="3847287" cy="3240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457200"/>
            <a:r>
              <a:rPr lang="en-US" sz="1400" b="1" dirty="0">
                <a:solidFill>
                  <a:prstClr val="black"/>
                </a:solidFill>
              </a:rPr>
              <a:t>3. Optimize </a:t>
            </a:r>
            <a:r>
              <a:rPr lang="en-US" sz="1400" b="1" dirty="0" smtClean="0">
                <a:solidFill>
                  <a:prstClr val="black"/>
                </a:solidFill>
              </a:rPr>
              <a:t>decision at Customer level </a:t>
            </a:r>
            <a:endParaRPr lang="en-IN" sz="1400" b="1" dirty="0">
              <a:solidFill>
                <a:prstClr val="black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98773" y="2937765"/>
            <a:ext cx="2179782" cy="2133009"/>
            <a:chOff x="988778" y="1993513"/>
            <a:chExt cx="1632941" cy="1771396"/>
          </a:xfrm>
        </p:grpSpPr>
        <p:sp>
          <p:nvSpPr>
            <p:cNvPr id="147" name="Isosceles Triangle 146"/>
            <p:cNvSpPr/>
            <p:nvPr/>
          </p:nvSpPr>
          <p:spPr>
            <a:xfrm>
              <a:off x="1015726" y="2081274"/>
              <a:ext cx="1605993" cy="1524066"/>
            </a:xfrm>
            <a:prstGeom prst="triangle">
              <a:avLst/>
            </a:prstGeom>
            <a:solidFill>
              <a:schemeClr val="bg1">
                <a:lumMod val="65000"/>
                <a:alpha val="53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IN" sz="1400" dirty="0">
                <a:solidFill>
                  <a:prstClr val="white"/>
                </a:solidFill>
              </a:endParaRPr>
            </a:p>
          </p:txBody>
        </p:sp>
        <p:sp>
          <p:nvSpPr>
            <p:cNvPr id="148" name="TextBox 147"/>
            <p:cNvSpPr txBox="1"/>
            <p:nvPr/>
          </p:nvSpPr>
          <p:spPr bwMode="gray">
            <a:xfrm rot="17945829">
              <a:off x="667796" y="2444023"/>
              <a:ext cx="1357901" cy="456882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defTabSz="457200"/>
              <a:r>
                <a:rPr lang="en-US" sz="1200" dirty="0" smtClean="0">
                  <a:solidFill>
                    <a:prstClr val="black"/>
                  </a:solidFill>
                </a:rPr>
                <a:t>Profitability</a:t>
              </a:r>
              <a:endParaRPr lang="en-IN" sz="1200" dirty="0">
                <a:solidFill>
                  <a:prstClr val="black"/>
                </a:solidFill>
              </a:endParaRPr>
            </a:p>
          </p:txBody>
        </p:sp>
        <p:sp>
          <p:nvSpPr>
            <p:cNvPr id="149" name="TextBox 148"/>
            <p:cNvSpPr txBox="1"/>
            <p:nvPr/>
          </p:nvSpPr>
          <p:spPr bwMode="gray">
            <a:xfrm rot="3693801">
              <a:off x="1700492" y="2545508"/>
              <a:ext cx="1217300" cy="372488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algn="ctr" defTabSz="457200"/>
              <a:r>
                <a:rPr lang="en-US" sz="1200" dirty="0">
                  <a:solidFill>
                    <a:prstClr val="black"/>
                  </a:solidFill>
                </a:rPr>
                <a:t>Timing</a:t>
              </a:r>
              <a:endParaRPr lang="en-IN" sz="1200" dirty="0">
                <a:solidFill>
                  <a:prstClr val="black"/>
                </a:solidFill>
              </a:endParaRPr>
            </a:p>
          </p:txBody>
        </p:sp>
        <p:sp>
          <p:nvSpPr>
            <p:cNvPr id="150" name="TextBox 149"/>
            <p:cNvSpPr txBox="1"/>
            <p:nvPr/>
          </p:nvSpPr>
          <p:spPr bwMode="gray">
            <a:xfrm>
              <a:off x="988778" y="3584463"/>
              <a:ext cx="1595963" cy="180446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algn="ctr" defTabSz="457200"/>
              <a:r>
                <a:rPr lang="en-US" sz="1200" dirty="0">
                  <a:solidFill>
                    <a:prstClr val="black"/>
                  </a:solidFill>
                </a:rPr>
                <a:t>Channel</a:t>
              </a:r>
              <a:endParaRPr lang="en-IN" sz="1200" dirty="0">
                <a:solidFill>
                  <a:prstClr val="black"/>
                </a:solidFill>
              </a:endParaRPr>
            </a:p>
          </p:txBody>
        </p:sp>
      </p:grpSp>
      <p:sp>
        <p:nvSpPr>
          <p:cNvPr id="151" name="TextBox 150"/>
          <p:cNvSpPr txBox="1"/>
          <p:nvPr/>
        </p:nvSpPr>
        <p:spPr bwMode="gray">
          <a:xfrm>
            <a:off x="508074" y="3867389"/>
            <a:ext cx="2130419" cy="731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 defTabSz="457200"/>
            <a:r>
              <a:rPr lang="en-US" sz="1200" dirty="0">
                <a:solidFill>
                  <a:prstClr val="black"/>
                </a:solidFill>
              </a:rPr>
              <a:t>Current</a:t>
            </a:r>
          </a:p>
          <a:p>
            <a:pPr algn="ctr" defTabSz="457200"/>
            <a:r>
              <a:rPr lang="en-US" sz="1200" dirty="0">
                <a:solidFill>
                  <a:prstClr val="black"/>
                </a:solidFill>
              </a:rPr>
              <a:t>&amp; Future </a:t>
            </a:r>
          </a:p>
          <a:p>
            <a:pPr algn="ctr" defTabSz="457200"/>
            <a:r>
              <a:rPr lang="en-US" sz="1200" dirty="0">
                <a:solidFill>
                  <a:prstClr val="black"/>
                </a:solidFill>
              </a:rPr>
              <a:t>Customer</a:t>
            </a:r>
          </a:p>
          <a:p>
            <a:pPr algn="ctr" defTabSz="457200"/>
            <a:r>
              <a:rPr lang="en-US" sz="1200" dirty="0">
                <a:solidFill>
                  <a:prstClr val="black"/>
                </a:solidFill>
              </a:rPr>
              <a:t> Value</a:t>
            </a:r>
            <a:endParaRPr lang="en-IN" sz="1200" dirty="0">
              <a:solidFill>
                <a:prstClr val="black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 bwMode="gray">
          <a:xfrm>
            <a:off x="9236" y="2076342"/>
            <a:ext cx="3395274" cy="3134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457200"/>
            <a:r>
              <a:rPr lang="en-US" sz="1600" b="1" dirty="0">
                <a:solidFill>
                  <a:prstClr val="black"/>
                </a:solidFill>
              </a:rPr>
              <a:t>1. Understand your customers</a:t>
            </a:r>
            <a:endParaRPr lang="en-IN" sz="1600" b="1" dirty="0">
              <a:solidFill>
                <a:prstClr val="black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 bwMode="gray">
          <a:xfrm rot="16200000">
            <a:off x="3593583" y="3916935"/>
            <a:ext cx="914400" cy="31539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 defTabSz="457200"/>
            <a:r>
              <a:rPr lang="en-US" sz="1300" b="1" dirty="0">
                <a:solidFill>
                  <a:prstClr val="white"/>
                </a:solidFill>
              </a:rPr>
              <a:t>Harvest</a:t>
            </a:r>
            <a:endParaRPr lang="en-IN" sz="1300" b="1" dirty="0">
              <a:solidFill>
                <a:prstClr val="white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-101596" y="5509910"/>
            <a:ext cx="3797122" cy="957465"/>
            <a:chOff x="-23376" y="3823879"/>
            <a:chExt cx="3797122" cy="957465"/>
          </a:xfrm>
        </p:grpSpPr>
        <p:sp>
          <p:nvSpPr>
            <p:cNvPr id="141" name="TextBox 140"/>
            <p:cNvSpPr txBox="1"/>
            <p:nvPr/>
          </p:nvSpPr>
          <p:spPr bwMode="gray">
            <a:xfrm>
              <a:off x="1730183" y="4325833"/>
              <a:ext cx="2043563" cy="195014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noAutofit/>
            </a:bodyPr>
            <a:lstStyle>
              <a:defPPr>
                <a:defRPr lang="en-US"/>
              </a:defPPr>
              <a:lvl1pPr algn="ctr">
                <a:defRPr sz="1200" b="1"/>
              </a:lvl1pPr>
            </a:lstStyle>
            <a:p>
              <a:pPr defTabSz="457200"/>
              <a:r>
                <a:rPr lang="en-US" b="0" dirty="0">
                  <a:solidFill>
                    <a:schemeClr val="bg1">
                      <a:lumMod val="65000"/>
                    </a:schemeClr>
                  </a:solidFill>
                </a:rPr>
                <a:t>Current Product </a:t>
              </a:r>
            </a:p>
            <a:p>
              <a:pPr defTabSz="457200"/>
              <a:r>
                <a:rPr lang="en-US" b="0" dirty="0">
                  <a:solidFill>
                    <a:schemeClr val="bg1">
                      <a:lumMod val="65000"/>
                    </a:schemeClr>
                  </a:solidFill>
                </a:rPr>
                <a:t>Holding</a:t>
              </a:r>
              <a:endParaRPr lang="en-IN" b="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-23376" y="3823879"/>
              <a:ext cx="3456834" cy="957465"/>
              <a:chOff x="-23376" y="3823879"/>
              <a:chExt cx="3456834" cy="95746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207945" y="3843015"/>
                <a:ext cx="3225513" cy="792056"/>
              </a:xfrm>
              <a:prstGeom prst="rect">
                <a:avLst/>
              </a:prstGeom>
              <a:noFill/>
              <a:ln>
                <a:solidFill>
                  <a:srgbClr val="0D356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IN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42" name="TextBox 141"/>
              <p:cNvSpPr txBox="1"/>
              <p:nvPr/>
            </p:nvSpPr>
            <p:spPr bwMode="gray">
              <a:xfrm>
                <a:off x="1549371" y="3831922"/>
                <a:ext cx="1851182" cy="388197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algn="ctr" defTabSz="457200"/>
                <a:r>
                  <a:rPr lang="en-US" sz="1200" dirty="0">
                    <a:solidFill>
                      <a:schemeClr val="bg1">
                        <a:lumMod val="65000"/>
                      </a:schemeClr>
                    </a:solidFill>
                  </a:rPr>
                  <a:t>Risk Profile and Income Segment</a:t>
                </a:r>
                <a:endParaRPr lang="en-IN" sz="12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43" name="TextBox 142"/>
              <p:cNvSpPr txBox="1"/>
              <p:nvPr/>
            </p:nvSpPr>
            <p:spPr bwMode="gray">
              <a:xfrm>
                <a:off x="-23376" y="3823879"/>
                <a:ext cx="1838258" cy="388197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algn="ctr">
                  <a:defRPr sz="1200" b="1"/>
                </a:lvl1pPr>
              </a:lstStyle>
              <a:p>
                <a:pPr defTabSz="457200"/>
                <a:r>
                  <a:rPr 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Demographics &amp; Psychographics</a:t>
                </a:r>
                <a:endParaRPr lang="en-IN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45" name="TextBox 144"/>
              <p:cNvSpPr txBox="1"/>
              <p:nvPr/>
            </p:nvSpPr>
            <p:spPr bwMode="gray">
              <a:xfrm>
                <a:off x="1149541" y="4239169"/>
                <a:ext cx="1019098" cy="36924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algn="ctr">
                  <a:defRPr sz="1200" b="1"/>
                </a:lvl1pPr>
              </a:lstStyle>
              <a:p>
                <a:pPr defTabSz="457200"/>
                <a:r>
                  <a:rPr 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Channel Preference</a:t>
                </a:r>
                <a:endParaRPr lang="en-IN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1619685" y="4781344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07945" y="4233191"/>
                <a:ext cx="3225513" cy="0"/>
              </a:xfrm>
              <a:prstGeom prst="line">
                <a:avLst/>
              </a:prstGeom>
              <a:ln>
                <a:solidFill>
                  <a:srgbClr val="0D356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1724459" y="3823972"/>
                <a:ext cx="1" cy="401268"/>
              </a:xfrm>
              <a:prstGeom prst="line">
                <a:avLst/>
              </a:prstGeom>
              <a:ln>
                <a:solidFill>
                  <a:srgbClr val="0D356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flipV="1">
                <a:off x="2104376" y="4233803"/>
                <a:ext cx="1" cy="401268"/>
              </a:xfrm>
              <a:prstGeom prst="line">
                <a:avLst/>
              </a:prstGeom>
              <a:ln>
                <a:solidFill>
                  <a:srgbClr val="0D356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TextBox 105"/>
              <p:cNvSpPr txBox="1"/>
              <p:nvPr/>
            </p:nvSpPr>
            <p:spPr bwMode="gray">
              <a:xfrm>
                <a:off x="78779" y="4300258"/>
                <a:ext cx="1204480" cy="24616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algn="ctr">
                  <a:defRPr sz="1200" b="1"/>
                </a:lvl1pPr>
              </a:lstStyle>
              <a:p>
                <a:pPr defTabSz="457200"/>
                <a:r>
                  <a:rPr 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Transaction Data</a:t>
                </a:r>
                <a:endParaRPr lang="en-IN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107" name="Straight Connector 106"/>
              <p:cNvCxnSpPr/>
              <p:nvPr/>
            </p:nvCxnSpPr>
            <p:spPr>
              <a:xfrm flipV="1">
                <a:off x="1156194" y="4233803"/>
                <a:ext cx="1" cy="401268"/>
              </a:xfrm>
              <a:prstGeom prst="line">
                <a:avLst/>
              </a:prstGeom>
              <a:ln>
                <a:solidFill>
                  <a:srgbClr val="0D356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8" name="Straight Arrow Connector 47"/>
          <p:cNvCxnSpPr/>
          <p:nvPr/>
        </p:nvCxnSpPr>
        <p:spPr>
          <a:xfrm>
            <a:off x="3194406" y="2270000"/>
            <a:ext cx="937305" cy="0"/>
          </a:xfrm>
          <a:prstGeom prst="straightConnector1">
            <a:avLst/>
          </a:prstGeom>
          <a:ln w="28575">
            <a:solidFill>
              <a:srgbClr val="15477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7491276" y="2303384"/>
            <a:ext cx="937305" cy="0"/>
          </a:xfrm>
          <a:prstGeom prst="straightConnector1">
            <a:avLst/>
          </a:prstGeom>
          <a:ln w="28575">
            <a:solidFill>
              <a:srgbClr val="15477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16200000" flipV="1">
            <a:off x="1283848" y="4128659"/>
            <a:ext cx="4350341" cy="27713"/>
          </a:xfrm>
          <a:prstGeom prst="line">
            <a:avLst/>
          </a:prstGeom>
          <a:ln>
            <a:solidFill>
              <a:srgbClr val="0E38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496887" y="1817065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rot="16200000" flipV="1">
            <a:off x="5731157" y="4216404"/>
            <a:ext cx="4350341" cy="27713"/>
          </a:xfrm>
          <a:prstGeom prst="line">
            <a:avLst/>
          </a:prstGeom>
          <a:ln>
            <a:solidFill>
              <a:srgbClr val="0E38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25732" y="5160972"/>
            <a:ext cx="3662292" cy="1500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72" name="Group 371"/>
          <p:cNvGrpSpPr/>
          <p:nvPr/>
        </p:nvGrpSpPr>
        <p:grpSpPr>
          <a:xfrm>
            <a:off x="9142840" y="2842432"/>
            <a:ext cx="1758950" cy="1727201"/>
            <a:chOff x="-501650" y="2462213"/>
            <a:chExt cx="1758950" cy="1727202"/>
          </a:xfrm>
        </p:grpSpPr>
        <p:sp>
          <p:nvSpPr>
            <p:cNvPr id="373" name="Oval 372"/>
            <p:cNvSpPr/>
            <p:nvPr/>
          </p:nvSpPr>
          <p:spPr bwMode="gray">
            <a:xfrm>
              <a:off x="-409575" y="2543175"/>
              <a:ext cx="1590675" cy="1552575"/>
            </a:xfrm>
            <a:prstGeom prst="ellipse">
              <a:avLst/>
            </a:prstGeom>
            <a:solidFill>
              <a:srgbClr val="002D72">
                <a:lumMod val="60000"/>
                <a:lumOff val="40000"/>
              </a:srgbClr>
            </a:solidFill>
            <a:ln w="12700" cap="rnd" algn="ctr">
              <a:noFill/>
              <a:miter lim="800000"/>
              <a:headEnd/>
              <a:tailEnd/>
            </a:ln>
          </p:spPr>
          <p:txBody>
            <a:bodyPr lIns="182880" rtlCol="0" anchor="ctr" anchorCtr="1"/>
            <a:lstStyle/>
            <a:p>
              <a:pPr marL="0" marR="0" lvl="0" indent="0" algn="ctr" defTabSz="914400" eaLnBrk="0" fontAlgn="auto" latinLnBrk="0" hangingPunct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74" name="Oval 373"/>
            <p:cNvSpPr/>
            <p:nvPr/>
          </p:nvSpPr>
          <p:spPr bwMode="gray">
            <a:xfrm>
              <a:off x="-161923" y="2771776"/>
              <a:ext cx="1076324" cy="1104899"/>
            </a:xfrm>
            <a:prstGeom prst="ellipse">
              <a:avLst/>
            </a:prstGeom>
            <a:solidFill>
              <a:srgbClr val="FFFFFF"/>
            </a:solidFill>
            <a:ln w="12700" cap="rnd" algn="ctr">
              <a:noFill/>
              <a:miter lim="800000"/>
              <a:headEnd/>
              <a:tailEnd/>
            </a:ln>
          </p:spPr>
          <p:txBody>
            <a:bodyPr lIns="182880" rtlCol="0" anchor="ctr" anchorCtr="1"/>
            <a:lstStyle/>
            <a:p>
              <a:pPr marL="0" marR="0" lvl="0" indent="0" algn="ctr" defTabSz="914400" eaLnBrk="0" fontAlgn="auto" latinLnBrk="0" hangingPunct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grpSp>
          <p:nvGrpSpPr>
            <p:cNvPr id="375" name="Group 121"/>
            <p:cNvGrpSpPr/>
            <p:nvPr/>
          </p:nvGrpSpPr>
          <p:grpSpPr>
            <a:xfrm>
              <a:off x="876300" y="3241675"/>
              <a:ext cx="381000" cy="142875"/>
              <a:chOff x="-781050" y="1920875"/>
              <a:chExt cx="381000" cy="142875"/>
            </a:xfrm>
          </p:grpSpPr>
          <p:cxnSp>
            <p:nvCxnSpPr>
              <p:cNvPr id="385" name="Straight Connector 384"/>
              <p:cNvCxnSpPr/>
              <p:nvPr/>
            </p:nvCxnSpPr>
            <p:spPr bwMode="auto">
              <a:xfrm>
                <a:off x="-781050" y="1920875"/>
                <a:ext cx="190500" cy="142875"/>
              </a:xfrm>
              <a:prstGeom prst="line">
                <a:avLst/>
              </a:prstGeom>
              <a:solidFill>
                <a:srgbClr val="99ABC7"/>
              </a:solidFill>
              <a:ln w="38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6" name="Straight Connector 385"/>
              <p:cNvCxnSpPr/>
              <p:nvPr/>
            </p:nvCxnSpPr>
            <p:spPr bwMode="auto">
              <a:xfrm rot="10800000" flipV="1">
                <a:off x="-614362" y="1920875"/>
                <a:ext cx="214312" cy="138112"/>
              </a:xfrm>
              <a:prstGeom prst="line">
                <a:avLst/>
              </a:prstGeom>
              <a:solidFill>
                <a:srgbClr val="99ABC7"/>
              </a:solidFill>
              <a:ln w="38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376" name="Group 122"/>
            <p:cNvGrpSpPr/>
            <p:nvPr/>
          </p:nvGrpSpPr>
          <p:grpSpPr>
            <a:xfrm rot="5400000">
              <a:off x="190501" y="3927477"/>
              <a:ext cx="381000" cy="142875"/>
              <a:chOff x="-781050" y="1920875"/>
              <a:chExt cx="381000" cy="142875"/>
            </a:xfrm>
          </p:grpSpPr>
          <p:cxnSp>
            <p:nvCxnSpPr>
              <p:cNvPr id="383" name="Straight Connector 382"/>
              <p:cNvCxnSpPr/>
              <p:nvPr/>
            </p:nvCxnSpPr>
            <p:spPr bwMode="auto">
              <a:xfrm>
                <a:off x="-781050" y="1920875"/>
                <a:ext cx="190500" cy="142875"/>
              </a:xfrm>
              <a:prstGeom prst="line">
                <a:avLst/>
              </a:prstGeom>
              <a:solidFill>
                <a:srgbClr val="99ABC7"/>
              </a:solidFill>
              <a:ln w="38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4" name="Straight Connector 383"/>
              <p:cNvCxnSpPr/>
              <p:nvPr/>
            </p:nvCxnSpPr>
            <p:spPr bwMode="auto">
              <a:xfrm rot="10800000" flipV="1">
                <a:off x="-614362" y="1920875"/>
                <a:ext cx="214312" cy="138112"/>
              </a:xfrm>
              <a:prstGeom prst="line">
                <a:avLst/>
              </a:prstGeom>
              <a:solidFill>
                <a:srgbClr val="99ABC7"/>
              </a:solidFill>
              <a:ln w="38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377" name="Group 123"/>
            <p:cNvGrpSpPr/>
            <p:nvPr/>
          </p:nvGrpSpPr>
          <p:grpSpPr>
            <a:xfrm rot="16200000">
              <a:off x="165099" y="2581275"/>
              <a:ext cx="381000" cy="142875"/>
              <a:chOff x="-781050" y="1920875"/>
              <a:chExt cx="381000" cy="142875"/>
            </a:xfrm>
          </p:grpSpPr>
          <p:cxnSp>
            <p:nvCxnSpPr>
              <p:cNvPr id="381" name="Straight Connector 380"/>
              <p:cNvCxnSpPr/>
              <p:nvPr/>
            </p:nvCxnSpPr>
            <p:spPr bwMode="auto">
              <a:xfrm>
                <a:off x="-781050" y="1920875"/>
                <a:ext cx="190500" cy="142875"/>
              </a:xfrm>
              <a:prstGeom prst="line">
                <a:avLst/>
              </a:prstGeom>
              <a:solidFill>
                <a:srgbClr val="99ABC7"/>
              </a:solidFill>
              <a:ln w="38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2" name="Straight Connector 381"/>
              <p:cNvCxnSpPr/>
              <p:nvPr/>
            </p:nvCxnSpPr>
            <p:spPr bwMode="auto">
              <a:xfrm rot="10800000" flipV="1">
                <a:off x="-614362" y="1920875"/>
                <a:ext cx="214312" cy="138112"/>
              </a:xfrm>
              <a:prstGeom prst="line">
                <a:avLst/>
              </a:prstGeom>
              <a:solidFill>
                <a:srgbClr val="99ABC7"/>
              </a:solidFill>
              <a:ln w="38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378" name="Group 124"/>
            <p:cNvGrpSpPr/>
            <p:nvPr/>
          </p:nvGrpSpPr>
          <p:grpSpPr>
            <a:xfrm rot="10563770">
              <a:off x="-501650" y="3235325"/>
              <a:ext cx="381000" cy="142875"/>
              <a:chOff x="-781050" y="1920875"/>
              <a:chExt cx="381000" cy="142875"/>
            </a:xfrm>
          </p:grpSpPr>
          <p:cxnSp>
            <p:nvCxnSpPr>
              <p:cNvPr id="379" name="Straight Connector 378"/>
              <p:cNvCxnSpPr/>
              <p:nvPr/>
            </p:nvCxnSpPr>
            <p:spPr bwMode="auto">
              <a:xfrm>
                <a:off x="-781050" y="1920875"/>
                <a:ext cx="190500" cy="142875"/>
              </a:xfrm>
              <a:prstGeom prst="line">
                <a:avLst/>
              </a:prstGeom>
              <a:solidFill>
                <a:srgbClr val="99ABC7"/>
              </a:solidFill>
              <a:ln w="38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0" name="Straight Connector 379"/>
              <p:cNvCxnSpPr/>
              <p:nvPr/>
            </p:nvCxnSpPr>
            <p:spPr bwMode="auto">
              <a:xfrm rot="10800000" flipV="1">
                <a:off x="-614362" y="1920875"/>
                <a:ext cx="214312" cy="138112"/>
              </a:xfrm>
              <a:prstGeom prst="line">
                <a:avLst/>
              </a:prstGeom>
              <a:solidFill>
                <a:srgbClr val="99ABC7"/>
              </a:solidFill>
              <a:ln w="381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387" name="Oval 386"/>
          <p:cNvSpPr/>
          <p:nvPr/>
        </p:nvSpPr>
        <p:spPr bwMode="gray">
          <a:xfrm>
            <a:off x="9579701" y="3274652"/>
            <a:ext cx="866775" cy="866775"/>
          </a:xfrm>
          <a:prstGeom prst="ellipse">
            <a:avLst/>
          </a:prstGeom>
          <a:solidFill>
            <a:srgbClr val="002D72">
              <a:lumMod val="20000"/>
              <a:lumOff val="80000"/>
            </a:srgbClr>
          </a:solidFill>
          <a:ln w="12700" cap="rnd" algn="ctr">
            <a:noFill/>
            <a:miter lim="800000"/>
            <a:headEnd/>
            <a:tailEnd/>
          </a:ln>
        </p:spPr>
        <p:txBody>
          <a:bodyPr lIns="182880" rtlCol="0" anchor="ctr" anchorCtr="1"/>
          <a:lstStyle/>
          <a:p>
            <a:pPr marL="0" marR="0" lvl="0" indent="0" algn="ctr" defTabSz="914400" eaLnBrk="0" fontAlgn="auto" latinLnBrk="0" hangingPunc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9489959" y="3539889"/>
            <a:ext cx="1005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marR="0" lvl="0" indent="-168275" algn="ctr" defTabSz="914400" eaLnBrk="1" fontAlgn="auto" latinLnBrk="0" hangingPunct="1">
              <a:lnSpc>
                <a:spcPct val="100000"/>
              </a:lnSpc>
              <a:spcBef>
                <a:spcPct val="8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cs typeface="Arial" charset="0"/>
              </a:rPr>
              <a:t>Customer Value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390" name="TextBox 389"/>
          <p:cNvSpPr txBox="1"/>
          <p:nvPr/>
        </p:nvSpPr>
        <p:spPr>
          <a:xfrm>
            <a:off x="8520719" y="2900638"/>
            <a:ext cx="1066800" cy="307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Response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95" name="TextBox 394"/>
          <p:cNvSpPr txBox="1"/>
          <p:nvPr/>
        </p:nvSpPr>
        <p:spPr>
          <a:xfrm>
            <a:off x="10690040" y="4255355"/>
            <a:ext cx="821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</a:rPr>
              <a:t>Offer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grpSp>
        <p:nvGrpSpPr>
          <p:cNvPr id="397" name="Group 396"/>
          <p:cNvGrpSpPr/>
          <p:nvPr/>
        </p:nvGrpSpPr>
        <p:grpSpPr>
          <a:xfrm>
            <a:off x="9060560" y="2721585"/>
            <a:ext cx="250710" cy="228717"/>
            <a:chOff x="2867819" y="2569368"/>
            <a:chExt cx="250710" cy="228717"/>
          </a:xfrm>
        </p:grpSpPr>
        <p:sp>
          <p:nvSpPr>
            <p:cNvPr id="398" name="Oval 397"/>
            <p:cNvSpPr/>
            <p:nvPr/>
          </p:nvSpPr>
          <p:spPr bwMode="gray">
            <a:xfrm>
              <a:off x="2907449" y="2593239"/>
              <a:ext cx="171450" cy="180975"/>
            </a:xfrm>
            <a:prstGeom prst="ellipse">
              <a:avLst/>
            </a:prstGeom>
            <a:solidFill>
              <a:srgbClr val="4066B2"/>
            </a:solidFill>
            <a:ln w="12700" cap="rnd" algn="ctr">
              <a:noFill/>
              <a:miter lim="800000"/>
              <a:headEnd/>
              <a:tailEnd/>
            </a:ln>
          </p:spPr>
          <p:txBody>
            <a:bodyPr lIns="182880" rtlCol="0" anchor="ctr" anchorCtr="1"/>
            <a:lstStyle/>
            <a:p>
              <a:pPr marL="0" marR="0" lvl="0" indent="0" algn="ctr" defTabSz="914400" eaLnBrk="0" fontAlgn="base" latinLnBrk="0" hangingPunct="0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itchFamily="34" charset="0"/>
              </a:endParaRPr>
            </a:p>
          </p:txBody>
        </p:sp>
        <p:sp>
          <p:nvSpPr>
            <p:cNvPr id="399" name="TextBox 398"/>
            <p:cNvSpPr txBox="1"/>
            <p:nvPr/>
          </p:nvSpPr>
          <p:spPr>
            <a:xfrm>
              <a:off x="2867819" y="2569368"/>
              <a:ext cx="250710" cy="22871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169863" marR="0" lvl="0" indent="-168275" defTabSz="914400" eaLnBrk="1" fontAlgn="base" latinLnBrk="0" hangingPunct="1">
                <a:lnSpc>
                  <a:spcPct val="106000"/>
                </a:lnSpc>
                <a:spcBef>
                  <a:spcPct val="8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charset="0"/>
                </a:rPr>
                <a:t>1</a:t>
              </a:r>
            </a:p>
          </p:txBody>
        </p:sp>
      </p:grpSp>
      <p:grpSp>
        <p:nvGrpSpPr>
          <p:cNvPr id="400" name="Group 399"/>
          <p:cNvGrpSpPr/>
          <p:nvPr/>
        </p:nvGrpSpPr>
        <p:grpSpPr>
          <a:xfrm>
            <a:off x="10604361" y="2721585"/>
            <a:ext cx="250710" cy="228717"/>
            <a:chOff x="2867819" y="2569368"/>
            <a:chExt cx="250710" cy="228717"/>
          </a:xfrm>
        </p:grpSpPr>
        <p:sp>
          <p:nvSpPr>
            <p:cNvPr id="401" name="Oval 400"/>
            <p:cNvSpPr/>
            <p:nvPr/>
          </p:nvSpPr>
          <p:spPr bwMode="gray">
            <a:xfrm>
              <a:off x="2907449" y="2593239"/>
              <a:ext cx="171450" cy="180975"/>
            </a:xfrm>
            <a:prstGeom prst="ellipse">
              <a:avLst/>
            </a:prstGeom>
            <a:solidFill>
              <a:srgbClr val="4066B2"/>
            </a:solidFill>
            <a:ln w="12700" cap="rnd" algn="ctr">
              <a:noFill/>
              <a:miter lim="800000"/>
              <a:headEnd/>
              <a:tailEnd/>
            </a:ln>
          </p:spPr>
          <p:txBody>
            <a:bodyPr lIns="182880" rtlCol="0" anchor="ctr" anchorCtr="1"/>
            <a:lstStyle/>
            <a:p>
              <a:pPr marL="0" marR="0" lvl="0" indent="0" algn="ctr" defTabSz="914400" eaLnBrk="0" fontAlgn="base" latinLnBrk="0" hangingPunct="0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itchFamily="34" charset="0"/>
              </a:endParaRPr>
            </a:p>
          </p:txBody>
        </p:sp>
        <p:sp>
          <p:nvSpPr>
            <p:cNvPr id="402" name="TextBox 401"/>
            <p:cNvSpPr txBox="1"/>
            <p:nvPr/>
          </p:nvSpPr>
          <p:spPr>
            <a:xfrm>
              <a:off x="2867819" y="2569368"/>
              <a:ext cx="250710" cy="22871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169863" marR="0" lvl="0" indent="-168275" defTabSz="914400" eaLnBrk="1" fontAlgn="base" latinLnBrk="0" hangingPunct="1">
                <a:lnSpc>
                  <a:spcPct val="106000"/>
                </a:lnSpc>
                <a:spcBef>
                  <a:spcPct val="8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lang="en-US" sz="900" b="1" kern="0" dirty="0">
                  <a:solidFill>
                    <a:srgbClr val="FFFFFF"/>
                  </a:solidFill>
                  <a:cs typeface="Arial" charset="0"/>
                </a:rPr>
                <a:t>2</a:t>
              </a:r>
              <a:endParaRPr kumimoji="0" 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406" name="Group 405"/>
          <p:cNvGrpSpPr/>
          <p:nvPr/>
        </p:nvGrpSpPr>
        <p:grpSpPr>
          <a:xfrm>
            <a:off x="10690821" y="4094112"/>
            <a:ext cx="250710" cy="228717"/>
            <a:chOff x="2867819" y="2569368"/>
            <a:chExt cx="250710" cy="228717"/>
          </a:xfrm>
        </p:grpSpPr>
        <p:sp>
          <p:nvSpPr>
            <p:cNvPr id="407" name="Oval 406"/>
            <p:cNvSpPr/>
            <p:nvPr/>
          </p:nvSpPr>
          <p:spPr bwMode="gray">
            <a:xfrm>
              <a:off x="2907449" y="2593239"/>
              <a:ext cx="171450" cy="180975"/>
            </a:xfrm>
            <a:prstGeom prst="ellipse">
              <a:avLst/>
            </a:prstGeom>
            <a:solidFill>
              <a:srgbClr val="4066B2"/>
            </a:solidFill>
            <a:ln w="12700" cap="rnd" algn="ctr">
              <a:noFill/>
              <a:miter lim="800000"/>
              <a:headEnd/>
              <a:tailEnd/>
            </a:ln>
          </p:spPr>
          <p:txBody>
            <a:bodyPr lIns="182880" rtlCol="0" anchor="ctr" anchorCtr="1"/>
            <a:lstStyle/>
            <a:p>
              <a:pPr marL="0" marR="0" lvl="0" indent="0" algn="ctr" defTabSz="914400" eaLnBrk="0" fontAlgn="base" latinLnBrk="0" hangingPunct="0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itchFamily="34" charset="0"/>
              </a:endParaRPr>
            </a:p>
          </p:txBody>
        </p:sp>
        <p:sp>
          <p:nvSpPr>
            <p:cNvPr id="408" name="TextBox 407"/>
            <p:cNvSpPr txBox="1"/>
            <p:nvPr/>
          </p:nvSpPr>
          <p:spPr>
            <a:xfrm>
              <a:off x="2867819" y="2569368"/>
              <a:ext cx="250710" cy="22871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169863" marR="0" lvl="0" indent="-168275" defTabSz="914400" eaLnBrk="1" fontAlgn="base" latinLnBrk="0" hangingPunct="1">
                <a:lnSpc>
                  <a:spcPct val="106000"/>
                </a:lnSpc>
                <a:spcBef>
                  <a:spcPct val="8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lang="en-US" sz="900" b="1" kern="0" noProof="0" dirty="0" smtClean="0">
                  <a:solidFill>
                    <a:srgbClr val="FFFFFF"/>
                  </a:solidFill>
                  <a:cs typeface="Arial" charset="0"/>
                </a:rPr>
                <a:t>4</a:t>
              </a:r>
              <a:endParaRPr kumimoji="0" 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sp>
        <p:nvSpPr>
          <p:cNvPr id="411" name="TextBox 410"/>
          <p:cNvSpPr txBox="1"/>
          <p:nvPr/>
        </p:nvSpPr>
        <p:spPr>
          <a:xfrm>
            <a:off x="10535314" y="2875695"/>
            <a:ext cx="1496742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Price Sensitivity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4" name="TextBox 413"/>
          <p:cNvSpPr txBox="1"/>
          <p:nvPr/>
        </p:nvSpPr>
        <p:spPr>
          <a:xfrm>
            <a:off x="8564549" y="4255355"/>
            <a:ext cx="1066800" cy="307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Channel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416" name="Group 415"/>
          <p:cNvGrpSpPr/>
          <p:nvPr/>
        </p:nvGrpSpPr>
        <p:grpSpPr>
          <a:xfrm>
            <a:off x="9081333" y="4072566"/>
            <a:ext cx="250710" cy="228717"/>
            <a:chOff x="2867819" y="2569368"/>
            <a:chExt cx="250710" cy="228717"/>
          </a:xfrm>
        </p:grpSpPr>
        <p:sp>
          <p:nvSpPr>
            <p:cNvPr id="417" name="Oval 416"/>
            <p:cNvSpPr/>
            <p:nvPr/>
          </p:nvSpPr>
          <p:spPr bwMode="gray">
            <a:xfrm>
              <a:off x="2907449" y="2593239"/>
              <a:ext cx="171450" cy="180975"/>
            </a:xfrm>
            <a:prstGeom prst="ellipse">
              <a:avLst/>
            </a:prstGeom>
            <a:solidFill>
              <a:srgbClr val="4066B2"/>
            </a:solidFill>
            <a:ln w="12700" cap="rnd" algn="ctr">
              <a:noFill/>
              <a:miter lim="800000"/>
              <a:headEnd/>
              <a:tailEnd/>
            </a:ln>
          </p:spPr>
          <p:txBody>
            <a:bodyPr lIns="182880" rtlCol="0" anchor="ctr" anchorCtr="1"/>
            <a:lstStyle/>
            <a:p>
              <a:pPr marL="0" marR="0" lvl="0" indent="0" algn="ctr" defTabSz="914400" eaLnBrk="0" fontAlgn="base" latinLnBrk="0" hangingPunct="0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 pitchFamily="34" charset="0"/>
              </a:endParaRP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2867819" y="2569368"/>
              <a:ext cx="250710" cy="22871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169863" marR="0" lvl="0" indent="-168275" defTabSz="914400" eaLnBrk="1" fontAlgn="base" latinLnBrk="0" hangingPunct="1">
                <a:lnSpc>
                  <a:spcPct val="106000"/>
                </a:lnSpc>
                <a:spcBef>
                  <a:spcPct val="8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charset="0"/>
                </a:rPr>
                <a:t>3</a:t>
              </a:r>
            </a:p>
          </p:txBody>
        </p:sp>
      </p:grpSp>
      <p:sp>
        <p:nvSpPr>
          <p:cNvPr id="419" name="Pentagon 418"/>
          <p:cNvSpPr/>
          <p:nvPr/>
        </p:nvSpPr>
        <p:spPr bwMode="auto">
          <a:xfrm rot="5400000">
            <a:off x="9808633" y="3481856"/>
            <a:ext cx="197752" cy="2993679"/>
          </a:xfrm>
          <a:prstGeom prst="homePlate">
            <a:avLst>
              <a:gd name="adj" fmla="val 100000"/>
            </a:avLst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b="1" kern="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5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Company, Cluster and Group level Analytics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white"/>
                </a:solidFill>
              </a:rPr>
              <a:pPr/>
              <a:t>9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8356" y="1217086"/>
            <a:ext cx="11500945" cy="582362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0C336D"/>
                </a:solidFill>
              </a:rPr>
              <a:t>Leverage the Group’s Business knowledge to increase customer base and size of wallet thus multiplying Revenues coupled with decreasing Operational Expenses</a:t>
            </a:r>
            <a:endParaRPr lang="en-IN" dirty="0">
              <a:solidFill>
                <a:srgbClr val="0C336D"/>
              </a:solidFill>
            </a:endParaRPr>
          </a:p>
        </p:txBody>
      </p:sp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099553"/>
              </p:ext>
            </p:extLst>
          </p:nvPr>
        </p:nvGraphicFramePr>
        <p:xfrm>
          <a:off x="717317" y="2429937"/>
          <a:ext cx="2902581" cy="1612851"/>
        </p:xfrm>
        <a:graphic>
          <a:graphicData uri="http://schemas.openxmlformats.org/drawingml/2006/table">
            <a:tbl>
              <a:tblPr/>
              <a:tblGrid>
                <a:gridCol w="944588"/>
                <a:gridCol w="968301"/>
                <a:gridCol w="989692"/>
              </a:tblGrid>
              <a:tr h="4004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 smtClean="0">
                        <a:solidFill>
                          <a:schemeClr val="bg1"/>
                        </a:solidFill>
                        <a:latin typeface="Palatino Linotype" panose="02040502050505030304"/>
                        <a:ea typeface=""/>
                        <a:cs typeface="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7E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4004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004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4004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  <a:alpha val="99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283657"/>
              </p:ext>
            </p:extLst>
          </p:nvPr>
        </p:nvGraphicFramePr>
        <p:xfrm>
          <a:off x="3794922" y="1946242"/>
          <a:ext cx="2509133" cy="1219200"/>
        </p:xfrm>
        <a:graphic>
          <a:graphicData uri="http://schemas.openxmlformats.org/drawingml/2006/table">
            <a:tbl>
              <a:tblPr/>
              <a:tblGrid>
                <a:gridCol w="438744"/>
                <a:gridCol w="2070389"/>
              </a:tblGrid>
              <a:tr h="2719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endParaRPr lang="en-US"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400" dirty="0" smtClean="0"/>
                        <a:t>High Value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19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endParaRPr lang="en-US"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400" dirty="0" smtClean="0"/>
                        <a:t>Medium</a:t>
                      </a:r>
                      <a:r>
                        <a:rPr lang="en-US" sz="1400" baseline="0" dirty="0" smtClean="0"/>
                        <a:t> Value</a:t>
                      </a: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19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endParaRPr lang="en-US"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400" dirty="0" smtClean="0"/>
                        <a:t>Low</a:t>
                      </a:r>
                      <a:r>
                        <a:rPr lang="en-US" sz="1400" baseline="0" dirty="0" smtClean="0"/>
                        <a:t> Value</a:t>
                      </a:r>
                      <a:endParaRPr lang="en-US" sz="1400" dirty="0" smtClean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1945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No relationship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5" name="Group 74"/>
          <p:cNvGrpSpPr/>
          <p:nvPr/>
        </p:nvGrpSpPr>
        <p:grpSpPr>
          <a:xfrm>
            <a:off x="70762" y="1800835"/>
            <a:ext cx="3489966" cy="2214854"/>
            <a:chOff x="307312" y="1939442"/>
            <a:chExt cx="3489966" cy="2294839"/>
          </a:xfrm>
        </p:grpSpPr>
        <p:sp>
          <p:nvSpPr>
            <p:cNvPr id="76" name="Freeform 124"/>
            <p:cNvSpPr>
              <a:spLocks/>
            </p:cNvSpPr>
            <p:nvPr/>
          </p:nvSpPr>
          <p:spPr bwMode="auto">
            <a:xfrm>
              <a:off x="643540" y="2639970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ACCBF9">
                <a:lumMod val="25000"/>
              </a:srgbClr>
            </a:solidFill>
            <a:ln>
              <a:solidFill>
                <a:srgbClr val="ACCBF9">
                  <a:lumMod val="25000"/>
                </a:srgbClr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77" name="Freeform 124"/>
            <p:cNvSpPr>
              <a:spLocks/>
            </p:cNvSpPr>
            <p:nvPr/>
          </p:nvSpPr>
          <p:spPr bwMode="auto">
            <a:xfrm>
              <a:off x="643540" y="3071833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ACCBF9">
                <a:lumMod val="25000"/>
                <a:alpha val="50000"/>
              </a:srgbClr>
            </a:solidFill>
            <a:ln>
              <a:solidFill>
                <a:srgbClr val="ACCBF9">
                  <a:lumMod val="25000"/>
                  <a:alpha val="50000"/>
                </a:srgbClr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78" name="Freeform 124"/>
            <p:cNvSpPr>
              <a:spLocks/>
            </p:cNvSpPr>
            <p:nvPr/>
          </p:nvSpPr>
          <p:spPr bwMode="auto">
            <a:xfrm>
              <a:off x="643540" y="3496943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79" name="Freeform 124"/>
            <p:cNvSpPr>
              <a:spLocks/>
            </p:cNvSpPr>
            <p:nvPr/>
          </p:nvSpPr>
          <p:spPr bwMode="auto">
            <a:xfrm>
              <a:off x="643540" y="3937419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982868" y="2239889"/>
              <a:ext cx="896390" cy="302576"/>
            </a:xfrm>
            <a:prstGeom prst="roundRect">
              <a:avLst/>
            </a:prstGeom>
            <a:solidFill>
              <a:srgbClr val="103B73"/>
            </a:solidFill>
            <a:ln w="6350" cap="flat" cmpd="sng" algn="ctr">
              <a:solidFill>
                <a:srgbClr val="113E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sz="1400" kern="0" dirty="0">
                  <a:solidFill>
                    <a:prstClr val="white"/>
                  </a:solidFill>
                  <a:latin typeface="Palatino Linotype" panose="02040502050505030304"/>
                </a:rPr>
                <a:t>Retail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734750" y="1939442"/>
              <a:ext cx="12666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>
                <a:defRPr/>
              </a:pPr>
              <a:r>
                <a:rPr lang="en-US" sz="1400" b="1" kern="0" dirty="0">
                  <a:solidFill>
                    <a:prstClr val="black"/>
                  </a:solidFill>
                  <a:latin typeface="Palatino Linotype"/>
                </a:rPr>
                <a:t>Tata Clusters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 rot="16200000">
              <a:off x="-70355" y="3166068"/>
              <a:ext cx="10631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>
                <a:defRPr/>
              </a:pPr>
              <a:r>
                <a:rPr lang="en-US" sz="1400" b="1" kern="0" dirty="0">
                  <a:solidFill>
                    <a:prstClr val="black"/>
                  </a:solidFill>
                  <a:latin typeface="Palatino Linotype"/>
                </a:rPr>
                <a:t>Customers</a:t>
              </a:r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1912584" y="2241075"/>
              <a:ext cx="924965" cy="302576"/>
            </a:xfrm>
            <a:prstGeom prst="roundRect">
              <a:avLst/>
            </a:prstGeom>
            <a:solidFill>
              <a:srgbClr val="103B73"/>
            </a:solidFill>
            <a:ln w="6350" cap="flat" cmpd="sng" algn="ctr">
              <a:solidFill>
                <a:srgbClr val="113E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sz="1400" kern="0" dirty="0">
                  <a:solidFill>
                    <a:prstClr val="white"/>
                  </a:solidFill>
                  <a:latin typeface="Palatino Linotype" panose="02040502050505030304"/>
                </a:rPr>
                <a:t>Hotels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2870588" y="2245297"/>
              <a:ext cx="926690" cy="302577"/>
            </a:xfrm>
            <a:prstGeom prst="roundRect">
              <a:avLst/>
            </a:prstGeom>
            <a:solidFill>
              <a:srgbClr val="103B73"/>
            </a:solidFill>
            <a:ln w="6350" cap="flat" cmpd="sng" algn="ctr">
              <a:solidFill>
                <a:srgbClr val="113E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sz="1400" kern="0" dirty="0">
                  <a:solidFill>
                    <a:prstClr val="white"/>
                  </a:solidFill>
                  <a:latin typeface="Palatino Linotype" panose="02040502050505030304"/>
                </a:rPr>
                <a:t>Finance</a:t>
              </a:r>
            </a:p>
          </p:txBody>
        </p:sp>
      </p:grpSp>
      <p:cxnSp>
        <p:nvCxnSpPr>
          <p:cNvPr id="85" name="Straight Connector 84"/>
          <p:cNvCxnSpPr/>
          <p:nvPr/>
        </p:nvCxnSpPr>
        <p:spPr>
          <a:xfrm>
            <a:off x="590424" y="1829399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600013"/>
              </p:ext>
            </p:extLst>
          </p:nvPr>
        </p:nvGraphicFramePr>
        <p:xfrm>
          <a:off x="3712620" y="5053890"/>
          <a:ext cx="2327549" cy="1005840"/>
        </p:xfrm>
        <a:graphic>
          <a:graphicData uri="http://schemas.openxmlformats.org/drawingml/2006/table">
            <a:tbl>
              <a:tblPr/>
              <a:tblGrid>
                <a:gridCol w="519489"/>
                <a:gridCol w="1808060"/>
              </a:tblGrid>
              <a:tr h="2575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600" dirty="0" smtClean="0"/>
                        <a:t>@</a:t>
                      </a:r>
                      <a:endParaRPr lang="en-US" sz="16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400" dirty="0" smtClean="0"/>
                        <a:t>Little or no benefit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75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600" dirty="0" smtClean="0"/>
                        <a:t>+</a:t>
                      </a:r>
                      <a:endParaRPr lang="en-US" sz="16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400" dirty="0" smtClean="0"/>
                        <a:t>Medium Benefit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75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600" dirty="0" smtClean="0"/>
                        <a:t>++</a:t>
                      </a:r>
                      <a:endParaRPr lang="en-US" sz="16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400" dirty="0" smtClean="0"/>
                        <a:t>High Benefit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7" name="Table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963973"/>
              </p:ext>
            </p:extLst>
          </p:nvPr>
        </p:nvGraphicFramePr>
        <p:xfrm>
          <a:off x="694803" y="5007941"/>
          <a:ext cx="2865927" cy="1693606"/>
        </p:xfrm>
        <a:graphic>
          <a:graphicData uri="http://schemas.openxmlformats.org/drawingml/2006/table">
            <a:tbl>
              <a:tblPr/>
              <a:tblGrid>
                <a:gridCol w="932660"/>
                <a:gridCol w="956073"/>
                <a:gridCol w="977194"/>
              </a:tblGrid>
              <a:tr h="4235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@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++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5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@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+++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5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+++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@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5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++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@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 panose="02040502050505030304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51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+++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3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++++++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3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+++++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3871"/>
                    </a:solidFill>
                  </a:tcPr>
                </a:tc>
              </a:tr>
            </a:tbl>
          </a:graphicData>
        </a:graphic>
      </p:graphicFrame>
      <p:grpSp>
        <p:nvGrpSpPr>
          <p:cNvPr id="88" name="Group 87"/>
          <p:cNvGrpSpPr/>
          <p:nvPr/>
        </p:nvGrpSpPr>
        <p:grpSpPr>
          <a:xfrm>
            <a:off x="47697" y="4655639"/>
            <a:ext cx="3513032" cy="1674466"/>
            <a:chOff x="335763" y="2239889"/>
            <a:chExt cx="3513032" cy="2045908"/>
          </a:xfrm>
        </p:grpSpPr>
        <p:sp>
          <p:nvSpPr>
            <p:cNvPr id="89" name="Freeform 124"/>
            <p:cNvSpPr>
              <a:spLocks/>
            </p:cNvSpPr>
            <p:nvPr/>
          </p:nvSpPr>
          <p:spPr bwMode="auto">
            <a:xfrm>
              <a:off x="643540" y="2691486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ACCBF9">
                <a:lumMod val="25000"/>
              </a:srgbClr>
            </a:solidFill>
            <a:ln>
              <a:solidFill>
                <a:srgbClr val="ACCBF9">
                  <a:lumMod val="25000"/>
                </a:srgbClr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90" name="Freeform 124"/>
            <p:cNvSpPr>
              <a:spLocks/>
            </p:cNvSpPr>
            <p:nvPr/>
          </p:nvSpPr>
          <p:spPr bwMode="auto">
            <a:xfrm>
              <a:off x="643540" y="3123349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ACCBF9">
                <a:lumMod val="25000"/>
                <a:alpha val="50000"/>
              </a:srgbClr>
            </a:solidFill>
            <a:ln>
              <a:solidFill>
                <a:srgbClr val="ACCBF9">
                  <a:lumMod val="25000"/>
                  <a:alpha val="50000"/>
                </a:srgbClr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91" name="Freeform 124"/>
            <p:cNvSpPr>
              <a:spLocks/>
            </p:cNvSpPr>
            <p:nvPr/>
          </p:nvSpPr>
          <p:spPr bwMode="auto">
            <a:xfrm>
              <a:off x="643540" y="3548459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92" name="Freeform 124"/>
            <p:cNvSpPr>
              <a:spLocks/>
            </p:cNvSpPr>
            <p:nvPr/>
          </p:nvSpPr>
          <p:spPr bwMode="auto">
            <a:xfrm>
              <a:off x="643540" y="3988935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1008626" y="2239889"/>
              <a:ext cx="896390" cy="302576"/>
            </a:xfrm>
            <a:prstGeom prst="roundRect">
              <a:avLst/>
            </a:prstGeom>
            <a:solidFill>
              <a:srgbClr val="103B73"/>
            </a:solidFill>
            <a:ln w="6350" cap="flat" cmpd="sng" algn="ctr">
              <a:solidFill>
                <a:srgbClr val="113E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sz="1400" kern="0" dirty="0">
                  <a:solidFill>
                    <a:prstClr val="white"/>
                  </a:solidFill>
                  <a:latin typeface="Palatino Linotype" panose="02040502050505030304"/>
                </a:rPr>
                <a:t>Retail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 rot="16200000">
              <a:off x="-41904" y="3366016"/>
              <a:ext cx="10631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>
                <a:defRPr/>
              </a:pPr>
              <a:r>
                <a:rPr lang="en-US" sz="1400" b="1" kern="0" dirty="0">
                  <a:solidFill>
                    <a:prstClr val="black"/>
                  </a:solidFill>
                  <a:latin typeface="Palatino Linotype"/>
                </a:rPr>
                <a:t>Customers</a:t>
              </a:r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1938342" y="2241075"/>
              <a:ext cx="924965" cy="302576"/>
            </a:xfrm>
            <a:prstGeom prst="roundRect">
              <a:avLst/>
            </a:prstGeom>
            <a:solidFill>
              <a:srgbClr val="103B73"/>
            </a:solidFill>
            <a:ln w="6350" cap="flat" cmpd="sng" algn="ctr">
              <a:solidFill>
                <a:srgbClr val="113E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sz="1400" kern="0" dirty="0">
                  <a:solidFill>
                    <a:prstClr val="white"/>
                  </a:solidFill>
                  <a:latin typeface="Palatino Linotype" panose="02040502050505030304"/>
                </a:rPr>
                <a:t>Hotels</a:t>
              </a:r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2922105" y="2247219"/>
              <a:ext cx="926690" cy="300655"/>
            </a:xfrm>
            <a:prstGeom prst="roundRect">
              <a:avLst/>
            </a:prstGeom>
            <a:solidFill>
              <a:srgbClr val="103B73"/>
            </a:solidFill>
            <a:ln w="6350" cap="flat" cmpd="sng" algn="ctr">
              <a:solidFill>
                <a:srgbClr val="113E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sz="1400" kern="0" dirty="0">
                  <a:solidFill>
                    <a:prstClr val="white"/>
                  </a:solidFill>
                  <a:latin typeface="Palatino Linotype" panose="02040502050505030304"/>
                </a:rPr>
                <a:t>Finance</a:t>
              </a:r>
            </a:p>
          </p:txBody>
        </p:sp>
      </p:grpSp>
      <p:sp>
        <p:nvSpPr>
          <p:cNvPr id="97" name="Rectangle 96"/>
          <p:cNvSpPr/>
          <p:nvPr/>
        </p:nvSpPr>
        <p:spPr>
          <a:xfrm>
            <a:off x="672428" y="6330105"/>
            <a:ext cx="2900782" cy="424861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98" name="TextBox 97"/>
          <p:cNvSpPr txBox="1"/>
          <p:nvPr/>
        </p:nvSpPr>
        <p:spPr bwMode="gray">
          <a:xfrm>
            <a:off x="4135089" y="6369862"/>
            <a:ext cx="914400" cy="34534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i="1" dirty="0">
                <a:solidFill>
                  <a:prstClr val="black"/>
                </a:solidFill>
              </a:rPr>
              <a:t>Cumulative Benefit</a:t>
            </a:r>
            <a:endParaRPr lang="en-IN" sz="1400" b="1" i="1" dirty="0">
              <a:solidFill>
                <a:prstClr val="black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 rot="5400000">
            <a:off x="1355119" y="2741733"/>
            <a:ext cx="1550969" cy="975793"/>
          </a:xfrm>
          <a:prstGeom prst="rect">
            <a:avLst/>
          </a:prstGeom>
          <a:noFill/>
          <a:ln w="444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720560" y="3666854"/>
            <a:ext cx="2886495" cy="359638"/>
          </a:xfrm>
          <a:prstGeom prst="rect">
            <a:avLst/>
          </a:prstGeom>
          <a:noFill/>
          <a:ln w="38100">
            <a:solidFill>
              <a:srgbClr val="0F3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cxnSp>
        <p:nvCxnSpPr>
          <p:cNvPr id="102" name="Straight Arrow Connector 101"/>
          <p:cNvCxnSpPr/>
          <p:nvPr/>
        </p:nvCxnSpPr>
        <p:spPr>
          <a:xfrm flipV="1">
            <a:off x="2281382" y="3465878"/>
            <a:ext cx="2006639" cy="6995"/>
          </a:xfrm>
          <a:prstGeom prst="straightConnector1">
            <a:avLst/>
          </a:prstGeom>
          <a:ln w="25400">
            <a:solidFill>
              <a:srgbClr val="0F39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 bwMode="gray">
          <a:xfrm>
            <a:off x="4205246" y="3796623"/>
            <a:ext cx="914400" cy="26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i="1" dirty="0">
                <a:solidFill>
                  <a:prstClr val="black"/>
                </a:solidFill>
              </a:rPr>
              <a:t>Customer Level </a:t>
            </a:r>
          </a:p>
          <a:p>
            <a:r>
              <a:rPr lang="en-US" sz="1400" i="1" dirty="0">
                <a:solidFill>
                  <a:prstClr val="black"/>
                </a:solidFill>
              </a:rPr>
              <a:t>Relationship</a:t>
            </a:r>
            <a:endParaRPr lang="en-IN" sz="1400" i="1" dirty="0">
              <a:solidFill>
                <a:prstClr val="black"/>
              </a:solidFill>
            </a:endParaRPr>
          </a:p>
        </p:txBody>
      </p:sp>
      <p:sp>
        <p:nvSpPr>
          <p:cNvPr id="104" name="TextBox 103"/>
          <p:cNvSpPr txBox="1"/>
          <p:nvPr/>
        </p:nvSpPr>
        <p:spPr bwMode="gray">
          <a:xfrm>
            <a:off x="4220860" y="3330919"/>
            <a:ext cx="914400" cy="26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i="1" dirty="0">
                <a:solidFill>
                  <a:prstClr val="black"/>
                </a:solidFill>
              </a:rPr>
              <a:t>Cluster Level </a:t>
            </a:r>
          </a:p>
          <a:p>
            <a:r>
              <a:rPr lang="en-US" sz="1400" i="1" dirty="0">
                <a:solidFill>
                  <a:prstClr val="black"/>
                </a:solidFill>
              </a:rPr>
              <a:t>Association</a:t>
            </a:r>
            <a:endParaRPr lang="en-IN" sz="1400" i="1" dirty="0">
              <a:solidFill>
                <a:prstClr val="black"/>
              </a:solidFill>
            </a:endParaRPr>
          </a:p>
        </p:txBody>
      </p:sp>
      <p:grpSp>
        <p:nvGrpSpPr>
          <p:cNvPr id="105" name="Group 104"/>
          <p:cNvGrpSpPr/>
          <p:nvPr/>
        </p:nvGrpSpPr>
        <p:grpSpPr>
          <a:xfrm>
            <a:off x="6741994" y="1896744"/>
            <a:ext cx="5241863" cy="4234049"/>
            <a:chOff x="6178308" y="2007871"/>
            <a:chExt cx="5241863" cy="4234049"/>
          </a:xfrm>
        </p:grpSpPr>
        <p:cxnSp>
          <p:nvCxnSpPr>
            <p:cNvPr id="106" name="Straight Arrow Connector 105"/>
            <p:cNvCxnSpPr/>
            <p:nvPr/>
          </p:nvCxnSpPr>
          <p:spPr>
            <a:xfrm flipV="1">
              <a:off x="6211775" y="2804848"/>
              <a:ext cx="5170459" cy="2101912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Group 106"/>
            <p:cNvGrpSpPr/>
            <p:nvPr/>
          </p:nvGrpSpPr>
          <p:grpSpPr>
            <a:xfrm>
              <a:off x="6178308" y="2007871"/>
              <a:ext cx="5241863" cy="3999090"/>
              <a:chOff x="6259005" y="1844347"/>
              <a:chExt cx="4863372" cy="3321449"/>
            </a:xfrm>
          </p:grpSpPr>
          <p:cxnSp>
            <p:nvCxnSpPr>
              <p:cNvPr id="137" name="Straight Connector 136"/>
              <p:cNvCxnSpPr/>
              <p:nvPr/>
            </p:nvCxnSpPr>
            <p:spPr>
              <a:xfrm>
                <a:off x="6280938" y="4270857"/>
                <a:ext cx="1613813" cy="0"/>
              </a:xfrm>
              <a:prstGeom prst="line">
                <a:avLst/>
              </a:prstGeom>
              <a:ln w="28575">
                <a:solidFill>
                  <a:srgbClr val="ACD4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>
              <a:xfrm flipV="1">
                <a:off x="7894751" y="3690563"/>
                <a:ext cx="0" cy="580296"/>
              </a:xfrm>
              <a:prstGeom prst="line">
                <a:avLst/>
              </a:prstGeom>
              <a:ln w="28575">
                <a:solidFill>
                  <a:srgbClr val="ACD4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>
                <a:off x="7894751" y="3690563"/>
                <a:ext cx="1613813" cy="0"/>
              </a:xfrm>
              <a:prstGeom prst="line">
                <a:avLst/>
              </a:prstGeom>
              <a:ln w="28575">
                <a:solidFill>
                  <a:srgbClr val="ACD4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>
              <a:xfrm flipV="1">
                <a:off x="9508564" y="3111976"/>
                <a:ext cx="0" cy="580296"/>
              </a:xfrm>
              <a:prstGeom prst="line">
                <a:avLst/>
              </a:prstGeom>
              <a:ln w="28575">
                <a:solidFill>
                  <a:srgbClr val="ACD4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>
              <a:xfrm>
                <a:off x="9508564" y="3112902"/>
                <a:ext cx="1613813" cy="0"/>
              </a:xfrm>
              <a:prstGeom prst="line">
                <a:avLst/>
              </a:prstGeom>
              <a:ln w="28575">
                <a:solidFill>
                  <a:srgbClr val="ACD4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2" name="Group 141"/>
              <p:cNvGrpSpPr/>
              <p:nvPr/>
            </p:nvGrpSpPr>
            <p:grpSpPr>
              <a:xfrm>
                <a:off x="6259005" y="1844347"/>
                <a:ext cx="4828174" cy="3321449"/>
                <a:chOff x="1042678" y="2509406"/>
                <a:chExt cx="3439859" cy="2558804"/>
              </a:xfrm>
            </p:grpSpPr>
            <p:cxnSp>
              <p:nvCxnSpPr>
                <p:cNvPr id="143" name="Straight Arrow Connector 142"/>
                <p:cNvCxnSpPr/>
                <p:nvPr/>
              </p:nvCxnSpPr>
              <p:spPr>
                <a:xfrm flipV="1">
                  <a:off x="1054399" y="5056928"/>
                  <a:ext cx="3428138" cy="2072"/>
                </a:xfrm>
                <a:prstGeom prst="straightConnector1">
                  <a:avLst/>
                </a:prstGeom>
                <a:ln w="28575">
                  <a:solidFill>
                    <a:srgbClr val="1C5785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Arrow Connector 143"/>
                <p:cNvCxnSpPr/>
                <p:nvPr/>
              </p:nvCxnSpPr>
              <p:spPr>
                <a:xfrm flipV="1">
                  <a:off x="1042678" y="2509406"/>
                  <a:ext cx="11721" cy="2558804"/>
                </a:xfrm>
                <a:prstGeom prst="straightConnector1">
                  <a:avLst/>
                </a:prstGeom>
                <a:ln w="28575">
                  <a:solidFill>
                    <a:srgbClr val="1C5785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8" name="Freeform 124"/>
            <p:cNvSpPr>
              <a:spLocks/>
            </p:cNvSpPr>
            <p:nvPr/>
          </p:nvSpPr>
          <p:spPr bwMode="auto">
            <a:xfrm>
              <a:off x="6689232" y="5186656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ACCBF9">
                <a:lumMod val="25000"/>
              </a:srgbClr>
            </a:solidFill>
            <a:ln>
              <a:solidFill>
                <a:srgbClr val="ACCBF9">
                  <a:lumMod val="25000"/>
                </a:srgbClr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109" name="Freeform 124"/>
            <p:cNvSpPr>
              <a:spLocks/>
            </p:cNvSpPr>
            <p:nvPr/>
          </p:nvSpPr>
          <p:spPr bwMode="auto">
            <a:xfrm>
              <a:off x="7288663" y="5186012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110" name="Freeform 124"/>
            <p:cNvSpPr>
              <a:spLocks/>
            </p:cNvSpPr>
            <p:nvPr/>
          </p:nvSpPr>
          <p:spPr bwMode="auto">
            <a:xfrm>
              <a:off x="8188200" y="4338337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ACCBF9">
                <a:lumMod val="25000"/>
              </a:srgbClr>
            </a:solidFill>
            <a:ln>
              <a:solidFill>
                <a:srgbClr val="ACCBF9">
                  <a:lumMod val="25000"/>
                </a:srgbClr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111" name="Freeform 124"/>
            <p:cNvSpPr>
              <a:spLocks/>
            </p:cNvSpPr>
            <p:nvPr/>
          </p:nvSpPr>
          <p:spPr bwMode="auto">
            <a:xfrm>
              <a:off x="9277691" y="4338337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112" name="Freeform 124"/>
            <p:cNvSpPr>
              <a:spLocks/>
            </p:cNvSpPr>
            <p:nvPr/>
          </p:nvSpPr>
          <p:spPr bwMode="auto">
            <a:xfrm>
              <a:off x="8758678" y="4351343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ACCBF9">
                <a:lumMod val="25000"/>
                <a:alpha val="50000"/>
              </a:srgbClr>
            </a:solidFill>
            <a:ln>
              <a:solidFill>
                <a:srgbClr val="ACCBF9">
                  <a:lumMod val="25000"/>
                  <a:alpha val="50000"/>
                </a:srgbClr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113" name="Freeform 124"/>
            <p:cNvSpPr>
              <a:spLocks/>
            </p:cNvSpPr>
            <p:nvPr/>
          </p:nvSpPr>
          <p:spPr bwMode="auto">
            <a:xfrm>
              <a:off x="10112227" y="3674800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ACCBF9">
                <a:lumMod val="25000"/>
              </a:srgbClr>
            </a:solidFill>
            <a:ln>
              <a:solidFill>
                <a:srgbClr val="ACCBF9">
                  <a:lumMod val="25000"/>
                </a:srgbClr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auto">
            <a:xfrm>
              <a:off x="10803839" y="3674800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115" name="Freeform 124"/>
            <p:cNvSpPr>
              <a:spLocks/>
            </p:cNvSpPr>
            <p:nvPr/>
          </p:nvSpPr>
          <p:spPr bwMode="auto">
            <a:xfrm>
              <a:off x="10099485" y="4093293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ACCBF9">
                <a:lumMod val="25000"/>
                <a:alpha val="50000"/>
              </a:srgbClr>
            </a:solidFill>
            <a:ln>
              <a:solidFill>
                <a:srgbClr val="ACCBF9">
                  <a:lumMod val="25000"/>
                  <a:alpha val="50000"/>
                </a:srgbClr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sp>
          <p:nvSpPr>
            <p:cNvPr id="116" name="Freeform 124"/>
            <p:cNvSpPr>
              <a:spLocks/>
            </p:cNvSpPr>
            <p:nvPr/>
          </p:nvSpPr>
          <p:spPr bwMode="auto">
            <a:xfrm>
              <a:off x="10798784" y="4093530"/>
              <a:ext cx="234950" cy="296862"/>
            </a:xfrm>
            <a:custGeom>
              <a:avLst/>
              <a:gdLst>
                <a:gd name="T0" fmla="*/ 15 w 148"/>
                <a:gd name="T1" fmla="*/ 185 h 187"/>
                <a:gd name="T2" fmla="*/ 2 w 148"/>
                <a:gd name="T3" fmla="*/ 172 h 187"/>
                <a:gd name="T4" fmla="*/ 0 w 148"/>
                <a:gd name="T5" fmla="*/ 123 h 187"/>
                <a:gd name="T6" fmla="*/ 4 w 148"/>
                <a:gd name="T7" fmla="*/ 108 h 187"/>
                <a:gd name="T8" fmla="*/ 20 w 148"/>
                <a:gd name="T9" fmla="*/ 98 h 187"/>
                <a:gd name="T10" fmla="*/ 39 w 148"/>
                <a:gd name="T11" fmla="*/ 98 h 187"/>
                <a:gd name="T12" fmla="*/ 45 w 148"/>
                <a:gd name="T13" fmla="*/ 96 h 187"/>
                <a:gd name="T14" fmla="*/ 46 w 148"/>
                <a:gd name="T15" fmla="*/ 82 h 187"/>
                <a:gd name="T16" fmla="*/ 39 w 148"/>
                <a:gd name="T17" fmla="*/ 75 h 187"/>
                <a:gd name="T18" fmla="*/ 30 w 148"/>
                <a:gd name="T19" fmla="*/ 55 h 187"/>
                <a:gd name="T20" fmla="*/ 29 w 148"/>
                <a:gd name="T21" fmla="*/ 46 h 187"/>
                <a:gd name="T22" fmla="*/ 36 w 148"/>
                <a:gd name="T23" fmla="*/ 20 h 187"/>
                <a:gd name="T24" fmla="*/ 65 w 148"/>
                <a:gd name="T25" fmla="*/ 0 h 187"/>
                <a:gd name="T26" fmla="*/ 74 w 148"/>
                <a:gd name="T27" fmla="*/ 0 h 187"/>
                <a:gd name="T28" fmla="*/ 99 w 148"/>
                <a:gd name="T29" fmla="*/ 7 h 187"/>
                <a:gd name="T30" fmla="*/ 119 w 148"/>
                <a:gd name="T31" fmla="*/ 36 h 187"/>
                <a:gd name="T32" fmla="*/ 120 w 148"/>
                <a:gd name="T33" fmla="*/ 46 h 187"/>
                <a:gd name="T34" fmla="*/ 115 w 148"/>
                <a:gd name="T35" fmla="*/ 66 h 187"/>
                <a:gd name="T36" fmla="*/ 102 w 148"/>
                <a:gd name="T37" fmla="*/ 82 h 187"/>
                <a:gd name="T38" fmla="*/ 99 w 148"/>
                <a:gd name="T39" fmla="*/ 83 h 187"/>
                <a:gd name="T40" fmla="*/ 90 w 148"/>
                <a:gd name="T41" fmla="*/ 80 h 187"/>
                <a:gd name="T42" fmla="*/ 89 w 148"/>
                <a:gd name="T43" fmla="*/ 70 h 187"/>
                <a:gd name="T44" fmla="*/ 95 w 148"/>
                <a:gd name="T45" fmla="*/ 62 h 187"/>
                <a:gd name="T46" fmla="*/ 101 w 148"/>
                <a:gd name="T47" fmla="*/ 46 h 187"/>
                <a:gd name="T48" fmla="*/ 97 w 148"/>
                <a:gd name="T49" fmla="*/ 30 h 187"/>
                <a:gd name="T50" fmla="*/ 80 w 148"/>
                <a:gd name="T51" fmla="*/ 19 h 187"/>
                <a:gd name="T52" fmla="*/ 69 w 148"/>
                <a:gd name="T53" fmla="*/ 19 h 187"/>
                <a:gd name="T54" fmla="*/ 52 w 148"/>
                <a:gd name="T55" fmla="*/ 30 h 187"/>
                <a:gd name="T56" fmla="*/ 47 w 148"/>
                <a:gd name="T57" fmla="*/ 46 h 187"/>
                <a:gd name="T58" fmla="*/ 51 w 148"/>
                <a:gd name="T59" fmla="*/ 60 h 187"/>
                <a:gd name="T60" fmla="*/ 57 w 148"/>
                <a:gd name="T61" fmla="*/ 67 h 187"/>
                <a:gd name="T62" fmla="*/ 64 w 148"/>
                <a:gd name="T63" fmla="*/ 72 h 187"/>
                <a:gd name="T64" fmla="*/ 62 w 148"/>
                <a:gd name="T65" fmla="*/ 102 h 187"/>
                <a:gd name="T66" fmla="*/ 56 w 148"/>
                <a:gd name="T67" fmla="*/ 110 h 187"/>
                <a:gd name="T68" fmla="*/ 39 w 148"/>
                <a:gd name="T69" fmla="*/ 116 h 187"/>
                <a:gd name="T70" fmla="*/ 22 w 148"/>
                <a:gd name="T71" fmla="*/ 117 h 187"/>
                <a:gd name="T72" fmla="*/ 18 w 148"/>
                <a:gd name="T73" fmla="*/ 123 h 187"/>
                <a:gd name="T74" fmla="*/ 20 w 148"/>
                <a:gd name="T75" fmla="*/ 167 h 187"/>
                <a:gd name="T76" fmla="*/ 123 w 148"/>
                <a:gd name="T77" fmla="*/ 169 h 187"/>
                <a:gd name="T78" fmla="*/ 129 w 148"/>
                <a:gd name="T79" fmla="*/ 164 h 187"/>
                <a:gd name="T80" fmla="*/ 129 w 148"/>
                <a:gd name="T81" fmla="*/ 128 h 187"/>
                <a:gd name="T82" fmla="*/ 128 w 148"/>
                <a:gd name="T83" fmla="*/ 121 h 187"/>
                <a:gd name="T84" fmla="*/ 124 w 148"/>
                <a:gd name="T85" fmla="*/ 116 h 187"/>
                <a:gd name="T86" fmla="*/ 113 w 148"/>
                <a:gd name="T87" fmla="*/ 116 h 187"/>
                <a:gd name="T88" fmla="*/ 108 w 148"/>
                <a:gd name="T89" fmla="*/ 116 h 187"/>
                <a:gd name="T90" fmla="*/ 100 w 148"/>
                <a:gd name="T91" fmla="*/ 110 h 187"/>
                <a:gd name="T92" fmla="*/ 100 w 148"/>
                <a:gd name="T93" fmla="*/ 103 h 187"/>
                <a:gd name="T94" fmla="*/ 108 w 148"/>
                <a:gd name="T95" fmla="*/ 98 h 187"/>
                <a:gd name="T96" fmla="*/ 123 w 148"/>
                <a:gd name="T97" fmla="*/ 98 h 187"/>
                <a:gd name="T98" fmla="*/ 139 w 148"/>
                <a:gd name="T99" fmla="*/ 105 h 187"/>
                <a:gd name="T100" fmla="*/ 144 w 148"/>
                <a:gd name="T101" fmla="*/ 113 h 187"/>
                <a:gd name="T102" fmla="*/ 148 w 148"/>
                <a:gd name="T103" fmla="*/ 128 h 187"/>
                <a:gd name="T104" fmla="*/ 145 w 148"/>
                <a:gd name="T105" fmla="*/ 172 h 187"/>
                <a:gd name="T106" fmla="*/ 132 w 148"/>
                <a:gd name="T107" fmla="*/ 185 h 187"/>
                <a:gd name="T108" fmla="*/ 25 w 148"/>
                <a:gd name="T10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8" h="187">
                  <a:moveTo>
                    <a:pt x="25" y="187"/>
                  </a:moveTo>
                  <a:lnTo>
                    <a:pt x="25" y="187"/>
                  </a:lnTo>
                  <a:lnTo>
                    <a:pt x="20" y="186"/>
                  </a:lnTo>
                  <a:lnTo>
                    <a:pt x="15" y="185"/>
                  </a:lnTo>
                  <a:lnTo>
                    <a:pt x="11" y="183"/>
                  </a:lnTo>
                  <a:lnTo>
                    <a:pt x="7" y="180"/>
                  </a:lnTo>
                  <a:lnTo>
                    <a:pt x="4" y="176"/>
                  </a:lnTo>
                  <a:lnTo>
                    <a:pt x="2" y="172"/>
                  </a:lnTo>
                  <a:lnTo>
                    <a:pt x="1" y="167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18"/>
                  </a:lnTo>
                  <a:lnTo>
                    <a:pt x="2" y="113"/>
                  </a:lnTo>
                  <a:lnTo>
                    <a:pt x="4" y="108"/>
                  </a:lnTo>
                  <a:lnTo>
                    <a:pt x="7" y="105"/>
                  </a:lnTo>
                  <a:lnTo>
                    <a:pt x="11" y="101"/>
                  </a:lnTo>
                  <a:lnTo>
                    <a:pt x="15" y="99"/>
                  </a:lnTo>
                  <a:lnTo>
                    <a:pt x="20" y="98"/>
                  </a:lnTo>
                  <a:lnTo>
                    <a:pt x="25" y="98"/>
                  </a:lnTo>
                  <a:lnTo>
                    <a:pt x="25" y="98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43" y="97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6"/>
                  </a:lnTo>
                  <a:lnTo>
                    <a:pt x="45" y="95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3" y="79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9" y="75"/>
                  </a:lnTo>
                  <a:lnTo>
                    <a:pt x="36" y="70"/>
                  </a:lnTo>
                  <a:lnTo>
                    <a:pt x="32" y="63"/>
                  </a:lnTo>
                  <a:lnTo>
                    <a:pt x="30" y="55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1"/>
                  </a:lnTo>
                  <a:lnTo>
                    <a:pt x="30" y="36"/>
                  </a:lnTo>
                  <a:lnTo>
                    <a:pt x="33" y="28"/>
                  </a:lnTo>
                  <a:lnTo>
                    <a:pt x="36" y="20"/>
                  </a:lnTo>
                  <a:lnTo>
                    <a:pt x="42" y="14"/>
                  </a:lnTo>
                  <a:lnTo>
                    <a:pt x="49" y="7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70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92" y="4"/>
                  </a:lnTo>
                  <a:lnTo>
                    <a:pt x="99" y="7"/>
                  </a:lnTo>
                  <a:lnTo>
                    <a:pt x="106" y="14"/>
                  </a:lnTo>
                  <a:lnTo>
                    <a:pt x="112" y="20"/>
                  </a:lnTo>
                  <a:lnTo>
                    <a:pt x="116" y="28"/>
                  </a:lnTo>
                  <a:lnTo>
                    <a:pt x="119" y="36"/>
                  </a:lnTo>
                  <a:lnTo>
                    <a:pt x="120" y="41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20" y="46"/>
                  </a:lnTo>
                  <a:lnTo>
                    <a:pt x="119" y="51"/>
                  </a:lnTo>
                  <a:lnTo>
                    <a:pt x="118" y="56"/>
                  </a:lnTo>
                  <a:lnTo>
                    <a:pt x="117" y="61"/>
                  </a:lnTo>
                  <a:lnTo>
                    <a:pt x="115" y="66"/>
                  </a:lnTo>
                  <a:lnTo>
                    <a:pt x="113" y="70"/>
                  </a:lnTo>
                  <a:lnTo>
                    <a:pt x="110" y="74"/>
                  </a:lnTo>
                  <a:lnTo>
                    <a:pt x="106" y="78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102" y="82"/>
                  </a:lnTo>
                  <a:lnTo>
                    <a:pt x="99" y="83"/>
                  </a:lnTo>
                  <a:lnTo>
                    <a:pt x="96" y="83"/>
                  </a:lnTo>
                  <a:lnTo>
                    <a:pt x="92" y="82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88" y="77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1" y="67"/>
                  </a:lnTo>
                  <a:lnTo>
                    <a:pt x="95" y="62"/>
                  </a:lnTo>
                  <a:lnTo>
                    <a:pt x="98" y="58"/>
                  </a:lnTo>
                  <a:lnTo>
                    <a:pt x="101" y="52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6"/>
                  </a:lnTo>
                  <a:lnTo>
                    <a:pt x="101" y="40"/>
                  </a:lnTo>
                  <a:lnTo>
                    <a:pt x="99" y="35"/>
                  </a:lnTo>
                  <a:lnTo>
                    <a:pt x="97" y="30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5" y="20"/>
                  </a:lnTo>
                  <a:lnTo>
                    <a:pt x="80" y="19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69" y="19"/>
                  </a:lnTo>
                  <a:lnTo>
                    <a:pt x="64" y="20"/>
                  </a:lnTo>
                  <a:lnTo>
                    <a:pt x="59" y="23"/>
                  </a:lnTo>
                  <a:lnTo>
                    <a:pt x="55" y="26"/>
                  </a:lnTo>
                  <a:lnTo>
                    <a:pt x="52" y="30"/>
                  </a:lnTo>
                  <a:lnTo>
                    <a:pt x="49" y="35"/>
                  </a:lnTo>
                  <a:lnTo>
                    <a:pt x="48" y="40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8" y="51"/>
                  </a:lnTo>
                  <a:lnTo>
                    <a:pt x="49" y="56"/>
                  </a:lnTo>
                  <a:lnTo>
                    <a:pt x="51" y="60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3" y="63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4" y="7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8"/>
                  </a:lnTo>
                  <a:lnTo>
                    <a:pt x="62" y="102"/>
                  </a:lnTo>
                  <a:lnTo>
                    <a:pt x="60" y="107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6" y="110"/>
                  </a:lnTo>
                  <a:lnTo>
                    <a:pt x="52" y="113"/>
                  </a:lnTo>
                  <a:lnTo>
                    <a:pt x="49" y="114"/>
                  </a:lnTo>
                  <a:lnTo>
                    <a:pt x="44" y="115"/>
                  </a:lnTo>
                  <a:lnTo>
                    <a:pt x="39" y="116"/>
                  </a:lnTo>
                  <a:lnTo>
                    <a:pt x="39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2" y="117"/>
                  </a:lnTo>
                  <a:lnTo>
                    <a:pt x="20" y="118"/>
                  </a:lnTo>
                  <a:lnTo>
                    <a:pt x="19" y="120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62"/>
                  </a:lnTo>
                  <a:lnTo>
                    <a:pt x="18" y="162"/>
                  </a:lnTo>
                  <a:lnTo>
                    <a:pt x="19" y="164"/>
                  </a:lnTo>
                  <a:lnTo>
                    <a:pt x="20" y="167"/>
                  </a:lnTo>
                  <a:lnTo>
                    <a:pt x="22" y="168"/>
                  </a:lnTo>
                  <a:lnTo>
                    <a:pt x="25" y="169"/>
                  </a:lnTo>
                  <a:lnTo>
                    <a:pt x="25" y="169"/>
                  </a:lnTo>
                  <a:lnTo>
                    <a:pt x="123" y="169"/>
                  </a:lnTo>
                  <a:lnTo>
                    <a:pt x="123" y="169"/>
                  </a:lnTo>
                  <a:lnTo>
                    <a:pt x="126" y="168"/>
                  </a:lnTo>
                  <a:lnTo>
                    <a:pt x="127" y="167"/>
                  </a:lnTo>
                  <a:lnTo>
                    <a:pt x="129" y="164"/>
                  </a:lnTo>
                  <a:lnTo>
                    <a:pt x="129" y="162"/>
                  </a:lnTo>
                  <a:lnTo>
                    <a:pt x="129" y="162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129" y="124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8" y="121"/>
                  </a:lnTo>
                  <a:lnTo>
                    <a:pt x="126" y="118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4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13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8" y="116"/>
                  </a:lnTo>
                  <a:lnTo>
                    <a:pt x="104" y="115"/>
                  </a:lnTo>
                  <a:lnTo>
                    <a:pt x="101" y="113"/>
                  </a:lnTo>
                  <a:lnTo>
                    <a:pt x="100" y="110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99" y="107"/>
                  </a:lnTo>
                  <a:lnTo>
                    <a:pt x="100" y="103"/>
                  </a:lnTo>
                  <a:lnTo>
                    <a:pt x="101" y="100"/>
                  </a:lnTo>
                  <a:lnTo>
                    <a:pt x="104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08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3" y="98"/>
                  </a:lnTo>
                  <a:lnTo>
                    <a:pt x="126" y="98"/>
                  </a:lnTo>
                  <a:lnTo>
                    <a:pt x="129" y="98"/>
                  </a:lnTo>
                  <a:lnTo>
                    <a:pt x="134" y="101"/>
                  </a:lnTo>
                  <a:lnTo>
                    <a:pt x="139" y="105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2" y="108"/>
                  </a:lnTo>
                  <a:lnTo>
                    <a:pt x="144" y="113"/>
                  </a:lnTo>
                  <a:lnTo>
                    <a:pt x="146" y="118"/>
                  </a:lnTo>
                  <a:lnTo>
                    <a:pt x="147" y="122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48" y="162"/>
                  </a:lnTo>
                  <a:lnTo>
                    <a:pt x="148" y="162"/>
                  </a:lnTo>
                  <a:lnTo>
                    <a:pt x="147" y="167"/>
                  </a:lnTo>
                  <a:lnTo>
                    <a:pt x="145" y="172"/>
                  </a:lnTo>
                  <a:lnTo>
                    <a:pt x="143" y="176"/>
                  </a:lnTo>
                  <a:lnTo>
                    <a:pt x="140" y="180"/>
                  </a:lnTo>
                  <a:lnTo>
                    <a:pt x="136" y="183"/>
                  </a:lnTo>
                  <a:lnTo>
                    <a:pt x="132" y="185"/>
                  </a:lnTo>
                  <a:lnTo>
                    <a:pt x="128" y="186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25" y="187"/>
                  </a:lnTo>
                  <a:lnTo>
                    <a:pt x="25" y="187"/>
                  </a:lnTo>
                  <a:close/>
                </a:path>
              </a:pathLst>
            </a:custGeom>
            <a:solidFill>
              <a:srgbClr val="ACCBF9">
                <a:lumMod val="25000"/>
              </a:srgbClr>
            </a:solidFill>
            <a:ln>
              <a:solidFill>
                <a:srgbClr val="ACCBF9">
                  <a:lumMod val="25000"/>
                </a:srgbClr>
              </a:solidFill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400" kern="0">
                <a:solidFill>
                  <a:prstClr val="black"/>
                </a:solidFill>
                <a:latin typeface="Palatino Linotype"/>
              </a:endParaRPr>
            </a:p>
          </p:txBody>
        </p:sp>
        <p:grpSp>
          <p:nvGrpSpPr>
            <p:cNvPr id="117" name="Group 116"/>
            <p:cNvGrpSpPr/>
            <p:nvPr/>
          </p:nvGrpSpPr>
          <p:grpSpPr>
            <a:xfrm>
              <a:off x="6714433" y="4203145"/>
              <a:ext cx="670493" cy="670493"/>
              <a:chOff x="7347377" y="2553523"/>
              <a:chExt cx="914400" cy="914400"/>
            </a:xfrm>
            <a:noFill/>
          </p:grpSpPr>
          <p:sp>
            <p:nvSpPr>
              <p:cNvPr id="133" name="Pie 132"/>
              <p:cNvSpPr/>
              <p:nvPr/>
            </p:nvSpPr>
            <p:spPr>
              <a:xfrm>
                <a:off x="7347377" y="2553523"/>
                <a:ext cx="914400" cy="914400"/>
              </a:xfrm>
              <a:prstGeom prst="pie">
                <a:avLst>
                  <a:gd name="adj1" fmla="val 10796412"/>
                  <a:gd name="adj2" fmla="val 16200000"/>
                </a:avLst>
              </a:prstGeom>
              <a:solidFill>
                <a:schemeClr val="bg1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black"/>
                  </a:solidFill>
                </a:endParaRPr>
              </a:p>
            </p:txBody>
          </p:sp>
          <p:sp>
            <p:nvSpPr>
              <p:cNvPr id="134" name="Pie 133"/>
              <p:cNvSpPr/>
              <p:nvPr/>
            </p:nvSpPr>
            <p:spPr>
              <a:xfrm rot="16200000">
                <a:off x="7347377" y="2553523"/>
                <a:ext cx="914400" cy="914400"/>
              </a:xfrm>
              <a:prstGeom prst="pie">
                <a:avLst>
                  <a:gd name="adj1" fmla="val 10796412"/>
                  <a:gd name="adj2" fmla="val 16200000"/>
                </a:avLst>
              </a:prstGeom>
              <a:solidFill>
                <a:schemeClr val="bg1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black"/>
                  </a:solidFill>
                </a:endParaRPr>
              </a:p>
            </p:txBody>
          </p:sp>
          <p:sp>
            <p:nvSpPr>
              <p:cNvPr id="135" name="Pie 134"/>
              <p:cNvSpPr/>
              <p:nvPr/>
            </p:nvSpPr>
            <p:spPr>
              <a:xfrm rot="10800000">
                <a:off x="7347377" y="2553523"/>
                <a:ext cx="914400" cy="914400"/>
              </a:xfrm>
              <a:prstGeom prst="pie">
                <a:avLst>
                  <a:gd name="adj1" fmla="val 10796412"/>
                  <a:gd name="adj2" fmla="val 16200000"/>
                </a:avLst>
              </a:prstGeom>
              <a:grp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black"/>
                  </a:solidFill>
                </a:endParaRPr>
              </a:p>
            </p:txBody>
          </p:sp>
          <p:sp>
            <p:nvSpPr>
              <p:cNvPr id="136" name="Pie 135"/>
              <p:cNvSpPr/>
              <p:nvPr/>
            </p:nvSpPr>
            <p:spPr>
              <a:xfrm rot="5400000">
                <a:off x="7347377" y="2553523"/>
                <a:ext cx="914400" cy="914400"/>
              </a:xfrm>
              <a:prstGeom prst="pie">
                <a:avLst>
                  <a:gd name="adj1" fmla="val 10796412"/>
                  <a:gd name="adj2" fmla="val 16200000"/>
                </a:avLst>
              </a:prstGeom>
              <a:solidFill>
                <a:srgbClr val="124177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18" name="TextBox 117"/>
            <p:cNvSpPr txBox="1"/>
            <p:nvPr/>
          </p:nvSpPr>
          <p:spPr bwMode="gray">
            <a:xfrm>
              <a:off x="6641815" y="3311881"/>
              <a:ext cx="947114" cy="571581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prstClr val="black"/>
                  </a:solidFill>
                </a:rPr>
                <a:t>Less Customers, </a:t>
              </a:r>
            </a:p>
            <a:p>
              <a:pPr algn="ctr"/>
              <a:r>
                <a:rPr lang="en-US" sz="1400" dirty="0">
                  <a:solidFill>
                    <a:prstClr val="black"/>
                  </a:solidFill>
                </a:rPr>
                <a:t>Smaller Wallet Share</a:t>
              </a:r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119" name="TextBox 118"/>
            <p:cNvSpPr txBox="1"/>
            <p:nvPr/>
          </p:nvSpPr>
          <p:spPr bwMode="gray">
            <a:xfrm>
              <a:off x="10207953" y="2294394"/>
              <a:ext cx="914400" cy="29721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prstClr val="black"/>
                  </a:solidFill>
                </a:rPr>
                <a:t>More Customers, </a:t>
              </a:r>
            </a:p>
            <a:p>
              <a:pPr algn="ctr"/>
              <a:r>
                <a:rPr lang="en-US" sz="1400" dirty="0">
                  <a:solidFill>
                    <a:prstClr val="black"/>
                  </a:solidFill>
                </a:rPr>
                <a:t>Higher Wallet Share</a:t>
              </a:r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120" name="TextBox 119"/>
            <p:cNvSpPr txBox="1"/>
            <p:nvPr/>
          </p:nvSpPr>
          <p:spPr bwMode="gray">
            <a:xfrm rot="20193201">
              <a:off x="8058528" y="3784709"/>
              <a:ext cx="497820" cy="218567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r>
                <a:rPr lang="en-US" sz="1400" b="1" dirty="0" smtClean="0">
                  <a:solidFill>
                    <a:prstClr val="black"/>
                  </a:solidFill>
                </a:rPr>
                <a:t>2X</a:t>
              </a:r>
              <a:endParaRPr lang="en-IN" sz="1400" b="1" dirty="0">
                <a:solidFill>
                  <a:prstClr val="black"/>
                </a:solidFill>
              </a:endParaRPr>
            </a:p>
          </p:txBody>
        </p:sp>
        <p:grpSp>
          <p:nvGrpSpPr>
            <p:cNvPr id="121" name="Group 120"/>
            <p:cNvGrpSpPr/>
            <p:nvPr/>
          </p:nvGrpSpPr>
          <p:grpSpPr>
            <a:xfrm>
              <a:off x="8516725" y="3502287"/>
              <a:ext cx="670493" cy="670493"/>
              <a:chOff x="7347377" y="2553523"/>
              <a:chExt cx="914400" cy="914400"/>
            </a:xfrm>
            <a:noFill/>
          </p:grpSpPr>
          <p:sp>
            <p:nvSpPr>
              <p:cNvPr id="129" name="Pie 128"/>
              <p:cNvSpPr/>
              <p:nvPr/>
            </p:nvSpPr>
            <p:spPr>
              <a:xfrm>
                <a:off x="7347377" y="2553523"/>
                <a:ext cx="914400" cy="914400"/>
              </a:xfrm>
              <a:prstGeom prst="pie">
                <a:avLst>
                  <a:gd name="adj1" fmla="val 10796412"/>
                  <a:gd name="adj2" fmla="val 16200000"/>
                </a:avLst>
              </a:prstGeom>
              <a:grp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black"/>
                  </a:solidFill>
                </a:endParaRPr>
              </a:p>
            </p:txBody>
          </p:sp>
          <p:sp>
            <p:nvSpPr>
              <p:cNvPr id="130" name="Pie 129"/>
              <p:cNvSpPr/>
              <p:nvPr/>
            </p:nvSpPr>
            <p:spPr>
              <a:xfrm rot="16200000">
                <a:off x="7347377" y="2553523"/>
                <a:ext cx="914400" cy="914400"/>
              </a:xfrm>
              <a:prstGeom prst="pie">
                <a:avLst>
                  <a:gd name="adj1" fmla="val 10796412"/>
                  <a:gd name="adj2" fmla="val 16200000"/>
                </a:avLst>
              </a:prstGeom>
              <a:solidFill>
                <a:schemeClr val="bg1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black"/>
                  </a:solidFill>
                </a:endParaRPr>
              </a:p>
            </p:txBody>
          </p:sp>
          <p:sp>
            <p:nvSpPr>
              <p:cNvPr id="131" name="Pie 130"/>
              <p:cNvSpPr/>
              <p:nvPr/>
            </p:nvSpPr>
            <p:spPr>
              <a:xfrm rot="10800000">
                <a:off x="7347377" y="2553523"/>
                <a:ext cx="914400" cy="914400"/>
              </a:xfrm>
              <a:prstGeom prst="pie">
                <a:avLst>
                  <a:gd name="adj1" fmla="val 10796412"/>
                  <a:gd name="adj2" fmla="val 16200000"/>
                </a:avLst>
              </a:prstGeom>
              <a:solidFill>
                <a:srgbClr val="124177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black"/>
                  </a:solidFill>
                </a:endParaRPr>
              </a:p>
            </p:txBody>
          </p:sp>
          <p:sp>
            <p:nvSpPr>
              <p:cNvPr id="132" name="Pie 131"/>
              <p:cNvSpPr/>
              <p:nvPr/>
            </p:nvSpPr>
            <p:spPr>
              <a:xfrm rot="5400000">
                <a:off x="7347377" y="2553523"/>
                <a:ext cx="914400" cy="914400"/>
              </a:xfrm>
              <a:prstGeom prst="pie">
                <a:avLst>
                  <a:gd name="adj1" fmla="val 10796412"/>
                  <a:gd name="adj2" fmla="val 16200000"/>
                </a:avLst>
              </a:prstGeom>
              <a:solidFill>
                <a:srgbClr val="124177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10307818" y="2758680"/>
              <a:ext cx="670493" cy="670493"/>
              <a:chOff x="7347377" y="2553523"/>
              <a:chExt cx="914400" cy="914400"/>
            </a:xfrm>
            <a:noFill/>
          </p:grpSpPr>
          <p:sp>
            <p:nvSpPr>
              <p:cNvPr id="125" name="Pie 124"/>
              <p:cNvSpPr/>
              <p:nvPr/>
            </p:nvSpPr>
            <p:spPr>
              <a:xfrm>
                <a:off x="7347377" y="2553523"/>
                <a:ext cx="914400" cy="914400"/>
              </a:xfrm>
              <a:prstGeom prst="pie">
                <a:avLst>
                  <a:gd name="adj1" fmla="val 10796412"/>
                  <a:gd name="adj2" fmla="val 16200000"/>
                </a:avLst>
              </a:prstGeom>
              <a:grp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black"/>
                  </a:solidFill>
                </a:endParaRPr>
              </a:p>
            </p:txBody>
          </p:sp>
          <p:sp>
            <p:nvSpPr>
              <p:cNvPr id="126" name="Pie 125"/>
              <p:cNvSpPr/>
              <p:nvPr/>
            </p:nvSpPr>
            <p:spPr>
              <a:xfrm rot="16200000">
                <a:off x="7347377" y="2553523"/>
                <a:ext cx="914400" cy="914400"/>
              </a:xfrm>
              <a:prstGeom prst="pie">
                <a:avLst>
                  <a:gd name="adj1" fmla="val 10796412"/>
                  <a:gd name="adj2" fmla="val 16200000"/>
                </a:avLst>
              </a:prstGeom>
              <a:solidFill>
                <a:srgbClr val="124177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black"/>
                  </a:solidFill>
                </a:endParaRPr>
              </a:p>
            </p:txBody>
          </p:sp>
          <p:sp>
            <p:nvSpPr>
              <p:cNvPr id="127" name="Pie 126"/>
              <p:cNvSpPr/>
              <p:nvPr/>
            </p:nvSpPr>
            <p:spPr>
              <a:xfrm rot="10800000">
                <a:off x="7347377" y="2553523"/>
                <a:ext cx="914400" cy="914400"/>
              </a:xfrm>
              <a:prstGeom prst="pie">
                <a:avLst>
                  <a:gd name="adj1" fmla="val 10796412"/>
                  <a:gd name="adj2" fmla="val 16200000"/>
                </a:avLst>
              </a:prstGeom>
              <a:solidFill>
                <a:srgbClr val="124177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black"/>
                  </a:solidFill>
                </a:endParaRPr>
              </a:p>
            </p:txBody>
          </p:sp>
          <p:sp>
            <p:nvSpPr>
              <p:cNvPr id="128" name="Pie 127"/>
              <p:cNvSpPr/>
              <p:nvPr/>
            </p:nvSpPr>
            <p:spPr>
              <a:xfrm rot="5400000">
                <a:off x="7347377" y="2553523"/>
                <a:ext cx="914400" cy="914400"/>
              </a:xfrm>
              <a:prstGeom prst="pie">
                <a:avLst>
                  <a:gd name="adj1" fmla="val 10796412"/>
                  <a:gd name="adj2" fmla="val 16200000"/>
                </a:avLst>
              </a:prstGeom>
              <a:solidFill>
                <a:srgbClr val="124177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3" name="TextBox 122"/>
            <p:cNvSpPr txBox="1"/>
            <p:nvPr/>
          </p:nvSpPr>
          <p:spPr bwMode="gray">
            <a:xfrm rot="20262471">
              <a:off x="7280961" y="4032566"/>
              <a:ext cx="914400" cy="201852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r>
                <a:rPr lang="en-US" sz="1400" dirty="0">
                  <a:solidFill>
                    <a:prstClr val="black"/>
                  </a:solidFill>
                </a:rPr>
                <a:t>Revenue:</a:t>
              </a:r>
              <a:endParaRPr lang="en-IN" sz="1400" dirty="0">
                <a:solidFill>
                  <a:prstClr val="black"/>
                </a:solidFill>
              </a:endParaRPr>
            </a:p>
          </p:txBody>
        </p:sp>
        <p:sp>
          <p:nvSpPr>
            <p:cNvPr id="124" name="TextBox 123"/>
            <p:cNvSpPr txBox="1"/>
            <p:nvPr/>
          </p:nvSpPr>
          <p:spPr bwMode="gray">
            <a:xfrm>
              <a:off x="8554414" y="6040068"/>
              <a:ext cx="914400" cy="201852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r>
                <a:rPr lang="en-US" b="1" dirty="0">
                  <a:solidFill>
                    <a:prstClr val="black"/>
                  </a:solidFill>
                </a:rPr>
                <a:t>Time</a:t>
              </a:r>
              <a:endParaRPr lang="en-IN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45" name="Pentagon 144"/>
          <p:cNvSpPr/>
          <p:nvPr/>
        </p:nvSpPr>
        <p:spPr bwMode="auto">
          <a:xfrm>
            <a:off x="5961779" y="1925410"/>
            <a:ext cx="392728" cy="4801848"/>
          </a:xfrm>
          <a:prstGeom prst="homePlate">
            <a:avLst>
              <a:gd name="adj" fmla="val 100000"/>
            </a:avLst>
          </a:prstGeom>
          <a:solidFill>
            <a:srgbClr val="113E75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b="1" kern="0" dirty="0">
              <a:solidFill>
                <a:srgbClr val="53565A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 bwMode="gray">
          <a:xfrm rot="20193201">
            <a:off x="10408285" y="2933458"/>
            <a:ext cx="524717" cy="25173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dirty="0" smtClean="0">
                <a:solidFill>
                  <a:prstClr val="black"/>
                </a:solidFill>
              </a:rPr>
              <a:t>4X</a:t>
            </a:r>
            <a:endParaRPr lang="en-IN" sz="1400" b="1" dirty="0">
              <a:solidFill>
                <a:prstClr val="black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 bwMode="gray">
          <a:xfrm rot="20262471">
            <a:off x="9630772" y="3179605"/>
            <a:ext cx="963804" cy="23248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Revenue:</a:t>
            </a:r>
            <a:endParaRPr lang="en-IN" sz="1400" dirty="0">
              <a:solidFill>
                <a:prstClr val="black"/>
              </a:solidFill>
            </a:endParaRPr>
          </a:p>
        </p:txBody>
      </p:sp>
      <p:cxnSp>
        <p:nvCxnSpPr>
          <p:cNvPr id="149" name="Straight Arrow Connector 148"/>
          <p:cNvCxnSpPr/>
          <p:nvPr/>
        </p:nvCxnSpPr>
        <p:spPr>
          <a:xfrm>
            <a:off x="6765635" y="4818311"/>
            <a:ext cx="5065872" cy="92803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 bwMode="gray">
          <a:xfrm rot="630523">
            <a:off x="8697470" y="5011625"/>
            <a:ext cx="914400" cy="20185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dirty="0" smtClean="0">
                <a:solidFill>
                  <a:prstClr val="black"/>
                </a:solidFill>
              </a:rPr>
              <a:t>Analytic Operating </a:t>
            </a:r>
            <a:r>
              <a:rPr lang="en-US" sz="1400" dirty="0">
                <a:solidFill>
                  <a:prstClr val="black"/>
                </a:solidFill>
              </a:rPr>
              <a:t>Expenditure</a:t>
            </a:r>
            <a:endParaRPr lang="en-IN" sz="1400" dirty="0">
              <a:solidFill>
                <a:prstClr val="black"/>
              </a:solidFill>
            </a:endParaRPr>
          </a:p>
        </p:txBody>
      </p:sp>
      <p:pic>
        <p:nvPicPr>
          <p:cNvPr id="151" name="Picture 15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725" y="3706954"/>
            <a:ext cx="241874" cy="344075"/>
          </a:xfrm>
          <a:prstGeom prst="rect">
            <a:avLst/>
          </a:prstGeom>
        </p:spPr>
      </p:pic>
      <p:sp>
        <p:nvSpPr>
          <p:cNvPr id="152" name="Pentagon 151"/>
          <p:cNvSpPr/>
          <p:nvPr/>
        </p:nvSpPr>
        <p:spPr bwMode="auto">
          <a:xfrm rot="5400000">
            <a:off x="2030381" y="2914469"/>
            <a:ext cx="216270" cy="2667150"/>
          </a:xfrm>
          <a:prstGeom prst="homePlate">
            <a:avLst>
              <a:gd name="adj" fmla="val 100000"/>
            </a:avLst>
          </a:prstGeom>
          <a:solidFill>
            <a:srgbClr val="113E75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b="1" kern="0" dirty="0">
              <a:solidFill>
                <a:srgbClr val="53565A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717759" y="4381937"/>
            <a:ext cx="753732" cy="3077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pPr>
              <a:defRPr/>
            </a:pPr>
            <a:r>
              <a:rPr lang="en-US" sz="1400" b="1" kern="0" dirty="0" smtClean="0">
                <a:solidFill>
                  <a:prstClr val="black"/>
                </a:solidFill>
                <a:latin typeface="Palatino Linotype"/>
              </a:rPr>
              <a:t>Impact</a:t>
            </a:r>
            <a:endParaRPr lang="en-US" sz="1400" b="1" kern="0" dirty="0">
              <a:solidFill>
                <a:prstClr val="black"/>
              </a:solidFill>
              <a:latin typeface="Palatino Linotype"/>
            </a:endParaRP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3607055" y="3929345"/>
            <a:ext cx="528034" cy="0"/>
          </a:xfrm>
          <a:prstGeom prst="straightConnector1">
            <a:avLst/>
          </a:prstGeom>
          <a:ln w="25400">
            <a:solidFill>
              <a:srgbClr val="0F39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3583965" y="6547854"/>
            <a:ext cx="528034" cy="0"/>
          </a:xfrm>
          <a:prstGeom prst="straightConnector1">
            <a:avLst/>
          </a:prstGeom>
          <a:ln w="25400">
            <a:solidFill>
              <a:srgbClr val="0F39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42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6967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dirty="0" smtClean="0">
                <a:solidFill>
                  <a:srgbClr val="0C336D"/>
                </a:solidFill>
              </a:rPr>
              <a:t>Data Governance and Privacy framework is the key to accurately capture , store, and use the data assets to into decisions  </a:t>
            </a:r>
            <a:endParaRPr lang="en-US" dirty="0" smtClean="0">
              <a:solidFill>
                <a:srgbClr val="0C336D"/>
              </a:solidFill>
            </a:endParaRPr>
          </a:p>
          <a:p>
            <a:endParaRPr lang="en-IN" sz="14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96887" y="1918761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14168" y="3210456"/>
          <a:ext cx="8853588" cy="2184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9421"/>
                <a:gridCol w="208280"/>
                <a:gridCol w="2770849"/>
                <a:gridCol w="208280"/>
                <a:gridCol w="2806758"/>
              </a:tblGrid>
              <a:tr h="1026055">
                <a:tc>
                  <a:txBody>
                    <a:bodyPr/>
                    <a:lstStyle/>
                    <a:p>
                      <a:pPr algn="ctr"/>
                      <a:endParaRPr lang="en-IN" sz="14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 smtClean="0">
                          <a:solidFill>
                            <a:schemeClr val="tx1"/>
                          </a:solidFill>
                        </a:rPr>
                        <a:t>About Customer: </a:t>
                      </a:r>
                      <a:r>
                        <a:rPr lang="en-IN" sz="14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Action, Intent , Privacy Choices </a:t>
                      </a:r>
                    </a:p>
                    <a:p>
                      <a:pPr algn="ctr"/>
                      <a:r>
                        <a:rPr lang="en-IN" sz="14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All customer touch points.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baseline="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baseline="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baseline="0" dirty="0" smtClean="0">
                          <a:solidFill>
                            <a:schemeClr val="tx1"/>
                          </a:solidFill>
                        </a:rPr>
                        <a:t>Data Governance: </a:t>
                      </a:r>
                      <a:r>
                        <a:rPr lang="en-IN" sz="14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Store data , Access controls , retention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baseline="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 smtClean="0">
                          <a:solidFill>
                            <a:schemeClr val="tx1"/>
                          </a:solidFill>
                        </a:rPr>
                        <a:t>For intended purpose of Use</a:t>
                      </a:r>
                      <a:r>
                        <a:rPr lang="en-IN" sz="14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: Servicing, Marketing, Risk Management, Analytics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1026055">
                <a:tc>
                  <a:txBody>
                    <a:bodyPr/>
                    <a:lstStyle/>
                    <a:p>
                      <a:pPr algn="ctr"/>
                      <a:endParaRPr lang="en-IN" sz="14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Privacy</a:t>
                      </a:r>
                      <a:r>
                        <a:rPr lang="en-IN" sz="14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IN" sz="14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Disclosure,</a:t>
                      </a:r>
                      <a:endParaRPr lang="en-IN" sz="1400" baseline="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Capture of Customer Data &amp; </a:t>
                      </a:r>
                      <a:r>
                        <a:rPr lang="en-IN" sz="1400" baseline="0" dirty="0" smtClean="0">
                          <a:solidFill>
                            <a:schemeClr val="tx1"/>
                          </a:solidFill>
                        </a:rPr>
                        <a:t>Privacy Choices</a:t>
                      </a:r>
                      <a:r>
                        <a:rPr lang="en-IN" sz="14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&amp; </a:t>
                      </a:r>
                    </a:p>
                    <a:p>
                      <a:pPr algn="ctr"/>
                      <a:r>
                        <a:rPr lang="en-IN" sz="14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Contact Preferences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 smtClean="0">
                          <a:solidFill>
                            <a:schemeClr val="tx1"/>
                          </a:solidFill>
                        </a:rPr>
                        <a:t>Master Data</a:t>
                      </a:r>
                      <a:r>
                        <a:rPr lang="en-IN" sz="1400" baseline="0" dirty="0" smtClean="0">
                          <a:solidFill>
                            <a:schemeClr val="tx1"/>
                          </a:solidFill>
                        </a:rPr>
                        <a:t> Management</a:t>
                      </a:r>
                    </a:p>
                    <a:p>
                      <a:pPr algn="ctr"/>
                      <a:r>
                        <a:rPr lang="en-IN" sz="14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Data Access, Storage</a:t>
                      </a:r>
                      <a:r>
                        <a:rPr lang="en-IN" sz="14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IN" sz="14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Retention</a:t>
                      </a:r>
                      <a:r>
                        <a:rPr lang="en-IN" sz="14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, </a:t>
                      </a:r>
                      <a:r>
                        <a:rPr lang="en-IN" sz="1400" kern="12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IN" sz="14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Classification, Data Quality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 smtClean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400" dirty="0" smtClean="0">
                          <a:solidFill>
                            <a:schemeClr val="tx1"/>
                          </a:solidFill>
                        </a:rPr>
                        <a:t>Apply Customer Choices</a:t>
                      </a:r>
                      <a:r>
                        <a:rPr lang="en-IN" sz="14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, </a:t>
                      </a:r>
                    </a:p>
                    <a:p>
                      <a:pPr algn="ctr"/>
                      <a:r>
                        <a:rPr lang="en-IN" sz="14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Data Sharing &amp;</a:t>
                      </a:r>
                    </a:p>
                    <a:p>
                      <a:pPr algn="ctr"/>
                      <a:r>
                        <a:rPr lang="en-IN" sz="14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Contact Preferences</a:t>
                      </a:r>
                    </a:p>
                    <a:p>
                      <a:pPr algn="ctr"/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Diagram 12"/>
          <p:cNvGraphicFramePr/>
          <p:nvPr/>
        </p:nvGraphicFramePr>
        <p:xfrm>
          <a:off x="2377440" y="2011686"/>
          <a:ext cx="9298005" cy="558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31454" y="3292309"/>
            <a:ext cx="2260710" cy="993362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endParaRPr lang="en-US" sz="1600" kern="0" dirty="0" smtClean="0">
              <a:solidFill>
                <a:prstClr val="white"/>
              </a:solidFill>
              <a:cs typeface="Arial" pitchFamily="34" charset="0"/>
            </a:endParaRPr>
          </a:p>
          <a:p>
            <a:pPr algn="ctr">
              <a:defRPr/>
            </a:pPr>
            <a:r>
              <a:rPr lang="en-US" sz="1600" kern="0" dirty="0" smtClean="0">
                <a:solidFill>
                  <a:prstClr val="white"/>
                </a:solidFill>
                <a:cs typeface="Arial" pitchFamily="34" charset="0"/>
              </a:rPr>
              <a:t>PURPOSE</a:t>
            </a:r>
            <a:endParaRPr lang="en-US" sz="1600" kern="0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249104" y="4424223"/>
            <a:ext cx="2260710" cy="1059142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endParaRPr lang="en-US" sz="1600" kern="0" dirty="0" smtClean="0">
              <a:solidFill>
                <a:prstClr val="white"/>
              </a:solidFill>
              <a:cs typeface="Arial" pitchFamily="34" charset="0"/>
            </a:endParaRPr>
          </a:p>
          <a:p>
            <a:pPr algn="ctr">
              <a:defRPr/>
            </a:pPr>
            <a:r>
              <a:rPr lang="en-US" sz="1600" kern="0" dirty="0" smtClean="0">
                <a:solidFill>
                  <a:prstClr val="white"/>
                </a:solidFill>
                <a:cs typeface="Arial" pitchFamily="34" charset="0"/>
              </a:rPr>
              <a:t>DATA GOVENANCE &amp; PRIVACY</a:t>
            </a:r>
          </a:p>
          <a:p>
            <a:pPr algn="ctr">
              <a:defRPr/>
            </a:pPr>
            <a:endParaRPr lang="en-US" sz="1600" kern="0" dirty="0">
              <a:solidFill>
                <a:prstClr val="white"/>
              </a:solidFill>
              <a:cs typeface="Arial" pitchFamily="34" charset="0"/>
            </a:endParaRPr>
          </a:p>
        </p:txBody>
      </p:sp>
      <p:pic>
        <p:nvPicPr>
          <p:cNvPr id="18" name="Picture 6" descr="https://cdn4.iconfinder.com/data/icons/database/PNG/512/Database_3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837640" y="2598263"/>
            <a:ext cx="997317" cy="579968"/>
          </a:xfrm>
          <a:prstGeom prst="rect">
            <a:avLst/>
          </a:prstGeom>
          <a:noFill/>
        </p:spPr>
      </p:pic>
      <p:pic>
        <p:nvPicPr>
          <p:cNvPr id="19" name="Picture 8" descr="http://www.menacegroup.com.au/images/traditional-marketing-icon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879490" y="2695076"/>
            <a:ext cx="435922" cy="443965"/>
          </a:xfrm>
          <a:prstGeom prst="rect">
            <a:avLst/>
          </a:prstGeom>
          <a:noFill/>
        </p:spPr>
      </p:pic>
      <p:pic>
        <p:nvPicPr>
          <p:cNvPr id="20" name="Picture 10" descr="http://www.hydramarketingtechnology.com/wp-content/uploads/2013/10/Email-Marketing-Icon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0239376" y="2671227"/>
            <a:ext cx="467414" cy="467414"/>
          </a:xfrm>
          <a:prstGeom prst="rect">
            <a:avLst/>
          </a:prstGeom>
          <a:noFill/>
        </p:spPr>
      </p:pic>
      <p:pic>
        <p:nvPicPr>
          <p:cNvPr id="21" name="Picture 12" descr="http://marketingcube.com.au/wp-content/uploads/2014/02/ICON-NFP-Target-Goal-128x128pxl.png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9598760" y="2696541"/>
            <a:ext cx="442402" cy="442402"/>
          </a:xfrm>
          <a:prstGeom prst="rect">
            <a:avLst/>
          </a:prstGeom>
          <a:noFill/>
        </p:spPr>
      </p:pic>
      <p:pic>
        <p:nvPicPr>
          <p:cNvPr id="22" name="Picture 14" descr="http://www.blackhorseservicestation.com/images/servicing-icon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870850" y="2696587"/>
            <a:ext cx="730479" cy="368929"/>
          </a:xfrm>
          <a:prstGeom prst="rect">
            <a:avLst/>
          </a:prstGeom>
          <a:noFill/>
        </p:spPr>
      </p:pic>
      <p:pic>
        <p:nvPicPr>
          <p:cNvPr id="23" name="Picture 16" descr="http://www.blackhorseservicestation.com/images/servicing-icon.pn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665279" y="2696898"/>
            <a:ext cx="693337" cy="350170"/>
          </a:xfrm>
          <a:prstGeom prst="rect">
            <a:avLst/>
          </a:prstGeom>
          <a:noFill/>
        </p:spPr>
      </p:pic>
      <p:pic>
        <p:nvPicPr>
          <p:cNvPr id="24" name="Picture 18" descr="http://cdn2.bigcommerce.com/server4700/a286f/product_images/uploaded_images/keys-icon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14634" y="2632981"/>
            <a:ext cx="458034" cy="458034"/>
          </a:xfrm>
          <a:prstGeom prst="rect">
            <a:avLst/>
          </a:prstGeom>
          <a:noFill/>
        </p:spPr>
      </p:pic>
      <p:pic>
        <p:nvPicPr>
          <p:cNvPr id="25" name="Picture 20" descr="http://icons.iconarchive.com/icons/studiomx/web/256/Earth-icon.pn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470142" y="2641700"/>
            <a:ext cx="464287" cy="464287"/>
          </a:xfrm>
          <a:prstGeom prst="rect">
            <a:avLst/>
          </a:prstGeom>
          <a:noFill/>
        </p:spPr>
      </p:pic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286327" y="5809673"/>
            <a:ext cx="2191160" cy="9222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endParaRPr lang="en-US" sz="1600" kern="0" dirty="0" smtClean="0">
              <a:solidFill>
                <a:prstClr val="white"/>
              </a:solidFill>
              <a:cs typeface="Arial" pitchFamily="34" charset="0"/>
            </a:endParaRPr>
          </a:p>
          <a:p>
            <a:pPr algn="ctr">
              <a:defRPr/>
            </a:pPr>
            <a:r>
              <a:rPr lang="en-US" sz="1600" kern="0" dirty="0" smtClean="0">
                <a:solidFill>
                  <a:prstClr val="white"/>
                </a:solidFill>
                <a:cs typeface="Arial" pitchFamily="34" charset="0"/>
              </a:rPr>
              <a:t>ACTIONS</a:t>
            </a:r>
          </a:p>
          <a:p>
            <a:pPr algn="ctr">
              <a:defRPr/>
            </a:pPr>
            <a:endParaRPr lang="en-US" sz="1600" kern="0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627745" y="5791200"/>
            <a:ext cx="295102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tx1"/>
                </a:solidFill>
              </a:rPr>
              <a:t>Organization</a:t>
            </a:r>
          </a:p>
          <a:p>
            <a:pPr algn="ctr"/>
            <a:r>
              <a:rPr lang="en-IN" sz="1400" dirty="0" smtClean="0">
                <a:solidFill>
                  <a:schemeClr val="bg1">
                    <a:lumMod val="65000"/>
                  </a:schemeClr>
                </a:solidFill>
              </a:rPr>
              <a:t>Data Governance Council, </a:t>
            </a:r>
          </a:p>
          <a:p>
            <a:pPr algn="ctr"/>
            <a:r>
              <a:rPr lang="en-IN" sz="1400" dirty="0" smtClean="0">
                <a:solidFill>
                  <a:schemeClr val="bg1">
                    <a:lumMod val="65000"/>
                  </a:schemeClr>
                </a:solidFill>
              </a:rPr>
              <a:t>Mission, Vision, and</a:t>
            </a:r>
          </a:p>
          <a:p>
            <a:pPr algn="ctr"/>
            <a:r>
              <a:rPr lang="en-IN" sz="1400" dirty="0" smtClean="0">
                <a:solidFill>
                  <a:schemeClr val="tx1"/>
                </a:solidFill>
              </a:rPr>
              <a:t>Organizational Responsibilities</a:t>
            </a:r>
            <a:endParaRPr lang="en-IN" sz="1600" dirty="0" smtClean="0">
              <a:solidFill>
                <a:schemeClr val="tx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671131" y="5786582"/>
            <a:ext cx="295102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tx1"/>
                </a:solidFill>
              </a:rPr>
              <a:t>People &amp; Process</a:t>
            </a:r>
          </a:p>
          <a:p>
            <a:pPr algn="ctr"/>
            <a:r>
              <a:rPr lang="en-IN" sz="1400" dirty="0" smtClean="0">
                <a:solidFill>
                  <a:schemeClr val="bg1">
                    <a:lumMod val="65000"/>
                  </a:schemeClr>
                </a:solidFill>
              </a:rPr>
              <a:t>Roles &amp; Responsibilities, </a:t>
            </a:r>
          </a:p>
          <a:p>
            <a:pPr algn="ctr"/>
            <a:r>
              <a:rPr lang="en-IN" sz="1400" dirty="0" smtClean="0">
                <a:solidFill>
                  <a:schemeClr val="bg1">
                    <a:lumMod val="65000"/>
                  </a:schemeClr>
                </a:solidFill>
              </a:rPr>
              <a:t>Decision Process workflow, </a:t>
            </a:r>
            <a:r>
              <a:rPr lang="en-IN" sz="1400" dirty="0" smtClean="0">
                <a:solidFill>
                  <a:schemeClr val="tx1"/>
                </a:solidFill>
              </a:rPr>
              <a:t>Data Custodian</a:t>
            </a:r>
            <a:endParaRPr lang="en-IN" sz="1600" dirty="0" smtClean="0">
              <a:solidFill>
                <a:schemeClr val="tx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779163" y="5781964"/>
            <a:ext cx="2858655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 smtClean="0">
                <a:solidFill>
                  <a:schemeClr val="tx1"/>
                </a:solidFill>
              </a:rPr>
              <a:t>Operationalize</a:t>
            </a:r>
            <a:endParaRPr lang="en-IN" sz="1400" dirty="0" smtClean="0">
              <a:solidFill>
                <a:schemeClr val="tx1"/>
              </a:solidFill>
            </a:endParaRPr>
          </a:p>
          <a:p>
            <a:pPr algn="ctr"/>
            <a:r>
              <a:rPr lang="en-IN" sz="1400" dirty="0" smtClean="0">
                <a:solidFill>
                  <a:schemeClr val="bg1">
                    <a:lumMod val="65000"/>
                  </a:schemeClr>
                </a:solidFill>
              </a:rPr>
              <a:t>Business and Data Definitions, Rules, Policies, Taxonomy, </a:t>
            </a:r>
          </a:p>
          <a:p>
            <a:pPr algn="ctr"/>
            <a:r>
              <a:rPr lang="en-IN" sz="1400" dirty="0" smtClean="0">
                <a:solidFill>
                  <a:schemeClr val="tx1"/>
                </a:solidFill>
              </a:rPr>
              <a:t>Data Management</a:t>
            </a:r>
            <a:endParaRPr lang="en-IN" sz="1600" dirty="0" smtClean="0">
              <a:solidFill>
                <a:schemeClr val="tx1"/>
              </a:solidFill>
            </a:endParaRPr>
          </a:p>
        </p:txBody>
      </p:sp>
      <p:sp>
        <p:nvSpPr>
          <p:cNvPr id="26" name="Title 1"/>
          <p:cNvSpPr txBox="1">
            <a:spLocks/>
          </p:cNvSpPr>
          <p:nvPr/>
        </p:nvSpPr>
        <p:spPr bwMode="gray">
          <a:xfrm>
            <a:off x="1154953" y="516222"/>
            <a:ext cx="9130460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Data Privacy and Guidelines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566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 rot="16200000">
            <a:off x="2136918" y="2083945"/>
            <a:ext cx="3679722" cy="3325107"/>
          </a:xfrm>
          <a:prstGeom prst="triangle">
            <a:avLst>
              <a:gd name="adj" fmla="val 99354"/>
            </a:avLst>
          </a:prstGeom>
          <a:gradFill>
            <a:gsLst>
              <a:gs pos="0">
                <a:schemeClr val="accent1"/>
              </a:gs>
              <a:gs pos="36000">
                <a:schemeClr val="accent1">
                  <a:lumMod val="60000"/>
                  <a:lumOff val="40000"/>
                </a:schemeClr>
              </a:gs>
              <a:gs pos="67000">
                <a:schemeClr val="accent1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491037711"/>
              </p:ext>
            </p:extLst>
          </p:nvPr>
        </p:nvGraphicFramePr>
        <p:xfrm>
          <a:off x="61826" y="1239968"/>
          <a:ext cx="493472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501482"/>
              </p:ext>
            </p:extLst>
          </p:nvPr>
        </p:nvGraphicFramePr>
        <p:xfrm>
          <a:off x="5602180" y="1906937"/>
          <a:ext cx="3767369" cy="195352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962319"/>
                <a:gridCol w="1805050"/>
              </a:tblGrid>
              <a:tr h="47636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rgbClr val="15477B"/>
                          </a:solidFill>
                        </a:rPr>
                        <a:t>Pure-play</a:t>
                      </a:r>
                      <a:r>
                        <a:rPr lang="en-US" sz="1400" b="0" baseline="0" dirty="0" smtClean="0">
                          <a:solidFill>
                            <a:srgbClr val="15477B"/>
                          </a:solidFill>
                        </a:rPr>
                        <a:t> </a:t>
                      </a:r>
                      <a:r>
                        <a:rPr lang="en-US" sz="1400" b="0" dirty="0" smtClean="0">
                          <a:solidFill>
                            <a:srgbClr val="15477B"/>
                          </a:solidFill>
                        </a:rPr>
                        <a:t>Analytics</a:t>
                      </a:r>
                      <a:r>
                        <a:rPr lang="en-US" sz="1400" b="0" baseline="0" dirty="0" smtClean="0">
                          <a:solidFill>
                            <a:srgbClr val="15477B"/>
                          </a:solidFill>
                        </a:rPr>
                        <a:t> </a:t>
                      </a:r>
                      <a:r>
                        <a:rPr lang="en-US" sz="1400" b="0" dirty="0" smtClean="0">
                          <a:solidFill>
                            <a:srgbClr val="15477B"/>
                          </a:solidFill>
                        </a:rPr>
                        <a:t>Providers</a:t>
                      </a:r>
                      <a:endParaRPr lang="en-IN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solidFill>
                            <a:srgbClr val="15477B"/>
                          </a:solidFill>
                        </a:rPr>
                        <a:t>IT Consulting Firms with Analytics Play</a:t>
                      </a:r>
                      <a:endParaRPr lang="en-IN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435367">
                <a:tc>
                  <a:txBody>
                    <a:bodyPr/>
                    <a:lstStyle/>
                    <a:p>
                      <a:pPr algn="ctr"/>
                      <a:endParaRPr lang="en-IN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551590"/>
              </p:ext>
            </p:extLst>
          </p:nvPr>
        </p:nvGraphicFramePr>
        <p:xfrm>
          <a:off x="5602968" y="3870129"/>
          <a:ext cx="3767369" cy="186515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962319"/>
                <a:gridCol w="1805050"/>
              </a:tblGrid>
              <a:tr h="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solidFill>
                            <a:srgbClr val="15477B"/>
                          </a:solidFill>
                        </a:rPr>
                        <a:t>Consulting Firms with Analytics Practice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solidFill>
                            <a:srgbClr val="15477B"/>
                          </a:solidFill>
                        </a:rPr>
                        <a:t>Niche</a:t>
                      </a:r>
                      <a:r>
                        <a:rPr lang="en-US" sz="1400" b="0" baseline="0" dirty="0" smtClean="0">
                          <a:solidFill>
                            <a:srgbClr val="15477B"/>
                          </a:solidFill>
                        </a:rPr>
                        <a:t> Analytics Providers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346994">
                <a:tc>
                  <a:txBody>
                    <a:bodyPr/>
                    <a:lstStyle/>
                    <a:p>
                      <a:pPr algn="ctr"/>
                      <a:endParaRPr lang="en-IN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The Indian Analytics Inc. landscape </a:t>
            </a: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28357" y="1268602"/>
            <a:ext cx="11595126" cy="392336"/>
          </a:xfrm>
        </p:spPr>
        <p:txBody>
          <a:bodyPr>
            <a:normAutofit fontScale="32500" lnSpcReduction="20000"/>
          </a:bodyPr>
          <a:lstStyle/>
          <a:p>
            <a:r>
              <a:rPr lang="en-US" sz="5600" dirty="0" smtClean="0">
                <a:solidFill>
                  <a:schemeClr val="tx1"/>
                </a:solidFill>
              </a:rPr>
              <a:t>Analytics vendors can be viewed in four broad clusters; several niche players have emerged recently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413" y="2508522"/>
            <a:ext cx="511387" cy="27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090" y="2556116"/>
            <a:ext cx="347162" cy="365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610" y="2980397"/>
            <a:ext cx="567429" cy="27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800" y="2930076"/>
            <a:ext cx="465012" cy="365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1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943" y="3494875"/>
            <a:ext cx="706317" cy="181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090" y="3397040"/>
            <a:ext cx="359760" cy="326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259" y="2563025"/>
            <a:ext cx="691936" cy="51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7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8" y="2522449"/>
            <a:ext cx="557552" cy="557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259" y="3261175"/>
            <a:ext cx="914740" cy="338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6"/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63" b="29311"/>
          <a:stretch/>
        </p:blipFill>
        <p:spPr bwMode="auto">
          <a:xfrm>
            <a:off x="8578424" y="3261175"/>
            <a:ext cx="780473" cy="27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5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610" y="2668487"/>
            <a:ext cx="574935" cy="27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10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384" y="4875584"/>
            <a:ext cx="723883" cy="31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12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304" y="4439365"/>
            <a:ext cx="628850" cy="365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13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137" y="4823107"/>
            <a:ext cx="489409" cy="369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14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258" y="5348994"/>
            <a:ext cx="837686" cy="276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Picture 2" descr="http://infotechlead.com/wp-content/uploads/2012/08/sas-logo.jpg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219" y="4447422"/>
            <a:ext cx="711866" cy="35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http://t3.gstatic.com/images?q=tbn:ANd9GcTTmKly8eR3Z7CoxYvrC6U4XST4iDAvMNaOslq7_FhTdtv5FjMS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168" y="5387999"/>
            <a:ext cx="516060" cy="18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5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418" y="5343942"/>
            <a:ext cx="719594" cy="27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16"/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314" y="4613307"/>
            <a:ext cx="627655" cy="160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5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223" y="4895311"/>
            <a:ext cx="605575" cy="27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2" descr="https://encrypted-tbn2.gstatic.com/images?q=tbn:ANd9GcSKNYQWZPj_dM_Ij0cP8GpbXdXIx4Xc5lL_n_NZZh-peF2dJA3JFR6xwy0">
            <a:hlinkClick r:id="rId27"/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839" y="4836580"/>
            <a:ext cx="825173" cy="48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3"/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9819" y="4580373"/>
            <a:ext cx="546979" cy="226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3"/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53" y="5387999"/>
            <a:ext cx="537782" cy="19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4" name="AutoShape 4"/>
          <p:cNvSpPr>
            <a:spLocks noChangeArrowheads="1"/>
          </p:cNvSpPr>
          <p:nvPr/>
        </p:nvSpPr>
        <p:spPr bwMode="gray">
          <a:xfrm rot="5400000">
            <a:off x="9606642" y="3583042"/>
            <a:ext cx="1761399" cy="1631026"/>
          </a:xfrm>
          <a:prstGeom prst="chevron">
            <a:avLst>
              <a:gd name="adj" fmla="val 27759"/>
            </a:avLst>
          </a:prstGeom>
          <a:solidFill>
            <a:schemeClr val="accent4">
              <a:lumMod val="40000"/>
              <a:lumOff val="60000"/>
              <a:alpha val="73000"/>
            </a:schemeClr>
          </a:solidFill>
          <a:ln w="9525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rot="10800000" vert="eaVert" lIns="0" tIns="91440" bIns="91440" anchor="ctr"/>
          <a:lstStyle>
            <a:lvl1pPr marL="3175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9pPr>
          </a:lstStyle>
          <a:p>
            <a:pPr algn="ctr"/>
            <a:r>
              <a:rPr lang="en-US" altLang="zh-CN" sz="1400" b="1" dirty="0" smtClean="0">
                <a:solidFill>
                  <a:srgbClr val="15477B"/>
                </a:solidFill>
                <a:ea typeface="SimSun" panose="02010600030101010101" pitchFamily="2" charset="-122"/>
              </a:rPr>
              <a:t>Captive Units/ Boutique consulting</a:t>
            </a:r>
          </a:p>
          <a:p>
            <a:pPr algn="ctr"/>
            <a:r>
              <a:rPr lang="en-US" altLang="zh-CN" sz="1400" dirty="0" smtClean="0">
                <a:solidFill>
                  <a:srgbClr val="15477B"/>
                </a:solidFill>
                <a:ea typeface="SimSun" panose="02010600030101010101" pitchFamily="2" charset="-122"/>
              </a:rPr>
              <a:t>Limited specialization in few verticals</a:t>
            </a:r>
            <a:endParaRPr lang="en-US" altLang="zh-CN" sz="1400" dirty="0">
              <a:solidFill>
                <a:srgbClr val="15477B"/>
              </a:solidFill>
              <a:ea typeface="SimSun" panose="02010600030101010101" pitchFamily="2" charset="-122"/>
            </a:endParaRPr>
          </a:p>
        </p:txBody>
      </p:sp>
      <p:sp>
        <p:nvSpPr>
          <p:cNvPr id="75" name="AutoShape 5"/>
          <p:cNvSpPr>
            <a:spLocks noChangeArrowheads="1"/>
          </p:cNvSpPr>
          <p:nvPr/>
        </p:nvSpPr>
        <p:spPr bwMode="gray">
          <a:xfrm rot="5400000">
            <a:off x="9724050" y="2260214"/>
            <a:ext cx="1546598" cy="1631026"/>
          </a:xfrm>
          <a:prstGeom prst="homePlate">
            <a:avLst>
              <a:gd name="adj" fmla="val 30250"/>
            </a:avLst>
          </a:prstGeom>
          <a:solidFill>
            <a:schemeClr val="accent4">
              <a:lumMod val="20000"/>
              <a:lumOff val="80000"/>
              <a:alpha val="4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rot="10800000" vert="eaVert" lIns="19431" tIns="91440" bIns="91440" anchor="ctr"/>
          <a:lstStyle>
            <a:lvl1pPr marL="3175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9pPr>
          </a:lstStyle>
          <a:p>
            <a:pPr algn="ctr"/>
            <a:r>
              <a:rPr lang="en-US" altLang="zh-CN" sz="1400" b="1" dirty="0" smtClean="0">
                <a:solidFill>
                  <a:srgbClr val="15477B"/>
                </a:solidFill>
                <a:ea typeface="SimSun" panose="02010600030101010101" pitchFamily="2" charset="-122"/>
              </a:rPr>
              <a:t>Generic Analytics </a:t>
            </a:r>
            <a:r>
              <a:rPr lang="en-US" altLang="zh-CN" sz="1400" dirty="0" smtClean="0">
                <a:solidFill>
                  <a:srgbClr val="15477B"/>
                </a:solidFill>
                <a:ea typeface="SimSun" panose="02010600030101010101" pitchFamily="2" charset="-122"/>
              </a:rPr>
              <a:t>Offerings across several verticals</a:t>
            </a:r>
            <a:endParaRPr lang="en-US" altLang="zh-CN" sz="1400" dirty="0">
              <a:solidFill>
                <a:srgbClr val="15477B"/>
              </a:solidFill>
              <a:ea typeface="SimSun" panose="02010600030101010101" pitchFamily="2" charset="-122"/>
            </a:endParaRPr>
          </a:p>
        </p:txBody>
      </p:sp>
      <p:sp>
        <p:nvSpPr>
          <p:cNvPr id="76" name="AutoShape 4"/>
          <p:cNvSpPr>
            <a:spLocks noChangeArrowheads="1"/>
          </p:cNvSpPr>
          <p:nvPr/>
        </p:nvSpPr>
        <p:spPr bwMode="gray">
          <a:xfrm rot="5400000">
            <a:off x="9618350" y="5025624"/>
            <a:ext cx="1761403" cy="1632197"/>
          </a:xfrm>
          <a:prstGeom prst="chevron">
            <a:avLst>
              <a:gd name="adj" fmla="val 27759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rot="10800000" vert="eaVert" lIns="0" tIns="91440" bIns="91440" anchor="ctr"/>
          <a:lstStyle>
            <a:lvl1pPr marL="3175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1pPr>
            <a:lvl2pPr marL="742950" indent="-285750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2pPr>
            <a:lvl3pPr marL="1143000" indent="-228600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3pPr>
            <a:lvl4pPr marL="1600200" indent="-228600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4pPr>
            <a:lvl5pPr marL="2057400" indent="-228600"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214D79"/>
                </a:solidFill>
                <a:latin typeface="Helvetica" panose="020B0604020202020204" pitchFamily="34" charset="0"/>
              </a:defRPr>
            </a:lvl9pPr>
          </a:lstStyle>
          <a:p>
            <a:pPr algn="ctr"/>
            <a:r>
              <a:rPr lang="en-US" altLang="zh-CN" sz="1400" b="1" dirty="0" smtClean="0">
                <a:solidFill>
                  <a:srgbClr val="15477B"/>
                </a:solidFill>
                <a:ea typeface="SimSun" panose="02010600030101010101" pitchFamily="2" charset="-122"/>
              </a:rPr>
              <a:t>Thought Leaders</a:t>
            </a:r>
          </a:p>
          <a:p>
            <a:pPr algn="ctr"/>
            <a:r>
              <a:rPr lang="en-US" altLang="zh-CN" sz="1400" dirty="0" smtClean="0">
                <a:solidFill>
                  <a:srgbClr val="15477B"/>
                </a:solidFill>
                <a:ea typeface="SimSun" panose="02010600030101010101" pitchFamily="2" charset="-122"/>
              </a:rPr>
              <a:t>Specialization in 1 to 2 verticals</a:t>
            </a:r>
            <a:endParaRPr lang="en-US" altLang="zh-CN" sz="1400" dirty="0">
              <a:solidFill>
                <a:srgbClr val="15477B"/>
              </a:solidFill>
              <a:ea typeface="SimSun" panose="02010600030101010101" pitchFamily="2" charset="-122"/>
            </a:endParaRPr>
          </a:p>
        </p:txBody>
      </p:sp>
      <p:sp>
        <p:nvSpPr>
          <p:cNvPr id="58" name="Down Arrow 57"/>
          <p:cNvSpPr/>
          <p:nvPr/>
        </p:nvSpPr>
        <p:spPr>
          <a:xfrm>
            <a:off x="11488943" y="2244941"/>
            <a:ext cx="331328" cy="4477483"/>
          </a:xfrm>
          <a:prstGeom prst="downArrow">
            <a:avLst/>
          </a:prstGeom>
          <a:gradFill>
            <a:gsLst>
              <a:gs pos="0">
                <a:schemeClr val="accent4">
                  <a:lumMod val="20000"/>
                  <a:lumOff val="80000"/>
                </a:schemeClr>
              </a:gs>
              <a:gs pos="38000">
                <a:schemeClr val="accent4">
                  <a:lumMod val="40000"/>
                  <a:lumOff val="60000"/>
                </a:schemeClr>
              </a:gs>
              <a:gs pos="70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 59"/>
          <p:cNvSpPr/>
          <p:nvPr/>
        </p:nvSpPr>
        <p:spPr>
          <a:xfrm>
            <a:off x="11340306" y="2647667"/>
            <a:ext cx="773444" cy="184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C336D"/>
                </a:solidFill>
              </a:rPr>
              <a:t>18 - 24 L </a:t>
            </a:r>
            <a:endParaRPr lang="en-IN" sz="1200" dirty="0">
              <a:solidFill>
                <a:srgbClr val="0C336D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11340306" y="4135934"/>
            <a:ext cx="773444" cy="159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C336D"/>
                </a:solidFill>
              </a:rPr>
              <a:t>24 - 40 L </a:t>
            </a:r>
            <a:endParaRPr lang="en-IN" sz="1200" dirty="0">
              <a:solidFill>
                <a:srgbClr val="0C336D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11326510" y="5599933"/>
            <a:ext cx="773444" cy="210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C336D"/>
                </a:solidFill>
              </a:rPr>
              <a:t>40 - 60 L </a:t>
            </a:r>
            <a:endParaRPr lang="en-IN" sz="1200" dirty="0">
              <a:solidFill>
                <a:srgbClr val="0C336D"/>
              </a:solidFill>
            </a:endParaRPr>
          </a:p>
        </p:txBody>
      </p:sp>
      <p:cxnSp>
        <p:nvCxnSpPr>
          <p:cNvPr id="77" name="Straight Connector 76"/>
          <p:cNvCxnSpPr/>
          <p:nvPr/>
        </p:nvCxnSpPr>
        <p:spPr>
          <a:xfrm>
            <a:off x="496887" y="1546606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Picture 84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05" y="4783104"/>
            <a:ext cx="2063923" cy="1530467"/>
          </a:xfrm>
          <a:prstGeom prst="rect">
            <a:avLst/>
          </a:prstGeom>
        </p:spPr>
      </p:pic>
      <p:sp>
        <p:nvSpPr>
          <p:cNvPr id="87" name="Flowchart: Process 86"/>
          <p:cNvSpPr/>
          <p:nvPr/>
        </p:nvSpPr>
        <p:spPr>
          <a:xfrm>
            <a:off x="91360" y="6169707"/>
            <a:ext cx="2218962" cy="586497"/>
          </a:xfrm>
          <a:prstGeom prst="flowChartProcess">
            <a:avLst/>
          </a:prstGeom>
          <a:noFill/>
          <a:ln>
            <a:solidFill>
              <a:srgbClr val="1547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0" name="Picture 12" descr="http://www.tata.com/images/article/titan_company_logo.jpg"/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09" y="6370313"/>
            <a:ext cx="448954" cy="45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0" descr="https://thequizzers.files.wordpress.com/2011/07/taj-logo.png"/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60" y="6359485"/>
            <a:ext cx="371612" cy="41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2" descr="http://upload.wikimedia.org/wikipedia/commons/thumb/8/82/Nielsen_logo.svg/1280px-Nielsen_logo.svg.png"/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743" y="6451539"/>
            <a:ext cx="690622" cy="244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4" descr="http://rhizomepr.com/wp-content/uploads/thomson-reuters-logo.jpg"/>
          <p:cNvPicPr>
            <a:picLocks noChangeAspect="1" noChangeArrowheads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149" y="6404593"/>
            <a:ext cx="351611" cy="35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Rectangle 93"/>
          <p:cNvSpPr/>
          <p:nvPr/>
        </p:nvSpPr>
        <p:spPr bwMode="auto">
          <a:xfrm>
            <a:off x="96813" y="6174330"/>
            <a:ext cx="1050420" cy="170714"/>
          </a:xfrm>
          <a:prstGeom prst="rect">
            <a:avLst/>
          </a:prstGeom>
          <a:solidFill>
            <a:srgbClr val="15477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lt1"/>
                </a:solidFill>
              </a:rPr>
              <a:t>Internal</a:t>
            </a:r>
            <a:endParaRPr lang="en-US" sz="1200" b="1" dirty="0">
              <a:solidFill>
                <a:schemeClr val="lt1"/>
              </a:solidFill>
            </a:endParaRPr>
          </a:p>
        </p:txBody>
      </p:sp>
      <p:sp>
        <p:nvSpPr>
          <p:cNvPr id="95" name="Rectangle 94"/>
          <p:cNvSpPr/>
          <p:nvPr/>
        </p:nvSpPr>
        <p:spPr bwMode="auto">
          <a:xfrm>
            <a:off x="1147233" y="6174329"/>
            <a:ext cx="1136222" cy="169356"/>
          </a:xfrm>
          <a:prstGeom prst="rect">
            <a:avLst/>
          </a:prstGeom>
          <a:solidFill>
            <a:srgbClr val="15477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lt1"/>
                </a:solidFill>
              </a:rPr>
              <a:t>External</a:t>
            </a:r>
            <a:endParaRPr lang="en-US" sz="1200" b="1" dirty="0">
              <a:solidFill>
                <a:schemeClr val="lt1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8852" y="4295846"/>
            <a:ext cx="2229164" cy="2464085"/>
          </a:xfrm>
          <a:prstGeom prst="rect">
            <a:avLst/>
          </a:prstGeom>
          <a:noFill/>
          <a:ln w="28575">
            <a:solidFill>
              <a:srgbClr val="0C33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Flowchart: Process 95"/>
          <p:cNvSpPr/>
          <p:nvPr/>
        </p:nvSpPr>
        <p:spPr>
          <a:xfrm>
            <a:off x="2785726" y="6251920"/>
            <a:ext cx="2229165" cy="497801"/>
          </a:xfrm>
          <a:prstGeom prst="flowChartProcess">
            <a:avLst/>
          </a:prstGeom>
          <a:noFill/>
          <a:ln>
            <a:solidFill>
              <a:srgbClr val="1547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7" name="Picture 2" descr="https://cloud.google.com/hadoop/images/hadoop-elephant.png"/>
          <p:cNvPicPr>
            <a:picLocks noChangeAspect="1" noChangeArrowheads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345" y="6357653"/>
            <a:ext cx="520197" cy="37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2" descr="http://infotechlead.com/wp-content/uploads/2012/08/sas-logo.jpg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284" y="6399306"/>
            <a:ext cx="711866" cy="35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6" descr="http://jstricks.com/wp-content/uploads/2014/10/mongodb-gui-tools.png"/>
          <p:cNvPicPr>
            <a:picLocks noChangeAspect="1" noChangeArrowheads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554" y="6222145"/>
            <a:ext cx="501393" cy="58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8" descr="http://cdn.ttgtmedia.com/rms/computerweekly/Oracle%20logo.jpg"/>
          <p:cNvPicPr>
            <a:picLocks noChangeAspect="1" noChangeArrowheads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293" y="6445812"/>
            <a:ext cx="568079" cy="216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0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800371" y="4589342"/>
            <a:ext cx="2211005" cy="1756867"/>
          </a:xfrm>
          <a:prstGeom prst="rect">
            <a:avLst/>
          </a:prstGeom>
        </p:spPr>
      </p:pic>
      <p:cxnSp>
        <p:nvCxnSpPr>
          <p:cNvPr id="102" name="Straight Connector 101"/>
          <p:cNvCxnSpPr/>
          <p:nvPr/>
        </p:nvCxnSpPr>
        <p:spPr>
          <a:xfrm flipV="1">
            <a:off x="2795927" y="6315986"/>
            <a:ext cx="2216972" cy="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2796928" y="4295846"/>
            <a:ext cx="2227802" cy="2464085"/>
          </a:xfrm>
          <a:prstGeom prst="rect">
            <a:avLst/>
          </a:prstGeom>
          <a:noFill/>
          <a:ln w="28575">
            <a:solidFill>
              <a:srgbClr val="0C33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" name="Picture 102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375" y="2489443"/>
            <a:ext cx="2032351" cy="11004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15413" y="1914401"/>
            <a:ext cx="2116807" cy="575042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2"/>
                </a:solidFill>
              </a:rPr>
              <a:t>Analytics Solutions Providers</a:t>
            </a:r>
            <a:endParaRPr lang="en-IN" sz="1600" b="1" dirty="0">
              <a:solidFill>
                <a:schemeClr val="tx2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80354" y="4309830"/>
            <a:ext cx="2238788" cy="498066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Data Providers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808065" y="4295846"/>
            <a:ext cx="2227791" cy="51205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Analytics Tools Providers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15413" y="1929177"/>
            <a:ext cx="2124968" cy="1660678"/>
          </a:xfrm>
          <a:prstGeom prst="rect">
            <a:avLst/>
          </a:prstGeom>
          <a:noFill/>
          <a:ln w="28575">
            <a:solidFill>
              <a:srgbClr val="1547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977630" y="1742825"/>
            <a:ext cx="1353953" cy="3727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Annual avg. billing /resource</a:t>
            </a:r>
            <a:endParaRPr lang="en-IN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07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520246" cy="706964"/>
          </a:xfrm>
        </p:spPr>
        <p:txBody>
          <a:bodyPr/>
          <a:lstStyle/>
          <a:p>
            <a:r>
              <a:rPr lang="en-US" sz="2400" dirty="0"/>
              <a:t>Consumer Analytics </a:t>
            </a:r>
            <a:r>
              <a:rPr lang="en-US" sz="2400" dirty="0" smtClean="0"/>
              <a:t>Group’s Positioning in the Analytics space  </a:t>
            </a: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A phased hybrid approach of specialization and generalization to cover 6 clusters by Year 5 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28358" y="2067887"/>
            <a:ext cx="4879214" cy="4344203"/>
            <a:chOff x="1056801" y="2376048"/>
            <a:chExt cx="3247999" cy="2682951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1064800" y="5056926"/>
              <a:ext cx="3240000" cy="0"/>
            </a:xfrm>
            <a:prstGeom prst="straightConnector1">
              <a:avLst/>
            </a:prstGeom>
            <a:ln w="28575">
              <a:solidFill>
                <a:srgbClr val="1C578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-5400000">
              <a:off x="-284675" y="3717524"/>
              <a:ext cx="2682951" cy="0"/>
            </a:xfrm>
            <a:prstGeom prst="straightConnector1">
              <a:avLst/>
            </a:prstGeom>
            <a:ln w="28575">
              <a:solidFill>
                <a:srgbClr val="1C578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 bwMode="gray">
          <a:xfrm rot="16200000">
            <a:off x="-1290196" y="3411071"/>
            <a:ext cx="3235537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dirty="0" smtClean="0"/>
              <a:t>Level of Sophistication</a:t>
            </a:r>
            <a:endParaRPr lang="en-IN" sz="1400" b="1" dirty="0" smtClean="0"/>
          </a:p>
        </p:txBody>
      </p:sp>
      <p:sp>
        <p:nvSpPr>
          <p:cNvPr id="23" name="TextBox 22"/>
          <p:cNvSpPr txBox="1"/>
          <p:nvPr/>
        </p:nvSpPr>
        <p:spPr bwMode="gray">
          <a:xfrm>
            <a:off x="1584973" y="6348549"/>
            <a:ext cx="2957600" cy="4720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dirty="0" smtClean="0"/>
              <a:t>Presence in number of verticals</a:t>
            </a:r>
            <a:endParaRPr lang="en-IN" sz="1400" b="1" dirty="0" smtClean="0"/>
          </a:p>
        </p:txBody>
      </p:sp>
      <p:cxnSp>
        <p:nvCxnSpPr>
          <p:cNvPr id="10" name="Elbow Connector 9"/>
          <p:cNvCxnSpPr/>
          <p:nvPr/>
        </p:nvCxnSpPr>
        <p:spPr>
          <a:xfrm flipV="1">
            <a:off x="1133739" y="2810730"/>
            <a:ext cx="2842401" cy="2259504"/>
          </a:xfrm>
          <a:prstGeom prst="bentConnector3">
            <a:avLst>
              <a:gd name="adj1" fmla="val 65"/>
            </a:avLst>
          </a:prstGeom>
          <a:ln w="38100">
            <a:solidFill>
              <a:srgbClr val="1C5785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endCxn id="3" idx="4"/>
          </p:cNvCxnSpPr>
          <p:nvPr/>
        </p:nvCxnSpPr>
        <p:spPr>
          <a:xfrm flipV="1">
            <a:off x="1689439" y="3525445"/>
            <a:ext cx="3146091" cy="2284350"/>
          </a:xfrm>
          <a:prstGeom prst="bentConnector2">
            <a:avLst/>
          </a:prstGeom>
          <a:ln w="38100">
            <a:solidFill>
              <a:srgbClr val="1C5785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ight Arrow 36"/>
          <p:cNvSpPr/>
          <p:nvPr/>
        </p:nvSpPr>
        <p:spPr>
          <a:xfrm rot="19252381">
            <a:off x="1158494" y="4110360"/>
            <a:ext cx="3378978" cy="408056"/>
          </a:xfrm>
          <a:prstGeom prst="rightArrow">
            <a:avLst/>
          </a:prstGeom>
          <a:gradFill flip="none" rotWithShape="1">
            <a:gsLst>
              <a:gs pos="0">
                <a:srgbClr val="0C336D">
                  <a:alpha val="0"/>
                </a:srgbClr>
              </a:gs>
              <a:gs pos="38000">
                <a:srgbClr val="092B68">
                  <a:alpha val="61000"/>
                </a:srgbClr>
              </a:gs>
              <a:gs pos="69000">
                <a:srgbClr val="0C336D"/>
              </a:gs>
              <a:gs pos="100000">
                <a:srgbClr val="1C578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/>
          <p:cNvSpPr txBox="1"/>
          <p:nvPr/>
        </p:nvSpPr>
        <p:spPr bwMode="gray">
          <a:xfrm rot="19237962">
            <a:off x="1329555" y="3092942"/>
            <a:ext cx="914400" cy="50099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342900" indent="-342900" algn="ctr">
              <a:buAutoNum type="alphaUcPeriod"/>
            </a:pPr>
            <a:r>
              <a:rPr lang="en-US" sz="1600" b="1" i="1" dirty="0" smtClean="0">
                <a:solidFill>
                  <a:srgbClr val="FFC000"/>
                </a:solidFill>
              </a:rPr>
              <a:t>Path of </a:t>
            </a:r>
          </a:p>
          <a:p>
            <a:pPr algn="ctr"/>
            <a:r>
              <a:rPr lang="en-US" sz="1600" b="1" i="1" dirty="0" smtClean="0">
                <a:solidFill>
                  <a:srgbClr val="FFC000"/>
                </a:solidFill>
              </a:rPr>
              <a:t>Specialization</a:t>
            </a:r>
            <a:endParaRPr lang="en-IN" sz="1600" b="1" i="1" dirty="0" smtClean="0">
              <a:solidFill>
                <a:srgbClr val="FFC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 bwMode="gray">
          <a:xfrm rot="19314554">
            <a:off x="3263353" y="4721459"/>
            <a:ext cx="1498586" cy="89921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1600" b="1" i="1" dirty="0" smtClean="0">
                <a:solidFill>
                  <a:srgbClr val="FFC000"/>
                </a:solidFill>
              </a:rPr>
              <a:t>B. Path of </a:t>
            </a:r>
          </a:p>
          <a:p>
            <a:pPr algn="ctr"/>
            <a:r>
              <a:rPr lang="en-US" sz="1600" b="1" i="1" dirty="0" smtClean="0">
                <a:solidFill>
                  <a:srgbClr val="FFC000"/>
                </a:solidFill>
              </a:rPr>
              <a:t>Generalization</a:t>
            </a:r>
            <a:endParaRPr lang="en-IN" sz="1600" b="1" i="1" dirty="0" smtClean="0">
              <a:solidFill>
                <a:srgbClr val="FFC000"/>
              </a:solidFill>
            </a:endParaRPr>
          </a:p>
        </p:txBody>
      </p:sp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2321" y="5971584"/>
            <a:ext cx="571826" cy="306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385" y="5868356"/>
            <a:ext cx="471839" cy="497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09" y="2588377"/>
            <a:ext cx="706317" cy="181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06" y="2290893"/>
            <a:ext cx="723883" cy="31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" name="Picture 4" descr="http://t3.gstatic.com/images?q=tbn:ANd9GcTTmKly8eR3Z7CoxYvrC6U4XST4iDAvMNaOslq7_FhTdtv5FjM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743" y="2307168"/>
            <a:ext cx="627447" cy="223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" name="Group 70"/>
          <p:cNvGrpSpPr/>
          <p:nvPr/>
        </p:nvGrpSpPr>
        <p:grpSpPr>
          <a:xfrm>
            <a:off x="6891168" y="2272608"/>
            <a:ext cx="4558880" cy="3482597"/>
            <a:chOff x="1056801" y="2376048"/>
            <a:chExt cx="3247999" cy="2682951"/>
          </a:xfrm>
        </p:grpSpPr>
        <p:cxnSp>
          <p:nvCxnSpPr>
            <p:cNvPr id="72" name="Straight Arrow Connector 71"/>
            <p:cNvCxnSpPr/>
            <p:nvPr/>
          </p:nvCxnSpPr>
          <p:spPr>
            <a:xfrm>
              <a:off x="1064800" y="5056926"/>
              <a:ext cx="3240000" cy="0"/>
            </a:xfrm>
            <a:prstGeom prst="straightConnector1">
              <a:avLst/>
            </a:prstGeom>
            <a:ln w="28575">
              <a:solidFill>
                <a:srgbClr val="1C578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 rot="-5400000">
              <a:off x="-284675" y="3717524"/>
              <a:ext cx="2682951" cy="0"/>
            </a:xfrm>
            <a:prstGeom prst="straightConnector1">
              <a:avLst/>
            </a:prstGeom>
            <a:ln w="28575">
              <a:solidFill>
                <a:srgbClr val="1C578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/>
          <p:cNvSpPr txBox="1"/>
          <p:nvPr/>
        </p:nvSpPr>
        <p:spPr bwMode="gray">
          <a:xfrm rot="16200000">
            <a:off x="5129934" y="3209017"/>
            <a:ext cx="2957955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dirty="0" smtClean="0"/>
              <a:t>Level of Sophistication</a:t>
            </a:r>
            <a:endParaRPr lang="en-IN" sz="1400" b="1" dirty="0" smtClean="0"/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/>
          </p:nvPr>
        </p:nvGraphicFramePr>
        <p:xfrm>
          <a:off x="6982533" y="2572876"/>
          <a:ext cx="4336407" cy="30972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5469"/>
                <a:gridCol w="1445469"/>
                <a:gridCol w="1445469"/>
              </a:tblGrid>
              <a:tr h="77432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7432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7432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7432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 bwMode="gray">
          <a:xfrm>
            <a:off x="7303822" y="5696572"/>
            <a:ext cx="932015" cy="4720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dirty="0" smtClean="0"/>
              <a:t>Y1 to Y3 </a:t>
            </a:r>
            <a:endParaRPr lang="en-IN" sz="1400" b="1" dirty="0" smtClean="0"/>
          </a:p>
        </p:txBody>
      </p:sp>
      <p:sp>
        <p:nvSpPr>
          <p:cNvPr id="76" name="TextBox 75"/>
          <p:cNvSpPr txBox="1"/>
          <p:nvPr/>
        </p:nvSpPr>
        <p:spPr bwMode="gray">
          <a:xfrm>
            <a:off x="8715418" y="5696572"/>
            <a:ext cx="932015" cy="4720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dirty="0" smtClean="0"/>
              <a:t>Y3 to Y5 </a:t>
            </a:r>
            <a:endParaRPr lang="en-IN" sz="1400" b="1" dirty="0" smtClean="0"/>
          </a:p>
        </p:txBody>
      </p:sp>
      <p:sp>
        <p:nvSpPr>
          <p:cNvPr id="77" name="TextBox 76"/>
          <p:cNvSpPr txBox="1"/>
          <p:nvPr/>
        </p:nvSpPr>
        <p:spPr bwMode="gray">
          <a:xfrm>
            <a:off x="10386925" y="5680985"/>
            <a:ext cx="932015" cy="4720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dirty="0" smtClean="0"/>
              <a:t>Y5+ </a:t>
            </a:r>
            <a:endParaRPr lang="en-IN" sz="1400" b="1" dirty="0" smtClean="0"/>
          </a:p>
        </p:txBody>
      </p:sp>
      <p:sp>
        <p:nvSpPr>
          <p:cNvPr id="82" name="Oval 81"/>
          <p:cNvSpPr/>
          <p:nvPr/>
        </p:nvSpPr>
        <p:spPr>
          <a:xfrm>
            <a:off x="6943907" y="2572876"/>
            <a:ext cx="627654" cy="3629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C1</a:t>
            </a:r>
            <a:endParaRPr lang="en-IN" sz="1400" dirty="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276" y="5154873"/>
            <a:ext cx="621194" cy="12229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767" y="2501602"/>
            <a:ext cx="524842" cy="10115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 bwMode="gray">
          <a:xfrm>
            <a:off x="4429591" y="2104375"/>
            <a:ext cx="894046" cy="55486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1400" b="1" i="1" dirty="0" smtClean="0">
                <a:solidFill>
                  <a:srgbClr val="1C5785"/>
                </a:solidFill>
              </a:rPr>
              <a:t>Target State</a:t>
            </a:r>
            <a:endParaRPr lang="en-IN" sz="1400" b="1" i="1" dirty="0" smtClean="0">
              <a:solidFill>
                <a:srgbClr val="1C5785"/>
              </a:solidFill>
            </a:endParaRPr>
          </a:p>
        </p:txBody>
      </p:sp>
      <p:sp>
        <p:nvSpPr>
          <p:cNvPr id="70" name="TextBox 69"/>
          <p:cNvSpPr txBox="1"/>
          <p:nvPr/>
        </p:nvSpPr>
        <p:spPr bwMode="gray">
          <a:xfrm>
            <a:off x="10281100" y="2137815"/>
            <a:ext cx="894046" cy="55486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1400" b="1" i="1" dirty="0" smtClean="0">
                <a:solidFill>
                  <a:srgbClr val="1C5785"/>
                </a:solidFill>
              </a:rPr>
              <a:t>Target State</a:t>
            </a:r>
            <a:endParaRPr lang="en-IN" sz="1400" b="1" i="1" dirty="0" smtClean="0">
              <a:solidFill>
                <a:srgbClr val="1C5785"/>
              </a:solidFill>
            </a:endParaRPr>
          </a:p>
        </p:txBody>
      </p:sp>
      <p:cxnSp>
        <p:nvCxnSpPr>
          <p:cNvPr id="66" name="Straight Connector 65"/>
          <p:cNvCxnSpPr/>
          <p:nvPr/>
        </p:nvCxnSpPr>
        <p:spPr>
          <a:xfrm>
            <a:off x="501061" y="1553786"/>
            <a:ext cx="11148249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6960974" y="5294799"/>
            <a:ext cx="627654" cy="36295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C5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7320764" y="2989932"/>
            <a:ext cx="627654" cy="3629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C3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69" name="Oval 68"/>
          <p:cNvSpPr/>
          <p:nvPr/>
        </p:nvSpPr>
        <p:spPr>
          <a:xfrm>
            <a:off x="7657362" y="5281024"/>
            <a:ext cx="627654" cy="36295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C6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78" name="Oval 77"/>
          <p:cNvSpPr/>
          <p:nvPr/>
        </p:nvSpPr>
        <p:spPr>
          <a:xfrm>
            <a:off x="7303822" y="4928701"/>
            <a:ext cx="627654" cy="36295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C4</a:t>
            </a:r>
          </a:p>
        </p:txBody>
      </p:sp>
      <p:sp>
        <p:nvSpPr>
          <p:cNvPr id="79" name="Oval 78"/>
          <p:cNvSpPr/>
          <p:nvPr/>
        </p:nvSpPr>
        <p:spPr>
          <a:xfrm>
            <a:off x="7654485" y="2572876"/>
            <a:ext cx="627654" cy="3629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C2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80" name="Oval 79"/>
          <p:cNvSpPr/>
          <p:nvPr/>
        </p:nvSpPr>
        <p:spPr>
          <a:xfrm>
            <a:off x="8472619" y="2561501"/>
            <a:ext cx="627654" cy="3629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C1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81" name="Oval 80"/>
          <p:cNvSpPr/>
          <p:nvPr/>
        </p:nvSpPr>
        <p:spPr>
          <a:xfrm>
            <a:off x="9198963" y="2561501"/>
            <a:ext cx="627654" cy="3629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C2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83" name="Oval 82"/>
          <p:cNvSpPr/>
          <p:nvPr/>
        </p:nvSpPr>
        <p:spPr>
          <a:xfrm>
            <a:off x="9948855" y="2577421"/>
            <a:ext cx="627654" cy="3629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C1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10675199" y="2577421"/>
            <a:ext cx="627654" cy="3629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C2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8847470" y="2924458"/>
            <a:ext cx="627654" cy="3629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C3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8902602" y="3904629"/>
            <a:ext cx="627654" cy="36295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C4</a:t>
            </a:r>
          </a:p>
        </p:txBody>
      </p:sp>
      <p:sp>
        <p:nvSpPr>
          <p:cNvPr id="109" name="Oval 108"/>
          <p:cNvSpPr/>
          <p:nvPr/>
        </p:nvSpPr>
        <p:spPr>
          <a:xfrm>
            <a:off x="10683120" y="2989933"/>
            <a:ext cx="627654" cy="3629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C4</a:t>
            </a:r>
          </a:p>
        </p:txBody>
      </p:sp>
      <p:sp>
        <p:nvSpPr>
          <p:cNvPr id="110" name="Oval 109"/>
          <p:cNvSpPr/>
          <p:nvPr/>
        </p:nvSpPr>
        <p:spPr>
          <a:xfrm>
            <a:off x="9962435" y="2981077"/>
            <a:ext cx="627654" cy="3629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C3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8472619" y="5247757"/>
            <a:ext cx="627654" cy="36295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C5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9198963" y="5239802"/>
            <a:ext cx="627654" cy="36295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C6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9962435" y="3398301"/>
            <a:ext cx="627654" cy="3629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C5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10685490" y="3398301"/>
            <a:ext cx="627654" cy="36295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C6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9914699" y="2546745"/>
            <a:ext cx="1521000" cy="1287068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7878337" y="4272750"/>
            <a:ext cx="1007912" cy="681481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flipV="1">
            <a:off x="9487490" y="3645394"/>
            <a:ext cx="384479" cy="232173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 flipV="1">
            <a:off x="9176221" y="4054910"/>
            <a:ext cx="1690260" cy="1136159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960974" y="6082562"/>
            <a:ext cx="5132288" cy="735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rgbClr val="0C336D"/>
                </a:solidFill>
              </a:rPr>
              <a:t>C1: Retail &amp; CPG		C2: Financial Services</a:t>
            </a:r>
          </a:p>
          <a:p>
            <a:r>
              <a:rPr lang="en-US" sz="1400" dirty="0" smtClean="0">
                <a:solidFill>
                  <a:srgbClr val="0C336D"/>
                </a:solidFill>
              </a:rPr>
              <a:t>C3: Travel &amp; Hospitality 	C4: Lifestyle</a:t>
            </a:r>
          </a:p>
          <a:p>
            <a:r>
              <a:rPr lang="en-US" sz="1400" dirty="0" smtClean="0">
                <a:solidFill>
                  <a:srgbClr val="0C336D"/>
                </a:solidFill>
              </a:rPr>
              <a:t>C5: Teleservices		C6: Commercial</a:t>
            </a:r>
            <a:endParaRPr lang="en-IN" sz="1400" dirty="0">
              <a:solidFill>
                <a:srgbClr val="0C336D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657202" y="1648967"/>
            <a:ext cx="4750370" cy="484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smtClean="0">
                <a:solidFill>
                  <a:srgbClr val="0C336D"/>
                </a:solidFill>
              </a:rPr>
              <a:t>Hybrid Positioning Strategy</a:t>
            </a:r>
            <a:endParaRPr lang="en-IN" u="sng" dirty="0">
              <a:solidFill>
                <a:srgbClr val="0C336D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6786112" y="1650324"/>
            <a:ext cx="4750370" cy="484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smtClean="0">
                <a:solidFill>
                  <a:srgbClr val="0C336D"/>
                </a:solidFill>
              </a:rPr>
              <a:t>Cluster-wise approach</a:t>
            </a:r>
            <a:endParaRPr lang="en-IN" u="sng" dirty="0">
              <a:solidFill>
                <a:srgbClr val="0C336D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4091988" y="2101300"/>
            <a:ext cx="1487084" cy="1424145"/>
          </a:xfrm>
          <a:prstGeom prst="ellipse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86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2" y="516222"/>
            <a:ext cx="9495875" cy="706964"/>
          </a:xfrm>
        </p:spPr>
        <p:txBody>
          <a:bodyPr/>
          <a:lstStyle/>
          <a:p>
            <a:r>
              <a:rPr lang="en-US" dirty="0" smtClean="0"/>
              <a:t>Unique Value Proposition and Enabler of Customer Centricity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white"/>
                </a:solidFill>
              </a:rPr>
              <a:pPr/>
              <a:t>13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Consumer Analytic Group will </a:t>
            </a:r>
            <a:r>
              <a:rPr lang="en-IN" dirty="0">
                <a:solidFill>
                  <a:schemeClr val="tx1"/>
                </a:solidFill>
              </a:rPr>
              <a:t>harness the power of data and analytics</a:t>
            </a:r>
            <a:r>
              <a:rPr lang="en-US" dirty="0">
                <a:solidFill>
                  <a:schemeClr val="tx1"/>
                </a:solidFill>
              </a:rPr>
              <a:t> with enormous </a:t>
            </a:r>
            <a:r>
              <a:rPr lang="en-IN" dirty="0">
                <a:solidFill>
                  <a:schemeClr val="tx1"/>
                </a:solidFill>
              </a:rPr>
              <a:t>scale and speed to develop customer insights that will yield significant business </a:t>
            </a:r>
            <a:r>
              <a:rPr lang="en-IN" dirty="0" smtClean="0">
                <a:solidFill>
                  <a:schemeClr val="tx1"/>
                </a:solidFill>
              </a:rPr>
              <a:t>gains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428896" y="1983825"/>
            <a:ext cx="4865853" cy="4874175"/>
            <a:chOff x="984877" y="1960533"/>
            <a:chExt cx="5140689" cy="5149480"/>
          </a:xfrm>
          <a:solidFill>
            <a:srgbClr val="1F74B7"/>
          </a:solidFill>
        </p:grpSpPr>
        <p:sp>
          <p:nvSpPr>
            <p:cNvPr id="63" name="Pie 62"/>
            <p:cNvSpPr/>
            <p:nvPr/>
          </p:nvSpPr>
          <p:spPr>
            <a:xfrm rot="19872972">
              <a:off x="993389" y="1960533"/>
              <a:ext cx="5132177" cy="5132177"/>
            </a:xfrm>
            <a:prstGeom prst="pie">
              <a:avLst>
                <a:gd name="adj1" fmla="val 1719646"/>
                <a:gd name="adj2" fmla="val 5385451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64" name="Pie 63"/>
            <p:cNvSpPr/>
            <p:nvPr/>
          </p:nvSpPr>
          <p:spPr>
            <a:xfrm rot="16200000">
              <a:off x="986193" y="1977833"/>
              <a:ext cx="5132177" cy="5132178"/>
            </a:xfrm>
            <a:prstGeom prst="pie">
              <a:avLst>
                <a:gd name="adj1" fmla="val 1733518"/>
                <a:gd name="adj2" fmla="val 5385451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65" name="Pie 64"/>
            <p:cNvSpPr/>
            <p:nvPr/>
          </p:nvSpPr>
          <p:spPr>
            <a:xfrm rot="12542084">
              <a:off x="984877" y="1977836"/>
              <a:ext cx="5132177" cy="5132177"/>
            </a:xfrm>
            <a:prstGeom prst="pie">
              <a:avLst>
                <a:gd name="adj1" fmla="val 1694730"/>
                <a:gd name="adj2" fmla="val 5426159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66" name="Pie 65"/>
            <p:cNvSpPr/>
            <p:nvPr/>
          </p:nvSpPr>
          <p:spPr>
            <a:xfrm rot="8865029">
              <a:off x="986193" y="1977830"/>
              <a:ext cx="5132177" cy="5132177"/>
            </a:xfrm>
            <a:prstGeom prst="pie">
              <a:avLst>
                <a:gd name="adj1" fmla="val 1733518"/>
                <a:gd name="adj2" fmla="val 5385451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67" name="Pie 66"/>
            <p:cNvSpPr/>
            <p:nvPr/>
          </p:nvSpPr>
          <p:spPr>
            <a:xfrm rot="5197560">
              <a:off x="986192" y="1977830"/>
              <a:ext cx="5132177" cy="5132177"/>
            </a:xfrm>
            <a:prstGeom prst="pie">
              <a:avLst>
                <a:gd name="adj1" fmla="val 1898080"/>
                <a:gd name="adj2" fmla="val 5587050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white"/>
                </a:solidFill>
              </a:endParaRPr>
            </a:p>
          </p:txBody>
        </p:sp>
        <p:grpSp>
          <p:nvGrpSpPr>
            <p:cNvPr id="68" name="Group 67"/>
            <p:cNvGrpSpPr/>
            <p:nvPr/>
          </p:nvGrpSpPr>
          <p:grpSpPr>
            <a:xfrm rot="5400000">
              <a:off x="2505786" y="3474071"/>
              <a:ext cx="2180839" cy="2180839"/>
              <a:chOff x="2587985" y="2205051"/>
              <a:chExt cx="2447894" cy="2447894"/>
            </a:xfrm>
            <a:grpFill/>
          </p:grpSpPr>
          <p:sp>
            <p:nvSpPr>
              <p:cNvPr id="74" name="Teardrop 73"/>
              <p:cNvSpPr/>
              <p:nvPr/>
            </p:nvSpPr>
            <p:spPr>
              <a:xfrm rot="2700000">
                <a:off x="2587985" y="2205051"/>
                <a:ext cx="2447894" cy="2447894"/>
              </a:xfrm>
              <a:prstGeom prst="teardrop">
                <a:avLst>
                  <a:gd name="adj" fmla="val 110588"/>
                </a:avLst>
              </a:prstGeom>
              <a:grpFill/>
              <a:ln>
                <a:solidFill>
                  <a:schemeClr val="bg1"/>
                </a:solidFill>
              </a:ln>
              <a:effectLst>
                <a:outerShdw blurRad="152400" dist="114300" dir="5400000" sx="90000" sy="-19000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75" name="Freeform 74"/>
              <p:cNvSpPr/>
              <p:nvPr/>
            </p:nvSpPr>
            <p:spPr>
              <a:xfrm>
                <a:off x="2666504" y="2301916"/>
                <a:ext cx="2290857" cy="2290613"/>
              </a:xfrm>
              <a:custGeom>
                <a:avLst/>
                <a:gdLst>
                  <a:gd name="connsiteX0" fmla="*/ 0 w 2290857"/>
                  <a:gd name="connsiteY0" fmla="*/ 1145307 h 2290613"/>
                  <a:gd name="connsiteX1" fmla="*/ 1145429 w 2290857"/>
                  <a:gd name="connsiteY1" fmla="*/ 0 h 2290613"/>
                  <a:gd name="connsiteX2" fmla="*/ 2290858 w 2290857"/>
                  <a:gd name="connsiteY2" fmla="*/ 1145307 h 2290613"/>
                  <a:gd name="connsiteX3" fmla="*/ 1145429 w 2290857"/>
                  <a:gd name="connsiteY3" fmla="*/ 2290614 h 2290613"/>
                  <a:gd name="connsiteX4" fmla="*/ 0 w 2290857"/>
                  <a:gd name="connsiteY4" fmla="*/ 1145307 h 2290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90857" h="2290613">
                    <a:moveTo>
                      <a:pt x="0" y="1145307"/>
                    </a:moveTo>
                    <a:cubicBezTo>
                      <a:pt x="0" y="512771"/>
                      <a:pt x="512826" y="0"/>
                      <a:pt x="1145429" y="0"/>
                    </a:cubicBezTo>
                    <a:cubicBezTo>
                      <a:pt x="1778032" y="0"/>
                      <a:pt x="2290858" y="512771"/>
                      <a:pt x="2290858" y="1145307"/>
                    </a:cubicBezTo>
                    <a:cubicBezTo>
                      <a:pt x="2290858" y="1777843"/>
                      <a:pt x="1778032" y="2290614"/>
                      <a:pt x="1145429" y="2290614"/>
                    </a:cubicBezTo>
                    <a:cubicBezTo>
                      <a:pt x="512826" y="2290614"/>
                      <a:pt x="0" y="1777843"/>
                      <a:pt x="0" y="11453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1F74B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vert270" wrap="square" lIns="393534" tIns="393332" rIns="393533" bIns="393332" numCol="1" spcCol="1270" anchor="ctr" anchorCtr="0">
                <a:noAutofit/>
              </a:bodyPr>
              <a:lstStyle/>
              <a:p>
                <a:pPr algn="ctr" defTabSz="2311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700" b="1" dirty="0">
                    <a:solidFill>
                      <a:prstClr val="black">
                        <a:hueOff val="0"/>
                        <a:satOff val="0"/>
                        <a:lumOff val="0"/>
                        <a:alphaOff val="0"/>
                      </a:prstClr>
                    </a:solidFill>
                  </a:rPr>
                  <a:t>Value Proposition</a:t>
                </a:r>
                <a:endParaRPr lang="en-IN" sz="1700" b="1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endParaRPr>
              </a:p>
            </p:txBody>
          </p:sp>
        </p:grpSp>
        <p:sp>
          <p:nvSpPr>
            <p:cNvPr id="69" name="TextBox 68"/>
            <p:cNvSpPr txBox="1"/>
            <p:nvPr/>
          </p:nvSpPr>
          <p:spPr bwMode="gray">
            <a:xfrm>
              <a:off x="1571307" y="4980995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Optimization 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of Resources</a:t>
              </a:r>
            </a:p>
          </p:txBody>
        </p:sp>
        <p:sp>
          <p:nvSpPr>
            <p:cNvPr id="70" name="TextBox 69"/>
            <p:cNvSpPr txBox="1"/>
            <p:nvPr/>
          </p:nvSpPr>
          <p:spPr bwMode="gray">
            <a:xfrm>
              <a:off x="1526778" y="3274877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Optimization 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of Productivity</a:t>
              </a:r>
            </a:p>
          </p:txBody>
        </p:sp>
        <p:sp>
          <p:nvSpPr>
            <p:cNvPr id="71" name="TextBox 70"/>
            <p:cNvSpPr txBox="1"/>
            <p:nvPr/>
          </p:nvSpPr>
          <p:spPr bwMode="gray">
            <a:xfrm>
              <a:off x="4772014" y="4980995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Domain </a:t>
              </a:r>
              <a:endParaRPr lang="en-US" sz="1400" b="1" dirty="0">
                <a:solidFill>
                  <a:prstClr val="white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Knowledge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72" name="TextBox 71"/>
            <p:cNvSpPr txBox="1"/>
            <p:nvPr/>
          </p:nvSpPr>
          <p:spPr bwMode="gray">
            <a:xfrm>
              <a:off x="4747917" y="3274877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Analytic </a:t>
              </a:r>
              <a:endParaRPr lang="en-US" sz="1400" b="1" dirty="0">
                <a:solidFill>
                  <a:prstClr val="white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Horsepower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73" name="TextBox 72"/>
            <p:cNvSpPr txBox="1"/>
            <p:nvPr/>
          </p:nvSpPr>
          <p:spPr bwMode="gray">
            <a:xfrm>
              <a:off x="3029692" y="2171594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Cross Organization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Cross Cluster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Intelligence Access</a:t>
              </a:r>
            </a:p>
          </p:txBody>
        </p:sp>
      </p:grpSp>
      <p:sp>
        <p:nvSpPr>
          <p:cNvPr id="76" name="Pentagon 75"/>
          <p:cNvSpPr/>
          <p:nvPr/>
        </p:nvSpPr>
        <p:spPr bwMode="auto">
          <a:xfrm>
            <a:off x="5755813" y="2309393"/>
            <a:ext cx="480555" cy="3853561"/>
          </a:xfrm>
          <a:prstGeom prst="homePlate">
            <a:avLst>
              <a:gd name="adj" fmla="val 100000"/>
            </a:avLst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b="1" kern="0" dirty="0">
              <a:solidFill>
                <a:srgbClr val="53565A"/>
              </a:solidFill>
            </a:endParaRPr>
          </a:p>
        </p:txBody>
      </p:sp>
      <p:grpSp>
        <p:nvGrpSpPr>
          <p:cNvPr id="77" name="Group 76"/>
          <p:cNvGrpSpPr/>
          <p:nvPr/>
        </p:nvGrpSpPr>
        <p:grpSpPr>
          <a:xfrm>
            <a:off x="5795910" y="2298551"/>
            <a:ext cx="6131091" cy="4240702"/>
            <a:chOff x="6533548" y="2268738"/>
            <a:chExt cx="6236366" cy="4240702"/>
          </a:xfrm>
        </p:grpSpPr>
        <p:grpSp>
          <p:nvGrpSpPr>
            <p:cNvPr id="78" name="Group 77"/>
            <p:cNvGrpSpPr/>
            <p:nvPr/>
          </p:nvGrpSpPr>
          <p:grpSpPr>
            <a:xfrm>
              <a:off x="6533548" y="2268738"/>
              <a:ext cx="6236366" cy="4240702"/>
              <a:chOff x="6225352" y="2487106"/>
              <a:chExt cx="6236366" cy="4240702"/>
            </a:xfrm>
          </p:grpSpPr>
          <p:pic>
            <p:nvPicPr>
              <p:cNvPr id="80" name="Picture 79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4700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2657" y="4577539"/>
                <a:ext cx="225623" cy="732522"/>
              </a:xfrm>
              <a:prstGeom prst="rect">
                <a:avLst/>
              </a:prstGeom>
            </p:spPr>
          </p:pic>
          <p:sp>
            <p:nvSpPr>
              <p:cNvPr id="81" name="Freeform 80"/>
              <p:cNvSpPr/>
              <p:nvPr/>
            </p:nvSpPr>
            <p:spPr>
              <a:xfrm rot="16200000">
                <a:off x="9082327" y="3932120"/>
                <a:ext cx="523573" cy="461646"/>
              </a:xfrm>
              <a:custGeom>
                <a:avLst/>
                <a:gdLst>
                  <a:gd name="connsiteX0" fmla="*/ 0 w 728472"/>
                  <a:gd name="connsiteY0" fmla="*/ 92329 h 461646"/>
                  <a:gd name="connsiteX1" fmla="*/ 497649 w 728472"/>
                  <a:gd name="connsiteY1" fmla="*/ 92329 h 461646"/>
                  <a:gd name="connsiteX2" fmla="*/ 497649 w 728472"/>
                  <a:gd name="connsiteY2" fmla="*/ 0 h 461646"/>
                  <a:gd name="connsiteX3" fmla="*/ 728472 w 728472"/>
                  <a:gd name="connsiteY3" fmla="*/ 230823 h 461646"/>
                  <a:gd name="connsiteX4" fmla="*/ 497649 w 728472"/>
                  <a:gd name="connsiteY4" fmla="*/ 461646 h 461646"/>
                  <a:gd name="connsiteX5" fmla="*/ 497649 w 728472"/>
                  <a:gd name="connsiteY5" fmla="*/ 369317 h 461646"/>
                  <a:gd name="connsiteX6" fmla="*/ 0 w 728472"/>
                  <a:gd name="connsiteY6" fmla="*/ 369317 h 461646"/>
                  <a:gd name="connsiteX7" fmla="*/ 0 w 728472"/>
                  <a:gd name="connsiteY7" fmla="*/ 92329 h 461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8472" h="461646">
                    <a:moveTo>
                      <a:pt x="0" y="92329"/>
                    </a:moveTo>
                    <a:lnTo>
                      <a:pt x="497649" y="92329"/>
                    </a:lnTo>
                    <a:lnTo>
                      <a:pt x="497649" y="0"/>
                    </a:lnTo>
                    <a:lnTo>
                      <a:pt x="728472" y="230823"/>
                    </a:lnTo>
                    <a:lnTo>
                      <a:pt x="497649" y="461646"/>
                    </a:lnTo>
                    <a:lnTo>
                      <a:pt x="497649" y="369317"/>
                    </a:lnTo>
                    <a:lnTo>
                      <a:pt x="0" y="369317"/>
                    </a:lnTo>
                    <a:lnTo>
                      <a:pt x="0" y="92329"/>
                    </a:lnTo>
                    <a:close/>
                  </a:path>
                </a:pathLst>
              </a:custGeom>
              <a:solidFill>
                <a:srgbClr val="123F76"/>
              </a:solidFill>
              <a:ln>
                <a:solidFill>
                  <a:srgbClr val="ACD433"/>
                </a:solidFill>
              </a:ln>
              <a:scene3d>
                <a:camera prst="orthographicFront">
                  <a:rot lat="0" lon="10800000" rev="0"/>
                </a:camera>
                <a:lightRig rig="threePt" dir="t"/>
              </a:scene3d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0" tIns="92328" rIns="138493" bIns="92329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IN" sz="1900">
                  <a:solidFill>
                    <a:prstClr val="white"/>
                  </a:solidFill>
                </a:endParaRPr>
              </a:p>
            </p:txBody>
          </p:sp>
          <p:sp>
            <p:nvSpPr>
              <p:cNvPr id="82" name="Freeform 81"/>
              <p:cNvSpPr/>
              <p:nvPr/>
            </p:nvSpPr>
            <p:spPr>
              <a:xfrm rot="1664632">
                <a:off x="9982295" y="5036300"/>
                <a:ext cx="595766" cy="422403"/>
              </a:xfrm>
              <a:custGeom>
                <a:avLst/>
                <a:gdLst>
                  <a:gd name="connsiteX0" fmla="*/ 0 w 568345"/>
                  <a:gd name="connsiteY0" fmla="*/ 84481 h 422403"/>
                  <a:gd name="connsiteX1" fmla="*/ 357144 w 568345"/>
                  <a:gd name="connsiteY1" fmla="*/ 84481 h 422403"/>
                  <a:gd name="connsiteX2" fmla="*/ 357144 w 568345"/>
                  <a:gd name="connsiteY2" fmla="*/ 0 h 422403"/>
                  <a:gd name="connsiteX3" fmla="*/ 568345 w 568345"/>
                  <a:gd name="connsiteY3" fmla="*/ 211202 h 422403"/>
                  <a:gd name="connsiteX4" fmla="*/ 357144 w 568345"/>
                  <a:gd name="connsiteY4" fmla="*/ 422403 h 422403"/>
                  <a:gd name="connsiteX5" fmla="*/ 357144 w 568345"/>
                  <a:gd name="connsiteY5" fmla="*/ 337922 h 422403"/>
                  <a:gd name="connsiteX6" fmla="*/ 0 w 568345"/>
                  <a:gd name="connsiteY6" fmla="*/ 337922 h 422403"/>
                  <a:gd name="connsiteX7" fmla="*/ 0 w 568345"/>
                  <a:gd name="connsiteY7" fmla="*/ 84481 h 422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8345" h="422403">
                    <a:moveTo>
                      <a:pt x="0" y="84481"/>
                    </a:moveTo>
                    <a:lnTo>
                      <a:pt x="357144" y="84481"/>
                    </a:lnTo>
                    <a:lnTo>
                      <a:pt x="357144" y="0"/>
                    </a:lnTo>
                    <a:lnTo>
                      <a:pt x="568345" y="211202"/>
                    </a:lnTo>
                    <a:lnTo>
                      <a:pt x="357144" y="422403"/>
                    </a:lnTo>
                    <a:lnTo>
                      <a:pt x="357144" y="337922"/>
                    </a:lnTo>
                    <a:lnTo>
                      <a:pt x="0" y="337922"/>
                    </a:lnTo>
                    <a:lnTo>
                      <a:pt x="0" y="84481"/>
                    </a:lnTo>
                    <a:close/>
                  </a:path>
                </a:pathLst>
              </a:custGeom>
              <a:solidFill>
                <a:srgbClr val="123F76"/>
              </a:solidFill>
              <a:ln>
                <a:solidFill>
                  <a:srgbClr val="ACD433"/>
                </a:solidFill>
              </a:ln>
              <a:scene3d>
                <a:camera prst="orthographicFront">
                  <a:rot lat="0" lon="10800000" rev="0"/>
                </a:camera>
                <a:lightRig rig="threePt" dir="t"/>
              </a:scene3d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-1" tIns="84480" rIns="126721" bIns="84481" numCol="1" spcCol="1270" anchor="ctr" anchorCtr="0">
                <a:noAutofit/>
              </a:bodyPr>
              <a:lstStyle/>
              <a:p>
                <a:pPr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IN">
                  <a:solidFill>
                    <a:prstClr val="white"/>
                  </a:solidFill>
                </a:endParaRPr>
              </a:p>
            </p:txBody>
          </p:sp>
          <p:sp>
            <p:nvSpPr>
              <p:cNvPr id="83" name="Freeform 82"/>
              <p:cNvSpPr/>
              <p:nvPr/>
            </p:nvSpPr>
            <p:spPr>
              <a:xfrm rot="19859040">
                <a:off x="8231892" y="5083512"/>
                <a:ext cx="588468" cy="460379"/>
              </a:xfrm>
              <a:custGeom>
                <a:avLst/>
                <a:gdLst>
                  <a:gd name="connsiteX0" fmla="*/ 0 w 556194"/>
                  <a:gd name="connsiteY0" fmla="*/ 92021 h 460106"/>
                  <a:gd name="connsiteX1" fmla="*/ 326141 w 556194"/>
                  <a:gd name="connsiteY1" fmla="*/ 92021 h 460106"/>
                  <a:gd name="connsiteX2" fmla="*/ 326141 w 556194"/>
                  <a:gd name="connsiteY2" fmla="*/ 0 h 460106"/>
                  <a:gd name="connsiteX3" fmla="*/ 556194 w 556194"/>
                  <a:gd name="connsiteY3" fmla="*/ 230053 h 460106"/>
                  <a:gd name="connsiteX4" fmla="*/ 326141 w 556194"/>
                  <a:gd name="connsiteY4" fmla="*/ 460106 h 460106"/>
                  <a:gd name="connsiteX5" fmla="*/ 326141 w 556194"/>
                  <a:gd name="connsiteY5" fmla="*/ 368085 h 460106"/>
                  <a:gd name="connsiteX6" fmla="*/ 0 w 556194"/>
                  <a:gd name="connsiteY6" fmla="*/ 368085 h 460106"/>
                  <a:gd name="connsiteX7" fmla="*/ 0 w 556194"/>
                  <a:gd name="connsiteY7" fmla="*/ 92021 h 460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6194" h="460106">
                    <a:moveTo>
                      <a:pt x="556194" y="368085"/>
                    </a:moveTo>
                    <a:lnTo>
                      <a:pt x="230053" y="368085"/>
                    </a:lnTo>
                    <a:lnTo>
                      <a:pt x="230053" y="460106"/>
                    </a:lnTo>
                    <a:lnTo>
                      <a:pt x="0" y="230053"/>
                    </a:lnTo>
                    <a:lnTo>
                      <a:pt x="230053" y="0"/>
                    </a:lnTo>
                    <a:lnTo>
                      <a:pt x="230053" y="92021"/>
                    </a:lnTo>
                    <a:lnTo>
                      <a:pt x="556194" y="92021"/>
                    </a:lnTo>
                    <a:lnTo>
                      <a:pt x="556194" y="368085"/>
                    </a:lnTo>
                    <a:close/>
                  </a:path>
                </a:pathLst>
              </a:custGeom>
              <a:solidFill>
                <a:srgbClr val="123F76"/>
              </a:solidFill>
              <a:ln>
                <a:solidFill>
                  <a:srgbClr val="ACD433"/>
                </a:solidFill>
              </a:ln>
              <a:scene3d>
                <a:camera prst="orthographicFront">
                  <a:rot lat="0" lon="10800000" rev="0"/>
                </a:camera>
                <a:lightRig rig="threePt" dir="t"/>
              </a:scene3d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38030" tIns="92022" rIns="1" bIns="92020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IN" sz="1900">
                  <a:solidFill>
                    <a:prstClr val="white"/>
                  </a:solidFill>
                </a:endParaRP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8029243" y="2487106"/>
                <a:ext cx="2721591" cy="685800"/>
              </a:xfrm>
              <a:prstGeom prst="rect">
                <a:avLst/>
              </a:prstGeom>
              <a:noFill/>
              <a:ln w="12700" cap="flat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457200">
                  <a:defRPr/>
                </a:pPr>
                <a:r>
                  <a:rPr lang="en-US" sz="1600" b="1" dirty="0">
                    <a:solidFill>
                      <a:srgbClr val="214D79"/>
                    </a:solidFill>
                    <a:latin typeface="Helvetica"/>
                  </a:rPr>
                  <a:t>Tata Group</a:t>
                </a:r>
                <a:endParaRPr lang="en-US" sz="1400" b="1" dirty="0">
                  <a:solidFill>
                    <a:srgbClr val="214D79"/>
                  </a:solidFill>
                  <a:latin typeface="Helvetica"/>
                </a:endParaRPr>
              </a:p>
              <a:p>
                <a:pPr algn="ctr" defTabSz="457200">
                  <a:defRPr/>
                </a:pPr>
                <a:r>
                  <a:rPr lang="en-US" b="1" u="sng" dirty="0">
                    <a:solidFill>
                      <a:srgbClr val="FF0000"/>
                    </a:solidFill>
                    <a:latin typeface="Helvetica"/>
                  </a:rPr>
                  <a:t>C</a:t>
                </a:r>
                <a:r>
                  <a:rPr lang="en-US" sz="1400" u="sng" dirty="0">
                    <a:solidFill>
                      <a:srgbClr val="214D79"/>
                    </a:solidFill>
                    <a:latin typeface="Helvetica"/>
                  </a:rPr>
                  <a:t>ollaborate</a:t>
                </a:r>
                <a:r>
                  <a:rPr lang="en-US" sz="1400" dirty="0">
                    <a:solidFill>
                      <a:srgbClr val="214D79"/>
                    </a:solidFill>
                    <a:latin typeface="Helvetica"/>
                  </a:rPr>
                  <a:t> at the Group Level</a:t>
                </a:r>
                <a:endParaRPr lang="en-IN" sz="1400" dirty="0">
                  <a:solidFill>
                    <a:srgbClr val="214D79"/>
                  </a:solidFill>
                  <a:latin typeface="Helvetica"/>
                </a:endParaRPr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6225352" y="6012451"/>
                <a:ext cx="2721591" cy="685800"/>
              </a:xfrm>
              <a:prstGeom prst="rect">
                <a:avLst/>
              </a:prstGeom>
              <a:noFill/>
              <a:ln w="12700" cap="flat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457200">
                  <a:defRPr/>
                </a:pPr>
                <a:r>
                  <a:rPr lang="en-US" sz="1600" b="1" dirty="0">
                    <a:solidFill>
                      <a:srgbClr val="214D79"/>
                    </a:solidFill>
                    <a:latin typeface="Helvetica"/>
                  </a:rPr>
                  <a:t>Companies</a:t>
                </a:r>
                <a:endParaRPr lang="en-US" sz="1400" b="1" dirty="0">
                  <a:solidFill>
                    <a:srgbClr val="214D79"/>
                  </a:solidFill>
                  <a:latin typeface="Helvetica"/>
                </a:endParaRPr>
              </a:p>
              <a:p>
                <a:pPr algn="ctr" defTabSz="457200">
                  <a:defRPr/>
                </a:pPr>
                <a:r>
                  <a:rPr lang="en-US" sz="1400" dirty="0">
                    <a:solidFill>
                      <a:srgbClr val="214D79"/>
                    </a:solidFill>
                    <a:latin typeface="Helvetica"/>
                  </a:rPr>
                  <a:t>Leverage </a:t>
                </a:r>
                <a:r>
                  <a:rPr lang="en-US" b="1" u="sng" dirty="0">
                    <a:solidFill>
                      <a:srgbClr val="FF0000"/>
                    </a:solidFill>
                    <a:latin typeface="Helvetica"/>
                  </a:rPr>
                  <a:t>C</a:t>
                </a:r>
                <a:r>
                  <a:rPr lang="en-US" sz="1400" u="sng" dirty="0">
                    <a:solidFill>
                      <a:srgbClr val="214D79"/>
                    </a:solidFill>
                    <a:latin typeface="Helvetica"/>
                  </a:rPr>
                  <a:t>ustomer Data</a:t>
                </a: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9540187" y="6042008"/>
                <a:ext cx="2921531" cy="685800"/>
              </a:xfrm>
              <a:prstGeom prst="rect">
                <a:avLst/>
              </a:prstGeom>
              <a:noFill/>
              <a:ln w="12700" cap="flat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457200">
                  <a:defRPr/>
                </a:pPr>
                <a:r>
                  <a:rPr lang="en-US" sz="1600" b="1" dirty="0">
                    <a:solidFill>
                      <a:srgbClr val="214D79"/>
                    </a:solidFill>
                    <a:latin typeface="Helvetica"/>
                  </a:rPr>
                  <a:t>Consumer Analytics Group</a:t>
                </a:r>
                <a:endParaRPr lang="en-US" sz="1400" b="1" dirty="0">
                  <a:solidFill>
                    <a:srgbClr val="214D79"/>
                  </a:solidFill>
                  <a:latin typeface="Helvetica"/>
                </a:endParaRPr>
              </a:p>
              <a:p>
                <a:pPr algn="ctr" defTabSz="457200">
                  <a:lnSpc>
                    <a:spcPct val="150000"/>
                  </a:lnSpc>
                  <a:defRPr/>
                </a:pPr>
                <a:r>
                  <a:rPr lang="en-US" sz="1400" dirty="0">
                    <a:solidFill>
                      <a:srgbClr val="214D79"/>
                    </a:solidFill>
                    <a:latin typeface="Helvetica"/>
                  </a:rPr>
                  <a:t>Harness Analytical </a:t>
                </a:r>
                <a:r>
                  <a:rPr lang="en-US" b="1" u="sng" dirty="0">
                    <a:solidFill>
                      <a:srgbClr val="FF0000"/>
                    </a:solidFill>
                    <a:latin typeface="Helvetica"/>
                  </a:rPr>
                  <a:t>C</a:t>
                </a:r>
                <a:r>
                  <a:rPr lang="en-US" sz="1400" u="sng" dirty="0">
                    <a:solidFill>
                      <a:srgbClr val="214D79"/>
                    </a:solidFill>
                    <a:latin typeface="Helvetica"/>
                  </a:rPr>
                  <a:t>apability</a:t>
                </a:r>
              </a:p>
            </p:txBody>
          </p:sp>
          <p:pic>
            <p:nvPicPr>
              <p:cNvPr id="87" name="Picture 86"/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8766" y="3061776"/>
                <a:ext cx="1302547" cy="866785"/>
              </a:xfrm>
              <a:prstGeom prst="rect">
                <a:avLst/>
              </a:prstGeom>
            </p:spPr>
          </p:pic>
          <p:pic>
            <p:nvPicPr>
              <p:cNvPr id="88" name="Picture 8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06948" y="5245681"/>
                <a:ext cx="1250805" cy="833869"/>
              </a:xfrm>
              <a:prstGeom prst="rect">
                <a:avLst/>
              </a:prstGeom>
            </p:spPr>
          </p:pic>
          <p:sp>
            <p:nvSpPr>
              <p:cNvPr id="89" name="Oval 88"/>
              <p:cNvSpPr/>
              <p:nvPr/>
            </p:nvSpPr>
            <p:spPr>
              <a:xfrm>
                <a:off x="8925822" y="4492117"/>
                <a:ext cx="914400" cy="914400"/>
              </a:xfrm>
              <a:prstGeom prst="ellipse">
                <a:avLst/>
              </a:prstGeom>
              <a:noFill/>
              <a:ln w="28575">
                <a:solidFill>
                  <a:srgbClr val="113E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IN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 bwMode="gray">
              <a:xfrm>
                <a:off x="8878052" y="4486600"/>
                <a:ext cx="914400" cy="914400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pPr defTabSz="457200"/>
                <a:r>
                  <a:rPr lang="en-US" b="1" dirty="0">
                    <a:solidFill>
                      <a:srgbClr val="FF0000"/>
                    </a:solidFill>
                  </a:rPr>
                  <a:t>C</a:t>
                </a:r>
                <a:r>
                  <a:rPr lang="en-US" sz="1400" b="1" dirty="0">
                    <a:solidFill>
                      <a:prstClr val="black"/>
                    </a:solidFill>
                  </a:rPr>
                  <a:t>entricity</a:t>
                </a:r>
                <a:endParaRPr lang="en-IN" sz="1400" b="1" dirty="0">
                  <a:solidFill>
                    <a:prstClr val="black"/>
                  </a:solidFill>
                </a:endParaRPr>
              </a:p>
            </p:txBody>
          </p:sp>
        </p:grpSp>
        <p:pic>
          <p:nvPicPr>
            <p:cNvPr id="79" name="Picture 2" descr="Google Analytics para analizar las visitas de tu proyecto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3664" y="4681379"/>
              <a:ext cx="1425763" cy="10693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1" name="Straight Connector 90"/>
          <p:cNvCxnSpPr/>
          <p:nvPr/>
        </p:nvCxnSpPr>
        <p:spPr>
          <a:xfrm>
            <a:off x="501061" y="1721213"/>
            <a:ext cx="11148249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33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4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Analytics: Enabling smarter decisions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white"/>
                </a:solidFill>
              </a:rPr>
              <a:pPr/>
              <a:t>15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28356" y="1217086"/>
            <a:ext cx="11333750" cy="582362"/>
          </a:xfrm>
        </p:spPr>
        <p:txBody>
          <a:bodyPr>
            <a:noAutofit/>
          </a:bodyPr>
          <a:lstStyle/>
          <a:p>
            <a:r>
              <a:rPr lang="en-IN" dirty="0" smtClean="0">
                <a:solidFill>
                  <a:schemeClr val="tx1"/>
                </a:solidFill>
                <a:latin typeface="+mj-lt"/>
              </a:rPr>
              <a:t>Evolution of analytics entails building the decision capabilities for end-to-end decision management 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572749" y="2261379"/>
            <a:ext cx="11116750" cy="2283331"/>
            <a:chOff x="1903773" y="1766213"/>
            <a:chExt cx="5868594" cy="4102414"/>
          </a:xfrm>
        </p:grpSpPr>
        <p:cxnSp>
          <p:nvCxnSpPr>
            <p:cNvPr id="31" name="Straight Connector 30"/>
            <p:cNvCxnSpPr/>
            <p:nvPr/>
          </p:nvCxnSpPr>
          <p:spPr>
            <a:xfrm rot="5400000">
              <a:off x="-146873" y="3816860"/>
              <a:ext cx="4102414" cy="1121"/>
            </a:xfrm>
            <a:prstGeom prst="line">
              <a:avLst/>
            </a:prstGeom>
            <a:noFill/>
            <a:ln w="34925" cap="flat" cmpd="sng" algn="ctr">
              <a:solidFill>
                <a:srgbClr val="00B0F0"/>
              </a:solidFill>
              <a:prstDash val="solid"/>
              <a:headEnd type="triangle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>
            <a:xfrm rot="10800000" flipV="1">
              <a:off x="1904334" y="5867734"/>
              <a:ext cx="5868033" cy="0"/>
            </a:xfrm>
            <a:prstGeom prst="line">
              <a:avLst/>
            </a:prstGeom>
            <a:noFill/>
            <a:ln w="34925" cap="flat" cmpd="sng" algn="ctr">
              <a:solidFill>
                <a:srgbClr val="00B0F0"/>
              </a:solidFill>
              <a:prstDash val="solid"/>
              <a:headEnd type="triangle"/>
            </a:ln>
            <a:effectLst/>
          </p:spPr>
        </p:cxnSp>
      </p:grp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626870" y="3710469"/>
            <a:ext cx="2169973" cy="767396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>
                <a:solidFill>
                  <a:prstClr val="white"/>
                </a:solidFill>
                <a:cs typeface="Arial" pitchFamily="34" charset="0"/>
              </a:rPr>
              <a:t>Data Management, </a:t>
            </a:r>
          </a:p>
          <a:p>
            <a:pPr algn="ctr">
              <a:defRPr/>
            </a:pPr>
            <a:r>
              <a:rPr lang="en-US" sz="1400" kern="0" dirty="0">
                <a:solidFill>
                  <a:prstClr val="white"/>
                </a:solidFill>
                <a:cs typeface="Arial" pitchFamily="34" charset="0"/>
              </a:rPr>
              <a:t>Stewardship, </a:t>
            </a:r>
          </a:p>
          <a:p>
            <a:pPr algn="ctr">
              <a:defRPr/>
            </a:pPr>
            <a:r>
              <a:rPr lang="en-US" sz="1400" kern="0" dirty="0">
                <a:solidFill>
                  <a:prstClr val="white"/>
                </a:solidFill>
                <a:cs typeface="Arial" pitchFamily="34" charset="0"/>
              </a:rPr>
              <a:t>and, Business MIS</a:t>
            </a:r>
          </a:p>
        </p:txBody>
      </p:sp>
      <p:sp>
        <p:nvSpPr>
          <p:cNvPr id="45" name="TextBox 40"/>
          <p:cNvSpPr txBox="1">
            <a:spLocks noChangeArrowheads="1"/>
          </p:cNvSpPr>
          <p:nvPr/>
        </p:nvSpPr>
        <p:spPr bwMode="auto">
          <a:xfrm rot="16200000">
            <a:off x="-270124" y="3112022"/>
            <a:ext cx="140775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b="1" i="1" kern="0" dirty="0">
                <a:solidFill>
                  <a:srgbClr val="002D72"/>
                </a:solidFill>
              </a:rPr>
              <a:t>Level of Maturity</a:t>
            </a:r>
          </a:p>
        </p:txBody>
      </p:sp>
      <p:sp>
        <p:nvSpPr>
          <p:cNvPr id="46" name="TextBox 39"/>
          <p:cNvSpPr txBox="1">
            <a:spLocks noChangeArrowheads="1"/>
          </p:cNvSpPr>
          <p:nvPr/>
        </p:nvSpPr>
        <p:spPr bwMode="auto">
          <a:xfrm>
            <a:off x="5111873" y="4515653"/>
            <a:ext cx="144783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b="1" i="1" kern="0" dirty="0" smtClean="0">
                <a:solidFill>
                  <a:srgbClr val="002D72"/>
                </a:solidFill>
              </a:rPr>
              <a:t>Type of </a:t>
            </a:r>
            <a:r>
              <a:rPr lang="en-US" sz="1200" b="1" i="1" kern="0" dirty="0">
                <a:solidFill>
                  <a:srgbClr val="002D72"/>
                </a:solidFill>
              </a:rPr>
              <a:t>Analytics</a:t>
            </a:r>
          </a:p>
        </p:txBody>
      </p:sp>
      <p:sp>
        <p:nvSpPr>
          <p:cNvPr id="47" name="Left-Right Arrow 46"/>
          <p:cNvSpPr/>
          <p:nvPr/>
        </p:nvSpPr>
        <p:spPr bwMode="auto">
          <a:xfrm>
            <a:off x="663680" y="2193461"/>
            <a:ext cx="4252136" cy="653311"/>
          </a:xfrm>
          <a:prstGeom prst="leftRightArrow">
            <a:avLst>
              <a:gd name="adj1" fmla="val 50000"/>
              <a:gd name="adj2" fmla="val 36111"/>
            </a:avLst>
          </a:prstGeom>
          <a:solidFill>
            <a:srgbClr val="00B0F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457200">
              <a:lnSpc>
                <a:spcPct val="130000"/>
              </a:lnSpc>
            </a:pPr>
            <a:r>
              <a:rPr lang="en-US" dirty="0">
                <a:solidFill>
                  <a:prstClr val="white"/>
                </a:solidFill>
              </a:rPr>
              <a:t>Decision Support</a:t>
            </a:r>
          </a:p>
        </p:txBody>
      </p:sp>
      <p:sp>
        <p:nvSpPr>
          <p:cNvPr id="48" name="Left-Right Arrow 47"/>
          <p:cNvSpPr/>
          <p:nvPr/>
        </p:nvSpPr>
        <p:spPr bwMode="auto">
          <a:xfrm>
            <a:off x="5099333" y="2193461"/>
            <a:ext cx="6450465" cy="653311"/>
          </a:xfrm>
          <a:prstGeom prst="leftRightArrow">
            <a:avLst>
              <a:gd name="adj1" fmla="val 50000"/>
              <a:gd name="adj2" fmla="val 36111"/>
            </a:avLst>
          </a:prstGeom>
          <a:solidFill>
            <a:srgbClr val="00B0F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457200">
              <a:lnSpc>
                <a:spcPct val="130000"/>
              </a:lnSpc>
            </a:pPr>
            <a:r>
              <a:rPr lang="en-US" dirty="0">
                <a:solidFill>
                  <a:prstClr val="white"/>
                </a:solidFill>
              </a:rPr>
              <a:t>Decision Making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7394137" y="5190268"/>
            <a:ext cx="0" cy="1442757"/>
          </a:xfrm>
          <a:prstGeom prst="line">
            <a:avLst/>
          </a:prstGeom>
          <a:ln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9484051" y="5176787"/>
            <a:ext cx="0" cy="1404779"/>
          </a:xfrm>
          <a:prstGeom prst="line">
            <a:avLst/>
          </a:prstGeom>
          <a:ln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51154" y="4978184"/>
            <a:ext cx="2527300" cy="1789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Data Cleaning/linking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Customer database 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Business performance dashboard </a:t>
            </a:r>
          </a:p>
          <a:p>
            <a:pPr defTabSz="457200"/>
            <a:r>
              <a:rPr lang="en-US" sz="1400" dirty="0">
                <a:solidFill>
                  <a:srgbClr val="0E5580"/>
                </a:solidFill>
              </a:rPr>
              <a:t> </a:t>
            </a:r>
            <a:endParaRPr lang="en-IN" sz="1400" dirty="0">
              <a:solidFill>
                <a:srgbClr val="0E5580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853378" y="5068084"/>
            <a:ext cx="2258495" cy="1789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Database marketing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Business Impact analysis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Portfolio Monitoring and management</a:t>
            </a:r>
          </a:p>
          <a:p>
            <a:pPr defTabSz="457200">
              <a:buFontTx/>
              <a:buChar char="-"/>
            </a:pPr>
            <a:endParaRPr lang="en-IN" sz="1400" dirty="0">
              <a:solidFill>
                <a:srgbClr val="0E5580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083854" y="5140310"/>
            <a:ext cx="2389690" cy="1789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Trends, Business hypothesis</a:t>
            </a:r>
          </a:p>
          <a:p>
            <a:pPr defTabSz="457200">
              <a:buFontTx/>
              <a:buChar char="-"/>
            </a:pPr>
            <a:r>
              <a:rPr lang="en-US" sz="1400" dirty="0" smtClean="0">
                <a:solidFill>
                  <a:srgbClr val="0E5580"/>
                </a:solidFill>
              </a:rPr>
              <a:t> Customer </a:t>
            </a:r>
            <a:r>
              <a:rPr lang="en-US" sz="1400" dirty="0">
                <a:solidFill>
                  <a:srgbClr val="0E5580"/>
                </a:solidFill>
              </a:rPr>
              <a:t>segmentation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Clustering</a:t>
            </a:r>
          </a:p>
          <a:p>
            <a:pPr defTabSz="457200">
              <a:buFontTx/>
              <a:buChar char="-"/>
            </a:pPr>
            <a:r>
              <a:rPr lang="en-US" sz="1400" dirty="0" smtClean="0">
                <a:solidFill>
                  <a:srgbClr val="0E5580"/>
                </a:solidFill>
              </a:rPr>
              <a:t> Propensity </a:t>
            </a:r>
            <a:r>
              <a:rPr lang="en-US" sz="1400" dirty="0">
                <a:solidFill>
                  <a:srgbClr val="0E5580"/>
                </a:solidFill>
              </a:rPr>
              <a:t>modeling 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66072" y="4944808"/>
            <a:ext cx="2326689" cy="1789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Sales forecast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Price Management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Event triggers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Multi-Channel/Multi-Product Optimization</a:t>
            </a:r>
            <a:endParaRPr lang="en-IN" sz="1400" dirty="0">
              <a:solidFill>
                <a:srgbClr val="0E5580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572255" y="4838381"/>
            <a:ext cx="11201548" cy="364677"/>
          </a:xfrm>
          <a:prstGeom prst="rect">
            <a:avLst/>
          </a:prstGeom>
          <a:solidFill>
            <a:srgbClr val="0B4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600" b="1" dirty="0">
                <a:solidFill>
                  <a:prstClr val="white"/>
                </a:solidFill>
              </a:rPr>
              <a:t>Select Outcomes</a:t>
            </a:r>
            <a:endParaRPr lang="en-IN" sz="1600" b="1" dirty="0">
              <a:solidFill>
                <a:prstClr val="white"/>
              </a:solidFill>
            </a:endParaRPr>
          </a:p>
        </p:txBody>
      </p:sp>
      <p:sp>
        <p:nvSpPr>
          <p:cNvPr id="27" name="Rectangle 13"/>
          <p:cNvSpPr>
            <a:spLocks noChangeArrowheads="1"/>
          </p:cNvSpPr>
          <p:nvPr/>
        </p:nvSpPr>
        <p:spPr bwMode="auto">
          <a:xfrm>
            <a:off x="2935157" y="3545602"/>
            <a:ext cx="2021118" cy="767396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>
                <a:solidFill>
                  <a:prstClr val="white"/>
                </a:solidFill>
                <a:cs typeface="Arial" pitchFamily="34" charset="0"/>
              </a:rPr>
              <a:t>List Management and </a:t>
            </a:r>
          </a:p>
          <a:p>
            <a:pPr algn="ctr">
              <a:defRPr/>
            </a:pPr>
            <a:r>
              <a:rPr lang="en-US" sz="1400" kern="0" dirty="0">
                <a:solidFill>
                  <a:prstClr val="white"/>
                </a:solidFill>
                <a:cs typeface="Arial" pitchFamily="34" charset="0"/>
              </a:rPr>
              <a:t>Recurring Analysis</a:t>
            </a:r>
          </a:p>
        </p:txBody>
      </p: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5099334" y="3303889"/>
            <a:ext cx="2021118" cy="767396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>
                <a:solidFill>
                  <a:prstClr val="white"/>
                </a:solidFill>
                <a:cs typeface="Arial" pitchFamily="34" charset="0"/>
              </a:rPr>
              <a:t>Business Analytics, Segmentation, and </a:t>
            </a:r>
          </a:p>
          <a:p>
            <a:pPr algn="ctr">
              <a:defRPr/>
            </a:pPr>
            <a:r>
              <a:rPr lang="en-US" sz="1400" kern="0" dirty="0">
                <a:solidFill>
                  <a:prstClr val="white"/>
                </a:solidFill>
                <a:cs typeface="Arial" pitchFamily="34" charset="0"/>
              </a:rPr>
              <a:t>Offer Strategy</a:t>
            </a:r>
          </a:p>
        </p:txBody>
      </p:sp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7264833" y="3062589"/>
            <a:ext cx="2021118" cy="767396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>
                <a:solidFill>
                  <a:prstClr val="white"/>
                </a:solidFill>
                <a:cs typeface="Arial" pitchFamily="34" charset="0"/>
              </a:rPr>
              <a:t>Advanced Predictive Modeling</a:t>
            </a:r>
          </a:p>
        </p:txBody>
      </p: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9430034" y="2872089"/>
            <a:ext cx="2021118" cy="767396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>
                <a:solidFill>
                  <a:prstClr val="white"/>
                </a:solidFill>
                <a:cs typeface="Arial" pitchFamily="34" charset="0"/>
              </a:rPr>
              <a:t>Quantitative Sciences </a:t>
            </a:r>
          </a:p>
        </p:txBody>
      </p:sp>
      <p:cxnSp>
        <p:nvCxnSpPr>
          <p:cNvPr id="44" name="Straight Connector 43"/>
          <p:cNvCxnSpPr/>
          <p:nvPr/>
        </p:nvCxnSpPr>
        <p:spPr>
          <a:xfrm flipH="1">
            <a:off x="2796843" y="5203058"/>
            <a:ext cx="1112" cy="1328371"/>
          </a:xfrm>
          <a:prstGeom prst="line">
            <a:avLst/>
          </a:prstGeom>
          <a:ln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484051" y="5022722"/>
            <a:ext cx="2378055" cy="1789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Digital/E-commerce 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Location based modeling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Social media text/voice analytics</a:t>
            </a:r>
          </a:p>
          <a:p>
            <a:pPr defTabSz="457200">
              <a:buFontTx/>
              <a:buChar char="-"/>
            </a:pPr>
            <a:r>
              <a:rPr lang="en-US" sz="1400" dirty="0">
                <a:solidFill>
                  <a:srgbClr val="0E5580"/>
                </a:solidFill>
              </a:rPr>
              <a:t> Pattern recognition</a:t>
            </a:r>
            <a:endParaRPr lang="en-IN" sz="1400" dirty="0">
              <a:solidFill>
                <a:srgbClr val="0E5580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4974748" y="5223998"/>
            <a:ext cx="0" cy="1321945"/>
          </a:xfrm>
          <a:prstGeom prst="line">
            <a:avLst/>
          </a:prstGeom>
          <a:ln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72255" y="5178734"/>
            <a:ext cx="0" cy="1265609"/>
          </a:xfrm>
          <a:prstGeom prst="line">
            <a:avLst/>
          </a:prstGeom>
          <a:ln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1761771" y="5243386"/>
            <a:ext cx="12032" cy="1280123"/>
          </a:xfrm>
          <a:prstGeom prst="line">
            <a:avLst/>
          </a:prstGeom>
          <a:ln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93893" y="1561373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28355" y="1709149"/>
            <a:ext cx="107976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00BDF2"/>
                </a:solidFill>
                <a:ea typeface="ヒラギノ角ゴ Pro W3" charset="0"/>
                <a:cs typeface="Geneva" charset="0"/>
              </a:rPr>
              <a:t>“Nothing </a:t>
            </a:r>
            <a:r>
              <a:rPr lang="en-US" sz="2000" i="1" dirty="0">
                <a:solidFill>
                  <a:srgbClr val="00BDF2"/>
                </a:solidFill>
                <a:ea typeface="ヒラギノ角ゴ Pro W3" charset="0"/>
                <a:cs typeface="Geneva" charset="0"/>
              </a:rPr>
              <a:t>is more difficult, and therefore more precious, than to be able to </a:t>
            </a:r>
            <a:r>
              <a:rPr lang="en-US" sz="2000" i="1" dirty="0" smtClean="0">
                <a:solidFill>
                  <a:srgbClr val="00BDF2"/>
                </a:solidFill>
                <a:ea typeface="ヒラギノ角ゴ Pro W3" charset="0"/>
                <a:cs typeface="Geneva" charset="0"/>
              </a:rPr>
              <a:t>decide”</a:t>
            </a:r>
            <a:r>
              <a:rPr lang="en-US" sz="1400" dirty="0" smtClean="0"/>
              <a:t>*</a:t>
            </a:r>
            <a:endParaRPr lang="en-US" sz="1200" i="1" dirty="0">
              <a:solidFill>
                <a:srgbClr val="00BDF2"/>
              </a:solidFill>
              <a:ea typeface="ヒラギノ角ゴ Pro W3" charset="0"/>
              <a:cs typeface="Geneva" charset="0"/>
            </a:endParaRPr>
          </a:p>
        </p:txBody>
      </p:sp>
      <p:sp>
        <p:nvSpPr>
          <p:cNvPr id="73" name="TextBox 72"/>
          <p:cNvSpPr txBox="1"/>
          <p:nvPr/>
        </p:nvSpPr>
        <p:spPr bwMode="gray">
          <a:xfrm>
            <a:off x="128919" y="6612253"/>
            <a:ext cx="3091543" cy="24574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000" dirty="0" smtClean="0"/>
              <a:t>*Source: Thinking, Fast and Slow – Daniel </a:t>
            </a:r>
            <a:r>
              <a:rPr lang="en-US" sz="1000" dirty="0" err="1" smtClean="0"/>
              <a:t>Kahneman</a:t>
            </a:r>
            <a:endParaRPr lang="en-IN" sz="1000" dirty="0" smtClean="0"/>
          </a:p>
        </p:txBody>
      </p:sp>
    </p:spTree>
    <p:extLst>
      <p:ext uri="{BB962C8B-B14F-4D97-AF65-F5344CB8AC3E}">
        <p14:creationId xmlns:p14="http://schemas.microsoft.com/office/powerpoint/2010/main" val="153884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smtClean="0"/>
              <a:t>Analytic </a:t>
            </a:r>
            <a:r>
              <a:rPr lang="en-IN" dirty="0"/>
              <a:t>maturity evolution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Evolution of analytics entails building the capabilities for an end-to-end decision management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Slide Number Placeholder 41"/>
          <p:cNvSpPr txBox="1">
            <a:spLocks/>
          </p:cNvSpPr>
          <p:nvPr/>
        </p:nvSpPr>
        <p:spPr>
          <a:xfrm>
            <a:off x="9282816" y="6084102"/>
            <a:ext cx="27186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B0EC35-7F37-490F-B231-6B92D181A0EA}" type="slidenum">
              <a:rPr lang="en-IN" smtClean="0"/>
              <a:pPr/>
              <a:t>16</a:t>
            </a:fld>
            <a:endParaRPr lang="en-IN" dirty="0"/>
          </a:p>
        </p:txBody>
      </p:sp>
      <p:grpSp>
        <p:nvGrpSpPr>
          <p:cNvPr id="30" name="Group 16"/>
          <p:cNvGrpSpPr>
            <a:grpSpLocks/>
          </p:cNvGrpSpPr>
          <p:nvPr/>
        </p:nvGrpSpPr>
        <p:grpSpPr bwMode="auto">
          <a:xfrm>
            <a:off x="884750" y="2428874"/>
            <a:ext cx="10939387" cy="3929072"/>
            <a:chOff x="1903773" y="1766214"/>
            <a:chExt cx="5868594" cy="4102414"/>
          </a:xfrm>
        </p:grpSpPr>
        <p:cxnSp>
          <p:nvCxnSpPr>
            <p:cNvPr id="31" name="Straight Connector 30"/>
            <p:cNvCxnSpPr/>
            <p:nvPr/>
          </p:nvCxnSpPr>
          <p:spPr>
            <a:xfrm rot="5400000">
              <a:off x="-146873" y="3816860"/>
              <a:ext cx="4102414" cy="1121"/>
            </a:xfrm>
            <a:prstGeom prst="line">
              <a:avLst/>
            </a:prstGeom>
            <a:noFill/>
            <a:ln w="34925" cap="flat" cmpd="sng" algn="ctr">
              <a:solidFill>
                <a:srgbClr val="00B0F0"/>
              </a:solidFill>
              <a:prstDash val="solid"/>
              <a:headEnd type="triangle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>
            <a:xfrm rot="10800000" flipV="1">
              <a:off x="1904334" y="5867734"/>
              <a:ext cx="5868033" cy="0"/>
            </a:xfrm>
            <a:prstGeom prst="line">
              <a:avLst/>
            </a:prstGeom>
            <a:noFill/>
            <a:ln w="34925" cap="flat" cmpd="sng" algn="ctr">
              <a:solidFill>
                <a:srgbClr val="00B0F0"/>
              </a:solidFill>
              <a:prstDash val="solid"/>
              <a:headEnd type="triangle"/>
            </a:ln>
            <a:effectLst/>
          </p:spPr>
        </p:cxnSp>
      </p:grp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1063774" y="3289405"/>
            <a:ext cx="1607963" cy="109728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solidFill>
                  <a:srgbClr val="FFFF00"/>
                </a:solidFill>
                <a:cs typeface="Arial" pitchFamily="34" charset="0"/>
              </a:rPr>
              <a:t>Data Management, Business MIS &amp; Operational Reporting</a:t>
            </a: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2900145" y="3079927"/>
            <a:ext cx="1607963" cy="132747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 smtClean="0">
                <a:solidFill>
                  <a:srgbClr val="FFFF00"/>
                </a:solidFill>
                <a:cs typeface="Arial" pitchFamily="34" charset="0"/>
              </a:rPr>
              <a:t>Recurring   </a:t>
            </a:r>
            <a:r>
              <a:rPr lang="en-US" sz="1400" b="1" kern="0" dirty="0">
                <a:solidFill>
                  <a:srgbClr val="FFFF00"/>
                </a:solidFill>
                <a:cs typeface="Arial" pitchFamily="34" charset="0"/>
              </a:rPr>
              <a:t>Analysis, </a:t>
            </a:r>
            <a:r>
              <a:rPr lang="en-US" sz="1400" b="1" kern="0" dirty="0" smtClean="0">
                <a:solidFill>
                  <a:srgbClr val="FFFF00"/>
                </a:solidFill>
                <a:cs typeface="Arial" pitchFamily="34" charset="0"/>
              </a:rPr>
              <a:t>Campaign/List </a:t>
            </a:r>
            <a:r>
              <a:rPr lang="en-US" sz="1400" b="1" kern="0" dirty="0">
                <a:solidFill>
                  <a:srgbClr val="FFFF00"/>
                </a:solidFill>
                <a:cs typeface="Arial" pitchFamily="34" charset="0"/>
              </a:rPr>
              <a:t>Management,              Performance Measurement</a:t>
            </a:r>
          </a:p>
        </p:txBody>
      </p:sp>
      <p:sp>
        <p:nvSpPr>
          <p:cNvPr id="35" name="Rectangle 13"/>
          <p:cNvSpPr>
            <a:spLocks noChangeArrowheads="1"/>
          </p:cNvSpPr>
          <p:nvPr/>
        </p:nvSpPr>
        <p:spPr bwMode="auto">
          <a:xfrm>
            <a:off x="6504741" y="2717175"/>
            <a:ext cx="1607963" cy="109728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solidFill>
                  <a:srgbClr val="FFFF00"/>
                </a:solidFill>
                <a:cs typeface="Arial" pitchFamily="34" charset="0"/>
              </a:rPr>
              <a:t>Advanced </a:t>
            </a:r>
            <a:r>
              <a:rPr lang="en-US" sz="1400" b="1" kern="0" dirty="0" smtClean="0">
                <a:solidFill>
                  <a:srgbClr val="FFFF00"/>
                </a:solidFill>
                <a:cs typeface="Arial" pitchFamily="34" charset="0"/>
              </a:rPr>
              <a:t>Offer and Campaign Strategy Management</a:t>
            </a:r>
            <a:endParaRPr lang="en-US" sz="1400" b="1" kern="0" dirty="0">
              <a:solidFill>
                <a:srgbClr val="FFFF00"/>
              </a:solidFill>
              <a:cs typeface="Arial" pitchFamily="34" charset="0"/>
            </a:endParaRPr>
          </a:p>
        </p:txBody>
      </p:sp>
      <p:sp>
        <p:nvSpPr>
          <p:cNvPr id="36" name="Rectangle 13"/>
          <p:cNvSpPr>
            <a:spLocks noChangeArrowheads="1"/>
          </p:cNvSpPr>
          <p:nvPr/>
        </p:nvSpPr>
        <p:spPr bwMode="auto">
          <a:xfrm>
            <a:off x="8397858" y="2564760"/>
            <a:ext cx="1453627" cy="109728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1400" b="1" i="0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Arial" pitchFamily="34" charset="0"/>
              </a:rPr>
              <a:t>Advanced Predictive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1400" b="1" i="0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Arial" pitchFamily="34" charset="0"/>
              </a:rPr>
              <a:t>Modeling &amp; Model Risk Management</a:t>
            </a:r>
            <a:endParaRPr kumimoji="0" lang="en-US" sz="1400" b="1" i="0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cs typeface="Arial" pitchFamily="34" charset="0"/>
            </a:endParaRPr>
          </a:p>
        </p:txBody>
      </p: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10187726" y="2472078"/>
            <a:ext cx="1331835" cy="55305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>
                <a:solidFill>
                  <a:srgbClr val="FFFF00"/>
                </a:solidFill>
                <a:cs typeface="Arial" pitchFamily="34" charset="0"/>
              </a:rPr>
              <a:t>Quantitative Sciences</a:t>
            </a:r>
          </a:p>
        </p:txBody>
      </p:sp>
      <p:sp>
        <p:nvSpPr>
          <p:cNvPr id="38" name="Rectangle 13"/>
          <p:cNvSpPr>
            <a:spLocks noChangeArrowheads="1"/>
          </p:cNvSpPr>
          <p:nvPr/>
        </p:nvSpPr>
        <p:spPr bwMode="auto">
          <a:xfrm>
            <a:off x="4776423" y="2875258"/>
            <a:ext cx="1414444" cy="109728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1400" b="1" kern="0" dirty="0" smtClean="0">
                <a:solidFill>
                  <a:srgbClr val="FFFF00"/>
                </a:solidFill>
                <a:cs typeface="Arial" pitchFamily="34" charset="0"/>
              </a:rPr>
              <a:t>Business Analytics and Segmentation Management</a:t>
            </a:r>
            <a:endParaRPr lang="en-US" sz="1400" b="1" kern="0" dirty="0">
              <a:solidFill>
                <a:srgbClr val="FFFF00"/>
              </a:solidFill>
              <a:cs typeface="Arial" pitchFamily="34" charset="0"/>
            </a:endParaRPr>
          </a:p>
        </p:txBody>
      </p:sp>
      <p:sp>
        <p:nvSpPr>
          <p:cNvPr id="39" name="Rectangle 13"/>
          <p:cNvSpPr>
            <a:spLocks noChangeArrowheads="1"/>
          </p:cNvSpPr>
          <p:nvPr/>
        </p:nvSpPr>
        <p:spPr bwMode="auto">
          <a:xfrm>
            <a:off x="8410517" y="3711806"/>
            <a:ext cx="1473947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Model Development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Model Audit &amp; Validation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Model Tracking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Financial Forecasting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Simulations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Advanced Design-of-Experiments</a:t>
            </a:r>
          </a:p>
          <a:p>
            <a:pPr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2D72"/>
              </a:solidFill>
              <a:effectLst/>
              <a:uLnTx/>
              <a:uFillTx/>
              <a:cs typeface="Arial" pitchFamily="34" charset="0"/>
            </a:endParaRPr>
          </a:p>
        </p:txBody>
      </p:sp>
      <p:sp>
        <p:nvSpPr>
          <p:cNvPr id="40" name="Rectangle 13"/>
          <p:cNvSpPr>
            <a:spLocks noChangeArrowheads="1"/>
          </p:cNvSpPr>
          <p:nvPr/>
        </p:nvSpPr>
        <p:spPr bwMode="auto">
          <a:xfrm>
            <a:off x="10065972" y="3104544"/>
            <a:ext cx="2034339" cy="324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Digital &amp; Mobile Analytics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Social Media, Text &amp; Voice Analytics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Pattern Recognition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Market Mix Modeling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Location Based Modeling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Advanced Optimization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Game Theory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Genetic Algorithms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Multivariate Time Series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Unstructured Analytics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Machine Learning</a:t>
            </a:r>
          </a:p>
        </p:txBody>
      </p:sp>
      <p:sp>
        <p:nvSpPr>
          <p:cNvPr id="41" name="Rectangle 13"/>
          <p:cNvSpPr>
            <a:spLocks noChangeArrowheads="1"/>
          </p:cNvSpPr>
          <p:nvPr/>
        </p:nvSpPr>
        <p:spPr bwMode="auto">
          <a:xfrm>
            <a:off x="1000254" y="4418098"/>
            <a:ext cx="151184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ETL (Extract, Transform &amp; Load)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Data Cleansing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Build/maintain Data Marts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Automated MIS/ Dashboards w/ Drilldown ability</a:t>
            </a:r>
          </a:p>
        </p:txBody>
      </p:sp>
      <p:sp>
        <p:nvSpPr>
          <p:cNvPr id="42" name="Rectangle 13"/>
          <p:cNvSpPr>
            <a:spLocks noChangeArrowheads="1"/>
          </p:cNvSpPr>
          <p:nvPr/>
        </p:nvSpPr>
        <p:spPr bwMode="auto">
          <a:xfrm>
            <a:off x="2896136" y="4462043"/>
            <a:ext cx="161197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Campaign Tracking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P&amp;L Updating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Database Marketing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Data Querying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Portfolio Management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Business Impact Analysis</a:t>
            </a:r>
          </a:p>
        </p:txBody>
      </p:sp>
      <p:sp>
        <p:nvSpPr>
          <p:cNvPr id="43" name="Rectangle 13"/>
          <p:cNvSpPr>
            <a:spLocks noChangeArrowheads="1"/>
          </p:cNvSpPr>
          <p:nvPr/>
        </p:nvSpPr>
        <p:spPr bwMode="auto">
          <a:xfrm>
            <a:off x="6459182" y="3913988"/>
            <a:ext cx="174749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Event/Trigger Based Targeting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Marketing Analytics on Real-Time Stream Data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Simple Optimization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Enhanced Channel Management</a:t>
            </a:r>
          </a:p>
          <a:p>
            <a:pPr marL="114300" indent="-1143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200" kern="0" dirty="0">
                <a:solidFill>
                  <a:srgbClr val="002D72"/>
                </a:solidFill>
                <a:cs typeface="Arial" pitchFamily="34" charset="0"/>
              </a:rPr>
              <a:t>Price </a:t>
            </a:r>
            <a:r>
              <a:rPr lang="en-US" sz="1200" kern="0" dirty="0" smtClean="0">
                <a:solidFill>
                  <a:srgbClr val="002D72"/>
                </a:solidFill>
                <a:cs typeface="Arial" pitchFamily="34" charset="0"/>
              </a:rPr>
              <a:t>Management</a:t>
            </a:r>
            <a:endParaRPr lang="en-US" sz="1200" kern="0" dirty="0">
              <a:solidFill>
                <a:srgbClr val="002D72"/>
              </a:solidFill>
              <a:cs typeface="Arial" pitchFamily="34" charset="0"/>
            </a:endParaRPr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4701349" y="3926790"/>
            <a:ext cx="185096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EDA: Exploratory Data Analysis</a:t>
            </a:r>
          </a:p>
          <a:p>
            <a:pPr marL="114300" indent="-1143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200" kern="0" dirty="0">
                <a:solidFill>
                  <a:srgbClr val="002D72"/>
                </a:solidFill>
                <a:cs typeface="Arial" pitchFamily="34" charset="0"/>
              </a:rPr>
              <a:t>Transaction Data Analytics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Trends and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Univariate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 Correlations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Segmentation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Analysis of Data to Validate / Reject Business Hypothesis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Clustering</a:t>
            </a:r>
          </a:p>
          <a:p>
            <a:pPr marL="114300" marR="0" lvl="0" indent="-1143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cs typeface="Arial" pitchFamily="34" charset="0"/>
              </a:rPr>
              <a:t>Decision Trees</a:t>
            </a:r>
          </a:p>
        </p:txBody>
      </p:sp>
      <p:sp>
        <p:nvSpPr>
          <p:cNvPr id="45" name="TextBox 40"/>
          <p:cNvSpPr txBox="1">
            <a:spLocks noChangeArrowheads="1"/>
          </p:cNvSpPr>
          <p:nvPr/>
        </p:nvSpPr>
        <p:spPr bwMode="auto">
          <a:xfrm rot="16200000">
            <a:off x="-37022" y="4423013"/>
            <a:ext cx="140775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</a:rPr>
              <a:t>Level of Maturity</a:t>
            </a:r>
          </a:p>
        </p:txBody>
      </p:sp>
      <p:sp>
        <p:nvSpPr>
          <p:cNvPr id="46" name="TextBox 39"/>
          <p:cNvSpPr txBox="1">
            <a:spLocks noChangeArrowheads="1"/>
          </p:cNvSpPr>
          <p:nvPr/>
        </p:nvSpPr>
        <p:spPr bwMode="auto">
          <a:xfrm>
            <a:off x="5626833" y="6371005"/>
            <a:ext cx="143180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</a:rPr>
              <a:t>Level of Analytics</a:t>
            </a:r>
          </a:p>
        </p:txBody>
      </p:sp>
      <p:sp>
        <p:nvSpPr>
          <p:cNvPr id="47" name="Left-Right Arrow 46"/>
          <p:cNvSpPr/>
          <p:nvPr/>
        </p:nvSpPr>
        <p:spPr bwMode="auto">
          <a:xfrm>
            <a:off x="884750" y="2000989"/>
            <a:ext cx="5551333" cy="500066"/>
          </a:xfrm>
          <a:prstGeom prst="leftRightArrow">
            <a:avLst>
              <a:gd name="adj1" fmla="val 50000"/>
              <a:gd name="adj2" fmla="val 36111"/>
            </a:avLst>
          </a:prstGeom>
          <a:solidFill>
            <a:srgbClr val="00B0F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30000"/>
              </a:lnSpc>
            </a:pPr>
            <a:r>
              <a:rPr lang="en-US" sz="1600" b="1" dirty="0" smtClean="0">
                <a:solidFill>
                  <a:srgbClr val="FFFF00"/>
                </a:solidFill>
                <a:latin typeface="Calibri" pitchFamily="34" charset="0"/>
              </a:rPr>
              <a:t>Decision Support</a:t>
            </a:r>
            <a:endParaRPr lang="en-US" sz="16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48" name="Left-Right Arrow 47"/>
          <p:cNvSpPr/>
          <p:nvPr/>
        </p:nvSpPr>
        <p:spPr bwMode="auto">
          <a:xfrm>
            <a:off x="6436084" y="1999506"/>
            <a:ext cx="5240522" cy="500066"/>
          </a:xfrm>
          <a:prstGeom prst="leftRightArrow">
            <a:avLst>
              <a:gd name="adj1" fmla="val 50000"/>
              <a:gd name="adj2" fmla="val 36111"/>
            </a:avLst>
          </a:prstGeom>
          <a:solidFill>
            <a:srgbClr val="00B0F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30000"/>
              </a:lnSpc>
            </a:pPr>
            <a:r>
              <a:rPr lang="en-US" sz="1600" b="1" dirty="0" smtClean="0">
                <a:solidFill>
                  <a:srgbClr val="FFFF00"/>
                </a:solidFill>
                <a:latin typeface="Calibri" pitchFamily="34" charset="0"/>
              </a:rPr>
              <a:t>Decision Making</a:t>
            </a:r>
            <a:endParaRPr lang="en-US" sz="16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01061" y="1541868"/>
            <a:ext cx="11148249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65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Enable core analytical toolkit coupled with advanced solutions and focus on Global priorities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66" name="Straight Connector 65"/>
          <p:cNvCxnSpPr/>
          <p:nvPr/>
        </p:nvCxnSpPr>
        <p:spPr>
          <a:xfrm>
            <a:off x="501061" y="1553786"/>
            <a:ext cx="11148249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455730" y="2294599"/>
            <a:ext cx="357744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b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Limited cutting-edge analytics</a:t>
            </a:r>
          </a:p>
          <a:p>
            <a:pPr marL="171450" indent="-171450" fontAlgn="b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Limited effort to Digital/</a:t>
            </a:r>
          </a:p>
          <a:p>
            <a:pPr marL="171450" indent="-171450" fontAlgn="b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Limited advanced quantitative science </a:t>
            </a:r>
          </a:p>
        </p:txBody>
      </p:sp>
      <p:cxnSp>
        <p:nvCxnSpPr>
          <p:cNvPr id="71" name="Straight Arrow Connector 70"/>
          <p:cNvCxnSpPr/>
          <p:nvPr/>
        </p:nvCxnSpPr>
        <p:spPr bwMode="auto">
          <a:xfrm>
            <a:off x="578772" y="2081587"/>
            <a:ext cx="10769600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883571" y="1640994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002D72">
                    <a:lumMod val="75000"/>
                  </a:srgbClr>
                </a:solidFill>
              </a:rPr>
              <a:t>Traditional</a:t>
            </a:r>
            <a:endParaRPr lang="en-US" b="1" i="1" dirty="0">
              <a:solidFill>
                <a:srgbClr val="002D72">
                  <a:lumMod val="75000"/>
                </a:srgbClr>
              </a:solidFill>
            </a:endParaRPr>
          </a:p>
        </p:txBody>
      </p:sp>
      <p:sp>
        <p:nvSpPr>
          <p:cNvPr id="85" name="Oval 84"/>
          <p:cNvSpPr/>
          <p:nvPr/>
        </p:nvSpPr>
        <p:spPr bwMode="auto">
          <a:xfrm>
            <a:off x="999349" y="1975370"/>
            <a:ext cx="219456" cy="219456"/>
          </a:xfrm>
          <a:prstGeom prst="ellipse">
            <a:avLst/>
          </a:prstGeom>
          <a:solidFill>
            <a:srgbClr val="00B0F0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400" b="1" dirty="0" smtClean="0">
              <a:solidFill>
                <a:srgbClr val="FFFF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699828" y="1620673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i="1" dirty="0" smtClean="0">
                <a:solidFill>
                  <a:srgbClr val="002D72">
                    <a:lumMod val="75000"/>
                  </a:srgbClr>
                </a:solidFill>
              </a:rPr>
              <a:t>Innovative </a:t>
            </a:r>
            <a:endParaRPr lang="en-US" b="1" i="1" dirty="0">
              <a:solidFill>
                <a:srgbClr val="002D72">
                  <a:lumMod val="75000"/>
                </a:srgbClr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310148" y="2294600"/>
            <a:ext cx="42939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b"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Core set of </a:t>
            </a:r>
            <a:r>
              <a:rPr lang="en-US" sz="1400" dirty="0" smtClean="0">
                <a:solidFill>
                  <a:srgbClr val="000000"/>
                </a:solidFill>
              </a:rPr>
              <a:t>analytic </a:t>
            </a:r>
            <a:r>
              <a:rPr lang="en-US" sz="1400" dirty="0">
                <a:solidFill>
                  <a:srgbClr val="000000"/>
                </a:solidFill>
              </a:rPr>
              <a:t>tools </a:t>
            </a:r>
            <a:r>
              <a:rPr lang="en-US" sz="1400" dirty="0" smtClean="0">
                <a:solidFill>
                  <a:srgbClr val="000000"/>
                </a:solidFill>
              </a:rPr>
              <a:t>with New </a:t>
            </a:r>
            <a:r>
              <a:rPr lang="en-US" sz="1400" dirty="0">
                <a:solidFill>
                  <a:srgbClr val="000000"/>
                </a:solidFill>
              </a:rPr>
              <a:t>statistical models and new advanced techniques</a:t>
            </a:r>
          </a:p>
          <a:p>
            <a:pPr marL="171450" indent="-171450" fontAlgn="b">
              <a:buFont typeface="Arial" pitchFamily="34" charset="0"/>
              <a:buChar char="•"/>
            </a:pPr>
            <a:r>
              <a:rPr lang="en-US" sz="1400" dirty="0" smtClean="0">
                <a:solidFill>
                  <a:srgbClr val="000000"/>
                </a:solidFill>
              </a:rPr>
              <a:t>Turnkey business solutions  </a:t>
            </a: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89" name="Picture 88" descr="Segmentation-U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78327" y="2187876"/>
            <a:ext cx="1318198" cy="1044441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90" name="Picture 89" descr="clustering.jpg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79659" y="2298523"/>
            <a:ext cx="1328928" cy="1060704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91" name="Picture 90" descr="blogit.png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91720" y="2425434"/>
            <a:ext cx="1332041" cy="1060704"/>
          </a:xfrm>
          <a:prstGeom prst="rect">
            <a:avLst/>
          </a:prstGeom>
          <a:ln w="12700">
            <a:solidFill>
              <a:schemeClr val="tx2">
                <a:lumMod val="75000"/>
              </a:schemeClr>
            </a:solidFill>
          </a:ln>
        </p:spPr>
      </p:pic>
      <p:pic>
        <p:nvPicPr>
          <p:cNvPr id="92" name="Picture 91" descr="survival.jpg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06895" y="2552344"/>
            <a:ext cx="1328928" cy="1060704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cxnSp>
        <p:nvCxnSpPr>
          <p:cNvPr id="93" name="Straight Arrow Connector 92"/>
          <p:cNvCxnSpPr/>
          <p:nvPr/>
        </p:nvCxnSpPr>
        <p:spPr bwMode="auto">
          <a:xfrm flipV="1">
            <a:off x="522357" y="4918194"/>
            <a:ext cx="0" cy="921127"/>
          </a:xfrm>
          <a:prstGeom prst="straightConnector1">
            <a:avLst/>
          </a:prstGeom>
          <a:ln w="6350">
            <a:solidFill>
              <a:srgbClr val="00A8EB"/>
            </a:solidFill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 rot="16200000">
            <a:off x="-346824" y="5086385"/>
            <a:ext cx="1394081" cy="24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 smtClean="0">
                <a:solidFill>
                  <a:srgbClr val="53565A"/>
                </a:solidFill>
              </a:rPr>
              <a:t>% Response Rate</a:t>
            </a:r>
            <a:endParaRPr lang="en-US" sz="1000" i="1" dirty="0">
              <a:solidFill>
                <a:srgbClr val="53565A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31071" y="5960825"/>
            <a:ext cx="11432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 smtClean="0">
                <a:solidFill>
                  <a:srgbClr val="53565A"/>
                </a:solidFill>
              </a:rPr>
              <a:t>Price </a:t>
            </a:r>
            <a:endParaRPr lang="en-US" sz="1000" i="1" dirty="0">
              <a:solidFill>
                <a:srgbClr val="53565A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03291" y="4225846"/>
            <a:ext cx="1371957" cy="276999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100" b="1" kern="0" dirty="0" smtClean="0">
                <a:solidFill>
                  <a:srgbClr val="FFFFFF"/>
                </a:solidFill>
              </a:rPr>
              <a:t>Response</a:t>
            </a:r>
            <a:endParaRPr lang="en-US" sz="1100" b="1" kern="0" dirty="0">
              <a:solidFill>
                <a:srgbClr val="FFFFFF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285007" y="4225846"/>
            <a:ext cx="1371957" cy="276999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100" b="1" kern="0" dirty="0" smtClean="0">
                <a:solidFill>
                  <a:srgbClr val="FFFFFF"/>
                </a:solidFill>
              </a:rPr>
              <a:t>Financials</a:t>
            </a:r>
            <a:endParaRPr lang="en-US" sz="1100" b="1" kern="0" dirty="0">
              <a:solidFill>
                <a:srgbClr val="FFFFFF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174999" y="4225846"/>
            <a:ext cx="1371957" cy="276999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100" b="1" kern="0" dirty="0" smtClean="0">
                <a:solidFill>
                  <a:srgbClr val="FFFFFF"/>
                </a:solidFill>
              </a:rPr>
              <a:t>Optimal Price</a:t>
            </a:r>
            <a:endParaRPr lang="en-US" sz="1100" b="1" kern="0" dirty="0">
              <a:solidFill>
                <a:srgbClr val="FFFFFF"/>
              </a:solidFill>
            </a:endParaRPr>
          </a:p>
        </p:txBody>
      </p:sp>
      <p:cxnSp>
        <p:nvCxnSpPr>
          <p:cNvPr id="99" name="Straight Connector 98"/>
          <p:cNvCxnSpPr/>
          <p:nvPr/>
        </p:nvCxnSpPr>
        <p:spPr bwMode="auto">
          <a:xfrm>
            <a:off x="674194" y="5142279"/>
            <a:ext cx="789371" cy="630792"/>
          </a:xfrm>
          <a:prstGeom prst="line">
            <a:avLst/>
          </a:prstGeom>
          <a:ln w="28575">
            <a:solidFill>
              <a:srgbClr val="00A8EB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0" name="Freeform 99"/>
          <p:cNvSpPr/>
          <p:nvPr/>
        </p:nvSpPr>
        <p:spPr bwMode="auto">
          <a:xfrm>
            <a:off x="4479275" y="4918194"/>
            <a:ext cx="946853" cy="815632"/>
          </a:xfrm>
          <a:custGeom>
            <a:avLst/>
            <a:gdLst>
              <a:gd name="connsiteX0" fmla="*/ 0 w 2128723"/>
              <a:gd name="connsiteY0" fmla="*/ 1055217 h 1066190"/>
              <a:gd name="connsiteX1" fmla="*/ 1057046 w 2128723"/>
              <a:gd name="connsiteY1" fmla="*/ 1829 h 1066190"/>
              <a:gd name="connsiteX2" fmla="*/ 2128723 w 2128723"/>
              <a:gd name="connsiteY2" fmla="*/ 1066190 h 1066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8723" h="1066190">
                <a:moveTo>
                  <a:pt x="0" y="1055217"/>
                </a:moveTo>
                <a:cubicBezTo>
                  <a:pt x="351129" y="527608"/>
                  <a:pt x="702259" y="0"/>
                  <a:pt x="1057046" y="1829"/>
                </a:cubicBezTo>
                <a:cubicBezTo>
                  <a:pt x="1411833" y="3658"/>
                  <a:pt x="2037892" y="872947"/>
                  <a:pt x="2128723" y="1066190"/>
                </a:cubicBezTo>
              </a:path>
            </a:pathLst>
          </a:custGeom>
          <a:ln w="28575">
            <a:solidFill>
              <a:srgbClr val="00A8EB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400" smtClean="0">
              <a:solidFill>
                <a:srgbClr val="53565A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522809" y="4197145"/>
            <a:ext cx="874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53565A"/>
                </a:solidFill>
                <a:sym typeface="Symbol"/>
              </a:rPr>
              <a:t></a:t>
            </a:r>
            <a:endParaRPr lang="en-US" sz="1600" b="1" dirty="0">
              <a:solidFill>
                <a:srgbClr val="53565A"/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487696" y="4197145"/>
            <a:ext cx="874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smtClean="0">
                <a:solidFill>
                  <a:srgbClr val="53565A"/>
                </a:solidFill>
                <a:sym typeface="Symbol"/>
              </a:rPr>
              <a:t>=</a:t>
            </a:r>
            <a:endParaRPr lang="en-US" sz="1800" b="1" dirty="0">
              <a:solidFill>
                <a:srgbClr val="53565A"/>
              </a:solidFill>
            </a:endParaRPr>
          </a:p>
        </p:txBody>
      </p:sp>
      <p:cxnSp>
        <p:nvCxnSpPr>
          <p:cNvPr id="103" name="Straight Arrow Connector 102"/>
          <p:cNvCxnSpPr/>
          <p:nvPr/>
        </p:nvCxnSpPr>
        <p:spPr bwMode="auto">
          <a:xfrm>
            <a:off x="514683" y="5839320"/>
            <a:ext cx="1143481" cy="0"/>
          </a:xfrm>
          <a:prstGeom prst="straightConnector1">
            <a:avLst/>
          </a:prstGeom>
          <a:ln w="6350">
            <a:solidFill>
              <a:srgbClr val="00A8EB"/>
            </a:solidFill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 bwMode="auto">
          <a:xfrm flipV="1">
            <a:off x="2625578" y="5072169"/>
            <a:ext cx="713898" cy="661657"/>
          </a:xfrm>
          <a:prstGeom prst="line">
            <a:avLst/>
          </a:prstGeom>
          <a:ln w="28575">
            <a:solidFill>
              <a:srgbClr val="00A8EB"/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5141103" y="4590070"/>
            <a:ext cx="8782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solidFill>
                  <a:srgbClr val="53565A"/>
                </a:solidFill>
              </a:rPr>
              <a:t>Price for Max Value</a:t>
            </a:r>
            <a:endParaRPr lang="en-US" sz="1050" dirty="0">
              <a:solidFill>
                <a:srgbClr val="53565A"/>
              </a:solidFill>
            </a:endParaRPr>
          </a:p>
        </p:txBody>
      </p:sp>
      <p:cxnSp>
        <p:nvCxnSpPr>
          <p:cNvPr id="111" name="Straight Arrow Connector 110"/>
          <p:cNvCxnSpPr/>
          <p:nvPr/>
        </p:nvCxnSpPr>
        <p:spPr bwMode="auto">
          <a:xfrm flipH="1">
            <a:off x="4949200" y="4742470"/>
            <a:ext cx="248391" cy="13251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8" name="Straight Connector 117"/>
          <p:cNvCxnSpPr/>
          <p:nvPr/>
        </p:nvCxnSpPr>
        <p:spPr bwMode="auto">
          <a:xfrm>
            <a:off x="150852" y="4002991"/>
            <a:ext cx="5278924" cy="0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2" name="TextBox 121"/>
          <p:cNvSpPr txBox="1"/>
          <p:nvPr/>
        </p:nvSpPr>
        <p:spPr>
          <a:xfrm>
            <a:off x="1328517" y="3615393"/>
            <a:ext cx="3345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Price Elasticity and Optimization</a:t>
            </a:r>
            <a:endParaRPr lang="en-US" sz="1600" dirty="0">
              <a:solidFill>
                <a:srgbClr val="002060"/>
              </a:solidFill>
            </a:endParaRPr>
          </a:p>
        </p:txBody>
      </p:sp>
      <p:cxnSp>
        <p:nvCxnSpPr>
          <p:cNvPr id="123" name="Straight Connector 122"/>
          <p:cNvCxnSpPr/>
          <p:nvPr/>
        </p:nvCxnSpPr>
        <p:spPr bwMode="auto">
          <a:xfrm>
            <a:off x="6672809" y="4002991"/>
            <a:ext cx="5278924" cy="0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TextBox 123"/>
          <p:cNvSpPr txBox="1"/>
          <p:nvPr/>
        </p:nvSpPr>
        <p:spPr>
          <a:xfrm>
            <a:off x="6613237" y="3633866"/>
            <a:ext cx="5199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>
                <a:solidFill>
                  <a:srgbClr val="002060"/>
                </a:solidFill>
              </a:rPr>
              <a:t>Next Best Offer (Latent Markov Modeling)</a:t>
            </a:r>
            <a:endParaRPr lang="en-US" sz="1600" dirty="0">
              <a:solidFill>
                <a:srgbClr val="002060"/>
              </a:solidFill>
            </a:endParaRPr>
          </a:p>
        </p:txBody>
      </p:sp>
      <p:cxnSp>
        <p:nvCxnSpPr>
          <p:cNvPr id="125" name="Straight Arrow Connector 124"/>
          <p:cNvCxnSpPr/>
          <p:nvPr/>
        </p:nvCxnSpPr>
        <p:spPr bwMode="auto">
          <a:xfrm flipV="1">
            <a:off x="2520461" y="4904919"/>
            <a:ext cx="0" cy="921127"/>
          </a:xfrm>
          <a:prstGeom prst="straightConnector1">
            <a:avLst/>
          </a:prstGeom>
          <a:ln w="6350">
            <a:solidFill>
              <a:srgbClr val="00A8EB"/>
            </a:solidFill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 bwMode="auto">
          <a:xfrm>
            <a:off x="2512788" y="5826045"/>
            <a:ext cx="1143481" cy="0"/>
          </a:xfrm>
          <a:prstGeom prst="straightConnector1">
            <a:avLst/>
          </a:prstGeom>
          <a:ln w="6350">
            <a:solidFill>
              <a:srgbClr val="00A8EB"/>
            </a:solidFill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 rot="16200000">
            <a:off x="1711112" y="5104543"/>
            <a:ext cx="1394081" cy="24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53565A"/>
                </a:solidFill>
              </a:rPr>
              <a:t>EBT per Responder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513666" y="5960825"/>
            <a:ext cx="11432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 smtClean="0">
                <a:solidFill>
                  <a:srgbClr val="53565A"/>
                </a:solidFill>
              </a:rPr>
              <a:t>Price </a:t>
            </a:r>
            <a:endParaRPr lang="en-US" sz="1000" i="1" dirty="0">
              <a:solidFill>
                <a:srgbClr val="53565A"/>
              </a:solidFill>
            </a:endParaRPr>
          </a:p>
        </p:txBody>
      </p:sp>
      <p:cxnSp>
        <p:nvCxnSpPr>
          <p:cNvPr id="129" name="Straight Arrow Connector 128"/>
          <p:cNvCxnSpPr/>
          <p:nvPr/>
        </p:nvCxnSpPr>
        <p:spPr bwMode="auto">
          <a:xfrm flipV="1">
            <a:off x="4349737" y="4904919"/>
            <a:ext cx="0" cy="921127"/>
          </a:xfrm>
          <a:prstGeom prst="straightConnector1">
            <a:avLst/>
          </a:prstGeom>
          <a:ln w="6350">
            <a:solidFill>
              <a:srgbClr val="00A8EB"/>
            </a:solidFill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 bwMode="auto">
          <a:xfrm>
            <a:off x="4342063" y="5826045"/>
            <a:ext cx="1143481" cy="0"/>
          </a:xfrm>
          <a:prstGeom prst="straightConnector1">
            <a:avLst/>
          </a:prstGeom>
          <a:ln w="6350">
            <a:solidFill>
              <a:srgbClr val="00A8EB"/>
            </a:solidFill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 rot="16200000">
            <a:off x="3540387" y="5104543"/>
            <a:ext cx="1394081" cy="24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 smtClean="0">
                <a:solidFill>
                  <a:srgbClr val="53565A"/>
                </a:solidFill>
              </a:rPr>
              <a:t>Total EBIT</a:t>
            </a:r>
            <a:endParaRPr lang="en-US" sz="1000" i="1" dirty="0">
              <a:solidFill>
                <a:srgbClr val="53565A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4342943" y="5978446"/>
            <a:ext cx="11432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 smtClean="0">
                <a:solidFill>
                  <a:srgbClr val="53565A"/>
                </a:solidFill>
              </a:rPr>
              <a:t>Price </a:t>
            </a:r>
            <a:endParaRPr lang="en-US" sz="1000" i="1" dirty="0">
              <a:solidFill>
                <a:srgbClr val="53565A"/>
              </a:solidFill>
            </a:endParaRPr>
          </a:p>
        </p:txBody>
      </p:sp>
      <p:pic>
        <p:nvPicPr>
          <p:cNvPr id="13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319" y="4091066"/>
            <a:ext cx="5283311" cy="217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" name="Oval 133"/>
          <p:cNvSpPr/>
          <p:nvPr/>
        </p:nvSpPr>
        <p:spPr bwMode="auto">
          <a:xfrm>
            <a:off x="10545132" y="1952279"/>
            <a:ext cx="219456" cy="219456"/>
          </a:xfrm>
          <a:prstGeom prst="ellipse">
            <a:avLst/>
          </a:prstGeom>
          <a:solidFill>
            <a:srgbClr val="00B0F0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400" b="1" dirty="0" smtClean="0">
              <a:solidFill>
                <a:srgbClr val="FFFFFF"/>
              </a:solidFill>
            </a:endParaRPr>
          </a:p>
        </p:txBody>
      </p:sp>
      <p:sp>
        <p:nvSpPr>
          <p:cNvPr id="44" name="Title 1"/>
          <p:cNvSpPr txBox="1">
            <a:spLocks/>
          </p:cNvSpPr>
          <p:nvPr/>
        </p:nvSpPr>
        <p:spPr bwMode="gray">
          <a:xfrm>
            <a:off x="1154953" y="516222"/>
            <a:ext cx="9130460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Consumer Analytics Group Analytic Capabilities 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86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>
    <a:txDef>
      <a:spPr bwMode="gray"/>
      <a:bodyPr vert="horz" lIns="91440" tIns="45720" rIns="91440" bIns="45720" rtlCol="0" anchor="ctr">
        <a:no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1605</Words>
  <Application>Microsoft Office PowerPoint</Application>
  <PresentationFormat>Widescreen</PresentationFormat>
  <Paragraphs>481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MS PGothic</vt:lpstr>
      <vt:lpstr>SimSun</vt:lpstr>
      <vt:lpstr>Arial</vt:lpstr>
      <vt:lpstr>Calibri</vt:lpstr>
      <vt:lpstr>Century Gothic</vt:lpstr>
      <vt:lpstr>Geneva</vt:lpstr>
      <vt:lpstr>Helvetica</vt:lpstr>
      <vt:lpstr>Palatino Linotype</vt:lpstr>
      <vt:lpstr>Symbol</vt:lpstr>
      <vt:lpstr>Wingdings</vt:lpstr>
      <vt:lpstr>Wingdings 3</vt:lpstr>
      <vt:lpstr>ヒラギノ角ゴ Pro W3</vt:lpstr>
      <vt:lpstr>Ion Boardroom</vt:lpstr>
      <vt:lpstr>GP &amp; SF, March 26th 2015 </vt:lpstr>
      <vt:lpstr>Agenda</vt:lpstr>
      <vt:lpstr>Data Analytics: Enabling smarter decisions</vt:lpstr>
      <vt:lpstr>Big data: Driving the Evolution of Analytics</vt:lpstr>
      <vt:lpstr>Big Data: Significantly better insights into our customers </vt:lpstr>
      <vt:lpstr>IHCL:  Illustrative Example</vt:lpstr>
      <vt:lpstr>PowerPoint Presentation</vt:lpstr>
      <vt:lpstr>Finance and Insurance Cluster: Illustrative Example</vt:lpstr>
      <vt:lpstr>Benefits of Company, Cluster and Group level Analytics</vt:lpstr>
      <vt:lpstr>PowerPoint Presentation</vt:lpstr>
      <vt:lpstr>The Indian Analytics Inc. landscape </vt:lpstr>
      <vt:lpstr>Consumer Analytics Group’s Positioning in the Analytics space  </vt:lpstr>
      <vt:lpstr>Unique Value Proposition and Enabler of Customer Centricity</vt:lpstr>
      <vt:lpstr>Appendix</vt:lpstr>
      <vt:lpstr>Data Analytics: Enabling smarter decisions</vt:lpstr>
      <vt:lpstr>The Analytic maturity evolution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Analytics: Enabling smarter decisions</dc:title>
  <dc:creator>Manbir</dc:creator>
  <cp:lastModifiedBy>Supriya Garg</cp:lastModifiedBy>
  <cp:revision>111</cp:revision>
  <dcterms:created xsi:type="dcterms:W3CDTF">2015-03-23T12:16:45Z</dcterms:created>
  <dcterms:modified xsi:type="dcterms:W3CDTF">2016-03-15T06:42:47Z</dcterms:modified>
</cp:coreProperties>
</file>
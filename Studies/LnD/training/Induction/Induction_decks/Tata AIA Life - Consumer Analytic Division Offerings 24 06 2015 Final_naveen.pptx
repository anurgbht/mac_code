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3"/>
  </p:notesMasterIdLst>
  <p:sldIdLst>
    <p:sldId id="259" r:id="rId2"/>
    <p:sldId id="427" r:id="rId3"/>
    <p:sldId id="434" r:id="rId4"/>
    <p:sldId id="261" r:id="rId5"/>
    <p:sldId id="404" r:id="rId6"/>
    <p:sldId id="405" r:id="rId7"/>
    <p:sldId id="322" r:id="rId8"/>
    <p:sldId id="430" r:id="rId9"/>
    <p:sldId id="395" r:id="rId10"/>
    <p:sldId id="429" r:id="rId11"/>
    <p:sldId id="312" r:id="rId12"/>
    <p:sldId id="373" r:id="rId13"/>
    <p:sldId id="432" r:id="rId14"/>
    <p:sldId id="415" r:id="rId15"/>
    <p:sldId id="420" r:id="rId16"/>
    <p:sldId id="421" r:id="rId17"/>
    <p:sldId id="422" r:id="rId18"/>
    <p:sldId id="423" r:id="rId19"/>
    <p:sldId id="424" r:id="rId20"/>
    <p:sldId id="435" r:id="rId21"/>
    <p:sldId id="437" r:id="rId22"/>
    <p:sldId id="361" r:id="rId23"/>
    <p:sldId id="439" r:id="rId24"/>
    <p:sldId id="443" r:id="rId25"/>
    <p:sldId id="380" r:id="rId26"/>
    <p:sldId id="377" r:id="rId27"/>
    <p:sldId id="281" r:id="rId28"/>
    <p:sldId id="379" r:id="rId29"/>
    <p:sldId id="436" r:id="rId30"/>
    <p:sldId id="441" r:id="rId31"/>
    <p:sldId id="442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060"/>
    <a:srgbClr val="7AC4F0"/>
    <a:srgbClr val="BDE1F8"/>
    <a:srgbClr val="ACD433"/>
    <a:srgbClr val="8FAF2E"/>
    <a:srgbClr val="0F7EBF"/>
    <a:srgbClr val="26B3FE"/>
    <a:srgbClr val="00A8EB"/>
    <a:srgbClr val="BFBFBF"/>
    <a:srgbClr val="375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32" autoAdjust="0"/>
    <p:restoredTop sz="95391" autoAdjust="0"/>
  </p:normalViewPr>
  <p:slideViewPr>
    <p:cSldViewPr snapToGrid="0">
      <p:cViewPr varScale="1">
        <p:scale>
          <a:sx n="70" d="100"/>
          <a:sy n="70" d="100"/>
        </p:scale>
        <p:origin x="756" y="54"/>
      </p:cViewPr>
      <p:guideLst>
        <p:guide orient="horz" pos="2160"/>
        <p:guide pos="3840"/>
      </p:guideLst>
    </p:cSldViewPr>
  </p:slideViewPr>
  <p:notesTextViewPr>
    <p:cViewPr>
      <p:scale>
        <a:sx n="400" d="100"/>
        <a:sy n="400" d="100"/>
      </p:scale>
      <p:origin x="0" y="0"/>
    </p:cViewPr>
  </p:notesTextViewPr>
  <p:sorterViewPr>
    <p:cViewPr varScale="1">
      <p:scale>
        <a:sx n="100" d="100"/>
        <a:sy n="100" d="100"/>
      </p:scale>
      <p:origin x="0" y="-96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BC9F0D-8D1E-49DE-987E-EAA1CB8A4213}" type="doc">
      <dgm:prSet loTypeId="urn:microsoft.com/office/officeart/2008/layout/AscendingPictureAccentProcess" loCatId="process" qsTypeId="urn:microsoft.com/office/officeart/2005/8/quickstyle/simple2" qsCatId="simple" csTypeId="urn:microsoft.com/office/officeart/2005/8/colors/accent5_4" csCatId="accent5" phldr="1"/>
      <dgm:spPr/>
    </dgm:pt>
    <dgm:pt modelId="{96E88880-4B74-4754-8278-FC872C889C81}">
      <dgm:prSet phldrT="[Text]" custT="1"/>
      <dgm:spPr/>
      <dgm:t>
        <a:bodyPr/>
        <a:lstStyle/>
        <a:p>
          <a:r>
            <a:rPr lang="en-US" sz="1800" dirty="0" smtClean="0">
              <a:solidFill>
                <a:schemeClr val="bg1"/>
              </a:solidFill>
            </a:rPr>
            <a:t>Single Tenant</a:t>
          </a:r>
          <a:endParaRPr lang="en-IN" sz="1800" dirty="0">
            <a:solidFill>
              <a:schemeClr val="bg1"/>
            </a:solidFill>
          </a:endParaRPr>
        </a:p>
      </dgm:t>
    </dgm:pt>
    <dgm:pt modelId="{73732F2F-6B8D-4C53-8D0F-D69C949F53A2}" type="parTrans" cxnId="{9B142A21-BAAD-448E-898B-1B15A6256F69}">
      <dgm:prSet/>
      <dgm:spPr/>
      <dgm:t>
        <a:bodyPr/>
        <a:lstStyle/>
        <a:p>
          <a:endParaRPr lang="en-IN"/>
        </a:p>
      </dgm:t>
    </dgm:pt>
    <dgm:pt modelId="{907C1680-B6BA-4522-A10E-C8C506AA95E7}" type="sibTrans" cxnId="{9B142A21-BAAD-448E-898B-1B15A6256F69}">
      <dgm:prSet/>
      <dgm:spPr/>
      <dgm:t>
        <a:bodyPr/>
        <a:lstStyle/>
        <a:p>
          <a:endParaRPr lang="en-IN"/>
        </a:p>
      </dgm:t>
    </dgm:pt>
    <dgm:pt modelId="{29BACE7B-6F44-447D-987E-BD8D654DFBC9}">
      <dgm:prSet phldrT="[Text]" custT="1"/>
      <dgm:spPr/>
      <dgm:t>
        <a:bodyPr/>
        <a:lstStyle/>
        <a:p>
          <a:r>
            <a:rPr lang="en-US" sz="1800" dirty="0" smtClean="0">
              <a:solidFill>
                <a:schemeClr val="tx2"/>
              </a:solidFill>
            </a:rPr>
            <a:t>Multi Tenant</a:t>
          </a:r>
          <a:endParaRPr lang="en-IN" sz="1800" dirty="0">
            <a:solidFill>
              <a:schemeClr val="tx2"/>
            </a:solidFill>
          </a:endParaRPr>
        </a:p>
      </dgm:t>
    </dgm:pt>
    <dgm:pt modelId="{E44AE9FA-AB5B-4BC0-B674-39ABA3EFDD8D}" type="parTrans" cxnId="{F39DF507-275E-4B55-8D95-1615B3F2217C}">
      <dgm:prSet/>
      <dgm:spPr/>
      <dgm:t>
        <a:bodyPr/>
        <a:lstStyle/>
        <a:p>
          <a:endParaRPr lang="en-IN"/>
        </a:p>
      </dgm:t>
    </dgm:pt>
    <dgm:pt modelId="{10DA7AD0-52C8-441D-A49D-F79DFBFCB9CE}" type="sibTrans" cxnId="{F39DF507-275E-4B55-8D95-1615B3F2217C}">
      <dgm:prSet/>
      <dgm:spPr/>
      <dgm:t>
        <a:bodyPr/>
        <a:lstStyle/>
        <a:p>
          <a:endParaRPr lang="en-IN"/>
        </a:p>
      </dgm:t>
    </dgm:pt>
    <dgm:pt modelId="{90FC1049-B9D4-4C38-ABD8-F1D448FFF77D}">
      <dgm:prSet phldrT="[Text]" custT="1"/>
      <dgm:spPr/>
      <dgm:t>
        <a:bodyPr/>
        <a:lstStyle/>
        <a:p>
          <a:r>
            <a:rPr lang="en-US" sz="1800" dirty="0" smtClean="0">
              <a:solidFill>
                <a:schemeClr val="tx2"/>
              </a:solidFill>
            </a:rPr>
            <a:t>One</a:t>
          </a:r>
          <a:r>
            <a:rPr lang="en-US" sz="1800" baseline="0" dirty="0" smtClean="0">
              <a:solidFill>
                <a:schemeClr val="tx2"/>
              </a:solidFill>
            </a:rPr>
            <a:t> Tata</a:t>
          </a:r>
          <a:endParaRPr lang="en-IN" sz="1800" dirty="0">
            <a:solidFill>
              <a:schemeClr val="tx2"/>
            </a:solidFill>
          </a:endParaRPr>
        </a:p>
      </dgm:t>
    </dgm:pt>
    <dgm:pt modelId="{DE1F5E56-C7EB-4CA7-A7FF-CAF5E38280EE}" type="parTrans" cxnId="{D498094B-ED11-4C91-A95A-20B397E2A6E1}">
      <dgm:prSet/>
      <dgm:spPr/>
      <dgm:t>
        <a:bodyPr/>
        <a:lstStyle/>
        <a:p>
          <a:endParaRPr lang="en-IN"/>
        </a:p>
      </dgm:t>
    </dgm:pt>
    <dgm:pt modelId="{2C390C12-7D04-4492-A968-755F1889C672}" type="sibTrans" cxnId="{D498094B-ED11-4C91-A95A-20B397E2A6E1}">
      <dgm:prSet/>
      <dgm:spPr/>
      <dgm:t>
        <a:bodyPr/>
        <a:lstStyle/>
        <a:p>
          <a:endParaRPr lang="en-IN"/>
        </a:p>
      </dgm:t>
    </dgm:pt>
    <dgm:pt modelId="{B75709DA-B2A0-4AD7-BD30-4D60C41DD363}" type="pres">
      <dgm:prSet presAssocID="{DEBC9F0D-8D1E-49DE-987E-EAA1CB8A4213}" presName="Name0" presStyleCnt="0">
        <dgm:presLayoutVars>
          <dgm:chMax val="7"/>
          <dgm:chPref val="7"/>
          <dgm:dir/>
        </dgm:presLayoutVars>
      </dgm:prSet>
      <dgm:spPr/>
    </dgm:pt>
    <dgm:pt modelId="{1B89DC53-0C5C-4412-8CEE-19C6A961C3C3}" type="pres">
      <dgm:prSet presAssocID="{DEBC9F0D-8D1E-49DE-987E-EAA1CB8A4213}" presName="dot1" presStyleLbl="alignNode1" presStyleIdx="0" presStyleCnt="12" custLinFactY="-36824" custLinFactNeighborY="-100000"/>
      <dgm:spPr/>
    </dgm:pt>
    <dgm:pt modelId="{32B61882-587B-47E3-831D-B2804B2B2868}" type="pres">
      <dgm:prSet presAssocID="{DEBC9F0D-8D1E-49DE-987E-EAA1CB8A4213}" presName="dot2" presStyleLbl="alignNode1" presStyleIdx="1" presStyleCnt="12" custLinFactY="-36824" custLinFactNeighborY="-100000"/>
      <dgm:spPr/>
    </dgm:pt>
    <dgm:pt modelId="{39B76545-8482-4339-8159-D6DB46C8DFEB}" type="pres">
      <dgm:prSet presAssocID="{DEBC9F0D-8D1E-49DE-987E-EAA1CB8A4213}" presName="dot3" presStyleLbl="alignNode1" presStyleIdx="2" presStyleCnt="12" custLinFactY="-36824" custLinFactNeighborY="-100000"/>
      <dgm:spPr/>
    </dgm:pt>
    <dgm:pt modelId="{72D73499-5901-4FED-A1AB-6F4734E972A6}" type="pres">
      <dgm:prSet presAssocID="{DEBC9F0D-8D1E-49DE-987E-EAA1CB8A4213}" presName="dot4" presStyleLbl="alignNode1" presStyleIdx="3" presStyleCnt="12" custLinFactY="-36824" custLinFactNeighborY="-100000"/>
      <dgm:spPr/>
    </dgm:pt>
    <dgm:pt modelId="{4C116175-7BD3-4C6C-899E-3825CFF57B88}" type="pres">
      <dgm:prSet presAssocID="{DEBC9F0D-8D1E-49DE-987E-EAA1CB8A4213}" presName="dot5" presStyleLbl="alignNode1" presStyleIdx="4" presStyleCnt="12" custLinFactY="-36824" custLinFactNeighborY="-100000"/>
      <dgm:spPr/>
    </dgm:pt>
    <dgm:pt modelId="{740E57A1-393C-4027-ACB9-99BB73DEA4AC}" type="pres">
      <dgm:prSet presAssocID="{DEBC9F0D-8D1E-49DE-987E-EAA1CB8A4213}" presName="dotArrow1" presStyleLbl="alignNode1" presStyleIdx="5" presStyleCnt="12" custLinFactY="-36824" custLinFactNeighborY="-100000"/>
      <dgm:spPr/>
    </dgm:pt>
    <dgm:pt modelId="{F28B11A1-7484-4C10-8571-DECF0F5412C9}" type="pres">
      <dgm:prSet presAssocID="{DEBC9F0D-8D1E-49DE-987E-EAA1CB8A4213}" presName="dotArrow2" presStyleLbl="alignNode1" presStyleIdx="6" presStyleCnt="12" custLinFactY="-36824" custLinFactNeighborY="-100000"/>
      <dgm:spPr/>
    </dgm:pt>
    <dgm:pt modelId="{9EC5EDB5-5A85-4905-9D54-82E753CC28EE}" type="pres">
      <dgm:prSet presAssocID="{DEBC9F0D-8D1E-49DE-987E-EAA1CB8A4213}" presName="dotArrow3" presStyleLbl="alignNode1" presStyleIdx="7" presStyleCnt="12" custLinFactY="-36824" custLinFactNeighborY="-100000"/>
      <dgm:spPr/>
    </dgm:pt>
    <dgm:pt modelId="{5D2BCBC1-97FE-4BA2-959F-5C3AF67B3B2B}" type="pres">
      <dgm:prSet presAssocID="{DEBC9F0D-8D1E-49DE-987E-EAA1CB8A4213}" presName="dotArrow4" presStyleLbl="alignNode1" presStyleIdx="8" presStyleCnt="12" custLinFactY="-36824" custLinFactNeighborY="-100000"/>
      <dgm:spPr/>
    </dgm:pt>
    <dgm:pt modelId="{AE7477A9-46C1-4444-885E-F81CABB24102}" type="pres">
      <dgm:prSet presAssocID="{DEBC9F0D-8D1E-49DE-987E-EAA1CB8A4213}" presName="dotArrow5" presStyleLbl="alignNode1" presStyleIdx="9" presStyleCnt="12" custLinFactY="-36824" custLinFactNeighborY="-100000"/>
      <dgm:spPr/>
    </dgm:pt>
    <dgm:pt modelId="{FB9D041D-E0EC-45E2-B120-9BC0C8C37F79}" type="pres">
      <dgm:prSet presAssocID="{DEBC9F0D-8D1E-49DE-987E-EAA1CB8A4213}" presName="dotArrow6" presStyleLbl="alignNode1" presStyleIdx="10" presStyleCnt="12" custLinFactY="-36824" custLinFactNeighborY="-100000"/>
      <dgm:spPr/>
    </dgm:pt>
    <dgm:pt modelId="{0B11E062-E9B9-43C0-957E-BD20E779482B}" type="pres">
      <dgm:prSet presAssocID="{DEBC9F0D-8D1E-49DE-987E-EAA1CB8A4213}" presName="dotArrow7" presStyleLbl="alignNode1" presStyleIdx="11" presStyleCnt="12" custLinFactY="-36824" custLinFactNeighborY="-100000"/>
      <dgm:spPr/>
    </dgm:pt>
    <dgm:pt modelId="{94568C37-428C-4CDA-9B2B-9DD15ACDA6B0}" type="pres">
      <dgm:prSet presAssocID="{96E88880-4B74-4754-8278-FC872C889C81}" presName="parTx1" presStyleLbl="node1" presStyleIdx="0" presStyleCnt="3" custScaleY="68903" custLinFactNeighborX="2176" custLinFactNeighborY="-38189"/>
      <dgm:spPr/>
      <dgm:t>
        <a:bodyPr/>
        <a:lstStyle/>
        <a:p>
          <a:endParaRPr lang="en-IN"/>
        </a:p>
      </dgm:t>
    </dgm:pt>
    <dgm:pt modelId="{21A857F2-7AB8-41AA-B2D0-460FF23A1933}" type="pres">
      <dgm:prSet presAssocID="{907C1680-B6BA-4522-A10E-C8C506AA95E7}" presName="picture1" presStyleCnt="0"/>
      <dgm:spPr/>
    </dgm:pt>
    <dgm:pt modelId="{EAB5CE4D-F253-4191-A001-1853051EF29B}" type="pres">
      <dgm:prSet presAssocID="{907C1680-B6BA-4522-A10E-C8C506AA95E7}" presName="imageRepeatNode" presStyleLbl="fgImgPlace1" presStyleIdx="0" presStyleCnt="3" custLinFactNeighborY="-13680"/>
      <dgm:spPr/>
      <dgm:t>
        <a:bodyPr/>
        <a:lstStyle/>
        <a:p>
          <a:endParaRPr lang="en-IN"/>
        </a:p>
      </dgm:t>
    </dgm:pt>
    <dgm:pt modelId="{D746A789-1E1B-4F15-BE25-A4D8E959C674}" type="pres">
      <dgm:prSet presAssocID="{29BACE7B-6F44-447D-987E-BD8D654DFBC9}" presName="parTx2" presStyleLbl="node1" presStyleIdx="1" presStyleCnt="3" custScaleY="68903" custLinFactNeighborX="1541" custLinFactNeighborY="-78247"/>
      <dgm:spPr/>
      <dgm:t>
        <a:bodyPr/>
        <a:lstStyle/>
        <a:p>
          <a:endParaRPr lang="en-IN"/>
        </a:p>
      </dgm:t>
    </dgm:pt>
    <dgm:pt modelId="{1053FEFB-4BD2-4FB4-8267-87B79DABDEA5}" type="pres">
      <dgm:prSet presAssocID="{10DA7AD0-52C8-441D-A49D-F79DFBFCB9CE}" presName="picture2" presStyleCnt="0"/>
      <dgm:spPr/>
    </dgm:pt>
    <dgm:pt modelId="{720CE90B-C5EC-47AD-A458-F2DC5C9A7675}" type="pres">
      <dgm:prSet presAssocID="{10DA7AD0-52C8-441D-A49D-F79DFBFCB9CE}" presName="imageRepeatNode" presStyleLbl="fgImgPlace1" presStyleIdx="1" presStyleCnt="3" custLinFactNeighborY="-13680"/>
      <dgm:spPr/>
      <dgm:t>
        <a:bodyPr/>
        <a:lstStyle/>
        <a:p>
          <a:endParaRPr lang="en-IN"/>
        </a:p>
      </dgm:t>
    </dgm:pt>
    <dgm:pt modelId="{D2017532-C082-4547-82B0-ED99C3BA7D77}" type="pres">
      <dgm:prSet presAssocID="{90FC1049-B9D4-4C38-ABD8-F1D448FFF77D}" presName="parTx3" presStyleLbl="node1" presStyleIdx="2" presStyleCnt="3" custScaleX="166366" custScaleY="87124" custLinFactNeighborX="34865" custLinFactNeighborY="-79502"/>
      <dgm:spPr/>
      <dgm:t>
        <a:bodyPr/>
        <a:lstStyle/>
        <a:p>
          <a:endParaRPr lang="en-IN"/>
        </a:p>
      </dgm:t>
    </dgm:pt>
    <dgm:pt modelId="{0EB1C999-104D-43E4-9DB7-0E87A40DC796}" type="pres">
      <dgm:prSet presAssocID="{2C390C12-7D04-4492-A968-755F1889C672}" presName="picture3" presStyleCnt="0"/>
      <dgm:spPr/>
    </dgm:pt>
    <dgm:pt modelId="{305520A3-EDB6-47CC-8C41-9D1A1D8212E6}" type="pres">
      <dgm:prSet presAssocID="{2C390C12-7D04-4492-A968-755F1889C672}" presName="imageRepeatNode" presStyleLbl="fgImgPlace1" presStyleIdx="2" presStyleCnt="3" custLinFactNeighborY="-14820"/>
      <dgm:spPr/>
      <dgm:t>
        <a:bodyPr/>
        <a:lstStyle/>
        <a:p>
          <a:endParaRPr lang="en-IN"/>
        </a:p>
      </dgm:t>
    </dgm:pt>
  </dgm:ptLst>
  <dgm:cxnLst>
    <dgm:cxn modelId="{D498094B-ED11-4C91-A95A-20B397E2A6E1}" srcId="{DEBC9F0D-8D1E-49DE-987E-EAA1CB8A4213}" destId="{90FC1049-B9D4-4C38-ABD8-F1D448FFF77D}" srcOrd="2" destOrd="0" parTransId="{DE1F5E56-C7EB-4CA7-A7FF-CAF5E38280EE}" sibTransId="{2C390C12-7D04-4492-A968-755F1889C672}"/>
    <dgm:cxn modelId="{EA5E1B08-B987-4171-BCE1-A1C44C748E1A}" type="presOf" srcId="{10DA7AD0-52C8-441D-A49D-F79DFBFCB9CE}" destId="{720CE90B-C5EC-47AD-A458-F2DC5C9A7675}" srcOrd="0" destOrd="0" presId="urn:microsoft.com/office/officeart/2008/layout/AscendingPictureAccentProcess"/>
    <dgm:cxn modelId="{78C88E14-07E0-4EDE-B9A9-8D0FDF18BFC3}" type="presOf" srcId="{29BACE7B-6F44-447D-987E-BD8D654DFBC9}" destId="{D746A789-1E1B-4F15-BE25-A4D8E959C674}" srcOrd="0" destOrd="0" presId="urn:microsoft.com/office/officeart/2008/layout/AscendingPictureAccentProcess"/>
    <dgm:cxn modelId="{F39DF507-275E-4B55-8D95-1615B3F2217C}" srcId="{DEBC9F0D-8D1E-49DE-987E-EAA1CB8A4213}" destId="{29BACE7B-6F44-447D-987E-BD8D654DFBC9}" srcOrd="1" destOrd="0" parTransId="{E44AE9FA-AB5B-4BC0-B674-39ABA3EFDD8D}" sibTransId="{10DA7AD0-52C8-441D-A49D-F79DFBFCB9CE}"/>
    <dgm:cxn modelId="{8977DB85-B683-4C75-9CB1-7350884B508C}" type="presOf" srcId="{96E88880-4B74-4754-8278-FC872C889C81}" destId="{94568C37-428C-4CDA-9B2B-9DD15ACDA6B0}" srcOrd="0" destOrd="0" presId="urn:microsoft.com/office/officeart/2008/layout/AscendingPictureAccentProcess"/>
    <dgm:cxn modelId="{5C9F728A-6B3A-455E-BFC6-1C61A6ABD96A}" type="presOf" srcId="{DEBC9F0D-8D1E-49DE-987E-EAA1CB8A4213}" destId="{B75709DA-B2A0-4AD7-BD30-4D60C41DD363}" srcOrd="0" destOrd="0" presId="urn:microsoft.com/office/officeart/2008/layout/AscendingPictureAccentProcess"/>
    <dgm:cxn modelId="{9662782B-811E-4EDA-97A3-A8EF9C496471}" type="presOf" srcId="{2C390C12-7D04-4492-A968-755F1889C672}" destId="{305520A3-EDB6-47CC-8C41-9D1A1D8212E6}" srcOrd="0" destOrd="0" presId="urn:microsoft.com/office/officeart/2008/layout/AscendingPictureAccentProcess"/>
    <dgm:cxn modelId="{0953E439-3E45-452D-9C75-38385CEE6EF8}" type="presOf" srcId="{90FC1049-B9D4-4C38-ABD8-F1D448FFF77D}" destId="{D2017532-C082-4547-82B0-ED99C3BA7D77}" srcOrd="0" destOrd="0" presId="urn:microsoft.com/office/officeart/2008/layout/AscendingPictureAccentProcess"/>
    <dgm:cxn modelId="{9B142A21-BAAD-448E-898B-1B15A6256F69}" srcId="{DEBC9F0D-8D1E-49DE-987E-EAA1CB8A4213}" destId="{96E88880-4B74-4754-8278-FC872C889C81}" srcOrd="0" destOrd="0" parTransId="{73732F2F-6B8D-4C53-8D0F-D69C949F53A2}" sibTransId="{907C1680-B6BA-4522-A10E-C8C506AA95E7}"/>
    <dgm:cxn modelId="{09FAD865-1141-4684-BE73-70D6D2309718}" type="presOf" srcId="{907C1680-B6BA-4522-A10E-C8C506AA95E7}" destId="{EAB5CE4D-F253-4191-A001-1853051EF29B}" srcOrd="0" destOrd="0" presId="urn:microsoft.com/office/officeart/2008/layout/AscendingPictureAccentProcess"/>
    <dgm:cxn modelId="{0DDDBE95-6D31-4131-9CDD-2DF645B68F6E}" type="presParOf" srcId="{B75709DA-B2A0-4AD7-BD30-4D60C41DD363}" destId="{1B89DC53-0C5C-4412-8CEE-19C6A961C3C3}" srcOrd="0" destOrd="0" presId="urn:microsoft.com/office/officeart/2008/layout/AscendingPictureAccentProcess"/>
    <dgm:cxn modelId="{9E133DC1-51E6-4040-969A-6EEC5EEED207}" type="presParOf" srcId="{B75709DA-B2A0-4AD7-BD30-4D60C41DD363}" destId="{32B61882-587B-47E3-831D-B2804B2B2868}" srcOrd="1" destOrd="0" presId="urn:microsoft.com/office/officeart/2008/layout/AscendingPictureAccentProcess"/>
    <dgm:cxn modelId="{A1547EE1-D985-47C5-B32C-3C2E88544740}" type="presParOf" srcId="{B75709DA-B2A0-4AD7-BD30-4D60C41DD363}" destId="{39B76545-8482-4339-8159-D6DB46C8DFEB}" srcOrd="2" destOrd="0" presId="urn:microsoft.com/office/officeart/2008/layout/AscendingPictureAccentProcess"/>
    <dgm:cxn modelId="{AAF8FB22-CBDE-4B01-BA31-B9FF8704DECF}" type="presParOf" srcId="{B75709DA-B2A0-4AD7-BD30-4D60C41DD363}" destId="{72D73499-5901-4FED-A1AB-6F4734E972A6}" srcOrd="3" destOrd="0" presId="urn:microsoft.com/office/officeart/2008/layout/AscendingPictureAccentProcess"/>
    <dgm:cxn modelId="{C5B86C81-468D-409B-AB2D-B72F939CA131}" type="presParOf" srcId="{B75709DA-B2A0-4AD7-BD30-4D60C41DD363}" destId="{4C116175-7BD3-4C6C-899E-3825CFF57B88}" srcOrd="4" destOrd="0" presId="urn:microsoft.com/office/officeart/2008/layout/AscendingPictureAccentProcess"/>
    <dgm:cxn modelId="{1E8841FF-B210-40AF-AF1B-DBFFD90A2CAD}" type="presParOf" srcId="{B75709DA-B2A0-4AD7-BD30-4D60C41DD363}" destId="{740E57A1-393C-4027-ACB9-99BB73DEA4AC}" srcOrd="5" destOrd="0" presId="urn:microsoft.com/office/officeart/2008/layout/AscendingPictureAccentProcess"/>
    <dgm:cxn modelId="{30388680-F26B-4230-9BEB-F629F8FF7194}" type="presParOf" srcId="{B75709DA-B2A0-4AD7-BD30-4D60C41DD363}" destId="{F28B11A1-7484-4C10-8571-DECF0F5412C9}" srcOrd="6" destOrd="0" presId="urn:microsoft.com/office/officeart/2008/layout/AscendingPictureAccentProcess"/>
    <dgm:cxn modelId="{8592FBC3-DEFC-4C22-9494-BF632DF89E4E}" type="presParOf" srcId="{B75709DA-B2A0-4AD7-BD30-4D60C41DD363}" destId="{9EC5EDB5-5A85-4905-9D54-82E753CC28EE}" srcOrd="7" destOrd="0" presId="urn:microsoft.com/office/officeart/2008/layout/AscendingPictureAccentProcess"/>
    <dgm:cxn modelId="{0264C584-86A0-4476-B186-BC18FB518F55}" type="presParOf" srcId="{B75709DA-B2A0-4AD7-BD30-4D60C41DD363}" destId="{5D2BCBC1-97FE-4BA2-959F-5C3AF67B3B2B}" srcOrd="8" destOrd="0" presId="urn:microsoft.com/office/officeart/2008/layout/AscendingPictureAccentProcess"/>
    <dgm:cxn modelId="{1E3DEC8C-5341-48E9-83FE-FD4394CEFE61}" type="presParOf" srcId="{B75709DA-B2A0-4AD7-BD30-4D60C41DD363}" destId="{AE7477A9-46C1-4444-885E-F81CABB24102}" srcOrd="9" destOrd="0" presId="urn:microsoft.com/office/officeart/2008/layout/AscendingPictureAccentProcess"/>
    <dgm:cxn modelId="{CDDC4C2D-5C03-4650-9917-EFA23D6CEB17}" type="presParOf" srcId="{B75709DA-B2A0-4AD7-BD30-4D60C41DD363}" destId="{FB9D041D-E0EC-45E2-B120-9BC0C8C37F79}" srcOrd="10" destOrd="0" presId="urn:microsoft.com/office/officeart/2008/layout/AscendingPictureAccentProcess"/>
    <dgm:cxn modelId="{C02EE71A-8C8F-4FC1-9176-CB0264A845BD}" type="presParOf" srcId="{B75709DA-B2A0-4AD7-BD30-4D60C41DD363}" destId="{0B11E062-E9B9-43C0-957E-BD20E779482B}" srcOrd="11" destOrd="0" presId="urn:microsoft.com/office/officeart/2008/layout/AscendingPictureAccentProcess"/>
    <dgm:cxn modelId="{B2E96EC0-76C0-4E7F-BAA3-5680A3D9EDA9}" type="presParOf" srcId="{B75709DA-B2A0-4AD7-BD30-4D60C41DD363}" destId="{94568C37-428C-4CDA-9B2B-9DD15ACDA6B0}" srcOrd="12" destOrd="0" presId="urn:microsoft.com/office/officeart/2008/layout/AscendingPictureAccentProcess"/>
    <dgm:cxn modelId="{104DCB68-61C1-499B-AA31-E655DC907324}" type="presParOf" srcId="{B75709DA-B2A0-4AD7-BD30-4D60C41DD363}" destId="{21A857F2-7AB8-41AA-B2D0-460FF23A1933}" srcOrd="13" destOrd="0" presId="urn:microsoft.com/office/officeart/2008/layout/AscendingPictureAccentProcess"/>
    <dgm:cxn modelId="{6ACA372B-4A8A-4D03-93DA-5C692F8D2E84}" type="presParOf" srcId="{21A857F2-7AB8-41AA-B2D0-460FF23A1933}" destId="{EAB5CE4D-F253-4191-A001-1853051EF29B}" srcOrd="0" destOrd="0" presId="urn:microsoft.com/office/officeart/2008/layout/AscendingPictureAccentProcess"/>
    <dgm:cxn modelId="{A3CB019A-8376-4BC0-A92F-59E10593501B}" type="presParOf" srcId="{B75709DA-B2A0-4AD7-BD30-4D60C41DD363}" destId="{D746A789-1E1B-4F15-BE25-A4D8E959C674}" srcOrd="14" destOrd="0" presId="urn:microsoft.com/office/officeart/2008/layout/AscendingPictureAccentProcess"/>
    <dgm:cxn modelId="{F7620814-6070-4D38-B483-6A91E7430982}" type="presParOf" srcId="{B75709DA-B2A0-4AD7-BD30-4D60C41DD363}" destId="{1053FEFB-4BD2-4FB4-8267-87B79DABDEA5}" srcOrd="15" destOrd="0" presId="urn:microsoft.com/office/officeart/2008/layout/AscendingPictureAccentProcess"/>
    <dgm:cxn modelId="{48B606AF-0D1E-48AD-9A29-E2C3950B66DD}" type="presParOf" srcId="{1053FEFB-4BD2-4FB4-8267-87B79DABDEA5}" destId="{720CE90B-C5EC-47AD-A458-F2DC5C9A7675}" srcOrd="0" destOrd="0" presId="urn:microsoft.com/office/officeart/2008/layout/AscendingPictureAccentProcess"/>
    <dgm:cxn modelId="{F4C2C7AB-E8AF-4D6C-8DC7-B3E0413DE85E}" type="presParOf" srcId="{B75709DA-B2A0-4AD7-BD30-4D60C41DD363}" destId="{D2017532-C082-4547-82B0-ED99C3BA7D77}" srcOrd="16" destOrd="0" presId="urn:microsoft.com/office/officeart/2008/layout/AscendingPictureAccentProcess"/>
    <dgm:cxn modelId="{C568BF95-5896-4E95-A836-9199AEB30C90}" type="presParOf" srcId="{B75709DA-B2A0-4AD7-BD30-4D60C41DD363}" destId="{0EB1C999-104D-43E4-9DB7-0E87A40DC796}" srcOrd="17" destOrd="0" presId="urn:microsoft.com/office/officeart/2008/layout/AscendingPictureAccentProcess"/>
    <dgm:cxn modelId="{E8DD519B-08D9-4CB8-9645-18535D25D01E}" type="presParOf" srcId="{0EB1C999-104D-43E4-9DB7-0E87A40DC796}" destId="{305520A3-EDB6-47CC-8C41-9D1A1D8212E6}" srcOrd="0" destOrd="0" presId="urn:microsoft.com/office/officeart/2008/layout/AscendingPictureAccent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41977E-8B77-4E26-B9E4-872B9F5D811D}" type="doc">
      <dgm:prSet loTypeId="urn:microsoft.com/office/officeart/2005/8/layout/cycle4#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D518D5B-31C7-4E54-B9E2-C921DA14D2AC}">
      <dgm:prSet phldrT="[Text]" custT="1"/>
      <dgm:spPr>
        <a:solidFill>
          <a:schemeClr val="accent1">
            <a:lumMod val="50000"/>
          </a:schemeClr>
        </a:solidFill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n-US" sz="1200" dirty="0" smtClean="0"/>
            <a:t>Customer Management</a:t>
          </a:r>
          <a:endParaRPr lang="en-IN" sz="1200" dirty="0" smtClean="0"/>
        </a:p>
      </dgm:t>
    </dgm:pt>
    <dgm:pt modelId="{D970F40A-4329-4C87-92CD-BDD6CC87E660}" type="parTrans" cxnId="{2FDF2E22-7E03-47B7-8DC1-62BF8B42B1F0}">
      <dgm:prSet/>
      <dgm:spPr/>
      <dgm:t>
        <a:bodyPr/>
        <a:lstStyle/>
        <a:p>
          <a:endParaRPr lang="en-IN"/>
        </a:p>
      </dgm:t>
    </dgm:pt>
    <dgm:pt modelId="{0C409065-AF8F-4D65-9342-BC593390CF5A}" type="sibTrans" cxnId="{2FDF2E22-7E03-47B7-8DC1-62BF8B42B1F0}">
      <dgm:prSet/>
      <dgm:spPr/>
      <dgm:t>
        <a:bodyPr/>
        <a:lstStyle/>
        <a:p>
          <a:endParaRPr lang="en-IN"/>
        </a:p>
      </dgm:t>
    </dgm:pt>
    <dgm:pt modelId="{84181489-6311-469A-B501-EED4940A67FB}">
      <dgm:prSet phldrT="[Text]" custT="1"/>
      <dgm:spPr>
        <a:solidFill>
          <a:schemeClr val="tx2">
            <a:lumMod val="75000"/>
          </a:schemeClr>
        </a:solidFill>
        <a:ln>
          <a:noFill/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200" dirty="0" smtClean="0"/>
            <a:t>Claim</a:t>
          </a:r>
        </a:p>
        <a:p>
          <a:pPr>
            <a:lnSpc>
              <a:spcPct val="100000"/>
            </a:lnSpc>
          </a:pPr>
          <a:r>
            <a:rPr lang="en-US" sz="1200" dirty="0" smtClean="0"/>
            <a:t>Management</a:t>
          </a:r>
          <a:endParaRPr lang="en-IN" sz="1200" dirty="0"/>
        </a:p>
      </dgm:t>
    </dgm:pt>
    <dgm:pt modelId="{381CB815-5FE2-485F-9531-1D1FF4281A33}" type="parTrans" cxnId="{9D86E122-2EF3-4E6E-BD22-A6444C782C6B}">
      <dgm:prSet/>
      <dgm:spPr/>
      <dgm:t>
        <a:bodyPr/>
        <a:lstStyle/>
        <a:p>
          <a:endParaRPr lang="en-IN"/>
        </a:p>
      </dgm:t>
    </dgm:pt>
    <dgm:pt modelId="{3FA85DEF-66D5-46C1-8827-AC2AA40DFB12}" type="sibTrans" cxnId="{9D86E122-2EF3-4E6E-BD22-A6444C782C6B}">
      <dgm:prSet/>
      <dgm:spPr/>
      <dgm:t>
        <a:bodyPr/>
        <a:lstStyle/>
        <a:p>
          <a:endParaRPr lang="en-IN"/>
        </a:p>
      </dgm:t>
    </dgm:pt>
    <dgm:pt modelId="{418A7EDD-2B1C-4BE0-8796-5ADC08641253}">
      <dgm:prSet phldrT="[Text]" custT="1"/>
      <dgm:spPr>
        <a:solidFill>
          <a:schemeClr val="tx2">
            <a:lumMod val="75000"/>
          </a:schemeClr>
        </a:solidFill>
        <a:ln>
          <a:noFill/>
        </a:ln>
      </dgm:spPr>
      <dgm:t>
        <a:bodyPr/>
        <a:lstStyle/>
        <a:p>
          <a:r>
            <a:rPr lang="en-US" sz="1200" dirty="0" smtClean="0"/>
            <a:t>Risk Management</a:t>
          </a:r>
          <a:endParaRPr lang="en-IN" sz="1200" dirty="0"/>
        </a:p>
      </dgm:t>
    </dgm:pt>
    <dgm:pt modelId="{40FCDBD7-5404-4939-8B2D-35C5B197857C}" type="parTrans" cxnId="{7D17805E-F42C-44B9-9E13-C224260EDDD8}">
      <dgm:prSet/>
      <dgm:spPr/>
      <dgm:t>
        <a:bodyPr/>
        <a:lstStyle/>
        <a:p>
          <a:endParaRPr lang="en-IN"/>
        </a:p>
      </dgm:t>
    </dgm:pt>
    <dgm:pt modelId="{12148E0C-625C-4A65-92EB-597196B46175}" type="sibTrans" cxnId="{7D17805E-F42C-44B9-9E13-C224260EDDD8}">
      <dgm:prSet/>
      <dgm:spPr/>
      <dgm:t>
        <a:bodyPr/>
        <a:lstStyle/>
        <a:p>
          <a:endParaRPr lang="en-IN"/>
        </a:p>
      </dgm:t>
    </dgm:pt>
    <dgm:pt modelId="{F8737A6A-B643-4907-A80D-EA8CAB72AD01}">
      <dgm:prSet phldrT="[Text]" custT="1"/>
      <dgm:spPr>
        <a:ln w="25400">
          <a:solidFill>
            <a:schemeClr val="tx2">
              <a:lumMod val="75000"/>
            </a:schemeClr>
          </a:solidFill>
          <a:prstDash val="sysDash"/>
        </a:ln>
      </dgm:spPr>
      <dgm:t>
        <a:bodyPr tIns="0" bIns="0" anchor="t" anchorCtr="0"/>
        <a:lstStyle/>
        <a:p>
          <a:endParaRPr lang="en-IN" sz="1200" dirty="0">
            <a:solidFill>
              <a:schemeClr val="bg1">
                <a:lumMod val="50000"/>
              </a:schemeClr>
            </a:solidFill>
          </a:endParaRPr>
        </a:p>
      </dgm:t>
    </dgm:pt>
    <dgm:pt modelId="{4387723F-B807-4571-879F-F53FBDB626BE}" type="parTrans" cxnId="{B4B456D9-A7E1-4167-BC06-BAE6E4BF5FAE}">
      <dgm:prSet/>
      <dgm:spPr/>
      <dgm:t>
        <a:bodyPr/>
        <a:lstStyle/>
        <a:p>
          <a:endParaRPr lang="en-IN"/>
        </a:p>
      </dgm:t>
    </dgm:pt>
    <dgm:pt modelId="{F84467D5-A64A-4513-9F2B-945CFDD82601}" type="sibTrans" cxnId="{B4B456D9-A7E1-4167-BC06-BAE6E4BF5FAE}">
      <dgm:prSet/>
      <dgm:spPr/>
      <dgm:t>
        <a:bodyPr/>
        <a:lstStyle/>
        <a:p>
          <a:endParaRPr lang="en-IN"/>
        </a:p>
      </dgm:t>
    </dgm:pt>
    <dgm:pt modelId="{2949A73D-619A-4AEF-AF5D-700909E51798}">
      <dgm:prSet phldrT="[Text]" custT="1"/>
      <dgm:spPr>
        <a:ln w="25400">
          <a:solidFill>
            <a:schemeClr val="tx2">
              <a:lumMod val="75000"/>
            </a:schemeClr>
          </a:solidFill>
          <a:prstDash val="sysDash"/>
        </a:ln>
      </dgm:spPr>
      <dgm:t>
        <a:bodyPr anchor="ctr"/>
        <a:lstStyle/>
        <a:p>
          <a:pPr algn="l"/>
          <a:endParaRPr lang="en-IN" sz="1400" dirty="0">
            <a:solidFill>
              <a:schemeClr val="bg1">
                <a:lumMod val="50000"/>
              </a:schemeClr>
            </a:solidFill>
          </a:endParaRPr>
        </a:p>
      </dgm:t>
    </dgm:pt>
    <dgm:pt modelId="{8F145A47-F13A-41DC-8312-1D3BE9DD1FA1}" type="parTrans" cxnId="{21FC5691-F57A-4E4D-A373-A498EE099276}">
      <dgm:prSet/>
      <dgm:spPr/>
      <dgm:t>
        <a:bodyPr/>
        <a:lstStyle/>
        <a:p>
          <a:endParaRPr lang="en-IN"/>
        </a:p>
      </dgm:t>
    </dgm:pt>
    <dgm:pt modelId="{1BF2AA23-A209-449B-A869-D94010D36C79}" type="sibTrans" cxnId="{21FC5691-F57A-4E4D-A373-A498EE099276}">
      <dgm:prSet/>
      <dgm:spPr/>
      <dgm:t>
        <a:bodyPr/>
        <a:lstStyle/>
        <a:p>
          <a:endParaRPr lang="en-IN"/>
        </a:p>
      </dgm:t>
    </dgm:pt>
    <dgm:pt modelId="{EDDEBDCA-9955-4077-9810-1ADC7869C5D0}">
      <dgm:prSet phldrT="[Text]" custT="1"/>
      <dgm:spPr>
        <a:ln w="25400">
          <a:solidFill>
            <a:schemeClr val="accent1">
              <a:lumMod val="75000"/>
            </a:schemeClr>
          </a:solidFill>
          <a:prstDash val="sysDash"/>
        </a:ln>
      </dgm:spPr>
      <dgm:t>
        <a:bodyPr/>
        <a:lstStyle/>
        <a:p>
          <a:endParaRPr lang="en-IN" sz="1400" dirty="0"/>
        </a:p>
      </dgm:t>
    </dgm:pt>
    <dgm:pt modelId="{4485C366-20D4-43EE-B3C1-DD07FF8D018A}" type="parTrans" cxnId="{1C964AC2-2A28-4484-825F-E0B06B14A238}">
      <dgm:prSet/>
      <dgm:spPr/>
      <dgm:t>
        <a:bodyPr/>
        <a:lstStyle/>
        <a:p>
          <a:endParaRPr lang="en-IN"/>
        </a:p>
      </dgm:t>
    </dgm:pt>
    <dgm:pt modelId="{032EA678-A96E-4D41-AFC0-26069924E8AB}" type="sibTrans" cxnId="{1C964AC2-2A28-4484-825F-E0B06B14A238}">
      <dgm:prSet/>
      <dgm:spPr/>
      <dgm:t>
        <a:bodyPr/>
        <a:lstStyle/>
        <a:p>
          <a:endParaRPr lang="en-IN"/>
        </a:p>
      </dgm:t>
    </dgm:pt>
    <dgm:pt modelId="{A3707838-35B5-44F2-80F9-2F85791609BC}">
      <dgm:prSet phldrT="[Text]" custT="1"/>
      <dgm:spPr>
        <a:ln w="25400">
          <a:solidFill>
            <a:schemeClr val="accent1">
              <a:lumMod val="75000"/>
            </a:schemeClr>
          </a:solidFill>
          <a:prstDash val="sysDash"/>
        </a:ln>
      </dgm:spPr>
      <dgm:t>
        <a:bodyPr/>
        <a:lstStyle/>
        <a:p>
          <a:endParaRPr lang="en-IN" sz="1400" dirty="0"/>
        </a:p>
      </dgm:t>
    </dgm:pt>
    <dgm:pt modelId="{BEC8214F-0655-4834-92B8-017B08479294}" type="parTrans" cxnId="{905B1219-42A1-4811-8BAF-2A008C898074}">
      <dgm:prSet/>
      <dgm:spPr/>
      <dgm:t>
        <a:bodyPr/>
        <a:lstStyle/>
        <a:p>
          <a:endParaRPr lang="en-IN"/>
        </a:p>
      </dgm:t>
    </dgm:pt>
    <dgm:pt modelId="{FBFEAB90-B781-4776-B4CD-CD1F8D45C189}" type="sibTrans" cxnId="{905B1219-42A1-4811-8BAF-2A008C898074}">
      <dgm:prSet/>
      <dgm:spPr/>
      <dgm:t>
        <a:bodyPr/>
        <a:lstStyle/>
        <a:p>
          <a:endParaRPr lang="en-IN"/>
        </a:p>
      </dgm:t>
    </dgm:pt>
    <dgm:pt modelId="{C510DFE1-4E9D-4D43-AE86-5279A0B75B9A}">
      <dgm:prSet phldrT="[Text]" custT="1"/>
      <dgm:spPr>
        <a:ln w="25400">
          <a:solidFill>
            <a:schemeClr val="tx2">
              <a:lumMod val="75000"/>
            </a:schemeClr>
          </a:solidFill>
          <a:prstDash val="sysDash"/>
        </a:ln>
      </dgm:spPr>
      <dgm:t>
        <a:bodyPr anchor="ctr"/>
        <a:lstStyle/>
        <a:p>
          <a:pPr algn="l"/>
          <a:endParaRPr lang="en-IN" sz="1200" dirty="0">
            <a:solidFill>
              <a:schemeClr val="bg1">
                <a:lumMod val="50000"/>
              </a:schemeClr>
            </a:solidFill>
          </a:endParaRPr>
        </a:p>
      </dgm:t>
    </dgm:pt>
    <dgm:pt modelId="{75AFE48C-5216-4CD3-A8C8-BBC59620A011}" type="parTrans" cxnId="{590B863E-0CDE-4EBC-A053-67AB56CA18D0}">
      <dgm:prSet/>
      <dgm:spPr/>
      <dgm:t>
        <a:bodyPr/>
        <a:lstStyle/>
        <a:p>
          <a:endParaRPr lang="en-IN"/>
        </a:p>
      </dgm:t>
    </dgm:pt>
    <dgm:pt modelId="{0AA1BA18-7CE6-4CFF-A193-63F97BF9CA8A}" type="sibTrans" cxnId="{590B863E-0CDE-4EBC-A053-67AB56CA18D0}">
      <dgm:prSet/>
      <dgm:spPr/>
      <dgm:t>
        <a:bodyPr/>
        <a:lstStyle/>
        <a:p>
          <a:endParaRPr lang="en-IN"/>
        </a:p>
      </dgm:t>
    </dgm:pt>
    <dgm:pt modelId="{4034ED69-AA85-49C0-9ED3-D4584C5D94CA}">
      <dgm:prSet phldrT="[Text]" custT="1"/>
      <dgm:spPr>
        <a:ln w="25400">
          <a:solidFill>
            <a:schemeClr val="tx2">
              <a:lumMod val="75000"/>
            </a:schemeClr>
          </a:solidFill>
          <a:prstDash val="sysDash"/>
        </a:ln>
      </dgm:spPr>
      <dgm:t>
        <a:bodyPr anchor="ctr"/>
        <a:lstStyle/>
        <a:p>
          <a:pPr algn="l"/>
          <a:endParaRPr lang="en-IN" sz="1400" dirty="0">
            <a:solidFill>
              <a:schemeClr val="bg1">
                <a:lumMod val="50000"/>
              </a:schemeClr>
            </a:solidFill>
          </a:endParaRPr>
        </a:p>
      </dgm:t>
    </dgm:pt>
    <dgm:pt modelId="{5A1792C4-9FE4-429E-AEAA-A32718B14603}" type="parTrans" cxnId="{4271B99F-B76B-4873-AD30-E28278E896CC}">
      <dgm:prSet/>
      <dgm:spPr/>
      <dgm:t>
        <a:bodyPr/>
        <a:lstStyle/>
        <a:p>
          <a:endParaRPr lang="en-IN"/>
        </a:p>
      </dgm:t>
    </dgm:pt>
    <dgm:pt modelId="{900E522E-973E-4754-ACA5-4298D4236F0F}" type="sibTrans" cxnId="{4271B99F-B76B-4873-AD30-E28278E896CC}">
      <dgm:prSet/>
      <dgm:spPr/>
      <dgm:t>
        <a:bodyPr/>
        <a:lstStyle/>
        <a:p>
          <a:endParaRPr lang="en-IN"/>
        </a:p>
      </dgm:t>
    </dgm:pt>
    <dgm:pt modelId="{A2F736F5-FEED-4FFC-8622-08E03BE84010}">
      <dgm:prSet phldrT="[Text]" custT="1"/>
      <dgm:spPr>
        <a:ln w="25400">
          <a:solidFill>
            <a:schemeClr val="accent1">
              <a:lumMod val="75000"/>
            </a:schemeClr>
          </a:solidFill>
          <a:prstDash val="sysDash"/>
        </a:ln>
      </dgm:spPr>
      <dgm:t>
        <a:bodyPr/>
        <a:lstStyle/>
        <a:p>
          <a:endParaRPr lang="en-IN" sz="1400" dirty="0"/>
        </a:p>
      </dgm:t>
    </dgm:pt>
    <dgm:pt modelId="{5CE548D4-0A13-436A-983B-587ACB74F7E9}" type="parTrans" cxnId="{BD197145-A844-41B3-9E25-97FA82850A4B}">
      <dgm:prSet/>
      <dgm:spPr/>
      <dgm:t>
        <a:bodyPr/>
        <a:lstStyle/>
        <a:p>
          <a:endParaRPr lang="en-US"/>
        </a:p>
      </dgm:t>
    </dgm:pt>
    <dgm:pt modelId="{64797E80-74FE-4D5B-8536-B6BD481D4FA6}" type="sibTrans" cxnId="{BD197145-A844-41B3-9E25-97FA82850A4B}">
      <dgm:prSet/>
      <dgm:spPr/>
      <dgm:t>
        <a:bodyPr/>
        <a:lstStyle/>
        <a:p>
          <a:endParaRPr lang="en-US"/>
        </a:p>
      </dgm:t>
    </dgm:pt>
    <dgm:pt modelId="{B74B3AF5-8650-4AC1-9EC6-5718B9BBFFF7}">
      <dgm:prSet phldrT="[Text]" custT="1"/>
      <dgm:spPr>
        <a:ln w="25400">
          <a:solidFill>
            <a:srgbClr val="83A322"/>
          </a:solidFill>
          <a:prstDash val="sysDash"/>
        </a:ln>
      </dgm:spPr>
      <dgm:t>
        <a:bodyPr/>
        <a:lstStyle/>
        <a:p>
          <a:endParaRPr lang="en-IN" sz="1400" dirty="0">
            <a:solidFill>
              <a:schemeClr val="bg1">
                <a:lumMod val="50000"/>
              </a:schemeClr>
            </a:solidFill>
          </a:endParaRPr>
        </a:p>
      </dgm:t>
    </dgm:pt>
    <dgm:pt modelId="{9FA3809E-7E11-4362-A168-41BCE97784C0}" type="sibTrans" cxnId="{D2D018CC-B6E2-4897-92FD-CB5A9E82FE50}">
      <dgm:prSet/>
      <dgm:spPr/>
      <dgm:t>
        <a:bodyPr/>
        <a:lstStyle/>
        <a:p>
          <a:endParaRPr lang="en-US"/>
        </a:p>
      </dgm:t>
    </dgm:pt>
    <dgm:pt modelId="{72DB22C2-F6EE-46DD-AF1B-86865AD3BFC8}" type="parTrans" cxnId="{D2D018CC-B6E2-4897-92FD-CB5A9E82FE50}">
      <dgm:prSet/>
      <dgm:spPr/>
      <dgm:t>
        <a:bodyPr/>
        <a:lstStyle/>
        <a:p>
          <a:endParaRPr lang="en-US"/>
        </a:p>
      </dgm:t>
    </dgm:pt>
    <dgm:pt modelId="{0F68DA45-85A0-4AC4-A4DC-A4B0EF3D9718}">
      <dgm:prSet phldrT="[Text]" custT="1"/>
      <dgm:spPr>
        <a:solidFill>
          <a:schemeClr val="accent1">
            <a:lumMod val="50000"/>
          </a:schemeClr>
        </a:solidFill>
        <a:ln>
          <a:noFill/>
        </a:ln>
      </dgm:spPr>
      <dgm:t>
        <a:bodyPr anchor="ctr"/>
        <a:lstStyle/>
        <a:p>
          <a:r>
            <a:rPr lang="en-US" sz="1200" dirty="0" smtClean="0"/>
            <a:t>Channel, Sales &amp;  Distribution Management</a:t>
          </a:r>
          <a:endParaRPr lang="en-IN" sz="1200" dirty="0"/>
        </a:p>
      </dgm:t>
    </dgm:pt>
    <dgm:pt modelId="{F9E26085-7F61-40D2-A391-111CE89EF2D1}" type="sibTrans" cxnId="{09C97201-6C9D-40A0-861A-3560AD5DE2FF}">
      <dgm:prSet/>
      <dgm:spPr/>
      <dgm:t>
        <a:bodyPr/>
        <a:lstStyle/>
        <a:p>
          <a:endParaRPr lang="en-IN"/>
        </a:p>
      </dgm:t>
    </dgm:pt>
    <dgm:pt modelId="{1DB84AE4-12FB-4E8C-9CD0-1A59BD03AEE2}" type="parTrans" cxnId="{09C97201-6C9D-40A0-861A-3560AD5DE2FF}">
      <dgm:prSet/>
      <dgm:spPr/>
      <dgm:t>
        <a:bodyPr/>
        <a:lstStyle/>
        <a:p>
          <a:endParaRPr lang="en-IN"/>
        </a:p>
      </dgm:t>
    </dgm:pt>
    <dgm:pt modelId="{04D3DC2D-4657-4DE5-909E-598B08CFE9AB}" type="pres">
      <dgm:prSet presAssocID="{4F41977E-8B77-4E26-B9E4-872B9F5D811D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174E4B53-E53E-4723-8508-33A717CFB8D2}" type="pres">
      <dgm:prSet presAssocID="{4F41977E-8B77-4E26-B9E4-872B9F5D811D}" presName="children" presStyleCnt="0"/>
      <dgm:spPr/>
    </dgm:pt>
    <dgm:pt modelId="{90A07D5F-35AD-46A2-892C-E2F8D3075F67}" type="pres">
      <dgm:prSet presAssocID="{4F41977E-8B77-4E26-B9E4-872B9F5D811D}" presName="child1group" presStyleCnt="0"/>
      <dgm:spPr/>
    </dgm:pt>
    <dgm:pt modelId="{EA1CF468-DFD6-47EA-BA3B-D6596839DE24}" type="pres">
      <dgm:prSet presAssocID="{4F41977E-8B77-4E26-B9E4-872B9F5D811D}" presName="child1" presStyleLbl="bgAcc1" presStyleIdx="0" presStyleCnt="4" custScaleX="219130" custScaleY="145411" custLinFactNeighborX="-28202" custLinFactNeighborY="28702"/>
      <dgm:spPr/>
      <dgm:t>
        <a:bodyPr/>
        <a:lstStyle/>
        <a:p>
          <a:endParaRPr lang="en-IN"/>
        </a:p>
      </dgm:t>
    </dgm:pt>
    <dgm:pt modelId="{D44E9886-EE47-4AEC-B3A9-184FE1FD28BF}" type="pres">
      <dgm:prSet presAssocID="{4F41977E-8B77-4E26-B9E4-872B9F5D811D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C0CAA45-5DF8-452E-B442-5249A5501F83}" type="pres">
      <dgm:prSet presAssocID="{4F41977E-8B77-4E26-B9E4-872B9F5D811D}" presName="child2group" presStyleCnt="0"/>
      <dgm:spPr/>
    </dgm:pt>
    <dgm:pt modelId="{FF479E3D-9041-4422-850F-BDBE1E018A26}" type="pres">
      <dgm:prSet presAssocID="{4F41977E-8B77-4E26-B9E4-872B9F5D811D}" presName="child2" presStyleLbl="bgAcc1" presStyleIdx="1" presStyleCnt="4" custScaleX="224861" custScaleY="143846" custLinFactNeighborX="36316" custLinFactNeighborY="28597"/>
      <dgm:spPr/>
      <dgm:t>
        <a:bodyPr/>
        <a:lstStyle/>
        <a:p>
          <a:endParaRPr lang="en-IN"/>
        </a:p>
      </dgm:t>
    </dgm:pt>
    <dgm:pt modelId="{F687DB78-8653-41D8-B47A-D1349D3DE866}" type="pres">
      <dgm:prSet presAssocID="{4F41977E-8B77-4E26-B9E4-872B9F5D811D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E7BC13E-376C-4189-A069-E551B3461088}" type="pres">
      <dgm:prSet presAssocID="{4F41977E-8B77-4E26-B9E4-872B9F5D811D}" presName="child3group" presStyleCnt="0"/>
      <dgm:spPr/>
    </dgm:pt>
    <dgm:pt modelId="{9D4A2B47-CA3E-4D38-8FE4-821B105AC727}" type="pres">
      <dgm:prSet presAssocID="{4F41977E-8B77-4E26-B9E4-872B9F5D811D}" presName="child3" presStyleLbl="bgAcc1" presStyleIdx="2" presStyleCnt="4" custScaleX="225600" custScaleY="142172" custLinFactNeighborX="36316" custLinFactNeighborY="-31523"/>
      <dgm:spPr/>
      <dgm:t>
        <a:bodyPr/>
        <a:lstStyle/>
        <a:p>
          <a:endParaRPr lang="en-IN"/>
        </a:p>
      </dgm:t>
    </dgm:pt>
    <dgm:pt modelId="{5E27B9DA-4D8C-4B78-82F9-3051D6C393D1}" type="pres">
      <dgm:prSet presAssocID="{4F41977E-8B77-4E26-B9E4-872B9F5D811D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19694CE-DA13-4567-92C0-8146D849C541}" type="pres">
      <dgm:prSet presAssocID="{4F41977E-8B77-4E26-B9E4-872B9F5D811D}" presName="child4group" presStyleCnt="0"/>
      <dgm:spPr/>
    </dgm:pt>
    <dgm:pt modelId="{7B0C5E8F-FA50-4B7C-ACB1-CD02C01968C1}" type="pres">
      <dgm:prSet presAssocID="{4F41977E-8B77-4E26-B9E4-872B9F5D811D}" presName="child4" presStyleLbl="bgAcc1" presStyleIdx="3" presStyleCnt="4" custScaleX="216808" custScaleY="144112" custLinFactNeighborX="-29004" custLinFactNeighborY="-30562"/>
      <dgm:spPr/>
      <dgm:t>
        <a:bodyPr/>
        <a:lstStyle/>
        <a:p>
          <a:endParaRPr lang="en-IN"/>
        </a:p>
      </dgm:t>
    </dgm:pt>
    <dgm:pt modelId="{63B66627-9970-4C61-889A-FA882A541B4A}" type="pres">
      <dgm:prSet presAssocID="{4F41977E-8B77-4E26-B9E4-872B9F5D811D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864359C-7F85-488C-AF4D-EC05F8F37D1D}" type="pres">
      <dgm:prSet presAssocID="{4F41977E-8B77-4E26-B9E4-872B9F5D811D}" presName="childPlaceholder" presStyleCnt="0"/>
      <dgm:spPr/>
    </dgm:pt>
    <dgm:pt modelId="{E21232DA-D349-4C35-8182-B2ED9C9747B8}" type="pres">
      <dgm:prSet presAssocID="{4F41977E-8B77-4E26-B9E4-872B9F5D811D}" presName="circle" presStyleCnt="0"/>
      <dgm:spPr/>
    </dgm:pt>
    <dgm:pt modelId="{0F544FD3-0813-4A38-8462-F11F00483A7E}" type="pres">
      <dgm:prSet presAssocID="{4F41977E-8B77-4E26-B9E4-872B9F5D811D}" presName="quadrant1" presStyleLbl="node1" presStyleIdx="0" presStyleCnt="4" custScaleX="80862" custScaleY="73330" custLinFactNeighborX="9528" custLinFactNeighborY="12042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656CC54-3EA8-4711-9509-019C326ABD33}" type="pres">
      <dgm:prSet presAssocID="{4F41977E-8B77-4E26-B9E4-872B9F5D811D}" presName="quadrant2" presStyleLbl="node1" presStyleIdx="1" presStyleCnt="4" custScaleX="79279" custScaleY="73154" custLinFactNeighborX="-9152" custLinFactNeighborY="12532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8537255-4021-49E3-9EEB-BA556861C454}" type="pres">
      <dgm:prSet presAssocID="{4F41977E-8B77-4E26-B9E4-872B9F5D811D}" presName="quadrant3" presStyleLbl="node1" presStyleIdx="2" presStyleCnt="4" custScaleX="80203" custScaleY="70209" custLinFactNeighborX="-8153" custLinFactNeighborY="-15106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A15B5C4-B4FB-48DB-87A8-F15600CA87AD}" type="pres">
      <dgm:prSet presAssocID="{4F41977E-8B77-4E26-B9E4-872B9F5D811D}" presName="quadrant4" presStyleLbl="node1" presStyleIdx="3" presStyleCnt="4" custScaleX="77956" custScaleY="69298" custLinFactNeighborX="9384" custLinFactNeighborY="-15232">
        <dgm:presLayoutVars>
          <dgm:chMax val="1"/>
          <dgm:bulletEnabled val="1"/>
        </dgm:presLayoutVars>
      </dgm:prSet>
      <dgm:spPr>
        <a:ln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endParaRPr lang="en-IN"/>
        </a:p>
      </dgm:t>
    </dgm:pt>
    <dgm:pt modelId="{E9675016-B5AE-4EEC-A538-8959372B3625}" type="pres">
      <dgm:prSet presAssocID="{4F41977E-8B77-4E26-B9E4-872B9F5D811D}" presName="quadrantPlaceholder" presStyleCnt="0"/>
      <dgm:spPr/>
    </dgm:pt>
    <dgm:pt modelId="{5D5F69F0-B686-4866-8058-CC2086B95543}" type="pres">
      <dgm:prSet presAssocID="{4F41977E-8B77-4E26-B9E4-872B9F5D811D}" presName="center1" presStyleLbl="fgShp" presStyleIdx="0" presStyleCnt="2" custScaleX="73238" custScaleY="80991" custLinFactNeighborX="0"/>
      <dgm:spPr>
        <a:solidFill>
          <a:schemeClr val="bg1">
            <a:lumMod val="65000"/>
          </a:schemeClr>
        </a:solidFill>
        <a:ln>
          <a:solidFill>
            <a:schemeClr val="tx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EE41C78E-A51A-496A-824D-E3F90B6114ED}" type="pres">
      <dgm:prSet presAssocID="{4F41977E-8B77-4E26-B9E4-872B9F5D811D}" presName="center2" presStyleLbl="fgShp" presStyleIdx="1" presStyleCnt="2" custScaleX="74194" custScaleY="88698" custLinFactNeighborX="0"/>
      <dgm:spPr>
        <a:solidFill>
          <a:schemeClr val="bg1">
            <a:lumMod val="65000"/>
          </a:schemeClr>
        </a:solidFill>
        <a:ln>
          <a:solidFill>
            <a:schemeClr val="tx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</dgm:ptLst>
  <dgm:cxnLst>
    <dgm:cxn modelId="{3CD8EB26-B8B7-45C2-BEB7-7962F523E41A}" type="presOf" srcId="{4F41977E-8B77-4E26-B9E4-872B9F5D811D}" destId="{04D3DC2D-4657-4DE5-909E-598B08CFE9AB}" srcOrd="0" destOrd="0" presId="urn:microsoft.com/office/officeart/2005/8/layout/cycle4#1"/>
    <dgm:cxn modelId="{1AB012AE-C439-42C8-BEA0-DAB889C4B04A}" type="presOf" srcId="{84181489-6311-469A-B501-EED4940A67FB}" destId="{C8537255-4021-49E3-9EEB-BA556861C454}" srcOrd="0" destOrd="0" presId="urn:microsoft.com/office/officeart/2005/8/layout/cycle4#1"/>
    <dgm:cxn modelId="{2EEE508B-8751-4B30-A17C-6110AD85D856}" type="presOf" srcId="{C510DFE1-4E9D-4D43-AE86-5279A0B75B9A}" destId="{5E27B9DA-4D8C-4B78-82F9-3051D6C393D1}" srcOrd="1" destOrd="0" presId="urn:microsoft.com/office/officeart/2005/8/layout/cycle4#1"/>
    <dgm:cxn modelId="{EAE71259-70D6-4EEE-AEF5-399D95546041}" type="presOf" srcId="{4034ED69-AA85-49C0-9ED3-D4584C5D94CA}" destId="{5E27B9DA-4D8C-4B78-82F9-3051D6C393D1}" srcOrd="1" destOrd="1" presId="urn:microsoft.com/office/officeart/2005/8/layout/cycle4#1"/>
    <dgm:cxn modelId="{2FDF2E22-7E03-47B7-8DC1-62BF8B42B1F0}" srcId="{4F41977E-8B77-4E26-B9E4-872B9F5D811D}" destId="{ED518D5B-31C7-4E54-B9E2-C921DA14D2AC}" srcOrd="0" destOrd="0" parTransId="{D970F40A-4329-4C87-92CD-BDD6CC87E660}" sibTransId="{0C409065-AF8F-4D65-9342-BC593390CF5A}"/>
    <dgm:cxn modelId="{C161B60C-5DD1-4DB2-983A-ED58CA2440D0}" type="presOf" srcId="{2949A73D-619A-4AEF-AF5D-700909E51798}" destId="{5E27B9DA-4D8C-4B78-82F9-3051D6C393D1}" srcOrd="1" destOrd="2" presId="urn:microsoft.com/office/officeart/2005/8/layout/cycle4#1"/>
    <dgm:cxn modelId="{42111BE3-14C6-42AA-8438-7169C19D827E}" type="presOf" srcId="{A2F736F5-FEED-4FFC-8622-08E03BE84010}" destId="{EA1CF468-DFD6-47EA-BA3B-D6596839DE24}" srcOrd="0" destOrd="0" presId="urn:microsoft.com/office/officeart/2005/8/layout/cycle4#1"/>
    <dgm:cxn modelId="{590B863E-0CDE-4EBC-A053-67AB56CA18D0}" srcId="{84181489-6311-469A-B501-EED4940A67FB}" destId="{C510DFE1-4E9D-4D43-AE86-5279A0B75B9A}" srcOrd="0" destOrd="0" parTransId="{75AFE48C-5216-4CD3-A8C8-BBC59620A011}" sibTransId="{0AA1BA18-7CE6-4CFF-A193-63F97BF9CA8A}"/>
    <dgm:cxn modelId="{522B2F00-AE58-4B82-9167-54AB60C7044A}" type="presOf" srcId="{A2F736F5-FEED-4FFC-8622-08E03BE84010}" destId="{D44E9886-EE47-4AEC-B3A9-184FE1FD28BF}" srcOrd="1" destOrd="0" presId="urn:microsoft.com/office/officeart/2005/8/layout/cycle4#1"/>
    <dgm:cxn modelId="{903F4F52-722D-445D-A8DF-2B7BB40AE188}" type="presOf" srcId="{A3707838-35B5-44F2-80F9-2F85791609BC}" destId="{D44E9886-EE47-4AEC-B3A9-184FE1FD28BF}" srcOrd="1" destOrd="1" presId="urn:microsoft.com/office/officeart/2005/8/layout/cycle4#1"/>
    <dgm:cxn modelId="{97C73902-7493-4365-BD02-B21F5C6FF287}" type="presOf" srcId="{EDDEBDCA-9955-4077-9810-1ADC7869C5D0}" destId="{EA1CF468-DFD6-47EA-BA3B-D6596839DE24}" srcOrd="0" destOrd="2" presId="urn:microsoft.com/office/officeart/2005/8/layout/cycle4#1"/>
    <dgm:cxn modelId="{81588E5A-9948-4D0B-9A2A-E8B8DACB231A}" type="presOf" srcId="{EDDEBDCA-9955-4077-9810-1ADC7869C5D0}" destId="{D44E9886-EE47-4AEC-B3A9-184FE1FD28BF}" srcOrd="1" destOrd="2" presId="urn:microsoft.com/office/officeart/2005/8/layout/cycle4#1"/>
    <dgm:cxn modelId="{1D1169EF-ADC0-4A10-89CD-8792AA7FFF6B}" type="presOf" srcId="{F8737A6A-B643-4907-A80D-EA8CAB72AD01}" destId="{63B66627-9970-4C61-889A-FA882A541B4A}" srcOrd="1" destOrd="0" presId="urn:microsoft.com/office/officeart/2005/8/layout/cycle4#1"/>
    <dgm:cxn modelId="{78D95FBC-107F-4AC2-8874-B6A00A8AFF04}" type="presOf" srcId="{418A7EDD-2B1C-4BE0-8796-5ADC08641253}" destId="{3A15B5C4-B4FB-48DB-87A8-F15600CA87AD}" srcOrd="0" destOrd="0" presId="urn:microsoft.com/office/officeart/2005/8/layout/cycle4#1"/>
    <dgm:cxn modelId="{B265D4A8-716F-43C6-BE52-06A5F7FD496A}" type="presOf" srcId="{2949A73D-619A-4AEF-AF5D-700909E51798}" destId="{9D4A2B47-CA3E-4D38-8FE4-821B105AC727}" srcOrd="0" destOrd="2" presId="urn:microsoft.com/office/officeart/2005/8/layout/cycle4#1"/>
    <dgm:cxn modelId="{659F4B3D-2E9B-4D63-9B67-6012A0DF05CD}" type="presOf" srcId="{A3707838-35B5-44F2-80F9-2F85791609BC}" destId="{EA1CF468-DFD6-47EA-BA3B-D6596839DE24}" srcOrd="0" destOrd="1" presId="urn:microsoft.com/office/officeart/2005/8/layout/cycle4#1"/>
    <dgm:cxn modelId="{09379035-9E66-4A8A-813B-80AE8B6E917C}" type="presOf" srcId="{0F68DA45-85A0-4AC4-A4DC-A4B0EF3D9718}" destId="{9656CC54-3EA8-4711-9509-019C326ABD33}" srcOrd="0" destOrd="0" presId="urn:microsoft.com/office/officeart/2005/8/layout/cycle4#1"/>
    <dgm:cxn modelId="{9D86E122-2EF3-4E6E-BD22-A6444C782C6B}" srcId="{4F41977E-8B77-4E26-B9E4-872B9F5D811D}" destId="{84181489-6311-469A-B501-EED4940A67FB}" srcOrd="2" destOrd="0" parTransId="{381CB815-5FE2-485F-9531-1D1FF4281A33}" sibTransId="{3FA85DEF-66D5-46C1-8827-AC2AA40DFB12}"/>
    <dgm:cxn modelId="{21FC5691-F57A-4E4D-A373-A498EE099276}" srcId="{84181489-6311-469A-B501-EED4940A67FB}" destId="{2949A73D-619A-4AEF-AF5D-700909E51798}" srcOrd="2" destOrd="0" parTransId="{8F145A47-F13A-41DC-8312-1D3BE9DD1FA1}" sibTransId="{1BF2AA23-A209-449B-A869-D94010D36C79}"/>
    <dgm:cxn modelId="{905B1219-42A1-4811-8BAF-2A008C898074}" srcId="{ED518D5B-31C7-4E54-B9E2-C921DA14D2AC}" destId="{A3707838-35B5-44F2-80F9-2F85791609BC}" srcOrd="1" destOrd="0" parTransId="{BEC8214F-0655-4834-92B8-017B08479294}" sibTransId="{FBFEAB90-B781-4776-B4CD-CD1F8D45C189}"/>
    <dgm:cxn modelId="{D2D018CC-B6E2-4897-92FD-CB5A9E82FE50}" srcId="{0F68DA45-85A0-4AC4-A4DC-A4B0EF3D9718}" destId="{B74B3AF5-8650-4AC1-9EC6-5718B9BBFFF7}" srcOrd="0" destOrd="0" parTransId="{72DB22C2-F6EE-46DD-AF1B-86865AD3BFC8}" sibTransId="{9FA3809E-7E11-4362-A168-41BCE97784C0}"/>
    <dgm:cxn modelId="{1C964AC2-2A28-4484-825F-E0B06B14A238}" srcId="{ED518D5B-31C7-4E54-B9E2-C921DA14D2AC}" destId="{EDDEBDCA-9955-4077-9810-1ADC7869C5D0}" srcOrd="2" destOrd="0" parTransId="{4485C366-20D4-43EE-B3C1-DD07FF8D018A}" sibTransId="{032EA678-A96E-4D41-AFC0-26069924E8AB}"/>
    <dgm:cxn modelId="{F5C6DBBB-0D42-4002-9EFD-C5FDEC23E195}" type="presOf" srcId="{4034ED69-AA85-49C0-9ED3-D4584C5D94CA}" destId="{9D4A2B47-CA3E-4D38-8FE4-821B105AC727}" srcOrd="0" destOrd="1" presId="urn:microsoft.com/office/officeart/2005/8/layout/cycle4#1"/>
    <dgm:cxn modelId="{B4B456D9-A7E1-4167-BC06-BAE6E4BF5FAE}" srcId="{418A7EDD-2B1C-4BE0-8796-5ADC08641253}" destId="{F8737A6A-B643-4907-A80D-EA8CAB72AD01}" srcOrd="0" destOrd="0" parTransId="{4387723F-B807-4571-879F-F53FBDB626BE}" sibTransId="{F84467D5-A64A-4513-9F2B-945CFDD82601}"/>
    <dgm:cxn modelId="{75A4A7E0-3FD2-44B0-B179-607630C112AA}" type="presOf" srcId="{C510DFE1-4E9D-4D43-AE86-5279A0B75B9A}" destId="{9D4A2B47-CA3E-4D38-8FE4-821B105AC727}" srcOrd="0" destOrd="0" presId="urn:microsoft.com/office/officeart/2005/8/layout/cycle4#1"/>
    <dgm:cxn modelId="{BD197145-A844-41B3-9E25-97FA82850A4B}" srcId="{ED518D5B-31C7-4E54-B9E2-C921DA14D2AC}" destId="{A2F736F5-FEED-4FFC-8622-08E03BE84010}" srcOrd="0" destOrd="0" parTransId="{5CE548D4-0A13-436A-983B-587ACB74F7E9}" sibTransId="{64797E80-74FE-4D5B-8536-B6BD481D4FA6}"/>
    <dgm:cxn modelId="{444E346D-C77B-4363-8326-9C548D50BF87}" type="presOf" srcId="{ED518D5B-31C7-4E54-B9E2-C921DA14D2AC}" destId="{0F544FD3-0813-4A38-8462-F11F00483A7E}" srcOrd="0" destOrd="0" presId="urn:microsoft.com/office/officeart/2005/8/layout/cycle4#1"/>
    <dgm:cxn modelId="{C8DDFA7D-CFD2-4778-8417-332BDE467E8C}" type="presOf" srcId="{B74B3AF5-8650-4AC1-9EC6-5718B9BBFFF7}" destId="{FF479E3D-9041-4422-850F-BDBE1E018A26}" srcOrd="0" destOrd="0" presId="urn:microsoft.com/office/officeart/2005/8/layout/cycle4#1"/>
    <dgm:cxn modelId="{AD2CC32B-B4D8-441C-9653-BF181C9C2C60}" type="presOf" srcId="{F8737A6A-B643-4907-A80D-EA8CAB72AD01}" destId="{7B0C5E8F-FA50-4B7C-ACB1-CD02C01968C1}" srcOrd="0" destOrd="0" presId="urn:microsoft.com/office/officeart/2005/8/layout/cycle4#1"/>
    <dgm:cxn modelId="{09C97201-6C9D-40A0-861A-3560AD5DE2FF}" srcId="{4F41977E-8B77-4E26-B9E4-872B9F5D811D}" destId="{0F68DA45-85A0-4AC4-A4DC-A4B0EF3D9718}" srcOrd="1" destOrd="0" parTransId="{1DB84AE4-12FB-4E8C-9CD0-1A59BD03AEE2}" sibTransId="{F9E26085-7F61-40D2-A391-111CE89EF2D1}"/>
    <dgm:cxn modelId="{7D17805E-F42C-44B9-9E13-C224260EDDD8}" srcId="{4F41977E-8B77-4E26-B9E4-872B9F5D811D}" destId="{418A7EDD-2B1C-4BE0-8796-5ADC08641253}" srcOrd="3" destOrd="0" parTransId="{40FCDBD7-5404-4939-8B2D-35C5B197857C}" sibTransId="{12148E0C-625C-4A65-92EB-597196B46175}"/>
    <dgm:cxn modelId="{375EA16E-10E2-4392-8016-5D32FC3A36FA}" type="presOf" srcId="{B74B3AF5-8650-4AC1-9EC6-5718B9BBFFF7}" destId="{F687DB78-8653-41D8-B47A-D1349D3DE866}" srcOrd="1" destOrd="0" presId="urn:microsoft.com/office/officeart/2005/8/layout/cycle4#1"/>
    <dgm:cxn modelId="{4271B99F-B76B-4873-AD30-E28278E896CC}" srcId="{84181489-6311-469A-B501-EED4940A67FB}" destId="{4034ED69-AA85-49C0-9ED3-D4584C5D94CA}" srcOrd="1" destOrd="0" parTransId="{5A1792C4-9FE4-429E-AEAA-A32718B14603}" sibTransId="{900E522E-973E-4754-ACA5-4298D4236F0F}"/>
    <dgm:cxn modelId="{2159B5EF-A4DA-4004-A597-70EC2C9E2D2C}" type="presParOf" srcId="{04D3DC2D-4657-4DE5-909E-598B08CFE9AB}" destId="{174E4B53-E53E-4723-8508-33A717CFB8D2}" srcOrd="0" destOrd="0" presId="urn:microsoft.com/office/officeart/2005/8/layout/cycle4#1"/>
    <dgm:cxn modelId="{BDC4AE0F-8E55-46F0-9665-7FFE26E1DEFF}" type="presParOf" srcId="{174E4B53-E53E-4723-8508-33A717CFB8D2}" destId="{90A07D5F-35AD-46A2-892C-E2F8D3075F67}" srcOrd="0" destOrd="0" presId="urn:microsoft.com/office/officeart/2005/8/layout/cycle4#1"/>
    <dgm:cxn modelId="{7F310015-01B8-44ED-8A01-B7A4912F6529}" type="presParOf" srcId="{90A07D5F-35AD-46A2-892C-E2F8D3075F67}" destId="{EA1CF468-DFD6-47EA-BA3B-D6596839DE24}" srcOrd="0" destOrd="0" presId="urn:microsoft.com/office/officeart/2005/8/layout/cycle4#1"/>
    <dgm:cxn modelId="{8396EDCA-658A-474A-8164-E7333E206F2A}" type="presParOf" srcId="{90A07D5F-35AD-46A2-892C-E2F8D3075F67}" destId="{D44E9886-EE47-4AEC-B3A9-184FE1FD28BF}" srcOrd="1" destOrd="0" presId="urn:microsoft.com/office/officeart/2005/8/layout/cycle4#1"/>
    <dgm:cxn modelId="{9E10D76F-D55A-466D-B032-D749E027D98A}" type="presParOf" srcId="{174E4B53-E53E-4723-8508-33A717CFB8D2}" destId="{7C0CAA45-5DF8-452E-B442-5249A5501F83}" srcOrd="1" destOrd="0" presId="urn:microsoft.com/office/officeart/2005/8/layout/cycle4#1"/>
    <dgm:cxn modelId="{8ACFA5E9-92FE-4E18-9A57-742C872CF788}" type="presParOf" srcId="{7C0CAA45-5DF8-452E-B442-5249A5501F83}" destId="{FF479E3D-9041-4422-850F-BDBE1E018A26}" srcOrd="0" destOrd="0" presId="urn:microsoft.com/office/officeart/2005/8/layout/cycle4#1"/>
    <dgm:cxn modelId="{52C8ECCA-D758-4F44-9580-F0DB7DE892DC}" type="presParOf" srcId="{7C0CAA45-5DF8-452E-B442-5249A5501F83}" destId="{F687DB78-8653-41D8-B47A-D1349D3DE866}" srcOrd="1" destOrd="0" presId="urn:microsoft.com/office/officeart/2005/8/layout/cycle4#1"/>
    <dgm:cxn modelId="{C98C186A-1963-4D9D-9991-F0CEE388E07C}" type="presParOf" srcId="{174E4B53-E53E-4723-8508-33A717CFB8D2}" destId="{BE7BC13E-376C-4189-A069-E551B3461088}" srcOrd="2" destOrd="0" presId="urn:microsoft.com/office/officeart/2005/8/layout/cycle4#1"/>
    <dgm:cxn modelId="{C0B3F759-9740-4F91-96CD-F19764811292}" type="presParOf" srcId="{BE7BC13E-376C-4189-A069-E551B3461088}" destId="{9D4A2B47-CA3E-4D38-8FE4-821B105AC727}" srcOrd="0" destOrd="0" presId="urn:microsoft.com/office/officeart/2005/8/layout/cycle4#1"/>
    <dgm:cxn modelId="{347979F0-A826-4BB9-87F6-C82CF4F74423}" type="presParOf" srcId="{BE7BC13E-376C-4189-A069-E551B3461088}" destId="{5E27B9DA-4D8C-4B78-82F9-3051D6C393D1}" srcOrd="1" destOrd="0" presId="urn:microsoft.com/office/officeart/2005/8/layout/cycle4#1"/>
    <dgm:cxn modelId="{1D115F91-C8A1-4AC7-989D-524BA2C0A2A1}" type="presParOf" srcId="{174E4B53-E53E-4723-8508-33A717CFB8D2}" destId="{E19694CE-DA13-4567-92C0-8146D849C541}" srcOrd="3" destOrd="0" presId="urn:microsoft.com/office/officeart/2005/8/layout/cycle4#1"/>
    <dgm:cxn modelId="{F32C0909-D6FE-47C9-A5DC-D6380EC2A3E8}" type="presParOf" srcId="{E19694CE-DA13-4567-92C0-8146D849C541}" destId="{7B0C5E8F-FA50-4B7C-ACB1-CD02C01968C1}" srcOrd="0" destOrd="0" presId="urn:microsoft.com/office/officeart/2005/8/layout/cycle4#1"/>
    <dgm:cxn modelId="{02AC6CD2-6441-4E4E-869D-3A8CA3369663}" type="presParOf" srcId="{E19694CE-DA13-4567-92C0-8146D849C541}" destId="{63B66627-9970-4C61-889A-FA882A541B4A}" srcOrd="1" destOrd="0" presId="urn:microsoft.com/office/officeart/2005/8/layout/cycle4#1"/>
    <dgm:cxn modelId="{B7004901-C589-467A-8B8B-65F0B62C8CEC}" type="presParOf" srcId="{174E4B53-E53E-4723-8508-33A717CFB8D2}" destId="{D864359C-7F85-488C-AF4D-EC05F8F37D1D}" srcOrd="4" destOrd="0" presId="urn:microsoft.com/office/officeart/2005/8/layout/cycle4#1"/>
    <dgm:cxn modelId="{559F6BFC-C7AD-40EE-BF67-55068DC0A12D}" type="presParOf" srcId="{04D3DC2D-4657-4DE5-909E-598B08CFE9AB}" destId="{E21232DA-D349-4C35-8182-B2ED9C9747B8}" srcOrd="1" destOrd="0" presId="urn:microsoft.com/office/officeart/2005/8/layout/cycle4#1"/>
    <dgm:cxn modelId="{9F3461F8-26C7-4E80-AC9B-C73DA19DC36B}" type="presParOf" srcId="{E21232DA-D349-4C35-8182-B2ED9C9747B8}" destId="{0F544FD3-0813-4A38-8462-F11F00483A7E}" srcOrd="0" destOrd="0" presId="urn:microsoft.com/office/officeart/2005/8/layout/cycle4#1"/>
    <dgm:cxn modelId="{B6B5D394-BCF6-4FC7-9AB4-475583A8E500}" type="presParOf" srcId="{E21232DA-D349-4C35-8182-B2ED9C9747B8}" destId="{9656CC54-3EA8-4711-9509-019C326ABD33}" srcOrd="1" destOrd="0" presId="urn:microsoft.com/office/officeart/2005/8/layout/cycle4#1"/>
    <dgm:cxn modelId="{DD360171-BC55-47CF-9DD9-FA8D64FB4C28}" type="presParOf" srcId="{E21232DA-D349-4C35-8182-B2ED9C9747B8}" destId="{C8537255-4021-49E3-9EEB-BA556861C454}" srcOrd="2" destOrd="0" presId="urn:microsoft.com/office/officeart/2005/8/layout/cycle4#1"/>
    <dgm:cxn modelId="{027E944D-1C3F-46DE-A35C-868A09175646}" type="presParOf" srcId="{E21232DA-D349-4C35-8182-B2ED9C9747B8}" destId="{3A15B5C4-B4FB-48DB-87A8-F15600CA87AD}" srcOrd="3" destOrd="0" presId="urn:microsoft.com/office/officeart/2005/8/layout/cycle4#1"/>
    <dgm:cxn modelId="{B1DADC73-D8AA-49A0-94AF-F739277A936B}" type="presParOf" srcId="{E21232DA-D349-4C35-8182-B2ED9C9747B8}" destId="{E9675016-B5AE-4EEC-A538-8959372B3625}" srcOrd="4" destOrd="0" presId="urn:microsoft.com/office/officeart/2005/8/layout/cycle4#1"/>
    <dgm:cxn modelId="{1519E795-1BA5-4A8B-971F-A68D86733DDE}" type="presParOf" srcId="{04D3DC2D-4657-4DE5-909E-598B08CFE9AB}" destId="{5D5F69F0-B686-4866-8058-CC2086B95543}" srcOrd="2" destOrd="0" presId="urn:microsoft.com/office/officeart/2005/8/layout/cycle4#1"/>
    <dgm:cxn modelId="{97BC1F47-0390-463E-97DB-A312680259FF}" type="presParOf" srcId="{04D3DC2D-4657-4DE5-909E-598B08CFE9AB}" destId="{EE41C78E-A51A-496A-824D-E3F90B6114ED}" srcOrd="3" destOrd="0" presId="urn:microsoft.com/office/officeart/2005/8/layout/cycle4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60A3EE3-F39A-4458-BC72-D3A3F8099A83}" type="doc">
      <dgm:prSet loTypeId="urn:microsoft.com/office/officeart/2009/3/layout/StepUpProcess" loCatId="process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IN"/>
        </a:p>
      </dgm:t>
    </dgm:pt>
    <dgm:pt modelId="{75CFA78F-F5C6-42D9-B20F-C4A61691064F}">
      <dgm:prSet phldrT="[Text]" custT="1"/>
      <dgm:spPr/>
      <dgm:t>
        <a:bodyPr/>
        <a:lstStyle/>
        <a:p>
          <a:r>
            <a:rPr lang="en-US" sz="1200" b="1" dirty="0" smtClean="0"/>
            <a:t>- Cross-sell Propensity models</a:t>
          </a:r>
        </a:p>
        <a:p>
          <a:r>
            <a:rPr lang="en-US" sz="1200" dirty="0" smtClean="0"/>
            <a:t> - Effective contact strategy</a:t>
          </a:r>
        </a:p>
        <a:p>
          <a:r>
            <a:rPr lang="en-US" sz="1200" dirty="0" smtClean="0"/>
            <a:t>- Customer channel preference</a:t>
          </a:r>
        </a:p>
        <a:p>
          <a:r>
            <a:rPr lang="en-US" sz="1200" dirty="0" smtClean="0"/>
            <a:t>- Personalized offers/promotions</a:t>
          </a:r>
        </a:p>
        <a:p>
          <a:r>
            <a:rPr lang="en-US" sz="1200" dirty="0" smtClean="0"/>
            <a:t>- Effective product bundling</a:t>
          </a:r>
        </a:p>
        <a:p>
          <a:r>
            <a:rPr lang="en-US" sz="1200" dirty="0" smtClean="0"/>
            <a:t>- </a:t>
          </a:r>
          <a:r>
            <a:rPr lang="en-US" sz="1200" b="1" dirty="0" smtClean="0"/>
            <a:t>Customer Profiling &amp;   </a:t>
          </a:r>
        </a:p>
        <a:p>
          <a:r>
            <a:rPr lang="en-US" sz="1200" b="1" dirty="0" smtClean="0"/>
            <a:t>   segmentation</a:t>
          </a:r>
        </a:p>
        <a:p>
          <a:r>
            <a:rPr lang="en-US" sz="1200" b="0" dirty="0" smtClean="0"/>
            <a:t>-  Customer risk assessment</a:t>
          </a:r>
        </a:p>
        <a:p>
          <a:r>
            <a:rPr lang="en-US" sz="1200" b="0" dirty="0" smtClean="0"/>
            <a:t>-  </a:t>
          </a:r>
          <a:r>
            <a:rPr lang="en-US" sz="1200" b="1" dirty="0" smtClean="0"/>
            <a:t>Life-stage based promotions</a:t>
          </a:r>
        </a:p>
        <a:p>
          <a:r>
            <a:rPr lang="en-US" sz="1200" b="1" dirty="0" smtClean="0"/>
            <a:t> - Upsell propensity models</a:t>
          </a:r>
          <a:endParaRPr lang="en-IN" sz="1200" b="1" dirty="0"/>
        </a:p>
      </dgm:t>
    </dgm:pt>
    <dgm:pt modelId="{423C3823-E017-4EFF-B9FB-158B522A346D}" type="parTrans" cxnId="{077F0FBF-6A50-497E-9338-0F4EA4291484}">
      <dgm:prSet/>
      <dgm:spPr/>
      <dgm:t>
        <a:bodyPr/>
        <a:lstStyle/>
        <a:p>
          <a:endParaRPr lang="en-IN"/>
        </a:p>
      </dgm:t>
    </dgm:pt>
    <dgm:pt modelId="{D698C528-4FEB-42FB-9AC0-BFB8E1B74810}" type="sibTrans" cxnId="{077F0FBF-6A50-497E-9338-0F4EA4291484}">
      <dgm:prSet/>
      <dgm:spPr/>
      <dgm:t>
        <a:bodyPr/>
        <a:lstStyle/>
        <a:p>
          <a:endParaRPr lang="en-IN"/>
        </a:p>
      </dgm:t>
    </dgm:pt>
    <dgm:pt modelId="{F903D5EE-A4D6-4D92-BE7F-EA7CD86F8036}">
      <dgm:prSet phldrT="[Text]" custT="1"/>
      <dgm:spPr/>
      <dgm:t>
        <a:bodyPr/>
        <a:lstStyle/>
        <a:p>
          <a:endParaRPr lang="en-US" sz="1200" dirty="0" smtClean="0"/>
        </a:p>
        <a:p>
          <a:r>
            <a:rPr lang="en-US" sz="1200" b="1" dirty="0" smtClean="0"/>
            <a:t>-</a:t>
          </a:r>
          <a:r>
            <a:rPr lang="en-US" sz="1200" dirty="0" smtClean="0"/>
            <a:t>  Risk profiling for Fraud</a:t>
          </a:r>
        </a:p>
        <a:p>
          <a:r>
            <a:rPr lang="en-US" sz="1200" b="1" dirty="0" smtClean="0"/>
            <a:t>-  Exhaustive customer </a:t>
          </a:r>
        </a:p>
        <a:p>
          <a:r>
            <a:rPr lang="en-US" sz="1200" b="1" dirty="0" smtClean="0"/>
            <a:t>   experience and sentiment </a:t>
          </a:r>
        </a:p>
        <a:p>
          <a:r>
            <a:rPr lang="en-US" sz="1200" b="1" dirty="0" smtClean="0"/>
            <a:t>   analysis</a:t>
          </a:r>
        </a:p>
        <a:p>
          <a:r>
            <a:rPr lang="en-US" sz="1200" dirty="0" smtClean="0"/>
            <a:t>-  Share of wallet estimation</a:t>
          </a:r>
        </a:p>
        <a:p>
          <a:r>
            <a:rPr lang="en-US" sz="1200" dirty="0" smtClean="0"/>
            <a:t> - Customer Life-time value</a:t>
          </a:r>
        </a:p>
        <a:p>
          <a:r>
            <a:rPr lang="en-US" sz="1200" dirty="0" smtClean="0"/>
            <a:t> - </a:t>
          </a:r>
          <a:r>
            <a:rPr lang="en-US" sz="1200" b="1" dirty="0" smtClean="0"/>
            <a:t>Customer profitability </a:t>
          </a:r>
        </a:p>
        <a:p>
          <a:r>
            <a:rPr lang="en-US" sz="1200" b="1" dirty="0" smtClean="0"/>
            <a:t>    analysis</a:t>
          </a:r>
          <a:endParaRPr lang="en-IN" sz="1200" b="1" dirty="0"/>
        </a:p>
      </dgm:t>
    </dgm:pt>
    <dgm:pt modelId="{D1EE8C39-DA70-4668-B572-724851583040}" type="parTrans" cxnId="{37276BBD-CA08-49D2-A7BD-9A7063EC1E32}">
      <dgm:prSet/>
      <dgm:spPr/>
      <dgm:t>
        <a:bodyPr/>
        <a:lstStyle/>
        <a:p>
          <a:endParaRPr lang="en-IN"/>
        </a:p>
      </dgm:t>
    </dgm:pt>
    <dgm:pt modelId="{20F1D033-4897-446E-B878-F0B75E7293B5}" type="sibTrans" cxnId="{37276BBD-CA08-49D2-A7BD-9A7063EC1E32}">
      <dgm:prSet/>
      <dgm:spPr/>
      <dgm:t>
        <a:bodyPr/>
        <a:lstStyle/>
        <a:p>
          <a:endParaRPr lang="en-IN"/>
        </a:p>
      </dgm:t>
    </dgm:pt>
    <dgm:pt modelId="{C297BC53-53BC-4387-8ABE-5C9DFF65925F}">
      <dgm:prSet custT="1"/>
      <dgm:spPr/>
      <dgm:t>
        <a:bodyPr/>
        <a:lstStyle/>
        <a:p>
          <a:r>
            <a:rPr lang="en-US" sz="1200" b="1" dirty="0" smtClean="0"/>
            <a:t>- Proactive/Reactive </a:t>
          </a:r>
        </a:p>
        <a:p>
          <a:r>
            <a:rPr lang="en-US" sz="1200" b="1" dirty="0" smtClean="0"/>
            <a:t>   retention strategy</a:t>
          </a:r>
        </a:p>
        <a:p>
          <a:r>
            <a:rPr lang="en-US" sz="1200" b="1" dirty="0" smtClean="0"/>
            <a:t>- </a:t>
          </a:r>
          <a:r>
            <a:rPr lang="en-US" sz="1200" b="0" dirty="0" smtClean="0"/>
            <a:t>Attrition/Renewal </a:t>
          </a:r>
        </a:p>
        <a:p>
          <a:r>
            <a:rPr lang="en-US" sz="1200" b="0" dirty="0" smtClean="0"/>
            <a:t>   analysis and churn </a:t>
          </a:r>
        </a:p>
        <a:p>
          <a:r>
            <a:rPr lang="en-US" sz="1200" b="0" dirty="0" smtClean="0"/>
            <a:t>    model</a:t>
          </a:r>
        </a:p>
        <a:p>
          <a:r>
            <a:rPr lang="en-US" sz="1200" dirty="0" smtClean="0"/>
            <a:t>-  </a:t>
          </a:r>
          <a:r>
            <a:rPr lang="en-US" sz="1200" b="0" dirty="0" smtClean="0"/>
            <a:t>Preferential pricing for </a:t>
          </a:r>
        </a:p>
        <a:p>
          <a:r>
            <a:rPr lang="en-US" sz="1200" b="0" dirty="0" smtClean="0"/>
            <a:t>    top up policies</a:t>
          </a:r>
        </a:p>
        <a:p>
          <a:r>
            <a:rPr lang="en-US" sz="1200" dirty="0" smtClean="0"/>
            <a:t> </a:t>
          </a:r>
          <a:endParaRPr lang="en-IN" sz="1200" dirty="0"/>
        </a:p>
      </dgm:t>
    </dgm:pt>
    <dgm:pt modelId="{705AA61C-5F14-4BB9-954C-BBE946F568A1}" type="parTrans" cxnId="{18E2380C-8A57-4BF5-8617-3187E32A69C4}">
      <dgm:prSet/>
      <dgm:spPr/>
      <dgm:t>
        <a:bodyPr/>
        <a:lstStyle/>
        <a:p>
          <a:endParaRPr lang="en-IN"/>
        </a:p>
      </dgm:t>
    </dgm:pt>
    <dgm:pt modelId="{A5485F4F-0DB6-4D50-B6C8-B123C5CFB520}" type="sibTrans" cxnId="{18E2380C-8A57-4BF5-8617-3187E32A69C4}">
      <dgm:prSet/>
      <dgm:spPr/>
      <dgm:t>
        <a:bodyPr/>
        <a:lstStyle/>
        <a:p>
          <a:endParaRPr lang="en-IN"/>
        </a:p>
      </dgm:t>
    </dgm:pt>
    <dgm:pt modelId="{19A25DDF-86A1-48F1-9EFE-4FFCC83B74F2}">
      <dgm:prSet phldrT="[Text]" custT="1"/>
      <dgm:spPr/>
      <dgm:t>
        <a:bodyPr/>
        <a:lstStyle/>
        <a:p>
          <a:r>
            <a:rPr lang="en-US" sz="1200" b="0" dirty="0" smtClean="0"/>
            <a:t>-  Quality of acquired  </a:t>
          </a:r>
        </a:p>
        <a:p>
          <a:r>
            <a:rPr lang="en-US" sz="1200" b="0" dirty="0" smtClean="0"/>
            <a:t>   customer </a:t>
          </a:r>
        </a:p>
        <a:p>
          <a:r>
            <a:rPr lang="en-US" sz="1200" b="0" dirty="0" smtClean="0"/>
            <a:t>-  Prospect Database</a:t>
          </a:r>
        </a:p>
        <a:p>
          <a:r>
            <a:rPr lang="en-US" sz="1200" b="0" dirty="0" smtClean="0"/>
            <a:t>-  Acquisition channel </a:t>
          </a:r>
        </a:p>
        <a:p>
          <a:r>
            <a:rPr lang="en-US" sz="1200" b="0" dirty="0" smtClean="0"/>
            <a:t>-  Promotional Offers</a:t>
          </a:r>
        </a:p>
        <a:p>
          <a:r>
            <a:rPr lang="en-US" sz="1200" b="0" dirty="0" smtClean="0"/>
            <a:t>-  Dynamic Pricing for </a:t>
          </a:r>
        </a:p>
        <a:p>
          <a:r>
            <a:rPr lang="en-US" sz="1200" b="0" dirty="0" smtClean="0"/>
            <a:t>   competitive advantage</a:t>
          </a:r>
        </a:p>
        <a:p>
          <a:endParaRPr lang="en-IN" sz="1200" b="0" dirty="0" smtClean="0"/>
        </a:p>
      </dgm:t>
    </dgm:pt>
    <dgm:pt modelId="{95043503-A5E5-4263-A85D-1EE0D3E53B11}" type="parTrans" cxnId="{3B5C6024-BA0E-436F-9E7D-E54187419AFA}">
      <dgm:prSet/>
      <dgm:spPr/>
      <dgm:t>
        <a:bodyPr/>
        <a:lstStyle/>
        <a:p>
          <a:endParaRPr lang="en-IN"/>
        </a:p>
      </dgm:t>
    </dgm:pt>
    <dgm:pt modelId="{1853E243-84DB-45C9-877A-989AA1A6AEB3}" type="sibTrans" cxnId="{3B5C6024-BA0E-436F-9E7D-E54187419AFA}">
      <dgm:prSet/>
      <dgm:spPr/>
      <dgm:t>
        <a:bodyPr/>
        <a:lstStyle/>
        <a:p>
          <a:endParaRPr lang="en-IN"/>
        </a:p>
      </dgm:t>
    </dgm:pt>
    <dgm:pt modelId="{4A677A8B-1B3A-4D46-8251-BE238AB3111E}" type="pres">
      <dgm:prSet presAssocID="{160A3EE3-F39A-4458-BC72-D3A3F8099A83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A4611A64-E54B-4755-B474-F42CE34F8E2A}" type="pres">
      <dgm:prSet presAssocID="{19A25DDF-86A1-48F1-9EFE-4FFCC83B74F2}" presName="composite" presStyleCnt="0"/>
      <dgm:spPr/>
    </dgm:pt>
    <dgm:pt modelId="{2E7F8BDF-DCAE-46C0-A220-CC3312BC9CB1}" type="pres">
      <dgm:prSet presAssocID="{19A25DDF-86A1-48F1-9EFE-4FFCC83B74F2}" presName="LShape" presStyleLbl="alignNode1" presStyleIdx="0" presStyleCnt="7"/>
      <dgm:spPr/>
    </dgm:pt>
    <dgm:pt modelId="{E83A76B2-367D-40BB-B7E3-F8D6A0FB93D7}" type="pres">
      <dgm:prSet presAssocID="{19A25DDF-86A1-48F1-9EFE-4FFCC83B74F2}" presName="ParentText" presStyleLbl="revTx" presStyleIdx="0" presStyleCnt="4" custScaleX="120891" custLinFactNeighborX="9490" custLinFactNeighborY="333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1A51D6A-C1D8-4FBB-96F9-B8ECF131FD69}" type="pres">
      <dgm:prSet presAssocID="{19A25DDF-86A1-48F1-9EFE-4FFCC83B74F2}" presName="Triangle" presStyleLbl="alignNode1" presStyleIdx="1" presStyleCnt="7" custAng="16200000" custLinFactNeighborX="-3642"/>
      <dgm:spPr/>
    </dgm:pt>
    <dgm:pt modelId="{EDFF3E93-18B9-4F3A-80C6-E6DB90101322}" type="pres">
      <dgm:prSet presAssocID="{1853E243-84DB-45C9-877A-989AA1A6AEB3}" presName="sibTrans" presStyleCnt="0"/>
      <dgm:spPr/>
    </dgm:pt>
    <dgm:pt modelId="{BF753280-5A89-453D-A8FC-CFD4C4ACA040}" type="pres">
      <dgm:prSet presAssocID="{1853E243-84DB-45C9-877A-989AA1A6AEB3}" presName="space" presStyleCnt="0"/>
      <dgm:spPr/>
    </dgm:pt>
    <dgm:pt modelId="{486C9F3D-48CA-48A9-BBA0-DDEDA0560FD2}" type="pres">
      <dgm:prSet presAssocID="{75CFA78F-F5C6-42D9-B20F-C4A61691064F}" presName="composite" presStyleCnt="0"/>
      <dgm:spPr/>
    </dgm:pt>
    <dgm:pt modelId="{FBF9C9DC-EA28-49F0-A0E3-3104F2DC3C6C}" type="pres">
      <dgm:prSet presAssocID="{75CFA78F-F5C6-42D9-B20F-C4A61691064F}" presName="LShape" presStyleLbl="alignNode1" presStyleIdx="2" presStyleCnt="7"/>
      <dgm:spPr/>
    </dgm:pt>
    <dgm:pt modelId="{A880D3DB-FB62-4F25-8CF0-FED1844679B9}" type="pres">
      <dgm:prSet presAssocID="{75CFA78F-F5C6-42D9-B20F-C4A61691064F}" presName="ParentText" presStyleLbl="revTx" presStyleIdx="1" presStyleCnt="4" custScaleX="128720" custLinFactNeighborX="12302" custLinFactNeighborY="656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E0E4177-3DAB-4E7C-9B45-80DDE7A0ACE9}" type="pres">
      <dgm:prSet presAssocID="{75CFA78F-F5C6-42D9-B20F-C4A61691064F}" presName="Triangle" presStyleLbl="alignNode1" presStyleIdx="3" presStyleCnt="7" custAng="16200000" custLinFactNeighborX="-9297" custLinFactNeighborY="7080"/>
      <dgm:spPr/>
    </dgm:pt>
    <dgm:pt modelId="{FBDE90E9-9C9D-4D78-8D43-61D5541639E0}" type="pres">
      <dgm:prSet presAssocID="{D698C528-4FEB-42FB-9AC0-BFB8E1B74810}" presName="sibTrans" presStyleCnt="0"/>
      <dgm:spPr/>
    </dgm:pt>
    <dgm:pt modelId="{91F33B27-C70E-4E68-8503-8786BD2D3E08}" type="pres">
      <dgm:prSet presAssocID="{D698C528-4FEB-42FB-9AC0-BFB8E1B74810}" presName="space" presStyleCnt="0"/>
      <dgm:spPr/>
    </dgm:pt>
    <dgm:pt modelId="{A946D850-610C-4B3B-927B-C02D72E5B6C3}" type="pres">
      <dgm:prSet presAssocID="{F903D5EE-A4D6-4D92-BE7F-EA7CD86F8036}" presName="composite" presStyleCnt="0"/>
      <dgm:spPr/>
    </dgm:pt>
    <dgm:pt modelId="{C090B849-6FF3-48E5-9DED-42FB7FD11B7C}" type="pres">
      <dgm:prSet presAssocID="{F903D5EE-A4D6-4D92-BE7F-EA7CD86F8036}" presName="LShape" presStyleLbl="alignNode1" presStyleIdx="4" presStyleCnt="7"/>
      <dgm:spPr/>
    </dgm:pt>
    <dgm:pt modelId="{96FBE23C-B23D-478E-8FCC-4090A187C2B7}" type="pres">
      <dgm:prSet presAssocID="{F903D5EE-A4D6-4D92-BE7F-EA7CD86F8036}" presName="ParentText" presStyleLbl="revTx" presStyleIdx="2" presStyleCnt="4" custScaleX="123937" custLinFactNeighborX="12001" custLinFactNeighborY="-83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4D89564-9176-44EF-B405-B1785606A48A}" type="pres">
      <dgm:prSet presAssocID="{F903D5EE-A4D6-4D92-BE7F-EA7CD86F8036}" presName="Triangle" presStyleLbl="alignNode1" presStyleIdx="5" presStyleCnt="7" custAng="16200000" custLinFactNeighborX="-8764" custLinFactNeighborY="10469"/>
      <dgm:spPr/>
      <dgm:t>
        <a:bodyPr/>
        <a:lstStyle/>
        <a:p>
          <a:endParaRPr lang="en-IN"/>
        </a:p>
      </dgm:t>
    </dgm:pt>
    <dgm:pt modelId="{4D96D9C9-4923-4C01-A8D8-FBC052ED3B72}" type="pres">
      <dgm:prSet presAssocID="{20F1D033-4897-446E-B878-F0B75E7293B5}" presName="sibTrans" presStyleCnt="0"/>
      <dgm:spPr/>
    </dgm:pt>
    <dgm:pt modelId="{E6A2A5C6-FCD3-44F3-9A7A-2A0B5AFEB799}" type="pres">
      <dgm:prSet presAssocID="{20F1D033-4897-446E-B878-F0B75E7293B5}" presName="space" presStyleCnt="0"/>
      <dgm:spPr/>
    </dgm:pt>
    <dgm:pt modelId="{5F2B2AF1-E424-45CE-8E51-FD83023E2F2B}" type="pres">
      <dgm:prSet presAssocID="{C297BC53-53BC-4387-8ABE-5C9DFF65925F}" presName="composite" presStyleCnt="0"/>
      <dgm:spPr/>
    </dgm:pt>
    <dgm:pt modelId="{17C62C0E-6D3A-4BDE-99D5-7F25C50975D0}" type="pres">
      <dgm:prSet presAssocID="{C297BC53-53BC-4387-8ABE-5C9DFF65925F}" presName="LShape" presStyleLbl="alignNode1" presStyleIdx="6" presStyleCnt="7"/>
      <dgm:spPr/>
    </dgm:pt>
    <dgm:pt modelId="{C35E4CA3-EA84-48EE-9908-8F7D40297B3F}" type="pres">
      <dgm:prSet presAssocID="{C297BC53-53BC-4387-8ABE-5C9DFF65925F}" presName="ParentText" presStyleLbl="revTx" presStyleIdx="3" presStyleCnt="4" custLinFactNeighborX="1096" custLinFactNeighborY="332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777D0E0F-B341-43CE-BCE6-F3CE554D650D}" type="presOf" srcId="{160A3EE3-F39A-4458-BC72-D3A3F8099A83}" destId="{4A677A8B-1B3A-4D46-8251-BE238AB3111E}" srcOrd="0" destOrd="0" presId="urn:microsoft.com/office/officeart/2009/3/layout/StepUpProcess"/>
    <dgm:cxn modelId="{18E2380C-8A57-4BF5-8617-3187E32A69C4}" srcId="{160A3EE3-F39A-4458-BC72-D3A3F8099A83}" destId="{C297BC53-53BC-4387-8ABE-5C9DFF65925F}" srcOrd="3" destOrd="0" parTransId="{705AA61C-5F14-4BB9-954C-BBE946F568A1}" sibTransId="{A5485F4F-0DB6-4D50-B6C8-B123C5CFB520}"/>
    <dgm:cxn modelId="{12E8DB08-080F-4EC1-B81C-2439379F1258}" type="presOf" srcId="{75CFA78F-F5C6-42D9-B20F-C4A61691064F}" destId="{A880D3DB-FB62-4F25-8CF0-FED1844679B9}" srcOrd="0" destOrd="0" presId="urn:microsoft.com/office/officeart/2009/3/layout/StepUpProcess"/>
    <dgm:cxn modelId="{077F0FBF-6A50-497E-9338-0F4EA4291484}" srcId="{160A3EE3-F39A-4458-BC72-D3A3F8099A83}" destId="{75CFA78F-F5C6-42D9-B20F-C4A61691064F}" srcOrd="1" destOrd="0" parTransId="{423C3823-E017-4EFF-B9FB-158B522A346D}" sibTransId="{D698C528-4FEB-42FB-9AC0-BFB8E1B74810}"/>
    <dgm:cxn modelId="{55AC3672-57F8-4B6C-B3B9-9756E0F51492}" type="presOf" srcId="{C297BC53-53BC-4387-8ABE-5C9DFF65925F}" destId="{C35E4CA3-EA84-48EE-9908-8F7D40297B3F}" srcOrd="0" destOrd="0" presId="urn:microsoft.com/office/officeart/2009/3/layout/StepUpProcess"/>
    <dgm:cxn modelId="{E87F8179-BA1C-4197-8890-96D109DE155F}" type="presOf" srcId="{F903D5EE-A4D6-4D92-BE7F-EA7CD86F8036}" destId="{96FBE23C-B23D-478E-8FCC-4090A187C2B7}" srcOrd="0" destOrd="0" presId="urn:microsoft.com/office/officeart/2009/3/layout/StepUpProcess"/>
    <dgm:cxn modelId="{51C6099D-8E68-4A7C-9F9C-7ACF6A482B80}" type="presOf" srcId="{19A25DDF-86A1-48F1-9EFE-4FFCC83B74F2}" destId="{E83A76B2-367D-40BB-B7E3-F8D6A0FB93D7}" srcOrd="0" destOrd="0" presId="urn:microsoft.com/office/officeart/2009/3/layout/StepUpProcess"/>
    <dgm:cxn modelId="{37276BBD-CA08-49D2-A7BD-9A7063EC1E32}" srcId="{160A3EE3-F39A-4458-BC72-D3A3F8099A83}" destId="{F903D5EE-A4D6-4D92-BE7F-EA7CD86F8036}" srcOrd="2" destOrd="0" parTransId="{D1EE8C39-DA70-4668-B572-724851583040}" sibTransId="{20F1D033-4897-446E-B878-F0B75E7293B5}"/>
    <dgm:cxn modelId="{3B5C6024-BA0E-436F-9E7D-E54187419AFA}" srcId="{160A3EE3-F39A-4458-BC72-D3A3F8099A83}" destId="{19A25DDF-86A1-48F1-9EFE-4FFCC83B74F2}" srcOrd="0" destOrd="0" parTransId="{95043503-A5E5-4263-A85D-1EE0D3E53B11}" sibTransId="{1853E243-84DB-45C9-877A-989AA1A6AEB3}"/>
    <dgm:cxn modelId="{B2E0C58D-3771-4EE6-AA81-07A7029F0551}" type="presParOf" srcId="{4A677A8B-1B3A-4D46-8251-BE238AB3111E}" destId="{A4611A64-E54B-4755-B474-F42CE34F8E2A}" srcOrd="0" destOrd="0" presId="urn:microsoft.com/office/officeart/2009/3/layout/StepUpProcess"/>
    <dgm:cxn modelId="{1CC16247-CD53-4E45-BEA1-D88B9767C418}" type="presParOf" srcId="{A4611A64-E54B-4755-B474-F42CE34F8E2A}" destId="{2E7F8BDF-DCAE-46C0-A220-CC3312BC9CB1}" srcOrd="0" destOrd="0" presId="urn:microsoft.com/office/officeart/2009/3/layout/StepUpProcess"/>
    <dgm:cxn modelId="{2C8E229A-B7B8-4C78-B5DF-7FA8D6BD8960}" type="presParOf" srcId="{A4611A64-E54B-4755-B474-F42CE34F8E2A}" destId="{E83A76B2-367D-40BB-B7E3-F8D6A0FB93D7}" srcOrd="1" destOrd="0" presId="urn:microsoft.com/office/officeart/2009/3/layout/StepUpProcess"/>
    <dgm:cxn modelId="{B47B36CD-4F2F-4702-BA52-BB16E5CC153D}" type="presParOf" srcId="{A4611A64-E54B-4755-B474-F42CE34F8E2A}" destId="{41A51D6A-C1D8-4FBB-96F9-B8ECF131FD69}" srcOrd="2" destOrd="0" presId="urn:microsoft.com/office/officeart/2009/3/layout/StepUpProcess"/>
    <dgm:cxn modelId="{FC021F28-D574-45B2-904B-1C86DDA038A6}" type="presParOf" srcId="{4A677A8B-1B3A-4D46-8251-BE238AB3111E}" destId="{EDFF3E93-18B9-4F3A-80C6-E6DB90101322}" srcOrd="1" destOrd="0" presId="urn:microsoft.com/office/officeart/2009/3/layout/StepUpProcess"/>
    <dgm:cxn modelId="{2A0EF87E-7889-4165-8DF2-08F0190E4159}" type="presParOf" srcId="{EDFF3E93-18B9-4F3A-80C6-E6DB90101322}" destId="{BF753280-5A89-453D-A8FC-CFD4C4ACA040}" srcOrd="0" destOrd="0" presId="urn:microsoft.com/office/officeart/2009/3/layout/StepUpProcess"/>
    <dgm:cxn modelId="{3F141CBC-1491-4BB7-9C5A-BF4DC14B57FE}" type="presParOf" srcId="{4A677A8B-1B3A-4D46-8251-BE238AB3111E}" destId="{486C9F3D-48CA-48A9-BBA0-DDEDA0560FD2}" srcOrd="2" destOrd="0" presId="urn:microsoft.com/office/officeart/2009/3/layout/StepUpProcess"/>
    <dgm:cxn modelId="{16F5F458-D785-4B8A-B484-310872D7EF08}" type="presParOf" srcId="{486C9F3D-48CA-48A9-BBA0-DDEDA0560FD2}" destId="{FBF9C9DC-EA28-49F0-A0E3-3104F2DC3C6C}" srcOrd="0" destOrd="0" presId="urn:microsoft.com/office/officeart/2009/3/layout/StepUpProcess"/>
    <dgm:cxn modelId="{EAB4C716-1CBE-453C-B86E-5473A2C6A4FD}" type="presParOf" srcId="{486C9F3D-48CA-48A9-BBA0-DDEDA0560FD2}" destId="{A880D3DB-FB62-4F25-8CF0-FED1844679B9}" srcOrd="1" destOrd="0" presId="urn:microsoft.com/office/officeart/2009/3/layout/StepUpProcess"/>
    <dgm:cxn modelId="{CB19F885-5985-489B-8743-484A6FDA1B46}" type="presParOf" srcId="{486C9F3D-48CA-48A9-BBA0-DDEDA0560FD2}" destId="{6E0E4177-3DAB-4E7C-9B45-80DDE7A0ACE9}" srcOrd="2" destOrd="0" presId="urn:microsoft.com/office/officeart/2009/3/layout/StepUpProcess"/>
    <dgm:cxn modelId="{D1836126-0B77-498C-8768-205ACDF8C916}" type="presParOf" srcId="{4A677A8B-1B3A-4D46-8251-BE238AB3111E}" destId="{FBDE90E9-9C9D-4D78-8D43-61D5541639E0}" srcOrd="3" destOrd="0" presId="urn:microsoft.com/office/officeart/2009/3/layout/StepUpProcess"/>
    <dgm:cxn modelId="{B7115DFE-706E-4F82-A1D8-8C61D7E6176D}" type="presParOf" srcId="{FBDE90E9-9C9D-4D78-8D43-61D5541639E0}" destId="{91F33B27-C70E-4E68-8503-8786BD2D3E08}" srcOrd="0" destOrd="0" presId="urn:microsoft.com/office/officeart/2009/3/layout/StepUpProcess"/>
    <dgm:cxn modelId="{03B803A0-A3E6-4A43-B4DF-83FDF5D1AF3F}" type="presParOf" srcId="{4A677A8B-1B3A-4D46-8251-BE238AB3111E}" destId="{A946D850-610C-4B3B-927B-C02D72E5B6C3}" srcOrd="4" destOrd="0" presId="urn:microsoft.com/office/officeart/2009/3/layout/StepUpProcess"/>
    <dgm:cxn modelId="{46C0E270-C61C-4F08-B246-07C41FF5CB75}" type="presParOf" srcId="{A946D850-610C-4B3B-927B-C02D72E5B6C3}" destId="{C090B849-6FF3-48E5-9DED-42FB7FD11B7C}" srcOrd="0" destOrd="0" presId="urn:microsoft.com/office/officeart/2009/3/layout/StepUpProcess"/>
    <dgm:cxn modelId="{784A583B-94E1-4F49-9A1F-6FB4C1D1D5B6}" type="presParOf" srcId="{A946D850-610C-4B3B-927B-C02D72E5B6C3}" destId="{96FBE23C-B23D-478E-8FCC-4090A187C2B7}" srcOrd="1" destOrd="0" presId="urn:microsoft.com/office/officeart/2009/3/layout/StepUpProcess"/>
    <dgm:cxn modelId="{5745DB56-0F2B-422E-917A-CA4CEEB4D129}" type="presParOf" srcId="{A946D850-610C-4B3B-927B-C02D72E5B6C3}" destId="{74D89564-9176-44EF-B405-B1785606A48A}" srcOrd="2" destOrd="0" presId="urn:microsoft.com/office/officeart/2009/3/layout/StepUpProcess"/>
    <dgm:cxn modelId="{5BF3CDAD-D20F-44D8-9FCD-4221C3C67170}" type="presParOf" srcId="{4A677A8B-1B3A-4D46-8251-BE238AB3111E}" destId="{4D96D9C9-4923-4C01-A8D8-FBC052ED3B72}" srcOrd="5" destOrd="0" presId="urn:microsoft.com/office/officeart/2009/3/layout/StepUpProcess"/>
    <dgm:cxn modelId="{DB16F084-2F88-48A8-AEDF-1380B4D19FD7}" type="presParOf" srcId="{4D96D9C9-4923-4C01-A8D8-FBC052ED3B72}" destId="{E6A2A5C6-FCD3-44F3-9A7A-2A0B5AFEB799}" srcOrd="0" destOrd="0" presId="urn:microsoft.com/office/officeart/2009/3/layout/StepUpProcess"/>
    <dgm:cxn modelId="{A01DE556-6202-44EE-A4C6-2E82039D728F}" type="presParOf" srcId="{4A677A8B-1B3A-4D46-8251-BE238AB3111E}" destId="{5F2B2AF1-E424-45CE-8E51-FD83023E2F2B}" srcOrd="6" destOrd="0" presId="urn:microsoft.com/office/officeart/2009/3/layout/StepUpProcess"/>
    <dgm:cxn modelId="{29CCC85E-1503-456A-BC2F-1A2A47238188}" type="presParOf" srcId="{5F2B2AF1-E424-45CE-8E51-FD83023E2F2B}" destId="{17C62C0E-6D3A-4BDE-99D5-7F25C50975D0}" srcOrd="0" destOrd="0" presId="urn:microsoft.com/office/officeart/2009/3/layout/StepUpProcess"/>
    <dgm:cxn modelId="{03A4577B-8BB4-4E10-95F9-DD56FC23B0D1}" type="presParOf" srcId="{5F2B2AF1-E424-45CE-8E51-FD83023E2F2B}" destId="{C35E4CA3-EA84-48EE-9908-8F7D40297B3F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0A3EE3-F39A-4458-BC72-D3A3F8099A83}" type="doc">
      <dgm:prSet loTypeId="urn:microsoft.com/office/officeart/2009/3/layout/StepUpProcess" loCatId="process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IN"/>
        </a:p>
      </dgm:t>
    </dgm:pt>
    <dgm:pt modelId="{75CFA78F-F5C6-42D9-B20F-C4A61691064F}">
      <dgm:prSet phldrT="[Text]" custT="1"/>
      <dgm:spPr/>
      <dgm:t>
        <a:bodyPr/>
        <a:lstStyle/>
        <a:p>
          <a:r>
            <a:rPr lang="en-US" sz="1200" b="0" dirty="0" smtClean="0"/>
            <a:t>- </a:t>
          </a:r>
          <a:r>
            <a:rPr lang="en-US" sz="1200" b="0" dirty="0" smtClean="0">
              <a:solidFill>
                <a:prstClr val="black"/>
              </a:solidFill>
            </a:rPr>
            <a:t>City level  opportunity sizing</a:t>
          </a:r>
        </a:p>
        <a:p>
          <a:r>
            <a:rPr lang="en-US" sz="1200" b="0" dirty="0" smtClean="0">
              <a:solidFill>
                <a:prstClr val="black"/>
              </a:solidFill>
            </a:rPr>
            <a:t>- Competitor and Market share </a:t>
          </a:r>
        </a:p>
        <a:p>
          <a:r>
            <a:rPr lang="en-US" sz="1200" b="0" dirty="0" smtClean="0">
              <a:solidFill>
                <a:prstClr val="black"/>
              </a:solidFill>
            </a:rPr>
            <a:t>  analysis</a:t>
          </a:r>
        </a:p>
        <a:p>
          <a:r>
            <a:rPr lang="en-US" sz="1200" b="0" dirty="0" smtClean="0">
              <a:solidFill>
                <a:prstClr val="black"/>
              </a:solidFill>
            </a:rPr>
            <a:t>- </a:t>
          </a:r>
          <a:r>
            <a:rPr lang="en-US" sz="1200" b="1" dirty="0" smtClean="0">
              <a:solidFill>
                <a:prstClr val="black"/>
              </a:solidFill>
            </a:rPr>
            <a:t>Identifying drivers affecting Sales</a:t>
          </a:r>
        </a:p>
        <a:p>
          <a:r>
            <a:rPr lang="en-US" sz="1200" b="0" dirty="0" smtClean="0">
              <a:solidFill>
                <a:prstClr val="black"/>
              </a:solidFill>
            </a:rPr>
            <a:t>- </a:t>
          </a:r>
          <a:r>
            <a:rPr lang="en-US" sz="1200" b="1" dirty="0" smtClean="0">
              <a:solidFill>
                <a:prstClr val="black"/>
              </a:solidFill>
            </a:rPr>
            <a:t>Time bound Sales forecasting and </a:t>
          </a:r>
        </a:p>
        <a:p>
          <a:r>
            <a:rPr lang="en-US" sz="1200" b="1" dirty="0" smtClean="0">
              <a:solidFill>
                <a:prstClr val="black"/>
              </a:solidFill>
            </a:rPr>
            <a:t>  monitoring</a:t>
          </a:r>
        </a:p>
        <a:p>
          <a:r>
            <a:rPr lang="en-US" sz="1200" b="0" dirty="0" smtClean="0">
              <a:solidFill>
                <a:prstClr val="black"/>
              </a:solidFill>
            </a:rPr>
            <a:t>- </a:t>
          </a:r>
          <a:r>
            <a:rPr lang="en-US" sz="1200" b="0" dirty="0" smtClean="0">
              <a:solidFill>
                <a:schemeClr val="tx1"/>
              </a:solidFill>
            </a:rPr>
            <a:t>Intervention Areas</a:t>
          </a:r>
        </a:p>
        <a:p>
          <a:r>
            <a:rPr lang="en-US" sz="1200" dirty="0" smtClean="0">
              <a:solidFill>
                <a:schemeClr val="tx1"/>
              </a:solidFill>
            </a:rPr>
            <a:t>- Sales conversion analysis</a:t>
          </a:r>
        </a:p>
        <a:p>
          <a:r>
            <a:rPr lang="en-US" sz="1200" dirty="0" smtClean="0">
              <a:solidFill>
                <a:schemeClr val="tx1"/>
              </a:solidFill>
            </a:rPr>
            <a:t>- Sales campaign analysis</a:t>
          </a:r>
          <a:endParaRPr lang="en-IN" sz="1200" b="0" dirty="0">
            <a:solidFill>
              <a:schemeClr val="tx1"/>
            </a:solidFill>
          </a:endParaRPr>
        </a:p>
      </dgm:t>
    </dgm:pt>
    <dgm:pt modelId="{423C3823-E017-4EFF-B9FB-158B522A346D}" type="parTrans" cxnId="{077F0FBF-6A50-497E-9338-0F4EA4291484}">
      <dgm:prSet/>
      <dgm:spPr/>
      <dgm:t>
        <a:bodyPr/>
        <a:lstStyle/>
        <a:p>
          <a:endParaRPr lang="en-IN"/>
        </a:p>
      </dgm:t>
    </dgm:pt>
    <dgm:pt modelId="{D698C528-4FEB-42FB-9AC0-BFB8E1B74810}" type="sibTrans" cxnId="{077F0FBF-6A50-497E-9338-0F4EA4291484}">
      <dgm:prSet/>
      <dgm:spPr/>
      <dgm:t>
        <a:bodyPr/>
        <a:lstStyle/>
        <a:p>
          <a:endParaRPr lang="en-IN"/>
        </a:p>
      </dgm:t>
    </dgm:pt>
    <dgm:pt modelId="{F903D5EE-A4D6-4D92-BE7F-EA7CD86F8036}">
      <dgm:prSet phldrT="[Text]" custT="1"/>
      <dgm:spPr/>
      <dgm:t>
        <a:bodyPr/>
        <a:lstStyle/>
        <a:p>
          <a:r>
            <a:rPr lang="en-IN" sz="1200" dirty="0" smtClean="0">
              <a:solidFill>
                <a:schemeClr val="tx1"/>
              </a:solidFill>
            </a:rPr>
            <a:t>-  </a:t>
          </a:r>
          <a:r>
            <a:rPr lang="en-IN" sz="1200" b="1" dirty="0" smtClean="0">
              <a:solidFill>
                <a:schemeClr val="tx1"/>
              </a:solidFill>
            </a:rPr>
            <a:t>Forecast channel </a:t>
          </a:r>
        </a:p>
        <a:p>
          <a:r>
            <a:rPr lang="en-IN" sz="1200" b="1" dirty="0" smtClean="0">
              <a:solidFill>
                <a:schemeClr val="tx1"/>
              </a:solidFill>
            </a:rPr>
            <a:t>   performance</a:t>
          </a:r>
        </a:p>
        <a:p>
          <a:r>
            <a:rPr lang="en-IN" sz="1200" b="1" dirty="0" smtClean="0">
              <a:solidFill>
                <a:schemeClr val="tx1"/>
              </a:solidFill>
            </a:rPr>
            <a:t>-</a:t>
          </a:r>
          <a:r>
            <a:rPr lang="en-IN" sz="1200" dirty="0" smtClean="0">
              <a:solidFill>
                <a:schemeClr val="tx1"/>
              </a:solidFill>
            </a:rPr>
            <a:t> Forecast new business </a:t>
          </a:r>
        </a:p>
        <a:p>
          <a:r>
            <a:rPr lang="en-IN" sz="1200" dirty="0" smtClean="0">
              <a:solidFill>
                <a:schemeClr val="tx1"/>
              </a:solidFill>
            </a:rPr>
            <a:t>   through customer</a:t>
          </a:r>
        </a:p>
        <a:p>
          <a:r>
            <a:rPr lang="en-IN" sz="1200" dirty="0" smtClean="0">
              <a:solidFill>
                <a:schemeClr val="tx1"/>
              </a:solidFill>
            </a:rPr>
            <a:t>- Detect agency fraud and </a:t>
          </a:r>
        </a:p>
        <a:p>
          <a:r>
            <a:rPr lang="en-IN" sz="1200" dirty="0" smtClean="0">
              <a:solidFill>
                <a:schemeClr val="tx1"/>
              </a:solidFill>
            </a:rPr>
            <a:t>   ghost broking</a:t>
          </a:r>
        </a:p>
        <a:p>
          <a:r>
            <a:rPr lang="en-IN" sz="1200" dirty="0" smtClean="0">
              <a:solidFill>
                <a:schemeClr val="tx1"/>
              </a:solidFill>
            </a:rPr>
            <a:t>- Forecast hit-to-miss ratio</a:t>
          </a:r>
        </a:p>
        <a:p>
          <a:r>
            <a:rPr lang="en-IN" sz="1200" dirty="0" smtClean="0">
              <a:solidFill>
                <a:schemeClr val="tx1"/>
              </a:solidFill>
            </a:rPr>
            <a:t>- Predict the weakness and </a:t>
          </a:r>
        </a:p>
        <a:p>
          <a:r>
            <a:rPr lang="en-IN" sz="1200" dirty="0" smtClean="0">
              <a:solidFill>
                <a:schemeClr val="tx1"/>
              </a:solidFill>
            </a:rPr>
            <a:t>  strength and growth </a:t>
          </a:r>
        </a:p>
        <a:p>
          <a:r>
            <a:rPr lang="en-IN" sz="1200" dirty="0" smtClean="0">
              <a:solidFill>
                <a:schemeClr val="tx1"/>
              </a:solidFill>
            </a:rPr>
            <a:t>  potential if individual </a:t>
          </a:r>
        </a:p>
        <a:p>
          <a:r>
            <a:rPr lang="en-IN" sz="1200" dirty="0" smtClean="0">
              <a:solidFill>
                <a:schemeClr val="tx1"/>
              </a:solidFill>
            </a:rPr>
            <a:t>  agents &amp; brokers</a:t>
          </a:r>
          <a:endParaRPr lang="en-IN" sz="1200" dirty="0">
            <a:solidFill>
              <a:schemeClr val="tx1"/>
            </a:solidFill>
          </a:endParaRPr>
        </a:p>
      </dgm:t>
    </dgm:pt>
    <dgm:pt modelId="{D1EE8C39-DA70-4668-B572-724851583040}" type="parTrans" cxnId="{37276BBD-CA08-49D2-A7BD-9A7063EC1E32}">
      <dgm:prSet/>
      <dgm:spPr/>
      <dgm:t>
        <a:bodyPr/>
        <a:lstStyle/>
        <a:p>
          <a:endParaRPr lang="en-IN"/>
        </a:p>
      </dgm:t>
    </dgm:pt>
    <dgm:pt modelId="{20F1D033-4897-446E-B878-F0B75E7293B5}" type="sibTrans" cxnId="{37276BBD-CA08-49D2-A7BD-9A7063EC1E32}">
      <dgm:prSet/>
      <dgm:spPr/>
      <dgm:t>
        <a:bodyPr/>
        <a:lstStyle/>
        <a:p>
          <a:endParaRPr lang="en-IN"/>
        </a:p>
      </dgm:t>
    </dgm:pt>
    <dgm:pt modelId="{19A25DDF-86A1-48F1-9EFE-4FFCC83B74F2}">
      <dgm:prSet phldrT="[Text]" custT="1"/>
      <dgm:spPr/>
      <dgm:t>
        <a:bodyPr/>
        <a:lstStyle/>
        <a:p>
          <a:r>
            <a:rPr lang="en-IN" sz="1200" b="0" dirty="0" smtClean="0">
              <a:solidFill>
                <a:schemeClr val="tx1"/>
              </a:solidFill>
            </a:rPr>
            <a:t>- </a:t>
          </a:r>
          <a:r>
            <a:rPr lang="en-IN" sz="1200" b="1" dirty="0" smtClean="0">
              <a:solidFill>
                <a:schemeClr val="tx1"/>
              </a:solidFill>
            </a:rPr>
            <a:t>Identify sales force productivity drivers</a:t>
          </a:r>
        </a:p>
        <a:p>
          <a:r>
            <a:rPr lang="en-IN" sz="1200" b="1" dirty="0" smtClean="0">
              <a:solidFill>
                <a:schemeClr val="tx1"/>
              </a:solidFill>
            </a:rPr>
            <a:t>- Monitor performance against targets</a:t>
          </a:r>
        </a:p>
        <a:p>
          <a:r>
            <a:rPr lang="en-US" sz="1200" b="1" dirty="0" smtClean="0">
              <a:solidFill>
                <a:schemeClr val="tx1"/>
              </a:solidFill>
            </a:rPr>
            <a:t>- Sales productivity analysis</a:t>
          </a:r>
        </a:p>
        <a:p>
          <a:r>
            <a:rPr lang="en-US" sz="1200" b="1" dirty="0" smtClean="0">
              <a:solidFill>
                <a:schemeClr val="tx1"/>
              </a:solidFill>
            </a:rPr>
            <a:t>- Agent &amp; Salesforce deployment activities</a:t>
          </a:r>
          <a:endParaRPr lang="en-IN" sz="1200" b="1" dirty="0">
            <a:solidFill>
              <a:schemeClr val="tx1"/>
            </a:solidFill>
          </a:endParaRPr>
        </a:p>
      </dgm:t>
    </dgm:pt>
    <dgm:pt modelId="{95043503-A5E5-4263-A85D-1EE0D3E53B11}" type="parTrans" cxnId="{3B5C6024-BA0E-436F-9E7D-E54187419AFA}">
      <dgm:prSet/>
      <dgm:spPr/>
      <dgm:t>
        <a:bodyPr/>
        <a:lstStyle/>
        <a:p>
          <a:endParaRPr lang="en-IN"/>
        </a:p>
      </dgm:t>
    </dgm:pt>
    <dgm:pt modelId="{1853E243-84DB-45C9-877A-989AA1A6AEB3}" type="sibTrans" cxnId="{3B5C6024-BA0E-436F-9E7D-E54187419AFA}">
      <dgm:prSet/>
      <dgm:spPr/>
      <dgm:t>
        <a:bodyPr/>
        <a:lstStyle/>
        <a:p>
          <a:endParaRPr lang="en-IN"/>
        </a:p>
      </dgm:t>
    </dgm:pt>
    <dgm:pt modelId="{4A677A8B-1B3A-4D46-8251-BE238AB3111E}" type="pres">
      <dgm:prSet presAssocID="{160A3EE3-F39A-4458-BC72-D3A3F8099A83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A4611A64-E54B-4755-B474-F42CE34F8E2A}" type="pres">
      <dgm:prSet presAssocID="{19A25DDF-86A1-48F1-9EFE-4FFCC83B74F2}" presName="composite" presStyleCnt="0"/>
      <dgm:spPr/>
    </dgm:pt>
    <dgm:pt modelId="{2E7F8BDF-DCAE-46C0-A220-CC3312BC9CB1}" type="pres">
      <dgm:prSet presAssocID="{19A25DDF-86A1-48F1-9EFE-4FFCC83B74F2}" presName="LShape" presStyleLbl="alignNode1" presStyleIdx="0" presStyleCnt="5" custScaleX="115861"/>
      <dgm:spPr/>
    </dgm:pt>
    <dgm:pt modelId="{E83A76B2-367D-40BB-B7E3-F8D6A0FB93D7}" type="pres">
      <dgm:prSet presAssocID="{19A25DDF-86A1-48F1-9EFE-4FFCC83B74F2}" presName="ParentText" presStyleLbl="revTx" presStyleIdx="0" presStyleCnt="3" custScaleX="174387" custLinFactNeighborX="28570" custLinFactNeighborY="467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1A51D6A-C1D8-4FBB-96F9-B8ECF131FD69}" type="pres">
      <dgm:prSet presAssocID="{19A25DDF-86A1-48F1-9EFE-4FFCC83B74F2}" presName="Triangle" presStyleLbl="alignNode1" presStyleIdx="1" presStyleCnt="5" custAng="16200000" custLinFactNeighborX="-99162" custLinFactNeighborY="-75843"/>
      <dgm:spPr/>
    </dgm:pt>
    <dgm:pt modelId="{EDFF3E93-18B9-4F3A-80C6-E6DB90101322}" type="pres">
      <dgm:prSet presAssocID="{1853E243-84DB-45C9-877A-989AA1A6AEB3}" presName="sibTrans" presStyleCnt="0"/>
      <dgm:spPr/>
    </dgm:pt>
    <dgm:pt modelId="{BF753280-5A89-453D-A8FC-CFD4C4ACA040}" type="pres">
      <dgm:prSet presAssocID="{1853E243-84DB-45C9-877A-989AA1A6AEB3}" presName="space" presStyleCnt="0"/>
      <dgm:spPr/>
    </dgm:pt>
    <dgm:pt modelId="{486C9F3D-48CA-48A9-BBA0-DDEDA0560FD2}" type="pres">
      <dgm:prSet presAssocID="{75CFA78F-F5C6-42D9-B20F-C4A61691064F}" presName="composite" presStyleCnt="0"/>
      <dgm:spPr/>
    </dgm:pt>
    <dgm:pt modelId="{FBF9C9DC-EA28-49F0-A0E3-3104F2DC3C6C}" type="pres">
      <dgm:prSet presAssocID="{75CFA78F-F5C6-42D9-B20F-C4A61691064F}" presName="LShape" presStyleLbl="alignNode1" presStyleIdx="2" presStyleCnt="5" custScaleX="119590" custLinFactNeighborX="14720" custLinFactNeighborY="12690"/>
      <dgm:spPr/>
      <dgm:t>
        <a:bodyPr/>
        <a:lstStyle/>
        <a:p>
          <a:endParaRPr lang="en-IN"/>
        </a:p>
      </dgm:t>
    </dgm:pt>
    <dgm:pt modelId="{A880D3DB-FB62-4F25-8CF0-FED1844679B9}" type="pres">
      <dgm:prSet presAssocID="{75CFA78F-F5C6-42D9-B20F-C4A61691064F}" presName="ParentText" presStyleLbl="revTx" presStyleIdx="1" presStyleCnt="3" custScaleX="143239" custScaleY="138217" custLinFactNeighborX="27504" custLinFactNeighborY="3788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E0E4177-3DAB-4E7C-9B45-80DDE7A0ACE9}" type="pres">
      <dgm:prSet presAssocID="{75CFA78F-F5C6-42D9-B20F-C4A61691064F}" presName="Triangle" presStyleLbl="alignNode1" presStyleIdx="3" presStyleCnt="5" custAng="16200000" custLinFactNeighborX="-43368" custLinFactNeighborY="16358"/>
      <dgm:spPr/>
    </dgm:pt>
    <dgm:pt modelId="{FBDE90E9-9C9D-4D78-8D43-61D5541639E0}" type="pres">
      <dgm:prSet presAssocID="{D698C528-4FEB-42FB-9AC0-BFB8E1B74810}" presName="sibTrans" presStyleCnt="0"/>
      <dgm:spPr/>
    </dgm:pt>
    <dgm:pt modelId="{91F33B27-C70E-4E68-8503-8786BD2D3E08}" type="pres">
      <dgm:prSet presAssocID="{D698C528-4FEB-42FB-9AC0-BFB8E1B74810}" presName="space" presStyleCnt="0"/>
      <dgm:spPr/>
    </dgm:pt>
    <dgm:pt modelId="{A946D850-610C-4B3B-927B-C02D72E5B6C3}" type="pres">
      <dgm:prSet presAssocID="{F903D5EE-A4D6-4D92-BE7F-EA7CD86F8036}" presName="composite" presStyleCnt="0"/>
      <dgm:spPr/>
    </dgm:pt>
    <dgm:pt modelId="{C090B849-6FF3-48E5-9DED-42FB7FD11B7C}" type="pres">
      <dgm:prSet presAssocID="{F903D5EE-A4D6-4D92-BE7F-EA7CD86F8036}" presName="LShape" presStyleLbl="alignNode1" presStyleIdx="4" presStyleCnt="5" custScaleX="119590" custLinFactNeighborX="-707" custLinFactNeighborY="17625"/>
      <dgm:spPr/>
    </dgm:pt>
    <dgm:pt modelId="{96FBE23C-B23D-478E-8FCC-4090A187C2B7}" type="pres">
      <dgm:prSet presAssocID="{F903D5EE-A4D6-4D92-BE7F-EA7CD86F8036}" presName="ParentText" presStyleLbl="revTx" presStyleIdx="2" presStyleCnt="3" custScaleX="106271" custLinFactNeighborX="-4322" custLinFactNeighborY="2110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DF0C15BC-6429-4C88-A5F3-BBCB8DF91B83}" type="presOf" srcId="{160A3EE3-F39A-4458-BC72-D3A3F8099A83}" destId="{4A677A8B-1B3A-4D46-8251-BE238AB3111E}" srcOrd="0" destOrd="0" presId="urn:microsoft.com/office/officeart/2009/3/layout/StepUpProcess"/>
    <dgm:cxn modelId="{E0D75471-A2F1-4864-A107-8F507993933C}" type="presOf" srcId="{19A25DDF-86A1-48F1-9EFE-4FFCC83B74F2}" destId="{E83A76B2-367D-40BB-B7E3-F8D6A0FB93D7}" srcOrd="0" destOrd="0" presId="urn:microsoft.com/office/officeart/2009/3/layout/StepUpProcess"/>
    <dgm:cxn modelId="{DDAF3668-352F-43F4-B025-6443D523C84C}" type="presOf" srcId="{F903D5EE-A4D6-4D92-BE7F-EA7CD86F8036}" destId="{96FBE23C-B23D-478E-8FCC-4090A187C2B7}" srcOrd="0" destOrd="0" presId="urn:microsoft.com/office/officeart/2009/3/layout/StepUpProcess"/>
    <dgm:cxn modelId="{077F0FBF-6A50-497E-9338-0F4EA4291484}" srcId="{160A3EE3-F39A-4458-BC72-D3A3F8099A83}" destId="{75CFA78F-F5C6-42D9-B20F-C4A61691064F}" srcOrd="1" destOrd="0" parTransId="{423C3823-E017-4EFF-B9FB-158B522A346D}" sibTransId="{D698C528-4FEB-42FB-9AC0-BFB8E1B74810}"/>
    <dgm:cxn modelId="{77C2357C-491F-4C91-B768-2F3B1D5DF244}" type="presOf" srcId="{75CFA78F-F5C6-42D9-B20F-C4A61691064F}" destId="{A880D3DB-FB62-4F25-8CF0-FED1844679B9}" srcOrd="0" destOrd="0" presId="urn:microsoft.com/office/officeart/2009/3/layout/StepUpProcess"/>
    <dgm:cxn modelId="{37276BBD-CA08-49D2-A7BD-9A7063EC1E32}" srcId="{160A3EE3-F39A-4458-BC72-D3A3F8099A83}" destId="{F903D5EE-A4D6-4D92-BE7F-EA7CD86F8036}" srcOrd="2" destOrd="0" parTransId="{D1EE8C39-DA70-4668-B572-724851583040}" sibTransId="{20F1D033-4897-446E-B878-F0B75E7293B5}"/>
    <dgm:cxn modelId="{3B5C6024-BA0E-436F-9E7D-E54187419AFA}" srcId="{160A3EE3-F39A-4458-BC72-D3A3F8099A83}" destId="{19A25DDF-86A1-48F1-9EFE-4FFCC83B74F2}" srcOrd="0" destOrd="0" parTransId="{95043503-A5E5-4263-A85D-1EE0D3E53B11}" sibTransId="{1853E243-84DB-45C9-877A-989AA1A6AEB3}"/>
    <dgm:cxn modelId="{A4956B1D-7559-4E43-8625-E0F9D3961A1A}" type="presParOf" srcId="{4A677A8B-1B3A-4D46-8251-BE238AB3111E}" destId="{A4611A64-E54B-4755-B474-F42CE34F8E2A}" srcOrd="0" destOrd="0" presId="urn:microsoft.com/office/officeart/2009/3/layout/StepUpProcess"/>
    <dgm:cxn modelId="{08D6485A-8F6D-43C1-BB85-9BBF4956E0FF}" type="presParOf" srcId="{A4611A64-E54B-4755-B474-F42CE34F8E2A}" destId="{2E7F8BDF-DCAE-46C0-A220-CC3312BC9CB1}" srcOrd="0" destOrd="0" presId="urn:microsoft.com/office/officeart/2009/3/layout/StepUpProcess"/>
    <dgm:cxn modelId="{FB1EAC6F-DC4B-4083-9EB7-9ABB97CCFE65}" type="presParOf" srcId="{A4611A64-E54B-4755-B474-F42CE34F8E2A}" destId="{E83A76B2-367D-40BB-B7E3-F8D6A0FB93D7}" srcOrd="1" destOrd="0" presId="urn:microsoft.com/office/officeart/2009/3/layout/StepUpProcess"/>
    <dgm:cxn modelId="{8CFD63C9-267E-4C86-965C-A540AF3EBE6A}" type="presParOf" srcId="{A4611A64-E54B-4755-B474-F42CE34F8E2A}" destId="{41A51D6A-C1D8-4FBB-96F9-B8ECF131FD69}" srcOrd="2" destOrd="0" presId="urn:microsoft.com/office/officeart/2009/3/layout/StepUpProcess"/>
    <dgm:cxn modelId="{CAD98EFF-E9FC-42CF-AA29-41B841288B2F}" type="presParOf" srcId="{4A677A8B-1B3A-4D46-8251-BE238AB3111E}" destId="{EDFF3E93-18B9-4F3A-80C6-E6DB90101322}" srcOrd="1" destOrd="0" presId="urn:microsoft.com/office/officeart/2009/3/layout/StepUpProcess"/>
    <dgm:cxn modelId="{2E8CDDCD-AE33-41E3-A9AB-849E53D7D697}" type="presParOf" srcId="{EDFF3E93-18B9-4F3A-80C6-E6DB90101322}" destId="{BF753280-5A89-453D-A8FC-CFD4C4ACA040}" srcOrd="0" destOrd="0" presId="urn:microsoft.com/office/officeart/2009/3/layout/StepUpProcess"/>
    <dgm:cxn modelId="{158494A7-1FEC-425D-9738-9FCCD9BCC3EE}" type="presParOf" srcId="{4A677A8B-1B3A-4D46-8251-BE238AB3111E}" destId="{486C9F3D-48CA-48A9-BBA0-DDEDA0560FD2}" srcOrd="2" destOrd="0" presId="urn:microsoft.com/office/officeart/2009/3/layout/StepUpProcess"/>
    <dgm:cxn modelId="{9BDFDEA8-02B5-4C4B-853E-E4505C101C2C}" type="presParOf" srcId="{486C9F3D-48CA-48A9-BBA0-DDEDA0560FD2}" destId="{FBF9C9DC-EA28-49F0-A0E3-3104F2DC3C6C}" srcOrd="0" destOrd="0" presId="urn:microsoft.com/office/officeart/2009/3/layout/StepUpProcess"/>
    <dgm:cxn modelId="{3D4DE643-1EF5-4688-9610-8A68A3A2D41E}" type="presParOf" srcId="{486C9F3D-48CA-48A9-BBA0-DDEDA0560FD2}" destId="{A880D3DB-FB62-4F25-8CF0-FED1844679B9}" srcOrd="1" destOrd="0" presId="urn:microsoft.com/office/officeart/2009/3/layout/StepUpProcess"/>
    <dgm:cxn modelId="{85B2A50D-7851-4091-AC13-02A7383B0181}" type="presParOf" srcId="{486C9F3D-48CA-48A9-BBA0-DDEDA0560FD2}" destId="{6E0E4177-3DAB-4E7C-9B45-80DDE7A0ACE9}" srcOrd="2" destOrd="0" presId="urn:microsoft.com/office/officeart/2009/3/layout/StepUpProcess"/>
    <dgm:cxn modelId="{B607B131-F8F5-49E8-AB7A-CDEAFCBFE0BA}" type="presParOf" srcId="{4A677A8B-1B3A-4D46-8251-BE238AB3111E}" destId="{FBDE90E9-9C9D-4D78-8D43-61D5541639E0}" srcOrd="3" destOrd="0" presId="urn:microsoft.com/office/officeart/2009/3/layout/StepUpProcess"/>
    <dgm:cxn modelId="{7AE612FC-1D69-4DF2-B3B0-F8D82A344B04}" type="presParOf" srcId="{FBDE90E9-9C9D-4D78-8D43-61D5541639E0}" destId="{91F33B27-C70E-4E68-8503-8786BD2D3E08}" srcOrd="0" destOrd="0" presId="urn:microsoft.com/office/officeart/2009/3/layout/StepUpProcess"/>
    <dgm:cxn modelId="{C0694305-C306-4C23-9B3D-37ED3F871845}" type="presParOf" srcId="{4A677A8B-1B3A-4D46-8251-BE238AB3111E}" destId="{A946D850-610C-4B3B-927B-C02D72E5B6C3}" srcOrd="4" destOrd="0" presId="urn:microsoft.com/office/officeart/2009/3/layout/StepUpProcess"/>
    <dgm:cxn modelId="{B54F0267-CB65-42CE-B463-DB5AFBEFC7F3}" type="presParOf" srcId="{A946D850-610C-4B3B-927B-C02D72E5B6C3}" destId="{C090B849-6FF3-48E5-9DED-42FB7FD11B7C}" srcOrd="0" destOrd="0" presId="urn:microsoft.com/office/officeart/2009/3/layout/StepUpProcess"/>
    <dgm:cxn modelId="{FCA173B5-E2A5-4443-B4DF-8FC57849B1D5}" type="presParOf" srcId="{A946D850-610C-4B3B-927B-C02D72E5B6C3}" destId="{96FBE23C-B23D-478E-8FCC-4090A187C2B7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60A3EE3-F39A-4458-BC72-D3A3F8099A83}" type="doc">
      <dgm:prSet loTypeId="urn:microsoft.com/office/officeart/2009/3/layout/StepUpProcess" loCatId="process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IN"/>
        </a:p>
      </dgm:t>
    </dgm:pt>
    <dgm:pt modelId="{75CFA78F-F5C6-42D9-B20F-C4A61691064F}">
      <dgm:prSet phldrT="[Text]" custT="1"/>
      <dgm:spPr/>
      <dgm:t>
        <a:bodyPr/>
        <a:lstStyle/>
        <a:p>
          <a:r>
            <a:rPr lang="en-US" sz="1200" b="0" dirty="0" smtClean="0"/>
            <a:t>-  </a:t>
          </a:r>
          <a:r>
            <a:rPr lang="en-US" sz="1200" b="0" dirty="0" smtClean="0">
              <a:solidFill>
                <a:prstClr val="black"/>
              </a:solidFill>
            </a:rPr>
            <a:t>Litigation Management</a:t>
          </a:r>
        </a:p>
        <a:p>
          <a:r>
            <a:rPr lang="en-IN" sz="1200" b="0" dirty="0" smtClean="0"/>
            <a:t>-  Dispute resolution</a:t>
          </a:r>
        </a:p>
        <a:p>
          <a:r>
            <a:rPr lang="en-IN" sz="1200" b="0" dirty="0" smtClean="0"/>
            <a:t>-  Compliance</a:t>
          </a:r>
        </a:p>
        <a:p>
          <a:r>
            <a:rPr lang="en-IN" sz="1200" b="0" dirty="0" smtClean="0"/>
            <a:t>-  Contracting</a:t>
          </a:r>
        </a:p>
        <a:p>
          <a:r>
            <a:rPr lang="en-IN" sz="1200" b="0" dirty="0" smtClean="0"/>
            <a:t>-  Resource management</a:t>
          </a:r>
        </a:p>
        <a:p>
          <a:endParaRPr lang="en-IN" sz="1200" b="0" dirty="0"/>
        </a:p>
      </dgm:t>
    </dgm:pt>
    <dgm:pt modelId="{423C3823-E017-4EFF-B9FB-158B522A346D}" type="parTrans" cxnId="{077F0FBF-6A50-497E-9338-0F4EA4291484}">
      <dgm:prSet/>
      <dgm:spPr/>
      <dgm:t>
        <a:bodyPr/>
        <a:lstStyle/>
        <a:p>
          <a:endParaRPr lang="en-IN"/>
        </a:p>
      </dgm:t>
    </dgm:pt>
    <dgm:pt modelId="{D698C528-4FEB-42FB-9AC0-BFB8E1B74810}" type="sibTrans" cxnId="{077F0FBF-6A50-497E-9338-0F4EA4291484}">
      <dgm:prSet/>
      <dgm:spPr/>
      <dgm:t>
        <a:bodyPr/>
        <a:lstStyle/>
        <a:p>
          <a:endParaRPr lang="en-IN"/>
        </a:p>
      </dgm:t>
    </dgm:pt>
    <dgm:pt modelId="{F903D5EE-A4D6-4D92-BE7F-EA7CD86F8036}">
      <dgm:prSet phldrT="[Text]" custT="1"/>
      <dgm:spPr/>
      <dgm:t>
        <a:bodyPr/>
        <a:lstStyle/>
        <a:p>
          <a:r>
            <a:rPr lang="en-US" sz="1200" b="1" dirty="0" smtClean="0"/>
            <a:t>- </a:t>
          </a:r>
          <a:r>
            <a:rPr lang="en-US" sz="1200" dirty="0" smtClean="0"/>
            <a:t>Fraud prediction Models</a:t>
          </a:r>
        </a:p>
        <a:p>
          <a:r>
            <a:rPr lang="en-US" sz="1200" dirty="0" smtClean="0"/>
            <a:t>- Fraud pattern Analysis</a:t>
          </a:r>
        </a:p>
        <a:p>
          <a:r>
            <a:rPr lang="en-US" sz="1200" dirty="0" smtClean="0"/>
            <a:t>- Gap Analysis between  </a:t>
          </a:r>
        </a:p>
        <a:p>
          <a:r>
            <a:rPr lang="en-US" sz="1200" dirty="0" smtClean="0"/>
            <a:t>  desired and Actual </a:t>
          </a:r>
        </a:p>
        <a:p>
          <a:r>
            <a:rPr lang="en-US" sz="1200" dirty="0" smtClean="0"/>
            <a:t>  controls</a:t>
          </a:r>
        </a:p>
        <a:p>
          <a:r>
            <a:rPr lang="en-US" sz="1200" dirty="0" smtClean="0"/>
            <a:t>- Red Flag for Fraud </a:t>
          </a:r>
        </a:p>
        <a:p>
          <a:r>
            <a:rPr lang="en-US" sz="1200" dirty="0" smtClean="0"/>
            <a:t>  monitoring</a:t>
          </a:r>
        </a:p>
        <a:p>
          <a:r>
            <a:rPr lang="en-US" sz="1200" dirty="0" smtClean="0"/>
            <a:t>- Fraud awareness Training</a:t>
          </a:r>
        </a:p>
      </dgm:t>
    </dgm:pt>
    <dgm:pt modelId="{D1EE8C39-DA70-4668-B572-724851583040}" type="parTrans" cxnId="{37276BBD-CA08-49D2-A7BD-9A7063EC1E32}">
      <dgm:prSet/>
      <dgm:spPr/>
      <dgm:t>
        <a:bodyPr/>
        <a:lstStyle/>
        <a:p>
          <a:endParaRPr lang="en-IN"/>
        </a:p>
      </dgm:t>
    </dgm:pt>
    <dgm:pt modelId="{20F1D033-4897-446E-B878-F0B75E7293B5}" type="sibTrans" cxnId="{37276BBD-CA08-49D2-A7BD-9A7063EC1E32}">
      <dgm:prSet/>
      <dgm:spPr/>
      <dgm:t>
        <a:bodyPr/>
        <a:lstStyle/>
        <a:p>
          <a:endParaRPr lang="en-IN"/>
        </a:p>
      </dgm:t>
    </dgm:pt>
    <dgm:pt modelId="{C297BC53-53BC-4387-8ABE-5C9DFF65925F}">
      <dgm:prSet custT="1"/>
      <dgm:spPr/>
      <dgm:t>
        <a:bodyPr/>
        <a:lstStyle/>
        <a:p>
          <a:r>
            <a:rPr lang="en-US" sz="1200" b="1" dirty="0" smtClean="0"/>
            <a:t>- </a:t>
          </a:r>
          <a:r>
            <a:rPr lang="en-US" sz="1200" b="0" dirty="0" smtClean="0"/>
            <a:t>Shortened Claim </a:t>
          </a:r>
        </a:p>
        <a:p>
          <a:r>
            <a:rPr lang="en-US" sz="1200" b="0" dirty="0" smtClean="0"/>
            <a:t>   Lifecycle</a:t>
          </a:r>
          <a:endParaRPr lang="en-US" sz="1200" dirty="0" smtClean="0"/>
        </a:p>
        <a:p>
          <a:r>
            <a:rPr lang="en-US" sz="1200" dirty="0" smtClean="0"/>
            <a:t>- Reduce Leakage </a:t>
          </a:r>
        </a:p>
        <a:p>
          <a:r>
            <a:rPr lang="en-US" sz="1200" dirty="0" smtClean="0"/>
            <a:t>   from Redundant </a:t>
          </a:r>
        </a:p>
        <a:p>
          <a:r>
            <a:rPr lang="en-US" sz="1200" dirty="0" smtClean="0"/>
            <a:t>    steps</a:t>
          </a:r>
        </a:p>
        <a:p>
          <a:r>
            <a:rPr lang="en-US" sz="1200" dirty="0" smtClean="0"/>
            <a:t>- Automation of Claim </a:t>
          </a:r>
        </a:p>
        <a:p>
          <a:r>
            <a:rPr lang="en-US" sz="1200" dirty="0" smtClean="0"/>
            <a:t>  handling</a:t>
          </a:r>
        </a:p>
        <a:p>
          <a:r>
            <a:rPr lang="en-US" sz="1200" dirty="0" smtClean="0"/>
            <a:t>- Real time data </a:t>
          </a:r>
        </a:p>
        <a:p>
          <a:r>
            <a:rPr lang="en-US" sz="1200" dirty="0" smtClean="0"/>
            <a:t>- </a:t>
          </a:r>
          <a:r>
            <a:rPr lang="en-IN" sz="1200" b="0" dirty="0" smtClean="0"/>
            <a:t>Expense </a:t>
          </a:r>
        </a:p>
        <a:p>
          <a:r>
            <a:rPr lang="en-IN" sz="1200" b="0" dirty="0" smtClean="0"/>
            <a:t>   management</a:t>
          </a:r>
          <a:endParaRPr lang="en-US" sz="1200" dirty="0" smtClean="0"/>
        </a:p>
        <a:p>
          <a:endParaRPr lang="en-IN" sz="1200" dirty="0"/>
        </a:p>
      </dgm:t>
    </dgm:pt>
    <dgm:pt modelId="{705AA61C-5F14-4BB9-954C-BBE946F568A1}" type="parTrans" cxnId="{18E2380C-8A57-4BF5-8617-3187E32A69C4}">
      <dgm:prSet/>
      <dgm:spPr/>
      <dgm:t>
        <a:bodyPr/>
        <a:lstStyle/>
        <a:p>
          <a:endParaRPr lang="en-IN"/>
        </a:p>
      </dgm:t>
    </dgm:pt>
    <dgm:pt modelId="{A5485F4F-0DB6-4D50-B6C8-B123C5CFB520}" type="sibTrans" cxnId="{18E2380C-8A57-4BF5-8617-3187E32A69C4}">
      <dgm:prSet/>
      <dgm:spPr/>
      <dgm:t>
        <a:bodyPr/>
        <a:lstStyle/>
        <a:p>
          <a:endParaRPr lang="en-IN"/>
        </a:p>
      </dgm:t>
    </dgm:pt>
    <dgm:pt modelId="{19A25DDF-86A1-48F1-9EFE-4FFCC83B74F2}">
      <dgm:prSet phldrT="[Text]" custT="1"/>
      <dgm:spPr/>
      <dgm:t>
        <a:bodyPr/>
        <a:lstStyle/>
        <a:p>
          <a:r>
            <a:rPr lang="en-US" sz="1200" b="0" dirty="0" smtClean="0"/>
            <a:t>-  </a:t>
          </a:r>
          <a:r>
            <a:rPr lang="en-IN" sz="1200" b="0" dirty="0" smtClean="0"/>
            <a:t>Claim Initiation</a:t>
          </a:r>
        </a:p>
        <a:p>
          <a:r>
            <a:rPr lang="en-IN" sz="1200" b="0" dirty="0" smtClean="0"/>
            <a:t>-  Claim Evaluation &amp; Reporting</a:t>
          </a:r>
        </a:p>
        <a:p>
          <a:r>
            <a:rPr lang="en-IN" sz="1200" b="0" dirty="0" smtClean="0"/>
            <a:t> - Claim Tracking</a:t>
          </a:r>
        </a:p>
        <a:p>
          <a:r>
            <a:rPr lang="en-IN" sz="1200" b="0" dirty="0" smtClean="0"/>
            <a:t>-  Claim fraud Investigation</a:t>
          </a:r>
          <a:endParaRPr lang="en-IN" sz="1200" b="0" dirty="0"/>
        </a:p>
      </dgm:t>
    </dgm:pt>
    <dgm:pt modelId="{95043503-A5E5-4263-A85D-1EE0D3E53B11}" type="parTrans" cxnId="{3B5C6024-BA0E-436F-9E7D-E54187419AFA}">
      <dgm:prSet/>
      <dgm:spPr/>
      <dgm:t>
        <a:bodyPr/>
        <a:lstStyle/>
        <a:p>
          <a:endParaRPr lang="en-IN"/>
        </a:p>
      </dgm:t>
    </dgm:pt>
    <dgm:pt modelId="{1853E243-84DB-45C9-877A-989AA1A6AEB3}" type="sibTrans" cxnId="{3B5C6024-BA0E-436F-9E7D-E54187419AFA}">
      <dgm:prSet/>
      <dgm:spPr/>
      <dgm:t>
        <a:bodyPr/>
        <a:lstStyle/>
        <a:p>
          <a:endParaRPr lang="en-IN"/>
        </a:p>
      </dgm:t>
    </dgm:pt>
    <dgm:pt modelId="{4A677A8B-1B3A-4D46-8251-BE238AB3111E}" type="pres">
      <dgm:prSet presAssocID="{160A3EE3-F39A-4458-BC72-D3A3F8099A83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A4611A64-E54B-4755-B474-F42CE34F8E2A}" type="pres">
      <dgm:prSet presAssocID="{19A25DDF-86A1-48F1-9EFE-4FFCC83B74F2}" presName="composite" presStyleCnt="0"/>
      <dgm:spPr/>
    </dgm:pt>
    <dgm:pt modelId="{2E7F8BDF-DCAE-46C0-A220-CC3312BC9CB1}" type="pres">
      <dgm:prSet presAssocID="{19A25DDF-86A1-48F1-9EFE-4FFCC83B74F2}" presName="LShape" presStyleLbl="alignNode1" presStyleIdx="0" presStyleCnt="7" custScaleX="115861"/>
      <dgm:spPr/>
      <dgm:t>
        <a:bodyPr/>
        <a:lstStyle/>
        <a:p>
          <a:endParaRPr lang="en-IN"/>
        </a:p>
      </dgm:t>
    </dgm:pt>
    <dgm:pt modelId="{E83A76B2-367D-40BB-B7E3-F8D6A0FB93D7}" type="pres">
      <dgm:prSet presAssocID="{19A25DDF-86A1-48F1-9EFE-4FFCC83B74F2}" presName="ParentText" presStyleLbl="revTx" presStyleIdx="0" presStyleCnt="4" custScaleX="174387" custLinFactNeighborX="26434" custLinFactNeighborY="964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1A51D6A-C1D8-4FBB-96F9-B8ECF131FD69}" type="pres">
      <dgm:prSet presAssocID="{19A25DDF-86A1-48F1-9EFE-4FFCC83B74F2}" presName="Triangle" presStyleLbl="alignNode1" presStyleIdx="1" presStyleCnt="7" custAng="16200000" custLinFactY="-5544" custLinFactNeighborX="76885" custLinFactNeighborY="-100000"/>
      <dgm:spPr/>
    </dgm:pt>
    <dgm:pt modelId="{EDFF3E93-18B9-4F3A-80C6-E6DB90101322}" type="pres">
      <dgm:prSet presAssocID="{1853E243-84DB-45C9-877A-989AA1A6AEB3}" presName="sibTrans" presStyleCnt="0"/>
      <dgm:spPr/>
    </dgm:pt>
    <dgm:pt modelId="{BF753280-5A89-453D-A8FC-CFD4C4ACA040}" type="pres">
      <dgm:prSet presAssocID="{1853E243-84DB-45C9-877A-989AA1A6AEB3}" presName="space" presStyleCnt="0"/>
      <dgm:spPr/>
    </dgm:pt>
    <dgm:pt modelId="{486C9F3D-48CA-48A9-BBA0-DDEDA0560FD2}" type="pres">
      <dgm:prSet presAssocID="{75CFA78F-F5C6-42D9-B20F-C4A61691064F}" presName="composite" presStyleCnt="0"/>
      <dgm:spPr/>
    </dgm:pt>
    <dgm:pt modelId="{FBF9C9DC-EA28-49F0-A0E3-3104F2DC3C6C}" type="pres">
      <dgm:prSet presAssocID="{75CFA78F-F5C6-42D9-B20F-C4A61691064F}" presName="LShape" presStyleLbl="alignNode1" presStyleIdx="2" presStyleCnt="7" custScaleX="119590" custLinFactNeighborX="14720"/>
      <dgm:spPr/>
    </dgm:pt>
    <dgm:pt modelId="{A880D3DB-FB62-4F25-8CF0-FED1844679B9}" type="pres">
      <dgm:prSet presAssocID="{75CFA78F-F5C6-42D9-B20F-C4A61691064F}" presName="ParentText" presStyleLbl="revTx" presStyleIdx="1" presStyleCnt="4" custScaleX="143239" custLinFactNeighborX="27504" custLinFactNeighborY="703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E0E4177-3DAB-4E7C-9B45-80DDE7A0ACE9}" type="pres">
      <dgm:prSet presAssocID="{75CFA78F-F5C6-42D9-B20F-C4A61691064F}" presName="Triangle" presStyleLbl="alignNode1" presStyleIdx="3" presStyleCnt="7" custAng="16200000" custLinFactX="82798" custLinFactY="-28760" custLinFactNeighborX="100000" custLinFactNeighborY="-100000"/>
      <dgm:spPr/>
    </dgm:pt>
    <dgm:pt modelId="{FBDE90E9-9C9D-4D78-8D43-61D5541639E0}" type="pres">
      <dgm:prSet presAssocID="{D698C528-4FEB-42FB-9AC0-BFB8E1B74810}" presName="sibTrans" presStyleCnt="0"/>
      <dgm:spPr/>
    </dgm:pt>
    <dgm:pt modelId="{91F33B27-C70E-4E68-8503-8786BD2D3E08}" type="pres">
      <dgm:prSet presAssocID="{D698C528-4FEB-42FB-9AC0-BFB8E1B74810}" presName="space" presStyleCnt="0"/>
      <dgm:spPr/>
    </dgm:pt>
    <dgm:pt modelId="{A946D850-610C-4B3B-927B-C02D72E5B6C3}" type="pres">
      <dgm:prSet presAssocID="{F903D5EE-A4D6-4D92-BE7F-EA7CD86F8036}" presName="composite" presStyleCnt="0"/>
      <dgm:spPr/>
    </dgm:pt>
    <dgm:pt modelId="{C090B849-6FF3-48E5-9DED-42FB7FD11B7C}" type="pres">
      <dgm:prSet presAssocID="{F903D5EE-A4D6-4D92-BE7F-EA7CD86F8036}" presName="LShape" presStyleLbl="alignNode1" presStyleIdx="4" presStyleCnt="7" custScaleX="119590" custLinFactNeighborX="14720"/>
      <dgm:spPr/>
    </dgm:pt>
    <dgm:pt modelId="{96FBE23C-B23D-478E-8FCC-4090A187C2B7}" type="pres">
      <dgm:prSet presAssocID="{F903D5EE-A4D6-4D92-BE7F-EA7CD86F8036}" presName="ParentText" presStyleLbl="revTx" presStyleIdx="2" presStyleCnt="4" custScaleX="152161" custLinFactNeighborX="27934" custLinFactNeighborY="292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4D89564-9176-44EF-B405-B1785606A48A}" type="pres">
      <dgm:prSet presAssocID="{F903D5EE-A4D6-4D92-BE7F-EA7CD86F8036}" presName="Triangle" presStyleLbl="alignNode1" presStyleIdx="5" presStyleCnt="7" custAng="15997117" custScaleX="107045" custScaleY="97330" custLinFactX="71118" custLinFactY="-14407" custLinFactNeighborX="100000" custLinFactNeighborY="-100000"/>
      <dgm:spPr/>
      <dgm:t>
        <a:bodyPr/>
        <a:lstStyle/>
        <a:p>
          <a:endParaRPr lang="en-IN"/>
        </a:p>
      </dgm:t>
    </dgm:pt>
    <dgm:pt modelId="{4D96D9C9-4923-4C01-A8D8-FBC052ED3B72}" type="pres">
      <dgm:prSet presAssocID="{20F1D033-4897-446E-B878-F0B75E7293B5}" presName="sibTrans" presStyleCnt="0"/>
      <dgm:spPr/>
    </dgm:pt>
    <dgm:pt modelId="{E6A2A5C6-FCD3-44F3-9A7A-2A0B5AFEB799}" type="pres">
      <dgm:prSet presAssocID="{20F1D033-4897-446E-B878-F0B75E7293B5}" presName="space" presStyleCnt="0"/>
      <dgm:spPr/>
    </dgm:pt>
    <dgm:pt modelId="{5F2B2AF1-E424-45CE-8E51-FD83023E2F2B}" type="pres">
      <dgm:prSet presAssocID="{C297BC53-53BC-4387-8ABE-5C9DFF65925F}" presName="composite" presStyleCnt="0"/>
      <dgm:spPr/>
    </dgm:pt>
    <dgm:pt modelId="{17C62C0E-6D3A-4BDE-99D5-7F25C50975D0}" type="pres">
      <dgm:prSet presAssocID="{C297BC53-53BC-4387-8ABE-5C9DFF65925F}" presName="LShape" presStyleLbl="alignNode1" presStyleIdx="6" presStyleCnt="7" custScaleX="119590"/>
      <dgm:spPr/>
    </dgm:pt>
    <dgm:pt modelId="{C35E4CA3-EA84-48EE-9908-8F7D40297B3F}" type="pres">
      <dgm:prSet presAssocID="{C297BC53-53BC-4387-8ABE-5C9DFF65925F}" presName="ParentText" presStyleLbl="revTx" presStyleIdx="3" presStyleCnt="4" custScaleX="119123" custLinFactNeighborX="-2607" custLinFactNeighborY="316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319AB284-5AC3-4447-9B7B-3942E47C8D47}" type="presOf" srcId="{C297BC53-53BC-4387-8ABE-5C9DFF65925F}" destId="{C35E4CA3-EA84-48EE-9908-8F7D40297B3F}" srcOrd="0" destOrd="0" presId="urn:microsoft.com/office/officeart/2009/3/layout/StepUpProcess"/>
    <dgm:cxn modelId="{18E2380C-8A57-4BF5-8617-3187E32A69C4}" srcId="{160A3EE3-F39A-4458-BC72-D3A3F8099A83}" destId="{C297BC53-53BC-4387-8ABE-5C9DFF65925F}" srcOrd="3" destOrd="0" parTransId="{705AA61C-5F14-4BB9-954C-BBE946F568A1}" sibTransId="{A5485F4F-0DB6-4D50-B6C8-B123C5CFB520}"/>
    <dgm:cxn modelId="{077F0FBF-6A50-497E-9338-0F4EA4291484}" srcId="{160A3EE3-F39A-4458-BC72-D3A3F8099A83}" destId="{75CFA78F-F5C6-42D9-B20F-C4A61691064F}" srcOrd="1" destOrd="0" parTransId="{423C3823-E017-4EFF-B9FB-158B522A346D}" sibTransId="{D698C528-4FEB-42FB-9AC0-BFB8E1B74810}"/>
    <dgm:cxn modelId="{FE9AF49B-F9E6-40BD-9650-26679E14F9AC}" type="presOf" srcId="{F903D5EE-A4D6-4D92-BE7F-EA7CD86F8036}" destId="{96FBE23C-B23D-478E-8FCC-4090A187C2B7}" srcOrd="0" destOrd="0" presId="urn:microsoft.com/office/officeart/2009/3/layout/StepUpProcess"/>
    <dgm:cxn modelId="{A3192569-D5E7-482B-9632-AD238CE00BFE}" type="presOf" srcId="{75CFA78F-F5C6-42D9-B20F-C4A61691064F}" destId="{A880D3DB-FB62-4F25-8CF0-FED1844679B9}" srcOrd="0" destOrd="0" presId="urn:microsoft.com/office/officeart/2009/3/layout/StepUpProcess"/>
    <dgm:cxn modelId="{37276BBD-CA08-49D2-A7BD-9A7063EC1E32}" srcId="{160A3EE3-F39A-4458-BC72-D3A3F8099A83}" destId="{F903D5EE-A4D6-4D92-BE7F-EA7CD86F8036}" srcOrd="2" destOrd="0" parTransId="{D1EE8C39-DA70-4668-B572-724851583040}" sibTransId="{20F1D033-4897-446E-B878-F0B75E7293B5}"/>
    <dgm:cxn modelId="{B9B6D001-B62B-425A-84E7-E31CBA77A78C}" type="presOf" srcId="{19A25DDF-86A1-48F1-9EFE-4FFCC83B74F2}" destId="{E83A76B2-367D-40BB-B7E3-F8D6A0FB93D7}" srcOrd="0" destOrd="0" presId="urn:microsoft.com/office/officeart/2009/3/layout/StepUpProcess"/>
    <dgm:cxn modelId="{34B5E3E5-7C64-45B6-8CEF-E0FB61BD986C}" type="presOf" srcId="{160A3EE3-F39A-4458-BC72-D3A3F8099A83}" destId="{4A677A8B-1B3A-4D46-8251-BE238AB3111E}" srcOrd="0" destOrd="0" presId="urn:microsoft.com/office/officeart/2009/3/layout/StepUpProcess"/>
    <dgm:cxn modelId="{3B5C6024-BA0E-436F-9E7D-E54187419AFA}" srcId="{160A3EE3-F39A-4458-BC72-D3A3F8099A83}" destId="{19A25DDF-86A1-48F1-9EFE-4FFCC83B74F2}" srcOrd="0" destOrd="0" parTransId="{95043503-A5E5-4263-A85D-1EE0D3E53B11}" sibTransId="{1853E243-84DB-45C9-877A-989AA1A6AEB3}"/>
    <dgm:cxn modelId="{B2EDFB87-3003-4ED6-AB33-A8EB7D4F6637}" type="presParOf" srcId="{4A677A8B-1B3A-4D46-8251-BE238AB3111E}" destId="{A4611A64-E54B-4755-B474-F42CE34F8E2A}" srcOrd="0" destOrd="0" presId="urn:microsoft.com/office/officeart/2009/3/layout/StepUpProcess"/>
    <dgm:cxn modelId="{D6AB8A4C-1752-4B41-B108-1685CC51E744}" type="presParOf" srcId="{A4611A64-E54B-4755-B474-F42CE34F8E2A}" destId="{2E7F8BDF-DCAE-46C0-A220-CC3312BC9CB1}" srcOrd="0" destOrd="0" presId="urn:microsoft.com/office/officeart/2009/3/layout/StepUpProcess"/>
    <dgm:cxn modelId="{88E9543B-B7E0-4F9A-9DD9-ADC00014952C}" type="presParOf" srcId="{A4611A64-E54B-4755-B474-F42CE34F8E2A}" destId="{E83A76B2-367D-40BB-B7E3-F8D6A0FB93D7}" srcOrd="1" destOrd="0" presId="urn:microsoft.com/office/officeart/2009/3/layout/StepUpProcess"/>
    <dgm:cxn modelId="{8A11EBD7-1DA8-4CAD-96DA-5B4DB75C9402}" type="presParOf" srcId="{A4611A64-E54B-4755-B474-F42CE34F8E2A}" destId="{41A51D6A-C1D8-4FBB-96F9-B8ECF131FD69}" srcOrd="2" destOrd="0" presId="urn:microsoft.com/office/officeart/2009/3/layout/StepUpProcess"/>
    <dgm:cxn modelId="{4E4FA22E-0F5F-414E-B1C1-76E57CEF162F}" type="presParOf" srcId="{4A677A8B-1B3A-4D46-8251-BE238AB3111E}" destId="{EDFF3E93-18B9-4F3A-80C6-E6DB90101322}" srcOrd="1" destOrd="0" presId="urn:microsoft.com/office/officeart/2009/3/layout/StepUpProcess"/>
    <dgm:cxn modelId="{45B4C5A7-E035-4377-BCAD-2800DD4526B0}" type="presParOf" srcId="{EDFF3E93-18B9-4F3A-80C6-E6DB90101322}" destId="{BF753280-5A89-453D-A8FC-CFD4C4ACA040}" srcOrd="0" destOrd="0" presId="urn:microsoft.com/office/officeart/2009/3/layout/StepUpProcess"/>
    <dgm:cxn modelId="{17186ED1-980A-43D0-B059-28F1631179B1}" type="presParOf" srcId="{4A677A8B-1B3A-4D46-8251-BE238AB3111E}" destId="{486C9F3D-48CA-48A9-BBA0-DDEDA0560FD2}" srcOrd="2" destOrd="0" presId="urn:microsoft.com/office/officeart/2009/3/layout/StepUpProcess"/>
    <dgm:cxn modelId="{4F039511-9D00-4AE4-9676-DF96BC0DE7C3}" type="presParOf" srcId="{486C9F3D-48CA-48A9-BBA0-DDEDA0560FD2}" destId="{FBF9C9DC-EA28-49F0-A0E3-3104F2DC3C6C}" srcOrd="0" destOrd="0" presId="urn:microsoft.com/office/officeart/2009/3/layout/StepUpProcess"/>
    <dgm:cxn modelId="{31119109-5F29-4305-9ED2-8F5530B269D5}" type="presParOf" srcId="{486C9F3D-48CA-48A9-BBA0-DDEDA0560FD2}" destId="{A880D3DB-FB62-4F25-8CF0-FED1844679B9}" srcOrd="1" destOrd="0" presId="urn:microsoft.com/office/officeart/2009/3/layout/StepUpProcess"/>
    <dgm:cxn modelId="{7D4F4586-DE2A-4EA9-9EBE-087F8C2BC1D1}" type="presParOf" srcId="{486C9F3D-48CA-48A9-BBA0-DDEDA0560FD2}" destId="{6E0E4177-3DAB-4E7C-9B45-80DDE7A0ACE9}" srcOrd="2" destOrd="0" presId="urn:microsoft.com/office/officeart/2009/3/layout/StepUpProcess"/>
    <dgm:cxn modelId="{3239FC24-B962-4B47-9BE8-BF8941CF2A6F}" type="presParOf" srcId="{4A677A8B-1B3A-4D46-8251-BE238AB3111E}" destId="{FBDE90E9-9C9D-4D78-8D43-61D5541639E0}" srcOrd="3" destOrd="0" presId="urn:microsoft.com/office/officeart/2009/3/layout/StepUpProcess"/>
    <dgm:cxn modelId="{E668248C-000F-495B-83F9-629673780E01}" type="presParOf" srcId="{FBDE90E9-9C9D-4D78-8D43-61D5541639E0}" destId="{91F33B27-C70E-4E68-8503-8786BD2D3E08}" srcOrd="0" destOrd="0" presId="urn:microsoft.com/office/officeart/2009/3/layout/StepUpProcess"/>
    <dgm:cxn modelId="{852609A1-D58A-4A17-9FF0-4E2982DFDEA2}" type="presParOf" srcId="{4A677A8B-1B3A-4D46-8251-BE238AB3111E}" destId="{A946D850-610C-4B3B-927B-C02D72E5B6C3}" srcOrd="4" destOrd="0" presId="urn:microsoft.com/office/officeart/2009/3/layout/StepUpProcess"/>
    <dgm:cxn modelId="{20AC88B3-E76C-4835-B6A6-CF547A66C675}" type="presParOf" srcId="{A946D850-610C-4B3B-927B-C02D72E5B6C3}" destId="{C090B849-6FF3-48E5-9DED-42FB7FD11B7C}" srcOrd="0" destOrd="0" presId="urn:microsoft.com/office/officeart/2009/3/layout/StepUpProcess"/>
    <dgm:cxn modelId="{F7975FAC-535B-4D22-A73C-93D3C603D3CB}" type="presParOf" srcId="{A946D850-610C-4B3B-927B-C02D72E5B6C3}" destId="{96FBE23C-B23D-478E-8FCC-4090A187C2B7}" srcOrd="1" destOrd="0" presId="urn:microsoft.com/office/officeart/2009/3/layout/StepUpProcess"/>
    <dgm:cxn modelId="{2F719839-B334-4852-BDA8-DD63DB9A52AF}" type="presParOf" srcId="{A946D850-610C-4B3B-927B-C02D72E5B6C3}" destId="{74D89564-9176-44EF-B405-B1785606A48A}" srcOrd="2" destOrd="0" presId="urn:microsoft.com/office/officeart/2009/3/layout/StepUpProcess"/>
    <dgm:cxn modelId="{DBC0CBC1-A6BE-4E59-AACE-194380401D8A}" type="presParOf" srcId="{4A677A8B-1B3A-4D46-8251-BE238AB3111E}" destId="{4D96D9C9-4923-4C01-A8D8-FBC052ED3B72}" srcOrd="5" destOrd="0" presId="urn:microsoft.com/office/officeart/2009/3/layout/StepUpProcess"/>
    <dgm:cxn modelId="{8C6BCD63-5A19-445E-979E-BAE391726107}" type="presParOf" srcId="{4D96D9C9-4923-4C01-A8D8-FBC052ED3B72}" destId="{E6A2A5C6-FCD3-44F3-9A7A-2A0B5AFEB799}" srcOrd="0" destOrd="0" presId="urn:microsoft.com/office/officeart/2009/3/layout/StepUpProcess"/>
    <dgm:cxn modelId="{4C33C384-8450-4910-AE6C-F51AF994D055}" type="presParOf" srcId="{4A677A8B-1B3A-4D46-8251-BE238AB3111E}" destId="{5F2B2AF1-E424-45CE-8E51-FD83023E2F2B}" srcOrd="6" destOrd="0" presId="urn:microsoft.com/office/officeart/2009/3/layout/StepUpProcess"/>
    <dgm:cxn modelId="{A5D7BAC8-4BED-4BBD-AD38-C7CC58D17940}" type="presParOf" srcId="{5F2B2AF1-E424-45CE-8E51-FD83023E2F2B}" destId="{17C62C0E-6D3A-4BDE-99D5-7F25C50975D0}" srcOrd="0" destOrd="0" presId="urn:microsoft.com/office/officeart/2009/3/layout/StepUpProcess"/>
    <dgm:cxn modelId="{B289DF86-B851-4C85-8673-A737F80B36AF}" type="presParOf" srcId="{5F2B2AF1-E424-45CE-8E51-FD83023E2F2B}" destId="{C35E4CA3-EA84-48EE-9908-8F7D40297B3F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020DE25-C6EC-4CDE-9C08-A8E81FFFF53D}" type="doc">
      <dgm:prSet loTypeId="urn:microsoft.com/office/officeart/2005/8/layout/radial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E7137FF-A7F7-4CDD-8239-8C910A0E7A81}">
      <dgm:prSet phldrT="[Text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IN" dirty="0" smtClean="0"/>
            <a:t>Tata AIA Life</a:t>
          </a:r>
          <a:endParaRPr lang="en-IN" dirty="0"/>
        </a:p>
      </dgm:t>
    </dgm:pt>
    <dgm:pt modelId="{3DA5106A-482E-4B4E-8F6E-9DB766BC84D1}" type="parTrans" cxnId="{435EB0A6-F35F-4AB6-8082-C8DA94AB5F82}">
      <dgm:prSet/>
      <dgm:spPr/>
      <dgm:t>
        <a:bodyPr/>
        <a:lstStyle/>
        <a:p>
          <a:endParaRPr lang="en-IN"/>
        </a:p>
      </dgm:t>
    </dgm:pt>
    <dgm:pt modelId="{18E527BD-1C03-447F-B143-FAD3A8276C1A}" type="sibTrans" cxnId="{435EB0A6-F35F-4AB6-8082-C8DA94AB5F82}">
      <dgm:prSet/>
      <dgm:spPr>
        <a:solidFill>
          <a:schemeClr val="bg1">
            <a:lumMod val="65000"/>
          </a:schemeClr>
        </a:solidFill>
      </dgm:spPr>
      <dgm:t>
        <a:bodyPr/>
        <a:lstStyle/>
        <a:p>
          <a:endParaRPr lang="en-IN"/>
        </a:p>
      </dgm:t>
    </dgm:pt>
    <dgm:pt modelId="{A1725C1B-19A0-4836-A058-3279F5909037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IN" dirty="0" smtClean="0"/>
            <a:t>Tata </a:t>
          </a:r>
        </a:p>
        <a:p>
          <a:r>
            <a:rPr lang="en-IN" dirty="0" smtClean="0"/>
            <a:t>Consumer Analytics</a:t>
          </a:r>
          <a:endParaRPr lang="en-IN" dirty="0"/>
        </a:p>
      </dgm:t>
    </dgm:pt>
    <dgm:pt modelId="{C012D4F8-7FC7-4F89-8DEB-1079D4D64B57}" type="parTrans" cxnId="{068FB0F3-1007-4237-A8B9-0FA244B464E8}">
      <dgm:prSet/>
      <dgm:spPr/>
      <dgm:t>
        <a:bodyPr/>
        <a:lstStyle/>
        <a:p>
          <a:endParaRPr lang="en-IN"/>
        </a:p>
      </dgm:t>
    </dgm:pt>
    <dgm:pt modelId="{C282BBA0-2633-401E-BAD0-542235C34304}" type="sibTrans" cxnId="{068FB0F3-1007-4237-A8B9-0FA244B464E8}">
      <dgm:prSet/>
      <dgm:spPr/>
      <dgm:t>
        <a:bodyPr/>
        <a:lstStyle/>
        <a:p>
          <a:endParaRPr lang="en-IN"/>
        </a:p>
      </dgm:t>
    </dgm:pt>
    <dgm:pt modelId="{F56B1B4D-B47F-4CEF-8EC7-19E1C5A7D85D}">
      <dgm:prSet phldrT="[Text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IN" dirty="0" smtClean="0"/>
            <a:t>Operating Model</a:t>
          </a:r>
          <a:endParaRPr lang="en-IN" dirty="0"/>
        </a:p>
      </dgm:t>
    </dgm:pt>
    <dgm:pt modelId="{2E247AC1-D1E0-4AC8-B5E8-6F1F4A43EB6D}" type="sibTrans" cxnId="{E3B9C065-EEB3-4DCD-BF17-972CA1609B98}">
      <dgm:prSet/>
      <dgm:spPr/>
      <dgm:t>
        <a:bodyPr/>
        <a:lstStyle/>
        <a:p>
          <a:endParaRPr lang="en-IN"/>
        </a:p>
      </dgm:t>
    </dgm:pt>
    <dgm:pt modelId="{946B0720-7BDE-4783-90AB-B5E9EB12D8C9}" type="parTrans" cxnId="{E3B9C065-EEB3-4DCD-BF17-972CA1609B98}">
      <dgm:prSet/>
      <dgm:spPr/>
      <dgm:t>
        <a:bodyPr/>
        <a:lstStyle/>
        <a:p>
          <a:endParaRPr lang="en-IN"/>
        </a:p>
      </dgm:t>
    </dgm:pt>
    <dgm:pt modelId="{9AA0B53F-8781-4C57-A929-6110021A8ED6}" type="pres">
      <dgm:prSet presAssocID="{3020DE25-C6EC-4CDE-9C08-A8E81FFFF53D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4AC7AA24-ACCF-4A9A-9A58-14CE57DFD581}" type="pres">
      <dgm:prSet presAssocID="{F56B1B4D-B47F-4CEF-8EC7-19E1C5A7D85D}" presName="centerShape" presStyleLbl="node0" presStyleIdx="0" presStyleCnt="1" custScaleX="88026" custScaleY="79051" custLinFactNeighborX="2910"/>
      <dgm:spPr/>
      <dgm:t>
        <a:bodyPr/>
        <a:lstStyle/>
        <a:p>
          <a:endParaRPr lang="en-IN"/>
        </a:p>
      </dgm:t>
    </dgm:pt>
    <dgm:pt modelId="{3BFC2EF2-94CE-4EDA-B367-AA01D155F9FA}" type="pres">
      <dgm:prSet presAssocID="{AE7137FF-A7F7-4CDD-8239-8C910A0E7A81}" presName="node" presStyleLbl="node1" presStyleIdx="0" presStyleCnt="2" custScaleX="134184" custScaleY="109654" custRadScaleRad="94449" custRadScaleInc="-14496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C61B811-603B-41B6-B989-BAF1F1CD1DE5}" type="pres">
      <dgm:prSet presAssocID="{AE7137FF-A7F7-4CDD-8239-8C910A0E7A81}" presName="dummy" presStyleCnt="0"/>
      <dgm:spPr/>
    </dgm:pt>
    <dgm:pt modelId="{0C560B1C-EFF3-4E37-B7F8-1F8EED1378F0}" type="pres">
      <dgm:prSet presAssocID="{18E527BD-1C03-447F-B143-FAD3A8276C1A}" presName="sibTrans" presStyleLbl="sibTrans2D1" presStyleIdx="0" presStyleCnt="2"/>
      <dgm:spPr/>
      <dgm:t>
        <a:bodyPr/>
        <a:lstStyle/>
        <a:p>
          <a:endParaRPr lang="en-IN"/>
        </a:p>
      </dgm:t>
    </dgm:pt>
    <dgm:pt modelId="{FD3C0A14-C93E-42F6-ABA6-18F1EB58B3A4}" type="pres">
      <dgm:prSet presAssocID="{A1725C1B-19A0-4836-A058-3279F5909037}" presName="node" presStyleLbl="node1" presStyleIdx="1" presStyleCnt="2" custScaleX="134184" custScaleY="109654" custRadScaleRad="108137" custRadScaleInc="-15866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05DC58E-3F5A-4979-A8ED-0659D976C25F}" type="pres">
      <dgm:prSet presAssocID="{A1725C1B-19A0-4836-A058-3279F5909037}" presName="dummy" presStyleCnt="0"/>
      <dgm:spPr/>
    </dgm:pt>
    <dgm:pt modelId="{D4A461F5-25D2-4658-B4A4-D92F01A9018B}" type="pres">
      <dgm:prSet presAssocID="{C282BBA0-2633-401E-BAD0-542235C34304}" presName="sibTrans" presStyleLbl="sibTrans2D1" presStyleIdx="1" presStyleCnt="2"/>
      <dgm:spPr/>
      <dgm:t>
        <a:bodyPr/>
        <a:lstStyle/>
        <a:p>
          <a:endParaRPr lang="en-IN"/>
        </a:p>
      </dgm:t>
    </dgm:pt>
  </dgm:ptLst>
  <dgm:cxnLst>
    <dgm:cxn modelId="{53698BB4-1DE0-489E-AAC1-0AD99E96E7A9}" type="presOf" srcId="{AE7137FF-A7F7-4CDD-8239-8C910A0E7A81}" destId="{3BFC2EF2-94CE-4EDA-B367-AA01D155F9FA}" srcOrd="0" destOrd="0" presId="urn:microsoft.com/office/officeart/2005/8/layout/radial6"/>
    <dgm:cxn modelId="{6D0568A9-27FE-4561-B897-724D08201461}" type="presOf" srcId="{A1725C1B-19A0-4836-A058-3279F5909037}" destId="{FD3C0A14-C93E-42F6-ABA6-18F1EB58B3A4}" srcOrd="0" destOrd="0" presId="urn:microsoft.com/office/officeart/2005/8/layout/radial6"/>
    <dgm:cxn modelId="{E3B9C065-EEB3-4DCD-BF17-972CA1609B98}" srcId="{3020DE25-C6EC-4CDE-9C08-A8E81FFFF53D}" destId="{F56B1B4D-B47F-4CEF-8EC7-19E1C5A7D85D}" srcOrd="0" destOrd="0" parTransId="{946B0720-7BDE-4783-90AB-B5E9EB12D8C9}" sibTransId="{2E247AC1-D1E0-4AC8-B5E8-6F1F4A43EB6D}"/>
    <dgm:cxn modelId="{068FB0F3-1007-4237-A8B9-0FA244B464E8}" srcId="{F56B1B4D-B47F-4CEF-8EC7-19E1C5A7D85D}" destId="{A1725C1B-19A0-4836-A058-3279F5909037}" srcOrd="1" destOrd="0" parTransId="{C012D4F8-7FC7-4F89-8DEB-1079D4D64B57}" sibTransId="{C282BBA0-2633-401E-BAD0-542235C34304}"/>
    <dgm:cxn modelId="{ED71062F-494A-4525-BF67-F3C6F79F3102}" type="presOf" srcId="{C282BBA0-2633-401E-BAD0-542235C34304}" destId="{D4A461F5-25D2-4658-B4A4-D92F01A9018B}" srcOrd="0" destOrd="0" presId="urn:microsoft.com/office/officeart/2005/8/layout/radial6"/>
    <dgm:cxn modelId="{2590B576-5F89-439E-AB7C-D967D72BEC2D}" type="presOf" srcId="{3020DE25-C6EC-4CDE-9C08-A8E81FFFF53D}" destId="{9AA0B53F-8781-4C57-A929-6110021A8ED6}" srcOrd="0" destOrd="0" presId="urn:microsoft.com/office/officeart/2005/8/layout/radial6"/>
    <dgm:cxn modelId="{B2EF4B89-A095-44E0-A6BA-A65F3CBD7CC3}" type="presOf" srcId="{18E527BD-1C03-447F-B143-FAD3A8276C1A}" destId="{0C560B1C-EFF3-4E37-B7F8-1F8EED1378F0}" srcOrd="0" destOrd="0" presId="urn:microsoft.com/office/officeart/2005/8/layout/radial6"/>
    <dgm:cxn modelId="{435EB0A6-F35F-4AB6-8082-C8DA94AB5F82}" srcId="{F56B1B4D-B47F-4CEF-8EC7-19E1C5A7D85D}" destId="{AE7137FF-A7F7-4CDD-8239-8C910A0E7A81}" srcOrd="0" destOrd="0" parTransId="{3DA5106A-482E-4B4E-8F6E-9DB766BC84D1}" sibTransId="{18E527BD-1C03-447F-B143-FAD3A8276C1A}"/>
    <dgm:cxn modelId="{33401DD8-F614-4D28-9680-F62FF2A98171}" type="presOf" srcId="{F56B1B4D-B47F-4CEF-8EC7-19E1C5A7D85D}" destId="{4AC7AA24-ACCF-4A9A-9A58-14CE57DFD581}" srcOrd="0" destOrd="0" presId="urn:microsoft.com/office/officeart/2005/8/layout/radial6"/>
    <dgm:cxn modelId="{AA7535CD-AAF5-4593-9828-817D27960E38}" type="presParOf" srcId="{9AA0B53F-8781-4C57-A929-6110021A8ED6}" destId="{4AC7AA24-ACCF-4A9A-9A58-14CE57DFD581}" srcOrd="0" destOrd="0" presId="urn:microsoft.com/office/officeart/2005/8/layout/radial6"/>
    <dgm:cxn modelId="{ABFC249A-54E9-476E-9914-2E31F05A37FF}" type="presParOf" srcId="{9AA0B53F-8781-4C57-A929-6110021A8ED6}" destId="{3BFC2EF2-94CE-4EDA-B367-AA01D155F9FA}" srcOrd="1" destOrd="0" presId="urn:microsoft.com/office/officeart/2005/8/layout/radial6"/>
    <dgm:cxn modelId="{7BD8678D-7BA0-42E0-B707-8227841CCADA}" type="presParOf" srcId="{9AA0B53F-8781-4C57-A929-6110021A8ED6}" destId="{1C61B811-603B-41B6-B989-BAF1F1CD1DE5}" srcOrd="2" destOrd="0" presId="urn:microsoft.com/office/officeart/2005/8/layout/radial6"/>
    <dgm:cxn modelId="{13D774F6-30FC-41DE-8596-A623B6C70E10}" type="presParOf" srcId="{9AA0B53F-8781-4C57-A929-6110021A8ED6}" destId="{0C560B1C-EFF3-4E37-B7F8-1F8EED1378F0}" srcOrd="3" destOrd="0" presId="urn:microsoft.com/office/officeart/2005/8/layout/radial6"/>
    <dgm:cxn modelId="{FA5F6969-A43E-4178-A75D-794D26170EDF}" type="presParOf" srcId="{9AA0B53F-8781-4C57-A929-6110021A8ED6}" destId="{FD3C0A14-C93E-42F6-ABA6-18F1EB58B3A4}" srcOrd="4" destOrd="0" presId="urn:microsoft.com/office/officeart/2005/8/layout/radial6"/>
    <dgm:cxn modelId="{65407083-052F-4A04-B3E3-A2A14666B0F3}" type="presParOf" srcId="{9AA0B53F-8781-4C57-A929-6110021A8ED6}" destId="{A05DC58E-3F5A-4979-A8ED-0659D976C25F}" srcOrd="5" destOrd="0" presId="urn:microsoft.com/office/officeart/2005/8/layout/radial6"/>
    <dgm:cxn modelId="{CA3881B2-FF74-4D08-9A53-6907BF498C73}" type="presParOf" srcId="{9AA0B53F-8781-4C57-A929-6110021A8ED6}" destId="{D4A461F5-25D2-4658-B4A4-D92F01A9018B}" srcOrd="6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0052D87-8090-48A3-B0FB-1556A603EBE0}" type="doc">
      <dgm:prSet loTypeId="urn:microsoft.com/office/officeart/2005/8/layout/venn2" loCatId="relationship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81165D70-C25E-4317-8FBD-9DD4D2A35C7A}">
      <dgm:prSet phldrT="[Text]"/>
      <dgm:spPr>
        <a:solidFill>
          <a:srgbClr val="BDE1F8"/>
        </a:solidFill>
      </dgm:spPr>
      <dgm:t>
        <a:bodyPr/>
        <a:lstStyle/>
        <a:p>
          <a:r>
            <a:rPr lang="en-IN" dirty="0" smtClean="0">
              <a:solidFill>
                <a:schemeClr val="tx1"/>
              </a:solidFill>
            </a:rPr>
            <a:t>Distribution Analytics</a:t>
          </a:r>
          <a:endParaRPr lang="en-IN" dirty="0">
            <a:solidFill>
              <a:schemeClr val="tx1"/>
            </a:solidFill>
          </a:endParaRPr>
        </a:p>
      </dgm:t>
    </dgm:pt>
    <dgm:pt modelId="{11E1DA62-2F20-4638-A9CE-345579493FC0}" type="parTrans" cxnId="{B23DD64D-33F8-4CE2-B441-B8BE73B824BA}">
      <dgm:prSet/>
      <dgm:spPr/>
      <dgm:t>
        <a:bodyPr/>
        <a:lstStyle/>
        <a:p>
          <a:endParaRPr lang="en-IN"/>
        </a:p>
      </dgm:t>
    </dgm:pt>
    <dgm:pt modelId="{604028FB-B1A4-4106-99DF-07B638563D5B}" type="sibTrans" cxnId="{B23DD64D-33F8-4CE2-B441-B8BE73B824BA}">
      <dgm:prSet/>
      <dgm:spPr/>
      <dgm:t>
        <a:bodyPr/>
        <a:lstStyle/>
        <a:p>
          <a:endParaRPr lang="en-IN"/>
        </a:p>
      </dgm:t>
    </dgm:pt>
    <dgm:pt modelId="{4145D9CD-9FD3-439A-9A33-D5798AA8AC19}">
      <dgm:prSet phldrT="[Text]" custT="1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IN" sz="1200" b="0" dirty="0" smtClean="0">
              <a:solidFill>
                <a:schemeClr val="bg1"/>
              </a:solidFill>
            </a:rPr>
            <a:t>Marketing&amp; Sales</a:t>
          </a:r>
          <a:endParaRPr lang="en-IN" sz="1200" b="0" dirty="0">
            <a:solidFill>
              <a:schemeClr val="bg1"/>
            </a:solidFill>
          </a:endParaRPr>
        </a:p>
      </dgm:t>
    </dgm:pt>
    <dgm:pt modelId="{23B8FECF-46AB-4B2A-8187-9454E27314D5}" type="parTrans" cxnId="{9C1A3790-1C1C-4E4E-866D-37A3A1FC1FF3}">
      <dgm:prSet/>
      <dgm:spPr/>
      <dgm:t>
        <a:bodyPr/>
        <a:lstStyle/>
        <a:p>
          <a:endParaRPr lang="en-IN"/>
        </a:p>
      </dgm:t>
    </dgm:pt>
    <dgm:pt modelId="{D1C9E3AB-4F94-4262-A7EA-76242BC7D2F6}" type="sibTrans" cxnId="{9C1A3790-1C1C-4E4E-866D-37A3A1FC1FF3}">
      <dgm:prSet/>
      <dgm:spPr/>
      <dgm:t>
        <a:bodyPr/>
        <a:lstStyle/>
        <a:p>
          <a:endParaRPr lang="en-IN"/>
        </a:p>
      </dgm:t>
    </dgm:pt>
    <dgm:pt modelId="{EA59194F-B07E-4D92-A0D0-D60EBE66AD40}">
      <dgm:prSet phldrT="[Text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IN" dirty="0" smtClean="0">
              <a:solidFill>
                <a:schemeClr val="tx1"/>
              </a:solidFill>
            </a:rPr>
            <a:t>Claim  Analytics</a:t>
          </a:r>
          <a:endParaRPr lang="en-IN" dirty="0">
            <a:solidFill>
              <a:schemeClr val="tx1"/>
            </a:solidFill>
          </a:endParaRPr>
        </a:p>
      </dgm:t>
    </dgm:pt>
    <dgm:pt modelId="{7A46CA3F-5D70-49CD-AC2F-8B7B4DBECF9B}" type="parTrans" cxnId="{A19EA02C-C5B4-4E3D-9DC9-518BF737A4A0}">
      <dgm:prSet/>
      <dgm:spPr/>
      <dgm:t>
        <a:bodyPr/>
        <a:lstStyle/>
        <a:p>
          <a:endParaRPr lang="en-IN"/>
        </a:p>
      </dgm:t>
    </dgm:pt>
    <dgm:pt modelId="{6E79A76B-4AFE-4EE0-8625-B726FB649DDC}" type="sibTrans" cxnId="{A19EA02C-C5B4-4E3D-9DC9-518BF737A4A0}">
      <dgm:prSet/>
      <dgm:spPr/>
      <dgm:t>
        <a:bodyPr/>
        <a:lstStyle/>
        <a:p>
          <a:endParaRPr lang="en-IN"/>
        </a:p>
      </dgm:t>
    </dgm:pt>
    <dgm:pt modelId="{6E2B08A0-E5BC-4910-B30D-188D35FB6502}">
      <dgm:prSet phldrT="[Text]" custT="1"/>
      <dgm:spPr>
        <a:gradFill flip="none" rotWithShape="0">
          <a:gsLst>
            <a:gs pos="0">
              <a:schemeClr val="tx2">
                <a:shade val="30000"/>
                <a:satMod val="115000"/>
              </a:schemeClr>
            </a:gs>
            <a:gs pos="50000">
              <a:schemeClr val="tx2">
                <a:shade val="67500"/>
                <a:satMod val="115000"/>
              </a:schemeClr>
            </a:gs>
            <a:gs pos="100000">
              <a:schemeClr val="tx2">
                <a:shade val="100000"/>
                <a:satMod val="115000"/>
              </a:schemeClr>
            </a:gs>
          </a:gsLst>
          <a:lin ang="5400000" scaled="1"/>
          <a:tileRect/>
        </a:gradFill>
      </dgm:spPr>
      <dgm:t>
        <a:bodyPr/>
        <a:lstStyle/>
        <a:p>
          <a:endParaRPr lang="en-IN" sz="1400" b="1" dirty="0">
            <a:solidFill>
              <a:schemeClr val="bg1"/>
            </a:solidFill>
          </a:endParaRPr>
        </a:p>
      </dgm:t>
    </dgm:pt>
    <dgm:pt modelId="{4AE60A64-1C48-4F57-9D52-4F2F4C40F9CD}" type="parTrans" cxnId="{594F7A73-DA2D-4D1E-92F9-76B9FCE56830}">
      <dgm:prSet/>
      <dgm:spPr/>
      <dgm:t>
        <a:bodyPr/>
        <a:lstStyle/>
        <a:p>
          <a:endParaRPr lang="en-IN"/>
        </a:p>
      </dgm:t>
    </dgm:pt>
    <dgm:pt modelId="{8A45AC45-B6AE-40E2-8513-2E5980E02004}" type="sibTrans" cxnId="{594F7A73-DA2D-4D1E-92F9-76B9FCE56830}">
      <dgm:prSet/>
      <dgm:spPr/>
      <dgm:t>
        <a:bodyPr/>
        <a:lstStyle/>
        <a:p>
          <a:endParaRPr lang="en-IN"/>
        </a:p>
      </dgm:t>
    </dgm:pt>
    <dgm:pt modelId="{993081E9-C357-479E-BB5E-2F0985635B95}" type="pres">
      <dgm:prSet presAssocID="{40052D87-8090-48A3-B0FB-1556A603EBE0}" presName="Name0" presStyleCnt="0">
        <dgm:presLayoutVars>
          <dgm:chMax val="7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DADCDC52-24D1-4F54-8313-2C5E1162AA32}" type="pres">
      <dgm:prSet presAssocID="{40052D87-8090-48A3-B0FB-1556A603EBE0}" presName="comp1" presStyleCnt="0"/>
      <dgm:spPr/>
    </dgm:pt>
    <dgm:pt modelId="{DA7C500B-7F49-4215-99A8-AAFBBE455DA7}" type="pres">
      <dgm:prSet presAssocID="{40052D87-8090-48A3-B0FB-1556A603EBE0}" presName="circle1" presStyleLbl="node1" presStyleIdx="0" presStyleCnt="4"/>
      <dgm:spPr/>
      <dgm:t>
        <a:bodyPr/>
        <a:lstStyle/>
        <a:p>
          <a:endParaRPr lang="en-IN"/>
        </a:p>
      </dgm:t>
    </dgm:pt>
    <dgm:pt modelId="{0A8D81D8-2FCC-45B5-8F30-03CDC1458693}" type="pres">
      <dgm:prSet presAssocID="{40052D87-8090-48A3-B0FB-1556A603EBE0}" presName="c1text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CC438AD-1DC9-4A35-880E-0DFC84A7AC4E}" type="pres">
      <dgm:prSet presAssocID="{40052D87-8090-48A3-B0FB-1556A603EBE0}" presName="comp2" presStyleCnt="0"/>
      <dgm:spPr/>
    </dgm:pt>
    <dgm:pt modelId="{DFF0EEEA-5465-434C-8CB1-433CE69F30F7}" type="pres">
      <dgm:prSet presAssocID="{40052D87-8090-48A3-B0FB-1556A603EBE0}" presName="circle2" presStyleLbl="node1" presStyleIdx="1" presStyleCnt="4" custLinFactNeighborX="0" custLinFactNeighborY="-29664"/>
      <dgm:spPr/>
      <dgm:t>
        <a:bodyPr/>
        <a:lstStyle/>
        <a:p>
          <a:endParaRPr lang="en-IN"/>
        </a:p>
      </dgm:t>
    </dgm:pt>
    <dgm:pt modelId="{4334C542-99EA-47C4-BDB5-DE58FCAC51B1}" type="pres">
      <dgm:prSet presAssocID="{40052D87-8090-48A3-B0FB-1556A603EBE0}" presName="c2text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7584F0A-3725-4E0F-89F7-95C7F2583975}" type="pres">
      <dgm:prSet presAssocID="{40052D87-8090-48A3-B0FB-1556A603EBE0}" presName="comp3" presStyleCnt="0"/>
      <dgm:spPr/>
    </dgm:pt>
    <dgm:pt modelId="{35A8E4E3-77F7-4A3B-A5F1-B707993C4E3D}" type="pres">
      <dgm:prSet presAssocID="{40052D87-8090-48A3-B0FB-1556A603EBE0}" presName="circle3" presStyleLbl="node1" presStyleIdx="2" presStyleCnt="4" custScaleX="104081" custScaleY="108842" custLinFactNeighborX="-810" custLinFactNeighborY="-87722"/>
      <dgm:spPr/>
      <dgm:t>
        <a:bodyPr/>
        <a:lstStyle/>
        <a:p>
          <a:endParaRPr lang="en-IN"/>
        </a:p>
      </dgm:t>
    </dgm:pt>
    <dgm:pt modelId="{8D7BD580-BF1B-44F2-B9D0-9BA008CBDAEB}" type="pres">
      <dgm:prSet presAssocID="{40052D87-8090-48A3-B0FB-1556A603EBE0}" presName="c3text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214D2C5-F333-40F2-B1DD-3097CF0B407D}" type="pres">
      <dgm:prSet presAssocID="{40052D87-8090-48A3-B0FB-1556A603EBE0}" presName="comp4" presStyleCnt="0"/>
      <dgm:spPr/>
    </dgm:pt>
    <dgm:pt modelId="{1BE3B7FC-51E0-40B5-8A7D-92A1E311E797}" type="pres">
      <dgm:prSet presAssocID="{40052D87-8090-48A3-B0FB-1556A603EBE0}" presName="circle4" presStyleLbl="node1" presStyleIdx="3" presStyleCnt="4" custLinFactY="-46781" custLinFactNeighborY="-100000"/>
      <dgm:spPr/>
      <dgm:t>
        <a:bodyPr/>
        <a:lstStyle/>
        <a:p>
          <a:endParaRPr lang="en-IN"/>
        </a:p>
      </dgm:t>
    </dgm:pt>
    <dgm:pt modelId="{EE27143A-617B-4D6B-A57C-BA1991DD0001}" type="pres">
      <dgm:prSet presAssocID="{40052D87-8090-48A3-B0FB-1556A603EBE0}" presName="c4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9C1A3790-1C1C-4E4E-866D-37A3A1FC1FF3}" srcId="{40052D87-8090-48A3-B0FB-1556A603EBE0}" destId="{4145D9CD-9FD3-439A-9A33-D5798AA8AC19}" srcOrd="2" destOrd="0" parTransId="{23B8FECF-46AB-4B2A-8187-9454E27314D5}" sibTransId="{D1C9E3AB-4F94-4262-A7EA-76242BC7D2F6}"/>
    <dgm:cxn modelId="{A19EA02C-C5B4-4E3D-9DC9-518BF737A4A0}" srcId="{40052D87-8090-48A3-B0FB-1556A603EBE0}" destId="{EA59194F-B07E-4D92-A0D0-D60EBE66AD40}" srcOrd="1" destOrd="0" parTransId="{7A46CA3F-5D70-49CD-AC2F-8B7B4DBECF9B}" sibTransId="{6E79A76B-4AFE-4EE0-8625-B726FB649DDC}"/>
    <dgm:cxn modelId="{E5EF66C2-8D35-45C0-889D-0EA0DBCE7E6B}" type="presOf" srcId="{4145D9CD-9FD3-439A-9A33-D5798AA8AC19}" destId="{35A8E4E3-77F7-4A3B-A5F1-B707993C4E3D}" srcOrd="0" destOrd="0" presId="urn:microsoft.com/office/officeart/2005/8/layout/venn2"/>
    <dgm:cxn modelId="{B23DD64D-33F8-4CE2-B441-B8BE73B824BA}" srcId="{40052D87-8090-48A3-B0FB-1556A603EBE0}" destId="{81165D70-C25E-4317-8FBD-9DD4D2A35C7A}" srcOrd="0" destOrd="0" parTransId="{11E1DA62-2F20-4638-A9CE-345579493FC0}" sibTransId="{604028FB-B1A4-4106-99DF-07B638563D5B}"/>
    <dgm:cxn modelId="{DEA39268-0787-4EDD-9BCD-E413FA523DE3}" type="presOf" srcId="{6E2B08A0-E5BC-4910-B30D-188D35FB6502}" destId="{EE27143A-617B-4D6B-A57C-BA1991DD0001}" srcOrd="1" destOrd="0" presId="urn:microsoft.com/office/officeart/2005/8/layout/venn2"/>
    <dgm:cxn modelId="{E298B7FE-4AD4-4217-9983-147B1737A7CB}" type="presOf" srcId="{81165D70-C25E-4317-8FBD-9DD4D2A35C7A}" destId="{0A8D81D8-2FCC-45B5-8F30-03CDC1458693}" srcOrd="1" destOrd="0" presId="urn:microsoft.com/office/officeart/2005/8/layout/venn2"/>
    <dgm:cxn modelId="{B3D91649-BA3A-465A-A40C-59A1B77294FF}" type="presOf" srcId="{6E2B08A0-E5BC-4910-B30D-188D35FB6502}" destId="{1BE3B7FC-51E0-40B5-8A7D-92A1E311E797}" srcOrd="0" destOrd="0" presId="urn:microsoft.com/office/officeart/2005/8/layout/venn2"/>
    <dgm:cxn modelId="{76A0817A-5FF4-41AC-8A86-45D55BCE700A}" type="presOf" srcId="{81165D70-C25E-4317-8FBD-9DD4D2A35C7A}" destId="{DA7C500B-7F49-4215-99A8-AAFBBE455DA7}" srcOrd="0" destOrd="0" presId="urn:microsoft.com/office/officeart/2005/8/layout/venn2"/>
    <dgm:cxn modelId="{594F7A73-DA2D-4D1E-92F9-76B9FCE56830}" srcId="{40052D87-8090-48A3-B0FB-1556A603EBE0}" destId="{6E2B08A0-E5BC-4910-B30D-188D35FB6502}" srcOrd="3" destOrd="0" parTransId="{4AE60A64-1C48-4F57-9D52-4F2F4C40F9CD}" sibTransId="{8A45AC45-B6AE-40E2-8513-2E5980E02004}"/>
    <dgm:cxn modelId="{12E41049-EE3A-4646-B871-7BAA45154FCE}" type="presOf" srcId="{4145D9CD-9FD3-439A-9A33-D5798AA8AC19}" destId="{8D7BD580-BF1B-44F2-B9D0-9BA008CBDAEB}" srcOrd="1" destOrd="0" presId="urn:microsoft.com/office/officeart/2005/8/layout/venn2"/>
    <dgm:cxn modelId="{D3CF0380-AF75-44E5-9554-96B8E999FF8D}" type="presOf" srcId="{40052D87-8090-48A3-B0FB-1556A603EBE0}" destId="{993081E9-C357-479E-BB5E-2F0985635B95}" srcOrd="0" destOrd="0" presId="urn:microsoft.com/office/officeart/2005/8/layout/venn2"/>
    <dgm:cxn modelId="{232B690D-9B89-48F3-BF50-47C982F17706}" type="presOf" srcId="{EA59194F-B07E-4D92-A0D0-D60EBE66AD40}" destId="{4334C542-99EA-47C4-BDB5-DE58FCAC51B1}" srcOrd="1" destOrd="0" presId="urn:microsoft.com/office/officeart/2005/8/layout/venn2"/>
    <dgm:cxn modelId="{8CDE2E6A-100F-4DD2-9558-629C4EA6E7EE}" type="presOf" srcId="{EA59194F-B07E-4D92-A0D0-D60EBE66AD40}" destId="{DFF0EEEA-5465-434C-8CB1-433CE69F30F7}" srcOrd="0" destOrd="0" presId="urn:microsoft.com/office/officeart/2005/8/layout/venn2"/>
    <dgm:cxn modelId="{B36439F4-80D0-4F07-BD9B-07AB645AB206}" type="presParOf" srcId="{993081E9-C357-479E-BB5E-2F0985635B95}" destId="{DADCDC52-24D1-4F54-8313-2C5E1162AA32}" srcOrd="0" destOrd="0" presId="urn:microsoft.com/office/officeart/2005/8/layout/venn2"/>
    <dgm:cxn modelId="{E48EDACF-926E-4936-9B15-6226BC72E6E1}" type="presParOf" srcId="{DADCDC52-24D1-4F54-8313-2C5E1162AA32}" destId="{DA7C500B-7F49-4215-99A8-AAFBBE455DA7}" srcOrd="0" destOrd="0" presId="urn:microsoft.com/office/officeart/2005/8/layout/venn2"/>
    <dgm:cxn modelId="{C2A6D3B0-EECD-4942-9BC6-D9870B87BC81}" type="presParOf" srcId="{DADCDC52-24D1-4F54-8313-2C5E1162AA32}" destId="{0A8D81D8-2FCC-45B5-8F30-03CDC1458693}" srcOrd="1" destOrd="0" presId="urn:microsoft.com/office/officeart/2005/8/layout/venn2"/>
    <dgm:cxn modelId="{2602CEA5-1108-49BD-A56B-728D1A45567C}" type="presParOf" srcId="{993081E9-C357-479E-BB5E-2F0985635B95}" destId="{DCC438AD-1DC9-4A35-880E-0DFC84A7AC4E}" srcOrd="1" destOrd="0" presId="urn:microsoft.com/office/officeart/2005/8/layout/venn2"/>
    <dgm:cxn modelId="{696FBF05-7FE6-437D-A2DE-B3A959C6E8EB}" type="presParOf" srcId="{DCC438AD-1DC9-4A35-880E-0DFC84A7AC4E}" destId="{DFF0EEEA-5465-434C-8CB1-433CE69F30F7}" srcOrd="0" destOrd="0" presId="urn:microsoft.com/office/officeart/2005/8/layout/venn2"/>
    <dgm:cxn modelId="{35560F44-5031-4E0D-84DC-3006D2A99292}" type="presParOf" srcId="{DCC438AD-1DC9-4A35-880E-0DFC84A7AC4E}" destId="{4334C542-99EA-47C4-BDB5-DE58FCAC51B1}" srcOrd="1" destOrd="0" presId="urn:microsoft.com/office/officeart/2005/8/layout/venn2"/>
    <dgm:cxn modelId="{BA4F2854-78D2-4C73-8E85-FCD85EBBEFDB}" type="presParOf" srcId="{993081E9-C357-479E-BB5E-2F0985635B95}" destId="{27584F0A-3725-4E0F-89F7-95C7F2583975}" srcOrd="2" destOrd="0" presId="urn:microsoft.com/office/officeart/2005/8/layout/venn2"/>
    <dgm:cxn modelId="{75160B78-6041-4DC0-8B74-E8EB51772B69}" type="presParOf" srcId="{27584F0A-3725-4E0F-89F7-95C7F2583975}" destId="{35A8E4E3-77F7-4A3B-A5F1-B707993C4E3D}" srcOrd="0" destOrd="0" presId="urn:microsoft.com/office/officeart/2005/8/layout/venn2"/>
    <dgm:cxn modelId="{37E422C1-39A6-4F3E-A3BF-C030AD8C1B48}" type="presParOf" srcId="{27584F0A-3725-4E0F-89F7-95C7F2583975}" destId="{8D7BD580-BF1B-44F2-B9D0-9BA008CBDAEB}" srcOrd="1" destOrd="0" presId="urn:microsoft.com/office/officeart/2005/8/layout/venn2"/>
    <dgm:cxn modelId="{21E156AC-B13C-4E10-9D20-C4EE34A376FC}" type="presParOf" srcId="{993081E9-C357-479E-BB5E-2F0985635B95}" destId="{7214D2C5-F333-40F2-B1DD-3097CF0B407D}" srcOrd="3" destOrd="0" presId="urn:microsoft.com/office/officeart/2005/8/layout/venn2"/>
    <dgm:cxn modelId="{94F85280-7072-4848-88AA-3FACAC533FCB}" type="presParOf" srcId="{7214D2C5-F333-40F2-B1DD-3097CF0B407D}" destId="{1BE3B7FC-51E0-40B5-8A7D-92A1E311E797}" srcOrd="0" destOrd="0" presId="urn:microsoft.com/office/officeart/2005/8/layout/venn2"/>
    <dgm:cxn modelId="{0CCE9C1C-8C0E-4395-B542-DCF096B74DDA}" type="presParOf" srcId="{7214D2C5-F333-40F2-B1DD-3097CF0B407D}" destId="{EE27143A-617B-4D6B-A57C-BA1991DD0001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89DC53-0C5C-4412-8CEE-19C6A961C3C3}">
      <dsp:nvSpPr>
        <dsp:cNvPr id="0" name=""/>
        <dsp:cNvSpPr/>
      </dsp:nvSpPr>
      <dsp:spPr>
        <a:xfrm>
          <a:off x="6066659" y="4916913"/>
          <a:ext cx="133665" cy="133665"/>
        </a:xfrm>
        <a:prstGeom prst="ellipse">
          <a:avLst/>
        </a:prstGeom>
        <a:solidFill>
          <a:schemeClr val="accent5">
            <a:shade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2B61882-587B-47E3-831D-B2804B2B2868}">
      <dsp:nvSpPr>
        <dsp:cNvPr id="0" name=""/>
        <dsp:cNvSpPr/>
      </dsp:nvSpPr>
      <dsp:spPr>
        <a:xfrm>
          <a:off x="5814701" y="5038203"/>
          <a:ext cx="133665" cy="133665"/>
        </a:xfrm>
        <a:prstGeom prst="ellipse">
          <a:avLst/>
        </a:prstGeom>
        <a:solidFill>
          <a:schemeClr val="accent5">
            <a:shade val="50000"/>
            <a:hueOff val="31042"/>
            <a:satOff val="5914"/>
            <a:lumOff val="5971"/>
            <a:alphaOff val="0"/>
          </a:schemeClr>
        </a:solidFill>
        <a:ln w="19050" cap="rnd" cmpd="sng" algn="ctr">
          <a:solidFill>
            <a:schemeClr val="accent5">
              <a:shade val="50000"/>
              <a:hueOff val="31042"/>
              <a:satOff val="5914"/>
              <a:lumOff val="59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9B76545-8482-4339-8159-D6DB46C8DFEB}">
      <dsp:nvSpPr>
        <dsp:cNvPr id="0" name=""/>
        <dsp:cNvSpPr/>
      </dsp:nvSpPr>
      <dsp:spPr>
        <a:xfrm>
          <a:off x="5550712" y="5134009"/>
          <a:ext cx="133665" cy="133665"/>
        </a:xfrm>
        <a:prstGeom prst="ellipse">
          <a:avLst/>
        </a:prstGeom>
        <a:solidFill>
          <a:schemeClr val="accent5">
            <a:shade val="50000"/>
            <a:hueOff val="62084"/>
            <a:satOff val="11829"/>
            <a:lumOff val="11942"/>
            <a:alphaOff val="0"/>
          </a:schemeClr>
        </a:solidFill>
        <a:ln w="19050" cap="rnd" cmpd="sng" algn="ctr">
          <a:solidFill>
            <a:schemeClr val="accent5">
              <a:shade val="50000"/>
              <a:hueOff val="62084"/>
              <a:satOff val="11829"/>
              <a:lumOff val="1194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2D73499-5901-4FED-A1AB-6F4734E972A6}">
      <dsp:nvSpPr>
        <dsp:cNvPr id="0" name=""/>
        <dsp:cNvSpPr/>
      </dsp:nvSpPr>
      <dsp:spPr>
        <a:xfrm>
          <a:off x="7276330" y="3512866"/>
          <a:ext cx="133665" cy="133665"/>
        </a:xfrm>
        <a:prstGeom prst="ellipse">
          <a:avLst/>
        </a:prstGeom>
        <a:solidFill>
          <a:schemeClr val="accent5">
            <a:shade val="50000"/>
            <a:hueOff val="93127"/>
            <a:satOff val="17743"/>
            <a:lumOff val="17913"/>
            <a:alphaOff val="0"/>
          </a:schemeClr>
        </a:solidFill>
        <a:ln w="19050" cap="rnd" cmpd="sng" algn="ctr">
          <a:solidFill>
            <a:schemeClr val="accent5">
              <a:shade val="50000"/>
              <a:hueOff val="93127"/>
              <a:satOff val="17743"/>
              <a:lumOff val="179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C116175-7BD3-4C6C-899E-3825CFF57B88}">
      <dsp:nvSpPr>
        <dsp:cNvPr id="0" name=""/>
        <dsp:cNvSpPr/>
      </dsp:nvSpPr>
      <dsp:spPr>
        <a:xfrm>
          <a:off x="7174744" y="3759695"/>
          <a:ext cx="133665" cy="133665"/>
        </a:xfrm>
        <a:prstGeom prst="ellipse">
          <a:avLst/>
        </a:prstGeom>
        <a:solidFill>
          <a:schemeClr val="accent5">
            <a:shade val="50000"/>
            <a:hueOff val="124169"/>
            <a:satOff val="23657"/>
            <a:lumOff val="23884"/>
            <a:alphaOff val="0"/>
          </a:schemeClr>
        </a:solidFill>
        <a:ln w="19050" cap="rnd" cmpd="sng" algn="ctr">
          <a:solidFill>
            <a:schemeClr val="accent5">
              <a:shade val="50000"/>
              <a:hueOff val="124169"/>
              <a:satOff val="23657"/>
              <a:lumOff val="238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0E57A1-393C-4027-ACB9-99BB73DEA4AC}">
      <dsp:nvSpPr>
        <dsp:cNvPr id="0" name=""/>
        <dsp:cNvSpPr/>
      </dsp:nvSpPr>
      <dsp:spPr>
        <a:xfrm>
          <a:off x="7102565" y="1654806"/>
          <a:ext cx="133665" cy="133665"/>
        </a:xfrm>
        <a:prstGeom prst="ellipse">
          <a:avLst/>
        </a:prstGeom>
        <a:solidFill>
          <a:schemeClr val="accent5">
            <a:shade val="50000"/>
            <a:hueOff val="155211"/>
            <a:satOff val="29572"/>
            <a:lumOff val="29855"/>
            <a:alphaOff val="0"/>
          </a:schemeClr>
        </a:solidFill>
        <a:ln w="19050" cap="rnd" cmpd="sng" algn="ctr">
          <a:solidFill>
            <a:schemeClr val="accent5">
              <a:shade val="50000"/>
              <a:hueOff val="155211"/>
              <a:satOff val="29572"/>
              <a:lumOff val="298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28B11A1-7484-4C10-8571-DECF0F5412C9}">
      <dsp:nvSpPr>
        <dsp:cNvPr id="0" name=""/>
        <dsp:cNvSpPr/>
      </dsp:nvSpPr>
      <dsp:spPr>
        <a:xfrm>
          <a:off x="7288359" y="1536819"/>
          <a:ext cx="133665" cy="133665"/>
        </a:xfrm>
        <a:prstGeom prst="ellipse">
          <a:avLst/>
        </a:prstGeom>
        <a:solidFill>
          <a:schemeClr val="accent5">
            <a:shade val="50000"/>
            <a:hueOff val="186253"/>
            <a:satOff val="35486"/>
            <a:lumOff val="35826"/>
            <a:alphaOff val="0"/>
          </a:schemeClr>
        </a:solidFill>
        <a:ln w="19050" cap="rnd" cmpd="sng" algn="ctr">
          <a:solidFill>
            <a:schemeClr val="accent5">
              <a:shade val="50000"/>
              <a:hueOff val="186253"/>
              <a:satOff val="35486"/>
              <a:lumOff val="358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EC5EDB5-5A85-4905-9D54-82E753CC28EE}">
      <dsp:nvSpPr>
        <dsp:cNvPr id="0" name=""/>
        <dsp:cNvSpPr/>
      </dsp:nvSpPr>
      <dsp:spPr>
        <a:xfrm>
          <a:off x="7474154" y="1418832"/>
          <a:ext cx="133665" cy="133665"/>
        </a:xfrm>
        <a:prstGeom prst="ellipse">
          <a:avLst/>
        </a:prstGeom>
        <a:solidFill>
          <a:schemeClr val="accent5">
            <a:shade val="50000"/>
            <a:hueOff val="155211"/>
            <a:satOff val="29572"/>
            <a:lumOff val="29855"/>
            <a:alphaOff val="0"/>
          </a:schemeClr>
        </a:solidFill>
        <a:ln w="19050" cap="rnd" cmpd="sng" algn="ctr">
          <a:solidFill>
            <a:schemeClr val="accent5">
              <a:shade val="50000"/>
              <a:hueOff val="155211"/>
              <a:satOff val="29572"/>
              <a:lumOff val="298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D2BCBC1-97FE-4BA2-959F-5C3AF67B3B2B}">
      <dsp:nvSpPr>
        <dsp:cNvPr id="0" name=""/>
        <dsp:cNvSpPr/>
      </dsp:nvSpPr>
      <dsp:spPr>
        <a:xfrm>
          <a:off x="7659949" y="1536819"/>
          <a:ext cx="133665" cy="133665"/>
        </a:xfrm>
        <a:prstGeom prst="ellipse">
          <a:avLst/>
        </a:prstGeom>
        <a:solidFill>
          <a:schemeClr val="accent5">
            <a:shade val="50000"/>
            <a:hueOff val="124169"/>
            <a:satOff val="23657"/>
            <a:lumOff val="23884"/>
            <a:alphaOff val="0"/>
          </a:schemeClr>
        </a:solidFill>
        <a:ln w="19050" cap="rnd" cmpd="sng" algn="ctr">
          <a:solidFill>
            <a:schemeClr val="accent5">
              <a:shade val="50000"/>
              <a:hueOff val="124169"/>
              <a:satOff val="23657"/>
              <a:lumOff val="238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E7477A9-46C1-4444-885E-F81CABB24102}">
      <dsp:nvSpPr>
        <dsp:cNvPr id="0" name=""/>
        <dsp:cNvSpPr/>
      </dsp:nvSpPr>
      <dsp:spPr>
        <a:xfrm>
          <a:off x="7845743" y="1654806"/>
          <a:ext cx="133665" cy="133665"/>
        </a:xfrm>
        <a:prstGeom prst="ellipse">
          <a:avLst/>
        </a:prstGeom>
        <a:solidFill>
          <a:schemeClr val="accent5">
            <a:shade val="50000"/>
            <a:hueOff val="93127"/>
            <a:satOff val="17743"/>
            <a:lumOff val="17913"/>
            <a:alphaOff val="0"/>
          </a:schemeClr>
        </a:solidFill>
        <a:ln w="19050" cap="rnd" cmpd="sng" algn="ctr">
          <a:solidFill>
            <a:schemeClr val="accent5">
              <a:shade val="50000"/>
              <a:hueOff val="93127"/>
              <a:satOff val="17743"/>
              <a:lumOff val="179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B9D041D-E0EC-45E2-B120-9BC0C8C37F79}">
      <dsp:nvSpPr>
        <dsp:cNvPr id="0" name=""/>
        <dsp:cNvSpPr/>
      </dsp:nvSpPr>
      <dsp:spPr>
        <a:xfrm>
          <a:off x="7474154" y="1667548"/>
          <a:ext cx="133665" cy="133665"/>
        </a:xfrm>
        <a:prstGeom prst="ellipse">
          <a:avLst/>
        </a:prstGeom>
        <a:solidFill>
          <a:schemeClr val="accent5">
            <a:shade val="50000"/>
            <a:hueOff val="62084"/>
            <a:satOff val="11829"/>
            <a:lumOff val="11942"/>
            <a:alphaOff val="0"/>
          </a:schemeClr>
        </a:solidFill>
        <a:ln w="19050" cap="rnd" cmpd="sng" algn="ctr">
          <a:solidFill>
            <a:schemeClr val="accent5">
              <a:shade val="50000"/>
              <a:hueOff val="62084"/>
              <a:satOff val="11829"/>
              <a:lumOff val="1194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B11E062-E9B9-43C0-957E-BD20E779482B}">
      <dsp:nvSpPr>
        <dsp:cNvPr id="0" name=""/>
        <dsp:cNvSpPr/>
      </dsp:nvSpPr>
      <dsp:spPr>
        <a:xfrm>
          <a:off x="7474154" y="1916737"/>
          <a:ext cx="133665" cy="133665"/>
        </a:xfrm>
        <a:prstGeom prst="ellipse">
          <a:avLst/>
        </a:prstGeom>
        <a:solidFill>
          <a:schemeClr val="accent5">
            <a:shade val="50000"/>
            <a:hueOff val="31042"/>
            <a:satOff val="5914"/>
            <a:lumOff val="5971"/>
            <a:alphaOff val="0"/>
          </a:schemeClr>
        </a:solidFill>
        <a:ln w="19050" cap="rnd" cmpd="sng" algn="ctr">
          <a:solidFill>
            <a:schemeClr val="accent5">
              <a:shade val="50000"/>
              <a:hueOff val="31042"/>
              <a:satOff val="5914"/>
              <a:lumOff val="59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4568C37-428C-4CDA-9B2B-9DD15ACDA6B0}">
      <dsp:nvSpPr>
        <dsp:cNvPr id="0" name=""/>
        <dsp:cNvSpPr/>
      </dsp:nvSpPr>
      <dsp:spPr>
        <a:xfrm>
          <a:off x="4961831" y="5426273"/>
          <a:ext cx="2883158" cy="532655"/>
        </a:xfrm>
        <a:prstGeom prst="roundRect">
          <a:avLst/>
        </a:prstGeom>
        <a:solidFill>
          <a:schemeClr val="accent5">
            <a:shade val="50000"/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10269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chemeClr val="bg1"/>
              </a:solidFill>
            </a:rPr>
            <a:t>Single Tenant</a:t>
          </a:r>
          <a:endParaRPr lang="en-IN" sz="1800" kern="1200" dirty="0">
            <a:solidFill>
              <a:schemeClr val="bg1"/>
            </a:solidFill>
          </a:endParaRPr>
        </a:p>
      </dsp:txBody>
      <dsp:txXfrm>
        <a:off x="4987833" y="5452275"/>
        <a:ext cx="2831154" cy="480651"/>
      </dsp:txXfrm>
    </dsp:sp>
    <dsp:sp modelId="{EAB5CE4D-F253-4191-A001-1853051EF29B}">
      <dsp:nvSpPr>
        <dsp:cNvPr id="0" name=""/>
        <dsp:cNvSpPr/>
      </dsp:nvSpPr>
      <dsp:spPr>
        <a:xfrm>
          <a:off x="4099776" y="4660506"/>
          <a:ext cx="1336652" cy="1336557"/>
        </a:xfrm>
        <a:prstGeom prst="ellipse">
          <a:avLst/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746A789-1E1B-4F15-BE25-A4D8E959C674}">
      <dsp:nvSpPr>
        <dsp:cNvPr id="0" name=""/>
        <dsp:cNvSpPr/>
      </dsp:nvSpPr>
      <dsp:spPr>
        <a:xfrm>
          <a:off x="6798128" y="4112770"/>
          <a:ext cx="2883158" cy="532655"/>
        </a:xfrm>
        <a:prstGeom prst="roundRect">
          <a:avLst/>
        </a:prstGeom>
        <a:solidFill>
          <a:schemeClr val="accent5">
            <a:shade val="50000"/>
            <a:hueOff val="124169"/>
            <a:satOff val="23657"/>
            <a:lumOff val="23884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10269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chemeClr val="tx2"/>
              </a:solidFill>
            </a:rPr>
            <a:t>Multi Tenant</a:t>
          </a:r>
          <a:endParaRPr lang="en-IN" sz="1800" kern="1200" dirty="0">
            <a:solidFill>
              <a:schemeClr val="tx2"/>
            </a:solidFill>
          </a:endParaRPr>
        </a:p>
      </dsp:txBody>
      <dsp:txXfrm>
        <a:off x="6824130" y="4138772"/>
        <a:ext cx="2831154" cy="480651"/>
      </dsp:txXfrm>
    </dsp:sp>
    <dsp:sp modelId="{720CE90B-C5EC-47AD-A458-F2DC5C9A7675}">
      <dsp:nvSpPr>
        <dsp:cNvPr id="0" name=""/>
        <dsp:cNvSpPr/>
      </dsp:nvSpPr>
      <dsp:spPr>
        <a:xfrm>
          <a:off x="5954381" y="3656672"/>
          <a:ext cx="1336652" cy="1336557"/>
        </a:xfrm>
        <a:prstGeom prst="ellipse">
          <a:avLst/>
        </a:prstGeom>
        <a:solidFill>
          <a:schemeClr val="accent5">
            <a:tint val="50000"/>
            <a:hueOff val="-6758"/>
            <a:satOff val="198"/>
            <a:lumOff val="-722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2017532-C082-4547-82B0-ED99C3BA7D77}">
      <dsp:nvSpPr>
        <dsp:cNvPr id="0" name=""/>
        <dsp:cNvSpPr/>
      </dsp:nvSpPr>
      <dsp:spPr>
        <a:xfrm>
          <a:off x="7653641" y="2510134"/>
          <a:ext cx="4796595" cy="673513"/>
        </a:xfrm>
        <a:prstGeom prst="roundRect">
          <a:avLst/>
        </a:prstGeom>
        <a:solidFill>
          <a:schemeClr val="accent5">
            <a:shade val="50000"/>
            <a:hueOff val="124169"/>
            <a:satOff val="23657"/>
            <a:lumOff val="23884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10269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chemeClr val="tx2"/>
              </a:solidFill>
            </a:rPr>
            <a:t>One</a:t>
          </a:r>
          <a:r>
            <a:rPr lang="en-US" sz="1800" kern="1200" baseline="0" dirty="0" smtClean="0">
              <a:solidFill>
                <a:schemeClr val="tx2"/>
              </a:solidFill>
            </a:rPr>
            <a:t> Tata</a:t>
          </a:r>
          <a:endParaRPr lang="en-IN" sz="1800" kern="1200" dirty="0">
            <a:solidFill>
              <a:schemeClr val="tx2"/>
            </a:solidFill>
          </a:endParaRPr>
        </a:p>
      </dsp:txBody>
      <dsp:txXfrm>
        <a:off x="7686519" y="2543012"/>
        <a:ext cx="4730839" cy="607757"/>
      </dsp:txXfrm>
    </dsp:sp>
    <dsp:sp modelId="{305520A3-EDB6-47CC-8C41-9D1A1D8212E6}">
      <dsp:nvSpPr>
        <dsp:cNvPr id="0" name=""/>
        <dsp:cNvSpPr/>
      </dsp:nvSpPr>
      <dsp:spPr>
        <a:xfrm>
          <a:off x="6805828" y="2118929"/>
          <a:ext cx="1336652" cy="1336557"/>
        </a:xfrm>
        <a:prstGeom prst="ellipse">
          <a:avLst/>
        </a:prstGeom>
        <a:solidFill>
          <a:schemeClr val="accent5">
            <a:tint val="50000"/>
            <a:hueOff val="-13516"/>
            <a:satOff val="396"/>
            <a:lumOff val="-1443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4#1">
  <dgm:title val=""/>
  <dgm:desc val=""/>
  <dgm:catLst>
    <dgm:cat type="relationship" pri="26000"/>
    <dgm:cat type="cycle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3C81A5-E780-4740-8FFC-D4B70F1CBAF0}" type="datetimeFigureOut">
              <a:rPr lang="en-IN" smtClean="0"/>
              <a:pPr/>
              <a:t>20-07-2015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F3A600-E9C9-4F6F-9259-2CD4C941B10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225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C80FA6-BA02-4C3D-AB3D-7F99A89BBA54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895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>
                <a:solidFill>
                  <a:prstClr val="black"/>
                </a:solidFill>
              </a:rPr>
              <a:pPr/>
              <a:t>6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013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423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838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650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481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224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586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8728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765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3F1C2D-DCC2-432B-804F-3A8560B4A0B5}" type="slidenum">
              <a:rPr lang="en-IN" smtClean="0"/>
              <a:pPr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608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7661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6015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0804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3095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F3A600-E9C9-4F6F-9259-2CD4C941B10C}" type="slidenum">
              <a:rPr lang="en-IN" smtClean="0"/>
              <a:pPr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253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1B97-C155-4CFC-AA97-CF72E949F1D8}" type="datetime1">
              <a:rPr lang="en-US" smtClean="0"/>
              <a:pPr/>
              <a:t>7/20/2015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5522-3AA0-4A80-92C7-2AC281EBADF4}" type="datetime1">
              <a:rPr lang="en-US" smtClean="0"/>
              <a:pPr/>
              <a:t>7/20/2015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E34B9-F39B-4A6F-8022-0CCE308A2419}" type="datetime1">
              <a:rPr lang="en-US" smtClean="0"/>
              <a:pPr/>
              <a:t>7/20/2015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1948E-581D-4169-8736-D78C52183DC6}" type="datetime1">
              <a:rPr lang="en-US" smtClean="0"/>
              <a:pPr/>
              <a:t>7/20/2015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sz="1800" b="0" i="0" kern="12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A0C7-AADD-421B-8FBC-91AD055047E0}" type="datetime1">
              <a:rPr lang="en-US" smtClean="0"/>
              <a:pPr/>
              <a:t>7/20/2015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BE4F3-E305-4ED2-971B-C2A5123F3D9C}" type="datetime1">
              <a:rPr lang="en-US" smtClean="0"/>
              <a:pPr/>
              <a:t>7/20/2015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C74D-C361-4376-8174-AE28B7E8A445}" type="datetime1">
              <a:rPr lang="en-US" smtClean="0"/>
              <a:pPr/>
              <a:t>7/20/2015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2ABCB-FCE6-4FC8-9691-E916C6279CCA}" type="datetime1">
              <a:rPr lang="en-US" smtClean="0"/>
              <a:pPr/>
              <a:t>7/20/2015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EE84-D85D-497A-9A5B-2C115F808617}" type="datetime1">
              <a:rPr lang="en-US" smtClean="0"/>
              <a:pPr/>
              <a:t>7/20/2015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FD7DB-F981-46C5-8A0D-B8D1888769EB}" type="datetime1">
              <a:rPr lang="en-US" smtClean="0"/>
              <a:pPr/>
              <a:t>7/20/2015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7D92A-5A66-48EC-BB04-2DB931A39FAD}" type="datetime1">
              <a:rPr lang="en-US" smtClean="0"/>
              <a:pPr/>
              <a:t>7/20/2015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0C19-0998-4D52-8DDD-94BF7F80CAE5}" type="datetime1">
              <a:rPr lang="en-US" smtClean="0"/>
              <a:pPr/>
              <a:t>7/20/2015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07827-9700-4CDC-9E1D-449DE82DEC8D}" type="datetime1">
              <a:rPr lang="en-US" smtClean="0"/>
              <a:pPr/>
              <a:t>7/20/2015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0FD-A1FC-4920-A3C2-085B8E2F9EFA}" type="datetime1">
              <a:rPr lang="en-US" smtClean="0"/>
              <a:pPr/>
              <a:t>7/20/2015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2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D277-BE34-4141-BD49-E063BB7174E9}" type="datetime1">
              <a:rPr lang="en-US" smtClean="0"/>
              <a:pPr/>
              <a:t>7/20/2015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28357" y="1217086"/>
            <a:ext cx="11113180" cy="5823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154953" y="516222"/>
            <a:ext cx="9130460" cy="70696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B2973-F785-4CAE-8F28-6C5AAE1DB252}" type="datetime1">
              <a:rPr lang="en-US" smtClean="0"/>
              <a:pPr/>
              <a:t>7/20/2015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FFF5-06C3-4731-9F12-C14547B929B0}" type="datetime1">
              <a:rPr lang="en-IN" smtClean="0"/>
              <a:pPr/>
              <a:t>20-07-2015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0EC35-7F37-490F-B231-6B92D181A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631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629984" y="542362"/>
            <a:ext cx="978568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0642DC7-B585-4536-91D5-231B0D5F1DDB}" type="datetime1">
              <a:rPr lang="en-US" smtClean="0"/>
              <a:pPr/>
              <a:t>7/20/2015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061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2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4962" y="0"/>
            <a:ext cx="477038" cy="450761"/>
          </a:xfrm>
          <a:prstGeom prst="rect">
            <a:avLst/>
          </a:prstGeom>
        </p:spPr>
      </p:pic>
      <p:sp>
        <p:nvSpPr>
          <p:cNvPr id="31" name="Rectangle 30"/>
          <p:cNvSpPr/>
          <p:nvPr userDrawn="1"/>
        </p:nvSpPr>
        <p:spPr>
          <a:xfrm>
            <a:off x="444500" y="1151908"/>
            <a:ext cx="11270462" cy="104348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/>
          <p:cNvSpPr/>
          <p:nvPr userDrawn="1"/>
        </p:nvSpPr>
        <p:spPr>
          <a:xfrm>
            <a:off x="484906" y="1893122"/>
            <a:ext cx="11230056" cy="4122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68" r:id="rId8"/>
    <p:sldLayoutId id="2147483667" r:id="rId9"/>
    <p:sldLayoutId id="2147483661" r:id="rId10"/>
    <p:sldLayoutId id="2147483664" r:id="rId11"/>
    <p:sldLayoutId id="2147483662" r:id="rId12"/>
    <p:sldLayoutId id="2147483669" r:id="rId13"/>
    <p:sldLayoutId id="2147483670" r:id="rId14"/>
    <p:sldLayoutId id="2147483658" r:id="rId15"/>
    <p:sldLayoutId id="2147483659" r:id="rId16"/>
    <p:sldLayoutId id="2147483673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7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6.png"/><Relationship Id="rId4" Type="http://schemas.openxmlformats.org/officeDocument/2006/relationships/diagramData" Target="../diagrams/data1.xml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2.png"/><Relationship Id="rId5" Type="http://schemas.openxmlformats.org/officeDocument/2006/relationships/diagramQuickStyle" Target="../diagrams/quickStyle2.xml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jpe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35.png"/><Relationship Id="rId7" Type="http://schemas.openxmlformats.org/officeDocument/2006/relationships/image" Target="../media/image3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jpe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e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44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54954" y="2099733"/>
            <a:ext cx="9989861" cy="2677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 smtClean="0"/>
              <a:t>Consumer Analytics Group, </a:t>
            </a:r>
            <a:br>
              <a:rPr lang="en-US" sz="4000" b="1" dirty="0" smtClean="0"/>
            </a:br>
            <a:r>
              <a:rPr lang="en-US" sz="4000" dirty="0" smtClean="0"/>
              <a:t>Big Data Initiative</a:t>
            </a:r>
            <a:br>
              <a:rPr lang="en-US" sz="4000" dirty="0" smtClean="0"/>
            </a:br>
            <a:r>
              <a:rPr lang="en-US" sz="4000" b="1" dirty="0" smtClean="0"/>
              <a:t/>
            </a:r>
            <a:br>
              <a:rPr lang="en-US" sz="4000" b="1" dirty="0" smtClean="0"/>
            </a:br>
            <a:endParaRPr lang="en-IN" sz="36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154954" y="5526232"/>
            <a:ext cx="8825657" cy="566738"/>
          </a:xfrm>
        </p:spPr>
        <p:txBody>
          <a:bodyPr>
            <a:normAutofit/>
          </a:bodyPr>
          <a:lstStyle/>
          <a:p>
            <a:r>
              <a:rPr lang="en-US" b="1" dirty="0" smtClean="0"/>
              <a:t>Tata AIA Analytics Offerings &amp; Roadmap</a:t>
            </a:r>
            <a:endParaRPr lang="en-IN" b="1" dirty="0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67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91300" y="1180543"/>
            <a:ext cx="11445595" cy="512086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342000" lvl="0" indent="-342900">
              <a:lnSpc>
                <a:spcPct val="250000"/>
              </a:lnSpc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2060"/>
                </a:solidFill>
                <a:latin typeface="+mj-lt"/>
                <a:cs typeface="Arial" pitchFamily="34" charset="0"/>
              </a:rPr>
              <a:t>Tata Customer Analytics </a:t>
            </a:r>
            <a:r>
              <a:rPr lang="en-US" sz="16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Company Overview</a:t>
            </a:r>
          </a:p>
          <a:p>
            <a:pPr marL="799200" lvl="1" indent="-342900">
              <a:lnSpc>
                <a:spcPct val="250000"/>
              </a:lnSpc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IN" sz="16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Mission </a:t>
            </a:r>
            <a:r>
              <a:rPr lang="en-IN" sz="1600" dirty="0">
                <a:solidFill>
                  <a:srgbClr val="002060"/>
                </a:solidFill>
                <a:latin typeface="+mj-lt"/>
                <a:cs typeface="Arial" pitchFamily="34" charset="0"/>
              </a:rPr>
              <a:t>and Value proposition</a:t>
            </a:r>
          </a:p>
          <a:p>
            <a:pPr marL="799200" lvl="2" indent="-342900">
              <a:lnSpc>
                <a:spcPct val="250000"/>
              </a:lnSpc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IN" sz="1600" dirty="0">
                <a:solidFill>
                  <a:srgbClr val="002060"/>
                </a:solidFill>
                <a:latin typeface="+mj-lt"/>
                <a:cs typeface="Arial" pitchFamily="34" charset="0"/>
              </a:rPr>
              <a:t>3 points of </a:t>
            </a:r>
            <a:r>
              <a:rPr lang="en-IN" sz="16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Inflection and Service Offerings</a:t>
            </a:r>
            <a:endParaRPr lang="en-US" sz="1600" dirty="0">
              <a:solidFill>
                <a:srgbClr val="002060"/>
              </a:solidFill>
              <a:latin typeface="+mj-lt"/>
              <a:cs typeface="Arial" pitchFamily="34" charset="0"/>
            </a:endParaRPr>
          </a:p>
          <a:p>
            <a:pPr marL="342000" lvl="0" indent="-342900">
              <a:lnSpc>
                <a:spcPct val="250000"/>
              </a:lnSpc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IN" sz="16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Analytical Capabilities roadmap for Tata AIA Life </a:t>
            </a:r>
          </a:p>
          <a:p>
            <a:pPr marL="799200" lvl="1" indent="-342900">
              <a:lnSpc>
                <a:spcPct val="250000"/>
              </a:lnSpc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IN" sz="1600" dirty="0" smtClean="0">
                <a:solidFill>
                  <a:srgbClr val="002060"/>
                </a:solidFill>
                <a:cs typeface="Arial" pitchFamily="34" charset="0"/>
              </a:rPr>
              <a:t>Analytics Quick Wins (0-6 months) </a:t>
            </a:r>
            <a:endParaRPr lang="en-IN" sz="1600" dirty="0">
              <a:solidFill>
                <a:srgbClr val="002060"/>
              </a:solidFill>
              <a:cs typeface="Arial" pitchFamily="34" charset="0"/>
            </a:endParaRPr>
          </a:p>
          <a:p>
            <a:pPr marL="799200" lvl="1" indent="-342900">
              <a:lnSpc>
                <a:spcPct val="250000"/>
              </a:lnSpc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IN" sz="160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Proposed Roadmap</a:t>
            </a:r>
          </a:p>
          <a:p>
            <a:pPr marL="342000" lvl="0" indent="-342900">
              <a:lnSpc>
                <a:spcPct val="250000"/>
              </a:lnSpc>
              <a:buClr>
                <a:srgbClr val="002D72"/>
              </a:buClr>
              <a:buFont typeface="Wingdings" panose="05000000000000000000" pitchFamily="2" charset="2"/>
              <a:buChar char="v"/>
            </a:pPr>
            <a:r>
              <a:rPr lang="en-IN" sz="1600" dirty="0" smtClean="0">
                <a:solidFill>
                  <a:srgbClr val="002060"/>
                </a:solidFill>
                <a:cs typeface="Arial" pitchFamily="34" charset="0"/>
              </a:rPr>
              <a:t>Next Steps, Team Collaboration and Support Needed</a:t>
            </a:r>
          </a:p>
          <a:p>
            <a:pPr marL="456300" lvl="1">
              <a:lnSpc>
                <a:spcPct val="250000"/>
              </a:lnSpc>
              <a:buClr>
                <a:srgbClr val="002D72"/>
              </a:buClr>
            </a:pPr>
            <a:endParaRPr lang="en-IN" sz="1600" dirty="0" smtClean="0">
              <a:solidFill>
                <a:srgbClr val="002060"/>
              </a:solidFill>
              <a:latin typeface="+mj-lt"/>
              <a:cs typeface="Arial" pitchFamily="34" charset="0"/>
            </a:endParaRPr>
          </a:p>
          <a:p>
            <a:pPr marL="456300" lvl="1">
              <a:lnSpc>
                <a:spcPct val="250000"/>
              </a:lnSpc>
              <a:buClr>
                <a:srgbClr val="002D72"/>
              </a:buClr>
            </a:pPr>
            <a:endParaRPr lang="en-IN" sz="1600" dirty="0" smtClean="0">
              <a:solidFill>
                <a:srgbClr val="002060"/>
              </a:solidFill>
              <a:latin typeface="+mj-lt"/>
              <a:cs typeface="Arial" pitchFamily="34" charset="0"/>
            </a:endParaRPr>
          </a:p>
          <a:p>
            <a:pPr marL="799200" lvl="1" indent="-342900">
              <a:lnSpc>
                <a:spcPct val="250000"/>
              </a:lnSpc>
              <a:buClr>
                <a:srgbClr val="002D72"/>
              </a:buClr>
              <a:buFont typeface="Wingdings" panose="05000000000000000000" pitchFamily="2" charset="2"/>
              <a:buChar char="v"/>
            </a:pPr>
            <a:endParaRPr lang="en-IN" sz="1600" dirty="0" smtClean="0">
              <a:solidFill>
                <a:srgbClr val="002060"/>
              </a:solidFill>
              <a:latin typeface="+mj-lt"/>
              <a:cs typeface="Arial" pitchFamily="34" charset="0"/>
            </a:endParaRPr>
          </a:p>
          <a:p>
            <a:pPr marL="456300" lvl="1">
              <a:lnSpc>
                <a:spcPct val="250000"/>
              </a:lnSpc>
              <a:buClr>
                <a:srgbClr val="002D72"/>
              </a:buClr>
            </a:pPr>
            <a:r>
              <a:rPr lang="en-IN" sz="1600" dirty="0" smtClean="0">
                <a:solidFill>
                  <a:srgbClr val="002060"/>
                </a:solidFill>
                <a:cs typeface="Arial" pitchFamily="34" charset="0"/>
              </a:rPr>
              <a:t> </a:t>
            </a:r>
            <a:endParaRPr lang="en-IN" sz="1600" dirty="0" smtClean="0">
              <a:solidFill>
                <a:srgbClr val="002060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661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Executive Summary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526296" y="1630646"/>
            <a:ext cx="2202287" cy="987425"/>
          </a:xfrm>
          <a:prstGeom prst="rect">
            <a:avLst/>
          </a:prstGeom>
          <a:solidFill>
            <a:schemeClr val="tx2">
              <a:lumMod val="75000"/>
            </a:schemeClr>
          </a:solidFill>
          <a:ln w="28575">
            <a:solidFill>
              <a:srgbClr val="0B4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dirty="0" smtClean="0"/>
              <a:t>Overview</a:t>
            </a:r>
            <a:endParaRPr lang="en-IN" sz="1700" b="1" dirty="0"/>
          </a:p>
        </p:txBody>
      </p:sp>
      <p:sp>
        <p:nvSpPr>
          <p:cNvPr id="24" name="Rectangle 23"/>
          <p:cNvSpPr/>
          <p:nvPr/>
        </p:nvSpPr>
        <p:spPr>
          <a:xfrm>
            <a:off x="2804752" y="1636336"/>
            <a:ext cx="9201718" cy="991674"/>
          </a:xfrm>
          <a:prstGeom prst="rect">
            <a:avLst/>
          </a:prstGeom>
          <a:noFill/>
          <a:ln w="28575">
            <a:solidFill>
              <a:srgbClr val="0B4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SzPct val="120000"/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tx2"/>
                </a:solidFill>
              </a:rPr>
              <a:t>Deck outlines the business priorities and a phased approach towards building and leveraging analytic capabilities for improving business outcomes for Tata AIA Life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6539" y="2960933"/>
            <a:ext cx="2202287" cy="3649158"/>
          </a:xfrm>
          <a:prstGeom prst="rect">
            <a:avLst/>
          </a:prstGeom>
          <a:solidFill>
            <a:schemeClr val="tx2">
              <a:lumMod val="75000"/>
            </a:schemeClr>
          </a:solidFill>
          <a:ln w="28575">
            <a:solidFill>
              <a:srgbClr val="0B4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dirty="0" smtClean="0"/>
              <a:t>Key areas of focus</a:t>
            </a:r>
          </a:p>
          <a:p>
            <a:pPr algn="ctr"/>
            <a:endParaRPr lang="en-IN" sz="1700" b="1" dirty="0"/>
          </a:p>
        </p:txBody>
      </p:sp>
      <p:sp>
        <p:nvSpPr>
          <p:cNvPr id="26" name="Rectangle 25"/>
          <p:cNvSpPr/>
          <p:nvPr/>
        </p:nvSpPr>
        <p:spPr>
          <a:xfrm>
            <a:off x="2804752" y="2980185"/>
            <a:ext cx="9161961" cy="3649156"/>
          </a:xfrm>
          <a:prstGeom prst="rect">
            <a:avLst/>
          </a:prstGeom>
          <a:noFill/>
          <a:ln w="28575">
            <a:solidFill>
              <a:srgbClr val="0B4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Aft>
                <a:spcPts val="0"/>
              </a:spcAft>
            </a:pPr>
            <a:r>
              <a:rPr lang="en-IN" sz="1400" b="1" i="1" dirty="0" smtClean="0">
                <a:solidFill>
                  <a:srgbClr val="0B4060"/>
                </a:solidFill>
                <a:ea typeface="Calibri" panose="020F0502020204030204" pitchFamily="34" charset="0"/>
              </a:rPr>
              <a:t>Quick Wins (0-6 months)</a:t>
            </a:r>
          </a:p>
          <a:p>
            <a:pPr lvl="0">
              <a:spcAft>
                <a:spcPts val="0"/>
              </a:spcAft>
            </a:pPr>
            <a:endParaRPr lang="en-US" sz="1400" i="1" dirty="0" smtClean="0">
              <a:solidFill>
                <a:srgbClr val="0B4060"/>
              </a:solidFill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1400" b="1" u="sng" dirty="0" smtClean="0">
                <a:solidFill>
                  <a:srgbClr val="0B4060"/>
                </a:solidFill>
                <a:ea typeface="Calibri" panose="020F0502020204030204" pitchFamily="34" charset="0"/>
              </a:rPr>
              <a:t>Cross–Sell/Up-sell Strategies to increase product penetration/customer</a:t>
            </a:r>
            <a:r>
              <a:rPr lang="en-IN" sz="1400" dirty="0" smtClean="0">
                <a:solidFill>
                  <a:srgbClr val="0B4060"/>
                </a:solidFill>
                <a:ea typeface="Calibri" panose="020F0502020204030204" pitchFamily="34" charset="0"/>
              </a:rPr>
              <a:t>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 smtClean="0">
                <a:solidFill>
                  <a:srgbClr val="0B4060"/>
                </a:solidFill>
                <a:ea typeface="Calibri" panose="020F0502020204030204" pitchFamily="34" charset="0"/>
              </a:rPr>
              <a:t>Accelerate top line growth by </a:t>
            </a:r>
            <a:r>
              <a:rPr lang="en-US" sz="1400" dirty="0" smtClean="0">
                <a:solidFill>
                  <a:srgbClr val="0B4060"/>
                </a:solidFill>
              </a:rPr>
              <a:t>leveraging internal, Tata eco-system, and external data to increase insurance product penetration across existing customers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1400" b="1" u="sng" dirty="0" smtClean="0">
                <a:solidFill>
                  <a:srgbClr val="0B4060"/>
                </a:solidFill>
                <a:ea typeface="Calibri" panose="020F0502020204030204" pitchFamily="34" charset="0"/>
              </a:rPr>
              <a:t>Customer Retention</a:t>
            </a:r>
            <a:r>
              <a:rPr lang="en-IN" sz="1400" dirty="0" smtClean="0">
                <a:solidFill>
                  <a:srgbClr val="0B4060"/>
                </a:solidFill>
                <a:ea typeface="Calibri" panose="020F0502020204030204" pitchFamily="34" charset="0"/>
              </a:rPr>
              <a:t>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 smtClean="0">
                <a:solidFill>
                  <a:srgbClr val="0B4060"/>
                </a:solidFill>
                <a:ea typeface="Calibri" panose="020F0502020204030204" pitchFamily="34" charset="0"/>
              </a:rPr>
              <a:t>Retention of profitable customers and Policy renewal </a:t>
            </a:r>
          </a:p>
          <a:p>
            <a:endParaRPr lang="en-IN" sz="1400" b="1" i="1" u="sng" dirty="0" smtClean="0">
              <a:solidFill>
                <a:srgbClr val="0B4060"/>
              </a:solidFill>
              <a:ea typeface="Calibri" panose="020F0502020204030204" pitchFamily="34" charset="0"/>
            </a:endParaRPr>
          </a:p>
          <a:p>
            <a:r>
              <a:rPr lang="en-IN" sz="1400" b="1" i="1" dirty="0" smtClean="0">
                <a:solidFill>
                  <a:srgbClr val="0B4060"/>
                </a:solidFill>
                <a:ea typeface="Calibri" panose="020F0502020204030204" pitchFamily="34" charset="0"/>
              </a:rPr>
              <a:t>Near-Long term (6 months+)</a:t>
            </a:r>
          </a:p>
          <a:p>
            <a:endParaRPr lang="en-IN" sz="1400" b="1" i="1" dirty="0" smtClean="0">
              <a:solidFill>
                <a:srgbClr val="0B4060"/>
              </a:solidFill>
              <a:ea typeface="Calibri" panose="020F0502020204030204" pitchFamily="34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1400" b="1" u="sng" dirty="0" smtClean="0">
                <a:solidFill>
                  <a:srgbClr val="0B4060"/>
                </a:solidFill>
                <a:ea typeface="Calibri" panose="020F0502020204030204" pitchFamily="34" charset="0"/>
              </a:rPr>
              <a:t>Leads Generation &amp; Sales Optimization:</a:t>
            </a:r>
          </a:p>
          <a:p>
            <a:pPr marL="800100" lvl="1" indent="-342900">
              <a:buFont typeface="Courier New" pitchFamily="49" charset="0"/>
              <a:buChar char="o"/>
            </a:pPr>
            <a:r>
              <a:rPr lang="en-IN" sz="1400" dirty="0" smtClean="0">
                <a:solidFill>
                  <a:srgbClr val="0B4060"/>
                </a:solidFill>
                <a:ea typeface="Calibri" panose="020F0502020204030204" pitchFamily="34" charset="0"/>
              </a:rPr>
              <a:t>Harness data to build forecasting, monitoring, and lead generation to accelerate sales conversion across all direct and indirect channels.</a:t>
            </a:r>
            <a:endParaRPr lang="en-US" sz="1400" b="1" u="sng" dirty="0" smtClean="0">
              <a:solidFill>
                <a:srgbClr val="0B4060"/>
              </a:solidFill>
              <a:ea typeface="Calibri" panose="020F0502020204030204" pitchFamily="34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400" b="1" u="sng" dirty="0" smtClean="0">
                <a:solidFill>
                  <a:srgbClr val="0B4060"/>
                </a:solidFill>
                <a:ea typeface="Calibri" panose="020F0502020204030204" pitchFamily="34" charset="0"/>
              </a:rPr>
              <a:t>Financial Cluster analytics and Group wide Tata consumer data ecosystem</a:t>
            </a:r>
            <a:r>
              <a:rPr lang="en-IN" sz="1400" b="1" dirty="0" smtClean="0">
                <a:solidFill>
                  <a:srgbClr val="0B4060"/>
                </a:solidFill>
                <a:ea typeface="Calibri" panose="020F0502020204030204" pitchFamily="34" charset="0"/>
              </a:rPr>
              <a:t>  </a:t>
            </a:r>
          </a:p>
          <a:p>
            <a:pPr marL="742950" lvl="2" indent="-285750">
              <a:buFont typeface="Courier New" pitchFamily="49" charset="0"/>
              <a:buChar char="o"/>
            </a:pPr>
            <a:r>
              <a:rPr lang="en-US" sz="1400" dirty="0" smtClean="0">
                <a:solidFill>
                  <a:srgbClr val="0B4060"/>
                </a:solidFill>
              </a:rPr>
              <a:t>Build One Tata consumer data eco-system  and cross leverage data to build holistic insights, personalized offers, and superior customer experience</a:t>
            </a:r>
            <a:endParaRPr lang="en-US" sz="140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00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526880" y="2385181"/>
            <a:ext cx="8825660" cy="1822514"/>
          </a:xfrm>
        </p:spPr>
        <p:txBody>
          <a:bodyPr/>
          <a:lstStyle/>
          <a:p>
            <a:pPr algn="ctr"/>
            <a:r>
              <a:rPr lang="en-US" dirty="0" smtClean="0"/>
              <a:t>Tata Customer Analytics </a:t>
            </a:r>
            <a:br>
              <a:rPr lang="en-US" dirty="0" smtClean="0"/>
            </a:br>
            <a:r>
              <a:rPr lang="en-US" dirty="0" smtClean="0"/>
              <a:t>Company Overview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51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/>
          <p:cNvSpPr/>
          <p:nvPr/>
        </p:nvSpPr>
        <p:spPr>
          <a:xfrm>
            <a:off x="810615" y="4318163"/>
            <a:ext cx="1127189" cy="625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Decision Support</a:t>
            </a:r>
            <a:endParaRPr lang="en-IN" sz="1200" dirty="0">
              <a:solidFill>
                <a:schemeClr val="tx2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463541" y="4306325"/>
            <a:ext cx="1127189" cy="625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Decision Making</a:t>
            </a:r>
            <a:endParaRPr lang="en-IN" sz="1200" dirty="0">
              <a:solidFill>
                <a:schemeClr val="tx2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Tata Customer Analytics Division - Overview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556492" y="1132679"/>
            <a:ext cx="11465462" cy="582362"/>
          </a:xfrm>
        </p:spPr>
        <p:txBody>
          <a:bodyPr>
            <a:noAutofit/>
          </a:bodyPr>
          <a:lstStyle/>
          <a:p>
            <a:r>
              <a:rPr lang="en-US" sz="1700" dirty="0" smtClean="0"/>
              <a:t>Established as a strategic priority of the Tata Group to enhance customer Value, provide data driven decisions and promote customer centricity; CAD is committed to build a world class analytics organization</a:t>
            </a:r>
            <a:endParaRPr lang="en-IN" sz="17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581490" y="1698010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315940" y="6175769"/>
            <a:ext cx="1321265" cy="527454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200" kern="0" dirty="0" smtClean="0">
                <a:solidFill>
                  <a:schemeClr val="tx2"/>
                </a:solidFill>
                <a:cs typeface="Arial" pitchFamily="34" charset="0"/>
              </a:rPr>
              <a:t>Raw &amp; Cleansed Data, MIS</a:t>
            </a:r>
            <a:endParaRPr lang="en-US" sz="1200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1561149" y="6191580"/>
            <a:ext cx="1391888" cy="668263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200" kern="0" dirty="0" smtClean="0">
                <a:solidFill>
                  <a:schemeClr val="tx2"/>
                </a:solidFill>
                <a:cs typeface="Arial" pitchFamily="34" charset="0"/>
              </a:rPr>
              <a:t>Business Intelligence &amp; Analysis  </a:t>
            </a:r>
            <a:endParaRPr lang="en-US" sz="1200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2860279" y="6175769"/>
            <a:ext cx="1333823" cy="528101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200" kern="0" dirty="0" smtClean="0">
                <a:solidFill>
                  <a:schemeClr val="tx2"/>
                </a:solidFill>
                <a:cs typeface="Arial" pitchFamily="34" charset="0"/>
              </a:rPr>
              <a:t>Predictive Modeling  </a:t>
            </a:r>
            <a:endParaRPr lang="en-US" sz="1200" kern="0" dirty="0">
              <a:solidFill>
                <a:schemeClr val="tx2"/>
              </a:solidFill>
              <a:cs typeface="Arial" pitchFamily="34" charset="0"/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4059988" y="6175769"/>
            <a:ext cx="1389671" cy="668263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200" kern="0" dirty="0" smtClean="0">
                <a:solidFill>
                  <a:schemeClr val="tx2"/>
                </a:solidFill>
                <a:cs typeface="Arial" pitchFamily="34" charset="0"/>
              </a:rPr>
              <a:t>Advanced Quantitative Science</a:t>
            </a:r>
            <a:endParaRPr lang="en-US" sz="1200" kern="0" dirty="0">
              <a:solidFill>
                <a:schemeClr val="tx2"/>
              </a:solidFill>
              <a:cs typeface="Arial" pitchFamily="34" charset="0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388021" y="4272862"/>
            <a:ext cx="4855348" cy="1912599"/>
            <a:chOff x="549165" y="2502617"/>
            <a:chExt cx="5740264" cy="1977282"/>
          </a:xfrm>
        </p:grpSpPr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549165" y="2502617"/>
              <a:ext cx="5740264" cy="1977282"/>
              <a:chOff x="1903773" y="1766213"/>
              <a:chExt cx="5868594" cy="4102414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 rot="5400000">
                <a:off x="-146873" y="3816860"/>
                <a:ext cx="4102414" cy="1121"/>
              </a:xfrm>
              <a:prstGeom prst="line">
                <a:avLst/>
              </a:prstGeom>
              <a:noFill/>
              <a:ln w="34925" cap="flat" cmpd="sng" algn="ctr">
                <a:solidFill>
                  <a:srgbClr val="00B0F0"/>
                </a:solidFill>
                <a:prstDash val="solid"/>
                <a:headEnd type="triangle"/>
              </a:ln>
              <a:effectLst/>
            </p:spPr>
          </p:cxnSp>
          <p:cxnSp>
            <p:nvCxnSpPr>
              <p:cNvPr id="25" name="Straight Connector 24"/>
              <p:cNvCxnSpPr/>
              <p:nvPr/>
            </p:nvCxnSpPr>
            <p:spPr>
              <a:xfrm rot="10800000" flipV="1">
                <a:off x="1904334" y="5867734"/>
                <a:ext cx="5868033" cy="0"/>
              </a:xfrm>
              <a:prstGeom prst="line">
                <a:avLst/>
              </a:prstGeom>
              <a:noFill/>
              <a:ln w="34925" cap="flat" cmpd="sng" algn="ctr">
                <a:solidFill>
                  <a:srgbClr val="00B0F0"/>
                </a:solidFill>
                <a:prstDash val="solid"/>
                <a:headEnd type="triangle"/>
              </a:ln>
              <a:effectLst/>
            </p:spPr>
          </p:cxnSp>
        </p:grpSp>
        <p:sp>
          <p:nvSpPr>
            <p:cNvPr id="16" name="Freeform 15"/>
            <p:cNvSpPr/>
            <p:nvPr/>
          </p:nvSpPr>
          <p:spPr>
            <a:xfrm>
              <a:off x="806042" y="3487519"/>
              <a:ext cx="5020904" cy="787293"/>
            </a:xfrm>
            <a:custGeom>
              <a:avLst/>
              <a:gdLst>
                <a:gd name="connsiteX0" fmla="*/ 0 w 8525164"/>
                <a:gd name="connsiteY0" fmla="*/ 1062182 h 1062182"/>
                <a:gd name="connsiteX1" fmla="*/ 1200727 w 8525164"/>
                <a:gd name="connsiteY1" fmla="*/ 905164 h 1062182"/>
                <a:gd name="connsiteX2" fmla="*/ 8525164 w 8525164"/>
                <a:gd name="connsiteY2" fmla="*/ 0 h 1062182"/>
                <a:gd name="connsiteX3" fmla="*/ 8525164 w 8525164"/>
                <a:gd name="connsiteY3" fmla="*/ 0 h 1062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25164" h="1062182">
                  <a:moveTo>
                    <a:pt x="0" y="1062182"/>
                  </a:moveTo>
                  <a:lnTo>
                    <a:pt x="1200727" y="905164"/>
                  </a:lnTo>
                  <a:lnTo>
                    <a:pt x="8525164" y="0"/>
                  </a:lnTo>
                  <a:lnTo>
                    <a:pt x="8525164" y="0"/>
                  </a:lnTo>
                </a:path>
              </a:pathLst>
            </a:custGeom>
            <a:ln w="25400">
              <a:solidFill>
                <a:schemeClr val="tx2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5175407" y="3378769"/>
              <a:ext cx="791739" cy="427423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650773" y="4249957"/>
              <a:ext cx="311648" cy="178682"/>
            </a:xfrm>
            <a:prstGeom prst="ellipse">
              <a:avLst/>
            </a:prstGeom>
            <a:solidFill>
              <a:schemeClr val="accent5">
                <a:alpha val="8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1552433" y="3995146"/>
              <a:ext cx="491969" cy="284649"/>
            </a:xfrm>
            <a:prstGeom prst="ellipse">
              <a:avLst/>
            </a:prstGeom>
            <a:solidFill>
              <a:schemeClr val="accent5">
                <a:lumMod val="5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2633773" y="3806514"/>
              <a:ext cx="565378" cy="308874"/>
            </a:xfrm>
            <a:prstGeom prst="ellipse">
              <a:avLst/>
            </a:prstGeom>
            <a:solidFill>
              <a:schemeClr val="accent4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3788260" y="3544283"/>
              <a:ext cx="798871" cy="465012"/>
            </a:xfrm>
            <a:prstGeom prst="ellipse">
              <a:avLst/>
            </a:prstGeom>
            <a:solidFill>
              <a:schemeClr val="tx2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707481" y="2747283"/>
              <a:ext cx="1933179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2698798" y="2745970"/>
              <a:ext cx="3160102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/>
          <p:cNvSpPr/>
          <p:nvPr/>
        </p:nvSpPr>
        <p:spPr>
          <a:xfrm>
            <a:off x="810615" y="4304468"/>
            <a:ext cx="1127189" cy="625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Decision Support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463541" y="4292630"/>
            <a:ext cx="1127189" cy="625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Decision Making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4104993" y="4967838"/>
            <a:ext cx="1285820" cy="12633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5" name="TextBox 39"/>
          <p:cNvSpPr txBox="1">
            <a:spLocks noChangeArrowheads="1"/>
          </p:cNvSpPr>
          <p:nvPr/>
        </p:nvSpPr>
        <p:spPr bwMode="auto">
          <a:xfrm>
            <a:off x="1586692" y="4076655"/>
            <a:ext cx="260741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 u="sng" kern="0" dirty="0" smtClean="0">
                <a:solidFill>
                  <a:srgbClr val="002D72"/>
                </a:solidFill>
              </a:rPr>
              <a:t>Evolution of Analytics</a:t>
            </a:r>
            <a:endParaRPr lang="en-US" sz="1600" b="1" i="1" u="sng" kern="0" dirty="0">
              <a:solidFill>
                <a:srgbClr val="002D72"/>
              </a:solidFill>
            </a:endParaRPr>
          </a:p>
        </p:txBody>
      </p:sp>
      <p:sp>
        <p:nvSpPr>
          <p:cNvPr id="70" name="TextBox 39"/>
          <p:cNvSpPr txBox="1">
            <a:spLocks noChangeArrowheads="1"/>
          </p:cNvSpPr>
          <p:nvPr/>
        </p:nvSpPr>
        <p:spPr bwMode="auto">
          <a:xfrm>
            <a:off x="7511938" y="1723807"/>
            <a:ext cx="291208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i="1" u="sng" kern="0" dirty="0" smtClean="0">
                <a:solidFill>
                  <a:srgbClr val="002D72"/>
                </a:solidFill>
              </a:rPr>
              <a:t>Unique Value Proposition</a:t>
            </a:r>
            <a:endParaRPr lang="en-US" sz="1600" b="1" i="1" u="sng" kern="0" dirty="0">
              <a:solidFill>
                <a:srgbClr val="002D72"/>
              </a:solidFill>
            </a:endParaRPr>
          </a:p>
        </p:txBody>
      </p:sp>
      <p:grpSp>
        <p:nvGrpSpPr>
          <p:cNvPr id="6" name="Group 61"/>
          <p:cNvGrpSpPr/>
          <p:nvPr/>
        </p:nvGrpSpPr>
        <p:grpSpPr>
          <a:xfrm>
            <a:off x="6572728" y="2051788"/>
            <a:ext cx="4865853" cy="4874175"/>
            <a:chOff x="984877" y="1960533"/>
            <a:chExt cx="5140689" cy="5149480"/>
          </a:xfrm>
          <a:solidFill>
            <a:srgbClr val="1F74B7"/>
          </a:solidFill>
        </p:grpSpPr>
        <p:sp>
          <p:nvSpPr>
            <p:cNvPr id="63" name="Pie 62"/>
            <p:cNvSpPr/>
            <p:nvPr/>
          </p:nvSpPr>
          <p:spPr>
            <a:xfrm rot="19872972">
              <a:off x="993389" y="1960533"/>
              <a:ext cx="5132177" cy="5132177"/>
            </a:xfrm>
            <a:prstGeom prst="pie">
              <a:avLst>
                <a:gd name="adj1" fmla="val 1719646"/>
                <a:gd name="adj2" fmla="val 5385451"/>
              </a:avLst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black"/>
                </a:solidFill>
              </a:endParaRPr>
            </a:p>
          </p:txBody>
        </p:sp>
        <p:sp>
          <p:nvSpPr>
            <p:cNvPr id="71" name="Pie 70"/>
            <p:cNvSpPr/>
            <p:nvPr/>
          </p:nvSpPr>
          <p:spPr>
            <a:xfrm rot="16200000">
              <a:off x="986193" y="1977833"/>
              <a:ext cx="5132177" cy="5132178"/>
            </a:xfrm>
            <a:prstGeom prst="pie">
              <a:avLst>
                <a:gd name="adj1" fmla="val 1733518"/>
                <a:gd name="adj2" fmla="val 5385451"/>
              </a:avLst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black"/>
                </a:solidFill>
              </a:endParaRPr>
            </a:p>
          </p:txBody>
        </p:sp>
        <p:sp>
          <p:nvSpPr>
            <p:cNvPr id="72" name="Pie 71"/>
            <p:cNvSpPr/>
            <p:nvPr/>
          </p:nvSpPr>
          <p:spPr>
            <a:xfrm rot="12542084">
              <a:off x="984877" y="1977836"/>
              <a:ext cx="5132177" cy="5132177"/>
            </a:xfrm>
            <a:prstGeom prst="pie">
              <a:avLst>
                <a:gd name="adj1" fmla="val 1694730"/>
                <a:gd name="adj2" fmla="val 5426159"/>
              </a:avLst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black"/>
                </a:solidFill>
              </a:endParaRPr>
            </a:p>
          </p:txBody>
        </p:sp>
        <p:sp>
          <p:nvSpPr>
            <p:cNvPr id="73" name="Pie 72"/>
            <p:cNvSpPr/>
            <p:nvPr/>
          </p:nvSpPr>
          <p:spPr>
            <a:xfrm rot="8865029">
              <a:off x="986193" y="1977830"/>
              <a:ext cx="5132177" cy="5132177"/>
            </a:xfrm>
            <a:prstGeom prst="pie">
              <a:avLst>
                <a:gd name="adj1" fmla="val 1733518"/>
                <a:gd name="adj2" fmla="val 5385451"/>
              </a:avLst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black"/>
                </a:solidFill>
              </a:endParaRPr>
            </a:p>
          </p:txBody>
        </p:sp>
        <p:sp>
          <p:nvSpPr>
            <p:cNvPr id="74" name="Pie 73"/>
            <p:cNvSpPr/>
            <p:nvPr/>
          </p:nvSpPr>
          <p:spPr>
            <a:xfrm rot="5197560">
              <a:off x="986192" y="1977830"/>
              <a:ext cx="5132177" cy="5132177"/>
            </a:xfrm>
            <a:prstGeom prst="pie">
              <a:avLst>
                <a:gd name="adj1" fmla="val 1898080"/>
                <a:gd name="adj2" fmla="val 5587050"/>
              </a:avLst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white"/>
                </a:solidFill>
              </a:endParaRPr>
            </a:p>
          </p:txBody>
        </p:sp>
        <p:grpSp>
          <p:nvGrpSpPr>
            <p:cNvPr id="7" name="Group 74"/>
            <p:cNvGrpSpPr/>
            <p:nvPr/>
          </p:nvGrpSpPr>
          <p:grpSpPr>
            <a:xfrm rot="5400000">
              <a:off x="2505786" y="3474071"/>
              <a:ext cx="2180839" cy="2180839"/>
              <a:chOff x="2587985" y="2205051"/>
              <a:chExt cx="2447894" cy="2447894"/>
            </a:xfrm>
            <a:grpFill/>
          </p:grpSpPr>
          <p:sp>
            <p:nvSpPr>
              <p:cNvPr id="81" name="Teardrop 80"/>
              <p:cNvSpPr/>
              <p:nvPr/>
            </p:nvSpPr>
            <p:spPr>
              <a:xfrm rot="2700000">
                <a:off x="2587985" y="2205051"/>
                <a:ext cx="2447894" cy="2447894"/>
              </a:xfrm>
              <a:prstGeom prst="teardrop">
                <a:avLst>
                  <a:gd name="adj" fmla="val 110588"/>
                </a:avLst>
              </a:prstGeom>
              <a:grpFill/>
              <a:ln>
                <a:solidFill>
                  <a:schemeClr val="bg1"/>
                </a:solidFill>
              </a:ln>
              <a:effectLst>
                <a:outerShdw blurRad="152400" dist="114300" dir="5400000" sx="90000" sy="-19000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2" name="Freeform 81"/>
              <p:cNvSpPr/>
              <p:nvPr/>
            </p:nvSpPr>
            <p:spPr>
              <a:xfrm>
                <a:off x="2666504" y="2301916"/>
                <a:ext cx="2290857" cy="2290613"/>
              </a:xfrm>
              <a:custGeom>
                <a:avLst/>
                <a:gdLst>
                  <a:gd name="connsiteX0" fmla="*/ 0 w 2290857"/>
                  <a:gd name="connsiteY0" fmla="*/ 1145307 h 2290613"/>
                  <a:gd name="connsiteX1" fmla="*/ 1145429 w 2290857"/>
                  <a:gd name="connsiteY1" fmla="*/ 0 h 2290613"/>
                  <a:gd name="connsiteX2" fmla="*/ 2290858 w 2290857"/>
                  <a:gd name="connsiteY2" fmla="*/ 1145307 h 2290613"/>
                  <a:gd name="connsiteX3" fmla="*/ 1145429 w 2290857"/>
                  <a:gd name="connsiteY3" fmla="*/ 2290614 h 2290613"/>
                  <a:gd name="connsiteX4" fmla="*/ 0 w 2290857"/>
                  <a:gd name="connsiteY4" fmla="*/ 1145307 h 2290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90857" h="2290613">
                    <a:moveTo>
                      <a:pt x="0" y="1145307"/>
                    </a:moveTo>
                    <a:cubicBezTo>
                      <a:pt x="0" y="512771"/>
                      <a:pt x="512826" y="0"/>
                      <a:pt x="1145429" y="0"/>
                    </a:cubicBezTo>
                    <a:cubicBezTo>
                      <a:pt x="1778032" y="0"/>
                      <a:pt x="2290858" y="512771"/>
                      <a:pt x="2290858" y="1145307"/>
                    </a:cubicBezTo>
                    <a:cubicBezTo>
                      <a:pt x="2290858" y="1777843"/>
                      <a:pt x="1778032" y="2290614"/>
                      <a:pt x="1145429" y="2290614"/>
                    </a:cubicBezTo>
                    <a:cubicBezTo>
                      <a:pt x="512826" y="2290614"/>
                      <a:pt x="0" y="1777843"/>
                      <a:pt x="0" y="114530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1F74B7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vert270" wrap="square" lIns="393534" tIns="393332" rIns="393533" bIns="393332" numCol="1" spcCol="1270" anchor="ctr" anchorCtr="0">
                <a:noAutofit/>
              </a:bodyPr>
              <a:lstStyle/>
              <a:p>
                <a:pPr algn="ctr" defTabSz="2311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700" b="1" dirty="0">
                    <a:solidFill>
                      <a:prstClr val="black">
                        <a:hueOff val="0"/>
                        <a:satOff val="0"/>
                        <a:lumOff val="0"/>
                        <a:alphaOff val="0"/>
                      </a:prstClr>
                    </a:solidFill>
                  </a:rPr>
                  <a:t>Value Proposition</a:t>
                </a:r>
                <a:endParaRPr lang="en-IN" sz="1700" b="1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endParaRPr>
              </a:p>
            </p:txBody>
          </p:sp>
        </p:grpSp>
        <p:sp>
          <p:nvSpPr>
            <p:cNvPr id="76" name="TextBox 75"/>
            <p:cNvSpPr txBox="1"/>
            <p:nvPr/>
          </p:nvSpPr>
          <p:spPr bwMode="gray">
            <a:xfrm>
              <a:off x="1571307" y="4980995"/>
              <a:ext cx="914400" cy="914400"/>
            </a:xfrm>
            <a:prstGeom prst="rect">
              <a:avLst/>
            </a:prstGeom>
            <a:grpFill/>
            <a:ln>
              <a:solidFill>
                <a:srgbClr val="1F74B7"/>
              </a:solidFill>
            </a:ln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1400" b="1" dirty="0" smtClean="0">
                  <a:solidFill>
                    <a:prstClr val="white"/>
                  </a:solidFill>
                </a:rPr>
                <a:t>Reduced  </a:t>
              </a:r>
            </a:p>
            <a:p>
              <a:pPr algn="ctr"/>
              <a:r>
                <a:rPr lang="en-US" sz="1400" b="1" dirty="0" smtClean="0">
                  <a:solidFill>
                    <a:prstClr val="white"/>
                  </a:solidFill>
                </a:rPr>
                <a:t>Analytics Cap-Ex</a:t>
              </a:r>
              <a:endParaRPr lang="en-US" sz="1400" b="1" dirty="0">
                <a:solidFill>
                  <a:prstClr val="white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 bwMode="gray">
            <a:xfrm>
              <a:off x="1526778" y="3274877"/>
              <a:ext cx="914400" cy="914400"/>
            </a:xfrm>
            <a:prstGeom prst="rect">
              <a:avLst/>
            </a:prstGeom>
            <a:grpFill/>
            <a:ln>
              <a:solidFill>
                <a:srgbClr val="1F74B7"/>
              </a:solidFill>
            </a:ln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Optimization </a:t>
              </a:r>
            </a:p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of Productivity</a:t>
              </a:r>
            </a:p>
          </p:txBody>
        </p:sp>
        <p:sp>
          <p:nvSpPr>
            <p:cNvPr id="78" name="TextBox 77"/>
            <p:cNvSpPr txBox="1"/>
            <p:nvPr/>
          </p:nvSpPr>
          <p:spPr bwMode="gray">
            <a:xfrm>
              <a:off x="4772014" y="4980995"/>
              <a:ext cx="914400" cy="914400"/>
            </a:xfrm>
            <a:prstGeom prst="rect">
              <a:avLst/>
            </a:prstGeom>
            <a:grpFill/>
            <a:ln>
              <a:solidFill>
                <a:srgbClr val="1F74B7"/>
              </a:solidFill>
            </a:ln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1400" b="1" dirty="0" smtClean="0">
                  <a:solidFill>
                    <a:prstClr val="white"/>
                  </a:solidFill>
                </a:rPr>
                <a:t>Domain </a:t>
              </a:r>
              <a:endParaRPr lang="en-US" sz="1400" b="1" dirty="0">
                <a:solidFill>
                  <a:prstClr val="white"/>
                </a:solidFill>
              </a:endParaRPr>
            </a:p>
            <a:p>
              <a:pPr algn="ctr"/>
              <a:r>
                <a:rPr lang="en-US" sz="1400" b="1" dirty="0" smtClean="0">
                  <a:solidFill>
                    <a:prstClr val="white"/>
                  </a:solidFill>
                </a:rPr>
                <a:t>Knowledge</a:t>
              </a:r>
              <a:endParaRPr lang="en-US" sz="1400" b="1" dirty="0">
                <a:solidFill>
                  <a:prstClr val="white"/>
                </a:solidFill>
              </a:endParaRPr>
            </a:p>
          </p:txBody>
        </p:sp>
        <p:sp>
          <p:nvSpPr>
            <p:cNvPr id="79" name="TextBox 78"/>
            <p:cNvSpPr txBox="1"/>
            <p:nvPr/>
          </p:nvSpPr>
          <p:spPr bwMode="gray">
            <a:xfrm>
              <a:off x="4747917" y="3274877"/>
              <a:ext cx="914400" cy="914400"/>
            </a:xfrm>
            <a:prstGeom prst="rect">
              <a:avLst/>
            </a:prstGeom>
            <a:grpFill/>
            <a:ln>
              <a:solidFill>
                <a:srgbClr val="1F74B7"/>
              </a:solidFill>
            </a:ln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1400" b="1" dirty="0" smtClean="0">
                  <a:solidFill>
                    <a:prstClr val="white"/>
                  </a:solidFill>
                </a:rPr>
                <a:t>Analytic </a:t>
              </a:r>
              <a:endParaRPr lang="en-US" sz="1400" b="1" dirty="0">
                <a:solidFill>
                  <a:prstClr val="white"/>
                </a:solidFill>
              </a:endParaRPr>
            </a:p>
            <a:p>
              <a:pPr algn="ctr"/>
              <a:r>
                <a:rPr lang="en-US" sz="1400" b="1" dirty="0" smtClean="0">
                  <a:solidFill>
                    <a:prstClr val="white"/>
                  </a:solidFill>
                </a:rPr>
                <a:t>Horsepower</a:t>
              </a:r>
              <a:endParaRPr lang="en-US" sz="1400" b="1" dirty="0">
                <a:solidFill>
                  <a:prstClr val="white"/>
                </a:solidFill>
              </a:endParaRPr>
            </a:p>
          </p:txBody>
        </p:sp>
        <p:sp>
          <p:nvSpPr>
            <p:cNvPr id="80" name="TextBox 79"/>
            <p:cNvSpPr txBox="1"/>
            <p:nvPr/>
          </p:nvSpPr>
          <p:spPr bwMode="gray">
            <a:xfrm>
              <a:off x="3029692" y="2171594"/>
              <a:ext cx="914400" cy="914400"/>
            </a:xfrm>
            <a:prstGeom prst="rect">
              <a:avLst/>
            </a:prstGeom>
            <a:grpFill/>
            <a:ln>
              <a:solidFill>
                <a:srgbClr val="1F74B7"/>
              </a:solidFill>
            </a:ln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Cross Organization</a:t>
              </a:r>
            </a:p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Cross Cluster</a:t>
              </a:r>
            </a:p>
            <a:p>
              <a:pPr algn="ctr"/>
              <a:r>
                <a:rPr lang="en-US" sz="1400" b="1" dirty="0">
                  <a:solidFill>
                    <a:prstClr val="white"/>
                  </a:solidFill>
                </a:rPr>
                <a:t>Intelligence Access</a:t>
              </a:r>
            </a:p>
          </p:txBody>
        </p:sp>
      </p:grpSp>
      <p:pic>
        <p:nvPicPr>
          <p:cNvPr id="5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911" y="1748017"/>
            <a:ext cx="4667250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35202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23391" y="1608800"/>
            <a:ext cx="3218130" cy="1195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0" name="Diagram 29"/>
          <p:cNvGraphicFramePr/>
          <p:nvPr>
            <p:extLst/>
          </p:nvPr>
        </p:nvGraphicFramePr>
        <p:xfrm>
          <a:off x="-652132" y="280993"/>
          <a:ext cx="15544800" cy="7855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Strategy: 3 Points of Inflection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6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Gradual transition from single tenant to multi tenant segment level to multi tenant customer level</a:t>
            </a:r>
            <a:endParaRPr lang="en-IN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525436" y="1551846"/>
            <a:ext cx="11116101" cy="0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/>
          <p:cNvPicPr>
            <a:picLocks noChangeAspect="1"/>
          </p:cNvPicPr>
          <p:nvPr/>
        </p:nvPicPr>
        <p:blipFill>
          <a:blip r:embed="rId9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095" y="4212439"/>
            <a:ext cx="214682" cy="716705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307" y="4197683"/>
            <a:ext cx="271602" cy="69107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493" y="4314665"/>
            <a:ext cx="319248" cy="743778"/>
          </a:xfrm>
          <a:prstGeom prst="rect">
            <a:avLst/>
          </a:prstGeom>
        </p:spPr>
      </p:pic>
      <p:sp>
        <p:nvSpPr>
          <p:cNvPr id="41" name="Pie 40"/>
          <p:cNvSpPr/>
          <p:nvPr/>
        </p:nvSpPr>
        <p:spPr>
          <a:xfrm rot="10800000">
            <a:off x="5322834" y="3887380"/>
            <a:ext cx="1335508" cy="1257423"/>
          </a:xfrm>
          <a:prstGeom prst="pie">
            <a:avLst>
              <a:gd name="adj1" fmla="val 9207835"/>
              <a:gd name="adj2" fmla="val 16218568"/>
            </a:avLst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42" name="Pie 41"/>
          <p:cNvSpPr/>
          <p:nvPr/>
        </p:nvSpPr>
        <p:spPr>
          <a:xfrm rot="10800000">
            <a:off x="5305405" y="3945436"/>
            <a:ext cx="1335508" cy="1257423"/>
          </a:xfrm>
          <a:prstGeom prst="pie">
            <a:avLst>
              <a:gd name="adj1" fmla="val 1608655"/>
              <a:gd name="adj2" fmla="val 9207445"/>
            </a:avLst>
          </a:prstGeom>
          <a:solidFill>
            <a:srgbClr val="FF99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43" name="Pie 42"/>
          <p:cNvSpPr/>
          <p:nvPr/>
        </p:nvSpPr>
        <p:spPr>
          <a:xfrm rot="10800000">
            <a:off x="5322833" y="3887380"/>
            <a:ext cx="1335508" cy="1257423"/>
          </a:xfrm>
          <a:prstGeom prst="pie">
            <a:avLst>
              <a:gd name="adj1" fmla="val 16220128"/>
              <a:gd name="adj2" fmla="val 1624201"/>
            </a:avLst>
          </a:prstGeom>
          <a:solidFill>
            <a:schemeClr val="tx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prstClr val="black"/>
              </a:solidFill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9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566" y="3919787"/>
            <a:ext cx="113354" cy="378426"/>
          </a:xfrm>
          <a:prstGeom prst="rect">
            <a:avLst/>
          </a:prstGeom>
        </p:spPr>
      </p:pic>
      <p:grpSp>
        <p:nvGrpSpPr>
          <p:cNvPr id="9" name="Group 44"/>
          <p:cNvGrpSpPr/>
          <p:nvPr/>
        </p:nvGrpSpPr>
        <p:grpSpPr>
          <a:xfrm>
            <a:off x="6127041" y="2405288"/>
            <a:ext cx="1351540" cy="1287651"/>
            <a:chOff x="8430514" y="4996257"/>
            <a:chExt cx="1639035" cy="1620001"/>
          </a:xfrm>
        </p:grpSpPr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46328" y="5066155"/>
              <a:ext cx="626441" cy="1550103"/>
            </a:xfrm>
            <a:prstGeom prst="rect">
              <a:avLst/>
            </a:prstGeom>
          </p:spPr>
        </p:pic>
        <p:sp>
          <p:nvSpPr>
            <p:cNvPr id="47" name="Pie 46"/>
            <p:cNvSpPr/>
            <p:nvPr/>
          </p:nvSpPr>
          <p:spPr>
            <a:xfrm rot="10800000">
              <a:off x="8449549" y="4996257"/>
              <a:ext cx="1620000" cy="1620000"/>
            </a:xfrm>
            <a:prstGeom prst="pie">
              <a:avLst>
                <a:gd name="adj1" fmla="val 9207835"/>
                <a:gd name="adj2" fmla="val 16218568"/>
              </a:avLst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48" name="Pie 47"/>
            <p:cNvSpPr/>
            <p:nvPr/>
          </p:nvSpPr>
          <p:spPr>
            <a:xfrm rot="10800000">
              <a:off x="8430514" y="4996257"/>
              <a:ext cx="1620000" cy="1620000"/>
            </a:xfrm>
            <a:prstGeom prst="pie">
              <a:avLst>
                <a:gd name="adj1" fmla="val 1608655"/>
                <a:gd name="adj2" fmla="val 9207445"/>
              </a:avLst>
            </a:prstGeom>
            <a:solidFill>
              <a:srgbClr val="FF99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49" name="Pie 48"/>
            <p:cNvSpPr/>
            <p:nvPr/>
          </p:nvSpPr>
          <p:spPr>
            <a:xfrm rot="10800000">
              <a:off x="8449549" y="4996257"/>
              <a:ext cx="1620000" cy="1620000"/>
            </a:xfrm>
            <a:prstGeom prst="pie">
              <a:avLst>
                <a:gd name="adj1" fmla="val 16220128"/>
                <a:gd name="adj2" fmla="val 1624201"/>
              </a:avLst>
            </a:prstGeom>
            <a:solidFill>
              <a:schemeClr val="tx2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black"/>
                </a:solidFill>
              </a:endParaRPr>
            </a:p>
          </p:txBody>
        </p:sp>
      </p:grpSp>
      <p:sp>
        <p:nvSpPr>
          <p:cNvPr id="50" name="Rectangle 13"/>
          <p:cNvSpPr>
            <a:spLocks noChangeArrowheads="1"/>
          </p:cNvSpPr>
          <p:nvPr/>
        </p:nvSpPr>
        <p:spPr bwMode="auto">
          <a:xfrm>
            <a:off x="5010279" y="6151655"/>
            <a:ext cx="3517885" cy="668263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b="1" kern="0" dirty="0">
                <a:solidFill>
                  <a:srgbClr val="0E5580"/>
                </a:solidFill>
                <a:cs typeface="Arial" pitchFamily="34" charset="0"/>
              </a:rPr>
              <a:t>No Data Sharing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b="1" kern="0" dirty="0" smtClean="0">
                <a:solidFill>
                  <a:srgbClr val="0E5580"/>
                </a:solidFill>
                <a:cs typeface="Arial" pitchFamily="34" charset="0"/>
              </a:rPr>
              <a:t>Company level analytics</a:t>
            </a:r>
            <a:r>
              <a:rPr lang="en-US" sz="1400" kern="0" dirty="0" smtClean="0">
                <a:solidFill>
                  <a:srgbClr val="0E5580"/>
                </a:solidFill>
                <a:cs typeface="Arial" pitchFamily="34" charset="0"/>
              </a:rPr>
              <a:t> solutions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b="1" kern="0" dirty="0" smtClean="0">
                <a:solidFill>
                  <a:srgbClr val="0E5580"/>
                </a:solidFill>
                <a:cs typeface="Arial" pitchFamily="34" charset="0"/>
              </a:rPr>
              <a:t>Limited view</a:t>
            </a:r>
            <a:r>
              <a:rPr lang="en-US" sz="1400" kern="0" dirty="0" smtClean="0">
                <a:solidFill>
                  <a:srgbClr val="0E5580"/>
                </a:solidFill>
                <a:cs typeface="Arial" pitchFamily="34" charset="0"/>
              </a:rPr>
              <a:t> of customer 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400" kern="0" dirty="0">
              <a:solidFill>
                <a:srgbClr val="0E5580"/>
              </a:solidFill>
              <a:cs typeface="Arial" pitchFamily="34" charset="0"/>
            </a:endParaRPr>
          </a:p>
        </p:txBody>
      </p:sp>
      <p:sp>
        <p:nvSpPr>
          <p:cNvPr id="51" name="Rectangle 13"/>
          <p:cNvSpPr>
            <a:spLocks noChangeArrowheads="1"/>
          </p:cNvSpPr>
          <p:nvPr/>
        </p:nvSpPr>
        <p:spPr bwMode="auto">
          <a:xfrm>
            <a:off x="7248693" y="4849104"/>
            <a:ext cx="4623999" cy="1176615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b="1" kern="0" dirty="0" smtClean="0">
                <a:solidFill>
                  <a:srgbClr val="0E5580"/>
                </a:solidFill>
                <a:cs typeface="Arial" pitchFamily="34" charset="0"/>
              </a:rPr>
              <a:t>Segment level</a:t>
            </a:r>
            <a:r>
              <a:rPr lang="en-US" sz="1400" kern="0" dirty="0" smtClean="0">
                <a:solidFill>
                  <a:srgbClr val="0E5580"/>
                </a:solidFill>
                <a:cs typeface="Arial" pitchFamily="34" charset="0"/>
              </a:rPr>
              <a:t> information </a:t>
            </a:r>
            <a:r>
              <a:rPr lang="en-US" sz="1400" kern="0" dirty="0">
                <a:solidFill>
                  <a:srgbClr val="0E5580"/>
                </a:solidFill>
                <a:cs typeface="Arial" pitchFamily="34" charset="0"/>
              </a:rPr>
              <a:t>a</a:t>
            </a:r>
            <a:r>
              <a:rPr lang="en-US" sz="1400" kern="0" dirty="0" smtClean="0">
                <a:solidFill>
                  <a:srgbClr val="0E5580"/>
                </a:solidFill>
                <a:cs typeface="Arial" pitchFamily="34" charset="0"/>
              </a:rPr>
              <a:t>cross LOB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b="1" kern="0" dirty="0" smtClean="0">
                <a:solidFill>
                  <a:srgbClr val="0E5580"/>
                </a:solidFill>
                <a:cs typeface="Arial" pitchFamily="34" charset="0"/>
              </a:rPr>
              <a:t>No customer linkages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b="1" kern="0" dirty="0" smtClean="0">
                <a:solidFill>
                  <a:srgbClr val="0E5580"/>
                </a:solidFill>
                <a:cs typeface="Arial" pitchFamily="34" charset="0"/>
              </a:rPr>
              <a:t>Full view of segment</a:t>
            </a:r>
            <a:r>
              <a:rPr lang="en-US" sz="1400" kern="0" dirty="0" smtClean="0">
                <a:solidFill>
                  <a:srgbClr val="0E5580"/>
                </a:solidFill>
                <a:cs typeface="Arial" pitchFamily="34" charset="0"/>
              </a:rPr>
              <a:t>, limited view of customer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400" kern="0" dirty="0" smtClean="0">
              <a:solidFill>
                <a:srgbClr val="0E5580"/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400" kern="0" dirty="0">
              <a:solidFill>
                <a:srgbClr val="0E5580"/>
              </a:solidFill>
              <a:cs typeface="Arial" pitchFamily="34" charset="0"/>
            </a:endParaRPr>
          </a:p>
        </p:txBody>
      </p:sp>
      <p:sp>
        <p:nvSpPr>
          <p:cNvPr id="52" name="Rectangle 13"/>
          <p:cNvSpPr>
            <a:spLocks noChangeArrowheads="1"/>
          </p:cNvSpPr>
          <p:nvPr/>
        </p:nvSpPr>
        <p:spPr bwMode="auto">
          <a:xfrm>
            <a:off x="7541537" y="3449139"/>
            <a:ext cx="4650464" cy="781849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400" kern="0" dirty="0" smtClean="0">
                <a:solidFill>
                  <a:srgbClr val="0E5580"/>
                </a:solidFill>
                <a:cs typeface="Arial" pitchFamily="34" charset="0"/>
              </a:rPr>
              <a:t>Big data repository housing </a:t>
            </a:r>
            <a:r>
              <a:rPr lang="en-IN" sz="1400" b="1" kern="0" dirty="0" smtClean="0">
                <a:solidFill>
                  <a:srgbClr val="0E5580"/>
                </a:solidFill>
                <a:cs typeface="Arial" pitchFamily="34" charset="0"/>
              </a:rPr>
              <a:t>all Tata companies</a:t>
            </a:r>
            <a:endParaRPr lang="en-US" sz="1400" b="1" kern="0" dirty="0" smtClean="0">
              <a:solidFill>
                <a:srgbClr val="0E5580"/>
              </a:solidFill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b="1" kern="0" dirty="0" smtClean="0">
                <a:solidFill>
                  <a:srgbClr val="0E5580"/>
                </a:solidFill>
                <a:cs typeface="Arial" pitchFamily="34" charset="0"/>
              </a:rPr>
              <a:t>Customer </a:t>
            </a:r>
            <a:r>
              <a:rPr lang="en-US" sz="1400" kern="0" dirty="0" smtClean="0">
                <a:solidFill>
                  <a:srgbClr val="0E5580"/>
                </a:solidFill>
                <a:cs typeface="Arial" pitchFamily="34" charset="0"/>
              </a:rPr>
              <a:t>attributes across Group </a:t>
            </a:r>
            <a:r>
              <a:rPr lang="en-US" sz="1400" b="1" kern="0" dirty="0" smtClean="0">
                <a:solidFill>
                  <a:srgbClr val="0E5580"/>
                </a:solidFill>
                <a:cs typeface="Arial" pitchFamily="34" charset="0"/>
              </a:rPr>
              <a:t>(360° view)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b="1" kern="0" dirty="0" smtClean="0">
                <a:solidFill>
                  <a:srgbClr val="0E5580"/>
                </a:solidFill>
                <a:cs typeface="Arial" pitchFamily="34" charset="0"/>
              </a:rPr>
              <a:t>Tata Loyalty Alliance Program</a:t>
            </a:r>
          </a:p>
        </p:txBody>
      </p:sp>
      <p:sp>
        <p:nvSpPr>
          <p:cNvPr id="3" name="Up Arrow 2"/>
          <p:cNvSpPr/>
          <p:nvPr/>
        </p:nvSpPr>
        <p:spPr>
          <a:xfrm>
            <a:off x="955343" y="1799448"/>
            <a:ext cx="491319" cy="4492170"/>
          </a:xfrm>
          <a:prstGeom prst="up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54" name="Rectangle 13"/>
          <p:cNvSpPr>
            <a:spLocks noChangeArrowheads="1"/>
          </p:cNvSpPr>
          <p:nvPr/>
        </p:nvSpPr>
        <p:spPr bwMode="auto">
          <a:xfrm>
            <a:off x="348016" y="5363570"/>
            <a:ext cx="1705971" cy="328597"/>
          </a:xfrm>
          <a:prstGeom prst="round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400" kern="0" dirty="0" smtClean="0">
                <a:solidFill>
                  <a:srgbClr val="0E5580"/>
                </a:solidFill>
                <a:cs typeface="Arial" pitchFamily="34" charset="0"/>
              </a:rPr>
              <a:t>Company</a:t>
            </a:r>
            <a:endParaRPr lang="en-US" sz="1400" kern="0" dirty="0">
              <a:solidFill>
                <a:srgbClr val="0E5580"/>
              </a:solidFill>
              <a:cs typeface="Arial" pitchFamily="34" charset="0"/>
            </a:endParaRPr>
          </a:p>
        </p:txBody>
      </p:sp>
      <p:sp>
        <p:nvSpPr>
          <p:cNvPr id="55" name="Rectangle 13"/>
          <p:cNvSpPr>
            <a:spLocks noChangeArrowheads="1"/>
          </p:cNvSpPr>
          <p:nvPr/>
        </p:nvSpPr>
        <p:spPr bwMode="auto">
          <a:xfrm>
            <a:off x="321519" y="3935694"/>
            <a:ext cx="1705971" cy="315600"/>
          </a:xfrm>
          <a:prstGeom prst="round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400" kern="0" dirty="0" smtClean="0">
                <a:solidFill>
                  <a:srgbClr val="0E5580"/>
                </a:solidFill>
                <a:cs typeface="Arial" pitchFamily="34" charset="0"/>
              </a:rPr>
              <a:t>Cluster</a:t>
            </a:r>
            <a:endParaRPr lang="en-US" sz="1400" kern="0" dirty="0">
              <a:solidFill>
                <a:srgbClr val="0E5580"/>
              </a:solidFill>
              <a:cs typeface="Arial" pitchFamily="34" charset="0"/>
            </a:endParaRPr>
          </a:p>
        </p:txBody>
      </p:sp>
      <p:sp>
        <p:nvSpPr>
          <p:cNvPr id="56" name="Rectangle 13"/>
          <p:cNvSpPr>
            <a:spLocks noChangeArrowheads="1"/>
          </p:cNvSpPr>
          <p:nvPr/>
        </p:nvSpPr>
        <p:spPr bwMode="auto">
          <a:xfrm>
            <a:off x="348016" y="2520506"/>
            <a:ext cx="1705971" cy="315600"/>
          </a:xfrm>
          <a:prstGeom prst="round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400" kern="0" dirty="0" smtClean="0">
                <a:solidFill>
                  <a:srgbClr val="0E5580"/>
                </a:solidFill>
                <a:cs typeface="Arial" pitchFamily="34" charset="0"/>
              </a:rPr>
              <a:t>Group</a:t>
            </a:r>
            <a:endParaRPr lang="en-US" sz="1400" kern="0" dirty="0">
              <a:solidFill>
                <a:srgbClr val="0E5580"/>
              </a:solidFill>
              <a:cs typeface="Arial" pitchFamily="34" charset="0"/>
            </a:endParaRPr>
          </a:p>
        </p:txBody>
      </p:sp>
      <p:sp>
        <p:nvSpPr>
          <p:cNvPr id="57" name="Rectangle 13"/>
          <p:cNvSpPr>
            <a:spLocks noChangeArrowheads="1"/>
          </p:cNvSpPr>
          <p:nvPr/>
        </p:nvSpPr>
        <p:spPr bwMode="auto">
          <a:xfrm>
            <a:off x="1627983" y="2482484"/>
            <a:ext cx="4272303" cy="285623"/>
          </a:xfrm>
          <a:prstGeom prst="round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i="1" kern="0" dirty="0" smtClean="0">
                <a:solidFill>
                  <a:srgbClr val="0E5580"/>
                </a:solidFill>
                <a:cs typeface="Arial" pitchFamily="34" charset="0"/>
              </a:rPr>
              <a:t>Tata Group-wide Loyalty Alliance Program </a:t>
            </a:r>
            <a:endParaRPr lang="en-US" sz="1400" i="1" kern="0" dirty="0">
              <a:solidFill>
                <a:srgbClr val="0E5580"/>
              </a:solidFill>
              <a:cs typeface="Arial" pitchFamily="34" charset="0"/>
            </a:endParaRPr>
          </a:p>
        </p:txBody>
      </p:sp>
      <p:sp>
        <p:nvSpPr>
          <p:cNvPr id="58" name="Rectangle 13"/>
          <p:cNvSpPr>
            <a:spLocks noChangeArrowheads="1"/>
          </p:cNvSpPr>
          <p:nvPr/>
        </p:nvSpPr>
        <p:spPr bwMode="auto">
          <a:xfrm>
            <a:off x="1547477" y="4015117"/>
            <a:ext cx="3065465" cy="497759"/>
          </a:xfrm>
          <a:prstGeom prst="round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i="1" kern="0" dirty="0" smtClean="0">
                <a:solidFill>
                  <a:srgbClr val="0E5580"/>
                </a:solidFill>
                <a:cs typeface="Arial" pitchFamily="34" charset="0"/>
              </a:rPr>
              <a:t>Defined customer segments across various clusters</a:t>
            </a:r>
            <a:endParaRPr lang="en-US" sz="1400" i="1" kern="0" dirty="0">
              <a:solidFill>
                <a:srgbClr val="0E5580"/>
              </a:solidFill>
              <a:cs typeface="Arial" pitchFamily="34" charset="0"/>
            </a:endParaRPr>
          </a:p>
        </p:txBody>
      </p:sp>
      <p:sp>
        <p:nvSpPr>
          <p:cNvPr id="59" name="Rectangle 13"/>
          <p:cNvSpPr>
            <a:spLocks noChangeArrowheads="1"/>
          </p:cNvSpPr>
          <p:nvPr/>
        </p:nvSpPr>
        <p:spPr bwMode="auto">
          <a:xfrm>
            <a:off x="1602070" y="5524201"/>
            <a:ext cx="1709021" cy="260582"/>
          </a:xfrm>
          <a:prstGeom prst="round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algn="ctr" rotWithShape="0">
              <a:srgbClr val="000000">
                <a:alpha val="0"/>
              </a:srgbClr>
            </a:outerShdw>
          </a:effectLst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400" i="1" kern="0" dirty="0" smtClean="0">
                <a:solidFill>
                  <a:srgbClr val="0E5580"/>
                </a:solidFill>
                <a:cs typeface="Arial" pitchFamily="34" charset="0"/>
              </a:rPr>
              <a:t>Enhanced Customer centricity and Data driven organizations</a:t>
            </a:r>
            <a:endParaRPr lang="en-US" sz="1400" i="1" kern="0" dirty="0">
              <a:solidFill>
                <a:srgbClr val="0E5580"/>
              </a:solidFill>
              <a:cs typeface="Arial" pitchFamily="34" charset="0"/>
            </a:endParaRPr>
          </a:p>
        </p:txBody>
      </p:sp>
      <p:grpSp>
        <p:nvGrpSpPr>
          <p:cNvPr id="36" name="Group 44"/>
          <p:cNvGrpSpPr/>
          <p:nvPr/>
        </p:nvGrpSpPr>
        <p:grpSpPr>
          <a:xfrm>
            <a:off x="3463670" y="4981575"/>
            <a:ext cx="1351540" cy="1287651"/>
            <a:chOff x="8430514" y="4996257"/>
            <a:chExt cx="1639035" cy="1620001"/>
          </a:xfrm>
        </p:grpSpPr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46328" y="5066155"/>
              <a:ext cx="626441" cy="1550103"/>
            </a:xfrm>
            <a:prstGeom prst="rect">
              <a:avLst/>
            </a:prstGeom>
          </p:spPr>
        </p:pic>
        <p:sp>
          <p:nvSpPr>
            <p:cNvPr id="45" name="Pie 44"/>
            <p:cNvSpPr/>
            <p:nvPr/>
          </p:nvSpPr>
          <p:spPr>
            <a:xfrm rot="10800000">
              <a:off x="8449549" y="4996257"/>
              <a:ext cx="1620000" cy="1620000"/>
            </a:xfrm>
            <a:prstGeom prst="pie">
              <a:avLst>
                <a:gd name="adj1" fmla="val 9207835"/>
                <a:gd name="adj2" fmla="val 16218568"/>
              </a:avLst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53" name="Pie 52"/>
            <p:cNvSpPr/>
            <p:nvPr/>
          </p:nvSpPr>
          <p:spPr>
            <a:xfrm rot="10800000">
              <a:off x="8430514" y="4996257"/>
              <a:ext cx="1620000" cy="1620000"/>
            </a:xfrm>
            <a:prstGeom prst="pie">
              <a:avLst>
                <a:gd name="adj1" fmla="val 1608655"/>
                <a:gd name="adj2" fmla="val 9207445"/>
              </a:avLst>
            </a:prstGeom>
            <a:solidFill>
              <a:srgbClr val="FF99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black"/>
                </a:solidFill>
              </a:endParaRPr>
            </a:p>
          </p:txBody>
        </p:sp>
        <p:sp>
          <p:nvSpPr>
            <p:cNvPr id="60" name="Pie 59"/>
            <p:cNvSpPr/>
            <p:nvPr/>
          </p:nvSpPr>
          <p:spPr>
            <a:xfrm rot="10800000">
              <a:off x="8449549" y="4996257"/>
              <a:ext cx="1620000" cy="1620000"/>
            </a:xfrm>
            <a:prstGeom prst="pie">
              <a:avLst>
                <a:gd name="adj1" fmla="val 16220128"/>
                <a:gd name="adj2" fmla="val 1624201"/>
              </a:avLst>
            </a:prstGeom>
            <a:solidFill>
              <a:schemeClr val="tx2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1534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526879" y="2385181"/>
            <a:ext cx="9342403" cy="1822514"/>
          </a:xfrm>
        </p:spPr>
        <p:txBody>
          <a:bodyPr/>
          <a:lstStyle/>
          <a:p>
            <a:pPr algn="ctr"/>
            <a:r>
              <a:rPr lang="en-US" dirty="0" smtClean="0"/>
              <a:t>Tata AIA Business Priorities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51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Analytics Opportunity Quadrants for Insurance organizations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618772255"/>
              </p:ext>
            </p:extLst>
          </p:nvPr>
        </p:nvGraphicFramePr>
        <p:xfrm>
          <a:off x="159661" y="1600200"/>
          <a:ext cx="11843657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291" name="AutoShape 3" descr="Image result for pric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95" name="AutoShape 7" descr="Image result for hotel dema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97" name="AutoShape 9" descr="Image result for hotel dema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01" name="AutoShape 13" descr="Image result for demand clip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09" name="AutoShape 21" descr="Image result for wai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13" name="AutoShape 25" descr="Image result for human resourc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15" name="AutoShape 27" descr="data:image/jpeg;base64,/9j/4AAQSkZJRgABAQAAAQABAAD/2wCEAAkGBxMTEhUTExMUFhUXGRcXGBgVGBQUFRcYFxcXFhQUGhgYHCggGBwlHBQUITEhJSkrLi4uFx8zODMsNygtLisBCgoKDg0OGhAQGi8fHyYsLCwsLCwsLCwsLDQsLCwsLCwsLCwsLCwsLCwsLCwsLCwsLCwsLCwsLCwsLCwsLCwsLP/AABEIALABHwMBIgACEQEDEQH/xAAcAAABBQEBAQAAAAAAAAAAAAAGAAMEBQcCCAH/xABFEAACAAQEAwcCAggDBQkBAAABAgADBBEFEiExBkFRBxMiYXGBkTKhFLEjQlJicsHR8BUzkhYkgqLhFyU1Q2NzstLxCP/EABoBAAMBAQEBAAAAAAAAAAAAAAABAgMEBQb/xAAmEQACAgICAgICAgMAAAAAAAAAAQIRAxIhMQRBIlETYQXRI0Kh/9oADAMBAAIRAxEAPwDcYUKFAAoUKItbiEqULzHVfUgQASoUM0tWkwZkYMOoN4axLEZUhC81wqjmYAJcKKSh4rpJyM8ucrBQSRfWw8oBqvtFrGdmkUt5QOhIN2HWE3XY1Fvo1SFFLwrjwq5OfKUYaMp3BiwnYjKU2aYgPQkQwolQobkzlcXVgR1BuI7JgEfYUIGI9RXS0IDuqk9SBABIhQMcS8Yy6UhQO8Y8gYmYFxElQNRka17Hp1idldFaSq64LuFALjHabTSZmRVMyxsSNo+zuOVqJP8Aun+YTYhv1fODdDWOT9BzCjF3qsTkuZxnFraldwR6QZ1naDKk0kuodSWcfQN7jeFGcZdDnilHtBrCgM4P7Q6eubIAZb8g3P0h7F+0Gjp5vdMxZhocuoEWRTC2FEXDMQlz5YmSmDKeYiBiHE9NJbK76je2oHqeUJtIEmy5hRDTFJJld8Ji93a+a+kVFLxrRzJndrM1JsCdAfeC0Ci2EcKPl+cD1XxtRS5vdNOUMND0B9YYgihQ1JqFdQ6kFSLgja0ZvxjxjVBmFMLKptmte9omU1HsuEHPo02FAN2ecXvVDu54HeAXBHODmHGSatClFxdMUKFChkihQoUAChQoUADVTOCIznZQT8R524hx01lS2ZzlLWGugF42XtKxLuKCa17EjKPeMF4HlLMnFmGa2oHnGObo6vGXJrfCwFMEyTN2UMCdwecX3ELymfLN100B2gGxzEFl/hxYB3mJtvYGDDih2F2sLZNOtyIxtrGdCheUA6rCZZn3p/DrZguxHMQQPjzpdEp2IQDygbl41LkzZWZbF3AP8yYvMUqpZcssw2Y2ET8tU30aVD8jXsu6SteVInVATIzqNDsG2vFTW8MSGkGZMnMZrC5bNzOtoY4r4gligMpWu4ZQ3Ui94nSqlDTy2VFKMATc31tFZG0kYQipSdA/2bcTNT1Jppj3lkkC/I8jE3iLiSpqah0kNlRDlFuZ6xn2NzCtWzL4ddLQX8Fzwe8Ripe+bXfWG8jURRxJzCbgvHqhJ4p6hswYeE+Y5RFrMPlzaia8+a2YNYC+i66aQyjhq6nRAM4bM1ukXmNS1kVZLFAszU3tvBu3CxqEY5GjPMYVlqspNxewJ+xgm4elzWBAbx2YadCIpuK56NVd7IyzAgBcL4redoJeGsQWRLasmALLsNOZ87QRxycrKnlgsdA7gPCRExnmC5sSAdr35xf0WAGVNaaAFDLrbYGJM/iKTVkmQTYHloTF5hTowZHIBK6AnWE4S21K/JDRSKDVnsTcfnDWNYcERGyK2lgDsBfWJaUjZi+iy13Y7WG8M1fFFJWSWRGCvLNgP2gOYgjikoNjlmg8sUU+H0wM7MqBSp0K7xbigpcrM0sFxqxI1JMUPD3EsinqVWcLBzYE8r84IsZrAD4WGW+nmImpKCsu4SyNI6wivWmpJwlaZmsg6FtI+y0WTTuJwBzAknckne8UnGc4SpNNlPjdw5HvpHzjXFmlSQcts6hdfPeFkk+EYxjG2yt4YqDNlTpGY90HzW8r7QSvh1KcirYX2PnAt2eHKk5zsSFF9iTBxhMkzJqDKth9oTbtFwSUWyw4yxhqTDsynxsAinzOl4yrhnhEzHaZVFsu5tuSfOCjt1xRZUqRIXfMHI8hEfhfHlMhpubTLfKeVhHTmyShFV7OXx8cMjdhrwG47idJUkrLYqt+nIRXzqbL4Lrl1uCNzEXsvxuSKadNdwC0xiQTrqdBEjEapZjX6mIzxeqZp4slvIlcI4VacHyhcoP07axz2h8YPSlJMgXmvr1sIv8AhiqlMmVWGYbjnATizS3xSZmF3UKFHlzil/jxkOsuYa4e42q0qElVVir21tYi8aqDGI8cTElzJFrBs1/O1xGz4fNzS0bqoP2isM3JckeRjUHwSIUKFGxzihRTpVAC94kS6477wrHRl/bbjAYrS2Nh4m/lAbwXOpUJWZdX/Vbqehg37TuHZ05zUSULrbxBdXW37u59rxlaUxuSOW/UQ9FJUzoi9VaNEwvhAVM3vZ1SqXYZFzAtYHTTlBDxY0xJMy5uFsFPkBvGPyQ1ldXa9wRqdI1XiKeTQ2JJJRCSYjLgSSS+0LFmk22/ozKtqWci5vY/EPLiMwBVDAKDe51isnvkbqD+cdzpMwEXBF9dftG8aiYNtv8AZNqajMr5jcnUwWT6lZOHS5oBBbQJc6nrASlKBe5veJk2pZlCsxKroByEebm8qG3HJ73j/wAPmlFOb1/6yqrsTM18xW3lBDwjOUOX3vofKBOrSzkQRcHuPEDHTrGULPJltjyOL9MJ8AxRaOsmT6gHJYlT16AQE8Y8SvV1DzLsqn6Rc6CHONsQzzUTNcKNRFN+JlmWVK+I7NFwjquDOb2lzwS+GZ5zv4iLob+duUN1ldNdcpmMQOVzb4iHQKQ2/Ix33TMwVQWJ5DWN/RjXJY4Hi8yRmMsi56wT02LTqqoQk2IFtNIDTRuhGdGW55giLCnxLuXDDkD/ANIal0FBbxzxVkpkpJbG7C8w319IziRNZTmUkGPtRMZ2LtzN4aDRE3bscVQZ8D9zOrUm1bDKoucx002jR67FqKociTMUhd+QFukYXLfwtDUqeV+kkekZ5IKao1x5HCVmucXTqOfLWbInBnkEZkva4B1teBjibiNaxEsCCu46QDq/O8S8LmatCeKLfQLJIvP8bdZCylFgGzk8yYP+GcXM+mZ5TZZy7+0ZVMex12i44YxZqacGH0HRhyIMLJhTXHaKhkp89M547rp1ZP72YdgFsOVtDDQnNIliUraEa+d4ssbZO8YqLgtmHodYpsXrA8zQW0EXqpJNmbel0LC5pExBfTMNOUaTVCblzgc7b6WjL6J7TV9RGsT5x7km2irf003jv8aKknZzu74+jOMRx+fLqXeW7IQbaHpEvAa+dVV8uY7nOdCRpcecC8+bndj1Ji24WqBLqpbX2McWRbWa424tBP2l1MtJ8tF1YDU9I1ns0xkVFGn7SeE/yjI5eGPWV7MRoT8CNT4BwNpDzW2Q7DzjGGPXo3yT27DaFHwm28IMOsaGACUNWL2J0O3lFtT1ABtADTYkGAN9YuafFAdzGZYVd7Y3ER6/BaaqVhNlKSwsWACzP9Q1iuSvB5x0uLBNbj3hpiBqn7JAlwKxit/DeUMwHmc1j8CCbFuHy1H+HV0ZwAAzAqDbba9oelYy03awETC2nWK3YkqMDxnCKqjfNPlMljo1s0vyIcXX73iuXGWmzlLnNcgEjpHpSnn6ZWFx56j4iPV4LRTf8ylkMeplS83za8PYDKOJMJAUTZam1hsNNoF80egJuB05lGSAUQjLZTew8s14z7EeyDc01Yf4Z66emdP/AKxwS8Rt3Z73j/zP44KEk2ZliabGLPhGleazJL+u1xc2ETsW4AxOSDeQJqjdpLCZ/wAps59lirwmnnynJMqchtzR0I+QI6sUHCGrPM8vNHNmc4KrKLHZXd1DhmzMCQxG1+YiInitY/MGmMfhTJLvKtNB8RJ1Y9fWAyaykXVcovG1/RzNFsuHNLylmU5r2sbw7htU0ics1bHLyPOJHB/CFTVy5k2UkxsuiclZuYDNZfvBrhHZZO8LVs5JQP6kr9JMPXxEZV9fFDtKPyYle3xBviji4VgQd13ZS/vArUNe0ehE4AwkJlNOCP2jMmlz55g2ntaKr/s4wfNqZxH7PfNb5Hi+8RvFKi9JydmEO0NyzvGqcX9ligGZhzs9t5MxgWP/ALb8z+63zyjLWlMjMjqysuhVgVYHoQdRApJ9EuLXZY4TKluxExsq5Tr58oqSSGNvOHHbwmIveRSE3xRIlSGc5V1Ji04fprze7O5uPeKeVOsbgkGCvs+w9p1WpINhck8toa7E+iLPlWJUjbSJ9Jw7VPK7yUodTyUgsPaJPGUkSqhxbcXinwzHZ0g3lzGX30+IJX6Kg17HhIno4WYhXrm00iorKj9MPUwUylxGtBYU82bpo+QgezGwPzDNF2V4pNfM0pJQ/wDVmKPsmY/aEr9im10ilpVvMX1EadxHVWomVNBlFzzJ5x8wnsnmK6vOqZdhYkS1Ztel2t+UH3+zdM0oynQurCxLEgn0K2t7R14skYQd9syvk81SVtErhmZepQ/vgfeNXxTshksSaeoeWDssxe9A9GuD83ipwLsxl0s7PVVT2BBUImUMR1Yk/AjmpjtGi4fhyy/EFAZum5i/m1okoFAzPvYbD1P8orZE+TYFJg02JJMfJlYg/wDO+BD1Q5TbI2Mu01AXJHlsPgRTS8QmSdMxI5X1idiOIqRodPOKudPQgAsB5a3+LRRmAguNjDkuqcbGJaUGl20EczCi7axynQdJi0xRHcitLnUk+UQHu2wixwylmLqqgeZhgFeEymYaDKOp0iZV49IkC2bO3QawLVdS1rPMLfujwiB6sqiTlUW9IQBVU8cPmsiD+cPU3FUw/UID6aVl15xJM6AYeUvERbqItZGNIecZj+JPKOvxTdTDEa5SV4LKL/3vFt+MHURkeD1ji5uT0i+kYw+xA9RvHbh8faGzObJlqVIuOIaSinvaop5Mw2HiZFY/6rX+8QKLgvCSbijlHW9mzMP9JNoHKziECc99bWHwAD97x3I4nAOm0ePlzOOSSXVnqY8KljT90aUsxVASWoAAsFUAKoHIAaARWY2LKTMYeuunQWgAxfjeYpHdXtazWNj5ERS1nEk2osLO38bCw9hvBDLt2jRYVHm/7Luux5Zd8z+A3Avob/uwJNjpZ9HI9zFjS4IXYPNOY+ew8gOQggXCpBXK8pWHoIG4vsraSfBX4LxC6OLsTBjieFUeJS7T0UvayzVsJqdLPuR5G48oBsT4aeV+kkBpkvmm7r6ftDy39Y+YVirJbKxt+XUQRkodBKG65KnHeyatS/cd3UJ+qQyy3t+8rkC/oxiNh/Y5icz6lkSvKZNBPp+jDRqeG45mTU+QiUvEQU77fy1jZZzmfjgBSdg1Vp3lXIU/uLMmfnlvGl4Zw9KpEEm+YhRdrBc2mpsBprfnBCMQB5xRcU1QXK6n9068txHYos4pMi1XDtBMbNNp5cxusy7/AGJsIepsJopRBl0tMhGxWTLB+QsUJxYnY29ifgkj8o4aqB+t2b/iyj4W0OibCqbiaDdhp5gRFbGl/UDP/CCR87QOCeo+hEB62F/k6xBrJs0+LObeph0IL/8AFH5Kq/xsPyQGPprmO7+yqB92v+UAH+MMuhvf4/8A2HpONk7mAYW1WLFdL39SW+20Rl4gUqQ4UrzDWIPtFQKlZgsDrFTiNI6qenOARdGbTTT/ALvNyN+wTYHyVj+URnZlYq1weYG/ux29rwB98ZT33UwYYXi4dQr+NeTbun9R5Qkx0W1JVqutgD13b0udYkmzHMN+vP5irfDzbOhDL1H96R3Tz2XeGIrWkTJh2h6XhCLq7ewixxDD50vwuGT1FgfQ7GK58Oc845joHGqJMv6UBPUxXVeMO2g0HlEtcHY7mFMopUv6tT5mACkKu55n0ifTYaQLnT84sg6qPDp7D+zDEwsed/tCAizZajaI9olFTDbJaGA1lj6FjsQ9Tpr6f2IcVs0kJulY9RKQb3PT+sWXe6aw1IlR3XUrtKZZerEWHoSAfsTHsSax42/pHnxTyTS+2DRQuSx3JJ9ybw2yRdYfg01PqX5hmtWUHtex6R8s7bs+iTpUUs2TeJdFNVNxEyppkRc28QqSdc6W9DYGHyHARUlbLI/pFnT18oaGB6RNXZlsfLQ/ETgiNscp6Np99oSdF1fRaTMalym0DC/MbfHOI+MYGtRefJsJ27KNFm2G/k1ra89j1HFRIlzEIt4hvp9xELDappZza259ARofyhU6/Q3JWl0yFQs6gm1rG2uhvsdOUJlZrwW1lAlQpmoP0lhmA/XHX+L84GaRPE1uRO/9IqKrscnfQYUlUwlSz+6t/gXir4jqi0ogX6/GsSqA5pCgnYkfe/8AMRBrJd7jrcR7mN7QT/R4mRVJoEmrWHMxH/Htff4jmautjuNIZZYyEWErEX84nSMWHMRTSJusT1VDDES6jJM6RWTqUqdDf++kTBh4P0m0cNRPyPxAKyF+JZdjaHGxSYRYm484+TaVhuIYMnyMIYxUKGEQpE15TXU/0ixZIjTpV4QwgwXiCx3yE731RvUcvWCYV8lwC/gPUeJT6ERmFiDE+ixR5exMCYmj0q6AixAIPI6iKWt4Vp31UGWf3NB/pOnxaLyFGZoAtZwnUL/lsswf6G+Dp94H5qhHZJiZZmlwwuQNeXQ9Y1qPNXbnPYYpdWKkILFSQR7iFrY7DSbhyE3Ga3JFNgDc3OvtESooHB0IUcs25jNML4tqUIzN3gH7d83sw/neNBwPEJ0+naolp+jQ+O5F1899RGbg10Uuhtp7gkZGNtGtc2+P71jsPoOn2jta8MNWK638IJVvjf3iOKi+ltPPeGrA+vMSCDhRKSZmltNlNOv/AJeYd4AB+ze/OBasnrKRph2UX9TyHubQL8FYiUr5MwnUvqfNt/uY1xPV7GeRbKjc/wDZ+XyzD3/rAzjdSJczu5M8Iy/WSAwv+zsdo+cR0FXKmzJudlDG4KsVB+DA/Q4VOmnwKWOpNtTrzh5/K/JHTovB4/45b90S53ElTmyK6tpqSmvrpaIdTgzzCZjPMudcwtv1ttaKziNp1JMDrYONCrC4seRHSK6XxtVNMlr3iSZeZcxRLAC+tyxYgRyLFfKO5ZUlyi+Y5yspifD9dtLkcheJdfQyJQDEsqNpZ9bHkQbbb/EXGFYIQ3eXGutz4g19b+cQsTlrWzu7ucku+rHKGOzNfoLWH/WM9E4r7NVJdLr7ID07Kt0s8v5t/SHMNnqXynNlbcdPOLvAMOyIUa5Ckjqbbj13iWcHksCZfvlOoPQjl7xOrFaRx+ASWt1zeRJ0MU1PWZJpVtZT788rbFh5dR/Zs6Cc1OzLMu0o6nmVPNrcxbceXzxic+kmSzMlz5JUC9w66eovdYK4+IN2/lySqWVOlN+j1TcHlY9D0gW4g4kmSa4SlSVlcoXLBi12GuzADa+3OKWm4wqJJdZUxTLJOVXAYL5rzHW20DOK1zO/eM2Zy1y3O8a44K1wZ5punybtSsAptaxsw9wIarUuIBeD+0CnlUwl1RmZ0JC5Ez5lvdddgRe3sIv6bj2mmozy6ee4U65yiXHMgDNHoxnCEeTz2pTlxyUuJyrTGHv86mIhi4x6slz2WbKTKpUCxIN+YOg6HbyitCQn2ZkbLD0p7f8ASPjoeUcFDCAnSqoiJcutimW8SZNz1gCi1/FDmBHa5DESXRuRpEmThzQCo+tQyzyhlsJWCTB+GJs42uq25t/QQTUnA0sf5k128lAUfe5idkPWSMybBUj5L4az/SGb+EFvyjaKXh+ml/TKUnq3jP8AzRZKoGgFh5QtkPVn2FChRJYo8wdtLXxKYegAj0/HlvtbH/eE+/UQIaA2nO5ja+EpPd8Pz32zlv6Rico6RuuKjueHZSgfUBf3MHsf+pkAxGbKN0cjy3U+x0jYuEOEnrKKXUd4qTGvplOQ2Oh3uPvGIvc6R6r7PqQysPp0IscgPzrA0KzFO0jCJ1KiS5oADNe4NwwA0+/XpAThUzLOlno6n7xt3b/S3pZUy30vb5jBw1jeKiJnpnjBc9PIbcED8oj8IFZfevb6Uhjhyr/F4RLbdkFj/wAOkQ5NYJdPO6sAo944snxy2d2L5YdQJ42kGZKmz2+otf2jNC1zGr8WJbD5rnYWHuYyBG1jTxrq2R5VXSNT7O3b/D6wlmIUAKCSQt98o5e0S8FxyhlywZjlHUAFcrm5HMZQbiOOyimM2jrpY/ZB+LxnuJNaYR00jocUzmjNx6NCTtCpMxWYk1U1ImLqTrzTcf3tErC+IaafUSpdHNfvJjAN4HUhb3bMWFjp6xkFQ8aD2D4b3mIGZbSWt/cxm8UbL/NKjVu0XAlFBPeWWDBDzG3PlePMevWPVfaiG/w2fla3h+3MR5XXnFJJEbN9nEi+U+sfZmw9YQPhjljoIsk4Ig77OqMzknIP2ST5ACAPNGk9jlcVmTpQTMHltc/s2B1iMkdlRcJauyPw7VZkeUTqhNvS+n/yPxFsiGBHB65JFU7TL5CWVrC5Gpsbc9fzi8mcaSgbSadj+9NYD3yrf841TMpRdl1LomOwJiVLwo2uxsPOwHyYBKzjOrckCYJa9Jahfubn7wNV9ZMmG7zHc/vszfmYNidWbngmArU37grMy6EqylQeha9vaJHF2C/gKRqk5GZbALra56mLXsNoBLw1G0u5LGGu3hyMNNubreJ2K1MjwziyonTpYdlVSwBVFyi3qbn7xqXc3dW5D+cYRg839JL/AIh+cb/RrdPO4/KObPy0dni8JhbwvK8LN1i9iJhkjJLUeUS41gqVGGSVybFChQoogUKFCgAUeX+17/xCf7R6gjzh29YR3NWJoOk0XI6EQDRnNItyF6kfnHoXj2plyMHlSnRmLIoW3I2vrGE8I0Bm1EsaABlJJ0AAMeiO010FAosGFhY+g5Qw9UedsOJaolqQQC6jbzj1/h8vLKRRyVR9o879n+EGpxCUSoshzt5AbXj0cSAPIQMAV7UZMtsOnd4CQBcW1IPIx5aZ49UcRY7L7p1Khla6i+oPXSMYxvgcuSyIUZhmUfqmM1limaLDJqwp7C8UQ09RIdgLeIA9DvHWLLfY6ZvtAfwNwtVJVFGDIrIwLDbbSCx2CyyrEZluN9yIw8n5U0dHi/FtMHu0SXUrJlozL3DjMFX6iQNzGX5h8Qc45Vfi2DiawWWpBXzHIRX4Hww9U36NTlB1O0dGPhI5sj+TDvgavFLg86dJBaa7ZWuNB0jMa0sWLMBrrGvYlikmnoTQy5LIbWZiNzzYRmNSgKsqy2Y/tWNhGlqjOgcmG5jcf/5+aSkuaCQJrEb8x5RkeGYM82dLlhTZmANtdL6x6Rwjs+ppORkBDCxvc7iJGCfb7jDpJlyEJCtfP/IRiFBQzJ57uShdjyAjZe3XGUYS6ZVBa92NtR5Qz2UYSsrvqoL4VlnXobXtABitXKZCUYWZdCOhhnNpEnGqjvJ81/2nY/eIIihHd403sTnWmVI6yW/KMwgz7M6wy5s6xsTJcfaEMpqoXdv4j+cc08sk2A1OkOSJbTJmVVLMToBqSYLOBMMCVv8AvJCZL+Ft78tIBkXiXhaXTUcubc961rg+esB+HUTTpqyxuxtGp9rbDJLAOxvaKDsswgzKkzSvhli/udoCDdezmh/D0aSL3KbnreKntvpy2GPbkwMEXDL/AFD3j5x1h/f0M+X1QkeohDZ5JoCQ6m+xH5x6K4eBdVfrltGBYVhLPOSXbUsBr6x6SwLC5iGUGsEQAWHOMssbaN8EtUw0lbD0jqFCjUwFChQoAFChQoAFHn7tE4drqqtZ5iju72S50Cjyjf3awJgMxq7gnzgY0zMeH+zSeHUpOQAnUEfaNK7RMHd8PEpNWULtptvaGMDdlmCCrHZWaVe9tNoAvkzXsewhqec7TQAziw6+8a863BB5xnuFyis1T5xoanSALKWdhctQfAuhvqLiBnHMZBJXu7kaA8oNsTF5Z1gFraU94YzljtUuDWGVJ21ZYYTORcgtdmGvlFBxX2ZiqmmZKnNLLbrrlv1gpw6h8QJ5ReSfqhqKjwhOTlywU4V7PpciR3c9Umt1tv6w2aJZRKogQX2AtB9A9jaXeLMitwzBhOvnswG1wDFRxNgiy0KgKoOhAAF4K8DUh/aPnF9Lnliw1BgAzTh7DFlTUKb3EbTLOg9Iy6lklXB840bCqjOg6jSAAP4u4Mp5k7v3Ukk66xdcOUkpZbSFRQhGo630MSuIZZOXpDGCShdtdbQAZF2jdmI/EqaQBUb6tdAb6mG+Iuyde6lGRMUNk8QN/E3WNLqJZzG+usNlDDA89YrwXVyD4pZYdV1iXw7QzKdjNZSGsQFYaMDoY3nufKPsrBpU1gXlqxUG1xCGmCnZfhaTJwnmWqFTppob7mL3jLg6lmzmnKXWdv4diRFlIkBPpGW3TSLCgGZ/EL35wddA3btmL1vD1VUTx3vhQG2pvp1jW+F+E5FJTt3bFi4BYnrHONUQGo6xOwNtCp5iAQ/gy2mesXdVJzoyHTMCPmKyjl2cRbTTYE+UAHnTivhudR1atLDTFBvmA842jhysaZJRn3sN4jsoZtRcXi2lKLabcomRUS1Q6R1DclrgQ5FEihQoUAChQoUAHMzYwOVki6mCN9jFZPl6QAU2HUv6RfWCPEJWZbRCppVmBi0mjSAAWNHYwUUxuo9IgTpWsT6b6RAAzXi4Aigm0l394IaqISStYAO6WTaH2SxhxVjt12iSrO5bXEVmIyrteLCXDdUl7RSJZEw6XZofxNLgR9p1sYdqReAASnUXj94v8IXKSOsfJ0jURIkJYwAO163QxXUUqzCLaftEaUmogAqqym8ZhtaXQmLiqleKOUlaGACoFPE3D5FifQw+JUSKeXa8AFKZGsOyZdiDEvu46EuACHicq63hmkW1jFhVpdYYlJpABMlDUGJNafAYjyNhDtRMusAFMZOkTZK2AEJk0h8JtEsqI/SnlEiGZIh6GhPsUKFChiP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19" name="AutoShape 31" descr="Image result for hir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23" name="AutoShape 35" descr="Image result for risk clip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cxnSp>
        <p:nvCxnSpPr>
          <p:cNvPr id="28" name="Straight Connector 27"/>
          <p:cNvCxnSpPr/>
          <p:nvPr/>
        </p:nvCxnSpPr>
        <p:spPr>
          <a:xfrm>
            <a:off x="430847" y="1545824"/>
            <a:ext cx="11418253" cy="3576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 bwMode="gray">
          <a:xfrm>
            <a:off x="800238" y="1625600"/>
            <a:ext cx="2642840" cy="23495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lvl="0">
              <a:lnSpc>
                <a:spcPct val="150000"/>
              </a:lnSpc>
            </a:pPr>
            <a:r>
              <a:rPr lang="en-IN" sz="1200" dirty="0" smtClean="0"/>
              <a:t> 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 </a:t>
            </a:r>
            <a:r>
              <a:rPr lang="en-IN" sz="1300" dirty="0" smtClean="0"/>
              <a:t>Increase Cross-Sell/Up-sell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300" dirty="0" smtClean="0"/>
              <a:t>  Social media analysis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300" dirty="0" smtClean="0"/>
              <a:t>  Life-stage based targeting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300" dirty="0" smtClean="0"/>
              <a:t>  Retention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300" dirty="0" smtClean="0"/>
              <a:t>  Policy lapse &amp; renewals</a:t>
            </a:r>
            <a:endParaRPr lang="en-IN" sz="13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Service to Sales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Algorithm based Event triggers</a:t>
            </a:r>
          </a:p>
        </p:txBody>
      </p:sp>
      <p:sp>
        <p:nvSpPr>
          <p:cNvPr id="25" name="TextBox 24"/>
          <p:cNvSpPr txBox="1"/>
          <p:nvPr/>
        </p:nvSpPr>
        <p:spPr bwMode="gray">
          <a:xfrm>
            <a:off x="7652819" y="1688549"/>
            <a:ext cx="3995225" cy="23495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lvl="0" algn="r">
              <a:lnSpc>
                <a:spcPct val="150000"/>
              </a:lnSpc>
              <a:buFont typeface="Arial" pitchFamily="34" charset="0"/>
              <a:buChar char="•"/>
            </a:pPr>
            <a:endParaRPr lang="en-US" sz="1200" dirty="0" smtClean="0"/>
          </a:p>
          <a:p>
            <a:pPr lvl="0" algn="r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/>
              <a:t>  Sales -force management</a:t>
            </a:r>
            <a:endParaRPr lang="en-IN" sz="1200" dirty="0" smtClean="0"/>
          </a:p>
          <a:p>
            <a:pPr lvl="0" algn="r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/>
              <a:t>  Sales forecasting at city/region level</a:t>
            </a:r>
            <a:endParaRPr lang="en-IN" sz="1200" dirty="0" smtClean="0"/>
          </a:p>
          <a:p>
            <a:pPr lvl="0" algn="r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 Lead Generation and optimization</a:t>
            </a:r>
          </a:p>
          <a:p>
            <a:pPr lvl="0" algn="r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Increase penetration of digital as a channel</a:t>
            </a:r>
          </a:p>
          <a:p>
            <a:pPr lvl="0" algn="r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200" dirty="0" smtClean="0"/>
              <a:t>  Call centre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29" name="TextBox 28"/>
          <p:cNvSpPr txBox="1"/>
          <p:nvPr/>
        </p:nvSpPr>
        <p:spPr bwMode="gray">
          <a:xfrm>
            <a:off x="625627" y="4495249"/>
            <a:ext cx="4152901" cy="2096051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300" dirty="0" smtClean="0">
                <a:solidFill>
                  <a:schemeClr val="bg2">
                    <a:lumMod val="25000"/>
                  </a:schemeClr>
                </a:solidFill>
              </a:rPr>
              <a:t>  Planning and budgeting</a:t>
            </a:r>
            <a:endParaRPr lang="en-IN" sz="1300" dirty="0" smtClean="0">
              <a:solidFill>
                <a:schemeClr val="bg2">
                  <a:lumMod val="25000"/>
                </a:schemeClr>
              </a:solidFill>
            </a:endParaRP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300" dirty="0" smtClean="0">
                <a:solidFill>
                  <a:schemeClr val="bg2">
                    <a:lumMod val="25000"/>
                  </a:schemeClr>
                </a:solidFill>
              </a:rPr>
              <a:t>  Compliance management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300" dirty="0" smtClean="0">
                <a:solidFill>
                  <a:schemeClr val="bg2">
                    <a:lumMod val="25000"/>
                  </a:schemeClr>
                </a:solidFill>
              </a:rPr>
              <a:t>  Reinsurance policy management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300" dirty="0" smtClean="0">
                <a:solidFill>
                  <a:schemeClr val="bg2">
                    <a:lumMod val="25000"/>
                  </a:schemeClr>
                </a:solidFill>
              </a:rPr>
              <a:t>  Underwriting policy management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300" dirty="0" smtClean="0">
                <a:solidFill>
                  <a:schemeClr val="bg2">
                    <a:lumMod val="25000"/>
                  </a:schemeClr>
                </a:solidFill>
              </a:rPr>
              <a:t>  Actuarial analysis</a:t>
            </a:r>
          </a:p>
        </p:txBody>
      </p:sp>
      <p:sp>
        <p:nvSpPr>
          <p:cNvPr id="31" name="TextBox 30"/>
          <p:cNvSpPr txBox="1"/>
          <p:nvPr/>
        </p:nvSpPr>
        <p:spPr bwMode="gray">
          <a:xfrm>
            <a:off x="7677170" y="4462621"/>
            <a:ext cx="4025901" cy="2096051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lvl="0" algn="r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200" dirty="0" smtClean="0"/>
              <a:t>  </a:t>
            </a:r>
            <a:r>
              <a:rPr lang="en-US" sz="1300" dirty="0" smtClean="0"/>
              <a:t>Claims registration </a:t>
            </a:r>
            <a:endParaRPr lang="en-IN" sz="1300" dirty="0" smtClean="0"/>
          </a:p>
          <a:p>
            <a:pPr lvl="0" algn="r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300" dirty="0" smtClean="0"/>
              <a:t>  Fraud detection</a:t>
            </a:r>
          </a:p>
          <a:p>
            <a:pPr lvl="0" algn="r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300" dirty="0" smtClean="0"/>
              <a:t>  Claims estimation analysis</a:t>
            </a:r>
          </a:p>
          <a:p>
            <a:pPr lvl="0" algn="r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300" dirty="0" smtClean="0"/>
              <a:t>  Medical Management</a:t>
            </a:r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517941" y="2421480"/>
            <a:ext cx="710040" cy="62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" name="Picture 5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732448" y="1824216"/>
            <a:ext cx="1156797" cy="582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5" name="Picture 7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051131" y="1942695"/>
            <a:ext cx="588241" cy="484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" name="Picture 8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3634989" y="3293572"/>
            <a:ext cx="430300" cy="424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654243" y="2022064"/>
            <a:ext cx="211302" cy="199563"/>
          </a:xfrm>
          <a:prstGeom prst="rect">
            <a:avLst/>
          </a:prstGeom>
          <a:noFill/>
        </p:spPr>
      </p:pic>
      <p:pic>
        <p:nvPicPr>
          <p:cNvPr id="38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654243" y="2602460"/>
            <a:ext cx="211302" cy="199563"/>
          </a:xfrm>
          <a:prstGeom prst="rect">
            <a:avLst/>
          </a:prstGeom>
          <a:noFill/>
        </p:spPr>
      </p:pic>
      <p:pic>
        <p:nvPicPr>
          <p:cNvPr id="39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654243" y="3225700"/>
            <a:ext cx="211302" cy="199563"/>
          </a:xfrm>
          <a:prstGeom prst="rect">
            <a:avLst/>
          </a:prstGeom>
          <a:noFill/>
        </p:spPr>
      </p:pic>
      <p:pic>
        <p:nvPicPr>
          <p:cNvPr id="40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654243" y="2893409"/>
            <a:ext cx="211302" cy="199563"/>
          </a:xfrm>
          <a:prstGeom prst="rect">
            <a:avLst/>
          </a:prstGeom>
          <a:noFill/>
        </p:spPr>
      </p:pic>
      <p:pic>
        <p:nvPicPr>
          <p:cNvPr id="41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9401951" y="2061249"/>
            <a:ext cx="211302" cy="199563"/>
          </a:xfrm>
          <a:prstGeom prst="rect">
            <a:avLst/>
          </a:prstGeom>
          <a:noFill/>
        </p:spPr>
      </p:pic>
      <p:pic>
        <p:nvPicPr>
          <p:cNvPr id="42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8637481" y="2337576"/>
            <a:ext cx="211302" cy="199563"/>
          </a:xfrm>
          <a:prstGeom prst="rect">
            <a:avLst/>
          </a:prstGeom>
          <a:noFill/>
        </p:spPr>
      </p:pic>
      <p:pic>
        <p:nvPicPr>
          <p:cNvPr id="43" name="Picture 6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247169" y="1839666"/>
            <a:ext cx="934305" cy="745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4" name="Picture 11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8076997" y="3219700"/>
            <a:ext cx="835954" cy="452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5" name="Picture 7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4065290" y="5635343"/>
            <a:ext cx="1011380" cy="696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6" name="Picture 8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3387332" y="4584880"/>
            <a:ext cx="886001" cy="916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7" name="Picture 9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7379029" y="5745078"/>
            <a:ext cx="1282890" cy="586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8" name="Picture 10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7957297" y="4625370"/>
            <a:ext cx="1254522" cy="8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" name="TextBox 48"/>
          <p:cNvSpPr txBox="1"/>
          <p:nvPr/>
        </p:nvSpPr>
        <p:spPr bwMode="gray">
          <a:xfrm>
            <a:off x="651405" y="6559042"/>
            <a:ext cx="2547020" cy="245927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IN" sz="1200" i="1" dirty="0" smtClean="0">
                <a:solidFill>
                  <a:schemeClr val="accent6">
                    <a:lumMod val="50000"/>
                  </a:schemeClr>
                </a:solidFill>
              </a:rPr>
              <a:t>Identified Priority areas</a:t>
            </a:r>
          </a:p>
        </p:txBody>
      </p:sp>
      <p:sp>
        <p:nvSpPr>
          <p:cNvPr id="50" name="TextBox 49"/>
          <p:cNvSpPr txBox="1"/>
          <p:nvPr/>
        </p:nvSpPr>
        <p:spPr bwMode="gray">
          <a:xfrm>
            <a:off x="9148756" y="6580163"/>
            <a:ext cx="2286000" cy="245857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</a:rPr>
              <a:t>Mid-Long term focus</a:t>
            </a:r>
          </a:p>
        </p:txBody>
      </p:sp>
      <p:sp>
        <p:nvSpPr>
          <p:cNvPr id="51" name="TextBox 50"/>
          <p:cNvSpPr txBox="1"/>
          <p:nvPr/>
        </p:nvSpPr>
        <p:spPr bwMode="gray">
          <a:xfrm>
            <a:off x="6355080" y="6590280"/>
            <a:ext cx="2641092" cy="236068"/>
          </a:xfrm>
          <a:prstGeom prst="rect">
            <a:avLst/>
          </a:prstGeom>
          <a:solidFill>
            <a:schemeClr val="accent1">
              <a:lumMod val="50000"/>
              <a:alpha val="73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400" dirty="0" smtClean="0">
                <a:solidFill>
                  <a:schemeClr val="bg1"/>
                </a:solidFill>
              </a:rPr>
              <a:t>Immediate/Near term Focus</a:t>
            </a:r>
          </a:p>
        </p:txBody>
      </p:sp>
      <p:pic>
        <p:nvPicPr>
          <p:cNvPr id="52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451127" y="6609025"/>
            <a:ext cx="211302" cy="199563"/>
          </a:xfrm>
          <a:prstGeom prst="rect">
            <a:avLst/>
          </a:prstGeom>
          <a:noFill/>
        </p:spPr>
      </p:pic>
      <p:sp>
        <p:nvSpPr>
          <p:cNvPr id="53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96273" y="1185002"/>
            <a:ext cx="11113180" cy="582362"/>
          </a:xfrm>
        </p:spPr>
        <p:txBody>
          <a:bodyPr/>
          <a:lstStyle/>
          <a:p>
            <a:r>
              <a:rPr lang="en-IN" dirty="0"/>
              <a:t>Current focus is </a:t>
            </a:r>
            <a:r>
              <a:rPr lang="en-IN" dirty="0" smtClean="0"/>
              <a:t>to increase insurance penetration, lead generation, and sales force optimization </a:t>
            </a:r>
            <a:endParaRPr lang="en-IN" dirty="0"/>
          </a:p>
        </p:txBody>
      </p:sp>
      <p:pic>
        <p:nvPicPr>
          <p:cNvPr id="54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8616631" y="2605476"/>
            <a:ext cx="211302" cy="199563"/>
          </a:xfrm>
          <a:prstGeom prst="rect">
            <a:avLst/>
          </a:prstGeom>
          <a:noFill/>
        </p:spPr>
      </p:pic>
      <p:pic>
        <p:nvPicPr>
          <p:cNvPr id="55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654243" y="3432964"/>
            <a:ext cx="211302" cy="199563"/>
          </a:xfrm>
          <a:prstGeom prst="rect">
            <a:avLst/>
          </a:prstGeom>
          <a:noFill/>
        </p:spPr>
      </p:pic>
      <p:pic>
        <p:nvPicPr>
          <p:cNvPr id="56" name="Picture 10" descr="http://www.rockschool.co.uk/Resources/Images/IconGreenTick.png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654243" y="3652420"/>
            <a:ext cx="211302" cy="1995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32508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Tata AIA Business Priorities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The current business imperatives are to manage customer, sales and distribution, channel and claims efficiently</a:t>
            </a:r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3262492" y="2106334"/>
            <a:ext cx="1" cy="4080681"/>
          </a:xfrm>
          <a:prstGeom prst="line">
            <a:avLst/>
          </a:prstGeom>
          <a:ln w="6350">
            <a:solidFill>
              <a:srgbClr val="082A67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6058787" y="2106334"/>
            <a:ext cx="1" cy="4080681"/>
          </a:xfrm>
          <a:prstGeom prst="line">
            <a:avLst/>
          </a:prstGeom>
          <a:ln w="6350">
            <a:solidFill>
              <a:srgbClr val="082A67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6"/>
          <p:cNvGrpSpPr/>
          <p:nvPr/>
        </p:nvGrpSpPr>
        <p:grpSpPr>
          <a:xfrm>
            <a:off x="939833" y="3013261"/>
            <a:ext cx="2006601" cy="1651001"/>
            <a:chOff x="1132114" y="2805578"/>
            <a:chExt cx="2192263" cy="2134571"/>
          </a:xfrm>
        </p:grpSpPr>
        <p:pic>
          <p:nvPicPr>
            <p:cNvPr id="1026" name="Picture 2" descr="Image result for customer profili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2114" y="2805578"/>
              <a:ext cx="2192263" cy="21345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Oval 20"/>
            <p:cNvSpPr/>
            <p:nvPr/>
          </p:nvSpPr>
          <p:spPr>
            <a:xfrm>
              <a:off x="1819153" y="3409539"/>
              <a:ext cx="924048" cy="9447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38" name="Picture 14" descr="Image result for indian women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6859" y="3636201"/>
              <a:ext cx="815870" cy="5439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Rectangle 22"/>
          <p:cNvSpPr/>
          <p:nvPr/>
        </p:nvSpPr>
        <p:spPr>
          <a:xfrm>
            <a:off x="3706939" y="2207436"/>
            <a:ext cx="2690675" cy="6956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2"/>
                </a:solidFill>
              </a:rPr>
              <a:t>Increase Insurance </a:t>
            </a:r>
          </a:p>
          <a:p>
            <a:r>
              <a:rPr lang="en-US" sz="1400" dirty="0" smtClean="0">
                <a:solidFill>
                  <a:schemeClr val="tx2"/>
                </a:solidFill>
              </a:rPr>
              <a:t>product penetration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026" y="2179726"/>
            <a:ext cx="3214777" cy="6956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2"/>
                </a:solidFill>
              </a:rPr>
              <a:t>Understand the Customer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268312" y="2211980"/>
            <a:ext cx="466985" cy="608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tx2"/>
                </a:solidFill>
              </a:rPr>
              <a:t>B</a:t>
            </a:r>
            <a:endParaRPr lang="en-IN" sz="3200" b="1" dirty="0">
              <a:solidFill>
                <a:schemeClr val="tx2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51528" y="2211980"/>
            <a:ext cx="466985" cy="608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tx2"/>
                </a:solidFill>
              </a:rPr>
              <a:t>A</a:t>
            </a:r>
            <a:endParaRPr lang="en-IN" sz="3200" b="1" dirty="0">
              <a:solidFill>
                <a:schemeClr val="tx2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076728" y="2211980"/>
            <a:ext cx="466985" cy="608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tx2"/>
                </a:solidFill>
              </a:rPr>
              <a:t>C</a:t>
            </a:r>
            <a:endParaRPr lang="en-IN" sz="3200" b="1" dirty="0">
              <a:solidFill>
                <a:schemeClr val="tx2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38865" y="5063178"/>
            <a:ext cx="2479855" cy="14873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 smtClean="0">
                <a:solidFill>
                  <a:schemeClr val="tx2"/>
                </a:solidFill>
              </a:rPr>
              <a:t>Develop </a:t>
            </a:r>
            <a:r>
              <a:rPr lang="en-US" sz="1200" dirty="0">
                <a:solidFill>
                  <a:schemeClr val="tx2"/>
                </a:solidFill>
              </a:rPr>
              <a:t>a single </a:t>
            </a:r>
            <a:r>
              <a:rPr lang="en-US" sz="1200" dirty="0" smtClean="0">
                <a:solidFill>
                  <a:schemeClr val="tx2"/>
                </a:solidFill>
              </a:rPr>
              <a:t>and integrated view </a:t>
            </a:r>
            <a:r>
              <a:rPr lang="en-US" sz="1200" dirty="0">
                <a:solidFill>
                  <a:schemeClr val="tx2"/>
                </a:solidFill>
              </a:rPr>
              <a:t>of the </a:t>
            </a:r>
            <a:r>
              <a:rPr lang="en-US" sz="1200" dirty="0" smtClean="0">
                <a:solidFill>
                  <a:schemeClr val="tx2"/>
                </a:solidFill>
              </a:rPr>
              <a:t>customer with internal and external 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200" dirty="0" smtClean="0">
              <a:solidFill>
                <a:schemeClr val="tx2"/>
              </a:solidFill>
            </a:endParaRPr>
          </a:p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US" sz="1200" dirty="0" smtClean="0">
                <a:solidFill>
                  <a:schemeClr val="tx2"/>
                </a:solidFill>
              </a:rPr>
              <a:t>Classify customer value, potential and risk profile</a:t>
            </a:r>
            <a:endParaRPr lang="en-IN" sz="1200" dirty="0">
              <a:solidFill>
                <a:schemeClr val="tx2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>
            <a:off x="460728" y="1830984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268483" y="4953450"/>
            <a:ext cx="2632353" cy="1739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 smtClean="0">
                <a:solidFill>
                  <a:schemeClr val="tx2"/>
                </a:solidFill>
              </a:rPr>
              <a:t>Cross-sell/Upsell strategies</a:t>
            </a:r>
          </a:p>
          <a:p>
            <a:pPr marL="285750" indent="-285750"/>
            <a:r>
              <a:rPr lang="en-US" sz="1200" dirty="0" smtClean="0">
                <a:solidFill>
                  <a:schemeClr val="tx2"/>
                </a:solidFill>
              </a:rPr>
              <a:t>      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tx2"/>
                </a:solidFill>
              </a:rPr>
              <a:t>Service to Sales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1200" dirty="0">
              <a:solidFill>
                <a:schemeClr val="tx2"/>
              </a:solidFill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200" dirty="0" smtClean="0">
                <a:solidFill>
                  <a:schemeClr val="tx2"/>
                </a:solidFill>
              </a:rPr>
              <a:t>Life-stage based offerings</a:t>
            </a:r>
          </a:p>
          <a:p>
            <a:pPr marL="285750" lvl="1" indent="-285750">
              <a:buFont typeface="Wingdings" panose="05000000000000000000" pitchFamily="2" charset="2"/>
              <a:buChar char="§"/>
            </a:pPr>
            <a:endParaRPr lang="en-US" sz="1200" dirty="0" smtClean="0">
              <a:solidFill>
                <a:schemeClr val="tx2"/>
              </a:solidFill>
            </a:endParaRPr>
          </a:p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smtClean="0">
                <a:solidFill>
                  <a:schemeClr val="tx2"/>
                </a:solidFill>
              </a:rPr>
              <a:t>Policy Lapse &amp; Renewals</a:t>
            </a:r>
            <a:endParaRPr lang="en-US" sz="1200" dirty="0">
              <a:solidFill>
                <a:schemeClr val="tx2"/>
              </a:solidFill>
            </a:endParaRPr>
          </a:p>
          <a:p>
            <a:pPr marL="285750" lvl="1" indent="-285750">
              <a:buFont typeface="Wingdings" panose="05000000000000000000" pitchFamily="2" charset="2"/>
              <a:buChar char="§"/>
            </a:pPr>
            <a:endParaRPr lang="en-US" sz="1200" dirty="0" smtClean="0">
              <a:solidFill>
                <a:schemeClr val="tx2"/>
              </a:solidFill>
            </a:endParaRPr>
          </a:p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smtClean="0">
                <a:solidFill>
                  <a:schemeClr val="tx2"/>
                </a:solidFill>
              </a:rPr>
              <a:t>Customer Retention</a:t>
            </a:r>
          </a:p>
        </p:txBody>
      </p:sp>
      <p:cxnSp>
        <p:nvCxnSpPr>
          <p:cNvPr id="30" name="Straight Connector 29"/>
          <p:cNvCxnSpPr/>
          <p:nvPr/>
        </p:nvCxnSpPr>
        <p:spPr>
          <a:xfrm flipH="1">
            <a:off x="8855082" y="2106334"/>
            <a:ext cx="1" cy="4080681"/>
          </a:xfrm>
          <a:prstGeom prst="line">
            <a:avLst/>
          </a:prstGeom>
          <a:ln w="6350">
            <a:solidFill>
              <a:srgbClr val="082A67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872414" y="2211980"/>
            <a:ext cx="466985" cy="608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tx2"/>
                </a:solidFill>
              </a:rPr>
              <a:t>D</a:t>
            </a:r>
            <a:endParaRPr lang="en-IN" sz="3200" b="1" dirty="0">
              <a:solidFill>
                <a:schemeClr val="tx2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9304892" y="2207431"/>
            <a:ext cx="3092837" cy="6956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2"/>
                </a:solidFill>
              </a:rPr>
              <a:t>Channel Management &amp;</a:t>
            </a:r>
          </a:p>
          <a:p>
            <a:r>
              <a:rPr lang="en-US" sz="1400" dirty="0" smtClean="0">
                <a:solidFill>
                  <a:schemeClr val="tx2"/>
                </a:solidFill>
              </a:rPr>
              <a:t>      Digital analytics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152823" y="5090883"/>
            <a:ext cx="2761416" cy="14873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 smtClean="0">
                <a:solidFill>
                  <a:schemeClr val="tx2"/>
                </a:solidFill>
              </a:rPr>
              <a:t>Lead prioritization  &amp; optimization across channels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200" dirty="0" smtClean="0">
              <a:solidFill>
                <a:schemeClr val="tx2"/>
              </a:solidFill>
            </a:endParaRPr>
          </a:p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US" sz="1200" dirty="0" smtClean="0">
                <a:solidFill>
                  <a:schemeClr val="tx2"/>
                </a:solidFill>
              </a:rPr>
              <a:t>Focus on Digital as a channel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9657" y="3427526"/>
            <a:ext cx="970665" cy="877881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0827" y="3358261"/>
            <a:ext cx="1016410" cy="1016410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6491697" y="2221286"/>
            <a:ext cx="2690675" cy="6956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2"/>
                </a:solidFill>
              </a:rPr>
              <a:t>Sales &amp; Distribution Effectiveness</a:t>
            </a:r>
          </a:p>
        </p:txBody>
      </p:sp>
      <p:pic>
        <p:nvPicPr>
          <p:cNvPr id="50" name="Picture 1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661571" y="3243956"/>
            <a:ext cx="1567462" cy="1272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" name="Rectangle 50"/>
          <p:cNvSpPr/>
          <p:nvPr/>
        </p:nvSpPr>
        <p:spPr>
          <a:xfrm>
            <a:off x="6150226" y="5104738"/>
            <a:ext cx="2520753" cy="14873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 smtClean="0">
                <a:solidFill>
                  <a:schemeClr val="tx2"/>
                </a:solidFill>
              </a:rPr>
              <a:t>Sales Agents performance Analysis</a:t>
            </a:r>
          </a:p>
          <a:p>
            <a:pPr marL="285750" indent="-285750"/>
            <a:r>
              <a:rPr lang="en-US" sz="1200" dirty="0" smtClean="0">
                <a:solidFill>
                  <a:schemeClr val="tx2"/>
                </a:solidFill>
              </a:rPr>
              <a:t>       </a:t>
            </a:r>
          </a:p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US" sz="1200" dirty="0" smtClean="0">
                <a:solidFill>
                  <a:schemeClr val="tx2"/>
                </a:solidFill>
              </a:rPr>
              <a:t>Sales demand forecasting</a:t>
            </a:r>
          </a:p>
          <a:p>
            <a:pPr marL="0" lvl="1"/>
            <a:r>
              <a:rPr lang="en-US" sz="1200" dirty="0" smtClean="0">
                <a:solidFill>
                  <a:schemeClr val="tx2"/>
                </a:solidFill>
              </a:rPr>
              <a:t>       and optimization</a:t>
            </a:r>
          </a:p>
          <a:p>
            <a:pPr marL="0" lvl="1"/>
            <a:endParaRPr lang="en-US" sz="1200" dirty="0" smtClean="0">
              <a:solidFill>
                <a:schemeClr val="tx2"/>
              </a:solidFill>
            </a:endParaRPr>
          </a:p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US" sz="1200" dirty="0" smtClean="0">
                <a:solidFill>
                  <a:schemeClr val="tx2"/>
                </a:solidFill>
              </a:rPr>
              <a:t>Alliance </a:t>
            </a:r>
            <a:r>
              <a:rPr lang="en-US" sz="1200" dirty="0">
                <a:solidFill>
                  <a:schemeClr val="tx2"/>
                </a:solidFill>
              </a:rPr>
              <a:t>and Partner management</a:t>
            </a:r>
          </a:p>
          <a:p>
            <a:pPr marL="285750" lvl="1" indent="-285750">
              <a:buFont typeface="Wingdings" panose="05000000000000000000" pitchFamily="2" charset="2"/>
              <a:buChar char="§"/>
            </a:pPr>
            <a:endParaRPr lang="en-US" sz="1200" dirty="0" smtClean="0">
              <a:solidFill>
                <a:schemeClr val="tx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855" y="4020789"/>
            <a:ext cx="1212106" cy="7744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083" y="3189962"/>
            <a:ext cx="1330162" cy="67563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171969" y="4877072"/>
            <a:ext cx="2978258" cy="1858963"/>
          </a:xfrm>
          <a:prstGeom prst="roundRect">
            <a:avLst/>
          </a:prstGeom>
          <a:noFill/>
          <a:ln w="25400">
            <a:solidFill>
              <a:srgbClr val="0B40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ounded Rectangle 11"/>
          <p:cNvSpPr/>
          <p:nvPr/>
        </p:nvSpPr>
        <p:spPr>
          <a:xfrm>
            <a:off x="9422347" y="6623132"/>
            <a:ext cx="436028" cy="160912"/>
          </a:xfrm>
          <a:prstGeom prst="roundRect">
            <a:avLst/>
          </a:prstGeom>
          <a:noFill/>
          <a:ln>
            <a:solidFill>
              <a:srgbClr val="0B40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 bwMode="gray">
          <a:xfrm>
            <a:off x="9834989" y="6243226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IN" sz="1200" i="1" dirty="0" smtClean="0"/>
              <a:t>Immediate focus areas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18131" y="5632532"/>
            <a:ext cx="2696108" cy="311068"/>
          </a:xfrm>
          <a:prstGeom prst="roundRect">
            <a:avLst/>
          </a:prstGeom>
          <a:noFill/>
          <a:ln>
            <a:solidFill>
              <a:srgbClr val="0B40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ounded Rectangle 35"/>
          <p:cNvSpPr/>
          <p:nvPr/>
        </p:nvSpPr>
        <p:spPr>
          <a:xfrm>
            <a:off x="6215535" y="5007948"/>
            <a:ext cx="2378671" cy="1063668"/>
          </a:xfrm>
          <a:prstGeom prst="roundRect">
            <a:avLst/>
          </a:prstGeom>
          <a:noFill/>
          <a:ln w="25400">
            <a:solidFill>
              <a:srgbClr val="0B40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403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Analytics Roadmap for Y1 &amp; Y2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2667983" y="2285998"/>
            <a:ext cx="2981531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51753" y="1524999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 bwMode="gray">
          <a:xfrm>
            <a:off x="3219765" y="2077401"/>
            <a:ext cx="1440200" cy="35691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sz="1600" b="1" i="1" kern="0" dirty="0" smtClean="0">
                <a:solidFill>
                  <a:schemeClr val="tx2"/>
                </a:solidFill>
              </a:rPr>
              <a:t>0 – 6 months</a:t>
            </a:r>
            <a:endParaRPr lang="en-IN" sz="1600" b="1" i="1" kern="0" dirty="0">
              <a:solidFill>
                <a:schemeClr val="tx2"/>
              </a:solidFill>
            </a:endParaRPr>
          </a:p>
        </p:txBody>
      </p:sp>
      <p:sp>
        <p:nvSpPr>
          <p:cNvPr id="41" name="Text Placeholder 6"/>
          <p:cNvSpPr txBox="1">
            <a:spLocks/>
          </p:cNvSpPr>
          <p:nvPr/>
        </p:nvSpPr>
        <p:spPr>
          <a:xfrm>
            <a:off x="441601" y="1158466"/>
            <a:ext cx="11113180" cy="582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Phased out key programs based on sources and availability of Data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4577509" y="2402961"/>
            <a:ext cx="4226249" cy="1063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8799726" y="2285998"/>
            <a:ext cx="2981531" cy="0"/>
          </a:xfrm>
          <a:prstGeom prst="straightConnector1">
            <a:avLst/>
          </a:prstGeom>
          <a:ln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 bwMode="gray">
          <a:xfrm>
            <a:off x="5684492" y="2209798"/>
            <a:ext cx="1630949" cy="35691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sz="1600" b="1" i="1" kern="0" dirty="0" smtClean="0">
                <a:solidFill>
                  <a:schemeClr val="tx2"/>
                </a:solidFill>
              </a:rPr>
              <a:t>4 – 12 months</a:t>
            </a:r>
            <a:endParaRPr lang="en-IN" sz="1600" b="1" i="1" kern="0" dirty="0">
              <a:solidFill>
                <a:schemeClr val="tx2"/>
              </a:solidFill>
            </a:endParaRPr>
          </a:p>
        </p:txBody>
      </p:sp>
      <p:sp>
        <p:nvSpPr>
          <p:cNvPr id="50" name="TextBox 49"/>
          <p:cNvSpPr txBox="1"/>
          <p:nvPr/>
        </p:nvSpPr>
        <p:spPr bwMode="gray">
          <a:xfrm>
            <a:off x="9955845" y="2106903"/>
            <a:ext cx="1630949" cy="35691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sz="1600" b="1" i="1" kern="0" dirty="0" smtClean="0">
                <a:solidFill>
                  <a:schemeClr val="tx2"/>
                </a:solidFill>
              </a:rPr>
              <a:t>12 months +</a:t>
            </a:r>
            <a:endParaRPr lang="en-IN" sz="1600" b="1" i="1" kern="0" dirty="0">
              <a:solidFill>
                <a:schemeClr val="tx2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711752" y="1662202"/>
            <a:ext cx="2487009" cy="4047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2"/>
                </a:solidFill>
              </a:rPr>
              <a:t>Quick Wins</a:t>
            </a: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 rot="2700000">
            <a:off x="2502289" y="1664449"/>
            <a:ext cx="418924" cy="4194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Rectangle 35"/>
          <p:cNvSpPr/>
          <p:nvPr/>
        </p:nvSpPr>
        <p:spPr>
          <a:xfrm>
            <a:off x="6106116" y="1662202"/>
            <a:ext cx="2457156" cy="4047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2"/>
                </a:solidFill>
              </a:rPr>
              <a:t>Foundation</a:t>
            </a: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500479" y="1662202"/>
            <a:ext cx="2457156" cy="4047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2"/>
                </a:solidFill>
              </a:rPr>
              <a:t>Maturation</a:t>
            </a: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 rot="2700000">
            <a:off x="5867156" y="1649701"/>
            <a:ext cx="418924" cy="4194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b="1"/>
          </a:p>
        </p:txBody>
      </p:sp>
      <p:sp>
        <p:nvSpPr>
          <p:cNvPr id="39" name="Rectangle 38"/>
          <p:cNvSpPr/>
          <p:nvPr/>
        </p:nvSpPr>
        <p:spPr>
          <a:xfrm rot="2700000">
            <a:off x="9276268" y="1664448"/>
            <a:ext cx="418924" cy="41942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/>
          <p:cNvSpPr txBox="1"/>
          <p:nvPr/>
        </p:nvSpPr>
        <p:spPr bwMode="gray">
          <a:xfrm>
            <a:off x="2563714" y="1538991"/>
            <a:ext cx="295218" cy="595746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1</a:t>
            </a:r>
            <a:endParaRPr lang="en-IN" sz="2400" b="1" dirty="0" smtClean="0">
              <a:solidFill>
                <a:schemeClr val="bg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 bwMode="gray">
          <a:xfrm>
            <a:off x="5958507" y="1511281"/>
            <a:ext cx="295218" cy="595746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IN" sz="2400" b="1" dirty="0" smtClean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 bwMode="gray">
          <a:xfrm>
            <a:off x="9352870" y="1553208"/>
            <a:ext cx="295218" cy="595746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IN" sz="2400" b="1" dirty="0" smtClean="0">
              <a:solidFill>
                <a:schemeClr val="bg1"/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2711751" y="2571290"/>
            <a:ext cx="6087975" cy="32921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Product propensity, Cross-sell/Upsell strategies, Retention &amp; Renewal</a:t>
            </a:r>
            <a:endParaRPr lang="en-IN" sz="1400" b="1" dirty="0"/>
          </a:p>
        </p:txBody>
      </p:sp>
      <p:sp>
        <p:nvSpPr>
          <p:cNvPr id="76" name="Rectangle 75"/>
          <p:cNvSpPr/>
          <p:nvPr/>
        </p:nvSpPr>
        <p:spPr>
          <a:xfrm>
            <a:off x="6826508" y="4794148"/>
            <a:ext cx="5233927" cy="35169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Marketing spend ROI efficiency, Campaign management</a:t>
            </a:r>
            <a:endParaRPr lang="en-IN" sz="1400" b="1" dirty="0"/>
          </a:p>
        </p:txBody>
      </p:sp>
      <p:sp>
        <p:nvSpPr>
          <p:cNvPr id="31" name="Rectangle 30"/>
          <p:cNvSpPr/>
          <p:nvPr/>
        </p:nvSpPr>
        <p:spPr>
          <a:xfrm>
            <a:off x="4078224" y="3889492"/>
            <a:ext cx="6099048" cy="41774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Sales force Management (including DSAs) and Optimization</a:t>
            </a:r>
            <a:endParaRPr lang="en-IN" sz="1400" b="1" dirty="0"/>
          </a:p>
        </p:txBody>
      </p:sp>
      <p:sp>
        <p:nvSpPr>
          <p:cNvPr id="44" name="TextBox 43"/>
          <p:cNvSpPr txBox="1"/>
          <p:nvPr/>
        </p:nvSpPr>
        <p:spPr bwMode="gray">
          <a:xfrm rot="5400000">
            <a:off x="9219211" y="872953"/>
            <a:ext cx="376352" cy="521804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N" sz="1400" b="1" dirty="0" smtClean="0">
                <a:solidFill>
                  <a:schemeClr val="lt1"/>
                </a:solidFill>
              </a:rPr>
              <a:t>Prospect Database (Tata ecosystem and External)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2875" y="2564113"/>
            <a:ext cx="2401226" cy="127513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Prospect/</a:t>
            </a:r>
          </a:p>
          <a:p>
            <a:pPr algn="ctr"/>
            <a:r>
              <a:rPr lang="en-US" sz="1600" dirty="0" smtClean="0"/>
              <a:t>Customer </a:t>
            </a:r>
          </a:p>
          <a:p>
            <a:pPr algn="ctr"/>
            <a:r>
              <a:rPr lang="en-US" sz="1600" dirty="0" smtClean="0"/>
              <a:t>Management</a:t>
            </a:r>
            <a:endParaRPr lang="en-IN" sz="1600" dirty="0" smtClean="0"/>
          </a:p>
        </p:txBody>
      </p:sp>
      <p:sp>
        <p:nvSpPr>
          <p:cNvPr id="54" name="Rounded Rectangle 53"/>
          <p:cNvSpPr/>
          <p:nvPr/>
        </p:nvSpPr>
        <p:spPr>
          <a:xfrm>
            <a:off x="122608" y="5993956"/>
            <a:ext cx="2358184" cy="76389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Risk</a:t>
            </a:r>
          </a:p>
          <a:p>
            <a:pPr algn="ctr"/>
            <a:r>
              <a:rPr lang="en-US" sz="1600" dirty="0" smtClean="0"/>
              <a:t>Management</a:t>
            </a:r>
            <a:endParaRPr lang="en-IN" sz="1600" dirty="0" smtClean="0"/>
          </a:p>
        </p:txBody>
      </p:sp>
      <p:sp>
        <p:nvSpPr>
          <p:cNvPr id="55" name="Rounded Rectangle 54"/>
          <p:cNvSpPr/>
          <p:nvPr/>
        </p:nvSpPr>
        <p:spPr>
          <a:xfrm>
            <a:off x="137089" y="3882435"/>
            <a:ext cx="2358184" cy="119359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Sales, Channel &amp; Distribution Management</a:t>
            </a:r>
            <a:endParaRPr lang="en-IN" sz="1600" dirty="0" smtClean="0"/>
          </a:p>
        </p:txBody>
      </p:sp>
      <p:sp>
        <p:nvSpPr>
          <p:cNvPr id="57" name="Rounded Rectangle 56"/>
          <p:cNvSpPr/>
          <p:nvPr/>
        </p:nvSpPr>
        <p:spPr>
          <a:xfrm>
            <a:off x="123234" y="5153042"/>
            <a:ext cx="2358184" cy="76389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Claim and Customer Experience Management</a:t>
            </a:r>
            <a:endParaRPr lang="en-IN" sz="1600" dirty="0" smtClean="0"/>
          </a:p>
        </p:txBody>
      </p:sp>
      <p:sp>
        <p:nvSpPr>
          <p:cNvPr id="58" name="Rectangle 57"/>
          <p:cNvSpPr/>
          <p:nvPr/>
        </p:nvSpPr>
        <p:spPr>
          <a:xfrm>
            <a:off x="8841192" y="4321620"/>
            <a:ext cx="3202987" cy="33533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MIS/Advance Visualization</a:t>
            </a:r>
            <a:endParaRPr lang="en-IN" sz="1400" b="1" dirty="0"/>
          </a:p>
        </p:txBody>
      </p:sp>
      <p:sp>
        <p:nvSpPr>
          <p:cNvPr id="59" name="Rectangle 58"/>
          <p:cNvSpPr/>
          <p:nvPr/>
        </p:nvSpPr>
        <p:spPr>
          <a:xfrm>
            <a:off x="8741663" y="5264916"/>
            <a:ext cx="3259379" cy="36784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b="1" dirty="0" smtClean="0"/>
              <a:t>Vendor &amp; Claim Analysis</a:t>
            </a:r>
            <a:endParaRPr lang="en-IN" sz="1500" b="1" dirty="0"/>
          </a:p>
        </p:txBody>
      </p:sp>
      <p:sp>
        <p:nvSpPr>
          <p:cNvPr id="60" name="Rectangle 59"/>
          <p:cNvSpPr/>
          <p:nvPr/>
        </p:nvSpPr>
        <p:spPr>
          <a:xfrm>
            <a:off x="8799726" y="6208033"/>
            <a:ext cx="3156761" cy="36650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 smtClean="0"/>
              <a:t>Underwriting &amp; Fraud Analytics</a:t>
            </a:r>
            <a:endParaRPr lang="en-IN" sz="1500" b="1" dirty="0"/>
          </a:p>
        </p:txBody>
      </p:sp>
      <p:sp>
        <p:nvSpPr>
          <p:cNvPr id="32" name="Rectangle 31"/>
          <p:cNvSpPr/>
          <p:nvPr/>
        </p:nvSpPr>
        <p:spPr>
          <a:xfrm>
            <a:off x="8841193" y="2913468"/>
            <a:ext cx="3148947" cy="30193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Social Media Analytics</a:t>
            </a:r>
            <a:endParaRPr lang="en-IN" sz="1400" b="1" dirty="0"/>
          </a:p>
        </p:txBody>
      </p:sp>
      <p:sp>
        <p:nvSpPr>
          <p:cNvPr id="42" name="Rectangle 41"/>
          <p:cNvSpPr/>
          <p:nvPr/>
        </p:nvSpPr>
        <p:spPr>
          <a:xfrm>
            <a:off x="5742431" y="2922086"/>
            <a:ext cx="2999233" cy="30345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Digital acquisition/sales</a:t>
            </a:r>
            <a:endParaRPr lang="en-IN" sz="1400" b="1" dirty="0"/>
          </a:p>
        </p:txBody>
      </p:sp>
      <p:sp>
        <p:nvSpPr>
          <p:cNvPr id="43" name="Rectangle 42"/>
          <p:cNvSpPr/>
          <p:nvPr/>
        </p:nvSpPr>
        <p:spPr>
          <a:xfrm>
            <a:off x="8738615" y="5682492"/>
            <a:ext cx="3259379" cy="36784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b="1" dirty="0" smtClean="0"/>
              <a:t>Customer Experience Mgmt.</a:t>
            </a:r>
            <a:endParaRPr lang="en-IN" sz="1500" b="1" dirty="0"/>
          </a:p>
        </p:txBody>
      </p:sp>
    </p:spTree>
    <p:extLst>
      <p:ext uri="{BB962C8B-B14F-4D97-AF65-F5344CB8AC3E}">
        <p14:creationId xmlns:p14="http://schemas.microsoft.com/office/powerpoint/2010/main" val="1279247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n-IN" dirty="0" smtClean="0">
                <a:solidFill>
                  <a:schemeClr val="bg1"/>
                </a:solidFill>
                <a:cs typeface="Arial" pitchFamily="34" charset="0"/>
              </a:rPr>
              <a:t>Analytics Proposed Solution:</a:t>
            </a:r>
            <a:br>
              <a:rPr lang="en-IN" dirty="0" smtClean="0">
                <a:solidFill>
                  <a:schemeClr val="bg1"/>
                </a:solidFill>
                <a:cs typeface="Arial" pitchFamily="34" charset="0"/>
              </a:rPr>
            </a:br>
            <a:r>
              <a:rPr lang="en-IN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IN" dirty="0" smtClean="0">
                <a:solidFill>
                  <a:schemeClr val="bg1"/>
                </a:solidFill>
                <a:cs typeface="Arial" pitchFamily="34" charset="0"/>
              </a:rPr>
              <a:t>  Quick Wins (0 to 6 Months)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79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Wins : (1) Know your customers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US" sz="1600" dirty="0" smtClean="0">
                <a:solidFill>
                  <a:srgbClr val="0F7EBF"/>
                </a:solidFill>
              </a:rPr>
              <a:t>        </a:t>
            </a:r>
            <a:endParaRPr lang="en-IN" sz="1600" dirty="0">
              <a:solidFill>
                <a:srgbClr val="0F7EB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25436" y="1843227"/>
            <a:ext cx="11116101" cy="0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55701" y="1895730"/>
            <a:ext cx="2717800" cy="49530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Who are my Customers ?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355701" y="2517577"/>
            <a:ext cx="2717800" cy="49530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What Offers and Service they want ?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355701" y="3139424"/>
            <a:ext cx="2717800" cy="49530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How do they Interact with me ?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355701" y="4383118"/>
            <a:ext cx="2717800" cy="4826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What Value does each customer generate ?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355701" y="4992265"/>
            <a:ext cx="2717800" cy="4699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What is their future potential ?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355701" y="5588712"/>
            <a:ext cx="2717800" cy="4699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Propensity to respond to my campaigns/services ?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5531" y="2230442"/>
            <a:ext cx="855662" cy="397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5531" y="2875341"/>
            <a:ext cx="805343" cy="389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5" name="AutoShape 7"/>
          <p:cNvSpPr>
            <a:spLocks noChangeAspect="1" noChangeArrowheads="1"/>
          </p:cNvSpPr>
          <p:nvPr/>
        </p:nvSpPr>
        <p:spPr bwMode="auto">
          <a:xfrm rot="5400000">
            <a:off x="5972989" y="3827866"/>
            <a:ext cx="4792451" cy="999665"/>
          </a:xfrm>
          <a:prstGeom prst="triangle">
            <a:avLst>
              <a:gd name="adj" fmla="val 49761"/>
            </a:avLst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 type="none" w="sm" len="sm"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1440" bIns="91440" anchor="ctr"/>
          <a:lstStyle/>
          <a:p>
            <a:pPr>
              <a:defRPr/>
            </a:pPr>
            <a:r>
              <a:rPr lang="en-US" dirty="0" smtClean="0"/>
              <a:t> </a:t>
            </a:r>
            <a:endParaRPr lang="en-IN" dirty="0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30480" y="3398320"/>
            <a:ext cx="491780" cy="4917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21357206">
            <a:off x="261691" y="4485552"/>
            <a:ext cx="728910" cy="568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47337" y="5021121"/>
            <a:ext cx="1011936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92037" y="5551630"/>
            <a:ext cx="768667" cy="622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83642" y="6237733"/>
            <a:ext cx="718566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" name="Rounded Rectangle 50"/>
          <p:cNvSpPr/>
          <p:nvPr/>
        </p:nvSpPr>
        <p:spPr>
          <a:xfrm>
            <a:off x="1355701" y="3761271"/>
            <a:ext cx="2717800" cy="49530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 smtClean="0">
              <a:solidFill>
                <a:schemeClr val="bg1"/>
              </a:solidFill>
            </a:endParaRPr>
          </a:p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What do they say about me?</a:t>
            </a:r>
            <a:r>
              <a:rPr lang="en-US" sz="1200" dirty="0" smtClean="0"/>
              <a:t> 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52" name="Picture 3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45526" y="3918295"/>
            <a:ext cx="463882" cy="5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4" name="Rounded Rectangle 53"/>
          <p:cNvSpPr/>
          <p:nvPr/>
        </p:nvSpPr>
        <p:spPr>
          <a:xfrm>
            <a:off x="1355701" y="6185160"/>
            <a:ext cx="2717800" cy="4699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Who should we target in our next marketing campaign ?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6" name="Text Placeholder 6"/>
          <p:cNvSpPr txBox="1">
            <a:spLocks/>
          </p:cNvSpPr>
          <p:nvPr/>
        </p:nvSpPr>
        <p:spPr>
          <a:xfrm>
            <a:off x="529561" y="1217073"/>
            <a:ext cx="11113180" cy="5823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rgbClr val="0F7EBF"/>
                </a:solidFill>
              </a:rPr>
              <a:t>Customer </a:t>
            </a:r>
            <a:r>
              <a:rPr lang="en-US" dirty="0">
                <a:solidFill>
                  <a:srgbClr val="0F7EBF"/>
                </a:solidFill>
              </a:rPr>
              <a:t>profiling, segmentation and predictive analytics to </a:t>
            </a:r>
            <a:r>
              <a:rPr lang="en-US" dirty="0" smtClean="0">
                <a:solidFill>
                  <a:srgbClr val="0F7EBF"/>
                </a:solidFill>
              </a:rPr>
              <a:t>build customer management strategies</a:t>
            </a:r>
            <a:endParaRPr lang="en-US" dirty="0">
              <a:solidFill>
                <a:srgbClr val="0F7EBF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211274" y="2598480"/>
            <a:ext cx="2520000" cy="40565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 57"/>
          <p:cNvSpPr/>
          <p:nvPr/>
        </p:nvSpPr>
        <p:spPr>
          <a:xfrm>
            <a:off x="9316860" y="2640994"/>
            <a:ext cx="2135089" cy="40140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Rectangle 59"/>
          <p:cNvSpPr/>
          <p:nvPr/>
        </p:nvSpPr>
        <p:spPr>
          <a:xfrm>
            <a:off x="5203274" y="1930143"/>
            <a:ext cx="2520000" cy="53201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Data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5307547" y="2791720"/>
            <a:ext cx="2334127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>
                <a:solidFill>
                  <a:schemeClr val="tx2"/>
                </a:solidFill>
              </a:rPr>
              <a:t>Customer &amp; Household  Profile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5299527" y="3393297"/>
            <a:ext cx="2334127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Bureau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5307549" y="4008728"/>
            <a:ext cx="2334127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Transaction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315571" y="4621972"/>
            <a:ext cx="2334127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External Segments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5323593" y="5305343"/>
            <a:ext cx="2334127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Channel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9304633" y="1929411"/>
            <a:ext cx="2222068" cy="53201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bg1"/>
                </a:solidFill>
              </a:rPr>
              <a:t>Predictive Modelling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9434396" y="2847450"/>
            <a:ext cx="1886256" cy="673768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Product propensity 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5312698" y="6017474"/>
            <a:ext cx="2334127" cy="473241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Product Management   Data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9434099" y="3727722"/>
            <a:ext cx="1886256" cy="673768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 Customer Current Value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84" name="Plus 83"/>
          <p:cNvSpPr/>
          <p:nvPr/>
        </p:nvSpPr>
        <p:spPr>
          <a:xfrm>
            <a:off x="4253215" y="3843059"/>
            <a:ext cx="659715" cy="674384"/>
          </a:xfrm>
          <a:prstGeom prst="mathPlus">
            <a:avLst>
              <a:gd name="adj1" fmla="val 25545"/>
            </a:avLst>
          </a:prstGeom>
          <a:solidFill>
            <a:srgbClr val="ACD433"/>
          </a:solidFill>
          <a:ln>
            <a:solidFill>
              <a:srgbClr val="ACD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Rounded Rectangle 84"/>
          <p:cNvSpPr/>
          <p:nvPr/>
        </p:nvSpPr>
        <p:spPr>
          <a:xfrm>
            <a:off x="9434521" y="4698547"/>
            <a:ext cx="1872967" cy="673768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 Customer  Insurance assessment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9441040" y="5678478"/>
            <a:ext cx="1872967" cy="673768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Life-stage Framework</a:t>
            </a:r>
            <a:endParaRPr lang="en-IN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032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Wins </a:t>
            </a:r>
            <a:r>
              <a:rPr lang="en-US" dirty="0" smtClean="0">
                <a:solidFill>
                  <a:schemeClr val="bg1"/>
                </a:solidFill>
              </a:rPr>
              <a:t>(</a:t>
            </a:r>
            <a:r>
              <a:rPr lang="en-US" dirty="0">
                <a:solidFill>
                  <a:schemeClr val="bg1"/>
                </a:solidFill>
              </a:rPr>
              <a:t>2) : </a:t>
            </a:r>
            <a:r>
              <a:rPr lang="en-US" dirty="0"/>
              <a:t>Increase Penetration through Cross-sell/Up-sell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US" sz="1600" dirty="0" smtClean="0">
                <a:solidFill>
                  <a:srgbClr val="0F7EBF"/>
                </a:solidFill>
              </a:rPr>
              <a:t>        </a:t>
            </a:r>
            <a:endParaRPr lang="en-IN" sz="1600" dirty="0">
              <a:solidFill>
                <a:srgbClr val="0F7EB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25436" y="1593842"/>
            <a:ext cx="11116101" cy="0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716119" y="2695608"/>
            <a:ext cx="1589872" cy="49530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Campaign Planning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716119" y="3465336"/>
            <a:ext cx="1589872" cy="49530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Campaign Design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3716119" y="4235064"/>
            <a:ext cx="1589872" cy="49530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Campaign Execution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3716119" y="5004792"/>
            <a:ext cx="1589872" cy="49530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Campaign Fulfillment</a:t>
            </a:r>
            <a:endParaRPr lang="en-US" sz="1200" dirty="0"/>
          </a:p>
        </p:txBody>
      </p:sp>
      <p:sp>
        <p:nvSpPr>
          <p:cNvPr id="41" name="Rounded Rectangle 40"/>
          <p:cNvSpPr/>
          <p:nvPr/>
        </p:nvSpPr>
        <p:spPr>
          <a:xfrm>
            <a:off x="3716119" y="5774519"/>
            <a:ext cx="1589872" cy="48260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Campaign Analysis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31391" y="2823909"/>
            <a:ext cx="2441448" cy="3174818"/>
            <a:chOff x="4745161" y="2730796"/>
            <a:chExt cx="2441448" cy="3174818"/>
          </a:xfrm>
        </p:grpSpPr>
        <p:grpSp>
          <p:nvGrpSpPr>
            <p:cNvPr id="7" name="Group 6"/>
            <p:cNvGrpSpPr/>
            <p:nvPr/>
          </p:nvGrpSpPr>
          <p:grpSpPr>
            <a:xfrm>
              <a:off x="4745161" y="2730796"/>
              <a:ext cx="2441448" cy="3174818"/>
              <a:chOff x="4745161" y="2730796"/>
              <a:chExt cx="2441448" cy="3174818"/>
            </a:xfrm>
          </p:grpSpPr>
          <p:sp>
            <p:nvSpPr>
              <p:cNvPr id="64" name="Rounded Rectangle 63"/>
              <p:cNvSpPr/>
              <p:nvPr/>
            </p:nvSpPr>
            <p:spPr bwMode="auto">
              <a:xfrm>
                <a:off x="4745161" y="2730796"/>
                <a:ext cx="2441448" cy="896658"/>
              </a:xfrm>
              <a:prstGeom prst="roundRect">
                <a:avLst>
                  <a:gd name="adj" fmla="val 8846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45720" tIns="45720" rIns="4572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300" b="1" dirty="0" smtClean="0">
                    <a:solidFill>
                      <a:schemeClr val="tx1"/>
                    </a:solidFill>
                    <a:ea typeface="Geneva" charset="-128"/>
                  </a:rPr>
                  <a:t>Plan &amp; 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300" b="1" dirty="0" smtClean="0">
                    <a:solidFill>
                      <a:schemeClr val="tx1"/>
                    </a:solidFill>
                    <a:ea typeface="Geneva" charset="-128"/>
                  </a:rPr>
                  <a:t>Design</a:t>
                </a:r>
                <a:endParaRPr lang="en-US" sz="1300" b="1" dirty="0">
                  <a:solidFill>
                    <a:schemeClr val="tx1"/>
                  </a:solidFill>
                  <a:ea typeface="Geneva" charset="-128"/>
                </a:endParaRPr>
              </a:p>
            </p:txBody>
          </p:sp>
          <p:sp>
            <p:nvSpPr>
              <p:cNvPr id="65" name="Rounded Rectangle 64"/>
              <p:cNvSpPr/>
              <p:nvPr/>
            </p:nvSpPr>
            <p:spPr bwMode="auto">
              <a:xfrm>
                <a:off x="4745161" y="3720310"/>
                <a:ext cx="2441448" cy="664567"/>
              </a:xfrm>
              <a:prstGeom prst="roundRect">
                <a:avLst>
                  <a:gd name="adj" fmla="val 8846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45720" tIns="45720" rIns="4572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300" b="1" dirty="0" smtClean="0">
                    <a:solidFill>
                      <a:schemeClr val="tx1"/>
                    </a:solidFill>
                    <a:ea typeface="Geneva" charset="-128"/>
                  </a:rPr>
                  <a:t>Prioritize</a:t>
                </a:r>
                <a:endParaRPr lang="en-US" sz="1300" b="1" dirty="0">
                  <a:solidFill>
                    <a:schemeClr val="tx1"/>
                  </a:solidFill>
                  <a:ea typeface="Geneva" charset="-128"/>
                </a:endParaRPr>
              </a:p>
            </p:txBody>
          </p:sp>
          <p:sp>
            <p:nvSpPr>
              <p:cNvPr id="66" name="Rounded Rectangle 65"/>
              <p:cNvSpPr/>
              <p:nvPr/>
            </p:nvSpPr>
            <p:spPr bwMode="auto">
              <a:xfrm>
                <a:off x="4745161" y="4477733"/>
                <a:ext cx="2441448" cy="667512"/>
              </a:xfrm>
              <a:prstGeom prst="roundRect">
                <a:avLst>
                  <a:gd name="adj" fmla="val 8846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45720" tIns="45720" rIns="4572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300" b="1" dirty="0" smtClean="0">
                    <a:solidFill>
                      <a:schemeClr val="tx1"/>
                    </a:solidFill>
                    <a:ea typeface="Geneva" charset="-128"/>
                  </a:rPr>
                  <a:t>Execute</a:t>
                </a:r>
                <a:endParaRPr lang="en-US" sz="1300" b="1" dirty="0">
                  <a:solidFill>
                    <a:schemeClr val="tx1"/>
                  </a:solidFill>
                  <a:ea typeface="Geneva" charset="-128"/>
                </a:endParaRPr>
              </a:p>
            </p:txBody>
          </p:sp>
          <p:sp>
            <p:nvSpPr>
              <p:cNvPr id="67" name="Rounded Rectangle 66"/>
              <p:cNvSpPr/>
              <p:nvPr/>
            </p:nvSpPr>
            <p:spPr bwMode="auto">
              <a:xfrm>
                <a:off x="4745161" y="5238102"/>
                <a:ext cx="2441448" cy="667512"/>
              </a:xfrm>
              <a:prstGeom prst="roundRect">
                <a:avLst>
                  <a:gd name="adj" fmla="val 8846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45720" tIns="45720" rIns="4572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300" b="1" dirty="0" smtClean="0">
                    <a:solidFill>
                      <a:schemeClr val="tx1"/>
                    </a:solidFill>
                    <a:ea typeface="Geneva" charset="-128"/>
                  </a:rPr>
                  <a:t>Analyze</a:t>
                </a:r>
                <a:endParaRPr lang="en-US" sz="1300" b="1" dirty="0">
                  <a:solidFill>
                    <a:schemeClr val="tx1"/>
                  </a:solidFill>
                  <a:ea typeface="Geneva" charset="-128"/>
                </a:endParaRPr>
              </a:p>
            </p:txBody>
          </p:sp>
        </p:grpSp>
        <p:sp>
          <p:nvSpPr>
            <p:cNvPr id="68" name="Rounded Rectangle 67"/>
            <p:cNvSpPr/>
            <p:nvPr/>
          </p:nvSpPr>
          <p:spPr bwMode="auto">
            <a:xfrm>
              <a:off x="5534313" y="2789191"/>
              <a:ext cx="1600200" cy="219456"/>
            </a:xfrm>
            <a:prstGeom prst="roundRect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 smtClean="0">
                  <a:ea typeface="Geneva" charset="-128"/>
                </a:rPr>
                <a:t>Campaign Design</a:t>
              </a:r>
              <a:endParaRPr lang="en-US" sz="1200" b="1" dirty="0">
                <a:ea typeface="Geneva" charset="-128"/>
              </a:endParaRPr>
            </a:p>
          </p:txBody>
        </p:sp>
        <p:sp>
          <p:nvSpPr>
            <p:cNvPr id="69" name="Rounded Rectangle 68"/>
            <p:cNvSpPr/>
            <p:nvPr/>
          </p:nvSpPr>
          <p:spPr bwMode="auto">
            <a:xfrm>
              <a:off x="5534313" y="3070088"/>
              <a:ext cx="1600200" cy="222593"/>
            </a:xfrm>
            <a:prstGeom prst="roundRect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 smtClean="0">
                  <a:ea typeface="Geneva" charset="-128"/>
                </a:rPr>
                <a:t>Campaign Strategy</a:t>
              </a:r>
              <a:endParaRPr lang="en-US" sz="1200" b="1" dirty="0">
                <a:ea typeface="Geneva" charset="-128"/>
              </a:endParaRPr>
            </a:p>
          </p:txBody>
        </p:sp>
        <p:sp>
          <p:nvSpPr>
            <p:cNvPr id="70" name="Rounded Rectangle 69"/>
            <p:cNvSpPr/>
            <p:nvPr/>
          </p:nvSpPr>
          <p:spPr bwMode="auto">
            <a:xfrm>
              <a:off x="5534313" y="3354122"/>
              <a:ext cx="1600200" cy="219456"/>
            </a:xfrm>
            <a:prstGeom prst="roundRect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 smtClean="0">
                  <a:ea typeface="Geneva" charset="-128"/>
                </a:rPr>
                <a:t>Campaign P&amp;L</a:t>
              </a:r>
              <a:endParaRPr lang="en-US" sz="1200" b="1" dirty="0">
                <a:ea typeface="Geneva" charset="-128"/>
              </a:endParaRPr>
            </a:p>
          </p:txBody>
        </p:sp>
        <p:sp>
          <p:nvSpPr>
            <p:cNvPr id="71" name="Rounded Rectangle 70"/>
            <p:cNvSpPr/>
            <p:nvPr/>
          </p:nvSpPr>
          <p:spPr bwMode="auto">
            <a:xfrm>
              <a:off x="5534313" y="3788936"/>
              <a:ext cx="1600200" cy="219456"/>
            </a:xfrm>
            <a:prstGeom prst="roundRect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 smtClean="0">
                  <a:ea typeface="Geneva" charset="-128"/>
                </a:rPr>
                <a:t>Optimize &amp; Prioritize</a:t>
              </a:r>
              <a:endParaRPr lang="en-US" sz="1200" b="1" dirty="0">
                <a:ea typeface="Geneva" charset="-128"/>
              </a:endParaRPr>
            </a:p>
          </p:txBody>
        </p:sp>
        <p:sp>
          <p:nvSpPr>
            <p:cNvPr id="73" name="Rounded Rectangle 72"/>
            <p:cNvSpPr/>
            <p:nvPr/>
          </p:nvSpPr>
          <p:spPr bwMode="auto">
            <a:xfrm>
              <a:off x="5534313" y="4084592"/>
              <a:ext cx="1600200" cy="219456"/>
            </a:xfrm>
            <a:prstGeom prst="roundRect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 smtClean="0">
                  <a:ea typeface="Geneva" charset="-128"/>
                </a:rPr>
                <a:t>Governance policy</a:t>
              </a:r>
              <a:endParaRPr lang="en-US" sz="1200" b="1" dirty="0">
                <a:ea typeface="Geneva" charset="-128"/>
              </a:endParaRPr>
            </a:p>
          </p:txBody>
        </p:sp>
        <p:sp>
          <p:nvSpPr>
            <p:cNvPr id="74" name="Rounded Rectangle 73"/>
            <p:cNvSpPr/>
            <p:nvPr/>
          </p:nvSpPr>
          <p:spPr bwMode="auto">
            <a:xfrm>
              <a:off x="5534313" y="4550936"/>
              <a:ext cx="1600200" cy="219456"/>
            </a:xfrm>
            <a:prstGeom prst="roundRect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 smtClean="0">
                  <a:ea typeface="Geneva" charset="-128"/>
                </a:rPr>
                <a:t>QA Processes</a:t>
              </a:r>
              <a:endParaRPr lang="en-US" sz="1200" b="1" dirty="0">
                <a:ea typeface="Geneva" charset="-128"/>
              </a:endParaRPr>
            </a:p>
          </p:txBody>
        </p:sp>
        <p:sp>
          <p:nvSpPr>
            <p:cNvPr id="75" name="Rounded Rectangle 74"/>
            <p:cNvSpPr/>
            <p:nvPr/>
          </p:nvSpPr>
          <p:spPr bwMode="auto">
            <a:xfrm>
              <a:off x="5534313" y="4855736"/>
              <a:ext cx="1600200" cy="219456"/>
            </a:xfrm>
            <a:prstGeom prst="roundRect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 smtClean="0">
                  <a:ea typeface="Geneva" charset="-128"/>
                </a:rPr>
                <a:t>Execution</a:t>
              </a:r>
              <a:endParaRPr lang="en-US" sz="1200" b="1" dirty="0">
                <a:ea typeface="Geneva" charset="-128"/>
              </a:endParaRPr>
            </a:p>
          </p:txBody>
        </p:sp>
        <p:sp>
          <p:nvSpPr>
            <p:cNvPr id="76" name="Rounded Rectangle 75"/>
            <p:cNvSpPr/>
            <p:nvPr/>
          </p:nvSpPr>
          <p:spPr bwMode="auto">
            <a:xfrm>
              <a:off x="5534313" y="5303792"/>
              <a:ext cx="1600280" cy="219456"/>
            </a:xfrm>
            <a:prstGeom prst="roundRect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 smtClean="0">
                  <a:ea typeface="Geneva" charset="-128"/>
                </a:rPr>
                <a:t>Campaign Tracking</a:t>
              </a:r>
              <a:endParaRPr lang="en-US" sz="1200" b="1" dirty="0">
                <a:ea typeface="Geneva" charset="-128"/>
              </a:endParaRPr>
            </a:p>
          </p:txBody>
        </p:sp>
        <p:sp>
          <p:nvSpPr>
            <p:cNvPr id="77" name="Rounded Rectangle 76"/>
            <p:cNvSpPr/>
            <p:nvPr/>
          </p:nvSpPr>
          <p:spPr bwMode="auto">
            <a:xfrm>
              <a:off x="5534313" y="5608592"/>
              <a:ext cx="1600280" cy="219456"/>
            </a:xfrm>
            <a:prstGeom prst="roundRect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 smtClean="0">
                  <a:ea typeface="Geneva" charset="-128"/>
                </a:rPr>
                <a:t>Analysis</a:t>
              </a:r>
              <a:endParaRPr lang="en-US" sz="1200" b="1" dirty="0">
                <a:ea typeface="Geneva" charset="-128"/>
              </a:endParaRPr>
            </a:p>
          </p:txBody>
        </p:sp>
      </p:grpSp>
      <p:sp>
        <p:nvSpPr>
          <p:cNvPr id="56" name="Text Placeholder 6"/>
          <p:cNvSpPr txBox="1">
            <a:spLocks/>
          </p:cNvSpPr>
          <p:nvPr/>
        </p:nvSpPr>
        <p:spPr>
          <a:xfrm>
            <a:off x="529561" y="1217073"/>
            <a:ext cx="11113180" cy="5823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rgbClr val="0F7EBF"/>
                </a:solidFill>
              </a:rPr>
              <a:t>Product propensity with life stage to cross-sell/up-sell insurance products and leads prioritization </a:t>
            </a:r>
            <a:endParaRPr lang="en-US" dirty="0">
              <a:solidFill>
                <a:srgbClr val="0F7EBF"/>
              </a:solidFill>
            </a:endParaRPr>
          </a:p>
        </p:txBody>
      </p:sp>
      <p:sp>
        <p:nvSpPr>
          <p:cNvPr id="78" name="TextBox 77"/>
          <p:cNvSpPr txBox="1"/>
          <p:nvPr/>
        </p:nvSpPr>
        <p:spPr bwMode="gray">
          <a:xfrm>
            <a:off x="195902" y="2703979"/>
            <a:ext cx="2785730" cy="3519376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endParaRPr lang="en-IN" sz="2000" dirty="0" smtClean="0"/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7185420" y="6447151"/>
            <a:ext cx="4622267" cy="28027"/>
          </a:xfrm>
          <a:prstGeom prst="straightConnector1">
            <a:avLst/>
          </a:prstGeom>
          <a:ln w="28575">
            <a:solidFill>
              <a:srgbClr val="1C578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16200000" flipV="1">
            <a:off x="5409274" y="4661436"/>
            <a:ext cx="3556177" cy="15886"/>
          </a:xfrm>
          <a:prstGeom prst="straightConnector1">
            <a:avLst/>
          </a:prstGeom>
          <a:ln w="28575">
            <a:solidFill>
              <a:srgbClr val="1C578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 bwMode="gray">
          <a:xfrm rot="16200000">
            <a:off x="5912964" y="5169880"/>
            <a:ext cx="1972816" cy="49859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IN" sz="1400" b="1" i="1" dirty="0" smtClean="0">
                <a:solidFill>
                  <a:schemeClr val="tx2"/>
                </a:solidFill>
              </a:rPr>
              <a:t>Product Propensity Score for customer x</a:t>
            </a:r>
          </a:p>
        </p:txBody>
      </p:sp>
      <p:cxnSp>
        <p:nvCxnSpPr>
          <p:cNvPr id="61" name="Straight Connector 60"/>
          <p:cNvCxnSpPr/>
          <p:nvPr/>
        </p:nvCxnSpPr>
        <p:spPr>
          <a:xfrm rot="10800000" flipH="1">
            <a:off x="7180059" y="5146026"/>
            <a:ext cx="4609141" cy="1588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7184004" y="3729936"/>
            <a:ext cx="4609141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 bwMode="gray">
          <a:xfrm>
            <a:off x="8237550" y="6401112"/>
            <a:ext cx="2942409" cy="49859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400" b="1" i="1" dirty="0" smtClean="0">
                <a:solidFill>
                  <a:schemeClr val="tx2"/>
                </a:solidFill>
              </a:rPr>
              <a:t>Customer Value for customer x</a:t>
            </a:r>
            <a:endParaRPr lang="en-IN" sz="1400" b="1" i="1" dirty="0" smtClean="0">
              <a:solidFill>
                <a:schemeClr val="tx2"/>
              </a:solidFill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7334161" y="2891290"/>
            <a:ext cx="4473526" cy="1125420"/>
          </a:xfrm>
          <a:prstGeom prst="roundRect">
            <a:avLst/>
          </a:prstGeom>
          <a:noFill/>
          <a:ln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0" name="Picture 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153" y="5497897"/>
            <a:ext cx="857250" cy="752475"/>
          </a:xfrm>
          <a:prstGeom prst="rect">
            <a:avLst/>
          </a:prstGeom>
        </p:spPr>
      </p:pic>
      <p:pic>
        <p:nvPicPr>
          <p:cNvPr id="81" name="Picture 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759" y="5478378"/>
            <a:ext cx="819150" cy="752475"/>
          </a:xfrm>
          <a:prstGeom prst="rect">
            <a:avLst/>
          </a:prstGeom>
        </p:spPr>
      </p:pic>
      <p:pic>
        <p:nvPicPr>
          <p:cNvPr id="82" name="Picture 8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8118" y="4249402"/>
            <a:ext cx="953301" cy="846188"/>
          </a:xfrm>
          <a:prstGeom prst="rect">
            <a:avLst/>
          </a:prstGeom>
        </p:spPr>
      </p:pic>
      <p:pic>
        <p:nvPicPr>
          <p:cNvPr id="83" name="Picture 12" descr="products icon .jp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74870" y="2905713"/>
            <a:ext cx="915814" cy="770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4" name="Picture 13" descr="products icon 2.jpg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809731" y="2945010"/>
            <a:ext cx="854391" cy="718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5" name="Picture 14" descr="products icon 4.jpg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0783284" y="5505061"/>
            <a:ext cx="907283" cy="762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6" name="Straight Arrow Connector 85"/>
          <p:cNvCxnSpPr/>
          <p:nvPr/>
        </p:nvCxnSpPr>
        <p:spPr>
          <a:xfrm flipV="1">
            <a:off x="8231376" y="4042421"/>
            <a:ext cx="1286171" cy="136466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oup 38"/>
          <p:cNvGrpSpPr/>
          <p:nvPr/>
        </p:nvGrpSpPr>
        <p:grpSpPr>
          <a:xfrm>
            <a:off x="6250251" y="3606241"/>
            <a:ext cx="270066" cy="557168"/>
            <a:chOff x="4529264" y="846486"/>
            <a:chExt cx="192032" cy="482773"/>
          </a:xfrm>
          <a:solidFill>
            <a:schemeClr val="accent1">
              <a:lumMod val="50000"/>
            </a:schemeClr>
          </a:solidFill>
        </p:grpSpPr>
        <p:sp>
          <p:nvSpPr>
            <p:cNvPr id="88" name="Rounded Rectangle 87"/>
            <p:cNvSpPr/>
            <p:nvPr/>
          </p:nvSpPr>
          <p:spPr>
            <a:xfrm>
              <a:off x="4584709" y="846486"/>
              <a:ext cx="80965" cy="79512"/>
            </a:xfrm>
            <a:prstGeom prst="roundRect">
              <a:avLst>
                <a:gd name="adj" fmla="val 38323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0878" fontAlgn="base">
                <a:spcBef>
                  <a:spcPct val="0"/>
                </a:spcBef>
                <a:spcAft>
                  <a:spcPct val="0"/>
                </a:spcAft>
              </a:pPr>
              <a:endParaRPr lang="en-US" sz="900" dirty="0">
                <a:solidFill>
                  <a:schemeClr val="accent1"/>
                </a:solidFill>
              </a:endParaRPr>
            </a:p>
          </p:txBody>
        </p:sp>
        <p:sp>
          <p:nvSpPr>
            <p:cNvPr id="89" name="Freeform 88"/>
            <p:cNvSpPr/>
            <p:nvPr/>
          </p:nvSpPr>
          <p:spPr>
            <a:xfrm>
              <a:off x="4529264" y="951517"/>
              <a:ext cx="192032" cy="377742"/>
            </a:xfrm>
            <a:custGeom>
              <a:avLst/>
              <a:gdLst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65760 w 1748790"/>
                <a:gd name="connsiteY13" fmla="*/ 41719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65760 w 1748790"/>
                <a:gd name="connsiteY13" fmla="*/ 41719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65760 w 1748790"/>
                <a:gd name="connsiteY13" fmla="*/ 41719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65760 w 1748790"/>
                <a:gd name="connsiteY13" fmla="*/ 41719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65760 w 1748790"/>
                <a:gd name="connsiteY13" fmla="*/ 41719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65760 w 1748790"/>
                <a:gd name="connsiteY13" fmla="*/ 41719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65760 w 1748790"/>
                <a:gd name="connsiteY13" fmla="*/ 41719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65760 w 1748790"/>
                <a:gd name="connsiteY13" fmla="*/ 41719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65760 w 1748790"/>
                <a:gd name="connsiteY13" fmla="*/ 41719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8790" h="3274695">
                  <a:moveTo>
                    <a:pt x="200025" y="0"/>
                  </a:moveTo>
                  <a:lnTo>
                    <a:pt x="1537335" y="0"/>
                  </a:lnTo>
                  <a:cubicBezTo>
                    <a:pt x="1716405" y="38100"/>
                    <a:pt x="1746885" y="127635"/>
                    <a:pt x="1748790" y="234315"/>
                  </a:cubicBezTo>
                  <a:lnTo>
                    <a:pt x="1743075" y="1571625"/>
                  </a:lnTo>
                  <a:cubicBezTo>
                    <a:pt x="1741170" y="1701165"/>
                    <a:pt x="1504950" y="1676400"/>
                    <a:pt x="1497330" y="1583055"/>
                  </a:cubicBezTo>
                  <a:lnTo>
                    <a:pt x="1508760" y="480060"/>
                  </a:lnTo>
                  <a:cubicBezTo>
                    <a:pt x="1514475" y="430530"/>
                    <a:pt x="1485900" y="392430"/>
                    <a:pt x="1388745" y="417195"/>
                  </a:cubicBezTo>
                  <a:lnTo>
                    <a:pt x="1383030" y="1703070"/>
                  </a:lnTo>
                  <a:lnTo>
                    <a:pt x="1217295" y="3188970"/>
                  </a:lnTo>
                  <a:cubicBezTo>
                    <a:pt x="1213485" y="3223260"/>
                    <a:pt x="1158240" y="3274695"/>
                    <a:pt x="1120140" y="3274695"/>
                  </a:cubicBezTo>
                  <a:lnTo>
                    <a:pt x="617220" y="3274695"/>
                  </a:lnTo>
                  <a:cubicBezTo>
                    <a:pt x="561975" y="3270885"/>
                    <a:pt x="523875" y="3198495"/>
                    <a:pt x="520065" y="3143250"/>
                  </a:cubicBezTo>
                  <a:lnTo>
                    <a:pt x="371475" y="1651635"/>
                  </a:lnTo>
                  <a:lnTo>
                    <a:pt x="365760" y="417195"/>
                  </a:lnTo>
                  <a:cubicBezTo>
                    <a:pt x="259080" y="401955"/>
                    <a:pt x="249555" y="455295"/>
                    <a:pt x="251460" y="491490"/>
                  </a:cubicBezTo>
                  <a:lnTo>
                    <a:pt x="251460" y="1571625"/>
                  </a:lnTo>
                  <a:cubicBezTo>
                    <a:pt x="241935" y="1693545"/>
                    <a:pt x="3810" y="1706880"/>
                    <a:pt x="0" y="1560195"/>
                  </a:cubicBezTo>
                  <a:lnTo>
                    <a:pt x="0" y="257175"/>
                  </a:lnTo>
                  <a:cubicBezTo>
                    <a:pt x="3810" y="85725"/>
                    <a:pt x="70485" y="5715"/>
                    <a:pt x="200025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0878" fontAlgn="base">
                <a:spcBef>
                  <a:spcPct val="0"/>
                </a:spcBef>
                <a:spcAft>
                  <a:spcPct val="0"/>
                </a:spcAft>
              </a:pPr>
              <a:endParaRPr lang="en-US" sz="90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90" name="TextBox 89"/>
          <p:cNvSpPr txBox="1"/>
          <p:nvPr/>
        </p:nvSpPr>
        <p:spPr bwMode="gray">
          <a:xfrm>
            <a:off x="5694792" y="4266851"/>
            <a:ext cx="1114204" cy="49859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400" b="1" dirty="0" smtClean="0">
                <a:solidFill>
                  <a:schemeClr val="tx2"/>
                </a:solidFill>
              </a:rPr>
              <a:t>Customer X</a:t>
            </a:r>
            <a:endParaRPr lang="en-IN" sz="1400" b="1" dirty="0" smtClean="0">
              <a:solidFill>
                <a:schemeClr val="tx2"/>
              </a:solidFill>
            </a:endParaRPr>
          </a:p>
        </p:txBody>
      </p:sp>
      <p:sp>
        <p:nvSpPr>
          <p:cNvPr id="91" name="TextBox 90"/>
          <p:cNvSpPr txBox="1"/>
          <p:nvPr/>
        </p:nvSpPr>
        <p:spPr bwMode="gray">
          <a:xfrm>
            <a:off x="8865284" y="2317042"/>
            <a:ext cx="1114204" cy="49859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n-US" sz="1600" u="sng" dirty="0" smtClean="0">
                <a:solidFill>
                  <a:schemeClr val="tx2"/>
                </a:solidFill>
              </a:rPr>
              <a:t>Evaluation of various products for Customer X based </a:t>
            </a:r>
          </a:p>
          <a:p>
            <a:pPr algn="ctr"/>
            <a:r>
              <a:rPr lang="en-US" sz="1600" u="sng" dirty="0" smtClean="0">
                <a:solidFill>
                  <a:schemeClr val="tx2"/>
                </a:solidFill>
              </a:rPr>
              <a:t>on Customer Value and Propensity score</a:t>
            </a:r>
            <a:endParaRPr lang="en-IN" sz="1600" u="sng" dirty="0" smtClean="0">
              <a:solidFill>
                <a:schemeClr val="tx2"/>
              </a:solidFill>
            </a:endParaRPr>
          </a:p>
        </p:txBody>
      </p:sp>
      <p:sp>
        <p:nvSpPr>
          <p:cNvPr id="112" name="AutoShape 7"/>
          <p:cNvSpPr>
            <a:spLocks noChangeAspect="1" noChangeArrowheads="1"/>
          </p:cNvSpPr>
          <p:nvPr/>
        </p:nvSpPr>
        <p:spPr bwMode="auto">
          <a:xfrm rot="5400000">
            <a:off x="1487429" y="4303003"/>
            <a:ext cx="3902860" cy="401638"/>
          </a:xfrm>
          <a:prstGeom prst="triangle">
            <a:avLst>
              <a:gd name="adj" fmla="val 49761"/>
            </a:avLst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 type="none" w="sm" len="sm"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1440" bIns="91440" anchor="ctr"/>
          <a:lstStyle/>
          <a:p>
            <a:pPr>
              <a:defRPr/>
            </a:pPr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113" name="AutoShape 28"/>
          <p:cNvSpPr>
            <a:spLocks noChangeArrowheads="1"/>
          </p:cNvSpPr>
          <p:nvPr/>
        </p:nvSpPr>
        <p:spPr bwMode="auto">
          <a:xfrm rot="16200000">
            <a:off x="5335420" y="3495154"/>
            <a:ext cx="839373" cy="740749"/>
          </a:xfrm>
          <a:prstGeom prst="downArrow">
            <a:avLst>
              <a:gd name="adj1" fmla="val 48074"/>
              <a:gd name="adj2" fmla="val 41667"/>
            </a:avLst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209757" y="1674049"/>
            <a:ext cx="5188829" cy="532014"/>
          </a:xfrm>
          <a:prstGeom prst="rect">
            <a:avLst/>
          </a:prstGeom>
          <a:solidFill>
            <a:srgbClr val="0B4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bg1"/>
                </a:solidFill>
              </a:rPr>
              <a:t>Campaign Management across Channels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827971" y="1688172"/>
            <a:ext cx="5188829" cy="532014"/>
          </a:xfrm>
          <a:prstGeom prst="rect">
            <a:avLst/>
          </a:prstGeom>
          <a:solidFill>
            <a:srgbClr val="0B4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Cross-sell/Up-sell Strategy</a:t>
            </a:r>
          </a:p>
        </p:txBody>
      </p:sp>
    </p:spTree>
    <p:extLst>
      <p:ext uri="{BB962C8B-B14F-4D97-AF65-F5344CB8AC3E}">
        <p14:creationId xmlns:p14="http://schemas.microsoft.com/office/powerpoint/2010/main" val="5011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Up Arrow 47"/>
          <p:cNvSpPr/>
          <p:nvPr/>
        </p:nvSpPr>
        <p:spPr>
          <a:xfrm rot="5400000">
            <a:off x="2873938" y="2452203"/>
            <a:ext cx="484632" cy="1879104"/>
          </a:xfrm>
          <a:prstGeom prst="up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Quick Wins (3):Sales Management Framework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45226" y="1159962"/>
            <a:ext cx="12273244" cy="582362"/>
          </a:xfrm>
        </p:spPr>
        <p:txBody>
          <a:bodyPr>
            <a:normAutofit fontScale="92500"/>
          </a:bodyPr>
          <a:lstStyle/>
          <a:p>
            <a:pPr eaLnBrk="0" hangingPunct="0"/>
            <a:r>
              <a:rPr lang="en-US" dirty="0" smtClean="0">
                <a:latin typeface="+mj-lt"/>
              </a:rPr>
              <a:t>Maximize profitability and increase operational efficiency by optimizing sales force deployment across regions</a:t>
            </a:r>
            <a:endParaRPr lang="en-US" dirty="0">
              <a:latin typeface="+mj-lt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68947" y="1610156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 bwMode="gray">
          <a:xfrm>
            <a:off x="1111347" y="1689655"/>
            <a:ext cx="10803987" cy="404616"/>
          </a:xfrm>
          <a:prstGeom prst="rect">
            <a:avLst/>
          </a:prstGeom>
          <a:solidFill>
            <a:srgbClr val="26B3FE"/>
          </a:solidFill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2000" b="1" dirty="0" smtClean="0">
                <a:solidFill>
                  <a:schemeClr val="bg1"/>
                </a:solidFill>
              </a:rPr>
              <a:t>Concept and Approach</a:t>
            </a:r>
          </a:p>
        </p:txBody>
      </p:sp>
      <p:sp>
        <p:nvSpPr>
          <p:cNvPr id="45" name="Oval 44"/>
          <p:cNvSpPr/>
          <p:nvPr/>
        </p:nvSpPr>
        <p:spPr>
          <a:xfrm>
            <a:off x="1358903" y="3081127"/>
            <a:ext cx="745435" cy="626165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1</a:t>
            </a:r>
            <a:endParaRPr lang="en-IN" dirty="0"/>
          </a:p>
        </p:txBody>
      </p:sp>
      <p:sp>
        <p:nvSpPr>
          <p:cNvPr id="46" name="Oval 45"/>
          <p:cNvSpPr/>
          <p:nvPr/>
        </p:nvSpPr>
        <p:spPr>
          <a:xfrm>
            <a:off x="4252894" y="3081127"/>
            <a:ext cx="745435" cy="626165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47" name="Oval 46"/>
          <p:cNvSpPr/>
          <p:nvPr/>
        </p:nvSpPr>
        <p:spPr>
          <a:xfrm>
            <a:off x="7593412" y="3081127"/>
            <a:ext cx="745435" cy="626165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49" name="Up Arrow 48"/>
          <p:cNvSpPr/>
          <p:nvPr/>
        </p:nvSpPr>
        <p:spPr>
          <a:xfrm rot="5400000">
            <a:off x="6004081" y="2257991"/>
            <a:ext cx="494907" cy="2304310"/>
          </a:xfrm>
          <a:prstGeom prst="up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Text Box 34"/>
          <p:cNvSpPr txBox="1">
            <a:spLocks noChangeArrowheads="1"/>
          </p:cNvSpPr>
          <p:nvPr/>
        </p:nvSpPr>
        <p:spPr bwMode="auto">
          <a:xfrm>
            <a:off x="1570629" y="2636116"/>
            <a:ext cx="294750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1400" dirty="0">
                <a:latin typeface="+mj-lt"/>
              </a:rPr>
              <a:t>Analyze product penetration</a:t>
            </a:r>
          </a:p>
        </p:txBody>
      </p:sp>
      <p:sp>
        <p:nvSpPr>
          <p:cNvPr id="51" name="Text Box 34"/>
          <p:cNvSpPr txBox="1">
            <a:spLocks noChangeArrowheads="1"/>
          </p:cNvSpPr>
          <p:nvPr/>
        </p:nvSpPr>
        <p:spPr bwMode="auto">
          <a:xfrm>
            <a:off x="5705325" y="2695108"/>
            <a:ext cx="399777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1400" dirty="0" smtClean="0">
                <a:latin typeface="+mj-lt"/>
              </a:rPr>
              <a:t>DSA Concentration/Productivity Trend</a:t>
            </a:r>
            <a:endParaRPr lang="en-US" sz="1400" dirty="0">
              <a:latin typeface="+mj-lt"/>
            </a:endParaRPr>
          </a:p>
        </p:txBody>
      </p:sp>
      <p:sp>
        <p:nvSpPr>
          <p:cNvPr id="52" name="Text Box 34"/>
          <p:cNvSpPr txBox="1">
            <a:spLocks noChangeArrowheads="1"/>
          </p:cNvSpPr>
          <p:nvPr/>
        </p:nvSpPr>
        <p:spPr bwMode="auto">
          <a:xfrm>
            <a:off x="1108533" y="3721830"/>
            <a:ext cx="272552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1400" dirty="0" smtClean="0">
                <a:latin typeface="+mj-lt"/>
              </a:rPr>
              <a:t>Identify areas of </a:t>
            </a:r>
          </a:p>
          <a:p>
            <a:pPr eaLnBrk="0" hangingPunct="0"/>
            <a:r>
              <a:rPr lang="en-US" sz="1400" dirty="0" smtClean="0">
                <a:latin typeface="+mj-lt"/>
              </a:rPr>
              <a:t>opportunity</a:t>
            </a:r>
            <a:endParaRPr lang="en-US" sz="1400" dirty="0">
              <a:latin typeface="+mj-lt"/>
            </a:endParaRPr>
          </a:p>
        </p:txBody>
      </p:sp>
      <p:sp>
        <p:nvSpPr>
          <p:cNvPr id="53" name="Text Box 34"/>
          <p:cNvSpPr txBox="1">
            <a:spLocks noChangeArrowheads="1"/>
          </p:cNvSpPr>
          <p:nvPr/>
        </p:nvSpPr>
        <p:spPr bwMode="auto">
          <a:xfrm>
            <a:off x="2844423" y="3705267"/>
            <a:ext cx="3607903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1400" dirty="0" smtClean="0">
                <a:latin typeface="+mj-lt"/>
              </a:rPr>
              <a:t>Analyze market opportunity </a:t>
            </a:r>
          </a:p>
          <a:p>
            <a:pPr algn="ctr" eaLnBrk="0" hangingPunct="0"/>
            <a:r>
              <a:rPr lang="en-US" sz="1400" dirty="0" smtClean="0">
                <a:latin typeface="+mj-lt"/>
              </a:rPr>
              <a:t>relative to product penetration per district/city</a:t>
            </a:r>
            <a:endParaRPr lang="en-US" sz="1400" dirty="0">
              <a:latin typeface="+mj-lt"/>
            </a:endParaRPr>
          </a:p>
        </p:txBody>
      </p:sp>
      <p:sp>
        <p:nvSpPr>
          <p:cNvPr id="54" name="Text Box 34"/>
          <p:cNvSpPr txBox="1">
            <a:spLocks noChangeArrowheads="1"/>
          </p:cNvSpPr>
          <p:nvPr/>
        </p:nvSpPr>
        <p:spPr bwMode="auto">
          <a:xfrm>
            <a:off x="6461345" y="3687975"/>
            <a:ext cx="3607903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1400" dirty="0" smtClean="0">
                <a:latin typeface="+mj-lt"/>
              </a:rPr>
              <a:t>Leads optimization </a:t>
            </a:r>
          </a:p>
          <a:p>
            <a:pPr algn="ctr" eaLnBrk="0" hangingPunct="0"/>
            <a:r>
              <a:rPr lang="en-US" sz="1400" dirty="0" smtClean="0">
                <a:latin typeface="+mj-lt"/>
              </a:rPr>
              <a:t>at DSA level &amp;</a:t>
            </a:r>
          </a:p>
          <a:p>
            <a:pPr algn="ctr" eaLnBrk="0" hangingPunct="0"/>
            <a:r>
              <a:rPr lang="en-US" sz="1400" dirty="0" smtClean="0">
                <a:latin typeface="+mj-lt"/>
              </a:rPr>
              <a:t>Sales optimization   </a:t>
            </a:r>
            <a:endParaRPr lang="en-US" sz="1400" dirty="0">
              <a:latin typeface="+mj-lt"/>
            </a:endParaRPr>
          </a:p>
        </p:txBody>
      </p:sp>
      <p:sp>
        <p:nvSpPr>
          <p:cNvPr id="55" name="AutoShape 28"/>
          <p:cNvSpPr>
            <a:spLocks noChangeArrowheads="1"/>
          </p:cNvSpPr>
          <p:nvPr/>
        </p:nvSpPr>
        <p:spPr bwMode="auto">
          <a:xfrm>
            <a:off x="1337621" y="4399865"/>
            <a:ext cx="839373" cy="740749"/>
          </a:xfrm>
          <a:prstGeom prst="downArrow">
            <a:avLst>
              <a:gd name="adj1" fmla="val 48074"/>
              <a:gd name="adj2" fmla="val 41667"/>
            </a:avLst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1018135" y="5298275"/>
            <a:ext cx="16962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smtClean="0">
                <a:latin typeface="+mj-lt"/>
              </a:rPr>
              <a:t> Opportunity Grid</a:t>
            </a:r>
            <a:endParaRPr lang="en-IN" sz="1400" dirty="0">
              <a:latin typeface="+mj-lt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744346" y="5312343"/>
            <a:ext cx="19303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smtClean="0">
                <a:latin typeface="+mj-lt"/>
              </a:rPr>
              <a:t>Product Penetration</a:t>
            </a:r>
            <a:endParaRPr lang="en-IN" sz="1400" dirty="0">
              <a:latin typeface="+mj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7349875" y="5157595"/>
            <a:ext cx="1882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smtClean="0">
                <a:latin typeface="+mj-lt"/>
              </a:rPr>
              <a:t>Sales and Resource</a:t>
            </a:r>
          </a:p>
          <a:p>
            <a:pPr algn="ctr"/>
            <a:r>
              <a:rPr lang="en-US" sz="1400" dirty="0" smtClean="0">
                <a:latin typeface="+mj-lt"/>
              </a:rPr>
              <a:t> Optimization</a:t>
            </a:r>
            <a:endParaRPr lang="en-IN" sz="1400" dirty="0">
              <a:latin typeface="+mj-lt"/>
            </a:endParaRPr>
          </a:p>
        </p:txBody>
      </p:sp>
      <p:sp>
        <p:nvSpPr>
          <p:cNvPr id="70" name="Up Arrow 69"/>
          <p:cNvSpPr/>
          <p:nvPr/>
        </p:nvSpPr>
        <p:spPr>
          <a:xfrm rot="5400000">
            <a:off x="9217556" y="449177"/>
            <a:ext cx="484632" cy="3964881"/>
          </a:xfrm>
          <a:prstGeom prst="up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Up Arrow 71"/>
          <p:cNvSpPr/>
          <p:nvPr/>
        </p:nvSpPr>
        <p:spPr>
          <a:xfrm rot="16200000">
            <a:off x="2983174" y="568911"/>
            <a:ext cx="484632" cy="3843400"/>
          </a:xfrm>
          <a:prstGeom prst="up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ectangle 72"/>
          <p:cNvSpPr/>
          <p:nvPr/>
        </p:nvSpPr>
        <p:spPr>
          <a:xfrm>
            <a:off x="5108140" y="2290178"/>
            <a:ext cx="2223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latin typeface="Arial" pitchFamily="34" charset="0"/>
              </a:rPr>
              <a:t>Dynamic Modeling</a:t>
            </a:r>
            <a:endParaRPr lang="en-IN" b="1" dirty="0"/>
          </a:p>
        </p:txBody>
      </p:sp>
      <p:sp>
        <p:nvSpPr>
          <p:cNvPr id="74" name="Rectangle 38"/>
          <p:cNvSpPr>
            <a:spLocks noChangeArrowheads="1"/>
          </p:cNvSpPr>
          <p:nvPr/>
        </p:nvSpPr>
        <p:spPr bwMode="auto">
          <a:xfrm>
            <a:off x="124164" y="2194560"/>
            <a:ext cx="860574" cy="339507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n-US" sz="1400" b="1" dirty="0" smtClean="0">
                <a:solidFill>
                  <a:schemeClr val="lt1"/>
                </a:solidFill>
              </a:rPr>
              <a:t>CUSTOMERS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50029" y="6473862"/>
            <a:ext cx="1980000" cy="32446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Reports</a:t>
            </a:r>
            <a:endParaRPr lang="en-IN" sz="1400" b="1" dirty="0" smtClean="0"/>
          </a:p>
        </p:txBody>
      </p:sp>
      <p:sp>
        <p:nvSpPr>
          <p:cNvPr id="32" name="AutoShape 28"/>
          <p:cNvSpPr>
            <a:spLocks noChangeArrowheads="1"/>
          </p:cNvSpPr>
          <p:nvPr/>
        </p:nvSpPr>
        <p:spPr bwMode="auto">
          <a:xfrm>
            <a:off x="4198528" y="4438365"/>
            <a:ext cx="839373" cy="740749"/>
          </a:xfrm>
          <a:prstGeom prst="downArrow">
            <a:avLst>
              <a:gd name="adj1" fmla="val 48074"/>
              <a:gd name="adj2" fmla="val 41667"/>
            </a:avLst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33" name="AutoShape 28"/>
          <p:cNvSpPr>
            <a:spLocks noChangeArrowheads="1"/>
          </p:cNvSpPr>
          <p:nvPr/>
        </p:nvSpPr>
        <p:spPr bwMode="auto">
          <a:xfrm>
            <a:off x="7686384" y="4480262"/>
            <a:ext cx="839373" cy="740749"/>
          </a:xfrm>
          <a:prstGeom prst="downArrow">
            <a:avLst>
              <a:gd name="adj1" fmla="val 48074"/>
              <a:gd name="adj2" fmla="val 41667"/>
            </a:avLst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1069145" y="2145325"/>
            <a:ext cx="6105378" cy="3488559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/>
          <p:cNvSpPr/>
          <p:nvPr/>
        </p:nvSpPr>
        <p:spPr>
          <a:xfrm>
            <a:off x="7340991" y="2142981"/>
            <a:ext cx="4588412" cy="3505651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/>
          <p:cNvSpPr txBox="1"/>
          <p:nvPr/>
        </p:nvSpPr>
        <p:spPr bwMode="gray">
          <a:xfrm>
            <a:off x="1037979" y="5727387"/>
            <a:ext cx="6121796" cy="237315"/>
          </a:xfrm>
          <a:prstGeom prst="rect">
            <a:avLst/>
          </a:prstGeom>
          <a:solidFill>
            <a:srgbClr val="26B3FE"/>
          </a:solidFill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600" b="1" dirty="0" smtClean="0">
                <a:solidFill>
                  <a:schemeClr val="bg1"/>
                </a:solidFill>
              </a:rPr>
              <a:t>Quick Win</a:t>
            </a:r>
          </a:p>
        </p:txBody>
      </p:sp>
      <p:sp>
        <p:nvSpPr>
          <p:cNvPr id="38" name="TextBox 37"/>
          <p:cNvSpPr txBox="1"/>
          <p:nvPr/>
        </p:nvSpPr>
        <p:spPr bwMode="gray">
          <a:xfrm>
            <a:off x="7359444" y="5710975"/>
            <a:ext cx="4598093" cy="261898"/>
          </a:xfrm>
          <a:prstGeom prst="rect">
            <a:avLst/>
          </a:prstGeom>
          <a:solidFill>
            <a:srgbClr val="26B3FE"/>
          </a:solidFill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600" b="1" dirty="0" smtClean="0">
                <a:solidFill>
                  <a:schemeClr val="bg1"/>
                </a:solidFill>
              </a:rPr>
              <a:t>Foundation</a:t>
            </a:r>
          </a:p>
        </p:txBody>
      </p:sp>
      <p:sp>
        <p:nvSpPr>
          <p:cNvPr id="39" name="Oval 38"/>
          <p:cNvSpPr/>
          <p:nvPr/>
        </p:nvSpPr>
        <p:spPr>
          <a:xfrm>
            <a:off x="10765803" y="3041799"/>
            <a:ext cx="745435" cy="626165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4</a:t>
            </a:r>
            <a:endParaRPr lang="en-IN" dirty="0"/>
          </a:p>
        </p:txBody>
      </p:sp>
      <p:sp>
        <p:nvSpPr>
          <p:cNvPr id="40" name="Up Arrow 39"/>
          <p:cNvSpPr/>
          <p:nvPr/>
        </p:nvSpPr>
        <p:spPr>
          <a:xfrm rot="5400000">
            <a:off x="9267031" y="2203914"/>
            <a:ext cx="494907" cy="2304310"/>
          </a:xfrm>
          <a:prstGeom prst="up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AutoShape 5"/>
          <p:cNvSpPr>
            <a:spLocks noChangeAspect="1" noChangeArrowheads="1"/>
          </p:cNvSpPr>
          <p:nvPr/>
        </p:nvSpPr>
        <p:spPr bwMode="auto">
          <a:xfrm rot="10800000">
            <a:off x="1029008" y="6005285"/>
            <a:ext cx="10928530" cy="401637"/>
          </a:xfrm>
          <a:prstGeom prst="triangle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 type="none" w="sm" len="sm"/>
            <a:tailEnd type="none" w="med" len="lg"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>
              <a:defRPr/>
            </a:pPr>
            <a:endParaRPr lang="en-IN"/>
          </a:p>
        </p:txBody>
      </p:sp>
      <p:sp>
        <p:nvSpPr>
          <p:cNvPr id="44" name="Rounded Rectangle 43"/>
          <p:cNvSpPr/>
          <p:nvPr/>
        </p:nvSpPr>
        <p:spPr>
          <a:xfrm>
            <a:off x="938022" y="6463346"/>
            <a:ext cx="1980000" cy="32446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Predictive Models</a:t>
            </a:r>
            <a:endParaRPr lang="en-IN" sz="1400" b="1" dirty="0" smtClean="0"/>
          </a:p>
        </p:txBody>
      </p:sp>
      <p:sp>
        <p:nvSpPr>
          <p:cNvPr id="59" name="Rounded Rectangle 58"/>
          <p:cNvSpPr/>
          <p:nvPr/>
        </p:nvSpPr>
        <p:spPr>
          <a:xfrm>
            <a:off x="7132352" y="6474543"/>
            <a:ext cx="1980000" cy="32446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Dashboards</a:t>
            </a:r>
            <a:endParaRPr lang="en-IN" sz="1400" b="1" dirty="0" smtClean="0"/>
          </a:p>
        </p:txBody>
      </p:sp>
      <p:sp>
        <p:nvSpPr>
          <p:cNvPr id="60" name="Rounded Rectangle 59"/>
          <p:cNvSpPr/>
          <p:nvPr/>
        </p:nvSpPr>
        <p:spPr>
          <a:xfrm>
            <a:off x="9872823" y="6443687"/>
            <a:ext cx="1980000" cy="32446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Campaigns</a:t>
            </a:r>
            <a:endParaRPr lang="en-IN" sz="1400" b="1" dirty="0" smtClean="0"/>
          </a:p>
        </p:txBody>
      </p:sp>
      <p:sp>
        <p:nvSpPr>
          <p:cNvPr id="61" name="Text Box 34"/>
          <p:cNvSpPr txBox="1">
            <a:spLocks noChangeArrowheads="1"/>
          </p:cNvSpPr>
          <p:nvPr/>
        </p:nvSpPr>
        <p:spPr bwMode="auto">
          <a:xfrm>
            <a:off x="9338725" y="3680867"/>
            <a:ext cx="3607903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1400" dirty="0" smtClean="0">
                <a:latin typeface="+mj-lt"/>
              </a:rPr>
              <a:t>Sales Funnel </a:t>
            </a:r>
          </a:p>
          <a:p>
            <a:pPr algn="ctr" eaLnBrk="0" hangingPunct="0"/>
            <a:r>
              <a:rPr lang="en-US" sz="1400" dirty="0" smtClean="0">
                <a:latin typeface="+mj-lt"/>
              </a:rPr>
              <a:t>&amp; </a:t>
            </a:r>
          </a:p>
          <a:p>
            <a:pPr algn="ctr" eaLnBrk="0" hangingPunct="0"/>
            <a:r>
              <a:rPr lang="en-US" sz="1400" dirty="0" smtClean="0">
                <a:latin typeface="+mj-lt"/>
              </a:rPr>
              <a:t>Simulation   </a:t>
            </a:r>
            <a:endParaRPr lang="en-US" sz="1400" dirty="0">
              <a:latin typeface="+mj-lt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10128779" y="5267791"/>
            <a:ext cx="18774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smtClean="0">
                <a:latin typeface="+mj-lt"/>
              </a:rPr>
              <a:t>Conversion Analysis</a:t>
            </a:r>
            <a:endParaRPr lang="en-IN" sz="1400" dirty="0">
              <a:latin typeface="+mj-lt"/>
            </a:endParaRPr>
          </a:p>
        </p:txBody>
      </p:sp>
      <p:sp>
        <p:nvSpPr>
          <p:cNvPr id="63" name="AutoShape 28"/>
          <p:cNvSpPr>
            <a:spLocks noChangeArrowheads="1"/>
          </p:cNvSpPr>
          <p:nvPr/>
        </p:nvSpPr>
        <p:spPr bwMode="auto">
          <a:xfrm>
            <a:off x="10704444" y="4491982"/>
            <a:ext cx="839373" cy="740749"/>
          </a:xfrm>
          <a:prstGeom prst="downArrow">
            <a:avLst>
              <a:gd name="adj1" fmla="val 48074"/>
              <a:gd name="adj2" fmla="val 41667"/>
            </a:avLst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713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>
              <a:lnSpc>
                <a:spcPts val="4000"/>
              </a:lnSpc>
              <a:buClr>
                <a:srgbClr val="002D72"/>
              </a:buClr>
            </a:pPr>
            <a:r>
              <a:rPr lang="en-IN" dirty="0">
                <a:solidFill>
                  <a:schemeClr val="bg1"/>
                </a:solidFill>
                <a:cs typeface="Arial" pitchFamily="34" charset="0"/>
              </a:rPr>
              <a:t>Analytics Proposed Solution:</a:t>
            </a:r>
            <a:br>
              <a:rPr lang="en-IN" dirty="0">
                <a:solidFill>
                  <a:schemeClr val="bg1"/>
                </a:solidFill>
                <a:cs typeface="Arial" pitchFamily="34" charset="0"/>
              </a:rPr>
            </a:br>
            <a:r>
              <a:rPr lang="en-IN" dirty="0">
                <a:solidFill>
                  <a:schemeClr val="bg1"/>
                </a:solidFill>
                <a:cs typeface="Arial" pitchFamily="34" charset="0"/>
              </a:rPr>
              <a:t>   </a:t>
            </a:r>
            <a:r>
              <a:rPr lang="en-IN" dirty="0" smtClean="0">
                <a:solidFill>
                  <a:schemeClr val="bg1"/>
                </a:solidFill>
                <a:cs typeface="Arial" pitchFamily="34" charset="0"/>
              </a:rPr>
              <a:t>Proposed </a:t>
            </a:r>
            <a:r>
              <a:rPr lang="en-IN" dirty="0">
                <a:solidFill>
                  <a:schemeClr val="bg1"/>
                </a:solidFill>
                <a:cs typeface="Arial" pitchFamily="34" charset="0"/>
              </a:rPr>
              <a:t>Roadmap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54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269676817"/>
              </p:ext>
            </p:extLst>
          </p:nvPr>
        </p:nvGraphicFramePr>
        <p:xfrm>
          <a:off x="636105" y="2105258"/>
          <a:ext cx="9840042" cy="42000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Customer Analytics Roadmap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Analytics Opportunities at various stages of customer lifecycle </a:t>
            </a:r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68965" y="1562524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AutoShape 11"/>
          <p:cNvSpPr>
            <a:spLocks noChangeArrowheads="1"/>
          </p:cNvSpPr>
          <p:nvPr/>
        </p:nvSpPr>
        <p:spPr bwMode="auto">
          <a:xfrm>
            <a:off x="645045" y="3555575"/>
            <a:ext cx="1697578" cy="523706"/>
          </a:xfrm>
          <a:prstGeom prst="homePlate">
            <a:avLst/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>
              <a:defRPr/>
            </a:pPr>
            <a:r>
              <a:rPr lang="en-IN" b="1" dirty="0" smtClean="0">
                <a:solidFill>
                  <a:schemeClr val="bg1"/>
                </a:solidFill>
              </a:rPr>
              <a:t>Acquisition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0" name="AutoShape 11"/>
          <p:cNvSpPr>
            <a:spLocks noChangeArrowheads="1"/>
          </p:cNvSpPr>
          <p:nvPr/>
        </p:nvSpPr>
        <p:spPr bwMode="auto">
          <a:xfrm>
            <a:off x="3239401" y="2963800"/>
            <a:ext cx="1697578" cy="523706"/>
          </a:xfrm>
          <a:prstGeom prst="homePlate">
            <a:avLst/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>
              <a:defRPr/>
            </a:pPr>
            <a:r>
              <a:rPr lang="en-IN" b="1" dirty="0" smtClean="0">
                <a:solidFill>
                  <a:schemeClr val="bg1"/>
                </a:solidFill>
              </a:rPr>
              <a:t>Cross - Sell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1" name="AutoShape 11"/>
          <p:cNvSpPr>
            <a:spLocks noChangeArrowheads="1"/>
          </p:cNvSpPr>
          <p:nvPr/>
        </p:nvSpPr>
        <p:spPr bwMode="auto">
          <a:xfrm>
            <a:off x="5787882" y="2397802"/>
            <a:ext cx="1748534" cy="523706"/>
          </a:xfrm>
          <a:prstGeom prst="homePlate">
            <a:avLst/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>
              <a:defRPr/>
            </a:pPr>
            <a:r>
              <a:rPr lang="en-IN" b="1" dirty="0" smtClean="0">
                <a:solidFill>
                  <a:schemeClr val="bg1"/>
                </a:solidFill>
              </a:rPr>
              <a:t>Grow &amp; Usage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2" name="AutoShape 11"/>
          <p:cNvSpPr>
            <a:spLocks noChangeArrowheads="1"/>
          </p:cNvSpPr>
          <p:nvPr/>
        </p:nvSpPr>
        <p:spPr bwMode="auto">
          <a:xfrm>
            <a:off x="8311153" y="1792388"/>
            <a:ext cx="1697578" cy="523706"/>
          </a:xfrm>
          <a:prstGeom prst="homePlate">
            <a:avLst/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>
              <a:defRPr/>
            </a:pPr>
            <a:r>
              <a:rPr lang="en-IN" b="1" dirty="0" smtClean="0">
                <a:solidFill>
                  <a:schemeClr val="bg1"/>
                </a:solidFill>
              </a:rPr>
              <a:t>Retention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10904343" y="1600659"/>
            <a:ext cx="1080000" cy="1080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/>
          </a:p>
        </p:txBody>
      </p:sp>
      <p:sp>
        <p:nvSpPr>
          <p:cNvPr id="68" name="Rounded Rectangle 67"/>
          <p:cNvSpPr/>
          <p:nvPr/>
        </p:nvSpPr>
        <p:spPr>
          <a:xfrm>
            <a:off x="10415668" y="2772876"/>
            <a:ext cx="1672338" cy="41969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/>
              <a:t>Test and Learn</a:t>
            </a:r>
            <a:endParaRPr lang="en-IN" sz="1400" b="1" dirty="0"/>
          </a:p>
        </p:txBody>
      </p:sp>
      <p:sp>
        <p:nvSpPr>
          <p:cNvPr id="71" name="Rounded Rectangle 70"/>
          <p:cNvSpPr/>
          <p:nvPr/>
        </p:nvSpPr>
        <p:spPr>
          <a:xfrm>
            <a:off x="10415667" y="3311164"/>
            <a:ext cx="1672338" cy="41969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>
                <a:solidFill>
                  <a:schemeClr val="bg1"/>
                </a:solidFill>
              </a:rPr>
              <a:t>PL  &amp; Profitability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72" name="TextBox 71"/>
          <p:cNvSpPr txBox="1"/>
          <p:nvPr/>
        </p:nvSpPr>
        <p:spPr bwMode="gray">
          <a:xfrm rot="10800000" flipV="1">
            <a:off x="9991919" y="2084388"/>
            <a:ext cx="2096086" cy="5627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IN" sz="1200" b="1" dirty="0" smtClean="0"/>
              <a:t>                      </a:t>
            </a:r>
            <a:r>
              <a:rPr lang="en-IN" sz="1200" b="1" dirty="0" smtClean="0">
                <a:solidFill>
                  <a:schemeClr val="bg1"/>
                </a:solidFill>
              </a:rPr>
              <a:t>Campaign </a:t>
            </a:r>
          </a:p>
          <a:p>
            <a:r>
              <a:rPr lang="en-IN" sz="1200" b="1" dirty="0" smtClean="0">
                <a:solidFill>
                  <a:schemeClr val="bg1"/>
                </a:solidFill>
              </a:rPr>
              <a:t>                    Management</a:t>
            </a:r>
          </a:p>
        </p:txBody>
      </p:sp>
      <p:sp>
        <p:nvSpPr>
          <p:cNvPr id="10" name="Up Arrow 9"/>
          <p:cNvSpPr/>
          <p:nvPr/>
        </p:nvSpPr>
        <p:spPr>
          <a:xfrm rot="5400000">
            <a:off x="10285593" y="1688471"/>
            <a:ext cx="396029" cy="716100"/>
          </a:xfrm>
          <a:prstGeom prst="upArrow">
            <a:avLst/>
          </a:prstGeom>
          <a:solidFill>
            <a:srgbClr val="75CEEC"/>
          </a:solidFill>
          <a:ln>
            <a:solidFill>
              <a:srgbClr val="75CE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30" name="Picture 6" descr="http://accelerecrm.com/wp-content/uploads/2014/06/marketing-and-customer-analytics.pn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9495692" y="4365535"/>
            <a:ext cx="2658999" cy="2495728"/>
          </a:xfrm>
          <a:prstGeom prst="rect">
            <a:avLst/>
          </a:prstGeom>
          <a:noFill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39607" y="1635817"/>
            <a:ext cx="261937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26911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Diagram 45"/>
          <p:cNvGraphicFramePr/>
          <p:nvPr>
            <p:extLst>
              <p:ext uri="{D42A27DB-BD31-4B8C-83A1-F6EECF244321}">
                <p14:modId xmlns:p14="http://schemas.microsoft.com/office/powerpoint/2010/main" val="1637639254"/>
              </p:ext>
            </p:extLst>
          </p:nvPr>
        </p:nvGraphicFramePr>
        <p:xfrm>
          <a:off x="332509" y="1825957"/>
          <a:ext cx="10355003" cy="461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3" name="AutoShape 11"/>
          <p:cNvSpPr>
            <a:spLocks noChangeArrowheads="1"/>
          </p:cNvSpPr>
          <p:nvPr/>
        </p:nvSpPr>
        <p:spPr bwMode="auto">
          <a:xfrm>
            <a:off x="4252762" y="2374069"/>
            <a:ext cx="1985005" cy="647677"/>
          </a:xfrm>
          <a:prstGeom prst="homePlate">
            <a:avLst/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Sales </a:t>
            </a:r>
            <a:r>
              <a:rPr lang="en-US" b="1" dirty="0" smtClean="0">
                <a:solidFill>
                  <a:schemeClr val="bg1"/>
                </a:solidFill>
              </a:rPr>
              <a:t>Growth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Sales &amp; Distribution Management Roadmap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Opportunities to improve efficiency through Sales &amp; Distribution management and forecasting</a:t>
            </a:r>
            <a:endParaRPr lang="en-IN" dirty="0"/>
          </a:p>
        </p:txBody>
      </p:sp>
      <p:sp>
        <p:nvSpPr>
          <p:cNvPr id="69" name="Oval 68"/>
          <p:cNvSpPr/>
          <p:nvPr/>
        </p:nvSpPr>
        <p:spPr>
          <a:xfrm>
            <a:off x="10780994" y="1620928"/>
            <a:ext cx="1138510" cy="1123296"/>
          </a:xfrm>
          <a:prstGeom prst="ellipse">
            <a:avLst/>
          </a:prstGeom>
          <a:solidFill>
            <a:schemeClr val="tx2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/>
          </a:p>
        </p:txBody>
      </p:sp>
      <p:sp>
        <p:nvSpPr>
          <p:cNvPr id="83" name="TextBox 82"/>
          <p:cNvSpPr txBox="1"/>
          <p:nvPr/>
        </p:nvSpPr>
        <p:spPr bwMode="gray">
          <a:xfrm rot="10800000" flipV="1">
            <a:off x="10719816" y="1825957"/>
            <a:ext cx="1245723" cy="4501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200" b="1" dirty="0" smtClean="0"/>
              <a:t>                      </a:t>
            </a:r>
            <a:r>
              <a:rPr lang="en-IN" sz="1200" b="1" dirty="0" smtClean="0">
                <a:solidFill>
                  <a:schemeClr val="bg1"/>
                </a:solidFill>
              </a:rPr>
              <a:t>Sales &amp; Distribution                Framework</a:t>
            </a:r>
          </a:p>
        </p:txBody>
      </p:sp>
      <p:pic>
        <p:nvPicPr>
          <p:cNvPr id="45" name="Picture 44" descr="sales_target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924" y="1739075"/>
            <a:ext cx="2129179" cy="943404"/>
          </a:xfrm>
          <a:prstGeom prst="rect">
            <a:avLst/>
          </a:prstGeom>
        </p:spPr>
      </p:pic>
      <p:pic>
        <p:nvPicPr>
          <p:cNvPr id="47" name="Picture 46" descr="improv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5720" y="5181591"/>
            <a:ext cx="2211761" cy="1665721"/>
          </a:xfrm>
          <a:prstGeom prst="rect">
            <a:avLst/>
          </a:prstGeom>
        </p:spPr>
      </p:pic>
      <p:sp>
        <p:nvSpPr>
          <p:cNvPr id="51" name="AutoShape 11"/>
          <p:cNvSpPr>
            <a:spLocks noChangeArrowheads="1"/>
          </p:cNvSpPr>
          <p:nvPr/>
        </p:nvSpPr>
        <p:spPr bwMode="auto">
          <a:xfrm>
            <a:off x="691705" y="3021746"/>
            <a:ext cx="1863833" cy="647677"/>
          </a:xfrm>
          <a:prstGeom prst="homePlate">
            <a:avLst/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>
              <a:defRPr/>
            </a:pPr>
            <a:r>
              <a:rPr lang="en-IN" b="1" dirty="0">
                <a:solidFill>
                  <a:schemeClr val="bg1"/>
                </a:solidFill>
              </a:rPr>
              <a:t>Sales </a:t>
            </a:r>
            <a:r>
              <a:rPr lang="en-IN" b="1" dirty="0" smtClean="0">
                <a:solidFill>
                  <a:schemeClr val="bg1"/>
                </a:solidFill>
              </a:rPr>
              <a:t>Force</a:t>
            </a:r>
          </a:p>
          <a:p>
            <a:pPr>
              <a:defRPr/>
            </a:pPr>
            <a:r>
              <a:rPr lang="en-IN" b="1" dirty="0" smtClean="0">
                <a:solidFill>
                  <a:schemeClr val="bg1"/>
                </a:solidFill>
              </a:rPr>
              <a:t>Management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4" name="AutoShape 11"/>
          <p:cNvSpPr>
            <a:spLocks noChangeArrowheads="1"/>
          </p:cNvSpPr>
          <p:nvPr/>
        </p:nvSpPr>
        <p:spPr bwMode="auto">
          <a:xfrm>
            <a:off x="7724751" y="1799448"/>
            <a:ext cx="2434232" cy="647677"/>
          </a:xfrm>
          <a:prstGeom prst="homePlate">
            <a:avLst/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>
              <a:defRPr/>
            </a:pPr>
            <a:r>
              <a:rPr lang="en-US" b="1" dirty="0" smtClean="0">
                <a:solidFill>
                  <a:schemeClr val="bg1"/>
                </a:solidFill>
              </a:rPr>
              <a:t>Sales Forecasting</a:t>
            </a:r>
          </a:p>
        </p:txBody>
      </p:sp>
      <p:sp>
        <p:nvSpPr>
          <p:cNvPr id="57" name="Up Arrow 56"/>
          <p:cNvSpPr/>
          <p:nvPr/>
        </p:nvSpPr>
        <p:spPr>
          <a:xfrm rot="5400000">
            <a:off x="10310598" y="1997155"/>
            <a:ext cx="396029" cy="357799"/>
          </a:xfrm>
          <a:prstGeom prst="upArrow">
            <a:avLst/>
          </a:prstGeom>
          <a:solidFill>
            <a:srgbClr val="75CEEC"/>
          </a:solidFill>
          <a:ln>
            <a:solidFill>
              <a:srgbClr val="75CE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8" name="Straight Connector 57"/>
          <p:cNvCxnSpPr/>
          <p:nvPr/>
        </p:nvCxnSpPr>
        <p:spPr>
          <a:xfrm>
            <a:off x="468965" y="1576379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890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Diagram 45"/>
          <p:cNvGraphicFramePr/>
          <p:nvPr>
            <p:extLst>
              <p:ext uri="{D42A27DB-BD31-4B8C-83A1-F6EECF244321}">
                <p14:modId xmlns:p14="http://schemas.microsoft.com/office/powerpoint/2010/main" val="432007674"/>
              </p:ext>
            </p:extLst>
          </p:nvPr>
        </p:nvGraphicFramePr>
        <p:xfrm>
          <a:off x="332509" y="1449208"/>
          <a:ext cx="10020031" cy="4990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3" name="AutoShape 11"/>
          <p:cNvSpPr>
            <a:spLocks noChangeArrowheads="1"/>
          </p:cNvSpPr>
          <p:nvPr/>
        </p:nvSpPr>
        <p:spPr bwMode="auto">
          <a:xfrm>
            <a:off x="3254141" y="2744224"/>
            <a:ext cx="1985005" cy="647677"/>
          </a:xfrm>
          <a:prstGeom prst="homePlate">
            <a:avLst/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</a:rPr>
              <a:t>Vendor 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</a:rPr>
              <a:t>Management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Claim Management Roadmap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Opportunities to improve  efficiency through sales management and  forecasting</a:t>
            </a:r>
            <a:endParaRPr lang="en-IN" dirty="0"/>
          </a:p>
        </p:txBody>
      </p:sp>
      <p:sp>
        <p:nvSpPr>
          <p:cNvPr id="69" name="Oval 68"/>
          <p:cNvSpPr/>
          <p:nvPr/>
        </p:nvSpPr>
        <p:spPr>
          <a:xfrm>
            <a:off x="10780994" y="1620928"/>
            <a:ext cx="1155934" cy="1123296"/>
          </a:xfrm>
          <a:prstGeom prst="ellipse">
            <a:avLst/>
          </a:prstGeom>
          <a:solidFill>
            <a:schemeClr val="tx2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/>
          </a:p>
        </p:txBody>
      </p:sp>
      <p:sp>
        <p:nvSpPr>
          <p:cNvPr id="83" name="TextBox 82"/>
          <p:cNvSpPr txBox="1"/>
          <p:nvPr/>
        </p:nvSpPr>
        <p:spPr bwMode="gray">
          <a:xfrm rot="10800000" flipV="1">
            <a:off x="10743026" y="1845516"/>
            <a:ext cx="1231869" cy="4501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200" b="1" dirty="0" smtClean="0"/>
              <a:t>                      </a:t>
            </a:r>
            <a:r>
              <a:rPr lang="en-IN" sz="1200" b="1" dirty="0" smtClean="0">
                <a:solidFill>
                  <a:schemeClr val="bg1"/>
                </a:solidFill>
              </a:rPr>
              <a:t>Optimal Claim Management</a:t>
            </a:r>
          </a:p>
        </p:txBody>
      </p:sp>
      <p:sp>
        <p:nvSpPr>
          <p:cNvPr id="51" name="AutoShape 11"/>
          <p:cNvSpPr>
            <a:spLocks noChangeArrowheads="1"/>
          </p:cNvSpPr>
          <p:nvPr/>
        </p:nvSpPr>
        <p:spPr bwMode="auto">
          <a:xfrm>
            <a:off x="600596" y="3171809"/>
            <a:ext cx="1863833" cy="647677"/>
          </a:xfrm>
          <a:prstGeom prst="homePlate">
            <a:avLst/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 algn="ctr">
              <a:defRPr/>
            </a:pPr>
            <a:r>
              <a:rPr lang="en-IN" b="1" dirty="0" smtClean="0">
                <a:solidFill>
                  <a:schemeClr val="bg1"/>
                </a:solidFill>
              </a:rPr>
              <a:t>Claim </a:t>
            </a:r>
          </a:p>
          <a:p>
            <a:pPr algn="ctr">
              <a:defRPr/>
            </a:pPr>
            <a:r>
              <a:rPr lang="en-IN" b="1" dirty="0" smtClean="0">
                <a:solidFill>
                  <a:schemeClr val="bg1"/>
                </a:solidFill>
              </a:rPr>
              <a:t>Handling</a:t>
            </a:r>
          </a:p>
        </p:txBody>
      </p:sp>
      <p:sp>
        <p:nvSpPr>
          <p:cNvPr id="54" name="AutoShape 11"/>
          <p:cNvSpPr>
            <a:spLocks noChangeArrowheads="1"/>
          </p:cNvSpPr>
          <p:nvPr/>
        </p:nvSpPr>
        <p:spPr bwMode="auto">
          <a:xfrm>
            <a:off x="5936094" y="2310303"/>
            <a:ext cx="1907389" cy="647677"/>
          </a:xfrm>
          <a:prstGeom prst="homePlate">
            <a:avLst/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</a:rPr>
              <a:t>Fraud</a:t>
            </a:r>
          </a:p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</a:rPr>
              <a:t>Management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5" name="AutoShape 11"/>
          <p:cNvSpPr>
            <a:spLocks noChangeArrowheads="1"/>
          </p:cNvSpPr>
          <p:nvPr/>
        </p:nvSpPr>
        <p:spPr bwMode="auto">
          <a:xfrm>
            <a:off x="8382481" y="1869384"/>
            <a:ext cx="1861448" cy="647677"/>
          </a:xfrm>
          <a:prstGeom prst="homePlate">
            <a:avLst/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/>
            <a:tailEnd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 algn="ctr">
              <a:defRPr/>
            </a:pPr>
            <a:r>
              <a:rPr lang="en-IN" b="1" dirty="0" smtClean="0">
                <a:solidFill>
                  <a:schemeClr val="bg1"/>
                </a:solidFill>
              </a:rPr>
              <a:t>Operational</a:t>
            </a:r>
          </a:p>
          <a:p>
            <a:pPr algn="ctr">
              <a:defRPr/>
            </a:pPr>
            <a:r>
              <a:rPr lang="en-IN" b="1" dirty="0" smtClean="0">
                <a:solidFill>
                  <a:schemeClr val="bg1"/>
                </a:solidFill>
              </a:rPr>
              <a:t>Efficiency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7" name="Up Arrow 56"/>
          <p:cNvSpPr/>
          <p:nvPr/>
        </p:nvSpPr>
        <p:spPr>
          <a:xfrm rot="5400000">
            <a:off x="10310598" y="1997155"/>
            <a:ext cx="396029" cy="357799"/>
          </a:xfrm>
          <a:prstGeom prst="upArrow">
            <a:avLst/>
          </a:prstGeom>
          <a:solidFill>
            <a:srgbClr val="75CEEC"/>
          </a:solidFill>
          <a:ln>
            <a:solidFill>
              <a:srgbClr val="75CE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8" name="Straight Connector 57"/>
          <p:cNvCxnSpPr/>
          <p:nvPr/>
        </p:nvCxnSpPr>
        <p:spPr>
          <a:xfrm>
            <a:off x="468965" y="1576379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0137907" y="4499423"/>
            <a:ext cx="2025058" cy="2330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17650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Digital Analytics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8357" y="1166286"/>
            <a:ext cx="11113180" cy="582362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00BDF2"/>
                </a:solidFill>
              </a:rPr>
              <a:t>Aligning the analytics to achieve the digital vision by harnessing the power of Social Media and Big data across the Financial Services industry</a:t>
            </a:r>
            <a:endParaRPr lang="en-IN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525436" y="1760317"/>
            <a:ext cx="11116101" cy="0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 bwMode="auto">
          <a:xfrm>
            <a:off x="7847975" y="1889352"/>
            <a:ext cx="2209800" cy="914400"/>
          </a:xfrm>
          <a:prstGeom prst="roundRect">
            <a:avLst/>
          </a:prstGeom>
          <a:noFill/>
          <a:ln w="12700" cap="flat" cmpd="sng" algn="ctr">
            <a:solidFill>
              <a:schemeClr val="bg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5" name="Rounded Rectangle 34"/>
          <p:cNvSpPr/>
          <p:nvPr/>
        </p:nvSpPr>
        <p:spPr bwMode="auto">
          <a:xfrm>
            <a:off x="5561975" y="2041752"/>
            <a:ext cx="2133600" cy="762000"/>
          </a:xfrm>
          <a:prstGeom prst="roundRect">
            <a:avLst/>
          </a:prstGeom>
          <a:noFill/>
          <a:ln w="12700" cap="flat" cmpd="sng" algn="ctr">
            <a:solidFill>
              <a:schemeClr val="bg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6" name="Rounded Rectangle 35"/>
          <p:cNvSpPr/>
          <p:nvPr/>
        </p:nvSpPr>
        <p:spPr bwMode="auto">
          <a:xfrm>
            <a:off x="3305003" y="2117952"/>
            <a:ext cx="2104572" cy="685800"/>
          </a:xfrm>
          <a:prstGeom prst="roundRect">
            <a:avLst/>
          </a:prstGeom>
          <a:noFill/>
          <a:ln w="12700" cap="flat" cmpd="sng" algn="ctr">
            <a:solidFill>
              <a:schemeClr val="bg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37" name="Straight Connector 36"/>
          <p:cNvCxnSpPr/>
          <p:nvPr/>
        </p:nvCxnSpPr>
        <p:spPr bwMode="auto">
          <a:xfrm rot="16200000" flipH="1">
            <a:off x="2839770" y="2338517"/>
            <a:ext cx="925256" cy="521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38" name="Straight Connector 37"/>
          <p:cNvCxnSpPr/>
          <p:nvPr/>
        </p:nvCxnSpPr>
        <p:spPr bwMode="auto">
          <a:xfrm>
            <a:off x="3305003" y="2803752"/>
            <a:ext cx="6629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39" name="Rounded Rectangle 38"/>
          <p:cNvSpPr/>
          <p:nvPr/>
        </p:nvSpPr>
        <p:spPr bwMode="auto">
          <a:xfrm>
            <a:off x="393406" y="3339237"/>
            <a:ext cx="2636874" cy="610463"/>
          </a:xfrm>
          <a:prstGeom prst="roundRect">
            <a:avLst/>
          </a:prstGeom>
          <a:solidFill>
            <a:srgbClr val="00B0F0">
              <a:alpha val="66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45720" rIns="45720" anchor="t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 smtClean="0">
                <a:solidFill>
                  <a:srgbClr val="FFFFFF"/>
                </a:solidFill>
                <a:latin typeface="+mj-lt"/>
                <a:cs typeface="Arial" charset="0"/>
              </a:rPr>
              <a:t>Awareness</a:t>
            </a:r>
            <a:r>
              <a:rPr lang="en-US" sz="1400" dirty="0" smtClean="0">
                <a:solidFill>
                  <a:srgbClr val="FFFFFF"/>
                </a:solidFill>
                <a:latin typeface="+mj-lt"/>
                <a:cs typeface="Arial" charset="0"/>
              </a:rPr>
              <a:t>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 smtClean="0">
                <a:solidFill>
                  <a:srgbClr val="FFFFFF"/>
                </a:solidFill>
                <a:latin typeface="+mj-lt"/>
                <a:cs typeface="Arial" charset="0"/>
              </a:rPr>
              <a:t>Consistent offer &amp; message</a:t>
            </a:r>
          </a:p>
          <a:p>
            <a:pPr marR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400" dirty="0" smtClean="0">
              <a:solidFill>
                <a:srgbClr val="FFFFFF"/>
              </a:solidFill>
              <a:latin typeface="+mj-lt"/>
              <a:cs typeface="Arial" charset="0"/>
            </a:endParaRPr>
          </a:p>
        </p:txBody>
      </p:sp>
      <p:grpSp>
        <p:nvGrpSpPr>
          <p:cNvPr id="3" name="Group 21"/>
          <p:cNvGrpSpPr/>
          <p:nvPr/>
        </p:nvGrpSpPr>
        <p:grpSpPr>
          <a:xfrm>
            <a:off x="457207" y="1800766"/>
            <a:ext cx="2336765" cy="1371600"/>
            <a:chOff x="381000" y="914400"/>
            <a:chExt cx="2057400" cy="914400"/>
          </a:xfrm>
        </p:grpSpPr>
        <p:sp>
          <p:nvSpPr>
            <p:cNvPr id="41" name="Right Triangle 40"/>
            <p:cNvSpPr/>
            <p:nvPr/>
          </p:nvSpPr>
          <p:spPr bwMode="auto">
            <a:xfrm flipH="1" flipV="1">
              <a:off x="548638" y="960437"/>
              <a:ext cx="1813561" cy="868362"/>
            </a:xfrm>
            <a:prstGeom prst="rtTriangle">
              <a:avLst/>
            </a:prstGeom>
            <a:solidFill>
              <a:srgbClr val="002060">
                <a:alpha val="66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45720" rIns="4572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400" dirty="0" smtClean="0">
                <a:latin typeface="Arial" pitchFamily="34" charset="0"/>
              </a:endParaRPr>
            </a:p>
          </p:txBody>
        </p:sp>
        <p:sp>
          <p:nvSpPr>
            <p:cNvPr id="42" name="Right Triangle 41"/>
            <p:cNvSpPr/>
            <p:nvPr/>
          </p:nvSpPr>
          <p:spPr bwMode="auto">
            <a:xfrm>
              <a:off x="411163" y="960438"/>
              <a:ext cx="1813561" cy="868362"/>
            </a:xfrm>
            <a:prstGeom prst="rtTriangle">
              <a:avLst/>
            </a:prstGeom>
            <a:solidFill>
              <a:srgbClr val="002060">
                <a:alpha val="66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lIns="45720" rIns="45720" anchor="ctr"/>
            <a:lstStyle/>
            <a:p>
              <a:pPr marL="114300" indent="-114300" algn="ctr">
                <a:lnSpc>
                  <a:spcPts val="1500"/>
                </a:lnSpc>
                <a:buFont typeface="Arial" pitchFamily="34" charset="0"/>
                <a:buChar char="•"/>
                <a:defRPr/>
              </a:pPr>
              <a:endParaRPr lang="en-US" sz="1400" b="1" dirty="0" smtClean="0">
                <a:solidFill>
                  <a:srgbClr val="FFFFFF"/>
                </a:solidFill>
              </a:endParaRPr>
            </a:p>
          </p:txBody>
        </p:sp>
        <p:sp>
          <p:nvSpPr>
            <p:cNvPr id="43" name="Rectangle 42"/>
            <p:cNvSpPr/>
            <p:nvPr/>
          </p:nvSpPr>
          <p:spPr bwMode="auto">
            <a:xfrm>
              <a:off x="1447800" y="914400"/>
              <a:ext cx="990600" cy="60960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45720" tIns="45720" rIns="4572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1" i="0" u="none" strike="noStrike" cap="none" normalizeH="0" baseline="0" dirty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Arial" pitchFamily="34" charset="0"/>
                </a:rPr>
                <a:t>Analytical</a:t>
              </a:r>
              <a:r>
                <a:rPr kumimoji="0" lang="en-US" sz="1400" b="1" i="0" u="none" strike="noStrike" cap="none" normalizeH="0" dirty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Arial" pitchFamily="34" charset="0"/>
                </a:rPr>
                <a:t> 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1" i="0" u="none" strike="noStrike" cap="none" normalizeH="0" dirty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Arial" pitchFamily="34" charset="0"/>
                </a:rPr>
                <a:t>Evolution</a:t>
              </a:r>
              <a:endPara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44" name="Rectangle 43"/>
            <p:cNvSpPr/>
            <p:nvPr/>
          </p:nvSpPr>
          <p:spPr bwMode="auto">
            <a:xfrm>
              <a:off x="381000" y="1219200"/>
              <a:ext cx="990600" cy="60960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45720" tIns="45720" rIns="4572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1" i="0" u="none" strike="noStrike" cap="none" normalizeH="0" baseline="0" dirty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Arial" pitchFamily="34" charset="0"/>
                </a:rPr>
                <a:t>Customer </a:t>
              </a:r>
              <a:r>
                <a:rPr kumimoji="0" lang="en-US" sz="1400" b="1" i="0" u="none" strike="noStrike" cap="none" normalizeH="0" dirty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Arial" pitchFamily="34" charset="0"/>
                </a:rPr>
                <a:t> 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1" i="0" u="none" strike="noStrike" cap="none" normalizeH="0" dirty="0" smtClean="0">
                  <a:ln>
                    <a:noFill/>
                  </a:ln>
                  <a:solidFill>
                    <a:schemeClr val="bg2"/>
                  </a:solidFill>
                  <a:effectLst/>
                  <a:latin typeface="Arial" pitchFamily="34" charset="0"/>
                </a:rPr>
                <a:t>Life stage</a:t>
              </a:r>
              <a:endPara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Arial" pitchFamily="34" charset="0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3381202" y="2171110"/>
            <a:ext cx="2844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MIS/ Dashboard</a:t>
            </a:r>
            <a:endParaRPr 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3340352" y="2854553"/>
            <a:ext cx="2890909" cy="381000"/>
          </a:xfrm>
          <a:prstGeom prst="rect">
            <a:avLst/>
          </a:prstGeom>
          <a:solidFill>
            <a:schemeClr val="tx2">
              <a:lumMod val="50000"/>
              <a:alpha val="66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45720" rIns="4572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 smtClean="0">
                <a:solidFill>
                  <a:srgbClr val="FFFFFF"/>
                </a:solidFill>
                <a:latin typeface="+mj-lt"/>
                <a:cs typeface="Arial" charset="0"/>
              </a:rPr>
              <a:t>Business Intelligence</a:t>
            </a:r>
          </a:p>
        </p:txBody>
      </p:sp>
      <p:sp>
        <p:nvSpPr>
          <p:cNvPr id="47" name="TextBox 46"/>
          <p:cNvSpPr txBox="1"/>
          <p:nvPr/>
        </p:nvSpPr>
        <p:spPr>
          <a:xfrm rot="16200000">
            <a:off x="2621106" y="2189464"/>
            <a:ext cx="990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Value</a:t>
            </a:r>
            <a:endParaRPr lang="en-US" sz="1200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4418975" y="1736952"/>
            <a:ext cx="4800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Analytical Complexity </a:t>
            </a:r>
            <a:endParaRPr lang="en-US" sz="1200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6498229" y="2875818"/>
            <a:ext cx="2710155" cy="381000"/>
          </a:xfrm>
          <a:prstGeom prst="rect">
            <a:avLst/>
          </a:prstGeom>
          <a:solidFill>
            <a:schemeClr val="tx2">
              <a:lumMod val="50000"/>
              <a:alpha val="66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45720" rIns="4572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 smtClean="0">
                <a:solidFill>
                  <a:srgbClr val="FFFFFF"/>
                </a:solidFill>
                <a:latin typeface="+mj-lt"/>
                <a:cs typeface="Arial" charset="0"/>
              </a:rPr>
              <a:t>Explanatory Analytics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7245" y="2865185"/>
            <a:ext cx="2209800" cy="381000"/>
          </a:xfrm>
          <a:prstGeom prst="rect">
            <a:avLst/>
          </a:prstGeom>
          <a:solidFill>
            <a:schemeClr val="tx2">
              <a:lumMod val="50000"/>
              <a:alpha val="66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45720" rIns="4572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 smtClean="0">
                <a:solidFill>
                  <a:srgbClr val="FFFFFF"/>
                </a:solidFill>
                <a:latin typeface="+mj-lt"/>
                <a:cs typeface="Arial" charset="0"/>
              </a:rPr>
              <a:t>Predictive Analytics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9403" y="1967910"/>
            <a:ext cx="229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Business Analysis</a:t>
            </a:r>
            <a:endParaRPr lang="en-US" sz="1200" dirty="0"/>
          </a:p>
        </p:txBody>
      </p:sp>
      <p:sp>
        <p:nvSpPr>
          <p:cNvPr id="52" name=" 3"/>
          <p:cNvSpPr/>
          <p:nvPr/>
        </p:nvSpPr>
        <p:spPr>
          <a:xfrm>
            <a:off x="3275975" y="1965552"/>
            <a:ext cx="6658428" cy="838200"/>
          </a:xfrm>
          <a:prstGeom prst="swooshArrow">
            <a:avLst>
              <a:gd name="adj1" fmla="val 13958"/>
              <a:gd name="adj2" fmla="val 21089"/>
            </a:avLst>
          </a:prstGeom>
          <a:solidFill>
            <a:schemeClr val="bg2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3" name="TextBox 52"/>
          <p:cNvSpPr txBox="1"/>
          <p:nvPr/>
        </p:nvSpPr>
        <p:spPr>
          <a:xfrm>
            <a:off x="7781605" y="1889935"/>
            <a:ext cx="1564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Statistical Models</a:t>
            </a:r>
            <a:endParaRPr lang="en-US" sz="1200" dirty="0"/>
          </a:p>
        </p:txBody>
      </p:sp>
      <p:sp>
        <p:nvSpPr>
          <p:cNvPr id="54" name="TextBox 53"/>
          <p:cNvSpPr txBox="1"/>
          <p:nvPr/>
        </p:nvSpPr>
        <p:spPr>
          <a:xfrm>
            <a:off x="9426318" y="1726905"/>
            <a:ext cx="2079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Optimization</a:t>
            </a:r>
            <a:endParaRPr lang="en-US" sz="1200" dirty="0"/>
          </a:p>
        </p:txBody>
      </p:sp>
      <p:sp>
        <p:nvSpPr>
          <p:cNvPr id="59" name="Rectangle 13"/>
          <p:cNvSpPr>
            <a:spLocks noChangeArrowheads="1"/>
          </p:cNvSpPr>
          <p:nvPr/>
        </p:nvSpPr>
        <p:spPr bwMode="auto">
          <a:xfrm>
            <a:off x="3319391" y="3418117"/>
            <a:ext cx="2890909" cy="52776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400" dirty="0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Generating “Word Clouds” - Positive &amp; negative sentiments</a:t>
            </a:r>
            <a:endParaRPr lang="en-US" sz="1400" b="1" dirty="0" smtClean="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60" name="Rectangle 13"/>
          <p:cNvSpPr>
            <a:spLocks noChangeArrowheads="1"/>
          </p:cNvSpPr>
          <p:nvPr/>
        </p:nvSpPr>
        <p:spPr bwMode="auto">
          <a:xfrm>
            <a:off x="6406525" y="3466413"/>
            <a:ext cx="2882900" cy="466331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marL="115888" indent="-115888"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400" dirty="0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Social Media </a:t>
            </a:r>
            <a:r>
              <a:rPr lang="en-US" sz="1400" dirty="0" smtClean="0">
                <a:solidFill>
                  <a:srgbClr val="002060"/>
                </a:solidFill>
                <a:latin typeface="+mj-lt"/>
              </a:rPr>
              <a:t>Sentiment Analysis</a:t>
            </a:r>
          </a:p>
        </p:txBody>
      </p:sp>
      <p:sp>
        <p:nvSpPr>
          <p:cNvPr id="73" name="Oval 72"/>
          <p:cNvSpPr/>
          <p:nvPr/>
        </p:nvSpPr>
        <p:spPr bwMode="auto">
          <a:xfrm>
            <a:off x="4495175" y="2498953"/>
            <a:ext cx="76200" cy="76199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4" name="Oval 73"/>
          <p:cNvSpPr/>
          <p:nvPr/>
        </p:nvSpPr>
        <p:spPr bwMode="auto">
          <a:xfrm>
            <a:off x="7162175" y="2270352"/>
            <a:ext cx="76200" cy="76199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5" name="Oval 74"/>
          <p:cNvSpPr/>
          <p:nvPr/>
        </p:nvSpPr>
        <p:spPr bwMode="auto">
          <a:xfrm>
            <a:off x="8305175" y="2194153"/>
            <a:ext cx="76200" cy="76199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6" name="Oval 75"/>
          <p:cNvSpPr/>
          <p:nvPr/>
        </p:nvSpPr>
        <p:spPr bwMode="auto">
          <a:xfrm>
            <a:off x="8990975" y="2117953"/>
            <a:ext cx="76200" cy="76199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6" name="Rounded Rectangle 85"/>
          <p:cNvSpPr/>
          <p:nvPr/>
        </p:nvSpPr>
        <p:spPr bwMode="auto">
          <a:xfrm>
            <a:off x="7921812" y="1866899"/>
            <a:ext cx="2209800" cy="914400"/>
          </a:xfrm>
          <a:prstGeom prst="roundRect">
            <a:avLst/>
          </a:prstGeom>
          <a:noFill/>
          <a:ln w="12700" cap="flat" cmpd="sng" algn="ctr">
            <a:solidFill>
              <a:schemeClr val="bg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7" name="Rounded Rectangle 86"/>
          <p:cNvSpPr/>
          <p:nvPr/>
        </p:nvSpPr>
        <p:spPr bwMode="auto">
          <a:xfrm>
            <a:off x="5635812" y="2019299"/>
            <a:ext cx="2133600" cy="762000"/>
          </a:xfrm>
          <a:prstGeom prst="roundRect">
            <a:avLst/>
          </a:prstGeom>
          <a:noFill/>
          <a:ln w="12700" cap="flat" cmpd="sng" algn="ctr">
            <a:solidFill>
              <a:schemeClr val="bg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8" name="Rounded Rectangle 87"/>
          <p:cNvSpPr/>
          <p:nvPr/>
        </p:nvSpPr>
        <p:spPr bwMode="auto">
          <a:xfrm>
            <a:off x="3378840" y="2095499"/>
            <a:ext cx="2104572" cy="685800"/>
          </a:xfrm>
          <a:prstGeom prst="roundRect">
            <a:avLst/>
          </a:prstGeom>
          <a:noFill/>
          <a:ln w="12700" cap="flat" cmpd="sng" algn="ctr">
            <a:solidFill>
              <a:schemeClr val="bg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45720" tIns="45720" rIns="4572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9" name="Rounded Rectangle 88"/>
          <p:cNvSpPr/>
          <p:nvPr/>
        </p:nvSpPr>
        <p:spPr bwMode="auto">
          <a:xfrm>
            <a:off x="406106" y="4053612"/>
            <a:ext cx="2636874" cy="610463"/>
          </a:xfrm>
          <a:prstGeom prst="roundRect">
            <a:avLst/>
          </a:prstGeom>
          <a:solidFill>
            <a:srgbClr val="00B0F0">
              <a:alpha val="66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45720" rIns="45720" anchor="t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 smtClean="0">
                <a:solidFill>
                  <a:srgbClr val="FFFFFF"/>
                </a:solidFill>
                <a:latin typeface="+mj-lt"/>
                <a:cs typeface="Arial" charset="0"/>
              </a:rPr>
              <a:t>Consideration</a:t>
            </a:r>
            <a:r>
              <a:rPr lang="en-US" sz="1400" dirty="0" smtClean="0">
                <a:solidFill>
                  <a:srgbClr val="FFFFFF"/>
                </a:solidFill>
                <a:latin typeface="+mj-lt"/>
                <a:cs typeface="Arial" charset="0"/>
              </a:rPr>
              <a:t>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 smtClean="0">
                <a:solidFill>
                  <a:srgbClr val="FFFFFF"/>
                </a:solidFill>
                <a:latin typeface="+mj-lt"/>
                <a:cs typeface="Arial" charset="0"/>
              </a:rPr>
              <a:t>Promote and Persuade</a:t>
            </a:r>
          </a:p>
          <a:p>
            <a:pPr marR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400" dirty="0" smtClean="0">
              <a:solidFill>
                <a:srgbClr val="FFFFFF"/>
              </a:solidFill>
              <a:latin typeface="+mj-lt"/>
              <a:cs typeface="Arial" charset="0"/>
            </a:endParaRPr>
          </a:p>
        </p:txBody>
      </p:sp>
      <p:sp>
        <p:nvSpPr>
          <p:cNvPr id="90" name="Rounded Rectangle 89"/>
          <p:cNvSpPr/>
          <p:nvPr/>
        </p:nvSpPr>
        <p:spPr bwMode="auto">
          <a:xfrm>
            <a:off x="418806" y="4767987"/>
            <a:ext cx="2636874" cy="610463"/>
          </a:xfrm>
          <a:prstGeom prst="roundRect">
            <a:avLst/>
          </a:prstGeom>
          <a:solidFill>
            <a:srgbClr val="00B0F0">
              <a:alpha val="66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45720" rIns="45720" anchor="t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 smtClean="0">
                <a:solidFill>
                  <a:srgbClr val="FFFFFF"/>
                </a:solidFill>
                <a:latin typeface="+mj-lt"/>
                <a:cs typeface="Arial" charset="0"/>
              </a:rPr>
              <a:t>Conversion</a:t>
            </a:r>
            <a:r>
              <a:rPr lang="en-US" sz="1400" dirty="0" smtClean="0">
                <a:solidFill>
                  <a:srgbClr val="FFFFFF"/>
                </a:solidFill>
                <a:latin typeface="+mj-lt"/>
                <a:cs typeface="Arial" charset="0"/>
              </a:rPr>
              <a:t>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 smtClean="0">
                <a:solidFill>
                  <a:srgbClr val="FFFFFF"/>
                </a:solidFill>
                <a:latin typeface="+mj-lt"/>
                <a:cs typeface="Arial" charset="0"/>
              </a:rPr>
              <a:t>Personalize and Convert</a:t>
            </a:r>
          </a:p>
          <a:p>
            <a:pPr marR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400" dirty="0" smtClean="0">
              <a:solidFill>
                <a:srgbClr val="FFFFFF"/>
              </a:solidFill>
              <a:latin typeface="+mj-lt"/>
              <a:cs typeface="Arial" charset="0"/>
            </a:endParaRPr>
          </a:p>
        </p:txBody>
      </p:sp>
      <p:sp>
        <p:nvSpPr>
          <p:cNvPr id="91" name="Rounded Rectangle 90"/>
          <p:cNvSpPr/>
          <p:nvPr/>
        </p:nvSpPr>
        <p:spPr bwMode="auto">
          <a:xfrm>
            <a:off x="406106" y="5482362"/>
            <a:ext cx="2636874" cy="610463"/>
          </a:xfrm>
          <a:prstGeom prst="roundRect">
            <a:avLst/>
          </a:prstGeom>
          <a:solidFill>
            <a:srgbClr val="00B0F0">
              <a:alpha val="66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45720" rIns="45720" anchor="t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 smtClean="0">
                <a:solidFill>
                  <a:srgbClr val="FFFFFF"/>
                </a:solidFill>
                <a:latin typeface="+mj-lt"/>
                <a:cs typeface="Arial" charset="0"/>
              </a:rPr>
              <a:t>Engagement</a:t>
            </a:r>
            <a:endParaRPr lang="en-US" sz="1400" dirty="0" smtClean="0">
              <a:solidFill>
                <a:srgbClr val="FFFFFF"/>
              </a:solidFill>
              <a:latin typeface="+mj-lt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 smtClean="0">
                <a:solidFill>
                  <a:srgbClr val="FFFFFF"/>
                </a:solidFill>
                <a:latin typeface="+mj-lt"/>
                <a:cs typeface="Arial" charset="0"/>
              </a:rPr>
              <a:t>Increase satisfaction</a:t>
            </a:r>
          </a:p>
          <a:p>
            <a:pPr marR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400" dirty="0" smtClean="0">
              <a:solidFill>
                <a:srgbClr val="FFFFFF"/>
              </a:solidFill>
              <a:latin typeface="+mj-lt"/>
              <a:cs typeface="Arial" charset="0"/>
            </a:endParaRPr>
          </a:p>
        </p:txBody>
      </p:sp>
      <p:sp>
        <p:nvSpPr>
          <p:cNvPr id="92" name="Rounded Rectangle 91"/>
          <p:cNvSpPr/>
          <p:nvPr/>
        </p:nvSpPr>
        <p:spPr bwMode="auto">
          <a:xfrm>
            <a:off x="406106" y="6196737"/>
            <a:ext cx="2636874" cy="610463"/>
          </a:xfrm>
          <a:prstGeom prst="roundRect">
            <a:avLst/>
          </a:prstGeom>
          <a:solidFill>
            <a:srgbClr val="00B0F0">
              <a:alpha val="66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45720" rIns="45720" anchor="t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 smtClean="0">
                <a:solidFill>
                  <a:srgbClr val="FFFFFF"/>
                </a:solidFill>
                <a:latin typeface="+mj-lt"/>
                <a:cs typeface="Arial" charset="0"/>
              </a:rPr>
              <a:t>Cross-sell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dirty="0" smtClean="0">
                <a:solidFill>
                  <a:srgbClr val="FFFFFF"/>
                </a:solidFill>
                <a:latin typeface="+mj-lt"/>
                <a:cs typeface="Arial" charset="0"/>
              </a:rPr>
              <a:t>Grow relationship value</a:t>
            </a:r>
          </a:p>
          <a:p>
            <a:pPr marR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400" dirty="0" smtClean="0">
              <a:solidFill>
                <a:srgbClr val="FFFFFF"/>
              </a:solidFill>
              <a:latin typeface="+mj-lt"/>
              <a:cs typeface="Arial" charset="0"/>
            </a:endParaRPr>
          </a:p>
        </p:txBody>
      </p:sp>
      <p:sp>
        <p:nvSpPr>
          <p:cNvPr id="93" name="Rectangle 13"/>
          <p:cNvSpPr>
            <a:spLocks noChangeArrowheads="1"/>
          </p:cNvSpPr>
          <p:nvPr/>
        </p:nvSpPr>
        <p:spPr bwMode="auto">
          <a:xfrm>
            <a:off x="3318858" y="4115143"/>
            <a:ext cx="2890909" cy="52776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400" dirty="0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Display Campaign, Branding</a:t>
            </a:r>
            <a:endParaRPr lang="en-US" sz="1400" b="1" dirty="0" smtClean="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94" name="Rectangle 13"/>
          <p:cNvSpPr>
            <a:spLocks noChangeArrowheads="1"/>
          </p:cNvSpPr>
          <p:nvPr/>
        </p:nvSpPr>
        <p:spPr bwMode="auto">
          <a:xfrm>
            <a:off x="6406525" y="4160204"/>
            <a:ext cx="2882900" cy="466331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400" smtClean="0">
                <a:solidFill>
                  <a:srgbClr val="002060"/>
                </a:solidFill>
                <a:sym typeface="Wingdings" pitchFamily="2" charset="2"/>
              </a:rPr>
              <a:t>Attribution, Brand Bidding</a:t>
            </a:r>
            <a:endParaRPr lang="en-US" sz="1400" dirty="0" smtClean="0">
              <a:solidFill>
                <a:srgbClr val="002060"/>
              </a:solidFill>
              <a:sym typeface="Wingdings" pitchFamily="2" charset="2"/>
            </a:endParaRPr>
          </a:p>
        </p:txBody>
      </p:sp>
      <p:sp>
        <p:nvSpPr>
          <p:cNvPr id="95" name="Rectangle 13"/>
          <p:cNvSpPr>
            <a:spLocks noChangeArrowheads="1"/>
          </p:cNvSpPr>
          <p:nvPr/>
        </p:nvSpPr>
        <p:spPr bwMode="auto">
          <a:xfrm>
            <a:off x="9404389" y="4162886"/>
            <a:ext cx="2620370" cy="466331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marL="115888" indent="-115888"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400" dirty="0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Online Persona Segmentation </a:t>
            </a:r>
          </a:p>
        </p:txBody>
      </p:sp>
      <p:sp>
        <p:nvSpPr>
          <p:cNvPr id="96" name="Rectangle 13"/>
          <p:cNvSpPr>
            <a:spLocks noChangeArrowheads="1"/>
          </p:cNvSpPr>
          <p:nvPr/>
        </p:nvSpPr>
        <p:spPr bwMode="auto">
          <a:xfrm>
            <a:off x="3319391" y="4812169"/>
            <a:ext cx="2890909" cy="52776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IN" sz="1400" dirty="0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Fall Out Report, MVT tracking, Full Funnel Report</a:t>
            </a:r>
            <a:endParaRPr lang="en-US" sz="1400" b="1" dirty="0" smtClean="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97" name="Rectangle 13"/>
          <p:cNvSpPr>
            <a:spLocks noChangeArrowheads="1"/>
          </p:cNvSpPr>
          <p:nvPr/>
        </p:nvSpPr>
        <p:spPr bwMode="auto">
          <a:xfrm>
            <a:off x="6388100" y="4853995"/>
            <a:ext cx="2882900" cy="466331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marL="115888" indent="-115888"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IN" sz="1400" dirty="0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Channel KPI, SEO, </a:t>
            </a:r>
            <a:r>
              <a:rPr lang="en-IN" sz="1400" dirty="0" err="1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Pathing</a:t>
            </a:r>
            <a:r>
              <a:rPr lang="en-IN" sz="1400" dirty="0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, HP &amp; Form Optimization, Heat Map</a:t>
            </a:r>
          </a:p>
        </p:txBody>
      </p:sp>
      <p:sp>
        <p:nvSpPr>
          <p:cNvPr id="98" name="Rectangle 13"/>
          <p:cNvSpPr>
            <a:spLocks noChangeArrowheads="1"/>
          </p:cNvSpPr>
          <p:nvPr/>
        </p:nvSpPr>
        <p:spPr bwMode="auto">
          <a:xfrm>
            <a:off x="9400180" y="4817290"/>
            <a:ext cx="2620370" cy="466331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400" dirty="0" smtClean="0">
                <a:solidFill>
                  <a:srgbClr val="002060"/>
                </a:solidFill>
                <a:sym typeface="Wingdings" pitchFamily="2" charset="2"/>
              </a:rPr>
              <a:t>MVT, </a:t>
            </a:r>
            <a:r>
              <a:rPr lang="en-US" sz="1400" dirty="0" smtClean="0">
                <a:solidFill>
                  <a:srgbClr val="002060"/>
                </a:solidFill>
              </a:rPr>
              <a:t>Contextual offering, Prospect Segmentation</a:t>
            </a:r>
            <a:endParaRPr lang="en-US" sz="1400" dirty="0" smtClean="0">
              <a:solidFill>
                <a:srgbClr val="002060"/>
              </a:solidFill>
              <a:sym typeface="Wingdings" pitchFamily="2" charset="2"/>
            </a:endParaRPr>
          </a:p>
        </p:txBody>
      </p:sp>
      <p:sp>
        <p:nvSpPr>
          <p:cNvPr id="99" name="Rectangle 13"/>
          <p:cNvSpPr>
            <a:spLocks noChangeArrowheads="1"/>
          </p:cNvSpPr>
          <p:nvPr/>
        </p:nvSpPr>
        <p:spPr bwMode="auto">
          <a:xfrm>
            <a:off x="3331123" y="5509195"/>
            <a:ext cx="2890909" cy="52776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IN" sz="1400" dirty="0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Engagement Index, Fall out Report, Campaign Report</a:t>
            </a:r>
            <a:endParaRPr lang="en-US" sz="1400" b="1" dirty="0" smtClean="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100" name="Rectangle 13"/>
          <p:cNvSpPr>
            <a:spLocks noChangeArrowheads="1"/>
          </p:cNvSpPr>
          <p:nvPr/>
        </p:nvSpPr>
        <p:spPr bwMode="auto">
          <a:xfrm>
            <a:off x="6388100" y="5547786"/>
            <a:ext cx="2882900" cy="466331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marL="115888" indent="-115888"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IN" sz="1400" dirty="0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Opportunity Sizing,, Micro Targeting, </a:t>
            </a:r>
            <a:r>
              <a:rPr lang="en-IN" sz="1400" dirty="0" err="1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Pathing</a:t>
            </a:r>
            <a:endParaRPr lang="en-US" sz="1400" dirty="0" smtClean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103" name="Rectangle 13"/>
          <p:cNvSpPr>
            <a:spLocks noChangeArrowheads="1"/>
          </p:cNvSpPr>
          <p:nvPr/>
        </p:nvSpPr>
        <p:spPr bwMode="auto">
          <a:xfrm>
            <a:off x="9400180" y="5527114"/>
            <a:ext cx="2620370" cy="466331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400" dirty="0" smtClean="0">
                <a:solidFill>
                  <a:srgbClr val="002060"/>
                </a:solidFill>
                <a:sym typeface="Wingdings" pitchFamily="2" charset="2"/>
              </a:rPr>
              <a:t>Digital usage propensity, Attrition Prediction</a:t>
            </a:r>
          </a:p>
        </p:txBody>
      </p:sp>
      <p:sp>
        <p:nvSpPr>
          <p:cNvPr id="107" name="Rectangle 13"/>
          <p:cNvSpPr>
            <a:spLocks noChangeArrowheads="1"/>
          </p:cNvSpPr>
          <p:nvPr/>
        </p:nvSpPr>
        <p:spPr bwMode="auto">
          <a:xfrm>
            <a:off x="3344978" y="6206222"/>
            <a:ext cx="2890909" cy="52776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400" dirty="0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Lead Generation</a:t>
            </a:r>
            <a:endParaRPr lang="en-US" sz="1400" b="1" dirty="0" smtClean="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108" name="Rectangle 13"/>
          <p:cNvSpPr>
            <a:spLocks noChangeArrowheads="1"/>
          </p:cNvSpPr>
          <p:nvPr/>
        </p:nvSpPr>
        <p:spPr bwMode="auto">
          <a:xfrm>
            <a:off x="6388100" y="6241578"/>
            <a:ext cx="2882900" cy="466331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algn="ctr" defTabSz="755650">
              <a:lnSpc>
                <a:spcPts val="1400"/>
              </a:lnSpc>
              <a:spcAft>
                <a:spcPts val="300"/>
              </a:spcAft>
            </a:pPr>
            <a:r>
              <a:rPr lang="en-US" sz="1400" dirty="0" smtClean="0">
                <a:solidFill>
                  <a:srgbClr val="002060"/>
                </a:solidFill>
              </a:rPr>
              <a:t>Triggers, Heat Map, Web Page Redesign, Market Basket</a:t>
            </a:r>
            <a:endParaRPr lang="en-US" sz="1400" i="1" dirty="0" smtClean="0">
              <a:solidFill>
                <a:srgbClr val="002060"/>
              </a:solidFill>
            </a:endParaRPr>
          </a:p>
        </p:txBody>
      </p:sp>
      <p:sp>
        <p:nvSpPr>
          <p:cNvPr id="117" name="Rectangle 13"/>
          <p:cNvSpPr>
            <a:spLocks noChangeArrowheads="1"/>
          </p:cNvSpPr>
          <p:nvPr/>
        </p:nvSpPr>
        <p:spPr bwMode="auto">
          <a:xfrm>
            <a:off x="9386985" y="6236938"/>
            <a:ext cx="2620370" cy="466331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70C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45720" bIns="45720" anchor="ctr"/>
          <a:lstStyle/>
          <a:p>
            <a:pPr marL="115888" indent="-115888" algn="ctr" defTabSz="755650"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400" dirty="0" smtClean="0">
                <a:solidFill>
                  <a:srgbClr val="002060"/>
                </a:solidFill>
                <a:latin typeface="+mj-lt"/>
                <a:sym typeface="Wingdings" pitchFamily="2" charset="2"/>
              </a:rPr>
              <a:t>Contextual Offering</a:t>
            </a:r>
            <a:endParaRPr lang="en-US" sz="1400" dirty="0" smtClean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0119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54954" y="2697480"/>
            <a:ext cx="8825660" cy="886968"/>
          </a:xfrm>
        </p:spPr>
        <p:txBody>
          <a:bodyPr/>
          <a:lstStyle/>
          <a:p>
            <a:pPr lvl="0" algn="ctr">
              <a:lnSpc>
                <a:spcPts val="4000"/>
              </a:lnSpc>
              <a:buClr>
                <a:srgbClr val="002D72"/>
              </a:buClr>
            </a:pPr>
            <a:r>
              <a:rPr lang="en-IN" dirty="0" smtClean="0">
                <a:solidFill>
                  <a:schemeClr val="bg1"/>
                </a:solidFill>
                <a:cs typeface="Arial" pitchFamily="34" charset="0"/>
              </a:rPr>
              <a:t>Building the Tata Data Ecosystem</a:t>
            </a:r>
            <a:endParaRPr lang="en-IN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063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Prospecting using One Tata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21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 algn="just"/>
            <a:r>
              <a:rPr lang="en-IN" dirty="0" smtClean="0"/>
              <a:t>To drive </a:t>
            </a:r>
            <a:r>
              <a:rPr lang="en-IN" dirty="0"/>
              <a:t>unified data views  both  inside and </a:t>
            </a:r>
            <a:r>
              <a:rPr lang="en-IN" dirty="0" smtClean="0"/>
              <a:t>across </a:t>
            </a:r>
            <a:r>
              <a:rPr lang="en-IN" dirty="0"/>
              <a:t>clusters within the Tata group</a:t>
            </a:r>
          </a:p>
        </p:txBody>
      </p:sp>
      <p:cxnSp>
        <p:nvCxnSpPr>
          <p:cNvPr id="87" name="Straight Connector 86"/>
          <p:cNvCxnSpPr/>
          <p:nvPr/>
        </p:nvCxnSpPr>
        <p:spPr>
          <a:xfrm>
            <a:off x="493893" y="1545026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Rectangle 213"/>
          <p:cNvSpPr>
            <a:spLocks noChangeArrowheads="1"/>
          </p:cNvSpPr>
          <p:nvPr/>
        </p:nvSpPr>
        <p:spPr bwMode="auto">
          <a:xfrm>
            <a:off x="208874" y="5636089"/>
            <a:ext cx="5199289" cy="307777"/>
          </a:xfrm>
          <a:prstGeom prst="rect">
            <a:avLst/>
          </a:prstGeom>
          <a:solidFill>
            <a:srgbClr val="002D72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b="1" dirty="0" smtClean="0">
                <a:solidFill>
                  <a:srgbClr val="FFFFFF"/>
                </a:solidFill>
                <a:latin typeface="+mj-lt"/>
              </a:rPr>
              <a:t>Challenges of Current State</a:t>
            </a:r>
            <a:endParaRPr lang="en-US" sz="1400" b="1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03426" name="AutoShape 2" descr="Image result for pdf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428" name="AutoShape 4" descr="Image result for pdf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430" name="AutoShape 6" descr="Image result for pdf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434" name="AutoShape 10" descr="Image result for word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436" name="AutoShape 12" descr="Image result for word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446" name="AutoShape 22" descr="Image result for medallia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2" name="Group 105"/>
          <p:cNvGrpSpPr/>
          <p:nvPr/>
        </p:nvGrpSpPr>
        <p:grpSpPr>
          <a:xfrm>
            <a:off x="449943" y="1690699"/>
            <a:ext cx="4702632" cy="3733368"/>
            <a:chOff x="449943" y="1767546"/>
            <a:chExt cx="4702632" cy="3733368"/>
          </a:xfrm>
        </p:grpSpPr>
        <p:grpSp>
          <p:nvGrpSpPr>
            <p:cNvPr id="3" name="Group 102"/>
            <p:cNvGrpSpPr/>
            <p:nvPr/>
          </p:nvGrpSpPr>
          <p:grpSpPr>
            <a:xfrm>
              <a:off x="751603" y="4855027"/>
              <a:ext cx="4156728" cy="459963"/>
              <a:chOff x="751603" y="4855027"/>
              <a:chExt cx="4156728" cy="459963"/>
            </a:xfrm>
          </p:grpSpPr>
          <p:sp>
            <p:nvSpPr>
              <p:cNvPr id="74" name="Rounded Rectangle 73"/>
              <p:cNvSpPr/>
              <p:nvPr/>
            </p:nvSpPr>
            <p:spPr bwMode="auto">
              <a:xfrm>
                <a:off x="751603" y="4862281"/>
                <a:ext cx="757881" cy="449947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T1</a:t>
                </a:r>
                <a:endParaRPr lang="en-US" sz="1400" kern="0" dirty="0">
                  <a:solidFill>
                    <a:prstClr val="white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75" name="Rounded Rectangle 74"/>
              <p:cNvSpPr/>
              <p:nvPr/>
            </p:nvSpPr>
            <p:spPr bwMode="auto">
              <a:xfrm>
                <a:off x="3206721" y="4855027"/>
                <a:ext cx="707129" cy="449947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T3</a:t>
                </a:r>
                <a:endParaRPr lang="en-US" sz="1400" kern="0" dirty="0">
                  <a:solidFill>
                    <a:prstClr val="white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76" name="Rounded Rectangle 75"/>
              <p:cNvSpPr/>
              <p:nvPr/>
            </p:nvSpPr>
            <p:spPr bwMode="auto">
              <a:xfrm>
                <a:off x="2028172" y="4869546"/>
                <a:ext cx="737515" cy="445444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T2</a:t>
                </a:r>
                <a:endParaRPr lang="en-US" sz="1400" kern="0" dirty="0">
                  <a:solidFill>
                    <a:prstClr val="white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89" name="Rounded Rectangle 88"/>
              <p:cNvSpPr/>
              <p:nvPr/>
            </p:nvSpPr>
            <p:spPr bwMode="auto">
              <a:xfrm>
                <a:off x="4164904" y="4862287"/>
                <a:ext cx="743427" cy="449947"/>
              </a:xfrm>
              <a:prstGeom prst="roundRect">
                <a:avLst/>
              </a:prstGeom>
              <a:solidFill>
                <a:srgbClr val="0070C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kern="0" dirty="0" smtClean="0">
                    <a:solidFill>
                      <a:prstClr val="white"/>
                    </a:solidFill>
                    <a:latin typeface="+mj-lt"/>
                    <a:cs typeface="Arial" pitchFamily="34" charset="0"/>
                  </a:rPr>
                  <a:t>T4</a:t>
                </a:r>
                <a:endParaRPr lang="en-US" sz="1400" kern="0" dirty="0">
                  <a:solidFill>
                    <a:prstClr val="white"/>
                  </a:solidFill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90" name="Rounded Rectangle 89"/>
            <p:cNvSpPr/>
            <p:nvPr/>
          </p:nvSpPr>
          <p:spPr bwMode="auto">
            <a:xfrm>
              <a:off x="711893" y="2054609"/>
              <a:ext cx="826621" cy="3303410"/>
            </a:xfrm>
            <a:prstGeom prst="roundRect">
              <a:avLst/>
            </a:prstGeom>
            <a:noFill/>
            <a:ln w="3175" cap="flat" cmpd="sng" algn="ctr">
              <a:solidFill>
                <a:srgbClr val="00308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700" u="sng" kern="0" dirty="0">
                <a:solidFill>
                  <a:srgbClr val="003082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91" name="Rounded Rectangle 90"/>
            <p:cNvSpPr/>
            <p:nvPr/>
          </p:nvSpPr>
          <p:spPr bwMode="auto">
            <a:xfrm>
              <a:off x="1897747" y="2054609"/>
              <a:ext cx="947059" cy="3359220"/>
            </a:xfrm>
            <a:prstGeom prst="roundRect">
              <a:avLst/>
            </a:prstGeom>
            <a:noFill/>
            <a:ln w="3175" cap="flat" cmpd="sng" algn="ctr">
              <a:solidFill>
                <a:srgbClr val="00308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700" u="sng" kern="0" dirty="0">
                <a:solidFill>
                  <a:srgbClr val="003082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92" name="Rounded Rectangle 91"/>
            <p:cNvSpPr/>
            <p:nvPr/>
          </p:nvSpPr>
          <p:spPr bwMode="auto">
            <a:xfrm>
              <a:off x="3122217" y="2054609"/>
              <a:ext cx="826621" cy="3359220"/>
            </a:xfrm>
            <a:prstGeom prst="roundRect">
              <a:avLst/>
            </a:prstGeom>
            <a:noFill/>
            <a:ln w="3175" cap="flat" cmpd="sng" algn="ctr">
              <a:solidFill>
                <a:srgbClr val="00308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700" u="sng" kern="0" dirty="0">
                <a:solidFill>
                  <a:srgbClr val="003082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93" name="Rounded Rectangle 92"/>
            <p:cNvSpPr/>
            <p:nvPr/>
          </p:nvSpPr>
          <p:spPr bwMode="auto">
            <a:xfrm>
              <a:off x="4108175" y="2054609"/>
              <a:ext cx="826621" cy="3351966"/>
            </a:xfrm>
            <a:prstGeom prst="roundRect">
              <a:avLst/>
            </a:prstGeom>
            <a:noFill/>
            <a:ln w="3175" cap="flat" cmpd="sng" algn="ctr">
              <a:solidFill>
                <a:srgbClr val="00308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700" u="sng" kern="0" dirty="0">
                <a:solidFill>
                  <a:srgbClr val="003082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60" name="Rounded Rectangle 59"/>
            <p:cNvSpPr/>
            <p:nvPr/>
          </p:nvSpPr>
          <p:spPr bwMode="auto">
            <a:xfrm>
              <a:off x="671774" y="4419596"/>
              <a:ext cx="4321140" cy="341090"/>
            </a:xfrm>
            <a:prstGeom prst="roundRect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Lack of single golden source</a:t>
              </a:r>
              <a:endParaRPr lang="en-US" sz="1400" kern="0" dirty="0">
                <a:solidFill>
                  <a:schemeClr val="bg1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58" name="Rounded Rectangle 57"/>
            <p:cNvSpPr/>
            <p:nvPr/>
          </p:nvSpPr>
          <p:spPr bwMode="auto">
            <a:xfrm>
              <a:off x="664514" y="3918859"/>
              <a:ext cx="4313886" cy="319313"/>
            </a:xfrm>
            <a:prstGeom prst="roundRect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Lack of robust data infrastructure</a:t>
              </a:r>
              <a:endParaRPr lang="en-US" sz="1400" kern="0" dirty="0">
                <a:solidFill>
                  <a:schemeClr val="bg1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449943" y="4354287"/>
              <a:ext cx="4688112" cy="114662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0" name="Rounded Rectangle 99"/>
            <p:cNvSpPr/>
            <p:nvPr/>
          </p:nvSpPr>
          <p:spPr>
            <a:xfrm>
              <a:off x="457203" y="2619834"/>
              <a:ext cx="4688112" cy="166916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1" name="Rounded Rectangle 100"/>
            <p:cNvSpPr/>
            <p:nvPr/>
          </p:nvSpPr>
          <p:spPr>
            <a:xfrm>
              <a:off x="464463" y="1768451"/>
              <a:ext cx="4688112" cy="79531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102" name="TextBox 101"/>
            <p:cNvSpPr txBox="1"/>
            <p:nvPr/>
          </p:nvSpPr>
          <p:spPr bwMode="gray">
            <a:xfrm>
              <a:off x="1755709" y="1767546"/>
              <a:ext cx="2353905" cy="416466"/>
            </a:xfrm>
            <a:prstGeom prst="rect">
              <a:avLst/>
            </a:prstGeom>
          </p:spPr>
          <p:txBody>
            <a:bodyPr vert="horz" wrap="none" lIns="91440" tIns="45720" rIns="91440" bIns="45720" rtlCol="0" anchor="t">
              <a:noAutofit/>
            </a:bodyPr>
            <a:lstStyle/>
            <a:p>
              <a:pPr algn="ctr"/>
              <a:r>
                <a:rPr lang="en-IN" sz="1200" b="1" dirty="0"/>
                <a:t>Internal Data Store</a:t>
              </a:r>
            </a:p>
          </p:txBody>
        </p:sp>
      </p:grpSp>
      <p:sp>
        <p:nvSpPr>
          <p:cNvPr id="109" name="Isosceles Triangle 108"/>
          <p:cNvSpPr/>
          <p:nvPr/>
        </p:nvSpPr>
        <p:spPr bwMode="auto">
          <a:xfrm rot="5400000">
            <a:off x="4708719" y="3885012"/>
            <a:ext cx="2155250" cy="595643"/>
          </a:xfrm>
          <a:prstGeom prst="triangle">
            <a:avLst/>
          </a:prstGeom>
          <a:solidFill>
            <a:srgbClr val="BED8EC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 dirty="0">
              <a:solidFill>
                <a:prstClr val="black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8" name="Rounded Rectangle 117"/>
          <p:cNvSpPr/>
          <p:nvPr/>
        </p:nvSpPr>
        <p:spPr bwMode="auto">
          <a:xfrm>
            <a:off x="7227654" y="5386666"/>
            <a:ext cx="4737007" cy="181668"/>
          </a:xfrm>
          <a:prstGeom prst="roundRect">
            <a:avLst/>
          </a:prstGeom>
          <a:solidFill>
            <a:schemeClr val="accent6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One Tata View</a:t>
            </a:r>
            <a:endParaRPr lang="en-US" sz="1400" b="1" kern="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grpSp>
        <p:nvGrpSpPr>
          <p:cNvPr id="6" name="Group 104"/>
          <p:cNvGrpSpPr/>
          <p:nvPr/>
        </p:nvGrpSpPr>
        <p:grpSpPr>
          <a:xfrm>
            <a:off x="7134426" y="1959402"/>
            <a:ext cx="4504684" cy="464455"/>
            <a:chOff x="728526" y="2155374"/>
            <a:chExt cx="4271594" cy="464455"/>
          </a:xfrm>
          <a:noFill/>
        </p:grpSpPr>
        <p:sp>
          <p:nvSpPr>
            <p:cNvPr id="127" name="Rounded Rectangle 126"/>
            <p:cNvSpPr/>
            <p:nvPr/>
          </p:nvSpPr>
          <p:spPr bwMode="auto">
            <a:xfrm>
              <a:off x="728526" y="2169882"/>
              <a:ext cx="910284" cy="449947"/>
            </a:xfrm>
            <a:prstGeom prst="roundRect">
              <a:avLst/>
            </a:prstGeom>
            <a:grp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Business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Analysis</a:t>
              </a:r>
              <a:endParaRPr lang="en-US" sz="1400" kern="0" dirty="0">
                <a:solidFill>
                  <a:prstClr val="white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28" name="Rounded Rectangle 127"/>
            <p:cNvSpPr/>
            <p:nvPr/>
          </p:nvSpPr>
          <p:spPr bwMode="auto">
            <a:xfrm>
              <a:off x="1714538" y="2162628"/>
              <a:ext cx="1037754" cy="449947"/>
            </a:xfrm>
            <a:prstGeom prst="roundRect">
              <a:avLst/>
            </a:prstGeom>
            <a:grp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Campaign</a:t>
              </a:r>
              <a:endParaRPr lang="en-US" sz="1400" kern="0" dirty="0">
                <a:solidFill>
                  <a:prstClr val="white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29" name="Rounded Rectangle 128"/>
            <p:cNvSpPr/>
            <p:nvPr/>
          </p:nvSpPr>
          <p:spPr bwMode="auto">
            <a:xfrm>
              <a:off x="2828020" y="2155374"/>
              <a:ext cx="982888" cy="449947"/>
            </a:xfrm>
            <a:prstGeom prst="roundRect">
              <a:avLst/>
            </a:prstGeom>
            <a:grp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Predictive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Analytics</a:t>
              </a:r>
              <a:endParaRPr lang="en-US" sz="1400" kern="0" dirty="0">
                <a:solidFill>
                  <a:prstClr val="white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30" name="Rounded Rectangle 129"/>
            <p:cNvSpPr/>
            <p:nvPr/>
          </p:nvSpPr>
          <p:spPr bwMode="auto">
            <a:xfrm>
              <a:off x="3886637" y="2162634"/>
              <a:ext cx="1113483" cy="449947"/>
            </a:xfrm>
            <a:prstGeom prst="roundRect">
              <a:avLst/>
            </a:prstGeom>
            <a:grp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Quantitative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kern="0" dirty="0" smtClean="0">
                  <a:solidFill>
                    <a:prstClr val="white"/>
                  </a:solidFill>
                  <a:latin typeface="+mj-lt"/>
                  <a:cs typeface="Arial" pitchFamily="34" charset="0"/>
                </a:rPr>
                <a:t>Sciences</a:t>
              </a:r>
              <a:endParaRPr lang="en-US" sz="1400" kern="0" dirty="0">
                <a:solidFill>
                  <a:prstClr val="white"/>
                </a:solidFill>
                <a:latin typeface="+mj-lt"/>
                <a:cs typeface="Arial" pitchFamily="34" charset="0"/>
              </a:endParaRPr>
            </a:p>
          </p:txBody>
        </p:sp>
      </p:grpSp>
      <p:sp>
        <p:nvSpPr>
          <p:cNvPr id="124" name="Rounded Rectangle 123"/>
          <p:cNvSpPr/>
          <p:nvPr/>
        </p:nvSpPr>
        <p:spPr>
          <a:xfrm>
            <a:off x="6889531" y="2659098"/>
            <a:ext cx="5193363" cy="123913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5" name="Rounded Rectangle 124"/>
          <p:cNvSpPr/>
          <p:nvPr/>
        </p:nvSpPr>
        <p:spPr>
          <a:xfrm>
            <a:off x="6889531" y="1691605"/>
            <a:ext cx="5193363" cy="85138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 bwMode="gray">
          <a:xfrm>
            <a:off x="8179016" y="1769529"/>
            <a:ext cx="2353905" cy="416466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ctr"/>
            <a:endParaRPr lang="en-IN" sz="1200" b="1" dirty="0" smtClean="0">
              <a:latin typeface="+mj-lt"/>
            </a:endParaRPr>
          </a:p>
        </p:txBody>
      </p:sp>
      <p:sp>
        <p:nvSpPr>
          <p:cNvPr id="146" name="Rounded Rectangle 145"/>
          <p:cNvSpPr/>
          <p:nvPr/>
        </p:nvSpPr>
        <p:spPr bwMode="auto">
          <a:xfrm>
            <a:off x="7412366" y="4521918"/>
            <a:ext cx="3280994" cy="237879"/>
          </a:xfrm>
          <a:prstGeom prst="roundRect">
            <a:avLst/>
          </a:prstGeom>
          <a:solidFill>
            <a:srgbClr val="CC9B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 smtClean="0">
                <a:solidFill>
                  <a:prstClr val="white"/>
                </a:solidFill>
                <a:latin typeface="+mj-lt"/>
                <a:cs typeface="Arial" pitchFamily="34" charset="0"/>
              </a:rPr>
              <a:t>Tata B2C</a:t>
            </a:r>
            <a:endParaRPr lang="en-US" sz="1400" b="1" kern="0" dirty="0">
              <a:solidFill>
                <a:prstClr val="white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0" name="Rectangle 86"/>
          <p:cNvSpPr>
            <a:spLocks noChangeArrowheads="1"/>
          </p:cNvSpPr>
          <p:nvPr/>
        </p:nvSpPr>
        <p:spPr bwMode="auto">
          <a:xfrm>
            <a:off x="7181724" y="3484309"/>
            <a:ext cx="4457386" cy="357333"/>
          </a:xfrm>
          <a:prstGeom prst="rect">
            <a:avLst/>
          </a:prstGeom>
          <a:solidFill>
            <a:srgbClr val="00B050"/>
          </a:solidFill>
          <a:ln w="12700" algn="ctr">
            <a:solidFill>
              <a:sysClr val="window" lastClr="FFFFFF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 smtClean="0">
                <a:solidFill>
                  <a:prstClr val="white"/>
                </a:solidFill>
                <a:latin typeface="+mj-lt"/>
              </a:rPr>
              <a:t>       CAD Ecosystem   –     Single  Data Source</a:t>
            </a:r>
          </a:p>
        </p:txBody>
      </p:sp>
      <p:sp>
        <p:nvSpPr>
          <p:cNvPr id="84" name="Can 83"/>
          <p:cNvSpPr/>
          <p:nvPr/>
        </p:nvSpPr>
        <p:spPr>
          <a:xfrm>
            <a:off x="925747" y="2053147"/>
            <a:ext cx="491320" cy="354842"/>
          </a:xfrm>
          <a:prstGeom prst="ca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Can 97"/>
          <p:cNvSpPr/>
          <p:nvPr/>
        </p:nvSpPr>
        <p:spPr>
          <a:xfrm>
            <a:off x="2190795" y="2065483"/>
            <a:ext cx="491320" cy="354842"/>
          </a:xfrm>
          <a:prstGeom prst="ca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1" name="Can 110"/>
          <p:cNvSpPr/>
          <p:nvPr/>
        </p:nvSpPr>
        <p:spPr>
          <a:xfrm>
            <a:off x="3317858" y="2069015"/>
            <a:ext cx="491320" cy="354842"/>
          </a:xfrm>
          <a:prstGeom prst="ca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30" name="Picture 6" descr="https://www.dunnhumby.com/sites/all/themes/dunnhumby/images/clients/big/tesc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573" y="3410824"/>
            <a:ext cx="437286" cy="437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4" name="Can 133"/>
          <p:cNvSpPr/>
          <p:nvPr/>
        </p:nvSpPr>
        <p:spPr>
          <a:xfrm>
            <a:off x="4290957" y="2053971"/>
            <a:ext cx="491320" cy="354842"/>
          </a:xfrm>
          <a:prstGeom prst="ca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5" name="Can 134"/>
          <p:cNvSpPr/>
          <p:nvPr/>
        </p:nvSpPr>
        <p:spPr>
          <a:xfrm>
            <a:off x="884882" y="2770476"/>
            <a:ext cx="579483" cy="426726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32" name="Picture 8" descr="http://upload.wikimedia.org/wikipedia/en/4/43/Dunnhumby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570" y="2960272"/>
            <a:ext cx="533463" cy="140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Picture 10" descr="http://cp2013.a4cp.org/sites/default/files/styles/sponsor_frontpage/public/FICO-logo-trans_0.png?itok=zi9xG9hz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679" y="2834790"/>
            <a:ext cx="378378" cy="37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4" name="Can 143"/>
          <p:cNvSpPr/>
          <p:nvPr/>
        </p:nvSpPr>
        <p:spPr>
          <a:xfrm>
            <a:off x="884881" y="3348214"/>
            <a:ext cx="579483" cy="426726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5" name="Can 144"/>
          <p:cNvSpPr/>
          <p:nvPr/>
        </p:nvSpPr>
        <p:spPr>
          <a:xfrm>
            <a:off x="2146695" y="2779300"/>
            <a:ext cx="579483" cy="426726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7" name="Can 146"/>
          <p:cNvSpPr/>
          <p:nvPr/>
        </p:nvSpPr>
        <p:spPr>
          <a:xfrm>
            <a:off x="2132126" y="3341724"/>
            <a:ext cx="579483" cy="426726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8" name="Picture 14" descr="http://openmarkets.in/wp-content/uploads/2012/03/323px-CRISIL_logo.svg_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112" y="3464891"/>
            <a:ext cx="456697" cy="254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" name="Can 148"/>
          <p:cNvSpPr/>
          <p:nvPr/>
        </p:nvSpPr>
        <p:spPr>
          <a:xfrm>
            <a:off x="3245055" y="2758274"/>
            <a:ext cx="579483" cy="426726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0" name="Can 149"/>
          <p:cNvSpPr/>
          <p:nvPr/>
        </p:nvSpPr>
        <p:spPr>
          <a:xfrm>
            <a:off x="3271327" y="3367888"/>
            <a:ext cx="579483" cy="426726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" name="Can 152"/>
          <p:cNvSpPr/>
          <p:nvPr/>
        </p:nvSpPr>
        <p:spPr>
          <a:xfrm>
            <a:off x="4233053" y="2784546"/>
            <a:ext cx="579483" cy="426726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5" name="Can 154"/>
          <p:cNvSpPr/>
          <p:nvPr/>
        </p:nvSpPr>
        <p:spPr>
          <a:xfrm>
            <a:off x="4233053" y="3367888"/>
            <a:ext cx="579483" cy="426726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6" name="Picture 8" descr="http://spinnakr.com/blog/wp-content/uploads/2014/03/nielsen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704" y="3432763"/>
            <a:ext cx="441963" cy="441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Picture 10" descr="http://cp2013.a4cp.org/sites/default/files/styles/sponsor_frontpage/public/FICO-logo-trans_0.png?itok=zi9xG9hz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428" y="2850332"/>
            <a:ext cx="378378" cy="37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Picture 8" descr="http://upload.wikimedia.org/wikipedia/en/4/43/Dunnhumby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020" y="2955871"/>
            <a:ext cx="533463" cy="140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Picture 6" descr="https://www.dunnhumby.com/sites/all/themes/dunnhumby/images/clients/big/tesc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974" y="3414482"/>
            <a:ext cx="437286" cy="437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6" name="TextBox 165"/>
          <p:cNvSpPr txBox="1"/>
          <p:nvPr/>
        </p:nvSpPr>
        <p:spPr bwMode="gray">
          <a:xfrm>
            <a:off x="1747935" y="2516195"/>
            <a:ext cx="2353905" cy="416466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ctr"/>
            <a:r>
              <a:rPr lang="en-IN" sz="1200" b="1" dirty="0" smtClean="0"/>
              <a:t>External Data Store</a:t>
            </a:r>
            <a:endParaRPr lang="en-IN" sz="1200" b="1" dirty="0"/>
          </a:p>
        </p:txBody>
      </p:sp>
      <p:sp>
        <p:nvSpPr>
          <p:cNvPr id="167" name="Can 166"/>
          <p:cNvSpPr/>
          <p:nvPr/>
        </p:nvSpPr>
        <p:spPr>
          <a:xfrm>
            <a:off x="7419029" y="2049499"/>
            <a:ext cx="491320" cy="354842"/>
          </a:xfrm>
          <a:prstGeom prst="ca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9" name="Can 168"/>
          <p:cNvSpPr/>
          <p:nvPr/>
        </p:nvSpPr>
        <p:spPr>
          <a:xfrm>
            <a:off x="8506031" y="2044458"/>
            <a:ext cx="491320" cy="354842"/>
          </a:xfrm>
          <a:prstGeom prst="ca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0" name="Can 169"/>
          <p:cNvSpPr/>
          <p:nvPr/>
        </p:nvSpPr>
        <p:spPr>
          <a:xfrm>
            <a:off x="9650912" y="2047989"/>
            <a:ext cx="491320" cy="354842"/>
          </a:xfrm>
          <a:prstGeom prst="ca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1" name="Can 170"/>
          <p:cNvSpPr/>
          <p:nvPr/>
        </p:nvSpPr>
        <p:spPr>
          <a:xfrm>
            <a:off x="10794451" y="2047989"/>
            <a:ext cx="491320" cy="354842"/>
          </a:xfrm>
          <a:prstGeom prst="ca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2" name="Rectangle 171"/>
          <p:cNvSpPr/>
          <p:nvPr/>
        </p:nvSpPr>
        <p:spPr>
          <a:xfrm>
            <a:off x="7181724" y="2761426"/>
            <a:ext cx="4457386" cy="66516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3" name="Can 172"/>
          <p:cNvSpPr/>
          <p:nvPr/>
        </p:nvSpPr>
        <p:spPr>
          <a:xfrm>
            <a:off x="8315715" y="2858191"/>
            <a:ext cx="491320" cy="437843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5" name="Can 174"/>
          <p:cNvSpPr/>
          <p:nvPr/>
        </p:nvSpPr>
        <p:spPr>
          <a:xfrm>
            <a:off x="8900922" y="2861689"/>
            <a:ext cx="491320" cy="437843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6" name="Picture 8" descr="http://spinnakr.com/blog/wp-content/uploads/2014/03/nielsen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482" y="2865620"/>
            <a:ext cx="441963" cy="54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7" name="Can 176"/>
          <p:cNvSpPr/>
          <p:nvPr/>
        </p:nvSpPr>
        <p:spPr>
          <a:xfrm>
            <a:off x="10768155" y="2862539"/>
            <a:ext cx="491320" cy="437843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 smtClean="0">
                <a:solidFill>
                  <a:schemeClr val="tx1"/>
                </a:solidFill>
              </a:rPr>
              <a:t>Census</a:t>
            </a:r>
            <a:endParaRPr lang="en-IN" sz="700" dirty="0">
              <a:solidFill>
                <a:schemeClr val="tx1"/>
              </a:solidFill>
            </a:endParaRPr>
          </a:p>
        </p:txBody>
      </p:sp>
      <p:pic>
        <p:nvPicPr>
          <p:cNvPr id="178" name="Picture 10" descr="http://cp2013.a4cp.org/sites/default/files/styles/sponsor_frontpage/public/FICO-logo-trans_0.png?itok=zi9xG9hz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1682" y="2947600"/>
            <a:ext cx="269799" cy="332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Picture 14" descr="http://openmarkets.in/wp-content/uploads/2012/03/323px-CRISIL_logo.svg_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274" y="2916460"/>
            <a:ext cx="456697" cy="31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Picture 1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582" y="2853307"/>
            <a:ext cx="682133" cy="524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2" name="Picture 9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8606" y="2870460"/>
            <a:ext cx="569656" cy="388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3" name="Can 182"/>
          <p:cNvSpPr/>
          <p:nvPr/>
        </p:nvSpPr>
        <p:spPr>
          <a:xfrm>
            <a:off x="9507064" y="2858125"/>
            <a:ext cx="491320" cy="437843"/>
          </a:xfrm>
          <a:prstGeom prst="can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4" name="Rounded Rectangle 193"/>
          <p:cNvSpPr/>
          <p:nvPr/>
        </p:nvSpPr>
        <p:spPr bwMode="auto">
          <a:xfrm>
            <a:off x="8494348" y="4824054"/>
            <a:ext cx="3352178" cy="263472"/>
          </a:xfrm>
          <a:prstGeom prst="roundRect">
            <a:avLst/>
          </a:prstGeom>
          <a:solidFill>
            <a:srgbClr val="CC9B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kern="0" dirty="0" smtClean="0">
                <a:solidFill>
                  <a:prstClr val="white"/>
                </a:solidFill>
                <a:latin typeface="+mj-lt"/>
                <a:cs typeface="Arial" pitchFamily="34" charset="0"/>
              </a:rPr>
              <a:t>Tata B2B</a:t>
            </a:r>
            <a:endParaRPr lang="en-US" sz="1400" b="1" kern="0" dirty="0">
              <a:solidFill>
                <a:prstClr val="white"/>
              </a:solidFill>
              <a:latin typeface="+mj-lt"/>
              <a:cs typeface="Arial" pitchFamily="34" charset="0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6889531" y="3959200"/>
            <a:ext cx="5193363" cy="168600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/>
          <p:cNvSpPr txBox="1"/>
          <p:nvPr/>
        </p:nvSpPr>
        <p:spPr bwMode="gray">
          <a:xfrm>
            <a:off x="7419029" y="2163611"/>
            <a:ext cx="506121" cy="2082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400" dirty="0" smtClean="0"/>
              <a:t>T1</a:t>
            </a:r>
          </a:p>
        </p:txBody>
      </p:sp>
      <p:sp>
        <p:nvSpPr>
          <p:cNvPr id="199" name="TextBox 198"/>
          <p:cNvSpPr txBox="1"/>
          <p:nvPr/>
        </p:nvSpPr>
        <p:spPr bwMode="gray">
          <a:xfrm>
            <a:off x="8538649" y="2183956"/>
            <a:ext cx="506121" cy="2082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400" dirty="0" smtClean="0"/>
              <a:t>T2</a:t>
            </a:r>
          </a:p>
        </p:txBody>
      </p:sp>
      <p:sp>
        <p:nvSpPr>
          <p:cNvPr id="200" name="TextBox 199"/>
          <p:cNvSpPr txBox="1"/>
          <p:nvPr/>
        </p:nvSpPr>
        <p:spPr bwMode="gray">
          <a:xfrm>
            <a:off x="9643511" y="2163610"/>
            <a:ext cx="506121" cy="2082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400" dirty="0" smtClean="0"/>
              <a:t>T3</a:t>
            </a:r>
          </a:p>
        </p:txBody>
      </p:sp>
      <p:sp>
        <p:nvSpPr>
          <p:cNvPr id="202" name="TextBox 201"/>
          <p:cNvSpPr txBox="1"/>
          <p:nvPr/>
        </p:nvSpPr>
        <p:spPr bwMode="gray">
          <a:xfrm>
            <a:off x="10778797" y="2159209"/>
            <a:ext cx="506121" cy="2082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IN" sz="1400" dirty="0" smtClean="0"/>
              <a:t>T4</a:t>
            </a:r>
          </a:p>
        </p:txBody>
      </p:sp>
      <p:sp>
        <p:nvSpPr>
          <p:cNvPr id="204" name="Rectangle 203"/>
          <p:cNvSpPr>
            <a:spLocks noChangeArrowheads="1"/>
          </p:cNvSpPr>
          <p:nvPr/>
        </p:nvSpPr>
        <p:spPr bwMode="auto">
          <a:xfrm>
            <a:off x="6883605" y="5692506"/>
            <a:ext cx="5199289" cy="307777"/>
          </a:xfrm>
          <a:prstGeom prst="rect">
            <a:avLst/>
          </a:prstGeom>
          <a:solidFill>
            <a:srgbClr val="002D72"/>
          </a:solidFill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b="1" dirty="0" smtClean="0">
                <a:solidFill>
                  <a:srgbClr val="FFFFFF"/>
                </a:solidFill>
                <a:latin typeface="+mj-lt"/>
              </a:rPr>
              <a:t>Benefits of Desired State</a:t>
            </a:r>
            <a:endParaRPr lang="en-US" sz="1400" b="1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05" name="TextBox 204"/>
          <p:cNvSpPr txBox="1"/>
          <p:nvPr/>
        </p:nvSpPr>
        <p:spPr bwMode="gray">
          <a:xfrm>
            <a:off x="298530" y="6088664"/>
            <a:ext cx="5033866" cy="61111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IN" sz="1200" dirty="0" smtClean="0"/>
              <a:t>Redundant costs – Data store, infrastructure, network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IN" sz="1200" dirty="0" smtClean="0"/>
              <a:t>No Common platform to generate insights across clusters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IN" sz="1200" dirty="0" smtClean="0"/>
              <a:t>Opportunity Costs – Lost sales ,  ineffective campaigns</a:t>
            </a:r>
          </a:p>
        </p:txBody>
      </p:sp>
      <p:sp>
        <p:nvSpPr>
          <p:cNvPr id="206" name="TextBox 205"/>
          <p:cNvSpPr txBox="1"/>
          <p:nvPr/>
        </p:nvSpPr>
        <p:spPr bwMode="gray">
          <a:xfrm>
            <a:off x="6974032" y="6088664"/>
            <a:ext cx="4834336" cy="61111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IN" sz="1200" dirty="0" smtClean="0"/>
              <a:t>Economies of scale – Drive to common data infrastructure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IN" sz="1200" dirty="0" smtClean="0"/>
              <a:t>Centralised Data Management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IN" sz="1200" dirty="0" smtClean="0"/>
              <a:t>Collective Insight Generation</a:t>
            </a:r>
          </a:p>
        </p:txBody>
      </p:sp>
      <p:sp>
        <p:nvSpPr>
          <p:cNvPr id="207" name="Up-Down Arrow 206"/>
          <p:cNvSpPr/>
          <p:nvPr/>
        </p:nvSpPr>
        <p:spPr>
          <a:xfrm>
            <a:off x="7534936" y="2423755"/>
            <a:ext cx="261440" cy="335508"/>
          </a:xfrm>
          <a:prstGeom prst="up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8" name="Up-Down Arrow 207"/>
          <p:cNvSpPr/>
          <p:nvPr/>
        </p:nvSpPr>
        <p:spPr>
          <a:xfrm>
            <a:off x="8678755" y="2434968"/>
            <a:ext cx="261440" cy="335508"/>
          </a:xfrm>
          <a:prstGeom prst="up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" name="Up-Down Arrow 208"/>
          <p:cNvSpPr/>
          <p:nvPr/>
        </p:nvSpPr>
        <p:spPr>
          <a:xfrm>
            <a:off x="9784644" y="2430204"/>
            <a:ext cx="261440" cy="335508"/>
          </a:xfrm>
          <a:prstGeom prst="up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0" name="Up-Down Arrow 209"/>
          <p:cNvSpPr/>
          <p:nvPr/>
        </p:nvSpPr>
        <p:spPr>
          <a:xfrm>
            <a:off x="10912003" y="2441136"/>
            <a:ext cx="261440" cy="335508"/>
          </a:xfrm>
          <a:prstGeom prst="up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258366" y="4298765"/>
            <a:ext cx="953828" cy="18294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 smtClean="0">
                <a:solidFill>
                  <a:schemeClr val="tx1"/>
                </a:solidFill>
              </a:rPr>
              <a:t>Retail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211" name="Rectangle 210"/>
          <p:cNvSpPr/>
          <p:nvPr/>
        </p:nvSpPr>
        <p:spPr>
          <a:xfrm>
            <a:off x="8335478" y="4283247"/>
            <a:ext cx="1472665" cy="2021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 smtClean="0">
                <a:solidFill>
                  <a:schemeClr val="bg1"/>
                </a:solidFill>
              </a:rPr>
              <a:t>Finance Cluster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212" name="Rectangle 211"/>
          <p:cNvSpPr/>
          <p:nvPr/>
        </p:nvSpPr>
        <p:spPr>
          <a:xfrm>
            <a:off x="9932032" y="4298765"/>
            <a:ext cx="953828" cy="18307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 smtClean="0">
                <a:solidFill>
                  <a:schemeClr val="tx1"/>
                </a:solidFill>
              </a:rPr>
              <a:t>Hospitality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213" name="Rectangle 212"/>
          <p:cNvSpPr/>
          <p:nvPr/>
        </p:nvSpPr>
        <p:spPr>
          <a:xfrm>
            <a:off x="10931540" y="4301841"/>
            <a:ext cx="953828" cy="17987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 smtClean="0">
                <a:solidFill>
                  <a:schemeClr val="tx1"/>
                </a:solidFill>
              </a:rPr>
              <a:t>Utilities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215" name="Rounded Rectangle 214"/>
          <p:cNvSpPr/>
          <p:nvPr/>
        </p:nvSpPr>
        <p:spPr bwMode="auto">
          <a:xfrm>
            <a:off x="7181724" y="4043784"/>
            <a:ext cx="3597074" cy="737981"/>
          </a:xfrm>
          <a:prstGeom prst="roundRect">
            <a:avLst/>
          </a:prstGeom>
          <a:noFill/>
          <a:ln w="3175" cap="flat" cmpd="sng" algn="ctr">
            <a:solidFill>
              <a:srgbClr val="00308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700" u="sng" kern="0" dirty="0">
              <a:solidFill>
                <a:srgbClr val="003082"/>
              </a:solidFill>
              <a:latin typeface="+mj-lt"/>
              <a:cs typeface="Arial" pitchFamily="34" charset="0"/>
            </a:endParaRPr>
          </a:p>
        </p:txBody>
      </p:sp>
      <p:sp>
        <p:nvSpPr>
          <p:cNvPr id="217" name="Rounded Rectangle 216"/>
          <p:cNvSpPr/>
          <p:nvPr/>
        </p:nvSpPr>
        <p:spPr bwMode="auto">
          <a:xfrm>
            <a:off x="8422143" y="4140625"/>
            <a:ext cx="3496588" cy="986978"/>
          </a:xfrm>
          <a:prstGeom prst="roundRect">
            <a:avLst/>
          </a:prstGeom>
          <a:noFill/>
          <a:ln w="3175" cap="flat" cmpd="sng" algn="ctr">
            <a:solidFill>
              <a:srgbClr val="00308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700" u="sng" kern="0" dirty="0">
              <a:solidFill>
                <a:srgbClr val="003082"/>
              </a:solidFill>
              <a:latin typeface="+mj-lt"/>
              <a:cs typeface="Arial" pitchFamily="34" charset="0"/>
            </a:endParaRPr>
          </a:p>
        </p:txBody>
      </p:sp>
      <p:sp>
        <p:nvSpPr>
          <p:cNvPr id="218" name="Up-Down Arrow 217"/>
          <p:cNvSpPr/>
          <p:nvPr/>
        </p:nvSpPr>
        <p:spPr>
          <a:xfrm>
            <a:off x="7567221" y="4781765"/>
            <a:ext cx="258029" cy="620667"/>
          </a:xfrm>
          <a:prstGeom prst="up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Up-Down Arrow 20"/>
          <p:cNvSpPr/>
          <p:nvPr/>
        </p:nvSpPr>
        <p:spPr>
          <a:xfrm>
            <a:off x="9863474" y="5111837"/>
            <a:ext cx="162488" cy="306361"/>
          </a:xfrm>
          <a:prstGeom prst="up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Oval 103"/>
          <p:cNvSpPr/>
          <p:nvPr/>
        </p:nvSpPr>
        <p:spPr>
          <a:xfrm>
            <a:off x="8210348" y="4119619"/>
            <a:ext cx="1694047" cy="442762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Right Arrow 107"/>
          <p:cNvSpPr/>
          <p:nvPr/>
        </p:nvSpPr>
        <p:spPr>
          <a:xfrm>
            <a:off x="6084166" y="3962681"/>
            <a:ext cx="2410182" cy="3343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 smtClean="0">
                <a:solidFill>
                  <a:schemeClr val="tx1"/>
                </a:solidFill>
              </a:rPr>
              <a:t>Near Term Focus (6 months)</a:t>
            </a:r>
            <a:endParaRPr lang="en-IN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28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130061" y="2033481"/>
            <a:ext cx="9825482" cy="1822514"/>
          </a:xfrm>
        </p:spPr>
        <p:txBody>
          <a:bodyPr/>
          <a:lstStyle/>
          <a:p>
            <a:pPr algn="ctr"/>
            <a:r>
              <a:rPr lang="en-US" dirty="0" smtClean="0"/>
              <a:t>Operating Model, Next Steps and Support Needed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51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Tata AIA life and Consumer Analytics Division symbiosis 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94249" y="189830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Business insights is a intersection of domain knowledge, analytical solutions that harness data through analytical tools and infrastructure</a:t>
            </a:r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28357" y="1763914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471662" y="2765412"/>
            <a:ext cx="3315890" cy="1961900"/>
            <a:chOff x="2914054" y="796329"/>
            <a:chExt cx="2553890" cy="3071140"/>
          </a:xfrm>
        </p:grpSpPr>
        <p:sp>
          <p:nvSpPr>
            <p:cNvPr id="21" name="Rectangle 20"/>
            <p:cNvSpPr/>
            <p:nvPr/>
          </p:nvSpPr>
          <p:spPr>
            <a:xfrm>
              <a:off x="2914054" y="796329"/>
              <a:ext cx="2553890" cy="3071140"/>
            </a:xfrm>
            <a:prstGeom prst="rect">
              <a:avLst/>
            </a:prstGeom>
            <a:solidFill>
              <a:srgbClr val="99ABC7">
                <a:tint val="40000"/>
                <a:alpha val="90000"/>
                <a:hueOff val="-441977"/>
                <a:satOff val="28798"/>
                <a:lumOff val="-291"/>
                <a:alphaOff val="0"/>
              </a:srgbClr>
            </a:solidFill>
            <a:ln w="9525" cap="flat" cmpd="sng" algn="ctr">
              <a:solidFill>
                <a:srgbClr val="99ABC7">
                  <a:tint val="40000"/>
                  <a:alpha val="90000"/>
                  <a:hueOff val="-441977"/>
                  <a:satOff val="28798"/>
                  <a:lumOff val="-291"/>
                  <a:alphaOff val="0"/>
                  <a:shade val="95000"/>
                  <a:satMod val="105000"/>
                </a:srgbClr>
              </a:solidFill>
              <a:prstDash val="solid"/>
            </a:ln>
            <a:effectLst/>
          </p:spPr>
        </p:sp>
        <p:sp>
          <p:nvSpPr>
            <p:cNvPr id="22" name="Rectangle 21"/>
            <p:cNvSpPr/>
            <p:nvPr/>
          </p:nvSpPr>
          <p:spPr>
            <a:xfrm>
              <a:off x="2914054" y="796329"/>
              <a:ext cx="2553890" cy="30711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74676" tIns="74676" rIns="99568" bIns="112014" numCol="1" spcCol="1270" anchor="ctr" anchorCtr="0">
              <a:noAutofit/>
            </a:bodyPr>
            <a:lstStyle/>
            <a:p>
              <a:pPr marL="114300" lvl="1" indent="-114300" defTabSz="62230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Tx/>
                <a:buChar char="••"/>
                <a:defRPr/>
              </a:pPr>
              <a:r>
                <a:rPr lang="en-US" sz="1400" kern="0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</a:rPr>
                <a:t> Insurance Domain and Regulatory environment know-how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Tx/>
                <a:buChar char="••"/>
                <a:defRPr/>
              </a:pPr>
              <a:r>
                <a:rPr lang="en-US" sz="1400" kern="0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</a:rPr>
                <a:t> Data and Systems know-how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Tx/>
                <a:buChar char="••"/>
                <a:defRPr/>
              </a:pPr>
              <a:r>
                <a:rPr lang="en-US" sz="1400" kern="0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</a:rPr>
                <a:t>Overall governance and   prioritization to steer analytics agenda</a:t>
              </a:r>
            </a:p>
          </p:txBody>
        </p:sp>
      </p:grpSp>
      <p:sp>
        <p:nvSpPr>
          <p:cNvPr id="32" name="Rectangle 31"/>
          <p:cNvSpPr/>
          <p:nvPr/>
        </p:nvSpPr>
        <p:spPr bwMode="auto">
          <a:xfrm>
            <a:off x="471662" y="1997221"/>
            <a:ext cx="3315890" cy="768191"/>
          </a:xfrm>
          <a:prstGeom prst="rect">
            <a:avLst/>
          </a:prstGeom>
          <a:solidFill>
            <a:schemeClr val="accent5">
              <a:lumMod val="75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kern="0" dirty="0" smtClean="0">
                <a:solidFill>
                  <a:srgbClr val="FFFFFF"/>
                </a:solidFill>
                <a:ea typeface="ヒラギノ角ゴ Pro W3" pitchFamily="124" charset="-128"/>
              </a:rPr>
              <a:t>Tata AIA Life</a:t>
            </a:r>
          </a:p>
        </p:txBody>
      </p:sp>
      <p:sp>
        <p:nvSpPr>
          <p:cNvPr id="34" name="Freeform 124"/>
          <p:cNvSpPr>
            <a:spLocks/>
          </p:cNvSpPr>
          <p:nvPr/>
        </p:nvSpPr>
        <p:spPr bwMode="auto">
          <a:xfrm>
            <a:off x="547862" y="2302021"/>
            <a:ext cx="234950" cy="296862"/>
          </a:xfrm>
          <a:custGeom>
            <a:avLst/>
            <a:gdLst>
              <a:gd name="T0" fmla="*/ 15 w 148"/>
              <a:gd name="T1" fmla="*/ 185 h 187"/>
              <a:gd name="T2" fmla="*/ 2 w 148"/>
              <a:gd name="T3" fmla="*/ 172 h 187"/>
              <a:gd name="T4" fmla="*/ 0 w 148"/>
              <a:gd name="T5" fmla="*/ 123 h 187"/>
              <a:gd name="T6" fmla="*/ 4 w 148"/>
              <a:gd name="T7" fmla="*/ 108 h 187"/>
              <a:gd name="T8" fmla="*/ 20 w 148"/>
              <a:gd name="T9" fmla="*/ 98 h 187"/>
              <a:gd name="T10" fmla="*/ 39 w 148"/>
              <a:gd name="T11" fmla="*/ 98 h 187"/>
              <a:gd name="T12" fmla="*/ 45 w 148"/>
              <a:gd name="T13" fmla="*/ 96 h 187"/>
              <a:gd name="T14" fmla="*/ 46 w 148"/>
              <a:gd name="T15" fmla="*/ 82 h 187"/>
              <a:gd name="T16" fmla="*/ 39 w 148"/>
              <a:gd name="T17" fmla="*/ 75 h 187"/>
              <a:gd name="T18" fmla="*/ 30 w 148"/>
              <a:gd name="T19" fmla="*/ 55 h 187"/>
              <a:gd name="T20" fmla="*/ 29 w 148"/>
              <a:gd name="T21" fmla="*/ 46 h 187"/>
              <a:gd name="T22" fmla="*/ 36 w 148"/>
              <a:gd name="T23" fmla="*/ 20 h 187"/>
              <a:gd name="T24" fmla="*/ 65 w 148"/>
              <a:gd name="T25" fmla="*/ 0 h 187"/>
              <a:gd name="T26" fmla="*/ 74 w 148"/>
              <a:gd name="T27" fmla="*/ 0 h 187"/>
              <a:gd name="T28" fmla="*/ 99 w 148"/>
              <a:gd name="T29" fmla="*/ 7 h 187"/>
              <a:gd name="T30" fmla="*/ 119 w 148"/>
              <a:gd name="T31" fmla="*/ 36 h 187"/>
              <a:gd name="T32" fmla="*/ 120 w 148"/>
              <a:gd name="T33" fmla="*/ 46 h 187"/>
              <a:gd name="T34" fmla="*/ 115 w 148"/>
              <a:gd name="T35" fmla="*/ 66 h 187"/>
              <a:gd name="T36" fmla="*/ 102 w 148"/>
              <a:gd name="T37" fmla="*/ 82 h 187"/>
              <a:gd name="T38" fmla="*/ 99 w 148"/>
              <a:gd name="T39" fmla="*/ 83 h 187"/>
              <a:gd name="T40" fmla="*/ 90 w 148"/>
              <a:gd name="T41" fmla="*/ 80 h 187"/>
              <a:gd name="T42" fmla="*/ 89 w 148"/>
              <a:gd name="T43" fmla="*/ 70 h 187"/>
              <a:gd name="T44" fmla="*/ 95 w 148"/>
              <a:gd name="T45" fmla="*/ 62 h 187"/>
              <a:gd name="T46" fmla="*/ 101 w 148"/>
              <a:gd name="T47" fmla="*/ 46 h 187"/>
              <a:gd name="T48" fmla="*/ 97 w 148"/>
              <a:gd name="T49" fmla="*/ 30 h 187"/>
              <a:gd name="T50" fmla="*/ 80 w 148"/>
              <a:gd name="T51" fmla="*/ 19 h 187"/>
              <a:gd name="T52" fmla="*/ 69 w 148"/>
              <a:gd name="T53" fmla="*/ 19 h 187"/>
              <a:gd name="T54" fmla="*/ 52 w 148"/>
              <a:gd name="T55" fmla="*/ 30 h 187"/>
              <a:gd name="T56" fmla="*/ 47 w 148"/>
              <a:gd name="T57" fmla="*/ 46 h 187"/>
              <a:gd name="T58" fmla="*/ 51 w 148"/>
              <a:gd name="T59" fmla="*/ 60 h 187"/>
              <a:gd name="T60" fmla="*/ 57 w 148"/>
              <a:gd name="T61" fmla="*/ 67 h 187"/>
              <a:gd name="T62" fmla="*/ 64 w 148"/>
              <a:gd name="T63" fmla="*/ 72 h 187"/>
              <a:gd name="T64" fmla="*/ 62 w 148"/>
              <a:gd name="T65" fmla="*/ 102 h 187"/>
              <a:gd name="T66" fmla="*/ 56 w 148"/>
              <a:gd name="T67" fmla="*/ 110 h 187"/>
              <a:gd name="T68" fmla="*/ 39 w 148"/>
              <a:gd name="T69" fmla="*/ 116 h 187"/>
              <a:gd name="T70" fmla="*/ 22 w 148"/>
              <a:gd name="T71" fmla="*/ 117 h 187"/>
              <a:gd name="T72" fmla="*/ 18 w 148"/>
              <a:gd name="T73" fmla="*/ 123 h 187"/>
              <a:gd name="T74" fmla="*/ 20 w 148"/>
              <a:gd name="T75" fmla="*/ 167 h 187"/>
              <a:gd name="T76" fmla="*/ 123 w 148"/>
              <a:gd name="T77" fmla="*/ 169 h 187"/>
              <a:gd name="T78" fmla="*/ 129 w 148"/>
              <a:gd name="T79" fmla="*/ 164 h 187"/>
              <a:gd name="T80" fmla="*/ 129 w 148"/>
              <a:gd name="T81" fmla="*/ 128 h 187"/>
              <a:gd name="T82" fmla="*/ 128 w 148"/>
              <a:gd name="T83" fmla="*/ 121 h 187"/>
              <a:gd name="T84" fmla="*/ 124 w 148"/>
              <a:gd name="T85" fmla="*/ 116 h 187"/>
              <a:gd name="T86" fmla="*/ 113 w 148"/>
              <a:gd name="T87" fmla="*/ 116 h 187"/>
              <a:gd name="T88" fmla="*/ 108 w 148"/>
              <a:gd name="T89" fmla="*/ 116 h 187"/>
              <a:gd name="T90" fmla="*/ 100 w 148"/>
              <a:gd name="T91" fmla="*/ 110 h 187"/>
              <a:gd name="T92" fmla="*/ 100 w 148"/>
              <a:gd name="T93" fmla="*/ 103 h 187"/>
              <a:gd name="T94" fmla="*/ 108 w 148"/>
              <a:gd name="T95" fmla="*/ 98 h 187"/>
              <a:gd name="T96" fmla="*/ 123 w 148"/>
              <a:gd name="T97" fmla="*/ 98 h 187"/>
              <a:gd name="T98" fmla="*/ 139 w 148"/>
              <a:gd name="T99" fmla="*/ 105 h 187"/>
              <a:gd name="T100" fmla="*/ 144 w 148"/>
              <a:gd name="T101" fmla="*/ 113 h 187"/>
              <a:gd name="T102" fmla="*/ 148 w 148"/>
              <a:gd name="T103" fmla="*/ 128 h 187"/>
              <a:gd name="T104" fmla="*/ 145 w 148"/>
              <a:gd name="T105" fmla="*/ 172 h 187"/>
              <a:gd name="T106" fmla="*/ 132 w 148"/>
              <a:gd name="T107" fmla="*/ 185 h 187"/>
              <a:gd name="T108" fmla="*/ 25 w 148"/>
              <a:gd name="T109" fmla="*/ 187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48" h="187">
                <a:moveTo>
                  <a:pt x="25" y="187"/>
                </a:moveTo>
                <a:lnTo>
                  <a:pt x="25" y="187"/>
                </a:lnTo>
                <a:lnTo>
                  <a:pt x="20" y="186"/>
                </a:lnTo>
                <a:lnTo>
                  <a:pt x="15" y="185"/>
                </a:lnTo>
                <a:lnTo>
                  <a:pt x="11" y="183"/>
                </a:lnTo>
                <a:lnTo>
                  <a:pt x="7" y="180"/>
                </a:lnTo>
                <a:lnTo>
                  <a:pt x="4" y="176"/>
                </a:lnTo>
                <a:lnTo>
                  <a:pt x="2" y="172"/>
                </a:lnTo>
                <a:lnTo>
                  <a:pt x="1" y="167"/>
                </a:lnTo>
                <a:lnTo>
                  <a:pt x="0" y="162"/>
                </a:lnTo>
                <a:lnTo>
                  <a:pt x="0" y="162"/>
                </a:lnTo>
                <a:lnTo>
                  <a:pt x="0" y="123"/>
                </a:lnTo>
                <a:lnTo>
                  <a:pt x="0" y="123"/>
                </a:lnTo>
                <a:lnTo>
                  <a:pt x="1" y="118"/>
                </a:lnTo>
                <a:lnTo>
                  <a:pt x="2" y="113"/>
                </a:lnTo>
                <a:lnTo>
                  <a:pt x="4" y="108"/>
                </a:lnTo>
                <a:lnTo>
                  <a:pt x="7" y="105"/>
                </a:lnTo>
                <a:lnTo>
                  <a:pt x="11" y="101"/>
                </a:lnTo>
                <a:lnTo>
                  <a:pt x="15" y="99"/>
                </a:lnTo>
                <a:lnTo>
                  <a:pt x="20" y="98"/>
                </a:lnTo>
                <a:lnTo>
                  <a:pt x="25" y="98"/>
                </a:lnTo>
                <a:lnTo>
                  <a:pt x="25" y="98"/>
                </a:lnTo>
                <a:lnTo>
                  <a:pt x="39" y="98"/>
                </a:lnTo>
                <a:lnTo>
                  <a:pt x="39" y="98"/>
                </a:lnTo>
                <a:lnTo>
                  <a:pt x="43" y="97"/>
                </a:lnTo>
                <a:lnTo>
                  <a:pt x="45" y="96"/>
                </a:lnTo>
                <a:lnTo>
                  <a:pt x="45" y="96"/>
                </a:lnTo>
                <a:lnTo>
                  <a:pt x="45" y="96"/>
                </a:lnTo>
                <a:lnTo>
                  <a:pt x="45" y="95"/>
                </a:lnTo>
                <a:lnTo>
                  <a:pt x="46" y="92"/>
                </a:lnTo>
                <a:lnTo>
                  <a:pt x="46" y="92"/>
                </a:lnTo>
                <a:lnTo>
                  <a:pt x="46" y="82"/>
                </a:lnTo>
                <a:lnTo>
                  <a:pt x="46" y="82"/>
                </a:lnTo>
                <a:lnTo>
                  <a:pt x="43" y="79"/>
                </a:lnTo>
                <a:lnTo>
                  <a:pt x="39" y="75"/>
                </a:lnTo>
                <a:lnTo>
                  <a:pt x="39" y="75"/>
                </a:lnTo>
                <a:lnTo>
                  <a:pt x="39" y="75"/>
                </a:lnTo>
                <a:lnTo>
                  <a:pt x="36" y="70"/>
                </a:lnTo>
                <a:lnTo>
                  <a:pt x="32" y="63"/>
                </a:lnTo>
                <a:lnTo>
                  <a:pt x="30" y="55"/>
                </a:lnTo>
                <a:lnTo>
                  <a:pt x="29" y="50"/>
                </a:lnTo>
                <a:lnTo>
                  <a:pt x="29" y="46"/>
                </a:lnTo>
                <a:lnTo>
                  <a:pt x="29" y="46"/>
                </a:lnTo>
                <a:lnTo>
                  <a:pt x="29" y="46"/>
                </a:lnTo>
                <a:lnTo>
                  <a:pt x="29" y="41"/>
                </a:lnTo>
                <a:lnTo>
                  <a:pt x="30" y="36"/>
                </a:lnTo>
                <a:lnTo>
                  <a:pt x="33" y="28"/>
                </a:lnTo>
                <a:lnTo>
                  <a:pt x="36" y="20"/>
                </a:lnTo>
                <a:lnTo>
                  <a:pt x="42" y="14"/>
                </a:lnTo>
                <a:lnTo>
                  <a:pt x="49" y="7"/>
                </a:lnTo>
                <a:lnTo>
                  <a:pt x="57" y="4"/>
                </a:lnTo>
                <a:lnTo>
                  <a:pt x="65" y="0"/>
                </a:lnTo>
                <a:lnTo>
                  <a:pt x="70" y="0"/>
                </a:lnTo>
                <a:lnTo>
                  <a:pt x="74" y="0"/>
                </a:lnTo>
                <a:lnTo>
                  <a:pt x="74" y="0"/>
                </a:lnTo>
                <a:lnTo>
                  <a:pt x="74" y="0"/>
                </a:lnTo>
                <a:lnTo>
                  <a:pt x="79" y="0"/>
                </a:lnTo>
                <a:lnTo>
                  <a:pt x="83" y="0"/>
                </a:lnTo>
                <a:lnTo>
                  <a:pt x="92" y="4"/>
                </a:lnTo>
                <a:lnTo>
                  <a:pt x="99" y="7"/>
                </a:lnTo>
                <a:lnTo>
                  <a:pt x="106" y="14"/>
                </a:lnTo>
                <a:lnTo>
                  <a:pt x="112" y="20"/>
                </a:lnTo>
                <a:lnTo>
                  <a:pt x="116" y="28"/>
                </a:lnTo>
                <a:lnTo>
                  <a:pt x="119" y="36"/>
                </a:lnTo>
                <a:lnTo>
                  <a:pt x="120" y="41"/>
                </a:lnTo>
                <a:lnTo>
                  <a:pt x="120" y="46"/>
                </a:lnTo>
                <a:lnTo>
                  <a:pt x="120" y="46"/>
                </a:lnTo>
                <a:lnTo>
                  <a:pt x="120" y="46"/>
                </a:lnTo>
                <a:lnTo>
                  <a:pt x="119" y="51"/>
                </a:lnTo>
                <a:lnTo>
                  <a:pt x="118" y="56"/>
                </a:lnTo>
                <a:lnTo>
                  <a:pt x="117" y="61"/>
                </a:lnTo>
                <a:lnTo>
                  <a:pt x="115" y="66"/>
                </a:lnTo>
                <a:lnTo>
                  <a:pt x="113" y="70"/>
                </a:lnTo>
                <a:lnTo>
                  <a:pt x="110" y="74"/>
                </a:lnTo>
                <a:lnTo>
                  <a:pt x="106" y="78"/>
                </a:lnTo>
                <a:lnTo>
                  <a:pt x="102" y="82"/>
                </a:lnTo>
                <a:lnTo>
                  <a:pt x="102" y="82"/>
                </a:lnTo>
                <a:lnTo>
                  <a:pt x="102" y="82"/>
                </a:lnTo>
                <a:lnTo>
                  <a:pt x="102" y="82"/>
                </a:lnTo>
                <a:lnTo>
                  <a:pt x="99" y="83"/>
                </a:lnTo>
                <a:lnTo>
                  <a:pt x="96" y="83"/>
                </a:lnTo>
                <a:lnTo>
                  <a:pt x="92" y="82"/>
                </a:lnTo>
                <a:lnTo>
                  <a:pt x="90" y="80"/>
                </a:lnTo>
                <a:lnTo>
                  <a:pt x="90" y="80"/>
                </a:lnTo>
                <a:lnTo>
                  <a:pt x="90" y="80"/>
                </a:lnTo>
                <a:lnTo>
                  <a:pt x="88" y="77"/>
                </a:lnTo>
                <a:lnTo>
                  <a:pt x="88" y="73"/>
                </a:lnTo>
                <a:lnTo>
                  <a:pt x="89" y="70"/>
                </a:lnTo>
                <a:lnTo>
                  <a:pt x="91" y="67"/>
                </a:lnTo>
                <a:lnTo>
                  <a:pt x="91" y="67"/>
                </a:lnTo>
                <a:lnTo>
                  <a:pt x="91" y="67"/>
                </a:lnTo>
                <a:lnTo>
                  <a:pt x="95" y="62"/>
                </a:lnTo>
                <a:lnTo>
                  <a:pt x="98" y="58"/>
                </a:lnTo>
                <a:lnTo>
                  <a:pt x="101" y="52"/>
                </a:lnTo>
                <a:lnTo>
                  <a:pt x="101" y="46"/>
                </a:lnTo>
                <a:lnTo>
                  <a:pt x="101" y="46"/>
                </a:lnTo>
                <a:lnTo>
                  <a:pt x="101" y="46"/>
                </a:lnTo>
                <a:lnTo>
                  <a:pt x="101" y="40"/>
                </a:lnTo>
                <a:lnTo>
                  <a:pt x="99" y="35"/>
                </a:lnTo>
                <a:lnTo>
                  <a:pt x="97" y="30"/>
                </a:lnTo>
                <a:lnTo>
                  <a:pt x="93" y="26"/>
                </a:lnTo>
                <a:lnTo>
                  <a:pt x="89" y="23"/>
                </a:lnTo>
                <a:lnTo>
                  <a:pt x="85" y="20"/>
                </a:lnTo>
                <a:lnTo>
                  <a:pt x="80" y="19"/>
                </a:lnTo>
                <a:lnTo>
                  <a:pt x="74" y="18"/>
                </a:lnTo>
                <a:lnTo>
                  <a:pt x="74" y="18"/>
                </a:lnTo>
                <a:lnTo>
                  <a:pt x="74" y="18"/>
                </a:lnTo>
                <a:lnTo>
                  <a:pt x="69" y="19"/>
                </a:lnTo>
                <a:lnTo>
                  <a:pt x="64" y="20"/>
                </a:lnTo>
                <a:lnTo>
                  <a:pt x="59" y="23"/>
                </a:lnTo>
                <a:lnTo>
                  <a:pt x="55" y="26"/>
                </a:lnTo>
                <a:lnTo>
                  <a:pt x="52" y="30"/>
                </a:lnTo>
                <a:lnTo>
                  <a:pt x="49" y="35"/>
                </a:lnTo>
                <a:lnTo>
                  <a:pt x="48" y="40"/>
                </a:lnTo>
                <a:lnTo>
                  <a:pt x="47" y="46"/>
                </a:lnTo>
                <a:lnTo>
                  <a:pt x="47" y="46"/>
                </a:lnTo>
                <a:lnTo>
                  <a:pt x="47" y="46"/>
                </a:lnTo>
                <a:lnTo>
                  <a:pt x="48" y="51"/>
                </a:lnTo>
                <a:lnTo>
                  <a:pt x="49" y="56"/>
                </a:lnTo>
                <a:lnTo>
                  <a:pt x="51" y="60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7" y="67"/>
                </a:lnTo>
                <a:lnTo>
                  <a:pt x="60" y="69"/>
                </a:lnTo>
                <a:lnTo>
                  <a:pt x="60" y="69"/>
                </a:lnTo>
                <a:lnTo>
                  <a:pt x="60" y="69"/>
                </a:lnTo>
                <a:lnTo>
                  <a:pt x="64" y="72"/>
                </a:lnTo>
                <a:lnTo>
                  <a:pt x="64" y="92"/>
                </a:lnTo>
                <a:lnTo>
                  <a:pt x="64" y="92"/>
                </a:lnTo>
                <a:lnTo>
                  <a:pt x="64" y="98"/>
                </a:lnTo>
                <a:lnTo>
                  <a:pt x="62" y="102"/>
                </a:lnTo>
                <a:lnTo>
                  <a:pt x="60" y="107"/>
                </a:lnTo>
                <a:lnTo>
                  <a:pt x="56" y="110"/>
                </a:lnTo>
                <a:lnTo>
                  <a:pt x="56" y="110"/>
                </a:lnTo>
                <a:lnTo>
                  <a:pt x="56" y="110"/>
                </a:lnTo>
                <a:lnTo>
                  <a:pt x="52" y="113"/>
                </a:lnTo>
                <a:lnTo>
                  <a:pt x="49" y="114"/>
                </a:lnTo>
                <a:lnTo>
                  <a:pt x="44" y="115"/>
                </a:lnTo>
                <a:lnTo>
                  <a:pt x="39" y="116"/>
                </a:lnTo>
                <a:lnTo>
                  <a:pt x="39" y="116"/>
                </a:lnTo>
                <a:lnTo>
                  <a:pt x="25" y="116"/>
                </a:lnTo>
                <a:lnTo>
                  <a:pt x="25" y="116"/>
                </a:lnTo>
                <a:lnTo>
                  <a:pt x="22" y="117"/>
                </a:lnTo>
                <a:lnTo>
                  <a:pt x="20" y="118"/>
                </a:lnTo>
                <a:lnTo>
                  <a:pt x="19" y="120"/>
                </a:lnTo>
                <a:lnTo>
                  <a:pt x="18" y="123"/>
                </a:lnTo>
                <a:lnTo>
                  <a:pt x="18" y="123"/>
                </a:lnTo>
                <a:lnTo>
                  <a:pt x="18" y="162"/>
                </a:lnTo>
                <a:lnTo>
                  <a:pt x="18" y="162"/>
                </a:lnTo>
                <a:lnTo>
                  <a:pt x="19" y="164"/>
                </a:lnTo>
                <a:lnTo>
                  <a:pt x="20" y="167"/>
                </a:lnTo>
                <a:lnTo>
                  <a:pt x="22" y="168"/>
                </a:lnTo>
                <a:lnTo>
                  <a:pt x="25" y="169"/>
                </a:lnTo>
                <a:lnTo>
                  <a:pt x="25" y="169"/>
                </a:lnTo>
                <a:lnTo>
                  <a:pt x="123" y="169"/>
                </a:lnTo>
                <a:lnTo>
                  <a:pt x="123" y="169"/>
                </a:lnTo>
                <a:lnTo>
                  <a:pt x="126" y="168"/>
                </a:lnTo>
                <a:lnTo>
                  <a:pt x="127" y="167"/>
                </a:lnTo>
                <a:lnTo>
                  <a:pt x="129" y="164"/>
                </a:lnTo>
                <a:lnTo>
                  <a:pt x="129" y="162"/>
                </a:lnTo>
                <a:lnTo>
                  <a:pt x="129" y="162"/>
                </a:lnTo>
                <a:lnTo>
                  <a:pt x="129" y="128"/>
                </a:lnTo>
                <a:lnTo>
                  <a:pt x="129" y="128"/>
                </a:lnTo>
                <a:lnTo>
                  <a:pt x="129" y="124"/>
                </a:lnTo>
                <a:lnTo>
                  <a:pt x="128" y="121"/>
                </a:lnTo>
                <a:lnTo>
                  <a:pt x="128" y="121"/>
                </a:lnTo>
                <a:lnTo>
                  <a:pt x="128" y="121"/>
                </a:lnTo>
                <a:lnTo>
                  <a:pt x="126" y="118"/>
                </a:lnTo>
                <a:lnTo>
                  <a:pt x="124" y="116"/>
                </a:lnTo>
                <a:lnTo>
                  <a:pt x="124" y="116"/>
                </a:lnTo>
                <a:lnTo>
                  <a:pt x="124" y="116"/>
                </a:lnTo>
                <a:lnTo>
                  <a:pt x="123" y="116"/>
                </a:lnTo>
                <a:lnTo>
                  <a:pt x="123" y="116"/>
                </a:lnTo>
                <a:lnTo>
                  <a:pt x="123" y="116"/>
                </a:lnTo>
                <a:lnTo>
                  <a:pt x="113" y="116"/>
                </a:lnTo>
                <a:lnTo>
                  <a:pt x="113" y="116"/>
                </a:lnTo>
                <a:lnTo>
                  <a:pt x="113" y="116"/>
                </a:lnTo>
                <a:lnTo>
                  <a:pt x="108" y="116"/>
                </a:lnTo>
                <a:lnTo>
                  <a:pt x="108" y="116"/>
                </a:lnTo>
                <a:lnTo>
                  <a:pt x="108" y="116"/>
                </a:lnTo>
                <a:lnTo>
                  <a:pt x="104" y="115"/>
                </a:lnTo>
                <a:lnTo>
                  <a:pt x="101" y="113"/>
                </a:lnTo>
                <a:lnTo>
                  <a:pt x="100" y="110"/>
                </a:lnTo>
                <a:lnTo>
                  <a:pt x="99" y="107"/>
                </a:lnTo>
                <a:lnTo>
                  <a:pt x="99" y="107"/>
                </a:lnTo>
                <a:lnTo>
                  <a:pt x="99" y="107"/>
                </a:lnTo>
                <a:lnTo>
                  <a:pt x="100" y="103"/>
                </a:lnTo>
                <a:lnTo>
                  <a:pt x="101" y="100"/>
                </a:lnTo>
                <a:lnTo>
                  <a:pt x="104" y="98"/>
                </a:lnTo>
                <a:lnTo>
                  <a:pt x="108" y="98"/>
                </a:lnTo>
                <a:lnTo>
                  <a:pt x="108" y="98"/>
                </a:lnTo>
                <a:lnTo>
                  <a:pt x="108" y="98"/>
                </a:lnTo>
                <a:lnTo>
                  <a:pt x="123" y="98"/>
                </a:lnTo>
                <a:lnTo>
                  <a:pt x="123" y="98"/>
                </a:lnTo>
                <a:lnTo>
                  <a:pt x="123" y="98"/>
                </a:lnTo>
                <a:lnTo>
                  <a:pt x="126" y="98"/>
                </a:lnTo>
                <a:lnTo>
                  <a:pt x="129" y="98"/>
                </a:lnTo>
                <a:lnTo>
                  <a:pt x="134" y="101"/>
                </a:lnTo>
                <a:lnTo>
                  <a:pt x="139" y="105"/>
                </a:lnTo>
                <a:lnTo>
                  <a:pt x="142" y="108"/>
                </a:lnTo>
                <a:lnTo>
                  <a:pt x="142" y="108"/>
                </a:lnTo>
                <a:lnTo>
                  <a:pt x="142" y="108"/>
                </a:lnTo>
                <a:lnTo>
                  <a:pt x="144" y="113"/>
                </a:lnTo>
                <a:lnTo>
                  <a:pt x="146" y="118"/>
                </a:lnTo>
                <a:lnTo>
                  <a:pt x="147" y="122"/>
                </a:lnTo>
                <a:lnTo>
                  <a:pt x="148" y="128"/>
                </a:lnTo>
                <a:lnTo>
                  <a:pt x="148" y="128"/>
                </a:lnTo>
                <a:lnTo>
                  <a:pt x="148" y="162"/>
                </a:lnTo>
                <a:lnTo>
                  <a:pt x="148" y="162"/>
                </a:lnTo>
                <a:lnTo>
                  <a:pt x="147" y="167"/>
                </a:lnTo>
                <a:lnTo>
                  <a:pt x="145" y="172"/>
                </a:lnTo>
                <a:lnTo>
                  <a:pt x="143" y="176"/>
                </a:lnTo>
                <a:lnTo>
                  <a:pt x="140" y="180"/>
                </a:lnTo>
                <a:lnTo>
                  <a:pt x="136" y="183"/>
                </a:lnTo>
                <a:lnTo>
                  <a:pt x="132" y="185"/>
                </a:lnTo>
                <a:lnTo>
                  <a:pt x="128" y="186"/>
                </a:lnTo>
                <a:lnTo>
                  <a:pt x="123" y="187"/>
                </a:lnTo>
                <a:lnTo>
                  <a:pt x="123" y="187"/>
                </a:lnTo>
                <a:lnTo>
                  <a:pt x="25" y="187"/>
                </a:lnTo>
                <a:lnTo>
                  <a:pt x="25" y="1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>
              <a:defRPr/>
            </a:pPr>
            <a:endParaRPr lang="en-US" sz="1800" kern="0" smtClean="0">
              <a:solidFill>
                <a:srgbClr val="000000"/>
              </a:solidFill>
            </a:endParaRPr>
          </a:p>
        </p:txBody>
      </p:sp>
      <p:graphicFrame>
        <p:nvGraphicFramePr>
          <p:cNvPr id="27" name="Diagram 26"/>
          <p:cNvGraphicFramePr/>
          <p:nvPr/>
        </p:nvGraphicFramePr>
        <p:xfrm>
          <a:off x="2994511" y="1711106"/>
          <a:ext cx="6313103" cy="3640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42" name="Group 41"/>
          <p:cNvGrpSpPr/>
          <p:nvPr/>
        </p:nvGrpSpPr>
        <p:grpSpPr>
          <a:xfrm>
            <a:off x="8353148" y="2888914"/>
            <a:ext cx="3315890" cy="1771000"/>
            <a:chOff x="2914054" y="796329"/>
            <a:chExt cx="2553890" cy="3071140"/>
          </a:xfrm>
        </p:grpSpPr>
        <p:sp>
          <p:nvSpPr>
            <p:cNvPr id="43" name="Rectangle 42"/>
            <p:cNvSpPr/>
            <p:nvPr/>
          </p:nvSpPr>
          <p:spPr>
            <a:xfrm>
              <a:off x="2914054" y="796329"/>
              <a:ext cx="2553890" cy="3071140"/>
            </a:xfrm>
            <a:prstGeom prst="rect">
              <a:avLst/>
            </a:prstGeom>
            <a:solidFill>
              <a:srgbClr val="99ABC7">
                <a:tint val="40000"/>
                <a:alpha val="90000"/>
                <a:hueOff val="-441977"/>
                <a:satOff val="28798"/>
                <a:lumOff val="-291"/>
                <a:alphaOff val="0"/>
              </a:srgbClr>
            </a:solidFill>
            <a:ln w="9525" cap="flat" cmpd="sng" algn="ctr">
              <a:solidFill>
                <a:srgbClr val="99ABC7">
                  <a:tint val="40000"/>
                  <a:alpha val="90000"/>
                  <a:hueOff val="-441977"/>
                  <a:satOff val="28798"/>
                  <a:lumOff val="-291"/>
                  <a:alphaOff val="0"/>
                  <a:shade val="95000"/>
                  <a:satMod val="105000"/>
                </a:srgbClr>
              </a:solidFill>
              <a:prstDash val="solid"/>
            </a:ln>
            <a:effectLst/>
          </p:spPr>
        </p:sp>
        <p:sp>
          <p:nvSpPr>
            <p:cNvPr id="44" name="Rectangle 43"/>
            <p:cNvSpPr/>
            <p:nvPr/>
          </p:nvSpPr>
          <p:spPr>
            <a:xfrm>
              <a:off x="2914054" y="796329"/>
              <a:ext cx="2553890" cy="30711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74676" tIns="74676" rIns="99568" bIns="112014" numCol="1" spcCol="1270" anchor="ctr" anchorCtr="0">
              <a:noAutofit/>
            </a:bodyPr>
            <a:lstStyle/>
            <a:p>
              <a:pPr marL="114300" lvl="1" indent="-114300" defTabSz="62230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Tx/>
                <a:buChar char="••"/>
                <a:defRPr/>
              </a:pPr>
              <a:r>
                <a:rPr lang="en-US" sz="1400" kern="0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</a:rPr>
                <a:t>Information Management and Analytics Expertise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Tx/>
                <a:buChar char="••"/>
                <a:defRPr/>
              </a:pPr>
              <a:r>
                <a:rPr lang="en-US" sz="1400" kern="0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</a:rPr>
                <a:t>Deployable Industrial strength solutions  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Tx/>
                <a:buChar char="••"/>
                <a:defRPr/>
              </a:pPr>
              <a:r>
                <a:rPr lang="en-US" sz="1400" kern="0" dirty="0" smtClean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</a:rPr>
                <a:t>Quality execution, consistent delivery, and efficiency benefits</a:t>
              </a:r>
            </a:p>
          </p:txBody>
        </p:sp>
      </p:grpSp>
      <p:sp>
        <p:nvSpPr>
          <p:cNvPr id="45" name="Rectangle 44"/>
          <p:cNvSpPr/>
          <p:nvPr/>
        </p:nvSpPr>
        <p:spPr bwMode="auto">
          <a:xfrm>
            <a:off x="8353148" y="2053348"/>
            <a:ext cx="3315890" cy="768191"/>
          </a:xfrm>
          <a:prstGeom prst="rect">
            <a:avLst/>
          </a:prstGeom>
          <a:solidFill>
            <a:srgbClr val="002D72">
              <a:lumMod val="60000"/>
              <a:lumOff val="40000"/>
            </a:srgb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18288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kern="0" dirty="0" smtClean="0">
                <a:solidFill>
                  <a:srgbClr val="FFFFFF"/>
                </a:solidFill>
                <a:ea typeface="ヒラギノ角ゴ Pro W3" pitchFamily="124" charset="-128"/>
              </a:rPr>
              <a:t>Tata Consumer Analytics</a:t>
            </a:r>
          </a:p>
        </p:txBody>
      </p:sp>
      <p:sp>
        <p:nvSpPr>
          <p:cNvPr id="46" name="Freeform 124"/>
          <p:cNvSpPr>
            <a:spLocks/>
          </p:cNvSpPr>
          <p:nvPr/>
        </p:nvSpPr>
        <p:spPr bwMode="auto">
          <a:xfrm>
            <a:off x="8429348" y="2358148"/>
            <a:ext cx="234950" cy="296862"/>
          </a:xfrm>
          <a:custGeom>
            <a:avLst/>
            <a:gdLst>
              <a:gd name="T0" fmla="*/ 15 w 148"/>
              <a:gd name="T1" fmla="*/ 185 h 187"/>
              <a:gd name="T2" fmla="*/ 2 w 148"/>
              <a:gd name="T3" fmla="*/ 172 h 187"/>
              <a:gd name="T4" fmla="*/ 0 w 148"/>
              <a:gd name="T5" fmla="*/ 123 h 187"/>
              <a:gd name="T6" fmla="*/ 4 w 148"/>
              <a:gd name="T7" fmla="*/ 108 h 187"/>
              <a:gd name="T8" fmla="*/ 20 w 148"/>
              <a:gd name="T9" fmla="*/ 98 h 187"/>
              <a:gd name="T10" fmla="*/ 39 w 148"/>
              <a:gd name="T11" fmla="*/ 98 h 187"/>
              <a:gd name="T12" fmla="*/ 45 w 148"/>
              <a:gd name="T13" fmla="*/ 96 h 187"/>
              <a:gd name="T14" fmla="*/ 46 w 148"/>
              <a:gd name="T15" fmla="*/ 82 h 187"/>
              <a:gd name="T16" fmla="*/ 39 w 148"/>
              <a:gd name="T17" fmla="*/ 75 h 187"/>
              <a:gd name="T18" fmla="*/ 30 w 148"/>
              <a:gd name="T19" fmla="*/ 55 h 187"/>
              <a:gd name="T20" fmla="*/ 29 w 148"/>
              <a:gd name="T21" fmla="*/ 46 h 187"/>
              <a:gd name="T22" fmla="*/ 36 w 148"/>
              <a:gd name="T23" fmla="*/ 20 h 187"/>
              <a:gd name="T24" fmla="*/ 65 w 148"/>
              <a:gd name="T25" fmla="*/ 0 h 187"/>
              <a:gd name="T26" fmla="*/ 74 w 148"/>
              <a:gd name="T27" fmla="*/ 0 h 187"/>
              <a:gd name="T28" fmla="*/ 99 w 148"/>
              <a:gd name="T29" fmla="*/ 7 h 187"/>
              <a:gd name="T30" fmla="*/ 119 w 148"/>
              <a:gd name="T31" fmla="*/ 36 h 187"/>
              <a:gd name="T32" fmla="*/ 120 w 148"/>
              <a:gd name="T33" fmla="*/ 46 h 187"/>
              <a:gd name="T34" fmla="*/ 115 w 148"/>
              <a:gd name="T35" fmla="*/ 66 h 187"/>
              <a:gd name="T36" fmla="*/ 102 w 148"/>
              <a:gd name="T37" fmla="*/ 82 h 187"/>
              <a:gd name="T38" fmla="*/ 99 w 148"/>
              <a:gd name="T39" fmla="*/ 83 h 187"/>
              <a:gd name="T40" fmla="*/ 90 w 148"/>
              <a:gd name="T41" fmla="*/ 80 h 187"/>
              <a:gd name="T42" fmla="*/ 89 w 148"/>
              <a:gd name="T43" fmla="*/ 70 h 187"/>
              <a:gd name="T44" fmla="*/ 95 w 148"/>
              <a:gd name="T45" fmla="*/ 62 h 187"/>
              <a:gd name="T46" fmla="*/ 101 w 148"/>
              <a:gd name="T47" fmla="*/ 46 h 187"/>
              <a:gd name="T48" fmla="*/ 97 w 148"/>
              <a:gd name="T49" fmla="*/ 30 h 187"/>
              <a:gd name="T50" fmla="*/ 80 w 148"/>
              <a:gd name="T51" fmla="*/ 19 h 187"/>
              <a:gd name="T52" fmla="*/ 69 w 148"/>
              <a:gd name="T53" fmla="*/ 19 h 187"/>
              <a:gd name="T54" fmla="*/ 52 w 148"/>
              <a:gd name="T55" fmla="*/ 30 h 187"/>
              <a:gd name="T56" fmla="*/ 47 w 148"/>
              <a:gd name="T57" fmla="*/ 46 h 187"/>
              <a:gd name="T58" fmla="*/ 51 w 148"/>
              <a:gd name="T59" fmla="*/ 60 h 187"/>
              <a:gd name="T60" fmla="*/ 57 w 148"/>
              <a:gd name="T61" fmla="*/ 67 h 187"/>
              <a:gd name="T62" fmla="*/ 64 w 148"/>
              <a:gd name="T63" fmla="*/ 72 h 187"/>
              <a:gd name="T64" fmla="*/ 62 w 148"/>
              <a:gd name="T65" fmla="*/ 102 h 187"/>
              <a:gd name="T66" fmla="*/ 56 w 148"/>
              <a:gd name="T67" fmla="*/ 110 h 187"/>
              <a:gd name="T68" fmla="*/ 39 w 148"/>
              <a:gd name="T69" fmla="*/ 116 h 187"/>
              <a:gd name="T70" fmla="*/ 22 w 148"/>
              <a:gd name="T71" fmla="*/ 117 h 187"/>
              <a:gd name="T72" fmla="*/ 18 w 148"/>
              <a:gd name="T73" fmla="*/ 123 h 187"/>
              <a:gd name="T74" fmla="*/ 20 w 148"/>
              <a:gd name="T75" fmla="*/ 167 h 187"/>
              <a:gd name="T76" fmla="*/ 123 w 148"/>
              <a:gd name="T77" fmla="*/ 169 h 187"/>
              <a:gd name="T78" fmla="*/ 129 w 148"/>
              <a:gd name="T79" fmla="*/ 164 h 187"/>
              <a:gd name="T80" fmla="*/ 129 w 148"/>
              <a:gd name="T81" fmla="*/ 128 h 187"/>
              <a:gd name="T82" fmla="*/ 128 w 148"/>
              <a:gd name="T83" fmla="*/ 121 h 187"/>
              <a:gd name="T84" fmla="*/ 124 w 148"/>
              <a:gd name="T85" fmla="*/ 116 h 187"/>
              <a:gd name="T86" fmla="*/ 113 w 148"/>
              <a:gd name="T87" fmla="*/ 116 h 187"/>
              <a:gd name="T88" fmla="*/ 108 w 148"/>
              <a:gd name="T89" fmla="*/ 116 h 187"/>
              <a:gd name="T90" fmla="*/ 100 w 148"/>
              <a:gd name="T91" fmla="*/ 110 h 187"/>
              <a:gd name="T92" fmla="*/ 100 w 148"/>
              <a:gd name="T93" fmla="*/ 103 h 187"/>
              <a:gd name="T94" fmla="*/ 108 w 148"/>
              <a:gd name="T95" fmla="*/ 98 h 187"/>
              <a:gd name="T96" fmla="*/ 123 w 148"/>
              <a:gd name="T97" fmla="*/ 98 h 187"/>
              <a:gd name="T98" fmla="*/ 139 w 148"/>
              <a:gd name="T99" fmla="*/ 105 h 187"/>
              <a:gd name="T100" fmla="*/ 144 w 148"/>
              <a:gd name="T101" fmla="*/ 113 h 187"/>
              <a:gd name="T102" fmla="*/ 148 w 148"/>
              <a:gd name="T103" fmla="*/ 128 h 187"/>
              <a:gd name="T104" fmla="*/ 145 w 148"/>
              <a:gd name="T105" fmla="*/ 172 h 187"/>
              <a:gd name="T106" fmla="*/ 132 w 148"/>
              <a:gd name="T107" fmla="*/ 185 h 187"/>
              <a:gd name="T108" fmla="*/ 25 w 148"/>
              <a:gd name="T109" fmla="*/ 187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48" h="187">
                <a:moveTo>
                  <a:pt x="25" y="187"/>
                </a:moveTo>
                <a:lnTo>
                  <a:pt x="25" y="187"/>
                </a:lnTo>
                <a:lnTo>
                  <a:pt x="20" y="186"/>
                </a:lnTo>
                <a:lnTo>
                  <a:pt x="15" y="185"/>
                </a:lnTo>
                <a:lnTo>
                  <a:pt x="11" y="183"/>
                </a:lnTo>
                <a:lnTo>
                  <a:pt x="7" y="180"/>
                </a:lnTo>
                <a:lnTo>
                  <a:pt x="4" y="176"/>
                </a:lnTo>
                <a:lnTo>
                  <a:pt x="2" y="172"/>
                </a:lnTo>
                <a:lnTo>
                  <a:pt x="1" y="167"/>
                </a:lnTo>
                <a:lnTo>
                  <a:pt x="0" y="162"/>
                </a:lnTo>
                <a:lnTo>
                  <a:pt x="0" y="162"/>
                </a:lnTo>
                <a:lnTo>
                  <a:pt x="0" y="123"/>
                </a:lnTo>
                <a:lnTo>
                  <a:pt x="0" y="123"/>
                </a:lnTo>
                <a:lnTo>
                  <a:pt x="1" y="118"/>
                </a:lnTo>
                <a:lnTo>
                  <a:pt x="2" y="113"/>
                </a:lnTo>
                <a:lnTo>
                  <a:pt x="4" y="108"/>
                </a:lnTo>
                <a:lnTo>
                  <a:pt x="7" y="105"/>
                </a:lnTo>
                <a:lnTo>
                  <a:pt x="11" y="101"/>
                </a:lnTo>
                <a:lnTo>
                  <a:pt x="15" y="99"/>
                </a:lnTo>
                <a:lnTo>
                  <a:pt x="20" y="98"/>
                </a:lnTo>
                <a:lnTo>
                  <a:pt x="25" y="98"/>
                </a:lnTo>
                <a:lnTo>
                  <a:pt x="25" y="98"/>
                </a:lnTo>
                <a:lnTo>
                  <a:pt x="39" y="98"/>
                </a:lnTo>
                <a:lnTo>
                  <a:pt x="39" y="98"/>
                </a:lnTo>
                <a:lnTo>
                  <a:pt x="43" y="97"/>
                </a:lnTo>
                <a:lnTo>
                  <a:pt x="45" y="96"/>
                </a:lnTo>
                <a:lnTo>
                  <a:pt x="45" y="96"/>
                </a:lnTo>
                <a:lnTo>
                  <a:pt x="45" y="96"/>
                </a:lnTo>
                <a:lnTo>
                  <a:pt x="45" y="95"/>
                </a:lnTo>
                <a:lnTo>
                  <a:pt x="46" y="92"/>
                </a:lnTo>
                <a:lnTo>
                  <a:pt x="46" y="92"/>
                </a:lnTo>
                <a:lnTo>
                  <a:pt x="46" y="82"/>
                </a:lnTo>
                <a:lnTo>
                  <a:pt x="46" y="82"/>
                </a:lnTo>
                <a:lnTo>
                  <a:pt x="43" y="79"/>
                </a:lnTo>
                <a:lnTo>
                  <a:pt x="39" y="75"/>
                </a:lnTo>
                <a:lnTo>
                  <a:pt x="39" y="75"/>
                </a:lnTo>
                <a:lnTo>
                  <a:pt x="39" y="75"/>
                </a:lnTo>
                <a:lnTo>
                  <a:pt x="36" y="70"/>
                </a:lnTo>
                <a:lnTo>
                  <a:pt x="32" y="63"/>
                </a:lnTo>
                <a:lnTo>
                  <a:pt x="30" y="55"/>
                </a:lnTo>
                <a:lnTo>
                  <a:pt x="29" y="50"/>
                </a:lnTo>
                <a:lnTo>
                  <a:pt x="29" y="46"/>
                </a:lnTo>
                <a:lnTo>
                  <a:pt x="29" y="46"/>
                </a:lnTo>
                <a:lnTo>
                  <a:pt x="29" y="46"/>
                </a:lnTo>
                <a:lnTo>
                  <a:pt x="29" y="41"/>
                </a:lnTo>
                <a:lnTo>
                  <a:pt x="30" y="36"/>
                </a:lnTo>
                <a:lnTo>
                  <a:pt x="33" y="28"/>
                </a:lnTo>
                <a:lnTo>
                  <a:pt x="36" y="20"/>
                </a:lnTo>
                <a:lnTo>
                  <a:pt x="42" y="14"/>
                </a:lnTo>
                <a:lnTo>
                  <a:pt x="49" y="7"/>
                </a:lnTo>
                <a:lnTo>
                  <a:pt x="57" y="4"/>
                </a:lnTo>
                <a:lnTo>
                  <a:pt x="65" y="0"/>
                </a:lnTo>
                <a:lnTo>
                  <a:pt x="70" y="0"/>
                </a:lnTo>
                <a:lnTo>
                  <a:pt x="74" y="0"/>
                </a:lnTo>
                <a:lnTo>
                  <a:pt x="74" y="0"/>
                </a:lnTo>
                <a:lnTo>
                  <a:pt x="74" y="0"/>
                </a:lnTo>
                <a:lnTo>
                  <a:pt x="79" y="0"/>
                </a:lnTo>
                <a:lnTo>
                  <a:pt x="83" y="0"/>
                </a:lnTo>
                <a:lnTo>
                  <a:pt x="92" y="4"/>
                </a:lnTo>
                <a:lnTo>
                  <a:pt x="99" y="7"/>
                </a:lnTo>
                <a:lnTo>
                  <a:pt x="106" y="14"/>
                </a:lnTo>
                <a:lnTo>
                  <a:pt x="112" y="20"/>
                </a:lnTo>
                <a:lnTo>
                  <a:pt x="116" y="28"/>
                </a:lnTo>
                <a:lnTo>
                  <a:pt x="119" y="36"/>
                </a:lnTo>
                <a:lnTo>
                  <a:pt x="120" y="41"/>
                </a:lnTo>
                <a:lnTo>
                  <a:pt x="120" y="46"/>
                </a:lnTo>
                <a:lnTo>
                  <a:pt x="120" y="46"/>
                </a:lnTo>
                <a:lnTo>
                  <a:pt x="120" y="46"/>
                </a:lnTo>
                <a:lnTo>
                  <a:pt x="119" y="51"/>
                </a:lnTo>
                <a:lnTo>
                  <a:pt x="118" y="56"/>
                </a:lnTo>
                <a:lnTo>
                  <a:pt x="117" y="61"/>
                </a:lnTo>
                <a:lnTo>
                  <a:pt x="115" y="66"/>
                </a:lnTo>
                <a:lnTo>
                  <a:pt x="113" y="70"/>
                </a:lnTo>
                <a:lnTo>
                  <a:pt x="110" y="74"/>
                </a:lnTo>
                <a:lnTo>
                  <a:pt x="106" y="78"/>
                </a:lnTo>
                <a:lnTo>
                  <a:pt x="102" y="82"/>
                </a:lnTo>
                <a:lnTo>
                  <a:pt x="102" y="82"/>
                </a:lnTo>
                <a:lnTo>
                  <a:pt x="102" y="82"/>
                </a:lnTo>
                <a:lnTo>
                  <a:pt x="102" y="82"/>
                </a:lnTo>
                <a:lnTo>
                  <a:pt x="99" y="83"/>
                </a:lnTo>
                <a:lnTo>
                  <a:pt x="96" y="83"/>
                </a:lnTo>
                <a:lnTo>
                  <a:pt x="92" y="82"/>
                </a:lnTo>
                <a:lnTo>
                  <a:pt x="90" y="80"/>
                </a:lnTo>
                <a:lnTo>
                  <a:pt x="90" y="80"/>
                </a:lnTo>
                <a:lnTo>
                  <a:pt x="90" y="80"/>
                </a:lnTo>
                <a:lnTo>
                  <a:pt x="88" y="77"/>
                </a:lnTo>
                <a:lnTo>
                  <a:pt x="88" y="73"/>
                </a:lnTo>
                <a:lnTo>
                  <a:pt x="89" y="70"/>
                </a:lnTo>
                <a:lnTo>
                  <a:pt x="91" y="67"/>
                </a:lnTo>
                <a:lnTo>
                  <a:pt x="91" y="67"/>
                </a:lnTo>
                <a:lnTo>
                  <a:pt x="91" y="67"/>
                </a:lnTo>
                <a:lnTo>
                  <a:pt x="95" y="62"/>
                </a:lnTo>
                <a:lnTo>
                  <a:pt x="98" y="58"/>
                </a:lnTo>
                <a:lnTo>
                  <a:pt x="101" y="52"/>
                </a:lnTo>
                <a:lnTo>
                  <a:pt x="101" y="46"/>
                </a:lnTo>
                <a:lnTo>
                  <a:pt x="101" y="46"/>
                </a:lnTo>
                <a:lnTo>
                  <a:pt x="101" y="46"/>
                </a:lnTo>
                <a:lnTo>
                  <a:pt x="101" y="40"/>
                </a:lnTo>
                <a:lnTo>
                  <a:pt x="99" y="35"/>
                </a:lnTo>
                <a:lnTo>
                  <a:pt x="97" y="30"/>
                </a:lnTo>
                <a:lnTo>
                  <a:pt x="93" y="26"/>
                </a:lnTo>
                <a:lnTo>
                  <a:pt x="89" y="23"/>
                </a:lnTo>
                <a:lnTo>
                  <a:pt x="85" y="20"/>
                </a:lnTo>
                <a:lnTo>
                  <a:pt x="80" y="19"/>
                </a:lnTo>
                <a:lnTo>
                  <a:pt x="74" y="18"/>
                </a:lnTo>
                <a:lnTo>
                  <a:pt x="74" y="18"/>
                </a:lnTo>
                <a:lnTo>
                  <a:pt x="74" y="18"/>
                </a:lnTo>
                <a:lnTo>
                  <a:pt x="69" y="19"/>
                </a:lnTo>
                <a:lnTo>
                  <a:pt x="64" y="20"/>
                </a:lnTo>
                <a:lnTo>
                  <a:pt x="59" y="23"/>
                </a:lnTo>
                <a:lnTo>
                  <a:pt x="55" y="26"/>
                </a:lnTo>
                <a:lnTo>
                  <a:pt x="52" y="30"/>
                </a:lnTo>
                <a:lnTo>
                  <a:pt x="49" y="35"/>
                </a:lnTo>
                <a:lnTo>
                  <a:pt x="48" y="40"/>
                </a:lnTo>
                <a:lnTo>
                  <a:pt x="47" y="46"/>
                </a:lnTo>
                <a:lnTo>
                  <a:pt x="47" y="46"/>
                </a:lnTo>
                <a:lnTo>
                  <a:pt x="47" y="46"/>
                </a:lnTo>
                <a:lnTo>
                  <a:pt x="48" y="51"/>
                </a:lnTo>
                <a:lnTo>
                  <a:pt x="49" y="56"/>
                </a:lnTo>
                <a:lnTo>
                  <a:pt x="51" y="60"/>
                </a:lnTo>
                <a:lnTo>
                  <a:pt x="53" y="63"/>
                </a:lnTo>
                <a:lnTo>
                  <a:pt x="53" y="63"/>
                </a:lnTo>
                <a:lnTo>
                  <a:pt x="53" y="63"/>
                </a:lnTo>
                <a:lnTo>
                  <a:pt x="57" y="67"/>
                </a:lnTo>
                <a:lnTo>
                  <a:pt x="60" y="69"/>
                </a:lnTo>
                <a:lnTo>
                  <a:pt x="60" y="69"/>
                </a:lnTo>
                <a:lnTo>
                  <a:pt x="60" y="69"/>
                </a:lnTo>
                <a:lnTo>
                  <a:pt x="64" y="72"/>
                </a:lnTo>
                <a:lnTo>
                  <a:pt x="64" y="92"/>
                </a:lnTo>
                <a:lnTo>
                  <a:pt x="64" y="92"/>
                </a:lnTo>
                <a:lnTo>
                  <a:pt x="64" y="98"/>
                </a:lnTo>
                <a:lnTo>
                  <a:pt x="62" y="102"/>
                </a:lnTo>
                <a:lnTo>
                  <a:pt x="60" y="107"/>
                </a:lnTo>
                <a:lnTo>
                  <a:pt x="56" y="110"/>
                </a:lnTo>
                <a:lnTo>
                  <a:pt x="56" y="110"/>
                </a:lnTo>
                <a:lnTo>
                  <a:pt x="56" y="110"/>
                </a:lnTo>
                <a:lnTo>
                  <a:pt x="52" y="113"/>
                </a:lnTo>
                <a:lnTo>
                  <a:pt x="49" y="114"/>
                </a:lnTo>
                <a:lnTo>
                  <a:pt x="44" y="115"/>
                </a:lnTo>
                <a:lnTo>
                  <a:pt x="39" y="116"/>
                </a:lnTo>
                <a:lnTo>
                  <a:pt x="39" y="116"/>
                </a:lnTo>
                <a:lnTo>
                  <a:pt x="25" y="116"/>
                </a:lnTo>
                <a:lnTo>
                  <a:pt x="25" y="116"/>
                </a:lnTo>
                <a:lnTo>
                  <a:pt x="22" y="117"/>
                </a:lnTo>
                <a:lnTo>
                  <a:pt x="20" y="118"/>
                </a:lnTo>
                <a:lnTo>
                  <a:pt x="19" y="120"/>
                </a:lnTo>
                <a:lnTo>
                  <a:pt x="18" y="123"/>
                </a:lnTo>
                <a:lnTo>
                  <a:pt x="18" y="123"/>
                </a:lnTo>
                <a:lnTo>
                  <a:pt x="18" y="162"/>
                </a:lnTo>
                <a:lnTo>
                  <a:pt x="18" y="162"/>
                </a:lnTo>
                <a:lnTo>
                  <a:pt x="19" y="164"/>
                </a:lnTo>
                <a:lnTo>
                  <a:pt x="20" y="167"/>
                </a:lnTo>
                <a:lnTo>
                  <a:pt x="22" y="168"/>
                </a:lnTo>
                <a:lnTo>
                  <a:pt x="25" y="169"/>
                </a:lnTo>
                <a:lnTo>
                  <a:pt x="25" y="169"/>
                </a:lnTo>
                <a:lnTo>
                  <a:pt x="123" y="169"/>
                </a:lnTo>
                <a:lnTo>
                  <a:pt x="123" y="169"/>
                </a:lnTo>
                <a:lnTo>
                  <a:pt x="126" y="168"/>
                </a:lnTo>
                <a:lnTo>
                  <a:pt x="127" y="167"/>
                </a:lnTo>
                <a:lnTo>
                  <a:pt x="129" y="164"/>
                </a:lnTo>
                <a:lnTo>
                  <a:pt x="129" y="162"/>
                </a:lnTo>
                <a:lnTo>
                  <a:pt x="129" y="162"/>
                </a:lnTo>
                <a:lnTo>
                  <a:pt x="129" y="128"/>
                </a:lnTo>
                <a:lnTo>
                  <a:pt x="129" y="128"/>
                </a:lnTo>
                <a:lnTo>
                  <a:pt x="129" y="124"/>
                </a:lnTo>
                <a:lnTo>
                  <a:pt x="128" y="121"/>
                </a:lnTo>
                <a:lnTo>
                  <a:pt x="128" y="121"/>
                </a:lnTo>
                <a:lnTo>
                  <a:pt x="128" y="121"/>
                </a:lnTo>
                <a:lnTo>
                  <a:pt x="126" y="118"/>
                </a:lnTo>
                <a:lnTo>
                  <a:pt x="124" y="116"/>
                </a:lnTo>
                <a:lnTo>
                  <a:pt x="124" y="116"/>
                </a:lnTo>
                <a:lnTo>
                  <a:pt x="124" y="116"/>
                </a:lnTo>
                <a:lnTo>
                  <a:pt x="123" y="116"/>
                </a:lnTo>
                <a:lnTo>
                  <a:pt x="123" y="116"/>
                </a:lnTo>
                <a:lnTo>
                  <a:pt x="123" y="116"/>
                </a:lnTo>
                <a:lnTo>
                  <a:pt x="113" y="116"/>
                </a:lnTo>
                <a:lnTo>
                  <a:pt x="113" y="116"/>
                </a:lnTo>
                <a:lnTo>
                  <a:pt x="113" y="116"/>
                </a:lnTo>
                <a:lnTo>
                  <a:pt x="108" y="116"/>
                </a:lnTo>
                <a:lnTo>
                  <a:pt x="108" y="116"/>
                </a:lnTo>
                <a:lnTo>
                  <a:pt x="108" y="116"/>
                </a:lnTo>
                <a:lnTo>
                  <a:pt x="104" y="115"/>
                </a:lnTo>
                <a:lnTo>
                  <a:pt x="101" y="113"/>
                </a:lnTo>
                <a:lnTo>
                  <a:pt x="100" y="110"/>
                </a:lnTo>
                <a:lnTo>
                  <a:pt x="99" y="107"/>
                </a:lnTo>
                <a:lnTo>
                  <a:pt x="99" y="107"/>
                </a:lnTo>
                <a:lnTo>
                  <a:pt x="99" y="107"/>
                </a:lnTo>
                <a:lnTo>
                  <a:pt x="100" y="103"/>
                </a:lnTo>
                <a:lnTo>
                  <a:pt x="101" y="100"/>
                </a:lnTo>
                <a:lnTo>
                  <a:pt x="104" y="98"/>
                </a:lnTo>
                <a:lnTo>
                  <a:pt x="108" y="98"/>
                </a:lnTo>
                <a:lnTo>
                  <a:pt x="108" y="98"/>
                </a:lnTo>
                <a:lnTo>
                  <a:pt x="108" y="98"/>
                </a:lnTo>
                <a:lnTo>
                  <a:pt x="123" y="98"/>
                </a:lnTo>
                <a:lnTo>
                  <a:pt x="123" y="98"/>
                </a:lnTo>
                <a:lnTo>
                  <a:pt x="123" y="98"/>
                </a:lnTo>
                <a:lnTo>
                  <a:pt x="126" y="98"/>
                </a:lnTo>
                <a:lnTo>
                  <a:pt x="129" y="98"/>
                </a:lnTo>
                <a:lnTo>
                  <a:pt x="134" y="101"/>
                </a:lnTo>
                <a:lnTo>
                  <a:pt x="139" y="105"/>
                </a:lnTo>
                <a:lnTo>
                  <a:pt x="142" y="108"/>
                </a:lnTo>
                <a:lnTo>
                  <a:pt x="142" y="108"/>
                </a:lnTo>
                <a:lnTo>
                  <a:pt x="142" y="108"/>
                </a:lnTo>
                <a:lnTo>
                  <a:pt x="144" y="113"/>
                </a:lnTo>
                <a:lnTo>
                  <a:pt x="146" y="118"/>
                </a:lnTo>
                <a:lnTo>
                  <a:pt x="147" y="122"/>
                </a:lnTo>
                <a:lnTo>
                  <a:pt x="148" y="128"/>
                </a:lnTo>
                <a:lnTo>
                  <a:pt x="148" y="128"/>
                </a:lnTo>
                <a:lnTo>
                  <a:pt x="148" y="162"/>
                </a:lnTo>
                <a:lnTo>
                  <a:pt x="148" y="162"/>
                </a:lnTo>
                <a:lnTo>
                  <a:pt x="147" y="167"/>
                </a:lnTo>
                <a:lnTo>
                  <a:pt x="145" y="172"/>
                </a:lnTo>
                <a:lnTo>
                  <a:pt x="143" y="176"/>
                </a:lnTo>
                <a:lnTo>
                  <a:pt x="140" y="180"/>
                </a:lnTo>
                <a:lnTo>
                  <a:pt x="136" y="183"/>
                </a:lnTo>
                <a:lnTo>
                  <a:pt x="132" y="185"/>
                </a:lnTo>
                <a:lnTo>
                  <a:pt x="128" y="186"/>
                </a:lnTo>
                <a:lnTo>
                  <a:pt x="123" y="187"/>
                </a:lnTo>
                <a:lnTo>
                  <a:pt x="123" y="187"/>
                </a:lnTo>
                <a:lnTo>
                  <a:pt x="25" y="187"/>
                </a:lnTo>
                <a:lnTo>
                  <a:pt x="25" y="1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>
              <a:defRPr/>
            </a:pPr>
            <a:endParaRPr lang="en-US" sz="1800" kern="0" smtClean="0">
              <a:solidFill>
                <a:srgbClr val="000000"/>
              </a:solidFill>
            </a:endParaRPr>
          </a:p>
        </p:txBody>
      </p:sp>
      <p:sp>
        <p:nvSpPr>
          <p:cNvPr id="17" name="AutoShape 5"/>
          <p:cNvSpPr>
            <a:spLocks noChangeAspect="1" noChangeArrowheads="1"/>
          </p:cNvSpPr>
          <p:nvPr/>
        </p:nvSpPr>
        <p:spPr bwMode="auto">
          <a:xfrm rot="10800000">
            <a:off x="522040" y="5018508"/>
            <a:ext cx="10928530" cy="401637"/>
          </a:xfrm>
          <a:prstGeom prst="triangle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 w="6350" algn="ctr">
            <a:noFill/>
            <a:miter lim="800000"/>
            <a:headEnd type="none" w="sm" len="sm"/>
            <a:tailEnd type="none" w="med" len="lg"/>
          </a:ln>
          <a:effectLst>
            <a:outerShdw dist="17961" dir="2700000" algn="ctr" rotWithShape="0">
              <a:srgbClr val="808080"/>
            </a:outerShdw>
          </a:effectLst>
        </p:spPr>
        <p:txBody>
          <a:bodyPr wrap="none" tIns="91440" bIns="91440" anchor="ctr"/>
          <a:lstStyle/>
          <a:p>
            <a:pPr>
              <a:defRPr/>
            </a:pPr>
            <a:endParaRPr lang="en-IN"/>
          </a:p>
        </p:txBody>
      </p:sp>
      <p:sp>
        <p:nvSpPr>
          <p:cNvPr id="18" name="Rounded Rectangle 17"/>
          <p:cNvSpPr/>
          <p:nvPr/>
        </p:nvSpPr>
        <p:spPr bwMode="auto">
          <a:xfrm>
            <a:off x="571962" y="5725878"/>
            <a:ext cx="2425140" cy="610463"/>
          </a:xfrm>
          <a:prstGeom prst="roundRect">
            <a:avLst/>
          </a:prstGeom>
          <a:solidFill>
            <a:srgbClr val="0B4060">
              <a:alpha val="66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45720" rIns="45720" anchor="t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FFFFFF"/>
                </a:solidFill>
                <a:latin typeface="+mj-lt"/>
                <a:cs typeface="Arial" charset="0"/>
              </a:rPr>
              <a:t>Quick and Superior Decision Making</a:t>
            </a:r>
            <a:endParaRPr lang="en-US" sz="1200" dirty="0" smtClean="0">
              <a:solidFill>
                <a:srgbClr val="FFFFFF"/>
              </a:solidFill>
              <a:latin typeface="+mj-lt"/>
              <a:cs typeface="Arial" charset="0"/>
            </a:endParaRPr>
          </a:p>
        </p:txBody>
      </p:sp>
      <p:sp>
        <p:nvSpPr>
          <p:cNvPr id="19" name="Rounded Rectangle 18"/>
          <p:cNvSpPr/>
          <p:nvPr/>
        </p:nvSpPr>
        <p:spPr bwMode="auto">
          <a:xfrm>
            <a:off x="4655058" y="5712879"/>
            <a:ext cx="2425140" cy="610463"/>
          </a:xfrm>
          <a:prstGeom prst="roundRect">
            <a:avLst/>
          </a:prstGeom>
          <a:solidFill>
            <a:srgbClr val="0B4060">
              <a:alpha val="66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45720" rIns="45720" anchor="t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FFFFFF"/>
                </a:solidFill>
                <a:latin typeface="+mj-lt"/>
                <a:cs typeface="Arial" charset="0"/>
              </a:rPr>
              <a:t>Effective customer management</a:t>
            </a:r>
            <a:endParaRPr lang="en-US" sz="1200" dirty="0" smtClean="0">
              <a:solidFill>
                <a:srgbClr val="FFFFFF"/>
              </a:solidFill>
              <a:latin typeface="+mj-lt"/>
              <a:cs typeface="Arial" charset="0"/>
            </a:endParaRPr>
          </a:p>
          <a:p>
            <a:pPr marR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dirty="0" smtClean="0">
              <a:solidFill>
                <a:srgbClr val="FFFFFF"/>
              </a:solidFill>
              <a:latin typeface="+mj-lt"/>
              <a:cs typeface="Arial" charset="0"/>
            </a:endParaRPr>
          </a:p>
        </p:txBody>
      </p:sp>
      <p:sp>
        <p:nvSpPr>
          <p:cNvPr id="23" name="Rounded Rectangle 22"/>
          <p:cNvSpPr/>
          <p:nvPr/>
        </p:nvSpPr>
        <p:spPr bwMode="auto">
          <a:xfrm>
            <a:off x="8122457" y="5712124"/>
            <a:ext cx="2425140" cy="610463"/>
          </a:xfrm>
          <a:prstGeom prst="roundRect">
            <a:avLst/>
          </a:prstGeom>
          <a:solidFill>
            <a:srgbClr val="0B4060">
              <a:alpha val="66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45720" rIns="45720" anchor="t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FFFFFF"/>
                </a:solidFill>
                <a:latin typeface="+mj-lt"/>
                <a:cs typeface="Arial" charset="0"/>
              </a:rPr>
              <a:t>Reduced operational expenses</a:t>
            </a:r>
            <a:endParaRPr lang="en-US" sz="1200" dirty="0" smtClean="0">
              <a:solidFill>
                <a:srgbClr val="FFFFFF"/>
              </a:solidFill>
              <a:latin typeface="+mj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274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Consumer Analytics Division: Key Offerings 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902866"/>
              </p:ext>
            </p:extLst>
          </p:nvPr>
        </p:nvGraphicFramePr>
        <p:xfrm>
          <a:off x="897337" y="1278161"/>
          <a:ext cx="10777212" cy="4673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9876"/>
                <a:gridCol w="2255963"/>
                <a:gridCol w="1147705"/>
                <a:gridCol w="973703"/>
                <a:gridCol w="2429965"/>
              </a:tblGrid>
              <a:tr h="35925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+mj-lt"/>
                        </a:rPr>
                        <a:t>Services</a:t>
                      </a:r>
                      <a:endParaRPr lang="en-US" sz="1600" b="1" dirty="0"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+mj-lt"/>
                        </a:rPr>
                        <a:t>Description</a:t>
                      </a:r>
                      <a:endParaRPr lang="en-US" sz="1600" b="1" dirty="0"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170121">
                <a:tc>
                  <a:txBody>
                    <a:bodyPr/>
                    <a:lstStyle/>
                    <a:p>
                      <a:pPr algn="ctr"/>
                      <a:endParaRPr lang="en-US" sz="1000" b="1" dirty="0"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400" dirty="0"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400" dirty="0"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912779">
                <a:tc>
                  <a:txBody>
                    <a:bodyPr/>
                    <a:lstStyle/>
                    <a:p>
                      <a:pPr algn="ctr"/>
                      <a:r>
                        <a:rPr lang="en-US" sz="1400" b="1" cap="all" dirty="0" smtClean="0">
                          <a:solidFill>
                            <a:schemeClr val="tx1"/>
                          </a:solidFill>
                          <a:latin typeface="+mj-lt"/>
                        </a:rPr>
                        <a:t>Analytics</a:t>
                      </a:r>
                      <a:r>
                        <a:rPr lang="en-US" sz="1400" b="1" cap="all" baseline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</a:p>
                    <a:p>
                      <a:pPr algn="ctr"/>
                      <a:r>
                        <a:rPr lang="en-US" sz="1400" b="1" cap="all" baseline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Consulting &amp; Development</a:t>
                      </a:r>
                      <a:endParaRPr lang="en-US" sz="1400" b="1" cap="all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latin typeface="+mj-lt"/>
                        </a:rPr>
                        <a:t>Information Management</a:t>
                      </a:r>
                    </a:p>
                    <a:p>
                      <a:pPr algn="ctr"/>
                      <a:r>
                        <a:rPr lang="en-US" sz="1200" b="0" dirty="0" smtClean="0">
                          <a:latin typeface="+mj-lt"/>
                        </a:rPr>
                        <a:t>(Data Management, Reporting/MIS, and Campaign Management)</a:t>
                      </a:r>
                      <a:endParaRPr lang="en-US" sz="1200" b="0" dirty="0"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latin typeface="+mj-lt"/>
                        </a:rPr>
                        <a:t>Predictive</a:t>
                      </a:r>
                      <a:r>
                        <a:rPr lang="en-US" sz="1400" b="0" baseline="0" dirty="0" smtClean="0">
                          <a:latin typeface="+mj-lt"/>
                        </a:rPr>
                        <a:t> Analytics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255181">
                <a:tc>
                  <a:txBody>
                    <a:bodyPr/>
                    <a:lstStyle/>
                    <a:p>
                      <a:pPr algn="ctr"/>
                      <a:endParaRPr lang="en-US" sz="1400" b="1" cap="all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400" b="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400" b="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511984">
                <a:tc>
                  <a:txBody>
                    <a:bodyPr/>
                    <a:lstStyle/>
                    <a:p>
                      <a:pPr algn="ctr"/>
                      <a:r>
                        <a:rPr lang="en-US" sz="1400" b="1" cap="all" dirty="0" smtClean="0">
                          <a:solidFill>
                            <a:schemeClr val="tx1"/>
                          </a:solidFill>
                        </a:rPr>
                        <a:t>Analytics </a:t>
                      </a:r>
                    </a:p>
                    <a:p>
                      <a:pPr algn="ctr"/>
                      <a:r>
                        <a:rPr lang="en-US" sz="1400" b="1" cap="all" dirty="0" smtClean="0">
                          <a:solidFill>
                            <a:schemeClr val="tx1"/>
                          </a:solidFill>
                        </a:rPr>
                        <a:t>On-going Maintenance</a:t>
                      </a:r>
                      <a:endParaRPr lang="en-US" sz="1400" b="1" cap="all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IN" sz="14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IN" sz="14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IN" sz="14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4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Management, Reporting, Campaigns, and Predictive</a:t>
                      </a:r>
                      <a:r>
                        <a:rPr lang="en-IN" sz="14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4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Models</a:t>
                      </a:r>
                    </a:p>
                    <a:p>
                      <a:pPr algn="ctr"/>
                      <a:endParaRPr lang="en-IN" sz="1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202222">
                <a:tc>
                  <a:txBody>
                    <a:bodyPr/>
                    <a:lstStyle/>
                    <a:p>
                      <a:pPr algn="ctr"/>
                      <a:endParaRPr lang="en-US" sz="1400" b="1" cap="all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400" b="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400" b="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511984">
                <a:tc>
                  <a:txBody>
                    <a:bodyPr/>
                    <a:lstStyle/>
                    <a:p>
                      <a:pPr algn="ctr"/>
                      <a:r>
                        <a:rPr lang="en-US" sz="1400" b="1" cap="all" dirty="0" smtClean="0">
                          <a:solidFill>
                            <a:schemeClr val="tx1"/>
                          </a:solidFill>
                        </a:rPr>
                        <a:t>Analytics Platform</a:t>
                      </a:r>
                      <a:endParaRPr lang="en-US" sz="1400" b="1" cap="all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b="0" dirty="0" smtClean="0"/>
                        <a:t>Infrastructure (Server, Space),</a:t>
                      </a:r>
                      <a:r>
                        <a:rPr lang="en-US" sz="1400" b="0" baseline="0" dirty="0" smtClean="0"/>
                        <a:t> &amp;</a:t>
                      </a:r>
                    </a:p>
                    <a:p>
                      <a:pPr algn="ctr"/>
                      <a:r>
                        <a:rPr lang="en-US" sz="1400" b="0" baseline="0" dirty="0" smtClean="0"/>
                        <a:t>Analytic Tools/Software (Analysis, Visualization, Campaign Management, Modeling)</a:t>
                      </a:r>
                      <a:endParaRPr lang="en-US" sz="1400" b="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511984">
                <a:tc>
                  <a:txBody>
                    <a:bodyPr/>
                    <a:lstStyle/>
                    <a:p>
                      <a:pPr algn="ctr"/>
                      <a:endParaRPr lang="en-US" sz="1400" b="1" cap="all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sz="1400" b="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1984">
                <a:tc>
                  <a:txBody>
                    <a:bodyPr/>
                    <a:lstStyle/>
                    <a:p>
                      <a:pPr algn="ctr"/>
                      <a:r>
                        <a:rPr lang="en-US" sz="1400" b="1" cap="all" dirty="0" smtClean="0">
                          <a:solidFill>
                            <a:schemeClr val="bg1"/>
                          </a:solidFill>
                        </a:rPr>
                        <a:t>OTHER Value-adds*</a:t>
                      </a:r>
                      <a:endParaRPr lang="en-US" sz="1400" b="1" cap="all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bg1"/>
                          </a:solidFill>
                        </a:rPr>
                        <a:t>Data Attributes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bg1"/>
                          </a:solidFill>
                        </a:rPr>
                        <a:t>Loyalty Analytics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bg1"/>
                          </a:solidFill>
                        </a:rPr>
                        <a:t>Workshops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 bwMode="gray">
          <a:xfrm>
            <a:off x="7308107" y="6260963"/>
            <a:ext cx="2154869" cy="334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1400" dirty="0" smtClean="0">
                <a:solidFill>
                  <a:schemeClr val="tx1"/>
                </a:solidFill>
              </a:rPr>
              <a:t>* Commercials TBD 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730295" y="1862468"/>
            <a:ext cx="301371" cy="303283"/>
          </a:xfrm>
          <a:prstGeom prst="ellipse">
            <a:avLst/>
          </a:prstGeom>
          <a:solidFill>
            <a:srgbClr val="00BDF2"/>
          </a:solidFill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FFFFFF"/>
                </a:solidFill>
                <a:latin typeface="Interstate-LightCondensed" panose="02000606050000020004" pitchFamily="2" charset="0"/>
                <a:ea typeface="Geneva" charset="0"/>
              </a:rPr>
              <a:t>1</a:t>
            </a:r>
          </a:p>
        </p:txBody>
      </p:sp>
      <p:sp>
        <p:nvSpPr>
          <p:cNvPr id="12" name="Oval 11"/>
          <p:cNvSpPr/>
          <p:nvPr/>
        </p:nvSpPr>
        <p:spPr bwMode="auto">
          <a:xfrm>
            <a:off x="730295" y="3021414"/>
            <a:ext cx="301371" cy="303283"/>
          </a:xfrm>
          <a:prstGeom prst="ellipse">
            <a:avLst/>
          </a:prstGeom>
          <a:solidFill>
            <a:srgbClr val="00BDF2"/>
          </a:solidFill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FFFFFF"/>
                </a:solidFill>
                <a:latin typeface="Interstate-LightCondensed" panose="02000606050000020004" pitchFamily="2" charset="0"/>
                <a:ea typeface="Geneva" charset="0"/>
              </a:rPr>
              <a:t>2</a:t>
            </a:r>
            <a:endParaRPr lang="en-US" sz="1200" dirty="0">
              <a:solidFill>
                <a:srgbClr val="FFFFFF"/>
              </a:solidFill>
              <a:latin typeface="Interstate-LightCondensed" panose="02000606050000020004" pitchFamily="2" charset="0"/>
              <a:ea typeface="Geneva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730295" y="4095304"/>
            <a:ext cx="301371" cy="303283"/>
          </a:xfrm>
          <a:prstGeom prst="ellipse">
            <a:avLst/>
          </a:prstGeom>
          <a:solidFill>
            <a:srgbClr val="00BDF2"/>
          </a:solidFill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FFFFFF"/>
                </a:solidFill>
                <a:latin typeface="Interstate-LightCondensed" panose="02000606050000020004" pitchFamily="2" charset="0"/>
                <a:ea typeface="Geneva" charset="0"/>
              </a:rPr>
              <a:t>3</a:t>
            </a:r>
            <a:endParaRPr lang="en-US" sz="1200" dirty="0">
              <a:solidFill>
                <a:srgbClr val="FFFFFF"/>
              </a:solidFill>
              <a:latin typeface="Interstate-LightCondensed" panose="02000606050000020004" pitchFamily="2" charset="0"/>
              <a:ea typeface="Geneva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816923" y="5287280"/>
            <a:ext cx="301371" cy="303283"/>
          </a:xfrm>
          <a:prstGeom prst="ellipse">
            <a:avLst/>
          </a:prstGeom>
          <a:solidFill>
            <a:srgbClr val="00BDF2"/>
          </a:solidFill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rgbClr val="FFFFFF"/>
                </a:solidFill>
                <a:latin typeface="Interstate-LightCondensed" panose="02000606050000020004" pitchFamily="2" charset="0"/>
                <a:ea typeface="Geneva" charset="0"/>
              </a:rPr>
              <a:t>4</a:t>
            </a:r>
            <a:endParaRPr lang="en-US" sz="1200" dirty="0">
              <a:solidFill>
                <a:srgbClr val="FFFFFF"/>
              </a:solidFill>
              <a:latin typeface="Interstate-LightCondensed" panose="02000606050000020004" pitchFamily="2" charset="0"/>
              <a:ea typeface="Genev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97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Steps (0 to 6 months)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Immediate roles and responsibilities for the Tata </a:t>
            </a:r>
            <a:r>
              <a:rPr lang="en-US" dirty="0" smtClean="0"/>
              <a:t>Consumer Analytics Division </a:t>
            </a:r>
            <a:endParaRPr lang="en-IN" dirty="0"/>
          </a:p>
        </p:txBody>
      </p:sp>
      <p:graphicFrame>
        <p:nvGraphicFramePr>
          <p:cNvPr id="8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224521"/>
              </p:ext>
            </p:extLst>
          </p:nvPr>
        </p:nvGraphicFramePr>
        <p:xfrm>
          <a:off x="496675" y="1688608"/>
          <a:ext cx="11113180" cy="4968377"/>
        </p:xfrm>
        <a:graphic>
          <a:graphicData uri="http://schemas.openxmlformats.org/drawingml/2006/table">
            <a:tbl>
              <a:tblPr/>
              <a:tblGrid>
                <a:gridCol w="1041180"/>
                <a:gridCol w="2092037"/>
                <a:gridCol w="6465065"/>
                <a:gridCol w="1514898"/>
              </a:tblGrid>
              <a:tr h="55663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+mn-ea"/>
                          <a:cs typeface="Arial" charset="0"/>
                        </a:rPr>
                        <a:t>Steps</a:t>
                      </a: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14D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cs typeface="Arial" charset="0"/>
                        </a:rPr>
                        <a:t>Plan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14D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+mn-ea"/>
                          <a:cs typeface="Arial" charset="0"/>
                        </a:rPr>
                        <a:t>Detailed  Plan</a:t>
                      </a: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14D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j-lt"/>
                          <a:ea typeface="+mn-ea"/>
                          <a:cs typeface="Arial" charset="0"/>
                        </a:rPr>
                        <a:t>Responsibility</a:t>
                      </a: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14D79"/>
                    </a:solidFill>
                  </a:tcPr>
                </a:tc>
              </a:tr>
              <a:tr h="306437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0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Presentation to MD/CEO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cs typeface="Arial" charset="0"/>
                        </a:rPr>
                        <a:t>Present the analytics solutions and roadmap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</a:endParaRP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TCAD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977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0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MOU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Arial" charset="0"/>
                        </a:rPr>
                        <a:t>Detail the metadata requirements to understand current data maturity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AIA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9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Helvetica"/>
                        <a:ea typeface="+mn-ea"/>
                        <a:cs typeface="+mn-cs"/>
                      </a:endParaRPr>
                    </a:p>
                  </a:txBody>
                  <a:tcPr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Arial" charset="0"/>
                        </a:rPr>
                        <a:t>Draft the MOU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Arial" charset="0"/>
                      </a:endParaRP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AIA &amp; TCAD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1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Helvetica"/>
                      </a:endParaRPr>
                    </a:p>
                  </a:txBody>
                  <a:tcPr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Arial" charset="0"/>
                        </a:rPr>
                        <a:t>Sign the </a:t>
                      </a: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MOU for metadata sharing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AIA &amp; TCAD</a:t>
                      </a:r>
                      <a:endParaRPr kumimoji="0" lang="en-IN" sz="1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13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214D7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0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214D79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Metadata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214D79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Share Metadata with TCAD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AIA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1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214D79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Helvetica"/>
                      </a:endParaRPr>
                    </a:p>
                  </a:txBody>
                  <a:tcPr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  <a:buClr>
                          <a:srgbClr val="214D79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Evaluation of Metadata to define Proposal for Phase I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TCAD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132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0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Proposal and Engagement Model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Draft of the proposal for Phase I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TCAD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1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Finalize the Activities, Resources and Costing 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AIA &amp; TCAD</a:t>
                      </a:r>
                      <a:endParaRPr kumimoji="0" lang="en-IN" sz="1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741"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</a:endParaRPr>
                    </a:p>
                  </a:txBody>
                  <a:tcPr marL="0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Finalize the Proposal and Engagement model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AIA &amp; TCAD</a:t>
                      </a:r>
                      <a:endParaRPr kumimoji="0" lang="en-IN" sz="1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132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0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NDA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Draft the NDA with purpose of intent, data sharing &amp;privacy details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AIA &amp; TCAD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1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Helvetica"/>
                      </a:endParaRPr>
                    </a:p>
                  </a:txBody>
                  <a:tcPr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Arial" charset="0"/>
                        </a:rPr>
                        <a:t>Sign the NDA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AIA &amp; TCAD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132"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0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Phase I – Revenue Drivers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3 Key initiatives from Quick wins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AIA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1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*Monthly Review and Feedback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AIA &amp; TCAD</a:t>
                      </a:r>
                      <a:endParaRPr kumimoji="0" lang="en-IN" sz="1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1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</a:rPr>
                        <a:t>*Monthly Review and Feedback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AIA &amp; TCAD</a:t>
                      </a:r>
                      <a:endParaRPr kumimoji="0" lang="en-IN" sz="1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132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Helvetica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Helvetica"/>
                      </a:endParaRPr>
                    </a:p>
                  </a:txBody>
                  <a:tcPr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Arial" charset="0"/>
                        </a:rPr>
                        <a:t>Present the results of Phase I</a:t>
                      </a:r>
                    </a:p>
                  </a:txBody>
                  <a:tcPr marL="91429" marR="55428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214D79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AIA</a:t>
                      </a:r>
                      <a:endParaRPr kumimoji="0" lang="en-I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14D79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1429" marR="91429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9" name="Straight Connector 8"/>
          <p:cNvCxnSpPr/>
          <p:nvPr/>
        </p:nvCxnSpPr>
        <p:spPr>
          <a:xfrm>
            <a:off x="468965" y="1564441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9878173" y="6525784"/>
            <a:ext cx="2749834" cy="3689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2"/>
                </a:solidFill>
              </a:rPr>
              <a:t>* </a:t>
            </a:r>
            <a:r>
              <a:rPr lang="en-US" sz="1200" i="1" dirty="0" smtClean="0">
                <a:solidFill>
                  <a:schemeClr val="tx2"/>
                </a:solidFill>
              </a:rPr>
              <a:t>Monthly &amp; Quarterly reviews </a:t>
            </a:r>
            <a:endParaRPr lang="en-IN" sz="12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384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Support needed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Collaborations with the Marketing, Revenue, Legal and IT teams for a smooth engagement</a:t>
            </a:r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28357" y="1594951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724220" y="2472545"/>
            <a:ext cx="7588155" cy="52151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dirty="0" smtClean="0"/>
              <a:t>Tata AIA Life Data Champion and Custodian</a:t>
            </a:r>
            <a:endParaRPr lang="en-IN" sz="1600" dirty="0"/>
          </a:p>
        </p:txBody>
      </p:sp>
      <p:sp>
        <p:nvSpPr>
          <p:cNvPr id="17" name="Oval 16"/>
          <p:cNvSpPr/>
          <p:nvPr/>
        </p:nvSpPr>
        <p:spPr>
          <a:xfrm>
            <a:off x="1864903" y="2205374"/>
            <a:ext cx="1078173" cy="101779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smtClean="0">
                <a:solidFill>
                  <a:schemeClr val="tx2"/>
                </a:solidFill>
              </a:rPr>
              <a:t>1</a:t>
            </a:r>
            <a:endParaRPr lang="en-IN" sz="5400" dirty="0">
              <a:solidFill>
                <a:schemeClr val="tx2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24220" y="3752727"/>
            <a:ext cx="7588156" cy="52151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dirty="0"/>
              <a:t>Strategic Business Partner to champion analytics initiatives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24220" y="5032909"/>
            <a:ext cx="7580195" cy="52151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dirty="0" smtClean="0"/>
              <a:t>Regular Business Reviews for strategic direction &amp; alignment</a:t>
            </a:r>
            <a:endParaRPr lang="en-IN" sz="1600" dirty="0"/>
          </a:p>
        </p:txBody>
      </p:sp>
      <p:sp>
        <p:nvSpPr>
          <p:cNvPr id="21" name="Oval 20"/>
          <p:cNvSpPr/>
          <p:nvPr/>
        </p:nvSpPr>
        <p:spPr>
          <a:xfrm>
            <a:off x="1864903" y="3507978"/>
            <a:ext cx="1078173" cy="101779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smtClean="0">
                <a:solidFill>
                  <a:schemeClr val="tx2"/>
                </a:solidFill>
              </a:rPr>
              <a:t>2</a:t>
            </a:r>
            <a:endParaRPr lang="en-IN" sz="5400" dirty="0">
              <a:solidFill>
                <a:schemeClr val="tx2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1864903" y="4808893"/>
            <a:ext cx="1078173" cy="101779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smtClean="0">
                <a:solidFill>
                  <a:schemeClr val="tx2"/>
                </a:solidFill>
              </a:rPr>
              <a:t>3</a:t>
            </a:r>
            <a:endParaRPr lang="en-IN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049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Appendix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127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Key Offerings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srgbClr val="0E5580"/>
                </a:solidFill>
              </a:rPr>
              <a:pPr/>
              <a:t>28</a:t>
            </a:fld>
            <a:endParaRPr lang="en-US" dirty="0">
              <a:solidFill>
                <a:srgbClr val="0E558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Analytic offerings across 4 focus areas for the Insurance Industry </a:t>
            </a:r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550548" y="1603397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10"/>
          <p:cNvGrpSpPr/>
          <p:nvPr/>
        </p:nvGrpSpPr>
        <p:grpSpPr>
          <a:xfrm>
            <a:off x="5990935" y="1673796"/>
            <a:ext cx="161631" cy="388079"/>
            <a:chOff x="4430746" y="846486"/>
            <a:chExt cx="192032" cy="482773"/>
          </a:xfrm>
          <a:solidFill>
            <a:schemeClr val="bg1"/>
          </a:solidFill>
        </p:grpSpPr>
        <p:sp>
          <p:nvSpPr>
            <p:cNvPr id="12" name="Rounded Rectangle 11"/>
            <p:cNvSpPr/>
            <p:nvPr/>
          </p:nvSpPr>
          <p:spPr>
            <a:xfrm>
              <a:off x="4486192" y="846486"/>
              <a:ext cx="80965" cy="79512"/>
            </a:xfrm>
            <a:prstGeom prst="roundRect">
              <a:avLst>
                <a:gd name="adj" fmla="val 38323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0878" fontAlgn="base">
                <a:spcBef>
                  <a:spcPct val="0"/>
                </a:spcBef>
                <a:spcAft>
                  <a:spcPct val="0"/>
                </a:spcAft>
              </a:pPr>
              <a:endParaRPr lang="en-US" sz="900" dirty="0">
                <a:solidFill>
                  <a:srgbClr val="ACD433"/>
                </a:solidFill>
              </a:endParaRPr>
            </a:p>
          </p:txBody>
        </p:sp>
        <p:sp>
          <p:nvSpPr>
            <p:cNvPr id="13" name="Freeform 12"/>
            <p:cNvSpPr/>
            <p:nvPr/>
          </p:nvSpPr>
          <p:spPr>
            <a:xfrm>
              <a:off x="4430746" y="951517"/>
              <a:ext cx="192032" cy="377742"/>
            </a:xfrm>
            <a:custGeom>
              <a:avLst/>
              <a:gdLst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71475 w 1748790"/>
                <a:gd name="connsiteY13" fmla="*/ 45148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65760 w 1748790"/>
                <a:gd name="connsiteY13" fmla="*/ 41719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65760 w 1748790"/>
                <a:gd name="connsiteY13" fmla="*/ 41719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65760 w 1748790"/>
                <a:gd name="connsiteY13" fmla="*/ 41719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65760 w 1748790"/>
                <a:gd name="connsiteY13" fmla="*/ 41719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65760 w 1748790"/>
                <a:gd name="connsiteY13" fmla="*/ 41719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65760 w 1748790"/>
                <a:gd name="connsiteY13" fmla="*/ 41719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65760 w 1748790"/>
                <a:gd name="connsiteY13" fmla="*/ 41719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65760 w 1748790"/>
                <a:gd name="connsiteY13" fmla="*/ 41719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  <a:gd name="connsiteX0" fmla="*/ 200025 w 1748790"/>
                <a:gd name="connsiteY0" fmla="*/ 0 h 3274695"/>
                <a:gd name="connsiteX1" fmla="*/ 1537335 w 1748790"/>
                <a:gd name="connsiteY1" fmla="*/ 0 h 3274695"/>
                <a:gd name="connsiteX2" fmla="*/ 1748790 w 1748790"/>
                <a:gd name="connsiteY2" fmla="*/ 234315 h 3274695"/>
                <a:gd name="connsiteX3" fmla="*/ 1743075 w 1748790"/>
                <a:gd name="connsiteY3" fmla="*/ 1571625 h 3274695"/>
                <a:gd name="connsiteX4" fmla="*/ 1497330 w 1748790"/>
                <a:gd name="connsiteY4" fmla="*/ 1583055 h 3274695"/>
                <a:gd name="connsiteX5" fmla="*/ 1508760 w 1748790"/>
                <a:gd name="connsiteY5" fmla="*/ 480060 h 3274695"/>
                <a:gd name="connsiteX6" fmla="*/ 1388745 w 1748790"/>
                <a:gd name="connsiteY6" fmla="*/ 417195 h 3274695"/>
                <a:gd name="connsiteX7" fmla="*/ 1383030 w 1748790"/>
                <a:gd name="connsiteY7" fmla="*/ 1703070 h 3274695"/>
                <a:gd name="connsiteX8" fmla="*/ 1217295 w 1748790"/>
                <a:gd name="connsiteY8" fmla="*/ 3188970 h 3274695"/>
                <a:gd name="connsiteX9" fmla="*/ 1120140 w 1748790"/>
                <a:gd name="connsiteY9" fmla="*/ 3274695 h 3274695"/>
                <a:gd name="connsiteX10" fmla="*/ 617220 w 1748790"/>
                <a:gd name="connsiteY10" fmla="*/ 3274695 h 3274695"/>
                <a:gd name="connsiteX11" fmla="*/ 520065 w 1748790"/>
                <a:gd name="connsiteY11" fmla="*/ 3143250 h 3274695"/>
                <a:gd name="connsiteX12" fmla="*/ 371475 w 1748790"/>
                <a:gd name="connsiteY12" fmla="*/ 1651635 h 3274695"/>
                <a:gd name="connsiteX13" fmla="*/ 365760 w 1748790"/>
                <a:gd name="connsiteY13" fmla="*/ 417195 h 3274695"/>
                <a:gd name="connsiteX14" fmla="*/ 251460 w 1748790"/>
                <a:gd name="connsiteY14" fmla="*/ 491490 h 3274695"/>
                <a:gd name="connsiteX15" fmla="*/ 251460 w 1748790"/>
                <a:gd name="connsiteY15" fmla="*/ 1571625 h 3274695"/>
                <a:gd name="connsiteX16" fmla="*/ 0 w 1748790"/>
                <a:gd name="connsiteY16" fmla="*/ 1560195 h 3274695"/>
                <a:gd name="connsiteX17" fmla="*/ 0 w 1748790"/>
                <a:gd name="connsiteY17" fmla="*/ 257175 h 3274695"/>
                <a:gd name="connsiteX18" fmla="*/ 200025 w 1748790"/>
                <a:gd name="connsiteY18" fmla="*/ 0 h 3274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8790" h="3274695">
                  <a:moveTo>
                    <a:pt x="200025" y="0"/>
                  </a:moveTo>
                  <a:lnTo>
                    <a:pt x="1537335" y="0"/>
                  </a:lnTo>
                  <a:cubicBezTo>
                    <a:pt x="1716405" y="38100"/>
                    <a:pt x="1746885" y="127635"/>
                    <a:pt x="1748790" y="234315"/>
                  </a:cubicBezTo>
                  <a:lnTo>
                    <a:pt x="1743075" y="1571625"/>
                  </a:lnTo>
                  <a:cubicBezTo>
                    <a:pt x="1741170" y="1701165"/>
                    <a:pt x="1504950" y="1676400"/>
                    <a:pt x="1497330" y="1583055"/>
                  </a:cubicBezTo>
                  <a:lnTo>
                    <a:pt x="1508760" y="480060"/>
                  </a:lnTo>
                  <a:cubicBezTo>
                    <a:pt x="1514475" y="430530"/>
                    <a:pt x="1485900" y="392430"/>
                    <a:pt x="1388745" y="417195"/>
                  </a:cubicBezTo>
                  <a:lnTo>
                    <a:pt x="1383030" y="1703070"/>
                  </a:lnTo>
                  <a:lnTo>
                    <a:pt x="1217295" y="3188970"/>
                  </a:lnTo>
                  <a:cubicBezTo>
                    <a:pt x="1213485" y="3223260"/>
                    <a:pt x="1158240" y="3274695"/>
                    <a:pt x="1120140" y="3274695"/>
                  </a:cubicBezTo>
                  <a:lnTo>
                    <a:pt x="617220" y="3274695"/>
                  </a:lnTo>
                  <a:cubicBezTo>
                    <a:pt x="561975" y="3270885"/>
                    <a:pt x="523875" y="3198495"/>
                    <a:pt x="520065" y="3143250"/>
                  </a:cubicBezTo>
                  <a:lnTo>
                    <a:pt x="371475" y="1651635"/>
                  </a:lnTo>
                  <a:lnTo>
                    <a:pt x="365760" y="417195"/>
                  </a:lnTo>
                  <a:cubicBezTo>
                    <a:pt x="259080" y="401955"/>
                    <a:pt x="249555" y="455295"/>
                    <a:pt x="251460" y="491490"/>
                  </a:cubicBezTo>
                  <a:lnTo>
                    <a:pt x="251460" y="1571625"/>
                  </a:lnTo>
                  <a:cubicBezTo>
                    <a:pt x="241935" y="1693545"/>
                    <a:pt x="3810" y="1706880"/>
                    <a:pt x="0" y="1560195"/>
                  </a:cubicBezTo>
                  <a:lnTo>
                    <a:pt x="0" y="257175"/>
                  </a:lnTo>
                  <a:cubicBezTo>
                    <a:pt x="3810" y="85725"/>
                    <a:pt x="70485" y="5715"/>
                    <a:pt x="200025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0878" fontAlgn="base">
                <a:spcBef>
                  <a:spcPct val="0"/>
                </a:spcBef>
                <a:spcAft>
                  <a:spcPct val="0"/>
                </a:spcAft>
              </a:pPr>
              <a:endParaRPr lang="en-US" sz="900" dirty="0">
                <a:solidFill>
                  <a:srgbClr val="ACD433"/>
                </a:solidFill>
              </a:endParaRPr>
            </a:p>
          </p:txBody>
        </p:sp>
      </p:grp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250721"/>
              </p:ext>
            </p:extLst>
          </p:nvPr>
        </p:nvGraphicFramePr>
        <p:xfrm>
          <a:off x="5250873" y="1673795"/>
          <a:ext cx="6718214" cy="501443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291484"/>
                <a:gridCol w="4426730"/>
              </a:tblGrid>
              <a:tr h="26718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Areas</a:t>
                      </a:r>
                      <a:endParaRPr lang="en-IN" sz="16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dirty="0" smtClean="0">
                          <a:solidFill>
                            <a:schemeClr val="bg1"/>
                          </a:solidFill>
                        </a:rPr>
                        <a:t>Offerings</a:t>
                      </a:r>
                      <a:endParaRPr lang="en-IN" sz="1400" b="1" i="0" dirty="0" smtClean="0">
                        <a:solidFill>
                          <a:schemeClr val="bg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6191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Customer </a:t>
                      </a:r>
                      <a:r>
                        <a:rPr lang="en-IN" sz="1600" b="1" i="1" u="none" strike="noStrike" dirty="0" smtClean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Management</a:t>
                      </a:r>
                      <a:endParaRPr lang="en-IN" sz="1600" b="1" i="1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2286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1400" b="0" i="0" kern="120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Profiling and segmentation</a:t>
                      </a:r>
                    </a:p>
                    <a:p>
                      <a:pPr marL="228600" marR="0" indent="-2286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1400" b="0" i="0" kern="120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Loyalty Management</a:t>
                      </a:r>
                      <a:endParaRPr lang="en-IN" sz="1400" b="0" i="0" kern="120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indent="-2286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400" b="0" i="0" kern="120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Customer experience, service and sentiment analysis </a:t>
                      </a:r>
                    </a:p>
                    <a:p>
                      <a:pPr marR="0" indent="-2286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1400" b="0" i="0" kern="120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End to end customer management from      </a:t>
                      </a:r>
                    </a:p>
                    <a:p>
                      <a:pPr marR="0" indent="-2286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IN" sz="1400" b="0" i="0" kern="120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    acquisition to proactive/reactive retention</a:t>
                      </a:r>
                      <a:endParaRPr lang="en-IN" sz="1400" b="0" i="0" kern="120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R="0" indent="-2286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1400" b="0" i="0" kern="120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Customer</a:t>
                      </a:r>
                      <a:r>
                        <a:rPr lang="en-IN" sz="1400" b="0" i="0" kern="120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Life-Time Value/profitability </a:t>
                      </a:r>
                      <a:endParaRPr lang="en-IN" sz="1400" b="0" i="0" kern="120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-2286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1400" b="0" i="0" kern="120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Price</a:t>
                      </a:r>
                      <a:r>
                        <a:rPr lang="en-IN" sz="1400" b="0" i="0" kern="120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elasticity </a:t>
                      </a:r>
                      <a:endParaRPr lang="en-IN" sz="1400" b="0" i="0" kern="120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-2286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400" b="0" i="0" kern="120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Customer contacts and channel preference</a:t>
                      </a:r>
                      <a:endParaRPr lang="en-IN" sz="1400" dirty="0" smtClean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82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1" u="none" strike="noStrike" dirty="0" smtClean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Sales, Channel and Distribution Management</a:t>
                      </a:r>
                      <a:endParaRPr lang="en-IN" sz="1600" b="1" i="1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indent="-2286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Leads  prioritization/optimization to drive  qualitative sales volumes</a:t>
                      </a:r>
                    </a:p>
                    <a:p>
                      <a:pPr marL="228600" marR="0" indent="-2286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Sales effectiveness and workforce management</a:t>
                      </a:r>
                    </a:p>
                    <a:p>
                      <a:pPr marL="0" marR="0" indent="-2286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1400" b="0" i="0" kern="120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Effective marketing communications </a:t>
                      </a:r>
                      <a:endParaRPr lang="en-IN" sz="140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406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1" u="none" strike="noStrike" dirty="0" smtClean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Claim Management</a:t>
                      </a:r>
                      <a:endParaRPr lang="en-IN" sz="1600" b="1" i="1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AEF4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indent="-2286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1400" b="0" i="0" kern="120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Fraud and Medical</a:t>
                      </a:r>
                      <a:r>
                        <a:rPr lang="en-IN" sz="1400" b="0" i="0" kern="120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Management</a:t>
                      </a:r>
                      <a:endParaRPr lang="en-IN" sz="1400" b="0" i="0" kern="120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indent="-2286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1400" b="0" i="0" kern="120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Risk</a:t>
                      </a:r>
                      <a:r>
                        <a:rPr lang="en-IN" sz="1400" b="0" i="0" kern="120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management and monitoring</a:t>
                      </a:r>
                      <a:endParaRPr lang="en-IN" sz="1400" b="0" i="0" kern="120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indent="-2286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1400" b="0" i="0" kern="120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Claim application and registration</a:t>
                      </a:r>
                    </a:p>
                    <a:p>
                      <a:pPr marL="228600" marR="0" indent="-2286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1400" b="0" i="0" kern="120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Underwriting</a:t>
                      </a:r>
                      <a:r>
                        <a:rPr lang="en-IN" sz="1400" b="0" i="0" kern="120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and actuarial analysis</a:t>
                      </a:r>
                      <a:endParaRPr lang="en-IN" sz="1400" b="0" i="0" kern="1200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82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i="1" u="none" strike="noStrike" dirty="0" smtClean="0">
                          <a:solidFill>
                            <a:schemeClr val="tx2"/>
                          </a:solidFill>
                          <a:effectLst/>
                          <a:latin typeface="Century Gothic" panose="020B0502020202020204" pitchFamily="34" charset="0"/>
                        </a:rPr>
                        <a:t>Risk Management</a:t>
                      </a:r>
                      <a:endParaRPr lang="en-IN" sz="1600" b="1" i="1" u="none" strike="noStrike" dirty="0">
                        <a:solidFill>
                          <a:schemeClr val="tx2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C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indent="-2286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1400" b="0" i="0" kern="120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Vendor/Dealer Management</a:t>
                      </a:r>
                    </a:p>
                    <a:p>
                      <a:pPr marL="228600" marR="0" indent="-2286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1400" b="0" i="0" kern="120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Contracting</a:t>
                      </a:r>
                    </a:p>
                    <a:p>
                      <a:pPr marL="228600" marR="0" indent="-2286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1400" b="0" i="0" kern="120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Resource Management</a:t>
                      </a:r>
                    </a:p>
                    <a:p>
                      <a:pPr marL="228600" marR="0" indent="-2286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1400" b="0" i="0" kern="120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Expense Management</a:t>
                      </a:r>
                      <a:endParaRPr lang="en-IN" sz="1400" dirty="0" smtClean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754829"/>
              </p:ext>
            </p:extLst>
          </p:nvPr>
        </p:nvGraphicFramePr>
        <p:xfrm>
          <a:off x="110837" y="4993558"/>
          <a:ext cx="5070763" cy="94488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066799"/>
                <a:gridCol w="4003964"/>
              </a:tblGrid>
              <a:tr h="703434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2"/>
                          </a:solidFill>
                        </a:rPr>
                        <a:t>Data Sources</a:t>
                      </a:r>
                      <a:endParaRPr lang="en-IN" sz="1400" b="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solidFill>
                            <a:schemeClr val="tx2"/>
                          </a:solidFill>
                        </a:rPr>
                        <a:t>First party website</a:t>
                      </a:r>
                      <a:r>
                        <a:rPr lang="en-US" sz="1400" b="0" baseline="0" dirty="0" smtClean="0">
                          <a:solidFill>
                            <a:schemeClr val="tx2"/>
                          </a:solidFill>
                        </a:rPr>
                        <a:t> data, Mobile app data, Payment gateway data, DMP, Claims data, Social media, Distribution data, campaign data, call </a:t>
                      </a:r>
                      <a:r>
                        <a:rPr lang="en-US" sz="1400" b="0" baseline="0" dirty="0" err="1" smtClean="0">
                          <a:solidFill>
                            <a:schemeClr val="tx2"/>
                          </a:solidFill>
                        </a:rPr>
                        <a:t>centre</a:t>
                      </a:r>
                      <a:r>
                        <a:rPr lang="en-US" sz="1400" b="0" baseline="0" dirty="0" smtClean="0">
                          <a:solidFill>
                            <a:schemeClr val="tx2"/>
                          </a:solidFill>
                        </a:rPr>
                        <a:t> &amp; complaints data</a:t>
                      </a:r>
                      <a:endParaRPr lang="en-IN" sz="1400" b="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469938"/>
              </p:ext>
            </p:extLst>
          </p:nvPr>
        </p:nvGraphicFramePr>
        <p:xfrm>
          <a:off x="110836" y="6007888"/>
          <a:ext cx="5070764" cy="746608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052946"/>
                <a:gridCol w="4017818"/>
              </a:tblGrid>
              <a:tr h="746608"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 smtClean="0">
                          <a:solidFill>
                            <a:schemeClr val="tx2"/>
                          </a:solidFill>
                        </a:rPr>
                        <a:t>Predictive  Analysis</a:t>
                      </a:r>
                      <a:endParaRPr lang="en-IN" sz="1400" b="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-2286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400" b="0" i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Churn</a:t>
                      </a:r>
                      <a:r>
                        <a:rPr lang="en-US" sz="1400" b="0" i="0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analysis</a:t>
                      </a:r>
                      <a:r>
                        <a:rPr lang="en-US" sz="1400" b="0" i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Sentiment Analysis, Recommendations</a:t>
                      </a:r>
                      <a:r>
                        <a:rPr lang="en-US" sz="1400" b="0" i="0" kern="1200" baseline="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Attributes modeling, Social Network Analysis, Risk modeling </a:t>
                      </a:r>
                      <a:endParaRPr lang="en-IN" sz="1400" b="0" i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4" name="Diagram 43"/>
          <p:cNvGraphicFramePr/>
          <p:nvPr>
            <p:extLst>
              <p:ext uri="{D42A27DB-BD31-4B8C-83A1-F6EECF244321}">
                <p14:modId xmlns:p14="http://schemas.microsoft.com/office/powerpoint/2010/main" val="569985600"/>
              </p:ext>
            </p:extLst>
          </p:nvPr>
        </p:nvGraphicFramePr>
        <p:xfrm>
          <a:off x="-109182" y="1663765"/>
          <a:ext cx="5008728" cy="3276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5" name="TextBox 44"/>
          <p:cNvSpPr txBox="1"/>
          <p:nvPr/>
        </p:nvSpPr>
        <p:spPr bwMode="gray">
          <a:xfrm>
            <a:off x="1946973" y="2839066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n-US" sz="1400" b="1" dirty="0" smtClean="0">
                <a:solidFill>
                  <a:prstClr val="white"/>
                </a:solidFill>
              </a:rPr>
              <a:t>Marketing &amp; Sales</a:t>
            </a:r>
            <a:endParaRPr lang="en-IN" sz="1400" b="1" dirty="0" smtClean="0">
              <a:solidFill>
                <a:prstClr val="white"/>
              </a:solidFill>
            </a:endParaRPr>
          </a:p>
        </p:txBody>
      </p:sp>
      <p:sp>
        <p:nvSpPr>
          <p:cNvPr id="46" name="TextBox 45"/>
          <p:cNvSpPr txBox="1"/>
          <p:nvPr/>
        </p:nvSpPr>
        <p:spPr bwMode="gray">
          <a:xfrm>
            <a:off x="1946973" y="4079158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n-US" sz="1400" b="1" dirty="0" smtClean="0">
                <a:solidFill>
                  <a:schemeClr val="tx2"/>
                </a:solidFill>
              </a:rPr>
              <a:t>Distribution  </a:t>
            </a:r>
          </a:p>
          <a:p>
            <a:pPr algn="ctr"/>
            <a:r>
              <a:rPr lang="en-US" sz="1400" b="1" dirty="0" smtClean="0">
                <a:solidFill>
                  <a:schemeClr val="tx2"/>
                </a:solidFill>
              </a:rPr>
              <a:t>Management</a:t>
            </a:r>
          </a:p>
        </p:txBody>
      </p:sp>
      <p:sp>
        <p:nvSpPr>
          <p:cNvPr id="47" name="TextBox 46"/>
          <p:cNvSpPr txBox="1"/>
          <p:nvPr/>
        </p:nvSpPr>
        <p:spPr bwMode="gray">
          <a:xfrm>
            <a:off x="1919263" y="3437323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n-US" sz="1400" b="1" dirty="0" smtClean="0">
                <a:solidFill>
                  <a:prstClr val="white"/>
                </a:solidFill>
              </a:rPr>
              <a:t> Claim  Management</a:t>
            </a:r>
          </a:p>
        </p:txBody>
      </p:sp>
      <p:sp>
        <p:nvSpPr>
          <p:cNvPr id="48" name="TextBox 47"/>
          <p:cNvSpPr txBox="1"/>
          <p:nvPr/>
        </p:nvSpPr>
        <p:spPr bwMode="gray">
          <a:xfrm>
            <a:off x="1946973" y="1847583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n-US" sz="1400" b="1" dirty="0" smtClean="0">
                <a:solidFill>
                  <a:prstClr val="white"/>
                </a:solidFill>
              </a:rPr>
              <a:t>Customer</a:t>
            </a:r>
            <a:endParaRPr lang="en-IN" sz="1400" b="1" dirty="0" smtClean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86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Arrow Connector 66"/>
          <p:cNvCxnSpPr/>
          <p:nvPr/>
        </p:nvCxnSpPr>
        <p:spPr>
          <a:xfrm rot="16200000" flipH="1">
            <a:off x="6535352" y="3131752"/>
            <a:ext cx="1344676" cy="1182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9984" y="542362"/>
            <a:ext cx="10691159" cy="706964"/>
          </a:xfrm>
        </p:spPr>
        <p:txBody>
          <a:bodyPr/>
          <a:lstStyle/>
          <a:p>
            <a:r>
              <a:rPr lang="en-US" dirty="0" smtClean="0"/>
              <a:t>Leads for New customers: Prospect Database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Harness external, internal and group level data for quality prospecting and lead generation </a:t>
            </a:r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68947" y="1610156"/>
            <a:ext cx="11232000" cy="1971"/>
          </a:xfrm>
          <a:prstGeom prst="line">
            <a:avLst/>
          </a:prstGeom>
          <a:ln w="28575">
            <a:solidFill>
              <a:srgbClr val="1C57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260600" y="3847363"/>
            <a:ext cx="7407762" cy="403794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Data Integration, Customer Profiling, Segmentation etc.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8316" y="1888855"/>
            <a:ext cx="4045984" cy="5459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Tata Internal Data (</a:t>
            </a:r>
            <a:r>
              <a:rPr lang="en-US" sz="1400" dirty="0" err="1" smtClean="0"/>
              <a:t>Croma</a:t>
            </a:r>
            <a:r>
              <a:rPr lang="en-US" sz="1400" dirty="0" smtClean="0"/>
              <a:t>, Power,  AIA etc)</a:t>
            </a:r>
            <a:endParaRPr lang="en-IN" sz="1400" dirty="0"/>
          </a:p>
        </p:txBody>
      </p:sp>
      <p:sp>
        <p:nvSpPr>
          <p:cNvPr id="13" name="Rounded Rectangle 12"/>
          <p:cNvSpPr/>
          <p:nvPr/>
        </p:nvSpPr>
        <p:spPr>
          <a:xfrm>
            <a:off x="5308600" y="1895168"/>
            <a:ext cx="4409558" cy="5459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Tata External Data (Facebook, Twitter ,D&amp;B etc.)</a:t>
            </a:r>
            <a:endParaRPr lang="en-IN" sz="1400" dirty="0"/>
          </a:p>
        </p:txBody>
      </p:sp>
      <p:cxnSp>
        <p:nvCxnSpPr>
          <p:cNvPr id="21" name="Straight Arrow Connector 20"/>
          <p:cNvCxnSpPr/>
          <p:nvPr/>
        </p:nvCxnSpPr>
        <p:spPr>
          <a:xfrm rot="5400000">
            <a:off x="2784668" y="3130888"/>
            <a:ext cx="1374244" cy="93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4338923" y="4817049"/>
            <a:ext cx="1775877" cy="542563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Desired</a:t>
            </a:r>
          </a:p>
          <a:p>
            <a:pPr algn="ctr"/>
            <a:r>
              <a:rPr lang="en-US" sz="1600" dirty="0" smtClean="0"/>
              <a:t>Profiles</a:t>
            </a:r>
            <a:endParaRPr lang="en-IN" sz="1600" dirty="0"/>
          </a:p>
        </p:txBody>
      </p:sp>
      <p:sp>
        <p:nvSpPr>
          <p:cNvPr id="42" name="Rectangle 41"/>
          <p:cNvSpPr/>
          <p:nvPr/>
        </p:nvSpPr>
        <p:spPr>
          <a:xfrm>
            <a:off x="4361306" y="6253438"/>
            <a:ext cx="1775877" cy="405239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Targets</a:t>
            </a:r>
            <a:endParaRPr lang="en-IN" sz="1600" dirty="0"/>
          </a:p>
        </p:txBody>
      </p:sp>
      <p:sp>
        <p:nvSpPr>
          <p:cNvPr id="43" name="Rectangle 42"/>
          <p:cNvSpPr/>
          <p:nvPr/>
        </p:nvSpPr>
        <p:spPr>
          <a:xfrm>
            <a:off x="1128195" y="6131146"/>
            <a:ext cx="1800000" cy="5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Internal (Tata AIA) data</a:t>
            </a:r>
            <a:endParaRPr lang="en-IN" sz="1600" dirty="0"/>
          </a:p>
        </p:txBody>
      </p:sp>
      <p:sp>
        <p:nvSpPr>
          <p:cNvPr id="45" name="Oval 44"/>
          <p:cNvSpPr/>
          <p:nvPr/>
        </p:nvSpPr>
        <p:spPr>
          <a:xfrm>
            <a:off x="7002054" y="5397500"/>
            <a:ext cx="2167346" cy="669557"/>
          </a:xfrm>
          <a:prstGeom prst="ellipse">
            <a:avLst/>
          </a:prstGeom>
          <a:solidFill>
            <a:srgbClr val="BDE1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/>
                </a:solidFill>
              </a:rPr>
              <a:t>Campaigns &amp;Learning</a:t>
            </a:r>
            <a:endParaRPr lang="en-IN" sz="1400" dirty="0">
              <a:solidFill>
                <a:schemeClr val="tx2"/>
              </a:solidFill>
            </a:endParaRPr>
          </a:p>
        </p:txBody>
      </p:sp>
      <p:sp>
        <p:nvSpPr>
          <p:cNvPr id="47" name="Down Arrow 46"/>
          <p:cNvSpPr/>
          <p:nvPr/>
        </p:nvSpPr>
        <p:spPr>
          <a:xfrm rot="5400000">
            <a:off x="3519131" y="5851561"/>
            <a:ext cx="241090" cy="1164049"/>
          </a:xfrm>
          <a:prstGeom prst="down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Down Arrow 47"/>
          <p:cNvSpPr/>
          <p:nvPr/>
        </p:nvSpPr>
        <p:spPr>
          <a:xfrm>
            <a:off x="5122244" y="5397500"/>
            <a:ext cx="211756" cy="716651"/>
          </a:xfrm>
          <a:prstGeom prst="down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0" name="Curved Connector 49"/>
          <p:cNvCxnSpPr>
            <a:stCxn id="42" idx="3"/>
            <a:endCxn id="45" idx="4"/>
          </p:cNvCxnSpPr>
          <p:nvPr/>
        </p:nvCxnSpPr>
        <p:spPr>
          <a:xfrm flipV="1">
            <a:off x="6137183" y="6067057"/>
            <a:ext cx="1948544" cy="389001"/>
          </a:xfrm>
          <a:prstGeom prst="curvedConnector2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urved Connector 50"/>
          <p:cNvCxnSpPr>
            <a:stCxn id="45" idx="0"/>
            <a:endCxn id="40" idx="3"/>
          </p:cNvCxnSpPr>
          <p:nvPr/>
        </p:nvCxnSpPr>
        <p:spPr>
          <a:xfrm rot="16200000" flipV="1">
            <a:off x="6945680" y="4257452"/>
            <a:ext cx="309169" cy="1970927"/>
          </a:xfrm>
          <a:prstGeom prst="curvedConnector2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/>
          <p:nvPr/>
        </p:nvCxnSpPr>
        <p:spPr>
          <a:xfrm rot="10800000" flipV="1">
            <a:off x="9670763" y="3602094"/>
            <a:ext cx="714579" cy="324319"/>
          </a:xfrm>
          <a:prstGeom prst="bentConnector3">
            <a:avLst>
              <a:gd name="adj1" fmla="val 50000"/>
            </a:avLst>
          </a:prstGeom>
          <a:ln w="28575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Bent-Up Arrow 76"/>
          <p:cNvSpPr/>
          <p:nvPr/>
        </p:nvSpPr>
        <p:spPr>
          <a:xfrm rot="16200000" flipV="1">
            <a:off x="1691162" y="5567099"/>
            <a:ext cx="586858" cy="468000"/>
          </a:xfrm>
          <a:prstGeom prst="bentUp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88"/>
          <p:cNvGrpSpPr/>
          <p:nvPr/>
        </p:nvGrpSpPr>
        <p:grpSpPr>
          <a:xfrm>
            <a:off x="10398989" y="3317206"/>
            <a:ext cx="1600506" cy="1976695"/>
            <a:chOff x="10398989" y="4295768"/>
            <a:chExt cx="1600506" cy="1976695"/>
          </a:xfrm>
        </p:grpSpPr>
        <p:sp>
          <p:nvSpPr>
            <p:cNvPr id="44" name="Rectangle 43"/>
            <p:cNvSpPr/>
            <p:nvPr/>
          </p:nvSpPr>
          <p:spPr>
            <a:xfrm>
              <a:off x="10398989" y="4295768"/>
              <a:ext cx="1568421" cy="59707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Aggregate bureau data</a:t>
              </a:r>
              <a:endParaRPr lang="en-IN" sz="1600" dirty="0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10423053" y="4993600"/>
              <a:ext cx="1568421" cy="59707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Opportunity analysis</a:t>
              </a:r>
              <a:endParaRPr lang="en-IN" sz="1600" dirty="0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10431074" y="5675389"/>
              <a:ext cx="1568421" cy="59707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Internal segments</a:t>
              </a:r>
              <a:endParaRPr lang="en-IN" sz="1600" dirty="0"/>
            </a:p>
          </p:txBody>
        </p:sp>
      </p:grpSp>
      <p:cxnSp>
        <p:nvCxnSpPr>
          <p:cNvPr id="92" name="Elbow Connector 91"/>
          <p:cNvCxnSpPr/>
          <p:nvPr/>
        </p:nvCxnSpPr>
        <p:spPr>
          <a:xfrm rot="10800000">
            <a:off x="9691826" y="4214290"/>
            <a:ext cx="705852" cy="641681"/>
          </a:xfrm>
          <a:prstGeom prst="bentConnector3">
            <a:avLst>
              <a:gd name="adj1" fmla="val 50000"/>
            </a:avLst>
          </a:prstGeom>
          <a:ln w="28575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Elbow Connector 98"/>
          <p:cNvCxnSpPr/>
          <p:nvPr/>
        </p:nvCxnSpPr>
        <p:spPr>
          <a:xfrm rot="10800000">
            <a:off x="9665369" y="4061891"/>
            <a:ext cx="757684" cy="278980"/>
          </a:xfrm>
          <a:prstGeom prst="bentConnector3">
            <a:avLst>
              <a:gd name="adj1" fmla="val 50000"/>
            </a:avLst>
          </a:prstGeom>
          <a:ln w="28575">
            <a:solidFill>
              <a:schemeClr val="tx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Down Arrow 100"/>
          <p:cNvSpPr/>
          <p:nvPr/>
        </p:nvSpPr>
        <p:spPr>
          <a:xfrm>
            <a:off x="5083671" y="4224700"/>
            <a:ext cx="212229" cy="575899"/>
          </a:xfrm>
          <a:prstGeom prst="down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Rounded Rectangle 101"/>
          <p:cNvSpPr/>
          <p:nvPr/>
        </p:nvSpPr>
        <p:spPr>
          <a:xfrm>
            <a:off x="10299032" y="1780674"/>
            <a:ext cx="1652336" cy="1299410"/>
          </a:xfrm>
          <a:prstGeom prst="roundRect">
            <a:avLst/>
          </a:prstGeom>
          <a:noFill/>
          <a:ln w="25400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i="1" dirty="0" smtClean="0">
                <a:solidFill>
                  <a:schemeClr val="tx1"/>
                </a:solidFill>
              </a:rPr>
              <a:t>Segment level info from Tata Motors</a:t>
            </a:r>
          </a:p>
          <a:p>
            <a:endParaRPr lang="en-US" sz="1100" b="1" i="1" dirty="0" smtClean="0">
              <a:solidFill>
                <a:schemeClr val="tx1"/>
              </a:solidFill>
            </a:endParaRPr>
          </a:p>
          <a:p>
            <a:r>
              <a:rPr lang="en-US" sz="1100" b="1" i="1" dirty="0" smtClean="0">
                <a:solidFill>
                  <a:schemeClr val="tx1"/>
                </a:solidFill>
              </a:rPr>
              <a:t>Power consumption data from Tata Power for Risk Assessment</a:t>
            </a:r>
            <a:endParaRPr lang="en-IN" sz="1100" b="1" i="1" dirty="0">
              <a:solidFill>
                <a:schemeClr val="tx1"/>
              </a:solidFill>
            </a:endParaRPr>
          </a:p>
        </p:txBody>
      </p:sp>
      <p:sp>
        <p:nvSpPr>
          <p:cNvPr id="103" name="Left Brace 102"/>
          <p:cNvSpPr/>
          <p:nvPr/>
        </p:nvSpPr>
        <p:spPr>
          <a:xfrm>
            <a:off x="9994231" y="1668379"/>
            <a:ext cx="465221" cy="1572127"/>
          </a:xfrm>
          <a:prstGeom prst="leftBrace">
            <a:avLst>
              <a:gd name="adj1" fmla="val 37365"/>
              <a:gd name="adj2" fmla="val 48979"/>
            </a:avLst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/>
          <p:cNvSpPr/>
          <p:nvPr/>
        </p:nvSpPr>
        <p:spPr>
          <a:xfrm>
            <a:off x="2279751" y="5320329"/>
            <a:ext cx="1775877" cy="542563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Cross-sell</a:t>
            </a:r>
            <a:endParaRPr lang="en-IN" sz="1600" dirty="0"/>
          </a:p>
        </p:txBody>
      </p:sp>
      <p:sp>
        <p:nvSpPr>
          <p:cNvPr id="31" name="Down Arrow 30"/>
          <p:cNvSpPr/>
          <p:nvPr/>
        </p:nvSpPr>
        <p:spPr>
          <a:xfrm rot="16200000">
            <a:off x="4476241" y="5124823"/>
            <a:ext cx="264975" cy="989806"/>
          </a:xfrm>
          <a:prstGeom prst="down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386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Consumer Analytics Technology Stack</a:t>
            </a:r>
            <a:endParaRPr lang="en-IN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28356" y="1217086"/>
            <a:ext cx="11268691" cy="582362"/>
          </a:xfrm>
        </p:spPr>
        <p:txBody>
          <a:bodyPr>
            <a:noAutofit/>
          </a:bodyPr>
          <a:lstStyle/>
          <a:p>
            <a:r>
              <a:rPr lang="en-IN" dirty="0" smtClean="0">
                <a:solidFill>
                  <a:srgbClr val="26B3FE"/>
                </a:solidFill>
              </a:rPr>
              <a:t>We have put a robust analytical capability roadmap that will cost any company ~ 2 Cr at-least </a:t>
            </a:r>
            <a:endParaRPr lang="en-IN" dirty="0">
              <a:solidFill>
                <a:srgbClr val="26B3FE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875761" y="1799448"/>
          <a:ext cx="10176096" cy="4643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4024"/>
                <a:gridCol w="2544024"/>
                <a:gridCol w="2544024"/>
                <a:gridCol w="2544024"/>
              </a:tblGrid>
              <a:tr h="462499">
                <a:tc>
                  <a:txBody>
                    <a:bodyPr/>
                    <a:lstStyle/>
                    <a:p>
                      <a:r>
                        <a:rPr lang="en-IN" dirty="0" smtClean="0"/>
                        <a:t>Areas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Tool</a:t>
                      </a:r>
                      <a:r>
                        <a:rPr lang="en-IN" baseline="0" dirty="0" smtClean="0"/>
                        <a:t> set purpose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Phase 1 (</a:t>
                      </a:r>
                      <a:r>
                        <a:rPr lang="en-IN" baseline="0" dirty="0" smtClean="0"/>
                        <a:t>Q2)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Phase 2 ( Q3 )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813828">
                <a:tc>
                  <a:txBody>
                    <a:bodyPr/>
                    <a:lstStyle/>
                    <a:p>
                      <a:r>
                        <a:rPr lang="en-IN" b="1" dirty="0" smtClean="0"/>
                        <a:t>Data Management</a:t>
                      </a:r>
                      <a:endParaRPr lang="en-IN" b="1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Data</a:t>
                      </a:r>
                      <a:r>
                        <a:rPr lang="en-IN" sz="1600" baseline="0" dirty="0" smtClean="0"/>
                        <a:t> Quality , Data ingestion, Database</a:t>
                      </a:r>
                      <a:endParaRPr lang="en-IN" sz="16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Unix File</a:t>
                      </a:r>
                      <a:r>
                        <a:rPr lang="en-IN" sz="1600" baseline="0" dirty="0" smtClean="0"/>
                        <a:t> system</a:t>
                      </a:r>
                      <a:endParaRPr lang="en-IN" sz="16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SQL Server , Hadoop</a:t>
                      </a:r>
                      <a:endParaRPr lang="en-IN" sz="16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813828">
                <a:tc>
                  <a:txBody>
                    <a:bodyPr/>
                    <a:lstStyle/>
                    <a:p>
                      <a:r>
                        <a:rPr lang="en-IN" b="1" dirty="0" smtClean="0"/>
                        <a:t>Analytical</a:t>
                      </a:r>
                      <a:r>
                        <a:rPr lang="en-IN" b="1" baseline="0" dirty="0" smtClean="0"/>
                        <a:t> Toolset</a:t>
                      </a:r>
                      <a:endParaRPr lang="en-IN" b="1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Statistical</a:t>
                      </a:r>
                      <a:r>
                        <a:rPr lang="en-IN" sz="1600" baseline="0" dirty="0" smtClean="0"/>
                        <a:t> techniques</a:t>
                      </a:r>
                      <a:endParaRPr lang="en-IN" sz="16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R Studio</a:t>
                      </a:r>
                      <a:r>
                        <a:rPr lang="en-IN" sz="1600" baseline="0" dirty="0" smtClean="0"/>
                        <a:t>, WPS</a:t>
                      </a:r>
                      <a:endParaRPr lang="en-IN" sz="16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Machine Learning</a:t>
                      </a:r>
                    </a:p>
                    <a:p>
                      <a:r>
                        <a:rPr lang="en-IN" sz="1600" dirty="0" smtClean="0"/>
                        <a:t>(Python)</a:t>
                      </a:r>
                      <a:endParaRPr lang="en-IN" sz="16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869893">
                <a:tc>
                  <a:txBody>
                    <a:bodyPr/>
                    <a:lstStyle/>
                    <a:p>
                      <a:r>
                        <a:rPr lang="en-IN" b="1" dirty="0" smtClean="0"/>
                        <a:t>Visualization</a:t>
                      </a:r>
                      <a:endParaRPr lang="en-IN" b="1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MIS</a:t>
                      </a:r>
                      <a:r>
                        <a:rPr lang="en-IN" sz="1600" baseline="0" dirty="0" smtClean="0"/>
                        <a:t> Reporting, Advanced Visualization</a:t>
                      </a:r>
                      <a:endParaRPr lang="en-IN" sz="16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Tableau </a:t>
                      </a:r>
                      <a:endParaRPr lang="en-IN" sz="16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D3 , </a:t>
                      </a:r>
                      <a:r>
                        <a:rPr lang="en-IN" sz="1600" dirty="0" err="1" smtClean="0"/>
                        <a:t>Qlikview</a:t>
                      </a:r>
                      <a:r>
                        <a:rPr lang="en-IN" sz="1600" dirty="0" smtClean="0"/>
                        <a:t> / SSIR</a:t>
                      </a:r>
                      <a:endParaRPr lang="en-IN" sz="16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869893">
                <a:tc>
                  <a:txBody>
                    <a:bodyPr/>
                    <a:lstStyle/>
                    <a:p>
                      <a:r>
                        <a:rPr lang="en-IN" b="1" dirty="0" smtClean="0"/>
                        <a:t>Campaign Management</a:t>
                      </a:r>
                      <a:endParaRPr lang="en-IN" b="1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Marketing</a:t>
                      </a:r>
                      <a:r>
                        <a:rPr lang="en-IN" sz="1600" baseline="0" dirty="0" smtClean="0"/>
                        <a:t> Campaign , Event Based Marketing</a:t>
                      </a:r>
                      <a:endParaRPr lang="en-IN" sz="16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Scripting</a:t>
                      </a:r>
                      <a:r>
                        <a:rPr lang="en-IN" sz="1600" baseline="0" dirty="0" smtClean="0"/>
                        <a:t> based</a:t>
                      </a:r>
                      <a:endParaRPr lang="en-IN" sz="16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Adobe /</a:t>
                      </a:r>
                      <a:r>
                        <a:rPr lang="en-IN" sz="1600" baseline="0" dirty="0" smtClean="0"/>
                        <a:t> Exact-target</a:t>
                      </a:r>
                      <a:endParaRPr lang="en-IN" sz="16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813828">
                <a:tc>
                  <a:txBody>
                    <a:bodyPr/>
                    <a:lstStyle/>
                    <a:p>
                      <a:r>
                        <a:rPr lang="en-IN" b="1" dirty="0" smtClean="0"/>
                        <a:t>Infrastructure</a:t>
                      </a:r>
                      <a:endParaRPr lang="en-IN" b="1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Hosting &amp; Servers</a:t>
                      </a:r>
                      <a:endParaRPr lang="en-IN" sz="16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SFTP,</a:t>
                      </a:r>
                      <a:r>
                        <a:rPr lang="en-IN" sz="1600" baseline="0" dirty="0" smtClean="0"/>
                        <a:t> Unix , Windows Server, Web server</a:t>
                      </a:r>
                      <a:endParaRPr lang="en-IN" sz="16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Big Data</a:t>
                      </a:r>
                      <a:r>
                        <a:rPr lang="en-IN" sz="1600" baseline="0" dirty="0" smtClean="0"/>
                        <a:t> </a:t>
                      </a:r>
                      <a:r>
                        <a:rPr lang="en-IN" sz="1600" dirty="0" smtClean="0"/>
                        <a:t>Hadoop</a:t>
                      </a:r>
                      <a:r>
                        <a:rPr lang="en-IN" sz="1600" baseline="0" dirty="0" smtClean="0"/>
                        <a:t> Grid</a:t>
                      </a:r>
                      <a:endParaRPr lang="en-IN" sz="16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4677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Why use Analytics on Cloud?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-10659" y="1674796"/>
            <a:ext cx="5670312" cy="4735630"/>
          </a:xfrm>
        </p:spPr>
        <p:txBody>
          <a:bodyPr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IN" sz="1600" b="1" dirty="0" smtClean="0">
                <a:solidFill>
                  <a:schemeClr val="tx1"/>
                </a:solidFill>
              </a:rPr>
              <a:t>Diverse Toolset</a:t>
            </a:r>
            <a:r>
              <a:rPr lang="en-IN" sz="1600" dirty="0" smtClean="0">
                <a:solidFill>
                  <a:schemeClr val="tx1"/>
                </a:solidFill>
              </a:rPr>
              <a:t> </a:t>
            </a:r>
            <a:r>
              <a:rPr lang="en-IN" sz="1600" dirty="0">
                <a:solidFill>
                  <a:schemeClr val="tx1"/>
                </a:solidFill>
              </a:rPr>
              <a:t>: Traditional tool set is costly and small scale </a:t>
            </a:r>
            <a:r>
              <a:rPr lang="en-IN" sz="1600" dirty="0" smtClean="0">
                <a:solidFill>
                  <a:schemeClr val="tx1"/>
                </a:solidFill>
              </a:rPr>
              <a:t>results in high cost per analyst. Open source helps reduce TCO, needs expertise. </a:t>
            </a:r>
            <a:endParaRPr lang="en-IN" sz="1600" dirty="0">
              <a:solidFill>
                <a:schemeClr val="tx1"/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IN" sz="1600" b="1" dirty="0" smtClean="0">
                <a:solidFill>
                  <a:schemeClr val="tx1"/>
                </a:solidFill>
              </a:rPr>
              <a:t>Shared Capacity </a:t>
            </a:r>
            <a:r>
              <a:rPr lang="en-IN" sz="1600" dirty="0" smtClean="0">
                <a:solidFill>
                  <a:schemeClr val="tx1"/>
                </a:solidFill>
              </a:rPr>
              <a:t>: Better capacity utilization. Small installations, results in 30-40% unused capacity.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IN" sz="1600" b="1" dirty="0" smtClean="0">
                <a:solidFill>
                  <a:schemeClr val="tx1"/>
                </a:solidFill>
              </a:rPr>
              <a:t>Scalability</a:t>
            </a:r>
            <a:r>
              <a:rPr lang="en-IN" sz="1600" dirty="0" smtClean="0">
                <a:solidFill>
                  <a:schemeClr val="tx1"/>
                </a:solidFill>
              </a:rPr>
              <a:t> : Data is increasing rapidly and needs a scalable infrastructure.</a:t>
            </a:r>
            <a:endParaRPr lang="en-IN" sz="1600" dirty="0">
              <a:solidFill>
                <a:schemeClr val="tx1"/>
              </a:solidFill>
            </a:endParaRPr>
          </a:p>
          <a:p>
            <a:pPr marL="285750" indent="-285750">
              <a:spcBef>
                <a:spcPts val="1200"/>
              </a:spcBef>
              <a:spcAft>
                <a:spcPts val="600"/>
              </a:spcAft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IN" sz="1600" b="1" dirty="0" smtClean="0">
                <a:solidFill>
                  <a:schemeClr val="tx1"/>
                </a:solidFill>
              </a:rPr>
              <a:t>Enables Data Sharing* </a:t>
            </a:r>
            <a:r>
              <a:rPr lang="en-IN" sz="1600" dirty="0" smtClean="0">
                <a:solidFill>
                  <a:schemeClr val="tx1"/>
                </a:solidFill>
              </a:rPr>
              <a:t>: Enables easy data sharing across Tata groups and Power of one.</a:t>
            </a:r>
            <a:endParaRPr lang="en-IN" sz="1600" dirty="0">
              <a:solidFill>
                <a:schemeClr val="tx1"/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IN" sz="1600" b="1" dirty="0" smtClean="0">
                <a:solidFill>
                  <a:schemeClr val="tx1"/>
                </a:solidFill>
              </a:rPr>
              <a:t>Reduced Capital Risk: </a:t>
            </a:r>
            <a:r>
              <a:rPr lang="en-IN" sz="1600" dirty="0" smtClean="0">
                <a:solidFill>
                  <a:schemeClr val="tx1"/>
                </a:solidFill>
              </a:rPr>
              <a:t>Reduces risk of high capital investment and generate value with analytics investment and helps gradual scale-up.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IN" sz="1600" b="1" dirty="0" smtClean="0">
                <a:solidFill>
                  <a:schemeClr val="tx1"/>
                </a:solidFill>
              </a:rPr>
              <a:t>Time to market : </a:t>
            </a:r>
            <a:r>
              <a:rPr lang="en-IN" sz="1600" dirty="0" smtClean="0">
                <a:solidFill>
                  <a:schemeClr val="tx1"/>
                </a:solidFill>
              </a:rPr>
              <a:t>Faster time to market with ready platform and specialized talent and mature solution . Ready in 4-6 weeks. </a:t>
            </a: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483" y="2942948"/>
            <a:ext cx="6056725" cy="2930840"/>
          </a:xfrm>
          <a:prstGeom prst="rect">
            <a:avLst/>
          </a:prstGeom>
        </p:spPr>
      </p:pic>
      <p:sp>
        <p:nvSpPr>
          <p:cNvPr id="7" name="Text Placeholder 4"/>
          <p:cNvSpPr txBox="1">
            <a:spLocks/>
          </p:cNvSpPr>
          <p:nvPr/>
        </p:nvSpPr>
        <p:spPr>
          <a:xfrm>
            <a:off x="6237170" y="1656556"/>
            <a:ext cx="5723450" cy="1133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IN" sz="1800" b="0" i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IN" sz="1600" dirty="0" smtClean="0">
                <a:solidFill>
                  <a:srgbClr val="26B3FE"/>
                </a:solidFill>
              </a:rPr>
              <a:t>Renting a analytical solution generates 40% + saving. </a:t>
            </a:r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IN" sz="1600" dirty="0" smtClean="0">
                <a:solidFill>
                  <a:srgbClr val="26B3FE"/>
                </a:solidFill>
              </a:rPr>
              <a:t>Assumptions : Data growth of 20% annually, and analytical infra scaling from 0.5 TB in Year 1 to Year 5. </a:t>
            </a:r>
            <a:endParaRPr lang="en-IN" sz="1600" dirty="0">
              <a:solidFill>
                <a:srgbClr val="26B3FE"/>
              </a:solidFill>
            </a:endParaRPr>
          </a:p>
        </p:txBody>
      </p:sp>
      <p:sp>
        <p:nvSpPr>
          <p:cNvPr id="2" name="TextBox 1"/>
          <p:cNvSpPr txBox="1"/>
          <p:nvPr/>
        </p:nvSpPr>
        <p:spPr bwMode="gray">
          <a:xfrm>
            <a:off x="9622" y="6563504"/>
            <a:ext cx="9438941" cy="30893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IN" sz="1200" dirty="0"/>
              <a:t>* Contingent upon regulatory approvals and customer privacy consent for permissible data </a:t>
            </a:r>
            <a:r>
              <a:rPr lang="en-IN" sz="1200" dirty="0" smtClean="0"/>
              <a:t>sharing across Tata Companies</a:t>
            </a:r>
          </a:p>
        </p:txBody>
      </p:sp>
    </p:spTree>
    <p:extLst>
      <p:ext uri="{BB962C8B-B14F-4D97-AF65-F5344CB8AC3E}">
        <p14:creationId xmlns:p14="http://schemas.microsoft.com/office/powerpoint/2010/main" val="166540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Custom 2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0A3F60"/>
      </a:hlink>
      <a:folHlink>
        <a:srgbClr val="062A40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>
    <a:txDef>
      <a:spPr bwMode="gray"/>
      <a:bodyPr vert="horz" lIns="91440" tIns="45720" rIns="91440" bIns="45720" rtlCol="0" anchor="ctr">
        <a:noAutofit/>
      </a:bodyPr>
      <a:lstStyle>
        <a:defPPr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16946</TotalTime>
  <Words>2645</Words>
  <Application>Microsoft Office PowerPoint</Application>
  <PresentationFormat>Widescreen</PresentationFormat>
  <Paragraphs>693</Paragraphs>
  <Slides>31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Arial</vt:lpstr>
      <vt:lpstr>Calibri</vt:lpstr>
      <vt:lpstr>Century Gothic</vt:lpstr>
      <vt:lpstr>Courier New</vt:lpstr>
      <vt:lpstr>Geneva</vt:lpstr>
      <vt:lpstr>Interstate-LightCondensed</vt:lpstr>
      <vt:lpstr>Segoe UI</vt:lpstr>
      <vt:lpstr>Symbol</vt:lpstr>
      <vt:lpstr>Wingdings</vt:lpstr>
      <vt:lpstr>Wingdings 3</vt:lpstr>
      <vt:lpstr>ヒラギノ角ゴ Pro W3</vt:lpstr>
      <vt:lpstr>Ion Boardroom</vt:lpstr>
      <vt:lpstr>Tata AIA Analytics Offerings &amp; Roadmap</vt:lpstr>
      <vt:lpstr>Agenda</vt:lpstr>
      <vt:lpstr>Executive Summary</vt:lpstr>
      <vt:lpstr>Tata Customer Analytics  Company Overview</vt:lpstr>
      <vt:lpstr>Tata Customer Analytics Division - Overview</vt:lpstr>
      <vt:lpstr>Strategy: 3 Points of Inflection</vt:lpstr>
      <vt:lpstr>Tata AIA Business Priorities</vt:lpstr>
      <vt:lpstr>Analytics Opportunity Quadrants for Insurance organizations</vt:lpstr>
      <vt:lpstr>Tata AIA Business Priorities</vt:lpstr>
      <vt:lpstr>Analytics Roadmap for Y1 &amp; Y2</vt:lpstr>
      <vt:lpstr>Analytics Proposed Solution:    Quick Wins (0 to 6 Months)</vt:lpstr>
      <vt:lpstr>Quick Wins : (1) Know your customers</vt:lpstr>
      <vt:lpstr>Quick Wins (2) : Increase Penetration through Cross-sell/Up-sell</vt:lpstr>
      <vt:lpstr>Quick Wins (3):Sales Management Framework</vt:lpstr>
      <vt:lpstr>Analytics Proposed Solution:    Proposed Roadmap</vt:lpstr>
      <vt:lpstr>Customer Analytics Roadmap</vt:lpstr>
      <vt:lpstr>Sales &amp; Distribution Management Roadmap</vt:lpstr>
      <vt:lpstr>Claim Management Roadmap</vt:lpstr>
      <vt:lpstr>Digital Analytics</vt:lpstr>
      <vt:lpstr>Building the Tata Data Ecosystem</vt:lpstr>
      <vt:lpstr>Prospecting using One Tata</vt:lpstr>
      <vt:lpstr>Operating Model, Next Steps and Support Needed</vt:lpstr>
      <vt:lpstr>Tata AIA life and Consumer Analytics Division symbiosis  </vt:lpstr>
      <vt:lpstr>Consumer Analytics Division: Key Offerings </vt:lpstr>
      <vt:lpstr>Next Steps (0 to 6 months)</vt:lpstr>
      <vt:lpstr>Support needed</vt:lpstr>
      <vt:lpstr>Appendix</vt:lpstr>
      <vt:lpstr>Key Offerings</vt:lpstr>
      <vt:lpstr>Leads for New customers: Prospect Database </vt:lpstr>
      <vt:lpstr>Consumer Analytics Technology Stack</vt:lpstr>
      <vt:lpstr>Why use Analytics on Cloud?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Divya</dc:creator>
  <cp:lastModifiedBy>antra arora</cp:lastModifiedBy>
  <cp:revision>1381</cp:revision>
  <dcterms:created xsi:type="dcterms:W3CDTF">2015-03-10T08:40:33Z</dcterms:created>
  <dcterms:modified xsi:type="dcterms:W3CDTF">2015-07-20T06:00:56Z</dcterms:modified>
</cp:coreProperties>
</file>
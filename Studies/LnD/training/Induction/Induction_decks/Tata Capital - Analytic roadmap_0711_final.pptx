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9" r:id="rId2"/>
    <p:sldId id="260" r:id="rId3"/>
    <p:sldId id="390" r:id="rId4"/>
    <p:sldId id="261" r:id="rId5"/>
    <p:sldId id="262" r:id="rId6"/>
    <p:sldId id="303" r:id="rId7"/>
    <p:sldId id="311" r:id="rId8"/>
    <p:sldId id="409" r:id="rId9"/>
    <p:sldId id="387" r:id="rId10"/>
    <p:sldId id="312" r:id="rId11"/>
    <p:sldId id="411" r:id="rId12"/>
    <p:sldId id="412" r:id="rId13"/>
    <p:sldId id="403" r:id="rId14"/>
    <p:sldId id="408" r:id="rId15"/>
    <p:sldId id="354" r:id="rId16"/>
    <p:sldId id="335" r:id="rId17"/>
    <p:sldId id="401" r:id="rId18"/>
    <p:sldId id="410" r:id="rId19"/>
    <p:sldId id="361" r:id="rId20"/>
    <p:sldId id="381" r:id="rId21"/>
    <p:sldId id="413" r:id="rId22"/>
    <p:sldId id="39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060"/>
    <a:srgbClr val="BFBFBF"/>
    <a:srgbClr val="1A92DA"/>
    <a:srgbClr val="00A8EB"/>
    <a:srgbClr val="26B3FE"/>
    <a:srgbClr val="BDE1F8"/>
    <a:srgbClr val="7AC4F0"/>
    <a:srgbClr val="0F7EBF"/>
    <a:srgbClr val="375623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632" autoAdjust="0"/>
    <p:restoredTop sz="96543" autoAdjust="0"/>
  </p:normalViewPr>
  <p:slideViewPr>
    <p:cSldViewPr snapToGrid="0">
      <p:cViewPr>
        <p:scale>
          <a:sx n="60" d="100"/>
          <a:sy n="60" d="100"/>
        </p:scale>
        <p:origin x="-908" y="-220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 varScale="1">
      <p:scale>
        <a:sx n="100" d="100"/>
        <a:sy n="100" d="100"/>
      </p:scale>
      <p:origin x="0" y="-2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BC9F0D-8D1E-49DE-987E-EAA1CB8A4213}" type="doc">
      <dgm:prSet loTypeId="urn:microsoft.com/office/officeart/2008/layout/AscendingPictureAccentProcess" loCatId="process" qsTypeId="urn:microsoft.com/office/officeart/2005/8/quickstyle/simple2" qsCatId="simple" csTypeId="urn:microsoft.com/office/officeart/2005/8/colors/accent5_4" csCatId="accent5" phldr="1"/>
      <dgm:spPr/>
    </dgm:pt>
    <dgm:pt modelId="{96E88880-4B74-4754-8278-FC872C889C81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</a:rPr>
            <a:t>Single Tenant</a:t>
          </a:r>
          <a:endParaRPr lang="en-IN" sz="1800" dirty="0">
            <a:solidFill>
              <a:schemeClr val="bg1"/>
            </a:solidFill>
          </a:endParaRPr>
        </a:p>
      </dgm:t>
    </dgm:pt>
    <dgm:pt modelId="{73732F2F-6B8D-4C53-8D0F-D69C949F53A2}" type="parTrans" cxnId="{9B142A21-BAAD-448E-898B-1B15A6256F69}">
      <dgm:prSet/>
      <dgm:spPr/>
      <dgm:t>
        <a:bodyPr/>
        <a:lstStyle/>
        <a:p>
          <a:endParaRPr lang="en-IN"/>
        </a:p>
      </dgm:t>
    </dgm:pt>
    <dgm:pt modelId="{907C1680-B6BA-4522-A10E-C8C506AA95E7}" type="sibTrans" cxnId="{9B142A21-BAAD-448E-898B-1B15A6256F69}">
      <dgm:prSet/>
      <dgm:spPr/>
      <dgm:t>
        <a:bodyPr/>
        <a:lstStyle/>
        <a:p>
          <a:endParaRPr lang="en-IN"/>
        </a:p>
      </dgm:t>
    </dgm:pt>
    <dgm:pt modelId="{29BACE7B-6F44-447D-987E-BD8D654DFBC9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2"/>
              </a:solidFill>
            </a:rPr>
            <a:t>Multi Tenant</a:t>
          </a:r>
          <a:endParaRPr lang="en-IN" sz="1800" dirty="0">
            <a:solidFill>
              <a:schemeClr val="tx2"/>
            </a:solidFill>
          </a:endParaRPr>
        </a:p>
      </dgm:t>
    </dgm:pt>
    <dgm:pt modelId="{E44AE9FA-AB5B-4BC0-B674-39ABA3EFDD8D}" type="parTrans" cxnId="{F39DF507-275E-4B55-8D95-1615B3F2217C}">
      <dgm:prSet/>
      <dgm:spPr/>
      <dgm:t>
        <a:bodyPr/>
        <a:lstStyle/>
        <a:p>
          <a:endParaRPr lang="en-IN"/>
        </a:p>
      </dgm:t>
    </dgm:pt>
    <dgm:pt modelId="{10DA7AD0-52C8-441D-A49D-F79DFBFCB9CE}" type="sibTrans" cxnId="{F39DF507-275E-4B55-8D95-1615B3F2217C}">
      <dgm:prSet/>
      <dgm:spPr/>
      <dgm:t>
        <a:bodyPr/>
        <a:lstStyle/>
        <a:p>
          <a:endParaRPr lang="en-IN"/>
        </a:p>
      </dgm:t>
    </dgm:pt>
    <dgm:pt modelId="{90FC1049-B9D4-4C38-ABD8-F1D448FFF77D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2"/>
              </a:solidFill>
            </a:rPr>
            <a:t>One</a:t>
          </a:r>
          <a:r>
            <a:rPr lang="en-US" sz="1800" baseline="0" dirty="0" smtClean="0">
              <a:solidFill>
                <a:schemeClr val="tx2"/>
              </a:solidFill>
            </a:rPr>
            <a:t> Tata</a:t>
          </a:r>
          <a:endParaRPr lang="en-IN" sz="1800" dirty="0">
            <a:solidFill>
              <a:schemeClr val="tx2"/>
            </a:solidFill>
          </a:endParaRPr>
        </a:p>
      </dgm:t>
    </dgm:pt>
    <dgm:pt modelId="{DE1F5E56-C7EB-4CA7-A7FF-CAF5E38280EE}" type="parTrans" cxnId="{D498094B-ED11-4C91-A95A-20B397E2A6E1}">
      <dgm:prSet/>
      <dgm:spPr/>
      <dgm:t>
        <a:bodyPr/>
        <a:lstStyle/>
        <a:p>
          <a:endParaRPr lang="en-IN"/>
        </a:p>
      </dgm:t>
    </dgm:pt>
    <dgm:pt modelId="{2C390C12-7D04-4492-A968-755F1889C672}" type="sibTrans" cxnId="{D498094B-ED11-4C91-A95A-20B397E2A6E1}">
      <dgm:prSet/>
      <dgm:spPr/>
      <dgm:t>
        <a:bodyPr/>
        <a:lstStyle/>
        <a:p>
          <a:endParaRPr lang="en-IN"/>
        </a:p>
      </dgm:t>
    </dgm:pt>
    <dgm:pt modelId="{B75709DA-B2A0-4AD7-BD30-4D60C41DD363}" type="pres">
      <dgm:prSet presAssocID="{DEBC9F0D-8D1E-49DE-987E-EAA1CB8A4213}" presName="Name0" presStyleCnt="0">
        <dgm:presLayoutVars>
          <dgm:chMax val="7"/>
          <dgm:chPref val="7"/>
          <dgm:dir/>
        </dgm:presLayoutVars>
      </dgm:prSet>
      <dgm:spPr/>
    </dgm:pt>
    <dgm:pt modelId="{1B89DC53-0C5C-4412-8CEE-19C6A961C3C3}" type="pres">
      <dgm:prSet presAssocID="{DEBC9F0D-8D1E-49DE-987E-EAA1CB8A4213}" presName="dot1" presStyleLbl="alignNode1" presStyleIdx="0" presStyleCnt="12" custLinFactY="-36824" custLinFactNeighborY="-100000"/>
      <dgm:spPr/>
    </dgm:pt>
    <dgm:pt modelId="{32B61882-587B-47E3-831D-B2804B2B2868}" type="pres">
      <dgm:prSet presAssocID="{DEBC9F0D-8D1E-49DE-987E-EAA1CB8A4213}" presName="dot2" presStyleLbl="alignNode1" presStyleIdx="1" presStyleCnt="12" custLinFactY="-36824" custLinFactNeighborY="-100000"/>
      <dgm:spPr/>
    </dgm:pt>
    <dgm:pt modelId="{39B76545-8482-4339-8159-D6DB46C8DFEB}" type="pres">
      <dgm:prSet presAssocID="{DEBC9F0D-8D1E-49DE-987E-EAA1CB8A4213}" presName="dot3" presStyleLbl="alignNode1" presStyleIdx="2" presStyleCnt="12" custLinFactY="-36824" custLinFactNeighborY="-100000"/>
      <dgm:spPr/>
    </dgm:pt>
    <dgm:pt modelId="{72D73499-5901-4FED-A1AB-6F4734E972A6}" type="pres">
      <dgm:prSet presAssocID="{DEBC9F0D-8D1E-49DE-987E-EAA1CB8A4213}" presName="dot4" presStyleLbl="alignNode1" presStyleIdx="3" presStyleCnt="12" custLinFactY="-36824" custLinFactNeighborY="-100000"/>
      <dgm:spPr/>
    </dgm:pt>
    <dgm:pt modelId="{4C116175-7BD3-4C6C-899E-3825CFF57B88}" type="pres">
      <dgm:prSet presAssocID="{DEBC9F0D-8D1E-49DE-987E-EAA1CB8A4213}" presName="dot5" presStyleLbl="alignNode1" presStyleIdx="4" presStyleCnt="12" custLinFactY="-36824" custLinFactNeighborY="-100000"/>
      <dgm:spPr/>
    </dgm:pt>
    <dgm:pt modelId="{740E57A1-393C-4027-ACB9-99BB73DEA4AC}" type="pres">
      <dgm:prSet presAssocID="{DEBC9F0D-8D1E-49DE-987E-EAA1CB8A4213}" presName="dotArrow1" presStyleLbl="alignNode1" presStyleIdx="5" presStyleCnt="12" custLinFactY="-36824" custLinFactNeighborY="-100000"/>
      <dgm:spPr/>
    </dgm:pt>
    <dgm:pt modelId="{F28B11A1-7484-4C10-8571-DECF0F5412C9}" type="pres">
      <dgm:prSet presAssocID="{DEBC9F0D-8D1E-49DE-987E-EAA1CB8A4213}" presName="dotArrow2" presStyleLbl="alignNode1" presStyleIdx="6" presStyleCnt="12" custLinFactY="-36824" custLinFactNeighborY="-100000"/>
      <dgm:spPr/>
    </dgm:pt>
    <dgm:pt modelId="{9EC5EDB5-5A85-4905-9D54-82E753CC28EE}" type="pres">
      <dgm:prSet presAssocID="{DEBC9F0D-8D1E-49DE-987E-EAA1CB8A4213}" presName="dotArrow3" presStyleLbl="alignNode1" presStyleIdx="7" presStyleCnt="12" custLinFactY="-36824" custLinFactNeighborY="-100000"/>
      <dgm:spPr/>
    </dgm:pt>
    <dgm:pt modelId="{5D2BCBC1-97FE-4BA2-959F-5C3AF67B3B2B}" type="pres">
      <dgm:prSet presAssocID="{DEBC9F0D-8D1E-49DE-987E-EAA1CB8A4213}" presName="dotArrow4" presStyleLbl="alignNode1" presStyleIdx="8" presStyleCnt="12" custLinFactY="-36824" custLinFactNeighborY="-100000"/>
      <dgm:spPr/>
    </dgm:pt>
    <dgm:pt modelId="{AE7477A9-46C1-4444-885E-F81CABB24102}" type="pres">
      <dgm:prSet presAssocID="{DEBC9F0D-8D1E-49DE-987E-EAA1CB8A4213}" presName="dotArrow5" presStyleLbl="alignNode1" presStyleIdx="9" presStyleCnt="12" custLinFactY="-36824" custLinFactNeighborY="-100000"/>
      <dgm:spPr/>
    </dgm:pt>
    <dgm:pt modelId="{FB9D041D-E0EC-45E2-B120-9BC0C8C37F79}" type="pres">
      <dgm:prSet presAssocID="{DEBC9F0D-8D1E-49DE-987E-EAA1CB8A4213}" presName="dotArrow6" presStyleLbl="alignNode1" presStyleIdx="10" presStyleCnt="12" custLinFactY="-36824" custLinFactNeighborY="-100000"/>
      <dgm:spPr/>
    </dgm:pt>
    <dgm:pt modelId="{0B11E062-E9B9-43C0-957E-BD20E779482B}" type="pres">
      <dgm:prSet presAssocID="{DEBC9F0D-8D1E-49DE-987E-EAA1CB8A4213}" presName="dotArrow7" presStyleLbl="alignNode1" presStyleIdx="11" presStyleCnt="12" custLinFactY="-36824" custLinFactNeighborY="-100000"/>
      <dgm:spPr/>
    </dgm:pt>
    <dgm:pt modelId="{94568C37-428C-4CDA-9B2B-9DD15ACDA6B0}" type="pres">
      <dgm:prSet presAssocID="{96E88880-4B74-4754-8278-FC872C889C81}" presName="parTx1" presStyleLbl="node1" presStyleIdx="0" presStyleCnt="3" custScaleY="68903" custLinFactNeighborX="2176" custLinFactNeighborY="-38189"/>
      <dgm:spPr/>
      <dgm:t>
        <a:bodyPr/>
        <a:lstStyle/>
        <a:p>
          <a:endParaRPr lang="en-IN"/>
        </a:p>
      </dgm:t>
    </dgm:pt>
    <dgm:pt modelId="{21A857F2-7AB8-41AA-B2D0-460FF23A1933}" type="pres">
      <dgm:prSet presAssocID="{907C1680-B6BA-4522-A10E-C8C506AA95E7}" presName="picture1" presStyleCnt="0"/>
      <dgm:spPr/>
    </dgm:pt>
    <dgm:pt modelId="{EAB5CE4D-F253-4191-A001-1853051EF29B}" type="pres">
      <dgm:prSet presAssocID="{907C1680-B6BA-4522-A10E-C8C506AA95E7}" presName="imageRepeatNode" presStyleLbl="fgImgPlace1" presStyleIdx="0" presStyleCnt="3" custLinFactNeighborY="-13680"/>
      <dgm:spPr/>
      <dgm:t>
        <a:bodyPr/>
        <a:lstStyle/>
        <a:p>
          <a:endParaRPr lang="en-IN"/>
        </a:p>
      </dgm:t>
    </dgm:pt>
    <dgm:pt modelId="{D746A789-1E1B-4F15-BE25-A4D8E959C674}" type="pres">
      <dgm:prSet presAssocID="{29BACE7B-6F44-447D-987E-BD8D654DFBC9}" presName="parTx2" presStyleLbl="node1" presStyleIdx="1" presStyleCnt="3" custScaleY="68903" custLinFactNeighborX="1541" custLinFactNeighborY="-78247"/>
      <dgm:spPr/>
      <dgm:t>
        <a:bodyPr/>
        <a:lstStyle/>
        <a:p>
          <a:endParaRPr lang="en-IN"/>
        </a:p>
      </dgm:t>
    </dgm:pt>
    <dgm:pt modelId="{1053FEFB-4BD2-4FB4-8267-87B79DABDEA5}" type="pres">
      <dgm:prSet presAssocID="{10DA7AD0-52C8-441D-A49D-F79DFBFCB9CE}" presName="picture2" presStyleCnt="0"/>
      <dgm:spPr/>
    </dgm:pt>
    <dgm:pt modelId="{720CE90B-C5EC-47AD-A458-F2DC5C9A7675}" type="pres">
      <dgm:prSet presAssocID="{10DA7AD0-52C8-441D-A49D-F79DFBFCB9CE}" presName="imageRepeatNode" presStyleLbl="fgImgPlace1" presStyleIdx="1" presStyleCnt="3" custLinFactNeighborY="-13680"/>
      <dgm:spPr/>
      <dgm:t>
        <a:bodyPr/>
        <a:lstStyle/>
        <a:p>
          <a:endParaRPr lang="en-IN"/>
        </a:p>
      </dgm:t>
    </dgm:pt>
    <dgm:pt modelId="{D2017532-C082-4547-82B0-ED99C3BA7D77}" type="pres">
      <dgm:prSet presAssocID="{90FC1049-B9D4-4C38-ABD8-F1D448FFF77D}" presName="parTx3" presStyleLbl="node1" presStyleIdx="2" presStyleCnt="3" custScaleX="166366" custScaleY="87124" custLinFactNeighborX="34865" custLinFactNeighborY="-79502"/>
      <dgm:spPr/>
      <dgm:t>
        <a:bodyPr/>
        <a:lstStyle/>
        <a:p>
          <a:endParaRPr lang="en-IN"/>
        </a:p>
      </dgm:t>
    </dgm:pt>
    <dgm:pt modelId="{0EB1C999-104D-43E4-9DB7-0E87A40DC796}" type="pres">
      <dgm:prSet presAssocID="{2C390C12-7D04-4492-A968-755F1889C672}" presName="picture3" presStyleCnt="0"/>
      <dgm:spPr/>
    </dgm:pt>
    <dgm:pt modelId="{305520A3-EDB6-47CC-8C41-9D1A1D8212E6}" type="pres">
      <dgm:prSet presAssocID="{2C390C12-7D04-4492-A968-755F1889C672}" presName="imageRepeatNode" presStyleLbl="fgImgPlace1" presStyleIdx="2" presStyleCnt="3" custLinFactNeighborY="-14820"/>
      <dgm:spPr/>
      <dgm:t>
        <a:bodyPr/>
        <a:lstStyle/>
        <a:p>
          <a:endParaRPr lang="en-IN"/>
        </a:p>
      </dgm:t>
    </dgm:pt>
  </dgm:ptLst>
  <dgm:cxnLst>
    <dgm:cxn modelId="{9B142A21-BAAD-448E-898B-1B15A6256F69}" srcId="{DEBC9F0D-8D1E-49DE-987E-EAA1CB8A4213}" destId="{96E88880-4B74-4754-8278-FC872C889C81}" srcOrd="0" destOrd="0" parTransId="{73732F2F-6B8D-4C53-8D0F-D69C949F53A2}" sibTransId="{907C1680-B6BA-4522-A10E-C8C506AA95E7}"/>
    <dgm:cxn modelId="{F39DF507-275E-4B55-8D95-1615B3F2217C}" srcId="{DEBC9F0D-8D1E-49DE-987E-EAA1CB8A4213}" destId="{29BACE7B-6F44-447D-987E-BD8D654DFBC9}" srcOrd="1" destOrd="0" parTransId="{E44AE9FA-AB5B-4BC0-B674-39ABA3EFDD8D}" sibTransId="{10DA7AD0-52C8-441D-A49D-F79DFBFCB9CE}"/>
    <dgm:cxn modelId="{6AA59406-28C6-4B87-8310-2A3276E3D804}" type="presOf" srcId="{96E88880-4B74-4754-8278-FC872C889C81}" destId="{94568C37-428C-4CDA-9B2B-9DD15ACDA6B0}" srcOrd="0" destOrd="0" presId="urn:microsoft.com/office/officeart/2008/layout/AscendingPictureAccentProcess"/>
    <dgm:cxn modelId="{105A77D0-B147-41F9-BBC3-10144C9B4A07}" type="presOf" srcId="{90FC1049-B9D4-4C38-ABD8-F1D448FFF77D}" destId="{D2017532-C082-4547-82B0-ED99C3BA7D77}" srcOrd="0" destOrd="0" presId="urn:microsoft.com/office/officeart/2008/layout/AscendingPictureAccentProcess"/>
    <dgm:cxn modelId="{D498094B-ED11-4C91-A95A-20B397E2A6E1}" srcId="{DEBC9F0D-8D1E-49DE-987E-EAA1CB8A4213}" destId="{90FC1049-B9D4-4C38-ABD8-F1D448FFF77D}" srcOrd="2" destOrd="0" parTransId="{DE1F5E56-C7EB-4CA7-A7FF-CAF5E38280EE}" sibTransId="{2C390C12-7D04-4492-A968-755F1889C672}"/>
    <dgm:cxn modelId="{4A253553-7516-4DA9-84B8-4E8B25C04632}" type="presOf" srcId="{29BACE7B-6F44-447D-987E-BD8D654DFBC9}" destId="{D746A789-1E1B-4F15-BE25-A4D8E959C674}" srcOrd="0" destOrd="0" presId="urn:microsoft.com/office/officeart/2008/layout/AscendingPictureAccentProcess"/>
    <dgm:cxn modelId="{95BC2674-5AD0-4242-AD90-82AE1985ECD7}" type="presOf" srcId="{10DA7AD0-52C8-441D-A49D-F79DFBFCB9CE}" destId="{720CE90B-C5EC-47AD-A458-F2DC5C9A7675}" srcOrd="0" destOrd="0" presId="urn:microsoft.com/office/officeart/2008/layout/AscendingPictureAccentProcess"/>
    <dgm:cxn modelId="{5664AB97-12DD-4AC2-B3F7-F137EC200188}" type="presOf" srcId="{907C1680-B6BA-4522-A10E-C8C506AA95E7}" destId="{EAB5CE4D-F253-4191-A001-1853051EF29B}" srcOrd="0" destOrd="0" presId="urn:microsoft.com/office/officeart/2008/layout/AscendingPictureAccentProcess"/>
    <dgm:cxn modelId="{AAC68EF4-D3B8-4712-86CA-1E4B0E2AD4B2}" type="presOf" srcId="{DEBC9F0D-8D1E-49DE-987E-EAA1CB8A4213}" destId="{B75709DA-B2A0-4AD7-BD30-4D60C41DD363}" srcOrd="0" destOrd="0" presId="urn:microsoft.com/office/officeart/2008/layout/AscendingPictureAccentProcess"/>
    <dgm:cxn modelId="{784C5318-32D6-4738-8651-655A24731484}" type="presOf" srcId="{2C390C12-7D04-4492-A968-755F1889C672}" destId="{305520A3-EDB6-47CC-8C41-9D1A1D8212E6}" srcOrd="0" destOrd="0" presId="urn:microsoft.com/office/officeart/2008/layout/AscendingPictureAccentProcess"/>
    <dgm:cxn modelId="{641DB625-77FB-4C82-BAEB-7EB213CE94BF}" type="presParOf" srcId="{B75709DA-B2A0-4AD7-BD30-4D60C41DD363}" destId="{1B89DC53-0C5C-4412-8CEE-19C6A961C3C3}" srcOrd="0" destOrd="0" presId="urn:microsoft.com/office/officeart/2008/layout/AscendingPictureAccentProcess"/>
    <dgm:cxn modelId="{61E67946-AB76-44B0-B842-E1994047F69B}" type="presParOf" srcId="{B75709DA-B2A0-4AD7-BD30-4D60C41DD363}" destId="{32B61882-587B-47E3-831D-B2804B2B2868}" srcOrd="1" destOrd="0" presId="urn:microsoft.com/office/officeart/2008/layout/AscendingPictureAccentProcess"/>
    <dgm:cxn modelId="{3EB69C24-3D2C-4E12-9945-E06D9AD80EC3}" type="presParOf" srcId="{B75709DA-B2A0-4AD7-BD30-4D60C41DD363}" destId="{39B76545-8482-4339-8159-D6DB46C8DFEB}" srcOrd="2" destOrd="0" presId="urn:microsoft.com/office/officeart/2008/layout/AscendingPictureAccentProcess"/>
    <dgm:cxn modelId="{24CC45E2-ABFE-4E8B-914D-A6455B579BFB}" type="presParOf" srcId="{B75709DA-B2A0-4AD7-BD30-4D60C41DD363}" destId="{72D73499-5901-4FED-A1AB-6F4734E972A6}" srcOrd="3" destOrd="0" presId="urn:microsoft.com/office/officeart/2008/layout/AscendingPictureAccentProcess"/>
    <dgm:cxn modelId="{84216BBA-ADF4-44D4-8DDE-8B947EC70632}" type="presParOf" srcId="{B75709DA-B2A0-4AD7-BD30-4D60C41DD363}" destId="{4C116175-7BD3-4C6C-899E-3825CFF57B88}" srcOrd="4" destOrd="0" presId="urn:microsoft.com/office/officeart/2008/layout/AscendingPictureAccentProcess"/>
    <dgm:cxn modelId="{482A1AA9-D7E3-4D2D-A6F9-221C69505DD7}" type="presParOf" srcId="{B75709DA-B2A0-4AD7-BD30-4D60C41DD363}" destId="{740E57A1-393C-4027-ACB9-99BB73DEA4AC}" srcOrd="5" destOrd="0" presId="urn:microsoft.com/office/officeart/2008/layout/AscendingPictureAccentProcess"/>
    <dgm:cxn modelId="{E8CB640C-573E-4B79-929D-E68341FAA3A5}" type="presParOf" srcId="{B75709DA-B2A0-4AD7-BD30-4D60C41DD363}" destId="{F28B11A1-7484-4C10-8571-DECF0F5412C9}" srcOrd="6" destOrd="0" presId="urn:microsoft.com/office/officeart/2008/layout/AscendingPictureAccentProcess"/>
    <dgm:cxn modelId="{CE3B0228-C549-4C00-A0B6-DBC31185E934}" type="presParOf" srcId="{B75709DA-B2A0-4AD7-BD30-4D60C41DD363}" destId="{9EC5EDB5-5A85-4905-9D54-82E753CC28EE}" srcOrd="7" destOrd="0" presId="urn:microsoft.com/office/officeart/2008/layout/AscendingPictureAccentProcess"/>
    <dgm:cxn modelId="{89CCCC4D-478B-4B6F-8DCE-A06E15C88436}" type="presParOf" srcId="{B75709DA-B2A0-4AD7-BD30-4D60C41DD363}" destId="{5D2BCBC1-97FE-4BA2-959F-5C3AF67B3B2B}" srcOrd="8" destOrd="0" presId="urn:microsoft.com/office/officeart/2008/layout/AscendingPictureAccentProcess"/>
    <dgm:cxn modelId="{22994F60-472C-406C-9420-E69F603E74CB}" type="presParOf" srcId="{B75709DA-B2A0-4AD7-BD30-4D60C41DD363}" destId="{AE7477A9-46C1-4444-885E-F81CABB24102}" srcOrd="9" destOrd="0" presId="urn:microsoft.com/office/officeart/2008/layout/AscendingPictureAccentProcess"/>
    <dgm:cxn modelId="{C69CDA0B-A008-4063-986F-B5C1B75AD022}" type="presParOf" srcId="{B75709DA-B2A0-4AD7-BD30-4D60C41DD363}" destId="{FB9D041D-E0EC-45E2-B120-9BC0C8C37F79}" srcOrd="10" destOrd="0" presId="urn:microsoft.com/office/officeart/2008/layout/AscendingPictureAccentProcess"/>
    <dgm:cxn modelId="{5ECE39DC-6958-4CF2-9D38-56DB37218D2C}" type="presParOf" srcId="{B75709DA-B2A0-4AD7-BD30-4D60C41DD363}" destId="{0B11E062-E9B9-43C0-957E-BD20E779482B}" srcOrd="11" destOrd="0" presId="urn:microsoft.com/office/officeart/2008/layout/AscendingPictureAccentProcess"/>
    <dgm:cxn modelId="{09A33206-6898-4AF4-922E-7BB69BC621FB}" type="presParOf" srcId="{B75709DA-B2A0-4AD7-BD30-4D60C41DD363}" destId="{94568C37-428C-4CDA-9B2B-9DD15ACDA6B0}" srcOrd="12" destOrd="0" presId="urn:microsoft.com/office/officeart/2008/layout/AscendingPictureAccentProcess"/>
    <dgm:cxn modelId="{8DDE552D-595F-4895-B44B-CED6574866A0}" type="presParOf" srcId="{B75709DA-B2A0-4AD7-BD30-4D60C41DD363}" destId="{21A857F2-7AB8-41AA-B2D0-460FF23A1933}" srcOrd="13" destOrd="0" presId="urn:microsoft.com/office/officeart/2008/layout/AscendingPictureAccentProcess"/>
    <dgm:cxn modelId="{3DD433B5-D074-40FB-94BC-9C289B87A9D2}" type="presParOf" srcId="{21A857F2-7AB8-41AA-B2D0-460FF23A1933}" destId="{EAB5CE4D-F253-4191-A001-1853051EF29B}" srcOrd="0" destOrd="0" presId="urn:microsoft.com/office/officeart/2008/layout/AscendingPictureAccentProcess"/>
    <dgm:cxn modelId="{3A912F98-C59C-43DB-BF07-B30A1D07F638}" type="presParOf" srcId="{B75709DA-B2A0-4AD7-BD30-4D60C41DD363}" destId="{D746A789-1E1B-4F15-BE25-A4D8E959C674}" srcOrd="14" destOrd="0" presId="urn:microsoft.com/office/officeart/2008/layout/AscendingPictureAccentProcess"/>
    <dgm:cxn modelId="{A7E03641-3B6C-405A-84D5-6E2974E2B0F1}" type="presParOf" srcId="{B75709DA-B2A0-4AD7-BD30-4D60C41DD363}" destId="{1053FEFB-4BD2-4FB4-8267-87B79DABDEA5}" srcOrd="15" destOrd="0" presId="urn:microsoft.com/office/officeart/2008/layout/AscendingPictureAccentProcess"/>
    <dgm:cxn modelId="{EE6E07D5-ED37-423D-B063-DAD15CC8C0E0}" type="presParOf" srcId="{1053FEFB-4BD2-4FB4-8267-87B79DABDEA5}" destId="{720CE90B-C5EC-47AD-A458-F2DC5C9A7675}" srcOrd="0" destOrd="0" presId="urn:microsoft.com/office/officeart/2008/layout/AscendingPictureAccentProcess"/>
    <dgm:cxn modelId="{9F7C2181-86CA-4E9E-ACB7-D2B1FE45C094}" type="presParOf" srcId="{B75709DA-B2A0-4AD7-BD30-4D60C41DD363}" destId="{D2017532-C082-4547-82B0-ED99C3BA7D77}" srcOrd="16" destOrd="0" presId="urn:microsoft.com/office/officeart/2008/layout/AscendingPictureAccentProcess"/>
    <dgm:cxn modelId="{619F3F92-7A16-48AC-A19C-EB3D6EC7B2BB}" type="presParOf" srcId="{B75709DA-B2A0-4AD7-BD30-4D60C41DD363}" destId="{0EB1C999-104D-43E4-9DB7-0E87A40DC796}" srcOrd="17" destOrd="0" presId="urn:microsoft.com/office/officeart/2008/layout/AscendingPictureAccentProcess"/>
    <dgm:cxn modelId="{8E782903-93D8-4881-870D-C4AC56A75E89}" type="presParOf" srcId="{0EB1C999-104D-43E4-9DB7-0E87A40DC796}" destId="{305520A3-EDB6-47CC-8C41-9D1A1D8212E6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41977E-8B77-4E26-B9E4-872B9F5D811D}" type="doc">
      <dgm:prSet loTypeId="urn:microsoft.com/office/officeart/2005/8/layout/cycle4#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D518D5B-31C7-4E54-B9E2-C921DA14D2AC}">
      <dgm:prSet phldrT="[Text]" custT="1"/>
      <dgm:spPr>
        <a:solidFill>
          <a:schemeClr val="accent1">
            <a:lumMod val="75000"/>
          </a:schemeClr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z="1200" dirty="0" smtClean="0"/>
            <a:t>Revenue</a:t>
          </a:r>
          <a:r>
            <a:rPr lang="en-US" sz="1200" baseline="0" dirty="0" smtClean="0"/>
            <a:t> Growth &amp; Customer Analytics</a:t>
          </a:r>
          <a:endParaRPr lang="en-IN" sz="1200" dirty="0" smtClean="0"/>
        </a:p>
      </dgm:t>
    </dgm:pt>
    <dgm:pt modelId="{D970F40A-4329-4C87-92CD-BDD6CC87E660}" type="parTrans" cxnId="{2FDF2E22-7E03-47B7-8DC1-62BF8B42B1F0}">
      <dgm:prSet/>
      <dgm:spPr/>
      <dgm:t>
        <a:bodyPr/>
        <a:lstStyle/>
        <a:p>
          <a:endParaRPr lang="en-IN"/>
        </a:p>
      </dgm:t>
    </dgm:pt>
    <dgm:pt modelId="{0C409065-AF8F-4D65-9342-BC593390CF5A}" type="sibTrans" cxnId="{2FDF2E22-7E03-47B7-8DC1-62BF8B42B1F0}">
      <dgm:prSet/>
      <dgm:spPr/>
      <dgm:t>
        <a:bodyPr/>
        <a:lstStyle/>
        <a:p>
          <a:endParaRPr lang="en-IN"/>
        </a:p>
      </dgm:t>
    </dgm:pt>
    <dgm:pt modelId="{84181489-6311-469A-B501-EED4940A67FB}">
      <dgm:prSet phldrT="[Text]" custT="1"/>
      <dgm:spPr>
        <a:solidFill>
          <a:srgbClr val="072A40"/>
        </a:solidFill>
        <a:ln>
          <a:solidFill>
            <a:srgbClr val="072A40"/>
          </a:solidFill>
        </a:ln>
      </dgm:spPr>
      <dgm:t>
        <a:bodyPr/>
        <a:lstStyle/>
        <a:p>
          <a:r>
            <a:rPr lang="en-US" sz="1200" dirty="0" smtClean="0"/>
            <a:t>Risk Management</a:t>
          </a:r>
          <a:endParaRPr lang="en-IN" sz="1200" dirty="0"/>
        </a:p>
      </dgm:t>
    </dgm:pt>
    <dgm:pt modelId="{381CB815-5FE2-485F-9531-1D1FF4281A33}" type="parTrans" cxnId="{9D86E122-2EF3-4E6E-BD22-A6444C782C6B}">
      <dgm:prSet/>
      <dgm:spPr/>
      <dgm:t>
        <a:bodyPr/>
        <a:lstStyle/>
        <a:p>
          <a:endParaRPr lang="en-IN"/>
        </a:p>
      </dgm:t>
    </dgm:pt>
    <dgm:pt modelId="{3FA85DEF-66D5-46C1-8827-AC2AA40DFB12}" type="sibTrans" cxnId="{9D86E122-2EF3-4E6E-BD22-A6444C782C6B}">
      <dgm:prSet/>
      <dgm:spPr/>
      <dgm:t>
        <a:bodyPr/>
        <a:lstStyle/>
        <a:p>
          <a:endParaRPr lang="en-IN"/>
        </a:p>
      </dgm:t>
    </dgm:pt>
    <dgm:pt modelId="{418A7EDD-2B1C-4BE0-8796-5ADC08641253}">
      <dgm:prSet phldrT="[Text]" custT="1"/>
      <dgm:spPr>
        <a:solidFill>
          <a:schemeClr val="tx2">
            <a:lumMod val="60000"/>
            <a:lumOff val="40000"/>
          </a:schemeClr>
        </a:solidFill>
        <a:ln>
          <a:solidFill>
            <a:srgbClr val="38A6E9"/>
          </a:solidFill>
        </a:ln>
      </dgm:spPr>
      <dgm:t>
        <a:bodyPr/>
        <a:lstStyle/>
        <a:p>
          <a:r>
            <a:rPr lang="en-US" sz="1200" dirty="0" smtClean="0"/>
            <a:t>Product</a:t>
          </a:r>
          <a:r>
            <a:rPr lang="en-US" sz="1200" baseline="0" dirty="0" smtClean="0"/>
            <a:t> Innovation</a:t>
          </a:r>
          <a:endParaRPr lang="en-IN" sz="1200" dirty="0"/>
        </a:p>
      </dgm:t>
    </dgm:pt>
    <dgm:pt modelId="{40FCDBD7-5404-4939-8B2D-35C5B197857C}" type="parTrans" cxnId="{7D17805E-F42C-44B9-9E13-C224260EDDD8}">
      <dgm:prSet/>
      <dgm:spPr/>
      <dgm:t>
        <a:bodyPr/>
        <a:lstStyle/>
        <a:p>
          <a:endParaRPr lang="en-IN"/>
        </a:p>
      </dgm:t>
    </dgm:pt>
    <dgm:pt modelId="{12148E0C-625C-4A65-92EB-597196B46175}" type="sibTrans" cxnId="{7D17805E-F42C-44B9-9E13-C224260EDDD8}">
      <dgm:prSet/>
      <dgm:spPr/>
      <dgm:t>
        <a:bodyPr/>
        <a:lstStyle/>
        <a:p>
          <a:endParaRPr lang="en-IN"/>
        </a:p>
      </dgm:t>
    </dgm:pt>
    <dgm:pt modelId="{F8737A6A-B643-4907-A80D-EA8CAB72AD01}">
      <dgm:prSet phldrT="[Text]" custT="1"/>
      <dgm:spPr>
        <a:ln w="38100">
          <a:solidFill>
            <a:srgbClr val="38A6E9"/>
          </a:solidFill>
          <a:prstDash val="sysDash"/>
        </a:ln>
      </dgm:spPr>
      <dgm:t>
        <a:bodyPr tIns="0" bIns="0" anchor="t" anchorCtr="0"/>
        <a:lstStyle/>
        <a:p>
          <a:endParaRPr lang="en-IN" sz="1200" dirty="0">
            <a:solidFill>
              <a:schemeClr val="bg1">
                <a:lumMod val="50000"/>
              </a:schemeClr>
            </a:solidFill>
          </a:endParaRPr>
        </a:p>
      </dgm:t>
    </dgm:pt>
    <dgm:pt modelId="{4387723F-B807-4571-879F-F53FBDB626BE}" type="parTrans" cxnId="{B4B456D9-A7E1-4167-BC06-BAE6E4BF5FAE}">
      <dgm:prSet/>
      <dgm:spPr/>
      <dgm:t>
        <a:bodyPr/>
        <a:lstStyle/>
        <a:p>
          <a:endParaRPr lang="en-IN"/>
        </a:p>
      </dgm:t>
    </dgm:pt>
    <dgm:pt modelId="{F84467D5-A64A-4513-9F2B-945CFDD82601}" type="sibTrans" cxnId="{B4B456D9-A7E1-4167-BC06-BAE6E4BF5FAE}">
      <dgm:prSet/>
      <dgm:spPr/>
      <dgm:t>
        <a:bodyPr/>
        <a:lstStyle/>
        <a:p>
          <a:endParaRPr lang="en-IN"/>
        </a:p>
      </dgm:t>
    </dgm:pt>
    <dgm:pt modelId="{2949A73D-619A-4AEF-AF5D-700909E51798}">
      <dgm:prSet phldrT="[Text]" custT="1"/>
      <dgm:spPr>
        <a:ln w="38100">
          <a:solidFill>
            <a:srgbClr val="072A40"/>
          </a:solidFill>
          <a:prstDash val="sysDash"/>
        </a:ln>
      </dgm:spPr>
      <dgm:t>
        <a:bodyPr anchor="ctr"/>
        <a:lstStyle/>
        <a:p>
          <a:pPr algn="l"/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8F145A47-F13A-41DC-8312-1D3BE9DD1FA1}" type="parTrans" cxnId="{21FC5691-F57A-4E4D-A373-A498EE099276}">
      <dgm:prSet/>
      <dgm:spPr/>
      <dgm:t>
        <a:bodyPr/>
        <a:lstStyle/>
        <a:p>
          <a:endParaRPr lang="en-IN"/>
        </a:p>
      </dgm:t>
    </dgm:pt>
    <dgm:pt modelId="{1BF2AA23-A209-449B-A869-D94010D36C79}" type="sibTrans" cxnId="{21FC5691-F57A-4E4D-A373-A498EE099276}">
      <dgm:prSet/>
      <dgm:spPr/>
      <dgm:t>
        <a:bodyPr/>
        <a:lstStyle/>
        <a:p>
          <a:endParaRPr lang="en-IN"/>
        </a:p>
      </dgm:t>
    </dgm:pt>
    <dgm:pt modelId="{EDDEBDCA-9955-4077-9810-1ADC7869C5D0}">
      <dgm:prSet phldrT="[Text]" custT="1"/>
      <dgm:spPr>
        <a:ln w="38100">
          <a:solidFill>
            <a:schemeClr val="accent1">
              <a:lumMod val="75000"/>
            </a:schemeClr>
          </a:solidFill>
        </a:ln>
      </dgm:spPr>
      <dgm:t>
        <a:bodyPr/>
        <a:lstStyle/>
        <a:p>
          <a:endParaRPr lang="en-IN" sz="1400" dirty="0"/>
        </a:p>
      </dgm:t>
    </dgm:pt>
    <dgm:pt modelId="{4485C366-20D4-43EE-B3C1-DD07FF8D018A}" type="parTrans" cxnId="{1C964AC2-2A28-4484-825F-E0B06B14A238}">
      <dgm:prSet/>
      <dgm:spPr/>
      <dgm:t>
        <a:bodyPr/>
        <a:lstStyle/>
        <a:p>
          <a:endParaRPr lang="en-IN"/>
        </a:p>
      </dgm:t>
    </dgm:pt>
    <dgm:pt modelId="{032EA678-A96E-4D41-AFC0-26069924E8AB}" type="sibTrans" cxnId="{1C964AC2-2A28-4484-825F-E0B06B14A238}">
      <dgm:prSet/>
      <dgm:spPr/>
      <dgm:t>
        <a:bodyPr/>
        <a:lstStyle/>
        <a:p>
          <a:endParaRPr lang="en-IN"/>
        </a:p>
      </dgm:t>
    </dgm:pt>
    <dgm:pt modelId="{A3707838-35B5-44F2-80F9-2F85791609BC}">
      <dgm:prSet phldrT="[Text]" custT="1"/>
      <dgm:spPr>
        <a:ln w="38100">
          <a:solidFill>
            <a:schemeClr val="accent1">
              <a:lumMod val="75000"/>
            </a:schemeClr>
          </a:solidFill>
        </a:ln>
      </dgm:spPr>
      <dgm:t>
        <a:bodyPr/>
        <a:lstStyle/>
        <a:p>
          <a:endParaRPr lang="en-IN" sz="1400" dirty="0"/>
        </a:p>
      </dgm:t>
    </dgm:pt>
    <dgm:pt modelId="{BEC8214F-0655-4834-92B8-017B08479294}" type="parTrans" cxnId="{905B1219-42A1-4811-8BAF-2A008C898074}">
      <dgm:prSet/>
      <dgm:spPr/>
      <dgm:t>
        <a:bodyPr/>
        <a:lstStyle/>
        <a:p>
          <a:endParaRPr lang="en-IN"/>
        </a:p>
      </dgm:t>
    </dgm:pt>
    <dgm:pt modelId="{FBFEAB90-B781-4776-B4CD-CD1F8D45C189}" type="sibTrans" cxnId="{905B1219-42A1-4811-8BAF-2A008C898074}">
      <dgm:prSet/>
      <dgm:spPr/>
      <dgm:t>
        <a:bodyPr/>
        <a:lstStyle/>
        <a:p>
          <a:endParaRPr lang="en-IN"/>
        </a:p>
      </dgm:t>
    </dgm:pt>
    <dgm:pt modelId="{C510DFE1-4E9D-4D43-AE86-5279A0B75B9A}">
      <dgm:prSet phldrT="[Text]" custT="1"/>
      <dgm:spPr>
        <a:ln w="38100">
          <a:solidFill>
            <a:srgbClr val="072A40"/>
          </a:solidFill>
          <a:prstDash val="sysDash"/>
        </a:ln>
      </dgm:spPr>
      <dgm:t>
        <a:bodyPr anchor="ctr"/>
        <a:lstStyle/>
        <a:p>
          <a:pPr algn="l"/>
          <a:endParaRPr lang="en-IN" sz="1200" dirty="0">
            <a:solidFill>
              <a:schemeClr val="bg1">
                <a:lumMod val="50000"/>
              </a:schemeClr>
            </a:solidFill>
          </a:endParaRPr>
        </a:p>
      </dgm:t>
    </dgm:pt>
    <dgm:pt modelId="{75AFE48C-5216-4CD3-A8C8-BBC59620A011}" type="parTrans" cxnId="{590B863E-0CDE-4EBC-A053-67AB56CA18D0}">
      <dgm:prSet/>
      <dgm:spPr/>
      <dgm:t>
        <a:bodyPr/>
        <a:lstStyle/>
        <a:p>
          <a:endParaRPr lang="en-IN"/>
        </a:p>
      </dgm:t>
    </dgm:pt>
    <dgm:pt modelId="{0AA1BA18-7CE6-4CFF-A193-63F97BF9CA8A}" type="sibTrans" cxnId="{590B863E-0CDE-4EBC-A053-67AB56CA18D0}">
      <dgm:prSet/>
      <dgm:spPr/>
      <dgm:t>
        <a:bodyPr/>
        <a:lstStyle/>
        <a:p>
          <a:endParaRPr lang="en-IN"/>
        </a:p>
      </dgm:t>
    </dgm:pt>
    <dgm:pt modelId="{4034ED69-AA85-49C0-9ED3-D4584C5D94CA}">
      <dgm:prSet phldrT="[Text]" custT="1"/>
      <dgm:spPr>
        <a:ln w="38100">
          <a:solidFill>
            <a:srgbClr val="072A40"/>
          </a:solidFill>
          <a:prstDash val="sysDash"/>
        </a:ln>
      </dgm:spPr>
      <dgm:t>
        <a:bodyPr anchor="ctr"/>
        <a:lstStyle/>
        <a:p>
          <a:pPr algn="l"/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5A1792C4-9FE4-429E-AEAA-A32718B14603}" type="parTrans" cxnId="{4271B99F-B76B-4873-AD30-E28278E896CC}">
      <dgm:prSet/>
      <dgm:spPr/>
      <dgm:t>
        <a:bodyPr/>
        <a:lstStyle/>
        <a:p>
          <a:endParaRPr lang="en-IN"/>
        </a:p>
      </dgm:t>
    </dgm:pt>
    <dgm:pt modelId="{900E522E-973E-4754-ACA5-4298D4236F0F}" type="sibTrans" cxnId="{4271B99F-B76B-4873-AD30-E28278E896CC}">
      <dgm:prSet/>
      <dgm:spPr/>
      <dgm:t>
        <a:bodyPr/>
        <a:lstStyle/>
        <a:p>
          <a:endParaRPr lang="en-IN"/>
        </a:p>
      </dgm:t>
    </dgm:pt>
    <dgm:pt modelId="{A2F736F5-FEED-4FFC-8622-08E03BE84010}">
      <dgm:prSet phldrT="[Text]" custT="1"/>
      <dgm:spPr>
        <a:ln w="38100">
          <a:solidFill>
            <a:schemeClr val="accent1">
              <a:lumMod val="75000"/>
            </a:schemeClr>
          </a:solidFill>
        </a:ln>
      </dgm:spPr>
      <dgm:t>
        <a:bodyPr/>
        <a:lstStyle/>
        <a:p>
          <a:endParaRPr lang="en-IN" sz="1400" dirty="0"/>
        </a:p>
      </dgm:t>
    </dgm:pt>
    <dgm:pt modelId="{5CE548D4-0A13-436A-983B-587ACB74F7E9}" type="parTrans" cxnId="{BD197145-A844-41B3-9E25-97FA82850A4B}">
      <dgm:prSet/>
      <dgm:spPr/>
      <dgm:t>
        <a:bodyPr/>
        <a:lstStyle/>
        <a:p>
          <a:endParaRPr lang="en-US"/>
        </a:p>
      </dgm:t>
    </dgm:pt>
    <dgm:pt modelId="{64797E80-74FE-4D5B-8536-B6BD481D4FA6}" type="sibTrans" cxnId="{BD197145-A844-41B3-9E25-97FA82850A4B}">
      <dgm:prSet/>
      <dgm:spPr/>
      <dgm:t>
        <a:bodyPr/>
        <a:lstStyle/>
        <a:p>
          <a:endParaRPr lang="en-US"/>
        </a:p>
      </dgm:t>
    </dgm:pt>
    <dgm:pt modelId="{B74B3AF5-8650-4AC1-9EC6-5718B9BBFFF7}">
      <dgm:prSet phldrT="[Text]" custT="1"/>
      <dgm:spPr>
        <a:ln w="38100">
          <a:solidFill>
            <a:srgbClr val="83A322"/>
          </a:solidFill>
          <a:prstDash val="solid"/>
        </a:ln>
      </dgm:spPr>
      <dgm:t>
        <a:bodyPr/>
        <a:lstStyle/>
        <a:p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9FA3809E-7E11-4362-A168-41BCE97784C0}" type="sibTrans" cxnId="{D2D018CC-B6E2-4897-92FD-CB5A9E82FE50}">
      <dgm:prSet/>
      <dgm:spPr/>
      <dgm:t>
        <a:bodyPr/>
        <a:lstStyle/>
        <a:p>
          <a:endParaRPr lang="en-US"/>
        </a:p>
      </dgm:t>
    </dgm:pt>
    <dgm:pt modelId="{72DB22C2-F6EE-46DD-AF1B-86865AD3BFC8}" type="parTrans" cxnId="{D2D018CC-B6E2-4897-92FD-CB5A9E82FE50}">
      <dgm:prSet/>
      <dgm:spPr/>
      <dgm:t>
        <a:bodyPr/>
        <a:lstStyle/>
        <a:p>
          <a:endParaRPr lang="en-US"/>
        </a:p>
      </dgm:t>
    </dgm:pt>
    <dgm:pt modelId="{0F68DA45-85A0-4AC4-A4DC-A4B0EF3D9718}">
      <dgm:prSet phldrT="[Text]" custT="1"/>
      <dgm:spPr>
        <a:solidFill>
          <a:srgbClr val="83A322"/>
        </a:solidFill>
        <a:ln>
          <a:noFill/>
        </a:ln>
      </dgm:spPr>
      <dgm:t>
        <a:bodyPr anchor="ctr"/>
        <a:lstStyle/>
        <a:p>
          <a:r>
            <a:rPr lang="en-US" sz="1200" dirty="0" smtClean="0"/>
            <a:t>Process &amp; </a:t>
          </a:r>
          <a:r>
            <a:rPr lang="en-US" sz="1200" baseline="0" dirty="0" smtClean="0"/>
            <a:t> Cost Optimization</a:t>
          </a:r>
          <a:endParaRPr lang="en-IN" sz="1200" dirty="0"/>
        </a:p>
      </dgm:t>
    </dgm:pt>
    <dgm:pt modelId="{F9E26085-7F61-40D2-A391-111CE89EF2D1}" type="sibTrans" cxnId="{09C97201-6C9D-40A0-861A-3560AD5DE2FF}">
      <dgm:prSet/>
      <dgm:spPr/>
      <dgm:t>
        <a:bodyPr/>
        <a:lstStyle/>
        <a:p>
          <a:endParaRPr lang="en-IN"/>
        </a:p>
      </dgm:t>
    </dgm:pt>
    <dgm:pt modelId="{1DB84AE4-12FB-4E8C-9CD0-1A59BD03AEE2}" type="parTrans" cxnId="{09C97201-6C9D-40A0-861A-3560AD5DE2FF}">
      <dgm:prSet/>
      <dgm:spPr/>
      <dgm:t>
        <a:bodyPr/>
        <a:lstStyle/>
        <a:p>
          <a:endParaRPr lang="en-IN"/>
        </a:p>
      </dgm:t>
    </dgm:pt>
    <dgm:pt modelId="{04D3DC2D-4657-4DE5-909E-598B08CFE9AB}" type="pres">
      <dgm:prSet presAssocID="{4F41977E-8B77-4E26-B9E4-872B9F5D811D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74E4B53-E53E-4723-8508-33A717CFB8D2}" type="pres">
      <dgm:prSet presAssocID="{4F41977E-8B77-4E26-B9E4-872B9F5D811D}" presName="children" presStyleCnt="0"/>
      <dgm:spPr/>
    </dgm:pt>
    <dgm:pt modelId="{90A07D5F-35AD-46A2-892C-E2F8D3075F67}" type="pres">
      <dgm:prSet presAssocID="{4F41977E-8B77-4E26-B9E4-872B9F5D811D}" presName="child1group" presStyleCnt="0"/>
      <dgm:spPr/>
    </dgm:pt>
    <dgm:pt modelId="{EA1CF468-DFD6-47EA-BA3B-D6596839DE24}" type="pres">
      <dgm:prSet presAssocID="{4F41977E-8B77-4E26-B9E4-872B9F5D811D}" presName="child1" presStyleLbl="bgAcc1" presStyleIdx="0" presStyleCnt="4" custScaleX="245118" custScaleY="150422" custLinFactNeighborX="-52911" custLinFactNeighborY="26938"/>
      <dgm:spPr/>
      <dgm:t>
        <a:bodyPr/>
        <a:lstStyle/>
        <a:p>
          <a:endParaRPr lang="en-IN"/>
        </a:p>
      </dgm:t>
    </dgm:pt>
    <dgm:pt modelId="{D44E9886-EE47-4AEC-B3A9-184FE1FD28BF}" type="pres">
      <dgm:prSet presAssocID="{4F41977E-8B77-4E26-B9E4-872B9F5D811D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C0CAA45-5DF8-452E-B442-5249A5501F83}" type="pres">
      <dgm:prSet presAssocID="{4F41977E-8B77-4E26-B9E4-872B9F5D811D}" presName="child2group" presStyleCnt="0"/>
      <dgm:spPr/>
    </dgm:pt>
    <dgm:pt modelId="{FF479E3D-9041-4422-850F-BDBE1E018A26}" type="pres">
      <dgm:prSet presAssocID="{4F41977E-8B77-4E26-B9E4-872B9F5D811D}" presName="child2" presStyleLbl="bgAcc1" presStyleIdx="1" presStyleCnt="4" custScaleX="244220" custScaleY="150776" custLinFactNeighborX="44305" custLinFactNeighborY="25995"/>
      <dgm:spPr/>
      <dgm:t>
        <a:bodyPr/>
        <a:lstStyle/>
        <a:p>
          <a:endParaRPr lang="en-IN"/>
        </a:p>
      </dgm:t>
    </dgm:pt>
    <dgm:pt modelId="{F687DB78-8653-41D8-B47A-D1349D3DE866}" type="pres">
      <dgm:prSet presAssocID="{4F41977E-8B77-4E26-B9E4-872B9F5D811D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E7BC13E-376C-4189-A069-E551B3461088}" type="pres">
      <dgm:prSet presAssocID="{4F41977E-8B77-4E26-B9E4-872B9F5D811D}" presName="child3group" presStyleCnt="0"/>
      <dgm:spPr/>
    </dgm:pt>
    <dgm:pt modelId="{9D4A2B47-CA3E-4D38-8FE4-821B105AC727}" type="pres">
      <dgm:prSet presAssocID="{4F41977E-8B77-4E26-B9E4-872B9F5D811D}" presName="child3" presStyleLbl="bgAcc1" presStyleIdx="2" presStyleCnt="4" custScaleX="244490" custScaleY="152533" custLinFactNeighborX="43665" custLinFactNeighborY="-26307"/>
      <dgm:spPr/>
      <dgm:t>
        <a:bodyPr/>
        <a:lstStyle/>
        <a:p>
          <a:endParaRPr lang="en-IN"/>
        </a:p>
      </dgm:t>
    </dgm:pt>
    <dgm:pt modelId="{5E27B9DA-4D8C-4B78-82F9-3051D6C393D1}" type="pres">
      <dgm:prSet presAssocID="{4F41977E-8B77-4E26-B9E4-872B9F5D811D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19694CE-DA13-4567-92C0-8146D849C541}" type="pres">
      <dgm:prSet presAssocID="{4F41977E-8B77-4E26-B9E4-872B9F5D811D}" presName="child4group" presStyleCnt="0"/>
      <dgm:spPr/>
    </dgm:pt>
    <dgm:pt modelId="{7B0C5E8F-FA50-4B7C-ACB1-CD02C01968C1}" type="pres">
      <dgm:prSet presAssocID="{4F41977E-8B77-4E26-B9E4-872B9F5D811D}" presName="child4" presStyleLbl="bgAcc1" presStyleIdx="3" presStyleCnt="4" custScaleX="243353" custScaleY="153106" custLinFactNeighborX="-49604" custLinFactNeighborY="-26225"/>
      <dgm:spPr/>
      <dgm:t>
        <a:bodyPr/>
        <a:lstStyle/>
        <a:p>
          <a:endParaRPr lang="en-IN"/>
        </a:p>
      </dgm:t>
    </dgm:pt>
    <dgm:pt modelId="{63B66627-9970-4C61-889A-FA882A541B4A}" type="pres">
      <dgm:prSet presAssocID="{4F41977E-8B77-4E26-B9E4-872B9F5D811D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864359C-7F85-488C-AF4D-EC05F8F37D1D}" type="pres">
      <dgm:prSet presAssocID="{4F41977E-8B77-4E26-B9E4-872B9F5D811D}" presName="childPlaceholder" presStyleCnt="0"/>
      <dgm:spPr/>
    </dgm:pt>
    <dgm:pt modelId="{E21232DA-D349-4C35-8182-B2ED9C9747B8}" type="pres">
      <dgm:prSet presAssocID="{4F41977E-8B77-4E26-B9E4-872B9F5D811D}" presName="circle" presStyleCnt="0"/>
      <dgm:spPr/>
    </dgm:pt>
    <dgm:pt modelId="{0F544FD3-0813-4A38-8462-F11F00483A7E}" type="pres">
      <dgm:prSet presAssocID="{4F41977E-8B77-4E26-B9E4-872B9F5D811D}" presName="quadrant1" presStyleLbl="node1" presStyleIdx="0" presStyleCnt="4" custScaleX="80862" custScaleY="73330" custLinFactNeighborX="9528" custLinFactNeighborY="12042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656CC54-3EA8-4711-9509-019C326ABD33}" type="pres">
      <dgm:prSet presAssocID="{4F41977E-8B77-4E26-B9E4-872B9F5D811D}" presName="quadrant2" presStyleLbl="node1" presStyleIdx="1" presStyleCnt="4" custScaleX="79279" custScaleY="73154" custLinFactNeighborX="-9152" custLinFactNeighborY="12532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8537255-4021-49E3-9EEB-BA556861C454}" type="pres">
      <dgm:prSet presAssocID="{4F41977E-8B77-4E26-B9E4-872B9F5D811D}" presName="quadrant3" presStyleLbl="node1" presStyleIdx="2" presStyleCnt="4" custScaleX="80203" custScaleY="70209" custLinFactNeighborX="-9613" custLinFactNeighborY="-1510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A15B5C4-B4FB-48DB-87A8-F15600CA87AD}" type="pres">
      <dgm:prSet presAssocID="{4F41977E-8B77-4E26-B9E4-872B9F5D811D}" presName="quadrant4" presStyleLbl="node1" presStyleIdx="3" presStyleCnt="4" custScaleX="77956" custScaleY="69298" custLinFactNeighborX="8654" custLinFactNeighborY="-15232">
        <dgm:presLayoutVars>
          <dgm:chMax val="1"/>
          <dgm:bulletEnabled val="1"/>
        </dgm:presLayoutVars>
      </dgm:prSet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endParaRPr lang="en-IN"/>
        </a:p>
      </dgm:t>
    </dgm:pt>
    <dgm:pt modelId="{E9675016-B5AE-4EEC-A538-8959372B3625}" type="pres">
      <dgm:prSet presAssocID="{4F41977E-8B77-4E26-B9E4-872B9F5D811D}" presName="quadrantPlaceholder" presStyleCnt="0"/>
      <dgm:spPr/>
    </dgm:pt>
    <dgm:pt modelId="{5D5F69F0-B686-4866-8058-CC2086B95543}" type="pres">
      <dgm:prSet presAssocID="{4F41977E-8B77-4E26-B9E4-872B9F5D811D}" presName="center1" presStyleLbl="fgShp" presStyleIdx="0" presStyleCnt="2" custScaleX="73238" custScaleY="80991" custLinFactNeighborX="0"/>
      <dgm:spPr>
        <a:solidFill>
          <a:schemeClr val="bg1">
            <a:lumMod val="65000"/>
          </a:schemeClr>
        </a:solidFill>
        <a:ln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EE41C78E-A51A-496A-824D-E3F90B6114ED}" type="pres">
      <dgm:prSet presAssocID="{4F41977E-8B77-4E26-B9E4-872B9F5D811D}" presName="center2" presStyleLbl="fgShp" presStyleIdx="1" presStyleCnt="2" custScaleX="74194" custScaleY="88698" custLinFactNeighborX="0"/>
      <dgm:spPr>
        <a:solidFill>
          <a:schemeClr val="bg1">
            <a:lumMod val="65000"/>
          </a:schemeClr>
        </a:solidFill>
        <a:ln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</dgm:ptLst>
  <dgm:cxnLst>
    <dgm:cxn modelId="{D4B86575-491A-46A3-822A-A5E1D0C63F25}" type="presOf" srcId="{418A7EDD-2B1C-4BE0-8796-5ADC08641253}" destId="{3A15B5C4-B4FB-48DB-87A8-F15600CA87AD}" srcOrd="0" destOrd="0" presId="urn:microsoft.com/office/officeart/2005/8/layout/cycle4#1"/>
    <dgm:cxn modelId="{25D99A4C-9DBB-4442-BD66-5DE31B5C892F}" type="presOf" srcId="{2949A73D-619A-4AEF-AF5D-700909E51798}" destId="{9D4A2B47-CA3E-4D38-8FE4-821B105AC727}" srcOrd="0" destOrd="2" presId="urn:microsoft.com/office/officeart/2005/8/layout/cycle4#1"/>
    <dgm:cxn modelId="{9D86E122-2EF3-4E6E-BD22-A6444C782C6B}" srcId="{4F41977E-8B77-4E26-B9E4-872B9F5D811D}" destId="{84181489-6311-469A-B501-EED4940A67FB}" srcOrd="2" destOrd="0" parTransId="{381CB815-5FE2-485F-9531-1D1FF4281A33}" sibTransId="{3FA85DEF-66D5-46C1-8827-AC2AA40DFB12}"/>
    <dgm:cxn modelId="{B4B456D9-A7E1-4167-BC06-BAE6E4BF5FAE}" srcId="{418A7EDD-2B1C-4BE0-8796-5ADC08641253}" destId="{F8737A6A-B643-4907-A80D-EA8CAB72AD01}" srcOrd="0" destOrd="0" parTransId="{4387723F-B807-4571-879F-F53FBDB626BE}" sibTransId="{F84467D5-A64A-4513-9F2B-945CFDD82601}"/>
    <dgm:cxn modelId="{82631B17-CB49-4903-95B8-12CFE234A182}" type="presOf" srcId="{84181489-6311-469A-B501-EED4940A67FB}" destId="{C8537255-4021-49E3-9EEB-BA556861C454}" srcOrd="0" destOrd="0" presId="urn:microsoft.com/office/officeart/2005/8/layout/cycle4#1"/>
    <dgm:cxn modelId="{4271B99F-B76B-4873-AD30-E28278E896CC}" srcId="{84181489-6311-469A-B501-EED4940A67FB}" destId="{4034ED69-AA85-49C0-9ED3-D4584C5D94CA}" srcOrd="1" destOrd="0" parTransId="{5A1792C4-9FE4-429E-AEAA-A32718B14603}" sibTransId="{900E522E-973E-4754-ACA5-4298D4236F0F}"/>
    <dgm:cxn modelId="{B88C8CBB-F823-4149-B26B-B4893E1602FF}" type="presOf" srcId="{A2F736F5-FEED-4FFC-8622-08E03BE84010}" destId="{EA1CF468-DFD6-47EA-BA3B-D6596839DE24}" srcOrd="0" destOrd="0" presId="urn:microsoft.com/office/officeart/2005/8/layout/cycle4#1"/>
    <dgm:cxn modelId="{2FDF2E22-7E03-47B7-8DC1-62BF8B42B1F0}" srcId="{4F41977E-8B77-4E26-B9E4-872B9F5D811D}" destId="{ED518D5B-31C7-4E54-B9E2-C921DA14D2AC}" srcOrd="0" destOrd="0" parTransId="{D970F40A-4329-4C87-92CD-BDD6CC87E660}" sibTransId="{0C409065-AF8F-4D65-9342-BC593390CF5A}"/>
    <dgm:cxn modelId="{21FC5691-F57A-4E4D-A373-A498EE099276}" srcId="{84181489-6311-469A-B501-EED4940A67FB}" destId="{2949A73D-619A-4AEF-AF5D-700909E51798}" srcOrd="2" destOrd="0" parTransId="{8F145A47-F13A-41DC-8312-1D3BE9DD1FA1}" sibTransId="{1BF2AA23-A209-449B-A869-D94010D36C79}"/>
    <dgm:cxn modelId="{7EDA3BAE-9914-40BF-BB79-F518EC7D52BC}" type="presOf" srcId="{4F41977E-8B77-4E26-B9E4-872B9F5D811D}" destId="{04D3DC2D-4657-4DE5-909E-598B08CFE9AB}" srcOrd="0" destOrd="0" presId="urn:microsoft.com/office/officeart/2005/8/layout/cycle4#1"/>
    <dgm:cxn modelId="{AFCC3256-80D7-4B6C-BE6C-78CBB885F163}" type="presOf" srcId="{4034ED69-AA85-49C0-9ED3-D4584C5D94CA}" destId="{9D4A2B47-CA3E-4D38-8FE4-821B105AC727}" srcOrd="0" destOrd="1" presId="urn:microsoft.com/office/officeart/2005/8/layout/cycle4#1"/>
    <dgm:cxn modelId="{63714280-8FE1-475E-8FB4-E4BAB26D9F7C}" type="presOf" srcId="{4034ED69-AA85-49C0-9ED3-D4584C5D94CA}" destId="{5E27B9DA-4D8C-4B78-82F9-3051D6C393D1}" srcOrd="1" destOrd="1" presId="urn:microsoft.com/office/officeart/2005/8/layout/cycle4#1"/>
    <dgm:cxn modelId="{09C97201-6C9D-40A0-861A-3560AD5DE2FF}" srcId="{4F41977E-8B77-4E26-B9E4-872B9F5D811D}" destId="{0F68DA45-85A0-4AC4-A4DC-A4B0EF3D9718}" srcOrd="1" destOrd="0" parTransId="{1DB84AE4-12FB-4E8C-9CD0-1A59BD03AEE2}" sibTransId="{F9E26085-7F61-40D2-A391-111CE89EF2D1}"/>
    <dgm:cxn modelId="{4E5DCC58-F9EC-43C3-B50A-E9A5095CBA10}" type="presOf" srcId="{C510DFE1-4E9D-4D43-AE86-5279A0B75B9A}" destId="{5E27B9DA-4D8C-4B78-82F9-3051D6C393D1}" srcOrd="1" destOrd="0" presId="urn:microsoft.com/office/officeart/2005/8/layout/cycle4#1"/>
    <dgm:cxn modelId="{E667E5BA-C7D4-4160-A95A-C6085787EB33}" type="presOf" srcId="{C510DFE1-4E9D-4D43-AE86-5279A0B75B9A}" destId="{9D4A2B47-CA3E-4D38-8FE4-821B105AC727}" srcOrd="0" destOrd="0" presId="urn:microsoft.com/office/officeart/2005/8/layout/cycle4#1"/>
    <dgm:cxn modelId="{25CD5363-8B4A-4D53-BEEC-C186773BA050}" type="presOf" srcId="{F8737A6A-B643-4907-A80D-EA8CAB72AD01}" destId="{7B0C5E8F-FA50-4B7C-ACB1-CD02C01968C1}" srcOrd="0" destOrd="0" presId="urn:microsoft.com/office/officeart/2005/8/layout/cycle4#1"/>
    <dgm:cxn modelId="{590B863E-0CDE-4EBC-A053-67AB56CA18D0}" srcId="{84181489-6311-469A-B501-EED4940A67FB}" destId="{C510DFE1-4E9D-4D43-AE86-5279A0B75B9A}" srcOrd="0" destOrd="0" parTransId="{75AFE48C-5216-4CD3-A8C8-BBC59620A011}" sibTransId="{0AA1BA18-7CE6-4CFF-A193-63F97BF9CA8A}"/>
    <dgm:cxn modelId="{D874922F-A0ED-4D11-A0FF-BBE94181AA08}" type="presOf" srcId="{2949A73D-619A-4AEF-AF5D-700909E51798}" destId="{5E27B9DA-4D8C-4B78-82F9-3051D6C393D1}" srcOrd="1" destOrd="2" presId="urn:microsoft.com/office/officeart/2005/8/layout/cycle4#1"/>
    <dgm:cxn modelId="{B25001B3-7365-4C69-AE9A-BA9ECA445ECB}" type="presOf" srcId="{A2F736F5-FEED-4FFC-8622-08E03BE84010}" destId="{D44E9886-EE47-4AEC-B3A9-184FE1FD28BF}" srcOrd="1" destOrd="0" presId="urn:microsoft.com/office/officeart/2005/8/layout/cycle4#1"/>
    <dgm:cxn modelId="{F98BE60E-10A9-4A58-AEDC-D6B98B04220C}" type="presOf" srcId="{0F68DA45-85A0-4AC4-A4DC-A4B0EF3D9718}" destId="{9656CC54-3EA8-4711-9509-019C326ABD33}" srcOrd="0" destOrd="0" presId="urn:microsoft.com/office/officeart/2005/8/layout/cycle4#1"/>
    <dgm:cxn modelId="{D2D018CC-B6E2-4897-92FD-CB5A9E82FE50}" srcId="{0F68DA45-85A0-4AC4-A4DC-A4B0EF3D9718}" destId="{B74B3AF5-8650-4AC1-9EC6-5718B9BBFFF7}" srcOrd="0" destOrd="0" parTransId="{72DB22C2-F6EE-46DD-AF1B-86865AD3BFC8}" sibTransId="{9FA3809E-7E11-4362-A168-41BCE97784C0}"/>
    <dgm:cxn modelId="{C4F8A838-91C4-4719-A65D-D58C5FE89046}" type="presOf" srcId="{A3707838-35B5-44F2-80F9-2F85791609BC}" destId="{EA1CF468-DFD6-47EA-BA3B-D6596839DE24}" srcOrd="0" destOrd="1" presId="urn:microsoft.com/office/officeart/2005/8/layout/cycle4#1"/>
    <dgm:cxn modelId="{C76D332D-16C9-4061-8C05-6805804D59A4}" type="presOf" srcId="{ED518D5B-31C7-4E54-B9E2-C921DA14D2AC}" destId="{0F544FD3-0813-4A38-8462-F11F00483A7E}" srcOrd="0" destOrd="0" presId="urn:microsoft.com/office/officeart/2005/8/layout/cycle4#1"/>
    <dgm:cxn modelId="{E453735E-775D-4589-A61F-D01D513EE4C0}" type="presOf" srcId="{B74B3AF5-8650-4AC1-9EC6-5718B9BBFFF7}" destId="{F687DB78-8653-41D8-B47A-D1349D3DE866}" srcOrd="1" destOrd="0" presId="urn:microsoft.com/office/officeart/2005/8/layout/cycle4#1"/>
    <dgm:cxn modelId="{1C964AC2-2A28-4484-825F-E0B06B14A238}" srcId="{ED518D5B-31C7-4E54-B9E2-C921DA14D2AC}" destId="{EDDEBDCA-9955-4077-9810-1ADC7869C5D0}" srcOrd="2" destOrd="0" parTransId="{4485C366-20D4-43EE-B3C1-DD07FF8D018A}" sibTransId="{032EA678-A96E-4D41-AFC0-26069924E8AB}"/>
    <dgm:cxn modelId="{B0241F4F-D6FA-4692-9AAC-84759A857D86}" type="presOf" srcId="{F8737A6A-B643-4907-A80D-EA8CAB72AD01}" destId="{63B66627-9970-4C61-889A-FA882A541B4A}" srcOrd="1" destOrd="0" presId="urn:microsoft.com/office/officeart/2005/8/layout/cycle4#1"/>
    <dgm:cxn modelId="{5CB562C0-FA63-42FF-9985-37D943B97A22}" type="presOf" srcId="{EDDEBDCA-9955-4077-9810-1ADC7869C5D0}" destId="{D44E9886-EE47-4AEC-B3A9-184FE1FD28BF}" srcOrd="1" destOrd="2" presId="urn:microsoft.com/office/officeart/2005/8/layout/cycle4#1"/>
    <dgm:cxn modelId="{BD197145-A844-41B3-9E25-97FA82850A4B}" srcId="{ED518D5B-31C7-4E54-B9E2-C921DA14D2AC}" destId="{A2F736F5-FEED-4FFC-8622-08E03BE84010}" srcOrd="0" destOrd="0" parTransId="{5CE548D4-0A13-436A-983B-587ACB74F7E9}" sibTransId="{64797E80-74FE-4D5B-8536-B6BD481D4FA6}"/>
    <dgm:cxn modelId="{2C33BF34-B69A-4360-B793-77661C2F79C1}" type="presOf" srcId="{B74B3AF5-8650-4AC1-9EC6-5718B9BBFFF7}" destId="{FF479E3D-9041-4422-850F-BDBE1E018A26}" srcOrd="0" destOrd="0" presId="urn:microsoft.com/office/officeart/2005/8/layout/cycle4#1"/>
    <dgm:cxn modelId="{7291EBED-A591-45AE-BDC4-352DD8837213}" type="presOf" srcId="{A3707838-35B5-44F2-80F9-2F85791609BC}" destId="{D44E9886-EE47-4AEC-B3A9-184FE1FD28BF}" srcOrd="1" destOrd="1" presId="urn:microsoft.com/office/officeart/2005/8/layout/cycle4#1"/>
    <dgm:cxn modelId="{7D17805E-F42C-44B9-9E13-C224260EDDD8}" srcId="{4F41977E-8B77-4E26-B9E4-872B9F5D811D}" destId="{418A7EDD-2B1C-4BE0-8796-5ADC08641253}" srcOrd="3" destOrd="0" parTransId="{40FCDBD7-5404-4939-8B2D-35C5B197857C}" sibTransId="{12148E0C-625C-4A65-92EB-597196B46175}"/>
    <dgm:cxn modelId="{905B1219-42A1-4811-8BAF-2A008C898074}" srcId="{ED518D5B-31C7-4E54-B9E2-C921DA14D2AC}" destId="{A3707838-35B5-44F2-80F9-2F85791609BC}" srcOrd="1" destOrd="0" parTransId="{BEC8214F-0655-4834-92B8-017B08479294}" sibTransId="{FBFEAB90-B781-4776-B4CD-CD1F8D45C189}"/>
    <dgm:cxn modelId="{78A835DD-C739-49EF-92F2-D18959CA63AF}" type="presOf" srcId="{EDDEBDCA-9955-4077-9810-1ADC7869C5D0}" destId="{EA1CF468-DFD6-47EA-BA3B-D6596839DE24}" srcOrd="0" destOrd="2" presId="urn:microsoft.com/office/officeart/2005/8/layout/cycle4#1"/>
    <dgm:cxn modelId="{DCA84D43-4554-4A97-A2A0-427F8C81F689}" type="presParOf" srcId="{04D3DC2D-4657-4DE5-909E-598B08CFE9AB}" destId="{174E4B53-E53E-4723-8508-33A717CFB8D2}" srcOrd="0" destOrd="0" presId="urn:microsoft.com/office/officeart/2005/8/layout/cycle4#1"/>
    <dgm:cxn modelId="{7890A90C-DD7C-44F3-8CFC-9BC8D54F8AF4}" type="presParOf" srcId="{174E4B53-E53E-4723-8508-33A717CFB8D2}" destId="{90A07D5F-35AD-46A2-892C-E2F8D3075F67}" srcOrd="0" destOrd="0" presId="urn:microsoft.com/office/officeart/2005/8/layout/cycle4#1"/>
    <dgm:cxn modelId="{A35238F0-C10D-4D9D-8088-E5D954587748}" type="presParOf" srcId="{90A07D5F-35AD-46A2-892C-E2F8D3075F67}" destId="{EA1CF468-DFD6-47EA-BA3B-D6596839DE24}" srcOrd="0" destOrd="0" presId="urn:microsoft.com/office/officeart/2005/8/layout/cycle4#1"/>
    <dgm:cxn modelId="{8404BF5F-4659-4F93-AB71-D5C64FABAFD0}" type="presParOf" srcId="{90A07D5F-35AD-46A2-892C-E2F8D3075F67}" destId="{D44E9886-EE47-4AEC-B3A9-184FE1FD28BF}" srcOrd="1" destOrd="0" presId="urn:microsoft.com/office/officeart/2005/8/layout/cycle4#1"/>
    <dgm:cxn modelId="{F885EF6D-A1CF-40D2-8AD0-F2068E28E32F}" type="presParOf" srcId="{174E4B53-E53E-4723-8508-33A717CFB8D2}" destId="{7C0CAA45-5DF8-452E-B442-5249A5501F83}" srcOrd="1" destOrd="0" presId="urn:microsoft.com/office/officeart/2005/8/layout/cycle4#1"/>
    <dgm:cxn modelId="{6F88DB47-8E1B-4A0D-9531-AA9147173DA1}" type="presParOf" srcId="{7C0CAA45-5DF8-452E-B442-5249A5501F83}" destId="{FF479E3D-9041-4422-850F-BDBE1E018A26}" srcOrd="0" destOrd="0" presId="urn:microsoft.com/office/officeart/2005/8/layout/cycle4#1"/>
    <dgm:cxn modelId="{B7C80C0E-B45B-442B-AEC2-90EBAFC71021}" type="presParOf" srcId="{7C0CAA45-5DF8-452E-B442-5249A5501F83}" destId="{F687DB78-8653-41D8-B47A-D1349D3DE866}" srcOrd="1" destOrd="0" presId="urn:microsoft.com/office/officeart/2005/8/layout/cycle4#1"/>
    <dgm:cxn modelId="{68870360-DEEC-4E34-AAB8-C8D6A3CE87D6}" type="presParOf" srcId="{174E4B53-E53E-4723-8508-33A717CFB8D2}" destId="{BE7BC13E-376C-4189-A069-E551B3461088}" srcOrd="2" destOrd="0" presId="urn:microsoft.com/office/officeart/2005/8/layout/cycle4#1"/>
    <dgm:cxn modelId="{D6183124-333C-45D5-9448-C26F4A66B802}" type="presParOf" srcId="{BE7BC13E-376C-4189-A069-E551B3461088}" destId="{9D4A2B47-CA3E-4D38-8FE4-821B105AC727}" srcOrd="0" destOrd="0" presId="urn:microsoft.com/office/officeart/2005/8/layout/cycle4#1"/>
    <dgm:cxn modelId="{DB80B126-7866-4B8A-8AA2-6472CE4F4668}" type="presParOf" srcId="{BE7BC13E-376C-4189-A069-E551B3461088}" destId="{5E27B9DA-4D8C-4B78-82F9-3051D6C393D1}" srcOrd="1" destOrd="0" presId="urn:microsoft.com/office/officeart/2005/8/layout/cycle4#1"/>
    <dgm:cxn modelId="{89864782-3A38-4485-A8D8-15168946017B}" type="presParOf" srcId="{174E4B53-E53E-4723-8508-33A717CFB8D2}" destId="{E19694CE-DA13-4567-92C0-8146D849C541}" srcOrd="3" destOrd="0" presId="urn:microsoft.com/office/officeart/2005/8/layout/cycle4#1"/>
    <dgm:cxn modelId="{E17A3A28-67E0-42B1-9330-46A236F6BC1B}" type="presParOf" srcId="{E19694CE-DA13-4567-92C0-8146D849C541}" destId="{7B0C5E8F-FA50-4B7C-ACB1-CD02C01968C1}" srcOrd="0" destOrd="0" presId="urn:microsoft.com/office/officeart/2005/8/layout/cycle4#1"/>
    <dgm:cxn modelId="{1B171869-A6D7-4A5D-8A79-0AAC88E83537}" type="presParOf" srcId="{E19694CE-DA13-4567-92C0-8146D849C541}" destId="{63B66627-9970-4C61-889A-FA882A541B4A}" srcOrd="1" destOrd="0" presId="urn:microsoft.com/office/officeart/2005/8/layout/cycle4#1"/>
    <dgm:cxn modelId="{FFBC2025-1E41-4553-B3E3-B11A292BDC6A}" type="presParOf" srcId="{174E4B53-E53E-4723-8508-33A717CFB8D2}" destId="{D864359C-7F85-488C-AF4D-EC05F8F37D1D}" srcOrd="4" destOrd="0" presId="urn:microsoft.com/office/officeart/2005/8/layout/cycle4#1"/>
    <dgm:cxn modelId="{B019A885-7A7D-4A25-BC4E-BAC271F38EE5}" type="presParOf" srcId="{04D3DC2D-4657-4DE5-909E-598B08CFE9AB}" destId="{E21232DA-D349-4C35-8182-B2ED9C9747B8}" srcOrd="1" destOrd="0" presId="urn:microsoft.com/office/officeart/2005/8/layout/cycle4#1"/>
    <dgm:cxn modelId="{744B5579-5030-40DF-A09B-953440809FED}" type="presParOf" srcId="{E21232DA-D349-4C35-8182-B2ED9C9747B8}" destId="{0F544FD3-0813-4A38-8462-F11F00483A7E}" srcOrd="0" destOrd="0" presId="urn:microsoft.com/office/officeart/2005/8/layout/cycle4#1"/>
    <dgm:cxn modelId="{A4FECFA4-6500-4F67-B2A2-C4BEC8F633D6}" type="presParOf" srcId="{E21232DA-D349-4C35-8182-B2ED9C9747B8}" destId="{9656CC54-3EA8-4711-9509-019C326ABD33}" srcOrd="1" destOrd="0" presId="urn:microsoft.com/office/officeart/2005/8/layout/cycle4#1"/>
    <dgm:cxn modelId="{F6A7E724-5E8D-4CBE-B385-79584DC38C41}" type="presParOf" srcId="{E21232DA-D349-4C35-8182-B2ED9C9747B8}" destId="{C8537255-4021-49E3-9EEB-BA556861C454}" srcOrd="2" destOrd="0" presId="urn:microsoft.com/office/officeart/2005/8/layout/cycle4#1"/>
    <dgm:cxn modelId="{43328F01-9DE5-4393-ACBE-B340B307FDFA}" type="presParOf" srcId="{E21232DA-D349-4C35-8182-B2ED9C9747B8}" destId="{3A15B5C4-B4FB-48DB-87A8-F15600CA87AD}" srcOrd="3" destOrd="0" presId="urn:microsoft.com/office/officeart/2005/8/layout/cycle4#1"/>
    <dgm:cxn modelId="{1BF2D66A-06DC-4074-8891-A328B36724A6}" type="presParOf" srcId="{E21232DA-D349-4C35-8182-B2ED9C9747B8}" destId="{E9675016-B5AE-4EEC-A538-8959372B3625}" srcOrd="4" destOrd="0" presId="urn:microsoft.com/office/officeart/2005/8/layout/cycle4#1"/>
    <dgm:cxn modelId="{FC21B8D5-337C-42DB-8FDE-C6AC395144B5}" type="presParOf" srcId="{04D3DC2D-4657-4DE5-909E-598B08CFE9AB}" destId="{5D5F69F0-B686-4866-8058-CC2086B95543}" srcOrd="2" destOrd="0" presId="urn:microsoft.com/office/officeart/2005/8/layout/cycle4#1"/>
    <dgm:cxn modelId="{38B3DCDF-0481-42A4-B6EF-7CB32253DEFC}" type="presParOf" srcId="{04D3DC2D-4657-4DE5-909E-598B08CFE9AB}" destId="{EE41C78E-A51A-496A-824D-E3F90B6114ED}" srcOrd="3" destOrd="0" presId="urn:microsoft.com/office/officeart/2005/8/layout/cycle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0A3EE3-F39A-4458-BC72-D3A3F8099A83}" type="doc">
      <dgm:prSet loTypeId="urn:microsoft.com/office/officeart/2009/3/layout/StepUpProcess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75CFA78F-F5C6-42D9-B20F-C4A61691064F}">
      <dgm:prSet phldrT="[Text]" custT="1"/>
      <dgm:spPr/>
      <dgm:t>
        <a:bodyPr/>
        <a:lstStyle/>
        <a:p>
          <a:r>
            <a:rPr lang="en-US" sz="1200" b="1" dirty="0" smtClean="0"/>
            <a:t>- Propensity models</a:t>
          </a:r>
        </a:p>
        <a:p>
          <a:r>
            <a:rPr lang="en-US" sz="1200" b="1" dirty="0" smtClean="0"/>
            <a:t>- Next Best Offer </a:t>
          </a:r>
        </a:p>
        <a:p>
          <a:r>
            <a:rPr lang="en-US" sz="1200" dirty="0" smtClean="0"/>
            <a:t>- Call volume analysis</a:t>
          </a:r>
        </a:p>
        <a:p>
          <a:r>
            <a:rPr lang="en-US" sz="1200" dirty="0" smtClean="0"/>
            <a:t>- Contact strategy</a:t>
          </a:r>
        </a:p>
        <a:p>
          <a:r>
            <a:rPr lang="en-US" sz="1200" dirty="0" smtClean="0"/>
            <a:t>- Customer channel </a:t>
          </a:r>
        </a:p>
        <a:p>
          <a:r>
            <a:rPr lang="en-US" sz="1200" dirty="0" smtClean="0"/>
            <a:t>   preference</a:t>
          </a:r>
        </a:p>
        <a:p>
          <a:r>
            <a:rPr lang="en-US" sz="1200" b="1" dirty="0" smtClean="0"/>
            <a:t>- Focus on  digital as channel</a:t>
          </a:r>
        </a:p>
        <a:p>
          <a:r>
            <a:rPr lang="en-US" sz="1200" dirty="0" smtClean="0"/>
            <a:t>- Personalized </a:t>
          </a:r>
        </a:p>
        <a:p>
          <a:r>
            <a:rPr lang="en-US" sz="1200" dirty="0" smtClean="0"/>
            <a:t>   offers/promotions</a:t>
          </a:r>
        </a:p>
        <a:p>
          <a:r>
            <a:rPr lang="en-US" sz="1200" dirty="0" smtClean="0"/>
            <a:t>- Customer Response </a:t>
          </a:r>
        </a:p>
        <a:p>
          <a:r>
            <a:rPr lang="en-US" sz="1200" dirty="0" smtClean="0"/>
            <a:t>   management</a:t>
          </a:r>
        </a:p>
        <a:p>
          <a:endParaRPr lang="en-IN" sz="1200" dirty="0"/>
        </a:p>
      </dgm:t>
    </dgm:pt>
    <dgm:pt modelId="{423C3823-E017-4EFF-B9FB-158B522A346D}" type="parTrans" cxnId="{077F0FBF-6A50-497E-9338-0F4EA4291484}">
      <dgm:prSet/>
      <dgm:spPr/>
      <dgm:t>
        <a:bodyPr/>
        <a:lstStyle/>
        <a:p>
          <a:endParaRPr lang="en-IN"/>
        </a:p>
      </dgm:t>
    </dgm:pt>
    <dgm:pt modelId="{D698C528-4FEB-42FB-9AC0-BFB8E1B74810}" type="sibTrans" cxnId="{077F0FBF-6A50-497E-9338-0F4EA4291484}">
      <dgm:prSet/>
      <dgm:spPr/>
      <dgm:t>
        <a:bodyPr/>
        <a:lstStyle/>
        <a:p>
          <a:endParaRPr lang="en-IN"/>
        </a:p>
      </dgm:t>
    </dgm:pt>
    <dgm:pt modelId="{F903D5EE-A4D6-4D92-BE7F-EA7CD86F8036}">
      <dgm:prSet phldrT="[Text]" custT="1"/>
      <dgm:spPr/>
      <dgm:t>
        <a:bodyPr/>
        <a:lstStyle/>
        <a:p>
          <a:r>
            <a:rPr lang="en-US" sz="1200" dirty="0" smtClean="0"/>
            <a:t>- </a:t>
          </a:r>
          <a:r>
            <a:rPr lang="en-US" sz="1200" b="1" dirty="0" smtClean="0"/>
            <a:t>Customer Wallet  size</a:t>
          </a:r>
        </a:p>
        <a:p>
          <a:r>
            <a:rPr lang="en-US" sz="1200" b="1" dirty="0" smtClean="0"/>
            <a:t>    estimation  </a:t>
          </a:r>
        </a:p>
        <a:p>
          <a:r>
            <a:rPr lang="en-US" sz="1200" dirty="0" smtClean="0"/>
            <a:t>- Up-sell and Augmentation</a:t>
          </a:r>
        </a:p>
        <a:p>
          <a:r>
            <a:rPr lang="en-US" sz="1200" dirty="0" smtClean="0"/>
            <a:t>- Transaction analysis</a:t>
          </a:r>
        </a:p>
        <a:p>
          <a:r>
            <a:rPr lang="en-US" sz="1200" b="1" dirty="0" smtClean="0"/>
            <a:t>- Exhaustive customer </a:t>
          </a:r>
        </a:p>
        <a:p>
          <a:r>
            <a:rPr lang="en-US" sz="1200" b="1" dirty="0" smtClean="0"/>
            <a:t>  experience and sentiment </a:t>
          </a:r>
        </a:p>
        <a:p>
          <a:r>
            <a:rPr lang="en-US" sz="1200" b="1" dirty="0" smtClean="0"/>
            <a:t>   analysis</a:t>
          </a:r>
        </a:p>
        <a:p>
          <a:r>
            <a:rPr lang="en-US" sz="1200" dirty="0" smtClean="0"/>
            <a:t>- </a:t>
          </a:r>
          <a:r>
            <a:rPr lang="en-US" sz="1200" b="1" dirty="0" smtClean="0"/>
            <a:t>Customer segmentation and </a:t>
          </a:r>
        </a:p>
        <a:p>
          <a:r>
            <a:rPr lang="en-US" sz="1200" b="1" dirty="0" smtClean="0"/>
            <a:t>   profiling</a:t>
          </a:r>
        </a:p>
        <a:p>
          <a:r>
            <a:rPr lang="en-US" sz="1200" b="1" dirty="0" smtClean="0"/>
            <a:t>- Customer  profitability</a:t>
          </a:r>
        </a:p>
        <a:p>
          <a:r>
            <a:rPr lang="en-US" sz="1200" b="1" dirty="0" smtClean="0"/>
            <a:t>  </a:t>
          </a:r>
        </a:p>
        <a:p>
          <a:endParaRPr lang="en-IN" sz="1200" dirty="0"/>
        </a:p>
      </dgm:t>
    </dgm:pt>
    <dgm:pt modelId="{D1EE8C39-DA70-4668-B572-724851583040}" type="parTrans" cxnId="{37276BBD-CA08-49D2-A7BD-9A7063EC1E32}">
      <dgm:prSet/>
      <dgm:spPr/>
      <dgm:t>
        <a:bodyPr/>
        <a:lstStyle/>
        <a:p>
          <a:endParaRPr lang="en-IN"/>
        </a:p>
      </dgm:t>
    </dgm:pt>
    <dgm:pt modelId="{20F1D033-4897-446E-B878-F0B75E7293B5}" type="sibTrans" cxnId="{37276BBD-CA08-49D2-A7BD-9A7063EC1E32}">
      <dgm:prSet/>
      <dgm:spPr/>
      <dgm:t>
        <a:bodyPr/>
        <a:lstStyle/>
        <a:p>
          <a:endParaRPr lang="en-IN"/>
        </a:p>
      </dgm:t>
    </dgm:pt>
    <dgm:pt modelId="{C297BC53-53BC-4387-8ABE-5C9DFF65925F}">
      <dgm:prSet custT="1"/>
      <dgm:spPr/>
      <dgm:t>
        <a:bodyPr/>
        <a:lstStyle/>
        <a:p>
          <a:r>
            <a:rPr lang="en-US" sz="1200" b="1" dirty="0" smtClean="0"/>
            <a:t>- Proactive/Reactive </a:t>
          </a:r>
        </a:p>
        <a:p>
          <a:r>
            <a:rPr lang="en-US" sz="1200" b="1" dirty="0" smtClean="0"/>
            <a:t>   retention strategy</a:t>
          </a:r>
        </a:p>
        <a:p>
          <a:r>
            <a:rPr lang="en-US" sz="1200" b="1" dirty="0" smtClean="0"/>
            <a:t>- Attrition analysis and </a:t>
          </a:r>
        </a:p>
        <a:p>
          <a:r>
            <a:rPr lang="en-US" sz="1200" b="1" dirty="0" smtClean="0"/>
            <a:t>   churn model</a:t>
          </a:r>
        </a:p>
        <a:p>
          <a:r>
            <a:rPr lang="en-US" sz="1200" dirty="0" smtClean="0"/>
            <a:t>- Preferential pricing for  </a:t>
          </a:r>
        </a:p>
        <a:p>
          <a:r>
            <a:rPr lang="en-US" sz="1200" dirty="0" smtClean="0"/>
            <a:t>   top-ups</a:t>
          </a:r>
          <a:endParaRPr lang="en-IN" sz="1200" dirty="0"/>
        </a:p>
      </dgm:t>
    </dgm:pt>
    <dgm:pt modelId="{705AA61C-5F14-4BB9-954C-BBE946F568A1}" type="parTrans" cxnId="{18E2380C-8A57-4BF5-8617-3187E32A69C4}">
      <dgm:prSet/>
      <dgm:spPr/>
      <dgm:t>
        <a:bodyPr/>
        <a:lstStyle/>
        <a:p>
          <a:endParaRPr lang="en-IN"/>
        </a:p>
      </dgm:t>
    </dgm:pt>
    <dgm:pt modelId="{A5485F4F-0DB6-4D50-B6C8-B123C5CFB520}" type="sibTrans" cxnId="{18E2380C-8A57-4BF5-8617-3187E32A69C4}">
      <dgm:prSet/>
      <dgm:spPr/>
      <dgm:t>
        <a:bodyPr/>
        <a:lstStyle/>
        <a:p>
          <a:endParaRPr lang="en-IN"/>
        </a:p>
      </dgm:t>
    </dgm:pt>
    <dgm:pt modelId="{19A25DDF-86A1-48F1-9EFE-4FFCC83B74F2}">
      <dgm:prSet phldrT="[Text]" custT="1"/>
      <dgm:spPr/>
      <dgm:t>
        <a:bodyPr/>
        <a:lstStyle/>
        <a:p>
          <a:r>
            <a:rPr lang="en-US" sz="1200" b="1" dirty="0" smtClean="0"/>
            <a:t>- Sales Forecasting &amp; growth</a:t>
          </a:r>
        </a:p>
        <a:p>
          <a:r>
            <a:rPr lang="en-US" sz="1200" b="1" dirty="0" smtClean="0"/>
            <a:t>- Differential pricing for </a:t>
          </a:r>
        </a:p>
        <a:p>
          <a:r>
            <a:rPr lang="en-US" sz="1200" b="1" dirty="0" smtClean="0"/>
            <a:t>  competitive advantage</a:t>
          </a:r>
        </a:p>
        <a:p>
          <a:r>
            <a:rPr lang="en-US" sz="1200" dirty="0" smtClean="0"/>
            <a:t>- Acquisition dashboard</a:t>
          </a:r>
        </a:p>
        <a:p>
          <a:r>
            <a:rPr lang="en-US" sz="1200" dirty="0" smtClean="0"/>
            <a:t>- Acquisition channel </a:t>
          </a:r>
        </a:p>
        <a:p>
          <a:r>
            <a:rPr lang="en-US" sz="1200" dirty="0" smtClean="0"/>
            <a:t>- Prospect database</a:t>
          </a:r>
        </a:p>
        <a:p>
          <a:r>
            <a:rPr lang="en-US" sz="1200" dirty="0" smtClean="0"/>
            <a:t> - Sales force performance </a:t>
          </a:r>
        </a:p>
        <a:p>
          <a:r>
            <a:rPr lang="en-US" sz="1200" dirty="0" smtClean="0"/>
            <a:t>   monitoring against targets</a:t>
          </a:r>
          <a:endParaRPr lang="en-IN" sz="1200" dirty="0"/>
        </a:p>
      </dgm:t>
    </dgm:pt>
    <dgm:pt modelId="{95043503-A5E5-4263-A85D-1EE0D3E53B11}" type="parTrans" cxnId="{3B5C6024-BA0E-436F-9E7D-E54187419AFA}">
      <dgm:prSet/>
      <dgm:spPr/>
      <dgm:t>
        <a:bodyPr/>
        <a:lstStyle/>
        <a:p>
          <a:endParaRPr lang="en-IN"/>
        </a:p>
      </dgm:t>
    </dgm:pt>
    <dgm:pt modelId="{1853E243-84DB-45C9-877A-989AA1A6AEB3}" type="sibTrans" cxnId="{3B5C6024-BA0E-436F-9E7D-E54187419AFA}">
      <dgm:prSet/>
      <dgm:spPr/>
      <dgm:t>
        <a:bodyPr/>
        <a:lstStyle/>
        <a:p>
          <a:endParaRPr lang="en-IN"/>
        </a:p>
      </dgm:t>
    </dgm:pt>
    <dgm:pt modelId="{4A677A8B-1B3A-4D46-8251-BE238AB3111E}" type="pres">
      <dgm:prSet presAssocID="{160A3EE3-F39A-4458-BC72-D3A3F8099A83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A4611A64-E54B-4755-B474-F42CE34F8E2A}" type="pres">
      <dgm:prSet presAssocID="{19A25DDF-86A1-48F1-9EFE-4FFCC83B74F2}" presName="composite" presStyleCnt="0"/>
      <dgm:spPr/>
    </dgm:pt>
    <dgm:pt modelId="{2E7F8BDF-DCAE-46C0-A220-CC3312BC9CB1}" type="pres">
      <dgm:prSet presAssocID="{19A25DDF-86A1-48F1-9EFE-4FFCC83B74F2}" presName="LShape" presStyleLbl="alignNode1" presStyleIdx="0" presStyleCnt="7"/>
      <dgm:spPr/>
    </dgm:pt>
    <dgm:pt modelId="{E83A76B2-367D-40BB-B7E3-F8D6A0FB93D7}" type="pres">
      <dgm:prSet presAssocID="{19A25DDF-86A1-48F1-9EFE-4FFCC83B74F2}" presName="ParentText" presStyleLbl="revTx" presStyleIdx="0" presStyleCnt="4" custScaleX="120891" custLinFactNeighborX="9490" custLinFactNeighborY="439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A51D6A-C1D8-4FBB-96F9-B8ECF131FD69}" type="pres">
      <dgm:prSet presAssocID="{19A25DDF-86A1-48F1-9EFE-4FFCC83B74F2}" presName="Triangle" presStyleLbl="alignNode1" presStyleIdx="1" presStyleCnt="7" custAng="16200000"/>
      <dgm:spPr/>
    </dgm:pt>
    <dgm:pt modelId="{EDFF3E93-18B9-4F3A-80C6-E6DB90101322}" type="pres">
      <dgm:prSet presAssocID="{1853E243-84DB-45C9-877A-989AA1A6AEB3}" presName="sibTrans" presStyleCnt="0"/>
      <dgm:spPr/>
    </dgm:pt>
    <dgm:pt modelId="{BF753280-5A89-453D-A8FC-CFD4C4ACA040}" type="pres">
      <dgm:prSet presAssocID="{1853E243-84DB-45C9-877A-989AA1A6AEB3}" presName="space" presStyleCnt="0"/>
      <dgm:spPr/>
    </dgm:pt>
    <dgm:pt modelId="{486C9F3D-48CA-48A9-BBA0-DDEDA0560FD2}" type="pres">
      <dgm:prSet presAssocID="{75CFA78F-F5C6-42D9-B20F-C4A61691064F}" presName="composite" presStyleCnt="0"/>
      <dgm:spPr/>
    </dgm:pt>
    <dgm:pt modelId="{FBF9C9DC-EA28-49F0-A0E3-3104F2DC3C6C}" type="pres">
      <dgm:prSet presAssocID="{75CFA78F-F5C6-42D9-B20F-C4A61691064F}" presName="LShape" presStyleLbl="alignNode1" presStyleIdx="2" presStyleCnt="7"/>
      <dgm:spPr/>
    </dgm:pt>
    <dgm:pt modelId="{A880D3DB-FB62-4F25-8CF0-FED1844679B9}" type="pres">
      <dgm:prSet presAssocID="{75CFA78F-F5C6-42D9-B20F-C4A61691064F}" presName="ParentText" presStyleLbl="revTx" presStyleIdx="1" presStyleCnt="4" custScaleX="128720" custLinFactNeighborX="18359" custLinFactNeighborY="88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E0E4177-3DAB-4E7C-9B45-80DDE7A0ACE9}" type="pres">
      <dgm:prSet presAssocID="{75CFA78F-F5C6-42D9-B20F-C4A61691064F}" presName="Triangle" presStyleLbl="alignNode1" presStyleIdx="3" presStyleCnt="7" custAng="16200000" custLinFactNeighborX="-12939" custLinFactNeighborY="-14772"/>
      <dgm:spPr/>
    </dgm:pt>
    <dgm:pt modelId="{FBDE90E9-9C9D-4D78-8D43-61D5541639E0}" type="pres">
      <dgm:prSet presAssocID="{D698C528-4FEB-42FB-9AC0-BFB8E1B74810}" presName="sibTrans" presStyleCnt="0"/>
      <dgm:spPr/>
    </dgm:pt>
    <dgm:pt modelId="{91F33B27-C70E-4E68-8503-8786BD2D3E08}" type="pres">
      <dgm:prSet presAssocID="{D698C528-4FEB-42FB-9AC0-BFB8E1B74810}" presName="space" presStyleCnt="0"/>
      <dgm:spPr/>
    </dgm:pt>
    <dgm:pt modelId="{A946D850-610C-4B3B-927B-C02D72E5B6C3}" type="pres">
      <dgm:prSet presAssocID="{F903D5EE-A4D6-4D92-BE7F-EA7CD86F8036}" presName="composite" presStyleCnt="0"/>
      <dgm:spPr/>
    </dgm:pt>
    <dgm:pt modelId="{C090B849-6FF3-48E5-9DED-42FB7FD11B7C}" type="pres">
      <dgm:prSet presAssocID="{F903D5EE-A4D6-4D92-BE7F-EA7CD86F8036}" presName="LShape" presStyleLbl="alignNode1" presStyleIdx="4" presStyleCnt="7"/>
      <dgm:spPr/>
    </dgm:pt>
    <dgm:pt modelId="{96FBE23C-B23D-478E-8FCC-4090A187C2B7}" type="pres">
      <dgm:prSet presAssocID="{F903D5EE-A4D6-4D92-BE7F-EA7CD86F8036}" presName="ParentText" presStyleLbl="revTx" presStyleIdx="2" presStyleCnt="4" custScaleX="123937" custLinFactNeighborX="13461" custLinFactNeighborY="345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D89564-9176-44EF-B405-B1785606A48A}" type="pres">
      <dgm:prSet presAssocID="{F903D5EE-A4D6-4D92-BE7F-EA7CD86F8036}" presName="Triangle" presStyleLbl="alignNode1" presStyleIdx="5" presStyleCnt="7" custAng="15997117" custLinFactNeighborX="5804" custLinFactNeighborY="-15025"/>
      <dgm:spPr/>
      <dgm:t>
        <a:bodyPr/>
        <a:lstStyle/>
        <a:p>
          <a:endParaRPr lang="en-IN"/>
        </a:p>
      </dgm:t>
    </dgm:pt>
    <dgm:pt modelId="{4D96D9C9-4923-4C01-A8D8-FBC052ED3B72}" type="pres">
      <dgm:prSet presAssocID="{20F1D033-4897-446E-B878-F0B75E7293B5}" presName="sibTrans" presStyleCnt="0"/>
      <dgm:spPr/>
    </dgm:pt>
    <dgm:pt modelId="{E6A2A5C6-FCD3-44F3-9A7A-2A0B5AFEB799}" type="pres">
      <dgm:prSet presAssocID="{20F1D033-4897-446E-B878-F0B75E7293B5}" presName="space" presStyleCnt="0"/>
      <dgm:spPr/>
    </dgm:pt>
    <dgm:pt modelId="{5F2B2AF1-E424-45CE-8E51-FD83023E2F2B}" type="pres">
      <dgm:prSet presAssocID="{C297BC53-53BC-4387-8ABE-5C9DFF65925F}" presName="composite" presStyleCnt="0"/>
      <dgm:spPr/>
    </dgm:pt>
    <dgm:pt modelId="{17C62C0E-6D3A-4BDE-99D5-7F25C50975D0}" type="pres">
      <dgm:prSet presAssocID="{C297BC53-53BC-4387-8ABE-5C9DFF65925F}" presName="LShape" presStyleLbl="alignNode1" presStyleIdx="6" presStyleCnt="7"/>
      <dgm:spPr/>
    </dgm:pt>
    <dgm:pt modelId="{C35E4CA3-EA84-48EE-9908-8F7D40297B3F}" type="pres">
      <dgm:prSet presAssocID="{C297BC53-53BC-4387-8ABE-5C9DFF65925F}" presName="ParentText" presStyleLbl="revTx" presStyleIdx="3" presStyleCnt="4" custLinFactNeighborY="864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FF1E27A-2CA3-4359-B32D-44E04EE47D89}" type="presOf" srcId="{160A3EE3-F39A-4458-BC72-D3A3F8099A83}" destId="{4A677A8B-1B3A-4D46-8251-BE238AB3111E}" srcOrd="0" destOrd="0" presId="urn:microsoft.com/office/officeart/2009/3/layout/StepUpProcess"/>
    <dgm:cxn modelId="{70AE4731-B73B-4E77-8D82-F5DA96F60E40}" type="presOf" srcId="{75CFA78F-F5C6-42D9-B20F-C4A61691064F}" destId="{A880D3DB-FB62-4F25-8CF0-FED1844679B9}" srcOrd="0" destOrd="0" presId="urn:microsoft.com/office/officeart/2009/3/layout/StepUpProcess"/>
    <dgm:cxn modelId="{18E2380C-8A57-4BF5-8617-3187E32A69C4}" srcId="{160A3EE3-F39A-4458-BC72-D3A3F8099A83}" destId="{C297BC53-53BC-4387-8ABE-5C9DFF65925F}" srcOrd="3" destOrd="0" parTransId="{705AA61C-5F14-4BB9-954C-BBE946F568A1}" sibTransId="{A5485F4F-0DB6-4D50-B6C8-B123C5CFB520}"/>
    <dgm:cxn modelId="{077F0FBF-6A50-497E-9338-0F4EA4291484}" srcId="{160A3EE3-F39A-4458-BC72-D3A3F8099A83}" destId="{75CFA78F-F5C6-42D9-B20F-C4A61691064F}" srcOrd="1" destOrd="0" parTransId="{423C3823-E017-4EFF-B9FB-158B522A346D}" sibTransId="{D698C528-4FEB-42FB-9AC0-BFB8E1B74810}"/>
    <dgm:cxn modelId="{25B4FE91-EECA-4D76-80F1-C65208228F10}" type="presOf" srcId="{19A25DDF-86A1-48F1-9EFE-4FFCC83B74F2}" destId="{E83A76B2-367D-40BB-B7E3-F8D6A0FB93D7}" srcOrd="0" destOrd="0" presId="urn:microsoft.com/office/officeart/2009/3/layout/StepUpProcess"/>
    <dgm:cxn modelId="{0C2A5AD7-8F13-4786-88ED-16E89616681C}" type="presOf" srcId="{C297BC53-53BC-4387-8ABE-5C9DFF65925F}" destId="{C35E4CA3-EA84-48EE-9908-8F7D40297B3F}" srcOrd="0" destOrd="0" presId="urn:microsoft.com/office/officeart/2009/3/layout/StepUpProcess"/>
    <dgm:cxn modelId="{A54C04BC-DFD2-44D4-B816-0597C43AE560}" type="presOf" srcId="{F903D5EE-A4D6-4D92-BE7F-EA7CD86F8036}" destId="{96FBE23C-B23D-478E-8FCC-4090A187C2B7}" srcOrd="0" destOrd="0" presId="urn:microsoft.com/office/officeart/2009/3/layout/StepUpProcess"/>
    <dgm:cxn modelId="{37276BBD-CA08-49D2-A7BD-9A7063EC1E32}" srcId="{160A3EE3-F39A-4458-BC72-D3A3F8099A83}" destId="{F903D5EE-A4D6-4D92-BE7F-EA7CD86F8036}" srcOrd="2" destOrd="0" parTransId="{D1EE8C39-DA70-4668-B572-724851583040}" sibTransId="{20F1D033-4897-446E-B878-F0B75E7293B5}"/>
    <dgm:cxn modelId="{3B5C6024-BA0E-436F-9E7D-E54187419AFA}" srcId="{160A3EE3-F39A-4458-BC72-D3A3F8099A83}" destId="{19A25DDF-86A1-48F1-9EFE-4FFCC83B74F2}" srcOrd="0" destOrd="0" parTransId="{95043503-A5E5-4263-A85D-1EE0D3E53B11}" sibTransId="{1853E243-84DB-45C9-877A-989AA1A6AEB3}"/>
    <dgm:cxn modelId="{926FA277-E352-4409-892A-1DC1CAE45EB5}" type="presParOf" srcId="{4A677A8B-1B3A-4D46-8251-BE238AB3111E}" destId="{A4611A64-E54B-4755-B474-F42CE34F8E2A}" srcOrd="0" destOrd="0" presId="urn:microsoft.com/office/officeart/2009/3/layout/StepUpProcess"/>
    <dgm:cxn modelId="{9FF607EB-C172-40CD-946A-99A10864A48B}" type="presParOf" srcId="{A4611A64-E54B-4755-B474-F42CE34F8E2A}" destId="{2E7F8BDF-DCAE-46C0-A220-CC3312BC9CB1}" srcOrd="0" destOrd="0" presId="urn:microsoft.com/office/officeart/2009/3/layout/StepUpProcess"/>
    <dgm:cxn modelId="{CDEA5426-5EBD-4128-9B0F-D0838F498BC7}" type="presParOf" srcId="{A4611A64-E54B-4755-B474-F42CE34F8E2A}" destId="{E83A76B2-367D-40BB-B7E3-F8D6A0FB93D7}" srcOrd="1" destOrd="0" presId="urn:microsoft.com/office/officeart/2009/3/layout/StepUpProcess"/>
    <dgm:cxn modelId="{469BE733-70A0-4AC5-81A3-27720AC088F7}" type="presParOf" srcId="{A4611A64-E54B-4755-B474-F42CE34F8E2A}" destId="{41A51D6A-C1D8-4FBB-96F9-B8ECF131FD69}" srcOrd="2" destOrd="0" presId="urn:microsoft.com/office/officeart/2009/3/layout/StepUpProcess"/>
    <dgm:cxn modelId="{14152BD6-D9D7-48C7-9A00-4CD9BAB0F9C5}" type="presParOf" srcId="{4A677A8B-1B3A-4D46-8251-BE238AB3111E}" destId="{EDFF3E93-18B9-4F3A-80C6-E6DB90101322}" srcOrd="1" destOrd="0" presId="urn:microsoft.com/office/officeart/2009/3/layout/StepUpProcess"/>
    <dgm:cxn modelId="{D71E5505-6066-4ABA-BD6C-E27DBEF29D59}" type="presParOf" srcId="{EDFF3E93-18B9-4F3A-80C6-E6DB90101322}" destId="{BF753280-5A89-453D-A8FC-CFD4C4ACA040}" srcOrd="0" destOrd="0" presId="urn:microsoft.com/office/officeart/2009/3/layout/StepUpProcess"/>
    <dgm:cxn modelId="{D7C98200-62D6-44DD-AE9E-07910D93A2C2}" type="presParOf" srcId="{4A677A8B-1B3A-4D46-8251-BE238AB3111E}" destId="{486C9F3D-48CA-48A9-BBA0-DDEDA0560FD2}" srcOrd="2" destOrd="0" presId="urn:microsoft.com/office/officeart/2009/3/layout/StepUpProcess"/>
    <dgm:cxn modelId="{649F91A9-7863-4646-B571-4FC301E37EF7}" type="presParOf" srcId="{486C9F3D-48CA-48A9-BBA0-DDEDA0560FD2}" destId="{FBF9C9DC-EA28-49F0-A0E3-3104F2DC3C6C}" srcOrd="0" destOrd="0" presId="urn:microsoft.com/office/officeart/2009/3/layout/StepUpProcess"/>
    <dgm:cxn modelId="{460B1021-55DC-4494-BE9A-4B2FA3CD8B61}" type="presParOf" srcId="{486C9F3D-48CA-48A9-BBA0-DDEDA0560FD2}" destId="{A880D3DB-FB62-4F25-8CF0-FED1844679B9}" srcOrd="1" destOrd="0" presId="urn:microsoft.com/office/officeart/2009/3/layout/StepUpProcess"/>
    <dgm:cxn modelId="{0D700307-93CB-462C-B3CC-05FE43282598}" type="presParOf" srcId="{486C9F3D-48CA-48A9-BBA0-DDEDA0560FD2}" destId="{6E0E4177-3DAB-4E7C-9B45-80DDE7A0ACE9}" srcOrd="2" destOrd="0" presId="urn:microsoft.com/office/officeart/2009/3/layout/StepUpProcess"/>
    <dgm:cxn modelId="{2FEF3396-D162-48C2-A538-72E11A966EB0}" type="presParOf" srcId="{4A677A8B-1B3A-4D46-8251-BE238AB3111E}" destId="{FBDE90E9-9C9D-4D78-8D43-61D5541639E0}" srcOrd="3" destOrd="0" presId="urn:microsoft.com/office/officeart/2009/3/layout/StepUpProcess"/>
    <dgm:cxn modelId="{838E357D-CDDC-449D-8963-17D486E7D822}" type="presParOf" srcId="{FBDE90E9-9C9D-4D78-8D43-61D5541639E0}" destId="{91F33B27-C70E-4E68-8503-8786BD2D3E08}" srcOrd="0" destOrd="0" presId="urn:microsoft.com/office/officeart/2009/3/layout/StepUpProcess"/>
    <dgm:cxn modelId="{37A4DFD2-3AAE-4308-A940-4B5CA263B5A9}" type="presParOf" srcId="{4A677A8B-1B3A-4D46-8251-BE238AB3111E}" destId="{A946D850-610C-4B3B-927B-C02D72E5B6C3}" srcOrd="4" destOrd="0" presId="urn:microsoft.com/office/officeart/2009/3/layout/StepUpProcess"/>
    <dgm:cxn modelId="{A1A356F9-0847-49EA-ACCA-B3E564A52CBD}" type="presParOf" srcId="{A946D850-610C-4B3B-927B-C02D72E5B6C3}" destId="{C090B849-6FF3-48E5-9DED-42FB7FD11B7C}" srcOrd="0" destOrd="0" presId="urn:microsoft.com/office/officeart/2009/3/layout/StepUpProcess"/>
    <dgm:cxn modelId="{ECD9F2BA-2486-4632-B74F-DECE33E07261}" type="presParOf" srcId="{A946D850-610C-4B3B-927B-C02D72E5B6C3}" destId="{96FBE23C-B23D-478E-8FCC-4090A187C2B7}" srcOrd="1" destOrd="0" presId="urn:microsoft.com/office/officeart/2009/3/layout/StepUpProcess"/>
    <dgm:cxn modelId="{D7862644-E70E-4490-80BB-0A77A093CA57}" type="presParOf" srcId="{A946D850-610C-4B3B-927B-C02D72E5B6C3}" destId="{74D89564-9176-44EF-B405-B1785606A48A}" srcOrd="2" destOrd="0" presId="urn:microsoft.com/office/officeart/2009/3/layout/StepUpProcess"/>
    <dgm:cxn modelId="{0EB5051E-B643-4F2A-88E1-9C32BCF12BC3}" type="presParOf" srcId="{4A677A8B-1B3A-4D46-8251-BE238AB3111E}" destId="{4D96D9C9-4923-4C01-A8D8-FBC052ED3B72}" srcOrd="5" destOrd="0" presId="urn:microsoft.com/office/officeart/2009/3/layout/StepUpProcess"/>
    <dgm:cxn modelId="{F5C9BB87-B87C-4A2A-8F8A-361845D20104}" type="presParOf" srcId="{4D96D9C9-4923-4C01-A8D8-FBC052ED3B72}" destId="{E6A2A5C6-FCD3-44F3-9A7A-2A0B5AFEB799}" srcOrd="0" destOrd="0" presId="urn:microsoft.com/office/officeart/2009/3/layout/StepUpProcess"/>
    <dgm:cxn modelId="{49A81C32-016C-44C4-925A-98F61B356295}" type="presParOf" srcId="{4A677A8B-1B3A-4D46-8251-BE238AB3111E}" destId="{5F2B2AF1-E424-45CE-8E51-FD83023E2F2B}" srcOrd="6" destOrd="0" presId="urn:microsoft.com/office/officeart/2009/3/layout/StepUpProcess"/>
    <dgm:cxn modelId="{2961E115-0E2B-4C3A-A73A-707FACC27B2F}" type="presParOf" srcId="{5F2B2AF1-E424-45CE-8E51-FD83023E2F2B}" destId="{17C62C0E-6D3A-4BDE-99D5-7F25C50975D0}" srcOrd="0" destOrd="0" presId="urn:microsoft.com/office/officeart/2009/3/layout/StepUpProcess"/>
    <dgm:cxn modelId="{5CB40218-1B63-4D4F-A174-91628F9DECDD}" type="presParOf" srcId="{5F2B2AF1-E424-45CE-8E51-FD83023E2F2B}" destId="{C35E4CA3-EA84-48EE-9908-8F7D40297B3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0A3EE3-F39A-4458-BC72-D3A3F8099A83}" type="doc">
      <dgm:prSet loTypeId="urn:microsoft.com/office/officeart/2009/3/layout/StepUpProcess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75CFA78F-F5C6-42D9-B20F-C4A61691064F}">
      <dgm:prSet phldrT="[Text]" custT="1"/>
      <dgm:spPr/>
      <dgm:t>
        <a:bodyPr/>
        <a:lstStyle/>
        <a:p>
          <a:r>
            <a:rPr lang="en-US" sz="1200" b="1" dirty="0" smtClean="0"/>
            <a:t>- </a:t>
          </a:r>
          <a:r>
            <a:rPr lang="en-US" sz="1200" b="0" dirty="0" smtClean="0"/>
            <a:t>CRM system efficiency</a:t>
          </a:r>
        </a:p>
        <a:p>
          <a:r>
            <a:rPr lang="en-US" sz="1200" b="0" dirty="0" smtClean="0"/>
            <a:t>- </a:t>
          </a:r>
          <a:r>
            <a:rPr lang="en-US" sz="1200" b="1" dirty="0" smtClean="0"/>
            <a:t>Omni-channel interfacing</a:t>
          </a:r>
        </a:p>
        <a:p>
          <a:r>
            <a:rPr lang="en-US" sz="1200" b="0" dirty="0" smtClean="0"/>
            <a:t>- Leveraging automation</a:t>
          </a:r>
        </a:p>
        <a:p>
          <a:r>
            <a:rPr lang="en-US" sz="1200" b="0" dirty="0" smtClean="0"/>
            <a:t>- Mobile Application based </a:t>
          </a:r>
        </a:p>
        <a:p>
          <a:r>
            <a:rPr lang="en-US" sz="1200" b="0" dirty="0" smtClean="0"/>
            <a:t>  transaction </a:t>
          </a:r>
        </a:p>
        <a:p>
          <a:r>
            <a:rPr lang="en-US" sz="1200" b="0" dirty="0" smtClean="0"/>
            <a:t>- Streamlining processes</a:t>
          </a:r>
        </a:p>
        <a:p>
          <a:r>
            <a:rPr lang="en-US" sz="1200" b="0" dirty="0" smtClean="0"/>
            <a:t>- </a:t>
          </a:r>
          <a:r>
            <a:rPr lang="en-US" sz="1200" b="1" dirty="0" smtClean="0"/>
            <a:t>TAT  monitoring across </a:t>
          </a:r>
        </a:p>
        <a:p>
          <a:r>
            <a:rPr lang="en-US" sz="1200" b="1" dirty="0" smtClean="0"/>
            <a:t>   process</a:t>
          </a:r>
        </a:p>
        <a:p>
          <a:r>
            <a:rPr lang="en-US" sz="1200" b="1" dirty="0" smtClean="0"/>
            <a:t>- Reduce TAT from loan </a:t>
          </a:r>
        </a:p>
        <a:p>
          <a:r>
            <a:rPr lang="en-US" sz="1200" b="1" dirty="0" smtClean="0"/>
            <a:t>   application to customer</a:t>
          </a:r>
        </a:p>
        <a:p>
          <a:r>
            <a:rPr lang="en-US" sz="1200" b="1" dirty="0" smtClean="0"/>
            <a:t>   on-boarding</a:t>
          </a:r>
          <a:endParaRPr lang="en-IN" sz="1200" b="1" dirty="0"/>
        </a:p>
      </dgm:t>
    </dgm:pt>
    <dgm:pt modelId="{423C3823-E017-4EFF-B9FB-158B522A346D}" type="parTrans" cxnId="{077F0FBF-6A50-497E-9338-0F4EA4291484}">
      <dgm:prSet/>
      <dgm:spPr/>
      <dgm:t>
        <a:bodyPr/>
        <a:lstStyle/>
        <a:p>
          <a:endParaRPr lang="en-IN"/>
        </a:p>
      </dgm:t>
    </dgm:pt>
    <dgm:pt modelId="{D698C528-4FEB-42FB-9AC0-BFB8E1B74810}" type="sibTrans" cxnId="{077F0FBF-6A50-497E-9338-0F4EA4291484}">
      <dgm:prSet/>
      <dgm:spPr/>
      <dgm:t>
        <a:bodyPr/>
        <a:lstStyle/>
        <a:p>
          <a:endParaRPr lang="en-IN"/>
        </a:p>
      </dgm:t>
    </dgm:pt>
    <dgm:pt modelId="{F903D5EE-A4D6-4D92-BE7F-EA7CD86F8036}">
      <dgm:prSet phldrT="[Text]" custT="1"/>
      <dgm:spPr/>
      <dgm:t>
        <a:bodyPr/>
        <a:lstStyle/>
        <a:p>
          <a:r>
            <a:rPr lang="en-US" sz="1200" dirty="0" smtClean="0"/>
            <a:t>- </a:t>
          </a:r>
          <a:r>
            <a:rPr lang="en-US" sz="1200" b="1" dirty="0" smtClean="0"/>
            <a:t>Increase  Digital  channel </a:t>
          </a:r>
        </a:p>
        <a:p>
          <a:r>
            <a:rPr lang="en-US" sz="1200" b="1" dirty="0" smtClean="0"/>
            <a:t>   usage</a:t>
          </a:r>
        </a:p>
        <a:p>
          <a:r>
            <a:rPr lang="en-US" sz="1200" dirty="0" smtClean="0"/>
            <a:t>- Reduce  external data </a:t>
          </a:r>
        </a:p>
        <a:p>
          <a:r>
            <a:rPr lang="en-US" sz="1200" dirty="0" smtClean="0"/>
            <a:t>  dependency</a:t>
          </a:r>
        </a:p>
        <a:p>
          <a:r>
            <a:rPr lang="en-US" sz="1200" dirty="0" smtClean="0"/>
            <a:t> - </a:t>
          </a:r>
          <a:r>
            <a:rPr lang="en-US" sz="1200" b="1" dirty="0" smtClean="0"/>
            <a:t>Media  mix optimization</a:t>
          </a:r>
        </a:p>
      </dgm:t>
    </dgm:pt>
    <dgm:pt modelId="{D1EE8C39-DA70-4668-B572-724851583040}" type="parTrans" cxnId="{37276BBD-CA08-49D2-A7BD-9A7063EC1E32}">
      <dgm:prSet/>
      <dgm:spPr/>
      <dgm:t>
        <a:bodyPr/>
        <a:lstStyle/>
        <a:p>
          <a:endParaRPr lang="en-IN"/>
        </a:p>
      </dgm:t>
    </dgm:pt>
    <dgm:pt modelId="{20F1D033-4897-446E-B878-F0B75E7293B5}" type="sibTrans" cxnId="{37276BBD-CA08-49D2-A7BD-9A7063EC1E32}">
      <dgm:prSet/>
      <dgm:spPr/>
      <dgm:t>
        <a:bodyPr/>
        <a:lstStyle/>
        <a:p>
          <a:endParaRPr lang="en-IN"/>
        </a:p>
      </dgm:t>
    </dgm:pt>
    <dgm:pt modelId="{C297BC53-53BC-4387-8ABE-5C9DFF65925F}">
      <dgm:prSet custT="1"/>
      <dgm:spPr/>
      <dgm:t>
        <a:bodyPr/>
        <a:lstStyle/>
        <a:p>
          <a:r>
            <a:rPr lang="en-US" sz="1200" b="0" dirty="0" smtClean="0"/>
            <a:t>-</a:t>
          </a:r>
          <a:r>
            <a:rPr lang="en-US" sz="1200" b="1" dirty="0" smtClean="0"/>
            <a:t>ROI  for campaign </a:t>
          </a:r>
        </a:p>
        <a:p>
          <a:r>
            <a:rPr lang="en-US" sz="1200" b="1" dirty="0" smtClean="0"/>
            <a:t>  spend</a:t>
          </a:r>
        </a:p>
        <a:p>
          <a:r>
            <a:rPr lang="en-US" sz="1200" dirty="0" smtClean="0"/>
            <a:t>- Incremental revenue </a:t>
          </a:r>
        </a:p>
        <a:p>
          <a:r>
            <a:rPr lang="en-US" sz="1200" dirty="0" smtClean="0"/>
            <a:t>  gained per advertizing </a:t>
          </a:r>
        </a:p>
        <a:p>
          <a:r>
            <a:rPr lang="en-US" sz="1200" dirty="0" smtClean="0"/>
            <a:t>  &amp; marketing $</a:t>
          </a:r>
        </a:p>
        <a:p>
          <a:endParaRPr lang="en-US" sz="1200" b="0" dirty="0" smtClean="0"/>
        </a:p>
      </dgm:t>
    </dgm:pt>
    <dgm:pt modelId="{705AA61C-5F14-4BB9-954C-BBE946F568A1}" type="parTrans" cxnId="{18E2380C-8A57-4BF5-8617-3187E32A69C4}">
      <dgm:prSet/>
      <dgm:spPr/>
      <dgm:t>
        <a:bodyPr/>
        <a:lstStyle/>
        <a:p>
          <a:endParaRPr lang="en-IN"/>
        </a:p>
      </dgm:t>
    </dgm:pt>
    <dgm:pt modelId="{A5485F4F-0DB6-4D50-B6C8-B123C5CFB520}" type="sibTrans" cxnId="{18E2380C-8A57-4BF5-8617-3187E32A69C4}">
      <dgm:prSet/>
      <dgm:spPr/>
      <dgm:t>
        <a:bodyPr/>
        <a:lstStyle/>
        <a:p>
          <a:endParaRPr lang="en-IN"/>
        </a:p>
      </dgm:t>
    </dgm:pt>
    <dgm:pt modelId="{19A25DDF-86A1-48F1-9EFE-4FFCC83B74F2}">
      <dgm:prSet phldrT="[Text]" custT="1"/>
      <dgm:spPr/>
      <dgm:t>
        <a:bodyPr/>
        <a:lstStyle/>
        <a:p>
          <a:r>
            <a:rPr lang="en-US" sz="1200" b="1" dirty="0" smtClean="0"/>
            <a:t>- </a:t>
          </a:r>
          <a:r>
            <a:rPr lang="en-IN" sz="1200" b="1" dirty="0" smtClean="0"/>
            <a:t>Identify productivity drivers</a:t>
          </a:r>
        </a:p>
        <a:p>
          <a:r>
            <a:rPr lang="en-IN" sz="1200" b="1" dirty="0" smtClean="0"/>
            <a:t>- Monitor performance </a:t>
          </a:r>
        </a:p>
        <a:p>
          <a:r>
            <a:rPr lang="en-IN" sz="1200" b="1" dirty="0" smtClean="0"/>
            <a:t>  against targets</a:t>
          </a:r>
        </a:p>
        <a:p>
          <a:r>
            <a:rPr lang="en-IN" sz="1200" dirty="0" smtClean="0"/>
            <a:t>-  Skill set and requirement </a:t>
          </a:r>
        </a:p>
        <a:p>
          <a:r>
            <a:rPr lang="en-IN" sz="1200" dirty="0" smtClean="0"/>
            <a:t>   based staff deployment</a:t>
          </a:r>
        </a:p>
        <a:p>
          <a:r>
            <a:rPr lang="en-IN" sz="1200" dirty="0" smtClean="0"/>
            <a:t>- Tools  availability of </a:t>
          </a:r>
        </a:p>
        <a:p>
          <a:r>
            <a:rPr lang="en-IN" sz="1200" dirty="0" smtClean="0"/>
            <a:t>  effective functioning</a:t>
          </a:r>
        </a:p>
        <a:p>
          <a:endParaRPr lang="en-IN" sz="1200" b="0" dirty="0" smtClean="0"/>
        </a:p>
      </dgm:t>
    </dgm:pt>
    <dgm:pt modelId="{95043503-A5E5-4263-A85D-1EE0D3E53B11}" type="parTrans" cxnId="{3B5C6024-BA0E-436F-9E7D-E54187419AFA}">
      <dgm:prSet/>
      <dgm:spPr/>
      <dgm:t>
        <a:bodyPr/>
        <a:lstStyle/>
        <a:p>
          <a:endParaRPr lang="en-IN"/>
        </a:p>
      </dgm:t>
    </dgm:pt>
    <dgm:pt modelId="{1853E243-84DB-45C9-877A-989AA1A6AEB3}" type="sibTrans" cxnId="{3B5C6024-BA0E-436F-9E7D-E54187419AFA}">
      <dgm:prSet/>
      <dgm:spPr/>
      <dgm:t>
        <a:bodyPr/>
        <a:lstStyle/>
        <a:p>
          <a:endParaRPr lang="en-IN"/>
        </a:p>
      </dgm:t>
    </dgm:pt>
    <dgm:pt modelId="{4A677A8B-1B3A-4D46-8251-BE238AB3111E}" type="pres">
      <dgm:prSet presAssocID="{160A3EE3-F39A-4458-BC72-D3A3F8099A83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A4611A64-E54B-4755-B474-F42CE34F8E2A}" type="pres">
      <dgm:prSet presAssocID="{19A25DDF-86A1-48F1-9EFE-4FFCC83B74F2}" presName="composite" presStyleCnt="0"/>
      <dgm:spPr/>
    </dgm:pt>
    <dgm:pt modelId="{2E7F8BDF-DCAE-46C0-A220-CC3312BC9CB1}" type="pres">
      <dgm:prSet presAssocID="{19A25DDF-86A1-48F1-9EFE-4FFCC83B74F2}" presName="LShape" presStyleLbl="alignNode1" presStyleIdx="0" presStyleCnt="7"/>
      <dgm:spPr/>
    </dgm:pt>
    <dgm:pt modelId="{E83A76B2-367D-40BB-B7E3-F8D6A0FB93D7}" type="pres">
      <dgm:prSet presAssocID="{19A25DDF-86A1-48F1-9EFE-4FFCC83B74F2}" presName="ParentText" presStyleLbl="revTx" presStyleIdx="0" presStyleCnt="4" custScaleX="120891" custLinFactNeighborX="8733" custLinFactNeighborY="698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A51D6A-C1D8-4FBB-96F9-B8ECF131FD69}" type="pres">
      <dgm:prSet presAssocID="{19A25DDF-86A1-48F1-9EFE-4FFCC83B74F2}" presName="Triangle" presStyleLbl="alignNode1" presStyleIdx="1" presStyleCnt="7" custAng="16200000"/>
      <dgm:spPr/>
    </dgm:pt>
    <dgm:pt modelId="{EDFF3E93-18B9-4F3A-80C6-E6DB90101322}" type="pres">
      <dgm:prSet presAssocID="{1853E243-84DB-45C9-877A-989AA1A6AEB3}" presName="sibTrans" presStyleCnt="0"/>
      <dgm:spPr/>
    </dgm:pt>
    <dgm:pt modelId="{BF753280-5A89-453D-A8FC-CFD4C4ACA040}" type="pres">
      <dgm:prSet presAssocID="{1853E243-84DB-45C9-877A-989AA1A6AEB3}" presName="space" presStyleCnt="0"/>
      <dgm:spPr/>
    </dgm:pt>
    <dgm:pt modelId="{486C9F3D-48CA-48A9-BBA0-DDEDA0560FD2}" type="pres">
      <dgm:prSet presAssocID="{75CFA78F-F5C6-42D9-B20F-C4A61691064F}" presName="composite" presStyleCnt="0"/>
      <dgm:spPr/>
    </dgm:pt>
    <dgm:pt modelId="{FBF9C9DC-EA28-49F0-A0E3-3104F2DC3C6C}" type="pres">
      <dgm:prSet presAssocID="{75CFA78F-F5C6-42D9-B20F-C4A61691064F}" presName="LShape" presStyleLbl="alignNode1" presStyleIdx="2" presStyleCnt="7" custLinFactNeighborX="-2308"/>
      <dgm:spPr/>
    </dgm:pt>
    <dgm:pt modelId="{A880D3DB-FB62-4F25-8CF0-FED1844679B9}" type="pres">
      <dgm:prSet presAssocID="{75CFA78F-F5C6-42D9-B20F-C4A61691064F}" presName="ParentText" presStyleLbl="revTx" presStyleIdx="1" presStyleCnt="4" custScaleX="125050" custLinFactNeighborX="9746" custLinFactNeighborY="518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E0E4177-3DAB-4E7C-9B45-80DDE7A0ACE9}" type="pres">
      <dgm:prSet presAssocID="{75CFA78F-F5C6-42D9-B20F-C4A61691064F}" presName="Triangle" presStyleLbl="alignNode1" presStyleIdx="3" presStyleCnt="7" custAng="16200000" custLinFactNeighborX="-12939" custLinFactNeighborY="-14772"/>
      <dgm:spPr/>
    </dgm:pt>
    <dgm:pt modelId="{FBDE90E9-9C9D-4D78-8D43-61D5541639E0}" type="pres">
      <dgm:prSet presAssocID="{D698C528-4FEB-42FB-9AC0-BFB8E1B74810}" presName="sibTrans" presStyleCnt="0"/>
      <dgm:spPr/>
    </dgm:pt>
    <dgm:pt modelId="{91F33B27-C70E-4E68-8503-8786BD2D3E08}" type="pres">
      <dgm:prSet presAssocID="{D698C528-4FEB-42FB-9AC0-BFB8E1B74810}" presName="space" presStyleCnt="0"/>
      <dgm:spPr/>
    </dgm:pt>
    <dgm:pt modelId="{A946D850-610C-4B3B-927B-C02D72E5B6C3}" type="pres">
      <dgm:prSet presAssocID="{F903D5EE-A4D6-4D92-BE7F-EA7CD86F8036}" presName="composite" presStyleCnt="0"/>
      <dgm:spPr/>
    </dgm:pt>
    <dgm:pt modelId="{C090B849-6FF3-48E5-9DED-42FB7FD11B7C}" type="pres">
      <dgm:prSet presAssocID="{F903D5EE-A4D6-4D92-BE7F-EA7CD86F8036}" presName="LShape" presStyleLbl="alignNode1" presStyleIdx="4" presStyleCnt="7"/>
      <dgm:spPr/>
    </dgm:pt>
    <dgm:pt modelId="{96FBE23C-B23D-478E-8FCC-4090A187C2B7}" type="pres">
      <dgm:prSet presAssocID="{F903D5EE-A4D6-4D92-BE7F-EA7CD86F8036}" presName="ParentText" presStyleLbl="revTx" presStyleIdx="2" presStyleCnt="4" custScaleX="123937" custLinFactNeighborX="13461" custLinFactNeighborY="1123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D89564-9176-44EF-B405-B1785606A48A}" type="pres">
      <dgm:prSet presAssocID="{F903D5EE-A4D6-4D92-BE7F-EA7CD86F8036}" presName="Triangle" presStyleLbl="alignNode1" presStyleIdx="5" presStyleCnt="7" custAng="16200000" custLinFactNeighborX="5804" custLinFactNeighborY="-15025"/>
      <dgm:spPr/>
      <dgm:t>
        <a:bodyPr/>
        <a:lstStyle/>
        <a:p>
          <a:endParaRPr lang="en-IN"/>
        </a:p>
      </dgm:t>
    </dgm:pt>
    <dgm:pt modelId="{4D96D9C9-4923-4C01-A8D8-FBC052ED3B72}" type="pres">
      <dgm:prSet presAssocID="{20F1D033-4897-446E-B878-F0B75E7293B5}" presName="sibTrans" presStyleCnt="0"/>
      <dgm:spPr/>
    </dgm:pt>
    <dgm:pt modelId="{E6A2A5C6-FCD3-44F3-9A7A-2A0B5AFEB799}" type="pres">
      <dgm:prSet presAssocID="{20F1D033-4897-446E-B878-F0B75E7293B5}" presName="space" presStyleCnt="0"/>
      <dgm:spPr/>
    </dgm:pt>
    <dgm:pt modelId="{5F2B2AF1-E424-45CE-8E51-FD83023E2F2B}" type="pres">
      <dgm:prSet presAssocID="{C297BC53-53BC-4387-8ABE-5C9DFF65925F}" presName="composite" presStyleCnt="0"/>
      <dgm:spPr/>
    </dgm:pt>
    <dgm:pt modelId="{17C62C0E-6D3A-4BDE-99D5-7F25C50975D0}" type="pres">
      <dgm:prSet presAssocID="{C297BC53-53BC-4387-8ABE-5C9DFF65925F}" presName="LShape" presStyleLbl="alignNode1" presStyleIdx="6" presStyleCnt="7"/>
      <dgm:spPr/>
    </dgm:pt>
    <dgm:pt modelId="{C35E4CA3-EA84-48EE-9908-8F7D40297B3F}" type="pres">
      <dgm:prSet presAssocID="{C297BC53-53BC-4387-8ABE-5C9DFF65925F}" presName="ParentText" presStyleLbl="revTx" presStyleIdx="3" presStyleCnt="4" custLinFactNeighborX="916" custLinFactNeighborY="345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BCE0CB6-1BBA-4057-B4EC-4A681B088A94}" type="presOf" srcId="{75CFA78F-F5C6-42D9-B20F-C4A61691064F}" destId="{A880D3DB-FB62-4F25-8CF0-FED1844679B9}" srcOrd="0" destOrd="0" presId="urn:microsoft.com/office/officeart/2009/3/layout/StepUpProcess"/>
    <dgm:cxn modelId="{41B8DCBC-12B1-4786-827F-F5809BF4DD05}" type="presOf" srcId="{160A3EE3-F39A-4458-BC72-D3A3F8099A83}" destId="{4A677A8B-1B3A-4D46-8251-BE238AB3111E}" srcOrd="0" destOrd="0" presId="urn:microsoft.com/office/officeart/2009/3/layout/StepUpProcess"/>
    <dgm:cxn modelId="{18E2380C-8A57-4BF5-8617-3187E32A69C4}" srcId="{160A3EE3-F39A-4458-BC72-D3A3F8099A83}" destId="{C297BC53-53BC-4387-8ABE-5C9DFF65925F}" srcOrd="3" destOrd="0" parTransId="{705AA61C-5F14-4BB9-954C-BBE946F568A1}" sibTransId="{A5485F4F-0DB6-4D50-B6C8-B123C5CFB520}"/>
    <dgm:cxn modelId="{077F0FBF-6A50-497E-9338-0F4EA4291484}" srcId="{160A3EE3-F39A-4458-BC72-D3A3F8099A83}" destId="{75CFA78F-F5C6-42D9-B20F-C4A61691064F}" srcOrd="1" destOrd="0" parTransId="{423C3823-E017-4EFF-B9FB-158B522A346D}" sibTransId="{D698C528-4FEB-42FB-9AC0-BFB8E1B74810}"/>
    <dgm:cxn modelId="{5B864ADF-E986-4B40-8799-3F74C0BACA98}" type="presOf" srcId="{19A25DDF-86A1-48F1-9EFE-4FFCC83B74F2}" destId="{E83A76B2-367D-40BB-B7E3-F8D6A0FB93D7}" srcOrd="0" destOrd="0" presId="urn:microsoft.com/office/officeart/2009/3/layout/StepUpProcess"/>
    <dgm:cxn modelId="{E46893D9-CFF7-4C2B-886A-7A3739FD01DE}" type="presOf" srcId="{F903D5EE-A4D6-4D92-BE7F-EA7CD86F8036}" destId="{96FBE23C-B23D-478E-8FCC-4090A187C2B7}" srcOrd="0" destOrd="0" presId="urn:microsoft.com/office/officeart/2009/3/layout/StepUpProcess"/>
    <dgm:cxn modelId="{3D8CA5A2-49BA-4A4F-BA07-5E2BABCB0123}" type="presOf" srcId="{C297BC53-53BC-4387-8ABE-5C9DFF65925F}" destId="{C35E4CA3-EA84-48EE-9908-8F7D40297B3F}" srcOrd="0" destOrd="0" presId="urn:microsoft.com/office/officeart/2009/3/layout/StepUpProcess"/>
    <dgm:cxn modelId="{37276BBD-CA08-49D2-A7BD-9A7063EC1E32}" srcId="{160A3EE3-F39A-4458-BC72-D3A3F8099A83}" destId="{F903D5EE-A4D6-4D92-BE7F-EA7CD86F8036}" srcOrd="2" destOrd="0" parTransId="{D1EE8C39-DA70-4668-B572-724851583040}" sibTransId="{20F1D033-4897-446E-B878-F0B75E7293B5}"/>
    <dgm:cxn modelId="{3B5C6024-BA0E-436F-9E7D-E54187419AFA}" srcId="{160A3EE3-F39A-4458-BC72-D3A3F8099A83}" destId="{19A25DDF-86A1-48F1-9EFE-4FFCC83B74F2}" srcOrd="0" destOrd="0" parTransId="{95043503-A5E5-4263-A85D-1EE0D3E53B11}" sibTransId="{1853E243-84DB-45C9-877A-989AA1A6AEB3}"/>
    <dgm:cxn modelId="{C3B05D0D-D58B-425A-A7C5-47DAC43B5766}" type="presParOf" srcId="{4A677A8B-1B3A-4D46-8251-BE238AB3111E}" destId="{A4611A64-E54B-4755-B474-F42CE34F8E2A}" srcOrd="0" destOrd="0" presId="urn:microsoft.com/office/officeart/2009/3/layout/StepUpProcess"/>
    <dgm:cxn modelId="{9899BE16-4188-400C-82DD-6B7DE5117432}" type="presParOf" srcId="{A4611A64-E54B-4755-B474-F42CE34F8E2A}" destId="{2E7F8BDF-DCAE-46C0-A220-CC3312BC9CB1}" srcOrd="0" destOrd="0" presId="urn:microsoft.com/office/officeart/2009/3/layout/StepUpProcess"/>
    <dgm:cxn modelId="{FDE72288-7FFF-405E-860D-424A6AA92312}" type="presParOf" srcId="{A4611A64-E54B-4755-B474-F42CE34F8E2A}" destId="{E83A76B2-367D-40BB-B7E3-F8D6A0FB93D7}" srcOrd="1" destOrd="0" presId="urn:microsoft.com/office/officeart/2009/3/layout/StepUpProcess"/>
    <dgm:cxn modelId="{0B79C0F7-2694-4A4E-860A-9D9AB0FD277F}" type="presParOf" srcId="{A4611A64-E54B-4755-B474-F42CE34F8E2A}" destId="{41A51D6A-C1D8-4FBB-96F9-B8ECF131FD69}" srcOrd="2" destOrd="0" presId="urn:microsoft.com/office/officeart/2009/3/layout/StepUpProcess"/>
    <dgm:cxn modelId="{197FDF84-A81D-4F3E-9660-2207CD857BC4}" type="presParOf" srcId="{4A677A8B-1B3A-4D46-8251-BE238AB3111E}" destId="{EDFF3E93-18B9-4F3A-80C6-E6DB90101322}" srcOrd="1" destOrd="0" presId="urn:microsoft.com/office/officeart/2009/3/layout/StepUpProcess"/>
    <dgm:cxn modelId="{FEA7AA63-8357-46B6-9839-21C633785C39}" type="presParOf" srcId="{EDFF3E93-18B9-4F3A-80C6-E6DB90101322}" destId="{BF753280-5A89-453D-A8FC-CFD4C4ACA040}" srcOrd="0" destOrd="0" presId="urn:microsoft.com/office/officeart/2009/3/layout/StepUpProcess"/>
    <dgm:cxn modelId="{5284A974-CC32-49A0-9426-2242BBA0DC02}" type="presParOf" srcId="{4A677A8B-1B3A-4D46-8251-BE238AB3111E}" destId="{486C9F3D-48CA-48A9-BBA0-DDEDA0560FD2}" srcOrd="2" destOrd="0" presId="urn:microsoft.com/office/officeart/2009/3/layout/StepUpProcess"/>
    <dgm:cxn modelId="{E3AF280A-1ADD-4352-A61F-16A4FCE17A75}" type="presParOf" srcId="{486C9F3D-48CA-48A9-BBA0-DDEDA0560FD2}" destId="{FBF9C9DC-EA28-49F0-A0E3-3104F2DC3C6C}" srcOrd="0" destOrd="0" presId="urn:microsoft.com/office/officeart/2009/3/layout/StepUpProcess"/>
    <dgm:cxn modelId="{DCAC16BF-2D9F-4862-AE7F-D7C9F8654A3B}" type="presParOf" srcId="{486C9F3D-48CA-48A9-BBA0-DDEDA0560FD2}" destId="{A880D3DB-FB62-4F25-8CF0-FED1844679B9}" srcOrd="1" destOrd="0" presId="urn:microsoft.com/office/officeart/2009/3/layout/StepUpProcess"/>
    <dgm:cxn modelId="{99A2FDFA-42C6-4695-947E-7F1C27D8A865}" type="presParOf" srcId="{486C9F3D-48CA-48A9-BBA0-DDEDA0560FD2}" destId="{6E0E4177-3DAB-4E7C-9B45-80DDE7A0ACE9}" srcOrd="2" destOrd="0" presId="urn:microsoft.com/office/officeart/2009/3/layout/StepUpProcess"/>
    <dgm:cxn modelId="{2B5977AA-FA59-48A2-913E-73F8ACB089A8}" type="presParOf" srcId="{4A677A8B-1B3A-4D46-8251-BE238AB3111E}" destId="{FBDE90E9-9C9D-4D78-8D43-61D5541639E0}" srcOrd="3" destOrd="0" presId="urn:microsoft.com/office/officeart/2009/3/layout/StepUpProcess"/>
    <dgm:cxn modelId="{34EEAB92-1831-4EBC-A65D-BD8103610F06}" type="presParOf" srcId="{FBDE90E9-9C9D-4D78-8D43-61D5541639E0}" destId="{91F33B27-C70E-4E68-8503-8786BD2D3E08}" srcOrd="0" destOrd="0" presId="urn:microsoft.com/office/officeart/2009/3/layout/StepUpProcess"/>
    <dgm:cxn modelId="{8ED6AC6B-2E46-49A8-8563-0F49BF3FFD4C}" type="presParOf" srcId="{4A677A8B-1B3A-4D46-8251-BE238AB3111E}" destId="{A946D850-610C-4B3B-927B-C02D72E5B6C3}" srcOrd="4" destOrd="0" presId="urn:microsoft.com/office/officeart/2009/3/layout/StepUpProcess"/>
    <dgm:cxn modelId="{D3825573-BE5C-4317-8C8A-EF0E777C6DA6}" type="presParOf" srcId="{A946D850-610C-4B3B-927B-C02D72E5B6C3}" destId="{C090B849-6FF3-48E5-9DED-42FB7FD11B7C}" srcOrd="0" destOrd="0" presId="urn:microsoft.com/office/officeart/2009/3/layout/StepUpProcess"/>
    <dgm:cxn modelId="{079CB8C8-9490-4BEA-AEFC-BCD08912558E}" type="presParOf" srcId="{A946D850-610C-4B3B-927B-C02D72E5B6C3}" destId="{96FBE23C-B23D-478E-8FCC-4090A187C2B7}" srcOrd="1" destOrd="0" presId="urn:microsoft.com/office/officeart/2009/3/layout/StepUpProcess"/>
    <dgm:cxn modelId="{F0C31B3E-8144-457B-80D4-693ED657350A}" type="presParOf" srcId="{A946D850-610C-4B3B-927B-C02D72E5B6C3}" destId="{74D89564-9176-44EF-B405-B1785606A48A}" srcOrd="2" destOrd="0" presId="urn:microsoft.com/office/officeart/2009/3/layout/StepUpProcess"/>
    <dgm:cxn modelId="{19561589-B728-4295-905C-FF88C17ECFCB}" type="presParOf" srcId="{4A677A8B-1B3A-4D46-8251-BE238AB3111E}" destId="{4D96D9C9-4923-4C01-A8D8-FBC052ED3B72}" srcOrd="5" destOrd="0" presId="urn:microsoft.com/office/officeart/2009/3/layout/StepUpProcess"/>
    <dgm:cxn modelId="{8E0138C2-ED25-4BAD-BB99-43EBB7E9537D}" type="presParOf" srcId="{4D96D9C9-4923-4C01-A8D8-FBC052ED3B72}" destId="{E6A2A5C6-FCD3-44F3-9A7A-2A0B5AFEB799}" srcOrd="0" destOrd="0" presId="urn:microsoft.com/office/officeart/2009/3/layout/StepUpProcess"/>
    <dgm:cxn modelId="{5B5A69AF-B315-4914-A323-B5F2252D4F6F}" type="presParOf" srcId="{4A677A8B-1B3A-4D46-8251-BE238AB3111E}" destId="{5F2B2AF1-E424-45CE-8E51-FD83023E2F2B}" srcOrd="6" destOrd="0" presId="urn:microsoft.com/office/officeart/2009/3/layout/StepUpProcess"/>
    <dgm:cxn modelId="{0C366003-22FD-4E7E-B432-3FFFF191C6DF}" type="presParOf" srcId="{5F2B2AF1-E424-45CE-8E51-FD83023E2F2B}" destId="{17C62C0E-6D3A-4BDE-99D5-7F25C50975D0}" srcOrd="0" destOrd="0" presId="urn:microsoft.com/office/officeart/2009/3/layout/StepUpProcess"/>
    <dgm:cxn modelId="{DCD203C9-914F-4F08-BEC8-BFEC17685F9B}" type="presParOf" srcId="{5F2B2AF1-E424-45CE-8E51-FD83023E2F2B}" destId="{C35E4CA3-EA84-48EE-9908-8F7D40297B3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#1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C81A5-E780-4740-8FFC-D4B70F1CBAF0}" type="datetimeFigureOut">
              <a:rPr lang="en-IN" smtClean="0"/>
              <a:pPr/>
              <a:t>15-06-2015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3A600-E9C9-4F6F-9259-2CD4C941B1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22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80FA6-BA02-4C3D-AB3D-7F99A89BBA54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89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>
                <a:solidFill>
                  <a:prstClr val="black"/>
                </a:solidFill>
              </a:rPr>
              <a:pPr/>
              <a:t>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683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632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262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090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960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341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3F1C2D-DCC2-432B-804F-3A8560B4A0B5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803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85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960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025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0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/>
              <a:pPr/>
              <a:t>15-06-2015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63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0642DC7-B585-4536-91D5-231B0D5F1DDB}" type="datetime1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68" r:id="rId8"/>
    <p:sldLayoutId id="2147483667" r:id="rId9"/>
    <p:sldLayoutId id="2147483661" r:id="rId10"/>
    <p:sldLayoutId id="2147483664" r:id="rId11"/>
    <p:sldLayoutId id="2147483662" r:id="rId12"/>
    <p:sldLayoutId id="2147483669" r:id="rId13"/>
    <p:sldLayoutId id="2147483670" r:id="rId14"/>
    <p:sldLayoutId id="2147483658" r:id="rId15"/>
    <p:sldLayoutId id="2147483659" r:id="rId16"/>
    <p:sldLayoutId id="214748367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7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pn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2.xml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0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1.jpeg"/><Relationship Id="rId9" Type="http://schemas.microsoft.com/office/2007/relationships/diagramDrawing" Target="../diagrams/drawing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54954" y="2099733"/>
            <a:ext cx="9989861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 smtClean="0"/>
              <a:t>Consumer Analytics Group, </a:t>
            </a:r>
            <a:br>
              <a:rPr lang="en-US" sz="4000" b="1" dirty="0" smtClean="0"/>
            </a:br>
            <a:r>
              <a:rPr lang="en-US" sz="4000" dirty="0" smtClean="0"/>
              <a:t>Big Data Initiative</a:t>
            </a:r>
            <a:br>
              <a:rPr lang="en-US" sz="4000" dirty="0" smtClean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endParaRPr lang="en-IN" sz="3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54954" y="5322771"/>
            <a:ext cx="9519463" cy="77019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Tata Capital Analytics Offerings &amp; Proposed Roadmap</a:t>
            </a:r>
            <a:br>
              <a:rPr lang="en-US" b="1" dirty="0" smtClean="0"/>
            </a:br>
            <a:endParaRPr lang="en-IN" b="1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67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2863" y="1385589"/>
            <a:ext cx="11176000" cy="469192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342000" lvl="0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2060"/>
                </a:solidFill>
                <a:latin typeface="+mj-lt"/>
                <a:cs typeface="Arial" pitchFamily="34" charset="0"/>
              </a:rPr>
              <a:t>Tata Customer Analytics </a:t>
            </a:r>
            <a:r>
              <a:rPr lang="en-US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Company Overview</a:t>
            </a:r>
          </a:p>
          <a:p>
            <a:pPr marL="799200" lvl="1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Mission </a:t>
            </a:r>
            <a:r>
              <a:rPr lang="en-IN" sz="1600" dirty="0">
                <a:solidFill>
                  <a:srgbClr val="002060"/>
                </a:solidFill>
                <a:latin typeface="+mj-lt"/>
                <a:cs typeface="Arial" pitchFamily="34" charset="0"/>
              </a:rPr>
              <a:t>and Value proposition</a:t>
            </a:r>
          </a:p>
          <a:p>
            <a:pPr marL="799200" lvl="2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>
                <a:solidFill>
                  <a:srgbClr val="002060"/>
                </a:solidFill>
                <a:latin typeface="+mj-lt"/>
                <a:cs typeface="Arial" pitchFamily="34" charset="0"/>
              </a:rPr>
              <a:t>3 points of </a:t>
            </a: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Inflection</a:t>
            </a:r>
            <a:endParaRPr lang="en-US" sz="1600" dirty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342000" lvl="0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Analytical Capabilities in Financial Organizations</a:t>
            </a:r>
          </a:p>
          <a:p>
            <a:pPr marL="342000" lvl="0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Analytics </a:t>
            </a:r>
            <a:r>
              <a:rPr lang="en-IN" sz="1600" dirty="0">
                <a:solidFill>
                  <a:srgbClr val="002060"/>
                </a:solidFill>
                <a:latin typeface="+mj-lt"/>
                <a:cs typeface="Arial" pitchFamily="34" charset="0"/>
              </a:rPr>
              <a:t>Proposed </a:t>
            </a: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Roadmap</a:t>
            </a:r>
          </a:p>
          <a:p>
            <a:pPr marL="342000" lvl="0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Analytics Capability Offering for Tata Capital </a:t>
            </a:r>
          </a:p>
          <a:p>
            <a:pPr marL="342000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Next Steps and Support Needed</a:t>
            </a:r>
            <a:endParaRPr lang="en-IN" sz="1600" dirty="0">
              <a:solidFill>
                <a:srgbClr val="002060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90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Executive Summary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02466" y="1636336"/>
            <a:ext cx="2202287" cy="991674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0B4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 smtClean="0"/>
              <a:t>Overview</a:t>
            </a:r>
            <a:endParaRPr lang="en-IN" sz="1700" b="1" dirty="0"/>
          </a:p>
        </p:txBody>
      </p:sp>
      <p:sp>
        <p:nvSpPr>
          <p:cNvPr id="24" name="Rectangle 23"/>
          <p:cNvSpPr/>
          <p:nvPr/>
        </p:nvSpPr>
        <p:spPr>
          <a:xfrm>
            <a:off x="2804752" y="1636336"/>
            <a:ext cx="9049143" cy="991674"/>
          </a:xfrm>
          <a:prstGeom prst="rect">
            <a:avLst/>
          </a:prstGeom>
          <a:noFill/>
          <a:ln w="28575">
            <a:solidFill>
              <a:srgbClr val="0B4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2"/>
                </a:solidFill>
              </a:rPr>
              <a:t>This deck covers the business priorities and the phased strategic roadmap to leverage analytic capabilities for improving business outcomes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2"/>
                </a:solidFill>
              </a:rPr>
              <a:t>The roadmap is outlined across the three phases: Near-term, Foundation and Maturation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2466" y="2980183"/>
            <a:ext cx="2202287" cy="3296985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0B4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 smtClean="0"/>
              <a:t>Key areas of focus</a:t>
            </a:r>
            <a:endParaRPr lang="en-IN" sz="1700" b="1" dirty="0"/>
          </a:p>
        </p:txBody>
      </p:sp>
      <p:sp>
        <p:nvSpPr>
          <p:cNvPr id="26" name="Rectangle 25"/>
          <p:cNvSpPr/>
          <p:nvPr/>
        </p:nvSpPr>
        <p:spPr>
          <a:xfrm>
            <a:off x="2804752" y="2980185"/>
            <a:ext cx="9049143" cy="3268214"/>
          </a:xfrm>
          <a:prstGeom prst="rect">
            <a:avLst/>
          </a:prstGeom>
          <a:noFill/>
          <a:ln w="28575">
            <a:solidFill>
              <a:srgbClr val="0B4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 smtClean="0">
              <a:solidFill>
                <a:schemeClr val="tx2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sz="1400" b="1" dirty="0" smtClean="0">
                <a:solidFill>
                  <a:schemeClr val="tx2"/>
                </a:solidFill>
              </a:rPr>
              <a:t> Sales: </a:t>
            </a:r>
            <a:r>
              <a:rPr lang="en-US" sz="1400" dirty="0" smtClean="0">
                <a:solidFill>
                  <a:schemeClr val="tx2"/>
                </a:solidFill>
              </a:rPr>
              <a:t>Understand key business priorities and focus on analytic initiatives that can accelerate top line growth leveraging internal, Tata eco-system, and external data for </a:t>
            </a:r>
            <a:r>
              <a:rPr lang="en-US" sz="1400" u="sng" dirty="0" smtClean="0">
                <a:solidFill>
                  <a:schemeClr val="tx2"/>
                </a:solidFill>
              </a:rPr>
              <a:t>customer and prospect marketing</a:t>
            </a:r>
            <a:r>
              <a:rPr lang="en-US" sz="1400" dirty="0" smtClean="0">
                <a:solidFill>
                  <a:schemeClr val="tx2"/>
                </a:solidFill>
              </a:rPr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sz="1400" b="1" dirty="0" smtClean="0">
                <a:solidFill>
                  <a:schemeClr val="tx2"/>
                </a:solidFill>
              </a:rPr>
              <a:t> Digital:</a:t>
            </a:r>
            <a:r>
              <a:rPr lang="en-US" sz="1400" dirty="0" smtClean="0">
                <a:solidFill>
                  <a:schemeClr val="tx2"/>
                </a:solidFill>
              </a:rPr>
              <a:t> </a:t>
            </a:r>
            <a:r>
              <a:rPr lang="en-US" sz="1400" u="sng" dirty="0" smtClean="0">
                <a:solidFill>
                  <a:schemeClr val="tx2"/>
                </a:solidFill>
              </a:rPr>
              <a:t>Enhance digital capabilities</a:t>
            </a:r>
            <a:r>
              <a:rPr lang="en-US" sz="1400" dirty="0" smtClean="0">
                <a:solidFill>
                  <a:schemeClr val="tx2"/>
                </a:solidFill>
              </a:rPr>
              <a:t> for improved customer segmentation and targeting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sz="1400" b="1" dirty="0" smtClean="0">
                <a:solidFill>
                  <a:schemeClr val="tx2"/>
                </a:solidFill>
              </a:rPr>
              <a:t> Customer Experience:</a:t>
            </a:r>
            <a:r>
              <a:rPr lang="en-US" sz="1400" dirty="0" smtClean="0">
                <a:solidFill>
                  <a:schemeClr val="tx2"/>
                </a:solidFill>
              </a:rPr>
              <a:t> Harness service information across application, call logs, and social media to </a:t>
            </a:r>
            <a:r>
              <a:rPr lang="en-US" sz="1400" dirty="0" err="1" smtClean="0">
                <a:solidFill>
                  <a:schemeClr val="tx2"/>
                </a:solidFill>
              </a:rPr>
              <a:t>i</a:t>
            </a:r>
            <a:r>
              <a:rPr lang="en-US" sz="1400" dirty="0" smtClean="0">
                <a:solidFill>
                  <a:schemeClr val="tx2"/>
                </a:solidFill>
              </a:rPr>
              <a:t> improve customer experience across all touch points through </a:t>
            </a:r>
            <a:r>
              <a:rPr lang="en-US" sz="1400" u="sng" dirty="0" smtClean="0">
                <a:solidFill>
                  <a:schemeClr val="tx2"/>
                </a:solidFill>
              </a:rPr>
              <a:t>process efficiency</a:t>
            </a:r>
            <a:r>
              <a:rPr lang="en-US" sz="1400" dirty="0" smtClean="0">
                <a:solidFill>
                  <a:schemeClr val="tx2"/>
                </a:solidFill>
              </a:rPr>
              <a:t> and </a:t>
            </a:r>
            <a:r>
              <a:rPr lang="en-US" sz="1400" u="sng" dirty="0" smtClean="0">
                <a:solidFill>
                  <a:schemeClr val="tx2"/>
                </a:solidFill>
              </a:rPr>
              <a:t>cost optimization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sz="1400" b="1" dirty="0" smtClean="0">
                <a:solidFill>
                  <a:schemeClr val="tx2"/>
                </a:solidFill>
              </a:rPr>
              <a:t> Risk Management: </a:t>
            </a:r>
            <a:r>
              <a:rPr lang="en-US" sz="1400" dirty="0" smtClean="0">
                <a:solidFill>
                  <a:schemeClr val="tx2"/>
                </a:solidFill>
              </a:rPr>
              <a:t>Identify areas to enhance and strengthen the risk models and governance through workshops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14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90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526880" y="2385181"/>
            <a:ext cx="8825660" cy="1822514"/>
          </a:xfrm>
        </p:spPr>
        <p:txBody>
          <a:bodyPr/>
          <a:lstStyle/>
          <a:p>
            <a:pPr algn="ctr"/>
            <a:r>
              <a:rPr lang="en-US" dirty="0" smtClean="0"/>
              <a:t>Tata Customer Analytics </a:t>
            </a:r>
            <a:br>
              <a:rPr lang="en-US" dirty="0" smtClean="0"/>
            </a:br>
            <a:r>
              <a:rPr lang="en-US" dirty="0" smtClean="0"/>
              <a:t>Company Overview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810615" y="4318163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Decision Support</a:t>
            </a:r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463541" y="4306325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Decision Making</a:t>
            </a:r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Tata Customer Analytics Division - Overview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56492" y="1132679"/>
            <a:ext cx="11465462" cy="582362"/>
          </a:xfrm>
        </p:spPr>
        <p:txBody>
          <a:bodyPr>
            <a:noAutofit/>
          </a:bodyPr>
          <a:lstStyle/>
          <a:p>
            <a:r>
              <a:rPr lang="en-US" sz="1700" dirty="0" smtClean="0"/>
              <a:t>Established as a strategic priority of the Tata Group to enhance customer Value, provide data driven decisions and promote customer centricity; CAD is committed to build a world class analytics organization</a:t>
            </a:r>
            <a:endParaRPr lang="en-IN" sz="17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81490" y="1698010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15940" y="6175769"/>
            <a:ext cx="1321265" cy="527454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200" kern="0" dirty="0" smtClean="0">
                <a:solidFill>
                  <a:schemeClr val="tx2"/>
                </a:solidFill>
                <a:cs typeface="Arial" pitchFamily="34" charset="0"/>
              </a:rPr>
              <a:t>Raw &amp; Cleansed Data, MIS</a:t>
            </a:r>
            <a:endParaRPr lang="en-US" sz="12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561149" y="6191580"/>
            <a:ext cx="1391888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200" kern="0" dirty="0" smtClean="0">
                <a:solidFill>
                  <a:schemeClr val="tx2"/>
                </a:solidFill>
                <a:cs typeface="Arial" pitchFamily="34" charset="0"/>
              </a:rPr>
              <a:t>Business Intelligence &amp; Analysis  </a:t>
            </a:r>
            <a:endParaRPr lang="en-US" sz="12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2860279" y="6175769"/>
            <a:ext cx="1333823" cy="52810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200" kern="0" dirty="0" smtClean="0">
                <a:solidFill>
                  <a:schemeClr val="tx2"/>
                </a:solidFill>
                <a:cs typeface="Arial" pitchFamily="34" charset="0"/>
              </a:rPr>
              <a:t>Predictive Modeling  </a:t>
            </a:r>
            <a:endParaRPr lang="en-US" sz="12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059988" y="6175769"/>
            <a:ext cx="1389671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200" kern="0" dirty="0" smtClean="0">
                <a:solidFill>
                  <a:schemeClr val="tx2"/>
                </a:solidFill>
                <a:cs typeface="Arial" pitchFamily="34" charset="0"/>
              </a:rPr>
              <a:t>Advanced Quantitative Science</a:t>
            </a:r>
            <a:endParaRPr lang="en-US" sz="1200" kern="0" dirty="0">
              <a:solidFill>
                <a:schemeClr val="tx2"/>
              </a:solidFill>
              <a:cs typeface="Arial" pitchFamily="34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388021" y="4272862"/>
            <a:ext cx="4855348" cy="1912599"/>
            <a:chOff x="549165" y="2502617"/>
            <a:chExt cx="5740264" cy="1977282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549165" y="2502617"/>
              <a:ext cx="5740264" cy="1977282"/>
              <a:chOff x="1903773" y="1766213"/>
              <a:chExt cx="5868594" cy="4102414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rot="5400000">
                <a:off x="-146873" y="3816860"/>
                <a:ext cx="4102414" cy="1121"/>
              </a:xfrm>
              <a:prstGeom prst="line">
                <a:avLst/>
              </a:prstGeom>
              <a:noFill/>
              <a:ln w="34925" cap="flat" cmpd="sng" algn="ctr">
                <a:solidFill>
                  <a:srgbClr val="00B0F0"/>
                </a:solidFill>
                <a:prstDash val="solid"/>
                <a:headEnd type="triangle"/>
              </a:ln>
              <a:effectLst/>
            </p:spPr>
          </p:cxnSp>
          <p:cxnSp>
            <p:nvCxnSpPr>
              <p:cNvPr id="25" name="Straight Connector 24"/>
              <p:cNvCxnSpPr/>
              <p:nvPr/>
            </p:nvCxnSpPr>
            <p:spPr>
              <a:xfrm rot="10800000" flipV="1">
                <a:off x="1904334" y="5867734"/>
                <a:ext cx="5868033" cy="0"/>
              </a:xfrm>
              <a:prstGeom prst="line">
                <a:avLst/>
              </a:prstGeom>
              <a:noFill/>
              <a:ln w="34925" cap="flat" cmpd="sng" algn="ctr">
                <a:solidFill>
                  <a:srgbClr val="00B0F0"/>
                </a:solidFill>
                <a:prstDash val="solid"/>
                <a:headEnd type="triangle"/>
              </a:ln>
              <a:effectLst/>
            </p:spPr>
          </p:cxnSp>
        </p:grpSp>
        <p:sp>
          <p:nvSpPr>
            <p:cNvPr id="16" name="Freeform 15"/>
            <p:cNvSpPr/>
            <p:nvPr/>
          </p:nvSpPr>
          <p:spPr>
            <a:xfrm>
              <a:off x="806042" y="3487519"/>
              <a:ext cx="5020904" cy="787293"/>
            </a:xfrm>
            <a:custGeom>
              <a:avLst/>
              <a:gdLst>
                <a:gd name="connsiteX0" fmla="*/ 0 w 8525164"/>
                <a:gd name="connsiteY0" fmla="*/ 1062182 h 1062182"/>
                <a:gd name="connsiteX1" fmla="*/ 1200727 w 8525164"/>
                <a:gd name="connsiteY1" fmla="*/ 905164 h 1062182"/>
                <a:gd name="connsiteX2" fmla="*/ 8525164 w 8525164"/>
                <a:gd name="connsiteY2" fmla="*/ 0 h 1062182"/>
                <a:gd name="connsiteX3" fmla="*/ 8525164 w 8525164"/>
                <a:gd name="connsiteY3" fmla="*/ 0 h 1062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25164" h="1062182">
                  <a:moveTo>
                    <a:pt x="0" y="1062182"/>
                  </a:moveTo>
                  <a:lnTo>
                    <a:pt x="1200727" y="905164"/>
                  </a:lnTo>
                  <a:lnTo>
                    <a:pt x="8525164" y="0"/>
                  </a:lnTo>
                  <a:lnTo>
                    <a:pt x="8525164" y="0"/>
                  </a:lnTo>
                </a:path>
              </a:pathLst>
            </a:custGeom>
            <a:ln w="25400">
              <a:solidFill>
                <a:schemeClr val="tx2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5175407" y="3378769"/>
              <a:ext cx="791739" cy="427423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50773" y="4249957"/>
              <a:ext cx="311648" cy="178682"/>
            </a:xfrm>
            <a:prstGeom prst="ellipse">
              <a:avLst/>
            </a:prstGeom>
            <a:solidFill>
              <a:schemeClr val="accent5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1552433" y="3995146"/>
              <a:ext cx="491969" cy="284649"/>
            </a:xfrm>
            <a:prstGeom prst="ellipse">
              <a:avLst/>
            </a:prstGeom>
            <a:solidFill>
              <a:schemeClr val="accent5">
                <a:lumMod val="5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2633773" y="3806514"/>
              <a:ext cx="565378" cy="308874"/>
            </a:xfrm>
            <a:prstGeom prst="ellipse">
              <a:avLst/>
            </a:prstGeom>
            <a:solidFill>
              <a:schemeClr val="accent4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3788260" y="3544283"/>
              <a:ext cx="798871" cy="465012"/>
            </a:xfrm>
            <a:prstGeom prst="ellipse">
              <a:avLst/>
            </a:prstGeom>
            <a:solidFill>
              <a:schemeClr val="tx2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707481" y="2747283"/>
              <a:ext cx="1933179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2698798" y="2745970"/>
              <a:ext cx="3160102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810615" y="4304468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Decision Support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463541" y="4292630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Decision Making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104993" y="4967838"/>
            <a:ext cx="1285820" cy="12633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5" name="TextBox 39"/>
          <p:cNvSpPr txBox="1">
            <a:spLocks noChangeArrowheads="1"/>
          </p:cNvSpPr>
          <p:nvPr/>
        </p:nvSpPr>
        <p:spPr bwMode="auto">
          <a:xfrm>
            <a:off x="1586692" y="4076655"/>
            <a:ext cx="26074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 u="sng" kern="0" dirty="0" smtClean="0">
                <a:solidFill>
                  <a:srgbClr val="002D72"/>
                </a:solidFill>
              </a:rPr>
              <a:t>Evolution of Analytics</a:t>
            </a:r>
            <a:endParaRPr lang="en-US" sz="1600" b="1" i="1" u="sng" kern="0" dirty="0">
              <a:solidFill>
                <a:srgbClr val="002D72"/>
              </a:solidFill>
            </a:endParaRPr>
          </a:p>
        </p:txBody>
      </p:sp>
      <p:sp>
        <p:nvSpPr>
          <p:cNvPr id="70" name="TextBox 39"/>
          <p:cNvSpPr txBox="1">
            <a:spLocks noChangeArrowheads="1"/>
          </p:cNvSpPr>
          <p:nvPr/>
        </p:nvSpPr>
        <p:spPr bwMode="auto">
          <a:xfrm>
            <a:off x="7511938" y="1723807"/>
            <a:ext cx="291208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 u="sng" kern="0" dirty="0" smtClean="0">
                <a:solidFill>
                  <a:srgbClr val="002D72"/>
                </a:solidFill>
              </a:rPr>
              <a:t>Unique Value Proposition</a:t>
            </a:r>
            <a:endParaRPr lang="en-US" sz="1600" b="1" i="1" u="sng" kern="0" dirty="0">
              <a:solidFill>
                <a:srgbClr val="002D72"/>
              </a:solidFill>
            </a:endParaRPr>
          </a:p>
        </p:txBody>
      </p:sp>
      <p:grpSp>
        <p:nvGrpSpPr>
          <p:cNvPr id="6" name="Group 61"/>
          <p:cNvGrpSpPr/>
          <p:nvPr/>
        </p:nvGrpSpPr>
        <p:grpSpPr>
          <a:xfrm>
            <a:off x="6572728" y="2051788"/>
            <a:ext cx="4865853" cy="4874175"/>
            <a:chOff x="984877" y="1960533"/>
            <a:chExt cx="5140689" cy="5149480"/>
          </a:xfrm>
          <a:solidFill>
            <a:srgbClr val="1F74B7"/>
          </a:solidFill>
        </p:grpSpPr>
        <p:sp>
          <p:nvSpPr>
            <p:cNvPr id="63" name="Pie 62"/>
            <p:cNvSpPr/>
            <p:nvPr/>
          </p:nvSpPr>
          <p:spPr>
            <a:xfrm rot="19872972">
              <a:off x="993389" y="1960533"/>
              <a:ext cx="5132177" cy="5132177"/>
            </a:xfrm>
            <a:prstGeom prst="pie">
              <a:avLst>
                <a:gd name="adj1" fmla="val 1719646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1" name="Pie 70"/>
            <p:cNvSpPr/>
            <p:nvPr/>
          </p:nvSpPr>
          <p:spPr>
            <a:xfrm rot="16200000">
              <a:off x="986193" y="1977833"/>
              <a:ext cx="5132177" cy="5132178"/>
            </a:xfrm>
            <a:prstGeom prst="pie">
              <a:avLst>
                <a:gd name="adj1" fmla="val 1733518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2" name="Pie 71"/>
            <p:cNvSpPr/>
            <p:nvPr/>
          </p:nvSpPr>
          <p:spPr>
            <a:xfrm rot="12542084">
              <a:off x="984877" y="1977836"/>
              <a:ext cx="5132177" cy="5132177"/>
            </a:xfrm>
            <a:prstGeom prst="pie">
              <a:avLst>
                <a:gd name="adj1" fmla="val 1694730"/>
                <a:gd name="adj2" fmla="val 5426159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3" name="Pie 72"/>
            <p:cNvSpPr/>
            <p:nvPr/>
          </p:nvSpPr>
          <p:spPr>
            <a:xfrm rot="8865029">
              <a:off x="986193" y="1977830"/>
              <a:ext cx="5132177" cy="5132177"/>
            </a:xfrm>
            <a:prstGeom prst="pie">
              <a:avLst>
                <a:gd name="adj1" fmla="val 1733518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4" name="Pie 73"/>
            <p:cNvSpPr/>
            <p:nvPr/>
          </p:nvSpPr>
          <p:spPr>
            <a:xfrm rot="5197560">
              <a:off x="986192" y="1977830"/>
              <a:ext cx="5132177" cy="5132177"/>
            </a:xfrm>
            <a:prstGeom prst="pie">
              <a:avLst>
                <a:gd name="adj1" fmla="val 1898080"/>
                <a:gd name="adj2" fmla="val 5587050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white"/>
                </a:solidFill>
              </a:endParaRPr>
            </a:p>
          </p:txBody>
        </p:sp>
        <p:grpSp>
          <p:nvGrpSpPr>
            <p:cNvPr id="7" name="Group 74"/>
            <p:cNvGrpSpPr/>
            <p:nvPr/>
          </p:nvGrpSpPr>
          <p:grpSpPr>
            <a:xfrm rot="5400000">
              <a:off x="2505786" y="3474071"/>
              <a:ext cx="2180839" cy="2180839"/>
              <a:chOff x="2587985" y="2205051"/>
              <a:chExt cx="2447894" cy="2447894"/>
            </a:xfrm>
            <a:grpFill/>
          </p:grpSpPr>
          <p:sp>
            <p:nvSpPr>
              <p:cNvPr id="81" name="Teardrop 80"/>
              <p:cNvSpPr/>
              <p:nvPr/>
            </p:nvSpPr>
            <p:spPr>
              <a:xfrm rot="2700000">
                <a:off x="2587985" y="2205051"/>
                <a:ext cx="2447894" cy="2447894"/>
              </a:xfrm>
              <a:prstGeom prst="teardrop">
                <a:avLst>
                  <a:gd name="adj" fmla="val 110588"/>
                </a:avLst>
              </a:prstGeom>
              <a:grpFill/>
              <a:ln>
                <a:solidFill>
                  <a:schemeClr val="bg1"/>
                </a:solidFill>
              </a:ln>
              <a:effectLst>
                <a:outerShdw blurRad="152400" dist="114300" dir="5400000" sx="90000" sy="-19000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2" name="Freeform 81"/>
              <p:cNvSpPr/>
              <p:nvPr/>
            </p:nvSpPr>
            <p:spPr>
              <a:xfrm>
                <a:off x="2666504" y="2301916"/>
                <a:ext cx="2290857" cy="2290613"/>
              </a:xfrm>
              <a:custGeom>
                <a:avLst/>
                <a:gdLst>
                  <a:gd name="connsiteX0" fmla="*/ 0 w 2290857"/>
                  <a:gd name="connsiteY0" fmla="*/ 1145307 h 2290613"/>
                  <a:gd name="connsiteX1" fmla="*/ 1145429 w 2290857"/>
                  <a:gd name="connsiteY1" fmla="*/ 0 h 2290613"/>
                  <a:gd name="connsiteX2" fmla="*/ 2290858 w 2290857"/>
                  <a:gd name="connsiteY2" fmla="*/ 1145307 h 2290613"/>
                  <a:gd name="connsiteX3" fmla="*/ 1145429 w 2290857"/>
                  <a:gd name="connsiteY3" fmla="*/ 2290614 h 2290613"/>
                  <a:gd name="connsiteX4" fmla="*/ 0 w 2290857"/>
                  <a:gd name="connsiteY4" fmla="*/ 1145307 h 229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90857" h="2290613">
                    <a:moveTo>
                      <a:pt x="0" y="1145307"/>
                    </a:moveTo>
                    <a:cubicBezTo>
                      <a:pt x="0" y="512771"/>
                      <a:pt x="512826" y="0"/>
                      <a:pt x="1145429" y="0"/>
                    </a:cubicBezTo>
                    <a:cubicBezTo>
                      <a:pt x="1778032" y="0"/>
                      <a:pt x="2290858" y="512771"/>
                      <a:pt x="2290858" y="1145307"/>
                    </a:cubicBezTo>
                    <a:cubicBezTo>
                      <a:pt x="2290858" y="1777843"/>
                      <a:pt x="1778032" y="2290614"/>
                      <a:pt x="1145429" y="2290614"/>
                    </a:cubicBezTo>
                    <a:cubicBezTo>
                      <a:pt x="512826" y="2290614"/>
                      <a:pt x="0" y="1777843"/>
                      <a:pt x="0" y="11453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1F74B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vert270" wrap="square" lIns="393534" tIns="393332" rIns="393533" bIns="393332" numCol="1" spcCol="1270" anchor="ctr" anchorCtr="0">
                <a:noAutofit/>
              </a:bodyPr>
              <a:lstStyle/>
              <a:p>
                <a:pPr algn="ctr" defTabSz="2311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700" b="1" dirty="0"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</a:rPr>
                  <a:t>Value Proposition</a:t>
                </a:r>
                <a:endParaRPr lang="en-IN" sz="17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endParaRPr>
              </a:p>
            </p:txBody>
          </p:sp>
        </p:grpSp>
        <p:sp>
          <p:nvSpPr>
            <p:cNvPr id="76" name="TextBox 75"/>
            <p:cNvSpPr txBox="1"/>
            <p:nvPr/>
          </p:nvSpPr>
          <p:spPr bwMode="gray">
            <a:xfrm>
              <a:off x="1571307" y="4980995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Optimization 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of Resources</a:t>
              </a:r>
            </a:p>
          </p:txBody>
        </p:sp>
        <p:sp>
          <p:nvSpPr>
            <p:cNvPr id="77" name="TextBox 76"/>
            <p:cNvSpPr txBox="1"/>
            <p:nvPr/>
          </p:nvSpPr>
          <p:spPr bwMode="gray">
            <a:xfrm>
              <a:off x="1526778" y="3274877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Optimization 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of Productivity</a:t>
              </a:r>
            </a:p>
          </p:txBody>
        </p:sp>
        <p:sp>
          <p:nvSpPr>
            <p:cNvPr id="78" name="TextBox 77"/>
            <p:cNvSpPr txBox="1"/>
            <p:nvPr/>
          </p:nvSpPr>
          <p:spPr bwMode="gray">
            <a:xfrm>
              <a:off x="4772014" y="4980995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Domain </a:t>
              </a:r>
              <a:endParaRPr lang="en-US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Knowledge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 bwMode="gray">
            <a:xfrm>
              <a:off x="4747917" y="3274877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Analytic </a:t>
              </a:r>
              <a:endParaRPr lang="en-US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Horsepower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 bwMode="gray">
            <a:xfrm>
              <a:off x="3029692" y="2171594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Cross Organization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Cross Cluster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Intelligence Access</a:t>
              </a:r>
            </a:p>
          </p:txBody>
        </p:sp>
      </p:grp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11" y="1748017"/>
            <a:ext cx="466725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2905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3391" y="1608800"/>
            <a:ext cx="3218130" cy="119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" name="Diagram 29"/>
          <p:cNvGraphicFramePr/>
          <p:nvPr>
            <p:extLst/>
          </p:nvPr>
        </p:nvGraphicFramePr>
        <p:xfrm>
          <a:off x="-652132" y="280993"/>
          <a:ext cx="15544800" cy="7855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Strategy: 3 Points of Inflection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6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Gradual transition from single tenant to multi tenant segment level to multi tenant customer level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551846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9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095" y="4212439"/>
            <a:ext cx="214682" cy="71670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307" y="4197683"/>
            <a:ext cx="271602" cy="69107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493" y="4314665"/>
            <a:ext cx="319248" cy="743778"/>
          </a:xfrm>
          <a:prstGeom prst="rect">
            <a:avLst/>
          </a:prstGeom>
        </p:spPr>
      </p:pic>
      <p:sp>
        <p:nvSpPr>
          <p:cNvPr id="41" name="Pie 40"/>
          <p:cNvSpPr/>
          <p:nvPr/>
        </p:nvSpPr>
        <p:spPr>
          <a:xfrm rot="10800000">
            <a:off x="5322834" y="3887380"/>
            <a:ext cx="1335508" cy="1257423"/>
          </a:xfrm>
          <a:prstGeom prst="pie">
            <a:avLst>
              <a:gd name="adj1" fmla="val 9207835"/>
              <a:gd name="adj2" fmla="val 16218568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2" name="Pie 41"/>
          <p:cNvSpPr/>
          <p:nvPr/>
        </p:nvSpPr>
        <p:spPr>
          <a:xfrm rot="10800000">
            <a:off x="5305405" y="3945436"/>
            <a:ext cx="1335508" cy="1257423"/>
          </a:xfrm>
          <a:prstGeom prst="pie">
            <a:avLst>
              <a:gd name="adj1" fmla="val 1608655"/>
              <a:gd name="adj2" fmla="val 9207445"/>
            </a:avLst>
          </a:prstGeom>
          <a:solidFill>
            <a:srgbClr val="FF99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3" name="Pie 42"/>
          <p:cNvSpPr/>
          <p:nvPr/>
        </p:nvSpPr>
        <p:spPr>
          <a:xfrm rot="10800000">
            <a:off x="5322833" y="3887380"/>
            <a:ext cx="1335508" cy="1257423"/>
          </a:xfrm>
          <a:prstGeom prst="pie">
            <a:avLst>
              <a:gd name="adj1" fmla="val 16220128"/>
              <a:gd name="adj2" fmla="val 1624201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566" y="3919787"/>
            <a:ext cx="113354" cy="378426"/>
          </a:xfrm>
          <a:prstGeom prst="rect">
            <a:avLst/>
          </a:prstGeom>
        </p:spPr>
      </p:pic>
      <p:grpSp>
        <p:nvGrpSpPr>
          <p:cNvPr id="9" name="Group 44"/>
          <p:cNvGrpSpPr/>
          <p:nvPr/>
        </p:nvGrpSpPr>
        <p:grpSpPr>
          <a:xfrm>
            <a:off x="6127041" y="2405288"/>
            <a:ext cx="1351540" cy="1287651"/>
            <a:chOff x="8430514" y="4996257"/>
            <a:chExt cx="1639035" cy="1620001"/>
          </a:xfrm>
        </p:grpSpPr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6328" y="5066155"/>
              <a:ext cx="626441" cy="1550103"/>
            </a:xfrm>
            <a:prstGeom prst="rect">
              <a:avLst/>
            </a:prstGeom>
          </p:spPr>
        </p:pic>
        <p:sp>
          <p:nvSpPr>
            <p:cNvPr id="47" name="Pie 46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48" name="Pie 47"/>
            <p:cNvSpPr/>
            <p:nvPr/>
          </p:nvSpPr>
          <p:spPr>
            <a:xfrm rot="10800000">
              <a:off x="8430514" y="4996257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rgbClr val="FF9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49" name="Pie 48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</p:grp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5010279" y="6151655"/>
            <a:ext cx="3517885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E5580"/>
                </a:solidFill>
                <a:cs typeface="Arial" pitchFamily="34" charset="0"/>
              </a:rPr>
              <a:t>No Data Sharing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Company level analytics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 solutions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Limited view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 of customer 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7248693" y="4849104"/>
            <a:ext cx="4623999" cy="1176615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Segment level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 information </a:t>
            </a:r>
            <a:r>
              <a:rPr lang="en-US" sz="1400" kern="0" dirty="0">
                <a:solidFill>
                  <a:srgbClr val="0E5580"/>
                </a:solidFill>
                <a:cs typeface="Arial" pitchFamily="34" charset="0"/>
              </a:rPr>
              <a:t>a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cross LOB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No customer linkages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Full view of segment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, limited view of customer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 smtClean="0">
              <a:solidFill>
                <a:srgbClr val="0E5580"/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2" name="Rectangle 13"/>
          <p:cNvSpPr>
            <a:spLocks noChangeArrowheads="1"/>
          </p:cNvSpPr>
          <p:nvPr/>
        </p:nvSpPr>
        <p:spPr bwMode="auto">
          <a:xfrm>
            <a:off x="7541537" y="3449139"/>
            <a:ext cx="4650464" cy="781849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400" kern="0" dirty="0" smtClean="0">
                <a:solidFill>
                  <a:srgbClr val="0E5580"/>
                </a:solidFill>
                <a:cs typeface="Arial" pitchFamily="34" charset="0"/>
              </a:rPr>
              <a:t>Big data repository housing </a:t>
            </a:r>
            <a:r>
              <a:rPr lang="en-IN" sz="1400" b="1" kern="0" dirty="0" smtClean="0">
                <a:solidFill>
                  <a:srgbClr val="0E5580"/>
                </a:solidFill>
                <a:cs typeface="Arial" pitchFamily="34" charset="0"/>
              </a:rPr>
              <a:t>all Tata companies</a:t>
            </a:r>
            <a:endParaRPr lang="en-US" sz="1400" b="1" kern="0" dirty="0" smtClean="0">
              <a:solidFill>
                <a:srgbClr val="0E5580"/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Customer 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attributes across Group </a:t>
            </a: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(360° view)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Tata Loyalty Alliance Program</a:t>
            </a:r>
          </a:p>
        </p:txBody>
      </p:sp>
      <p:sp>
        <p:nvSpPr>
          <p:cNvPr id="3" name="Up Arrow 2"/>
          <p:cNvSpPr/>
          <p:nvPr/>
        </p:nvSpPr>
        <p:spPr>
          <a:xfrm>
            <a:off x="955343" y="1799448"/>
            <a:ext cx="491319" cy="4492170"/>
          </a:xfrm>
          <a:prstGeom prst="up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auto">
          <a:xfrm>
            <a:off x="348016" y="5363570"/>
            <a:ext cx="1705971" cy="328597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Company</a:t>
            </a: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5" name="Rectangle 13"/>
          <p:cNvSpPr>
            <a:spLocks noChangeArrowheads="1"/>
          </p:cNvSpPr>
          <p:nvPr/>
        </p:nvSpPr>
        <p:spPr bwMode="auto">
          <a:xfrm>
            <a:off x="321519" y="3935694"/>
            <a:ext cx="1705971" cy="315600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Cluster</a:t>
            </a: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6" name="Rectangle 13"/>
          <p:cNvSpPr>
            <a:spLocks noChangeArrowheads="1"/>
          </p:cNvSpPr>
          <p:nvPr/>
        </p:nvSpPr>
        <p:spPr bwMode="auto">
          <a:xfrm>
            <a:off x="348016" y="2520506"/>
            <a:ext cx="1705971" cy="315600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Group</a:t>
            </a: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1627983" y="2482484"/>
            <a:ext cx="4272303" cy="285623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rgbClr val="0E5580"/>
                </a:solidFill>
                <a:cs typeface="Arial" pitchFamily="34" charset="0"/>
              </a:rPr>
              <a:t>Tata Group-wide Loyalty Alliance Program </a:t>
            </a:r>
            <a:endParaRPr lang="en-US" sz="1400" i="1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1547477" y="4015117"/>
            <a:ext cx="3065465" cy="497759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rgbClr val="0E5580"/>
                </a:solidFill>
                <a:cs typeface="Arial" pitchFamily="34" charset="0"/>
              </a:rPr>
              <a:t>Defined customer segments across various clusters</a:t>
            </a:r>
            <a:endParaRPr lang="en-US" sz="1400" i="1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1602070" y="5524201"/>
            <a:ext cx="1709021" cy="260582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rgbClr val="0E5580"/>
                </a:solidFill>
                <a:cs typeface="Arial" pitchFamily="34" charset="0"/>
              </a:rPr>
              <a:t>Enhanced Customer centricity and Data driven organizations</a:t>
            </a:r>
            <a:endParaRPr lang="en-US" sz="1400" i="1" kern="0" dirty="0">
              <a:solidFill>
                <a:srgbClr val="0E5580"/>
              </a:solidFill>
              <a:cs typeface="Arial" pitchFamily="34" charset="0"/>
            </a:endParaRPr>
          </a:p>
        </p:txBody>
      </p:sp>
      <p:grpSp>
        <p:nvGrpSpPr>
          <p:cNvPr id="36" name="Group 44"/>
          <p:cNvGrpSpPr/>
          <p:nvPr/>
        </p:nvGrpSpPr>
        <p:grpSpPr>
          <a:xfrm>
            <a:off x="3463670" y="4981575"/>
            <a:ext cx="1351540" cy="1287651"/>
            <a:chOff x="8430514" y="4996257"/>
            <a:chExt cx="1639035" cy="1620001"/>
          </a:xfrm>
        </p:grpSpPr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6328" y="5066155"/>
              <a:ext cx="626441" cy="1550103"/>
            </a:xfrm>
            <a:prstGeom prst="rect">
              <a:avLst/>
            </a:prstGeom>
          </p:spPr>
        </p:pic>
        <p:sp>
          <p:nvSpPr>
            <p:cNvPr id="45" name="Pie 44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53" name="Pie 52"/>
            <p:cNvSpPr/>
            <p:nvPr/>
          </p:nvSpPr>
          <p:spPr>
            <a:xfrm rot="10800000">
              <a:off x="8430514" y="4996257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rgbClr val="FF9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60" name="Pie 59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39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9711968" cy="1822514"/>
          </a:xfrm>
        </p:spPr>
        <p:txBody>
          <a:bodyPr/>
          <a:lstStyle/>
          <a:p>
            <a:pPr lvl="0" algn="ctr">
              <a:lnSpc>
                <a:spcPts val="4000"/>
              </a:lnSpc>
              <a:buClr>
                <a:srgbClr val="002D72"/>
              </a:buClr>
            </a:pPr>
            <a:r>
              <a:rPr lang="en-IN" dirty="0">
                <a:solidFill>
                  <a:schemeClr val="bg1"/>
                </a:solidFill>
                <a:cs typeface="Arial" pitchFamily="34" charset="0"/>
              </a:rPr>
              <a:t>Analytics </a:t>
            </a:r>
            <a:r>
              <a:rPr lang="en-IN" dirty="0" smtClean="0">
                <a:solidFill>
                  <a:schemeClr val="bg1"/>
                </a:solidFill>
                <a:cs typeface="Arial" pitchFamily="34" charset="0"/>
              </a:rPr>
              <a:t>Capabilities for Financial Services and Proposed Roadmap</a:t>
            </a:r>
            <a:endParaRPr lang="en-IN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18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897754663"/>
              </p:ext>
            </p:extLst>
          </p:nvPr>
        </p:nvGraphicFramePr>
        <p:xfrm>
          <a:off x="444500" y="1600200"/>
          <a:ext cx="11558818" cy="4737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266549" y="4418771"/>
            <a:ext cx="1280052" cy="84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 Opportunity Quadrants across Financial organizations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6" y="1188950"/>
            <a:ext cx="11663643" cy="582362"/>
          </a:xfrm>
        </p:spPr>
        <p:txBody>
          <a:bodyPr>
            <a:normAutofit/>
          </a:bodyPr>
          <a:lstStyle/>
          <a:p>
            <a:r>
              <a:rPr lang="en-IN" dirty="0" smtClean="0"/>
              <a:t>Focus primarily on Customer and Revenue management</a:t>
            </a:r>
            <a:endParaRPr lang="en-IN" dirty="0"/>
          </a:p>
        </p:txBody>
      </p:sp>
      <p:sp>
        <p:nvSpPr>
          <p:cNvPr id="12291" name="AutoShape 3" descr="Image result for pric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95" name="AutoShape 7" descr="Image result for hotel dema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97" name="AutoShape 9" descr="Image result for hotel dema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01" name="AutoShape 13" descr="Image result for demand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09" name="AutoShape 21" descr="Image result for wai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13" name="AutoShape 25" descr="Image result for human resourc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15" name="AutoShape 27" descr="data:image/jpeg;base64,/9j/4AAQSkZJRgABAQAAAQABAAD/2wCEAAkGBxMTEhUTExMUFhUXGRcXGBgVGBQUFRcYFxcXFhQUGhgYHCggGBwlHBQUITEhJSkrLi4uFx8zODMsNygtLisBCgoKDg0OGhAQGi8fHyYsLCwsLCwsLCwsLDQsLCwsLCwsLCwsLCwsLCwsLCwsLCwsLCwsLCwsLCwsLCwsLCwsLP/AABEIALABHwMBIgACEQEDEQH/xAAcAAABBQEBAQAAAAAAAAAAAAAGAAMEBQcCCAH/xABFEAACAAQEAwcCAggDBQkBAAABAgADBBEFEiExBkFRBxMiYXGBkTKhFLEjQlJicsHR8BUzkhYkgqLhFyU1Q2NzstLxCP/EABoBAAMBAQEBAAAAAAAAAAAAAAABAgMEBQb/xAAmEQACAgICAgICAgMAAAAAAAAAAQIRAxIhMQRBIlETYQXRI0Kh/9oADAMBAAIRAxEAPwDcYUKFAAoUKItbiEqULzHVfUgQASoUM0tWkwZkYMOoN4axLEZUhC81wqjmYAJcKKSh4rpJyM8ucrBQSRfWw8oBqvtFrGdmkUt5QOhIN2HWE3XY1Fvo1SFFLwrjwq5OfKUYaMp3BiwnYjKU2aYgPQkQwolQobkzlcXVgR1BuI7JgEfYUIGI9RXS0IDuqk9SBABIhQMcS8Yy6UhQO8Y8gYmYFxElQNRka17Hp1idldFaSq64LuFALjHabTSZmRVMyxsSNo+zuOVqJP8Aun+YTYhv1fODdDWOT9BzCjF3qsTkuZxnFraldwR6QZ1naDKk0kuodSWcfQN7jeFGcZdDnilHtBrCgM4P7Q6eubIAZb8g3P0h7F+0Gjp5vdMxZhocuoEWRTC2FEXDMQlz5YmSmDKeYiBiHE9NJbK76je2oHqeUJtIEmy5hRDTFJJld8Ji93a+a+kVFLxrRzJndrM1JsCdAfeC0Ci2EcKPl+cD1XxtRS5vdNOUMND0B9YYgihQ1JqFdQ6kFSLgja0ZvxjxjVBmFMLKptmte9omU1HsuEHPo02FAN2ecXvVDu54HeAXBHODmHGSatClFxdMUKFChkihQoUAChQoUADVTOCIznZQT8R524hx01lS2ZzlLWGugF42XtKxLuKCa17EjKPeMF4HlLMnFmGa2oHnGObo6vGXJrfCwFMEyTN2UMCdwecX3ELymfLN100B2gGxzEFl/hxYB3mJtvYGDDih2F2sLZNOtyIxtrGdCheUA6rCZZn3p/DrZguxHMQQPjzpdEp2IQDygbl41LkzZWZbF3AP8yYvMUqpZcssw2Y2ET8tU30aVD8jXsu6SteVInVATIzqNDsG2vFTW8MSGkGZMnMZrC5bNzOtoY4r4gligMpWu4ZQ3Ui94nSqlDTy2VFKMATc31tFZG0kYQipSdA/2bcTNT1Jppj3lkkC/I8jE3iLiSpqah0kNlRDlFuZ6xn2NzCtWzL4ddLQX8Fzwe8Ripe+bXfWG8jURRxJzCbgvHqhJ4p6hswYeE+Y5RFrMPlzaia8+a2YNYC+i66aQyjhq6nRAM4bM1ukXmNS1kVZLFAszU3tvBu3CxqEY5GjPMYVlqspNxewJ+xgm4elzWBAbx2YadCIpuK56NVd7IyzAgBcL4redoJeGsQWRLasmALLsNOZ87QRxycrKnlgsdA7gPCRExnmC5sSAdr35xf0WAGVNaaAFDLrbYGJM/iKTVkmQTYHloTF5hTowZHIBK6AnWE4S21K/JDRSKDVnsTcfnDWNYcERGyK2lgDsBfWJaUjZi+iy13Y7WG8M1fFFJWSWRGCvLNgP2gOYgjikoNjlmg8sUU+H0wM7MqBSp0K7xbigpcrM0sFxqxI1JMUPD3EsinqVWcLBzYE8r84IsZrAD4WGW+nmImpKCsu4SyNI6wivWmpJwlaZmsg6FtI+y0WTTuJwBzAknckne8UnGc4SpNNlPjdw5HvpHzjXFmlSQcts6hdfPeFkk+EYxjG2yt4YqDNlTpGY90HzW8r7QSvh1KcirYX2PnAt2eHKk5zsSFF9iTBxhMkzJqDKth9oTbtFwSUWyw4yxhqTDsynxsAinzOl4yrhnhEzHaZVFsu5tuSfOCjt1xRZUqRIXfMHI8hEfhfHlMhpubTLfKeVhHTmyShFV7OXx8cMjdhrwG47idJUkrLYqt+nIRXzqbL4Lrl1uCNzEXsvxuSKadNdwC0xiQTrqdBEjEapZjX6mIzxeqZp4slvIlcI4VacHyhcoP07axz2h8YPSlJMgXmvr1sIv8AhiqlMmVWGYbjnATizS3xSZmF3UKFHlzil/jxkOsuYa4e42q0qElVVir21tYi8aqDGI8cTElzJFrBs1/O1xGz4fNzS0bqoP2isM3JckeRjUHwSIUKFGxzihRTpVAC94kS6477wrHRl/bbjAYrS2Nh4m/lAbwXOpUJWZdX/Vbqehg37TuHZ05zUSULrbxBdXW37u59rxlaUxuSOW/UQ9FJUzoi9VaNEwvhAVM3vZ1SqXYZFzAtYHTTlBDxY0xJMy5uFsFPkBvGPyQ1ldXa9wRqdI1XiKeTQ2JJJRCSYjLgSSS+0LFmk22/ozKtqWci5vY/EPLiMwBVDAKDe51isnvkbqD+cdzpMwEXBF9dftG8aiYNtv8AZNqajMr5jcnUwWT6lZOHS5oBBbQJc6nrASlKBe5veJk2pZlCsxKroByEebm8qG3HJ73j/wAPmlFOb1/6yqrsTM18xW3lBDwjOUOX3vofKBOrSzkQRcHuPEDHTrGULPJltjyOL9MJ8AxRaOsmT6gHJYlT16AQE8Y8SvV1DzLsqn6Rc6CHONsQzzUTNcKNRFN+JlmWVK+I7NFwjquDOb2lzwS+GZ5zv4iLob+duUN1ldNdcpmMQOVzb4iHQKQ2/Ix33TMwVQWJ5DWN/RjXJY4Hi8yRmMsi56wT02LTqqoQk2IFtNIDTRuhGdGW55giLCnxLuXDDkD/ANIal0FBbxzxVkpkpJbG7C8w319IziRNZTmUkGPtRMZ2LtzN4aDRE3bscVQZ8D9zOrUm1bDKoucx002jR67FqKociTMUhd+QFukYXLfwtDUqeV+kkekZ5IKao1x5HCVmucXTqOfLWbInBnkEZkva4B1teBjibiNaxEsCCu46QDq/O8S8LmatCeKLfQLJIvP8bdZCylFgGzk8yYP+GcXM+mZ5TZZy7+0ZVMex12i44YxZqacGH0HRhyIMLJhTXHaKhkp89M547rp1ZP72YdgFsOVtDDQnNIliUraEa+d4ssbZO8YqLgtmHodYpsXrA8zQW0EXqpJNmbel0LC5pExBfTMNOUaTVCblzgc7b6WjL6J7TV9RGsT5x7km2irf003jv8aKknZzu74+jOMRx+fLqXeW7IQbaHpEvAa+dVV8uY7nOdCRpcecC8+bndj1Ji24WqBLqpbX2McWRbWa424tBP2l1MtJ8tF1YDU9I1ns0xkVFGn7SeE/yjI5eGPWV7MRoT8CNT4BwNpDzW2Q7DzjGGPXo3yT27DaFHwm28IMOsaGACUNWL2J0O3lFtT1ABtADTYkGAN9YuafFAdzGZYVd7Y3ER6/BaaqVhNlKSwsWACzP9Q1iuSvB5x0uLBNbj3hpiBqn7JAlwKxit/DeUMwHmc1j8CCbFuHy1H+HV0ZwAAzAqDbba9oelYy03awETC2nWK3YkqMDxnCKqjfNPlMljo1s0vyIcXX73iuXGWmzlLnNcgEjpHpSnn6ZWFx56j4iPV4LRTf8ylkMeplS83za8PYDKOJMJAUTZam1hsNNoF80egJuB05lGSAUQjLZTew8s14z7EeyDc01Yf4Z66emdP/AKxwS8Rt3Z73j/zP44KEk2ZliabGLPhGleazJL+u1xc2ETsW4AxOSDeQJqjdpLCZ/wAps59lirwmnnynJMqchtzR0I+QI6sUHCGrPM8vNHNmc4KrKLHZXd1DhmzMCQxG1+YiInitY/MGmMfhTJLvKtNB8RJ1Y9fWAyaykXVcovG1/RzNFsuHNLylmU5r2sbw7htU0ics1bHLyPOJHB/CFTVy5k2UkxsuiclZuYDNZfvBrhHZZO8LVs5JQP6kr9JMPXxEZV9fFDtKPyYle3xBviji4VgQd13ZS/vArUNe0ehE4AwkJlNOCP2jMmlz55g2ntaKr/s4wfNqZxH7PfNb5Hi+8RvFKi9JydmEO0NyzvGqcX9ligGZhzs9t5MxgWP/ALb8z+63zyjLWlMjMjqysuhVgVYHoQdRApJ9EuLXZY4TKluxExsq5Tr58oqSSGNvOHHbwmIveRSE3xRIlSGc5V1Ji04fprze7O5uPeKeVOsbgkGCvs+w9p1WpINhck8toa7E+iLPlWJUjbSJ9Jw7VPK7yUodTyUgsPaJPGUkSqhxbcXinwzHZ0g3lzGX30+IJX6Kg17HhIno4WYhXrm00iorKj9MPUwUylxGtBYU82bpo+QgezGwPzDNF2V4pNfM0pJQ/wDVmKPsmY/aEr9im10ilpVvMX1EadxHVWomVNBlFzzJ5x8wnsnmK6vOqZdhYkS1Ztel2t+UH3+zdM0oynQurCxLEgn0K2t7R14skYQd9syvk81SVtErhmZepQ/vgfeNXxTshksSaeoeWDssxe9A9GuD83ipwLsxl0s7PVVT2BBUImUMR1Yk/AjmpjtGi4fhyy/EFAZum5i/m1okoFAzPvYbD1P8orZE+TYFJg02JJMfJlYg/wDO+BD1Q5TbI2Mu01AXJHlsPgRTS8QmSdMxI5X1idiOIqRodPOKudPQgAsB5a3+LRRmAguNjDkuqcbGJaUGl20EczCi7axynQdJi0xRHcitLnUk+UQHu2wixwylmLqqgeZhgFeEymYaDKOp0iZV49IkC2bO3QawLVdS1rPMLfujwiB6sqiTlUW9IQBVU8cPmsiD+cPU3FUw/UID6aVl15xJM6AYeUvERbqItZGNIecZj+JPKOvxTdTDEa5SV4LKL/3vFt+MHURkeD1ji5uT0i+kYw+xA9RvHbh8faGzObJlqVIuOIaSinvaop5Mw2HiZFY/6rX+8QKLgvCSbijlHW9mzMP9JNoHKziECc99bWHwAD97x3I4nAOm0ePlzOOSSXVnqY8KljT90aUsxVASWoAAsFUAKoHIAaARWY2LKTMYeuunQWgAxfjeYpHdXtazWNj5ERS1nEk2osLO38bCw9hvBDLt2jRYVHm/7Luux5Zd8z+A3Avob/uwJNjpZ9HI9zFjS4IXYPNOY+ew8gOQggXCpBXK8pWHoIG4vsraSfBX4LxC6OLsTBjieFUeJS7T0UvayzVsJqdLPuR5G48oBsT4aeV+kkBpkvmm7r6ftDy39Y+YVirJbKxt+XUQRkodBKG65KnHeyatS/cd3UJ+qQyy3t+8rkC/oxiNh/Y5icz6lkSvKZNBPp+jDRqeG45mTU+QiUvEQU77fy1jZZzmfjgBSdg1Vp3lXIU/uLMmfnlvGl4Zw9KpEEm+YhRdrBc2mpsBprfnBCMQB5xRcU1QXK6n9068txHYos4pMi1XDtBMbNNp5cxusy7/AGJsIepsJopRBl0tMhGxWTLB+QsUJxYnY29ifgkj8o4aqB+t2b/iyj4W0OibCqbiaDdhp5gRFbGl/UDP/CCR87QOCeo+hEB62F/k6xBrJs0+LObeph0IL/8AFH5Kq/xsPyQGPprmO7+yqB92v+UAH+MMuhvf4/8A2HpONk7mAYW1WLFdL39SW+20Rl4gUqQ4UrzDWIPtFQKlZgsDrFTiNI6qenOARdGbTTT/ALvNyN+wTYHyVj+URnZlYq1weYG/ux29rwB98ZT33UwYYXi4dQr+NeTbun9R5Qkx0W1JVqutgD13b0udYkmzHMN+vP5irfDzbOhDL1H96R3Tz2XeGIrWkTJh2h6XhCLq7ewixxDD50vwuGT1FgfQ7GK58Oc845joHGqJMv6UBPUxXVeMO2g0HlEtcHY7mFMopUv6tT5mACkKu55n0ifTYaQLnT84sg6qPDp7D+zDEwsed/tCAizZajaI9olFTDbJaGA1lj6FjsQ9Tpr6f2IcVs0kJulY9RKQb3PT+sWXe6aw1IlR3XUrtKZZerEWHoSAfsTHsSax42/pHnxTyTS+2DRQuSx3JJ9ybw2yRdYfg01PqX5hmtWUHtex6R8s7bs+iTpUUs2TeJdFNVNxEyppkRc28QqSdc6W9DYGHyHARUlbLI/pFnT18oaGB6RNXZlsfLQ/ETgiNscp6Np99oSdF1fRaTMalym0DC/MbfHOI+MYGtRefJsJ27KNFm2G/k1ra89j1HFRIlzEIt4hvp9xELDappZza259ARofyhU6/Q3JWl0yFQs6gm1rG2uhvsdOUJlZrwW1lAlQpmoP0lhmA/XHX+L84GaRPE1uRO/9IqKrscnfQYUlUwlSz+6t/gXir4jqi0ogX6/GsSqA5pCgnYkfe/8AMRBrJd7jrcR7mN7QT/R4mRVJoEmrWHMxH/Htff4jmautjuNIZZYyEWErEX84nSMWHMRTSJusT1VDDES6jJM6RWTqUqdDf++kTBh4P0m0cNRPyPxAKyF+JZdjaHGxSYRYm484+TaVhuIYMnyMIYxUKGEQpE15TXU/0ixZIjTpV4QwgwXiCx3yE731RvUcvWCYV8lwC/gPUeJT6ERmFiDE+ixR5exMCYmj0q6AixAIPI6iKWt4Vp31UGWf3NB/pOnxaLyFGZoAtZwnUL/lsswf6G+Dp94H5qhHZJiZZmlwwuQNeXQ9Y1qPNXbnPYYpdWKkILFSQR7iFrY7DSbhyE3Ga3JFNgDc3OvtESooHB0IUcs25jNML4tqUIzN3gH7d83sw/neNBwPEJ0+naolp+jQ+O5F1899RGbg10Uuhtp7gkZGNtGtc2+P71jsPoOn2jta8MNWK638IJVvjf3iOKi+ltPPeGrA+vMSCDhRKSZmltNlNOv/AJeYd4AB+ze/OBasnrKRph2UX9TyHubQL8FYiUr5MwnUvqfNt/uY1xPV7GeRbKjc/wDZ+XyzD3/rAzjdSJczu5M8Iy/WSAwv+zsdo+cR0FXKmzJudlDG4KsVB+DA/Q4VOmnwKWOpNtTrzh5/K/JHTovB4/45b90S53ElTmyK6tpqSmvrpaIdTgzzCZjPMudcwtv1ttaKziNp1JMDrYONCrC4seRHSK6XxtVNMlr3iSZeZcxRLAC+tyxYgRyLFfKO5ZUlyi+Y5yspifD9dtLkcheJdfQyJQDEsqNpZ9bHkQbbb/EXGFYIQ3eXGutz4g19b+cQsTlrWzu7ucku+rHKGOzNfoLWH/WM9E4r7NVJdLr7ID07Kt0s8v5t/SHMNnqXynNlbcdPOLvAMOyIUa5Ckjqbbj13iWcHksCZfvlOoPQjl7xOrFaRx+ASWt1zeRJ0MU1PWZJpVtZT788rbFh5dR/Zs6Cc1OzLMu0o6nmVPNrcxbceXzxic+kmSzMlz5JUC9w66eovdYK4+IN2/lySqWVOlN+j1TcHlY9D0gW4g4kmSa4SlSVlcoXLBi12GuzADa+3OKWm4wqJJdZUxTLJOVXAYL5rzHW20DOK1zO/eM2Zy1y3O8a44K1wZ5punybtSsAptaxsw9wIarUuIBeD+0CnlUwl1RmZ0JC5Ez5lvdddgRe3sIv6bj2mmozy6ee4U65yiXHMgDNHoxnCEeTz2pTlxyUuJyrTGHv86mIhi4x6slz2WbKTKpUCxIN+YOg6HbyitCQn2ZkbLD0p7f8ASPjoeUcFDCAnSqoiJcutimW8SZNz1gCi1/FDmBHa5DESXRuRpEmThzQCo+tQyzyhlsJWCTB+GJs42uq25t/QQTUnA0sf5k128lAUfe5idkPWSMybBUj5L4az/SGb+EFvyjaKXh+ml/TKUnq3jP8AzRZKoGgFh5QtkPVn2FChRJYo8wdtLXxKYegAj0/HlvtbH/eE+/UQIaA2nO5ja+EpPd8Pz32zlv6Rico6RuuKjueHZSgfUBf3MHsf+pkAxGbKN0cjy3U+x0jYuEOEnrKKXUd4qTGvplOQ2Oh3uPvGIvc6R6r7PqQysPp0IscgPzrA0KzFO0jCJ1KiS5oADNe4NwwA0+/XpAThUzLOlno6n7xt3b/S3pZUy30vb5jBw1jeKiJnpnjBc9PIbcED8oj8IFZfevb6Uhjhyr/F4RLbdkFj/wAOkQ5NYJdPO6sAo944snxy2d2L5YdQJ42kGZKmz2+otf2jNC1zGr8WJbD5rnYWHuYyBG1jTxrq2R5VXSNT7O3b/D6wlmIUAKCSQt98o5e0S8FxyhlywZjlHUAFcrm5HMZQbiOOyimM2jrpY/ZB+LxnuJNaYR00jocUzmjNx6NCTtCpMxWYk1U1ImLqTrzTcf3tErC+IaafUSpdHNfvJjAN4HUhb3bMWFjp6xkFQ8aD2D4b3mIGZbSWt/cxm8UbL/NKjVu0XAlFBPeWWDBDzG3PlePMevWPVfaiG/w2fla3h+3MR5XXnFJJEbN9nEi+U+sfZmw9YQPhjljoIsk4Ig77OqMzknIP2ST5ACAPNGk9jlcVmTpQTMHltc/s2B1iMkdlRcJauyPw7VZkeUTqhNvS+n/yPxFsiGBHB65JFU7TL5CWVrC5Gpsbc9fzi8mcaSgbSadj+9NYD3yrf841TMpRdl1LomOwJiVLwo2uxsPOwHyYBKzjOrckCYJa9Jahfubn7wNV9ZMmG7zHc/vszfmYNidWbngmArU37grMy6EqylQeha9vaJHF2C/gKRqk5GZbALra56mLXsNoBLw1G0u5LGGu3hyMNNubreJ2K1MjwziyonTpYdlVSwBVFyi3qbn7xqXc3dW5D+cYRg839JL/AIh+cb/RrdPO4/KObPy0dni8JhbwvK8LN1i9iJhkjJLUeUS41gqVGGSVybFChQoogUKFCgAUeX+17/xCf7R6gjzh29YR3NWJoOk0XI6EQDRnNItyF6kfnHoXj2plyMHlSnRmLIoW3I2vrGE8I0Bm1EsaABlJJ0AAMeiO010FAosGFhY+g5Qw9UedsOJaolqQQC6jbzj1/h8vLKRRyVR9o879n+EGpxCUSoshzt5AbXj0cSAPIQMAV7UZMtsOnd4CQBcW1IPIx5aZ49UcRY7L7p1Khla6i+oPXSMYxvgcuSyIUZhmUfqmM1limaLDJqwp7C8UQ09RIdgLeIA9DvHWLLfY6ZvtAfwNwtVJVFGDIrIwLDbbSCx2CyyrEZluN9yIw8n5U0dHi/FtMHu0SXUrJlozL3DjMFX6iQNzGX5h8Qc45Vfi2DiawWWpBXzHIRX4Hww9U36NTlB1O0dGPhI5sj+TDvgavFLg86dJBaa7ZWuNB0jMa0sWLMBrrGvYlikmnoTQy5LIbWZiNzzYRmNSgKsqy2Y/tWNhGlqjOgcmG5jcf/5+aSkuaCQJrEb8x5RkeGYM82dLlhTZmANtdL6x6Rwjs+ppORkBDCxvc7iJGCfb7jDpJlyEJCtfP/IRiFBQzJ57uShdjyAjZe3XGUYS6ZVBa92NtR5Qz2UYSsrvqoL4VlnXobXtABitXKZCUYWZdCOhhnNpEnGqjvJ81/2nY/eIIihHd403sTnWmVI6yW/KMwgz7M6wy5s6xsTJcfaEMpqoXdv4j+cc08sk2A1OkOSJbTJmVVLMToBqSYLOBMMCVv8AvJCZL+Ft78tIBkXiXhaXTUcubc961rg+esB+HUTTpqyxuxtGp9rbDJLAOxvaKDsswgzKkzSvhli/udoCDdezmh/D0aSL3KbnreKntvpy2GPbkwMEXDL/AFD3j5x1h/f0M+X1QkeohDZ5JoCQ6m+xH5x6K4eBdVfrltGBYVhLPOSXbUsBr6x6SwLC5iGUGsEQAWHOMssbaN8EtUw0lbD0jqFCjUwFChQoAFChQoAFHn7tE4drqqtZ5iju72S50Cjyjf3awJgMxq7gnzgY0zMeH+zSeHUpOQAnUEfaNK7RMHd8PEpNWULtptvaGMDdlmCCrHZWaVe9tNoAvkzXsewhqec7TQAziw6+8a863BB5xnuFyis1T5xoanSALKWdhctQfAuhvqLiBnHMZBJXu7kaA8oNsTF5Z1gFraU94YzljtUuDWGVJ21ZYYTORcgtdmGvlFBxX2ZiqmmZKnNLLbrrlv1gpw6h8QJ5ReSfqhqKjwhOTlywU4V7PpciR3c9Umt1tv6w2aJZRKogQX2AtB9A9jaXeLMitwzBhOvnswG1wDFRxNgiy0KgKoOhAAF4K8DUh/aPnF9Lnliw1BgAzTh7DFlTUKb3EbTLOg9Iy6lklXB840bCqjOg6jSAAP4u4Mp5k7v3Ukk66xdcOUkpZbSFRQhGo630MSuIZZOXpDGCShdtdbQAZF2jdmI/EqaQBUb6tdAb6mG+Iuyde6lGRMUNk8QN/E3WNLqJZzG+usNlDDA89YrwXVyD4pZYdV1iXw7QzKdjNZSGsQFYaMDoY3nufKPsrBpU1gXlqxUG1xCGmCnZfhaTJwnmWqFTppob7mL3jLg6lmzmnKXWdv4diRFlIkBPpGW3TSLCgGZ/EL35wddA3btmL1vD1VUTx3vhQG2pvp1jW+F+E5FJTt3bFi4BYnrHONUQGo6xOwNtCp5iAQ/gy2mesXdVJzoyHTMCPmKyjl2cRbTTYE+UAHnTivhudR1atLDTFBvmA842jhysaZJRn3sN4jsoZtRcXi2lKLabcomRUS1Q6R1DclrgQ5FEihQoUAChQoUAHMzYwOVki6mCN9jFZPl6QAU2HUv6RfWCPEJWZbRCppVmBi0mjSAAWNHYwUUxuo9IgTpWsT6b6RAAzXi4Aigm0l394IaqISStYAO6WTaH2SxhxVjt12iSrO5bXEVmIyrteLCXDdUl7RSJZEw6XZofxNLgR9p1sYdqReAASnUXj94v8IXKSOsfJ0jURIkJYwAO163QxXUUqzCLaftEaUmogAqqym8ZhtaXQmLiqleKOUlaGACoFPE3D5FifQw+JUSKeXa8AFKZGsOyZdiDEvu46EuACHicq63hmkW1jFhVpdYYlJpABMlDUGJNafAYjyNhDtRMusAFMZOkTZK2AEJk0h8JtEsqI/SnlEiGZIh6GhPsUKFChiP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19" name="AutoShape 31" descr="Image result for hir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23" name="AutoShape 35" descr="Image result for risk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cxnSp>
        <p:nvCxnSpPr>
          <p:cNvPr id="28" name="Straight Connector 27"/>
          <p:cNvCxnSpPr/>
          <p:nvPr/>
        </p:nvCxnSpPr>
        <p:spPr>
          <a:xfrm>
            <a:off x="430847" y="1545824"/>
            <a:ext cx="11418253" cy="3576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 bwMode="gray">
          <a:xfrm>
            <a:off x="482600" y="1625600"/>
            <a:ext cx="5232400" cy="21209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 smtClean="0"/>
              <a:t>Leads generation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 Prospect Database</a:t>
            </a:r>
            <a:endParaRPr lang="en-IN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 Cross-sell and pre approved offers</a:t>
            </a:r>
            <a:endParaRPr lang="en-IN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 smtClean="0"/>
              <a:t>Sales Optimization and Forecasting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 Customer profiling and segmentation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298950" y="1771078"/>
            <a:ext cx="1098550" cy="55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829049" y="2808096"/>
            <a:ext cx="330200" cy="271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430713" y="2771199"/>
            <a:ext cx="277811" cy="274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708016" y="3505200"/>
            <a:ext cx="755342" cy="293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Box 24"/>
          <p:cNvSpPr txBox="1"/>
          <p:nvPr/>
        </p:nvSpPr>
        <p:spPr bwMode="gray">
          <a:xfrm>
            <a:off x="7734299" y="1688549"/>
            <a:ext cx="4152901" cy="23495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Employee Productivity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Process Efficiency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Marketing </a:t>
            </a:r>
            <a:r>
              <a:rPr lang="en-US" sz="1200" dirty="0"/>
              <a:t>ROI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Spend </a:t>
            </a:r>
            <a:r>
              <a:rPr lang="en-US" sz="1200" dirty="0"/>
              <a:t>Efficiency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Cost </a:t>
            </a:r>
            <a:r>
              <a:rPr lang="en-US" sz="1200" dirty="0"/>
              <a:t>to Income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879000" y="5405773"/>
            <a:ext cx="854075" cy="835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 flipH="1">
            <a:off x="10235496" y="4512626"/>
            <a:ext cx="1219904" cy="82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TextBox 28"/>
          <p:cNvSpPr txBox="1"/>
          <p:nvPr/>
        </p:nvSpPr>
        <p:spPr bwMode="gray">
          <a:xfrm>
            <a:off x="520700" y="4292049"/>
            <a:ext cx="3987800" cy="2096051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Customized </a:t>
            </a:r>
            <a:r>
              <a:rPr lang="en-US" sz="1200" dirty="0"/>
              <a:t>Product </a:t>
            </a:r>
            <a:r>
              <a:rPr lang="en-US" sz="1200" dirty="0" smtClean="0"/>
              <a:t>Offerings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Wealth Portfolio Diversification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Alternate </a:t>
            </a:r>
            <a:r>
              <a:rPr lang="en-US" sz="1200" dirty="0"/>
              <a:t>Investment Solutions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Product Analytics</a:t>
            </a:r>
            <a:endParaRPr lang="en-US" sz="1200" dirty="0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9852822" y="3032960"/>
            <a:ext cx="1478545" cy="58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4202113" y="5413387"/>
            <a:ext cx="1131887" cy="7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TextBox 30"/>
          <p:cNvSpPr txBox="1"/>
          <p:nvPr/>
        </p:nvSpPr>
        <p:spPr bwMode="gray">
          <a:xfrm>
            <a:off x="7942114" y="4139649"/>
            <a:ext cx="4025901" cy="2096051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 smtClean="0"/>
              <a:t> NPA and Credit Losses Reduction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 Default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 </a:t>
            </a:r>
            <a:r>
              <a:rPr lang="en-IN" sz="1200" dirty="0" smtClean="0"/>
              <a:t>Collections Efficiency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 Compliance Monitoring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 Implementing Regulatory Compliance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 Fraud prediction and </a:t>
            </a:r>
            <a:r>
              <a:rPr lang="en-IN" sz="1200" dirty="0" smtClean="0"/>
              <a:t>mitigation</a:t>
            </a:r>
          </a:p>
        </p:txBody>
      </p: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10694513" y="1824151"/>
            <a:ext cx="992449" cy="805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51127" y="6538685"/>
            <a:ext cx="211302" cy="199563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/>
        </p:nvSpPr>
        <p:spPr bwMode="gray">
          <a:xfrm>
            <a:off x="651405" y="6488702"/>
            <a:ext cx="2547020" cy="245927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IN" sz="1200" i="1" dirty="0" smtClean="0">
                <a:solidFill>
                  <a:schemeClr val="accent6">
                    <a:lumMod val="50000"/>
                  </a:schemeClr>
                </a:solidFill>
              </a:rPr>
              <a:t>Identified Priority areas</a:t>
            </a:r>
          </a:p>
        </p:txBody>
      </p:sp>
      <p:pic>
        <p:nvPicPr>
          <p:cNvPr id="35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501927" y="2741385"/>
            <a:ext cx="211302" cy="199563"/>
          </a:xfrm>
          <a:prstGeom prst="rect">
            <a:avLst/>
          </a:prstGeom>
          <a:noFill/>
        </p:spPr>
      </p:pic>
      <p:pic>
        <p:nvPicPr>
          <p:cNvPr id="36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89227" y="2385785"/>
            <a:ext cx="211302" cy="199563"/>
          </a:xfrm>
          <a:prstGeom prst="rect">
            <a:avLst/>
          </a:prstGeom>
          <a:noFill/>
        </p:spPr>
      </p:pic>
      <p:pic>
        <p:nvPicPr>
          <p:cNvPr id="37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501927" y="1687285"/>
            <a:ext cx="211302" cy="199563"/>
          </a:xfrm>
          <a:prstGeom prst="rect">
            <a:avLst/>
          </a:prstGeom>
          <a:noFill/>
        </p:spPr>
      </p:pic>
      <p:pic>
        <p:nvPicPr>
          <p:cNvPr id="38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89227" y="2004785"/>
            <a:ext cx="211302" cy="199563"/>
          </a:xfrm>
          <a:prstGeom prst="rect">
            <a:avLst/>
          </a:prstGeom>
          <a:noFill/>
        </p:spPr>
      </p:pic>
      <p:sp>
        <p:nvSpPr>
          <p:cNvPr id="39" name="TextBox 38"/>
          <p:cNvSpPr txBox="1"/>
          <p:nvPr/>
        </p:nvSpPr>
        <p:spPr bwMode="gray">
          <a:xfrm>
            <a:off x="9779692" y="6539023"/>
            <a:ext cx="2286000" cy="27644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</a:rPr>
              <a:t>Focus Post Workshops</a:t>
            </a:r>
          </a:p>
        </p:txBody>
      </p:sp>
      <p:sp>
        <p:nvSpPr>
          <p:cNvPr id="40" name="TextBox 39"/>
          <p:cNvSpPr txBox="1"/>
          <p:nvPr/>
        </p:nvSpPr>
        <p:spPr bwMode="gray">
          <a:xfrm>
            <a:off x="7844568" y="6570921"/>
            <a:ext cx="1768472" cy="248085"/>
          </a:xfrm>
          <a:prstGeom prst="rect">
            <a:avLst/>
          </a:prstGeom>
          <a:solidFill>
            <a:schemeClr val="accent1">
              <a:lumMod val="50000"/>
              <a:alpha val="73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</a:rPr>
              <a:t>Immediate Focus</a:t>
            </a:r>
          </a:p>
        </p:txBody>
      </p:sp>
      <p:pic>
        <p:nvPicPr>
          <p:cNvPr id="42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94832" y="3138344"/>
            <a:ext cx="211302" cy="199563"/>
          </a:xfrm>
          <a:prstGeom prst="rect">
            <a:avLst/>
          </a:prstGeom>
          <a:noFill/>
        </p:spPr>
      </p:pic>
      <p:sp>
        <p:nvSpPr>
          <p:cNvPr id="44" name="TextBox 43"/>
          <p:cNvSpPr txBox="1"/>
          <p:nvPr/>
        </p:nvSpPr>
        <p:spPr bwMode="gray">
          <a:xfrm>
            <a:off x="3015385" y="6480858"/>
            <a:ext cx="2547020" cy="245927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IN" sz="1200" i="1" dirty="0" smtClean="0">
                <a:solidFill>
                  <a:schemeClr val="accent6">
                    <a:lumMod val="50000"/>
                  </a:schemeClr>
                </a:solidFill>
              </a:rPr>
              <a:t>Indirect impact</a:t>
            </a:r>
          </a:p>
        </p:txBody>
      </p:sp>
      <p:sp>
        <p:nvSpPr>
          <p:cNvPr id="46" name="TextBox 45"/>
          <p:cNvSpPr txBox="1"/>
          <p:nvPr/>
        </p:nvSpPr>
        <p:spPr bwMode="gray">
          <a:xfrm>
            <a:off x="2679411" y="6400799"/>
            <a:ext cx="340242" cy="40403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IN" sz="3200" b="1" dirty="0" smtClean="0">
                <a:solidFill>
                  <a:srgbClr val="92D050"/>
                </a:solidFill>
              </a:rPr>
              <a:t>+</a:t>
            </a:r>
          </a:p>
        </p:txBody>
      </p:sp>
      <p:sp>
        <p:nvSpPr>
          <p:cNvPr id="47" name="TextBox 46"/>
          <p:cNvSpPr txBox="1"/>
          <p:nvPr/>
        </p:nvSpPr>
        <p:spPr bwMode="gray">
          <a:xfrm>
            <a:off x="7425079" y="1630322"/>
            <a:ext cx="340242" cy="40403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IN" sz="3200" b="1" dirty="0" smtClean="0">
                <a:solidFill>
                  <a:srgbClr val="92D050"/>
                </a:solidFill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 bwMode="gray">
          <a:xfrm>
            <a:off x="7446332" y="1928035"/>
            <a:ext cx="340242" cy="40403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IN" sz="3200" b="1" dirty="0" smtClean="0">
                <a:solidFill>
                  <a:srgbClr val="92D050"/>
                </a:solidFill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 Roadmap for Y1 &amp; Y2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329655" y="2285998"/>
            <a:ext cx="2981531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1753" y="152499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 bwMode="gray">
          <a:xfrm>
            <a:off x="3119181" y="2077401"/>
            <a:ext cx="1440200" cy="3569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i="1" kern="0" dirty="0" smtClean="0">
                <a:solidFill>
                  <a:schemeClr val="tx2"/>
                </a:solidFill>
              </a:rPr>
              <a:t>0 – 6 months</a:t>
            </a:r>
            <a:endParaRPr lang="en-IN" sz="1600" b="1" i="1" kern="0" dirty="0">
              <a:solidFill>
                <a:schemeClr val="tx2"/>
              </a:solidFill>
            </a:endParaRPr>
          </a:p>
        </p:txBody>
      </p:sp>
      <p:sp>
        <p:nvSpPr>
          <p:cNvPr id="41" name="Text Placeholder 6"/>
          <p:cNvSpPr txBox="1">
            <a:spLocks/>
          </p:cNvSpPr>
          <p:nvPr/>
        </p:nvSpPr>
        <p:spPr>
          <a:xfrm>
            <a:off x="441601" y="1158466"/>
            <a:ext cx="11113180" cy="58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Phased out key programs based on sources and availability of 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4577509" y="2402961"/>
            <a:ext cx="4226249" cy="1063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8799726" y="2285998"/>
            <a:ext cx="2981531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 bwMode="gray">
          <a:xfrm>
            <a:off x="5684492" y="2209798"/>
            <a:ext cx="1630949" cy="3569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i="1" kern="0" dirty="0" smtClean="0">
                <a:solidFill>
                  <a:schemeClr val="tx2"/>
                </a:solidFill>
              </a:rPr>
              <a:t>4 – 12 months</a:t>
            </a:r>
            <a:endParaRPr lang="en-IN" sz="1600" b="1" i="1" kern="0" dirty="0">
              <a:solidFill>
                <a:schemeClr val="tx2"/>
              </a:solidFill>
            </a:endParaRPr>
          </a:p>
        </p:txBody>
      </p:sp>
      <p:sp>
        <p:nvSpPr>
          <p:cNvPr id="50" name="TextBox 49"/>
          <p:cNvSpPr txBox="1"/>
          <p:nvPr/>
        </p:nvSpPr>
        <p:spPr bwMode="gray">
          <a:xfrm>
            <a:off x="9955845" y="2106903"/>
            <a:ext cx="1630949" cy="3569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i="1" kern="0" dirty="0" smtClean="0">
                <a:solidFill>
                  <a:schemeClr val="tx2"/>
                </a:solidFill>
              </a:rPr>
              <a:t>12 months +</a:t>
            </a:r>
            <a:endParaRPr lang="en-IN" sz="1600" b="1" i="1" kern="0" dirty="0">
              <a:solidFill>
                <a:schemeClr val="tx2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11752" y="1662202"/>
            <a:ext cx="2487009" cy="404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Quick Wins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 rot="2700000">
            <a:off x="2502289" y="1664449"/>
            <a:ext cx="418924" cy="4194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/>
          <p:cNvSpPr/>
          <p:nvPr/>
        </p:nvSpPr>
        <p:spPr>
          <a:xfrm>
            <a:off x="6106116" y="1662202"/>
            <a:ext cx="2457156" cy="404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Foundation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500479" y="1662202"/>
            <a:ext cx="2457156" cy="404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Maturation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 rot="2700000">
            <a:off x="5867156" y="1649701"/>
            <a:ext cx="418924" cy="4194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/>
          </a:p>
        </p:txBody>
      </p:sp>
      <p:sp>
        <p:nvSpPr>
          <p:cNvPr id="39" name="Rectangle 38"/>
          <p:cNvSpPr/>
          <p:nvPr/>
        </p:nvSpPr>
        <p:spPr>
          <a:xfrm rot="2700000">
            <a:off x="9276268" y="1664448"/>
            <a:ext cx="418924" cy="41942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/>
          <p:cNvSpPr txBox="1"/>
          <p:nvPr/>
        </p:nvSpPr>
        <p:spPr bwMode="gray">
          <a:xfrm>
            <a:off x="2563714" y="1538991"/>
            <a:ext cx="295218" cy="5957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1</a:t>
            </a:r>
            <a:endParaRPr lang="en-IN" sz="2400" b="1" dirty="0" smtClean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 bwMode="gray">
          <a:xfrm>
            <a:off x="5958507" y="1511281"/>
            <a:ext cx="295218" cy="5957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IN" sz="2400" b="1" dirty="0" smtClean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 bwMode="gray">
          <a:xfrm>
            <a:off x="9352870" y="1553208"/>
            <a:ext cx="295218" cy="5957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IN" sz="2400" b="1" dirty="0" smtClean="0">
              <a:solidFill>
                <a:schemeClr val="bg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14578" y="5858820"/>
            <a:ext cx="1980000" cy="89253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Risk Management</a:t>
            </a:r>
            <a:endParaRPr lang="en-IN" sz="1400" b="1" dirty="0" smtClean="0"/>
          </a:p>
        </p:txBody>
      </p:sp>
      <p:sp>
        <p:nvSpPr>
          <p:cNvPr id="69" name="Rounded Rectangle 68"/>
          <p:cNvSpPr/>
          <p:nvPr/>
        </p:nvSpPr>
        <p:spPr>
          <a:xfrm>
            <a:off x="250716" y="2610188"/>
            <a:ext cx="1980000" cy="116437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Revenue Growth and Customer Analysis</a:t>
            </a:r>
            <a:endParaRPr lang="en-IN" sz="1400" b="1" dirty="0" smtClean="0"/>
          </a:p>
        </p:txBody>
      </p:sp>
      <p:sp>
        <p:nvSpPr>
          <p:cNvPr id="70" name="Rounded Rectangle 69"/>
          <p:cNvSpPr/>
          <p:nvPr/>
        </p:nvSpPr>
        <p:spPr>
          <a:xfrm>
            <a:off x="214577" y="4914282"/>
            <a:ext cx="1980000" cy="91617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Production Innovation</a:t>
            </a:r>
            <a:endParaRPr lang="en-IN" sz="1400" b="1" dirty="0" smtClean="0"/>
          </a:p>
        </p:txBody>
      </p:sp>
      <p:sp>
        <p:nvSpPr>
          <p:cNvPr id="71" name="Rounded Rectangle 70"/>
          <p:cNvSpPr/>
          <p:nvPr/>
        </p:nvSpPr>
        <p:spPr>
          <a:xfrm>
            <a:off x="214578" y="3950111"/>
            <a:ext cx="1980000" cy="90832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Process and Cost Optimization</a:t>
            </a:r>
            <a:endParaRPr lang="en-IN" sz="1400" b="1" dirty="0" smtClean="0"/>
          </a:p>
        </p:txBody>
      </p:sp>
      <p:sp>
        <p:nvSpPr>
          <p:cNvPr id="72" name="Rectangle 71"/>
          <p:cNvSpPr/>
          <p:nvPr/>
        </p:nvSpPr>
        <p:spPr>
          <a:xfrm>
            <a:off x="2399444" y="2633387"/>
            <a:ext cx="6617947" cy="47557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Leads generation and optimization, Social Media Analytics, Sales forecasting , Product propensity models, </a:t>
            </a:r>
            <a:endParaRPr lang="en-IN" sz="1400" b="1" dirty="0"/>
          </a:p>
        </p:txBody>
      </p:sp>
      <p:sp>
        <p:nvSpPr>
          <p:cNvPr id="76" name="Rectangle 75"/>
          <p:cNvSpPr/>
          <p:nvPr/>
        </p:nvSpPr>
        <p:spPr>
          <a:xfrm>
            <a:off x="5516411" y="4643271"/>
            <a:ext cx="5795887" cy="35169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Marketing ROI efficiency, End to end campaign management</a:t>
            </a:r>
            <a:endParaRPr lang="en-IN" sz="1400" b="1" dirty="0"/>
          </a:p>
        </p:txBody>
      </p:sp>
      <p:sp>
        <p:nvSpPr>
          <p:cNvPr id="31" name="Rectangle 30"/>
          <p:cNvSpPr/>
          <p:nvPr/>
        </p:nvSpPr>
        <p:spPr>
          <a:xfrm>
            <a:off x="5124865" y="3205478"/>
            <a:ext cx="6113749" cy="32453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Sales force Management (including DSAs) and Optimization</a:t>
            </a:r>
            <a:endParaRPr lang="en-IN" sz="1400" b="1" dirty="0"/>
          </a:p>
        </p:txBody>
      </p:sp>
      <p:sp>
        <p:nvSpPr>
          <p:cNvPr id="32" name="Rectangle 31"/>
          <p:cNvSpPr/>
          <p:nvPr/>
        </p:nvSpPr>
        <p:spPr>
          <a:xfrm>
            <a:off x="9100623" y="2815771"/>
            <a:ext cx="2815806" cy="35273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Nest Best Offer</a:t>
            </a:r>
            <a:endParaRPr lang="en-IN" sz="1400" b="1" dirty="0"/>
          </a:p>
        </p:txBody>
      </p:sp>
      <p:sp>
        <p:nvSpPr>
          <p:cNvPr id="42" name="Rectangle 41"/>
          <p:cNvSpPr/>
          <p:nvPr/>
        </p:nvSpPr>
        <p:spPr>
          <a:xfrm>
            <a:off x="2412689" y="5092995"/>
            <a:ext cx="2127413" cy="140160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Workshops </a:t>
            </a:r>
            <a:endParaRPr lang="en-IN" sz="1400" b="1" dirty="0"/>
          </a:p>
        </p:txBody>
      </p:sp>
      <p:sp>
        <p:nvSpPr>
          <p:cNvPr id="43" name="Rectangle 42"/>
          <p:cNvSpPr/>
          <p:nvPr/>
        </p:nvSpPr>
        <p:spPr>
          <a:xfrm>
            <a:off x="4765348" y="5103628"/>
            <a:ext cx="7036791" cy="13886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Extend capabilities to support priority projects </a:t>
            </a:r>
          </a:p>
        </p:txBody>
      </p:sp>
      <p:sp>
        <p:nvSpPr>
          <p:cNvPr id="53" name="TextBox 52"/>
          <p:cNvSpPr txBox="1"/>
          <p:nvPr/>
        </p:nvSpPr>
        <p:spPr bwMode="gray">
          <a:xfrm rot="5400000">
            <a:off x="7569032" y="985650"/>
            <a:ext cx="274618" cy="689442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1400" b="1" dirty="0" smtClean="0">
                <a:solidFill>
                  <a:schemeClr val="lt1"/>
                </a:solidFill>
              </a:rPr>
              <a:t>Reporting and MIS and Advanced Data Visualization</a:t>
            </a:r>
          </a:p>
        </p:txBody>
      </p:sp>
      <p:sp>
        <p:nvSpPr>
          <p:cNvPr id="44" name="TextBox 43"/>
          <p:cNvSpPr txBox="1"/>
          <p:nvPr/>
        </p:nvSpPr>
        <p:spPr bwMode="gray">
          <a:xfrm rot="5400000">
            <a:off x="7216878" y="-227777"/>
            <a:ext cx="274618" cy="790353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1400" b="1" dirty="0" smtClean="0">
                <a:solidFill>
                  <a:schemeClr val="lt1"/>
                </a:solidFill>
              </a:rPr>
              <a:t>Prospect Database (Tata ecosystem and External) and Intelligence</a:t>
            </a:r>
          </a:p>
        </p:txBody>
      </p:sp>
    </p:spTree>
    <p:extLst>
      <p:ext uri="{BB962C8B-B14F-4D97-AF65-F5344CB8AC3E}">
        <p14:creationId xmlns:p14="http://schemas.microsoft.com/office/powerpoint/2010/main" val="24725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dirty="0" smtClean="0">
                <a:solidFill>
                  <a:schemeClr val="bg1"/>
                </a:solidFill>
              </a:rPr>
              <a:t>Analytical Offerings for Tata Capital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7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Customer and Revenue Roadmap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174882"/>
            <a:ext cx="11113180" cy="582362"/>
          </a:xfrm>
        </p:spPr>
        <p:txBody>
          <a:bodyPr/>
          <a:lstStyle/>
          <a:p>
            <a:r>
              <a:rPr lang="en-US" dirty="0" smtClean="0"/>
              <a:t>Effective management of customers for higher revenues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65" y="152095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11"/>
          <p:cNvSpPr>
            <a:spLocks noChangeArrowheads="1"/>
          </p:cNvSpPr>
          <p:nvPr/>
        </p:nvSpPr>
        <p:spPr bwMode="auto">
          <a:xfrm>
            <a:off x="671549" y="3966387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Acquisition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0" name="AutoShape 11"/>
          <p:cNvSpPr>
            <a:spLocks noChangeArrowheads="1"/>
          </p:cNvSpPr>
          <p:nvPr/>
        </p:nvSpPr>
        <p:spPr bwMode="auto">
          <a:xfrm>
            <a:off x="3133385" y="3401116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Cross - Sell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5562598" y="2835118"/>
            <a:ext cx="1748534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Grow &amp; Usage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2" name="AutoShape 11"/>
          <p:cNvSpPr>
            <a:spLocks noChangeArrowheads="1"/>
          </p:cNvSpPr>
          <p:nvPr/>
        </p:nvSpPr>
        <p:spPr bwMode="auto">
          <a:xfrm>
            <a:off x="8006357" y="2282712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Retention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63" name="Picture 62" descr="capit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84" y="2514398"/>
            <a:ext cx="1551435" cy="922755"/>
          </a:xfrm>
          <a:prstGeom prst="rect">
            <a:avLst/>
          </a:prstGeom>
        </p:spPr>
      </p:pic>
      <p:pic>
        <p:nvPicPr>
          <p:cNvPr id="64" name="Picture 63" descr="h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07" y="1701897"/>
            <a:ext cx="2284933" cy="641291"/>
          </a:xfrm>
          <a:prstGeom prst="rect">
            <a:avLst/>
          </a:prstGeom>
        </p:spPr>
      </p:pic>
      <p:sp>
        <p:nvSpPr>
          <p:cNvPr id="65" name="Oval 64"/>
          <p:cNvSpPr/>
          <p:nvPr/>
        </p:nvSpPr>
        <p:spPr>
          <a:xfrm>
            <a:off x="10692311" y="1560903"/>
            <a:ext cx="1080000" cy="1080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sp>
        <p:nvSpPr>
          <p:cNvPr id="68" name="Rounded Rectangle 67"/>
          <p:cNvSpPr/>
          <p:nvPr/>
        </p:nvSpPr>
        <p:spPr>
          <a:xfrm>
            <a:off x="10415668" y="2772876"/>
            <a:ext cx="1672338" cy="4196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Test and Learn</a:t>
            </a:r>
            <a:endParaRPr lang="en-IN" sz="1400" b="1" dirty="0"/>
          </a:p>
        </p:txBody>
      </p:sp>
      <p:sp>
        <p:nvSpPr>
          <p:cNvPr id="71" name="Rounded Rectangle 70"/>
          <p:cNvSpPr/>
          <p:nvPr/>
        </p:nvSpPr>
        <p:spPr>
          <a:xfrm>
            <a:off x="10415667" y="3311164"/>
            <a:ext cx="1672338" cy="4196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chemeClr val="bg1"/>
                </a:solidFill>
              </a:rPr>
              <a:t>PL  &amp; Profitability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 bwMode="gray">
          <a:xfrm rot="10800000" flipV="1">
            <a:off x="9787380" y="2046756"/>
            <a:ext cx="2096086" cy="562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b="1" dirty="0" smtClean="0"/>
              <a:t>                      </a:t>
            </a:r>
            <a:r>
              <a:rPr lang="en-IN" sz="1200" b="1" dirty="0" smtClean="0">
                <a:solidFill>
                  <a:schemeClr val="bg1"/>
                </a:solidFill>
              </a:rPr>
              <a:t>Campaign </a:t>
            </a:r>
          </a:p>
          <a:p>
            <a:r>
              <a:rPr lang="en-IN" sz="1200" b="1" dirty="0" smtClean="0">
                <a:solidFill>
                  <a:schemeClr val="bg1"/>
                </a:solidFill>
              </a:rPr>
              <a:t>                    Management</a:t>
            </a:r>
          </a:p>
        </p:txBody>
      </p:sp>
      <p:sp>
        <p:nvSpPr>
          <p:cNvPr id="10" name="Up Arrow 9"/>
          <p:cNvSpPr/>
          <p:nvPr/>
        </p:nvSpPr>
        <p:spPr>
          <a:xfrm rot="3671747">
            <a:off x="10060309" y="1980015"/>
            <a:ext cx="396029" cy="716100"/>
          </a:xfrm>
          <a:prstGeom prst="upArrow">
            <a:avLst/>
          </a:prstGeom>
          <a:solidFill>
            <a:srgbClr val="75CEEC"/>
          </a:solidFill>
          <a:ln>
            <a:solidFill>
              <a:srgbClr val="75C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87943916"/>
              </p:ext>
            </p:extLst>
          </p:nvPr>
        </p:nvGraphicFramePr>
        <p:xfrm>
          <a:off x="629985" y="2529322"/>
          <a:ext cx="9475105" cy="4200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67925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87943916"/>
              </p:ext>
            </p:extLst>
          </p:nvPr>
        </p:nvGraphicFramePr>
        <p:xfrm>
          <a:off x="629985" y="2220572"/>
          <a:ext cx="9475105" cy="4200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and Cost </a:t>
            </a:r>
            <a:r>
              <a:rPr lang="en-US" dirty="0" smtClean="0"/>
              <a:t>Optimization </a:t>
            </a:r>
            <a:r>
              <a:rPr lang="en-IN" dirty="0" smtClean="0"/>
              <a:t>Roadmap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132678"/>
            <a:ext cx="11113180" cy="582362"/>
          </a:xfrm>
        </p:spPr>
        <p:txBody>
          <a:bodyPr/>
          <a:lstStyle/>
          <a:p>
            <a:r>
              <a:rPr lang="en-US" dirty="0" smtClean="0"/>
              <a:t>Process and spend efficiency to maximize return on investment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65" y="149356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11"/>
          <p:cNvSpPr>
            <a:spLocks noChangeArrowheads="1"/>
          </p:cNvSpPr>
          <p:nvPr/>
        </p:nvSpPr>
        <p:spPr bwMode="auto">
          <a:xfrm>
            <a:off x="671549" y="3657637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sz="1600" b="1" dirty="0" smtClean="0">
                <a:solidFill>
                  <a:schemeClr val="bg1"/>
                </a:solidFill>
              </a:rPr>
              <a:t>Employee </a:t>
            </a:r>
          </a:p>
          <a:p>
            <a:pPr>
              <a:defRPr/>
            </a:pPr>
            <a:r>
              <a:rPr lang="en-IN" sz="1600" b="1" dirty="0" smtClean="0">
                <a:solidFill>
                  <a:schemeClr val="bg1"/>
                </a:solidFill>
              </a:rPr>
              <a:t>Productivity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0" name="AutoShape 11"/>
          <p:cNvSpPr>
            <a:spLocks noChangeArrowheads="1"/>
          </p:cNvSpPr>
          <p:nvPr/>
        </p:nvSpPr>
        <p:spPr bwMode="auto">
          <a:xfrm>
            <a:off x="3133385" y="3092366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algn="ctr">
              <a:defRPr/>
            </a:pPr>
            <a:r>
              <a:rPr lang="en-IN" sz="1600" b="1" dirty="0" smtClean="0">
                <a:solidFill>
                  <a:schemeClr val="bg1"/>
                </a:solidFill>
              </a:rPr>
              <a:t>Process </a:t>
            </a:r>
          </a:p>
          <a:p>
            <a:pPr algn="ctr">
              <a:defRPr/>
            </a:pPr>
            <a:r>
              <a:rPr lang="en-IN" sz="1600" b="1" dirty="0" smtClean="0">
                <a:solidFill>
                  <a:schemeClr val="bg1"/>
                </a:solidFill>
              </a:rPr>
              <a:t>Efficiency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5604802" y="2526368"/>
            <a:ext cx="1748534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algn="ctr">
              <a:defRPr/>
            </a:pPr>
            <a:r>
              <a:rPr lang="en-IN" sz="1600" b="1" dirty="0" smtClean="0">
                <a:solidFill>
                  <a:schemeClr val="bg1"/>
                </a:solidFill>
              </a:rPr>
              <a:t>Spend </a:t>
            </a:r>
          </a:p>
          <a:p>
            <a:pPr algn="ctr">
              <a:defRPr/>
            </a:pPr>
            <a:r>
              <a:rPr lang="en-IN" sz="1600" b="1" dirty="0" smtClean="0">
                <a:solidFill>
                  <a:schemeClr val="bg1"/>
                </a:solidFill>
              </a:rPr>
              <a:t>Efficiency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2" name="AutoShape 11"/>
          <p:cNvSpPr>
            <a:spLocks noChangeArrowheads="1"/>
          </p:cNvSpPr>
          <p:nvPr/>
        </p:nvSpPr>
        <p:spPr bwMode="auto">
          <a:xfrm>
            <a:off x="8062629" y="1973962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algn="ctr">
              <a:defRPr/>
            </a:pPr>
            <a:r>
              <a:rPr lang="en-IN" sz="1600" b="1" dirty="0" smtClean="0">
                <a:solidFill>
                  <a:schemeClr val="bg1"/>
                </a:solidFill>
              </a:rPr>
              <a:t>Return on </a:t>
            </a:r>
          </a:p>
          <a:p>
            <a:pPr algn="ctr">
              <a:defRPr/>
            </a:pPr>
            <a:r>
              <a:rPr lang="en-IN" sz="1600" b="1" dirty="0" smtClean="0">
                <a:solidFill>
                  <a:schemeClr val="bg1"/>
                </a:solidFill>
              </a:rPr>
              <a:t>Investment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0" name="Up Arrow 9"/>
          <p:cNvSpPr/>
          <p:nvPr/>
        </p:nvSpPr>
        <p:spPr>
          <a:xfrm rot="3671747">
            <a:off x="10060309" y="1671265"/>
            <a:ext cx="396029" cy="716100"/>
          </a:xfrm>
          <a:prstGeom prst="upArrow">
            <a:avLst/>
          </a:prstGeom>
          <a:solidFill>
            <a:srgbClr val="75CEEC"/>
          </a:solidFill>
          <a:ln>
            <a:solidFill>
              <a:srgbClr val="75C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06436" y="1566004"/>
            <a:ext cx="2261428" cy="1374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 descr="http://www.ideapractices.org/wp-content/uploads/2012/10/stock-trading.jpg"/>
          <p:cNvPicPr>
            <a:picLocks noChangeAspect="1" noChangeArrowheads="1"/>
          </p:cNvPicPr>
          <p:nvPr/>
        </p:nvPicPr>
        <p:blipFill>
          <a:blip r:embed="rId9"/>
          <a:srcRect b="16511"/>
          <a:stretch>
            <a:fillRect/>
          </a:stretch>
        </p:blipFill>
        <p:spPr bwMode="auto">
          <a:xfrm>
            <a:off x="7554361" y="4766953"/>
            <a:ext cx="4614198" cy="2084019"/>
          </a:xfrm>
          <a:prstGeom prst="rect">
            <a:avLst/>
          </a:prstGeom>
          <a:noFill/>
        </p:spPr>
      </p:pic>
      <p:sp>
        <p:nvSpPr>
          <p:cNvPr id="14" name="Oval 13"/>
          <p:cNvSpPr/>
          <p:nvPr/>
        </p:nvSpPr>
        <p:spPr>
          <a:xfrm>
            <a:off x="10663122" y="1486273"/>
            <a:ext cx="1125604" cy="1080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/>
              <a:t>Optimal cost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256204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796277" y="2784439"/>
            <a:ext cx="3224179" cy="38631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Leads for existing Customers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Leads generation for existing customer for cross sell and pre approved offers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47" y="161015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417526" y="1749898"/>
            <a:ext cx="2520000" cy="5320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2"/>
                </a:solidFill>
              </a:rPr>
              <a:t>Lead Generation</a:t>
            </a:r>
            <a:endParaRPr lang="en-IN" sz="1600" b="1" dirty="0">
              <a:solidFill>
                <a:schemeClr val="tx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64872" y="2880063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TCL Internal Data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32106" y="2777183"/>
            <a:ext cx="2970179" cy="38703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4833174" y="2873437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Non TCL Tata Data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109585" y="2797060"/>
            <a:ext cx="2993844" cy="38214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8467110" y="2922343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Digital Data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39" name="Elbow Connector 38"/>
          <p:cNvCxnSpPr/>
          <p:nvPr/>
        </p:nvCxnSpPr>
        <p:spPr>
          <a:xfrm rot="16200000" flipH="1">
            <a:off x="7384442" y="618537"/>
            <a:ext cx="515148" cy="392898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29807" y="3427510"/>
            <a:ext cx="1527818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Cross Sell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442823" y="3456221"/>
            <a:ext cx="1444488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Pre-approved offers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90699" y="4667212"/>
            <a:ext cx="1150132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Propensity Models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55053" y="5317503"/>
            <a:ext cx="1150132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Current value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2618532" y="4668470"/>
            <a:ext cx="1150132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Customer Payments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28" name="Elbow Connector 27"/>
          <p:cNvCxnSpPr>
            <a:stCxn id="24" idx="2"/>
            <a:endCxn id="26" idx="0"/>
          </p:cNvCxnSpPr>
          <p:nvPr/>
        </p:nvCxnSpPr>
        <p:spPr>
          <a:xfrm rot="5400000">
            <a:off x="3655656" y="858192"/>
            <a:ext cx="598151" cy="3445590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qual 37"/>
          <p:cNvSpPr/>
          <p:nvPr/>
        </p:nvSpPr>
        <p:spPr>
          <a:xfrm rot="16200000">
            <a:off x="1133144" y="3964656"/>
            <a:ext cx="578422" cy="60727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0" name="Down Arrow 39"/>
          <p:cNvSpPr/>
          <p:nvPr/>
        </p:nvSpPr>
        <p:spPr>
          <a:xfrm flipV="1">
            <a:off x="5656543" y="5252720"/>
            <a:ext cx="484632" cy="7387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ounded Rectangle 44"/>
          <p:cNvSpPr/>
          <p:nvPr/>
        </p:nvSpPr>
        <p:spPr>
          <a:xfrm>
            <a:off x="2581614" y="5313099"/>
            <a:ext cx="1150132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Propensity Models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2589508" y="5992421"/>
            <a:ext cx="1150132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Current value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76825" y="5977903"/>
            <a:ext cx="1150132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Leads Prioritization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8" name="Equal 47"/>
          <p:cNvSpPr/>
          <p:nvPr/>
        </p:nvSpPr>
        <p:spPr>
          <a:xfrm rot="16200000">
            <a:off x="2780515" y="3957399"/>
            <a:ext cx="578422" cy="60727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236823" y="3579597"/>
            <a:ext cx="1444488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Tata </a:t>
            </a:r>
            <a:r>
              <a:rPr lang="en-US" sz="1400" dirty="0" err="1" smtClean="0">
                <a:solidFill>
                  <a:schemeClr val="tx1"/>
                </a:solidFill>
              </a:rPr>
              <a:t>Croma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215053" y="4675420"/>
            <a:ext cx="1444488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Tata Power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2" name="Plus 51"/>
          <p:cNvSpPr/>
          <p:nvPr/>
        </p:nvSpPr>
        <p:spPr>
          <a:xfrm>
            <a:off x="9213554" y="4465921"/>
            <a:ext cx="652561" cy="678811"/>
          </a:xfrm>
          <a:prstGeom prst="mathPlus">
            <a:avLst>
              <a:gd name="adj1" fmla="val 25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ounded Rectangle 56"/>
          <p:cNvSpPr/>
          <p:nvPr/>
        </p:nvSpPr>
        <p:spPr>
          <a:xfrm>
            <a:off x="4504757" y="5988008"/>
            <a:ext cx="1150132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Propensity Models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109222" y="5999671"/>
            <a:ext cx="1150132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Current value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389257" y="4000507"/>
            <a:ext cx="249645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Digital  Leads  Quality Assessment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843626" y="5270502"/>
            <a:ext cx="1444488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Digital Leads Management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/>
          <p:cNvCxnSpPr>
            <a:stCxn id="24" idx="2"/>
          </p:cNvCxnSpPr>
          <p:nvPr/>
        </p:nvCxnSpPr>
        <p:spPr>
          <a:xfrm rot="16200000" flipH="1">
            <a:off x="5423891" y="2535547"/>
            <a:ext cx="519345" cy="12074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85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Arrow Connector 66"/>
          <p:cNvCxnSpPr/>
          <p:nvPr/>
        </p:nvCxnSpPr>
        <p:spPr>
          <a:xfrm rot="16200000" flipH="1">
            <a:off x="6535352" y="3131752"/>
            <a:ext cx="1344676" cy="11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9984" y="542362"/>
            <a:ext cx="10691159" cy="706964"/>
          </a:xfrm>
        </p:spPr>
        <p:txBody>
          <a:bodyPr/>
          <a:lstStyle/>
          <a:p>
            <a:r>
              <a:rPr lang="en-US" dirty="0" smtClean="0"/>
              <a:t>Leads for New customers: Prospect Database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Harness external, internal and group level data for quality prospecting and lead generation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47" y="161015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60600" y="3847363"/>
            <a:ext cx="7407762" cy="403794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Data Integration, Customer Profiling, Segmentation etc.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8316" y="1888855"/>
            <a:ext cx="4045984" cy="545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Tata Internal Data (</a:t>
            </a:r>
            <a:r>
              <a:rPr lang="en-US" sz="1400" dirty="0" err="1" smtClean="0"/>
              <a:t>Croma</a:t>
            </a:r>
            <a:r>
              <a:rPr lang="en-US" sz="1400" dirty="0" smtClean="0"/>
              <a:t>, Power,  AIA etc)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5308600" y="1895168"/>
            <a:ext cx="4409558" cy="545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Tata External Data (Facebook, Twitter ,D&amp;B etc.)</a:t>
            </a:r>
            <a:endParaRPr lang="en-IN" sz="1400" dirty="0"/>
          </a:p>
        </p:txBody>
      </p:sp>
      <p:cxnSp>
        <p:nvCxnSpPr>
          <p:cNvPr id="21" name="Straight Arrow Connector 20"/>
          <p:cNvCxnSpPr/>
          <p:nvPr/>
        </p:nvCxnSpPr>
        <p:spPr>
          <a:xfrm rot="5400000">
            <a:off x="2784668" y="3130888"/>
            <a:ext cx="1374244" cy="93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338923" y="4817049"/>
            <a:ext cx="1775877" cy="542563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Desired</a:t>
            </a:r>
          </a:p>
          <a:p>
            <a:pPr algn="ctr"/>
            <a:r>
              <a:rPr lang="en-US" sz="1600" dirty="0" smtClean="0"/>
              <a:t>Profiles</a:t>
            </a:r>
            <a:endParaRPr lang="en-IN" sz="1600" dirty="0"/>
          </a:p>
        </p:txBody>
      </p:sp>
      <p:sp>
        <p:nvSpPr>
          <p:cNvPr id="42" name="Rectangle 41"/>
          <p:cNvSpPr/>
          <p:nvPr/>
        </p:nvSpPr>
        <p:spPr>
          <a:xfrm>
            <a:off x="4361306" y="6253438"/>
            <a:ext cx="1775877" cy="40523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Targets</a:t>
            </a:r>
            <a:endParaRPr lang="en-IN" sz="1600" dirty="0"/>
          </a:p>
        </p:txBody>
      </p:sp>
      <p:sp>
        <p:nvSpPr>
          <p:cNvPr id="43" name="Rectangle 42"/>
          <p:cNvSpPr/>
          <p:nvPr/>
        </p:nvSpPr>
        <p:spPr>
          <a:xfrm>
            <a:off x="1128195" y="6131146"/>
            <a:ext cx="1800000" cy="5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Internal (Tata Capital) data</a:t>
            </a:r>
            <a:endParaRPr lang="en-IN" sz="1600" dirty="0"/>
          </a:p>
        </p:txBody>
      </p:sp>
      <p:sp>
        <p:nvSpPr>
          <p:cNvPr id="45" name="Oval 44"/>
          <p:cNvSpPr/>
          <p:nvPr/>
        </p:nvSpPr>
        <p:spPr>
          <a:xfrm>
            <a:off x="7002054" y="5397500"/>
            <a:ext cx="2167346" cy="669557"/>
          </a:xfrm>
          <a:prstGeom prst="ellipse">
            <a:avLst/>
          </a:prstGeom>
          <a:solidFill>
            <a:srgbClr val="BDE1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Campaigns &amp;Learning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47" name="Down Arrow 46"/>
          <p:cNvSpPr/>
          <p:nvPr/>
        </p:nvSpPr>
        <p:spPr>
          <a:xfrm rot="5400000">
            <a:off x="3519131" y="5851561"/>
            <a:ext cx="241090" cy="1164049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Down Arrow 47"/>
          <p:cNvSpPr/>
          <p:nvPr/>
        </p:nvSpPr>
        <p:spPr>
          <a:xfrm>
            <a:off x="5122244" y="5397500"/>
            <a:ext cx="211756" cy="716651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Curved Connector 49"/>
          <p:cNvCxnSpPr>
            <a:stCxn id="42" idx="3"/>
            <a:endCxn id="45" idx="4"/>
          </p:cNvCxnSpPr>
          <p:nvPr/>
        </p:nvCxnSpPr>
        <p:spPr>
          <a:xfrm flipV="1">
            <a:off x="6137183" y="6067057"/>
            <a:ext cx="1948544" cy="389001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5" idx="0"/>
            <a:endCxn id="40" idx="3"/>
          </p:cNvCxnSpPr>
          <p:nvPr/>
        </p:nvCxnSpPr>
        <p:spPr>
          <a:xfrm rot="16200000" flipV="1">
            <a:off x="6945680" y="4257452"/>
            <a:ext cx="309169" cy="1970927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/>
          <p:nvPr/>
        </p:nvCxnSpPr>
        <p:spPr>
          <a:xfrm rot="10800000" flipV="1">
            <a:off x="9670763" y="3602094"/>
            <a:ext cx="714579" cy="324319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Bent-Up Arrow 76"/>
          <p:cNvSpPr/>
          <p:nvPr/>
        </p:nvSpPr>
        <p:spPr>
          <a:xfrm rot="16200000" flipV="1">
            <a:off x="1691162" y="5567099"/>
            <a:ext cx="586858" cy="468000"/>
          </a:xfrm>
          <a:prstGeom prst="bentUp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88"/>
          <p:cNvGrpSpPr/>
          <p:nvPr/>
        </p:nvGrpSpPr>
        <p:grpSpPr>
          <a:xfrm>
            <a:off x="10398989" y="3317206"/>
            <a:ext cx="1600506" cy="1976695"/>
            <a:chOff x="10398989" y="4295768"/>
            <a:chExt cx="1600506" cy="1976695"/>
          </a:xfrm>
        </p:grpSpPr>
        <p:sp>
          <p:nvSpPr>
            <p:cNvPr id="44" name="Rectangle 43"/>
            <p:cNvSpPr/>
            <p:nvPr/>
          </p:nvSpPr>
          <p:spPr>
            <a:xfrm>
              <a:off x="10398989" y="4295768"/>
              <a:ext cx="1568421" cy="59707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Aggregate bureau data</a:t>
              </a:r>
              <a:endParaRPr lang="en-IN" sz="1600" dirty="0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0423053" y="4993600"/>
              <a:ext cx="1568421" cy="59707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Opportunity analysis</a:t>
              </a:r>
              <a:endParaRPr lang="en-IN" sz="1600" dirty="0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0431074" y="5675389"/>
              <a:ext cx="1568421" cy="59707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Internal segments</a:t>
              </a:r>
              <a:endParaRPr lang="en-IN" sz="1600" dirty="0"/>
            </a:p>
          </p:txBody>
        </p:sp>
      </p:grpSp>
      <p:cxnSp>
        <p:nvCxnSpPr>
          <p:cNvPr id="92" name="Elbow Connector 91"/>
          <p:cNvCxnSpPr/>
          <p:nvPr/>
        </p:nvCxnSpPr>
        <p:spPr>
          <a:xfrm rot="10800000">
            <a:off x="9691826" y="4214290"/>
            <a:ext cx="705852" cy="641681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/>
          <p:cNvCxnSpPr/>
          <p:nvPr/>
        </p:nvCxnSpPr>
        <p:spPr>
          <a:xfrm rot="10800000">
            <a:off x="9665369" y="4061891"/>
            <a:ext cx="757684" cy="278980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own Arrow 100"/>
          <p:cNvSpPr/>
          <p:nvPr/>
        </p:nvSpPr>
        <p:spPr>
          <a:xfrm>
            <a:off x="5083671" y="4224700"/>
            <a:ext cx="212229" cy="575899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ounded Rectangle 101"/>
          <p:cNvSpPr/>
          <p:nvPr/>
        </p:nvSpPr>
        <p:spPr>
          <a:xfrm>
            <a:off x="10299032" y="1780674"/>
            <a:ext cx="1652336" cy="1299410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i="1" dirty="0" smtClean="0">
                <a:solidFill>
                  <a:schemeClr val="tx1"/>
                </a:solidFill>
              </a:rPr>
              <a:t>Segment level info from Tata Motors</a:t>
            </a:r>
          </a:p>
          <a:p>
            <a:endParaRPr lang="en-US" sz="1100" b="1" i="1" dirty="0" smtClean="0">
              <a:solidFill>
                <a:schemeClr val="tx1"/>
              </a:solidFill>
            </a:endParaRPr>
          </a:p>
          <a:p>
            <a:r>
              <a:rPr lang="en-US" sz="1100" b="1" i="1" dirty="0" smtClean="0">
                <a:solidFill>
                  <a:schemeClr val="tx1"/>
                </a:solidFill>
              </a:rPr>
              <a:t>Power consumption data from Tata Power for Risk Assessment</a:t>
            </a:r>
            <a:endParaRPr lang="en-IN" sz="1100" b="1" i="1" dirty="0">
              <a:solidFill>
                <a:schemeClr val="tx1"/>
              </a:solidFill>
            </a:endParaRPr>
          </a:p>
        </p:txBody>
      </p:sp>
      <p:sp>
        <p:nvSpPr>
          <p:cNvPr id="103" name="Left Brace 102"/>
          <p:cNvSpPr/>
          <p:nvPr/>
        </p:nvSpPr>
        <p:spPr>
          <a:xfrm>
            <a:off x="9994231" y="1668379"/>
            <a:ext cx="465221" cy="1572127"/>
          </a:xfrm>
          <a:prstGeom prst="leftBrace">
            <a:avLst>
              <a:gd name="adj1" fmla="val 37365"/>
              <a:gd name="adj2" fmla="val 48979"/>
            </a:avLst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2279751" y="5320329"/>
            <a:ext cx="1775877" cy="542563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Cross-sell</a:t>
            </a:r>
            <a:endParaRPr lang="en-IN" sz="1600" dirty="0"/>
          </a:p>
        </p:txBody>
      </p:sp>
      <p:sp>
        <p:nvSpPr>
          <p:cNvPr id="31" name="Down Arrow 30"/>
          <p:cNvSpPr/>
          <p:nvPr/>
        </p:nvSpPr>
        <p:spPr>
          <a:xfrm rot="16200000">
            <a:off x="4476241" y="5124823"/>
            <a:ext cx="264975" cy="989806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8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Prospecting using One Tata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15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algn="just"/>
            <a:r>
              <a:rPr lang="en-IN" dirty="0" smtClean="0"/>
              <a:t>To drive </a:t>
            </a:r>
            <a:r>
              <a:rPr lang="en-IN" dirty="0"/>
              <a:t>unified data views  both  inside and </a:t>
            </a:r>
            <a:r>
              <a:rPr lang="en-IN" dirty="0" smtClean="0"/>
              <a:t>across </a:t>
            </a:r>
            <a:r>
              <a:rPr lang="en-IN" dirty="0"/>
              <a:t>clusters within the Tata group</a:t>
            </a:r>
          </a:p>
        </p:txBody>
      </p:sp>
      <p:cxnSp>
        <p:nvCxnSpPr>
          <p:cNvPr id="87" name="Straight Connector 86"/>
          <p:cNvCxnSpPr/>
          <p:nvPr/>
        </p:nvCxnSpPr>
        <p:spPr>
          <a:xfrm>
            <a:off x="493893" y="154502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213"/>
          <p:cNvSpPr>
            <a:spLocks noChangeArrowheads="1"/>
          </p:cNvSpPr>
          <p:nvPr/>
        </p:nvSpPr>
        <p:spPr bwMode="auto">
          <a:xfrm>
            <a:off x="208874" y="5636089"/>
            <a:ext cx="5199289" cy="307777"/>
          </a:xfrm>
          <a:prstGeom prst="rect">
            <a:avLst/>
          </a:prstGeom>
          <a:solidFill>
            <a:srgbClr val="002D72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b="1" dirty="0" smtClean="0">
                <a:solidFill>
                  <a:srgbClr val="FFFFFF"/>
                </a:solidFill>
                <a:latin typeface="+mj-lt"/>
              </a:rPr>
              <a:t>Challenges of Current State</a:t>
            </a:r>
            <a:endParaRPr lang="en-US"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03426" name="AutoShape 2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28" name="AutoShape 4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0" name="AutoShape 6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4" name="AutoShape 10" descr="Image result for word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6" name="AutoShape 12" descr="Image result for word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46" name="AutoShape 22" descr="Image result for medallia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" name="Group 105"/>
          <p:cNvGrpSpPr/>
          <p:nvPr/>
        </p:nvGrpSpPr>
        <p:grpSpPr>
          <a:xfrm>
            <a:off x="449943" y="1690699"/>
            <a:ext cx="4702632" cy="3733368"/>
            <a:chOff x="449943" y="1767546"/>
            <a:chExt cx="4702632" cy="3733368"/>
          </a:xfrm>
        </p:grpSpPr>
        <p:grpSp>
          <p:nvGrpSpPr>
            <p:cNvPr id="3" name="Group 102"/>
            <p:cNvGrpSpPr/>
            <p:nvPr/>
          </p:nvGrpSpPr>
          <p:grpSpPr>
            <a:xfrm>
              <a:off x="751603" y="4855027"/>
              <a:ext cx="4156728" cy="459963"/>
              <a:chOff x="751603" y="4855027"/>
              <a:chExt cx="4156728" cy="459963"/>
            </a:xfrm>
          </p:grpSpPr>
          <p:sp>
            <p:nvSpPr>
              <p:cNvPr id="74" name="Rounded Rectangle 73"/>
              <p:cNvSpPr/>
              <p:nvPr/>
            </p:nvSpPr>
            <p:spPr bwMode="auto">
              <a:xfrm>
                <a:off x="751603" y="4862281"/>
                <a:ext cx="757881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T1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5" name="Rounded Rectangle 74"/>
              <p:cNvSpPr/>
              <p:nvPr/>
            </p:nvSpPr>
            <p:spPr bwMode="auto">
              <a:xfrm>
                <a:off x="3206721" y="4855027"/>
                <a:ext cx="707129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T3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6" name="Rounded Rectangle 75"/>
              <p:cNvSpPr/>
              <p:nvPr/>
            </p:nvSpPr>
            <p:spPr bwMode="auto">
              <a:xfrm>
                <a:off x="2028172" y="4869546"/>
                <a:ext cx="737515" cy="445444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T2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9" name="Rounded Rectangle 88"/>
              <p:cNvSpPr/>
              <p:nvPr/>
            </p:nvSpPr>
            <p:spPr bwMode="auto">
              <a:xfrm>
                <a:off x="4164904" y="4862287"/>
                <a:ext cx="743427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T4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90" name="Rounded Rectangle 89"/>
            <p:cNvSpPr/>
            <p:nvPr/>
          </p:nvSpPr>
          <p:spPr bwMode="auto">
            <a:xfrm>
              <a:off x="711893" y="2054609"/>
              <a:ext cx="826621" cy="330341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1" name="Rounded Rectangle 90"/>
            <p:cNvSpPr/>
            <p:nvPr/>
          </p:nvSpPr>
          <p:spPr bwMode="auto">
            <a:xfrm>
              <a:off x="1897747" y="2054609"/>
              <a:ext cx="947059" cy="335922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2" name="Rounded Rectangle 91"/>
            <p:cNvSpPr/>
            <p:nvPr/>
          </p:nvSpPr>
          <p:spPr bwMode="auto">
            <a:xfrm>
              <a:off x="3122217" y="2054609"/>
              <a:ext cx="826621" cy="335922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3" name="Rounded Rectangle 92"/>
            <p:cNvSpPr/>
            <p:nvPr/>
          </p:nvSpPr>
          <p:spPr bwMode="auto">
            <a:xfrm>
              <a:off x="4108175" y="2054609"/>
              <a:ext cx="826621" cy="3351966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60" name="Rounded Rectangle 59"/>
            <p:cNvSpPr/>
            <p:nvPr/>
          </p:nvSpPr>
          <p:spPr bwMode="auto">
            <a:xfrm>
              <a:off x="671774" y="4419596"/>
              <a:ext cx="4321140" cy="341090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Lack of single golden source</a:t>
              </a:r>
              <a:endParaRPr lang="en-US" sz="1400" kern="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8" name="Rounded Rectangle 57"/>
            <p:cNvSpPr/>
            <p:nvPr/>
          </p:nvSpPr>
          <p:spPr bwMode="auto">
            <a:xfrm>
              <a:off x="664514" y="3918859"/>
              <a:ext cx="4313886" cy="319313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Lack of robust data infrastructure</a:t>
              </a:r>
              <a:endParaRPr lang="en-US" sz="1400" kern="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449943" y="4354287"/>
              <a:ext cx="4688112" cy="114662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457203" y="2619834"/>
              <a:ext cx="4688112" cy="166916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464463" y="1768451"/>
              <a:ext cx="4688112" cy="79531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 bwMode="gray">
            <a:xfrm>
              <a:off x="1755709" y="1767546"/>
              <a:ext cx="2353905" cy="416466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Autofit/>
            </a:bodyPr>
            <a:lstStyle/>
            <a:p>
              <a:pPr algn="ctr"/>
              <a:r>
                <a:rPr lang="en-IN" sz="1200" b="1" dirty="0"/>
                <a:t>Internal Data Store</a:t>
              </a:r>
            </a:p>
          </p:txBody>
        </p:sp>
      </p:grpSp>
      <p:sp>
        <p:nvSpPr>
          <p:cNvPr id="109" name="Isosceles Triangle 108"/>
          <p:cNvSpPr/>
          <p:nvPr/>
        </p:nvSpPr>
        <p:spPr bwMode="auto">
          <a:xfrm rot="5400000">
            <a:off x="4708719" y="3885012"/>
            <a:ext cx="2155250" cy="595643"/>
          </a:xfrm>
          <a:prstGeom prst="triangle">
            <a:avLst/>
          </a:prstGeom>
          <a:solidFill>
            <a:srgbClr val="BED8EC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prstClr val="black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8" name="Rounded Rectangle 117"/>
          <p:cNvSpPr/>
          <p:nvPr/>
        </p:nvSpPr>
        <p:spPr bwMode="auto">
          <a:xfrm>
            <a:off x="7227654" y="5588791"/>
            <a:ext cx="4737007" cy="181668"/>
          </a:xfrm>
          <a:prstGeom prst="roundRect">
            <a:avLst/>
          </a:prstGeom>
          <a:solidFill>
            <a:schemeClr val="accent6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One Tata View</a:t>
            </a:r>
            <a:endParaRPr lang="en-US" sz="1400" b="1" kern="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6" name="Group 104"/>
          <p:cNvGrpSpPr/>
          <p:nvPr/>
        </p:nvGrpSpPr>
        <p:grpSpPr>
          <a:xfrm>
            <a:off x="7134426" y="1959402"/>
            <a:ext cx="4504684" cy="464455"/>
            <a:chOff x="728526" y="2155374"/>
            <a:chExt cx="4271594" cy="464455"/>
          </a:xfrm>
          <a:noFill/>
        </p:grpSpPr>
        <p:sp>
          <p:nvSpPr>
            <p:cNvPr id="127" name="Rounded Rectangle 126"/>
            <p:cNvSpPr/>
            <p:nvPr/>
          </p:nvSpPr>
          <p:spPr bwMode="auto">
            <a:xfrm>
              <a:off x="728526" y="2169882"/>
              <a:ext cx="910284" cy="449947"/>
            </a:xfrm>
            <a:prstGeom prst="roundRect">
              <a:avLst/>
            </a:prstGeom>
            <a:grp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Business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Analysis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8" name="Rounded Rectangle 127"/>
            <p:cNvSpPr/>
            <p:nvPr/>
          </p:nvSpPr>
          <p:spPr bwMode="auto">
            <a:xfrm>
              <a:off x="1714538" y="2162628"/>
              <a:ext cx="1037754" cy="449947"/>
            </a:xfrm>
            <a:prstGeom prst="roundRect">
              <a:avLst/>
            </a:prstGeom>
            <a:grp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Campaign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9" name="Rounded Rectangle 128"/>
            <p:cNvSpPr/>
            <p:nvPr/>
          </p:nvSpPr>
          <p:spPr bwMode="auto">
            <a:xfrm>
              <a:off x="2828020" y="2155374"/>
              <a:ext cx="982888" cy="449947"/>
            </a:xfrm>
            <a:prstGeom prst="roundRect">
              <a:avLst/>
            </a:prstGeom>
            <a:grp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Predictive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Analytics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30" name="Rounded Rectangle 129"/>
            <p:cNvSpPr/>
            <p:nvPr/>
          </p:nvSpPr>
          <p:spPr bwMode="auto">
            <a:xfrm>
              <a:off x="3886637" y="2162634"/>
              <a:ext cx="1113483" cy="449947"/>
            </a:xfrm>
            <a:prstGeom prst="roundRect">
              <a:avLst/>
            </a:prstGeom>
            <a:grp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Quantitative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Sciences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124" name="Rounded Rectangle 123"/>
          <p:cNvSpPr/>
          <p:nvPr/>
        </p:nvSpPr>
        <p:spPr>
          <a:xfrm>
            <a:off x="6889531" y="2659098"/>
            <a:ext cx="5193363" cy="1460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Rounded Rectangle 124"/>
          <p:cNvSpPr/>
          <p:nvPr/>
        </p:nvSpPr>
        <p:spPr>
          <a:xfrm>
            <a:off x="6889531" y="1691605"/>
            <a:ext cx="5193363" cy="85138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 bwMode="gray">
          <a:xfrm>
            <a:off x="8179016" y="1769529"/>
            <a:ext cx="2353905" cy="41646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ctr"/>
            <a:endParaRPr lang="en-IN" sz="1200" b="1" dirty="0" smtClean="0">
              <a:latin typeface="+mj-lt"/>
            </a:endParaRPr>
          </a:p>
        </p:txBody>
      </p:sp>
      <p:sp>
        <p:nvSpPr>
          <p:cNvPr id="146" name="Rounded Rectangle 145"/>
          <p:cNvSpPr/>
          <p:nvPr/>
        </p:nvSpPr>
        <p:spPr bwMode="auto">
          <a:xfrm>
            <a:off x="7412366" y="4724043"/>
            <a:ext cx="3280994" cy="237879"/>
          </a:xfrm>
          <a:prstGeom prst="roundRect">
            <a:avLst/>
          </a:prstGeom>
          <a:solidFill>
            <a:srgbClr val="CC9B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Tata B2C</a:t>
            </a:r>
            <a:endParaRPr lang="en-US" sz="1400" b="1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0" name="Rectangle 86"/>
          <p:cNvSpPr>
            <a:spLocks noChangeArrowheads="1"/>
          </p:cNvSpPr>
          <p:nvPr/>
        </p:nvSpPr>
        <p:spPr bwMode="auto">
          <a:xfrm>
            <a:off x="7181724" y="3696059"/>
            <a:ext cx="4457386" cy="357333"/>
          </a:xfrm>
          <a:prstGeom prst="rect">
            <a:avLst/>
          </a:prstGeom>
          <a:solidFill>
            <a:srgbClr val="00B050"/>
          </a:solidFill>
          <a:ln w="12700" algn="ctr">
            <a:solidFill>
              <a:sysClr val="window" lastClr="FFFF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prstClr val="white"/>
                </a:solidFill>
                <a:latin typeface="+mj-lt"/>
              </a:rPr>
              <a:t>       CAD Ecosystem   –     Single  Data Source</a:t>
            </a:r>
          </a:p>
        </p:txBody>
      </p:sp>
      <p:sp>
        <p:nvSpPr>
          <p:cNvPr id="84" name="Can 83"/>
          <p:cNvSpPr/>
          <p:nvPr/>
        </p:nvSpPr>
        <p:spPr>
          <a:xfrm>
            <a:off x="925747" y="2053147"/>
            <a:ext cx="491320" cy="354842"/>
          </a:xfrm>
          <a:prstGeom prst="ca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Can 97"/>
          <p:cNvSpPr/>
          <p:nvPr/>
        </p:nvSpPr>
        <p:spPr>
          <a:xfrm>
            <a:off x="2190795" y="2065483"/>
            <a:ext cx="491320" cy="354842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1" name="Can 110"/>
          <p:cNvSpPr/>
          <p:nvPr/>
        </p:nvSpPr>
        <p:spPr>
          <a:xfrm>
            <a:off x="3317858" y="2069015"/>
            <a:ext cx="491320" cy="354842"/>
          </a:xfrm>
          <a:prstGeom prst="ca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0" name="Picture 6" descr="https://www.dunnhumby.com/sites/all/themes/dunnhumby/images/clients/big/tes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73" y="3410824"/>
            <a:ext cx="437286" cy="43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Can 133"/>
          <p:cNvSpPr/>
          <p:nvPr/>
        </p:nvSpPr>
        <p:spPr>
          <a:xfrm>
            <a:off x="4290957" y="2053971"/>
            <a:ext cx="491320" cy="354842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Can 134"/>
          <p:cNvSpPr/>
          <p:nvPr/>
        </p:nvSpPr>
        <p:spPr>
          <a:xfrm>
            <a:off x="884882" y="2770476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2" name="Picture 8" descr="http://upload.wikimedia.org/wikipedia/en/4/43/Dunnhumb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70" y="2960272"/>
            <a:ext cx="533463" cy="14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10" descr="http://cp2013.a4cp.org/sites/default/files/styles/sponsor_frontpage/public/FICO-logo-trans_0.png?itok=zi9xG9hz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679" y="2834790"/>
            <a:ext cx="378378" cy="37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Can 143"/>
          <p:cNvSpPr/>
          <p:nvPr/>
        </p:nvSpPr>
        <p:spPr>
          <a:xfrm>
            <a:off x="884881" y="3348214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Can 144"/>
          <p:cNvSpPr/>
          <p:nvPr/>
        </p:nvSpPr>
        <p:spPr>
          <a:xfrm>
            <a:off x="2146695" y="2779300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Can 146"/>
          <p:cNvSpPr/>
          <p:nvPr/>
        </p:nvSpPr>
        <p:spPr>
          <a:xfrm>
            <a:off x="2132126" y="3341724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8" name="Picture 14" descr="http://openmarkets.in/wp-content/uploads/2012/03/323px-CRISIL_logo.svg_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112" y="3464891"/>
            <a:ext cx="456697" cy="25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Can 148"/>
          <p:cNvSpPr/>
          <p:nvPr/>
        </p:nvSpPr>
        <p:spPr>
          <a:xfrm>
            <a:off x="3245055" y="2758274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Can 149"/>
          <p:cNvSpPr/>
          <p:nvPr/>
        </p:nvSpPr>
        <p:spPr>
          <a:xfrm>
            <a:off x="3271327" y="3367888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Can 152"/>
          <p:cNvSpPr/>
          <p:nvPr/>
        </p:nvSpPr>
        <p:spPr>
          <a:xfrm>
            <a:off x="4233053" y="2784546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Can 154"/>
          <p:cNvSpPr/>
          <p:nvPr/>
        </p:nvSpPr>
        <p:spPr>
          <a:xfrm>
            <a:off x="4233053" y="3367888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6" name="Picture 8" descr="http://spinnakr.com/blog/wp-content/uploads/2014/03/nielse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704" y="3432763"/>
            <a:ext cx="441963" cy="44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10" descr="http://cp2013.a4cp.org/sites/default/files/styles/sponsor_frontpage/public/FICO-logo-trans_0.png?itok=zi9xG9hz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428" y="2850332"/>
            <a:ext cx="378378" cy="37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Picture 8" descr="http://upload.wikimedia.org/wikipedia/en/4/43/Dunnhumb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020" y="2955871"/>
            <a:ext cx="533463" cy="14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Picture 6" descr="https://www.dunnhumby.com/sites/all/themes/dunnhumby/images/clients/big/tes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974" y="3414482"/>
            <a:ext cx="437286" cy="43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" name="TextBox 165"/>
          <p:cNvSpPr txBox="1"/>
          <p:nvPr/>
        </p:nvSpPr>
        <p:spPr bwMode="gray">
          <a:xfrm>
            <a:off x="1747935" y="2516195"/>
            <a:ext cx="2353905" cy="41646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ctr"/>
            <a:r>
              <a:rPr lang="en-IN" sz="1200" b="1" dirty="0" smtClean="0"/>
              <a:t>External Data Store</a:t>
            </a:r>
            <a:endParaRPr lang="en-IN" sz="1200" b="1" dirty="0"/>
          </a:p>
        </p:txBody>
      </p:sp>
      <p:sp>
        <p:nvSpPr>
          <p:cNvPr id="167" name="Can 166"/>
          <p:cNvSpPr/>
          <p:nvPr/>
        </p:nvSpPr>
        <p:spPr>
          <a:xfrm>
            <a:off x="7419029" y="2049499"/>
            <a:ext cx="491320" cy="354842"/>
          </a:xfrm>
          <a:prstGeom prst="ca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Can 168"/>
          <p:cNvSpPr/>
          <p:nvPr/>
        </p:nvSpPr>
        <p:spPr>
          <a:xfrm>
            <a:off x="8506031" y="2044458"/>
            <a:ext cx="491320" cy="354842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0" name="Can 169"/>
          <p:cNvSpPr/>
          <p:nvPr/>
        </p:nvSpPr>
        <p:spPr>
          <a:xfrm>
            <a:off x="9650912" y="2047989"/>
            <a:ext cx="491320" cy="354842"/>
          </a:xfrm>
          <a:prstGeom prst="ca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1" name="Can 170"/>
          <p:cNvSpPr/>
          <p:nvPr/>
        </p:nvSpPr>
        <p:spPr>
          <a:xfrm>
            <a:off x="10794451" y="2047989"/>
            <a:ext cx="491320" cy="354842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Rectangle 171"/>
          <p:cNvSpPr/>
          <p:nvPr/>
        </p:nvSpPr>
        <p:spPr>
          <a:xfrm>
            <a:off x="7181724" y="2761426"/>
            <a:ext cx="4457386" cy="8681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Can 172"/>
          <p:cNvSpPr/>
          <p:nvPr/>
        </p:nvSpPr>
        <p:spPr>
          <a:xfrm>
            <a:off x="7968243" y="2858191"/>
            <a:ext cx="491320" cy="437843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" name="Can 174"/>
          <p:cNvSpPr/>
          <p:nvPr/>
        </p:nvSpPr>
        <p:spPr>
          <a:xfrm>
            <a:off x="8553450" y="2861689"/>
            <a:ext cx="491320" cy="437843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6" name="Picture 8" descr="http://spinnakr.com/blog/wp-content/uploads/2014/03/nielse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010" y="2865620"/>
            <a:ext cx="441963" cy="54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7" name="Can 176"/>
          <p:cNvSpPr/>
          <p:nvPr/>
        </p:nvSpPr>
        <p:spPr>
          <a:xfrm>
            <a:off x="10420683" y="2862539"/>
            <a:ext cx="491320" cy="437843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8" name="Picture 10" descr="http://cp2013.a4cp.org/sites/default/files/styles/sponsor_frontpage/public/FICO-logo-trans_0.png?itok=zi9xG9hz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210" y="2947600"/>
            <a:ext cx="269799" cy="33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" name="Can 178"/>
          <p:cNvSpPr/>
          <p:nvPr/>
        </p:nvSpPr>
        <p:spPr>
          <a:xfrm>
            <a:off x="11007400" y="2861078"/>
            <a:ext cx="556742" cy="439061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0" name="Picture 14" descr="http://openmarkets.in/wp-content/uploads/2012/03/323px-CRISIL_logo.svg_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802" y="2916460"/>
            <a:ext cx="456697" cy="31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110" y="2853307"/>
            <a:ext cx="682133" cy="524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2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134" y="2870460"/>
            <a:ext cx="569656" cy="388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3" name="Can 182"/>
          <p:cNvSpPr/>
          <p:nvPr/>
        </p:nvSpPr>
        <p:spPr>
          <a:xfrm>
            <a:off x="9159592" y="2858125"/>
            <a:ext cx="491320" cy="437843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4" name="Picture 6" descr="https://www.dunnhumby.com/sites/all/themes/dunnhumby/images/clients/big/tes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717" y="2873345"/>
            <a:ext cx="437286" cy="53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Picture 8" descr="http://upload.wikimedia.org/wikipedia/en/4/43/Dunnhumb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1858" y="3016408"/>
            <a:ext cx="533463" cy="17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" name="Rounded Rectangle 193"/>
          <p:cNvSpPr/>
          <p:nvPr/>
        </p:nvSpPr>
        <p:spPr bwMode="auto">
          <a:xfrm>
            <a:off x="8494348" y="5026179"/>
            <a:ext cx="3352178" cy="263472"/>
          </a:xfrm>
          <a:prstGeom prst="roundRect">
            <a:avLst/>
          </a:prstGeom>
          <a:solidFill>
            <a:srgbClr val="CC9B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Tata B2B</a:t>
            </a:r>
            <a:endParaRPr lang="en-US" sz="1400" b="1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6889531" y="4161325"/>
            <a:ext cx="5193363" cy="16860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 bwMode="gray">
          <a:xfrm>
            <a:off x="7419029" y="2163611"/>
            <a:ext cx="506121" cy="2082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/>
              <a:t>T1</a:t>
            </a:r>
          </a:p>
        </p:txBody>
      </p:sp>
      <p:sp>
        <p:nvSpPr>
          <p:cNvPr id="199" name="TextBox 198"/>
          <p:cNvSpPr txBox="1"/>
          <p:nvPr/>
        </p:nvSpPr>
        <p:spPr bwMode="gray">
          <a:xfrm>
            <a:off x="8538649" y="2183956"/>
            <a:ext cx="506121" cy="2082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/>
              <a:t>T2</a:t>
            </a:r>
          </a:p>
        </p:txBody>
      </p:sp>
      <p:sp>
        <p:nvSpPr>
          <p:cNvPr id="200" name="TextBox 199"/>
          <p:cNvSpPr txBox="1"/>
          <p:nvPr/>
        </p:nvSpPr>
        <p:spPr bwMode="gray">
          <a:xfrm>
            <a:off x="9643511" y="2163610"/>
            <a:ext cx="506121" cy="2082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/>
              <a:t>T3</a:t>
            </a:r>
          </a:p>
        </p:txBody>
      </p:sp>
      <p:sp>
        <p:nvSpPr>
          <p:cNvPr id="202" name="TextBox 201"/>
          <p:cNvSpPr txBox="1"/>
          <p:nvPr/>
        </p:nvSpPr>
        <p:spPr bwMode="gray">
          <a:xfrm>
            <a:off x="10778797" y="2159209"/>
            <a:ext cx="506121" cy="2082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/>
              <a:t>T4</a:t>
            </a:r>
          </a:p>
        </p:txBody>
      </p:sp>
      <p:sp>
        <p:nvSpPr>
          <p:cNvPr id="204" name="Rectangle 203"/>
          <p:cNvSpPr>
            <a:spLocks noChangeArrowheads="1"/>
          </p:cNvSpPr>
          <p:nvPr/>
        </p:nvSpPr>
        <p:spPr bwMode="auto">
          <a:xfrm>
            <a:off x="6883605" y="5894631"/>
            <a:ext cx="5199289" cy="307777"/>
          </a:xfrm>
          <a:prstGeom prst="rect">
            <a:avLst/>
          </a:prstGeom>
          <a:solidFill>
            <a:srgbClr val="002D72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b="1" dirty="0" smtClean="0">
                <a:solidFill>
                  <a:srgbClr val="FFFFFF"/>
                </a:solidFill>
                <a:latin typeface="+mj-lt"/>
              </a:rPr>
              <a:t>Benefits of Desired State</a:t>
            </a:r>
            <a:endParaRPr lang="en-US"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05" name="TextBox 204"/>
          <p:cNvSpPr txBox="1"/>
          <p:nvPr/>
        </p:nvSpPr>
        <p:spPr bwMode="gray">
          <a:xfrm>
            <a:off x="298530" y="6075564"/>
            <a:ext cx="4405955" cy="61111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Redundant costs – Data store, infrastructure, network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No Common platform to generate insights across clusters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Opportunity Costs – Lost sales ,  ineffective campaigns</a:t>
            </a:r>
          </a:p>
        </p:txBody>
      </p:sp>
      <p:sp>
        <p:nvSpPr>
          <p:cNvPr id="206" name="TextBox 205"/>
          <p:cNvSpPr txBox="1"/>
          <p:nvPr/>
        </p:nvSpPr>
        <p:spPr bwMode="gray">
          <a:xfrm>
            <a:off x="6974032" y="6242664"/>
            <a:ext cx="4834336" cy="61111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Economies of scale – Drive to common data infrastructure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Centralised Data Management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Collective Insight Generation</a:t>
            </a:r>
          </a:p>
        </p:txBody>
      </p:sp>
      <p:sp>
        <p:nvSpPr>
          <p:cNvPr id="207" name="Up-Down Arrow 206"/>
          <p:cNvSpPr/>
          <p:nvPr/>
        </p:nvSpPr>
        <p:spPr>
          <a:xfrm>
            <a:off x="7534936" y="2423755"/>
            <a:ext cx="261440" cy="335508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Up-Down Arrow 207"/>
          <p:cNvSpPr/>
          <p:nvPr/>
        </p:nvSpPr>
        <p:spPr>
          <a:xfrm>
            <a:off x="8678755" y="2434968"/>
            <a:ext cx="261440" cy="335508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Up-Down Arrow 208"/>
          <p:cNvSpPr/>
          <p:nvPr/>
        </p:nvSpPr>
        <p:spPr>
          <a:xfrm>
            <a:off x="9784644" y="2430204"/>
            <a:ext cx="261440" cy="335508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Up-Down Arrow 209"/>
          <p:cNvSpPr/>
          <p:nvPr/>
        </p:nvSpPr>
        <p:spPr>
          <a:xfrm>
            <a:off x="10912003" y="2441136"/>
            <a:ext cx="261440" cy="335508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258366" y="4500890"/>
            <a:ext cx="953828" cy="1829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</a:rPr>
              <a:t>Retail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8335478" y="4485372"/>
            <a:ext cx="1472665" cy="2021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bg1"/>
                </a:solidFill>
              </a:rPr>
              <a:t>Finance Cluster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9932032" y="4500890"/>
            <a:ext cx="953828" cy="1830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</a:rPr>
              <a:t>Hospitality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10931540" y="4503966"/>
            <a:ext cx="953828" cy="1798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</a:rPr>
              <a:t>Utilities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15" name="Rounded Rectangle 214"/>
          <p:cNvSpPr/>
          <p:nvPr/>
        </p:nvSpPr>
        <p:spPr bwMode="auto">
          <a:xfrm>
            <a:off x="7181724" y="4245909"/>
            <a:ext cx="3597074" cy="737981"/>
          </a:xfrm>
          <a:prstGeom prst="roundRect">
            <a:avLst/>
          </a:prstGeom>
          <a:noFill/>
          <a:ln w="3175" cap="flat" cmpd="sng" algn="ctr">
            <a:solidFill>
              <a:srgbClr val="00308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u="sng" kern="0" dirty="0">
              <a:solidFill>
                <a:srgbClr val="003082"/>
              </a:solidFill>
              <a:latin typeface="+mj-lt"/>
              <a:cs typeface="Arial" pitchFamily="34" charset="0"/>
            </a:endParaRPr>
          </a:p>
        </p:txBody>
      </p:sp>
      <p:sp>
        <p:nvSpPr>
          <p:cNvPr id="217" name="Rounded Rectangle 216"/>
          <p:cNvSpPr/>
          <p:nvPr/>
        </p:nvSpPr>
        <p:spPr bwMode="auto">
          <a:xfrm>
            <a:off x="8422143" y="4342750"/>
            <a:ext cx="3496588" cy="986978"/>
          </a:xfrm>
          <a:prstGeom prst="roundRect">
            <a:avLst/>
          </a:prstGeom>
          <a:noFill/>
          <a:ln w="3175" cap="flat" cmpd="sng" algn="ctr">
            <a:solidFill>
              <a:srgbClr val="00308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u="sng" kern="0" dirty="0">
              <a:solidFill>
                <a:srgbClr val="003082"/>
              </a:solidFill>
              <a:latin typeface="+mj-lt"/>
              <a:cs typeface="Arial" pitchFamily="34" charset="0"/>
            </a:endParaRPr>
          </a:p>
        </p:txBody>
      </p:sp>
      <p:sp>
        <p:nvSpPr>
          <p:cNvPr id="218" name="Up-Down Arrow 217"/>
          <p:cNvSpPr/>
          <p:nvPr/>
        </p:nvSpPr>
        <p:spPr>
          <a:xfrm>
            <a:off x="7567221" y="4983890"/>
            <a:ext cx="258029" cy="620667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Up-Down Arrow 20"/>
          <p:cNvSpPr/>
          <p:nvPr/>
        </p:nvSpPr>
        <p:spPr>
          <a:xfrm>
            <a:off x="9863474" y="5313962"/>
            <a:ext cx="162488" cy="306361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/>
          <p:cNvSpPr/>
          <p:nvPr/>
        </p:nvSpPr>
        <p:spPr>
          <a:xfrm>
            <a:off x="8210348" y="4321744"/>
            <a:ext cx="1694047" cy="44276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ight Arrow 107"/>
          <p:cNvSpPr/>
          <p:nvPr/>
        </p:nvSpPr>
        <p:spPr>
          <a:xfrm>
            <a:off x="6275670" y="4186990"/>
            <a:ext cx="2030930" cy="3368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</a:rPr>
              <a:t>Near Term Focus</a:t>
            </a:r>
            <a:endParaRPr lang="en-IN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31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Up Arrow 47"/>
          <p:cNvSpPr/>
          <p:nvPr/>
        </p:nvSpPr>
        <p:spPr>
          <a:xfrm rot="5400000">
            <a:off x="2873938" y="2452203"/>
            <a:ext cx="484632" cy="1879104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Sales Management Framework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6" y="1104542"/>
            <a:ext cx="11663643" cy="582362"/>
          </a:xfrm>
        </p:spPr>
        <p:txBody>
          <a:bodyPr>
            <a:normAutofit fontScale="92500" lnSpcReduction="10000"/>
          </a:bodyPr>
          <a:lstStyle/>
          <a:p>
            <a:pPr eaLnBrk="0" hangingPunct="0"/>
            <a:r>
              <a:rPr lang="en-US" dirty="0" smtClean="0">
                <a:latin typeface="+mj-lt"/>
              </a:rPr>
              <a:t>Maximize the profitability and increase the operational efficiency by optimizing sales force deployment across regions</a:t>
            </a:r>
            <a:endParaRPr lang="en-US" dirty="0">
              <a:latin typeface="+mj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68947" y="161015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 bwMode="gray">
          <a:xfrm>
            <a:off x="1111347" y="1689655"/>
            <a:ext cx="10803987" cy="404616"/>
          </a:xfrm>
          <a:prstGeom prst="rect">
            <a:avLst/>
          </a:prstGeom>
          <a:solidFill>
            <a:srgbClr val="26B3FE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2000" b="1" dirty="0" smtClean="0">
                <a:solidFill>
                  <a:schemeClr val="bg1"/>
                </a:solidFill>
              </a:rPr>
              <a:t>Concept and Approach</a:t>
            </a:r>
          </a:p>
        </p:txBody>
      </p:sp>
      <p:sp>
        <p:nvSpPr>
          <p:cNvPr id="45" name="Oval 44"/>
          <p:cNvSpPr/>
          <p:nvPr/>
        </p:nvSpPr>
        <p:spPr>
          <a:xfrm>
            <a:off x="1358903" y="3081127"/>
            <a:ext cx="745435" cy="62616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46" name="Oval 45"/>
          <p:cNvSpPr/>
          <p:nvPr/>
        </p:nvSpPr>
        <p:spPr>
          <a:xfrm>
            <a:off x="4252894" y="3081127"/>
            <a:ext cx="745435" cy="62616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47" name="Oval 46"/>
          <p:cNvSpPr/>
          <p:nvPr/>
        </p:nvSpPr>
        <p:spPr>
          <a:xfrm>
            <a:off x="7593412" y="3081127"/>
            <a:ext cx="745435" cy="62616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49" name="Up Arrow 48"/>
          <p:cNvSpPr/>
          <p:nvPr/>
        </p:nvSpPr>
        <p:spPr>
          <a:xfrm rot="5400000">
            <a:off x="6004081" y="2257991"/>
            <a:ext cx="494907" cy="2304310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 Box 34"/>
          <p:cNvSpPr txBox="1">
            <a:spLocks noChangeArrowheads="1"/>
          </p:cNvSpPr>
          <p:nvPr/>
        </p:nvSpPr>
        <p:spPr bwMode="auto">
          <a:xfrm>
            <a:off x="1570629" y="2636116"/>
            <a:ext cx="29475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1400" dirty="0">
                <a:latin typeface="+mj-lt"/>
              </a:rPr>
              <a:t>Analyze product penetration</a:t>
            </a:r>
          </a:p>
        </p:txBody>
      </p:sp>
      <p:sp>
        <p:nvSpPr>
          <p:cNvPr id="51" name="Text Box 34"/>
          <p:cNvSpPr txBox="1">
            <a:spLocks noChangeArrowheads="1"/>
          </p:cNvSpPr>
          <p:nvPr/>
        </p:nvSpPr>
        <p:spPr bwMode="auto">
          <a:xfrm>
            <a:off x="5705325" y="2695108"/>
            <a:ext cx="39977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1400" dirty="0" smtClean="0">
                <a:latin typeface="+mj-lt"/>
              </a:rPr>
              <a:t>DSA Concentration/Productivity Trend</a:t>
            </a:r>
            <a:endParaRPr lang="en-US" sz="1400" dirty="0">
              <a:latin typeface="+mj-lt"/>
            </a:endParaRPr>
          </a:p>
        </p:txBody>
      </p:sp>
      <p:sp>
        <p:nvSpPr>
          <p:cNvPr id="52" name="Text Box 34"/>
          <p:cNvSpPr txBox="1">
            <a:spLocks noChangeArrowheads="1"/>
          </p:cNvSpPr>
          <p:nvPr/>
        </p:nvSpPr>
        <p:spPr bwMode="auto">
          <a:xfrm>
            <a:off x="1108533" y="3721830"/>
            <a:ext cx="27255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1400" dirty="0" smtClean="0">
                <a:latin typeface="+mj-lt"/>
              </a:rPr>
              <a:t>Identify areas of </a:t>
            </a:r>
          </a:p>
          <a:p>
            <a:pPr eaLnBrk="0" hangingPunct="0"/>
            <a:r>
              <a:rPr lang="en-US" sz="1400" dirty="0" smtClean="0">
                <a:latin typeface="+mj-lt"/>
              </a:rPr>
              <a:t>opportunity</a:t>
            </a:r>
            <a:endParaRPr lang="en-US" sz="1400" dirty="0">
              <a:latin typeface="+mj-lt"/>
            </a:endParaRP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2844423" y="3705267"/>
            <a:ext cx="360790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400" dirty="0" smtClean="0">
                <a:latin typeface="+mj-lt"/>
              </a:rPr>
              <a:t>Analyze market opportunity 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relative to product penetration per district/city</a:t>
            </a:r>
            <a:endParaRPr lang="en-US" sz="1400" dirty="0">
              <a:latin typeface="+mj-lt"/>
            </a:endParaRPr>
          </a:p>
        </p:txBody>
      </p:sp>
      <p:sp>
        <p:nvSpPr>
          <p:cNvPr id="54" name="Text Box 34"/>
          <p:cNvSpPr txBox="1">
            <a:spLocks noChangeArrowheads="1"/>
          </p:cNvSpPr>
          <p:nvPr/>
        </p:nvSpPr>
        <p:spPr bwMode="auto">
          <a:xfrm>
            <a:off x="6461345" y="3687975"/>
            <a:ext cx="360790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400" dirty="0" smtClean="0">
                <a:latin typeface="+mj-lt"/>
              </a:rPr>
              <a:t>Leads optimization 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at DSA level &amp;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Sales optimization   </a:t>
            </a:r>
            <a:endParaRPr lang="en-US" sz="1400" dirty="0">
              <a:latin typeface="+mj-lt"/>
            </a:endParaRPr>
          </a:p>
        </p:txBody>
      </p:sp>
      <p:sp>
        <p:nvSpPr>
          <p:cNvPr id="55" name="AutoShape 28"/>
          <p:cNvSpPr>
            <a:spLocks noChangeArrowheads="1"/>
          </p:cNvSpPr>
          <p:nvPr/>
        </p:nvSpPr>
        <p:spPr bwMode="auto">
          <a:xfrm>
            <a:off x="1337621" y="4399865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018135" y="5298275"/>
            <a:ext cx="16962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 Opportunity Grid</a:t>
            </a:r>
            <a:endParaRPr lang="en-IN" sz="1400" dirty="0">
              <a:latin typeface="+mj-lt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312221" y="5312343"/>
            <a:ext cx="19303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Product Penetration</a:t>
            </a:r>
            <a:endParaRPr lang="en-IN" sz="1400" dirty="0">
              <a:latin typeface="+mj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349875" y="5157595"/>
            <a:ext cx="1882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Sales and Resource</a:t>
            </a:r>
          </a:p>
          <a:p>
            <a:pPr algn="ctr"/>
            <a:r>
              <a:rPr lang="en-US" sz="1400" dirty="0" smtClean="0">
                <a:latin typeface="+mj-lt"/>
              </a:rPr>
              <a:t> Optimization</a:t>
            </a:r>
            <a:endParaRPr lang="en-IN" sz="1400" dirty="0">
              <a:latin typeface="+mj-lt"/>
            </a:endParaRPr>
          </a:p>
        </p:txBody>
      </p:sp>
      <p:sp>
        <p:nvSpPr>
          <p:cNvPr id="70" name="Up Arrow 69"/>
          <p:cNvSpPr/>
          <p:nvPr/>
        </p:nvSpPr>
        <p:spPr>
          <a:xfrm rot="5400000">
            <a:off x="9217556" y="449177"/>
            <a:ext cx="484632" cy="3964881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Up Arrow 71"/>
          <p:cNvSpPr/>
          <p:nvPr/>
        </p:nvSpPr>
        <p:spPr>
          <a:xfrm rot="16200000">
            <a:off x="2983174" y="568911"/>
            <a:ext cx="484632" cy="3843400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/>
          <p:cNvSpPr/>
          <p:nvPr/>
        </p:nvSpPr>
        <p:spPr>
          <a:xfrm>
            <a:off x="5108140" y="2290178"/>
            <a:ext cx="2223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Arial" pitchFamily="34" charset="0"/>
              </a:rPr>
              <a:t>Dynamic Modeling</a:t>
            </a:r>
            <a:endParaRPr lang="en-IN" b="1" dirty="0"/>
          </a:p>
        </p:txBody>
      </p:sp>
      <p:sp>
        <p:nvSpPr>
          <p:cNvPr id="74" name="Rectangle 38"/>
          <p:cNvSpPr>
            <a:spLocks noChangeArrowheads="1"/>
          </p:cNvSpPr>
          <p:nvPr/>
        </p:nvSpPr>
        <p:spPr bwMode="auto">
          <a:xfrm>
            <a:off x="124164" y="2194560"/>
            <a:ext cx="860574" cy="33950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1400" b="1" dirty="0" smtClean="0">
                <a:solidFill>
                  <a:schemeClr val="lt1"/>
                </a:solidFill>
              </a:rPr>
              <a:t>CUSTOMERS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50029" y="6473862"/>
            <a:ext cx="1980000" cy="3244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Reports</a:t>
            </a:r>
            <a:endParaRPr lang="en-IN" sz="1400" b="1" dirty="0" smtClean="0"/>
          </a:p>
        </p:txBody>
      </p:sp>
      <p:sp>
        <p:nvSpPr>
          <p:cNvPr id="32" name="AutoShape 28"/>
          <p:cNvSpPr>
            <a:spLocks noChangeArrowheads="1"/>
          </p:cNvSpPr>
          <p:nvPr/>
        </p:nvSpPr>
        <p:spPr bwMode="auto">
          <a:xfrm>
            <a:off x="4198528" y="4438365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3" name="AutoShape 28"/>
          <p:cNvSpPr>
            <a:spLocks noChangeArrowheads="1"/>
          </p:cNvSpPr>
          <p:nvPr/>
        </p:nvSpPr>
        <p:spPr bwMode="auto">
          <a:xfrm>
            <a:off x="7686384" y="4480262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069145" y="2145325"/>
            <a:ext cx="6105378" cy="348855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/>
          <p:cNvSpPr/>
          <p:nvPr/>
        </p:nvSpPr>
        <p:spPr>
          <a:xfrm>
            <a:off x="7340991" y="2142981"/>
            <a:ext cx="4588412" cy="350565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/>
          <p:cNvSpPr txBox="1"/>
          <p:nvPr/>
        </p:nvSpPr>
        <p:spPr bwMode="gray">
          <a:xfrm>
            <a:off x="1037979" y="5727387"/>
            <a:ext cx="6121796" cy="237315"/>
          </a:xfrm>
          <a:prstGeom prst="rect">
            <a:avLst/>
          </a:prstGeom>
          <a:solidFill>
            <a:srgbClr val="26B3FE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600" b="1" dirty="0" smtClean="0">
                <a:solidFill>
                  <a:schemeClr val="bg1"/>
                </a:solidFill>
              </a:rPr>
              <a:t>Quick Win</a:t>
            </a:r>
          </a:p>
        </p:txBody>
      </p:sp>
      <p:sp>
        <p:nvSpPr>
          <p:cNvPr id="38" name="TextBox 37"/>
          <p:cNvSpPr txBox="1"/>
          <p:nvPr/>
        </p:nvSpPr>
        <p:spPr bwMode="gray">
          <a:xfrm>
            <a:off x="7359444" y="5710975"/>
            <a:ext cx="4598093" cy="261898"/>
          </a:xfrm>
          <a:prstGeom prst="rect">
            <a:avLst/>
          </a:prstGeom>
          <a:solidFill>
            <a:srgbClr val="26B3FE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600" b="1" dirty="0" smtClean="0">
                <a:solidFill>
                  <a:schemeClr val="bg1"/>
                </a:solidFill>
              </a:rPr>
              <a:t>Foundation</a:t>
            </a:r>
          </a:p>
        </p:txBody>
      </p:sp>
      <p:sp>
        <p:nvSpPr>
          <p:cNvPr id="39" name="Oval 38"/>
          <p:cNvSpPr/>
          <p:nvPr/>
        </p:nvSpPr>
        <p:spPr>
          <a:xfrm>
            <a:off x="10765803" y="3041799"/>
            <a:ext cx="745435" cy="62616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40" name="Up Arrow 39"/>
          <p:cNvSpPr/>
          <p:nvPr/>
        </p:nvSpPr>
        <p:spPr>
          <a:xfrm rot="5400000">
            <a:off x="9267031" y="2203914"/>
            <a:ext cx="494907" cy="2304310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utoShape 5"/>
          <p:cNvSpPr>
            <a:spLocks noChangeAspect="1" noChangeArrowheads="1"/>
          </p:cNvSpPr>
          <p:nvPr/>
        </p:nvSpPr>
        <p:spPr bwMode="auto">
          <a:xfrm rot="10800000">
            <a:off x="1029008" y="6005285"/>
            <a:ext cx="10928530" cy="401637"/>
          </a:xfrm>
          <a:prstGeom prst="triangle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 type="none" w="sm" len="sm"/>
            <a:tailEnd type="none" w="med" len="lg"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endParaRPr lang="en-IN"/>
          </a:p>
        </p:txBody>
      </p:sp>
      <p:sp>
        <p:nvSpPr>
          <p:cNvPr id="44" name="Rounded Rectangle 43"/>
          <p:cNvSpPr/>
          <p:nvPr/>
        </p:nvSpPr>
        <p:spPr>
          <a:xfrm>
            <a:off x="938022" y="6463346"/>
            <a:ext cx="1980000" cy="3244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Predictive Models</a:t>
            </a:r>
            <a:endParaRPr lang="en-IN" sz="1400" b="1" dirty="0" smtClean="0"/>
          </a:p>
        </p:txBody>
      </p:sp>
      <p:sp>
        <p:nvSpPr>
          <p:cNvPr id="59" name="Rounded Rectangle 58"/>
          <p:cNvSpPr/>
          <p:nvPr/>
        </p:nvSpPr>
        <p:spPr>
          <a:xfrm>
            <a:off x="7132352" y="6474543"/>
            <a:ext cx="1980000" cy="3244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Dashboards</a:t>
            </a:r>
            <a:endParaRPr lang="en-IN" sz="1400" b="1" dirty="0" smtClean="0"/>
          </a:p>
        </p:txBody>
      </p:sp>
      <p:sp>
        <p:nvSpPr>
          <p:cNvPr id="60" name="Rounded Rectangle 59"/>
          <p:cNvSpPr/>
          <p:nvPr/>
        </p:nvSpPr>
        <p:spPr>
          <a:xfrm>
            <a:off x="9872823" y="6443687"/>
            <a:ext cx="1980000" cy="3244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Campaigns</a:t>
            </a:r>
            <a:endParaRPr lang="en-IN" sz="1400" b="1" dirty="0" smtClean="0"/>
          </a:p>
        </p:txBody>
      </p:sp>
      <p:sp>
        <p:nvSpPr>
          <p:cNvPr id="61" name="Text Box 34"/>
          <p:cNvSpPr txBox="1">
            <a:spLocks noChangeArrowheads="1"/>
          </p:cNvSpPr>
          <p:nvPr/>
        </p:nvSpPr>
        <p:spPr bwMode="auto">
          <a:xfrm>
            <a:off x="9338725" y="3680867"/>
            <a:ext cx="360790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400" dirty="0" smtClean="0">
                <a:latin typeface="+mj-lt"/>
              </a:rPr>
              <a:t>Sales Funnel 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&amp; 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Simulation   </a:t>
            </a:r>
            <a:endParaRPr lang="en-US" sz="1400" dirty="0">
              <a:latin typeface="+mj-lt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0128779" y="5267791"/>
            <a:ext cx="18774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Conversion Analysis</a:t>
            </a:r>
            <a:endParaRPr lang="en-IN" sz="1400" dirty="0">
              <a:latin typeface="+mj-lt"/>
            </a:endParaRPr>
          </a:p>
        </p:txBody>
      </p:sp>
      <p:sp>
        <p:nvSpPr>
          <p:cNvPr id="63" name="AutoShape 28"/>
          <p:cNvSpPr>
            <a:spLocks noChangeArrowheads="1"/>
          </p:cNvSpPr>
          <p:nvPr/>
        </p:nvSpPr>
        <p:spPr bwMode="auto">
          <a:xfrm>
            <a:off x="10704444" y="4491982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8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264344" y="2439252"/>
            <a:ext cx="2520000" cy="42429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/>
          <p:cNvSpPr/>
          <p:nvPr/>
        </p:nvSpPr>
        <p:spPr>
          <a:xfrm>
            <a:off x="3544974" y="2459367"/>
            <a:ext cx="2504134" cy="32099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Near Term Opportunities (1) :</a:t>
            </a:r>
            <a:r>
              <a:rPr lang="en-US" dirty="0" smtClean="0"/>
              <a:t>Next Best Offer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Optimized cross sell campaigns across channels and products to maximize customer level profits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47" y="161015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56344" y="1763150"/>
            <a:ext cx="2520000" cy="5320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2"/>
                </a:solidFill>
              </a:rPr>
              <a:t>Data</a:t>
            </a:r>
            <a:endParaRPr lang="en-IN" sz="1600" b="1" dirty="0">
              <a:solidFill>
                <a:schemeClr val="tx2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360617" y="2535506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Internal data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352597" y="3137083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Bureau Data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360619" y="3738659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Transaction Data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368641" y="4324193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External Segments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376663" y="4909727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Channel Data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548184" y="1757746"/>
            <a:ext cx="2520000" cy="5320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tx2"/>
                </a:solidFill>
              </a:rPr>
              <a:t>Predictive Modelling</a:t>
            </a:r>
            <a:endParaRPr lang="en-IN" sz="1600" b="1" dirty="0">
              <a:solidFill>
                <a:schemeClr val="tx2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660952" y="3336116"/>
            <a:ext cx="2278595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B. Product Eligibility Flags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3646652" y="2574620"/>
            <a:ext cx="2294762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A. Product propensity Models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4315" y="5526371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Demographics  Data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43831" y="6100811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Product Management   Data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44536" y="4107508"/>
            <a:ext cx="2278595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C. Incremental Product Value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56256" y="6032476"/>
            <a:ext cx="2278595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</a:rPr>
              <a:t>Business priorities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5" name="Hexagon 34"/>
          <p:cNvSpPr/>
          <p:nvPr/>
        </p:nvSpPr>
        <p:spPr>
          <a:xfrm>
            <a:off x="9524842" y="3827708"/>
            <a:ext cx="2242540" cy="994611"/>
          </a:xfrm>
          <a:prstGeom prst="hex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Campaign Transforming strategy</a:t>
            </a:r>
            <a:endParaRPr lang="en-IN" dirty="0"/>
          </a:p>
        </p:txBody>
      </p:sp>
      <p:sp>
        <p:nvSpPr>
          <p:cNvPr id="40" name="Rounded Rectangle 39"/>
          <p:cNvSpPr/>
          <p:nvPr/>
        </p:nvSpPr>
        <p:spPr>
          <a:xfrm>
            <a:off x="9626000" y="1830053"/>
            <a:ext cx="1980000" cy="89882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Risk Models for eligibility</a:t>
            </a:r>
            <a:endParaRPr lang="en-IN" dirty="0"/>
          </a:p>
        </p:txBody>
      </p:sp>
      <p:sp>
        <p:nvSpPr>
          <p:cNvPr id="41" name="Rounded Rectangle 40"/>
          <p:cNvSpPr/>
          <p:nvPr/>
        </p:nvSpPr>
        <p:spPr>
          <a:xfrm>
            <a:off x="6807033" y="3816023"/>
            <a:ext cx="1945638" cy="93357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 Best Product Score</a:t>
            </a:r>
          </a:p>
          <a:p>
            <a:pPr algn="ctr"/>
            <a:r>
              <a:rPr lang="en-US" dirty="0" smtClean="0"/>
              <a:t>(A*B*C*D)</a:t>
            </a:r>
            <a:endParaRPr lang="en-IN" dirty="0" smtClean="0"/>
          </a:p>
        </p:txBody>
      </p:sp>
      <p:sp>
        <p:nvSpPr>
          <p:cNvPr id="42" name="Rounded Rectangle 41"/>
          <p:cNvSpPr/>
          <p:nvPr/>
        </p:nvSpPr>
        <p:spPr>
          <a:xfrm>
            <a:off x="9656112" y="5798186"/>
            <a:ext cx="1919777" cy="71363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Campaign Budget</a:t>
            </a:r>
            <a:endParaRPr lang="en-IN" dirty="0" smtClean="0"/>
          </a:p>
        </p:txBody>
      </p:sp>
      <p:sp>
        <p:nvSpPr>
          <p:cNvPr id="43" name="Plus 42"/>
          <p:cNvSpPr/>
          <p:nvPr/>
        </p:nvSpPr>
        <p:spPr>
          <a:xfrm>
            <a:off x="2798242" y="3943404"/>
            <a:ext cx="652561" cy="678811"/>
          </a:xfrm>
          <a:prstGeom prst="mathPlus">
            <a:avLst>
              <a:gd name="adj1" fmla="val 25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Equal 1"/>
          <p:cNvSpPr/>
          <p:nvPr/>
        </p:nvSpPr>
        <p:spPr>
          <a:xfrm>
            <a:off x="6155085" y="3979170"/>
            <a:ext cx="578422" cy="60727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Down Arrow 2"/>
          <p:cNvSpPr/>
          <p:nvPr/>
        </p:nvSpPr>
        <p:spPr>
          <a:xfrm>
            <a:off x="10373685" y="2879004"/>
            <a:ext cx="484632" cy="7387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Down Arrow 30"/>
          <p:cNvSpPr/>
          <p:nvPr/>
        </p:nvSpPr>
        <p:spPr>
          <a:xfrm flipV="1">
            <a:off x="10373685" y="4933406"/>
            <a:ext cx="484632" cy="7387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Arrow 5"/>
          <p:cNvSpPr/>
          <p:nvPr/>
        </p:nvSpPr>
        <p:spPr>
          <a:xfrm>
            <a:off x="8826197" y="4040493"/>
            <a:ext cx="59434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733507" y="1738140"/>
            <a:ext cx="5180043" cy="4944014"/>
          </a:xfrm>
          <a:prstGeom prst="rect">
            <a:avLst/>
          </a:prstGeom>
          <a:noFill/>
          <a:ln>
            <a:solidFill>
              <a:schemeClr val="tx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Plus 31"/>
          <p:cNvSpPr/>
          <p:nvPr/>
        </p:nvSpPr>
        <p:spPr>
          <a:xfrm>
            <a:off x="4568427" y="5615115"/>
            <a:ext cx="411537" cy="476197"/>
          </a:xfrm>
          <a:prstGeom prst="mathPlus">
            <a:avLst>
              <a:gd name="adj1" fmla="val 25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3628120" y="4850764"/>
            <a:ext cx="2278595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D. Customer Attrition Score</a:t>
            </a:r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85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Analytics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8357" y="1166286"/>
            <a:ext cx="11113180" cy="582362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00BDF2"/>
                </a:solidFill>
              </a:rPr>
              <a:t>Aligning the analytics to achieve the digital vision by harnessing the power of Social Media and Big data across the Financial Services industry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760317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 bwMode="auto">
          <a:xfrm>
            <a:off x="7847975" y="1889352"/>
            <a:ext cx="2209800" cy="9144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5561975" y="2041752"/>
            <a:ext cx="2133600" cy="7620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6" name="Rounded Rectangle 35"/>
          <p:cNvSpPr/>
          <p:nvPr/>
        </p:nvSpPr>
        <p:spPr bwMode="auto">
          <a:xfrm>
            <a:off x="3305003" y="2117952"/>
            <a:ext cx="2104572" cy="6858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7" name="Straight Connector 36"/>
          <p:cNvCxnSpPr/>
          <p:nvPr/>
        </p:nvCxnSpPr>
        <p:spPr bwMode="auto">
          <a:xfrm>
            <a:off x="3275975" y="1813152"/>
            <a:ext cx="29028" cy="9906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3305003" y="2803752"/>
            <a:ext cx="6629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9" name="Rounded Rectangle 38"/>
          <p:cNvSpPr/>
          <p:nvPr/>
        </p:nvSpPr>
        <p:spPr bwMode="auto">
          <a:xfrm>
            <a:off x="393406" y="3339237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Awareness</a:t>
            </a: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Consistent offer &amp; message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grpSp>
        <p:nvGrpSpPr>
          <p:cNvPr id="3" name="Group 21"/>
          <p:cNvGrpSpPr/>
          <p:nvPr/>
        </p:nvGrpSpPr>
        <p:grpSpPr>
          <a:xfrm>
            <a:off x="457207" y="1800766"/>
            <a:ext cx="2336765" cy="1371600"/>
            <a:chOff x="381000" y="914400"/>
            <a:chExt cx="2057400" cy="914400"/>
          </a:xfrm>
        </p:grpSpPr>
        <p:sp>
          <p:nvSpPr>
            <p:cNvPr id="41" name="Right Triangle 40"/>
            <p:cNvSpPr/>
            <p:nvPr/>
          </p:nvSpPr>
          <p:spPr bwMode="auto">
            <a:xfrm flipH="1" flipV="1">
              <a:off x="548638" y="960437"/>
              <a:ext cx="1813561" cy="868362"/>
            </a:xfrm>
            <a:prstGeom prst="rtTriangle">
              <a:avLst/>
            </a:prstGeom>
            <a:solidFill>
              <a:srgbClr val="002060">
                <a:alpha val="66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45720" rIns="4572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400" dirty="0" smtClean="0">
                <a:latin typeface="Arial" pitchFamily="34" charset="0"/>
              </a:endParaRPr>
            </a:p>
          </p:txBody>
        </p:sp>
        <p:sp>
          <p:nvSpPr>
            <p:cNvPr id="42" name="Right Triangle 41"/>
            <p:cNvSpPr/>
            <p:nvPr/>
          </p:nvSpPr>
          <p:spPr bwMode="auto">
            <a:xfrm>
              <a:off x="411163" y="960438"/>
              <a:ext cx="1813561" cy="868362"/>
            </a:xfrm>
            <a:prstGeom prst="rtTriangle">
              <a:avLst/>
            </a:prstGeom>
            <a:solidFill>
              <a:srgbClr val="002060">
                <a:alpha val="66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45720" rIns="45720" anchor="ctr"/>
            <a:lstStyle/>
            <a:p>
              <a:pPr marL="114300" indent="-114300" algn="ctr">
                <a:lnSpc>
                  <a:spcPts val="1500"/>
                </a:lnSpc>
                <a:buFont typeface="Arial" pitchFamily="34" charset="0"/>
                <a:buChar char="•"/>
                <a:defRPr/>
              </a:pPr>
              <a:endParaRPr lang="en-US" sz="1400" b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1447800" y="914400"/>
              <a:ext cx="990600" cy="6096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Analytical</a:t>
              </a:r>
              <a:r>
                <a:rPr kumimoji="0" lang="en-US" sz="1400" b="1" i="0" u="none" strike="noStrike" cap="none" normalizeH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Evolution</a:t>
              </a:r>
              <a:endPara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381000" y="1219200"/>
              <a:ext cx="990600" cy="6096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Customer </a:t>
              </a:r>
              <a:r>
                <a:rPr kumimoji="0" lang="en-US" sz="1400" b="1" i="0" u="none" strike="noStrike" cap="none" normalizeH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Life stage</a:t>
              </a:r>
              <a:endPara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3381202" y="2171110"/>
            <a:ext cx="2844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MIS/ Dashboard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3340352" y="2854553"/>
            <a:ext cx="2890909" cy="381000"/>
          </a:xfrm>
          <a:prstGeom prst="rect">
            <a:avLst/>
          </a:prstGeom>
          <a:solidFill>
            <a:schemeClr val="accent4">
              <a:lumMod val="50000"/>
              <a:alpha val="66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Business Intelligence</a:t>
            </a:r>
          </a:p>
        </p:txBody>
      </p:sp>
      <p:sp>
        <p:nvSpPr>
          <p:cNvPr id="47" name="TextBox 46"/>
          <p:cNvSpPr txBox="1"/>
          <p:nvPr/>
        </p:nvSpPr>
        <p:spPr>
          <a:xfrm rot="16200000">
            <a:off x="2621106" y="2189464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Value</a:t>
            </a:r>
            <a:endParaRPr lang="en-US" sz="12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4418975" y="1736952"/>
            <a:ext cx="480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Analytical Complexity </a:t>
            </a:r>
            <a:endParaRPr lang="en-US" sz="12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6456025" y="2875818"/>
            <a:ext cx="2800517" cy="381000"/>
          </a:xfrm>
          <a:prstGeom prst="rect">
            <a:avLst/>
          </a:prstGeom>
          <a:solidFill>
            <a:schemeClr val="accent4">
              <a:lumMod val="50000"/>
              <a:alpha val="66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Explanatory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97218" y="2865185"/>
            <a:ext cx="2602523" cy="381000"/>
          </a:xfrm>
          <a:prstGeom prst="rect">
            <a:avLst/>
          </a:prstGeom>
          <a:solidFill>
            <a:schemeClr val="accent4">
              <a:lumMod val="50000"/>
              <a:alpha val="66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Predictive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9403" y="1967910"/>
            <a:ext cx="229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Business Analysis</a:t>
            </a:r>
            <a:endParaRPr lang="en-US" sz="1200" dirty="0"/>
          </a:p>
        </p:txBody>
      </p:sp>
      <p:sp>
        <p:nvSpPr>
          <p:cNvPr id="52" name=" 3"/>
          <p:cNvSpPr/>
          <p:nvPr/>
        </p:nvSpPr>
        <p:spPr>
          <a:xfrm>
            <a:off x="3275975" y="1965552"/>
            <a:ext cx="6658428" cy="838200"/>
          </a:xfrm>
          <a:prstGeom prst="swooshArrow">
            <a:avLst>
              <a:gd name="adj1" fmla="val 13958"/>
              <a:gd name="adj2" fmla="val 21089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3" name="TextBox 52"/>
          <p:cNvSpPr txBox="1"/>
          <p:nvPr/>
        </p:nvSpPr>
        <p:spPr>
          <a:xfrm>
            <a:off x="7781605" y="1889935"/>
            <a:ext cx="1564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Statistical Models</a:t>
            </a:r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9426318" y="1726905"/>
            <a:ext cx="2079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Optimization</a:t>
            </a:r>
            <a:endParaRPr lang="en-US" sz="1200" dirty="0"/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3319391" y="3418117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Generating “Word Clouds” - Positive &amp; negative sentiments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6406525" y="3466413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Social Media </a:t>
            </a:r>
            <a:r>
              <a:rPr lang="en-US" sz="1400" dirty="0" smtClean="0">
                <a:solidFill>
                  <a:srgbClr val="002060"/>
                </a:solidFill>
                <a:latin typeface="+mj-lt"/>
              </a:rPr>
              <a:t>Sentiment Analysis</a:t>
            </a:r>
          </a:p>
        </p:txBody>
      </p:sp>
      <p:sp>
        <p:nvSpPr>
          <p:cNvPr id="73" name="Oval 72"/>
          <p:cNvSpPr/>
          <p:nvPr/>
        </p:nvSpPr>
        <p:spPr bwMode="auto">
          <a:xfrm>
            <a:off x="4495175" y="2498953"/>
            <a:ext cx="76200" cy="76199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4" name="Oval 73"/>
          <p:cNvSpPr/>
          <p:nvPr/>
        </p:nvSpPr>
        <p:spPr bwMode="auto">
          <a:xfrm>
            <a:off x="7162175" y="2270352"/>
            <a:ext cx="76200" cy="76199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5" name="Oval 74"/>
          <p:cNvSpPr/>
          <p:nvPr/>
        </p:nvSpPr>
        <p:spPr bwMode="auto">
          <a:xfrm>
            <a:off x="8305175" y="2194153"/>
            <a:ext cx="76200" cy="76199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6" name="Oval 75"/>
          <p:cNvSpPr/>
          <p:nvPr/>
        </p:nvSpPr>
        <p:spPr bwMode="auto">
          <a:xfrm>
            <a:off x="8990975" y="2117953"/>
            <a:ext cx="76200" cy="76199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6" name="Rounded Rectangle 85"/>
          <p:cNvSpPr/>
          <p:nvPr/>
        </p:nvSpPr>
        <p:spPr bwMode="auto">
          <a:xfrm>
            <a:off x="7921812" y="1866899"/>
            <a:ext cx="2209800" cy="9144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7" name="Rounded Rectangle 86"/>
          <p:cNvSpPr/>
          <p:nvPr/>
        </p:nvSpPr>
        <p:spPr bwMode="auto">
          <a:xfrm>
            <a:off x="5635812" y="2019299"/>
            <a:ext cx="2133600" cy="7620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8" name="Rounded Rectangle 87"/>
          <p:cNvSpPr/>
          <p:nvPr/>
        </p:nvSpPr>
        <p:spPr bwMode="auto">
          <a:xfrm>
            <a:off x="3378840" y="2095499"/>
            <a:ext cx="2104572" cy="6858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9" name="Rounded Rectangle 88"/>
          <p:cNvSpPr/>
          <p:nvPr/>
        </p:nvSpPr>
        <p:spPr bwMode="auto">
          <a:xfrm>
            <a:off x="406106" y="4053612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Consideration</a:t>
            </a: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Promote and Persuade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0" name="Rounded Rectangle 89"/>
          <p:cNvSpPr/>
          <p:nvPr/>
        </p:nvSpPr>
        <p:spPr bwMode="auto">
          <a:xfrm>
            <a:off x="418806" y="4767987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Conversion</a:t>
            </a: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Personalize and Convert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1" name="Rounded Rectangle 90"/>
          <p:cNvSpPr/>
          <p:nvPr/>
        </p:nvSpPr>
        <p:spPr bwMode="auto">
          <a:xfrm>
            <a:off x="406106" y="5482362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Engagement</a:t>
            </a: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Increase satisfaction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2" name="Rounded Rectangle 91"/>
          <p:cNvSpPr/>
          <p:nvPr/>
        </p:nvSpPr>
        <p:spPr bwMode="auto">
          <a:xfrm>
            <a:off x="406106" y="6196737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Cross-sell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Grow relationship value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3" name="Rectangle 13"/>
          <p:cNvSpPr>
            <a:spLocks noChangeArrowheads="1"/>
          </p:cNvSpPr>
          <p:nvPr/>
        </p:nvSpPr>
        <p:spPr bwMode="auto">
          <a:xfrm>
            <a:off x="3318858" y="4115143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Display Campaign, Branding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94" name="Rectangle 13"/>
          <p:cNvSpPr>
            <a:spLocks noChangeArrowheads="1"/>
          </p:cNvSpPr>
          <p:nvPr/>
        </p:nvSpPr>
        <p:spPr bwMode="auto">
          <a:xfrm>
            <a:off x="6406525" y="4160204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smtClean="0">
                <a:solidFill>
                  <a:srgbClr val="002060"/>
                </a:solidFill>
                <a:sym typeface="Wingdings" pitchFamily="2" charset="2"/>
              </a:rPr>
              <a:t>Attribution, Brand Bidding</a:t>
            </a:r>
            <a:endParaRPr lang="en-US" sz="1400" dirty="0" smtClean="0">
              <a:solidFill>
                <a:srgbClr val="002060"/>
              </a:solidFill>
              <a:sym typeface="Wingdings" pitchFamily="2" charset="2"/>
            </a:endParaRPr>
          </a:p>
        </p:txBody>
      </p:sp>
      <p:sp>
        <p:nvSpPr>
          <p:cNvPr id="95" name="Rectangle 13"/>
          <p:cNvSpPr>
            <a:spLocks noChangeArrowheads="1"/>
          </p:cNvSpPr>
          <p:nvPr/>
        </p:nvSpPr>
        <p:spPr bwMode="auto">
          <a:xfrm>
            <a:off x="9404389" y="4162886"/>
            <a:ext cx="262037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Online Persona Segmentation </a:t>
            </a:r>
          </a:p>
        </p:txBody>
      </p:sp>
      <p:sp>
        <p:nvSpPr>
          <p:cNvPr id="96" name="Rectangle 13"/>
          <p:cNvSpPr>
            <a:spLocks noChangeArrowheads="1"/>
          </p:cNvSpPr>
          <p:nvPr/>
        </p:nvSpPr>
        <p:spPr bwMode="auto">
          <a:xfrm>
            <a:off x="3319391" y="4812169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Fall Out Report, MVT tracking, Full Funnel Report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97" name="Rectangle 13"/>
          <p:cNvSpPr>
            <a:spLocks noChangeArrowheads="1"/>
          </p:cNvSpPr>
          <p:nvPr/>
        </p:nvSpPr>
        <p:spPr bwMode="auto">
          <a:xfrm>
            <a:off x="6388100" y="4853995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Channel KPI, SEO, </a:t>
            </a:r>
            <a:r>
              <a:rPr lang="en-IN" sz="1400" dirty="0" err="1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Pathing</a:t>
            </a: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, HP &amp; Form Optimization, Heat Map</a:t>
            </a:r>
          </a:p>
        </p:txBody>
      </p:sp>
      <p:sp>
        <p:nvSpPr>
          <p:cNvPr id="98" name="Rectangle 13"/>
          <p:cNvSpPr>
            <a:spLocks noChangeArrowheads="1"/>
          </p:cNvSpPr>
          <p:nvPr/>
        </p:nvSpPr>
        <p:spPr bwMode="auto">
          <a:xfrm>
            <a:off x="9400180" y="4817290"/>
            <a:ext cx="262037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sym typeface="Wingdings" pitchFamily="2" charset="2"/>
              </a:rPr>
              <a:t>MVT, </a:t>
            </a:r>
            <a:r>
              <a:rPr lang="en-US" sz="1400" dirty="0" smtClean="0">
                <a:solidFill>
                  <a:srgbClr val="002060"/>
                </a:solidFill>
              </a:rPr>
              <a:t>Contextual offering, Prospect Segmentation</a:t>
            </a:r>
            <a:endParaRPr lang="en-US" sz="1400" dirty="0" smtClean="0">
              <a:solidFill>
                <a:srgbClr val="002060"/>
              </a:solidFill>
              <a:sym typeface="Wingdings" pitchFamily="2" charset="2"/>
            </a:endParaRPr>
          </a:p>
        </p:txBody>
      </p:sp>
      <p:sp>
        <p:nvSpPr>
          <p:cNvPr id="99" name="Rectangle 13"/>
          <p:cNvSpPr>
            <a:spLocks noChangeArrowheads="1"/>
          </p:cNvSpPr>
          <p:nvPr/>
        </p:nvSpPr>
        <p:spPr bwMode="auto">
          <a:xfrm>
            <a:off x="3331123" y="5509195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Engagement Index, Fall out Report, Campaign Report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100" name="Rectangle 13"/>
          <p:cNvSpPr>
            <a:spLocks noChangeArrowheads="1"/>
          </p:cNvSpPr>
          <p:nvPr/>
        </p:nvSpPr>
        <p:spPr bwMode="auto">
          <a:xfrm>
            <a:off x="6388100" y="5547786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Opportunity Sizing,, Micro Targeting, </a:t>
            </a:r>
            <a:r>
              <a:rPr lang="en-IN" sz="1400" dirty="0" err="1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Pathing</a:t>
            </a:r>
            <a:endParaRPr lang="en-US" sz="1400" dirty="0" smtClean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03" name="Rectangle 13"/>
          <p:cNvSpPr>
            <a:spLocks noChangeArrowheads="1"/>
          </p:cNvSpPr>
          <p:nvPr/>
        </p:nvSpPr>
        <p:spPr bwMode="auto">
          <a:xfrm>
            <a:off x="9400180" y="5527114"/>
            <a:ext cx="262037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sym typeface="Wingdings" pitchFamily="2" charset="2"/>
              </a:rPr>
              <a:t>Digital usage propensity, Attrition Prediction</a:t>
            </a:r>
          </a:p>
        </p:txBody>
      </p:sp>
      <p:sp>
        <p:nvSpPr>
          <p:cNvPr id="107" name="Rectangle 13"/>
          <p:cNvSpPr>
            <a:spLocks noChangeArrowheads="1"/>
          </p:cNvSpPr>
          <p:nvPr/>
        </p:nvSpPr>
        <p:spPr bwMode="auto">
          <a:xfrm>
            <a:off x="3344978" y="6206222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Lead Generation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108" name="Rectangle 13"/>
          <p:cNvSpPr>
            <a:spLocks noChangeArrowheads="1"/>
          </p:cNvSpPr>
          <p:nvPr/>
        </p:nvSpPr>
        <p:spPr bwMode="auto">
          <a:xfrm>
            <a:off x="6388100" y="6241578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</a:rPr>
              <a:t>Triggers, Heat Map, Web Page Redesign, Market Basket</a:t>
            </a:r>
            <a:endParaRPr lang="en-US" sz="1400" i="1" dirty="0" smtClean="0">
              <a:solidFill>
                <a:srgbClr val="002060"/>
              </a:solidFill>
            </a:endParaRPr>
          </a:p>
        </p:txBody>
      </p:sp>
      <p:sp>
        <p:nvSpPr>
          <p:cNvPr id="117" name="Rectangle 13"/>
          <p:cNvSpPr>
            <a:spLocks noChangeArrowheads="1"/>
          </p:cNvSpPr>
          <p:nvPr/>
        </p:nvSpPr>
        <p:spPr bwMode="auto">
          <a:xfrm>
            <a:off x="9386985" y="6236938"/>
            <a:ext cx="262037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Contextual Offering</a:t>
            </a:r>
            <a:endParaRPr lang="en-US" sz="1400" dirty="0" smtClean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032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0334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Next Steps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Collaborations with the Marketing, Revenue, Legal and IT teams for a smooth engagement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28357" y="1594951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79403" y="2447047"/>
            <a:ext cx="7588155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TCL – CAD Operating Model and Governance</a:t>
            </a:r>
            <a:endParaRPr lang="en-IN" sz="1600" dirty="0"/>
          </a:p>
        </p:txBody>
      </p:sp>
      <p:sp>
        <p:nvSpPr>
          <p:cNvPr id="10" name="Oval 9"/>
          <p:cNvSpPr/>
          <p:nvPr/>
        </p:nvSpPr>
        <p:spPr>
          <a:xfrm>
            <a:off x="1120087" y="2179876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1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13908" y="3645070"/>
            <a:ext cx="7588156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Commercial proposal for the execution </a:t>
            </a:r>
            <a:endParaRPr lang="en-IN" sz="1600" dirty="0"/>
          </a:p>
        </p:txBody>
      </p:sp>
      <p:sp>
        <p:nvSpPr>
          <p:cNvPr id="14" name="Rectangle 13"/>
          <p:cNvSpPr/>
          <p:nvPr/>
        </p:nvSpPr>
        <p:spPr>
          <a:xfrm>
            <a:off x="1987363" y="5011968"/>
            <a:ext cx="7580195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 Engagement kick-off (Resources and initiation of workshops) </a:t>
            </a:r>
            <a:endParaRPr lang="en-IN" sz="1600" dirty="0"/>
          </a:p>
        </p:txBody>
      </p:sp>
      <p:sp>
        <p:nvSpPr>
          <p:cNvPr id="16" name="Oval 15"/>
          <p:cNvSpPr/>
          <p:nvPr/>
        </p:nvSpPr>
        <p:spPr>
          <a:xfrm>
            <a:off x="1120087" y="3482480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2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20087" y="4783395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3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 bwMode="gray">
          <a:xfrm>
            <a:off x="9622462" y="2498651"/>
            <a:ext cx="2636874" cy="4359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2000" b="1" dirty="0" smtClean="0"/>
              <a:t> Week of June 15th</a:t>
            </a:r>
          </a:p>
        </p:txBody>
      </p:sp>
      <p:sp>
        <p:nvSpPr>
          <p:cNvPr id="18" name="TextBox 17"/>
          <p:cNvSpPr txBox="1"/>
          <p:nvPr/>
        </p:nvSpPr>
        <p:spPr bwMode="gray">
          <a:xfrm>
            <a:off x="9594101" y="3671819"/>
            <a:ext cx="2636874" cy="4359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2000" b="1" dirty="0" smtClean="0"/>
              <a:t> Week of June 22</a:t>
            </a:r>
            <a:r>
              <a:rPr lang="en-IN" sz="2000" b="1" baseline="30000" dirty="0" smtClean="0"/>
              <a:t>nd</a:t>
            </a:r>
            <a:r>
              <a:rPr lang="en-IN" sz="2000" b="1" dirty="0" smtClean="0"/>
              <a:t> </a:t>
            </a:r>
          </a:p>
        </p:txBody>
      </p:sp>
      <p:sp>
        <p:nvSpPr>
          <p:cNvPr id="20" name="TextBox 19"/>
          <p:cNvSpPr txBox="1"/>
          <p:nvPr/>
        </p:nvSpPr>
        <p:spPr bwMode="gray">
          <a:xfrm>
            <a:off x="9555107" y="5078913"/>
            <a:ext cx="2636874" cy="4359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2000" b="1" dirty="0" smtClean="0"/>
              <a:t> Week of July 1</a:t>
            </a:r>
            <a:r>
              <a:rPr lang="en-IN" sz="2000" b="1" baseline="30000" dirty="0" smtClean="0"/>
              <a:t>st</a:t>
            </a:r>
            <a:r>
              <a:rPr lang="en-IN" sz="2000" b="1" dirty="0" smtClean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8204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0334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Appendix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Immediate roles and responsibilities for the Tata </a:t>
            </a:r>
            <a:r>
              <a:rPr lang="en-US" dirty="0" smtClean="0"/>
              <a:t>Consumer Analytics Division </a:t>
            </a:r>
            <a:endParaRPr lang="en-IN" dirty="0"/>
          </a:p>
        </p:txBody>
      </p:sp>
      <p:graphicFrame>
        <p:nvGraphicFramePr>
          <p:cNvPr id="8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10084"/>
              </p:ext>
            </p:extLst>
          </p:nvPr>
        </p:nvGraphicFramePr>
        <p:xfrm>
          <a:off x="468965" y="1799448"/>
          <a:ext cx="11113180" cy="4665214"/>
        </p:xfrm>
        <a:graphic>
          <a:graphicData uri="http://schemas.openxmlformats.org/drawingml/2006/table">
            <a:tbl>
              <a:tblPr/>
              <a:tblGrid>
                <a:gridCol w="1041180"/>
                <a:gridCol w="2092037"/>
                <a:gridCol w="6465065"/>
                <a:gridCol w="1514898"/>
              </a:tblGrid>
              <a:tr h="55663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Steps</a:t>
                      </a: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rial" charset="0"/>
                        </a:rPr>
                        <a:t>Plan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Detailed  Plan</a:t>
                      </a: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Responsibility</a:t>
                      </a: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</a:tr>
              <a:tr h="306437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Presentation to MD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cs typeface="Arial" charset="0"/>
                        </a:rPr>
                        <a:t>Present the analytics solutions and roadmap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77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MOU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Detail the metadata requirements to understand current data maturity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TCL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  <a:ea typeface="+mn-ea"/>
                        <a:cs typeface="+mn-cs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Draft the MOU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Arial" charset="0"/>
                      </a:endParaRP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TCL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Sign the </a:t>
                      </a: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MOU for metadata sharing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Metadata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Share Metadata with TCAD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TCL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Evaluation of Metadata to define Proposal for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Proposal and Engagement Model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Draft of the proposal for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Finalize the Activities, Resources and Costing 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741"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Finalize the Proposal and Engagement model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NDA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Draft the NDA with purpose of intent, data sharing &amp;privacy details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TCL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Sign the NDA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TCL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Phase I – Revenue Drivers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3 Key initiatives from Quick wins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TCL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*Monthly Review and Feedback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*Monthly Review and Feedback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Present the results of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TCL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468965" y="1564441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77623" y="6489021"/>
            <a:ext cx="2749834" cy="368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2"/>
                </a:solidFill>
              </a:rPr>
              <a:t>* Monthly &amp; Quarterly reviews </a:t>
            </a:r>
            <a:endParaRPr lang="en-IN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38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2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0A3F60"/>
      </a:hlink>
      <a:folHlink>
        <a:srgbClr val="062A40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15455</TotalTime>
  <Words>1699</Words>
  <Application>Microsoft Office PowerPoint</Application>
  <PresentationFormat>Widescreen</PresentationFormat>
  <Paragraphs>490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</vt:lpstr>
      <vt:lpstr>Wingdings</vt:lpstr>
      <vt:lpstr>Wingdings 3</vt:lpstr>
      <vt:lpstr>Ion Boardroom</vt:lpstr>
      <vt:lpstr>Tata Capital Analytics Offerings &amp; Proposed Roadmap </vt:lpstr>
      <vt:lpstr>Agenda</vt:lpstr>
      <vt:lpstr>Executive Summary</vt:lpstr>
      <vt:lpstr>Tata Customer Analytics  Company Overview</vt:lpstr>
      <vt:lpstr>Tata Customer Analytics Division - Overview</vt:lpstr>
      <vt:lpstr>Strategy: 3 Points of Inflection</vt:lpstr>
      <vt:lpstr>Analytics Capabilities for Financial Services and Proposed Roadmap</vt:lpstr>
      <vt:lpstr>Analytics Opportunity Quadrants across Financial organizations</vt:lpstr>
      <vt:lpstr>Analytics Roadmap for Y1 &amp; Y2</vt:lpstr>
      <vt:lpstr>Analytical Offerings for Tata Capital</vt:lpstr>
      <vt:lpstr>Customer and Revenue Roadmap</vt:lpstr>
      <vt:lpstr>Process and Cost Optimization Roadmap</vt:lpstr>
      <vt:lpstr>Leads for existing Customers</vt:lpstr>
      <vt:lpstr>Leads for New customers: Prospect Database </vt:lpstr>
      <vt:lpstr>Prospecting using One Tata</vt:lpstr>
      <vt:lpstr>Sales Management Framework</vt:lpstr>
      <vt:lpstr>Near Term Opportunities (1) :Next Best Offer</vt:lpstr>
      <vt:lpstr>Digital Analytics</vt:lpstr>
      <vt:lpstr>Next Steps</vt:lpstr>
      <vt:lpstr>Next Steps</vt:lpstr>
      <vt:lpstr>Appendix</vt:lpstr>
      <vt:lpstr>Next Steps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Divya</dc:creator>
  <cp:lastModifiedBy>Asarora</cp:lastModifiedBy>
  <cp:revision>1230</cp:revision>
  <dcterms:created xsi:type="dcterms:W3CDTF">2015-03-10T08:40:33Z</dcterms:created>
  <dcterms:modified xsi:type="dcterms:W3CDTF">2015-06-15T04:51:04Z</dcterms:modified>
</cp:coreProperties>
</file>
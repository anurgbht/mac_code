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93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06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69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6.xml" ContentType="application/vnd.openxmlformats-officedocument.theme+xml"/>
  <Override PartName="/ppt/diagrams/colors4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76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07.xml" ContentType="application/vnd.openxmlformats-officedocument.presentationml.slideLayout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90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diagrams/layout2.xml" ContentType="application/vnd.openxmlformats-officedocument.drawingml.diagramLayout+xml"/>
  <Override PartName="/ppt/notesSlides/notesSlide8.xml" ContentType="application/vnd.openxmlformats-officedocument.presentationml.notesSlide+xml"/>
  <Override PartName="/ppt/slideLayouts/slideLayout99.xml" ContentType="application/vnd.openxmlformats-officedocument.presentationml.slideLayout+xml"/>
  <Override PartName="/ppt/diagrams/data3.xml" ContentType="application/vnd.openxmlformats-officedocument.drawingml.diagramData+xml"/>
  <Override PartName="/ppt/slideMasters/slideMaster5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slideLayouts/slideLayout59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7.xml" ContentType="application/vnd.openxmlformats-officedocument.them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95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91.xml" ContentType="application/vnd.openxmlformats-officedocument.presentationml.slideLayout+xml"/>
  <Default Extension="rels" ContentType="application/vnd.openxmlformats-package.relationships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slideMasters/slideMaster6.xml" ContentType="application/vnd.openxmlformats-officedocument.presentationml.slideMaster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4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05.xml" ContentType="application/vnd.openxmlformats-officedocument.presentationml.slideLayout+xml"/>
  <Override PartName="/ppt/diagrams/quickStyle1.xml" ContentType="application/vnd.openxmlformats-officedocument.drawingml.diagramStyl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diagrams/layout4.xml" ContentType="application/vnd.openxmlformats-officedocument.drawingml.diagramLayout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97.xml" ContentType="application/vnd.openxmlformats-officedocument.presentationml.slideLayout+xml"/>
  <Override PartName="/ppt/diagrams/data1.xml" ContentType="application/vnd.openxmlformats-officedocument.drawingml.diagramData+xml"/>
  <Override PartName="/ppt/charts/chart2.xml" ContentType="application/vnd.openxmlformats-officedocument.drawingml.chart+xml"/>
  <Override PartName="/ppt/diagrams/colors3.xml" ContentType="application/vnd.openxmlformats-officedocument.drawingml.diagramColors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slideLayouts/slideLayout8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74" r:id="rId2"/>
    <p:sldMasterId id="2147483693" r:id="rId3"/>
    <p:sldMasterId id="2147483731" r:id="rId4"/>
    <p:sldMasterId id="2147483750" r:id="rId5"/>
    <p:sldMasterId id="2147483769" r:id="rId6"/>
  </p:sldMasterIdLst>
  <p:notesMasterIdLst>
    <p:notesMasterId r:id="rId43"/>
  </p:notesMasterIdLst>
  <p:handoutMasterIdLst>
    <p:handoutMasterId r:id="rId44"/>
  </p:handoutMasterIdLst>
  <p:sldIdLst>
    <p:sldId id="261" r:id="rId7"/>
    <p:sldId id="343" r:id="rId8"/>
    <p:sldId id="382" r:id="rId9"/>
    <p:sldId id="404" r:id="rId10"/>
    <p:sldId id="383" r:id="rId11"/>
    <p:sldId id="345" r:id="rId12"/>
    <p:sldId id="396" r:id="rId13"/>
    <p:sldId id="395" r:id="rId14"/>
    <p:sldId id="323" r:id="rId15"/>
    <p:sldId id="346" r:id="rId16"/>
    <p:sldId id="366" r:id="rId17"/>
    <p:sldId id="365" r:id="rId18"/>
    <p:sldId id="385" r:id="rId19"/>
    <p:sldId id="347" r:id="rId20"/>
    <p:sldId id="348" r:id="rId21"/>
    <p:sldId id="386" r:id="rId22"/>
    <p:sldId id="398" r:id="rId23"/>
    <p:sldId id="352" r:id="rId24"/>
    <p:sldId id="353" r:id="rId25"/>
    <p:sldId id="387" r:id="rId26"/>
    <p:sldId id="354" r:id="rId27"/>
    <p:sldId id="375" r:id="rId28"/>
    <p:sldId id="376" r:id="rId29"/>
    <p:sldId id="377" r:id="rId30"/>
    <p:sldId id="400" r:id="rId31"/>
    <p:sldId id="388" r:id="rId32"/>
    <p:sldId id="405" r:id="rId33"/>
    <p:sldId id="401" r:id="rId34"/>
    <p:sldId id="402" r:id="rId35"/>
    <p:sldId id="407" r:id="rId36"/>
    <p:sldId id="389" r:id="rId37"/>
    <p:sldId id="373" r:id="rId38"/>
    <p:sldId id="390" r:id="rId39"/>
    <p:sldId id="355" r:id="rId40"/>
    <p:sldId id="356" r:id="rId41"/>
    <p:sldId id="319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375623"/>
    <a:srgbClr val="38A6E9"/>
    <a:srgbClr val="7AC4F0"/>
    <a:srgbClr val="BDE1F8"/>
    <a:srgbClr val="B72430"/>
    <a:srgbClr val="082A67"/>
    <a:srgbClr val="00A8EB"/>
    <a:srgbClr val="0F7EBF"/>
    <a:srgbClr val="6B6B6B"/>
    <a:srgbClr val="26B3FE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979" autoAdjust="0"/>
    <p:restoredTop sz="81720" autoAdjust="0"/>
  </p:normalViewPr>
  <p:slideViewPr>
    <p:cSldViewPr snapToGrid="0">
      <p:cViewPr varScale="1">
        <p:scale>
          <a:sx n="59" d="100"/>
          <a:sy n="59" d="100"/>
        </p:scale>
        <p:origin x="-1188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768"/>
    </p:cViewPr>
  </p:sorterViewPr>
  <p:notesViewPr>
    <p:cSldViewPr snapToGrid="0">
      <p:cViewPr varScale="1">
        <p:scale>
          <a:sx n="57" d="100"/>
          <a:sy n="57" d="100"/>
        </p:scale>
        <p:origin x="1956" y="42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.SURESH-PC\Desktop\Tata%20Dashboard\SAmple%20DAta%20New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.SURESH-PC\Desktop\Tata%20Dashboard\SAmple%20DAta%20New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.SURESH-PC\Desktop\New%20Microsoft%20Office%20Excel%20Workshee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IN"/>
  <c:style val="7"/>
  <c:chart>
    <c:title>
      <c:tx>
        <c:rich>
          <a:bodyPr/>
          <a:lstStyle/>
          <a:p>
            <a:pPr>
              <a:defRPr/>
            </a:pPr>
            <a:r>
              <a:rPr lang="en-US" sz="1600" dirty="0"/>
              <a:t>Delhi</a:t>
            </a:r>
          </a:p>
        </c:rich>
      </c:tx>
      <c:layout>
        <c:manualLayout>
          <c:xMode val="edge"/>
          <c:yMode val="edge"/>
          <c:x val="0.39380324274671891"/>
          <c:y val="1.5423571346162122E-2"/>
        </c:manualLayout>
      </c:layout>
    </c:title>
    <c:plotArea>
      <c:layout/>
      <c:scatterChart>
        <c:scatterStyle val="lineMarker"/>
        <c:ser>
          <c:idx val="0"/>
          <c:order val="0"/>
          <c:tx>
            <c:strRef>
              <c:f>Sheet2!$B$4</c:f>
              <c:strCache>
                <c:ptCount val="1"/>
                <c:pt idx="0">
                  <c:v>Sales</c:v>
                </c:pt>
              </c:strCache>
            </c:strRef>
          </c:tx>
          <c:spPr>
            <a:ln w="28575">
              <a:noFill/>
            </a:ln>
          </c:spPr>
          <c:trendline>
            <c:trendlineType val="linear"/>
          </c:trendline>
          <c:xVal>
            <c:numRef>
              <c:f>Sheet2!$A$5:$A$15</c:f>
              <c:numCache>
                <c:formatCode>General</c:formatCode>
                <c:ptCount val="11"/>
                <c:pt idx="0">
                  <c:v>10</c:v>
                </c:pt>
                <c:pt idx="1">
                  <c:v>8</c:v>
                </c:pt>
                <c:pt idx="2">
                  <c:v>13</c:v>
                </c:pt>
                <c:pt idx="3">
                  <c:v>9</c:v>
                </c:pt>
                <c:pt idx="4">
                  <c:v>11</c:v>
                </c:pt>
                <c:pt idx="5">
                  <c:v>14</c:v>
                </c:pt>
                <c:pt idx="6">
                  <c:v>6</c:v>
                </c:pt>
                <c:pt idx="7">
                  <c:v>4</c:v>
                </c:pt>
                <c:pt idx="8">
                  <c:v>12</c:v>
                </c:pt>
                <c:pt idx="9">
                  <c:v>7</c:v>
                </c:pt>
                <c:pt idx="10">
                  <c:v>5</c:v>
                </c:pt>
              </c:numCache>
            </c:numRef>
          </c:xVal>
          <c:yVal>
            <c:numRef>
              <c:f>Sheet2!$B$5:$B$15</c:f>
              <c:numCache>
                <c:formatCode>General</c:formatCode>
                <c:ptCount val="11"/>
                <c:pt idx="0">
                  <c:v>8.0400000000000009</c:v>
                </c:pt>
                <c:pt idx="1">
                  <c:v>6.95</c:v>
                </c:pt>
                <c:pt idx="2">
                  <c:v>7.58</c:v>
                </c:pt>
                <c:pt idx="3">
                  <c:v>8.81</c:v>
                </c:pt>
                <c:pt idx="4">
                  <c:v>8.33</c:v>
                </c:pt>
                <c:pt idx="5">
                  <c:v>9.9600000000000026</c:v>
                </c:pt>
                <c:pt idx="6">
                  <c:v>7.24</c:v>
                </c:pt>
                <c:pt idx="7">
                  <c:v>4.26</c:v>
                </c:pt>
                <c:pt idx="8">
                  <c:v>10.84</c:v>
                </c:pt>
                <c:pt idx="9">
                  <c:v>4.8199999999999985</c:v>
                </c:pt>
                <c:pt idx="10">
                  <c:v>5.68</c:v>
                </c:pt>
              </c:numCache>
            </c:numRef>
          </c:yVal>
        </c:ser>
        <c:axId val="105670144"/>
        <c:axId val="105672064"/>
      </c:scatterChart>
      <c:valAx>
        <c:axId val="105670144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IN"/>
                  <a:t>Price</a:t>
                </a:r>
              </a:p>
            </c:rich>
          </c:tx>
        </c:title>
        <c:numFmt formatCode="General" sourceLinked="1"/>
        <c:tickLblPos val="nextTo"/>
        <c:crossAx val="105672064"/>
        <c:crosses val="autoZero"/>
        <c:crossBetween val="midCat"/>
      </c:valAx>
      <c:valAx>
        <c:axId val="105672064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IN"/>
                  <a:t>Sales</a:t>
                </a:r>
              </a:p>
            </c:rich>
          </c:tx>
        </c:title>
        <c:numFmt formatCode="General" sourceLinked="1"/>
        <c:tickLblPos val="nextTo"/>
        <c:crossAx val="105670144"/>
        <c:crosses val="autoZero"/>
        <c:crossBetween val="midCat"/>
      </c:valAx>
    </c:plotArea>
    <c:plotVisOnly val="1"/>
  </c:chart>
  <c:txPr>
    <a:bodyPr/>
    <a:lstStyle/>
    <a:p>
      <a:pPr marL="0" algn="ctr" defTabSz="457200" rtl="0" eaLnBrk="1" latinLnBrk="0" hangingPunct="1">
        <a:defRPr lang="en-IN" sz="1100" kern="1200" dirty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IN"/>
  <c:style val="7"/>
  <c:chart>
    <c:title>
      <c:tx>
        <c:rich>
          <a:bodyPr/>
          <a:lstStyle/>
          <a:p>
            <a:pPr>
              <a:defRPr sz="1600"/>
            </a:pPr>
            <a:r>
              <a:rPr lang="en-US" sz="1600" dirty="0"/>
              <a:t>Mumbai</a:t>
            </a:r>
          </a:p>
        </c:rich>
      </c:tx>
      <c:layout>
        <c:manualLayout>
          <c:xMode val="edge"/>
          <c:yMode val="edge"/>
          <c:x val="0.39064304507651554"/>
          <c:y val="3.0860085152775645E-2"/>
        </c:manualLayout>
      </c:layout>
    </c:title>
    <c:plotArea>
      <c:layout/>
      <c:scatterChart>
        <c:scatterStyle val="lineMarker"/>
        <c:ser>
          <c:idx val="0"/>
          <c:order val="0"/>
          <c:tx>
            <c:strRef>
              <c:f>Sheet3!$B$3</c:f>
              <c:strCache>
                <c:ptCount val="1"/>
                <c:pt idx="0">
                  <c:v>Sales</c:v>
                </c:pt>
              </c:strCache>
            </c:strRef>
          </c:tx>
          <c:spPr>
            <a:ln w="28575">
              <a:noFill/>
            </a:ln>
          </c:spPr>
          <c:trendline>
            <c:trendlineType val="linear"/>
          </c:trendline>
          <c:trendline>
            <c:trendlineType val="linear"/>
          </c:trendline>
          <c:xVal>
            <c:numRef>
              <c:f>Sheet3!$A$4:$A$14</c:f>
              <c:numCache>
                <c:formatCode>General</c:formatCode>
                <c:ptCount val="11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19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</c:numCache>
            </c:numRef>
          </c:xVal>
          <c:yVal>
            <c:numRef>
              <c:f>Sheet3!$B$4:$B$14</c:f>
              <c:numCache>
                <c:formatCode>General</c:formatCode>
                <c:ptCount val="11"/>
                <c:pt idx="0">
                  <c:v>6.58</c:v>
                </c:pt>
                <c:pt idx="1">
                  <c:v>5.76</c:v>
                </c:pt>
                <c:pt idx="2">
                  <c:v>7.71</c:v>
                </c:pt>
                <c:pt idx="3">
                  <c:v>8.84</c:v>
                </c:pt>
                <c:pt idx="4">
                  <c:v>8.4700000000000006</c:v>
                </c:pt>
                <c:pt idx="5">
                  <c:v>7.04</c:v>
                </c:pt>
                <c:pt idx="6">
                  <c:v>5.25</c:v>
                </c:pt>
                <c:pt idx="7">
                  <c:v>12.5</c:v>
                </c:pt>
                <c:pt idx="8">
                  <c:v>5.56</c:v>
                </c:pt>
                <c:pt idx="9">
                  <c:v>7.91</c:v>
                </c:pt>
                <c:pt idx="10">
                  <c:v>6.89</c:v>
                </c:pt>
              </c:numCache>
            </c:numRef>
          </c:yVal>
        </c:ser>
        <c:axId val="105704832"/>
        <c:axId val="107087360"/>
      </c:scatterChart>
      <c:valAx>
        <c:axId val="10570483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rPr lang="en-IN" sz="1100"/>
                  <a:t>Price</a:t>
                </a:r>
              </a:p>
            </c:rich>
          </c:tx>
        </c:title>
        <c:numFmt formatCode="General" sourceLinked="1"/>
        <c:tickLblPos val="nextTo"/>
        <c:crossAx val="107087360"/>
        <c:crosses val="autoZero"/>
        <c:crossBetween val="midCat"/>
      </c:valAx>
      <c:valAx>
        <c:axId val="107087360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1100"/>
                </a:pPr>
                <a:r>
                  <a:rPr lang="en-US" sz="1100"/>
                  <a:t>Sales</a:t>
                </a:r>
              </a:p>
            </c:rich>
          </c:tx>
        </c:title>
        <c:numFmt formatCode="General" sourceLinked="1"/>
        <c:tickLblPos val="nextTo"/>
        <c:crossAx val="105704832"/>
        <c:crosses val="autoZero"/>
        <c:crossBetween val="midCat"/>
      </c:valAx>
    </c:plotArea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IN"/>
  <c:style val="7"/>
  <c:chart>
    <c:title>
      <c:tx>
        <c:rich>
          <a:bodyPr/>
          <a:lstStyle/>
          <a:p>
            <a:pPr>
              <a:defRPr/>
            </a:pPr>
            <a:r>
              <a:rPr lang="en-US" sz="1600" dirty="0"/>
              <a:t>Bangalore</a:t>
            </a:r>
          </a:p>
        </c:rich>
      </c:tx>
      <c:layout>
        <c:manualLayout>
          <c:xMode val="edge"/>
          <c:yMode val="edge"/>
          <c:x val="0.30970318297900601"/>
          <c:y val="2.9977634796087171E-2"/>
        </c:manualLayout>
      </c:layout>
    </c:title>
    <c:plotArea>
      <c:layout/>
      <c:scatterChart>
        <c:scatterStyle val="lineMarker"/>
        <c:ser>
          <c:idx val="0"/>
          <c:order val="0"/>
          <c:tx>
            <c:strRef>
              <c:f>Sheet1!$B$3</c:f>
              <c:strCache>
                <c:ptCount val="1"/>
                <c:pt idx="0">
                  <c:v>Sales</c:v>
                </c:pt>
              </c:strCache>
            </c:strRef>
          </c:tx>
          <c:spPr>
            <a:ln w="28575">
              <a:noFill/>
            </a:ln>
          </c:spPr>
          <c:trendline>
            <c:trendlineType val="linear"/>
          </c:trendline>
          <c:trendline>
            <c:trendlineType val="linear"/>
            <c:forward val="2"/>
          </c:trendline>
          <c:trendline>
            <c:trendlineType val="linear"/>
          </c:trendline>
          <c:xVal>
            <c:numRef>
              <c:f>Sheet1!$A$4:$A$14</c:f>
              <c:numCache>
                <c:formatCode>General</c:formatCode>
                <c:ptCount val="11"/>
                <c:pt idx="0">
                  <c:v>10</c:v>
                </c:pt>
                <c:pt idx="1">
                  <c:v>8</c:v>
                </c:pt>
                <c:pt idx="2">
                  <c:v>13</c:v>
                </c:pt>
                <c:pt idx="3">
                  <c:v>9</c:v>
                </c:pt>
                <c:pt idx="4">
                  <c:v>11</c:v>
                </c:pt>
                <c:pt idx="5">
                  <c:v>14</c:v>
                </c:pt>
                <c:pt idx="6">
                  <c:v>6</c:v>
                </c:pt>
                <c:pt idx="7">
                  <c:v>4</c:v>
                </c:pt>
                <c:pt idx="8">
                  <c:v>12</c:v>
                </c:pt>
                <c:pt idx="9">
                  <c:v>7</c:v>
                </c:pt>
                <c:pt idx="10">
                  <c:v>5</c:v>
                </c:pt>
              </c:numCache>
            </c:numRef>
          </c:xVal>
          <c:yVal>
            <c:numRef>
              <c:f>Sheet1!$B$4:$B$14</c:f>
              <c:numCache>
                <c:formatCode>General</c:formatCode>
                <c:ptCount val="11"/>
                <c:pt idx="0">
                  <c:v>9.1399999999999988</c:v>
                </c:pt>
                <c:pt idx="1">
                  <c:v>8.1399999999999988</c:v>
                </c:pt>
                <c:pt idx="2">
                  <c:v>8.7399999999999984</c:v>
                </c:pt>
                <c:pt idx="3">
                  <c:v>8.77</c:v>
                </c:pt>
                <c:pt idx="4">
                  <c:v>9.26</c:v>
                </c:pt>
                <c:pt idx="5">
                  <c:v>8.1</c:v>
                </c:pt>
                <c:pt idx="6">
                  <c:v>6.13</c:v>
                </c:pt>
                <c:pt idx="7">
                  <c:v>3.1</c:v>
                </c:pt>
                <c:pt idx="8">
                  <c:v>9.129999999999999</c:v>
                </c:pt>
                <c:pt idx="9">
                  <c:v>7.26</c:v>
                </c:pt>
                <c:pt idx="10">
                  <c:v>4.74</c:v>
                </c:pt>
              </c:numCache>
            </c:numRef>
          </c:yVal>
        </c:ser>
        <c:axId val="107142528"/>
        <c:axId val="105395712"/>
      </c:scatterChart>
      <c:valAx>
        <c:axId val="107142528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Price</a:t>
                </a:r>
              </a:p>
            </c:rich>
          </c:tx>
        </c:title>
        <c:numFmt formatCode="General" sourceLinked="1"/>
        <c:tickLblPos val="nextTo"/>
        <c:crossAx val="105395712"/>
        <c:crosses val="autoZero"/>
        <c:crossBetween val="midCat"/>
      </c:valAx>
      <c:valAx>
        <c:axId val="105395712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Sales</a:t>
                </a:r>
              </a:p>
            </c:rich>
          </c:tx>
        </c:title>
        <c:numFmt formatCode="General" sourceLinked="1"/>
        <c:tickLblPos val="nextTo"/>
        <c:crossAx val="107142528"/>
        <c:crosses val="autoZero"/>
        <c:crossBetween val="midCat"/>
      </c:valAx>
    </c:plotArea>
    <c:plotVisOnly val="1"/>
  </c:chart>
  <c:externalData r:id="rId1"/>
</c:chartSpace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eg"/><Relationship Id="rId2" Type="http://schemas.openxmlformats.org/officeDocument/2006/relationships/image" Target="../media/image103.png"/><Relationship Id="rId1" Type="http://schemas.openxmlformats.org/officeDocument/2006/relationships/image" Target="../media/image102.jpeg"/><Relationship Id="rId6" Type="http://schemas.openxmlformats.org/officeDocument/2006/relationships/image" Target="../media/image107.jpeg"/><Relationship Id="rId5" Type="http://schemas.openxmlformats.org/officeDocument/2006/relationships/image" Target="../media/image106.jpeg"/><Relationship Id="rId4" Type="http://schemas.openxmlformats.org/officeDocument/2006/relationships/image" Target="../media/image105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41977E-8B77-4E26-B9E4-872B9F5D811D}" type="doc">
      <dgm:prSet loTypeId="urn:microsoft.com/office/officeart/2005/8/layout/cycle4#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D518D5B-31C7-4E54-B9E2-C921DA14D2AC}">
      <dgm:prSet phldrT="[Text]" custT="1"/>
      <dgm:spPr>
        <a:solidFill>
          <a:schemeClr val="accent1">
            <a:lumMod val="50000"/>
          </a:schemeClr>
        </a:solidFill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IN" sz="1200" dirty="0" smtClean="0"/>
            <a:t>Customer Insights, Analysis</a:t>
          </a:r>
        </a:p>
        <a:p>
          <a:r>
            <a:rPr lang="en-US" sz="1200" dirty="0" smtClean="0"/>
            <a:t>&amp; Experience</a:t>
          </a:r>
          <a:endParaRPr lang="en-IN" sz="1200" dirty="0"/>
        </a:p>
      </dgm:t>
    </dgm:pt>
    <dgm:pt modelId="{D970F40A-4329-4C87-92CD-BDD6CC87E660}" type="parTrans" cxnId="{2FDF2E22-7E03-47B7-8DC1-62BF8B42B1F0}">
      <dgm:prSet/>
      <dgm:spPr/>
      <dgm:t>
        <a:bodyPr/>
        <a:lstStyle/>
        <a:p>
          <a:endParaRPr lang="en-IN"/>
        </a:p>
      </dgm:t>
    </dgm:pt>
    <dgm:pt modelId="{0C409065-AF8F-4D65-9342-BC593390CF5A}" type="sibTrans" cxnId="{2FDF2E22-7E03-47B7-8DC1-62BF8B42B1F0}">
      <dgm:prSet/>
      <dgm:spPr/>
      <dgm:t>
        <a:bodyPr/>
        <a:lstStyle/>
        <a:p>
          <a:endParaRPr lang="en-IN"/>
        </a:p>
      </dgm:t>
    </dgm:pt>
    <dgm:pt modelId="{872FF789-C7BE-4331-9586-5C791A8FCEFF}">
      <dgm:prSet phldrT="[Text]" custT="1"/>
      <dgm:spPr>
        <a:ln w="38100"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IN" sz="1400" dirty="0" smtClean="0"/>
            <a:t>Understand the guest</a:t>
          </a:r>
          <a:endParaRPr lang="en-IN" sz="1400" dirty="0"/>
        </a:p>
      </dgm:t>
    </dgm:pt>
    <dgm:pt modelId="{49A44110-3816-4EE0-8A32-495DEB3C4B04}" type="parTrans" cxnId="{2CD876E7-26AB-4566-BA2B-AC9AAF01DAC8}">
      <dgm:prSet/>
      <dgm:spPr/>
      <dgm:t>
        <a:bodyPr/>
        <a:lstStyle/>
        <a:p>
          <a:endParaRPr lang="en-IN"/>
        </a:p>
      </dgm:t>
    </dgm:pt>
    <dgm:pt modelId="{F6E99E0C-5EE8-46AF-8E50-7988889DF9C2}" type="sibTrans" cxnId="{2CD876E7-26AB-4566-BA2B-AC9AAF01DAC8}">
      <dgm:prSet/>
      <dgm:spPr/>
      <dgm:t>
        <a:bodyPr/>
        <a:lstStyle/>
        <a:p>
          <a:endParaRPr lang="en-IN"/>
        </a:p>
      </dgm:t>
    </dgm:pt>
    <dgm:pt modelId="{0F68DA45-85A0-4AC4-A4DC-A4B0EF3D9718}">
      <dgm:prSet phldrT="[Text]" custT="1"/>
      <dgm:spPr>
        <a:solidFill>
          <a:schemeClr val="tx2">
            <a:lumMod val="50000"/>
          </a:schemeClr>
        </a:solidFill>
        <a:ln>
          <a:solidFill>
            <a:schemeClr val="tx2">
              <a:lumMod val="20000"/>
              <a:lumOff val="80000"/>
            </a:schemeClr>
          </a:solidFill>
        </a:ln>
      </dgm:spPr>
      <dgm:t>
        <a:bodyPr/>
        <a:lstStyle/>
        <a:p>
          <a:r>
            <a:rPr lang="en-IN" sz="1200" dirty="0" smtClean="0"/>
            <a:t>Revenue Management Analytics</a:t>
          </a:r>
          <a:endParaRPr lang="en-IN" sz="1200" dirty="0"/>
        </a:p>
      </dgm:t>
    </dgm:pt>
    <dgm:pt modelId="{1DB84AE4-12FB-4E8C-9CD0-1A59BD03AEE2}" type="parTrans" cxnId="{09C97201-6C9D-40A0-861A-3560AD5DE2FF}">
      <dgm:prSet/>
      <dgm:spPr/>
      <dgm:t>
        <a:bodyPr/>
        <a:lstStyle/>
        <a:p>
          <a:endParaRPr lang="en-IN"/>
        </a:p>
      </dgm:t>
    </dgm:pt>
    <dgm:pt modelId="{F9E26085-7F61-40D2-A391-111CE89EF2D1}" type="sibTrans" cxnId="{09C97201-6C9D-40A0-861A-3560AD5DE2FF}">
      <dgm:prSet/>
      <dgm:spPr/>
      <dgm:t>
        <a:bodyPr/>
        <a:lstStyle/>
        <a:p>
          <a:endParaRPr lang="en-IN"/>
        </a:p>
      </dgm:t>
    </dgm:pt>
    <dgm:pt modelId="{82F9AD08-6199-4108-B605-3E3B08F7DAF5}">
      <dgm:prSet phldrT="[Text]"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r>
            <a:rPr lang="en-IN" sz="1400" b="0" i="0" dirty="0" smtClean="0">
              <a:solidFill>
                <a:schemeClr val="bg1">
                  <a:lumMod val="50000"/>
                </a:schemeClr>
              </a:solidFill>
            </a:rPr>
            <a:t>Forecast  &amp; optimize demand</a:t>
          </a:r>
          <a:endParaRPr lang="en-IN" sz="1400" dirty="0">
            <a:solidFill>
              <a:schemeClr val="bg1">
                <a:lumMod val="50000"/>
              </a:schemeClr>
            </a:solidFill>
          </a:endParaRPr>
        </a:p>
      </dgm:t>
    </dgm:pt>
    <dgm:pt modelId="{35DFFCC4-7F24-4314-8C4A-2B75BCBC91A7}" type="parTrans" cxnId="{2E44B8C0-D275-4DD2-91A2-97FE166AA6DE}">
      <dgm:prSet/>
      <dgm:spPr/>
      <dgm:t>
        <a:bodyPr/>
        <a:lstStyle/>
        <a:p>
          <a:endParaRPr lang="en-IN"/>
        </a:p>
      </dgm:t>
    </dgm:pt>
    <dgm:pt modelId="{D5921C5C-431A-4F7B-ABC5-605A383A3654}" type="sibTrans" cxnId="{2E44B8C0-D275-4DD2-91A2-97FE166AA6DE}">
      <dgm:prSet/>
      <dgm:spPr/>
      <dgm:t>
        <a:bodyPr/>
        <a:lstStyle/>
        <a:p>
          <a:endParaRPr lang="en-IN"/>
        </a:p>
      </dgm:t>
    </dgm:pt>
    <dgm:pt modelId="{84181489-6311-469A-B501-EED4940A67FB}">
      <dgm:prSet phldrT="[Text]" custT="1"/>
      <dgm:spPr>
        <a:solidFill>
          <a:schemeClr val="tx2">
            <a:lumMod val="50000"/>
          </a:schemeClr>
        </a:solidFill>
        <a:ln>
          <a:solidFill>
            <a:schemeClr val="tx2">
              <a:lumMod val="20000"/>
              <a:lumOff val="80000"/>
            </a:schemeClr>
          </a:solidFill>
        </a:ln>
      </dgm:spPr>
      <dgm:t>
        <a:bodyPr/>
        <a:lstStyle/>
        <a:p>
          <a:r>
            <a:rPr lang="en-IN" sz="1200" dirty="0" smtClean="0"/>
            <a:t>Analytics for Operations Management &amp; Sales Effectiveness</a:t>
          </a:r>
          <a:endParaRPr lang="en-IN" sz="1200" dirty="0"/>
        </a:p>
      </dgm:t>
    </dgm:pt>
    <dgm:pt modelId="{381CB815-5FE2-485F-9531-1D1FF4281A33}" type="parTrans" cxnId="{9D86E122-2EF3-4E6E-BD22-A6444C782C6B}">
      <dgm:prSet/>
      <dgm:spPr/>
      <dgm:t>
        <a:bodyPr/>
        <a:lstStyle/>
        <a:p>
          <a:endParaRPr lang="en-IN"/>
        </a:p>
      </dgm:t>
    </dgm:pt>
    <dgm:pt modelId="{3FA85DEF-66D5-46C1-8827-AC2AA40DFB12}" type="sibTrans" cxnId="{9D86E122-2EF3-4E6E-BD22-A6444C782C6B}">
      <dgm:prSet/>
      <dgm:spPr/>
      <dgm:t>
        <a:bodyPr/>
        <a:lstStyle/>
        <a:p>
          <a:endParaRPr lang="en-IN"/>
        </a:p>
      </dgm:t>
    </dgm:pt>
    <dgm:pt modelId="{31CCC4FA-C16A-4105-B9DF-F15436AE0066}">
      <dgm:prSet phldrT="[Text]"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 anchor="ctr"/>
        <a:lstStyle/>
        <a:p>
          <a:r>
            <a:rPr lang="en-IN" sz="1400" dirty="0" smtClean="0">
              <a:solidFill>
                <a:schemeClr val="bg1">
                  <a:lumMod val="50000"/>
                </a:schemeClr>
              </a:solidFill>
            </a:rPr>
            <a:t>   Enhance asset productivity</a:t>
          </a:r>
          <a:endParaRPr lang="en-IN" sz="1400" dirty="0">
            <a:solidFill>
              <a:schemeClr val="bg1">
                <a:lumMod val="50000"/>
              </a:schemeClr>
            </a:solidFill>
          </a:endParaRPr>
        </a:p>
      </dgm:t>
    </dgm:pt>
    <dgm:pt modelId="{EF233567-6E26-4258-A468-3BCD27A2555D}" type="parTrans" cxnId="{8C19234F-0DA6-4228-940B-24194D0BF4AE}">
      <dgm:prSet/>
      <dgm:spPr/>
      <dgm:t>
        <a:bodyPr/>
        <a:lstStyle/>
        <a:p>
          <a:endParaRPr lang="en-IN"/>
        </a:p>
      </dgm:t>
    </dgm:pt>
    <dgm:pt modelId="{09CB506A-618D-4E4E-B3BF-0867FE36D2F6}" type="sibTrans" cxnId="{8C19234F-0DA6-4228-940B-24194D0BF4AE}">
      <dgm:prSet/>
      <dgm:spPr/>
      <dgm:t>
        <a:bodyPr/>
        <a:lstStyle/>
        <a:p>
          <a:endParaRPr lang="en-IN"/>
        </a:p>
      </dgm:t>
    </dgm:pt>
    <dgm:pt modelId="{418A7EDD-2B1C-4BE0-8796-5ADC08641253}">
      <dgm:prSet phldrT="[Text]" custT="1"/>
      <dgm:spPr>
        <a:solidFill>
          <a:schemeClr val="tx2">
            <a:lumMod val="50000"/>
          </a:schemeClr>
        </a:solidFill>
        <a:ln>
          <a:solidFill>
            <a:schemeClr val="tx2">
              <a:lumMod val="20000"/>
              <a:lumOff val="80000"/>
            </a:schemeClr>
          </a:solidFill>
        </a:ln>
      </dgm:spPr>
      <dgm:t>
        <a:bodyPr/>
        <a:lstStyle/>
        <a:p>
          <a:r>
            <a:rPr lang="en-IN" sz="1200" dirty="0" smtClean="0"/>
            <a:t>Human Resource Analytics</a:t>
          </a:r>
          <a:endParaRPr lang="en-IN" sz="1200" dirty="0"/>
        </a:p>
      </dgm:t>
    </dgm:pt>
    <dgm:pt modelId="{40FCDBD7-5404-4939-8B2D-35C5B197857C}" type="parTrans" cxnId="{7D17805E-F42C-44B9-9E13-C224260EDDD8}">
      <dgm:prSet/>
      <dgm:spPr/>
      <dgm:t>
        <a:bodyPr/>
        <a:lstStyle/>
        <a:p>
          <a:endParaRPr lang="en-IN"/>
        </a:p>
      </dgm:t>
    </dgm:pt>
    <dgm:pt modelId="{12148E0C-625C-4A65-92EB-597196B46175}" type="sibTrans" cxnId="{7D17805E-F42C-44B9-9E13-C224260EDDD8}">
      <dgm:prSet/>
      <dgm:spPr/>
      <dgm:t>
        <a:bodyPr/>
        <a:lstStyle/>
        <a:p>
          <a:endParaRPr lang="en-IN"/>
        </a:p>
      </dgm:t>
    </dgm:pt>
    <dgm:pt modelId="{F8737A6A-B643-4907-A80D-EA8CAB72AD01}">
      <dgm:prSet phldrT="[Text]"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 anchor="b"/>
        <a:lstStyle/>
        <a:p>
          <a:r>
            <a:rPr lang="en-IN" sz="1400" b="0" i="0" dirty="0" smtClean="0">
              <a:solidFill>
                <a:schemeClr val="bg1">
                  <a:lumMod val="50000"/>
                </a:schemeClr>
              </a:solidFill>
            </a:rPr>
            <a:t>Forecast skill and employee requirements</a:t>
          </a:r>
          <a:endParaRPr lang="en-IN" sz="1400" dirty="0">
            <a:solidFill>
              <a:schemeClr val="bg1">
                <a:lumMod val="50000"/>
              </a:schemeClr>
            </a:solidFill>
          </a:endParaRPr>
        </a:p>
      </dgm:t>
    </dgm:pt>
    <dgm:pt modelId="{4387723F-B807-4571-879F-F53FBDB626BE}" type="parTrans" cxnId="{B4B456D9-A7E1-4167-BC06-BAE6E4BF5FAE}">
      <dgm:prSet/>
      <dgm:spPr/>
      <dgm:t>
        <a:bodyPr/>
        <a:lstStyle/>
        <a:p>
          <a:endParaRPr lang="en-IN"/>
        </a:p>
      </dgm:t>
    </dgm:pt>
    <dgm:pt modelId="{F84467D5-A64A-4513-9F2B-945CFDD82601}" type="sibTrans" cxnId="{B4B456D9-A7E1-4167-BC06-BAE6E4BF5FAE}">
      <dgm:prSet/>
      <dgm:spPr/>
      <dgm:t>
        <a:bodyPr/>
        <a:lstStyle/>
        <a:p>
          <a:endParaRPr lang="en-IN"/>
        </a:p>
      </dgm:t>
    </dgm:pt>
    <dgm:pt modelId="{3023D4B4-172B-4787-996D-8ED9079EDD2E}">
      <dgm:prSet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 anchor="b"/>
        <a:lstStyle/>
        <a:p>
          <a:r>
            <a:rPr lang="en-IN" sz="1400" b="0" i="0" dirty="0" smtClean="0">
              <a:solidFill>
                <a:schemeClr val="bg1">
                  <a:lumMod val="50000"/>
                </a:schemeClr>
              </a:solidFill>
            </a:rPr>
            <a:t>Effectively deploy human capital</a:t>
          </a:r>
          <a:endParaRPr lang="en-IN" sz="1400" b="0" i="0" dirty="0">
            <a:solidFill>
              <a:schemeClr val="bg1">
                <a:lumMod val="50000"/>
              </a:schemeClr>
            </a:solidFill>
          </a:endParaRPr>
        </a:p>
      </dgm:t>
    </dgm:pt>
    <dgm:pt modelId="{805F4A75-F1DC-4B12-8C5D-E2ADA2E5CD91}" type="parTrans" cxnId="{2E98FB7F-253A-4444-8D74-1800B08D2841}">
      <dgm:prSet/>
      <dgm:spPr/>
      <dgm:t>
        <a:bodyPr/>
        <a:lstStyle/>
        <a:p>
          <a:endParaRPr lang="en-IN"/>
        </a:p>
      </dgm:t>
    </dgm:pt>
    <dgm:pt modelId="{695B7F71-2A18-49A6-B23B-C25B3E926DE4}" type="sibTrans" cxnId="{2E98FB7F-253A-4444-8D74-1800B08D2841}">
      <dgm:prSet/>
      <dgm:spPr/>
      <dgm:t>
        <a:bodyPr/>
        <a:lstStyle/>
        <a:p>
          <a:endParaRPr lang="en-IN"/>
        </a:p>
      </dgm:t>
    </dgm:pt>
    <dgm:pt modelId="{23A5B0FD-1E5C-442D-88DD-4FB34B3A6FAA}">
      <dgm:prSet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 anchor="b"/>
        <a:lstStyle/>
        <a:p>
          <a:r>
            <a:rPr lang="en-IN" sz="1400" b="0" i="0" dirty="0" smtClean="0">
              <a:solidFill>
                <a:schemeClr val="bg1">
                  <a:lumMod val="50000"/>
                </a:schemeClr>
              </a:solidFill>
            </a:rPr>
            <a:t>Understand the drivers for employee engagement</a:t>
          </a:r>
          <a:endParaRPr lang="en-IN" sz="1400" b="0" i="0" dirty="0">
            <a:solidFill>
              <a:schemeClr val="bg1">
                <a:lumMod val="50000"/>
              </a:schemeClr>
            </a:solidFill>
          </a:endParaRPr>
        </a:p>
      </dgm:t>
    </dgm:pt>
    <dgm:pt modelId="{97EA99C1-1DB9-4A1F-92BC-374CD11D1633}" type="parTrans" cxnId="{350E76DF-2FEC-4841-93BE-E2E9142E0A08}">
      <dgm:prSet/>
      <dgm:spPr/>
      <dgm:t>
        <a:bodyPr/>
        <a:lstStyle/>
        <a:p>
          <a:endParaRPr lang="en-IN"/>
        </a:p>
      </dgm:t>
    </dgm:pt>
    <dgm:pt modelId="{C00F310C-9183-4A02-8E38-43B2ED5FF881}" type="sibTrans" cxnId="{350E76DF-2FEC-4841-93BE-E2E9142E0A08}">
      <dgm:prSet/>
      <dgm:spPr/>
      <dgm:t>
        <a:bodyPr/>
        <a:lstStyle/>
        <a:p>
          <a:endParaRPr lang="en-IN"/>
        </a:p>
      </dgm:t>
    </dgm:pt>
    <dgm:pt modelId="{4C05FF12-1BAE-46EF-9765-5944A0163229}">
      <dgm:prSet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 anchor="b"/>
        <a:lstStyle/>
        <a:p>
          <a:r>
            <a:rPr lang="en-IN" sz="1400" b="0" i="0" dirty="0" smtClean="0">
              <a:solidFill>
                <a:schemeClr val="bg1">
                  <a:lumMod val="50000"/>
                </a:schemeClr>
              </a:solidFill>
            </a:rPr>
            <a:t>Predict high-potential employee churn</a:t>
          </a:r>
          <a:endParaRPr lang="en-IN" sz="1400" b="0" i="0" dirty="0">
            <a:solidFill>
              <a:schemeClr val="bg1">
                <a:lumMod val="50000"/>
              </a:schemeClr>
            </a:solidFill>
          </a:endParaRPr>
        </a:p>
      </dgm:t>
    </dgm:pt>
    <dgm:pt modelId="{E1B525E3-4AD8-437D-ADAB-5DB93C8FF33D}" type="parTrans" cxnId="{3D99421B-7034-40F5-94DA-D83B4FF2151D}">
      <dgm:prSet/>
      <dgm:spPr/>
      <dgm:t>
        <a:bodyPr/>
        <a:lstStyle/>
        <a:p>
          <a:endParaRPr lang="en-IN"/>
        </a:p>
      </dgm:t>
    </dgm:pt>
    <dgm:pt modelId="{8EC48A47-CF36-4FF2-A2EA-0CADAF36EEED}" type="sibTrans" cxnId="{3D99421B-7034-40F5-94DA-D83B4FF2151D}">
      <dgm:prSet/>
      <dgm:spPr/>
      <dgm:t>
        <a:bodyPr/>
        <a:lstStyle/>
        <a:p>
          <a:endParaRPr lang="en-IN"/>
        </a:p>
      </dgm:t>
    </dgm:pt>
    <dgm:pt modelId="{31714AD5-3D26-4C3A-BEC9-2998FE82A644}">
      <dgm:prSet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 anchor="b"/>
        <a:lstStyle/>
        <a:p>
          <a:r>
            <a:rPr lang="en-IN" sz="1400" b="0" i="0" dirty="0" smtClean="0">
              <a:solidFill>
                <a:schemeClr val="bg1">
                  <a:lumMod val="50000"/>
                </a:schemeClr>
              </a:solidFill>
            </a:rPr>
            <a:t>Optimize learning &amp; development initiatives and career management</a:t>
          </a:r>
          <a:endParaRPr lang="en-IN" sz="1400" b="0" i="0" dirty="0">
            <a:solidFill>
              <a:schemeClr val="bg1">
                <a:lumMod val="50000"/>
              </a:schemeClr>
            </a:solidFill>
          </a:endParaRPr>
        </a:p>
      </dgm:t>
    </dgm:pt>
    <dgm:pt modelId="{966E2F9A-965F-4699-93FE-EE5486D3A214}" type="parTrans" cxnId="{744E1F16-DA5C-4B08-888F-B4C22B6F6331}">
      <dgm:prSet/>
      <dgm:spPr/>
      <dgm:t>
        <a:bodyPr/>
        <a:lstStyle/>
        <a:p>
          <a:endParaRPr lang="en-IN"/>
        </a:p>
      </dgm:t>
    </dgm:pt>
    <dgm:pt modelId="{4805D7E5-944B-4888-82B8-A62763900C15}" type="sibTrans" cxnId="{744E1F16-DA5C-4B08-888F-B4C22B6F6331}">
      <dgm:prSet/>
      <dgm:spPr/>
      <dgm:t>
        <a:bodyPr/>
        <a:lstStyle/>
        <a:p>
          <a:endParaRPr lang="en-IN"/>
        </a:p>
      </dgm:t>
    </dgm:pt>
    <dgm:pt modelId="{8E2AAAAA-BF34-4317-8285-5D2F8A6B810A}">
      <dgm:prSet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 anchor="b"/>
        <a:lstStyle/>
        <a:p>
          <a:r>
            <a:rPr lang="en-IN" sz="1400" b="0" i="0" dirty="0" smtClean="0">
              <a:solidFill>
                <a:schemeClr val="bg1">
                  <a:lumMod val="50000"/>
                </a:schemeClr>
              </a:solidFill>
            </a:rPr>
            <a:t>Gain insights into employee productivity</a:t>
          </a:r>
          <a:endParaRPr lang="en-IN" sz="1400" b="0" i="0" dirty="0">
            <a:solidFill>
              <a:schemeClr val="bg1">
                <a:lumMod val="50000"/>
              </a:schemeClr>
            </a:solidFill>
          </a:endParaRPr>
        </a:p>
      </dgm:t>
    </dgm:pt>
    <dgm:pt modelId="{88D902F6-1928-47D7-8F65-580F4FF971A0}" type="parTrans" cxnId="{E549D0AF-DD88-4384-84D3-DD8CC62E2E7E}">
      <dgm:prSet/>
      <dgm:spPr/>
      <dgm:t>
        <a:bodyPr/>
        <a:lstStyle/>
        <a:p>
          <a:endParaRPr lang="en-IN"/>
        </a:p>
      </dgm:t>
    </dgm:pt>
    <dgm:pt modelId="{CCEE3BC6-896C-45C9-801E-64B013E0C8BE}" type="sibTrans" cxnId="{E549D0AF-DD88-4384-84D3-DD8CC62E2E7E}">
      <dgm:prSet/>
      <dgm:spPr/>
      <dgm:t>
        <a:bodyPr/>
        <a:lstStyle/>
        <a:p>
          <a:endParaRPr lang="en-IN"/>
        </a:p>
      </dgm:t>
    </dgm:pt>
    <dgm:pt modelId="{16B3D5C4-8E1F-46EC-B120-F3D1C4A1B061}">
      <dgm:prSet phldrT="[Text]"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 anchor="ctr"/>
        <a:lstStyle/>
        <a:p>
          <a:r>
            <a:rPr lang="en-IN" sz="1400" dirty="0" smtClean="0">
              <a:solidFill>
                <a:schemeClr val="bg1">
                  <a:lumMod val="50000"/>
                </a:schemeClr>
              </a:solidFill>
            </a:rPr>
            <a:t>Reduce credit and operational risks through risk modelling</a:t>
          </a:r>
          <a:endParaRPr lang="en-IN" sz="1400" dirty="0">
            <a:solidFill>
              <a:schemeClr val="bg1">
                <a:lumMod val="50000"/>
              </a:schemeClr>
            </a:solidFill>
          </a:endParaRPr>
        </a:p>
      </dgm:t>
    </dgm:pt>
    <dgm:pt modelId="{A4958976-52EC-4ADF-9881-FE4C121FFF65}" type="parTrans" cxnId="{E0EF106C-2714-43E1-A910-9C214F22DD2C}">
      <dgm:prSet/>
      <dgm:spPr/>
      <dgm:t>
        <a:bodyPr/>
        <a:lstStyle/>
        <a:p>
          <a:endParaRPr lang="en-IN"/>
        </a:p>
      </dgm:t>
    </dgm:pt>
    <dgm:pt modelId="{0A6034B9-D21E-49C7-B7A4-016BDAA4828A}" type="sibTrans" cxnId="{E0EF106C-2714-43E1-A910-9C214F22DD2C}">
      <dgm:prSet/>
      <dgm:spPr/>
      <dgm:t>
        <a:bodyPr/>
        <a:lstStyle/>
        <a:p>
          <a:endParaRPr lang="en-IN"/>
        </a:p>
      </dgm:t>
    </dgm:pt>
    <dgm:pt modelId="{2949A73D-619A-4AEF-AF5D-700909E51798}">
      <dgm:prSet phldrT="[Text]"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 anchor="ctr"/>
        <a:lstStyle/>
        <a:p>
          <a:endParaRPr lang="en-IN" sz="1400" dirty="0">
            <a:solidFill>
              <a:schemeClr val="bg1">
                <a:lumMod val="50000"/>
              </a:schemeClr>
            </a:solidFill>
          </a:endParaRPr>
        </a:p>
      </dgm:t>
    </dgm:pt>
    <dgm:pt modelId="{8F145A47-F13A-41DC-8312-1D3BE9DD1FA1}" type="parTrans" cxnId="{21FC5691-F57A-4E4D-A373-A498EE099276}">
      <dgm:prSet/>
      <dgm:spPr/>
      <dgm:t>
        <a:bodyPr/>
        <a:lstStyle/>
        <a:p>
          <a:endParaRPr lang="en-IN"/>
        </a:p>
      </dgm:t>
    </dgm:pt>
    <dgm:pt modelId="{1BF2AA23-A209-449B-A869-D94010D36C79}" type="sibTrans" cxnId="{21FC5691-F57A-4E4D-A373-A498EE099276}">
      <dgm:prSet/>
      <dgm:spPr/>
      <dgm:t>
        <a:bodyPr/>
        <a:lstStyle/>
        <a:p>
          <a:endParaRPr lang="en-IN"/>
        </a:p>
      </dgm:t>
    </dgm:pt>
    <dgm:pt modelId="{39F0DF6D-884F-4E69-BB3B-EDD72EF2D702}">
      <dgm:prSet phldrT="[Text]"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 anchor="ctr"/>
        <a:lstStyle/>
        <a:p>
          <a:r>
            <a:rPr lang="en-IN" sz="1400" dirty="0" smtClean="0">
              <a:solidFill>
                <a:schemeClr val="bg1">
                  <a:lumMod val="50000"/>
                </a:schemeClr>
              </a:solidFill>
            </a:rPr>
            <a:t>  Reduce raw material sourcing costs though predictive consumption demand</a:t>
          </a:r>
          <a:endParaRPr lang="en-IN" sz="1400" dirty="0">
            <a:solidFill>
              <a:schemeClr val="bg1">
                <a:lumMod val="50000"/>
              </a:schemeClr>
            </a:solidFill>
          </a:endParaRPr>
        </a:p>
      </dgm:t>
    </dgm:pt>
    <dgm:pt modelId="{4FA0738C-63C9-4186-B97B-913FBFA95F05}" type="parTrans" cxnId="{82EE1E1A-3E83-4366-8893-DB3FFB7CF66C}">
      <dgm:prSet/>
      <dgm:spPr/>
      <dgm:t>
        <a:bodyPr/>
        <a:lstStyle/>
        <a:p>
          <a:endParaRPr lang="en-IN"/>
        </a:p>
      </dgm:t>
    </dgm:pt>
    <dgm:pt modelId="{D37DCF94-A844-424C-8EF0-C721B4FCBC3A}" type="sibTrans" cxnId="{82EE1E1A-3E83-4366-8893-DB3FFB7CF66C}">
      <dgm:prSet/>
      <dgm:spPr/>
      <dgm:t>
        <a:bodyPr/>
        <a:lstStyle/>
        <a:p>
          <a:endParaRPr lang="en-IN"/>
        </a:p>
      </dgm:t>
    </dgm:pt>
    <dgm:pt modelId="{10FCA21E-3D91-474F-9F24-FD4CB171D538}">
      <dgm:prSet phldrT="[Text]" custT="1"/>
      <dgm:spPr>
        <a:ln w="38100"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IN" sz="1400" dirty="0" smtClean="0"/>
            <a:t>Integrated voice of the customer</a:t>
          </a:r>
          <a:endParaRPr lang="en-IN" sz="1400" dirty="0"/>
        </a:p>
      </dgm:t>
    </dgm:pt>
    <dgm:pt modelId="{01478F7F-5D84-420F-A04A-62BE5A745E95}" type="parTrans" cxnId="{C9200B56-240C-4ECE-8F5B-A12A3222EBE5}">
      <dgm:prSet/>
      <dgm:spPr/>
      <dgm:t>
        <a:bodyPr/>
        <a:lstStyle/>
        <a:p>
          <a:endParaRPr lang="en-IN"/>
        </a:p>
      </dgm:t>
    </dgm:pt>
    <dgm:pt modelId="{83ACE52E-3B29-42CA-B63A-9E41B69E89F9}" type="sibTrans" cxnId="{C9200B56-240C-4ECE-8F5B-A12A3222EBE5}">
      <dgm:prSet/>
      <dgm:spPr/>
      <dgm:t>
        <a:bodyPr/>
        <a:lstStyle/>
        <a:p>
          <a:endParaRPr lang="en-IN"/>
        </a:p>
      </dgm:t>
    </dgm:pt>
    <dgm:pt modelId="{7DD7D22D-892F-4E6F-B2A6-59711B783756}">
      <dgm:prSet phldrT="[Text]" custT="1"/>
      <dgm:spPr>
        <a:ln w="38100"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IN" sz="1400" dirty="0" smtClean="0"/>
            <a:t>Personalize and standardize experience</a:t>
          </a:r>
          <a:endParaRPr lang="en-IN" sz="1400" dirty="0"/>
        </a:p>
      </dgm:t>
    </dgm:pt>
    <dgm:pt modelId="{523F2914-54DD-49CD-811A-294F53E3D7F3}" type="parTrans" cxnId="{B4E631B0-A697-43B5-8F50-CA745AA071C5}">
      <dgm:prSet/>
      <dgm:spPr/>
      <dgm:t>
        <a:bodyPr/>
        <a:lstStyle/>
        <a:p>
          <a:endParaRPr lang="en-IN"/>
        </a:p>
      </dgm:t>
    </dgm:pt>
    <dgm:pt modelId="{B78D1571-4470-4F11-8A55-BE7FF026A4FE}" type="sibTrans" cxnId="{B4E631B0-A697-43B5-8F50-CA745AA071C5}">
      <dgm:prSet/>
      <dgm:spPr/>
      <dgm:t>
        <a:bodyPr/>
        <a:lstStyle/>
        <a:p>
          <a:endParaRPr lang="en-IN"/>
        </a:p>
      </dgm:t>
    </dgm:pt>
    <dgm:pt modelId="{EDDEBDCA-9955-4077-9810-1ADC7869C5D0}">
      <dgm:prSet phldrT="[Text]" custT="1"/>
      <dgm:spPr>
        <a:ln w="38100">
          <a:solidFill>
            <a:schemeClr val="accent1">
              <a:lumMod val="50000"/>
            </a:schemeClr>
          </a:solidFill>
        </a:ln>
      </dgm:spPr>
      <dgm:t>
        <a:bodyPr/>
        <a:lstStyle/>
        <a:p>
          <a:endParaRPr lang="en-IN" sz="1400" dirty="0"/>
        </a:p>
      </dgm:t>
    </dgm:pt>
    <dgm:pt modelId="{4485C366-20D4-43EE-B3C1-DD07FF8D018A}" type="parTrans" cxnId="{1C964AC2-2A28-4484-825F-E0B06B14A238}">
      <dgm:prSet/>
      <dgm:spPr/>
      <dgm:t>
        <a:bodyPr/>
        <a:lstStyle/>
        <a:p>
          <a:endParaRPr lang="en-IN"/>
        </a:p>
      </dgm:t>
    </dgm:pt>
    <dgm:pt modelId="{032EA678-A96E-4D41-AFC0-26069924E8AB}" type="sibTrans" cxnId="{1C964AC2-2A28-4484-825F-E0B06B14A238}">
      <dgm:prSet/>
      <dgm:spPr/>
      <dgm:t>
        <a:bodyPr/>
        <a:lstStyle/>
        <a:p>
          <a:endParaRPr lang="en-IN"/>
        </a:p>
      </dgm:t>
    </dgm:pt>
    <dgm:pt modelId="{CDC58FA9-2AC2-46B8-A8F2-E90780679E8B}">
      <dgm:prSet phldrT="[Text]" custT="1"/>
      <dgm:spPr>
        <a:ln w="38100"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IN" sz="1400" dirty="0" smtClean="0"/>
            <a:t>Enhance campaign effectiveness </a:t>
          </a:r>
          <a:endParaRPr lang="en-IN" sz="1400" dirty="0"/>
        </a:p>
      </dgm:t>
    </dgm:pt>
    <dgm:pt modelId="{EB1857BB-2F4B-4ED5-97A6-DD88B1F522D1}" type="parTrans" cxnId="{CC9F7CDA-4E03-4ABF-BCE3-B3B8F7A804C9}">
      <dgm:prSet/>
      <dgm:spPr/>
      <dgm:t>
        <a:bodyPr/>
        <a:lstStyle/>
        <a:p>
          <a:endParaRPr lang="en-IN"/>
        </a:p>
      </dgm:t>
    </dgm:pt>
    <dgm:pt modelId="{54F02C54-6EFE-4699-BAA2-06F2AAC8BDBA}" type="sibTrans" cxnId="{CC9F7CDA-4E03-4ABF-BCE3-B3B8F7A804C9}">
      <dgm:prSet/>
      <dgm:spPr/>
      <dgm:t>
        <a:bodyPr/>
        <a:lstStyle/>
        <a:p>
          <a:endParaRPr lang="en-IN"/>
        </a:p>
      </dgm:t>
    </dgm:pt>
    <dgm:pt modelId="{A3707838-35B5-44F2-80F9-2F85791609BC}">
      <dgm:prSet phldrT="[Text]" custT="1"/>
      <dgm:spPr>
        <a:ln w="38100">
          <a:solidFill>
            <a:schemeClr val="accent1">
              <a:lumMod val="50000"/>
            </a:schemeClr>
          </a:solidFill>
        </a:ln>
      </dgm:spPr>
      <dgm:t>
        <a:bodyPr/>
        <a:lstStyle/>
        <a:p>
          <a:endParaRPr lang="en-IN" sz="1400" dirty="0"/>
        </a:p>
      </dgm:t>
    </dgm:pt>
    <dgm:pt modelId="{BEC8214F-0655-4834-92B8-017B08479294}" type="parTrans" cxnId="{905B1219-42A1-4811-8BAF-2A008C898074}">
      <dgm:prSet/>
      <dgm:spPr/>
      <dgm:t>
        <a:bodyPr/>
        <a:lstStyle/>
        <a:p>
          <a:endParaRPr lang="en-IN"/>
        </a:p>
      </dgm:t>
    </dgm:pt>
    <dgm:pt modelId="{FBFEAB90-B781-4776-B4CD-CD1F8D45C189}" type="sibTrans" cxnId="{905B1219-42A1-4811-8BAF-2A008C898074}">
      <dgm:prSet/>
      <dgm:spPr/>
      <dgm:t>
        <a:bodyPr/>
        <a:lstStyle/>
        <a:p>
          <a:endParaRPr lang="en-IN"/>
        </a:p>
      </dgm:t>
    </dgm:pt>
    <dgm:pt modelId="{690C29F8-C33C-4857-AE28-9BF207C92BF0}">
      <dgm:prSet phldrT="[Text]" custT="1"/>
      <dgm:spPr>
        <a:ln w="38100"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IN" sz="1400" dirty="0" smtClean="0"/>
            <a:t>Enhance Loyalty Program Effectiveness</a:t>
          </a:r>
          <a:endParaRPr lang="en-IN" sz="1400" dirty="0"/>
        </a:p>
      </dgm:t>
    </dgm:pt>
    <dgm:pt modelId="{8F17050D-3B91-4107-B9CA-AAED42E5737F}" type="parTrans" cxnId="{8DAE104A-EE1B-4269-9681-23BC192F3139}">
      <dgm:prSet/>
      <dgm:spPr/>
      <dgm:t>
        <a:bodyPr/>
        <a:lstStyle/>
        <a:p>
          <a:endParaRPr lang="en-IN"/>
        </a:p>
      </dgm:t>
    </dgm:pt>
    <dgm:pt modelId="{2E8BCB7A-2EB1-48A1-905D-19842E37D18C}" type="sibTrans" cxnId="{8DAE104A-EE1B-4269-9681-23BC192F3139}">
      <dgm:prSet/>
      <dgm:spPr/>
      <dgm:t>
        <a:bodyPr/>
        <a:lstStyle/>
        <a:p>
          <a:endParaRPr lang="en-IN"/>
        </a:p>
      </dgm:t>
    </dgm:pt>
    <dgm:pt modelId="{D6369379-A348-4EEA-8A9A-84E0030E7069}">
      <dgm:prSet phldrT="[Text]" custT="1"/>
      <dgm:spPr>
        <a:ln w="38100"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IN" sz="1400" dirty="0" smtClean="0"/>
            <a:t>Identify the high value &amp; high potential customers</a:t>
          </a:r>
          <a:endParaRPr lang="en-IN" sz="1400" dirty="0"/>
        </a:p>
      </dgm:t>
    </dgm:pt>
    <dgm:pt modelId="{BD89D2D8-3E0E-4FFA-BA3E-26C842C98776}" type="sibTrans" cxnId="{BAF6F385-E676-4FE4-9D6B-4DE943BA7A61}">
      <dgm:prSet/>
      <dgm:spPr/>
      <dgm:t>
        <a:bodyPr/>
        <a:lstStyle/>
        <a:p>
          <a:endParaRPr lang="en-IN"/>
        </a:p>
      </dgm:t>
    </dgm:pt>
    <dgm:pt modelId="{B247C15C-06D4-4ECB-9812-D313A264E651}" type="parTrans" cxnId="{BAF6F385-E676-4FE4-9D6B-4DE943BA7A61}">
      <dgm:prSet/>
      <dgm:spPr/>
      <dgm:t>
        <a:bodyPr/>
        <a:lstStyle/>
        <a:p>
          <a:endParaRPr lang="en-IN"/>
        </a:p>
      </dgm:t>
    </dgm:pt>
    <dgm:pt modelId="{C510DFE1-4E9D-4D43-AE86-5279A0B75B9A}">
      <dgm:prSet phldrT="[Text]"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 anchor="ctr"/>
        <a:lstStyle/>
        <a:p>
          <a:r>
            <a:rPr lang="en-IN" sz="1400" dirty="0" smtClean="0">
              <a:solidFill>
                <a:schemeClr val="bg1">
                  <a:lumMod val="50000"/>
                </a:schemeClr>
              </a:solidFill>
            </a:rPr>
            <a:t>Drive hotel cost optimizations </a:t>
          </a:r>
          <a:endParaRPr lang="en-IN" sz="1400" dirty="0">
            <a:solidFill>
              <a:schemeClr val="bg1">
                <a:lumMod val="50000"/>
              </a:schemeClr>
            </a:solidFill>
          </a:endParaRPr>
        </a:p>
      </dgm:t>
    </dgm:pt>
    <dgm:pt modelId="{75AFE48C-5216-4CD3-A8C8-BBC59620A011}" type="parTrans" cxnId="{590B863E-0CDE-4EBC-A053-67AB56CA18D0}">
      <dgm:prSet/>
      <dgm:spPr/>
      <dgm:t>
        <a:bodyPr/>
        <a:lstStyle/>
        <a:p>
          <a:endParaRPr lang="en-IN"/>
        </a:p>
      </dgm:t>
    </dgm:pt>
    <dgm:pt modelId="{0AA1BA18-7CE6-4CFF-A193-63F97BF9CA8A}" type="sibTrans" cxnId="{590B863E-0CDE-4EBC-A053-67AB56CA18D0}">
      <dgm:prSet/>
      <dgm:spPr/>
      <dgm:t>
        <a:bodyPr/>
        <a:lstStyle/>
        <a:p>
          <a:endParaRPr lang="en-IN"/>
        </a:p>
      </dgm:t>
    </dgm:pt>
    <dgm:pt modelId="{4034ED69-AA85-49C0-9ED3-D4584C5D94CA}">
      <dgm:prSet phldrT="[Text]"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 anchor="ctr"/>
        <a:lstStyle/>
        <a:p>
          <a:endParaRPr lang="en-IN" sz="1400" dirty="0">
            <a:solidFill>
              <a:schemeClr val="bg1">
                <a:lumMod val="50000"/>
              </a:schemeClr>
            </a:solidFill>
          </a:endParaRPr>
        </a:p>
      </dgm:t>
    </dgm:pt>
    <dgm:pt modelId="{5A1792C4-9FE4-429E-AEAA-A32718B14603}" type="parTrans" cxnId="{4271B99F-B76B-4873-AD30-E28278E896CC}">
      <dgm:prSet/>
      <dgm:spPr/>
      <dgm:t>
        <a:bodyPr/>
        <a:lstStyle/>
        <a:p>
          <a:endParaRPr lang="en-IN"/>
        </a:p>
      </dgm:t>
    </dgm:pt>
    <dgm:pt modelId="{900E522E-973E-4754-ACA5-4298D4236F0F}" type="sibTrans" cxnId="{4271B99F-B76B-4873-AD30-E28278E896CC}">
      <dgm:prSet/>
      <dgm:spPr/>
      <dgm:t>
        <a:bodyPr/>
        <a:lstStyle/>
        <a:p>
          <a:endParaRPr lang="en-IN"/>
        </a:p>
      </dgm:t>
    </dgm:pt>
    <dgm:pt modelId="{C2306633-05FC-4296-8B4A-798DFAB4A455}">
      <dgm:prSet phldrT="[Text]"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 anchor="ctr"/>
        <a:lstStyle/>
        <a:p>
          <a:r>
            <a:rPr lang="en-IN" sz="1400" dirty="0" smtClean="0">
              <a:solidFill>
                <a:schemeClr val="bg1">
                  <a:lumMod val="50000"/>
                </a:schemeClr>
              </a:solidFill>
            </a:rPr>
            <a:t>Predict sales force needs and optimize deployment </a:t>
          </a:r>
          <a:endParaRPr lang="en-IN" sz="1400" dirty="0">
            <a:solidFill>
              <a:schemeClr val="bg1">
                <a:lumMod val="50000"/>
              </a:schemeClr>
            </a:solidFill>
          </a:endParaRPr>
        </a:p>
      </dgm:t>
    </dgm:pt>
    <dgm:pt modelId="{804CB0D5-B6FE-4FE4-B4E2-38C2FE958050}" type="parTrans" cxnId="{30CBACD6-3998-47E9-A507-0EC156A506EB}">
      <dgm:prSet/>
      <dgm:spPr/>
      <dgm:t>
        <a:bodyPr/>
        <a:lstStyle/>
        <a:p>
          <a:endParaRPr lang="en-IN"/>
        </a:p>
      </dgm:t>
    </dgm:pt>
    <dgm:pt modelId="{3830034B-6C63-4E23-B32B-CE22251A7590}" type="sibTrans" cxnId="{30CBACD6-3998-47E9-A507-0EC156A506EB}">
      <dgm:prSet/>
      <dgm:spPr/>
      <dgm:t>
        <a:bodyPr/>
        <a:lstStyle/>
        <a:p>
          <a:endParaRPr lang="en-IN"/>
        </a:p>
      </dgm:t>
    </dgm:pt>
    <dgm:pt modelId="{3DEC1168-65CB-4FA3-B076-676CFBB3D6F2}">
      <dgm:prSet phldrT="[Text]"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 anchor="ctr"/>
        <a:lstStyle/>
        <a:p>
          <a:r>
            <a:rPr lang="en-IN" sz="1400" dirty="0" smtClean="0">
              <a:solidFill>
                <a:schemeClr val="bg1">
                  <a:lumMod val="50000"/>
                </a:schemeClr>
              </a:solidFill>
            </a:rPr>
            <a:t>Identify drivers of sales effectiveness drivers</a:t>
          </a:r>
          <a:endParaRPr lang="en-IN" sz="1400" dirty="0">
            <a:solidFill>
              <a:schemeClr val="bg1">
                <a:lumMod val="50000"/>
              </a:schemeClr>
            </a:solidFill>
          </a:endParaRPr>
        </a:p>
      </dgm:t>
    </dgm:pt>
    <dgm:pt modelId="{D2D467A9-6466-4E8D-A801-3B7178B8EC19}" type="parTrans" cxnId="{6E50E42A-923F-41E7-8688-FAB6602CDEB2}">
      <dgm:prSet/>
      <dgm:spPr/>
      <dgm:t>
        <a:bodyPr/>
        <a:lstStyle/>
        <a:p>
          <a:endParaRPr lang="en-IN"/>
        </a:p>
      </dgm:t>
    </dgm:pt>
    <dgm:pt modelId="{6B841906-47DB-45B9-999D-9EF7AA228186}" type="sibTrans" cxnId="{6E50E42A-923F-41E7-8688-FAB6602CDEB2}">
      <dgm:prSet/>
      <dgm:spPr/>
      <dgm:t>
        <a:bodyPr/>
        <a:lstStyle/>
        <a:p>
          <a:endParaRPr lang="en-IN"/>
        </a:p>
      </dgm:t>
    </dgm:pt>
    <dgm:pt modelId="{0FD08E72-0A5B-42D2-B0A6-0CD10B2E3631}">
      <dgm:prSet phldrT="[Text]"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r>
            <a:rPr lang="en-IN" sz="1400" dirty="0" smtClean="0">
              <a:solidFill>
                <a:schemeClr val="bg1">
                  <a:lumMod val="50000"/>
                </a:schemeClr>
              </a:solidFill>
            </a:rPr>
            <a:t> Optimize pricing</a:t>
          </a:r>
          <a:endParaRPr lang="en-IN" sz="1400" dirty="0">
            <a:solidFill>
              <a:schemeClr val="bg1">
                <a:lumMod val="50000"/>
              </a:schemeClr>
            </a:solidFill>
          </a:endParaRPr>
        </a:p>
      </dgm:t>
    </dgm:pt>
    <dgm:pt modelId="{E36A9AA2-0105-4808-B70D-7D89E40908C7}" type="parTrans" cxnId="{1ED6097C-634D-4541-9B5C-4BD92477E7A2}">
      <dgm:prSet/>
      <dgm:spPr/>
      <dgm:t>
        <a:bodyPr/>
        <a:lstStyle/>
        <a:p>
          <a:endParaRPr lang="en-IN"/>
        </a:p>
      </dgm:t>
    </dgm:pt>
    <dgm:pt modelId="{BB7C5DCF-0E80-427C-8E27-3D4A4E75FD93}" type="sibTrans" cxnId="{1ED6097C-634D-4541-9B5C-4BD92477E7A2}">
      <dgm:prSet/>
      <dgm:spPr/>
      <dgm:t>
        <a:bodyPr/>
        <a:lstStyle/>
        <a:p>
          <a:endParaRPr lang="en-IN"/>
        </a:p>
      </dgm:t>
    </dgm:pt>
    <dgm:pt modelId="{F99A6688-8411-4A0B-8FB0-4893997F61B8}">
      <dgm:prSet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r>
            <a:rPr lang="en-IN" sz="1400" b="0" i="0" dirty="0" smtClean="0">
              <a:solidFill>
                <a:schemeClr val="bg1">
                  <a:lumMod val="50000"/>
                </a:schemeClr>
              </a:solidFill>
            </a:rPr>
            <a:t>Maximize impact by room category and length of stay</a:t>
          </a:r>
          <a:endParaRPr lang="en-IN" sz="1400" b="0" i="0" dirty="0">
            <a:solidFill>
              <a:schemeClr val="bg1">
                <a:lumMod val="50000"/>
              </a:schemeClr>
            </a:solidFill>
          </a:endParaRPr>
        </a:p>
      </dgm:t>
    </dgm:pt>
    <dgm:pt modelId="{18B7F07A-58EF-4AE1-BDC4-5374C1184C89}" type="parTrans" cxnId="{ADD8CC96-D49D-4441-B029-38BF28C02B5A}">
      <dgm:prSet/>
      <dgm:spPr/>
      <dgm:t>
        <a:bodyPr/>
        <a:lstStyle/>
        <a:p>
          <a:endParaRPr lang="en-IN"/>
        </a:p>
      </dgm:t>
    </dgm:pt>
    <dgm:pt modelId="{E298CCF5-D6FA-4635-B178-86B0D6906125}" type="sibTrans" cxnId="{ADD8CC96-D49D-4441-B029-38BF28C02B5A}">
      <dgm:prSet/>
      <dgm:spPr/>
      <dgm:t>
        <a:bodyPr/>
        <a:lstStyle/>
        <a:p>
          <a:endParaRPr lang="en-IN"/>
        </a:p>
      </dgm:t>
    </dgm:pt>
    <dgm:pt modelId="{34A355A3-1DE2-41D7-8E92-34FA1ACE452A}">
      <dgm:prSet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r>
            <a:rPr lang="en-IN" sz="1400" b="0" i="0" dirty="0" smtClean="0">
              <a:solidFill>
                <a:schemeClr val="bg1">
                  <a:lumMod val="50000"/>
                </a:schemeClr>
              </a:solidFill>
            </a:rPr>
            <a:t>Track competition rates &amp; pricing</a:t>
          </a:r>
          <a:endParaRPr lang="en-IN" sz="1400" b="0" i="0" dirty="0">
            <a:solidFill>
              <a:schemeClr val="bg1">
                <a:lumMod val="50000"/>
              </a:schemeClr>
            </a:solidFill>
          </a:endParaRPr>
        </a:p>
      </dgm:t>
    </dgm:pt>
    <dgm:pt modelId="{AC11933F-6D95-47CF-8391-B653C14CA74B}" type="parTrans" cxnId="{AC3FD9E4-C3C6-470E-A0F8-5800315FF95D}">
      <dgm:prSet/>
      <dgm:spPr/>
      <dgm:t>
        <a:bodyPr/>
        <a:lstStyle/>
        <a:p>
          <a:endParaRPr lang="en-IN"/>
        </a:p>
      </dgm:t>
    </dgm:pt>
    <dgm:pt modelId="{0DBB2394-DE67-471A-BDA8-16C76CAF9CB6}" type="sibTrans" cxnId="{AC3FD9E4-C3C6-470E-A0F8-5800315FF95D}">
      <dgm:prSet/>
      <dgm:spPr/>
      <dgm:t>
        <a:bodyPr/>
        <a:lstStyle/>
        <a:p>
          <a:endParaRPr lang="en-IN"/>
        </a:p>
      </dgm:t>
    </dgm:pt>
    <dgm:pt modelId="{20E5A392-C97B-419C-BBB5-6C869B2B4FE7}">
      <dgm:prSet phldrT="[Text]"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r>
            <a:rPr lang="en-IN" sz="1400" dirty="0" smtClean="0">
              <a:solidFill>
                <a:schemeClr val="bg1">
                  <a:lumMod val="50000"/>
                </a:schemeClr>
              </a:solidFill>
            </a:rPr>
            <a:t>Restaurant Revenue Management – maximize </a:t>
          </a:r>
          <a:r>
            <a:rPr lang="en-IN" sz="1400" dirty="0" err="1" smtClean="0">
              <a:solidFill>
                <a:schemeClr val="bg1">
                  <a:lumMod val="50000"/>
                </a:schemeClr>
              </a:solidFill>
            </a:rPr>
            <a:t>RevPASH</a:t>
          </a:r>
          <a:endParaRPr lang="en-IN" sz="1400" dirty="0">
            <a:solidFill>
              <a:schemeClr val="bg1">
                <a:lumMod val="50000"/>
              </a:schemeClr>
            </a:solidFill>
          </a:endParaRPr>
        </a:p>
      </dgm:t>
    </dgm:pt>
    <dgm:pt modelId="{415BB850-295D-4936-8131-EECCEC8EE83E}" type="parTrans" cxnId="{43D3E45E-E72C-4457-827A-027FE3EAA3CD}">
      <dgm:prSet/>
      <dgm:spPr/>
      <dgm:t>
        <a:bodyPr/>
        <a:lstStyle/>
        <a:p>
          <a:endParaRPr lang="en-IN"/>
        </a:p>
      </dgm:t>
    </dgm:pt>
    <dgm:pt modelId="{5383D34E-71CB-4BB7-A4CB-2D19708C795A}" type="sibTrans" cxnId="{43D3E45E-E72C-4457-827A-027FE3EAA3CD}">
      <dgm:prSet/>
      <dgm:spPr/>
      <dgm:t>
        <a:bodyPr/>
        <a:lstStyle/>
        <a:p>
          <a:endParaRPr lang="en-IN"/>
        </a:p>
      </dgm:t>
    </dgm:pt>
    <dgm:pt modelId="{19EE21B0-7060-4ECB-A487-A0CCBF3AEE5C}">
      <dgm:prSet phldrT="[Text]" custT="1"/>
      <dgm:spPr>
        <a:ln w="38100"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IN" sz="1400" dirty="0" smtClean="0"/>
            <a:t>Targeted offerings – Cross / Up sell</a:t>
          </a:r>
          <a:endParaRPr lang="en-IN" sz="1400" dirty="0"/>
        </a:p>
      </dgm:t>
    </dgm:pt>
    <dgm:pt modelId="{C585451C-A5AB-4E7B-89AA-05609406DBB4}" type="parTrans" cxnId="{80DD7F6C-1248-48E8-BE30-733B69F05B69}">
      <dgm:prSet/>
      <dgm:spPr/>
      <dgm:t>
        <a:bodyPr/>
        <a:lstStyle/>
        <a:p>
          <a:endParaRPr lang="en-IN"/>
        </a:p>
      </dgm:t>
    </dgm:pt>
    <dgm:pt modelId="{FB1C3A8D-CD0D-4CB2-B28A-6767BA0DB35A}" type="sibTrans" cxnId="{80DD7F6C-1248-48E8-BE30-733B69F05B69}">
      <dgm:prSet/>
      <dgm:spPr/>
      <dgm:t>
        <a:bodyPr/>
        <a:lstStyle/>
        <a:p>
          <a:endParaRPr lang="en-IN"/>
        </a:p>
      </dgm:t>
    </dgm:pt>
    <dgm:pt modelId="{159CB7F7-3804-4F92-AFA5-0180EF215803}">
      <dgm:prSet phldrT="[Text]" custT="1"/>
      <dgm:spPr>
        <a:ln w="38100"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US" sz="1400" dirty="0" smtClean="0"/>
            <a:t>Customer channel preference</a:t>
          </a:r>
          <a:endParaRPr lang="en-IN" sz="1400" dirty="0"/>
        </a:p>
      </dgm:t>
    </dgm:pt>
    <dgm:pt modelId="{83CF0EF8-A211-4708-85D0-B9EB7B4D7DA4}" type="parTrans" cxnId="{732A3C61-E2AA-400B-B56C-079DC337D56A}">
      <dgm:prSet/>
      <dgm:spPr/>
      <dgm:t>
        <a:bodyPr/>
        <a:lstStyle/>
        <a:p>
          <a:endParaRPr lang="en-IN"/>
        </a:p>
      </dgm:t>
    </dgm:pt>
    <dgm:pt modelId="{1E058210-FD48-422C-93B0-1391568053E0}" type="sibTrans" cxnId="{732A3C61-E2AA-400B-B56C-079DC337D56A}">
      <dgm:prSet/>
      <dgm:spPr/>
      <dgm:t>
        <a:bodyPr/>
        <a:lstStyle/>
        <a:p>
          <a:endParaRPr lang="en-IN"/>
        </a:p>
      </dgm:t>
    </dgm:pt>
    <dgm:pt modelId="{04D3DC2D-4657-4DE5-909E-598B08CFE9AB}" type="pres">
      <dgm:prSet presAssocID="{4F41977E-8B77-4E26-B9E4-872B9F5D811D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174E4B53-E53E-4723-8508-33A717CFB8D2}" type="pres">
      <dgm:prSet presAssocID="{4F41977E-8B77-4E26-B9E4-872B9F5D811D}" presName="children" presStyleCnt="0"/>
      <dgm:spPr/>
    </dgm:pt>
    <dgm:pt modelId="{90A07D5F-35AD-46A2-892C-E2F8D3075F67}" type="pres">
      <dgm:prSet presAssocID="{4F41977E-8B77-4E26-B9E4-872B9F5D811D}" presName="child1group" presStyleCnt="0"/>
      <dgm:spPr/>
    </dgm:pt>
    <dgm:pt modelId="{EA1CF468-DFD6-47EA-BA3B-D6596839DE24}" type="pres">
      <dgm:prSet presAssocID="{4F41977E-8B77-4E26-B9E4-872B9F5D811D}" presName="child1" presStyleLbl="bgAcc1" presStyleIdx="0" presStyleCnt="4" custScaleX="261810" custScaleY="150934" custLinFactNeighborX="-65021" custLinFactNeighborY="29749"/>
      <dgm:spPr/>
      <dgm:t>
        <a:bodyPr/>
        <a:lstStyle/>
        <a:p>
          <a:endParaRPr lang="en-IN"/>
        </a:p>
      </dgm:t>
    </dgm:pt>
    <dgm:pt modelId="{D44E9886-EE47-4AEC-B3A9-184FE1FD28BF}" type="pres">
      <dgm:prSet presAssocID="{4F41977E-8B77-4E26-B9E4-872B9F5D811D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C0CAA45-5DF8-452E-B442-5249A5501F83}" type="pres">
      <dgm:prSet presAssocID="{4F41977E-8B77-4E26-B9E4-872B9F5D811D}" presName="child2group" presStyleCnt="0"/>
      <dgm:spPr/>
    </dgm:pt>
    <dgm:pt modelId="{FF479E3D-9041-4422-850F-BDBE1E018A26}" type="pres">
      <dgm:prSet presAssocID="{4F41977E-8B77-4E26-B9E4-872B9F5D811D}" presName="child2" presStyleLbl="bgAcc1" presStyleIdx="1" presStyleCnt="4" custScaleX="240925" custScaleY="142401" custLinFactNeighborX="54953" custLinFactNeighborY="25995"/>
      <dgm:spPr/>
      <dgm:t>
        <a:bodyPr/>
        <a:lstStyle/>
        <a:p>
          <a:endParaRPr lang="en-IN"/>
        </a:p>
      </dgm:t>
    </dgm:pt>
    <dgm:pt modelId="{F687DB78-8653-41D8-B47A-D1349D3DE866}" type="pres">
      <dgm:prSet presAssocID="{4F41977E-8B77-4E26-B9E4-872B9F5D811D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E7BC13E-376C-4189-A069-E551B3461088}" type="pres">
      <dgm:prSet presAssocID="{4F41977E-8B77-4E26-B9E4-872B9F5D811D}" presName="child3group" presStyleCnt="0"/>
      <dgm:spPr/>
    </dgm:pt>
    <dgm:pt modelId="{9D4A2B47-CA3E-4D38-8FE4-821B105AC727}" type="pres">
      <dgm:prSet presAssocID="{4F41977E-8B77-4E26-B9E4-872B9F5D811D}" presName="child3" presStyleLbl="bgAcc1" presStyleIdx="2" presStyleCnt="4" custScaleX="268575" custScaleY="155302" custLinFactNeighborX="52942" custLinFactNeighborY="-13203"/>
      <dgm:spPr/>
      <dgm:t>
        <a:bodyPr/>
        <a:lstStyle/>
        <a:p>
          <a:endParaRPr lang="en-IN"/>
        </a:p>
      </dgm:t>
    </dgm:pt>
    <dgm:pt modelId="{5E27B9DA-4D8C-4B78-82F9-3051D6C393D1}" type="pres">
      <dgm:prSet presAssocID="{4F41977E-8B77-4E26-B9E4-872B9F5D811D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19694CE-DA13-4567-92C0-8146D849C541}" type="pres">
      <dgm:prSet presAssocID="{4F41977E-8B77-4E26-B9E4-872B9F5D811D}" presName="child4group" presStyleCnt="0"/>
      <dgm:spPr/>
    </dgm:pt>
    <dgm:pt modelId="{7B0C5E8F-FA50-4B7C-ACB1-CD02C01968C1}" type="pres">
      <dgm:prSet presAssocID="{4F41977E-8B77-4E26-B9E4-872B9F5D811D}" presName="child4" presStyleLbl="bgAcc1" presStyleIdx="3" presStyleCnt="4" custScaleX="262727" custScaleY="148494" custLinFactNeighborX="-50107" custLinFactNeighborY="-11251"/>
      <dgm:spPr/>
      <dgm:t>
        <a:bodyPr/>
        <a:lstStyle/>
        <a:p>
          <a:endParaRPr lang="en-IN"/>
        </a:p>
      </dgm:t>
    </dgm:pt>
    <dgm:pt modelId="{63B66627-9970-4C61-889A-FA882A541B4A}" type="pres">
      <dgm:prSet presAssocID="{4F41977E-8B77-4E26-B9E4-872B9F5D811D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864359C-7F85-488C-AF4D-EC05F8F37D1D}" type="pres">
      <dgm:prSet presAssocID="{4F41977E-8B77-4E26-B9E4-872B9F5D811D}" presName="childPlaceholder" presStyleCnt="0"/>
      <dgm:spPr/>
    </dgm:pt>
    <dgm:pt modelId="{E21232DA-D349-4C35-8182-B2ED9C9747B8}" type="pres">
      <dgm:prSet presAssocID="{4F41977E-8B77-4E26-B9E4-872B9F5D811D}" presName="circle" presStyleCnt="0"/>
      <dgm:spPr/>
    </dgm:pt>
    <dgm:pt modelId="{0F544FD3-0813-4A38-8462-F11F00483A7E}" type="pres">
      <dgm:prSet presAssocID="{4F41977E-8B77-4E26-B9E4-872B9F5D811D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656CC54-3EA8-4711-9509-019C326ABD33}" type="pres">
      <dgm:prSet presAssocID="{4F41977E-8B77-4E26-B9E4-872B9F5D811D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8537255-4021-49E3-9EEB-BA556861C454}" type="pres">
      <dgm:prSet presAssocID="{4F41977E-8B77-4E26-B9E4-872B9F5D811D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A15B5C4-B4FB-48DB-87A8-F15600CA87AD}" type="pres">
      <dgm:prSet presAssocID="{4F41977E-8B77-4E26-B9E4-872B9F5D811D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9675016-B5AE-4EEC-A538-8959372B3625}" type="pres">
      <dgm:prSet presAssocID="{4F41977E-8B77-4E26-B9E4-872B9F5D811D}" presName="quadrantPlaceholder" presStyleCnt="0"/>
      <dgm:spPr/>
    </dgm:pt>
    <dgm:pt modelId="{5D5F69F0-B686-4866-8058-CC2086B95543}" type="pres">
      <dgm:prSet presAssocID="{4F41977E-8B77-4E26-B9E4-872B9F5D811D}" presName="center1" presStyleLbl="fgShp" presStyleIdx="0" presStyleCnt="2"/>
      <dgm:spPr/>
    </dgm:pt>
    <dgm:pt modelId="{EE41C78E-A51A-496A-824D-E3F90B6114ED}" type="pres">
      <dgm:prSet presAssocID="{4F41977E-8B77-4E26-B9E4-872B9F5D811D}" presName="center2" presStyleLbl="fgShp" presStyleIdx="1" presStyleCnt="2"/>
      <dgm:spPr/>
    </dgm:pt>
  </dgm:ptLst>
  <dgm:cxnLst>
    <dgm:cxn modelId="{BF995E19-1E5B-4B90-80F6-A7C4E2BD3E93}" type="presOf" srcId="{690C29F8-C33C-4857-AE28-9BF207C92BF0}" destId="{EA1CF468-DFD6-47EA-BA3B-D6596839DE24}" srcOrd="0" destOrd="5" presId="urn:microsoft.com/office/officeart/2005/8/layout/cycle4#1"/>
    <dgm:cxn modelId="{1F45BDEE-410B-4DE5-BBAD-84A859E91944}" type="presOf" srcId="{8E2AAAAA-BF34-4317-8285-5D2F8A6B810A}" destId="{7B0C5E8F-FA50-4B7C-ACB1-CD02C01968C1}" srcOrd="0" destOrd="2" presId="urn:microsoft.com/office/officeart/2005/8/layout/cycle4#1"/>
    <dgm:cxn modelId="{21FC5691-F57A-4E4D-A373-A498EE099276}" srcId="{84181489-6311-469A-B501-EED4940A67FB}" destId="{2949A73D-619A-4AEF-AF5D-700909E51798}" srcOrd="7" destOrd="0" parTransId="{8F145A47-F13A-41DC-8312-1D3BE9DD1FA1}" sibTransId="{1BF2AA23-A209-449B-A869-D94010D36C79}"/>
    <dgm:cxn modelId="{F7EB85EB-7A9A-4998-B181-115E33E17AC7}" type="presOf" srcId="{7DD7D22D-892F-4E6F-B2A6-59711B783756}" destId="{D44E9886-EE47-4AEC-B3A9-184FE1FD28BF}" srcOrd="1" destOrd="4" presId="urn:microsoft.com/office/officeart/2005/8/layout/cycle4#1"/>
    <dgm:cxn modelId="{ECE8DECC-1B00-4BC3-A339-13998D2B7941}" type="presOf" srcId="{2949A73D-619A-4AEF-AF5D-700909E51798}" destId="{5E27B9DA-4D8C-4B78-82F9-3051D6C393D1}" srcOrd="1" destOrd="7" presId="urn:microsoft.com/office/officeart/2005/8/layout/cycle4#1"/>
    <dgm:cxn modelId="{8C19234F-0DA6-4228-940B-24194D0BF4AE}" srcId="{84181489-6311-469A-B501-EED4940A67FB}" destId="{31CCC4FA-C16A-4105-B9DF-F15436AE0066}" srcOrd="0" destOrd="0" parTransId="{EF233567-6E26-4258-A468-3BCD27A2555D}" sibTransId="{09CB506A-618D-4E4E-B3BF-0867FE36D2F6}"/>
    <dgm:cxn modelId="{B09CBD89-E413-4280-A7CE-E3E595372760}" type="presOf" srcId="{0F68DA45-85A0-4AC4-A4DC-A4B0EF3D9718}" destId="{9656CC54-3EA8-4711-9509-019C326ABD33}" srcOrd="0" destOrd="0" presId="urn:microsoft.com/office/officeart/2005/8/layout/cycle4#1"/>
    <dgm:cxn modelId="{7D17805E-F42C-44B9-9E13-C224260EDDD8}" srcId="{4F41977E-8B77-4E26-B9E4-872B9F5D811D}" destId="{418A7EDD-2B1C-4BE0-8796-5ADC08641253}" srcOrd="3" destOrd="0" parTransId="{40FCDBD7-5404-4939-8B2D-35C5B197857C}" sibTransId="{12148E0C-625C-4A65-92EB-597196B46175}"/>
    <dgm:cxn modelId="{D627AA00-EBD7-4D93-9796-B2DE386FD646}" type="presOf" srcId="{3023D4B4-172B-4787-996D-8ED9079EDD2E}" destId="{63B66627-9970-4C61-889A-FA882A541B4A}" srcOrd="1" destOrd="1" presId="urn:microsoft.com/office/officeart/2005/8/layout/cycle4#1"/>
    <dgm:cxn modelId="{C7EAC5FD-A608-46AC-80D4-EC00C3597C5E}" type="presOf" srcId="{39F0DF6D-884F-4E69-BB3B-EDD72EF2D702}" destId="{5E27B9DA-4D8C-4B78-82F9-3051D6C393D1}" srcOrd="1" destOrd="1" presId="urn:microsoft.com/office/officeart/2005/8/layout/cycle4#1"/>
    <dgm:cxn modelId="{BEDA49F0-0BAC-478D-98F1-7FE360309225}" type="presOf" srcId="{19EE21B0-7060-4ECB-A487-A0CCBF3AEE5C}" destId="{EA1CF468-DFD6-47EA-BA3B-D6596839DE24}" srcOrd="0" destOrd="3" presId="urn:microsoft.com/office/officeart/2005/8/layout/cycle4#1"/>
    <dgm:cxn modelId="{D2AB248A-D0CC-4211-8FA3-1594560736F0}" type="presOf" srcId="{F8737A6A-B643-4907-A80D-EA8CAB72AD01}" destId="{7B0C5E8F-FA50-4B7C-ACB1-CD02C01968C1}" srcOrd="0" destOrd="0" presId="urn:microsoft.com/office/officeart/2005/8/layout/cycle4#1"/>
    <dgm:cxn modelId="{1C964AC2-2A28-4484-825F-E0B06B14A238}" srcId="{ED518D5B-31C7-4E54-B9E2-C921DA14D2AC}" destId="{EDDEBDCA-9955-4077-9810-1ADC7869C5D0}" srcOrd="9" destOrd="0" parTransId="{4485C366-20D4-43EE-B3C1-DD07FF8D018A}" sibTransId="{032EA678-A96E-4D41-AFC0-26069924E8AB}"/>
    <dgm:cxn modelId="{13A98824-572F-47FA-BBF3-ADC96D4866FC}" type="presOf" srcId="{82F9AD08-6199-4108-B605-3E3B08F7DAF5}" destId="{FF479E3D-9041-4422-850F-BDBE1E018A26}" srcOrd="0" destOrd="0" presId="urn:microsoft.com/office/officeart/2005/8/layout/cycle4#1"/>
    <dgm:cxn modelId="{8DAE104A-EE1B-4269-9681-23BC192F3139}" srcId="{ED518D5B-31C7-4E54-B9E2-C921DA14D2AC}" destId="{690C29F8-C33C-4857-AE28-9BF207C92BF0}" srcOrd="5" destOrd="0" parTransId="{8F17050D-3B91-4107-B9CA-AAED42E5737F}" sibTransId="{2E8BCB7A-2EB1-48A1-905D-19842E37D18C}"/>
    <dgm:cxn modelId="{2CD876E7-26AB-4566-BA2B-AC9AAF01DAC8}" srcId="{ED518D5B-31C7-4E54-B9E2-C921DA14D2AC}" destId="{872FF789-C7BE-4331-9586-5C791A8FCEFF}" srcOrd="0" destOrd="0" parTransId="{49A44110-3816-4EE0-8A32-495DEB3C4B04}" sibTransId="{F6E99E0C-5EE8-46AF-8E50-7988889DF9C2}"/>
    <dgm:cxn modelId="{DB7C2FB1-5F13-4BA7-8792-3BF3606AA55E}" type="presOf" srcId="{CDC58FA9-2AC2-46B8-A8F2-E90780679E8B}" destId="{D44E9886-EE47-4AEC-B3A9-184FE1FD28BF}" srcOrd="1" destOrd="6" presId="urn:microsoft.com/office/officeart/2005/8/layout/cycle4#1"/>
    <dgm:cxn modelId="{8D0AD970-74DB-4FC0-A45D-09115523B0BA}" type="presOf" srcId="{82F9AD08-6199-4108-B605-3E3B08F7DAF5}" destId="{F687DB78-8653-41D8-B47A-D1349D3DE866}" srcOrd="1" destOrd="0" presId="urn:microsoft.com/office/officeart/2005/8/layout/cycle4#1"/>
    <dgm:cxn modelId="{09C97201-6C9D-40A0-861A-3560AD5DE2FF}" srcId="{4F41977E-8B77-4E26-B9E4-872B9F5D811D}" destId="{0F68DA45-85A0-4AC4-A4DC-A4B0EF3D9718}" srcOrd="1" destOrd="0" parTransId="{1DB84AE4-12FB-4E8C-9CD0-1A59BD03AEE2}" sibTransId="{F9E26085-7F61-40D2-A391-111CE89EF2D1}"/>
    <dgm:cxn modelId="{4B448087-2414-48F4-84DC-38491E45B104}" type="presOf" srcId="{7DD7D22D-892F-4E6F-B2A6-59711B783756}" destId="{EA1CF468-DFD6-47EA-BA3B-D6596839DE24}" srcOrd="0" destOrd="4" presId="urn:microsoft.com/office/officeart/2005/8/layout/cycle4#1"/>
    <dgm:cxn modelId="{48F567B3-D709-4887-A961-0D408CDC391B}" type="presOf" srcId="{D6369379-A348-4EEA-8A9A-84E0030E7069}" destId="{EA1CF468-DFD6-47EA-BA3B-D6596839DE24}" srcOrd="0" destOrd="2" presId="urn:microsoft.com/office/officeart/2005/8/layout/cycle4#1"/>
    <dgm:cxn modelId="{CB4CA03A-C326-429B-8306-6B8F92C00AD8}" type="presOf" srcId="{ED518D5B-31C7-4E54-B9E2-C921DA14D2AC}" destId="{0F544FD3-0813-4A38-8462-F11F00483A7E}" srcOrd="0" destOrd="0" presId="urn:microsoft.com/office/officeart/2005/8/layout/cycle4#1"/>
    <dgm:cxn modelId="{3A205D32-AD12-440D-BF5D-0BBBFFEA6FBF}" type="presOf" srcId="{159CB7F7-3804-4F92-AFA5-0180EF215803}" destId="{EA1CF468-DFD6-47EA-BA3B-D6596839DE24}" srcOrd="0" destOrd="7" presId="urn:microsoft.com/office/officeart/2005/8/layout/cycle4#1"/>
    <dgm:cxn modelId="{E549D0AF-DD88-4384-84D3-DD8CC62E2E7E}" srcId="{418A7EDD-2B1C-4BE0-8796-5ADC08641253}" destId="{8E2AAAAA-BF34-4317-8285-5D2F8A6B810A}" srcOrd="2" destOrd="0" parTransId="{88D902F6-1928-47D7-8F65-580F4FF971A0}" sibTransId="{CCEE3BC6-896C-45C9-801E-64B013E0C8BE}"/>
    <dgm:cxn modelId="{597CF933-A585-41B0-A85A-030E89F0C495}" type="presOf" srcId="{C510DFE1-4E9D-4D43-AE86-5279A0B75B9A}" destId="{9D4A2B47-CA3E-4D38-8FE4-821B105AC727}" srcOrd="0" destOrd="2" presId="urn:microsoft.com/office/officeart/2005/8/layout/cycle4#1"/>
    <dgm:cxn modelId="{CC9F7CDA-4E03-4ABF-BCE3-B3B8F7A804C9}" srcId="{ED518D5B-31C7-4E54-B9E2-C921DA14D2AC}" destId="{CDC58FA9-2AC2-46B8-A8F2-E90780679E8B}" srcOrd="6" destOrd="0" parTransId="{EB1857BB-2F4B-4ED5-97A6-DD88B1F522D1}" sibTransId="{54F02C54-6EFE-4699-BAA2-06F2AAC8BDBA}"/>
    <dgm:cxn modelId="{C5880AA2-27D5-410B-9624-7FE26AFF4162}" type="presOf" srcId="{31714AD5-3D26-4C3A-BEC9-2998FE82A644}" destId="{7B0C5E8F-FA50-4B7C-ACB1-CD02C01968C1}" srcOrd="0" destOrd="5" presId="urn:microsoft.com/office/officeart/2005/8/layout/cycle4#1"/>
    <dgm:cxn modelId="{935D5BAD-7B27-4F9B-8B40-1FA0237C08FA}" type="presOf" srcId="{4C05FF12-1BAE-46EF-9765-5944A0163229}" destId="{7B0C5E8F-FA50-4B7C-ACB1-CD02C01968C1}" srcOrd="0" destOrd="4" presId="urn:microsoft.com/office/officeart/2005/8/layout/cycle4#1"/>
    <dgm:cxn modelId="{75083BE9-38BF-4E4D-BE18-7DB3230AE252}" type="presOf" srcId="{23A5B0FD-1E5C-442D-88DD-4FB34B3A6FAA}" destId="{63B66627-9970-4C61-889A-FA882A541B4A}" srcOrd="1" destOrd="3" presId="urn:microsoft.com/office/officeart/2005/8/layout/cycle4#1"/>
    <dgm:cxn modelId="{B4B456D9-A7E1-4167-BC06-BAE6E4BF5FAE}" srcId="{418A7EDD-2B1C-4BE0-8796-5ADC08641253}" destId="{F8737A6A-B643-4907-A80D-EA8CAB72AD01}" srcOrd="0" destOrd="0" parTransId="{4387723F-B807-4571-879F-F53FBDB626BE}" sibTransId="{F84467D5-A64A-4513-9F2B-945CFDD82601}"/>
    <dgm:cxn modelId="{2E98FB7F-253A-4444-8D74-1800B08D2841}" srcId="{418A7EDD-2B1C-4BE0-8796-5ADC08641253}" destId="{3023D4B4-172B-4787-996D-8ED9079EDD2E}" srcOrd="1" destOrd="0" parTransId="{805F4A75-F1DC-4B12-8C5D-E2ADA2E5CD91}" sibTransId="{695B7F71-2A18-49A6-B23B-C25B3E926DE4}"/>
    <dgm:cxn modelId="{30CBACD6-3998-47E9-A507-0EC156A506EB}" srcId="{84181489-6311-469A-B501-EED4940A67FB}" destId="{C2306633-05FC-4296-8B4A-798DFAB4A455}" srcOrd="4" destOrd="0" parTransId="{804CB0D5-B6FE-4FE4-B4E2-38C2FE958050}" sibTransId="{3830034B-6C63-4E23-B32B-CE22251A7590}"/>
    <dgm:cxn modelId="{38BE73EE-6D0C-48AA-8BEF-EDD63DB7F0FC}" type="presOf" srcId="{C510DFE1-4E9D-4D43-AE86-5279A0B75B9A}" destId="{5E27B9DA-4D8C-4B78-82F9-3051D6C393D1}" srcOrd="1" destOrd="2" presId="urn:microsoft.com/office/officeart/2005/8/layout/cycle4#1"/>
    <dgm:cxn modelId="{E0EF106C-2714-43E1-A910-9C214F22DD2C}" srcId="{84181489-6311-469A-B501-EED4940A67FB}" destId="{16B3D5C4-8E1F-46EC-B120-F3D1C4A1B061}" srcOrd="3" destOrd="0" parTransId="{A4958976-52EC-4ADF-9881-FE4C121FFF65}" sibTransId="{0A6034B9-D21E-49C7-B7A4-016BDAA4828A}"/>
    <dgm:cxn modelId="{9489EAC9-2C78-4428-9144-5F48B7297E83}" type="presOf" srcId="{4034ED69-AA85-49C0-9ED3-D4584C5D94CA}" destId="{9D4A2B47-CA3E-4D38-8FE4-821B105AC727}" srcOrd="0" destOrd="6" presId="urn:microsoft.com/office/officeart/2005/8/layout/cycle4#1"/>
    <dgm:cxn modelId="{807C01C0-26FF-4BCC-8B8D-C2D2FD71F5F2}" type="presOf" srcId="{418A7EDD-2B1C-4BE0-8796-5ADC08641253}" destId="{3A15B5C4-B4FB-48DB-87A8-F15600CA87AD}" srcOrd="0" destOrd="0" presId="urn:microsoft.com/office/officeart/2005/8/layout/cycle4#1"/>
    <dgm:cxn modelId="{693C5688-FD4F-4C44-8897-09990FDF137F}" type="presOf" srcId="{A3707838-35B5-44F2-80F9-2F85791609BC}" destId="{D44E9886-EE47-4AEC-B3A9-184FE1FD28BF}" srcOrd="1" destOrd="8" presId="urn:microsoft.com/office/officeart/2005/8/layout/cycle4#1"/>
    <dgm:cxn modelId="{E0CF0D47-3A5E-4921-9837-DFC49D5C3D31}" type="presOf" srcId="{EDDEBDCA-9955-4077-9810-1ADC7869C5D0}" destId="{D44E9886-EE47-4AEC-B3A9-184FE1FD28BF}" srcOrd="1" destOrd="9" presId="urn:microsoft.com/office/officeart/2005/8/layout/cycle4#1"/>
    <dgm:cxn modelId="{6E50E42A-923F-41E7-8688-FAB6602CDEB2}" srcId="{84181489-6311-469A-B501-EED4940A67FB}" destId="{3DEC1168-65CB-4FA3-B076-676CFBB3D6F2}" srcOrd="5" destOrd="0" parTransId="{D2D467A9-6466-4E8D-A801-3B7178B8EC19}" sibTransId="{6B841906-47DB-45B9-999D-9EF7AA228186}"/>
    <dgm:cxn modelId="{FA8CCA40-B005-42E4-BDE8-56918D66293A}" type="presOf" srcId="{20E5A392-C97B-419C-BBB5-6C869B2B4FE7}" destId="{F687DB78-8653-41D8-B47A-D1349D3DE866}" srcOrd="1" destOrd="4" presId="urn:microsoft.com/office/officeart/2005/8/layout/cycle4#1"/>
    <dgm:cxn modelId="{028F85D1-3DF5-4C36-819C-CC5F4E1E4305}" type="presOf" srcId="{A3707838-35B5-44F2-80F9-2F85791609BC}" destId="{EA1CF468-DFD6-47EA-BA3B-D6596839DE24}" srcOrd="0" destOrd="8" presId="urn:microsoft.com/office/officeart/2005/8/layout/cycle4#1"/>
    <dgm:cxn modelId="{D9115339-48D0-42AC-BCD0-623434223CB7}" type="presOf" srcId="{20E5A392-C97B-419C-BBB5-6C869B2B4FE7}" destId="{FF479E3D-9041-4422-850F-BDBE1E018A26}" srcOrd="0" destOrd="4" presId="urn:microsoft.com/office/officeart/2005/8/layout/cycle4#1"/>
    <dgm:cxn modelId="{B4E631B0-A697-43B5-8F50-CA745AA071C5}" srcId="{ED518D5B-31C7-4E54-B9E2-C921DA14D2AC}" destId="{7DD7D22D-892F-4E6F-B2A6-59711B783756}" srcOrd="4" destOrd="0" parTransId="{523F2914-54DD-49CD-811A-294F53E3D7F3}" sibTransId="{B78D1571-4470-4F11-8A55-BE7FF026A4FE}"/>
    <dgm:cxn modelId="{AC3FD9E4-C3C6-470E-A0F8-5800315FF95D}" srcId="{0F68DA45-85A0-4AC4-A4DC-A4B0EF3D9718}" destId="{34A355A3-1DE2-41D7-8E92-34FA1ACE452A}" srcOrd="1" destOrd="0" parTransId="{AC11933F-6D95-47CF-8391-B653C14CA74B}" sibTransId="{0DBB2394-DE67-471A-BDA8-16C76CAF9CB6}"/>
    <dgm:cxn modelId="{8AA51D8A-25A8-4906-B29F-94F72F01FE41}" type="presOf" srcId="{0FD08E72-0A5B-42D2-B0A6-0CD10B2E3631}" destId="{F687DB78-8653-41D8-B47A-D1349D3DE866}" srcOrd="1" destOrd="3" presId="urn:microsoft.com/office/officeart/2005/8/layout/cycle4#1"/>
    <dgm:cxn modelId="{C9200B56-240C-4ECE-8F5B-A12A3222EBE5}" srcId="{ED518D5B-31C7-4E54-B9E2-C921DA14D2AC}" destId="{10FCA21E-3D91-474F-9F24-FD4CB171D538}" srcOrd="1" destOrd="0" parTransId="{01478F7F-5D84-420F-A04A-62BE5A745E95}" sibTransId="{83ACE52E-3B29-42CA-B63A-9E41B69E89F9}"/>
    <dgm:cxn modelId="{D1C0D92A-5551-43C8-BDCA-BB93C563324A}" type="presOf" srcId="{3DEC1168-65CB-4FA3-B076-676CFBB3D6F2}" destId="{5E27B9DA-4D8C-4B78-82F9-3051D6C393D1}" srcOrd="1" destOrd="5" presId="urn:microsoft.com/office/officeart/2005/8/layout/cycle4#1"/>
    <dgm:cxn modelId="{30262C22-AC9A-4065-BD88-11814A162623}" type="presOf" srcId="{10FCA21E-3D91-474F-9F24-FD4CB171D538}" destId="{EA1CF468-DFD6-47EA-BA3B-D6596839DE24}" srcOrd="0" destOrd="1" presId="urn:microsoft.com/office/officeart/2005/8/layout/cycle4#1"/>
    <dgm:cxn modelId="{6B908A61-1109-497C-9D2C-F0C6258A1C36}" type="presOf" srcId="{84181489-6311-469A-B501-EED4940A67FB}" destId="{C8537255-4021-49E3-9EEB-BA556861C454}" srcOrd="0" destOrd="0" presId="urn:microsoft.com/office/officeart/2005/8/layout/cycle4#1"/>
    <dgm:cxn modelId="{4F035D26-FEC7-43F9-AA5E-0BFB06C830AC}" type="presOf" srcId="{3DEC1168-65CB-4FA3-B076-676CFBB3D6F2}" destId="{9D4A2B47-CA3E-4D38-8FE4-821B105AC727}" srcOrd="0" destOrd="5" presId="urn:microsoft.com/office/officeart/2005/8/layout/cycle4#1"/>
    <dgm:cxn modelId="{F0B32D1A-A586-488E-AA67-E062CA9AC4DE}" type="presOf" srcId="{F99A6688-8411-4A0B-8FB0-4893997F61B8}" destId="{FF479E3D-9041-4422-850F-BDBE1E018A26}" srcOrd="0" destOrd="2" presId="urn:microsoft.com/office/officeart/2005/8/layout/cycle4#1"/>
    <dgm:cxn modelId="{9F6FBE7F-7FF3-499D-8DFB-B367D342E198}" type="presOf" srcId="{F8737A6A-B643-4907-A80D-EA8CAB72AD01}" destId="{63B66627-9970-4C61-889A-FA882A541B4A}" srcOrd="1" destOrd="0" presId="urn:microsoft.com/office/officeart/2005/8/layout/cycle4#1"/>
    <dgm:cxn modelId="{590B863E-0CDE-4EBC-A053-67AB56CA18D0}" srcId="{84181489-6311-469A-B501-EED4940A67FB}" destId="{C510DFE1-4E9D-4D43-AE86-5279A0B75B9A}" srcOrd="2" destOrd="0" parTransId="{75AFE48C-5216-4CD3-A8C8-BBC59620A011}" sibTransId="{0AA1BA18-7CE6-4CFF-A193-63F97BF9CA8A}"/>
    <dgm:cxn modelId="{1235EF58-AAD1-4C56-AAFF-193E6B756D4F}" type="presOf" srcId="{D6369379-A348-4EEA-8A9A-84E0030E7069}" destId="{D44E9886-EE47-4AEC-B3A9-184FE1FD28BF}" srcOrd="1" destOrd="2" presId="urn:microsoft.com/office/officeart/2005/8/layout/cycle4#1"/>
    <dgm:cxn modelId="{2432A5EB-0D0A-49B2-BA50-95E4C2725975}" type="presOf" srcId="{C2306633-05FC-4296-8B4A-798DFAB4A455}" destId="{9D4A2B47-CA3E-4D38-8FE4-821B105AC727}" srcOrd="0" destOrd="4" presId="urn:microsoft.com/office/officeart/2005/8/layout/cycle4#1"/>
    <dgm:cxn modelId="{E43DFBAA-538A-45D1-92F4-0C822E57FD5B}" type="presOf" srcId="{23A5B0FD-1E5C-442D-88DD-4FB34B3A6FAA}" destId="{7B0C5E8F-FA50-4B7C-ACB1-CD02C01968C1}" srcOrd="0" destOrd="3" presId="urn:microsoft.com/office/officeart/2005/8/layout/cycle4#1"/>
    <dgm:cxn modelId="{3D99421B-7034-40F5-94DA-D83B4FF2151D}" srcId="{418A7EDD-2B1C-4BE0-8796-5ADC08641253}" destId="{4C05FF12-1BAE-46EF-9765-5944A0163229}" srcOrd="4" destOrd="0" parTransId="{E1B525E3-4AD8-437D-ADAB-5DB93C8FF33D}" sibTransId="{8EC48A47-CF36-4FF2-A2EA-0CADAF36EEED}"/>
    <dgm:cxn modelId="{8B86977D-403E-4045-9A38-6002E271D9AE}" type="presOf" srcId="{159CB7F7-3804-4F92-AFA5-0180EF215803}" destId="{D44E9886-EE47-4AEC-B3A9-184FE1FD28BF}" srcOrd="1" destOrd="7" presId="urn:microsoft.com/office/officeart/2005/8/layout/cycle4#1"/>
    <dgm:cxn modelId="{9DE6AC1D-65A9-4EB0-B7D0-AFC099639F22}" type="presOf" srcId="{31714AD5-3D26-4C3A-BEC9-2998FE82A644}" destId="{63B66627-9970-4C61-889A-FA882A541B4A}" srcOrd="1" destOrd="5" presId="urn:microsoft.com/office/officeart/2005/8/layout/cycle4#1"/>
    <dgm:cxn modelId="{4C2B6670-5ECC-4616-AF05-6B1B8F6AAA18}" type="presOf" srcId="{31CCC4FA-C16A-4105-B9DF-F15436AE0066}" destId="{9D4A2B47-CA3E-4D38-8FE4-821B105AC727}" srcOrd="0" destOrd="0" presId="urn:microsoft.com/office/officeart/2005/8/layout/cycle4#1"/>
    <dgm:cxn modelId="{80DD7F6C-1248-48E8-BE30-733B69F05B69}" srcId="{ED518D5B-31C7-4E54-B9E2-C921DA14D2AC}" destId="{19EE21B0-7060-4ECB-A487-A0CCBF3AEE5C}" srcOrd="3" destOrd="0" parTransId="{C585451C-A5AB-4E7B-89AA-05609406DBB4}" sibTransId="{FB1C3A8D-CD0D-4CB2-B28A-6767BA0DB35A}"/>
    <dgm:cxn modelId="{DA866996-1057-4D37-915E-9BD9C1A4EDE7}" type="presOf" srcId="{2949A73D-619A-4AEF-AF5D-700909E51798}" destId="{9D4A2B47-CA3E-4D38-8FE4-821B105AC727}" srcOrd="0" destOrd="7" presId="urn:microsoft.com/office/officeart/2005/8/layout/cycle4#1"/>
    <dgm:cxn modelId="{897FC353-57E3-4141-B3E3-E8AB40260F58}" type="presOf" srcId="{872FF789-C7BE-4331-9586-5C791A8FCEFF}" destId="{EA1CF468-DFD6-47EA-BA3B-D6596839DE24}" srcOrd="0" destOrd="0" presId="urn:microsoft.com/office/officeart/2005/8/layout/cycle4#1"/>
    <dgm:cxn modelId="{6322337E-F857-4AE7-8DC6-BBD6BA7D7AFC}" type="presOf" srcId="{872FF789-C7BE-4331-9586-5C791A8FCEFF}" destId="{D44E9886-EE47-4AEC-B3A9-184FE1FD28BF}" srcOrd="1" destOrd="0" presId="urn:microsoft.com/office/officeart/2005/8/layout/cycle4#1"/>
    <dgm:cxn modelId="{350E76DF-2FEC-4841-93BE-E2E9142E0A08}" srcId="{418A7EDD-2B1C-4BE0-8796-5ADC08641253}" destId="{23A5B0FD-1E5C-442D-88DD-4FB34B3A6FAA}" srcOrd="3" destOrd="0" parTransId="{97EA99C1-1DB9-4A1F-92BC-374CD11D1633}" sibTransId="{C00F310C-9183-4A02-8E38-43B2ED5FF881}"/>
    <dgm:cxn modelId="{43D3E45E-E72C-4457-827A-027FE3EAA3CD}" srcId="{0F68DA45-85A0-4AC4-A4DC-A4B0EF3D9718}" destId="{20E5A392-C97B-419C-BBB5-6C869B2B4FE7}" srcOrd="4" destOrd="0" parTransId="{415BB850-295D-4936-8131-EECCEC8EE83E}" sibTransId="{5383D34E-71CB-4BB7-A4CB-2D19708C795A}"/>
    <dgm:cxn modelId="{BAF6F385-E676-4FE4-9D6B-4DE943BA7A61}" srcId="{ED518D5B-31C7-4E54-B9E2-C921DA14D2AC}" destId="{D6369379-A348-4EEA-8A9A-84E0030E7069}" srcOrd="2" destOrd="0" parTransId="{B247C15C-06D4-4ECB-9812-D313A264E651}" sibTransId="{BD89D2D8-3E0E-4FFA-BA3E-26C842C98776}"/>
    <dgm:cxn modelId="{3A7694EB-4DFF-4289-A2F2-28C7765A4BE2}" type="presOf" srcId="{690C29F8-C33C-4857-AE28-9BF207C92BF0}" destId="{D44E9886-EE47-4AEC-B3A9-184FE1FD28BF}" srcOrd="1" destOrd="5" presId="urn:microsoft.com/office/officeart/2005/8/layout/cycle4#1"/>
    <dgm:cxn modelId="{D7872471-AAE9-40BA-999B-69824A3AE2EA}" type="presOf" srcId="{16B3D5C4-8E1F-46EC-B120-F3D1C4A1B061}" destId="{5E27B9DA-4D8C-4B78-82F9-3051D6C393D1}" srcOrd="1" destOrd="3" presId="urn:microsoft.com/office/officeart/2005/8/layout/cycle4#1"/>
    <dgm:cxn modelId="{DCDCCFD0-B76E-49FC-B13A-09AE0D7C342D}" type="presOf" srcId="{34A355A3-1DE2-41D7-8E92-34FA1ACE452A}" destId="{FF479E3D-9041-4422-850F-BDBE1E018A26}" srcOrd="0" destOrd="1" presId="urn:microsoft.com/office/officeart/2005/8/layout/cycle4#1"/>
    <dgm:cxn modelId="{7033A1F4-3723-4B7F-9826-7243B04621DD}" type="presOf" srcId="{F99A6688-8411-4A0B-8FB0-4893997F61B8}" destId="{F687DB78-8653-41D8-B47A-D1349D3DE866}" srcOrd="1" destOrd="2" presId="urn:microsoft.com/office/officeart/2005/8/layout/cycle4#1"/>
    <dgm:cxn modelId="{DCBB0CE5-6387-42DA-867F-8477DFF329FC}" type="presOf" srcId="{4F41977E-8B77-4E26-B9E4-872B9F5D811D}" destId="{04D3DC2D-4657-4DE5-909E-598B08CFE9AB}" srcOrd="0" destOrd="0" presId="urn:microsoft.com/office/officeart/2005/8/layout/cycle4#1"/>
    <dgm:cxn modelId="{F42995E1-0ABF-4C5B-9CDA-C644F7DDD1EF}" type="presOf" srcId="{19EE21B0-7060-4ECB-A487-A0CCBF3AEE5C}" destId="{D44E9886-EE47-4AEC-B3A9-184FE1FD28BF}" srcOrd="1" destOrd="3" presId="urn:microsoft.com/office/officeart/2005/8/layout/cycle4#1"/>
    <dgm:cxn modelId="{9781289E-8786-4291-963D-64B3D34E6074}" type="presOf" srcId="{4C05FF12-1BAE-46EF-9765-5944A0163229}" destId="{63B66627-9970-4C61-889A-FA882A541B4A}" srcOrd="1" destOrd="4" presId="urn:microsoft.com/office/officeart/2005/8/layout/cycle4#1"/>
    <dgm:cxn modelId="{8409CDBA-0C2A-4DE4-8304-78E56BB636B2}" type="presOf" srcId="{31CCC4FA-C16A-4105-B9DF-F15436AE0066}" destId="{5E27B9DA-4D8C-4B78-82F9-3051D6C393D1}" srcOrd="1" destOrd="0" presId="urn:microsoft.com/office/officeart/2005/8/layout/cycle4#1"/>
    <dgm:cxn modelId="{C06CF893-07BB-4413-B71B-D11438E40C61}" type="presOf" srcId="{EDDEBDCA-9955-4077-9810-1ADC7869C5D0}" destId="{EA1CF468-DFD6-47EA-BA3B-D6596839DE24}" srcOrd="0" destOrd="9" presId="urn:microsoft.com/office/officeart/2005/8/layout/cycle4#1"/>
    <dgm:cxn modelId="{82EE1E1A-3E83-4366-8893-DB3FFB7CF66C}" srcId="{84181489-6311-469A-B501-EED4940A67FB}" destId="{39F0DF6D-884F-4E69-BB3B-EDD72EF2D702}" srcOrd="1" destOrd="0" parTransId="{4FA0738C-63C9-4186-B97B-913FBFA95F05}" sibTransId="{D37DCF94-A844-424C-8EF0-C721B4FCBC3A}"/>
    <dgm:cxn modelId="{1ED6097C-634D-4541-9B5C-4BD92477E7A2}" srcId="{0F68DA45-85A0-4AC4-A4DC-A4B0EF3D9718}" destId="{0FD08E72-0A5B-42D2-B0A6-0CD10B2E3631}" srcOrd="3" destOrd="0" parTransId="{E36A9AA2-0105-4808-B70D-7D89E40908C7}" sibTransId="{BB7C5DCF-0E80-427C-8E27-3D4A4E75FD93}"/>
    <dgm:cxn modelId="{2E44B8C0-D275-4DD2-91A2-97FE166AA6DE}" srcId="{0F68DA45-85A0-4AC4-A4DC-A4B0EF3D9718}" destId="{82F9AD08-6199-4108-B605-3E3B08F7DAF5}" srcOrd="0" destOrd="0" parTransId="{35DFFCC4-7F24-4314-8C4A-2B75BCBC91A7}" sibTransId="{D5921C5C-431A-4F7B-ABC5-605A383A3654}"/>
    <dgm:cxn modelId="{6FFFEC53-DE32-460D-8502-82E41429A765}" type="presOf" srcId="{CDC58FA9-2AC2-46B8-A8F2-E90780679E8B}" destId="{EA1CF468-DFD6-47EA-BA3B-D6596839DE24}" srcOrd="0" destOrd="6" presId="urn:microsoft.com/office/officeart/2005/8/layout/cycle4#1"/>
    <dgm:cxn modelId="{EDBFD80B-A113-4AE3-9107-90A2E06E4DCE}" type="presOf" srcId="{10FCA21E-3D91-474F-9F24-FD4CB171D538}" destId="{D44E9886-EE47-4AEC-B3A9-184FE1FD28BF}" srcOrd="1" destOrd="1" presId="urn:microsoft.com/office/officeart/2005/8/layout/cycle4#1"/>
    <dgm:cxn modelId="{9D86E122-2EF3-4E6E-BD22-A6444C782C6B}" srcId="{4F41977E-8B77-4E26-B9E4-872B9F5D811D}" destId="{84181489-6311-469A-B501-EED4940A67FB}" srcOrd="2" destOrd="0" parTransId="{381CB815-5FE2-485F-9531-1D1FF4281A33}" sibTransId="{3FA85DEF-66D5-46C1-8827-AC2AA40DFB12}"/>
    <dgm:cxn modelId="{E8A150F4-A109-48A8-AF39-50EC609515BC}" type="presOf" srcId="{4034ED69-AA85-49C0-9ED3-D4584C5D94CA}" destId="{5E27B9DA-4D8C-4B78-82F9-3051D6C393D1}" srcOrd="1" destOrd="6" presId="urn:microsoft.com/office/officeart/2005/8/layout/cycle4#1"/>
    <dgm:cxn modelId="{3694A2DE-CCA7-4BEE-9C97-F6C32B3D4596}" type="presOf" srcId="{C2306633-05FC-4296-8B4A-798DFAB4A455}" destId="{5E27B9DA-4D8C-4B78-82F9-3051D6C393D1}" srcOrd="1" destOrd="4" presId="urn:microsoft.com/office/officeart/2005/8/layout/cycle4#1"/>
    <dgm:cxn modelId="{ADD8CC96-D49D-4441-B029-38BF28C02B5A}" srcId="{0F68DA45-85A0-4AC4-A4DC-A4B0EF3D9718}" destId="{F99A6688-8411-4A0B-8FB0-4893997F61B8}" srcOrd="2" destOrd="0" parTransId="{18B7F07A-58EF-4AE1-BDC4-5374C1184C89}" sibTransId="{E298CCF5-D6FA-4635-B178-86B0D6906125}"/>
    <dgm:cxn modelId="{732A3C61-E2AA-400B-B56C-079DC337D56A}" srcId="{ED518D5B-31C7-4E54-B9E2-C921DA14D2AC}" destId="{159CB7F7-3804-4F92-AFA5-0180EF215803}" srcOrd="7" destOrd="0" parTransId="{83CF0EF8-A211-4708-85D0-B9EB7B4D7DA4}" sibTransId="{1E058210-FD48-422C-93B0-1391568053E0}"/>
    <dgm:cxn modelId="{744E1F16-DA5C-4B08-888F-B4C22B6F6331}" srcId="{418A7EDD-2B1C-4BE0-8796-5ADC08641253}" destId="{31714AD5-3D26-4C3A-BEC9-2998FE82A644}" srcOrd="5" destOrd="0" parTransId="{966E2F9A-965F-4699-93FE-EE5486D3A214}" sibTransId="{4805D7E5-944B-4888-82B8-A62763900C15}"/>
    <dgm:cxn modelId="{25774AD4-F56A-4033-B401-94DBFF83C0BB}" type="presOf" srcId="{0FD08E72-0A5B-42D2-B0A6-0CD10B2E3631}" destId="{FF479E3D-9041-4422-850F-BDBE1E018A26}" srcOrd="0" destOrd="3" presId="urn:microsoft.com/office/officeart/2005/8/layout/cycle4#1"/>
    <dgm:cxn modelId="{D8554D20-0D63-4ECF-BFF7-85E980FA4C9D}" type="presOf" srcId="{39F0DF6D-884F-4E69-BB3B-EDD72EF2D702}" destId="{9D4A2B47-CA3E-4D38-8FE4-821B105AC727}" srcOrd="0" destOrd="1" presId="urn:microsoft.com/office/officeart/2005/8/layout/cycle4#1"/>
    <dgm:cxn modelId="{905B1219-42A1-4811-8BAF-2A008C898074}" srcId="{ED518D5B-31C7-4E54-B9E2-C921DA14D2AC}" destId="{A3707838-35B5-44F2-80F9-2F85791609BC}" srcOrd="8" destOrd="0" parTransId="{BEC8214F-0655-4834-92B8-017B08479294}" sibTransId="{FBFEAB90-B781-4776-B4CD-CD1F8D45C189}"/>
    <dgm:cxn modelId="{2FDF2E22-7E03-47B7-8DC1-62BF8B42B1F0}" srcId="{4F41977E-8B77-4E26-B9E4-872B9F5D811D}" destId="{ED518D5B-31C7-4E54-B9E2-C921DA14D2AC}" srcOrd="0" destOrd="0" parTransId="{D970F40A-4329-4C87-92CD-BDD6CC87E660}" sibTransId="{0C409065-AF8F-4D65-9342-BC593390CF5A}"/>
    <dgm:cxn modelId="{AA00EA80-BC9A-4807-9A57-217AE44EEE10}" type="presOf" srcId="{34A355A3-1DE2-41D7-8E92-34FA1ACE452A}" destId="{F687DB78-8653-41D8-B47A-D1349D3DE866}" srcOrd="1" destOrd="1" presId="urn:microsoft.com/office/officeart/2005/8/layout/cycle4#1"/>
    <dgm:cxn modelId="{4271B99F-B76B-4873-AD30-E28278E896CC}" srcId="{84181489-6311-469A-B501-EED4940A67FB}" destId="{4034ED69-AA85-49C0-9ED3-D4584C5D94CA}" srcOrd="6" destOrd="0" parTransId="{5A1792C4-9FE4-429E-AEAA-A32718B14603}" sibTransId="{900E522E-973E-4754-ACA5-4298D4236F0F}"/>
    <dgm:cxn modelId="{84322D7B-0135-4DF1-9E5C-1BD09C31E703}" type="presOf" srcId="{8E2AAAAA-BF34-4317-8285-5D2F8A6B810A}" destId="{63B66627-9970-4C61-889A-FA882A541B4A}" srcOrd="1" destOrd="2" presId="urn:microsoft.com/office/officeart/2005/8/layout/cycle4#1"/>
    <dgm:cxn modelId="{32BDEB20-0900-447D-AF1A-F41A0A2B2B6C}" type="presOf" srcId="{16B3D5C4-8E1F-46EC-B120-F3D1C4A1B061}" destId="{9D4A2B47-CA3E-4D38-8FE4-821B105AC727}" srcOrd="0" destOrd="3" presId="urn:microsoft.com/office/officeart/2005/8/layout/cycle4#1"/>
    <dgm:cxn modelId="{BFE80B58-A465-4713-BECB-83C76DDD11A9}" type="presOf" srcId="{3023D4B4-172B-4787-996D-8ED9079EDD2E}" destId="{7B0C5E8F-FA50-4B7C-ACB1-CD02C01968C1}" srcOrd="0" destOrd="1" presId="urn:microsoft.com/office/officeart/2005/8/layout/cycle4#1"/>
    <dgm:cxn modelId="{A5F34226-2BD4-4130-B4B2-E475D5A4F60E}" type="presParOf" srcId="{04D3DC2D-4657-4DE5-909E-598B08CFE9AB}" destId="{174E4B53-E53E-4723-8508-33A717CFB8D2}" srcOrd="0" destOrd="0" presId="urn:microsoft.com/office/officeart/2005/8/layout/cycle4#1"/>
    <dgm:cxn modelId="{B1DF7CAF-AB54-4CDC-923F-44C2BC86A127}" type="presParOf" srcId="{174E4B53-E53E-4723-8508-33A717CFB8D2}" destId="{90A07D5F-35AD-46A2-892C-E2F8D3075F67}" srcOrd="0" destOrd="0" presId="urn:microsoft.com/office/officeart/2005/8/layout/cycle4#1"/>
    <dgm:cxn modelId="{AD960866-5DFE-4A99-B63D-F8E97BA9B9D9}" type="presParOf" srcId="{90A07D5F-35AD-46A2-892C-E2F8D3075F67}" destId="{EA1CF468-DFD6-47EA-BA3B-D6596839DE24}" srcOrd="0" destOrd="0" presId="urn:microsoft.com/office/officeart/2005/8/layout/cycle4#1"/>
    <dgm:cxn modelId="{02F78F02-EF41-4BB6-A6F6-334A93936C0A}" type="presParOf" srcId="{90A07D5F-35AD-46A2-892C-E2F8D3075F67}" destId="{D44E9886-EE47-4AEC-B3A9-184FE1FD28BF}" srcOrd="1" destOrd="0" presId="urn:microsoft.com/office/officeart/2005/8/layout/cycle4#1"/>
    <dgm:cxn modelId="{D7EB5A48-AAD1-4732-8C21-77C069FD8C00}" type="presParOf" srcId="{174E4B53-E53E-4723-8508-33A717CFB8D2}" destId="{7C0CAA45-5DF8-452E-B442-5249A5501F83}" srcOrd="1" destOrd="0" presId="urn:microsoft.com/office/officeart/2005/8/layout/cycle4#1"/>
    <dgm:cxn modelId="{9CBED2D3-90B1-4055-8358-3E947E354775}" type="presParOf" srcId="{7C0CAA45-5DF8-452E-B442-5249A5501F83}" destId="{FF479E3D-9041-4422-850F-BDBE1E018A26}" srcOrd="0" destOrd="0" presId="urn:microsoft.com/office/officeart/2005/8/layout/cycle4#1"/>
    <dgm:cxn modelId="{8A7BEEAB-CC91-4FD6-9E4C-8EB612223401}" type="presParOf" srcId="{7C0CAA45-5DF8-452E-B442-5249A5501F83}" destId="{F687DB78-8653-41D8-B47A-D1349D3DE866}" srcOrd="1" destOrd="0" presId="urn:microsoft.com/office/officeart/2005/8/layout/cycle4#1"/>
    <dgm:cxn modelId="{79450198-3541-47F1-935E-8AD9E6024448}" type="presParOf" srcId="{174E4B53-E53E-4723-8508-33A717CFB8D2}" destId="{BE7BC13E-376C-4189-A069-E551B3461088}" srcOrd="2" destOrd="0" presId="urn:microsoft.com/office/officeart/2005/8/layout/cycle4#1"/>
    <dgm:cxn modelId="{081B100E-AF00-492F-B4A6-7D1F1C764AFF}" type="presParOf" srcId="{BE7BC13E-376C-4189-A069-E551B3461088}" destId="{9D4A2B47-CA3E-4D38-8FE4-821B105AC727}" srcOrd="0" destOrd="0" presId="urn:microsoft.com/office/officeart/2005/8/layout/cycle4#1"/>
    <dgm:cxn modelId="{E24645D1-5498-4D11-A3F6-25E6FB9FFE12}" type="presParOf" srcId="{BE7BC13E-376C-4189-A069-E551B3461088}" destId="{5E27B9DA-4D8C-4B78-82F9-3051D6C393D1}" srcOrd="1" destOrd="0" presId="urn:microsoft.com/office/officeart/2005/8/layout/cycle4#1"/>
    <dgm:cxn modelId="{8876AE91-6B89-48C8-92CD-872FE3D13681}" type="presParOf" srcId="{174E4B53-E53E-4723-8508-33A717CFB8D2}" destId="{E19694CE-DA13-4567-92C0-8146D849C541}" srcOrd="3" destOrd="0" presId="urn:microsoft.com/office/officeart/2005/8/layout/cycle4#1"/>
    <dgm:cxn modelId="{6DAABD60-E7F3-4A8F-8285-3DBC315E492A}" type="presParOf" srcId="{E19694CE-DA13-4567-92C0-8146D849C541}" destId="{7B0C5E8F-FA50-4B7C-ACB1-CD02C01968C1}" srcOrd="0" destOrd="0" presId="urn:microsoft.com/office/officeart/2005/8/layout/cycle4#1"/>
    <dgm:cxn modelId="{93387794-A4F3-4A56-9D2A-42E2D3066C99}" type="presParOf" srcId="{E19694CE-DA13-4567-92C0-8146D849C541}" destId="{63B66627-9970-4C61-889A-FA882A541B4A}" srcOrd="1" destOrd="0" presId="urn:microsoft.com/office/officeart/2005/8/layout/cycle4#1"/>
    <dgm:cxn modelId="{A438078B-2D58-41CF-B868-C74D9BC9BD84}" type="presParOf" srcId="{174E4B53-E53E-4723-8508-33A717CFB8D2}" destId="{D864359C-7F85-488C-AF4D-EC05F8F37D1D}" srcOrd="4" destOrd="0" presId="urn:microsoft.com/office/officeart/2005/8/layout/cycle4#1"/>
    <dgm:cxn modelId="{766AABAB-9946-490F-9747-53BA50D91EEA}" type="presParOf" srcId="{04D3DC2D-4657-4DE5-909E-598B08CFE9AB}" destId="{E21232DA-D349-4C35-8182-B2ED9C9747B8}" srcOrd="1" destOrd="0" presId="urn:microsoft.com/office/officeart/2005/8/layout/cycle4#1"/>
    <dgm:cxn modelId="{8BA88E77-20DD-42EF-9570-00AC0E54B30F}" type="presParOf" srcId="{E21232DA-D349-4C35-8182-B2ED9C9747B8}" destId="{0F544FD3-0813-4A38-8462-F11F00483A7E}" srcOrd="0" destOrd="0" presId="urn:microsoft.com/office/officeart/2005/8/layout/cycle4#1"/>
    <dgm:cxn modelId="{09873408-B8D9-42BE-8E2A-35855351F092}" type="presParOf" srcId="{E21232DA-D349-4C35-8182-B2ED9C9747B8}" destId="{9656CC54-3EA8-4711-9509-019C326ABD33}" srcOrd="1" destOrd="0" presId="urn:microsoft.com/office/officeart/2005/8/layout/cycle4#1"/>
    <dgm:cxn modelId="{1714B83C-DDD0-4E1F-83D8-AB29305937B2}" type="presParOf" srcId="{E21232DA-D349-4C35-8182-B2ED9C9747B8}" destId="{C8537255-4021-49E3-9EEB-BA556861C454}" srcOrd="2" destOrd="0" presId="urn:microsoft.com/office/officeart/2005/8/layout/cycle4#1"/>
    <dgm:cxn modelId="{FF182754-C512-4956-A77D-5C2044877848}" type="presParOf" srcId="{E21232DA-D349-4C35-8182-B2ED9C9747B8}" destId="{3A15B5C4-B4FB-48DB-87A8-F15600CA87AD}" srcOrd="3" destOrd="0" presId="urn:microsoft.com/office/officeart/2005/8/layout/cycle4#1"/>
    <dgm:cxn modelId="{CB40EBDD-B790-43EC-813C-A4F6F2AFF0E8}" type="presParOf" srcId="{E21232DA-D349-4C35-8182-B2ED9C9747B8}" destId="{E9675016-B5AE-4EEC-A538-8959372B3625}" srcOrd="4" destOrd="0" presId="urn:microsoft.com/office/officeart/2005/8/layout/cycle4#1"/>
    <dgm:cxn modelId="{44E49D8C-FA5B-4CA1-A5E5-4171A0036FAF}" type="presParOf" srcId="{04D3DC2D-4657-4DE5-909E-598B08CFE9AB}" destId="{5D5F69F0-B686-4866-8058-CC2086B95543}" srcOrd="2" destOrd="0" presId="urn:microsoft.com/office/officeart/2005/8/layout/cycle4#1"/>
    <dgm:cxn modelId="{6BE1B519-B1A6-4120-B534-FDFC762662F9}" type="presParOf" srcId="{04D3DC2D-4657-4DE5-909E-598B08CFE9AB}" destId="{EE41C78E-A51A-496A-824D-E3F90B6114ED}" srcOrd="3" destOrd="0" presId="urn:microsoft.com/office/officeart/2005/8/layout/cycle4#1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B9C965-7FFD-478E-ACD0-5C420CD10815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4B6A0AA-7253-4CDB-B816-7575DF1991FB}">
      <dgm:prSet phldrT="[Text]" custT="1"/>
      <dgm:spPr/>
      <dgm:t>
        <a:bodyPr/>
        <a:lstStyle/>
        <a:p>
          <a:r>
            <a:rPr lang="en-US" sz="1800" b="1" dirty="0" smtClean="0">
              <a:solidFill>
                <a:schemeClr val="tx1"/>
              </a:solidFill>
            </a:rPr>
            <a:t>Usage Analytics  </a:t>
          </a:r>
        </a:p>
        <a:p>
          <a:r>
            <a:rPr lang="en-US" sz="1200" dirty="0" smtClean="0">
              <a:solidFill>
                <a:schemeClr val="tx1"/>
              </a:solidFill>
            </a:rPr>
            <a:t>(Burn Points)</a:t>
          </a:r>
          <a:endParaRPr lang="en-IN" sz="1200" dirty="0">
            <a:solidFill>
              <a:schemeClr val="tx1"/>
            </a:solidFill>
          </a:endParaRPr>
        </a:p>
      </dgm:t>
    </dgm:pt>
    <dgm:pt modelId="{72D0E932-9AB2-4A0F-AE64-B96E7F0AE06A}" type="parTrans" cxnId="{DAE7CC9A-BD3D-4275-9448-64B93C4923A2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8F48704B-86A0-496C-B42E-C68E62DD1C03}" type="sibTrans" cxnId="{DAE7CC9A-BD3D-4275-9448-64B93C4923A2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79B783B3-F4ED-42F8-A304-42101785B941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Activity Analysis</a:t>
          </a:r>
          <a:endParaRPr lang="en-IN" b="1" dirty="0">
            <a:solidFill>
              <a:schemeClr val="tx1"/>
            </a:solidFill>
          </a:endParaRPr>
        </a:p>
      </dgm:t>
    </dgm:pt>
    <dgm:pt modelId="{2BB6211E-C172-4868-BD4F-1162814C5F7C}" type="parTrans" cxnId="{F8991AFD-93EA-4195-838B-6757C5AFE05A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41C7B4A3-BDCA-45AE-B9B9-7B70923FAFC0}" type="sibTrans" cxnId="{F8991AFD-93EA-4195-838B-6757C5AFE05A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A828A10A-5A1E-468F-9BAE-762F99410594}">
      <dgm:prSet phldrT="[Text]" custT="1"/>
      <dgm:spPr/>
      <dgm:t>
        <a:bodyPr/>
        <a:lstStyle/>
        <a:p>
          <a:r>
            <a:rPr lang="en-US" sz="1800" b="1" dirty="0" smtClean="0">
              <a:solidFill>
                <a:schemeClr val="tx1"/>
              </a:solidFill>
            </a:rPr>
            <a:t>Accrual Analytics</a:t>
          </a:r>
        </a:p>
        <a:p>
          <a:r>
            <a:rPr lang="en-US" sz="1200" dirty="0" smtClean="0">
              <a:solidFill>
                <a:schemeClr val="tx1"/>
              </a:solidFill>
            </a:rPr>
            <a:t>(Earn Points)</a:t>
          </a:r>
          <a:endParaRPr lang="en-IN" sz="1200" dirty="0">
            <a:solidFill>
              <a:schemeClr val="tx1"/>
            </a:solidFill>
          </a:endParaRPr>
        </a:p>
      </dgm:t>
    </dgm:pt>
    <dgm:pt modelId="{EC8C5FD2-D73E-4F33-A676-BFEB3A7393B9}" type="parTrans" cxnId="{577A67E7-00D4-4747-92BC-ACC450A89CE4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BAA93527-F2B7-454C-83E1-F731578BF704}" type="sibTrans" cxnId="{577A67E7-00D4-4747-92BC-ACC450A89CE4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86F94159-DB61-460E-B5F0-788F1B4BD6B8}" type="pres">
      <dgm:prSet presAssocID="{1BB9C965-7FFD-478E-ACD0-5C420CD1081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935A766-1B60-47CF-9BD7-D15513628BDC}" type="pres">
      <dgm:prSet presAssocID="{14B6A0AA-7253-4CDB-B816-7575DF1991FB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5E89F7D-9254-4CF3-B9DF-C9FE0DFC53DA}" type="pres">
      <dgm:prSet presAssocID="{8F48704B-86A0-496C-B42E-C68E62DD1C03}" presName="sibTrans" presStyleLbl="sibTrans2D1" presStyleIdx="0" presStyleCnt="3"/>
      <dgm:spPr/>
      <dgm:t>
        <a:bodyPr/>
        <a:lstStyle/>
        <a:p>
          <a:endParaRPr lang="en-US"/>
        </a:p>
      </dgm:t>
    </dgm:pt>
    <dgm:pt modelId="{884249A5-7EFB-40A6-B6A7-B1B92A7ECB4E}" type="pres">
      <dgm:prSet presAssocID="{8F48704B-86A0-496C-B42E-C68E62DD1C03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40E18721-FF08-4651-82FD-81F1B27791CF}" type="pres">
      <dgm:prSet presAssocID="{79B783B3-F4ED-42F8-A304-42101785B941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C820C6-DD8E-4546-A6B0-3CDE2CA76DD5}" type="pres">
      <dgm:prSet presAssocID="{41C7B4A3-BDCA-45AE-B9B9-7B70923FAFC0}" presName="sibTrans" presStyleLbl="sibTrans2D1" presStyleIdx="1" presStyleCnt="3"/>
      <dgm:spPr/>
      <dgm:t>
        <a:bodyPr/>
        <a:lstStyle/>
        <a:p>
          <a:endParaRPr lang="en-US"/>
        </a:p>
      </dgm:t>
    </dgm:pt>
    <dgm:pt modelId="{23E53094-2A54-4D08-A7C3-D6E5647AD2B1}" type="pres">
      <dgm:prSet presAssocID="{41C7B4A3-BDCA-45AE-B9B9-7B70923FAFC0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A32BC85D-C832-4781-9230-62EAF0C413D7}" type="pres">
      <dgm:prSet presAssocID="{A828A10A-5A1E-468F-9BAE-762F99410594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A1C21FA-B4F8-4558-B339-1B0C10B54EC2}" type="pres">
      <dgm:prSet presAssocID="{BAA93527-F2B7-454C-83E1-F731578BF704}" presName="sibTrans" presStyleLbl="sibTrans2D1" presStyleIdx="2" presStyleCnt="3"/>
      <dgm:spPr/>
      <dgm:t>
        <a:bodyPr/>
        <a:lstStyle/>
        <a:p>
          <a:endParaRPr lang="en-US"/>
        </a:p>
      </dgm:t>
    </dgm:pt>
    <dgm:pt modelId="{C1B98719-F4D9-4376-84A7-174499C761A9}" type="pres">
      <dgm:prSet presAssocID="{BAA93527-F2B7-454C-83E1-F731578BF704}" presName="connectorText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FEA229FF-4C3C-43DE-86B0-1E2C90FE2BBA}" type="presOf" srcId="{41C7B4A3-BDCA-45AE-B9B9-7B70923FAFC0}" destId="{23E53094-2A54-4D08-A7C3-D6E5647AD2B1}" srcOrd="1" destOrd="0" presId="urn:microsoft.com/office/officeart/2005/8/layout/cycle2"/>
    <dgm:cxn modelId="{CCFF1E9D-ABC5-4638-99F1-56C44F057E2C}" type="presOf" srcId="{14B6A0AA-7253-4CDB-B816-7575DF1991FB}" destId="{9935A766-1B60-47CF-9BD7-D15513628BDC}" srcOrd="0" destOrd="0" presId="urn:microsoft.com/office/officeart/2005/8/layout/cycle2"/>
    <dgm:cxn modelId="{4D5A8A50-C26C-49C5-8F09-00CC7041E25B}" type="presOf" srcId="{BAA93527-F2B7-454C-83E1-F731578BF704}" destId="{C1B98719-F4D9-4376-84A7-174499C761A9}" srcOrd="1" destOrd="0" presId="urn:microsoft.com/office/officeart/2005/8/layout/cycle2"/>
    <dgm:cxn modelId="{10890252-30FE-4AE1-8C7D-44C84D6C3A26}" type="presOf" srcId="{1BB9C965-7FFD-478E-ACD0-5C420CD10815}" destId="{86F94159-DB61-460E-B5F0-788F1B4BD6B8}" srcOrd="0" destOrd="0" presId="urn:microsoft.com/office/officeart/2005/8/layout/cycle2"/>
    <dgm:cxn modelId="{577A67E7-00D4-4747-92BC-ACC450A89CE4}" srcId="{1BB9C965-7FFD-478E-ACD0-5C420CD10815}" destId="{A828A10A-5A1E-468F-9BAE-762F99410594}" srcOrd="2" destOrd="0" parTransId="{EC8C5FD2-D73E-4F33-A676-BFEB3A7393B9}" sibTransId="{BAA93527-F2B7-454C-83E1-F731578BF704}"/>
    <dgm:cxn modelId="{F8991AFD-93EA-4195-838B-6757C5AFE05A}" srcId="{1BB9C965-7FFD-478E-ACD0-5C420CD10815}" destId="{79B783B3-F4ED-42F8-A304-42101785B941}" srcOrd="1" destOrd="0" parTransId="{2BB6211E-C172-4868-BD4F-1162814C5F7C}" sibTransId="{41C7B4A3-BDCA-45AE-B9B9-7B70923FAFC0}"/>
    <dgm:cxn modelId="{A6DED279-9E72-42BC-AA07-E222EE16747A}" type="presOf" srcId="{BAA93527-F2B7-454C-83E1-F731578BF704}" destId="{6A1C21FA-B4F8-4558-B339-1B0C10B54EC2}" srcOrd="0" destOrd="0" presId="urn:microsoft.com/office/officeart/2005/8/layout/cycle2"/>
    <dgm:cxn modelId="{9C6303A5-AB45-4B7E-AF9C-FC834A974E96}" type="presOf" srcId="{A828A10A-5A1E-468F-9BAE-762F99410594}" destId="{A32BC85D-C832-4781-9230-62EAF0C413D7}" srcOrd="0" destOrd="0" presId="urn:microsoft.com/office/officeart/2005/8/layout/cycle2"/>
    <dgm:cxn modelId="{EAF629A7-96A3-468F-A12A-5CDC1C6A0D97}" type="presOf" srcId="{8F48704B-86A0-496C-B42E-C68E62DD1C03}" destId="{884249A5-7EFB-40A6-B6A7-B1B92A7ECB4E}" srcOrd="1" destOrd="0" presId="urn:microsoft.com/office/officeart/2005/8/layout/cycle2"/>
    <dgm:cxn modelId="{DAE7CC9A-BD3D-4275-9448-64B93C4923A2}" srcId="{1BB9C965-7FFD-478E-ACD0-5C420CD10815}" destId="{14B6A0AA-7253-4CDB-B816-7575DF1991FB}" srcOrd="0" destOrd="0" parTransId="{72D0E932-9AB2-4A0F-AE64-B96E7F0AE06A}" sibTransId="{8F48704B-86A0-496C-B42E-C68E62DD1C03}"/>
    <dgm:cxn modelId="{893DDC4C-BCED-48D4-A479-4425895BAB59}" type="presOf" srcId="{79B783B3-F4ED-42F8-A304-42101785B941}" destId="{40E18721-FF08-4651-82FD-81F1B27791CF}" srcOrd="0" destOrd="0" presId="urn:microsoft.com/office/officeart/2005/8/layout/cycle2"/>
    <dgm:cxn modelId="{5CA550C9-27DC-4C84-AB7A-387BD171ADA5}" type="presOf" srcId="{41C7B4A3-BDCA-45AE-B9B9-7B70923FAFC0}" destId="{41C820C6-DD8E-4546-A6B0-3CDE2CA76DD5}" srcOrd="0" destOrd="0" presId="urn:microsoft.com/office/officeart/2005/8/layout/cycle2"/>
    <dgm:cxn modelId="{1DDE64B4-98FC-47DB-9E1F-F113DB6A722A}" type="presOf" srcId="{8F48704B-86A0-496C-B42E-C68E62DD1C03}" destId="{B5E89F7D-9254-4CF3-B9DF-C9FE0DFC53DA}" srcOrd="0" destOrd="0" presId="urn:microsoft.com/office/officeart/2005/8/layout/cycle2"/>
    <dgm:cxn modelId="{3600FDAE-5453-4D3B-B1BC-9BAA4426FAC0}" type="presParOf" srcId="{86F94159-DB61-460E-B5F0-788F1B4BD6B8}" destId="{9935A766-1B60-47CF-9BD7-D15513628BDC}" srcOrd="0" destOrd="0" presId="urn:microsoft.com/office/officeart/2005/8/layout/cycle2"/>
    <dgm:cxn modelId="{DC3952D8-F704-404F-87B4-095FCBC7F40A}" type="presParOf" srcId="{86F94159-DB61-460E-B5F0-788F1B4BD6B8}" destId="{B5E89F7D-9254-4CF3-B9DF-C9FE0DFC53DA}" srcOrd="1" destOrd="0" presId="urn:microsoft.com/office/officeart/2005/8/layout/cycle2"/>
    <dgm:cxn modelId="{608D14A4-61D2-4AAD-A3A6-0C75D0539D94}" type="presParOf" srcId="{B5E89F7D-9254-4CF3-B9DF-C9FE0DFC53DA}" destId="{884249A5-7EFB-40A6-B6A7-B1B92A7ECB4E}" srcOrd="0" destOrd="0" presId="urn:microsoft.com/office/officeart/2005/8/layout/cycle2"/>
    <dgm:cxn modelId="{B5F307E4-99E7-4587-BD87-AE0CC12B26A8}" type="presParOf" srcId="{86F94159-DB61-460E-B5F0-788F1B4BD6B8}" destId="{40E18721-FF08-4651-82FD-81F1B27791CF}" srcOrd="2" destOrd="0" presId="urn:microsoft.com/office/officeart/2005/8/layout/cycle2"/>
    <dgm:cxn modelId="{A3766327-1BE4-4FC0-A1A4-2F0198BBB89B}" type="presParOf" srcId="{86F94159-DB61-460E-B5F0-788F1B4BD6B8}" destId="{41C820C6-DD8E-4546-A6B0-3CDE2CA76DD5}" srcOrd="3" destOrd="0" presId="urn:microsoft.com/office/officeart/2005/8/layout/cycle2"/>
    <dgm:cxn modelId="{2B8E6180-1314-4110-86E7-88A18B00A761}" type="presParOf" srcId="{41C820C6-DD8E-4546-A6B0-3CDE2CA76DD5}" destId="{23E53094-2A54-4D08-A7C3-D6E5647AD2B1}" srcOrd="0" destOrd="0" presId="urn:microsoft.com/office/officeart/2005/8/layout/cycle2"/>
    <dgm:cxn modelId="{FF2B8F64-8C06-45C0-A75D-1A0BB5308800}" type="presParOf" srcId="{86F94159-DB61-460E-B5F0-788F1B4BD6B8}" destId="{A32BC85D-C832-4781-9230-62EAF0C413D7}" srcOrd="4" destOrd="0" presId="urn:microsoft.com/office/officeart/2005/8/layout/cycle2"/>
    <dgm:cxn modelId="{FCD0DD26-5336-4796-BC0E-09C0CC9D8357}" type="presParOf" srcId="{86F94159-DB61-460E-B5F0-788F1B4BD6B8}" destId="{6A1C21FA-B4F8-4558-B339-1B0C10B54EC2}" srcOrd="5" destOrd="0" presId="urn:microsoft.com/office/officeart/2005/8/layout/cycle2"/>
    <dgm:cxn modelId="{78F01C9F-C5E5-41CF-8F2B-5EE4F99B8194}" type="presParOf" srcId="{6A1C21FA-B4F8-4558-B339-1B0C10B54EC2}" destId="{C1B98719-F4D9-4376-84A7-174499C761A9}" srcOrd="0" destOrd="0" presId="urn:microsoft.com/office/officeart/2005/8/layout/cycle2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EBC9F0D-8D1E-49DE-987E-EAA1CB8A4213}" type="doc">
      <dgm:prSet loTypeId="urn:microsoft.com/office/officeart/2008/layout/AscendingPictureAccentProcess" loCatId="process" qsTypeId="urn:microsoft.com/office/officeart/2005/8/quickstyle/simple2" qsCatId="simple" csTypeId="urn:microsoft.com/office/officeart/2005/8/colors/accent5_4" csCatId="accent5" phldr="1"/>
      <dgm:spPr/>
    </dgm:pt>
    <dgm:pt modelId="{96E88880-4B74-4754-8278-FC872C889C81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bg1"/>
              </a:solidFill>
            </a:rPr>
            <a:t>Single Tenant</a:t>
          </a:r>
          <a:endParaRPr lang="en-IN" sz="1800" dirty="0">
            <a:solidFill>
              <a:schemeClr val="bg1"/>
            </a:solidFill>
          </a:endParaRPr>
        </a:p>
      </dgm:t>
    </dgm:pt>
    <dgm:pt modelId="{73732F2F-6B8D-4C53-8D0F-D69C949F53A2}" type="parTrans" cxnId="{9B142A21-BAAD-448E-898B-1B15A6256F69}">
      <dgm:prSet/>
      <dgm:spPr/>
      <dgm:t>
        <a:bodyPr/>
        <a:lstStyle/>
        <a:p>
          <a:endParaRPr lang="en-IN"/>
        </a:p>
      </dgm:t>
    </dgm:pt>
    <dgm:pt modelId="{907C1680-B6BA-4522-A10E-C8C506AA95E7}" type="sibTrans" cxnId="{9B142A21-BAAD-448E-898B-1B15A6256F69}">
      <dgm:prSet/>
      <dgm:spPr/>
      <dgm:t>
        <a:bodyPr/>
        <a:lstStyle/>
        <a:p>
          <a:endParaRPr lang="en-IN"/>
        </a:p>
      </dgm:t>
    </dgm:pt>
    <dgm:pt modelId="{29BACE7B-6F44-447D-987E-BD8D654DFBC9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tx2"/>
              </a:solidFill>
            </a:rPr>
            <a:t>Multi Tenant</a:t>
          </a:r>
          <a:endParaRPr lang="en-IN" sz="1800" dirty="0">
            <a:solidFill>
              <a:schemeClr val="tx2"/>
            </a:solidFill>
          </a:endParaRPr>
        </a:p>
      </dgm:t>
    </dgm:pt>
    <dgm:pt modelId="{E44AE9FA-AB5B-4BC0-B674-39ABA3EFDD8D}" type="parTrans" cxnId="{F39DF507-275E-4B55-8D95-1615B3F2217C}">
      <dgm:prSet/>
      <dgm:spPr/>
      <dgm:t>
        <a:bodyPr/>
        <a:lstStyle/>
        <a:p>
          <a:endParaRPr lang="en-IN"/>
        </a:p>
      </dgm:t>
    </dgm:pt>
    <dgm:pt modelId="{10DA7AD0-52C8-441D-A49D-F79DFBFCB9CE}" type="sibTrans" cxnId="{F39DF507-275E-4B55-8D95-1615B3F2217C}">
      <dgm:prSet/>
      <dgm:spPr/>
      <dgm:t>
        <a:bodyPr/>
        <a:lstStyle/>
        <a:p>
          <a:endParaRPr lang="en-IN"/>
        </a:p>
      </dgm:t>
    </dgm:pt>
    <dgm:pt modelId="{90FC1049-B9D4-4C38-ABD8-F1D448FFF77D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tx2"/>
              </a:solidFill>
            </a:rPr>
            <a:t>One</a:t>
          </a:r>
          <a:r>
            <a:rPr lang="en-US" sz="1800" baseline="0" dirty="0" smtClean="0">
              <a:solidFill>
                <a:schemeClr val="tx2"/>
              </a:solidFill>
            </a:rPr>
            <a:t> Tata Loyalty Program</a:t>
          </a:r>
          <a:endParaRPr lang="en-IN" sz="1800" dirty="0">
            <a:solidFill>
              <a:schemeClr val="tx2"/>
            </a:solidFill>
          </a:endParaRPr>
        </a:p>
      </dgm:t>
    </dgm:pt>
    <dgm:pt modelId="{DE1F5E56-C7EB-4CA7-A7FF-CAF5E38280EE}" type="parTrans" cxnId="{D498094B-ED11-4C91-A95A-20B397E2A6E1}">
      <dgm:prSet/>
      <dgm:spPr/>
      <dgm:t>
        <a:bodyPr/>
        <a:lstStyle/>
        <a:p>
          <a:endParaRPr lang="en-IN"/>
        </a:p>
      </dgm:t>
    </dgm:pt>
    <dgm:pt modelId="{2C390C12-7D04-4492-A968-755F1889C672}" type="sibTrans" cxnId="{D498094B-ED11-4C91-A95A-20B397E2A6E1}">
      <dgm:prSet/>
      <dgm:spPr/>
      <dgm:t>
        <a:bodyPr/>
        <a:lstStyle/>
        <a:p>
          <a:endParaRPr lang="en-IN"/>
        </a:p>
      </dgm:t>
    </dgm:pt>
    <dgm:pt modelId="{B75709DA-B2A0-4AD7-BD30-4D60C41DD363}" type="pres">
      <dgm:prSet presAssocID="{DEBC9F0D-8D1E-49DE-987E-EAA1CB8A4213}" presName="Name0" presStyleCnt="0">
        <dgm:presLayoutVars>
          <dgm:chMax val="7"/>
          <dgm:chPref val="7"/>
          <dgm:dir/>
        </dgm:presLayoutVars>
      </dgm:prSet>
      <dgm:spPr/>
    </dgm:pt>
    <dgm:pt modelId="{1B89DC53-0C5C-4412-8CEE-19C6A961C3C3}" type="pres">
      <dgm:prSet presAssocID="{DEBC9F0D-8D1E-49DE-987E-EAA1CB8A4213}" presName="dot1" presStyleLbl="alignNode1" presStyleIdx="0" presStyleCnt="12" custLinFactY="-36824" custLinFactNeighborY="-100000"/>
      <dgm:spPr/>
    </dgm:pt>
    <dgm:pt modelId="{32B61882-587B-47E3-831D-B2804B2B2868}" type="pres">
      <dgm:prSet presAssocID="{DEBC9F0D-8D1E-49DE-987E-EAA1CB8A4213}" presName="dot2" presStyleLbl="alignNode1" presStyleIdx="1" presStyleCnt="12" custLinFactY="-36824" custLinFactNeighborY="-100000"/>
      <dgm:spPr/>
    </dgm:pt>
    <dgm:pt modelId="{39B76545-8482-4339-8159-D6DB46C8DFEB}" type="pres">
      <dgm:prSet presAssocID="{DEBC9F0D-8D1E-49DE-987E-EAA1CB8A4213}" presName="dot3" presStyleLbl="alignNode1" presStyleIdx="2" presStyleCnt="12" custLinFactY="-36824" custLinFactNeighborY="-100000"/>
      <dgm:spPr/>
    </dgm:pt>
    <dgm:pt modelId="{72D73499-5901-4FED-A1AB-6F4734E972A6}" type="pres">
      <dgm:prSet presAssocID="{DEBC9F0D-8D1E-49DE-987E-EAA1CB8A4213}" presName="dot4" presStyleLbl="alignNode1" presStyleIdx="3" presStyleCnt="12" custLinFactY="-36824" custLinFactNeighborY="-100000"/>
      <dgm:spPr/>
    </dgm:pt>
    <dgm:pt modelId="{4C116175-7BD3-4C6C-899E-3825CFF57B88}" type="pres">
      <dgm:prSet presAssocID="{DEBC9F0D-8D1E-49DE-987E-EAA1CB8A4213}" presName="dot5" presStyleLbl="alignNode1" presStyleIdx="4" presStyleCnt="12" custLinFactY="-36824" custLinFactNeighborY="-100000"/>
      <dgm:spPr/>
    </dgm:pt>
    <dgm:pt modelId="{740E57A1-393C-4027-ACB9-99BB73DEA4AC}" type="pres">
      <dgm:prSet presAssocID="{DEBC9F0D-8D1E-49DE-987E-EAA1CB8A4213}" presName="dotArrow1" presStyleLbl="alignNode1" presStyleIdx="5" presStyleCnt="12" custLinFactY="-36824" custLinFactNeighborY="-100000"/>
      <dgm:spPr/>
    </dgm:pt>
    <dgm:pt modelId="{F28B11A1-7484-4C10-8571-DECF0F5412C9}" type="pres">
      <dgm:prSet presAssocID="{DEBC9F0D-8D1E-49DE-987E-EAA1CB8A4213}" presName="dotArrow2" presStyleLbl="alignNode1" presStyleIdx="6" presStyleCnt="12" custLinFactY="-36824" custLinFactNeighborY="-100000"/>
      <dgm:spPr/>
    </dgm:pt>
    <dgm:pt modelId="{9EC5EDB5-5A85-4905-9D54-82E753CC28EE}" type="pres">
      <dgm:prSet presAssocID="{DEBC9F0D-8D1E-49DE-987E-EAA1CB8A4213}" presName="dotArrow3" presStyleLbl="alignNode1" presStyleIdx="7" presStyleCnt="12" custLinFactY="-36824" custLinFactNeighborY="-100000"/>
      <dgm:spPr/>
    </dgm:pt>
    <dgm:pt modelId="{5D2BCBC1-97FE-4BA2-959F-5C3AF67B3B2B}" type="pres">
      <dgm:prSet presAssocID="{DEBC9F0D-8D1E-49DE-987E-EAA1CB8A4213}" presName="dotArrow4" presStyleLbl="alignNode1" presStyleIdx="8" presStyleCnt="12" custLinFactY="-36824" custLinFactNeighborY="-100000"/>
      <dgm:spPr/>
    </dgm:pt>
    <dgm:pt modelId="{AE7477A9-46C1-4444-885E-F81CABB24102}" type="pres">
      <dgm:prSet presAssocID="{DEBC9F0D-8D1E-49DE-987E-EAA1CB8A4213}" presName="dotArrow5" presStyleLbl="alignNode1" presStyleIdx="9" presStyleCnt="12" custLinFactY="-36824" custLinFactNeighborY="-100000"/>
      <dgm:spPr/>
    </dgm:pt>
    <dgm:pt modelId="{FB9D041D-E0EC-45E2-B120-9BC0C8C37F79}" type="pres">
      <dgm:prSet presAssocID="{DEBC9F0D-8D1E-49DE-987E-EAA1CB8A4213}" presName="dotArrow6" presStyleLbl="alignNode1" presStyleIdx="10" presStyleCnt="12" custLinFactY="-36824" custLinFactNeighborY="-100000"/>
      <dgm:spPr/>
    </dgm:pt>
    <dgm:pt modelId="{0B11E062-E9B9-43C0-957E-BD20E779482B}" type="pres">
      <dgm:prSet presAssocID="{DEBC9F0D-8D1E-49DE-987E-EAA1CB8A4213}" presName="dotArrow7" presStyleLbl="alignNode1" presStyleIdx="11" presStyleCnt="12" custLinFactY="-36824" custLinFactNeighborY="-100000"/>
      <dgm:spPr/>
    </dgm:pt>
    <dgm:pt modelId="{94568C37-428C-4CDA-9B2B-9DD15ACDA6B0}" type="pres">
      <dgm:prSet presAssocID="{96E88880-4B74-4754-8278-FC872C889C81}" presName="parTx1" presStyleLbl="node1" presStyleIdx="0" presStyleCnt="3" custScaleY="68903" custLinFactNeighborX="2176" custLinFactNeighborY="-38189"/>
      <dgm:spPr/>
      <dgm:t>
        <a:bodyPr/>
        <a:lstStyle/>
        <a:p>
          <a:endParaRPr lang="en-IN"/>
        </a:p>
      </dgm:t>
    </dgm:pt>
    <dgm:pt modelId="{21A857F2-7AB8-41AA-B2D0-460FF23A1933}" type="pres">
      <dgm:prSet presAssocID="{907C1680-B6BA-4522-A10E-C8C506AA95E7}" presName="picture1" presStyleCnt="0"/>
      <dgm:spPr/>
    </dgm:pt>
    <dgm:pt modelId="{EAB5CE4D-F253-4191-A001-1853051EF29B}" type="pres">
      <dgm:prSet presAssocID="{907C1680-B6BA-4522-A10E-C8C506AA95E7}" presName="imageRepeatNode" presStyleLbl="fgImgPlace1" presStyleIdx="0" presStyleCnt="3" custLinFactNeighborY="-13680"/>
      <dgm:spPr/>
      <dgm:t>
        <a:bodyPr/>
        <a:lstStyle/>
        <a:p>
          <a:endParaRPr lang="en-IN"/>
        </a:p>
      </dgm:t>
    </dgm:pt>
    <dgm:pt modelId="{D746A789-1E1B-4F15-BE25-A4D8E959C674}" type="pres">
      <dgm:prSet presAssocID="{29BACE7B-6F44-447D-987E-BD8D654DFBC9}" presName="parTx2" presStyleLbl="node1" presStyleIdx="1" presStyleCnt="3" custScaleY="68903" custLinFactNeighborX="1541" custLinFactNeighborY="-78247"/>
      <dgm:spPr/>
      <dgm:t>
        <a:bodyPr/>
        <a:lstStyle/>
        <a:p>
          <a:endParaRPr lang="en-IN"/>
        </a:p>
      </dgm:t>
    </dgm:pt>
    <dgm:pt modelId="{1053FEFB-4BD2-4FB4-8267-87B79DABDEA5}" type="pres">
      <dgm:prSet presAssocID="{10DA7AD0-52C8-441D-A49D-F79DFBFCB9CE}" presName="picture2" presStyleCnt="0"/>
      <dgm:spPr/>
    </dgm:pt>
    <dgm:pt modelId="{720CE90B-C5EC-47AD-A458-F2DC5C9A7675}" type="pres">
      <dgm:prSet presAssocID="{10DA7AD0-52C8-441D-A49D-F79DFBFCB9CE}" presName="imageRepeatNode" presStyleLbl="fgImgPlace1" presStyleIdx="1" presStyleCnt="3" custLinFactNeighborY="-13680"/>
      <dgm:spPr/>
      <dgm:t>
        <a:bodyPr/>
        <a:lstStyle/>
        <a:p>
          <a:endParaRPr lang="en-IN"/>
        </a:p>
      </dgm:t>
    </dgm:pt>
    <dgm:pt modelId="{D2017532-C082-4547-82B0-ED99C3BA7D77}" type="pres">
      <dgm:prSet presAssocID="{90FC1049-B9D4-4C38-ABD8-F1D448FFF77D}" presName="parTx3" presStyleLbl="node1" presStyleIdx="2" presStyleCnt="3" custScaleY="87124" custLinFactNeighborX="4407" custLinFactNeighborY="-79502"/>
      <dgm:spPr/>
      <dgm:t>
        <a:bodyPr/>
        <a:lstStyle/>
        <a:p>
          <a:endParaRPr lang="en-IN"/>
        </a:p>
      </dgm:t>
    </dgm:pt>
    <dgm:pt modelId="{0EB1C999-104D-43E4-9DB7-0E87A40DC796}" type="pres">
      <dgm:prSet presAssocID="{2C390C12-7D04-4492-A968-755F1889C672}" presName="picture3" presStyleCnt="0"/>
      <dgm:spPr/>
    </dgm:pt>
    <dgm:pt modelId="{305520A3-EDB6-47CC-8C41-9D1A1D8212E6}" type="pres">
      <dgm:prSet presAssocID="{2C390C12-7D04-4492-A968-755F1889C672}" presName="imageRepeatNode" presStyleLbl="fgImgPlace1" presStyleIdx="2" presStyleCnt="3" custLinFactNeighborY="-14820"/>
      <dgm:spPr/>
      <dgm:t>
        <a:bodyPr/>
        <a:lstStyle/>
        <a:p>
          <a:endParaRPr lang="en-IN"/>
        </a:p>
      </dgm:t>
    </dgm:pt>
  </dgm:ptLst>
  <dgm:cxnLst>
    <dgm:cxn modelId="{9D613B75-9F2B-457E-838C-43034F74B874}" type="presOf" srcId="{907C1680-B6BA-4522-A10E-C8C506AA95E7}" destId="{EAB5CE4D-F253-4191-A001-1853051EF29B}" srcOrd="0" destOrd="0" presId="urn:microsoft.com/office/officeart/2008/layout/AscendingPictureAccentProcess"/>
    <dgm:cxn modelId="{2BE873B8-043B-4275-9E65-A06A330DA12C}" type="presOf" srcId="{10DA7AD0-52C8-441D-A49D-F79DFBFCB9CE}" destId="{720CE90B-C5EC-47AD-A458-F2DC5C9A7675}" srcOrd="0" destOrd="0" presId="urn:microsoft.com/office/officeart/2008/layout/AscendingPictureAccentProcess"/>
    <dgm:cxn modelId="{B546B5CB-9ABD-4EE7-B048-5B40B47B0834}" type="presOf" srcId="{90FC1049-B9D4-4C38-ABD8-F1D448FFF77D}" destId="{D2017532-C082-4547-82B0-ED99C3BA7D77}" srcOrd="0" destOrd="0" presId="urn:microsoft.com/office/officeart/2008/layout/AscendingPictureAccentProcess"/>
    <dgm:cxn modelId="{15626619-7A4F-4EDC-901C-94CCAFBA340C}" type="presOf" srcId="{DEBC9F0D-8D1E-49DE-987E-EAA1CB8A4213}" destId="{B75709DA-B2A0-4AD7-BD30-4D60C41DD363}" srcOrd="0" destOrd="0" presId="urn:microsoft.com/office/officeart/2008/layout/AscendingPictureAccentProcess"/>
    <dgm:cxn modelId="{549ACF86-2812-4760-A0F8-7AA7434BF04C}" type="presOf" srcId="{29BACE7B-6F44-447D-987E-BD8D654DFBC9}" destId="{D746A789-1E1B-4F15-BE25-A4D8E959C674}" srcOrd="0" destOrd="0" presId="urn:microsoft.com/office/officeart/2008/layout/AscendingPictureAccentProcess"/>
    <dgm:cxn modelId="{9B142A21-BAAD-448E-898B-1B15A6256F69}" srcId="{DEBC9F0D-8D1E-49DE-987E-EAA1CB8A4213}" destId="{96E88880-4B74-4754-8278-FC872C889C81}" srcOrd="0" destOrd="0" parTransId="{73732F2F-6B8D-4C53-8D0F-D69C949F53A2}" sibTransId="{907C1680-B6BA-4522-A10E-C8C506AA95E7}"/>
    <dgm:cxn modelId="{D498094B-ED11-4C91-A95A-20B397E2A6E1}" srcId="{DEBC9F0D-8D1E-49DE-987E-EAA1CB8A4213}" destId="{90FC1049-B9D4-4C38-ABD8-F1D448FFF77D}" srcOrd="2" destOrd="0" parTransId="{DE1F5E56-C7EB-4CA7-A7FF-CAF5E38280EE}" sibTransId="{2C390C12-7D04-4492-A968-755F1889C672}"/>
    <dgm:cxn modelId="{53774867-7130-4A01-B341-FDB63B4ED969}" type="presOf" srcId="{96E88880-4B74-4754-8278-FC872C889C81}" destId="{94568C37-428C-4CDA-9B2B-9DD15ACDA6B0}" srcOrd="0" destOrd="0" presId="urn:microsoft.com/office/officeart/2008/layout/AscendingPictureAccentProcess"/>
    <dgm:cxn modelId="{50CB61CD-3390-4CE9-BBC2-137FB6A7EC5D}" type="presOf" srcId="{2C390C12-7D04-4492-A968-755F1889C672}" destId="{305520A3-EDB6-47CC-8C41-9D1A1D8212E6}" srcOrd="0" destOrd="0" presId="urn:microsoft.com/office/officeart/2008/layout/AscendingPictureAccentProcess"/>
    <dgm:cxn modelId="{F39DF507-275E-4B55-8D95-1615B3F2217C}" srcId="{DEBC9F0D-8D1E-49DE-987E-EAA1CB8A4213}" destId="{29BACE7B-6F44-447D-987E-BD8D654DFBC9}" srcOrd="1" destOrd="0" parTransId="{E44AE9FA-AB5B-4BC0-B674-39ABA3EFDD8D}" sibTransId="{10DA7AD0-52C8-441D-A49D-F79DFBFCB9CE}"/>
    <dgm:cxn modelId="{65A80203-82B4-4D20-B576-BAC64C6F9D57}" type="presParOf" srcId="{B75709DA-B2A0-4AD7-BD30-4D60C41DD363}" destId="{1B89DC53-0C5C-4412-8CEE-19C6A961C3C3}" srcOrd="0" destOrd="0" presId="urn:microsoft.com/office/officeart/2008/layout/AscendingPictureAccentProcess"/>
    <dgm:cxn modelId="{6258DE3B-5FBF-4962-A1AF-5A451F548671}" type="presParOf" srcId="{B75709DA-B2A0-4AD7-BD30-4D60C41DD363}" destId="{32B61882-587B-47E3-831D-B2804B2B2868}" srcOrd="1" destOrd="0" presId="urn:microsoft.com/office/officeart/2008/layout/AscendingPictureAccentProcess"/>
    <dgm:cxn modelId="{4ED09E12-0180-4B16-9322-DF95CB0B22D2}" type="presParOf" srcId="{B75709DA-B2A0-4AD7-BD30-4D60C41DD363}" destId="{39B76545-8482-4339-8159-D6DB46C8DFEB}" srcOrd="2" destOrd="0" presId="urn:microsoft.com/office/officeart/2008/layout/AscendingPictureAccentProcess"/>
    <dgm:cxn modelId="{D61A9280-95A7-4CE8-92BF-C9EAF8B82F7E}" type="presParOf" srcId="{B75709DA-B2A0-4AD7-BD30-4D60C41DD363}" destId="{72D73499-5901-4FED-A1AB-6F4734E972A6}" srcOrd="3" destOrd="0" presId="urn:microsoft.com/office/officeart/2008/layout/AscendingPictureAccentProcess"/>
    <dgm:cxn modelId="{9FD17AB1-30A4-489A-A048-F49997CE7F61}" type="presParOf" srcId="{B75709DA-B2A0-4AD7-BD30-4D60C41DD363}" destId="{4C116175-7BD3-4C6C-899E-3825CFF57B88}" srcOrd="4" destOrd="0" presId="urn:microsoft.com/office/officeart/2008/layout/AscendingPictureAccentProcess"/>
    <dgm:cxn modelId="{64E3F8A1-2EB4-48E2-98E3-21FB4E73A458}" type="presParOf" srcId="{B75709DA-B2A0-4AD7-BD30-4D60C41DD363}" destId="{740E57A1-393C-4027-ACB9-99BB73DEA4AC}" srcOrd="5" destOrd="0" presId="urn:microsoft.com/office/officeart/2008/layout/AscendingPictureAccentProcess"/>
    <dgm:cxn modelId="{6455DCDB-3E5C-45E6-95B2-DD881ECD5721}" type="presParOf" srcId="{B75709DA-B2A0-4AD7-BD30-4D60C41DD363}" destId="{F28B11A1-7484-4C10-8571-DECF0F5412C9}" srcOrd="6" destOrd="0" presId="urn:microsoft.com/office/officeart/2008/layout/AscendingPictureAccentProcess"/>
    <dgm:cxn modelId="{110B00F9-02A3-4910-8F79-EFF5E71F527B}" type="presParOf" srcId="{B75709DA-B2A0-4AD7-BD30-4D60C41DD363}" destId="{9EC5EDB5-5A85-4905-9D54-82E753CC28EE}" srcOrd="7" destOrd="0" presId="urn:microsoft.com/office/officeart/2008/layout/AscendingPictureAccentProcess"/>
    <dgm:cxn modelId="{10459B86-9956-4008-B0CD-AA1FF37983AF}" type="presParOf" srcId="{B75709DA-B2A0-4AD7-BD30-4D60C41DD363}" destId="{5D2BCBC1-97FE-4BA2-959F-5C3AF67B3B2B}" srcOrd="8" destOrd="0" presId="urn:microsoft.com/office/officeart/2008/layout/AscendingPictureAccentProcess"/>
    <dgm:cxn modelId="{77B28EC6-1D2E-4B8B-A080-3E4EE8B5747E}" type="presParOf" srcId="{B75709DA-B2A0-4AD7-BD30-4D60C41DD363}" destId="{AE7477A9-46C1-4444-885E-F81CABB24102}" srcOrd="9" destOrd="0" presId="urn:microsoft.com/office/officeart/2008/layout/AscendingPictureAccentProcess"/>
    <dgm:cxn modelId="{C2968E0D-91DB-40C9-B85D-D4AFC29C78DB}" type="presParOf" srcId="{B75709DA-B2A0-4AD7-BD30-4D60C41DD363}" destId="{FB9D041D-E0EC-45E2-B120-9BC0C8C37F79}" srcOrd="10" destOrd="0" presId="urn:microsoft.com/office/officeart/2008/layout/AscendingPictureAccentProcess"/>
    <dgm:cxn modelId="{E2667C61-E5F2-4F2E-8672-665CD0CE8EBB}" type="presParOf" srcId="{B75709DA-B2A0-4AD7-BD30-4D60C41DD363}" destId="{0B11E062-E9B9-43C0-957E-BD20E779482B}" srcOrd="11" destOrd="0" presId="urn:microsoft.com/office/officeart/2008/layout/AscendingPictureAccentProcess"/>
    <dgm:cxn modelId="{5069FD69-D3C0-4AF3-8D9B-A0E29AB34957}" type="presParOf" srcId="{B75709DA-B2A0-4AD7-BD30-4D60C41DD363}" destId="{94568C37-428C-4CDA-9B2B-9DD15ACDA6B0}" srcOrd="12" destOrd="0" presId="urn:microsoft.com/office/officeart/2008/layout/AscendingPictureAccentProcess"/>
    <dgm:cxn modelId="{43A79A5E-D134-45BC-AE9E-6038085D816B}" type="presParOf" srcId="{B75709DA-B2A0-4AD7-BD30-4D60C41DD363}" destId="{21A857F2-7AB8-41AA-B2D0-460FF23A1933}" srcOrd="13" destOrd="0" presId="urn:microsoft.com/office/officeart/2008/layout/AscendingPictureAccentProcess"/>
    <dgm:cxn modelId="{506E5847-DB49-46A4-BA77-F973E62D6497}" type="presParOf" srcId="{21A857F2-7AB8-41AA-B2D0-460FF23A1933}" destId="{EAB5CE4D-F253-4191-A001-1853051EF29B}" srcOrd="0" destOrd="0" presId="urn:microsoft.com/office/officeart/2008/layout/AscendingPictureAccentProcess"/>
    <dgm:cxn modelId="{B19D7B88-C7BB-462B-9B27-F621E72DCEC3}" type="presParOf" srcId="{B75709DA-B2A0-4AD7-BD30-4D60C41DD363}" destId="{D746A789-1E1B-4F15-BE25-A4D8E959C674}" srcOrd="14" destOrd="0" presId="urn:microsoft.com/office/officeart/2008/layout/AscendingPictureAccentProcess"/>
    <dgm:cxn modelId="{9351C22E-9A10-454D-AE2A-BA77006CDAD5}" type="presParOf" srcId="{B75709DA-B2A0-4AD7-BD30-4D60C41DD363}" destId="{1053FEFB-4BD2-4FB4-8267-87B79DABDEA5}" srcOrd="15" destOrd="0" presId="urn:microsoft.com/office/officeart/2008/layout/AscendingPictureAccentProcess"/>
    <dgm:cxn modelId="{24DD0A75-602F-43DE-AE68-42F4070EF6B0}" type="presParOf" srcId="{1053FEFB-4BD2-4FB4-8267-87B79DABDEA5}" destId="{720CE90B-C5EC-47AD-A458-F2DC5C9A7675}" srcOrd="0" destOrd="0" presId="urn:microsoft.com/office/officeart/2008/layout/AscendingPictureAccentProcess"/>
    <dgm:cxn modelId="{15D91353-9ACF-46AA-8144-CB98A976E541}" type="presParOf" srcId="{B75709DA-B2A0-4AD7-BD30-4D60C41DD363}" destId="{D2017532-C082-4547-82B0-ED99C3BA7D77}" srcOrd="16" destOrd="0" presId="urn:microsoft.com/office/officeart/2008/layout/AscendingPictureAccentProcess"/>
    <dgm:cxn modelId="{8246BC83-8CBC-4CDB-B2A3-9C3C6803C0F4}" type="presParOf" srcId="{B75709DA-B2A0-4AD7-BD30-4D60C41DD363}" destId="{0EB1C999-104D-43E4-9DB7-0E87A40DC796}" srcOrd="17" destOrd="0" presId="urn:microsoft.com/office/officeart/2008/layout/AscendingPictureAccentProcess"/>
    <dgm:cxn modelId="{78A8F8F2-1285-492C-AA09-14FF58B62338}" type="presParOf" srcId="{0EB1C999-104D-43E4-9DB7-0E87A40DC796}" destId="{305520A3-EDB6-47CC-8C41-9D1A1D8212E6}" srcOrd="0" destOrd="0" presId="urn:microsoft.com/office/officeart/2008/layout/AscendingPictureAccentProcess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7E8EE6-B93E-4218-A146-8FB7308F190F}" type="doc">
      <dgm:prSet loTypeId="urn:microsoft.com/office/officeart/2005/8/layout/hList7#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05021AEA-55EA-4DAB-B195-23482D904300}">
      <dgm:prSet custT="1"/>
      <dgm:spPr/>
      <dgm:t>
        <a:bodyPr/>
        <a:lstStyle/>
        <a:p>
          <a:pPr algn="ctr" rtl="0"/>
          <a:r>
            <a:rPr lang="en-US" sz="1400" b="1" i="1" dirty="0" smtClean="0"/>
            <a:t>Collection</a:t>
          </a:r>
          <a:r>
            <a:rPr lang="en-US" sz="1400" b="0" i="0" dirty="0" smtClean="0"/>
            <a:t>: </a:t>
          </a:r>
        </a:p>
        <a:p>
          <a:pPr algn="ctr" rtl="0"/>
          <a:endParaRPr lang="en-US" sz="1400" b="0" i="0" dirty="0" smtClean="0"/>
        </a:p>
        <a:p>
          <a:pPr algn="ctr" rtl="0"/>
          <a:r>
            <a:rPr lang="en-US" sz="1400" b="0" i="0" dirty="0" smtClean="0"/>
            <a:t>Capture &amp; Store minimum data as required.  Special attention to PII data.</a:t>
          </a:r>
          <a:endParaRPr lang="en-IN" sz="1400" dirty="0"/>
        </a:p>
      </dgm:t>
    </dgm:pt>
    <dgm:pt modelId="{4F3BD2D4-FF22-48F9-8C54-859CE73F2040}" type="parTrans" cxnId="{5EED6D5D-1456-4543-A6F8-769B37FCFA9F}">
      <dgm:prSet/>
      <dgm:spPr/>
      <dgm:t>
        <a:bodyPr/>
        <a:lstStyle/>
        <a:p>
          <a:pPr algn="ctr"/>
          <a:endParaRPr lang="en-IN"/>
        </a:p>
      </dgm:t>
    </dgm:pt>
    <dgm:pt modelId="{35F78140-D8E6-4E48-9454-A22D75F1737C}" type="sibTrans" cxnId="{5EED6D5D-1456-4543-A6F8-769B37FCFA9F}">
      <dgm:prSet/>
      <dgm:spPr/>
      <dgm:t>
        <a:bodyPr/>
        <a:lstStyle/>
        <a:p>
          <a:pPr algn="ctr"/>
          <a:endParaRPr lang="en-IN"/>
        </a:p>
      </dgm:t>
    </dgm:pt>
    <dgm:pt modelId="{6CAE4756-A333-40A3-8E49-C9CCA6D3EB36}">
      <dgm:prSet custT="1"/>
      <dgm:spPr/>
      <dgm:t>
        <a:bodyPr/>
        <a:lstStyle/>
        <a:p>
          <a:pPr algn="ctr" rtl="0"/>
          <a:r>
            <a:rPr lang="en-US" sz="1400" b="1" i="1" dirty="0" smtClean="0"/>
            <a:t>Purpose of Use</a:t>
          </a:r>
          <a:r>
            <a:rPr lang="en-US" sz="1400" b="0" i="0" dirty="0" smtClean="0"/>
            <a:t>: </a:t>
          </a:r>
        </a:p>
        <a:p>
          <a:pPr algn="ctr" rtl="0"/>
          <a:endParaRPr lang="en-US" sz="1400" b="0" i="0" dirty="0" smtClean="0"/>
        </a:p>
        <a:p>
          <a:pPr algn="ctr" rtl="0"/>
          <a:r>
            <a:rPr lang="en-US" sz="1400" b="0" i="0" dirty="0" smtClean="0"/>
            <a:t>Use the data only for the intended purpose of use agreed with the partner. </a:t>
          </a:r>
          <a:endParaRPr lang="en-IN" sz="1400" dirty="0"/>
        </a:p>
      </dgm:t>
    </dgm:pt>
    <dgm:pt modelId="{B7F58B50-3F04-458C-9966-0BA917B7E9CF}" type="parTrans" cxnId="{934D6518-9CB4-43FA-986A-496ECFF0C093}">
      <dgm:prSet/>
      <dgm:spPr/>
      <dgm:t>
        <a:bodyPr/>
        <a:lstStyle/>
        <a:p>
          <a:pPr algn="ctr"/>
          <a:endParaRPr lang="en-IN"/>
        </a:p>
      </dgm:t>
    </dgm:pt>
    <dgm:pt modelId="{9029E1B0-FDE6-48B0-A1D4-24C22BD8EFBE}" type="sibTrans" cxnId="{934D6518-9CB4-43FA-986A-496ECFF0C093}">
      <dgm:prSet/>
      <dgm:spPr/>
      <dgm:t>
        <a:bodyPr/>
        <a:lstStyle/>
        <a:p>
          <a:pPr algn="ctr"/>
          <a:endParaRPr lang="en-IN"/>
        </a:p>
      </dgm:t>
    </dgm:pt>
    <dgm:pt modelId="{3D1E5902-4DD1-4A19-B005-24D763A7877F}">
      <dgm:prSet custT="1"/>
      <dgm:spPr/>
      <dgm:t>
        <a:bodyPr/>
        <a:lstStyle/>
        <a:p>
          <a:pPr algn="ctr" rtl="0"/>
          <a:r>
            <a:rPr lang="en-US" sz="1400" b="1" i="1" dirty="0" smtClean="0"/>
            <a:t>Data Security</a:t>
          </a:r>
          <a:r>
            <a:rPr lang="en-US" sz="1400" b="0" i="0" dirty="0" smtClean="0"/>
            <a:t>:</a:t>
          </a:r>
        </a:p>
        <a:p>
          <a:pPr algn="ctr" rtl="0"/>
          <a:endParaRPr lang="en-US" sz="1400" b="0" i="0" dirty="0" smtClean="0"/>
        </a:p>
        <a:p>
          <a:pPr algn="ctr" rtl="0"/>
          <a:r>
            <a:rPr lang="en-US" sz="1400" b="0" i="0" dirty="0" smtClean="0"/>
            <a:t>Store data on secured environment – Server, Encrypted disks.</a:t>
          </a:r>
          <a:endParaRPr lang="en-IN" sz="1400" dirty="0"/>
        </a:p>
      </dgm:t>
    </dgm:pt>
    <dgm:pt modelId="{DE1E252D-A36A-43B0-B53C-BA6E6E253833}" type="parTrans" cxnId="{38E5D0CA-C1E6-484C-B126-DC530686A8A9}">
      <dgm:prSet/>
      <dgm:spPr/>
      <dgm:t>
        <a:bodyPr/>
        <a:lstStyle/>
        <a:p>
          <a:pPr algn="ctr"/>
          <a:endParaRPr lang="en-IN"/>
        </a:p>
      </dgm:t>
    </dgm:pt>
    <dgm:pt modelId="{B3723BEB-9775-4BDC-A70E-568DFB3CB17E}" type="sibTrans" cxnId="{38E5D0CA-C1E6-484C-B126-DC530686A8A9}">
      <dgm:prSet/>
      <dgm:spPr/>
      <dgm:t>
        <a:bodyPr/>
        <a:lstStyle/>
        <a:p>
          <a:pPr algn="ctr"/>
          <a:endParaRPr lang="en-IN"/>
        </a:p>
      </dgm:t>
    </dgm:pt>
    <dgm:pt modelId="{EC82C3C9-7BFC-4917-BD79-C57611788646}">
      <dgm:prSet custT="1"/>
      <dgm:spPr/>
      <dgm:t>
        <a:bodyPr/>
        <a:lstStyle/>
        <a:p>
          <a:pPr algn="ctr" rtl="0"/>
          <a:r>
            <a:rPr lang="en-US" sz="1400" b="1" i="1" dirty="0" smtClean="0"/>
            <a:t>Confidentiality</a:t>
          </a:r>
          <a:r>
            <a:rPr lang="en-US" sz="1400" b="0" i="0" dirty="0" smtClean="0"/>
            <a:t>: </a:t>
          </a:r>
        </a:p>
        <a:p>
          <a:pPr algn="ctr" rtl="0"/>
          <a:endParaRPr lang="en-US" sz="1400" b="0" i="0" dirty="0" smtClean="0"/>
        </a:p>
        <a:p>
          <a:pPr algn="ctr" rtl="0"/>
          <a:r>
            <a:rPr lang="en-US" sz="1400" b="0" i="0" dirty="0" smtClean="0"/>
            <a:t>Limited customer PII information with very minimal access and strong  control.</a:t>
          </a:r>
          <a:endParaRPr lang="en-IN" sz="1400" dirty="0"/>
        </a:p>
      </dgm:t>
    </dgm:pt>
    <dgm:pt modelId="{9B311060-00D5-4CCD-9FEF-D81BAC07B6B3}" type="parTrans" cxnId="{139031FF-29ED-41A9-98E0-DE2646FB694B}">
      <dgm:prSet/>
      <dgm:spPr/>
      <dgm:t>
        <a:bodyPr/>
        <a:lstStyle/>
        <a:p>
          <a:pPr algn="ctr"/>
          <a:endParaRPr lang="en-IN"/>
        </a:p>
      </dgm:t>
    </dgm:pt>
    <dgm:pt modelId="{F21F446C-65B4-4813-A4F0-698A6EB29BAE}" type="sibTrans" cxnId="{139031FF-29ED-41A9-98E0-DE2646FB694B}">
      <dgm:prSet/>
      <dgm:spPr/>
      <dgm:t>
        <a:bodyPr/>
        <a:lstStyle/>
        <a:p>
          <a:pPr algn="ctr"/>
          <a:endParaRPr lang="en-IN"/>
        </a:p>
      </dgm:t>
    </dgm:pt>
    <dgm:pt modelId="{E74C9FC5-340C-4F82-BE6B-2CA16F1A7C8C}">
      <dgm:prSet custT="1"/>
      <dgm:spPr/>
      <dgm:t>
        <a:bodyPr/>
        <a:lstStyle/>
        <a:p>
          <a:pPr algn="ctr" rtl="0"/>
          <a:r>
            <a:rPr lang="en-US" sz="1400" b="1" i="1" dirty="0" smtClean="0"/>
            <a:t>Customer Action: </a:t>
          </a:r>
        </a:p>
        <a:p>
          <a:pPr algn="ctr" rtl="0"/>
          <a:endParaRPr lang="en-US" sz="1400" b="1" i="1" dirty="0" smtClean="0"/>
        </a:p>
        <a:p>
          <a:pPr algn="ctr" rtl="0"/>
          <a:r>
            <a:rPr lang="en-US" sz="1400" b="0" i="0" dirty="0" smtClean="0"/>
            <a:t>Ensure that customer communication preferences are respected. </a:t>
          </a:r>
          <a:endParaRPr lang="en-IN" sz="1400" dirty="0"/>
        </a:p>
      </dgm:t>
    </dgm:pt>
    <dgm:pt modelId="{6AE030D2-53BB-410F-930F-AC9FE328978D}" type="parTrans" cxnId="{F0A587D9-F81F-4D48-AC34-F47DECEE2AA3}">
      <dgm:prSet/>
      <dgm:spPr/>
      <dgm:t>
        <a:bodyPr/>
        <a:lstStyle/>
        <a:p>
          <a:pPr algn="ctr"/>
          <a:endParaRPr lang="en-IN"/>
        </a:p>
      </dgm:t>
    </dgm:pt>
    <dgm:pt modelId="{D5ACC3A0-882A-4B7F-A60A-4B75E5BD8AC2}" type="sibTrans" cxnId="{F0A587D9-F81F-4D48-AC34-F47DECEE2AA3}">
      <dgm:prSet/>
      <dgm:spPr/>
      <dgm:t>
        <a:bodyPr/>
        <a:lstStyle/>
        <a:p>
          <a:pPr algn="ctr"/>
          <a:endParaRPr lang="en-IN"/>
        </a:p>
      </dgm:t>
    </dgm:pt>
    <dgm:pt modelId="{284B7C68-9DBC-4864-BA74-05F6F3DC2242}">
      <dgm:prSet custT="1"/>
      <dgm:spPr/>
      <dgm:t>
        <a:bodyPr/>
        <a:lstStyle/>
        <a:p>
          <a:pPr algn="ctr" rtl="0"/>
          <a:r>
            <a:rPr lang="en-US" sz="1400" b="1" i="1" dirty="0" smtClean="0"/>
            <a:t>Data Sharing</a:t>
          </a:r>
          <a:r>
            <a:rPr lang="en-US" sz="1400" b="0" i="0" dirty="0" smtClean="0"/>
            <a:t>:</a:t>
          </a:r>
        </a:p>
        <a:p>
          <a:pPr algn="ctr" rtl="0"/>
          <a:endParaRPr lang="en-US" sz="1400" b="0" i="0" dirty="0" smtClean="0"/>
        </a:p>
        <a:p>
          <a:pPr algn="ctr" rtl="0"/>
          <a:r>
            <a:rPr lang="en-US" sz="1400" b="0" i="0" dirty="0" smtClean="0"/>
            <a:t>Should be done with Companies and customer disclosure and  consent</a:t>
          </a:r>
          <a:endParaRPr lang="en-IN" sz="1400" dirty="0"/>
        </a:p>
      </dgm:t>
    </dgm:pt>
    <dgm:pt modelId="{AC5FC3BF-F0B1-4FF3-9950-84EE2EA07F79}" type="parTrans" cxnId="{5C082B78-C96C-48B4-B134-FCA0ADC128C3}">
      <dgm:prSet/>
      <dgm:spPr/>
      <dgm:t>
        <a:bodyPr/>
        <a:lstStyle/>
        <a:p>
          <a:pPr algn="ctr"/>
          <a:endParaRPr lang="en-IN"/>
        </a:p>
      </dgm:t>
    </dgm:pt>
    <dgm:pt modelId="{173FE5BD-7404-41B9-962E-76EDE6D0ABBE}" type="sibTrans" cxnId="{5C082B78-C96C-48B4-B134-FCA0ADC128C3}">
      <dgm:prSet/>
      <dgm:spPr/>
      <dgm:t>
        <a:bodyPr/>
        <a:lstStyle/>
        <a:p>
          <a:pPr algn="ctr"/>
          <a:endParaRPr lang="en-IN"/>
        </a:p>
      </dgm:t>
    </dgm:pt>
    <dgm:pt modelId="{BF96731B-319F-4B77-BFF7-B18B89C71B2E}" type="pres">
      <dgm:prSet presAssocID="{4C7E8EE6-B93E-4218-A146-8FB7308F190F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F41CB0D2-FEDE-43A7-B520-AB3F1DE9810D}" type="pres">
      <dgm:prSet presAssocID="{4C7E8EE6-B93E-4218-A146-8FB7308F190F}" presName="fgShape" presStyleLbl="fgShp" presStyleIdx="0" presStyleCnt="1" custScaleY="58773" custLinFactNeighborX="-322" custLinFactNeighborY="-1882"/>
      <dgm:spPr/>
    </dgm:pt>
    <dgm:pt modelId="{4C61DBD0-6EAA-4B09-8421-9073F99166A3}" type="pres">
      <dgm:prSet presAssocID="{4C7E8EE6-B93E-4218-A146-8FB7308F190F}" presName="linComp" presStyleCnt="0"/>
      <dgm:spPr/>
    </dgm:pt>
    <dgm:pt modelId="{92C111B8-CD95-44BE-89B0-891BAE27ACA1}" type="pres">
      <dgm:prSet presAssocID="{05021AEA-55EA-4DAB-B195-23482D904300}" presName="compNode" presStyleCnt="0"/>
      <dgm:spPr/>
    </dgm:pt>
    <dgm:pt modelId="{E9219B4C-B592-49D1-8C2A-813A28D10B4A}" type="pres">
      <dgm:prSet presAssocID="{05021AEA-55EA-4DAB-B195-23482D904300}" presName="bkgdShape" presStyleLbl="node1" presStyleIdx="0" presStyleCnt="6"/>
      <dgm:spPr/>
      <dgm:t>
        <a:bodyPr/>
        <a:lstStyle/>
        <a:p>
          <a:endParaRPr lang="en-IN"/>
        </a:p>
      </dgm:t>
    </dgm:pt>
    <dgm:pt modelId="{43E95357-606F-4EA2-B981-5810381DEDE0}" type="pres">
      <dgm:prSet presAssocID="{05021AEA-55EA-4DAB-B195-23482D904300}" presName="nodeTx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06EEA55-BFF9-4649-AF5E-9DA3AAA2E5AF}" type="pres">
      <dgm:prSet presAssocID="{05021AEA-55EA-4DAB-B195-23482D904300}" presName="invisiNode" presStyleLbl="node1" presStyleIdx="0" presStyleCnt="6"/>
      <dgm:spPr/>
    </dgm:pt>
    <dgm:pt modelId="{123BCC69-1B13-4DE2-B667-BE02EB2719B2}" type="pres">
      <dgm:prSet presAssocID="{05021AEA-55EA-4DAB-B195-23482D904300}" presName="imagNode" presStyleLbl="fgImgPlac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IN"/>
        </a:p>
      </dgm:t>
    </dgm:pt>
    <dgm:pt modelId="{59487025-2676-4B67-8730-BFB14A879B8F}" type="pres">
      <dgm:prSet presAssocID="{35F78140-D8E6-4E48-9454-A22D75F1737C}" presName="sibTrans" presStyleLbl="sibTrans2D1" presStyleIdx="0" presStyleCnt="0"/>
      <dgm:spPr/>
      <dgm:t>
        <a:bodyPr/>
        <a:lstStyle/>
        <a:p>
          <a:endParaRPr lang="en-IN"/>
        </a:p>
      </dgm:t>
    </dgm:pt>
    <dgm:pt modelId="{5AAB6908-B931-4475-AA7A-1ED988817FB3}" type="pres">
      <dgm:prSet presAssocID="{6CAE4756-A333-40A3-8E49-C9CCA6D3EB36}" presName="compNode" presStyleCnt="0"/>
      <dgm:spPr/>
    </dgm:pt>
    <dgm:pt modelId="{F7767BC8-636A-4A2D-8E23-B987C4DD5EE6}" type="pres">
      <dgm:prSet presAssocID="{6CAE4756-A333-40A3-8E49-C9CCA6D3EB36}" presName="bkgdShape" presStyleLbl="node1" presStyleIdx="1" presStyleCnt="6"/>
      <dgm:spPr/>
      <dgm:t>
        <a:bodyPr/>
        <a:lstStyle/>
        <a:p>
          <a:endParaRPr lang="en-IN"/>
        </a:p>
      </dgm:t>
    </dgm:pt>
    <dgm:pt modelId="{417C8B94-19A0-487A-9467-CB84AB11409E}" type="pres">
      <dgm:prSet presAssocID="{6CAE4756-A333-40A3-8E49-C9CCA6D3EB36}" presName="nodeTx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E540EBF-DF1C-44F8-BE63-39E6BD4150C5}" type="pres">
      <dgm:prSet presAssocID="{6CAE4756-A333-40A3-8E49-C9CCA6D3EB36}" presName="invisiNode" presStyleLbl="node1" presStyleIdx="1" presStyleCnt="6"/>
      <dgm:spPr/>
    </dgm:pt>
    <dgm:pt modelId="{3C81D4E2-D4A1-4A7C-8F0F-52F8E5DB3ED0}" type="pres">
      <dgm:prSet presAssocID="{6CAE4756-A333-40A3-8E49-C9CCA6D3EB36}" presName="imagNode" presStyleLbl="fgImgPlace1" presStyleIdx="1" presStyleCnt="6" custLinFactNeighborX="1478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IN"/>
        </a:p>
      </dgm:t>
    </dgm:pt>
    <dgm:pt modelId="{F0E11428-D9B0-4301-A72C-137B1C85305F}" type="pres">
      <dgm:prSet presAssocID="{9029E1B0-FDE6-48B0-A1D4-24C22BD8EFBE}" presName="sibTrans" presStyleLbl="sibTrans2D1" presStyleIdx="0" presStyleCnt="0"/>
      <dgm:spPr/>
      <dgm:t>
        <a:bodyPr/>
        <a:lstStyle/>
        <a:p>
          <a:endParaRPr lang="en-IN"/>
        </a:p>
      </dgm:t>
    </dgm:pt>
    <dgm:pt modelId="{ABC76088-4BB6-4C0A-83D5-EBBCEAB100D5}" type="pres">
      <dgm:prSet presAssocID="{3D1E5902-4DD1-4A19-B005-24D763A7877F}" presName="compNode" presStyleCnt="0"/>
      <dgm:spPr/>
    </dgm:pt>
    <dgm:pt modelId="{8B95B6A6-0716-4752-B590-44F5EF2F353D}" type="pres">
      <dgm:prSet presAssocID="{3D1E5902-4DD1-4A19-B005-24D763A7877F}" presName="bkgdShape" presStyleLbl="node1" presStyleIdx="2" presStyleCnt="6"/>
      <dgm:spPr/>
      <dgm:t>
        <a:bodyPr/>
        <a:lstStyle/>
        <a:p>
          <a:endParaRPr lang="en-IN"/>
        </a:p>
      </dgm:t>
    </dgm:pt>
    <dgm:pt modelId="{9295D5E7-0C20-4D0E-8A94-B43F556785AE}" type="pres">
      <dgm:prSet presAssocID="{3D1E5902-4DD1-4A19-B005-24D763A7877F}" presName="nodeTx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2A425BE-D2D4-46AE-80B7-FB2EB9AC79DE}" type="pres">
      <dgm:prSet presAssocID="{3D1E5902-4DD1-4A19-B005-24D763A7877F}" presName="invisiNode" presStyleLbl="node1" presStyleIdx="2" presStyleCnt="6"/>
      <dgm:spPr/>
    </dgm:pt>
    <dgm:pt modelId="{D61CF395-BA96-4D9D-922E-8916F0D7761A}" type="pres">
      <dgm:prSet presAssocID="{3D1E5902-4DD1-4A19-B005-24D763A7877F}" presName="imagNode" presStyleLbl="fgImgPlace1" presStyleIdx="2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IN"/>
        </a:p>
      </dgm:t>
    </dgm:pt>
    <dgm:pt modelId="{AACD9BE0-8F77-41A0-A5E2-B7C4D496E2EE}" type="pres">
      <dgm:prSet presAssocID="{B3723BEB-9775-4BDC-A70E-568DFB3CB17E}" presName="sibTrans" presStyleLbl="sibTrans2D1" presStyleIdx="0" presStyleCnt="0"/>
      <dgm:spPr/>
      <dgm:t>
        <a:bodyPr/>
        <a:lstStyle/>
        <a:p>
          <a:endParaRPr lang="en-IN"/>
        </a:p>
      </dgm:t>
    </dgm:pt>
    <dgm:pt modelId="{03E4DA22-91AB-4986-88DA-E813A694F320}" type="pres">
      <dgm:prSet presAssocID="{EC82C3C9-7BFC-4917-BD79-C57611788646}" presName="compNode" presStyleCnt="0"/>
      <dgm:spPr/>
    </dgm:pt>
    <dgm:pt modelId="{C3325F1A-F941-4FD6-83F5-1C635902C61D}" type="pres">
      <dgm:prSet presAssocID="{EC82C3C9-7BFC-4917-BD79-C57611788646}" presName="bkgdShape" presStyleLbl="node1" presStyleIdx="3" presStyleCnt="6"/>
      <dgm:spPr/>
      <dgm:t>
        <a:bodyPr/>
        <a:lstStyle/>
        <a:p>
          <a:endParaRPr lang="en-IN"/>
        </a:p>
      </dgm:t>
    </dgm:pt>
    <dgm:pt modelId="{03FDD101-6010-490E-AA6B-4C76B21F9390}" type="pres">
      <dgm:prSet presAssocID="{EC82C3C9-7BFC-4917-BD79-C57611788646}" presName="nodeTx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4E277C7-16CB-4B57-9201-50AC9F6E462B}" type="pres">
      <dgm:prSet presAssocID="{EC82C3C9-7BFC-4917-BD79-C57611788646}" presName="invisiNode" presStyleLbl="node1" presStyleIdx="3" presStyleCnt="6"/>
      <dgm:spPr/>
    </dgm:pt>
    <dgm:pt modelId="{BA1A83FE-C05B-4139-AFF5-056672F2256C}" type="pres">
      <dgm:prSet presAssocID="{EC82C3C9-7BFC-4917-BD79-C57611788646}" presName="imagNode" presStyleLbl="fgImgPlace1" presStyleIdx="3" presStyleCnt="6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 l="-11000" r="-11000"/>
          </a:stretch>
        </a:blipFill>
      </dgm:spPr>
      <dgm:t>
        <a:bodyPr/>
        <a:lstStyle/>
        <a:p>
          <a:endParaRPr lang="en-IN"/>
        </a:p>
      </dgm:t>
    </dgm:pt>
    <dgm:pt modelId="{894F83E4-1A55-4ECB-A054-16158641F581}" type="pres">
      <dgm:prSet presAssocID="{F21F446C-65B4-4813-A4F0-698A6EB29BAE}" presName="sibTrans" presStyleLbl="sibTrans2D1" presStyleIdx="0" presStyleCnt="0"/>
      <dgm:spPr/>
      <dgm:t>
        <a:bodyPr/>
        <a:lstStyle/>
        <a:p>
          <a:endParaRPr lang="en-IN"/>
        </a:p>
      </dgm:t>
    </dgm:pt>
    <dgm:pt modelId="{6EB1F2BE-E7BB-42B8-B552-61DF87B106A3}" type="pres">
      <dgm:prSet presAssocID="{E74C9FC5-340C-4F82-BE6B-2CA16F1A7C8C}" presName="compNode" presStyleCnt="0"/>
      <dgm:spPr/>
    </dgm:pt>
    <dgm:pt modelId="{AA076A52-2554-478D-90F7-E0A99F85DBEA}" type="pres">
      <dgm:prSet presAssocID="{E74C9FC5-340C-4F82-BE6B-2CA16F1A7C8C}" presName="bkgdShape" presStyleLbl="node1" presStyleIdx="4" presStyleCnt="6" custLinFactNeighborY="294"/>
      <dgm:spPr/>
      <dgm:t>
        <a:bodyPr/>
        <a:lstStyle/>
        <a:p>
          <a:endParaRPr lang="en-IN"/>
        </a:p>
      </dgm:t>
    </dgm:pt>
    <dgm:pt modelId="{BF0C0E94-5B65-4AF8-91C4-25667A2CF2AC}" type="pres">
      <dgm:prSet presAssocID="{E74C9FC5-340C-4F82-BE6B-2CA16F1A7C8C}" presName="nodeTx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9C567DE-ADFF-44D1-B050-7D60064FE339}" type="pres">
      <dgm:prSet presAssocID="{E74C9FC5-340C-4F82-BE6B-2CA16F1A7C8C}" presName="invisiNode" presStyleLbl="node1" presStyleIdx="4" presStyleCnt="6"/>
      <dgm:spPr/>
    </dgm:pt>
    <dgm:pt modelId="{807F7646-0E81-4945-919D-435F0D64B17D}" type="pres">
      <dgm:prSet presAssocID="{E74C9FC5-340C-4F82-BE6B-2CA16F1A7C8C}" presName="imagNode" presStyleLbl="fgImgPlace1" presStyleIdx="4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 l="-14000" r="-14000"/>
          </a:stretch>
        </a:blipFill>
      </dgm:spPr>
      <dgm:t>
        <a:bodyPr/>
        <a:lstStyle/>
        <a:p>
          <a:endParaRPr lang="en-IN"/>
        </a:p>
      </dgm:t>
    </dgm:pt>
    <dgm:pt modelId="{E95AB5E1-0751-4C45-B388-2BCBD4326CFA}" type="pres">
      <dgm:prSet presAssocID="{D5ACC3A0-882A-4B7F-A60A-4B75E5BD8AC2}" presName="sibTrans" presStyleLbl="sibTrans2D1" presStyleIdx="0" presStyleCnt="0"/>
      <dgm:spPr/>
      <dgm:t>
        <a:bodyPr/>
        <a:lstStyle/>
        <a:p>
          <a:endParaRPr lang="en-IN"/>
        </a:p>
      </dgm:t>
    </dgm:pt>
    <dgm:pt modelId="{B99E478A-F042-4A16-B131-BC7732D84AE3}" type="pres">
      <dgm:prSet presAssocID="{284B7C68-9DBC-4864-BA74-05F6F3DC2242}" presName="compNode" presStyleCnt="0"/>
      <dgm:spPr/>
    </dgm:pt>
    <dgm:pt modelId="{4D45380D-9E55-4798-9BF8-8496D76CAF40}" type="pres">
      <dgm:prSet presAssocID="{284B7C68-9DBC-4864-BA74-05F6F3DC2242}" presName="bkgdShape" presStyleLbl="node1" presStyleIdx="5" presStyleCnt="6"/>
      <dgm:spPr/>
      <dgm:t>
        <a:bodyPr/>
        <a:lstStyle/>
        <a:p>
          <a:endParaRPr lang="en-IN"/>
        </a:p>
      </dgm:t>
    </dgm:pt>
    <dgm:pt modelId="{72358ADC-1B0E-46AF-9B7D-FC5E0D4E120B}" type="pres">
      <dgm:prSet presAssocID="{284B7C68-9DBC-4864-BA74-05F6F3DC2242}" presName="nodeTx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3518DD1-AF5B-47BB-A034-31661984E9F2}" type="pres">
      <dgm:prSet presAssocID="{284B7C68-9DBC-4864-BA74-05F6F3DC2242}" presName="invisiNode" presStyleLbl="node1" presStyleIdx="5" presStyleCnt="6"/>
      <dgm:spPr/>
    </dgm:pt>
    <dgm:pt modelId="{382B87A7-8840-4A7A-A42F-B7A42C947158}" type="pres">
      <dgm:prSet presAssocID="{284B7C68-9DBC-4864-BA74-05F6F3DC2242}" presName="imagNode" presStyleLbl="fgImgPlace1" presStyleIdx="5" presStyleCnt="6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 l="-2000" r="-2000"/>
          </a:stretch>
        </a:blipFill>
      </dgm:spPr>
      <dgm:t>
        <a:bodyPr/>
        <a:lstStyle/>
        <a:p>
          <a:endParaRPr lang="en-IN"/>
        </a:p>
      </dgm:t>
    </dgm:pt>
  </dgm:ptLst>
  <dgm:cxnLst>
    <dgm:cxn modelId="{7A3254BE-C8D2-4D94-ADBC-1849095F61BB}" type="presOf" srcId="{284B7C68-9DBC-4864-BA74-05F6F3DC2242}" destId="{4D45380D-9E55-4798-9BF8-8496D76CAF40}" srcOrd="0" destOrd="0" presId="urn:microsoft.com/office/officeart/2005/8/layout/hList7#1"/>
    <dgm:cxn modelId="{5EED6D5D-1456-4543-A6F8-769B37FCFA9F}" srcId="{4C7E8EE6-B93E-4218-A146-8FB7308F190F}" destId="{05021AEA-55EA-4DAB-B195-23482D904300}" srcOrd="0" destOrd="0" parTransId="{4F3BD2D4-FF22-48F9-8C54-859CE73F2040}" sibTransId="{35F78140-D8E6-4E48-9454-A22D75F1737C}"/>
    <dgm:cxn modelId="{D9773DE8-B974-4693-81E6-5E0186C28CF1}" type="presOf" srcId="{35F78140-D8E6-4E48-9454-A22D75F1737C}" destId="{59487025-2676-4B67-8730-BFB14A879B8F}" srcOrd="0" destOrd="0" presId="urn:microsoft.com/office/officeart/2005/8/layout/hList7#1"/>
    <dgm:cxn modelId="{2D5FAB1F-FB03-48B7-8D0F-B64F451B7D0E}" type="presOf" srcId="{3D1E5902-4DD1-4A19-B005-24D763A7877F}" destId="{8B95B6A6-0716-4752-B590-44F5EF2F353D}" srcOrd="0" destOrd="0" presId="urn:microsoft.com/office/officeart/2005/8/layout/hList7#1"/>
    <dgm:cxn modelId="{ADC29695-F4A9-41C9-85FD-D9E4687D86D7}" type="presOf" srcId="{B3723BEB-9775-4BDC-A70E-568DFB3CB17E}" destId="{AACD9BE0-8F77-41A0-A5E2-B7C4D496E2EE}" srcOrd="0" destOrd="0" presId="urn:microsoft.com/office/officeart/2005/8/layout/hList7#1"/>
    <dgm:cxn modelId="{23E6A2C1-1519-40BC-AB7D-EF6D39A0B67F}" type="presOf" srcId="{05021AEA-55EA-4DAB-B195-23482D904300}" destId="{E9219B4C-B592-49D1-8C2A-813A28D10B4A}" srcOrd="0" destOrd="0" presId="urn:microsoft.com/office/officeart/2005/8/layout/hList7#1"/>
    <dgm:cxn modelId="{F2C08EE7-DAF1-4698-8B7B-B766C80F03B6}" type="presOf" srcId="{F21F446C-65B4-4813-A4F0-698A6EB29BAE}" destId="{894F83E4-1A55-4ECB-A054-16158641F581}" srcOrd="0" destOrd="0" presId="urn:microsoft.com/office/officeart/2005/8/layout/hList7#1"/>
    <dgm:cxn modelId="{C971A5EE-8F78-441D-A8A6-7C70FC046539}" type="presOf" srcId="{9029E1B0-FDE6-48B0-A1D4-24C22BD8EFBE}" destId="{F0E11428-D9B0-4301-A72C-137B1C85305F}" srcOrd="0" destOrd="0" presId="urn:microsoft.com/office/officeart/2005/8/layout/hList7#1"/>
    <dgm:cxn modelId="{00F54DBD-287C-45D1-844B-14617384CD9C}" type="presOf" srcId="{EC82C3C9-7BFC-4917-BD79-C57611788646}" destId="{C3325F1A-F941-4FD6-83F5-1C635902C61D}" srcOrd="0" destOrd="0" presId="urn:microsoft.com/office/officeart/2005/8/layout/hList7#1"/>
    <dgm:cxn modelId="{EF961558-0B60-4AE3-B938-CA9E2279D43F}" type="presOf" srcId="{05021AEA-55EA-4DAB-B195-23482D904300}" destId="{43E95357-606F-4EA2-B981-5810381DEDE0}" srcOrd="1" destOrd="0" presId="urn:microsoft.com/office/officeart/2005/8/layout/hList7#1"/>
    <dgm:cxn modelId="{ABA0E733-1F47-4A52-93DA-D13CCEAC8310}" type="presOf" srcId="{6CAE4756-A333-40A3-8E49-C9CCA6D3EB36}" destId="{F7767BC8-636A-4A2D-8E23-B987C4DD5EE6}" srcOrd="0" destOrd="0" presId="urn:microsoft.com/office/officeart/2005/8/layout/hList7#1"/>
    <dgm:cxn modelId="{45E48860-D37B-446E-9F6F-731B77BE3F60}" type="presOf" srcId="{E74C9FC5-340C-4F82-BE6B-2CA16F1A7C8C}" destId="{BF0C0E94-5B65-4AF8-91C4-25667A2CF2AC}" srcOrd="1" destOrd="0" presId="urn:microsoft.com/office/officeart/2005/8/layout/hList7#1"/>
    <dgm:cxn modelId="{5C082B78-C96C-48B4-B134-FCA0ADC128C3}" srcId="{4C7E8EE6-B93E-4218-A146-8FB7308F190F}" destId="{284B7C68-9DBC-4864-BA74-05F6F3DC2242}" srcOrd="5" destOrd="0" parTransId="{AC5FC3BF-F0B1-4FF3-9950-84EE2EA07F79}" sibTransId="{173FE5BD-7404-41B9-962E-76EDE6D0ABBE}"/>
    <dgm:cxn modelId="{670EA081-D77D-4105-BD01-FE00CCAD48B1}" type="presOf" srcId="{4C7E8EE6-B93E-4218-A146-8FB7308F190F}" destId="{BF96731B-319F-4B77-BFF7-B18B89C71B2E}" srcOrd="0" destOrd="0" presId="urn:microsoft.com/office/officeart/2005/8/layout/hList7#1"/>
    <dgm:cxn modelId="{F0A587D9-F81F-4D48-AC34-F47DECEE2AA3}" srcId="{4C7E8EE6-B93E-4218-A146-8FB7308F190F}" destId="{E74C9FC5-340C-4F82-BE6B-2CA16F1A7C8C}" srcOrd="4" destOrd="0" parTransId="{6AE030D2-53BB-410F-930F-AC9FE328978D}" sibTransId="{D5ACC3A0-882A-4B7F-A60A-4B75E5BD8AC2}"/>
    <dgm:cxn modelId="{139031FF-29ED-41A9-98E0-DE2646FB694B}" srcId="{4C7E8EE6-B93E-4218-A146-8FB7308F190F}" destId="{EC82C3C9-7BFC-4917-BD79-C57611788646}" srcOrd="3" destOrd="0" parTransId="{9B311060-00D5-4CCD-9FEF-D81BAC07B6B3}" sibTransId="{F21F446C-65B4-4813-A4F0-698A6EB29BAE}"/>
    <dgm:cxn modelId="{36D50E28-8179-48D9-BF36-8FCC0669434E}" type="presOf" srcId="{284B7C68-9DBC-4864-BA74-05F6F3DC2242}" destId="{72358ADC-1B0E-46AF-9B7D-FC5E0D4E120B}" srcOrd="1" destOrd="0" presId="urn:microsoft.com/office/officeart/2005/8/layout/hList7#1"/>
    <dgm:cxn modelId="{E0819D71-10DA-4143-95B9-8D3864C8252C}" type="presOf" srcId="{E74C9FC5-340C-4F82-BE6B-2CA16F1A7C8C}" destId="{AA076A52-2554-478D-90F7-E0A99F85DBEA}" srcOrd="0" destOrd="0" presId="urn:microsoft.com/office/officeart/2005/8/layout/hList7#1"/>
    <dgm:cxn modelId="{78657503-56AD-4E54-BABD-420D71FAFB65}" type="presOf" srcId="{EC82C3C9-7BFC-4917-BD79-C57611788646}" destId="{03FDD101-6010-490E-AA6B-4C76B21F9390}" srcOrd="1" destOrd="0" presId="urn:microsoft.com/office/officeart/2005/8/layout/hList7#1"/>
    <dgm:cxn modelId="{60519EED-E227-45DB-9184-FB6E964D20E4}" type="presOf" srcId="{3D1E5902-4DD1-4A19-B005-24D763A7877F}" destId="{9295D5E7-0C20-4D0E-8A94-B43F556785AE}" srcOrd="1" destOrd="0" presId="urn:microsoft.com/office/officeart/2005/8/layout/hList7#1"/>
    <dgm:cxn modelId="{38E5D0CA-C1E6-484C-B126-DC530686A8A9}" srcId="{4C7E8EE6-B93E-4218-A146-8FB7308F190F}" destId="{3D1E5902-4DD1-4A19-B005-24D763A7877F}" srcOrd="2" destOrd="0" parTransId="{DE1E252D-A36A-43B0-B53C-BA6E6E253833}" sibTransId="{B3723BEB-9775-4BDC-A70E-568DFB3CB17E}"/>
    <dgm:cxn modelId="{6EBA095A-9603-48C2-A3BF-E16EE213118B}" type="presOf" srcId="{D5ACC3A0-882A-4B7F-A60A-4B75E5BD8AC2}" destId="{E95AB5E1-0751-4C45-B388-2BCBD4326CFA}" srcOrd="0" destOrd="0" presId="urn:microsoft.com/office/officeart/2005/8/layout/hList7#1"/>
    <dgm:cxn modelId="{934D6518-9CB4-43FA-986A-496ECFF0C093}" srcId="{4C7E8EE6-B93E-4218-A146-8FB7308F190F}" destId="{6CAE4756-A333-40A3-8E49-C9CCA6D3EB36}" srcOrd="1" destOrd="0" parTransId="{B7F58B50-3F04-458C-9966-0BA917B7E9CF}" sibTransId="{9029E1B0-FDE6-48B0-A1D4-24C22BD8EFBE}"/>
    <dgm:cxn modelId="{AA3DA1AF-08C5-45B4-B0E6-43DB06D6699F}" type="presOf" srcId="{6CAE4756-A333-40A3-8E49-C9CCA6D3EB36}" destId="{417C8B94-19A0-487A-9467-CB84AB11409E}" srcOrd="1" destOrd="0" presId="urn:microsoft.com/office/officeart/2005/8/layout/hList7#1"/>
    <dgm:cxn modelId="{FF7E2440-3B8D-4DD3-8B21-5ADF0AEF4F9E}" type="presParOf" srcId="{BF96731B-319F-4B77-BFF7-B18B89C71B2E}" destId="{F41CB0D2-FEDE-43A7-B520-AB3F1DE9810D}" srcOrd="0" destOrd="0" presId="urn:microsoft.com/office/officeart/2005/8/layout/hList7#1"/>
    <dgm:cxn modelId="{44F3209A-A03A-4691-99FA-8FAF7031E1F7}" type="presParOf" srcId="{BF96731B-319F-4B77-BFF7-B18B89C71B2E}" destId="{4C61DBD0-6EAA-4B09-8421-9073F99166A3}" srcOrd="1" destOrd="0" presId="urn:microsoft.com/office/officeart/2005/8/layout/hList7#1"/>
    <dgm:cxn modelId="{7E9BD247-813E-4A02-9277-4A6FF4B03A13}" type="presParOf" srcId="{4C61DBD0-6EAA-4B09-8421-9073F99166A3}" destId="{92C111B8-CD95-44BE-89B0-891BAE27ACA1}" srcOrd="0" destOrd="0" presId="urn:microsoft.com/office/officeart/2005/8/layout/hList7#1"/>
    <dgm:cxn modelId="{D23A9C80-9AA0-4E93-8BBB-1DCFC50DCD10}" type="presParOf" srcId="{92C111B8-CD95-44BE-89B0-891BAE27ACA1}" destId="{E9219B4C-B592-49D1-8C2A-813A28D10B4A}" srcOrd="0" destOrd="0" presId="urn:microsoft.com/office/officeart/2005/8/layout/hList7#1"/>
    <dgm:cxn modelId="{C17C2BAF-9DAB-4137-A14F-74736384DB24}" type="presParOf" srcId="{92C111B8-CD95-44BE-89B0-891BAE27ACA1}" destId="{43E95357-606F-4EA2-B981-5810381DEDE0}" srcOrd="1" destOrd="0" presId="urn:microsoft.com/office/officeart/2005/8/layout/hList7#1"/>
    <dgm:cxn modelId="{C8F3085A-E9F9-42A2-AC48-CAB7998FCDE5}" type="presParOf" srcId="{92C111B8-CD95-44BE-89B0-891BAE27ACA1}" destId="{D06EEA55-BFF9-4649-AF5E-9DA3AAA2E5AF}" srcOrd="2" destOrd="0" presId="urn:microsoft.com/office/officeart/2005/8/layout/hList7#1"/>
    <dgm:cxn modelId="{E96764F1-6FA2-495C-AD97-0F08C3EA2EED}" type="presParOf" srcId="{92C111B8-CD95-44BE-89B0-891BAE27ACA1}" destId="{123BCC69-1B13-4DE2-B667-BE02EB2719B2}" srcOrd="3" destOrd="0" presId="urn:microsoft.com/office/officeart/2005/8/layout/hList7#1"/>
    <dgm:cxn modelId="{23A5B05B-0A91-4FED-9DC5-46B03C449975}" type="presParOf" srcId="{4C61DBD0-6EAA-4B09-8421-9073F99166A3}" destId="{59487025-2676-4B67-8730-BFB14A879B8F}" srcOrd="1" destOrd="0" presId="urn:microsoft.com/office/officeart/2005/8/layout/hList7#1"/>
    <dgm:cxn modelId="{63323E87-1A8D-40C1-9B41-7A2B08A57EDA}" type="presParOf" srcId="{4C61DBD0-6EAA-4B09-8421-9073F99166A3}" destId="{5AAB6908-B931-4475-AA7A-1ED988817FB3}" srcOrd="2" destOrd="0" presId="urn:microsoft.com/office/officeart/2005/8/layout/hList7#1"/>
    <dgm:cxn modelId="{BC8A53B5-E9E1-4360-9520-41D2DE6BFF03}" type="presParOf" srcId="{5AAB6908-B931-4475-AA7A-1ED988817FB3}" destId="{F7767BC8-636A-4A2D-8E23-B987C4DD5EE6}" srcOrd="0" destOrd="0" presId="urn:microsoft.com/office/officeart/2005/8/layout/hList7#1"/>
    <dgm:cxn modelId="{B52614C9-92A0-445C-B4BD-C4AA7CBB44B0}" type="presParOf" srcId="{5AAB6908-B931-4475-AA7A-1ED988817FB3}" destId="{417C8B94-19A0-487A-9467-CB84AB11409E}" srcOrd="1" destOrd="0" presId="urn:microsoft.com/office/officeart/2005/8/layout/hList7#1"/>
    <dgm:cxn modelId="{056924DB-3DD2-4943-869E-E2B4B1961879}" type="presParOf" srcId="{5AAB6908-B931-4475-AA7A-1ED988817FB3}" destId="{BE540EBF-DF1C-44F8-BE63-39E6BD4150C5}" srcOrd="2" destOrd="0" presId="urn:microsoft.com/office/officeart/2005/8/layout/hList7#1"/>
    <dgm:cxn modelId="{CF573365-2220-47FF-949E-870C4DA26517}" type="presParOf" srcId="{5AAB6908-B931-4475-AA7A-1ED988817FB3}" destId="{3C81D4E2-D4A1-4A7C-8F0F-52F8E5DB3ED0}" srcOrd="3" destOrd="0" presId="urn:microsoft.com/office/officeart/2005/8/layout/hList7#1"/>
    <dgm:cxn modelId="{876FC145-3280-4CCF-B00A-BF1E88BFE7F0}" type="presParOf" srcId="{4C61DBD0-6EAA-4B09-8421-9073F99166A3}" destId="{F0E11428-D9B0-4301-A72C-137B1C85305F}" srcOrd="3" destOrd="0" presId="urn:microsoft.com/office/officeart/2005/8/layout/hList7#1"/>
    <dgm:cxn modelId="{3250E049-882C-4005-ADD8-3919758C2304}" type="presParOf" srcId="{4C61DBD0-6EAA-4B09-8421-9073F99166A3}" destId="{ABC76088-4BB6-4C0A-83D5-EBBCEAB100D5}" srcOrd="4" destOrd="0" presId="urn:microsoft.com/office/officeart/2005/8/layout/hList7#1"/>
    <dgm:cxn modelId="{0C11E330-5C0F-4297-80B8-F6110558F233}" type="presParOf" srcId="{ABC76088-4BB6-4C0A-83D5-EBBCEAB100D5}" destId="{8B95B6A6-0716-4752-B590-44F5EF2F353D}" srcOrd="0" destOrd="0" presId="urn:microsoft.com/office/officeart/2005/8/layout/hList7#1"/>
    <dgm:cxn modelId="{02D57F18-EF79-40A4-B1D6-EF4A4993825A}" type="presParOf" srcId="{ABC76088-4BB6-4C0A-83D5-EBBCEAB100D5}" destId="{9295D5E7-0C20-4D0E-8A94-B43F556785AE}" srcOrd="1" destOrd="0" presId="urn:microsoft.com/office/officeart/2005/8/layout/hList7#1"/>
    <dgm:cxn modelId="{B5DFDCF8-F9F5-47F8-9B70-D3BA188F26B7}" type="presParOf" srcId="{ABC76088-4BB6-4C0A-83D5-EBBCEAB100D5}" destId="{E2A425BE-D2D4-46AE-80B7-FB2EB9AC79DE}" srcOrd="2" destOrd="0" presId="urn:microsoft.com/office/officeart/2005/8/layout/hList7#1"/>
    <dgm:cxn modelId="{31E45F16-5AA8-4AC4-B78C-BF3AB4A8AE68}" type="presParOf" srcId="{ABC76088-4BB6-4C0A-83D5-EBBCEAB100D5}" destId="{D61CF395-BA96-4D9D-922E-8916F0D7761A}" srcOrd="3" destOrd="0" presId="urn:microsoft.com/office/officeart/2005/8/layout/hList7#1"/>
    <dgm:cxn modelId="{06BD4A12-B8AA-4EF2-8352-408B8D2119D1}" type="presParOf" srcId="{4C61DBD0-6EAA-4B09-8421-9073F99166A3}" destId="{AACD9BE0-8F77-41A0-A5E2-B7C4D496E2EE}" srcOrd="5" destOrd="0" presId="urn:microsoft.com/office/officeart/2005/8/layout/hList7#1"/>
    <dgm:cxn modelId="{5E923F9C-9C37-4879-B017-6501F1C6385F}" type="presParOf" srcId="{4C61DBD0-6EAA-4B09-8421-9073F99166A3}" destId="{03E4DA22-91AB-4986-88DA-E813A694F320}" srcOrd="6" destOrd="0" presId="urn:microsoft.com/office/officeart/2005/8/layout/hList7#1"/>
    <dgm:cxn modelId="{F3DD38FA-C367-40CF-BB2C-106E0AD6CC52}" type="presParOf" srcId="{03E4DA22-91AB-4986-88DA-E813A694F320}" destId="{C3325F1A-F941-4FD6-83F5-1C635902C61D}" srcOrd="0" destOrd="0" presId="urn:microsoft.com/office/officeart/2005/8/layout/hList7#1"/>
    <dgm:cxn modelId="{A5FDF4B1-4798-4D87-87B7-B902C139E737}" type="presParOf" srcId="{03E4DA22-91AB-4986-88DA-E813A694F320}" destId="{03FDD101-6010-490E-AA6B-4C76B21F9390}" srcOrd="1" destOrd="0" presId="urn:microsoft.com/office/officeart/2005/8/layout/hList7#1"/>
    <dgm:cxn modelId="{EF42C9E4-7000-45FB-B674-2C498F6B32BD}" type="presParOf" srcId="{03E4DA22-91AB-4986-88DA-E813A694F320}" destId="{34E277C7-16CB-4B57-9201-50AC9F6E462B}" srcOrd="2" destOrd="0" presId="urn:microsoft.com/office/officeart/2005/8/layout/hList7#1"/>
    <dgm:cxn modelId="{F7BB7DCE-F466-48CE-8623-7A6CACAAB663}" type="presParOf" srcId="{03E4DA22-91AB-4986-88DA-E813A694F320}" destId="{BA1A83FE-C05B-4139-AFF5-056672F2256C}" srcOrd="3" destOrd="0" presId="urn:microsoft.com/office/officeart/2005/8/layout/hList7#1"/>
    <dgm:cxn modelId="{DCDAE17D-14BA-4E25-B189-876F1FE2A997}" type="presParOf" srcId="{4C61DBD0-6EAA-4B09-8421-9073F99166A3}" destId="{894F83E4-1A55-4ECB-A054-16158641F581}" srcOrd="7" destOrd="0" presId="urn:microsoft.com/office/officeart/2005/8/layout/hList7#1"/>
    <dgm:cxn modelId="{0CD96E7B-63B4-4D8F-A634-41DAD8453991}" type="presParOf" srcId="{4C61DBD0-6EAA-4B09-8421-9073F99166A3}" destId="{6EB1F2BE-E7BB-42B8-B552-61DF87B106A3}" srcOrd="8" destOrd="0" presId="urn:microsoft.com/office/officeart/2005/8/layout/hList7#1"/>
    <dgm:cxn modelId="{A86F48C7-E438-4A3C-928F-475AC1B878DB}" type="presParOf" srcId="{6EB1F2BE-E7BB-42B8-B552-61DF87B106A3}" destId="{AA076A52-2554-478D-90F7-E0A99F85DBEA}" srcOrd="0" destOrd="0" presId="urn:microsoft.com/office/officeart/2005/8/layout/hList7#1"/>
    <dgm:cxn modelId="{82065EC7-3E29-4EAB-8804-C991A1FDB961}" type="presParOf" srcId="{6EB1F2BE-E7BB-42B8-B552-61DF87B106A3}" destId="{BF0C0E94-5B65-4AF8-91C4-25667A2CF2AC}" srcOrd="1" destOrd="0" presId="urn:microsoft.com/office/officeart/2005/8/layout/hList7#1"/>
    <dgm:cxn modelId="{300DBE55-633D-4C71-93B9-DD34DC4F6FAE}" type="presParOf" srcId="{6EB1F2BE-E7BB-42B8-B552-61DF87B106A3}" destId="{39C567DE-ADFF-44D1-B050-7D60064FE339}" srcOrd="2" destOrd="0" presId="urn:microsoft.com/office/officeart/2005/8/layout/hList7#1"/>
    <dgm:cxn modelId="{1DA3CF6D-BF9F-4A93-AA7F-55F7EC228FA9}" type="presParOf" srcId="{6EB1F2BE-E7BB-42B8-B552-61DF87B106A3}" destId="{807F7646-0E81-4945-919D-435F0D64B17D}" srcOrd="3" destOrd="0" presId="urn:microsoft.com/office/officeart/2005/8/layout/hList7#1"/>
    <dgm:cxn modelId="{C76E00D3-C1EA-4844-A70E-05A746A0ED4C}" type="presParOf" srcId="{4C61DBD0-6EAA-4B09-8421-9073F99166A3}" destId="{E95AB5E1-0751-4C45-B388-2BCBD4326CFA}" srcOrd="9" destOrd="0" presId="urn:microsoft.com/office/officeart/2005/8/layout/hList7#1"/>
    <dgm:cxn modelId="{E93451E1-018F-44C2-8E3F-7CAF6CDBF2E5}" type="presParOf" srcId="{4C61DBD0-6EAA-4B09-8421-9073F99166A3}" destId="{B99E478A-F042-4A16-B131-BC7732D84AE3}" srcOrd="10" destOrd="0" presId="urn:microsoft.com/office/officeart/2005/8/layout/hList7#1"/>
    <dgm:cxn modelId="{6BB9DC1C-1D1B-4152-8BD1-95581E53BC24}" type="presParOf" srcId="{B99E478A-F042-4A16-B131-BC7732D84AE3}" destId="{4D45380D-9E55-4798-9BF8-8496D76CAF40}" srcOrd="0" destOrd="0" presId="urn:microsoft.com/office/officeart/2005/8/layout/hList7#1"/>
    <dgm:cxn modelId="{A027A5E3-988F-46A6-859C-DF53DAABEEFF}" type="presParOf" srcId="{B99E478A-F042-4A16-B131-BC7732D84AE3}" destId="{72358ADC-1B0E-46AF-9B7D-FC5E0D4E120B}" srcOrd="1" destOrd="0" presId="urn:microsoft.com/office/officeart/2005/8/layout/hList7#1"/>
    <dgm:cxn modelId="{2A5BDED0-1058-42AB-BBCA-3B023CFC7677}" type="presParOf" srcId="{B99E478A-F042-4A16-B131-BC7732D84AE3}" destId="{83518DD1-AF5B-47BB-A034-31661984E9F2}" srcOrd="2" destOrd="0" presId="urn:microsoft.com/office/officeart/2005/8/layout/hList7#1"/>
    <dgm:cxn modelId="{6F92F287-DE12-44C9-B496-CDB2D687E59F}" type="presParOf" srcId="{B99E478A-F042-4A16-B131-BC7732D84AE3}" destId="{382B87A7-8840-4A7A-A42F-B7A42C947158}" srcOrd="3" destOrd="0" presId="urn:microsoft.com/office/officeart/2005/8/layout/hList7#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#1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7#1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20ABA-1C55-414E-B2AD-3F84B6F668FA}" type="datetimeFigureOut">
              <a:rPr lang="en-IN" smtClean="0"/>
              <a:pPr/>
              <a:t>19-05-2015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4B553-3C01-42F3-98E1-2AD34B9A4C6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53876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3C81A5-E780-4740-8FFC-D4B70F1CBAF0}" type="datetimeFigureOut">
              <a:rPr lang="en-IN" smtClean="0"/>
              <a:pPr/>
              <a:t>19-05-2015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F3A600-E9C9-4F6F-9259-2CD4C941B10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901225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C80FA6-BA02-4C3D-AB3D-7F99A89BBA54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683895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endParaRPr lang="en-IN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7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11</a:t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3F1C2D-DCC2-432B-804F-3A8560B4A0B5}" type="slidenum">
              <a:rPr lang="en-IN" smtClean="0"/>
              <a:pPr/>
              <a:t>12</a:t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rtl="0" eaLnBrk="1" fontAlgn="ctr" latinLnBrk="0" hangingPunct="1"/>
            <a:endParaRPr lang="en-IN" sz="1200" b="0" i="0" u="none" strike="noStrike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25</a:t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27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544973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3F1C2D-DCC2-432B-804F-3A8560B4A0B5}" type="slidenum">
              <a:rPr lang="en-IN" smtClean="0"/>
              <a:pPr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28886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34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687798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1B97-C155-4CFC-AA97-CF72E949F1D8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5522-3AA0-4A80-92C7-2AC281EBADF4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34B9-F39B-4A6F-8022-0CCE308A2419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1948E-581D-4169-8736-D78C52183DC6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sz="1800" b="0" i="0" kern="12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0C7-AADD-421B-8FBC-91AD055047E0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E4F3-E305-4ED2-971B-C2A5123F3D9C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C74D-C361-4376-8174-AE28B7E8A445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ABCB-FCE6-4FC8-9691-E916C6279CCA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E84-D85D-497A-9A5B-2C115F808617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FD7DB-F981-46C5-8A0D-B8D1888769EB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D92A-5A66-48EC-BB04-2DB931A39FAD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0C19-0998-4D52-8DDD-94BF7F80CAE5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07827-9700-4CDC-9E1D-449DE82DEC8D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0FD-A1FC-4920-A3C2-085B8E2F9EFA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D277-BE34-4141-BD49-E063BB7174E9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B2973-F785-4CAE-8F28-6C5AAE1DB252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2B0EC35-7F37-490F-B231-6B92D181A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632669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FFF5-06C3-4731-9F12-C14547B929B0}" type="datetime1">
              <a:rPr lang="en-IN" smtClean="0"/>
              <a:pPr/>
              <a:t>19-05-2015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0EC35-7F37-490F-B231-6B92D181A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1386314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1B97-C155-4CFC-AA97-CF72E949F1D8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5522-3AA0-4A80-92C7-2AC281EBADF4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34B9-F39B-4A6F-8022-0CCE308A2419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1948E-581D-4169-8736-D78C52183DC6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sz="1800" b="0" i="0" kern="12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0C7-AADD-421B-8FBC-91AD055047E0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E4F3-E305-4ED2-971B-C2A5123F3D9C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C74D-C361-4376-8174-AE28B7E8A445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ABCB-FCE6-4FC8-9691-E916C6279CCA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E84-D85D-497A-9A5B-2C115F808617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FD7DB-F981-46C5-8A0D-B8D1888769EB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D92A-5A66-48EC-BB04-2DB931A39FAD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0C19-0998-4D52-8DDD-94BF7F80CAE5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07827-9700-4CDC-9E1D-449DE82DEC8D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0FD-A1FC-4920-A3C2-085B8E2F9EFA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D277-BE34-4141-BD49-E063BB7174E9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B2973-F785-4CAE-8F28-6C5AAE1DB252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2B0EC35-7F37-490F-B231-6B92D181A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6326690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FFF5-06C3-4731-9F12-C14547B929B0}" type="datetime1">
              <a:rPr lang="en-IN" smtClean="0"/>
              <a:pPr/>
              <a:t>19-05-2015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0EC35-7F37-490F-B231-6B92D181A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1386314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1B97-C155-4CFC-AA97-CF72E949F1D8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7213370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5522-3AA0-4A80-92C7-2AC281EBADF4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559732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34B9-F39B-4A6F-8022-0CCE308A2419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138311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1948E-581D-4169-8736-D78C52183DC6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sz="1800" b="0" i="0" kern="12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6191218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0C7-AADD-421B-8FBC-91AD055047E0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8760604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E4F3-E305-4ED2-971B-C2A5123F3D9C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891989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C74D-C361-4376-8174-AE28B7E8A445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001759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ABCB-FCE6-4FC8-9691-E916C6279CCA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3303246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E84-D85D-497A-9A5B-2C115F808617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9719249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FD7DB-F981-46C5-8A0D-B8D1888769EB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760739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sz="9600" dirty="0">
                <a:solidFill>
                  <a:srgbClr val="ACD433"/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sz="9600" dirty="0">
                <a:solidFill>
                  <a:srgbClr val="ACD433"/>
                </a:solidFill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D92A-5A66-48EC-BB04-2DB931A39FAD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739747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0C19-0998-4D52-8DDD-94BF7F80CAE5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6288863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07827-9700-4CDC-9E1D-449DE82DEC8D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6290994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0FD-A1FC-4920-A3C2-085B8E2F9EFA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2764759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D277-BE34-4141-BD49-E063BB7174E9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6340284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B2973-F785-4CAE-8F28-6C5AAE1DB252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6262974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2B0EC35-7F37-490F-B231-6B92D181A0EA}" type="slidenum">
              <a:rPr lang="en-IN" smtClean="0">
                <a:solidFill>
                  <a:srgbClr val="0E5580"/>
                </a:solidFill>
              </a:rPr>
              <a:pPr/>
              <a:t>‹#›</a:t>
            </a:fld>
            <a:endParaRPr lang="en-IN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5904371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FFF5-06C3-4731-9F12-C14547B929B0}" type="datetime1">
              <a:rPr lang="en-IN" smtClean="0">
                <a:solidFill>
                  <a:srgbClr val="ACD433"/>
                </a:solidFill>
              </a:rPr>
              <a:pPr/>
              <a:t>19-05-2015</a:t>
            </a:fld>
            <a:endParaRPr lang="en-IN" dirty="0">
              <a:solidFill>
                <a:srgbClr val="ACD43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srgbClr val="ACD433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0EC35-7F37-490F-B231-6B92D181A0EA}" type="slidenum">
              <a:rPr lang="en-IN" smtClean="0">
                <a:solidFill>
                  <a:srgbClr val="0E5580"/>
                </a:solidFill>
              </a:rPr>
              <a:pPr/>
              <a:t>‹#›</a:t>
            </a:fld>
            <a:endParaRPr lang="en-IN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761777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1B97-C155-4CFC-AA97-CF72E949F1D8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77972600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5522-3AA0-4A80-92C7-2AC281EBADF4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128760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34B9-F39B-4A6F-8022-0CCE308A2419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8822807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1948E-581D-4169-8736-D78C52183DC6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sz="1800" b="0" i="0" kern="12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2814641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0C7-AADD-421B-8FBC-91AD055047E0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426052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E4F3-E305-4ED2-971B-C2A5123F3D9C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055407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C74D-C361-4376-8174-AE28B7E8A445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5570065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ABCB-FCE6-4FC8-9691-E916C6279CCA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962937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E84-D85D-497A-9A5B-2C115F808617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93136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FD7DB-F981-46C5-8A0D-B8D1888769EB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393139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sz="9600" dirty="0">
                <a:solidFill>
                  <a:srgbClr val="ACD433"/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sz="9600" dirty="0">
                <a:solidFill>
                  <a:srgbClr val="ACD433"/>
                </a:solidFill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D92A-5A66-48EC-BB04-2DB931A39FAD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441751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0C19-0998-4D52-8DDD-94BF7F80CAE5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2843472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07827-9700-4CDC-9E1D-449DE82DEC8D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8006605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0FD-A1FC-4920-A3C2-085B8E2F9EFA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6599362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D277-BE34-4141-BD49-E063BB7174E9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721817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B2973-F785-4CAE-8F28-6C5AAE1DB252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1049193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FFF5-06C3-4731-9F12-C14547B929B0}" type="datetime1">
              <a:rPr lang="en-IN" smtClean="0">
                <a:solidFill>
                  <a:srgbClr val="ACD433"/>
                </a:solidFill>
              </a:rPr>
              <a:pPr/>
              <a:t>19-05-2015</a:t>
            </a:fld>
            <a:endParaRPr lang="en-IN">
              <a:solidFill>
                <a:srgbClr val="ACD43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srgbClr val="ACD433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0EC35-7F37-490F-B231-6B92D181A0EA}" type="slidenum">
              <a:rPr lang="en-IN" smtClean="0">
                <a:solidFill>
                  <a:srgbClr val="0E5580"/>
                </a:solidFill>
              </a:rPr>
              <a:pPr/>
              <a:t>‹#›</a:t>
            </a:fld>
            <a:endParaRPr lang="en-IN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1241143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2B0EC35-7F37-490F-B231-6B92D181A0EA}" type="slidenum">
              <a:rPr lang="en-IN" smtClean="0">
                <a:solidFill>
                  <a:srgbClr val="0E5580"/>
                </a:solidFill>
              </a:rPr>
              <a:pPr/>
              <a:t>‹#›</a:t>
            </a:fld>
            <a:endParaRPr lang="en-IN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231032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1B97-C155-4CFC-AA97-CF72E949F1D8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77972600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5522-3AA0-4A80-92C7-2AC281EBADF4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1287606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34B9-F39B-4A6F-8022-0CCE308A2419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8822807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1948E-581D-4169-8736-D78C52183DC6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sz="1800" b="0" i="0" kern="12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2814641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0C7-AADD-421B-8FBC-91AD055047E0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4260522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E4F3-E305-4ED2-971B-C2A5123F3D9C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055407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C74D-C361-4376-8174-AE28B7E8A445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5570065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ABCB-FCE6-4FC8-9691-E916C6279CCA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9629372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E84-D85D-497A-9A5B-2C115F808617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93136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FD7DB-F981-46C5-8A0D-B8D1888769EB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3931394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sz="9600" dirty="0">
                <a:solidFill>
                  <a:srgbClr val="ACD433"/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sz="9600" dirty="0">
                <a:solidFill>
                  <a:srgbClr val="ACD433"/>
                </a:solidFill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D92A-5A66-48EC-BB04-2DB931A39FAD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4417510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0C19-0998-4D52-8DDD-94BF7F80CAE5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2843472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07827-9700-4CDC-9E1D-449DE82DEC8D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8006605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0FD-A1FC-4920-A3C2-085B8E2F9EFA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6599362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D277-BE34-4141-BD49-E063BB7174E9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721817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B2973-F785-4CAE-8F28-6C5AAE1DB252}" type="datetime1">
              <a:rPr lang="en-US" smtClean="0">
                <a:solidFill>
                  <a:srgbClr val="ACD433"/>
                </a:solidFill>
              </a:rPr>
              <a:pPr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1049193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FFF5-06C3-4731-9F12-C14547B929B0}" type="datetime1">
              <a:rPr lang="en-IN" smtClean="0">
                <a:solidFill>
                  <a:srgbClr val="ACD433"/>
                </a:solidFill>
              </a:rPr>
              <a:pPr/>
              <a:t>19-05-2015</a:t>
            </a:fld>
            <a:endParaRPr lang="en-IN">
              <a:solidFill>
                <a:srgbClr val="ACD43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srgbClr val="ACD433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0EC35-7F37-490F-B231-6B92D181A0EA}" type="slidenum">
              <a:rPr lang="en-IN" smtClean="0">
                <a:solidFill>
                  <a:srgbClr val="0E5580"/>
                </a:solidFill>
              </a:rPr>
              <a:pPr/>
              <a:t>‹#›</a:t>
            </a:fld>
            <a:endParaRPr lang="en-IN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1241143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2B0EC35-7F37-490F-B231-6B92D181A0EA}" type="slidenum">
              <a:rPr lang="en-IN" smtClean="0">
                <a:solidFill>
                  <a:srgbClr val="0E5580"/>
                </a:solidFill>
              </a:rPr>
              <a:pPr/>
              <a:t>‹#›</a:t>
            </a:fld>
            <a:endParaRPr lang="en-IN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2310325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1B97-C155-4CFC-AA97-CF72E949F1D8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5522-3AA0-4A80-92C7-2AC281EBADF4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34B9-F39B-4A6F-8022-0CCE308A2419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1948E-581D-4169-8736-D78C52183DC6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sz="1800" b="0" i="0" kern="12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0C7-AADD-421B-8FBC-91AD055047E0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E4F3-E305-4ED2-971B-C2A5123F3D9C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C74D-C361-4376-8174-AE28B7E8A445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ABCB-FCE6-4FC8-9691-E916C6279CCA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E84-D85D-497A-9A5B-2C115F808617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FD7DB-F981-46C5-8A0D-B8D1888769EB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D92A-5A66-48EC-BB04-2DB931A39FAD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0C19-0998-4D52-8DDD-94BF7F80CAE5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07827-9700-4CDC-9E1D-449DE82DEC8D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0FD-A1FC-4920-A3C2-085B8E2F9EFA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D277-BE34-4141-BD49-E063BB7174E9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B2973-F785-4CAE-8F28-6C5AAE1DB252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FFF5-06C3-4731-9F12-C14547B929B0}" type="datetime1">
              <a:rPr lang="en-IN" smtClean="0"/>
              <a:pPr/>
              <a:t>19-05-2015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0EC35-7F37-490F-B231-6B92D181A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38631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image" Target="../media/image2.jpeg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21" Type="http://schemas.openxmlformats.org/officeDocument/2006/relationships/image" Target="../media/image3.jpeg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57.xml"/><Relationship Id="rId21" Type="http://schemas.openxmlformats.org/officeDocument/2006/relationships/image" Target="../media/image3.jpeg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90.xml"/><Relationship Id="rId3" Type="http://schemas.openxmlformats.org/officeDocument/2006/relationships/slideLayout" Target="../slideLayouts/slideLayout75.xml"/><Relationship Id="rId21" Type="http://schemas.openxmlformats.org/officeDocument/2006/relationships/image" Target="../media/image3.jpeg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2.xml"/><Relationship Id="rId19" Type="http://schemas.openxmlformats.org/officeDocument/2006/relationships/theme" Target="../theme/theme5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03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17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92.xml"/><Relationship Id="rId16" Type="http://schemas.openxmlformats.org/officeDocument/2006/relationships/slideLayout" Target="../slideLayouts/slideLayout10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0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slideLayout" Target="../slideLayouts/slideLayout10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29984" y="542362"/>
            <a:ext cx="978568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0642DC7-B585-4536-91D5-231B0D5F1DDB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061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2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962" y="0"/>
            <a:ext cx="477038" cy="450761"/>
          </a:xfrm>
          <a:prstGeom prst="rect">
            <a:avLst/>
          </a:prstGeom>
        </p:spPr>
      </p:pic>
      <p:sp>
        <p:nvSpPr>
          <p:cNvPr id="31" name="Rectangle 30"/>
          <p:cNvSpPr/>
          <p:nvPr userDrawn="1"/>
        </p:nvSpPr>
        <p:spPr>
          <a:xfrm>
            <a:off x="456375" y="1151908"/>
            <a:ext cx="11270462" cy="104348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/>
          <p:nvPr userDrawn="1"/>
        </p:nvSpPr>
        <p:spPr>
          <a:xfrm>
            <a:off x="484906" y="1893122"/>
            <a:ext cx="11230056" cy="4122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68" r:id="rId8"/>
    <p:sldLayoutId id="2147483667" r:id="rId9"/>
    <p:sldLayoutId id="2147483661" r:id="rId10"/>
    <p:sldLayoutId id="2147483664" r:id="rId11"/>
    <p:sldLayoutId id="2147483662" r:id="rId12"/>
    <p:sldLayoutId id="2147483669" r:id="rId13"/>
    <p:sldLayoutId id="2147483670" r:id="rId14"/>
    <p:sldLayoutId id="2147483658" r:id="rId15"/>
    <p:sldLayoutId id="2147483659" r:id="rId16"/>
    <p:sldLayoutId id="2147483672" r:id="rId17"/>
    <p:sldLayoutId id="2147483673" r:id="rId1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29984" y="542362"/>
            <a:ext cx="978568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0642DC7-B585-4536-91D5-231B0D5F1DDB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061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2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962" y="0"/>
            <a:ext cx="477038" cy="450761"/>
          </a:xfrm>
          <a:prstGeom prst="rect">
            <a:avLst/>
          </a:prstGeom>
        </p:spPr>
      </p:pic>
      <p:sp>
        <p:nvSpPr>
          <p:cNvPr id="31" name="Rectangle 30"/>
          <p:cNvSpPr/>
          <p:nvPr userDrawn="1"/>
        </p:nvSpPr>
        <p:spPr>
          <a:xfrm>
            <a:off x="456375" y="1151908"/>
            <a:ext cx="11270462" cy="104348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/>
          <p:nvPr userDrawn="1"/>
        </p:nvSpPr>
        <p:spPr>
          <a:xfrm>
            <a:off x="484906" y="1893122"/>
            <a:ext cx="11230056" cy="4122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29984" y="542362"/>
            <a:ext cx="978568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pPr defTabSz="457200"/>
            <a:fld id="{40642DC7-B585-4536-91D5-231B0D5F1DDB}" type="datetime1">
              <a:rPr lang="en-US" smtClean="0">
                <a:solidFill>
                  <a:srgbClr val="ACD433"/>
                </a:solidFill>
              </a:rPr>
              <a:pPr defTabSz="457200"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pPr defTabSz="457200"/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061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2"/>
                </a:solidFill>
                <a:latin typeface="+mn-lt"/>
              </a:defRPr>
            </a:lvl1pPr>
          </a:lstStyle>
          <a:p>
            <a:pPr defTabSz="457200"/>
            <a:fld id="{D57F1E4F-1CFF-5643-939E-217C01CDF565}" type="slidenum">
              <a:rPr lang="en-US" smtClean="0">
                <a:solidFill>
                  <a:srgbClr val="0E5580"/>
                </a:solidFill>
              </a:rPr>
              <a:pPr defTabSz="457200"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962" y="0"/>
            <a:ext cx="477038" cy="450761"/>
          </a:xfrm>
          <a:prstGeom prst="rect">
            <a:avLst/>
          </a:prstGeom>
        </p:spPr>
      </p:pic>
      <p:sp>
        <p:nvSpPr>
          <p:cNvPr id="31" name="Rectangle 30"/>
          <p:cNvSpPr/>
          <p:nvPr userDrawn="1"/>
        </p:nvSpPr>
        <p:spPr>
          <a:xfrm>
            <a:off x="444500" y="1151908"/>
            <a:ext cx="11270462" cy="104348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484906" y="1893122"/>
            <a:ext cx="11230056" cy="4122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58884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29984" y="542362"/>
            <a:ext cx="978568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pPr defTabSz="457200"/>
            <a:fld id="{40642DC7-B585-4536-91D5-231B0D5F1DDB}" type="datetime1">
              <a:rPr lang="en-US" smtClean="0">
                <a:solidFill>
                  <a:srgbClr val="ACD433"/>
                </a:solidFill>
              </a:rPr>
              <a:pPr defTabSz="457200"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pPr defTabSz="457200"/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061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2"/>
                </a:solidFill>
                <a:latin typeface="+mn-lt"/>
              </a:defRPr>
            </a:lvl1pPr>
          </a:lstStyle>
          <a:p>
            <a:pPr defTabSz="457200"/>
            <a:fld id="{D57F1E4F-1CFF-5643-939E-217C01CDF565}" type="slidenum">
              <a:rPr lang="en-US" smtClean="0">
                <a:solidFill>
                  <a:srgbClr val="0E5580"/>
                </a:solidFill>
              </a:rPr>
              <a:pPr defTabSz="457200"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714962" y="0"/>
            <a:ext cx="477038" cy="450761"/>
          </a:xfrm>
          <a:prstGeom prst="rect">
            <a:avLst/>
          </a:prstGeom>
        </p:spPr>
      </p:pic>
      <p:sp>
        <p:nvSpPr>
          <p:cNvPr id="31" name="Rectangle 30"/>
          <p:cNvSpPr/>
          <p:nvPr userDrawn="1"/>
        </p:nvSpPr>
        <p:spPr>
          <a:xfrm>
            <a:off x="444500" y="1151908"/>
            <a:ext cx="11270462" cy="104348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484906" y="1893122"/>
            <a:ext cx="11230056" cy="4122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45043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29984" y="542362"/>
            <a:ext cx="978568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pPr defTabSz="457200"/>
            <a:fld id="{40642DC7-B585-4536-91D5-231B0D5F1DDB}" type="datetime1">
              <a:rPr lang="en-US" smtClean="0">
                <a:solidFill>
                  <a:srgbClr val="ACD433"/>
                </a:solidFill>
              </a:rPr>
              <a:pPr defTabSz="457200"/>
              <a:t>5/19/2015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pPr defTabSz="457200"/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061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2"/>
                </a:solidFill>
                <a:latin typeface="+mn-lt"/>
              </a:defRPr>
            </a:lvl1pPr>
          </a:lstStyle>
          <a:p>
            <a:pPr defTabSz="457200"/>
            <a:fld id="{D57F1E4F-1CFF-5643-939E-217C01CDF565}" type="slidenum">
              <a:rPr lang="en-US" smtClean="0">
                <a:solidFill>
                  <a:srgbClr val="0E5580"/>
                </a:solidFill>
              </a:rPr>
              <a:pPr defTabSz="457200"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714962" y="0"/>
            <a:ext cx="477038" cy="450761"/>
          </a:xfrm>
          <a:prstGeom prst="rect">
            <a:avLst/>
          </a:prstGeom>
        </p:spPr>
      </p:pic>
      <p:sp>
        <p:nvSpPr>
          <p:cNvPr id="31" name="Rectangle 30"/>
          <p:cNvSpPr/>
          <p:nvPr userDrawn="1"/>
        </p:nvSpPr>
        <p:spPr>
          <a:xfrm>
            <a:off x="444500" y="1151908"/>
            <a:ext cx="11270462" cy="104348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484906" y="1893122"/>
            <a:ext cx="11230056" cy="4122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45043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29984" y="542362"/>
            <a:ext cx="978568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0642DC7-B585-4536-91D5-231B0D5F1DDB}" type="datetime1">
              <a:rPr lang="en-US" smtClean="0"/>
              <a:pPr/>
              <a:t>5/19/2015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061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2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714962" y="0"/>
            <a:ext cx="477038" cy="450761"/>
          </a:xfrm>
          <a:prstGeom prst="rect">
            <a:avLst/>
          </a:prstGeom>
        </p:spPr>
      </p:pic>
      <p:sp>
        <p:nvSpPr>
          <p:cNvPr id="31" name="Rectangle 30"/>
          <p:cNvSpPr/>
          <p:nvPr userDrawn="1"/>
        </p:nvSpPr>
        <p:spPr>
          <a:xfrm>
            <a:off x="456375" y="1151908"/>
            <a:ext cx="11270462" cy="104348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/>
          <p:nvPr userDrawn="1"/>
        </p:nvSpPr>
        <p:spPr>
          <a:xfrm>
            <a:off x="484906" y="1893122"/>
            <a:ext cx="11230056" cy="4122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  <p:sldLayoutId id="2147483786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18" Type="http://schemas.openxmlformats.org/officeDocument/2006/relationships/image" Target="../media/image16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jpeg"/><Relationship Id="rId2" Type="http://schemas.openxmlformats.org/officeDocument/2006/relationships/diagramData" Target="../diagrams/data1.xml"/><Relationship Id="rId16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13.jpeg"/><Relationship Id="rId10" Type="http://schemas.openxmlformats.org/officeDocument/2006/relationships/image" Target="../media/image8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7.png"/><Relationship Id="rId1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jpe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12" Type="http://schemas.openxmlformats.org/officeDocument/2006/relationships/image" Target="../media/image26.gif"/><Relationship Id="rId17" Type="http://schemas.openxmlformats.org/officeDocument/2006/relationships/image" Target="../media/image31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jpeg"/><Relationship Id="rId19" Type="http://schemas.openxmlformats.org/officeDocument/2006/relationships/image" Target="../media/image33.jpe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13" Type="http://schemas.openxmlformats.org/officeDocument/2006/relationships/image" Target="../media/image49.jpeg"/><Relationship Id="rId3" Type="http://schemas.openxmlformats.org/officeDocument/2006/relationships/image" Target="../media/image39.png"/><Relationship Id="rId7" Type="http://schemas.openxmlformats.org/officeDocument/2006/relationships/image" Target="../media/image43.jpeg"/><Relationship Id="rId12" Type="http://schemas.openxmlformats.org/officeDocument/2006/relationships/image" Target="../media/image48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2.png"/><Relationship Id="rId11" Type="http://schemas.openxmlformats.org/officeDocument/2006/relationships/image" Target="../media/image47.jpeg"/><Relationship Id="rId5" Type="http://schemas.openxmlformats.org/officeDocument/2006/relationships/image" Target="../media/image41.png"/><Relationship Id="rId10" Type="http://schemas.openxmlformats.org/officeDocument/2006/relationships/image" Target="../media/image46.jpeg"/><Relationship Id="rId4" Type="http://schemas.openxmlformats.org/officeDocument/2006/relationships/image" Target="../media/image40.png"/><Relationship Id="rId9" Type="http://schemas.openxmlformats.org/officeDocument/2006/relationships/image" Target="../media/image45.jpeg"/><Relationship Id="rId14" Type="http://schemas.openxmlformats.org/officeDocument/2006/relationships/image" Target="../media/image5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0.jpeg"/><Relationship Id="rId5" Type="http://schemas.openxmlformats.org/officeDocument/2006/relationships/image" Target="../media/image59.png"/><Relationship Id="rId10" Type="http://schemas.openxmlformats.org/officeDocument/2006/relationships/image" Target="../media/image64.jpeg"/><Relationship Id="rId4" Type="http://schemas.openxmlformats.org/officeDocument/2006/relationships/image" Target="../media/image58.jpeg"/><Relationship Id="rId9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6.png"/><Relationship Id="rId7" Type="http://schemas.openxmlformats.org/officeDocument/2006/relationships/image" Target="../media/image4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8.png"/><Relationship Id="rId11" Type="http://schemas.openxmlformats.org/officeDocument/2006/relationships/image" Target="../media/image72.jpeg"/><Relationship Id="rId5" Type="http://schemas.openxmlformats.org/officeDocument/2006/relationships/image" Target="../media/image67.png"/><Relationship Id="rId10" Type="http://schemas.openxmlformats.org/officeDocument/2006/relationships/image" Target="../media/image71.jpeg"/><Relationship Id="rId4" Type="http://schemas.openxmlformats.org/officeDocument/2006/relationships/image" Target="../media/image39.png"/><Relationship Id="rId9" Type="http://schemas.openxmlformats.org/officeDocument/2006/relationships/image" Target="../media/image70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jpeg"/><Relationship Id="rId3" Type="http://schemas.openxmlformats.org/officeDocument/2006/relationships/diagramData" Target="../diagrams/data2.xml"/><Relationship Id="rId7" Type="http://schemas.openxmlformats.org/officeDocument/2006/relationships/image" Target="../media/image84.pn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3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86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5.xml"/><Relationship Id="rId4" Type="http://schemas.openxmlformats.org/officeDocument/2006/relationships/chart" Target="../charts/char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5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diagramData" Target="../diagrams/data3.xml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5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96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95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9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86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3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54954" y="2099733"/>
            <a:ext cx="9989861" cy="2677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 smtClean="0"/>
              <a:t>Consumer Analytics Group, </a:t>
            </a:r>
            <a:br>
              <a:rPr lang="en-US" sz="4000" b="1" dirty="0" smtClean="0"/>
            </a:br>
            <a:r>
              <a:rPr lang="en-US" sz="4000" dirty="0" smtClean="0"/>
              <a:t>Big Data Initiative</a:t>
            </a:r>
            <a:br>
              <a:rPr lang="en-US" sz="4000" dirty="0" smtClean="0"/>
            </a:br>
            <a:r>
              <a:rPr lang="en-US" sz="4000" b="1" dirty="0" smtClean="0"/>
              <a:t/>
            </a:r>
            <a:br>
              <a:rPr lang="en-US" sz="4000" b="1" dirty="0" smtClean="0"/>
            </a:br>
            <a:endParaRPr lang="en-IN" sz="36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54954" y="5526232"/>
            <a:ext cx="8825657" cy="566738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+mn-lt"/>
              </a:rPr>
              <a:t>Discussion Framework: </a:t>
            </a:r>
            <a:r>
              <a:rPr lang="en-US" b="1" dirty="0" smtClean="0"/>
              <a:t>IHCL Analytics Offerings &amp; Roadmap</a:t>
            </a:r>
            <a:endParaRPr lang="en-IN" b="1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2367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2863" y="1528993"/>
            <a:ext cx="11176000" cy="469192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342900" indent="-342900" algn="l">
              <a:lnSpc>
                <a:spcPct val="200000"/>
              </a:lnSpc>
              <a:spcAft>
                <a:spcPts val="0"/>
              </a:spcAft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US" sz="17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Tata Customer Analytics:  Company Overview</a:t>
            </a:r>
          </a:p>
          <a:p>
            <a:pPr marL="342900" indent="-342900">
              <a:lnSpc>
                <a:spcPct val="20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US" sz="1700" dirty="0" smtClean="0">
                <a:solidFill>
                  <a:srgbClr val="002060"/>
                </a:solidFill>
                <a:cs typeface="Arial" pitchFamily="34" charset="0"/>
              </a:rPr>
              <a:t>Analytics Landscape </a:t>
            </a:r>
          </a:p>
          <a:p>
            <a:pPr marL="342900" indent="-342900">
              <a:lnSpc>
                <a:spcPct val="20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US" sz="17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IHCL Business Priorities &amp; Maturity </a:t>
            </a:r>
          </a:p>
          <a:p>
            <a:pPr marL="342900" indent="-342900" algn="l">
              <a:lnSpc>
                <a:spcPct val="200000"/>
              </a:lnSpc>
              <a:spcAft>
                <a:spcPts val="0"/>
              </a:spcAft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US" sz="17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Key Opportunities and Two-Year Roadmap</a:t>
            </a:r>
          </a:p>
          <a:p>
            <a:pPr marL="800100" lvl="1" indent="-342900">
              <a:lnSpc>
                <a:spcPct val="20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US" sz="1700" dirty="0" smtClean="0">
                <a:solidFill>
                  <a:srgbClr val="002060"/>
                </a:solidFill>
                <a:cs typeface="Arial" pitchFamily="34" charset="0"/>
              </a:rPr>
              <a:t>Quick Wins (0-3 Months)</a:t>
            </a:r>
          </a:p>
          <a:p>
            <a:pPr marL="800100" lvl="1" indent="-342900">
              <a:lnSpc>
                <a:spcPct val="20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US" sz="1700" dirty="0" smtClean="0">
                <a:solidFill>
                  <a:srgbClr val="002060"/>
                </a:solidFill>
                <a:cs typeface="Arial" pitchFamily="34" charset="0"/>
              </a:rPr>
              <a:t>Near- Term Opportunities</a:t>
            </a:r>
            <a:endParaRPr lang="en-US" sz="1700" dirty="0" smtClean="0">
              <a:solidFill>
                <a:srgbClr val="002060"/>
              </a:solidFill>
              <a:latin typeface="+mj-lt"/>
              <a:cs typeface="Arial" pitchFamily="34" charset="0"/>
            </a:endParaRPr>
          </a:p>
          <a:p>
            <a:pPr marL="800100" lvl="1" indent="-342900">
              <a:lnSpc>
                <a:spcPct val="20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US" sz="17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Long Term Opportunity : Leveraging  Tata Group Data</a:t>
            </a:r>
          </a:p>
          <a:p>
            <a:pPr marL="342900" indent="-342900">
              <a:lnSpc>
                <a:spcPct val="20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US" sz="17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Data Governance &amp; Privacy</a:t>
            </a:r>
          </a:p>
          <a:p>
            <a:pPr marL="342900" indent="-342900">
              <a:lnSpc>
                <a:spcPct val="20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US" sz="17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Support Needed &amp; Next Steps (0-3 Months)</a:t>
            </a:r>
          </a:p>
        </p:txBody>
      </p:sp>
    </p:spTree>
    <p:extLst>
      <p:ext uri="{BB962C8B-B14F-4D97-AF65-F5344CB8AC3E}">
        <p14:creationId xmlns="" xmlns:p14="http://schemas.microsoft.com/office/powerpoint/2010/main" val="110190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526880" y="2385181"/>
            <a:ext cx="8825660" cy="1822514"/>
          </a:xfrm>
        </p:spPr>
        <p:txBody>
          <a:bodyPr/>
          <a:lstStyle/>
          <a:p>
            <a:pPr algn="ctr"/>
            <a:r>
              <a:rPr lang="en-US" dirty="0" smtClean="0"/>
              <a:t>Tata Customer Analytics </a:t>
            </a:r>
            <a:br>
              <a:rPr lang="en-US" dirty="0" smtClean="0"/>
            </a:br>
            <a:r>
              <a:rPr lang="en-US" dirty="0" smtClean="0"/>
              <a:t>Company Overview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2251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Tata Customer Analytics Division - Overview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681032"/>
          </a:xfrm>
        </p:spPr>
        <p:txBody>
          <a:bodyPr>
            <a:normAutofit/>
          </a:bodyPr>
          <a:lstStyle/>
          <a:p>
            <a:r>
              <a:rPr lang="en-US" dirty="0" smtClean="0"/>
              <a:t>Established as a strategic priority of the Tata Group to enhance customer Value, provide data driven decisions and promote customer centric culture</a:t>
            </a:r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68947" y="1799448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315940" y="6119497"/>
            <a:ext cx="1321265" cy="527454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Raw &amp; Cleansed Data, MIS</a:t>
            </a:r>
            <a:endParaRPr lang="en-US" sz="14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1561149" y="6135308"/>
            <a:ext cx="1391888" cy="668263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Business Intelligence &amp; Analysis  </a:t>
            </a:r>
            <a:endParaRPr lang="en-US" sz="14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2860279" y="6119497"/>
            <a:ext cx="1333823" cy="528101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Predictive Modeling  </a:t>
            </a:r>
            <a:endParaRPr lang="en-US" sz="14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4059988" y="6119497"/>
            <a:ext cx="1389671" cy="668263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Advanced Quantitative Science</a:t>
            </a:r>
            <a:endParaRPr lang="en-US" sz="1400" kern="0" dirty="0">
              <a:solidFill>
                <a:schemeClr val="tx2"/>
              </a:solidFill>
              <a:cs typeface="Arial" pitchFamily="34" charset="0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388021" y="4178090"/>
            <a:ext cx="4855348" cy="1912599"/>
            <a:chOff x="549165" y="2502617"/>
            <a:chExt cx="5740264" cy="1977282"/>
          </a:xfrm>
        </p:grpSpPr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549165" y="2502617"/>
              <a:ext cx="5740264" cy="1977282"/>
              <a:chOff x="1903773" y="1766213"/>
              <a:chExt cx="5868594" cy="4102414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 rot="5400000">
                <a:off x="-146873" y="3816860"/>
                <a:ext cx="4102414" cy="1121"/>
              </a:xfrm>
              <a:prstGeom prst="line">
                <a:avLst/>
              </a:prstGeom>
              <a:noFill/>
              <a:ln w="34925" cap="flat" cmpd="sng" algn="ctr">
                <a:solidFill>
                  <a:srgbClr val="00B0F0"/>
                </a:solidFill>
                <a:prstDash val="solid"/>
                <a:headEnd type="triangle"/>
              </a:ln>
              <a:effectLst/>
            </p:spPr>
          </p:cxnSp>
          <p:cxnSp>
            <p:nvCxnSpPr>
              <p:cNvPr id="25" name="Straight Connector 24"/>
              <p:cNvCxnSpPr/>
              <p:nvPr/>
            </p:nvCxnSpPr>
            <p:spPr>
              <a:xfrm rot="10800000" flipV="1">
                <a:off x="1904334" y="5867734"/>
                <a:ext cx="5868033" cy="0"/>
              </a:xfrm>
              <a:prstGeom prst="line">
                <a:avLst/>
              </a:prstGeom>
              <a:noFill/>
              <a:ln w="34925" cap="flat" cmpd="sng" algn="ctr">
                <a:solidFill>
                  <a:srgbClr val="00B0F0"/>
                </a:solidFill>
                <a:prstDash val="solid"/>
                <a:headEnd type="triangle"/>
              </a:ln>
              <a:effectLst/>
            </p:spPr>
          </p:cxnSp>
        </p:grpSp>
        <p:sp>
          <p:nvSpPr>
            <p:cNvPr id="16" name="Freeform 15"/>
            <p:cNvSpPr/>
            <p:nvPr/>
          </p:nvSpPr>
          <p:spPr>
            <a:xfrm>
              <a:off x="806042" y="3487519"/>
              <a:ext cx="5020904" cy="787293"/>
            </a:xfrm>
            <a:custGeom>
              <a:avLst/>
              <a:gdLst>
                <a:gd name="connsiteX0" fmla="*/ 0 w 8525164"/>
                <a:gd name="connsiteY0" fmla="*/ 1062182 h 1062182"/>
                <a:gd name="connsiteX1" fmla="*/ 1200727 w 8525164"/>
                <a:gd name="connsiteY1" fmla="*/ 905164 h 1062182"/>
                <a:gd name="connsiteX2" fmla="*/ 8525164 w 8525164"/>
                <a:gd name="connsiteY2" fmla="*/ 0 h 1062182"/>
                <a:gd name="connsiteX3" fmla="*/ 8525164 w 8525164"/>
                <a:gd name="connsiteY3" fmla="*/ 0 h 1062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25164" h="1062182">
                  <a:moveTo>
                    <a:pt x="0" y="1062182"/>
                  </a:moveTo>
                  <a:lnTo>
                    <a:pt x="1200727" y="905164"/>
                  </a:lnTo>
                  <a:lnTo>
                    <a:pt x="8525164" y="0"/>
                  </a:lnTo>
                  <a:lnTo>
                    <a:pt x="8525164" y="0"/>
                  </a:lnTo>
                </a:path>
              </a:pathLst>
            </a:custGeom>
            <a:ln w="25400">
              <a:solidFill>
                <a:schemeClr val="tx2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5175407" y="3378769"/>
              <a:ext cx="791739" cy="427423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650773" y="4249957"/>
              <a:ext cx="311648" cy="178682"/>
            </a:xfrm>
            <a:prstGeom prst="ellipse">
              <a:avLst/>
            </a:prstGeom>
            <a:solidFill>
              <a:schemeClr val="accent5"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1552433" y="3995146"/>
              <a:ext cx="491969" cy="284649"/>
            </a:xfrm>
            <a:prstGeom prst="ellipse">
              <a:avLst/>
            </a:prstGeom>
            <a:solidFill>
              <a:schemeClr val="accent5">
                <a:lumMod val="5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2633773" y="3806514"/>
              <a:ext cx="565378" cy="308874"/>
            </a:xfrm>
            <a:prstGeom prst="ellipse">
              <a:avLst/>
            </a:prstGeom>
            <a:solidFill>
              <a:schemeClr val="accent4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3788260" y="3544283"/>
              <a:ext cx="798871" cy="465012"/>
            </a:xfrm>
            <a:prstGeom prst="ellipse">
              <a:avLst/>
            </a:prstGeom>
            <a:solidFill>
              <a:schemeClr val="tx2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707481" y="2747283"/>
              <a:ext cx="1933179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2698798" y="2745970"/>
              <a:ext cx="3160102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/>
          <p:cNvSpPr/>
          <p:nvPr/>
        </p:nvSpPr>
        <p:spPr>
          <a:xfrm>
            <a:off x="810615" y="4180821"/>
            <a:ext cx="1127189" cy="625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Decision Support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463541" y="4168983"/>
            <a:ext cx="1127189" cy="625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Decision Making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4104993" y="4911566"/>
            <a:ext cx="1285820" cy="12633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0" name="Rounded Rectangular Callout 49"/>
          <p:cNvSpPr/>
          <p:nvPr/>
        </p:nvSpPr>
        <p:spPr>
          <a:xfrm>
            <a:off x="923423" y="2078134"/>
            <a:ext cx="1560645" cy="787673"/>
          </a:xfrm>
          <a:prstGeom prst="wedgeRoundRectCallou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600" dirty="0" smtClean="0">
                <a:solidFill>
                  <a:schemeClr val="tx2"/>
                </a:solidFill>
              </a:rPr>
              <a:t>Infrastructure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51" name="Rounded Rectangular Callout 50"/>
          <p:cNvSpPr/>
          <p:nvPr/>
        </p:nvSpPr>
        <p:spPr>
          <a:xfrm rot="5400000">
            <a:off x="3243667" y="1630165"/>
            <a:ext cx="787673" cy="1683610"/>
          </a:xfrm>
          <a:prstGeom prst="wedgeRoundRectCallou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>
              <a:spcAft>
                <a:spcPts val="600"/>
              </a:spcAft>
            </a:pPr>
            <a:r>
              <a:rPr lang="en-US" sz="1600" dirty="0" smtClean="0">
                <a:solidFill>
                  <a:schemeClr val="tx2"/>
                </a:solidFill>
              </a:rPr>
              <a:t>Data</a:t>
            </a:r>
            <a:endParaRPr lang="en-US" sz="1600" i="1" dirty="0" smtClean="0">
              <a:solidFill>
                <a:schemeClr val="tx2"/>
              </a:solidFill>
            </a:endParaRPr>
          </a:p>
        </p:txBody>
      </p:sp>
      <p:sp>
        <p:nvSpPr>
          <p:cNvPr id="52" name="Rounded Rectangular Callout 51"/>
          <p:cNvSpPr/>
          <p:nvPr/>
        </p:nvSpPr>
        <p:spPr>
          <a:xfrm rot="16200000">
            <a:off x="1299838" y="2614706"/>
            <a:ext cx="787673" cy="1540499"/>
          </a:xfrm>
          <a:prstGeom prst="wedgeRoundRectCallou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>
              <a:spcAft>
                <a:spcPts val="600"/>
              </a:spcAft>
            </a:pPr>
            <a:r>
              <a:rPr lang="en-US" sz="1600" dirty="0" smtClean="0">
                <a:solidFill>
                  <a:schemeClr val="tx2"/>
                </a:solidFill>
              </a:rPr>
              <a:t>Talent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53" name="Rounded Rectangular Callout 52"/>
          <p:cNvSpPr/>
          <p:nvPr/>
        </p:nvSpPr>
        <p:spPr>
          <a:xfrm rot="10800000">
            <a:off x="2815695" y="3012120"/>
            <a:ext cx="1663615" cy="787673"/>
          </a:xfrm>
          <a:prstGeom prst="wedgeRoundRectCallou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>
              <a:spcAft>
                <a:spcPts val="600"/>
              </a:spcAft>
            </a:pP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2860279" y="3192946"/>
            <a:ext cx="1544160" cy="38888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2"/>
                </a:solidFill>
              </a:rPr>
              <a:t>Predictive Analytics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55" name="TextBox 39"/>
          <p:cNvSpPr txBox="1">
            <a:spLocks noChangeArrowheads="1"/>
          </p:cNvSpPr>
          <p:nvPr/>
        </p:nvSpPr>
        <p:spPr bwMode="auto">
          <a:xfrm>
            <a:off x="1586692" y="3981883"/>
            <a:ext cx="260741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 u="sng" kern="0" dirty="0" smtClean="0">
                <a:solidFill>
                  <a:srgbClr val="002D72"/>
                </a:solidFill>
              </a:rPr>
              <a:t>Evolution of Analytics</a:t>
            </a:r>
            <a:endParaRPr lang="en-US" sz="1600" b="1" i="1" u="sng" kern="0" dirty="0">
              <a:solidFill>
                <a:srgbClr val="002D72"/>
              </a:solidFill>
            </a:endParaRPr>
          </a:p>
        </p:txBody>
      </p:sp>
      <p:sp>
        <p:nvSpPr>
          <p:cNvPr id="56" name="TextBox 39"/>
          <p:cNvSpPr txBox="1">
            <a:spLocks noChangeArrowheads="1"/>
          </p:cNvSpPr>
          <p:nvPr/>
        </p:nvSpPr>
        <p:spPr bwMode="auto">
          <a:xfrm>
            <a:off x="1997837" y="1784693"/>
            <a:ext cx="21071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 u="sng" kern="0" dirty="0">
                <a:solidFill>
                  <a:srgbClr val="002D72"/>
                </a:solidFill>
              </a:rPr>
              <a:t>Key Pillars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0615" y="4261891"/>
            <a:ext cx="1127189" cy="625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Decision Support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463541" y="4250053"/>
            <a:ext cx="1127189" cy="625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Decision Making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70" name="TextBox 39"/>
          <p:cNvSpPr txBox="1">
            <a:spLocks noChangeArrowheads="1"/>
          </p:cNvSpPr>
          <p:nvPr/>
        </p:nvSpPr>
        <p:spPr bwMode="auto">
          <a:xfrm>
            <a:off x="5655002" y="1780078"/>
            <a:ext cx="291208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 u="sng" kern="0" dirty="0" smtClean="0">
                <a:solidFill>
                  <a:srgbClr val="002D72"/>
                </a:solidFill>
              </a:rPr>
              <a:t>Unique Value Proposition</a:t>
            </a:r>
            <a:endParaRPr lang="en-US" sz="1600" b="1" i="1" u="sng" kern="0" dirty="0">
              <a:solidFill>
                <a:srgbClr val="002D72"/>
              </a:solidFill>
            </a:endParaRPr>
          </a:p>
        </p:txBody>
      </p:sp>
      <p:grpSp>
        <p:nvGrpSpPr>
          <p:cNvPr id="6" name="Group 61"/>
          <p:cNvGrpSpPr/>
          <p:nvPr/>
        </p:nvGrpSpPr>
        <p:grpSpPr>
          <a:xfrm>
            <a:off x="6572728" y="2051788"/>
            <a:ext cx="4865853" cy="4874175"/>
            <a:chOff x="984877" y="1960533"/>
            <a:chExt cx="5140689" cy="5149480"/>
          </a:xfrm>
          <a:solidFill>
            <a:srgbClr val="1F74B7"/>
          </a:solidFill>
        </p:grpSpPr>
        <p:sp>
          <p:nvSpPr>
            <p:cNvPr id="63" name="Pie 62"/>
            <p:cNvSpPr/>
            <p:nvPr/>
          </p:nvSpPr>
          <p:spPr>
            <a:xfrm rot="19872972">
              <a:off x="993389" y="1960533"/>
              <a:ext cx="5132177" cy="5132177"/>
            </a:xfrm>
            <a:prstGeom prst="pie">
              <a:avLst>
                <a:gd name="adj1" fmla="val 1719646"/>
                <a:gd name="adj2" fmla="val 5385451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black"/>
                </a:solidFill>
              </a:endParaRPr>
            </a:p>
          </p:txBody>
        </p:sp>
        <p:sp>
          <p:nvSpPr>
            <p:cNvPr id="71" name="Pie 70"/>
            <p:cNvSpPr/>
            <p:nvPr/>
          </p:nvSpPr>
          <p:spPr>
            <a:xfrm rot="16200000">
              <a:off x="986193" y="1977833"/>
              <a:ext cx="5132177" cy="5132178"/>
            </a:xfrm>
            <a:prstGeom prst="pie">
              <a:avLst>
                <a:gd name="adj1" fmla="val 1733518"/>
                <a:gd name="adj2" fmla="val 5385451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black"/>
                </a:solidFill>
              </a:endParaRPr>
            </a:p>
          </p:txBody>
        </p:sp>
        <p:sp>
          <p:nvSpPr>
            <p:cNvPr id="72" name="Pie 71"/>
            <p:cNvSpPr/>
            <p:nvPr/>
          </p:nvSpPr>
          <p:spPr>
            <a:xfrm rot="12542084">
              <a:off x="984877" y="1977836"/>
              <a:ext cx="5132177" cy="5132177"/>
            </a:xfrm>
            <a:prstGeom prst="pie">
              <a:avLst>
                <a:gd name="adj1" fmla="val 1694730"/>
                <a:gd name="adj2" fmla="val 5426159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black"/>
                </a:solidFill>
              </a:endParaRPr>
            </a:p>
          </p:txBody>
        </p:sp>
        <p:sp>
          <p:nvSpPr>
            <p:cNvPr id="73" name="Pie 72"/>
            <p:cNvSpPr/>
            <p:nvPr/>
          </p:nvSpPr>
          <p:spPr>
            <a:xfrm rot="8865029">
              <a:off x="986193" y="1977830"/>
              <a:ext cx="5132177" cy="5132177"/>
            </a:xfrm>
            <a:prstGeom prst="pie">
              <a:avLst>
                <a:gd name="adj1" fmla="val 1733518"/>
                <a:gd name="adj2" fmla="val 5385451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black"/>
                </a:solidFill>
              </a:endParaRPr>
            </a:p>
          </p:txBody>
        </p:sp>
        <p:sp>
          <p:nvSpPr>
            <p:cNvPr id="74" name="Pie 73"/>
            <p:cNvSpPr/>
            <p:nvPr/>
          </p:nvSpPr>
          <p:spPr>
            <a:xfrm rot="5197560">
              <a:off x="986192" y="1977830"/>
              <a:ext cx="5132177" cy="5132177"/>
            </a:xfrm>
            <a:prstGeom prst="pie">
              <a:avLst>
                <a:gd name="adj1" fmla="val 1898080"/>
                <a:gd name="adj2" fmla="val 5587050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white"/>
                </a:solidFill>
              </a:endParaRPr>
            </a:p>
          </p:txBody>
        </p:sp>
        <p:grpSp>
          <p:nvGrpSpPr>
            <p:cNvPr id="7" name="Group 74"/>
            <p:cNvGrpSpPr/>
            <p:nvPr/>
          </p:nvGrpSpPr>
          <p:grpSpPr>
            <a:xfrm rot="5400000">
              <a:off x="2505786" y="3474071"/>
              <a:ext cx="2180839" cy="2180839"/>
              <a:chOff x="2587985" y="2205051"/>
              <a:chExt cx="2447894" cy="2447894"/>
            </a:xfrm>
            <a:grpFill/>
          </p:grpSpPr>
          <p:sp>
            <p:nvSpPr>
              <p:cNvPr id="81" name="Teardrop 80"/>
              <p:cNvSpPr/>
              <p:nvPr/>
            </p:nvSpPr>
            <p:spPr>
              <a:xfrm rot="2700000">
                <a:off x="2587985" y="2205051"/>
                <a:ext cx="2447894" cy="2447894"/>
              </a:xfrm>
              <a:prstGeom prst="teardrop">
                <a:avLst>
                  <a:gd name="adj" fmla="val 110588"/>
                </a:avLst>
              </a:prstGeom>
              <a:grpFill/>
              <a:ln>
                <a:solidFill>
                  <a:schemeClr val="bg1"/>
                </a:solidFill>
              </a:ln>
              <a:effectLst>
                <a:outerShdw blurRad="152400" dist="114300" dir="5400000" sx="90000" sy="-19000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2" name="Freeform 81"/>
              <p:cNvSpPr/>
              <p:nvPr/>
            </p:nvSpPr>
            <p:spPr>
              <a:xfrm>
                <a:off x="2666504" y="2301916"/>
                <a:ext cx="2290857" cy="2290613"/>
              </a:xfrm>
              <a:custGeom>
                <a:avLst/>
                <a:gdLst>
                  <a:gd name="connsiteX0" fmla="*/ 0 w 2290857"/>
                  <a:gd name="connsiteY0" fmla="*/ 1145307 h 2290613"/>
                  <a:gd name="connsiteX1" fmla="*/ 1145429 w 2290857"/>
                  <a:gd name="connsiteY1" fmla="*/ 0 h 2290613"/>
                  <a:gd name="connsiteX2" fmla="*/ 2290858 w 2290857"/>
                  <a:gd name="connsiteY2" fmla="*/ 1145307 h 2290613"/>
                  <a:gd name="connsiteX3" fmla="*/ 1145429 w 2290857"/>
                  <a:gd name="connsiteY3" fmla="*/ 2290614 h 2290613"/>
                  <a:gd name="connsiteX4" fmla="*/ 0 w 2290857"/>
                  <a:gd name="connsiteY4" fmla="*/ 1145307 h 2290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90857" h="2290613">
                    <a:moveTo>
                      <a:pt x="0" y="1145307"/>
                    </a:moveTo>
                    <a:cubicBezTo>
                      <a:pt x="0" y="512771"/>
                      <a:pt x="512826" y="0"/>
                      <a:pt x="1145429" y="0"/>
                    </a:cubicBezTo>
                    <a:cubicBezTo>
                      <a:pt x="1778032" y="0"/>
                      <a:pt x="2290858" y="512771"/>
                      <a:pt x="2290858" y="1145307"/>
                    </a:cubicBezTo>
                    <a:cubicBezTo>
                      <a:pt x="2290858" y="1777843"/>
                      <a:pt x="1778032" y="2290614"/>
                      <a:pt x="1145429" y="2290614"/>
                    </a:cubicBezTo>
                    <a:cubicBezTo>
                      <a:pt x="512826" y="2290614"/>
                      <a:pt x="0" y="1777843"/>
                      <a:pt x="0" y="11453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1F74B7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vert270" wrap="square" lIns="393534" tIns="393332" rIns="393533" bIns="393332" numCol="1" spcCol="1270" anchor="ctr" anchorCtr="0">
                <a:noAutofit/>
              </a:bodyPr>
              <a:lstStyle/>
              <a:p>
                <a:pPr algn="ctr" defTabSz="2311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700" b="1" dirty="0">
                    <a:solidFill>
                      <a:prstClr val="black">
                        <a:hueOff val="0"/>
                        <a:satOff val="0"/>
                        <a:lumOff val="0"/>
                        <a:alphaOff val="0"/>
                      </a:prstClr>
                    </a:solidFill>
                  </a:rPr>
                  <a:t>Value Proposition</a:t>
                </a:r>
                <a:endParaRPr lang="en-IN" sz="1700" b="1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endParaRPr>
              </a:p>
            </p:txBody>
          </p:sp>
        </p:grpSp>
        <p:sp>
          <p:nvSpPr>
            <p:cNvPr id="76" name="TextBox 75"/>
            <p:cNvSpPr txBox="1"/>
            <p:nvPr/>
          </p:nvSpPr>
          <p:spPr bwMode="gray">
            <a:xfrm>
              <a:off x="1571307" y="4980995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Optimization </a:t>
              </a:r>
            </a:p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of Resources</a:t>
              </a:r>
            </a:p>
          </p:txBody>
        </p:sp>
        <p:sp>
          <p:nvSpPr>
            <p:cNvPr id="77" name="TextBox 76"/>
            <p:cNvSpPr txBox="1"/>
            <p:nvPr/>
          </p:nvSpPr>
          <p:spPr bwMode="gray">
            <a:xfrm>
              <a:off x="1526778" y="3274877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Optimization </a:t>
              </a:r>
            </a:p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of Productivity</a:t>
              </a:r>
            </a:p>
          </p:txBody>
        </p:sp>
        <p:sp>
          <p:nvSpPr>
            <p:cNvPr id="78" name="TextBox 77"/>
            <p:cNvSpPr txBox="1"/>
            <p:nvPr/>
          </p:nvSpPr>
          <p:spPr bwMode="gray">
            <a:xfrm>
              <a:off x="4772014" y="4980995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 smtClean="0">
                  <a:solidFill>
                    <a:prstClr val="white"/>
                  </a:solidFill>
                </a:rPr>
                <a:t>Domain </a:t>
              </a:r>
              <a:endParaRPr lang="en-US" sz="1400" b="1" dirty="0">
                <a:solidFill>
                  <a:prstClr val="white"/>
                </a:solidFill>
              </a:endParaRPr>
            </a:p>
            <a:p>
              <a:pPr algn="ctr"/>
              <a:r>
                <a:rPr lang="en-US" sz="1400" b="1" dirty="0" smtClean="0">
                  <a:solidFill>
                    <a:prstClr val="white"/>
                  </a:solidFill>
                </a:rPr>
                <a:t>Knowledge</a:t>
              </a:r>
              <a:endParaRPr lang="en-US" sz="1400" b="1" dirty="0">
                <a:solidFill>
                  <a:prstClr val="white"/>
                </a:solidFill>
              </a:endParaRPr>
            </a:p>
          </p:txBody>
        </p:sp>
        <p:sp>
          <p:nvSpPr>
            <p:cNvPr id="79" name="TextBox 78"/>
            <p:cNvSpPr txBox="1"/>
            <p:nvPr/>
          </p:nvSpPr>
          <p:spPr bwMode="gray">
            <a:xfrm>
              <a:off x="4747917" y="3274877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 smtClean="0">
                  <a:solidFill>
                    <a:prstClr val="white"/>
                  </a:solidFill>
                </a:rPr>
                <a:t>Analytic </a:t>
              </a:r>
              <a:endParaRPr lang="en-US" sz="1400" b="1" dirty="0">
                <a:solidFill>
                  <a:prstClr val="white"/>
                </a:solidFill>
              </a:endParaRPr>
            </a:p>
            <a:p>
              <a:pPr algn="ctr"/>
              <a:r>
                <a:rPr lang="en-US" sz="1400" b="1" dirty="0" smtClean="0">
                  <a:solidFill>
                    <a:prstClr val="white"/>
                  </a:solidFill>
                </a:rPr>
                <a:t>Horsepower</a:t>
              </a:r>
              <a:endParaRPr lang="en-US" sz="1400" b="1" dirty="0">
                <a:solidFill>
                  <a:prstClr val="white"/>
                </a:solidFill>
              </a:endParaRPr>
            </a:p>
          </p:txBody>
        </p:sp>
        <p:sp>
          <p:nvSpPr>
            <p:cNvPr id="80" name="TextBox 79"/>
            <p:cNvSpPr txBox="1"/>
            <p:nvPr/>
          </p:nvSpPr>
          <p:spPr bwMode="gray">
            <a:xfrm>
              <a:off x="3029692" y="2171594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Cross Organization</a:t>
              </a:r>
            </a:p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Cross Cluster</a:t>
              </a:r>
            </a:p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Intelligence Access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529056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526880" y="2385181"/>
            <a:ext cx="8825660" cy="1822514"/>
          </a:xfrm>
        </p:spPr>
        <p:txBody>
          <a:bodyPr/>
          <a:lstStyle/>
          <a:p>
            <a:pPr algn="ctr"/>
            <a:r>
              <a:rPr lang="en-US" dirty="0" smtClean="0"/>
              <a:t>Analytics Landscape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2251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9984" y="440764"/>
            <a:ext cx="9785683" cy="706964"/>
          </a:xfrm>
        </p:spPr>
        <p:txBody>
          <a:bodyPr/>
          <a:lstStyle/>
          <a:p>
            <a:r>
              <a:rPr lang="en-US" dirty="0" smtClean="0"/>
              <a:t>The Four Quadrants of Opportunities in Analytics : </a:t>
            </a:r>
            <a:br>
              <a:rPr lang="en-US" dirty="0" smtClean="0"/>
            </a:br>
            <a:r>
              <a:rPr lang="en-US" dirty="0" smtClean="0"/>
              <a:t>Customer Analytics is our Current Focus Quadrant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528357" y="1188058"/>
            <a:ext cx="11113180" cy="582362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/>
              <a:t>Our Year 1 Goal is to lay the foundations in Customer Analytics for IHCL. We will address the Other Quadrants beyond Year 1, based on Business Priority</a:t>
            </a:r>
            <a:endParaRPr lang="en-IN" dirty="0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="" xmlns:p14="http://schemas.microsoft.com/office/powerpoint/2010/main" val="276768043"/>
              </p:ext>
            </p:extLst>
          </p:nvPr>
        </p:nvGraphicFramePr>
        <p:xfrm>
          <a:off x="159661" y="1698172"/>
          <a:ext cx="11843657" cy="45655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345716" y="1845674"/>
            <a:ext cx="1627933" cy="34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783344" y="2225249"/>
            <a:ext cx="483856" cy="224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867345" y="2611628"/>
            <a:ext cx="278090" cy="278090"/>
          </a:xfrm>
          <a:prstGeom prst="rect">
            <a:avLst/>
          </a:prstGeom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959835" y="2970268"/>
            <a:ext cx="197608" cy="199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339202" y="2335779"/>
            <a:ext cx="219360" cy="192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572265" y="3454400"/>
            <a:ext cx="448011" cy="362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291" name="AutoShape 3" descr="Image result for pric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293" name="Picture 5" descr="http://builderslab.org/wp-content/uploads/2013/12/price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155544" y="1814288"/>
            <a:ext cx="972146" cy="6382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295" name="AutoShape 7" descr="Image result for hotel dema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97" name="AutoShape 9" descr="Image result for hotel dema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01" name="AutoShape 13" descr="Image result for demand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303" name="Picture 15" descr="http://thumbs.dreamstime.com/x/rising-demand-29221120.jp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0348686" y="3202211"/>
            <a:ext cx="1248229" cy="6903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305" name="Picture 17" descr="Image result for demand clipart"/>
          <p:cNvPicPr>
            <a:picLocks noChangeAspect="1" noChangeArrowheads="1"/>
          </p:cNvPicPr>
          <p:nvPr/>
        </p:nvPicPr>
        <p:blipFill>
          <a:blip r:embed="rId14"/>
          <a:srcRect b="39550"/>
          <a:stretch>
            <a:fillRect/>
          </a:stretch>
        </p:blipFill>
        <p:spPr bwMode="auto">
          <a:xfrm>
            <a:off x="8530318" y="3387954"/>
            <a:ext cx="1121681" cy="371246"/>
          </a:xfrm>
          <a:prstGeom prst="rect">
            <a:avLst/>
          </a:prstGeom>
          <a:noFill/>
        </p:spPr>
      </p:pic>
      <p:pic>
        <p:nvPicPr>
          <p:cNvPr id="12307" name="Picture 19" descr="Image result for hotel operations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7024913" y="5776686"/>
            <a:ext cx="873222" cy="5789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309" name="AutoShape 21" descr="Image result for wai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13" name="AutoShape 25" descr="Image result for human resourc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15" name="AutoShape 27" descr="data:image/jpeg;base64,/9j/4AAQSkZJRgABAQAAAQABAAD/2wCEAAkGBxMTEhUTExMUFhUXGRcXGBgVGBQUFRcYFxcXFhQUGhgYHCggGBwlHBQUITEhJSkrLi4uFx8zODMsNygtLisBCgoKDg0OGhAQGi8fHyYsLCwsLCwsLCwsLDQsLCwsLCwsLCwsLCwsLCwsLCwsLCwsLCwsLCwsLCwsLCwsLCwsLP/AABEIALABHwMBIgACEQEDEQH/xAAcAAABBQEBAQAAAAAAAAAAAAAGAAMEBQcCCAH/xABFEAACAAQEAwcCAggDBQkBAAABAgADBBEFEiExBkFRBxMiYXGBkTKhFLEjQlJicsHR8BUzkhYkgqLhFyU1Q2NzstLxCP/EABoBAAMBAQEBAAAAAAAAAAAAAAABAgMEBQb/xAAmEQACAgICAgICAgMAAAAAAAAAAQIRAxIhMQRBIlETYQXRI0Kh/9oADAMBAAIRAxEAPwDcYUKFAAoUKItbiEqULzHVfUgQASoUM0tWkwZkYMOoN4axLEZUhC81wqjmYAJcKKSh4rpJyM8ucrBQSRfWw8oBqvtFrGdmkUt5QOhIN2HWE3XY1Fvo1SFFLwrjwq5OfKUYaMp3BiwnYjKU2aYgPQkQwolQobkzlcXVgR1BuI7JgEfYUIGI9RXS0IDuqk9SBABIhQMcS8Yy6UhQO8Y8gYmYFxElQNRka17Hp1idldFaSq64LuFALjHabTSZmRVMyxsSNo+zuOVqJP8Aun+YTYhv1fODdDWOT9BzCjF3qsTkuZxnFraldwR6QZ1naDKk0kuodSWcfQN7jeFGcZdDnilHtBrCgM4P7Q6eubIAZb8g3P0h7F+0Gjp5vdMxZhocuoEWRTC2FEXDMQlz5YmSmDKeYiBiHE9NJbK76je2oHqeUJtIEmy5hRDTFJJld8Ji93a+a+kVFLxrRzJndrM1JsCdAfeC0Ci2EcKPl+cD1XxtRS5vdNOUMND0B9YYgihQ1JqFdQ6kFSLgja0ZvxjxjVBmFMLKptmte9omU1HsuEHPo02FAN2ecXvVDu54HeAXBHODmHGSatClFxdMUKFChkihQoUAChQoUADVTOCIznZQT8R524hx01lS2ZzlLWGugF42XtKxLuKCa17EjKPeMF4HlLMnFmGa2oHnGObo6vGXJrfCwFMEyTN2UMCdwecX3ELymfLN100B2gGxzEFl/hxYB3mJtvYGDDih2F2sLZNOtyIxtrGdCheUA6rCZZn3p/DrZguxHMQQPjzpdEp2IQDygbl41LkzZWZbF3AP8yYvMUqpZcssw2Y2ET8tU30aVD8jXsu6SteVInVATIzqNDsG2vFTW8MSGkGZMnMZrC5bNzOtoY4r4gligMpWu4ZQ3Ui94nSqlDTy2VFKMATc31tFZG0kYQipSdA/2bcTNT1Jppj3lkkC/I8jE3iLiSpqah0kNlRDlFuZ6xn2NzCtWzL4ddLQX8Fzwe8Ripe+bXfWG8jURRxJzCbgvHqhJ4p6hswYeE+Y5RFrMPlzaia8+a2YNYC+i66aQyjhq6nRAM4bM1ukXmNS1kVZLFAszU3tvBu3CxqEY5GjPMYVlqspNxewJ+xgm4elzWBAbx2YadCIpuK56NVd7IyzAgBcL4redoJeGsQWRLasmALLsNOZ87QRxycrKnlgsdA7gPCRExnmC5sSAdr35xf0WAGVNaaAFDLrbYGJM/iKTVkmQTYHloTF5hTowZHIBK6AnWE4S21K/JDRSKDVnsTcfnDWNYcERGyK2lgDsBfWJaUjZi+iy13Y7WG8M1fFFJWSWRGCvLNgP2gOYgjikoNjlmg8sUU+H0wM7MqBSp0K7xbigpcrM0sFxqxI1JMUPD3EsinqVWcLBzYE8r84IsZrAD4WGW+nmImpKCsu4SyNI6wivWmpJwlaZmsg6FtI+y0WTTuJwBzAknckne8UnGc4SpNNlPjdw5HvpHzjXFmlSQcts6hdfPeFkk+EYxjG2yt4YqDNlTpGY90HzW8r7QSvh1KcirYX2PnAt2eHKk5zsSFF9iTBxhMkzJqDKth9oTbtFwSUWyw4yxhqTDsynxsAinzOl4yrhnhEzHaZVFsu5tuSfOCjt1xRZUqRIXfMHI8hEfhfHlMhpubTLfKeVhHTmyShFV7OXx8cMjdhrwG47idJUkrLYqt+nIRXzqbL4Lrl1uCNzEXsvxuSKadNdwC0xiQTrqdBEjEapZjX6mIzxeqZp4slvIlcI4VacHyhcoP07axz2h8YPSlJMgXmvr1sIv8AhiqlMmVWGYbjnATizS3xSZmF3UKFHlzil/jxkOsuYa4e42q0qElVVir21tYi8aqDGI8cTElzJFrBs1/O1xGz4fNzS0bqoP2isM3JckeRjUHwSIUKFGxzihRTpVAC94kS6477wrHRl/bbjAYrS2Nh4m/lAbwXOpUJWZdX/Vbqehg37TuHZ05zUSULrbxBdXW37u59rxlaUxuSOW/UQ9FJUzoi9VaNEwvhAVM3vZ1SqXYZFzAtYHTTlBDxY0xJMy5uFsFPkBvGPyQ1ldXa9wRqdI1XiKeTQ2JJJRCSYjLgSSS+0LFmk22/ozKtqWci5vY/EPLiMwBVDAKDe51isnvkbqD+cdzpMwEXBF9dftG8aiYNtv8AZNqajMr5jcnUwWT6lZOHS5oBBbQJc6nrASlKBe5veJk2pZlCsxKroByEebm8qG3HJ73j/wAPmlFOb1/6yqrsTM18xW3lBDwjOUOX3vofKBOrSzkQRcHuPEDHTrGULPJltjyOL9MJ8AxRaOsmT6gHJYlT16AQE8Y8SvV1DzLsqn6Rc6CHONsQzzUTNcKNRFN+JlmWVK+I7NFwjquDOb2lzwS+GZ5zv4iLob+duUN1ldNdcpmMQOVzb4iHQKQ2/Ix33TMwVQWJ5DWN/RjXJY4Hi8yRmMsi56wT02LTqqoQk2IFtNIDTRuhGdGW55giLCnxLuXDDkD/ANIal0FBbxzxVkpkpJbG7C8w319IziRNZTmUkGPtRMZ2LtzN4aDRE3bscVQZ8D9zOrUm1bDKoucx002jR67FqKociTMUhd+QFukYXLfwtDUqeV+kkekZ5IKao1x5HCVmucXTqOfLWbInBnkEZkva4B1teBjibiNaxEsCCu46QDq/O8S8LmatCeKLfQLJIvP8bdZCylFgGzk8yYP+GcXM+mZ5TZZy7+0ZVMex12i44YxZqacGH0HRhyIMLJhTXHaKhkp89M547rp1ZP72YdgFsOVtDDQnNIliUraEa+d4ssbZO8YqLgtmHodYpsXrA8zQW0EXqpJNmbel0LC5pExBfTMNOUaTVCblzgc7b6WjL6J7TV9RGsT5x7km2irf003jv8aKknZzu74+jOMRx+fLqXeW7IQbaHpEvAa+dVV8uY7nOdCRpcecC8+bndj1Ji24WqBLqpbX2McWRbWa424tBP2l1MtJ8tF1YDU9I1ns0xkVFGn7SeE/yjI5eGPWV7MRoT8CNT4BwNpDzW2Q7DzjGGPXo3yT27DaFHwm28IMOsaGACUNWL2J0O3lFtT1ABtADTYkGAN9YuafFAdzGZYVd7Y3ER6/BaaqVhNlKSwsWACzP9Q1iuSvB5x0uLBNbj3hpiBqn7JAlwKxit/DeUMwHmc1j8CCbFuHy1H+HV0ZwAAzAqDbba9oelYy03awETC2nWK3YkqMDxnCKqjfNPlMljo1s0vyIcXX73iuXGWmzlLnNcgEjpHpSnn6ZWFx56j4iPV4LRTf8ylkMeplS83za8PYDKOJMJAUTZam1hsNNoF80egJuB05lGSAUQjLZTew8s14z7EeyDc01Yf4Z66emdP/AKxwS8Rt3Z73j/zP44KEk2ZliabGLPhGleazJL+u1xc2ETsW4AxOSDeQJqjdpLCZ/wAps59lirwmnnynJMqchtzR0I+QI6sUHCGrPM8vNHNmc4KrKLHZXd1DhmzMCQxG1+YiInitY/MGmMfhTJLvKtNB8RJ1Y9fWAyaykXVcovG1/RzNFsuHNLylmU5r2sbw7htU0ics1bHLyPOJHB/CFTVy5k2UkxsuiclZuYDNZfvBrhHZZO8LVs5JQP6kr9JMPXxEZV9fFDtKPyYle3xBviji4VgQd13ZS/vArUNe0ehE4AwkJlNOCP2jMmlz55g2ntaKr/s4wfNqZxH7PfNb5Hi+8RvFKi9JydmEO0NyzvGqcX9ligGZhzs9t5MxgWP/ALb8z+63zyjLWlMjMjqysuhVgVYHoQdRApJ9EuLXZY4TKluxExsq5Tr58oqSSGNvOHHbwmIveRSE3xRIlSGc5V1Ji04fprze7O5uPeKeVOsbgkGCvs+w9p1WpINhck8toa7E+iLPlWJUjbSJ9Jw7VPK7yUodTyUgsPaJPGUkSqhxbcXinwzHZ0g3lzGX30+IJX6Kg17HhIno4WYhXrm00iorKj9MPUwUylxGtBYU82bpo+QgezGwPzDNF2V4pNfM0pJQ/wDVmKPsmY/aEr9im10ilpVvMX1EadxHVWomVNBlFzzJ5x8wnsnmK6vOqZdhYkS1Ztel2t+UH3+zdM0oynQurCxLEgn0K2t7R14skYQd9syvk81SVtErhmZepQ/vgfeNXxTshksSaeoeWDssxe9A9GuD83ipwLsxl0s7PVVT2BBUImUMR1Yk/AjmpjtGi4fhyy/EFAZum5i/m1okoFAzPvYbD1P8orZE+TYFJg02JJMfJlYg/wDO+BD1Q5TbI2Mu01AXJHlsPgRTS8QmSdMxI5X1idiOIqRodPOKudPQgAsB5a3+LRRmAguNjDkuqcbGJaUGl20EczCi7axynQdJi0xRHcitLnUk+UQHu2wixwylmLqqgeZhgFeEymYaDKOp0iZV49IkC2bO3QawLVdS1rPMLfujwiB6sqiTlUW9IQBVU8cPmsiD+cPU3FUw/UID6aVl15xJM6AYeUvERbqItZGNIecZj+JPKOvxTdTDEa5SV4LKL/3vFt+MHURkeD1ji5uT0i+kYw+xA9RvHbh8faGzObJlqVIuOIaSinvaop5Mw2HiZFY/6rX+8QKLgvCSbijlHW9mzMP9JNoHKziECc99bWHwAD97x3I4nAOm0ePlzOOSSXVnqY8KljT90aUsxVASWoAAsFUAKoHIAaARWY2LKTMYeuunQWgAxfjeYpHdXtazWNj5ERS1nEk2osLO38bCw9hvBDLt2jRYVHm/7Luux5Zd8z+A3Avob/uwJNjpZ9HI9zFjS4IXYPNOY+ew8gOQggXCpBXK8pWHoIG4vsraSfBX4LxC6OLsTBjieFUeJS7T0UvayzVsJqdLPuR5G48oBsT4aeV+kkBpkvmm7r6ftDy39Y+YVirJbKxt+XUQRkodBKG65KnHeyatS/cd3UJ+qQyy3t+8rkC/oxiNh/Y5icz6lkSvKZNBPp+jDRqeG45mTU+QiUvEQU77fy1jZZzmfjgBSdg1Vp3lXIU/uLMmfnlvGl4Zw9KpEEm+YhRdrBc2mpsBprfnBCMQB5xRcU1QXK6n9068txHYos4pMi1XDtBMbNNp5cxusy7/AGJsIepsJopRBl0tMhGxWTLB+QsUJxYnY29ifgkj8o4aqB+t2b/iyj4W0OibCqbiaDdhp5gRFbGl/UDP/CCR87QOCeo+hEB62F/k6xBrJs0+LObeph0IL/8AFH5Kq/xsPyQGPprmO7+yqB92v+UAH+MMuhvf4/8A2HpONk7mAYW1WLFdL39SW+20Rl4gUqQ4UrzDWIPtFQKlZgsDrFTiNI6qenOARdGbTTT/ALvNyN+wTYHyVj+URnZlYq1weYG/ux29rwB98ZT33UwYYXi4dQr+NeTbun9R5Qkx0W1JVqutgD13b0udYkmzHMN+vP5irfDzbOhDL1H96R3Tz2XeGIrWkTJh2h6XhCLq7ewixxDD50vwuGT1FgfQ7GK58Oc845joHGqJMv6UBPUxXVeMO2g0HlEtcHY7mFMopUv6tT5mACkKu55n0ifTYaQLnT84sg6qPDp7D+zDEwsed/tCAizZajaI9olFTDbJaGA1lj6FjsQ9Tpr6f2IcVs0kJulY9RKQb3PT+sWXe6aw1IlR3XUrtKZZerEWHoSAfsTHsSax42/pHnxTyTS+2DRQuSx3JJ9ybw2yRdYfg01PqX5hmtWUHtex6R8s7bs+iTpUUs2TeJdFNVNxEyppkRc28QqSdc6W9DYGHyHARUlbLI/pFnT18oaGB6RNXZlsfLQ/ETgiNscp6Np99oSdF1fRaTMalym0DC/MbfHOI+MYGtRefJsJ27KNFm2G/k1ra89j1HFRIlzEIt4hvp9xELDappZza259ARofyhU6/Q3JWl0yFQs6gm1rG2uhvsdOUJlZrwW1lAlQpmoP0lhmA/XHX+L84GaRPE1uRO/9IqKrscnfQYUlUwlSz+6t/gXir4jqi0ogX6/GsSqA5pCgnYkfe/8AMRBrJd7jrcR7mN7QT/R4mRVJoEmrWHMxH/Htff4jmautjuNIZZYyEWErEX84nSMWHMRTSJusT1VDDES6jJM6RWTqUqdDf++kTBh4P0m0cNRPyPxAKyF+JZdjaHGxSYRYm484+TaVhuIYMnyMIYxUKGEQpE15TXU/0ixZIjTpV4QwgwXiCx3yE731RvUcvWCYV8lwC/gPUeJT6ERmFiDE+ixR5exMCYmj0q6AixAIPI6iKWt4Vp31UGWf3NB/pOnxaLyFGZoAtZwnUL/lsswf6G+Dp94H5qhHZJiZZmlwwuQNeXQ9Y1qPNXbnPYYpdWKkILFSQR7iFrY7DSbhyE3Ga3JFNgDc3OvtESooHB0IUcs25jNML4tqUIzN3gH7d83sw/neNBwPEJ0+naolp+jQ+O5F1899RGbg10Uuhtp7gkZGNtGtc2+P71jsPoOn2jta8MNWK638IJVvjf3iOKi+ltPPeGrA+vMSCDhRKSZmltNlNOv/AJeYd4AB+ze/OBasnrKRph2UX9TyHubQL8FYiUr5MwnUvqfNt/uY1xPV7GeRbKjc/wDZ+XyzD3/rAzjdSJczu5M8Iy/WSAwv+zsdo+cR0FXKmzJudlDG4KsVB+DA/Q4VOmnwKWOpNtTrzh5/K/JHTovB4/45b90S53ElTmyK6tpqSmvrpaIdTgzzCZjPMudcwtv1ttaKziNp1JMDrYONCrC4seRHSK6XxtVNMlr3iSZeZcxRLAC+tyxYgRyLFfKO5ZUlyi+Y5yspifD9dtLkcheJdfQyJQDEsqNpZ9bHkQbbb/EXGFYIQ3eXGutz4g19b+cQsTlrWzu7ucku+rHKGOzNfoLWH/WM9E4r7NVJdLr7ID07Kt0s8v5t/SHMNnqXynNlbcdPOLvAMOyIUa5Ckjqbbj13iWcHksCZfvlOoPQjl7xOrFaRx+ASWt1zeRJ0MU1PWZJpVtZT788rbFh5dR/Zs6Cc1OzLMu0o6nmVPNrcxbceXzxic+kmSzMlz5JUC9w66eovdYK4+IN2/lySqWVOlN+j1TcHlY9D0gW4g4kmSa4SlSVlcoXLBi12GuzADa+3OKWm4wqJJdZUxTLJOVXAYL5rzHW20DOK1zO/eM2Zy1y3O8a44K1wZ5punybtSsAptaxsw9wIarUuIBeD+0CnlUwl1RmZ0JC5Ez5lvdddgRe3sIv6bj2mmozy6ee4U65yiXHMgDNHoxnCEeTz2pTlxyUuJyrTGHv86mIhi4x6slz2WbKTKpUCxIN+YOg6HbyitCQn2ZkbLD0p7f8ASPjoeUcFDCAnSqoiJcutimW8SZNz1gCi1/FDmBHa5DESXRuRpEmThzQCo+tQyzyhlsJWCTB+GJs42uq25t/QQTUnA0sf5k128lAUfe5idkPWSMybBUj5L4az/SGb+EFvyjaKXh+ml/TKUnq3jP8AzRZKoGgFh5QtkPVn2FChRJYo8wdtLXxKYegAj0/HlvtbH/eE+/UQIaA2nO5ja+EpPd8Pz32zlv6Rico6RuuKjueHZSgfUBf3MHsf+pkAxGbKN0cjy3U+x0jYuEOEnrKKXUd4qTGvplOQ2Oh3uPvGIvc6R6r7PqQysPp0IscgPzrA0KzFO0jCJ1KiS5oADNe4NwwA0+/XpAThUzLOlno6n7xt3b/S3pZUy30vb5jBw1jeKiJnpnjBc9PIbcED8oj8IFZfevb6Uhjhyr/F4RLbdkFj/wAOkQ5NYJdPO6sAo944snxy2d2L5YdQJ42kGZKmz2+otf2jNC1zGr8WJbD5rnYWHuYyBG1jTxrq2R5VXSNT7O3b/D6wlmIUAKCSQt98o5e0S8FxyhlywZjlHUAFcrm5HMZQbiOOyimM2jrpY/ZB+LxnuJNaYR00jocUzmjNx6NCTtCpMxWYk1U1ImLqTrzTcf3tErC+IaafUSpdHNfvJjAN4HUhb3bMWFjp6xkFQ8aD2D4b3mIGZbSWt/cxm8UbL/NKjVu0XAlFBPeWWDBDzG3PlePMevWPVfaiG/w2fla3h+3MR5XXnFJJEbN9nEi+U+sfZmw9YQPhjljoIsk4Ig77OqMzknIP2ST5ACAPNGk9jlcVmTpQTMHltc/s2B1iMkdlRcJauyPw7VZkeUTqhNvS+n/yPxFsiGBHB65JFU7TL5CWVrC5Gpsbc9fzi8mcaSgbSadj+9NYD3yrf841TMpRdl1LomOwJiVLwo2uxsPOwHyYBKzjOrckCYJa9Jahfubn7wNV9ZMmG7zHc/vszfmYNidWbngmArU37grMy6EqylQeha9vaJHF2C/gKRqk5GZbALra56mLXsNoBLw1G0u5LGGu3hyMNNubreJ2K1MjwziyonTpYdlVSwBVFyi3qbn7xqXc3dW5D+cYRg839JL/AIh+cb/RrdPO4/KObPy0dni8JhbwvK8LN1i9iJhkjJLUeUS41gqVGGSVybFChQoogUKFCgAUeX+17/xCf7R6gjzh29YR3NWJoOk0XI6EQDRnNItyF6kfnHoXj2plyMHlSnRmLIoW3I2vrGE8I0Bm1EsaABlJJ0AAMeiO010FAosGFhY+g5Qw9UedsOJaolqQQC6jbzj1/h8vLKRRyVR9o879n+EGpxCUSoshzt5AbXj0cSAPIQMAV7UZMtsOnd4CQBcW1IPIx5aZ49UcRY7L7p1Khla6i+oPXSMYxvgcuSyIUZhmUfqmM1limaLDJqwp7C8UQ09RIdgLeIA9DvHWLLfY6ZvtAfwNwtVJVFGDIrIwLDbbSCx2CyyrEZluN9yIw8n5U0dHi/FtMHu0SXUrJlozL3DjMFX6iQNzGX5h8Qc45Vfi2DiawWWpBXzHIRX4Hww9U36NTlB1O0dGPhI5sj+TDvgavFLg86dJBaa7ZWuNB0jMa0sWLMBrrGvYlikmnoTQy5LIbWZiNzzYRmNSgKsqy2Y/tWNhGlqjOgcmG5jcf/5+aSkuaCQJrEb8x5RkeGYM82dLlhTZmANtdL6x6Rwjs+ppORkBDCxvc7iJGCfb7jDpJlyEJCtfP/IRiFBQzJ57uShdjyAjZe3XGUYS6ZVBa92NtR5Qz2UYSsrvqoL4VlnXobXtABitXKZCUYWZdCOhhnNpEnGqjvJ81/2nY/eIIihHd403sTnWmVI6yW/KMwgz7M6wy5s6xsTJcfaEMpqoXdv4j+cc08sk2A1OkOSJbTJmVVLMToBqSYLOBMMCVv8AvJCZL+Ft78tIBkXiXhaXTUcubc961rg+esB+HUTTpqyxuxtGp9rbDJLAOxvaKDsswgzKkzSvhli/udoCDdezmh/D0aSL3KbnreKntvpy2GPbkwMEXDL/AFD3j5x1h/f0M+X1QkeohDZ5JoCQ6m+xH5x6K4eBdVfrltGBYVhLPOSXbUsBr6x6SwLC5iGUGsEQAWHOMssbaN8EtUw0lbD0jqFCjUwFChQoAFChQoAFHn7tE4drqqtZ5iju72S50Cjyjf3awJgMxq7gnzgY0zMeH+zSeHUpOQAnUEfaNK7RMHd8PEpNWULtptvaGMDdlmCCrHZWaVe9tNoAvkzXsewhqec7TQAziw6+8a863BB5xnuFyis1T5xoanSALKWdhctQfAuhvqLiBnHMZBJXu7kaA8oNsTF5Z1gFraU94YzljtUuDWGVJ21ZYYTORcgtdmGvlFBxX2ZiqmmZKnNLLbrrlv1gpw6h8QJ5ReSfqhqKjwhOTlywU4V7PpciR3c9Umt1tv6w2aJZRKogQX2AtB9A9jaXeLMitwzBhOvnswG1wDFRxNgiy0KgKoOhAAF4K8DUh/aPnF9Lnliw1BgAzTh7DFlTUKb3EbTLOg9Iy6lklXB840bCqjOg6jSAAP4u4Mp5k7v3Ukk66xdcOUkpZbSFRQhGo630MSuIZZOXpDGCShdtdbQAZF2jdmI/EqaQBUb6tdAb6mG+Iuyde6lGRMUNk8QN/E3WNLqJZzG+usNlDDA89YrwXVyD4pZYdV1iXw7QzKdjNZSGsQFYaMDoY3nufKPsrBpU1gXlqxUG1xCGmCnZfhaTJwnmWqFTppob7mL3jLg6lmzmnKXWdv4diRFlIkBPpGW3TSLCgGZ/EL35wddA3btmL1vD1VUTx3vhQG2pvp1jW+F+E5FJTt3bFi4BYnrHONUQGo6xOwNtCp5iAQ/gy2mesXdVJzoyHTMCPmKyjl2cRbTTYE+UAHnTivhudR1atLDTFBvmA842jhysaZJRn3sN4jsoZtRcXi2lKLabcomRUS1Q6R1DclrgQ5FEihQoUAChQoUAHMzYwOVki6mCN9jFZPl6QAU2HUv6RfWCPEJWZbRCppVmBi0mjSAAWNHYwUUxuo9IgTpWsT6b6RAAzXi4Aigm0l394IaqISStYAO6WTaH2SxhxVjt12iSrO5bXEVmIyrteLCXDdUl7RSJZEw6XZofxNLgR9p1sYdqReAASnUXj94v8IXKSOsfJ0jURIkJYwAO163QxXUUqzCLaftEaUmogAqqym8ZhtaXQmLiqleKOUlaGACoFPE3D5FifQw+JUSKeXa8AFKZGsOyZdiDEvu46EuACHicq63hmkW1jFhVpdYYlJpABMlDUGJNafAYjyNhDtRMusAFMZOkTZK2AEJk0h8JtEsqI/SnlEiGZIh6GhPsUKFChiP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317" name="Picture 29" descr="http://srfm.com/wp-content/uploads/2011/11/shutterstock_62093011.jpg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4351413" y="5878286"/>
            <a:ext cx="801158" cy="490309"/>
          </a:xfrm>
          <a:prstGeom prst="rect">
            <a:avLst/>
          </a:prstGeom>
          <a:noFill/>
        </p:spPr>
      </p:pic>
      <p:sp>
        <p:nvSpPr>
          <p:cNvPr id="12319" name="AutoShape 31" descr="Image result for hir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321" name="Picture 33" descr="Image result for hiring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3773944" y="5341259"/>
            <a:ext cx="739999" cy="455384"/>
          </a:xfrm>
          <a:prstGeom prst="rect">
            <a:avLst/>
          </a:prstGeom>
          <a:noFill/>
        </p:spPr>
      </p:pic>
      <p:sp>
        <p:nvSpPr>
          <p:cNvPr id="12323" name="AutoShape 35" descr="Image result for risk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325" name="Picture 37" descr="http://sr.photos3.fotosearch.com/bthumb/CSP/CSP991/k11909565.jpg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6251575" y="5966131"/>
            <a:ext cx="657225" cy="4639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28" name="Straight Connector 27"/>
          <p:cNvCxnSpPr/>
          <p:nvPr/>
        </p:nvCxnSpPr>
        <p:spPr>
          <a:xfrm>
            <a:off x="468947" y="1676616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Analytics in the Hospitality Industry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74754" y="1217086"/>
            <a:ext cx="11572407" cy="416842"/>
          </a:xfrm>
        </p:spPr>
        <p:txBody>
          <a:bodyPr>
            <a:noAutofit/>
          </a:bodyPr>
          <a:lstStyle/>
          <a:p>
            <a:r>
              <a:rPr lang="en-IN" dirty="0" smtClean="0"/>
              <a:t>International chains have a fair lead in using cutting-edge analytics to enhance guest experience &amp; revenue</a:t>
            </a:r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 rot="16200000" flipH="1">
            <a:off x="3919927" y="4144781"/>
            <a:ext cx="4332161" cy="2998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" name="AutoShape 4" descr="Image result for starwood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>
            <a:off x="614597" y="4212235"/>
            <a:ext cx="11242623" cy="1499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8" name="Picture 6" descr="https://encrypted-tbn1.gstatic.com/images?q=tbn:ANd9GcTiiO6EefBWngm7sScLaDpkXyBo8z2AW1_LqrSvyVRmVJQ-Ap2Eq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0431" y="4286560"/>
            <a:ext cx="1268490" cy="459105"/>
          </a:xfrm>
          <a:prstGeom prst="rect">
            <a:avLst/>
          </a:prstGeom>
          <a:noFill/>
        </p:spPr>
      </p:pic>
      <p:sp>
        <p:nvSpPr>
          <p:cNvPr id="16" name="Rectangle 15"/>
          <p:cNvSpPr/>
          <p:nvPr/>
        </p:nvSpPr>
        <p:spPr>
          <a:xfrm>
            <a:off x="1784330" y="4298410"/>
            <a:ext cx="4136785" cy="3635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algn="ctr" fontAlgn="b"/>
            <a:r>
              <a:rPr lang="en-IN" sz="1400" b="1" u="sng" dirty="0" smtClean="0">
                <a:solidFill>
                  <a:schemeClr val="tx2">
                    <a:lumMod val="50000"/>
                  </a:schemeClr>
                </a:solidFill>
              </a:rPr>
              <a:t>Target “Right People” at the “Right Time”</a:t>
            </a:r>
          </a:p>
          <a:p>
            <a:pPr marL="171450" indent="-171450" algn="ctr" fontAlgn="b">
              <a:buFont typeface="Arial" pitchFamily="34" charset="0"/>
              <a:buChar char="•"/>
            </a:pPr>
            <a:endParaRPr lang="en-IN" sz="1400" b="1" u="sng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171450" indent="-171450" algn="ctr" fontAlgn="b">
              <a:buFont typeface="Arial" pitchFamily="34" charset="0"/>
              <a:buChar char="•"/>
            </a:pPr>
            <a:endParaRPr lang="en-IN" sz="1400" b="1" u="sng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171450" indent="-171450" algn="ctr" fontAlgn="b">
              <a:buFont typeface="Arial" pitchFamily="34" charset="0"/>
              <a:buChar char="•"/>
            </a:pPr>
            <a:endParaRPr lang="en-IN" sz="1400" b="1" u="sng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080" name="AutoShape 8" descr="Image result for flight inform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2" name="AutoShape 10" descr="Image result for flight inform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86" name="Picture 14" descr="https://cdn1.iconfinder.com/data/icons/traveling-2/509/1-51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9564" y="6160451"/>
            <a:ext cx="599607" cy="419257"/>
          </a:xfrm>
          <a:prstGeom prst="rect">
            <a:avLst/>
          </a:prstGeom>
          <a:noFill/>
        </p:spPr>
      </p:pic>
      <p:sp>
        <p:nvSpPr>
          <p:cNvPr id="3088" name="AutoShape 16" descr="Image result for calendar ma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90" name="Picture 18" descr="http://images.techhive.com/images/article/2014/02/calendar-icon-100246824-gallery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86942" y="6085996"/>
            <a:ext cx="566720" cy="549718"/>
          </a:xfrm>
          <a:prstGeom prst="rect">
            <a:avLst/>
          </a:prstGeom>
          <a:noFill/>
        </p:spPr>
      </p:pic>
      <p:sp>
        <p:nvSpPr>
          <p:cNvPr id="3092" name="AutoShape 20" descr="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4" name="AutoShape 22" descr="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137917" y="4900509"/>
            <a:ext cx="2620273" cy="11705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fontAlgn="b"/>
            <a:r>
              <a:rPr lang="en-IN" sz="1400" b="1" dirty="0" smtClean="0">
                <a:solidFill>
                  <a:schemeClr val="tx1"/>
                </a:solidFill>
              </a:rPr>
              <a:t>Big Data Mined </a:t>
            </a:r>
          </a:p>
          <a:p>
            <a:pPr marL="171450" indent="-171450" fontAlgn="b"/>
            <a:endParaRPr lang="en-IN" sz="500" dirty="0" smtClean="0">
              <a:solidFill>
                <a:schemeClr val="tx1"/>
              </a:solidFill>
            </a:endParaRPr>
          </a:p>
          <a:p>
            <a:pPr marL="171450" indent="-171450" fontAlgn="b"/>
            <a:r>
              <a:rPr lang="en-IN" sz="1400" dirty="0" smtClean="0">
                <a:solidFill>
                  <a:schemeClr val="tx1"/>
                </a:solidFill>
              </a:rPr>
              <a:t>Who :    First class travellers </a:t>
            </a:r>
          </a:p>
          <a:p>
            <a:pPr marL="171450" indent="-171450" fontAlgn="b"/>
            <a:r>
              <a:rPr lang="en-IN" sz="1400" dirty="0" smtClean="0">
                <a:solidFill>
                  <a:schemeClr val="tx1"/>
                </a:solidFill>
              </a:rPr>
              <a:t>		     to Boston</a:t>
            </a:r>
          </a:p>
          <a:p>
            <a:pPr marL="171450" indent="-171450" fontAlgn="b"/>
            <a:r>
              <a:rPr lang="en-IN" sz="1400" dirty="0" smtClean="0">
                <a:solidFill>
                  <a:schemeClr val="tx1"/>
                </a:solidFill>
              </a:rPr>
              <a:t>When :  This weekend</a:t>
            </a:r>
          </a:p>
          <a:p>
            <a:pPr marL="171450" indent="-171450" fontAlgn="b">
              <a:buFont typeface="Arial" pitchFamily="34" charset="0"/>
              <a:buChar char="•"/>
            </a:pPr>
            <a:endParaRPr lang="en-IN" sz="1400" dirty="0" smtClean="0">
              <a:solidFill>
                <a:schemeClr val="tx1"/>
              </a:solidFill>
            </a:endParaRPr>
          </a:p>
          <a:p>
            <a:pPr marL="171450" indent="-171450" fontAlgn="b">
              <a:buFont typeface="Arial" pitchFamily="34" charset="0"/>
              <a:buChar char="•"/>
            </a:pPr>
            <a:endParaRPr lang="en-IN" sz="1400" dirty="0" smtClean="0">
              <a:solidFill>
                <a:schemeClr val="tx1"/>
              </a:solidFill>
            </a:endParaRPr>
          </a:p>
          <a:p>
            <a:pPr marL="171450" indent="-171450" fontAlgn="b">
              <a:buFont typeface="Arial" pitchFamily="34" charset="0"/>
              <a:buChar char="•"/>
            </a:pPr>
            <a:endParaRPr lang="en-IN" sz="1400" dirty="0" smtClean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78111" y="4888018"/>
            <a:ext cx="3162925" cy="11680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 fontAlgn="b"/>
            <a:r>
              <a:rPr lang="en-IN" sz="1400" b="1" dirty="0" smtClean="0">
                <a:solidFill>
                  <a:schemeClr val="tx1"/>
                </a:solidFill>
              </a:rPr>
              <a:t>Targeted Customer Action </a:t>
            </a:r>
          </a:p>
          <a:p>
            <a:pPr fontAlgn="b"/>
            <a:endParaRPr lang="en-IN" sz="500" dirty="0" smtClean="0">
              <a:solidFill>
                <a:schemeClr val="tx1"/>
              </a:solidFill>
            </a:endParaRPr>
          </a:p>
          <a:p>
            <a:pPr fontAlgn="b"/>
            <a:r>
              <a:rPr lang="en-IN" sz="1400" dirty="0" smtClean="0">
                <a:solidFill>
                  <a:schemeClr val="tx1"/>
                </a:solidFill>
              </a:rPr>
              <a:t>Activate </a:t>
            </a:r>
            <a:r>
              <a:rPr lang="en-IN" sz="1400" dirty="0" err="1" smtClean="0">
                <a:solidFill>
                  <a:schemeClr val="tx1"/>
                </a:solidFill>
              </a:rPr>
              <a:t>curated</a:t>
            </a:r>
            <a:r>
              <a:rPr lang="en-IN" sz="1400" dirty="0" smtClean="0">
                <a:solidFill>
                  <a:schemeClr val="tx1"/>
                </a:solidFill>
              </a:rPr>
              <a:t> profiles across media channels – </a:t>
            </a:r>
            <a:r>
              <a:rPr lang="en-IN" sz="1400" dirty="0" err="1" smtClean="0">
                <a:solidFill>
                  <a:schemeClr val="tx1"/>
                </a:solidFill>
              </a:rPr>
              <a:t>facebook</a:t>
            </a:r>
            <a:r>
              <a:rPr lang="en-IN" sz="1400" dirty="0" smtClean="0">
                <a:solidFill>
                  <a:schemeClr val="tx1"/>
                </a:solidFill>
              </a:rPr>
              <a:t>, boarding passes, display ads etc.</a:t>
            </a:r>
          </a:p>
        </p:txBody>
      </p:sp>
      <p:sp>
        <p:nvSpPr>
          <p:cNvPr id="3096" name="AutoShape 24" descr="Image result for facebook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100" name="Picture 28" descr="http://www.cinema-film.rs/Facebook-Logo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09515" y="6216394"/>
            <a:ext cx="427220" cy="427220"/>
          </a:xfrm>
          <a:prstGeom prst="rect">
            <a:avLst/>
          </a:prstGeom>
          <a:noFill/>
        </p:spPr>
      </p:pic>
      <p:pic>
        <p:nvPicPr>
          <p:cNvPr id="3104" name="Picture 32" descr="http://thumbs.dreamstime.com/z/boarding-pass-first-class-golden-vector-eps-39250946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491048" y="6176512"/>
            <a:ext cx="1319948" cy="560717"/>
          </a:xfrm>
          <a:prstGeom prst="rect">
            <a:avLst/>
          </a:prstGeom>
          <a:noFill/>
        </p:spPr>
      </p:pic>
      <p:pic>
        <p:nvPicPr>
          <p:cNvPr id="3106" name="Picture 34" descr="http://images.dailytech.com/nimage/Display_Ads_MatrixAdvertising_Wide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993137" y="6188674"/>
            <a:ext cx="707625" cy="482184"/>
          </a:xfrm>
          <a:prstGeom prst="rect">
            <a:avLst/>
          </a:prstGeom>
          <a:noFill/>
        </p:spPr>
      </p:pic>
      <p:pic>
        <p:nvPicPr>
          <p:cNvPr id="3108" name="Picture 36" descr="http://www.outcome3.com/sites/default/files/banner-gears2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584733" y="4811843"/>
            <a:ext cx="406273" cy="479696"/>
          </a:xfrm>
          <a:prstGeom prst="rect">
            <a:avLst/>
          </a:prstGeom>
          <a:noFill/>
        </p:spPr>
      </p:pic>
      <p:cxnSp>
        <p:nvCxnSpPr>
          <p:cNvPr id="37" name="Straight Arrow Connector 36"/>
          <p:cNvCxnSpPr/>
          <p:nvPr/>
        </p:nvCxnSpPr>
        <p:spPr>
          <a:xfrm flipV="1">
            <a:off x="1858779" y="5006713"/>
            <a:ext cx="494675" cy="1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3075469" y="5054183"/>
            <a:ext cx="494675" cy="1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12" name="Picture 40" descr="http://cdn-www.xda-developers.com/wp-content/uploads/2015/01/Marriott.jp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261097" y="4274212"/>
            <a:ext cx="1013657" cy="490577"/>
          </a:xfrm>
          <a:prstGeom prst="rect">
            <a:avLst/>
          </a:prstGeom>
          <a:noFill/>
        </p:spPr>
      </p:pic>
      <p:sp>
        <p:nvSpPr>
          <p:cNvPr id="44" name="Rectangle 43"/>
          <p:cNvSpPr/>
          <p:nvPr/>
        </p:nvSpPr>
        <p:spPr>
          <a:xfrm>
            <a:off x="7313682" y="4268666"/>
            <a:ext cx="4389119" cy="465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algn="ctr" fontAlgn="b"/>
            <a:r>
              <a:rPr lang="en-IN" sz="1400" b="1" u="sng" dirty="0" smtClean="0">
                <a:solidFill>
                  <a:schemeClr val="tx2">
                    <a:lumMod val="50000"/>
                  </a:schemeClr>
                </a:solidFill>
              </a:rPr>
              <a:t>One Yield – Advanced Revenue Management</a:t>
            </a:r>
          </a:p>
          <a:p>
            <a:pPr marL="171450" indent="-171450" algn="ctr" fontAlgn="b"/>
            <a:r>
              <a:rPr lang="en-IN" sz="1400" b="1" u="sng" dirty="0" smtClean="0">
                <a:solidFill>
                  <a:schemeClr val="tx2">
                    <a:lumMod val="50000"/>
                  </a:schemeClr>
                </a:solidFill>
              </a:rPr>
              <a:t>“The Price is Right”</a:t>
            </a:r>
          </a:p>
          <a:p>
            <a:pPr marL="171450" indent="-171450" algn="ctr" fontAlgn="b">
              <a:buFont typeface="Arial" pitchFamily="34" charset="0"/>
              <a:buChar char="•"/>
            </a:pPr>
            <a:endParaRPr lang="en-IN" sz="1400" b="1" u="sng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171450" indent="-171450" algn="ctr" fontAlgn="b">
              <a:buFont typeface="Arial" pitchFamily="34" charset="0"/>
              <a:buChar char="•"/>
            </a:pPr>
            <a:endParaRPr lang="en-IN" sz="1400" b="1" u="sng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171450" indent="-171450" algn="ctr" fontAlgn="b">
              <a:buFont typeface="Arial" pitchFamily="34" charset="0"/>
              <a:buChar char="•"/>
            </a:pPr>
            <a:endParaRPr lang="en-IN" sz="1400" b="1" u="sng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391315" y="4798075"/>
            <a:ext cx="4521523" cy="18425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fontAlgn="b">
              <a:buFont typeface="Arial" pitchFamily="34" charset="0"/>
              <a:buChar char="•"/>
            </a:pPr>
            <a:r>
              <a:rPr lang="en-IN" sz="1400" dirty="0" smtClean="0">
                <a:solidFill>
                  <a:schemeClr val="tx1"/>
                </a:solidFill>
              </a:rPr>
              <a:t>Pioneer in Revenue Management  Systems – 25 Year history</a:t>
            </a:r>
          </a:p>
          <a:p>
            <a:pPr marL="171450" indent="-171450" fontAlgn="b">
              <a:buFont typeface="Arial" pitchFamily="34" charset="0"/>
              <a:buChar char="•"/>
            </a:pPr>
            <a:r>
              <a:rPr lang="en-IN" sz="1400" dirty="0" smtClean="0">
                <a:solidFill>
                  <a:schemeClr val="tx1"/>
                </a:solidFill>
              </a:rPr>
              <a:t>Made accessible over the internet, prices available on all channels</a:t>
            </a:r>
          </a:p>
          <a:p>
            <a:pPr marL="171450" indent="-171450" fontAlgn="b">
              <a:buFont typeface="Arial" pitchFamily="34" charset="0"/>
              <a:buChar char="•"/>
            </a:pPr>
            <a:r>
              <a:rPr lang="en-IN" sz="1400" dirty="0" smtClean="0">
                <a:solidFill>
                  <a:schemeClr val="tx1"/>
                </a:solidFill>
              </a:rPr>
              <a:t>Improved algorithms</a:t>
            </a:r>
          </a:p>
          <a:p>
            <a:pPr marL="171450" indent="-171450" fontAlgn="b">
              <a:buFont typeface="Arial" pitchFamily="34" charset="0"/>
              <a:buChar char="•"/>
            </a:pPr>
            <a:r>
              <a:rPr lang="en-IN" sz="1400" dirty="0" smtClean="0">
                <a:solidFill>
                  <a:schemeClr val="tx1"/>
                </a:solidFill>
              </a:rPr>
              <a:t>Faster system, prices updated regularly</a:t>
            </a:r>
          </a:p>
          <a:p>
            <a:pPr marL="171450" indent="-171450" fontAlgn="b">
              <a:buFont typeface="Arial" pitchFamily="34" charset="0"/>
              <a:buChar char="•"/>
            </a:pPr>
            <a:r>
              <a:rPr lang="en-IN" sz="1400" dirty="0" smtClean="0">
                <a:solidFill>
                  <a:schemeClr val="tx1"/>
                </a:solidFill>
              </a:rPr>
              <a:t>Extended to group pricing,  restaurants &amp; banquets</a:t>
            </a:r>
          </a:p>
        </p:txBody>
      </p:sp>
      <p:pic>
        <p:nvPicPr>
          <p:cNvPr id="3114" name="Picture 42" descr="http://www.totalteam.co.nz/packages/totalteam/website/img/3T/Connectivity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0828572" y="5231521"/>
            <a:ext cx="1103599" cy="377299"/>
          </a:xfrm>
          <a:prstGeom prst="rect">
            <a:avLst/>
          </a:prstGeom>
          <a:noFill/>
        </p:spPr>
      </p:pic>
      <p:pic>
        <p:nvPicPr>
          <p:cNvPr id="47" name="Picture 36" descr="http://www.outcome3.com/sites/default/files/banner-gears2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0322156" y="5518879"/>
            <a:ext cx="406273" cy="479696"/>
          </a:xfrm>
          <a:prstGeom prst="rect">
            <a:avLst/>
          </a:prstGeom>
          <a:noFill/>
        </p:spPr>
      </p:pic>
      <p:sp>
        <p:nvSpPr>
          <p:cNvPr id="3116" name="AutoShape 44" descr="Image result for restaurants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0" name="AutoShape 48" descr="Image result for banquet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122" name="Picture 50" descr="http://images.clipartpanda.com/banquet-clipart-banquet.gif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10869103" y="5795038"/>
            <a:ext cx="958135" cy="650734"/>
          </a:xfrm>
          <a:prstGeom prst="rect">
            <a:avLst/>
          </a:prstGeom>
          <a:noFill/>
        </p:spPr>
      </p:pic>
      <p:pic>
        <p:nvPicPr>
          <p:cNvPr id="3124" name="Picture 52" descr="http://www.wns.com/Portals/0/ManageArticle/832/BigImages/004-price-optimization.jpg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10948493" y="4687298"/>
            <a:ext cx="803795" cy="439338"/>
          </a:xfrm>
          <a:prstGeom prst="rect">
            <a:avLst/>
          </a:prstGeom>
          <a:noFill/>
        </p:spPr>
      </p:pic>
      <p:pic>
        <p:nvPicPr>
          <p:cNvPr id="3128" name="Picture 56" descr="InterContinental Hotels Group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6423727" y="2009360"/>
            <a:ext cx="667186" cy="481857"/>
          </a:xfrm>
          <a:prstGeom prst="rect">
            <a:avLst/>
          </a:prstGeom>
          <a:noFill/>
        </p:spPr>
      </p:pic>
      <p:sp>
        <p:nvSpPr>
          <p:cNvPr id="55" name="Rectangle 54"/>
          <p:cNvSpPr/>
          <p:nvPr/>
        </p:nvSpPr>
        <p:spPr>
          <a:xfrm>
            <a:off x="7260217" y="2082373"/>
            <a:ext cx="4136785" cy="3635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algn="ctr" fontAlgn="b"/>
            <a:r>
              <a:rPr lang="en-IN" sz="1400" b="1" u="sng" dirty="0" smtClean="0">
                <a:solidFill>
                  <a:schemeClr val="tx2">
                    <a:lumMod val="50000"/>
                  </a:schemeClr>
                </a:solidFill>
              </a:rPr>
              <a:t>Personalized Web Experience</a:t>
            </a:r>
          </a:p>
          <a:p>
            <a:pPr marL="171450" indent="-171450" algn="ctr" fontAlgn="b">
              <a:buFont typeface="Arial" pitchFamily="34" charset="0"/>
              <a:buChar char="•"/>
            </a:pPr>
            <a:endParaRPr lang="en-IN" sz="1400" b="1" u="sng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171450" indent="-171450" algn="ctr" fontAlgn="b">
              <a:buFont typeface="Arial" pitchFamily="34" charset="0"/>
              <a:buChar char="•"/>
            </a:pPr>
            <a:endParaRPr lang="en-IN" sz="1400" b="1" u="sng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171450" indent="-171450" algn="ctr" fontAlgn="b">
              <a:buFont typeface="Arial" pitchFamily="34" charset="0"/>
              <a:buChar char="•"/>
            </a:pPr>
            <a:endParaRPr lang="en-IN" sz="1400" b="1" u="sng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897776" y="2310939"/>
            <a:ext cx="4987636" cy="1778924"/>
            <a:chOff x="537667" y="1786180"/>
            <a:chExt cx="5287281" cy="4119842"/>
          </a:xfrm>
          <a:solidFill>
            <a:schemeClr val="bg1"/>
          </a:solidFill>
        </p:grpSpPr>
        <p:sp>
          <p:nvSpPr>
            <p:cNvPr id="58" name="Rectangle 57"/>
            <p:cNvSpPr/>
            <p:nvPr/>
          </p:nvSpPr>
          <p:spPr>
            <a:xfrm>
              <a:off x="1071879" y="1786180"/>
              <a:ext cx="4204107" cy="518871"/>
            </a:xfrm>
            <a:prstGeom prst="rect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Uniform </a:t>
              </a:r>
              <a:r>
                <a:rPr lang="en-US" sz="1200" dirty="0" smtClean="0">
                  <a:solidFill>
                    <a:schemeClr val="tx1"/>
                  </a:solidFill>
                </a:rPr>
                <a:t>guest profile across </a:t>
              </a:r>
              <a:r>
                <a:rPr lang="en-US" sz="1200" dirty="0">
                  <a:solidFill>
                    <a:schemeClr val="tx1"/>
                  </a:solidFill>
                </a:rPr>
                <a:t>all </a:t>
              </a:r>
              <a:r>
                <a:rPr lang="en-US" sz="1200" dirty="0" smtClean="0">
                  <a:solidFill>
                    <a:schemeClr val="tx1"/>
                  </a:solidFill>
                </a:rPr>
                <a:t>touch points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 rot="16200000">
              <a:off x="-718547" y="3574653"/>
              <a:ext cx="3044691" cy="532263"/>
            </a:xfrm>
            <a:prstGeom prst="rect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Tiered guest valuation system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 rot="16200000">
              <a:off x="4036471" y="3574655"/>
              <a:ext cx="3044691" cy="532263"/>
            </a:xfrm>
            <a:prstGeom prst="rect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Predictive Loyalty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071879" y="5331393"/>
              <a:ext cx="4220803" cy="574629"/>
            </a:xfrm>
            <a:prstGeom prst="rect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Guest engagement including social media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64" name="Picture 4" descr="http://upload.wikimedia.org/wikipedia/en/thumb/3/39/HiltonHotelsLogo.svg/1280px-HiltonHotelsLogo.svg.png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81138" y="1919943"/>
            <a:ext cx="685022" cy="523400"/>
          </a:xfrm>
          <a:prstGeom prst="rect">
            <a:avLst/>
          </a:prstGeom>
          <a:noFill/>
        </p:spPr>
      </p:pic>
      <p:sp>
        <p:nvSpPr>
          <p:cNvPr id="65" name="Rectangle 64"/>
          <p:cNvSpPr/>
          <p:nvPr/>
        </p:nvSpPr>
        <p:spPr>
          <a:xfrm>
            <a:off x="1384600" y="1943145"/>
            <a:ext cx="4136785" cy="3635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algn="ctr" fontAlgn="b"/>
            <a:r>
              <a:rPr lang="en-IN" sz="1400" b="1" u="sng" dirty="0" smtClean="0">
                <a:solidFill>
                  <a:schemeClr val="tx2">
                    <a:lumMod val="50000"/>
                  </a:schemeClr>
                </a:solidFill>
              </a:rPr>
              <a:t>Unique Guest Experience – Omni-channel</a:t>
            </a:r>
          </a:p>
          <a:p>
            <a:pPr marL="171450" indent="-171450" algn="ctr" fontAlgn="b">
              <a:buFont typeface="Arial" pitchFamily="34" charset="0"/>
              <a:buChar char="•"/>
            </a:pPr>
            <a:endParaRPr lang="en-IN" sz="1400" b="1" u="sng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171450" indent="-171450" algn="ctr" fontAlgn="b">
              <a:buFont typeface="Arial" pitchFamily="34" charset="0"/>
              <a:buChar char="•"/>
            </a:pPr>
            <a:endParaRPr lang="en-IN" sz="1400" b="1" u="sng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171450" indent="-171450" algn="ctr" fontAlgn="b">
              <a:buFont typeface="Arial" pitchFamily="34" charset="0"/>
              <a:buChar char="•"/>
            </a:pPr>
            <a:endParaRPr lang="en-IN" sz="1400" b="1" u="sng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66" name="Straight Connector 65"/>
          <p:cNvCxnSpPr/>
          <p:nvPr/>
        </p:nvCxnSpPr>
        <p:spPr>
          <a:xfrm>
            <a:off x="468946" y="1795195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569365" y="2676697"/>
            <a:ext cx="1163757" cy="36576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Guest Profile Manager</a:t>
            </a:r>
            <a:endParaRPr lang="en-IN" sz="1200" dirty="0"/>
          </a:p>
        </p:txBody>
      </p:sp>
      <p:sp>
        <p:nvSpPr>
          <p:cNvPr id="50" name="Rounded Rectangle 49"/>
          <p:cNvSpPr/>
          <p:nvPr/>
        </p:nvSpPr>
        <p:spPr>
          <a:xfrm>
            <a:off x="3095100" y="2681107"/>
            <a:ext cx="828513" cy="34636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Online Profile</a:t>
            </a:r>
            <a:endParaRPr lang="en-IN" sz="1200" dirty="0"/>
          </a:p>
        </p:txBody>
      </p:sp>
      <p:sp>
        <p:nvSpPr>
          <p:cNvPr id="51" name="Rounded Rectangle 50"/>
          <p:cNvSpPr/>
          <p:nvPr/>
        </p:nvSpPr>
        <p:spPr>
          <a:xfrm>
            <a:off x="4168415" y="2667257"/>
            <a:ext cx="1091770" cy="39346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Pre-Arrival Welcome</a:t>
            </a:r>
            <a:endParaRPr lang="en-IN" sz="1200" dirty="0"/>
          </a:p>
        </p:txBody>
      </p:sp>
      <p:sp>
        <p:nvSpPr>
          <p:cNvPr id="52" name="Rounded Rectangle 51"/>
          <p:cNvSpPr/>
          <p:nvPr/>
        </p:nvSpPr>
        <p:spPr>
          <a:xfrm>
            <a:off x="4123113" y="3416523"/>
            <a:ext cx="1166557" cy="32420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Personalized Arrival</a:t>
            </a:r>
            <a:endParaRPr lang="en-IN" sz="1200" dirty="0"/>
          </a:p>
        </p:txBody>
      </p:sp>
      <p:sp>
        <p:nvSpPr>
          <p:cNvPr id="53" name="Rounded Rectangle 52"/>
          <p:cNvSpPr/>
          <p:nvPr/>
        </p:nvSpPr>
        <p:spPr>
          <a:xfrm>
            <a:off x="2942704" y="3402673"/>
            <a:ext cx="1152741" cy="33805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Personalized Stay</a:t>
            </a:r>
            <a:endParaRPr lang="en-IN" sz="1200" dirty="0"/>
          </a:p>
        </p:txBody>
      </p:sp>
      <p:sp>
        <p:nvSpPr>
          <p:cNvPr id="54" name="Rounded Rectangle 53"/>
          <p:cNvSpPr/>
          <p:nvPr/>
        </p:nvSpPr>
        <p:spPr>
          <a:xfrm>
            <a:off x="1429792" y="3408219"/>
            <a:ext cx="1463040" cy="33251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Post-stay</a:t>
            </a:r>
          </a:p>
          <a:p>
            <a:pPr algn="ctr"/>
            <a:r>
              <a:rPr lang="en-IN" sz="1200" dirty="0" smtClean="0"/>
              <a:t>Communication</a:t>
            </a:r>
            <a:endParaRPr lang="en-IN" sz="1200" dirty="0"/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2748112" y="3054448"/>
            <a:ext cx="324871" cy="3546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51" idx="2"/>
            <a:endCxn id="52" idx="0"/>
          </p:cNvCxnSpPr>
          <p:nvPr/>
        </p:nvCxnSpPr>
        <p:spPr>
          <a:xfrm rot="5400000">
            <a:off x="4532445" y="3234667"/>
            <a:ext cx="355803" cy="7908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54" idx="0"/>
            <a:endCxn id="49" idx="2"/>
          </p:cNvCxnSpPr>
          <p:nvPr/>
        </p:nvCxnSpPr>
        <p:spPr>
          <a:xfrm rot="16200000" flipV="1">
            <a:off x="1973398" y="3220305"/>
            <a:ext cx="365761" cy="10068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/>
          <p:cNvCxnSpPr/>
          <p:nvPr/>
        </p:nvCxnSpPr>
        <p:spPr>
          <a:xfrm rot="10800000">
            <a:off x="3882452" y="3312827"/>
            <a:ext cx="494676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Elbow Connector 84"/>
          <p:cNvCxnSpPr/>
          <p:nvPr/>
        </p:nvCxnSpPr>
        <p:spPr>
          <a:xfrm rot="10800000">
            <a:off x="2685752" y="3315327"/>
            <a:ext cx="494676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3889852" y="3086928"/>
            <a:ext cx="324871" cy="3546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/>
          <p:cNvGrpSpPr/>
          <p:nvPr/>
        </p:nvGrpSpPr>
        <p:grpSpPr>
          <a:xfrm>
            <a:off x="7377639" y="3053752"/>
            <a:ext cx="920972" cy="730457"/>
            <a:chOff x="1132114" y="2805578"/>
            <a:chExt cx="2192263" cy="2134571"/>
          </a:xfrm>
        </p:grpSpPr>
        <p:pic>
          <p:nvPicPr>
            <p:cNvPr id="90" name="Picture 2" descr="Image result for customer profiling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2114" y="2805578"/>
              <a:ext cx="2192263" cy="2134571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1" name="Oval 90"/>
            <p:cNvSpPr/>
            <p:nvPr/>
          </p:nvSpPr>
          <p:spPr>
            <a:xfrm>
              <a:off x="1819153" y="3409539"/>
              <a:ext cx="924048" cy="9447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92" name="Picture 14" descr="Image result for indian women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6859" y="3636201"/>
              <a:ext cx="815870" cy="543913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3" name="Rectangle 92"/>
          <p:cNvSpPr/>
          <p:nvPr/>
        </p:nvSpPr>
        <p:spPr>
          <a:xfrm>
            <a:off x="6291282" y="2521507"/>
            <a:ext cx="2438650" cy="722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"/>
            <a:r>
              <a:rPr lang="en-IN" sz="1400" dirty="0" smtClean="0">
                <a:solidFill>
                  <a:schemeClr val="tx1"/>
                </a:solidFill>
              </a:rPr>
              <a:t>Extensive customer data : Structured &amp; unstructured big data</a:t>
            </a:r>
          </a:p>
        </p:txBody>
      </p:sp>
      <p:cxnSp>
        <p:nvCxnSpPr>
          <p:cNvPr id="94" name="Straight Arrow Connector 93"/>
          <p:cNvCxnSpPr/>
          <p:nvPr/>
        </p:nvCxnSpPr>
        <p:spPr>
          <a:xfrm>
            <a:off x="8611197" y="2775525"/>
            <a:ext cx="324871" cy="3546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8910835" y="2518633"/>
            <a:ext cx="1630642" cy="722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"/>
            <a:r>
              <a:rPr lang="en-IN" sz="1400" dirty="0" smtClean="0">
                <a:solidFill>
                  <a:schemeClr val="tx1"/>
                </a:solidFill>
              </a:rPr>
              <a:t>Personalized web experience</a:t>
            </a:r>
          </a:p>
        </p:txBody>
      </p:sp>
      <p:pic>
        <p:nvPicPr>
          <p:cNvPr id="98" name="Picture 97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8774767" y="2967485"/>
            <a:ext cx="541762" cy="471794"/>
          </a:xfrm>
          <a:prstGeom prst="rect">
            <a:avLst/>
          </a:prstGeom>
        </p:spPr>
      </p:pic>
      <p:pic>
        <p:nvPicPr>
          <p:cNvPr id="99" name="Picture 98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9203215" y="3206150"/>
            <a:ext cx="541762" cy="471794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9631663" y="3375803"/>
            <a:ext cx="541762" cy="471794"/>
          </a:xfrm>
          <a:prstGeom prst="rect">
            <a:avLst/>
          </a:prstGeom>
        </p:spPr>
      </p:pic>
      <p:sp>
        <p:nvSpPr>
          <p:cNvPr id="101" name="Rectangle 100"/>
          <p:cNvSpPr/>
          <p:nvPr/>
        </p:nvSpPr>
        <p:spPr>
          <a:xfrm>
            <a:off x="10820153" y="2429494"/>
            <a:ext cx="1274084" cy="722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"/>
            <a:r>
              <a:rPr lang="en-IN" sz="1400" dirty="0" smtClean="0">
                <a:solidFill>
                  <a:schemeClr val="tx1"/>
                </a:solidFill>
              </a:rPr>
              <a:t>Boost Conversion Rates</a:t>
            </a:r>
          </a:p>
        </p:txBody>
      </p:sp>
      <p:cxnSp>
        <p:nvCxnSpPr>
          <p:cNvPr id="102" name="Straight Arrow Connector 101"/>
          <p:cNvCxnSpPr/>
          <p:nvPr/>
        </p:nvCxnSpPr>
        <p:spPr>
          <a:xfrm>
            <a:off x="10385379" y="2755395"/>
            <a:ext cx="324871" cy="3546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986" name="Picture 2" descr="http://www.billiondollarsalesmachine.com.au/wp-content/uploads/2014/10/conversion_rate.jpg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10886536" y="3191774"/>
            <a:ext cx="695042" cy="483079"/>
          </a:xfrm>
          <a:prstGeom prst="rect">
            <a:avLst/>
          </a:prstGeom>
          <a:noFill/>
        </p:spPr>
      </p:pic>
      <p:sp>
        <p:nvSpPr>
          <p:cNvPr id="103" name="Rectangle 102"/>
          <p:cNvSpPr/>
          <p:nvPr/>
        </p:nvSpPr>
        <p:spPr>
          <a:xfrm>
            <a:off x="6253900" y="3812594"/>
            <a:ext cx="5667805" cy="276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fontAlgn="b"/>
            <a:r>
              <a:rPr lang="en-IN" sz="1400" dirty="0" smtClean="0">
                <a:solidFill>
                  <a:schemeClr val="tx1"/>
                </a:solidFill>
              </a:rPr>
              <a:t>Data analytics to evaluate and adjust marketing mix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526879" y="2385181"/>
            <a:ext cx="9342403" cy="1822514"/>
          </a:xfrm>
        </p:spPr>
        <p:txBody>
          <a:bodyPr/>
          <a:lstStyle/>
          <a:p>
            <a:pPr algn="ctr"/>
            <a:r>
              <a:rPr lang="en-US" dirty="0" smtClean="0"/>
              <a:t>IHCL Business Priorities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Data, Analytics &amp; Reporting Maturity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2251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IHCL Business Priorities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current business imperatives are to understand the guest, increase the effectiveness of the loyalty program and further leverage the digital channel</a:t>
            </a:r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4232749" y="2272072"/>
            <a:ext cx="1" cy="4080681"/>
          </a:xfrm>
          <a:prstGeom prst="line">
            <a:avLst/>
          </a:prstGeom>
          <a:ln w="6350">
            <a:solidFill>
              <a:srgbClr val="082A67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7937142" y="2272072"/>
            <a:ext cx="1" cy="4080681"/>
          </a:xfrm>
          <a:prstGeom prst="line">
            <a:avLst/>
          </a:prstGeom>
          <a:ln w="6350">
            <a:solidFill>
              <a:srgbClr val="082A67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http://t0.gstatic.com/images?q=tbn:ANd9GcR3NIhBks4X8N8eFFIxSlt-C8BaoJAkxmrklD8IWz-7vP7PHTevz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4481" y="2921998"/>
            <a:ext cx="2743200" cy="16668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Oval 19"/>
          <p:cNvSpPr/>
          <p:nvPr/>
        </p:nvSpPr>
        <p:spPr>
          <a:xfrm>
            <a:off x="9266827" y="3848669"/>
            <a:ext cx="504967" cy="460851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305877" y="3959361"/>
            <a:ext cx="416016" cy="238927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1132114" y="2805578"/>
            <a:ext cx="2192263" cy="2134571"/>
            <a:chOff x="1132114" y="2805578"/>
            <a:chExt cx="2192263" cy="2134571"/>
          </a:xfrm>
        </p:grpSpPr>
        <p:pic>
          <p:nvPicPr>
            <p:cNvPr id="1026" name="Picture 2" descr="Image result for customer profili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2114" y="2805578"/>
              <a:ext cx="2192263" cy="2134571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Oval 20"/>
            <p:cNvSpPr/>
            <p:nvPr/>
          </p:nvSpPr>
          <p:spPr>
            <a:xfrm>
              <a:off x="1819153" y="3409539"/>
              <a:ext cx="924048" cy="9447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38" name="Picture 14" descr="Image result for indian women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6859" y="3636201"/>
              <a:ext cx="815870" cy="543913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Rectangle 22"/>
          <p:cNvSpPr/>
          <p:nvPr/>
        </p:nvSpPr>
        <p:spPr>
          <a:xfrm>
            <a:off x="4703182" y="1993543"/>
            <a:ext cx="3214777" cy="6956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Increase </a:t>
            </a:r>
            <a:r>
              <a:rPr lang="en-US" dirty="0">
                <a:solidFill>
                  <a:schemeClr val="tx2"/>
                </a:solidFill>
              </a:rPr>
              <a:t>effectiveness </a:t>
            </a:r>
            <a:r>
              <a:rPr lang="en-US" dirty="0" smtClean="0">
                <a:solidFill>
                  <a:schemeClr val="tx2"/>
                </a:solidFill>
              </a:rPr>
              <a:t>of </a:t>
            </a:r>
            <a:r>
              <a:rPr lang="en-US" dirty="0">
                <a:solidFill>
                  <a:schemeClr val="tx2"/>
                </a:solidFill>
              </a:rPr>
              <a:t>Loyalty Program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03041" y="1993543"/>
            <a:ext cx="3214777" cy="6956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Understand the Guest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336324" y="1993543"/>
            <a:ext cx="3214777" cy="6956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Use Digital as a channel more effectively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24093" y="2037285"/>
            <a:ext cx="466985" cy="608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solidFill>
                  <a:schemeClr val="tx2"/>
                </a:solidFill>
              </a:rPr>
              <a:t>B</a:t>
            </a:r>
            <a:endParaRPr lang="en-IN" sz="4000" b="1" dirty="0">
              <a:solidFill>
                <a:schemeClr val="tx2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34903" y="2037285"/>
            <a:ext cx="466985" cy="608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solidFill>
                  <a:schemeClr val="tx2"/>
                </a:solidFill>
              </a:rPr>
              <a:t>A</a:t>
            </a:r>
            <a:endParaRPr lang="en-IN" sz="4000" b="1" dirty="0">
              <a:solidFill>
                <a:schemeClr val="tx2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025589" y="2037285"/>
            <a:ext cx="466985" cy="608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solidFill>
                  <a:schemeClr val="tx2"/>
                </a:solidFill>
              </a:rPr>
              <a:t>C</a:t>
            </a:r>
            <a:endParaRPr lang="en-IN" sz="4000" b="1" dirty="0">
              <a:solidFill>
                <a:schemeClr val="tx2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24093" y="4894416"/>
            <a:ext cx="3701496" cy="1685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2"/>
                </a:solidFill>
              </a:rPr>
              <a:t>Drive the </a:t>
            </a:r>
            <a:r>
              <a:rPr lang="en-US" sz="1400" dirty="0" err="1" smtClean="0">
                <a:solidFill>
                  <a:schemeClr val="tx2"/>
                </a:solidFill>
              </a:rPr>
              <a:t>Taj</a:t>
            </a:r>
            <a:r>
              <a:rPr lang="en-US" sz="1400" dirty="0" smtClean="0">
                <a:solidFill>
                  <a:schemeClr val="tx2"/>
                </a:solidFill>
              </a:rPr>
              <a:t> </a:t>
            </a:r>
            <a:r>
              <a:rPr lang="en-US" sz="1400" dirty="0" err="1" smtClean="0">
                <a:solidFill>
                  <a:schemeClr val="tx2"/>
                </a:solidFill>
              </a:rPr>
              <a:t>Innercircle</a:t>
            </a:r>
            <a:r>
              <a:rPr lang="en-US" sz="1400" dirty="0" smtClean="0">
                <a:solidFill>
                  <a:schemeClr val="tx2"/>
                </a:solidFill>
              </a:rPr>
              <a:t> 	Membership: 	400,000  	1 million</a:t>
            </a:r>
          </a:p>
          <a:p>
            <a:pPr marL="0" lvl="1"/>
            <a:r>
              <a:rPr lang="en-US" sz="1400" dirty="0" smtClean="0">
                <a:solidFill>
                  <a:schemeClr val="tx2"/>
                </a:solidFill>
              </a:rPr>
              <a:t>	Active members: 60,000  	126,000</a:t>
            </a:r>
            <a:endParaRPr lang="en-IN" sz="1400" dirty="0">
              <a:solidFill>
                <a:schemeClr val="tx2"/>
              </a:solidFill>
            </a:endParaRP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chemeClr val="tx2"/>
                </a:solidFill>
              </a:rPr>
              <a:t>Increase </a:t>
            </a:r>
            <a:r>
              <a:rPr lang="en-US" sz="1400" dirty="0">
                <a:solidFill>
                  <a:schemeClr val="tx2"/>
                </a:solidFill>
              </a:rPr>
              <a:t>contribution to business from </a:t>
            </a:r>
            <a:r>
              <a:rPr lang="en-US" sz="1400" dirty="0" smtClean="0">
                <a:solidFill>
                  <a:schemeClr val="tx2"/>
                </a:solidFill>
              </a:rPr>
              <a:t>7% </a:t>
            </a:r>
            <a:r>
              <a:rPr lang="en-US" sz="1400" dirty="0">
                <a:solidFill>
                  <a:schemeClr val="tx2"/>
                </a:solidFill>
              </a:rPr>
              <a:t>to </a:t>
            </a:r>
            <a:r>
              <a:rPr lang="en-US" sz="1400" dirty="0" smtClean="0">
                <a:solidFill>
                  <a:schemeClr val="tx2"/>
                </a:solidFill>
              </a:rPr>
              <a:t>10%</a:t>
            </a:r>
            <a:endParaRPr lang="en-IN" sz="1400" dirty="0">
              <a:solidFill>
                <a:schemeClr val="tx2"/>
              </a:solidFill>
            </a:endParaRP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chemeClr val="tx2"/>
                </a:solidFill>
              </a:rPr>
              <a:t>Improve </a:t>
            </a:r>
            <a:r>
              <a:rPr lang="en-US" sz="1400" dirty="0">
                <a:solidFill>
                  <a:schemeClr val="tx2"/>
                </a:solidFill>
              </a:rPr>
              <a:t>the redemption </a:t>
            </a:r>
            <a:r>
              <a:rPr lang="en-US" sz="1400" dirty="0" smtClean="0">
                <a:solidFill>
                  <a:schemeClr val="tx2"/>
                </a:solidFill>
              </a:rPr>
              <a:t>ratio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97298" y="4993470"/>
            <a:ext cx="3337846" cy="1487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chemeClr val="tx2"/>
                </a:solidFill>
              </a:rPr>
              <a:t>Develop </a:t>
            </a:r>
            <a:r>
              <a:rPr lang="en-US" sz="1400" dirty="0">
                <a:solidFill>
                  <a:schemeClr val="tx2"/>
                </a:solidFill>
              </a:rPr>
              <a:t>a single </a:t>
            </a:r>
            <a:r>
              <a:rPr lang="en-US" sz="1400" dirty="0" smtClean="0">
                <a:solidFill>
                  <a:schemeClr val="tx2"/>
                </a:solidFill>
              </a:rPr>
              <a:t>and integrated view </a:t>
            </a:r>
            <a:r>
              <a:rPr lang="en-US" sz="1400" dirty="0">
                <a:solidFill>
                  <a:schemeClr val="tx2"/>
                </a:solidFill>
              </a:rPr>
              <a:t>of the </a:t>
            </a:r>
            <a:r>
              <a:rPr lang="en-US" sz="1400" dirty="0" smtClean="0">
                <a:solidFill>
                  <a:schemeClr val="tx2"/>
                </a:solidFill>
              </a:rPr>
              <a:t>customer</a:t>
            </a: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chemeClr val="tx2"/>
                </a:solidFill>
              </a:rPr>
              <a:t>Develop </a:t>
            </a:r>
            <a:r>
              <a:rPr lang="en-US" sz="1400" dirty="0">
                <a:solidFill>
                  <a:schemeClr val="tx2"/>
                </a:solidFill>
              </a:rPr>
              <a:t>an analytics scorecard around the most profitable / valuable customers and how to track </a:t>
            </a:r>
            <a:r>
              <a:rPr lang="en-US" sz="1400" dirty="0" smtClean="0">
                <a:solidFill>
                  <a:schemeClr val="tx2"/>
                </a:solidFill>
              </a:rPr>
              <a:t>them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259081" y="4995372"/>
            <a:ext cx="3148963" cy="513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chemeClr val="tx2"/>
                </a:solidFill>
              </a:rPr>
              <a:t>Increase </a:t>
            </a:r>
            <a:r>
              <a:rPr lang="en-US" sz="1400" dirty="0">
                <a:solidFill>
                  <a:schemeClr val="tx2"/>
                </a:solidFill>
              </a:rPr>
              <a:t>revenues from web (brand.com) from 5.5% to 11</a:t>
            </a:r>
            <a:r>
              <a:rPr lang="en-US" sz="1400" dirty="0" smtClean="0">
                <a:solidFill>
                  <a:schemeClr val="tx2"/>
                </a:solidFill>
              </a:rPr>
              <a:t>%</a:t>
            </a:r>
            <a:endParaRPr lang="en-US" sz="1400" dirty="0">
              <a:solidFill>
                <a:schemeClr val="tx2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>
            <a:off x="468946" y="1780205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 flipV="1">
            <a:off x="6909073" y="5420850"/>
            <a:ext cx="21600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6950633" y="5628670"/>
            <a:ext cx="21600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754" name="Picture 2" descr="http://www.hsbc.co.in/1/PA_ES_Content_Mgmt/content/website/images/cards/taj_innnercircle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25975" y="3179761"/>
            <a:ext cx="2935967" cy="11743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88040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28386" y="455278"/>
            <a:ext cx="10183159" cy="706964"/>
          </a:xfrm>
        </p:spPr>
        <p:txBody>
          <a:bodyPr/>
          <a:lstStyle/>
          <a:p>
            <a:r>
              <a:rPr lang="en-US" sz="2000" dirty="0" smtClean="0"/>
              <a:t>Current IHCL Customer Data Maturity : </a:t>
            </a:r>
            <a:br>
              <a:rPr lang="en-US" sz="2000" dirty="0" smtClean="0"/>
            </a:br>
            <a:r>
              <a:rPr lang="en-US" sz="2000" dirty="0" smtClean="0"/>
              <a:t>High availability of data, with huge opportunities in enhancing quality &amp; usage</a:t>
            </a:r>
            <a:endParaRPr lang="en-IN" sz="20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52818" y="1625603"/>
            <a:ext cx="11635986" cy="1052014"/>
          </a:xfrm>
        </p:spPr>
        <p:txBody>
          <a:bodyPr>
            <a:normAutofit/>
          </a:bodyPr>
          <a:lstStyle/>
          <a:p>
            <a:pPr>
              <a:buClr>
                <a:schemeClr val="tx2">
                  <a:lumMod val="75000"/>
                </a:schemeClr>
              </a:buClr>
            </a:pPr>
            <a:r>
              <a:rPr lang="en-US" sz="1600" dirty="0" err="1" smtClean="0"/>
              <a:t>Taj</a:t>
            </a:r>
            <a:r>
              <a:rPr lang="en-US" sz="1600" dirty="0" smtClean="0"/>
              <a:t> systems have evolved with the company, but often in a disparate manner</a:t>
            </a:r>
          </a:p>
          <a:p>
            <a:pPr>
              <a:buClr>
                <a:schemeClr val="tx2">
                  <a:lumMod val="75000"/>
                </a:schemeClr>
              </a:buClr>
            </a:pPr>
            <a:r>
              <a:rPr lang="en-US" sz="1600" dirty="0" smtClean="0"/>
              <a:t>The wealth of customer data being captured is a valuable asset whose potential will be realized when  we further transform this into knowledge and intelligence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434293"/>
          </a:xfrm>
        </p:spPr>
        <p:txBody>
          <a:bodyPr>
            <a:normAutofit/>
          </a:bodyPr>
          <a:lstStyle/>
          <a:p>
            <a:r>
              <a:rPr lang="en-US" dirty="0" smtClean="0"/>
              <a:t>Opportunities lie in collecting, organizing &amp; managing data, to enhance its adoption and usability</a:t>
            </a:r>
            <a:endParaRPr lang="en-IN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61258" y="2641584"/>
          <a:ext cx="5471885" cy="3746895"/>
        </p:xfrm>
        <a:graphic>
          <a:graphicData uri="http://schemas.openxmlformats.org/drawingml/2006/table">
            <a:tbl>
              <a:tblPr/>
              <a:tblGrid>
                <a:gridCol w="1074056"/>
                <a:gridCol w="1961932"/>
                <a:gridCol w="969120"/>
                <a:gridCol w="877447"/>
                <a:gridCol w="589330"/>
              </a:tblGrid>
              <a:tr h="206160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Traditional Data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Availability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Quality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Usage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503430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Profiles </a:t>
                      </a:r>
                      <a:endParaRPr lang="en-IN" sz="1400" b="0" i="0" u="none" strike="noStrike" dirty="0" smtClean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pPr algn="l" fontAlgn="b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(Demographics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9BBB59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◕</a:t>
                      </a:r>
                      <a:r>
                        <a:rPr kumimoji="0" lang="en-I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9BBB59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 </a:t>
                      </a:r>
                      <a:r>
                        <a:rPr kumimoji="0" lang="en-IN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Segoe UI Symbol" panose="020B0502040204020203" pitchFamily="34" charset="0"/>
                          <a:cs typeface="+mn-cs"/>
                        </a:rPr>
                        <a:t>Loyalty</a:t>
                      </a:r>
                    </a:p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aseline="0" dirty="0" smtClean="0">
                          <a:solidFill>
                            <a:srgbClr val="FFC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◑ </a:t>
                      </a: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Segoe UI Symbol" panose="020B0502040204020203" pitchFamily="34" charset="0"/>
                          <a:cs typeface="+mn-cs"/>
                        </a:rPr>
                        <a:t>Others</a:t>
                      </a:r>
                      <a:endParaRPr lang="en-IN" sz="1400" dirty="0" smtClean="0">
                        <a:solidFill>
                          <a:schemeClr val="tx1"/>
                        </a:solidFill>
                        <a:latin typeface="+mj-lt"/>
                        <a:ea typeface="Segoe UI Symbol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9BBB59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◕ </a:t>
                      </a:r>
                      <a:r>
                        <a:rPr kumimoji="0" lang="en-IN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Segoe UI Symbol" panose="020B0502040204020203" pitchFamily="34" charset="0"/>
                          <a:cs typeface="+mn-cs"/>
                        </a:rPr>
                        <a:t>Loyalty</a:t>
                      </a:r>
                    </a:p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aseline="0" dirty="0" smtClean="0">
                          <a:solidFill>
                            <a:srgbClr val="FFC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◑ </a:t>
                      </a: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Segoe UI Symbol" panose="020B0502040204020203" pitchFamily="34" charset="0"/>
                          <a:cs typeface="+mn-cs"/>
                        </a:rPr>
                        <a:t>Others</a:t>
                      </a:r>
                      <a:endParaRPr lang="en-IN" sz="1400" kern="1200" dirty="0" smtClean="0">
                        <a:solidFill>
                          <a:schemeClr val="tx1"/>
                        </a:solidFill>
                        <a:latin typeface="+mn-lt"/>
                        <a:ea typeface="Segoe UI Symbol" panose="020B0502040204020203" pitchFamily="34" charset="0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C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◑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3430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Transaction History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9BBB59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◕</a:t>
                      </a:r>
                      <a:endParaRPr lang="en-IN" sz="1800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Segoe UI Symbol" panose="020B0502040204020203" pitchFamily="34" charset="0"/>
                        <a:ea typeface="Segoe UI Symbol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9BBB59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◕</a:t>
                      </a:r>
                      <a:endParaRPr lang="en-IN" sz="1800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Segoe UI Symbol" panose="020B0502040204020203" pitchFamily="34" charset="0"/>
                        <a:ea typeface="Segoe UI Symbol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C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◑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3430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Feedback </a:t>
                      </a: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Surveys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9BBB59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◕</a:t>
                      </a:r>
                      <a:endParaRPr lang="en-IN" sz="1800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Segoe UI Symbol" panose="020B0502040204020203" pitchFamily="34" charset="0"/>
                        <a:ea typeface="Segoe UI Symbol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9BBB59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◕</a:t>
                      </a:r>
                      <a:endParaRPr lang="en-IN" sz="1800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Segoe UI Symbol" panose="020B0502040204020203" pitchFamily="34" charset="0"/>
                        <a:ea typeface="Segoe UI Symbol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C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◑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3430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Standard Preferences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C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◑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0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◔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C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◑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3430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Relationships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u="none" strike="noStrike" kern="1200" dirty="0" smtClean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+mn-cs"/>
                        </a:rPr>
                        <a:t>Zero</a:t>
                      </a:r>
                      <a:endParaRPr lang="en-IN" sz="1800" b="0" i="0" u="none" strike="noStrike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3430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Contact History Data Mart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C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◑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C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◑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0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◔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3430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External Data Sources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0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◔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0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◔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0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◔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82" name="AutoShape 10" descr="Image result for club sandwich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4" name="AutoShape 12" descr="Image result for club sandwich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6" name="AutoShape 14" descr="Image result for club sandwich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92" name="Picture 20" descr="Image result for executive clipar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88416" y="3341678"/>
            <a:ext cx="733425" cy="2390775"/>
          </a:xfrm>
          <a:prstGeom prst="rect">
            <a:avLst/>
          </a:prstGeom>
          <a:noFill/>
        </p:spPr>
      </p:pic>
      <p:sp>
        <p:nvSpPr>
          <p:cNvPr id="3094" name="AutoShape 22" descr="Image result for email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6" name="AutoShape 24" descr="Image result for email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2" name="Group 31"/>
          <p:cNvGrpSpPr/>
          <p:nvPr/>
        </p:nvGrpSpPr>
        <p:grpSpPr>
          <a:xfrm>
            <a:off x="11200947" y="3022060"/>
            <a:ext cx="759001" cy="3200916"/>
            <a:chOff x="11200947" y="3312340"/>
            <a:chExt cx="759001" cy="3200916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76730" y="4047032"/>
              <a:ext cx="428752" cy="428752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79797" y="3312340"/>
              <a:ext cx="551122" cy="551122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82430" y="4738327"/>
              <a:ext cx="677518" cy="4411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8" name="Picture 26" descr="Image result for email clipart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1200947" y="5976111"/>
              <a:ext cx="758824" cy="537145"/>
            </a:xfrm>
            <a:prstGeom prst="rect">
              <a:avLst/>
            </a:prstGeom>
            <a:noFill/>
          </p:spPr>
        </p:pic>
        <p:pic>
          <p:nvPicPr>
            <p:cNvPr id="3100" name="Picture 28" descr="Image result for club sandwich clipart 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1292115" y="5325928"/>
              <a:ext cx="609600" cy="494270"/>
            </a:xfrm>
            <a:prstGeom prst="rect">
              <a:avLst/>
            </a:prstGeom>
            <a:noFill/>
          </p:spPr>
        </p:pic>
      </p:grp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612553" y="2656094"/>
          <a:ext cx="5405275" cy="3715682"/>
        </p:xfrm>
        <a:graphic>
          <a:graphicData uri="http://schemas.openxmlformats.org/drawingml/2006/table">
            <a:tbl>
              <a:tblPr/>
              <a:tblGrid>
                <a:gridCol w="978418"/>
                <a:gridCol w="928915"/>
                <a:gridCol w="682171"/>
                <a:gridCol w="1944914"/>
                <a:gridCol w="870857"/>
              </a:tblGrid>
              <a:tr h="2664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Availability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Quality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Usage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Big Data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675851"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C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◑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C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◑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0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◔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Web Traffic Data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851"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C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◑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C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◑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 dirty="0" smtClean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+mn-cs"/>
                        </a:rPr>
                        <a:t>Zero</a:t>
                      </a:r>
                      <a:endParaRPr lang="en-IN" sz="1400" b="0" i="0" u="none" strike="noStrike" kern="1200" dirty="0" smtClean="0">
                        <a:solidFill>
                          <a:srgbClr val="FF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Call Logs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851"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C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◑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C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◑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0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◔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Social Media</a:t>
                      </a:r>
                      <a:r>
                        <a:rPr lang="en-US" sz="1400" b="0" i="0" u="none" strike="noStrike" baseline="0" dirty="0" smtClean="0">
                          <a:solidFill>
                            <a:srgbClr val="000000"/>
                          </a:solidFill>
                          <a:latin typeface="+mj-lt"/>
                        </a:rPr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851"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0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◔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aseline="0" dirty="0" smtClean="0">
                          <a:solidFill>
                            <a:srgbClr val="FF0000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◔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kern="1200" dirty="0" smtClean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+mn-cs"/>
                        </a:rPr>
                        <a:t>Zero</a:t>
                      </a:r>
                      <a:endParaRPr lang="en-IN" sz="1400" b="0" i="0" u="none" strike="noStrike" kern="1200" dirty="0" smtClean="0">
                        <a:solidFill>
                          <a:srgbClr val="FF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Derived Preferences / Passions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5817"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u="none" strike="noStrike" kern="1200" dirty="0" smtClean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+mn-cs"/>
                        </a:rPr>
                        <a:t>Zero</a:t>
                      </a:r>
                      <a:endParaRPr lang="en-IN" sz="1800" b="0" i="0" u="none" strike="noStrike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Email Text Sentiment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414" name="AutoShape 6" descr="Image result for bunch of paper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16" name="AutoShape 8" descr="Image result for bunch of paper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18" name="AutoShape 10" descr="Image result for bunch of paper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3" name="Group 30"/>
          <p:cNvGrpSpPr/>
          <p:nvPr/>
        </p:nvGrpSpPr>
        <p:grpSpPr>
          <a:xfrm>
            <a:off x="387805" y="2902838"/>
            <a:ext cx="541110" cy="3358471"/>
            <a:chOff x="387805" y="1886858"/>
            <a:chExt cx="541110" cy="3358471"/>
          </a:xfrm>
        </p:grpSpPr>
        <p:pic>
          <p:nvPicPr>
            <p:cNvPr id="3074" name="Picture 2" descr="Image result for contact clipart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460886" y="1886858"/>
              <a:ext cx="441119" cy="394150"/>
            </a:xfrm>
            <a:prstGeom prst="rect">
              <a:avLst/>
            </a:prstGeom>
            <a:noFill/>
          </p:spPr>
        </p:pic>
        <p:pic>
          <p:nvPicPr>
            <p:cNvPr id="3076" name="Picture 4" descr="Image result for add to cart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407817" y="2441367"/>
              <a:ext cx="450407" cy="327059"/>
            </a:xfrm>
            <a:prstGeom prst="rect">
              <a:avLst/>
            </a:prstGeom>
            <a:noFill/>
          </p:spPr>
        </p:pic>
        <p:pic>
          <p:nvPicPr>
            <p:cNvPr id="3078" name="Picture 6" descr="Image result for feedback surveys clipart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428014" y="2937963"/>
              <a:ext cx="500901" cy="331472"/>
            </a:xfrm>
            <a:prstGeom prst="rect">
              <a:avLst/>
            </a:prstGeom>
            <a:noFill/>
          </p:spPr>
        </p:pic>
        <p:pic>
          <p:nvPicPr>
            <p:cNvPr id="3088" name="Picture 16" descr="Image result for customer relationship clipart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390182" y="3900847"/>
              <a:ext cx="527514" cy="366353"/>
            </a:xfrm>
            <a:prstGeom prst="rect">
              <a:avLst/>
            </a:prstGeom>
            <a:noFill/>
          </p:spPr>
        </p:pic>
        <p:pic>
          <p:nvPicPr>
            <p:cNvPr id="3090" name="Picture 18" descr="Image result for feaTHER pillow clipart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403783" y="3389936"/>
              <a:ext cx="504934" cy="365653"/>
            </a:xfrm>
            <a:prstGeom prst="rect">
              <a:avLst/>
            </a:prstGeom>
            <a:noFill/>
          </p:spPr>
        </p:pic>
        <p:pic>
          <p:nvPicPr>
            <p:cNvPr id="17412" name="Picture 4" descr="https://encrypted-tbn2.gstatic.com/images?q=tbn:ANd9GcTH_FX_Xg-lZltmjxqvAcPxGZqrDCUfvGWBXfEUrm1rXZJ_ihxdeg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387805" y="4404917"/>
              <a:ext cx="541110" cy="446908"/>
            </a:xfrm>
            <a:prstGeom prst="rect">
              <a:avLst/>
            </a:prstGeom>
            <a:noFill/>
          </p:spPr>
        </p:pic>
        <p:pic>
          <p:nvPicPr>
            <p:cNvPr id="17420" name="Picture 12" descr="Paper Clip Art"/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431348" y="4963886"/>
              <a:ext cx="483053" cy="281443"/>
            </a:xfrm>
            <a:prstGeom prst="rect">
              <a:avLst/>
            </a:prstGeom>
            <a:noFill/>
          </p:spPr>
        </p:pic>
      </p:grpSp>
      <p:sp>
        <p:nvSpPr>
          <p:cNvPr id="33" name="Content Placeholder 5"/>
          <p:cNvSpPr txBox="1">
            <a:spLocks/>
          </p:cNvSpPr>
          <p:nvPr/>
        </p:nvSpPr>
        <p:spPr>
          <a:xfrm>
            <a:off x="5762171" y="6444344"/>
            <a:ext cx="6313717" cy="3701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IN" sz="1400" dirty="0" smtClean="0">
                <a:solidFill>
                  <a:srgbClr val="9BBB59">
                    <a:lumMod val="50000"/>
                  </a:srgbClr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◕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High 		</a:t>
            </a:r>
            <a:r>
              <a:rPr lang="en-IN" sz="1400" dirty="0" smtClean="0">
                <a:solidFill>
                  <a:srgbClr val="FFC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◑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Medium 		</a:t>
            </a:r>
            <a:r>
              <a:rPr lang="en-IN" sz="1400" dirty="0" smtClean="0">
                <a:solidFill>
                  <a:srgbClr val="FF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◔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Low		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Zero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	Non-existent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468947" y="1526777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9984" y="455278"/>
            <a:ext cx="9785683" cy="647807"/>
          </a:xfrm>
        </p:spPr>
        <p:txBody>
          <a:bodyPr/>
          <a:lstStyle/>
          <a:p>
            <a:r>
              <a:rPr lang="en-IN" dirty="0" smtClean="0"/>
              <a:t>Current &amp; Desired IHCL Analytics Maturity :</a:t>
            </a:r>
            <a:br>
              <a:rPr lang="en-IN" dirty="0" smtClean="0"/>
            </a:br>
            <a:r>
              <a:rPr lang="en-IN" dirty="0" smtClean="0"/>
              <a:t>Traditional analytics with basic tools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Currently, IHCL relies on traditional analytics with very basic tools.  The intent is to enable core analytical toolkit to deliver advanced analytical solutions.</a:t>
            </a:r>
            <a:endParaRPr lang="en-IN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609600" y="2286000"/>
            <a:ext cx="10633364" cy="17149"/>
          </a:xfrm>
          <a:prstGeom prst="straightConnector1">
            <a:avLst/>
          </a:prstGeom>
          <a:ln w="38100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93893" y="1766479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022264" y="2137224"/>
            <a:ext cx="304800" cy="290286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8992251" y="2186046"/>
            <a:ext cx="304800" cy="290286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/>
          <p:cNvSpPr/>
          <p:nvPr/>
        </p:nvSpPr>
        <p:spPr>
          <a:xfrm>
            <a:off x="5716319" y="2172522"/>
            <a:ext cx="304800" cy="290286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 bwMode="gray">
          <a:xfrm>
            <a:off x="2512542" y="1823999"/>
            <a:ext cx="1552776" cy="340273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ctr"/>
            <a:r>
              <a:rPr lang="en-IN" sz="1600" b="1" dirty="0" smtClean="0"/>
              <a:t>Traditional 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5160012" y="1850059"/>
            <a:ext cx="1552776" cy="340273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ctr"/>
            <a:r>
              <a:rPr lang="en-IN" sz="1600" b="1" dirty="0" smtClean="0"/>
              <a:t>Must Haves</a:t>
            </a:r>
          </a:p>
        </p:txBody>
      </p:sp>
      <p:sp>
        <p:nvSpPr>
          <p:cNvPr id="16" name="TextBox 15"/>
          <p:cNvSpPr txBox="1"/>
          <p:nvPr/>
        </p:nvSpPr>
        <p:spPr bwMode="gray">
          <a:xfrm>
            <a:off x="8412204" y="1828288"/>
            <a:ext cx="1552776" cy="340273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ctr"/>
            <a:r>
              <a:rPr lang="en-IN" sz="1600" b="1" dirty="0" smtClean="0"/>
              <a:t>Maturation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44290" y="2514600"/>
            <a:ext cx="2367663" cy="4073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fontAlgn="b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000000"/>
                </a:solidFill>
              </a:rPr>
              <a:t>Basic </a:t>
            </a:r>
            <a:r>
              <a:rPr lang="en-IN" sz="1400" dirty="0" smtClean="0">
                <a:solidFill>
                  <a:srgbClr val="000000"/>
                </a:solidFill>
              </a:rPr>
              <a:t>(channel / geography / segment)</a:t>
            </a:r>
          </a:p>
          <a:p>
            <a:pPr marL="171450" indent="-171450" fontAlgn="b"/>
            <a:endParaRPr lang="en-IN" sz="1400" dirty="0" smtClean="0">
              <a:solidFill>
                <a:srgbClr val="000000"/>
              </a:solidFill>
            </a:endParaRPr>
          </a:p>
          <a:p>
            <a:pPr marL="171450" indent="-171450" fontAlgn="b">
              <a:buFont typeface="Arial" pitchFamily="34" charset="0"/>
              <a:buChar char="•"/>
            </a:pPr>
            <a:r>
              <a:rPr lang="en-IN" sz="1400" dirty="0" smtClean="0">
                <a:solidFill>
                  <a:srgbClr val="000000"/>
                </a:solidFill>
              </a:rPr>
              <a:t>Standardized campaigns</a:t>
            </a:r>
          </a:p>
          <a:p>
            <a:pPr marL="171450" indent="-171450" fontAlgn="b">
              <a:buFont typeface="Arial" pitchFamily="34" charset="0"/>
              <a:buChar char="•"/>
            </a:pPr>
            <a:r>
              <a:rPr lang="en-IN" sz="1400" dirty="0" smtClean="0">
                <a:solidFill>
                  <a:srgbClr val="000000"/>
                </a:solidFill>
              </a:rPr>
              <a:t>Limited monitoring (read / responded)</a:t>
            </a:r>
          </a:p>
          <a:p>
            <a:pPr marL="171450" indent="-171450" fontAlgn="b">
              <a:buFont typeface="Arial" pitchFamily="34" charset="0"/>
              <a:buChar char="•"/>
            </a:pPr>
            <a:endParaRPr lang="en-IN" sz="1400" dirty="0" smtClean="0">
              <a:solidFill>
                <a:srgbClr val="000000"/>
              </a:solidFill>
            </a:endParaRPr>
          </a:p>
          <a:p>
            <a:pPr marL="171450" indent="-171450" fontAlgn="b">
              <a:buFont typeface="Arial" pitchFamily="34" charset="0"/>
              <a:buChar char="•"/>
            </a:pPr>
            <a:r>
              <a:rPr lang="en-IN" sz="1400" dirty="0" smtClean="0">
                <a:solidFill>
                  <a:srgbClr val="000000"/>
                </a:solidFill>
              </a:rPr>
              <a:t>Basic forecasting, mainly manual</a:t>
            </a:r>
          </a:p>
          <a:p>
            <a:pPr marL="171450" indent="-171450" fontAlgn="b">
              <a:buFont typeface="Arial" pitchFamily="34" charset="0"/>
              <a:buChar char="•"/>
            </a:pPr>
            <a:endParaRPr lang="en-IN" sz="1400" dirty="0" smtClean="0">
              <a:solidFill>
                <a:srgbClr val="000000"/>
              </a:solidFill>
            </a:endParaRPr>
          </a:p>
          <a:p>
            <a:pPr marL="171450" indent="-171450" fontAlgn="b">
              <a:buFont typeface="Arial" pitchFamily="34" charset="0"/>
              <a:buChar char="•"/>
            </a:pPr>
            <a:endParaRPr lang="en-IN" sz="1400" dirty="0" smtClean="0">
              <a:solidFill>
                <a:srgbClr val="000000"/>
              </a:solidFill>
            </a:endParaRPr>
          </a:p>
          <a:p>
            <a:pPr marL="171450" indent="-171450" fontAlgn="b">
              <a:buFont typeface="Arial" pitchFamily="34" charset="0"/>
              <a:buChar char="•"/>
            </a:pPr>
            <a:endParaRPr lang="en-IN" sz="1400" dirty="0" smtClean="0">
              <a:solidFill>
                <a:srgbClr val="000000"/>
              </a:solidFill>
            </a:endParaRPr>
          </a:p>
          <a:p>
            <a:pPr marL="171450" indent="-171450" fontAlgn="b">
              <a:buFont typeface="Arial" pitchFamily="34" charset="0"/>
              <a:buChar char="•"/>
            </a:pPr>
            <a:r>
              <a:rPr lang="en-IN" sz="1400" dirty="0" smtClean="0">
                <a:solidFill>
                  <a:srgbClr val="000000"/>
                </a:solidFill>
              </a:rPr>
              <a:t>Limited web analytics</a:t>
            </a:r>
          </a:p>
          <a:p>
            <a:pPr marL="171450" indent="-171450" fontAlgn="b">
              <a:buFont typeface="Arial" pitchFamily="34" charset="0"/>
              <a:buChar char="•"/>
            </a:pPr>
            <a:endParaRPr lang="en-IN" sz="1400" dirty="0" smtClean="0">
              <a:solidFill>
                <a:srgbClr val="000000"/>
              </a:solidFill>
            </a:endParaRPr>
          </a:p>
          <a:p>
            <a:pPr marL="171450" indent="-171450" fontAlgn="b">
              <a:buFont typeface="Arial" pitchFamily="34" charset="0"/>
              <a:buChar char="•"/>
            </a:pPr>
            <a:endParaRPr lang="en-IN" sz="1400" dirty="0" smtClean="0">
              <a:solidFill>
                <a:srgbClr val="000000"/>
              </a:solidFill>
            </a:endParaRPr>
          </a:p>
          <a:p>
            <a:pPr marL="171450" indent="-171450" fontAlgn="b">
              <a:buFont typeface="Arial" pitchFamily="34" charset="0"/>
              <a:buChar char="•"/>
            </a:pPr>
            <a:endParaRPr lang="en-IN" sz="1400" dirty="0" smtClean="0">
              <a:solidFill>
                <a:srgbClr val="00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38348" y="2521855"/>
            <a:ext cx="3138054" cy="3816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fontAlgn="b">
              <a:buFont typeface="Arial" pitchFamily="34" charset="0"/>
              <a:buChar char="•"/>
            </a:pPr>
            <a:r>
              <a:rPr lang="en-US" sz="1400" dirty="0" smtClean="0">
                <a:solidFill>
                  <a:schemeClr val="tx1"/>
                </a:solidFill>
              </a:rPr>
              <a:t>Advanced segmentation on </a:t>
            </a:r>
            <a:r>
              <a:rPr lang="en-US" sz="1400" dirty="0" smtClean="0">
                <a:solidFill>
                  <a:srgbClr val="000000"/>
                </a:solidFill>
              </a:rPr>
              <a:t>demographics</a:t>
            </a:r>
          </a:p>
          <a:p>
            <a:pPr marL="171450" indent="-171450" fontAlgn="b"/>
            <a:endParaRPr lang="en-IN" sz="1400" dirty="0" smtClean="0">
              <a:solidFill>
                <a:srgbClr val="000000"/>
              </a:solidFill>
            </a:endParaRPr>
          </a:p>
          <a:p>
            <a:pPr marL="171450" indent="-171450" fontAlgn="b">
              <a:buFont typeface="Arial" pitchFamily="34" charset="0"/>
              <a:buChar char="•"/>
            </a:pPr>
            <a:r>
              <a:rPr lang="en-IN" sz="1400" dirty="0" smtClean="0">
                <a:solidFill>
                  <a:srgbClr val="000000"/>
                </a:solidFill>
              </a:rPr>
              <a:t>Targeted campaigns, end to end management (design, planning, execution, fulfilment &amp; analysis)</a:t>
            </a:r>
          </a:p>
          <a:p>
            <a:pPr marL="171450" indent="-171450" fontAlgn="b">
              <a:buFont typeface="Arial" pitchFamily="34" charset="0"/>
              <a:buChar char="•"/>
            </a:pPr>
            <a:endParaRPr lang="en-IN" sz="1400" dirty="0" smtClean="0">
              <a:solidFill>
                <a:srgbClr val="000000"/>
              </a:solidFill>
            </a:endParaRPr>
          </a:p>
          <a:p>
            <a:pPr marL="171450" indent="-171450" fontAlgn="b">
              <a:buFont typeface="Arial" pitchFamily="34" charset="0"/>
              <a:buChar char="•"/>
            </a:pPr>
            <a:r>
              <a:rPr lang="en-IN" sz="1400" dirty="0" smtClean="0">
                <a:solidFill>
                  <a:srgbClr val="000000"/>
                </a:solidFill>
              </a:rPr>
              <a:t>Limited forecasting ability based on past transactions</a:t>
            </a:r>
          </a:p>
          <a:p>
            <a:pPr marL="171450" indent="-171450" fontAlgn="b">
              <a:buFont typeface="Arial" pitchFamily="34" charset="0"/>
              <a:buChar char="•"/>
            </a:pPr>
            <a:r>
              <a:rPr lang="en-IN" sz="1400" dirty="0" smtClean="0">
                <a:solidFill>
                  <a:srgbClr val="000000"/>
                </a:solidFill>
              </a:rPr>
              <a:t>Basic Revenue Management</a:t>
            </a:r>
          </a:p>
          <a:p>
            <a:pPr marL="171450" indent="-171450" fontAlgn="b">
              <a:buFont typeface="Arial" pitchFamily="34" charset="0"/>
              <a:buChar char="•"/>
            </a:pPr>
            <a:endParaRPr lang="en-IN" sz="1400" dirty="0" smtClean="0">
              <a:solidFill>
                <a:srgbClr val="000000"/>
              </a:solidFill>
            </a:endParaRPr>
          </a:p>
          <a:p>
            <a:pPr marL="171450" indent="-171450" fontAlgn="b">
              <a:buFont typeface="Arial" pitchFamily="34" charset="0"/>
              <a:buChar char="•"/>
            </a:pPr>
            <a:endParaRPr lang="en-IN" sz="1400" dirty="0" smtClean="0">
              <a:solidFill>
                <a:srgbClr val="000000"/>
              </a:solidFill>
            </a:endParaRPr>
          </a:p>
          <a:p>
            <a:pPr marL="171450" indent="-171450" fontAlgn="b"/>
            <a:endParaRPr lang="en-IN" sz="1400" dirty="0" smtClean="0">
              <a:solidFill>
                <a:srgbClr val="000000"/>
              </a:solidFill>
            </a:endParaRPr>
          </a:p>
          <a:p>
            <a:pPr marL="171450" indent="-171450" fontAlgn="b">
              <a:buFont typeface="Arial" pitchFamily="34" charset="0"/>
              <a:buChar char="•"/>
            </a:pPr>
            <a:r>
              <a:rPr lang="en-IN" sz="1400" dirty="0" smtClean="0">
                <a:solidFill>
                  <a:srgbClr val="000000"/>
                </a:solidFill>
              </a:rPr>
              <a:t>Derived guest preferences </a:t>
            </a:r>
          </a:p>
          <a:p>
            <a:pPr marL="171450" indent="-171450" fontAlgn="b">
              <a:buFont typeface="Arial" pitchFamily="34" charset="0"/>
              <a:buChar char="•"/>
            </a:pPr>
            <a:r>
              <a:rPr lang="en-IN" sz="1400" dirty="0" smtClean="0">
                <a:solidFill>
                  <a:srgbClr val="000000"/>
                </a:solidFill>
              </a:rPr>
              <a:t>Social Media Sentiment Analysis</a:t>
            </a:r>
          </a:p>
          <a:p>
            <a:pPr marL="171450" indent="-171450" fontAlgn="b">
              <a:buFont typeface="Arial" pitchFamily="34" charset="0"/>
              <a:buChar char="•"/>
            </a:pPr>
            <a:r>
              <a:rPr lang="en-IN" sz="1400" dirty="0" smtClean="0">
                <a:solidFill>
                  <a:srgbClr val="000000"/>
                </a:solidFill>
              </a:rPr>
              <a:t>Harness power of external data 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198" y="2479304"/>
            <a:ext cx="4796853" cy="42747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7325" indent="-187325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000000"/>
                </a:solidFill>
              </a:rPr>
              <a:t>Across demographics, offer/service preference ,feedback /sentiment, interaction channel</a:t>
            </a:r>
          </a:p>
          <a:p>
            <a:pPr marL="187325" indent="-187325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000000"/>
                </a:solidFill>
              </a:rPr>
              <a:t>Customer Value – current, future &amp; potential</a:t>
            </a:r>
          </a:p>
          <a:p>
            <a:pPr marL="187325" indent="-187325">
              <a:buFont typeface="Arial" pitchFamily="34" charset="0"/>
              <a:buChar char="•"/>
            </a:pPr>
            <a:endParaRPr lang="en-US" sz="600" dirty="0" smtClean="0">
              <a:solidFill>
                <a:srgbClr val="000000"/>
              </a:solidFill>
            </a:endParaRPr>
          </a:p>
          <a:p>
            <a:pPr marL="187325" indent="-187325" fontAlgn="b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000000"/>
                </a:solidFill>
              </a:rPr>
              <a:t>Test Vs Control campaign analysis</a:t>
            </a:r>
          </a:p>
          <a:p>
            <a:pPr marL="187325" indent="-187325" fontAlgn="b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000000"/>
                </a:solidFill>
              </a:rPr>
              <a:t>Campaign Design incorporates historical learning</a:t>
            </a:r>
          </a:p>
          <a:p>
            <a:pPr marL="187325" indent="-187325" fontAlgn="b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000000"/>
                </a:solidFill>
              </a:rPr>
              <a:t>Omni-channel Campaign optimization</a:t>
            </a:r>
          </a:p>
          <a:p>
            <a:pPr marL="187325" indent="-187325" fontAlgn="b">
              <a:buFont typeface="Arial" pitchFamily="34" charset="0"/>
              <a:buChar char="•"/>
            </a:pPr>
            <a:endParaRPr lang="en-IN" sz="1400" dirty="0" smtClean="0">
              <a:solidFill>
                <a:srgbClr val="000000"/>
              </a:solidFill>
            </a:endParaRPr>
          </a:p>
          <a:p>
            <a:pPr marL="187325" indent="-187325" fontAlgn="b">
              <a:buFont typeface="Arial" pitchFamily="34" charset="0"/>
              <a:buChar char="•"/>
            </a:pPr>
            <a:r>
              <a:rPr lang="en-IN" sz="1400" dirty="0" smtClean="0">
                <a:solidFill>
                  <a:srgbClr val="000000"/>
                </a:solidFill>
              </a:rPr>
              <a:t>Forecasting includes macro factors, time series analysis etc. – Advanced Pricing optimization &amp; Revenue Management </a:t>
            </a:r>
          </a:p>
          <a:p>
            <a:pPr marL="187325" indent="-187325" fontAlgn="b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000000"/>
                </a:solidFill>
              </a:rPr>
              <a:t>Propensity to new offers/services &amp; Next Best Offer</a:t>
            </a:r>
          </a:p>
          <a:p>
            <a:pPr marL="187325" indent="-187325" fontAlgn="b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000000"/>
                </a:solidFill>
              </a:rPr>
              <a:t>Advanced offer/services bundling</a:t>
            </a:r>
          </a:p>
          <a:p>
            <a:pPr marL="187325" indent="-187325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000000"/>
                </a:solidFill>
              </a:rPr>
              <a:t>Iterative audits &amp; Validation of models </a:t>
            </a:r>
          </a:p>
          <a:p>
            <a:pPr marL="187325" indent="-187325">
              <a:buFont typeface="Arial" pitchFamily="34" charset="0"/>
              <a:buChar char="•"/>
            </a:pPr>
            <a:endParaRPr lang="en-US" sz="1400" dirty="0" smtClean="0">
              <a:solidFill>
                <a:srgbClr val="000000"/>
              </a:solidFill>
            </a:endParaRPr>
          </a:p>
          <a:p>
            <a:pPr marL="187325" indent="-187325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000000"/>
                </a:solidFill>
              </a:rPr>
              <a:t>Offline &amp; Online integration </a:t>
            </a:r>
          </a:p>
          <a:p>
            <a:pPr marL="187325" indent="-187325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000000"/>
                </a:solidFill>
              </a:rPr>
              <a:t>Real time data analytics</a:t>
            </a:r>
          </a:p>
          <a:p>
            <a:pPr marL="187325" indent="-187325">
              <a:buFont typeface="Arial" pitchFamily="34" charset="0"/>
              <a:buChar char="•"/>
            </a:pPr>
            <a:r>
              <a:rPr lang="en-IN" sz="1400" dirty="0" smtClean="0">
                <a:solidFill>
                  <a:srgbClr val="000000"/>
                </a:solidFill>
              </a:rPr>
              <a:t>Leverage internal &amp; external data to the fullest</a:t>
            </a:r>
          </a:p>
          <a:p>
            <a:pPr marL="187325" indent="-187325">
              <a:buFont typeface="Arial" pitchFamily="34" charset="0"/>
              <a:buChar char="•"/>
            </a:pPr>
            <a:r>
              <a:rPr lang="en-IN" sz="1400" dirty="0" smtClean="0">
                <a:solidFill>
                  <a:srgbClr val="000000"/>
                </a:solidFill>
              </a:rPr>
              <a:t>Web, mobile, text, voice &amp; social media analysis linked with social stature </a:t>
            </a:r>
          </a:p>
        </p:txBody>
      </p:sp>
      <p:pic>
        <p:nvPicPr>
          <p:cNvPr id="31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7127" y="1865085"/>
            <a:ext cx="211302" cy="199563"/>
          </a:xfrm>
          <a:prstGeom prst="rect">
            <a:avLst/>
          </a:prstGeom>
          <a:noFill/>
        </p:spPr>
      </p:pic>
      <p:sp>
        <p:nvSpPr>
          <p:cNvPr id="33" name="TextBox 32"/>
          <p:cNvSpPr txBox="1"/>
          <p:nvPr/>
        </p:nvSpPr>
        <p:spPr bwMode="gray">
          <a:xfrm>
            <a:off x="346605" y="1815102"/>
            <a:ext cx="2547020" cy="245927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IN" sz="1200" i="1" dirty="0" smtClean="0">
                <a:solidFill>
                  <a:schemeClr val="accent6">
                    <a:lumMod val="50000"/>
                  </a:schemeClr>
                </a:solidFill>
              </a:rPr>
              <a:t>Currently present at IHCL</a:t>
            </a:r>
          </a:p>
        </p:txBody>
      </p:sp>
      <p:pic>
        <p:nvPicPr>
          <p:cNvPr id="36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29701" y="2573057"/>
            <a:ext cx="211302" cy="199563"/>
          </a:xfrm>
          <a:prstGeom prst="rect">
            <a:avLst/>
          </a:prstGeom>
          <a:noFill/>
        </p:spPr>
      </p:pic>
      <p:cxnSp>
        <p:nvCxnSpPr>
          <p:cNvPr id="24" name="Straight Connector 23"/>
          <p:cNvCxnSpPr/>
          <p:nvPr/>
        </p:nvCxnSpPr>
        <p:spPr>
          <a:xfrm rot="10800000">
            <a:off x="76201" y="3169921"/>
            <a:ext cx="11883053" cy="18015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10800000">
            <a:off x="367147" y="5377481"/>
            <a:ext cx="11492345" cy="6234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7450" y="2513350"/>
            <a:ext cx="1493520" cy="50292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Segmentation &amp; Profiling</a:t>
            </a:r>
            <a:endParaRPr lang="en-IN" sz="1400" dirty="0"/>
          </a:p>
        </p:txBody>
      </p:sp>
      <p:sp>
        <p:nvSpPr>
          <p:cNvPr id="40" name="Rounded Rectangle 39"/>
          <p:cNvSpPr/>
          <p:nvPr/>
        </p:nvSpPr>
        <p:spPr>
          <a:xfrm>
            <a:off x="62210" y="3367540"/>
            <a:ext cx="1493520" cy="50292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Campaign Management</a:t>
            </a:r>
            <a:endParaRPr lang="en-IN" sz="1400" dirty="0"/>
          </a:p>
        </p:txBody>
      </p:sp>
      <p:cxnSp>
        <p:nvCxnSpPr>
          <p:cNvPr id="41" name="Straight Connector 40"/>
          <p:cNvCxnSpPr/>
          <p:nvPr/>
        </p:nvCxnSpPr>
        <p:spPr>
          <a:xfrm rot="10800000">
            <a:off x="182881" y="4082308"/>
            <a:ext cx="11883053" cy="18015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2210" y="4418350"/>
            <a:ext cx="1493520" cy="50292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Predictive </a:t>
            </a:r>
          </a:p>
          <a:p>
            <a:pPr algn="ctr"/>
            <a:r>
              <a:rPr lang="en-IN" sz="1400" dirty="0" smtClean="0"/>
              <a:t>Analysis</a:t>
            </a:r>
            <a:endParaRPr lang="en-IN" sz="1400" dirty="0"/>
          </a:p>
        </p:txBody>
      </p:sp>
      <p:sp>
        <p:nvSpPr>
          <p:cNvPr id="43" name="Rounded Rectangle 42"/>
          <p:cNvSpPr/>
          <p:nvPr/>
        </p:nvSpPr>
        <p:spPr>
          <a:xfrm>
            <a:off x="62210" y="5562099"/>
            <a:ext cx="1493520" cy="782417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Big Data &amp; Advanced</a:t>
            </a:r>
          </a:p>
          <a:p>
            <a:pPr algn="ctr"/>
            <a:r>
              <a:rPr lang="en-IN" sz="1400" dirty="0" smtClean="0"/>
              <a:t>Analysis</a:t>
            </a:r>
            <a:endParaRPr lang="en-IN" sz="1400" dirty="0"/>
          </a:p>
        </p:txBody>
      </p:sp>
      <p:pic>
        <p:nvPicPr>
          <p:cNvPr id="44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29701" y="3243617"/>
            <a:ext cx="211302" cy="199563"/>
          </a:xfrm>
          <a:prstGeom prst="rect">
            <a:avLst/>
          </a:prstGeom>
          <a:noFill/>
        </p:spPr>
      </p:pic>
      <p:pic>
        <p:nvPicPr>
          <p:cNvPr id="45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61" y="3655097"/>
            <a:ext cx="211302" cy="199563"/>
          </a:xfrm>
          <a:prstGeom prst="rect">
            <a:avLst/>
          </a:prstGeom>
          <a:noFill/>
        </p:spPr>
      </p:pic>
      <p:pic>
        <p:nvPicPr>
          <p:cNvPr id="46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29701" y="4279937"/>
            <a:ext cx="211302" cy="199563"/>
          </a:xfrm>
          <a:prstGeom prst="rect">
            <a:avLst/>
          </a:prstGeom>
          <a:noFill/>
        </p:spPr>
      </p:pic>
      <p:pic>
        <p:nvPicPr>
          <p:cNvPr id="47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29701" y="5556847"/>
            <a:ext cx="211302" cy="199563"/>
          </a:xfrm>
          <a:prstGeom prst="rect">
            <a:avLst/>
          </a:prstGeom>
          <a:noFill/>
        </p:spPr>
      </p:pic>
      <p:pic>
        <p:nvPicPr>
          <p:cNvPr id="48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0142" y="5575337"/>
            <a:ext cx="211302" cy="199563"/>
          </a:xfrm>
          <a:prstGeom prst="rect">
            <a:avLst/>
          </a:prstGeom>
          <a:noFill/>
        </p:spPr>
      </p:pic>
      <p:pic>
        <p:nvPicPr>
          <p:cNvPr id="49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52505" y="4333994"/>
            <a:ext cx="211302" cy="199563"/>
          </a:xfrm>
          <a:prstGeom prst="rect">
            <a:avLst/>
          </a:prstGeom>
          <a:noFill/>
        </p:spPr>
      </p:pic>
      <p:pic>
        <p:nvPicPr>
          <p:cNvPr id="51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54518" y="4744316"/>
            <a:ext cx="211302" cy="1995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IHCL Current &amp; Desired Landscape – Infrastructure &amp; Reporting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12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78421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/>
              <a:t>Opportunities lie in Data Centralization, Consolidation, Rationalization to further advance Analytical capabilities efficiently</a:t>
            </a:r>
          </a:p>
          <a:p>
            <a:pPr algn="just"/>
            <a:endParaRPr lang="en-IN" dirty="0"/>
          </a:p>
        </p:txBody>
      </p:sp>
      <p:cxnSp>
        <p:nvCxnSpPr>
          <p:cNvPr id="87" name="Straight Connector 86"/>
          <p:cNvCxnSpPr/>
          <p:nvPr/>
        </p:nvCxnSpPr>
        <p:spPr>
          <a:xfrm>
            <a:off x="493893" y="1795507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Rectangle 213"/>
          <p:cNvSpPr>
            <a:spLocks noChangeArrowheads="1"/>
          </p:cNvSpPr>
          <p:nvPr/>
        </p:nvSpPr>
        <p:spPr bwMode="auto">
          <a:xfrm>
            <a:off x="229058" y="5570990"/>
            <a:ext cx="5199289" cy="307777"/>
          </a:xfrm>
          <a:prstGeom prst="rect">
            <a:avLst/>
          </a:prstGeom>
          <a:solidFill>
            <a:srgbClr val="002D72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b="1" dirty="0" smtClean="0">
                <a:solidFill>
                  <a:srgbClr val="FFFFFF"/>
                </a:solidFill>
                <a:latin typeface="+mj-lt"/>
              </a:rPr>
              <a:t>Challenges of Current State</a:t>
            </a:r>
            <a:endParaRPr lang="en-US" sz="14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03426" name="AutoShape 2" descr="Image result for pdf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428" name="AutoShape 4" descr="Image result for pdf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430" name="AutoShape 6" descr="Image result for pdf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434" name="AutoShape 10" descr="Image result for word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436" name="AutoShape 12" descr="Image result for word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446" name="AutoShape 22" descr="Image result for medallia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106" name="Group 105"/>
          <p:cNvGrpSpPr/>
          <p:nvPr/>
        </p:nvGrpSpPr>
        <p:grpSpPr>
          <a:xfrm>
            <a:off x="449943" y="1938468"/>
            <a:ext cx="4702632" cy="3591474"/>
            <a:chOff x="449943" y="1909440"/>
            <a:chExt cx="4702632" cy="3591474"/>
          </a:xfrm>
        </p:grpSpPr>
        <p:grpSp>
          <p:nvGrpSpPr>
            <p:cNvPr id="104" name="Group 103"/>
            <p:cNvGrpSpPr/>
            <p:nvPr/>
          </p:nvGrpSpPr>
          <p:grpSpPr>
            <a:xfrm>
              <a:off x="787892" y="2931881"/>
              <a:ext cx="4081652" cy="943433"/>
              <a:chOff x="787892" y="2931881"/>
              <a:chExt cx="4081652" cy="943433"/>
            </a:xfrm>
          </p:grpSpPr>
          <p:pic>
            <p:nvPicPr>
              <p:cNvPr id="56" name="Picture 4" descr="Image result for excels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0051" y="3559003"/>
                <a:ext cx="312065" cy="3120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7" name="Picture 8" descr="https://encrypted-tbn2.gstatic.com/images?q=tbn:ANd9GcQ1He1rbtIgXw9EftJkK_RXNejLxCv8CdYQ56Slrb5YHZS-gamStKViwg"/>
              <p:cNvPicPr>
                <a:picLocks noChangeAspect="1" noChangeArrowheads="1"/>
              </p:cNvPicPr>
              <p:nvPr/>
            </p:nvPicPr>
            <p:blipFill>
              <a:blip r:embed="rId4"/>
              <a:srcRect r="2601" b="25481"/>
              <a:stretch>
                <a:fillRect/>
              </a:stretch>
            </p:blipFill>
            <p:spPr bwMode="auto">
              <a:xfrm>
                <a:off x="1142546" y="3546983"/>
                <a:ext cx="381457" cy="328331"/>
              </a:xfrm>
              <a:prstGeom prst="rect">
                <a:avLst/>
              </a:prstGeom>
              <a:noFill/>
            </p:spPr>
          </p:pic>
          <p:sp>
            <p:nvSpPr>
              <p:cNvPr id="61" name="Rounded Rectangle 60"/>
              <p:cNvSpPr/>
              <p:nvPr/>
            </p:nvSpPr>
            <p:spPr bwMode="auto">
              <a:xfrm>
                <a:off x="2144656" y="3555999"/>
                <a:ext cx="395353" cy="290285"/>
              </a:xfrm>
              <a:prstGeom prst="roundRect">
                <a:avLst/>
              </a:prstGeom>
              <a:solidFill>
                <a:srgbClr val="CC9B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b="1" kern="0" dirty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BI</a:t>
                </a:r>
              </a:p>
            </p:txBody>
          </p:sp>
          <p:pic>
            <p:nvPicPr>
              <p:cNvPr id="62" name="Picture 4" descr="Image result for excels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41715" y="3551746"/>
                <a:ext cx="312065" cy="3120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7" name="Picture 4" descr="Image result for excels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64860" y="3544491"/>
                <a:ext cx="312065" cy="3120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444" name="Picture 20" descr="https://encrypted-tbn3.gstatic.com/images?q=tbn:ANd9GcRcftzTWW-1zg-UMcSa6dLvC9t7Y9v4Tql4UXjXu1xbfuGpTXulX3StNQ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2670630" y="3531045"/>
                <a:ext cx="291201" cy="291201"/>
              </a:xfrm>
              <a:prstGeom prst="rect">
                <a:avLst/>
              </a:prstGeom>
              <a:noFill/>
            </p:spPr>
          </p:pic>
          <p:sp>
            <p:nvSpPr>
              <p:cNvPr id="77" name="Rounded Rectangle 76"/>
              <p:cNvSpPr/>
              <p:nvPr/>
            </p:nvSpPr>
            <p:spPr bwMode="auto">
              <a:xfrm>
                <a:off x="787892" y="2939138"/>
                <a:ext cx="692566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Sales</a:t>
                </a: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Team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78" name="Rounded Rectangle 77"/>
              <p:cNvSpPr/>
              <p:nvPr/>
            </p:nvSpPr>
            <p:spPr bwMode="auto">
              <a:xfrm>
                <a:off x="1724065" y="2931881"/>
                <a:ext cx="590976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Ops</a:t>
                </a: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Team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79" name="Rounded Rectangle 78"/>
              <p:cNvSpPr/>
              <p:nvPr/>
            </p:nvSpPr>
            <p:spPr bwMode="auto">
              <a:xfrm>
                <a:off x="2442511" y="2939141"/>
                <a:ext cx="590976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Fin</a:t>
                </a: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Team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  <p:pic>
            <p:nvPicPr>
              <p:cNvPr id="103450" name="Picture 26" descr="https://encrypted-tbn2.gstatic.com/images?q=tbn:ANd9GcQPWYF9OxHgSTShK2T1LbGeIszoljytsi5H7rrlrt8cRpbqdH9hWQ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3247117" y="3490688"/>
                <a:ext cx="381452" cy="381452"/>
              </a:xfrm>
              <a:prstGeom prst="rect">
                <a:avLst/>
              </a:prstGeom>
              <a:noFill/>
            </p:spPr>
          </p:pic>
          <p:sp>
            <p:nvSpPr>
              <p:cNvPr id="83" name="Rounded Rectangle 82"/>
              <p:cNvSpPr/>
              <p:nvPr/>
            </p:nvSpPr>
            <p:spPr bwMode="auto">
              <a:xfrm>
                <a:off x="3277090" y="2946395"/>
                <a:ext cx="692566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Mktg.</a:t>
                </a: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Team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85" name="Rounded Rectangle 84"/>
              <p:cNvSpPr/>
              <p:nvPr/>
            </p:nvSpPr>
            <p:spPr bwMode="auto">
              <a:xfrm>
                <a:off x="4234993" y="2946401"/>
                <a:ext cx="590976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Fin</a:t>
                </a: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Team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  <p:pic>
            <p:nvPicPr>
              <p:cNvPr id="86" name="Picture 4" descr="Image result for excels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80116" y="3522719"/>
                <a:ext cx="312065" cy="3120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8" name="Picture 8" descr="https://encrypted-tbn2.gstatic.com/images?q=tbn:ANd9GcQ1He1rbtIgXw9EftJkK_RXNejLxCv8CdYQ56Slrb5YHZS-gamStKViwg"/>
              <p:cNvPicPr>
                <a:picLocks noChangeAspect="1" noChangeArrowheads="1"/>
              </p:cNvPicPr>
              <p:nvPr/>
            </p:nvPicPr>
            <p:blipFill>
              <a:blip r:embed="rId4"/>
              <a:srcRect r="2601" b="25481"/>
              <a:stretch>
                <a:fillRect/>
              </a:stretch>
            </p:blipFill>
            <p:spPr bwMode="auto">
              <a:xfrm>
                <a:off x="4488087" y="3510697"/>
                <a:ext cx="381457" cy="328331"/>
              </a:xfrm>
              <a:prstGeom prst="rect">
                <a:avLst/>
              </a:prstGeom>
              <a:noFill/>
            </p:spPr>
          </p:pic>
        </p:grpSp>
        <p:grpSp>
          <p:nvGrpSpPr>
            <p:cNvPr id="103" name="Group 102"/>
            <p:cNvGrpSpPr/>
            <p:nvPr/>
          </p:nvGrpSpPr>
          <p:grpSpPr>
            <a:xfrm>
              <a:off x="751603" y="4855027"/>
              <a:ext cx="4125196" cy="457207"/>
              <a:chOff x="751603" y="4855027"/>
              <a:chExt cx="4125196" cy="457207"/>
            </a:xfrm>
          </p:grpSpPr>
          <p:sp>
            <p:nvSpPr>
              <p:cNvPr id="74" name="Rounded Rectangle 73"/>
              <p:cNvSpPr/>
              <p:nvPr/>
            </p:nvSpPr>
            <p:spPr bwMode="auto">
              <a:xfrm>
                <a:off x="751603" y="4862281"/>
                <a:ext cx="757881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Data </a:t>
                </a: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Files 1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75" name="Rounded Rectangle 74"/>
              <p:cNvSpPr/>
              <p:nvPr/>
            </p:nvSpPr>
            <p:spPr bwMode="auto">
              <a:xfrm>
                <a:off x="3269785" y="4855027"/>
                <a:ext cx="707129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Data </a:t>
                </a: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Files 2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76" name="Rounded Rectangle 75"/>
              <p:cNvSpPr/>
              <p:nvPr/>
            </p:nvSpPr>
            <p:spPr bwMode="auto">
              <a:xfrm>
                <a:off x="1665957" y="4862284"/>
                <a:ext cx="1425586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Enterprise Data </a:t>
                </a: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Warehouse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89" name="Rounded Rectangle 88"/>
              <p:cNvSpPr/>
              <p:nvPr/>
            </p:nvSpPr>
            <p:spPr bwMode="auto">
              <a:xfrm>
                <a:off x="4133372" y="4862287"/>
                <a:ext cx="743427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Data </a:t>
                </a: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Files 3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90" name="Rounded Rectangle 89"/>
            <p:cNvSpPr/>
            <p:nvPr/>
          </p:nvSpPr>
          <p:spPr bwMode="auto">
            <a:xfrm>
              <a:off x="711893" y="2779483"/>
              <a:ext cx="826621" cy="2641600"/>
            </a:xfrm>
            <a:prstGeom prst="roundRect">
              <a:avLst/>
            </a:prstGeom>
            <a:noFill/>
            <a:ln w="3175" cap="flat" cmpd="sng" algn="ctr">
              <a:solidFill>
                <a:srgbClr val="00308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700" u="sng" kern="0" dirty="0">
                <a:solidFill>
                  <a:srgbClr val="003082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91" name="Rounded Rectangle 90"/>
            <p:cNvSpPr/>
            <p:nvPr/>
          </p:nvSpPr>
          <p:spPr bwMode="auto">
            <a:xfrm>
              <a:off x="1619021" y="2772229"/>
              <a:ext cx="1516065" cy="2641600"/>
            </a:xfrm>
            <a:prstGeom prst="roundRect">
              <a:avLst/>
            </a:prstGeom>
            <a:noFill/>
            <a:ln w="3175" cap="flat" cmpd="sng" algn="ctr">
              <a:solidFill>
                <a:srgbClr val="00308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700" u="sng" kern="0" dirty="0">
                <a:solidFill>
                  <a:srgbClr val="003082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92" name="Rounded Rectangle 91"/>
            <p:cNvSpPr/>
            <p:nvPr/>
          </p:nvSpPr>
          <p:spPr bwMode="auto">
            <a:xfrm>
              <a:off x="3201047" y="2772229"/>
              <a:ext cx="826621" cy="2641600"/>
            </a:xfrm>
            <a:prstGeom prst="roundRect">
              <a:avLst/>
            </a:prstGeom>
            <a:noFill/>
            <a:ln w="3175" cap="flat" cmpd="sng" algn="ctr">
              <a:solidFill>
                <a:srgbClr val="00308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700" u="sng" kern="0" dirty="0">
                <a:solidFill>
                  <a:srgbClr val="003082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93" name="Rounded Rectangle 92"/>
            <p:cNvSpPr/>
            <p:nvPr/>
          </p:nvSpPr>
          <p:spPr bwMode="auto">
            <a:xfrm>
              <a:off x="4108175" y="2764975"/>
              <a:ext cx="826621" cy="2641600"/>
            </a:xfrm>
            <a:prstGeom prst="roundRect">
              <a:avLst/>
            </a:prstGeom>
            <a:noFill/>
            <a:ln w="3175" cap="flat" cmpd="sng" algn="ctr">
              <a:solidFill>
                <a:srgbClr val="00308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700" u="sng" kern="0" dirty="0">
                <a:solidFill>
                  <a:srgbClr val="003082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60" name="Rounded Rectangle 59"/>
            <p:cNvSpPr/>
            <p:nvPr/>
          </p:nvSpPr>
          <p:spPr bwMode="auto">
            <a:xfrm>
              <a:off x="671774" y="4419596"/>
              <a:ext cx="4321140" cy="341090"/>
            </a:xfrm>
            <a:prstGeom prst="roundRect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Lack of single golden source</a:t>
              </a:r>
              <a:endParaRPr lang="en-US" sz="1400" kern="0" dirty="0">
                <a:solidFill>
                  <a:schemeClr val="bg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58" name="Rounded Rectangle 57"/>
            <p:cNvSpPr/>
            <p:nvPr/>
          </p:nvSpPr>
          <p:spPr bwMode="auto">
            <a:xfrm>
              <a:off x="664514" y="3918859"/>
              <a:ext cx="4313886" cy="319313"/>
            </a:xfrm>
            <a:prstGeom prst="roundRect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Lack of advanced analytic tools</a:t>
              </a:r>
              <a:endParaRPr lang="en-US" sz="1400" kern="0" dirty="0">
                <a:solidFill>
                  <a:schemeClr val="bg1"/>
                </a:solidFill>
                <a:latin typeface="+mj-lt"/>
                <a:cs typeface="Arial" pitchFamily="34" charset="0"/>
              </a:endParaRPr>
            </a:p>
          </p:txBody>
        </p:sp>
        <p:grpSp>
          <p:nvGrpSpPr>
            <p:cNvPr id="105" name="Group 104"/>
            <p:cNvGrpSpPr/>
            <p:nvPr/>
          </p:nvGrpSpPr>
          <p:grpSpPr>
            <a:xfrm>
              <a:off x="773376" y="2155374"/>
              <a:ext cx="4226744" cy="464455"/>
              <a:chOff x="773376" y="2155374"/>
              <a:chExt cx="4226744" cy="464455"/>
            </a:xfrm>
          </p:grpSpPr>
          <p:sp>
            <p:nvSpPr>
              <p:cNvPr id="94" name="Rounded Rectangle 93"/>
              <p:cNvSpPr/>
              <p:nvPr/>
            </p:nvSpPr>
            <p:spPr bwMode="auto">
              <a:xfrm>
                <a:off x="773376" y="2169882"/>
                <a:ext cx="910284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Business</a:t>
                </a: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Analysis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95" name="Rounded Rectangle 94"/>
              <p:cNvSpPr/>
              <p:nvPr/>
            </p:nvSpPr>
            <p:spPr bwMode="auto">
              <a:xfrm>
                <a:off x="1727204" y="2162628"/>
                <a:ext cx="1037754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Campaign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96" name="Rounded Rectangle 95"/>
              <p:cNvSpPr/>
              <p:nvPr/>
            </p:nvSpPr>
            <p:spPr bwMode="auto">
              <a:xfrm>
                <a:off x="2848884" y="2155374"/>
                <a:ext cx="982888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Predictive</a:t>
                </a: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Analytics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97" name="Rounded Rectangle 96"/>
              <p:cNvSpPr/>
              <p:nvPr/>
            </p:nvSpPr>
            <p:spPr bwMode="auto">
              <a:xfrm>
                <a:off x="3886637" y="2162634"/>
                <a:ext cx="1113483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Quantitative</a:t>
                </a: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Sciences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99" name="Rounded Rectangle 98"/>
            <p:cNvSpPr/>
            <p:nvPr/>
          </p:nvSpPr>
          <p:spPr>
            <a:xfrm>
              <a:off x="449943" y="4354287"/>
              <a:ext cx="4688112" cy="114662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0" name="Rounded Rectangle 99"/>
            <p:cNvSpPr/>
            <p:nvPr/>
          </p:nvSpPr>
          <p:spPr>
            <a:xfrm>
              <a:off x="457203" y="2728686"/>
              <a:ext cx="4688112" cy="156031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464463" y="1930399"/>
              <a:ext cx="4688112" cy="72571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102" name="TextBox 101"/>
            <p:cNvSpPr txBox="1"/>
            <p:nvPr/>
          </p:nvSpPr>
          <p:spPr bwMode="gray">
            <a:xfrm>
              <a:off x="1582283" y="1909440"/>
              <a:ext cx="2353905" cy="416466"/>
            </a:xfrm>
            <a:prstGeom prst="rect">
              <a:avLst/>
            </a:prstGeom>
          </p:spPr>
          <p:txBody>
            <a:bodyPr vert="horz" wrap="none" lIns="91440" tIns="45720" rIns="91440" bIns="45720" rtlCol="0" anchor="t">
              <a:noAutofit/>
            </a:bodyPr>
            <a:lstStyle/>
            <a:p>
              <a:pPr algn="ctr"/>
              <a:r>
                <a:rPr lang="en-IN" sz="1200" b="1" dirty="0" smtClean="0">
                  <a:latin typeface="+mj-lt"/>
                </a:rPr>
                <a:t>Potential Activities</a:t>
              </a: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83927" y="5853812"/>
            <a:ext cx="5518591" cy="925598"/>
            <a:chOff x="388721" y="5665130"/>
            <a:chExt cx="5518591" cy="925598"/>
          </a:xfrm>
        </p:grpSpPr>
        <p:sp>
          <p:nvSpPr>
            <p:cNvPr id="216" name="Rounded Rectangle 104"/>
            <p:cNvSpPr>
              <a:spLocks noChangeArrowheads="1"/>
            </p:cNvSpPr>
            <p:nvPr/>
          </p:nvSpPr>
          <p:spPr bwMode="auto">
            <a:xfrm>
              <a:off x="388721" y="5665130"/>
              <a:ext cx="2760879" cy="912590"/>
            </a:xfrm>
            <a:prstGeom prst="roundRect">
              <a:avLst>
                <a:gd name="adj" fmla="val 16667"/>
              </a:avLst>
            </a:prstGeom>
          </p:spPr>
          <p:txBody>
            <a:bodyPr wrap="square">
              <a:spAutoFit/>
            </a:bodyPr>
            <a:lstStyle/>
            <a:p>
              <a:pPr marL="342900" indent="-342900" fontAlgn="auto">
                <a:spcBef>
                  <a:spcPct val="20000"/>
                </a:spcBef>
                <a:spcAft>
                  <a:spcPts val="0"/>
                </a:spcAft>
                <a:buClr>
                  <a:srgbClr val="53565A"/>
                </a:buClr>
                <a:buFont typeface="Arial" pitchFamily="34" charset="0"/>
                <a:buChar char="•"/>
              </a:pPr>
              <a:r>
                <a:rPr lang="en-US" sz="1400" dirty="0">
                  <a:solidFill>
                    <a:prstClr val="black"/>
                  </a:solidFill>
                  <a:latin typeface="+mj-lt"/>
                  <a:cs typeface="Arial" pitchFamily="34" charset="0"/>
                </a:rPr>
                <a:t>Manual Intervention </a:t>
              </a:r>
            </a:p>
            <a:p>
              <a:pPr marL="342900" indent="-342900" fontAlgn="auto">
                <a:spcBef>
                  <a:spcPct val="20000"/>
                </a:spcBef>
                <a:spcAft>
                  <a:spcPts val="0"/>
                </a:spcAft>
                <a:buClr>
                  <a:srgbClr val="53565A"/>
                </a:buClr>
                <a:buFont typeface="Arial" pitchFamily="34" charset="0"/>
                <a:buChar char="•"/>
              </a:pPr>
              <a:r>
                <a:rPr lang="en-US" sz="1400" dirty="0">
                  <a:solidFill>
                    <a:prstClr val="black"/>
                  </a:solidFill>
                  <a:latin typeface="+mj-lt"/>
                  <a:cs typeface="Arial" pitchFamily="34" charset="0"/>
                </a:rPr>
                <a:t>Data Analysis Limitations</a:t>
              </a:r>
            </a:p>
            <a:p>
              <a:pPr marL="342900" indent="-342900" fontAlgn="auto">
                <a:spcBef>
                  <a:spcPct val="20000"/>
                </a:spcBef>
                <a:spcAft>
                  <a:spcPts val="0"/>
                </a:spcAft>
                <a:buClr>
                  <a:srgbClr val="53565A"/>
                </a:buClr>
                <a:buFont typeface="Arial" pitchFamily="34" charset="0"/>
                <a:buChar char="•"/>
              </a:pPr>
              <a:r>
                <a:rPr lang="en-US" sz="1400" dirty="0">
                  <a:solidFill>
                    <a:prstClr val="black"/>
                  </a:solidFill>
                  <a:latin typeface="+mj-lt"/>
                  <a:cs typeface="Arial" pitchFamily="34" charset="0"/>
                </a:rPr>
                <a:t>Space </a:t>
              </a:r>
              <a:r>
                <a:rPr lang="en-US" sz="1400" dirty="0" smtClean="0">
                  <a:solidFill>
                    <a:prstClr val="black"/>
                  </a:solidFill>
                  <a:latin typeface="+mj-lt"/>
                  <a:cs typeface="Arial" pitchFamily="34" charset="0"/>
                </a:rPr>
                <a:t>Constraints</a:t>
              </a:r>
              <a:endParaRPr lang="en-US" sz="1400" dirty="0">
                <a:solidFill>
                  <a:prstClr val="black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07" name="Rounded Rectangle 104"/>
            <p:cNvSpPr>
              <a:spLocks noChangeArrowheads="1"/>
            </p:cNvSpPr>
            <p:nvPr/>
          </p:nvSpPr>
          <p:spPr bwMode="auto">
            <a:xfrm>
              <a:off x="2950485" y="5678138"/>
              <a:ext cx="2956827" cy="912590"/>
            </a:xfrm>
            <a:prstGeom prst="roundRect">
              <a:avLst>
                <a:gd name="adj" fmla="val 16667"/>
              </a:avLst>
            </a:prstGeom>
          </p:spPr>
          <p:txBody>
            <a:bodyPr wrap="square">
              <a:spAutoFit/>
            </a:bodyPr>
            <a:lstStyle/>
            <a:p>
              <a:pPr marL="342900" indent="-342900" fontAlgn="auto">
                <a:spcBef>
                  <a:spcPct val="20000"/>
                </a:spcBef>
                <a:spcAft>
                  <a:spcPts val="0"/>
                </a:spcAft>
                <a:buClr>
                  <a:srgbClr val="53565A"/>
                </a:buClr>
                <a:buFont typeface="Arial" pitchFamily="34" charset="0"/>
                <a:buChar char="•"/>
              </a:pPr>
              <a:r>
                <a:rPr lang="en-US" sz="1400" dirty="0" smtClean="0">
                  <a:solidFill>
                    <a:prstClr val="black"/>
                  </a:solidFill>
                  <a:latin typeface="+mj-lt"/>
                  <a:cs typeface="Arial" pitchFamily="34" charset="0"/>
                </a:rPr>
                <a:t>Increased </a:t>
              </a:r>
              <a:r>
                <a:rPr lang="en-US" sz="1400" dirty="0">
                  <a:solidFill>
                    <a:prstClr val="black"/>
                  </a:solidFill>
                  <a:latin typeface="+mj-lt"/>
                  <a:cs typeface="Arial" pitchFamily="34" charset="0"/>
                </a:rPr>
                <a:t>complexity</a:t>
              </a:r>
            </a:p>
            <a:p>
              <a:pPr marL="342900" indent="-342900" fontAlgn="auto">
                <a:spcBef>
                  <a:spcPct val="20000"/>
                </a:spcBef>
                <a:spcAft>
                  <a:spcPts val="0"/>
                </a:spcAft>
                <a:buClr>
                  <a:srgbClr val="53565A"/>
                </a:buClr>
                <a:buFont typeface="Arial" pitchFamily="34" charset="0"/>
                <a:buChar char="•"/>
              </a:pPr>
              <a:r>
                <a:rPr lang="en-US" sz="1400" dirty="0">
                  <a:solidFill>
                    <a:prstClr val="black"/>
                  </a:solidFill>
                  <a:latin typeface="+mj-lt"/>
                  <a:cs typeface="Arial" pitchFamily="34" charset="0"/>
                </a:rPr>
                <a:t>Limited </a:t>
              </a:r>
              <a:r>
                <a:rPr lang="en-US" sz="1400" dirty="0" smtClean="0">
                  <a:solidFill>
                    <a:prstClr val="black"/>
                  </a:solidFill>
                  <a:latin typeface="+mj-lt"/>
                  <a:cs typeface="Arial" pitchFamily="34" charset="0"/>
                </a:rPr>
                <a:t>Flexibility</a:t>
              </a:r>
            </a:p>
            <a:p>
              <a:pPr marL="342900" indent="-342900" fontAlgn="auto">
                <a:spcBef>
                  <a:spcPct val="20000"/>
                </a:spcBef>
                <a:spcAft>
                  <a:spcPts val="0"/>
                </a:spcAft>
                <a:buClr>
                  <a:srgbClr val="53565A"/>
                </a:buClr>
                <a:buFont typeface="Arial" pitchFamily="34" charset="0"/>
                <a:buChar char="•"/>
              </a:pPr>
              <a:r>
                <a:rPr lang="en-US" sz="1400" dirty="0" smtClean="0">
                  <a:solidFill>
                    <a:prstClr val="black"/>
                  </a:solidFill>
                  <a:latin typeface="+mj-lt"/>
                  <a:cs typeface="Arial" pitchFamily="34" charset="0"/>
                </a:rPr>
                <a:t>Segmented Business Views</a:t>
              </a:r>
              <a:endParaRPr lang="en-US" sz="1400" dirty="0">
                <a:solidFill>
                  <a:prstClr val="black"/>
                </a:solidFill>
                <a:latin typeface="+mj-lt"/>
                <a:cs typeface="Arial" pitchFamily="34" charset="0"/>
              </a:endParaRPr>
            </a:p>
          </p:txBody>
        </p:sp>
      </p:grpSp>
      <p:sp>
        <p:nvSpPr>
          <p:cNvPr id="109" name="Isosceles Triangle 108"/>
          <p:cNvSpPr/>
          <p:nvPr/>
        </p:nvSpPr>
        <p:spPr bwMode="auto">
          <a:xfrm rot="5400000">
            <a:off x="5041903" y="3467604"/>
            <a:ext cx="2155250" cy="376495"/>
          </a:xfrm>
          <a:prstGeom prst="triangle">
            <a:avLst/>
          </a:prstGeom>
          <a:solidFill>
            <a:srgbClr val="BED8EC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 dirty="0">
              <a:solidFill>
                <a:prstClr val="black"/>
              </a:solidFill>
              <a:latin typeface="+mj-lt"/>
              <a:cs typeface="Arial" pitchFamily="34" charset="0"/>
            </a:endParaRPr>
          </a:p>
        </p:txBody>
      </p:sp>
      <p:sp>
        <p:nvSpPr>
          <p:cNvPr id="151" name="Rounded Rectangle 150"/>
          <p:cNvSpPr/>
          <p:nvPr/>
        </p:nvSpPr>
        <p:spPr bwMode="auto">
          <a:xfrm>
            <a:off x="7384625" y="2885484"/>
            <a:ext cx="692566" cy="449947"/>
          </a:xfrm>
          <a:prstGeom prst="roundRect">
            <a:avLst/>
          </a:prstGeom>
          <a:solidFill>
            <a:srgbClr val="0070C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prstClr val="white"/>
                </a:solidFill>
                <a:latin typeface="+mj-lt"/>
                <a:cs typeface="Arial" pitchFamily="34" charset="0"/>
              </a:rPr>
              <a:t>Sales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prstClr val="white"/>
                </a:solidFill>
                <a:latin typeface="+mj-lt"/>
                <a:cs typeface="Arial" pitchFamily="34" charset="0"/>
              </a:rPr>
              <a:t>Team</a:t>
            </a:r>
            <a:endParaRPr lang="en-US" sz="1400" kern="0" dirty="0">
              <a:solidFill>
                <a:prstClr val="white"/>
              </a:solidFill>
              <a:latin typeface="+mj-lt"/>
              <a:cs typeface="Arial" pitchFamily="34" charset="0"/>
            </a:endParaRPr>
          </a:p>
        </p:txBody>
      </p:sp>
      <p:sp>
        <p:nvSpPr>
          <p:cNvPr id="152" name="Rounded Rectangle 151"/>
          <p:cNvSpPr/>
          <p:nvPr/>
        </p:nvSpPr>
        <p:spPr bwMode="auto">
          <a:xfrm>
            <a:off x="8320798" y="2878227"/>
            <a:ext cx="590976" cy="449947"/>
          </a:xfrm>
          <a:prstGeom prst="roundRect">
            <a:avLst/>
          </a:prstGeom>
          <a:solidFill>
            <a:srgbClr val="0070C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prstClr val="white"/>
                </a:solidFill>
                <a:latin typeface="+mj-lt"/>
                <a:cs typeface="Arial" pitchFamily="34" charset="0"/>
              </a:rPr>
              <a:t>Ops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prstClr val="white"/>
                </a:solidFill>
                <a:latin typeface="+mj-lt"/>
                <a:cs typeface="Arial" pitchFamily="34" charset="0"/>
              </a:rPr>
              <a:t>Team</a:t>
            </a:r>
            <a:endParaRPr lang="en-US" sz="1400" kern="0" dirty="0">
              <a:solidFill>
                <a:prstClr val="white"/>
              </a:solidFill>
              <a:latin typeface="+mj-lt"/>
              <a:cs typeface="Arial" pitchFamily="34" charset="0"/>
            </a:endParaRPr>
          </a:p>
        </p:txBody>
      </p:sp>
      <p:sp>
        <p:nvSpPr>
          <p:cNvPr id="154" name="Rounded Rectangle 153"/>
          <p:cNvSpPr/>
          <p:nvPr/>
        </p:nvSpPr>
        <p:spPr bwMode="auto">
          <a:xfrm>
            <a:off x="9039244" y="2885487"/>
            <a:ext cx="590976" cy="449947"/>
          </a:xfrm>
          <a:prstGeom prst="roundRect">
            <a:avLst/>
          </a:prstGeom>
          <a:solidFill>
            <a:srgbClr val="0070C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prstClr val="white"/>
                </a:solidFill>
                <a:latin typeface="+mj-lt"/>
                <a:cs typeface="Arial" pitchFamily="34" charset="0"/>
              </a:rPr>
              <a:t>Fin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prstClr val="white"/>
                </a:solidFill>
                <a:latin typeface="+mj-lt"/>
                <a:cs typeface="Arial" pitchFamily="34" charset="0"/>
              </a:rPr>
              <a:t>Team</a:t>
            </a:r>
            <a:endParaRPr lang="en-US" sz="1400" kern="0" dirty="0">
              <a:solidFill>
                <a:prstClr val="white"/>
              </a:solidFill>
              <a:latin typeface="+mj-lt"/>
              <a:cs typeface="Arial" pitchFamily="34" charset="0"/>
            </a:endParaRPr>
          </a:p>
        </p:txBody>
      </p:sp>
      <p:sp>
        <p:nvSpPr>
          <p:cNvPr id="157" name="Rounded Rectangle 156"/>
          <p:cNvSpPr/>
          <p:nvPr/>
        </p:nvSpPr>
        <p:spPr bwMode="auto">
          <a:xfrm>
            <a:off x="9873823" y="2892741"/>
            <a:ext cx="692566" cy="449947"/>
          </a:xfrm>
          <a:prstGeom prst="roundRect">
            <a:avLst/>
          </a:prstGeom>
          <a:solidFill>
            <a:srgbClr val="0070C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prstClr val="white"/>
                </a:solidFill>
                <a:latin typeface="+mj-lt"/>
                <a:cs typeface="Arial" pitchFamily="34" charset="0"/>
              </a:rPr>
              <a:t>Mktg.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prstClr val="white"/>
                </a:solidFill>
                <a:latin typeface="+mj-lt"/>
                <a:cs typeface="Arial" pitchFamily="34" charset="0"/>
              </a:rPr>
              <a:t>Team</a:t>
            </a:r>
            <a:endParaRPr lang="en-US" sz="1400" kern="0" dirty="0">
              <a:solidFill>
                <a:prstClr val="white"/>
              </a:solidFill>
              <a:latin typeface="+mj-lt"/>
              <a:cs typeface="Arial" pitchFamily="34" charset="0"/>
            </a:endParaRPr>
          </a:p>
        </p:txBody>
      </p:sp>
      <p:sp>
        <p:nvSpPr>
          <p:cNvPr id="159" name="Rounded Rectangle 158"/>
          <p:cNvSpPr/>
          <p:nvPr/>
        </p:nvSpPr>
        <p:spPr bwMode="auto">
          <a:xfrm>
            <a:off x="10831726" y="2892747"/>
            <a:ext cx="590976" cy="449947"/>
          </a:xfrm>
          <a:prstGeom prst="roundRect">
            <a:avLst/>
          </a:prstGeom>
          <a:solidFill>
            <a:srgbClr val="0070C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prstClr val="white"/>
                </a:solidFill>
                <a:latin typeface="+mj-lt"/>
                <a:cs typeface="Arial" pitchFamily="34" charset="0"/>
              </a:rPr>
              <a:t>Fin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prstClr val="white"/>
                </a:solidFill>
                <a:latin typeface="+mj-lt"/>
                <a:cs typeface="Arial" pitchFamily="34" charset="0"/>
              </a:rPr>
              <a:t>Team</a:t>
            </a:r>
            <a:endParaRPr lang="en-US" sz="1400" kern="0" dirty="0">
              <a:solidFill>
                <a:prstClr val="white"/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112" name="Group 102"/>
          <p:cNvGrpSpPr/>
          <p:nvPr/>
        </p:nvGrpSpPr>
        <p:grpSpPr>
          <a:xfrm>
            <a:off x="7348336" y="4891313"/>
            <a:ext cx="4125196" cy="457207"/>
            <a:chOff x="751603" y="4855027"/>
            <a:chExt cx="4125196" cy="457207"/>
          </a:xfrm>
        </p:grpSpPr>
        <p:sp>
          <p:nvSpPr>
            <p:cNvPr id="137" name="Rounded Rectangle 136"/>
            <p:cNvSpPr/>
            <p:nvPr/>
          </p:nvSpPr>
          <p:spPr bwMode="auto">
            <a:xfrm>
              <a:off x="751603" y="4862281"/>
              <a:ext cx="757881" cy="449947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Data 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Files 1</a:t>
              </a:r>
              <a:endParaRPr lang="en-US" sz="1400" kern="0" dirty="0">
                <a:solidFill>
                  <a:prstClr val="white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38" name="Rounded Rectangle 137"/>
            <p:cNvSpPr/>
            <p:nvPr/>
          </p:nvSpPr>
          <p:spPr bwMode="auto">
            <a:xfrm>
              <a:off x="3269785" y="4855027"/>
              <a:ext cx="707129" cy="449947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Data 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Files 2</a:t>
              </a:r>
              <a:endParaRPr lang="en-US" sz="1400" kern="0" dirty="0">
                <a:solidFill>
                  <a:prstClr val="white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39" name="Rounded Rectangle 138"/>
            <p:cNvSpPr/>
            <p:nvPr/>
          </p:nvSpPr>
          <p:spPr bwMode="auto">
            <a:xfrm>
              <a:off x="1665957" y="4862284"/>
              <a:ext cx="1425586" cy="449947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Enterprise Data 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Warehouse</a:t>
              </a:r>
              <a:endParaRPr lang="en-US" sz="1400" kern="0" dirty="0">
                <a:solidFill>
                  <a:prstClr val="white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42" name="Rounded Rectangle 141"/>
            <p:cNvSpPr/>
            <p:nvPr/>
          </p:nvSpPr>
          <p:spPr bwMode="auto">
            <a:xfrm>
              <a:off x="4133372" y="4862287"/>
              <a:ext cx="743427" cy="449947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Data 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Files 3</a:t>
              </a:r>
              <a:endParaRPr lang="en-US" sz="1400" kern="0" dirty="0">
                <a:solidFill>
                  <a:prstClr val="white"/>
                </a:solidFill>
                <a:latin typeface="+mj-lt"/>
                <a:cs typeface="Arial" pitchFamily="34" charset="0"/>
              </a:endParaRPr>
            </a:p>
          </p:txBody>
        </p:sp>
      </p:grpSp>
      <p:sp>
        <p:nvSpPr>
          <p:cNvPr id="113" name="Rounded Rectangle 112"/>
          <p:cNvSpPr/>
          <p:nvPr/>
        </p:nvSpPr>
        <p:spPr bwMode="auto">
          <a:xfrm>
            <a:off x="7308626" y="2815769"/>
            <a:ext cx="826621" cy="2641600"/>
          </a:xfrm>
          <a:prstGeom prst="roundRect">
            <a:avLst/>
          </a:prstGeom>
          <a:noFill/>
          <a:ln w="3175" cap="flat" cmpd="sng" algn="ctr">
            <a:solidFill>
              <a:srgbClr val="00308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700" u="sng" kern="0" dirty="0">
              <a:solidFill>
                <a:srgbClr val="003082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4" name="Rounded Rectangle 113"/>
          <p:cNvSpPr/>
          <p:nvPr/>
        </p:nvSpPr>
        <p:spPr bwMode="auto">
          <a:xfrm>
            <a:off x="8215754" y="2808515"/>
            <a:ext cx="1516065" cy="2641600"/>
          </a:xfrm>
          <a:prstGeom prst="roundRect">
            <a:avLst/>
          </a:prstGeom>
          <a:noFill/>
          <a:ln w="3175" cap="flat" cmpd="sng" algn="ctr">
            <a:solidFill>
              <a:srgbClr val="00308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700" u="sng" kern="0" dirty="0">
              <a:solidFill>
                <a:srgbClr val="003082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5" name="Rounded Rectangle 114"/>
          <p:cNvSpPr/>
          <p:nvPr/>
        </p:nvSpPr>
        <p:spPr bwMode="auto">
          <a:xfrm>
            <a:off x="9797780" y="2808515"/>
            <a:ext cx="826621" cy="2641600"/>
          </a:xfrm>
          <a:prstGeom prst="roundRect">
            <a:avLst/>
          </a:prstGeom>
          <a:noFill/>
          <a:ln w="3175" cap="flat" cmpd="sng" algn="ctr">
            <a:solidFill>
              <a:srgbClr val="00308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700" u="sng" kern="0" dirty="0">
              <a:solidFill>
                <a:srgbClr val="003082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6" name="Rounded Rectangle 115"/>
          <p:cNvSpPr/>
          <p:nvPr/>
        </p:nvSpPr>
        <p:spPr bwMode="auto">
          <a:xfrm>
            <a:off x="10704908" y="2801261"/>
            <a:ext cx="826621" cy="2641600"/>
          </a:xfrm>
          <a:prstGeom prst="roundRect">
            <a:avLst/>
          </a:prstGeom>
          <a:noFill/>
          <a:ln w="3175" cap="flat" cmpd="sng" algn="ctr">
            <a:solidFill>
              <a:srgbClr val="00308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700" u="sng" kern="0" dirty="0">
              <a:solidFill>
                <a:srgbClr val="003082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7" name="Rounded Rectangle 116"/>
          <p:cNvSpPr/>
          <p:nvPr/>
        </p:nvSpPr>
        <p:spPr bwMode="auto">
          <a:xfrm>
            <a:off x="7268507" y="4455882"/>
            <a:ext cx="4321140" cy="341090"/>
          </a:xfrm>
          <a:prstGeom prst="roundRect">
            <a:avLst/>
          </a:prstGeom>
          <a:solidFill>
            <a:srgbClr val="375623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1200" kern="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Unified Data Management (Consolidated Data Mart)</a:t>
            </a:r>
          </a:p>
        </p:txBody>
      </p:sp>
      <p:sp>
        <p:nvSpPr>
          <p:cNvPr id="118" name="Rounded Rectangle 117"/>
          <p:cNvSpPr/>
          <p:nvPr/>
        </p:nvSpPr>
        <p:spPr bwMode="auto">
          <a:xfrm>
            <a:off x="7261247" y="4000115"/>
            <a:ext cx="4313886" cy="272082"/>
          </a:xfrm>
          <a:prstGeom prst="roundRect">
            <a:avLst/>
          </a:prstGeom>
          <a:solidFill>
            <a:srgbClr val="375623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Common Advanced Analytical Tools</a:t>
            </a:r>
            <a:endParaRPr lang="en-US" sz="1400" kern="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119" name="Group 104"/>
          <p:cNvGrpSpPr/>
          <p:nvPr/>
        </p:nvGrpSpPr>
        <p:grpSpPr>
          <a:xfrm>
            <a:off x="7370109" y="2191660"/>
            <a:ext cx="4226744" cy="464455"/>
            <a:chOff x="773376" y="2155374"/>
            <a:chExt cx="4226744" cy="464455"/>
          </a:xfrm>
        </p:grpSpPr>
        <p:sp>
          <p:nvSpPr>
            <p:cNvPr id="127" name="Rounded Rectangle 126"/>
            <p:cNvSpPr/>
            <p:nvPr/>
          </p:nvSpPr>
          <p:spPr bwMode="auto">
            <a:xfrm>
              <a:off x="773376" y="2169882"/>
              <a:ext cx="910284" cy="449947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Business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Analysis</a:t>
              </a:r>
              <a:endParaRPr lang="en-US" sz="1400" kern="0" dirty="0">
                <a:solidFill>
                  <a:prstClr val="white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28" name="Rounded Rectangle 127"/>
            <p:cNvSpPr/>
            <p:nvPr/>
          </p:nvSpPr>
          <p:spPr bwMode="auto">
            <a:xfrm>
              <a:off x="1727204" y="2162628"/>
              <a:ext cx="1037754" cy="449947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Campaign</a:t>
              </a:r>
              <a:endParaRPr lang="en-US" sz="1400" kern="0" dirty="0">
                <a:solidFill>
                  <a:prstClr val="white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29" name="Rounded Rectangle 128"/>
            <p:cNvSpPr/>
            <p:nvPr/>
          </p:nvSpPr>
          <p:spPr bwMode="auto">
            <a:xfrm>
              <a:off x="2848884" y="2155374"/>
              <a:ext cx="982888" cy="449947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Predictive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Analytics</a:t>
              </a:r>
              <a:endParaRPr lang="en-US" sz="1400" kern="0" dirty="0">
                <a:solidFill>
                  <a:prstClr val="white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30" name="Rounded Rectangle 129"/>
            <p:cNvSpPr/>
            <p:nvPr/>
          </p:nvSpPr>
          <p:spPr bwMode="auto">
            <a:xfrm>
              <a:off x="3886637" y="2162634"/>
              <a:ext cx="1113483" cy="449947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Quantitative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Sciences</a:t>
              </a:r>
              <a:endParaRPr lang="en-US" sz="1400" kern="0" dirty="0">
                <a:solidFill>
                  <a:prstClr val="white"/>
                </a:solidFill>
                <a:latin typeface="+mj-lt"/>
                <a:cs typeface="Arial" pitchFamily="34" charset="0"/>
              </a:endParaRPr>
            </a:p>
          </p:txBody>
        </p:sp>
      </p:grpSp>
      <p:sp>
        <p:nvSpPr>
          <p:cNvPr id="120" name="Rounded Rectangle 119"/>
          <p:cNvSpPr/>
          <p:nvPr/>
        </p:nvSpPr>
        <p:spPr>
          <a:xfrm>
            <a:off x="7046676" y="4390573"/>
            <a:ext cx="4688112" cy="114662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Rounded Rectangle 123"/>
          <p:cNvSpPr/>
          <p:nvPr/>
        </p:nvSpPr>
        <p:spPr>
          <a:xfrm>
            <a:off x="7053936" y="2764972"/>
            <a:ext cx="4688112" cy="156031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5" name="Rounded Rectangle 124"/>
          <p:cNvSpPr/>
          <p:nvPr/>
        </p:nvSpPr>
        <p:spPr>
          <a:xfrm>
            <a:off x="7061196" y="1966685"/>
            <a:ext cx="4688112" cy="72571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 bwMode="gray">
          <a:xfrm>
            <a:off x="8179016" y="1945726"/>
            <a:ext cx="2353905" cy="416466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ctr"/>
            <a:r>
              <a:rPr lang="en-IN" sz="1200" b="1" dirty="0" smtClean="0">
                <a:latin typeface="+mj-lt"/>
              </a:rPr>
              <a:t>Activities Enabled</a:t>
            </a:r>
          </a:p>
        </p:txBody>
      </p:sp>
      <p:sp>
        <p:nvSpPr>
          <p:cNvPr id="146" name="Rounded Rectangle 145"/>
          <p:cNvSpPr/>
          <p:nvPr/>
        </p:nvSpPr>
        <p:spPr bwMode="auto">
          <a:xfrm>
            <a:off x="7257143" y="3696741"/>
            <a:ext cx="4325257" cy="245672"/>
          </a:xfrm>
          <a:prstGeom prst="roundRect">
            <a:avLst/>
          </a:prstGeom>
          <a:solidFill>
            <a:srgbClr val="CC9B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 smtClean="0">
                <a:solidFill>
                  <a:prstClr val="white"/>
                </a:solidFill>
                <a:latin typeface="+mj-lt"/>
                <a:cs typeface="Arial" pitchFamily="34" charset="0"/>
              </a:rPr>
              <a:t>Business Intelligence</a:t>
            </a:r>
            <a:endParaRPr lang="en-US" sz="1400" b="1" kern="0" dirty="0">
              <a:solidFill>
                <a:prstClr val="white"/>
              </a:solidFill>
              <a:latin typeface="+mj-lt"/>
              <a:cs typeface="Arial" pitchFamily="34" charset="0"/>
            </a:endParaRPr>
          </a:p>
        </p:txBody>
      </p:sp>
      <p:sp>
        <p:nvSpPr>
          <p:cNvPr id="162" name="Rounded Rectangle 103"/>
          <p:cNvSpPr>
            <a:spLocks noChangeArrowheads="1"/>
          </p:cNvSpPr>
          <p:nvPr/>
        </p:nvSpPr>
        <p:spPr bwMode="auto">
          <a:xfrm>
            <a:off x="5613407" y="5849026"/>
            <a:ext cx="3704765" cy="912590"/>
          </a:xfrm>
          <a:prstGeom prst="roundRect">
            <a:avLst>
              <a:gd name="adj" fmla="val 16667"/>
            </a:avLst>
          </a:prstGeom>
        </p:spPr>
        <p:txBody>
          <a:bodyPr wrap="square">
            <a:spAutoFit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Clr>
                <a:srgbClr val="53565A"/>
              </a:buClr>
              <a:buFont typeface="Arial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+mj-lt"/>
                <a:cs typeface="Arial" pitchFamily="34" charset="0"/>
              </a:rPr>
              <a:t>Improved </a:t>
            </a:r>
            <a:r>
              <a:rPr lang="en-US" sz="1400" dirty="0" smtClean="0">
                <a:solidFill>
                  <a:prstClr val="black"/>
                </a:solidFill>
                <a:latin typeface="+mj-lt"/>
                <a:cs typeface="Arial" pitchFamily="34" charset="0"/>
              </a:rPr>
              <a:t>accessibility</a:t>
            </a:r>
            <a:endParaRPr lang="en-US" sz="1400" dirty="0">
              <a:solidFill>
                <a:prstClr val="black"/>
              </a:solidFill>
              <a:latin typeface="+mj-lt"/>
              <a:cs typeface="Arial" pitchFamily="34" charset="0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Clr>
                <a:srgbClr val="53565A"/>
              </a:buClr>
              <a:buFont typeface="Arial" pitchFamily="34" charset="0"/>
              <a:buChar char="•"/>
            </a:pPr>
            <a:r>
              <a:rPr lang="en-US" sz="1400" dirty="0" smtClean="0">
                <a:solidFill>
                  <a:prstClr val="black"/>
                </a:solidFill>
                <a:latin typeface="+mj-lt"/>
                <a:cs typeface="Arial" pitchFamily="34" charset="0"/>
              </a:rPr>
              <a:t>Centralization- One </a:t>
            </a:r>
            <a:r>
              <a:rPr lang="en-US" sz="1400" dirty="0">
                <a:solidFill>
                  <a:prstClr val="black"/>
                </a:solidFill>
                <a:latin typeface="+mj-lt"/>
                <a:cs typeface="Arial" pitchFamily="34" charset="0"/>
              </a:rPr>
              <a:t>version of truth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Clr>
                <a:srgbClr val="53565A"/>
              </a:buClr>
              <a:buFont typeface="Arial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+mj-lt"/>
                <a:cs typeface="Arial" pitchFamily="34" charset="0"/>
              </a:rPr>
              <a:t>Improved </a:t>
            </a:r>
            <a:r>
              <a:rPr lang="en-US" sz="1400" dirty="0" smtClean="0">
                <a:solidFill>
                  <a:prstClr val="black"/>
                </a:solidFill>
                <a:latin typeface="+mj-lt"/>
                <a:cs typeface="Arial" pitchFamily="34" charset="0"/>
              </a:rPr>
              <a:t>Governance &amp; Integrity</a:t>
            </a:r>
            <a:endParaRPr lang="en-US" sz="1400" dirty="0">
              <a:solidFill>
                <a:prstClr val="black"/>
              </a:solidFill>
              <a:latin typeface="+mj-lt"/>
              <a:cs typeface="Arial" pitchFamily="34" charset="0"/>
            </a:endParaRPr>
          </a:p>
        </p:txBody>
      </p:sp>
      <p:sp>
        <p:nvSpPr>
          <p:cNvPr id="163" name="Rounded Rectangle 103"/>
          <p:cNvSpPr>
            <a:spLocks noChangeArrowheads="1"/>
          </p:cNvSpPr>
          <p:nvPr/>
        </p:nvSpPr>
        <p:spPr bwMode="auto">
          <a:xfrm>
            <a:off x="9039452" y="5895853"/>
            <a:ext cx="3312202" cy="626555"/>
          </a:xfrm>
          <a:prstGeom prst="roundRect">
            <a:avLst>
              <a:gd name="adj" fmla="val 16667"/>
            </a:avLst>
          </a:prstGeom>
        </p:spPr>
        <p:txBody>
          <a:bodyPr wrap="square">
            <a:spAutoFit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Clr>
                <a:srgbClr val="53565A"/>
              </a:buClr>
              <a:buFont typeface="Arial" pitchFamily="34" charset="0"/>
              <a:buChar char="•"/>
            </a:pPr>
            <a:r>
              <a:rPr lang="en-US" sz="1400" dirty="0" smtClean="0">
                <a:solidFill>
                  <a:prstClr val="black"/>
                </a:solidFill>
                <a:latin typeface="+mj-lt"/>
                <a:cs typeface="Arial" pitchFamily="34" charset="0"/>
              </a:rPr>
              <a:t>Efficient </a:t>
            </a:r>
            <a:r>
              <a:rPr lang="en-US" sz="1400" dirty="0">
                <a:solidFill>
                  <a:prstClr val="black"/>
                </a:solidFill>
                <a:latin typeface="+mj-lt"/>
                <a:cs typeface="Arial" pitchFamily="34" charset="0"/>
              </a:rPr>
              <a:t>&amp; Fast </a:t>
            </a:r>
            <a:r>
              <a:rPr lang="en-US" sz="1400" dirty="0" smtClean="0">
                <a:solidFill>
                  <a:prstClr val="black"/>
                </a:solidFill>
                <a:latin typeface="+mj-lt"/>
                <a:cs typeface="Arial" pitchFamily="34" charset="0"/>
              </a:rPr>
              <a:t>Delivery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Clr>
                <a:srgbClr val="53565A"/>
              </a:buClr>
              <a:buFont typeface="Arial" pitchFamily="34" charset="0"/>
              <a:buChar char="•"/>
            </a:pPr>
            <a:r>
              <a:rPr lang="en-US" sz="1400" dirty="0" smtClean="0">
                <a:solidFill>
                  <a:prstClr val="black"/>
                </a:solidFill>
                <a:latin typeface="+mj-lt"/>
                <a:cs typeface="Arial" pitchFamily="34" charset="0"/>
              </a:rPr>
              <a:t>Better flexibility &amp; presentation</a:t>
            </a:r>
            <a:endParaRPr lang="en-US" sz="1400" dirty="0">
              <a:solidFill>
                <a:prstClr val="black"/>
              </a:solidFill>
              <a:latin typeface="+mj-lt"/>
              <a:cs typeface="Arial" pitchFamily="34" charset="0"/>
            </a:endParaRPr>
          </a:p>
        </p:txBody>
      </p:sp>
      <p:sp>
        <p:nvSpPr>
          <p:cNvPr id="164" name="Rectangle 163"/>
          <p:cNvSpPr>
            <a:spLocks noChangeArrowheads="1"/>
          </p:cNvSpPr>
          <p:nvPr/>
        </p:nvSpPr>
        <p:spPr bwMode="auto">
          <a:xfrm>
            <a:off x="5925915" y="5607277"/>
            <a:ext cx="6048371" cy="307777"/>
          </a:xfrm>
          <a:prstGeom prst="rect">
            <a:avLst/>
          </a:prstGeom>
          <a:solidFill>
            <a:srgbClr val="002D72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b="1" dirty="0" smtClean="0">
                <a:solidFill>
                  <a:srgbClr val="FFFFFF"/>
                </a:solidFill>
                <a:latin typeface="+mj-lt"/>
              </a:rPr>
              <a:t>Benefits of Desired State</a:t>
            </a:r>
            <a:endParaRPr lang="en-US" sz="14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82" name="Rounded Rectangle 81"/>
          <p:cNvSpPr/>
          <p:nvPr/>
        </p:nvSpPr>
        <p:spPr bwMode="auto">
          <a:xfrm>
            <a:off x="7278737" y="3388025"/>
            <a:ext cx="4313886" cy="254585"/>
          </a:xfrm>
          <a:prstGeom prst="roundRect">
            <a:avLst/>
          </a:prstGeom>
          <a:solidFill>
            <a:srgbClr val="375623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Single Web-based Delivery Platform</a:t>
            </a:r>
            <a:endParaRPr lang="en-US" sz="1400" kern="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9905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130061" y="2385181"/>
            <a:ext cx="9825482" cy="1822514"/>
          </a:xfrm>
        </p:spPr>
        <p:txBody>
          <a:bodyPr/>
          <a:lstStyle/>
          <a:p>
            <a:pPr algn="ctr"/>
            <a:r>
              <a:rPr lang="en-US" dirty="0" smtClean="0"/>
              <a:t>Key Opportunities &amp; </a:t>
            </a:r>
            <a:br>
              <a:rPr lang="en-US" dirty="0" smtClean="0"/>
            </a:br>
            <a:r>
              <a:rPr lang="en-US" dirty="0" smtClean="0"/>
              <a:t>Two-Year Roadmap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2251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248" y="1707454"/>
            <a:ext cx="7624068" cy="4745049"/>
          </a:xfrm>
          <a:prstGeom prst="rect">
            <a:avLst/>
          </a:prstGeom>
        </p:spPr>
      </p:pic>
      <p:sp>
        <p:nvSpPr>
          <p:cNvPr id="41" name="Flowchart: Terminator 40"/>
          <p:cNvSpPr/>
          <p:nvPr/>
        </p:nvSpPr>
        <p:spPr>
          <a:xfrm>
            <a:off x="7642762" y="4743444"/>
            <a:ext cx="1509183" cy="509890"/>
          </a:xfrm>
          <a:prstGeom prst="flowChartTerminator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>4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. 	</a:t>
            </a:r>
            <a:endParaRPr lang="en-IN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0" name="Flowchart: Terminator 39"/>
          <p:cNvSpPr/>
          <p:nvPr/>
        </p:nvSpPr>
        <p:spPr>
          <a:xfrm>
            <a:off x="8015191" y="3223657"/>
            <a:ext cx="1607133" cy="524319"/>
          </a:xfrm>
          <a:prstGeom prst="flowChartTerminator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>3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. 		</a:t>
            </a:r>
            <a:endParaRPr lang="en-IN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9" name="Flowchart: Terminator 38"/>
          <p:cNvSpPr/>
          <p:nvPr/>
        </p:nvSpPr>
        <p:spPr>
          <a:xfrm>
            <a:off x="5760151" y="1894698"/>
            <a:ext cx="1251288" cy="437401"/>
          </a:xfrm>
          <a:prstGeom prst="flowChartTerminator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2. 		           </a:t>
            </a:r>
            <a:endParaRPr lang="en-IN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Flowchart: Terminator 8"/>
          <p:cNvSpPr/>
          <p:nvPr/>
        </p:nvSpPr>
        <p:spPr>
          <a:xfrm>
            <a:off x="4291207" y="3233257"/>
            <a:ext cx="2271897" cy="714629"/>
          </a:xfrm>
          <a:prstGeom prst="flowChartTerminator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>8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. Smarter Loyalty                 and Campaign Management</a:t>
            </a:r>
            <a:endParaRPr lang="en-IN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7" name="Flowchart: Terminator 26"/>
          <p:cNvSpPr/>
          <p:nvPr/>
        </p:nvSpPr>
        <p:spPr>
          <a:xfrm>
            <a:off x="339313" y="3301292"/>
            <a:ext cx="2410302" cy="509890"/>
          </a:xfrm>
          <a:prstGeom prst="flowChartTerminator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>7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. Making Smarter Restaurants</a:t>
            </a:r>
            <a:endParaRPr lang="en-IN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6" name="Flowchart: Terminator 25"/>
          <p:cNvSpPr/>
          <p:nvPr/>
        </p:nvSpPr>
        <p:spPr>
          <a:xfrm>
            <a:off x="2271532" y="5390097"/>
            <a:ext cx="1927434" cy="443300"/>
          </a:xfrm>
          <a:prstGeom prst="flowChartTerminator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>6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. A Little Extra</a:t>
            </a:r>
            <a:endParaRPr lang="en-IN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5" name="Flowchart: Terminator 24"/>
          <p:cNvSpPr/>
          <p:nvPr/>
        </p:nvSpPr>
        <p:spPr>
          <a:xfrm>
            <a:off x="8787949" y="4717827"/>
            <a:ext cx="2778480" cy="509890"/>
          </a:xfrm>
          <a:prstGeom prst="flowChartTerminator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Palette Optimization</a:t>
            </a:r>
            <a:endParaRPr lang="en-IN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4" name="Flowchart: Terminator 23"/>
          <p:cNvSpPr/>
          <p:nvPr/>
        </p:nvSpPr>
        <p:spPr>
          <a:xfrm>
            <a:off x="9154102" y="3206086"/>
            <a:ext cx="2564214" cy="524319"/>
          </a:xfrm>
          <a:prstGeom prst="flowChartTerminator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Prospecting   </a:t>
            </a:r>
          </a:p>
          <a:p>
            <a:pPr algn="ctr"/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  Potential Customers</a:t>
            </a:r>
            <a:endParaRPr lang="en-IN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2" name="Flowchart: Terminator 21"/>
          <p:cNvSpPr/>
          <p:nvPr/>
        </p:nvSpPr>
        <p:spPr>
          <a:xfrm>
            <a:off x="7315099" y="1906896"/>
            <a:ext cx="1618917" cy="437401"/>
          </a:xfrm>
          <a:prstGeom prst="flowChartTerminator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Gold Rush</a:t>
            </a:r>
            <a:endParaRPr lang="en-IN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Programs and Opportunities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Analytics Opportunities at various stages of customer purchase lifecycle </a:t>
            </a:r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68965" y="1564441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071945" y="4391678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6120408" y="3456532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Oval 29"/>
          <p:cNvSpPr/>
          <p:nvPr/>
        </p:nvSpPr>
        <p:spPr>
          <a:xfrm>
            <a:off x="3967694" y="5072025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/>
          <p:cNvSpPr/>
          <p:nvPr/>
        </p:nvSpPr>
        <p:spPr>
          <a:xfrm>
            <a:off x="2489986" y="2920344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6460555" y="1666023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/>
          <p:cNvSpPr/>
          <p:nvPr/>
        </p:nvSpPr>
        <p:spPr>
          <a:xfrm>
            <a:off x="8425516" y="2930105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" descr="Image result for prospect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792" y="3131820"/>
            <a:ext cx="692869" cy="69287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mage result for family din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4387" y="3132406"/>
            <a:ext cx="773752" cy="69539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591802" y="1913179"/>
            <a:ext cx="833370" cy="624223"/>
          </a:xfrm>
          <a:prstGeom prst="rect">
            <a:avLst/>
          </a:prstGeom>
        </p:spPr>
      </p:pic>
      <p:pic>
        <p:nvPicPr>
          <p:cNvPr id="1042" name="Picture 18" descr="http://vipdesk.files.wordpress.com/2011/03/loyalty-program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288347" y="3651321"/>
            <a:ext cx="766821" cy="69771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 32"/>
          <p:cNvSpPr/>
          <p:nvPr/>
        </p:nvSpPr>
        <p:spPr>
          <a:xfrm>
            <a:off x="7886046" y="2421606"/>
            <a:ext cx="2755681" cy="3604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/>
                </a:solidFill>
              </a:rPr>
              <a:t>Segment customer base to identify high-value customers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998117" y="5275007"/>
            <a:ext cx="3197521" cy="515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/>
                </a:solidFill>
              </a:rPr>
              <a:t>At the time of </a:t>
            </a:r>
            <a:r>
              <a:rPr lang="en-US" sz="1400" u="sng" dirty="0" smtClean="0">
                <a:solidFill>
                  <a:schemeClr val="tx1"/>
                </a:solidFill>
              </a:rPr>
              <a:t>Booking</a:t>
            </a:r>
            <a:r>
              <a:rPr lang="en-US" sz="1400" dirty="0" smtClean="0">
                <a:solidFill>
                  <a:schemeClr val="tx1"/>
                </a:solidFill>
              </a:rPr>
              <a:t>: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Display best / most optimal offer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59658" y="5233902"/>
            <a:ext cx="2134535" cy="1435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 smtClean="0">
                <a:solidFill>
                  <a:schemeClr val="tx1"/>
                </a:solidFill>
              </a:rPr>
              <a:t>During </a:t>
            </a:r>
            <a:r>
              <a:rPr lang="en-US" sz="1400" u="sng" dirty="0" smtClean="0">
                <a:solidFill>
                  <a:schemeClr val="tx1"/>
                </a:solidFill>
              </a:rPr>
              <a:t>Stay:</a:t>
            </a:r>
          </a:p>
          <a:p>
            <a:pPr algn="r"/>
            <a:r>
              <a:rPr lang="en-US" sz="1400" dirty="0" smtClean="0">
                <a:solidFill>
                  <a:schemeClr val="tx1"/>
                </a:solidFill>
              </a:rPr>
              <a:t>Delight a guest with personalized offerings based on his past transactions and profile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12814" y="3921147"/>
            <a:ext cx="2219308" cy="559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While </a:t>
            </a:r>
            <a:r>
              <a:rPr lang="en-US" sz="1400" u="sng" dirty="0" smtClean="0">
                <a:solidFill>
                  <a:schemeClr val="tx1"/>
                </a:solidFill>
              </a:rPr>
              <a:t>Dining:</a:t>
            </a:r>
            <a:r>
              <a:rPr lang="en-US" sz="1400" dirty="0" smtClean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Modify  menu, pricing, recommendations  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318331" y="3912675"/>
            <a:ext cx="2581346" cy="222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/>
                </a:solidFill>
              </a:rPr>
              <a:t>Identify potential customers from external data sources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45" name="Flowchart: Terminator 44"/>
          <p:cNvSpPr/>
          <p:nvPr/>
        </p:nvSpPr>
        <p:spPr>
          <a:xfrm>
            <a:off x="2416471" y="1922405"/>
            <a:ext cx="2201806" cy="451125"/>
          </a:xfrm>
          <a:prstGeom prst="flowChartTerminator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1. Guest Profiling </a:t>
            </a:r>
          </a:p>
        </p:txBody>
      </p:sp>
      <p:pic>
        <p:nvPicPr>
          <p:cNvPr id="43" name="Picture 2" descr="http://static1.squarespace.com/static/52cf6a7ae4b0578e3678a9cf/t/53427862e4b057b06885590f/1396865123115/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719" y="1655096"/>
            <a:ext cx="1097475" cy="108506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Oval 43"/>
          <p:cNvSpPr/>
          <p:nvPr/>
        </p:nvSpPr>
        <p:spPr>
          <a:xfrm>
            <a:off x="4383194" y="1660164"/>
            <a:ext cx="1080000" cy="1080000"/>
          </a:xfrm>
          <a:prstGeom prst="ellipse">
            <a:avLst/>
          </a:prstGeom>
          <a:noFill/>
          <a:ln w="38100"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8899" y="4572937"/>
            <a:ext cx="724307" cy="7164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85477" y="5307173"/>
            <a:ext cx="699291" cy="592877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537028" y="1859429"/>
            <a:ext cx="1854757" cy="559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 smtClean="0">
                <a:solidFill>
                  <a:schemeClr val="tx1"/>
                </a:solidFill>
              </a:rPr>
              <a:t>Profile existing customer base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46" name="Flowchart: Terminator 45"/>
          <p:cNvSpPr/>
          <p:nvPr/>
        </p:nvSpPr>
        <p:spPr>
          <a:xfrm>
            <a:off x="5369131" y="5645528"/>
            <a:ext cx="1509183" cy="509890"/>
          </a:xfrm>
          <a:prstGeom prst="flowChartTerminator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>5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. 	</a:t>
            </a:r>
            <a:endParaRPr lang="en-IN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7" name="Flowchart: Terminator 46"/>
          <p:cNvSpPr/>
          <p:nvPr/>
        </p:nvSpPr>
        <p:spPr>
          <a:xfrm>
            <a:off x="6439712" y="5661567"/>
            <a:ext cx="2459420" cy="509890"/>
          </a:xfrm>
          <a:prstGeom prst="flowChartTerminator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 Cross-sell &amp; Upsell</a:t>
            </a:r>
            <a:endParaRPr lang="en-IN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5731063" y="5353460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A8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Image result for customer cross sell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230" y="5606850"/>
            <a:ext cx="757512" cy="6017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Rectangle 47"/>
          <p:cNvSpPr/>
          <p:nvPr/>
        </p:nvSpPr>
        <p:spPr>
          <a:xfrm>
            <a:off x="6646733" y="6179370"/>
            <a:ext cx="3530456" cy="515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/>
                </a:solidFill>
              </a:rPr>
              <a:t>During </a:t>
            </a:r>
            <a:r>
              <a:rPr lang="en-US" sz="1400" u="sng" dirty="0" smtClean="0">
                <a:solidFill>
                  <a:schemeClr val="tx1"/>
                </a:solidFill>
              </a:rPr>
              <a:t>Booking</a:t>
            </a:r>
            <a:r>
              <a:rPr lang="en-US" sz="1400" dirty="0" smtClean="0">
                <a:solidFill>
                  <a:schemeClr val="tx1"/>
                </a:solidFill>
              </a:rPr>
              <a:t>: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Offer customized packages</a:t>
            </a:r>
          </a:p>
        </p:txBody>
      </p:sp>
    </p:spTree>
    <p:extLst>
      <p:ext uri="{BB962C8B-B14F-4D97-AF65-F5344CB8AC3E}">
        <p14:creationId xmlns="" xmlns:p14="http://schemas.microsoft.com/office/powerpoint/2010/main" val="1535709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Analytics Roadmap for Y1 &amp; Y2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87413" y="1217086"/>
            <a:ext cx="11113180" cy="582362"/>
          </a:xfrm>
        </p:spPr>
        <p:txBody>
          <a:bodyPr/>
          <a:lstStyle/>
          <a:p>
            <a:r>
              <a:rPr lang="en-US" dirty="0"/>
              <a:t>Phased out </a:t>
            </a:r>
            <a:r>
              <a:rPr lang="en-US" dirty="0" smtClean="0"/>
              <a:t>key programs </a:t>
            </a:r>
            <a:r>
              <a:rPr lang="en-US" dirty="0"/>
              <a:t>based on sources and availability of </a:t>
            </a:r>
            <a:r>
              <a:rPr lang="en-US" dirty="0" smtClean="0"/>
              <a:t>Data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28003" y="1573819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001486" y="1601115"/>
            <a:ext cx="10913010" cy="3885285"/>
            <a:chOff x="1903775" y="1781270"/>
            <a:chExt cx="5868592" cy="4102417"/>
          </a:xfrm>
        </p:grpSpPr>
        <p:cxnSp>
          <p:nvCxnSpPr>
            <p:cNvPr id="10" name="Straight Connector 9"/>
            <p:cNvCxnSpPr/>
            <p:nvPr/>
          </p:nvCxnSpPr>
          <p:spPr>
            <a:xfrm rot="5400000">
              <a:off x="-146873" y="3831918"/>
              <a:ext cx="4102417" cy="1121"/>
            </a:xfrm>
            <a:prstGeom prst="line">
              <a:avLst/>
            </a:prstGeom>
            <a:noFill/>
            <a:ln w="34925" cap="flat" cmpd="sng" algn="ctr">
              <a:solidFill>
                <a:srgbClr val="00B0F0"/>
              </a:solidFill>
              <a:prstDash val="solid"/>
              <a:headEnd type="triangle"/>
            </a:ln>
            <a:effectLst/>
          </p:spPr>
        </p:cxnSp>
        <p:cxnSp>
          <p:nvCxnSpPr>
            <p:cNvPr id="11" name="Straight Connector 10"/>
            <p:cNvCxnSpPr/>
            <p:nvPr/>
          </p:nvCxnSpPr>
          <p:spPr>
            <a:xfrm rot="10800000" flipV="1">
              <a:off x="1904334" y="5582893"/>
              <a:ext cx="5868033" cy="0"/>
            </a:xfrm>
            <a:prstGeom prst="line">
              <a:avLst/>
            </a:prstGeom>
            <a:noFill/>
            <a:ln w="34925" cap="flat" cmpd="sng" algn="ctr">
              <a:solidFill>
                <a:srgbClr val="00B0F0"/>
              </a:solidFill>
              <a:prstDash val="solid"/>
              <a:headEnd type="triangle"/>
            </a:ln>
            <a:effectLst/>
          </p:spPr>
        </p:cxnSp>
      </p:grpSp>
      <p:sp>
        <p:nvSpPr>
          <p:cNvPr id="50" name="TextBox 49"/>
          <p:cNvSpPr txBox="1"/>
          <p:nvPr/>
        </p:nvSpPr>
        <p:spPr bwMode="gray">
          <a:xfrm rot="16200000">
            <a:off x="-994241" y="3164834"/>
            <a:ext cx="3307279" cy="34996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sz="1400" b="1" i="1" kern="0" dirty="0" smtClean="0">
                <a:solidFill>
                  <a:schemeClr val="tx2"/>
                </a:solidFill>
              </a:rPr>
              <a:t>Analytics programs</a:t>
            </a:r>
            <a:endParaRPr lang="en-IN" sz="1400" b="1" i="1" kern="0" dirty="0">
              <a:solidFill>
                <a:schemeClr val="tx2"/>
              </a:solidFill>
            </a:endParaRPr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70579" y="6241142"/>
            <a:ext cx="861011" cy="471709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94079" y="6226515"/>
            <a:ext cx="602615" cy="39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252636" y="6312188"/>
            <a:ext cx="428752" cy="428752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532929" y="6308397"/>
            <a:ext cx="334024" cy="381742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="" xmlns:a14="http://schemas.microsoft.com/office/drawing/2010/main">
                  <a14:imgLayer r:embed="">
                    <a14:imgEffect>
                      <a14:backgroundRemoval t="10000" b="90000" l="10000" r="90000">
                        <a14:foregroundMark x1="32219" y1="30719" x2="39818" y2="30719"/>
                        <a14:foregroundMark x1="53799" y1="34641" x2="57751" y2="34641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999358" y="6230513"/>
            <a:ext cx="454901" cy="364981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8518" y="6223707"/>
            <a:ext cx="551122" cy="551122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344" y="6199829"/>
            <a:ext cx="1065870" cy="42634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 bwMode="gray">
          <a:xfrm rot="16200000">
            <a:off x="-81520" y="5667663"/>
            <a:ext cx="1170106" cy="51869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sz="1400" b="1" i="1" kern="0" dirty="0">
                <a:solidFill>
                  <a:srgbClr val="002D72"/>
                </a:solidFill>
              </a:rPr>
              <a:t>Scope of </a:t>
            </a:r>
          </a:p>
          <a:p>
            <a:pPr algn="ctr"/>
            <a:r>
              <a:rPr lang="en-US" sz="1400" b="1" i="1" kern="0" dirty="0">
                <a:solidFill>
                  <a:srgbClr val="002D72"/>
                </a:solidFill>
              </a:rPr>
              <a:t>Data to be used</a:t>
            </a:r>
            <a:endParaRPr lang="en-IN" sz="1400" b="1" i="1" kern="0" dirty="0">
              <a:solidFill>
                <a:srgbClr val="002D72"/>
              </a:solidFill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1059543" y="1809224"/>
          <a:ext cx="10992549" cy="4838319"/>
        </p:xfrm>
        <a:graphic>
          <a:graphicData uri="http://schemas.openxmlformats.org/drawingml/2006/table">
            <a:tbl>
              <a:tblPr/>
              <a:tblGrid>
                <a:gridCol w="783771"/>
                <a:gridCol w="2148115"/>
                <a:gridCol w="3004457"/>
                <a:gridCol w="5056206"/>
              </a:tblGrid>
              <a:tr h="252164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400" b="1" i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j-lt"/>
                        </a:rPr>
                        <a:t>Quick Wins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j-lt"/>
                        </a:rPr>
                        <a:t>Foundation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j-lt"/>
                        </a:rPr>
                        <a:t>Maturation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2164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400" b="1" i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j-lt"/>
                        </a:rPr>
                        <a:t>0-3 Months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j-lt"/>
                        </a:rPr>
                        <a:t>3-12 Months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j-lt"/>
                        </a:rPr>
                        <a:t>Beyond 12 Months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9443">
                <a:tc gridSpan="2"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latin typeface="+mj-lt"/>
                        </a:rPr>
                        <a:t>Other Quadrants - Revenue </a:t>
                      </a:r>
                      <a:r>
                        <a:rPr lang="en-IN" sz="1400" b="0" i="0" u="none" strike="noStrike" dirty="0" smtClean="0">
                          <a:solidFill>
                            <a:schemeClr val="bg1"/>
                          </a:solidFill>
                          <a:latin typeface="+mj-lt"/>
                        </a:rPr>
                        <a:t>Mgmt, </a:t>
                      </a: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latin typeface="+mj-lt"/>
                        </a:rPr>
                        <a:t>Ops &amp; Sales, HR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  <a:tr h="252164">
                <a:tc gridSpan="2"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latin typeface="+mj-lt"/>
                        </a:rPr>
                        <a:t>Offline &amp; Online Integration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  <a:tr h="252164">
                <a:tc gridSpan="2"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latin typeface="+mj-lt"/>
                        </a:rPr>
                        <a:t>Making Smarter </a:t>
                      </a:r>
                      <a:r>
                        <a:rPr lang="en-IN" sz="1400" b="0" i="0" u="none" strike="noStrike" dirty="0" smtClean="0">
                          <a:solidFill>
                            <a:schemeClr val="bg1"/>
                          </a:solidFill>
                          <a:latin typeface="+mj-lt"/>
                        </a:rPr>
                        <a:t>Ecosystem</a:t>
                      </a:r>
                      <a:r>
                        <a:rPr lang="en-IN" sz="1400" b="0" i="0" u="none" strike="noStrike" baseline="0" dirty="0" smtClean="0">
                          <a:solidFill>
                            <a:schemeClr val="bg1"/>
                          </a:solidFill>
                          <a:latin typeface="+mj-lt"/>
                        </a:rPr>
                        <a:t> (restaurant / spas / banquets)</a:t>
                      </a:r>
                      <a:endParaRPr lang="en-IN" sz="1400" b="0" i="0" u="none" strike="noStrike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  <a:tr h="252164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Customer Dashboards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latin typeface="+mj-lt"/>
                        </a:rPr>
                        <a:t>Integrated Reporting and </a:t>
                      </a:r>
                      <a:r>
                        <a:rPr lang="en-IN" sz="1400" b="0" i="0" u="none" strike="noStrike" dirty="0" smtClean="0">
                          <a:solidFill>
                            <a:schemeClr val="bg1"/>
                          </a:solidFill>
                          <a:latin typeface="+mj-lt"/>
                        </a:rPr>
                        <a:t>Visualization across company KPIs</a:t>
                      </a:r>
                      <a:endParaRPr lang="en-IN" sz="1400" b="0" i="0" u="none" strike="noStrike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252164">
                <a:tc gridSpan="2"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latin typeface="+mj-lt"/>
                        </a:rPr>
                        <a:t>A Little Extra - Personalized Offerings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252164">
                <a:tc gridSpan="2"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latin typeface="+mj-lt"/>
                        </a:rPr>
                        <a:t>Palette Optimization, Cross-sell &amp; Up-sell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252164">
                <a:tc gridSpan="2"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latin typeface="+mj-lt"/>
                        </a:rPr>
                        <a:t>Prospecting Potential Customers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252164">
                <a:tc gridSpan="2"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latin typeface="+mj-lt"/>
                        </a:rPr>
                        <a:t>End to End Loyalty Analytics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252164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Loyalty Campaign Management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latin typeface="+mj-lt"/>
                        </a:rPr>
                        <a:t>End to End Campaign Management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29870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Segment High Value Customers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870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Guest Profiling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469818">
                <a:tc gridSpan="2">
                  <a:txBody>
                    <a:bodyPr/>
                    <a:lstStyle/>
                    <a:p>
                      <a:pPr algn="ctr" fontAlgn="ctr"/>
                      <a:endParaRPr lang="en-IN" sz="1400" b="0" i="0" u="none" strike="noStrike" dirty="0" smtClean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pPr algn="ctr" fontAlgn="ctr">
                        <a:buFont typeface="Arial" pitchFamily="34" charset="0"/>
                        <a:buChar char="•"/>
                      </a:pP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Loyalty Database</a:t>
                      </a:r>
                    </a:p>
                    <a:p>
                      <a:pPr algn="ctr" fontAlgn="ctr">
                        <a:buFont typeface="Arial" pitchFamily="34" charset="0"/>
                        <a:buChar char="•"/>
                      </a:pP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 Social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Media </a:t>
                      </a: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Data</a:t>
                      </a:r>
                    </a:p>
                    <a:p>
                      <a:pPr algn="ctr" fontAlgn="ctr">
                        <a:buFont typeface="Arial" pitchFamily="34" charset="0"/>
                        <a:buChar char="•"/>
                      </a:pP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 Customer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feedback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400" b="0" i="0" u="none" strike="noStrike" dirty="0" smtClean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pPr algn="ctr" fontAlgn="ctr">
                        <a:buFont typeface="Arial" pitchFamily="34" charset="0"/>
                        <a:buChar char="•"/>
                      </a:pP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 Entire 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latin typeface="+mj-lt"/>
                        </a:rPr>
                        <a:t>Taj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</a:t>
                      </a: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Database</a:t>
                      </a:r>
                    </a:p>
                    <a:p>
                      <a:pPr algn="ctr" fontAlgn="ctr">
                        <a:buFont typeface="Arial" pitchFamily="34" charset="0"/>
                        <a:buChar char="•"/>
                      </a:pP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 External Databases</a:t>
                      </a:r>
                    </a:p>
                    <a:p>
                      <a:pPr algn="ctr" fontAlgn="ctr">
                        <a:buFont typeface="Arial" pitchFamily="34" charset="0"/>
                        <a:buChar char="•"/>
                      </a:pP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 Tata Segment-level Information</a:t>
                      </a:r>
                    </a:p>
                    <a:p>
                      <a:pPr algn="ctr" fontAlgn="ctr">
                        <a:buFont typeface="Arial" pitchFamily="34" charset="0"/>
                        <a:buChar char="•"/>
                      </a:pP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 Website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&amp; Call </a:t>
                      </a: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centre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data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Font typeface="Arial" pitchFamily="34" charset="0"/>
                        <a:buNone/>
                      </a:pP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 </a:t>
                      </a:r>
                    </a:p>
                    <a:p>
                      <a:pPr algn="ctr" fontAlgn="ctr">
                        <a:buFont typeface="Arial" pitchFamily="34" charset="0"/>
                        <a:buChar char="•"/>
                      </a:pP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 External Macroeconomic</a:t>
                      </a:r>
                      <a:r>
                        <a:rPr lang="en-IN" sz="1400" b="0" i="0" u="none" strike="noStrike" baseline="0" dirty="0" smtClean="0">
                          <a:solidFill>
                            <a:srgbClr val="000000"/>
                          </a:solidFill>
                          <a:latin typeface="+mj-lt"/>
                        </a:rPr>
                        <a:t> &amp; competition data</a:t>
                      </a:r>
                    </a:p>
                    <a:p>
                      <a:pPr algn="ctr" fontAlgn="ctr">
                        <a:buFont typeface="Arial" pitchFamily="34" charset="0"/>
                        <a:buChar char="•"/>
                      </a:pPr>
                      <a:r>
                        <a:rPr lang="en-IN" sz="1400" b="0" i="0" u="none" strike="noStrike" baseline="0" dirty="0" smtClean="0">
                          <a:solidFill>
                            <a:srgbClr val="000000"/>
                          </a:solidFill>
                          <a:latin typeface="+mj-lt"/>
                        </a:rPr>
                        <a:t> </a:t>
                      </a:r>
                      <a:r>
                        <a:rPr lang="en-IN" sz="1400" b="0" i="0" u="none" strike="noStrike" baseline="0" dirty="0" err="1" smtClean="0">
                          <a:solidFill>
                            <a:srgbClr val="000000"/>
                          </a:solidFill>
                          <a:latin typeface="+mj-lt"/>
                        </a:rPr>
                        <a:t>Taj</a:t>
                      </a:r>
                      <a:r>
                        <a:rPr lang="en-IN" sz="1400" b="0" i="0" u="none" strike="noStrike" baseline="0" dirty="0" smtClean="0">
                          <a:solidFill>
                            <a:srgbClr val="000000"/>
                          </a:solidFill>
                          <a:latin typeface="+mj-lt"/>
                        </a:rPr>
                        <a:t> Operational &amp; Financial Data </a:t>
                      </a: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 </a:t>
                      </a:r>
                    </a:p>
                    <a:p>
                      <a:pPr algn="ctr" fontAlgn="ctr">
                        <a:buFont typeface="Arial" pitchFamily="34" charset="0"/>
                        <a:buChar char="•"/>
                      </a:pPr>
                      <a:r>
                        <a:rPr lang="en-IN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Tata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Group Customer Data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9218" name="AutoShape 2" descr="Image result for macroeconomic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220" name="Picture 4" descr="http://sr.photos3.fotosearch.com/bthumb/CSP/CSP623/k6236031.jpg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7528833" y="6041721"/>
            <a:ext cx="497568" cy="729195"/>
          </a:xfrm>
          <a:prstGeom prst="rect">
            <a:avLst/>
          </a:prstGeom>
          <a:noFill/>
        </p:spPr>
      </p:pic>
      <p:pic>
        <p:nvPicPr>
          <p:cNvPr id="9222" name="Picture 6" descr="https://encrypted-tbn1.gstatic.com/images?q=tbn:ANd9GcQZNh3UsPxSZoTGCwVAwhUZmwUJxgCY5ouEUJQq67xSTOcL64-3UGI3t7fn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9299575" y="6197601"/>
            <a:ext cx="1326031" cy="439738"/>
          </a:xfrm>
          <a:prstGeom prst="rect">
            <a:avLst/>
          </a:prstGeom>
          <a:noFill/>
        </p:spPr>
      </p:pic>
      <p:pic>
        <p:nvPicPr>
          <p:cNvPr id="9224" name="Picture 8" descr="Image result for hotel operations clipart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8312603" y="6148669"/>
            <a:ext cx="599168" cy="5242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50864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130061" y="2385181"/>
            <a:ext cx="9825482" cy="1822514"/>
          </a:xfrm>
        </p:spPr>
        <p:txBody>
          <a:bodyPr/>
          <a:lstStyle/>
          <a:p>
            <a:pPr algn="ctr"/>
            <a:r>
              <a:rPr lang="en-US" dirty="0" smtClean="0"/>
              <a:t>Quick Wins :</a:t>
            </a:r>
            <a:br>
              <a:rPr lang="en-US" dirty="0" smtClean="0"/>
            </a:br>
            <a:r>
              <a:rPr lang="en-US" dirty="0" smtClean="0"/>
              <a:t>(1) Understanding your Guests</a:t>
            </a:r>
            <a:br>
              <a:rPr lang="en-US" dirty="0" smtClean="0"/>
            </a:br>
            <a:r>
              <a:rPr lang="en-US" dirty="0" smtClean="0"/>
              <a:t>(2) Loyalty Program Management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2251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Wins : (1) Know your guests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8356" y="1217086"/>
            <a:ext cx="11663643" cy="582362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solidFill>
                  <a:srgbClr val="00BDF2"/>
                </a:solidFill>
              </a:rPr>
              <a:t>Smart combination of Guest profiling, segmentation and predictive analytics to generate smarter campaigns </a:t>
            </a:r>
            <a:endParaRPr lang="en-IN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25436" y="1551846"/>
            <a:ext cx="11116101" cy="0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48740" y="1619787"/>
            <a:ext cx="2717800" cy="495300"/>
          </a:xfrm>
          <a:prstGeom prst="roundRect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Who are my Customers ?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348740" y="2262116"/>
            <a:ext cx="2717800" cy="495300"/>
          </a:xfrm>
          <a:prstGeom prst="roundRect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What Offers and Service they want ?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348740" y="2904953"/>
            <a:ext cx="2717800" cy="495300"/>
          </a:xfrm>
          <a:prstGeom prst="roundRect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How do they Interact with me ?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348740" y="3560345"/>
            <a:ext cx="2717800" cy="495300"/>
          </a:xfrm>
          <a:prstGeom prst="roundRect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What do they say about me?</a:t>
            </a:r>
            <a:r>
              <a:rPr lang="en-US" sz="1200" dirty="0" smtClean="0"/>
              <a:t> </a:t>
            </a:r>
            <a:endParaRPr lang="en-US" sz="1200" dirty="0"/>
          </a:p>
        </p:txBody>
      </p:sp>
      <p:sp>
        <p:nvSpPr>
          <p:cNvPr id="15" name="Rounded Rectangle 14"/>
          <p:cNvSpPr/>
          <p:nvPr/>
        </p:nvSpPr>
        <p:spPr>
          <a:xfrm>
            <a:off x="1348740" y="4235402"/>
            <a:ext cx="2717800" cy="4826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What Value they generate ?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336040" y="4893770"/>
            <a:ext cx="2717800" cy="4699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What is their future potential ?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336040" y="5551630"/>
            <a:ext cx="2717800" cy="4699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Propensity to respond to my campaigns/services ?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 bwMode="gray">
          <a:xfrm>
            <a:off x="4461111" y="1881958"/>
            <a:ext cx="3258125" cy="55822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600" b="1" dirty="0" smtClean="0">
                <a:solidFill>
                  <a:schemeClr val="tx2">
                    <a:lumMod val="75000"/>
                  </a:schemeClr>
                </a:solidFill>
              </a:rPr>
              <a:t>Profiling and Segmentation</a:t>
            </a:r>
          </a:p>
        </p:txBody>
      </p:sp>
      <p:sp>
        <p:nvSpPr>
          <p:cNvPr id="24" name="TextBox 23"/>
          <p:cNvSpPr txBox="1"/>
          <p:nvPr/>
        </p:nvSpPr>
        <p:spPr bwMode="gray">
          <a:xfrm>
            <a:off x="4584117" y="6077899"/>
            <a:ext cx="2529063" cy="508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600" b="1" dirty="0" smtClean="0">
                <a:solidFill>
                  <a:schemeClr val="tx2">
                    <a:lumMod val="75000"/>
                  </a:schemeClr>
                </a:solidFill>
              </a:rPr>
              <a:t>Predictive Analytics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315" y="1675067"/>
            <a:ext cx="855662" cy="397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6593" y="2331521"/>
            <a:ext cx="805343" cy="389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Rounded Rectangle 24"/>
          <p:cNvSpPr/>
          <p:nvPr/>
        </p:nvSpPr>
        <p:spPr>
          <a:xfrm>
            <a:off x="1344747" y="6195198"/>
            <a:ext cx="2717800" cy="4699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What is the next best offer/service ?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235223" y="2598631"/>
            <a:ext cx="2717800" cy="495300"/>
          </a:xfrm>
          <a:prstGeom prst="roundRect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Campaign Planning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235223" y="3362880"/>
            <a:ext cx="2717800" cy="495300"/>
          </a:xfrm>
          <a:prstGeom prst="roundRect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Campaign Design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259607" y="4103253"/>
            <a:ext cx="2717800" cy="495300"/>
          </a:xfrm>
          <a:prstGeom prst="roundRect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Campaign Execution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283991" y="4880565"/>
            <a:ext cx="2717800" cy="495300"/>
          </a:xfrm>
          <a:prstGeom prst="roundRect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Campaign Fulfillment</a:t>
            </a:r>
            <a:endParaRPr lang="en-US" sz="1200" dirty="0"/>
          </a:p>
        </p:txBody>
      </p:sp>
      <p:sp>
        <p:nvSpPr>
          <p:cNvPr id="41" name="Rounded Rectangle 40"/>
          <p:cNvSpPr/>
          <p:nvPr/>
        </p:nvSpPr>
        <p:spPr>
          <a:xfrm>
            <a:off x="9308375" y="5677542"/>
            <a:ext cx="2717800" cy="48260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Campaign Analysis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5" name="AutoShape 7"/>
          <p:cNvSpPr>
            <a:spLocks noChangeAspect="1" noChangeArrowheads="1"/>
          </p:cNvSpPr>
          <p:nvPr/>
        </p:nvSpPr>
        <p:spPr bwMode="auto">
          <a:xfrm rot="5400000">
            <a:off x="1821516" y="3942374"/>
            <a:ext cx="5089979" cy="401638"/>
          </a:xfrm>
          <a:prstGeom prst="triangle">
            <a:avLst>
              <a:gd name="adj" fmla="val 49761"/>
            </a:avLst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 type="none" w="sm" len="sm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en-IN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3916" y="2934966"/>
            <a:ext cx="491780" cy="491780"/>
          </a:xfrm>
          <a:prstGeom prst="rect">
            <a:avLst/>
          </a:prstGeom>
        </p:spPr>
      </p:pic>
      <p:cxnSp>
        <p:nvCxnSpPr>
          <p:cNvPr id="31" name="Elbow Connector 30"/>
          <p:cNvCxnSpPr/>
          <p:nvPr/>
        </p:nvCxnSpPr>
        <p:spPr>
          <a:xfrm flipV="1">
            <a:off x="7421526" y="2899446"/>
            <a:ext cx="1834963" cy="1412058"/>
          </a:xfrm>
          <a:prstGeom prst="bentConnector3">
            <a:avLst>
              <a:gd name="adj1" fmla="val 50000"/>
            </a:avLst>
          </a:prstGeom>
          <a:ln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/>
          <p:cNvCxnSpPr/>
          <p:nvPr/>
        </p:nvCxnSpPr>
        <p:spPr>
          <a:xfrm flipV="1">
            <a:off x="7453423" y="3591184"/>
            <a:ext cx="1767286" cy="706288"/>
          </a:xfrm>
          <a:prstGeom prst="bentConnector3">
            <a:avLst>
              <a:gd name="adj1" fmla="val 50000"/>
            </a:avLst>
          </a:prstGeom>
          <a:ln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/>
          <p:cNvCxnSpPr/>
          <p:nvPr/>
        </p:nvCxnSpPr>
        <p:spPr>
          <a:xfrm>
            <a:off x="7432158" y="4301829"/>
            <a:ext cx="1822805" cy="800763"/>
          </a:xfrm>
          <a:prstGeom prst="bentConnector3">
            <a:avLst>
              <a:gd name="adj1" fmla="val 50000"/>
            </a:avLst>
          </a:prstGeom>
          <a:ln w="6350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/>
          <p:nvPr/>
        </p:nvCxnSpPr>
        <p:spPr>
          <a:xfrm>
            <a:off x="7400261" y="4312462"/>
            <a:ext cx="1875205" cy="1602023"/>
          </a:xfrm>
          <a:prstGeom prst="bentConnector3">
            <a:avLst>
              <a:gd name="adj1" fmla="val 50000"/>
            </a:avLst>
          </a:prstGeom>
          <a:ln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2597" y="4199001"/>
            <a:ext cx="728910" cy="568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86119" y="3659124"/>
            <a:ext cx="349455" cy="352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9030" y="3682746"/>
            <a:ext cx="387922" cy="340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8768" y="4837938"/>
            <a:ext cx="1011936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92037" y="5473446"/>
            <a:ext cx="768667" cy="622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83642" y="6237733"/>
            <a:ext cx="718566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4" name="Rounded Rectangle 63"/>
          <p:cNvSpPr/>
          <p:nvPr/>
        </p:nvSpPr>
        <p:spPr bwMode="auto">
          <a:xfrm>
            <a:off x="4745161" y="2730796"/>
            <a:ext cx="2441448" cy="896658"/>
          </a:xfrm>
          <a:prstGeom prst="roundRect">
            <a:avLst>
              <a:gd name="adj" fmla="val 8846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300" b="1" dirty="0" smtClean="0">
                <a:solidFill>
                  <a:schemeClr val="tx1"/>
                </a:solidFill>
                <a:ea typeface="Geneva" charset="-128"/>
              </a:rPr>
              <a:t>Plan &amp;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300" b="1" dirty="0" smtClean="0">
                <a:solidFill>
                  <a:schemeClr val="tx1"/>
                </a:solidFill>
                <a:ea typeface="Geneva" charset="-128"/>
              </a:rPr>
              <a:t>Design</a:t>
            </a:r>
            <a:endParaRPr lang="en-US" sz="1300" b="1" dirty="0">
              <a:solidFill>
                <a:schemeClr val="tx1"/>
              </a:solidFill>
              <a:ea typeface="Geneva" charset="-128"/>
            </a:endParaRPr>
          </a:p>
        </p:txBody>
      </p:sp>
      <p:sp>
        <p:nvSpPr>
          <p:cNvPr id="65" name="Rounded Rectangle 64"/>
          <p:cNvSpPr/>
          <p:nvPr/>
        </p:nvSpPr>
        <p:spPr bwMode="auto">
          <a:xfrm>
            <a:off x="4745161" y="3720310"/>
            <a:ext cx="2441448" cy="664567"/>
          </a:xfrm>
          <a:prstGeom prst="roundRect">
            <a:avLst>
              <a:gd name="adj" fmla="val 8846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300" b="1" dirty="0" smtClean="0">
                <a:solidFill>
                  <a:schemeClr val="tx1"/>
                </a:solidFill>
                <a:ea typeface="Geneva" charset="-128"/>
              </a:rPr>
              <a:t>Prioritize</a:t>
            </a:r>
            <a:endParaRPr lang="en-US" sz="1300" b="1" dirty="0">
              <a:solidFill>
                <a:schemeClr val="tx1"/>
              </a:solidFill>
              <a:ea typeface="Geneva" charset="-128"/>
            </a:endParaRPr>
          </a:p>
        </p:txBody>
      </p:sp>
      <p:sp>
        <p:nvSpPr>
          <p:cNvPr id="66" name="Rounded Rectangle 65"/>
          <p:cNvSpPr/>
          <p:nvPr/>
        </p:nvSpPr>
        <p:spPr bwMode="auto">
          <a:xfrm>
            <a:off x="4745161" y="4477733"/>
            <a:ext cx="2441448" cy="667512"/>
          </a:xfrm>
          <a:prstGeom prst="roundRect">
            <a:avLst>
              <a:gd name="adj" fmla="val 8846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300" b="1" dirty="0" smtClean="0">
                <a:solidFill>
                  <a:schemeClr val="tx1"/>
                </a:solidFill>
                <a:ea typeface="Geneva" charset="-128"/>
              </a:rPr>
              <a:t>Execute</a:t>
            </a:r>
            <a:endParaRPr lang="en-US" sz="1300" b="1" dirty="0">
              <a:solidFill>
                <a:schemeClr val="tx1"/>
              </a:solidFill>
              <a:ea typeface="Geneva" charset="-128"/>
            </a:endParaRPr>
          </a:p>
        </p:txBody>
      </p:sp>
      <p:sp>
        <p:nvSpPr>
          <p:cNvPr id="67" name="Rounded Rectangle 66"/>
          <p:cNvSpPr/>
          <p:nvPr/>
        </p:nvSpPr>
        <p:spPr bwMode="auto">
          <a:xfrm>
            <a:off x="4745161" y="5238102"/>
            <a:ext cx="2441448" cy="667512"/>
          </a:xfrm>
          <a:prstGeom prst="roundRect">
            <a:avLst>
              <a:gd name="adj" fmla="val 8846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300" b="1" dirty="0" smtClean="0">
                <a:solidFill>
                  <a:schemeClr val="tx1"/>
                </a:solidFill>
                <a:ea typeface="Geneva" charset="-128"/>
              </a:rPr>
              <a:t>Analyze</a:t>
            </a:r>
            <a:endParaRPr lang="en-US" sz="1300" b="1" dirty="0">
              <a:solidFill>
                <a:schemeClr val="tx1"/>
              </a:solidFill>
              <a:ea typeface="Geneva" charset="-128"/>
            </a:endParaRPr>
          </a:p>
        </p:txBody>
      </p:sp>
      <p:sp>
        <p:nvSpPr>
          <p:cNvPr id="68" name="Rounded Rectangle 67"/>
          <p:cNvSpPr/>
          <p:nvPr/>
        </p:nvSpPr>
        <p:spPr bwMode="auto">
          <a:xfrm>
            <a:off x="5534313" y="2789191"/>
            <a:ext cx="1600200" cy="219456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ea typeface="Geneva" charset="-128"/>
              </a:rPr>
              <a:t>Campaign Design</a:t>
            </a:r>
            <a:endParaRPr lang="en-US" sz="1200" b="1" dirty="0">
              <a:ea typeface="Geneva" charset="-128"/>
            </a:endParaRPr>
          </a:p>
        </p:txBody>
      </p:sp>
      <p:sp>
        <p:nvSpPr>
          <p:cNvPr id="69" name="Rounded Rectangle 68"/>
          <p:cNvSpPr/>
          <p:nvPr/>
        </p:nvSpPr>
        <p:spPr bwMode="auto">
          <a:xfrm>
            <a:off x="5534313" y="3070088"/>
            <a:ext cx="1600200" cy="222593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50" b="1" dirty="0" smtClean="0">
                <a:ea typeface="Geneva" charset="-128"/>
              </a:rPr>
              <a:t>Contact Management</a:t>
            </a:r>
            <a:endParaRPr lang="en-US" sz="1050" b="1" dirty="0">
              <a:ea typeface="Geneva" charset="-128"/>
            </a:endParaRPr>
          </a:p>
        </p:txBody>
      </p:sp>
      <p:sp>
        <p:nvSpPr>
          <p:cNvPr id="70" name="Rounded Rectangle 69"/>
          <p:cNvSpPr/>
          <p:nvPr/>
        </p:nvSpPr>
        <p:spPr bwMode="auto">
          <a:xfrm>
            <a:off x="5534313" y="3354122"/>
            <a:ext cx="1600200" cy="219456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ea typeface="Geneva" charset="-128"/>
              </a:rPr>
              <a:t>Campaign P&amp;L</a:t>
            </a:r>
            <a:endParaRPr lang="en-US" sz="1200" b="1" dirty="0">
              <a:ea typeface="Geneva" charset="-128"/>
            </a:endParaRPr>
          </a:p>
        </p:txBody>
      </p:sp>
      <p:sp>
        <p:nvSpPr>
          <p:cNvPr id="71" name="Rounded Rectangle 70"/>
          <p:cNvSpPr/>
          <p:nvPr/>
        </p:nvSpPr>
        <p:spPr bwMode="auto">
          <a:xfrm>
            <a:off x="5534313" y="3788936"/>
            <a:ext cx="1600200" cy="219456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ea typeface="Geneva" charset="-128"/>
              </a:rPr>
              <a:t>Optimize &amp; Prioritize</a:t>
            </a:r>
            <a:endParaRPr lang="en-US" sz="1200" b="1" dirty="0">
              <a:ea typeface="Geneva" charset="-128"/>
            </a:endParaRPr>
          </a:p>
        </p:txBody>
      </p:sp>
      <p:sp>
        <p:nvSpPr>
          <p:cNvPr id="73" name="Rounded Rectangle 72"/>
          <p:cNvSpPr/>
          <p:nvPr/>
        </p:nvSpPr>
        <p:spPr bwMode="auto">
          <a:xfrm>
            <a:off x="5534313" y="4084592"/>
            <a:ext cx="1600200" cy="219456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ea typeface="Geneva" charset="-128"/>
              </a:rPr>
              <a:t>Governance policy</a:t>
            </a:r>
            <a:endParaRPr lang="en-US" sz="1200" b="1" dirty="0">
              <a:ea typeface="Geneva" charset="-128"/>
            </a:endParaRPr>
          </a:p>
        </p:txBody>
      </p:sp>
      <p:sp>
        <p:nvSpPr>
          <p:cNvPr id="74" name="Rounded Rectangle 73"/>
          <p:cNvSpPr/>
          <p:nvPr/>
        </p:nvSpPr>
        <p:spPr bwMode="auto">
          <a:xfrm>
            <a:off x="5534313" y="4550936"/>
            <a:ext cx="1600200" cy="219456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ea typeface="Geneva" charset="-128"/>
              </a:rPr>
              <a:t>QA Processes</a:t>
            </a:r>
            <a:endParaRPr lang="en-US" sz="1200" b="1" dirty="0">
              <a:ea typeface="Geneva" charset="-128"/>
            </a:endParaRPr>
          </a:p>
        </p:txBody>
      </p:sp>
      <p:sp>
        <p:nvSpPr>
          <p:cNvPr id="75" name="Rounded Rectangle 74"/>
          <p:cNvSpPr/>
          <p:nvPr/>
        </p:nvSpPr>
        <p:spPr bwMode="auto">
          <a:xfrm>
            <a:off x="5534313" y="4855736"/>
            <a:ext cx="1600200" cy="219456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ea typeface="Geneva" charset="-128"/>
              </a:rPr>
              <a:t>Execution</a:t>
            </a:r>
            <a:endParaRPr lang="en-US" sz="1200" b="1" dirty="0">
              <a:ea typeface="Geneva" charset="-128"/>
            </a:endParaRPr>
          </a:p>
        </p:txBody>
      </p:sp>
      <p:sp>
        <p:nvSpPr>
          <p:cNvPr id="76" name="Rounded Rectangle 75"/>
          <p:cNvSpPr/>
          <p:nvPr/>
        </p:nvSpPr>
        <p:spPr bwMode="auto">
          <a:xfrm>
            <a:off x="5534313" y="5303792"/>
            <a:ext cx="1600280" cy="219456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ea typeface="Geneva" charset="-128"/>
              </a:rPr>
              <a:t>Campaign Tracking</a:t>
            </a:r>
            <a:endParaRPr lang="en-US" sz="1200" b="1" dirty="0">
              <a:ea typeface="Geneva" charset="-128"/>
            </a:endParaRPr>
          </a:p>
        </p:txBody>
      </p:sp>
      <p:sp>
        <p:nvSpPr>
          <p:cNvPr id="77" name="Rounded Rectangle 76"/>
          <p:cNvSpPr/>
          <p:nvPr/>
        </p:nvSpPr>
        <p:spPr bwMode="auto">
          <a:xfrm>
            <a:off x="5534313" y="5608592"/>
            <a:ext cx="1600280" cy="219456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ea typeface="Geneva" charset="-128"/>
              </a:rPr>
              <a:t>Analysis</a:t>
            </a:r>
            <a:endParaRPr lang="en-US" sz="1200" b="1" dirty="0">
              <a:ea typeface="Geneva" charset="-128"/>
            </a:endParaRPr>
          </a:p>
        </p:txBody>
      </p:sp>
      <p:sp>
        <p:nvSpPr>
          <p:cNvPr id="78" name="TextBox 77"/>
          <p:cNvSpPr txBox="1"/>
          <p:nvPr/>
        </p:nvSpPr>
        <p:spPr bwMode="gray">
          <a:xfrm>
            <a:off x="4614530" y="2498651"/>
            <a:ext cx="2785730" cy="3519376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endParaRPr lang="en-IN" sz="2000" dirty="0" smtClean="0"/>
          </a:p>
        </p:txBody>
      </p:sp>
      <p:sp>
        <p:nvSpPr>
          <p:cNvPr id="79" name="TextBox 78"/>
          <p:cNvSpPr txBox="1"/>
          <p:nvPr/>
        </p:nvSpPr>
        <p:spPr bwMode="gray">
          <a:xfrm>
            <a:off x="4602691" y="2456122"/>
            <a:ext cx="2647507" cy="34024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400" b="1" dirty="0" smtClean="0"/>
              <a:t>Smart Campaigns</a:t>
            </a:r>
          </a:p>
        </p:txBody>
      </p:sp>
      <p:pic>
        <p:nvPicPr>
          <p:cNvPr id="1034" name="Picture 10" descr="https://encrypted-tbn3.gstatic.com/images?q=tbn:ANd9GcSy3ZlxgnUG5ZhzlF6xxvhpvx2N7ZzoYN6k-r6f9y-K9uiYeudt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10303917" y="1768838"/>
            <a:ext cx="694701" cy="6947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46032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Quick Wins (2) : Loyalty Program Management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18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End to end  loyalty program management includes (a) acquisition (b) loyalty analytics (c) loyalty campaign management </a:t>
            </a:r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25436" y="1740528"/>
            <a:ext cx="11116101" cy="0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Picture 82" descr="bra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5723" y="2240130"/>
            <a:ext cx="1398563" cy="783195"/>
          </a:xfrm>
          <a:prstGeom prst="rect">
            <a:avLst/>
          </a:prstGeom>
        </p:spPr>
      </p:pic>
      <p:graphicFrame>
        <p:nvGraphicFramePr>
          <p:cNvPr id="62" name="Diagram 61"/>
          <p:cNvGraphicFramePr/>
          <p:nvPr/>
        </p:nvGraphicFramePr>
        <p:xfrm>
          <a:off x="2403305" y="1808879"/>
          <a:ext cx="6633284" cy="3533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5" name="Picture 64" descr="inner circle.jpg"/>
          <p:cNvPicPr>
            <a:picLocks noChangeAspect="1"/>
          </p:cNvPicPr>
          <p:nvPr/>
        </p:nvPicPr>
        <p:blipFill>
          <a:blip r:embed="rId7"/>
          <a:srcRect l="8965" t="-824"/>
          <a:stretch>
            <a:fillRect/>
          </a:stretch>
        </p:blipFill>
        <p:spPr>
          <a:xfrm>
            <a:off x="5302791" y="3721761"/>
            <a:ext cx="868680" cy="442702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339634" y="1796866"/>
            <a:ext cx="2625635" cy="2246813"/>
          </a:xfrm>
          <a:prstGeom prst="rect">
            <a:avLst/>
          </a:prstGeom>
          <a:solidFill>
            <a:schemeClr val="tx2">
              <a:lumMod val="75000"/>
              <a:alpha val="32000"/>
            </a:schemeClr>
          </a:solidFill>
          <a:ln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 69"/>
          <p:cNvSpPr/>
          <p:nvPr/>
        </p:nvSpPr>
        <p:spPr>
          <a:xfrm>
            <a:off x="339634" y="4135105"/>
            <a:ext cx="2612572" cy="1371600"/>
          </a:xfrm>
          <a:prstGeom prst="rect">
            <a:avLst/>
          </a:prstGeom>
          <a:solidFill>
            <a:schemeClr val="accent1">
              <a:lumMod val="50000"/>
              <a:alpha val="53000"/>
            </a:schemeClr>
          </a:solidFill>
          <a:ln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3" name="Straight Connector 72"/>
          <p:cNvCxnSpPr>
            <a:stCxn id="70" idx="2"/>
          </p:cNvCxnSpPr>
          <p:nvPr/>
        </p:nvCxnSpPr>
        <p:spPr>
          <a:xfrm rot="5400000">
            <a:off x="1508027" y="5638792"/>
            <a:ext cx="269981" cy="5806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378822" y="5767970"/>
            <a:ext cx="2547258" cy="13069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65313" y="6120668"/>
            <a:ext cx="1175658" cy="640085"/>
          </a:xfrm>
          <a:prstGeom prst="rect">
            <a:avLst/>
          </a:prstGeom>
          <a:solidFill>
            <a:schemeClr val="tx2">
              <a:lumMod val="75000"/>
              <a:alpha val="17000"/>
            </a:schemeClr>
          </a:solidFill>
          <a:ln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AutoShape 7"/>
          <p:cNvSpPr>
            <a:spLocks noChangeAspect="1" noChangeArrowheads="1"/>
          </p:cNvSpPr>
          <p:nvPr/>
        </p:nvSpPr>
        <p:spPr bwMode="auto">
          <a:xfrm rot="5400000">
            <a:off x="1375201" y="3446711"/>
            <a:ext cx="3718379" cy="401638"/>
          </a:xfrm>
          <a:prstGeom prst="triangle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 type="none" w="sm" len="sm"/>
            <a:tailEnd type="none" w="med" len="lg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en-IN"/>
          </a:p>
        </p:txBody>
      </p:sp>
      <p:sp>
        <p:nvSpPr>
          <p:cNvPr id="89" name="Rectangle 88"/>
          <p:cNvSpPr/>
          <p:nvPr/>
        </p:nvSpPr>
        <p:spPr>
          <a:xfrm>
            <a:off x="9052560" y="3300541"/>
            <a:ext cx="2834640" cy="435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Smarter Loyalty Campaigns</a:t>
            </a:r>
            <a:endParaRPr lang="en-IN" sz="1200" b="1" dirty="0">
              <a:solidFill>
                <a:schemeClr val="tx1"/>
              </a:solidFill>
            </a:endParaRPr>
          </a:p>
        </p:txBody>
      </p:sp>
      <p:cxnSp>
        <p:nvCxnSpPr>
          <p:cNvPr id="92" name="Straight Connector 91"/>
          <p:cNvCxnSpPr>
            <a:stCxn id="67" idx="1"/>
            <a:endCxn id="67" idx="3"/>
          </p:cNvCxnSpPr>
          <p:nvPr/>
        </p:nvCxnSpPr>
        <p:spPr>
          <a:xfrm rot="10800000" flipH="1">
            <a:off x="339633" y="2920273"/>
            <a:ext cx="2625635" cy="1588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67" idx="0"/>
          </p:cNvCxnSpPr>
          <p:nvPr/>
        </p:nvCxnSpPr>
        <p:spPr>
          <a:xfrm rot="16200000" flipH="1">
            <a:off x="1086030" y="2363287"/>
            <a:ext cx="1135023" cy="218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 bwMode="gray">
          <a:xfrm>
            <a:off x="457202" y="2071188"/>
            <a:ext cx="1371599" cy="49638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Loyalty Active </a:t>
            </a:r>
            <a:endParaRPr lang="en-IN" b="1" dirty="0" smtClean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2" name="TextBox 101"/>
          <p:cNvSpPr txBox="1"/>
          <p:nvPr/>
        </p:nvSpPr>
        <p:spPr bwMode="gray">
          <a:xfrm>
            <a:off x="1654631" y="2106022"/>
            <a:ext cx="1371599" cy="49638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Loyalty Inactive </a:t>
            </a:r>
            <a:endParaRPr lang="en-IN" b="1" dirty="0" smtClean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3" name="TextBox 102"/>
          <p:cNvSpPr txBox="1"/>
          <p:nvPr/>
        </p:nvSpPr>
        <p:spPr bwMode="gray">
          <a:xfrm>
            <a:off x="857797" y="3229428"/>
            <a:ext cx="1741712" cy="49638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Non-Loyalty </a:t>
            </a:r>
            <a:endParaRPr lang="en-IN" b="1" dirty="0" smtClean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4" name="TextBox 103"/>
          <p:cNvSpPr txBox="1"/>
          <p:nvPr/>
        </p:nvSpPr>
        <p:spPr bwMode="gray">
          <a:xfrm>
            <a:off x="957947" y="4622799"/>
            <a:ext cx="1741712" cy="49638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Prospects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en-IN" b="1" dirty="0" smtClean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09" name="Straight Connector 108"/>
          <p:cNvCxnSpPr/>
          <p:nvPr/>
        </p:nvCxnSpPr>
        <p:spPr>
          <a:xfrm rot="16200000" flipH="1">
            <a:off x="2742476" y="5937069"/>
            <a:ext cx="335276" cy="14515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/>
          <p:cNvSpPr/>
          <p:nvPr/>
        </p:nvSpPr>
        <p:spPr>
          <a:xfrm>
            <a:off x="2229393" y="6129377"/>
            <a:ext cx="1258390" cy="640085"/>
          </a:xfrm>
          <a:prstGeom prst="rect">
            <a:avLst/>
          </a:prstGeom>
          <a:solidFill>
            <a:schemeClr val="tx2">
              <a:lumMod val="75000"/>
              <a:alpha val="17000"/>
            </a:schemeClr>
          </a:solidFill>
          <a:ln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121" name="TextBox 120"/>
          <p:cNvSpPr txBox="1"/>
          <p:nvPr/>
        </p:nvSpPr>
        <p:spPr bwMode="gray">
          <a:xfrm>
            <a:off x="100150" y="6181633"/>
            <a:ext cx="1371599" cy="49638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sz="1000" b="1" dirty="0" smtClean="0">
                <a:solidFill>
                  <a:schemeClr val="tx2">
                    <a:lumMod val="75000"/>
                  </a:schemeClr>
                </a:solidFill>
              </a:rPr>
              <a:t>Prospect Data</a:t>
            </a:r>
            <a:endParaRPr lang="en-IN" sz="1000" b="1" dirty="0" smtClean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2" name="TextBox 121"/>
          <p:cNvSpPr txBox="1"/>
          <p:nvPr/>
        </p:nvSpPr>
        <p:spPr bwMode="gray">
          <a:xfrm>
            <a:off x="2316482" y="6143898"/>
            <a:ext cx="1371599" cy="49638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sz="1000" b="1" dirty="0" smtClean="0">
                <a:solidFill>
                  <a:schemeClr val="tx2">
                    <a:lumMod val="75000"/>
                  </a:schemeClr>
                </a:solidFill>
              </a:rPr>
              <a:t>    Multitenant</a:t>
            </a:r>
          </a:p>
          <a:p>
            <a:r>
              <a:rPr lang="en-US" sz="1000" b="1" dirty="0" smtClean="0">
                <a:solidFill>
                  <a:schemeClr val="tx2">
                    <a:lumMod val="75000"/>
                  </a:schemeClr>
                </a:solidFill>
              </a:rPr>
              <a:t> TATA segments</a:t>
            </a:r>
            <a:endParaRPr lang="en-IN" sz="1000" b="1" dirty="0" smtClean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23" name="Straight Connector 122"/>
          <p:cNvCxnSpPr/>
          <p:nvPr/>
        </p:nvCxnSpPr>
        <p:spPr>
          <a:xfrm rot="5400000">
            <a:off x="211977" y="5944326"/>
            <a:ext cx="369323" cy="9503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28"/>
          <p:cNvGrpSpPr/>
          <p:nvPr/>
        </p:nvGrpSpPr>
        <p:grpSpPr>
          <a:xfrm>
            <a:off x="9026434" y="3773192"/>
            <a:ext cx="2926080" cy="2157341"/>
            <a:chOff x="9196252" y="2937173"/>
            <a:chExt cx="2926080" cy="2157341"/>
          </a:xfrm>
        </p:grpSpPr>
        <p:sp>
          <p:nvSpPr>
            <p:cNvPr id="130" name="Freeform 4"/>
            <p:cNvSpPr>
              <a:spLocks/>
            </p:cNvSpPr>
            <p:nvPr/>
          </p:nvSpPr>
          <p:spPr bwMode="auto">
            <a:xfrm>
              <a:off x="10658544" y="2938984"/>
              <a:ext cx="1463788" cy="1080482"/>
            </a:xfrm>
            <a:custGeom>
              <a:avLst/>
              <a:gdLst>
                <a:gd name="T0" fmla="*/ 0 w 2148"/>
                <a:gd name="T1" fmla="*/ 0 h 1410"/>
                <a:gd name="T2" fmla="*/ 2148 w 2148"/>
                <a:gd name="T3" fmla="*/ 0 h 1410"/>
                <a:gd name="T4" fmla="*/ 2148 w 2148"/>
                <a:gd name="T5" fmla="*/ 1410 h 1410"/>
                <a:gd name="T6" fmla="*/ 1230 w 2148"/>
                <a:gd name="T7" fmla="*/ 1410 h 1410"/>
                <a:gd name="T8" fmla="*/ 1080 w 2148"/>
                <a:gd name="T9" fmla="*/ 1119 h 1410"/>
                <a:gd name="T10" fmla="*/ 959 w 2148"/>
                <a:gd name="T11" fmla="*/ 1410 h 1410"/>
                <a:gd name="T12" fmla="*/ 0 w 2148"/>
                <a:gd name="T13" fmla="*/ 1410 h 1410"/>
                <a:gd name="T14" fmla="*/ 0 w 2148"/>
                <a:gd name="T15" fmla="*/ 804 h 1410"/>
                <a:gd name="T16" fmla="*/ 287 w 2148"/>
                <a:gd name="T17" fmla="*/ 698 h 1410"/>
                <a:gd name="T18" fmla="*/ 0 w 2148"/>
                <a:gd name="T19" fmla="*/ 600 h 1410"/>
                <a:gd name="T20" fmla="*/ 0 w 2148"/>
                <a:gd name="T21" fmla="*/ 0 h 14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48"/>
                <a:gd name="T34" fmla="*/ 0 h 1410"/>
                <a:gd name="T35" fmla="*/ 2148 w 2148"/>
                <a:gd name="T36" fmla="*/ 1410 h 141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48" h="1410">
                  <a:moveTo>
                    <a:pt x="0" y="0"/>
                  </a:moveTo>
                  <a:lnTo>
                    <a:pt x="2148" y="0"/>
                  </a:lnTo>
                  <a:lnTo>
                    <a:pt x="2148" y="1410"/>
                  </a:lnTo>
                  <a:lnTo>
                    <a:pt x="1230" y="1410"/>
                  </a:lnTo>
                  <a:cubicBezTo>
                    <a:pt x="1052" y="1362"/>
                    <a:pt x="1386" y="1118"/>
                    <a:pt x="1080" y="1119"/>
                  </a:cubicBezTo>
                  <a:cubicBezTo>
                    <a:pt x="774" y="1120"/>
                    <a:pt x="1139" y="1362"/>
                    <a:pt x="959" y="1410"/>
                  </a:cubicBezTo>
                  <a:lnTo>
                    <a:pt x="0" y="1410"/>
                  </a:lnTo>
                  <a:lnTo>
                    <a:pt x="0" y="804"/>
                  </a:lnTo>
                  <a:cubicBezTo>
                    <a:pt x="48" y="685"/>
                    <a:pt x="288" y="1002"/>
                    <a:pt x="287" y="698"/>
                  </a:cubicBezTo>
                  <a:cubicBezTo>
                    <a:pt x="286" y="394"/>
                    <a:pt x="48" y="716"/>
                    <a:pt x="0" y="6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12700">
              <a:noFill/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IN"/>
            </a:p>
          </p:txBody>
        </p:sp>
        <p:sp>
          <p:nvSpPr>
            <p:cNvPr id="131" name="Freeform 5"/>
            <p:cNvSpPr>
              <a:spLocks/>
            </p:cNvSpPr>
            <p:nvPr/>
          </p:nvSpPr>
          <p:spPr bwMode="auto">
            <a:xfrm>
              <a:off x="9197748" y="4016749"/>
              <a:ext cx="1461544" cy="1077765"/>
            </a:xfrm>
            <a:custGeom>
              <a:avLst/>
              <a:gdLst>
                <a:gd name="T0" fmla="*/ 2145 w 2145"/>
                <a:gd name="T1" fmla="*/ 1406 h 1406"/>
                <a:gd name="T2" fmla="*/ 0 w 2145"/>
                <a:gd name="T3" fmla="*/ 1406 h 1406"/>
                <a:gd name="T4" fmla="*/ 0 w 2145"/>
                <a:gd name="T5" fmla="*/ 0 h 1406"/>
                <a:gd name="T6" fmla="*/ 928 w 2145"/>
                <a:gd name="T7" fmla="*/ 0 h 1406"/>
                <a:gd name="T8" fmla="*/ 1064 w 2145"/>
                <a:gd name="T9" fmla="*/ 297 h 1406"/>
                <a:gd name="T10" fmla="*/ 1190 w 2145"/>
                <a:gd name="T11" fmla="*/ 3 h 1406"/>
                <a:gd name="T12" fmla="*/ 2144 w 2145"/>
                <a:gd name="T13" fmla="*/ 3 h 1406"/>
                <a:gd name="T14" fmla="*/ 2144 w 2145"/>
                <a:gd name="T15" fmla="*/ 615 h 1406"/>
                <a:gd name="T16" fmla="*/ 1857 w 2145"/>
                <a:gd name="T17" fmla="*/ 705 h 1406"/>
                <a:gd name="T18" fmla="*/ 2144 w 2145"/>
                <a:gd name="T19" fmla="*/ 813 h 1406"/>
                <a:gd name="T20" fmla="*/ 2145 w 2145"/>
                <a:gd name="T21" fmla="*/ 1406 h 140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45"/>
                <a:gd name="T34" fmla="*/ 0 h 1406"/>
                <a:gd name="T35" fmla="*/ 2145 w 2145"/>
                <a:gd name="T36" fmla="*/ 1406 h 140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45" h="1406">
                  <a:moveTo>
                    <a:pt x="2145" y="1406"/>
                  </a:moveTo>
                  <a:lnTo>
                    <a:pt x="0" y="1406"/>
                  </a:lnTo>
                  <a:lnTo>
                    <a:pt x="0" y="0"/>
                  </a:lnTo>
                  <a:lnTo>
                    <a:pt x="928" y="0"/>
                  </a:lnTo>
                  <a:cubicBezTo>
                    <a:pt x="1105" y="49"/>
                    <a:pt x="758" y="297"/>
                    <a:pt x="1064" y="297"/>
                  </a:cubicBezTo>
                  <a:cubicBezTo>
                    <a:pt x="1370" y="297"/>
                    <a:pt x="1012" y="51"/>
                    <a:pt x="1190" y="3"/>
                  </a:cubicBezTo>
                  <a:lnTo>
                    <a:pt x="2144" y="3"/>
                  </a:lnTo>
                  <a:lnTo>
                    <a:pt x="2144" y="615"/>
                  </a:lnTo>
                  <a:cubicBezTo>
                    <a:pt x="2096" y="732"/>
                    <a:pt x="1856" y="399"/>
                    <a:pt x="1857" y="705"/>
                  </a:cubicBezTo>
                  <a:cubicBezTo>
                    <a:pt x="1858" y="1011"/>
                    <a:pt x="2096" y="696"/>
                    <a:pt x="2144" y="813"/>
                  </a:cubicBezTo>
                  <a:lnTo>
                    <a:pt x="2145" y="1406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12700">
              <a:noFill/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IN"/>
            </a:p>
          </p:txBody>
        </p:sp>
        <p:sp>
          <p:nvSpPr>
            <p:cNvPr id="132" name="Freeform 6"/>
            <p:cNvSpPr>
              <a:spLocks/>
            </p:cNvSpPr>
            <p:nvPr/>
          </p:nvSpPr>
          <p:spPr bwMode="auto">
            <a:xfrm>
              <a:off x="10460331" y="3791234"/>
              <a:ext cx="1659758" cy="1299658"/>
            </a:xfrm>
            <a:custGeom>
              <a:avLst/>
              <a:gdLst>
                <a:gd name="T0" fmla="*/ 291 w 2436"/>
                <a:gd name="T1" fmla="*/ 1696 h 1696"/>
                <a:gd name="T2" fmla="*/ 2436 w 2436"/>
                <a:gd name="T3" fmla="*/ 1696 h 1696"/>
                <a:gd name="T4" fmla="*/ 2436 w 2436"/>
                <a:gd name="T5" fmla="*/ 293 h 1696"/>
                <a:gd name="T6" fmla="*/ 1518 w 2436"/>
                <a:gd name="T7" fmla="*/ 293 h 1696"/>
                <a:gd name="T8" fmla="*/ 1374 w 2436"/>
                <a:gd name="T9" fmla="*/ 2 h 1696"/>
                <a:gd name="T10" fmla="*/ 1248 w 2436"/>
                <a:gd name="T11" fmla="*/ 293 h 1696"/>
                <a:gd name="T12" fmla="*/ 288 w 2436"/>
                <a:gd name="T13" fmla="*/ 293 h 1696"/>
                <a:gd name="T14" fmla="*/ 288 w 2436"/>
                <a:gd name="T15" fmla="*/ 905 h 1696"/>
                <a:gd name="T16" fmla="*/ 1 w 2436"/>
                <a:gd name="T17" fmla="*/ 991 h 1696"/>
                <a:gd name="T18" fmla="*/ 288 w 2436"/>
                <a:gd name="T19" fmla="*/ 1109 h 1696"/>
                <a:gd name="T20" fmla="*/ 291 w 2436"/>
                <a:gd name="T21" fmla="*/ 1696 h 16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36"/>
                <a:gd name="T34" fmla="*/ 0 h 1696"/>
                <a:gd name="T35" fmla="*/ 2436 w 2436"/>
                <a:gd name="T36" fmla="*/ 1696 h 169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36" h="1696">
                  <a:moveTo>
                    <a:pt x="291" y="1696"/>
                  </a:moveTo>
                  <a:lnTo>
                    <a:pt x="2436" y="1696"/>
                  </a:lnTo>
                  <a:lnTo>
                    <a:pt x="2436" y="293"/>
                  </a:lnTo>
                  <a:lnTo>
                    <a:pt x="1518" y="293"/>
                  </a:lnTo>
                  <a:cubicBezTo>
                    <a:pt x="1341" y="245"/>
                    <a:pt x="1693" y="0"/>
                    <a:pt x="1374" y="2"/>
                  </a:cubicBezTo>
                  <a:cubicBezTo>
                    <a:pt x="1055" y="4"/>
                    <a:pt x="1428" y="245"/>
                    <a:pt x="1248" y="293"/>
                  </a:cubicBezTo>
                  <a:lnTo>
                    <a:pt x="288" y="293"/>
                  </a:lnTo>
                  <a:lnTo>
                    <a:pt x="288" y="905"/>
                  </a:lnTo>
                  <a:cubicBezTo>
                    <a:pt x="240" y="1021"/>
                    <a:pt x="2" y="675"/>
                    <a:pt x="1" y="991"/>
                  </a:cubicBezTo>
                  <a:cubicBezTo>
                    <a:pt x="0" y="1307"/>
                    <a:pt x="240" y="992"/>
                    <a:pt x="288" y="1109"/>
                  </a:cubicBezTo>
                  <a:lnTo>
                    <a:pt x="291" y="1696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noFill/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IN"/>
            </a:p>
          </p:txBody>
        </p:sp>
        <p:sp>
          <p:nvSpPr>
            <p:cNvPr id="133" name="Freeform 7"/>
            <p:cNvSpPr>
              <a:spLocks/>
            </p:cNvSpPr>
            <p:nvPr/>
          </p:nvSpPr>
          <p:spPr bwMode="auto">
            <a:xfrm>
              <a:off x="9196252" y="2937173"/>
              <a:ext cx="1658262" cy="1307809"/>
            </a:xfrm>
            <a:custGeom>
              <a:avLst/>
              <a:gdLst>
                <a:gd name="T0" fmla="*/ 2146 w 2434"/>
                <a:gd name="T1" fmla="*/ 0 h 1706"/>
                <a:gd name="T2" fmla="*/ 0 w 2434"/>
                <a:gd name="T3" fmla="*/ 0 h 1706"/>
                <a:gd name="T4" fmla="*/ 2 w 2434"/>
                <a:gd name="T5" fmla="*/ 1411 h 1706"/>
                <a:gd name="T6" fmla="*/ 919 w 2434"/>
                <a:gd name="T7" fmla="*/ 1411 h 1706"/>
                <a:gd name="T8" fmla="*/ 1060 w 2434"/>
                <a:gd name="T9" fmla="*/ 1706 h 1706"/>
                <a:gd name="T10" fmla="*/ 1198 w 2434"/>
                <a:gd name="T11" fmla="*/ 1412 h 1706"/>
                <a:gd name="T12" fmla="*/ 2146 w 2434"/>
                <a:gd name="T13" fmla="*/ 1412 h 1706"/>
                <a:gd name="T14" fmla="*/ 2146 w 2434"/>
                <a:gd name="T15" fmla="*/ 812 h 1706"/>
                <a:gd name="T16" fmla="*/ 2434 w 2434"/>
                <a:gd name="T17" fmla="*/ 704 h 1706"/>
                <a:gd name="T18" fmla="*/ 2146 w 2434"/>
                <a:gd name="T19" fmla="*/ 602 h 1706"/>
                <a:gd name="T20" fmla="*/ 2146 w 2434"/>
                <a:gd name="T21" fmla="*/ 0 h 170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34"/>
                <a:gd name="T34" fmla="*/ 0 h 1706"/>
                <a:gd name="T35" fmla="*/ 2434 w 2434"/>
                <a:gd name="T36" fmla="*/ 1706 h 170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34" h="1706">
                  <a:moveTo>
                    <a:pt x="2146" y="0"/>
                  </a:moveTo>
                  <a:lnTo>
                    <a:pt x="0" y="0"/>
                  </a:lnTo>
                  <a:lnTo>
                    <a:pt x="2" y="1411"/>
                  </a:lnTo>
                  <a:lnTo>
                    <a:pt x="919" y="1411"/>
                  </a:lnTo>
                  <a:cubicBezTo>
                    <a:pt x="1095" y="1460"/>
                    <a:pt x="742" y="1706"/>
                    <a:pt x="1060" y="1706"/>
                  </a:cubicBezTo>
                  <a:cubicBezTo>
                    <a:pt x="1378" y="1706"/>
                    <a:pt x="1019" y="1459"/>
                    <a:pt x="1198" y="1412"/>
                  </a:cubicBezTo>
                  <a:lnTo>
                    <a:pt x="2146" y="1412"/>
                  </a:lnTo>
                  <a:lnTo>
                    <a:pt x="2146" y="812"/>
                  </a:lnTo>
                  <a:cubicBezTo>
                    <a:pt x="2194" y="694"/>
                    <a:pt x="2434" y="1010"/>
                    <a:pt x="2434" y="704"/>
                  </a:cubicBezTo>
                  <a:cubicBezTo>
                    <a:pt x="2434" y="398"/>
                    <a:pt x="2194" y="719"/>
                    <a:pt x="2146" y="602"/>
                  </a:cubicBezTo>
                  <a:lnTo>
                    <a:pt x="2146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2700">
              <a:noFill/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IN" dirty="0"/>
            </a:p>
          </p:txBody>
        </p:sp>
      </p:grpSp>
      <p:sp>
        <p:nvSpPr>
          <p:cNvPr id="135" name="TextBox 134"/>
          <p:cNvSpPr txBox="1"/>
          <p:nvPr/>
        </p:nvSpPr>
        <p:spPr bwMode="gray">
          <a:xfrm>
            <a:off x="9117872" y="4937755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Campaign</a:t>
            </a:r>
          </a:p>
          <a:p>
            <a:r>
              <a:rPr lang="en-US" sz="1400" b="1" dirty="0" smtClean="0">
                <a:solidFill>
                  <a:schemeClr val="bg1"/>
                </a:solidFill>
              </a:rPr>
              <a:t> Execution &amp;</a:t>
            </a:r>
          </a:p>
          <a:p>
            <a:r>
              <a:rPr lang="en-US" sz="1400" b="1" dirty="0" smtClean="0">
                <a:solidFill>
                  <a:schemeClr val="bg1"/>
                </a:solidFill>
              </a:rPr>
              <a:t>Fulfillment</a:t>
            </a:r>
            <a:endParaRPr lang="en-IN" sz="1400" b="1" dirty="0" smtClean="0">
              <a:solidFill>
                <a:schemeClr val="bg1"/>
              </a:solidFill>
            </a:endParaRPr>
          </a:p>
        </p:txBody>
      </p:sp>
      <p:sp>
        <p:nvSpPr>
          <p:cNvPr id="136" name="TextBox 135"/>
          <p:cNvSpPr txBox="1"/>
          <p:nvPr/>
        </p:nvSpPr>
        <p:spPr bwMode="gray">
          <a:xfrm>
            <a:off x="9165768" y="3888357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Campaign </a:t>
            </a:r>
          </a:p>
          <a:p>
            <a:r>
              <a:rPr lang="en-US" sz="1400" b="1" dirty="0" smtClean="0">
                <a:solidFill>
                  <a:schemeClr val="bg1"/>
                </a:solidFill>
              </a:rPr>
              <a:t>  Planning</a:t>
            </a:r>
            <a:endParaRPr lang="en-IN" sz="1400" b="1" dirty="0" smtClean="0">
              <a:solidFill>
                <a:schemeClr val="bg1"/>
              </a:solidFill>
            </a:endParaRPr>
          </a:p>
        </p:txBody>
      </p:sp>
      <p:sp>
        <p:nvSpPr>
          <p:cNvPr id="137" name="TextBox 136"/>
          <p:cNvSpPr txBox="1"/>
          <p:nvPr/>
        </p:nvSpPr>
        <p:spPr bwMode="gray">
          <a:xfrm>
            <a:off x="10746375" y="4907275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Campaign </a:t>
            </a:r>
          </a:p>
          <a:p>
            <a:r>
              <a:rPr lang="en-US" sz="1400" b="1" dirty="0" smtClean="0">
                <a:solidFill>
                  <a:schemeClr val="bg1"/>
                </a:solidFill>
              </a:rPr>
              <a:t>  Analysis</a:t>
            </a:r>
            <a:endParaRPr lang="en-IN" sz="1400" b="1" dirty="0" smtClean="0">
              <a:solidFill>
                <a:schemeClr val="bg1"/>
              </a:solidFill>
            </a:endParaRPr>
          </a:p>
        </p:txBody>
      </p:sp>
      <p:sp>
        <p:nvSpPr>
          <p:cNvPr id="138" name="TextBox 137"/>
          <p:cNvSpPr txBox="1"/>
          <p:nvPr/>
        </p:nvSpPr>
        <p:spPr bwMode="gray">
          <a:xfrm>
            <a:off x="10667998" y="3875308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Campaign</a:t>
            </a:r>
          </a:p>
          <a:p>
            <a:r>
              <a:rPr lang="en-US" sz="1400" b="1" dirty="0" smtClean="0">
                <a:solidFill>
                  <a:schemeClr val="bg1"/>
                </a:solidFill>
              </a:rPr>
              <a:t>    Design</a:t>
            </a:r>
            <a:endParaRPr lang="en-IN" sz="1400" b="1" dirty="0" smtClean="0">
              <a:solidFill>
                <a:schemeClr val="bg1"/>
              </a:solidFill>
            </a:endParaRPr>
          </a:p>
        </p:txBody>
      </p:sp>
      <p:pic>
        <p:nvPicPr>
          <p:cNvPr id="139" name="Picture 138" descr="taj 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1850" y="5630076"/>
            <a:ext cx="3168832" cy="1010213"/>
          </a:xfrm>
          <a:prstGeom prst="rect">
            <a:avLst/>
          </a:prstGeom>
        </p:spPr>
      </p:pic>
      <p:pic>
        <p:nvPicPr>
          <p:cNvPr id="140" name="Picture 139" descr="hotel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18695" y="2139315"/>
            <a:ext cx="724036" cy="957955"/>
          </a:xfrm>
          <a:prstGeom prst="rect">
            <a:avLst/>
          </a:prstGeom>
        </p:spPr>
      </p:pic>
      <p:sp>
        <p:nvSpPr>
          <p:cNvPr id="39" name="AutoShape 7"/>
          <p:cNvSpPr>
            <a:spLocks noChangeAspect="1" noChangeArrowheads="1"/>
          </p:cNvSpPr>
          <p:nvPr/>
        </p:nvSpPr>
        <p:spPr bwMode="auto">
          <a:xfrm rot="5400000">
            <a:off x="6404403" y="3439455"/>
            <a:ext cx="3718379" cy="401638"/>
          </a:xfrm>
          <a:prstGeom prst="triangle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 type="none" w="sm" len="sm"/>
            <a:tailEnd type="none" w="med" len="lg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9902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9984" y="440764"/>
            <a:ext cx="10042918" cy="706964"/>
          </a:xfrm>
        </p:spPr>
        <p:txBody>
          <a:bodyPr/>
          <a:lstStyle/>
          <a:p>
            <a:r>
              <a:rPr lang="en-US" sz="2300" dirty="0" smtClean="0"/>
              <a:t>Customer base categorization: Focus Quick Wins on Loyalty Guests</a:t>
            </a:r>
            <a:endParaRPr lang="en-IN" sz="2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dirty="0"/>
              <a:t>The entire customer base can be divided in 4 segments based on loyalty and status of customer (active/ </a:t>
            </a:r>
            <a:r>
              <a:rPr lang="en-US" dirty="0" smtClean="0"/>
              <a:t>inactive) and focus will be on 2 segments – Loyalty (Active and Inactive)  </a:t>
            </a:r>
            <a:endParaRPr lang="en-IN" dirty="0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5260657" y="1799448"/>
            <a:ext cx="4552243" cy="2515244"/>
            <a:chOff x="1903773" y="1766213"/>
            <a:chExt cx="5868594" cy="4102414"/>
          </a:xfrm>
        </p:grpSpPr>
        <p:cxnSp>
          <p:nvCxnSpPr>
            <p:cNvPr id="18" name="Straight Connector 17"/>
            <p:cNvCxnSpPr/>
            <p:nvPr/>
          </p:nvCxnSpPr>
          <p:spPr>
            <a:xfrm rot="5400000">
              <a:off x="-146873" y="3816860"/>
              <a:ext cx="4102414" cy="1121"/>
            </a:xfrm>
            <a:prstGeom prst="line">
              <a:avLst/>
            </a:prstGeom>
            <a:noFill/>
            <a:ln w="34925" cap="flat" cmpd="sng" algn="ctr">
              <a:solidFill>
                <a:schemeClr val="tx2"/>
              </a:solidFill>
              <a:prstDash val="solid"/>
              <a:headEnd type="triangle"/>
            </a:ln>
            <a:effectLst/>
          </p:spPr>
        </p:cxnSp>
        <p:cxnSp>
          <p:nvCxnSpPr>
            <p:cNvPr id="19" name="Straight Connector 18"/>
            <p:cNvCxnSpPr/>
            <p:nvPr/>
          </p:nvCxnSpPr>
          <p:spPr>
            <a:xfrm rot="10800000" flipV="1">
              <a:off x="1904334" y="5867734"/>
              <a:ext cx="5868033" cy="0"/>
            </a:xfrm>
            <a:prstGeom prst="line">
              <a:avLst/>
            </a:prstGeom>
            <a:noFill/>
            <a:ln w="34925" cap="flat" cmpd="sng" algn="ctr">
              <a:solidFill>
                <a:schemeClr val="tx2"/>
              </a:solidFill>
              <a:prstDash val="solid"/>
              <a:headEnd type="triangle"/>
            </a:ln>
            <a:effectLst/>
          </p:spPr>
        </p:cxnSp>
      </p:grpSp>
      <p:grpSp>
        <p:nvGrpSpPr>
          <p:cNvPr id="3" name="Group 16"/>
          <p:cNvGrpSpPr>
            <a:grpSpLocks/>
          </p:cNvGrpSpPr>
          <p:nvPr/>
        </p:nvGrpSpPr>
        <p:grpSpPr bwMode="auto">
          <a:xfrm rot="10800000">
            <a:off x="907023" y="4329592"/>
            <a:ext cx="4353480" cy="2483630"/>
            <a:chOff x="1903773" y="1766213"/>
            <a:chExt cx="5868594" cy="4102414"/>
          </a:xfrm>
        </p:grpSpPr>
        <p:cxnSp>
          <p:nvCxnSpPr>
            <p:cNvPr id="22" name="Straight Connector 21"/>
            <p:cNvCxnSpPr/>
            <p:nvPr/>
          </p:nvCxnSpPr>
          <p:spPr>
            <a:xfrm rot="5400000">
              <a:off x="-146873" y="3816860"/>
              <a:ext cx="4102414" cy="1121"/>
            </a:xfrm>
            <a:prstGeom prst="line">
              <a:avLst/>
            </a:prstGeom>
            <a:noFill/>
            <a:ln w="34925" cap="flat" cmpd="sng" algn="ctr">
              <a:solidFill>
                <a:schemeClr val="tx2"/>
              </a:solidFill>
              <a:prstDash val="solid"/>
              <a:headEnd type="triangle"/>
            </a:ln>
            <a:effectLst/>
          </p:spPr>
        </p:cxnSp>
        <p:cxnSp>
          <p:nvCxnSpPr>
            <p:cNvPr id="23" name="Straight Connector 22"/>
            <p:cNvCxnSpPr/>
            <p:nvPr/>
          </p:nvCxnSpPr>
          <p:spPr>
            <a:xfrm rot="10800000" flipV="1">
              <a:off x="1904334" y="5867734"/>
              <a:ext cx="5868033" cy="0"/>
            </a:xfrm>
            <a:prstGeom prst="line">
              <a:avLst/>
            </a:prstGeom>
            <a:noFill/>
            <a:ln w="34925" cap="flat" cmpd="sng" algn="ctr">
              <a:solidFill>
                <a:schemeClr val="tx2"/>
              </a:solidFill>
              <a:prstDash val="solid"/>
              <a:headEnd type="triangle"/>
            </a:ln>
            <a:effectLst/>
          </p:spPr>
        </p:cxnSp>
      </p:grpSp>
      <p:sp>
        <p:nvSpPr>
          <p:cNvPr id="28" name="Rectangle 27"/>
          <p:cNvSpPr/>
          <p:nvPr/>
        </p:nvSpPr>
        <p:spPr>
          <a:xfrm>
            <a:off x="2407896" y="2126481"/>
            <a:ext cx="2688989" cy="200879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/>
          <p:cNvSpPr/>
          <p:nvPr/>
        </p:nvSpPr>
        <p:spPr>
          <a:xfrm>
            <a:off x="5440331" y="2126481"/>
            <a:ext cx="2767504" cy="20087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/>
          <p:cNvSpPr/>
          <p:nvPr/>
        </p:nvSpPr>
        <p:spPr>
          <a:xfrm>
            <a:off x="2407896" y="4462305"/>
            <a:ext cx="2688989" cy="200879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+mj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23817" y="4462305"/>
            <a:ext cx="2784018" cy="20087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/>
          <p:cNvCxnSpPr/>
          <p:nvPr/>
        </p:nvCxnSpPr>
        <p:spPr>
          <a:xfrm>
            <a:off x="468947" y="1799448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582625" y="2948859"/>
            <a:ext cx="2507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 smtClean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Loyalty Inactive Customers</a:t>
            </a:r>
            <a:endParaRPr lang="en-US" sz="1400" i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73432" y="5285060"/>
            <a:ext cx="2925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 smtClean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Non-Loyalty Inactive Customers</a:t>
            </a:r>
            <a:endParaRPr lang="en-US" sz="1400" i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58773" y="5285060"/>
            <a:ext cx="2786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 smtClean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rPr>
              <a:t>Non-Loyalty Active Customers</a:t>
            </a:r>
            <a:endParaRPr lang="en-US" sz="1400" i="1" dirty="0">
              <a:solidFill>
                <a:schemeClr val="tx2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84581" y="2948859"/>
            <a:ext cx="2367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 smtClean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Loyalty Active Customers</a:t>
            </a:r>
            <a:endParaRPr lang="en-US" sz="1400" i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3" name="Left-Right Arrow 32"/>
          <p:cNvSpPr/>
          <p:nvPr/>
        </p:nvSpPr>
        <p:spPr>
          <a:xfrm>
            <a:off x="2809745" y="2245116"/>
            <a:ext cx="5027777" cy="614290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 smtClean="0">
                <a:solidFill>
                  <a:schemeClr val="tx1"/>
                </a:solidFill>
              </a:rPr>
              <a:t>Phase I: Quick Wins</a:t>
            </a:r>
            <a:endParaRPr lang="en-IN" b="1" i="1" dirty="0">
              <a:solidFill>
                <a:schemeClr val="tx1"/>
              </a:solidFill>
            </a:endParaRPr>
          </a:p>
        </p:txBody>
      </p:sp>
      <p:sp>
        <p:nvSpPr>
          <p:cNvPr id="34" name="Left-Right Arrow 33"/>
          <p:cNvSpPr/>
          <p:nvPr/>
        </p:nvSpPr>
        <p:spPr>
          <a:xfrm>
            <a:off x="2809744" y="5740210"/>
            <a:ext cx="5027777" cy="614290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 smtClean="0">
                <a:solidFill>
                  <a:schemeClr val="tx1"/>
                </a:solidFill>
              </a:rPr>
              <a:t>Phase II &amp; Phase III</a:t>
            </a:r>
            <a:endParaRPr lang="en-IN" b="1" i="1" dirty="0"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927185" y="4135272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cs typeface="Times New Roman" panose="02020603050405020304" pitchFamily="18" charset="0"/>
              </a:rPr>
              <a:t>A</a:t>
            </a:r>
            <a:r>
              <a:rPr lang="en-US" sz="1400" dirty="0" smtClean="0">
                <a:cs typeface="Times New Roman" panose="02020603050405020304" pitchFamily="18" charset="0"/>
              </a:rPr>
              <a:t>ctive</a:t>
            </a:r>
            <a:endParaRPr lang="en-US" sz="1400" dirty="0"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4652" y="4154528"/>
            <a:ext cx="885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cs typeface="Times New Roman" panose="02020603050405020304" pitchFamily="18" charset="0"/>
              </a:rPr>
              <a:t>Inactive</a:t>
            </a:r>
            <a:endParaRPr lang="en-US" sz="1400" dirty="0"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7032" y="1770161"/>
            <a:ext cx="7970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cs typeface="Times New Roman" panose="02020603050405020304" pitchFamily="18" charset="0"/>
              </a:rPr>
              <a:t>Loyalty</a:t>
            </a:r>
            <a:endParaRPr lang="en-US" sz="1400" dirty="0"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57484" y="6505253"/>
            <a:ext cx="12153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cs typeface="Times New Roman" panose="02020603050405020304" pitchFamily="18" charset="0"/>
              </a:rPr>
              <a:t>Non-Loyalty</a:t>
            </a:r>
            <a:endParaRPr lang="en-US" sz="1400" dirty="0"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 bwMode="gray">
          <a:xfrm>
            <a:off x="8374988" y="2269464"/>
            <a:ext cx="3422271" cy="17272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IN" sz="1600" b="1" u="sng" dirty="0" smtClean="0"/>
              <a:t>Phase 1 : Quick Wins</a:t>
            </a:r>
          </a:p>
          <a:p>
            <a:endParaRPr lang="en-IN" sz="1600" b="1" u="sng" dirty="0" smtClean="0"/>
          </a:p>
          <a:p>
            <a:pPr>
              <a:buFont typeface="Arial" pitchFamily="34" charset="0"/>
              <a:buChar char="•"/>
            </a:pPr>
            <a:r>
              <a:rPr lang="en-IN" sz="1600" dirty="0" smtClean="0"/>
              <a:t> Guest Profiling &amp; Segmentation</a:t>
            </a:r>
          </a:p>
          <a:p>
            <a:r>
              <a:rPr lang="en-IN" sz="1600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n-IN" sz="1600" dirty="0" smtClean="0"/>
              <a:t> Design &amp; Execute advanced </a:t>
            </a:r>
          </a:p>
          <a:p>
            <a:r>
              <a:rPr lang="en-IN" sz="1600" dirty="0" smtClean="0"/>
              <a:t>Loyalty Campaigns </a:t>
            </a:r>
          </a:p>
          <a:p>
            <a:endParaRPr lang="en-IN" sz="1600" dirty="0" smtClean="0"/>
          </a:p>
          <a:p>
            <a:endParaRPr lang="en-IN" sz="1600" dirty="0" smtClean="0"/>
          </a:p>
        </p:txBody>
      </p:sp>
    </p:spTree>
    <p:extLst>
      <p:ext uri="{BB962C8B-B14F-4D97-AF65-F5344CB8AC3E}">
        <p14:creationId xmlns="" xmlns:p14="http://schemas.microsoft.com/office/powerpoint/2010/main" val="2805814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130061" y="2385181"/>
            <a:ext cx="9825482" cy="1822514"/>
          </a:xfrm>
        </p:spPr>
        <p:txBody>
          <a:bodyPr/>
          <a:lstStyle/>
          <a:p>
            <a:pPr algn="ctr"/>
            <a:r>
              <a:rPr lang="en-US" dirty="0" smtClean="0"/>
              <a:t>Near-Term Opportunities</a:t>
            </a:r>
            <a:br>
              <a:rPr lang="en-US" dirty="0" smtClean="0"/>
            </a:br>
            <a:r>
              <a:rPr lang="en-US" dirty="0" smtClean="0"/>
              <a:t>(1) Prospecting</a:t>
            </a:r>
            <a:br>
              <a:rPr lang="en-US" dirty="0" smtClean="0"/>
            </a:br>
            <a:r>
              <a:rPr lang="en-US" dirty="0" smtClean="0"/>
              <a:t>(2) Data Visualization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2251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Near-Term Opportunity (1) : Prospecting customers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Harness external, internal and group level data for quality prospecting </a:t>
            </a:r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68947" y="1610156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473959" y="3702984"/>
            <a:ext cx="8338781" cy="479471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Data Matching and Merging (if necessary)</a:t>
            </a:r>
          </a:p>
          <a:p>
            <a:pPr algn="ctr"/>
            <a:r>
              <a:rPr lang="en-US" sz="1600" dirty="0" smtClean="0"/>
              <a:t>Contact number Identification</a:t>
            </a:r>
            <a:endParaRPr lang="en-IN" sz="1600" dirty="0"/>
          </a:p>
        </p:txBody>
      </p:sp>
      <p:sp>
        <p:nvSpPr>
          <p:cNvPr id="10" name="Rectangle 9"/>
          <p:cNvSpPr/>
          <p:nvPr/>
        </p:nvSpPr>
        <p:spPr>
          <a:xfrm>
            <a:off x="1473959" y="4159264"/>
            <a:ext cx="8338781" cy="395785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PROSPECT DATABASE </a:t>
            </a:r>
            <a:endParaRPr lang="en-IN" sz="1600" dirty="0"/>
          </a:p>
        </p:txBody>
      </p:sp>
      <p:sp>
        <p:nvSpPr>
          <p:cNvPr id="11" name="Rounded Rectangle 10"/>
          <p:cNvSpPr/>
          <p:nvPr/>
        </p:nvSpPr>
        <p:spPr>
          <a:xfrm>
            <a:off x="932800" y="1920939"/>
            <a:ext cx="1241946" cy="5459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D&amp;B </a:t>
            </a:r>
            <a:r>
              <a:rPr lang="en-US" sz="1400" dirty="0" err="1" smtClean="0"/>
              <a:t>db</a:t>
            </a:r>
            <a:endParaRPr lang="en-IN" sz="1400" dirty="0"/>
          </a:p>
        </p:txBody>
      </p:sp>
      <p:sp>
        <p:nvSpPr>
          <p:cNvPr id="12" name="Rounded Rectangle 11"/>
          <p:cNvSpPr/>
          <p:nvPr/>
        </p:nvSpPr>
        <p:spPr>
          <a:xfrm>
            <a:off x="2563393" y="1855172"/>
            <a:ext cx="1834435" cy="7756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National Consumer list club member etc.</a:t>
            </a:r>
            <a:endParaRPr lang="en-IN" sz="1400" dirty="0"/>
          </a:p>
        </p:txBody>
      </p:sp>
      <p:sp>
        <p:nvSpPr>
          <p:cNvPr id="13" name="Rounded Rectangle 12"/>
          <p:cNvSpPr/>
          <p:nvPr/>
        </p:nvSpPr>
        <p:spPr>
          <a:xfrm>
            <a:off x="4550609" y="1855172"/>
            <a:ext cx="1635426" cy="5459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International Consumer List</a:t>
            </a:r>
            <a:endParaRPr lang="en-IN" sz="1400" dirty="0"/>
          </a:p>
        </p:txBody>
      </p:sp>
      <p:sp>
        <p:nvSpPr>
          <p:cNvPr id="14" name="Flowchart: Punched Tape 13"/>
          <p:cNvSpPr/>
          <p:nvPr/>
        </p:nvSpPr>
        <p:spPr>
          <a:xfrm>
            <a:off x="646200" y="2629716"/>
            <a:ext cx="1815152" cy="885131"/>
          </a:xfrm>
          <a:prstGeom prst="flowChartPunchedTap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Filtering criteria: company with Rev&gt; 2cr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16" name="Flowchart: Punched Tape 15"/>
          <p:cNvSpPr/>
          <p:nvPr/>
        </p:nvSpPr>
        <p:spPr>
          <a:xfrm>
            <a:off x="2604651" y="2754085"/>
            <a:ext cx="1719619" cy="735077"/>
          </a:xfrm>
          <a:prstGeom prst="flowChartPunchedTap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Filtering criteria: membership &gt;1 </a:t>
            </a:r>
            <a:r>
              <a:rPr lang="en-US" sz="1400" dirty="0" err="1" smtClean="0">
                <a:solidFill>
                  <a:schemeClr val="tx2"/>
                </a:solidFill>
              </a:rPr>
              <a:t>yr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17" name="Flowchart: Punched Tape 16"/>
          <p:cNvSpPr/>
          <p:nvPr/>
        </p:nvSpPr>
        <p:spPr>
          <a:xfrm>
            <a:off x="4522161" y="2656607"/>
            <a:ext cx="1692323" cy="885131"/>
          </a:xfrm>
          <a:prstGeom prst="flowChartPunchedTap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Filtering criteria: Any Indian connection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86726" y="1849597"/>
            <a:ext cx="1783276" cy="985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Web data: </a:t>
            </a:r>
            <a:r>
              <a:rPr lang="en-US" sz="1400" dirty="0" err="1" smtClean="0"/>
              <a:t>Tripadvisor</a:t>
            </a:r>
            <a:r>
              <a:rPr lang="en-US" sz="1400" dirty="0" smtClean="0"/>
              <a:t>, follower of twitter for travel sites</a:t>
            </a:r>
            <a:endParaRPr lang="en-IN" sz="1400" dirty="0"/>
          </a:p>
        </p:txBody>
      </p:sp>
      <p:sp>
        <p:nvSpPr>
          <p:cNvPr id="19" name="Rounded Rectangle 18"/>
          <p:cNvSpPr/>
          <p:nvPr/>
        </p:nvSpPr>
        <p:spPr>
          <a:xfrm>
            <a:off x="8176940" y="1856571"/>
            <a:ext cx="1774741" cy="985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Segment level information from other Tata companies</a:t>
            </a:r>
            <a:endParaRPr lang="en-IN" sz="1400" dirty="0"/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7030717" y="2835594"/>
            <a:ext cx="11561" cy="89544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9062113" y="2857761"/>
            <a:ext cx="2197" cy="83156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3" idx="2"/>
            <a:endCxn id="17" idx="0"/>
          </p:cNvCxnSpPr>
          <p:nvPr/>
        </p:nvCxnSpPr>
        <p:spPr>
          <a:xfrm>
            <a:off x="5368322" y="2401082"/>
            <a:ext cx="1" cy="34403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5368322" y="3399069"/>
            <a:ext cx="1" cy="34403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1" idx="2"/>
            <a:endCxn id="14" idx="0"/>
          </p:cNvCxnSpPr>
          <p:nvPr/>
        </p:nvCxnSpPr>
        <p:spPr>
          <a:xfrm>
            <a:off x="1553773" y="2466849"/>
            <a:ext cx="3" cy="2513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4" idx="2"/>
          </p:cNvCxnSpPr>
          <p:nvPr/>
        </p:nvCxnSpPr>
        <p:spPr>
          <a:xfrm flipH="1">
            <a:off x="1550927" y="3426334"/>
            <a:ext cx="2849" cy="26299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405863" y="2656607"/>
            <a:ext cx="3" cy="2513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461301" y="3426334"/>
            <a:ext cx="2849" cy="26299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/>
          <p:nvPr/>
        </p:nvSpPr>
        <p:spPr>
          <a:xfrm>
            <a:off x="5861713" y="4550357"/>
            <a:ext cx="341194" cy="542752"/>
          </a:xfrm>
          <a:prstGeom prst="down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/>
          <p:cNvSpPr/>
          <p:nvPr/>
        </p:nvSpPr>
        <p:spPr>
          <a:xfrm>
            <a:off x="5144371" y="5093109"/>
            <a:ext cx="1775877" cy="542563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Prioritized Target List</a:t>
            </a:r>
            <a:endParaRPr lang="en-IN" sz="1600" dirty="0"/>
          </a:p>
        </p:txBody>
      </p:sp>
      <p:sp>
        <p:nvSpPr>
          <p:cNvPr id="41" name="Rectangle 40"/>
          <p:cNvSpPr/>
          <p:nvPr/>
        </p:nvSpPr>
        <p:spPr>
          <a:xfrm>
            <a:off x="1447927" y="4956323"/>
            <a:ext cx="1180529" cy="8161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IHCL Data</a:t>
            </a:r>
            <a:endParaRPr lang="en-IN" sz="1600" dirty="0"/>
          </a:p>
        </p:txBody>
      </p:sp>
      <p:sp>
        <p:nvSpPr>
          <p:cNvPr id="42" name="Rectangle 41"/>
          <p:cNvSpPr/>
          <p:nvPr/>
        </p:nvSpPr>
        <p:spPr>
          <a:xfrm>
            <a:off x="5151374" y="6295560"/>
            <a:ext cx="1775877" cy="542563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Prospecting Campaign</a:t>
            </a:r>
            <a:endParaRPr lang="en-IN" sz="1600" dirty="0"/>
          </a:p>
        </p:txBody>
      </p:sp>
      <p:sp>
        <p:nvSpPr>
          <p:cNvPr id="43" name="Rectangle 42"/>
          <p:cNvSpPr/>
          <p:nvPr/>
        </p:nvSpPr>
        <p:spPr>
          <a:xfrm>
            <a:off x="3205987" y="4956323"/>
            <a:ext cx="1180529" cy="8161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Target Profile</a:t>
            </a:r>
            <a:endParaRPr lang="en-IN" sz="1600" dirty="0"/>
          </a:p>
        </p:txBody>
      </p:sp>
      <p:sp>
        <p:nvSpPr>
          <p:cNvPr id="44" name="Rectangle 43"/>
          <p:cNvSpPr/>
          <p:nvPr/>
        </p:nvSpPr>
        <p:spPr>
          <a:xfrm>
            <a:off x="10413760" y="3557829"/>
            <a:ext cx="1568421" cy="15956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Stage II: Enrichment based on other Company Data</a:t>
            </a:r>
            <a:endParaRPr lang="en-IN" sz="1600" dirty="0"/>
          </a:p>
        </p:txBody>
      </p:sp>
      <p:sp>
        <p:nvSpPr>
          <p:cNvPr id="45" name="Oval 44"/>
          <p:cNvSpPr/>
          <p:nvPr/>
        </p:nvSpPr>
        <p:spPr>
          <a:xfrm>
            <a:off x="6976654" y="5699001"/>
            <a:ext cx="1564914" cy="416852"/>
          </a:xfrm>
          <a:prstGeom prst="ellipse">
            <a:avLst/>
          </a:prstGeom>
          <a:solidFill>
            <a:srgbClr val="BDE1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Learning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46" name="Down Arrow 45"/>
          <p:cNvSpPr/>
          <p:nvPr/>
        </p:nvSpPr>
        <p:spPr>
          <a:xfrm rot="16200000">
            <a:off x="2744781" y="5093014"/>
            <a:ext cx="341194" cy="542752"/>
          </a:xfrm>
          <a:prstGeom prst="down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Down Arrow 46"/>
          <p:cNvSpPr/>
          <p:nvPr/>
        </p:nvSpPr>
        <p:spPr>
          <a:xfrm rot="16200000">
            <a:off x="4594846" y="4985462"/>
            <a:ext cx="341194" cy="757855"/>
          </a:xfrm>
          <a:prstGeom prst="down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Down Arrow 47"/>
          <p:cNvSpPr/>
          <p:nvPr/>
        </p:nvSpPr>
        <p:spPr>
          <a:xfrm>
            <a:off x="5834776" y="5626442"/>
            <a:ext cx="341194" cy="669118"/>
          </a:xfrm>
          <a:prstGeom prst="down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0" name="Curved Connector 49"/>
          <p:cNvCxnSpPr>
            <a:stCxn id="42" idx="3"/>
            <a:endCxn id="45" idx="4"/>
          </p:cNvCxnSpPr>
          <p:nvPr/>
        </p:nvCxnSpPr>
        <p:spPr>
          <a:xfrm flipV="1">
            <a:off x="6927251" y="6115853"/>
            <a:ext cx="831860" cy="450989"/>
          </a:xfrm>
          <a:prstGeom prst="curvedConnector2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/>
          <p:cNvCxnSpPr>
            <a:stCxn id="45" idx="0"/>
            <a:endCxn id="40" idx="3"/>
          </p:cNvCxnSpPr>
          <p:nvPr/>
        </p:nvCxnSpPr>
        <p:spPr>
          <a:xfrm rot="16200000" flipV="1">
            <a:off x="7172375" y="5112264"/>
            <a:ext cx="334610" cy="838863"/>
          </a:xfrm>
          <a:prstGeom prst="curvedConnector2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44" idx="1"/>
            <a:endCxn id="10" idx="3"/>
          </p:cNvCxnSpPr>
          <p:nvPr/>
        </p:nvCxnSpPr>
        <p:spPr>
          <a:xfrm rot="10800000" flipV="1">
            <a:off x="9812740" y="4355647"/>
            <a:ext cx="601020" cy="1510"/>
          </a:xfrm>
          <a:prstGeom prst="bentConnector3">
            <a:avLst>
              <a:gd name="adj1" fmla="val 50000"/>
            </a:avLst>
          </a:prstGeom>
          <a:ln w="28575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91198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Near-Term Opportunity (2) : Visualization - Why Visualize ?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22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528357" y="1203438"/>
            <a:ext cx="11113180" cy="582362"/>
          </a:xfrm>
        </p:spPr>
        <p:txBody>
          <a:bodyPr>
            <a:normAutofit fontScale="85000" lnSpcReduction="10000"/>
          </a:bodyPr>
          <a:lstStyle/>
          <a:p>
            <a:r>
              <a:rPr lang="en-IN" sz="2000" dirty="0" smtClean="0"/>
              <a:t>Visualization is any technique of creating images, diagrams, or animations to communicate a message and it has been an effective way to communicate both abstract and concrete ideas.</a:t>
            </a:r>
          </a:p>
          <a:p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25436" y="1770214"/>
            <a:ext cx="11116101" cy="0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551679536"/>
              </p:ext>
            </p:extLst>
          </p:nvPr>
        </p:nvGraphicFramePr>
        <p:xfrm>
          <a:off x="557130" y="2161278"/>
          <a:ext cx="3509904" cy="3558576"/>
        </p:xfrm>
        <a:graphic>
          <a:graphicData uri="http://schemas.openxmlformats.org/drawingml/2006/table">
            <a:tbl>
              <a:tblPr/>
              <a:tblGrid>
                <a:gridCol w="695878"/>
                <a:gridCol w="507553"/>
                <a:gridCol w="464024"/>
                <a:gridCol w="450376"/>
                <a:gridCol w="450376"/>
                <a:gridCol w="448037"/>
                <a:gridCol w="493660"/>
              </a:tblGrid>
              <a:tr h="259440">
                <a:tc>
                  <a:txBody>
                    <a:bodyPr/>
                    <a:lstStyle/>
                    <a:p>
                      <a:pPr algn="ctr"/>
                      <a:r>
                        <a:rPr lang="en-GB" sz="1100" b="1" i="0" dirty="0" smtClean="0"/>
                        <a:t>2015</a:t>
                      </a:r>
                      <a:endParaRPr lang="en-GB" sz="1100" b="1" i="0" dirty="0"/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100" b="1" i="0" dirty="0" smtClean="0"/>
                        <a:t>Delhi</a:t>
                      </a:r>
                      <a:endParaRPr lang="en-GB" sz="1100" b="1" i="0" dirty="0"/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GB" sz="1000" b="1" i="0" dirty="0"/>
                    </a:p>
                  </a:txBody>
                  <a:tcPr marL="50173" marR="50173" marT="25086" marB="2508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100" b="1" i="0" dirty="0" smtClean="0"/>
                        <a:t>Mumbai</a:t>
                      </a:r>
                      <a:endParaRPr lang="en-GB" sz="1100" b="1" i="0" dirty="0"/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GB" sz="1000" b="1" i="0" dirty="0"/>
                    </a:p>
                  </a:txBody>
                  <a:tcPr marL="50173" marR="50173" marT="25086" marB="25086" anchor="ctr">
                    <a:lnL>
                      <a:noFill/>
                    </a:lnL>
                    <a:lnR>
                      <a:noFill/>
                    </a:lnR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100" b="1" i="0" dirty="0" smtClean="0"/>
                        <a:t>Bangalore</a:t>
                      </a:r>
                      <a:endParaRPr lang="en-GB" sz="1100" b="1" i="0" dirty="0"/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100" b="1" i="0" dirty="0"/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259440">
                <a:tc>
                  <a:txBody>
                    <a:bodyPr/>
                    <a:lstStyle/>
                    <a:p>
                      <a:pPr algn="ctr"/>
                      <a:r>
                        <a:rPr lang="en-GB" sz="1050" b="1" i="0" dirty="0"/>
                        <a:t>Month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i="0" dirty="0"/>
                        <a:t>Price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i="0" dirty="0"/>
                        <a:t>Sales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i="0" dirty="0"/>
                        <a:t>Price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i="0" dirty="0"/>
                        <a:t>Sales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i="0" dirty="0" smtClean="0"/>
                        <a:t>Price</a:t>
                      </a:r>
                      <a:endParaRPr lang="en-GB" sz="1050" b="1" i="0" dirty="0"/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i="0" dirty="0" smtClean="0"/>
                        <a:t>Sales</a:t>
                      </a:r>
                      <a:endParaRPr lang="en-GB" sz="1050" b="1" i="0" dirty="0"/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210808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Jan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10.0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8.04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8.0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6.58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9.14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08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Feb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8.0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6.95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8.0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5.76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8.14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440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Mar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13.0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7.58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8.0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7.71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8.74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08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Apr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9.0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8.81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8.0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8.84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8.77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08"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May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11.0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8.33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8.0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8.47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9.26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08"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Jun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14.0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9.96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8.0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7.04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8.1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08"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Jul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6.0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7.24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8.0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5.25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6.13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440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Aug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4.0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4.26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19.0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12.5</a:t>
                      </a:r>
                      <a:endParaRPr lang="en-GB" sz="1100" dirty="0"/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440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Sep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12.0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10.8</a:t>
                      </a:r>
                      <a:endParaRPr lang="en-GB" sz="1100" dirty="0"/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8.0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5.56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9.13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08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Oct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7.0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4.82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8.0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7.91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08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Nov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5.0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5.68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8.0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6.89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4.74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440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/>
                        <a:t>Average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i="0" dirty="0" smtClean="0"/>
                        <a:t>9</a:t>
                      </a:r>
                      <a:endParaRPr lang="en-GB" sz="1100" b="1" i="0" dirty="0"/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i="0" dirty="0"/>
                        <a:t>7.50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i="0" dirty="0" smtClean="0"/>
                        <a:t>9</a:t>
                      </a:r>
                      <a:endParaRPr lang="en-GB" sz="1100" b="1" i="0" dirty="0"/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i="0" dirty="0"/>
                        <a:t>7.50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IN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440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/>
                        <a:t>Variance</a:t>
                      </a:r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i="0" dirty="0" smtClean="0"/>
                        <a:t>10</a:t>
                      </a:r>
                      <a:endParaRPr lang="en-GB" sz="1100" b="1" i="0" dirty="0"/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i="0" dirty="0"/>
                        <a:t>3.75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i="0" dirty="0" smtClean="0"/>
                        <a:t>10</a:t>
                      </a:r>
                      <a:endParaRPr lang="en-GB" sz="1100" b="1" i="0" dirty="0"/>
                    </a:p>
                  </a:txBody>
                  <a:tcPr marL="50173" marR="50173" marT="25086" marB="25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i="0" dirty="0"/>
                        <a:t>3.75</a:t>
                      </a:r>
                    </a:p>
                  </a:txBody>
                  <a:tcPr marL="50173" marR="50173" marT="25086" marB="250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95785" y="6084956"/>
            <a:ext cx="42178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 smtClean="0"/>
              <a:t>Note</a:t>
            </a:r>
            <a:r>
              <a:rPr lang="en-GB" sz="1400" dirty="0" smtClean="0"/>
              <a:t> : Average price  &amp; Variance  is the same.</a:t>
            </a:r>
            <a:endParaRPr lang="en-GB" sz="1400" dirty="0"/>
          </a:p>
        </p:txBody>
      </p:sp>
      <p:graphicFrame>
        <p:nvGraphicFramePr>
          <p:cNvPr id="14" name="Chart 13"/>
          <p:cNvGraphicFramePr/>
          <p:nvPr/>
        </p:nvGraphicFramePr>
        <p:xfrm>
          <a:off x="4354876" y="3889612"/>
          <a:ext cx="2673721" cy="2470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Chart 14"/>
          <p:cNvGraphicFramePr/>
          <p:nvPr/>
        </p:nvGraphicFramePr>
        <p:xfrm>
          <a:off x="6943607" y="3849704"/>
          <a:ext cx="2541586" cy="2523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 bwMode="gray">
          <a:xfrm>
            <a:off x="4926842" y="2142700"/>
            <a:ext cx="6701051" cy="13784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 marL="342900" indent="-260350"/>
            <a:r>
              <a:rPr lang="en-US" sz="1400" dirty="0" smtClean="0"/>
              <a:t>Visualization  helps to:</a:t>
            </a:r>
          </a:p>
          <a:p>
            <a:pPr marL="342900" indent="-260350"/>
            <a:endParaRPr lang="en-US" sz="1400" dirty="0" smtClean="0"/>
          </a:p>
          <a:p>
            <a:pPr marL="263525" indent="-180975">
              <a:buFont typeface="Arial" pitchFamily="34" charset="0"/>
              <a:buChar char="•"/>
            </a:pPr>
            <a:r>
              <a:rPr lang="en-US" sz="1400" b="1" i="1" dirty="0" smtClean="0"/>
              <a:t>Analyze</a:t>
            </a:r>
            <a:r>
              <a:rPr lang="en-US" sz="1400" b="1" dirty="0" smtClean="0"/>
              <a:t>  </a:t>
            </a:r>
            <a:r>
              <a:rPr lang="en-US" sz="1400" dirty="0" smtClean="0"/>
              <a:t>    :  Visual Comprehension is much faster than reading </a:t>
            </a:r>
          </a:p>
          <a:p>
            <a:pPr marL="263525" indent="-180975">
              <a:buFont typeface="Arial" pitchFamily="34" charset="0"/>
              <a:buChar char="•"/>
            </a:pPr>
            <a:r>
              <a:rPr lang="en-US" sz="1400" b="1" i="1" dirty="0" smtClean="0"/>
              <a:t>Discover</a:t>
            </a:r>
            <a:r>
              <a:rPr lang="en-US" sz="1400" i="1" dirty="0" smtClean="0"/>
              <a:t>     </a:t>
            </a:r>
            <a:r>
              <a:rPr lang="en-US" sz="1400" dirty="0" smtClean="0"/>
              <a:t>:   Interactive visualizations lead to information discovery</a:t>
            </a:r>
          </a:p>
          <a:p>
            <a:pPr marL="263525" indent="-180975">
              <a:buFont typeface="Arial" pitchFamily="34" charset="0"/>
              <a:buChar char="•"/>
            </a:pPr>
            <a:r>
              <a:rPr lang="en-US" sz="1400" b="1" i="1" dirty="0" smtClean="0"/>
              <a:t>Tell a Story  </a:t>
            </a:r>
            <a:r>
              <a:rPr lang="en-US" sz="1400" dirty="0" smtClean="0"/>
              <a:t>:  Great speaker use Visuals to make memorable story</a:t>
            </a:r>
          </a:p>
          <a:p>
            <a:pPr marL="342900" indent="-342900">
              <a:buFont typeface="Arial" pitchFamily="34" charset="0"/>
              <a:buChar char="•"/>
            </a:pPr>
            <a:endParaRPr lang="en-IN" sz="1200" dirty="0" smtClean="0"/>
          </a:p>
        </p:txBody>
      </p:sp>
      <p:graphicFrame>
        <p:nvGraphicFramePr>
          <p:cNvPr id="18" name="Chart 17"/>
          <p:cNvGraphicFramePr/>
          <p:nvPr/>
        </p:nvGraphicFramePr>
        <p:xfrm>
          <a:off x="9473821" y="3831610"/>
          <a:ext cx="2536209" cy="2541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xmlns="" val="1599028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9984" y="486942"/>
            <a:ext cx="9785683" cy="706964"/>
          </a:xfrm>
        </p:spPr>
        <p:txBody>
          <a:bodyPr/>
          <a:lstStyle/>
          <a:p>
            <a:r>
              <a:rPr lang="en-US" dirty="0" smtClean="0"/>
              <a:t>Near-Term Opportunity (2) : Visualization - Examples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23</a:t>
            </a:fld>
            <a:endParaRPr lang="en-US" dirty="0">
              <a:solidFill>
                <a:srgbClr val="0E5580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8194" y="1302327"/>
            <a:ext cx="4723665" cy="23968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9236" y="1264809"/>
            <a:ext cx="4865902" cy="24542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51849" y="3918935"/>
            <a:ext cx="4485171" cy="26896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18656" y="4031674"/>
            <a:ext cx="5017379" cy="25500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728998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9984" y="470817"/>
            <a:ext cx="9785683" cy="706964"/>
          </a:xfrm>
        </p:spPr>
        <p:txBody>
          <a:bodyPr/>
          <a:lstStyle/>
          <a:p>
            <a:r>
              <a:rPr lang="en-US" dirty="0" smtClean="0"/>
              <a:t>Near-Term Opportunity (2) : Visualization – </a:t>
            </a:r>
            <a:br>
              <a:rPr lang="en-US" dirty="0" smtClean="0"/>
            </a:br>
            <a:r>
              <a:rPr lang="en-US" dirty="0" smtClean="0"/>
              <a:t>POC – One Tata Dashboard 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908471" y="1274618"/>
            <a:ext cx="2909456" cy="5264727"/>
          </a:xfrm>
        </p:spPr>
        <p:txBody>
          <a:bodyPr/>
          <a:lstStyle/>
          <a:p>
            <a:endParaRPr lang="en-US" sz="1400" dirty="0" smtClean="0"/>
          </a:p>
          <a:p>
            <a:pPr algn="ctr">
              <a:buNone/>
            </a:pPr>
            <a:r>
              <a:rPr lang="en-US" sz="1400" b="1" dirty="0" smtClean="0"/>
              <a:t>Key Highlights </a:t>
            </a:r>
          </a:p>
          <a:p>
            <a:pPr algn="ctr">
              <a:buNone/>
            </a:pPr>
            <a:endParaRPr lang="en-US" sz="1400" dirty="0" smtClean="0"/>
          </a:p>
          <a:p>
            <a:r>
              <a:rPr lang="en-US" sz="1400" dirty="0" smtClean="0"/>
              <a:t>User has an interactive view of Tata companies </a:t>
            </a:r>
            <a:r>
              <a:rPr lang="en-US" sz="1400" b="1" dirty="0" smtClean="0"/>
              <a:t>across sectors  </a:t>
            </a:r>
            <a:r>
              <a:rPr lang="en-US" sz="1400" dirty="0" smtClean="0"/>
              <a:t>such as retail , financial , hotel etc.</a:t>
            </a:r>
          </a:p>
          <a:p>
            <a:r>
              <a:rPr lang="en-US" sz="1400" dirty="0" smtClean="0"/>
              <a:t>Customer base in each company</a:t>
            </a:r>
          </a:p>
          <a:p>
            <a:r>
              <a:rPr lang="en-US" sz="1400" dirty="0" smtClean="0"/>
              <a:t>Spread across Indian geography for each sector or company</a:t>
            </a:r>
          </a:p>
          <a:p>
            <a:r>
              <a:rPr lang="en-US" sz="1400" dirty="0" smtClean="0"/>
              <a:t>Customers segmentation based on  </a:t>
            </a:r>
            <a:r>
              <a:rPr lang="en-US" sz="1400" b="1" dirty="0" smtClean="0"/>
              <a:t>multi-tenant relationship </a:t>
            </a:r>
            <a:r>
              <a:rPr lang="en-US" sz="1400" dirty="0" smtClean="0"/>
              <a:t>in terms of Number of Tata products bought  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24</a:t>
            </a:fld>
            <a:endParaRPr lang="en-US" dirty="0">
              <a:solidFill>
                <a:srgbClr val="0E558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9426" y="1225811"/>
            <a:ext cx="8196902" cy="555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728998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9984" y="437432"/>
            <a:ext cx="9785683" cy="706964"/>
          </a:xfrm>
        </p:spPr>
        <p:txBody>
          <a:bodyPr/>
          <a:lstStyle/>
          <a:p>
            <a:r>
              <a:rPr lang="en-US" dirty="0" smtClean="0"/>
              <a:t>Near-Term Opportunity (2) : Visualization – </a:t>
            </a:r>
            <a:br>
              <a:rPr lang="en-US" dirty="0" smtClean="0"/>
            </a:br>
            <a:r>
              <a:rPr lang="en-US" dirty="0" smtClean="0"/>
              <a:t>Company-Wide Key Performance Indicators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25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44545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51540" y="1591621"/>
            <a:ext cx="1826440" cy="51376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 Number of credible entries received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 </a:t>
            </a:r>
            <a:r>
              <a:rPr lang="en-IN" sz="1200" dirty="0" smtClean="0">
                <a:solidFill>
                  <a:schemeClr val="tx2"/>
                </a:solidFill>
              </a:rPr>
              <a:t>Number of Ideas Implemented across multiple hotels</a:t>
            </a:r>
          </a:p>
          <a:p>
            <a:pPr>
              <a:buFont typeface="Arial" pitchFamily="34" charset="0"/>
              <a:buChar char="•"/>
            </a:pP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03651" y="1778197"/>
            <a:ext cx="1575277" cy="103337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1002">
            <a:schemeClr val="dk2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Innovation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68154" y="1628861"/>
            <a:ext cx="1826440" cy="51376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IN" sz="1200" dirty="0" smtClean="0">
                <a:solidFill>
                  <a:schemeClr val="tx2"/>
                </a:solidFill>
              </a:rPr>
              <a:t> Unaided Awareness (India) &amp; Customer Engagement</a:t>
            </a:r>
          </a:p>
          <a:p>
            <a:endParaRPr lang="en-IN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IN" sz="1200" dirty="0" smtClean="0">
                <a:solidFill>
                  <a:schemeClr val="tx2"/>
                </a:solidFill>
              </a:rPr>
              <a:t> </a:t>
            </a:r>
            <a:r>
              <a:rPr lang="en-IN" sz="1200" dirty="0" err="1" smtClean="0">
                <a:solidFill>
                  <a:schemeClr val="tx2"/>
                </a:solidFill>
              </a:rPr>
              <a:t>RevPAR</a:t>
            </a:r>
            <a:r>
              <a:rPr lang="en-IN" sz="1200" dirty="0" smtClean="0">
                <a:solidFill>
                  <a:schemeClr val="tx2"/>
                </a:solidFill>
              </a:rPr>
              <a:t> ranking (Top 25 Hotels)</a:t>
            </a:r>
          </a:p>
          <a:p>
            <a:pPr>
              <a:buFont typeface="Arial" pitchFamily="34" charset="0"/>
              <a:buChar char="•"/>
            </a:pPr>
            <a:endParaRPr lang="en-IN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IN" sz="1200" dirty="0" smtClean="0">
                <a:solidFill>
                  <a:schemeClr val="tx2"/>
                </a:solidFill>
              </a:rPr>
              <a:t> Aggregate </a:t>
            </a:r>
            <a:r>
              <a:rPr lang="en-IN" sz="1200" dirty="0" err="1" smtClean="0">
                <a:solidFill>
                  <a:schemeClr val="tx2"/>
                </a:solidFill>
              </a:rPr>
              <a:t>RevPAR</a:t>
            </a:r>
            <a:r>
              <a:rPr lang="en-IN" sz="1200" dirty="0" smtClean="0">
                <a:solidFill>
                  <a:schemeClr val="tx2"/>
                </a:solidFill>
              </a:rPr>
              <a:t> </a:t>
            </a:r>
          </a:p>
          <a:p>
            <a:pPr>
              <a:buFont typeface="Arial" pitchFamily="34" charset="0"/>
              <a:buChar char="•"/>
            </a:pPr>
            <a:endParaRPr lang="en-IN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IN" sz="1200" dirty="0" smtClean="0">
                <a:solidFill>
                  <a:schemeClr val="tx2"/>
                </a:solidFill>
              </a:rPr>
              <a:t> Web Revenue %</a:t>
            </a:r>
          </a:p>
          <a:p>
            <a:pPr>
              <a:buFont typeface="Arial" pitchFamily="34" charset="0"/>
              <a:buChar char="•"/>
            </a:pPr>
            <a:endParaRPr lang="en-IN" sz="5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IN" sz="1200" dirty="0" smtClean="0">
                <a:solidFill>
                  <a:schemeClr val="tx2"/>
                </a:solidFill>
              </a:rPr>
              <a:t> Web – Click to conversion ratio</a:t>
            </a:r>
          </a:p>
          <a:p>
            <a:pPr>
              <a:buFont typeface="Arial" pitchFamily="34" charset="0"/>
              <a:buChar char="•"/>
            </a:pPr>
            <a:endParaRPr lang="en-IN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IN" sz="1200" dirty="0" smtClean="0">
                <a:solidFill>
                  <a:schemeClr val="tx2"/>
                </a:solidFill>
              </a:rPr>
              <a:t>Social Media Reputation</a:t>
            </a:r>
          </a:p>
          <a:p>
            <a:pPr>
              <a:buFont typeface="Arial" pitchFamily="34" charset="0"/>
              <a:buChar char="•"/>
            </a:pPr>
            <a:endParaRPr lang="en-IN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IN" sz="1200" dirty="0" smtClean="0">
                <a:solidFill>
                  <a:schemeClr val="tx2"/>
                </a:solidFill>
              </a:rPr>
              <a:t> Loyalty Revenue %</a:t>
            </a:r>
          </a:p>
          <a:p>
            <a:r>
              <a:rPr lang="en-IN" sz="1200" dirty="0" smtClean="0">
                <a:solidFill>
                  <a:schemeClr val="tx2"/>
                </a:solidFill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en-IN" sz="1200" dirty="0" smtClean="0">
                <a:solidFill>
                  <a:schemeClr val="tx2"/>
                </a:solidFill>
              </a:rPr>
              <a:t> Loyalty Membership Base &amp; Active Share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62209" y="1800923"/>
            <a:ext cx="1575277" cy="103337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1002">
            <a:schemeClr val="dk2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Brand Positioning &amp; Performance</a:t>
            </a:r>
            <a:endParaRPr lang="en-US" sz="1600" b="1" dirty="0"/>
          </a:p>
        </p:txBody>
      </p:sp>
      <p:sp>
        <p:nvSpPr>
          <p:cNvPr id="12" name="Rectangle 11"/>
          <p:cNvSpPr/>
          <p:nvPr/>
        </p:nvSpPr>
        <p:spPr>
          <a:xfrm>
            <a:off x="4245204" y="1606141"/>
            <a:ext cx="1826440" cy="51376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 Gross Operating Profit  (GOP)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 Net Promoter Score (NPS)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 Safety: Audit Scores </a:t>
            </a:r>
          </a:p>
          <a:p>
            <a:r>
              <a:rPr lang="en-US" sz="1200" dirty="0" smtClean="0">
                <a:solidFill>
                  <a:schemeClr val="tx2"/>
                </a:solidFill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 Safety : Lost Time due to injuries  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2801" y="1778203"/>
            <a:ext cx="1575277" cy="103337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1002">
            <a:schemeClr val="dk2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Operations</a:t>
            </a:r>
            <a:endParaRPr lang="en-US" sz="1600" b="1" dirty="0"/>
          </a:p>
        </p:txBody>
      </p:sp>
      <p:sp>
        <p:nvSpPr>
          <p:cNvPr id="14" name="Rectangle 13"/>
          <p:cNvSpPr/>
          <p:nvPr/>
        </p:nvSpPr>
        <p:spPr>
          <a:xfrm>
            <a:off x="6291798" y="1598887"/>
            <a:ext cx="1826440" cy="51376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 Number of Hotels in the pipeline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 Number of Rooms in the pipeline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 NPV of future earnings from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4881" y="1741921"/>
            <a:ext cx="1575277" cy="103337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1002">
            <a:schemeClr val="dk2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Develop-</a:t>
            </a:r>
            <a:r>
              <a:rPr lang="en-US" sz="1600" b="1" dirty="0" err="1" smtClean="0"/>
              <a:t>ment</a:t>
            </a:r>
            <a:endParaRPr lang="en-US" sz="1600" b="1" dirty="0"/>
          </a:p>
        </p:txBody>
      </p:sp>
      <p:sp>
        <p:nvSpPr>
          <p:cNvPr id="16" name="Rectangle 15"/>
          <p:cNvSpPr/>
          <p:nvPr/>
        </p:nvSpPr>
        <p:spPr>
          <a:xfrm>
            <a:off x="8278432" y="1606147"/>
            <a:ext cx="1826440" cy="51376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 Retention rates for High Potentials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Retention rates for Bottom Performers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Internal vs. external hires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Women in Leadership Positions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 CSR: Talent hiring (Skill training Centers)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 Employee Engagement - 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6029" y="1763695"/>
            <a:ext cx="1575277" cy="103337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1002">
            <a:schemeClr val="dk2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Human Capital</a:t>
            </a:r>
            <a:endParaRPr lang="en-US" sz="1600" b="1" dirty="0"/>
          </a:p>
        </p:txBody>
      </p:sp>
      <p:sp>
        <p:nvSpPr>
          <p:cNvPr id="18" name="Rectangle 17"/>
          <p:cNvSpPr/>
          <p:nvPr/>
        </p:nvSpPr>
        <p:spPr>
          <a:xfrm>
            <a:off x="10214642" y="1623637"/>
            <a:ext cx="1826440" cy="51376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 algn="ctr"/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 IHCL Consolidated EBITDA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Net Consolidated Debt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Net Debt : EBITDA Ratio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ROIC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Net Debt : Equity Ratio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Earnings per Share (EPS)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52239" y="1781185"/>
            <a:ext cx="1575277" cy="103337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1002">
            <a:schemeClr val="dk2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Finance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130061" y="2385181"/>
            <a:ext cx="9825482" cy="1822514"/>
          </a:xfrm>
        </p:spPr>
        <p:txBody>
          <a:bodyPr/>
          <a:lstStyle/>
          <a:p>
            <a:pPr algn="ctr"/>
            <a:r>
              <a:rPr lang="en-US" dirty="0" smtClean="0"/>
              <a:t>Long Term Opportunity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2251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Diagram 29"/>
          <p:cNvGraphicFramePr/>
          <p:nvPr>
            <p:extLst>
              <p:ext uri="{D42A27DB-BD31-4B8C-83A1-F6EECF244321}">
                <p14:modId xmlns="" xmlns:p14="http://schemas.microsoft.com/office/powerpoint/2010/main" val="1958305674"/>
              </p:ext>
            </p:extLst>
          </p:nvPr>
        </p:nvGraphicFramePr>
        <p:xfrm>
          <a:off x="-652132" y="182880"/>
          <a:ext cx="15544800" cy="7855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Points of Inflection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Gradual transition from single tenant to multi tenant segment level to multi tenant customer level</a:t>
            </a:r>
            <a:endParaRPr lang="en-IN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25436" y="1551846"/>
            <a:ext cx="11116101" cy="0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30"/>
          <p:cNvGrpSpPr/>
          <p:nvPr/>
        </p:nvGrpSpPr>
        <p:grpSpPr>
          <a:xfrm>
            <a:off x="3990048" y="4865773"/>
            <a:ext cx="1291687" cy="1283975"/>
            <a:chOff x="533274" y="2538313"/>
            <a:chExt cx="1620000" cy="1620001"/>
          </a:xfrm>
        </p:grpSpPr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0053" y="2608211"/>
              <a:ext cx="626441" cy="1550103"/>
            </a:xfrm>
            <a:prstGeom prst="rect">
              <a:avLst/>
            </a:prstGeom>
          </p:spPr>
        </p:pic>
        <p:sp>
          <p:nvSpPr>
            <p:cNvPr id="33" name="Pie 32"/>
            <p:cNvSpPr/>
            <p:nvPr/>
          </p:nvSpPr>
          <p:spPr>
            <a:xfrm rot="10800000">
              <a:off x="533274" y="2538313"/>
              <a:ext cx="1620000" cy="1620000"/>
            </a:xfrm>
            <a:prstGeom prst="pie">
              <a:avLst>
                <a:gd name="adj1" fmla="val 9207835"/>
                <a:gd name="adj2" fmla="val 16218568"/>
              </a:avLst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34" name="Pie 33"/>
            <p:cNvSpPr/>
            <p:nvPr/>
          </p:nvSpPr>
          <p:spPr>
            <a:xfrm rot="10800000">
              <a:off x="533274" y="2538313"/>
              <a:ext cx="1620000" cy="1620000"/>
            </a:xfrm>
            <a:prstGeom prst="pie">
              <a:avLst>
                <a:gd name="adj1" fmla="val 1608655"/>
                <a:gd name="adj2" fmla="val 9207445"/>
              </a:avLst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35" name="Pie 34"/>
            <p:cNvSpPr/>
            <p:nvPr/>
          </p:nvSpPr>
          <p:spPr>
            <a:xfrm rot="10800000">
              <a:off x="533274" y="2538313"/>
              <a:ext cx="1620000" cy="1620000"/>
            </a:xfrm>
            <a:prstGeom prst="pie">
              <a:avLst>
                <a:gd name="adj1" fmla="val 16220128"/>
                <a:gd name="adj2" fmla="val 1624201"/>
              </a:avLst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35"/>
          <p:cNvGrpSpPr/>
          <p:nvPr/>
        </p:nvGrpSpPr>
        <p:grpSpPr>
          <a:xfrm>
            <a:off x="5808151" y="3822096"/>
            <a:ext cx="1359705" cy="1275788"/>
            <a:chOff x="6300422" y="3403115"/>
            <a:chExt cx="1649352" cy="1643661"/>
          </a:xfrm>
        </p:grpSpPr>
        <p:sp>
          <p:nvSpPr>
            <p:cNvPr id="37" name="Oval 36"/>
            <p:cNvSpPr/>
            <p:nvPr/>
          </p:nvSpPr>
          <p:spPr>
            <a:xfrm>
              <a:off x="6300422" y="3403115"/>
              <a:ext cx="1633648" cy="16436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2885" y="3824369"/>
              <a:ext cx="260414" cy="923366"/>
            </a:xfrm>
            <a:prstGeom prst="rect">
              <a:avLst/>
            </a:prstGeom>
          </p:spPr>
        </p:pic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6222" y="3805359"/>
              <a:ext cx="329459" cy="890340"/>
            </a:xfrm>
            <a:prstGeom prst="rect">
              <a:avLst/>
            </a:prstGeom>
          </p:spPr>
        </p:pic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53339" y="3956072"/>
              <a:ext cx="387255" cy="958246"/>
            </a:xfrm>
            <a:prstGeom prst="rect">
              <a:avLst/>
            </a:prstGeom>
          </p:spPr>
        </p:pic>
        <p:sp>
          <p:nvSpPr>
            <p:cNvPr id="41" name="Pie 40"/>
            <p:cNvSpPr/>
            <p:nvPr/>
          </p:nvSpPr>
          <p:spPr>
            <a:xfrm rot="10800000">
              <a:off x="6315704" y="3405580"/>
              <a:ext cx="1620000" cy="1620000"/>
            </a:xfrm>
            <a:prstGeom prst="pie">
              <a:avLst>
                <a:gd name="adj1" fmla="val 9207835"/>
                <a:gd name="adj2" fmla="val 16218568"/>
              </a:avLst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42" name="Pie 41"/>
            <p:cNvSpPr/>
            <p:nvPr/>
          </p:nvSpPr>
          <p:spPr>
            <a:xfrm rot="10800000">
              <a:off x="6329774" y="3405580"/>
              <a:ext cx="1620000" cy="1620000"/>
            </a:xfrm>
            <a:prstGeom prst="pie">
              <a:avLst>
                <a:gd name="adj1" fmla="val 1608655"/>
                <a:gd name="adj2" fmla="val 9207445"/>
              </a:avLst>
            </a:prstGeom>
            <a:solidFill>
              <a:srgbClr val="FF99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43" name="Pie 42"/>
            <p:cNvSpPr/>
            <p:nvPr/>
          </p:nvSpPr>
          <p:spPr>
            <a:xfrm rot="10800000">
              <a:off x="6315702" y="3405580"/>
              <a:ext cx="1620001" cy="1620000"/>
            </a:xfrm>
            <a:prstGeom prst="pie">
              <a:avLst>
                <a:gd name="adj1" fmla="val 16220128"/>
                <a:gd name="adj2" fmla="val 1624201"/>
              </a:avLst>
            </a:prstGeom>
            <a:solidFill>
              <a:schemeClr val="tx2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8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4405" y="3447331"/>
              <a:ext cx="137501" cy="487545"/>
            </a:xfrm>
            <a:prstGeom prst="rect">
              <a:avLst/>
            </a:prstGeom>
          </p:spPr>
        </p:pic>
      </p:grpSp>
      <p:grpSp>
        <p:nvGrpSpPr>
          <p:cNvPr id="9" name="Group 44"/>
          <p:cNvGrpSpPr/>
          <p:nvPr/>
        </p:nvGrpSpPr>
        <p:grpSpPr>
          <a:xfrm>
            <a:off x="6661740" y="2314612"/>
            <a:ext cx="1351540" cy="1287651"/>
            <a:chOff x="8430514" y="4996257"/>
            <a:chExt cx="1639035" cy="1620001"/>
          </a:xfrm>
        </p:grpSpPr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6328" y="5066155"/>
              <a:ext cx="626441" cy="1550103"/>
            </a:xfrm>
            <a:prstGeom prst="rect">
              <a:avLst/>
            </a:prstGeom>
          </p:spPr>
        </p:pic>
        <p:sp>
          <p:nvSpPr>
            <p:cNvPr id="47" name="Pie 46"/>
            <p:cNvSpPr/>
            <p:nvPr/>
          </p:nvSpPr>
          <p:spPr>
            <a:xfrm rot="10800000">
              <a:off x="8449549" y="4996257"/>
              <a:ext cx="1620000" cy="1620000"/>
            </a:xfrm>
            <a:prstGeom prst="pie">
              <a:avLst>
                <a:gd name="adj1" fmla="val 9207835"/>
                <a:gd name="adj2" fmla="val 16218568"/>
              </a:avLst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48" name="Pie 47"/>
            <p:cNvSpPr/>
            <p:nvPr/>
          </p:nvSpPr>
          <p:spPr>
            <a:xfrm rot="10800000">
              <a:off x="8430514" y="4996257"/>
              <a:ext cx="1620000" cy="1620000"/>
            </a:xfrm>
            <a:prstGeom prst="pie">
              <a:avLst>
                <a:gd name="adj1" fmla="val 1608655"/>
                <a:gd name="adj2" fmla="val 9207445"/>
              </a:avLst>
            </a:prstGeom>
            <a:solidFill>
              <a:srgbClr val="FF99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49" name="Pie 48"/>
            <p:cNvSpPr/>
            <p:nvPr/>
          </p:nvSpPr>
          <p:spPr>
            <a:xfrm rot="10800000">
              <a:off x="8449549" y="4996257"/>
              <a:ext cx="1620000" cy="1620000"/>
            </a:xfrm>
            <a:prstGeom prst="pie">
              <a:avLst>
                <a:gd name="adj1" fmla="val 16220128"/>
                <a:gd name="adj2" fmla="val 1624201"/>
              </a:avLst>
            </a:prstGeom>
            <a:solidFill>
              <a:schemeClr val="tx2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</p:grpSp>
      <p:sp>
        <p:nvSpPr>
          <p:cNvPr id="50" name="Rectangle 13"/>
          <p:cNvSpPr>
            <a:spLocks noChangeArrowheads="1"/>
          </p:cNvSpPr>
          <p:nvPr/>
        </p:nvSpPr>
        <p:spPr bwMode="auto">
          <a:xfrm>
            <a:off x="5010279" y="6079085"/>
            <a:ext cx="3517885" cy="668263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schemeClr val="tx2"/>
                </a:solidFill>
                <a:cs typeface="Arial" pitchFamily="34" charset="0"/>
              </a:rPr>
              <a:t>No Data Sharing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Company level analytics solutions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Limited view of customer 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4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51" name="Rectangle 13"/>
          <p:cNvSpPr>
            <a:spLocks noChangeArrowheads="1"/>
          </p:cNvSpPr>
          <p:nvPr/>
        </p:nvSpPr>
        <p:spPr bwMode="auto">
          <a:xfrm>
            <a:off x="7568002" y="4791048"/>
            <a:ext cx="4019978" cy="668263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Segment level information </a:t>
            </a:r>
            <a:r>
              <a:rPr lang="en-US" sz="1400" kern="0" dirty="0">
                <a:solidFill>
                  <a:schemeClr val="tx2"/>
                </a:solidFill>
                <a:cs typeface="Arial" pitchFamily="34" charset="0"/>
              </a:rPr>
              <a:t>a</a:t>
            </a: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cross LOBs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Segment level Data Sharing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No customer linkages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Full view of segment, limited view of customer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400" kern="0" dirty="0" smtClean="0">
              <a:solidFill>
                <a:schemeClr val="tx2"/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4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52" name="Rectangle 13"/>
          <p:cNvSpPr>
            <a:spLocks noChangeArrowheads="1"/>
          </p:cNvSpPr>
          <p:nvPr/>
        </p:nvSpPr>
        <p:spPr bwMode="auto">
          <a:xfrm>
            <a:off x="8241516" y="3318513"/>
            <a:ext cx="3346464" cy="668263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Customer level Data Sharing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Customer attributes across LOBs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One Tata Loyalty program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360 degree view of customer</a:t>
            </a:r>
            <a:endParaRPr lang="en-US" sz="14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3" name="Up Arrow 2"/>
          <p:cNvSpPr/>
          <p:nvPr/>
        </p:nvSpPr>
        <p:spPr>
          <a:xfrm>
            <a:off x="955343" y="1799448"/>
            <a:ext cx="491319" cy="4492170"/>
          </a:xfrm>
          <a:prstGeom prst="up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13"/>
          <p:cNvSpPr>
            <a:spLocks noChangeArrowheads="1"/>
          </p:cNvSpPr>
          <p:nvPr/>
        </p:nvSpPr>
        <p:spPr bwMode="auto">
          <a:xfrm>
            <a:off x="348016" y="5363570"/>
            <a:ext cx="1705971" cy="328597"/>
          </a:xfrm>
          <a:prstGeom prst="round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Company</a:t>
            </a:r>
            <a:endParaRPr lang="en-US" sz="14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55" name="Rectangle 13"/>
          <p:cNvSpPr>
            <a:spLocks noChangeArrowheads="1"/>
          </p:cNvSpPr>
          <p:nvPr/>
        </p:nvSpPr>
        <p:spPr bwMode="auto">
          <a:xfrm>
            <a:off x="321519" y="3935694"/>
            <a:ext cx="1705971" cy="315600"/>
          </a:xfrm>
          <a:prstGeom prst="round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Cluster</a:t>
            </a:r>
            <a:endParaRPr lang="en-US" sz="14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56" name="Rectangle 13"/>
          <p:cNvSpPr>
            <a:spLocks noChangeArrowheads="1"/>
          </p:cNvSpPr>
          <p:nvPr/>
        </p:nvSpPr>
        <p:spPr bwMode="auto">
          <a:xfrm>
            <a:off x="348016" y="2520506"/>
            <a:ext cx="1705971" cy="315600"/>
          </a:xfrm>
          <a:prstGeom prst="round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Group</a:t>
            </a:r>
            <a:endParaRPr lang="en-US" sz="14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57" name="Rectangle 13"/>
          <p:cNvSpPr>
            <a:spLocks noChangeArrowheads="1"/>
          </p:cNvSpPr>
          <p:nvPr/>
        </p:nvSpPr>
        <p:spPr bwMode="auto">
          <a:xfrm>
            <a:off x="1627984" y="2482484"/>
            <a:ext cx="3885712" cy="285623"/>
          </a:xfrm>
          <a:prstGeom prst="round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i="1" kern="0" dirty="0" smtClean="0">
                <a:solidFill>
                  <a:schemeClr val="tx2"/>
                </a:solidFill>
                <a:cs typeface="Arial" pitchFamily="34" charset="0"/>
              </a:rPr>
              <a:t>Tata Group-wide Loyalty Program </a:t>
            </a:r>
            <a:endParaRPr lang="en-US" sz="1400" i="1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58" name="Rectangle 13"/>
          <p:cNvSpPr>
            <a:spLocks noChangeArrowheads="1"/>
          </p:cNvSpPr>
          <p:nvPr/>
        </p:nvSpPr>
        <p:spPr bwMode="auto">
          <a:xfrm>
            <a:off x="1547477" y="4015117"/>
            <a:ext cx="3065465" cy="497759"/>
          </a:xfrm>
          <a:prstGeom prst="round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i="1" kern="0" dirty="0" smtClean="0">
                <a:solidFill>
                  <a:schemeClr val="tx2"/>
                </a:solidFill>
                <a:cs typeface="Arial" pitchFamily="34" charset="0"/>
              </a:rPr>
              <a:t>Defined customer segments across various clusters</a:t>
            </a:r>
            <a:endParaRPr lang="en-US" sz="1400" i="1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59" name="Rectangle 13"/>
          <p:cNvSpPr>
            <a:spLocks noChangeArrowheads="1"/>
          </p:cNvSpPr>
          <p:nvPr/>
        </p:nvSpPr>
        <p:spPr bwMode="auto">
          <a:xfrm>
            <a:off x="1602070" y="5524201"/>
            <a:ext cx="2124678" cy="311794"/>
          </a:xfrm>
          <a:prstGeom prst="round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i="1" kern="0" dirty="0" smtClean="0">
                <a:solidFill>
                  <a:schemeClr val="tx2"/>
                </a:solidFill>
                <a:cs typeface="Arial" pitchFamily="34" charset="0"/>
              </a:rPr>
              <a:t>Enhanced Customer centricity and Data driven organizations</a:t>
            </a:r>
            <a:endParaRPr lang="en-US" sz="1400" i="1" kern="0" dirty="0">
              <a:solidFill>
                <a:schemeClr val="tx2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4281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984" y="542362"/>
            <a:ext cx="11270279" cy="706964"/>
          </a:xfrm>
        </p:spPr>
        <p:txBody>
          <a:bodyPr/>
          <a:lstStyle/>
          <a:p>
            <a:r>
              <a:rPr lang="en-US" dirty="0"/>
              <a:t>Analytics solutions for Single-tenant relationship with </a:t>
            </a:r>
            <a:r>
              <a:rPr lang="en-US" dirty="0" smtClean="0"/>
              <a:t>clients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28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8356" y="1217086"/>
            <a:ext cx="11417113" cy="582362"/>
          </a:xfrm>
        </p:spPr>
        <p:txBody>
          <a:bodyPr>
            <a:noAutofit/>
          </a:bodyPr>
          <a:lstStyle/>
          <a:p>
            <a:r>
              <a:rPr lang="en-US" dirty="0"/>
              <a:t>Leverage customer  level data on individual Tata companies to derive insights and  drive campaigns </a:t>
            </a:r>
            <a:endParaRPr lang="en-IN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25436" y="1551846"/>
            <a:ext cx="11116101" cy="0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6"/>
          <p:cNvGrpSpPr/>
          <p:nvPr/>
        </p:nvGrpSpPr>
        <p:grpSpPr>
          <a:xfrm>
            <a:off x="4827734" y="2267173"/>
            <a:ext cx="1089791" cy="1108291"/>
            <a:chOff x="533274" y="2538313"/>
            <a:chExt cx="1620000" cy="162000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0053" y="2608211"/>
              <a:ext cx="626441" cy="1550103"/>
            </a:xfrm>
            <a:prstGeom prst="rect">
              <a:avLst/>
            </a:prstGeom>
          </p:spPr>
        </p:pic>
        <p:sp>
          <p:nvSpPr>
            <p:cNvPr id="9" name="Pie 8"/>
            <p:cNvSpPr/>
            <p:nvPr/>
          </p:nvSpPr>
          <p:spPr>
            <a:xfrm rot="10800000">
              <a:off x="533274" y="2538313"/>
              <a:ext cx="1620000" cy="1620000"/>
            </a:xfrm>
            <a:prstGeom prst="pie">
              <a:avLst>
                <a:gd name="adj1" fmla="val 9207835"/>
                <a:gd name="adj2" fmla="val 16218568"/>
              </a:avLst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10" name="Pie 9"/>
            <p:cNvSpPr/>
            <p:nvPr/>
          </p:nvSpPr>
          <p:spPr>
            <a:xfrm rot="10800000">
              <a:off x="533274" y="2538313"/>
              <a:ext cx="1620000" cy="1620000"/>
            </a:xfrm>
            <a:prstGeom prst="pie">
              <a:avLst>
                <a:gd name="adj1" fmla="val 1608655"/>
                <a:gd name="adj2" fmla="val 9207445"/>
              </a:avLst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11" name="Pie 10"/>
            <p:cNvSpPr/>
            <p:nvPr/>
          </p:nvSpPr>
          <p:spPr>
            <a:xfrm rot="10800000">
              <a:off x="533274" y="2538313"/>
              <a:ext cx="1620000" cy="1620000"/>
            </a:xfrm>
            <a:prstGeom prst="pie">
              <a:avLst>
                <a:gd name="adj1" fmla="val 16220128"/>
                <a:gd name="adj2" fmla="val 1624201"/>
              </a:avLst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7" name="Group 11"/>
          <p:cNvGrpSpPr/>
          <p:nvPr/>
        </p:nvGrpSpPr>
        <p:grpSpPr>
          <a:xfrm>
            <a:off x="3154424" y="2214921"/>
            <a:ext cx="1098972" cy="1108291"/>
            <a:chOff x="2636405" y="2608211"/>
            <a:chExt cx="1633648" cy="1620001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146832" y="2678109"/>
              <a:ext cx="626441" cy="1550103"/>
            </a:xfrm>
            <a:prstGeom prst="rect">
              <a:avLst/>
            </a:prstGeom>
          </p:spPr>
        </p:pic>
        <p:sp>
          <p:nvSpPr>
            <p:cNvPr id="14" name="Pie 13"/>
            <p:cNvSpPr/>
            <p:nvPr/>
          </p:nvSpPr>
          <p:spPr>
            <a:xfrm rot="10800000">
              <a:off x="2636405" y="2608211"/>
              <a:ext cx="1620000" cy="1620000"/>
            </a:xfrm>
            <a:prstGeom prst="pie">
              <a:avLst>
                <a:gd name="adj1" fmla="val 9207835"/>
                <a:gd name="adj2" fmla="val 16218568"/>
              </a:avLst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15" name="Pie 14"/>
            <p:cNvSpPr/>
            <p:nvPr/>
          </p:nvSpPr>
          <p:spPr>
            <a:xfrm rot="10800000">
              <a:off x="2650053" y="2608211"/>
              <a:ext cx="1620000" cy="1620000"/>
            </a:xfrm>
            <a:prstGeom prst="pie">
              <a:avLst>
                <a:gd name="adj1" fmla="val 1608655"/>
                <a:gd name="adj2" fmla="val 9207445"/>
              </a:avLst>
            </a:prstGeom>
            <a:solidFill>
              <a:srgbClr val="FF99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16" name="Pie 15"/>
            <p:cNvSpPr/>
            <p:nvPr/>
          </p:nvSpPr>
          <p:spPr>
            <a:xfrm rot="10800000">
              <a:off x="2650053" y="2608211"/>
              <a:ext cx="1620000" cy="1620000"/>
            </a:xfrm>
            <a:prstGeom prst="pie">
              <a:avLst>
                <a:gd name="adj1" fmla="val 16220128"/>
                <a:gd name="adj2" fmla="val 1624201"/>
              </a:avLst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2" name="Group 16"/>
          <p:cNvGrpSpPr/>
          <p:nvPr/>
        </p:nvGrpSpPr>
        <p:grpSpPr>
          <a:xfrm>
            <a:off x="1392614" y="2208600"/>
            <a:ext cx="1095957" cy="1128261"/>
            <a:chOff x="4412573" y="2583931"/>
            <a:chExt cx="1095957" cy="1128261"/>
          </a:xfrm>
        </p:grpSpPr>
        <p:sp>
          <p:nvSpPr>
            <p:cNvPr id="18" name="Pie 17"/>
            <p:cNvSpPr/>
            <p:nvPr/>
          </p:nvSpPr>
          <p:spPr>
            <a:xfrm rot="10800000">
              <a:off x="4418739" y="2603901"/>
              <a:ext cx="1089791" cy="1108290"/>
            </a:xfrm>
            <a:prstGeom prst="pie">
              <a:avLst>
                <a:gd name="adj1" fmla="val 16220128"/>
                <a:gd name="adj2" fmla="val 1624201"/>
              </a:avLst>
            </a:prstGeom>
            <a:solidFill>
              <a:schemeClr val="tx2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4716203" y="2651720"/>
              <a:ext cx="421414" cy="1060472"/>
            </a:xfrm>
            <a:prstGeom prst="rect">
              <a:avLst/>
            </a:prstGeom>
          </p:spPr>
        </p:pic>
        <p:sp>
          <p:nvSpPr>
            <p:cNvPr id="20" name="Pie 19"/>
            <p:cNvSpPr/>
            <p:nvPr/>
          </p:nvSpPr>
          <p:spPr>
            <a:xfrm rot="10800000">
              <a:off x="4412573" y="2583931"/>
              <a:ext cx="1089791" cy="1108290"/>
            </a:xfrm>
            <a:prstGeom prst="pie">
              <a:avLst>
                <a:gd name="adj1" fmla="val 9207835"/>
                <a:gd name="adj2" fmla="val 16218568"/>
              </a:avLst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21" name="Pie 20"/>
            <p:cNvSpPr/>
            <p:nvPr/>
          </p:nvSpPr>
          <p:spPr>
            <a:xfrm rot="10800000">
              <a:off x="4418739" y="2590253"/>
              <a:ext cx="1089791" cy="1108290"/>
            </a:xfrm>
            <a:prstGeom prst="pie">
              <a:avLst>
                <a:gd name="adj1" fmla="val 1608655"/>
                <a:gd name="adj2" fmla="val 9207445"/>
              </a:avLst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>
            <a:off x="134715" y="2480462"/>
            <a:ext cx="872362" cy="36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i="1" dirty="0" smtClean="0">
                <a:solidFill>
                  <a:srgbClr val="0E5580"/>
                </a:solidFill>
              </a:rPr>
              <a:t>Cluster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3307" y="1758564"/>
            <a:ext cx="1608928" cy="36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E5580"/>
                </a:solidFill>
              </a:rPr>
              <a:t>Retail</a:t>
            </a:r>
          </a:p>
          <a:p>
            <a:pPr algn="ctr"/>
            <a:r>
              <a:rPr lang="en-US" sz="1400" b="1" dirty="0" smtClean="0">
                <a:solidFill>
                  <a:srgbClr val="0E5580"/>
                </a:solidFill>
              </a:rPr>
              <a:t>T2</a:t>
            </a:r>
            <a:endParaRPr lang="en-IN" sz="1400" b="1" dirty="0">
              <a:solidFill>
                <a:srgbClr val="0E558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81067" y="1810816"/>
            <a:ext cx="1608928" cy="36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E5580"/>
                </a:solidFill>
              </a:rPr>
              <a:t>Hospitality</a:t>
            </a:r>
          </a:p>
          <a:p>
            <a:pPr algn="ctr"/>
            <a:r>
              <a:rPr lang="en-US" sz="1400" b="1" dirty="0" smtClean="0">
                <a:solidFill>
                  <a:srgbClr val="0E5580"/>
                </a:solidFill>
              </a:rPr>
              <a:t>T3</a:t>
            </a:r>
            <a:endParaRPr lang="en-IN" sz="1400" b="1" dirty="0">
              <a:solidFill>
                <a:srgbClr val="0E558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45069" y="1758564"/>
            <a:ext cx="1608928" cy="36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E5580"/>
                </a:solidFill>
              </a:rPr>
              <a:t>Financial</a:t>
            </a:r>
          </a:p>
          <a:p>
            <a:pPr algn="ctr"/>
            <a:r>
              <a:rPr lang="en-US" sz="1400" b="1" dirty="0" smtClean="0">
                <a:solidFill>
                  <a:srgbClr val="0E5580"/>
                </a:solidFill>
              </a:rPr>
              <a:t>T1</a:t>
            </a:r>
            <a:endParaRPr lang="en-IN" sz="1400" b="1" dirty="0">
              <a:solidFill>
                <a:srgbClr val="0E558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7235" y="5287933"/>
            <a:ext cx="1295480" cy="36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i="1" dirty="0" smtClean="0">
                <a:solidFill>
                  <a:srgbClr val="0E5580"/>
                </a:solidFill>
              </a:rPr>
              <a:t>Analytics Solutions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0474" y="4836183"/>
            <a:ext cx="1904123" cy="16310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Customer value/potential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Risk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Customer preference for channel, merchant etc  </a:t>
            </a:r>
          </a:p>
          <a:p>
            <a:pPr marL="285750" indent="-285750"/>
            <a:r>
              <a:rPr lang="en-US" sz="1300" dirty="0" smtClean="0">
                <a:solidFill>
                  <a:srgbClr val="0E5580"/>
                </a:solidFill>
              </a:rPr>
              <a:t> </a:t>
            </a:r>
            <a:endParaRPr lang="en-IN" sz="1300" dirty="0">
              <a:solidFill>
                <a:srgbClr val="0E558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94042" y="4978800"/>
            <a:ext cx="2077635" cy="16310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Dynamic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Product </a:t>
            </a:r>
          </a:p>
          <a:p>
            <a:pPr marL="285750" indent="-285750"/>
            <a:r>
              <a:rPr lang="en-US" sz="1300" dirty="0" smtClean="0">
                <a:solidFill>
                  <a:srgbClr val="0E5580"/>
                </a:solidFill>
              </a:rPr>
              <a:t>       bundling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Store positioning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 Demand </a:t>
            </a:r>
          </a:p>
          <a:p>
            <a:pPr marL="285750" indent="-285750"/>
            <a:r>
              <a:rPr lang="en-US" sz="1300" dirty="0" smtClean="0">
                <a:solidFill>
                  <a:srgbClr val="0E5580"/>
                </a:solidFill>
              </a:rPr>
              <a:t>       forecasting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 Sales force </a:t>
            </a:r>
          </a:p>
          <a:p>
            <a:pPr marL="285750" indent="-285750"/>
            <a:r>
              <a:rPr lang="en-US" sz="1300" dirty="0" smtClean="0">
                <a:solidFill>
                  <a:srgbClr val="0E5580"/>
                </a:solidFill>
              </a:rPr>
              <a:t>       optimization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300" dirty="0" smtClean="0">
              <a:solidFill>
                <a:srgbClr val="0E5580"/>
              </a:solidFill>
            </a:endParaRPr>
          </a:p>
          <a:p>
            <a:pPr marL="285750" indent="-285750"/>
            <a:endParaRPr lang="en-US" sz="1300" dirty="0" smtClean="0">
              <a:solidFill>
                <a:srgbClr val="0E558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rgbClr val="0E558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628693" y="5006000"/>
            <a:ext cx="1992255" cy="1508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Identify high potential  guests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Palette optimization</a:t>
            </a:r>
            <a:endParaRPr lang="en-US" sz="1300" dirty="0">
              <a:solidFill>
                <a:srgbClr val="0E558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Loyalty programs</a:t>
            </a:r>
            <a:endParaRPr lang="en-US" sz="1300" dirty="0">
              <a:solidFill>
                <a:srgbClr val="0E558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Cross sell </a:t>
            </a:r>
            <a:endParaRPr lang="en-US" sz="1300" dirty="0">
              <a:solidFill>
                <a:srgbClr val="0E5580"/>
              </a:solidFill>
            </a:endParaRPr>
          </a:p>
          <a:p>
            <a:pPr marL="285750" indent="-285750"/>
            <a:endParaRPr lang="en-US" sz="1300" dirty="0">
              <a:solidFill>
                <a:srgbClr val="0E558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300" dirty="0">
              <a:solidFill>
                <a:srgbClr val="0E558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 smtClean="0">
              <a:solidFill>
                <a:srgbClr val="0E558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300" dirty="0">
              <a:solidFill>
                <a:srgbClr val="0E5580"/>
              </a:solidFill>
            </a:endParaRPr>
          </a:p>
        </p:txBody>
      </p:sp>
      <p:sp>
        <p:nvSpPr>
          <p:cNvPr id="31" name="Right Arrow 30"/>
          <p:cNvSpPr/>
          <p:nvPr/>
        </p:nvSpPr>
        <p:spPr>
          <a:xfrm rot="5400000">
            <a:off x="8942889" y="3337767"/>
            <a:ext cx="438759" cy="573041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756806" y="2481962"/>
            <a:ext cx="1295480" cy="36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 dirty="0" smtClean="0">
                <a:solidFill>
                  <a:srgbClr val="0E5580"/>
                </a:solidFill>
              </a:rPr>
              <a:t>Insights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15040" y="3962729"/>
            <a:ext cx="5576960" cy="36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 dirty="0" smtClean="0">
                <a:solidFill>
                  <a:srgbClr val="0E5580"/>
                </a:solidFill>
              </a:rPr>
              <a:t>Campaign:     Find out potential customers for Loyalty program enrollment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56129" y="2323144"/>
            <a:ext cx="4100082" cy="849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E5580"/>
                </a:solidFill>
              </a:rPr>
              <a:t>Customer  holidays frequently in </a:t>
            </a:r>
            <a:r>
              <a:rPr lang="en-US" sz="1200" dirty="0" err="1" smtClean="0">
                <a:solidFill>
                  <a:srgbClr val="0E5580"/>
                </a:solidFill>
              </a:rPr>
              <a:t>Taj</a:t>
            </a:r>
            <a:r>
              <a:rPr lang="en-US" sz="1200" dirty="0" smtClean="0">
                <a:solidFill>
                  <a:srgbClr val="0E5580"/>
                </a:solidFill>
              </a:rPr>
              <a:t> hotels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E5580"/>
                </a:solidFill>
              </a:rPr>
              <a:t>They prefer Asian cuisine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E5580"/>
                </a:solidFill>
              </a:rPr>
              <a:t> They are high profile executives paying through  Credit cards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E5580"/>
                </a:solidFill>
              </a:rPr>
              <a:t> They generally book hotels through mobile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E558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725866" y="2075500"/>
            <a:ext cx="5213092" cy="1281654"/>
          </a:xfrm>
          <a:prstGeom prst="rect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83948" y="3707055"/>
            <a:ext cx="1295480" cy="36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i="1" dirty="0" smtClean="0">
                <a:solidFill>
                  <a:srgbClr val="0E5580"/>
                </a:solidFill>
              </a:rPr>
              <a:t>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778" y="3666018"/>
            <a:ext cx="1698172" cy="7742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Demographics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Investments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rgbClr val="0E5580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807875" y="3652954"/>
            <a:ext cx="1790251" cy="760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Purchase  preference &amp;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Purchase value  &amp; frequency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15246" y="3679080"/>
            <a:ext cx="1953066" cy="6101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Travel 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rgbClr val="0E5580"/>
                </a:solidFill>
              </a:rPr>
              <a:t>Hotel and food preferences 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7373" y="1776549"/>
            <a:ext cx="5055324" cy="28738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264405" y="1770879"/>
            <a:ext cx="4783902" cy="36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Illustrative example - Hospitality cluster</a:t>
            </a:r>
          </a:p>
        </p:txBody>
      </p:sp>
      <p:sp>
        <p:nvSpPr>
          <p:cNvPr id="42" name="Oval 41"/>
          <p:cNvSpPr/>
          <p:nvPr/>
        </p:nvSpPr>
        <p:spPr>
          <a:xfrm>
            <a:off x="10870454" y="1495919"/>
            <a:ext cx="1029809" cy="855395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8561" y="1629483"/>
            <a:ext cx="760861" cy="645079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035423" y="1653989"/>
            <a:ext cx="1694329" cy="4988858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868706" y="1667437"/>
            <a:ext cx="1694329" cy="4988858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657164" y="1658471"/>
            <a:ext cx="1783977" cy="4988858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pic>
        <p:nvPicPr>
          <p:cNvPr id="47" name="Picture 46" descr="hote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488" y="4437529"/>
            <a:ext cx="1782419" cy="220531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569233" y="4448929"/>
            <a:ext cx="1596743" cy="24409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Can Do</a:t>
            </a:r>
            <a:endParaRPr lang="en-IN" sz="1200" b="1" dirty="0">
              <a:solidFill>
                <a:prstClr val="white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0348727" y="4439964"/>
            <a:ext cx="1596743" cy="24409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Cannot Do</a:t>
            </a:r>
            <a:endParaRPr lang="en-IN" sz="1200" b="1" dirty="0">
              <a:solidFill>
                <a:prstClr val="white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439316" y="4486425"/>
            <a:ext cx="1989259" cy="849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Wingdings" pitchFamily="2" charset="2"/>
              <a:buChar char="ü"/>
            </a:pPr>
            <a:endParaRPr lang="en-US" sz="1200" dirty="0" smtClean="0">
              <a:solidFill>
                <a:srgbClr val="0E5580"/>
              </a:solidFill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sz="1200" dirty="0" smtClean="0">
                <a:solidFill>
                  <a:srgbClr val="0E5580"/>
                </a:solidFill>
              </a:rPr>
              <a:t>Provide  customization for upcoming holidays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200" dirty="0" smtClean="0">
                <a:solidFill>
                  <a:srgbClr val="0E5580"/>
                </a:solidFill>
              </a:rPr>
              <a:t>Loyalty through personalized offers in </a:t>
            </a:r>
            <a:r>
              <a:rPr lang="en-US" sz="1200" dirty="0" err="1" smtClean="0">
                <a:solidFill>
                  <a:srgbClr val="0E5580"/>
                </a:solidFill>
              </a:rPr>
              <a:t>Taj</a:t>
            </a:r>
            <a:r>
              <a:rPr lang="en-US" sz="1200" dirty="0" smtClean="0">
                <a:solidFill>
                  <a:srgbClr val="0E5580"/>
                </a:solidFill>
              </a:rPr>
              <a:t> restaurants on birthdays, anniversaries etc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200" dirty="0" smtClean="0">
                <a:solidFill>
                  <a:srgbClr val="0E5580"/>
                </a:solidFill>
              </a:rPr>
              <a:t> Provide  add-on services on  app hotel bookings  </a:t>
            </a:r>
          </a:p>
          <a:p>
            <a:pPr marL="285750" indent="-285750"/>
            <a:r>
              <a:rPr lang="en-US" sz="1200" dirty="0" smtClean="0">
                <a:solidFill>
                  <a:srgbClr val="0E5580"/>
                </a:solidFill>
              </a:rPr>
              <a:t>        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43835" y="4683334"/>
            <a:ext cx="1848165" cy="849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Century Gothic" pitchFamily="34" charset="0"/>
              <a:buChar char="×"/>
            </a:pPr>
            <a:r>
              <a:rPr lang="en-US" sz="1200" dirty="0" smtClean="0">
                <a:solidFill>
                  <a:srgbClr val="0E5580"/>
                </a:solidFill>
              </a:rPr>
              <a:t>Life-stage based offerings </a:t>
            </a:r>
          </a:p>
          <a:p>
            <a:pPr marL="285750" indent="-285750">
              <a:buFont typeface="Century Gothic" pitchFamily="34" charset="0"/>
              <a:buChar char="×"/>
            </a:pPr>
            <a:r>
              <a:rPr lang="en-US" sz="1200" dirty="0" smtClean="0">
                <a:solidFill>
                  <a:srgbClr val="0E5580"/>
                </a:solidFill>
              </a:rPr>
              <a:t>Attitudinal /socio-graphic  preferences</a:t>
            </a:r>
          </a:p>
          <a:p>
            <a:pPr marL="285750" indent="-285750">
              <a:buFont typeface="Century Gothic" pitchFamily="34" charset="0"/>
              <a:buChar char="×"/>
            </a:pPr>
            <a:r>
              <a:rPr lang="en-US" sz="1200" dirty="0" smtClean="0">
                <a:solidFill>
                  <a:srgbClr val="0E5580"/>
                </a:solidFill>
              </a:rPr>
              <a:t>Customer passion like  sports/music/adventures</a:t>
            </a:r>
          </a:p>
          <a:p>
            <a:pPr marL="285750" indent="-285750">
              <a:buFont typeface="Century Gothic" pitchFamily="34" charset="0"/>
              <a:buChar char="×"/>
            </a:pPr>
            <a:endParaRPr lang="en-US" sz="1200" dirty="0" smtClean="0">
              <a:solidFill>
                <a:srgbClr val="0E5580"/>
              </a:solidFill>
            </a:endParaRPr>
          </a:p>
          <a:p>
            <a:pPr marL="285750" indent="-285750"/>
            <a:endParaRPr lang="en-US" sz="1200" dirty="0" smtClean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2107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984" y="542362"/>
            <a:ext cx="10765897" cy="706964"/>
          </a:xfrm>
        </p:spPr>
        <p:txBody>
          <a:bodyPr/>
          <a:lstStyle/>
          <a:p>
            <a:r>
              <a:rPr lang="en-US" dirty="0"/>
              <a:t>Customer segmentation through Multitenant </a:t>
            </a:r>
            <a:r>
              <a:rPr lang="en-US" dirty="0" smtClean="0"/>
              <a:t>relationship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29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Individual  campaigns  in companies driven by customer attributes across various LOBs </a:t>
            </a:r>
            <a:endParaRPr lang="en-IN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25436" y="1551846"/>
            <a:ext cx="11116101" cy="0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968326" y="4824146"/>
            <a:ext cx="1633648" cy="1643661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874396" y="2061409"/>
            <a:ext cx="823077" cy="820310"/>
          </a:xfrm>
          <a:prstGeom prst="ellipse">
            <a:avLst/>
          </a:prstGeom>
          <a:solidFill>
            <a:srgbClr val="DEF0FB"/>
          </a:solidFill>
          <a:ln>
            <a:solidFill>
              <a:srgbClr val="DEF0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400" b="1" dirty="0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554026" y="2101497"/>
            <a:ext cx="823077" cy="820310"/>
          </a:xfrm>
          <a:prstGeom prst="ellipse">
            <a:avLst/>
          </a:prstGeom>
          <a:solidFill>
            <a:srgbClr val="FFCCFF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400" b="1" dirty="0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287914" y="2061409"/>
            <a:ext cx="823077" cy="820310"/>
          </a:xfrm>
          <a:prstGeom prst="ellipse">
            <a:avLst/>
          </a:prstGeom>
          <a:solidFill>
            <a:srgbClr val="FFFF7F"/>
          </a:solidFill>
          <a:ln>
            <a:solidFill>
              <a:srgbClr val="FFF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200" dirty="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45986" y="2233922"/>
            <a:ext cx="907005" cy="487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pPr algn="ctr"/>
            <a:r>
              <a:rPr lang="en-US" sz="1300" dirty="0" smtClean="0">
                <a:solidFill>
                  <a:srgbClr val="0E5580"/>
                </a:solidFill>
              </a:rPr>
              <a:t>Financial</a:t>
            </a:r>
          </a:p>
          <a:p>
            <a:pPr algn="ctr"/>
            <a:r>
              <a:rPr lang="en-US" sz="1300" dirty="0" smtClean="0">
                <a:solidFill>
                  <a:srgbClr val="0E5580"/>
                </a:solidFill>
              </a:rPr>
              <a:t>Services</a:t>
            </a:r>
            <a:endParaRPr lang="en-IN" sz="1300" dirty="0">
              <a:solidFill>
                <a:srgbClr val="0E558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93682" y="4217368"/>
            <a:ext cx="814527" cy="202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1400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45604" y="2879859"/>
            <a:ext cx="12256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pPr algn="ctr"/>
            <a:r>
              <a:rPr lang="en-US" sz="1000" dirty="0" smtClean="0">
                <a:solidFill>
                  <a:srgbClr val="0E5580"/>
                </a:solidFill>
              </a:rPr>
              <a:t>Urban Dwellers</a:t>
            </a:r>
            <a:endParaRPr lang="en-IN" sz="1000" dirty="0">
              <a:solidFill>
                <a:srgbClr val="0E558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06667" y="2224179"/>
            <a:ext cx="985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pPr algn="ctr"/>
            <a:r>
              <a:rPr lang="en-US" sz="1200" dirty="0" smtClean="0">
                <a:solidFill>
                  <a:srgbClr val="0E5580"/>
                </a:solidFill>
              </a:rPr>
              <a:t>Travel  Hospitality</a:t>
            </a:r>
            <a:endParaRPr lang="en-IN" sz="1200" dirty="0">
              <a:solidFill>
                <a:srgbClr val="0E5580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96049" y="3385385"/>
            <a:ext cx="87835" cy="31144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175027" y="3438051"/>
            <a:ext cx="87835" cy="31144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450693" y="3726243"/>
            <a:ext cx="87835" cy="31144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109773" y="4051843"/>
            <a:ext cx="87835" cy="31144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08214" y="4108472"/>
            <a:ext cx="87835" cy="31144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625125" y="4095663"/>
            <a:ext cx="87835" cy="31144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65102" y="4050670"/>
            <a:ext cx="81931" cy="29050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721295" y="4065926"/>
            <a:ext cx="87835" cy="31144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52529" y="3367809"/>
            <a:ext cx="87835" cy="31144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44318" y="3800823"/>
            <a:ext cx="87835" cy="31144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933127" y="3776666"/>
            <a:ext cx="87835" cy="311442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114822" y="3426426"/>
            <a:ext cx="87835" cy="31144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12627" y="4094224"/>
            <a:ext cx="87835" cy="31144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691420" y="3541106"/>
            <a:ext cx="87835" cy="311442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77078" y="3270705"/>
            <a:ext cx="87835" cy="31144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72773" y="3582147"/>
            <a:ext cx="143959" cy="389039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03385" y="4278528"/>
            <a:ext cx="143959" cy="389039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55015" y="5767459"/>
            <a:ext cx="143959" cy="38903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33671" y="3380114"/>
            <a:ext cx="143959" cy="38903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00466" y="3709311"/>
            <a:ext cx="143959" cy="389039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984759" y="3121226"/>
            <a:ext cx="143959" cy="389039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11199" y="3153026"/>
            <a:ext cx="143959" cy="389039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6792" y="3710692"/>
            <a:ext cx="143959" cy="389039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10160" y="4085330"/>
            <a:ext cx="87835" cy="311442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291212" y="3963304"/>
            <a:ext cx="87835" cy="311442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904946" y="4225785"/>
            <a:ext cx="87835" cy="311442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6840" y="3627390"/>
            <a:ext cx="183951" cy="497114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936639" y="2982101"/>
            <a:ext cx="143959" cy="389039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64294" y="3954071"/>
            <a:ext cx="143959" cy="389039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59137" y="3645289"/>
            <a:ext cx="143959" cy="389039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708594" y="3770514"/>
            <a:ext cx="143959" cy="389039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83746" y="5716863"/>
            <a:ext cx="143959" cy="389039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4474" y="4202252"/>
            <a:ext cx="143959" cy="389039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48241" y="3707900"/>
            <a:ext cx="143959" cy="389039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0105" y="5921177"/>
            <a:ext cx="87835" cy="311442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49881" y="5848043"/>
            <a:ext cx="143959" cy="389039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50789" y="5190808"/>
            <a:ext cx="260414" cy="923366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34126" y="5171798"/>
            <a:ext cx="329459" cy="890340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621243" y="5322511"/>
            <a:ext cx="387255" cy="958246"/>
          </a:xfrm>
          <a:prstGeom prst="rect">
            <a:avLst/>
          </a:prstGeom>
        </p:spPr>
      </p:pic>
      <p:sp>
        <p:nvSpPr>
          <p:cNvPr id="62" name="Pie 61"/>
          <p:cNvSpPr/>
          <p:nvPr/>
        </p:nvSpPr>
        <p:spPr>
          <a:xfrm rot="10800000">
            <a:off x="2969960" y="4826611"/>
            <a:ext cx="1620000" cy="1620000"/>
          </a:xfrm>
          <a:prstGeom prst="pie">
            <a:avLst>
              <a:gd name="adj1" fmla="val 9207835"/>
              <a:gd name="adj2" fmla="val 16218568"/>
            </a:avLst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63" name="Pie 62"/>
          <p:cNvSpPr/>
          <p:nvPr/>
        </p:nvSpPr>
        <p:spPr>
          <a:xfrm rot="10800000">
            <a:off x="2997678" y="4826611"/>
            <a:ext cx="1620000" cy="1620000"/>
          </a:xfrm>
          <a:prstGeom prst="pie">
            <a:avLst>
              <a:gd name="adj1" fmla="val 1608655"/>
              <a:gd name="adj2" fmla="val 9207445"/>
            </a:avLst>
          </a:prstGeom>
          <a:solidFill>
            <a:srgbClr val="FF99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64" name="Pie 63"/>
          <p:cNvSpPr/>
          <p:nvPr/>
        </p:nvSpPr>
        <p:spPr>
          <a:xfrm rot="10800000">
            <a:off x="2983607" y="4853907"/>
            <a:ext cx="1620000" cy="1620000"/>
          </a:xfrm>
          <a:prstGeom prst="pie">
            <a:avLst>
              <a:gd name="adj1" fmla="val 16220128"/>
              <a:gd name="adj2" fmla="val 1624201"/>
            </a:avLst>
          </a:prstGeom>
          <a:solidFill>
            <a:schemeClr val="tx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prstClr val="black"/>
              </a:solidFill>
            </a:endParaRP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712309" y="4813770"/>
            <a:ext cx="137501" cy="487545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37675" y="5711720"/>
            <a:ext cx="87835" cy="311442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774890" y="3659879"/>
            <a:ext cx="87835" cy="311442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62300" y="3891402"/>
            <a:ext cx="81931" cy="290506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42498" y="3518563"/>
            <a:ext cx="81931" cy="290506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75229" y="3711153"/>
            <a:ext cx="81931" cy="290506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60987" y="3413840"/>
            <a:ext cx="143959" cy="389039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5555477" y="5081489"/>
            <a:ext cx="2120059" cy="36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 smtClean="0">
                <a:solidFill>
                  <a:srgbClr val="0E5580"/>
                </a:solidFill>
              </a:rPr>
              <a:t>Cosmopolitans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75073" y="5585226"/>
            <a:ext cx="4986843" cy="9881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0E5580"/>
                </a:solidFill>
              </a:rPr>
              <a:t>Upper class families with dual income and kids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0E5580"/>
                </a:solidFill>
              </a:rPr>
              <a:t>High on holidays, shopping  and electronics purchase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0E5580"/>
                </a:solidFill>
              </a:rPr>
              <a:t>Frequent visitors to  eating/drinking joints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rgbClr val="0E5580"/>
              </a:solidFill>
            </a:endParaRPr>
          </a:p>
          <a:p>
            <a:pPr marL="285750" indent="-285750"/>
            <a:endParaRPr lang="en-IN" sz="1400" dirty="0">
              <a:solidFill>
                <a:srgbClr val="0E5580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762958" y="2180762"/>
            <a:ext cx="872362" cy="36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i="1" dirty="0" smtClean="0">
                <a:solidFill>
                  <a:srgbClr val="0E5580"/>
                </a:solidFill>
              </a:rPr>
              <a:t>Cluster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48040" y="6509611"/>
            <a:ext cx="1119575" cy="36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i="1" dirty="0" smtClean="0">
                <a:solidFill>
                  <a:srgbClr val="0E5580"/>
                </a:solidFill>
              </a:rPr>
              <a:t>Segment</a:t>
            </a:r>
          </a:p>
        </p:txBody>
      </p:sp>
      <p:pic>
        <p:nvPicPr>
          <p:cNvPr id="80" name="Picture 79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873651" y="3576810"/>
            <a:ext cx="87835" cy="311442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621525" y="3480411"/>
            <a:ext cx="87835" cy="311442"/>
          </a:xfrm>
          <a:prstGeom prst="rect">
            <a:avLst/>
          </a:prstGeom>
        </p:spPr>
      </p:pic>
      <p:sp>
        <p:nvSpPr>
          <p:cNvPr id="84" name="Rectangle 83"/>
          <p:cNvSpPr/>
          <p:nvPr/>
        </p:nvSpPr>
        <p:spPr>
          <a:xfrm>
            <a:off x="6782937" y="2300970"/>
            <a:ext cx="4858600" cy="33304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prstClr val="white"/>
                </a:solidFill>
              </a:rPr>
              <a:t>Add-ons  to the existing  campaigns</a:t>
            </a:r>
            <a:endParaRPr lang="en-IN" sz="1600" b="1" dirty="0">
              <a:solidFill>
                <a:prstClr val="white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6814311" y="2702859"/>
            <a:ext cx="4831347" cy="1972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400" dirty="0" smtClean="0">
                <a:solidFill>
                  <a:srgbClr val="0E5580"/>
                </a:solidFill>
              </a:rPr>
              <a:t>Over lay  segment with  campaign criterion satisfying customers for increase in conversion rates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400" dirty="0" smtClean="0">
                <a:solidFill>
                  <a:srgbClr val="0E5580"/>
                </a:solidFill>
              </a:rPr>
              <a:t>Custom Offer to all adventure enthusiast post overlay of  segment information at </a:t>
            </a:r>
            <a:r>
              <a:rPr lang="en-US" sz="1400" dirty="0" err="1" smtClean="0">
                <a:solidFill>
                  <a:srgbClr val="0E5580"/>
                </a:solidFill>
              </a:rPr>
              <a:t>Taj</a:t>
            </a:r>
            <a:r>
              <a:rPr lang="en-US" sz="1400" dirty="0" smtClean="0">
                <a:solidFill>
                  <a:srgbClr val="0E5580"/>
                </a:solidFill>
              </a:rPr>
              <a:t> locations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400" dirty="0" smtClean="0">
                <a:solidFill>
                  <a:srgbClr val="0E5580"/>
                </a:solidFill>
              </a:rPr>
              <a:t>Regional  focused marketing leveraging segment preference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400" dirty="0" smtClean="0">
                <a:solidFill>
                  <a:srgbClr val="0E5580"/>
                </a:solidFill>
              </a:rPr>
              <a:t>Business customers offered add-ons to existing package  during conferences/meeting post segment overlay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sz="1400" dirty="0" smtClean="0">
              <a:solidFill>
                <a:srgbClr val="0E5580"/>
              </a:solidFill>
            </a:endParaRPr>
          </a:p>
          <a:p>
            <a:pPr marL="285750" indent="-285750"/>
            <a:endParaRPr lang="en-US" sz="1400" dirty="0" smtClean="0">
              <a:solidFill>
                <a:srgbClr val="0E5580"/>
              </a:solidFill>
            </a:endParaRPr>
          </a:p>
          <a:p>
            <a:pPr marL="285750" indent="-285750"/>
            <a:endParaRPr lang="en-US" sz="1400" dirty="0" smtClean="0">
              <a:solidFill>
                <a:srgbClr val="0E5580"/>
              </a:solidFill>
            </a:endParaRPr>
          </a:p>
        </p:txBody>
      </p:sp>
      <p:sp>
        <p:nvSpPr>
          <p:cNvPr id="88" name="Oval 87"/>
          <p:cNvSpPr/>
          <p:nvPr/>
        </p:nvSpPr>
        <p:spPr>
          <a:xfrm>
            <a:off x="1148484" y="3828205"/>
            <a:ext cx="781399" cy="76293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89" name="Oval 88"/>
          <p:cNvSpPr/>
          <p:nvPr/>
        </p:nvSpPr>
        <p:spPr>
          <a:xfrm>
            <a:off x="4180565" y="3421050"/>
            <a:ext cx="781399" cy="76293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90" name="Oval 89"/>
          <p:cNvSpPr/>
          <p:nvPr/>
        </p:nvSpPr>
        <p:spPr>
          <a:xfrm>
            <a:off x="2565779" y="3066210"/>
            <a:ext cx="781399" cy="76293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91" name="Right Arrow 90"/>
          <p:cNvSpPr/>
          <p:nvPr/>
        </p:nvSpPr>
        <p:spPr>
          <a:xfrm>
            <a:off x="4748788" y="5540144"/>
            <a:ext cx="434381" cy="492454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3990073" y="3182380"/>
            <a:ext cx="12256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pPr algn="ctr"/>
            <a:r>
              <a:rPr lang="en-US" sz="1000" dirty="0" smtClean="0">
                <a:solidFill>
                  <a:srgbClr val="0E5580"/>
                </a:solidFill>
              </a:rPr>
              <a:t>Empty Nesters</a:t>
            </a:r>
            <a:endParaRPr lang="en-IN" sz="1000" dirty="0">
              <a:solidFill>
                <a:srgbClr val="0E558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946657" y="3578223"/>
            <a:ext cx="12256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pPr algn="ctr"/>
            <a:r>
              <a:rPr lang="en-US" sz="1000" dirty="0" err="1" smtClean="0">
                <a:solidFill>
                  <a:srgbClr val="0E5580"/>
                </a:solidFill>
              </a:rPr>
              <a:t>Cosmocrats</a:t>
            </a:r>
            <a:endParaRPr lang="en-IN" sz="1000" dirty="0">
              <a:solidFill>
                <a:srgbClr val="0E5580"/>
              </a:solidFill>
            </a:endParaRPr>
          </a:p>
        </p:txBody>
      </p:sp>
      <p:pic>
        <p:nvPicPr>
          <p:cNvPr id="94" name="Picture 93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7884" y="4098394"/>
            <a:ext cx="81931" cy="290506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45692" y="4521482"/>
            <a:ext cx="81931" cy="290506"/>
          </a:xfrm>
          <a:prstGeom prst="rect">
            <a:avLst/>
          </a:prstGeom>
        </p:spPr>
      </p:pic>
      <p:pic>
        <p:nvPicPr>
          <p:cNvPr id="96" name="Picture 95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18396" y="3088442"/>
            <a:ext cx="81931" cy="290506"/>
          </a:xfrm>
          <a:prstGeom prst="rect">
            <a:avLst/>
          </a:prstGeom>
        </p:spPr>
      </p:pic>
      <p:pic>
        <p:nvPicPr>
          <p:cNvPr id="97" name="Picture 96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22604" y="4002858"/>
            <a:ext cx="81931" cy="290506"/>
          </a:xfrm>
          <a:prstGeom prst="rect">
            <a:avLst/>
          </a:prstGeom>
        </p:spPr>
      </p:pic>
      <p:pic>
        <p:nvPicPr>
          <p:cNvPr id="98" name="Picture 97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1916" y="2965610"/>
            <a:ext cx="81931" cy="290506"/>
          </a:xfrm>
          <a:prstGeom prst="rect">
            <a:avLst/>
          </a:prstGeom>
        </p:spPr>
      </p:pic>
      <p:pic>
        <p:nvPicPr>
          <p:cNvPr id="99" name="Picture 98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72732" y="4862682"/>
            <a:ext cx="81931" cy="290506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3663442" y="2359026"/>
            <a:ext cx="6286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pPr algn="ctr"/>
            <a:r>
              <a:rPr lang="en-US" sz="1300" dirty="0" smtClean="0">
                <a:solidFill>
                  <a:srgbClr val="0E5580"/>
                </a:solidFill>
              </a:rPr>
              <a:t>Retail</a:t>
            </a:r>
            <a:endParaRPr lang="en-IN" sz="1300" dirty="0">
              <a:solidFill>
                <a:srgbClr val="0E5580"/>
              </a:solidFill>
            </a:endParaRPr>
          </a:p>
        </p:txBody>
      </p:sp>
      <p:pic>
        <p:nvPicPr>
          <p:cNvPr id="101" name="Picture 10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24751" y="4076213"/>
            <a:ext cx="143959" cy="389039"/>
          </a:xfrm>
          <a:prstGeom prst="rect">
            <a:avLst/>
          </a:prstGeom>
        </p:spPr>
      </p:pic>
      <p:pic>
        <p:nvPicPr>
          <p:cNvPr id="102" name="Picture 10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785087" y="3134501"/>
            <a:ext cx="143959" cy="389039"/>
          </a:xfrm>
          <a:prstGeom prst="rect">
            <a:avLst/>
          </a:prstGeom>
        </p:spPr>
      </p:pic>
      <p:pic>
        <p:nvPicPr>
          <p:cNvPr id="103" name="Picture 10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863279" y="3066261"/>
            <a:ext cx="143959" cy="389039"/>
          </a:xfrm>
          <a:prstGeom prst="rect">
            <a:avLst/>
          </a:prstGeom>
        </p:spPr>
      </p:pic>
      <p:pic>
        <p:nvPicPr>
          <p:cNvPr id="104" name="Picture 10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378207" y="2875189"/>
            <a:ext cx="143959" cy="389039"/>
          </a:xfrm>
          <a:prstGeom prst="rect">
            <a:avLst/>
          </a:prstGeom>
        </p:spPr>
      </p:pic>
      <p:pic>
        <p:nvPicPr>
          <p:cNvPr id="105" name="Picture 10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51423" y="2929781"/>
            <a:ext cx="143959" cy="389039"/>
          </a:xfrm>
          <a:prstGeom prst="rect">
            <a:avLst/>
          </a:prstGeom>
        </p:spPr>
      </p:pic>
      <p:pic>
        <p:nvPicPr>
          <p:cNvPr id="107" name="Picture 106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25132" y="5015082"/>
            <a:ext cx="81931" cy="290506"/>
          </a:xfrm>
          <a:prstGeom prst="rect">
            <a:avLst/>
          </a:prstGeom>
        </p:spPr>
      </p:pic>
      <p:pic>
        <p:nvPicPr>
          <p:cNvPr id="108" name="Picture 107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23196" y="5167482"/>
            <a:ext cx="81931" cy="290506"/>
          </a:xfrm>
          <a:prstGeom prst="rect">
            <a:avLst/>
          </a:prstGeom>
        </p:spPr>
      </p:pic>
      <p:pic>
        <p:nvPicPr>
          <p:cNvPr id="109" name="Picture 108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36889" y="5648217"/>
            <a:ext cx="87835" cy="311442"/>
          </a:xfrm>
          <a:prstGeom prst="rect">
            <a:avLst/>
          </a:prstGeom>
        </p:spPr>
      </p:pic>
      <p:pic>
        <p:nvPicPr>
          <p:cNvPr id="110" name="Picture 10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76665" y="5575083"/>
            <a:ext cx="143959" cy="389039"/>
          </a:xfrm>
          <a:prstGeom prst="rect">
            <a:avLst/>
          </a:prstGeom>
        </p:spPr>
      </p:pic>
      <p:pic>
        <p:nvPicPr>
          <p:cNvPr id="111" name="Picture 110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64459" y="5438760"/>
            <a:ext cx="87835" cy="311442"/>
          </a:xfrm>
          <a:prstGeom prst="rect">
            <a:avLst/>
          </a:prstGeom>
        </p:spPr>
      </p:pic>
      <p:pic>
        <p:nvPicPr>
          <p:cNvPr id="112" name="Picture 111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0105" y="5006761"/>
            <a:ext cx="87835" cy="311442"/>
          </a:xfrm>
          <a:prstGeom prst="rect">
            <a:avLst/>
          </a:prstGeom>
        </p:spPr>
      </p:pic>
      <p:pic>
        <p:nvPicPr>
          <p:cNvPr id="113" name="Picture 1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49881" y="4933627"/>
            <a:ext cx="143959" cy="389039"/>
          </a:xfrm>
          <a:prstGeom prst="rect">
            <a:avLst/>
          </a:prstGeom>
        </p:spPr>
      </p:pic>
      <p:pic>
        <p:nvPicPr>
          <p:cNvPr id="114" name="Picture 113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37675" y="4797304"/>
            <a:ext cx="87835" cy="31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5138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Multi-tenant relationship offering customer level view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30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404680"/>
          </a:xfrm>
        </p:spPr>
        <p:txBody>
          <a:bodyPr/>
          <a:lstStyle/>
          <a:p>
            <a:r>
              <a:rPr lang="en-US" dirty="0" smtClean="0">
                <a:solidFill>
                  <a:srgbClr val="00BDF2"/>
                </a:solidFill>
              </a:rPr>
              <a:t>Paving the path for a ‘</a:t>
            </a:r>
            <a:r>
              <a:rPr lang="en-US" i="1" dirty="0" smtClean="0">
                <a:solidFill>
                  <a:srgbClr val="00BDF2"/>
                </a:solidFill>
              </a:rPr>
              <a:t>One - Tata Loyalty program’ </a:t>
            </a:r>
            <a:r>
              <a:rPr lang="en-US" dirty="0" smtClean="0">
                <a:solidFill>
                  <a:srgbClr val="00BDF2"/>
                </a:solidFill>
              </a:rPr>
              <a:t>across various Tata companies </a:t>
            </a:r>
            <a:endParaRPr lang="en-IN" dirty="0" smtClean="0"/>
          </a:p>
          <a:p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25436" y="1551846"/>
            <a:ext cx="11116101" cy="0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00825" y="1587260"/>
            <a:ext cx="5591175" cy="5270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1064" y="1605060"/>
            <a:ext cx="6257925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130061" y="2385181"/>
            <a:ext cx="9825482" cy="1822514"/>
          </a:xfrm>
        </p:spPr>
        <p:txBody>
          <a:bodyPr/>
          <a:lstStyle/>
          <a:p>
            <a:pPr algn="ctr"/>
            <a:r>
              <a:rPr lang="en-US" dirty="0" smtClean="0"/>
              <a:t>Data Privacy &amp; Governance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2251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Protection &amp; Privacy Principles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246106088"/>
              </p:ext>
            </p:extLst>
          </p:nvPr>
        </p:nvGraphicFramePr>
        <p:xfrm>
          <a:off x="727325" y="1952524"/>
          <a:ext cx="10804816" cy="46393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32</a:t>
            </a:fld>
            <a:endParaRPr lang="en-US" dirty="0">
              <a:solidFill>
                <a:srgbClr val="0E558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95995" y="1675483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56"/>
          <p:cNvSpPr txBox="1">
            <a:spLocks/>
          </p:cNvSpPr>
          <p:nvPr/>
        </p:nvSpPr>
        <p:spPr>
          <a:xfrm>
            <a:off x="522301" y="1122515"/>
            <a:ext cx="11113180" cy="582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indent="0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b="0" i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742950" indent="-285750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971800" indent="-228600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429000" indent="-228600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886200" indent="-228600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IN" dirty="0"/>
              <a:t>T</a:t>
            </a:r>
            <a:r>
              <a:rPr lang="en-IN" dirty="0" smtClean="0"/>
              <a:t>he </a:t>
            </a:r>
            <a:r>
              <a:rPr lang="en-IN" dirty="0"/>
              <a:t>relationship between collection and dissemination of data, technology, the public expectation of privacy, and the legal and political issues surrounding </a:t>
            </a:r>
            <a:r>
              <a:rPr lang="en-IN" dirty="0" smtClean="0"/>
              <a:t>them is critical to the venture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92995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130061" y="2385181"/>
            <a:ext cx="9825482" cy="1822514"/>
          </a:xfrm>
        </p:spPr>
        <p:txBody>
          <a:bodyPr/>
          <a:lstStyle/>
          <a:p>
            <a:pPr algn="ctr"/>
            <a:r>
              <a:rPr lang="en-US" dirty="0" smtClean="0"/>
              <a:t>Next Steps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2251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Support needed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Collaborations with the Marketing, Revenue, Legal and IT teams for a smooth engagement</a:t>
            </a:r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28357" y="1594951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564218" y="2066619"/>
            <a:ext cx="7588155" cy="52151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Single point of contact for sharing of </a:t>
            </a:r>
            <a:r>
              <a:rPr lang="en-IN" sz="1600" dirty="0" smtClean="0"/>
              <a:t>data</a:t>
            </a:r>
            <a:endParaRPr lang="en-IN" sz="1600" dirty="0"/>
          </a:p>
        </p:txBody>
      </p:sp>
      <p:sp>
        <p:nvSpPr>
          <p:cNvPr id="10" name="Oval 9"/>
          <p:cNvSpPr/>
          <p:nvPr/>
        </p:nvSpPr>
        <p:spPr>
          <a:xfrm>
            <a:off x="1636170" y="1799448"/>
            <a:ext cx="1078173" cy="101779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>
                <a:solidFill>
                  <a:schemeClr val="tx2"/>
                </a:solidFill>
              </a:rPr>
              <a:t>1</a:t>
            </a:r>
            <a:endParaRPr lang="en-IN" sz="5400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64218" y="3068067"/>
            <a:ext cx="7588155" cy="52151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Timely sharing of </a:t>
            </a:r>
            <a:r>
              <a:rPr lang="en-IN" sz="1600" dirty="0" smtClean="0"/>
              <a:t>data (with compliances in place) </a:t>
            </a:r>
            <a:endParaRPr lang="en-IN" sz="1600" dirty="0"/>
          </a:p>
        </p:txBody>
      </p:sp>
      <p:sp>
        <p:nvSpPr>
          <p:cNvPr id="13" name="Rectangle 12"/>
          <p:cNvSpPr/>
          <p:nvPr/>
        </p:nvSpPr>
        <p:spPr>
          <a:xfrm>
            <a:off x="2564217" y="4069516"/>
            <a:ext cx="7588156" cy="52151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Continuing interaction with marketing </a:t>
            </a:r>
            <a:r>
              <a:rPr lang="en-IN" sz="1600" dirty="0" smtClean="0"/>
              <a:t>team</a:t>
            </a:r>
            <a:endParaRPr lang="en-IN" sz="1600" dirty="0"/>
          </a:p>
        </p:txBody>
      </p:sp>
      <p:sp>
        <p:nvSpPr>
          <p:cNvPr id="14" name="Rectangle 13"/>
          <p:cNvSpPr/>
          <p:nvPr/>
        </p:nvSpPr>
        <p:spPr>
          <a:xfrm>
            <a:off x="2572178" y="5074892"/>
            <a:ext cx="7580195" cy="52151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Weekly review with Chief Revenue Officer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4217" y="6072414"/>
            <a:ext cx="7588156" cy="52151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Monthly Review Meetings with MD / Steering Committee</a:t>
            </a:r>
          </a:p>
        </p:txBody>
      </p:sp>
      <p:sp>
        <p:nvSpPr>
          <p:cNvPr id="16" name="Oval 15"/>
          <p:cNvSpPr/>
          <p:nvPr/>
        </p:nvSpPr>
        <p:spPr>
          <a:xfrm>
            <a:off x="1636169" y="3837914"/>
            <a:ext cx="1078173" cy="101779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>
                <a:solidFill>
                  <a:schemeClr val="tx2"/>
                </a:solidFill>
              </a:rPr>
              <a:t>3</a:t>
            </a:r>
            <a:endParaRPr lang="en-IN" sz="5400" dirty="0">
              <a:solidFill>
                <a:schemeClr val="tx2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1636168" y="5795105"/>
            <a:ext cx="1078173" cy="101779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>
                <a:solidFill>
                  <a:schemeClr val="tx2"/>
                </a:solidFill>
              </a:rPr>
              <a:t>5</a:t>
            </a:r>
            <a:endParaRPr lang="en-IN" sz="5400" dirty="0">
              <a:solidFill>
                <a:schemeClr val="tx2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9813453" y="2820193"/>
            <a:ext cx="1078173" cy="101779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>
                <a:solidFill>
                  <a:schemeClr val="tx2"/>
                </a:solidFill>
              </a:rPr>
              <a:t>2</a:t>
            </a:r>
            <a:endParaRPr lang="en-IN" sz="5400" dirty="0">
              <a:solidFill>
                <a:schemeClr val="tx2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9813453" y="4777308"/>
            <a:ext cx="1078173" cy="101779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>
                <a:solidFill>
                  <a:schemeClr val="tx2"/>
                </a:solidFill>
              </a:rPr>
              <a:t>4</a:t>
            </a:r>
            <a:endParaRPr lang="en-IN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8857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 (0- to 3 months)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Immediate roles and responsibilities for the Tata </a:t>
            </a:r>
            <a:r>
              <a:rPr lang="en-US" dirty="0" smtClean="0"/>
              <a:t>Consumer Analytics Division </a:t>
            </a:r>
            <a:endParaRPr lang="en-IN" dirty="0"/>
          </a:p>
        </p:txBody>
      </p:sp>
      <p:graphicFrame>
        <p:nvGraphicFramePr>
          <p:cNvPr id="8" name="Group 97"/>
          <p:cNvGraphicFramePr>
            <a:graphicFrameLocks noGrp="1"/>
          </p:cNvGraphicFramePr>
          <p:nvPr>
            <p:extLst/>
          </p:nvPr>
        </p:nvGraphicFramePr>
        <p:xfrm>
          <a:off x="468929" y="1666313"/>
          <a:ext cx="11113180" cy="4822708"/>
        </p:xfrm>
        <a:graphic>
          <a:graphicData uri="http://schemas.openxmlformats.org/drawingml/2006/table">
            <a:tbl>
              <a:tblPr/>
              <a:tblGrid>
                <a:gridCol w="1341386"/>
                <a:gridCol w="1951630"/>
                <a:gridCol w="6305266"/>
                <a:gridCol w="1514898"/>
              </a:tblGrid>
              <a:tr h="575421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cs typeface="Arial" charset="0"/>
                        </a:rPr>
                        <a:t>Week of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14D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cs typeface="Arial" charset="0"/>
                        </a:rPr>
                        <a:t>Plan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14D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Detailed  Plan</a:t>
                      </a: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14D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Responsibility</a:t>
                      </a: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14D79"/>
                    </a:solidFill>
                  </a:tcPr>
                </a:tc>
              </a:tr>
              <a:tr h="316782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May 18</a:t>
                      </a:r>
                      <a:r>
                        <a:rPr kumimoji="0" lang="en-US" sz="14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th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</a:endParaRP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Presentation to MD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cs typeface="Arial" charset="0"/>
                        </a:rPr>
                        <a:t>Present the analytics solutions and roadmap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</a:endParaRP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TCAD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551">
                <a:tc rowSpan="3"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May 18</a:t>
                      </a:r>
                      <a:r>
                        <a:rPr kumimoji="0" lang="en-US" sz="14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th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 – May 25</a:t>
                      </a:r>
                      <a:r>
                        <a:rPr kumimoji="0" lang="en-US" sz="14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th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</a:endParaRP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MOU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Detail the metadata requirements to understand current data maturity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IHCL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5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Helvetica"/>
                        <a:ea typeface="+mn-ea"/>
                        <a:cs typeface="+mn-cs"/>
                      </a:endParaRPr>
                    </a:p>
                  </a:txBody>
                  <a:tcPr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Draft the MOU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Arial" charset="0"/>
                      </a:endParaRP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IHCL &amp; TCAD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18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Helvetica"/>
                      </a:endParaRPr>
                    </a:p>
                  </a:txBody>
                  <a:tcPr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Sign </a:t>
                      </a: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the MOU for metadata sharing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IHCL &amp; TCAD</a:t>
                      </a:r>
                      <a:endParaRPr kumimoji="0" lang="en-IN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184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214D7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May 25</a:t>
                      </a:r>
                      <a:r>
                        <a:rPr kumimoji="0" lang="en-US" sz="14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th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 – June 1</a:t>
                      </a:r>
                      <a:r>
                        <a:rPr kumimoji="0" lang="en-US" sz="14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st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</a:endParaRP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214D79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Metadata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214D79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Share Metadata with TCAD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IHCL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18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214D79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Helvetica"/>
                      </a:endParaRPr>
                    </a:p>
                  </a:txBody>
                  <a:tcPr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214D79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Evaluation of Metadata to define Proposal for Phase I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TCAD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184">
                <a:tc rowSpan="3"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June 1</a:t>
                      </a:r>
                      <a:r>
                        <a:rPr kumimoji="0" lang="en-US" sz="14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st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 – June 8</a:t>
                      </a:r>
                      <a:r>
                        <a:rPr kumimoji="0" lang="en-US" sz="14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th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 </a:t>
                      </a: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Proposal and Engagement Model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Draft of the proposal for Phase I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TCAD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18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Finalize the Activities, Resources and Costing 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IHCL &amp; TCAD</a:t>
                      </a:r>
                      <a:endParaRPr kumimoji="0" lang="en-IN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379"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</a:endParaRP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Finalize the Proposal and Engagement model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IHCL &amp; TCAD</a:t>
                      </a:r>
                      <a:endParaRPr kumimoji="0" lang="en-IN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184"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June 8</a:t>
                      </a:r>
                      <a:r>
                        <a:rPr kumimoji="0" lang="en-US" sz="14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th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 – June 15</a:t>
                      </a:r>
                      <a:r>
                        <a:rPr kumimoji="0" lang="en-US" sz="14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th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 </a:t>
                      </a: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NDA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Draft the NDA with purpose of intent, data sharing &amp;privacy details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IHCL &amp; TCAD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18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Helvetica"/>
                      </a:endParaRPr>
                    </a:p>
                  </a:txBody>
                  <a:tcPr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Sign the NDA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IHCL &amp; TCAD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184">
                <a:tc rowSpan="4"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June 15</a:t>
                      </a:r>
                      <a:r>
                        <a:rPr kumimoji="0" lang="en-US" sz="14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th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 - 21</a:t>
                      </a:r>
                      <a:r>
                        <a:rPr kumimoji="0" lang="en-US" sz="14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st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 September</a:t>
                      </a: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Phase I – Revenue Drivers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3 key initiatives – Clustering, Profiling and Campaigns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IHCL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18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*Monthly Review and Feedback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9D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IHCL &amp; TCAD</a:t>
                      </a:r>
                      <a:endParaRPr kumimoji="0" lang="en-IN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18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*Monthly Review and Feedback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9D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IHCL &amp; TCAD</a:t>
                      </a:r>
                      <a:endParaRPr kumimoji="0" lang="en-IN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184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Helvetic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Helvetica"/>
                      </a:endParaRPr>
                    </a:p>
                  </a:txBody>
                  <a:tcPr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Present the results of Phase I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IHCL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468965" y="1564441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977623" y="6489021"/>
            <a:ext cx="2749834" cy="3689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2"/>
                </a:solidFill>
              </a:rPr>
              <a:t>* Monthly &amp; Quarterly reviews </a:t>
            </a:r>
            <a:endParaRPr lang="en-IN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897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40127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>
    <a:txDef>
      <a:spPr bwMode="gray"/>
      <a:bodyPr vert="horz" lIns="91440" tIns="45720" rIns="91440" bIns="45720" rtlCol="0" anchor="ctr">
        <a:no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1_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>
    <a:txDef>
      <a:spPr bwMode="gray"/>
      <a:bodyPr vert="horz" lIns="91440" tIns="45720" rIns="91440" bIns="45720" rtlCol="0" anchor="ctr">
        <a:no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Ion Boardroom" id="{FC33163D-4339-46B1-8EED-24C834239D99}" vid="{A3AB87EF-B655-4FFF-8D05-F333AD7F2789}"/>
    </a:ext>
  </a:extLst>
</a:theme>
</file>

<file path=ppt/theme/theme3.xml><?xml version="1.0" encoding="utf-8"?>
<a:theme xmlns:a="http://schemas.openxmlformats.org/drawingml/2006/main" name="2_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>
    <a:txDef>
      <a:spPr bwMode="gray"/>
      <a:bodyPr vert="horz" lIns="91440" tIns="45720" rIns="91440" bIns="45720" rtlCol="0" anchor="ctr">
        <a:no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Ion Boardroom" id="{FC33163D-4339-46B1-8EED-24C834239D99}" vid="{A3AB87EF-B655-4FFF-8D05-F333AD7F2789}"/>
    </a:ext>
  </a:extLst>
</a:theme>
</file>

<file path=ppt/theme/theme4.xml><?xml version="1.0" encoding="utf-8"?>
<a:theme xmlns:a="http://schemas.openxmlformats.org/drawingml/2006/main" name="4_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>
    <a:txDef>
      <a:spPr bwMode="gray"/>
      <a:bodyPr vert="horz" lIns="91440" tIns="45720" rIns="91440" bIns="45720" rtlCol="0" anchor="ctr">
        <a:no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Ion Boardroom" id="{FC33163D-4339-46B1-8EED-24C834239D99}" vid="{A3AB87EF-B655-4FFF-8D05-F333AD7F2789}"/>
    </a:ext>
  </a:extLst>
</a:theme>
</file>

<file path=ppt/theme/theme5.xml><?xml version="1.0" encoding="utf-8"?>
<a:theme xmlns:a="http://schemas.openxmlformats.org/drawingml/2006/main" name="5_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>
    <a:txDef>
      <a:spPr bwMode="gray"/>
      <a:bodyPr vert="horz" lIns="91440" tIns="45720" rIns="91440" bIns="45720" rtlCol="0" anchor="ctr">
        <a:no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Ion Boardroom" id="{FC33163D-4339-46B1-8EED-24C834239D99}" vid="{A3AB87EF-B655-4FFF-8D05-F333AD7F2789}"/>
    </a:ext>
  </a:extLst>
</a:theme>
</file>

<file path=ppt/theme/theme6.xml><?xml version="1.0" encoding="utf-8"?>
<a:theme xmlns:a="http://schemas.openxmlformats.org/drawingml/2006/main" name="3_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>
    <a:txDef>
      <a:spPr bwMode="gray"/>
      <a:bodyPr vert="horz" lIns="91440" tIns="45720" rIns="91440" bIns="45720" rtlCol="0" anchor="ctr">
        <a:no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Ion Boardroom" id="{FC33163D-4339-46B1-8EED-24C834239D99}" vid="{A3AB87EF-B655-4FFF-8D05-F333AD7F2789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9589</TotalTime>
  <Words>2997</Words>
  <Application>Microsoft Office PowerPoint</Application>
  <PresentationFormat>Custom</PresentationFormat>
  <Paragraphs>941</Paragraphs>
  <Slides>36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Ion Boardroom</vt:lpstr>
      <vt:lpstr>1_Ion Boardroom</vt:lpstr>
      <vt:lpstr>2_Ion Boardroom</vt:lpstr>
      <vt:lpstr>4_Ion Boardroom</vt:lpstr>
      <vt:lpstr>5_Ion Boardroom</vt:lpstr>
      <vt:lpstr>3_Ion Boardroom</vt:lpstr>
      <vt:lpstr>Discussion Framework: IHCL Analytics Offerings &amp; Roadmap</vt:lpstr>
      <vt:lpstr>Agenda</vt:lpstr>
      <vt:lpstr>Tata Customer Analytics  Company Overview</vt:lpstr>
      <vt:lpstr>Tata Customer Analytics Division - Overview</vt:lpstr>
      <vt:lpstr>Analytics Landscape</vt:lpstr>
      <vt:lpstr>The Four Quadrants of Opportunities in Analytics :  Customer Analytics is our Current Focus Quadrant</vt:lpstr>
      <vt:lpstr>Analytics in the Hospitality Industry </vt:lpstr>
      <vt:lpstr>IHCL Business Priorities  Data, Analytics &amp; Reporting Maturity</vt:lpstr>
      <vt:lpstr>IHCL Business Priorities</vt:lpstr>
      <vt:lpstr>Current IHCL Customer Data Maturity :  High availability of data, with huge opportunities in enhancing quality &amp; usage</vt:lpstr>
      <vt:lpstr>Current &amp; Desired IHCL Analytics Maturity : Traditional analytics with basic tools</vt:lpstr>
      <vt:lpstr>IHCL Current &amp; Desired Landscape – Infrastructure &amp; Reporting </vt:lpstr>
      <vt:lpstr>Key Opportunities &amp;  Two-Year Roadmap</vt:lpstr>
      <vt:lpstr>Key Programs and Opportunities</vt:lpstr>
      <vt:lpstr>Analytics Roadmap for Y1 &amp; Y2</vt:lpstr>
      <vt:lpstr>Quick Wins : (1) Understanding your Guests (2) Loyalty Program Management</vt:lpstr>
      <vt:lpstr>Quick Wins : (1) Know your guests</vt:lpstr>
      <vt:lpstr>Quick Wins (2) : Loyalty Program Management</vt:lpstr>
      <vt:lpstr>Customer base categorization: Focus Quick Wins on Loyalty Guests</vt:lpstr>
      <vt:lpstr>Near-Term Opportunities (1) Prospecting (2) Data Visualization</vt:lpstr>
      <vt:lpstr>Near-Term Opportunity (1) : Prospecting customers </vt:lpstr>
      <vt:lpstr>Near-Term Opportunity (2) : Visualization - Why Visualize ?</vt:lpstr>
      <vt:lpstr>Near-Term Opportunity (2) : Visualization - Examples</vt:lpstr>
      <vt:lpstr>Near-Term Opportunity (2) : Visualization –  POC – One Tata Dashboard </vt:lpstr>
      <vt:lpstr>Near-Term Opportunity (2) : Visualization –  Company-Wide Key Performance Indicators</vt:lpstr>
      <vt:lpstr>Long Term Opportunity</vt:lpstr>
      <vt:lpstr>3 Points of Inflection</vt:lpstr>
      <vt:lpstr>Analytics solutions for Single-tenant relationship with clients</vt:lpstr>
      <vt:lpstr>Customer segmentation through Multitenant relationship</vt:lpstr>
      <vt:lpstr>Multi-tenant relationship offering customer level view</vt:lpstr>
      <vt:lpstr>Data Privacy &amp; Governance</vt:lpstr>
      <vt:lpstr>Data Protection &amp; Privacy Principles</vt:lpstr>
      <vt:lpstr>Next Steps</vt:lpstr>
      <vt:lpstr>Support needed</vt:lpstr>
      <vt:lpstr>Next Steps (0- to 3 months)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Divya</dc:creator>
  <cp:lastModifiedBy>Admin</cp:lastModifiedBy>
  <cp:revision>953</cp:revision>
  <dcterms:created xsi:type="dcterms:W3CDTF">2015-03-10T08:40:33Z</dcterms:created>
  <dcterms:modified xsi:type="dcterms:W3CDTF">2015-05-19T07:11:10Z</dcterms:modified>
</cp:coreProperties>
</file>
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7" r:id="rId2"/>
    <p:sldId id="320" r:id="rId3"/>
    <p:sldId id="319" r:id="rId4"/>
    <p:sldId id="344" r:id="rId5"/>
    <p:sldId id="367" r:id="rId6"/>
    <p:sldId id="364" r:id="rId7"/>
    <p:sldId id="347" r:id="rId8"/>
    <p:sldId id="366" r:id="rId9"/>
    <p:sldId id="370" r:id="rId10"/>
    <p:sldId id="375" r:id="rId11"/>
    <p:sldId id="346" r:id="rId12"/>
    <p:sldId id="345" r:id="rId13"/>
    <p:sldId id="371" r:id="rId14"/>
    <p:sldId id="372" r:id="rId15"/>
    <p:sldId id="369" r:id="rId16"/>
    <p:sldId id="377" r:id="rId17"/>
    <p:sldId id="359" r:id="rId18"/>
    <p:sldId id="373" r:id="rId19"/>
    <p:sldId id="376" r:id="rId20"/>
    <p:sldId id="348" r:id="rId21"/>
    <p:sldId id="349" r:id="rId22"/>
    <p:sldId id="360" r:id="rId23"/>
    <p:sldId id="361" r:id="rId24"/>
    <p:sldId id="383" r:id="rId25"/>
    <p:sldId id="363" r:id="rId26"/>
    <p:sldId id="362" r:id="rId27"/>
    <p:sldId id="378" r:id="rId28"/>
    <p:sldId id="350" r:id="rId29"/>
    <p:sldId id="368" r:id="rId30"/>
    <p:sldId id="352" r:id="rId31"/>
    <p:sldId id="353" r:id="rId32"/>
    <p:sldId id="354" r:id="rId33"/>
    <p:sldId id="355" r:id="rId34"/>
    <p:sldId id="356" r:id="rId35"/>
    <p:sldId id="342" r:id="rId36"/>
    <p:sldId id="357" r:id="rId37"/>
    <p:sldId id="358" r:id="rId38"/>
    <p:sldId id="379" r:id="rId39"/>
    <p:sldId id="380"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1A3"/>
    <a:srgbClr val="4A4A67"/>
    <a:srgbClr val="949494"/>
    <a:srgbClr val="D9E1F2"/>
    <a:srgbClr val="993300"/>
    <a:srgbClr val="DEECFD"/>
    <a:srgbClr val="CC6600"/>
    <a:srgbClr val="803C0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5627" autoAdjust="0"/>
  </p:normalViewPr>
  <p:slideViewPr>
    <p:cSldViewPr snapToGrid="0">
      <p:cViewPr varScale="1">
        <p:scale>
          <a:sx n="90" d="100"/>
          <a:sy n="90" d="100"/>
        </p:scale>
        <p:origin x="102" y="1044"/>
      </p:cViewPr>
      <p:guideLst/>
    </p:cSldViewPr>
  </p:slideViewPr>
  <p:notesTextViewPr>
    <p:cViewPr>
      <p:scale>
        <a:sx n="1" d="1"/>
        <a:sy n="1" d="1"/>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247282-5322-4920-A04A-F88BF4A9D3DE}" type="datetimeFigureOut">
              <a:rPr lang="en-IN" smtClean="0"/>
              <a:t>22-07-2016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2D4397-2931-438B-B195-D24BFA6F0B7F}" type="slidenum">
              <a:rPr lang="en-IN" smtClean="0"/>
              <a:t>‹#›</a:t>
            </a:fld>
            <a:endParaRPr lang="en-IN" dirty="0"/>
          </a:p>
        </p:txBody>
      </p:sp>
    </p:spTree>
    <p:extLst>
      <p:ext uri="{BB962C8B-B14F-4D97-AF65-F5344CB8AC3E}">
        <p14:creationId xmlns:p14="http://schemas.microsoft.com/office/powerpoint/2010/main" val="11601077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AC80FA6-BA02-4C3D-AB3D-7F99A89BBA54}" type="slidenum">
              <a:rPr lang="en-IN" smtClean="0">
                <a:solidFill>
                  <a:prstClr val="black"/>
                </a:solidFill>
              </a:rPr>
              <a:pPr/>
              <a:t>1</a:t>
            </a:fld>
            <a:endParaRPr lang="en-IN" dirty="0">
              <a:solidFill>
                <a:prstClr val="black"/>
              </a:solidFill>
            </a:endParaRPr>
          </a:p>
        </p:txBody>
      </p:sp>
    </p:spTree>
    <p:extLst>
      <p:ext uri="{BB962C8B-B14F-4D97-AF65-F5344CB8AC3E}">
        <p14:creationId xmlns:p14="http://schemas.microsoft.com/office/powerpoint/2010/main" val="488555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Operating systems perform basic tasks, such as recognizing input from the keyboard, sending output to the display screen, keeping track of files and directories on the disk, and controlling peripheral devices such as disk drives and printers</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a:t>
            </a:fld>
            <a:endParaRPr lang="en-IN" dirty="0"/>
          </a:p>
        </p:txBody>
      </p:sp>
    </p:spTree>
    <p:extLst>
      <p:ext uri="{BB962C8B-B14F-4D97-AF65-F5344CB8AC3E}">
        <p14:creationId xmlns:p14="http://schemas.microsoft.com/office/powerpoint/2010/main" val="28470559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Create a question type</a:t>
            </a:r>
            <a:r>
              <a:rPr lang="en-IN" baseline="0" dirty="0"/>
              <a:t> </a:t>
            </a:r>
            <a:r>
              <a:rPr lang="en-IN" dirty="0"/>
              <a:t>slide for different type  of </a:t>
            </a:r>
            <a:r>
              <a:rPr lang="en-IN" dirty="0" err="1"/>
              <a:t>os</a:t>
            </a:r>
            <a:endParaRPr lang="en-IN" dirty="0"/>
          </a:p>
          <a:p>
            <a:endParaRPr lang="en-IN" dirty="0"/>
          </a:p>
        </p:txBody>
      </p:sp>
      <p:sp>
        <p:nvSpPr>
          <p:cNvPr id="4" name="Slide Number Placeholder 3"/>
          <p:cNvSpPr>
            <a:spLocks noGrp="1"/>
          </p:cNvSpPr>
          <p:nvPr>
            <p:ph type="sldNum" sz="quarter" idx="10"/>
          </p:nvPr>
        </p:nvSpPr>
        <p:spPr/>
        <p:txBody>
          <a:bodyPr/>
          <a:lstStyle/>
          <a:p>
            <a:fld id="{7B2D4397-2931-438B-B195-D24BFA6F0B7F}" type="slidenum">
              <a:rPr lang="en-IN" smtClean="0"/>
              <a:t>4</a:t>
            </a:fld>
            <a:endParaRPr lang="en-IN" dirty="0"/>
          </a:p>
        </p:txBody>
      </p:sp>
    </p:spTree>
    <p:extLst>
      <p:ext uri="{BB962C8B-B14F-4D97-AF65-F5344CB8AC3E}">
        <p14:creationId xmlns:p14="http://schemas.microsoft.com/office/powerpoint/2010/main" val="25407373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17</a:t>
            </a:fld>
            <a:endParaRPr lang="en-IN" dirty="0"/>
          </a:p>
        </p:txBody>
      </p:sp>
    </p:spTree>
    <p:extLst>
      <p:ext uri="{BB962C8B-B14F-4D97-AF65-F5344CB8AC3E}">
        <p14:creationId xmlns:p14="http://schemas.microsoft.com/office/powerpoint/2010/main" val="969020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slide before this</a:t>
            </a:r>
            <a:r>
              <a:rPr lang="en-US" baseline="0" dirty="0"/>
              <a:t>, may be a picture, explaining connections b/w OS and Kernel</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20</a:t>
            </a:fld>
            <a:endParaRPr lang="en-IN" dirty="0"/>
          </a:p>
        </p:txBody>
      </p:sp>
    </p:spTree>
    <p:extLst>
      <p:ext uri="{BB962C8B-B14F-4D97-AF65-F5344CB8AC3E}">
        <p14:creationId xmlns:p14="http://schemas.microsoft.com/office/powerpoint/2010/main" val="329701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21</a:t>
            </a:fld>
            <a:endParaRPr lang="en-IN" dirty="0"/>
          </a:p>
        </p:txBody>
      </p:sp>
    </p:spTree>
    <p:extLst>
      <p:ext uri="{BB962C8B-B14F-4D97-AF65-F5344CB8AC3E}">
        <p14:creationId xmlns:p14="http://schemas.microsoft.com/office/powerpoint/2010/main" val="42137636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22</a:t>
            </a:fld>
            <a:endParaRPr lang="en-IN" dirty="0"/>
          </a:p>
        </p:txBody>
      </p:sp>
    </p:spTree>
    <p:extLst>
      <p:ext uri="{BB962C8B-B14F-4D97-AF65-F5344CB8AC3E}">
        <p14:creationId xmlns:p14="http://schemas.microsoft.com/office/powerpoint/2010/main" val="40515199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23</a:t>
            </a:fld>
            <a:endParaRPr lang="en-IN" dirty="0"/>
          </a:p>
        </p:txBody>
      </p:sp>
    </p:spTree>
    <p:extLst>
      <p:ext uri="{BB962C8B-B14F-4D97-AF65-F5344CB8AC3E}">
        <p14:creationId xmlns:p14="http://schemas.microsoft.com/office/powerpoint/2010/main" val="29138562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25</a:t>
            </a:fld>
            <a:endParaRPr lang="en-IN" dirty="0"/>
          </a:p>
        </p:txBody>
      </p:sp>
    </p:spTree>
    <p:extLst>
      <p:ext uri="{BB962C8B-B14F-4D97-AF65-F5344CB8AC3E}">
        <p14:creationId xmlns:p14="http://schemas.microsoft.com/office/powerpoint/2010/main" val="137785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aseline="0" dirty="0"/>
              <a:t>pros and cons of bash, </a:t>
            </a:r>
            <a:r>
              <a:rPr lang="en-US" baseline="0" dirty="0" err="1"/>
              <a:t>ksh</a:t>
            </a:r>
            <a:r>
              <a:rPr lang="en-US" baseline="0" dirty="0"/>
              <a:t> and </a:t>
            </a:r>
            <a:r>
              <a:rPr lang="en-US" baseline="0" dirty="0" err="1"/>
              <a:t>sh</a:t>
            </a:r>
            <a:endParaRPr lang="en-US" baseline="0" dirty="0"/>
          </a:p>
          <a:p>
            <a:pPr marL="171450" indent="-171450">
              <a:buFont typeface="Arial" panose="020B0604020202020204" pitchFamily="34" charset="0"/>
              <a:buChar char="•"/>
            </a:pPr>
            <a:r>
              <a:rPr lang="en-US" baseline="0" dirty="0"/>
              <a:t>Tell why bash is the most popular</a:t>
            </a:r>
          </a:p>
        </p:txBody>
      </p:sp>
      <p:sp>
        <p:nvSpPr>
          <p:cNvPr id="4" name="Slide Number Placeholder 3"/>
          <p:cNvSpPr>
            <a:spLocks noGrp="1"/>
          </p:cNvSpPr>
          <p:nvPr>
            <p:ph type="sldNum" sz="quarter" idx="10"/>
          </p:nvPr>
        </p:nvSpPr>
        <p:spPr/>
        <p:txBody>
          <a:bodyPr/>
          <a:lstStyle/>
          <a:p>
            <a:fld id="{7B2D4397-2931-438B-B195-D24BFA6F0B7F}" type="slidenum">
              <a:rPr lang="en-IN" smtClean="0"/>
              <a:t>26</a:t>
            </a:fld>
            <a:endParaRPr lang="en-IN" dirty="0"/>
          </a:p>
        </p:txBody>
      </p:sp>
    </p:spTree>
    <p:extLst>
      <p:ext uri="{BB962C8B-B14F-4D97-AF65-F5344CB8AC3E}">
        <p14:creationId xmlns:p14="http://schemas.microsoft.com/office/powerpoint/2010/main" val="15081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Commands</a:t>
            </a:r>
          </a:p>
        </p:txBody>
      </p:sp>
      <p:sp>
        <p:nvSpPr>
          <p:cNvPr id="4" name="Slide Number Placeholder 3"/>
          <p:cNvSpPr>
            <a:spLocks noGrp="1"/>
          </p:cNvSpPr>
          <p:nvPr>
            <p:ph type="sldNum" sz="quarter" idx="10"/>
          </p:nvPr>
        </p:nvSpPr>
        <p:spPr/>
        <p:txBody>
          <a:bodyPr/>
          <a:lstStyle/>
          <a:p>
            <a:fld id="{7B2D4397-2931-438B-B195-D24BFA6F0B7F}" type="slidenum">
              <a:rPr lang="en-IN" smtClean="0"/>
              <a:t>28</a:t>
            </a:fld>
            <a:endParaRPr lang="en-IN" dirty="0"/>
          </a:p>
        </p:txBody>
      </p:sp>
    </p:spTree>
    <p:extLst>
      <p:ext uri="{BB962C8B-B14F-4D97-AF65-F5344CB8AC3E}">
        <p14:creationId xmlns:p14="http://schemas.microsoft.com/office/powerpoint/2010/main" val="584858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explain</a:t>
            </a:r>
            <a:r>
              <a:rPr lang="en-US" baseline="0" dirty="0"/>
              <a:t> diff b/w exit and shutdown; what happens if they don’t shutdown;</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30</a:t>
            </a:fld>
            <a:endParaRPr lang="en-IN" dirty="0"/>
          </a:p>
        </p:txBody>
      </p:sp>
    </p:spTree>
    <p:extLst>
      <p:ext uri="{BB962C8B-B14F-4D97-AF65-F5344CB8AC3E}">
        <p14:creationId xmlns:p14="http://schemas.microsoft.com/office/powerpoint/2010/main" val="35319086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a:t>
            </a:r>
            <a:r>
              <a:rPr lang="en-US" baseline="0" dirty="0"/>
              <a:t> for each command:</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31</a:t>
            </a:fld>
            <a:endParaRPr lang="en-IN" dirty="0"/>
          </a:p>
        </p:txBody>
      </p:sp>
    </p:spTree>
    <p:extLst>
      <p:ext uri="{BB962C8B-B14F-4D97-AF65-F5344CB8AC3E}">
        <p14:creationId xmlns:p14="http://schemas.microsoft.com/office/powerpoint/2010/main" val="2637617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 use ls to</a:t>
            </a:r>
            <a:r>
              <a:rPr lang="en-US" baseline="0" dirty="0"/>
              <a:t> show </a:t>
            </a:r>
            <a:r>
              <a:rPr lang="en-US" baseline="0"/>
              <a:t>file size in GB</a:t>
            </a:r>
            <a:endParaRPr lang="en-US" dirty="0"/>
          </a:p>
        </p:txBody>
      </p:sp>
      <p:sp>
        <p:nvSpPr>
          <p:cNvPr id="4" name="Slide Number Placeholder 3"/>
          <p:cNvSpPr>
            <a:spLocks noGrp="1"/>
          </p:cNvSpPr>
          <p:nvPr>
            <p:ph type="sldNum" sz="quarter" idx="10"/>
          </p:nvPr>
        </p:nvSpPr>
        <p:spPr/>
        <p:txBody>
          <a:bodyPr/>
          <a:lstStyle/>
          <a:p>
            <a:fld id="{7B2D4397-2931-438B-B195-D24BFA6F0B7F}" type="slidenum">
              <a:rPr lang="en-IN" smtClean="0"/>
              <a:t>32</a:t>
            </a:fld>
            <a:endParaRPr lang="en-IN" dirty="0"/>
          </a:p>
        </p:txBody>
      </p:sp>
    </p:spTree>
    <p:extLst>
      <p:ext uri="{BB962C8B-B14F-4D97-AF65-F5344CB8AC3E}">
        <p14:creationId xmlns:p14="http://schemas.microsoft.com/office/powerpoint/2010/main" val="4015348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92C1B97-C155-4CFC-AA97-CF72E949F1D8}"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6" name="Text Placeholder 9"/>
          <p:cNvSpPr>
            <a:spLocks noGrp="1"/>
          </p:cNvSpPr>
          <p:nvPr>
            <p:ph type="body" sz="quarter" idx="13"/>
          </p:nvPr>
        </p:nvSpPr>
        <p:spPr>
          <a:xfrm>
            <a:off x="528357" y="1217086"/>
            <a:ext cx="11113180" cy="582362"/>
          </a:xfrm>
        </p:spPr>
        <p:txBody>
          <a:bodyPr>
            <a:normAutofit/>
          </a:bodyPr>
          <a:lstStyle>
            <a:lvl1pPr marL="0" indent="0">
              <a:buNone/>
              <a:defRPr sz="1800">
                <a:solidFill>
                  <a:schemeClr val="tx2">
                    <a:lumMod val="60000"/>
                    <a:lumOff val="40000"/>
                  </a:schemeClr>
                </a:solidFill>
              </a:defRPr>
            </a:lvl1pPr>
          </a:lstStyle>
          <a:p>
            <a:pPr lvl="0"/>
            <a:endParaRPr lang="en-IN" dirty="0"/>
          </a:p>
        </p:txBody>
      </p:sp>
    </p:spTree>
    <p:extLst>
      <p:ext uri="{BB962C8B-B14F-4D97-AF65-F5344CB8AC3E}">
        <p14:creationId xmlns:p14="http://schemas.microsoft.com/office/powerpoint/2010/main" val="2848322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895522-3AA0-4A80-92C7-2AC281EBADF4}"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5047913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3CE34B9-F39B-4A6F-8022-0CCE308A2419}"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0"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02117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11948E-581D-4169-8736-D78C52183DC6}"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1"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US" sz="1800" b="0" i="0" kern="1200" dirty="0">
              <a:solidFill>
                <a:schemeClr val="tx2">
                  <a:lumMod val="60000"/>
                  <a:lumOff val="40000"/>
                </a:schemeClr>
              </a:solidFill>
              <a:latin typeface="+mn-lt"/>
              <a:ea typeface="+mn-ea"/>
              <a:cs typeface="+mn-cs"/>
            </a:endParaRPr>
          </a:p>
        </p:txBody>
      </p:sp>
    </p:spTree>
    <p:extLst>
      <p:ext uri="{BB962C8B-B14F-4D97-AF65-F5344CB8AC3E}">
        <p14:creationId xmlns:p14="http://schemas.microsoft.com/office/powerpoint/2010/main" val="986032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35BA0C7-AADD-421B-8FBC-91AD055047E0}" type="datetime1">
              <a:rPr lang="en-US" smtClean="0">
                <a:solidFill>
                  <a:srgbClr val="ACD433"/>
                </a:solidFill>
              </a:rPr>
              <a:pPr/>
              <a:t>7/22/2016</a:t>
            </a:fld>
            <a:endParaRPr lang="en-US" dirty="0">
              <a:solidFill>
                <a:srgbClr val="ACD433"/>
              </a:solidFill>
            </a:endParaRPr>
          </a:p>
        </p:txBody>
      </p:sp>
      <p:sp>
        <p:nvSpPr>
          <p:cNvPr id="4" name="Footer Placeholder 3"/>
          <p:cNvSpPr>
            <a:spLocks noGrp="1"/>
          </p:cNvSpPr>
          <p:nvPr>
            <p:ph type="ftr" sz="quarter" idx="11"/>
          </p:nvPr>
        </p:nvSpPr>
        <p:spPr/>
        <p:txBody>
          <a:bodyPr/>
          <a:lstStyle/>
          <a:p>
            <a:r>
              <a:rPr lang="en-US" dirty="0">
                <a:solidFill>
                  <a:srgbClr val="ACD433"/>
                </a:solidFill>
              </a:rPr>
              <a:t>
              </a:t>
            </a:r>
          </a:p>
        </p:txBody>
      </p:sp>
      <p:sp>
        <p:nvSpPr>
          <p:cNvPr id="5" name="Slide Number Placeholder 4"/>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7" name="Text Placeholder 9"/>
          <p:cNvSpPr>
            <a:spLocks noGrp="1"/>
          </p:cNvSpPr>
          <p:nvPr>
            <p:ph type="body" sz="quarter" idx="1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2708864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BE4F3-E305-4ED2-971B-C2A5123F3D9C}" type="datetime1">
              <a:rPr lang="en-US" smtClean="0">
                <a:solidFill>
                  <a:srgbClr val="ACD433"/>
                </a:solidFill>
              </a:rPr>
              <a:pPr/>
              <a:t>7/22/2016</a:t>
            </a:fld>
            <a:endParaRPr lang="en-US" dirty="0">
              <a:solidFill>
                <a:srgbClr val="ACD433"/>
              </a:solidFill>
            </a:endParaRPr>
          </a:p>
        </p:txBody>
      </p:sp>
      <p:sp>
        <p:nvSpPr>
          <p:cNvPr id="3" name="Footer Placeholder 2"/>
          <p:cNvSpPr>
            <a:spLocks noGrp="1"/>
          </p:cNvSpPr>
          <p:nvPr>
            <p:ph type="ftr" sz="quarter" idx="11"/>
          </p:nvPr>
        </p:nvSpPr>
        <p:spPr/>
        <p:txBody>
          <a:bodyPr/>
          <a:lstStyle/>
          <a:p>
            <a:r>
              <a:rPr lang="en-US" dirty="0">
                <a:solidFill>
                  <a:srgbClr val="ACD433"/>
                </a:solidFill>
              </a:rPr>
              <a:t>
              </a:t>
            </a:r>
          </a:p>
        </p:txBody>
      </p:sp>
      <p:sp>
        <p:nvSpPr>
          <p:cNvPr id="7" name="Rectangle 6"/>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44447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509C74D-C361-4376-8174-AE28B7E8A445}"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5" name="Rectangle 14"/>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6098095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D2ABCB-FCE6-4FC8-9691-E916C6279CCA}"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4" name="Rectangle 13"/>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0422291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80EE84-D85D-497A-9A5B-2C115F808617}" type="datetime1">
              <a:rPr lang="en-US" smtClean="0">
                <a:solidFill>
                  <a:srgbClr val="ACD433"/>
                </a:solidFill>
              </a:rPr>
              <a:pPr/>
              <a:t>7/22/2016</a:t>
            </a:fld>
            <a:endParaRPr lang="en-US" dirty="0">
              <a:solidFill>
                <a:srgbClr val="ACD433"/>
              </a:solidFill>
            </a:endParaRPr>
          </a:p>
        </p:txBody>
      </p:sp>
      <p:sp>
        <p:nvSpPr>
          <p:cNvPr id="6" name="Footer Placeholder 5"/>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1487472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95FD7DB-F981-46C5-8A0D-B8D1888769EB}"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289511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defTabSz="457200"/>
            <a:r>
              <a:rPr lang="en-US" sz="9600" dirty="0">
                <a:solidFill>
                  <a:srgbClr val="ACD433"/>
                </a:solidFill>
              </a:rPr>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C947D92A-5A66-48EC-BB04-2DB931A39FAD}"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32" name="Rectangle 3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299399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270C19-0998-4D52-8DDD-94BF7F80CAE5}"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2" name="Rectangle 11"/>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23152127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800"/>
            </a:lvl1pPr>
          </a:lstStyle>
          <a:p>
            <a:r>
              <a:rPr lang="en-US" dirty="0"/>
              <a:t>Click to edit Master title style</a:t>
            </a:r>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6B07827-9700-4CDC-9E1D-449DE82DEC8D}"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17" name="Text Placeholder 9"/>
          <p:cNvSpPr>
            <a:spLocks noGrp="1"/>
          </p:cNvSpPr>
          <p:nvPr>
            <p:ph type="body" sz="quarter" idx="18"/>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Tree>
    <p:extLst>
      <p:ext uri="{BB962C8B-B14F-4D97-AF65-F5344CB8AC3E}">
        <p14:creationId xmlns:p14="http://schemas.microsoft.com/office/powerpoint/2010/main" val="4217249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4A760FD-A1FC-4920-A3C2-085B8E2F9EFA}" type="datetime1">
              <a:rPr lang="en-US" smtClean="0">
                <a:solidFill>
                  <a:srgbClr val="ACD433"/>
                </a:solidFill>
              </a:rPr>
              <a:pPr/>
              <a:t>7/22/2016</a:t>
            </a:fld>
            <a:endParaRPr lang="en-US" dirty="0">
              <a:solidFill>
                <a:srgbClr val="ACD433"/>
              </a:solidFill>
            </a:endParaRPr>
          </a:p>
        </p:txBody>
      </p:sp>
      <p:sp>
        <p:nvSpPr>
          <p:cNvPr id="8" name="Footer Placeholder 7"/>
          <p:cNvSpPr>
            <a:spLocks noGrp="1"/>
          </p:cNvSpPr>
          <p:nvPr>
            <p:ph type="ftr" sz="quarter" idx="11"/>
          </p:nvPr>
        </p:nvSpPr>
        <p:spPr/>
        <p:txBody>
          <a:bodyPr/>
          <a:lstStyle/>
          <a:p>
            <a:r>
              <a:rPr lang="en-US" dirty="0">
                <a:solidFill>
                  <a:srgbClr val="ACD433"/>
                </a:solidFill>
              </a:rPr>
              <a:t>
              </a:t>
            </a:r>
          </a:p>
        </p:txBody>
      </p:sp>
      <p:sp>
        <p:nvSpPr>
          <p:cNvPr id="9" name="Slide Number Placeholder 8"/>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20" name="Text Placeholder 9"/>
          <p:cNvSpPr>
            <a:spLocks noGrp="1"/>
          </p:cNvSpPr>
          <p:nvPr>
            <p:ph type="body" sz="quarter" idx="23"/>
          </p:nvPr>
        </p:nvSpPr>
        <p:spPr>
          <a:xfrm>
            <a:off x="528357" y="1217086"/>
            <a:ext cx="11113180" cy="582362"/>
          </a:xfrm>
        </p:spPr>
        <p:txBody>
          <a:bodyPr>
            <a:normAutofit/>
          </a:bodyPr>
          <a:lstStyle>
            <a:lvl1pPr marL="0" indent="0">
              <a:buNone/>
              <a:defRPr lang="en-IN" sz="1800" b="0" i="0" kern="1200" dirty="0">
                <a:solidFill>
                  <a:schemeClr val="tx2">
                    <a:lumMod val="60000"/>
                    <a:lumOff val="40000"/>
                  </a:schemeClr>
                </a:solidFill>
                <a:latin typeface="+mn-lt"/>
                <a:ea typeface="+mn-ea"/>
                <a:cs typeface="+mn-cs"/>
              </a:defRPr>
            </a:lvl1pPr>
          </a:lstStyle>
          <a:p>
            <a:pPr lvl="0"/>
            <a:endParaRPr lang="en-IN" dirty="0"/>
          </a:p>
        </p:txBody>
      </p:sp>
      <p:sp>
        <p:nvSpPr>
          <p:cNvPr id="21"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38583225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B13D277-BE34-4141-BD49-E063BB7174E9}"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
        <p:nvSpPr>
          <p:cNvPr id="9" name="Text Placeholder 9"/>
          <p:cNvSpPr>
            <a:spLocks noGrp="1"/>
          </p:cNvSpPr>
          <p:nvPr>
            <p:ph type="body" sz="quarter" idx="13"/>
          </p:nvPr>
        </p:nvSpPr>
        <p:spPr>
          <a:xfrm>
            <a:off x="528357" y="1217086"/>
            <a:ext cx="11113180" cy="582362"/>
          </a:xfrm>
        </p:spPr>
        <p:txBody>
          <a:bodyPr>
            <a:normAutofit/>
          </a:bodyPr>
          <a:lstStyle>
            <a:lvl1pPr marL="0" indent="0">
              <a:buNone/>
              <a:defRPr sz="1800"/>
            </a:lvl1pPr>
          </a:lstStyle>
          <a:p>
            <a:pPr lvl="0"/>
            <a:endParaRPr lang="en-IN" dirty="0"/>
          </a:p>
        </p:txBody>
      </p:sp>
      <p:sp>
        <p:nvSpPr>
          <p:cNvPr id="10" name="Title 1"/>
          <p:cNvSpPr>
            <a:spLocks noGrp="1"/>
          </p:cNvSpPr>
          <p:nvPr>
            <p:ph type="title"/>
          </p:nvPr>
        </p:nvSpPr>
        <p:spPr>
          <a:xfrm>
            <a:off x="1154953" y="516222"/>
            <a:ext cx="9130460" cy="706964"/>
          </a:xfrm>
        </p:spPr>
        <p:txBody>
          <a:bodyPr/>
          <a:lstStyle>
            <a:lvl1pPr>
              <a:defRPr sz="2800"/>
            </a:lvl1pPr>
          </a:lstStyle>
          <a:p>
            <a:r>
              <a:rPr lang="en-US" dirty="0"/>
              <a:t>Click to edit Master title style</a:t>
            </a:r>
          </a:p>
        </p:txBody>
      </p:sp>
    </p:spTree>
    <p:extLst>
      <p:ext uri="{BB962C8B-B14F-4D97-AF65-F5344CB8AC3E}">
        <p14:creationId xmlns:p14="http://schemas.microsoft.com/office/powerpoint/2010/main" val="13722660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9B2973-F785-4CAE-8F28-6C5AAE1DB252}" type="datetime1">
              <a:rPr lang="en-US" smtClean="0">
                <a:solidFill>
                  <a:srgbClr val="ACD433"/>
                </a:solidFill>
              </a:rPr>
              <a:pPr/>
              <a:t>7/22/2016</a:t>
            </a:fld>
            <a:endParaRPr lang="en-US" dirty="0">
              <a:solidFill>
                <a:srgbClr val="ACD433"/>
              </a:solidFill>
            </a:endParaRPr>
          </a:p>
        </p:txBody>
      </p:sp>
      <p:sp>
        <p:nvSpPr>
          <p:cNvPr id="5" name="Footer Placeholder 4"/>
          <p:cNvSpPr>
            <a:spLocks noGrp="1"/>
          </p:cNvSpPr>
          <p:nvPr>
            <p:ph type="ftr" sz="quarter" idx="11"/>
          </p:nvPr>
        </p:nvSpPr>
        <p:spPr/>
        <p:txBody>
          <a:bodyPr/>
          <a:lstStyle/>
          <a:p>
            <a:r>
              <a:rPr lang="en-US" dirty="0">
                <a:solidFill>
                  <a:srgbClr val="ACD433"/>
                </a:solidFill>
              </a:rPr>
              <a:t>
              </a:t>
            </a:r>
          </a:p>
        </p:txBody>
      </p:sp>
      <p:sp>
        <p:nvSpPr>
          <p:cNvPr id="13" name="Rectangle 12"/>
          <p:cNvSpPr/>
          <p:nvPr/>
        </p:nvSpPr>
        <p:spPr>
          <a:xfrm>
            <a:off x="10437812" y="0"/>
            <a:ext cx="685800" cy="1143000"/>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solidFill>
                  <a:srgbClr val="0E5580"/>
                </a:solidFill>
              </a:rPr>
              <a:pPr/>
              <a:t>‹#›</a:t>
            </a:fld>
            <a:endParaRPr lang="en-US" dirty="0">
              <a:solidFill>
                <a:srgbClr val="0E5580"/>
              </a:solidFill>
            </a:endParaRPr>
          </a:p>
        </p:txBody>
      </p:sp>
    </p:spTree>
    <p:extLst>
      <p:ext uri="{BB962C8B-B14F-4D97-AF65-F5344CB8AC3E}">
        <p14:creationId xmlns:p14="http://schemas.microsoft.com/office/powerpoint/2010/main" val="31841367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1ABFFF5-06C3-4731-9F12-C14547B929B0}" type="datetime1">
              <a:rPr lang="en-IN" smtClean="0">
                <a:solidFill>
                  <a:srgbClr val="ACD433"/>
                </a:solidFill>
              </a:rPr>
              <a:pPr/>
              <a:t>22-07-2016</a:t>
            </a:fld>
            <a:endParaRPr lang="en-IN" dirty="0">
              <a:solidFill>
                <a:srgbClr val="ACD433"/>
              </a:solidFill>
            </a:endParaRPr>
          </a:p>
        </p:txBody>
      </p:sp>
      <p:sp>
        <p:nvSpPr>
          <p:cNvPr id="4" name="Footer Placeholder 3"/>
          <p:cNvSpPr>
            <a:spLocks noGrp="1"/>
          </p:cNvSpPr>
          <p:nvPr>
            <p:ph type="ftr" sz="quarter" idx="11"/>
          </p:nvPr>
        </p:nvSpPr>
        <p:spPr/>
        <p:txBody>
          <a:bodyPr/>
          <a:lstStyle/>
          <a:p>
            <a:endParaRPr lang="en-IN" dirty="0">
              <a:solidFill>
                <a:srgbClr val="ACD433"/>
              </a:solidFill>
            </a:endParaRPr>
          </a:p>
        </p:txBody>
      </p:sp>
      <p:sp>
        <p:nvSpPr>
          <p:cNvPr id="5" name="Slide Number Placeholder 4"/>
          <p:cNvSpPr>
            <a:spLocks noGrp="1"/>
          </p:cNvSpPr>
          <p:nvPr>
            <p:ph type="sldNum" sz="quarter" idx="12"/>
          </p:nvPr>
        </p:nvSpPr>
        <p:spPr/>
        <p:txBody>
          <a:bodyPr/>
          <a:lstStyle/>
          <a:p>
            <a:fld id="{E2B0EC35-7F37-490F-B231-6B92D181A0EA}" type="slidenum">
              <a:rPr lang="en-IN" smtClean="0">
                <a:solidFill>
                  <a:srgbClr val="0E5580"/>
                </a:solidFill>
              </a:rPr>
              <a:pPr/>
              <a:t>‹#›</a:t>
            </a:fld>
            <a:endParaRPr lang="en-IN" dirty="0">
              <a:solidFill>
                <a:srgbClr val="0E5580"/>
              </a:solidFill>
            </a:endParaRPr>
          </a:p>
        </p:txBody>
      </p:sp>
    </p:spTree>
    <p:extLst>
      <p:ext uri="{BB962C8B-B14F-4D97-AF65-F5344CB8AC3E}">
        <p14:creationId xmlns:p14="http://schemas.microsoft.com/office/powerpoint/2010/main" val="12391283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629984" y="542362"/>
            <a:ext cx="9785683" cy="706964"/>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pPr defTabSz="457200"/>
            <a:fld id="{40642DC7-B585-4536-91D5-231B0D5F1DDB}" type="datetime1">
              <a:rPr lang="en-US" smtClean="0">
                <a:solidFill>
                  <a:srgbClr val="ACD433"/>
                </a:solidFill>
              </a:rPr>
              <a:pPr defTabSz="457200"/>
              <a:t>7/22/2016</a:t>
            </a:fld>
            <a:endParaRPr lang="en-US" dirty="0">
              <a:solidFill>
                <a:srgbClr val="ACD433"/>
              </a:solidFill>
            </a:endParaRPr>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pPr defTabSz="457200"/>
            <a:r>
              <a:rPr lang="en-US" dirty="0">
                <a:solidFill>
                  <a:srgbClr val="ACD433"/>
                </a:solidFill>
              </a:rPr>
              <a:t>
              </a:t>
            </a:r>
          </a:p>
        </p:txBody>
      </p:sp>
      <p:sp>
        <p:nvSpPr>
          <p:cNvPr id="22" name="Rectangle 21"/>
          <p:cNvSpPr/>
          <p:nvPr/>
        </p:nvSpPr>
        <p:spPr>
          <a:xfrm>
            <a:off x="10437812" y="0"/>
            <a:ext cx="685800" cy="1061351"/>
          </a:xfrm>
          <a:prstGeom prst="rect">
            <a:avLst/>
          </a:prstGeom>
          <a:solidFill>
            <a:schemeClr val="tx2">
              <a:lumMod val="20000"/>
              <a:lumOff val="80000"/>
            </a:schemeClr>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2"/>
                </a:solidFill>
                <a:latin typeface="+mn-lt"/>
              </a:defRPr>
            </a:lvl1pPr>
          </a:lstStyle>
          <a:p>
            <a:pPr defTabSz="457200"/>
            <a:fld id="{D57F1E4F-1CFF-5643-939E-217C01CDF565}" type="slidenum">
              <a:rPr lang="en-US" smtClean="0">
                <a:solidFill>
                  <a:srgbClr val="0E5580"/>
                </a:solidFill>
              </a:rPr>
              <a:pPr defTabSz="457200"/>
              <a:t>‹#›</a:t>
            </a:fld>
            <a:endParaRPr lang="en-US" dirty="0">
              <a:solidFill>
                <a:srgbClr val="0E5580"/>
              </a:solidFill>
            </a:endParaRPr>
          </a:p>
        </p:txBody>
      </p:sp>
      <p:pic>
        <p:nvPicPr>
          <p:cNvPr id="24" name="Picture 23"/>
          <p:cNvPicPr>
            <a:picLocks noChangeAspect="1"/>
          </p:cNvPicPr>
          <p:nvPr userDrawn="1"/>
        </p:nvPicPr>
        <p:blipFill>
          <a:blip r:embed="rId20" cstate="print">
            <a:extLst>
              <a:ext uri="{28A0092B-C50C-407E-A947-70E740481C1C}">
                <a14:useLocalDpi xmlns:a14="http://schemas.microsoft.com/office/drawing/2010/main" val="0"/>
              </a:ext>
            </a:extLst>
          </a:blip>
          <a:stretch>
            <a:fillRect/>
          </a:stretch>
        </p:blipFill>
        <p:spPr>
          <a:xfrm>
            <a:off x="11714962" y="0"/>
            <a:ext cx="477038" cy="450761"/>
          </a:xfrm>
          <a:prstGeom prst="rect">
            <a:avLst/>
          </a:prstGeom>
        </p:spPr>
      </p:pic>
      <p:sp>
        <p:nvSpPr>
          <p:cNvPr id="31" name="Rectangle 30"/>
          <p:cNvSpPr/>
          <p:nvPr userDrawn="1"/>
        </p:nvSpPr>
        <p:spPr>
          <a:xfrm>
            <a:off x="444500" y="1151908"/>
            <a:ext cx="11270462" cy="1043481"/>
          </a:xfrm>
          <a:prstGeom prst="rect">
            <a:avLst/>
          </a:prstGeom>
          <a:solidFill>
            <a:schemeClr val="bg1"/>
          </a:solidFill>
          <a:ln w="285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
        <p:nvSpPr>
          <p:cNvPr id="32" name="Rectangle 31"/>
          <p:cNvSpPr/>
          <p:nvPr userDrawn="1"/>
        </p:nvSpPr>
        <p:spPr>
          <a:xfrm>
            <a:off x="484906" y="1893122"/>
            <a:ext cx="11230056" cy="41223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en-IN" dirty="0">
              <a:solidFill>
                <a:prstClr val="white"/>
              </a:solidFill>
            </a:endParaRPr>
          </a:p>
        </p:txBody>
      </p:sp>
    </p:spTree>
    <p:extLst>
      <p:ext uri="{BB962C8B-B14F-4D97-AF65-F5344CB8AC3E}">
        <p14:creationId xmlns:p14="http://schemas.microsoft.com/office/powerpoint/2010/main" val="32849257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ftr="0" dt="0"/>
  <p:txStyles>
    <p:titleStyle>
      <a:lvl1pPr algn="l" defTabSz="457200" rtl="0" eaLnBrk="1" latinLnBrk="0" hangingPunct="1">
        <a:spcBef>
          <a:spcPct val="0"/>
        </a:spcBef>
        <a:buNone/>
        <a:defRPr sz="24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jpeg"/><Relationship Id="rId3" Type="http://schemas.openxmlformats.org/officeDocument/2006/relationships/image" Target="../media/image9.jpeg"/><Relationship Id="rId7" Type="http://schemas.openxmlformats.org/officeDocument/2006/relationships/image" Target="../media/image13.png"/><Relationship Id="rId12" Type="http://schemas.openxmlformats.org/officeDocument/2006/relationships/image" Target="../media/image18.png"/><Relationship Id="rId2" Type="http://schemas.openxmlformats.org/officeDocument/2006/relationships/image" Target="../media/image8.jpeg"/><Relationship Id="rId16" Type="http://schemas.openxmlformats.org/officeDocument/2006/relationships/image" Target="../media/image22.jpeg"/><Relationship Id="rId1" Type="http://schemas.openxmlformats.org/officeDocument/2006/relationships/slideLayout" Target="../slideLayouts/slideLayout1.xml"/><Relationship Id="rId6" Type="http://schemas.openxmlformats.org/officeDocument/2006/relationships/image" Target="../media/image12.png"/><Relationship Id="rId11" Type="http://schemas.openxmlformats.org/officeDocument/2006/relationships/image" Target="../media/image17.png"/><Relationship Id="rId5" Type="http://schemas.openxmlformats.org/officeDocument/2006/relationships/image" Target="../media/image11.png"/><Relationship Id="rId15" Type="http://schemas.openxmlformats.org/officeDocument/2006/relationships/image" Target="../media/image21.png"/><Relationship Id="rId10" Type="http://schemas.openxmlformats.org/officeDocument/2006/relationships/image" Target="../media/image16.png"/><Relationship Id="rId4" Type="http://schemas.openxmlformats.org/officeDocument/2006/relationships/image" Target="../media/image10.jpeg"/><Relationship Id="rId9" Type="http://schemas.openxmlformats.org/officeDocument/2006/relationships/image" Target="../media/image15.png"/><Relationship Id="rId1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25.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hyperlink" Target="http://www.linfo.org/linuxdef.html"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Computer_program" TargetMode="External"/><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34.gif"/></Relationships>
</file>

<file path=ppt/slides/_rels/slide2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3.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image" Target="../media/image23.jpeg"/><Relationship Id="rId1" Type="http://schemas.openxmlformats.org/officeDocument/2006/relationships/slideLayout" Target="../slideLayouts/slideLayout1.xml"/><Relationship Id="rId4" Type="http://schemas.openxmlformats.org/officeDocument/2006/relationships/image" Target="../media/image41.jpeg"/></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23.jpeg"/><Relationship Id="rId1" Type="http://schemas.openxmlformats.org/officeDocument/2006/relationships/slideLayout" Target="../slideLayouts/slideLayout1.xml"/><Relationship Id="rId5" Type="http://schemas.openxmlformats.org/officeDocument/2006/relationships/image" Target="../media/image44.jpeg"/><Relationship Id="rId4" Type="http://schemas.openxmlformats.org/officeDocument/2006/relationships/image" Target="../media/image4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a:spLocks/>
          </p:cNvSpPr>
          <p:nvPr/>
        </p:nvSpPr>
        <p:spPr>
          <a:xfrm>
            <a:off x="1154954" y="1481547"/>
            <a:ext cx="9989861" cy="2677648"/>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4000" b="1" dirty="0">
                <a:solidFill>
                  <a:prstClr val="black"/>
                </a:solidFill>
              </a:rPr>
              <a:t>TATA </a:t>
            </a:r>
            <a:r>
              <a:rPr lang="en-US" sz="4000" b="1" dirty="0" err="1">
                <a:solidFill>
                  <a:prstClr val="black"/>
                </a:solidFill>
              </a:rPr>
              <a:t>iQ</a:t>
            </a:r>
            <a:endParaRPr lang="en-US" sz="4000" b="1" dirty="0">
              <a:solidFill>
                <a:prstClr val="black"/>
              </a:solidFill>
            </a:endParaRPr>
          </a:p>
          <a:p>
            <a:pPr algn="l"/>
            <a:r>
              <a:rPr lang="en-US" sz="3500" dirty="0">
                <a:solidFill>
                  <a:prstClr val="black"/>
                </a:solidFill>
              </a:rPr>
              <a:t>Unix Training</a:t>
            </a:r>
            <a:r>
              <a:rPr lang="en-US" sz="4000" b="1" dirty="0">
                <a:solidFill>
                  <a:prstClr val="black"/>
                </a:solidFill>
              </a:rPr>
              <a:t/>
            </a:r>
            <a:br>
              <a:rPr lang="en-US" sz="4000" b="1" dirty="0">
                <a:solidFill>
                  <a:prstClr val="black"/>
                </a:solidFill>
              </a:rPr>
            </a:br>
            <a:endParaRPr lang="en-IN" sz="3600" dirty="0">
              <a:solidFill>
                <a:prstClr val="black"/>
              </a:solidFill>
            </a:endParaRPr>
          </a:p>
        </p:txBody>
      </p:sp>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a:t>
            </a:fld>
            <a:endParaRPr lang="en-US" dirty="0">
              <a:solidFill>
                <a:srgbClr val="0E5580"/>
              </a:solidFill>
            </a:endParaRPr>
          </a:p>
        </p:txBody>
      </p:sp>
      <p:sp>
        <p:nvSpPr>
          <p:cNvPr id="3" name="Title 2"/>
          <p:cNvSpPr>
            <a:spLocks noGrp="1"/>
          </p:cNvSpPr>
          <p:nvPr>
            <p:ph type="title"/>
          </p:nvPr>
        </p:nvSpPr>
        <p:spPr/>
        <p:txBody>
          <a:bodyPr/>
          <a:lstStyle/>
          <a:p>
            <a:r>
              <a:rPr lang="en-IN" dirty="0"/>
              <a:t> </a:t>
            </a:r>
          </a:p>
        </p:txBody>
      </p:sp>
    </p:spTree>
    <p:extLst>
      <p:ext uri="{BB962C8B-B14F-4D97-AF65-F5344CB8AC3E}">
        <p14:creationId xmlns:p14="http://schemas.microsoft.com/office/powerpoint/2010/main" val="363818560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OS Introduction</a:t>
            </a:r>
          </a:p>
        </p:txBody>
      </p:sp>
    </p:spTree>
    <p:extLst>
      <p:ext uri="{BB962C8B-B14F-4D97-AF65-F5344CB8AC3E}">
        <p14:creationId xmlns:p14="http://schemas.microsoft.com/office/powerpoint/2010/main" val="52988086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What is an OS &amp; why do we need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528357" y="1618037"/>
            <a:ext cx="10380374" cy="856136"/>
          </a:xfrm>
        </p:spPr>
        <p:txBody>
          <a:bodyPr/>
          <a:lstStyle/>
          <a:p>
            <a:r>
              <a:rPr lang="en-IN" dirty="0"/>
              <a:t>The operating system (OS) is the most important program that runs on a computer</a:t>
            </a:r>
            <a:endParaRPr lang="en-US" dirty="0"/>
          </a:p>
        </p:txBody>
      </p:sp>
      <p:pic>
        <p:nvPicPr>
          <p:cNvPr id="1026" name="Picture 2" descr="http://static.topyaps.com/wp-content/uploads/2013/04/operating_system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459" y="3417538"/>
            <a:ext cx="3958073" cy="263871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upload.wikimedia.org/wikipedia/commons/thumb/e/e1/Operating_system_placement.svg/165px-Operating_system_placement.svg.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76628" y="3417538"/>
            <a:ext cx="1739039" cy="2571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26233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822304679"/>
              </p:ext>
            </p:extLst>
          </p:nvPr>
        </p:nvGraphicFramePr>
        <p:xfrm>
          <a:off x="462819" y="1202974"/>
          <a:ext cx="11244255" cy="5618480"/>
        </p:xfrm>
        <a:graphic>
          <a:graphicData uri="http://schemas.openxmlformats.org/drawingml/2006/table">
            <a:tbl>
              <a:tblPr firstRow="1" bandRow="1">
                <a:tableStyleId>{5C22544A-7EE6-4342-B048-85BDC9FD1C3A}</a:tableStyleId>
              </a:tblPr>
              <a:tblGrid>
                <a:gridCol w="1838421">
                  <a:extLst>
                    <a:ext uri="{9D8B030D-6E8A-4147-A177-3AD203B41FA5}">
                      <a16:colId xmlns:a16="http://schemas.microsoft.com/office/drawing/2014/main" xmlns="" val="20000"/>
                    </a:ext>
                  </a:extLst>
                </a:gridCol>
                <a:gridCol w="2623717">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Features</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sz="1400" dirty="0"/>
                        <a:t>User Interface</a:t>
                      </a:r>
                    </a:p>
                  </a:txBody>
                  <a:tcPr/>
                </a:tc>
                <a:tc>
                  <a:txBody>
                    <a:bodyPr/>
                    <a:lstStyle/>
                    <a:p>
                      <a:r>
                        <a:rPr lang="en-IN" sz="1400" dirty="0"/>
                        <a:t>Excellent ( Easy to</a:t>
                      </a:r>
                      <a:r>
                        <a:rPr lang="en-IN" sz="1400" baseline="0" dirty="0"/>
                        <a:t> understand)</a:t>
                      </a:r>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Excellent( Easy to</a:t>
                      </a:r>
                      <a:r>
                        <a:rPr lang="en-IN" sz="1400" baseline="0" dirty="0"/>
                        <a:t> understand)</a:t>
                      </a:r>
                      <a:endParaRPr lang="en-IN" sz="1400" dirty="0"/>
                    </a:p>
                    <a:p>
                      <a:endParaRPr lang="en-IN" sz="14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400" dirty="0"/>
                        <a:t>Good (Needs</a:t>
                      </a:r>
                      <a:r>
                        <a:rPr lang="en-IN" sz="1400" baseline="0" dirty="0"/>
                        <a:t> some practice </a:t>
                      </a:r>
                      <a:r>
                        <a:rPr lang="en-IN" sz="1400" dirty="0"/>
                        <a:t>to</a:t>
                      </a:r>
                      <a:r>
                        <a:rPr lang="en-IN" sz="1400" baseline="0" dirty="0"/>
                        <a:t> understand)</a:t>
                      </a:r>
                      <a:endParaRPr lang="en-IN" sz="1400" dirty="0"/>
                    </a:p>
                    <a:p>
                      <a:endParaRPr lang="en-IN" sz="1400" dirty="0"/>
                    </a:p>
                  </a:txBody>
                  <a:tcPr/>
                </a:tc>
                <a:tc>
                  <a:txBody>
                    <a:bodyPr/>
                    <a:lstStyle/>
                    <a:p>
                      <a:r>
                        <a:rPr lang="en-IN" sz="1400" dirty="0">
                          <a:solidFill>
                            <a:schemeClr val="tx1"/>
                          </a:solidFill>
                        </a:rPr>
                        <a:t>Medium ( Very difficult</a:t>
                      </a:r>
                      <a:r>
                        <a:rPr lang="en-IN" sz="1400" baseline="0" dirty="0">
                          <a:solidFill>
                            <a:schemeClr val="tx1"/>
                          </a:solidFill>
                        </a:rPr>
                        <a:t> )</a:t>
                      </a:r>
                      <a:endParaRPr lang="en-IN" sz="14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sz="1400" dirty="0"/>
                        <a:t>Security</a:t>
                      </a:r>
                    </a:p>
                  </a:txBody>
                  <a:tcPr/>
                </a:tc>
                <a:tc>
                  <a:txBody>
                    <a:bodyPr/>
                    <a:lstStyle/>
                    <a:p>
                      <a:r>
                        <a:rPr lang="en-IN" sz="1400" dirty="0"/>
                        <a:t>Moderate</a:t>
                      </a:r>
                    </a:p>
                  </a:txBody>
                  <a:tcPr/>
                </a:tc>
                <a:tc>
                  <a:txBody>
                    <a:bodyPr/>
                    <a:lstStyle/>
                    <a:p>
                      <a:r>
                        <a:rPr lang="en-IN" sz="1400" dirty="0"/>
                        <a:t>High</a:t>
                      </a:r>
                    </a:p>
                  </a:txBody>
                  <a:tcPr/>
                </a:tc>
                <a:tc>
                  <a:txBody>
                    <a:bodyPr/>
                    <a:lstStyle/>
                    <a:p>
                      <a:r>
                        <a:rPr lang="en-IN" sz="1400" dirty="0"/>
                        <a:t>Highly</a:t>
                      </a:r>
                      <a:r>
                        <a:rPr lang="en-IN" sz="1400" baseline="0" dirty="0"/>
                        <a:t> Secure</a:t>
                      </a:r>
                      <a:endParaRPr lang="en-IN" sz="1400" dirty="0"/>
                    </a:p>
                  </a:txBody>
                  <a:tcPr/>
                </a:tc>
                <a:tc>
                  <a:txBody>
                    <a:bodyPr/>
                    <a:lstStyle/>
                    <a:p>
                      <a:r>
                        <a:rPr lang="en-IN" sz="1400" dirty="0"/>
                        <a:t>Highly Secure</a:t>
                      </a:r>
                    </a:p>
                  </a:txBody>
                  <a:tcPr/>
                </a:tc>
                <a:extLst>
                  <a:ext uri="{0D108BD9-81ED-4DB2-BD59-A6C34878D82A}">
                    <a16:rowId xmlns:a16="http://schemas.microsoft.com/office/drawing/2014/main" xmlns="" val="10002"/>
                  </a:ext>
                </a:extLst>
              </a:tr>
              <a:tr h="370840">
                <a:tc>
                  <a:txBody>
                    <a:bodyPr/>
                    <a:lstStyle/>
                    <a:p>
                      <a:r>
                        <a:rPr lang="en-IN" sz="1400" dirty="0"/>
                        <a:t>Compatibility</a:t>
                      </a:r>
                    </a:p>
                  </a:txBody>
                  <a:tcPr/>
                </a:tc>
                <a:tc>
                  <a:txBody>
                    <a:bodyPr/>
                    <a:lstStyle/>
                    <a:p>
                      <a:r>
                        <a:rPr lang="en-IN" sz="1400" dirty="0"/>
                        <a:t>Runs on any hardware</a:t>
                      </a:r>
                    </a:p>
                  </a:txBody>
                  <a:tcPr/>
                </a:tc>
                <a:tc>
                  <a:txBody>
                    <a:bodyPr/>
                    <a:lstStyle/>
                    <a:p>
                      <a:r>
                        <a:rPr lang="en-IN" sz="1400" dirty="0"/>
                        <a:t>Runs only on Apple</a:t>
                      </a:r>
                    </a:p>
                  </a:txBody>
                  <a:tcPr/>
                </a:tc>
                <a:tc>
                  <a:txBody>
                    <a:bodyPr/>
                    <a:lstStyle/>
                    <a:p>
                      <a:r>
                        <a:rPr lang="en-IN" sz="1400" dirty="0"/>
                        <a:t>Any Hardware</a:t>
                      </a:r>
                    </a:p>
                  </a:txBody>
                  <a:tcPr/>
                </a:tc>
                <a:tc>
                  <a:txBody>
                    <a:bodyPr/>
                    <a:lstStyle/>
                    <a:p>
                      <a:r>
                        <a:rPr lang="en-IN" sz="1400" dirty="0"/>
                        <a:t>Any Hardware</a:t>
                      </a:r>
                    </a:p>
                  </a:txBody>
                  <a:tcPr/>
                </a:tc>
                <a:extLst>
                  <a:ext uri="{0D108BD9-81ED-4DB2-BD59-A6C34878D82A}">
                    <a16:rowId xmlns:a16="http://schemas.microsoft.com/office/drawing/2014/main" xmlns="" val="10003"/>
                  </a:ext>
                </a:extLst>
              </a:tr>
              <a:tr h="370840">
                <a:tc>
                  <a:txBody>
                    <a:bodyPr/>
                    <a:lstStyle/>
                    <a:p>
                      <a:r>
                        <a:rPr lang="en-IN" sz="1400" dirty="0"/>
                        <a:t>Performance</a:t>
                      </a:r>
                    </a:p>
                  </a:txBody>
                  <a:tcPr/>
                </a:tc>
                <a:tc>
                  <a:txBody>
                    <a:bodyPr/>
                    <a:lstStyle/>
                    <a:p>
                      <a:r>
                        <a:rPr lang="en-IN" sz="1400" dirty="0"/>
                        <a:t>Slow( too many apps running)</a:t>
                      </a:r>
                    </a:p>
                  </a:txBody>
                  <a:tcPr/>
                </a:tc>
                <a:tc>
                  <a:txBody>
                    <a:bodyPr/>
                    <a:lstStyle/>
                    <a:p>
                      <a:r>
                        <a:rPr lang="en-IN" sz="1400" dirty="0"/>
                        <a:t>Slow </a:t>
                      </a:r>
                    </a:p>
                  </a:txBody>
                  <a:tcPr/>
                </a:tc>
                <a:tc>
                  <a:txBody>
                    <a:bodyPr/>
                    <a:lstStyle/>
                    <a:p>
                      <a:r>
                        <a:rPr lang="en-IN" sz="1400" dirty="0"/>
                        <a:t>Fast</a:t>
                      </a:r>
                    </a:p>
                  </a:txBody>
                  <a:tcPr/>
                </a:tc>
                <a:tc>
                  <a:txBody>
                    <a:bodyPr/>
                    <a:lstStyle/>
                    <a:p>
                      <a:r>
                        <a:rPr lang="en-IN" sz="1400" dirty="0"/>
                        <a:t>Fastest</a:t>
                      </a:r>
                    </a:p>
                  </a:txBody>
                  <a:tcPr/>
                </a:tc>
                <a:extLst>
                  <a:ext uri="{0D108BD9-81ED-4DB2-BD59-A6C34878D82A}">
                    <a16:rowId xmlns:a16="http://schemas.microsoft.com/office/drawing/2014/main" xmlns="" val="10004"/>
                  </a:ext>
                </a:extLst>
              </a:tr>
              <a:tr h="370840">
                <a:tc>
                  <a:txBody>
                    <a:bodyPr/>
                    <a:lstStyle/>
                    <a:p>
                      <a:r>
                        <a:rPr lang="en-IN" sz="1400" dirty="0"/>
                        <a:t>Reliability</a:t>
                      </a:r>
                    </a:p>
                  </a:txBody>
                  <a:tcPr/>
                </a:tc>
                <a:tc>
                  <a:txBody>
                    <a:bodyPr/>
                    <a:lstStyle/>
                    <a:p>
                      <a:r>
                        <a:rPr lang="en-IN" sz="1400" dirty="0"/>
                        <a:t>Relatively Stable</a:t>
                      </a:r>
                      <a:r>
                        <a:rPr lang="en-IN" sz="1400" baseline="0" dirty="0"/>
                        <a:t> because the application needs to be secure on a regular basis.</a:t>
                      </a:r>
                    </a:p>
                  </a:txBody>
                  <a:tcPr/>
                </a:tc>
                <a:tc>
                  <a:txBody>
                    <a:bodyPr/>
                    <a:lstStyle/>
                    <a:p>
                      <a:r>
                        <a:rPr lang="en-IN" sz="1400" dirty="0"/>
                        <a:t>Better than Win,</a:t>
                      </a:r>
                      <a:r>
                        <a:rPr lang="en-IN" sz="1400" baseline="0" dirty="0"/>
                        <a:t> because of its restriction on hardware. Still apps needs to be updated</a:t>
                      </a:r>
                      <a:endParaRPr lang="en-IN" sz="1400" dirty="0"/>
                    </a:p>
                  </a:txBody>
                  <a:tcPr/>
                </a:tc>
                <a:tc>
                  <a:txBody>
                    <a:bodyPr/>
                    <a:lstStyle/>
                    <a:p>
                      <a:r>
                        <a:rPr lang="en-IN" sz="1400" dirty="0"/>
                        <a:t>Stable,</a:t>
                      </a:r>
                      <a:r>
                        <a:rPr lang="en-IN" sz="1400" baseline="0" dirty="0"/>
                        <a:t> not too many apps running.</a:t>
                      </a:r>
                      <a:endParaRPr lang="en-IN" sz="1400" dirty="0"/>
                    </a:p>
                  </a:txBody>
                  <a:tcPr/>
                </a:tc>
                <a:tc>
                  <a:txBody>
                    <a:bodyPr/>
                    <a:lstStyle/>
                    <a:p>
                      <a:r>
                        <a:rPr lang="en-IN" sz="1400" dirty="0"/>
                        <a:t>Highly stable.</a:t>
                      </a:r>
                      <a:r>
                        <a:rPr lang="en-IN" sz="1400" baseline="0" dirty="0"/>
                        <a:t> </a:t>
                      </a:r>
                      <a:endParaRPr lang="en-IN" sz="1400" dirty="0"/>
                    </a:p>
                  </a:txBody>
                  <a:tcPr/>
                </a:tc>
                <a:extLst>
                  <a:ext uri="{0D108BD9-81ED-4DB2-BD59-A6C34878D82A}">
                    <a16:rowId xmlns:a16="http://schemas.microsoft.com/office/drawing/2014/main" xmlns="" val="10005"/>
                  </a:ext>
                </a:extLst>
              </a:tr>
              <a:tr h="370840">
                <a:tc>
                  <a:txBody>
                    <a:bodyPr/>
                    <a:lstStyle/>
                    <a:p>
                      <a:r>
                        <a:rPr lang="en-IN" sz="1400" dirty="0"/>
                        <a:t>Cost</a:t>
                      </a:r>
                    </a:p>
                  </a:txBody>
                  <a:tcPr/>
                </a:tc>
                <a:tc>
                  <a:txBody>
                    <a:bodyPr/>
                    <a:lstStyle/>
                    <a:p>
                      <a:r>
                        <a:rPr lang="en-IN" sz="1400" baseline="0" dirty="0"/>
                        <a:t>Expensive</a:t>
                      </a:r>
                    </a:p>
                  </a:txBody>
                  <a:tcPr/>
                </a:tc>
                <a:tc>
                  <a:txBody>
                    <a:bodyPr/>
                    <a:lstStyle/>
                    <a:p>
                      <a:r>
                        <a:rPr lang="en-IN" sz="1400" dirty="0"/>
                        <a:t>Expensive</a:t>
                      </a:r>
                    </a:p>
                  </a:txBody>
                  <a:tcPr/>
                </a:tc>
                <a:tc>
                  <a:txBody>
                    <a:bodyPr/>
                    <a:lstStyle/>
                    <a:p>
                      <a:r>
                        <a:rPr lang="en-IN" sz="1400" dirty="0"/>
                        <a:t>Cheapest</a:t>
                      </a:r>
                    </a:p>
                  </a:txBody>
                  <a:tcPr/>
                </a:tc>
                <a:tc>
                  <a:txBody>
                    <a:bodyPr/>
                    <a:lstStyle/>
                    <a:p>
                      <a:r>
                        <a:rPr lang="en-IN" sz="1400" dirty="0"/>
                        <a:t>Most Expensive</a:t>
                      </a:r>
                    </a:p>
                  </a:txBody>
                  <a:tcPr/>
                </a:tc>
                <a:extLst>
                  <a:ext uri="{0D108BD9-81ED-4DB2-BD59-A6C34878D82A}">
                    <a16:rowId xmlns:a16="http://schemas.microsoft.com/office/drawing/2014/main" xmlns="" val="10006"/>
                  </a:ext>
                </a:extLst>
              </a:tr>
              <a:tr h="370840">
                <a:tc>
                  <a:txBody>
                    <a:bodyPr/>
                    <a:lstStyle/>
                    <a:p>
                      <a:r>
                        <a:rPr lang="en-IN" sz="1400" dirty="0"/>
                        <a:t>Machines/HW</a:t>
                      </a:r>
                    </a:p>
                  </a:txBody>
                  <a:tcPr/>
                </a:tc>
                <a:tc>
                  <a:txBody>
                    <a:bodyPr/>
                    <a:lstStyle/>
                    <a:p>
                      <a:r>
                        <a:rPr lang="en-IN" sz="1400" baseline="0" dirty="0"/>
                        <a:t>Laptop and desktops</a:t>
                      </a:r>
                    </a:p>
                  </a:txBody>
                  <a:tcPr/>
                </a:tc>
                <a:tc>
                  <a:txBody>
                    <a:bodyPr/>
                    <a:lstStyle/>
                    <a:p>
                      <a:r>
                        <a:rPr lang="en-IN" sz="1400" dirty="0"/>
                        <a:t>Laptops</a:t>
                      </a:r>
                      <a:r>
                        <a:rPr lang="en-IN" sz="1400" baseline="0" dirty="0"/>
                        <a:t> and desktops</a:t>
                      </a:r>
                      <a:endParaRPr lang="en-IN" sz="1400" dirty="0"/>
                    </a:p>
                  </a:txBody>
                  <a:tcPr/>
                </a:tc>
                <a:tc>
                  <a:txBody>
                    <a:bodyPr/>
                    <a:lstStyle/>
                    <a:p>
                      <a:r>
                        <a:rPr lang="en-IN" sz="1400" dirty="0"/>
                        <a:t>smaller, less critical Mainframe application or servers</a:t>
                      </a:r>
                    </a:p>
                  </a:txBody>
                  <a:tcPr/>
                </a:tc>
                <a:tc>
                  <a:txBody>
                    <a:bodyPr/>
                    <a:lstStyle/>
                    <a:p>
                      <a:r>
                        <a:rPr lang="en-IN" sz="1400" dirty="0"/>
                        <a:t>Heavy</a:t>
                      </a:r>
                      <a:r>
                        <a:rPr lang="en-IN" sz="1400" baseline="0" dirty="0"/>
                        <a:t> </a:t>
                      </a:r>
                      <a:r>
                        <a:rPr lang="en-IN" sz="1400" dirty="0"/>
                        <a:t>Mainframe</a:t>
                      </a:r>
                      <a:r>
                        <a:rPr lang="en-IN" sz="1400" baseline="0" dirty="0"/>
                        <a:t> server</a:t>
                      </a:r>
                      <a:r>
                        <a:rPr lang="en-IN" sz="1400" dirty="0"/>
                        <a:t> applications.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17681375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pSp>
        <p:nvGrpSpPr>
          <p:cNvPr id="3" name="Group 2"/>
          <p:cNvGrpSpPr/>
          <p:nvPr/>
        </p:nvGrpSpPr>
        <p:grpSpPr>
          <a:xfrm>
            <a:off x="897255" y="1508267"/>
            <a:ext cx="9171305" cy="1743428"/>
            <a:chOff x="897255" y="1508267"/>
            <a:chExt cx="9171305" cy="1743428"/>
          </a:xfrm>
        </p:grpSpPr>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When was Unix developed first and by whom? </a:t>
              </a:r>
            </a:p>
          </p:txBody>
        </p:sp>
      </p:grpSp>
      <p:grpSp>
        <p:nvGrpSpPr>
          <p:cNvPr id="7" name="Group 6"/>
          <p:cNvGrpSpPr/>
          <p:nvPr/>
        </p:nvGrpSpPr>
        <p:grpSpPr>
          <a:xfrm>
            <a:off x="897255" y="4038731"/>
            <a:ext cx="10431145" cy="1483360"/>
            <a:chOff x="897255" y="4038731"/>
            <a:chExt cx="10431145" cy="1483360"/>
          </a:xfrm>
        </p:grpSpPr>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1969. Developed by K Thomson, Dennis Ritchie</a:t>
              </a:r>
            </a:p>
            <a:p>
              <a:r>
                <a:rPr lang="en-IN" sz="2800" dirty="0">
                  <a:latin typeface="Berlin Sans FB Demi" panose="020E0802020502020306" pitchFamily="34" charset="0"/>
                </a:rPr>
                <a:t>  </a:t>
              </a:r>
            </a:p>
          </p:txBody>
        </p:sp>
      </p:grpSp>
    </p:spTree>
    <p:extLst>
      <p:ext uri="{BB962C8B-B14F-4D97-AF65-F5344CB8AC3E}">
        <p14:creationId xmlns:p14="http://schemas.microsoft.com/office/powerpoint/2010/main" val="1674630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6</a:t>
            </a:fld>
            <a:endParaRPr lang="en-US" dirty="0">
              <a:solidFill>
                <a:srgbClr val="0E5580"/>
              </a:solidFill>
            </a:endParaRPr>
          </a:p>
        </p:txBody>
      </p:sp>
      <p:sp>
        <p:nvSpPr>
          <p:cNvPr id="8" name="TextBox 7"/>
          <p:cNvSpPr txBox="1"/>
          <p:nvPr/>
        </p:nvSpPr>
        <p:spPr bwMode="gray">
          <a:xfrm>
            <a:off x="650240" y="2316480"/>
            <a:ext cx="7995920" cy="1005840"/>
          </a:xfrm>
          <a:prstGeom prst="rect">
            <a:avLst/>
          </a:prstGeom>
        </p:spPr>
        <p:txBody>
          <a:bodyPr vert="horz" wrap="square" lIns="91440" tIns="45720" rIns="91440" bIns="45720" rtlCol="0" anchor="ctr">
            <a:noAutofit/>
          </a:bodyPr>
          <a:lstStyle/>
          <a:p>
            <a:r>
              <a:rPr lang="en-IN" sz="2000" dirty="0"/>
              <a:t>Why is learning Unix Important ??</a:t>
            </a:r>
          </a:p>
        </p:txBody>
      </p:sp>
      <p:pic>
        <p:nvPicPr>
          <p:cNvPr id="1026" name="Picture 2" descr="http://www.therichdaily.com/wp-content/uploads/2015/06/Start_With_Why.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72479" y="2024504"/>
            <a:ext cx="3627121" cy="2396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491336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Why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3" name="Content Placeholder 2"/>
          <p:cNvSpPr>
            <a:spLocks noGrp="1"/>
          </p:cNvSpPr>
          <p:nvPr>
            <p:ph idx="1"/>
          </p:nvPr>
        </p:nvSpPr>
        <p:spPr>
          <a:xfrm>
            <a:off x="1142119" y="1402996"/>
            <a:ext cx="8761412" cy="4327244"/>
          </a:xfrm>
        </p:spPr>
        <p:txBody>
          <a:bodyPr>
            <a:normAutofit/>
          </a:bodyPr>
          <a:lstStyle/>
          <a:p>
            <a:r>
              <a:rPr lang="en-IN" dirty="0"/>
              <a:t>Unix is </a:t>
            </a:r>
            <a:r>
              <a:rPr lang="en-IN" b="1" dirty="0"/>
              <a:t>secure</a:t>
            </a:r>
            <a:r>
              <a:rPr lang="en-IN" dirty="0"/>
              <a:t> and most tools are </a:t>
            </a:r>
            <a:r>
              <a:rPr lang="en-IN" b="1" dirty="0"/>
              <a:t>free</a:t>
            </a:r>
          </a:p>
          <a:p>
            <a:r>
              <a:rPr lang="en-IN" dirty="0"/>
              <a:t>Configuration is </a:t>
            </a:r>
            <a:r>
              <a:rPr lang="en-IN" b="1" dirty="0"/>
              <a:t>simple</a:t>
            </a:r>
            <a:r>
              <a:rPr lang="en-IN" dirty="0"/>
              <a:t>. Another of Unix's big philosophies is that configuration files should be easy to maintain. </a:t>
            </a:r>
          </a:p>
          <a:p>
            <a:r>
              <a:rPr lang="en-IN" dirty="0"/>
              <a:t>Unix systems are </a:t>
            </a:r>
            <a:r>
              <a:rPr lang="en-IN" b="1" dirty="0"/>
              <a:t>easy to automate</a:t>
            </a:r>
            <a:r>
              <a:rPr lang="en-IN" dirty="0"/>
              <a:t>, and </a:t>
            </a:r>
            <a:r>
              <a:rPr lang="en-IN" b="1" dirty="0"/>
              <a:t>easy to program for</a:t>
            </a:r>
            <a:r>
              <a:rPr lang="en-IN" dirty="0"/>
              <a:t>. </a:t>
            </a:r>
          </a:p>
          <a:p>
            <a:r>
              <a:rPr lang="en-IN" dirty="0"/>
              <a:t>Uptime is much better on a Unix system than a Windows one.</a:t>
            </a:r>
          </a:p>
          <a:p>
            <a:r>
              <a:rPr lang="en-IN" dirty="0"/>
              <a:t>Licensing is simple.</a:t>
            </a:r>
          </a:p>
          <a:p>
            <a:r>
              <a:rPr lang="en-IN" dirty="0"/>
              <a:t>Google says there are around 139,000 results for  an image search for "</a:t>
            </a:r>
            <a:r>
              <a:rPr lang="en-IN" dirty="0" err="1"/>
              <a:t>unix</a:t>
            </a:r>
            <a:r>
              <a:rPr lang="en-IN" dirty="0"/>
              <a:t> family tree" - so describing the history of UNIX is clearly something a LOT of people have put time into.</a:t>
            </a:r>
          </a:p>
          <a:p>
            <a:endParaRPr lang="en-IN" dirty="0"/>
          </a:p>
        </p:txBody>
      </p:sp>
    </p:spTree>
    <p:extLst>
      <p:ext uri="{BB962C8B-B14F-4D97-AF65-F5344CB8AC3E}">
        <p14:creationId xmlns:p14="http://schemas.microsoft.com/office/powerpoint/2010/main" val="387414081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is Everywhere!!!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s://cnet4.cbsistatic.com/hub/i/2011/10/27/a66dfbb7-fdc7-11e2-8c7c-d4ae52e62bcc/android-wallpaper5_2560x1600_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68959" y="4250556"/>
            <a:ext cx="1716405" cy="171368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https://images-na.ssl-images-amazon.com/images/G/01/software/detail-page/B001AMHWP8-1.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18080" y="3857637"/>
            <a:ext cx="2051050" cy="153767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http://twimgs.com/informationweek/galleries/automated/723/01_Hadoop_full.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05426" y="5107396"/>
            <a:ext cx="1316835" cy="97758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https://developer.xamarin.com/recipes/android/fundamentals/intent/launch_the_phone_dialer/Images/02-dialer-activity.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258293" y="1985103"/>
            <a:ext cx="997645" cy="168687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http://www.jvzoohost.com/img/jvZoo-images/solutions-server.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542625" y="1599895"/>
            <a:ext cx="1814580" cy="15398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https://ipsrsolutions.com/library/uploads/2015/07/cloud-computing.png"/>
          <p:cNvPicPr>
            <a:picLocks noChangeAspect="1" noChangeArrowheads="1"/>
          </p:cNvPicPr>
          <p:nvPr/>
        </p:nvPicPr>
        <p:blipFill rotWithShape="1">
          <a:blip r:embed="rId7">
            <a:extLst>
              <a:ext uri="{28A0092B-C50C-407E-A947-70E740481C1C}">
                <a14:useLocalDpi xmlns:a14="http://schemas.microsoft.com/office/drawing/2010/main" val="0"/>
              </a:ext>
            </a:extLst>
          </a:blip>
          <a:srcRect l="470" t="467" r="-470" b="18009"/>
          <a:stretch/>
        </p:blipFill>
        <p:spPr bwMode="auto">
          <a:xfrm>
            <a:off x="8962050" y="2463959"/>
            <a:ext cx="2159426" cy="177276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2" descr="http://www.thelogofactory.com/wp-content/uploads/2015/09/fixed-google-logo-font.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8410075" y="4250556"/>
            <a:ext cx="1103949" cy="36798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6" descr="https://lh3.googleusercontent.com/-c9bKgaRfC3Q/AAAAAAAAAAI/AAAAAAAAJUE/Eo2MLCqyiZs/photo.jp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740547" y="4236720"/>
            <a:ext cx="602431" cy="60243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8" descr="https://www.facebook.com/images/fb_icon_325x325.png"/>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10597073" y="4482916"/>
            <a:ext cx="287118" cy="28711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30" descr="http://www.socialflow.com/wp-content/uploads/2016/04/twitter1.png"/>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910251" y="4060215"/>
            <a:ext cx="400316" cy="400316"/>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32" descr="http://www.nasa.gov/sites/default/files/images/nasaLogo-570x450.png"/>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94697" y="3562182"/>
            <a:ext cx="1348105" cy="106429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36" descr="http://www.7men.nl/wp-content/uploads/2015/12/IBM-banner.jpg"/>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4810637" y="3932771"/>
            <a:ext cx="1116787" cy="446902"/>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38" descr="http://worldartsme.com/images/bullet-train-clipart-1.jpg"/>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4679797" y="1508267"/>
            <a:ext cx="1687556" cy="911135"/>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42" descr="http://www.myrateplan.com/sites/myrateplan.com/files/styles/phone_photo_medium/public/shutterstock_62462044-%5BConverted%5D.png?itok=PfHaIEEh"/>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6887622" y="5062705"/>
            <a:ext cx="1124585" cy="907462"/>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48" descr="http://www.redorbit.com/media/uploads/2013/09/robotics.jp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732883" y="2328858"/>
            <a:ext cx="1827438" cy="12333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759173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pSp>
        <p:nvGrpSpPr>
          <p:cNvPr id="3" name="Group 2"/>
          <p:cNvGrpSpPr/>
          <p:nvPr/>
        </p:nvGrpSpPr>
        <p:grpSpPr>
          <a:xfrm>
            <a:off x="897255" y="1508267"/>
            <a:ext cx="9171305" cy="1743428"/>
            <a:chOff x="897255" y="1508267"/>
            <a:chExt cx="9171305" cy="1743428"/>
          </a:xfrm>
        </p:grpSpPr>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In What Language Unix was written? </a:t>
              </a:r>
            </a:p>
          </p:txBody>
        </p:sp>
      </p:grpSp>
      <p:grpSp>
        <p:nvGrpSpPr>
          <p:cNvPr id="7" name="Group 6"/>
          <p:cNvGrpSpPr/>
          <p:nvPr/>
        </p:nvGrpSpPr>
        <p:grpSpPr>
          <a:xfrm>
            <a:off x="897255" y="4038731"/>
            <a:ext cx="10386863" cy="1483360"/>
            <a:chOff x="897255" y="4038731"/>
            <a:chExt cx="10386863" cy="1483360"/>
          </a:xfrm>
        </p:grpSpPr>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576998"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Written in B first by K. Thomson, then rewritten in C by Dennis Ritchie.</a:t>
              </a:r>
            </a:p>
            <a:p>
              <a:r>
                <a:rPr lang="en-IN" sz="2800" dirty="0">
                  <a:latin typeface="Berlin Sans FB Demi" panose="020E0802020502020306" pitchFamily="34" charset="0"/>
                </a:rPr>
                <a:t>  </a:t>
              </a:r>
            </a:p>
          </p:txBody>
        </p:sp>
      </p:grpSp>
    </p:spTree>
    <p:extLst>
      <p:ext uri="{BB962C8B-B14F-4D97-AF65-F5344CB8AC3E}">
        <p14:creationId xmlns:p14="http://schemas.microsoft.com/office/powerpoint/2010/main" val="27884174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a:t>
            </a:r>
            <a:r>
              <a:rPr lang="en-IN" dirty="0" smtClean="0"/>
              <a:t>   Facts</a:t>
            </a:r>
            <a:endParaRPr lang="en-IN"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729364"/>
          </a:xfrm>
          <a:prstGeom prst="rect">
            <a:avLst/>
          </a:prstGeom>
        </p:spPr>
        <p:txBody>
          <a:bodyPr vert="horz" wrap="square" lIns="91440" tIns="45720" rIns="91440" bIns="45720" rtlCol="0" anchor="ctr">
            <a:noAutofit/>
          </a:bodyPr>
          <a:lstStyle/>
          <a:p>
            <a:r>
              <a:rPr lang="en-IN" sz="2800" dirty="0"/>
              <a:t>For those who think </a:t>
            </a:r>
            <a:r>
              <a:rPr lang="en-IN" sz="2800" b="1" dirty="0" smtClean="0"/>
              <a:t>Unix</a:t>
            </a:r>
            <a:r>
              <a:rPr lang="en-IN" sz="2800" dirty="0" smtClean="0"/>
              <a:t> </a:t>
            </a:r>
            <a:r>
              <a:rPr lang="en-IN" sz="2800" dirty="0"/>
              <a:t>can’t do </a:t>
            </a:r>
            <a:r>
              <a:rPr lang="en-IN" sz="2800" b="1" dirty="0"/>
              <a:t>Animation</a:t>
            </a:r>
            <a:r>
              <a:rPr lang="en-IN" sz="2800" dirty="0"/>
              <a:t> – </a:t>
            </a:r>
            <a:r>
              <a:rPr lang="en-IN" sz="2800" b="1" dirty="0"/>
              <a:t>Oscar</a:t>
            </a:r>
            <a:r>
              <a:rPr lang="en-IN" sz="2800" dirty="0"/>
              <a:t>-winning visual effects of the </a:t>
            </a:r>
            <a:r>
              <a:rPr lang="en-IN" sz="2800" b="1" dirty="0"/>
              <a:t>Titanic</a:t>
            </a:r>
            <a:r>
              <a:rPr lang="en-IN" sz="2800" dirty="0"/>
              <a:t> by </a:t>
            </a:r>
            <a:r>
              <a:rPr lang="en-IN" sz="2800" b="1" dirty="0"/>
              <a:t>James Cameron</a:t>
            </a:r>
            <a:r>
              <a:rPr lang="en-IN" sz="2800" dirty="0"/>
              <a:t> came from machines with </a:t>
            </a:r>
            <a:r>
              <a:rPr lang="en-IN" sz="2800" b="1" dirty="0"/>
              <a:t>Linux</a:t>
            </a:r>
            <a:r>
              <a:rPr lang="en-IN" sz="2800" dirty="0"/>
              <a:t> and </a:t>
            </a:r>
            <a:r>
              <a:rPr lang="en-IN" sz="2800" b="1" dirty="0"/>
              <a:t>Avatar</a:t>
            </a:r>
            <a:r>
              <a:rPr lang="en-IN" sz="2800" dirty="0"/>
              <a:t> was the last movie completely developed in </a:t>
            </a:r>
            <a:r>
              <a:rPr lang="en-IN" sz="2800" b="1" dirty="0"/>
              <a:t>3D Applications</a:t>
            </a:r>
            <a:r>
              <a:rPr lang="en-IN" sz="2800" dirty="0"/>
              <a:t> on </a:t>
            </a:r>
            <a:r>
              <a:rPr lang="en-IN" sz="2800" b="1" dirty="0"/>
              <a:t>Linux</a:t>
            </a:r>
            <a:r>
              <a:rPr lang="en-IN" sz="2800" dirty="0"/>
              <a:t> platform using </a:t>
            </a:r>
            <a:r>
              <a:rPr lang="en-IN" sz="2800" b="1" dirty="0"/>
              <a:t>Foss Software</a:t>
            </a:r>
            <a:r>
              <a:rPr lang="en-IN" sz="2800" dirty="0"/>
              <a:t>. Exclaimed!</a:t>
            </a:r>
            <a:r>
              <a:rPr lang="en-IN" sz="2800" dirty="0">
                <a:latin typeface="Berlin Sans FB Demi" panose="020E0802020502020306" pitchFamily="34" charset="0"/>
              </a:rPr>
              <a:t>  </a:t>
            </a: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pic>
        <p:nvPicPr>
          <p:cNvPr id="8200" name="Picture 8" descr="http://images.allposters.com/images/59/003_titanicrip.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8232" y="3625516"/>
            <a:ext cx="1860071" cy="2688945"/>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8204" name="Picture 12" descr="https://www.overthinkingit.com/wp-content/uploads/2010/01/Avatar-Sucks.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19801" y="4164288"/>
            <a:ext cx="4570346" cy="25723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06901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11</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Intro to Unix</a:t>
            </a:r>
          </a:p>
        </p:txBody>
      </p:sp>
    </p:spTree>
    <p:extLst>
      <p:ext uri="{BB962C8B-B14F-4D97-AF65-F5344CB8AC3E}">
        <p14:creationId xmlns:p14="http://schemas.microsoft.com/office/powerpoint/2010/main" val="2566180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History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 name="Picture 2" descr="http://www.federaljack.com/ebooks/Computers%20-%20Informatin%20Technology/40%20Computer%20Know%20All%20Books%5D/Upgrading%20and%20Repairing%20Networks%20-%20QUE/ch10/10fig01.gif"/>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497744" y="1744933"/>
            <a:ext cx="3143794" cy="4433027"/>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5"/>
          <p:cNvSpPr txBox="1">
            <a:spLocks/>
          </p:cNvSpPr>
          <p:nvPr/>
        </p:nvSpPr>
        <p:spPr>
          <a:xfrm>
            <a:off x="528358" y="1618036"/>
            <a:ext cx="7823164"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dirty="0"/>
              <a:t>Written by Ken Thompson and Dennis Ritchie</a:t>
            </a:r>
          </a:p>
          <a:p>
            <a:r>
              <a:rPr lang="en-IN" dirty="0"/>
              <a:t>Developed at Bell Laboratories, USA derived from Multics(1969)</a:t>
            </a:r>
          </a:p>
          <a:p>
            <a:r>
              <a:rPr lang="en-IN" dirty="0"/>
              <a:t>Firstly developed in ‘B’ then rewritten in ‘C’</a:t>
            </a:r>
          </a:p>
          <a:p>
            <a:r>
              <a:rPr lang="en-IN" dirty="0"/>
              <a:t>Two Flavours</a:t>
            </a:r>
          </a:p>
          <a:p>
            <a:pPr lvl="1"/>
            <a:r>
              <a:rPr lang="en-IN" dirty="0"/>
              <a:t>System V ( Commercial run by AT&amp;T)</a:t>
            </a:r>
          </a:p>
          <a:p>
            <a:pPr lvl="1"/>
            <a:r>
              <a:rPr lang="en-IN" dirty="0"/>
              <a:t>BSD (Educational, run by Bell Labs)</a:t>
            </a:r>
            <a:endParaRPr lang="en-US" dirty="0"/>
          </a:p>
          <a:p>
            <a:r>
              <a:rPr lang="en-US" dirty="0"/>
              <a:t>Recent Development are graphical interface</a:t>
            </a:r>
          </a:p>
          <a:p>
            <a:pPr lvl="1"/>
            <a:r>
              <a:rPr lang="en-US" dirty="0"/>
              <a:t>Motif, X windows, open view </a:t>
            </a:r>
          </a:p>
          <a:p>
            <a:r>
              <a:rPr lang="en-US" dirty="0"/>
              <a:t>Major Suppliers</a:t>
            </a:r>
          </a:p>
          <a:p>
            <a:pPr lvl="1"/>
            <a:r>
              <a:rPr lang="en-US" dirty="0"/>
              <a:t>Sun, IBM, HP, DEC</a:t>
            </a:r>
          </a:p>
          <a:p>
            <a:r>
              <a:rPr lang="en-US" dirty="0"/>
              <a:t>Free and open source Unix System is call Linux</a:t>
            </a:r>
          </a:p>
          <a:p>
            <a:pPr lvl="1"/>
            <a:r>
              <a:rPr lang="en-US" dirty="0"/>
              <a:t>Ubuntu, </a:t>
            </a:r>
            <a:r>
              <a:rPr lang="en-US" dirty="0" err="1"/>
              <a:t>Debian</a:t>
            </a:r>
            <a:r>
              <a:rPr lang="en-US" dirty="0"/>
              <a:t>, CentOS, Fedora, Red hat, </a:t>
            </a:r>
          </a:p>
        </p:txBody>
      </p:sp>
    </p:spTree>
    <p:extLst>
      <p:ext uri="{BB962C8B-B14F-4D97-AF65-F5344CB8AC3E}">
        <p14:creationId xmlns:p14="http://schemas.microsoft.com/office/powerpoint/2010/main" val="265734690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Proprietary Flavours</a:t>
            </a:r>
          </a:p>
          <a:p>
            <a:pPr marL="0" indent="0">
              <a:buNone/>
            </a:pPr>
            <a:endParaRPr lang="en-IN" dirty="0"/>
          </a:p>
          <a:p>
            <a:pPr lvl="1"/>
            <a:r>
              <a:rPr lang="en-IN" dirty="0"/>
              <a:t>AIX - developed by IBM for use on its mainframe computers </a:t>
            </a:r>
          </a:p>
          <a:p>
            <a:pPr lvl="1"/>
            <a:r>
              <a:rPr lang="en-IN" dirty="0"/>
              <a:t>BSD/OS - a commercial version of BSD developed by Wind River for Intel processors </a:t>
            </a:r>
          </a:p>
          <a:p>
            <a:pPr lvl="1"/>
            <a:r>
              <a:rPr lang="en-IN" dirty="0"/>
              <a:t>HP-UX - developed by Hewlett-Packard for its HP 9000 series of business servers </a:t>
            </a:r>
          </a:p>
          <a:p>
            <a:pPr lvl="1"/>
            <a:r>
              <a:rPr lang="en-IN" dirty="0"/>
              <a:t>IRIX - developed by SGI for applications that use 3-D visualization and virtual reality </a:t>
            </a:r>
          </a:p>
          <a:p>
            <a:pPr lvl="1"/>
            <a:r>
              <a:rPr lang="en-IN" dirty="0"/>
              <a:t>QNX - a real time operating system developed by QNX Software Systems primarily for use in embedded systems </a:t>
            </a:r>
          </a:p>
          <a:p>
            <a:pPr lvl="1"/>
            <a:r>
              <a:rPr lang="en-IN" dirty="0"/>
              <a:t>Solaris - developed by Sun Microsystems for the SPARC platform and the most widely used proprietary </a:t>
            </a:r>
            <a:r>
              <a:rPr lang="en-IN" dirty="0" err="1"/>
              <a:t>flavor</a:t>
            </a:r>
            <a:r>
              <a:rPr lang="en-IN" dirty="0"/>
              <a:t> for web servers </a:t>
            </a:r>
          </a:p>
          <a:p>
            <a:pPr lvl="1"/>
            <a:r>
              <a:rPr lang="en-IN" dirty="0"/>
              <a:t>Tru64 - developed by Compaq for the Alpha processor </a:t>
            </a:r>
          </a:p>
          <a:p>
            <a:pPr lvl="1"/>
            <a:endParaRPr lang="en-US" dirty="0"/>
          </a:p>
        </p:txBody>
      </p:sp>
    </p:spTree>
    <p:extLst>
      <p:ext uri="{BB962C8B-B14F-4D97-AF65-F5344CB8AC3E}">
        <p14:creationId xmlns:p14="http://schemas.microsoft.com/office/powerpoint/2010/main" val="39350389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Flavours of Unix </a:t>
            </a:r>
            <a:r>
              <a:rPr lang="en-IN" dirty="0" err="1"/>
              <a:t>contd</a:t>
            </a:r>
            <a:r>
              <a:rPr lang="en-IN"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8" name="Content Placeholder 5"/>
          <p:cNvSpPr txBox="1">
            <a:spLocks/>
          </p:cNvSpPr>
          <p:nvPr/>
        </p:nvSpPr>
        <p:spPr>
          <a:xfrm>
            <a:off x="528357" y="1618036"/>
            <a:ext cx="11113179" cy="487855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a:lstStyle>
          <a:p>
            <a:r>
              <a:rPr lang="en-IN" b="1" dirty="0"/>
              <a:t>Open Source Flavours</a:t>
            </a:r>
          </a:p>
          <a:p>
            <a:pPr marL="0" indent="0">
              <a:buNone/>
            </a:pPr>
            <a:endParaRPr lang="en-IN" dirty="0"/>
          </a:p>
          <a:p>
            <a:pPr lvl="1"/>
            <a:r>
              <a:rPr lang="en-IN" dirty="0">
                <a:hlinkClick r:id="rId2"/>
              </a:rPr>
              <a:t>Linux</a:t>
            </a:r>
            <a:r>
              <a:rPr lang="en-IN" dirty="0"/>
              <a:t> - the most popular and fastest growing of all the Unix-like operating systems </a:t>
            </a:r>
          </a:p>
          <a:p>
            <a:pPr lvl="1"/>
            <a:r>
              <a:rPr lang="en-IN" dirty="0"/>
              <a:t>FreeBSD - the most popular of the BSD systems (all of which are direct descendants of BSD UNIX, which was developed at the University of California at Berkeley) </a:t>
            </a:r>
          </a:p>
          <a:p>
            <a:pPr lvl="1"/>
            <a:r>
              <a:rPr lang="en-IN" dirty="0" err="1"/>
              <a:t>NetBSD</a:t>
            </a:r>
            <a:r>
              <a:rPr lang="en-IN" dirty="0"/>
              <a:t> - features the ability to run on more than 50 platforms, ranging from acorn26 to x68k </a:t>
            </a:r>
          </a:p>
          <a:p>
            <a:pPr lvl="1"/>
            <a:r>
              <a:rPr lang="en-IN" dirty="0" err="1"/>
              <a:t>OpenBSD</a:t>
            </a:r>
            <a:r>
              <a:rPr lang="en-IN" dirty="0"/>
              <a:t> - may have already attained its goal of becoming the most secure of all computer operating systems </a:t>
            </a:r>
          </a:p>
          <a:p>
            <a:pPr lvl="1"/>
            <a:r>
              <a:rPr lang="en-IN" dirty="0"/>
              <a:t>Darwin - the new version of BSD that serves as the core for the Mac OS X </a:t>
            </a:r>
          </a:p>
          <a:p>
            <a:pPr lvl="1"/>
            <a:endParaRPr lang="en-US" dirty="0"/>
          </a:p>
        </p:txBody>
      </p:sp>
    </p:spTree>
    <p:extLst>
      <p:ext uri="{BB962C8B-B14F-4D97-AF65-F5344CB8AC3E}">
        <p14:creationId xmlns:p14="http://schemas.microsoft.com/office/powerpoint/2010/main" val="26087393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is named after whom?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Kernel</a:t>
            </a:r>
            <a:r>
              <a:rPr lang="en-IN" sz="2800" dirty="0">
                <a:latin typeface="Andalus" panose="02020603050405020304" pitchFamily="18" charset="-78"/>
                <a:cs typeface="Andalus" panose="02020603050405020304" pitchFamily="18" charset="-78"/>
              </a:rPr>
              <a:t> was written by a </a:t>
            </a:r>
            <a:r>
              <a:rPr lang="en-IN" sz="2800" b="1" dirty="0">
                <a:latin typeface="Andalus" panose="02020603050405020304" pitchFamily="18" charset="-78"/>
                <a:cs typeface="Andalus" panose="02020603050405020304" pitchFamily="18" charset="-78"/>
              </a:rPr>
              <a:t>21</a:t>
            </a:r>
            <a:r>
              <a:rPr lang="en-IN" sz="2800" dirty="0">
                <a:latin typeface="Andalus" panose="02020603050405020304" pitchFamily="18" charset="-78"/>
                <a:cs typeface="Andalus" panose="02020603050405020304" pitchFamily="18" charset="-78"/>
              </a:rPr>
              <a:t> year </a:t>
            </a:r>
            <a:r>
              <a:rPr lang="en-IN" sz="2800" dirty="0" smtClean="0">
                <a:latin typeface="Andalus" panose="02020603050405020304" pitchFamily="18" charset="-78"/>
                <a:cs typeface="Andalus" panose="02020603050405020304" pitchFamily="18" charset="-78"/>
              </a:rPr>
              <a:t>finishing </a:t>
            </a:r>
            <a:r>
              <a:rPr lang="en-IN" sz="2800" dirty="0">
                <a:latin typeface="Andalus" panose="02020603050405020304" pitchFamily="18" charset="-78"/>
                <a:cs typeface="Andalus" panose="02020603050405020304" pitchFamily="18" charset="-78"/>
              </a:rPr>
              <a:t>college student as a part of his hobby. Yup! His name is </a:t>
            </a:r>
            <a:r>
              <a:rPr lang="en-IN" sz="2800" b="1" dirty="0">
                <a:latin typeface="Andalus" panose="02020603050405020304" pitchFamily="18" charset="-78"/>
                <a:cs typeface="Andalus" panose="02020603050405020304" pitchFamily="18" charset="-78"/>
              </a:rPr>
              <a:t>Linus Torvalds</a:t>
            </a:r>
            <a:r>
              <a:rPr lang="en-IN" sz="2800" dirty="0">
                <a:latin typeface="Andalus" panose="02020603050405020304" pitchFamily="18" charset="-78"/>
                <a:cs typeface="Andalus" panose="02020603050405020304" pitchFamily="18" charset="-78"/>
              </a:rPr>
              <a:t>.</a:t>
            </a:r>
          </a:p>
        </p:txBody>
      </p:sp>
    </p:spTree>
    <p:extLst>
      <p:ext uri="{BB962C8B-B14F-4D97-AF65-F5344CB8AC3E}">
        <p14:creationId xmlns:p14="http://schemas.microsoft.com/office/powerpoint/2010/main" val="167063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smtClean="0"/>
              <a:t>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b="1" dirty="0"/>
              <a:t>90%</a:t>
            </a:r>
            <a:r>
              <a:rPr lang="en-IN" sz="2800" dirty="0"/>
              <a:t> of the world’s most powerful supercomputers are using </a:t>
            </a:r>
            <a:r>
              <a:rPr lang="en-IN" sz="2800" b="1" dirty="0"/>
              <a:t>GNU/Linux</a:t>
            </a:r>
            <a:r>
              <a:rPr lang="en-IN" sz="2800" dirty="0"/>
              <a:t>. Top ten of supercomputers use </a:t>
            </a:r>
            <a:r>
              <a:rPr lang="en-IN" sz="2800" b="1" dirty="0"/>
              <a:t>Linux</a:t>
            </a:r>
            <a:r>
              <a:rPr lang="en-IN" sz="2800" dirty="0"/>
              <a:t>. </a:t>
            </a:r>
            <a:r>
              <a:rPr lang="en-IN" sz="2800" b="1" dirty="0"/>
              <a:t>33.8%</a:t>
            </a:r>
            <a:r>
              <a:rPr lang="en-IN" sz="2800" dirty="0"/>
              <a:t> of the world runs on </a:t>
            </a:r>
            <a:r>
              <a:rPr lang="en-IN" sz="2800" b="1" dirty="0"/>
              <a:t>Linux</a:t>
            </a:r>
            <a:r>
              <a:rPr lang="en-IN" sz="2800" dirty="0"/>
              <a:t> servers compared to </a:t>
            </a:r>
            <a:r>
              <a:rPr lang="en-IN" sz="2800" b="1" dirty="0"/>
              <a:t>7.3%</a:t>
            </a:r>
            <a:r>
              <a:rPr lang="en-IN" sz="2800" dirty="0"/>
              <a:t> running </a:t>
            </a:r>
            <a:r>
              <a:rPr lang="en-IN" sz="2800" b="1" dirty="0"/>
              <a:t>Microsoft Windows</a:t>
            </a:r>
            <a:r>
              <a:rPr lang="en-IN" sz="2800" dirty="0"/>
              <a:t> operating system.</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9458" name="Picture 2" descr="http://www.cray.com/sites/default/files/images/marquee_images/products_xc_40_photo_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8240" y="3439622"/>
            <a:ext cx="6761040" cy="3156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8774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System Architecture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785811" cy="3697112"/>
          </a:xfrm>
        </p:spPr>
        <p:txBody>
          <a:bodyPr>
            <a:normAutofit/>
          </a:bodyPr>
          <a:lstStyle/>
          <a:p>
            <a:r>
              <a:rPr lang="en-US" dirty="0"/>
              <a:t>The hardware at the center of the diagram provides the operating system with basic services.</a:t>
            </a:r>
          </a:p>
          <a:p>
            <a:r>
              <a:rPr lang="en-US" dirty="0"/>
              <a:t>Basic Unix Components:</a:t>
            </a:r>
          </a:p>
          <a:p>
            <a:pPr lvl="1"/>
            <a:r>
              <a:rPr lang="en-US" b="1" dirty="0"/>
              <a:t>Kernel</a:t>
            </a:r>
            <a:r>
              <a:rPr lang="en-US" dirty="0"/>
              <a:t> – directly talks</a:t>
            </a:r>
          </a:p>
          <a:p>
            <a:pPr lvl="1"/>
            <a:r>
              <a:rPr lang="en-US" b="1" dirty="0"/>
              <a:t>Shell </a:t>
            </a:r>
            <a:r>
              <a:rPr lang="en-US" dirty="0"/>
              <a:t>- acts as a bridge between kernel and users</a:t>
            </a:r>
          </a:p>
          <a:p>
            <a:pPr lvl="1"/>
            <a:r>
              <a:rPr lang="en-IN" b="1" dirty="0"/>
              <a:t>Utilities</a:t>
            </a:r>
            <a:r>
              <a:rPr lang="en-IN" dirty="0"/>
              <a:t> - UNIX provides several hundred utility programs, often referred to as commands.</a:t>
            </a:r>
            <a:endParaRPr lang="en-US" dirty="0"/>
          </a:p>
          <a:p>
            <a:r>
              <a:rPr lang="en-US" dirty="0"/>
              <a:t>The user programs are independent of the underlying hardware</a:t>
            </a:r>
          </a:p>
        </p:txBody>
      </p:sp>
      <p:pic>
        <p:nvPicPr>
          <p:cNvPr id="10" name="Picture 2" descr="http://designshopbb.com/Scripts/unix-architecture-layers-i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0418" y="2188987"/>
            <a:ext cx="4711582" cy="33075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86289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7447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What are biggest Linux distributors?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Linux Mint followed by </a:t>
            </a:r>
            <a:r>
              <a:rPr lang="en-IN" sz="2800" b="1" dirty="0" err="1">
                <a:latin typeface="Andalus" panose="02020603050405020304" pitchFamily="18" charset="-78"/>
                <a:cs typeface="Andalus" panose="02020603050405020304" pitchFamily="18" charset="-78"/>
              </a:rPr>
              <a:t>Debian</a:t>
            </a:r>
            <a:r>
              <a:rPr lang="en-IN" sz="2800" b="1" dirty="0">
                <a:latin typeface="Andalus" panose="02020603050405020304" pitchFamily="18" charset="-78"/>
                <a:cs typeface="Andalus" panose="02020603050405020304" pitchFamily="18" charset="-78"/>
              </a:rPr>
              <a:t> and Ubuntu</a:t>
            </a: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608405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17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smtClean="0"/>
              <a:t>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19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r>
              <a:rPr lang="en-IN" sz="2800" dirty="0"/>
              <a:t>Believe it or not – In </a:t>
            </a:r>
            <a:r>
              <a:rPr lang="en-IN" sz="2800" b="1" dirty="0"/>
              <a:t>2002</a:t>
            </a:r>
            <a:r>
              <a:rPr lang="en-IN" sz="2800" dirty="0"/>
              <a:t>, </a:t>
            </a:r>
            <a:r>
              <a:rPr lang="en-IN" sz="2800" b="1" dirty="0"/>
              <a:t>Microsoft</a:t>
            </a:r>
            <a:r>
              <a:rPr lang="en-IN" sz="2800" dirty="0"/>
              <a:t> had accumulated a </a:t>
            </a:r>
            <a:r>
              <a:rPr lang="en-IN" sz="2800" b="1" dirty="0"/>
              <a:t>$ 421</a:t>
            </a:r>
            <a:r>
              <a:rPr lang="en-IN" sz="2800" dirty="0"/>
              <a:t> million cost of fighting the spread of </a:t>
            </a:r>
            <a:r>
              <a:rPr lang="en-IN" sz="2800" b="1" dirty="0"/>
              <a:t>Linux</a:t>
            </a:r>
            <a:r>
              <a:rPr lang="en-IN" sz="2800" dirty="0"/>
              <a:t>, according to </a:t>
            </a:r>
            <a:r>
              <a:rPr lang="en-IN" sz="2800" b="1" dirty="0"/>
              <a:t>The Register</a:t>
            </a:r>
            <a:r>
              <a:rPr lang="en-IN" sz="2800" dirty="0"/>
              <a:t>.</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2" name="Picture 2" descr="(Image: Openclips via Pixaba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60358" y="3486966"/>
            <a:ext cx="3981179" cy="2686685"/>
          </a:xfrm>
          <a:prstGeom prst="rect">
            <a:avLst/>
          </a:prstGeom>
          <a:noFill/>
          <a:extLst>
            <a:ext uri="{909E8E84-426E-40DD-AFC4-6F175D3DCCD1}">
              <a14:hiddenFill xmlns:a14="http://schemas.microsoft.com/office/drawing/2010/main">
                <a:solidFill>
                  <a:srgbClr val="FFFFFF"/>
                </a:solidFill>
              </a14:hiddenFill>
            </a:ext>
          </a:extLst>
        </p:spPr>
      </p:pic>
      <p:pic>
        <p:nvPicPr>
          <p:cNvPr id="20484" name="Picture 4" descr="http://realcomputers.net/wp-content/uploads/2015/02/Microsoft_0.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74528" y="3964515"/>
            <a:ext cx="3325285" cy="18664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892143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Kernel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1067869" y="1799448"/>
            <a:ext cx="6038325" cy="3416300"/>
          </a:xfrm>
        </p:spPr>
        <p:txBody>
          <a:bodyPr/>
          <a:lstStyle/>
          <a:p>
            <a:r>
              <a:rPr lang="en-IN" dirty="0"/>
              <a:t>The </a:t>
            </a:r>
            <a:r>
              <a:rPr lang="en-IN" b="1" dirty="0"/>
              <a:t>kernel</a:t>
            </a:r>
            <a:r>
              <a:rPr lang="en-IN" dirty="0"/>
              <a:t> is a </a:t>
            </a:r>
            <a:r>
              <a:rPr lang="en-IN" dirty="0">
                <a:hlinkClick r:id="rId3" tooltip="Computer program"/>
              </a:rPr>
              <a:t>computer program</a:t>
            </a:r>
            <a:r>
              <a:rPr lang="en-IN" dirty="0"/>
              <a:t> that constitutes the central core of a computer's operating system. It has complete control over everything that occurs in the system.</a:t>
            </a:r>
          </a:p>
          <a:p>
            <a:r>
              <a:rPr lang="en-IN" dirty="0"/>
              <a:t> It is the first program loaded on start-up, and then manages the remainder of the start-up</a:t>
            </a:r>
            <a:endParaRPr lang="en-US" dirty="0"/>
          </a:p>
        </p:txBody>
      </p:sp>
      <p:pic>
        <p:nvPicPr>
          <p:cNvPr id="1028" name="Picture 4" descr="https://blog.digilentinc.com/wp-content/uploads/2015/05/1280px-Kernel_Layout.svg_.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020151" y="1993833"/>
            <a:ext cx="1967388" cy="15554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639289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6" name="Content Placeholder 5"/>
          <p:cNvSpPr>
            <a:spLocks noGrp="1"/>
          </p:cNvSpPr>
          <p:nvPr>
            <p:ph idx="1"/>
          </p:nvPr>
        </p:nvSpPr>
        <p:spPr>
          <a:xfrm>
            <a:off x="792481" y="1593669"/>
            <a:ext cx="6453050" cy="4450079"/>
          </a:xfrm>
        </p:spPr>
        <p:txBody>
          <a:bodyPr/>
          <a:lstStyle/>
          <a:p>
            <a:r>
              <a:rPr lang="en-IN" dirty="0"/>
              <a:t>The </a:t>
            </a:r>
            <a:r>
              <a:rPr lang="en-IN" b="1" dirty="0"/>
              <a:t>shell</a:t>
            </a:r>
            <a:r>
              <a:rPr lang="en-IN" dirty="0"/>
              <a:t> is a program that takes your commands from the keyboard and gives them to the operating system to perform.</a:t>
            </a:r>
          </a:p>
          <a:p>
            <a:r>
              <a:rPr lang="en-IN" b="1" dirty="0"/>
              <a:t>Shell</a:t>
            </a:r>
            <a:r>
              <a:rPr lang="en-IN" dirty="0"/>
              <a:t> is a </a:t>
            </a:r>
            <a:r>
              <a:rPr lang="en-IN" b="1" dirty="0"/>
              <a:t>UNIX</a:t>
            </a:r>
            <a:r>
              <a:rPr lang="en-IN" dirty="0"/>
              <a:t> term for the interactive user interface with an operating system also known as command line interface(CLI) </a:t>
            </a:r>
          </a:p>
          <a:p>
            <a:r>
              <a:rPr lang="en-IN" dirty="0"/>
              <a:t>The following is a list of commonly used shell programs:</a:t>
            </a:r>
          </a:p>
          <a:p>
            <a:pPr lvl="1"/>
            <a:r>
              <a:rPr lang="en-IN" dirty="0"/>
              <a:t>The Bourne Shell (</a:t>
            </a:r>
            <a:r>
              <a:rPr lang="en-IN" dirty="0" err="1"/>
              <a:t>sh</a:t>
            </a:r>
            <a:r>
              <a:rPr lang="en-IN" dirty="0"/>
              <a:t>)</a:t>
            </a:r>
          </a:p>
          <a:p>
            <a:pPr lvl="1"/>
            <a:r>
              <a:rPr lang="en-IN" dirty="0"/>
              <a:t>The C Shell (</a:t>
            </a:r>
            <a:r>
              <a:rPr lang="en-IN" dirty="0" err="1"/>
              <a:t>csh</a:t>
            </a:r>
            <a:r>
              <a:rPr lang="en-IN" dirty="0"/>
              <a:t>)</a:t>
            </a:r>
          </a:p>
          <a:p>
            <a:pPr lvl="1"/>
            <a:r>
              <a:rPr lang="en-IN" dirty="0"/>
              <a:t>The Bourne Again Shell (bash)</a:t>
            </a:r>
          </a:p>
          <a:p>
            <a:pPr lvl="1"/>
            <a:r>
              <a:rPr lang="en-IN" dirty="0"/>
              <a:t>The </a:t>
            </a:r>
            <a:r>
              <a:rPr lang="en-IN" dirty="0" err="1"/>
              <a:t>Korn</a:t>
            </a:r>
            <a:r>
              <a:rPr lang="en-IN" dirty="0"/>
              <a:t> Shell (</a:t>
            </a:r>
            <a:r>
              <a:rPr lang="en-IN" dirty="0" err="1"/>
              <a:t>ksh</a:t>
            </a:r>
            <a:r>
              <a:rPr lang="en-IN" dirty="0"/>
              <a:t>)</a:t>
            </a:r>
            <a:endParaRPr lang="en-US" dirty="0"/>
          </a:p>
        </p:txBody>
      </p:sp>
      <p:pic>
        <p:nvPicPr>
          <p:cNvPr id="2052" name="Picture 4" descr="http://www.computerandyou.net/wp-content/uploads/2012/01/Terminal-icon-shell-linux-unix.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25107" y="1310049"/>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89796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Shell Comparison</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13" name="Content Placeholder 12"/>
          <p:cNvGraphicFramePr>
            <a:graphicFrameLocks noGrp="1"/>
          </p:cNvGraphicFramePr>
          <p:nvPr>
            <p:ph idx="1"/>
            <p:extLst>
              <p:ext uri="{D42A27DB-BD31-4B8C-83A1-F6EECF244321}">
                <p14:modId xmlns:p14="http://schemas.microsoft.com/office/powerpoint/2010/main" val="1488770115"/>
              </p:ext>
            </p:extLst>
          </p:nvPr>
        </p:nvGraphicFramePr>
        <p:xfrm>
          <a:off x="629986" y="1727198"/>
          <a:ext cx="11011552" cy="4358640"/>
        </p:xfrm>
        <a:graphic>
          <a:graphicData uri="http://schemas.openxmlformats.org/drawingml/2006/table">
            <a:tbl>
              <a:tblPr>
                <a:tableStyleId>{00A15C55-8517-42AA-B614-E9B94910E393}</a:tableStyleId>
              </a:tblPr>
              <a:tblGrid>
                <a:gridCol w="4926340">
                  <a:extLst>
                    <a:ext uri="{9D8B030D-6E8A-4147-A177-3AD203B41FA5}">
                      <a16:colId xmlns:a16="http://schemas.microsoft.com/office/drawing/2014/main" xmlns="" val="20000"/>
                    </a:ext>
                  </a:extLst>
                </a:gridCol>
                <a:gridCol w="1521303">
                  <a:extLst>
                    <a:ext uri="{9D8B030D-6E8A-4147-A177-3AD203B41FA5}">
                      <a16:colId xmlns:a16="http://schemas.microsoft.com/office/drawing/2014/main" xmlns="" val="20001"/>
                    </a:ext>
                  </a:extLst>
                </a:gridCol>
                <a:gridCol w="1521303">
                  <a:extLst>
                    <a:ext uri="{9D8B030D-6E8A-4147-A177-3AD203B41FA5}">
                      <a16:colId xmlns:a16="http://schemas.microsoft.com/office/drawing/2014/main" xmlns="" val="20002"/>
                    </a:ext>
                  </a:extLst>
                </a:gridCol>
                <a:gridCol w="1521303">
                  <a:extLst>
                    <a:ext uri="{9D8B030D-6E8A-4147-A177-3AD203B41FA5}">
                      <a16:colId xmlns:a16="http://schemas.microsoft.com/office/drawing/2014/main" xmlns="" val="20003"/>
                    </a:ext>
                  </a:extLst>
                </a:gridCol>
                <a:gridCol w="1521303">
                  <a:extLst>
                    <a:ext uri="{9D8B030D-6E8A-4147-A177-3AD203B41FA5}">
                      <a16:colId xmlns:a16="http://schemas.microsoft.com/office/drawing/2014/main" xmlns="" val="20004"/>
                    </a:ext>
                  </a:extLst>
                </a:gridCol>
              </a:tblGrid>
              <a:tr h="335280">
                <a:tc>
                  <a:txBody>
                    <a:bodyPr/>
                    <a:lstStyle/>
                    <a:p>
                      <a:pPr algn="l" fontAlgn="b"/>
                      <a:r>
                        <a:rPr lang="en-IN" sz="1600" b="1" u="none" strike="noStrike" dirty="0">
                          <a:effectLst/>
                        </a:rPr>
                        <a:t>Shell Features</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err="1">
                          <a:effectLst/>
                        </a:rPr>
                        <a:t>sh</a:t>
                      </a:r>
                      <a:r>
                        <a:rPr lang="en-IN" sz="1600" b="1" u="none" strike="noStrike" dirty="0">
                          <a:effectLst/>
                        </a:rPr>
                        <a:t>   </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a:effectLst/>
                        </a:rPr>
                        <a:t>csh  </a:t>
                      </a:r>
                      <a:endParaRPr lang="en-IN" sz="1600" b="1" i="0" u="none" strike="noStrike">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err="1">
                          <a:effectLst/>
                        </a:rPr>
                        <a:t>ksh</a:t>
                      </a:r>
                      <a:r>
                        <a:rPr lang="en-IN" sz="1600" b="1" u="none" strike="noStrike" dirty="0">
                          <a:effectLst/>
                        </a:rPr>
                        <a:t>  </a:t>
                      </a:r>
                      <a:endParaRPr lang="en-IN" sz="1600" b="1" i="0" u="none" strike="noStrike" dirty="0">
                        <a:solidFill>
                          <a:srgbClr val="FFFFFF"/>
                        </a:solidFill>
                        <a:effectLst/>
                        <a:latin typeface="Calibri" panose="020F0502020204030204" pitchFamily="34" charset="0"/>
                      </a:endParaRPr>
                    </a:p>
                  </a:txBody>
                  <a:tcPr marL="9525" marR="9525" marT="9525" marB="0" anchor="b"/>
                </a:tc>
                <a:tc>
                  <a:txBody>
                    <a:bodyPr/>
                    <a:lstStyle/>
                    <a:p>
                      <a:pPr algn="ctr" fontAlgn="b"/>
                      <a:r>
                        <a:rPr lang="en-IN" sz="1600" b="1" u="none" strike="noStrike" dirty="0">
                          <a:effectLst/>
                        </a:rPr>
                        <a:t>bash </a:t>
                      </a:r>
                      <a:endParaRPr lang="en-IN" sz="1600" b="1" i="0" u="none" strike="noStrike" dirty="0">
                        <a:solidFill>
                          <a:srgbClr val="FFFFFF"/>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0"/>
                  </a:ext>
                </a:extLst>
              </a:tr>
              <a:tr h="335280">
                <a:tc>
                  <a:txBody>
                    <a:bodyPr/>
                    <a:lstStyle/>
                    <a:p>
                      <a:pPr algn="l" fontAlgn="b"/>
                      <a:r>
                        <a:rPr lang="en-IN" sz="1100" u="none" strike="noStrike" dirty="0">
                          <a:effectLst/>
                        </a:rPr>
                        <a:t>Job control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1"/>
                  </a:ext>
                </a:extLst>
              </a:tr>
              <a:tr h="335280">
                <a:tc>
                  <a:txBody>
                    <a:bodyPr/>
                    <a:lstStyle/>
                    <a:p>
                      <a:pPr algn="l" fontAlgn="b"/>
                      <a:r>
                        <a:rPr lang="en-IN" sz="1100" u="none" strike="noStrike">
                          <a:effectLst/>
                        </a:rPr>
                        <a:t>Aliases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2"/>
                  </a:ext>
                </a:extLst>
              </a:tr>
              <a:tr h="335280">
                <a:tc>
                  <a:txBody>
                    <a:bodyPr/>
                    <a:lstStyle/>
                    <a:p>
                      <a:pPr algn="l" fontAlgn="b"/>
                      <a:r>
                        <a:rPr lang="en-IN" sz="1100" u="none" strike="noStrike" dirty="0">
                          <a:effectLst/>
                        </a:rPr>
                        <a:t>Shell functions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3"/>
                  </a:ext>
                </a:extLst>
              </a:tr>
              <a:tr h="335280">
                <a:tc>
                  <a:txBody>
                    <a:bodyPr/>
                    <a:lstStyle/>
                    <a:p>
                      <a:pPr algn="l" fontAlgn="b"/>
                      <a:r>
                        <a:rPr lang="en-IN" sz="1100" u="none" strike="noStrike">
                          <a:effectLst/>
                        </a:rPr>
                        <a:t>Command history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4"/>
                  </a:ext>
                </a:extLst>
              </a:tr>
              <a:tr h="335280">
                <a:tc>
                  <a:txBody>
                    <a:bodyPr/>
                    <a:lstStyle/>
                    <a:p>
                      <a:pPr algn="l" fontAlgn="b"/>
                      <a:r>
                        <a:rPr lang="en-IN" sz="1100" u="none" strike="noStrike" dirty="0">
                          <a:effectLst/>
                        </a:rPr>
                        <a:t>Vi Command line editing             </a:t>
                      </a:r>
                      <a:endParaRPr lang="en-IN" sz="1100" b="0" i="0" u="none" strike="noStrike" dirty="0">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5"/>
                  </a:ext>
                </a:extLst>
              </a:tr>
              <a:tr h="335280">
                <a:tc>
                  <a:txBody>
                    <a:bodyPr/>
                    <a:lstStyle/>
                    <a:p>
                      <a:pPr algn="l" fontAlgn="b"/>
                      <a:r>
                        <a:rPr lang="en-IN" sz="1100" u="none" strike="noStrike">
                          <a:effectLst/>
                        </a:rPr>
                        <a:t>User name look up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6"/>
                  </a:ext>
                </a:extLst>
              </a:tr>
              <a:tr h="335280">
                <a:tc>
                  <a:txBody>
                    <a:bodyPr/>
                    <a:lstStyle/>
                    <a:p>
                      <a:pPr algn="l" fontAlgn="b"/>
                      <a:r>
                        <a:rPr lang="en-IN" sz="1100" u="none" strike="noStrike">
                          <a:effectLst/>
                        </a:rPr>
                        <a:t>Builtin artithmetic evaluation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7"/>
                  </a:ext>
                </a:extLst>
              </a:tr>
              <a:tr h="335280">
                <a:tc>
                  <a:txBody>
                    <a:bodyPr/>
                    <a:lstStyle/>
                    <a:p>
                      <a:pPr algn="l" fontAlgn="b"/>
                      <a:r>
                        <a:rPr lang="en-IN" sz="1100" u="none" strike="noStrike">
                          <a:effectLst/>
                        </a:rPr>
                        <a:t>Process Substitution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8"/>
                  </a:ext>
                </a:extLst>
              </a:tr>
              <a:tr h="335280">
                <a:tc>
                  <a:txBody>
                    <a:bodyPr/>
                    <a:lstStyle/>
                    <a:p>
                      <a:pPr algn="l" fontAlgn="b"/>
                      <a:r>
                        <a:rPr lang="en-IN" sz="1100" u="none" strike="noStrike">
                          <a:effectLst/>
                        </a:rPr>
                        <a:t>Freely Available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09"/>
                  </a:ext>
                </a:extLst>
              </a:tr>
              <a:tr h="335280">
                <a:tc>
                  <a:txBody>
                    <a:bodyPr/>
                    <a:lstStyle/>
                    <a:p>
                      <a:pPr algn="l" fontAlgn="b"/>
                      <a:r>
                        <a:rPr lang="en-IN" sz="1100" u="none" strike="noStrike">
                          <a:effectLst/>
                        </a:rPr>
                        <a:t>Can cope with large argument lists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0"/>
                  </a:ext>
                </a:extLst>
              </a:tr>
              <a:tr h="335280">
                <a:tc>
                  <a:txBody>
                    <a:bodyPr/>
                    <a:lstStyle/>
                    <a:p>
                      <a:pPr algn="l" fontAlgn="b"/>
                      <a:r>
                        <a:rPr lang="en-IN" sz="1100" u="none" strike="noStrike">
                          <a:effectLst/>
                        </a:rPr>
                        <a:t>Can specify startup file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1"/>
                  </a:ext>
                </a:extLst>
              </a:tr>
              <a:tr h="335280">
                <a:tc>
                  <a:txBody>
                    <a:bodyPr/>
                    <a:lstStyle/>
                    <a:p>
                      <a:pPr algn="l" fontAlgn="b"/>
                      <a:r>
                        <a:rPr lang="en-IN" sz="1100" u="none" strike="noStrike">
                          <a:effectLst/>
                        </a:rPr>
                        <a:t>Local variables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N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a:effectLst/>
                        </a:rPr>
                        <a:t> Y   </a:t>
                      </a:r>
                      <a:endParaRPr lang="en-IN" sz="11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100" u="none" strike="noStrike" dirty="0">
                          <a:effectLst/>
                        </a:rPr>
                        <a:t> Y   </a:t>
                      </a:r>
                      <a:endParaRPr lang="en-IN" sz="11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414447725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Unix File System</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IN" dirty="0"/>
              <a:t>Everything in UNIX is either a file or a process. </a:t>
            </a:r>
          </a:p>
          <a:p>
            <a:pPr lvl="1"/>
            <a:r>
              <a:rPr lang="en-IN" dirty="0"/>
              <a:t>A process is an executing program identified by a unique PID</a:t>
            </a:r>
          </a:p>
          <a:p>
            <a:pPr lvl="1"/>
            <a:r>
              <a:rPr lang="en-IN" dirty="0"/>
              <a:t>A file is a collection of data. They are created by users using text editors, running compilers etc. (Directory is also a file)</a:t>
            </a:r>
          </a:p>
          <a:p>
            <a:r>
              <a:rPr lang="en-IN" dirty="0"/>
              <a:t>All the files are grouped together in the directory </a:t>
            </a:r>
            <a:r>
              <a:rPr lang="en-US" dirty="0"/>
              <a:t>Structure</a:t>
            </a:r>
          </a:p>
          <a:p>
            <a:r>
              <a:rPr lang="en-IN" dirty="0"/>
              <a:t>The top of the hierarchy is traditionally </a:t>
            </a:r>
            <a:r>
              <a:rPr lang="en-IN"/>
              <a:t>called </a:t>
            </a:r>
            <a:r>
              <a:rPr lang="en-IN" b="1"/>
              <a:t>root.</a:t>
            </a:r>
          </a:p>
          <a:p>
            <a:endParaRPr lang="en-US" dirty="0"/>
          </a:p>
          <a:p>
            <a:pPr marL="0" indent="0">
              <a:buNone/>
            </a:pPr>
            <a:endParaRPr lang="en-IN" dirty="0"/>
          </a:p>
        </p:txBody>
      </p:sp>
      <p:pic>
        <p:nvPicPr>
          <p:cNvPr id="3074" name="Picture 2" descr="http://www.ee.surrey.ac.uk/Teaching/Unix/media/unix-tre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54849" y="3559809"/>
            <a:ext cx="5334000" cy="30099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13945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smtClean="0"/>
              <a:t>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629984" y="1263725"/>
            <a:ext cx="10698416" cy="2052042"/>
          </a:xfrm>
          <a:prstGeom prst="rect">
            <a:avLst/>
          </a:prstGeom>
          <a:noFill/>
        </p:spPr>
        <p:txBody>
          <a:bodyPr vert="horz" wrap="square" lIns="91440" tIns="45720" rIns="91440" bIns="45720" rtlCol="0" anchor="ctr">
            <a:noAutofit/>
          </a:bodyPr>
          <a:lstStyle/>
          <a:p>
            <a:r>
              <a:rPr lang="en-IN" sz="2800" b="1" dirty="0"/>
              <a:t>Microsoft started supporting Unix starting </a:t>
            </a:r>
            <a:r>
              <a:rPr lang="en-IN" sz="2800" b="1" dirty="0" smtClean="0"/>
              <a:t>2016 from Win10</a:t>
            </a:r>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0484" name="Picture 4" descr="http://realcomputers.net/wp-content/uploads/2015/02/Microsoft_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97073" y="3330166"/>
            <a:ext cx="3325285" cy="186641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www.unix.org/u30logo/unix_logo.gi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7211" y="3547363"/>
            <a:ext cx="2231281" cy="1432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47085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File Types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25</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r>
              <a:rPr lang="en-US" dirty="0"/>
              <a:t>Different types of files</a:t>
            </a:r>
          </a:p>
          <a:p>
            <a:pPr lvl="1"/>
            <a:r>
              <a:rPr lang="en-IN" dirty="0"/>
              <a:t>Ordinary or Regular Files</a:t>
            </a:r>
          </a:p>
          <a:p>
            <a:pPr lvl="1"/>
            <a:r>
              <a:rPr lang="en-IN" dirty="0"/>
              <a:t>Directories</a:t>
            </a:r>
          </a:p>
          <a:p>
            <a:pPr lvl="1"/>
            <a:r>
              <a:rPr lang="en-IN" dirty="0"/>
              <a:t>Device (Special) Files</a:t>
            </a:r>
          </a:p>
          <a:p>
            <a:pPr lvl="1"/>
            <a:r>
              <a:rPr lang="en-IN" dirty="0"/>
              <a:t>Links</a:t>
            </a:r>
          </a:p>
          <a:p>
            <a:pPr lvl="1"/>
            <a:r>
              <a:rPr lang="en-IN" dirty="0"/>
              <a:t>Named Pipes</a:t>
            </a:r>
          </a:p>
          <a:p>
            <a:pPr lvl="1"/>
            <a:r>
              <a:rPr lang="en-IN" dirty="0"/>
              <a:t>Sockets</a:t>
            </a:r>
            <a:endParaRPr lang="en-US" dirty="0"/>
          </a:p>
          <a:p>
            <a:pPr marL="0" indent="0">
              <a:buNone/>
            </a:pPr>
            <a:endParaRPr lang="en-IN" dirty="0"/>
          </a:p>
        </p:txBody>
      </p:sp>
      <p:pic>
        <p:nvPicPr>
          <p:cNvPr id="5128" name="Picture 8" descr="http://www.freeiconspng.com/uploads/yellow-folder-directory-icon-png-10.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020614">
            <a:off x="6229724" y="3435485"/>
            <a:ext cx="634056" cy="634056"/>
          </a:xfrm>
          <a:prstGeom prst="rect">
            <a:avLst/>
          </a:prstGeom>
          <a:noFill/>
          <a:extLst>
            <a:ext uri="{909E8E84-426E-40DD-AFC4-6F175D3DCCD1}">
              <a14:hiddenFill xmlns:a14="http://schemas.microsoft.com/office/drawing/2010/main">
                <a:solidFill>
                  <a:srgbClr val="FFFFFF"/>
                </a:solidFill>
              </a14:hiddenFill>
            </a:ext>
          </a:extLst>
        </p:spPr>
      </p:pic>
      <p:pic>
        <p:nvPicPr>
          <p:cNvPr id="5132" name="Picture 12" descr="http://www.freeiconspng.com/uploads/document-extension-file-file-format-filename-text-txt-icon--20.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8585254">
            <a:off x="5324039" y="2370995"/>
            <a:ext cx="686636" cy="686636"/>
          </a:xfrm>
          <a:prstGeom prst="rect">
            <a:avLst/>
          </a:prstGeom>
          <a:noFill/>
          <a:extLst>
            <a:ext uri="{909E8E84-426E-40DD-AFC4-6F175D3DCCD1}">
              <a14:hiddenFill xmlns:a14="http://schemas.microsoft.com/office/drawing/2010/main">
                <a:solidFill>
                  <a:srgbClr val="FFFFFF"/>
                </a:solidFill>
              </a14:hiddenFill>
            </a:ext>
          </a:extLst>
        </p:spPr>
      </p:pic>
      <p:pic>
        <p:nvPicPr>
          <p:cNvPr id="5136" name="Picture 16" descr="https://www.fundrecs.com/img/CSV.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1220405">
            <a:off x="6128025" y="1617390"/>
            <a:ext cx="671455" cy="6714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504568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Create </a:t>
            </a:r>
            <a:r>
              <a:rPr lang="en-IN" dirty="0" smtClean="0"/>
              <a:t>&amp; Save file - </a:t>
            </a:r>
            <a:r>
              <a:rPr lang="en-IN" dirty="0" smtClean="0"/>
              <a:t>Vi </a:t>
            </a:r>
            <a:r>
              <a:rPr lang="en-IN" dirty="0"/>
              <a:t>Editor</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26</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7" name="Content Placeholder 5"/>
          <p:cNvSpPr>
            <a:spLocks noGrp="1"/>
          </p:cNvSpPr>
          <p:nvPr>
            <p:ph idx="1"/>
          </p:nvPr>
        </p:nvSpPr>
        <p:spPr>
          <a:xfrm>
            <a:off x="528357" y="1648460"/>
            <a:ext cx="8761412" cy="3416300"/>
          </a:xfrm>
        </p:spPr>
        <p:txBody>
          <a:bodyPr/>
          <a:lstStyle/>
          <a:p>
            <a:endParaRPr lang="en-US" dirty="0"/>
          </a:p>
          <a:p>
            <a:pPr marL="0" indent="0">
              <a:buNone/>
            </a:pPr>
            <a:endParaRPr lang="en-IN" dirty="0"/>
          </a:p>
        </p:txBody>
      </p:sp>
      <p:graphicFrame>
        <p:nvGraphicFramePr>
          <p:cNvPr id="3" name="Table 2"/>
          <p:cNvGraphicFramePr>
            <a:graphicFrameLocks noGrp="1"/>
          </p:cNvGraphicFramePr>
          <p:nvPr>
            <p:extLst>
              <p:ext uri="{D42A27DB-BD31-4B8C-83A1-F6EECF244321}">
                <p14:modId xmlns:p14="http://schemas.microsoft.com/office/powerpoint/2010/main" val="627556928"/>
              </p:ext>
            </p:extLst>
          </p:nvPr>
        </p:nvGraphicFramePr>
        <p:xfrm>
          <a:off x="906320" y="1508267"/>
          <a:ext cx="10284419" cy="1662227"/>
        </p:xfrm>
        <a:graphic>
          <a:graphicData uri="http://schemas.openxmlformats.org/drawingml/2006/table">
            <a:tbl>
              <a:tblPr>
                <a:tableStyleId>{775DCB02-9BB8-47FD-8907-85C794F793BA}</a:tableStyleId>
              </a:tblPr>
              <a:tblGrid>
                <a:gridCol w="2571105"/>
                <a:gridCol w="7713314"/>
              </a:tblGrid>
              <a:tr h="352038">
                <a:tc>
                  <a:txBody>
                    <a:bodyPr/>
                    <a:lstStyle/>
                    <a:p>
                      <a:r>
                        <a:rPr lang="en-IN" b="1" dirty="0">
                          <a:effectLst/>
                        </a:rPr>
                        <a:t>Command</a:t>
                      </a:r>
                    </a:p>
                  </a:txBody>
                  <a:tcPr anchor="ctr"/>
                </a:tc>
                <a:tc>
                  <a:txBody>
                    <a:bodyPr/>
                    <a:lstStyle/>
                    <a:p>
                      <a:r>
                        <a:rPr lang="en-IN" b="1" dirty="0">
                          <a:effectLst/>
                        </a:rPr>
                        <a:t>Description</a:t>
                      </a:r>
                    </a:p>
                  </a:txBody>
                  <a:tcPr anchor="ctr"/>
                </a:tc>
              </a:tr>
              <a:tr h="564947">
                <a:tc>
                  <a:txBody>
                    <a:bodyPr/>
                    <a:lstStyle/>
                    <a:p>
                      <a:r>
                        <a:rPr lang="en-IN" dirty="0"/>
                        <a:t>vi filename</a:t>
                      </a:r>
                    </a:p>
                  </a:txBody>
                  <a:tcPr anchor="ctr"/>
                </a:tc>
                <a:tc>
                  <a:txBody>
                    <a:bodyPr/>
                    <a:lstStyle/>
                    <a:p>
                      <a:r>
                        <a:rPr lang="en-IN" sz="1400" dirty="0"/>
                        <a:t>Creates a new file if it already does not exist, otherwise opens existing file.</a:t>
                      </a:r>
                    </a:p>
                  </a:txBody>
                  <a:tcPr anchor="ctr"/>
                </a:tc>
              </a:tr>
              <a:tr h="322827">
                <a:tc>
                  <a:txBody>
                    <a:bodyPr/>
                    <a:lstStyle/>
                    <a:p>
                      <a:r>
                        <a:rPr lang="en-IN"/>
                        <a:t>vi -R filename</a:t>
                      </a:r>
                    </a:p>
                  </a:txBody>
                  <a:tcPr anchor="ctr"/>
                </a:tc>
                <a:tc>
                  <a:txBody>
                    <a:bodyPr/>
                    <a:lstStyle/>
                    <a:p>
                      <a:r>
                        <a:rPr lang="en-IN" sz="1400"/>
                        <a:t>Opens an existing file in read only mode.</a:t>
                      </a:r>
                    </a:p>
                  </a:txBody>
                  <a:tcPr anchor="ctr"/>
                </a:tc>
              </a:tr>
              <a:tr h="322827">
                <a:tc>
                  <a:txBody>
                    <a:bodyPr/>
                    <a:lstStyle/>
                    <a:p>
                      <a:r>
                        <a:rPr lang="en-IN" dirty="0"/>
                        <a:t>view filename</a:t>
                      </a:r>
                    </a:p>
                  </a:txBody>
                  <a:tcPr anchor="ctr"/>
                </a:tc>
                <a:tc>
                  <a:txBody>
                    <a:bodyPr/>
                    <a:lstStyle/>
                    <a:p>
                      <a:r>
                        <a:rPr lang="en-IN" sz="1400" dirty="0"/>
                        <a:t>Opens an existing file in read only mode.</a:t>
                      </a:r>
                    </a:p>
                  </a:txBody>
                  <a:tcPr anchor="ctr"/>
                </a:tc>
              </a:tr>
            </a:tbl>
          </a:graphicData>
        </a:graphic>
      </p:graphicFrame>
      <p:pic>
        <p:nvPicPr>
          <p:cNvPr id="1026" name="Picture 2" descr="http://www.shankysportal.com/vi-editor.png"/>
          <p:cNvPicPr>
            <a:picLocks noChangeAspect="1" noChangeArrowheads="1"/>
          </p:cNvPicPr>
          <p:nvPr/>
        </p:nvPicPr>
        <p:blipFill rotWithShape="1">
          <a:blip r:embed="rId3">
            <a:extLst>
              <a:ext uri="{28A0092B-C50C-407E-A947-70E740481C1C}">
                <a14:useLocalDpi xmlns:a14="http://schemas.microsoft.com/office/drawing/2010/main" val="0"/>
              </a:ext>
            </a:extLst>
          </a:blip>
          <a:srcRect l="10015" t="12592" r="10065" b="3719"/>
          <a:stretch/>
        </p:blipFill>
        <p:spPr bwMode="auto">
          <a:xfrm>
            <a:off x="2438402" y="3569628"/>
            <a:ext cx="6456216" cy="29063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176774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27</a:t>
            </a:fld>
            <a:endParaRPr lang="en-US" dirty="0">
              <a:solidFill>
                <a:srgbClr val="0E5580"/>
              </a:solidFill>
            </a:endParaRPr>
          </a:p>
        </p:txBody>
      </p:sp>
      <p:sp>
        <p:nvSpPr>
          <p:cNvPr id="5" name="Text Placeholder 4"/>
          <p:cNvSpPr>
            <a:spLocks noGrp="1"/>
          </p:cNvSpPr>
          <p:nvPr>
            <p:ph type="body" sz="quarter" idx="13"/>
          </p:nvPr>
        </p:nvSpPr>
        <p:spPr>
          <a:xfrm>
            <a:off x="492323" y="1217086"/>
            <a:ext cx="11113180" cy="582362"/>
          </a:xfrm>
        </p:spPr>
        <p:txBody>
          <a:bodyPr/>
          <a:lstStyle/>
          <a:p>
            <a:r>
              <a:rPr lang="en-IN"/>
              <a:t> </a:t>
            </a:r>
            <a:endParaRPr lang="en-IN" dirty="0"/>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644723" y="1587324"/>
            <a:ext cx="10698416" cy="2052042"/>
          </a:xfrm>
          <a:prstGeom prst="rect">
            <a:avLst/>
          </a:prstGeom>
        </p:spPr>
        <p:txBody>
          <a:bodyPr vert="horz" wrap="square" lIns="91440" tIns="45720" rIns="91440" bIns="45720" rtlCol="0" anchor="ctr">
            <a:noAutofit/>
          </a:bodyPr>
          <a:lstStyle/>
          <a:p>
            <a:r>
              <a:rPr lang="en-IN" sz="2800" dirty="0"/>
              <a:t>The </a:t>
            </a:r>
            <a:r>
              <a:rPr lang="en-IN" sz="2800" b="1" dirty="0"/>
              <a:t>Linux</a:t>
            </a:r>
            <a:r>
              <a:rPr lang="en-IN" sz="2800" dirty="0"/>
              <a:t> kernel’s official </a:t>
            </a:r>
            <a:r>
              <a:rPr lang="en-IN" sz="2800" b="1" dirty="0"/>
              <a:t>mascot</a:t>
            </a:r>
            <a:r>
              <a:rPr lang="en-IN" sz="2800" dirty="0"/>
              <a:t> is a </a:t>
            </a:r>
            <a:r>
              <a:rPr lang="en-IN" sz="2800" b="1" dirty="0"/>
              <a:t>penguin</a:t>
            </a:r>
            <a:r>
              <a:rPr lang="en-IN" sz="2800" dirty="0"/>
              <a:t> named </a:t>
            </a:r>
            <a:r>
              <a:rPr lang="en-IN" sz="2800" b="1" dirty="0"/>
              <a:t>Tux</a:t>
            </a:r>
            <a:r>
              <a:rPr lang="en-IN" sz="2800" dirty="0"/>
              <a:t>, abbreviation of </a:t>
            </a:r>
            <a:r>
              <a:rPr lang="en-IN" sz="2800" b="1" dirty="0"/>
              <a:t>tuxedo</a:t>
            </a:r>
            <a:r>
              <a:rPr lang="en-IN" sz="2800" dirty="0"/>
              <a:t>. The idea that </a:t>
            </a:r>
            <a:r>
              <a:rPr lang="en-IN" sz="2800" b="1" dirty="0"/>
              <a:t>Linux</a:t>
            </a:r>
            <a:r>
              <a:rPr lang="en-IN" sz="2800" dirty="0"/>
              <a:t> had a pet </a:t>
            </a:r>
            <a:r>
              <a:rPr lang="en-IN" sz="2800" b="1" dirty="0"/>
              <a:t>penguin</a:t>
            </a:r>
            <a:r>
              <a:rPr lang="en-IN" sz="2800" dirty="0"/>
              <a:t> comes from </a:t>
            </a:r>
            <a:r>
              <a:rPr lang="en-IN" sz="2800" b="1" dirty="0"/>
              <a:t>Linus Torvalds</a:t>
            </a:r>
            <a:r>
              <a:rPr lang="en-IN" sz="2800" dirty="0"/>
              <a:t> himself.</a:t>
            </a:r>
            <a:endParaRPr lang="en-IN" sz="2800" dirty="0">
              <a:latin typeface="Berlin Sans FB Demi" panose="020E0802020502020306" pitchFamily="34" charset="0"/>
            </a:endParaRPr>
          </a:p>
        </p:txBody>
      </p:sp>
      <p:pic>
        <p:nvPicPr>
          <p:cNvPr id="18434" name="Picture 2" descr="https://monovm.com/images/unzip-centos.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1122" y="3672564"/>
            <a:ext cx="4810125"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0874087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28</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Unix Commands</a:t>
            </a:r>
          </a:p>
        </p:txBody>
      </p:sp>
    </p:spTree>
    <p:extLst>
      <p:ext uri="{BB962C8B-B14F-4D97-AF65-F5344CB8AC3E}">
        <p14:creationId xmlns:p14="http://schemas.microsoft.com/office/powerpoint/2010/main" val="3410265618"/>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Quiz Time</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29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pic>
        <p:nvPicPr>
          <p:cNvPr id="7170" name="Picture 2" descr="http://blogs.adobe.com/captivate/files/2011/05/Assessment-SB-Templat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7255" y="1508267"/>
            <a:ext cx="1724025" cy="174342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p:cNvSpPr txBox="1"/>
          <p:nvPr/>
        </p:nvSpPr>
        <p:spPr bwMode="gray">
          <a:xfrm>
            <a:off x="2621280" y="1768335"/>
            <a:ext cx="820928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How do you get help about the command "</a:t>
            </a:r>
            <a:r>
              <a:rPr lang="en-IN" sz="2800" b="1" dirty="0" err="1">
                <a:latin typeface="Andalus" panose="02020603050405020304" pitchFamily="18" charset="-78"/>
                <a:cs typeface="Andalus" panose="02020603050405020304" pitchFamily="18" charset="-78"/>
              </a:rPr>
              <a:t>cp</a:t>
            </a:r>
            <a:r>
              <a:rPr lang="en-IN" sz="2800" b="1" dirty="0">
                <a:latin typeface="Andalus" panose="02020603050405020304" pitchFamily="18" charset="-78"/>
                <a:cs typeface="Andalus" panose="02020603050405020304" pitchFamily="18" charset="-78"/>
              </a:rPr>
              <a:t>"? </a:t>
            </a:r>
          </a:p>
        </p:txBody>
      </p:sp>
      <p:pic>
        <p:nvPicPr>
          <p:cNvPr id="7174" name="Picture 6" descr="http://unisci24.com/data_images/wlls/3/180958-answer.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7255" y="4094975"/>
            <a:ext cx="1429385" cy="142711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gray">
          <a:xfrm>
            <a:off x="2621280" y="4038731"/>
            <a:ext cx="8707120" cy="1483360"/>
          </a:xfrm>
          <a:prstGeom prst="rect">
            <a:avLst/>
          </a:prstGeom>
        </p:spPr>
        <p:txBody>
          <a:bodyPr vert="horz" wrap="square" lIns="91440" tIns="45720" rIns="91440" bIns="45720" rtlCol="0" anchor="ctr">
            <a:noAutofit/>
          </a:bodyPr>
          <a:lstStyle/>
          <a:p>
            <a:r>
              <a:rPr lang="en-IN" sz="2800" b="1" dirty="0">
                <a:latin typeface="Andalus" panose="02020603050405020304" pitchFamily="18" charset="-78"/>
                <a:cs typeface="Andalus" panose="02020603050405020304" pitchFamily="18" charset="-78"/>
              </a:rPr>
              <a:t>&gt; man </a:t>
            </a:r>
            <a:r>
              <a:rPr lang="en-IN" sz="2800" b="1" dirty="0" err="1">
                <a:latin typeface="Andalus" panose="02020603050405020304" pitchFamily="18" charset="-78"/>
                <a:cs typeface="Andalus" panose="02020603050405020304" pitchFamily="18" charset="-78"/>
              </a:rPr>
              <a:t>cp</a:t>
            </a:r>
            <a:endParaRPr lang="en-IN" sz="2800" b="1" dirty="0">
              <a:latin typeface="Andalus" panose="02020603050405020304" pitchFamily="18" charset="-78"/>
              <a:cs typeface="Andalus" panose="02020603050405020304" pitchFamily="18" charset="-78"/>
            </a:endParaRPr>
          </a:p>
          <a:p>
            <a:r>
              <a:rPr lang="en-IN" sz="2800" dirty="0">
                <a:latin typeface="Berlin Sans FB Demi" panose="020E0802020502020306" pitchFamily="34" charset="0"/>
              </a:rPr>
              <a:t>  </a:t>
            </a:r>
          </a:p>
        </p:txBody>
      </p:sp>
    </p:spTree>
    <p:extLst>
      <p:ext uri="{BB962C8B-B14F-4D97-AF65-F5344CB8AC3E}">
        <p14:creationId xmlns:p14="http://schemas.microsoft.com/office/powerpoint/2010/main" val="227216656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Log In and Out Commands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30</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8" name="Content Placeholder 7"/>
          <p:cNvGraphicFramePr>
            <a:graphicFrameLocks noGrp="1"/>
          </p:cNvGraphicFramePr>
          <p:nvPr>
            <p:ph idx="1"/>
            <p:extLst>
              <p:ext uri="{D42A27DB-BD31-4B8C-83A1-F6EECF244321}">
                <p14:modId xmlns:p14="http://schemas.microsoft.com/office/powerpoint/2010/main" val="563883606"/>
              </p:ext>
            </p:extLst>
          </p:nvPr>
        </p:nvGraphicFramePr>
        <p:xfrm>
          <a:off x="775063" y="2290356"/>
          <a:ext cx="9483634" cy="3317964"/>
        </p:xfrm>
        <a:graphic>
          <a:graphicData uri="http://schemas.openxmlformats.org/drawingml/2006/table">
            <a:tbl>
              <a:tblPr firstRow="1" firstCol="1" bandRow="1">
                <a:tableStyleId>{7DF18680-E054-41AD-8BC1-D1AEF772440D}</a:tableStyleId>
              </a:tblPr>
              <a:tblGrid>
                <a:gridCol w="2292127">
                  <a:extLst>
                    <a:ext uri="{9D8B030D-6E8A-4147-A177-3AD203B41FA5}">
                      <a16:colId xmlns:a16="http://schemas.microsoft.com/office/drawing/2014/main" xmlns="" val="20000"/>
                    </a:ext>
                  </a:extLst>
                </a:gridCol>
                <a:gridCol w="7191507">
                  <a:extLst>
                    <a:ext uri="{9D8B030D-6E8A-4147-A177-3AD203B41FA5}">
                      <a16:colId xmlns:a16="http://schemas.microsoft.com/office/drawing/2014/main" xmlns="" val="20001"/>
                    </a:ext>
                  </a:extLst>
                </a:gridCol>
              </a:tblGrid>
              <a:tr h="52059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dirty="0">
                          <a:effectLst/>
                        </a:rPr>
                        <a:t>Description</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559473">
                <a:tc>
                  <a:txBody>
                    <a:bodyPr/>
                    <a:lstStyle/>
                    <a:p>
                      <a:pPr>
                        <a:lnSpc>
                          <a:spcPct val="107000"/>
                        </a:lnSpc>
                        <a:spcAft>
                          <a:spcPts val="600"/>
                        </a:spcAft>
                      </a:pPr>
                      <a:r>
                        <a:rPr lang="en-IN" sz="1200">
                          <a:effectLst/>
                        </a:rPr>
                        <a:t>login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Logon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559473">
                <a:tc>
                  <a:txBody>
                    <a:bodyPr/>
                    <a:lstStyle/>
                    <a:p>
                      <a:pPr>
                        <a:lnSpc>
                          <a:spcPct val="107000"/>
                        </a:lnSpc>
                        <a:spcAft>
                          <a:spcPts val="600"/>
                        </a:spcAft>
                      </a:pPr>
                      <a:r>
                        <a:rPr lang="en-IN" sz="1200" dirty="0">
                          <a:effectLst/>
                        </a:rPr>
                        <a:t>logout</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Logout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559473">
                <a:tc>
                  <a:txBody>
                    <a:bodyPr/>
                    <a:lstStyle/>
                    <a:p>
                      <a:pPr>
                        <a:lnSpc>
                          <a:spcPct val="107000"/>
                        </a:lnSpc>
                        <a:spcAft>
                          <a:spcPts val="600"/>
                        </a:spcAft>
                      </a:pPr>
                      <a:r>
                        <a:rPr lang="en-IN" sz="1200">
                          <a:effectLst/>
                        </a:rPr>
                        <a:t>passwd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Change password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559473">
                <a:tc>
                  <a:txBody>
                    <a:bodyPr/>
                    <a:lstStyle/>
                    <a:p>
                      <a:pPr>
                        <a:lnSpc>
                          <a:spcPct val="107000"/>
                        </a:lnSpc>
                        <a:spcAft>
                          <a:spcPts val="600"/>
                        </a:spcAft>
                      </a:pPr>
                      <a:r>
                        <a:rPr lang="en-IN" sz="1200">
                          <a:effectLst/>
                        </a:rPr>
                        <a:t>exit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Exit the terminal</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559473">
                <a:tc>
                  <a:txBody>
                    <a:bodyPr/>
                    <a:lstStyle/>
                    <a:p>
                      <a:pPr>
                        <a:lnSpc>
                          <a:spcPct val="107000"/>
                        </a:lnSpc>
                        <a:spcAft>
                          <a:spcPts val="600"/>
                        </a:spcAft>
                      </a:pPr>
                      <a:r>
                        <a:rPr lang="en-IN" sz="1200">
                          <a:effectLst/>
                        </a:rPr>
                        <a:t>shutdown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Shutdown the system.</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417427386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Information Command</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31</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4074611516"/>
              </p:ext>
            </p:extLst>
          </p:nvPr>
        </p:nvGraphicFramePr>
        <p:xfrm>
          <a:off x="528357" y="1799449"/>
          <a:ext cx="11113179" cy="3774626"/>
        </p:xfrm>
        <a:graphic>
          <a:graphicData uri="http://schemas.openxmlformats.org/drawingml/2006/table">
            <a:tbl>
              <a:tblPr firstRow="1" firstCol="1" bandRow="1">
                <a:tableStyleId>{7DF18680-E054-41AD-8BC1-D1AEF772440D}</a:tableStyleId>
              </a:tblPr>
              <a:tblGrid>
                <a:gridCol w="3070720">
                  <a:extLst>
                    <a:ext uri="{9D8B030D-6E8A-4147-A177-3AD203B41FA5}">
                      <a16:colId xmlns:a16="http://schemas.microsoft.com/office/drawing/2014/main" xmlns="" val="20000"/>
                    </a:ext>
                  </a:extLst>
                </a:gridCol>
                <a:gridCol w="8042459">
                  <a:extLst>
                    <a:ext uri="{9D8B030D-6E8A-4147-A177-3AD203B41FA5}">
                      <a16:colId xmlns:a16="http://schemas.microsoft.com/office/drawing/2014/main" xmlns="" val="20001"/>
                    </a:ext>
                  </a:extLst>
                </a:gridCol>
              </a:tblGrid>
              <a:tr h="387703">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1008894">
                <a:tc>
                  <a:txBody>
                    <a:bodyPr/>
                    <a:lstStyle/>
                    <a:p>
                      <a:pPr>
                        <a:lnSpc>
                          <a:spcPct val="107000"/>
                        </a:lnSpc>
                        <a:spcAft>
                          <a:spcPts val="600"/>
                        </a:spcAft>
                      </a:pPr>
                      <a:r>
                        <a:rPr lang="en-IN" sz="1200" dirty="0">
                          <a:effectLst/>
                        </a:rPr>
                        <a:t>man [-option] [command]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Manual or UNIX help command. The usual quit sequence `q (CR)' can be used to quit long UNIX `man' listings, `(CR)' is used for new `man' pages. During a IBM Telnet session the `Clear-key' is needed for new CMS pages that are not the same as the `man' pages. Otherwise `d', `q' or `Ctrl-c' should work for UNIX like access.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470263">
                <a:tc>
                  <a:txBody>
                    <a:bodyPr/>
                    <a:lstStyle/>
                    <a:p>
                      <a:pPr>
                        <a:lnSpc>
                          <a:spcPct val="107000"/>
                        </a:lnSpc>
                        <a:spcAft>
                          <a:spcPts val="600"/>
                        </a:spcAft>
                      </a:pPr>
                      <a:r>
                        <a:rPr lang="en-IN" sz="1200">
                          <a:effectLst/>
                        </a:rPr>
                        <a:t>whereis [name]</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Locates source for program or command; e.g. `whereis kermit'.</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657804">
                <a:tc>
                  <a:txBody>
                    <a:bodyPr/>
                    <a:lstStyle/>
                    <a:p>
                      <a:pPr>
                        <a:lnSpc>
                          <a:spcPct val="107000"/>
                        </a:lnSpc>
                        <a:spcAft>
                          <a:spcPts val="600"/>
                        </a:spcAft>
                      </a:pPr>
                      <a:r>
                        <a:rPr lang="en-IN" sz="1200" dirty="0">
                          <a:effectLst/>
                        </a:rPr>
                        <a:t>which [name] </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Tell which version of a program or command will be used in your session in case of multiple copies; e.g. `which cc'.</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416654">
                <a:tc>
                  <a:txBody>
                    <a:bodyPr/>
                    <a:lstStyle/>
                    <a:p>
                      <a:pPr>
                        <a:lnSpc>
                          <a:spcPct val="107000"/>
                        </a:lnSpc>
                        <a:spcAft>
                          <a:spcPts val="600"/>
                        </a:spcAft>
                      </a:pPr>
                      <a:r>
                        <a:rPr lang="en-IN" sz="1200">
                          <a:effectLst/>
                        </a:rPr>
                        <a:t>whatis [command] </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Describes the command [command].</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16654">
                <a:tc>
                  <a:txBody>
                    <a:bodyPr/>
                    <a:lstStyle/>
                    <a:p>
                      <a:pPr>
                        <a:lnSpc>
                          <a:spcPct val="107000"/>
                        </a:lnSpc>
                        <a:spcAft>
                          <a:spcPts val="600"/>
                        </a:spcAft>
                      </a:pPr>
                      <a:r>
                        <a:rPr lang="en-IN" sz="1200">
                          <a:effectLst/>
                        </a:rPr>
                        <a:t>whoami</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a:effectLst/>
                        </a:rPr>
                        <a:t>Displays current user id and access.</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r h="416654">
                <a:tc>
                  <a:txBody>
                    <a:bodyPr/>
                    <a:lstStyle/>
                    <a:p>
                      <a:pPr>
                        <a:lnSpc>
                          <a:spcPct val="107000"/>
                        </a:lnSpc>
                        <a:spcAft>
                          <a:spcPts val="600"/>
                        </a:spcAft>
                      </a:pPr>
                      <a:r>
                        <a:rPr lang="en-IN" sz="1200" dirty="0">
                          <a:effectLst/>
                        </a:rPr>
                        <a:t>who</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200" dirty="0">
                          <a:effectLst/>
                        </a:rPr>
                        <a:t> Displays currently logged in users.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6"/>
                  </a:ext>
                </a:extLst>
              </a:tr>
            </a:tbl>
          </a:graphicData>
        </a:graphic>
      </p:graphicFrame>
    </p:spTree>
    <p:extLst>
      <p:ext uri="{BB962C8B-B14F-4D97-AF65-F5344CB8AC3E}">
        <p14:creationId xmlns:p14="http://schemas.microsoft.com/office/powerpoint/2010/main" val="79580562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Directory Commands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32</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2429327623"/>
              </p:ext>
            </p:extLst>
          </p:nvPr>
        </p:nvGraphicFramePr>
        <p:xfrm>
          <a:off x="528357" y="1558837"/>
          <a:ext cx="11245632" cy="4885503"/>
        </p:xfrm>
        <a:graphic>
          <a:graphicData uri="http://schemas.openxmlformats.org/drawingml/2006/table">
            <a:tbl>
              <a:tblPr firstRow="1" firstCol="1" bandRow="1">
                <a:tableStyleId>{7DF18680-E054-41AD-8BC1-D1AEF772440D}</a:tableStyleId>
              </a:tblPr>
              <a:tblGrid>
                <a:gridCol w="2960971">
                  <a:extLst>
                    <a:ext uri="{9D8B030D-6E8A-4147-A177-3AD203B41FA5}">
                      <a16:colId xmlns:a16="http://schemas.microsoft.com/office/drawing/2014/main" xmlns="" val="20000"/>
                    </a:ext>
                  </a:extLst>
                </a:gridCol>
                <a:gridCol w="8284661">
                  <a:extLst>
                    <a:ext uri="{9D8B030D-6E8A-4147-A177-3AD203B41FA5}">
                      <a16:colId xmlns:a16="http://schemas.microsoft.com/office/drawing/2014/main" xmlns="" val="20001"/>
                    </a:ext>
                  </a:extLst>
                </a:gridCol>
              </a:tblGrid>
              <a:tr h="268581">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0"/>
                  </a:ext>
                </a:extLst>
              </a:tr>
              <a:tr h="428324">
                <a:tc>
                  <a:txBody>
                    <a:bodyPr/>
                    <a:lstStyle/>
                    <a:p>
                      <a:pPr>
                        <a:lnSpc>
                          <a:spcPct val="107000"/>
                        </a:lnSpc>
                        <a:spcAft>
                          <a:spcPts val="600"/>
                        </a:spcAft>
                      </a:pPr>
                      <a:r>
                        <a:rPr lang="en-IN" sz="1000" dirty="0" err="1">
                          <a:effectLst/>
                        </a:rPr>
                        <a:t>mkdir</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Makes a directory or file group name [name]; e.g. `mkdir dirpgm' make the directory called `dirpgm'.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1"/>
                  </a:ext>
                </a:extLst>
              </a:tr>
              <a:tr h="428324">
                <a:tc>
                  <a:txBody>
                    <a:bodyPr/>
                    <a:lstStyle/>
                    <a:p>
                      <a:pPr>
                        <a:lnSpc>
                          <a:spcPct val="107000"/>
                        </a:lnSpc>
                        <a:spcAft>
                          <a:spcPts val="600"/>
                        </a:spcAft>
                      </a:pPr>
                      <a:r>
                        <a:rPr lang="en-IN" sz="1000" dirty="0" err="1">
                          <a:effectLst/>
                        </a:rPr>
                        <a:t>pushd</a:t>
                      </a:r>
                      <a:r>
                        <a:rPr lang="en-IN" sz="1000" dirty="0">
                          <a:effectLst/>
                        </a:rPr>
                        <a:t> [name]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 Pushes from the working directory to the directory [name] keeping the sequence of directories in a buffer for `popd'.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2"/>
                  </a:ext>
                </a:extLst>
              </a:tr>
              <a:tr h="582470">
                <a:tc>
                  <a:txBody>
                    <a:bodyPr/>
                    <a:lstStyle/>
                    <a:p>
                      <a:pPr>
                        <a:lnSpc>
                          <a:spcPct val="107000"/>
                        </a:lnSpc>
                        <a:spcAft>
                          <a:spcPts val="600"/>
                        </a:spcAft>
                      </a:pPr>
                      <a:r>
                        <a:rPr lang="en-IN" sz="1000" dirty="0" err="1">
                          <a:effectLst/>
                        </a:rPr>
                        <a:t>popd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Pops back up to the prior directory, if `pushd' was used before. For this reason, `pushd' and `popd' are more useful than the regular change directory command `cd'.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3"/>
                  </a:ext>
                </a:extLst>
              </a:tr>
              <a:tr h="468921">
                <a:tc>
                  <a:txBody>
                    <a:bodyPr/>
                    <a:lstStyle/>
                    <a:p>
                      <a:pPr>
                        <a:lnSpc>
                          <a:spcPct val="107000"/>
                        </a:lnSpc>
                        <a:spcAft>
                          <a:spcPts val="600"/>
                        </a:spcAft>
                      </a:pPr>
                      <a:r>
                        <a:rPr lang="en-IN" sz="1000" dirty="0">
                          <a:effectLst/>
                        </a:rPr>
                        <a:t>cd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the working directory to the directory [directory]; you can change it back with `cd' using your own login id; `cd $HOME (CR)' returns the shell back to your home directory. `.' denotes the current directory and `..' denotes the root or parent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4"/>
                  </a:ext>
                </a:extLst>
              </a:tr>
              <a:tr h="274179">
                <a:tc>
                  <a:txBody>
                    <a:bodyPr/>
                    <a:lstStyle/>
                    <a:p>
                      <a:pPr>
                        <a:lnSpc>
                          <a:spcPct val="107000"/>
                        </a:lnSpc>
                        <a:spcAft>
                          <a:spcPts val="600"/>
                        </a:spcAft>
                      </a:pPr>
                      <a:r>
                        <a:rPr lang="en-IN" sz="1000" dirty="0">
                          <a:effectLst/>
                        </a:rPr>
                        <a:t>cd ~[user]</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Changes working directory to that of login id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5"/>
                  </a:ext>
                </a:extLst>
              </a:tr>
              <a:tr h="274179">
                <a:tc>
                  <a:txBody>
                    <a:bodyPr/>
                    <a:lstStyle/>
                    <a:p>
                      <a:pPr>
                        <a:lnSpc>
                          <a:spcPct val="107000"/>
                        </a:lnSpc>
                        <a:spcAft>
                          <a:spcPts val="600"/>
                        </a:spcAft>
                      </a:pPr>
                      <a:r>
                        <a:rPr lang="en-IN" sz="1000" dirty="0">
                          <a:effectLst/>
                        </a:rPr>
                        <a:t>cd $HOME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Changes to your home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6"/>
                  </a:ext>
                </a:extLst>
              </a:tr>
              <a:tr h="274179">
                <a:tc>
                  <a:txBody>
                    <a:bodyPr/>
                    <a:lstStyle/>
                    <a:p>
                      <a:pPr>
                        <a:lnSpc>
                          <a:spcPct val="107000"/>
                        </a:lnSpc>
                        <a:spcAft>
                          <a:spcPts val="600"/>
                        </a:spcAft>
                      </a:pPr>
                      <a:r>
                        <a:rPr lang="en-IN" sz="1000" dirty="0" err="1">
                          <a:effectLst/>
                        </a:rPr>
                        <a:t>pwd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 Displays present working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7"/>
                  </a:ext>
                </a:extLst>
              </a:tr>
              <a:tr h="274179">
                <a:tc>
                  <a:txBody>
                    <a:bodyPr/>
                    <a:lstStyle/>
                    <a:p>
                      <a:pPr>
                        <a:lnSpc>
                          <a:spcPct val="107000"/>
                        </a:lnSpc>
                        <a:spcAft>
                          <a:spcPts val="600"/>
                        </a:spcAft>
                      </a:pPr>
                      <a:r>
                        <a:rPr lang="en-IN" sz="1000">
                          <a:effectLst/>
                        </a:rPr>
                        <a:t>ls [directory]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Displays the contents of the directory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8"/>
                  </a:ext>
                </a:extLst>
              </a:tr>
              <a:tr h="454832">
                <a:tc>
                  <a:txBody>
                    <a:bodyPr/>
                    <a:lstStyle/>
                    <a:p>
                      <a:pPr>
                        <a:lnSpc>
                          <a:spcPct val="107000"/>
                        </a:lnSpc>
                        <a:spcAft>
                          <a:spcPts val="600"/>
                        </a:spcAft>
                      </a:pPr>
                      <a:r>
                        <a:rPr lang="en-IN" sz="1000">
                          <a:effectLst/>
                        </a:rPr>
                        <a:t>mv [file1] ... [fileN] [directory]</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Moves `[file1]', ..., `[fileN]' to directory `[directory]'; e.g. `mv addtwo.* diradd' moves all files with prefix `addtwo.' to the directory `diradd'.</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09"/>
                  </a:ext>
                </a:extLst>
              </a:tr>
              <a:tr h="454832">
                <a:tc>
                  <a:txBody>
                    <a:bodyPr/>
                    <a:lstStyle/>
                    <a:p>
                      <a:pPr>
                        <a:lnSpc>
                          <a:spcPct val="107000"/>
                        </a:lnSpc>
                        <a:spcAft>
                          <a:spcPts val="600"/>
                        </a:spcAft>
                      </a:pPr>
                      <a:r>
                        <a:rPr lang="en-IN" sz="1000">
                          <a:effectLst/>
                        </a:rPr>
                        <a:t>cp [file1] [directory]/[file2]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Copies [file1] into [file2] in directory [directory]. `cp [file] . (CR)' copies a file to the current directory using the original name. This format works for `mv' also.</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0"/>
                  </a:ext>
                </a:extLst>
              </a:tr>
              <a:tr h="274179">
                <a:tc>
                  <a:txBody>
                    <a:bodyPr/>
                    <a:lstStyle/>
                    <a:p>
                      <a:pPr>
                        <a:lnSpc>
                          <a:spcPct val="107000"/>
                        </a:lnSpc>
                        <a:spcAft>
                          <a:spcPts val="600"/>
                        </a:spcAft>
                      </a:pPr>
                      <a:r>
                        <a:rPr lang="en-IN" sz="1000">
                          <a:effectLst/>
                        </a:rPr>
                        <a:t>rmdir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a:effectLst/>
                        </a:rPr>
                        <a:t>Removes or erases empty directory. You must first use `rm *' to empty the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1"/>
                  </a:ext>
                </a:extLst>
              </a:tr>
              <a:tr h="428324">
                <a:tc>
                  <a:txBody>
                    <a:bodyPr/>
                    <a:lstStyle/>
                    <a:p>
                      <a:pPr>
                        <a:lnSpc>
                          <a:spcPct val="107000"/>
                        </a:lnSpc>
                        <a:spcAft>
                          <a:spcPts val="600"/>
                        </a:spcAft>
                      </a:pPr>
                      <a:r>
                        <a:rPr lang="en-IN" sz="1000">
                          <a:effectLst/>
                        </a:rPr>
                        <a:t>rm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tc>
                  <a:txBody>
                    <a:bodyPr/>
                    <a:lstStyle/>
                    <a:p>
                      <a:pPr>
                        <a:lnSpc>
                          <a:spcPct val="107000"/>
                        </a:lnSpc>
                        <a:spcAft>
                          <a:spcPts val="600"/>
                        </a:spcAft>
                      </a:pPr>
                      <a:r>
                        <a:rPr lang="en-IN" sz="1000" dirty="0">
                          <a:effectLst/>
                        </a:rPr>
                        <a:t>Remove files or directories (options  </a:t>
                      </a:r>
                      <a:r>
                        <a:rPr lang="en-IN" sz="1000" dirty="0" err="1">
                          <a:effectLst/>
                        </a:rPr>
                        <a:t>i</a:t>
                      </a:r>
                      <a:r>
                        <a:rPr lang="en-IN" sz="1000" dirty="0">
                          <a:effectLst/>
                        </a:rPr>
                        <a:t>-interactive, f-force, r-recursive). Be careful while using option force or recursive.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40310" marR="40310" marT="40310" marB="40310"/>
                </a:tc>
                <a:extLst>
                  <a:ext uri="{0D108BD9-81ED-4DB2-BD59-A6C34878D82A}">
                    <a16:rowId xmlns:a16="http://schemas.microsoft.com/office/drawing/2014/main" xmlns="" val="10012"/>
                  </a:ext>
                </a:extLst>
              </a:tr>
            </a:tbl>
          </a:graphicData>
        </a:graphic>
      </p:graphicFrame>
    </p:spTree>
    <p:extLst>
      <p:ext uri="{BB962C8B-B14F-4D97-AF65-F5344CB8AC3E}">
        <p14:creationId xmlns:p14="http://schemas.microsoft.com/office/powerpoint/2010/main" val="316409949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File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33</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967127676"/>
              </p:ext>
            </p:extLst>
          </p:nvPr>
        </p:nvGraphicFramePr>
        <p:xfrm>
          <a:off x="629984" y="1495959"/>
          <a:ext cx="11011553" cy="5031486"/>
        </p:xfrm>
        <a:graphic>
          <a:graphicData uri="http://schemas.openxmlformats.org/drawingml/2006/table">
            <a:tbl>
              <a:tblPr firstRow="1" firstCol="1" bandRow="1">
                <a:tableStyleId>{7DF18680-E054-41AD-8BC1-D1AEF772440D}</a:tableStyleId>
              </a:tblPr>
              <a:tblGrid>
                <a:gridCol w="2899338">
                  <a:extLst>
                    <a:ext uri="{9D8B030D-6E8A-4147-A177-3AD203B41FA5}">
                      <a16:colId xmlns:a16="http://schemas.microsoft.com/office/drawing/2014/main" xmlns="" val="20000"/>
                    </a:ext>
                  </a:extLst>
                </a:gridCol>
                <a:gridCol w="8112215">
                  <a:extLst>
                    <a:ext uri="{9D8B030D-6E8A-4147-A177-3AD203B41FA5}">
                      <a16:colId xmlns:a16="http://schemas.microsoft.com/office/drawing/2014/main" xmlns="" val="20001"/>
                    </a:ext>
                  </a:extLst>
                </a:gridCol>
              </a:tblGrid>
              <a:tr h="213375">
                <a:tc>
                  <a:txBody>
                    <a:bodyPr/>
                    <a:lstStyle/>
                    <a:p>
                      <a:pPr>
                        <a:lnSpc>
                          <a:spcPct val="107000"/>
                        </a:lnSpc>
                        <a:spcAft>
                          <a:spcPts val="600"/>
                        </a:spcAft>
                      </a:pPr>
                      <a:r>
                        <a:rPr lang="en-IN" sz="1000" dirty="0">
                          <a:effectLst/>
                        </a:rPr>
                        <a:t>Command</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Description</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0"/>
                  </a:ext>
                </a:extLst>
              </a:tr>
              <a:tr h="217295">
                <a:tc>
                  <a:txBody>
                    <a:bodyPr/>
                    <a:lstStyle/>
                    <a:p>
                      <a:pPr>
                        <a:lnSpc>
                          <a:spcPct val="107000"/>
                        </a:lnSpc>
                        <a:spcAft>
                          <a:spcPts val="600"/>
                        </a:spcAft>
                      </a:pPr>
                      <a:r>
                        <a:rPr lang="en-IN" sz="1000">
                          <a:effectLst/>
                        </a:rPr>
                        <a:t>ls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sets or files of current user id or current directory.</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1"/>
                  </a:ext>
                </a:extLst>
              </a:tr>
              <a:tr h="339460">
                <a:tc>
                  <a:txBody>
                    <a:bodyPr/>
                    <a:lstStyle/>
                    <a:p>
                      <a:pPr>
                        <a:lnSpc>
                          <a:spcPct val="107000"/>
                        </a:lnSpc>
                        <a:spcAft>
                          <a:spcPts val="600"/>
                        </a:spcAft>
                      </a:pPr>
                      <a:r>
                        <a:rPr lang="en-IN" sz="1000">
                          <a:effectLst/>
                        </a:rPr>
                        <a:t>ls ~[user]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Lists files or directories under user/account id `[user]'. Also `ls ~/[directory] (CR)' will list the contents of the directory `[directory]' on the same account.</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2"/>
                  </a:ext>
                </a:extLst>
              </a:tr>
              <a:tr h="339460">
                <a:tc>
                  <a:txBody>
                    <a:bodyPr/>
                    <a:lstStyle/>
                    <a:p>
                      <a:pPr>
                        <a:lnSpc>
                          <a:spcPct val="107000"/>
                        </a:lnSpc>
                        <a:spcAft>
                          <a:spcPts val="600"/>
                        </a:spcAft>
                      </a:pPr>
                      <a:r>
                        <a:rPr lang="en-IN" sz="1000" dirty="0">
                          <a:effectLst/>
                        </a:rPr>
                        <a:t>ls [string].*</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all current files with prefix [name]. Examples of other forms are `ls *[string] (CR)' or `ls *[string]* (CR)' or `ls *[string1]*[string2]*'.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3"/>
                  </a:ext>
                </a:extLst>
              </a:tr>
              <a:tr h="339460">
                <a:tc>
                  <a:txBody>
                    <a:bodyPr/>
                    <a:lstStyle/>
                    <a:p>
                      <a:pPr>
                        <a:lnSpc>
                          <a:spcPct val="107000"/>
                        </a:lnSpc>
                        <a:spcAft>
                          <a:spcPts val="600"/>
                        </a:spcAft>
                      </a:pPr>
                      <a:r>
                        <a:rPr lang="en-IN" sz="1000">
                          <a:effectLst/>
                        </a:rPr>
                        <a:t>cat [file1] ... [fileN]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Lists content of N (N .le. 1) argument files catenated. Use `cat [file1] ... [fileN] &gt; [fileM],' to catenate and store the N files in `[fileM]'.</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4"/>
                  </a:ext>
                </a:extLst>
              </a:tr>
              <a:tr h="461622">
                <a:tc>
                  <a:txBody>
                    <a:bodyPr/>
                    <a:lstStyle/>
                    <a:p>
                      <a:pPr>
                        <a:lnSpc>
                          <a:spcPct val="107000"/>
                        </a:lnSpc>
                        <a:spcAft>
                          <a:spcPts val="600"/>
                        </a:spcAft>
                      </a:pPr>
                      <a:r>
                        <a:rPr lang="en-IN" sz="1000">
                          <a:effectLst/>
                        </a:rPr>
                        <a:t>more [file]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Displays file in half pages of 11 lines; use `q (CR)' for quitting; use `d' for 11 more lines or `u' to go back up 11 more lines; similarly, `f' and `b' produce full pages forward and backwards, respectively;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5"/>
                  </a:ext>
                </a:extLst>
              </a:tr>
              <a:tr h="217295">
                <a:tc>
                  <a:txBody>
                    <a:bodyPr/>
                    <a:lstStyle/>
                    <a:p>
                      <a:pPr>
                        <a:lnSpc>
                          <a:spcPct val="107000"/>
                        </a:lnSpc>
                        <a:spcAft>
                          <a:spcPts val="600"/>
                        </a:spcAft>
                      </a:pPr>
                      <a:r>
                        <a:rPr lang="en-IN" sz="1000">
                          <a:effectLst/>
                        </a:rPr>
                        <a:t>cp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Copies file `[file1]' into file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6"/>
                  </a:ext>
                </a:extLst>
              </a:tr>
              <a:tr h="461622">
                <a:tc>
                  <a:txBody>
                    <a:bodyPr/>
                    <a:lstStyle/>
                    <a:p>
                      <a:pPr>
                        <a:lnSpc>
                          <a:spcPct val="107000"/>
                        </a:lnSpc>
                        <a:spcAft>
                          <a:spcPts val="600"/>
                        </a:spcAft>
                      </a:pPr>
                      <a:r>
                        <a:rPr lang="en-IN" sz="1000" dirty="0" err="1">
                          <a:effectLst/>
                        </a:rPr>
                        <a:t>rm</a:t>
                      </a:r>
                      <a:r>
                        <a:rPr lang="en-IN" sz="1000" dirty="0">
                          <a:effectLst/>
                        </a:rPr>
                        <a:t> [file1]</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Erases file `[file1]'; can take several file arguments, with the system asking if you really want to do it, `y' for yes and `n' for no target file `[file2]' already exists to avoid unintentional.</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7"/>
                  </a:ext>
                </a:extLst>
              </a:tr>
              <a:tr h="217295">
                <a:tc>
                  <a:txBody>
                    <a:bodyPr/>
                    <a:lstStyle/>
                    <a:p>
                      <a:pPr>
                        <a:lnSpc>
                          <a:spcPct val="107000"/>
                        </a:lnSpc>
                        <a:spcAft>
                          <a:spcPts val="600"/>
                        </a:spcAft>
                      </a:pPr>
                      <a:r>
                        <a:rPr lang="en-IN" sz="1000" dirty="0">
                          <a:effectLst/>
                        </a:rPr>
                        <a:t>mv [file1] [file2] </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Renames file `[file1'] as file `[file2]', i.e., moves one file to another.</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8"/>
                  </a:ext>
                </a:extLst>
              </a:tr>
              <a:tr h="339460">
                <a:tc>
                  <a:txBody>
                    <a:bodyPr/>
                    <a:lstStyle/>
                    <a:p>
                      <a:pPr>
                        <a:lnSpc>
                          <a:spcPct val="107000"/>
                        </a:lnSpc>
                        <a:spcAft>
                          <a:spcPts val="600"/>
                        </a:spcAft>
                      </a:pPr>
                      <a:r>
                        <a:rPr lang="en-IN" sz="1000">
                          <a:effectLst/>
                        </a:rPr>
                        <a:t>grep `[str]' [file1]</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Searches for string [str] in file [file1]. ``cat [file1] [file2] | grep `[string]' (CR)'' searches for the pattern `[string]' in the catenated files.</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09"/>
                  </a:ext>
                </a:extLst>
              </a:tr>
              <a:tr h="217295">
                <a:tc>
                  <a:txBody>
                    <a:bodyPr/>
                    <a:lstStyle/>
                    <a:p>
                      <a:pPr>
                        <a:lnSpc>
                          <a:spcPct val="107000"/>
                        </a:lnSpc>
                        <a:spcAft>
                          <a:spcPts val="600"/>
                        </a:spcAft>
                      </a:pPr>
                      <a:r>
                        <a:rPr lang="en-IN" sz="1000">
                          <a:effectLst/>
                        </a:rPr>
                        <a:t>diff [file1]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Displays the difference between files `[file1]' and `[file2]'.</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0"/>
                  </a:ext>
                </a:extLst>
              </a:tr>
              <a:tr h="1045409">
                <a:tc>
                  <a:txBody>
                    <a:bodyPr/>
                    <a:lstStyle/>
                    <a:p>
                      <a:pPr>
                        <a:lnSpc>
                          <a:spcPct val="107000"/>
                        </a:lnSpc>
                        <a:spcAft>
                          <a:spcPts val="600"/>
                        </a:spcAft>
                      </a:pPr>
                      <a:r>
                        <a:rPr lang="en-IN" sz="1000" dirty="0" err="1">
                          <a:effectLst/>
                        </a:rPr>
                        <a:t>chmod</a:t>
                      </a:r>
                      <a:r>
                        <a:rPr lang="en-IN" sz="1000" dirty="0">
                          <a:effectLst/>
                        </a:rPr>
                        <a:t> [mode] [file]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Changes the read, write and execute permissions for the file (or files) `[file]' according to the `[mode]' which has form `[[who] [operator] [permission]]'; `[who]' is `u' for the user, `g' for the defined group', `o' for others and `a' = `</a:t>
                      </a:r>
                      <a:r>
                        <a:rPr lang="en-IN" sz="1000" dirty="0" err="1">
                          <a:effectLst/>
                        </a:rPr>
                        <a:t>ugo</a:t>
                      </a:r>
                      <a:r>
                        <a:rPr lang="en-IN" sz="1000" dirty="0">
                          <a:effectLst/>
                        </a:rPr>
                        <a:t>' for all; `[operator]' is `+' to add and `-' for remove; `[permission]' is `r' for read, `w' for write and `x' for execute; </a:t>
                      </a:r>
                    </a:p>
                    <a:p>
                      <a:pPr>
                        <a:lnSpc>
                          <a:spcPct val="107000"/>
                        </a:lnSpc>
                        <a:spcAft>
                          <a:spcPts val="600"/>
                        </a:spcAft>
                      </a:pPr>
                      <a:r>
                        <a:rPr lang="en-IN" sz="1000" dirty="0">
                          <a:effectLst/>
                        </a:rPr>
                        <a:t>Ex1: </a:t>
                      </a:r>
                      <a:r>
                        <a:rPr lang="en-IN" sz="1000" dirty="0" err="1">
                          <a:effectLst/>
                        </a:rPr>
                        <a:t>chmod</a:t>
                      </a:r>
                      <a:r>
                        <a:rPr lang="en-IN" sz="1000" dirty="0">
                          <a:effectLst/>
                        </a:rPr>
                        <a:t> </a:t>
                      </a:r>
                      <a:r>
                        <a:rPr lang="en-IN" sz="1000" dirty="0" err="1">
                          <a:effectLst/>
                        </a:rPr>
                        <a:t>u+rwx</a:t>
                      </a:r>
                      <a:r>
                        <a:rPr lang="en-IN" sz="1000" dirty="0">
                          <a:effectLst/>
                        </a:rPr>
                        <a:t> filename</a:t>
                      </a:r>
                    </a:p>
                    <a:p>
                      <a:pPr>
                        <a:lnSpc>
                          <a:spcPct val="107000"/>
                        </a:lnSpc>
                        <a:spcAft>
                          <a:spcPts val="600"/>
                        </a:spcAft>
                      </a:pPr>
                      <a:r>
                        <a:rPr lang="en-IN" sz="1000" dirty="0">
                          <a:effectLst/>
                        </a:rPr>
                        <a:t>Ex2: </a:t>
                      </a:r>
                      <a:r>
                        <a:rPr lang="en-IN" sz="1000" dirty="0" err="1">
                          <a:effectLst/>
                        </a:rPr>
                        <a:t>chmod</a:t>
                      </a:r>
                      <a:r>
                        <a:rPr lang="en-IN" sz="1000" dirty="0">
                          <a:effectLst/>
                        </a:rPr>
                        <a:t> 757 filename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1"/>
                  </a:ext>
                </a:extLst>
              </a:tr>
              <a:tr h="339460">
                <a:tc>
                  <a:txBody>
                    <a:bodyPr/>
                    <a:lstStyle/>
                    <a:p>
                      <a:pPr>
                        <a:lnSpc>
                          <a:spcPct val="107000"/>
                        </a:lnSpc>
                        <a:spcAft>
                          <a:spcPts val="600"/>
                        </a:spcAft>
                      </a:pPr>
                      <a:r>
                        <a:rPr lang="en-IN" sz="1000">
                          <a:effectLst/>
                        </a:rPr>
                        <a:t>wc filename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a:effectLst/>
                        </a:rPr>
                        <a:t>Used to get a count of the total number of lines, words, and characters contained in a file. </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2"/>
                  </a:ext>
                </a:extLst>
              </a:tr>
              <a:tr h="217295">
                <a:tc>
                  <a:txBody>
                    <a:bodyPr/>
                    <a:lstStyle/>
                    <a:p>
                      <a:pPr>
                        <a:lnSpc>
                          <a:spcPct val="107000"/>
                        </a:lnSpc>
                        <a:spcAft>
                          <a:spcPts val="600"/>
                        </a:spcAft>
                      </a:pPr>
                      <a:r>
                        <a:rPr lang="en-IN" sz="1000">
                          <a:effectLst/>
                        </a:rPr>
                        <a:t>file</a:t>
                      </a:r>
                      <a:endParaRPr lang="en-IN" sz="100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tc>
                  <a:txBody>
                    <a:bodyPr/>
                    <a:lstStyle/>
                    <a:p>
                      <a:pPr>
                        <a:lnSpc>
                          <a:spcPct val="107000"/>
                        </a:lnSpc>
                        <a:spcAft>
                          <a:spcPts val="600"/>
                        </a:spcAft>
                      </a:pPr>
                      <a:r>
                        <a:rPr lang="en-IN" sz="1000" dirty="0">
                          <a:effectLst/>
                        </a:rPr>
                        <a:t>Determines a file type.</a:t>
                      </a:r>
                      <a:endParaRPr lang="en-IN"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2799" marR="32799" marT="32799" marB="32799"/>
                </a:tc>
                <a:extLst>
                  <a:ext uri="{0D108BD9-81ED-4DB2-BD59-A6C34878D82A}">
                    <a16:rowId xmlns:a16="http://schemas.microsoft.com/office/drawing/2014/main" xmlns="" val="10013"/>
                  </a:ext>
                </a:extLst>
              </a:tr>
            </a:tbl>
          </a:graphicData>
        </a:graphic>
      </p:graphicFrame>
    </p:spTree>
    <p:extLst>
      <p:ext uri="{BB962C8B-B14F-4D97-AF65-F5344CB8AC3E}">
        <p14:creationId xmlns:p14="http://schemas.microsoft.com/office/powerpoint/2010/main" val="194359697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Commands – UNIX Process Commands</a:t>
            </a:r>
            <a:endParaRPr lang="en-IN" b="1" dirty="0"/>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34</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247522930"/>
              </p:ext>
            </p:extLst>
          </p:nvPr>
        </p:nvGraphicFramePr>
        <p:xfrm>
          <a:off x="528357" y="1461587"/>
          <a:ext cx="10875183" cy="3049453"/>
        </p:xfrm>
        <a:graphic>
          <a:graphicData uri="http://schemas.openxmlformats.org/drawingml/2006/table">
            <a:tbl>
              <a:tblPr firstRow="1" firstCol="1" bandRow="1">
                <a:tableStyleId>{7DF18680-E054-41AD-8BC1-D1AEF772440D}</a:tableStyleId>
              </a:tblPr>
              <a:tblGrid>
                <a:gridCol w="3577283">
                  <a:extLst>
                    <a:ext uri="{9D8B030D-6E8A-4147-A177-3AD203B41FA5}">
                      <a16:colId xmlns:a16="http://schemas.microsoft.com/office/drawing/2014/main" xmlns="" val="20000"/>
                    </a:ext>
                  </a:extLst>
                </a:gridCol>
                <a:gridCol w="7297900">
                  <a:extLst>
                    <a:ext uri="{9D8B030D-6E8A-4147-A177-3AD203B41FA5}">
                      <a16:colId xmlns:a16="http://schemas.microsoft.com/office/drawing/2014/main" xmlns="" val="20001"/>
                    </a:ext>
                  </a:extLst>
                </a:gridCol>
              </a:tblGrid>
              <a:tr h="374289">
                <a:tc>
                  <a:txBody>
                    <a:bodyPr/>
                    <a:lstStyle/>
                    <a:p>
                      <a:pPr>
                        <a:lnSpc>
                          <a:spcPct val="107000"/>
                        </a:lnSpc>
                        <a:spcAft>
                          <a:spcPts val="600"/>
                        </a:spcAft>
                      </a:pPr>
                      <a:r>
                        <a:rPr lang="en-IN" sz="1050" dirty="0">
                          <a:effectLst/>
                        </a:rPr>
                        <a:t>Command</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tc>
                  <a:txBody>
                    <a:bodyPr/>
                    <a:lstStyle/>
                    <a:p>
                      <a:pPr>
                        <a:lnSpc>
                          <a:spcPct val="107000"/>
                        </a:lnSpc>
                        <a:spcAft>
                          <a:spcPts val="600"/>
                        </a:spcAft>
                      </a:pPr>
                      <a:r>
                        <a:rPr lang="en-IN" sz="1050">
                          <a:effectLst/>
                        </a:rPr>
                        <a:t>Description</a:t>
                      </a:r>
                      <a:endParaRPr lang="en-IN" sz="1100">
                        <a:effectLst/>
                        <a:latin typeface="Calibri" panose="020F0502020204030204" pitchFamily="34" charset="0"/>
                        <a:ea typeface="Calibri" panose="020F0502020204030204" pitchFamily="34" charset="0"/>
                        <a:cs typeface="Times New Roman" panose="02020603050405020304" pitchFamily="18" charset="0"/>
                      </a:endParaRPr>
                    </a:p>
                  </a:txBody>
                  <a:tcPr marL="76200" marR="76200" marT="76200" marB="76200"/>
                </a:tc>
                <a:extLst>
                  <a:ext uri="{0D108BD9-81ED-4DB2-BD59-A6C34878D82A}">
                    <a16:rowId xmlns:a16="http://schemas.microsoft.com/office/drawing/2014/main" xmlns="" val="10000"/>
                  </a:ext>
                </a:extLst>
              </a:tr>
              <a:tr h="383764">
                <a:tc>
                  <a:txBody>
                    <a:bodyPr/>
                    <a:lstStyle/>
                    <a:p>
                      <a:pPr>
                        <a:lnSpc>
                          <a:spcPct val="107000"/>
                        </a:lnSpc>
                        <a:spcAft>
                          <a:spcPts val="600"/>
                        </a:spcAft>
                      </a:pPr>
                      <a:r>
                        <a:rPr lang="en-IN" sz="1100">
                          <a:effectLst/>
                        </a:rPr>
                        <a:t>jobs – l</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Display a simple single line with currently active job status.</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1"/>
                  </a:ext>
                </a:extLst>
              </a:tr>
              <a:tr h="377636">
                <a:tc>
                  <a:txBody>
                    <a:bodyPr/>
                    <a:lstStyle/>
                    <a:p>
                      <a:pPr>
                        <a:lnSpc>
                          <a:spcPct val="107000"/>
                        </a:lnSpc>
                        <a:spcAft>
                          <a:spcPts val="600"/>
                        </a:spcAft>
                      </a:pPr>
                      <a:r>
                        <a:rPr lang="en-IN" sz="1100" dirty="0" err="1">
                          <a:effectLst/>
                        </a:rPr>
                        <a:t>ps</a:t>
                      </a:r>
                      <a:endParaRPr lang="en-IN" sz="1100" dirty="0">
                        <a:effectLst/>
                      </a:endParaRPr>
                    </a:p>
                  </a:txBody>
                  <a:tcPr marL="76200" marR="76200" marT="76200" marB="76200"/>
                </a:tc>
                <a:tc>
                  <a:txBody>
                    <a:bodyPr/>
                    <a:lstStyle/>
                    <a:p>
                      <a:pPr>
                        <a:lnSpc>
                          <a:spcPct val="107000"/>
                        </a:lnSpc>
                        <a:spcAft>
                          <a:spcPts val="600"/>
                        </a:spcAft>
                      </a:pPr>
                      <a:r>
                        <a:rPr lang="en-IN" sz="1100" dirty="0">
                          <a:effectLst/>
                        </a:rPr>
                        <a:t>Display current process ids (``</a:t>
                      </a:r>
                      <a:r>
                        <a:rPr lang="en-IN" sz="1100" dirty="0" err="1">
                          <a:effectLst/>
                        </a:rPr>
                        <a:t>pid</a:t>
                      </a:r>
                      <a:r>
                        <a:rPr lang="en-IN" sz="1100" dirty="0">
                          <a:effectLst/>
                        </a:rPr>
                        <a:t>'') needed for killing.</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2"/>
                  </a:ext>
                </a:extLst>
              </a:tr>
              <a:tr h="452845">
                <a:tc>
                  <a:txBody>
                    <a:bodyPr/>
                    <a:lstStyle/>
                    <a:p>
                      <a:pPr>
                        <a:lnSpc>
                          <a:spcPct val="107000"/>
                        </a:lnSpc>
                        <a:spcAft>
                          <a:spcPts val="600"/>
                        </a:spcAft>
                      </a:pPr>
                      <a:r>
                        <a:rPr lang="en-IN" sz="1100" dirty="0" err="1">
                          <a:effectLst/>
                        </a:rPr>
                        <a:t>ps</a:t>
                      </a:r>
                      <a:r>
                        <a:rPr lang="en-IN" sz="1100" dirty="0">
                          <a:effectLst/>
                        </a:rPr>
                        <a:t> t[N]</a:t>
                      </a:r>
                    </a:p>
                  </a:txBody>
                  <a:tcPr marL="76200" marR="76200" marT="76200" marB="76200"/>
                </a:tc>
                <a:tc>
                  <a:txBody>
                    <a:bodyPr/>
                    <a:lstStyle/>
                    <a:p>
                      <a:pPr>
                        <a:lnSpc>
                          <a:spcPct val="107000"/>
                        </a:lnSpc>
                        <a:spcAft>
                          <a:spcPts val="600"/>
                        </a:spcAft>
                      </a:pPr>
                      <a:r>
                        <a:rPr lang="en-IN" sz="1100">
                          <a:effectLst/>
                        </a:rPr>
                        <a:t>Displays ``pid'' for terminal or tty [N].</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3"/>
                  </a:ext>
                </a:extLst>
              </a:tr>
              <a:tr h="327523">
                <a:tc>
                  <a:txBody>
                    <a:bodyPr/>
                    <a:lstStyle/>
                    <a:p>
                      <a:pPr>
                        <a:lnSpc>
                          <a:spcPct val="107000"/>
                        </a:lnSpc>
                        <a:spcAft>
                          <a:spcPts val="600"/>
                        </a:spcAft>
                      </a:pPr>
                      <a:r>
                        <a:rPr lang="en-IN" sz="1100">
                          <a:effectLst/>
                        </a:rPr>
                        <a:t>kill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a:effectLst/>
                        </a:rPr>
                        <a:t>Kills a process given by pid.</a:t>
                      </a:r>
                      <a:endParaRPr lang="en-IN" sz="110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4"/>
                  </a:ext>
                </a:extLst>
              </a:tr>
              <a:tr h="481002">
                <a:tc>
                  <a:txBody>
                    <a:bodyPr/>
                    <a:lstStyle/>
                    <a:p>
                      <a:pPr>
                        <a:lnSpc>
                          <a:spcPct val="107000"/>
                        </a:lnSpc>
                        <a:spcAft>
                          <a:spcPts val="600"/>
                        </a:spcAft>
                      </a:pPr>
                      <a:r>
                        <a:rPr lang="en-IN" sz="1100">
                          <a:effectLst/>
                        </a:rPr>
                        <a:t>kill -9 [pid]</a:t>
                      </a:r>
                    </a:p>
                    <a:p>
                      <a:pPr>
                        <a:lnSpc>
                          <a:spcPct val="107000"/>
                        </a:lnSpc>
                        <a:spcAft>
                          <a:spcPts val="600"/>
                        </a:spcAft>
                      </a:pPr>
                      <a:r>
                        <a:rPr lang="en-IN" sz="1100">
                          <a:effectLst/>
                        </a:rPr>
                        <a:t> </a:t>
                      </a:r>
                      <a:endParaRPr lang="en-IN" sz="1100">
                        <a:effectLst/>
                        <a:latin typeface="Calibri" panose="020F0502020204030204" pitchFamily="34" charset="0"/>
                        <a:ea typeface="Times New Roman" panose="02020603050405020304" pitchFamily="18" charset="0"/>
                      </a:endParaRPr>
                    </a:p>
                  </a:txBody>
                  <a:tcPr marL="76200" marR="76200" marT="76200" marB="76200"/>
                </a:tc>
                <a:tc>
                  <a:txBody>
                    <a:bodyPr/>
                    <a:lstStyle/>
                    <a:p>
                      <a:pPr>
                        <a:lnSpc>
                          <a:spcPct val="107000"/>
                        </a:lnSpc>
                        <a:spcAft>
                          <a:spcPts val="600"/>
                        </a:spcAft>
                      </a:pPr>
                      <a:r>
                        <a:rPr lang="en-IN" sz="1100" dirty="0">
                          <a:effectLst/>
                        </a:rPr>
                        <a:t>Means a “sure kill”' or “Force Kill” of ``</a:t>
                      </a:r>
                      <a:r>
                        <a:rPr lang="en-IN" sz="1100" dirty="0" err="1">
                          <a:effectLst/>
                        </a:rPr>
                        <a:t>pid</a:t>
                      </a:r>
                      <a:r>
                        <a:rPr lang="en-IN" sz="1100" dirty="0">
                          <a:effectLst/>
                        </a:rPr>
                        <a:t>'' [</a:t>
                      </a:r>
                      <a:r>
                        <a:rPr lang="en-IN" sz="1100" dirty="0" err="1">
                          <a:effectLst/>
                        </a:rPr>
                        <a:t>pid</a:t>
                      </a:r>
                      <a:r>
                        <a:rPr lang="en-IN" sz="1100" dirty="0">
                          <a:effectLst/>
                        </a:rPr>
                        <a:t>]; this becomes necessary when you lose control of a process or have a session aborted.</a:t>
                      </a:r>
                    </a:p>
                    <a:p>
                      <a:pPr>
                        <a:lnSpc>
                          <a:spcPct val="107000"/>
                        </a:lnSpc>
                        <a:spcAft>
                          <a:spcPts val="600"/>
                        </a:spcAft>
                      </a:pPr>
                      <a:r>
                        <a:rPr lang="en-IN" sz="1100" dirty="0">
                          <a:effectLst/>
                        </a:rPr>
                        <a:t> </a:t>
                      </a:r>
                      <a:endParaRPr lang="en-IN" sz="1100" dirty="0">
                        <a:effectLst/>
                        <a:latin typeface="Calibri" panose="020F0502020204030204" pitchFamily="34" charset="0"/>
                        <a:ea typeface="Times New Roman" panose="02020603050405020304" pitchFamily="18" charset="0"/>
                      </a:endParaRPr>
                    </a:p>
                  </a:txBody>
                  <a:tcPr marL="76200" marR="76200" marT="76200" marB="76200"/>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82508641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35</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Thank You</a:t>
            </a:r>
          </a:p>
        </p:txBody>
      </p:sp>
    </p:spTree>
    <p:extLst>
      <p:ext uri="{BB962C8B-B14F-4D97-AF65-F5344CB8AC3E}">
        <p14:creationId xmlns:p14="http://schemas.microsoft.com/office/powerpoint/2010/main" val="119181483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solidFill>
                  <a:srgbClr val="0E5580"/>
                </a:solidFill>
              </a:rPr>
              <a:pPr/>
              <a:t>36</a:t>
            </a:fld>
            <a:endParaRPr lang="en-US" dirty="0">
              <a:solidFill>
                <a:srgbClr val="0E5580"/>
              </a:solidFill>
            </a:endParaRPr>
          </a:p>
        </p:txBody>
      </p:sp>
      <p:sp>
        <p:nvSpPr>
          <p:cNvPr id="3" name="Rectangle 2"/>
          <p:cNvSpPr/>
          <p:nvPr/>
        </p:nvSpPr>
        <p:spPr>
          <a:xfrm>
            <a:off x="464457" y="295729"/>
            <a:ext cx="9550400" cy="5161642"/>
          </a:xfrm>
          <a:prstGeom prst="rect">
            <a:avLst/>
          </a:prstGeom>
          <a:solidFill>
            <a:schemeClr val="tx2">
              <a:lumMod val="75000"/>
            </a:schemeClr>
          </a:solid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3200" dirty="0"/>
              <a:t>Appendix</a:t>
            </a:r>
          </a:p>
        </p:txBody>
      </p:sp>
    </p:spTree>
    <p:extLst>
      <p:ext uri="{BB962C8B-B14F-4D97-AF65-F5344CB8AC3E}">
        <p14:creationId xmlns:p14="http://schemas.microsoft.com/office/powerpoint/2010/main" val="243237076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Different types of OS ?</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37</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graphicFrame>
        <p:nvGraphicFramePr>
          <p:cNvPr id="3" name="Content Placeholder 2"/>
          <p:cNvGraphicFramePr>
            <a:graphicFrameLocks noGrp="1"/>
          </p:cNvGraphicFramePr>
          <p:nvPr>
            <p:ph idx="1"/>
            <p:extLst>
              <p:ext uri="{D42A27DB-BD31-4B8C-83A1-F6EECF244321}">
                <p14:modId xmlns:p14="http://schemas.microsoft.com/office/powerpoint/2010/main" val="1532270554"/>
              </p:ext>
            </p:extLst>
          </p:nvPr>
        </p:nvGraphicFramePr>
        <p:xfrm>
          <a:off x="486191" y="1249326"/>
          <a:ext cx="11244255" cy="5532120"/>
        </p:xfrm>
        <a:graphic>
          <a:graphicData uri="http://schemas.openxmlformats.org/drawingml/2006/table">
            <a:tbl>
              <a:tblPr firstRow="1" bandRow="1">
                <a:tableStyleId>{7DF18680-E054-41AD-8BC1-D1AEF772440D}</a:tableStyleId>
              </a:tblPr>
              <a:tblGrid>
                <a:gridCol w="2231069">
                  <a:extLst>
                    <a:ext uri="{9D8B030D-6E8A-4147-A177-3AD203B41FA5}">
                      <a16:colId xmlns:a16="http://schemas.microsoft.com/office/drawing/2014/main" xmlns="" val="20000"/>
                    </a:ext>
                  </a:extLst>
                </a:gridCol>
                <a:gridCol w="2231069">
                  <a:extLst>
                    <a:ext uri="{9D8B030D-6E8A-4147-A177-3AD203B41FA5}">
                      <a16:colId xmlns:a16="http://schemas.microsoft.com/office/drawing/2014/main" xmlns="" val="20001"/>
                    </a:ext>
                  </a:extLst>
                </a:gridCol>
                <a:gridCol w="2231069">
                  <a:extLst>
                    <a:ext uri="{9D8B030D-6E8A-4147-A177-3AD203B41FA5}">
                      <a16:colId xmlns:a16="http://schemas.microsoft.com/office/drawing/2014/main" xmlns="" val="20002"/>
                    </a:ext>
                  </a:extLst>
                </a:gridCol>
                <a:gridCol w="1386117">
                  <a:extLst>
                    <a:ext uri="{9D8B030D-6E8A-4147-A177-3AD203B41FA5}">
                      <a16:colId xmlns:a16="http://schemas.microsoft.com/office/drawing/2014/main" xmlns="" val="20003"/>
                    </a:ext>
                  </a:extLst>
                </a:gridCol>
                <a:gridCol w="3164931">
                  <a:extLst>
                    <a:ext uri="{9D8B030D-6E8A-4147-A177-3AD203B41FA5}">
                      <a16:colId xmlns:a16="http://schemas.microsoft.com/office/drawing/2014/main" xmlns="" val="20004"/>
                    </a:ext>
                  </a:extLst>
                </a:gridCol>
              </a:tblGrid>
              <a:tr h="0">
                <a:tc>
                  <a:txBody>
                    <a:bodyPr/>
                    <a:lstStyle/>
                    <a:p>
                      <a:r>
                        <a:rPr lang="en-IN" dirty="0"/>
                        <a:t>Quality</a:t>
                      </a:r>
                    </a:p>
                  </a:txBody>
                  <a:tcPr/>
                </a:tc>
                <a:tc>
                  <a:txBody>
                    <a:bodyPr/>
                    <a:lstStyle/>
                    <a:p>
                      <a:r>
                        <a:rPr lang="en-IN" dirty="0"/>
                        <a:t>Windows</a:t>
                      </a:r>
                    </a:p>
                  </a:txBody>
                  <a:tcPr/>
                </a:tc>
                <a:tc>
                  <a:txBody>
                    <a:bodyPr/>
                    <a:lstStyle/>
                    <a:p>
                      <a:r>
                        <a:rPr lang="en-IN" dirty="0"/>
                        <a:t>Mac</a:t>
                      </a:r>
                    </a:p>
                  </a:txBody>
                  <a:tcPr/>
                </a:tc>
                <a:tc>
                  <a:txBody>
                    <a:bodyPr/>
                    <a:lstStyle/>
                    <a:p>
                      <a:r>
                        <a:rPr lang="en-IN" dirty="0"/>
                        <a:t>Unix</a:t>
                      </a:r>
                      <a:r>
                        <a:rPr lang="en-IN" baseline="0" dirty="0"/>
                        <a:t> </a:t>
                      </a:r>
                      <a:endParaRPr lang="en-IN" dirty="0"/>
                    </a:p>
                  </a:txBody>
                  <a:tcPr/>
                </a:tc>
                <a:tc>
                  <a:txBody>
                    <a:bodyPr/>
                    <a:lstStyle/>
                    <a:p>
                      <a:r>
                        <a:rPr lang="en-IN" dirty="0"/>
                        <a:t>z/OS</a:t>
                      </a:r>
                    </a:p>
                  </a:txBody>
                  <a:tcPr/>
                </a:tc>
                <a:extLst>
                  <a:ext uri="{0D108BD9-81ED-4DB2-BD59-A6C34878D82A}">
                    <a16:rowId xmlns:a16="http://schemas.microsoft.com/office/drawing/2014/main" xmlns="" val="10000"/>
                  </a:ext>
                </a:extLst>
              </a:tr>
              <a:tr h="370840">
                <a:tc>
                  <a:txBody>
                    <a:bodyPr/>
                    <a:lstStyle/>
                    <a:p>
                      <a:r>
                        <a:rPr lang="en-IN" dirty="0"/>
                        <a:t>User Interface</a:t>
                      </a:r>
                    </a:p>
                  </a:txBody>
                  <a:tcPr/>
                </a:tc>
                <a:tc>
                  <a:txBody>
                    <a:bodyPr/>
                    <a:lstStyle/>
                    <a:p>
                      <a:r>
                        <a:rPr lang="en-IN" sz="1100" dirty="0"/>
                        <a:t>Excellent ( Easy to</a:t>
                      </a:r>
                      <a:r>
                        <a:rPr lang="en-IN" sz="1100" baseline="0" dirty="0"/>
                        <a:t> understand)</a:t>
                      </a:r>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Excellent( Easy to</a:t>
                      </a:r>
                      <a:r>
                        <a:rPr lang="en-IN" sz="1100" baseline="0" dirty="0"/>
                        <a:t> understand)</a:t>
                      </a:r>
                      <a:endParaRPr lang="en-IN" sz="1100" dirty="0"/>
                    </a:p>
                    <a:p>
                      <a:endParaRPr lang="en-IN" sz="1100" dirty="0"/>
                    </a:p>
                  </a:txBody>
                  <a:tcPr/>
                </a:tc>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IN" sz="1100" dirty="0"/>
                        <a:t>Good (Needs</a:t>
                      </a:r>
                      <a:r>
                        <a:rPr lang="en-IN" sz="1100" baseline="0" dirty="0"/>
                        <a:t> some practice </a:t>
                      </a:r>
                      <a:r>
                        <a:rPr lang="en-IN" sz="1100" dirty="0"/>
                        <a:t>to</a:t>
                      </a:r>
                      <a:r>
                        <a:rPr lang="en-IN" sz="1100" baseline="0" dirty="0"/>
                        <a:t> understand)</a:t>
                      </a:r>
                      <a:endParaRPr lang="en-IN" sz="1100" dirty="0"/>
                    </a:p>
                    <a:p>
                      <a:endParaRPr lang="en-IN" sz="1100" dirty="0"/>
                    </a:p>
                  </a:txBody>
                  <a:tcPr/>
                </a:tc>
                <a:tc>
                  <a:txBody>
                    <a:bodyPr/>
                    <a:lstStyle/>
                    <a:p>
                      <a:r>
                        <a:rPr lang="en-IN" sz="1100" dirty="0"/>
                        <a:t>Medium ( Very difficult</a:t>
                      </a:r>
                      <a:r>
                        <a:rPr lang="en-IN" sz="1100" baseline="0" dirty="0"/>
                        <a:t> )</a:t>
                      </a:r>
                      <a:endParaRPr lang="en-IN" sz="1100" dirty="0">
                        <a:solidFill>
                          <a:schemeClr val="tx1"/>
                        </a:solidFill>
                      </a:endParaRPr>
                    </a:p>
                  </a:txBody>
                  <a:tcPr/>
                </a:tc>
                <a:extLst>
                  <a:ext uri="{0D108BD9-81ED-4DB2-BD59-A6C34878D82A}">
                    <a16:rowId xmlns:a16="http://schemas.microsoft.com/office/drawing/2014/main" xmlns="" val="10001"/>
                  </a:ext>
                </a:extLst>
              </a:tr>
              <a:tr h="370840">
                <a:tc>
                  <a:txBody>
                    <a:bodyPr/>
                    <a:lstStyle/>
                    <a:p>
                      <a:r>
                        <a:rPr lang="en-IN" dirty="0"/>
                        <a:t>Security</a:t>
                      </a:r>
                    </a:p>
                  </a:txBody>
                  <a:tcPr/>
                </a:tc>
                <a:tc>
                  <a:txBody>
                    <a:bodyPr/>
                    <a:lstStyle/>
                    <a:p>
                      <a:r>
                        <a:rPr lang="en-IN" sz="1100" dirty="0"/>
                        <a:t>Moderate</a:t>
                      </a:r>
                    </a:p>
                  </a:txBody>
                  <a:tcPr/>
                </a:tc>
                <a:tc>
                  <a:txBody>
                    <a:bodyPr/>
                    <a:lstStyle/>
                    <a:p>
                      <a:r>
                        <a:rPr lang="en-IN" sz="1100" dirty="0"/>
                        <a:t>High</a:t>
                      </a:r>
                    </a:p>
                  </a:txBody>
                  <a:tcPr/>
                </a:tc>
                <a:tc>
                  <a:txBody>
                    <a:bodyPr/>
                    <a:lstStyle/>
                    <a:p>
                      <a:r>
                        <a:rPr lang="en-IN" sz="1100" dirty="0"/>
                        <a:t>Highly</a:t>
                      </a:r>
                      <a:r>
                        <a:rPr lang="en-IN" sz="1100" baseline="0" dirty="0"/>
                        <a:t> Secure</a:t>
                      </a:r>
                      <a:endParaRPr lang="en-IN" sz="1100" dirty="0"/>
                    </a:p>
                  </a:txBody>
                  <a:tcPr/>
                </a:tc>
                <a:tc>
                  <a:txBody>
                    <a:bodyPr/>
                    <a:lstStyle/>
                    <a:p>
                      <a:r>
                        <a:rPr lang="en-IN" sz="1100" dirty="0"/>
                        <a:t>Highly Secure</a:t>
                      </a:r>
                    </a:p>
                  </a:txBody>
                  <a:tcPr/>
                </a:tc>
                <a:extLst>
                  <a:ext uri="{0D108BD9-81ED-4DB2-BD59-A6C34878D82A}">
                    <a16:rowId xmlns:a16="http://schemas.microsoft.com/office/drawing/2014/main" xmlns="" val="10002"/>
                  </a:ext>
                </a:extLst>
              </a:tr>
              <a:tr h="370840">
                <a:tc>
                  <a:txBody>
                    <a:bodyPr/>
                    <a:lstStyle/>
                    <a:p>
                      <a:r>
                        <a:rPr lang="en-IN" dirty="0"/>
                        <a:t>Compatibility</a:t>
                      </a:r>
                    </a:p>
                  </a:txBody>
                  <a:tcPr/>
                </a:tc>
                <a:tc>
                  <a:txBody>
                    <a:bodyPr/>
                    <a:lstStyle/>
                    <a:p>
                      <a:r>
                        <a:rPr lang="en-IN" sz="1100" dirty="0"/>
                        <a:t>Runs on any hardware</a:t>
                      </a:r>
                    </a:p>
                  </a:txBody>
                  <a:tcPr/>
                </a:tc>
                <a:tc>
                  <a:txBody>
                    <a:bodyPr/>
                    <a:lstStyle/>
                    <a:p>
                      <a:r>
                        <a:rPr lang="en-IN" sz="1100" dirty="0"/>
                        <a:t>Runs only on Apple</a:t>
                      </a:r>
                    </a:p>
                  </a:txBody>
                  <a:tcPr/>
                </a:tc>
                <a:tc>
                  <a:txBody>
                    <a:bodyPr/>
                    <a:lstStyle/>
                    <a:p>
                      <a:r>
                        <a:rPr lang="en-IN" sz="1100" dirty="0"/>
                        <a:t>Any Hardware</a:t>
                      </a:r>
                    </a:p>
                  </a:txBody>
                  <a:tcPr/>
                </a:tc>
                <a:tc>
                  <a:txBody>
                    <a:bodyPr/>
                    <a:lstStyle/>
                    <a:p>
                      <a:r>
                        <a:rPr lang="en-IN" sz="1100" dirty="0"/>
                        <a:t>Any Hardware</a:t>
                      </a:r>
                    </a:p>
                  </a:txBody>
                  <a:tcPr/>
                </a:tc>
                <a:extLst>
                  <a:ext uri="{0D108BD9-81ED-4DB2-BD59-A6C34878D82A}">
                    <a16:rowId xmlns:a16="http://schemas.microsoft.com/office/drawing/2014/main" xmlns="" val="10003"/>
                  </a:ext>
                </a:extLst>
              </a:tr>
              <a:tr h="370840">
                <a:tc>
                  <a:txBody>
                    <a:bodyPr/>
                    <a:lstStyle/>
                    <a:p>
                      <a:r>
                        <a:rPr lang="en-IN" dirty="0"/>
                        <a:t>Performance</a:t>
                      </a:r>
                    </a:p>
                  </a:txBody>
                  <a:tcPr/>
                </a:tc>
                <a:tc>
                  <a:txBody>
                    <a:bodyPr/>
                    <a:lstStyle/>
                    <a:p>
                      <a:r>
                        <a:rPr lang="en-IN" sz="1100" dirty="0"/>
                        <a:t>Slow( too many apps running)</a:t>
                      </a:r>
                    </a:p>
                  </a:txBody>
                  <a:tcPr/>
                </a:tc>
                <a:tc>
                  <a:txBody>
                    <a:bodyPr/>
                    <a:lstStyle/>
                    <a:p>
                      <a:r>
                        <a:rPr lang="en-IN" sz="1100" dirty="0"/>
                        <a:t>Slow </a:t>
                      </a:r>
                    </a:p>
                  </a:txBody>
                  <a:tcPr/>
                </a:tc>
                <a:tc>
                  <a:txBody>
                    <a:bodyPr/>
                    <a:lstStyle/>
                    <a:p>
                      <a:r>
                        <a:rPr lang="en-IN" sz="1100" dirty="0"/>
                        <a:t>Fast</a:t>
                      </a:r>
                    </a:p>
                  </a:txBody>
                  <a:tcPr/>
                </a:tc>
                <a:tc>
                  <a:txBody>
                    <a:bodyPr/>
                    <a:lstStyle/>
                    <a:p>
                      <a:r>
                        <a:rPr lang="en-IN" sz="1100" dirty="0"/>
                        <a:t>Fastest (z/OS gets extra points for being more scalable. Want to double your transaction throughput? Ask your IBM engineer to switch on more processors and you're away. Nothing else to do. A similar exercise with a UNIX environment will usually involve adding a few more UNIX servers to your cluster.)</a:t>
                      </a:r>
                    </a:p>
                  </a:txBody>
                  <a:tcPr/>
                </a:tc>
                <a:extLst>
                  <a:ext uri="{0D108BD9-81ED-4DB2-BD59-A6C34878D82A}">
                    <a16:rowId xmlns:a16="http://schemas.microsoft.com/office/drawing/2014/main" xmlns="" val="10004"/>
                  </a:ext>
                </a:extLst>
              </a:tr>
              <a:tr h="370840">
                <a:tc>
                  <a:txBody>
                    <a:bodyPr/>
                    <a:lstStyle/>
                    <a:p>
                      <a:r>
                        <a:rPr lang="en-IN" dirty="0"/>
                        <a:t>Reliability</a:t>
                      </a:r>
                    </a:p>
                  </a:txBody>
                  <a:tcPr/>
                </a:tc>
                <a:tc>
                  <a:txBody>
                    <a:bodyPr/>
                    <a:lstStyle/>
                    <a:p>
                      <a:r>
                        <a:rPr lang="en-IN" sz="1100" dirty="0"/>
                        <a:t>Relatively Stable</a:t>
                      </a:r>
                      <a:r>
                        <a:rPr lang="en-IN" sz="1100" baseline="0" dirty="0"/>
                        <a:t> because the application needs to be secure on a regular basis.</a:t>
                      </a:r>
                    </a:p>
                  </a:txBody>
                  <a:tcPr/>
                </a:tc>
                <a:tc>
                  <a:txBody>
                    <a:bodyPr/>
                    <a:lstStyle/>
                    <a:p>
                      <a:r>
                        <a:rPr lang="en-IN" sz="1100" dirty="0"/>
                        <a:t>Better than Win,</a:t>
                      </a:r>
                      <a:r>
                        <a:rPr lang="en-IN" sz="1100" baseline="0" dirty="0"/>
                        <a:t> because of its restriction on hardware. Still apps needs to be updated</a:t>
                      </a:r>
                      <a:endParaRPr lang="en-IN" sz="1100" dirty="0"/>
                    </a:p>
                  </a:txBody>
                  <a:tcPr/>
                </a:tc>
                <a:tc>
                  <a:txBody>
                    <a:bodyPr/>
                    <a:lstStyle/>
                    <a:p>
                      <a:r>
                        <a:rPr lang="en-IN" sz="1100" dirty="0"/>
                        <a:t>Stable,</a:t>
                      </a:r>
                      <a:r>
                        <a:rPr lang="en-IN" sz="1100" baseline="0" dirty="0"/>
                        <a:t> not too many apps running.</a:t>
                      </a:r>
                      <a:endParaRPr lang="en-IN" sz="1100" dirty="0"/>
                    </a:p>
                  </a:txBody>
                  <a:tcPr/>
                </a:tc>
                <a:tc>
                  <a:txBody>
                    <a:bodyPr/>
                    <a:lstStyle/>
                    <a:p>
                      <a:r>
                        <a:rPr lang="en-IN" sz="1100" dirty="0"/>
                        <a:t>Highly stable.</a:t>
                      </a:r>
                      <a:r>
                        <a:rPr lang="en-IN" sz="1100" baseline="0" dirty="0"/>
                        <a:t> </a:t>
                      </a:r>
                      <a:r>
                        <a:rPr lang="en-IN" sz="1100" dirty="0"/>
                        <a:t>IBM proudly states that Mainframes can achieve “five nines” (99.999%) availability, or around 5 minutes unscheduled and scheduled downtime per year.</a:t>
                      </a:r>
                    </a:p>
                  </a:txBody>
                  <a:tcPr/>
                </a:tc>
                <a:extLst>
                  <a:ext uri="{0D108BD9-81ED-4DB2-BD59-A6C34878D82A}">
                    <a16:rowId xmlns:a16="http://schemas.microsoft.com/office/drawing/2014/main" xmlns="" val="10005"/>
                  </a:ext>
                </a:extLst>
              </a:tr>
              <a:tr h="370840">
                <a:tc>
                  <a:txBody>
                    <a:bodyPr/>
                    <a:lstStyle/>
                    <a:p>
                      <a:r>
                        <a:rPr lang="en-IN" dirty="0"/>
                        <a:t>Cost</a:t>
                      </a:r>
                    </a:p>
                  </a:txBody>
                  <a:tcPr/>
                </a:tc>
                <a:tc>
                  <a:txBody>
                    <a:bodyPr/>
                    <a:lstStyle/>
                    <a:p>
                      <a:r>
                        <a:rPr lang="en-IN" sz="1100" baseline="0" dirty="0"/>
                        <a:t>Expensive</a:t>
                      </a:r>
                    </a:p>
                  </a:txBody>
                  <a:tcPr/>
                </a:tc>
                <a:tc>
                  <a:txBody>
                    <a:bodyPr/>
                    <a:lstStyle/>
                    <a:p>
                      <a:r>
                        <a:rPr lang="en-IN" sz="1100" dirty="0"/>
                        <a:t>Expensive</a:t>
                      </a:r>
                    </a:p>
                  </a:txBody>
                  <a:tcPr/>
                </a:tc>
                <a:tc>
                  <a:txBody>
                    <a:bodyPr/>
                    <a:lstStyle/>
                    <a:p>
                      <a:r>
                        <a:rPr lang="en-IN" sz="1100" dirty="0"/>
                        <a:t>Cheapest</a:t>
                      </a:r>
                    </a:p>
                  </a:txBody>
                  <a:tcPr/>
                </a:tc>
                <a:tc>
                  <a:txBody>
                    <a:bodyPr/>
                    <a:lstStyle/>
                    <a:p>
                      <a:r>
                        <a:rPr lang="en-IN" sz="1100" dirty="0"/>
                        <a:t>Most Expensive</a:t>
                      </a:r>
                    </a:p>
                  </a:txBody>
                  <a:tcPr/>
                </a:tc>
                <a:extLst>
                  <a:ext uri="{0D108BD9-81ED-4DB2-BD59-A6C34878D82A}">
                    <a16:rowId xmlns:a16="http://schemas.microsoft.com/office/drawing/2014/main" xmlns="" val="10006"/>
                  </a:ext>
                </a:extLst>
              </a:tr>
              <a:tr h="370840">
                <a:tc>
                  <a:txBody>
                    <a:bodyPr/>
                    <a:lstStyle/>
                    <a:p>
                      <a:r>
                        <a:rPr lang="en-IN" dirty="0"/>
                        <a:t>Customers</a:t>
                      </a:r>
                    </a:p>
                  </a:txBody>
                  <a:tcPr/>
                </a:tc>
                <a:tc>
                  <a:txBody>
                    <a:bodyPr/>
                    <a:lstStyle/>
                    <a:p>
                      <a:r>
                        <a:rPr lang="en-IN" sz="1100" baseline="0" dirty="0"/>
                        <a:t>Laptop and desktops</a:t>
                      </a:r>
                    </a:p>
                  </a:txBody>
                  <a:tcPr/>
                </a:tc>
                <a:tc>
                  <a:txBody>
                    <a:bodyPr/>
                    <a:lstStyle/>
                    <a:p>
                      <a:r>
                        <a:rPr lang="en-IN" sz="1100" dirty="0"/>
                        <a:t>Laptops</a:t>
                      </a:r>
                      <a:r>
                        <a:rPr lang="en-IN" sz="1100" baseline="0" dirty="0"/>
                        <a:t> and desktops</a:t>
                      </a:r>
                      <a:endParaRPr lang="en-IN" sz="1100" dirty="0"/>
                    </a:p>
                  </a:txBody>
                  <a:tcPr/>
                </a:tc>
                <a:tc>
                  <a:txBody>
                    <a:bodyPr/>
                    <a:lstStyle/>
                    <a:p>
                      <a:r>
                        <a:rPr lang="en-IN" sz="1100" dirty="0"/>
                        <a:t>smaller, less critical Mainframe application or servers</a:t>
                      </a:r>
                    </a:p>
                  </a:txBody>
                  <a:tcPr/>
                </a:tc>
                <a:tc>
                  <a:txBody>
                    <a:bodyPr/>
                    <a:lstStyle/>
                    <a:p>
                      <a:r>
                        <a:rPr lang="en-IN" sz="1100" dirty="0"/>
                        <a:t>If you have existing critical Mainframe applications, there are lots of reasons to keep them going. As far as security, reliability and the ability to handle lots of transactions, nothing beats z/OS.</a:t>
                      </a:r>
                    </a:p>
                  </a:txBody>
                  <a:tcPr/>
                </a:tc>
                <a:extLst>
                  <a:ext uri="{0D108BD9-81ED-4DB2-BD59-A6C34878D82A}">
                    <a16:rowId xmlns:a16="http://schemas.microsoft.com/office/drawing/2014/main" xmlns="" val="10007"/>
                  </a:ext>
                </a:extLst>
              </a:tr>
            </a:tbl>
          </a:graphicData>
        </a:graphic>
      </p:graphicFrame>
    </p:spTree>
    <p:extLst>
      <p:ext uri="{BB962C8B-B14F-4D97-AF65-F5344CB8AC3E}">
        <p14:creationId xmlns:p14="http://schemas.microsoft.com/office/powerpoint/2010/main" val="375595972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Unix  </a:t>
            </a:r>
            <a:r>
              <a:rPr lang="en-IN" dirty="0" smtClean="0"/>
              <a:t> </a:t>
            </a:r>
            <a:r>
              <a:rPr lang="en-IN" dirty="0"/>
              <a:t>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38</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629984" y="1007882"/>
            <a:ext cx="10698416" cy="2052042"/>
          </a:xfrm>
          <a:prstGeom prst="rect">
            <a:avLst/>
          </a:prstGeom>
          <a:solidFill>
            <a:srgbClr val="FFFF00"/>
          </a:solidFill>
        </p:spPr>
        <p:txBody>
          <a:bodyPr vert="horz" wrap="square" lIns="91440" tIns="45720" rIns="91440" bIns="45720" rtlCol="0" anchor="ctr">
            <a:noAutofit/>
          </a:bodyPr>
          <a:lstStyle/>
          <a:p>
            <a:r>
              <a:rPr lang="en-IN" sz="2800" b="1" dirty="0"/>
              <a:t>IBM</a:t>
            </a:r>
            <a:r>
              <a:rPr lang="en-IN" sz="2800" dirty="0"/>
              <a:t> choose </a:t>
            </a:r>
            <a:r>
              <a:rPr lang="en-IN" sz="2800" b="1" dirty="0"/>
              <a:t>Linux</a:t>
            </a:r>
            <a:r>
              <a:rPr lang="en-IN" sz="2800" dirty="0"/>
              <a:t> for what is expected to be </a:t>
            </a:r>
            <a:r>
              <a:rPr lang="en-IN" sz="2800" dirty="0" smtClean="0"/>
              <a:t>then </a:t>
            </a:r>
            <a:r>
              <a:rPr lang="en-IN" sz="2800" dirty="0"/>
              <a:t>world’s most powerful supercomputer, </a:t>
            </a:r>
            <a:r>
              <a:rPr lang="en-IN" sz="2800" b="1" dirty="0"/>
              <a:t>Sequoia</a:t>
            </a:r>
            <a:r>
              <a:rPr lang="en-IN" sz="2800" dirty="0"/>
              <a:t>, due in </a:t>
            </a:r>
            <a:r>
              <a:rPr lang="en-IN" sz="2800" b="1" dirty="0"/>
              <a:t>2011</a:t>
            </a:r>
            <a:endParaRPr lang="en-IN" sz="2800" dirty="0">
              <a:latin typeface="Berlin Sans FB Demi" panose="020E0802020502020306" pitchFamily="34" charset="0"/>
            </a:endParaRPr>
          </a:p>
        </p:txBody>
      </p:sp>
      <p:pic>
        <p:nvPicPr>
          <p:cNvPr id="17410" name="Picture 2" descr="https://www.top500.org/static/media/uploads/featured/top-systems/sequoia-lawrence-livermore-national-laboratory/Sequoia_LeftSideFinal_0013_800x600.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080" y="3381976"/>
            <a:ext cx="5110480" cy="3200438"/>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https://asc.llnl.gov/content/assets/images/sequoia-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50039" y="4131071"/>
            <a:ext cx="1584340" cy="16745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617155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Linux Facts</a:t>
            </a:r>
          </a:p>
        </p:txBody>
      </p:sp>
      <p:sp>
        <p:nvSpPr>
          <p:cNvPr id="4" name="Slide Number Placeholder 3"/>
          <p:cNvSpPr>
            <a:spLocks noGrp="1"/>
          </p:cNvSpPr>
          <p:nvPr>
            <p:ph type="sldNum" sz="quarter" idx="12"/>
          </p:nvPr>
        </p:nvSpPr>
        <p:spPr/>
        <p:txBody>
          <a:bodyPr/>
          <a:lstStyle/>
          <a:p>
            <a:fld id="{D57F1E4F-1CFF-5643-939E-217C01CDF565}" type="slidenum">
              <a:rPr lang="en-US" smtClean="0">
                <a:solidFill>
                  <a:srgbClr val="0E5580"/>
                </a:solidFill>
              </a:rPr>
              <a:pPr/>
              <a:t>39</a:t>
            </a:fld>
            <a:endParaRPr lang="en-US" dirty="0">
              <a:solidFill>
                <a:srgbClr val="0E5580"/>
              </a:solidFill>
            </a:endParaRPr>
          </a:p>
        </p:txBody>
      </p:sp>
      <p:sp>
        <p:nvSpPr>
          <p:cNvPr id="5" name="Text Placeholder 4"/>
          <p:cNvSpPr>
            <a:spLocks noGrp="1"/>
          </p:cNvSpPr>
          <p:nvPr>
            <p:ph type="body" sz="quarter" idx="13"/>
          </p:nvPr>
        </p:nvSpPr>
        <p:spPr/>
        <p:txBody>
          <a:bodyPr/>
          <a:lstStyle/>
          <a:p>
            <a:r>
              <a:rPr lang="en-IN" dirty="0"/>
              <a:t> </a:t>
            </a:r>
          </a:p>
        </p:txBody>
      </p:sp>
      <p:sp>
        <p:nvSpPr>
          <p:cNvPr id="10" name="TextBox 9"/>
          <p:cNvSpPr txBox="1"/>
          <p:nvPr/>
        </p:nvSpPr>
        <p:spPr bwMode="gray">
          <a:xfrm>
            <a:off x="492323" y="1434924"/>
            <a:ext cx="10698416" cy="2052042"/>
          </a:xfrm>
          <a:prstGeom prst="rect">
            <a:avLst/>
          </a:prstGeom>
        </p:spPr>
        <p:txBody>
          <a:bodyPr vert="horz" wrap="square" lIns="91440" tIns="45720" rIns="91440" bIns="45720" rtlCol="0" anchor="ctr">
            <a:noAutofit/>
          </a:bodyPr>
          <a:lstStyle/>
          <a:p>
            <a:endParaRPr lang="en-IN" sz="2800" dirty="0">
              <a:latin typeface="Berlin Sans FB Demi" panose="020E0802020502020306" pitchFamily="34" charset="0"/>
            </a:endParaRPr>
          </a:p>
        </p:txBody>
      </p:sp>
      <p:pic>
        <p:nvPicPr>
          <p:cNvPr id="8198" name="Picture 6" descr="http://www.ringdna.com/wp-content/uploads/2015/02/Dollarphotoclub_34185248.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33443" y="483746"/>
            <a:ext cx="1023984" cy="797508"/>
          </a:xfrm>
          <a:prstGeom prst="rect">
            <a:avLst/>
          </a:prstGeom>
          <a:noFill/>
          <a:extLst>
            <a:ext uri="{909E8E84-426E-40DD-AFC4-6F175D3DCCD1}">
              <a14:hiddenFill xmlns:a14="http://schemas.microsoft.com/office/drawing/2010/main">
                <a:solidFill>
                  <a:srgbClr val="FFFFFF"/>
                </a:solidFill>
              </a14:hiddenFill>
            </a:ext>
          </a:extLst>
        </p:spPr>
      </p:pic>
      <p:sp>
        <p:nvSpPr>
          <p:cNvPr id="8" name="AutoShape 10" descr="data:image/jpeg;base64,/9j/4AAQSkZJRgABAQAAAQABAAD/2wCEAAkGBxMTEhUSExMVFRUXGBgZFxgYGBgaGBgYGBgYHRgdGhcYHSggGBslGxoXITEhJSkrLi4uGB8zODMtNygtLisBCgoKDg0OGxAQGy8lICUtLS0tLS8tLS0tNS0tLS0tLy8tLS0tLS0tLS0tLS0tLS0tLS0tLS0tLS0tLS0tLS0tLf/AABEIAKgBLAMBIgACEQEDEQH/xAAcAAABBQEBAQAAAAAAAAAAAAAFAQIDBAYHAAj/xAA9EAABAgMGAwYEBAYCAwEBAAABAhEAAyEEBRIxQVFhcYEGEyIykaFCsdHwFFLB4QcjYnKC8ZKiFTPCJBb/xAAaAQACAwEBAAAAAAAAAAAAAAADBAECBQAG/8QALREAAgIBBAEDAQgDAQAAAAAAAAECEQMEEiExQSJRYRMFIzJxgZHh8BShwbH/2gAMAwEAAhEDEQA/AAly26ZJUJiAGfCp2IKqZh/DUivGOr2fxISrcA+ojjSJ2FwMlJHyHsR846N2FvkTEdypWJaXIO4eoPEP9tDEXwLyiaMpjml+3qmXeoWSQEBKDyUA7/8AKOoKlxwrtooTLTaCK/zVDnhZJ9xANTPaov5Oxwtu/Y6/hi1ZFlPKM72JtK5tikLWXUxD6+FRSH4sA8aBKY0VJSjfuJ/hlXsX0zEHVod3Q3ENk4SKtEwQNKQLoZXKGdyWjL9s+0AsslRSQZhokUoWoT1I6kQavy9EWaWVLPKv20cI7a9oRaJowvhBKiTR6hg2gFTAcuZr0oPiwp+qXRUvC1rBKpi1LUtyXUS4xCqtWJcAUzfhA+RPIThJzLkjMu+Z6xUSVLIdyT9gfOL9numYVeU1y2hZRbGnkS+CKRMKSSCz0DbDIetYt2C9ZoWEhclKRmVIQKtn3mHFi/qfPhA62SFILHSKZU+kRRzlwdau23zJ8tPjM0oASpJwhQw0CkFPhWkgeXMNE8tb7jgQx9DHIbNbZkouhRSeBja2HtO0sKnIKVsGA+N9QD5E86ZYaUDeDM48S6FsuNS5XZq4UQH7P3uqeVBSUhgCMJJ1Zi+sGwIdjJSVoVlFxdMRo80PaPNElRrQoEK0OAjiRoEJNmBIdRYffrFG8b3RLBAIKxpGUtFsmTKrWW6tV9BnrAZ5VEvGDYZt19kkiWWSH8WVRlXmOReAtoXiOZUrX/eZMQ4tAPrFizSSSGrXQOcoVlNvsMopEYcDD4R0D+sIJT1J9YsTLOc2YaOcz01+sRAMSKOM39P9HXSB2i+1+xKhEsGgKqZsc+sRpTQbAVpvnlFmXYFTFYUsBRyX1+ftBK1XBKlAlc3Ez+A0J2YAvF1BtWUckuDOmWmlSp8wnMOIfZZZUWCSonQB/ZI5RfSuVLLhAXUNjIIIpmkZ13ansqrymqAZRDK+ABNQCxBzfxGOpeSeSlLk4nbuw1fHMSj0xEPEf4dQqwNdCfnk0OVJ2J6uT1IEKVqGg+XziCRtQnEoApJ3Lv6QgUZhCUJAbc06ksAIjVMOX0hVJASN9evMRBxJOskxBdSRwZQ9aEloiWpQ1PRTwspGrPn91h4Y7D0/WJOCFlL+E8cPPbqWg/dN5/hlEgBYIKktQhRwlOejpAPAk8Dn5ZYgj/R/3F6XOKTkGd+inCh8/SITaOas7NdlulzkCZLUFJOxyOx2IjgK5jTlFdQJpKs6DvHMbbspey7NOSFKPcza4cwMRYKHIivB+UYG3TCQpWZUXJ4qc/WFtW72k41VnRv4T3l3qbTZ9ZcwzEf2TCXHRQJ/yEbtaWjiv8J7wVJvKWn4Z6VyjwLYgf8AkgD/ACMd5nSiYdwT9KTFs2Pm0C2ieXSEVLILR4CG+xWLpg213Ym0qKlthkgqILsVq8gLGoDEtyjmN49gwVeFQru9cy7dI7JKlJRLWHAM5YU3BKQP0gf+DSo4iKBvZ8xrrCeyNux2WSbS2s5nYuzKbMAvDjNXfKm0TWichLeBLEUGkaPtJe6AMKEvXDwjM2pZUUYgAkMPTOHcMFXRh6vNJ5K3WAO0tiCk96kM+bZftGKm55R0TtDZ1JJD4h8JFQeUYW9LOxfeFtTiS9UTU+z9TKUds+yOypw+M1by89zBCzut1Euo1JOp5/eUUUg4Uhixz/SLaD3aMWoFOJ0heS4o0ISSe5m27JSGSVNQ+EHgnP3+UaMCMn2Bt/eSVoUoY5ZChxCsx7E9RGvAhzTtOFLwLZk91vyMaFaHtFO8bwRKHiNdBqYM3QIsKIGZAgD2hvcoZEohyHURpsAdN/SAtuvCZNLqVR6ABh6fecQdyT9NoWnmvhBo4/cZMnFRKlOSTn+0PQNTWlHqBEQW2muuUTy5ExQdqUAy1+b0gHYURTMSo4UjM/t8RMLJvCYxTZ7P4GqubTEN2NBrQEmkX7zmSrMlA7vvpmEKH5HViZRNXajCm+RDZi3W2fNLlB4DNIGwBDZU9IDKVjUcajywxaBOUPH3RLh2S/lS/mbMuc4DG2YFBKgQxBCkkhs6tqSDUxXRLmZ4QG2UE/I5xLPlpYY0qSMgSM8tfeKUFsMSO0AYS1GjDxgeUCpAUVOMgBxrDkWor3yB9eO8Z4SwAQA4LGuY5b9ISeFAB1Epq2g9ospNA5wUg+ecPQBoE6c+ubQa7K2iRPV+HmIchOKXiopvjSop8xBLhRzBrUGCl+2VKRLSJYxAulQGHwp8wOGj+X3MNRhuW5CUm4umZhCFqbClRGQbLkGEemXdOqe6WBr4Tpm5MdBRZwAlxVJplQVYPwB9omaCrCgf1Gc0XYVhIWqXMCSHCgmjcx84ZJKXzbd0/Qx0KddoV4cSkoJcpSwHQs6Q9WEZ+9ez6UrQEkkKcVNXYn6c35tSWJrossgFEkmrJY5HDT3ILxWmWZT5gcgW9hBhfZ1YmFAJbDiBbPNg29DltFCdYlpLH2PpQjaBuDRdSRPaEMtWz/V8qae4izZSpSMIFUjxZVS4Zhqa/wDUQ+0HvEhgAwAfiND6jrEUtRQrEl0kOOaTox1Fc+ekCsuXkpASuWfE3lcF2PLyttu0Z22yMIycEvlSmg+saKYsKSkgAKYhRBNct86VH9rxn5sohKnOZOeW49oU1L/CXiuynZ7SZE6TaEIJwrQpPEpIJA55R9NJqHEfNU+cpUhMooqFYgrVq09THa/4f3sZspKMNAPM4fU1GcM6Z8NAchqJkl+cVJshoJ4Y8pDw1GbQCWNM5F2k7fI7xcrupkqclkFKgKM4JBH3WGWztDNVJThCvK4NanWsW+3/AGakptKJhlzSZsxLEEqCl0DKBfCGemXhfN4k7YzkSz3aAAE0HCL4pbnVCeqi4rduOcXpfk7xEJCQc3rXgNDFQGYtjMXNUo1CXIcbga9Is25BWuocVPUuB9YL2KfP7vu+9wpTTIYgNRjzjsiyt+n/AGRjlhjG2qfwCrHaphaX41J2VpyMVb5sJAIamhjQKtkuUGQxI1OpgJaLUqYpuOkHkvTTAYZy+pviqQGsk4hAppFGdOKjU020i+EtKTuQTyDmkC4Rm3SRs40t0marsOooW4UPGe7bUEFC35FOMcwI6VJPhB4Rzy7UJRZZMxA8SbRJKiX1wunk5UeS42d82jBJWHYksOsE08qTZbPHpFK9e0WA4ZbFiXJrltw4xn7RaFLViU2u7P1JPR4gOdM/2jyg2fQZ+0RKbkVjFISzgOSct4ldSyEpHIb8S8QhOjF/lx4mLNkxpONBKSxD6+KkD48lxbHhQoFYxEF8LApcPm+dWg1es5RR34qFMO7PlyADNkRm8Be7YFw6my24mJJlu8SZBaqXAfUP6GlOUUm21SDYNqk3L2M/eilTCZheY2eikc0ihHEU5UgamYHDApA6/PONJOk93/OTQj93B3BFOkRXrdstakTJCAlJ8ydAaafekQoWuDpZdk6l+5RsdlVMqhTl8o1VhuNM1DKSnGMswC1KjWLFw3ckJAA8RqFb8DBubLwtMAZvMB7w5j0yS9XZlaj7Sk5Vj6MZa+zXdupJ1YjNogstwLWoSsTOoVq439o0lpnELOqV/OI02wpmIoAQW9IK9NjfgFj+0cy7Y+19k12G02e1AvJM1KVkkjCFnCSWyBBPU7RoL3wTZYmILpdnbTEHIfiM+J3g1bbeLRYJqFBLpRmcnSQpL+gMDrRZQiUEVKUsC2ZbXnQnrAMcXFtGhLIskVIsgQuGHoQwA2Ah2GGQJFhivbJT4A3xg6ZYVP7RdwwyZLcpOxf2I/WOZw3DFa0WFKziKEE7qSCYvYY9hjuzjGWyXgWFBsK/EGNMQq3IhmbfhENvBNcLgGpLMQeG1PaG2K0JMsylOVDyOXDEaF/DoGGijrDEzld2pPGoOf8AS+xcV5cYykPMllpJxIGxIyrhO7ZYXf8At6QGVOUUlwwSXbLPOD9mU6UqdIKaOdw5S/M+Ej+owAWsYpiWo55gPkfvSFdUrpll0yCRMQpYxFkZEgHjG8/hta2npQhfgUopOQfUBvukc9AxKShDhWKhG4cikHuy82dIXjyU4UksBwNAGIyfnBdNxIHJWj6HCYapQAclgIF3TfaV2dE2YpIKkuahidWYmo1DuNWgBfN8mbRB8HDWH4QcmBlJIKWqem0qSAWQlQU9PEUnwpc7qY8hHLe09pJmL8QNTkX14RrJaVKSZaVFOIiuxcV9PlHNe0Fwy5dpmITNJkgsnGsOFagnVq+zwWnCXApnjGa9RHd84LUsbUrw29okmIYEk+IuQ+UeskpEtkumnGGW6ZiLwa3XIhcVLgGrQSamPBYyTHpoJOwhkxaUih06mK9B1yU5LdyN8JHoTAYQduyUFIQDlqdhWKt53aZc04ScDhlB6BWReFssfSn8Gjgkt0l8mgtMvu7ulJIY95LL7jEpjwzHpFq33gZ5TU4SEkbPhDlvWK1/zz+BlJADBCElqjEkgjxckmkDrhtuKXg+NNB/aav0rC+OTpjmaK4CM1YQGzJiKSDU5qy/anr0h0qz4i+lK9YtuEmgy9B++UEAjJCQgFSqn5U330hCtajSmo67a9YUgqqTTT9h/uJRMGSep1POOOFEvCPEX1YZf79+UZO+bWozQoFikJZmprpxMb5N3rCFqKcP8tRGIHVgGGhrTlHO73WTOWc6tk2QAy0iJKi8OUzSi/5a7IpS0YlghJQKCvxE7RFdk5SqhNFVZmoaZdIBWdKkpxILEP1TsQcxBrsraVY+8WSrFmT6fYgunlumK63E8eLnz0bm55aZQK5imAZ312POLVr7WyEJ/wDSsn8xAqOKRWKV72Az5YMtQGGtIzBuiYtIEuYgnF/MxYAUJrmlSSoHi7U6wfNljHloQ02FytJhv/ytnmuUkA6oP6PlFESUqWk4nH036Rn7tsRVMUl3Yli1COsbO6+zRmkAKrhUSG4h/vnBceW42wWXDslsRreyy5a7LMQVhKiDhJZySGBY9I9bU+FTO4qOO0c1u+XMnTZiUIKko8KSVYQpWIAHykEEnLYZjTp8tJKRiGYYjPRm4wGMoyk3FmhjjKMEpHoVoeEwuGCFiNoXDD8MKBEHEeGEwxK0I0cQcukqKS4qU+4I/f34QQnqSs40v4kh6HNxiGVTQHrvAwDbdouS0FKMaSWdJKdxkr3pTYdM1+46h6FZ1ICgX/UcNPeA1sBQVKOav/r94M2iWHceVwQeb09H9Iz18lZJGQcN96QDOrS/MsijNnLSUkEukvTMcYIXPaVfiBV8QI3FQ8DrQlQwmpo6iNjT0ixY5eGZKUFUUSDwLlJppRvWOg6plTYLtJMoSj8KnFfDiOJ6GnptB7s/PxIKauCT0jKSTVhmx60MF7ktYQp1HCKA89o0YTpgGuDUrlkggFiQQDs4jmV5yRLUlCJSFEIR3iinEszCl5hJOuPEI6R/5SRT+YmpbX7A4wD7YAyU96lDpWRiUA+Ega8CGruOMFlT5F8iklwY5MhADqQ3RveIVTB0iVd5mbRKSo/0pKiT0gVeCpiV4FoUhQY4VAgsQ4oeEdvikKRwzb5JLTaQzaRSRm56fWEKdTWJbKHJJc0OXKKbnJjMYqK4LNjnNLQAPh23Ea/srd0qaqZKmnwqlA1bwsp3fRiYydlmNLSAw8IrqaQXs8qYEd4GYMFOW8xg+24UwO7bO17gy/ZBkoXZ5gOMZHJKsJzbiAkjhSAF1zSianZVDxB/do1HaRffALJSlYDM5D4QMJY6lyDplGSlIxKHMfOM1ra2kbKn9SKb7NyZgZJHSEwg78t+JiJAYA+nDj+0TyJRUcI+Itrx4VglAhswvlmzchwjU9l7hSEiaupfwpbJjq/H7rEly3IjNwVII1LjmBSof0GUadCGfmT6l4PCFcsFKQE7SJaWTl4FJDUI8SCG2jjVjliZMV1V0JjrH8Qp2GQBwWrPUJYUGfmf/Hdo48icpKiE/EMJ5FveF9Ry2kN6aopSYUsEsmWtbHACoPyb6iJOz1pIS2YBi/2ftP8A+WYhqArbi6X9a+0Z67JpQQdDAdFkf1ZX4ZX7QTnhimdAu28MHiSXGoixPsNntJxFIfn8wIy4W/iTThFuyzlKNHB+cazpmHF7QzNskmUUhHJuhjQdnrbhmgbhVeaD99IyNrsC0jvMTqBdnoecFOyVuM9cwCWyky1uoqACFMQG3PARWTSVMmKcpbl4DV1dnvwtowKnqmihQ6QPDm5Kc+W8H2gdcVlUE94s+JQYcE/v+kFAmKxio8IdTbVsQCFaHYYXDFiRjR5ofhhAmJRwqJTxG0X5EtqmKsypJ3JitnUcmSlvvWkSJU2WXmHtpuG9oRmoYiSdNqfP6+0Zt2PNUWJbYVJJDAFuodNdcm6wHt0tphmH4iKcTnTbOCCKD2+TQ2ZdyVkrWopSkYiqpCAOHEt6wPLFtEopWJ1fiMWqEegUfk8VZaQG3od6jYb0i6q0SQThWFEghyJq6ckpSPeHXRbZaZssrUAgqAJCFIABLKJdRLNsIGo3SK9WExmFVH75xJOJSrPzVPNqxJakIEwiUoTJb+EjVJyr1bpFKaokvpX1MPAi0lbYdaP1Dv8Ap6iNj2at3eoKTmin+On6xhULLDr0P20FbpmzAsYCUk0dg+/JsovCVFWjfJQ2QaMD/FGw1kzwKVlqP/ZH/wBx0CQDhTi8zB+esZntNbETkrsreZvFQsRUaZgtBJPgo42qOSzzpFiVhCFU+E/IxamXepCQtYAJJAS4xUdy2YSN4HWm0JYpFSaasPqfusV3qP5gYwc/yLC1gAaCgpUqIAybjFyzWScvCVOhLgsnztqxORj11XcfOqqjmT+m0HJVmSA5Pp9Yax4HLnJ+wnn1axvbj/cW4+zMqZJmpmqAK2SlSnJC2LEEUGZz1A6YKfZlylFCgQtJ9wcx1EdAkz0JLjEOIaBXaSxpV/OAxJ+Ns0mgxADOmY6xTUafi4hNFrXu2z8+Snc9uM9pZHjFT/UBrz3jaXFdzTAFZhqZEkvUVOVNsjHMLdZZklafEzgLQtKqEEAghQyNa7R0v+H17i0LL4RNSkYwGAUPzADo+x5wpjfNM1Zx4tG0slnCMQG/6U9miw0OCYlQmGehfs55/Em0DyOaJSCKVKiojV/gOdK845WVALfQN7VMdA7azwufPUSCkMwDirYEvoSwnndm0Ec6mHM7wjJ7pM0K2wRqbkLGakaISoc2IPyECLPZsSMqaHbaL1xKYoWT5pcxJrpLTTlURLcUtQQ7Uiukh95P9P8AqF9dkrHGvdlOyTynwr6GDMmbq/URRtkgHSHXcJniwjEEhyDm3XONGNrhmVKpcoIT7YGYWkjgpHzLxpuxdmWsOLSmYMTTEhDMgOXEwl3egDaxnJaVrwBFjmqKmIPdLZQLEEEpbCRrkxjqd13eiRLwIQlBUcSwkUxHTkMoptt2mNQfppxosQrQ4CFaCEjWhzQ4CPNHEjGjwEPaPNHHCKWTQmGND1MM4g/EDQKPECkccctJyiJWb7RKuEUM4yUzSaGAPT0ira7cpKgBQ5vooEEFJGoNYuKGUD71Q+FQ0JHrUfrHT5iDfAtnkpU5SGCgQQc5ZFWO4ZyDAS3LxEqFAKJHAfqc4KjwMUjEqYcJSTQpDlT+1YoXinUZE+h1B4xSD4Ks0/Zixlch0qfxGsPtNgWlTHfPMRT7MWwpkFqDGa8gl/nF1VvKiCYai+EUo9OkqQQMINX1aDVhtGFIIAxEB/l6ZwGN4l2d4tWdZKQoDWjPuPrFt1EUb2XbQZHebCo40jB3tb5dnxTVDES7AuxLZdIK3jeZTLEoUCWdjRWIYg+vH1gZdaRNmDGAoBQIcPUGhH1i8pWuCqRiLwxLmHvFcVDYnRW5AYHi8S3ZdSpik4QSxBPSoHDSC9ssAm2mYQMMvGS+5UosBuTGiu7s/aJiBgHcSjk4dax+Y6AEZE57RK9L2xVv+9gG3JbpOl/eivZrtw1meganqW6mHWpKWYJPX9qQlu7Pd0H/ABExRrqkDNzp95QGmd+k+A4m3Bf1FPaGb1X4lTEa0UnsdokmzgD5Wh8m2JyIprFdV5gslYKVOwcMD1ESTZJzAfNm+sTDVpvbkVM7J9n0t2N2gRbZaZRMldZE0Hu1EVlTHBB5PQ7gmKNx29VjtSZwrgUy06qSaKGxpUHlB2ZJE5CpRDP5TnhUMozFtcpS4IWj+WvixOE82cf4iF9RDbK0P6LNvjtl2j6Fu61InS0TZZdCwFJPA8NDEl5T+7lLXkwpzOWcYL+D99JMpVjUfGgqWjigkO3EKJpxg927vEICUFQSMLt8RJcBgaOlIWptS0RLJ6LDwh66OV39PcGpJKidKhsCeflmnh3nrmpkFb4tmNe2EmgyGjCpZgEimxgd+GUWUxwmgOh4Pk8LQVsayySRLZJq6BywCgBsFO7Ro7pkrSlgtqZEOIG3ZYCdOukaCz+FIGR2OUPYsSjyZGpzOXCKc+Z5sYINMJSHSd3Lun3ht3TCvFLlkAkVUosBs7AnjloIltqaOIs9lbuK54r4SoA8T9MojMsi4g+/fwCxODVtHYrFNmCyWVExBlLTJQlUt3w4UhIqOAhsW7yU6zq1PSKMye3wLPIA+zvERdIelyyQJhQmKar2lDzY0f3IWPmPeLMi1y1+VaVcAQ/pFtyIokAhWhzQikbZ8o7cdRWtFrSlaJZfEt2ZqAalzuQIW12gIA1JLJGpMAZ1sw2hSleIAghqMA4IHNn4s2sF7skLUTOmhlGiU6JTw4nfbmYruJoj/ALWoqmLbYJag08wI9jzi9KlYQzk8y5idoRosiHyckKfl9/rClH6CJVy60hVJD/fCMdSNaUSthy5xFOswUGOT+jZfrFspoDShBh9qklKiCGBDh6cfvnF93uCcQEJI73GqdKSEAJTiWMWbKJAyLvEX8rEr+ZLUDmMVCG3OudYu3qmXMAKB5cCVPokmqkjapD7M8DLbZwhSiA7OB9en6xWNNAXVmktiTglqfEAkIcZBnwp4skD1ikoVaBtx2taiZai4FRw0P6RopcgEgbgUHAkfSDqXBFWVLKllh9/lBm7gO5BZ8OLm4Y/T0ioiUEqU/5m20fLpDLPeEkLMrGcZLADWtQDvwLe0Q3ZKRbvYAhGEVKEqJGrpS3UHEIo2e8EyCMIK1miUpr4jHr6WuWAkGrMKGqQ4GE7u3rDexNgVMX3hA7sa/mY0D6Jf1baDRTm6QHJOOOO6RsuzHZnCO9nAYiPCnNKAXdhqovU6imUaCeEoDqVnvmYksE4FwC53+kC79mqSWAhmEedojlnUN7Al72xLuEqgJabUk54k9Is2xa1FyoDlAW1NqqsaUIpIwW/qT5I7VJxhnCkmBuNUk1Lo2cuniNx98IsgbF4qz0HY1gObHHIqkjS02SWJ8MJWdYWyknxP6jr1rFG+7OJZVMwuibLUlQ2NClXMKSIgu6bgOBWXw1Y8W+/lBjEhUpUtf5Sa59Yz4yavFP9DRyRSazw/Uy/ZS8xZrXJtC3KEE4sObKSUnnm7cI0nbO+12icSkHCwEocDUzFA5fDhdt+eDILkCOifw8sNkmSVLXWYgssHauEgcfmDA4R3Pa2OZMmxb0jIoulZzFObvGu7Ndm5SpC5lom93LI8IoS4JAISqo8WIUYmCd9GUQyABy+kNs6gUyZYS4RVfNJUpI4s5PNR2hrNgqCjj77b+BHDqXOTlkfHS+X7AcWNUokFKsBLOUqGW775hiaaxY/DFvzCDVySE2lM4TJ60BE9YlhgoBh+VQJYYsn30pEdmszqVgYgGuSebJJcAHmNjE48y3bJePILNhpb158GWnyw5Y5HKNLcUrBabLLHxJQs85ni/X2iG8LowguGDvi57mC11mUj8PbJimRJHdzVM4SUkhBLaYVI9DtBJqlYLDzKjeLDkmPBMTGXrmDkRkRzhMMB4NEjCYoTLmlKqsYjvQH2EE2ipeJZFcX+KsLnQOnxOdkgkxVkoYqylKaTVJAGZwFupTGUvS+pqFYEzu8d2UkJAboPcU4wW/8LMmtjCJKMwB/MmdVLcJPJ4K3ddEqSSpCTiIYrUSVEczlXZoh2TdHN5c5a14RUmgzyFT8njYdnrsnWebhmKBStB8rkYwQWJNXZ+bGC9su+z4xOmJSFJIOMnDUbkEP1iafa5SU41LThB82YBNBllm3WKpUyXKydo9hjPXr2tlyl4EJxt5i7CoBDb0MWLP2okKDnEkuQ1D7g1pF1JFaMNOTw2MMmIz9fd4mZ8xHkhwD0++sYikbUokCU0IO2nDnDLYp5RyOFqMRmMicomSmvKn6axJKWHbCFOCkgjQtlx+sXsDKJkJdoXiJSHbMaEaj0iO2TCSGNKgDXrvk3SG2pSUTDLCicLgtkSPntCLllASrNw6gOOvygkI8Cdi3AoicXGYI5a/pGuHhUl3oDkz1JP0jJ3RZ5nehYBwj4sgxGm8aczCSmmdPQ/u3SCF4rgZe09pU0vhLKY7UVxzdoynYu712i3SUJcscROwQHPvTrBbtda2lBH514qbAA06tFDsRazJnTZoBpKUh3ZlTCAKZkmvzi8eFZDXg19tu/wDF2iYlJ8KBhB2JUAP+veK9YMWCz920rypTSlHixcV2zJcgFWETD41jIucganygtnudYrTbQJk+WgghlMRo9G940dNDbF3+ph67L9TIq6XXyHrJeKZZKWo/CBt+3gVrLCm8ULXPwzFFRrongNecCbfbyvVhtrB4Y1e4TyZpSi8Y22F9WgRaJB0PrHrQrcmIZ0ylHg7fBTFjcapkClNwMSm1U4xGiY9NYsJluHao0gMm/Ay68oEWqYcWIUILjYRZ75U5gD4aBb5vtyAzrDZiqkYYrpX3Zw6KGXLP74QlqMdrcaWmyV6WDbylBE1YTkDBPsfaimatviQzb1BfpX1gXeR8b7tDrkJ75JTo56MXimN/eJ/IbKrwtfBsbRPKjQMflyi3dc5SVBJNCDxNQ3pFORamqpoRNsDlSPMzP8o0Zu0/kycdpq/Br7BZ0S0YEqSZs5aphAyBWyUgcgD7wv8A/PISkTe8VjxBS60SDj8LaByeB1pGd7O2oiZ4tDiruEqy4ZekH5l4hCFqHiJViKX3IAHKioz8sPvK92jUjNfQUvKTLditCwnCUCbLIwrS7tSoBoRuxEUbPKSlU2ylJVJtCcKkmiw74SNlpc8D6Q65pdpmK75KUIAJBroWzSc8qVGeoYRqJUuRax3U1kT01pRQOeJD+ZORavs8G+ok3CX7ikcUnU4v5S/vgwHZvtdaLvWqw2jDNlyiUpJxBYTphVXwtUAjIio06tZbSiahMyWoKSoOCPkdjwjlvbq5lLnd4UtOYS1keVax5FVyCxroesO/h9e65Ki5/k0ExDVScnbRQNCM/aBNOLoajNS5OqNHimJAHqMoXDHbglEeGFaH4Y9hjrOoA9r5D2da8TYQ4DOCdKs45xz28b0mTAxUcLAYQWFHIcChq5yjddvkzfw4wPgc942wYhx+V6+kcymKLwOTLJE6ZCigrdhoN6tRtHhkq8FpDAkV0JEJZrUU0KmTrRz0iC1TC9ABTSKJsvRqUooYjlpNQByekWsERFLGMaMjclEg7ttiPveIQK7fYi7NRVq9YrYWz3r1g0ZAJRKF5S5AlrVNAFQrGEArfEHA1ckAclHnGbn2xCmwIJADArVWmhSgNtrBy+7wQkqlK8qkhxu5BBHIgHpAuScSMFPMXb+rIvoIYg7EMz5CF1TQUgMAS9BsaZHjFrMjgT+jRnJVoUSSlkh6HVgWFeUaZKMunyeJi/BMXZle10096lJPlQPVRJ+TRpuwN0kspXwtMIOZWpih+SWPMxl7+QF23C9PADwGEEj5x0vs/IUiy4g4xEqUdXOQBzolhDeGG6SE9Zl2Qddv+sN2ebhU6lU1Gld4zs5cuVbEKxHAVZEaKoK8CQekDbzt/Fvm8BbbbsaWU6iMhqf6ab5dY0mtqbMOEnkaVeQ9fCGnrx0BKjXMgZ02EZ+2X4hWIS0FQT5ilOWWZOWo6RQtlsmEd9NtCzNxkYASFJQQC+IZOT5dG6RXXb56wR3qlAsCDjWos7eNQ02484U/ycj4RpLQ4Vy/99E863sXUkAtRJUConTwpSWHNofNvtBIAQQlq4jUK1dgaP7RXstlnKDAEACvkAAyowc6Rctlnn4EIBlugAJwpTUYaOaua14xaMsz9zpLTJ1wIm0INUg4QHKgUqSOJaoro0FbsmomgsRVL0jKWmTNfxqUCzOahv8AEfpEl1T1upSVYSlBJBriarPm9MjvxiP8icVUjnpceRXF0/3CduWQo5Bj1gNeCS71eDH4lKlPwz5j6RRvU10Y7fvBpU4gsNxnVAm1lwDC3SppyCN/Zi/tDZnlbaG2MHvEtm4hNcSRoPmDX5monLSTz0itOnJFBnEFqmMWBrEabMfMM4clk8Iz4wSVtmhuJ8RxflUfb94uotBImsfMAR0VT5wEsNuKXChmlQfmIKWeXQMoGkTGKnKymTM4Qr8//A/c15qRZZpWaBWRLUIAP6+8EpV3zbQthMCFoqFDMpBqC2gUCRWjmMnOWoIUhwxIJ6RorptKgCpJYl0g/wBoUW/5MOsA1MNqk/f+A2kyKe1e38li+bYJyDLm0Uh0pm1wLAbwqUri1dCdKxi5Mw/ilAskkJKnqJisidGcM9alzq0bCZeBrLXgw54VB0qQaMTor4gpqF4DdpLpmSyHJmJCSJcxlKViCXIUwyUATlhppQAKypxpOw6x3JyXHubjsVeqlDuJlSlIMtVWUnUV1TToeEasNHFbhvQoUhQxFSVAsSQRhNRm7FmI2JjssuYFAKFQQCORyizQTHK+H2SwkeBhXioUw/bq8ZgPc0CFJqGzrQ5/fOOeWgsY7H2luhE+USQMaQMJ1oTTq5HpHIbWmKklYucoalXB/WHoUxMIFiIONupMRqzj0ejAiz0UkNmJJ+/v7MQLRQjh8qwseg8WAkjP9qrKFS0zGqksf7SP0I94z8o4B5ql0gbPr6EtHo9DeJ3wZuoVTLFiloUGWrC2XQ8co0wNaUj0eiy4bK4vJkbQAbatvzAPzASfmY3Vpv0iUhKGIS4pkax6PRp6bpmT9odozlst6VElWcBp9pALpJSdCHEej0FySvgFgxpcor3RYgtStkge8bi4OzeNlKTTYuHpnHo9E40ljtFNRJyzbW+P4Fva72UyUskZAH3gZ3ChwHOPR6Gl0Zu920D54U9Q8D7XZHBWgMU1I3A3Gsej0L5EmnZoYZtNV8DrIvExUfX94hnLDkuDQn1ePR6FsjqKQ6o3NspTB4VUHPWsV5FFJI3EJHoWseS4QavGzd3MSAoqdINYJWKQSI9Hoc0zuNszNf6XSJPwJOcWrLIUDhJpCR6G0qMxzb4ZdXZABnnE0y1ES+7TQqKiCNHmOCP+Mej0By+qcUxrTtxxzaCdg7ubjf8A9gCXGzu7bhwYdflvMqxTJavF4SgaEg0IHEJKm6QkejGyQ+lqHCPRsaOe/DukuaMNdkmbPTMWJpxJL4snUSSSdSXekdN7BdoziVZLQtPeBTIr/SkkVAoXcccQ2hI9DvSsovxNG9j0ej0WLCKAIIORjl3a24RZ1eBSSk5DEMYHFLZcYWPRWRKMqlNWPrzjypJBYwsegZdH/9k="/>
          <p:cNvSpPr>
            <a:spLocks noChangeAspect="1" noChangeArrowheads="1"/>
          </p:cNvSpPr>
          <p:nvPr/>
        </p:nvSpPr>
        <p:spPr bwMode="auto">
          <a:xfrm>
            <a:off x="155575" y="-1881188"/>
            <a:ext cx="6972300" cy="39243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9" name="TextBox 8"/>
          <p:cNvSpPr txBox="1"/>
          <p:nvPr/>
        </p:nvSpPr>
        <p:spPr bwMode="gray">
          <a:xfrm>
            <a:off x="528357" y="1368319"/>
            <a:ext cx="11113180" cy="1656928"/>
          </a:xfrm>
          <a:prstGeom prst="rect">
            <a:avLst/>
          </a:prstGeom>
          <a:solidFill>
            <a:srgbClr val="FFFF00"/>
          </a:solidFill>
        </p:spPr>
        <p:txBody>
          <a:bodyPr vert="horz" wrap="square" lIns="91440" tIns="45720" rIns="91440" bIns="45720" rtlCol="0" anchor="ctr">
            <a:noAutofit/>
          </a:bodyPr>
          <a:lstStyle/>
          <a:p>
            <a:r>
              <a:rPr lang="en-IN" sz="2800" b="1" dirty="0"/>
              <a:t>Linux</a:t>
            </a:r>
            <a:r>
              <a:rPr lang="en-IN" sz="2800" dirty="0"/>
              <a:t> has a strong following in </a:t>
            </a:r>
            <a:r>
              <a:rPr lang="en-IN" sz="2800" b="1" dirty="0"/>
              <a:t>Smart Phones</a:t>
            </a:r>
            <a:r>
              <a:rPr lang="en-IN" sz="2800" dirty="0"/>
              <a:t> – </a:t>
            </a:r>
            <a:r>
              <a:rPr lang="en-IN" sz="2800" b="1" dirty="0"/>
              <a:t>Palm’s </a:t>
            </a:r>
            <a:r>
              <a:rPr lang="en-IN" sz="2800" b="1" dirty="0" err="1"/>
              <a:t>WebOS</a:t>
            </a:r>
            <a:r>
              <a:rPr lang="en-IN" sz="2800" dirty="0"/>
              <a:t>, </a:t>
            </a:r>
            <a:r>
              <a:rPr lang="en-IN" sz="2800" b="1" dirty="0"/>
              <a:t>Google’s Android</a:t>
            </a:r>
            <a:r>
              <a:rPr lang="en-IN" sz="2800" dirty="0"/>
              <a:t> and </a:t>
            </a:r>
            <a:r>
              <a:rPr lang="en-IN" sz="2800" b="1" dirty="0"/>
              <a:t>Nokia’s </a:t>
            </a:r>
            <a:r>
              <a:rPr lang="en-IN" sz="2800" b="1" dirty="0" err="1"/>
              <a:t>Maemo</a:t>
            </a:r>
            <a:r>
              <a:rPr lang="en-IN" sz="2800" dirty="0"/>
              <a:t> smart phone operating systems are built on top of the </a:t>
            </a:r>
            <a:r>
              <a:rPr lang="en-IN" sz="2800" b="1" dirty="0"/>
              <a:t>Linux</a:t>
            </a:r>
            <a:r>
              <a:rPr lang="en-IN" sz="2800" dirty="0"/>
              <a:t> kernel. Check Symbian and iOS</a:t>
            </a:r>
            <a:endParaRPr lang="en-IN" sz="2800" dirty="0">
              <a:latin typeface="Berlin Sans FB Demi" panose="020E0802020502020306" pitchFamily="34" charset="0"/>
            </a:endParaRPr>
          </a:p>
        </p:txBody>
      </p:sp>
      <p:pic>
        <p:nvPicPr>
          <p:cNvPr id="16386" name="Picture 2" descr="http://blog.rebelsimcard.com/wp-content/uploads/2010/08/palm-webo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984" y="3635982"/>
            <a:ext cx="3098405" cy="1859043"/>
          </a:xfrm>
          <a:prstGeom prst="rect">
            <a:avLst/>
          </a:prstGeom>
          <a:noFill/>
          <a:extLst>
            <a:ext uri="{909E8E84-426E-40DD-AFC4-6F175D3DCCD1}">
              <a14:hiddenFill xmlns:a14="http://schemas.microsoft.com/office/drawing/2010/main">
                <a:solidFill>
                  <a:srgbClr val="FFFFFF"/>
                </a:solidFill>
              </a14:hiddenFill>
            </a:ext>
          </a:extLst>
        </p:spPr>
      </p:pic>
      <p:pic>
        <p:nvPicPr>
          <p:cNvPr id="16388" name="Picture 4" descr="http://www.freetelepromptersoftware.com/wp-content/uploads/2014/11/android-logo.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2144" y="3713526"/>
            <a:ext cx="2727133" cy="1988534"/>
          </a:xfrm>
          <a:prstGeom prst="rect">
            <a:avLst/>
          </a:prstGeom>
          <a:noFill/>
          <a:extLst>
            <a:ext uri="{909E8E84-426E-40DD-AFC4-6F175D3DCCD1}">
              <a14:hiddenFill xmlns:a14="http://schemas.microsoft.com/office/drawing/2010/main">
                <a:solidFill>
                  <a:srgbClr val="FFFFFF"/>
                </a:solidFill>
              </a14:hiddenFill>
            </a:ext>
          </a:extLst>
        </p:spPr>
      </p:pic>
      <p:pic>
        <p:nvPicPr>
          <p:cNvPr id="16390" name="Picture 6" descr="http://s.mymaemo.com/ci/l/1059.jp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77810" y="3635982"/>
            <a:ext cx="2967187" cy="16829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94589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Custom 2">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0A3F60"/>
      </a:hlink>
      <a:folHlink>
        <a:srgbClr val="062A40"/>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txDef>
      <a:spPr bwMode="gray"/>
      <a:bodyPr vert="horz" lIns="91440" tIns="45720" rIns="91440" bIns="45720" rtlCol="0" anchor="ctr">
        <a:noAutofit/>
      </a:bodyPr>
      <a:lstStyle>
        <a:defPPr>
          <a:defRPr sz="2000" dirty="0" smtClean="0"/>
        </a:defPPr>
      </a:lstStyle>
    </a:txDef>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5876</TotalTime>
  <Words>2915</Words>
  <Application>Microsoft Office PowerPoint</Application>
  <PresentationFormat>Widescreen</PresentationFormat>
  <Paragraphs>478</Paragraphs>
  <Slides>39</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Andalus</vt:lpstr>
      <vt:lpstr>Arial</vt:lpstr>
      <vt:lpstr>Berlin Sans FB Demi</vt:lpstr>
      <vt:lpstr>Calibri</vt:lpstr>
      <vt:lpstr>Century Gothic</vt:lpstr>
      <vt:lpstr>Times New Roman</vt:lpstr>
      <vt:lpstr>Wingdings 3</vt:lpstr>
      <vt:lpstr>Ion Boardroom</vt:lpstr>
      <vt:lpstr> </vt:lpstr>
      <vt:lpstr>PowerPoint Presentation</vt:lpstr>
      <vt:lpstr>What is an OS &amp; why do we need OS?</vt:lpstr>
      <vt:lpstr>Different types of OS</vt:lpstr>
      <vt:lpstr>Quiz Time</vt:lpstr>
      <vt:lpstr>PowerPoint Presentation</vt:lpstr>
      <vt:lpstr>Why Unix?</vt:lpstr>
      <vt:lpstr>Unix is Everywhere!!!</vt:lpstr>
      <vt:lpstr>Quiz Time</vt:lpstr>
      <vt:lpstr>Unix   Facts</vt:lpstr>
      <vt:lpstr>PowerPoint Presentation</vt:lpstr>
      <vt:lpstr>History of Unix?</vt:lpstr>
      <vt:lpstr>Different Flavours of Unix</vt:lpstr>
      <vt:lpstr>Different Flavours of Unix contd…</vt:lpstr>
      <vt:lpstr>Quiz Time</vt:lpstr>
      <vt:lpstr>Unix   Facts</vt:lpstr>
      <vt:lpstr>Unix System Architecture</vt:lpstr>
      <vt:lpstr>Quiz Time</vt:lpstr>
      <vt:lpstr>Unix   Facts</vt:lpstr>
      <vt:lpstr>Kernel</vt:lpstr>
      <vt:lpstr>Shell</vt:lpstr>
      <vt:lpstr>Shell Comparison</vt:lpstr>
      <vt:lpstr>Unix File System</vt:lpstr>
      <vt:lpstr>Unix   Facts</vt:lpstr>
      <vt:lpstr>File Types</vt:lpstr>
      <vt:lpstr>Create &amp; Save file - Vi Editor</vt:lpstr>
      <vt:lpstr>Linux Facts</vt:lpstr>
      <vt:lpstr>PowerPoint Presentation</vt:lpstr>
      <vt:lpstr>Quiz Time</vt:lpstr>
      <vt:lpstr>Commands – UNIX Log In and Out Commands </vt:lpstr>
      <vt:lpstr>Commands – UNIX Information Command</vt:lpstr>
      <vt:lpstr>Commands – UNIX Directory Commands</vt:lpstr>
      <vt:lpstr>Commands – UNIX File Commands</vt:lpstr>
      <vt:lpstr>Commands – UNIX Process Commands</vt:lpstr>
      <vt:lpstr>PowerPoint Presentation</vt:lpstr>
      <vt:lpstr>PowerPoint Presentation</vt:lpstr>
      <vt:lpstr>Different types of OS ?</vt:lpstr>
      <vt:lpstr>Unix   Facts</vt:lpstr>
      <vt:lpstr>Linux Facts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Tata AIA Analytics Deliverables and Timelines</dc:title>
  <dc:creator>Chitra Chatterjee</dc:creator>
  <cp:lastModifiedBy>Jeewan Kumar</cp:lastModifiedBy>
  <cp:revision>467</cp:revision>
  <dcterms:created xsi:type="dcterms:W3CDTF">2015-08-17T07:42:22Z</dcterms:created>
  <dcterms:modified xsi:type="dcterms:W3CDTF">2016-07-22T08:49:59Z</dcterms:modified>
</cp:coreProperties>
</file>
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7" r:id="rId2"/>
    <p:sldId id="320" r:id="rId3"/>
    <p:sldId id="319" r:id="rId4"/>
    <p:sldId id="344" r:id="rId5"/>
    <p:sldId id="367" r:id="rId6"/>
    <p:sldId id="364" r:id="rId7"/>
    <p:sldId id="347" r:id="rId8"/>
    <p:sldId id="366" r:id="rId9"/>
    <p:sldId id="370" r:id="rId10"/>
    <p:sldId id="375" r:id="rId11"/>
    <p:sldId id="346" r:id="rId12"/>
    <p:sldId id="345" r:id="rId13"/>
    <p:sldId id="371" r:id="rId14"/>
    <p:sldId id="372" r:id="rId15"/>
    <p:sldId id="369" r:id="rId16"/>
    <p:sldId id="377" r:id="rId17"/>
    <p:sldId id="359" r:id="rId18"/>
    <p:sldId id="373" r:id="rId19"/>
    <p:sldId id="376" r:id="rId20"/>
    <p:sldId id="348" r:id="rId21"/>
    <p:sldId id="349" r:id="rId22"/>
    <p:sldId id="361" r:id="rId23"/>
    <p:sldId id="383" r:id="rId24"/>
    <p:sldId id="363" r:id="rId25"/>
    <p:sldId id="362" r:id="rId26"/>
    <p:sldId id="378" r:id="rId27"/>
    <p:sldId id="350" r:id="rId28"/>
    <p:sldId id="368" r:id="rId29"/>
    <p:sldId id="352" r:id="rId30"/>
    <p:sldId id="353" r:id="rId31"/>
    <p:sldId id="354" r:id="rId32"/>
    <p:sldId id="355" r:id="rId33"/>
    <p:sldId id="356" r:id="rId34"/>
    <p:sldId id="342" r:id="rId35"/>
    <p:sldId id="357" r:id="rId36"/>
    <p:sldId id="358" r:id="rId37"/>
    <p:sldId id="379" r:id="rId38"/>
    <p:sldId id="380" r:id="rId39"/>
    <p:sldId id="38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A3"/>
    <a:srgbClr val="4A4A67"/>
    <a:srgbClr val="949494"/>
    <a:srgbClr val="D9E1F2"/>
    <a:srgbClr val="993300"/>
    <a:srgbClr val="DEECFD"/>
    <a:srgbClr val="CC6600"/>
    <a:srgbClr val="803C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1921" autoAdjust="0"/>
  </p:normalViewPr>
  <p:slideViewPr>
    <p:cSldViewPr snapToGrid="0">
      <p:cViewPr varScale="1">
        <p:scale>
          <a:sx n="65" d="100"/>
          <a:sy n="65" d="100"/>
        </p:scale>
        <p:origin x="858" y="7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47282-5322-4920-A04A-F88BF4A9D3DE}" type="datetimeFigureOut">
              <a:rPr lang="en-IN" smtClean="0"/>
              <a:t>22-07-2016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2D4397-2931-438B-B195-D24BFA6F0B7F}" type="slidenum">
              <a:rPr lang="en-IN" smtClean="0"/>
              <a:t>‹#›</a:t>
            </a:fld>
            <a:endParaRPr lang="en-IN" dirty="0"/>
          </a:p>
        </p:txBody>
      </p:sp>
    </p:spTree>
    <p:extLst>
      <p:ext uri="{BB962C8B-B14F-4D97-AF65-F5344CB8AC3E}">
        <p14:creationId xmlns:p14="http://schemas.microsoft.com/office/powerpoint/2010/main" val="116010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AC80FA6-BA02-4C3D-AB3D-7F99A89BBA54}" type="slidenum">
              <a:rPr lang="en-IN" smtClean="0">
                <a:solidFill>
                  <a:prstClr val="black"/>
                </a:solidFill>
              </a:rPr>
              <a:pPr/>
              <a:t>1</a:t>
            </a:fld>
            <a:endParaRPr lang="en-IN" dirty="0">
              <a:solidFill>
                <a:prstClr val="black"/>
              </a:solidFill>
            </a:endParaRPr>
          </a:p>
        </p:txBody>
      </p:sp>
    </p:spTree>
    <p:extLst>
      <p:ext uri="{BB962C8B-B14F-4D97-AF65-F5344CB8AC3E}">
        <p14:creationId xmlns:p14="http://schemas.microsoft.com/office/powerpoint/2010/main" val="488555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Operating systems perform basic tasks, such as recognizing input from the keyboard, sending output to the display screen, keeping track of files and directories on the disk, and controlling peripheral devices such as disk drives and printers</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a:t>
            </a:fld>
            <a:endParaRPr lang="en-IN" dirty="0"/>
          </a:p>
        </p:txBody>
      </p:sp>
    </p:spTree>
    <p:extLst>
      <p:ext uri="{BB962C8B-B14F-4D97-AF65-F5344CB8AC3E}">
        <p14:creationId xmlns:p14="http://schemas.microsoft.com/office/powerpoint/2010/main" val="2847055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Create a question type</a:t>
            </a:r>
            <a:r>
              <a:rPr lang="en-IN" baseline="0" dirty="0"/>
              <a:t> </a:t>
            </a:r>
            <a:r>
              <a:rPr lang="en-IN" dirty="0"/>
              <a:t>slide for different type  of </a:t>
            </a:r>
            <a:r>
              <a:rPr lang="en-IN" dirty="0" err="1"/>
              <a:t>os</a:t>
            </a:r>
            <a:endParaRPr lang="en-IN" dirty="0"/>
          </a:p>
          <a:p>
            <a:endParaRPr lang="en-IN" dirty="0"/>
          </a:p>
        </p:txBody>
      </p:sp>
      <p:sp>
        <p:nvSpPr>
          <p:cNvPr id="4" name="Slide Number Placeholder 3"/>
          <p:cNvSpPr>
            <a:spLocks noGrp="1"/>
          </p:cNvSpPr>
          <p:nvPr>
            <p:ph type="sldNum" sz="quarter" idx="10"/>
          </p:nvPr>
        </p:nvSpPr>
        <p:spPr/>
        <p:txBody>
          <a:bodyPr/>
          <a:lstStyle/>
          <a:p>
            <a:fld id="{7B2D4397-2931-438B-B195-D24BFA6F0B7F}" type="slidenum">
              <a:rPr lang="en-IN" smtClean="0"/>
              <a:t>4</a:t>
            </a:fld>
            <a:endParaRPr lang="en-IN" dirty="0"/>
          </a:p>
        </p:txBody>
      </p:sp>
    </p:spTree>
    <p:extLst>
      <p:ext uri="{BB962C8B-B14F-4D97-AF65-F5344CB8AC3E}">
        <p14:creationId xmlns:p14="http://schemas.microsoft.com/office/powerpoint/2010/main" val="2540737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slide before this</a:t>
            </a:r>
            <a:r>
              <a:rPr lang="en-US" baseline="0" dirty="0"/>
              <a:t>, may be a picture, explaining connections b/w OS and Kernel</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17</a:t>
            </a:fld>
            <a:endParaRPr lang="en-IN" dirty="0"/>
          </a:p>
        </p:txBody>
      </p:sp>
    </p:spTree>
    <p:extLst>
      <p:ext uri="{BB962C8B-B14F-4D97-AF65-F5344CB8AC3E}">
        <p14:creationId xmlns:p14="http://schemas.microsoft.com/office/powerpoint/2010/main" val="969020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slide before this</a:t>
            </a:r>
            <a:r>
              <a:rPr lang="en-US" baseline="0" dirty="0"/>
              <a:t>, may be a picture, explaining connections b/w OS and Kernel</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20</a:t>
            </a:fld>
            <a:endParaRPr lang="en-IN" dirty="0"/>
          </a:p>
        </p:txBody>
      </p:sp>
    </p:spTree>
    <p:extLst>
      <p:ext uri="{BB962C8B-B14F-4D97-AF65-F5344CB8AC3E}">
        <p14:creationId xmlns:p14="http://schemas.microsoft.com/office/powerpoint/2010/main" val="329701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21</a:t>
            </a:fld>
            <a:endParaRPr lang="en-IN" dirty="0"/>
          </a:p>
        </p:txBody>
      </p:sp>
    </p:spTree>
    <p:extLst>
      <p:ext uri="{BB962C8B-B14F-4D97-AF65-F5344CB8AC3E}">
        <p14:creationId xmlns:p14="http://schemas.microsoft.com/office/powerpoint/2010/main" val="4213763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22</a:t>
            </a:fld>
            <a:endParaRPr lang="en-IN" dirty="0"/>
          </a:p>
        </p:txBody>
      </p:sp>
    </p:spTree>
    <p:extLst>
      <p:ext uri="{BB962C8B-B14F-4D97-AF65-F5344CB8AC3E}">
        <p14:creationId xmlns:p14="http://schemas.microsoft.com/office/powerpoint/2010/main" val="2913856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24</a:t>
            </a:fld>
            <a:endParaRPr lang="en-IN" dirty="0"/>
          </a:p>
        </p:txBody>
      </p:sp>
    </p:spTree>
    <p:extLst>
      <p:ext uri="{BB962C8B-B14F-4D97-AF65-F5344CB8AC3E}">
        <p14:creationId xmlns:p14="http://schemas.microsoft.com/office/powerpoint/2010/main" val="137785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25</a:t>
            </a:fld>
            <a:endParaRPr lang="en-IN" dirty="0"/>
          </a:p>
        </p:txBody>
      </p:sp>
    </p:spTree>
    <p:extLst>
      <p:ext uri="{BB962C8B-B14F-4D97-AF65-F5344CB8AC3E}">
        <p14:creationId xmlns:p14="http://schemas.microsoft.com/office/powerpoint/2010/main" val="15081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Commands</a:t>
            </a:r>
          </a:p>
        </p:txBody>
      </p:sp>
      <p:sp>
        <p:nvSpPr>
          <p:cNvPr id="4" name="Slide Number Placeholder 3"/>
          <p:cNvSpPr>
            <a:spLocks noGrp="1"/>
          </p:cNvSpPr>
          <p:nvPr>
            <p:ph type="sldNum" sz="quarter" idx="10"/>
          </p:nvPr>
        </p:nvSpPr>
        <p:spPr/>
        <p:txBody>
          <a:bodyPr/>
          <a:lstStyle/>
          <a:p>
            <a:fld id="{7B2D4397-2931-438B-B195-D24BFA6F0B7F}" type="slidenum">
              <a:rPr lang="en-IN" smtClean="0"/>
              <a:t>27</a:t>
            </a:fld>
            <a:endParaRPr lang="en-IN" dirty="0"/>
          </a:p>
        </p:txBody>
      </p:sp>
    </p:spTree>
    <p:extLst>
      <p:ext uri="{BB962C8B-B14F-4D97-AF65-F5344CB8AC3E}">
        <p14:creationId xmlns:p14="http://schemas.microsoft.com/office/powerpoint/2010/main" val="584858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explain</a:t>
            </a:r>
            <a:r>
              <a:rPr lang="en-US" baseline="0" dirty="0"/>
              <a:t> diff b/w exit and shutdown; what happens if they don’t shutdown;</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29</a:t>
            </a:fld>
            <a:endParaRPr lang="en-IN" dirty="0"/>
          </a:p>
        </p:txBody>
      </p:sp>
    </p:spTree>
    <p:extLst>
      <p:ext uri="{BB962C8B-B14F-4D97-AF65-F5344CB8AC3E}">
        <p14:creationId xmlns:p14="http://schemas.microsoft.com/office/powerpoint/2010/main" val="3531908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a:t>
            </a:r>
            <a:r>
              <a:rPr lang="en-US" baseline="0" dirty="0"/>
              <a:t> for each command:</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30</a:t>
            </a:fld>
            <a:endParaRPr lang="en-IN" dirty="0"/>
          </a:p>
        </p:txBody>
      </p:sp>
    </p:spTree>
    <p:extLst>
      <p:ext uri="{BB962C8B-B14F-4D97-AF65-F5344CB8AC3E}">
        <p14:creationId xmlns:p14="http://schemas.microsoft.com/office/powerpoint/2010/main" val="263761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use ls to</a:t>
            </a:r>
            <a:r>
              <a:rPr lang="en-US" baseline="0" dirty="0"/>
              <a:t> show </a:t>
            </a:r>
            <a:r>
              <a:rPr lang="en-US" baseline="0"/>
              <a:t>file size in GB</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31</a:t>
            </a:fld>
            <a:endParaRPr lang="en-IN" dirty="0"/>
          </a:p>
        </p:txBody>
      </p:sp>
    </p:spTree>
    <p:extLst>
      <p:ext uri="{BB962C8B-B14F-4D97-AF65-F5344CB8AC3E}">
        <p14:creationId xmlns:p14="http://schemas.microsoft.com/office/powerpoint/2010/main" val="4015348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39</a:t>
            </a:fld>
            <a:endParaRPr lang="en-IN" dirty="0"/>
          </a:p>
        </p:txBody>
      </p:sp>
    </p:spTree>
    <p:extLst>
      <p:ext uri="{BB962C8B-B14F-4D97-AF65-F5344CB8AC3E}">
        <p14:creationId xmlns:p14="http://schemas.microsoft.com/office/powerpoint/2010/main" val="3314757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84832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895522-3AA0-4A80-92C7-2AC281EBADF4}"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504791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CE34B9-F39B-4A6F-8022-0CCE308A2419}"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0211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11948E-581D-4169-8736-D78C52183DC6}"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986032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5BA0C7-AADD-421B-8FBC-91AD055047E0}" type="datetime1">
              <a:rPr lang="en-US" smtClean="0">
                <a:solidFill>
                  <a:srgbClr val="ACD433"/>
                </a:solidFill>
              </a:rPr>
              <a:pPr/>
              <a:t>7/22/2016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US" dirty="0">
                <a:solidFill>
                  <a:srgbClr val="ACD433"/>
                </a:solidFill>
              </a:rPr>
              <a:t>
              </a:t>
            </a: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708864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BE4F3-E305-4ED2-971B-C2A5123F3D9C}" type="datetime1">
              <a:rPr lang="en-US" smtClean="0">
                <a:solidFill>
                  <a:srgbClr val="ACD433"/>
                </a:solidFill>
              </a:rPr>
              <a:pPr/>
              <a:t>7/22/2016</a:t>
            </a:fld>
            <a:endParaRPr lang="en-US" dirty="0">
              <a:solidFill>
                <a:srgbClr val="ACD433"/>
              </a:solidFill>
            </a:endParaRPr>
          </a:p>
        </p:txBody>
      </p:sp>
      <p:sp>
        <p:nvSpPr>
          <p:cNvPr id="3" name="Footer Placeholder 2"/>
          <p:cNvSpPr>
            <a:spLocks noGrp="1"/>
          </p:cNvSpPr>
          <p:nvPr>
            <p:ph type="ftr" sz="quarter" idx="11"/>
          </p:nvPr>
        </p:nvSpPr>
        <p:spPr/>
        <p:txBody>
          <a:bodyPr/>
          <a:lstStyle/>
          <a:p>
            <a:r>
              <a:rPr lang="en-US" dirty="0">
                <a:solidFill>
                  <a:srgbClr val="ACD433"/>
                </a:solidFill>
              </a:rPr>
              <a:t>
              </a:t>
            </a:r>
          </a:p>
        </p:txBody>
      </p:sp>
      <p:sp>
        <p:nvSpPr>
          <p:cNvPr id="7" name="Rectangle 6"/>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44447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09C74D-C361-4376-8174-AE28B7E8A445}"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60980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D2ABCB-FCE6-4FC8-9691-E916C6279CCA}"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4" name="Rectangle 13"/>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042229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80EE84-D85D-497A-9A5B-2C115F808617}"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148747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95FD7DB-F981-46C5-8A0D-B8D1888769EB}"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28951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47D92A-5A66-48EC-BB04-2DB931A39FAD}"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32" name="Rectangle 3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29939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270C19-0998-4D52-8DDD-94BF7F80CAE5}"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2" name="Rectangle 1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315212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6B07827-9700-4CDC-9E1D-449DE82DEC8D}"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4217249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4A760FD-A1FC-4920-A3C2-085B8E2F9EFA}"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3858322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13D277-BE34-4141-BD49-E063BB7174E9}"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1372266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9B2973-F785-4CAE-8F28-6C5AAE1DB252}"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18413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ABFFF5-06C3-4731-9F12-C14547B929B0}" type="datetime1">
              <a:rPr lang="en-IN" smtClean="0">
                <a:solidFill>
                  <a:srgbClr val="ACD433"/>
                </a:solidFill>
              </a:rPr>
              <a:pPr/>
              <a:t>22-07-2016</a:t>
            </a:fld>
            <a:endParaRPr lang="en-IN" dirty="0">
              <a:solidFill>
                <a:srgbClr val="ACD433"/>
              </a:solidFill>
            </a:endParaRPr>
          </a:p>
        </p:txBody>
      </p:sp>
      <p:sp>
        <p:nvSpPr>
          <p:cNvPr id="4" name="Footer Placeholder 3"/>
          <p:cNvSpPr>
            <a:spLocks noGrp="1"/>
          </p:cNvSpPr>
          <p:nvPr>
            <p:ph type="ftr" sz="quarter" idx="11"/>
          </p:nvPr>
        </p:nvSpPr>
        <p:spPr/>
        <p:txBody>
          <a:bodyPr/>
          <a:lstStyle/>
          <a:p>
            <a:endParaRPr lang="en-IN" dirty="0">
              <a:solidFill>
                <a:srgbClr val="ACD433"/>
              </a:solidFill>
            </a:endParaRPr>
          </a:p>
        </p:txBody>
      </p:sp>
      <p:sp>
        <p:nvSpPr>
          <p:cNvPr id="5" name="Slide Number Placeholder 4"/>
          <p:cNvSpPr>
            <a:spLocks noGrp="1"/>
          </p:cNvSpPr>
          <p:nvPr>
            <p:ph type="sldNum" sz="quarter" idx="12"/>
          </p:nvPr>
        </p:nvSpPr>
        <p:spPr/>
        <p:txBody>
          <a:bodyPr/>
          <a:lstStyle/>
          <a:p>
            <a:fld id="{E2B0EC35-7F37-490F-B231-6B92D181A0EA}" type="slidenum">
              <a:rPr lang="en-IN" smtClean="0">
                <a:solidFill>
                  <a:srgbClr val="0E5580"/>
                </a:solidFill>
              </a:rPr>
              <a:pPr/>
              <a:t>‹#›</a:t>
            </a:fld>
            <a:endParaRPr lang="en-IN" dirty="0">
              <a:solidFill>
                <a:srgbClr val="0E5580"/>
              </a:solidFill>
            </a:endParaRPr>
          </a:p>
        </p:txBody>
      </p:sp>
    </p:spTree>
    <p:extLst>
      <p:ext uri="{BB962C8B-B14F-4D97-AF65-F5344CB8AC3E}">
        <p14:creationId xmlns:p14="http://schemas.microsoft.com/office/powerpoint/2010/main" val="1239128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629984" y="542362"/>
            <a:ext cx="978568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pPr defTabSz="457200"/>
            <a:fld id="{40642DC7-B585-4536-91D5-231B0D5F1DDB}" type="datetime1">
              <a:rPr lang="en-US" smtClean="0">
                <a:solidFill>
                  <a:srgbClr val="ACD433"/>
                </a:solidFill>
              </a:rPr>
              <a:pPr defTabSz="457200"/>
              <a:t>7/22/2016</a:t>
            </a:fld>
            <a:endParaRPr lang="en-US" dirty="0">
              <a:solidFill>
                <a:srgbClr val="ACD433"/>
              </a:solidFill>
            </a:endParaRPr>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pPr defTabSz="457200"/>
            <a:r>
              <a:rPr lang="en-US" dirty="0">
                <a:solidFill>
                  <a:srgbClr val="ACD433"/>
                </a:solidFill>
              </a:rPr>
              <a:t>
              </a:t>
            </a:r>
          </a:p>
        </p:txBody>
      </p:sp>
      <p:sp>
        <p:nvSpPr>
          <p:cNvPr id="22" name="Rectangle 21"/>
          <p:cNvSpPr/>
          <p:nvPr/>
        </p:nvSpPr>
        <p:spPr>
          <a:xfrm>
            <a:off x="10437812" y="0"/>
            <a:ext cx="685800" cy="1061351"/>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2"/>
                </a:solidFill>
                <a:latin typeface="+mn-lt"/>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pic>
        <p:nvPicPr>
          <p:cNvPr id="24" name="Picture 23"/>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1714962" y="0"/>
            <a:ext cx="477038" cy="450761"/>
          </a:xfrm>
          <a:prstGeom prst="rect">
            <a:avLst/>
          </a:prstGeom>
        </p:spPr>
      </p:pic>
      <p:sp>
        <p:nvSpPr>
          <p:cNvPr id="31" name="Rectangle 30"/>
          <p:cNvSpPr/>
          <p:nvPr userDrawn="1"/>
        </p:nvSpPr>
        <p:spPr>
          <a:xfrm>
            <a:off x="444500" y="1151908"/>
            <a:ext cx="11270462" cy="104348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
        <p:nvSpPr>
          <p:cNvPr id="32" name="Rectangle 31"/>
          <p:cNvSpPr/>
          <p:nvPr userDrawn="1"/>
        </p:nvSpPr>
        <p:spPr>
          <a:xfrm>
            <a:off x="484906" y="1893122"/>
            <a:ext cx="11230056" cy="4122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Tree>
    <p:extLst>
      <p:ext uri="{BB962C8B-B14F-4D97-AF65-F5344CB8AC3E}">
        <p14:creationId xmlns:p14="http://schemas.microsoft.com/office/powerpoint/2010/main" val="32849257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2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jpeg"/><Relationship Id="rId3" Type="http://schemas.openxmlformats.org/officeDocument/2006/relationships/image" Target="../media/image9.jpe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jpeg"/><Relationship Id="rId16" Type="http://schemas.openxmlformats.org/officeDocument/2006/relationships/image" Target="../media/image22.jpe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jpeg"/><Relationship Id="rId9" Type="http://schemas.openxmlformats.org/officeDocument/2006/relationships/image" Target="../media/image15.png"/><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hyperlink" Target="http://www.linfo.org/linuxdef.html"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Computer_program"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41.jpeg"/></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23.jpeg"/><Relationship Id="rId1" Type="http://schemas.openxmlformats.org/officeDocument/2006/relationships/slideLayout" Target="../slideLayouts/slideLayout1.xml"/><Relationship Id="rId5" Type="http://schemas.openxmlformats.org/officeDocument/2006/relationships/image" Target="../media/image44.jpeg"/><Relationship Id="rId4" Type="http://schemas.openxmlformats.org/officeDocument/2006/relationships/image" Target="../media/image43.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54954" y="1481547"/>
            <a:ext cx="9989861" cy="2677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prstClr val="black"/>
                </a:solidFill>
              </a:rPr>
              <a:t>TATA </a:t>
            </a:r>
            <a:r>
              <a:rPr lang="en-US" sz="4000" b="1" dirty="0" err="1">
                <a:solidFill>
                  <a:prstClr val="black"/>
                </a:solidFill>
              </a:rPr>
              <a:t>iQ</a:t>
            </a:r>
            <a:endParaRPr lang="en-US" sz="4000" b="1" dirty="0">
              <a:solidFill>
                <a:prstClr val="black"/>
              </a:solidFill>
            </a:endParaRPr>
          </a:p>
          <a:p>
            <a:pPr algn="l"/>
            <a:r>
              <a:rPr lang="en-US" sz="3500" dirty="0">
                <a:solidFill>
                  <a:prstClr val="black"/>
                </a:solidFill>
              </a:rPr>
              <a:t>Unix Training</a:t>
            </a:r>
            <a:r>
              <a:rPr lang="en-US" sz="4000" b="1" dirty="0">
                <a:solidFill>
                  <a:prstClr val="black"/>
                </a:solidFill>
              </a:rPr>
              <a:t/>
            </a:r>
            <a:br>
              <a:rPr lang="en-US" sz="4000" b="1" dirty="0">
                <a:solidFill>
                  <a:prstClr val="black"/>
                </a:solidFill>
              </a:rPr>
            </a:br>
            <a:endParaRPr lang="en-IN" sz="3600" dirty="0">
              <a:solidFill>
                <a:prstClr val="black"/>
              </a:solidFill>
            </a:endParaRPr>
          </a:p>
        </p:txBody>
      </p:sp>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a:t>
            </a:fld>
            <a:endParaRPr lang="en-US" dirty="0">
              <a:solidFill>
                <a:srgbClr val="0E5580"/>
              </a:solidFill>
            </a:endParaRPr>
          </a:p>
        </p:txBody>
      </p:sp>
      <p:sp>
        <p:nvSpPr>
          <p:cNvPr id="3" name="Title 2"/>
          <p:cNvSpPr>
            <a:spLocks noGrp="1"/>
          </p:cNvSpPr>
          <p:nvPr>
            <p:ph type="title"/>
          </p:nvPr>
        </p:nvSpPr>
        <p:spPr/>
        <p:txBody>
          <a:bodyPr/>
          <a:lstStyle/>
          <a:p>
            <a:r>
              <a:rPr lang="en-IN" dirty="0"/>
              <a:t> </a:t>
            </a:r>
          </a:p>
        </p:txBody>
      </p:sp>
    </p:spTree>
    <p:extLst>
      <p:ext uri="{BB962C8B-B14F-4D97-AF65-F5344CB8AC3E}">
        <p14:creationId xmlns:p14="http://schemas.microsoft.com/office/powerpoint/2010/main" val="36381856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2</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OS Introduction</a:t>
            </a:r>
          </a:p>
        </p:txBody>
      </p:sp>
    </p:spTree>
    <p:extLst>
      <p:ext uri="{BB962C8B-B14F-4D97-AF65-F5344CB8AC3E}">
        <p14:creationId xmlns:p14="http://schemas.microsoft.com/office/powerpoint/2010/main" val="5298808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an OS &amp; why do we need OS?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528357" y="1618037"/>
            <a:ext cx="10380374" cy="856136"/>
          </a:xfrm>
        </p:spPr>
        <p:txBody>
          <a:bodyPr/>
          <a:lstStyle/>
          <a:p>
            <a:r>
              <a:rPr lang="en-IN" dirty="0"/>
              <a:t>The operating system (OS) is the most important program that runs on a computer</a:t>
            </a:r>
            <a:endParaRPr lang="en-US" dirty="0"/>
          </a:p>
        </p:txBody>
      </p:sp>
      <p:pic>
        <p:nvPicPr>
          <p:cNvPr id="1026" name="Picture 2" descr="http://static.topyaps.com/wp-content/uploads/2013/04/operating_system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459" y="3417538"/>
            <a:ext cx="3958073" cy="26387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thumb/e/e1/Operating_system_placement.svg/165px-Operating_system_placement.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6628" y="3417538"/>
            <a:ext cx="1739039" cy="2571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6233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22304679"/>
              </p:ext>
            </p:extLst>
          </p:nvPr>
        </p:nvGraphicFramePr>
        <p:xfrm>
          <a:off x="462819" y="1202974"/>
          <a:ext cx="11244255" cy="5618480"/>
        </p:xfrm>
        <a:graphic>
          <a:graphicData uri="http://schemas.openxmlformats.org/drawingml/2006/table">
            <a:tbl>
              <a:tblPr firstRow="1" bandRow="1">
                <a:tableStyleId>{5C22544A-7EE6-4342-B048-85BDC9FD1C3A}</a:tableStyleId>
              </a:tblPr>
              <a:tblGrid>
                <a:gridCol w="1838421">
                  <a:extLst>
                    <a:ext uri="{9D8B030D-6E8A-4147-A177-3AD203B41FA5}">
                      <a16:colId xmlns:a16="http://schemas.microsoft.com/office/drawing/2014/main" xmlns="" val="20000"/>
                    </a:ext>
                  </a:extLst>
                </a:gridCol>
                <a:gridCol w="2623717">
                  <a:extLst>
                    <a:ext uri="{9D8B030D-6E8A-4147-A177-3AD203B41FA5}">
                      <a16:colId xmlns:a16="http://schemas.microsoft.com/office/drawing/2014/main" xmlns="" val="20001"/>
                    </a:ext>
                  </a:extLst>
                </a:gridCol>
                <a:gridCol w="2231069">
                  <a:extLst>
                    <a:ext uri="{9D8B030D-6E8A-4147-A177-3AD203B41FA5}">
                      <a16:colId xmlns:a16="http://schemas.microsoft.com/office/drawing/2014/main" xmlns="" val="20002"/>
                    </a:ext>
                  </a:extLst>
                </a:gridCol>
                <a:gridCol w="1386117">
                  <a:extLst>
                    <a:ext uri="{9D8B030D-6E8A-4147-A177-3AD203B41FA5}">
                      <a16:colId xmlns:a16="http://schemas.microsoft.com/office/drawing/2014/main" xmlns="" val="20003"/>
                    </a:ext>
                  </a:extLst>
                </a:gridCol>
                <a:gridCol w="3164931">
                  <a:extLst>
                    <a:ext uri="{9D8B030D-6E8A-4147-A177-3AD203B41FA5}">
                      <a16:colId xmlns:a16="http://schemas.microsoft.com/office/drawing/2014/main" xmlns="" val="20004"/>
                    </a:ext>
                  </a:extLst>
                </a:gridCol>
              </a:tblGrid>
              <a:tr h="0">
                <a:tc>
                  <a:txBody>
                    <a:bodyPr/>
                    <a:lstStyle/>
                    <a:p>
                      <a:r>
                        <a:rPr lang="en-IN" dirty="0"/>
                        <a:t>Features</a:t>
                      </a:r>
                    </a:p>
                  </a:txBody>
                  <a:tcPr/>
                </a:tc>
                <a:tc>
                  <a:txBody>
                    <a:bodyPr/>
                    <a:lstStyle/>
                    <a:p>
                      <a:r>
                        <a:rPr lang="en-IN" dirty="0"/>
                        <a:t>Windows</a:t>
                      </a:r>
                    </a:p>
                  </a:txBody>
                  <a:tcPr/>
                </a:tc>
                <a:tc>
                  <a:txBody>
                    <a:bodyPr/>
                    <a:lstStyle/>
                    <a:p>
                      <a:r>
                        <a:rPr lang="en-IN" dirty="0"/>
                        <a:t>Mac</a:t>
                      </a:r>
                    </a:p>
                  </a:txBody>
                  <a:tcPr/>
                </a:tc>
                <a:tc>
                  <a:txBody>
                    <a:bodyPr/>
                    <a:lstStyle/>
                    <a:p>
                      <a:r>
                        <a:rPr lang="en-IN" dirty="0"/>
                        <a:t>Unix</a:t>
                      </a:r>
                      <a:r>
                        <a:rPr lang="en-IN" baseline="0" dirty="0"/>
                        <a:t> </a:t>
                      </a:r>
                      <a:endParaRPr lang="en-IN" dirty="0"/>
                    </a:p>
                  </a:txBody>
                  <a:tcPr/>
                </a:tc>
                <a:tc>
                  <a:txBody>
                    <a:bodyPr/>
                    <a:lstStyle/>
                    <a:p>
                      <a:r>
                        <a:rPr lang="en-IN" dirty="0"/>
                        <a:t>z/OS</a:t>
                      </a:r>
                    </a:p>
                  </a:txBody>
                  <a:tcPr/>
                </a:tc>
                <a:extLst>
                  <a:ext uri="{0D108BD9-81ED-4DB2-BD59-A6C34878D82A}">
                    <a16:rowId xmlns:a16="http://schemas.microsoft.com/office/drawing/2014/main" xmlns="" val="10000"/>
                  </a:ext>
                </a:extLst>
              </a:tr>
              <a:tr h="370840">
                <a:tc>
                  <a:txBody>
                    <a:bodyPr/>
                    <a:lstStyle/>
                    <a:p>
                      <a:r>
                        <a:rPr lang="en-IN" sz="1400" dirty="0"/>
                        <a:t>User Interface</a:t>
                      </a:r>
                    </a:p>
                  </a:txBody>
                  <a:tcPr/>
                </a:tc>
                <a:tc>
                  <a:txBody>
                    <a:bodyPr/>
                    <a:lstStyle/>
                    <a:p>
                      <a:r>
                        <a:rPr lang="en-IN" sz="1400" dirty="0"/>
                        <a:t>Excellent ( Easy to</a:t>
                      </a:r>
                      <a:r>
                        <a:rPr lang="en-IN" sz="1400" baseline="0" dirty="0"/>
                        <a:t> understand)</a:t>
                      </a:r>
                      <a:endParaRPr lang="en-IN" sz="1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400" dirty="0"/>
                        <a:t>Excellent( Easy to</a:t>
                      </a:r>
                      <a:r>
                        <a:rPr lang="en-IN" sz="1400" baseline="0" dirty="0"/>
                        <a:t> understand)</a:t>
                      </a:r>
                      <a:endParaRPr lang="en-IN" sz="1400" dirty="0"/>
                    </a:p>
                    <a:p>
                      <a:endParaRPr lang="en-IN" sz="1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400" dirty="0"/>
                        <a:t>Good (Needs</a:t>
                      </a:r>
                      <a:r>
                        <a:rPr lang="en-IN" sz="1400" baseline="0" dirty="0"/>
                        <a:t> some practice </a:t>
                      </a:r>
                      <a:r>
                        <a:rPr lang="en-IN" sz="1400" dirty="0"/>
                        <a:t>to</a:t>
                      </a:r>
                      <a:r>
                        <a:rPr lang="en-IN" sz="1400" baseline="0" dirty="0"/>
                        <a:t> understand)</a:t>
                      </a:r>
                      <a:endParaRPr lang="en-IN" sz="1400" dirty="0"/>
                    </a:p>
                    <a:p>
                      <a:endParaRPr lang="en-IN" sz="1400" dirty="0"/>
                    </a:p>
                  </a:txBody>
                  <a:tcPr/>
                </a:tc>
                <a:tc>
                  <a:txBody>
                    <a:bodyPr/>
                    <a:lstStyle/>
                    <a:p>
                      <a:r>
                        <a:rPr lang="en-IN" sz="1400" dirty="0">
                          <a:solidFill>
                            <a:schemeClr val="tx1"/>
                          </a:solidFill>
                        </a:rPr>
                        <a:t>Medium ( Very difficult</a:t>
                      </a:r>
                      <a:r>
                        <a:rPr lang="en-IN" sz="1400" baseline="0" dirty="0">
                          <a:solidFill>
                            <a:schemeClr val="tx1"/>
                          </a:solidFill>
                        </a:rPr>
                        <a:t> )</a:t>
                      </a:r>
                      <a:endParaRPr lang="en-IN" sz="1400" dirty="0">
                        <a:solidFill>
                          <a:schemeClr val="tx1"/>
                        </a:solidFill>
                      </a:endParaRPr>
                    </a:p>
                  </a:txBody>
                  <a:tcPr/>
                </a:tc>
                <a:extLst>
                  <a:ext uri="{0D108BD9-81ED-4DB2-BD59-A6C34878D82A}">
                    <a16:rowId xmlns:a16="http://schemas.microsoft.com/office/drawing/2014/main" xmlns="" val="10001"/>
                  </a:ext>
                </a:extLst>
              </a:tr>
              <a:tr h="370840">
                <a:tc>
                  <a:txBody>
                    <a:bodyPr/>
                    <a:lstStyle/>
                    <a:p>
                      <a:r>
                        <a:rPr lang="en-IN" sz="1400" dirty="0"/>
                        <a:t>Security</a:t>
                      </a:r>
                    </a:p>
                  </a:txBody>
                  <a:tcPr/>
                </a:tc>
                <a:tc>
                  <a:txBody>
                    <a:bodyPr/>
                    <a:lstStyle/>
                    <a:p>
                      <a:r>
                        <a:rPr lang="en-IN" sz="1400" dirty="0"/>
                        <a:t>Moderate</a:t>
                      </a:r>
                    </a:p>
                  </a:txBody>
                  <a:tcPr/>
                </a:tc>
                <a:tc>
                  <a:txBody>
                    <a:bodyPr/>
                    <a:lstStyle/>
                    <a:p>
                      <a:r>
                        <a:rPr lang="en-IN" sz="1400" dirty="0"/>
                        <a:t>High</a:t>
                      </a:r>
                    </a:p>
                  </a:txBody>
                  <a:tcPr/>
                </a:tc>
                <a:tc>
                  <a:txBody>
                    <a:bodyPr/>
                    <a:lstStyle/>
                    <a:p>
                      <a:r>
                        <a:rPr lang="en-IN" sz="1400" dirty="0"/>
                        <a:t>Highly</a:t>
                      </a:r>
                      <a:r>
                        <a:rPr lang="en-IN" sz="1400" baseline="0" dirty="0"/>
                        <a:t> Secure</a:t>
                      </a:r>
                      <a:endParaRPr lang="en-IN" sz="1400" dirty="0"/>
                    </a:p>
                  </a:txBody>
                  <a:tcPr/>
                </a:tc>
                <a:tc>
                  <a:txBody>
                    <a:bodyPr/>
                    <a:lstStyle/>
                    <a:p>
                      <a:r>
                        <a:rPr lang="en-IN" sz="1400" dirty="0"/>
                        <a:t>Highly Secure</a:t>
                      </a:r>
                    </a:p>
                  </a:txBody>
                  <a:tcPr/>
                </a:tc>
                <a:extLst>
                  <a:ext uri="{0D108BD9-81ED-4DB2-BD59-A6C34878D82A}">
                    <a16:rowId xmlns:a16="http://schemas.microsoft.com/office/drawing/2014/main" xmlns="" val="10002"/>
                  </a:ext>
                </a:extLst>
              </a:tr>
              <a:tr h="370840">
                <a:tc>
                  <a:txBody>
                    <a:bodyPr/>
                    <a:lstStyle/>
                    <a:p>
                      <a:r>
                        <a:rPr lang="en-IN" sz="1400" dirty="0"/>
                        <a:t>Compatibility</a:t>
                      </a:r>
                    </a:p>
                  </a:txBody>
                  <a:tcPr/>
                </a:tc>
                <a:tc>
                  <a:txBody>
                    <a:bodyPr/>
                    <a:lstStyle/>
                    <a:p>
                      <a:r>
                        <a:rPr lang="en-IN" sz="1400" dirty="0"/>
                        <a:t>Runs on any hardware</a:t>
                      </a:r>
                    </a:p>
                  </a:txBody>
                  <a:tcPr/>
                </a:tc>
                <a:tc>
                  <a:txBody>
                    <a:bodyPr/>
                    <a:lstStyle/>
                    <a:p>
                      <a:r>
                        <a:rPr lang="en-IN" sz="1400" dirty="0"/>
                        <a:t>Runs only on Apple</a:t>
                      </a:r>
                    </a:p>
                  </a:txBody>
                  <a:tcPr/>
                </a:tc>
                <a:tc>
                  <a:txBody>
                    <a:bodyPr/>
                    <a:lstStyle/>
                    <a:p>
                      <a:r>
                        <a:rPr lang="en-IN" sz="1400" dirty="0"/>
                        <a:t>Any Hardware</a:t>
                      </a:r>
                    </a:p>
                  </a:txBody>
                  <a:tcPr/>
                </a:tc>
                <a:tc>
                  <a:txBody>
                    <a:bodyPr/>
                    <a:lstStyle/>
                    <a:p>
                      <a:r>
                        <a:rPr lang="en-IN" sz="1400" dirty="0"/>
                        <a:t>Any Hardware</a:t>
                      </a:r>
                    </a:p>
                  </a:txBody>
                  <a:tcPr/>
                </a:tc>
                <a:extLst>
                  <a:ext uri="{0D108BD9-81ED-4DB2-BD59-A6C34878D82A}">
                    <a16:rowId xmlns:a16="http://schemas.microsoft.com/office/drawing/2014/main" xmlns="" val="10003"/>
                  </a:ext>
                </a:extLst>
              </a:tr>
              <a:tr h="370840">
                <a:tc>
                  <a:txBody>
                    <a:bodyPr/>
                    <a:lstStyle/>
                    <a:p>
                      <a:r>
                        <a:rPr lang="en-IN" sz="1400" dirty="0"/>
                        <a:t>Performance</a:t>
                      </a:r>
                    </a:p>
                  </a:txBody>
                  <a:tcPr/>
                </a:tc>
                <a:tc>
                  <a:txBody>
                    <a:bodyPr/>
                    <a:lstStyle/>
                    <a:p>
                      <a:r>
                        <a:rPr lang="en-IN" sz="1400" dirty="0"/>
                        <a:t>Slow( too many apps running)</a:t>
                      </a:r>
                    </a:p>
                  </a:txBody>
                  <a:tcPr/>
                </a:tc>
                <a:tc>
                  <a:txBody>
                    <a:bodyPr/>
                    <a:lstStyle/>
                    <a:p>
                      <a:r>
                        <a:rPr lang="en-IN" sz="1400" dirty="0"/>
                        <a:t>Slow </a:t>
                      </a:r>
                    </a:p>
                  </a:txBody>
                  <a:tcPr/>
                </a:tc>
                <a:tc>
                  <a:txBody>
                    <a:bodyPr/>
                    <a:lstStyle/>
                    <a:p>
                      <a:r>
                        <a:rPr lang="en-IN" sz="1400" dirty="0"/>
                        <a:t>Fast</a:t>
                      </a:r>
                    </a:p>
                  </a:txBody>
                  <a:tcPr/>
                </a:tc>
                <a:tc>
                  <a:txBody>
                    <a:bodyPr/>
                    <a:lstStyle/>
                    <a:p>
                      <a:r>
                        <a:rPr lang="en-IN" sz="1400" dirty="0"/>
                        <a:t>Fastest</a:t>
                      </a:r>
                    </a:p>
                  </a:txBody>
                  <a:tcPr/>
                </a:tc>
                <a:extLst>
                  <a:ext uri="{0D108BD9-81ED-4DB2-BD59-A6C34878D82A}">
                    <a16:rowId xmlns:a16="http://schemas.microsoft.com/office/drawing/2014/main" xmlns="" val="10004"/>
                  </a:ext>
                </a:extLst>
              </a:tr>
              <a:tr h="370840">
                <a:tc>
                  <a:txBody>
                    <a:bodyPr/>
                    <a:lstStyle/>
                    <a:p>
                      <a:r>
                        <a:rPr lang="en-IN" sz="1400" dirty="0"/>
                        <a:t>Reliability</a:t>
                      </a:r>
                    </a:p>
                  </a:txBody>
                  <a:tcPr/>
                </a:tc>
                <a:tc>
                  <a:txBody>
                    <a:bodyPr/>
                    <a:lstStyle/>
                    <a:p>
                      <a:r>
                        <a:rPr lang="en-IN" sz="1400" dirty="0"/>
                        <a:t>Relatively Stable</a:t>
                      </a:r>
                      <a:r>
                        <a:rPr lang="en-IN" sz="1400" baseline="0" dirty="0"/>
                        <a:t> because the application needs to be secure on a regular basis.</a:t>
                      </a:r>
                    </a:p>
                  </a:txBody>
                  <a:tcPr/>
                </a:tc>
                <a:tc>
                  <a:txBody>
                    <a:bodyPr/>
                    <a:lstStyle/>
                    <a:p>
                      <a:r>
                        <a:rPr lang="en-IN" sz="1400" dirty="0"/>
                        <a:t>Better than Win,</a:t>
                      </a:r>
                      <a:r>
                        <a:rPr lang="en-IN" sz="1400" baseline="0" dirty="0"/>
                        <a:t> because of its restriction on hardware. Still apps needs to be updated</a:t>
                      </a:r>
                      <a:endParaRPr lang="en-IN" sz="1400" dirty="0"/>
                    </a:p>
                  </a:txBody>
                  <a:tcPr/>
                </a:tc>
                <a:tc>
                  <a:txBody>
                    <a:bodyPr/>
                    <a:lstStyle/>
                    <a:p>
                      <a:r>
                        <a:rPr lang="en-IN" sz="1400" dirty="0"/>
                        <a:t>Stable,</a:t>
                      </a:r>
                      <a:r>
                        <a:rPr lang="en-IN" sz="1400" baseline="0" dirty="0"/>
                        <a:t> not too many apps running.</a:t>
                      </a:r>
                      <a:endParaRPr lang="en-IN" sz="1400" dirty="0"/>
                    </a:p>
                  </a:txBody>
                  <a:tcPr/>
                </a:tc>
                <a:tc>
                  <a:txBody>
                    <a:bodyPr/>
                    <a:lstStyle/>
                    <a:p>
                      <a:r>
                        <a:rPr lang="en-IN" sz="1400" dirty="0"/>
                        <a:t>Highly stable.</a:t>
                      </a:r>
                      <a:r>
                        <a:rPr lang="en-IN" sz="1400" baseline="0" dirty="0"/>
                        <a:t> </a:t>
                      </a:r>
                      <a:endParaRPr lang="en-IN" sz="1400" dirty="0"/>
                    </a:p>
                  </a:txBody>
                  <a:tcPr/>
                </a:tc>
                <a:extLst>
                  <a:ext uri="{0D108BD9-81ED-4DB2-BD59-A6C34878D82A}">
                    <a16:rowId xmlns:a16="http://schemas.microsoft.com/office/drawing/2014/main" xmlns="" val="10005"/>
                  </a:ext>
                </a:extLst>
              </a:tr>
              <a:tr h="370840">
                <a:tc>
                  <a:txBody>
                    <a:bodyPr/>
                    <a:lstStyle/>
                    <a:p>
                      <a:r>
                        <a:rPr lang="en-IN" sz="1400" dirty="0"/>
                        <a:t>Cost</a:t>
                      </a:r>
                    </a:p>
                  </a:txBody>
                  <a:tcPr/>
                </a:tc>
                <a:tc>
                  <a:txBody>
                    <a:bodyPr/>
                    <a:lstStyle/>
                    <a:p>
                      <a:r>
                        <a:rPr lang="en-IN" sz="1400" baseline="0" dirty="0"/>
                        <a:t>Expensive</a:t>
                      </a:r>
                    </a:p>
                  </a:txBody>
                  <a:tcPr/>
                </a:tc>
                <a:tc>
                  <a:txBody>
                    <a:bodyPr/>
                    <a:lstStyle/>
                    <a:p>
                      <a:r>
                        <a:rPr lang="en-IN" sz="1400" dirty="0"/>
                        <a:t>Expensive</a:t>
                      </a:r>
                    </a:p>
                  </a:txBody>
                  <a:tcPr/>
                </a:tc>
                <a:tc>
                  <a:txBody>
                    <a:bodyPr/>
                    <a:lstStyle/>
                    <a:p>
                      <a:r>
                        <a:rPr lang="en-IN" sz="1400" dirty="0"/>
                        <a:t>Cheapest</a:t>
                      </a:r>
                    </a:p>
                  </a:txBody>
                  <a:tcPr/>
                </a:tc>
                <a:tc>
                  <a:txBody>
                    <a:bodyPr/>
                    <a:lstStyle/>
                    <a:p>
                      <a:r>
                        <a:rPr lang="en-IN" sz="1400" dirty="0"/>
                        <a:t>Most Expensive</a:t>
                      </a:r>
                    </a:p>
                  </a:txBody>
                  <a:tcPr/>
                </a:tc>
                <a:extLst>
                  <a:ext uri="{0D108BD9-81ED-4DB2-BD59-A6C34878D82A}">
                    <a16:rowId xmlns:a16="http://schemas.microsoft.com/office/drawing/2014/main" xmlns="" val="10006"/>
                  </a:ext>
                </a:extLst>
              </a:tr>
              <a:tr h="370840">
                <a:tc>
                  <a:txBody>
                    <a:bodyPr/>
                    <a:lstStyle/>
                    <a:p>
                      <a:r>
                        <a:rPr lang="en-IN" sz="1400" dirty="0"/>
                        <a:t>Machines/HW</a:t>
                      </a:r>
                    </a:p>
                  </a:txBody>
                  <a:tcPr/>
                </a:tc>
                <a:tc>
                  <a:txBody>
                    <a:bodyPr/>
                    <a:lstStyle/>
                    <a:p>
                      <a:r>
                        <a:rPr lang="en-IN" sz="1400" baseline="0" dirty="0"/>
                        <a:t>Laptop and desktops</a:t>
                      </a:r>
                    </a:p>
                  </a:txBody>
                  <a:tcPr/>
                </a:tc>
                <a:tc>
                  <a:txBody>
                    <a:bodyPr/>
                    <a:lstStyle/>
                    <a:p>
                      <a:r>
                        <a:rPr lang="en-IN" sz="1400" dirty="0"/>
                        <a:t>Laptops</a:t>
                      </a:r>
                      <a:r>
                        <a:rPr lang="en-IN" sz="1400" baseline="0" dirty="0"/>
                        <a:t> and desktops</a:t>
                      </a:r>
                      <a:endParaRPr lang="en-IN" sz="1400" dirty="0"/>
                    </a:p>
                  </a:txBody>
                  <a:tcPr/>
                </a:tc>
                <a:tc>
                  <a:txBody>
                    <a:bodyPr/>
                    <a:lstStyle/>
                    <a:p>
                      <a:r>
                        <a:rPr lang="en-IN" sz="1400" dirty="0"/>
                        <a:t>smaller, less critical Mainframe application or servers</a:t>
                      </a:r>
                    </a:p>
                  </a:txBody>
                  <a:tcPr/>
                </a:tc>
                <a:tc>
                  <a:txBody>
                    <a:bodyPr/>
                    <a:lstStyle/>
                    <a:p>
                      <a:r>
                        <a:rPr lang="en-IN" sz="1400" dirty="0"/>
                        <a:t>Heavy</a:t>
                      </a:r>
                      <a:r>
                        <a:rPr lang="en-IN" sz="1400" baseline="0" dirty="0"/>
                        <a:t> </a:t>
                      </a:r>
                      <a:r>
                        <a:rPr lang="en-IN" sz="1400" dirty="0"/>
                        <a:t>Mainframe</a:t>
                      </a:r>
                      <a:r>
                        <a:rPr lang="en-IN" sz="1400" baseline="0" dirty="0"/>
                        <a:t> server</a:t>
                      </a:r>
                      <a:r>
                        <a:rPr lang="en-IN" sz="1400" dirty="0"/>
                        <a:t> applications.</a:t>
                      </a:r>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1768137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pSp>
        <p:nvGrpSpPr>
          <p:cNvPr id="3" name="Group 2"/>
          <p:cNvGrpSpPr/>
          <p:nvPr/>
        </p:nvGrpSpPr>
        <p:grpSpPr>
          <a:xfrm>
            <a:off x="897255" y="1508267"/>
            <a:ext cx="9171305" cy="1743428"/>
            <a:chOff x="897255" y="1508267"/>
            <a:chExt cx="9171305" cy="1743428"/>
          </a:xfrm>
        </p:grpSpPr>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7447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When was Unix developed first and by whom? </a:t>
              </a:r>
            </a:p>
          </p:txBody>
        </p:sp>
      </p:grpSp>
      <p:grpSp>
        <p:nvGrpSpPr>
          <p:cNvPr id="7" name="Group 6"/>
          <p:cNvGrpSpPr/>
          <p:nvPr/>
        </p:nvGrpSpPr>
        <p:grpSpPr>
          <a:xfrm>
            <a:off x="897255" y="4038731"/>
            <a:ext cx="10431145" cy="1483360"/>
            <a:chOff x="897255" y="4038731"/>
            <a:chExt cx="10431145" cy="1483360"/>
          </a:xfrm>
        </p:grpSpPr>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1969. Developed by K Thomson, Dennis Ritchie</a:t>
              </a:r>
            </a:p>
            <a:p>
              <a:r>
                <a:rPr lang="en-IN" sz="2800" dirty="0">
                  <a:latin typeface="Berlin Sans FB Demi" panose="020E0802020502020306" pitchFamily="34" charset="0"/>
                </a:rPr>
                <a:t>  </a:t>
              </a:r>
            </a:p>
          </p:txBody>
        </p:sp>
      </p:grpSp>
    </p:spTree>
    <p:extLst>
      <p:ext uri="{BB962C8B-B14F-4D97-AF65-F5344CB8AC3E}">
        <p14:creationId xmlns:p14="http://schemas.microsoft.com/office/powerpoint/2010/main" val="167463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6</a:t>
            </a:fld>
            <a:endParaRPr lang="en-US" dirty="0">
              <a:solidFill>
                <a:srgbClr val="0E5580"/>
              </a:solidFill>
            </a:endParaRPr>
          </a:p>
        </p:txBody>
      </p:sp>
      <p:sp>
        <p:nvSpPr>
          <p:cNvPr id="8" name="TextBox 7"/>
          <p:cNvSpPr txBox="1"/>
          <p:nvPr/>
        </p:nvSpPr>
        <p:spPr bwMode="gray">
          <a:xfrm>
            <a:off x="650240" y="2316480"/>
            <a:ext cx="7995920" cy="1005840"/>
          </a:xfrm>
          <a:prstGeom prst="rect">
            <a:avLst/>
          </a:prstGeom>
        </p:spPr>
        <p:txBody>
          <a:bodyPr vert="horz" wrap="square" lIns="91440" tIns="45720" rIns="91440" bIns="45720" rtlCol="0" anchor="ctr">
            <a:noAutofit/>
          </a:bodyPr>
          <a:lstStyle/>
          <a:p>
            <a:r>
              <a:rPr lang="en-IN" sz="2000" dirty="0"/>
              <a:t>Why is learning Unix Important ??</a:t>
            </a:r>
          </a:p>
        </p:txBody>
      </p:sp>
      <p:pic>
        <p:nvPicPr>
          <p:cNvPr id="1026" name="Picture 2" descr="http://www.therichdaily.com/wp-content/uploads/2015/06/Start_With_Wh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72479" y="2024504"/>
            <a:ext cx="3627121" cy="2396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1336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3" name="Content Placeholder 2"/>
          <p:cNvSpPr>
            <a:spLocks noGrp="1"/>
          </p:cNvSpPr>
          <p:nvPr>
            <p:ph idx="1"/>
          </p:nvPr>
        </p:nvSpPr>
        <p:spPr>
          <a:xfrm>
            <a:off x="1142119" y="1402996"/>
            <a:ext cx="8761412" cy="4327244"/>
          </a:xfrm>
        </p:spPr>
        <p:txBody>
          <a:bodyPr>
            <a:normAutofit/>
          </a:bodyPr>
          <a:lstStyle/>
          <a:p>
            <a:r>
              <a:rPr lang="en-IN" dirty="0"/>
              <a:t>Unix is </a:t>
            </a:r>
            <a:r>
              <a:rPr lang="en-IN" b="1" dirty="0"/>
              <a:t>secure</a:t>
            </a:r>
            <a:r>
              <a:rPr lang="en-IN" dirty="0"/>
              <a:t> and most tools are </a:t>
            </a:r>
            <a:r>
              <a:rPr lang="en-IN" b="1" dirty="0"/>
              <a:t>free</a:t>
            </a:r>
          </a:p>
          <a:p>
            <a:r>
              <a:rPr lang="en-IN" dirty="0"/>
              <a:t>Configuration is </a:t>
            </a:r>
            <a:r>
              <a:rPr lang="en-IN" b="1" dirty="0"/>
              <a:t>simple</a:t>
            </a:r>
            <a:r>
              <a:rPr lang="en-IN" dirty="0"/>
              <a:t>. Another of Unix's big philosophies is that configuration files should be easy to maintain. </a:t>
            </a:r>
          </a:p>
          <a:p>
            <a:r>
              <a:rPr lang="en-IN" dirty="0"/>
              <a:t>Unix systems are </a:t>
            </a:r>
            <a:r>
              <a:rPr lang="en-IN" b="1" dirty="0"/>
              <a:t>easy to automate</a:t>
            </a:r>
            <a:r>
              <a:rPr lang="en-IN" dirty="0"/>
              <a:t>, and </a:t>
            </a:r>
            <a:r>
              <a:rPr lang="en-IN" b="1" dirty="0"/>
              <a:t>easy to program for</a:t>
            </a:r>
            <a:r>
              <a:rPr lang="en-IN" dirty="0"/>
              <a:t>. </a:t>
            </a:r>
          </a:p>
          <a:p>
            <a:r>
              <a:rPr lang="en-IN" dirty="0"/>
              <a:t>Uptime is much better on a Unix system than a Windows one.</a:t>
            </a:r>
          </a:p>
          <a:p>
            <a:r>
              <a:rPr lang="en-IN" dirty="0"/>
              <a:t>Licensing is simple.</a:t>
            </a:r>
          </a:p>
          <a:p>
            <a:r>
              <a:rPr lang="en-IN" dirty="0"/>
              <a:t>Google says there are around 139,000 results for  an image search for "</a:t>
            </a:r>
            <a:r>
              <a:rPr lang="en-IN" dirty="0" err="1"/>
              <a:t>unix</a:t>
            </a:r>
            <a:r>
              <a:rPr lang="en-IN" dirty="0"/>
              <a:t> family tree" - so describing the history of UNIX is clearly something a LOT of people have put time into.</a:t>
            </a:r>
          </a:p>
          <a:p>
            <a:endParaRPr lang="en-IN" dirty="0"/>
          </a:p>
        </p:txBody>
      </p:sp>
    </p:spTree>
    <p:extLst>
      <p:ext uri="{BB962C8B-B14F-4D97-AF65-F5344CB8AC3E}">
        <p14:creationId xmlns:p14="http://schemas.microsoft.com/office/powerpoint/2010/main" val="38741408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is Everywhere!!!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 name="Picture 2" descr="https://cnet4.cbsistatic.com/hub/i/2011/10/27/a66dfbb7-fdc7-11e2-8c7c-d4ae52e62bcc/android-wallpaper5_2560x1600_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8959" y="4250556"/>
            <a:ext cx="1716405" cy="171368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images-na.ssl-images-amazon.com/images/G/01/software/detail-page/B001AMHWP8-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8080" y="3857637"/>
            <a:ext cx="2051050" cy="15376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twimgs.com/informationweek/galleries/automated/723/01_Hadoop_full.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05426" y="5107396"/>
            <a:ext cx="1316835" cy="9775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https://developer.xamarin.com/recipes/android/fundamentals/intent/launch_the_phone_dialer/Images/02-dialer-activity.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58293" y="1985103"/>
            <a:ext cx="997645" cy="168687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http://www.jvzoohost.com/img/jvZoo-images/solutions-serve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42625" y="1599895"/>
            <a:ext cx="1814580" cy="15398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https://ipsrsolutions.com/library/uploads/2015/07/cloud-computing.png"/>
          <p:cNvPicPr>
            <a:picLocks noChangeAspect="1" noChangeArrowheads="1"/>
          </p:cNvPicPr>
          <p:nvPr/>
        </p:nvPicPr>
        <p:blipFill rotWithShape="1">
          <a:blip r:embed="rId7">
            <a:extLst>
              <a:ext uri="{28A0092B-C50C-407E-A947-70E740481C1C}">
                <a14:useLocalDpi xmlns:a14="http://schemas.microsoft.com/office/drawing/2010/main" val="0"/>
              </a:ext>
            </a:extLst>
          </a:blip>
          <a:srcRect l="470" t="467" r="-470" b="18009"/>
          <a:stretch/>
        </p:blipFill>
        <p:spPr bwMode="auto">
          <a:xfrm>
            <a:off x="8962050" y="2463959"/>
            <a:ext cx="2159426" cy="177276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2" descr="http://www.thelogofactory.com/wp-content/uploads/2015/09/fixed-google-logo-font.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10075" y="4250556"/>
            <a:ext cx="1103949" cy="36798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6" descr="https://lh3.googleusercontent.com/-c9bKgaRfC3Q/AAAAAAAAAAI/AAAAAAAAJUE/Eo2MLCqyiZs/photo.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740547" y="4236720"/>
            <a:ext cx="602431" cy="60243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8" descr="https://www.facebook.com/images/fb_icon_325x325.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597073" y="4482916"/>
            <a:ext cx="287118" cy="28711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0" descr="http://www.socialflow.com/wp-content/uploads/2016/04/twitter1.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910251" y="4060215"/>
            <a:ext cx="400316" cy="40031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2" descr="http://www.nasa.gov/sites/default/files/images/nasaLogo-570x450.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94697" y="3562182"/>
            <a:ext cx="1348105" cy="106429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6" descr="http://www.7men.nl/wp-content/uploads/2015/12/IBM-banner.jp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810637" y="3932771"/>
            <a:ext cx="1116787" cy="44690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8" descr="http://worldartsme.com/images/bullet-train-clipart-1.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679797" y="1508267"/>
            <a:ext cx="1687556" cy="91113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2" descr="http://www.myrateplan.com/sites/myrateplan.com/files/styles/phone_photo_medium/public/shutterstock_62462044-%5BConverted%5D.png?itok=PfHaIEEh"/>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887622" y="5062705"/>
            <a:ext cx="1124585" cy="90746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8" descr="http://www.redorbit.com/media/uploads/2013/09/robotics.jp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32883" y="2328858"/>
            <a:ext cx="1827438" cy="1233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5917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pSp>
        <p:nvGrpSpPr>
          <p:cNvPr id="3" name="Group 2"/>
          <p:cNvGrpSpPr/>
          <p:nvPr/>
        </p:nvGrpSpPr>
        <p:grpSpPr>
          <a:xfrm>
            <a:off x="897255" y="1508267"/>
            <a:ext cx="9171305" cy="1743428"/>
            <a:chOff x="897255" y="1508267"/>
            <a:chExt cx="9171305" cy="1743428"/>
          </a:xfrm>
        </p:grpSpPr>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7447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In What Language Unix was written? </a:t>
              </a:r>
            </a:p>
          </p:txBody>
        </p:sp>
      </p:grpSp>
      <p:grpSp>
        <p:nvGrpSpPr>
          <p:cNvPr id="7" name="Group 6"/>
          <p:cNvGrpSpPr/>
          <p:nvPr/>
        </p:nvGrpSpPr>
        <p:grpSpPr>
          <a:xfrm>
            <a:off x="897255" y="4038731"/>
            <a:ext cx="10386863" cy="1483360"/>
            <a:chOff x="897255" y="4038731"/>
            <a:chExt cx="10386863" cy="1483360"/>
          </a:xfrm>
        </p:grpSpPr>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576998"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Written in B first by K. Thomson, then rewritten in C by Dennis Ritchie.</a:t>
              </a:r>
            </a:p>
            <a:p>
              <a:r>
                <a:rPr lang="en-IN" sz="2800" dirty="0">
                  <a:latin typeface="Berlin Sans FB Demi" panose="020E0802020502020306" pitchFamily="34" charset="0"/>
                </a:rPr>
                <a:t>  </a:t>
              </a:r>
            </a:p>
          </p:txBody>
        </p:sp>
      </p:grpSp>
    </p:spTree>
    <p:extLst>
      <p:ext uri="{BB962C8B-B14F-4D97-AF65-F5344CB8AC3E}">
        <p14:creationId xmlns:p14="http://schemas.microsoft.com/office/powerpoint/2010/main" val="278841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Facts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729364"/>
          </a:xfrm>
          <a:prstGeom prst="rect">
            <a:avLst/>
          </a:prstGeom>
        </p:spPr>
        <p:txBody>
          <a:bodyPr vert="horz" wrap="square" lIns="91440" tIns="45720" rIns="91440" bIns="45720" rtlCol="0" anchor="ctr">
            <a:noAutofit/>
          </a:bodyPr>
          <a:lstStyle/>
          <a:p>
            <a:r>
              <a:rPr lang="en-IN" sz="2800" dirty="0"/>
              <a:t>For those who think </a:t>
            </a:r>
            <a:r>
              <a:rPr lang="en-IN" sz="2800" b="1" dirty="0" smtClean="0"/>
              <a:t>Unix</a:t>
            </a:r>
            <a:r>
              <a:rPr lang="en-IN" sz="2800" dirty="0" smtClean="0"/>
              <a:t> </a:t>
            </a:r>
            <a:r>
              <a:rPr lang="en-IN" sz="2800" dirty="0"/>
              <a:t>can’t do </a:t>
            </a:r>
            <a:r>
              <a:rPr lang="en-IN" sz="2800" b="1" dirty="0"/>
              <a:t>Animation</a:t>
            </a:r>
            <a:r>
              <a:rPr lang="en-IN" sz="2800" dirty="0"/>
              <a:t> – </a:t>
            </a:r>
            <a:r>
              <a:rPr lang="en-IN" sz="2800" b="1" dirty="0"/>
              <a:t>Oscar</a:t>
            </a:r>
            <a:r>
              <a:rPr lang="en-IN" sz="2800" dirty="0"/>
              <a:t>-winning visual effects of the </a:t>
            </a:r>
            <a:r>
              <a:rPr lang="en-IN" sz="2800" b="1" dirty="0"/>
              <a:t>Titanic</a:t>
            </a:r>
            <a:r>
              <a:rPr lang="en-IN" sz="2800" dirty="0"/>
              <a:t> by </a:t>
            </a:r>
            <a:r>
              <a:rPr lang="en-IN" sz="2800" b="1" dirty="0"/>
              <a:t>James Cameron</a:t>
            </a:r>
            <a:r>
              <a:rPr lang="en-IN" sz="2800" dirty="0"/>
              <a:t> came from machines with </a:t>
            </a:r>
            <a:r>
              <a:rPr lang="en-IN" sz="2800" b="1" dirty="0"/>
              <a:t>Linux</a:t>
            </a:r>
            <a:r>
              <a:rPr lang="en-IN" sz="2800" dirty="0"/>
              <a:t> and </a:t>
            </a:r>
            <a:r>
              <a:rPr lang="en-IN" sz="2800" b="1" dirty="0"/>
              <a:t>Avatar</a:t>
            </a:r>
            <a:r>
              <a:rPr lang="en-IN" sz="2800" dirty="0"/>
              <a:t> was the last movie completely developed in </a:t>
            </a:r>
            <a:r>
              <a:rPr lang="en-IN" sz="2800" b="1" dirty="0"/>
              <a:t>3D Applications</a:t>
            </a:r>
            <a:r>
              <a:rPr lang="en-IN" sz="2800" dirty="0"/>
              <a:t> on </a:t>
            </a:r>
            <a:r>
              <a:rPr lang="en-IN" sz="2800" b="1" dirty="0"/>
              <a:t>Linux</a:t>
            </a:r>
            <a:r>
              <a:rPr lang="en-IN" sz="2800" dirty="0"/>
              <a:t> platform using </a:t>
            </a:r>
            <a:r>
              <a:rPr lang="en-IN" sz="2800" b="1" dirty="0"/>
              <a:t>Foss Software</a:t>
            </a:r>
            <a:r>
              <a:rPr lang="en-IN" sz="2800" dirty="0"/>
              <a:t>. Exclaimed!</a:t>
            </a:r>
            <a:r>
              <a:rPr lang="en-IN" sz="2800" dirty="0">
                <a:latin typeface="Berlin Sans FB Demi" panose="020E0802020502020306" pitchFamily="34" charset="0"/>
              </a:rPr>
              <a:t>  </a:t>
            </a: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http://images.allposters.com/images/59/003_titanicri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8232" y="3625516"/>
            <a:ext cx="1860071" cy="2688945"/>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204" name="Picture 12" descr="https://www.overthinkingit.com/wp-content/uploads/2010/01/Avatar-Suck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01" y="4164288"/>
            <a:ext cx="4570346" cy="2572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6901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11</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Intro to Unix</a:t>
            </a:r>
          </a:p>
        </p:txBody>
      </p:sp>
    </p:spTree>
    <p:extLst>
      <p:ext uri="{BB962C8B-B14F-4D97-AF65-F5344CB8AC3E}">
        <p14:creationId xmlns:p14="http://schemas.microsoft.com/office/powerpoint/2010/main" val="25661807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History of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 name="Picture 2" descr="http://www.federaljack.com/ebooks/Computers%20-%20Informatin%20Technology/40%20Computer%20Know%20All%20Books%5D/Upgrading%20and%20Repairing%20Networks%20-%20QUE/ch10/10fig01.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97744" y="1744933"/>
            <a:ext cx="3143794" cy="4433027"/>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5"/>
          <p:cNvSpPr txBox="1">
            <a:spLocks/>
          </p:cNvSpPr>
          <p:nvPr/>
        </p:nvSpPr>
        <p:spPr>
          <a:xfrm>
            <a:off x="528358" y="1618036"/>
            <a:ext cx="7823164"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dirty="0"/>
              <a:t>Written by Ken Thompson and Dennis Ritchie</a:t>
            </a:r>
          </a:p>
          <a:p>
            <a:r>
              <a:rPr lang="en-IN" dirty="0"/>
              <a:t>Developed at Bell Laboratories, USA derived from Multics(1969)</a:t>
            </a:r>
          </a:p>
          <a:p>
            <a:r>
              <a:rPr lang="en-IN" dirty="0"/>
              <a:t>Firstly developed in ‘B’ then rewritten in ‘C’</a:t>
            </a:r>
          </a:p>
          <a:p>
            <a:r>
              <a:rPr lang="en-IN" dirty="0"/>
              <a:t>Two Flavours</a:t>
            </a:r>
          </a:p>
          <a:p>
            <a:pPr lvl="1"/>
            <a:r>
              <a:rPr lang="en-IN" dirty="0"/>
              <a:t>System V ( Commercial run by AT&amp;T)</a:t>
            </a:r>
          </a:p>
          <a:p>
            <a:pPr lvl="1"/>
            <a:r>
              <a:rPr lang="en-IN" dirty="0"/>
              <a:t>BSD (Educational, run by Bell Labs)</a:t>
            </a:r>
            <a:endParaRPr lang="en-US" dirty="0"/>
          </a:p>
          <a:p>
            <a:r>
              <a:rPr lang="en-US" dirty="0"/>
              <a:t>Recent Development are graphical interface</a:t>
            </a:r>
          </a:p>
          <a:p>
            <a:pPr lvl="1"/>
            <a:r>
              <a:rPr lang="en-US" dirty="0"/>
              <a:t>Motif, X windows, open view </a:t>
            </a:r>
          </a:p>
          <a:p>
            <a:r>
              <a:rPr lang="en-US" dirty="0"/>
              <a:t>Major Suppliers</a:t>
            </a:r>
          </a:p>
          <a:p>
            <a:pPr lvl="1"/>
            <a:r>
              <a:rPr lang="en-US" dirty="0"/>
              <a:t>Sun, IBM, HP, DEC</a:t>
            </a:r>
          </a:p>
          <a:p>
            <a:r>
              <a:rPr lang="en-US" dirty="0"/>
              <a:t>Free and open source Unix System is </a:t>
            </a:r>
            <a:r>
              <a:rPr lang="en-US" dirty="0" smtClean="0"/>
              <a:t>called </a:t>
            </a:r>
            <a:r>
              <a:rPr lang="en-US" dirty="0"/>
              <a:t>Linux</a:t>
            </a:r>
          </a:p>
          <a:p>
            <a:pPr lvl="1"/>
            <a:r>
              <a:rPr lang="en-US" dirty="0"/>
              <a:t>Ubuntu, </a:t>
            </a:r>
            <a:r>
              <a:rPr lang="en-US" dirty="0" err="1"/>
              <a:t>Debian</a:t>
            </a:r>
            <a:r>
              <a:rPr lang="en-US" dirty="0"/>
              <a:t>, CentOS, Fedora, Red hat, </a:t>
            </a:r>
          </a:p>
        </p:txBody>
      </p:sp>
    </p:spTree>
    <p:extLst>
      <p:ext uri="{BB962C8B-B14F-4D97-AF65-F5344CB8AC3E}">
        <p14:creationId xmlns:p14="http://schemas.microsoft.com/office/powerpoint/2010/main" val="26573469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Flavours of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8" name="Content Placeholder 5"/>
          <p:cNvSpPr txBox="1">
            <a:spLocks/>
          </p:cNvSpPr>
          <p:nvPr/>
        </p:nvSpPr>
        <p:spPr>
          <a:xfrm>
            <a:off x="528357" y="1618036"/>
            <a:ext cx="11113179"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b="1" dirty="0"/>
              <a:t>Proprietary Flavours</a:t>
            </a:r>
          </a:p>
          <a:p>
            <a:pPr marL="0" indent="0">
              <a:buNone/>
            </a:pPr>
            <a:endParaRPr lang="en-IN" dirty="0"/>
          </a:p>
          <a:p>
            <a:pPr lvl="1"/>
            <a:r>
              <a:rPr lang="en-IN" dirty="0"/>
              <a:t>AIX - developed by IBM for use on its mainframe computers </a:t>
            </a:r>
          </a:p>
          <a:p>
            <a:pPr lvl="1"/>
            <a:r>
              <a:rPr lang="en-IN" dirty="0"/>
              <a:t>BSD/OS - a commercial version of BSD developed by Wind River for Intel processors </a:t>
            </a:r>
          </a:p>
          <a:p>
            <a:pPr lvl="1"/>
            <a:r>
              <a:rPr lang="en-IN" dirty="0"/>
              <a:t>HP-UX - developed by Hewlett-Packard for its HP 9000 series of business servers </a:t>
            </a:r>
          </a:p>
          <a:p>
            <a:pPr lvl="1"/>
            <a:r>
              <a:rPr lang="en-IN" dirty="0"/>
              <a:t>IRIX - developed by SGI for applications that use 3-D visualization and virtual reality </a:t>
            </a:r>
          </a:p>
          <a:p>
            <a:pPr lvl="1"/>
            <a:r>
              <a:rPr lang="en-IN" dirty="0"/>
              <a:t>QNX - a real time operating system developed by QNX Software Systems primarily for use in embedded systems </a:t>
            </a:r>
          </a:p>
          <a:p>
            <a:pPr lvl="1"/>
            <a:r>
              <a:rPr lang="en-IN" dirty="0"/>
              <a:t>Solaris - developed by Sun Microsystems for the SPARC platform and the most widely used proprietary </a:t>
            </a:r>
            <a:r>
              <a:rPr lang="en-IN" dirty="0" err="1"/>
              <a:t>flavor</a:t>
            </a:r>
            <a:r>
              <a:rPr lang="en-IN" dirty="0"/>
              <a:t> for web servers </a:t>
            </a:r>
          </a:p>
          <a:p>
            <a:pPr lvl="1"/>
            <a:r>
              <a:rPr lang="en-IN" dirty="0"/>
              <a:t>Tru64 - developed by Compaq for the Alpha processor </a:t>
            </a:r>
          </a:p>
          <a:p>
            <a:pPr lvl="1"/>
            <a:endParaRPr lang="en-US" dirty="0"/>
          </a:p>
        </p:txBody>
      </p:sp>
    </p:spTree>
    <p:extLst>
      <p:ext uri="{BB962C8B-B14F-4D97-AF65-F5344CB8AC3E}">
        <p14:creationId xmlns:p14="http://schemas.microsoft.com/office/powerpoint/2010/main" val="39350389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Flavours of Unix </a:t>
            </a:r>
            <a:r>
              <a:rPr lang="en-IN" dirty="0" err="1"/>
              <a:t>contd</a:t>
            </a:r>
            <a:r>
              <a:rPr lang="en-IN" dirty="0"/>
              <a:t>…</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8" name="Content Placeholder 5"/>
          <p:cNvSpPr txBox="1">
            <a:spLocks/>
          </p:cNvSpPr>
          <p:nvPr/>
        </p:nvSpPr>
        <p:spPr>
          <a:xfrm>
            <a:off x="528357" y="1618036"/>
            <a:ext cx="11113179"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b="1" dirty="0"/>
              <a:t>Open Source Flavours</a:t>
            </a:r>
          </a:p>
          <a:p>
            <a:pPr marL="0" indent="0">
              <a:buNone/>
            </a:pPr>
            <a:endParaRPr lang="en-IN" dirty="0"/>
          </a:p>
          <a:p>
            <a:pPr lvl="1"/>
            <a:r>
              <a:rPr lang="en-IN" dirty="0">
                <a:hlinkClick r:id="rId2"/>
              </a:rPr>
              <a:t>Linux</a:t>
            </a:r>
            <a:r>
              <a:rPr lang="en-IN" dirty="0"/>
              <a:t> - the most popular and fastest growing of all the Unix-like operating systems </a:t>
            </a:r>
          </a:p>
          <a:p>
            <a:pPr lvl="1"/>
            <a:r>
              <a:rPr lang="en-IN" dirty="0"/>
              <a:t>FreeBSD - the most popular of the BSD systems (all of which are direct descendants of BSD UNIX, which was developed at the University of California at Berkeley) </a:t>
            </a:r>
          </a:p>
          <a:p>
            <a:pPr lvl="1"/>
            <a:r>
              <a:rPr lang="en-IN" dirty="0" err="1"/>
              <a:t>NetBSD</a:t>
            </a:r>
            <a:r>
              <a:rPr lang="en-IN" dirty="0"/>
              <a:t> - features the ability to run on more than 50 platforms, ranging from acorn26 to x68k </a:t>
            </a:r>
          </a:p>
          <a:p>
            <a:pPr lvl="1"/>
            <a:r>
              <a:rPr lang="en-IN" dirty="0" err="1"/>
              <a:t>OpenBSD</a:t>
            </a:r>
            <a:r>
              <a:rPr lang="en-IN" dirty="0"/>
              <a:t> - may have already attained its goal of becoming the most secure of all computer operating systems </a:t>
            </a:r>
          </a:p>
          <a:p>
            <a:pPr lvl="1"/>
            <a:r>
              <a:rPr lang="en-IN" dirty="0"/>
              <a:t>Darwin - the new version of BSD that serves as the core for the Mac OS X </a:t>
            </a:r>
          </a:p>
          <a:p>
            <a:pPr lvl="1"/>
            <a:endParaRPr lang="en-US" dirty="0"/>
          </a:p>
        </p:txBody>
      </p:sp>
    </p:spTree>
    <p:extLst>
      <p:ext uri="{BB962C8B-B14F-4D97-AF65-F5344CB8AC3E}">
        <p14:creationId xmlns:p14="http://schemas.microsoft.com/office/powerpoint/2010/main" val="26087393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8209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Linux is named after whom?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Linux Kernel</a:t>
            </a:r>
            <a:r>
              <a:rPr lang="en-IN" sz="2800" dirty="0">
                <a:latin typeface="Andalus" panose="02020603050405020304" pitchFamily="18" charset="-78"/>
                <a:cs typeface="Andalus" panose="02020603050405020304" pitchFamily="18" charset="-78"/>
              </a:rPr>
              <a:t> was written by a </a:t>
            </a:r>
            <a:r>
              <a:rPr lang="en-IN" sz="2800" b="1" dirty="0">
                <a:latin typeface="Andalus" panose="02020603050405020304" pitchFamily="18" charset="-78"/>
                <a:cs typeface="Andalus" panose="02020603050405020304" pitchFamily="18" charset="-78"/>
              </a:rPr>
              <a:t>21</a:t>
            </a:r>
            <a:r>
              <a:rPr lang="en-IN" sz="2800" dirty="0">
                <a:latin typeface="Andalus" panose="02020603050405020304" pitchFamily="18" charset="-78"/>
                <a:cs typeface="Andalus" panose="02020603050405020304" pitchFamily="18" charset="-78"/>
              </a:rPr>
              <a:t> year </a:t>
            </a:r>
            <a:r>
              <a:rPr lang="en-IN" sz="2800" dirty="0" smtClean="0">
                <a:latin typeface="Andalus" panose="02020603050405020304" pitchFamily="18" charset="-78"/>
                <a:cs typeface="Andalus" panose="02020603050405020304" pitchFamily="18" charset="-78"/>
              </a:rPr>
              <a:t>finishing </a:t>
            </a:r>
            <a:r>
              <a:rPr lang="en-IN" sz="2800" dirty="0">
                <a:latin typeface="Andalus" panose="02020603050405020304" pitchFamily="18" charset="-78"/>
                <a:cs typeface="Andalus" panose="02020603050405020304" pitchFamily="18" charset="-78"/>
              </a:rPr>
              <a:t>college student as a part of his hobby. Yup! His name is </a:t>
            </a:r>
            <a:r>
              <a:rPr lang="en-IN" sz="2800" b="1" dirty="0">
                <a:latin typeface="Andalus" panose="02020603050405020304" pitchFamily="18" charset="-78"/>
                <a:cs typeface="Andalus" panose="02020603050405020304" pitchFamily="18" charset="-78"/>
              </a:rPr>
              <a:t>Linus Torvalds</a:t>
            </a:r>
            <a:r>
              <a:rPr lang="en-IN" sz="2800" dirty="0">
                <a:latin typeface="Andalus" panose="02020603050405020304" pitchFamily="18" charset="-78"/>
                <a:cs typeface="Andalus" panose="02020603050405020304" pitchFamily="18" charset="-78"/>
              </a:rPr>
              <a:t>.</a:t>
            </a:r>
          </a:p>
        </p:txBody>
      </p:sp>
    </p:spTree>
    <p:extLst>
      <p:ext uri="{BB962C8B-B14F-4D97-AF65-F5344CB8AC3E}">
        <p14:creationId xmlns:p14="http://schemas.microsoft.com/office/powerpoint/2010/main" val="167063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a:t>
            </a:r>
            <a:r>
              <a:rPr lang="en-IN" dirty="0"/>
              <a:t>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16</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r>
              <a:rPr lang="en-IN" sz="2800" b="1" dirty="0"/>
              <a:t>90%</a:t>
            </a:r>
            <a:r>
              <a:rPr lang="en-IN" sz="2800" dirty="0"/>
              <a:t> of the world’s most powerful supercomputers are using </a:t>
            </a:r>
            <a:r>
              <a:rPr lang="en-IN" sz="2800" b="1" dirty="0"/>
              <a:t>GNU/Linux</a:t>
            </a:r>
            <a:r>
              <a:rPr lang="en-IN" sz="2800" dirty="0"/>
              <a:t>. Top ten of supercomputers use </a:t>
            </a:r>
            <a:r>
              <a:rPr lang="en-IN" sz="2800" b="1" dirty="0"/>
              <a:t>Linux</a:t>
            </a:r>
            <a:r>
              <a:rPr lang="en-IN" sz="2800" dirty="0"/>
              <a:t>. </a:t>
            </a:r>
            <a:r>
              <a:rPr lang="en-IN" sz="2800" b="1" dirty="0"/>
              <a:t>33.8%</a:t>
            </a:r>
            <a:r>
              <a:rPr lang="en-IN" sz="2800" dirty="0"/>
              <a:t> of the world runs on </a:t>
            </a:r>
            <a:r>
              <a:rPr lang="en-IN" sz="2800" b="1" dirty="0"/>
              <a:t>Linux</a:t>
            </a:r>
            <a:r>
              <a:rPr lang="en-IN" sz="2800" dirty="0"/>
              <a:t> servers compared to </a:t>
            </a:r>
            <a:r>
              <a:rPr lang="en-IN" sz="2800" b="1" dirty="0"/>
              <a:t>7.3%</a:t>
            </a:r>
            <a:r>
              <a:rPr lang="en-IN" sz="2800" dirty="0"/>
              <a:t> running </a:t>
            </a:r>
            <a:r>
              <a:rPr lang="en-IN" sz="2800" b="1" dirty="0"/>
              <a:t>Microsoft Windows</a:t>
            </a:r>
            <a:r>
              <a:rPr lang="en-IN" sz="2800" dirty="0"/>
              <a:t> operating system.</a:t>
            </a:r>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9458" name="Picture 2" descr="http://www.cray.com/sites/default/files/images/marquee_images/products_xc_40_photo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8240" y="3439622"/>
            <a:ext cx="6761040" cy="3156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8774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System Architecture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1067869" y="1799448"/>
            <a:ext cx="6785811" cy="3697112"/>
          </a:xfrm>
        </p:spPr>
        <p:txBody>
          <a:bodyPr>
            <a:normAutofit/>
          </a:bodyPr>
          <a:lstStyle/>
          <a:p>
            <a:r>
              <a:rPr lang="en-US" dirty="0"/>
              <a:t>The hardware at the center of the diagram provides the operating system with basic services.</a:t>
            </a:r>
          </a:p>
          <a:p>
            <a:r>
              <a:rPr lang="en-US" dirty="0"/>
              <a:t>Basic Unix Components:</a:t>
            </a:r>
          </a:p>
          <a:p>
            <a:pPr lvl="1"/>
            <a:r>
              <a:rPr lang="en-US" b="1" dirty="0"/>
              <a:t>Kernel</a:t>
            </a:r>
            <a:r>
              <a:rPr lang="en-US" dirty="0"/>
              <a:t> – directly talks</a:t>
            </a:r>
          </a:p>
          <a:p>
            <a:pPr lvl="1"/>
            <a:r>
              <a:rPr lang="en-US" b="1" dirty="0"/>
              <a:t>Shell </a:t>
            </a:r>
            <a:r>
              <a:rPr lang="en-US" dirty="0"/>
              <a:t>- acts as a bridge between kernel and users</a:t>
            </a:r>
          </a:p>
          <a:p>
            <a:pPr lvl="1"/>
            <a:r>
              <a:rPr lang="en-IN" b="1" dirty="0"/>
              <a:t>Utilities</a:t>
            </a:r>
            <a:r>
              <a:rPr lang="en-IN" dirty="0"/>
              <a:t> - UNIX provides several hundred utility programs, often referred to as commands.</a:t>
            </a:r>
            <a:endParaRPr lang="en-US" dirty="0"/>
          </a:p>
          <a:p>
            <a:r>
              <a:rPr lang="en-US" dirty="0"/>
              <a:t>The user programs are independent of the underlying hardware</a:t>
            </a:r>
          </a:p>
        </p:txBody>
      </p:sp>
      <p:pic>
        <p:nvPicPr>
          <p:cNvPr id="10" name="Picture 2" descr="http://designshopbb.com/Scripts/unix-architecture-layers-i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0418" y="2188987"/>
            <a:ext cx="4711582" cy="3307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8628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7447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What are biggest Linux distributors?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Linux Mint followed by </a:t>
            </a:r>
            <a:r>
              <a:rPr lang="en-IN" sz="2800" b="1" dirty="0" err="1">
                <a:latin typeface="Andalus" panose="02020603050405020304" pitchFamily="18" charset="-78"/>
                <a:cs typeface="Andalus" panose="02020603050405020304" pitchFamily="18" charset="-78"/>
              </a:rPr>
              <a:t>Debian</a:t>
            </a:r>
            <a:r>
              <a:rPr lang="en-IN" sz="2800" b="1" dirty="0">
                <a:latin typeface="Andalus" panose="02020603050405020304" pitchFamily="18" charset="-78"/>
                <a:cs typeface="Andalus" panose="02020603050405020304" pitchFamily="18" charset="-78"/>
              </a:rPr>
              <a:t> and Ubuntu</a:t>
            </a:r>
          </a:p>
          <a:p>
            <a:r>
              <a:rPr lang="en-IN" sz="2800" dirty="0">
                <a:latin typeface="Berlin Sans FB Demi" panose="020E0802020502020306" pitchFamily="34" charset="0"/>
              </a:rPr>
              <a:t>  </a:t>
            </a:r>
          </a:p>
        </p:txBody>
      </p:sp>
    </p:spTree>
    <p:extLst>
      <p:ext uri="{BB962C8B-B14F-4D97-AF65-F5344CB8AC3E}">
        <p14:creationId xmlns:p14="http://schemas.microsoft.com/office/powerpoint/2010/main" val="2608405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a:t>
            </a:r>
            <a:r>
              <a:rPr lang="en-IN" dirty="0"/>
              <a:t>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r>
              <a:rPr lang="en-IN" sz="2800" dirty="0"/>
              <a:t>Believe it or not – In </a:t>
            </a:r>
            <a:r>
              <a:rPr lang="en-IN" sz="2800" b="1" dirty="0"/>
              <a:t>2002</a:t>
            </a:r>
            <a:r>
              <a:rPr lang="en-IN" sz="2800" dirty="0"/>
              <a:t>, </a:t>
            </a:r>
            <a:r>
              <a:rPr lang="en-IN" sz="2800" b="1" dirty="0"/>
              <a:t>Microsoft</a:t>
            </a:r>
            <a:r>
              <a:rPr lang="en-IN" sz="2800" dirty="0"/>
              <a:t> had accumulated a </a:t>
            </a:r>
            <a:r>
              <a:rPr lang="en-IN" sz="2800" b="1" dirty="0"/>
              <a:t>$ 421</a:t>
            </a:r>
            <a:r>
              <a:rPr lang="en-IN" sz="2800" dirty="0"/>
              <a:t> million cost of fighting the spread of </a:t>
            </a:r>
            <a:r>
              <a:rPr lang="en-IN" sz="2800" b="1" dirty="0"/>
              <a:t>Linux</a:t>
            </a:r>
            <a:r>
              <a:rPr lang="en-IN" sz="2800" dirty="0"/>
              <a:t>, according to </a:t>
            </a:r>
            <a:r>
              <a:rPr lang="en-IN" sz="2800" b="1" dirty="0"/>
              <a:t>The Register</a:t>
            </a:r>
            <a:r>
              <a:rPr lang="en-IN" sz="2800" dirty="0"/>
              <a:t>.</a:t>
            </a:r>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482" name="Picture 2" descr="(Image: Openclips via Pixab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0358" y="3486966"/>
            <a:ext cx="3981179" cy="2686685"/>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http://realcomputers.net/wp-content/uploads/2015/02/Microsoft_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4528" y="3964515"/>
            <a:ext cx="3325285" cy="1866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9214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Kernel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1067869" y="1799448"/>
            <a:ext cx="6038325" cy="3416300"/>
          </a:xfrm>
        </p:spPr>
        <p:txBody>
          <a:bodyPr/>
          <a:lstStyle/>
          <a:p>
            <a:r>
              <a:rPr lang="en-IN" dirty="0"/>
              <a:t>The </a:t>
            </a:r>
            <a:r>
              <a:rPr lang="en-IN" b="1" dirty="0"/>
              <a:t>kernel</a:t>
            </a:r>
            <a:r>
              <a:rPr lang="en-IN" dirty="0"/>
              <a:t> is a </a:t>
            </a:r>
            <a:r>
              <a:rPr lang="en-IN" dirty="0">
                <a:hlinkClick r:id="rId3" tooltip="Computer program"/>
              </a:rPr>
              <a:t>computer program</a:t>
            </a:r>
            <a:r>
              <a:rPr lang="en-IN" dirty="0"/>
              <a:t> that constitutes the central core of a computer's operating system. It has complete control over everything that occurs in the system.</a:t>
            </a:r>
          </a:p>
          <a:p>
            <a:r>
              <a:rPr lang="en-IN" dirty="0"/>
              <a:t> It is the first program loaded on start-up, and then manages the remainder of the start-up</a:t>
            </a:r>
            <a:endParaRPr lang="en-US" dirty="0"/>
          </a:p>
        </p:txBody>
      </p:sp>
      <p:pic>
        <p:nvPicPr>
          <p:cNvPr id="1028" name="Picture 4" descr="https://blog.digilentinc.com/wp-content/uploads/2015/05/1280px-Kernel_Layout.svg_.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20151" y="1993833"/>
            <a:ext cx="1967388" cy="1555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3928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Shell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792481" y="1593669"/>
            <a:ext cx="6453050" cy="4450079"/>
          </a:xfrm>
        </p:spPr>
        <p:txBody>
          <a:bodyPr/>
          <a:lstStyle/>
          <a:p>
            <a:r>
              <a:rPr lang="en-IN" dirty="0"/>
              <a:t>The </a:t>
            </a:r>
            <a:r>
              <a:rPr lang="en-IN" b="1" dirty="0"/>
              <a:t>shell</a:t>
            </a:r>
            <a:r>
              <a:rPr lang="en-IN" dirty="0"/>
              <a:t> is a program that takes your commands from the keyboard and gives them to the operating system to perform.</a:t>
            </a:r>
          </a:p>
          <a:p>
            <a:r>
              <a:rPr lang="en-IN" b="1" dirty="0"/>
              <a:t>Shell</a:t>
            </a:r>
            <a:r>
              <a:rPr lang="en-IN" dirty="0"/>
              <a:t> is a </a:t>
            </a:r>
            <a:r>
              <a:rPr lang="en-IN" b="1" dirty="0"/>
              <a:t>UNIX</a:t>
            </a:r>
            <a:r>
              <a:rPr lang="en-IN" dirty="0"/>
              <a:t> term for the interactive user interface with an operating system also known as command line interface(CLI) </a:t>
            </a:r>
          </a:p>
          <a:p>
            <a:r>
              <a:rPr lang="en-IN" dirty="0"/>
              <a:t>The following is a list of commonly used shell programs:</a:t>
            </a:r>
          </a:p>
          <a:p>
            <a:pPr lvl="1"/>
            <a:r>
              <a:rPr lang="en-IN" dirty="0"/>
              <a:t>The Bourne Shell (</a:t>
            </a:r>
            <a:r>
              <a:rPr lang="en-IN" dirty="0" err="1"/>
              <a:t>sh</a:t>
            </a:r>
            <a:r>
              <a:rPr lang="en-IN" dirty="0"/>
              <a:t>)</a:t>
            </a:r>
          </a:p>
          <a:p>
            <a:pPr lvl="1"/>
            <a:r>
              <a:rPr lang="en-IN" dirty="0"/>
              <a:t>The C Shell (</a:t>
            </a:r>
            <a:r>
              <a:rPr lang="en-IN" dirty="0" err="1"/>
              <a:t>csh</a:t>
            </a:r>
            <a:r>
              <a:rPr lang="en-IN" dirty="0"/>
              <a:t>)</a:t>
            </a:r>
          </a:p>
          <a:p>
            <a:pPr lvl="1"/>
            <a:r>
              <a:rPr lang="en-IN" dirty="0"/>
              <a:t>The Bourne Again Shell (bash)</a:t>
            </a:r>
          </a:p>
          <a:p>
            <a:pPr lvl="1"/>
            <a:r>
              <a:rPr lang="en-IN" dirty="0"/>
              <a:t>The </a:t>
            </a:r>
            <a:r>
              <a:rPr lang="en-IN" dirty="0" err="1"/>
              <a:t>Korn</a:t>
            </a:r>
            <a:r>
              <a:rPr lang="en-IN" dirty="0"/>
              <a:t> Shell (</a:t>
            </a:r>
            <a:r>
              <a:rPr lang="en-IN" dirty="0" err="1"/>
              <a:t>ksh</a:t>
            </a:r>
            <a:r>
              <a:rPr lang="en-IN" dirty="0"/>
              <a:t>)</a:t>
            </a:r>
            <a:endParaRPr lang="en-US" dirty="0"/>
          </a:p>
        </p:txBody>
      </p:sp>
      <p:pic>
        <p:nvPicPr>
          <p:cNvPr id="2052" name="Picture 4" descr="http://www.computerandyou.net/wp-content/uploads/2012/01/Terminal-icon-shell-linux-uni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5107" y="1310049"/>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8979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File System</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r>
              <a:rPr lang="en-IN" dirty="0"/>
              <a:t>Everything in UNIX is either a file or a process. </a:t>
            </a:r>
          </a:p>
          <a:p>
            <a:pPr lvl="1"/>
            <a:r>
              <a:rPr lang="en-IN" dirty="0"/>
              <a:t>A process is an executing program identified by a unique PID</a:t>
            </a:r>
          </a:p>
          <a:p>
            <a:pPr lvl="1"/>
            <a:r>
              <a:rPr lang="en-IN" dirty="0"/>
              <a:t>A file is a collection of data. They are created by users using text editors, running compilers etc. (Directory is also a file)</a:t>
            </a:r>
          </a:p>
          <a:p>
            <a:r>
              <a:rPr lang="en-IN" dirty="0"/>
              <a:t>All the files are grouped together in the directory </a:t>
            </a:r>
            <a:r>
              <a:rPr lang="en-US" dirty="0"/>
              <a:t>Structure</a:t>
            </a:r>
          </a:p>
          <a:p>
            <a:r>
              <a:rPr lang="en-IN" dirty="0"/>
              <a:t>The top of the hierarchy is traditionally </a:t>
            </a:r>
            <a:r>
              <a:rPr lang="en-IN"/>
              <a:t>called </a:t>
            </a:r>
            <a:r>
              <a:rPr lang="en-IN" b="1"/>
              <a:t>root.</a:t>
            </a:r>
          </a:p>
          <a:p>
            <a:endParaRPr lang="en-US" dirty="0"/>
          </a:p>
          <a:p>
            <a:pPr marL="0" indent="0">
              <a:buNone/>
            </a:pPr>
            <a:endParaRPr lang="en-IN" dirty="0"/>
          </a:p>
        </p:txBody>
      </p:sp>
      <p:pic>
        <p:nvPicPr>
          <p:cNvPr id="3074" name="Picture 2" descr="http://www.ee.surrey.ac.uk/Teaching/Unix/media/unix-tre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4849" y="3559809"/>
            <a:ext cx="5334000" cy="300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394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a:t>
            </a:r>
            <a:r>
              <a:rPr lang="en-IN" dirty="0"/>
              <a:t>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629984" y="1263725"/>
            <a:ext cx="10698416" cy="2052042"/>
          </a:xfrm>
          <a:prstGeom prst="rect">
            <a:avLst/>
          </a:prstGeom>
          <a:noFill/>
        </p:spPr>
        <p:txBody>
          <a:bodyPr vert="horz" wrap="square" lIns="91440" tIns="45720" rIns="91440" bIns="45720" rtlCol="0" anchor="ctr">
            <a:noAutofit/>
          </a:bodyPr>
          <a:lstStyle/>
          <a:p>
            <a:r>
              <a:rPr lang="en-IN" sz="2800" b="1" dirty="0"/>
              <a:t>Microsoft started supporting </a:t>
            </a:r>
            <a:r>
              <a:rPr lang="en-IN" sz="2800" b="1" dirty="0" smtClean="0"/>
              <a:t>Bash Shell starting 2016 from Win10</a:t>
            </a:r>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descr="https://1.bp.blogspot.com/-7eub0ihzEuo/VvzjFM69aZI/AAAAAAAAndY/f7BQpC5JF1o3nKL-_2eoKGMP0JIgXGzYA/s1600/windows10-ubuntu.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2705" y="2717837"/>
            <a:ext cx="7707707" cy="40232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4708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File Types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r>
              <a:rPr lang="en-US" dirty="0"/>
              <a:t>Different types of files</a:t>
            </a:r>
          </a:p>
          <a:p>
            <a:pPr lvl="1"/>
            <a:r>
              <a:rPr lang="en-IN" dirty="0"/>
              <a:t>Ordinary or Regular Files</a:t>
            </a:r>
          </a:p>
          <a:p>
            <a:pPr lvl="1"/>
            <a:r>
              <a:rPr lang="en-IN" dirty="0"/>
              <a:t>Directories</a:t>
            </a:r>
          </a:p>
          <a:p>
            <a:pPr lvl="1"/>
            <a:r>
              <a:rPr lang="en-IN" dirty="0"/>
              <a:t>Device (Special) Files</a:t>
            </a:r>
          </a:p>
          <a:p>
            <a:pPr lvl="1"/>
            <a:r>
              <a:rPr lang="en-IN" dirty="0"/>
              <a:t>Links</a:t>
            </a:r>
          </a:p>
          <a:p>
            <a:pPr lvl="1"/>
            <a:r>
              <a:rPr lang="en-IN" dirty="0"/>
              <a:t>Named Pipes</a:t>
            </a:r>
          </a:p>
          <a:p>
            <a:pPr lvl="1"/>
            <a:r>
              <a:rPr lang="en-IN" dirty="0"/>
              <a:t>Sockets</a:t>
            </a:r>
            <a:endParaRPr lang="en-US" dirty="0"/>
          </a:p>
          <a:p>
            <a:pPr marL="0" indent="0">
              <a:buNone/>
            </a:pPr>
            <a:endParaRPr lang="en-IN" dirty="0"/>
          </a:p>
        </p:txBody>
      </p:sp>
      <p:pic>
        <p:nvPicPr>
          <p:cNvPr id="5128" name="Picture 8" descr="http://www.freeiconspng.com/uploads/yellow-folder-directory-icon-png-1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20614">
            <a:off x="6229724" y="3435485"/>
            <a:ext cx="634056" cy="634056"/>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http://www.freeiconspng.com/uploads/document-extension-file-file-format-filename-text-txt-icon--2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8585254">
            <a:off x="5324039" y="2370995"/>
            <a:ext cx="686636" cy="686636"/>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descr="https://www.fundrecs.com/img/CSV.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220405">
            <a:off x="6128025" y="1617390"/>
            <a:ext cx="671455" cy="671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0456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Create &amp; Save file - Vi </a:t>
            </a:r>
            <a:r>
              <a:rPr lang="en-IN" dirty="0"/>
              <a:t>Editor</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endParaRPr lang="en-US" dirty="0"/>
          </a:p>
          <a:p>
            <a:pPr marL="0" indent="0">
              <a:buNone/>
            </a:pPr>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627556928"/>
              </p:ext>
            </p:extLst>
          </p:nvPr>
        </p:nvGraphicFramePr>
        <p:xfrm>
          <a:off x="906320" y="1508267"/>
          <a:ext cx="10284419" cy="1662227"/>
        </p:xfrm>
        <a:graphic>
          <a:graphicData uri="http://schemas.openxmlformats.org/drawingml/2006/table">
            <a:tbl>
              <a:tblPr>
                <a:tableStyleId>{775DCB02-9BB8-47FD-8907-85C794F793BA}</a:tableStyleId>
              </a:tblPr>
              <a:tblGrid>
                <a:gridCol w="2571105"/>
                <a:gridCol w="7713314"/>
              </a:tblGrid>
              <a:tr h="352038">
                <a:tc>
                  <a:txBody>
                    <a:bodyPr/>
                    <a:lstStyle/>
                    <a:p>
                      <a:r>
                        <a:rPr lang="en-IN" b="1" dirty="0">
                          <a:effectLst/>
                        </a:rPr>
                        <a:t>Command</a:t>
                      </a:r>
                    </a:p>
                  </a:txBody>
                  <a:tcPr anchor="ctr"/>
                </a:tc>
                <a:tc>
                  <a:txBody>
                    <a:bodyPr/>
                    <a:lstStyle/>
                    <a:p>
                      <a:r>
                        <a:rPr lang="en-IN" b="1" dirty="0">
                          <a:effectLst/>
                        </a:rPr>
                        <a:t>Description</a:t>
                      </a:r>
                    </a:p>
                  </a:txBody>
                  <a:tcPr anchor="ctr"/>
                </a:tc>
              </a:tr>
              <a:tr h="564947">
                <a:tc>
                  <a:txBody>
                    <a:bodyPr/>
                    <a:lstStyle/>
                    <a:p>
                      <a:r>
                        <a:rPr lang="en-IN" dirty="0"/>
                        <a:t>vi filename</a:t>
                      </a:r>
                    </a:p>
                  </a:txBody>
                  <a:tcPr anchor="ctr"/>
                </a:tc>
                <a:tc>
                  <a:txBody>
                    <a:bodyPr/>
                    <a:lstStyle/>
                    <a:p>
                      <a:r>
                        <a:rPr lang="en-IN" sz="1400" dirty="0"/>
                        <a:t>Creates a new file if it already does not exist, otherwise opens existing file.</a:t>
                      </a:r>
                    </a:p>
                  </a:txBody>
                  <a:tcPr anchor="ctr"/>
                </a:tc>
              </a:tr>
              <a:tr h="322827">
                <a:tc>
                  <a:txBody>
                    <a:bodyPr/>
                    <a:lstStyle/>
                    <a:p>
                      <a:r>
                        <a:rPr lang="en-IN"/>
                        <a:t>vi -R filename</a:t>
                      </a:r>
                    </a:p>
                  </a:txBody>
                  <a:tcPr anchor="ctr"/>
                </a:tc>
                <a:tc>
                  <a:txBody>
                    <a:bodyPr/>
                    <a:lstStyle/>
                    <a:p>
                      <a:r>
                        <a:rPr lang="en-IN" sz="1400"/>
                        <a:t>Opens an existing file in read only mode.</a:t>
                      </a:r>
                    </a:p>
                  </a:txBody>
                  <a:tcPr anchor="ctr"/>
                </a:tc>
              </a:tr>
              <a:tr h="322827">
                <a:tc>
                  <a:txBody>
                    <a:bodyPr/>
                    <a:lstStyle/>
                    <a:p>
                      <a:r>
                        <a:rPr lang="en-IN" dirty="0"/>
                        <a:t>view filename</a:t>
                      </a:r>
                    </a:p>
                  </a:txBody>
                  <a:tcPr anchor="ctr"/>
                </a:tc>
                <a:tc>
                  <a:txBody>
                    <a:bodyPr/>
                    <a:lstStyle/>
                    <a:p>
                      <a:r>
                        <a:rPr lang="en-IN" sz="1400" dirty="0"/>
                        <a:t>Opens an existing file in read only mode.</a:t>
                      </a:r>
                    </a:p>
                  </a:txBody>
                  <a:tcPr anchor="ctr"/>
                </a:tc>
              </a:tr>
            </a:tbl>
          </a:graphicData>
        </a:graphic>
      </p:graphicFrame>
      <p:pic>
        <p:nvPicPr>
          <p:cNvPr id="1026" name="Picture 2" descr="http://www.shankysportal.com/vi-editor.png"/>
          <p:cNvPicPr>
            <a:picLocks noChangeAspect="1" noChangeArrowheads="1"/>
          </p:cNvPicPr>
          <p:nvPr/>
        </p:nvPicPr>
        <p:blipFill rotWithShape="1">
          <a:blip r:embed="rId3">
            <a:extLst>
              <a:ext uri="{28A0092B-C50C-407E-A947-70E740481C1C}">
                <a14:useLocalDpi xmlns:a14="http://schemas.microsoft.com/office/drawing/2010/main" val="0"/>
              </a:ext>
            </a:extLst>
          </a:blip>
          <a:srcRect l="10015" t="12592" r="10065" b="3719"/>
          <a:stretch/>
        </p:blipFill>
        <p:spPr bwMode="auto">
          <a:xfrm>
            <a:off x="2438402" y="3569628"/>
            <a:ext cx="6456216" cy="2906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7677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26</a:t>
            </a:fld>
            <a:endParaRPr lang="en-US" dirty="0">
              <a:solidFill>
                <a:srgbClr val="0E5580"/>
              </a:solidFill>
            </a:endParaRPr>
          </a:p>
        </p:txBody>
      </p:sp>
      <p:sp>
        <p:nvSpPr>
          <p:cNvPr id="5" name="Text Placeholder 4"/>
          <p:cNvSpPr>
            <a:spLocks noGrp="1"/>
          </p:cNvSpPr>
          <p:nvPr>
            <p:ph type="body" sz="quarter" idx="13"/>
          </p:nvPr>
        </p:nvSpPr>
        <p:spPr>
          <a:xfrm>
            <a:off x="492323" y="1217086"/>
            <a:ext cx="11113180" cy="582362"/>
          </a:xfrm>
        </p:spPr>
        <p:txBody>
          <a:bodyPr/>
          <a:lstStyle/>
          <a:p>
            <a:r>
              <a:rPr lang="en-IN"/>
              <a:t> </a:t>
            </a:r>
            <a:endParaRPr lang="en-IN" dirty="0"/>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p:cNvSpPr txBox="1"/>
          <p:nvPr/>
        </p:nvSpPr>
        <p:spPr bwMode="gray">
          <a:xfrm>
            <a:off x="644723" y="1587324"/>
            <a:ext cx="10698416" cy="2052042"/>
          </a:xfrm>
          <a:prstGeom prst="rect">
            <a:avLst/>
          </a:prstGeom>
        </p:spPr>
        <p:txBody>
          <a:bodyPr vert="horz" wrap="square" lIns="91440" tIns="45720" rIns="91440" bIns="45720" rtlCol="0" anchor="ctr">
            <a:noAutofit/>
          </a:bodyPr>
          <a:lstStyle/>
          <a:p>
            <a:r>
              <a:rPr lang="en-IN" sz="2800" dirty="0"/>
              <a:t>The </a:t>
            </a:r>
            <a:r>
              <a:rPr lang="en-IN" sz="2800" b="1" dirty="0"/>
              <a:t>Linux</a:t>
            </a:r>
            <a:r>
              <a:rPr lang="en-IN" sz="2800" dirty="0"/>
              <a:t> kernel’s official </a:t>
            </a:r>
            <a:r>
              <a:rPr lang="en-IN" sz="2800" b="1" dirty="0"/>
              <a:t>mascot</a:t>
            </a:r>
            <a:r>
              <a:rPr lang="en-IN" sz="2800" dirty="0"/>
              <a:t> is a </a:t>
            </a:r>
            <a:r>
              <a:rPr lang="en-IN" sz="2800" b="1" dirty="0"/>
              <a:t>penguin</a:t>
            </a:r>
            <a:r>
              <a:rPr lang="en-IN" sz="2800" dirty="0"/>
              <a:t> named </a:t>
            </a:r>
            <a:r>
              <a:rPr lang="en-IN" sz="2800" b="1" dirty="0"/>
              <a:t>Tux</a:t>
            </a:r>
            <a:r>
              <a:rPr lang="en-IN" sz="2800" dirty="0"/>
              <a:t>, abbreviation of </a:t>
            </a:r>
            <a:r>
              <a:rPr lang="en-IN" sz="2800" b="1" dirty="0"/>
              <a:t>tuxedo</a:t>
            </a:r>
            <a:r>
              <a:rPr lang="en-IN" sz="2800" dirty="0"/>
              <a:t>. The idea that </a:t>
            </a:r>
            <a:r>
              <a:rPr lang="en-IN" sz="2800" b="1" dirty="0"/>
              <a:t>Linux</a:t>
            </a:r>
            <a:r>
              <a:rPr lang="en-IN" sz="2800" dirty="0"/>
              <a:t> had a pet </a:t>
            </a:r>
            <a:r>
              <a:rPr lang="en-IN" sz="2800" b="1" dirty="0"/>
              <a:t>penguin</a:t>
            </a:r>
            <a:r>
              <a:rPr lang="en-IN" sz="2800" dirty="0"/>
              <a:t> comes from </a:t>
            </a:r>
            <a:r>
              <a:rPr lang="en-IN" sz="2800" b="1" dirty="0"/>
              <a:t>Linus Torvalds</a:t>
            </a:r>
            <a:r>
              <a:rPr lang="en-IN" sz="2800" dirty="0"/>
              <a:t> himself.</a:t>
            </a:r>
            <a:endParaRPr lang="en-IN" sz="2800" dirty="0">
              <a:latin typeface="Berlin Sans FB Demi" panose="020E0802020502020306" pitchFamily="34" charset="0"/>
            </a:endParaRPr>
          </a:p>
        </p:txBody>
      </p:sp>
      <p:pic>
        <p:nvPicPr>
          <p:cNvPr id="18434" name="Picture 2" descr="https://monovm.com/images/unzip-cento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1122" y="3672564"/>
            <a:ext cx="4810125"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7408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27</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Unix Commands</a:t>
            </a:r>
          </a:p>
        </p:txBody>
      </p:sp>
    </p:spTree>
    <p:extLst>
      <p:ext uri="{BB962C8B-B14F-4D97-AF65-F5344CB8AC3E}">
        <p14:creationId xmlns:p14="http://schemas.microsoft.com/office/powerpoint/2010/main" val="34102656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8209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How do you get help about the command "</a:t>
            </a:r>
            <a:r>
              <a:rPr lang="en-IN" sz="2800" b="1" dirty="0" err="1">
                <a:latin typeface="Andalus" panose="02020603050405020304" pitchFamily="18" charset="-78"/>
                <a:cs typeface="Andalus" panose="02020603050405020304" pitchFamily="18" charset="-78"/>
              </a:rPr>
              <a:t>cp</a:t>
            </a:r>
            <a:r>
              <a:rPr lang="en-IN" sz="2800" b="1" dirty="0">
                <a:latin typeface="Andalus" panose="02020603050405020304" pitchFamily="18" charset="-78"/>
                <a:cs typeface="Andalus" panose="02020603050405020304" pitchFamily="18" charset="-78"/>
              </a:rPr>
              <a:t>"?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&gt; man </a:t>
            </a:r>
            <a:r>
              <a:rPr lang="en-IN" sz="2800" b="1" dirty="0" err="1">
                <a:latin typeface="Andalus" panose="02020603050405020304" pitchFamily="18" charset="-78"/>
                <a:cs typeface="Andalus" panose="02020603050405020304" pitchFamily="18" charset="-78"/>
              </a:rPr>
              <a:t>cp</a:t>
            </a:r>
            <a:endParaRPr lang="en-IN" sz="2800" b="1" dirty="0">
              <a:latin typeface="Andalus" panose="02020603050405020304" pitchFamily="18" charset="-78"/>
              <a:cs typeface="Andalus" panose="02020603050405020304" pitchFamily="18" charset="-78"/>
            </a:endParaRPr>
          </a:p>
          <a:p>
            <a:r>
              <a:rPr lang="en-IN" sz="2800" dirty="0">
                <a:latin typeface="Berlin Sans FB Demi" panose="020E0802020502020306" pitchFamily="34" charset="0"/>
              </a:rPr>
              <a:t>  </a:t>
            </a:r>
          </a:p>
        </p:txBody>
      </p:sp>
    </p:spTree>
    <p:extLst>
      <p:ext uri="{BB962C8B-B14F-4D97-AF65-F5344CB8AC3E}">
        <p14:creationId xmlns:p14="http://schemas.microsoft.com/office/powerpoint/2010/main" val="227216656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Log In and Out Commands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563883606"/>
              </p:ext>
            </p:extLst>
          </p:nvPr>
        </p:nvGraphicFramePr>
        <p:xfrm>
          <a:off x="775063" y="2290356"/>
          <a:ext cx="9483634" cy="3317964"/>
        </p:xfrm>
        <a:graphic>
          <a:graphicData uri="http://schemas.openxmlformats.org/drawingml/2006/table">
            <a:tbl>
              <a:tblPr firstRow="1" firstCol="1" bandRow="1">
                <a:tableStyleId>{7DF18680-E054-41AD-8BC1-D1AEF772440D}</a:tableStyleId>
              </a:tblPr>
              <a:tblGrid>
                <a:gridCol w="2292127">
                  <a:extLst>
                    <a:ext uri="{9D8B030D-6E8A-4147-A177-3AD203B41FA5}">
                      <a16:colId xmlns:a16="http://schemas.microsoft.com/office/drawing/2014/main" xmlns="" val="20000"/>
                    </a:ext>
                  </a:extLst>
                </a:gridCol>
                <a:gridCol w="7191507">
                  <a:extLst>
                    <a:ext uri="{9D8B030D-6E8A-4147-A177-3AD203B41FA5}">
                      <a16:colId xmlns:a16="http://schemas.microsoft.com/office/drawing/2014/main" xmlns="" val="20001"/>
                    </a:ext>
                  </a:extLst>
                </a:gridCol>
              </a:tblGrid>
              <a:tr h="520599">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dirty="0">
                          <a:effectLst/>
                        </a:rPr>
                        <a:t>Description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0"/>
                  </a:ext>
                </a:extLst>
              </a:tr>
              <a:tr h="559473">
                <a:tc>
                  <a:txBody>
                    <a:bodyPr/>
                    <a:lstStyle/>
                    <a:p>
                      <a:pPr>
                        <a:lnSpc>
                          <a:spcPct val="107000"/>
                        </a:lnSpc>
                        <a:spcAft>
                          <a:spcPts val="600"/>
                        </a:spcAft>
                      </a:pPr>
                      <a:r>
                        <a:rPr lang="en-IN" sz="1200">
                          <a:effectLst/>
                        </a:rPr>
                        <a:t>login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Logon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1"/>
                  </a:ext>
                </a:extLst>
              </a:tr>
              <a:tr h="559473">
                <a:tc>
                  <a:txBody>
                    <a:bodyPr/>
                    <a:lstStyle/>
                    <a:p>
                      <a:pPr>
                        <a:lnSpc>
                          <a:spcPct val="107000"/>
                        </a:lnSpc>
                        <a:spcAft>
                          <a:spcPts val="600"/>
                        </a:spcAft>
                      </a:pPr>
                      <a:r>
                        <a:rPr lang="en-IN" sz="1200" dirty="0">
                          <a:effectLst/>
                        </a:rPr>
                        <a:t>logout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Logout 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2"/>
                  </a:ext>
                </a:extLst>
              </a:tr>
              <a:tr h="559473">
                <a:tc>
                  <a:txBody>
                    <a:bodyPr/>
                    <a:lstStyle/>
                    <a:p>
                      <a:pPr>
                        <a:lnSpc>
                          <a:spcPct val="107000"/>
                        </a:lnSpc>
                        <a:spcAft>
                          <a:spcPts val="600"/>
                        </a:spcAft>
                      </a:pPr>
                      <a:r>
                        <a:rPr lang="en-IN" sz="1200">
                          <a:effectLst/>
                        </a:rPr>
                        <a:t>passwd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Change password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3"/>
                  </a:ext>
                </a:extLst>
              </a:tr>
              <a:tr h="559473">
                <a:tc>
                  <a:txBody>
                    <a:bodyPr/>
                    <a:lstStyle/>
                    <a:p>
                      <a:pPr>
                        <a:lnSpc>
                          <a:spcPct val="107000"/>
                        </a:lnSpc>
                        <a:spcAft>
                          <a:spcPts val="600"/>
                        </a:spcAft>
                      </a:pPr>
                      <a:r>
                        <a:rPr lang="en-IN" sz="1200">
                          <a:effectLst/>
                        </a:rPr>
                        <a:t>exit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Exit the terminal</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4"/>
                  </a:ext>
                </a:extLst>
              </a:tr>
              <a:tr h="559473">
                <a:tc>
                  <a:txBody>
                    <a:bodyPr/>
                    <a:lstStyle/>
                    <a:p>
                      <a:pPr>
                        <a:lnSpc>
                          <a:spcPct val="107000"/>
                        </a:lnSpc>
                        <a:spcAft>
                          <a:spcPts val="600"/>
                        </a:spcAft>
                      </a:pPr>
                      <a:r>
                        <a:rPr lang="en-IN" sz="1200">
                          <a:effectLst/>
                        </a:rPr>
                        <a:t>shutdown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Shutdown the system.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417427386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Information Command</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074611516"/>
              </p:ext>
            </p:extLst>
          </p:nvPr>
        </p:nvGraphicFramePr>
        <p:xfrm>
          <a:off x="528357" y="1799449"/>
          <a:ext cx="11113179" cy="3774626"/>
        </p:xfrm>
        <a:graphic>
          <a:graphicData uri="http://schemas.openxmlformats.org/drawingml/2006/table">
            <a:tbl>
              <a:tblPr firstRow="1" firstCol="1" bandRow="1">
                <a:tableStyleId>{7DF18680-E054-41AD-8BC1-D1AEF772440D}</a:tableStyleId>
              </a:tblPr>
              <a:tblGrid>
                <a:gridCol w="3070720">
                  <a:extLst>
                    <a:ext uri="{9D8B030D-6E8A-4147-A177-3AD203B41FA5}">
                      <a16:colId xmlns:a16="http://schemas.microsoft.com/office/drawing/2014/main" xmlns="" val="20000"/>
                    </a:ext>
                  </a:extLst>
                </a:gridCol>
                <a:gridCol w="8042459">
                  <a:extLst>
                    <a:ext uri="{9D8B030D-6E8A-4147-A177-3AD203B41FA5}">
                      <a16:colId xmlns:a16="http://schemas.microsoft.com/office/drawing/2014/main" xmlns="" val="20001"/>
                    </a:ext>
                  </a:extLst>
                </a:gridCol>
              </a:tblGrid>
              <a:tr h="387703">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0"/>
                  </a:ext>
                </a:extLst>
              </a:tr>
              <a:tr h="1008894">
                <a:tc>
                  <a:txBody>
                    <a:bodyPr/>
                    <a:lstStyle/>
                    <a:p>
                      <a:pPr>
                        <a:lnSpc>
                          <a:spcPct val="107000"/>
                        </a:lnSpc>
                        <a:spcAft>
                          <a:spcPts val="600"/>
                        </a:spcAft>
                      </a:pPr>
                      <a:r>
                        <a:rPr lang="en-IN" sz="1200" dirty="0">
                          <a:effectLst/>
                        </a:rPr>
                        <a:t>man [-option] [command]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Manual or UNIX help command. The usual quit sequence `q (CR)' can be used to quit long UNIX `man' listings, `(CR)' is used for new `man' pages. During a IBM Telnet session the `Clear-key' is needed for new CMS pages that are not the same as the `man' pages. Otherwise `d', `q' or `Ctrl-c' should work for UNIX like access.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1"/>
                  </a:ext>
                </a:extLst>
              </a:tr>
              <a:tr h="470263">
                <a:tc>
                  <a:txBody>
                    <a:bodyPr/>
                    <a:lstStyle/>
                    <a:p>
                      <a:pPr>
                        <a:lnSpc>
                          <a:spcPct val="107000"/>
                        </a:lnSpc>
                        <a:spcAft>
                          <a:spcPts val="600"/>
                        </a:spcAft>
                      </a:pPr>
                      <a:r>
                        <a:rPr lang="en-IN" sz="1200">
                          <a:effectLst/>
                        </a:rPr>
                        <a:t>whereis [name]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Locates source for program or command; e.g. `whereis kermit'.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2"/>
                  </a:ext>
                </a:extLst>
              </a:tr>
              <a:tr h="657804">
                <a:tc>
                  <a:txBody>
                    <a:bodyPr/>
                    <a:lstStyle/>
                    <a:p>
                      <a:pPr>
                        <a:lnSpc>
                          <a:spcPct val="107000"/>
                        </a:lnSpc>
                        <a:spcAft>
                          <a:spcPts val="600"/>
                        </a:spcAft>
                      </a:pPr>
                      <a:r>
                        <a:rPr lang="en-IN" sz="1200" dirty="0">
                          <a:effectLst/>
                        </a:rPr>
                        <a:t>which [name]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Tell which version of a program or command will be used in your session in case of multiple copies; e.g. `which cc'.</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3"/>
                  </a:ext>
                </a:extLst>
              </a:tr>
              <a:tr h="416654">
                <a:tc>
                  <a:txBody>
                    <a:bodyPr/>
                    <a:lstStyle/>
                    <a:p>
                      <a:pPr>
                        <a:lnSpc>
                          <a:spcPct val="107000"/>
                        </a:lnSpc>
                        <a:spcAft>
                          <a:spcPts val="600"/>
                        </a:spcAft>
                      </a:pPr>
                      <a:r>
                        <a:rPr lang="en-IN" sz="1200">
                          <a:effectLst/>
                        </a:rPr>
                        <a:t>whatis [command]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Describes the command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4"/>
                  </a:ext>
                </a:extLst>
              </a:tr>
              <a:tr h="416654">
                <a:tc>
                  <a:txBody>
                    <a:bodyPr/>
                    <a:lstStyle/>
                    <a:p>
                      <a:pPr>
                        <a:lnSpc>
                          <a:spcPct val="107000"/>
                        </a:lnSpc>
                        <a:spcAft>
                          <a:spcPts val="600"/>
                        </a:spcAft>
                      </a:pPr>
                      <a:r>
                        <a:rPr lang="en-IN" sz="1200">
                          <a:effectLst/>
                        </a:rPr>
                        <a:t>whoami</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Displays current user id and access.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5"/>
                  </a:ext>
                </a:extLst>
              </a:tr>
              <a:tr h="416654">
                <a:tc>
                  <a:txBody>
                    <a:bodyPr/>
                    <a:lstStyle/>
                    <a:p>
                      <a:pPr>
                        <a:lnSpc>
                          <a:spcPct val="107000"/>
                        </a:lnSpc>
                        <a:spcAft>
                          <a:spcPts val="600"/>
                        </a:spcAft>
                      </a:pPr>
                      <a:r>
                        <a:rPr lang="en-IN" sz="1200" dirty="0">
                          <a:effectLst/>
                        </a:rPr>
                        <a:t>who</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 Displays currently logged in users.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7958056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Directory Commands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008084431"/>
              </p:ext>
            </p:extLst>
          </p:nvPr>
        </p:nvGraphicFramePr>
        <p:xfrm>
          <a:off x="528357" y="1558837"/>
          <a:ext cx="11245632" cy="4885503"/>
        </p:xfrm>
        <a:graphic>
          <a:graphicData uri="http://schemas.openxmlformats.org/drawingml/2006/table">
            <a:tbl>
              <a:tblPr firstRow="1" firstCol="1" bandRow="1">
                <a:tableStyleId>{7DF18680-E054-41AD-8BC1-D1AEF772440D}</a:tableStyleId>
              </a:tblPr>
              <a:tblGrid>
                <a:gridCol w="2960971">
                  <a:extLst>
                    <a:ext uri="{9D8B030D-6E8A-4147-A177-3AD203B41FA5}">
                      <a16:colId xmlns:a16="http://schemas.microsoft.com/office/drawing/2014/main" xmlns="" val="20000"/>
                    </a:ext>
                  </a:extLst>
                </a:gridCol>
                <a:gridCol w="8284661">
                  <a:extLst>
                    <a:ext uri="{9D8B030D-6E8A-4147-A177-3AD203B41FA5}">
                      <a16:colId xmlns:a16="http://schemas.microsoft.com/office/drawing/2014/main" xmlns="" val="20001"/>
                    </a:ext>
                  </a:extLst>
                </a:gridCol>
              </a:tblGrid>
              <a:tr h="268581">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0"/>
                  </a:ext>
                </a:extLst>
              </a:tr>
              <a:tr h="428324">
                <a:tc>
                  <a:txBody>
                    <a:bodyPr/>
                    <a:lstStyle/>
                    <a:p>
                      <a:pPr>
                        <a:lnSpc>
                          <a:spcPct val="107000"/>
                        </a:lnSpc>
                        <a:spcAft>
                          <a:spcPts val="600"/>
                        </a:spcAft>
                      </a:pPr>
                      <a:r>
                        <a:rPr lang="en-IN" sz="1000" dirty="0" err="1">
                          <a:effectLst/>
                        </a:rPr>
                        <a:t>mkdir</a:t>
                      </a:r>
                      <a:r>
                        <a:rPr lang="en-IN" sz="1000" dirty="0">
                          <a:effectLst/>
                        </a:rPr>
                        <a:t> [name]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Makes a directory or file group name [name]; e.g. `mkdir dirpgm' make the directory called `dirpgm'.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1"/>
                  </a:ext>
                </a:extLst>
              </a:tr>
              <a:tr h="428324">
                <a:tc>
                  <a:txBody>
                    <a:bodyPr/>
                    <a:lstStyle/>
                    <a:p>
                      <a:pPr>
                        <a:lnSpc>
                          <a:spcPct val="107000"/>
                        </a:lnSpc>
                        <a:spcAft>
                          <a:spcPts val="600"/>
                        </a:spcAft>
                      </a:pPr>
                      <a:r>
                        <a:rPr lang="en-IN" sz="1000" dirty="0" err="1">
                          <a:effectLst/>
                        </a:rPr>
                        <a:t>pushd</a:t>
                      </a:r>
                      <a:r>
                        <a:rPr lang="en-IN" sz="1000" dirty="0">
                          <a:effectLst/>
                        </a:rPr>
                        <a:t> [name]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 Pushes from the working directory to the directory [name] keeping the sequence of directories in a buffer for `popd'.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2"/>
                  </a:ext>
                </a:extLst>
              </a:tr>
              <a:tr h="582470">
                <a:tc>
                  <a:txBody>
                    <a:bodyPr/>
                    <a:lstStyle/>
                    <a:p>
                      <a:pPr>
                        <a:lnSpc>
                          <a:spcPct val="107000"/>
                        </a:lnSpc>
                        <a:spcAft>
                          <a:spcPts val="600"/>
                        </a:spcAft>
                      </a:pPr>
                      <a:r>
                        <a:rPr lang="en-IN" sz="1000" dirty="0" err="1">
                          <a:effectLst/>
                        </a:rPr>
                        <a:t>popd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Pops back up to the prior directory, if `pushd' was used before. For this reason, `pushd' and `popd' are more useful than the regular change directory command `cd'.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3"/>
                  </a:ext>
                </a:extLst>
              </a:tr>
              <a:tr h="468921">
                <a:tc>
                  <a:txBody>
                    <a:bodyPr/>
                    <a:lstStyle/>
                    <a:p>
                      <a:pPr>
                        <a:lnSpc>
                          <a:spcPct val="107000"/>
                        </a:lnSpc>
                        <a:spcAft>
                          <a:spcPts val="600"/>
                        </a:spcAft>
                      </a:pPr>
                      <a:r>
                        <a:rPr lang="en-IN" sz="1000" dirty="0">
                          <a:effectLst/>
                        </a:rPr>
                        <a:t>cd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the working directory to the directory [directory]; you can change it back with `cd' using your own login id; `cd $HOME (CR)' returns the shell back to your home directory. `.' denotes the current directory and `..' denotes the root or parent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4"/>
                  </a:ext>
                </a:extLst>
              </a:tr>
              <a:tr h="274179">
                <a:tc>
                  <a:txBody>
                    <a:bodyPr/>
                    <a:lstStyle/>
                    <a:p>
                      <a:pPr>
                        <a:lnSpc>
                          <a:spcPct val="107000"/>
                        </a:lnSpc>
                        <a:spcAft>
                          <a:spcPts val="600"/>
                        </a:spcAft>
                      </a:pPr>
                      <a:r>
                        <a:rPr lang="en-IN" sz="1000" dirty="0">
                          <a:effectLst/>
                        </a:rPr>
                        <a:t>cd ~[user]</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working directory to that of login id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5"/>
                  </a:ext>
                </a:extLst>
              </a:tr>
              <a:tr h="274179">
                <a:tc>
                  <a:txBody>
                    <a:bodyPr/>
                    <a:lstStyle/>
                    <a:p>
                      <a:pPr>
                        <a:lnSpc>
                          <a:spcPct val="107000"/>
                        </a:lnSpc>
                        <a:spcAft>
                          <a:spcPts val="600"/>
                        </a:spcAft>
                      </a:pPr>
                      <a:r>
                        <a:rPr lang="en-IN" sz="1000" dirty="0">
                          <a:effectLst/>
                        </a:rPr>
                        <a:t>cd </a:t>
                      </a:r>
                      <a:r>
                        <a:rPr lang="en-IN" sz="1000" dirty="0" smtClean="0">
                          <a:effectLst/>
                        </a:rPr>
                        <a:t>$HOME / cd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Changes to your home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6"/>
                  </a:ext>
                </a:extLst>
              </a:tr>
              <a:tr h="274179">
                <a:tc>
                  <a:txBody>
                    <a:bodyPr/>
                    <a:lstStyle/>
                    <a:p>
                      <a:pPr>
                        <a:lnSpc>
                          <a:spcPct val="107000"/>
                        </a:lnSpc>
                        <a:spcAft>
                          <a:spcPts val="600"/>
                        </a:spcAft>
                      </a:pPr>
                      <a:r>
                        <a:rPr lang="en-IN" sz="1000" dirty="0" err="1">
                          <a:effectLst/>
                        </a:rPr>
                        <a:t>pwd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 Displays present working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7"/>
                  </a:ext>
                </a:extLst>
              </a:tr>
              <a:tr h="274179">
                <a:tc>
                  <a:txBody>
                    <a:bodyPr/>
                    <a:lstStyle/>
                    <a:p>
                      <a:pPr>
                        <a:lnSpc>
                          <a:spcPct val="107000"/>
                        </a:lnSpc>
                        <a:spcAft>
                          <a:spcPts val="600"/>
                        </a:spcAft>
                      </a:pPr>
                      <a:r>
                        <a:rPr lang="en-IN" sz="1000">
                          <a:effectLst/>
                        </a:rPr>
                        <a:t>ls [directory]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Displays the contents of the directory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8"/>
                  </a:ext>
                </a:extLst>
              </a:tr>
              <a:tr h="454832">
                <a:tc>
                  <a:txBody>
                    <a:bodyPr/>
                    <a:lstStyle/>
                    <a:p>
                      <a:pPr>
                        <a:lnSpc>
                          <a:spcPct val="107000"/>
                        </a:lnSpc>
                        <a:spcAft>
                          <a:spcPts val="600"/>
                        </a:spcAft>
                      </a:pPr>
                      <a:r>
                        <a:rPr lang="en-IN" sz="1000">
                          <a:effectLst/>
                        </a:rPr>
                        <a:t>mv [file1] ... [fileN]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Moves `[file1]', ..., `[fileN]' to directory `[directory]'; e.g. `mv addtwo.* diradd' moves all files with prefix `addtwo.' to the directory `diradd'.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9"/>
                  </a:ext>
                </a:extLst>
              </a:tr>
              <a:tr h="454832">
                <a:tc>
                  <a:txBody>
                    <a:bodyPr/>
                    <a:lstStyle/>
                    <a:p>
                      <a:pPr>
                        <a:lnSpc>
                          <a:spcPct val="107000"/>
                        </a:lnSpc>
                        <a:spcAft>
                          <a:spcPts val="600"/>
                        </a:spcAft>
                      </a:pPr>
                      <a:r>
                        <a:rPr lang="en-IN" sz="1000">
                          <a:effectLst/>
                        </a:rPr>
                        <a:t>cp [file1] [directory]/[file2]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Copies [file1] into [file2] in directory [directory]. `cp [file] . (CR)' copies a file to the current directory using the original name. This format works for `mv' also.</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10"/>
                  </a:ext>
                </a:extLst>
              </a:tr>
              <a:tr h="274179">
                <a:tc>
                  <a:txBody>
                    <a:bodyPr/>
                    <a:lstStyle/>
                    <a:p>
                      <a:pPr>
                        <a:lnSpc>
                          <a:spcPct val="107000"/>
                        </a:lnSpc>
                        <a:spcAft>
                          <a:spcPts val="600"/>
                        </a:spcAft>
                      </a:pPr>
                      <a:r>
                        <a:rPr lang="en-IN" sz="1000">
                          <a:effectLst/>
                        </a:rPr>
                        <a:t>rmdir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Removes or erases empty directory. You must first use `rm *' to empty the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11"/>
                  </a:ext>
                </a:extLst>
              </a:tr>
              <a:tr h="428324">
                <a:tc>
                  <a:txBody>
                    <a:bodyPr/>
                    <a:lstStyle/>
                    <a:p>
                      <a:pPr>
                        <a:lnSpc>
                          <a:spcPct val="107000"/>
                        </a:lnSpc>
                        <a:spcAft>
                          <a:spcPts val="600"/>
                        </a:spcAft>
                      </a:pPr>
                      <a:r>
                        <a:rPr lang="en-IN" sz="1000">
                          <a:effectLst/>
                        </a:rPr>
                        <a:t>rm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Remove files or directories (options  </a:t>
                      </a:r>
                      <a:r>
                        <a:rPr lang="en-IN" sz="1000" dirty="0" err="1">
                          <a:effectLst/>
                        </a:rPr>
                        <a:t>i</a:t>
                      </a:r>
                      <a:r>
                        <a:rPr lang="en-IN" sz="1000" dirty="0">
                          <a:effectLst/>
                        </a:rPr>
                        <a:t>-interactive, f-force, r-recursive). Be careful while using option force or recursive.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12"/>
                  </a:ext>
                </a:extLst>
              </a:tr>
            </a:tbl>
          </a:graphicData>
        </a:graphic>
      </p:graphicFrame>
    </p:spTree>
    <p:extLst>
      <p:ext uri="{BB962C8B-B14F-4D97-AF65-F5344CB8AC3E}">
        <p14:creationId xmlns:p14="http://schemas.microsoft.com/office/powerpoint/2010/main" val="31640994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File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967127676"/>
              </p:ext>
            </p:extLst>
          </p:nvPr>
        </p:nvGraphicFramePr>
        <p:xfrm>
          <a:off x="629984" y="1495959"/>
          <a:ext cx="11011553" cy="5090223"/>
        </p:xfrm>
        <a:graphic>
          <a:graphicData uri="http://schemas.openxmlformats.org/drawingml/2006/table">
            <a:tbl>
              <a:tblPr firstRow="1" firstCol="1" bandRow="1">
                <a:tableStyleId>{7DF18680-E054-41AD-8BC1-D1AEF772440D}</a:tableStyleId>
              </a:tblPr>
              <a:tblGrid>
                <a:gridCol w="2899338">
                  <a:extLst>
                    <a:ext uri="{9D8B030D-6E8A-4147-A177-3AD203B41FA5}">
                      <a16:colId xmlns:a16="http://schemas.microsoft.com/office/drawing/2014/main" xmlns="" val="20000"/>
                    </a:ext>
                  </a:extLst>
                </a:gridCol>
                <a:gridCol w="8112215">
                  <a:extLst>
                    <a:ext uri="{9D8B030D-6E8A-4147-A177-3AD203B41FA5}">
                      <a16:colId xmlns:a16="http://schemas.microsoft.com/office/drawing/2014/main" xmlns="" val="20001"/>
                    </a:ext>
                  </a:extLst>
                </a:gridCol>
              </a:tblGrid>
              <a:tr h="213375">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0"/>
                  </a:ext>
                </a:extLst>
              </a:tr>
              <a:tr h="217295">
                <a:tc>
                  <a:txBody>
                    <a:bodyPr/>
                    <a:lstStyle/>
                    <a:p>
                      <a:pPr>
                        <a:lnSpc>
                          <a:spcPct val="107000"/>
                        </a:lnSpc>
                        <a:spcAft>
                          <a:spcPts val="600"/>
                        </a:spcAft>
                      </a:pPr>
                      <a:r>
                        <a:rPr lang="en-IN" sz="1000">
                          <a:effectLst/>
                        </a:rPr>
                        <a:t>ls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sets or files of current user id or current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1"/>
                  </a:ext>
                </a:extLst>
              </a:tr>
              <a:tr h="339460">
                <a:tc>
                  <a:txBody>
                    <a:bodyPr/>
                    <a:lstStyle/>
                    <a:p>
                      <a:pPr>
                        <a:lnSpc>
                          <a:spcPct val="107000"/>
                        </a:lnSpc>
                        <a:spcAft>
                          <a:spcPts val="600"/>
                        </a:spcAft>
                      </a:pPr>
                      <a:r>
                        <a:rPr lang="en-IN" sz="1000">
                          <a:effectLst/>
                        </a:rPr>
                        <a:t>ls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files or directories under user/account id `[user]'. Also `ls ~/[directory] (CR)' will list the contents of the directory `[directory]' on the same account.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2"/>
                  </a:ext>
                </a:extLst>
              </a:tr>
              <a:tr h="339460">
                <a:tc>
                  <a:txBody>
                    <a:bodyPr/>
                    <a:lstStyle/>
                    <a:p>
                      <a:pPr>
                        <a:lnSpc>
                          <a:spcPct val="107000"/>
                        </a:lnSpc>
                        <a:spcAft>
                          <a:spcPts val="600"/>
                        </a:spcAft>
                      </a:pPr>
                      <a:r>
                        <a:rPr lang="en-IN" sz="1000" dirty="0">
                          <a:effectLst/>
                        </a:rPr>
                        <a:t>ls [string].*</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all current files with prefix [name]. Examples of other forms are `ls *[string] (CR)' or `ls *[string]* (CR)' or `ls *[string1]*[string2]*'.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3"/>
                  </a:ext>
                </a:extLst>
              </a:tr>
              <a:tr h="339460">
                <a:tc>
                  <a:txBody>
                    <a:bodyPr/>
                    <a:lstStyle/>
                    <a:p>
                      <a:pPr>
                        <a:lnSpc>
                          <a:spcPct val="107000"/>
                        </a:lnSpc>
                        <a:spcAft>
                          <a:spcPts val="600"/>
                        </a:spcAft>
                      </a:pPr>
                      <a:r>
                        <a:rPr lang="en-IN" sz="1000">
                          <a:effectLst/>
                        </a:rPr>
                        <a:t>cat [file1] ... [fileN]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content of N (N .le. 1) argument files catenated. Use `cat [file1] ... [fileN] &gt; [fileM],' to catenate and store the N files in `[fileM]'.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4"/>
                  </a:ext>
                </a:extLst>
              </a:tr>
              <a:tr h="461622">
                <a:tc>
                  <a:txBody>
                    <a:bodyPr/>
                    <a:lstStyle/>
                    <a:p>
                      <a:pPr>
                        <a:lnSpc>
                          <a:spcPct val="107000"/>
                        </a:lnSpc>
                        <a:spcAft>
                          <a:spcPts val="600"/>
                        </a:spcAft>
                      </a:pPr>
                      <a:r>
                        <a:rPr lang="en-IN" sz="1000">
                          <a:effectLst/>
                        </a:rPr>
                        <a:t>more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Displays file in half pages of 11 lines; use `q (CR)' for quitting; use `d' for 11 more lines or `u' to go back up 11 more lines; similarly, `f' and `b' produce full pages forward and backwards, respectively;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5"/>
                  </a:ext>
                </a:extLst>
              </a:tr>
              <a:tr h="217295">
                <a:tc>
                  <a:txBody>
                    <a:bodyPr/>
                    <a:lstStyle/>
                    <a:p>
                      <a:pPr>
                        <a:lnSpc>
                          <a:spcPct val="107000"/>
                        </a:lnSpc>
                        <a:spcAft>
                          <a:spcPts val="600"/>
                        </a:spcAft>
                      </a:pPr>
                      <a:r>
                        <a:rPr lang="en-IN" sz="1000">
                          <a:effectLst/>
                        </a:rPr>
                        <a:t>cp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Copies file `[file1]' into file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6"/>
                  </a:ext>
                </a:extLst>
              </a:tr>
              <a:tr h="461622">
                <a:tc>
                  <a:txBody>
                    <a:bodyPr/>
                    <a:lstStyle/>
                    <a:p>
                      <a:pPr>
                        <a:lnSpc>
                          <a:spcPct val="107000"/>
                        </a:lnSpc>
                        <a:spcAft>
                          <a:spcPts val="600"/>
                        </a:spcAft>
                      </a:pPr>
                      <a:r>
                        <a:rPr lang="en-IN" sz="1000" dirty="0" err="1">
                          <a:effectLst/>
                        </a:rPr>
                        <a:t>rm</a:t>
                      </a:r>
                      <a:r>
                        <a:rPr lang="en-IN" sz="1000" dirty="0">
                          <a:effectLst/>
                        </a:rPr>
                        <a:t> [file1]</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Erases file `[file1]'; can take several file arguments, with the system asking if you really want to do it, `y' for yes and `n' for no target file `[file2]' already exists to avoid unintentional.</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7"/>
                  </a:ext>
                </a:extLst>
              </a:tr>
              <a:tr h="217295">
                <a:tc>
                  <a:txBody>
                    <a:bodyPr/>
                    <a:lstStyle/>
                    <a:p>
                      <a:pPr>
                        <a:lnSpc>
                          <a:spcPct val="107000"/>
                        </a:lnSpc>
                        <a:spcAft>
                          <a:spcPts val="600"/>
                        </a:spcAft>
                      </a:pPr>
                      <a:r>
                        <a:rPr lang="en-IN" sz="1000" dirty="0">
                          <a:effectLst/>
                        </a:rPr>
                        <a:t>mv [file1] [file2]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Renames file `[file1'] as file `[file2]', i.e., moves one file to another.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8"/>
                  </a:ext>
                </a:extLst>
              </a:tr>
              <a:tr h="339460">
                <a:tc>
                  <a:txBody>
                    <a:bodyPr/>
                    <a:lstStyle/>
                    <a:p>
                      <a:pPr>
                        <a:lnSpc>
                          <a:spcPct val="107000"/>
                        </a:lnSpc>
                        <a:spcAft>
                          <a:spcPts val="600"/>
                        </a:spcAft>
                      </a:pPr>
                      <a:r>
                        <a:rPr lang="en-IN" sz="1000">
                          <a:effectLst/>
                        </a:rPr>
                        <a:t>grep `[str]' [file1]</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Searches for string [str] in file [file1]. ``cat [file1] [file2] | grep `[string]' (CR)'' searches for the pattern `[string]' in the catenated files.</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9"/>
                  </a:ext>
                </a:extLst>
              </a:tr>
              <a:tr h="217295">
                <a:tc>
                  <a:txBody>
                    <a:bodyPr/>
                    <a:lstStyle/>
                    <a:p>
                      <a:pPr>
                        <a:lnSpc>
                          <a:spcPct val="107000"/>
                        </a:lnSpc>
                        <a:spcAft>
                          <a:spcPts val="600"/>
                        </a:spcAft>
                      </a:pPr>
                      <a:r>
                        <a:rPr lang="en-IN" sz="1000">
                          <a:effectLst/>
                        </a:rPr>
                        <a:t>diff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Displays the difference between files `[file1]' and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0"/>
                  </a:ext>
                </a:extLst>
              </a:tr>
              <a:tr h="1045409">
                <a:tc>
                  <a:txBody>
                    <a:bodyPr/>
                    <a:lstStyle/>
                    <a:p>
                      <a:pPr>
                        <a:lnSpc>
                          <a:spcPct val="107000"/>
                        </a:lnSpc>
                        <a:spcAft>
                          <a:spcPts val="600"/>
                        </a:spcAft>
                      </a:pPr>
                      <a:r>
                        <a:rPr lang="en-IN" sz="1000" dirty="0" err="1">
                          <a:effectLst/>
                        </a:rPr>
                        <a:t>chmod</a:t>
                      </a:r>
                      <a:r>
                        <a:rPr lang="en-IN" sz="1000" dirty="0">
                          <a:effectLst/>
                        </a:rPr>
                        <a:t> [mode] [file]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Changes the read, write and execute permissions for the file (or files) `[file]' according to the `[mode]' which has form `[[who] [operator] [permission]]'; `[who]' is `u' for the user, `g' for the defined group', `o' for others and `a' = `</a:t>
                      </a:r>
                      <a:r>
                        <a:rPr lang="en-IN" sz="1000" dirty="0" err="1">
                          <a:effectLst/>
                        </a:rPr>
                        <a:t>ugo</a:t>
                      </a:r>
                      <a:r>
                        <a:rPr lang="en-IN" sz="1000" dirty="0">
                          <a:effectLst/>
                        </a:rPr>
                        <a:t>' for all; `[operator]' is `+' to add and `-' for remove; `[permission]' is `r' for read, `w' for write and `x' for execute; </a:t>
                      </a:r>
                    </a:p>
                    <a:p>
                      <a:pPr>
                        <a:lnSpc>
                          <a:spcPct val="107000"/>
                        </a:lnSpc>
                        <a:spcAft>
                          <a:spcPts val="600"/>
                        </a:spcAft>
                      </a:pPr>
                      <a:r>
                        <a:rPr lang="en-IN" sz="1000" dirty="0">
                          <a:effectLst/>
                        </a:rPr>
                        <a:t>Ex1: </a:t>
                      </a:r>
                      <a:r>
                        <a:rPr lang="en-IN" sz="1000" dirty="0" err="1">
                          <a:effectLst/>
                        </a:rPr>
                        <a:t>chmod</a:t>
                      </a:r>
                      <a:r>
                        <a:rPr lang="en-IN" sz="1000" dirty="0">
                          <a:effectLst/>
                        </a:rPr>
                        <a:t> </a:t>
                      </a:r>
                      <a:r>
                        <a:rPr lang="en-IN" sz="1000" dirty="0" err="1">
                          <a:effectLst/>
                        </a:rPr>
                        <a:t>u+rwx</a:t>
                      </a:r>
                      <a:r>
                        <a:rPr lang="en-IN" sz="1000" dirty="0">
                          <a:effectLst/>
                        </a:rPr>
                        <a:t> filename</a:t>
                      </a:r>
                    </a:p>
                    <a:p>
                      <a:pPr>
                        <a:lnSpc>
                          <a:spcPct val="107000"/>
                        </a:lnSpc>
                        <a:spcAft>
                          <a:spcPts val="600"/>
                        </a:spcAft>
                      </a:pPr>
                      <a:r>
                        <a:rPr lang="en-IN" sz="1000" dirty="0">
                          <a:effectLst/>
                        </a:rPr>
                        <a:t>Ex2: </a:t>
                      </a:r>
                      <a:r>
                        <a:rPr lang="en-IN" sz="1000" dirty="0" err="1">
                          <a:effectLst/>
                        </a:rPr>
                        <a:t>chmod</a:t>
                      </a:r>
                      <a:r>
                        <a:rPr lang="en-IN" sz="1000" dirty="0">
                          <a:effectLst/>
                        </a:rPr>
                        <a:t> 757 filename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1"/>
                  </a:ext>
                </a:extLst>
              </a:tr>
              <a:tr h="339460">
                <a:tc>
                  <a:txBody>
                    <a:bodyPr/>
                    <a:lstStyle/>
                    <a:p>
                      <a:pPr>
                        <a:lnSpc>
                          <a:spcPct val="107000"/>
                        </a:lnSpc>
                        <a:spcAft>
                          <a:spcPts val="600"/>
                        </a:spcAft>
                      </a:pPr>
                      <a:r>
                        <a:rPr lang="en-IN" sz="1000">
                          <a:effectLst/>
                        </a:rPr>
                        <a:t>wc filename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Used to get a count of the total number of lines, words, and characters contained in a file.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2"/>
                  </a:ext>
                </a:extLst>
              </a:tr>
              <a:tr h="217295">
                <a:tc>
                  <a:txBody>
                    <a:bodyPr/>
                    <a:lstStyle/>
                    <a:p>
                      <a:pPr>
                        <a:lnSpc>
                          <a:spcPct val="107000"/>
                        </a:lnSpc>
                        <a:spcAft>
                          <a:spcPts val="600"/>
                        </a:spcAft>
                      </a:pPr>
                      <a:r>
                        <a:rPr lang="en-IN" sz="1000">
                          <a:effectLst/>
                        </a:rPr>
                        <a:t>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Determines a file type.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3"/>
                  </a:ext>
                </a:extLst>
              </a:tr>
            </a:tbl>
          </a:graphicData>
        </a:graphic>
      </p:graphicFrame>
    </p:spTree>
    <p:extLst>
      <p:ext uri="{BB962C8B-B14F-4D97-AF65-F5344CB8AC3E}">
        <p14:creationId xmlns:p14="http://schemas.microsoft.com/office/powerpoint/2010/main" val="19435969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Process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47522930"/>
              </p:ext>
            </p:extLst>
          </p:nvPr>
        </p:nvGraphicFramePr>
        <p:xfrm>
          <a:off x="528357" y="1461587"/>
          <a:ext cx="10875183" cy="3077202"/>
        </p:xfrm>
        <a:graphic>
          <a:graphicData uri="http://schemas.openxmlformats.org/drawingml/2006/table">
            <a:tbl>
              <a:tblPr firstRow="1" firstCol="1" bandRow="1">
                <a:tableStyleId>{7DF18680-E054-41AD-8BC1-D1AEF772440D}</a:tableStyleId>
              </a:tblPr>
              <a:tblGrid>
                <a:gridCol w="3577283">
                  <a:extLst>
                    <a:ext uri="{9D8B030D-6E8A-4147-A177-3AD203B41FA5}">
                      <a16:colId xmlns:a16="http://schemas.microsoft.com/office/drawing/2014/main" xmlns="" val="20000"/>
                    </a:ext>
                  </a:extLst>
                </a:gridCol>
                <a:gridCol w="7297900">
                  <a:extLst>
                    <a:ext uri="{9D8B030D-6E8A-4147-A177-3AD203B41FA5}">
                      <a16:colId xmlns:a16="http://schemas.microsoft.com/office/drawing/2014/main" xmlns="" val="20001"/>
                    </a:ext>
                  </a:extLst>
                </a:gridCol>
              </a:tblGrid>
              <a:tr h="374289">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0"/>
                  </a:ext>
                </a:extLst>
              </a:tr>
              <a:tr h="383764">
                <a:tc>
                  <a:txBody>
                    <a:bodyPr/>
                    <a:lstStyle/>
                    <a:p>
                      <a:pPr>
                        <a:lnSpc>
                          <a:spcPct val="107000"/>
                        </a:lnSpc>
                        <a:spcAft>
                          <a:spcPts val="600"/>
                        </a:spcAft>
                      </a:pPr>
                      <a:r>
                        <a:rPr lang="en-IN" sz="1100">
                          <a:effectLst/>
                        </a:rPr>
                        <a:t>jobs – l</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Display a simple single line with currently active job status.</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1"/>
                  </a:ext>
                </a:extLst>
              </a:tr>
              <a:tr h="377636">
                <a:tc>
                  <a:txBody>
                    <a:bodyPr/>
                    <a:lstStyle/>
                    <a:p>
                      <a:pPr>
                        <a:lnSpc>
                          <a:spcPct val="107000"/>
                        </a:lnSpc>
                        <a:spcAft>
                          <a:spcPts val="600"/>
                        </a:spcAft>
                      </a:pPr>
                      <a:r>
                        <a:rPr lang="en-IN" sz="1100" dirty="0" err="1">
                          <a:effectLst/>
                        </a:rPr>
                        <a:t>ps</a:t>
                      </a:r>
                      <a:endParaRPr lang="en-IN" sz="1100" dirty="0">
                        <a:effectLst/>
                      </a:endParaRPr>
                    </a:p>
                  </a:txBody>
                  <a:tcPr marL="76200" marR="76200" marT="76200" marB="76200"/>
                </a:tc>
                <a:tc>
                  <a:txBody>
                    <a:bodyPr/>
                    <a:lstStyle/>
                    <a:p>
                      <a:pPr>
                        <a:lnSpc>
                          <a:spcPct val="107000"/>
                        </a:lnSpc>
                        <a:spcAft>
                          <a:spcPts val="600"/>
                        </a:spcAft>
                      </a:pPr>
                      <a:r>
                        <a:rPr lang="en-IN" sz="1100" dirty="0">
                          <a:effectLst/>
                        </a:rPr>
                        <a:t>Display current process ids (``</a:t>
                      </a:r>
                      <a:r>
                        <a:rPr lang="en-IN" sz="1100" dirty="0" err="1">
                          <a:effectLst/>
                        </a:rPr>
                        <a:t>pid</a:t>
                      </a:r>
                      <a:r>
                        <a:rPr lang="en-IN" sz="1100" dirty="0">
                          <a:effectLst/>
                        </a:rPr>
                        <a:t>'') needed for killing.</a:t>
                      </a:r>
                      <a:endParaRPr lang="en-IN" sz="1100" dirty="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2"/>
                  </a:ext>
                </a:extLst>
              </a:tr>
              <a:tr h="452845">
                <a:tc>
                  <a:txBody>
                    <a:bodyPr/>
                    <a:lstStyle/>
                    <a:p>
                      <a:pPr>
                        <a:lnSpc>
                          <a:spcPct val="107000"/>
                        </a:lnSpc>
                        <a:spcAft>
                          <a:spcPts val="600"/>
                        </a:spcAft>
                      </a:pPr>
                      <a:r>
                        <a:rPr lang="en-IN" sz="1100" dirty="0" err="1">
                          <a:effectLst/>
                        </a:rPr>
                        <a:t>ps</a:t>
                      </a:r>
                      <a:r>
                        <a:rPr lang="en-IN" sz="1100" dirty="0">
                          <a:effectLst/>
                        </a:rPr>
                        <a:t> t[N]</a:t>
                      </a:r>
                    </a:p>
                  </a:txBody>
                  <a:tcPr marL="76200" marR="76200" marT="76200" marB="76200"/>
                </a:tc>
                <a:tc>
                  <a:txBody>
                    <a:bodyPr/>
                    <a:lstStyle/>
                    <a:p>
                      <a:pPr>
                        <a:lnSpc>
                          <a:spcPct val="107000"/>
                        </a:lnSpc>
                        <a:spcAft>
                          <a:spcPts val="600"/>
                        </a:spcAft>
                      </a:pPr>
                      <a:r>
                        <a:rPr lang="en-IN" sz="1100">
                          <a:effectLst/>
                        </a:rPr>
                        <a:t>Displays ``pid'' for terminal or tty [N].</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3"/>
                  </a:ext>
                </a:extLst>
              </a:tr>
              <a:tr h="327523">
                <a:tc>
                  <a:txBody>
                    <a:bodyPr/>
                    <a:lstStyle/>
                    <a:p>
                      <a:pPr>
                        <a:lnSpc>
                          <a:spcPct val="107000"/>
                        </a:lnSpc>
                        <a:spcAft>
                          <a:spcPts val="600"/>
                        </a:spcAft>
                      </a:pPr>
                      <a:r>
                        <a:rPr lang="en-IN" sz="1100">
                          <a:effectLst/>
                        </a:rPr>
                        <a:t>kill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Kills a process given by pid.</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4"/>
                  </a:ext>
                </a:extLst>
              </a:tr>
              <a:tr h="481002">
                <a:tc>
                  <a:txBody>
                    <a:bodyPr/>
                    <a:lstStyle/>
                    <a:p>
                      <a:pPr>
                        <a:lnSpc>
                          <a:spcPct val="107000"/>
                        </a:lnSpc>
                        <a:spcAft>
                          <a:spcPts val="600"/>
                        </a:spcAft>
                      </a:pPr>
                      <a:r>
                        <a:rPr lang="en-IN" sz="1100">
                          <a:effectLst/>
                        </a:rPr>
                        <a:t>kill -9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dirty="0">
                          <a:effectLst/>
                        </a:rPr>
                        <a:t>Means a “sure kill”' or “Force Kill” of ``</a:t>
                      </a:r>
                      <a:r>
                        <a:rPr lang="en-IN" sz="1100" dirty="0" err="1">
                          <a:effectLst/>
                        </a:rPr>
                        <a:t>pid</a:t>
                      </a:r>
                      <a:r>
                        <a:rPr lang="en-IN" sz="1100" dirty="0">
                          <a:effectLst/>
                        </a:rPr>
                        <a:t>'' [</a:t>
                      </a:r>
                      <a:r>
                        <a:rPr lang="en-IN" sz="1100" dirty="0" err="1">
                          <a:effectLst/>
                        </a:rPr>
                        <a:t>pid</a:t>
                      </a:r>
                      <a:r>
                        <a:rPr lang="en-IN" sz="1100" dirty="0">
                          <a:effectLst/>
                        </a:rPr>
                        <a:t>]; this becomes necessary when you lose control of a process or have a session aborted.</a:t>
                      </a:r>
                    </a:p>
                    <a:p>
                      <a:pPr>
                        <a:lnSpc>
                          <a:spcPct val="107000"/>
                        </a:lnSpc>
                        <a:spcAft>
                          <a:spcPts val="600"/>
                        </a:spcAft>
                      </a:pPr>
                      <a:r>
                        <a:rPr lang="en-IN" sz="1100" dirty="0">
                          <a:effectLst/>
                        </a:rPr>
                        <a:t> </a:t>
                      </a:r>
                      <a:endParaRPr lang="en-IN" sz="1100" dirty="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8250864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34</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Thank You</a:t>
            </a:r>
          </a:p>
        </p:txBody>
      </p:sp>
    </p:spTree>
    <p:extLst>
      <p:ext uri="{BB962C8B-B14F-4D97-AF65-F5344CB8AC3E}">
        <p14:creationId xmlns:p14="http://schemas.microsoft.com/office/powerpoint/2010/main" val="11918148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35</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Appendix</a:t>
            </a:r>
          </a:p>
        </p:txBody>
      </p:sp>
    </p:spTree>
    <p:extLst>
      <p:ext uri="{BB962C8B-B14F-4D97-AF65-F5344CB8AC3E}">
        <p14:creationId xmlns:p14="http://schemas.microsoft.com/office/powerpoint/2010/main" val="24323707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36</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532270554"/>
              </p:ext>
            </p:extLst>
          </p:nvPr>
        </p:nvGraphicFramePr>
        <p:xfrm>
          <a:off x="486191" y="1249326"/>
          <a:ext cx="11244255" cy="5532120"/>
        </p:xfrm>
        <a:graphic>
          <a:graphicData uri="http://schemas.openxmlformats.org/drawingml/2006/table">
            <a:tbl>
              <a:tblPr firstRow="1" bandRow="1">
                <a:tableStyleId>{7DF18680-E054-41AD-8BC1-D1AEF772440D}</a:tableStyleId>
              </a:tblPr>
              <a:tblGrid>
                <a:gridCol w="2231069">
                  <a:extLst>
                    <a:ext uri="{9D8B030D-6E8A-4147-A177-3AD203B41FA5}">
                      <a16:colId xmlns:a16="http://schemas.microsoft.com/office/drawing/2014/main" xmlns="" val="20000"/>
                    </a:ext>
                  </a:extLst>
                </a:gridCol>
                <a:gridCol w="2231069">
                  <a:extLst>
                    <a:ext uri="{9D8B030D-6E8A-4147-A177-3AD203B41FA5}">
                      <a16:colId xmlns:a16="http://schemas.microsoft.com/office/drawing/2014/main" xmlns="" val="20001"/>
                    </a:ext>
                  </a:extLst>
                </a:gridCol>
                <a:gridCol w="2231069">
                  <a:extLst>
                    <a:ext uri="{9D8B030D-6E8A-4147-A177-3AD203B41FA5}">
                      <a16:colId xmlns:a16="http://schemas.microsoft.com/office/drawing/2014/main" xmlns="" val="20002"/>
                    </a:ext>
                  </a:extLst>
                </a:gridCol>
                <a:gridCol w="1386117">
                  <a:extLst>
                    <a:ext uri="{9D8B030D-6E8A-4147-A177-3AD203B41FA5}">
                      <a16:colId xmlns:a16="http://schemas.microsoft.com/office/drawing/2014/main" xmlns="" val="20003"/>
                    </a:ext>
                  </a:extLst>
                </a:gridCol>
                <a:gridCol w="3164931">
                  <a:extLst>
                    <a:ext uri="{9D8B030D-6E8A-4147-A177-3AD203B41FA5}">
                      <a16:colId xmlns:a16="http://schemas.microsoft.com/office/drawing/2014/main" xmlns="" val="20004"/>
                    </a:ext>
                  </a:extLst>
                </a:gridCol>
              </a:tblGrid>
              <a:tr h="0">
                <a:tc>
                  <a:txBody>
                    <a:bodyPr/>
                    <a:lstStyle/>
                    <a:p>
                      <a:r>
                        <a:rPr lang="en-IN" dirty="0"/>
                        <a:t>Quality</a:t>
                      </a:r>
                    </a:p>
                  </a:txBody>
                  <a:tcPr/>
                </a:tc>
                <a:tc>
                  <a:txBody>
                    <a:bodyPr/>
                    <a:lstStyle/>
                    <a:p>
                      <a:r>
                        <a:rPr lang="en-IN" dirty="0"/>
                        <a:t>Windows</a:t>
                      </a:r>
                    </a:p>
                  </a:txBody>
                  <a:tcPr/>
                </a:tc>
                <a:tc>
                  <a:txBody>
                    <a:bodyPr/>
                    <a:lstStyle/>
                    <a:p>
                      <a:r>
                        <a:rPr lang="en-IN" dirty="0"/>
                        <a:t>Mac</a:t>
                      </a:r>
                    </a:p>
                  </a:txBody>
                  <a:tcPr/>
                </a:tc>
                <a:tc>
                  <a:txBody>
                    <a:bodyPr/>
                    <a:lstStyle/>
                    <a:p>
                      <a:r>
                        <a:rPr lang="en-IN" dirty="0"/>
                        <a:t>Unix</a:t>
                      </a:r>
                      <a:r>
                        <a:rPr lang="en-IN" baseline="0" dirty="0"/>
                        <a:t> </a:t>
                      </a:r>
                      <a:endParaRPr lang="en-IN" dirty="0"/>
                    </a:p>
                  </a:txBody>
                  <a:tcPr/>
                </a:tc>
                <a:tc>
                  <a:txBody>
                    <a:bodyPr/>
                    <a:lstStyle/>
                    <a:p>
                      <a:r>
                        <a:rPr lang="en-IN" dirty="0"/>
                        <a:t>z/OS</a:t>
                      </a:r>
                    </a:p>
                  </a:txBody>
                  <a:tcPr/>
                </a:tc>
                <a:extLst>
                  <a:ext uri="{0D108BD9-81ED-4DB2-BD59-A6C34878D82A}">
                    <a16:rowId xmlns:a16="http://schemas.microsoft.com/office/drawing/2014/main" xmlns="" val="10000"/>
                  </a:ext>
                </a:extLst>
              </a:tr>
              <a:tr h="370840">
                <a:tc>
                  <a:txBody>
                    <a:bodyPr/>
                    <a:lstStyle/>
                    <a:p>
                      <a:r>
                        <a:rPr lang="en-IN" dirty="0"/>
                        <a:t>User Interface</a:t>
                      </a:r>
                    </a:p>
                  </a:txBody>
                  <a:tcPr/>
                </a:tc>
                <a:tc>
                  <a:txBody>
                    <a:bodyPr/>
                    <a:lstStyle/>
                    <a:p>
                      <a:r>
                        <a:rPr lang="en-IN" sz="1100" dirty="0"/>
                        <a:t>Excellent ( Easy to</a:t>
                      </a:r>
                      <a:r>
                        <a:rPr lang="en-IN" sz="1100" baseline="0" dirty="0"/>
                        <a:t> understand)</a:t>
                      </a:r>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a:t>Excellent( Easy to</a:t>
                      </a:r>
                      <a:r>
                        <a:rPr lang="en-IN" sz="1100" baseline="0" dirty="0"/>
                        <a:t> understand)</a:t>
                      </a:r>
                      <a:endParaRPr lang="en-IN" sz="1100" dirty="0"/>
                    </a:p>
                    <a:p>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a:t>Good (Needs</a:t>
                      </a:r>
                      <a:r>
                        <a:rPr lang="en-IN" sz="1100" baseline="0" dirty="0"/>
                        <a:t> some practice </a:t>
                      </a:r>
                      <a:r>
                        <a:rPr lang="en-IN" sz="1100" dirty="0"/>
                        <a:t>to</a:t>
                      </a:r>
                      <a:r>
                        <a:rPr lang="en-IN" sz="1100" baseline="0" dirty="0"/>
                        <a:t> understand)</a:t>
                      </a:r>
                      <a:endParaRPr lang="en-IN" sz="1100" dirty="0"/>
                    </a:p>
                    <a:p>
                      <a:endParaRPr lang="en-IN" sz="1100" dirty="0"/>
                    </a:p>
                  </a:txBody>
                  <a:tcPr/>
                </a:tc>
                <a:tc>
                  <a:txBody>
                    <a:bodyPr/>
                    <a:lstStyle/>
                    <a:p>
                      <a:r>
                        <a:rPr lang="en-IN" sz="1100" dirty="0"/>
                        <a:t>Medium ( Very difficult</a:t>
                      </a:r>
                      <a:r>
                        <a:rPr lang="en-IN" sz="1100" baseline="0" dirty="0"/>
                        <a:t> )</a:t>
                      </a:r>
                      <a:endParaRPr lang="en-IN" sz="1100" dirty="0">
                        <a:solidFill>
                          <a:schemeClr val="tx1"/>
                        </a:solidFill>
                      </a:endParaRPr>
                    </a:p>
                  </a:txBody>
                  <a:tcPr/>
                </a:tc>
                <a:extLst>
                  <a:ext uri="{0D108BD9-81ED-4DB2-BD59-A6C34878D82A}">
                    <a16:rowId xmlns:a16="http://schemas.microsoft.com/office/drawing/2014/main" xmlns="" val="10001"/>
                  </a:ext>
                </a:extLst>
              </a:tr>
              <a:tr h="370840">
                <a:tc>
                  <a:txBody>
                    <a:bodyPr/>
                    <a:lstStyle/>
                    <a:p>
                      <a:r>
                        <a:rPr lang="en-IN" dirty="0"/>
                        <a:t>Security</a:t>
                      </a:r>
                    </a:p>
                  </a:txBody>
                  <a:tcPr/>
                </a:tc>
                <a:tc>
                  <a:txBody>
                    <a:bodyPr/>
                    <a:lstStyle/>
                    <a:p>
                      <a:r>
                        <a:rPr lang="en-IN" sz="1100" dirty="0"/>
                        <a:t>Moderate</a:t>
                      </a:r>
                    </a:p>
                  </a:txBody>
                  <a:tcPr/>
                </a:tc>
                <a:tc>
                  <a:txBody>
                    <a:bodyPr/>
                    <a:lstStyle/>
                    <a:p>
                      <a:r>
                        <a:rPr lang="en-IN" sz="1100" dirty="0"/>
                        <a:t>High</a:t>
                      </a:r>
                    </a:p>
                  </a:txBody>
                  <a:tcPr/>
                </a:tc>
                <a:tc>
                  <a:txBody>
                    <a:bodyPr/>
                    <a:lstStyle/>
                    <a:p>
                      <a:r>
                        <a:rPr lang="en-IN" sz="1100" dirty="0"/>
                        <a:t>Highly</a:t>
                      </a:r>
                      <a:r>
                        <a:rPr lang="en-IN" sz="1100" baseline="0" dirty="0"/>
                        <a:t> Secure</a:t>
                      </a:r>
                      <a:endParaRPr lang="en-IN" sz="1100" dirty="0"/>
                    </a:p>
                  </a:txBody>
                  <a:tcPr/>
                </a:tc>
                <a:tc>
                  <a:txBody>
                    <a:bodyPr/>
                    <a:lstStyle/>
                    <a:p>
                      <a:r>
                        <a:rPr lang="en-IN" sz="1100" dirty="0"/>
                        <a:t>Highly Secure</a:t>
                      </a:r>
                    </a:p>
                  </a:txBody>
                  <a:tcPr/>
                </a:tc>
                <a:extLst>
                  <a:ext uri="{0D108BD9-81ED-4DB2-BD59-A6C34878D82A}">
                    <a16:rowId xmlns:a16="http://schemas.microsoft.com/office/drawing/2014/main" xmlns="" val="10002"/>
                  </a:ext>
                </a:extLst>
              </a:tr>
              <a:tr h="370840">
                <a:tc>
                  <a:txBody>
                    <a:bodyPr/>
                    <a:lstStyle/>
                    <a:p>
                      <a:r>
                        <a:rPr lang="en-IN" dirty="0"/>
                        <a:t>Compatibility</a:t>
                      </a:r>
                    </a:p>
                  </a:txBody>
                  <a:tcPr/>
                </a:tc>
                <a:tc>
                  <a:txBody>
                    <a:bodyPr/>
                    <a:lstStyle/>
                    <a:p>
                      <a:r>
                        <a:rPr lang="en-IN" sz="1100" dirty="0"/>
                        <a:t>Runs on any hardware</a:t>
                      </a:r>
                    </a:p>
                  </a:txBody>
                  <a:tcPr/>
                </a:tc>
                <a:tc>
                  <a:txBody>
                    <a:bodyPr/>
                    <a:lstStyle/>
                    <a:p>
                      <a:r>
                        <a:rPr lang="en-IN" sz="1100" dirty="0"/>
                        <a:t>Runs only on Apple</a:t>
                      </a:r>
                    </a:p>
                  </a:txBody>
                  <a:tcPr/>
                </a:tc>
                <a:tc>
                  <a:txBody>
                    <a:bodyPr/>
                    <a:lstStyle/>
                    <a:p>
                      <a:r>
                        <a:rPr lang="en-IN" sz="1100" dirty="0"/>
                        <a:t>Any Hardware</a:t>
                      </a:r>
                    </a:p>
                  </a:txBody>
                  <a:tcPr/>
                </a:tc>
                <a:tc>
                  <a:txBody>
                    <a:bodyPr/>
                    <a:lstStyle/>
                    <a:p>
                      <a:r>
                        <a:rPr lang="en-IN" sz="1100" dirty="0"/>
                        <a:t>Any Hardware</a:t>
                      </a:r>
                    </a:p>
                  </a:txBody>
                  <a:tcPr/>
                </a:tc>
                <a:extLst>
                  <a:ext uri="{0D108BD9-81ED-4DB2-BD59-A6C34878D82A}">
                    <a16:rowId xmlns:a16="http://schemas.microsoft.com/office/drawing/2014/main" xmlns="" val="10003"/>
                  </a:ext>
                </a:extLst>
              </a:tr>
              <a:tr h="370840">
                <a:tc>
                  <a:txBody>
                    <a:bodyPr/>
                    <a:lstStyle/>
                    <a:p>
                      <a:r>
                        <a:rPr lang="en-IN" dirty="0"/>
                        <a:t>Performance</a:t>
                      </a:r>
                    </a:p>
                  </a:txBody>
                  <a:tcPr/>
                </a:tc>
                <a:tc>
                  <a:txBody>
                    <a:bodyPr/>
                    <a:lstStyle/>
                    <a:p>
                      <a:r>
                        <a:rPr lang="en-IN" sz="1100" dirty="0"/>
                        <a:t>Slow( too many apps running)</a:t>
                      </a:r>
                    </a:p>
                  </a:txBody>
                  <a:tcPr/>
                </a:tc>
                <a:tc>
                  <a:txBody>
                    <a:bodyPr/>
                    <a:lstStyle/>
                    <a:p>
                      <a:r>
                        <a:rPr lang="en-IN" sz="1100" dirty="0"/>
                        <a:t>Slow </a:t>
                      </a:r>
                    </a:p>
                  </a:txBody>
                  <a:tcPr/>
                </a:tc>
                <a:tc>
                  <a:txBody>
                    <a:bodyPr/>
                    <a:lstStyle/>
                    <a:p>
                      <a:r>
                        <a:rPr lang="en-IN" sz="1100" dirty="0"/>
                        <a:t>Fast</a:t>
                      </a:r>
                    </a:p>
                  </a:txBody>
                  <a:tcPr/>
                </a:tc>
                <a:tc>
                  <a:txBody>
                    <a:bodyPr/>
                    <a:lstStyle/>
                    <a:p>
                      <a:r>
                        <a:rPr lang="en-IN" sz="1100" dirty="0"/>
                        <a:t>Fastest (z/OS gets extra points for being more scalable. Want to double your transaction throughput? Ask your IBM engineer to switch on more processors and you're away. Nothing else to do. A similar exercise with a UNIX environment will usually involve adding a few more UNIX servers to your cluster.)</a:t>
                      </a:r>
                    </a:p>
                  </a:txBody>
                  <a:tcPr/>
                </a:tc>
                <a:extLst>
                  <a:ext uri="{0D108BD9-81ED-4DB2-BD59-A6C34878D82A}">
                    <a16:rowId xmlns:a16="http://schemas.microsoft.com/office/drawing/2014/main" xmlns="" val="10004"/>
                  </a:ext>
                </a:extLst>
              </a:tr>
              <a:tr h="370840">
                <a:tc>
                  <a:txBody>
                    <a:bodyPr/>
                    <a:lstStyle/>
                    <a:p>
                      <a:r>
                        <a:rPr lang="en-IN" dirty="0"/>
                        <a:t>Reliability</a:t>
                      </a:r>
                    </a:p>
                  </a:txBody>
                  <a:tcPr/>
                </a:tc>
                <a:tc>
                  <a:txBody>
                    <a:bodyPr/>
                    <a:lstStyle/>
                    <a:p>
                      <a:r>
                        <a:rPr lang="en-IN" sz="1100" dirty="0"/>
                        <a:t>Relatively Stable</a:t>
                      </a:r>
                      <a:r>
                        <a:rPr lang="en-IN" sz="1100" baseline="0" dirty="0"/>
                        <a:t> because the application needs to be secure on a regular basis.</a:t>
                      </a:r>
                    </a:p>
                  </a:txBody>
                  <a:tcPr/>
                </a:tc>
                <a:tc>
                  <a:txBody>
                    <a:bodyPr/>
                    <a:lstStyle/>
                    <a:p>
                      <a:r>
                        <a:rPr lang="en-IN" sz="1100" dirty="0"/>
                        <a:t>Better than Win,</a:t>
                      </a:r>
                      <a:r>
                        <a:rPr lang="en-IN" sz="1100" baseline="0" dirty="0"/>
                        <a:t> because of its restriction on hardware. Still apps needs to be updated</a:t>
                      </a:r>
                      <a:endParaRPr lang="en-IN" sz="1100" dirty="0"/>
                    </a:p>
                  </a:txBody>
                  <a:tcPr/>
                </a:tc>
                <a:tc>
                  <a:txBody>
                    <a:bodyPr/>
                    <a:lstStyle/>
                    <a:p>
                      <a:r>
                        <a:rPr lang="en-IN" sz="1100" dirty="0"/>
                        <a:t>Stable,</a:t>
                      </a:r>
                      <a:r>
                        <a:rPr lang="en-IN" sz="1100" baseline="0" dirty="0"/>
                        <a:t> not too many apps running.</a:t>
                      </a:r>
                      <a:endParaRPr lang="en-IN" sz="1100" dirty="0"/>
                    </a:p>
                  </a:txBody>
                  <a:tcPr/>
                </a:tc>
                <a:tc>
                  <a:txBody>
                    <a:bodyPr/>
                    <a:lstStyle/>
                    <a:p>
                      <a:r>
                        <a:rPr lang="en-IN" sz="1100" dirty="0"/>
                        <a:t>Highly stable.</a:t>
                      </a:r>
                      <a:r>
                        <a:rPr lang="en-IN" sz="1100" baseline="0" dirty="0"/>
                        <a:t> </a:t>
                      </a:r>
                      <a:r>
                        <a:rPr lang="en-IN" sz="1100" dirty="0"/>
                        <a:t>IBM proudly states that Mainframes can achieve “five nines” (99.999%) availability, or around 5 minutes unscheduled and scheduled downtime per year.</a:t>
                      </a:r>
                    </a:p>
                  </a:txBody>
                  <a:tcPr/>
                </a:tc>
                <a:extLst>
                  <a:ext uri="{0D108BD9-81ED-4DB2-BD59-A6C34878D82A}">
                    <a16:rowId xmlns:a16="http://schemas.microsoft.com/office/drawing/2014/main" xmlns="" val="10005"/>
                  </a:ext>
                </a:extLst>
              </a:tr>
              <a:tr h="370840">
                <a:tc>
                  <a:txBody>
                    <a:bodyPr/>
                    <a:lstStyle/>
                    <a:p>
                      <a:r>
                        <a:rPr lang="en-IN" dirty="0"/>
                        <a:t>Cost</a:t>
                      </a:r>
                    </a:p>
                  </a:txBody>
                  <a:tcPr/>
                </a:tc>
                <a:tc>
                  <a:txBody>
                    <a:bodyPr/>
                    <a:lstStyle/>
                    <a:p>
                      <a:r>
                        <a:rPr lang="en-IN" sz="1100" baseline="0" dirty="0"/>
                        <a:t>Expensive</a:t>
                      </a:r>
                    </a:p>
                  </a:txBody>
                  <a:tcPr/>
                </a:tc>
                <a:tc>
                  <a:txBody>
                    <a:bodyPr/>
                    <a:lstStyle/>
                    <a:p>
                      <a:r>
                        <a:rPr lang="en-IN" sz="1100" dirty="0"/>
                        <a:t>Expensive</a:t>
                      </a:r>
                    </a:p>
                  </a:txBody>
                  <a:tcPr/>
                </a:tc>
                <a:tc>
                  <a:txBody>
                    <a:bodyPr/>
                    <a:lstStyle/>
                    <a:p>
                      <a:r>
                        <a:rPr lang="en-IN" sz="1100" dirty="0"/>
                        <a:t>Cheapest</a:t>
                      </a:r>
                    </a:p>
                  </a:txBody>
                  <a:tcPr/>
                </a:tc>
                <a:tc>
                  <a:txBody>
                    <a:bodyPr/>
                    <a:lstStyle/>
                    <a:p>
                      <a:r>
                        <a:rPr lang="en-IN" sz="1100" dirty="0"/>
                        <a:t>Most Expensive</a:t>
                      </a:r>
                    </a:p>
                  </a:txBody>
                  <a:tcPr/>
                </a:tc>
                <a:extLst>
                  <a:ext uri="{0D108BD9-81ED-4DB2-BD59-A6C34878D82A}">
                    <a16:rowId xmlns:a16="http://schemas.microsoft.com/office/drawing/2014/main" xmlns="" val="10006"/>
                  </a:ext>
                </a:extLst>
              </a:tr>
              <a:tr h="370840">
                <a:tc>
                  <a:txBody>
                    <a:bodyPr/>
                    <a:lstStyle/>
                    <a:p>
                      <a:r>
                        <a:rPr lang="en-IN" dirty="0"/>
                        <a:t>Customers</a:t>
                      </a:r>
                    </a:p>
                  </a:txBody>
                  <a:tcPr/>
                </a:tc>
                <a:tc>
                  <a:txBody>
                    <a:bodyPr/>
                    <a:lstStyle/>
                    <a:p>
                      <a:r>
                        <a:rPr lang="en-IN" sz="1100" baseline="0" dirty="0"/>
                        <a:t>Laptop and desktops</a:t>
                      </a:r>
                    </a:p>
                  </a:txBody>
                  <a:tcPr/>
                </a:tc>
                <a:tc>
                  <a:txBody>
                    <a:bodyPr/>
                    <a:lstStyle/>
                    <a:p>
                      <a:r>
                        <a:rPr lang="en-IN" sz="1100" dirty="0"/>
                        <a:t>Laptops</a:t>
                      </a:r>
                      <a:r>
                        <a:rPr lang="en-IN" sz="1100" baseline="0" dirty="0"/>
                        <a:t> and desktops</a:t>
                      </a:r>
                      <a:endParaRPr lang="en-IN" sz="1100" dirty="0"/>
                    </a:p>
                  </a:txBody>
                  <a:tcPr/>
                </a:tc>
                <a:tc>
                  <a:txBody>
                    <a:bodyPr/>
                    <a:lstStyle/>
                    <a:p>
                      <a:r>
                        <a:rPr lang="en-IN" sz="1100" dirty="0"/>
                        <a:t>smaller, less critical Mainframe application or servers</a:t>
                      </a:r>
                    </a:p>
                  </a:txBody>
                  <a:tcPr/>
                </a:tc>
                <a:tc>
                  <a:txBody>
                    <a:bodyPr/>
                    <a:lstStyle/>
                    <a:p>
                      <a:r>
                        <a:rPr lang="en-IN" sz="1100" dirty="0"/>
                        <a:t>If you have existing critical Mainframe applications, there are lots of reasons to keep them going. As far as security, reliability and the ability to handle lots of transactions, nothing beats z/OS.</a:t>
                      </a:r>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75595972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a:t>
            </a:r>
            <a:r>
              <a:rPr lang="en-IN" dirty="0"/>
              <a:t>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p:cNvSpPr txBox="1"/>
          <p:nvPr/>
        </p:nvSpPr>
        <p:spPr bwMode="gray">
          <a:xfrm>
            <a:off x="718481" y="1229111"/>
            <a:ext cx="10698416" cy="2052042"/>
          </a:xfrm>
          <a:prstGeom prst="rect">
            <a:avLst/>
          </a:prstGeom>
          <a:solidFill>
            <a:srgbClr val="FFFF00"/>
          </a:solidFill>
        </p:spPr>
        <p:txBody>
          <a:bodyPr vert="horz" wrap="square" lIns="91440" tIns="45720" rIns="91440" bIns="45720" rtlCol="0" anchor="ctr">
            <a:noAutofit/>
          </a:bodyPr>
          <a:lstStyle/>
          <a:p>
            <a:r>
              <a:rPr lang="en-IN" sz="2800" b="1" dirty="0"/>
              <a:t>IBM</a:t>
            </a:r>
            <a:r>
              <a:rPr lang="en-IN" sz="2800" dirty="0"/>
              <a:t> choose </a:t>
            </a:r>
            <a:r>
              <a:rPr lang="en-IN" sz="2800" b="1" dirty="0"/>
              <a:t>Linux</a:t>
            </a:r>
            <a:r>
              <a:rPr lang="en-IN" sz="2800" dirty="0"/>
              <a:t> for what is expected to be </a:t>
            </a:r>
            <a:r>
              <a:rPr lang="en-IN" sz="2800" dirty="0" smtClean="0"/>
              <a:t>then </a:t>
            </a:r>
            <a:r>
              <a:rPr lang="en-IN" sz="2800" dirty="0"/>
              <a:t>world’s most powerful supercomputer, </a:t>
            </a:r>
            <a:r>
              <a:rPr lang="en-IN" sz="2800" b="1" dirty="0"/>
              <a:t>Sequoia</a:t>
            </a:r>
            <a:r>
              <a:rPr lang="en-IN" sz="2800" dirty="0"/>
              <a:t>, due in </a:t>
            </a:r>
            <a:r>
              <a:rPr lang="en-IN" sz="2800" b="1" dirty="0"/>
              <a:t>2011</a:t>
            </a:r>
            <a:endParaRPr lang="en-IN" sz="2800" dirty="0">
              <a:latin typeface="Berlin Sans FB Demi" panose="020E0802020502020306" pitchFamily="34" charset="0"/>
            </a:endParaRPr>
          </a:p>
        </p:txBody>
      </p:sp>
      <p:pic>
        <p:nvPicPr>
          <p:cNvPr id="17410" name="Picture 2" descr="https://www.top500.org/static/media/uploads/featured/top-systems/sequoia-lawrence-livermore-national-laboratory/Sequoia_LeftSideFinal_0013_800x6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080" y="3381976"/>
            <a:ext cx="5110480" cy="3200438"/>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https://asc.llnl.gov/content/assets/images/sequoia-log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0039" y="4131071"/>
            <a:ext cx="1584340" cy="1674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617155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p:cNvSpPr txBox="1"/>
          <p:nvPr/>
        </p:nvSpPr>
        <p:spPr bwMode="gray">
          <a:xfrm>
            <a:off x="528357" y="1368319"/>
            <a:ext cx="11113180" cy="1656928"/>
          </a:xfrm>
          <a:prstGeom prst="rect">
            <a:avLst/>
          </a:prstGeom>
          <a:solidFill>
            <a:srgbClr val="FFFF00"/>
          </a:solidFill>
        </p:spPr>
        <p:txBody>
          <a:bodyPr vert="horz" wrap="square" lIns="91440" tIns="45720" rIns="91440" bIns="45720" rtlCol="0" anchor="ctr">
            <a:noAutofit/>
          </a:bodyPr>
          <a:lstStyle/>
          <a:p>
            <a:r>
              <a:rPr lang="en-IN" sz="2800" b="1" dirty="0"/>
              <a:t>Linux</a:t>
            </a:r>
            <a:r>
              <a:rPr lang="en-IN" sz="2800" dirty="0"/>
              <a:t> has a strong following in </a:t>
            </a:r>
            <a:r>
              <a:rPr lang="en-IN" sz="2800" b="1" dirty="0"/>
              <a:t>Smart Phones</a:t>
            </a:r>
            <a:r>
              <a:rPr lang="en-IN" sz="2800" dirty="0"/>
              <a:t> – </a:t>
            </a:r>
            <a:r>
              <a:rPr lang="en-IN" sz="2800" b="1" dirty="0"/>
              <a:t>Palm’s </a:t>
            </a:r>
            <a:r>
              <a:rPr lang="en-IN" sz="2800" b="1" dirty="0" err="1"/>
              <a:t>WebOS</a:t>
            </a:r>
            <a:r>
              <a:rPr lang="en-IN" sz="2800" dirty="0"/>
              <a:t>, </a:t>
            </a:r>
            <a:r>
              <a:rPr lang="en-IN" sz="2800" b="1" dirty="0"/>
              <a:t>Google’s Android</a:t>
            </a:r>
            <a:r>
              <a:rPr lang="en-IN" sz="2800" dirty="0"/>
              <a:t> and </a:t>
            </a:r>
            <a:r>
              <a:rPr lang="en-IN" sz="2800" b="1" dirty="0"/>
              <a:t>Nokia’s </a:t>
            </a:r>
            <a:r>
              <a:rPr lang="en-IN" sz="2800" b="1" dirty="0" err="1"/>
              <a:t>Maemo</a:t>
            </a:r>
            <a:r>
              <a:rPr lang="en-IN" sz="2800" dirty="0"/>
              <a:t> smart phone operating systems are built on top of the </a:t>
            </a:r>
            <a:r>
              <a:rPr lang="en-IN" sz="2800" b="1" dirty="0"/>
              <a:t>Linux</a:t>
            </a:r>
            <a:r>
              <a:rPr lang="en-IN" sz="2800" dirty="0"/>
              <a:t> kernel. Check Symbian and iOS</a:t>
            </a:r>
            <a:endParaRPr lang="en-IN" sz="2800" dirty="0">
              <a:latin typeface="Berlin Sans FB Demi" panose="020E0802020502020306" pitchFamily="34" charset="0"/>
            </a:endParaRPr>
          </a:p>
        </p:txBody>
      </p:sp>
      <p:pic>
        <p:nvPicPr>
          <p:cNvPr id="16386" name="Picture 2" descr="http://blog.rebelsimcard.com/wp-content/uploads/2010/08/palm-webo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84" y="3635982"/>
            <a:ext cx="3098405" cy="1859043"/>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ttp://www.freetelepromptersoftware.com/wp-content/uploads/2014/11/android-log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2144" y="3713526"/>
            <a:ext cx="2727133" cy="1988534"/>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http://s.mymaemo.com/ci/l/1059.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7810" y="3635982"/>
            <a:ext cx="2967187" cy="1682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4589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Shell Comparison</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13" name="Content Placeholder 12"/>
          <p:cNvGraphicFramePr>
            <a:graphicFrameLocks noGrp="1"/>
          </p:cNvGraphicFramePr>
          <p:nvPr>
            <p:ph idx="1"/>
            <p:extLst/>
          </p:nvPr>
        </p:nvGraphicFramePr>
        <p:xfrm>
          <a:off x="629986" y="1727198"/>
          <a:ext cx="11011552" cy="4358640"/>
        </p:xfrm>
        <a:graphic>
          <a:graphicData uri="http://schemas.openxmlformats.org/drawingml/2006/table">
            <a:tbl>
              <a:tblPr>
                <a:tableStyleId>{00A15C55-8517-42AA-B614-E9B94910E393}</a:tableStyleId>
              </a:tblPr>
              <a:tblGrid>
                <a:gridCol w="4926340">
                  <a:extLst>
                    <a:ext uri="{9D8B030D-6E8A-4147-A177-3AD203B41FA5}">
                      <a16:colId xmlns:a16="http://schemas.microsoft.com/office/drawing/2014/main" xmlns="" val="20000"/>
                    </a:ext>
                  </a:extLst>
                </a:gridCol>
                <a:gridCol w="1521303">
                  <a:extLst>
                    <a:ext uri="{9D8B030D-6E8A-4147-A177-3AD203B41FA5}">
                      <a16:colId xmlns:a16="http://schemas.microsoft.com/office/drawing/2014/main" xmlns="" val="20001"/>
                    </a:ext>
                  </a:extLst>
                </a:gridCol>
                <a:gridCol w="1521303">
                  <a:extLst>
                    <a:ext uri="{9D8B030D-6E8A-4147-A177-3AD203B41FA5}">
                      <a16:colId xmlns:a16="http://schemas.microsoft.com/office/drawing/2014/main" xmlns="" val="20002"/>
                    </a:ext>
                  </a:extLst>
                </a:gridCol>
                <a:gridCol w="1521303">
                  <a:extLst>
                    <a:ext uri="{9D8B030D-6E8A-4147-A177-3AD203B41FA5}">
                      <a16:colId xmlns:a16="http://schemas.microsoft.com/office/drawing/2014/main" xmlns="" val="20003"/>
                    </a:ext>
                  </a:extLst>
                </a:gridCol>
                <a:gridCol w="1521303">
                  <a:extLst>
                    <a:ext uri="{9D8B030D-6E8A-4147-A177-3AD203B41FA5}">
                      <a16:colId xmlns:a16="http://schemas.microsoft.com/office/drawing/2014/main" xmlns="" val="20004"/>
                    </a:ext>
                  </a:extLst>
                </a:gridCol>
              </a:tblGrid>
              <a:tr h="335280">
                <a:tc>
                  <a:txBody>
                    <a:bodyPr/>
                    <a:lstStyle/>
                    <a:p>
                      <a:pPr algn="l" fontAlgn="b"/>
                      <a:r>
                        <a:rPr lang="en-IN" sz="1600" b="1" u="none" strike="noStrike" dirty="0">
                          <a:effectLst/>
                        </a:rPr>
                        <a:t>Shell Features</a:t>
                      </a:r>
                      <a:endParaRPr lang="en-IN" sz="1600" b="1" i="0" u="none" strike="noStrike" dirty="0">
                        <a:solidFill>
                          <a:srgbClr val="FFFFFF"/>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err="1">
                          <a:effectLst/>
                        </a:rPr>
                        <a:t>sh</a:t>
                      </a:r>
                      <a:r>
                        <a:rPr lang="en-IN" sz="1600" b="1" u="none" strike="noStrike" dirty="0">
                          <a:effectLst/>
                        </a:rPr>
                        <a:t>   </a:t>
                      </a:r>
                      <a:endParaRPr lang="en-IN" sz="1600" b="1" i="0" u="none" strike="noStrike" dirty="0">
                        <a:solidFill>
                          <a:srgbClr val="FFFFFF"/>
                        </a:solidFill>
                        <a:effectLst/>
                        <a:latin typeface="Calibri" panose="020F0502020204030204" pitchFamily="34" charset="0"/>
                      </a:endParaRPr>
                    </a:p>
                  </a:txBody>
                  <a:tcPr marL="9525" marR="9525" marT="9525" marB="0" anchor="b"/>
                </a:tc>
                <a:tc>
                  <a:txBody>
                    <a:bodyPr/>
                    <a:lstStyle/>
                    <a:p>
                      <a:pPr algn="ctr" fontAlgn="b"/>
                      <a:r>
                        <a:rPr lang="en-IN" sz="1600" b="1" u="none" strike="noStrike">
                          <a:effectLst/>
                        </a:rPr>
                        <a:t>csh  </a:t>
                      </a:r>
                      <a:endParaRPr lang="en-IN" sz="1600" b="1" i="0" u="none" strike="noStrike">
                        <a:solidFill>
                          <a:srgbClr val="FFFFFF"/>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err="1">
                          <a:effectLst/>
                        </a:rPr>
                        <a:t>ksh</a:t>
                      </a:r>
                      <a:r>
                        <a:rPr lang="en-IN" sz="1600" b="1" u="none" strike="noStrike" dirty="0">
                          <a:effectLst/>
                        </a:rPr>
                        <a:t>  </a:t>
                      </a:r>
                      <a:endParaRPr lang="en-IN" sz="1600" b="1" i="0" u="none" strike="noStrike" dirty="0">
                        <a:solidFill>
                          <a:srgbClr val="FFFFFF"/>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a:effectLst/>
                        </a:rPr>
                        <a:t>bash </a:t>
                      </a:r>
                      <a:endParaRPr lang="en-IN" sz="1600" b="1" i="0" u="none" strike="noStrike" dirty="0">
                        <a:solidFill>
                          <a:srgbClr val="FFFFFF"/>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0"/>
                  </a:ext>
                </a:extLst>
              </a:tr>
              <a:tr h="335280">
                <a:tc>
                  <a:txBody>
                    <a:bodyPr/>
                    <a:lstStyle/>
                    <a:p>
                      <a:pPr algn="l" fontAlgn="b"/>
                      <a:r>
                        <a:rPr lang="en-IN" sz="1100" u="none" strike="noStrike" dirty="0">
                          <a:effectLst/>
                        </a:rPr>
                        <a:t>Job control                         </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1"/>
                  </a:ext>
                </a:extLst>
              </a:tr>
              <a:tr h="335280">
                <a:tc>
                  <a:txBody>
                    <a:bodyPr/>
                    <a:lstStyle/>
                    <a:p>
                      <a:pPr algn="l" fontAlgn="b"/>
                      <a:r>
                        <a:rPr lang="en-IN" sz="1100" u="none" strike="noStrike">
                          <a:effectLst/>
                        </a:rPr>
                        <a:t>Aliases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2"/>
                  </a:ext>
                </a:extLst>
              </a:tr>
              <a:tr h="335280">
                <a:tc>
                  <a:txBody>
                    <a:bodyPr/>
                    <a:lstStyle/>
                    <a:p>
                      <a:pPr algn="l" fontAlgn="b"/>
                      <a:r>
                        <a:rPr lang="en-IN" sz="1100" u="none" strike="noStrike" dirty="0">
                          <a:effectLst/>
                        </a:rPr>
                        <a:t>Shell functions                     </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dirty="0">
                          <a:effectLst/>
                        </a:rPr>
                        <a:t> Y</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3"/>
                  </a:ext>
                </a:extLst>
              </a:tr>
              <a:tr h="335280">
                <a:tc>
                  <a:txBody>
                    <a:bodyPr/>
                    <a:lstStyle/>
                    <a:p>
                      <a:pPr algn="l" fontAlgn="b"/>
                      <a:r>
                        <a:rPr lang="en-IN" sz="1100" u="none" strike="noStrike">
                          <a:effectLst/>
                        </a:rPr>
                        <a:t>Command history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4"/>
                  </a:ext>
                </a:extLst>
              </a:tr>
              <a:tr h="335280">
                <a:tc>
                  <a:txBody>
                    <a:bodyPr/>
                    <a:lstStyle/>
                    <a:p>
                      <a:pPr algn="l" fontAlgn="b"/>
                      <a:r>
                        <a:rPr lang="en-IN" sz="1100" u="none" strike="noStrike" dirty="0">
                          <a:effectLst/>
                        </a:rPr>
                        <a:t>Vi Command line editing             </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5"/>
                  </a:ext>
                </a:extLst>
              </a:tr>
              <a:tr h="335280">
                <a:tc>
                  <a:txBody>
                    <a:bodyPr/>
                    <a:lstStyle/>
                    <a:p>
                      <a:pPr algn="l" fontAlgn="b"/>
                      <a:r>
                        <a:rPr lang="en-IN" sz="1100" u="none" strike="noStrike">
                          <a:effectLst/>
                        </a:rPr>
                        <a:t>User name look up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6"/>
                  </a:ext>
                </a:extLst>
              </a:tr>
              <a:tr h="335280">
                <a:tc>
                  <a:txBody>
                    <a:bodyPr/>
                    <a:lstStyle/>
                    <a:p>
                      <a:pPr algn="l" fontAlgn="b"/>
                      <a:r>
                        <a:rPr lang="en-IN" sz="1100" u="none" strike="noStrike">
                          <a:effectLst/>
                        </a:rPr>
                        <a:t>Builtin artithmetic evaluation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7"/>
                  </a:ext>
                </a:extLst>
              </a:tr>
              <a:tr h="335280">
                <a:tc>
                  <a:txBody>
                    <a:bodyPr/>
                    <a:lstStyle/>
                    <a:p>
                      <a:pPr algn="l" fontAlgn="b"/>
                      <a:r>
                        <a:rPr lang="en-IN" sz="1100" u="none" strike="noStrike">
                          <a:effectLst/>
                        </a:rPr>
                        <a:t>Process Substitution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8"/>
                  </a:ext>
                </a:extLst>
              </a:tr>
              <a:tr h="335280">
                <a:tc>
                  <a:txBody>
                    <a:bodyPr/>
                    <a:lstStyle/>
                    <a:p>
                      <a:pPr algn="l" fontAlgn="b"/>
                      <a:r>
                        <a:rPr lang="en-IN" sz="1100" u="none" strike="noStrike">
                          <a:effectLst/>
                        </a:rPr>
                        <a:t>Freely Available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9"/>
                  </a:ext>
                </a:extLst>
              </a:tr>
              <a:tr h="335280">
                <a:tc>
                  <a:txBody>
                    <a:bodyPr/>
                    <a:lstStyle/>
                    <a:p>
                      <a:pPr algn="l" fontAlgn="b"/>
                      <a:r>
                        <a:rPr lang="en-IN" sz="1100" u="none" strike="noStrike">
                          <a:effectLst/>
                        </a:rPr>
                        <a:t>Can cope with large argument lists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10"/>
                  </a:ext>
                </a:extLst>
              </a:tr>
              <a:tr h="335280">
                <a:tc>
                  <a:txBody>
                    <a:bodyPr/>
                    <a:lstStyle/>
                    <a:p>
                      <a:pPr algn="l" fontAlgn="b"/>
                      <a:r>
                        <a:rPr lang="en-IN" sz="1100" u="none" strike="noStrike">
                          <a:effectLst/>
                        </a:rPr>
                        <a:t>Can specify startup file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11"/>
                  </a:ext>
                </a:extLst>
              </a:tr>
              <a:tr h="335280">
                <a:tc>
                  <a:txBody>
                    <a:bodyPr/>
                    <a:lstStyle/>
                    <a:p>
                      <a:pPr algn="l" fontAlgn="b"/>
                      <a:r>
                        <a:rPr lang="en-IN" sz="1100" u="none" strike="noStrike">
                          <a:effectLst/>
                        </a:rPr>
                        <a:t>Local variables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dirty="0">
                          <a:effectLst/>
                        </a:rPr>
                        <a:t> Y   </a:t>
                      </a:r>
                      <a:endParaRPr lang="en-IN"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12"/>
                  </a:ext>
                </a:extLst>
              </a:tr>
            </a:tbl>
          </a:graphicData>
        </a:graphic>
      </p:graphicFrame>
    </p:spTree>
    <p:extLst>
      <p:ext uri="{BB962C8B-B14F-4D97-AF65-F5344CB8AC3E}">
        <p14:creationId xmlns:p14="http://schemas.microsoft.com/office/powerpoint/2010/main" val="33979841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Custom 2">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0A3F60"/>
      </a:hlink>
      <a:folHlink>
        <a:srgbClr val="062A4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txDef>
      <a:spPr bwMode="gray"/>
      <a:bodyPr vert="horz" lIns="91440" tIns="45720" rIns="91440" bIns="45720" rtlCol="0" anchor="ctr">
        <a:noAutofit/>
      </a:bodyPr>
      <a:lstStyle>
        <a:defPPr>
          <a:defRPr sz="2000" dirty="0" smtClean="0"/>
        </a:defPPr>
      </a:lstStyle>
    </a:txDef>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5891</TotalTime>
  <Words>2918</Words>
  <Application>Microsoft Office PowerPoint</Application>
  <PresentationFormat>Widescreen</PresentationFormat>
  <Paragraphs>478</Paragraphs>
  <Slides>39</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Andalus</vt:lpstr>
      <vt:lpstr>Arial</vt:lpstr>
      <vt:lpstr>Berlin Sans FB Demi</vt:lpstr>
      <vt:lpstr>Calibri</vt:lpstr>
      <vt:lpstr>Century Gothic</vt:lpstr>
      <vt:lpstr>Times New Roman</vt:lpstr>
      <vt:lpstr>Wingdings 3</vt:lpstr>
      <vt:lpstr>Ion Boardroom</vt:lpstr>
      <vt:lpstr> </vt:lpstr>
      <vt:lpstr>PowerPoint Presentation</vt:lpstr>
      <vt:lpstr>What is an OS &amp; why do we need OS?</vt:lpstr>
      <vt:lpstr>Different types of OS</vt:lpstr>
      <vt:lpstr>Quiz Time</vt:lpstr>
      <vt:lpstr>PowerPoint Presentation</vt:lpstr>
      <vt:lpstr>Why Unix?</vt:lpstr>
      <vt:lpstr>Unix is Everywhere!!!</vt:lpstr>
      <vt:lpstr>Quiz Time</vt:lpstr>
      <vt:lpstr>Unix   Facts</vt:lpstr>
      <vt:lpstr>PowerPoint Presentation</vt:lpstr>
      <vt:lpstr>History of Unix?</vt:lpstr>
      <vt:lpstr>Different Flavours of Unix</vt:lpstr>
      <vt:lpstr>Different Flavours of Unix contd…</vt:lpstr>
      <vt:lpstr>Quiz Time</vt:lpstr>
      <vt:lpstr>Unix   Facts</vt:lpstr>
      <vt:lpstr>Unix System Architecture</vt:lpstr>
      <vt:lpstr>Quiz Time</vt:lpstr>
      <vt:lpstr>Unix   Facts</vt:lpstr>
      <vt:lpstr>Kernel</vt:lpstr>
      <vt:lpstr>Shell</vt:lpstr>
      <vt:lpstr>Unix File System</vt:lpstr>
      <vt:lpstr>Unix   Facts</vt:lpstr>
      <vt:lpstr>File Types</vt:lpstr>
      <vt:lpstr>Create &amp; Save file - Vi Editor</vt:lpstr>
      <vt:lpstr>Linux Facts</vt:lpstr>
      <vt:lpstr>PowerPoint Presentation</vt:lpstr>
      <vt:lpstr>Quiz Time</vt:lpstr>
      <vt:lpstr>Commands – UNIX Log In and Out Commands </vt:lpstr>
      <vt:lpstr>Commands – UNIX Information Command</vt:lpstr>
      <vt:lpstr>Commands – UNIX Directory Commands</vt:lpstr>
      <vt:lpstr>Commands – UNIX File Commands</vt:lpstr>
      <vt:lpstr>Commands – UNIX Process Commands</vt:lpstr>
      <vt:lpstr>PowerPoint Presentation</vt:lpstr>
      <vt:lpstr>PowerPoint Presentation</vt:lpstr>
      <vt:lpstr>Different types of OS ?</vt:lpstr>
      <vt:lpstr>Unix   Facts</vt:lpstr>
      <vt:lpstr>Linux Facts</vt:lpstr>
      <vt:lpstr>Shell Comparison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AIA Analytics Deliverables and Timelines</dc:title>
  <dc:creator>Chitra Chatterjee</dc:creator>
  <cp:lastModifiedBy>Venkatesh Varambally</cp:lastModifiedBy>
  <cp:revision>470</cp:revision>
  <dcterms:created xsi:type="dcterms:W3CDTF">2015-08-17T07:42:22Z</dcterms:created>
  <dcterms:modified xsi:type="dcterms:W3CDTF">2016-07-22T09:12:22Z</dcterms:modified>
</cp:coreProperties>
</file>
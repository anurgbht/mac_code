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320" r:id="rId3"/>
    <p:sldId id="319" r:id="rId4"/>
    <p:sldId id="344" r:id="rId5"/>
    <p:sldId id="346" r:id="rId6"/>
    <p:sldId id="345" r:id="rId7"/>
    <p:sldId id="347" r:id="rId8"/>
    <p:sldId id="348" r:id="rId9"/>
    <p:sldId id="349" r:id="rId10"/>
    <p:sldId id="350" r:id="rId11"/>
    <p:sldId id="352" r:id="rId12"/>
    <p:sldId id="353" r:id="rId13"/>
    <p:sldId id="354" r:id="rId14"/>
    <p:sldId id="355" r:id="rId15"/>
    <p:sldId id="356" r:id="rId16"/>
    <p:sldId id="342" r:id="rId17"/>
    <p:sldId id="357" r:id="rId18"/>
    <p:sldId id="35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10" d="100"/>
          <a:sy n="110" d="100"/>
        </p:scale>
        <p:origin x="630" y="10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19-07-2016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7/19/2016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7/19/2016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7/19/2016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7/19/2016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7/19/2016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7/19/2016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7/19/2016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7/19/2016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7/19/2016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7/19/2016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19-07-2016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7/19/2016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Computer_program"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r>
              <a:rPr lang="en-US" sz="4000" b="1" dirty="0">
                <a:solidFill>
                  <a:prstClr val="black"/>
                </a:solidFill>
              </a:rPr>
              <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OS?</a:t>
            </a:r>
          </a:p>
        </p:txBody>
      </p:sp>
    </p:spTree>
    <p:extLst>
      <p:ext uri="{BB962C8B-B14F-4D97-AF65-F5344CB8AC3E}">
        <p14:creationId xmlns:p14="http://schemas.microsoft.com/office/powerpoint/2010/main" val="5298808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t>
            </a:r>
            <a:r>
              <a:rPr lang="en-IN" dirty="0" smtClean="0"/>
              <a:t>&amp; why do we need OS?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6"/>
            <a:ext cx="10380374" cy="2979523"/>
          </a:xfrm>
        </p:spPr>
        <p:txBody>
          <a:bodyPr/>
          <a:lstStyle/>
          <a:p>
            <a:r>
              <a:rPr lang="en-IN" dirty="0"/>
              <a:t>The operating system (OS) is the most important program that runs on a computer. 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pic>
        <p:nvPicPr>
          <p:cNvPr id="1026" name="Picture 2" descr="http://static.topyaps.com/wp-content/uploads/2013/04/operating_system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14194625"/>
              </p:ext>
            </p:extLst>
          </p:nvPr>
        </p:nvGraphicFramePr>
        <p:xfrm>
          <a:off x="462819" y="1799448"/>
          <a:ext cx="11244255" cy="4135120"/>
        </p:xfrm>
        <a:graphic>
          <a:graphicData uri="http://schemas.openxmlformats.org/drawingml/2006/table">
            <a:tbl>
              <a:tblPr firstRow="1" bandRow="1">
                <a:tableStyleId>{5C22544A-7EE6-4342-B048-85BDC9FD1C3A}</a:tableStyleId>
              </a:tblPr>
              <a:tblGrid>
                <a:gridCol w="2231069"/>
                <a:gridCol w="2231069"/>
                <a:gridCol w="2231069"/>
                <a:gridCol w="1386117"/>
                <a:gridCol w="3164931"/>
              </a:tblGrid>
              <a:tr h="0">
                <a:tc>
                  <a:txBody>
                    <a:bodyPr/>
                    <a:lstStyle/>
                    <a:p>
                      <a:r>
                        <a:rPr lang="en-IN" dirty="0" smtClean="0"/>
                        <a:t>Quality</a:t>
                      </a:r>
                      <a:endParaRPr lang="en-IN" dirty="0"/>
                    </a:p>
                  </a:txBody>
                  <a:tcPr/>
                </a:tc>
                <a:tc>
                  <a:txBody>
                    <a:bodyPr/>
                    <a:lstStyle/>
                    <a:p>
                      <a:r>
                        <a:rPr lang="en-IN" dirty="0" smtClean="0"/>
                        <a:t>Windows</a:t>
                      </a:r>
                      <a:endParaRPr lang="en-IN" dirty="0"/>
                    </a:p>
                  </a:txBody>
                  <a:tcPr/>
                </a:tc>
                <a:tc>
                  <a:txBody>
                    <a:bodyPr/>
                    <a:lstStyle/>
                    <a:p>
                      <a:r>
                        <a:rPr lang="en-IN" dirty="0" smtClean="0"/>
                        <a:t>Mac</a:t>
                      </a:r>
                      <a:endParaRPr lang="en-IN" dirty="0"/>
                    </a:p>
                  </a:txBody>
                  <a:tcPr/>
                </a:tc>
                <a:tc>
                  <a:txBody>
                    <a:bodyPr/>
                    <a:lstStyle/>
                    <a:p>
                      <a:r>
                        <a:rPr lang="en-IN" dirty="0" smtClean="0"/>
                        <a:t>Unix</a:t>
                      </a:r>
                      <a:r>
                        <a:rPr lang="en-IN" baseline="0" dirty="0" smtClean="0"/>
                        <a:t> </a:t>
                      </a:r>
                      <a:endParaRPr lang="en-IN" dirty="0"/>
                    </a:p>
                  </a:txBody>
                  <a:tcPr/>
                </a:tc>
                <a:tc>
                  <a:txBody>
                    <a:bodyPr/>
                    <a:lstStyle/>
                    <a:p>
                      <a:r>
                        <a:rPr lang="en-IN" dirty="0" smtClean="0"/>
                        <a:t>z/OS</a:t>
                      </a:r>
                      <a:endParaRPr lang="en-IN" dirty="0"/>
                    </a:p>
                  </a:txBody>
                  <a:tcPr/>
                </a:tc>
              </a:tr>
              <a:tr h="370840">
                <a:tc>
                  <a:txBody>
                    <a:bodyPr/>
                    <a:lstStyle/>
                    <a:p>
                      <a:r>
                        <a:rPr lang="en-IN" dirty="0" smtClean="0"/>
                        <a:t>User Interface</a:t>
                      </a:r>
                      <a:endParaRPr lang="en-IN" dirty="0"/>
                    </a:p>
                  </a:txBody>
                  <a:tcPr/>
                </a:tc>
                <a:tc>
                  <a:txBody>
                    <a:bodyPr/>
                    <a:lstStyle/>
                    <a:p>
                      <a:r>
                        <a:rPr lang="en-IN" sz="1100" dirty="0" smtClean="0"/>
                        <a:t>Excellent ( Easy to</a:t>
                      </a:r>
                      <a:r>
                        <a:rPr lang="en-IN" sz="1100" baseline="0" dirty="0" smtClean="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smtClean="0"/>
                        <a:t>Excellent( Easy to</a:t>
                      </a:r>
                      <a:r>
                        <a:rPr lang="en-IN" sz="1100" baseline="0" dirty="0" smtClean="0"/>
                        <a:t> understand)</a:t>
                      </a:r>
                      <a:endParaRPr lang="en-IN" sz="1100" dirty="0" smtClean="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smtClean="0"/>
                        <a:t>Good (Needs</a:t>
                      </a:r>
                      <a:r>
                        <a:rPr lang="en-IN" sz="1100" baseline="0" dirty="0" smtClean="0"/>
                        <a:t> some practice </a:t>
                      </a:r>
                      <a:r>
                        <a:rPr lang="en-IN" sz="1100" dirty="0" smtClean="0"/>
                        <a:t>to</a:t>
                      </a:r>
                      <a:r>
                        <a:rPr lang="en-IN" sz="1100" baseline="0" dirty="0" smtClean="0"/>
                        <a:t> understand)</a:t>
                      </a:r>
                      <a:endParaRPr lang="en-IN" sz="1100" dirty="0" smtClean="0"/>
                    </a:p>
                    <a:p>
                      <a:endParaRPr lang="en-IN" sz="1100" dirty="0"/>
                    </a:p>
                  </a:txBody>
                  <a:tcPr/>
                </a:tc>
                <a:tc>
                  <a:txBody>
                    <a:bodyPr/>
                    <a:lstStyle/>
                    <a:p>
                      <a:r>
                        <a:rPr lang="en-IN" sz="1100" dirty="0" smtClean="0">
                          <a:solidFill>
                            <a:schemeClr val="tx1"/>
                          </a:solidFill>
                        </a:rPr>
                        <a:t>Medium ( Very difficult</a:t>
                      </a:r>
                      <a:r>
                        <a:rPr lang="en-IN" sz="1100" baseline="0" dirty="0" smtClean="0">
                          <a:solidFill>
                            <a:schemeClr val="tx1"/>
                          </a:solidFill>
                        </a:rPr>
                        <a:t> )</a:t>
                      </a:r>
                      <a:endParaRPr lang="en-IN" sz="1100" dirty="0">
                        <a:solidFill>
                          <a:schemeClr val="tx1"/>
                        </a:solidFill>
                      </a:endParaRPr>
                    </a:p>
                  </a:txBody>
                  <a:tcPr/>
                </a:tc>
              </a:tr>
              <a:tr h="370840">
                <a:tc>
                  <a:txBody>
                    <a:bodyPr/>
                    <a:lstStyle/>
                    <a:p>
                      <a:r>
                        <a:rPr lang="en-IN" dirty="0" smtClean="0"/>
                        <a:t>Security</a:t>
                      </a:r>
                      <a:endParaRPr lang="en-IN" dirty="0"/>
                    </a:p>
                  </a:txBody>
                  <a:tcPr/>
                </a:tc>
                <a:tc>
                  <a:txBody>
                    <a:bodyPr/>
                    <a:lstStyle/>
                    <a:p>
                      <a:r>
                        <a:rPr lang="en-IN" sz="1100" dirty="0" smtClean="0"/>
                        <a:t>Moderate</a:t>
                      </a:r>
                      <a:endParaRPr lang="en-IN" sz="1100" dirty="0"/>
                    </a:p>
                  </a:txBody>
                  <a:tcPr/>
                </a:tc>
                <a:tc>
                  <a:txBody>
                    <a:bodyPr/>
                    <a:lstStyle/>
                    <a:p>
                      <a:r>
                        <a:rPr lang="en-IN" sz="1100" dirty="0" smtClean="0"/>
                        <a:t>High</a:t>
                      </a:r>
                      <a:endParaRPr lang="en-IN" sz="1100" dirty="0"/>
                    </a:p>
                  </a:txBody>
                  <a:tcPr/>
                </a:tc>
                <a:tc>
                  <a:txBody>
                    <a:bodyPr/>
                    <a:lstStyle/>
                    <a:p>
                      <a:r>
                        <a:rPr lang="en-IN" sz="1100" dirty="0" smtClean="0"/>
                        <a:t>Highly</a:t>
                      </a:r>
                      <a:r>
                        <a:rPr lang="en-IN" sz="1100" baseline="0" dirty="0" smtClean="0"/>
                        <a:t> Secure</a:t>
                      </a:r>
                      <a:endParaRPr lang="en-IN" sz="1100" dirty="0"/>
                    </a:p>
                  </a:txBody>
                  <a:tcPr/>
                </a:tc>
                <a:tc>
                  <a:txBody>
                    <a:bodyPr/>
                    <a:lstStyle/>
                    <a:p>
                      <a:r>
                        <a:rPr lang="en-IN" sz="1100" dirty="0" smtClean="0"/>
                        <a:t>Highly Secure</a:t>
                      </a:r>
                      <a:endParaRPr lang="en-IN" sz="1100" dirty="0"/>
                    </a:p>
                  </a:txBody>
                  <a:tcPr/>
                </a:tc>
              </a:tr>
              <a:tr h="370840">
                <a:tc>
                  <a:txBody>
                    <a:bodyPr/>
                    <a:lstStyle/>
                    <a:p>
                      <a:r>
                        <a:rPr lang="en-IN" dirty="0" smtClean="0"/>
                        <a:t>Compatibility</a:t>
                      </a:r>
                      <a:endParaRPr lang="en-IN" dirty="0"/>
                    </a:p>
                  </a:txBody>
                  <a:tcPr/>
                </a:tc>
                <a:tc>
                  <a:txBody>
                    <a:bodyPr/>
                    <a:lstStyle/>
                    <a:p>
                      <a:r>
                        <a:rPr lang="en-IN" sz="1100" dirty="0" smtClean="0"/>
                        <a:t>Runs on any hardware</a:t>
                      </a:r>
                      <a:endParaRPr lang="en-IN" sz="1100" dirty="0"/>
                    </a:p>
                  </a:txBody>
                  <a:tcPr/>
                </a:tc>
                <a:tc>
                  <a:txBody>
                    <a:bodyPr/>
                    <a:lstStyle/>
                    <a:p>
                      <a:r>
                        <a:rPr lang="en-IN" sz="1100" dirty="0" smtClean="0"/>
                        <a:t>Runs only on Apple</a:t>
                      </a:r>
                      <a:endParaRPr lang="en-IN" sz="1100" dirty="0"/>
                    </a:p>
                  </a:txBody>
                  <a:tcPr/>
                </a:tc>
                <a:tc>
                  <a:txBody>
                    <a:bodyPr/>
                    <a:lstStyle/>
                    <a:p>
                      <a:r>
                        <a:rPr lang="en-IN" sz="1100" dirty="0" smtClean="0"/>
                        <a:t>Any Hardware</a:t>
                      </a:r>
                      <a:endParaRPr lang="en-IN" sz="1100" dirty="0"/>
                    </a:p>
                  </a:txBody>
                  <a:tcPr/>
                </a:tc>
                <a:tc>
                  <a:txBody>
                    <a:bodyPr/>
                    <a:lstStyle/>
                    <a:p>
                      <a:r>
                        <a:rPr lang="en-IN" sz="1100" dirty="0" smtClean="0"/>
                        <a:t>Any Hardware</a:t>
                      </a:r>
                      <a:endParaRPr lang="en-IN" sz="1100" dirty="0"/>
                    </a:p>
                  </a:txBody>
                  <a:tcPr/>
                </a:tc>
              </a:tr>
              <a:tr h="370840">
                <a:tc>
                  <a:txBody>
                    <a:bodyPr/>
                    <a:lstStyle/>
                    <a:p>
                      <a:r>
                        <a:rPr lang="en-IN" dirty="0" smtClean="0"/>
                        <a:t>Performance</a:t>
                      </a:r>
                      <a:endParaRPr lang="en-IN" dirty="0"/>
                    </a:p>
                  </a:txBody>
                  <a:tcPr/>
                </a:tc>
                <a:tc>
                  <a:txBody>
                    <a:bodyPr/>
                    <a:lstStyle/>
                    <a:p>
                      <a:r>
                        <a:rPr lang="en-IN" sz="1100" dirty="0" smtClean="0"/>
                        <a:t>Slow( too many apps running)</a:t>
                      </a:r>
                      <a:endParaRPr lang="en-IN" sz="1100" dirty="0"/>
                    </a:p>
                  </a:txBody>
                  <a:tcPr/>
                </a:tc>
                <a:tc>
                  <a:txBody>
                    <a:bodyPr/>
                    <a:lstStyle/>
                    <a:p>
                      <a:r>
                        <a:rPr lang="en-IN" sz="1100" dirty="0" smtClean="0"/>
                        <a:t>Slow </a:t>
                      </a:r>
                      <a:endParaRPr lang="en-IN" sz="1100" dirty="0"/>
                    </a:p>
                  </a:txBody>
                  <a:tcPr/>
                </a:tc>
                <a:tc>
                  <a:txBody>
                    <a:bodyPr/>
                    <a:lstStyle/>
                    <a:p>
                      <a:r>
                        <a:rPr lang="en-IN" sz="1100" dirty="0" smtClean="0"/>
                        <a:t>Fast</a:t>
                      </a:r>
                      <a:endParaRPr lang="en-IN" sz="1100" dirty="0"/>
                    </a:p>
                  </a:txBody>
                  <a:tcPr/>
                </a:tc>
                <a:tc>
                  <a:txBody>
                    <a:bodyPr/>
                    <a:lstStyle/>
                    <a:p>
                      <a:r>
                        <a:rPr lang="en-IN" sz="1100" dirty="0" smtClean="0"/>
                        <a:t>Fastest</a:t>
                      </a:r>
                      <a:endParaRPr lang="en-IN" sz="1100" dirty="0"/>
                    </a:p>
                  </a:txBody>
                  <a:tcPr/>
                </a:tc>
              </a:tr>
              <a:tr h="370840">
                <a:tc>
                  <a:txBody>
                    <a:bodyPr/>
                    <a:lstStyle/>
                    <a:p>
                      <a:r>
                        <a:rPr lang="en-IN" dirty="0" smtClean="0"/>
                        <a:t>Reliability</a:t>
                      </a:r>
                      <a:endParaRPr lang="en-IN" dirty="0"/>
                    </a:p>
                  </a:txBody>
                  <a:tcPr/>
                </a:tc>
                <a:tc>
                  <a:txBody>
                    <a:bodyPr/>
                    <a:lstStyle/>
                    <a:p>
                      <a:r>
                        <a:rPr lang="en-IN" sz="1100" dirty="0" smtClean="0"/>
                        <a:t>Relatively Stable</a:t>
                      </a:r>
                      <a:r>
                        <a:rPr lang="en-IN" sz="1100" baseline="0" dirty="0" smtClean="0"/>
                        <a:t> because the application needs to be secure on a regular basis.</a:t>
                      </a:r>
                    </a:p>
                  </a:txBody>
                  <a:tcPr/>
                </a:tc>
                <a:tc>
                  <a:txBody>
                    <a:bodyPr/>
                    <a:lstStyle/>
                    <a:p>
                      <a:r>
                        <a:rPr lang="en-IN" sz="1100" dirty="0" smtClean="0"/>
                        <a:t>Better than Win,</a:t>
                      </a:r>
                      <a:r>
                        <a:rPr lang="en-IN" sz="1100" baseline="0" dirty="0" smtClean="0"/>
                        <a:t> because of its restriction on hardware. Still apps needs to be updated</a:t>
                      </a:r>
                      <a:endParaRPr lang="en-IN" sz="1100" dirty="0"/>
                    </a:p>
                  </a:txBody>
                  <a:tcPr/>
                </a:tc>
                <a:tc>
                  <a:txBody>
                    <a:bodyPr/>
                    <a:lstStyle/>
                    <a:p>
                      <a:r>
                        <a:rPr lang="en-IN" sz="1100" dirty="0" smtClean="0"/>
                        <a:t>Stable,</a:t>
                      </a:r>
                      <a:r>
                        <a:rPr lang="en-IN" sz="1100" baseline="0" dirty="0" smtClean="0"/>
                        <a:t> not too many apps running.</a:t>
                      </a:r>
                      <a:endParaRPr lang="en-IN" sz="1100" dirty="0"/>
                    </a:p>
                  </a:txBody>
                  <a:tcPr/>
                </a:tc>
                <a:tc>
                  <a:txBody>
                    <a:bodyPr/>
                    <a:lstStyle/>
                    <a:p>
                      <a:r>
                        <a:rPr lang="en-IN" sz="1100" dirty="0" smtClean="0"/>
                        <a:t>Highly stable.</a:t>
                      </a:r>
                      <a:r>
                        <a:rPr lang="en-IN" sz="1100" baseline="0" dirty="0" smtClean="0"/>
                        <a:t> </a:t>
                      </a:r>
                      <a:endParaRPr lang="en-IN" sz="1100" dirty="0"/>
                    </a:p>
                  </a:txBody>
                  <a:tcPr/>
                </a:tc>
              </a:tr>
              <a:tr h="370840">
                <a:tc>
                  <a:txBody>
                    <a:bodyPr/>
                    <a:lstStyle/>
                    <a:p>
                      <a:r>
                        <a:rPr lang="en-IN" dirty="0" smtClean="0"/>
                        <a:t>Cost</a:t>
                      </a:r>
                      <a:endParaRPr lang="en-IN" dirty="0"/>
                    </a:p>
                  </a:txBody>
                  <a:tcPr/>
                </a:tc>
                <a:tc>
                  <a:txBody>
                    <a:bodyPr/>
                    <a:lstStyle/>
                    <a:p>
                      <a:r>
                        <a:rPr lang="en-IN" sz="1100" baseline="0" dirty="0" smtClean="0"/>
                        <a:t>Expensive</a:t>
                      </a:r>
                    </a:p>
                  </a:txBody>
                  <a:tcPr/>
                </a:tc>
                <a:tc>
                  <a:txBody>
                    <a:bodyPr/>
                    <a:lstStyle/>
                    <a:p>
                      <a:r>
                        <a:rPr lang="en-IN" sz="1100" dirty="0" smtClean="0"/>
                        <a:t>Expensive</a:t>
                      </a:r>
                      <a:endParaRPr lang="en-IN" sz="1100" dirty="0"/>
                    </a:p>
                  </a:txBody>
                  <a:tcPr/>
                </a:tc>
                <a:tc>
                  <a:txBody>
                    <a:bodyPr/>
                    <a:lstStyle/>
                    <a:p>
                      <a:r>
                        <a:rPr lang="en-IN" sz="1100" dirty="0" smtClean="0"/>
                        <a:t>Cheapest</a:t>
                      </a:r>
                      <a:endParaRPr lang="en-IN" sz="1100" dirty="0"/>
                    </a:p>
                  </a:txBody>
                  <a:tcPr/>
                </a:tc>
                <a:tc>
                  <a:txBody>
                    <a:bodyPr/>
                    <a:lstStyle/>
                    <a:p>
                      <a:r>
                        <a:rPr lang="en-IN" sz="1100" dirty="0" smtClean="0"/>
                        <a:t>Most Expensive</a:t>
                      </a:r>
                      <a:endParaRPr lang="en-IN" sz="1100" dirty="0"/>
                    </a:p>
                  </a:txBody>
                  <a:tcPr/>
                </a:tc>
              </a:tr>
              <a:tr h="370840">
                <a:tc>
                  <a:txBody>
                    <a:bodyPr/>
                    <a:lstStyle/>
                    <a:p>
                      <a:r>
                        <a:rPr lang="en-IN" dirty="0" smtClean="0"/>
                        <a:t>Machines/HW</a:t>
                      </a:r>
                      <a:endParaRPr lang="en-IN" dirty="0"/>
                    </a:p>
                  </a:txBody>
                  <a:tcPr/>
                </a:tc>
                <a:tc>
                  <a:txBody>
                    <a:bodyPr/>
                    <a:lstStyle/>
                    <a:p>
                      <a:r>
                        <a:rPr lang="en-IN" sz="1100" baseline="0" dirty="0" smtClean="0"/>
                        <a:t>Laptop and desktops</a:t>
                      </a:r>
                    </a:p>
                  </a:txBody>
                  <a:tcPr/>
                </a:tc>
                <a:tc>
                  <a:txBody>
                    <a:bodyPr/>
                    <a:lstStyle/>
                    <a:p>
                      <a:r>
                        <a:rPr lang="en-IN" sz="1100" dirty="0" smtClean="0"/>
                        <a:t>Laptops</a:t>
                      </a:r>
                      <a:r>
                        <a:rPr lang="en-IN" sz="1100" baseline="0" dirty="0" smtClean="0"/>
                        <a:t> and desktops</a:t>
                      </a:r>
                      <a:endParaRPr lang="en-IN" sz="1100" dirty="0"/>
                    </a:p>
                  </a:txBody>
                  <a:tcPr/>
                </a:tc>
                <a:tc>
                  <a:txBody>
                    <a:bodyPr/>
                    <a:lstStyle/>
                    <a:p>
                      <a:r>
                        <a:rPr lang="en-IN" sz="1100" dirty="0" smtClean="0"/>
                        <a:t>smaller, less critical Mainframe application or servers</a:t>
                      </a:r>
                      <a:endParaRPr lang="en-IN" sz="1100" dirty="0"/>
                    </a:p>
                  </a:txBody>
                  <a:tcPr/>
                </a:tc>
                <a:tc>
                  <a:txBody>
                    <a:bodyPr/>
                    <a:lstStyle/>
                    <a:p>
                      <a:r>
                        <a:rPr lang="en-IN" sz="1100" dirty="0" smtClean="0"/>
                        <a:t>Heavy</a:t>
                      </a:r>
                      <a:r>
                        <a:rPr lang="en-IN" sz="1100" baseline="0" dirty="0" smtClean="0"/>
                        <a:t> </a:t>
                      </a:r>
                      <a:r>
                        <a:rPr lang="en-IN" sz="1100" dirty="0" smtClean="0"/>
                        <a:t>Mainframe</a:t>
                      </a:r>
                      <a:r>
                        <a:rPr lang="en-IN" sz="1100" baseline="0" dirty="0" smtClean="0"/>
                        <a:t> server</a:t>
                      </a:r>
                      <a:r>
                        <a:rPr lang="en-IN" sz="1100" dirty="0" smtClean="0"/>
                        <a:t> applications.</a:t>
                      </a:r>
                      <a:endParaRPr lang="en-IN" sz="1100" dirty="0"/>
                    </a:p>
                  </a:txBody>
                  <a:tcPr/>
                </a:tc>
              </a:tr>
            </a:tbl>
          </a:graphicData>
        </a:graphic>
      </p:graphicFrame>
    </p:spTree>
    <p:extLst>
      <p:ext uri="{BB962C8B-B14F-4D97-AF65-F5344CB8AC3E}">
        <p14:creationId xmlns:p14="http://schemas.microsoft.com/office/powerpoint/2010/main" val="3176813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smtClean="0"/>
              <a:t>Written </a:t>
            </a:r>
            <a:r>
              <a:rPr lang="en-IN" dirty="0"/>
              <a:t>by </a:t>
            </a:r>
            <a:r>
              <a:rPr lang="en-IN" dirty="0" smtClean="0"/>
              <a:t>Ken Thompson </a:t>
            </a:r>
            <a:r>
              <a:rPr lang="en-IN" dirty="0"/>
              <a:t>and Dennis </a:t>
            </a:r>
            <a:r>
              <a:rPr lang="en-IN" dirty="0" smtClean="0"/>
              <a:t>Ritchie</a:t>
            </a:r>
          </a:p>
          <a:p>
            <a:r>
              <a:rPr lang="en-IN" dirty="0" smtClean="0"/>
              <a:t>Developed at Bell Laboratories, USA derived from </a:t>
            </a:r>
            <a:r>
              <a:rPr lang="en-IN" dirty="0"/>
              <a:t>M</a:t>
            </a:r>
            <a:r>
              <a:rPr lang="en-IN" dirty="0" smtClean="0"/>
              <a:t>ultics(1969)</a:t>
            </a:r>
          </a:p>
          <a:p>
            <a:r>
              <a:rPr lang="en-IN" dirty="0" smtClean="0"/>
              <a:t>Firstly developed in ‘B’ then rewritten in ‘C’</a:t>
            </a:r>
          </a:p>
          <a:p>
            <a:r>
              <a:rPr lang="en-IN" dirty="0" smtClean="0"/>
              <a:t>Two Flavours</a:t>
            </a:r>
          </a:p>
          <a:p>
            <a:pPr lvl="1"/>
            <a:r>
              <a:rPr lang="en-IN" dirty="0" smtClean="0"/>
              <a:t>System V ( Commercial run by AT&amp;T)</a:t>
            </a:r>
          </a:p>
          <a:p>
            <a:pPr lvl="1"/>
            <a:r>
              <a:rPr lang="en-IN" dirty="0" smtClean="0"/>
              <a:t>BSD (Educational, run by Bell Labs)</a:t>
            </a:r>
            <a:endParaRPr lang="en-US" dirty="0" smtClean="0"/>
          </a:p>
          <a:p>
            <a:r>
              <a:rPr lang="en-US" dirty="0" smtClean="0"/>
              <a:t>Recent Development are graphical interface</a:t>
            </a:r>
          </a:p>
          <a:p>
            <a:pPr lvl="1"/>
            <a:r>
              <a:rPr lang="en-US" dirty="0" smtClean="0"/>
              <a:t>Motif, X windows, open view </a:t>
            </a:r>
          </a:p>
          <a:p>
            <a:r>
              <a:rPr lang="en-US" dirty="0" smtClean="0"/>
              <a:t>Major Suppliers</a:t>
            </a:r>
          </a:p>
          <a:p>
            <a:pPr lvl="1"/>
            <a:r>
              <a:rPr lang="en-US" dirty="0" smtClean="0"/>
              <a:t>Sun, IBM, HP, DEC</a:t>
            </a:r>
          </a:p>
          <a:p>
            <a:r>
              <a:rPr lang="en-US" dirty="0" smtClean="0"/>
              <a:t>Free and open source Unix System is call Linux</a:t>
            </a:r>
          </a:p>
          <a:p>
            <a:pPr lvl="1"/>
            <a:r>
              <a:rPr lang="en-US" dirty="0" smtClean="0"/>
              <a:t>Ubuntu, </a:t>
            </a:r>
            <a:r>
              <a:rPr lang="en-US" dirty="0" err="1" smtClean="0"/>
              <a:t>Debian</a:t>
            </a:r>
            <a:r>
              <a:rPr lang="en-US" dirty="0" smtClean="0"/>
              <a:t>,</a:t>
            </a:r>
            <a:r>
              <a:rPr lang="en-US" dirty="0"/>
              <a:t> </a:t>
            </a:r>
            <a:r>
              <a:rPr lang="en-US" dirty="0" smtClean="0"/>
              <a:t>CentOS, Fedora, Red hat</a:t>
            </a:r>
            <a:r>
              <a:rPr lang="en-US" dirty="0"/>
              <a:t>, </a:t>
            </a:r>
          </a:p>
        </p:txBody>
      </p:sp>
    </p:spTree>
    <p:extLst>
      <p:ext uri="{BB962C8B-B14F-4D97-AF65-F5344CB8AC3E}">
        <p14:creationId xmlns:p14="http://schemas.microsoft.com/office/powerpoint/2010/main" val="2657346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smtClean="0"/>
              <a:t>free</a:t>
            </a:r>
          </a:p>
          <a:p>
            <a:r>
              <a:rPr lang="en-IN" dirty="0"/>
              <a:t>Configuration is </a:t>
            </a:r>
            <a:r>
              <a:rPr lang="en-IN" b="1" dirty="0"/>
              <a:t>simple</a:t>
            </a:r>
            <a:r>
              <a:rPr lang="en-IN" dirty="0"/>
              <a:t>. Another of Unix's big philosophies is that configuration files should be easy to maintain. </a:t>
            </a:r>
            <a:endParaRPr lang="en-IN" dirty="0" smtClean="0"/>
          </a:p>
          <a:p>
            <a:r>
              <a:rPr lang="en-IN" dirty="0"/>
              <a:t>Unix systems are </a:t>
            </a:r>
            <a:r>
              <a:rPr lang="en-IN" b="1" dirty="0"/>
              <a:t>easy to automate</a:t>
            </a:r>
            <a:r>
              <a:rPr lang="en-IN" dirty="0"/>
              <a:t>, and </a:t>
            </a:r>
            <a:r>
              <a:rPr lang="en-IN" b="1" dirty="0"/>
              <a:t>easy to program for</a:t>
            </a:r>
            <a:r>
              <a:rPr lang="en-IN" dirty="0"/>
              <a:t>. </a:t>
            </a:r>
            <a:endParaRPr lang="en-IN" dirty="0" smtClean="0"/>
          </a:p>
          <a:p>
            <a:r>
              <a:rPr lang="en-IN" dirty="0"/>
              <a:t>Uptime is much better on a Unix system than a Windows one</a:t>
            </a:r>
            <a:r>
              <a:rPr lang="en-IN" dirty="0" smtClean="0"/>
              <a:t>.</a:t>
            </a:r>
          </a:p>
          <a:p>
            <a:r>
              <a:rPr lang="en-IN" dirty="0"/>
              <a:t>Licensing is simple</a:t>
            </a:r>
            <a:r>
              <a:rPr lang="en-IN" dirty="0" smtClean="0"/>
              <a:t>.</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2" tooltip="Computer program"/>
              </a:rPr>
              <a:t>computer program</a:t>
            </a:r>
            <a:r>
              <a:rPr lang="en-IN" dirty="0"/>
              <a:t> that constitutes the central core of a computer's operating system. It has complete control over everything that occurs in the system</a:t>
            </a:r>
            <a:r>
              <a:rPr lang="en-IN" dirty="0" smtClean="0"/>
              <a:t>.</a:t>
            </a:r>
          </a:p>
          <a:p>
            <a:r>
              <a:rPr lang="en-IN" dirty="0"/>
              <a:t> </a:t>
            </a:r>
            <a:r>
              <a:rPr lang="en-IN" dirty="0" smtClean="0"/>
              <a:t>It </a:t>
            </a:r>
            <a:r>
              <a:rPr lang="en-IN" dirty="0"/>
              <a:t>is the first program loaded on </a:t>
            </a:r>
            <a:r>
              <a:rPr lang="en-IN" dirty="0" smtClean="0"/>
              <a:t>start-up, </a:t>
            </a:r>
            <a:r>
              <a:rPr lang="en-IN" dirty="0"/>
              <a:t>and then manages the remainder of the </a:t>
            </a:r>
            <a:r>
              <a:rPr lang="en-IN" dirty="0" smtClean="0"/>
              <a:t>start-up</a:t>
            </a:r>
            <a:endParaRPr lang="en-US" dirty="0"/>
          </a:p>
        </p:txBody>
      </p:sp>
      <p:pic>
        <p:nvPicPr>
          <p:cNvPr id="1026" name="Picture 2" descr="http://www.tutorialspoint.com/unix/images/unix_architect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5793" y="3135084"/>
            <a:ext cx="3242503" cy="32425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blog.digilentinc.com/wp-content/uploads/2015/05/1280px-Kernel_Layout.svg_.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23351" y="1448245"/>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a:t>
            </a:r>
            <a:r>
              <a:rPr lang="en-IN" dirty="0" smtClean="0"/>
              <a:t>he </a:t>
            </a:r>
            <a:r>
              <a:rPr lang="en-IN" b="1" dirty="0"/>
              <a:t>shell</a:t>
            </a:r>
            <a:r>
              <a:rPr lang="en-IN" dirty="0"/>
              <a:t> is a program that takes your commands from the keyboard and gives them to the operating system to perform</a:t>
            </a:r>
            <a:r>
              <a:rPr lang="en-IN" dirty="0" smtClean="0"/>
              <a:t>.</a:t>
            </a:r>
          </a:p>
          <a:p>
            <a:r>
              <a:rPr lang="en-IN" b="1" dirty="0"/>
              <a:t>Shell</a:t>
            </a:r>
            <a:r>
              <a:rPr lang="en-IN" dirty="0"/>
              <a:t> is a </a:t>
            </a:r>
            <a:r>
              <a:rPr lang="en-IN" b="1" dirty="0"/>
              <a:t>UNIX</a:t>
            </a:r>
            <a:r>
              <a:rPr lang="en-IN" dirty="0"/>
              <a:t> term for the interactive user interface with an operating </a:t>
            </a:r>
            <a:r>
              <a:rPr lang="en-IN" dirty="0" smtClean="0"/>
              <a:t>system also known as command line interface(CLI) </a:t>
            </a:r>
          </a:p>
          <a:p>
            <a:r>
              <a:rPr lang="en-IN" dirty="0" smtClean="0"/>
              <a:t>Examples- </a:t>
            </a:r>
            <a:r>
              <a:rPr lang="en-IN" dirty="0" err="1" smtClean="0"/>
              <a:t>sh</a:t>
            </a:r>
            <a:r>
              <a:rPr lang="en-IN" dirty="0" smtClean="0"/>
              <a:t>(Shell)</a:t>
            </a:r>
            <a:r>
              <a:rPr lang="en-IN" dirty="0" smtClean="0"/>
              <a:t>, bash(Bourne Again Shell), </a:t>
            </a:r>
            <a:r>
              <a:rPr lang="en-IN" dirty="0" err="1" smtClean="0"/>
              <a:t>ksh</a:t>
            </a:r>
            <a:r>
              <a:rPr lang="en-IN" dirty="0" smtClean="0"/>
              <a:t>(</a:t>
            </a:r>
            <a:r>
              <a:rPr lang="en-IN" dirty="0" err="1" smtClean="0"/>
              <a:t>Korne</a:t>
            </a:r>
            <a:r>
              <a:rPr lang="en-IN" dirty="0" smtClean="0"/>
              <a:t> Shell), </a:t>
            </a:r>
            <a:r>
              <a:rPr lang="en-IN" dirty="0" err="1" smtClean="0"/>
              <a:t>tcsh</a:t>
            </a:r>
            <a:r>
              <a:rPr lang="en-IN" dirty="0" smtClean="0"/>
              <a:t>, </a:t>
            </a:r>
            <a:r>
              <a:rPr lang="en-IN" dirty="0" err="1" smtClean="0"/>
              <a:t>zsh</a:t>
            </a:r>
            <a:r>
              <a:rPr lang="en-IN" dirty="0" smtClean="0"/>
              <a:t> etc..</a:t>
            </a:r>
            <a:endParaRPr lang="en-US" dirty="0"/>
          </a:p>
        </p:txBody>
      </p:sp>
      <p:pic>
        <p:nvPicPr>
          <p:cNvPr id="2052" name="Picture 4" descr="http://www.computerandyou.net/wp-content/uploads/2012/01/Terminal-icon-shell-linux-uni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a:t>
            </a:r>
            <a:r>
              <a:rPr lang="en-IN" dirty="0"/>
              <a:t>UNIX Log In and Out Commands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15204245"/>
              </p:ext>
            </p:extLst>
          </p:nvPr>
        </p:nvGraphicFramePr>
        <p:xfrm>
          <a:off x="775063" y="2290356"/>
          <a:ext cx="9483634" cy="3317964"/>
        </p:xfrm>
        <a:graphic>
          <a:graphicData uri="http://schemas.openxmlformats.org/drawingml/2006/table">
            <a:tbl>
              <a:tblPr firstRow="1" firstCol="1" bandRow="1">
                <a:tableStyleId>{5C22544A-7EE6-4342-B048-85BDC9FD1C3A}</a:tableStyleId>
              </a:tblPr>
              <a:tblGrid>
                <a:gridCol w="2292127"/>
                <a:gridCol w="7191507"/>
              </a:tblGrid>
              <a:tr h="520599">
                <a:tc>
                  <a:txBody>
                    <a:bodyPr/>
                    <a:lstStyle/>
                    <a:p>
                      <a:pPr>
                        <a:lnSpc>
                          <a:spcPct val="107000"/>
                        </a:lnSpc>
                        <a:spcAft>
                          <a:spcPts val="600"/>
                        </a:spcAft>
                      </a:pPr>
                      <a:r>
                        <a:rPr lang="en-IN" sz="1050">
                          <a:effectLst/>
                        </a:rPr>
                        <a:t>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Logout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bl>
          </a:graphicData>
        </a:graphic>
      </p:graphicFrame>
    </p:spTree>
    <p:extLst>
      <p:ext uri="{BB962C8B-B14F-4D97-AF65-F5344CB8AC3E}">
        <p14:creationId xmlns:p14="http://schemas.microsoft.com/office/powerpoint/2010/main" val="4174273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a:t>
            </a:r>
            <a:r>
              <a:rPr lang="en-IN" dirty="0"/>
              <a:t>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681793512"/>
              </p:ext>
            </p:extLst>
          </p:nvPr>
        </p:nvGraphicFramePr>
        <p:xfrm>
          <a:off x="528357" y="1799449"/>
          <a:ext cx="11113179" cy="3774626"/>
        </p:xfrm>
        <a:graphic>
          <a:graphicData uri="http://schemas.openxmlformats.org/drawingml/2006/table">
            <a:tbl>
              <a:tblPr firstRow="1" firstCol="1" bandRow="1">
                <a:tableStyleId>{5C22544A-7EE6-4342-B048-85BDC9FD1C3A}</a:tableStyleId>
              </a:tblPr>
              <a:tblGrid>
                <a:gridCol w="3070720"/>
                <a:gridCol w="8042459"/>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bl>
          </a:graphicData>
        </a:graphic>
      </p:graphicFrame>
    </p:spTree>
    <p:extLst>
      <p:ext uri="{BB962C8B-B14F-4D97-AF65-F5344CB8AC3E}">
        <p14:creationId xmlns:p14="http://schemas.microsoft.com/office/powerpoint/2010/main" val="795805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a:t>
            </a:r>
            <a:r>
              <a:rPr lang="en-IN" dirty="0"/>
              <a:t>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64663412"/>
              </p:ext>
            </p:extLst>
          </p:nvPr>
        </p:nvGraphicFramePr>
        <p:xfrm>
          <a:off x="528357" y="1558837"/>
          <a:ext cx="11245632" cy="4885503"/>
        </p:xfrm>
        <a:graphic>
          <a:graphicData uri="http://schemas.openxmlformats.org/drawingml/2006/table">
            <a:tbl>
              <a:tblPr firstRow="1" firstCol="1" bandRow="1">
                <a:tableStyleId>{5C22544A-7EE6-4342-B048-85BDC9FD1C3A}</a:tableStyleId>
              </a:tblPr>
              <a:tblGrid>
                <a:gridCol w="2960971"/>
                <a:gridCol w="8284661"/>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28324">
                <a:tc>
                  <a:txBody>
                    <a:bodyPr/>
                    <a:lstStyle/>
                    <a:p>
                      <a:pPr>
                        <a:lnSpc>
                          <a:spcPct val="107000"/>
                        </a:lnSpc>
                        <a:spcAft>
                          <a:spcPts val="600"/>
                        </a:spcAft>
                      </a:pPr>
                      <a:r>
                        <a:rPr lang="en-IN" sz="1000">
                          <a:effectLst/>
                        </a:rPr>
                        <a:t>mkdir [name]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274179">
                <a:tc>
                  <a:txBody>
                    <a:bodyPr/>
                    <a:lstStyle/>
                    <a:p>
                      <a:pPr>
                        <a:lnSpc>
                          <a:spcPct val="107000"/>
                        </a:lnSpc>
                        <a:spcAft>
                          <a:spcPts val="600"/>
                        </a:spcAft>
                      </a:pPr>
                      <a:r>
                        <a:rPr lang="en-IN" sz="1000" dirty="0">
                          <a:effectLst/>
                        </a:rPr>
                        <a:t>cd $HOME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r>
            </a:tbl>
          </a:graphicData>
        </a:graphic>
      </p:graphicFrame>
    </p:spTree>
    <p:extLst>
      <p:ext uri="{BB962C8B-B14F-4D97-AF65-F5344CB8AC3E}">
        <p14:creationId xmlns:p14="http://schemas.microsoft.com/office/powerpoint/2010/main" val="3164099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a:t>
            </a:r>
            <a:r>
              <a:rPr lang="en-IN" dirty="0"/>
              <a:t>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0496812"/>
              </p:ext>
            </p:extLst>
          </p:nvPr>
        </p:nvGraphicFramePr>
        <p:xfrm>
          <a:off x="629984" y="1495959"/>
          <a:ext cx="11011553" cy="5031486"/>
        </p:xfrm>
        <a:graphic>
          <a:graphicData uri="http://schemas.openxmlformats.org/drawingml/2006/table">
            <a:tbl>
              <a:tblPr firstRow="1" firstCol="1" bandRow="1">
                <a:tableStyleId>{5C22544A-7EE6-4342-B048-85BDC9FD1C3A}</a:tableStyleId>
              </a:tblPr>
              <a:tblGrid>
                <a:gridCol w="2899338"/>
                <a:gridCol w="8112215"/>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smtClean="0">
                          <a:effectLst/>
                        </a:rPr>
                        <a:t>Lists </a:t>
                      </a:r>
                      <a:r>
                        <a:rPr lang="en-IN" sz="1000" dirty="0">
                          <a:effectLst/>
                        </a:rPr>
                        <a:t>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461622">
                <a:tc>
                  <a:txBody>
                    <a:bodyPr/>
                    <a:lstStyle/>
                    <a:p>
                      <a:pPr>
                        <a:lnSpc>
                          <a:spcPct val="107000"/>
                        </a:lnSpc>
                        <a:spcAft>
                          <a:spcPts val="600"/>
                        </a:spcAft>
                      </a:pPr>
                      <a:r>
                        <a:rPr lang="en-IN" sz="1000">
                          <a:effectLst/>
                        </a:rPr>
                        <a:t>rm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r>
            </a:tbl>
          </a:graphicData>
        </a:graphic>
      </p:graphicFrame>
    </p:spTree>
    <p:extLst>
      <p:ext uri="{BB962C8B-B14F-4D97-AF65-F5344CB8AC3E}">
        <p14:creationId xmlns:p14="http://schemas.microsoft.com/office/powerpoint/2010/main" val="1943596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a:t>
            </a:r>
            <a:r>
              <a:rPr lang="en-IN" dirty="0"/>
              <a:t>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92892945"/>
              </p:ext>
            </p:extLst>
          </p:nvPr>
        </p:nvGraphicFramePr>
        <p:xfrm>
          <a:off x="528357" y="1461587"/>
          <a:ext cx="10875183" cy="3049453"/>
        </p:xfrm>
        <a:graphic>
          <a:graphicData uri="http://schemas.openxmlformats.org/drawingml/2006/table">
            <a:tbl>
              <a:tblPr firstRow="1" firstCol="1" bandRow="1">
                <a:tableStyleId>{5C22544A-7EE6-4342-B048-85BDC9FD1C3A}</a:tableStyleId>
              </a:tblPr>
              <a:tblGrid>
                <a:gridCol w="3577283"/>
                <a:gridCol w="7297900"/>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tr>
              <a:tr h="377636">
                <a:tc>
                  <a:txBody>
                    <a:bodyPr/>
                    <a:lstStyle/>
                    <a:p>
                      <a:pPr>
                        <a:lnSpc>
                          <a:spcPct val="107000"/>
                        </a:lnSpc>
                        <a:spcAft>
                          <a:spcPts val="600"/>
                        </a:spcAft>
                      </a:pPr>
                      <a:r>
                        <a:rPr lang="en-IN" sz="1100" dirty="0" err="1" smtClean="0">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tr>
              <a:tr h="452845">
                <a:tc>
                  <a:txBody>
                    <a:bodyPr/>
                    <a:lstStyle/>
                    <a:p>
                      <a:pPr>
                        <a:lnSpc>
                          <a:spcPct val="107000"/>
                        </a:lnSpc>
                        <a:spcAft>
                          <a:spcPts val="600"/>
                        </a:spcAft>
                      </a:pPr>
                      <a:r>
                        <a:rPr lang="en-IN" sz="1100" dirty="0" err="1">
                          <a:effectLst/>
                        </a:rPr>
                        <a:t>ps</a:t>
                      </a:r>
                      <a:r>
                        <a:rPr lang="en-IN" sz="1100" dirty="0">
                          <a:effectLst/>
                        </a:rPr>
                        <a:t> t[N</a:t>
                      </a:r>
                      <a:r>
                        <a:rPr lang="en-IN" sz="1100" dirty="0" smtClean="0">
                          <a:effectLst/>
                        </a:rPr>
                        <a:t>]</a:t>
                      </a:r>
                      <a:endParaRPr lang="en-IN" sz="1100" dirty="0">
                        <a:effectLst/>
                      </a:endParaRP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tr>
            </a:tbl>
          </a:graphicData>
        </a:graphic>
      </p:graphicFrame>
    </p:spTree>
    <p:extLst>
      <p:ext uri="{BB962C8B-B14F-4D97-AF65-F5344CB8AC3E}">
        <p14:creationId xmlns:p14="http://schemas.microsoft.com/office/powerpoint/2010/main" val="825086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smtClean="0"/>
              <a:t>Appendix</a:t>
            </a:r>
            <a:endParaRPr lang="en-IN" sz="3200" dirty="0"/>
          </a:p>
        </p:txBody>
      </p:sp>
    </p:spTree>
    <p:extLst>
      <p:ext uri="{BB962C8B-B14F-4D97-AF65-F5344CB8AC3E}">
        <p14:creationId xmlns:p14="http://schemas.microsoft.com/office/powerpoint/2010/main" val="2432370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nvPr>
        </p:nvGraphicFramePr>
        <p:xfrm>
          <a:off x="486191" y="1249326"/>
          <a:ext cx="11244255" cy="5532120"/>
        </p:xfrm>
        <a:graphic>
          <a:graphicData uri="http://schemas.openxmlformats.org/drawingml/2006/table">
            <a:tbl>
              <a:tblPr firstRow="1" bandRow="1">
                <a:tableStyleId>{5C22544A-7EE6-4342-B048-85BDC9FD1C3A}</a:tableStyleId>
              </a:tblPr>
              <a:tblGrid>
                <a:gridCol w="2231069"/>
                <a:gridCol w="2231069"/>
                <a:gridCol w="2231069"/>
                <a:gridCol w="1386117"/>
                <a:gridCol w="3164931"/>
              </a:tblGrid>
              <a:tr h="0">
                <a:tc>
                  <a:txBody>
                    <a:bodyPr/>
                    <a:lstStyle/>
                    <a:p>
                      <a:r>
                        <a:rPr lang="en-IN" dirty="0" smtClean="0"/>
                        <a:t>Quality</a:t>
                      </a:r>
                      <a:endParaRPr lang="en-IN" dirty="0"/>
                    </a:p>
                  </a:txBody>
                  <a:tcPr/>
                </a:tc>
                <a:tc>
                  <a:txBody>
                    <a:bodyPr/>
                    <a:lstStyle/>
                    <a:p>
                      <a:r>
                        <a:rPr lang="en-IN" dirty="0" smtClean="0"/>
                        <a:t>Windows</a:t>
                      </a:r>
                      <a:endParaRPr lang="en-IN" dirty="0"/>
                    </a:p>
                  </a:txBody>
                  <a:tcPr/>
                </a:tc>
                <a:tc>
                  <a:txBody>
                    <a:bodyPr/>
                    <a:lstStyle/>
                    <a:p>
                      <a:r>
                        <a:rPr lang="en-IN" dirty="0" smtClean="0"/>
                        <a:t>Mac</a:t>
                      </a:r>
                      <a:endParaRPr lang="en-IN" dirty="0"/>
                    </a:p>
                  </a:txBody>
                  <a:tcPr/>
                </a:tc>
                <a:tc>
                  <a:txBody>
                    <a:bodyPr/>
                    <a:lstStyle/>
                    <a:p>
                      <a:r>
                        <a:rPr lang="en-IN" dirty="0" smtClean="0"/>
                        <a:t>Unix</a:t>
                      </a:r>
                      <a:r>
                        <a:rPr lang="en-IN" baseline="0" dirty="0" smtClean="0"/>
                        <a:t> </a:t>
                      </a:r>
                      <a:endParaRPr lang="en-IN" dirty="0"/>
                    </a:p>
                  </a:txBody>
                  <a:tcPr/>
                </a:tc>
                <a:tc>
                  <a:txBody>
                    <a:bodyPr/>
                    <a:lstStyle/>
                    <a:p>
                      <a:r>
                        <a:rPr lang="en-IN" dirty="0" smtClean="0"/>
                        <a:t>z/OS</a:t>
                      </a:r>
                      <a:endParaRPr lang="en-IN" dirty="0"/>
                    </a:p>
                  </a:txBody>
                  <a:tcPr/>
                </a:tc>
              </a:tr>
              <a:tr h="370840">
                <a:tc>
                  <a:txBody>
                    <a:bodyPr/>
                    <a:lstStyle/>
                    <a:p>
                      <a:r>
                        <a:rPr lang="en-IN" dirty="0" smtClean="0"/>
                        <a:t>User Interface</a:t>
                      </a:r>
                      <a:endParaRPr lang="en-IN" dirty="0"/>
                    </a:p>
                  </a:txBody>
                  <a:tcPr/>
                </a:tc>
                <a:tc>
                  <a:txBody>
                    <a:bodyPr/>
                    <a:lstStyle/>
                    <a:p>
                      <a:r>
                        <a:rPr lang="en-IN" sz="1100" dirty="0" smtClean="0"/>
                        <a:t>Excellent ( Easy to</a:t>
                      </a:r>
                      <a:r>
                        <a:rPr lang="en-IN" sz="1100" baseline="0" dirty="0" smtClean="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smtClean="0"/>
                        <a:t>Excellent( Easy to</a:t>
                      </a:r>
                      <a:r>
                        <a:rPr lang="en-IN" sz="1100" baseline="0" dirty="0" smtClean="0"/>
                        <a:t> understand)</a:t>
                      </a:r>
                      <a:endParaRPr lang="en-IN" sz="1100" dirty="0" smtClean="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smtClean="0"/>
                        <a:t>Good (Needs</a:t>
                      </a:r>
                      <a:r>
                        <a:rPr lang="en-IN" sz="1100" baseline="0" dirty="0" smtClean="0"/>
                        <a:t> some practice </a:t>
                      </a:r>
                      <a:r>
                        <a:rPr lang="en-IN" sz="1100" dirty="0" smtClean="0"/>
                        <a:t>to</a:t>
                      </a:r>
                      <a:r>
                        <a:rPr lang="en-IN" sz="1100" baseline="0" dirty="0" smtClean="0"/>
                        <a:t> understand)</a:t>
                      </a:r>
                      <a:endParaRPr lang="en-IN" sz="1100" dirty="0" smtClean="0"/>
                    </a:p>
                    <a:p>
                      <a:endParaRPr lang="en-IN" sz="1100" dirty="0"/>
                    </a:p>
                  </a:txBody>
                  <a:tcPr/>
                </a:tc>
                <a:tc>
                  <a:txBody>
                    <a:bodyPr/>
                    <a:lstStyle/>
                    <a:p>
                      <a:r>
                        <a:rPr lang="en-IN" sz="1100" dirty="0" smtClean="0">
                          <a:solidFill>
                            <a:schemeClr val="tx1"/>
                          </a:solidFill>
                        </a:rPr>
                        <a:t>Medium ( Very difficult</a:t>
                      </a:r>
                      <a:r>
                        <a:rPr lang="en-IN" sz="1100" baseline="0" dirty="0" smtClean="0">
                          <a:solidFill>
                            <a:schemeClr val="tx1"/>
                          </a:solidFill>
                        </a:rPr>
                        <a:t> )</a:t>
                      </a:r>
                      <a:endParaRPr lang="en-IN" sz="1100" dirty="0">
                        <a:solidFill>
                          <a:schemeClr val="tx1"/>
                        </a:solidFill>
                      </a:endParaRPr>
                    </a:p>
                  </a:txBody>
                  <a:tcPr/>
                </a:tc>
              </a:tr>
              <a:tr h="370840">
                <a:tc>
                  <a:txBody>
                    <a:bodyPr/>
                    <a:lstStyle/>
                    <a:p>
                      <a:r>
                        <a:rPr lang="en-IN" dirty="0" smtClean="0"/>
                        <a:t>Security</a:t>
                      </a:r>
                      <a:endParaRPr lang="en-IN" dirty="0"/>
                    </a:p>
                  </a:txBody>
                  <a:tcPr/>
                </a:tc>
                <a:tc>
                  <a:txBody>
                    <a:bodyPr/>
                    <a:lstStyle/>
                    <a:p>
                      <a:r>
                        <a:rPr lang="en-IN" sz="1100" dirty="0" smtClean="0"/>
                        <a:t>Moderate</a:t>
                      </a:r>
                      <a:endParaRPr lang="en-IN" sz="1100" dirty="0"/>
                    </a:p>
                  </a:txBody>
                  <a:tcPr/>
                </a:tc>
                <a:tc>
                  <a:txBody>
                    <a:bodyPr/>
                    <a:lstStyle/>
                    <a:p>
                      <a:r>
                        <a:rPr lang="en-IN" sz="1100" dirty="0" smtClean="0"/>
                        <a:t>High</a:t>
                      </a:r>
                      <a:endParaRPr lang="en-IN" sz="1100" dirty="0"/>
                    </a:p>
                  </a:txBody>
                  <a:tcPr/>
                </a:tc>
                <a:tc>
                  <a:txBody>
                    <a:bodyPr/>
                    <a:lstStyle/>
                    <a:p>
                      <a:r>
                        <a:rPr lang="en-IN" sz="1100" dirty="0" smtClean="0"/>
                        <a:t>Highly</a:t>
                      </a:r>
                      <a:r>
                        <a:rPr lang="en-IN" sz="1100" baseline="0" dirty="0" smtClean="0"/>
                        <a:t> Secure</a:t>
                      </a:r>
                      <a:endParaRPr lang="en-IN" sz="1100" dirty="0"/>
                    </a:p>
                  </a:txBody>
                  <a:tcPr/>
                </a:tc>
                <a:tc>
                  <a:txBody>
                    <a:bodyPr/>
                    <a:lstStyle/>
                    <a:p>
                      <a:r>
                        <a:rPr lang="en-IN" sz="1100" dirty="0" smtClean="0"/>
                        <a:t>Highly Secure</a:t>
                      </a:r>
                      <a:endParaRPr lang="en-IN" sz="1100" dirty="0"/>
                    </a:p>
                  </a:txBody>
                  <a:tcPr/>
                </a:tc>
              </a:tr>
              <a:tr h="370840">
                <a:tc>
                  <a:txBody>
                    <a:bodyPr/>
                    <a:lstStyle/>
                    <a:p>
                      <a:r>
                        <a:rPr lang="en-IN" dirty="0" smtClean="0"/>
                        <a:t>Compatibility</a:t>
                      </a:r>
                      <a:endParaRPr lang="en-IN" dirty="0"/>
                    </a:p>
                  </a:txBody>
                  <a:tcPr/>
                </a:tc>
                <a:tc>
                  <a:txBody>
                    <a:bodyPr/>
                    <a:lstStyle/>
                    <a:p>
                      <a:r>
                        <a:rPr lang="en-IN" sz="1100" dirty="0" smtClean="0"/>
                        <a:t>Runs on any hardware</a:t>
                      </a:r>
                      <a:endParaRPr lang="en-IN" sz="1100" dirty="0"/>
                    </a:p>
                  </a:txBody>
                  <a:tcPr/>
                </a:tc>
                <a:tc>
                  <a:txBody>
                    <a:bodyPr/>
                    <a:lstStyle/>
                    <a:p>
                      <a:r>
                        <a:rPr lang="en-IN" sz="1100" dirty="0" smtClean="0"/>
                        <a:t>Runs only on Apple</a:t>
                      </a:r>
                      <a:endParaRPr lang="en-IN" sz="1100" dirty="0"/>
                    </a:p>
                  </a:txBody>
                  <a:tcPr/>
                </a:tc>
                <a:tc>
                  <a:txBody>
                    <a:bodyPr/>
                    <a:lstStyle/>
                    <a:p>
                      <a:r>
                        <a:rPr lang="en-IN" sz="1100" dirty="0" smtClean="0"/>
                        <a:t>Any Hardware</a:t>
                      </a:r>
                      <a:endParaRPr lang="en-IN" sz="1100" dirty="0"/>
                    </a:p>
                  </a:txBody>
                  <a:tcPr/>
                </a:tc>
                <a:tc>
                  <a:txBody>
                    <a:bodyPr/>
                    <a:lstStyle/>
                    <a:p>
                      <a:r>
                        <a:rPr lang="en-IN" sz="1100" dirty="0" smtClean="0"/>
                        <a:t>Any Hardware</a:t>
                      </a:r>
                      <a:endParaRPr lang="en-IN" sz="1100" dirty="0"/>
                    </a:p>
                  </a:txBody>
                  <a:tcPr/>
                </a:tc>
              </a:tr>
              <a:tr h="370840">
                <a:tc>
                  <a:txBody>
                    <a:bodyPr/>
                    <a:lstStyle/>
                    <a:p>
                      <a:r>
                        <a:rPr lang="en-IN" dirty="0" smtClean="0"/>
                        <a:t>Performance</a:t>
                      </a:r>
                      <a:endParaRPr lang="en-IN" dirty="0"/>
                    </a:p>
                  </a:txBody>
                  <a:tcPr/>
                </a:tc>
                <a:tc>
                  <a:txBody>
                    <a:bodyPr/>
                    <a:lstStyle/>
                    <a:p>
                      <a:r>
                        <a:rPr lang="en-IN" sz="1100" dirty="0" smtClean="0"/>
                        <a:t>Slow( too many apps running)</a:t>
                      </a:r>
                      <a:endParaRPr lang="en-IN" sz="1100" dirty="0"/>
                    </a:p>
                  </a:txBody>
                  <a:tcPr/>
                </a:tc>
                <a:tc>
                  <a:txBody>
                    <a:bodyPr/>
                    <a:lstStyle/>
                    <a:p>
                      <a:r>
                        <a:rPr lang="en-IN" sz="1100" dirty="0" smtClean="0"/>
                        <a:t>Slow </a:t>
                      </a:r>
                      <a:endParaRPr lang="en-IN" sz="1100" dirty="0"/>
                    </a:p>
                  </a:txBody>
                  <a:tcPr/>
                </a:tc>
                <a:tc>
                  <a:txBody>
                    <a:bodyPr/>
                    <a:lstStyle/>
                    <a:p>
                      <a:r>
                        <a:rPr lang="en-IN" sz="1100" dirty="0" smtClean="0"/>
                        <a:t>Fast</a:t>
                      </a:r>
                      <a:endParaRPr lang="en-IN" sz="1100" dirty="0"/>
                    </a:p>
                  </a:txBody>
                  <a:tcPr/>
                </a:tc>
                <a:tc>
                  <a:txBody>
                    <a:bodyPr/>
                    <a:lstStyle/>
                    <a:p>
                      <a:r>
                        <a:rPr lang="en-IN" sz="1100" dirty="0" smtClean="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endParaRPr lang="en-IN" sz="1100" dirty="0"/>
                    </a:p>
                  </a:txBody>
                  <a:tcPr/>
                </a:tc>
              </a:tr>
              <a:tr h="370840">
                <a:tc>
                  <a:txBody>
                    <a:bodyPr/>
                    <a:lstStyle/>
                    <a:p>
                      <a:r>
                        <a:rPr lang="en-IN" dirty="0" smtClean="0"/>
                        <a:t>Reliability</a:t>
                      </a:r>
                      <a:endParaRPr lang="en-IN" dirty="0"/>
                    </a:p>
                  </a:txBody>
                  <a:tcPr/>
                </a:tc>
                <a:tc>
                  <a:txBody>
                    <a:bodyPr/>
                    <a:lstStyle/>
                    <a:p>
                      <a:r>
                        <a:rPr lang="en-IN" sz="1100" dirty="0" smtClean="0"/>
                        <a:t>Relatively Stable</a:t>
                      </a:r>
                      <a:r>
                        <a:rPr lang="en-IN" sz="1100" baseline="0" dirty="0" smtClean="0"/>
                        <a:t> because the application needs to be secure on a regular basis.</a:t>
                      </a:r>
                    </a:p>
                  </a:txBody>
                  <a:tcPr/>
                </a:tc>
                <a:tc>
                  <a:txBody>
                    <a:bodyPr/>
                    <a:lstStyle/>
                    <a:p>
                      <a:r>
                        <a:rPr lang="en-IN" sz="1100" dirty="0" smtClean="0"/>
                        <a:t>Better than Win,</a:t>
                      </a:r>
                      <a:r>
                        <a:rPr lang="en-IN" sz="1100" baseline="0" dirty="0" smtClean="0"/>
                        <a:t> because of its restriction on hardware. Still apps needs to be updated</a:t>
                      </a:r>
                      <a:endParaRPr lang="en-IN" sz="1100" dirty="0"/>
                    </a:p>
                  </a:txBody>
                  <a:tcPr/>
                </a:tc>
                <a:tc>
                  <a:txBody>
                    <a:bodyPr/>
                    <a:lstStyle/>
                    <a:p>
                      <a:r>
                        <a:rPr lang="en-IN" sz="1100" dirty="0" smtClean="0"/>
                        <a:t>Stable,</a:t>
                      </a:r>
                      <a:r>
                        <a:rPr lang="en-IN" sz="1100" baseline="0" dirty="0" smtClean="0"/>
                        <a:t> not too many apps running.</a:t>
                      </a:r>
                      <a:endParaRPr lang="en-IN" sz="1100" dirty="0"/>
                    </a:p>
                  </a:txBody>
                  <a:tcPr/>
                </a:tc>
                <a:tc>
                  <a:txBody>
                    <a:bodyPr/>
                    <a:lstStyle/>
                    <a:p>
                      <a:r>
                        <a:rPr lang="en-IN" sz="1100" dirty="0" smtClean="0"/>
                        <a:t>Highly stable.</a:t>
                      </a:r>
                      <a:r>
                        <a:rPr lang="en-IN" sz="1100" baseline="0" dirty="0" smtClean="0"/>
                        <a:t> </a:t>
                      </a:r>
                      <a:r>
                        <a:rPr lang="en-IN" sz="1100" dirty="0" smtClean="0"/>
                        <a:t>IBM proudly states that Mainframes can achieve “five nines” (99.999%) availability, or around 5 minutes unscheduled and scheduled downtime per year.</a:t>
                      </a:r>
                      <a:endParaRPr lang="en-IN" sz="1100" dirty="0"/>
                    </a:p>
                  </a:txBody>
                  <a:tcPr/>
                </a:tc>
              </a:tr>
              <a:tr h="370840">
                <a:tc>
                  <a:txBody>
                    <a:bodyPr/>
                    <a:lstStyle/>
                    <a:p>
                      <a:r>
                        <a:rPr lang="en-IN" dirty="0" smtClean="0"/>
                        <a:t>Cost</a:t>
                      </a:r>
                      <a:endParaRPr lang="en-IN" dirty="0"/>
                    </a:p>
                  </a:txBody>
                  <a:tcPr/>
                </a:tc>
                <a:tc>
                  <a:txBody>
                    <a:bodyPr/>
                    <a:lstStyle/>
                    <a:p>
                      <a:r>
                        <a:rPr lang="en-IN" sz="1100" baseline="0" dirty="0" smtClean="0"/>
                        <a:t>Expensive</a:t>
                      </a:r>
                    </a:p>
                  </a:txBody>
                  <a:tcPr/>
                </a:tc>
                <a:tc>
                  <a:txBody>
                    <a:bodyPr/>
                    <a:lstStyle/>
                    <a:p>
                      <a:r>
                        <a:rPr lang="en-IN" sz="1100" dirty="0" smtClean="0"/>
                        <a:t>Expensive</a:t>
                      </a:r>
                      <a:endParaRPr lang="en-IN" sz="1100" dirty="0"/>
                    </a:p>
                  </a:txBody>
                  <a:tcPr/>
                </a:tc>
                <a:tc>
                  <a:txBody>
                    <a:bodyPr/>
                    <a:lstStyle/>
                    <a:p>
                      <a:r>
                        <a:rPr lang="en-IN" sz="1100" dirty="0" smtClean="0"/>
                        <a:t>Cheapest</a:t>
                      </a:r>
                      <a:endParaRPr lang="en-IN" sz="1100" dirty="0"/>
                    </a:p>
                  </a:txBody>
                  <a:tcPr/>
                </a:tc>
                <a:tc>
                  <a:txBody>
                    <a:bodyPr/>
                    <a:lstStyle/>
                    <a:p>
                      <a:r>
                        <a:rPr lang="en-IN" sz="1100" dirty="0" smtClean="0"/>
                        <a:t>Most Expensive</a:t>
                      </a:r>
                      <a:endParaRPr lang="en-IN" sz="1100" dirty="0"/>
                    </a:p>
                  </a:txBody>
                  <a:tcPr/>
                </a:tc>
              </a:tr>
              <a:tr h="370840">
                <a:tc>
                  <a:txBody>
                    <a:bodyPr/>
                    <a:lstStyle/>
                    <a:p>
                      <a:r>
                        <a:rPr lang="en-IN" dirty="0" smtClean="0"/>
                        <a:t>Customers</a:t>
                      </a:r>
                      <a:endParaRPr lang="en-IN" dirty="0"/>
                    </a:p>
                  </a:txBody>
                  <a:tcPr/>
                </a:tc>
                <a:tc>
                  <a:txBody>
                    <a:bodyPr/>
                    <a:lstStyle/>
                    <a:p>
                      <a:r>
                        <a:rPr lang="en-IN" sz="1100" baseline="0" dirty="0" smtClean="0"/>
                        <a:t>Laptop and desktops</a:t>
                      </a:r>
                    </a:p>
                  </a:txBody>
                  <a:tcPr/>
                </a:tc>
                <a:tc>
                  <a:txBody>
                    <a:bodyPr/>
                    <a:lstStyle/>
                    <a:p>
                      <a:r>
                        <a:rPr lang="en-IN" sz="1100" dirty="0" smtClean="0"/>
                        <a:t>Laptops</a:t>
                      </a:r>
                      <a:r>
                        <a:rPr lang="en-IN" sz="1100" baseline="0" dirty="0" smtClean="0"/>
                        <a:t> and desktops</a:t>
                      </a:r>
                      <a:endParaRPr lang="en-IN" sz="1100" dirty="0"/>
                    </a:p>
                  </a:txBody>
                  <a:tcPr/>
                </a:tc>
                <a:tc>
                  <a:txBody>
                    <a:bodyPr/>
                    <a:lstStyle/>
                    <a:p>
                      <a:r>
                        <a:rPr lang="en-IN" sz="1100" dirty="0" smtClean="0"/>
                        <a:t>smaller, less critical Mainframe application or servers</a:t>
                      </a:r>
                      <a:endParaRPr lang="en-IN" sz="1100" dirty="0"/>
                    </a:p>
                  </a:txBody>
                  <a:tcPr/>
                </a:tc>
                <a:tc>
                  <a:txBody>
                    <a:bodyPr/>
                    <a:lstStyle/>
                    <a:p>
                      <a:r>
                        <a:rPr lang="en-IN" sz="1100" dirty="0" smtClean="0"/>
                        <a:t>If you have existing critical Mainframe applications, there are lots of reasons to keep them going. As far as security, reliability and the ability to handle lots of transactions, nothing beats z/OS.</a:t>
                      </a:r>
                      <a:endParaRPr lang="en-IN" sz="1100" dirty="0"/>
                    </a:p>
                  </a:txBody>
                  <a:tcPr/>
                </a:tc>
              </a:tr>
            </a:tbl>
          </a:graphicData>
        </a:graphic>
      </p:graphicFrame>
    </p:spTree>
    <p:extLst>
      <p:ext uri="{BB962C8B-B14F-4D97-AF65-F5344CB8AC3E}">
        <p14:creationId xmlns:p14="http://schemas.microsoft.com/office/powerpoint/2010/main" val="375595972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5073</TotalTime>
  <Words>1812</Words>
  <Application>Microsoft Office PowerPoint</Application>
  <PresentationFormat>Widescreen</PresentationFormat>
  <Paragraphs>253</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Ion Boardroom</vt:lpstr>
      <vt:lpstr> </vt:lpstr>
      <vt:lpstr>PowerPoint Presentation</vt:lpstr>
      <vt:lpstr>What is an OS &amp; why do we need OS?</vt:lpstr>
      <vt:lpstr>Different types of OS ?</vt:lpstr>
      <vt:lpstr>PowerPoint Presentation</vt:lpstr>
      <vt:lpstr>History of Unix?</vt:lpstr>
      <vt:lpstr>Why Unix?</vt:lpstr>
      <vt:lpstr>Kernel</vt:lpstr>
      <vt:lpstr>Shell</vt:lpstr>
      <vt:lpstr>PowerPoint Presentation</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Jeewan Kumar</cp:lastModifiedBy>
  <cp:revision>351</cp:revision>
  <dcterms:created xsi:type="dcterms:W3CDTF">2015-08-17T07:42:22Z</dcterms:created>
  <dcterms:modified xsi:type="dcterms:W3CDTF">2016-07-19T05:19:43Z</dcterms:modified>
</cp:coreProperties>
</file>
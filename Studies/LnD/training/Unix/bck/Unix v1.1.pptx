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320" r:id="rId3"/>
    <p:sldId id="319" r:id="rId4"/>
    <p:sldId id="344" r:id="rId5"/>
    <p:sldId id="347" r:id="rId6"/>
    <p:sldId id="346" r:id="rId7"/>
    <p:sldId id="345" r:id="rId8"/>
    <p:sldId id="348" r:id="rId9"/>
    <p:sldId id="349" r:id="rId10"/>
    <p:sldId id="350" r:id="rId11"/>
    <p:sldId id="352" r:id="rId12"/>
    <p:sldId id="353" r:id="rId13"/>
    <p:sldId id="354" r:id="rId14"/>
    <p:sldId id="355" r:id="rId15"/>
    <p:sldId id="356" r:id="rId16"/>
    <p:sldId id="342" r:id="rId17"/>
    <p:sldId id="357" r:id="rId18"/>
    <p:sldId id="35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3"/>
    <a:srgbClr val="4A4A67"/>
    <a:srgbClr val="949494"/>
    <a:srgbClr val="D9E1F2"/>
    <a:srgbClr val="993300"/>
    <a:srgbClr val="DEECFD"/>
    <a:srgbClr val="CC6600"/>
    <a:srgbClr val="803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0723" autoAdjust="0"/>
  </p:normalViewPr>
  <p:slideViewPr>
    <p:cSldViewPr snapToGrid="0">
      <p:cViewPr varScale="1">
        <p:scale>
          <a:sx n="63" d="100"/>
          <a:sy n="63" d="100"/>
        </p:scale>
        <p:origin x="828" y="6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47282-5322-4920-A04A-F88BF4A9D3DE}" type="datetimeFigureOut">
              <a:rPr lang="en-IN" smtClean="0"/>
              <a:t>19-07-2016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D4397-2931-438B-B195-D24BFA6F0B7F}" type="slidenum">
              <a:rPr lang="en-IN" smtClean="0"/>
              <a:t>‹#›</a:t>
            </a:fld>
            <a:endParaRPr lang="en-IN" dirty="0"/>
          </a:p>
        </p:txBody>
      </p:sp>
    </p:spTree>
    <p:extLst>
      <p:ext uri="{BB962C8B-B14F-4D97-AF65-F5344CB8AC3E}">
        <p14:creationId xmlns:p14="http://schemas.microsoft.com/office/powerpoint/2010/main" val="116010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dirty="0">
              <a:solidFill>
                <a:prstClr val="black"/>
              </a:solidFill>
            </a:endParaRPr>
          </a:p>
        </p:txBody>
      </p:sp>
    </p:spTree>
    <p:extLst>
      <p:ext uri="{BB962C8B-B14F-4D97-AF65-F5344CB8AC3E}">
        <p14:creationId xmlns:p14="http://schemas.microsoft.com/office/powerpoint/2010/main" val="48855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Operating systems perform basic tasks, such as recognizing input from the keyboard, sending output to the display screen, keeping track of files and directories on the disk, and controlling peripheral devices such as disk drives and printers</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a:t>
            </a:fld>
            <a:endParaRPr lang="en-IN" dirty="0"/>
          </a:p>
        </p:txBody>
      </p:sp>
    </p:spTree>
    <p:extLst>
      <p:ext uri="{BB962C8B-B14F-4D97-AF65-F5344CB8AC3E}">
        <p14:creationId xmlns:p14="http://schemas.microsoft.com/office/powerpoint/2010/main" val="284705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8</a:t>
            </a:fld>
            <a:endParaRPr lang="en-IN" dirty="0"/>
          </a:p>
        </p:txBody>
      </p:sp>
    </p:spTree>
    <p:extLst>
      <p:ext uri="{BB962C8B-B14F-4D97-AF65-F5344CB8AC3E}">
        <p14:creationId xmlns:p14="http://schemas.microsoft.com/office/powerpoint/2010/main" val="3297011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9</a:t>
            </a:fld>
            <a:endParaRPr lang="en-IN" dirty="0"/>
          </a:p>
        </p:txBody>
      </p:sp>
    </p:spTree>
    <p:extLst>
      <p:ext uri="{BB962C8B-B14F-4D97-AF65-F5344CB8AC3E}">
        <p14:creationId xmlns:p14="http://schemas.microsoft.com/office/powerpoint/2010/main" val="4213763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Commands</a:t>
            </a:r>
          </a:p>
        </p:txBody>
      </p:sp>
      <p:sp>
        <p:nvSpPr>
          <p:cNvPr id="4" name="Slide Number Placeholder 3"/>
          <p:cNvSpPr>
            <a:spLocks noGrp="1"/>
          </p:cNvSpPr>
          <p:nvPr>
            <p:ph type="sldNum" sz="quarter" idx="10"/>
          </p:nvPr>
        </p:nvSpPr>
        <p:spPr/>
        <p:txBody>
          <a:bodyPr/>
          <a:lstStyle/>
          <a:p>
            <a:fld id="{7B2D4397-2931-438B-B195-D24BFA6F0B7F}" type="slidenum">
              <a:rPr lang="en-IN" smtClean="0"/>
              <a:t>10</a:t>
            </a:fld>
            <a:endParaRPr lang="en-IN" dirty="0"/>
          </a:p>
        </p:txBody>
      </p:sp>
    </p:spTree>
    <p:extLst>
      <p:ext uri="{BB962C8B-B14F-4D97-AF65-F5344CB8AC3E}">
        <p14:creationId xmlns:p14="http://schemas.microsoft.com/office/powerpoint/2010/main" val="584858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explain</a:t>
            </a:r>
            <a:r>
              <a:rPr lang="en-US" baseline="0" dirty="0"/>
              <a:t> diff b/w exit and shutdown; what happens if they don’t shutdown;</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11</a:t>
            </a:fld>
            <a:endParaRPr lang="en-IN" dirty="0"/>
          </a:p>
        </p:txBody>
      </p:sp>
    </p:spTree>
    <p:extLst>
      <p:ext uri="{BB962C8B-B14F-4D97-AF65-F5344CB8AC3E}">
        <p14:creationId xmlns:p14="http://schemas.microsoft.com/office/powerpoint/2010/main" val="3531908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r>
              <a:rPr lang="en-US" baseline="0" dirty="0"/>
              <a:t> for each command:</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12</a:t>
            </a:fld>
            <a:endParaRPr lang="en-IN" dirty="0"/>
          </a:p>
        </p:txBody>
      </p:sp>
    </p:spTree>
    <p:extLst>
      <p:ext uri="{BB962C8B-B14F-4D97-AF65-F5344CB8AC3E}">
        <p14:creationId xmlns:p14="http://schemas.microsoft.com/office/powerpoint/2010/main" val="263761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use ls to</a:t>
            </a:r>
            <a:r>
              <a:rPr lang="en-US" baseline="0" dirty="0"/>
              <a:t> show </a:t>
            </a:r>
            <a:r>
              <a:rPr lang="en-US" baseline="0"/>
              <a:t>file size in GB</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13</a:t>
            </a:fld>
            <a:endParaRPr lang="en-IN" dirty="0"/>
          </a:p>
        </p:txBody>
      </p:sp>
    </p:spTree>
    <p:extLst>
      <p:ext uri="{BB962C8B-B14F-4D97-AF65-F5344CB8AC3E}">
        <p14:creationId xmlns:p14="http://schemas.microsoft.com/office/powerpoint/2010/main" val="4015348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4832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95522-3AA0-4A80-92C7-2AC281EBADF4}"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0479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CE34B9-F39B-4A6F-8022-0CCE308A2419}" type="datetime1">
              <a:rPr lang="en-US" smtClean="0">
                <a:solidFill>
                  <a:srgbClr val="ACD433"/>
                </a:solidFill>
              </a:rPr>
              <a:pPr/>
              <a:t>19-Jul-16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0211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1948E-581D-4169-8736-D78C52183DC6}" type="datetime1">
              <a:rPr lang="en-US" smtClean="0">
                <a:solidFill>
                  <a:srgbClr val="ACD433"/>
                </a:solidFill>
              </a:rPr>
              <a:pPr/>
              <a:t>19-Jul-16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98603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19-Jul-16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7088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BE4F3-E305-4ED2-971B-C2A5123F3D9C}" type="datetime1">
              <a:rPr lang="en-US" smtClean="0">
                <a:solidFill>
                  <a:srgbClr val="ACD433"/>
                </a:solidFill>
              </a:rPr>
              <a:pPr/>
              <a:t>19-Jul-16</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US" dirty="0">
                <a:solidFill>
                  <a:srgbClr val="ACD433"/>
                </a:solidFill>
              </a:rPr>
              <a:t>
              </a:t>
            </a: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444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9C74D-C361-4376-8174-AE28B7E8A445}" type="datetime1">
              <a:rPr lang="en-US" smtClean="0">
                <a:solidFill>
                  <a:srgbClr val="ACD433"/>
                </a:solidFill>
              </a:rPr>
              <a:pPr/>
              <a:t>19-Jul-16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60980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2ABCB-FCE6-4FC8-9691-E916C6279CCA}" type="datetime1">
              <a:rPr lang="en-US" smtClean="0">
                <a:solidFill>
                  <a:srgbClr val="ACD433"/>
                </a:solidFill>
              </a:rPr>
              <a:pPr/>
              <a:t>19-Jul-16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4222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80EE84-D85D-497A-9A5B-2C115F808617}" type="datetime1">
              <a:rPr lang="en-US" smtClean="0">
                <a:solidFill>
                  <a:srgbClr val="ACD433"/>
                </a:solidFill>
              </a:rPr>
              <a:pPr/>
              <a:t>19-Jul-16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48747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5FD7DB-F981-46C5-8A0D-B8D1888769EB}"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28951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47D92A-5A66-48EC-BB04-2DB931A39FAD}"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29939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270C19-0998-4D52-8DDD-94BF7F80CAE5}"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31521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6B07827-9700-4CDC-9E1D-449DE82DEC8D}" type="datetime1">
              <a:rPr lang="en-US" smtClean="0">
                <a:solidFill>
                  <a:srgbClr val="ACD433"/>
                </a:solidFill>
              </a:rPr>
              <a:pPr/>
              <a:t>19-Jul-16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21724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A760FD-A1FC-4920-A3C2-085B8E2F9EFA}" type="datetime1">
              <a:rPr lang="en-US" smtClean="0">
                <a:solidFill>
                  <a:srgbClr val="ACD433"/>
                </a:solidFill>
              </a:rPr>
              <a:pPr/>
              <a:t>19-Jul-16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385832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3D277-BE34-4141-BD49-E063BB7174E9}"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1372266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9B2973-F785-4CAE-8F28-6C5AAE1DB252}" type="datetime1">
              <a:rPr lang="en-US" smtClean="0">
                <a:solidFill>
                  <a:srgbClr val="ACD433"/>
                </a:solidFill>
              </a:rPr>
              <a:pPr/>
              <a:t>19-Jul-16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1841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BFFF5-06C3-4731-9F12-C14547B929B0}" type="datetime1">
              <a:rPr lang="en-IN" smtClean="0">
                <a:solidFill>
                  <a:srgbClr val="ACD433"/>
                </a:solidFill>
              </a:rPr>
              <a:pPr/>
              <a:t>19-07-2016</a:t>
            </a:fld>
            <a:endParaRPr lang="en-IN" dirty="0">
              <a:solidFill>
                <a:srgbClr val="ACD433"/>
              </a:solidFill>
            </a:endParaRPr>
          </a:p>
        </p:txBody>
      </p:sp>
      <p:sp>
        <p:nvSpPr>
          <p:cNvPr id="4" name="Footer Placeholder 3"/>
          <p:cNvSpPr>
            <a:spLocks noGrp="1"/>
          </p:cNvSpPr>
          <p:nvPr>
            <p:ph type="ftr" sz="quarter" idx="11"/>
          </p:nvPr>
        </p:nvSpPr>
        <p:spPr/>
        <p:txBody>
          <a:bodyPr/>
          <a:lstStyle/>
          <a:p>
            <a:endParaRPr lang="en-IN" dirty="0">
              <a:solidFill>
                <a:srgbClr val="ACD433"/>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dirty="0">
              <a:solidFill>
                <a:srgbClr val="0E5580"/>
              </a:solidFill>
            </a:endParaRPr>
          </a:p>
        </p:txBody>
      </p:sp>
    </p:spTree>
    <p:extLst>
      <p:ext uri="{BB962C8B-B14F-4D97-AF65-F5344CB8AC3E}">
        <p14:creationId xmlns:p14="http://schemas.microsoft.com/office/powerpoint/2010/main" val="123912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40642DC7-B585-4536-91D5-231B0D5F1DDB}" type="datetime1">
              <a:rPr lang="en-US" smtClean="0">
                <a:solidFill>
                  <a:srgbClr val="ACD433"/>
                </a:solidFill>
              </a:rPr>
              <a:pPr defTabSz="457200"/>
              <a:t>19-Jul-16</a:t>
            </a:fld>
            <a:endParaRPr lang="en-US" dirty="0">
              <a:solidFill>
                <a:srgbClr val="ACD433"/>
              </a:solidFill>
            </a:endParaRPr>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pPr defTabSz="457200"/>
            <a:r>
              <a:rPr lang="en-US" dirty="0">
                <a:solidFill>
                  <a:srgbClr val="ACD433"/>
                </a:solidFill>
              </a:rPr>
              <a:t>
              </a:t>
            </a: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Tree>
    <p:extLst>
      <p:ext uri="{BB962C8B-B14F-4D97-AF65-F5344CB8AC3E}">
        <p14:creationId xmlns:p14="http://schemas.microsoft.com/office/powerpoint/2010/main" val="3284925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Computer_progra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481547"/>
            <a:ext cx="9989861" cy="2677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prstClr val="black"/>
                </a:solidFill>
              </a:rPr>
              <a:t>TATA </a:t>
            </a:r>
            <a:r>
              <a:rPr lang="en-US" sz="4000" b="1" dirty="0" err="1">
                <a:solidFill>
                  <a:prstClr val="black"/>
                </a:solidFill>
              </a:rPr>
              <a:t>iQ</a:t>
            </a:r>
            <a:endParaRPr lang="en-US" sz="4000" b="1" dirty="0">
              <a:solidFill>
                <a:prstClr val="black"/>
              </a:solidFill>
            </a:endParaRPr>
          </a:p>
          <a:p>
            <a:pPr algn="l"/>
            <a:r>
              <a:rPr lang="en-US" sz="3500" dirty="0">
                <a:solidFill>
                  <a:prstClr val="black"/>
                </a:solidFill>
              </a:rPr>
              <a:t>Unix Training</a:t>
            </a:r>
            <a:br>
              <a:rPr lang="en-US" sz="4000" b="1" dirty="0">
                <a:solidFill>
                  <a:prstClr val="black"/>
                </a:solidFill>
              </a:rPr>
            </a:br>
            <a:endParaRPr lang="en-IN" sz="3600" dirty="0">
              <a:solidFill>
                <a:prstClr val="black"/>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
        <p:nvSpPr>
          <p:cNvPr id="3" name="Title 2"/>
          <p:cNvSpPr>
            <a:spLocks noGrp="1"/>
          </p:cNvSpPr>
          <p:nvPr>
            <p:ph type="title"/>
          </p:nvPr>
        </p:nvSpPr>
        <p:spPr/>
        <p:txBody>
          <a:bodyPr/>
          <a:lstStyle/>
          <a:p>
            <a:r>
              <a:rPr lang="en-IN" dirty="0"/>
              <a:t> </a:t>
            </a:r>
          </a:p>
        </p:txBody>
      </p:sp>
    </p:spTree>
    <p:extLst>
      <p:ext uri="{BB962C8B-B14F-4D97-AF65-F5344CB8AC3E}">
        <p14:creationId xmlns:p14="http://schemas.microsoft.com/office/powerpoint/2010/main" val="363818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OS Introduction</a:t>
            </a:r>
          </a:p>
        </p:txBody>
      </p:sp>
    </p:spTree>
    <p:extLst>
      <p:ext uri="{BB962C8B-B14F-4D97-AF65-F5344CB8AC3E}">
        <p14:creationId xmlns:p14="http://schemas.microsoft.com/office/powerpoint/2010/main" val="52988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an OS &amp; why do we need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528357" y="1618037"/>
            <a:ext cx="10380374" cy="856136"/>
          </a:xfrm>
        </p:spPr>
        <p:txBody>
          <a:bodyPr/>
          <a:lstStyle/>
          <a:p>
            <a:r>
              <a:rPr lang="en-IN" dirty="0"/>
              <a:t>The operating system (OS) is the most important program that runs on a computer</a:t>
            </a:r>
            <a:endParaRPr lang="en-US" dirty="0"/>
          </a:p>
        </p:txBody>
      </p:sp>
      <p:pic>
        <p:nvPicPr>
          <p:cNvPr id="1026" name="Picture 2" descr="http://static.topyaps.com/wp-content/uploads/2013/04/operating_syste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59" y="3417538"/>
            <a:ext cx="3958073" cy="2638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e/e1/Operating_system_placement.svg/165px-Operating_system_placem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6628" y="3417538"/>
            <a:ext cx="1739039" cy="257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23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22304679"/>
              </p:ext>
            </p:extLst>
          </p:nvPr>
        </p:nvGraphicFramePr>
        <p:xfrm>
          <a:off x="462819" y="1202974"/>
          <a:ext cx="11244255" cy="5618480"/>
        </p:xfrm>
        <a:graphic>
          <a:graphicData uri="http://schemas.openxmlformats.org/drawingml/2006/table">
            <a:tbl>
              <a:tblPr firstRow="1" bandRow="1">
                <a:tableStyleId>{5C22544A-7EE6-4342-B048-85BDC9FD1C3A}</a:tableStyleId>
              </a:tblPr>
              <a:tblGrid>
                <a:gridCol w="1838421">
                  <a:extLst>
                    <a:ext uri="{9D8B030D-6E8A-4147-A177-3AD203B41FA5}">
                      <a16:colId xmlns:a16="http://schemas.microsoft.com/office/drawing/2014/main" val="20000"/>
                    </a:ext>
                  </a:extLst>
                </a:gridCol>
                <a:gridCol w="2623717">
                  <a:extLst>
                    <a:ext uri="{9D8B030D-6E8A-4147-A177-3AD203B41FA5}">
                      <a16:colId xmlns:a16="http://schemas.microsoft.com/office/drawing/2014/main" val="20001"/>
                    </a:ext>
                  </a:extLst>
                </a:gridCol>
                <a:gridCol w="2231069">
                  <a:extLst>
                    <a:ext uri="{9D8B030D-6E8A-4147-A177-3AD203B41FA5}">
                      <a16:colId xmlns:a16="http://schemas.microsoft.com/office/drawing/2014/main" val="20002"/>
                    </a:ext>
                  </a:extLst>
                </a:gridCol>
                <a:gridCol w="1386117">
                  <a:extLst>
                    <a:ext uri="{9D8B030D-6E8A-4147-A177-3AD203B41FA5}">
                      <a16:colId xmlns:a16="http://schemas.microsoft.com/office/drawing/2014/main" val="20003"/>
                    </a:ext>
                  </a:extLst>
                </a:gridCol>
                <a:gridCol w="3164931">
                  <a:extLst>
                    <a:ext uri="{9D8B030D-6E8A-4147-A177-3AD203B41FA5}">
                      <a16:colId xmlns:a16="http://schemas.microsoft.com/office/drawing/2014/main" val="20004"/>
                    </a:ext>
                  </a:extLst>
                </a:gridCol>
              </a:tblGrid>
              <a:tr h="0">
                <a:tc>
                  <a:txBody>
                    <a:bodyPr/>
                    <a:lstStyle/>
                    <a:p>
                      <a:r>
                        <a:rPr lang="en-IN" dirty="0"/>
                        <a:t>Features</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val="10000"/>
                  </a:ext>
                </a:extLst>
              </a:tr>
              <a:tr h="370840">
                <a:tc>
                  <a:txBody>
                    <a:bodyPr/>
                    <a:lstStyle/>
                    <a:p>
                      <a:r>
                        <a:rPr lang="en-IN" sz="1400" dirty="0"/>
                        <a:t>User Interface</a:t>
                      </a:r>
                    </a:p>
                  </a:txBody>
                  <a:tcPr/>
                </a:tc>
                <a:tc>
                  <a:txBody>
                    <a:bodyPr/>
                    <a:lstStyle/>
                    <a:p>
                      <a:r>
                        <a:rPr lang="en-IN" sz="1400" dirty="0"/>
                        <a:t>Excellent ( Easy to</a:t>
                      </a:r>
                      <a:r>
                        <a:rPr lang="en-IN" sz="1400" baseline="0" dirty="0"/>
                        <a:t> understand)</a:t>
                      </a:r>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Excellent( Easy to</a:t>
                      </a:r>
                      <a:r>
                        <a:rPr lang="en-IN" sz="1400" baseline="0" dirty="0"/>
                        <a:t> understand)</a:t>
                      </a:r>
                      <a:endParaRPr lang="en-IN" sz="1400" dirty="0"/>
                    </a:p>
                    <a:p>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Good (Needs</a:t>
                      </a:r>
                      <a:r>
                        <a:rPr lang="en-IN" sz="1400" baseline="0" dirty="0"/>
                        <a:t> some practice </a:t>
                      </a:r>
                      <a:r>
                        <a:rPr lang="en-IN" sz="1400" dirty="0"/>
                        <a:t>to</a:t>
                      </a:r>
                      <a:r>
                        <a:rPr lang="en-IN" sz="1400" baseline="0" dirty="0"/>
                        <a:t> understand)</a:t>
                      </a:r>
                      <a:endParaRPr lang="en-IN" sz="1400" dirty="0"/>
                    </a:p>
                    <a:p>
                      <a:endParaRPr lang="en-IN" sz="1400" dirty="0"/>
                    </a:p>
                  </a:txBody>
                  <a:tcPr/>
                </a:tc>
                <a:tc>
                  <a:txBody>
                    <a:bodyPr/>
                    <a:lstStyle/>
                    <a:p>
                      <a:r>
                        <a:rPr lang="en-IN" sz="1400" dirty="0">
                          <a:solidFill>
                            <a:schemeClr val="tx1"/>
                          </a:solidFill>
                        </a:rPr>
                        <a:t>Medium ( Very difficult</a:t>
                      </a:r>
                      <a:r>
                        <a:rPr lang="en-IN" sz="1400" baseline="0" dirty="0">
                          <a:solidFill>
                            <a:schemeClr val="tx1"/>
                          </a:solidFill>
                        </a:rPr>
                        <a:t> )</a:t>
                      </a:r>
                      <a:endParaRPr lang="en-IN" sz="1400" dirty="0">
                        <a:solidFill>
                          <a:schemeClr val="tx1"/>
                        </a:solidFill>
                      </a:endParaRPr>
                    </a:p>
                  </a:txBody>
                  <a:tcPr/>
                </a:tc>
                <a:extLst>
                  <a:ext uri="{0D108BD9-81ED-4DB2-BD59-A6C34878D82A}">
                    <a16:rowId xmlns:a16="http://schemas.microsoft.com/office/drawing/2014/main" val="10001"/>
                  </a:ext>
                </a:extLst>
              </a:tr>
              <a:tr h="370840">
                <a:tc>
                  <a:txBody>
                    <a:bodyPr/>
                    <a:lstStyle/>
                    <a:p>
                      <a:r>
                        <a:rPr lang="en-IN" sz="1400" dirty="0"/>
                        <a:t>Security</a:t>
                      </a:r>
                    </a:p>
                  </a:txBody>
                  <a:tcPr/>
                </a:tc>
                <a:tc>
                  <a:txBody>
                    <a:bodyPr/>
                    <a:lstStyle/>
                    <a:p>
                      <a:r>
                        <a:rPr lang="en-IN" sz="1400" dirty="0"/>
                        <a:t>Moderate</a:t>
                      </a:r>
                    </a:p>
                  </a:txBody>
                  <a:tcPr/>
                </a:tc>
                <a:tc>
                  <a:txBody>
                    <a:bodyPr/>
                    <a:lstStyle/>
                    <a:p>
                      <a:r>
                        <a:rPr lang="en-IN" sz="1400" dirty="0"/>
                        <a:t>High</a:t>
                      </a:r>
                    </a:p>
                  </a:txBody>
                  <a:tcPr/>
                </a:tc>
                <a:tc>
                  <a:txBody>
                    <a:bodyPr/>
                    <a:lstStyle/>
                    <a:p>
                      <a:r>
                        <a:rPr lang="en-IN" sz="1400" dirty="0"/>
                        <a:t>Highly</a:t>
                      </a:r>
                      <a:r>
                        <a:rPr lang="en-IN" sz="1400" baseline="0" dirty="0"/>
                        <a:t> Secure</a:t>
                      </a:r>
                      <a:endParaRPr lang="en-IN" sz="1400" dirty="0"/>
                    </a:p>
                  </a:txBody>
                  <a:tcPr/>
                </a:tc>
                <a:tc>
                  <a:txBody>
                    <a:bodyPr/>
                    <a:lstStyle/>
                    <a:p>
                      <a:r>
                        <a:rPr lang="en-IN" sz="1400" dirty="0"/>
                        <a:t>Highly Secure</a:t>
                      </a:r>
                    </a:p>
                  </a:txBody>
                  <a:tcPr/>
                </a:tc>
                <a:extLst>
                  <a:ext uri="{0D108BD9-81ED-4DB2-BD59-A6C34878D82A}">
                    <a16:rowId xmlns:a16="http://schemas.microsoft.com/office/drawing/2014/main" val="10002"/>
                  </a:ext>
                </a:extLst>
              </a:tr>
              <a:tr h="370840">
                <a:tc>
                  <a:txBody>
                    <a:bodyPr/>
                    <a:lstStyle/>
                    <a:p>
                      <a:r>
                        <a:rPr lang="en-IN" sz="1400" dirty="0"/>
                        <a:t>Compatibility</a:t>
                      </a:r>
                    </a:p>
                  </a:txBody>
                  <a:tcPr/>
                </a:tc>
                <a:tc>
                  <a:txBody>
                    <a:bodyPr/>
                    <a:lstStyle/>
                    <a:p>
                      <a:r>
                        <a:rPr lang="en-IN" sz="1400" dirty="0"/>
                        <a:t>Runs on any hardware</a:t>
                      </a:r>
                    </a:p>
                  </a:txBody>
                  <a:tcPr/>
                </a:tc>
                <a:tc>
                  <a:txBody>
                    <a:bodyPr/>
                    <a:lstStyle/>
                    <a:p>
                      <a:r>
                        <a:rPr lang="en-IN" sz="1400" dirty="0"/>
                        <a:t>Runs only on Apple</a:t>
                      </a:r>
                    </a:p>
                  </a:txBody>
                  <a:tcPr/>
                </a:tc>
                <a:tc>
                  <a:txBody>
                    <a:bodyPr/>
                    <a:lstStyle/>
                    <a:p>
                      <a:r>
                        <a:rPr lang="en-IN" sz="1400" dirty="0"/>
                        <a:t>Any Hardware</a:t>
                      </a:r>
                    </a:p>
                  </a:txBody>
                  <a:tcPr/>
                </a:tc>
                <a:tc>
                  <a:txBody>
                    <a:bodyPr/>
                    <a:lstStyle/>
                    <a:p>
                      <a:r>
                        <a:rPr lang="en-IN" sz="1400" dirty="0"/>
                        <a:t>Any Hardware</a:t>
                      </a:r>
                    </a:p>
                  </a:txBody>
                  <a:tcPr/>
                </a:tc>
                <a:extLst>
                  <a:ext uri="{0D108BD9-81ED-4DB2-BD59-A6C34878D82A}">
                    <a16:rowId xmlns:a16="http://schemas.microsoft.com/office/drawing/2014/main" val="10003"/>
                  </a:ext>
                </a:extLst>
              </a:tr>
              <a:tr h="370840">
                <a:tc>
                  <a:txBody>
                    <a:bodyPr/>
                    <a:lstStyle/>
                    <a:p>
                      <a:r>
                        <a:rPr lang="en-IN" sz="1400" dirty="0"/>
                        <a:t>Performance</a:t>
                      </a:r>
                    </a:p>
                  </a:txBody>
                  <a:tcPr/>
                </a:tc>
                <a:tc>
                  <a:txBody>
                    <a:bodyPr/>
                    <a:lstStyle/>
                    <a:p>
                      <a:r>
                        <a:rPr lang="en-IN" sz="1400" dirty="0"/>
                        <a:t>Slow( too many apps running)</a:t>
                      </a:r>
                    </a:p>
                  </a:txBody>
                  <a:tcPr/>
                </a:tc>
                <a:tc>
                  <a:txBody>
                    <a:bodyPr/>
                    <a:lstStyle/>
                    <a:p>
                      <a:r>
                        <a:rPr lang="en-IN" sz="1400" dirty="0"/>
                        <a:t>Slow </a:t>
                      </a:r>
                    </a:p>
                  </a:txBody>
                  <a:tcPr/>
                </a:tc>
                <a:tc>
                  <a:txBody>
                    <a:bodyPr/>
                    <a:lstStyle/>
                    <a:p>
                      <a:r>
                        <a:rPr lang="en-IN" sz="1400" dirty="0"/>
                        <a:t>Fast</a:t>
                      </a:r>
                    </a:p>
                  </a:txBody>
                  <a:tcPr/>
                </a:tc>
                <a:tc>
                  <a:txBody>
                    <a:bodyPr/>
                    <a:lstStyle/>
                    <a:p>
                      <a:r>
                        <a:rPr lang="en-IN" sz="1400" dirty="0"/>
                        <a:t>Fastest</a:t>
                      </a:r>
                    </a:p>
                  </a:txBody>
                  <a:tcPr/>
                </a:tc>
                <a:extLst>
                  <a:ext uri="{0D108BD9-81ED-4DB2-BD59-A6C34878D82A}">
                    <a16:rowId xmlns:a16="http://schemas.microsoft.com/office/drawing/2014/main" val="10004"/>
                  </a:ext>
                </a:extLst>
              </a:tr>
              <a:tr h="370840">
                <a:tc>
                  <a:txBody>
                    <a:bodyPr/>
                    <a:lstStyle/>
                    <a:p>
                      <a:r>
                        <a:rPr lang="en-IN" sz="1400" dirty="0"/>
                        <a:t>Reliability</a:t>
                      </a:r>
                    </a:p>
                  </a:txBody>
                  <a:tcPr/>
                </a:tc>
                <a:tc>
                  <a:txBody>
                    <a:bodyPr/>
                    <a:lstStyle/>
                    <a:p>
                      <a:r>
                        <a:rPr lang="en-IN" sz="1400" dirty="0"/>
                        <a:t>Relatively Stable</a:t>
                      </a:r>
                      <a:r>
                        <a:rPr lang="en-IN" sz="1400" baseline="0" dirty="0"/>
                        <a:t> because the application needs to be secure on a regular basis.</a:t>
                      </a:r>
                    </a:p>
                  </a:txBody>
                  <a:tcPr/>
                </a:tc>
                <a:tc>
                  <a:txBody>
                    <a:bodyPr/>
                    <a:lstStyle/>
                    <a:p>
                      <a:r>
                        <a:rPr lang="en-IN" sz="1400" dirty="0"/>
                        <a:t>Better than Win,</a:t>
                      </a:r>
                      <a:r>
                        <a:rPr lang="en-IN" sz="1400" baseline="0" dirty="0"/>
                        <a:t> because of its restriction on hardware. Still apps needs to be updated</a:t>
                      </a:r>
                      <a:endParaRPr lang="en-IN" sz="1400" dirty="0"/>
                    </a:p>
                  </a:txBody>
                  <a:tcPr/>
                </a:tc>
                <a:tc>
                  <a:txBody>
                    <a:bodyPr/>
                    <a:lstStyle/>
                    <a:p>
                      <a:r>
                        <a:rPr lang="en-IN" sz="1400" dirty="0"/>
                        <a:t>Stable,</a:t>
                      </a:r>
                      <a:r>
                        <a:rPr lang="en-IN" sz="1400" baseline="0" dirty="0"/>
                        <a:t> not too many apps running.</a:t>
                      </a:r>
                      <a:endParaRPr lang="en-IN" sz="1400" dirty="0"/>
                    </a:p>
                  </a:txBody>
                  <a:tcPr/>
                </a:tc>
                <a:tc>
                  <a:txBody>
                    <a:bodyPr/>
                    <a:lstStyle/>
                    <a:p>
                      <a:r>
                        <a:rPr lang="en-IN" sz="1400" dirty="0"/>
                        <a:t>Highly stable.</a:t>
                      </a:r>
                      <a:r>
                        <a:rPr lang="en-IN" sz="1400" baseline="0" dirty="0"/>
                        <a:t> </a:t>
                      </a:r>
                      <a:endParaRPr lang="en-IN" sz="1400" dirty="0"/>
                    </a:p>
                  </a:txBody>
                  <a:tcPr/>
                </a:tc>
                <a:extLst>
                  <a:ext uri="{0D108BD9-81ED-4DB2-BD59-A6C34878D82A}">
                    <a16:rowId xmlns:a16="http://schemas.microsoft.com/office/drawing/2014/main" val="10005"/>
                  </a:ext>
                </a:extLst>
              </a:tr>
              <a:tr h="370840">
                <a:tc>
                  <a:txBody>
                    <a:bodyPr/>
                    <a:lstStyle/>
                    <a:p>
                      <a:r>
                        <a:rPr lang="en-IN" sz="1400" dirty="0"/>
                        <a:t>Cost</a:t>
                      </a:r>
                    </a:p>
                  </a:txBody>
                  <a:tcPr/>
                </a:tc>
                <a:tc>
                  <a:txBody>
                    <a:bodyPr/>
                    <a:lstStyle/>
                    <a:p>
                      <a:r>
                        <a:rPr lang="en-IN" sz="1400" baseline="0" dirty="0"/>
                        <a:t>Expensive</a:t>
                      </a:r>
                    </a:p>
                  </a:txBody>
                  <a:tcPr/>
                </a:tc>
                <a:tc>
                  <a:txBody>
                    <a:bodyPr/>
                    <a:lstStyle/>
                    <a:p>
                      <a:r>
                        <a:rPr lang="en-IN" sz="1400" dirty="0"/>
                        <a:t>Expensive</a:t>
                      </a:r>
                    </a:p>
                  </a:txBody>
                  <a:tcPr/>
                </a:tc>
                <a:tc>
                  <a:txBody>
                    <a:bodyPr/>
                    <a:lstStyle/>
                    <a:p>
                      <a:r>
                        <a:rPr lang="en-IN" sz="1400" dirty="0"/>
                        <a:t>Cheapest</a:t>
                      </a:r>
                    </a:p>
                  </a:txBody>
                  <a:tcPr/>
                </a:tc>
                <a:tc>
                  <a:txBody>
                    <a:bodyPr/>
                    <a:lstStyle/>
                    <a:p>
                      <a:r>
                        <a:rPr lang="en-IN" sz="1400" dirty="0"/>
                        <a:t>Most Expensive</a:t>
                      </a:r>
                    </a:p>
                  </a:txBody>
                  <a:tcPr/>
                </a:tc>
                <a:extLst>
                  <a:ext uri="{0D108BD9-81ED-4DB2-BD59-A6C34878D82A}">
                    <a16:rowId xmlns:a16="http://schemas.microsoft.com/office/drawing/2014/main" val="10006"/>
                  </a:ext>
                </a:extLst>
              </a:tr>
              <a:tr h="370840">
                <a:tc>
                  <a:txBody>
                    <a:bodyPr/>
                    <a:lstStyle/>
                    <a:p>
                      <a:r>
                        <a:rPr lang="en-IN" sz="1400" dirty="0"/>
                        <a:t>Machines/HW</a:t>
                      </a:r>
                    </a:p>
                  </a:txBody>
                  <a:tcPr/>
                </a:tc>
                <a:tc>
                  <a:txBody>
                    <a:bodyPr/>
                    <a:lstStyle/>
                    <a:p>
                      <a:r>
                        <a:rPr lang="en-IN" sz="1400" baseline="0" dirty="0"/>
                        <a:t>Laptop and desktops</a:t>
                      </a:r>
                    </a:p>
                  </a:txBody>
                  <a:tcPr/>
                </a:tc>
                <a:tc>
                  <a:txBody>
                    <a:bodyPr/>
                    <a:lstStyle/>
                    <a:p>
                      <a:r>
                        <a:rPr lang="en-IN" sz="1400" dirty="0"/>
                        <a:t>Laptops</a:t>
                      </a:r>
                      <a:r>
                        <a:rPr lang="en-IN" sz="1400" baseline="0" dirty="0"/>
                        <a:t> and desktops</a:t>
                      </a:r>
                      <a:endParaRPr lang="en-IN" sz="1400" dirty="0"/>
                    </a:p>
                  </a:txBody>
                  <a:tcPr/>
                </a:tc>
                <a:tc>
                  <a:txBody>
                    <a:bodyPr/>
                    <a:lstStyle/>
                    <a:p>
                      <a:r>
                        <a:rPr lang="en-IN" sz="1400" dirty="0"/>
                        <a:t>smaller, less critical Mainframe application or servers</a:t>
                      </a:r>
                    </a:p>
                  </a:txBody>
                  <a:tcPr/>
                </a:tc>
                <a:tc>
                  <a:txBody>
                    <a:bodyPr/>
                    <a:lstStyle/>
                    <a:p>
                      <a:r>
                        <a:rPr lang="en-IN" sz="1400" dirty="0"/>
                        <a:t>Heavy</a:t>
                      </a:r>
                      <a:r>
                        <a:rPr lang="en-IN" sz="1400" baseline="0" dirty="0"/>
                        <a:t> </a:t>
                      </a:r>
                      <a:r>
                        <a:rPr lang="en-IN" sz="1400" dirty="0"/>
                        <a:t>Mainframe</a:t>
                      </a:r>
                      <a:r>
                        <a:rPr lang="en-IN" sz="1400" baseline="0" dirty="0"/>
                        <a:t> server</a:t>
                      </a:r>
                      <a:r>
                        <a:rPr lang="en-IN" sz="1400" dirty="0"/>
                        <a:t> applications.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76813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3" name="Content Placeholder 2"/>
          <p:cNvSpPr>
            <a:spLocks noGrp="1"/>
          </p:cNvSpPr>
          <p:nvPr>
            <p:ph idx="1"/>
          </p:nvPr>
        </p:nvSpPr>
        <p:spPr>
          <a:xfrm>
            <a:off x="1142119" y="1402996"/>
            <a:ext cx="8761412" cy="4327244"/>
          </a:xfrm>
        </p:spPr>
        <p:txBody>
          <a:bodyPr>
            <a:normAutofit/>
          </a:bodyPr>
          <a:lstStyle/>
          <a:p>
            <a:r>
              <a:rPr lang="en-IN" dirty="0"/>
              <a:t>Unix is </a:t>
            </a:r>
            <a:r>
              <a:rPr lang="en-IN" b="1" dirty="0"/>
              <a:t>secure</a:t>
            </a:r>
            <a:r>
              <a:rPr lang="en-IN" dirty="0"/>
              <a:t> and most tools are </a:t>
            </a:r>
            <a:r>
              <a:rPr lang="en-IN" b="1" dirty="0"/>
              <a:t>free</a:t>
            </a:r>
          </a:p>
          <a:p>
            <a:r>
              <a:rPr lang="en-IN" dirty="0"/>
              <a:t>Configuration is </a:t>
            </a:r>
            <a:r>
              <a:rPr lang="en-IN" b="1" dirty="0"/>
              <a:t>simple</a:t>
            </a:r>
            <a:r>
              <a:rPr lang="en-IN" dirty="0"/>
              <a:t>. Another of Unix's big philosophies is that configuration files should be easy to maintain. </a:t>
            </a:r>
          </a:p>
          <a:p>
            <a:r>
              <a:rPr lang="en-IN" dirty="0"/>
              <a:t>Unix systems are </a:t>
            </a:r>
            <a:r>
              <a:rPr lang="en-IN" b="1" dirty="0"/>
              <a:t>easy to automate</a:t>
            </a:r>
            <a:r>
              <a:rPr lang="en-IN" dirty="0"/>
              <a:t>, and </a:t>
            </a:r>
            <a:r>
              <a:rPr lang="en-IN" b="1" dirty="0"/>
              <a:t>easy to program for</a:t>
            </a:r>
            <a:r>
              <a:rPr lang="en-IN" dirty="0"/>
              <a:t>. </a:t>
            </a:r>
          </a:p>
          <a:p>
            <a:r>
              <a:rPr lang="en-IN" dirty="0"/>
              <a:t>Uptime is much better on a Unix system than a Windows one.</a:t>
            </a:r>
          </a:p>
          <a:p>
            <a:r>
              <a:rPr lang="en-IN" dirty="0"/>
              <a:t>Licensing is simple.</a:t>
            </a:r>
          </a:p>
          <a:p>
            <a:r>
              <a:rPr lang="en-IN" dirty="0"/>
              <a:t>Google says there are around 139,000 results for  an image search for "</a:t>
            </a:r>
            <a:r>
              <a:rPr lang="en-IN" dirty="0" err="1"/>
              <a:t>unix</a:t>
            </a:r>
            <a:r>
              <a:rPr lang="en-IN" dirty="0"/>
              <a:t> family tree" - so describing the history of UNIX is clearly something a LOT of people have put time into.</a:t>
            </a:r>
          </a:p>
          <a:p>
            <a:endParaRPr lang="en-IN" dirty="0"/>
          </a:p>
        </p:txBody>
      </p:sp>
    </p:spTree>
    <p:extLst>
      <p:ext uri="{BB962C8B-B14F-4D97-AF65-F5344CB8AC3E}">
        <p14:creationId xmlns:p14="http://schemas.microsoft.com/office/powerpoint/2010/main" val="3874140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Unix</a:t>
            </a:r>
          </a:p>
        </p:txBody>
      </p:sp>
    </p:spTree>
    <p:extLst>
      <p:ext uri="{BB962C8B-B14F-4D97-AF65-F5344CB8AC3E}">
        <p14:creationId xmlns:p14="http://schemas.microsoft.com/office/powerpoint/2010/main" val="2566180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www.federaljack.com/ebooks/Computers%20-%20Informatin%20Technology/40%20Computer%20Know%20All%20Books%5D/Upgrading%20and%20Repairing%20Networks%20-%20QUE/ch10/10fig0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7744" y="1744933"/>
            <a:ext cx="3143794" cy="443302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5"/>
          <p:cNvSpPr txBox="1">
            <a:spLocks/>
          </p:cNvSpPr>
          <p:nvPr/>
        </p:nvSpPr>
        <p:spPr>
          <a:xfrm>
            <a:off x="528358" y="1618036"/>
            <a:ext cx="7823164"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a:t>Written by Ken Thompson and Dennis Ritchie</a:t>
            </a:r>
          </a:p>
          <a:p>
            <a:r>
              <a:rPr lang="en-IN" dirty="0"/>
              <a:t>Developed at Bell Laboratories, USA derived from Multics(1969)</a:t>
            </a:r>
          </a:p>
          <a:p>
            <a:r>
              <a:rPr lang="en-IN" dirty="0"/>
              <a:t>Firstly developed in ‘B’ then rewritten in ‘C’</a:t>
            </a:r>
          </a:p>
          <a:p>
            <a:r>
              <a:rPr lang="en-IN" dirty="0"/>
              <a:t>Two Flavours</a:t>
            </a:r>
          </a:p>
          <a:p>
            <a:pPr lvl="1"/>
            <a:r>
              <a:rPr lang="en-IN" dirty="0"/>
              <a:t>System V ( Commercial run by AT&amp;T)</a:t>
            </a:r>
          </a:p>
          <a:p>
            <a:pPr lvl="1"/>
            <a:r>
              <a:rPr lang="en-IN" dirty="0"/>
              <a:t>BSD (Educational, run by Bell Labs)</a:t>
            </a:r>
            <a:endParaRPr lang="en-US" dirty="0"/>
          </a:p>
          <a:p>
            <a:r>
              <a:rPr lang="en-US" dirty="0"/>
              <a:t>Recent Development are graphical interface</a:t>
            </a:r>
          </a:p>
          <a:p>
            <a:pPr lvl="1"/>
            <a:r>
              <a:rPr lang="en-US" dirty="0"/>
              <a:t>Motif, X windows, open view </a:t>
            </a:r>
          </a:p>
          <a:p>
            <a:r>
              <a:rPr lang="en-US" dirty="0"/>
              <a:t>Major Suppliers</a:t>
            </a:r>
          </a:p>
          <a:p>
            <a:pPr lvl="1"/>
            <a:r>
              <a:rPr lang="en-US" dirty="0"/>
              <a:t>Sun, IBM, HP, DEC</a:t>
            </a:r>
          </a:p>
          <a:p>
            <a:r>
              <a:rPr lang="en-US" dirty="0"/>
              <a:t>Free and open source Unix System is call Linux</a:t>
            </a:r>
          </a:p>
          <a:p>
            <a:pPr lvl="1"/>
            <a:r>
              <a:rPr lang="en-US" dirty="0"/>
              <a:t>Ubuntu, </a:t>
            </a:r>
            <a:r>
              <a:rPr lang="en-US" dirty="0" err="1"/>
              <a:t>Debian</a:t>
            </a:r>
            <a:r>
              <a:rPr lang="en-US" dirty="0"/>
              <a:t>, CentOS, Fedora, Red hat, </a:t>
            </a:r>
          </a:p>
        </p:txBody>
      </p:sp>
    </p:spTree>
    <p:extLst>
      <p:ext uri="{BB962C8B-B14F-4D97-AF65-F5344CB8AC3E}">
        <p14:creationId xmlns:p14="http://schemas.microsoft.com/office/powerpoint/2010/main" val="265734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Kernel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038325" cy="3416300"/>
          </a:xfrm>
        </p:spPr>
        <p:txBody>
          <a:bodyPr/>
          <a:lstStyle/>
          <a:p>
            <a:r>
              <a:rPr lang="en-IN" dirty="0"/>
              <a:t>The </a:t>
            </a:r>
            <a:r>
              <a:rPr lang="en-IN" b="1" dirty="0"/>
              <a:t>kernel</a:t>
            </a:r>
            <a:r>
              <a:rPr lang="en-IN" dirty="0"/>
              <a:t> is a </a:t>
            </a:r>
            <a:r>
              <a:rPr lang="en-IN" dirty="0">
                <a:hlinkClick r:id="rId3" tooltip="Computer program"/>
              </a:rPr>
              <a:t>computer program</a:t>
            </a:r>
            <a:r>
              <a:rPr lang="en-IN" dirty="0"/>
              <a:t> that constitutes the central core of a computer's operating system. It has complete control over everything that occurs in the system.</a:t>
            </a:r>
          </a:p>
          <a:p>
            <a:r>
              <a:rPr lang="en-IN" dirty="0"/>
              <a:t> It is the first program loaded on start-up, and then manages the remainder of the start-up</a:t>
            </a:r>
            <a:endParaRPr lang="en-US" dirty="0"/>
          </a:p>
        </p:txBody>
      </p:sp>
      <p:pic>
        <p:nvPicPr>
          <p:cNvPr id="1026" name="Picture 2" descr="http://www.tutorialspoint.com/unix/images/unix_architectur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5793" y="3135084"/>
            <a:ext cx="3242503" cy="32425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blog.digilentinc.com/wp-content/uploads/2015/05/1280px-Kernel_Layout.svg_.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23351" y="1448245"/>
            <a:ext cx="1967388" cy="1555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9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792481" y="1593669"/>
            <a:ext cx="6453050" cy="4450079"/>
          </a:xfrm>
        </p:spPr>
        <p:txBody>
          <a:bodyPr/>
          <a:lstStyle/>
          <a:p>
            <a:r>
              <a:rPr lang="en-IN" dirty="0"/>
              <a:t>The </a:t>
            </a:r>
            <a:r>
              <a:rPr lang="en-IN" b="1" dirty="0"/>
              <a:t>shell</a:t>
            </a:r>
            <a:r>
              <a:rPr lang="en-IN" dirty="0"/>
              <a:t> is a program that takes your commands from the keyboard and gives them to the operating system to perform.</a:t>
            </a:r>
          </a:p>
          <a:p>
            <a:r>
              <a:rPr lang="en-IN" b="1" dirty="0"/>
              <a:t>Shell</a:t>
            </a:r>
            <a:r>
              <a:rPr lang="en-IN" dirty="0"/>
              <a:t> is a </a:t>
            </a:r>
            <a:r>
              <a:rPr lang="en-IN" b="1" dirty="0"/>
              <a:t>UNIX</a:t>
            </a:r>
            <a:r>
              <a:rPr lang="en-IN" dirty="0"/>
              <a:t> term for the interactive user interface with an operating system also known as command line interface(CLI) </a:t>
            </a:r>
          </a:p>
          <a:p>
            <a:r>
              <a:rPr lang="en-IN" dirty="0"/>
              <a:t>Examples- </a:t>
            </a:r>
            <a:r>
              <a:rPr lang="en-IN" dirty="0" err="1"/>
              <a:t>sh</a:t>
            </a:r>
            <a:r>
              <a:rPr lang="en-IN" dirty="0"/>
              <a:t>(Shell), bash(Bourne Again Shell), </a:t>
            </a:r>
            <a:r>
              <a:rPr lang="en-IN" dirty="0" err="1"/>
              <a:t>ksh</a:t>
            </a:r>
            <a:r>
              <a:rPr lang="en-IN" dirty="0"/>
              <a:t>(</a:t>
            </a:r>
            <a:r>
              <a:rPr lang="en-IN" dirty="0" err="1"/>
              <a:t>Korne</a:t>
            </a:r>
            <a:r>
              <a:rPr lang="en-IN" dirty="0"/>
              <a:t> Shell), </a:t>
            </a:r>
            <a:r>
              <a:rPr lang="en-IN" dirty="0" err="1"/>
              <a:t>tcsh</a:t>
            </a:r>
            <a:r>
              <a:rPr lang="en-IN" dirty="0"/>
              <a:t>, </a:t>
            </a:r>
            <a:r>
              <a:rPr lang="en-IN" dirty="0" err="1"/>
              <a:t>zsh</a:t>
            </a:r>
            <a:r>
              <a:rPr lang="en-IN" dirty="0"/>
              <a:t> etc..</a:t>
            </a:r>
            <a:endParaRPr lang="en-US" dirty="0"/>
          </a:p>
        </p:txBody>
      </p:sp>
      <p:pic>
        <p:nvPicPr>
          <p:cNvPr id="2052" name="Picture 4" descr="http://www.computerandyou.net/wp-content/uploads/2012/01/Terminal-icon-shell-linux-uni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5107" y="1310049"/>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897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Unix Commands</a:t>
            </a:r>
          </a:p>
        </p:txBody>
      </p:sp>
    </p:spTree>
    <p:extLst>
      <p:ext uri="{BB962C8B-B14F-4D97-AF65-F5344CB8AC3E}">
        <p14:creationId xmlns:p14="http://schemas.microsoft.com/office/powerpoint/2010/main" val="3410265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Log In and Out Commands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415204245"/>
              </p:ext>
            </p:extLst>
          </p:nvPr>
        </p:nvGraphicFramePr>
        <p:xfrm>
          <a:off x="775063" y="2290356"/>
          <a:ext cx="9483634" cy="3317964"/>
        </p:xfrm>
        <a:graphic>
          <a:graphicData uri="http://schemas.openxmlformats.org/drawingml/2006/table">
            <a:tbl>
              <a:tblPr firstRow="1" firstCol="1" bandRow="1">
                <a:tableStyleId>{5C22544A-7EE6-4342-B048-85BDC9FD1C3A}</a:tableStyleId>
              </a:tblPr>
              <a:tblGrid>
                <a:gridCol w="2292127">
                  <a:extLst>
                    <a:ext uri="{9D8B030D-6E8A-4147-A177-3AD203B41FA5}">
                      <a16:colId xmlns:a16="http://schemas.microsoft.com/office/drawing/2014/main" val="20000"/>
                    </a:ext>
                  </a:extLst>
                </a:gridCol>
                <a:gridCol w="7191507">
                  <a:extLst>
                    <a:ext uri="{9D8B030D-6E8A-4147-A177-3AD203B41FA5}">
                      <a16:colId xmlns:a16="http://schemas.microsoft.com/office/drawing/2014/main" val="20001"/>
                    </a:ext>
                  </a:extLst>
                </a:gridCol>
              </a:tblGrid>
              <a:tr h="520599">
                <a:tc>
                  <a:txBody>
                    <a:bodyPr/>
                    <a:lstStyle/>
                    <a:p>
                      <a:pPr>
                        <a:lnSpc>
                          <a:spcPct val="107000"/>
                        </a:lnSpc>
                        <a:spcAft>
                          <a:spcPts val="600"/>
                        </a:spcAft>
                      </a:pPr>
                      <a:r>
                        <a:rPr lang="en-IN" sz="1050">
                          <a:effectLst/>
                        </a:rPr>
                        <a:t>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r h="559473">
                <a:tc>
                  <a:txBody>
                    <a:bodyPr/>
                    <a:lstStyle/>
                    <a:p>
                      <a:pPr>
                        <a:lnSpc>
                          <a:spcPct val="107000"/>
                        </a:lnSpc>
                        <a:spcAft>
                          <a:spcPts val="600"/>
                        </a:spcAft>
                      </a:pPr>
                      <a:r>
                        <a:rPr lang="en-IN" sz="1200">
                          <a:effectLst/>
                        </a:rPr>
                        <a:t>login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Logon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1"/>
                  </a:ext>
                </a:extLst>
              </a:tr>
              <a:tr h="559473">
                <a:tc>
                  <a:txBody>
                    <a:bodyPr/>
                    <a:lstStyle/>
                    <a:p>
                      <a:pPr>
                        <a:lnSpc>
                          <a:spcPct val="107000"/>
                        </a:lnSpc>
                        <a:spcAft>
                          <a:spcPts val="600"/>
                        </a:spcAft>
                      </a:pPr>
                      <a:r>
                        <a:rPr lang="en-IN" sz="1200" dirty="0">
                          <a:effectLst/>
                        </a:rPr>
                        <a:t>logout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Logout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2"/>
                  </a:ext>
                </a:extLst>
              </a:tr>
              <a:tr h="559473">
                <a:tc>
                  <a:txBody>
                    <a:bodyPr/>
                    <a:lstStyle/>
                    <a:p>
                      <a:pPr>
                        <a:lnSpc>
                          <a:spcPct val="107000"/>
                        </a:lnSpc>
                        <a:spcAft>
                          <a:spcPts val="600"/>
                        </a:spcAft>
                      </a:pPr>
                      <a:r>
                        <a:rPr lang="en-IN" sz="1200">
                          <a:effectLst/>
                        </a:rPr>
                        <a:t>passwd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Change password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3"/>
                  </a:ext>
                </a:extLst>
              </a:tr>
              <a:tr h="559473">
                <a:tc>
                  <a:txBody>
                    <a:bodyPr/>
                    <a:lstStyle/>
                    <a:p>
                      <a:pPr>
                        <a:lnSpc>
                          <a:spcPct val="107000"/>
                        </a:lnSpc>
                        <a:spcAft>
                          <a:spcPts val="600"/>
                        </a:spcAft>
                      </a:pPr>
                      <a:r>
                        <a:rPr lang="en-IN" sz="1200">
                          <a:effectLst/>
                        </a:rPr>
                        <a:t>exit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Exit the terminal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4"/>
                  </a:ext>
                </a:extLst>
              </a:tr>
              <a:tr h="559473">
                <a:tc>
                  <a:txBody>
                    <a:bodyPr/>
                    <a:lstStyle/>
                    <a:p>
                      <a:pPr>
                        <a:lnSpc>
                          <a:spcPct val="107000"/>
                        </a:lnSpc>
                        <a:spcAft>
                          <a:spcPts val="600"/>
                        </a:spcAft>
                      </a:pPr>
                      <a:r>
                        <a:rPr lang="en-IN" sz="1200">
                          <a:effectLst/>
                        </a:rPr>
                        <a:t>shutdown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Shutdown the system.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74273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Information Command</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681793512"/>
              </p:ext>
            </p:extLst>
          </p:nvPr>
        </p:nvGraphicFramePr>
        <p:xfrm>
          <a:off x="528357" y="1799449"/>
          <a:ext cx="11113179" cy="3774626"/>
        </p:xfrm>
        <a:graphic>
          <a:graphicData uri="http://schemas.openxmlformats.org/drawingml/2006/table">
            <a:tbl>
              <a:tblPr firstRow="1" firstCol="1" bandRow="1">
                <a:tableStyleId>{5C22544A-7EE6-4342-B048-85BDC9FD1C3A}</a:tableStyleId>
              </a:tblPr>
              <a:tblGrid>
                <a:gridCol w="3070720">
                  <a:extLst>
                    <a:ext uri="{9D8B030D-6E8A-4147-A177-3AD203B41FA5}">
                      <a16:colId xmlns:a16="http://schemas.microsoft.com/office/drawing/2014/main" val="20000"/>
                    </a:ext>
                  </a:extLst>
                </a:gridCol>
                <a:gridCol w="8042459">
                  <a:extLst>
                    <a:ext uri="{9D8B030D-6E8A-4147-A177-3AD203B41FA5}">
                      <a16:colId xmlns:a16="http://schemas.microsoft.com/office/drawing/2014/main" val="20001"/>
                    </a:ext>
                  </a:extLst>
                </a:gridCol>
              </a:tblGrid>
              <a:tr h="387703">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r h="1008894">
                <a:tc>
                  <a:txBody>
                    <a:bodyPr/>
                    <a:lstStyle/>
                    <a:p>
                      <a:pPr>
                        <a:lnSpc>
                          <a:spcPct val="107000"/>
                        </a:lnSpc>
                        <a:spcAft>
                          <a:spcPts val="600"/>
                        </a:spcAft>
                      </a:pPr>
                      <a:r>
                        <a:rPr lang="en-IN" sz="1200" dirty="0">
                          <a:effectLst/>
                        </a:rPr>
                        <a:t>man [-option]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Manual or UNIX help command. The usual quit sequence `q (CR)' can be used to quit long UNIX `man' listings, `(CR)' is used for new `man' pages. During a IBM Telnet session the `Clear-key' is needed for new CMS pages that are not the same as the `man' pages. Otherwise `d', `q' or `Ctrl-c' should work for UNIX like access.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1"/>
                  </a:ext>
                </a:extLst>
              </a:tr>
              <a:tr h="470263">
                <a:tc>
                  <a:txBody>
                    <a:bodyPr/>
                    <a:lstStyle/>
                    <a:p>
                      <a:pPr>
                        <a:lnSpc>
                          <a:spcPct val="107000"/>
                        </a:lnSpc>
                        <a:spcAft>
                          <a:spcPts val="600"/>
                        </a:spcAft>
                      </a:pPr>
                      <a:r>
                        <a:rPr lang="en-IN" sz="1200">
                          <a:effectLst/>
                        </a:rPr>
                        <a:t>whereis [name]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Locates source for program or command; e.g. `whereis kermit'.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2"/>
                  </a:ext>
                </a:extLst>
              </a:tr>
              <a:tr h="657804">
                <a:tc>
                  <a:txBody>
                    <a:bodyPr/>
                    <a:lstStyle/>
                    <a:p>
                      <a:pPr>
                        <a:lnSpc>
                          <a:spcPct val="107000"/>
                        </a:lnSpc>
                        <a:spcAft>
                          <a:spcPts val="600"/>
                        </a:spcAft>
                      </a:pPr>
                      <a:r>
                        <a:rPr lang="en-IN" sz="1200" dirty="0">
                          <a:effectLst/>
                        </a:rPr>
                        <a:t>which [name]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Tell which version of a program or command will be used in your session in case of multiple copies; e.g. `which cc'.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3"/>
                  </a:ext>
                </a:extLst>
              </a:tr>
              <a:tr h="416654">
                <a:tc>
                  <a:txBody>
                    <a:bodyPr/>
                    <a:lstStyle/>
                    <a:p>
                      <a:pPr>
                        <a:lnSpc>
                          <a:spcPct val="107000"/>
                        </a:lnSpc>
                        <a:spcAft>
                          <a:spcPts val="600"/>
                        </a:spcAft>
                      </a:pPr>
                      <a:r>
                        <a:rPr lang="en-IN" sz="1200">
                          <a:effectLst/>
                        </a:rPr>
                        <a:t>whatis [command]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Describes the command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4"/>
                  </a:ext>
                </a:extLst>
              </a:tr>
              <a:tr h="416654">
                <a:tc>
                  <a:txBody>
                    <a:bodyPr/>
                    <a:lstStyle/>
                    <a:p>
                      <a:pPr>
                        <a:lnSpc>
                          <a:spcPct val="107000"/>
                        </a:lnSpc>
                        <a:spcAft>
                          <a:spcPts val="600"/>
                        </a:spcAft>
                      </a:pPr>
                      <a:r>
                        <a:rPr lang="en-IN" sz="1200">
                          <a:effectLst/>
                        </a:rPr>
                        <a:t>whoami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Displays current user id and access.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5"/>
                  </a:ext>
                </a:extLst>
              </a:tr>
              <a:tr h="416654">
                <a:tc>
                  <a:txBody>
                    <a:bodyPr/>
                    <a:lstStyle/>
                    <a:p>
                      <a:pPr>
                        <a:lnSpc>
                          <a:spcPct val="107000"/>
                        </a:lnSpc>
                        <a:spcAft>
                          <a:spcPts val="600"/>
                        </a:spcAft>
                      </a:pPr>
                      <a:r>
                        <a:rPr lang="en-IN" sz="1200" dirty="0">
                          <a:effectLst/>
                        </a:rPr>
                        <a:t>who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 Displays currently logged in users.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95805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Directory Commands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264663412"/>
              </p:ext>
            </p:extLst>
          </p:nvPr>
        </p:nvGraphicFramePr>
        <p:xfrm>
          <a:off x="528357" y="1558837"/>
          <a:ext cx="11245632" cy="4885503"/>
        </p:xfrm>
        <a:graphic>
          <a:graphicData uri="http://schemas.openxmlformats.org/drawingml/2006/table">
            <a:tbl>
              <a:tblPr firstRow="1" firstCol="1" bandRow="1">
                <a:tableStyleId>{5C22544A-7EE6-4342-B048-85BDC9FD1C3A}</a:tableStyleId>
              </a:tblPr>
              <a:tblGrid>
                <a:gridCol w="2960971">
                  <a:extLst>
                    <a:ext uri="{9D8B030D-6E8A-4147-A177-3AD203B41FA5}">
                      <a16:colId xmlns:a16="http://schemas.microsoft.com/office/drawing/2014/main" val="20000"/>
                    </a:ext>
                  </a:extLst>
                </a:gridCol>
                <a:gridCol w="8284661">
                  <a:extLst>
                    <a:ext uri="{9D8B030D-6E8A-4147-A177-3AD203B41FA5}">
                      <a16:colId xmlns:a16="http://schemas.microsoft.com/office/drawing/2014/main" val="20001"/>
                    </a:ext>
                  </a:extLst>
                </a:gridCol>
              </a:tblGrid>
              <a:tr h="268581">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0"/>
                  </a:ext>
                </a:extLst>
              </a:tr>
              <a:tr h="428324">
                <a:tc>
                  <a:txBody>
                    <a:bodyPr/>
                    <a:lstStyle/>
                    <a:p>
                      <a:pPr>
                        <a:lnSpc>
                          <a:spcPct val="107000"/>
                        </a:lnSpc>
                        <a:spcAft>
                          <a:spcPts val="600"/>
                        </a:spcAft>
                      </a:pPr>
                      <a:r>
                        <a:rPr lang="en-IN" sz="1000">
                          <a:effectLst/>
                        </a:rPr>
                        <a:t>mkdir [name]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Makes a directory or file group name [name]; e.g. `mkdir dirpgm' make the directory called `dirpgm'.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1"/>
                  </a:ext>
                </a:extLst>
              </a:tr>
              <a:tr h="428324">
                <a:tc>
                  <a:txBody>
                    <a:bodyPr/>
                    <a:lstStyle/>
                    <a:p>
                      <a:pPr>
                        <a:lnSpc>
                          <a:spcPct val="107000"/>
                        </a:lnSpc>
                        <a:spcAft>
                          <a:spcPts val="600"/>
                        </a:spcAft>
                      </a:pPr>
                      <a:r>
                        <a:rPr lang="en-IN" sz="1000" dirty="0" err="1">
                          <a:effectLst/>
                        </a:rPr>
                        <a:t>pushd</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 Pushes from the working directory to the directory [name] keeping the sequence of directories in a buffer for `popd'.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2"/>
                  </a:ext>
                </a:extLst>
              </a:tr>
              <a:tr h="582470">
                <a:tc>
                  <a:txBody>
                    <a:bodyPr/>
                    <a:lstStyle/>
                    <a:p>
                      <a:pPr>
                        <a:lnSpc>
                          <a:spcPct val="107000"/>
                        </a:lnSpc>
                        <a:spcAft>
                          <a:spcPts val="600"/>
                        </a:spcAft>
                      </a:pPr>
                      <a:r>
                        <a:rPr lang="en-IN" sz="1000" dirty="0" err="1">
                          <a:effectLst/>
                        </a:rPr>
                        <a:t>popd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Pops back up to the prior directory, if `pushd' was used before. For this reason, `pushd' and `popd' are more useful than the regular change directory command `cd'.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3"/>
                  </a:ext>
                </a:extLst>
              </a:tr>
              <a:tr h="468921">
                <a:tc>
                  <a:txBody>
                    <a:bodyPr/>
                    <a:lstStyle/>
                    <a:p>
                      <a:pPr>
                        <a:lnSpc>
                          <a:spcPct val="107000"/>
                        </a:lnSpc>
                        <a:spcAft>
                          <a:spcPts val="600"/>
                        </a:spcAft>
                      </a:pPr>
                      <a:r>
                        <a:rPr lang="en-IN" sz="1000" dirty="0">
                          <a:effectLst/>
                        </a:rPr>
                        <a:t>cd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the working directory to the directory [directory]; you can change it back with `cd' using your own login id; `cd $HOME (CR)' returns the shell back to your home directory. `.' denotes the current directory and `..' denotes the root or parent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4"/>
                  </a:ext>
                </a:extLst>
              </a:tr>
              <a:tr h="274179">
                <a:tc>
                  <a:txBody>
                    <a:bodyPr/>
                    <a:lstStyle/>
                    <a:p>
                      <a:pPr>
                        <a:lnSpc>
                          <a:spcPct val="107000"/>
                        </a:lnSpc>
                        <a:spcAft>
                          <a:spcPts val="600"/>
                        </a:spcAft>
                      </a:pPr>
                      <a:r>
                        <a:rPr lang="en-IN" sz="1000" dirty="0">
                          <a:effectLst/>
                        </a:rPr>
                        <a:t>cd ~[user]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working directory to that of login id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5"/>
                  </a:ext>
                </a:extLst>
              </a:tr>
              <a:tr h="274179">
                <a:tc>
                  <a:txBody>
                    <a:bodyPr/>
                    <a:lstStyle/>
                    <a:p>
                      <a:pPr>
                        <a:lnSpc>
                          <a:spcPct val="107000"/>
                        </a:lnSpc>
                        <a:spcAft>
                          <a:spcPts val="600"/>
                        </a:spcAft>
                      </a:pPr>
                      <a:r>
                        <a:rPr lang="en-IN" sz="1000" dirty="0">
                          <a:effectLst/>
                        </a:rPr>
                        <a:t>cd $HOME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Changes to your home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6"/>
                  </a:ext>
                </a:extLst>
              </a:tr>
              <a:tr h="274179">
                <a:tc>
                  <a:txBody>
                    <a:bodyPr/>
                    <a:lstStyle/>
                    <a:p>
                      <a:pPr>
                        <a:lnSpc>
                          <a:spcPct val="107000"/>
                        </a:lnSpc>
                        <a:spcAft>
                          <a:spcPts val="600"/>
                        </a:spcAft>
                      </a:pPr>
                      <a:r>
                        <a:rPr lang="en-IN" sz="1000" dirty="0" err="1">
                          <a:effectLst/>
                        </a:rPr>
                        <a:t>pwd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 Displays present working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7"/>
                  </a:ext>
                </a:extLst>
              </a:tr>
              <a:tr h="274179">
                <a:tc>
                  <a:txBody>
                    <a:bodyPr/>
                    <a:lstStyle/>
                    <a:p>
                      <a:pPr>
                        <a:lnSpc>
                          <a:spcPct val="107000"/>
                        </a:lnSpc>
                        <a:spcAft>
                          <a:spcPts val="600"/>
                        </a:spcAft>
                      </a:pPr>
                      <a:r>
                        <a:rPr lang="en-IN" sz="1000">
                          <a:effectLst/>
                        </a:rPr>
                        <a:t>ls [directory]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Displays the contents of the directory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8"/>
                  </a:ext>
                </a:extLst>
              </a:tr>
              <a:tr h="454832">
                <a:tc>
                  <a:txBody>
                    <a:bodyPr/>
                    <a:lstStyle/>
                    <a:p>
                      <a:pPr>
                        <a:lnSpc>
                          <a:spcPct val="107000"/>
                        </a:lnSpc>
                        <a:spcAft>
                          <a:spcPts val="600"/>
                        </a:spcAft>
                      </a:pPr>
                      <a:r>
                        <a:rPr lang="en-IN" sz="1000">
                          <a:effectLst/>
                        </a:rPr>
                        <a:t>mv [file1] ... [fileN]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Moves `[file1]', ..., `[fileN]' to directory `[directory]'; e.g. `mv addtwo.* diradd' moves all files with prefix `addtwo.' to the directory `diradd'.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9"/>
                  </a:ext>
                </a:extLst>
              </a:tr>
              <a:tr h="454832">
                <a:tc>
                  <a:txBody>
                    <a:bodyPr/>
                    <a:lstStyle/>
                    <a:p>
                      <a:pPr>
                        <a:lnSpc>
                          <a:spcPct val="107000"/>
                        </a:lnSpc>
                        <a:spcAft>
                          <a:spcPts val="600"/>
                        </a:spcAft>
                      </a:pPr>
                      <a:r>
                        <a:rPr lang="en-IN" sz="1000">
                          <a:effectLst/>
                        </a:rPr>
                        <a:t>cp [file1] [directory]/[file2]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Copies [file1] into [file2] in directory [directory]. `cp [file] . (CR)' copies a file to the current directory using the original name. This format works for `mv' also.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10"/>
                  </a:ext>
                </a:extLst>
              </a:tr>
              <a:tr h="274179">
                <a:tc>
                  <a:txBody>
                    <a:bodyPr/>
                    <a:lstStyle/>
                    <a:p>
                      <a:pPr>
                        <a:lnSpc>
                          <a:spcPct val="107000"/>
                        </a:lnSpc>
                        <a:spcAft>
                          <a:spcPts val="600"/>
                        </a:spcAft>
                      </a:pPr>
                      <a:r>
                        <a:rPr lang="en-IN" sz="1000">
                          <a:effectLst/>
                        </a:rPr>
                        <a:t>rmdir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Removes or erases empty directory. You must first use `rm *' to empty the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11"/>
                  </a:ext>
                </a:extLst>
              </a:tr>
              <a:tr h="428324">
                <a:tc>
                  <a:txBody>
                    <a:bodyPr/>
                    <a:lstStyle/>
                    <a:p>
                      <a:pPr>
                        <a:lnSpc>
                          <a:spcPct val="107000"/>
                        </a:lnSpc>
                        <a:spcAft>
                          <a:spcPts val="600"/>
                        </a:spcAft>
                      </a:pPr>
                      <a:r>
                        <a:rPr lang="en-IN" sz="1000">
                          <a:effectLst/>
                        </a:rPr>
                        <a:t>rm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Remove files or directories (options  </a:t>
                      </a:r>
                      <a:r>
                        <a:rPr lang="en-IN" sz="1000" dirty="0" err="1">
                          <a:effectLst/>
                        </a:rPr>
                        <a:t>i</a:t>
                      </a:r>
                      <a:r>
                        <a:rPr lang="en-IN" sz="1000" dirty="0">
                          <a:effectLst/>
                        </a:rPr>
                        <a:t>-interactive, f-force, r-recursive). Be careful while using option force or recursive.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164099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File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30496812"/>
              </p:ext>
            </p:extLst>
          </p:nvPr>
        </p:nvGraphicFramePr>
        <p:xfrm>
          <a:off x="629984" y="1495959"/>
          <a:ext cx="11011553" cy="5090223"/>
        </p:xfrm>
        <a:graphic>
          <a:graphicData uri="http://schemas.openxmlformats.org/drawingml/2006/table">
            <a:tbl>
              <a:tblPr firstRow="1" firstCol="1" bandRow="1">
                <a:tableStyleId>{5C22544A-7EE6-4342-B048-85BDC9FD1C3A}</a:tableStyleId>
              </a:tblPr>
              <a:tblGrid>
                <a:gridCol w="2899338">
                  <a:extLst>
                    <a:ext uri="{9D8B030D-6E8A-4147-A177-3AD203B41FA5}">
                      <a16:colId xmlns:a16="http://schemas.microsoft.com/office/drawing/2014/main" val="20000"/>
                    </a:ext>
                  </a:extLst>
                </a:gridCol>
                <a:gridCol w="8112215">
                  <a:extLst>
                    <a:ext uri="{9D8B030D-6E8A-4147-A177-3AD203B41FA5}">
                      <a16:colId xmlns:a16="http://schemas.microsoft.com/office/drawing/2014/main" val="20001"/>
                    </a:ext>
                  </a:extLst>
                </a:gridCol>
              </a:tblGrid>
              <a:tr h="213375">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0"/>
                  </a:ext>
                </a:extLst>
              </a:tr>
              <a:tr h="217295">
                <a:tc>
                  <a:txBody>
                    <a:bodyPr/>
                    <a:lstStyle/>
                    <a:p>
                      <a:pPr>
                        <a:lnSpc>
                          <a:spcPct val="107000"/>
                        </a:lnSpc>
                        <a:spcAft>
                          <a:spcPts val="600"/>
                        </a:spcAft>
                      </a:pPr>
                      <a:r>
                        <a:rPr lang="en-IN" sz="1000">
                          <a:effectLst/>
                        </a:rPr>
                        <a:t>ls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sets or files of current user id or current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1"/>
                  </a:ext>
                </a:extLst>
              </a:tr>
              <a:tr h="339460">
                <a:tc>
                  <a:txBody>
                    <a:bodyPr/>
                    <a:lstStyle/>
                    <a:p>
                      <a:pPr>
                        <a:lnSpc>
                          <a:spcPct val="107000"/>
                        </a:lnSpc>
                        <a:spcAft>
                          <a:spcPts val="600"/>
                        </a:spcAft>
                      </a:pPr>
                      <a:r>
                        <a:rPr lang="en-IN" sz="1000">
                          <a:effectLst/>
                        </a:rPr>
                        <a:t>ls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files or directories under user/account id `[user]'. Also `ls ~/[directory] (CR)' will list the contents of the directory `[directory]' on the same account.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2"/>
                  </a:ext>
                </a:extLst>
              </a:tr>
              <a:tr h="339460">
                <a:tc>
                  <a:txBody>
                    <a:bodyPr/>
                    <a:lstStyle/>
                    <a:p>
                      <a:pPr>
                        <a:lnSpc>
                          <a:spcPct val="107000"/>
                        </a:lnSpc>
                        <a:spcAft>
                          <a:spcPts val="600"/>
                        </a:spcAft>
                      </a:pPr>
                      <a:r>
                        <a:rPr lang="en-IN" sz="1000" dirty="0">
                          <a:effectLst/>
                        </a:rPr>
                        <a:t>ls [string].*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all current files with prefix [name]. Examples of other forms are `ls *[string] (CR)' or `ls *[string]* (CR)' or `ls *[string1]*[string2]*'.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3"/>
                  </a:ext>
                </a:extLst>
              </a:tr>
              <a:tr h="339460">
                <a:tc>
                  <a:txBody>
                    <a:bodyPr/>
                    <a:lstStyle/>
                    <a:p>
                      <a:pPr>
                        <a:lnSpc>
                          <a:spcPct val="107000"/>
                        </a:lnSpc>
                        <a:spcAft>
                          <a:spcPts val="600"/>
                        </a:spcAft>
                      </a:pPr>
                      <a:r>
                        <a:rPr lang="en-IN" sz="1000">
                          <a:effectLst/>
                        </a:rPr>
                        <a:t>cat [file1] ... [fileN]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content of N (N .le. 1) argument files catenated. Use `cat [file1] ... [fileN] &gt; [fileM],' to catenate and store the N files in `[fileM]'.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4"/>
                  </a:ext>
                </a:extLst>
              </a:tr>
              <a:tr h="461622">
                <a:tc>
                  <a:txBody>
                    <a:bodyPr/>
                    <a:lstStyle/>
                    <a:p>
                      <a:pPr>
                        <a:lnSpc>
                          <a:spcPct val="107000"/>
                        </a:lnSpc>
                        <a:spcAft>
                          <a:spcPts val="600"/>
                        </a:spcAft>
                      </a:pPr>
                      <a:r>
                        <a:rPr lang="en-IN" sz="1000">
                          <a:effectLst/>
                        </a:rPr>
                        <a:t>more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Displays file in half pages of 11 lines; use `q (CR)' for quitting; use `d' for 11 more lines or `u' to go back up 11 more lines; similarly, `f' and `b' produce full pages forward and backwards, respectively;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5"/>
                  </a:ext>
                </a:extLst>
              </a:tr>
              <a:tr h="217295">
                <a:tc>
                  <a:txBody>
                    <a:bodyPr/>
                    <a:lstStyle/>
                    <a:p>
                      <a:pPr>
                        <a:lnSpc>
                          <a:spcPct val="107000"/>
                        </a:lnSpc>
                        <a:spcAft>
                          <a:spcPts val="600"/>
                        </a:spcAft>
                      </a:pPr>
                      <a:r>
                        <a:rPr lang="en-IN" sz="1000">
                          <a:effectLst/>
                        </a:rPr>
                        <a:t>cp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Copies file `[file1]' into file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6"/>
                  </a:ext>
                </a:extLst>
              </a:tr>
              <a:tr h="461622">
                <a:tc>
                  <a:txBody>
                    <a:bodyPr/>
                    <a:lstStyle/>
                    <a:p>
                      <a:pPr>
                        <a:lnSpc>
                          <a:spcPct val="107000"/>
                        </a:lnSpc>
                        <a:spcAft>
                          <a:spcPts val="600"/>
                        </a:spcAft>
                      </a:pPr>
                      <a:r>
                        <a:rPr lang="en-IN" sz="1000">
                          <a:effectLst/>
                        </a:rPr>
                        <a:t>rm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Erases file `[file1]'; can take several file arguments, with the system asking if you really want to do it, `y' for yes and `n' for no target file `[file2]' already exists to avoid unintentional.</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7"/>
                  </a:ext>
                </a:extLst>
              </a:tr>
              <a:tr h="217295">
                <a:tc>
                  <a:txBody>
                    <a:bodyPr/>
                    <a:lstStyle/>
                    <a:p>
                      <a:pPr>
                        <a:lnSpc>
                          <a:spcPct val="107000"/>
                        </a:lnSpc>
                        <a:spcAft>
                          <a:spcPts val="600"/>
                        </a:spcAft>
                      </a:pPr>
                      <a:r>
                        <a:rPr lang="en-IN" sz="1000" dirty="0">
                          <a:effectLst/>
                        </a:rPr>
                        <a:t>mv [file1] [file2]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Renames file `[file1'] as file `[file2]', i.e., moves one file to another.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8"/>
                  </a:ext>
                </a:extLst>
              </a:tr>
              <a:tr h="339460">
                <a:tc>
                  <a:txBody>
                    <a:bodyPr/>
                    <a:lstStyle/>
                    <a:p>
                      <a:pPr>
                        <a:lnSpc>
                          <a:spcPct val="107000"/>
                        </a:lnSpc>
                        <a:spcAft>
                          <a:spcPts val="600"/>
                        </a:spcAft>
                      </a:pPr>
                      <a:r>
                        <a:rPr lang="en-IN" sz="1000">
                          <a:effectLst/>
                        </a:rPr>
                        <a:t>grep `[str]'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Searches for string [str] in file [file1]. ``cat [file1] [file2] | grep `[string]' (CR)'' searches for the pattern `[string]' in the catenated files.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9"/>
                  </a:ext>
                </a:extLst>
              </a:tr>
              <a:tr h="217295">
                <a:tc>
                  <a:txBody>
                    <a:bodyPr/>
                    <a:lstStyle/>
                    <a:p>
                      <a:pPr>
                        <a:lnSpc>
                          <a:spcPct val="107000"/>
                        </a:lnSpc>
                        <a:spcAft>
                          <a:spcPts val="600"/>
                        </a:spcAft>
                      </a:pPr>
                      <a:r>
                        <a:rPr lang="en-IN" sz="1000">
                          <a:effectLst/>
                        </a:rPr>
                        <a:t>diff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Displays the difference between files `[file1]' and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0"/>
                  </a:ext>
                </a:extLst>
              </a:tr>
              <a:tr h="1045409">
                <a:tc>
                  <a:txBody>
                    <a:bodyPr/>
                    <a:lstStyle/>
                    <a:p>
                      <a:pPr>
                        <a:lnSpc>
                          <a:spcPct val="107000"/>
                        </a:lnSpc>
                        <a:spcAft>
                          <a:spcPts val="600"/>
                        </a:spcAft>
                      </a:pPr>
                      <a:r>
                        <a:rPr lang="en-IN" sz="1000" dirty="0" err="1">
                          <a:effectLst/>
                        </a:rPr>
                        <a:t>chmod</a:t>
                      </a:r>
                      <a:r>
                        <a:rPr lang="en-IN" sz="1000" dirty="0">
                          <a:effectLst/>
                        </a:rPr>
                        <a:t> [mode] [file]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Changes the read, write and execute permissions for the file (or files) `[file]' according to the `[mode]' which has form `[[who] [operator] [permission]]'; `[who]' is `u' for the user, `g' for the defined group', `o' for others and `a' = `</a:t>
                      </a:r>
                      <a:r>
                        <a:rPr lang="en-IN" sz="1000" dirty="0" err="1">
                          <a:effectLst/>
                        </a:rPr>
                        <a:t>ugo</a:t>
                      </a:r>
                      <a:r>
                        <a:rPr lang="en-IN" sz="1000" dirty="0">
                          <a:effectLst/>
                        </a:rPr>
                        <a:t>' for all; `[operator]' is `+' to add and `-' for remove; `[permission]' is `r' for read, `w' for write and `x' for execute; </a:t>
                      </a:r>
                    </a:p>
                    <a:p>
                      <a:pPr>
                        <a:lnSpc>
                          <a:spcPct val="107000"/>
                        </a:lnSpc>
                        <a:spcAft>
                          <a:spcPts val="600"/>
                        </a:spcAft>
                      </a:pPr>
                      <a:r>
                        <a:rPr lang="en-IN" sz="1000" dirty="0">
                          <a:effectLst/>
                        </a:rPr>
                        <a:t>Ex1: </a:t>
                      </a:r>
                      <a:r>
                        <a:rPr lang="en-IN" sz="1000" dirty="0" err="1">
                          <a:effectLst/>
                        </a:rPr>
                        <a:t>chmod</a:t>
                      </a:r>
                      <a:r>
                        <a:rPr lang="en-IN" sz="1000" dirty="0">
                          <a:effectLst/>
                        </a:rPr>
                        <a:t> </a:t>
                      </a:r>
                      <a:r>
                        <a:rPr lang="en-IN" sz="1000" dirty="0" err="1">
                          <a:effectLst/>
                        </a:rPr>
                        <a:t>u+rwx</a:t>
                      </a:r>
                      <a:r>
                        <a:rPr lang="en-IN" sz="1000" dirty="0">
                          <a:effectLst/>
                        </a:rPr>
                        <a:t> filename</a:t>
                      </a:r>
                    </a:p>
                    <a:p>
                      <a:pPr>
                        <a:lnSpc>
                          <a:spcPct val="107000"/>
                        </a:lnSpc>
                        <a:spcAft>
                          <a:spcPts val="600"/>
                        </a:spcAft>
                      </a:pPr>
                      <a:r>
                        <a:rPr lang="en-IN" sz="1000" dirty="0">
                          <a:effectLst/>
                        </a:rPr>
                        <a:t>Ex2: </a:t>
                      </a:r>
                      <a:r>
                        <a:rPr lang="en-IN" sz="1000" dirty="0" err="1">
                          <a:effectLst/>
                        </a:rPr>
                        <a:t>chmod</a:t>
                      </a:r>
                      <a:r>
                        <a:rPr lang="en-IN" sz="1000" dirty="0">
                          <a:effectLst/>
                        </a:rPr>
                        <a:t> 757 filename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1"/>
                  </a:ext>
                </a:extLst>
              </a:tr>
              <a:tr h="339460">
                <a:tc>
                  <a:txBody>
                    <a:bodyPr/>
                    <a:lstStyle/>
                    <a:p>
                      <a:pPr>
                        <a:lnSpc>
                          <a:spcPct val="107000"/>
                        </a:lnSpc>
                        <a:spcAft>
                          <a:spcPts val="600"/>
                        </a:spcAft>
                      </a:pPr>
                      <a:r>
                        <a:rPr lang="en-IN" sz="1000">
                          <a:effectLst/>
                        </a:rPr>
                        <a:t>wc filename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Used to get a count of the total number of lines, words, and characters contained in a file.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2"/>
                  </a:ext>
                </a:extLst>
              </a:tr>
              <a:tr h="217295">
                <a:tc>
                  <a:txBody>
                    <a:bodyPr/>
                    <a:lstStyle/>
                    <a:p>
                      <a:pPr>
                        <a:lnSpc>
                          <a:spcPct val="107000"/>
                        </a:lnSpc>
                        <a:spcAft>
                          <a:spcPts val="600"/>
                        </a:spcAft>
                      </a:pPr>
                      <a:r>
                        <a:rPr lang="en-IN" sz="1000">
                          <a:effectLst/>
                        </a:rPr>
                        <a:t>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Determines a file type.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943596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Process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192892945"/>
              </p:ext>
            </p:extLst>
          </p:nvPr>
        </p:nvGraphicFramePr>
        <p:xfrm>
          <a:off x="528357" y="1461587"/>
          <a:ext cx="10875183" cy="3077202"/>
        </p:xfrm>
        <a:graphic>
          <a:graphicData uri="http://schemas.openxmlformats.org/drawingml/2006/table">
            <a:tbl>
              <a:tblPr firstRow="1" firstCol="1" bandRow="1">
                <a:tableStyleId>{5C22544A-7EE6-4342-B048-85BDC9FD1C3A}</a:tableStyleId>
              </a:tblPr>
              <a:tblGrid>
                <a:gridCol w="3577283">
                  <a:extLst>
                    <a:ext uri="{9D8B030D-6E8A-4147-A177-3AD203B41FA5}">
                      <a16:colId xmlns:a16="http://schemas.microsoft.com/office/drawing/2014/main" val="20000"/>
                    </a:ext>
                  </a:extLst>
                </a:gridCol>
                <a:gridCol w="7297900">
                  <a:extLst>
                    <a:ext uri="{9D8B030D-6E8A-4147-A177-3AD203B41FA5}">
                      <a16:colId xmlns:a16="http://schemas.microsoft.com/office/drawing/2014/main" val="20001"/>
                    </a:ext>
                  </a:extLst>
                </a:gridCol>
              </a:tblGrid>
              <a:tr h="37428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r h="383764">
                <a:tc>
                  <a:txBody>
                    <a:bodyPr/>
                    <a:lstStyle/>
                    <a:p>
                      <a:pPr>
                        <a:lnSpc>
                          <a:spcPct val="107000"/>
                        </a:lnSpc>
                        <a:spcAft>
                          <a:spcPts val="600"/>
                        </a:spcAft>
                      </a:pPr>
                      <a:r>
                        <a:rPr lang="en-IN" sz="1100">
                          <a:effectLst/>
                        </a:rPr>
                        <a:t>jobs – l</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Display a simple single line with currently active job status.</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1"/>
                  </a:ext>
                </a:extLst>
              </a:tr>
              <a:tr h="377636">
                <a:tc>
                  <a:txBody>
                    <a:bodyPr/>
                    <a:lstStyle/>
                    <a:p>
                      <a:pPr>
                        <a:lnSpc>
                          <a:spcPct val="107000"/>
                        </a:lnSpc>
                        <a:spcAft>
                          <a:spcPts val="600"/>
                        </a:spcAft>
                      </a:pPr>
                      <a:r>
                        <a:rPr lang="en-IN" sz="1100" dirty="0" err="1">
                          <a:effectLst/>
                        </a:rPr>
                        <a:t>ps</a:t>
                      </a:r>
                      <a:endParaRPr lang="en-IN" sz="1100" dirty="0">
                        <a:effectLst/>
                      </a:endParaRPr>
                    </a:p>
                  </a:txBody>
                  <a:tcPr marL="76200" marR="76200" marT="76200" marB="76200"/>
                </a:tc>
                <a:tc>
                  <a:txBody>
                    <a:bodyPr/>
                    <a:lstStyle/>
                    <a:p>
                      <a:pPr>
                        <a:lnSpc>
                          <a:spcPct val="107000"/>
                        </a:lnSpc>
                        <a:spcAft>
                          <a:spcPts val="600"/>
                        </a:spcAft>
                      </a:pPr>
                      <a:r>
                        <a:rPr lang="en-IN" sz="1100" dirty="0">
                          <a:effectLst/>
                        </a:rPr>
                        <a:t>Display current process ids (``</a:t>
                      </a:r>
                      <a:r>
                        <a:rPr lang="en-IN" sz="1100" dirty="0" err="1">
                          <a:effectLst/>
                        </a:rPr>
                        <a:t>pid</a:t>
                      </a:r>
                      <a:r>
                        <a:rPr lang="en-IN" sz="1100" dirty="0">
                          <a:effectLst/>
                        </a:rPr>
                        <a:t>'') needed for killing.</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2"/>
                  </a:ext>
                </a:extLst>
              </a:tr>
              <a:tr h="452845">
                <a:tc>
                  <a:txBody>
                    <a:bodyPr/>
                    <a:lstStyle/>
                    <a:p>
                      <a:pPr>
                        <a:lnSpc>
                          <a:spcPct val="107000"/>
                        </a:lnSpc>
                        <a:spcAft>
                          <a:spcPts val="600"/>
                        </a:spcAft>
                      </a:pPr>
                      <a:r>
                        <a:rPr lang="en-IN" sz="1100" dirty="0" err="1">
                          <a:effectLst/>
                        </a:rPr>
                        <a:t>ps</a:t>
                      </a:r>
                      <a:r>
                        <a:rPr lang="en-IN" sz="1100" dirty="0">
                          <a:effectLst/>
                        </a:rPr>
                        <a:t> t[N]</a:t>
                      </a:r>
                    </a:p>
                  </a:txBody>
                  <a:tcPr marL="76200" marR="76200" marT="76200" marB="76200"/>
                </a:tc>
                <a:tc>
                  <a:txBody>
                    <a:bodyPr/>
                    <a:lstStyle/>
                    <a:p>
                      <a:pPr>
                        <a:lnSpc>
                          <a:spcPct val="107000"/>
                        </a:lnSpc>
                        <a:spcAft>
                          <a:spcPts val="600"/>
                        </a:spcAft>
                      </a:pPr>
                      <a:r>
                        <a:rPr lang="en-IN" sz="1100">
                          <a:effectLst/>
                        </a:rPr>
                        <a:t>Displays ``pid'' for terminal or tty [N].</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3"/>
                  </a:ext>
                </a:extLst>
              </a:tr>
              <a:tr h="327523">
                <a:tc>
                  <a:txBody>
                    <a:bodyPr/>
                    <a:lstStyle/>
                    <a:p>
                      <a:pPr>
                        <a:lnSpc>
                          <a:spcPct val="107000"/>
                        </a:lnSpc>
                        <a:spcAft>
                          <a:spcPts val="600"/>
                        </a:spcAft>
                      </a:pPr>
                      <a:r>
                        <a:rPr lang="en-IN" sz="1100">
                          <a:effectLst/>
                        </a:rPr>
                        <a:t>kill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Kills a process given by pid.</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4"/>
                  </a:ext>
                </a:extLst>
              </a:tr>
              <a:tr h="481002">
                <a:tc>
                  <a:txBody>
                    <a:bodyPr/>
                    <a:lstStyle/>
                    <a:p>
                      <a:pPr>
                        <a:lnSpc>
                          <a:spcPct val="107000"/>
                        </a:lnSpc>
                        <a:spcAft>
                          <a:spcPts val="600"/>
                        </a:spcAft>
                      </a:pPr>
                      <a:r>
                        <a:rPr lang="en-IN" sz="1100">
                          <a:effectLst/>
                        </a:rPr>
                        <a:t>kill -9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dirty="0">
                          <a:effectLst/>
                        </a:rPr>
                        <a:t>Means a “sure kill”' or “Force Kill” of ``</a:t>
                      </a:r>
                      <a:r>
                        <a:rPr lang="en-IN" sz="1100" dirty="0" err="1">
                          <a:effectLst/>
                        </a:rPr>
                        <a:t>pid</a:t>
                      </a:r>
                      <a:r>
                        <a:rPr lang="en-IN" sz="1100" dirty="0">
                          <a:effectLst/>
                        </a:rPr>
                        <a:t>'' [</a:t>
                      </a:r>
                      <a:r>
                        <a:rPr lang="en-IN" sz="1100" dirty="0" err="1">
                          <a:effectLst/>
                        </a:rPr>
                        <a:t>pid</a:t>
                      </a:r>
                      <a:r>
                        <a:rPr lang="en-IN" sz="1100" dirty="0">
                          <a:effectLst/>
                        </a:rPr>
                        <a:t>]; this becomes necessary when you lose control of a process or have a session aborted.</a:t>
                      </a:r>
                    </a:p>
                    <a:p>
                      <a:pPr>
                        <a:lnSpc>
                          <a:spcPct val="107000"/>
                        </a:lnSpc>
                        <a:spcAft>
                          <a:spcPts val="600"/>
                        </a:spcAft>
                      </a:pPr>
                      <a:r>
                        <a:rPr lang="en-IN" sz="1100" dirty="0">
                          <a:effectLst/>
                        </a:rPr>
                        <a:t> </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25086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Thank You</a:t>
            </a:r>
          </a:p>
        </p:txBody>
      </p:sp>
    </p:spTree>
    <p:extLst>
      <p:ext uri="{BB962C8B-B14F-4D97-AF65-F5344CB8AC3E}">
        <p14:creationId xmlns:p14="http://schemas.microsoft.com/office/powerpoint/2010/main" val="1191814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Appendix</a:t>
            </a:r>
          </a:p>
        </p:txBody>
      </p:sp>
    </p:spTree>
    <p:extLst>
      <p:ext uri="{BB962C8B-B14F-4D97-AF65-F5344CB8AC3E}">
        <p14:creationId xmlns:p14="http://schemas.microsoft.com/office/powerpoint/2010/main" val="2432370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nvPr>
        </p:nvGraphicFramePr>
        <p:xfrm>
          <a:off x="486191" y="1249326"/>
          <a:ext cx="11244255" cy="5532120"/>
        </p:xfrm>
        <a:graphic>
          <a:graphicData uri="http://schemas.openxmlformats.org/drawingml/2006/table">
            <a:tbl>
              <a:tblPr firstRow="1" bandRow="1">
                <a:tableStyleId>{5C22544A-7EE6-4342-B048-85BDC9FD1C3A}</a:tableStyleId>
              </a:tblPr>
              <a:tblGrid>
                <a:gridCol w="2231069">
                  <a:extLst>
                    <a:ext uri="{9D8B030D-6E8A-4147-A177-3AD203B41FA5}">
                      <a16:colId xmlns:a16="http://schemas.microsoft.com/office/drawing/2014/main" val="20000"/>
                    </a:ext>
                  </a:extLst>
                </a:gridCol>
                <a:gridCol w="2231069">
                  <a:extLst>
                    <a:ext uri="{9D8B030D-6E8A-4147-A177-3AD203B41FA5}">
                      <a16:colId xmlns:a16="http://schemas.microsoft.com/office/drawing/2014/main" val="20001"/>
                    </a:ext>
                  </a:extLst>
                </a:gridCol>
                <a:gridCol w="2231069">
                  <a:extLst>
                    <a:ext uri="{9D8B030D-6E8A-4147-A177-3AD203B41FA5}">
                      <a16:colId xmlns:a16="http://schemas.microsoft.com/office/drawing/2014/main" val="20002"/>
                    </a:ext>
                  </a:extLst>
                </a:gridCol>
                <a:gridCol w="1386117">
                  <a:extLst>
                    <a:ext uri="{9D8B030D-6E8A-4147-A177-3AD203B41FA5}">
                      <a16:colId xmlns:a16="http://schemas.microsoft.com/office/drawing/2014/main" val="20003"/>
                    </a:ext>
                  </a:extLst>
                </a:gridCol>
                <a:gridCol w="3164931">
                  <a:extLst>
                    <a:ext uri="{9D8B030D-6E8A-4147-A177-3AD203B41FA5}">
                      <a16:colId xmlns:a16="http://schemas.microsoft.com/office/drawing/2014/main" val="20004"/>
                    </a:ext>
                  </a:extLst>
                </a:gridCol>
              </a:tblGrid>
              <a:tr h="0">
                <a:tc>
                  <a:txBody>
                    <a:bodyPr/>
                    <a:lstStyle/>
                    <a:p>
                      <a:r>
                        <a:rPr lang="en-IN" dirty="0"/>
                        <a:t>Quality</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val="10000"/>
                  </a:ext>
                </a:extLst>
              </a:tr>
              <a:tr h="370840">
                <a:tc>
                  <a:txBody>
                    <a:bodyPr/>
                    <a:lstStyle/>
                    <a:p>
                      <a:r>
                        <a:rPr lang="en-IN" dirty="0"/>
                        <a:t>User Interface</a:t>
                      </a:r>
                    </a:p>
                  </a:txBody>
                  <a:tcPr/>
                </a:tc>
                <a:tc>
                  <a:txBody>
                    <a:bodyPr/>
                    <a:lstStyle/>
                    <a:p>
                      <a:r>
                        <a:rPr lang="en-IN" sz="1100" dirty="0"/>
                        <a:t>Excellent ( Easy to</a:t>
                      </a:r>
                      <a:r>
                        <a:rPr lang="en-IN" sz="1100" baseline="0" dirty="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Excellent( Easy to</a:t>
                      </a:r>
                      <a:r>
                        <a:rPr lang="en-IN" sz="1100" baseline="0" dirty="0"/>
                        <a:t> understand)</a:t>
                      </a:r>
                      <a:endParaRPr lang="en-IN" sz="1100" dirty="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Good (Needs</a:t>
                      </a:r>
                      <a:r>
                        <a:rPr lang="en-IN" sz="1100" baseline="0" dirty="0"/>
                        <a:t> some practice </a:t>
                      </a:r>
                      <a:r>
                        <a:rPr lang="en-IN" sz="1100" dirty="0"/>
                        <a:t>to</a:t>
                      </a:r>
                      <a:r>
                        <a:rPr lang="en-IN" sz="1100" baseline="0" dirty="0"/>
                        <a:t> understand)</a:t>
                      </a:r>
                      <a:endParaRPr lang="en-IN" sz="1100" dirty="0"/>
                    </a:p>
                    <a:p>
                      <a:endParaRPr lang="en-IN" sz="1100" dirty="0"/>
                    </a:p>
                  </a:txBody>
                  <a:tcPr/>
                </a:tc>
                <a:tc>
                  <a:txBody>
                    <a:bodyPr/>
                    <a:lstStyle/>
                    <a:p>
                      <a:r>
                        <a:rPr lang="en-IN" sz="1100" dirty="0">
                          <a:solidFill>
                            <a:schemeClr val="tx1"/>
                          </a:solidFill>
                        </a:rPr>
                        <a:t>Medium ( Very difficult</a:t>
                      </a:r>
                      <a:r>
                        <a:rPr lang="en-IN" sz="1100" baseline="0" dirty="0">
                          <a:solidFill>
                            <a:schemeClr val="tx1"/>
                          </a:solidFill>
                        </a:rPr>
                        <a:t> )</a:t>
                      </a:r>
                      <a:endParaRPr lang="en-IN" sz="1100" dirty="0">
                        <a:solidFill>
                          <a:schemeClr val="tx1"/>
                        </a:solidFill>
                      </a:endParaRPr>
                    </a:p>
                  </a:txBody>
                  <a:tcPr/>
                </a:tc>
                <a:extLst>
                  <a:ext uri="{0D108BD9-81ED-4DB2-BD59-A6C34878D82A}">
                    <a16:rowId xmlns:a16="http://schemas.microsoft.com/office/drawing/2014/main" val="10001"/>
                  </a:ext>
                </a:extLst>
              </a:tr>
              <a:tr h="370840">
                <a:tc>
                  <a:txBody>
                    <a:bodyPr/>
                    <a:lstStyle/>
                    <a:p>
                      <a:r>
                        <a:rPr lang="en-IN" dirty="0"/>
                        <a:t>Security</a:t>
                      </a:r>
                    </a:p>
                  </a:txBody>
                  <a:tcPr/>
                </a:tc>
                <a:tc>
                  <a:txBody>
                    <a:bodyPr/>
                    <a:lstStyle/>
                    <a:p>
                      <a:r>
                        <a:rPr lang="en-IN" sz="1100" dirty="0"/>
                        <a:t>Moderate</a:t>
                      </a:r>
                    </a:p>
                  </a:txBody>
                  <a:tcPr/>
                </a:tc>
                <a:tc>
                  <a:txBody>
                    <a:bodyPr/>
                    <a:lstStyle/>
                    <a:p>
                      <a:r>
                        <a:rPr lang="en-IN" sz="1100" dirty="0"/>
                        <a:t>High</a:t>
                      </a:r>
                    </a:p>
                  </a:txBody>
                  <a:tcPr/>
                </a:tc>
                <a:tc>
                  <a:txBody>
                    <a:bodyPr/>
                    <a:lstStyle/>
                    <a:p>
                      <a:r>
                        <a:rPr lang="en-IN" sz="1100" dirty="0"/>
                        <a:t>Highly</a:t>
                      </a:r>
                      <a:r>
                        <a:rPr lang="en-IN" sz="1100" baseline="0" dirty="0"/>
                        <a:t> Secure</a:t>
                      </a:r>
                      <a:endParaRPr lang="en-IN" sz="1100" dirty="0"/>
                    </a:p>
                  </a:txBody>
                  <a:tcPr/>
                </a:tc>
                <a:tc>
                  <a:txBody>
                    <a:bodyPr/>
                    <a:lstStyle/>
                    <a:p>
                      <a:r>
                        <a:rPr lang="en-IN" sz="1100" dirty="0"/>
                        <a:t>Highly Secure</a:t>
                      </a:r>
                    </a:p>
                  </a:txBody>
                  <a:tcPr/>
                </a:tc>
                <a:extLst>
                  <a:ext uri="{0D108BD9-81ED-4DB2-BD59-A6C34878D82A}">
                    <a16:rowId xmlns:a16="http://schemas.microsoft.com/office/drawing/2014/main" val="10002"/>
                  </a:ext>
                </a:extLst>
              </a:tr>
              <a:tr h="370840">
                <a:tc>
                  <a:txBody>
                    <a:bodyPr/>
                    <a:lstStyle/>
                    <a:p>
                      <a:r>
                        <a:rPr lang="en-IN" dirty="0"/>
                        <a:t>Compatibility</a:t>
                      </a:r>
                    </a:p>
                  </a:txBody>
                  <a:tcPr/>
                </a:tc>
                <a:tc>
                  <a:txBody>
                    <a:bodyPr/>
                    <a:lstStyle/>
                    <a:p>
                      <a:r>
                        <a:rPr lang="en-IN" sz="1100" dirty="0"/>
                        <a:t>Runs on any hardware</a:t>
                      </a:r>
                    </a:p>
                  </a:txBody>
                  <a:tcPr/>
                </a:tc>
                <a:tc>
                  <a:txBody>
                    <a:bodyPr/>
                    <a:lstStyle/>
                    <a:p>
                      <a:r>
                        <a:rPr lang="en-IN" sz="1100" dirty="0"/>
                        <a:t>Runs only on Apple</a:t>
                      </a:r>
                    </a:p>
                  </a:txBody>
                  <a:tcPr/>
                </a:tc>
                <a:tc>
                  <a:txBody>
                    <a:bodyPr/>
                    <a:lstStyle/>
                    <a:p>
                      <a:r>
                        <a:rPr lang="en-IN" sz="1100" dirty="0"/>
                        <a:t>Any Hardware</a:t>
                      </a:r>
                    </a:p>
                  </a:txBody>
                  <a:tcPr/>
                </a:tc>
                <a:tc>
                  <a:txBody>
                    <a:bodyPr/>
                    <a:lstStyle/>
                    <a:p>
                      <a:r>
                        <a:rPr lang="en-IN" sz="1100" dirty="0"/>
                        <a:t>Any Hardware</a:t>
                      </a:r>
                    </a:p>
                  </a:txBody>
                  <a:tcPr/>
                </a:tc>
                <a:extLst>
                  <a:ext uri="{0D108BD9-81ED-4DB2-BD59-A6C34878D82A}">
                    <a16:rowId xmlns:a16="http://schemas.microsoft.com/office/drawing/2014/main" val="10003"/>
                  </a:ext>
                </a:extLst>
              </a:tr>
              <a:tr h="370840">
                <a:tc>
                  <a:txBody>
                    <a:bodyPr/>
                    <a:lstStyle/>
                    <a:p>
                      <a:r>
                        <a:rPr lang="en-IN" dirty="0"/>
                        <a:t>Performance</a:t>
                      </a:r>
                    </a:p>
                  </a:txBody>
                  <a:tcPr/>
                </a:tc>
                <a:tc>
                  <a:txBody>
                    <a:bodyPr/>
                    <a:lstStyle/>
                    <a:p>
                      <a:r>
                        <a:rPr lang="en-IN" sz="1100" dirty="0"/>
                        <a:t>Slow( too many apps running)</a:t>
                      </a:r>
                    </a:p>
                  </a:txBody>
                  <a:tcPr/>
                </a:tc>
                <a:tc>
                  <a:txBody>
                    <a:bodyPr/>
                    <a:lstStyle/>
                    <a:p>
                      <a:r>
                        <a:rPr lang="en-IN" sz="1100" dirty="0"/>
                        <a:t>Slow </a:t>
                      </a:r>
                    </a:p>
                  </a:txBody>
                  <a:tcPr/>
                </a:tc>
                <a:tc>
                  <a:txBody>
                    <a:bodyPr/>
                    <a:lstStyle/>
                    <a:p>
                      <a:r>
                        <a:rPr lang="en-IN" sz="1100" dirty="0"/>
                        <a:t>Fast</a:t>
                      </a:r>
                    </a:p>
                  </a:txBody>
                  <a:tcPr/>
                </a:tc>
                <a:tc>
                  <a:txBody>
                    <a:bodyPr/>
                    <a:lstStyle/>
                    <a:p>
                      <a:r>
                        <a:rPr lang="en-IN" sz="1100" dirty="0"/>
                        <a:t>Fastest (z/OS gets extra points for being more scalable. Want to double your transaction throughput? Ask your IBM engineer to switch on more processors and you're away. Nothing else to do. A similar exercise with a UNIX environment will usually involve adding a few more UNIX servers to your cluster.)</a:t>
                      </a:r>
                    </a:p>
                  </a:txBody>
                  <a:tcPr/>
                </a:tc>
                <a:extLst>
                  <a:ext uri="{0D108BD9-81ED-4DB2-BD59-A6C34878D82A}">
                    <a16:rowId xmlns:a16="http://schemas.microsoft.com/office/drawing/2014/main" val="10004"/>
                  </a:ext>
                </a:extLst>
              </a:tr>
              <a:tr h="370840">
                <a:tc>
                  <a:txBody>
                    <a:bodyPr/>
                    <a:lstStyle/>
                    <a:p>
                      <a:r>
                        <a:rPr lang="en-IN" dirty="0"/>
                        <a:t>Reliability</a:t>
                      </a:r>
                    </a:p>
                  </a:txBody>
                  <a:tcPr/>
                </a:tc>
                <a:tc>
                  <a:txBody>
                    <a:bodyPr/>
                    <a:lstStyle/>
                    <a:p>
                      <a:r>
                        <a:rPr lang="en-IN" sz="1100" dirty="0"/>
                        <a:t>Relatively Stable</a:t>
                      </a:r>
                      <a:r>
                        <a:rPr lang="en-IN" sz="1100" baseline="0" dirty="0"/>
                        <a:t> because the application needs to be secure on a regular basis.</a:t>
                      </a:r>
                    </a:p>
                  </a:txBody>
                  <a:tcPr/>
                </a:tc>
                <a:tc>
                  <a:txBody>
                    <a:bodyPr/>
                    <a:lstStyle/>
                    <a:p>
                      <a:r>
                        <a:rPr lang="en-IN" sz="1100" dirty="0"/>
                        <a:t>Better than Win,</a:t>
                      </a:r>
                      <a:r>
                        <a:rPr lang="en-IN" sz="1100" baseline="0" dirty="0"/>
                        <a:t> because of its restriction on hardware. Still apps needs to be updated</a:t>
                      </a:r>
                      <a:endParaRPr lang="en-IN" sz="1100" dirty="0"/>
                    </a:p>
                  </a:txBody>
                  <a:tcPr/>
                </a:tc>
                <a:tc>
                  <a:txBody>
                    <a:bodyPr/>
                    <a:lstStyle/>
                    <a:p>
                      <a:r>
                        <a:rPr lang="en-IN" sz="1100" dirty="0"/>
                        <a:t>Stable,</a:t>
                      </a:r>
                      <a:r>
                        <a:rPr lang="en-IN" sz="1100" baseline="0" dirty="0"/>
                        <a:t> not too many apps running.</a:t>
                      </a:r>
                      <a:endParaRPr lang="en-IN" sz="1100" dirty="0"/>
                    </a:p>
                  </a:txBody>
                  <a:tcPr/>
                </a:tc>
                <a:tc>
                  <a:txBody>
                    <a:bodyPr/>
                    <a:lstStyle/>
                    <a:p>
                      <a:r>
                        <a:rPr lang="en-IN" sz="1100" dirty="0"/>
                        <a:t>Highly stable.</a:t>
                      </a:r>
                      <a:r>
                        <a:rPr lang="en-IN" sz="1100" baseline="0" dirty="0"/>
                        <a:t> </a:t>
                      </a:r>
                      <a:r>
                        <a:rPr lang="en-IN" sz="1100" dirty="0"/>
                        <a:t>IBM proudly states that Mainframes can achieve “five nines” (99.999%) availability, or around 5 minutes unscheduled and scheduled downtime per year.</a:t>
                      </a:r>
                    </a:p>
                  </a:txBody>
                  <a:tcPr/>
                </a:tc>
                <a:extLst>
                  <a:ext uri="{0D108BD9-81ED-4DB2-BD59-A6C34878D82A}">
                    <a16:rowId xmlns:a16="http://schemas.microsoft.com/office/drawing/2014/main" val="10005"/>
                  </a:ext>
                </a:extLst>
              </a:tr>
              <a:tr h="370840">
                <a:tc>
                  <a:txBody>
                    <a:bodyPr/>
                    <a:lstStyle/>
                    <a:p>
                      <a:r>
                        <a:rPr lang="en-IN" dirty="0"/>
                        <a:t>Cost</a:t>
                      </a:r>
                    </a:p>
                  </a:txBody>
                  <a:tcPr/>
                </a:tc>
                <a:tc>
                  <a:txBody>
                    <a:bodyPr/>
                    <a:lstStyle/>
                    <a:p>
                      <a:r>
                        <a:rPr lang="en-IN" sz="1100" baseline="0" dirty="0"/>
                        <a:t>Expensive</a:t>
                      </a:r>
                    </a:p>
                  </a:txBody>
                  <a:tcPr/>
                </a:tc>
                <a:tc>
                  <a:txBody>
                    <a:bodyPr/>
                    <a:lstStyle/>
                    <a:p>
                      <a:r>
                        <a:rPr lang="en-IN" sz="1100" dirty="0"/>
                        <a:t>Expensive</a:t>
                      </a:r>
                    </a:p>
                  </a:txBody>
                  <a:tcPr/>
                </a:tc>
                <a:tc>
                  <a:txBody>
                    <a:bodyPr/>
                    <a:lstStyle/>
                    <a:p>
                      <a:r>
                        <a:rPr lang="en-IN" sz="1100" dirty="0"/>
                        <a:t>Cheapest</a:t>
                      </a:r>
                    </a:p>
                  </a:txBody>
                  <a:tcPr/>
                </a:tc>
                <a:tc>
                  <a:txBody>
                    <a:bodyPr/>
                    <a:lstStyle/>
                    <a:p>
                      <a:r>
                        <a:rPr lang="en-IN" sz="1100" dirty="0"/>
                        <a:t>Most Expensive</a:t>
                      </a:r>
                    </a:p>
                  </a:txBody>
                  <a:tcPr/>
                </a:tc>
                <a:extLst>
                  <a:ext uri="{0D108BD9-81ED-4DB2-BD59-A6C34878D82A}">
                    <a16:rowId xmlns:a16="http://schemas.microsoft.com/office/drawing/2014/main" val="10006"/>
                  </a:ext>
                </a:extLst>
              </a:tr>
              <a:tr h="370840">
                <a:tc>
                  <a:txBody>
                    <a:bodyPr/>
                    <a:lstStyle/>
                    <a:p>
                      <a:r>
                        <a:rPr lang="en-IN" dirty="0"/>
                        <a:t>Customers</a:t>
                      </a:r>
                    </a:p>
                  </a:txBody>
                  <a:tcPr/>
                </a:tc>
                <a:tc>
                  <a:txBody>
                    <a:bodyPr/>
                    <a:lstStyle/>
                    <a:p>
                      <a:r>
                        <a:rPr lang="en-IN" sz="1100" baseline="0" dirty="0"/>
                        <a:t>Laptop and desktops</a:t>
                      </a:r>
                    </a:p>
                  </a:txBody>
                  <a:tcPr/>
                </a:tc>
                <a:tc>
                  <a:txBody>
                    <a:bodyPr/>
                    <a:lstStyle/>
                    <a:p>
                      <a:r>
                        <a:rPr lang="en-IN" sz="1100" dirty="0"/>
                        <a:t>Laptops</a:t>
                      </a:r>
                      <a:r>
                        <a:rPr lang="en-IN" sz="1100" baseline="0" dirty="0"/>
                        <a:t> and desktops</a:t>
                      </a:r>
                      <a:endParaRPr lang="en-IN" sz="1100" dirty="0"/>
                    </a:p>
                  </a:txBody>
                  <a:tcPr/>
                </a:tc>
                <a:tc>
                  <a:txBody>
                    <a:bodyPr/>
                    <a:lstStyle/>
                    <a:p>
                      <a:r>
                        <a:rPr lang="en-IN" sz="1100" dirty="0"/>
                        <a:t>smaller, less critical Mainframe application or servers</a:t>
                      </a:r>
                    </a:p>
                  </a:txBody>
                  <a:tcPr/>
                </a:tc>
                <a:tc>
                  <a:txBody>
                    <a:bodyPr/>
                    <a:lstStyle/>
                    <a:p>
                      <a:r>
                        <a:rPr lang="en-IN" sz="1100" dirty="0"/>
                        <a:t>If you have existing critical Mainframe applications, there are lots of reasons to keep them going. As far as security, reliability and the ability to handle lots of transactions, nothing beats z/OS.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559597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Custom 2">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A3F60"/>
      </a:hlink>
      <a:folHlink>
        <a:srgbClr val="062A4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5091</TotalTime>
  <Words>1883</Words>
  <Application>Microsoft Office PowerPoint</Application>
  <PresentationFormat>Widescreen</PresentationFormat>
  <Paragraphs>268</Paragraphs>
  <Slides>18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Times New Roman</vt:lpstr>
      <vt:lpstr>Wingdings 3</vt:lpstr>
      <vt:lpstr>Ion Boardroom</vt:lpstr>
      <vt:lpstr> </vt:lpstr>
      <vt:lpstr>PowerPoint Presentation</vt:lpstr>
      <vt:lpstr>What is an OS &amp; why do we need OS?</vt:lpstr>
      <vt:lpstr>Different types of OS</vt:lpstr>
      <vt:lpstr>Why Unix?</vt:lpstr>
      <vt:lpstr>PowerPoint Presentation</vt:lpstr>
      <vt:lpstr>History of Unix?</vt:lpstr>
      <vt:lpstr>Kernel</vt:lpstr>
      <vt:lpstr>Shell</vt:lpstr>
      <vt:lpstr>PowerPoint Presentation</vt:lpstr>
      <vt:lpstr>Commands – UNIX Log In and Out Commands </vt:lpstr>
      <vt:lpstr>Commands – UNIX Information Command</vt:lpstr>
      <vt:lpstr>Commands – UNIX Directory Commands</vt:lpstr>
      <vt:lpstr>Commands – UNIX File Commands</vt:lpstr>
      <vt:lpstr>Commands – UNIX Process Commands</vt:lpstr>
      <vt:lpstr>PowerPoint Presentation</vt:lpstr>
      <vt:lpstr>PowerPoint Presentation</vt:lpstr>
      <vt:lpstr>Different types of 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AIA Analytics Deliverables and Timelines</dc:title>
  <dc:creator>Chitra Chatterjee</dc:creator>
  <cp:lastModifiedBy>Purnesh Gali</cp:lastModifiedBy>
  <cp:revision>370</cp:revision>
  <dcterms:created xsi:type="dcterms:W3CDTF">2015-08-17T07:42:22Z</dcterms:created>
  <dcterms:modified xsi:type="dcterms:W3CDTF">2016-07-19T08:23:34Z</dcterms:modified>
</cp:coreProperties>
</file>
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0"/>
  </p:notesMasterIdLst>
  <p:sldIdLst>
    <p:sldId id="257" r:id="rId2"/>
    <p:sldId id="320" r:id="rId3"/>
    <p:sldId id="319" r:id="rId4"/>
    <p:sldId id="344" r:id="rId5"/>
    <p:sldId id="369" r:id="rId6"/>
    <p:sldId id="364" r:id="rId7"/>
    <p:sldId id="366" r:id="rId8"/>
    <p:sldId id="347" r:id="rId9"/>
    <p:sldId id="346" r:id="rId10"/>
    <p:sldId id="367" r:id="rId11"/>
    <p:sldId id="345" r:id="rId12"/>
    <p:sldId id="359" r:id="rId13"/>
    <p:sldId id="348" r:id="rId14"/>
    <p:sldId id="349" r:id="rId15"/>
    <p:sldId id="360" r:id="rId16"/>
    <p:sldId id="361" r:id="rId17"/>
    <p:sldId id="363" r:id="rId18"/>
    <p:sldId id="362" r:id="rId19"/>
    <p:sldId id="350" r:id="rId20"/>
    <p:sldId id="368" r:id="rId21"/>
    <p:sldId id="352" r:id="rId22"/>
    <p:sldId id="353" r:id="rId23"/>
    <p:sldId id="354" r:id="rId24"/>
    <p:sldId id="355" r:id="rId25"/>
    <p:sldId id="356" r:id="rId26"/>
    <p:sldId id="342" r:id="rId27"/>
    <p:sldId id="357" r:id="rId28"/>
    <p:sldId id="358"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1A3"/>
    <a:srgbClr val="4A4A67"/>
    <a:srgbClr val="949494"/>
    <a:srgbClr val="D9E1F2"/>
    <a:srgbClr val="993300"/>
    <a:srgbClr val="DEECFD"/>
    <a:srgbClr val="CC6600"/>
    <a:srgbClr val="803C0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80723" autoAdjust="0"/>
  </p:normalViewPr>
  <p:slideViewPr>
    <p:cSldViewPr snapToGrid="0">
      <p:cViewPr varScale="1">
        <p:scale>
          <a:sx n="94" d="100"/>
          <a:sy n="94" d="100"/>
        </p:scale>
        <p:origin x="1230" y="78"/>
      </p:cViewPr>
      <p:guideLst/>
    </p:cSldViewPr>
  </p:slid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F247282-5322-4920-A04A-F88BF4A9D3DE}" type="datetimeFigureOut">
              <a:rPr lang="en-IN" smtClean="0"/>
              <a:t>21-07-2016</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2D4397-2931-438B-B195-D24BFA6F0B7F}" type="slidenum">
              <a:rPr lang="en-IN" smtClean="0"/>
              <a:t>‹#›</a:t>
            </a:fld>
            <a:endParaRPr lang="en-IN" dirty="0"/>
          </a:p>
        </p:txBody>
      </p:sp>
    </p:spTree>
    <p:extLst>
      <p:ext uri="{BB962C8B-B14F-4D97-AF65-F5344CB8AC3E}">
        <p14:creationId xmlns:p14="http://schemas.microsoft.com/office/powerpoint/2010/main" val="11601077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4AC80FA6-BA02-4C3D-AB3D-7F99A89BBA54}" type="slidenum">
              <a:rPr lang="en-IN" smtClean="0">
                <a:solidFill>
                  <a:prstClr val="black"/>
                </a:solidFill>
              </a:rPr>
              <a:pPr/>
              <a:t>1</a:t>
            </a:fld>
            <a:endParaRPr lang="en-IN" dirty="0">
              <a:solidFill>
                <a:prstClr val="black"/>
              </a:solidFill>
            </a:endParaRPr>
          </a:p>
        </p:txBody>
      </p:sp>
    </p:spTree>
    <p:extLst>
      <p:ext uri="{BB962C8B-B14F-4D97-AF65-F5344CB8AC3E}">
        <p14:creationId xmlns:p14="http://schemas.microsoft.com/office/powerpoint/2010/main" val="4885551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Operating systems perform basic tasks, such as recognizing input from the keyboard, sending output to the display screen, keeping track of files and directories on the disk, and controlling peripheral devices such as disk drives and printers</a:t>
            </a:r>
            <a:endParaRPr lang="en-US" dirty="0"/>
          </a:p>
        </p:txBody>
      </p:sp>
      <p:sp>
        <p:nvSpPr>
          <p:cNvPr id="4" name="Slide Number Placeholder 3"/>
          <p:cNvSpPr>
            <a:spLocks noGrp="1"/>
          </p:cNvSpPr>
          <p:nvPr>
            <p:ph type="sldNum" sz="quarter" idx="10"/>
          </p:nvPr>
        </p:nvSpPr>
        <p:spPr/>
        <p:txBody>
          <a:bodyPr/>
          <a:lstStyle/>
          <a:p>
            <a:fld id="{7B2D4397-2931-438B-B195-D24BFA6F0B7F}" type="slidenum">
              <a:rPr lang="en-IN" smtClean="0"/>
              <a:t>3</a:t>
            </a:fld>
            <a:endParaRPr lang="en-IN" dirty="0"/>
          </a:p>
        </p:txBody>
      </p:sp>
    </p:spTree>
    <p:extLst>
      <p:ext uri="{BB962C8B-B14F-4D97-AF65-F5344CB8AC3E}">
        <p14:creationId xmlns:p14="http://schemas.microsoft.com/office/powerpoint/2010/main" val="28470559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smtClean="0"/>
              <a:t>Create a question type</a:t>
            </a:r>
            <a:r>
              <a:rPr lang="en-IN" baseline="0" dirty="0" smtClean="0"/>
              <a:t> </a:t>
            </a:r>
            <a:r>
              <a:rPr lang="en-IN" dirty="0" smtClean="0"/>
              <a:t>slide for different type  of </a:t>
            </a:r>
            <a:r>
              <a:rPr lang="en-IN" dirty="0" err="1" smtClean="0"/>
              <a:t>os</a:t>
            </a:r>
            <a:endParaRPr lang="en-IN" dirty="0" smtClean="0"/>
          </a:p>
          <a:p>
            <a:endParaRPr lang="en-IN" dirty="0"/>
          </a:p>
        </p:txBody>
      </p:sp>
      <p:sp>
        <p:nvSpPr>
          <p:cNvPr id="4" name="Slide Number Placeholder 3"/>
          <p:cNvSpPr>
            <a:spLocks noGrp="1"/>
          </p:cNvSpPr>
          <p:nvPr>
            <p:ph type="sldNum" sz="quarter" idx="10"/>
          </p:nvPr>
        </p:nvSpPr>
        <p:spPr/>
        <p:txBody>
          <a:bodyPr/>
          <a:lstStyle/>
          <a:p>
            <a:fld id="{7B2D4397-2931-438B-B195-D24BFA6F0B7F}" type="slidenum">
              <a:rPr lang="en-IN" smtClean="0"/>
              <a:t>4</a:t>
            </a:fld>
            <a:endParaRPr lang="en-IN" dirty="0"/>
          </a:p>
        </p:txBody>
      </p:sp>
    </p:spTree>
    <p:extLst>
      <p:ext uri="{BB962C8B-B14F-4D97-AF65-F5344CB8AC3E}">
        <p14:creationId xmlns:p14="http://schemas.microsoft.com/office/powerpoint/2010/main" val="25407373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a slide before this</a:t>
            </a:r>
            <a:r>
              <a:rPr lang="en-US" baseline="0" dirty="0"/>
              <a:t>, may be a picture, explaining connections b/w OS and Kernel</a:t>
            </a:r>
            <a:endParaRPr lang="en-US" dirty="0"/>
          </a:p>
        </p:txBody>
      </p:sp>
      <p:sp>
        <p:nvSpPr>
          <p:cNvPr id="4" name="Slide Number Placeholder 3"/>
          <p:cNvSpPr>
            <a:spLocks noGrp="1"/>
          </p:cNvSpPr>
          <p:nvPr>
            <p:ph type="sldNum" sz="quarter" idx="10"/>
          </p:nvPr>
        </p:nvSpPr>
        <p:spPr/>
        <p:txBody>
          <a:bodyPr/>
          <a:lstStyle/>
          <a:p>
            <a:fld id="{7B2D4397-2931-438B-B195-D24BFA6F0B7F}" type="slidenum">
              <a:rPr lang="en-IN" smtClean="0"/>
              <a:t>12</a:t>
            </a:fld>
            <a:endParaRPr lang="en-IN" dirty="0"/>
          </a:p>
        </p:txBody>
      </p:sp>
    </p:spTree>
    <p:extLst>
      <p:ext uri="{BB962C8B-B14F-4D97-AF65-F5344CB8AC3E}">
        <p14:creationId xmlns:p14="http://schemas.microsoft.com/office/powerpoint/2010/main" val="9690208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a slide before this</a:t>
            </a:r>
            <a:r>
              <a:rPr lang="en-US" baseline="0" dirty="0"/>
              <a:t>, may be a picture, explaining connections b/w OS and Kernel</a:t>
            </a:r>
            <a:endParaRPr lang="en-US" dirty="0"/>
          </a:p>
        </p:txBody>
      </p:sp>
      <p:sp>
        <p:nvSpPr>
          <p:cNvPr id="4" name="Slide Number Placeholder 3"/>
          <p:cNvSpPr>
            <a:spLocks noGrp="1"/>
          </p:cNvSpPr>
          <p:nvPr>
            <p:ph type="sldNum" sz="quarter" idx="10"/>
          </p:nvPr>
        </p:nvSpPr>
        <p:spPr/>
        <p:txBody>
          <a:bodyPr/>
          <a:lstStyle/>
          <a:p>
            <a:fld id="{7B2D4397-2931-438B-B195-D24BFA6F0B7F}" type="slidenum">
              <a:rPr lang="en-IN" smtClean="0"/>
              <a:t>13</a:t>
            </a:fld>
            <a:endParaRPr lang="en-IN" dirty="0"/>
          </a:p>
        </p:txBody>
      </p:sp>
    </p:spTree>
    <p:extLst>
      <p:ext uri="{BB962C8B-B14F-4D97-AF65-F5344CB8AC3E}">
        <p14:creationId xmlns:p14="http://schemas.microsoft.com/office/powerpoint/2010/main" val="32970113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baseline="0" dirty="0"/>
              <a:t>pros and cons of bash, </a:t>
            </a:r>
            <a:r>
              <a:rPr lang="en-US" baseline="0" dirty="0" err="1"/>
              <a:t>ksh</a:t>
            </a:r>
            <a:r>
              <a:rPr lang="en-US" baseline="0" dirty="0"/>
              <a:t> and </a:t>
            </a:r>
            <a:r>
              <a:rPr lang="en-US" baseline="0" dirty="0" err="1"/>
              <a:t>sh</a:t>
            </a:r>
            <a:endParaRPr lang="en-US" baseline="0" dirty="0"/>
          </a:p>
          <a:p>
            <a:pPr marL="171450" indent="-171450">
              <a:buFont typeface="Arial" panose="020B0604020202020204" pitchFamily="34" charset="0"/>
              <a:buChar char="•"/>
            </a:pPr>
            <a:r>
              <a:rPr lang="en-US" baseline="0" dirty="0"/>
              <a:t>Tell why bash is the most popular</a:t>
            </a:r>
          </a:p>
        </p:txBody>
      </p:sp>
      <p:sp>
        <p:nvSpPr>
          <p:cNvPr id="4" name="Slide Number Placeholder 3"/>
          <p:cNvSpPr>
            <a:spLocks noGrp="1"/>
          </p:cNvSpPr>
          <p:nvPr>
            <p:ph type="sldNum" sz="quarter" idx="10"/>
          </p:nvPr>
        </p:nvSpPr>
        <p:spPr/>
        <p:txBody>
          <a:bodyPr/>
          <a:lstStyle/>
          <a:p>
            <a:fld id="{7B2D4397-2931-438B-B195-D24BFA6F0B7F}" type="slidenum">
              <a:rPr lang="en-IN" smtClean="0"/>
              <a:t>14</a:t>
            </a:fld>
            <a:endParaRPr lang="en-IN" dirty="0"/>
          </a:p>
        </p:txBody>
      </p:sp>
    </p:spTree>
    <p:extLst>
      <p:ext uri="{BB962C8B-B14F-4D97-AF65-F5344CB8AC3E}">
        <p14:creationId xmlns:p14="http://schemas.microsoft.com/office/powerpoint/2010/main" val="42137636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baseline="0" dirty="0"/>
              <a:t>pros and cons of bash, </a:t>
            </a:r>
            <a:r>
              <a:rPr lang="en-US" baseline="0" dirty="0" err="1"/>
              <a:t>ksh</a:t>
            </a:r>
            <a:r>
              <a:rPr lang="en-US" baseline="0" dirty="0"/>
              <a:t> and </a:t>
            </a:r>
            <a:r>
              <a:rPr lang="en-US" baseline="0" dirty="0" err="1"/>
              <a:t>sh</a:t>
            </a:r>
            <a:endParaRPr lang="en-US" baseline="0" dirty="0"/>
          </a:p>
          <a:p>
            <a:pPr marL="171450" indent="-171450">
              <a:buFont typeface="Arial" panose="020B0604020202020204" pitchFamily="34" charset="0"/>
              <a:buChar char="•"/>
            </a:pPr>
            <a:r>
              <a:rPr lang="en-US" baseline="0" dirty="0"/>
              <a:t>Tell why bash is the most popular</a:t>
            </a:r>
          </a:p>
        </p:txBody>
      </p:sp>
      <p:sp>
        <p:nvSpPr>
          <p:cNvPr id="4" name="Slide Number Placeholder 3"/>
          <p:cNvSpPr>
            <a:spLocks noGrp="1"/>
          </p:cNvSpPr>
          <p:nvPr>
            <p:ph type="sldNum" sz="quarter" idx="10"/>
          </p:nvPr>
        </p:nvSpPr>
        <p:spPr/>
        <p:txBody>
          <a:bodyPr/>
          <a:lstStyle/>
          <a:p>
            <a:fld id="{7B2D4397-2931-438B-B195-D24BFA6F0B7F}" type="slidenum">
              <a:rPr lang="en-IN" smtClean="0"/>
              <a:t>15</a:t>
            </a:fld>
            <a:endParaRPr lang="en-IN" dirty="0"/>
          </a:p>
        </p:txBody>
      </p:sp>
    </p:spTree>
    <p:extLst>
      <p:ext uri="{BB962C8B-B14F-4D97-AF65-F5344CB8AC3E}">
        <p14:creationId xmlns:p14="http://schemas.microsoft.com/office/powerpoint/2010/main" val="40515199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baseline="0" dirty="0"/>
              <a:t>pros and cons of bash, </a:t>
            </a:r>
            <a:r>
              <a:rPr lang="en-US" baseline="0" dirty="0" err="1"/>
              <a:t>ksh</a:t>
            </a:r>
            <a:r>
              <a:rPr lang="en-US" baseline="0" dirty="0"/>
              <a:t> and </a:t>
            </a:r>
            <a:r>
              <a:rPr lang="en-US" baseline="0" dirty="0" err="1"/>
              <a:t>sh</a:t>
            </a:r>
            <a:endParaRPr lang="en-US" baseline="0" dirty="0"/>
          </a:p>
          <a:p>
            <a:pPr marL="171450" indent="-171450">
              <a:buFont typeface="Arial" panose="020B0604020202020204" pitchFamily="34" charset="0"/>
              <a:buChar char="•"/>
            </a:pPr>
            <a:r>
              <a:rPr lang="en-US" baseline="0" dirty="0"/>
              <a:t>Tell why bash is the most popular</a:t>
            </a:r>
          </a:p>
        </p:txBody>
      </p:sp>
      <p:sp>
        <p:nvSpPr>
          <p:cNvPr id="4" name="Slide Number Placeholder 3"/>
          <p:cNvSpPr>
            <a:spLocks noGrp="1"/>
          </p:cNvSpPr>
          <p:nvPr>
            <p:ph type="sldNum" sz="quarter" idx="10"/>
          </p:nvPr>
        </p:nvSpPr>
        <p:spPr/>
        <p:txBody>
          <a:bodyPr/>
          <a:lstStyle/>
          <a:p>
            <a:fld id="{7B2D4397-2931-438B-B195-D24BFA6F0B7F}" type="slidenum">
              <a:rPr lang="en-IN" smtClean="0"/>
              <a:t>16</a:t>
            </a:fld>
            <a:endParaRPr lang="en-IN" dirty="0"/>
          </a:p>
        </p:txBody>
      </p:sp>
    </p:spTree>
    <p:extLst>
      <p:ext uri="{BB962C8B-B14F-4D97-AF65-F5344CB8AC3E}">
        <p14:creationId xmlns:p14="http://schemas.microsoft.com/office/powerpoint/2010/main" val="29138562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baseline="0" dirty="0"/>
              <a:t>pros and cons of bash, </a:t>
            </a:r>
            <a:r>
              <a:rPr lang="en-US" baseline="0" dirty="0" err="1"/>
              <a:t>ksh</a:t>
            </a:r>
            <a:r>
              <a:rPr lang="en-US" baseline="0" dirty="0"/>
              <a:t> and </a:t>
            </a:r>
            <a:r>
              <a:rPr lang="en-US" baseline="0" dirty="0" err="1"/>
              <a:t>sh</a:t>
            </a:r>
            <a:endParaRPr lang="en-US" baseline="0" dirty="0"/>
          </a:p>
          <a:p>
            <a:pPr marL="171450" indent="-171450">
              <a:buFont typeface="Arial" panose="020B0604020202020204" pitchFamily="34" charset="0"/>
              <a:buChar char="•"/>
            </a:pPr>
            <a:r>
              <a:rPr lang="en-US" baseline="0" dirty="0"/>
              <a:t>Tell why bash is the most popular</a:t>
            </a:r>
          </a:p>
        </p:txBody>
      </p:sp>
      <p:sp>
        <p:nvSpPr>
          <p:cNvPr id="4" name="Slide Number Placeholder 3"/>
          <p:cNvSpPr>
            <a:spLocks noGrp="1"/>
          </p:cNvSpPr>
          <p:nvPr>
            <p:ph type="sldNum" sz="quarter" idx="10"/>
          </p:nvPr>
        </p:nvSpPr>
        <p:spPr/>
        <p:txBody>
          <a:bodyPr/>
          <a:lstStyle/>
          <a:p>
            <a:fld id="{7B2D4397-2931-438B-B195-D24BFA6F0B7F}" type="slidenum">
              <a:rPr lang="en-IN" smtClean="0"/>
              <a:t>17</a:t>
            </a:fld>
            <a:endParaRPr lang="en-IN" dirty="0"/>
          </a:p>
        </p:txBody>
      </p:sp>
    </p:spTree>
    <p:extLst>
      <p:ext uri="{BB962C8B-B14F-4D97-AF65-F5344CB8AC3E}">
        <p14:creationId xmlns:p14="http://schemas.microsoft.com/office/powerpoint/2010/main" val="1377859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baseline="0" dirty="0"/>
              <a:t>pros and cons of bash, </a:t>
            </a:r>
            <a:r>
              <a:rPr lang="en-US" baseline="0" dirty="0" err="1"/>
              <a:t>ksh</a:t>
            </a:r>
            <a:r>
              <a:rPr lang="en-US" baseline="0" dirty="0"/>
              <a:t> and </a:t>
            </a:r>
            <a:r>
              <a:rPr lang="en-US" baseline="0" dirty="0" err="1"/>
              <a:t>sh</a:t>
            </a:r>
            <a:endParaRPr lang="en-US" baseline="0" dirty="0"/>
          </a:p>
          <a:p>
            <a:pPr marL="171450" indent="-171450">
              <a:buFont typeface="Arial" panose="020B0604020202020204" pitchFamily="34" charset="0"/>
              <a:buChar char="•"/>
            </a:pPr>
            <a:r>
              <a:rPr lang="en-US" baseline="0" dirty="0"/>
              <a:t>Tell why bash is the most popular</a:t>
            </a:r>
          </a:p>
        </p:txBody>
      </p:sp>
      <p:sp>
        <p:nvSpPr>
          <p:cNvPr id="4" name="Slide Number Placeholder 3"/>
          <p:cNvSpPr>
            <a:spLocks noGrp="1"/>
          </p:cNvSpPr>
          <p:nvPr>
            <p:ph type="sldNum" sz="quarter" idx="10"/>
          </p:nvPr>
        </p:nvSpPr>
        <p:spPr/>
        <p:txBody>
          <a:bodyPr/>
          <a:lstStyle/>
          <a:p>
            <a:fld id="{7B2D4397-2931-438B-B195-D24BFA6F0B7F}" type="slidenum">
              <a:rPr lang="en-IN" smtClean="0"/>
              <a:t>18</a:t>
            </a:fld>
            <a:endParaRPr lang="en-IN" dirty="0"/>
          </a:p>
        </p:txBody>
      </p:sp>
    </p:spTree>
    <p:extLst>
      <p:ext uri="{BB962C8B-B14F-4D97-AF65-F5344CB8AC3E}">
        <p14:creationId xmlns:p14="http://schemas.microsoft.com/office/powerpoint/2010/main" val="150815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Commands</a:t>
            </a:r>
          </a:p>
        </p:txBody>
      </p:sp>
      <p:sp>
        <p:nvSpPr>
          <p:cNvPr id="4" name="Slide Number Placeholder 3"/>
          <p:cNvSpPr>
            <a:spLocks noGrp="1"/>
          </p:cNvSpPr>
          <p:nvPr>
            <p:ph type="sldNum" sz="quarter" idx="10"/>
          </p:nvPr>
        </p:nvSpPr>
        <p:spPr/>
        <p:txBody>
          <a:bodyPr/>
          <a:lstStyle/>
          <a:p>
            <a:fld id="{7B2D4397-2931-438B-B195-D24BFA6F0B7F}" type="slidenum">
              <a:rPr lang="en-IN" smtClean="0"/>
              <a:t>19</a:t>
            </a:fld>
            <a:endParaRPr lang="en-IN" dirty="0"/>
          </a:p>
        </p:txBody>
      </p:sp>
    </p:spTree>
    <p:extLst>
      <p:ext uri="{BB962C8B-B14F-4D97-AF65-F5344CB8AC3E}">
        <p14:creationId xmlns:p14="http://schemas.microsoft.com/office/powerpoint/2010/main" val="5848580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 explain</a:t>
            </a:r>
            <a:r>
              <a:rPr lang="en-US" baseline="0" dirty="0"/>
              <a:t> diff b/w exit and shutdown; what happens if they don’t shutdown;</a:t>
            </a:r>
            <a:endParaRPr lang="en-US" dirty="0"/>
          </a:p>
        </p:txBody>
      </p:sp>
      <p:sp>
        <p:nvSpPr>
          <p:cNvPr id="4" name="Slide Number Placeholder 3"/>
          <p:cNvSpPr>
            <a:spLocks noGrp="1"/>
          </p:cNvSpPr>
          <p:nvPr>
            <p:ph type="sldNum" sz="quarter" idx="10"/>
          </p:nvPr>
        </p:nvSpPr>
        <p:spPr/>
        <p:txBody>
          <a:bodyPr/>
          <a:lstStyle/>
          <a:p>
            <a:fld id="{7B2D4397-2931-438B-B195-D24BFA6F0B7F}" type="slidenum">
              <a:rPr lang="en-IN" smtClean="0"/>
              <a:t>21</a:t>
            </a:fld>
            <a:endParaRPr lang="en-IN" dirty="0"/>
          </a:p>
        </p:txBody>
      </p:sp>
    </p:spTree>
    <p:extLst>
      <p:ext uri="{BB962C8B-B14F-4D97-AF65-F5344CB8AC3E}">
        <p14:creationId xmlns:p14="http://schemas.microsoft.com/office/powerpoint/2010/main" val="35319086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Examples</a:t>
            </a:r>
            <a:r>
              <a:rPr lang="en-US" baseline="0" dirty="0"/>
              <a:t> for each command:</a:t>
            </a:r>
            <a:endParaRPr lang="en-US" dirty="0"/>
          </a:p>
        </p:txBody>
      </p:sp>
      <p:sp>
        <p:nvSpPr>
          <p:cNvPr id="4" name="Slide Number Placeholder 3"/>
          <p:cNvSpPr>
            <a:spLocks noGrp="1"/>
          </p:cNvSpPr>
          <p:nvPr>
            <p:ph type="sldNum" sz="quarter" idx="10"/>
          </p:nvPr>
        </p:nvSpPr>
        <p:spPr/>
        <p:txBody>
          <a:bodyPr/>
          <a:lstStyle/>
          <a:p>
            <a:fld id="{7B2D4397-2931-438B-B195-D24BFA6F0B7F}" type="slidenum">
              <a:rPr lang="en-IN" smtClean="0"/>
              <a:t>22</a:t>
            </a:fld>
            <a:endParaRPr lang="en-IN" dirty="0"/>
          </a:p>
        </p:txBody>
      </p:sp>
    </p:spTree>
    <p:extLst>
      <p:ext uri="{BB962C8B-B14F-4D97-AF65-F5344CB8AC3E}">
        <p14:creationId xmlns:p14="http://schemas.microsoft.com/office/powerpoint/2010/main" val="2637617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 use ls to</a:t>
            </a:r>
            <a:r>
              <a:rPr lang="en-US" baseline="0" dirty="0"/>
              <a:t> show </a:t>
            </a:r>
            <a:r>
              <a:rPr lang="en-US" baseline="0"/>
              <a:t>file size in GB</a:t>
            </a:r>
            <a:endParaRPr lang="en-US" dirty="0"/>
          </a:p>
        </p:txBody>
      </p:sp>
      <p:sp>
        <p:nvSpPr>
          <p:cNvPr id="4" name="Slide Number Placeholder 3"/>
          <p:cNvSpPr>
            <a:spLocks noGrp="1"/>
          </p:cNvSpPr>
          <p:nvPr>
            <p:ph type="sldNum" sz="quarter" idx="10"/>
          </p:nvPr>
        </p:nvSpPr>
        <p:spPr/>
        <p:txBody>
          <a:bodyPr/>
          <a:lstStyle/>
          <a:p>
            <a:fld id="{7B2D4397-2931-438B-B195-D24BFA6F0B7F}" type="slidenum">
              <a:rPr lang="en-IN" smtClean="0"/>
              <a:t>23</a:t>
            </a:fld>
            <a:endParaRPr lang="en-IN" dirty="0"/>
          </a:p>
        </p:txBody>
      </p:sp>
    </p:spTree>
    <p:extLst>
      <p:ext uri="{BB962C8B-B14F-4D97-AF65-F5344CB8AC3E}">
        <p14:creationId xmlns:p14="http://schemas.microsoft.com/office/powerpoint/2010/main" val="40153488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92C1B97-C155-4CFC-AA97-CF72E949F1D8}" type="datetime1">
              <a:rPr lang="en-US" smtClean="0">
                <a:solidFill>
                  <a:srgbClr val="ACD433"/>
                </a:solidFill>
              </a:rPr>
              <a:pPr/>
              <a:t>7/21/2016</a:t>
            </a:fld>
            <a:endParaRPr lang="en-US" dirty="0">
              <a:solidFill>
                <a:srgbClr val="ACD433"/>
              </a:solidFill>
            </a:endParaRPr>
          </a:p>
        </p:txBody>
      </p:sp>
      <p:sp>
        <p:nvSpPr>
          <p:cNvPr id="5" name="Footer Placeholder 4"/>
          <p:cNvSpPr>
            <a:spLocks noGrp="1"/>
          </p:cNvSpPr>
          <p:nvPr>
            <p:ph type="ftr" sz="quarter" idx="11"/>
          </p:nvPr>
        </p:nvSpPr>
        <p:spPr/>
        <p:txBody>
          <a:bodyPr/>
          <a:lstStyle/>
          <a:p>
            <a:r>
              <a:rPr lang="en-US" dirty="0">
                <a:solidFill>
                  <a:srgbClr val="ACD433"/>
                </a:solidFill>
              </a:rPr>
              <a:t>
              </a:t>
            </a: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
        <p:nvSpPr>
          <p:cNvPr id="16" name="Text Placeholder 9"/>
          <p:cNvSpPr>
            <a:spLocks noGrp="1"/>
          </p:cNvSpPr>
          <p:nvPr>
            <p:ph type="body" sz="quarter" idx="13"/>
          </p:nvPr>
        </p:nvSpPr>
        <p:spPr>
          <a:xfrm>
            <a:off x="528357" y="1217086"/>
            <a:ext cx="11113180" cy="582362"/>
          </a:xfrm>
        </p:spPr>
        <p:txBody>
          <a:bodyPr>
            <a:normAutofit/>
          </a:bodyPr>
          <a:lstStyle>
            <a:lvl1pPr marL="0" indent="0">
              <a:buNone/>
              <a:defRPr sz="1800">
                <a:solidFill>
                  <a:schemeClr val="tx2">
                    <a:lumMod val="60000"/>
                    <a:lumOff val="40000"/>
                  </a:schemeClr>
                </a:solidFill>
              </a:defRPr>
            </a:lvl1pPr>
          </a:lstStyle>
          <a:p>
            <a:pPr lvl="0"/>
            <a:endParaRPr lang="en-IN" dirty="0"/>
          </a:p>
        </p:txBody>
      </p:sp>
    </p:spTree>
    <p:extLst>
      <p:ext uri="{BB962C8B-B14F-4D97-AF65-F5344CB8AC3E}">
        <p14:creationId xmlns:p14="http://schemas.microsoft.com/office/powerpoint/2010/main" val="28483224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13" name="Group 12"/>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2677645"/>
            <a:ext cx="4351023"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8" y="2677644"/>
            <a:ext cx="3755379" cy="2283823"/>
          </a:xfrm>
        </p:spPr>
        <p:txBody>
          <a:bodyPr anchor="ctr"/>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D895522-3AA0-4A80-92C7-2AC281EBADF4}" type="datetime1">
              <a:rPr lang="en-US" smtClean="0">
                <a:solidFill>
                  <a:srgbClr val="ACD433"/>
                </a:solidFill>
              </a:rPr>
              <a:pPr/>
              <a:t>7/21/2016</a:t>
            </a:fld>
            <a:endParaRPr lang="en-US" dirty="0">
              <a:solidFill>
                <a:srgbClr val="ACD433"/>
              </a:solidFill>
            </a:endParaRPr>
          </a:p>
        </p:txBody>
      </p:sp>
      <p:sp>
        <p:nvSpPr>
          <p:cNvPr id="5" name="Footer Placeholder 4"/>
          <p:cNvSpPr>
            <a:spLocks noGrp="1"/>
          </p:cNvSpPr>
          <p:nvPr>
            <p:ph type="ftr" sz="quarter" idx="11"/>
          </p:nvPr>
        </p:nvSpPr>
        <p:spPr/>
        <p:txBody>
          <a:bodyPr/>
          <a:lstStyle/>
          <a:p>
            <a:r>
              <a:rPr lang="en-US" dirty="0">
                <a:solidFill>
                  <a:srgbClr val="ACD433"/>
                </a:solidFill>
              </a:rPr>
              <a:t>
              </a:t>
            </a:r>
          </a:p>
        </p:txBody>
      </p:sp>
      <p:sp>
        <p:nvSpPr>
          <p:cNvPr id="15" name="Rectangle 14"/>
          <p:cNvSpPr/>
          <p:nvPr/>
        </p:nvSpPr>
        <p:spPr>
          <a:xfrm>
            <a:off x="10437812" y="0"/>
            <a:ext cx="685800" cy="1143000"/>
          </a:xfrm>
          <a:prstGeom prst="rect">
            <a:avLst/>
          </a:prstGeom>
          <a:solidFill>
            <a:schemeClr val="tx2">
              <a:lumMod val="20000"/>
              <a:lumOff val="80000"/>
            </a:schemeClr>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Tree>
    <p:extLst>
      <p:ext uri="{BB962C8B-B14F-4D97-AF65-F5344CB8AC3E}">
        <p14:creationId xmlns:p14="http://schemas.microsoft.com/office/powerpoint/2010/main" val="35047913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3CE34B9-F39B-4A6F-8022-0CCE308A2419}" type="datetime1">
              <a:rPr lang="en-US" smtClean="0">
                <a:solidFill>
                  <a:srgbClr val="ACD433"/>
                </a:solidFill>
              </a:rPr>
              <a:pPr/>
              <a:t>7/21/2016</a:t>
            </a:fld>
            <a:endParaRPr lang="en-US" dirty="0">
              <a:solidFill>
                <a:srgbClr val="ACD433"/>
              </a:solidFill>
            </a:endParaRPr>
          </a:p>
        </p:txBody>
      </p:sp>
      <p:sp>
        <p:nvSpPr>
          <p:cNvPr id="6" name="Footer Placeholder 5"/>
          <p:cNvSpPr>
            <a:spLocks noGrp="1"/>
          </p:cNvSpPr>
          <p:nvPr>
            <p:ph type="ftr" sz="quarter" idx="11"/>
          </p:nvPr>
        </p:nvSpPr>
        <p:spPr/>
        <p:txBody>
          <a:bodyPr/>
          <a:lstStyle/>
          <a:p>
            <a:r>
              <a:rPr lang="en-US" dirty="0">
                <a:solidFill>
                  <a:srgbClr val="ACD433"/>
                </a:solidFill>
              </a:rPr>
              <a:t>
              </a:t>
            </a:r>
          </a:p>
        </p:txBody>
      </p:sp>
      <p:sp>
        <p:nvSpPr>
          <p:cNvPr id="7" name="Slide Number Placeholder 6"/>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
        <p:nvSpPr>
          <p:cNvPr id="10" name="Text Placeholder 9"/>
          <p:cNvSpPr>
            <a:spLocks noGrp="1"/>
          </p:cNvSpPr>
          <p:nvPr>
            <p:ph type="body" sz="quarter" idx="13"/>
          </p:nvPr>
        </p:nvSpPr>
        <p:spPr>
          <a:xfrm>
            <a:off x="528357" y="1217086"/>
            <a:ext cx="11113180" cy="582362"/>
          </a:xfrm>
        </p:spPr>
        <p:txBody>
          <a:bodyPr>
            <a:normAutofit/>
          </a:bodyPr>
          <a:lstStyle>
            <a:lvl1pPr marL="0" indent="0">
              <a:buNone/>
              <a:defRPr lang="en-IN" sz="1800" b="0" i="0" kern="1200" dirty="0">
                <a:solidFill>
                  <a:schemeClr val="tx2">
                    <a:lumMod val="60000"/>
                    <a:lumOff val="40000"/>
                  </a:schemeClr>
                </a:solidFill>
                <a:latin typeface="+mn-lt"/>
                <a:ea typeface="+mn-ea"/>
                <a:cs typeface="+mn-cs"/>
              </a:defRPr>
            </a:lvl1pPr>
          </a:lstStyle>
          <a:p>
            <a:pPr lvl="0"/>
            <a:endParaRPr lang="en-IN" dirty="0"/>
          </a:p>
        </p:txBody>
      </p:sp>
    </p:spTree>
    <p:extLst>
      <p:ext uri="{BB962C8B-B14F-4D97-AF65-F5344CB8AC3E}">
        <p14:creationId xmlns:p14="http://schemas.microsoft.com/office/powerpoint/2010/main" val="2021176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0" y="3179762"/>
            <a:ext cx="4825159"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F11948E-581D-4169-8736-D78C52183DC6}" type="datetime1">
              <a:rPr lang="en-US" smtClean="0">
                <a:solidFill>
                  <a:srgbClr val="ACD433"/>
                </a:solidFill>
              </a:rPr>
              <a:pPr/>
              <a:t>7/21/2016</a:t>
            </a:fld>
            <a:endParaRPr lang="en-US" dirty="0">
              <a:solidFill>
                <a:srgbClr val="ACD433"/>
              </a:solidFill>
            </a:endParaRPr>
          </a:p>
        </p:txBody>
      </p:sp>
      <p:sp>
        <p:nvSpPr>
          <p:cNvPr id="8" name="Footer Placeholder 7"/>
          <p:cNvSpPr>
            <a:spLocks noGrp="1"/>
          </p:cNvSpPr>
          <p:nvPr>
            <p:ph type="ftr" sz="quarter" idx="11"/>
          </p:nvPr>
        </p:nvSpPr>
        <p:spPr/>
        <p:txBody>
          <a:bodyPr/>
          <a:lstStyle/>
          <a:p>
            <a:r>
              <a:rPr lang="en-US" dirty="0">
                <a:solidFill>
                  <a:srgbClr val="ACD433"/>
                </a:solidFill>
              </a:rPr>
              <a:t>
              </a:t>
            </a:r>
          </a:p>
        </p:txBody>
      </p:sp>
      <p:sp>
        <p:nvSpPr>
          <p:cNvPr id="9" name="Slide Number Placeholder 8"/>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
        <p:nvSpPr>
          <p:cNvPr id="11" name="Text Placeholder 9"/>
          <p:cNvSpPr>
            <a:spLocks noGrp="1"/>
          </p:cNvSpPr>
          <p:nvPr>
            <p:ph type="body" sz="quarter" idx="13"/>
          </p:nvPr>
        </p:nvSpPr>
        <p:spPr>
          <a:xfrm>
            <a:off x="528357" y="1217086"/>
            <a:ext cx="11113180" cy="582362"/>
          </a:xfrm>
        </p:spPr>
        <p:txBody>
          <a:bodyPr>
            <a:normAutofit/>
          </a:bodyPr>
          <a:lstStyle>
            <a:lvl1pPr marL="0" indent="0">
              <a:buNone/>
              <a:defRPr lang="en-IN" sz="1800" b="0" i="0" kern="1200" dirty="0">
                <a:solidFill>
                  <a:schemeClr val="tx2">
                    <a:lumMod val="60000"/>
                    <a:lumOff val="40000"/>
                  </a:schemeClr>
                </a:solidFill>
                <a:latin typeface="+mn-lt"/>
                <a:ea typeface="+mn-ea"/>
                <a:cs typeface="+mn-cs"/>
              </a:defRPr>
            </a:lvl1pPr>
          </a:lstStyle>
          <a:p>
            <a:pPr lvl="0"/>
            <a:endParaRPr lang="en-US" sz="1800" b="0" i="0" kern="1200" dirty="0">
              <a:solidFill>
                <a:schemeClr val="tx2">
                  <a:lumMod val="60000"/>
                  <a:lumOff val="40000"/>
                </a:schemeClr>
              </a:solidFill>
              <a:latin typeface="+mn-lt"/>
              <a:ea typeface="+mn-ea"/>
              <a:cs typeface="+mn-cs"/>
            </a:endParaRPr>
          </a:p>
        </p:txBody>
      </p:sp>
    </p:spTree>
    <p:extLst>
      <p:ext uri="{BB962C8B-B14F-4D97-AF65-F5344CB8AC3E}">
        <p14:creationId xmlns:p14="http://schemas.microsoft.com/office/powerpoint/2010/main" val="9860327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35BA0C7-AADD-421B-8FBC-91AD055047E0}" type="datetime1">
              <a:rPr lang="en-US" smtClean="0">
                <a:solidFill>
                  <a:srgbClr val="ACD433"/>
                </a:solidFill>
              </a:rPr>
              <a:pPr/>
              <a:t>7/21/2016</a:t>
            </a:fld>
            <a:endParaRPr lang="en-US" dirty="0">
              <a:solidFill>
                <a:srgbClr val="ACD433"/>
              </a:solidFill>
            </a:endParaRPr>
          </a:p>
        </p:txBody>
      </p:sp>
      <p:sp>
        <p:nvSpPr>
          <p:cNvPr id="4" name="Footer Placeholder 3"/>
          <p:cNvSpPr>
            <a:spLocks noGrp="1"/>
          </p:cNvSpPr>
          <p:nvPr>
            <p:ph type="ftr" sz="quarter" idx="11"/>
          </p:nvPr>
        </p:nvSpPr>
        <p:spPr/>
        <p:txBody>
          <a:bodyPr/>
          <a:lstStyle/>
          <a:p>
            <a:r>
              <a:rPr lang="en-US" dirty="0">
                <a:solidFill>
                  <a:srgbClr val="ACD433"/>
                </a:solidFill>
              </a:rPr>
              <a:t>
              </a:t>
            </a:r>
          </a:p>
        </p:txBody>
      </p:sp>
      <p:sp>
        <p:nvSpPr>
          <p:cNvPr id="5" name="Slide Number Placeholder 4"/>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
        <p:nvSpPr>
          <p:cNvPr id="7" name="Text Placeholder 9"/>
          <p:cNvSpPr>
            <a:spLocks noGrp="1"/>
          </p:cNvSpPr>
          <p:nvPr>
            <p:ph type="body" sz="quarter" idx="13"/>
          </p:nvPr>
        </p:nvSpPr>
        <p:spPr>
          <a:xfrm>
            <a:off x="528357" y="1217086"/>
            <a:ext cx="11113180" cy="582362"/>
          </a:xfrm>
        </p:spPr>
        <p:txBody>
          <a:bodyPr>
            <a:normAutofit/>
          </a:bodyPr>
          <a:lstStyle>
            <a:lvl1pPr marL="0" indent="0">
              <a:buNone/>
              <a:defRPr lang="en-IN" sz="1800" b="0" i="0" kern="1200" dirty="0">
                <a:solidFill>
                  <a:schemeClr val="tx2">
                    <a:lumMod val="60000"/>
                    <a:lumOff val="40000"/>
                  </a:schemeClr>
                </a:solidFill>
                <a:latin typeface="+mn-lt"/>
                <a:ea typeface="+mn-ea"/>
                <a:cs typeface="+mn-cs"/>
              </a:defRPr>
            </a:lvl1pPr>
          </a:lstStyle>
          <a:p>
            <a:pPr lvl="0"/>
            <a:endParaRPr lang="en-IN" dirty="0"/>
          </a:p>
        </p:txBody>
      </p:sp>
    </p:spTree>
    <p:extLst>
      <p:ext uri="{BB962C8B-B14F-4D97-AF65-F5344CB8AC3E}">
        <p14:creationId xmlns:p14="http://schemas.microsoft.com/office/powerpoint/2010/main" val="27088645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F9BE4F3-E305-4ED2-971B-C2A5123F3D9C}" type="datetime1">
              <a:rPr lang="en-US" smtClean="0">
                <a:solidFill>
                  <a:srgbClr val="ACD433"/>
                </a:solidFill>
              </a:rPr>
              <a:pPr/>
              <a:t>7/21/2016</a:t>
            </a:fld>
            <a:endParaRPr lang="en-US" dirty="0">
              <a:solidFill>
                <a:srgbClr val="ACD433"/>
              </a:solidFill>
            </a:endParaRPr>
          </a:p>
        </p:txBody>
      </p:sp>
      <p:sp>
        <p:nvSpPr>
          <p:cNvPr id="3" name="Footer Placeholder 2"/>
          <p:cNvSpPr>
            <a:spLocks noGrp="1"/>
          </p:cNvSpPr>
          <p:nvPr>
            <p:ph type="ftr" sz="quarter" idx="11"/>
          </p:nvPr>
        </p:nvSpPr>
        <p:spPr/>
        <p:txBody>
          <a:bodyPr/>
          <a:lstStyle/>
          <a:p>
            <a:r>
              <a:rPr lang="en-US" dirty="0">
                <a:solidFill>
                  <a:srgbClr val="ACD433"/>
                </a:solidFill>
              </a:rPr>
              <a:t>
              </a:t>
            </a:r>
          </a:p>
        </p:txBody>
      </p:sp>
      <p:sp>
        <p:nvSpPr>
          <p:cNvPr id="7" name="Rectangle 6"/>
          <p:cNvSpPr/>
          <p:nvPr/>
        </p:nvSpPr>
        <p:spPr>
          <a:xfrm>
            <a:off x="10437812" y="0"/>
            <a:ext cx="685800" cy="1143000"/>
          </a:xfrm>
          <a:prstGeom prst="rect">
            <a:avLst/>
          </a:prstGeom>
          <a:solidFill>
            <a:schemeClr val="tx2">
              <a:lumMod val="20000"/>
              <a:lumOff val="80000"/>
            </a:schemeClr>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Tree>
    <p:extLst>
      <p:ext uri="{BB962C8B-B14F-4D97-AF65-F5344CB8AC3E}">
        <p14:creationId xmlns:p14="http://schemas.microsoft.com/office/powerpoint/2010/main" val="4444782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14" name="Group 13"/>
          <p:cNvGrpSpPr/>
          <p:nvPr/>
        </p:nvGrpSpPr>
        <p:grpSpPr>
          <a:xfrm>
            <a:off x="0" y="-2373"/>
            <a:ext cx="12192000" cy="6867027"/>
            <a:chOff x="0" y="-2373"/>
            <a:chExt cx="12192000" cy="6867027"/>
          </a:xfrm>
        </p:grpSpPr>
        <p:sp>
          <p:nvSpPr>
            <p:cNvPr id="12" name="Rectangle 11"/>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Oval 15"/>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0"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1295400"/>
            <a:ext cx="2793159"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5"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5" y="2895600"/>
            <a:ext cx="2793158" cy="3129279"/>
          </a:xfrm>
        </p:spPr>
        <p:txBody>
          <a:bodyPr/>
          <a:lstStyle>
            <a:lvl1pPr marL="0" indent="0">
              <a:buNone/>
              <a:defRPr sz="14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509C74D-C361-4376-8174-AE28B7E8A445}" type="datetime1">
              <a:rPr lang="en-US" smtClean="0">
                <a:solidFill>
                  <a:srgbClr val="ACD433"/>
                </a:solidFill>
              </a:rPr>
              <a:pPr/>
              <a:t>7/21/2016</a:t>
            </a:fld>
            <a:endParaRPr lang="en-US" dirty="0">
              <a:solidFill>
                <a:srgbClr val="ACD433"/>
              </a:solidFill>
            </a:endParaRPr>
          </a:p>
        </p:txBody>
      </p:sp>
      <p:sp>
        <p:nvSpPr>
          <p:cNvPr id="6" name="Footer Placeholder 5"/>
          <p:cNvSpPr>
            <a:spLocks noGrp="1"/>
          </p:cNvSpPr>
          <p:nvPr>
            <p:ph type="ftr" sz="quarter" idx="11"/>
          </p:nvPr>
        </p:nvSpPr>
        <p:spPr/>
        <p:txBody>
          <a:bodyPr/>
          <a:lstStyle/>
          <a:p>
            <a:r>
              <a:rPr lang="en-US" dirty="0">
                <a:solidFill>
                  <a:srgbClr val="ACD433"/>
                </a:solidFill>
              </a:rPr>
              <a:t>
              </a:t>
            </a:r>
          </a:p>
        </p:txBody>
      </p:sp>
      <p:sp>
        <p:nvSpPr>
          <p:cNvPr id="15" name="Rectangle 14"/>
          <p:cNvSpPr/>
          <p:nvPr/>
        </p:nvSpPr>
        <p:spPr>
          <a:xfrm>
            <a:off x="10437812" y="0"/>
            <a:ext cx="685800" cy="1143000"/>
          </a:xfrm>
          <a:prstGeom prst="rect">
            <a:avLst/>
          </a:prstGeom>
          <a:solidFill>
            <a:schemeClr val="tx2">
              <a:lumMod val="20000"/>
              <a:lumOff val="80000"/>
            </a:schemeClr>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Tree>
    <p:extLst>
      <p:ext uri="{BB962C8B-B14F-4D97-AF65-F5344CB8AC3E}">
        <p14:creationId xmlns:p14="http://schemas.microsoft.com/office/powerpoint/2010/main" val="6098095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20" name="Group 19"/>
          <p:cNvGrpSpPr/>
          <p:nvPr/>
        </p:nvGrpSpPr>
        <p:grpSpPr>
          <a:xfrm>
            <a:off x="0" y="-2373"/>
            <a:ext cx="12192000" cy="6867027"/>
            <a:chOff x="0" y="-2373"/>
            <a:chExt cx="12192000" cy="6867027"/>
          </a:xfrm>
        </p:grpSpPr>
        <p:sp>
          <p:nvSpPr>
            <p:cNvPr id="12" name="Rectangle 11"/>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0"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3907" y="1693332"/>
            <a:ext cx="3860260" cy="173566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bwMode="gray">
          <a:xfrm>
            <a:off x="1154955" y="3657600"/>
            <a:ext cx="3859212" cy="1371600"/>
          </a:xfrm>
        </p:spPr>
        <p:txBody>
          <a:bodyPr>
            <a:normAutofit/>
          </a:bodyPr>
          <a:lstStyle>
            <a:lvl1pPr marL="0" indent="0">
              <a:buNone/>
              <a:defRPr sz="14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FD2ABCB-FCE6-4FC8-9691-E916C6279CCA}" type="datetime1">
              <a:rPr lang="en-US" smtClean="0">
                <a:solidFill>
                  <a:srgbClr val="ACD433"/>
                </a:solidFill>
              </a:rPr>
              <a:pPr/>
              <a:t>7/21/2016</a:t>
            </a:fld>
            <a:endParaRPr lang="en-US" dirty="0">
              <a:solidFill>
                <a:srgbClr val="ACD433"/>
              </a:solidFill>
            </a:endParaRPr>
          </a:p>
        </p:txBody>
      </p:sp>
      <p:sp>
        <p:nvSpPr>
          <p:cNvPr id="6" name="Footer Placeholder 5"/>
          <p:cNvSpPr>
            <a:spLocks noGrp="1"/>
          </p:cNvSpPr>
          <p:nvPr>
            <p:ph type="ftr" sz="quarter" idx="11"/>
          </p:nvPr>
        </p:nvSpPr>
        <p:spPr/>
        <p:txBody>
          <a:bodyPr/>
          <a:lstStyle/>
          <a:p>
            <a:r>
              <a:rPr lang="en-US" dirty="0">
                <a:solidFill>
                  <a:srgbClr val="ACD433"/>
                </a:solidFill>
              </a:rPr>
              <a:t>
              </a:t>
            </a:r>
          </a:p>
        </p:txBody>
      </p:sp>
      <p:sp>
        <p:nvSpPr>
          <p:cNvPr id="14" name="Rectangle 13"/>
          <p:cNvSpPr/>
          <p:nvPr/>
        </p:nvSpPr>
        <p:spPr>
          <a:xfrm>
            <a:off x="10437812" y="0"/>
            <a:ext cx="685800" cy="1143000"/>
          </a:xfrm>
          <a:prstGeom prst="rect">
            <a:avLst/>
          </a:prstGeom>
          <a:solidFill>
            <a:schemeClr val="tx2">
              <a:lumMod val="20000"/>
              <a:lumOff val="80000"/>
            </a:schemeClr>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Tree>
    <p:extLst>
      <p:ext uri="{BB962C8B-B14F-4D97-AF65-F5344CB8AC3E}">
        <p14:creationId xmlns:p14="http://schemas.microsoft.com/office/powerpoint/2010/main" val="30422291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anoramic Picture with Caption">
    <p:spTree>
      <p:nvGrpSpPr>
        <p:cNvPr id="1" name=""/>
        <p:cNvGrpSpPr/>
        <p:nvPr/>
      </p:nvGrpSpPr>
      <p:grpSpPr>
        <a:xfrm>
          <a:off x="0" y="0"/>
          <a:ext cx="0" cy="0"/>
          <a:chOff x="0" y="0"/>
          <a:chExt cx="0" cy="0"/>
        </a:xfrm>
      </p:grpSpPr>
      <p:grpSp>
        <p:nvGrpSpPr>
          <p:cNvPr id="19" name="Group 18"/>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4966674"/>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bwMode="gray">
          <a:xfrm>
            <a:off x="1154956" y="5536665"/>
            <a:ext cx="8825656" cy="493712"/>
          </a:xfrm>
        </p:spPr>
        <p:txBody>
          <a:bodyPr>
            <a:normAutofit/>
          </a:bodyPr>
          <a:lstStyle>
            <a:lvl1pPr marL="0" indent="0">
              <a:buNone/>
              <a:defRPr sz="12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680EE84-D85D-497A-9A5B-2C115F808617}" type="datetime1">
              <a:rPr lang="en-US" smtClean="0">
                <a:solidFill>
                  <a:srgbClr val="ACD433"/>
                </a:solidFill>
              </a:rPr>
              <a:pPr/>
              <a:t>7/21/2016</a:t>
            </a:fld>
            <a:endParaRPr lang="en-US" dirty="0">
              <a:solidFill>
                <a:srgbClr val="ACD433"/>
              </a:solidFill>
            </a:endParaRPr>
          </a:p>
        </p:txBody>
      </p:sp>
      <p:sp>
        <p:nvSpPr>
          <p:cNvPr id="6" name="Footer Placeholder 5"/>
          <p:cNvSpPr>
            <a:spLocks noGrp="1"/>
          </p:cNvSpPr>
          <p:nvPr>
            <p:ph type="ftr" sz="quarter" idx="11"/>
          </p:nvPr>
        </p:nvSpPr>
        <p:spPr/>
        <p:txBody>
          <a:bodyPr/>
          <a:lstStyle/>
          <a:p>
            <a:r>
              <a:rPr lang="en-US" dirty="0">
                <a:solidFill>
                  <a:srgbClr val="ACD433"/>
                </a:solidFill>
              </a:rPr>
              <a:t>
              </a:t>
            </a:r>
          </a:p>
        </p:txBody>
      </p:sp>
      <p:sp>
        <p:nvSpPr>
          <p:cNvPr id="13" name="Rectangle 12"/>
          <p:cNvSpPr/>
          <p:nvPr/>
        </p:nvSpPr>
        <p:spPr>
          <a:xfrm>
            <a:off x="10437812" y="0"/>
            <a:ext cx="685800" cy="1143000"/>
          </a:xfrm>
          <a:prstGeom prst="rect">
            <a:avLst/>
          </a:prstGeom>
          <a:solidFill>
            <a:schemeClr val="tx2">
              <a:lumMod val="20000"/>
              <a:lumOff val="80000"/>
            </a:schemeClr>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Tree>
    <p:extLst>
      <p:ext uri="{BB962C8B-B14F-4D97-AF65-F5344CB8AC3E}">
        <p14:creationId xmlns:p14="http://schemas.microsoft.com/office/powerpoint/2010/main" val="14874721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12" name="Group 11"/>
          <p:cNvGrpSpPr/>
          <p:nvPr/>
        </p:nvGrpSpPr>
        <p:grpSpPr>
          <a:xfrm>
            <a:off x="0" y="-2373"/>
            <a:ext cx="12192000" cy="6867027"/>
            <a:chOff x="0" y="-2373"/>
            <a:chExt cx="12192000" cy="6867027"/>
          </a:xfrm>
        </p:grpSpPr>
        <p:sp>
          <p:nvSpPr>
            <p:cNvPr id="10" name="Rectangle 9"/>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1063416"/>
            <a:ext cx="8825659" cy="1379755"/>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F95FD7DB-F981-46C5-8A0D-B8D1888769EB}" type="datetime1">
              <a:rPr lang="en-US" smtClean="0">
                <a:solidFill>
                  <a:srgbClr val="ACD433"/>
                </a:solidFill>
              </a:rPr>
              <a:pPr/>
              <a:t>7/21/2016</a:t>
            </a:fld>
            <a:endParaRPr lang="en-US" dirty="0">
              <a:solidFill>
                <a:srgbClr val="ACD433"/>
              </a:solidFill>
            </a:endParaRPr>
          </a:p>
        </p:txBody>
      </p:sp>
      <p:sp>
        <p:nvSpPr>
          <p:cNvPr id="5" name="Footer Placeholder 4"/>
          <p:cNvSpPr>
            <a:spLocks noGrp="1"/>
          </p:cNvSpPr>
          <p:nvPr>
            <p:ph type="ftr" sz="quarter" idx="11"/>
          </p:nvPr>
        </p:nvSpPr>
        <p:spPr/>
        <p:txBody>
          <a:bodyPr/>
          <a:lstStyle/>
          <a:p>
            <a:r>
              <a:rPr lang="en-US" dirty="0">
                <a:solidFill>
                  <a:srgbClr val="ACD433"/>
                </a:solidFill>
              </a:rPr>
              <a:t>
              </a:t>
            </a:r>
          </a:p>
        </p:txBody>
      </p:sp>
      <p:sp>
        <p:nvSpPr>
          <p:cNvPr id="13" name="Rectangle 12"/>
          <p:cNvSpPr/>
          <p:nvPr/>
        </p:nvSpPr>
        <p:spPr>
          <a:xfrm>
            <a:off x="10437812" y="0"/>
            <a:ext cx="685800" cy="1143000"/>
          </a:xfrm>
          <a:prstGeom prst="rect">
            <a:avLst/>
          </a:prstGeom>
          <a:solidFill>
            <a:schemeClr val="tx2">
              <a:lumMod val="20000"/>
              <a:lumOff val="80000"/>
            </a:schemeClr>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Tree>
    <p:extLst>
      <p:ext uri="{BB962C8B-B14F-4D97-AF65-F5344CB8AC3E}">
        <p14:creationId xmlns:p14="http://schemas.microsoft.com/office/powerpoint/2010/main" val="2289511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7" name="Group 6"/>
          <p:cNvGrpSpPr/>
          <p:nvPr/>
        </p:nvGrpSpPr>
        <p:grpSpPr>
          <a:xfrm>
            <a:off x="0" y="-2373"/>
            <a:ext cx="12192000" cy="6867027"/>
            <a:chOff x="0" y="-2373"/>
            <a:chExt cx="12192000" cy="6867027"/>
          </a:xfrm>
        </p:grpSpPr>
        <p:sp>
          <p:nvSpPr>
            <p:cNvPr id="15" name="Rectangle 14"/>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4"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6"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3" name="TextBox 12"/>
          <p:cNvSpPr txBox="1"/>
          <p:nvPr/>
        </p:nvSpPr>
        <p:spPr>
          <a:xfrm>
            <a:off x="9719438" y="2631815"/>
            <a:ext cx="801912" cy="1569660"/>
          </a:xfrm>
          <a:prstGeom prst="rect">
            <a:avLst/>
          </a:prstGeom>
          <a:noFill/>
        </p:spPr>
        <p:txBody>
          <a:bodyPr wrap="square" rtlCol="0">
            <a:spAutoFit/>
          </a:bodyPr>
          <a:lstStyle>
            <a:defPPr>
              <a:defRPr lang="en-US"/>
            </a:defPPr>
            <a:lvl1pPr algn="r">
              <a:defRPr sz="12200" b="0" i="0">
                <a:solidFill>
                  <a:schemeClr val="accent1"/>
                </a:solidFill>
                <a:latin typeface="Arial"/>
                <a:cs typeface="Arial"/>
              </a:defRPr>
            </a:lvl1pPr>
          </a:lstStyle>
          <a:p>
            <a:pPr defTabSz="457200"/>
            <a:r>
              <a:rPr lang="en-US" sz="9600" dirty="0">
                <a:solidFill>
                  <a:srgbClr val="ACD433"/>
                </a:solidFill>
              </a:rPr>
              <a:t>”</a:t>
            </a:r>
          </a:p>
        </p:txBody>
      </p:sp>
      <p:sp>
        <p:nvSpPr>
          <p:cNvPr id="9" name="TextBox 8"/>
          <p:cNvSpPr txBox="1"/>
          <p:nvPr/>
        </p:nvSpPr>
        <p:spPr>
          <a:xfrm>
            <a:off x="898295" y="591093"/>
            <a:ext cx="801912" cy="1569660"/>
          </a:xfrm>
          <a:prstGeom prst="rect">
            <a:avLst/>
          </a:prstGeom>
          <a:noFill/>
        </p:spPr>
        <p:txBody>
          <a:bodyPr wrap="square" rtlCol="0">
            <a:spAutoFit/>
          </a:bodyPr>
          <a:lstStyle>
            <a:defPPr>
              <a:defRPr lang="en-US"/>
            </a:defPPr>
            <a:lvl1pPr algn="r">
              <a:defRPr sz="12200" b="0" i="0">
                <a:solidFill>
                  <a:schemeClr val="accent1"/>
                </a:solidFill>
                <a:latin typeface="Arial"/>
                <a:cs typeface="Arial"/>
              </a:defRPr>
            </a:lvl1pPr>
          </a:lstStyle>
          <a:p>
            <a:pPr defTabSz="457200"/>
            <a:r>
              <a:rPr lang="en-US" sz="9600" dirty="0">
                <a:solidFill>
                  <a:srgbClr val="ACD433"/>
                </a:solidFill>
              </a:rPr>
              <a:t>“</a:t>
            </a:r>
          </a:p>
        </p:txBody>
      </p:sp>
      <p:sp>
        <p:nvSpPr>
          <p:cNvPr id="2" name="Title 1"/>
          <p:cNvSpPr>
            <a:spLocks noGrp="1"/>
          </p:cNvSpPr>
          <p:nvPr>
            <p:ph type="title"/>
          </p:nvPr>
        </p:nvSpPr>
        <p:spPr>
          <a:xfrm>
            <a:off x="1581878" y="980517"/>
            <a:ext cx="8453906" cy="2698249"/>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25772" cy="342174"/>
          </a:xfrm>
        </p:spPr>
        <p:txBody>
          <a:bodyPr anchor="t">
            <a:normAutofit/>
          </a:bodyPr>
          <a:lstStyle>
            <a:lvl1pPr marL="0" indent="0">
              <a:buNone/>
              <a:defRPr lang="en-US" sz="1400" b="0" i="0" kern="1200" cap="small" dirty="0">
                <a:solidFill>
                  <a:schemeClr val="accent1"/>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C947D92A-5A66-48EC-BB04-2DB931A39FAD}" type="datetime1">
              <a:rPr lang="en-US" smtClean="0">
                <a:solidFill>
                  <a:srgbClr val="ACD433"/>
                </a:solidFill>
              </a:rPr>
              <a:pPr/>
              <a:t>7/21/2016</a:t>
            </a:fld>
            <a:endParaRPr lang="en-US" dirty="0">
              <a:solidFill>
                <a:srgbClr val="ACD433"/>
              </a:solidFill>
            </a:endParaRPr>
          </a:p>
        </p:txBody>
      </p:sp>
      <p:sp>
        <p:nvSpPr>
          <p:cNvPr id="5" name="Footer Placeholder 4"/>
          <p:cNvSpPr>
            <a:spLocks noGrp="1"/>
          </p:cNvSpPr>
          <p:nvPr>
            <p:ph type="ftr" sz="quarter" idx="11"/>
          </p:nvPr>
        </p:nvSpPr>
        <p:spPr/>
        <p:txBody>
          <a:bodyPr/>
          <a:lstStyle/>
          <a:p>
            <a:r>
              <a:rPr lang="en-US" dirty="0">
                <a:solidFill>
                  <a:srgbClr val="ACD433"/>
                </a:solidFill>
              </a:rPr>
              <a:t>
              </a:t>
            </a:r>
          </a:p>
        </p:txBody>
      </p:sp>
      <p:sp>
        <p:nvSpPr>
          <p:cNvPr id="32" name="Rectangle 31"/>
          <p:cNvSpPr/>
          <p:nvPr/>
        </p:nvSpPr>
        <p:spPr>
          <a:xfrm>
            <a:off x="10437812" y="0"/>
            <a:ext cx="685800" cy="1143000"/>
          </a:xfrm>
          <a:prstGeom prst="rect">
            <a:avLst/>
          </a:prstGeom>
          <a:solidFill>
            <a:schemeClr val="tx2">
              <a:lumMod val="20000"/>
              <a:lumOff val="80000"/>
            </a:schemeClr>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Tree>
    <p:extLst>
      <p:ext uri="{BB962C8B-B14F-4D97-AF65-F5344CB8AC3E}">
        <p14:creationId xmlns:p14="http://schemas.microsoft.com/office/powerpoint/2010/main" val="32993992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18" name="Group 17"/>
          <p:cNvGrpSpPr/>
          <p:nvPr/>
        </p:nvGrpSpPr>
        <p:grpSpPr>
          <a:xfrm>
            <a:off x="0" y="-2373"/>
            <a:ext cx="12192000" cy="6867027"/>
            <a:chOff x="0" y="-2373"/>
            <a:chExt cx="12192000" cy="6867027"/>
          </a:xfrm>
        </p:grpSpPr>
        <p:sp>
          <p:nvSpPr>
            <p:cNvPr id="10" name="Rectangle 9"/>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33068"/>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270C19-0998-4D52-8DDD-94BF7F80CAE5}" type="datetime1">
              <a:rPr lang="en-US" smtClean="0">
                <a:solidFill>
                  <a:srgbClr val="ACD433"/>
                </a:solidFill>
              </a:rPr>
              <a:pPr/>
              <a:t>7/21/2016</a:t>
            </a:fld>
            <a:endParaRPr lang="en-US" dirty="0">
              <a:solidFill>
                <a:srgbClr val="ACD433"/>
              </a:solidFill>
            </a:endParaRPr>
          </a:p>
        </p:txBody>
      </p:sp>
      <p:sp>
        <p:nvSpPr>
          <p:cNvPr id="5" name="Footer Placeholder 4"/>
          <p:cNvSpPr>
            <a:spLocks noGrp="1"/>
          </p:cNvSpPr>
          <p:nvPr>
            <p:ph type="ftr" sz="quarter" idx="11"/>
          </p:nvPr>
        </p:nvSpPr>
        <p:spPr/>
        <p:txBody>
          <a:bodyPr/>
          <a:lstStyle/>
          <a:p>
            <a:r>
              <a:rPr lang="en-US" dirty="0">
                <a:solidFill>
                  <a:srgbClr val="ACD433"/>
                </a:solidFill>
              </a:rPr>
              <a:t>
              </a:t>
            </a:r>
          </a:p>
        </p:txBody>
      </p:sp>
      <p:sp>
        <p:nvSpPr>
          <p:cNvPr id="12" name="Rectangle 11"/>
          <p:cNvSpPr/>
          <p:nvPr/>
        </p:nvSpPr>
        <p:spPr>
          <a:xfrm>
            <a:off x="10437812" y="0"/>
            <a:ext cx="685800" cy="1143000"/>
          </a:xfrm>
          <a:prstGeom prst="rect">
            <a:avLst/>
          </a:prstGeom>
          <a:solidFill>
            <a:schemeClr val="tx2">
              <a:lumMod val="20000"/>
              <a:lumOff val="80000"/>
            </a:schemeClr>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Tree>
    <p:extLst>
      <p:ext uri="{BB962C8B-B14F-4D97-AF65-F5344CB8AC3E}">
        <p14:creationId xmlns:p14="http://schemas.microsoft.com/office/powerpoint/2010/main" val="23152127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800"/>
            </a:lvl1pPr>
          </a:lstStyle>
          <a:p>
            <a:r>
              <a:rPr lang="en-US" dirty="0"/>
              <a:t>Click to edit Master title style</a:t>
            </a:r>
          </a:p>
        </p:txBody>
      </p:sp>
      <p:sp>
        <p:nvSpPr>
          <p:cNvPr id="3" name="Text Placeholder 2"/>
          <p:cNvSpPr>
            <a:spLocks noGrp="1"/>
          </p:cNvSpPr>
          <p:nvPr>
            <p:ph type="body" idx="1"/>
          </p:nvPr>
        </p:nvSpPr>
        <p:spPr>
          <a:xfrm>
            <a:off x="1154954" y="2617299"/>
            <a:ext cx="312916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4" y="3193561"/>
            <a:ext cx="3129168" cy="283349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2"/>
            <a:ext cx="314538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93561"/>
            <a:ext cx="3145380" cy="283349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6700" y="2617299"/>
            <a:ext cx="3161029" cy="576261"/>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6700" y="3193561"/>
            <a:ext cx="3164719" cy="28334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22" name="Straight Connector 21"/>
          <p:cNvCxnSpPr/>
          <p:nvPr/>
        </p:nvCxnSpPr>
        <p:spPr>
          <a:xfrm>
            <a:off x="4403971" y="2569633"/>
            <a:ext cx="0" cy="3492499"/>
          </a:xfrm>
          <a:prstGeom prst="line">
            <a:avLst/>
          </a:prstGeom>
          <a:ln w="12700" cmpd="sng">
            <a:solidFill>
              <a:schemeClr val="accent1">
                <a:alpha val="41000"/>
              </a:schemeClr>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a:off x="7772401" y="2569633"/>
            <a:ext cx="0" cy="3492499"/>
          </a:xfrm>
          <a:prstGeom prst="line">
            <a:avLst/>
          </a:prstGeom>
          <a:ln w="12700" cmpd="sng">
            <a:solidFill>
              <a:schemeClr val="accent1">
                <a:alpha val="41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06B07827-9700-4CDC-9E1D-449DE82DEC8D}" type="datetime1">
              <a:rPr lang="en-US" smtClean="0">
                <a:solidFill>
                  <a:srgbClr val="ACD433"/>
                </a:solidFill>
              </a:rPr>
              <a:pPr/>
              <a:t>7/21/2016</a:t>
            </a:fld>
            <a:endParaRPr lang="en-US" dirty="0">
              <a:solidFill>
                <a:srgbClr val="ACD433"/>
              </a:solidFill>
            </a:endParaRPr>
          </a:p>
        </p:txBody>
      </p:sp>
      <p:sp>
        <p:nvSpPr>
          <p:cNvPr id="8" name="Footer Placeholder 7"/>
          <p:cNvSpPr>
            <a:spLocks noGrp="1"/>
          </p:cNvSpPr>
          <p:nvPr>
            <p:ph type="ftr" sz="quarter" idx="11"/>
          </p:nvPr>
        </p:nvSpPr>
        <p:spPr/>
        <p:txBody>
          <a:bodyPr/>
          <a:lstStyle/>
          <a:p>
            <a:r>
              <a:rPr lang="en-US" dirty="0">
                <a:solidFill>
                  <a:srgbClr val="ACD433"/>
                </a:solidFill>
              </a:rPr>
              <a:t>
              </a:t>
            </a:r>
          </a:p>
        </p:txBody>
      </p:sp>
      <p:sp>
        <p:nvSpPr>
          <p:cNvPr id="9" name="Slide Number Placeholder 8"/>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
        <p:nvSpPr>
          <p:cNvPr id="17" name="Text Placeholder 9"/>
          <p:cNvSpPr>
            <a:spLocks noGrp="1"/>
          </p:cNvSpPr>
          <p:nvPr>
            <p:ph type="body" sz="quarter" idx="18"/>
          </p:nvPr>
        </p:nvSpPr>
        <p:spPr>
          <a:xfrm>
            <a:off x="528357" y="1217086"/>
            <a:ext cx="11113180" cy="582362"/>
          </a:xfrm>
        </p:spPr>
        <p:txBody>
          <a:bodyPr>
            <a:normAutofit/>
          </a:bodyPr>
          <a:lstStyle>
            <a:lvl1pPr marL="0" indent="0">
              <a:buNone/>
              <a:defRPr lang="en-IN" sz="1800" b="0" i="0" kern="1200" dirty="0">
                <a:solidFill>
                  <a:schemeClr val="tx2">
                    <a:lumMod val="60000"/>
                    <a:lumOff val="40000"/>
                  </a:schemeClr>
                </a:solidFill>
                <a:latin typeface="+mn-lt"/>
                <a:ea typeface="+mn-ea"/>
                <a:cs typeface="+mn-cs"/>
              </a:defRPr>
            </a:lvl1pPr>
          </a:lstStyle>
          <a:p>
            <a:pPr lvl="0"/>
            <a:endParaRPr lang="en-IN" dirty="0"/>
          </a:p>
        </p:txBody>
      </p:sp>
    </p:spTree>
    <p:extLst>
      <p:ext uri="{BB962C8B-B14F-4D97-AF65-F5344CB8AC3E}">
        <p14:creationId xmlns:p14="http://schemas.microsoft.com/office/powerpoint/2010/main" val="42172494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 Picture Colum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54952" y="4532845"/>
            <a:ext cx="30504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1334552"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2" name="Text Placeholder 3"/>
          <p:cNvSpPr>
            <a:spLocks noGrp="1"/>
          </p:cNvSpPr>
          <p:nvPr>
            <p:ph type="body" sz="half" idx="18"/>
          </p:nvPr>
        </p:nvSpPr>
        <p:spPr>
          <a:xfrm>
            <a:off x="1154953" y="5109107"/>
            <a:ext cx="3050437" cy="91794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72537" y="4532846"/>
            <a:ext cx="3046766" cy="651156"/>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4748463" y="2603500"/>
            <a:ext cx="2691241"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3" name="Text Placeholder 3"/>
          <p:cNvSpPr>
            <a:spLocks noGrp="1"/>
          </p:cNvSpPr>
          <p:nvPr>
            <p:ph type="body" sz="half" idx="19"/>
          </p:nvPr>
        </p:nvSpPr>
        <p:spPr>
          <a:xfrm>
            <a:off x="4568865" y="5184002"/>
            <a:ext cx="3050438" cy="84305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3434" y="4532847"/>
            <a:ext cx="3050438" cy="651154"/>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4" name="Text Placeholder 3"/>
          <p:cNvSpPr>
            <a:spLocks noGrp="1"/>
          </p:cNvSpPr>
          <p:nvPr>
            <p:ph type="body" sz="half" idx="20"/>
          </p:nvPr>
        </p:nvSpPr>
        <p:spPr>
          <a:xfrm>
            <a:off x="7983434" y="5184001"/>
            <a:ext cx="3050437" cy="843054"/>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388153" y="2603500"/>
            <a:ext cx="0" cy="3517594"/>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801905" y="2603500"/>
            <a:ext cx="0" cy="34925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44A760FD-A1FC-4920-A3C2-085B8E2F9EFA}" type="datetime1">
              <a:rPr lang="en-US" smtClean="0">
                <a:solidFill>
                  <a:srgbClr val="ACD433"/>
                </a:solidFill>
              </a:rPr>
              <a:pPr/>
              <a:t>7/21/2016</a:t>
            </a:fld>
            <a:endParaRPr lang="en-US" dirty="0">
              <a:solidFill>
                <a:srgbClr val="ACD433"/>
              </a:solidFill>
            </a:endParaRPr>
          </a:p>
        </p:txBody>
      </p:sp>
      <p:sp>
        <p:nvSpPr>
          <p:cNvPr id="8" name="Footer Placeholder 7"/>
          <p:cNvSpPr>
            <a:spLocks noGrp="1"/>
          </p:cNvSpPr>
          <p:nvPr>
            <p:ph type="ftr" sz="quarter" idx="11"/>
          </p:nvPr>
        </p:nvSpPr>
        <p:spPr/>
        <p:txBody>
          <a:bodyPr/>
          <a:lstStyle/>
          <a:p>
            <a:r>
              <a:rPr lang="en-US" dirty="0">
                <a:solidFill>
                  <a:srgbClr val="ACD433"/>
                </a:solidFill>
              </a:rPr>
              <a:t>
              </a:t>
            </a:r>
          </a:p>
        </p:txBody>
      </p:sp>
      <p:sp>
        <p:nvSpPr>
          <p:cNvPr id="9" name="Slide Number Placeholder 8"/>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
        <p:nvSpPr>
          <p:cNvPr id="20" name="Text Placeholder 9"/>
          <p:cNvSpPr>
            <a:spLocks noGrp="1"/>
          </p:cNvSpPr>
          <p:nvPr>
            <p:ph type="body" sz="quarter" idx="23"/>
          </p:nvPr>
        </p:nvSpPr>
        <p:spPr>
          <a:xfrm>
            <a:off x="528357" y="1217086"/>
            <a:ext cx="11113180" cy="582362"/>
          </a:xfrm>
        </p:spPr>
        <p:txBody>
          <a:bodyPr>
            <a:normAutofit/>
          </a:bodyPr>
          <a:lstStyle>
            <a:lvl1pPr marL="0" indent="0">
              <a:buNone/>
              <a:defRPr lang="en-IN" sz="1800" b="0" i="0" kern="1200" dirty="0">
                <a:solidFill>
                  <a:schemeClr val="tx2">
                    <a:lumMod val="60000"/>
                    <a:lumOff val="40000"/>
                  </a:schemeClr>
                </a:solidFill>
                <a:latin typeface="+mn-lt"/>
                <a:ea typeface="+mn-ea"/>
                <a:cs typeface="+mn-cs"/>
              </a:defRPr>
            </a:lvl1pPr>
          </a:lstStyle>
          <a:p>
            <a:pPr lvl="0"/>
            <a:endParaRPr lang="en-IN" dirty="0"/>
          </a:p>
        </p:txBody>
      </p:sp>
      <p:sp>
        <p:nvSpPr>
          <p:cNvPr id="21" name="Title 1"/>
          <p:cNvSpPr>
            <a:spLocks noGrp="1"/>
          </p:cNvSpPr>
          <p:nvPr>
            <p:ph type="title"/>
          </p:nvPr>
        </p:nvSpPr>
        <p:spPr>
          <a:xfrm>
            <a:off x="1154953" y="516222"/>
            <a:ext cx="9130460" cy="706964"/>
          </a:xfrm>
        </p:spPr>
        <p:txBody>
          <a:bodyPr/>
          <a:lstStyle>
            <a:lvl1pPr>
              <a:defRPr sz="2800"/>
            </a:lvl1pPr>
          </a:lstStyle>
          <a:p>
            <a:r>
              <a:rPr lang="en-US" dirty="0"/>
              <a:t>Click to edit Master title style</a:t>
            </a:r>
          </a:p>
        </p:txBody>
      </p:sp>
    </p:spTree>
    <p:extLst>
      <p:ext uri="{BB962C8B-B14F-4D97-AF65-F5344CB8AC3E}">
        <p14:creationId xmlns:p14="http://schemas.microsoft.com/office/powerpoint/2010/main" val="385832251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B13D277-BE34-4141-BD49-E063BB7174E9}" type="datetime1">
              <a:rPr lang="en-US" smtClean="0">
                <a:solidFill>
                  <a:srgbClr val="ACD433"/>
                </a:solidFill>
              </a:rPr>
              <a:pPr/>
              <a:t>7/21/2016</a:t>
            </a:fld>
            <a:endParaRPr lang="en-US" dirty="0">
              <a:solidFill>
                <a:srgbClr val="ACD433"/>
              </a:solidFill>
            </a:endParaRPr>
          </a:p>
        </p:txBody>
      </p:sp>
      <p:sp>
        <p:nvSpPr>
          <p:cNvPr id="5" name="Footer Placeholder 4"/>
          <p:cNvSpPr>
            <a:spLocks noGrp="1"/>
          </p:cNvSpPr>
          <p:nvPr>
            <p:ph type="ftr" sz="quarter" idx="11"/>
          </p:nvPr>
        </p:nvSpPr>
        <p:spPr/>
        <p:txBody>
          <a:bodyPr/>
          <a:lstStyle/>
          <a:p>
            <a:r>
              <a:rPr lang="en-US" dirty="0">
                <a:solidFill>
                  <a:srgbClr val="ACD433"/>
                </a:solidFill>
              </a:rPr>
              <a:t>
              </a:t>
            </a: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
        <p:nvSpPr>
          <p:cNvPr id="9" name="Text Placeholder 9"/>
          <p:cNvSpPr>
            <a:spLocks noGrp="1"/>
          </p:cNvSpPr>
          <p:nvPr>
            <p:ph type="body" sz="quarter" idx="13"/>
          </p:nvPr>
        </p:nvSpPr>
        <p:spPr>
          <a:xfrm>
            <a:off x="528357" y="1217086"/>
            <a:ext cx="11113180" cy="582362"/>
          </a:xfrm>
        </p:spPr>
        <p:txBody>
          <a:bodyPr>
            <a:normAutofit/>
          </a:bodyPr>
          <a:lstStyle>
            <a:lvl1pPr marL="0" indent="0">
              <a:buNone/>
              <a:defRPr sz="1800"/>
            </a:lvl1pPr>
          </a:lstStyle>
          <a:p>
            <a:pPr lvl="0"/>
            <a:endParaRPr lang="en-IN" dirty="0"/>
          </a:p>
        </p:txBody>
      </p:sp>
      <p:sp>
        <p:nvSpPr>
          <p:cNvPr id="10" name="Title 1"/>
          <p:cNvSpPr>
            <a:spLocks noGrp="1"/>
          </p:cNvSpPr>
          <p:nvPr>
            <p:ph type="title"/>
          </p:nvPr>
        </p:nvSpPr>
        <p:spPr>
          <a:xfrm>
            <a:off x="1154953" y="516222"/>
            <a:ext cx="9130460" cy="706964"/>
          </a:xfrm>
        </p:spPr>
        <p:txBody>
          <a:bodyPr/>
          <a:lstStyle>
            <a:lvl1pPr>
              <a:defRPr sz="2800"/>
            </a:lvl1pPr>
          </a:lstStyle>
          <a:p>
            <a:r>
              <a:rPr lang="en-US" dirty="0"/>
              <a:t>Click to edit Master title style</a:t>
            </a:r>
          </a:p>
        </p:txBody>
      </p:sp>
    </p:spTree>
    <p:extLst>
      <p:ext uri="{BB962C8B-B14F-4D97-AF65-F5344CB8AC3E}">
        <p14:creationId xmlns:p14="http://schemas.microsoft.com/office/powerpoint/2010/main" val="137226603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19" name="Group 18"/>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Rectangle 7"/>
            <p:cNvSpPr/>
            <p:nvPr/>
          </p:nvSpPr>
          <p:spPr>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76756" y="1278468"/>
            <a:ext cx="1413933" cy="4748589"/>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8"/>
            <a:ext cx="6247546"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79B2973-F785-4CAE-8F28-6C5AAE1DB252}" type="datetime1">
              <a:rPr lang="en-US" smtClean="0">
                <a:solidFill>
                  <a:srgbClr val="ACD433"/>
                </a:solidFill>
              </a:rPr>
              <a:pPr/>
              <a:t>7/21/2016</a:t>
            </a:fld>
            <a:endParaRPr lang="en-US" dirty="0">
              <a:solidFill>
                <a:srgbClr val="ACD433"/>
              </a:solidFill>
            </a:endParaRPr>
          </a:p>
        </p:txBody>
      </p:sp>
      <p:sp>
        <p:nvSpPr>
          <p:cNvPr id="5" name="Footer Placeholder 4"/>
          <p:cNvSpPr>
            <a:spLocks noGrp="1"/>
          </p:cNvSpPr>
          <p:nvPr>
            <p:ph type="ftr" sz="quarter" idx="11"/>
          </p:nvPr>
        </p:nvSpPr>
        <p:spPr/>
        <p:txBody>
          <a:bodyPr/>
          <a:lstStyle/>
          <a:p>
            <a:r>
              <a:rPr lang="en-US" dirty="0">
                <a:solidFill>
                  <a:srgbClr val="ACD433"/>
                </a:solidFill>
              </a:rPr>
              <a:t>
              </a:t>
            </a:r>
          </a:p>
        </p:txBody>
      </p:sp>
      <p:sp>
        <p:nvSpPr>
          <p:cNvPr id="13" name="Rectangle 12"/>
          <p:cNvSpPr/>
          <p:nvPr/>
        </p:nvSpPr>
        <p:spPr>
          <a:xfrm>
            <a:off x="10437812" y="0"/>
            <a:ext cx="685800" cy="1143000"/>
          </a:xfrm>
          <a:prstGeom prst="rect">
            <a:avLst/>
          </a:prstGeom>
          <a:solidFill>
            <a:schemeClr val="tx2">
              <a:lumMod val="20000"/>
              <a:lumOff val="80000"/>
            </a:schemeClr>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Tree>
    <p:extLst>
      <p:ext uri="{BB962C8B-B14F-4D97-AF65-F5344CB8AC3E}">
        <p14:creationId xmlns:p14="http://schemas.microsoft.com/office/powerpoint/2010/main" val="31841367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cSld name="2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1ABFFF5-06C3-4731-9F12-C14547B929B0}" type="datetime1">
              <a:rPr lang="en-IN" smtClean="0">
                <a:solidFill>
                  <a:srgbClr val="ACD433"/>
                </a:solidFill>
              </a:rPr>
              <a:pPr/>
              <a:t>21-07-2016</a:t>
            </a:fld>
            <a:endParaRPr lang="en-IN" dirty="0">
              <a:solidFill>
                <a:srgbClr val="ACD433"/>
              </a:solidFill>
            </a:endParaRPr>
          </a:p>
        </p:txBody>
      </p:sp>
      <p:sp>
        <p:nvSpPr>
          <p:cNvPr id="4" name="Footer Placeholder 3"/>
          <p:cNvSpPr>
            <a:spLocks noGrp="1"/>
          </p:cNvSpPr>
          <p:nvPr>
            <p:ph type="ftr" sz="quarter" idx="11"/>
          </p:nvPr>
        </p:nvSpPr>
        <p:spPr/>
        <p:txBody>
          <a:bodyPr/>
          <a:lstStyle/>
          <a:p>
            <a:endParaRPr lang="en-IN" dirty="0">
              <a:solidFill>
                <a:srgbClr val="ACD433"/>
              </a:solidFill>
            </a:endParaRPr>
          </a:p>
        </p:txBody>
      </p:sp>
      <p:sp>
        <p:nvSpPr>
          <p:cNvPr id="5" name="Slide Number Placeholder 4"/>
          <p:cNvSpPr>
            <a:spLocks noGrp="1"/>
          </p:cNvSpPr>
          <p:nvPr>
            <p:ph type="sldNum" sz="quarter" idx="12"/>
          </p:nvPr>
        </p:nvSpPr>
        <p:spPr/>
        <p:txBody>
          <a:bodyPr/>
          <a:lstStyle/>
          <a:p>
            <a:fld id="{E2B0EC35-7F37-490F-B231-6B92D181A0EA}" type="slidenum">
              <a:rPr lang="en-IN" smtClean="0">
                <a:solidFill>
                  <a:srgbClr val="0E5580"/>
                </a:solidFill>
              </a:rPr>
              <a:pPr/>
              <a:t>‹#›</a:t>
            </a:fld>
            <a:endParaRPr lang="en-IN" dirty="0">
              <a:solidFill>
                <a:srgbClr val="0E5580"/>
              </a:solidFill>
            </a:endParaRPr>
          </a:p>
        </p:txBody>
      </p:sp>
    </p:spTree>
    <p:extLst>
      <p:ext uri="{BB962C8B-B14F-4D97-AF65-F5344CB8AC3E}">
        <p14:creationId xmlns:p14="http://schemas.microsoft.com/office/powerpoint/2010/main" val="12391283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9" name="Group 8"/>
          <p:cNvGrpSpPr/>
          <p:nvPr/>
        </p:nvGrpSpPr>
        <p:grpSpPr>
          <a:xfrm>
            <a:off x="0" y="-2373"/>
            <a:ext cx="12192000" cy="6867027"/>
            <a:chOff x="0" y="-2373"/>
            <a:chExt cx="12192000" cy="6867027"/>
          </a:xfrm>
        </p:grpSpPr>
        <p:sp>
          <p:nvSpPr>
            <p:cNvPr id="26" name="Rectangle 25"/>
            <p:cNvSpPr/>
            <p:nvPr/>
          </p:nvSpPr>
          <p:spPr>
            <a:xfrm>
              <a:off x="0" y="0"/>
              <a:ext cx="12192000" cy="6858000"/>
            </a:xfrm>
            <a:prstGeom prst="rect">
              <a:avLst/>
            </a:prstGeom>
            <a:blipFill>
              <a:blip r:embed="rId19">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0"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2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629984" y="542362"/>
            <a:ext cx="9785683" cy="706964"/>
          </a:xfrm>
          <a:prstGeom prst="rect">
            <a:avLst/>
          </a:prstGeom>
        </p:spPr>
        <p:txBody>
          <a:bodyPr vert="horz" lIns="91440" tIns="45720" rIns="91440" bIns="45720" rtlCol="0" anchor="ctr">
            <a:noAutofit/>
          </a:bodyPr>
          <a:lstStyle/>
          <a:p>
            <a:r>
              <a:rPr lang="en-US" dirty="0"/>
              <a:t>Click to edit Master title style</a:t>
            </a:r>
          </a:p>
        </p:txBody>
      </p:sp>
      <p:sp>
        <p:nvSpPr>
          <p:cNvPr id="3" name="Text Placeholder 2"/>
          <p:cNvSpPr>
            <a:spLocks noGrp="1"/>
          </p:cNvSpPr>
          <p:nvPr>
            <p:ph type="body" idx="1"/>
          </p:nvPr>
        </p:nvSpPr>
        <p:spPr>
          <a:xfrm>
            <a:off x="1154955" y="2603500"/>
            <a:ext cx="8761412"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0938" y="6394061"/>
            <a:ext cx="990599" cy="304799"/>
          </a:xfrm>
          <a:prstGeom prst="rect">
            <a:avLst/>
          </a:prstGeom>
        </p:spPr>
        <p:txBody>
          <a:bodyPr vert="horz" lIns="91440" tIns="45720" rIns="91440" bIns="45720" rtlCol="0" anchor="t"/>
          <a:lstStyle>
            <a:lvl1pPr algn="r">
              <a:defRPr sz="1000" b="1" i="0">
                <a:solidFill>
                  <a:schemeClr val="accent1"/>
                </a:solidFill>
              </a:defRPr>
            </a:lvl1pPr>
          </a:lstStyle>
          <a:p>
            <a:pPr defTabSz="457200"/>
            <a:fld id="{40642DC7-B585-4536-91D5-231B0D5F1DDB}" type="datetime1">
              <a:rPr lang="en-US" smtClean="0">
                <a:solidFill>
                  <a:srgbClr val="ACD433"/>
                </a:solidFill>
              </a:rPr>
              <a:pPr defTabSz="457200"/>
              <a:t>7/21/2016</a:t>
            </a:fld>
            <a:endParaRPr lang="en-US" dirty="0">
              <a:solidFill>
                <a:srgbClr val="ACD433"/>
              </a:solidFill>
            </a:endParaRPr>
          </a:p>
        </p:txBody>
      </p:sp>
      <p:sp>
        <p:nvSpPr>
          <p:cNvPr id="5" name="Footer Placeholder 4"/>
          <p:cNvSpPr>
            <a:spLocks noGrp="1"/>
          </p:cNvSpPr>
          <p:nvPr>
            <p:ph type="ftr" sz="quarter" idx="3"/>
          </p:nvPr>
        </p:nvSpPr>
        <p:spPr>
          <a:xfrm>
            <a:off x="528358" y="6391838"/>
            <a:ext cx="3859795" cy="304801"/>
          </a:xfrm>
          <a:prstGeom prst="rect">
            <a:avLst/>
          </a:prstGeom>
        </p:spPr>
        <p:txBody>
          <a:bodyPr vert="horz" lIns="91440" tIns="45720" rIns="91440" bIns="45720" rtlCol="0" anchor="b"/>
          <a:lstStyle>
            <a:lvl1pPr algn="l">
              <a:defRPr sz="1000" b="1" i="0">
                <a:solidFill>
                  <a:schemeClr val="accent1"/>
                </a:solidFill>
                <a:latin typeface="+mn-lt"/>
              </a:defRPr>
            </a:lvl1pPr>
          </a:lstStyle>
          <a:p>
            <a:pPr defTabSz="457200"/>
            <a:r>
              <a:rPr lang="en-US" dirty="0">
                <a:solidFill>
                  <a:srgbClr val="ACD433"/>
                </a:solidFill>
              </a:rPr>
              <a:t>
              </a:t>
            </a:r>
          </a:p>
        </p:txBody>
      </p:sp>
      <p:sp>
        <p:nvSpPr>
          <p:cNvPr id="22" name="Rectangle 21"/>
          <p:cNvSpPr/>
          <p:nvPr/>
        </p:nvSpPr>
        <p:spPr>
          <a:xfrm>
            <a:off x="10437812" y="0"/>
            <a:ext cx="685800" cy="1061351"/>
          </a:xfrm>
          <a:prstGeom prst="rect">
            <a:avLst/>
          </a:prstGeom>
          <a:solidFill>
            <a:schemeClr val="tx2">
              <a:lumMod val="20000"/>
              <a:lumOff val="80000"/>
            </a:schemeClr>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2"/>
                </a:solidFill>
                <a:latin typeface="+mn-lt"/>
              </a:defRPr>
            </a:lvl1pPr>
          </a:lstStyle>
          <a:p>
            <a:pPr defTabSz="457200"/>
            <a:fld id="{D57F1E4F-1CFF-5643-939E-217C01CDF565}" type="slidenum">
              <a:rPr lang="en-US" smtClean="0">
                <a:solidFill>
                  <a:srgbClr val="0E5580"/>
                </a:solidFill>
              </a:rPr>
              <a:pPr defTabSz="457200"/>
              <a:t>‹#›</a:t>
            </a:fld>
            <a:endParaRPr lang="en-US" dirty="0">
              <a:solidFill>
                <a:srgbClr val="0E5580"/>
              </a:solidFill>
            </a:endParaRPr>
          </a:p>
        </p:txBody>
      </p:sp>
      <p:pic>
        <p:nvPicPr>
          <p:cNvPr id="24" name="Picture 23"/>
          <p:cNvPicPr>
            <a:picLocks noChangeAspect="1"/>
          </p:cNvPicPr>
          <p:nvPr userDrawn="1"/>
        </p:nvPicPr>
        <p:blipFill>
          <a:blip r:embed="rId20" cstate="print">
            <a:extLst>
              <a:ext uri="{28A0092B-C50C-407E-A947-70E740481C1C}">
                <a14:useLocalDpi xmlns:a14="http://schemas.microsoft.com/office/drawing/2010/main" val="0"/>
              </a:ext>
            </a:extLst>
          </a:blip>
          <a:stretch>
            <a:fillRect/>
          </a:stretch>
        </p:blipFill>
        <p:spPr>
          <a:xfrm>
            <a:off x="11714962" y="0"/>
            <a:ext cx="477038" cy="450761"/>
          </a:xfrm>
          <a:prstGeom prst="rect">
            <a:avLst/>
          </a:prstGeom>
        </p:spPr>
      </p:pic>
      <p:sp>
        <p:nvSpPr>
          <p:cNvPr id="31" name="Rectangle 30"/>
          <p:cNvSpPr/>
          <p:nvPr userDrawn="1"/>
        </p:nvSpPr>
        <p:spPr>
          <a:xfrm>
            <a:off x="444500" y="1151908"/>
            <a:ext cx="11270462" cy="1043481"/>
          </a:xfrm>
          <a:prstGeom prst="rect">
            <a:avLst/>
          </a:pr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en-IN" dirty="0">
              <a:solidFill>
                <a:prstClr val="white"/>
              </a:solidFill>
            </a:endParaRPr>
          </a:p>
        </p:txBody>
      </p:sp>
      <p:sp>
        <p:nvSpPr>
          <p:cNvPr id="32" name="Rectangle 31"/>
          <p:cNvSpPr/>
          <p:nvPr userDrawn="1"/>
        </p:nvSpPr>
        <p:spPr>
          <a:xfrm>
            <a:off x="484906" y="1893122"/>
            <a:ext cx="11230056" cy="41223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en-IN" dirty="0">
              <a:solidFill>
                <a:prstClr val="white"/>
              </a:solidFill>
            </a:endParaRPr>
          </a:p>
        </p:txBody>
      </p:sp>
    </p:spTree>
    <p:extLst>
      <p:ext uri="{BB962C8B-B14F-4D97-AF65-F5344CB8AC3E}">
        <p14:creationId xmlns:p14="http://schemas.microsoft.com/office/powerpoint/2010/main" val="32849257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hf hdr="0" ftr="0" dt="0"/>
  <p:txStyles>
    <p:titleStyle>
      <a:lvl1pPr algn="l" defTabSz="457200" rtl="0" eaLnBrk="1" latinLnBrk="0" hangingPunct="1">
        <a:spcBef>
          <a:spcPct val="0"/>
        </a:spcBef>
        <a:buNone/>
        <a:defRPr sz="24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1.xml"/><Relationship Id="rId5" Type="http://schemas.openxmlformats.org/officeDocument/2006/relationships/hyperlink" Target="http://www.computerhope.com/people/linus_torvalds.htm" TargetMode="External"/><Relationship Id="rId4" Type="http://schemas.openxmlformats.org/officeDocument/2006/relationships/hyperlink" Target="http://www.computerhope.com/jargon/l/linux.htm" TargetMode="External"/></Relationships>
</file>

<file path=ppt/slides/_rels/slide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jpeg"/><Relationship Id="rId3" Type="http://schemas.openxmlformats.org/officeDocument/2006/relationships/image" Target="../media/image9.jpeg"/><Relationship Id="rId7" Type="http://schemas.openxmlformats.org/officeDocument/2006/relationships/image" Target="../media/image13.png"/><Relationship Id="rId12" Type="http://schemas.openxmlformats.org/officeDocument/2006/relationships/image" Target="../media/image18.png"/><Relationship Id="rId2" Type="http://schemas.openxmlformats.org/officeDocument/2006/relationships/image" Target="../media/image8.jpeg"/><Relationship Id="rId16" Type="http://schemas.openxmlformats.org/officeDocument/2006/relationships/image" Target="../media/image22.jpeg"/><Relationship Id="rId1" Type="http://schemas.openxmlformats.org/officeDocument/2006/relationships/slideLayout" Target="../slideLayouts/slideLayout1.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image" Target="../media/image11.png"/><Relationship Id="rId15" Type="http://schemas.openxmlformats.org/officeDocument/2006/relationships/image" Target="../media/image21.png"/><Relationship Id="rId10" Type="http://schemas.openxmlformats.org/officeDocument/2006/relationships/image" Target="../media/image16.png"/><Relationship Id="rId4" Type="http://schemas.openxmlformats.org/officeDocument/2006/relationships/image" Target="../media/image10.jpeg"/><Relationship Id="rId9" Type="http://schemas.openxmlformats.org/officeDocument/2006/relationships/image" Target="../media/image15.png"/><Relationship Id="rId14" Type="http://schemas.openxmlformats.org/officeDocument/2006/relationships/image" Target="../media/image2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23.gif"/><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hyperlink" Target="https://en.wikipedia.org/wiki/Computer_program"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30.png"/><Relationship Id="rId4" Type="http://schemas.openxmlformats.org/officeDocument/2006/relationships/image" Target="../media/image29.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1154954" y="1481547"/>
            <a:ext cx="9989861" cy="267764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000" b="1" dirty="0">
                <a:solidFill>
                  <a:prstClr val="black"/>
                </a:solidFill>
              </a:rPr>
              <a:t>TATA </a:t>
            </a:r>
            <a:r>
              <a:rPr lang="en-US" sz="4000" b="1" dirty="0" err="1">
                <a:solidFill>
                  <a:prstClr val="black"/>
                </a:solidFill>
              </a:rPr>
              <a:t>iQ</a:t>
            </a:r>
            <a:endParaRPr lang="en-US" sz="4000" b="1" dirty="0">
              <a:solidFill>
                <a:prstClr val="black"/>
              </a:solidFill>
            </a:endParaRPr>
          </a:p>
          <a:p>
            <a:pPr algn="l"/>
            <a:r>
              <a:rPr lang="en-US" sz="3500" dirty="0">
                <a:solidFill>
                  <a:prstClr val="black"/>
                </a:solidFill>
              </a:rPr>
              <a:t>Unix Training</a:t>
            </a:r>
            <a:r>
              <a:rPr lang="en-US" sz="4000" b="1" dirty="0">
                <a:solidFill>
                  <a:prstClr val="black"/>
                </a:solidFill>
              </a:rPr>
              <a:t/>
            </a:r>
            <a:br>
              <a:rPr lang="en-US" sz="4000" b="1" dirty="0">
                <a:solidFill>
                  <a:prstClr val="black"/>
                </a:solidFill>
              </a:rPr>
            </a:br>
            <a:endParaRPr lang="en-IN" sz="3600" dirty="0">
              <a:solidFill>
                <a:prstClr val="black"/>
              </a:solidFill>
            </a:endParaRPr>
          </a:p>
        </p:txBody>
      </p:sp>
      <p:sp>
        <p:nvSpPr>
          <p:cNvPr id="2" name="Slide Number Placeholder 1"/>
          <p:cNvSpPr>
            <a:spLocks noGrp="1"/>
          </p:cNvSpPr>
          <p:nvPr>
            <p:ph type="sldNum" sz="quarter" idx="12"/>
          </p:nvPr>
        </p:nvSpPr>
        <p:spPr/>
        <p:txBody>
          <a:bodyPr/>
          <a:lstStyle/>
          <a:p>
            <a:fld id="{D57F1E4F-1CFF-5643-939E-217C01CDF565}" type="slidenum">
              <a:rPr lang="en-US" smtClean="0">
                <a:solidFill>
                  <a:srgbClr val="0E5580"/>
                </a:solidFill>
              </a:rPr>
              <a:pPr/>
              <a:t>1</a:t>
            </a:fld>
            <a:endParaRPr lang="en-US" dirty="0">
              <a:solidFill>
                <a:srgbClr val="0E5580"/>
              </a:solidFill>
            </a:endParaRPr>
          </a:p>
        </p:txBody>
      </p:sp>
      <p:sp>
        <p:nvSpPr>
          <p:cNvPr id="3" name="Title 2"/>
          <p:cNvSpPr>
            <a:spLocks noGrp="1"/>
          </p:cNvSpPr>
          <p:nvPr>
            <p:ph type="title"/>
          </p:nvPr>
        </p:nvSpPr>
        <p:spPr/>
        <p:txBody>
          <a:bodyPr/>
          <a:lstStyle/>
          <a:p>
            <a:r>
              <a:rPr lang="en-IN" dirty="0"/>
              <a:t> </a:t>
            </a:r>
          </a:p>
        </p:txBody>
      </p:sp>
    </p:spTree>
    <p:extLst>
      <p:ext uri="{BB962C8B-B14F-4D97-AF65-F5344CB8AC3E}">
        <p14:creationId xmlns:p14="http://schemas.microsoft.com/office/powerpoint/2010/main" val="363818560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solidFill>
                  <a:srgbClr val="0E5580"/>
                </a:solidFill>
              </a:rPr>
              <a:pPr/>
              <a:t>2</a:t>
            </a:fld>
            <a:endParaRPr lang="en-US" dirty="0">
              <a:solidFill>
                <a:srgbClr val="0E5580"/>
              </a:solidFill>
            </a:endParaRPr>
          </a:p>
        </p:txBody>
      </p:sp>
      <p:sp>
        <p:nvSpPr>
          <p:cNvPr id="3" name="Rectangle 2"/>
          <p:cNvSpPr/>
          <p:nvPr/>
        </p:nvSpPr>
        <p:spPr>
          <a:xfrm>
            <a:off x="464457" y="295729"/>
            <a:ext cx="9550400" cy="5161642"/>
          </a:xfrm>
          <a:prstGeom prst="rect">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200" dirty="0"/>
              <a:t>OS Introduction</a:t>
            </a:r>
          </a:p>
        </p:txBody>
      </p:sp>
    </p:spTree>
    <p:extLst>
      <p:ext uri="{BB962C8B-B14F-4D97-AF65-F5344CB8AC3E}">
        <p14:creationId xmlns:p14="http://schemas.microsoft.com/office/powerpoint/2010/main" val="52988086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What is an OS &amp; why do we need OS?</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3</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sp>
        <p:nvSpPr>
          <p:cNvPr id="6" name="Content Placeholder 5"/>
          <p:cNvSpPr>
            <a:spLocks noGrp="1"/>
          </p:cNvSpPr>
          <p:nvPr>
            <p:ph idx="1"/>
          </p:nvPr>
        </p:nvSpPr>
        <p:spPr>
          <a:xfrm>
            <a:off x="528357" y="1618037"/>
            <a:ext cx="10380374" cy="856136"/>
          </a:xfrm>
        </p:spPr>
        <p:txBody>
          <a:bodyPr/>
          <a:lstStyle/>
          <a:p>
            <a:r>
              <a:rPr lang="en-IN" dirty="0"/>
              <a:t>The operating system (OS) is the most important program that runs on a computer</a:t>
            </a:r>
            <a:endParaRPr lang="en-US" dirty="0"/>
          </a:p>
        </p:txBody>
      </p:sp>
      <p:pic>
        <p:nvPicPr>
          <p:cNvPr id="1026" name="Picture 2" descr="http://static.topyaps.com/wp-content/uploads/2013/04/operating_systems.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4459" y="3417538"/>
            <a:ext cx="3958073" cy="263871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ttps://upload.wikimedia.org/wikipedia/commons/thumb/e/e1/Operating_system_placement.svg/165px-Operating_system_placement.svg.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76628" y="3417538"/>
            <a:ext cx="1739039" cy="25716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9262336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Different types of OS</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4</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822304679"/>
              </p:ext>
            </p:extLst>
          </p:nvPr>
        </p:nvGraphicFramePr>
        <p:xfrm>
          <a:off x="462819" y="1202974"/>
          <a:ext cx="11244255" cy="5618480"/>
        </p:xfrm>
        <a:graphic>
          <a:graphicData uri="http://schemas.openxmlformats.org/drawingml/2006/table">
            <a:tbl>
              <a:tblPr firstRow="1" bandRow="1">
                <a:tableStyleId>{5C22544A-7EE6-4342-B048-85BDC9FD1C3A}</a:tableStyleId>
              </a:tblPr>
              <a:tblGrid>
                <a:gridCol w="1838421">
                  <a:extLst>
                    <a:ext uri="{9D8B030D-6E8A-4147-A177-3AD203B41FA5}">
                      <a16:colId xmlns:a16="http://schemas.microsoft.com/office/drawing/2014/main" xmlns="" val="20000"/>
                    </a:ext>
                  </a:extLst>
                </a:gridCol>
                <a:gridCol w="2623717">
                  <a:extLst>
                    <a:ext uri="{9D8B030D-6E8A-4147-A177-3AD203B41FA5}">
                      <a16:colId xmlns:a16="http://schemas.microsoft.com/office/drawing/2014/main" xmlns="" val="20001"/>
                    </a:ext>
                  </a:extLst>
                </a:gridCol>
                <a:gridCol w="2231069">
                  <a:extLst>
                    <a:ext uri="{9D8B030D-6E8A-4147-A177-3AD203B41FA5}">
                      <a16:colId xmlns:a16="http://schemas.microsoft.com/office/drawing/2014/main" xmlns="" val="20002"/>
                    </a:ext>
                  </a:extLst>
                </a:gridCol>
                <a:gridCol w="1386117">
                  <a:extLst>
                    <a:ext uri="{9D8B030D-6E8A-4147-A177-3AD203B41FA5}">
                      <a16:colId xmlns:a16="http://schemas.microsoft.com/office/drawing/2014/main" xmlns="" val="20003"/>
                    </a:ext>
                  </a:extLst>
                </a:gridCol>
                <a:gridCol w="3164931">
                  <a:extLst>
                    <a:ext uri="{9D8B030D-6E8A-4147-A177-3AD203B41FA5}">
                      <a16:colId xmlns:a16="http://schemas.microsoft.com/office/drawing/2014/main" xmlns="" val="20004"/>
                    </a:ext>
                  </a:extLst>
                </a:gridCol>
              </a:tblGrid>
              <a:tr h="0">
                <a:tc>
                  <a:txBody>
                    <a:bodyPr/>
                    <a:lstStyle/>
                    <a:p>
                      <a:r>
                        <a:rPr lang="en-IN" dirty="0"/>
                        <a:t>Features</a:t>
                      </a:r>
                    </a:p>
                  </a:txBody>
                  <a:tcPr/>
                </a:tc>
                <a:tc>
                  <a:txBody>
                    <a:bodyPr/>
                    <a:lstStyle/>
                    <a:p>
                      <a:r>
                        <a:rPr lang="en-IN" dirty="0"/>
                        <a:t>Windows</a:t>
                      </a:r>
                    </a:p>
                  </a:txBody>
                  <a:tcPr/>
                </a:tc>
                <a:tc>
                  <a:txBody>
                    <a:bodyPr/>
                    <a:lstStyle/>
                    <a:p>
                      <a:r>
                        <a:rPr lang="en-IN" dirty="0"/>
                        <a:t>Mac</a:t>
                      </a:r>
                    </a:p>
                  </a:txBody>
                  <a:tcPr/>
                </a:tc>
                <a:tc>
                  <a:txBody>
                    <a:bodyPr/>
                    <a:lstStyle/>
                    <a:p>
                      <a:r>
                        <a:rPr lang="en-IN" dirty="0"/>
                        <a:t>Unix</a:t>
                      </a:r>
                      <a:r>
                        <a:rPr lang="en-IN" baseline="0" dirty="0"/>
                        <a:t> </a:t>
                      </a:r>
                      <a:endParaRPr lang="en-IN" dirty="0"/>
                    </a:p>
                  </a:txBody>
                  <a:tcPr/>
                </a:tc>
                <a:tc>
                  <a:txBody>
                    <a:bodyPr/>
                    <a:lstStyle/>
                    <a:p>
                      <a:r>
                        <a:rPr lang="en-IN" dirty="0"/>
                        <a:t>z/OS</a:t>
                      </a:r>
                    </a:p>
                  </a:txBody>
                  <a:tcPr/>
                </a:tc>
                <a:extLst>
                  <a:ext uri="{0D108BD9-81ED-4DB2-BD59-A6C34878D82A}">
                    <a16:rowId xmlns:a16="http://schemas.microsoft.com/office/drawing/2014/main" xmlns="" val="10000"/>
                  </a:ext>
                </a:extLst>
              </a:tr>
              <a:tr h="370840">
                <a:tc>
                  <a:txBody>
                    <a:bodyPr/>
                    <a:lstStyle/>
                    <a:p>
                      <a:r>
                        <a:rPr lang="en-IN" sz="1400" dirty="0"/>
                        <a:t>User Interface</a:t>
                      </a:r>
                    </a:p>
                  </a:txBody>
                  <a:tcPr/>
                </a:tc>
                <a:tc>
                  <a:txBody>
                    <a:bodyPr/>
                    <a:lstStyle/>
                    <a:p>
                      <a:r>
                        <a:rPr lang="en-IN" sz="1400" dirty="0"/>
                        <a:t>Excellent ( Easy to</a:t>
                      </a:r>
                      <a:r>
                        <a:rPr lang="en-IN" sz="1400" baseline="0" dirty="0"/>
                        <a:t> understand)</a:t>
                      </a:r>
                      <a:endParaRPr lang="en-IN" sz="1400" dirty="0"/>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IN" sz="1400" dirty="0"/>
                        <a:t>Excellent( Easy to</a:t>
                      </a:r>
                      <a:r>
                        <a:rPr lang="en-IN" sz="1400" baseline="0" dirty="0"/>
                        <a:t> understand)</a:t>
                      </a:r>
                      <a:endParaRPr lang="en-IN" sz="1400" dirty="0"/>
                    </a:p>
                    <a:p>
                      <a:endParaRPr lang="en-IN" sz="1400" dirty="0"/>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IN" sz="1400" dirty="0"/>
                        <a:t>Good (Needs</a:t>
                      </a:r>
                      <a:r>
                        <a:rPr lang="en-IN" sz="1400" baseline="0" dirty="0"/>
                        <a:t> some practice </a:t>
                      </a:r>
                      <a:r>
                        <a:rPr lang="en-IN" sz="1400" dirty="0"/>
                        <a:t>to</a:t>
                      </a:r>
                      <a:r>
                        <a:rPr lang="en-IN" sz="1400" baseline="0" dirty="0"/>
                        <a:t> understand)</a:t>
                      </a:r>
                      <a:endParaRPr lang="en-IN" sz="1400" dirty="0"/>
                    </a:p>
                    <a:p>
                      <a:endParaRPr lang="en-IN" sz="1400" dirty="0"/>
                    </a:p>
                  </a:txBody>
                  <a:tcPr/>
                </a:tc>
                <a:tc>
                  <a:txBody>
                    <a:bodyPr/>
                    <a:lstStyle/>
                    <a:p>
                      <a:r>
                        <a:rPr lang="en-IN" sz="1400" dirty="0">
                          <a:solidFill>
                            <a:schemeClr val="tx1"/>
                          </a:solidFill>
                        </a:rPr>
                        <a:t>Medium ( Very difficult</a:t>
                      </a:r>
                      <a:r>
                        <a:rPr lang="en-IN" sz="1400" baseline="0" dirty="0">
                          <a:solidFill>
                            <a:schemeClr val="tx1"/>
                          </a:solidFill>
                        </a:rPr>
                        <a:t> )</a:t>
                      </a:r>
                      <a:endParaRPr lang="en-IN" sz="1400" dirty="0">
                        <a:solidFill>
                          <a:schemeClr val="tx1"/>
                        </a:solidFill>
                      </a:endParaRPr>
                    </a:p>
                  </a:txBody>
                  <a:tcPr/>
                </a:tc>
                <a:extLst>
                  <a:ext uri="{0D108BD9-81ED-4DB2-BD59-A6C34878D82A}">
                    <a16:rowId xmlns:a16="http://schemas.microsoft.com/office/drawing/2014/main" xmlns="" val="10001"/>
                  </a:ext>
                </a:extLst>
              </a:tr>
              <a:tr h="370840">
                <a:tc>
                  <a:txBody>
                    <a:bodyPr/>
                    <a:lstStyle/>
                    <a:p>
                      <a:r>
                        <a:rPr lang="en-IN" sz="1400" dirty="0"/>
                        <a:t>Security</a:t>
                      </a:r>
                    </a:p>
                  </a:txBody>
                  <a:tcPr/>
                </a:tc>
                <a:tc>
                  <a:txBody>
                    <a:bodyPr/>
                    <a:lstStyle/>
                    <a:p>
                      <a:r>
                        <a:rPr lang="en-IN" sz="1400" dirty="0"/>
                        <a:t>Moderate</a:t>
                      </a:r>
                    </a:p>
                  </a:txBody>
                  <a:tcPr/>
                </a:tc>
                <a:tc>
                  <a:txBody>
                    <a:bodyPr/>
                    <a:lstStyle/>
                    <a:p>
                      <a:r>
                        <a:rPr lang="en-IN" sz="1400" dirty="0"/>
                        <a:t>High</a:t>
                      </a:r>
                    </a:p>
                  </a:txBody>
                  <a:tcPr/>
                </a:tc>
                <a:tc>
                  <a:txBody>
                    <a:bodyPr/>
                    <a:lstStyle/>
                    <a:p>
                      <a:r>
                        <a:rPr lang="en-IN" sz="1400" dirty="0"/>
                        <a:t>Highly</a:t>
                      </a:r>
                      <a:r>
                        <a:rPr lang="en-IN" sz="1400" baseline="0" dirty="0"/>
                        <a:t> Secure</a:t>
                      </a:r>
                      <a:endParaRPr lang="en-IN" sz="1400" dirty="0"/>
                    </a:p>
                  </a:txBody>
                  <a:tcPr/>
                </a:tc>
                <a:tc>
                  <a:txBody>
                    <a:bodyPr/>
                    <a:lstStyle/>
                    <a:p>
                      <a:r>
                        <a:rPr lang="en-IN" sz="1400" dirty="0"/>
                        <a:t>Highly Secure</a:t>
                      </a:r>
                    </a:p>
                  </a:txBody>
                  <a:tcPr/>
                </a:tc>
                <a:extLst>
                  <a:ext uri="{0D108BD9-81ED-4DB2-BD59-A6C34878D82A}">
                    <a16:rowId xmlns:a16="http://schemas.microsoft.com/office/drawing/2014/main" xmlns="" val="10002"/>
                  </a:ext>
                </a:extLst>
              </a:tr>
              <a:tr h="370840">
                <a:tc>
                  <a:txBody>
                    <a:bodyPr/>
                    <a:lstStyle/>
                    <a:p>
                      <a:r>
                        <a:rPr lang="en-IN" sz="1400" dirty="0"/>
                        <a:t>Compatibility</a:t>
                      </a:r>
                    </a:p>
                  </a:txBody>
                  <a:tcPr/>
                </a:tc>
                <a:tc>
                  <a:txBody>
                    <a:bodyPr/>
                    <a:lstStyle/>
                    <a:p>
                      <a:r>
                        <a:rPr lang="en-IN" sz="1400" dirty="0"/>
                        <a:t>Runs on any hardware</a:t>
                      </a:r>
                    </a:p>
                  </a:txBody>
                  <a:tcPr/>
                </a:tc>
                <a:tc>
                  <a:txBody>
                    <a:bodyPr/>
                    <a:lstStyle/>
                    <a:p>
                      <a:r>
                        <a:rPr lang="en-IN" sz="1400" dirty="0"/>
                        <a:t>Runs only on Apple</a:t>
                      </a:r>
                    </a:p>
                  </a:txBody>
                  <a:tcPr/>
                </a:tc>
                <a:tc>
                  <a:txBody>
                    <a:bodyPr/>
                    <a:lstStyle/>
                    <a:p>
                      <a:r>
                        <a:rPr lang="en-IN" sz="1400" dirty="0"/>
                        <a:t>Any Hardware</a:t>
                      </a:r>
                    </a:p>
                  </a:txBody>
                  <a:tcPr/>
                </a:tc>
                <a:tc>
                  <a:txBody>
                    <a:bodyPr/>
                    <a:lstStyle/>
                    <a:p>
                      <a:r>
                        <a:rPr lang="en-IN" sz="1400" dirty="0"/>
                        <a:t>Any Hardware</a:t>
                      </a:r>
                    </a:p>
                  </a:txBody>
                  <a:tcPr/>
                </a:tc>
                <a:extLst>
                  <a:ext uri="{0D108BD9-81ED-4DB2-BD59-A6C34878D82A}">
                    <a16:rowId xmlns:a16="http://schemas.microsoft.com/office/drawing/2014/main" xmlns="" val="10003"/>
                  </a:ext>
                </a:extLst>
              </a:tr>
              <a:tr h="370840">
                <a:tc>
                  <a:txBody>
                    <a:bodyPr/>
                    <a:lstStyle/>
                    <a:p>
                      <a:r>
                        <a:rPr lang="en-IN" sz="1400" dirty="0"/>
                        <a:t>Performance</a:t>
                      </a:r>
                    </a:p>
                  </a:txBody>
                  <a:tcPr/>
                </a:tc>
                <a:tc>
                  <a:txBody>
                    <a:bodyPr/>
                    <a:lstStyle/>
                    <a:p>
                      <a:r>
                        <a:rPr lang="en-IN" sz="1400" dirty="0"/>
                        <a:t>Slow( too many apps running)</a:t>
                      </a:r>
                    </a:p>
                  </a:txBody>
                  <a:tcPr/>
                </a:tc>
                <a:tc>
                  <a:txBody>
                    <a:bodyPr/>
                    <a:lstStyle/>
                    <a:p>
                      <a:r>
                        <a:rPr lang="en-IN" sz="1400" dirty="0"/>
                        <a:t>Slow </a:t>
                      </a:r>
                    </a:p>
                  </a:txBody>
                  <a:tcPr/>
                </a:tc>
                <a:tc>
                  <a:txBody>
                    <a:bodyPr/>
                    <a:lstStyle/>
                    <a:p>
                      <a:r>
                        <a:rPr lang="en-IN" sz="1400" dirty="0"/>
                        <a:t>Fast</a:t>
                      </a:r>
                    </a:p>
                  </a:txBody>
                  <a:tcPr/>
                </a:tc>
                <a:tc>
                  <a:txBody>
                    <a:bodyPr/>
                    <a:lstStyle/>
                    <a:p>
                      <a:r>
                        <a:rPr lang="en-IN" sz="1400" dirty="0"/>
                        <a:t>Fastest</a:t>
                      </a:r>
                    </a:p>
                  </a:txBody>
                  <a:tcPr/>
                </a:tc>
                <a:extLst>
                  <a:ext uri="{0D108BD9-81ED-4DB2-BD59-A6C34878D82A}">
                    <a16:rowId xmlns:a16="http://schemas.microsoft.com/office/drawing/2014/main" xmlns="" val="10004"/>
                  </a:ext>
                </a:extLst>
              </a:tr>
              <a:tr h="370840">
                <a:tc>
                  <a:txBody>
                    <a:bodyPr/>
                    <a:lstStyle/>
                    <a:p>
                      <a:r>
                        <a:rPr lang="en-IN" sz="1400" dirty="0"/>
                        <a:t>Reliability</a:t>
                      </a:r>
                    </a:p>
                  </a:txBody>
                  <a:tcPr/>
                </a:tc>
                <a:tc>
                  <a:txBody>
                    <a:bodyPr/>
                    <a:lstStyle/>
                    <a:p>
                      <a:r>
                        <a:rPr lang="en-IN" sz="1400" dirty="0"/>
                        <a:t>Relatively Stable</a:t>
                      </a:r>
                      <a:r>
                        <a:rPr lang="en-IN" sz="1400" baseline="0" dirty="0"/>
                        <a:t> because the application needs to be secure on a regular basis.</a:t>
                      </a:r>
                    </a:p>
                  </a:txBody>
                  <a:tcPr/>
                </a:tc>
                <a:tc>
                  <a:txBody>
                    <a:bodyPr/>
                    <a:lstStyle/>
                    <a:p>
                      <a:r>
                        <a:rPr lang="en-IN" sz="1400" dirty="0"/>
                        <a:t>Better than Win,</a:t>
                      </a:r>
                      <a:r>
                        <a:rPr lang="en-IN" sz="1400" baseline="0" dirty="0"/>
                        <a:t> because of its restriction on hardware. Still apps needs to be updated</a:t>
                      </a:r>
                      <a:endParaRPr lang="en-IN" sz="1400" dirty="0"/>
                    </a:p>
                  </a:txBody>
                  <a:tcPr/>
                </a:tc>
                <a:tc>
                  <a:txBody>
                    <a:bodyPr/>
                    <a:lstStyle/>
                    <a:p>
                      <a:r>
                        <a:rPr lang="en-IN" sz="1400" dirty="0"/>
                        <a:t>Stable,</a:t>
                      </a:r>
                      <a:r>
                        <a:rPr lang="en-IN" sz="1400" baseline="0" dirty="0"/>
                        <a:t> not too many apps running.</a:t>
                      </a:r>
                      <a:endParaRPr lang="en-IN" sz="1400" dirty="0"/>
                    </a:p>
                  </a:txBody>
                  <a:tcPr/>
                </a:tc>
                <a:tc>
                  <a:txBody>
                    <a:bodyPr/>
                    <a:lstStyle/>
                    <a:p>
                      <a:r>
                        <a:rPr lang="en-IN" sz="1400" dirty="0"/>
                        <a:t>Highly stable.</a:t>
                      </a:r>
                      <a:r>
                        <a:rPr lang="en-IN" sz="1400" baseline="0" dirty="0"/>
                        <a:t> </a:t>
                      </a:r>
                      <a:endParaRPr lang="en-IN" sz="1400" dirty="0"/>
                    </a:p>
                  </a:txBody>
                  <a:tcPr/>
                </a:tc>
                <a:extLst>
                  <a:ext uri="{0D108BD9-81ED-4DB2-BD59-A6C34878D82A}">
                    <a16:rowId xmlns:a16="http://schemas.microsoft.com/office/drawing/2014/main" xmlns="" val="10005"/>
                  </a:ext>
                </a:extLst>
              </a:tr>
              <a:tr h="370840">
                <a:tc>
                  <a:txBody>
                    <a:bodyPr/>
                    <a:lstStyle/>
                    <a:p>
                      <a:r>
                        <a:rPr lang="en-IN" sz="1400" dirty="0"/>
                        <a:t>Cost</a:t>
                      </a:r>
                    </a:p>
                  </a:txBody>
                  <a:tcPr/>
                </a:tc>
                <a:tc>
                  <a:txBody>
                    <a:bodyPr/>
                    <a:lstStyle/>
                    <a:p>
                      <a:r>
                        <a:rPr lang="en-IN" sz="1400" baseline="0" dirty="0"/>
                        <a:t>Expensive</a:t>
                      </a:r>
                    </a:p>
                  </a:txBody>
                  <a:tcPr/>
                </a:tc>
                <a:tc>
                  <a:txBody>
                    <a:bodyPr/>
                    <a:lstStyle/>
                    <a:p>
                      <a:r>
                        <a:rPr lang="en-IN" sz="1400" dirty="0"/>
                        <a:t>Expensive</a:t>
                      </a:r>
                    </a:p>
                  </a:txBody>
                  <a:tcPr/>
                </a:tc>
                <a:tc>
                  <a:txBody>
                    <a:bodyPr/>
                    <a:lstStyle/>
                    <a:p>
                      <a:r>
                        <a:rPr lang="en-IN" sz="1400" dirty="0"/>
                        <a:t>Cheapest</a:t>
                      </a:r>
                    </a:p>
                  </a:txBody>
                  <a:tcPr/>
                </a:tc>
                <a:tc>
                  <a:txBody>
                    <a:bodyPr/>
                    <a:lstStyle/>
                    <a:p>
                      <a:r>
                        <a:rPr lang="en-IN" sz="1400" dirty="0"/>
                        <a:t>Most Expensive</a:t>
                      </a:r>
                    </a:p>
                  </a:txBody>
                  <a:tcPr/>
                </a:tc>
                <a:extLst>
                  <a:ext uri="{0D108BD9-81ED-4DB2-BD59-A6C34878D82A}">
                    <a16:rowId xmlns:a16="http://schemas.microsoft.com/office/drawing/2014/main" xmlns="" val="10006"/>
                  </a:ext>
                </a:extLst>
              </a:tr>
              <a:tr h="370840">
                <a:tc>
                  <a:txBody>
                    <a:bodyPr/>
                    <a:lstStyle/>
                    <a:p>
                      <a:r>
                        <a:rPr lang="en-IN" sz="1400" dirty="0"/>
                        <a:t>Machines/HW</a:t>
                      </a:r>
                    </a:p>
                  </a:txBody>
                  <a:tcPr/>
                </a:tc>
                <a:tc>
                  <a:txBody>
                    <a:bodyPr/>
                    <a:lstStyle/>
                    <a:p>
                      <a:r>
                        <a:rPr lang="en-IN" sz="1400" baseline="0" dirty="0"/>
                        <a:t>Laptop and desktops</a:t>
                      </a:r>
                    </a:p>
                  </a:txBody>
                  <a:tcPr/>
                </a:tc>
                <a:tc>
                  <a:txBody>
                    <a:bodyPr/>
                    <a:lstStyle/>
                    <a:p>
                      <a:r>
                        <a:rPr lang="en-IN" sz="1400" dirty="0"/>
                        <a:t>Laptops</a:t>
                      </a:r>
                      <a:r>
                        <a:rPr lang="en-IN" sz="1400" baseline="0" dirty="0"/>
                        <a:t> and desktops</a:t>
                      </a:r>
                      <a:endParaRPr lang="en-IN" sz="1400" dirty="0"/>
                    </a:p>
                  </a:txBody>
                  <a:tcPr/>
                </a:tc>
                <a:tc>
                  <a:txBody>
                    <a:bodyPr/>
                    <a:lstStyle/>
                    <a:p>
                      <a:r>
                        <a:rPr lang="en-IN" sz="1400" dirty="0"/>
                        <a:t>smaller, less critical Mainframe application or servers</a:t>
                      </a:r>
                    </a:p>
                  </a:txBody>
                  <a:tcPr/>
                </a:tc>
                <a:tc>
                  <a:txBody>
                    <a:bodyPr/>
                    <a:lstStyle/>
                    <a:p>
                      <a:r>
                        <a:rPr lang="en-IN" sz="1400" dirty="0"/>
                        <a:t>Heavy</a:t>
                      </a:r>
                      <a:r>
                        <a:rPr lang="en-IN" sz="1400" baseline="0" dirty="0"/>
                        <a:t> </a:t>
                      </a:r>
                      <a:r>
                        <a:rPr lang="en-IN" sz="1400" dirty="0"/>
                        <a:t>Mainframe</a:t>
                      </a:r>
                      <a:r>
                        <a:rPr lang="en-IN" sz="1400" baseline="0" dirty="0"/>
                        <a:t> server</a:t>
                      </a:r>
                      <a:r>
                        <a:rPr lang="en-IN" sz="1400" dirty="0"/>
                        <a:t> applications.</a:t>
                      </a:r>
                    </a:p>
                  </a:txBody>
                  <a:tcPr/>
                </a:tc>
                <a:extLst>
                  <a:ext uri="{0D108BD9-81ED-4DB2-BD59-A6C34878D82A}">
                    <a16:rowId xmlns:a16="http://schemas.microsoft.com/office/drawing/2014/main" xmlns="" val="10007"/>
                  </a:ext>
                </a:extLst>
              </a:tr>
            </a:tbl>
          </a:graphicData>
        </a:graphic>
      </p:graphicFrame>
    </p:spTree>
    <p:extLst>
      <p:ext uri="{BB962C8B-B14F-4D97-AF65-F5344CB8AC3E}">
        <p14:creationId xmlns:p14="http://schemas.microsoft.com/office/powerpoint/2010/main" val="317681375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Quiz Time</a:t>
            </a:r>
            <a:endParaRPr lang="en-IN" dirty="0"/>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5</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pic>
        <p:nvPicPr>
          <p:cNvPr id="7170" name="Picture 2" descr="http://blogs.adobe.com/captivate/files/2011/05/Assessment-SB-Template.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97255" y="1508267"/>
            <a:ext cx="1724025" cy="174342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bwMode="gray">
          <a:xfrm>
            <a:off x="2621280" y="1768335"/>
            <a:ext cx="8209280" cy="1483360"/>
          </a:xfrm>
          <a:prstGeom prst="rect">
            <a:avLst/>
          </a:prstGeom>
        </p:spPr>
        <p:txBody>
          <a:bodyPr vert="horz" wrap="square" lIns="91440" tIns="45720" rIns="91440" bIns="45720" rtlCol="0" anchor="ctr">
            <a:noAutofit/>
          </a:bodyPr>
          <a:lstStyle/>
          <a:p>
            <a:r>
              <a:rPr lang="en-IN" sz="2800" dirty="0" smtClean="0">
                <a:latin typeface="Berlin Sans FB Demi" panose="020E0802020502020306" pitchFamily="34" charset="0"/>
              </a:rPr>
              <a:t>Linux is named after whom? </a:t>
            </a:r>
            <a:endParaRPr lang="en-IN" sz="2800" dirty="0">
              <a:latin typeface="Berlin Sans FB Demi" panose="020E0802020502020306" pitchFamily="34" charset="0"/>
            </a:endParaRPr>
          </a:p>
        </p:txBody>
      </p:sp>
      <p:pic>
        <p:nvPicPr>
          <p:cNvPr id="7174" name="Picture 6" descr="http://unisci24.com/data_images/wlls/3/180958-answer.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97255" y="4094975"/>
            <a:ext cx="1429385" cy="1427116"/>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p:cNvSpPr txBox="1"/>
          <p:nvPr/>
        </p:nvSpPr>
        <p:spPr bwMode="gray">
          <a:xfrm>
            <a:off x="2621280" y="4038731"/>
            <a:ext cx="8707120" cy="1483360"/>
          </a:xfrm>
          <a:prstGeom prst="rect">
            <a:avLst/>
          </a:prstGeom>
        </p:spPr>
        <p:txBody>
          <a:bodyPr vert="horz" wrap="square" lIns="91440" tIns="45720" rIns="91440" bIns="45720" rtlCol="0" anchor="ctr">
            <a:noAutofit/>
          </a:bodyPr>
          <a:lstStyle/>
          <a:p>
            <a:r>
              <a:rPr lang="en-IN" sz="2800" dirty="0">
                <a:latin typeface="Berlin Sans FB Demi" panose="020E0802020502020306" pitchFamily="34" charset="0"/>
                <a:hlinkClick r:id="rId4"/>
              </a:rPr>
              <a:t>Linux</a:t>
            </a:r>
            <a:r>
              <a:rPr lang="en-IN" sz="2800" dirty="0">
                <a:latin typeface="Berlin Sans FB Demi" panose="020E0802020502020306" pitchFamily="34" charset="0"/>
              </a:rPr>
              <a:t> is introduced by </a:t>
            </a:r>
            <a:r>
              <a:rPr lang="en-IN" sz="2800" dirty="0">
                <a:latin typeface="Berlin Sans FB Demi" panose="020E0802020502020306" pitchFamily="34" charset="0"/>
                <a:hlinkClick r:id="rId5"/>
              </a:rPr>
              <a:t>Linus Torvalds</a:t>
            </a:r>
            <a:r>
              <a:rPr lang="en-IN" sz="2800" dirty="0">
                <a:latin typeface="Berlin Sans FB Demi" panose="020E0802020502020306" pitchFamily="34" charset="0"/>
              </a:rPr>
              <a:t>, a student in Finland.</a:t>
            </a:r>
            <a:r>
              <a:rPr lang="en-IN" sz="2800" dirty="0">
                <a:latin typeface="Berlin Sans FB Demi" panose="020E0802020502020306" pitchFamily="34" charset="0"/>
              </a:rPr>
              <a:t>  </a:t>
            </a:r>
          </a:p>
        </p:txBody>
      </p:sp>
    </p:spTree>
    <p:extLst>
      <p:ext uri="{BB962C8B-B14F-4D97-AF65-F5344CB8AC3E}">
        <p14:creationId xmlns:p14="http://schemas.microsoft.com/office/powerpoint/2010/main" val="167063165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6</a:t>
            </a:fld>
            <a:endParaRPr lang="en-US" dirty="0">
              <a:solidFill>
                <a:srgbClr val="0E5580"/>
              </a:solidFill>
            </a:endParaRPr>
          </a:p>
        </p:txBody>
      </p:sp>
      <p:sp>
        <p:nvSpPr>
          <p:cNvPr id="8" name="TextBox 7"/>
          <p:cNvSpPr txBox="1"/>
          <p:nvPr/>
        </p:nvSpPr>
        <p:spPr bwMode="gray">
          <a:xfrm>
            <a:off x="650240" y="2316480"/>
            <a:ext cx="7995920" cy="1005840"/>
          </a:xfrm>
          <a:prstGeom prst="rect">
            <a:avLst/>
          </a:prstGeom>
        </p:spPr>
        <p:txBody>
          <a:bodyPr vert="horz" wrap="square" lIns="91440" tIns="45720" rIns="91440" bIns="45720" rtlCol="0" anchor="ctr">
            <a:noAutofit/>
          </a:bodyPr>
          <a:lstStyle/>
          <a:p>
            <a:r>
              <a:rPr lang="en-IN" sz="2000" dirty="0" smtClean="0"/>
              <a:t>Why is learning Unix Important ??</a:t>
            </a:r>
            <a:endParaRPr lang="en-IN" sz="2000" dirty="0" smtClean="0"/>
          </a:p>
        </p:txBody>
      </p:sp>
      <p:pic>
        <p:nvPicPr>
          <p:cNvPr id="1026" name="Picture 2" descr="http://www.therichdaily.com/wp-content/uploads/2015/06/Start_With_Why.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872479" y="2024504"/>
            <a:ext cx="3627121" cy="23964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4913364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Unix is Everywhere!!!</a:t>
            </a:r>
            <a:endParaRPr lang="en-IN" dirty="0"/>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7</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pic>
        <p:nvPicPr>
          <p:cNvPr id="7" name="Picture 2" descr="https://cnet4.cbsistatic.com/hub/i/2011/10/27/a66dfbb7-fdc7-11e2-8c7c-d4ae52e62bcc/android-wallpaper5_2560x1600_1.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68959" y="4250556"/>
            <a:ext cx="1716405" cy="171368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https://images-na.ssl-images-amazon.com/images/G/01/software/detail-page/B001AMHWP8-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18080" y="3857637"/>
            <a:ext cx="2051050" cy="1537677"/>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6" descr="http://twimgs.com/informationweek/galleries/automated/723/01_Hadoop_full.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705426" y="5107396"/>
            <a:ext cx="1316835" cy="977583"/>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0" descr="https://developer.xamarin.com/recipes/android/fundamentals/intent/launch_the_phone_dialer/Images/02-dialer-activity.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755121" y="2165679"/>
            <a:ext cx="997645" cy="1686878"/>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2" descr="http://www.jvzoohost.com/img/jvZoo-images/solutions-server.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542625" y="1599895"/>
            <a:ext cx="1814580" cy="1539863"/>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4" descr="https://ipsrsolutions.com/library/uploads/2015/07/cloud-computing.png"/>
          <p:cNvPicPr>
            <a:picLocks noChangeAspect="1" noChangeArrowheads="1"/>
          </p:cNvPicPr>
          <p:nvPr/>
        </p:nvPicPr>
        <p:blipFill rotWithShape="1">
          <a:blip r:embed="rId7">
            <a:extLst>
              <a:ext uri="{28A0092B-C50C-407E-A947-70E740481C1C}">
                <a14:useLocalDpi xmlns:a14="http://schemas.microsoft.com/office/drawing/2010/main" val="0"/>
              </a:ext>
            </a:extLst>
          </a:blip>
          <a:srcRect l="470" t="467" r="-470" b="18009"/>
          <a:stretch/>
        </p:blipFill>
        <p:spPr bwMode="auto">
          <a:xfrm>
            <a:off x="8962050" y="2463959"/>
            <a:ext cx="2159426" cy="1772761"/>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2" descr="http://www.thelogofactory.com/wp-content/uploads/2015/09/fixed-google-logo-font.png"/>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8410075" y="4250556"/>
            <a:ext cx="1103949" cy="367983"/>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6" descr="https://lh3.googleusercontent.com/-c9bKgaRfC3Q/AAAAAAAAAAI/AAAAAAAAJUE/Eo2MLCqyiZs/photo.jpg"/>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9740547" y="4236720"/>
            <a:ext cx="602431" cy="602431"/>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28" descr="https://www.facebook.com/images/fb_icon_325x325.png"/>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10597073" y="4482916"/>
            <a:ext cx="287118" cy="287118"/>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30" descr="http://www.socialflow.com/wp-content/uploads/2016/04/twitter1.png"/>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10910251" y="4060215"/>
            <a:ext cx="400316" cy="400316"/>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32" descr="http://www.nasa.gov/sites/default/files/images/nasaLogo-570x450.png"/>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6494697" y="3562182"/>
            <a:ext cx="1348105" cy="1064293"/>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36" descr="http://www.7men.nl/wp-content/uploads/2015/12/IBM-banner.jpg"/>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4810637" y="3932771"/>
            <a:ext cx="1116787" cy="446902"/>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38" descr="http://worldartsme.com/images/bullet-train-clipart-1.jpg"/>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679047" y="1343880"/>
            <a:ext cx="1687556" cy="911135"/>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42" descr="http://www.myrateplan.com/sites/myrateplan.com/files/styles/phone_photo_medium/public/shutterstock_62462044-%5BConverted%5D.png?itok=PfHaIEEh"/>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887622" y="5062705"/>
            <a:ext cx="1124585" cy="907462"/>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48" descr="http://www.redorbit.com/media/uploads/2013/09/robotics.jpg"/>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32883" y="2328858"/>
            <a:ext cx="1827438" cy="12333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759173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Why Unix?</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8</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sp>
        <p:nvSpPr>
          <p:cNvPr id="3" name="Content Placeholder 2"/>
          <p:cNvSpPr>
            <a:spLocks noGrp="1"/>
          </p:cNvSpPr>
          <p:nvPr>
            <p:ph idx="1"/>
          </p:nvPr>
        </p:nvSpPr>
        <p:spPr>
          <a:xfrm>
            <a:off x="1142119" y="1402996"/>
            <a:ext cx="8761412" cy="4327244"/>
          </a:xfrm>
        </p:spPr>
        <p:txBody>
          <a:bodyPr>
            <a:normAutofit/>
          </a:bodyPr>
          <a:lstStyle/>
          <a:p>
            <a:r>
              <a:rPr lang="en-IN" dirty="0"/>
              <a:t>Unix is </a:t>
            </a:r>
            <a:r>
              <a:rPr lang="en-IN" b="1" dirty="0"/>
              <a:t>secure</a:t>
            </a:r>
            <a:r>
              <a:rPr lang="en-IN" dirty="0"/>
              <a:t> and most tools are </a:t>
            </a:r>
            <a:r>
              <a:rPr lang="en-IN" b="1" dirty="0"/>
              <a:t>free</a:t>
            </a:r>
          </a:p>
          <a:p>
            <a:r>
              <a:rPr lang="en-IN" dirty="0"/>
              <a:t>Configuration is </a:t>
            </a:r>
            <a:r>
              <a:rPr lang="en-IN" b="1" dirty="0"/>
              <a:t>simple</a:t>
            </a:r>
            <a:r>
              <a:rPr lang="en-IN" dirty="0"/>
              <a:t>. Another of Unix's big philosophies is that configuration files should be easy to maintain. </a:t>
            </a:r>
          </a:p>
          <a:p>
            <a:r>
              <a:rPr lang="en-IN" dirty="0"/>
              <a:t>Unix systems are </a:t>
            </a:r>
            <a:r>
              <a:rPr lang="en-IN" b="1" dirty="0"/>
              <a:t>easy to automate</a:t>
            </a:r>
            <a:r>
              <a:rPr lang="en-IN" dirty="0"/>
              <a:t>, and </a:t>
            </a:r>
            <a:r>
              <a:rPr lang="en-IN" b="1" dirty="0"/>
              <a:t>easy to program for</a:t>
            </a:r>
            <a:r>
              <a:rPr lang="en-IN" dirty="0"/>
              <a:t>. </a:t>
            </a:r>
          </a:p>
          <a:p>
            <a:r>
              <a:rPr lang="en-IN" dirty="0"/>
              <a:t>Uptime is much better on a Unix system than a Windows one.</a:t>
            </a:r>
          </a:p>
          <a:p>
            <a:r>
              <a:rPr lang="en-IN" dirty="0"/>
              <a:t>Licensing is simple.</a:t>
            </a:r>
          </a:p>
          <a:p>
            <a:r>
              <a:rPr lang="en-IN" dirty="0"/>
              <a:t>Google says there are around 139,000 results for  an image search for "</a:t>
            </a:r>
            <a:r>
              <a:rPr lang="en-IN" dirty="0" err="1"/>
              <a:t>unix</a:t>
            </a:r>
            <a:r>
              <a:rPr lang="en-IN" dirty="0"/>
              <a:t> family tree" - so describing the history of UNIX is clearly something a LOT of people have put time into.</a:t>
            </a:r>
          </a:p>
          <a:p>
            <a:endParaRPr lang="en-IN" dirty="0"/>
          </a:p>
        </p:txBody>
      </p:sp>
    </p:spTree>
    <p:extLst>
      <p:ext uri="{BB962C8B-B14F-4D97-AF65-F5344CB8AC3E}">
        <p14:creationId xmlns:p14="http://schemas.microsoft.com/office/powerpoint/2010/main" val="387414081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solidFill>
                  <a:srgbClr val="0E5580"/>
                </a:solidFill>
              </a:rPr>
              <a:pPr/>
              <a:t>9</a:t>
            </a:fld>
            <a:endParaRPr lang="en-US" dirty="0">
              <a:solidFill>
                <a:srgbClr val="0E5580"/>
              </a:solidFill>
            </a:endParaRPr>
          </a:p>
        </p:txBody>
      </p:sp>
      <p:sp>
        <p:nvSpPr>
          <p:cNvPr id="3" name="Rectangle 2"/>
          <p:cNvSpPr/>
          <p:nvPr/>
        </p:nvSpPr>
        <p:spPr>
          <a:xfrm>
            <a:off x="464457" y="295729"/>
            <a:ext cx="9550400" cy="5161642"/>
          </a:xfrm>
          <a:prstGeom prst="rect">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200" dirty="0"/>
              <a:t>Intro to Unix</a:t>
            </a:r>
          </a:p>
        </p:txBody>
      </p:sp>
    </p:spTree>
    <p:extLst>
      <p:ext uri="{BB962C8B-B14F-4D97-AF65-F5344CB8AC3E}">
        <p14:creationId xmlns:p14="http://schemas.microsoft.com/office/powerpoint/2010/main" val="256618079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Quiz Time</a:t>
            </a:r>
            <a:endParaRPr lang="en-IN" dirty="0"/>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10</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pic>
        <p:nvPicPr>
          <p:cNvPr id="7170" name="Picture 2" descr="http://blogs.adobe.com/captivate/files/2011/05/Assessment-SB-Templat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7255" y="1508267"/>
            <a:ext cx="1724025" cy="174342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bwMode="gray">
          <a:xfrm>
            <a:off x="2621280" y="1768335"/>
            <a:ext cx="7447280" cy="1483360"/>
          </a:xfrm>
          <a:prstGeom prst="rect">
            <a:avLst/>
          </a:prstGeom>
        </p:spPr>
        <p:txBody>
          <a:bodyPr vert="horz" wrap="square" lIns="91440" tIns="45720" rIns="91440" bIns="45720" rtlCol="0" anchor="ctr">
            <a:noAutofit/>
          </a:bodyPr>
          <a:lstStyle/>
          <a:p>
            <a:r>
              <a:rPr lang="en-IN" sz="2800" dirty="0" smtClean="0">
                <a:latin typeface="Berlin Sans FB Demi" panose="020E0802020502020306" pitchFamily="34" charset="0"/>
              </a:rPr>
              <a:t>When was Unix developed first and by whom? </a:t>
            </a:r>
            <a:endParaRPr lang="en-IN" sz="2800" dirty="0" smtClean="0">
              <a:latin typeface="Berlin Sans FB Demi" panose="020E0802020502020306" pitchFamily="34" charset="0"/>
            </a:endParaRPr>
          </a:p>
        </p:txBody>
      </p:sp>
      <p:pic>
        <p:nvPicPr>
          <p:cNvPr id="7174" name="Picture 6" descr="http://unisci24.com/data_images/wlls/3/180958-answer.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7255" y="4094975"/>
            <a:ext cx="1429385" cy="1427116"/>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p:cNvSpPr txBox="1"/>
          <p:nvPr/>
        </p:nvSpPr>
        <p:spPr bwMode="gray">
          <a:xfrm>
            <a:off x="2621280" y="4038731"/>
            <a:ext cx="8707120" cy="1483360"/>
          </a:xfrm>
          <a:prstGeom prst="rect">
            <a:avLst/>
          </a:prstGeom>
        </p:spPr>
        <p:txBody>
          <a:bodyPr vert="horz" wrap="square" lIns="91440" tIns="45720" rIns="91440" bIns="45720" rtlCol="0" anchor="ctr">
            <a:noAutofit/>
          </a:bodyPr>
          <a:lstStyle/>
          <a:p>
            <a:r>
              <a:rPr lang="en-IN" sz="2800" dirty="0" smtClean="0">
                <a:latin typeface="Berlin Sans FB Demi" panose="020E0802020502020306" pitchFamily="34" charset="0"/>
              </a:rPr>
              <a:t>1969. Developed by K </a:t>
            </a:r>
            <a:r>
              <a:rPr lang="en-IN" sz="2800" dirty="0">
                <a:latin typeface="Berlin Sans FB Demi" panose="020E0802020502020306" pitchFamily="34" charset="0"/>
              </a:rPr>
              <a:t>Thomson, </a:t>
            </a:r>
            <a:r>
              <a:rPr lang="en-IN" sz="2800" dirty="0">
                <a:latin typeface="Berlin Sans FB Demi" panose="020E0802020502020306" pitchFamily="34" charset="0"/>
              </a:rPr>
              <a:t>Dennis Ritchie</a:t>
            </a:r>
          </a:p>
          <a:p>
            <a:r>
              <a:rPr lang="en-IN" sz="2800" dirty="0" smtClean="0">
                <a:latin typeface="Berlin Sans FB Demi" panose="020E0802020502020306" pitchFamily="34" charset="0"/>
              </a:rPr>
              <a:t>  </a:t>
            </a:r>
            <a:endParaRPr lang="en-IN" sz="2800" dirty="0" smtClean="0">
              <a:latin typeface="Berlin Sans FB Demi" panose="020E0802020502020306" pitchFamily="34" charset="0"/>
            </a:endParaRPr>
          </a:p>
        </p:txBody>
      </p:sp>
    </p:spTree>
    <p:extLst>
      <p:ext uri="{BB962C8B-B14F-4D97-AF65-F5344CB8AC3E}">
        <p14:creationId xmlns:p14="http://schemas.microsoft.com/office/powerpoint/2010/main" val="167463092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History of Unix?</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11</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pic>
        <p:nvPicPr>
          <p:cNvPr id="7" name="Picture 2" descr="http://www.federaljack.com/ebooks/Computers%20-%20Informatin%20Technology/40%20Computer%20Know%20All%20Books%5D/Upgrading%20and%20Repairing%20Networks%20-%20QUE/ch10/10fig01.gif"/>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497744" y="1744933"/>
            <a:ext cx="3143794" cy="4433027"/>
          </a:xfrm>
          <a:prstGeom prst="rect">
            <a:avLst/>
          </a:prstGeom>
          <a:noFill/>
          <a:extLst>
            <a:ext uri="{909E8E84-426E-40DD-AFC4-6F175D3DCCD1}">
              <a14:hiddenFill xmlns:a14="http://schemas.microsoft.com/office/drawing/2010/main">
                <a:solidFill>
                  <a:srgbClr val="FFFFFF"/>
                </a:solidFill>
              </a14:hiddenFill>
            </a:ext>
          </a:extLst>
        </p:spPr>
      </p:pic>
      <p:sp>
        <p:nvSpPr>
          <p:cNvPr id="8" name="Content Placeholder 5"/>
          <p:cNvSpPr txBox="1">
            <a:spLocks/>
          </p:cNvSpPr>
          <p:nvPr/>
        </p:nvSpPr>
        <p:spPr>
          <a:xfrm>
            <a:off x="528358" y="1618036"/>
            <a:ext cx="7823164" cy="4878558"/>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r>
              <a:rPr lang="en-IN" dirty="0"/>
              <a:t>Written by Ken Thompson and Dennis Ritchie</a:t>
            </a:r>
          </a:p>
          <a:p>
            <a:r>
              <a:rPr lang="en-IN" dirty="0"/>
              <a:t>Developed at Bell Laboratories, USA derived from Multics(1969)</a:t>
            </a:r>
          </a:p>
          <a:p>
            <a:r>
              <a:rPr lang="en-IN" dirty="0"/>
              <a:t>Firstly developed in ‘B’ then rewritten in ‘C’</a:t>
            </a:r>
          </a:p>
          <a:p>
            <a:r>
              <a:rPr lang="en-IN" dirty="0"/>
              <a:t>Two Flavours</a:t>
            </a:r>
          </a:p>
          <a:p>
            <a:pPr lvl="1"/>
            <a:r>
              <a:rPr lang="en-IN" dirty="0"/>
              <a:t>System V ( Commercial run by AT&amp;T)</a:t>
            </a:r>
          </a:p>
          <a:p>
            <a:pPr lvl="1"/>
            <a:r>
              <a:rPr lang="en-IN" dirty="0"/>
              <a:t>BSD (Educational, run by Bell Labs)</a:t>
            </a:r>
            <a:endParaRPr lang="en-US" dirty="0"/>
          </a:p>
          <a:p>
            <a:r>
              <a:rPr lang="en-US" dirty="0"/>
              <a:t>Recent Development are graphical interface</a:t>
            </a:r>
          </a:p>
          <a:p>
            <a:pPr lvl="1"/>
            <a:r>
              <a:rPr lang="en-US" dirty="0"/>
              <a:t>Motif, X windows, open view </a:t>
            </a:r>
          </a:p>
          <a:p>
            <a:r>
              <a:rPr lang="en-US" dirty="0"/>
              <a:t>Major Suppliers</a:t>
            </a:r>
          </a:p>
          <a:p>
            <a:pPr lvl="1"/>
            <a:r>
              <a:rPr lang="en-US" dirty="0"/>
              <a:t>Sun, IBM, HP, DEC</a:t>
            </a:r>
          </a:p>
          <a:p>
            <a:r>
              <a:rPr lang="en-US" dirty="0"/>
              <a:t>Free and open source Unix System is call Linux</a:t>
            </a:r>
          </a:p>
          <a:p>
            <a:pPr lvl="1"/>
            <a:r>
              <a:rPr lang="en-US" dirty="0"/>
              <a:t>Ubuntu, </a:t>
            </a:r>
            <a:r>
              <a:rPr lang="en-US" dirty="0" err="1"/>
              <a:t>Debian</a:t>
            </a:r>
            <a:r>
              <a:rPr lang="en-US" dirty="0"/>
              <a:t>, CentOS, Fedora, Red hat, </a:t>
            </a:r>
          </a:p>
        </p:txBody>
      </p:sp>
    </p:spTree>
    <p:extLst>
      <p:ext uri="{BB962C8B-B14F-4D97-AF65-F5344CB8AC3E}">
        <p14:creationId xmlns:p14="http://schemas.microsoft.com/office/powerpoint/2010/main" val="265734690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Unix System Architecture</a:t>
            </a:r>
            <a:endParaRPr lang="en-IN" dirty="0"/>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12</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sp>
        <p:nvSpPr>
          <p:cNvPr id="6" name="Content Placeholder 5"/>
          <p:cNvSpPr>
            <a:spLocks noGrp="1"/>
          </p:cNvSpPr>
          <p:nvPr>
            <p:ph idx="1"/>
          </p:nvPr>
        </p:nvSpPr>
        <p:spPr>
          <a:xfrm>
            <a:off x="1067869" y="1799448"/>
            <a:ext cx="6785811" cy="3697112"/>
          </a:xfrm>
        </p:spPr>
        <p:txBody>
          <a:bodyPr>
            <a:normAutofit/>
          </a:bodyPr>
          <a:lstStyle/>
          <a:p>
            <a:r>
              <a:rPr lang="en-US" dirty="0" smtClean="0"/>
              <a:t>The hardware at the center of the diagram provides the operating system with basic services.</a:t>
            </a:r>
          </a:p>
          <a:p>
            <a:r>
              <a:rPr lang="en-US" dirty="0" smtClean="0"/>
              <a:t>Basic Unix Components:</a:t>
            </a:r>
          </a:p>
          <a:p>
            <a:pPr lvl="1"/>
            <a:r>
              <a:rPr lang="en-US" b="1" dirty="0" smtClean="0"/>
              <a:t>Kernel</a:t>
            </a:r>
            <a:r>
              <a:rPr lang="en-US" dirty="0" smtClean="0"/>
              <a:t> – directly talks</a:t>
            </a:r>
          </a:p>
          <a:p>
            <a:pPr lvl="1"/>
            <a:r>
              <a:rPr lang="en-US" b="1" dirty="0" smtClean="0"/>
              <a:t>Shell </a:t>
            </a:r>
            <a:r>
              <a:rPr lang="en-US" dirty="0" smtClean="0"/>
              <a:t>- acts as a bridge between kernel and users</a:t>
            </a:r>
          </a:p>
          <a:p>
            <a:pPr lvl="1"/>
            <a:r>
              <a:rPr lang="en-IN" b="1" dirty="0" smtClean="0"/>
              <a:t>Utilities</a:t>
            </a:r>
            <a:r>
              <a:rPr lang="en-IN" dirty="0" smtClean="0"/>
              <a:t> - </a:t>
            </a:r>
            <a:r>
              <a:rPr lang="en-IN" dirty="0"/>
              <a:t>UNIX provides several hundred utility programs, often referred to as commands.</a:t>
            </a:r>
            <a:endParaRPr lang="en-US" dirty="0" smtClean="0"/>
          </a:p>
          <a:p>
            <a:r>
              <a:rPr lang="en-US" dirty="0" smtClean="0"/>
              <a:t>The user programs are independent of the underlying </a:t>
            </a:r>
            <a:r>
              <a:rPr lang="en-US" dirty="0" smtClean="0"/>
              <a:t>hardware</a:t>
            </a:r>
            <a:endParaRPr lang="en-US" dirty="0"/>
          </a:p>
        </p:txBody>
      </p:sp>
      <p:pic>
        <p:nvPicPr>
          <p:cNvPr id="10" name="Picture 2" descr="http://designshopbb.com/Scripts/unix-architecture-layers-i0.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80418" y="2188987"/>
            <a:ext cx="4711582" cy="33075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186289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Kernel</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13</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sp>
        <p:nvSpPr>
          <p:cNvPr id="6" name="Content Placeholder 5"/>
          <p:cNvSpPr>
            <a:spLocks noGrp="1"/>
          </p:cNvSpPr>
          <p:nvPr>
            <p:ph idx="1"/>
          </p:nvPr>
        </p:nvSpPr>
        <p:spPr>
          <a:xfrm>
            <a:off x="1067869" y="1799448"/>
            <a:ext cx="6038325" cy="3416300"/>
          </a:xfrm>
        </p:spPr>
        <p:txBody>
          <a:bodyPr/>
          <a:lstStyle/>
          <a:p>
            <a:r>
              <a:rPr lang="en-IN" dirty="0"/>
              <a:t>The </a:t>
            </a:r>
            <a:r>
              <a:rPr lang="en-IN" b="1" dirty="0"/>
              <a:t>kernel</a:t>
            </a:r>
            <a:r>
              <a:rPr lang="en-IN" dirty="0"/>
              <a:t> is a </a:t>
            </a:r>
            <a:r>
              <a:rPr lang="en-IN" dirty="0">
                <a:hlinkClick r:id="rId3" tooltip="Computer program"/>
              </a:rPr>
              <a:t>computer program</a:t>
            </a:r>
            <a:r>
              <a:rPr lang="en-IN" dirty="0"/>
              <a:t> that constitutes the central core of a computer's operating system. It has complete control over everything that occurs in the system.</a:t>
            </a:r>
          </a:p>
          <a:p>
            <a:r>
              <a:rPr lang="en-IN" dirty="0"/>
              <a:t> It is the first program loaded on start-up, and then manages the remainder of the start-up</a:t>
            </a:r>
            <a:endParaRPr lang="en-US" dirty="0"/>
          </a:p>
        </p:txBody>
      </p:sp>
      <p:pic>
        <p:nvPicPr>
          <p:cNvPr id="1028" name="Picture 4" descr="https://blog.digilentinc.com/wp-content/uploads/2015/05/1280px-Kernel_Layout.svg_.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020151" y="1993833"/>
            <a:ext cx="1967388" cy="15554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639289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Shell</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14</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sp>
        <p:nvSpPr>
          <p:cNvPr id="6" name="Content Placeholder 5"/>
          <p:cNvSpPr>
            <a:spLocks noGrp="1"/>
          </p:cNvSpPr>
          <p:nvPr>
            <p:ph idx="1"/>
          </p:nvPr>
        </p:nvSpPr>
        <p:spPr>
          <a:xfrm>
            <a:off x="792481" y="1593669"/>
            <a:ext cx="6453050" cy="4450079"/>
          </a:xfrm>
        </p:spPr>
        <p:txBody>
          <a:bodyPr/>
          <a:lstStyle/>
          <a:p>
            <a:r>
              <a:rPr lang="en-IN" dirty="0"/>
              <a:t>The </a:t>
            </a:r>
            <a:r>
              <a:rPr lang="en-IN" b="1" dirty="0"/>
              <a:t>shell</a:t>
            </a:r>
            <a:r>
              <a:rPr lang="en-IN" dirty="0"/>
              <a:t> is a program that takes your commands from the keyboard and gives them to the operating system to perform.</a:t>
            </a:r>
          </a:p>
          <a:p>
            <a:r>
              <a:rPr lang="en-IN" b="1" dirty="0"/>
              <a:t>Shell</a:t>
            </a:r>
            <a:r>
              <a:rPr lang="en-IN" dirty="0"/>
              <a:t> is a </a:t>
            </a:r>
            <a:r>
              <a:rPr lang="en-IN" b="1" dirty="0"/>
              <a:t>UNIX</a:t>
            </a:r>
            <a:r>
              <a:rPr lang="en-IN" dirty="0"/>
              <a:t> term for the interactive user interface with an operating system also known as command line interface(CLI) </a:t>
            </a:r>
          </a:p>
          <a:p>
            <a:r>
              <a:rPr lang="en-IN" dirty="0"/>
              <a:t>The following is a list of commonly used shell programs</a:t>
            </a:r>
            <a:r>
              <a:rPr lang="en-IN" dirty="0" smtClean="0"/>
              <a:t>:</a:t>
            </a:r>
          </a:p>
          <a:p>
            <a:pPr lvl="1"/>
            <a:r>
              <a:rPr lang="en-IN" dirty="0" smtClean="0"/>
              <a:t>The </a:t>
            </a:r>
            <a:r>
              <a:rPr lang="en-IN" dirty="0"/>
              <a:t>Bourne </a:t>
            </a:r>
            <a:r>
              <a:rPr lang="en-IN" dirty="0" smtClean="0"/>
              <a:t>Shell (</a:t>
            </a:r>
            <a:r>
              <a:rPr lang="en-IN" dirty="0" err="1" smtClean="0"/>
              <a:t>sh</a:t>
            </a:r>
            <a:r>
              <a:rPr lang="en-IN" dirty="0" smtClean="0"/>
              <a:t>)</a:t>
            </a:r>
            <a:endParaRPr lang="en-IN" dirty="0"/>
          </a:p>
          <a:p>
            <a:pPr lvl="1"/>
            <a:r>
              <a:rPr lang="en-IN" dirty="0" smtClean="0"/>
              <a:t>The </a:t>
            </a:r>
            <a:r>
              <a:rPr lang="en-IN" dirty="0"/>
              <a:t>C </a:t>
            </a:r>
            <a:r>
              <a:rPr lang="en-IN" dirty="0" smtClean="0"/>
              <a:t>Shell (</a:t>
            </a:r>
            <a:r>
              <a:rPr lang="en-IN" dirty="0" err="1" smtClean="0"/>
              <a:t>csh</a:t>
            </a:r>
            <a:r>
              <a:rPr lang="en-IN" dirty="0" smtClean="0"/>
              <a:t>)</a:t>
            </a:r>
            <a:endParaRPr lang="en-IN" dirty="0"/>
          </a:p>
          <a:p>
            <a:pPr lvl="1"/>
            <a:r>
              <a:rPr lang="en-IN" dirty="0" smtClean="0"/>
              <a:t>The </a:t>
            </a:r>
            <a:r>
              <a:rPr lang="en-IN" dirty="0"/>
              <a:t>Bourne Again </a:t>
            </a:r>
            <a:r>
              <a:rPr lang="en-IN" dirty="0" smtClean="0"/>
              <a:t>Shell (bash)</a:t>
            </a:r>
            <a:endParaRPr lang="en-IN" dirty="0"/>
          </a:p>
          <a:p>
            <a:pPr lvl="1"/>
            <a:r>
              <a:rPr lang="en-IN" dirty="0" smtClean="0"/>
              <a:t>The </a:t>
            </a:r>
            <a:r>
              <a:rPr lang="en-IN" dirty="0" err="1"/>
              <a:t>Korn</a:t>
            </a:r>
            <a:r>
              <a:rPr lang="en-IN" dirty="0"/>
              <a:t> </a:t>
            </a:r>
            <a:r>
              <a:rPr lang="en-IN" dirty="0" smtClean="0"/>
              <a:t>Shell (</a:t>
            </a:r>
            <a:r>
              <a:rPr lang="en-IN" dirty="0" err="1" smtClean="0"/>
              <a:t>ksh</a:t>
            </a:r>
            <a:r>
              <a:rPr lang="en-IN" dirty="0" smtClean="0"/>
              <a:t>)</a:t>
            </a:r>
            <a:endParaRPr lang="en-US" dirty="0"/>
          </a:p>
        </p:txBody>
      </p:sp>
      <p:pic>
        <p:nvPicPr>
          <p:cNvPr id="2052" name="Picture 4" descr="http://www.computerandyou.net/wp-content/uploads/2012/01/Terminal-icon-shell-linux-unix.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25107" y="1310049"/>
            <a:ext cx="2438400" cy="2438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389796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Shell Comparison</a:t>
            </a:r>
            <a:endParaRPr lang="en-IN" dirty="0"/>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15</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graphicFrame>
        <p:nvGraphicFramePr>
          <p:cNvPr id="13" name="Content Placeholder 12"/>
          <p:cNvGraphicFramePr>
            <a:graphicFrameLocks noGrp="1"/>
          </p:cNvGraphicFramePr>
          <p:nvPr>
            <p:ph idx="1"/>
            <p:extLst>
              <p:ext uri="{D42A27DB-BD31-4B8C-83A1-F6EECF244321}">
                <p14:modId xmlns:p14="http://schemas.microsoft.com/office/powerpoint/2010/main" val="4212855142"/>
              </p:ext>
            </p:extLst>
          </p:nvPr>
        </p:nvGraphicFramePr>
        <p:xfrm>
          <a:off x="629986" y="1727198"/>
          <a:ext cx="11011552" cy="4358640"/>
        </p:xfrm>
        <a:graphic>
          <a:graphicData uri="http://schemas.openxmlformats.org/drawingml/2006/table">
            <a:tbl>
              <a:tblPr>
                <a:tableStyleId>{5C22544A-7EE6-4342-B048-85BDC9FD1C3A}</a:tableStyleId>
              </a:tblPr>
              <a:tblGrid>
                <a:gridCol w="4926340"/>
                <a:gridCol w="1521303"/>
                <a:gridCol w="1521303"/>
                <a:gridCol w="1521303"/>
                <a:gridCol w="1521303"/>
              </a:tblGrid>
              <a:tr h="335280">
                <a:tc>
                  <a:txBody>
                    <a:bodyPr/>
                    <a:lstStyle/>
                    <a:p>
                      <a:pPr algn="l" fontAlgn="b"/>
                      <a:r>
                        <a:rPr lang="en-IN" sz="1200" b="1" u="none" strike="noStrike" dirty="0">
                          <a:effectLst/>
                        </a:rPr>
                        <a:t>Shell Features</a:t>
                      </a:r>
                      <a:endParaRPr lang="en-IN" sz="1200" b="1" i="0" u="none" strike="noStrike" dirty="0">
                        <a:solidFill>
                          <a:srgbClr val="FFFFFF"/>
                        </a:solidFill>
                        <a:effectLst/>
                        <a:latin typeface="Calibri" panose="020F0502020204030204" pitchFamily="34" charset="0"/>
                      </a:endParaRPr>
                    </a:p>
                  </a:txBody>
                  <a:tcPr marL="9525" marR="9525" marT="9525" marB="0" anchor="b"/>
                </a:tc>
                <a:tc>
                  <a:txBody>
                    <a:bodyPr/>
                    <a:lstStyle/>
                    <a:p>
                      <a:pPr algn="ctr" fontAlgn="b"/>
                      <a:r>
                        <a:rPr lang="en-IN" sz="1200" b="1" u="none" strike="noStrike" dirty="0" err="1">
                          <a:effectLst/>
                        </a:rPr>
                        <a:t>sh</a:t>
                      </a:r>
                      <a:r>
                        <a:rPr lang="en-IN" sz="1200" b="1" u="none" strike="noStrike" dirty="0">
                          <a:effectLst/>
                        </a:rPr>
                        <a:t>   </a:t>
                      </a:r>
                      <a:endParaRPr lang="en-IN" sz="1200" b="1" i="0" u="none" strike="noStrike" dirty="0">
                        <a:solidFill>
                          <a:srgbClr val="FFFFFF"/>
                        </a:solidFill>
                        <a:effectLst/>
                        <a:latin typeface="Calibri" panose="020F0502020204030204" pitchFamily="34" charset="0"/>
                      </a:endParaRPr>
                    </a:p>
                  </a:txBody>
                  <a:tcPr marL="9525" marR="9525" marT="9525" marB="0" anchor="b"/>
                </a:tc>
                <a:tc>
                  <a:txBody>
                    <a:bodyPr/>
                    <a:lstStyle/>
                    <a:p>
                      <a:pPr algn="ctr" fontAlgn="b"/>
                      <a:r>
                        <a:rPr lang="en-IN" sz="1200" b="1" u="none" strike="noStrike">
                          <a:effectLst/>
                        </a:rPr>
                        <a:t>csh  </a:t>
                      </a:r>
                      <a:endParaRPr lang="en-IN" sz="1200" b="1" i="0" u="none" strike="noStrike">
                        <a:solidFill>
                          <a:srgbClr val="FFFFFF"/>
                        </a:solidFill>
                        <a:effectLst/>
                        <a:latin typeface="Calibri" panose="020F0502020204030204" pitchFamily="34" charset="0"/>
                      </a:endParaRPr>
                    </a:p>
                  </a:txBody>
                  <a:tcPr marL="9525" marR="9525" marT="9525" marB="0" anchor="b"/>
                </a:tc>
                <a:tc>
                  <a:txBody>
                    <a:bodyPr/>
                    <a:lstStyle/>
                    <a:p>
                      <a:pPr algn="ctr" fontAlgn="b"/>
                      <a:r>
                        <a:rPr lang="en-IN" sz="1200" b="1" u="none" strike="noStrike">
                          <a:effectLst/>
                        </a:rPr>
                        <a:t>ksh  </a:t>
                      </a:r>
                      <a:endParaRPr lang="en-IN" sz="1200" b="1" i="0" u="none" strike="noStrike">
                        <a:solidFill>
                          <a:srgbClr val="FFFFFF"/>
                        </a:solidFill>
                        <a:effectLst/>
                        <a:latin typeface="Calibri" panose="020F0502020204030204" pitchFamily="34" charset="0"/>
                      </a:endParaRPr>
                    </a:p>
                  </a:txBody>
                  <a:tcPr marL="9525" marR="9525" marT="9525" marB="0" anchor="b"/>
                </a:tc>
                <a:tc>
                  <a:txBody>
                    <a:bodyPr/>
                    <a:lstStyle/>
                    <a:p>
                      <a:pPr algn="ctr" fontAlgn="b"/>
                      <a:r>
                        <a:rPr lang="en-IN" sz="1200" b="1" u="none" strike="noStrike" dirty="0">
                          <a:effectLst/>
                        </a:rPr>
                        <a:t>bash </a:t>
                      </a:r>
                      <a:endParaRPr lang="en-IN" sz="1200" b="1" i="0" u="none" strike="noStrike" dirty="0">
                        <a:solidFill>
                          <a:srgbClr val="FFFFFF"/>
                        </a:solidFill>
                        <a:effectLst/>
                        <a:latin typeface="Calibri" panose="020F0502020204030204" pitchFamily="34" charset="0"/>
                      </a:endParaRPr>
                    </a:p>
                  </a:txBody>
                  <a:tcPr marL="9525" marR="9525" marT="9525" marB="0" anchor="b"/>
                </a:tc>
              </a:tr>
              <a:tr h="335280">
                <a:tc>
                  <a:txBody>
                    <a:bodyPr/>
                    <a:lstStyle/>
                    <a:p>
                      <a:pPr algn="l" fontAlgn="b"/>
                      <a:r>
                        <a:rPr lang="en-IN" sz="1100" u="none" strike="noStrike" dirty="0">
                          <a:effectLst/>
                        </a:rPr>
                        <a:t>Job control                         </a:t>
                      </a:r>
                      <a:endParaRPr lang="en-IN"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N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Y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Y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Y   </a:t>
                      </a:r>
                      <a:endParaRPr lang="en-IN" sz="1100" b="0" i="0" u="none" strike="noStrike">
                        <a:solidFill>
                          <a:srgbClr val="000000"/>
                        </a:solidFill>
                        <a:effectLst/>
                        <a:latin typeface="Calibri" panose="020F0502020204030204" pitchFamily="34" charset="0"/>
                      </a:endParaRPr>
                    </a:p>
                  </a:txBody>
                  <a:tcPr marL="9525" marR="9525" marT="9525" marB="0" anchor="b"/>
                </a:tc>
              </a:tr>
              <a:tr h="335280">
                <a:tc>
                  <a:txBody>
                    <a:bodyPr/>
                    <a:lstStyle/>
                    <a:p>
                      <a:pPr algn="l" fontAlgn="b"/>
                      <a:r>
                        <a:rPr lang="en-IN" sz="1100" u="none" strike="noStrike">
                          <a:effectLst/>
                        </a:rPr>
                        <a:t>Aliases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N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Y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Y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Y   </a:t>
                      </a:r>
                      <a:endParaRPr lang="en-IN" sz="1100" b="0" i="0" u="none" strike="noStrike">
                        <a:solidFill>
                          <a:srgbClr val="000000"/>
                        </a:solidFill>
                        <a:effectLst/>
                        <a:latin typeface="Calibri" panose="020F0502020204030204" pitchFamily="34" charset="0"/>
                      </a:endParaRPr>
                    </a:p>
                  </a:txBody>
                  <a:tcPr marL="9525" marR="9525" marT="9525" marB="0" anchor="b"/>
                </a:tc>
              </a:tr>
              <a:tr h="335280">
                <a:tc>
                  <a:txBody>
                    <a:bodyPr/>
                    <a:lstStyle/>
                    <a:p>
                      <a:pPr algn="l" fontAlgn="b"/>
                      <a:r>
                        <a:rPr lang="en-IN" sz="1100" u="none" strike="noStrike">
                          <a:effectLst/>
                        </a:rPr>
                        <a:t>Shell functions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dirty="0">
                          <a:effectLst/>
                        </a:rPr>
                        <a:t> Y</a:t>
                      </a:r>
                      <a:endParaRPr lang="en-IN"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N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Y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Y   </a:t>
                      </a:r>
                      <a:endParaRPr lang="en-IN" sz="1100" b="0" i="0" u="none" strike="noStrike">
                        <a:solidFill>
                          <a:srgbClr val="000000"/>
                        </a:solidFill>
                        <a:effectLst/>
                        <a:latin typeface="Calibri" panose="020F0502020204030204" pitchFamily="34" charset="0"/>
                      </a:endParaRPr>
                    </a:p>
                  </a:txBody>
                  <a:tcPr marL="9525" marR="9525" marT="9525" marB="0" anchor="b"/>
                </a:tc>
              </a:tr>
              <a:tr h="335280">
                <a:tc>
                  <a:txBody>
                    <a:bodyPr/>
                    <a:lstStyle/>
                    <a:p>
                      <a:pPr algn="l" fontAlgn="b"/>
                      <a:r>
                        <a:rPr lang="en-IN" sz="1100" u="none" strike="noStrike">
                          <a:effectLst/>
                        </a:rPr>
                        <a:t>Command history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N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Y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Y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Y   </a:t>
                      </a:r>
                      <a:endParaRPr lang="en-IN" sz="1100" b="0" i="0" u="none" strike="noStrike">
                        <a:solidFill>
                          <a:srgbClr val="000000"/>
                        </a:solidFill>
                        <a:effectLst/>
                        <a:latin typeface="Calibri" panose="020F0502020204030204" pitchFamily="34" charset="0"/>
                      </a:endParaRPr>
                    </a:p>
                  </a:txBody>
                  <a:tcPr marL="9525" marR="9525" marT="9525" marB="0" anchor="b"/>
                </a:tc>
              </a:tr>
              <a:tr h="335280">
                <a:tc>
                  <a:txBody>
                    <a:bodyPr/>
                    <a:lstStyle/>
                    <a:p>
                      <a:pPr algn="l" fontAlgn="b"/>
                      <a:r>
                        <a:rPr lang="en-IN" sz="1100" u="none" strike="noStrike">
                          <a:effectLst/>
                        </a:rPr>
                        <a:t>Vi Command line editing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N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N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Y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Y   </a:t>
                      </a:r>
                      <a:endParaRPr lang="en-IN" sz="1100" b="0" i="0" u="none" strike="noStrike">
                        <a:solidFill>
                          <a:srgbClr val="000000"/>
                        </a:solidFill>
                        <a:effectLst/>
                        <a:latin typeface="Calibri" panose="020F0502020204030204" pitchFamily="34" charset="0"/>
                      </a:endParaRPr>
                    </a:p>
                  </a:txBody>
                  <a:tcPr marL="9525" marR="9525" marT="9525" marB="0" anchor="b"/>
                </a:tc>
              </a:tr>
              <a:tr h="335280">
                <a:tc>
                  <a:txBody>
                    <a:bodyPr/>
                    <a:lstStyle/>
                    <a:p>
                      <a:pPr algn="l" fontAlgn="b"/>
                      <a:r>
                        <a:rPr lang="en-IN" sz="1100" u="none" strike="noStrike">
                          <a:effectLst/>
                        </a:rPr>
                        <a:t>User name look up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N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Y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Y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Y   </a:t>
                      </a:r>
                      <a:endParaRPr lang="en-IN" sz="1100" b="0" i="0" u="none" strike="noStrike">
                        <a:solidFill>
                          <a:srgbClr val="000000"/>
                        </a:solidFill>
                        <a:effectLst/>
                        <a:latin typeface="Calibri" panose="020F0502020204030204" pitchFamily="34" charset="0"/>
                      </a:endParaRPr>
                    </a:p>
                  </a:txBody>
                  <a:tcPr marL="9525" marR="9525" marT="9525" marB="0" anchor="b"/>
                </a:tc>
              </a:tr>
              <a:tr h="335280">
                <a:tc>
                  <a:txBody>
                    <a:bodyPr/>
                    <a:lstStyle/>
                    <a:p>
                      <a:pPr algn="l" fontAlgn="b"/>
                      <a:r>
                        <a:rPr lang="en-IN" sz="1100" u="none" strike="noStrike">
                          <a:effectLst/>
                        </a:rPr>
                        <a:t>Builtin artithmetic evaluation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N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Y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Y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Y   </a:t>
                      </a:r>
                      <a:endParaRPr lang="en-IN" sz="1100" b="0" i="0" u="none" strike="noStrike">
                        <a:solidFill>
                          <a:srgbClr val="000000"/>
                        </a:solidFill>
                        <a:effectLst/>
                        <a:latin typeface="Calibri" panose="020F0502020204030204" pitchFamily="34" charset="0"/>
                      </a:endParaRPr>
                    </a:p>
                  </a:txBody>
                  <a:tcPr marL="9525" marR="9525" marT="9525" marB="0" anchor="b"/>
                </a:tc>
              </a:tr>
              <a:tr h="335280">
                <a:tc>
                  <a:txBody>
                    <a:bodyPr/>
                    <a:lstStyle/>
                    <a:p>
                      <a:pPr algn="l" fontAlgn="b"/>
                      <a:r>
                        <a:rPr lang="en-IN" sz="1100" u="none" strike="noStrike">
                          <a:effectLst/>
                        </a:rPr>
                        <a:t>Process Substitution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N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N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N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Y</a:t>
                      </a:r>
                      <a:endParaRPr lang="en-IN" sz="1100" b="0" i="0" u="none" strike="noStrike">
                        <a:solidFill>
                          <a:srgbClr val="000000"/>
                        </a:solidFill>
                        <a:effectLst/>
                        <a:latin typeface="Calibri" panose="020F0502020204030204" pitchFamily="34" charset="0"/>
                      </a:endParaRPr>
                    </a:p>
                  </a:txBody>
                  <a:tcPr marL="9525" marR="9525" marT="9525" marB="0" anchor="b"/>
                </a:tc>
              </a:tr>
              <a:tr h="335280">
                <a:tc>
                  <a:txBody>
                    <a:bodyPr/>
                    <a:lstStyle/>
                    <a:p>
                      <a:pPr algn="l" fontAlgn="b"/>
                      <a:r>
                        <a:rPr lang="en-IN" sz="1100" u="none" strike="noStrike">
                          <a:effectLst/>
                        </a:rPr>
                        <a:t>Freely Available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N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N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N</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Y   </a:t>
                      </a:r>
                      <a:endParaRPr lang="en-IN" sz="1100" b="0" i="0" u="none" strike="noStrike">
                        <a:solidFill>
                          <a:srgbClr val="000000"/>
                        </a:solidFill>
                        <a:effectLst/>
                        <a:latin typeface="Calibri" panose="020F0502020204030204" pitchFamily="34" charset="0"/>
                      </a:endParaRPr>
                    </a:p>
                  </a:txBody>
                  <a:tcPr marL="9525" marR="9525" marT="9525" marB="0" anchor="b"/>
                </a:tc>
              </a:tr>
              <a:tr h="335280">
                <a:tc>
                  <a:txBody>
                    <a:bodyPr/>
                    <a:lstStyle/>
                    <a:p>
                      <a:pPr algn="l" fontAlgn="b"/>
                      <a:r>
                        <a:rPr lang="en-IN" sz="1100" u="none" strike="noStrike">
                          <a:effectLst/>
                        </a:rPr>
                        <a:t>Can cope with large argument lists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Y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N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Y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Y   </a:t>
                      </a:r>
                      <a:endParaRPr lang="en-IN" sz="1100" b="0" i="0" u="none" strike="noStrike">
                        <a:solidFill>
                          <a:srgbClr val="000000"/>
                        </a:solidFill>
                        <a:effectLst/>
                        <a:latin typeface="Calibri" panose="020F0502020204030204" pitchFamily="34" charset="0"/>
                      </a:endParaRPr>
                    </a:p>
                  </a:txBody>
                  <a:tcPr marL="9525" marR="9525" marT="9525" marB="0" anchor="b"/>
                </a:tc>
              </a:tr>
              <a:tr h="335280">
                <a:tc>
                  <a:txBody>
                    <a:bodyPr/>
                    <a:lstStyle/>
                    <a:p>
                      <a:pPr algn="l" fontAlgn="b"/>
                      <a:r>
                        <a:rPr lang="en-IN" sz="1100" u="none" strike="noStrike">
                          <a:effectLst/>
                        </a:rPr>
                        <a:t>Can specify startup file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N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N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Y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Y   </a:t>
                      </a:r>
                      <a:endParaRPr lang="en-IN" sz="1100" b="0" i="0" u="none" strike="noStrike">
                        <a:solidFill>
                          <a:srgbClr val="000000"/>
                        </a:solidFill>
                        <a:effectLst/>
                        <a:latin typeface="Calibri" panose="020F0502020204030204" pitchFamily="34" charset="0"/>
                      </a:endParaRPr>
                    </a:p>
                  </a:txBody>
                  <a:tcPr marL="9525" marR="9525" marT="9525" marB="0" anchor="b"/>
                </a:tc>
              </a:tr>
              <a:tr h="335280">
                <a:tc>
                  <a:txBody>
                    <a:bodyPr/>
                    <a:lstStyle/>
                    <a:p>
                      <a:pPr algn="l" fontAlgn="b"/>
                      <a:r>
                        <a:rPr lang="en-IN" sz="1100" u="none" strike="noStrike">
                          <a:effectLst/>
                        </a:rPr>
                        <a:t>Local variables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N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N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Y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dirty="0">
                          <a:effectLst/>
                        </a:rPr>
                        <a:t> Y   </a:t>
                      </a:r>
                      <a:endParaRPr lang="en-IN" sz="1100" b="0" i="0" u="none" strike="noStrike" dirty="0">
                        <a:solidFill>
                          <a:srgbClr val="000000"/>
                        </a:solidFill>
                        <a:effectLst/>
                        <a:latin typeface="Calibri" panose="020F0502020204030204" pitchFamily="34" charset="0"/>
                      </a:endParaRPr>
                    </a:p>
                  </a:txBody>
                  <a:tcPr marL="9525" marR="9525" marT="9525" marB="0" anchor="b"/>
                </a:tc>
              </a:tr>
            </a:tbl>
          </a:graphicData>
        </a:graphic>
      </p:graphicFrame>
    </p:spTree>
    <p:extLst>
      <p:ext uri="{BB962C8B-B14F-4D97-AF65-F5344CB8AC3E}">
        <p14:creationId xmlns:p14="http://schemas.microsoft.com/office/powerpoint/2010/main" val="41444772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Unix File System</a:t>
            </a:r>
            <a:endParaRPr lang="en-IN" dirty="0"/>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16</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sp>
        <p:nvSpPr>
          <p:cNvPr id="7" name="Content Placeholder 5"/>
          <p:cNvSpPr>
            <a:spLocks noGrp="1"/>
          </p:cNvSpPr>
          <p:nvPr>
            <p:ph idx="1"/>
          </p:nvPr>
        </p:nvSpPr>
        <p:spPr>
          <a:xfrm>
            <a:off x="528357" y="1648460"/>
            <a:ext cx="8761412" cy="3416300"/>
          </a:xfrm>
        </p:spPr>
        <p:txBody>
          <a:bodyPr/>
          <a:lstStyle/>
          <a:p>
            <a:r>
              <a:rPr lang="en-IN" dirty="0"/>
              <a:t>Everything in UNIX is either a file or a process. </a:t>
            </a:r>
            <a:endParaRPr lang="en-IN" dirty="0" smtClean="0"/>
          </a:p>
          <a:p>
            <a:pPr lvl="1"/>
            <a:r>
              <a:rPr lang="en-IN" dirty="0"/>
              <a:t>A process is an executing program identified by a unique </a:t>
            </a:r>
            <a:r>
              <a:rPr lang="en-IN" dirty="0" smtClean="0"/>
              <a:t>PID</a:t>
            </a:r>
          </a:p>
          <a:p>
            <a:pPr lvl="1"/>
            <a:r>
              <a:rPr lang="en-IN" dirty="0"/>
              <a:t>A file is a collection of data. They are created by users using text editors, running compilers etc</a:t>
            </a:r>
            <a:r>
              <a:rPr lang="en-IN" dirty="0" smtClean="0"/>
              <a:t>. (Directory is also a file)</a:t>
            </a:r>
          </a:p>
          <a:p>
            <a:r>
              <a:rPr lang="en-IN" dirty="0"/>
              <a:t>All the files are grouped together in the directory </a:t>
            </a:r>
            <a:r>
              <a:rPr lang="en-US" dirty="0" smtClean="0"/>
              <a:t>Structure</a:t>
            </a:r>
          </a:p>
          <a:p>
            <a:r>
              <a:rPr lang="en-IN" dirty="0"/>
              <a:t>The top of the hierarchy is traditionally </a:t>
            </a:r>
            <a:r>
              <a:rPr lang="en-IN"/>
              <a:t>called </a:t>
            </a:r>
            <a:r>
              <a:rPr lang="en-IN" b="1" smtClean="0"/>
              <a:t>root.</a:t>
            </a:r>
          </a:p>
          <a:p>
            <a:endParaRPr lang="en-US" dirty="0" smtClean="0"/>
          </a:p>
          <a:p>
            <a:pPr marL="0" indent="0">
              <a:buNone/>
            </a:pPr>
            <a:endParaRPr lang="en-IN" dirty="0"/>
          </a:p>
        </p:txBody>
      </p:sp>
      <p:pic>
        <p:nvPicPr>
          <p:cNvPr id="3074" name="Picture 2" descr="http://www.ee.surrey.ac.uk/Teaching/Unix/media/unix-tree.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54849" y="3559809"/>
            <a:ext cx="5334000" cy="30099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1394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File </a:t>
            </a:r>
            <a:r>
              <a:rPr lang="en-IN" dirty="0" smtClean="0"/>
              <a:t>Types</a:t>
            </a:r>
            <a:endParaRPr lang="en-IN" dirty="0"/>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17</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sp>
        <p:nvSpPr>
          <p:cNvPr id="7" name="Content Placeholder 5"/>
          <p:cNvSpPr>
            <a:spLocks noGrp="1"/>
          </p:cNvSpPr>
          <p:nvPr>
            <p:ph idx="1"/>
          </p:nvPr>
        </p:nvSpPr>
        <p:spPr>
          <a:xfrm>
            <a:off x="528357" y="1648460"/>
            <a:ext cx="8761412" cy="3416300"/>
          </a:xfrm>
        </p:spPr>
        <p:txBody>
          <a:bodyPr/>
          <a:lstStyle/>
          <a:p>
            <a:r>
              <a:rPr lang="en-US" dirty="0" smtClean="0"/>
              <a:t>Different types of files</a:t>
            </a:r>
          </a:p>
          <a:p>
            <a:pPr lvl="1"/>
            <a:r>
              <a:rPr lang="en-IN" dirty="0"/>
              <a:t>Ordinary or Regular </a:t>
            </a:r>
            <a:r>
              <a:rPr lang="en-IN" dirty="0" smtClean="0"/>
              <a:t>Files</a:t>
            </a:r>
          </a:p>
          <a:p>
            <a:pPr lvl="1"/>
            <a:r>
              <a:rPr lang="en-IN" dirty="0" smtClean="0"/>
              <a:t>Directories</a:t>
            </a:r>
          </a:p>
          <a:p>
            <a:pPr lvl="1"/>
            <a:r>
              <a:rPr lang="en-IN" dirty="0" smtClean="0"/>
              <a:t>Device </a:t>
            </a:r>
            <a:r>
              <a:rPr lang="en-IN" dirty="0"/>
              <a:t>(Special) </a:t>
            </a:r>
            <a:r>
              <a:rPr lang="en-IN" dirty="0" smtClean="0"/>
              <a:t>Files</a:t>
            </a:r>
          </a:p>
          <a:p>
            <a:pPr lvl="1"/>
            <a:r>
              <a:rPr lang="en-IN" dirty="0" smtClean="0"/>
              <a:t>Links</a:t>
            </a:r>
          </a:p>
          <a:p>
            <a:pPr lvl="1"/>
            <a:r>
              <a:rPr lang="en-IN" dirty="0"/>
              <a:t>Named </a:t>
            </a:r>
            <a:r>
              <a:rPr lang="en-IN" dirty="0" smtClean="0"/>
              <a:t>Pipes</a:t>
            </a:r>
          </a:p>
          <a:p>
            <a:pPr lvl="1"/>
            <a:r>
              <a:rPr lang="en-IN" dirty="0"/>
              <a:t>Sockets</a:t>
            </a:r>
            <a:endParaRPr lang="en-US" dirty="0" smtClean="0"/>
          </a:p>
          <a:p>
            <a:pPr marL="0" indent="0">
              <a:buNone/>
            </a:pPr>
            <a:endParaRPr lang="en-IN" dirty="0"/>
          </a:p>
        </p:txBody>
      </p:sp>
      <p:pic>
        <p:nvPicPr>
          <p:cNvPr id="5128" name="Picture 8" descr="http://www.freeiconspng.com/uploads/yellow-folder-directory-icon-png-10.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020614">
            <a:off x="6229724" y="3435485"/>
            <a:ext cx="634056" cy="634056"/>
          </a:xfrm>
          <a:prstGeom prst="rect">
            <a:avLst/>
          </a:prstGeom>
          <a:noFill/>
          <a:extLst>
            <a:ext uri="{909E8E84-426E-40DD-AFC4-6F175D3DCCD1}">
              <a14:hiddenFill xmlns:a14="http://schemas.microsoft.com/office/drawing/2010/main">
                <a:solidFill>
                  <a:srgbClr val="FFFFFF"/>
                </a:solidFill>
              </a14:hiddenFill>
            </a:ext>
          </a:extLst>
        </p:spPr>
      </p:pic>
      <p:pic>
        <p:nvPicPr>
          <p:cNvPr id="5132" name="Picture 12" descr="http://www.freeiconspng.com/uploads/document-extension-file-file-format-filename-text-txt-icon--20.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18585254">
            <a:off x="5324039" y="2370995"/>
            <a:ext cx="686636" cy="686636"/>
          </a:xfrm>
          <a:prstGeom prst="rect">
            <a:avLst/>
          </a:prstGeom>
          <a:noFill/>
          <a:extLst>
            <a:ext uri="{909E8E84-426E-40DD-AFC4-6F175D3DCCD1}">
              <a14:hiddenFill xmlns:a14="http://schemas.microsoft.com/office/drawing/2010/main">
                <a:solidFill>
                  <a:srgbClr val="FFFFFF"/>
                </a:solidFill>
              </a14:hiddenFill>
            </a:ext>
          </a:extLst>
        </p:spPr>
      </p:pic>
      <p:pic>
        <p:nvPicPr>
          <p:cNvPr id="5136" name="Picture 16" descr="https://www.fundrecs.com/img/CSV.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1220405">
            <a:off x="6128025" y="1617390"/>
            <a:ext cx="671455" cy="6714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50456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Vi Editor</a:t>
            </a:r>
            <a:endParaRPr lang="en-IN" dirty="0"/>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18</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sp>
        <p:nvSpPr>
          <p:cNvPr id="7" name="Content Placeholder 5"/>
          <p:cNvSpPr>
            <a:spLocks noGrp="1"/>
          </p:cNvSpPr>
          <p:nvPr>
            <p:ph idx="1"/>
          </p:nvPr>
        </p:nvSpPr>
        <p:spPr>
          <a:xfrm>
            <a:off x="528357" y="1648460"/>
            <a:ext cx="8761412" cy="3416300"/>
          </a:xfrm>
        </p:spPr>
        <p:txBody>
          <a:bodyPr/>
          <a:lstStyle/>
          <a:p>
            <a:endParaRPr lang="en-US" dirty="0" smtClean="0"/>
          </a:p>
          <a:p>
            <a:pPr marL="0" indent="0">
              <a:buNone/>
            </a:pPr>
            <a:endParaRPr lang="en-IN" dirty="0"/>
          </a:p>
        </p:txBody>
      </p:sp>
    </p:spTree>
    <p:extLst>
      <p:ext uri="{BB962C8B-B14F-4D97-AF65-F5344CB8AC3E}">
        <p14:creationId xmlns:p14="http://schemas.microsoft.com/office/powerpoint/2010/main" val="34017677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solidFill>
                  <a:srgbClr val="0E5580"/>
                </a:solidFill>
              </a:rPr>
              <a:pPr/>
              <a:t>19</a:t>
            </a:fld>
            <a:endParaRPr lang="en-US" dirty="0">
              <a:solidFill>
                <a:srgbClr val="0E5580"/>
              </a:solidFill>
            </a:endParaRPr>
          </a:p>
        </p:txBody>
      </p:sp>
      <p:sp>
        <p:nvSpPr>
          <p:cNvPr id="3" name="Rectangle 2"/>
          <p:cNvSpPr/>
          <p:nvPr/>
        </p:nvSpPr>
        <p:spPr>
          <a:xfrm>
            <a:off x="464457" y="295729"/>
            <a:ext cx="9550400" cy="5161642"/>
          </a:xfrm>
          <a:prstGeom prst="rect">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200" dirty="0"/>
              <a:t>Unix Commands</a:t>
            </a:r>
          </a:p>
        </p:txBody>
      </p:sp>
    </p:spTree>
    <p:extLst>
      <p:ext uri="{BB962C8B-B14F-4D97-AF65-F5344CB8AC3E}">
        <p14:creationId xmlns:p14="http://schemas.microsoft.com/office/powerpoint/2010/main" val="34102656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Quiz Time</a:t>
            </a:r>
            <a:endParaRPr lang="en-IN" dirty="0"/>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20</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pic>
        <p:nvPicPr>
          <p:cNvPr id="7170" name="Picture 2" descr="http://blogs.adobe.com/captivate/files/2011/05/Assessment-SB-Template.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97255" y="1508267"/>
            <a:ext cx="1724025" cy="174342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bwMode="gray">
          <a:xfrm>
            <a:off x="2621280" y="1768335"/>
            <a:ext cx="8209280" cy="1483360"/>
          </a:xfrm>
          <a:prstGeom prst="rect">
            <a:avLst/>
          </a:prstGeom>
        </p:spPr>
        <p:txBody>
          <a:bodyPr vert="horz" wrap="square" lIns="91440" tIns="45720" rIns="91440" bIns="45720" rtlCol="0" anchor="ctr">
            <a:noAutofit/>
          </a:bodyPr>
          <a:lstStyle/>
          <a:p>
            <a:r>
              <a:rPr lang="en-IN" sz="2800" dirty="0">
                <a:latin typeface="Berlin Sans FB Demi" panose="020E0802020502020306" pitchFamily="34" charset="0"/>
              </a:rPr>
              <a:t>How do you get help about the command "</a:t>
            </a:r>
            <a:r>
              <a:rPr lang="en-IN" sz="2800" dirty="0" err="1">
                <a:latin typeface="Berlin Sans FB Demi" panose="020E0802020502020306" pitchFamily="34" charset="0"/>
              </a:rPr>
              <a:t>cp</a:t>
            </a:r>
            <a:r>
              <a:rPr lang="en-IN" sz="2800" dirty="0">
                <a:latin typeface="Berlin Sans FB Demi" panose="020E0802020502020306" pitchFamily="34" charset="0"/>
              </a:rPr>
              <a:t>"? </a:t>
            </a:r>
          </a:p>
        </p:txBody>
      </p:sp>
      <p:pic>
        <p:nvPicPr>
          <p:cNvPr id="7174" name="Picture 6" descr="http://unisci24.com/data_images/wlls/3/180958-answer.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97255" y="4094975"/>
            <a:ext cx="1429385" cy="1427116"/>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p:cNvSpPr txBox="1"/>
          <p:nvPr/>
        </p:nvSpPr>
        <p:spPr bwMode="gray">
          <a:xfrm>
            <a:off x="2621280" y="4038731"/>
            <a:ext cx="8707120" cy="1483360"/>
          </a:xfrm>
          <a:prstGeom prst="rect">
            <a:avLst/>
          </a:prstGeom>
        </p:spPr>
        <p:txBody>
          <a:bodyPr vert="horz" wrap="square" lIns="91440" tIns="45720" rIns="91440" bIns="45720" rtlCol="0" anchor="ctr">
            <a:noAutofit/>
          </a:bodyPr>
          <a:lstStyle/>
          <a:p>
            <a:r>
              <a:rPr lang="en-IN" sz="2800" dirty="0" smtClean="0">
                <a:latin typeface="Berlin Sans FB Demi" panose="020E0802020502020306" pitchFamily="34" charset="0"/>
              </a:rPr>
              <a:t>&gt; man </a:t>
            </a:r>
            <a:r>
              <a:rPr lang="en-IN" sz="2800" dirty="0" err="1" smtClean="0">
                <a:latin typeface="Berlin Sans FB Demi" panose="020E0802020502020306" pitchFamily="34" charset="0"/>
              </a:rPr>
              <a:t>cp</a:t>
            </a:r>
            <a:endParaRPr lang="en-IN" sz="2800" dirty="0">
              <a:latin typeface="Berlin Sans FB Demi" panose="020E0802020502020306" pitchFamily="34" charset="0"/>
            </a:endParaRPr>
          </a:p>
          <a:p>
            <a:r>
              <a:rPr lang="en-IN" sz="2800" dirty="0" smtClean="0">
                <a:latin typeface="Berlin Sans FB Demi" panose="020E0802020502020306" pitchFamily="34" charset="0"/>
              </a:rPr>
              <a:t>  </a:t>
            </a:r>
            <a:endParaRPr lang="en-IN" sz="2800" dirty="0" smtClean="0">
              <a:latin typeface="Berlin Sans FB Demi" panose="020E0802020502020306" pitchFamily="34" charset="0"/>
            </a:endParaRPr>
          </a:p>
        </p:txBody>
      </p:sp>
    </p:spTree>
    <p:extLst>
      <p:ext uri="{BB962C8B-B14F-4D97-AF65-F5344CB8AC3E}">
        <p14:creationId xmlns:p14="http://schemas.microsoft.com/office/powerpoint/2010/main" val="227216656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Commands – UNIX Log In and Out Commands </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21</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graphicFrame>
        <p:nvGraphicFramePr>
          <p:cNvPr id="8" name="Content Placeholder 7"/>
          <p:cNvGraphicFramePr>
            <a:graphicFrameLocks noGrp="1"/>
          </p:cNvGraphicFramePr>
          <p:nvPr>
            <p:ph idx="1"/>
            <p:extLst>
              <p:ext uri="{D42A27DB-BD31-4B8C-83A1-F6EECF244321}">
                <p14:modId xmlns:p14="http://schemas.microsoft.com/office/powerpoint/2010/main" val="2415204245"/>
              </p:ext>
            </p:extLst>
          </p:nvPr>
        </p:nvGraphicFramePr>
        <p:xfrm>
          <a:off x="775063" y="2290356"/>
          <a:ext cx="9483634" cy="3317964"/>
        </p:xfrm>
        <a:graphic>
          <a:graphicData uri="http://schemas.openxmlformats.org/drawingml/2006/table">
            <a:tbl>
              <a:tblPr firstRow="1" firstCol="1" bandRow="1">
                <a:tableStyleId>{5C22544A-7EE6-4342-B048-85BDC9FD1C3A}</a:tableStyleId>
              </a:tblPr>
              <a:tblGrid>
                <a:gridCol w="2292127">
                  <a:extLst>
                    <a:ext uri="{9D8B030D-6E8A-4147-A177-3AD203B41FA5}">
                      <a16:colId xmlns:a16="http://schemas.microsoft.com/office/drawing/2014/main" xmlns="" val="20000"/>
                    </a:ext>
                  </a:extLst>
                </a:gridCol>
                <a:gridCol w="7191507">
                  <a:extLst>
                    <a:ext uri="{9D8B030D-6E8A-4147-A177-3AD203B41FA5}">
                      <a16:colId xmlns:a16="http://schemas.microsoft.com/office/drawing/2014/main" xmlns="" val="20001"/>
                    </a:ext>
                  </a:extLst>
                </a:gridCol>
              </a:tblGrid>
              <a:tr h="520599">
                <a:tc>
                  <a:txBody>
                    <a:bodyPr/>
                    <a:lstStyle/>
                    <a:p>
                      <a:pPr>
                        <a:lnSpc>
                          <a:spcPct val="107000"/>
                        </a:lnSpc>
                        <a:spcAft>
                          <a:spcPts val="600"/>
                        </a:spcAft>
                      </a:pPr>
                      <a:r>
                        <a:rPr lang="en-IN" sz="1050" dirty="0">
                          <a:effectLst/>
                        </a:rPr>
                        <a:t>Command</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nSpc>
                          <a:spcPct val="107000"/>
                        </a:lnSpc>
                        <a:spcAft>
                          <a:spcPts val="600"/>
                        </a:spcAft>
                      </a:pPr>
                      <a:r>
                        <a:rPr lang="en-IN" sz="1050">
                          <a:effectLst/>
                        </a:rPr>
                        <a:t>Description</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xmlns="" val="10000"/>
                  </a:ext>
                </a:extLst>
              </a:tr>
              <a:tr h="559473">
                <a:tc>
                  <a:txBody>
                    <a:bodyPr/>
                    <a:lstStyle/>
                    <a:p>
                      <a:pPr>
                        <a:lnSpc>
                          <a:spcPct val="107000"/>
                        </a:lnSpc>
                        <a:spcAft>
                          <a:spcPts val="600"/>
                        </a:spcAft>
                      </a:pPr>
                      <a:r>
                        <a:rPr lang="en-IN" sz="1200">
                          <a:effectLst/>
                        </a:rPr>
                        <a:t>login</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nSpc>
                          <a:spcPct val="107000"/>
                        </a:lnSpc>
                        <a:spcAft>
                          <a:spcPts val="600"/>
                        </a:spcAft>
                      </a:pPr>
                      <a:r>
                        <a:rPr lang="en-IN" sz="1200">
                          <a:effectLst/>
                        </a:rPr>
                        <a:t>Logon command</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xmlns="" val="10001"/>
                  </a:ext>
                </a:extLst>
              </a:tr>
              <a:tr h="559473">
                <a:tc>
                  <a:txBody>
                    <a:bodyPr/>
                    <a:lstStyle/>
                    <a:p>
                      <a:pPr>
                        <a:lnSpc>
                          <a:spcPct val="107000"/>
                        </a:lnSpc>
                        <a:spcAft>
                          <a:spcPts val="600"/>
                        </a:spcAft>
                      </a:pPr>
                      <a:r>
                        <a:rPr lang="en-IN" sz="1200" dirty="0">
                          <a:effectLst/>
                        </a:rPr>
                        <a:t>logout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nSpc>
                          <a:spcPct val="107000"/>
                        </a:lnSpc>
                        <a:spcAft>
                          <a:spcPts val="600"/>
                        </a:spcAft>
                      </a:pPr>
                      <a:r>
                        <a:rPr lang="en-IN" sz="1200" dirty="0">
                          <a:effectLst/>
                        </a:rPr>
                        <a:t>Logout command</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xmlns="" val="10002"/>
                  </a:ext>
                </a:extLst>
              </a:tr>
              <a:tr h="559473">
                <a:tc>
                  <a:txBody>
                    <a:bodyPr/>
                    <a:lstStyle/>
                    <a:p>
                      <a:pPr>
                        <a:lnSpc>
                          <a:spcPct val="107000"/>
                        </a:lnSpc>
                        <a:spcAft>
                          <a:spcPts val="600"/>
                        </a:spcAft>
                      </a:pPr>
                      <a:r>
                        <a:rPr lang="en-IN" sz="1200">
                          <a:effectLst/>
                        </a:rPr>
                        <a:t>passwd</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nSpc>
                          <a:spcPct val="107000"/>
                        </a:lnSpc>
                        <a:spcAft>
                          <a:spcPts val="600"/>
                        </a:spcAft>
                      </a:pPr>
                      <a:r>
                        <a:rPr lang="en-IN" sz="1200">
                          <a:effectLst/>
                        </a:rPr>
                        <a:t>Change password</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xmlns="" val="10003"/>
                  </a:ext>
                </a:extLst>
              </a:tr>
              <a:tr h="559473">
                <a:tc>
                  <a:txBody>
                    <a:bodyPr/>
                    <a:lstStyle/>
                    <a:p>
                      <a:pPr>
                        <a:lnSpc>
                          <a:spcPct val="107000"/>
                        </a:lnSpc>
                        <a:spcAft>
                          <a:spcPts val="600"/>
                        </a:spcAft>
                      </a:pPr>
                      <a:r>
                        <a:rPr lang="en-IN" sz="1200">
                          <a:effectLst/>
                        </a:rPr>
                        <a:t>exit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nSpc>
                          <a:spcPct val="107000"/>
                        </a:lnSpc>
                        <a:spcAft>
                          <a:spcPts val="600"/>
                        </a:spcAft>
                      </a:pPr>
                      <a:r>
                        <a:rPr lang="en-IN" sz="1200">
                          <a:effectLst/>
                        </a:rPr>
                        <a:t>Exit the terminal</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xmlns="" val="10004"/>
                  </a:ext>
                </a:extLst>
              </a:tr>
              <a:tr h="559473">
                <a:tc>
                  <a:txBody>
                    <a:bodyPr/>
                    <a:lstStyle/>
                    <a:p>
                      <a:pPr>
                        <a:lnSpc>
                          <a:spcPct val="107000"/>
                        </a:lnSpc>
                        <a:spcAft>
                          <a:spcPts val="600"/>
                        </a:spcAft>
                      </a:pPr>
                      <a:r>
                        <a:rPr lang="en-IN" sz="1200">
                          <a:effectLst/>
                        </a:rPr>
                        <a:t>shutdown</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nSpc>
                          <a:spcPct val="107000"/>
                        </a:lnSpc>
                        <a:spcAft>
                          <a:spcPts val="600"/>
                        </a:spcAft>
                      </a:pPr>
                      <a:r>
                        <a:rPr lang="en-IN" sz="1200" dirty="0">
                          <a:effectLst/>
                        </a:rPr>
                        <a:t>Shutdown the system.</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xmlns="" val="10005"/>
                  </a:ext>
                </a:extLst>
              </a:tr>
            </a:tbl>
          </a:graphicData>
        </a:graphic>
      </p:graphicFrame>
    </p:spTree>
    <p:extLst>
      <p:ext uri="{BB962C8B-B14F-4D97-AF65-F5344CB8AC3E}">
        <p14:creationId xmlns:p14="http://schemas.microsoft.com/office/powerpoint/2010/main" val="41742738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Commands – UNIX Information Command</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22</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3007629635"/>
              </p:ext>
            </p:extLst>
          </p:nvPr>
        </p:nvGraphicFramePr>
        <p:xfrm>
          <a:off x="528357" y="1799449"/>
          <a:ext cx="11113179" cy="3774626"/>
        </p:xfrm>
        <a:graphic>
          <a:graphicData uri="http://schemas.openxmlformats.org/drawingml/2006/table">
            <a:tbl>
              <a:tblPr firstRow="1" firstCol="1" bandRow="1">
                <a:tableStyleId>{7DF18680-E054-41AD-8BC1-D1AEF772440D}</a:tableStyleId>
              </a:tblPr>
              <a:tblGrid>
                <a:gridCol w="3070720">
                  <a:extLst>
                    <a:ext uri="{9D8B030D-6E8A-4147-A177-3AD203B41FA5}">
                      <a16:colId xmlns:a16="http://schemas.microsoft.com/office/drawing/2014/main" xmlns="" val="20000"/>
                    </a:ext>
                  </a:extLst>
                </a:gridCol>
                <a:gridCol w="8042459">
                  <a:extLst>
                    <a:ext uri="{9D8B030D-6E8A-4147-A177-3AD203B41FA5}">
                      <a16:colId xmlns:a16="http://schemas.microsoft.com/office/drawing/2014/main" xmlns="" val="20001"/>
                    </a:ext>
                  </a:extLst>
                </a:gridCol>
              </a:tblGrid>
              <a:tr h="387703">
                <a:tc>
                  <a:txBody>
                    <a:bodyPr/>
                    <a:lstStyle/>
                    <a:p>
                      <a:pPr>
                        <a:lnSpc>
                          <a:spcPct val="107000"/>
                        </a:lnSpc>
                        <a:spcAft>
                          <a:spcPts val="600"/>
                        </a:spcAft>
                      </a:pPr>
                      <a:r>
                        <a:rPr lang="en-IN" sz="1050" dirty="0">
                          <a:effectLst/>
                        </a:rPr>
                        <a:t>Command</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nSpc>
                          <a:spcPct val="107000"/>
                        </a:lnSpc>
                        <a:spcAft>
                          <a:spcPts val="600"/>
                        </a:spcAft>
                      </a:pPr>
                      <a:r>
                        <a:rPr lang="en-IN" sz="1050">
                          <a:effectLst/>
                        </a:rPr>
                        <a:t>Description</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xmlns="" val="10000"/>
                  </a:ext>
                </a:extLst>
              </a:tr>
              <a:tr h="1008894">
                <a:tc>
                  <a:txBody>
                    <a:bodyPr/>
                    <a:lstStyle/>
                    <a:p>
                      <a:pPr>
                        <a:lnSpc>
                          <a:spcPct val="107000"/>
                        </a:lnSpc>
                        <a:spcAft>
                          <a:spcPts val="600"/>
                        </a:spcAft>
                      </a:pPr>
                      <a:r>
                        <a:rPr lang="en-IN" sz="1200" dirty="0">
                          <a:effectLst/>
                        </a:rPr>
                        <a:t>man [-option] [command]</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nSpc>
                          <a:spcPct val="107000"/>
                        </a:lnSpc>
                        <a:spcAft>
                          <a:spcPts val="600"/>
                        </a:spcAft>
                      </a:pPr>
                      <a:r>
                        <a:rPr lang="en-IN" sz="1200" dirty="0">
                          <a:effectLst/>
                        </a:rPr>
                        <a:t>Manual or UNIX help command. The usual quit sequence `q (CR)' can be used to quit long UNIX `man' listings, `(CR)' is used for new `man' pages. During a IBM Telnet session the `Clear-key' is needed for new CMS pages that are not the same as the `man' pages. Otherwise `d', `q' or `Ctrl-c' should work for UNIX like access.</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xmlns="" val="10001"/>
                  </a:ext>
                </a:extLst>
              </a:tr>
              <a:tr h="470263">
                <a:tc>
                  <a:txBody>
                    <a:bodyPr/>
                    <a:lstStyle/>
                    <a:p>
                      <a:pPr>
                        <a:lnSpc>
                          <a:spcPct val="107000"/>
                        </a:lnSpc>
                        <a:spcAft>
                          <a:spcPts val="600"/>
                        </a:spcAft>
                      </a:pPr>
                      <a:r>
                        <a:rPr lang="en-IN" sz="1200">
                          <a:effectLst/>
                        </a:rPr>
                        <a:t>whereis [name]</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nSpc>
                          <a:spcPct val="107000"/>
                        </a:lnSpc>
                        <a:spcAft>
                          <a:spcPts val="600"/>
                        </a:spcAft>
                      </a:pPr>
                      <a:r>
                        <a:rPr lang="en-IN" sz="1200">
                          <a:effectLst/>
                        </a:rPr>
                        <a:t>Locates source for program or command; e.g. `whereis kermit'.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xmlns="" val="10002"/>
                  </a:ext>
                </a:extLst>
              </a:tr>
              <a:tr h="657804">
                <a:tc>
                  <a:txBody>
                    <a:bodyPr/>
                    <a:lstStyle/>
                    <a:p>
                      <a:pPr>
                        <a:lnSpc>
                          <a:spcPct val="107000"/>
                        </a:lnSpc>
                        <a:spcAft>
                          <a:spcPts val="600"/>
                        </a:spcAft>
                      </a:pPr>
                      <a:r>
                        <a:rPr lang="en-IN" sz="1200" dirty="0">
                          <a:effectLst/>
                        </a:rPr>
                        <a:t>which [name] </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nSpc>
                          <a:spcPct val="107000"/>
                        </a:lnSpc>
                        <a:spcAft>
                          <a:spcPts val="600"/>
                        </a:spcAft>
                      </a:pPr>
                      <a:r>
                        <a:rPr lang="en-IN" sz="1200">
                          <a:effectLst/>
                        </a:rPr>
                        <a:t>Tell which version of a program or command will be used in your session in case of multiple copies; e.g. `which cc'.</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xmlns="" val="10003"/>
                  </a:ext>
                </a:extLst>
              </a:tr>
              <a:tr h="416654">
                <a:tc>
                  <a:txBody>
                    <a:bodyPr/>
                    <a:lstStyle/>
                    <a:p>
                      <a:pPr>
                        <a:lnSpc>
                          <a:spcPct val="107000"/>
                        </a:lnSpc>
                        <a:spcAft>
                          <a:spcPts val="600"/>
                        </a:spcAft>
                      </a:pPr>
                      <a:r>
                        <a:rPr lang="en-IN" sz="1200">
                          <a:effectLst/>
                        </a:rPr>
                        <a:t>whatis [command] </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nSpc>
                          <a:spcPct val="107000"/>
                        </a:lnSpc>
                        <a:spcAft>
                          <a:spcPts val="600"/>
                        </a:spcAft>
                      </a:pPr>
                      <a:r>
                        <a:rPr lang="en-IN" sz="1200">
                          <a:effectLst/>
                        </a:rPr>
                        <a:t>Describes the command [command].</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xmlns="" val="10004"/>
                  </a:ext>
                </a:extLst>
              </a:tr>
              <a:tr h="416654">
                <a:tc>
                  <a:txBody>
                    <a:bodyPr/>
                    <a:lstStyle/>
                    <a:p>
                      <a:pPr>
                        <a:lnSpc>
                          <a:spcPct val="107000"/>
                        </a:lnSpc>
                        <a:spcAft>
                          <a:spcPts val="600"/>
                        </a:spcAft>
                      </a:pPr>
                      <a:r>
                        <a:rPr lang="en-IN" sz="1200">
                          <a:effectLst/>
                        </a:rPr>
                        <a:t>whoami</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nSpc>
                          <a:spcPct val="107000"/>
                        </a:lnSpc>
                        <a:spcAft>
                          <a:spcPts val="600"/>
                        </a:spcAft>
                      </a:pPr>
                      <a:r>
                        <a:rPr lang="en-IN" sz="1200">
                          <a:effectLst/>
                        </a:rPr>
                        <a:t>Displays current user id and access.</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xmlns="" val="10005"/>
                  </a:ext>
                </a:extLst>
              </a:tr>
              <a:tr h="416654">
                <a:tc>
                  <a:txBody>
                    <a:bodyPr/>
                    <a:lstStyle/>
                    <a:p>
                      <a:pPr>
                        <a:lnSpc>
                          <a:spcPct val="107000"/>
                        </a:lnSpc>
                        <a:spcAft>
                          <a:spcPts val="600"/>
                        </a:spcAft>
                      </a:pPr>
                      <a:r>
                        <a:rPr lang="en-IN" sz="1200" dirty="0">
                          <a:effectLst/>
                        </a:rPr>
                        <a:t>who</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nSpc>
                          <a:spcPct val="107000"/>
                        </a:lnSpc>
                        <a:spcAft>
                          <a:spcPts val="600"/>
                        </a:spcAft>
                      </a:pPr>
                      <a:r>
                        <a:rPr lang="en-IN" sz="1200" dirty="0">
                          <a:effectLst/>
                        </a:rPr>
                        <a:t> Displays currently logged in users.</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xmlns="" val="10006"/>
                  </a:ext>
                </a:extLst>
              </a:tr>
            </a:tbl>
          </a:graphicData>
        </a:graphic>
      </p:graphicFrame>
    </p:spTree>
    <p:extLst>
      <p:ext uri="{BB962C8B-B14F-4D97-AF65-F5344CB8AC3E}">
        <p14:creationId xmlns:p14="http://schemas.microsoft.com/office/powerpoint/2010/main" val="7958056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Commands – UNIX Directory Commands</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23</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4264663412"/>
              </p:ext>
            </p:extLst>
          </p:nvPr>
        </p:nvGraphicFramePr>
        <p:xfrm>
          <a:off x="528357" y="1558837"/>
          <a:ext cx="11245632" cy="4885503"/>
        </p:xfrm>
        <a:graphic>
          <a:graphicData uri="http://schemas.openxmlformats.org/drawingml/2006/table">
            <a:tbl>
              <a:tblPr firstRow="1" firstCol="1" bandRow="1">
                <a:tableStyleId>{5C22544A-7EE6-4342-B048-85BDC9FD1C3A}</a:tableStyleId>
              </a:tblPr>
              <a:tblGrid>
                <a:gridCol w="2960971">
                  <a:extLst>
                    <a:ext uri="{9D8B030D-6E8A-4147-A177-3AD203B41FA5}">
                      <a16:colId xmlns:a16="http://schemas.microsoft.com/office/drawing/2014/main" xmlns="" val="20000"/>
                    </a:ext>
                  </a:extLst>
                </a:gridCol>
                <a:gridCol w="8284661">
                  <a:extLst>
                    <a:ext uri="{9D8B030D-6E8A-4147-A177-3AD203B41FA5}">
                      <a16:colId xmlns:a16="http://schemas.microsoft.com/office/drawing/2014/main" xmlns="" val="20001"/>
                    </a:ext>
                  </a:extLst>
                </a:gridCol>
              </a:tblGrid>
              <a:tr h="268581">
                <a:tc>
                  <a:txBody>
                    <a:bodyPr/>
                    <a:lstStyle/>
                    <a:p>
                      <a:pPr>
                        <a:lnSpc>
                          <a:spcPct val="107000"/>
                        </a:lnSpc>
                        <a:spcAft>
                          <a:spcPts val="600"/>
                        </a:spcAft>
                      </a:pPr>
                      <a:r>
                        <a:rPr lang="en-IN" sz="1000" dirty="0">
                          <a:effectLst/>
                        </a:rPr>
                        <a:t>Command</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tc>
                  <a:txBody>
                    <a:bodyPr/>
                    <a:lstStyle/>
                    <a:p>
                      <a:pPr>
                        <a:lnSpc>
                          <a:spcPct val="107000"/>
                        </a:lnSpc>
                        <a:spcAft>
                          <a:spcPts val="600"/>
                        </a:spcAft>
                      </a:pPr>
                      <a:r>
                        <a:rPr lang="en-IN" sz="1000">
                          <a:effectLst/>
                        </a:rPr>
                        <a:t>Description</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extLst>
                  <a:ext uri="{0D108BD9-81ED-4DB2-BD59-A6C34878D82A}">
                    <a16:rowId xmlns:a16="http://schemas.microsoft.com/office/drawing/2014/main" xmlns="" val="10000"/>
                  </a:ext>
                </a:extLst>
              </a:tr>
              <a:tr h="428324">
                <a:tc>
                  <a:txBody>
                    <a:bodyPr/>
                    <a:lstStyle/>
                    <a:p>
                      <a:pPr>
                        <a:lnSpc>
                          <a:spcPct val="107000"/>
                        </a:lnSpc>
                        <a:spcAft>
                          <a:spcPts val="600"/>
                        </a:spcAft>
                      </a:pPr>
                      <a:r>
                        <a:rPr lang="en-IN" sz="1000">
                          <a:effectLst/>
                        </a:rPr>
                        <a:t>mkdir [name]</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tc>
                  <a:txBody>
                    <a:bodyPr/>
                    <a:lstStyle/>
                    <a:p>
                      <a:pPr>
                        <a:lnSpc>
                          <a:spcPct val="107000"/>
                        </a:lnSpc>
                        <a:spcAft>
                          <a:spcPts val="600"/>
                        </a:spcAft>
                      </a:pPr>
                      <a:r>
                        <a:rPr lang="en-IN" sz="1000">
                          <a:effectLst/>
                        </a:rPr>
                        <a:t>Makes a directory or file group name [name]; e.g. `mkdir dirpgm' make the directory called `dirpgm'.</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extLst>
                  <a:ext uri="{0D108BD9-81ED-4DB2-BD59-A6C34878D82A}">
                    <a16:rowId xmlns:a16="http://schemas.microsoft.com/office/drawing/2014/main" xmlns="" val="10001"/>
                  </a:ext>
                </a:extLst>
              </a:tr>
              <a:tr h="428324">
                <a:tc>
                  <a:txBody>
                    <a:bodyPr/>
                    <a:lstStyle/>
                    <a:p>
                      <a:pPr>
                        <a:lnSpc>
                          <a:spcPct val="107000"/>
                        </a:lnSpc>
                        <a:spcAft>
                          <a:spcPts val="600"/>
                        </a:spcAft>
                      </a:pPr>
                      <a:r>
                        <a:rPr lang="en-IN" sz="1000" dirty="0" err="1">
                          <a:effectLst/>
                        </a:rPr>
                        <a:t>pushd</a:t>
                      </a:r>
                      <a:r>
                        <a:rPr lang="en-IN" sz="1000" dirty="0">
                          <a:effectLst/>
                        </a:rPr>
                        <a:t> [name]</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tc>
                  <a:txBody>
                    <a:bodyPr/>
                    <a:lstStyle/>
                    <a:p>
                      <a:pPr>
                        <a:lnSpc>
                          <a:spcPct val="107000"/>
                        </a:lnSpc>
                        <a:spcAft>
                          <a:spcPts val="600"/>
                        </a:spcAft>
                      </a:pPr>
                      <a:r>
                        <a:rPr lang="en-IN" sz="1000">
                          <a:effectLst/>
                        </a:rPr>
                        <a:t> Pushes from the working directory to the directory [name] keeping the sequence of directories in a buffer for `popd'.</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extLst>
                  <a:ext uri="{0D108BD9-81ED-4DB2-BD59-A6C34878D82A}">
                    <a16:rowId xmlns:a16="http://schemas.microsoft.com/office/drawing/2014/main" xmlns="" val="10002"/>
                  </a:ext>
                </a:extLst>
              </a:tr>
              <a:tr h="582470">
                <a:tc>
                  <a:txBody>
                    <a:bodyPr/>
                    <a:lstStyle/>
                    <a:p>
                      <a:pPr>
                        <a:lnSpc>
                          <a:spcPct val="107000"/>
                        </a:lnSpc>
                        <a:spcAft>
                          <a:spcPts val="600"/>
                        </a:spcAft>
                      </a:pPr>
                      <a:r>
                        <a:rPr lang="en-IN" sz="1000" dirty="0" err="1">
                          <a:effectLst/>
                        </a:rPr>
                        <a:t>popd</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tc>
                  <a:txBody>
                    <a:bodyPr/>
                    <a:lstStyle/>
                    <a:p>
                      <a:pPr>
                        <a:lnSpc>
                          <a:spcPct val="107000"/>
                        </a:lnSpc>
                        <a:spcAft>
                          <a:spcPts val="600"/>
                        </a:spcAft>
                      </a:pPr>
                      <a:r>
                        <a:rPr lang="en-IN" sz="1000">
                          <a:effectLst/>
                        </a:rPr>
                        <a:t>Pops back up to the prior directory, if `pushd' was used before. For this reason, `pushd' and `popd' are more useful than the regular change directory command `cd'.</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extLst>
                  <a:ext uri="{0D108BD9-81ED-4DB2-BD59-A6C34878D82A}">
                    <a16:rowId xmlns:a16="http://schemas.microsoft.com/office/drawing/2014/main" xmlns="" val="10003"/>
                  </a:ext>
                </a:extLst>
              </a:tr>
              <a:tr h="468921">
                <a:tc>
                  <a:txBody>
                    <a:bodyPr/>
                    <a:lstStyle/>
                    <a:p>
                      <a:pPr>
                        <a:lnSpc>
                          <a:spcPct val="107000"/>
                        </a:lnSpc>
                        <a:spcAft>
                          <a:spcPts val="600"/>
                        </a:spcAft>
                      </a:pPr>
                      <a:r>
                        <a:rPr lang="en-IN" sz="1000" dirty="0">
                          <a:effectLst/>
                        </a:rPr>
                        <a:t>cd [directory]</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tc>
                  <a:txBody>
                    <a:bodyPr/>
                    <a:lstStyle/>
                    <a:p>
                      <a:pPr>
                        <a:lnSpc>
                          <a:spcPct val="107000"/>
                        </a:lnSpc>
                        <a:spcAft>
                          <a:spcPts val="600"/>
                        </a:spcAft>
                      </a:pPr>
                      <a:r>
                        <a:rPr lang="en-IN" sz="1000">
                          <a:effectLst/>
                        </a:rPr>
                        <a:t>Changes the working directory to the directory [directory]; you can change it back with `cd' using your own login id; `cd $HOME (CR)' returns the shell back to your home directory. `.' denotes the current directory and `..' denotes the root or parent directory.</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extLst>
                  <a:ext uri="{0D108BD9-81ED-4DB2-BD59-A6C34878D82A}">
                    <a16:rowId xmlns:a16="http://schemas.microsoft.com/office/drawing/2014/main" xmlns="" val="10004"/>
                  </a:ext>
                </a:extLst>
              </a:tr>
              <a:tr h="274179">
                <a:tc>
                  <a:txBody>
                    <a:bodyPr/>
                    <a:lstStyle/>
                    <a:p>
                      <a:pPr>
                        <a:lnSpc>
                          <a:spcPct val="107000"/>
                        </a:lnSpc>
                        <a:spcAft>
                          <a:spcPts val="600"/>
                        </a:spcAft>
                      </a:pPr>
                      <a:r>
                        <a:rPr lang="en-IN" sz="1000" dirty="0">
                          <a:effectLst/>
                        </a:rPr>
                        <a:t>cd ~[user]</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tc>
                  <a:txBody>
                    <a:bodyPr/>
                    <a:lstStyle/>
                    <a:p>
                      <a:pPr>
                        <a:lnSpc>
                          <a:spcPct val="107000"/>
                        </a:lnSpc>
                        <a:spcAft>
                          <a:spcPts val="600"/>
                        </a:spcAft>
                      </a:pPr>
                      <a:r>
                        <a:rPr lang="en-IN" sz="1000">
                          <a:effectLst/>
                        </a:rPr>
                        <a:t>Changes working directory to that of login id `[user]'.</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extLst>
                  <a:ext uri="{0D108BD9-81ED-4DB2-BD59-A6C34878D82A}">
                    <a16:rowId xmlns:a16="http://schemas.microsoft.com/office/drawing/2014/main" xmlns="" val="10005"/>
                  </a:ext>
                </a:extLst>
              </a:tr>
              <a:tr h="274179">
                <a:tc>
                  <a:txBody>
                    <a:bodyPr/>
                    <a:lstStyle/>
                    <a:p>
                      <a:pPr>
                        <a:lnSpc>
                          <a:spcPct val="107000"/>
                        </a:lnSpc>
                        <a:spcAft>
                          <a:spcPts val="600"/>
                        </a:spcAft>
                      </a:pPr>
                      <a:r>
                        <a:rPr lang="en-IN" sz="1000" dirty="0">
                          <a:effectLst/>
                        </a:rPr>
                        <a:t>cd $HOME</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tc>
                  <a:txBody>
                    <a:bodyPr/>
                    <a:lstStyle/>
                    <a:p>
                      <a:pPr>
                        <a:lnSpc>
                          <a:spcPct val="107000"/>
                        </a:lnSpc>
                        <a:spcAft>
                          <a:spcPts val="600"/>
                        </a:spcAft>
                      </a:pPr>
                      <a:r>
                        <a:rPr lang="en-IN" sz="1000" dirty="0">
                          <a:effectLst/>
                        </a:rPr>
                        <a:t>Changes to your home directory.</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extLst>
                  <a:ext uri="{0D108BD9-81ED-4DB2-BD59-A6C34878D82A}">
                    <a16:rowId xmlns:a16="http://schemas.microsoft.com/office/drawing/2014/main" xmlns="" val="10006"/>
                  </a:ext>
                </a:extLst>
              </a:tr>
              <a:tr h="274179">
                <a:tc>
                  <a:txBody>
                    <a:bodyPr/>
                    <a:lstStyle/>
                    <a:p>
                      <a:pPr>
                        <a:lnSpc>
                          <a:spcPct val="107000"/>
                        </a:lnSpc>
                        <a:spcAft>
                          <a:spcPts val="600"/>
                        </a:spcAft>
                      </a:pPr>
                      <a:r>
                        <a:rPr lang="en-IN" sz="1000" dirty="0" err="1">
                          <a:effectLst/>
                        </a:rPr>
                        <a:t>pwd</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tc>
                  <a:txBody>
                    <a:bodyPr/>
                    <a:lstStyle/>
                    <a:p>
                      <a:pPr>
                        <a:lnSpc>
                          <a:spcPct val="107000"/>
                        </a:lnSpc>
                        <a:spcAft>
                          <a:spcPts val="600"/>
                        </a:spcAft>
                      </a:pPr>
                      <a:r>
                        <a:rPr lang="en-IN" sz="1000" dirty="0">
                          <a:effectLst/>
                        </a:rPr>
                        <a:t> Displays present working directory</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extLst>
                  <a:ext uri="{0D108BD9-81ED-4DB2-BD59-A6C34878D82A}">
                    <a16:rowId xmlns:a16="http://schemas.microsoft.com/office/drawing/2014/main" xmlns="" val="10007"/>
                  </a:ext>
                </a:extLst>
              </a:tr>
              <a:tr h="274179">
                <a:tc>
                  <a:txBody>
                    <a:bodyPr/>
                    <a:lstStyle/>
                    <a:p>
                      <a:pPr>
                        <a:lnSpc>
                          <a:spcPct val="107000"/>
                        </a:lnSpc>
                        <a:spcAft>
                          <a:spcPts val="600"/>
                        </a:spcAft>
                      </a:pPr>
                      <a:r>
                        <a:rPr lang="en-IN" sz="1000">
                          <a:effectLst/>
                        </a:rPr>
                        <a:t>ls [directory] </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tc>
                  <a:txBody>
                    <a:bodyPr/>
                    <a:lstStyle/>
                    <a:p>
                      <a:pPr>
                        <a:lnSpc>
                          <a:spcPct val="107000"/>
                        </a:lnSpc>
                        <a:spcAft>
                          <a:spcPts val="600"/>
                        </a:spcAft>
                      </a:pPr>
                      <a:r>
                        <a:rPr lang="en-IN" sz="1000">
                          <a:effectLst/>
                        </a:rPr>
                        <a:t>Displays the contents of the directory `[directory]'.</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extLst>
                  <a:ext uri="{0D108BD9-81ED-4DB2-BD59-A6C34878D82A}">
                    <a16:rowId xmlns:a16="http://schemas.microsoft.com/office/drawing/2014/main" xmlns="" val="10008"/>
                  </a:ext>
                </a:extLst>
              </a:tr>
              <a:tr h="454832">
                <a:tc>
                  <a:txBody>
                    <a:bodyPr/>
                    <a:lstStyle/>
                    <a:p>
                      <a:pPr>
                        <a:lnSpc>
                          <a:spcPct val="107000"/>
                        </a:lnSpc>
                        <a:spcAft>
                          <a:spcPts val="600"/>
                        </a:spcAft>
                      </a:pPr>
                      <a:r>
                        <a:rPr lang="en-IN" sz="1000">
                          <a:effectLst/>
                        </a:rPr>
                        <a:t>mv [file1] ... [fileN] [directory]</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tc>
                  <a:txBody>
                    <a:bodyPr/>
                    <a:lstStyle/>
                    <a:p>
                      <a:pPr>
                        <a:lnSpc>
                          <a:spcPct val="107000"/>
                        </a:lnSpc>
                        <a:spcAft>
                          <a:spcPts val="600"/>
                        </a:spcAft>
                      </a:pPr>
                      <a:r>
                        <a:rPr lang="en-IN" sz="1000">
                          <a:effectLst/>
                        </a:rPr>
                        <a:t>Moves `[file1]', ..., `[fileN]' to directory `[directory]'; e.g. `mv addtwo.* diradd' moves all files with prefix `addtwo.' to the directory `diradd'.</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extLst>
                  <a:ext uri="{0D108BD9-81ED-4DB2-BD59-A6C34878D82A}">
                    <a16:rowId xmlns:a16="http://schemas.microsoft.com/office/drawing/2014/main" xmlns="" val="10009"/>
                  </a:ext>
                </a:extLst>
              </a:tr>
              <a:tr h="454832">
                <a:tc>
                  <a:txBody>
                    <a:bodyPr/>
                    <a:lstStyle/>
                    <a:p>
                      <a:pPr>
                        <a:lnSpc>
                          <a:spcPct val="107000"/>
                        </a:lnSpc>
                        <a:spcAft>
                          <a:spcPts val="600"/>
                        </a:spcAft>
                      </a:pPr>
                      <a:r>
                        <a:rPr lang="en-IN" sz="1000">
                          <a:effectLst/>
                        </a:rPr>
                        <a:t>cp [file1] [directory]/[file2]</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tc>
                  <a:txBody>
                    <a:bodyPr/>
                    <a:lstStyle/>
                    <a:p>
                      <a:pPr>
                        <a:lnSpc>
                          <a:spcPct val="107000"/>
                        </a:lnSpc>
                        <a:spcAft>
                          <a:spcPts val="600"/>
                        </a:spcAft>
                      </a:pPr>
                      <a:r>
                        <a:rPr lang="en-IN" sz="1000">
                          <a:effectLst/>
                        </a:rPr>
                        <a:t>Copies [file1] into [file2] in directory [directory]. `cp [file] . (CR)' copies a file to the current directory using the original name. This format works for `mv' also.</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extLst>
                  <a:ext uri="{0D108BD9-81ED-4DB2-BD59-A6C34878D82A}">
                    <a16:rowId xmlns:a16="http://schemas.microsoft.com/office/drawing/2014/main" xmlns="" val="10010"/>
                  </a:ext>
                </a:extLst>
              </a:tr>
              <a:tr h="274179">
                <a:tc>
                  <a:txBody>
                    <a:bodyPr/>
                    <a:lstStyle/>
                    <a:p>
                      <a:pPr>
                        <a:lnSpc>
                          <a:spcPct val="107000"/>
                        </a:lnSpc>
                        <a:spcAft>
                          <a:spcPts val="600"/>
                        </a:spcAft>
                      </a:pPr>
                      <a:r>
                        <a:rPr lang="en-IN" sz="1000">
                          <a:effectLst/>
                        </a:rPr>
                        <a:t>rmdir</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tc>
                  <a:txBody>
                    <a:bodyPr/>
                    <a:lstStyle/>
                    <a:p>
                      <a:pPr>
                        <a:lnSpc>
                          <a:spcPct val="107000"/>
                        </a:lnSpc>
                        <a:spcAft>
                          <a:spcPts val="600"/>
                        </a:spcAft>
                      </a:pPr>
                      <a:r>
                        <a:rPr lang="en-IN" sz="1000">
                          <a:effectLst/>
                        </a:rPr>
                        <a:t>Removes or erases empty directory. You must first use `rm *' to empty the file.</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extLst>
                  <a:ext uri="{0D108BD9-81ED-4DB2-BD59-A6C34878D82A}">
                    <a16:rowId xmlns:a16="http://schemas.microsoft.com/office/drawing/2014/main" xmlns="" val="10011"/>
                  </a:ext>
                </a:extLst>
              </a:tr>
              <a:tr h="428324">
                <a:tc>
                  <a:txBody>
                    <a:bodyPr/>
                    <a:lstStyle/>
                    <a:p>
                      <a:pPr>
                        <a:lnSpc>
                          <a:spcPct val="107000"/>
                        </a:lnSpc>
                        <a:spcAft>
                          <a:spcPts val="600"/>
                        </a:spcAft>
                      </a:pPr>
                      <a:r>
                        <a:rPr lang="en-IN" sz="1000">
                          <a:effectLst/>
                        </a:rPr>
                        <a:t>rm</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tc>
                  <a:txBody>
                    <a:bodyPr/>
                    <a:lstStyle/>
                    <a:p>
                      <a:pPr>
                        <a:lnSpc>
                          <a:spcPct val="107000"/>
                        </a:lnSpc>
                        <a:spcAft>
                          <a:spcPts val="600"/>
                        </a:spcAft>
                      </a:pPr>
                      <a:r>
                        <a:rPr lang="en-IN" sz="1000" dirty="0">
                          <a:effectLst/>
                        </a:rPr>
                        <a:t>Remove files or directories (options  </a:t>
                      </a:r>
                      <a:r>
                        <a:rPr lang="en-IN" sz="1000" dirty="0" err="1">
                          <a:effectLst/>
                        </a:rPr>
                        <a:t>i</a:t>
                      </a:r>
                      <a:r>
                        <a:rPr lang="en-IN" sz="1000" dirty="0">
                          <a:effectLst/>
                        </a:rPr>
                        <a:t>-interactive, f-force, r-recursive). Be careful while using option force or recursive.</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extLst>
                  <a:ext uri="{0D108BD9-81ED-4DB2-BD59-A6C34878D82A}">
                    <a16:rowId xmlns:a16="http://schemas.microsoft.com/office/drawing/2014/main" xmlns="" val="10012"/>
                  </a:ext>
                </a:extLst>
              </a:tr>
            </a:tbl>
          </a:graphicData>
        </a:graphic>
      </p:graphicFrame>
    </p:spTree>
    <p:extLst>
      <p:ext uri="{BB962C8B-B14F-4D97-AF65-F5344CB8AC3E}">
        <p14:creationId xmlns:p14="http://schemas.microsoft.com/office/powerpoint/2010/main" val="31640994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Commands – UNIX File Commands</a:t>
            </a:r>
            <a:endParaRPr lang="en-IN" b="1" dirty="0"/>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24</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3630496812"/>
              </p:ext>
            </p:extLst>
          </p:nvPr>
        </p:nvGraphicFramePr>
        <p:xfrm>
          <a:off x="629984" y="1495959"/>
          <a:ext cx="11011553" cy="5090223"/>
        </p:xfrm>
        <a:graphic>
          <a:graphicData uri="http://schemas.openxmlformats.org/drawingml/2006/table">
            <a:tbl>
              <a:tblPr firstRow="1" firstCol="1" bandRow="1">
                <a:tableStyleId>{5C22544A-7EE6-4342-B048-85BDC9FD1C3A}</a:tableStyleId>
              </a:tblPr>
              <a:tblGrid>
                <a:gridCol w="2899338">
                  <a:extLst>
                    <a:ext uri="{9D8B030D-6E8A-4147-A177-3AD203B41FA5}">
                      <a16:colId xmlns:a16="http://schemas.microsoft.com/office/drawing/2014/main" xmlns="" val="20000"/>
                    </a:ext>
                  </a:extLst>
                </a:gridCol>
                <a:gridCol w="8112215">
                  <a:extLst>
                    <a:ext uri="{9D8B030D-6E8A-4147-A177-3AD203B41FA5}">
                      <a16:colId xmlns:a16="http://schemas.microsoft.com/office/drawing/2014/main" xmlns="" val="20001"/>
                    </a:ext>
                  </a:extLst>
                </a:gridCol>
              </a:tblGrid>
              <a:tr h="213375">
                <a:tc>
                  <a:txBody>
                    <a:bodyPr/>
                    <a:lstStyle/>
                    <a:p>
                      <a:pPr>
                        <a:lnSpc>
                          <a:spcPct val="107000"/>
                        </a:lnSpc>
                        <a:spcAft>
                          <a:spcPts val="600"/>
                        </a:spcAft>
                      </a:pPr>
                      <a:r>
                        <a:rPr lang="en-IN" sz="1000" dirty="0">
                          <a:effectLst/>
                        </a:rPr>
                        <a:t>Command</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tc>
                  <a:txBody>
                    <a:bodyPr/>
                    <a:lstStyle/>
                    <a:p>
                      <a:pPr>
                        <a:lnSpc>
                          <a:spcPct val="107000"/>
                        </a:lnSpc>
                        <a:spcAft>
                          <a:spcPts val="600"/>
                        </a:spcAft>
                      </a:pPr>
                      <a:r>
                        <a:rPr lang="en-IN" sz="1000">
                          <a:effectLst/>
                        </a:rPr>
                        <a:t>Description</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extLst>
                  <a:ext uri="{0D108BD9-81ED-4DB2-BD59-A6C34878D82A}">
                    <a16:rowId xmlns:a16="http://schemas.microsoft.com/office/drawing/2014/main" xmlns="" val="10000"/>
                  </a:ext>
                </a:extLst>
              </a:tr>
              <a:tr h="217295">
                <a:tc>
                  <a:txBody>
                    <a:bodyPr/>
                    <a:lstStyle/>
                    <a:p>
                      <a:pPr>
                        <a:lnSpc>
                          <a:spcPct val="107000"/>
                        </a:lnSpc>
                        <a:spcAft>
                          <a:spcPts val="600"/>
                        </a:spcAft>
                      </a:pPr>
                      <a:r>
                        <a:rPr lang="en-IN" sz="1000">
                          <a:effectLst/>
                        </a:rPr>
                        <a:t>ls </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tc>
                  <a:txBody>
                    <a:bodyPr/>
                    <a:lstStyle/>
                    <a:p>
                      <a:pPr>
                        <a:lnSpc>
                          <a:spcPct val="107000"/>
                        </a:lnSpc>
                        <a:spcAft>
                          <a:spcPts val="600"/>
                        </a:spcAft>
                      </a:pPr>
                      <a:r>
                        <a:rPr lang="en-IN" sz="1000" dirty="0">
                          <a:effectLst/>
                        </a:rPr>
                        <a:t>Lists sets or files of current user id or current directory.</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extLst>
                  <a:ext uri="{0D108BD9-81ED-4DB2-BD59-A6C34878D82A}">
                    <a16:rowId xmlns:a16="http://schemas.microsoft.com/office/drawing/2014/main" xmlns="" val="10001"/>
                  </a:ext>
                </a:extLst>
              </a:tr>
              <a:tr h="339460">
                <a:tc>
                  <a:txBody>
                    <a:bodyPr/>
                    <a:lstStyle/>
                    <a:p>
                      <a:pPr>
                        <a:lnSpc>
                          <a:spcPct val="107000"/>
                        </a:lnSpc>
                        <a:spcAft>
                          <a:spcPts val="600"/>
                        </a:spcAft>
                      </a:pPr>
                      <a:r>
                        <a:rPr lang="en-IN" sz="1000">
                          <a:effectLst/>
                        </a:rPr>
                        <a:t>ls ~[user]</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tc>
                  <a:txBody>
                    <a:bodyPr/>
                    <a:lstStyle/>
                    <a:p>
                      <a:pPr>
                        <a:lnSpc>
                          <a:spcPct val="107000"/>
                        </a:lnSpc>
                        <a:spcAft>
                          <a:spcPts val="600"/>
                        </a:spcAft>
                      </a:pPr>
                      <a:r>
                        <a:rPr lang="en-IN" sz="1000" dirty="0">
                          <a:effectLst/>
                        </a:rPr>
                        <a:t>Lists files or directories under user/account id `[user]'. Also `ls ~/[directory] (CR)' will list the contents of the directory `[directory]' on the same account.</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extLst>
                  <a:ext uri="{0D108BD9-81ED-4DB2-BD59-A6C34878D82A}">
                    <a16:rowId xmlns:a16="http://schemas.microsoft.com/office/drawing/2014/main" xmlns="" val="10002"/>
                  </a:ext>
                </a:extLst>
              </a:tr>
              <a:tr h="339460">
                <a:tc>
                  <a:txBody>
                    <a:bodyPr/>
                    <a:lstStyle/>
                    <a:p>
                      <a:pPr>
                        <a:lnSpc>
                          <a:spcPct val="107000"/>
                        </a:lnSpc>
                        <a:spcAft>
                          <a:spcPts val="600"/>
                        </a:spcAft>
                      </a:pPr>
                      <a:r>
                        <a:rPr lang="en-IN" sz="1000" dirty="0">
                          <a:effectLst/>
                        </a:rPr>
                        <a:t>ls [string].*</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tc>
                  <a:txBody>
                    <a:bodyPr/>
                    <a:lstStyle/>
                    <a:p>
                      <a:pPr>
                        <a:lnSpc>
                          <a:spcPct val="107000"/>
                        </a:lnSpc>
                        <a:spcAft>
                          <a:spcPts val="600"/>
                        </a:spcAft>
                      </a:pPr>
                      <a:r>
                        <a:rPr lang="en-IN" sz="1000">
                          <a:effectLst/>
                        </a:rPr>
                        <a:t>Lists all current files with prefix [name]. Examples of other forms are `ls *[string] (CR)' or `ls *[string]* (CR)' or `ls *[string1]*[string2]*'.</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extLst>
                  <a:ext uri="{0D108BD9-81ED-4DB2-BD59-A6C34878D82A}">
                    <a16:rowId xmlns:a16="http://schemas.microsoft.com/office/drawing/2014/main" xmlns="" val="10003"/>
                  </a:ext>
                </a:extLst>
              </a:tr>
              <a:tr h="339460">
                <a:tc>
                  <a:txBody>
                    <a:bodyPr/>
                    <a:lstStyle/>
                    <a:p>
                      <a:pPr>
                        <a:lnSpc>
                          <a:spcPct val="107000"/>
                        </a:lnSpc>
                        <a:spcAft>
                          <a:spcPts val="600"/>
                        </a:spcAft>
                      </a:pPr>
                      <a:r>
                        <a:rPr lang="en-IN" sz="1000">
                          <a:effectLst/>
                        </a:rPr>
                        <a:t>cat [file1] ... [fileN] </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tc>
                  <a:txBody>
                    <a:bodyPr/>
                    <a:lstStyle/>
                    <a:p>
                      <a:pPr>
                        <a:lnSpc>
                          <a:spcPct val="107000"/>
                        </a:lnSpc>
                        <a:spcAft>
                          <a:spcPts val="600"/>
                        </a:spcAft>
                      </a:pPr>
                      <a:r>
                        <a:rPr lang="en-IN" sz="1000">
                          <a:effectLst/>
                        </a:rPr>
                        <a:t>Lists content of N (N .le. 1) argument files catenated. Use `cat [file1] ... [fileN] &gt; [fileM],' to catenate and store the N files in `[fileM]'.</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extLst>
                  <a:ext uri="{0D108BD9-81ED-4DB2-BD59-A6C34878D82A}">
                    <a16:rowId xmlns:a16="http://schemas.microsoft.com/office/drawing/2014/main" xmlns="" val="10004"/>
                  </a:ext>
                </a:extLst>
              </a:tr>
              <a:tr h="461622">
                <a:tc>
                  <a:txBody>
                    <a:bodyPr/>
                    <a:lstStyle/>
                    <a:p>
                      <a:pPr>
                        <a:lnSpc>
                          <a:spcPct val="107000"/>
                        </a:lnSpc>
                        <a:spcAft>
                          <a:spcPts val="600"/>
                        </a:spcAft>
                      </a:pPr>
                      <a:r>
                        <a:rPr lang="en-IN" sz="1000">
                          <a:effectLst/>
                        </a:rPr>
                        <a:t>more [file]</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tc>
                  <a:txBody>
                    <a:bodyPr/>
                    <a:lstStyle/>
                    <a:p>
                      <a:pPr>
                        <a:lnSpc>
                          <a:spcPct val="107000"/>
                        </a:lnSpc>
                        <a:spcAft>
                          <a:spcPts val="600"/>
                        </a:spcAft>
                      </a:pPr>
                      <a:r>
                        <a:rPr lang="en-IN" sz="1000" dirty="0">
                          <a:effectLst/>
                        </a:rPr>
                        <a:t>Displays file in half pages of 11 lines; use `q (CR)' for quitting; use `d' for 11 more lines or `u' to go back up 11 more lines; similarly, `f' and `b' produce full pages forward and backwards, respectively; </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extLst>
                  <a:ext uri="{0D108BD9-81ED-4DB2-BD59-A6C34878D82A}">
                    <a16:rowId xmlns:a16="http://schemas.microsoft.com/office/drawing/2014/main" xmlns="" val="10005"/>
                  </a:ext>
                </a:extLst>
              </a:tr>
              <a:tr h="217295">
                <a:tc>
                  <a:txBody>
                    <a:bodyPr/>
                    <a:lstStyle/>
                    <a:p>
                      <a:pPr>
                        <a:lnSpc>
                          <a:spcPct val="107000"/>
                        </a:lnSpc>
                        <a:spcAft>
                          <a:spcPts val="600"/>
                        </a:spcAft>
                      </a:pPr>
                      <a:r>
                        <a:rPr lang="en-IN" sz="1000">
                          <a:effectLst/>
                        </a:rPr>
                        <a:t>cp [file1] [file2]</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tc>
                  <a:txBody>
                    <a:bodyPr/>
                    <a:lstStyle/>
                    <a:p>
                      <a:pPr>
                        <a:lnSpc>
                          <a:spcPct val="107000"/>
                        </a:lnSpc>
                        <a:spcAft>
                          <a:spcPts val="600"/>
                        </a:spcAft>
                      </a:pPr>
                      <a:r>
                        <a:rPr lang="en-IN" sz="1000">
                          <a:effectLst/>
                        </a:rPr>
                        <a:t>Copies file `[file1]' into file `[file2]'.</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extLst>
                  <a:ext uri="{0D108BD9-81ED-4DB2-BD59-A6C34878D82A}">
                    <a16:rowId xmlns:a16="http://schemas.microsoft.com/office/drawing/2014/main" xmlns="" val="10006"/>
                  </a:ext>
                </a:extLst>
              </a:tr>
              <a:tr h="461622">
                <a:tc>
                  <a:txBody>
                    <a:bodyPr/>
                    <a:lstStyle/>
                    <a:p>
                      <a:pPr>
                        <a:lnSpc>
                          <a:spcPct val="107000"/>
                        </a:lnSpc>
                        <a:spcAft>
                          <a:spcPts val="600"/>
                        </a:spcAft>
                      </a:pPr>
                      <a:r>
                        <a:rPr lang="en-IN" sz="1000">
                          <a:effectLst/>
                        </a:rPr>
                        <a:t>rm [file1]</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tc>
                  <a:txBody>
                    <a:bodyPr/>
                    <a:lstStyle/>
                    <a:p>
                      <a:pPr>
                        <a:lnSpc>
                          <a:spcPct val="107000"/>
                        </a:lnSpc>
                        <a:spcAft>
                          <a:spcPts val="600"/>
                        </a:spcAft>
                      </a:pPr>
                      <a:r>
                        <a:rPr lang="en-IN" sz="1000">
                          <a:effectLst/>
                        </a:rPr>
                        <a:t>Erases file `[file1]'; can take several file arguments, with the system asking if you really want to do it, `y' for yes and `n' for no target file `[file2]' already exists to avoid unintentional.</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extLst>
                  <a:ext uri="{0D108BD9-81ED-4DB2-BD59-A6C34878D82A}">
                    <a16:rowId xmlns:a16="http://schemas.microsoft.com/office/drawing/2014/main" xmlns="" val="10007"/>
                  </a:ext>
                </a:extLst>
              </a:tr>
              <a:tr h="217295">
                <a:tc>
                  <a:txBody>
                    <a:bodyPr/>
                    <a:lstStyle/>
                    <a:p>
                      <a:pPr>
                        <a:lnSpc>
                          <a:spcPct val="107000"/>
                        </a:lnSpc>
                        <a:spcAft>
                          <a:spcPts val="600"/>
                        </a:spcAft>
                      </a:pPr>
                      <a:r>
                        <a:rPr lang="en-IN" sz="1000" dirty="0">
                          <a:effectLst/>
                        </a:rPr>
                        <a:t>mv [file1] [file2] </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tc>
                  <a:txBody>
                    <a:bodyPr/>
                    <a:lstStyle/>
                    <a:p>
                      <a:pPr>
                        <a:lnSpc>
                          <a:spcPct val="107000"/>
                        </a:lnSpc>
                        <a:spcAft>
                          <a:spcPts val="600"/>
                        </a:spcAft>
                      </a:pPr>
                      <a:r>
                        <a:rPr lang="en-IN" sz="1000">
                          <a:effectLst/>
                        </a:rPr>
                        <a:t>Renames file `[file1'] as file `[file2]', i.e., moves one file to another.</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extLst>
                  <a:ext uri="{0D108BD9-81ED-4DB2-BD59-A6C34878D82A}">
                    <a16:rowId xmlns:a16="http://schemas.microsoft.com/office/drawing/2014/main" xmlns="" val="10008"/>
                  </a:ext>
                </a:extLst>
              </a:tr>
              <a:tr h="339460">
                <a:tc>
                  <a:txBody>
                    <a:bodyPr/>
                    <a:lstStyle/>
                    <a:p>
                      <a:pPr>
                        <a:lnSpc>
                          <a:spcPct val="107000"/>
                        </a:lnSpc>
                        <a:spcAft>
                          <a:spcPts val="600"/>
                        </a:spcAft>
                      </a:pPr>
                      <a:r>
                        <a:rPr lang="en-IN" sz="1000">
                          <a:effectLst/>
                        </a:rPr>
                        <a:t>grep `[str]' [file1]</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tc>
                  <a:txBody>
                    <a:bodyPr/>
                    <a:lstStyle/>
                    <a:p>
                      <a:pPr>
                        <a:lnSpc>
                          <a:spcPct val="107000"/>
                        </a:lnSpc>
                        <a:spcAft>
                          <a:spcPts val="600"/>
                        </a:spcAft>
                      </a:pPr>
                      <a:r>
                        <a:rPr lang="en-IN" sz="1000">
                          <a:effectLst/>
                        </a:rPr>
                        <a:t>Searches for string [str] in file [file1]. ``cat [file1] [file2] | grep `[string]' (CR)'' searches for the pattern `[string]' in the catenated files.</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extLst>
                  <a:ext uri="{0D108BD9-81ED-4DB2-BD59-A6C34878D82A}">
                    <a16:rowId xmlns:a16="http://schemas.microsoft.com/office/drawing/2014/main" xmlns="" val="10009"/>
                  </a:ext>
                </a:extLst>
              </a:tr>
              <a:tr h="217295">
                <a:tc>
                  <a:txBody>
                    <a:bodyPr/>
                    <a:lstStyle/>
                    <a:p>
                      <a:pPr>
                        <a:lnSpc>
                          <a:spcPct val="107000"/>
                        </a:lnSpc>
                        <a:spcAft>
                          <a:spcPts val="600"/>
                        </a:spcAft>
                      </a:pPr>
                      <a:r>
                        <a:rPr lang="en-IN" sz="1000">
                          <a:effectLst/>
                        </a:rPr>
                        <a:t>diff [file1] [file2]</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tc>
                  <a:txBody>
                    <a:bodyPr/>
                    <a:lstStyle/>
                    <a:p>
                      <a:pPr>
                        <a:lnSpc>
                          <a:spcPct val="107000"/>
                        </a:lnSpc>
                        <a:spcAft>
                          <a:spcPts val="600"/>
                        </a:spcAft>
                      </a:pPr>
                      <a:r>
                        <a:rPr lang="en-IN" sz="1000">
                          <a:effectLst/>
                        </a:rPr>
                        <a:t>Displays the difference between files `[file1]' and `[file2]'.</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extLst>
                  <a:ext uri="{0D108BD9-81ED-4DB2-BD59-A6C34878D82A}">
                    <a16:rowId xmlns:a16="http://schemas.microsoft.com/office/drawing/2014/main" xmlns="" val="10010"/>
                  </a:ext>
                </a:extLst>
              </a:tr>
              <a:tr h="1045409">
                <a:tc>
                  <a:txBody>
                    <a:bodyPr/>
                    <a:lstStyle/>
                    <a:p>
                      <a:pPr>
                        <a:lnSpc>
                          <a:spcPct val="107000"/>
                        </a:lnSpc>
                        <a:spcAft>
                          <a:spcPts val="600"/>
                        </a:spcAft>
                      </a:pPr>
                      <a:r>
                        <a:rPr lang="en-IN" sz="1000" dirty="0" err="1">
                          <a:effectLst/>
                        </a:rPr>
                        <a:t>chmod</a:t>
                      </a:r>
                      <a:r>
                        <a:rPr lang="en-IN" sz="1000" dirty="0">
                          <a:effectLst/>
                        </a:rPr>
                        <a:t> [mode] [file]</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tc>
                  <a:txBody>
                    <a:bodyPr/>
                    <a:lstStyle/>
                    <a:p>
                      <a:pPr>
                        <a:lnSpc>
                          <a:spcPct val="107000"/>
                        </a:lnSpc>
                        <a:spcAft>
                          <a:spcPts val="600"/>
                        </a:spcAft>
                      </a:pPr>
                      <a:r>
                        <a:rPr lang="en-IN" sz="1000" dirty="0">
                          <a:effectLst/>
                        </a:rPr>
                        <a:t>Changes the read, write and execute permissions for the file (or files) `[file]' according to the `[mode]' which has form `[[who] [operator] [permission]]'; `[who]' is `u' for the user, `g' for the defined group', `o' for others and `a' = `</a:t>
                      </a:r>
                      <a:r>
                        <a:rPr lang="en-IN" sz="1000" dirty="0" err="1">
                          <a:effectLst/>
                        </a:rPr>
                        <a:t>ugo</a:t>
                      </a:r>
                      <a:r>
                        <a:rPr lang="en-IN" sz="1000" dirty="0">
                          <a:effectLst/>
                        </a:rPr>
                        <a:t>' for all; `[operator]' is `+' to add and `-' for remove; `[permission]' is `r' for read, `w' for write and `x' for execute; </a:t>
                      </a:r>
                    </a:p>
                    <a:p>
                      <a:pPr>
                        <a:lnSpc>
                          <a:spcPct val="107000"/>
                        </a:lnSpc>
                        <a:spcAft>
                          <a:spcPts val="600"/>
                        </a:spcAft>
                      </a:pPr>
                      <a:r>
                        <a:rPr lang="en-IN" sz="1000" dirty="0">
                          <a:effectLst/>
                        </a:rPr>
                        <a:t>Ex1: </a:t>
                      </a:r>
                      <a:r>
                        <a:rPr lang="en-IN" sz="1000" dirty="0" err="1">
                          <a:effectLst/>
                        </a:rPr>
                        <a:t>chmod</a:t>
                      </a:r>
                      <a:r>
                        <a:rPr lang="en-IN" sz="1000" dirty="0">
                          <a:effectLst/>
                        </a:rPr>
                        <a:t> </a:t>
                      </a:r>
                      <a:r>
                        <a:rPr lang="en-IN" sz="1000" dirty="0" err="1">
                          <a:effectLst/>
                        </a:rPr>
                        <a:t>u+rwx</a:t>
                      </a:r>
                      <a:r>
                        <a:rPr lang="en-IN" sz="1000" dirty="0">
                          <a:effectLst/>
                        </a:rPr>
                        <a:t> filename</a:t>
                      </a:r>
                    </a:p>
                    <a:p>
                      <a:pPr>
                        <a:lnSpc>
                          <a:spcPct val="107000"/>
                        </a:lnSpc>
                        <a:spcAft>
                          <a:spcPts val="600"/>
                        </a:spcAft>
                      </a:pPr>
                      <a:r>
                        <a:rPr lang="en-IN" sz="1000" dirty="0">
                          <a:effectLst/>
                        </a:rPr>
                        <a:t>Ex2: </a:t>
                      </a:r>
                      <a:r>
                        <a:rPr lang="en-IN" sz="1000" dirty="0" err="1">
                          <a:effectLst/>
                        </a:rPr>
                        <a:t>chmod</a:t>
                      </a:r>
                      <a:r>
                        <a:rPr lang="en-IN" sz="1000" dirty="0">
                          <a:effectLst/>
                        </a:rPr>
                        <a:t> 757 filename</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extLst>
                  <a:ext uri="{0D108BD9-81ED-4DB2-BD59-A6C34878D82A}">
                    <a16:rowId xmlns:a16="http://schemas.microsoft.com/office/drawing/2014/main" xmlns="" val="10011"/>
                  </a:ext>
                </a:extLst>
              </a:tr>
              <a:tr h="339460">
                <a:tc>
                  <a:txBody>
                    <a:bodyPr/>
                    <a:lstStyle/>
                    <a:p>
                      <a:pPr>
                        <a:lnSpc>
                          <a:spcPct val="107000"/>
                        </a:lnSpc>
                        <a:spcAft>
                          <a:spcPts val="600"/>
                        </a:spcAft>
                      </a:pPr>
                      <a:r>
                        <a:rPr lang="en-IN" sz="1000">
                          <a:effectLst/>
                        </a:rPr>
                        <a:t>wc filename</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tc>
                  <a:txBody>
                    <a:bodyPr/>
                    <a:lstStyle/>
                    <a:p>
                      <a:pPr>
                        <a:lnSpc>
                          <a:spcPct val="107000"/>
                        </a:lnSpc>
                        <a:spcAft>
                          <a:spcPts val="600"/>
                        </a:spcAft>
                      </a:pPr>
                      <a:r>
                        <a:rPr lang="en-IN" sz="1000">
                          <a:effectLst/>
                        </a:rPr>
                        <a:t>Used to get a count of the total number of lines, words, and characters contained in a file. </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extLst>
                  <a:ext uri="{0D108BD9-81ED-4DB2-BD59-A6C34878D82A}">
                    <a16:rowId xmlns:a16="http://schemas.microsoft.com/office/drawing/2014/main" xmlns="" val="10012"/>
                  </a:ext>
                </a:extLst>
              </a:tr>
              <a:tr h="217295">
                <a:tc>
                  <a:txBody>
                    <a:bodyPr/>
                    <a:lstStyle/>
                    <a:p>
                      <a:pPr>
                        <a:lnSpc>
                          <a:spcPct val="107000"/>
                        </a:lnSpc>
                        <a:spcAft>
                          <a:spcPts val="600"/>
                        </a:spcAft>
                      </a:pPr>
                      <a:r>
                        <a:rPr lang="en-IN" sz="1000">
                          <a:effectLst/>
                        </a:rPr>
                        <a:t>file</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tc>
                  <a:txBody>
                    <a:bodyPr/>
                    <a:lstStyle/>
                    <a:p>
                      <a:pPr>
                        <a:lnSpc>
                          <a:spcPct val="107000"/>
                        </a:lnSpc>
                        <a:spcAft>
                          <a:spcPts val="600"/>
                        </a:spcAft>
                      </a:pPr>
                      <a:r>
                        <a:rPr lang="en-IN" sz="1000" dirty="0">
                          <a:effectLst/>
                        </a:rPr>
                        <a:t>Determines a file type.</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extLst>
                  <a:ext uri="{0D108BD9-81ED-4DB2-BD59-A6C34878D82A}">
                    <a16:rowId xmlns:a16="http://schemas.microsoft.com/office/drawing/2014/main" xmlns="" val="10013"/>
                  </a:ext>
                </a:extLst>
              </a:tr>
            </a:tbl>
          </a:graphicData>
        </a:graphic>
      </p:graphicFrame>
    </p:spTree>
    <p:extLst>
      <p:ext uri="{BB962C8B-B14F-4D97-AF65-F5344CB8AC3E}">
        <p14:creationId xmlns:p14="http://schemas.microsoft.com/office/powerpoint/2010/main" val="19435969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Commands – UNIX Process Commands</a:t>
            </a:r>
            <a:endParaRPr lang="en-IN" b="1" dirty="0"/>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25</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2192892945"/>
              </p:ext>
            </p:extLst>
          </p:nvPr>
        </p:nvGraphicFramePr>
        <p:xfrm>
          <a:off x="528357" y="1461587"/>
          <a:ext cx="10875183" cy="3077202"/>
        </p:xfrm>
        <a:graphic>
          <a:graphicData uri="http://schemas.openxmlformats.org/drawingml/2006/table">
            <a:tbl>
              <a:tblPr firstRow="1" firstCol="1" bandRow="1">
                <a:tableStyleId>{5C22544A-7EE6-4342-B048-85BDC9FD1C3A}</a:tableStyleId>
              </a:tblPr>
              <a:tblGrid>
                <a:gridCol w="3577283">
                  <a:extLst>
                    <a:ext uri="{9D8B030D-6E8A-4147-A177-3AD203B41FA5}">
                      <a16:colId xmlns:a16="http://schemas.microsoft.com/office/drawing/2014/main" xmlns="" val="20000"/>
                    </a:ext>
                  </a:extLst>
                </a:gridCol>
                <a:gridCol w="7297900">
                  <a:extLst>
                    <a:ext uri="{9D8B030D-6E8A-4147-A177-3AD203B41FA5}">
                      <a16:colId xmlns:a16="http://schemas.microsoft.com/office/drawing/2014/main" xmlns="" val="20001"/>
                    </a:ext>
                  </a:extLst>
                </a:gridCol>
              </a:tblGrid>
              <a:tr h="374289">
                <a:tc>
                  <a:txBody>
                    <a:bodyPr/>
                    <a:lstStyle/>
                    <a:p>
                      <a:pPr>
                        <a:lnSpc>
                          <a:spcPct val="107000"/>
                        </a:lnSpc>
                        <a:spcAft>
                          <a:spcPts val="600"/>
                        </a:spcAft>
                      </a:pPr>
                      <a:r>
                        <a:rPr lang="en-IN" sz="1050" dirty="0">
                          <a:effectLst/>
                        </a:rPr>
                        <a:t>Command</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nSpc>
                          <a:spcPct val="107000"/>
                        </a:lnSpc>
                        <a:spcAft>
                          <a:spcPts val="600"/>
                        </a:spcAft>
                      </a:pPr>
                      <a:r>
                        <a:rPr lang="en-IN" sz="1050">
                          <a:effectLst/>
                        </a:rPr>
                        <a:t>Description</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xmlns="" val="10000"/>
                  </a:ext>
                </a:extLst>
              </a:tr>
              <a:tr h="383764">
                <a:tc>
                  <a:txBody>
                    <a:bodyPr/>
                    <a:lstStyle/>
                    <a:p>
                      <a:pPr>
                        <a:lnSpc>
                          <a:spcPct val="107000"/>
                        </a:lnSpc>
                        <a:spcAft>
                          <a:spcPts val="600"/>
                        </a:spcAft>
                      </a:pPr>
                      <a:r>
                        <a:rPr lang="en-IN" sz="1100">
                          <a:effectLst/>
                        </a:rPr>
                        <a:t>jobs – l</a:t>
                      </a:r>
                      <a:endParaRPr lang="en-IN" sz="1100">
                        <a:effectLst/>
                        <a:latin typeface="Calibri" panose="020F0502020204030204" pitchFamily="34" charset="0"/>
                        <a:ea typeface="Times New Roman" panose="02020603050405020304" pitchFamily="18" charset="0"/>
                      </a:endParaRPr>
                    </a:p>
                  </a:txBody>
                  <a:tcPr marL="76200" marR="76200" marT="76200" marB="76200"/>
                </a:tc>
                <a:tc>
                  <a:txBody>
                    <a:bodyPr/>
                    <a:lstStyle/>
                    <a:p>
                      <a:pPr>
                        <a:lnSpc>
                          <a:spcPct val="107000"/>
                        </a:lnSpc>
                        <a:spcAft>
                          <a:spcPts val="600"/>
                        </a:spcAft>
                      </a:pPr>
                      <a:r>
                        <a:rPr lang="en-IN" sz="1100">
                          <a:effectLst/>
                        </a:rPr>
                        <a:t>Display a simple single line with currently active job status.</a:t>
                      </a:r>
                      <a:endParaRPr lang="en-IN" sz="1100">
                        <a:effectLst/>
                        <a:latin typeface="Calibri" panose="020F0502020204030204" pitchFamily="34" charset="0"/>
                        <a:ea typeface="Times New Roman" panose="02020603050405020304" pitchFamily="18" charset="0"/>
                      </a:endParaRPr>
                    </a:p>
                  </a:txBody>
                  <a:tcPr marL="76200" marR="76200" marT="76200" marB="76200"/>
                </a:tc>
                <a:extLst>
                  <a:ext uri="{0D108BD9-81ED-4DB2-BD59-A6C34878D82A}">
                    <a16:rowId xmlns:a16="http://schemas.microsoft.com/office/drawing/2014/main" xmlns="" val="10001"/>
                  </a:ext>
                </a:extLst>
              </a:tr>
              <a:tr h="377636">
                <a:tc>
                  <a:txBody>
                    <a:bodyPr/>
                    <a:lstStyle/>
                    <a:p>
                      <a:pPr>
                        <a:lnSpc>
                          <a:spcPct val="107000"/>
                        </a:lnSpc>
                        <a:spcAft>
                          <a:spcPts val="600"/>
                        </a:spcAft>
                      </a:pPr>
                      <a:r>
                        <a:rPr lang="en-IN" sz="1100" dirty="0" err="1">
                          <a:effectLst/>
                        </a:rPr>
                        <a:t>ps</a:t>
                      </a:r>
                      <a:endParaRPr lang="en-IN" sz="1100" dirty="0">
                        <a:effectLst/>
                      </a:endParaRPr>
                    </a:p>
                  </a:txBody>
                  <a:tcPr marL="76200" marR="76200" marT="76200" marB="76200"/>
                </a:tc>
                <a:tc>
                  <a:txBody>
                    <a:bodyPr/>
                    <a:lstStyle/>
                    <a:p>
                      <a:pPr>
                        <a:lnSpc>
                          <a:spcPct val="107000"/>
                        </a:lnSpc>
                        <a:spcAft>
                          <a:spcPts val="600"/>
                        </a:spcAft>
                      </a:pPr>
                      <a:r>
                        <a:rPr lang="en-IN" sz="1100" dirty="0">
                          <a:effectLst/>
                        </a:rPr>
                        <a:t>Display current process ids (``</a:t>
                      </a:r>
                      <a:r>
                        <a:rPr lang="en-IN" sz="1100" dirty="0" err="1">
                          <a:effectLst/>
                        </a:rPr>
                        <a:t>pid</a:t>
                      </a:r>
                      <a:r>
                        <a:rPr lang="en-IN" sz="1100" dirty="0">
                          <a:effectLst/>
                        </a:rPr>
                        <a:t>'') needed for killing.</a:t>
                      </a:r>
                      <a:endParaRPr lang="en-IN" sz="1100" dirty="0">
                        <a:effectLst/>
                        <a:latin typeface="Calibri" panose="020F0502020204030204" pitchFamily="34" charset="0"/>
                        <a:ea typeface="Times New Roman" panose="02020603050405020304" pitchFamily="18" charset="0"/>
                      </a:endParaRPr>
                    </a:p>
                  </a:txBody>
                  <a:tcPr marL="76200" marR="76200" marT="76200" marB="76200"/>
                </a:tc>
                <a:extLst>
                  <a:ext uri="{0D108BD9-81ED-4DB2-BD59-A6C34878D82A}">
                    <a16:rowId xmlns:a16="http://schemas.microsoft.com/office/drawing/2014/main" xmlns="" val="10002"/>
                  </a:ext>
                </a:extLst>
              </a:tr>
              <a:tr h="452845">
                <a:tc>
                  <a:txBody>
                    <a:bodyPr/>
                    <a:lstStyle/>
                    <a:p>
                      <a:pPr>
                        <a:lnSpc>
                          <a:spcPct val="107000"/>
                        </a:lnSpc>
                        <a:spcAft>
                          <a:spcPts val="600"/>
                        </a:spcAft>
                      </a:pPr>
                      <a:r>
                        <a:rPr lang="en-IN" sz="1100" dirty="0" err="1">
                          <a:effectLst/>
                        </a:rPr>
                        <a:t>ps</a:t>
                      </a:r>
                      <a:r>
                        <a:rPr lang="en-IN" sz="1100" dirty="0">
                          <a:effectLst/>
                        </a:rPr>
                        <a:t> t[N]</a:t>
                      </a:r>
                    </a:p>
                  </a:txBody>
                  <a:tcPr marL="76200" marR="76200" marT="76200" marB="76200"/>
                </a:tc>
                <a:tc>
                  <a:txBody>
                    <a:bodyPr/>
                    <a:lstStyle/>
                    <a:p>
                      <a:pPr>
                        <a:lnSpc>
                          <a:spcPct val="107000"/>
                        </a:lnSpc>
                        <a:spcAft>
                          <a:spcPts val="600"/>
                        </a:spcAft>
                      </a:pPr>
                      <a:r>
                        <a:rPr lang="en-IN" sz="1100">
                          <a:effectLst/>
                        </a:rPr>
                        <a:t>Displays ``pid'' for terminal or tty [N].</a:t>
                      </a:r>
                    </a:p>
                    <a:p>
                      <a:pPr>
                        <a:lnSpc>
                          <a:spcPct val="107000"/>
                        </a:lnSpc>
                        <a:spcAft>
                          <a:spcPts val="600"/>
                        </a:spcAft>
                      </a:pPr>
                      <a:r>
                        <a:rPr lang="en-IN" sz="1100">
                          <a:effectLst/>
                        </a:rPr>
                        <a:t> </a:t>
                      </a:r>
                      <a:endParaRPr lang="en-IN" sz="1100">
                        <a:effectLst/>
                        <a:latin typeface="Calibri" panose="020F0502020204030204" pitchFamily="34" charset="0"/>
                        <a:ea typeface="Times New Roman" panose="02020603050405020304" pitchFamily="18" charset="0"/>
                      </a:endParaRPr>
                    </a:p>
                  </a:txBody>
                  <a:tcPr marL="76200" marR="76200" marT="76200" marB="76200"/>
                </a:tc>
                <a:extLst>
                  <a:ext uri="{0D108BD9-81ED-4DB2-BD59-A6C34878D82A}">
                    <a16:rowId xmlns:a16="http://schemas.microsoft.com/office/drawing/2014/main" xmlns="" val="10003"/>
                  </a:ext>
                </a:extLst>
              </a:tr>
              <a:tr h="327523">
                <a:tc>
                  <a:txBody>
                    <a:bodyPr/>
                    <a:lstStyle/>
                    <a:p>
                      <a:pPr>
                        <a:lnSpc>
                          <a:spcPct val="107000"/>
                        </a:lnSpc>
                        <a:spcAft>
                          <a:spcPts val="600"/>
                        </a:spcAft>
                      </a:pPr>
                      <a:r>
                        <a:rPr lang="en-IN" sz="1100">
                          <a:effectLst/>
                        </a:rPr>
                        <a:t>kill  [pid]</a:t>
                      </a:r>
                    </a:p>
                    <a:p>
                      <a:pPr>
                        <a:lnSpc>
                          <a:spcPct val="107000"/>
                        </a:lnSpc>
                        <a:spcAft>
                          <a:spcPts val="600"/>
                        </a:spcAft>
                      </a:pPr>
                      <a:r>
                        <a:rPr lang="en-IN" sz="1100">
                          <a:effectLst/>
                        </a:rPr>
                        <a:t> </a:t>
                      </a:r>
                      <a:endParaRPr lang="en-IN" sz="1100">
                        <a:effectLst/>
                        <a:latin typeface="Calibri" panose="020F0502020204030204" pitchFamily="34" charset="0"/>
                        <a:ea typeface="Times New Roman" panose="02020603050405020304" pitchFamily="18" charset="0"/>
                      </a:endParaRPr>
                    </a:p>
                  </a:txBody>
                  <a:tcPr marL="76200" marR="76200" marT="76200" marB="76200"/>
                </a:tc>
                <a:tc>
                  <a:txBody>
                    <a:bodyPr/>
                    <a:lstStyle/>
                    <a:p>
                      <a:pPr>
                        <a:lnSpc>
                          <a:spcPct val="107000"/>
                        </a:lnSpc>
                        <a:spcAft>
                          <a:spcPts val="600"/>
                        </a:spcAft>
                      </a:pPr>
                      <a:r>
                        <a:rPr lang="en-IN" sz="1100">
                          <a:effectLst/>
                        </a:rPr>
                        <a:t>Kills a process given by pid.</a:t>
                      </a:r>
                      <a:endParaRPr lang="en-IN" sz="1100">
                        <a:effectLst/>
                        <a:latin typeface="Calibri" panose="020F0502020204030204" pitchFamily="34" charset="0"/>
                        <a:ea typeface="Times New Roman" panose="02020603050405020304" pitchFamily="18" charset="0"/>
                      </a:endParaRPr>
                    </a:p>
                  </a:txBody>
                  <a:tcPr marL="76200" marR="76200" marT="76200" marB="76200"/>
                </a:tc>
                <a:extLst>
                  <a:ext uri="{0D108BD9-81ED-4DB2-BD59-A6C34878D82A}">
                    <a16:rowId xmlns:a16="http://schemas.microsoft.com/office/drawing/2014/main" xmlns="" val="10004"/>
                  </a:ext>
                </a:extLst>
              </a:tr>
              <a:tr h="481002">
                <a:tc>
                  <a:txBody>
                    <a:bodyPr/>
                    <a:lstStyle/>
                    <a:p>
                      <a:pPr>
                        <a:lnSpc>
                          <a:spcPct val="107000"/>
                        </a:lnSpc>
                        <a:spcAft>
                          <a:spcPts val="600"/>
                        </a:spcAft>
                      </a:pPr>
                      <a:r>
                        <a:rPr lang="en-IN" sz="1100">
                          <a:effectLst/>
                        </a:rPr>
                        <a:t>kill -9 [pid]</a:t>
                      </a:r>
                    </a:p>
                    <a:p>
                      <a:pPr>
                        <a:lnSpc>
                          <a:spcPct val="107000"/>
                        </a:lnSpc>
                        <a:spcAft>
                          <a:spcPts val="600"/>
                        </a:spcAft>
                      </a:pPr>
                      <a:r>
                        <a:rPr lang="en-IN" sz="1100">
                          <a:effectLst/>
                        </a:rPr>
                        <a:t> </a:t>
                      </a:r>
                      <a:endParaRPr lang="en-IN" sz="1100">
                        <a:effectLst/>
                        <a:latin typeface="Calibri" panose="020F0502020204030204" pitchFamily="34" charset="0"/>
                        <a:ea typeface="Times New Roman" panose="02020603050405020304" pitchFamily="18" charset="0"/>
                      </a:endParaRPr>
                    </a:p>
                  </a:txBody>
                  <a:tcPr marL="76200" marR="76200" marT="76200" marB="76200"/>
                </a:tc>
                <a:tc>
                  <a:txBody>
                    <a:bodyPr/>
                    <a:lstStyle/>
                    <a:p>
                      <a:pPr>
                        <a:lnSpc>
                          <a:spcPct val="107000"/>
                        </a:lnSpc>
                        <a:spcAft>
                          <a:spcPts val="600"/>
                        </a:spcAft>
                      </a:pPr>
                      <a:r>
                        <a:rPr lang="en-IN" sz="1100" dirty="0">
                          <a:effectLst/>
                        </a:rPr>
                        <a:t>Means a “sure kill”' or “Force Kill” of ``</a:t>
                      </a:r>
                      <a:r>
                        <a:rPr lang="en-IN" sz="1100" dirty="0" err="1">
                          <a:effectLst/>
                        </a:rPr>
                        <a:t>pid</a:t>
                      </a:r>
                      <a:r>
                        <a:rPr lang="en-IN" sz="1100" dirty="0">
                          <a:effectLst/>
                        </a:rPr>
                        <a:t>'' [</a:t>
                      </a:r>
                      <a:r>
                        <a:rPr lang="en-IN" sz="1100" dirty="0" err="1">
                          <a:effectLst/>
                        </a:rPr>
                        <a:t>pid</a:t>
                      </a:r>
                      <a:r>
                        <a:rPr lang="en-IN" sz="1100" dirty="0">
                          <a:effectLst/>
                        </a:rPr>
                        <a:t>]; this becomes necessary when you lose control of a process or have a session aborted.</a:t>
                      </a:r>
                    </a:p>
                    <a:p>
                      <a:pPr>
                        <a:lnSpc>
                          <a:spcPct val="107000"/>
                        </a:lnSpc>
                        <a:spcAft>
                          <a:spcPts val="600"/>
                        </a:spcAft>
                      </a:pPr>
                      <a:r>
                        <a:rPr lang="en-IN" sz="1100" dirty="0">
                          <a:effectLst/>
                        </a:rPr>
                        <a:t> </a:t>
                      </a:r>
                      <a:endParaRPr lang="en-IN" sz="1100" dirty="0">
                        <a:effectLst/>
                        <a:latin typeface="Calibri" panose="020F0502020204030204" pitchFamily="34" charset="0"/>
                        <a:ea typeface="Times New Roman" panose="02020603050405020304" pitchFamily="18" charset="0"/>
                      </a:endParaRPr>
                    </a:p>
                  </a:txBody>
                  <a:tcPr marL="76200" marR="76200" marT="76200" marB="76200"/>
                </a:tc>
                <a:extLst>
                  <a:ext uri="{0D108BD9-81ED-4DB2-BD59-A6C34878D82A}">
                    <a16:rowId xmlns:a16="http://schemas.microsoft.com/office/drawing/2014/main" xmlns="" val="10005"/>
                  </a:ext>
                </a:extLst>
              </a:tr>
            </a:tbl>
          </a:graphicData>
        </a:graphic>
      </p:graphicFrame>
    </p:spTree>
    <p:extLst>
      <p:ext uri="{BB962C8B-B14F-4D97-AF65-F5344CB8AC3E}">
        <p14:creationId xmlns:p14="http://schemas.microsoft.com/office/powerpoint/2010/main" val="8250864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solidFill>
                  <a:srgbClr val="0E5580"/>
                </a:solidFill>
              </a:rPr>
              <a:pPr/>
              <a:t>26</a:t>
            </a:fld>
            <a:endParaRPr lang="en-US" dirty="0">
              <a:solidFill>
                <a:srgbClr val="0E5580"/>
              </a:solidFill>
            </a:endParaRPr>
          </a:p>
        </p:txBody>
      </p:sp>
      <p:sp>
        <p:nvSpPr>
          <p:cNvPr id="3" name="Rectangle 2"/>
          <p:cNvSpPr/>
          <p:nvPr/>
        </p:nvSpPr>
        <p:spPr>
          <a:xfrm>
            <a:off x="464457" y="295729"/>
            <a:ext cx="9550400" cy="5161642"/>
          </a:xfrm>
          <a:prstGeom prst="rect">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200" dirty="0"/>
              <a:t>Thank You</a:t>
            </a:r>
          </a:p>
        </p:txBody>
      </p:sp>
    </p:spTree>
    <p:extLst>
      <p:ext uri="{BB962C8B-B14F-4D97-AF65-F5344CB8AC3E}">
        <p14:creationId xmlns:p14="http://schemas.microsoft.com/office/powerpoint/2010/main" val="11918148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solidFill>
                  <a:srgbClr val="0E5580"/>
                </a:solidFill>
              </a:rPr>
              <a:pPr/>
              <a:t>27</a:t>
            </a:fld>
            <a:endParaRPr lang="en-US" dirty="0">
              <a:solidFill>
                <a:srgbClr val="0E5580"/>
              </a:solidFill>
            </a:endParaRPr>
          </a:p>
        </p:txBody>
      </p:sp>
      <p:sp>
        <p:nvSpPr>
          <p:cNvPr id="3" name="Rectangle 2"/>
          <p:cNvSpPr/>
          <p:nvPr/>
        </p:nvSpPr>
        <p:spPr>
          <a:xfrm>
            <a:off x="464457" y="295729"/>
            <a:ext cx="9550400" cy="5161642"/>
          </a:xfrm>
          <a:prstGeom prst="rect">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200" dirty="0"/>
              <a:t>Appendix</a:t>
            </a:r>
          </a:p>
        </p:txBody>
      </p:sp>
    </p:spTree>
    <p:extLst>
      <p:ext uri="{BB962C8B-B14F-4D97-AF65-F5344CB8AC3E}">
        <p14:creationId xmlns:p14="http://schemas.microsoft.com/office/powerpoint/2010/main" val="24323707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Different types of OS ?</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28</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graphicFrame>
        <p:nvGraphicFramePr>
          <p:cNvPr id="3" name="Content Placeholder 2"/>
          <p:cNvGraphicFramePr>
            <a:graphicFrameLocks noGrp="1"/>
          </p:cNvGraphicFramePr>
          <p:nvPr>
            <p:ph idx="1"/>
            <p:extLst/>
          </p:nvPr>
        </p:nvGraphicFramePr>
        <p:xfrm>
          <a:off x="486191" y="1249326"/>
          <a:ext cx="11244255" cy="5532120"/>
        </p:xfrm>
        <a:graphic>
          <a:graphicData uri="http://schemas.openxmlformats.org/drawingml/2006/table">
            <a:tbl>
              <a:tblPr firstRow="1" bandRow="1">
                <a:tableStyleId>{5C22544A-7EE6-4342-B048-85BDC9FD1C3A}</a:tableStyleId>
              </a:tblPr>
              <a:tblGrid>
                <a:gridCol w="2231069">
                  <a:extLst>
                    <a:ext uri="{9D8B030D-6E8A-4147-A177-3AD203B41FA5}">
                      <a16:colId xmlns:a16="http://schemas.microsoft.com/office/drawing/2014/main" xmlns="" val="20000"/>
                    </a:ext>
                  </a:extLst>
                </a:gridCol>
                <a:gridCol w="2231069">
                  <a:extLst>
                    <a:ext uri="{9D8B030D-6E8A-4147-A177-3AD203B41FA5}">
                      <a16:colId xmlns:a16="http://schemas.microsoft.com/office/drawing/2014/main" xmlns="" val="20001"/>
                    </a:ext>
                  </a:extLst>
                </a:gridCol>
                <a:gridCol w="2231069">
                  <a:extLst>
                    <a:ext uri="{9D8B030D-6E8A-4147-A177-3AD203B41FA5}">
                      <a16:colId xmlns:a16="http://schemas.microsoft.com/office/drawing/2014/main" xmlns="" val="20002"/>
                    </a:ext>
                  </a:extLst>
                </a:gridCol>
                <a:gridCol w="1386117">
                  <a:extLst>
                    <a:ext uri="{9D8B030D-6E8A-4147-A177-3AD203B41FA5}">
                      <a16:colId xmlns:a16="http://schemas.microsoft.com/office/drawing/2014/main" xmlns="" val="20003"/>
                    </a:ext>
                  </a:extLst>
                </a:gridCol>
                <a:gridCol w="3164931">
                  <a:extLst>
                    <a:ext uri="{9D8B030D-6E8A-4147-A177-3AD203B41FA5}">
                      <a16:colId xmlns:a16="http://schemas.microsoft.com/office/drawing/2014/main" xmlns="" val="20004"/>
                    </a:ext>
                  </a:extLst>
                </a:gridCol>
              </a:tblGrid>
              <a:tr h="0">
                <a:tc>
                  <a:txBody>
                    <a:bodyPr/>
                    <a:lstStyle/>
                    <a:p>
                      <a:r>
                        <a:rPr lang="en-IN" dirty="0"/>
                        <a:t>Quality</a:t>
                      </a:r>
                    </a:p>
                  </a:txBody>
                  <a:tcPr/>
                </a:tc>
                <a:tc>
                  <a:txBody>
                    <a:bodyPr/>
                    <a:lstStyle/>
                    <a:p>
                      <a:r>
                        <a:rPr lang="en-IN" dirty="0"/>
                        <a:t>Windows</a:t>
                      </a:r>
                    </a:p>
                  </a:txBody>
                  <a:tcPr/>
                </a:tc>
                <a:tc>
                  <a:txBody>
                    <a:bodyPr/>
                    <a:lstStyle/>
                    <a:p>
                      <a:r>
                        <a:rPr lang="en-IN" dirty="0"/>
                        <a:t>Mac</a:t>
                      </a:r>
                    </a:p>
                  </a:txBody>
                  <a:tcPr/>
                </a:tc>
                <a:tc>
                  <a:txBody>
                    <a:bodyPr/>
                    <a:lstStyle/>
                    <a:p>
                      <a:r>
                        <a:rPr lang="en-IN" dirty="0"/>
                        <a:t>Unix</a:t>
                      </a:r>
                      <a:r>
                        <a:rPr lang="en-IN" baseline="0" dirty="0"/>
                        <a:t> </a:t>
                      </a:r>
                      <a:endParaRPr lang="en-IN" dirty="0"/>
                    </a:p>
                  </a:txBody>
                  <a:tcPr/>
                </a:tc>
                <a:tc>
                  <a:txBody>
                    <a:bodyPr/>
                    <a:lstStyle/>
                    <a:p>
                      <a:r>
                        <a:rPr lang="en-IN" dirty="0"/>
                        <a:t>z/OS</a:t>
                      </a:r>
                    </a:p>
                  </a:txBody>
                  <a:tcPr/>
                </a:tc>
                <a:extLst>
                  <a:ext uri="{0D108BD9-81ED-4DB2-BD59-A6C34878D82A}">
                    <a16:rowId xmlns:a16="http://schemas.microsoft.com/office/drawing/2014/main" xmlns="" val="10000"/>
                  </a:ext>
                </a:extLst>
              </a:tr>
              <a:tr h="370840">
                <a:tc>
                  <a:txBody>
                    <a:bodyPr/>
                    <a:lstStyle/>
                    <a:p>
                      <a:r>
                        <a:rPr lang="en-IN" dirty="0"/>
                        <a:t>User Interface</a:t>
                      </a:r>
                    </a:p>
                  </a:txBody>
                  <a:tcPr/>
                </a:tc>
                <a:tc>
                  <a:txBody>
                    <a:bodyPr/>
                    <a:lstStyle/>
                    <a:p>
                      <a:r>
                        <a:rPr lang="en-IN" sz="1100" dirty="0"/>
                        <a:t>Excellent ( Easy to</a:t>
                      </a:r>
                      <a:r>
                        <a:rPr lang="en-IN" sz="1100" baseline="0" dirty="0"/>
                        <a:t> understand)</a:t>
                      </a:r>
                      <a:endParaRPr lang="en-IN" sz="1100" dirty="0"/>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IN" sz="1100" dirty="0"/>
                        <a:t>Excellent( Easy to</a:t>
                      </a:r>
                      <a:r>
                        <a:rPr lang="en-IN" sz="1100" baseline="0" dirty="0"/>
                        <a:t> understand)</a:t>
                      </a:r>
                      <a:endParaRPr lang="en-IN" sz="1100" dirty="0"/>
                    </a:p>
                    <a:p>
                      <a:endParaRPr lang="en-IN" sz="1100" dirty="0"/>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IN" sz="1100" dirty="0"/>
                        <a:t>Good (Needs</a:t>
                      </a:r>
                      <a:r>
                        <a:rPr lang="en-IN" sz="1100" baseline="0" dirty="0"/>
                        <a:t> some practice </a:t>
                      </a:r>
                      <a:r>
                        <a:rPr lang="en-IN" sz="1100" dirty="0"/>
                        <a:t>to</a:t>
                      </a:r>
                      <a:r>
                        <a:rPr lang="en-IN" sz="1100" baseline="0" dirty="0"/>
                        <a:t> understand)</a:t>
                      </a:r>
                      <a:endParaRPr lang="en-IN" sz="1100" dirty="0"/>
                    </a:p>
                    <a:p>
                      <a:endParaRPr lang="en-IN" sz="1100" dirty="0"/>
                    </a:p>
                  </a:txBody>
                  <a:tcPr/>
                </a:tc>
                <a:tc>
                  <a:txBody>
                    <a:bodyPr/>
                    <a:lstStyle/>
                    <a:p>
                      <a:r>
                        <a:rPr lang="en-IN" sz="1100" dirty="0">
                          <a:solidFill>
                            <a:schemeClr val="tx1"/>
                          </a:solidFill>
                        </a:rPr>
                        <a:t>Medium ( Very difficult</a:t>
                      </a:r>
                      <a:r>
                        <a:rPr lang="en-IN" sz="1100" baseline="0" dirty="0">
                          <a:solidFill>
                            <a:schemeClr val="tx1"/>
                          </a:solidFill>
                        </a:rPr>
                        <a:t> )</a:t>
                      </a:r>
                      <a:endParaRPr lang="en-IN" sz="1100" dirty="0">
                        <a:solidFill>
                          <a:schemeClr val="tx1"/>
                        </a:solidFill>
                      </a:endParaRPr>
                    </a:p>
                  </a:txBody>
                  <a:tcPr/>
                </a:tc>
                <a:extLst>
                  <a:ext uri="{0D108BD9-81ED-4DB2-BD59-A6C34878D82A}">
                    <a16:rowId xmlns:a16="http://schemas.microsoft.com/office/drawing/2014/main" xmlns="" val="10001"/>
                  </a:ext>
                </a:extLst>
              </a:tr>
              <a:tr h="370840">
                <a:tc>
                  <a:txBody>
                    <a:bodyPr/>
                    <a:lstStyle/>
                    <a:p>
                      <a:r>
                        <a:rPr lang="en-IN" dirty="0"/>
                        <a:t>Security</a:t>
                      </a:r>
                    </a:p>
                  </a:txBody>
                  <a:tcPr/>
                </a:tc>
                <a:tc>
                  <a:txBody>
                    <a:bodyPr/>
                    <a:lstStyle/>
                    <a:p>
                      <a:r>
                        <a:rPr lang="en-IN" sz="1100" dirty="0"/>
                        <a:t>Moderate</a:t>
                      </a:r>
                    </a:p>
                  </a:txBody>
                  <a:tcPr/>
                </a:tc>
                <a:tc>
                  <a:txBody>
                    <a:bodyPr/>
                    <a:lstStyle/>
                    <a:p>
                      <a:r>
                        <a:rPr lang="en-IN" sz="1100" dirty="0"/>
                        <a:t>High</a:t>
                      </a:r>
                    </a:p>
                  </a:txBody>
                  <a:tcPr/>
                </a:tc>
                <a:tc>
                  <a:txBody>
                    <a:bodyPr/>
                    <a:lstStyle/>
                    <a:p>
                      <a:r>
                        <a:rPr lang="en-IN" sz="1100" dirty="0"/>
                        <a:t>Highly</a:t>
                      </a:r>
                      <a:r>
                        <a:rPr lang="en-IN" sz="1100" baseline="0" dirty="0"/>
                        <a:t> Secure</a:t>
                      </a:r>
                      <a:endParaRPr lang="en-IN" sz="1100" dirty="0"/>
                    </a:p>
                  </a:txBody>
                  <a:tcPr/>
                </a:tc>
                <a:tc>
                  <a:txBody>
                    <a:bodyPr/>
                    <a:lstStyle/>
                    <a:p>
                      <a:r>
                        <a:rPr lang="en-IN" sz="1100" dirty="0"/>
                        <a:t>Highly Secure</a:t>
                      </a:r>
                    </a:p>
                  </a:txBody>
                  <a:tcPr/>
                </a:tc>
                <a:extLst>
                  <a:ext uri="{0D108BD9-81ED-4DB2-BD59-A6C34878D82A}">
                    <a16:rowId xmlns:a16="http://schemas.microsoft.com/office/drawing/2014/main" xmlns="" val="10002"/>
                  </a:ext>
                </a:extLst>
              </a:tr>
              <a:tr h="370840">
                <a:tc>
                  <a:txBody>
                    <a:bodyPr/>
                    <a:lstStyle/>
                    <a:p>
                      <a:r>
                        <a:rPr lang="en-IN" dirty="0"/>
                        <a:t>Compatibility</a:t>
                      </a:r>
                    </a:p>
                  </a:txBody>
                  <a:tcPr/>
                </a:tc>
                <a:tc>
                  <a:txBody>
                    <a:bodyPr/>
                    <a:lstStyle/>
                    <a:p>
                      <a:r>
                        <a:rPr lang="en-IN" sz="1100" dirty="0"/>
                        <a:t>Runs on any hardware</a:t>
                      </a:r>
                    </a:p>
                  </a:txBody>
                  <a:tcPr/>
                </a:tc>
                <a:tc>
                  <a:txBody>
                    <a:bodyPr/>
                    <a:lstStyle/>
                    <a:p>
                      <a:r>
                        <a:rPr lang="en-IN" sz="1100" dirty="0"/>
                        <a:t>Runs only on Apple</a:t>
                      </a:r>
                    </a:p>
                  </a:txBody>
                  <a:tcPr/>
                </a:tc>
                <a:tc>
                  <a:txBody>
                    <a:bodyPr/>
                    <a:lstStyle/>
                    <a:p>
                      <a:r>
                        <a:rPr lang="en-IN" sz="1100" dirty="0"/>
                        <a:t>Any Hardware</a:t>
                      </a:r>
                    </a:p>
                  </a:txBody>
                  <a:tcPr/>
                </a:tc>
                <a:tc>
                  <a:txBody>
                    <a:bodyPr/>
                    <a:lstStyle/>
                    <a:p>
                      <a:r>
                        <a:rPr lang="en-IN" sz="1100" dirty="0"/>
                        <a:t>Any Hardware</a:t>
                      </a:r>
                    </a:p>
                  </a:txBody>
                  <a:tcPr/>
                </a:tc>
                <a:extLst>
                  <a:ext uri="{0D108BD9-81ED-4DB2-BD59-A6C34878D82A}">
                    <a16:rowId xmlns:a16="http://schemas.microsoft.com/office/drawing/2014/main" xmlns="" val="10003"/>
                  </a:ext>
                </a:extLst>
              </a:tr>
              <a:tr h="370840">
                <a:tc>
                  <a:txBody>
                    <a:bodyPr/>
                    <a:lstStyle/>
                    <a:p>
                      <a:r>
                        <a:rPr lang="en-IN" dirty="0"/>
                        <a:t>Performance</a:t>
                      </a:r>
                    </a:p>
                  </a:txBody>
                  <a:tcPr/>
                </a:tc>
                <a:tc>
                  <a:txBody>
                    <a:bodyPr/>
                    <a:lstStyle/>
                    <a:p>
                      <a:r>
                        <a:rPr lang="en-IN" sz="1100" dirty="0"/>
                        <a:t>Slow( too many apps running)</a:t>
                      </a:r>
                    </a:p>
                  </a:txBody>
                  <a:tcPr/>
                </a:tc>
                <a:tc>
                  <a:txBody>
                    <a:bodyPr/>
                    <a:lstStyle/>
                    <a:p>
                      <a:r>
                        <a:rPr lang="en-IN" sz="1100" dirty="0"/>
                        <a:t>Slow </a:t>
                      </a:r>
                    </a:p>
                  </a:txBody>
                  <a:tcPr/>
                </a:tc>
                <a:tc>
                  <a:txBody>
                    <a:bodyPr/>
                    <a:lstStyle/>
                    <a:p>
                      <a:r>
                        <a:rPr lang="en-IN" sz="1100" dirty="0"/>
                        <a:t>Fast</a:t>
                      </a:r>
                    </a:p>
                  </a:txBody>
                  <a:tcPr/>
                </a:tc>
                <a:tc>
                  <a:txBody>
                    <a:bodyPr/>
                    <a:lstStyle/>
                    <a:p>
                      <a:r>
                        <a:rPr lang="en-IN" sz="1100" dirty="0"/>
                        <a:t>Fastest (z/OS gets extra points for being more scalable. Want to double your transaction throughput? Ask your IBM engineer to switch on more processors and you're away. Nothing else to do. A similar exercise with a UNIX environment will usually involve adding a few more UNIX servers to your cluster.)</a:t>
                      </a:r>
                    </a:p>
                  </a:txBody>
                  <a:tcPr/>
                </a:tc>
                <a:extLst>
                  <a:ext uri="{0D108BD9-81ED-4DB2-BD59-A6C34878D82A}">
                    <a16:rowId xmlns:a16="http://schemas.microsoft.com/office/drawing/2014/main" xmlns="" val="10004"/>
                  </a:ext>
                </a:extLst>
              </a:tr>
              <a:tr h="370840">
                <a:tc>
                  <a:txBody>
                    <a:bodyPr/>
                    <a:lstStyle/>
                    <a:p>
                      <a:r>
                        <a:rPr lang="en-IN" dirty="0"/>
                        <a:t>Reliability</a:t>
                      </a:r>
                    </a:p>
                  </a:txBody>
                  <a:tcPr/>
                </a:tc>
                <a:tc>
                  <a:txBody>
                    <a:bodyPr/>
                    <a:lstStyle/>
                    <a:p>
                      <a:r>
                        <a:rPr lang="en-IN" sz="1100" dirty="0"/>
                        <a:t>Relatively Stable</a:t>
                      </a:r>
                      <a:r>
                        <a:rPr lang="en-IN" sz="1100" baseline="0" dirty="0"/>
                        <a:t> because the application needs to be secure on a regular basis.</a:t>
                      </a:r>
                    </a:p>
                  </a:txBody>
                  <a:tcPr/>
                </a:tc>
                <a:tc>
                  <a:txBody>
                    <a:bodyPr/>
                    <a:lstStyle/>
                    <a:p>
                      <a:r>
                        <a:rPr lang="en-IN" sz="1100" dirty="0"/>
                        <a:t>Better than Win,</a:t>
                      </a:r>
                      <a:r>
                        <a:rPr lang="en-IN" sz="1100" baseline="0" dirty="0"/>
                        <a:t> because of its restriction on hardware. Still apps needs to be updated</a:t>
                      </a:r>
                      <a:endParaRPr lang="en-IN" sz="1100" dirty="0"/>
                    </a:p>
                  </a:txBody>
                  <a:tcPr/>
                </a:tc>
                <a:tc>
                  <a:txBody>
                    <a:bodyPr/>
                    <a:lstStyle/>
                    <a:p>
                      <a:r>
                        <a:rPr lang="en-IN" sz="1100" dirty="0"/>
                        <a:t>Stable,</a:t>
                      </a:r>
                      <a:r>
                        <a:rPr lang="en-IN" sz="1100" baseline="0" dirty="0"/>
                        <a:t> not too many apps running.</a:t>
                      </a:r>
                      <a:endParaRPr lang="en-IN" sz="1100" dirty="0"/>
                    </a:p>
                  </a:txBody>
                  <a:tcPr/>
                </a:tc>
                <a:tc>
                  <a:txBody>
                    <a:bodyPr/>
                    <a:lstStyle/>
                    <a:p>
                      <a:r>
                        <a:rPr lang="en-IN" sz="1100" dirty="0"/>
                        <a:t>Highly stable.</a:t>
                      </a:r>
                      <a:r>
                        <a:rPr lang="en-IN" sz="1100" baseline="0" dirty="0"/>
                        <a:t> </a:t>
                      </a:r>
                      <a:r>
                        <a:rPr lang="en-IN" sz="1100" dirty="0"/>
                        <a:t>IBM proudly states that Mainframes can achieve “five nines” (99.999%) availability, or around 5 minutes unscheduled and scheduled downtime per year.</a:t>
                      </a:r>
                    </a:p>
                  </a:txBody>
                  <a:tcPr/>
                </a:tc>
                <a:extLst>
                  <a:ext uri="{0D108BD9-81ED-4DB2-BD59-A6C34878D82A}">
                    <a16:rowId xmlns:a16="http://schemas.microsoft.com/office/drawing/2014/main" xmlns="" val="10005"/>
                  </a:ext>
                </a:extLst>
              </a:tr>
              <a:tr h="370840">
                <a:tc>
                  <a:txBody>
                    <a:bodyPr/>
                    <a:lstStyle/>
                    <a:p>
                      <a:r>
                        <a:rPr lang="en-IN" dirty="0"/>
                        <a:t>Cost</a:t>
                      </a:r>
                    </a:p>
                  </a:txBody>
                  <a:tcPr/>
                </a:tc>
                <a:tc>
                  <a:txBody>
                    <a:bodyPr/>
                    <a:lstStyle/>
                    <a:p>
                      <a:r>
                        <a:rPr lang="en-IN" sz="1100" baseline="0" dirty="0"/>
                        <a:t>Expensive</a:t>
                      </a:r>
                    </a:p>
                  </a:txBody>
                  <a:tcPr/>
                </a:tc>
                <a:tc>
                  <a:txBody>
                    <a:bodyPr/>
                    <a:lstStyle/>
                    <a:p>
                      <a:r>
                        <a:rPr lang="en-IN" sz="1100" dirty="0"/>
                        <a:t>Expensive</a:t>
                      </a:r>
                    </a:p>
                  </a:txBody>
                  <a:tcPr/>
                </a:tc>
                <a:tc>
                  <a:txBody>
                    <a:bodyPr/>
                    <a:lstStyle/>
                    <a:p>
                      <a:r>
                        <a:rPr lang="en-IN" sz="1100" dirty="0"/>
                        <a:t>Cheapest</a:t>
                      </a:r>
                    </a:p>
                  </a:txBody>
                  <a:tcPr/>
                </a:tc>
                <a:tc>
                  <a:txBody>
                    <a:bodyPr/>
                    <a:lstStyle/>
                    <a:p>
                      <a:r>
                        <a:rPr lang="en-IN" sz="1100" dirty="0"/>
                        <a:t>Most Expensive</a:t>
                      </a:r>
                    </a:p>
                  </a:txBody>
                  <a:tcPr/>
                </a:tc>
                <a:extLst>
                  <a:ext uri="{0D108BD9-81ED-4DB2-BD59-A6C34878D82A}">
                    <a16:rowId xmlns:a16="http://schemas.microsoft.com/office/drawing/2014/main" xmlns="" val="10006"/>
                  </a:ext>
                </a:extLst>
              </a:tr>
              <a:tr h="370840">
                <a:tc>
                  <a:txBody>
                    <a:bodyPr/>
                    <a:lstStyle/>
                    <a:p>
                      <a:r>
                        <a:rPr lang="en-IN" dirty="0"/>
                        <a:t>Customers</a:t>
                      </a:r>
                    </a:p>
                  </a:txBody>
                  <a:tcPr/>
                </a:tc>
                <a:tc>
                  <a:txBody>
                    <a:bodyPr/>
                    <a:lstStyle/>
                    <a:p>
                      <a:r>
                        <a:rPr lang="en-IN" sz="1100" baseline="0" dirty="0"/>
                        <a:t>Laptop and desktops</a:t>
                      </a:r>
                    </a:p>
                  </a:txBody>
                  <a:tcPr/>
                </a:tc>
                <a:tc>
                  <a:txBody>
                    <a:bodyPr/>
                    <a:lstStyle/>
                    <a:p>
                      <a:r>
                        <a:rPr lang="en-IN" sz="1100" dirty="0"/>
                        <a:t>Laptops</a:t>
                      </a:r>
                      <a:r>
                        <a:rPr lang="en-IN" sz="1100" baseline="0" dirty="0"/>
                        <a:t> and desktops</a:t>
                      </a:r>
                      <a:endParaRPr lang="en-IN" sz="1100" dirty="0"/>
                    </a:p>
                  </a:txBody>
                  <a:tcPr/>
                </a:tc>
                <a:tc>
                  <a:txBody>
                    <a:bodyPr/>
                    <a:lstStyle/>
                    <a:p>
                      <a:r>
                        <a:rPr lang="en-IN" sz="1100" dirty="0"/>
                        <a:t>smaller, less critical Mainframe application or servers</a:t>
                      </a:r>
                    </a:p>
                  </a:txBody>
                  <a:tcPr/>
                </a:tc>
                <a:tc>
                  <a:txBody>
                    <a:bodyPr/>
                    <a:lstStyle/>
                    <a:p>
                      <a:r>
                        <a:rPr lang="en-IN" sz="1100" dirty="0"/>
                        <a:t>If you have existing critical Mainframe applications, there are lots of reasons to keep them going. As far as security, reliability and the ability to handle lots of transactions, nothing beats z/OS.</a:t>
                      </a:r>
                    </a:p>
                  </a:txBody>
                  <a:tcPr/>
                </a:tc>
                <a:extLst>
                  <a:ext uri="{0D108BD9-81ED-4DB2-BD59-A6C34878D82A}">
                    <a16:rowId xmlns:a16="http://schemas.microsoft.com/office/drawing/2014/main" xmlns="" val="10007"/>
                  </a:ext>
                </a:extLst>
              </a:tr>
            </a:tbl>
          </a:graphicData>
        </a:graphic>
      </p:graphicFrame>
    </p:spTree>
    <p:extLst>
      <p:ext uri="{BB962C8B-B14F-4D97-AF65-F5344CB8AC3E}">
        <p14:creationId xmlns:p14="http://schemas.microsoft.com/office/powerpoint/2010/main" val="375595972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Custom 2">
      <a:dk1>
        <a:sysClr val="windowText" lastClr="000000"/>
      </a:dk1>
      <a:lt1>
        <a:sysClr val="window" lastClr="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0A3F60"/>
      </a:hlink>
      <a:folHlink>
        <a:srgbClr val="062A40"/>
      </a:folHlink>
    </a:clrScheme>
    <a:fontScheme name="Ion Boardroom">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txDef>
      <a:spPr bwMode="gray"/>
      <a:bodyPr vert="horz" lIns="91440" tIns="45720" rIns="91440" bIns="45720" rtlCol="0" anchor="ctr">
        <a:noAutofit/>
      </a:bodyPr>
      <a:lstStyle>
        <a:defPPr>
          <a:defRPr sz="2000" dirty="0" smtClean="0"/>
        </a:defPPr>
      </a:lstStyle>
    </a:txDef>
  </a:objectDefaults>
  <a:extraClrSchemeLst/>
  <a:extLst>
    <a:ext uri="{05A4C25C-085E-4340-85A3-A5531E510DB2}">
      <thm15:themeFamily xmlns:thm15="http://schemas.microsoft.com/office/thememl/2012/main" name="Ion Boardroom" id="{FC33163D-4339-46B1-8EED-24C834239D99}" vid="{A3AB87EF-B655-4FFF-8D05-F333AD7F278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5534</TotalTime>
  <Words>2361</Words>
  <Application>Microsoft Office PowerPoint</Application>
  <PresentationFormat>Widescreen</PresentationFormat>
  <Paragraphs>408</Paragraphs>
  <Slides>28</Slides>
  <Notes>14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28</vt:i4>
      </vt:variant>
    </vt:vector>
  </HeadingPairs>
  <TitlesOfParts>
    <vt:vector size="35" baseType="lpstr">
      <vt:lpstr>Arial</vt:lpstr>
      <vt:lpstr>Berlin Sans FB Demi</vt:lpstr>
      <vt:lpstr>Calibri</vt:lpstr>
      <vt:lpstr>Century Gothic</vt:lpstr>
      <vt:lpstr>Times New Roman</vt:lpstr>
      <vt:lpstr>Wingdings 3</vt:lpstr>
      <vt:lpstr>Ion Boardroom</vt:lpstr>
      <vt:lpstr> </vt:lpstr>
      <vt:lpstr>PowerPoint Presentation</vt:lpstr>
      <vt:lpstr>What is an OS &amp; why do we need OS?</vt:lpstr>
      <vt:lpstr>Different types of OS</vt:lpstr>
      <vt:lpstr>Quiz Time</vt:lpstr>
      <vt:lpstr>PowerPoint Presentation</vt:lpstr>
      <vt:lpstr>Unix is Everywhere!!!</vt:lpstr>
      <vt:lpstr>Why Unix?</vt:lpstr>
      <vt:lpstr>PowerPoint Presentation</vt:lpstr>
      <vt:lpstr>Quiz Time</vt:lpstr>
      <vt:lpstr>History of Unix?</vt:lpstr>
      <vt:lpstr>Unix System Architecture</vt:lpstr>
      <vt:lpstr>Kernel</vt:lpstr>
      <vt:lpstr>Shell</vt:lpstr>
      <vt:lpstr>Shell Comparison</vt:lpstr>
      <vt:lpstr>Unix File System</vt:lpstr>
      <vt:lpstr>File Types</vt:lpstr>
      <vt:lpstr>Vi Editor</vt:lpstr>
      <vt:lpstr>PowerPoint Presentation</vt:lpstr>
      <vt:lpstr>Quiz Time</vt:lpstr>
      <vt:lpstr>Commands – UNIX Log In and Out Commands </vt:lpstr>
      <vt:lpstr>Commands – UNIX Information Command</vt:lpstr>
      <vt:lpstr>Commands – UNIX Directory Commands</vt:lpstr>
      <vt:lpstr>Commands – UNIX File Commands</vt:lpstr>
      <vt:lpstr>Commands – UNIX Process Commands</vt:lpstr>
      <vt:lpstr>PowerPoint Presentation</vt:lpstr>
      <vt:lpstr>PowerPoint Presentation</vt:lpstr>
      <vt:lpstr>Different types of OS ?</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Tata AIA Analytics Deliverables and Timelines</dc:title>
  <dc:creator>Chitra Chatterjee</dc:creator>
  <cp:lastModifiedBy>Jeewan Kumar</cp:lastModifiedBy>
  <cp:revision>419</cp:revision>
  <dcterms:created xsi:type="dcterms:W3CDTF">2015-08-17T07:42:22Z</dcterms:created>
  <dcterms:modified xsi:type="dcterms:W3CDTF">2016-07-21T08:51:04Z</dcterms:modified>
</cp:coreProperties>
</file>
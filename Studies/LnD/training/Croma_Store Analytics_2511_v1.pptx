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67" r:id="rId2"/>
    <p:sldId id="300" r:id="rId3"/>
    <p:sldId id="276" r:id="rId4"/>
    <p:sldId id="295" r:id="rId5"/>
    <p:sldId id="294" r:id="rId6"/>
    <p:sldId id="269" r:id="rId7"/>
    <p:sldId id="309" r:id="rId8"/>
    <p:sldId id="296" r:id="rId9"/>
    <p:sldId id="287" r:id="rId10"/>
    <p:sldId id="298" r:id="rId11"/>
    <p:sldId id="302" r:id="rId12"/>
    <p:sldId id="293" r:id="rId13"/>
    <p:sldId id="303" r:id="rId14"/>
    <p:sldId id="304" r:id="rId15"/>
    <p:sldId id="289" r:id="rId16"/>
    <p:sldId id="285" r:id="rId17"/>
    <p:sldId id="286" r:id="rId18"/>
    <p:sldId id="283" r:id="rId19"/>
    <p:sldId id="272" r:id="rId20"/>
    <p:sldId id="305" r:id="rId21"/>
    <p:sldId id="306" r:id="rId22"/>
    <p:sldId id="307" r:id="rId23"/>
    <p:sldId id="290" r:id="rId24"/>
    <p:sldId id="301" r:id="rId25"/>
    <p:sldId id="308"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 R Ganesh" initials="CRG" lastIdx="1" clrIdx="0">
    <p:extLst>
      <p:ext uri="{19B8F6BF-5375-455C-9EA6-DF929625EA0E}">
        <p15:presenceInfo xmlns:p15="http://schemas.microsoft.com/office/powerpoint/2012/main" userId="S-1-5-21-3281827071-765376219-1973152064-118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2A40"/>
    <a:srgbClr val="5AA0F5"/>
    <a:srgbClr val="A4CBFA"/>
    <a:srgbClr val="E3EFC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551870411178677E-2"/>
          <c:y val="4.841243617638074E-2"/>
          <c:w val="0.8736778439612225"/>
          <c:h val="0.60435382546876726"/>
        </c:manualLayout>
      </c:layout>
      <c:barChart>
        <c:barDir val="col"/>
        <c:grouping val="clustered"/>
        <c:varyColors val="0"/>
        <c:ser>
          <c:idx val="0"/>
          <c:order val="0"/>
          <c:tx>
            <c:strRef>
              <c:f>Sheet1!$B$1</c:f>
              <c:strCache>
                <c:ptCount val="1"/>
                <c:pt idx="0">
                  <c:v>High</c:v>
                </c:pt>
              </c:strCache>
            </c:strRef>
          </c:tx>
          <c:spPr>
            <a:solidFill>
              <a:schemeClr val="accent1"/>
            </a:solidFill>
            <a:ln>
              <a:noFill/>
            </a:ln>
            <a:effectLst/>
          </c:spPr>
          <c:invertIfNegative val="0"/>
          <c:dLbls>
            <c:numFmt formatCode="&quot;₹&quot;\ #,##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Avg. Ticket Size - Auto Loan</c:v>
                </c:pt>
              </c:strCache>
            </c:strRef>
          </c:cat>
          <c:val>
            <c:numRef>
              <c:f>Sheet1!$B$2</c:f>
              <c:numCache>
                <c:formatCode>General</c:formatCode>
                <c:ptCount val="1"/>
                <c:pt idx="0">
                  <c:v>636566.36846824037</c:v>
                </c:pt>
              </c:numCache>
            </c:numRef>
          </c:val>
        </c:ser>
        <c:ser>
          <c:idx val="1"/>
          <c:order val="1"/>
          <c:tx>
            <c:strRef>
              <c:f>Sheet1!$C$1</c:f>
              <c:strCache>
                <c:ptCount val="1"/>
                <c:pt idx="0">
                  <c:v>Med-Low</c:v>
                </c:pt>
              </c:strCache>
            </c:strRef>
          </c:tx>
          <c:spPr>
            <a:solidFill>
              <a:schemeClr val="accent2"/>
            </a:solidFill>
            <a:ln>
              <a:noFill/>
            </a:ln>
            <a:effectLst/>
          </c:spPr>
          <c:invertIfNegative val="0"/>
          <c:dLbls>
            <c:numFmt formatCode="&quot;₹&quot;\ #,##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Avg. Ticket Size - Auto Loan</c:v>
                </c:pt>
              </c:strCache>
            </c:strRef>
          </c:cat>
          <c:val>
            <c:numRef>
              <c:f>Sheet1!$C$2</c:f>
              <c:numCache>
                <c:formatCode>General</c:formatCode>
                <c:ptCount val="1"/>
                <c:pt idx="0">
                  <c:v>401723.61195721774</c:v>
                </c:pt>
              </c:numCache>
            </c:numRef>
          </c:val>
        </c:ser>
        <c:dLbls>
          <c:dLblPos val="outEnd"/>
          <c:showLegendKey val="0"/>
          <c:showVal val="1"/>
          <c:showCatName val="0"/>
          <c:showSerName val="0"/>
          <c:showPercent val="0"/>
          <c:showBubbleSize val="0"/>
        </c:dLbls>
        <c:gapWidth val="219"/>
        <c:overlap val="-27"/>
        <c:axId val="764089184"/>
        <c:axId val="764083200"/>
      </c:barChart>
      <c:catAx>
        <c:axId val="7640891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64083200"/>
        <c:crosses val="autoZero"/>
        <c:auto val="1"/>
        <c:lblAlgn val="ctr"/>
        <c:lblOffset val="100"/>
        <c:noMultiLvlLbl val="0"/>
      </c:catAx>
      <c:valAx>
        <c:axId val="764083200"/>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64089184"/>
        <c:crosses val="autoZero"/>
        <c:crossBetween val="between"/>
        <c:dispUnits>
          <c:builtInUnit val="hundredThousands"/>
        </c:dispUnits>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solidFill>
        <a:srgbClr val="072A40"/>
      </a:solid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High</c:v>
                </c:pt>
              </c:strCache>
            </c:strRef>
          </c:tx>
          <c:spPr>
            <a:solidFill>
              <a:schemeClr val="accent1"/>
            </a:solidFill>
            <a:ln>
              <a:noFill/>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Avg. Number of Borrowers</c:v>
                </c:pt>
              </c:strCache>
            </c:strRef>
          </c:cat>
          <c:val>
            <c:numRef>
              <c:f>Sheet1!$B$2</c:f>
              <c:numCache>
                <c:formatCode>0.00</c:formatCode>
                <c:ptCount val="1"/>
                <c:pt idx="0">
                  <c:v>26921.590361445782</c:v>
                </c:pt>
              </c:numCache>
            </c:numRef>
          </c:val>
        </c:ser>
        <c:ser>
          <c:idx val="1"/>
          <c:order val="1"/>
          <c:tx>
            <c:strRef>
              <c:f>Sheet1!$C$1</c:f>
              <c:strCache>
                <c:ptCount val="1"/>
                <c:pt idx="0">
                  <c:v>Med-Low</c:v>
                </c:pt>
              </c:strCache>
            </c:strRef>
          </c:tx>
          <c:spPr>
            <a:solidFill>
              <a:schemeClr val="accent2"/>
            </a:solidFill>
            <a:ln>
              <a:noFill/>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Avg. Number of Borrowers</c:v>
                </c:pt>
              </c:strCache>
            </c:strRef>
          </c:cat>
          <c:val>
            <c:numRef>
              <c:f>Sheet1!$C$2</c:f>
              <c:numCache>
                <c:formatCode>0.00</c:formatCode>
                <c:ptCount val="1"/>
                <c:pt idx="0">
                  <c:v>13184.952380952382</c:v>
                </c:pt>
              </c:numCache>
            </c:numRef>
          </c:val>
        </c:ser>
        <c:dLbls>
          <c:dLblPos val="outEnd"/>
          <c:showLegendKey val="0"/>
          <c:showVal val="1"/>
          <c:showCatName val="0"/>
          <c:showSerName val="0"/>
          <c:showPercent val="0"/>
          <c:showBubbleSize val="0"/>
        </c:dLbls>
        <c:gapWidth val="219"/>
        <c:overlap val="-27"/>
        <c:axId val="765505648"/>
        <c:axId val="765509456"/>
      </c:barChart>
      <c:catAx>
        <c:axId val="7655056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65509456"/>
        <c:crosses val="autoZero"/>
        <c:auto val="1"/>
        <c:lblAlgn val="ctr"/>
        <c:lblOffset val="100"/>
        <c:noMultiLvlLbl val="0"/>
      </c:catAx>
      <c:valAx>
        <c:axId val="765509456"/>
        <c:scaling>
          <c:orientation val="minMax"/>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65505648"/>
        <c:crosses val="autoZero"/>
        <c:crossBetween val="between"/>
        <c:dispUnits>
          <c:builtInUnit val="thousands"/>
        </c:dispUnits>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solidFill>
        <a:srgbClr val="072A40"/>
      </a:solid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High</c:v>
                </c:pt>
              </c:strCache>
            </c:strRef>
          </c:tx>
          <c:spPr>
            <a:solidFill>
              <a:schemeClr val="accent1"/>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Avg. Credit Card Penetration</c:v>
                </c:pt>
              </c:strCache>
            </c:strRef>
          </c:cat>
          <c:val>
            <c:numRef>
              <c:f>Sheet1!$B$2</c:f>
              <c:numCache>
                <c:formatCode>0%</c:formatCode>
                <c:ptCount val="1"/>
                <c:pt idx="0">
                  <c:v>0.44663458725270211</c:v>
                </c:pt>
              </c:numCache>
            </c:numRef>
          </c:val>
        </c:ser>
        <c:ser>
          <c:idx val="1"/>
          <c:order val="1"/>
          <c:tx>
            <c:strRef>
              <c:f>Sheet1!$C$1</c:f>
              <c:strCache>
                <c:ptCount val="1"/>
                <c:pt idx="0">
                  <c:v>Med-Low</c:v>
                </c:pt>
              </c:strCache>
            </c:strRef>
          </c:tx>
          <c:spPr>
            <a:solidFill>
              <a:schemeClr val="accent2"/>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Avg. Credit Card Penetration</c:v>
                </c:pt>
              </c:strCache>
            </c:strRef>
          </c:cat>
          <c:val>
            <c:numRef>
              <c:f>Sheet1!$C$2</c:f>
              <c:numCache>
                <c:formatCode>0%</c:formatCode>
                <c:ptCount val="1"/>
                <c:pt idx="0">
                  <c:v>0.273585081238019</c:v>
                </c:pt>
              </c:numCache>
            </c:numRef>
          </c:val>
        </c:ser>
        <c:dLbls>
          <c:dLblPos val="outEnd"/>
          <c:showLegendKey val="0"/>
          <c:showVal val="1"/>
          <c:showCatName val="0"/>
          <c:showSerName val="0"/>
          <c:showPercent val="0"/>
          <c:showBubbleSize val="0"/>
        </c:dLbls>
        <c:gapWidth val="219"/>
        <c:overlap val="-27"/>
        <c:axId val="765507280"/>
        <c:axId val="765512720"/>
      </c:barChart>
      <c:catAx>
        <c:axId val="7655072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65512720"/>
        <c:crosses val="autoZero"/>
        <c:auto val="1"/>
        <c:lblAlgn val="ctr"/>
        <c:lblOffset val="100"/>
        <c:noMultiLvlLbl val="0"/>
      </c:catAx>
      <c:valAx>
        <c:axId val="765512720"/>
        <c:scaling>
          <c:orientation val="minMax"/>
        </c:scaling>
        <c:delete val="0"/>
        <c:axPos val="l"/>
        <c:majorGridlines>
          <c:spPr>
            <a:ln w="9525" cap="flat" cmpd="sng" algn="ctr">
              <a:no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6550728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solidFill>
        <a:srgbClr val="072A40"/>
      </a:solid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High</c:v>
                </c:pt>
              </c:strCache>
            </c:strRef>
          </c:tx>
          <c:spPr>
            <a:solidFill>
              <a:schemeClr val="accent1"/>
            </a:solidFill>
            <a:ln>
              <a:noFill/>
            </a:ln>
            <a:effectLst/>
          </c:spPr>
          <c:invertIfNegative val="0"/>
          <c:dLbls>
            <c:dLbl>
              <c:idx val="0"/>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dLbl>
            <c:numFmt formatCode="&quot;₹&quot;\ #,##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Avg. Age of Borrower</c:v>
                </c:pt>
              </c:strCache>
            </c:strRef>
          </c:cat>
          <c:val>
            <c:numRef>
              <c:f>Sheet1!$B$2</c:f>
              <c:numCache>
                <c:formatCode>0</c:formatCode>
                <c:ptCount val="1"/>
                <c:pt idx="0">
                  <c:v>41.725489704039667</c:v>
                </c:pt>
              </c:numCache>
            </c:numRef>
          </c:val>
        </c:ser>
        <c:ser>
          <c:idx val="1"/>
          <c:order val="1"/>
          <c:tx>
            <c:strRef>
              <c:f>Sheet1!$C$1</c:f>
              <c:strCache>
                <c:ptCount val="1"/>
                <c:pt idx="0">
                  <c:v>Med-Low</c:v>
                </c:pt>
              </c:strCache>
            </c:strRef>
          </c:tx>
          <c:spPr>
            <a:solidFill>
              <a:schemeClr val="accent2"/>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Avg. Age of Borrower</c:v>
                </c:pt>
              </c:strCache>
            </c:strRef>
          </c:cat>
          <c:val>
            <c:numRef>
              <c:f>Sheet1!$C$2</c:f>
              <c:numCache>
                <c:formatCode>0</c:formatCode>
                <c:ptCount val="1"/>
                <c:pt idx="0">
                  <c:v>43.850096069111977</c:v>
                </c:pt>
              </c:numCache>
            </c:numRef>
          </c:val>
        </c:ser>
        <c:dLbls>
          <c:dLblPos val="outEnd"/>
          <c:showLegendKey val="0"/>
          <c:showVal val="1"/>
          <c:showCatName val="0"/>
          <c:showSerName val="0"/>
          <c:showPercent val="0"/>
          <c:showBubbleSize val="0"/>
        </c:dLbls>
        <c:gapWidth val="219"/>
        <c:overlap val="-27"/>
        <c:axId val="765514896"/>
        <c:axId val="765513808"/>
      </c:barChart>
      <c:catAx>
        <c:axId val="7655148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65513808"/>
        <c:crosses val="autoZero"/>
        <c:auto val="1"/>
        <c:lblAlgn val="ctr"/>
        <c:lblOffset val="100"/>
        <c:noMultiLvlLbl val="0"/>
      </c:catAx>
      <c:valAx>
        <c:axId val="765513808"/>
        <c:scaling>
          <c:orientation val="minMax"/>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655148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solidFill>
        <a:srgbClr val="072A40"/>
      </a:solid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7BF0886-10BA-4730-AE57-446E017AE1AE}" type="doc">
      <dgm:prSet loTypeId="urn:microsoft.com/office/officeart/2005/8/layout/hList3" loCatId="list" qsTypeId="urn:microsoft.com/office/officeart/2005/8/quickstyle/simple1" qsCatId="simple" csTypeId="urn:microsoft.com/office/officeart/2005/8/colors/accent1_2" csCatId="accent1" phldr="1"/>
      <dgm:spPr/>
      <dgm:t>
        <a:bodyPr/>
        <a:lstStyle/>
        <a:p>
          <a:endParaRPr lang="en-IN"/>
        </a:p>
      </dgm:t>
    </dgm:pt>
    <dgm:pt modelId="{61BF3EBA-6D94-4005-909D-21CB97222E04}">
      <dgm:prSet phldrT="[Text]" custT="1"/>
      <dgm:spPr>
        <a:solidFill>
          <a:schemeClr val="tx2">
            <a:lumMod val="75000"/>
          </a:schemeClr>
        </a:solidFill>
      </dgm:spPr>
      <dgm:t>
        <a:bodyPr/>
        <a:lstStyle/>
        <a:p>
          <a:r>
            <a:rPr lang="en-IN" sz="1400" dirty="0" smtClean="0"/>
            <a:t>Probability of Store Visit from Catchment</a:t>
          </a:r>
          <a:endParaRPr lang="en-IN" sz="1400" dirty="0"/>
        </a:p>
      </dgm:t>
    </dgm:pt>
    <dgm:pt modelId="{E03B0D14-4DD5-4270-9E34-C56D06C948FD}" type="parTrans" cxnId="{2D2A3C5F-B4B2-4955-A833-4D2246648B0B}">
      <dgm:prSet/>
      <dgm:spPr/>
      <dgm:t>
        <a:bodyPr/>
        <a:lstStyle/>
        <a:p>
          <a:endParaRPr lang="en-IN" sz="1400"/>
        </a:p>
      </dgm:t>
    </dgm:pt>
    <dgm:pt modelId="{BB018256-2ED3-431A-BC32-43C7DA72697C}" type="sibTrans" cxnId="{2D2A3C5F-B4B2-4955-A833-4D2246648B0B}">
      <dgm:prSet/>
      <dgm:spPr/>
      <dgm:t>
        <a:bodyPr/>
        <a:lstStyle/>
        <a:p>
          <a:endParaRPr lang="en-IN" sz="1400"/>
        </a:p>
      </dgm:t>
    </dgm:pt>
    <dgm:pt modelId="{079DF08A-D9C1-49C5-8F7B-FFF54A1F0C30}">
      <dgm:prSet phldrT="[Text]" custT="1"/>
      <dgm:spPr>
        <a:solidFill>
          <a:schemeClr val="bg1"/>
        </a:solidFill>
      </dgm:spPr>
      <dgm:t>
        <a:bodyPr/>
        <a:lstStyle/>
        <a:p>
          <a:pPr algn="ctr"/>
          <a:r>
            <a:rPr lang="en-IN" sz="1400" smtClean="0">
              <a:solidFill>
                <a:schemeClr val="tx1"/>
              </a:solidFill>
            </a:rPr>
            <a:t>Store/Competitor  Attractiveness</a:t>
          </a:r>
        </a:p>
        <a:p>
          <a:pPr algn="ctr"/>
          <a:r>
            <a:rPr lang="en-IN" sz="1200" i="1" smtClean="0">
              <a:solidFill>
                <a:schemeClr val="tx1"/>
              </a:solidFill>
            </a:rPr>
            <a:t>Derived from Store Characteristics</a:t>
          </a:r>
          <a:endParaRPr lang="en-IN" sz="1200" i="1" dirty="0">
            <a:solidFill>
              <a:schemeClr val="tx1"/>
            </a:solidFill>
          </a:endParaRPr>
        </a:p>
      </dgm:t>
    </dgm:pt>
    <dgm:pt modelId="{1B7713A7-6E04-4795-A3FD-B87B54CA405E}" type="parTrans" cxnId="{A567FFE7-0A82-4389-BBD7-DC5C93632EAD}">
      <dgm:prSet/>
      <dgm:spPr/>
      <dgm:t>
        <a:bodyPr/>
        <a:lstStyle/>
        <a:p>
          <a:endParaRPr lang="en-IN" sz="1400"/>
        </a:p>
      </dgm:t>
    </dgm:pt>
    <dgm:pt modelId="{D87B2776-EDC7-4BC2-BAFA-7682BB4917EF}" type="sibTrans" cxnId="{A567FFE7-0A82-4389-BBD7-DC5C93632EAD}">
      <dgm:prSet/>
      <dgm:spPr/>
      <dgm:t>
        <a:bodyPr/>
        <a:lstStyle/>
        <a:p>
          <a:endParaRPr lang="en-IN" sz="1400"/>
        </a:p>
      </dgm:t>
    </dgm:pt>
    <dgm:pt modelId="{D5F0860C-4C53-4A7C-9D58-355CD702093A}">
      <dgm:prSet phldrT="[Text]" custT="1"/>
      <dgm:spPr/>
      <dgm:t>
        <a:bodyPr/>
        <a:lstStyle/>
        <a:p>
          <a:r>
            <a:rPr lang="en-IN" sz="1400" dirty="0" smtClean="0">
              <a:solidFill>
                <a:schemeClr val="tx1"/>
              </a:solidFill>
            </a:rPr>
            <a:t>Store/Competitor Distance</a:t>
          </a:r>
        </a:p>
        <a:p>
          <a:r>
            <a:rPr lang="en-IN" sz="1200" i="1" dirty="0" smtClean="0">
              <a:solidFill>
                <a:schemeClr val="tx1"/>
              </a:solidFill>
            </a:rPr>
            <a:t>Driving Distance to Store/Competitor PIN</a:t>
          </a:r>
          <a:endParaRPr lang="en-IN" sz="1200" dirty="0">
            <a:solidFill>
              <a:schemeClr val="tx1"/>
            </a:solidFill>
          </a:endParaRPr>
        </a:p>
      </dgm:t>
    </dgm:pt>
    <dgm:pt modelId="{771E23D3-A4DC-4522-BA04-4582388650CF}" type="parTrans" cxnId="{BF421254-E8C9-441A-B512-802079B7F957}">
      <dgm:prSet/>
      <dgm:spPr/>
      <dgm:t>
        <a:bodyPr/>
        <a:lstStyle/>
        <a:p>
          <a:endParaRPr lang="en-IN" sz="1400"/>
        </a:p>
      </dgm:t>
    </dgm:pt>
    <dgm:pt modelId="{ED14F401-7F5A-41D3-98E0-21B0EF16F42D}" type="sibTrans" cxnId="{BF421254-E8C9-441A-B512-802079B7F957}">
      <dgm:prSet/>
      <dgm:spPr/>
      <dgm:t>
        <a:bodyPr/>
        <a:lstStyle/>
        <a:p>
          <a:endParaRPr lang="en-IN" sz="1400"/>
        </a:p>
      </dgm:t>
    </dgm:pt>
    <dgm:pt modelId="{7D7371AF-495B-49A1-B4D9-34BCF5EDB1FC}" type="pres">
      <dgm:prSet presAssocID="{E7BF0886-10BA-4730-AE57-446E017AE1AE}" presName="composite" presStyleCnt="0">
        <dgm:presLayoutVars>
          <dgm:chMax val="1"/>
          <dgm:dir/>
          <dgm:resizeHandles val="exact"/>
        </dgm:presLayoutVars>
      </dgm:prSet>
      <dgm:spPr/>
      <dgm:t>
        <a:bodyPr/>
        <a:lstStyle/>
        <a:p>
          <a:endParaRPr lang="en-IN"/>
        </a:p>
      </dgm:t>
    </dgm:pt>
    <dgm:pt modelId="{DD0447C8-CDC5-4CEA-90D2-B0A6F961FBE6}" type="pres">
      <dgm:prSet presAssocID="{61BF3EBA-6D94-4005-909D-21CB97222E04}" presName="roof" presStyleLbl="dkBgShp" presStyleIdx="0" presStyleCnt="2" custLinFactY="-149740" custLinFactNeighborX="67027" custLinFactNeighborY="-200000"/>
      <dgm:spPr/>
      <dgm:t>
        <a:bodyPr/>
        <a:lstStyle/>
        <a:p>
          <a:endParaRPr lang="en-IN"/>
        </a:p>
      </dgm:t>
    </dgm:pt>
    <dgm:pt modelId="{23995A50-D1ED-4346-ADD1-0D01D157B0FC}" type="pres">
      <dgm:prSet presAssocID="{61BF3EBA-6D94-4005-909D-21CB97222E04}" presName="pillars" presStyleCnt="0"/>
      <dgm:spPr/>
    </dgm:pt>
    <dgm:pt modelId="{21849321-513F-4F74-948F-22AE0722B5FB}" type="pres">
      <dgm:prSet presAssocID="{61BF3EBA-6D94-4005-909D-21CB97222E04}" presName="pillar1" presStyleLbl="node1" presStyleIdx="0" presStyleCnt="2">
        <dgm:presLayoutVars>
          <dgm:bulletEnabled val="1"/>
        </dgm:presLayoutVars>
      </dgm:prSet>
      <dgm:spPr/>
      <dgm:t>
        <a:bodyPr/>
        <a:lstStyle/>
        <a:p>
          <a:endParaRPr lang="en-IN"/>
        </a:p>
      </dgm:t>
    </dgm:pt>
    <dgm:pt modelId="{FB47CFB8-7F4B-4846-A974-B919E03B5AFB}" type="pres">
      <dgm:prSet presAssocID="{D5F0860C-4C53-4A7C-9D58-355CD702093A}" presName="pillarX" presStyleLbl="node1" presStyleIdx="1" presStyleCnt="2">
        <dgm:presLayoutVars>
          <dgm:bulletEnabled val="1"/>
        </dgm:presLayoutVars>
      </dgm:prSet>
      <dgm:spPr/>
      <dgm:t>
        <a:bodyPr/>
        <a:lstStyle/>
        <a:p>
          <a:endParaRPr lang="en-IN"/>
        </a:p>
      </dgm:t>
    </dgm:pt>
    <dgm:pt modelId="{66B4487D-DDE8-4879-8E6F-59D6C5AD45D3}" type="pres">
      <dgm:prSet presAssocID="{61BF3EBA-6D94-4005-909D-21CB97222E04}" presName="base" presStyleLbl="dkBgShp" presStyleIdx="1" presStyleCnt="2"/>
      <dgm:spPr>
        <a:solidFill>
          <a:schemeClr val="bg1"/>
        </a:solidFill>
      </dgm:spPr>
    </dgm:pt>
  </dgm:ptLst>
  <dgm:cxnLst>
    <dgm:cxn modelId="{BCD218BC-D874-4070-B667-CFA637207634}" type="presOf" srcId="{079DF08A-D9C1-49C5-8F7B-FFF54A1F0C30}" destId="{21849321-513F-4F74-948F-22AE0722B5FB}" srcOrd="0" destOrd="0" presId="urn:microsoft.com/office/officeart/2005/8/layout/hList3"/>
    <dgm:cxn modelId="{2D2A3C5F-B4B2-4955-A833-4D2246648B0B}" srcId="{E7BF0886-10BA-4730-AE57-446E017AE1AE}" destId="{61BF3EBA-6D94-4005-909D-21CB97222E04}" srcOrd="0" destOrd="0" parTransId="{E03B0D14-4DD5-4270-9E34-C56D06C948FD}" sibTransId="{BB018256-2ED3-431A-BC32-43C7DA72697C}"/>
    <dgm:cxn modelId="{57314B57-44AF-432C-B245-DB0F0DCBA51E}" type="presOf" srcId="{61BF3EBA-6D94-4005-909D-21CB97222E04}" destId="{DD0447C8-CDC5-4CEA-90D2-B0A6F961FBE6}" srcOrd="0" destOrd="0" presId="urn:microsoft.com/office/officeart/2005/8/layout/hList3"/>
    <dgm:cxn modelId="{6E730832-7456-45AD-9A49-8A0BF473A677}" type="presOf" srcId="{D5F0860C-4C53-4A7C-9D58-355CD702093A}" destId="{FB47CFB8-7F4B-4846-A974-B919E03B5AFB}" srcOrd="0" destOrd="0" presId="urn:microsoft.com/office/officeart/2005/8/layout/hList3"/>
    <dgm:cxn modelId="{FD400B85-08A1-4ED8-86E4-8FCDC84B929C}" type="presOf" srcId="{E7BF0886-10BA-4730-AE57-446E017AE1AE}" destId="{7D7371AF-495B-49A1-B4D9-34BCF5EDB1FC}" srcOrd="0" destOrd="0" presId="urn:microsoft.com/office/officeart/2005/8/layout/hList3"/>
    <dgm:cxn modelId="{BF421254-E8C9-441A-B512-802079B7F957}" srcId="{61BF3EBA-6D94-4005-909D-21CB97222E04}" destId="{D5F0860C-4C53-4A7C-9D58-355CD702093A}" srcOrd="1" destOrd="0" parTransId="{771E23D3-A4DC-4522-BA04-4582388650CF}" sibTransId="{ED14F401-7F5A-41D3-98E0-21B0EF16F42D}"/>
    <dgm:cxn modelId="{A567FFE7-0A82-4389-BBD7-DC5C93632EAD}" srcId="{61BF3EBA-6D94-4005-909D-21CB97222E04}" destId="{079DF08A-D9C1-49C5-8F7B-FFF54A1F0C30}" srcOrd="0" destOrd="0" parTransId="{1B7713A7-6E04-4795-A3FD-B87B54CA405E}" sibTransId="{D87B2776-EDC7-4BC2-BAFA-7682BB4917EF}"/>
    <dgm:cxn modelId="{E39AF6FE-5A39-482B-85C6-C7F47CA60DF5}" type="presParOf" srcId="{7D7371AF-495B-49A1-B4D9-34BCF5EDB1FC}" destId="{DD0447C8-CDC5-4CEA-90D2-B0A6F961FBE6}" srcOrd="0" destOrd="0" presId="urn:microsoft.com/office/officeart/2005/8/layout/hList3"/>
    <dgm:cxn modelId="{0FA3CE71-4C15-484C-81B9-00B21D8E598A}" type="presParOf" srcId="{7D7371AF-495B-49A1-B4D9-34BCF5EDB1FC}" destId="{23995A50-D1ED-4346-ADD1-0D01D157B0FC}" srcOrd="1" destOrd="0" presId="urn:microsoft.com/office/officeart/2005/8/layout/hList3"/>
    <dgm:cxn modelId="{93205C30-1CE4-45E5-8C0E-651F537319FD}" type="presParOf" srcId="{23995A50-D1ED-4346-ADD1-0D01D157B0FC}" destId="{21849321-513F-4F74-948F-22AE0722B5FB}" srcOrd="0" destOrd="0" presId="urn:microsoft.com/office/officeart/2005/8/layout/hList3"/>
    <dgm:cxn modelId="{C243C30F-56BC-48BA-A52D-C87D3253EE0E}" type="presParOf" srcId="{23995A50-D1ED-4346-ADD1-0D01D157B0FC}" destId="{FB47CFB8-7F4B-4846-A974-B919E03B5AFB}" srcOrd="1" destOrd="0" presId="urn:microsoft.com/office/officeart/2005/8/layout/hList3"/>
    <dgm:cxn modelId="{352B55EF-0284-498D-BDA0-E86D5F8C90C0}" type="presParOf" srcId="{7D7371AF-495B-49A1-B4D9-34BCF5EDB1FC}" destId="{66B4487D-DDE8-4879-8E6F-59D6C5AD45D3}" srcOrd="2" destOrd="0" presId="urn:microsoft.com/office/officeart/2005/8/layout/hList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FD9A5C2-B1E5-412D-8405-E568C75A38C9}" type="doc">
      <dgm:prSet loTypeId="urn:microsoft.com/office/officeart/2005/8/layout/hList3" loCatId="list" qsTypeId="urn:microsoft.com/office/officeart/2005/8/quickstyle/simple1" qsCatId="simple" csTypeId="urn:microsoft.com/office/officeart/2005/8/colors/accent1_2" csCatId="accent1" phldr="1"/>
      <dgm:spPr/>
      <dgm:t>
        <a:bodyPr/>
        <a:lstStyle/>
        <a:p>
          <a:endParaRPr lang="en-IN"/>
        </a:p>
      </dgm:t>
    </dgm:pt>
    <dgm:pt modelId="{EAC4015B-5D91-4BB0-AE71-B33FF46A5BBA}">
      <dgm:prSet phldrT="[Text]" custT="1"/>
      <dgm:spPr>
        <a:solidFill>
          <a:schemeClr val="tx2">
            <a:lumMod val="75000"/>
          </a:schemeClr>
        </a:solidFill>
      </dgm:spPr>
      <dgm:t>
        <a:bodyPr/>
        <a:lstStyle/>
        <a:p>
          <a:r>
            <a:rPr lang="en-IN" sz="1400" dirty="0" smtClean="0"/>
            <a:t>Potential of Catchment – for Croma Sales</a:t>
          </a:r>
          <a:endParaRPr lang="en-IN" sz="1400" dirty="0"/>
        </a:p>
      </dgm:t>
    </dgm:pt>
    <dgm:pt modelId="{9B3C62F1-FB8C-43C4-9CA3-00E81F3BCBDD}" type="parTrans" cxnId="{094BAA6A-987C-46F7-AF7F-1A5FAD20037E}">
      <dgm:prSet/>
      <dgm:spPr/>
      <dgm:t>
        <a:bodyPr/>
        <a:lstStyle/>
        <a:p>
          <a:endParaRPr lang="en-IN" sz="1400"/>
        </a:p>
      </dgm:t>
    </dgm:pt>
    <dgm:pt modelId="{51552A55-8915-48E9-85F8-122D08E966D7}" type="sibTrans" cxnId="{094BAA6A-987C-46F7-AF7F-1A5FAD20037E}">
      <dgm:prSet/>
      <dgm:spPr/>
      <dgm:t>
        <a:bodyPr/>
        <a:lstStyle/>
        <a:p>
          <a:endParaRPr lang="en-IN" sz="1400"/>
        </a:p>
      </dgm:t>
    </dgm:pt>
    <dgm:pt modelId="{AC664692-450A-44E2-A47C-0D251C4E03AD}">
      <dgm:prSet phldrT="[Text]" custT="1"/>
      <dgm:spPr/>
      <dgm:t>
        <a:bodyPr/>
        <a:lstStyle/>
        <a:p>
          <a:r>
            <a:rPr lang="en-IN" sz="1400" dirty="0" smtClean="0">
              <a:solidFill>
                <a:schemeClr val="tx1"/>
              </a:solidFill>
            </a:rPr>
            <a:t>Aggregated data Sources from CIBIL, Census and others </a:t>
          </a:r>
          <a:endParaRPr lang="en-IN" sz="1400" dirty="0">
            <a:solidFill>
              <a:schemeClr val="tx1"/>
            </a:solidFill>
          </a:endParaRPr>
        </a:p>
      </dgm:t>
    </dgm:pt>
    <dgm:pt modelId="{4B044215-F80A-4578-B430-968D1AD11834}" type="parTrans" cxnId="{3E02B5EE-C96B-410A-8D61-3B61F6BE0E35}">
      <dgm:prSet/>
      <dgm:spPr/>
      <dgm:t>
        <a:bodyPr/>
        <a:lstStyle/>
        <a:p>
          <a:endParaRPr lang="en-IN" sz="1400"/>
        </a:p>
      </dgm:t>
    </dgm:pt>
    <dgm:pt modelId="{D8D49629-DFB4-4EC8-8857-28E9108A89EA}" type="sibTrans" cxnId="{3E02B5EE-C96B-410A-8D61-3B61F6BE0E35}">
      <dgm:prSet/>
      <dgm:spPr/>
      <dgm:t>
        <a:bodyPr/>
        <a:lstStyle/>
        <a:p>
          <a:endParaRPr lang="en-IN" sz="1400"/>
        </a:p>
      </dgm:t>
    </dgm:pt>
    <dgm:pt modelId="{F7234956-E246-4863-962C-063C726D3F0A}">
      <dgm:prSet phldrT="[Text]" custT="1"/>
      <dgm:spPr/>
      <dgm:t>
        <a:bodyPr/>
        <a:lstStyle/>
        <a:p>
          <a:r>
            <a:rPr lang="en-IN" sz="1400" dirty="0" smtClean="0">
              <a:solidFill>
                <a:schemeClr val="tx1"/>
              </a:solidFill>
            </a:rPr>
            <a:t>Aggregated TATA </a:t>
          </a:r>
          <a:r>
            <a:rPr lang="en-IN" sz="1400" dirty="0" err="1" smtClean="0">
              <a:solidFill>
                <a:schemeClr val="tx1"/>
              </a:solidFill>
            </a:rPr>
            <a:t>Indicash</a:t>
          </a:r>
          <a:r>
            <a:rPr lang="en-IN" sz="1400" dirty="0" smtClean="0">
              <a:solidFill>
                <a:schemeClr val="tx1"/>
              </a:solidFill>
            </a:rPr>
            <a:t> ATM data</a:t>
          </a:r>
          <a:endParaRPr lang="en-IN" sz="1400" dirty="0">
            <a:solidFill>
              <a:schemeClr val="tx1"/>
            </a:solidFill>
          </a:endParaRPr>
        </a:p>
      </dgm:t>
    </dgm:pt>
    <dgm:pt modelId="{6A50BD55-1034-49ED-9E89-8A42C7BEBADB}" type="parTrans" cxnId="{5D08B085-3E6A-43B1-A2CD-50B9F753FFD0}">
      <dgm:prSet/>
      <dgm:spPr/>
      <dgm:t>
        <a:bodyPr/>
        <a:lstStyle/>
        <a:p>
          <a:endParaRPr lang="en-IN" sz="1400"/>
        </a:p>
      </dgm:t>
    </dgm:pt>
    <dgm:pt modelId="{BCE732B9-26C5-436D-B1E7-3AE4D7B05311}" type="sibTrans" cxnId="{5D08B085-3E6A-43B1-A2CD-50B9F753FFD0}">
      <dgm:prSet/>
      <dgm:spPr/>
      <dgm:t>
        <a:bodyPr/>
        <a:lstStyle/>
        <a:p>
          <a:endParaRPr lang="en-IN" sz="1400"/>
        </a:p>
      </dgm:t>
    </dgm:pt>
    <dgm:pt modelId="{9CADF9C9-16CE-401A-804D-DC42B983A75D}">
      <dgm:prSet phldrT="[Text]" custT="1"/>
      <dgm:spPr/>
      <dgm:t>
        <a:bodyPr/>
        <a:lstStyle/>
        <a:p>
          <a:r>
            <a:rPr lang="en-IN" sz="1400" dirty="0" smtClean="0">
              <a:solidFill>
                <a:schemeClr val="tx1"/>
              </a:solidFill>
            </a:rPr>
            <a:t>TOP 50 PIN locations for CROMA</a:t>
          </a:r>
          <a:endParaRPr lang="en-IN" sz="1400" dirty="0">
            <a:solidFill>
              <a:schemeClr val="tx1"/>
            </a:solidFill>
          </a:endParaRPr>
        </a:p>
      </dgm:t>
    </dgm:pt>
    <dgm:pt modelId="{64A446E8-6875-4195-8206-04518030D5E5}" type="parTrans" cxnId="{DD932EB9-A90D-499B-AC29-EEA47256A1AA}">
      <dgm:prSet/>
      <dgm:spPr/>
      <dgm:t>
        <a:bodyPr/>
        <a:lstStyle/>
        <a:p>
          <a:endParaRPr lang="en-IN" sz="1400"/>
        </a:p>
      </dgm:t>
    </dgm:pt>
    <dgm:pt modelId="{E44DEDE1-FF62-447E-BE94-5D69C3F43416}" type="sibTrans" cxnId="{DD932EB9-A90D-499B-AC29-EEA47256A1AA}">
      <dgm:prSet/>
      <dgm:spPr/>
      <dgm:t>
        <a:bodyPr/>
        <a:lstStyle/>
        <a:p>
          <a:endParaRPr lang="en-IN" sz="1400"/>
        </a:p>
      </dgm:t>
    </dgm:pt>
    <dgm:pt modelId="{1438DD53-8643-49F6-A8E6-226AE152BA7C}" type="pres">
      <dgm:prSet presAssocID="{CFD9A5C2-B1E5-412D-8405-E568C75A38C9}" presName="composite" presStyleCnt="0">
        <dgm:presLayoutVars>
          <dgm:chMax val="1"/>
          <dgm:dir/>
          <dgm:resizeHandles val="exact"/>
        </dgm:presLayoutVars>
      </dgm:prSet>
      <dgm:spPr/>
      <dgm:t>
        <a:bodyPr/>
        <a:lstStyle/>
        <a:p>
          <a:endParaRPr lang="en-IN"/>
        </a:p>
      </dgm:t>
    </dgm:pt>
    <dgm:pt modelId="{2E3B253B-96EA-4582-8E25-BA4FF4F15F12}" type="pres">
      <dgm:prSet presAssocID="{EAC4015B-5D91-4BB0-AE71-B33FF46A5BBA}" presName="roof" presStyleLbl="dkBgShp" presStyleIdx="0" presStyleCnt="2"/>
      <dgm:spPr/>
      <dgm:t>
        <a:bodyPr/>
        <a:lstStyle/>
        <a:p>
          <a:endParaRPr lang="en-IN"/>
        </a:p>
      </dgm:t>
    </dgm:pt>
    <dgm:pt modelId="{0B9125B7-7142-49CA-BF0B-187F871D9D76}" type="pres">
      <dgm:prSet presAssocID="{EAC4015B-5D91-4BB0-AE71-B33FF46A5BBA}" presName="pillars" presStyleCnt="0"/>
      <dgm:spPr/>
    </dgm:pt>
    <dgm:pt modelId="{9A5E95D9-0DD0-4B74-981F-14F91AAD3261}" type="pres">
      <dgm:prSet presAssocID="{EAC4015B-5D91-4BB0-AE71-B33FF46A5BBA}" presName="pillar1" presStyleLbl="node1" presStyleIdx="0" presStyleCnt="3">
        <dgm:presLayoutVars>
          <dgm:bulletEnabled val="1"/>
        </dgm:presLayoutVars>
      </dgm:prSet>
      <dgm:spPr/>
      <dgm:t>
        <a:bodyPr/>
        <a:lstStyle/>
        <a:p>
          <a:endParaRPr lang="en-IN"/>
        </a:p>
      </dgm:t>
    </dgm:pt>
    <dgm:pt modelId="{0B3B8EB1-D7F6-48BB-8DA3-9C86170B250C}" type="pres">
      <dgm:prSet presAssocID="{F7234956-E246-4863-962C-063C726D3F0A}" presName="pillarX" presStyleLbl="node1" presStyleIdx="1" presStyleCnt="3">
        <dgm:presLayoutVars>
          <dgm:bulletEnabled val="1"/>
        </dgm:presLayoutVars>
      </dgm:prSet>
      <dgm:spPr/>
      <dgm:t>
        <a:bodyPr/>
        <a:lstStyle/>
        <a:p>
          <a:endParaRPr lang="en-IN"/>
        </a:p>
      </dgm:t>
    </dgm:pt>
    <dgm:pt modelId="{DC4C132C-632B-427B-8DAE-A7E8D64F7DF6}" type="pres">
      <dgm:prSet presAssocID="{9CADF9C9-16CE-401A-804D-DC42B983A75D}" presName="pillarX" presStyleLbl="node1" presStyleIdx="2" presStyleCnt="3">
        <dgm:presLayoutVars>
          <dgm:bulletEnabled val="1"/>
        </dgm:presLayoutVars>
      </dgm:prSet>
      <dgm:spPr/>
      <dgm:t>
        <a:bodyPr/>
        <a:lstStyle/>
        <a:p>
          <a:endParaRPr lang="en-IN"/>
        </a:p>
      </dgm:t>
    </dgm:pt>
    <dgm:pt modelId="{802DFF20-0C59-4E0C-9C3F-E0E0F2060876}" type="pres">
      <dgm:prSet presAssocID="{EAC4015B-5D91-4BB0-AE71-B33FF46A5BBA}" presName="base" presStyleLbl="dkBgShp" presStyleIdx="1" presStyleCnt="2"/>
      <dgm:spPr>
        <a:solidFill>
          <a:schemeClr val="bg1"/>
        </a:solidFill>
      </dgm:spPr>
    </dgm:pt>
  </dgm:ptLst>
  <dgm:cxnLst>
    <dgm:cxn modelId="{5D08B085-3E6A-43B1-A2CD-50B9F753FFD0}" srcId="{EAC4015B-5D91-4BB0-AE71-B33FF46A5BBA}" destId="{F7234956-E246-4863-962C-063C726D3F0A}" srcOrd="1" destOrd="0" parTransId="{6A50BD55-1034-49ED-9E89-8A42C7BEBADB}" sibTransId="{BCE732B9-26C5-436D-B1E7-3AE4D7B05311}"/>
    <dgm:cxn modelId="{FCD5C474-75FD-4277-942C-0F360877AB20}" type="presOf" srcId="{AC664692-450A-44E2-A47C-0D251C4E03AD}" destId="{9A5E95D9-0DD0-4B74-981F-14F91AAD3261}" srcOrd="0" destOrd="0" presId="urn:microsoft.com/office/officeart/2005/8/layout/hList3"/>
    <dgm:cxn modelId="{1CEE5192-1E9F-4233-A06A-91DE72ECE0F5}" type="presOf" srcId="{F7234956-E246-4863-962C-063C726D3F0A}" destId="{0B3B8EB1-D7F6-48BB-8DA3-9C86170B250C}" srcOrd="0" destOrd="0" presId="urn:microsoft.com/office/officeart/2005/8/layout/hList3"/>
    <dgm:cxn modelId="{0D5DD791-B3FF-48B6-8F26-AB0989138551}" type="presOf" srcId="{EAC4015B-5D91-4BB0-AE71-B33FF46A5BBA}" destId="{2E3B253B-96EA-4582-8E25-BA4FF4F15F12}" srcOrd="0" destOrd="0" presId="urn:microsoft.com/office/officeart/2005/8/layout/hList3"/>
    <dgm:cxn modelId="{DD932EB9-A90D-499B-AC29-EEA47256A1AA}" srcId="{EAC4015B-5D91-4BB0-AE71-B33FF46A5BBA}" destId="{9CADF9C9-16CE-401A-804D-DC42B983A75D}" srcOrd="2" destOrd="0" parTransId="{64A446E8-6875-4195-8206-04518030D5E5}" sibTransId="{E44DEDE1-FF62-447E-BE94-5D69C3F43416}"/>
    <dgm:cxn modelId="{79BA203F-F53E-41F9-A6FB-0C6E355F7E7B}" type="presOf" srcId="{CFD9A5C2-B1E5-412D-8405-E568C75A38C9}" destId="{1438DD53-8643-49F6-A8E6-226AE152BA7C}" srcOrd="0" destOrd="0" presId="urn:microsoft.com/office/officeart/2005/8/layout/hList3"/>
    <dgm:cxn modelId="{3E02B5EE-C96B-410A-8D61-3B61F6BE0E35}" srcId="{EAC4015B-5D91-4BB0-AE71-B33FF46A5BBA}" destId="{AC664692-450A-44E2-A47C-0D251C4E03AD}" srcOrd="0" destOrd="0" parTransId="{4B044215-F80A-4578-B430-968D1AD11834}" sibTransId="{D8D49629-DFB4-4EC8-8857-28E9108A89EA}"/>
    <dgm:cxn modelId="{094BAA6A-987C-46F7-AF7F-1A5FAD20037E}" srcId="{CFD9A5C2-B1E5-412D-8405-E568C75A38C9}" destId="{EAC4015B-5D91-4BB0-AE71-B33FF46A5BBA}" srcOrd="0" destOrd="0" parTransId="{9B3C62F1-FB8C-43C4-9CA3-00E81F3BCBDD}" sibTransId="{51552A55-8915-48E9-85F8-122D08E966D7}"/>
    <dgm:cxn modelId="{62012A03-380A-4C6C-8CAB-F5E19F5A70B4}" type="presOf" srcId="{9CADF9C9-16CE-401A-804D-DC42B983A75D}" destId="{DC4C132C-632B-427B-8DAE-A7E8D64F7DF6}" srcOrd="0" destOrd="0" presId="urn:microsoft.com/office/officeart/2005/8/layout/hList3"/>
    <dgm:cxn modelId="{F101EB82-A51E-439C-92F2-C19A6DDC4981}" type="presParOf" srcId="{1438DD53-8643-49F6-A8E6-226AE152BA7C}" destId="{2E3B253B-96EA-4582-8E25-BA4FF4F15F12}" srcOrd="0" destOrd="0" presId="urn:microsoft.com/office/officeart/2005/8/layout/hList3"/>
    <dgm:cxn modelId="{3A58E2CF-ADDB-4173-ADA0-ABE3C2CE5B39}" type="presParOf" srcId="{1438DD53-8643-49F6-A8E6-226AE152BA7C}" destId="{0B9125B7-7142-49CA-BF0B-187F871D9D76}" srcOrd="1" destOrd="0" presId="urn:microsoft.com/office/officeart/2005/8/layout/hList3"/>
    <dgm:cxn modelId="{D5B7C8BB-909C-4A02-AFA4-AE6DD732E523}" type="presParOf" srcId="{0B9125B7-7142-49CA-BF0B-187F871D9D76}" destId="{9A5E95D9-0DD0-4B74-981F-14F91AAD3261}" srcOrd="0" destOrd="0" presId="urn:microsoft.com/office/officeart/2005/8/layout/hList3"/>
    <dgm:cxn modelId="{D6BD3A5A-CD61-43CA-87E6-253EC7C58604}" type="presParOf" srcId="{0B9125B7-7142-49CA-BF0B-187F871D9D76}" destId="{0B3B8EB1-D7F6-48BB-8DA3-9C86170B250C}" srcOrd="1" destOrd="0" presId="urn:microsoft.com/office/officeart/2005/8/layout/hList3"/>
    <dgm:cxn modelId="{AED5E15E-097B-42C9-9F75-9BF05CB4A209}" type="presParOf" srcId="{0B9125B7-7142-49CA-BF0B-187F871D9D76}" destId="{DC4C132C-632B-427B-8DAE-A7E8D64F7DF6}" srcOrd="2" destOrd="0" presId="urn:microsoft.com/office/officeart/2005/8/layout/hList3"/>
    <dgm:cxn modelId="{5AFF51D3-1F28-4812-A13A-C9C842BF6505}" type="presParOf" srcId="{1438DD53-8643-49F6-A8E6-226AE152BA7C}" destId="{802DFF20-0C59-4E0C-9C3F-E0E0F2060876}" srcOrd="2" destOrd="0" presId="urn:microsoft.com/office/officeart/2005/8/layout/hList3"/>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123C638-EF9D-4B12-96A7-CDB49795DB6F}" type="doc">
      <dgm:prSet loTypeId="urn:microsoft.com/office/officeart/2005/8/layout/target3" loCatId="relationship" qsTypeId="urn:microsoft.com/office/officeart/2005/8/quickstyle/simple1" qsCatId="simple" csTypeId="urn:microsoft.com/office/officeart/2005/8/colors/colorful4" csCatId="colorful"/>
      <dgm:spPr/>
      <dgm:t>
        <a:bodyPr/>
        <a:lstStyle/>
        <a:p>
          <a:endParaRPr lang="en-IN"/>
        </a:p>
      </dgm:t>
    </dgm:pt>
    <dgm:pt modelId="{280BE8E3-0240-40EB-9982-86C2C9F8083F}">
      <dgm:prSet custT="1"/>
      <dgm:spPr/>
      <dgm:t>
        <a:bodyPr/>
        <a:lstStyle/>
        <a:p>
          <a:pPr rtl="0"/>
          <a:r>
            <a:rPr lang="en-IN" sz="1600" dirty="0" smtClean="0">
              <a:latin typeface="Calibri" panose="020F0502020204030204" pitchFamily="34" charset="0"/>
            </a:rPr>
            <a:t>Modernity &amp; affluence levels of key catchments in Hyderabad</a:t>
          </a:r>
          <a:endParaRPr lang="en-IN" sz="1600" dirty="0">
            <a:latin typeface="Calibri" panose="020F0502020204030204" pitchFamily="34" charset="0"/>
          </a:endParaRPr>
        </a:p>
      </dgm:t>
    </dgm:pt>
    <dgm:pt modelId="{102102E1-ABD5-406B-A8C4-540A17F24E8D}" type="parTrans" cxnId="{B852E9F2-A873-4992-83E7-3A890043C504}">
      <dgm:prSet/>
      <dgm:spPr/>
      <dgm:t>
        <a:bodyPr/>
        <a:lstStyle/>
        <a:p>
          <a:endParaRPr lang="en-IN" sz="1600">
            <a:latin typeface="Calibri" panose="020F0502020204030204" pitchFamily="34" charset="0"/>
          </a:endParaRPr>
        </a:p>
      </dgm:t>
    </dgm:pt>
    <dgm:pt modelId="{A5D5F8D1-BA28-4BB2-88B2-A724E4BC689D}" type="sibTrans" cxnId="{B852E9F2-A873-4992-83E7-3A890043C504}">
      <dgm:prSet/>
      <dgm:spPr/>
      <dgm:t>
        <a:bodyPr/>
        <a:lstStyle/>
        <a:p>
          <a:endParaRPr lang="en-IN" sz="1600">
            <a:latin typeface="Calibri" panose="020F0502020204030204" pitchFamily="34" charset="0"/>
          </a:endParaRPr>
        </a:p>
      </dgm:t>
    </dgm:pt>
    <dgm:pt modelId="{5798F581-569C-461C-99EA-4BCFB295FCFC}">
      <dgm:prSet custT="1"/>
      <dgm:spPr/>
      <dgm:t>
        <a:bodyPr/>
        <a:lstStyle/>
        <a:p>
          <a:pPr rtl="0"/>
          <a:r>
            <a:rPr lang="en-IN" sz="1600" dirty="0" smtClean="0">
              <a:latin typeface="Calibri" panose="020F0502020204030204" pitchFamily="34" charset="0"/>
            </a:rPr>
            <a:t>Consumer demographics in various regions of Hyderabad</a:t>
          </a:r>
          <a:endParaRPr lang="en-IN" sz="1600" dirty="0">
            <a:latin typeface="Calibri" panose="020F0502020204030204" pitchFamily="34" charset="0"/>
          </a:endParaRPr>
        </a:p>
      </dgm:t>
    </dgm:pt>
    <dgm:pt modelId="{7BED7C6B-56F5-4910-A4F4-071FB885560C}" type="parTrans" cxnId="{19506275-3FEF-4FCC-ABEC-2F34A003C384}">
      <dgm:prSet/>
      <dgm:spPr/>
      <dgm:t>
        <a:bodyPr/>
        <a:lstStyle/>
        <a:p>
          <a:endParaRPr lang="en-IN" sz="1600">
            <a:latin typeface="Calibri" panose="020F0502020204030204" pitchFamily="34" charset="0"/>
          </a:endParaRPr>
        </a:p>
      </dgm:t>
    </dgm:pt>
    <dgm:pt modelId="{95DBA40A-0F69-497A-8DB4-50939B4DB609}" type="sibTrans" cxnId="{19506275-3FEF-4FCC-ABEC-2F34A003C384}">
      <dgm:prSet/>
      <dgm:spPr/>
      <dgm:t>
        <a:bodyPr/>
        <a:lstStyle/>
        <a:p>
          <a:endParaRPr lang="en-IN" sz="1600">
            <a:latin typeface="Calibri" panose="020F0502020204030204" pitchFamily="34" charset="0"/>
          </a:endParaRPr>
        </a:p>
      </dgm:t>
    </dgm:pt>
    <dgm:pt modelId="{42E51FBD-CDFF-41D6-ACCB-61AE9518D537}">
      <dgm:prSet custT="1"/>
      <dgm:spPr/>
      <dgm:t>
        <a:bodyPr/>
        <a:lstStyle/>
        <a:p>
          <a:pPr rtl="0"/>
          <a:r>
            <a:rPr lang="en-IN" sz="1600" dirty="0" smtClean="0">
              <a:latin typeface="Calibri" panose="020F0502020204030204" pitchFamily="34" charset="0"/>
            </a:rPr>
            <a:t>Knowledge from other Tata retail organizations </a:t>
          </a:r>
          <a:endParaRPr lang="en-IN" sz="1600" dirty="0">
            <a:latin typeface="Calibri" panose="020F0502020204030204" pitchFamily="34" charset="0"/>
          </a:endParaRPr>
        </a:p>
      </dgm:t>
    </dgm:pt>
    <dgm:pt modelId="{FC9673F7-1C05-453D-B886-0B0713DB0BB0}" type="parTrans" cxnId="{4FCBB978-0F88-49B5-B339-6FFD65699C74}">
      <dgm:prSet/>
      <dgm:spPr/>
      <dgm:t>
        <a:bodyPr/>
        <a:lstStyle/>
        <a:p>
          <a:endParaRPr lang="en-IN" sz="1600">
            <a:latin typeface="Calibri" panose="020F0502020204030204" pitchFamily="34" charset="0"/>
          </a:endParaRPr>
        </a:p>
      </dgm:t>
    </dgm:pt>
    <dgm:pt modelId="{1FEEE269-2B1D-4AE4-8C0A-0C1C53A15730}" type="sibTrans" cxnId="{4FCBB978-0F88-49B5-B339-6FFD65699C74}">
      <dgm:prSet/>
      <dgm:spPr/>
      <dgm:t>
        <a:bodyPr/>
        <a:lstStyle/>
        <a:p>
          <a:endParaRPr lang="en-IN" sz="1600">
            <a:latin typeface="Calibri" panose="020F0502020204030204" pitchFamily="34" charset="0"/>
          </a:endParaRPr>
        </a:p>
      </dgm:t>
    </dgm:pt>
    <dgm:pt modelId="{DD9CC7AF-59C4-49AF-B072-74A1F06A7CEE}">
      <dgm:prSet custT="1"/>
      <dgm:spPr/>
      <dgm:t>
        <a:bodyPr/>
        <a:lstStyle/>
        <a:p>
          <a:pPr rtl="0"/>
          <a:r>
            <a:rPr lang="en-IN" sz="1600" dirty="0" smtClean="0">
              <a:latin typeface="Calibri" panose="020F0502020204030204" pitchFamily="34" charset="0"/>
            </a:rPr>
            <a:t>Heat maps for the new sites proposed</a:t>
          </a:r>
          <a:endParaRPr lang="en-IN" sz="1600" dirty="0">
            <a:latin typeface="Calibri" panose="020F0502020204030204" pitchFamily="34" charset="0"/>
          </a:endParaRPr>
        </a:p>
      </dgm:t>
    </dgm:pt>
    <dgm:pt modelId="{60ACAFFB-BE5C-4CFE-AC9C-8F4948F62C46}" type="parTrans" cxnId="{6185AFEC-33DD-472B-86DE-0CD4EA297009}">
      <dgm:prSet/>
      <dgm:spPr/>
      <dgm:t>
        <a:bodyPr/>
        <a:lstStyle/>
        <a:p>
          <a:endParaRPr lang="en-IN" sz="1600">
            <a:latin typeface="Calibri" panose="020F0502020204030204" pitchFamily="34" charset="0"/>
          </a:endParaRPr>
        </a:p>
      </dgm:t>
    </dgm:pt>
    <dgm:pt modelId="{994435FA-0FAD-4A08-A5FD-9C02052E1321}" type="sibTrans" cxnId="{6185AFEC-33DD-472B-86DE-0CD4EA297009}">
      <dgm:prSet/>
      <dgm:spPr/>
      <dgm:t>
        <a:bodyPr/>
        <a:lstStyle/>
        <a:p>
          <a:endParaRPr lang="en-IN" sz="1600">
            <a:latin typeface="Calibri" panose="020F0502020204030204" pitchFamily="34" charset="0"/>
          </a:endParaRPr>
        </a:p>
      </dgm:t>
    </dgm:pt>
    <dgm:pt modelId="{F6734355-1307-47B9-8730-B1C4FDE3FA62}">
      <dgm:prSet custT="1"/>
      <dgm:spPr/>
      <dgm:t>
        <a:bodyPr/>
        <a:lstStyle/>
        <a:p>
          <a:pPr rtl="0"/>
          <a:r>
            <a:rPr lang="en-IN" sz="1600" dirty="0" smtClean="0">
              <a:latin typeface="Calibri" panose="020F0502020204030204" pitchFamily="34" charset="0"/>
            </a:rPr>
            <a:t>Additional hotspots Croma can consider for new stores</a:t>
          </a:r>
          <a:endParaRPr lang="en-IN" sz="1600" dirty="0">
            <a:latin typeface="Calibri" panose="020F0502020204030204" pitchFamily="34" charset="0"/>
          </a:endParaRPr>
        </a:p>
      </dgm:t>
    </dgm:pt>
    <dgm:pt modelId="{A5186754-603F-42B0-8B9E-81A190694B14}" type="parTrans" cxnId="{BE9F95F6-2846-4A9A-95AB-ED8B112C4158}">
      <dgm:prSet/>
      <dgm:spPr/>
      <dgm:t>
        <a:bodyPr/>
        <a:lstStyle/>
        <a:p>
          <a:endParaRPr lang="en-IN" sz="1600">
            <a:latin typeface="Calibri" panose="020F0502020204030204" pitchFamily="34" charset="0"/>
          </a:endParaRPr>
        </a:p>
      </dgm:t>
    </dgm:pt>
    <dgm:pt modelId="{D215191D-84F9-4C03-9D7F-978010A9EF98}" type="sibTrans" cxnId="{BE9F95F6-2846-4A9A-95AB-ED8B112C4158}">
      <dgm:prSet/>
      <dgm:spPr/>
      <dgm:t>
        <a:bodyPr/>
        <a:lstStyle/>
        <a:p>
          <a:endParaRPr lang="en-IN" sz="1600">
            <a:latin typeface="Calibri" panose="020F0502020204030204" pitchFamily="34" charset="0"/>
          </a:endParaRPr>
        </a:p>
      </dgm:t>
    </dgm:pt>
    <dgm:pt modelId="{8B54AD22-0515-4AA9-8C24-77C2362FD8C9}" type="pres">
      <dgm:prSet presAssocID="{2123C638-EF9D-4B12-96A7-CDB49795DB6F}" presName="Name0" presStyleCnt="0">
        <dgm:presLayoutVars>
          <dgm:chMax val="7"/>
          <dgm:dir/>
          <dgm:animLvl val="lvl"/>
          <dgm:resizeHandles val="exact"/>
        </dgm:presLayoutVars>
      </dgm:prSet>
      <dgm:spPr/>
      <dgm:t>
        <a:bodyPr/>
        <a:lstStyle/>
        <a:p>
          <a:endParaRPr lang="en-IN"/>
        </a:p>
      </dgm:t>
    </dgm:pt>
    <dgm:pt modelId="{EAD45133-FB29-4CC6-B206-3630DF77021C}" type="pres">
      <dgm:prSet presAssocID="{280BE8E3-0240-40EB-9982-86C2C9F8083F}" presName="circle1" presStyleLbl="node1" presStyleIdx="0" presStyleCnt="5"/>
      <dgm:spPr/>
    </dgm:pt>
    <dgm:pt modelId="{2EE1D27C-2A0D-4A28-84C8-67F7C8CC56B5}" type="pres">
      <dgm:prSet presAssocID="{280BE8E3-0240-40EB-9982-86C2C9F8083F}" presName="space" presStyleCnt="0"/>
      <dgm:spPr/>
    </dgm:pt>
    <dgm:pt modelId="{E94C959B-74C4-438C-AA72-949882D1DE12}" type="pres">
      <dgm:prSet presAssocID="{280BE8E3-0240-40EB-9982-86C2C9F8083F}" presName="rect1" presStyleLbl="alignAcc1" presStyleIdx="0" presStyleCnt="5"/>
      <dgm:spPr/>
      <dgm:t>
        <a:bodyPr/>
        <a:lstStyle/>
        <a:p>
          <a:endParaRPr lang="en-IN"/>
        </a:p>
      </dgm:t>
    </dgm:pt>
    <dgm:pt modelId="{DBC45169-1E6E-4AA4-A562-C48BED9DD45B}" type="pres">
      <dgm:prSet presAssocID="{5798F581-569C-461C-99EA-4BCFB295FCFC}" presName="vertSpace2" presStyleLbl="node1" presStyleIdx="0" presStyleCnt="5"/>
      <dgm:spPr/>
    </dgm:pt>
    <dgm:pt modelId="{0A00C66D-EC5A-47EA-8E37-D5566A686B63}" type="pres">
      <dgm:prSet presAssocID="{5798F581-569C-461C-99EA-4BCFB295FCFC}" presName="circle2" presStyleLbl="node1" presStyleIdx="1" presStyleCnt="5"/>
      <dgm:spPr/>
    </dgm:pt>
    <dgm:pt modelId="{F5857C52-E4D4-46D5-8E87-6F67131A9ACA}" type="pres">
      <dgm:prSet presAssocID="{5798F581-569C-461C-99EA-4BCFB295FCFC}" presName="rect2" presStyleLbl="alignAcc1" presStyleIdx="1" presStyleCnt="5"/>
      <dgm:spPr/>
      <dgm:t>
        <a:bodyPr/>
        <a:lstStyle/>
        <a:p>
          <a:endParaRPr lang="en-IN"/>
        </a:p>
      </dgm:t>
    </dgm:pt>
    <dgm:pt modelId="{D2A64CB8-163D-463E-8C5D-320BCCF47E3A}" type="pres">
      <dgm:prSet presAssocID="{42E51FBD-CDFF-41D6-ACCB-61AE9518D537}" presName="vertSpace3" presStyleLbl="node1" presStyleIdx="1" presStyleCnt="5"/>
      <dgm:spPr/>
    </dgm:pt>
    <dgm:pt modelId="{37719500-1674-4781-A9A8-6B4FFAC858AA}" type="pres">
      <dgm:prSet presAssocID="{42E51FBD-CDFF-41D6-ACCB-61AE9518D537}" presName="circle3" presStyleLbl="node1" presStyleIdx="2" presStyleCnt="5"/>
      <dgm:spPr/>
    </dgm:pt>
    <dgm:pt modelId="{1488A166-C377-4E3B-99F7-29F74EB3EC94}" type="pres">
      <dgm:prSet presAssocID="{42E51FBD-CDFF-41D6-ACCB-61AE9518D537}" presName="rect3" presStyleLbl="alignAcc1" presStyleIdx="2" presStyleCnt="5"/>
      <dgm:spPr/>
      <dgm:t>
        <a:bodyPr/>
        <a:lstStyle/>
        <a:p>
          <a:endParaRPr lang="en-IN"/>
        </a:p>
      </dgm:t>
    </dgm:pt>
    <dgm:pt modelId="{9D242FC8-87D1-4E97-937A-F5283AA63781}" type="pres">
      <dgm:prSet presAssocID="{DD9CC7AF-59C4-49AF-B072-74A1F06A7CEE}" presName="vertSpace4" presStyleLbl="node1" presStyleIdx="2" presStyleCnt="5"/>
      <dgm:spPr/>
    </dgm:pt>
    <dgm:pt modelId="{F8218CCE-9FE1-4475-A089-AE0F33FE55C6}" type="pres">
      <dgm:prSet presAssocID="{DD9CC7AF-59C4-49AF-B072-74A1F06A7CEE}" presName="circle4" presStyleLbl="node1" presStyleIdx="3" presStyleCnt="5"/>
      <dgm:spPr/>
    </dgm:pt>
    <dgm:pt modelId="{60004BA9-DEAE-4187-88CF-9B99F7936FF1}" type="pres">
      <dgm:prSet presAssocID="{DD9CC7AF-59C4-49AF-B072-74A1F06A7CEE}" presName="rect4" presStyleLbl="alignAcc1" presStyleIdx="3" presStyleCnt="5"/>
      <dgm:spPr/>
      <dgm:t>
        <a:bodyPr/>
        <a:lstStyle/>
        <a:p>
          <a:endParaRPr lang="en-IN"/>
        </a:p>
      </dgm:t>
    </dgm:pt>
    <dgm:pt modelId="{2F7B5563-96B3-4210-A41A-883139B6BE36}" type="pres">
      <dgm:prSet presAssocID="{F6734355-1307-47B9-8730-B1C4FDE3FA62}" presName="vertSpace5" presStyleLbl="node1" presStyleIdx="3" presStyleCnt="5"/>
      <dgm:spPr/>
    </dgm:pt>
    <dgm:pt modelId="{E54D1735-E202-4E01-88E4-3508660EBF14}" type="pres">
      <dgm:prSet presAssocID="{F6734355-1307-47B9-8730-B1C4FDE3FA62}" presName="circle5" presStyleLbl="node1" presStyleIdx="4" presStyleCnt="5"/>
      <dgm:spPr/>
    </dgm:pt>
    <dgm:pt modelId="{0109561C-7562-4E72-A52E-1FF961DFC945}" type="pres">
      <dgm:prSet presAssocID="{F6734355-1307-47B9-8730-B1C4FDE3FA62}" presName="rect5" presStyleLbl="alignAcc1" presStyleIdx="4" presStyleCnt="5"/>
      <dgm:spPr/>
      <dgm:t>
        <a:bodyPr/>
        <a:lstStyle/>
        <a:p>
          <a:endParaRPr lang="en-IN"/>
        </a:p>
      </dgm:t>
    </dgm:pt>
    <dgm:pt modelId="{6B321E3F-4465-4862-8838-07A968C30789}" type="pres">
      <dgm:prSet presAssocID="{280BE8E3-0240-40EB-9982-86C2C9F8083F}" presName="rect1ParTxNoCh" presStyleLbl="alignAcc1" presStyleIdx="4" presStyleCnt="5">
        <dgm:presLayoutVars>
          <dgm:chMax val="1"/>
          <dgm:bulletEnabled val="1"/>
        </dgm:presLayoutVars>
      </dgm:prSet>
      <dgm:spPr/>
      <dgm:t>
        <a:bodyPr/>
        <a:lstStyle/>
        <a:p>
          <a:endParaRPr lang="en-IN"/>
        </a:p>
      </dgm:t>
    </dgm:pt>
    <dgm:pt modelId="{EDC265E3-2F7D-4442-A720-411F2D0D22BC}" type="pres">
      <dgm:prSet presAssocID="{5798F581-569C-461C-99EA-4BCFB295FCFC}" presName="rect2ParTxNoCh" presStyleLbl="alignAcc1" presStyleIdx="4" presStyleCnt="5">
        <dgm:presLayoutVars>
          <dgm:chMax val="1"/>
          <dgm:bulletEnabled val="1"/>
        </dgm:presLayoutVars>
      </dgm:prSet>
      <dgm:spPr/>
      <dgm:t>
        <a:bodyPr/>
        <a:lstStyle/>
        <a:p>
          <a:endParaRPr lang="en-IN"/>
        </a:p>
      </dgm:t>
    </dgm:pt>
    <dgm:pt modelId="{3BDBE61F-2224-4E04-A00C-0F5698FC2D6F}" type="pres">
      <dgm:prSet presAssocID="{42E51FBD-CDFF-41D6-ACCB-61AE9518D537}" presName="rect3ParTxNoCh" presStyleLbl="alignAcc1" presStyleIdx="4" presStyleCnt="5">
        <dgm:presLayoutVars>
          <dgm:chMax val="1"/>
          <dgm:bulletEnabled val="1"/>
        </dgm:presLayoutVars>
      </dgm:prSet>
      <dgm:spPr/>
      <dgm:t>
        <a:bodyPr/>
        <a:lstStyle/>
        <a:p>
          <a:endParaRPr lang="en-IN"/>
        </a:p>
      </dgm:t>
    </dgm:pt>
    <dgm:pt modelId="{9F910381-0CA5-4F29-B9C9-5F480A0AAE5E}" type="pres">
      <dgm:prSet presAssocID="{DD9CC7AF-59C4-49AF-B072-74A1F06A7CEE}" presName="rect4ParTxNoCh" presStyleLbl="alignAcc1" presStyleIdx="4" presStyleCnt="5">
        <dgm:presLayoutVars>
          <dgm:chMax val="1"/>
          <dgm:bulletEnabled val="1"/>
        </dgm:presLayoutVars>
      </dgm:prSet>
      <dgm:spPr/>
      <dgm:t>
        <a:bodyPr/>
        <a:lstStyle/>
        <a:p>
          <a:endParaRPr lang="en-IN"/>
        </a:p>
      </dgm:t>
    </dgm:pt>
    <dgm:pt modelId="{B51C3648-B217-4A56-B0B4-BDB5BDCE1D0D}" type="pres">
      <dgm:prSet presAssocID="{F6734355-1307-47B9-8730-B1C4FDE3FA62}" presName="rect5ParTxNoCh" presStyleLbl="alignAcc1" presStyleIdx="4" presStyleCnt="5">
        <dgm:presLayoutVars>
          <dgm:chMax val="1"/>
          <dgm:bulletEnabled val="1"/>
        </dgm:presLayoutVars>
      </dgm:prSet>
      <dgm:spPr/>
      <dgm:t>
        <a:bodyPr/>
        <a:lstStyle/>
        <a:p>
          <a:endParaRPr lang="en-IN"/>
        </a:p>
      </dgm:t>
    </dgm:pt>
  </dgm:ptLst>
  <dgm:cxnLst>
    <dgm:cxn modelId="{6CAD2473-A2D7-49F0-8805-ED9435A88C4C}" type="presOf" srcId="{5798F581-569C-461C-99EA-4BCFB295FCFC}" destId="{EDC265E3-2F7D-4442-A720-411F2D0D22BC}" srcOrd="1" destOrd="0" presId="urn:microsoft.com/office/officeart/2005/8/layout/target3"/>
    <dgm:cxn modelId="{D971DBAF-9672-4589-8A43-00922741B33D}" type="presOf" srcId="{F6734355-1307-47B9-8730-B1C4FDE3FA62}" destId="{B51C3648-B217-4A56-B0B4-BDB5BDCE1D0D}" srcOrd="1" destOrd="0" presId="urn:microsoft.com/office/officeart/2005/8/layout/target3"/>
    <dgm:cxn modelId="{CF88D171-6F4D-4F2E-A871-90EDEA8680B4}" type="presOf" srcId="{5798F581-569C-461C-99EA-4BCFB295FCFC}" destId="{F5857C52-E4D4-46D5-8E87-6F67131A9ACA}" srcOrd="0" destOrd="0" presId="urn:microsoft.com/office/officeart/2005/8/layout/target3"/>
    <dgm:cxn modelId="{EC644B08-48DB-455C-B002-8DF1162E41E1}" type="presOf" srcId="{280BE8E3-0240-40EB-9982-86C2C9F8083F}" destId="{E94C959B-74C4-438C-AA72-949882D1DE12}" srcOrd="0" destOrd="0" presId="urn:microsoft.com/office/officeart/2005/8/layout/target3"/>
    <dgm:cxn modelId="{40AE101A-FCE3-4FAF-B8F1-CD7556888F41}" type="presOf" srcId="{F6734355-1307-47B9-8730-B1C4FDE3FA62}" destId="{0109561C-7562-4E72-A52E-1FF961DFC945}" srcOrd="0" destOrd="0" presId="urn:microsoft.com/office/officeart/2005/8/layout/target3"/>
    <dgm:cxn modelId="{8B1BAF1B-0A85-484C-A589-E8448EC10EF4}" type="presOf" srcId="{DD9CC7AF-59C4-49AF-B072-74A1F06A7CEE}" destId="{60004BA9-DEAE-4187-88CF-9B99F7936FF1}" srcOrd="0" destOrd="0" presId="urn:microsoft.com/office/officeart/2005/8/layout/target3"/>
    <dgm:cxn modelId="{B852E9F2-A873-4992-83E7-3A890043C504}" srcId="{2123C638-EF9D-4B12-96A7-CDB49795DB6F}" destId="{280BE8E3-0240-40EB-9982-86C2C9F8083F}" srcOrd="0" destOrd="0" parTransId="{102102E1-ABD5-406B-A8C4-540A17F24E8D}" sibTransId="{A5D5F8D1-BA28-4BB2-88B2-A724E4BC689D}"/>
    <dgm:cxn modelId="{BE9F95F6-2846-4A9A-95AB-ED8B112C4158}" srcId="{2123C638-EF9D-4B12-96A7-CDB49795DB6F}" destId="{F6734355-1307-47B9-8730-B1C4FDE3FA62}" srcOrd="4" destOrd="0" parTransId="{A5186754-603F-42B0-8B9E-81A190694B14}" sibTransId="{D215191D-84F9-4C03-9D7F-978010A9EF98}"/>
    <dgm:cxn modelId="{4FCBB978-0F88-49B5-B339-6FFD65699C74}" srcId="{2123C638-EF9D-4B12-96A7-CDB49795DB6F}" destId="{42E51FBD-CDFF-41D6-ACCB-61AE9518D537}" srcOrd="2" destOrd="0" parTransId="{FC9673F7-1C05-453D-B886-0B0713DB0BB0}" sibTransId="{1FEEE269-2B1D-4AE4-8C0A-0C1C53A15730}"/>
    <dgm:cxn modelId="{C415A64A-30D9-4B0D-BBB5-66FBDF0032CE}" type="presOf" srcId="{42E51FBD-CDFF-41D6-ACCB-61AE9518D537}" destId="{3BDBE61F-2224-4E04-A00C-0F5698FC2D6F}" srcOrd="1" destOrd="0" presId="urn:microsoft.com/office/officeart/2005/8/layout/target3"/>
    <dgm:cxn modelId="{5A0C5356-C26F-439B-B792-C5F959DA7122}" type="presOf" srcId="{42E51FBD-CDFF-41D6-ACCB-61AE9518D537}" destId="{1488A166-C377-4E3B-99F7-29F74EB3EC94}" srcOrd="0" destOrd="0" presId="urn:microsoft.com/office/officeart/2005/8/layout/target3"/>
    <dgm:cxn modelId="{28102BEB-FBB4-40BB-A375-5180E6F87EE4}" type="presOf" srcId="{2123C638-EF9D-4B12-96A7-CDB49795DB6F}" destId="{8B54AD22-0515-4AA9-8C24-77C2362FD8C9}" srcOrd="0" destOrd="0" presId="urn:microsoft.com/office/officeart/2005/8/layout/target3"/>
    <dgm:cxn modelId="{83B93157-FD3A-47B2-8D30-21FAB318D83A}" type="presOf" srcId="{DD9CC7AF-59C4-49AF-B072-74A1F06A7CEE}" destId="{9F910381-0CA5-4F29-B9C9-5F480A0AAE5E}" srcOrd="1" destOrd="0" presId="urn:microsoft.com/office/officeart/2005/8/layout/target3"/>
    <dgm:cxn modelId="{6185AFEC-33DD-472B-86DE-0CD4EA297009}" srcId="{2123C638-EF9D-4B12-96A7-CDB49795DB6F}" destId="{DD9CC7AF-59C4-49AF-B072-74A1F06A7CEE}" srcOrd="3" destOrd="0" parTransId="{60ACAFFB-BE5C-4CFE-AC9C-8F4948F62C46}" sibTransId="{994435FA-0FAD-4A08-A5FD-9C02052E1321}"/>
    <dgm:cxn modelId="{9FF152A2-C804-477D-B672-25F2AEEE5D0B}" type="presOf" srcId="{280BE8E3-0240-40EB-9982-86C2C9F8083F}" destId="{6B321E3F-4465-4862-8838-07A968C30789}" srcOrd="1" destOrd="0" presId="urn:microsoft.com/office/officeart/2005/8/layout/target3"/>
    <dgm:cxn modelId="{19506275-3FEF-4FCC-ABEC-2F34A003C384}" srcId="{2123C638-EF9D-4B12-96A7-CDB49795DB6F}" destId="{5798F581-569C-461C-99EA-4BCFB295FCFC}" srcOrd="1" destOrd="0" parTransId="{7BED7C6B-56F5-4910-A4F4-071FB885560C}" sibTransId="{95DBA40A-0F69-497A-8DB4-50939B4DB609}"/>
    <dgm:cxn modelId="{7154912F-A083-4528-A34D-1113373732B0}" type="presParOf" srcId="{8B54AD22-0515-4AA9-8C24-77C2362FD8C9}" destId="{EAD45133-FB29-4CC6-B206-3630DF77021C}" srcOrd="0" destOrd="0" presId="urn:microsoft.com/office/officeart/2005/8/layout/target3"/>
    <dgm:cxn modelId="{9DFF3BA9-82A8-4228-A8DA-2CE18EE590CA}" type="presParOf" srcId="{8B54AD22-0515-4AA9-8C24-77C2362FD8C9}" destId="{2EE1D27C-2A0D-4A28-84C8-67F7C8CC56B5}" srcOrd="1" destOrd="0" presId="urn:microsoft.com/office/officeart/2005/8/layout/target3"/>
    <dgm:cxn modelId="{9E88D85C-E4B8-41E7-8DCB-90F3A67DA53B}" type="presParOf" srcId="{8B54AD22-0515-4AA9-8C24-77C2362FD8C9}" destId="{E94C959B-74C4-438C-AA72-949882D1DE12}" srcOrd="2" destOrd="0" presId="urn:microsoft.com/office/officeart/2005/8/layout/target3"/>
    <dgm:cxn modelId="{A45C9FF3-F220-41B1-B1B0-1CEFCD6FDDBE}" type="presParOf" srcId="{8B54AD22-0515-4AA9-8C24-77C2362FD8C9}" destId="{DBC45169-1E6E-4AA4-A562-C48BED9DD45B}" srcOrd="3" destOrd="0" presId="urn:microsoft.com/office/officeart/2005/8/layout/target3"/>
    <dgm:cxn modelId="{BD32839C-5846-44E7-9638-AB62F44E3210}" type="presParOf" srcId="{8B54AD22-0515-4AA9-8C24-77C2362FD8C9}" destId="{0A00C66D-EC5A-47EA-8E37-D5566A686B63}" srcOrd="4" destOrd="0" presId="urn:microsoft.com/office/officeart/2005/8/layout/target3"/>
    <dgm:cxn modelId="{970D25E6-3199-4C5B-A680-48E92BD4BCD0}" type="presParOf" srcId="{8B54AD22-0515-4AA9-8C24-77C2362FD8C9}" destId="{F5857C52-E4D4-46D5-8E87-6F67131A9ACA}" srcOrd="5" destOrd="0" presId="urn:microsoft.com/office/officeart/2005/8/layout/target3"/>
    <dgm:cxn modelId="{6E3CB54D-6BBE-4D74-9513-FB2FA24DEF0A}" type="presParOf" srcId="{8B54AD22-0515-4AA9-8C24-77C2362FD8C9}" destId="{D2A64CB8-163D-463E-8C5D-320BCCF47E3A}" srcOrd="6" destOrd="0" presId="urn:microsoft.com/office/officeart/2005/8/layout/target3"/>
    <dgm:cxn modelId="{5972DE4E-5DE1-449E-A92B-4C768F898357}" type="presParOf" srcId="{8B54AD22-0515-4AA9-8C24-77C2362FD8C9}" destId="{37719500-1674-4781-A9A8-6B4FFAC858AA}" srcOrd="7" destOrd="0" presId="urn:microsoft.com/office/officeart/2005/8/layout/target3"/>
    <dgm:cxn modelId="{470AA7C7-AACC-45C2-9E13-C5DD7E862C4C}" type="presParOf" srcId="{8B54AD22-0515-4AA9-8C24-77C2362FD8C9}" destId="{1488A166-C377-4E3B-99F7-29F74EB3EC94}" srcOrd="8" destOrd="0" presId="urn:microsoft.com/office/officeart/2005/8/layout/target3"/>
    <dgm:cxn modelId="{CE89843D-EB92-45D0-93AE-EC0DDEC5A0C6}" type="presParOf" srcId="{8B54AD22-0515-4AA9-8C24-77C2362FD8C9}" destId="{9D242FC8-87D1-4E97-937A-F5283AA63781}" srcOrd="9" destOrd="0" presId="urn:microsoft.com/office/officeart/2005/8/layout/target3"/>
    <dgm:cxn modelId="{06776E81-25BA-4E72-9001-13DCA25C887F}" type="presParOf" srcId="{8B54AD22-0515-4AA9-8C24-77C2362FD8C9}" destId="{F8218CCE-9FE1-4475-A089-AE0F33FE55C6}" srcOrd="10" destOrd="0" presId="urn:microsoft.com/office/officeart/2005/8/layout/target3"/>
    <dgm:cxn modelId="{F9C2C343-9A4F-4CE8-9A36-45FCA9CD36B9}" type="presParOf" srcId="{8B54AD22-0515-4AA9-8C24-77C2362FD8C9}" destId="{60004BA9-DEAE-4187-88CF-9B99F7936FF1}" srcOrd="11" destOrd="0" presId="urn:microsoft.com/office/officeart/2005/8/layout/target3"/>
    <dgm:cxn modelId="{4BB01156-5A97-4AAB-A5E5-E7F70465A647}" type="presParOf" srcId="{8B54AD22-0515-4AA9-8C24-77C2362FD8C9}" destId="{2F7B5563-96B3-4210-A41A-883139B6BE36}" srcOrd="12" destOrd="0" presId="urn:microsoft.com/office/officeart/2005/8/layout/target3"/>
    <dgm:cxn modelId="{4E6A6E13-6F23-4FBC-BC64-423CC584D6E5}" type="presParOf" srcId="{8B54AD22-0515-4AA9-8C24-77C2362FD8C9}" destId="{E54D1735-E202-4E01-88E4-3508660EBF14}" srcOrd="13" destOrd="0" presId="urn:microsoft.com/office/officeart/2005/8/layout/target3"/>
    <dgm:cxn modelId="{15A9F32E-1DCE-4F44-AC50-F55C979C8A3D}" type="presParOf" srcId="{8B54AD22-0515-4AA9-8C24-77C2362FD8C9}" destId="{0109561C-7562-4E72-A52E-1FF961DFC945}" srcOrd="14" destOrd="0" presId="urn:microsoft.com/office/officeart/2005/8/layout/target3"/>
    <dgm:cxn modelId="{EB401E69-5839-4528-8C33-28BFA426A2C9}" type="presParOf" srcId="{8B54AD22-0515-4AA9-8C24-77C2362FD8C9}" destId="{6B321E3F-4465-4862-8838-07A968C30789}" srcOrd="15" destOrd="0" presId="urn:microsoft.com/office/officeart/2005/8/layout/target3"/>
    <dgm:cxn modelId="{A7C79E23-D2EB-405B-991E-0C4418E0910D}" type="presParOf" srcId="{8B54AD22-0515-4AA9-8C24-77C2362FD8C9}" destId="{EDC265E3-2F7D-4442-A720-411F2D0D22BC}" srcOrd="16" destOrd="0" presId="urn:microsoft.com/office/officeart/2005/8/layout/target3"/>
    <dgm:cxn modelId="{4F6DAF18-44FC-4238-988A-ADC5217F77B3}" type="presParOf" srcId="{8B54AD22-0515-4AA9-8C24-77C2362FD8C9}" destId="{3BDBE61F-2224-4E04-A00C-0F5698FC2D6F}" srcOrd="17" destOrd="0" presId="urn:microsoft.com/office/officeart/2005/8/layout/target3"/>
    <dgm:cxn modelId="{797447F8-3D23-412F-A483-F76FD402320F}" type="presParOf" srcId="{8B54AD22-0515-4AA9-8C24-77C2362FD8C9}" destId="{9F910381-0CA5-4F29-B9C9-5F480A0AAE5E}" srcOrd="18" destOrd="0" presId="urn:microsoft.com/office/officeart/2005/8/layout/target3"/>
    <dgm:cxn modelId="{1ED96871-EECB-424E-A906-F6152935496C}" type="presParOf" srcId="{8B54AD22-0515-4AA9-8C24-77C2362FD8C9}" destId="{B51C3648-B217-4A56-B0B4-BDB5BDCE1D0D}" srcOrd="19" destOrd="0" presId="urn:microsoft.com/office/officeart/2005/8/layout/target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27E9DF7-4059-48E2-BB04-548A3D725F10}" type="doc">
      <dgm:prSet loTypeId="urn:microsoft.com/office/officeart/2005/8/layout/process1" loCatId="process" qsTypeId="urn:microsoft.com/office/officeart/2005/8/quickstyle/simple1" qsCatId="simple" csTypeId="urn:microsoft.com/office/officeart/2005/8/colors/colorful3" csCatId="colorful" phldr="1"/>
      <dgm:spPr/>
    </dgm:pt>
    <dgm:pt modelId="{0970C4CD-A396-4DBB-AA7E-F2C1748121A7}">
      <dgm:prSet phldrT="[Text]" custT="1"/>
      <dgm:spPr/>
      <dgm:t>
        <a:bodyPr/>
        <a:lstStyle/>
        <a:p>
          <a:r>
            <a:rPr lang="en-IN" sz="1800" dirty="0" smtClean="0"/>
            <a:t>Validation of 5 identified store locations</a:t>
          </a:r>
          <a:endParaRPr lang="en-IN" sz="1800" dirty="0"/>
        </a:p>
      </dgm:t>
    </dgm:pt>
    <dgm:pt modelId="{D64BC531-75A0-4435-8111-8047851C2143}" type="parTrans" cxnId="{8FD76345-89B2-4E06-A2A2-F156AC074EC6}">
      <dgm:prSet/>
      <dgm:spPr/>
      <dgm:t>
        <a:bodyPr/>
        <a:lstStyle/>
        <a:p>
          <a:endParaRPr lang="en-IN" sz="1400"/>
        </a:p>
      </dgm:t>
    </dgm:pt>
    <dgm:pt modelId="{13A04A71-1D13-421F-8086-A2D70F254F32}" type="sibTrans" cxnId="{8FD76345-89B2-4E06-A2A2-F156AC074EC6}">
      <dgm:prSet custT="1"/>
      <dgm:spPr/>
      <dgm:t>
        <a:bodyPr/>
        <a:lstStyle/>
        <a:p>
          <a:endParaRPr lang="en-IN" sz="1400" dirty="0"/>
        </a:p>
      </dgm:t>
    </dgm:pt>
    <dgm:pt modelId="{F32F4B69-FC0A-465B-B7D0-DDB7F9FC34E8}">
      <dgm:prSet phldrT="[Text]" custT="1"/>
      <dgm:spPr/>
      <dgm:t>
        <a:bodyPr/>
        <a:lstStyle/>
        <a:p>
          <a:r>
            <a:rPr lang="en-IN" sz="1800" dirty="0" smtClean="0"/>
            <a:t>Identification of the 5 best pin locations</a:t>
          </a:r>
          <a:endParaRPr lang="en-IN" sz="1800" dirty="0"/>
        </a:p>
      </dgm:t>
    </dgm:pt>
    <dgm:pt modelId="{1EDF3853-45D9-4251-A059-ACFF92747F13}" type="parTrans" cxnId="{29E6407B-BA31-434D-87C8-F1C3B4F1608B}">
      <dgm:prSet/>
      <dgm:spPr/>
      <dgm:t>
        <a:bodyPr/>
        <a:lstStyle/>
        <a:p>
          <a:endParaRPr lang="en-IN" sz="1400"/>
        </a:p>
      </dgm:t>
    </dgm:pt>
    <dgm:pt modelId="{445D430B-CD78-4253-8C3A-C312DAE2EEF5}" type="sibTrans" cxnId="{29E6407B-BA31-434D-87C8-F1C3B4F1608B}">
      <dgm:prSet/>
      <dgm:spPr/>
      <dgm:t>
        <a:bodyPr/>
        <a:lstStyle/>
        <a:p>
          <a:endParaRPr lang="en-IN" sz="1400"/>
        </a:p>
      </dgm:t>
    </dgm:pt>
    <dgm:pt modelId="{0B70E6D0-0E79-421E-AA71-1EC33E130FDA}" type="pres">
      <dgm:prSet presAssocID="{127E9DF7-4059-48E2-BB04-548A3D725F10}" presName="Name0" presStyleCnt="0">
        <dgm:presLayoutVars>
          <dgm:dir/>
          <dgm:resizeHandles val="exact"/>
        </dgm:presLayoutVars>
      </dgm:prSet>
      <dgm:spPr/>
    </dgm:pt>
    <dgm:pt modelId="{AA8922C4-E2F0-4DC7-A007-5C5E0CCF8F2B}" type="pres">
      <dgm:prSet presAssocID="{0970C4CD-A396-4DBB-AA7E-F2C1748121A7}" presName="node" presStyleLbl="node1" presStyleIdx="0" presStyleCnt="2">
        <dgm:presLayoutVars>
          <dgm:bulletEnabled val="1"/>
        </dgm:presLayoutVars>
      </dgm:prSet>
      <dgm:spPr/>
      <dgm:t>
        <a:bodyPr/>
        <a:lstStyle/>
        <a:p>
          <a:endParaRPr lang="en-IN"/>
        </a:p>
      </dgm:t>
    </dgm:pt>
    <dgm:pt modelId="{19736CB0-2EB2-4CC5-AB71-AC24D315B3D3}" type="pres">
      <dgm:prSet presAssocID="{13A04A71-1D13-421F-8086-A2D70F254F32}" presName="sibTrans" presStyleLbl="sibTrans2D1" presStyleIdx="0" presStyleCnt="1"/>
      <dgm:spPr/>
      <dgm:t>
        <a:bodyPr/>
        <a:lstStyle/>
        <a:p>
          <a:endParaRPr lang="en-IN"/>
        </a:p>
      </dgm:t>
    </dgm:pt>
    <dgm:pt modelId="{6D4E72F9-4B25-4B08-833F-24DBA469CD22}" type="pres">
      <dgm:prSet presAssocID="{13A04A71-1D13-421F-8086-A2D70F254F32}" presName="connectorText" presStyleLbl="sibTrans2D1" presStyleIdx="0" presStyleCnt="1"/>
      <dgm:spPr/>
      <dgm:t>
        <a:bodyPr/>
        <a:lstStyle/>
        <a:p>
          <a:endParaRPr lang="en-IN"/>
        </a:p>
      </dgm:t>
    </dgm:pt>
    <dgm:pt modelId="{487CEA42-8344-4161-A186-20B367B67CC8}" type="pres">
      <dgm:prSet presAssocID="{F32F4B69-FC0A-465B-B7D0-DDB7F9FC34E8}" presName="node" presStyleLbl="node1" presStyleIdx="1" presStyleCnt="2">
        <dgm:presLayoutVars>
          <dgm:bulletEnabled val="1"/>
        </dgm:presLayoutVars>
      </dgm:prSet>
      <dgm:spPr/>
      <dgm:t>
        <a:bodyPr/>
        <a:lstStyle/>
        <a:p>
          <a:endParaRPr lang="en-IN"/>
        </a:p>
      </dgm:t>
    </dgm:pt>
  </dgm:ptLst>
  <dgm:cxnLst>
    <dgm:cxn modelId="{9AA6F70A-6DF1-4941-B3A9-72EF59AC55B0}" type="presOf" srcId="{F32F4B69-FC0A-465B-B7D0-DDB7F9FC34E8}" destId="{487CEA42-8344-4161-A186-20B367B67CC8}" srcOrd="0" destOrd="0" presId="urn:microsoft.com/office/officeart/2005/8/layout/process1"/>
    <dgm:cxn modelId="{E2E143CD-4FC2-4807-A1C7-D5F72A835BE2}" type="presOf" srcId="{0970C4CD-A396-4DBB-AA7E-F2C1748121A7}" destId="{AA8922C4-E2F0-4DC7-A007-5C5E0CCF8F2B}" srcOrd="0" destOrd="0" presId="urn:microsoft.com/office/officeart/2005/8/layout/process1"/>
    <dgm:cxn modelId="{B820F8C4-922D-41EA-8C93-247460811E51}" type="presOf" srcId="{127E9DF7-4059-48E2-BB04-548A3D725F10}" destId="{0B70E6D0-0E79-421E-AA71-1EC33E130FDA}" srcOrd="0" destOrd="0" presId="urn:microsoft.com/office/officeart/2005/8/layout/process1"/>
    <dgm:cxn modelId="{8FD76345-89B2-4E06-A2A2-F156AC074EC6}" srcId="{127E9DF7-4059-48E2-BB04-548A3D725F10}" destId="{0970C4CD-A396-4DBB-AA7E-F2C1748121A7}" srcOrd="0" destOrd="0" parTransId="{D64BC531-75A0-4435-8111-8047851C2143}" sibTransId="{13A04A71-1D13-421F-8086-A2D70F254F32}"/>
    <dgm:cxn modelId="{4AFF370C-1E55-4FBE-9F66-A94423EE86E5}" type="presOf" srcId="{13A04A71-1D13-421F-8086-A2D70F254F32}" destId="{6D4E72F9-4B25-4B08-833F-24DBA469CD22}" srcOrd="1" destOrd="0" presId="urn:microsoft.com/office/officeart/2005/8/layout/process1"/>
    <dgm:cxn modelId="{29E6407B-BA31-434D-87C8-F1C3B4F1608B}" srcId="{127E9DF7-4059-48E2-BB04-548A3D725F10}" destId="{F32F4B69-FC0A-465B-B7D0-DDB7F9FC34E8}" srcOrd="1" destOrd="0" parTransId="{1EDF3853-45D9-4251-A059-ACFF92747F13}" sibTransId="{445D430B-CD78-4253-8C3A-C312DAE2EEF5}"/>
    <dgm:cxn modelId="{4FC02685-0C48-4125-A6C6-A913906505F1}" type="presOf" srcId="{13A04A71-1D13-421F-8086-A2D70F254F32}" destId="{19736CB0-2EB2-4CC5-AB71-AC24D315B3D3}" srcOrd="0" destOrd="0" presId="urn:microsoft.com/office/officeart/2005/8/layout/process1"/>
    <dgm:cxn modelId="{61B5789F-F83D-45F8-AAA9-189C1F6E55E4}" type="presParOf" srcId="{0B70E6D0-0E79-421E-AA71-1EC33E130FDA}" destId="{AA8922C4-E2F0-4DC7-A007-5C5E0CCF8F2B}" srcOrd="0" destOrd="0" presId="urn:microsoft.com/office/officeart/2005/8/layout/process1"/>
    <dgm:cxn modelId="{8B8FF4D4-9534-4B21-9827-4B3D77D2C92F}" type="presParOf" srcId="{0B70E6D0-0E79-421E-AA71-1EC33E130FDA}" destId="{19736CB0-2EB2-4CC5-AB71-AC24D315B3D3}" srcOrd="1" destOrd="0" presId="urn:microsoft.com/office/officeart/2005/8/layout/process1"/>
    <dgm:cxn modelId="{9FDDCE65-9477-4AA8-BBA2-6F8A2BC61977}" type="presParOf" srcId="{19736CB0-2EB2-4CC5-AB71-AC24D315B3D3}" destId="{6D4E72F9-4B25-4B08-833F-24DBA469CD22}" srcOrd="0" destOrd="0" presId="urn:microsoft.com/office/officeart/2005/8/layout/process1"/>
    <dgm:cxn modelId="{157FE8C5-E0C2-41CF-B97C-3DA78160BDB5}" type="presParOf" srcId="{0B70E6D0-0E79-421E-AA71-1EC33E130FDA}" destId="{487CEA42-8344-4161-A186-20B367B67CC8}" srcOrd="2" destOrd="0" presId="urn:microsoft.com/office/officeart/2005/8/layout/process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F5B82B7-E308-4B42-9BCB-32024EEC08A6}" type="doc">
      <dgm:prSet loTypeId="urn:microsoft.com/office/officeart/2008/layout/AlternatingHexagons" loCatId="list" qsTypeId="urn:microsoft.com/office/officeart/2005/8/quickstyle/simple1" qsCatId="simple" csTypeId="urn:microsoft.com/office/officeart/2005/8/colors/accent1_2" csCatId="accent1" phldr="1"/>
      <dgm:spPr/>
      <dgm:t>
        <a:bodyPr/>
        <a:lstStyle/>
        <a:p>
          <a:endParaRPr lang="en-IN"/>
        </a:p>
      </dgm:t>
    </dgm:pt>
    <dgm:pt modelId="{52A752D2-679E-41C3-A353-70B9A14732B9}">
      <dgm:prSet phldrT="[Text]" custT="1"/>
      <dgm:spPr>
        <a:solidFill>
          <a:schemeClr val="accent1"/>
        </a:solidFill>
        <a:ln>
          <a:noFill/>
        </a:ln>
      </dgm:spPr>
      <dgm:t>
        <a:bodyPr/>
        <a:lstStyle/>
        <a:p>
          <a:r>
            <a:rPr lang="en-IN" sz="1000" dirty="0" smtClean="0"/>
            <a:t>PIN for Store Location</a:t>
          </a:r>
          <a:endParaRPr lang="en-IN" sz="1000" dirty="0"/>
        </a:p>
      </dgm:t>
    </dgm:pt>
    <dgm:pt modelId="{3AF70B85-4B40-450B-AF5B-E4D1F7C9DD83}" type="parTrans" cxnId="{BA0C4DA9-A86C-4997-9923-39348D76A392}">
      <dgm:prSet/>
      <dgm:spPr/>
      <dgm:t>
        <a:bodyPr/>
        <a:lstStyle/>
        <a:p>
          <a:endParaRPr lang="en-IN"/>
        </a:p>
      </dgm:t>
    </dgm:pt>
    <dgm:pt modelId="{BBB307DA-474F-49B4-A047-80B701DBD380}" type="sibTrans" cxnId="{BA0C4DA9-A86C-4997-9923-39348D76A392}">
      <dgm:prSet custT="1"/>
      <dgm:spPr>
        <a:solidFill>
          <a:srgbClr val="38A6E9"/>
        </a:solidFill>
      </dgm:spPr>
      <dgm:t>
        <a:bodyPr/>
        <a:lstStyle/>
        <a:p>
          <a:r>
            <a:rPr lang="en-IN" sz="1000" dirty="0" smtClean="0"/>
            <a:t>Adjacent </a:t>
          </a:r>
        </a:p>
        <a:p>
          <a:r>
            <a:rPr lang="en-IN" sz="1000" dirty="0" smtClean="0"/>
            <a:t>PIN 2 …with competitor store</a:t>
          </a:r>
          <a:endParaRPr lang="en-IN" sz="1000" dirty="0"/>
        </a:p>
      </dgm:t>
    </dgm:pt>
    <dgm:pt modelId="{B04B8AB9-FD8F-4BC9-80F5-05D806CB8AE0}">
      <dgm:prSet phldrT="[Text]" custT="1"/>
      <dgm:spPr>
        <a:solidFill>
          <a:srgbClr val="38A6E9"/>
        </a:solidFill>
      </dgm:spPr>
      <dgm:t>
        <a:bodyPr/>
        <a:lstStyle/>
        <a:p>
          <a:r>
            <a:rPr lang="en-IN" sz="1000" dirty="0" smtClean="0"/>
            <a:t>Adjacent </a:t>
          </a:r>
        </a:p>
        <a:p>
          <a:r>
            <a:rPr lang="en-IN" sz="1000" dirty="0" smtClean="0"/>
            <a:t>PIN 3</a:t>
          </a:r>
          <a:endParaRPr lang="en-IN" sz="1000" dirty="0"/>
        </a:p>
      </dgm:t>
    </dgm:pt>
    <dgm:pt modelId="{045DC9D7-D9E5-4A8A-BF23-6B5C35EF8D61}" type="parTrans" cxnId="{1354A5F9-8AC1-4FBB-8450-BA8DDA16EFE2}">
      <dgm:prSet/>
      <dgm:spPr/>
      <dgm:t>
        <a:bodyPr/>
        <a:lstStyle/>
        <a:p>
          <a:endParaRPr lang="en-IN"/>
        </a:p>
      </dgm:t>
    </dgm:pt>
    <dgm:pt modelId="{E7B1D8B3-E14B-4A5B-B5D4-1DD18D95AD1C}" type="sibTrans" cxnId="{1354A5F9-8AC1-4FBB-8450-BA8DDA16EFE2}">
      <dgm:prSet custT="1"/>
      <dgm:spPr>
        <a:solidFill>
          <a:srgbClr val="38A6E9"/>
        </a:solidFill>
      </dgm:spPr>
      <dgm:t>
        <a:bodyPr/>
        <a:lstStyle/>
        <a:p>
          <a:r>
            <a:rPr lang="en-IN" sz="1000" dirty="0" smtClean="0"/>
            <a:t>Adjacent </a:t>
          </a:r>
        </a:p>
        <a:p>
          <a:r>
            <a:rPr lang="en-IN" sz="1000" dirty="0" smtClean="0"/>
            <a:t>PIN 4</a:t>
          </a:r>
          <a:endParaRPr lang="en-IN" sz="1000" dirty="0"/>
        </a:p>
      </dgm:t>
    </dgm:pt>
    <dgm:pt modelId="{11C0066F-C1E8-4CDB-B00B-2F370EC50DDD}">
      <dgm:prSet phldrT="[Text]" custT="1"/>
      <dgm:spPr>
        <a:solidFill>
          <a:srgbClr val="38A6E9"/>
        </a:solidFill>
      </dgm:spPr>
      <dgm:t>
        <a:bodyPr/>
        <a:lstStyle/>
        <a:p>
          <a:r>
            <a:rPr lang="en-IN" sz="1000" dirty="0" smtClean="0"/>
            <a:t>Adjacent </a:t>
          </a:r>
        </a:p>
        <a:p>
          <a:r>
            <a:rPr lang="en-IN" sz="1000" dirty="0" smtClean="0"/>
            <a:t>PIN 1</a:t>
          </a:r>
          <a:endParaRPr lang="en-IN" sz="1000" dirty="0"/>
        </a:p>
      </dgm:t>
    </dgm:pt>
    <dgm:pt modelId="{D8D994AB-B482-42D8-9A4C-10DA8C4CA832}" type="sibTrans" cxnId="{8C25F8A6-AE8A-40A6-A527-3BB6DA4395F8}">
      <dgm:prSet custT="1"/>
      <dgm:spPr>
        <a:solidFill>
          <a:srgbClr val="38A6E9"/>
        </a:solidFill>
      </dgm:spPr>
      <dgm:t>
        <a:bodyPr/>
        <a:lstStyle/>
        <a:p>
          <a:r>
            <a:rPr lang="en-IN" sz="1000" dirty="0" smtClean="0"/>
            <a:t>Adjacent </a:t>
          </a:r>
        </a:p>
        <a:p>
          <a:r>
            <a:rPr lang="en-IN" sz="1000" dirty="0" smtClean="0"/>
            <a:t>PIN ..n</a:t>
          </a:r>
          <a:endParaRPr lang="en-IN" sz="1000" dirty="0"/>
        </a:p>
      </dgm:t>
    </dgm:pt>
    <dgm:pt modelId="{1F2E3D3D-E1C2-474B-BB6A-0EB47A943F9C}" type="parTrans" cxnId="{8C25F8A6-AE8A-40A6-A527-3BB6DA4395F8}">
      <dgm:prSet/>
      <dgm:spPr/>
      <dgm:t>
        <a:bodyPr/>
        <a:lstStyle/>
        <a:p>
          <a:endParaRPr lang="en-IN"/>
        </a:p>
      </dgm:t>
    </dgm:pt>
    <dgm:pt modelId="{F0F4F110-6DBB-4E96-BEE8-058B2156920E}" type="pres">
      <dgm:prSet presAssocID="{8F5B82B7-E308-4B42-9BCB-32024EEC08A6}" presName="Name0" presStyleCnt="0">
        <dgm:presLayoutVars>
          <dgm:chMax/>
          <dgm:chPref/>
          <dgm:dir/>
          <dgm:animLvl val="lvl"/>
        </dgm:presLayoutVars>
      </dgm:prSet>
      <dgm:spPr/>
      <dgm:t>
        <a:bodyPr/>
        <a:lstStyle/>
        <a:p>
          <a:endParaRPr lang="en-IN"/>
        </a:p>
      </dgm:t>
    </dgm:pt>
    <dgm:pt modelId="{D9D06DB4-FE10-4703-8B29-C042F36775FF}" type="pres">
      <dgm:prSet presAssocID="{11C0066F-C1E8-4CDB-B00B-2F370EC50DDD}" presName="composite" presStyleCnt="0"/>
      <dgm:spPr/>
    </dgm:pt>
    <dgm:pt modelId="{BA935580-37A3-40D4-8D2E-C5C4C586BD73}" type="pres">
      <dgm:prSet presAssocID="{11C0066F-C1E8-4CDB-B00B-2F370EC50DDD}" presName="Parent1" presStyleLbl="node1" presStyleIdx="0" presStyleCnt="6">
        <dgm:presLayoutVars>
          <dgm:chMax val="1"/>
          <dgm:chPref val="1"/>
          <dgm:bulletEnabled val="1"/>
        </dgm:presLayoutVars>
      </dgm:prSet>
      <dgm:spPr/>
      <dgm:t>
        <a:bodyPr/>
        <a:lstStyle/>
        <a:p>
          <a:endParaRPr lang="en-IN"/>
        </a:p>
      </dgm:t>
    </dgm:pt>
    <dgm:pt modelId="{7BD56787-9900-4C86-8045-F8907D24F665}" type="pres">
      <dgm:prSet presAssocID="{11C0066F-C1E8-4CDB-B00B-2F370EC50DDD}" presName="Childtext1" presStyleLbl="revTx" presStyleIdx="0" presStyleCnt="3">
        <dgm:presLayoutVars>
          <dgm:chMax val="0"/>
          <dgm:chPref val="0"/>
          <dgm:bulletEnabled val="1"/>
        </dgm:presLayoutVars>
      </dgm:prSet>
      <dgm:spPr/>
      <dgm:t>
        <a:bodyPr/>
        <a:lstStyle/>
        <a:p>
          <a:endParaRPr lang="en-IN"/>
        </a:p>
      </dgm:t>
    </dgm:pt>
    <dgm:pt modelId="{B6972857-DB7D-4E7E-ACFB-923C7E431984}" type="pres">
      <dgm:prSet presAssocID="{11C0066F-C1E8-4CDB-B00B-2F370EC50DDD}" presName="BalanceSpacing" presStyleCnt="0"/>
      <dgm:spPr/>
    </dgm:pt>
    <dgm:pt modelId="{E8BEFFA8-B875-43A1-9547-474A6455A58F}" type="pres">
      <dgm:prSet presAssocID="{11C0066F-C1E8-4CDB-B00B-2F370EC50DDD}" presName="BalanceSpacing1" presStyleCnt="0"/>
      <dgm:spPr/>
    </dgm:pt>
    <dgm:pt modelId="{CD88D55C-77B7-44FD-B259-90991644BAE5}" type="pres">
      <dgm:prSet presAssocID="{D8D994AB-B482-42D8-9A4C-10DA8C4CA832}" presName="Accent1Text" presStyleLbl="node1" presStyleIdx="1" presStyleCnt="6"/>
      <dgm:spPr/>
      <dgm:t>
        <a:bodyPr/>
        <a:lstStyle/>
        <a:p>
          <a:endParaRPr lang="en-IN"/>
        </a:p>
      </dgm:t>
    </dgm:pt>
    <dgm:pt modelId="{FB370503-8303-4AFF-A1FB-A13E320AC237}" type="pres">
      <dgm:prSet presAssocID="{D8D994AB-B482-42D8-9A4C-10DA8C4CA832}" presName="spaceBetweenRectangles" presStyleCnt="0"/>
      <dgm:spPr/>
    </dgm:pt>
    <dgm:pt modelId="{6A0CC09C-2DE9-4FFE-9986-77A2848400F2}" type="pres">
      <dgm:prSet presAssocID="{52A752D2-679E-41C3-A353-70B9A14732B9}" presName="composite" presStyleCnt="0"/>
      <dgm:spPr/>
    </dgm:pt>
    <dgm:pt modelId="{E5777FD9-2552-48D9-BC7E-78BC103CDE72}" type="pres">
      <dgm:prSet presAssocID="{52A752D2-679E-41C3-A353-70B9A14732B9}" presName="Parent1" presStyleLbl="node1" presStyleIdx="2" presStyleCnt="6">
        <dgm:presLayoutVars>
          <dgm:chMax val="1"/>
          <dgm:chPref val="1"/>
          <dgm:bulletEnabled val="1"/>
        </dgm:presLayoutVars>
      </dgm:prSet>
      <dgm:spPr/>
      <dgm:t>
        <a:bodyPr/>
        <a:lstStyle/>
        <a:p>
          <a:endParaRPr lang="en-IN"/>
        </a:p>
      </dgm:t>
    </dgm:pt>
    <dgm:pt modelId="{6E16E4B6-F050-429C-8165-397FC770FA7A}" type="pres">
      <dgm:prSet presAssocID="{52A752D2-679E-41C3-A353-70B9A14732B9}" presName="Childtext1" presStyleLbl="revTx" presStyleIdx="1" presStyleCnt="3">
        <dgm:presLayoutVars>
          <dgm:chMax val="0"/>
          <dgm:chPref val="0"/>
          <dgm:bulletEnabled val="1"/>
        </dgm:presLayoutVars>
      </dgm:prSet>
      <dgm:spPr/>
      <dgm:t>
        <a:bodyPr/>
        <a:lstStyle/>
        <a:p>
          <a:endParaRPr lang="en-IN"/>
        </a:p>
      </dgm:t>
    </dgm:pt>
    <dgm:pt modelId="{8152DB72-AF88-473D-8001-352A07C8DFB1}" type="pres">
      <dgm:prSet presAssocID="{52A752D2-679E-41C3-A353-70B9A14732B9}" presName="BalanceSpacing" presStyleCnt="0"/>
      <dgm:spPr/>
    </dgm:pt>
    <dgm:pt modelId="{3EB55DF1-0960-4C86-8230-720312CD0640}" type="pres">
      <dgm:prSet presAssocID="{52A752D2-679E-41C3-A353-70B9A14732B9}" presName="BalanceSpacing1" presStyleCnt="0"/>
      <dgm:spPr/>
    </dgm:pt>
    <dgm:pt modelId="{6E0FE39E-98E8-4D2C-B4D5-1C7E1703C3E4}" type="pres">
      <dgm:prSet presAssocID="{BBB307DA-474F-49B4-A047-80B701DBD380}" presName="Accent1Text" presStyleLbl="node1" presStyleIdx="3" presStyleCnt="6"/>
      <dgm:spPr/>
      <dgm:t>
        <a:bodyPr/>
        <a:lstStyle/>
        <a:p>
          <a:endParaRPr lang="en-IN"/>
        </a:p>
      </dgm:t>
    </dgm:pt>
    <dgm:pt modelId="{241D855B-8E69-46F1-8F89-A5F51BE8FA37}" type="pres">
      <dgm:prSet presAssocID="{BBB307DA-474F-49B4-A047-80B701DBD380}" presName="spaceBetweenRectangles" presStyleCnt="0"/>
      <dgm:spPr/>
    </dgm:pt>
    <dgm:pt modelId="{002EB44E-ECC5-4CB8-A495-22E958D38CB1}" type="pres">
      <dgm:prSet presAssocID="{B04B8AB9-FD8F-4BC9-80F5-05D806CB8AE0}" presName="composite" presStyleCnt="0"/>
      <dgm:spPr/>
    </dgm:pt>
    <dgm:pt modelId="{C3D206CC-3F09-4EFE-B0A1-86B6CD0B83A5}" type="pres">
      <dgm:prSet presAssocID="{B04B8AB9-FD8F-4BC9-80F5-05D806CB8AE0}" presName="Parent1" presStyleLbl="node1" presStyleIdx="4" presStyleCnt="6">
        <dgm:presLayoutVars>
          <dgm:chMax val="1"/>
          <dgm:chPref val="1"/>
          <dgm:bulletEnabled val="1"/>
        </dgm:presLayoutVars>
      </dgm:prSet>
      <dgm:spPr/>
      <dgm:t>
        <a:bodyPr/>
        <a:lstStyle/>
        <a:p>
          <a:endParaRPr lang="en-IN"/>
        </a:p>
      </dgm:t>
    </dgm:pt>
    <dgm:pt modelId="{F20E8C16-698E-4B29-AB40-C9A341042C35}" type="pres">
      <dgm:prSet presAssocID="{B04B8AB9-FD8F-4BC9-80F5-05D806CB8AE0}" presName="Childtext1" presStyleLbl="revTx" presStyleIdx="2" presStyleCnt="3">
        <dgm:presLayoutVars>
          <dgm:chMax val="0"/>
          <dgm:chPref val="0"/>
          <dgm:bulletEnabled val="1"/>
        </dgm:presLayoutVars>
      </dgm:prSet>
      <dgm:spPr/>
      <dgm:t>
        <a:bodyPr/>
        <a:lstStyle/>
        <a:p>
          <a:endParaRPr lang="en-IN"/>
        </a:p>
      </dgm:t>
    </dgm:pt>
    <dgm:pt modelId="{2C24F83E-4EDF-4735-A319-D6CEC666F816}" type="pres">
      <dgm:prSet presAssocID="{B04B8AB9-FD8F-4BC9-80F5-05D806CB8AE0}" presName="BalanceSpacing" presStyleCnt="0"/>
      <dgm:spPr/>
    </dgm:pt>
    <dgm:pt modelId="{E5816010-72D5-4D7F-B35E-F483B1D8BAE0}" type="pres">
      <dgm:prSet presAssocID="{B04B8AB9-FD8F-4BC9-80F5-05D806CB8AE0}" presName="BalanceSpacing1" presStyleCnt="0"/>
      <dgm:spPr/>
    </dgm:pt>
    <dgm:pt modelId="{9A76ACD0-91C1-459A-9AF3-3CE990774DF6}" type="pres">
      <dgm:prSet presAssocID="{E7B1D8B3-E14B-4A5B-B5D4-1DD18D95AD1C}" presName="Accent1Text" presStyleLbl="node1" presStyleIdx="5" presStyleCnt="6"/>
      <dgm:spPr/>
      <dgm:t>
        <a:bodyPr/>
        <a:lstStyle/>
        <a:p>
          <a:endParaRPr lang="en-IN"/>
        </a:p>
      </dgm:t>
    </dgm:pt>
  </dgm:ptLst>
  <dgm:cxnLst>
    <dgm:cxn modelId="{EA6CFA88-A3C3-4F0F-8EE5-E254D6CFFCBC}" type="presOf" srcId="{52A752D2-679E-41C3-A353-70B9A14732B9}" destId="{E5777FD9-2552-48D9-BC7E-78BC103CDE72}" srcOrd="0" destOrd="0" presId="urn:microsoft.com/office/officeart/2008/layout/AlternatingHexagons"/>
    <dgm:cxn modelId="{4E8E97C3-76F6-4DFA-90C7-EF01E664697B}" type="presOf" srcId="{E7B1D8B3-E14B-4A5B-B5D4-1DD18D95AD1C}" destId="{9A76ACD0-91C1-459A-9AF3-3CE990774DF6}" srcOrd="0" destOrd="0" presId="urn:microsoft.com/office/officeart/2008/layout/AlternatingHexagons"/>
    <dgm:cxn modelId="{A1518EB7-0337-4EA4-9B4D-3BB34507C538}" type="presOf" srcId="{D8D994AB-B482-42D8-9A4C-10DA8C4CA832}" destId="{CD88D55C-77B7-44FD-B259-90991644BAE5}" srcOrd="0" destOrd="0" presId="urn:microsoft.com/office/officeart/2008/layout/AlternatingHexagons"/>
    <dgm:cxn modelId="{F19AC4AA-4D00-496C-8F78-BA6874252906}" type="presOf" srcId="{11C0066F-C1E8-4CDB-B00B-2F370EC50DDD}" destId="{BA935580-37A3-40D4-8D2E-C5C4C586BD73}" srcOrd="0" destOrd="0" presId="urn:microsoft.com/office/officeart/2008/layout/AlternatingHexagons"/>
    <dgm:cxn modelId="{1354A5F9-8AC1-4FBB-8450-BA8DDA16EFE2}" srcId="{8F5B82B7-E308-4B42-9BCB-32024EEC08A6}" destId="{B04B8AB9-FD8F-4BC9-80F5-05D806CB8AE0}" srcOrd="2" destOrd="0" parTransId="{045DC9D7-D9E5-4A8A-BF23-6B5C35EF8D61}" sibTransId="{E7B1D8B3-E14B-4A5B-B5D4-1DD18D95AD1C}"/>
    <dgm:cxn modelId="{EDB2E545-F846-42C6-A9F0-BF61C8D025FD}" type="presOf" srcId="{BBB307DA-474F-49B4-A047-80B701DBD380}" destId="{6E0FE39E-98E8-4D2C-B4D5-1C7E1703C3E4}" srcOrd="0" destOrd="0" presId="urn:microsoft.com/office/officeart/2008/layout/AlternatingHexagons"/>
    <dgm:cxn modelId="{8C25F8A6-AE8A-40A6-A527-3BB6DA4395F8}" srcId="{8F5B82B7-E308-4B42-9BCB-32024EEC08A6}" destId="{11C0066F-C1E8-4CDB-B00B-2F370EC50DDD}" srcOrd="0" destOrd="0" parTransId="{1F2E3D3D-E1C2-474B-BB6A-0EB47A943F9C}" sibTransId="{D8D994AB-B482-42D8-9A4C-10DA8C4CA832}"/>
    <dgm:cxn modelId="{E849B03A-856F-4051-9C9F-7B4146C84510}" type="presOf" srcId="{B04B8AB9-FD8F-4BC9-80F5-05D806CB8AE0}" destId="{C3D206CC-3F09-4EFE-B0A1-86B6CD0B83A5}" srcOrd="0" destOrd="0" presId="urn:microsoft.com/office/officeart/2008/layout/AlternatingHexagons"/>
    <dgm:cxn modelId="{BA0C4DA9-A86C-4997-9923-39348D76A392}" srcId="{8F5B82B7-E308-4B42-9BCB-32024EEC08A6}" destId="{52A752D2-679E-41C3-A353-70B9A14732B9}" srcOrd="1" destOrd="0" parTransId="{3AF70B85-4B40-450B-AF5B-E4D1F7C9DD83}" sibTransId="{BBB307DA-474F-49B4-A047-80B701DBD380}"/>
    <dgm:cxn modelId="{579F0ED5-A399-4212-A175-3699035F1598}" type="presOf" srcId="{8F5B82B7-E308-4B42-9BCB-32024EEC08A6}" destId="{F0F4F110-6DBB-4E96-BEE8-058B2156920E}" srcOrd="0" destOrd="0" presId="urn:microsoft.com/office/officeart/2008/layout/AlternatingHexagons"/>
    <dgm:cxn modelId="{4D4B3943-A8B7-4D37-9257-E45DAB666F19}" type="presParOf" srcId="{F0F4F110-6DBB-4E96-BEE8-058B2156920E}" destId="{D9D06DB4-FE10-4703-8B29-C042F36775FF}" srcOrd="0" destOrd="0" presId="urn:microsoft.com/office/officeart/2008/layout/AlternatingHexagons"/>
    <dgm:cxn modelId="{4655F33C-86B9-4C00-B313-4E52AC252FF6}" type="presParOf" srcId="{D9D06DB4-FE10-4703-8B29-C042F36775FF}" destId="{BA935580-37A3-40D4-8D2E-C5C4C586BD73}" srcOrd="0" destOrd="0" presId="urn:microsoft.com/office/officeart/2008/layout/AlternatingHexagons"/>
    <dgm:cxn modelId="{6F10F332-F086-47C0-AEF7-8912F6BF2493}" type="presParOf" srcId="{D9D06DB4-FE10-4703-8B29-C042F36775FF}" destId="{7BD56787-9900-4C86-8045-F8907D24F665}" srcOrd="1" destOrd="0" presId="urn:microsoft.com/office/officeart/2008/layout/AlternatingHexagons"/>
    <dgm:cxn modelId="{14E4F9E6-236F-4E56-A1FC-EEA1E446AA03}" type="presParOf" srcId="{D9D06DB4-FE10-4703-8B29-C042F36775FF}" destId="{B6972857-DB7D-4E7E-ACFB-923C7E431984}" srcOrd="2" destOrd="0" presId="urn:microsoft.com/office/officeart/2008/layout/AlternatingHexagons"/>
    <dgm:cxn modelId="{B255E0A3-5BF1-45E3-A2F9-9150CBB5373D}" type="presParOf" srcId="{D9D06DB4-FE10-4703-8B29-C042F36775FF}" destId="{E8BEFFA8-B875-43A1-9547-474A6455A58F}" srcOrd="3" destOrd="0" presId="urn:microsoft.com/office/officeart/2008/layout/AlternatingHexagons"/>
    <dgm:cxn modelId="{0E9663B4-D6CD-4103-A220-EAC36D0670C3}" type="presParOf" srcId="{D9D06DB4-FE10-4703-8B29-C042F36775FF}" destId="{CD88D55C-77B7-44FD-B259-90991644BAE5}" srcOrd="4" destOrd="0" presId="urn:microsoft.com/office/officeart/2008/layout/AlternatingHexagons"/>
    <dgm:cxn modelId="{76C28976-13B2-4CA9-9E17-47FDE415748F}" type="presParOf" srcId="{F0F4F110-6DBB-4E96-BEE8-058B2156920E}" destId="{FB370503-8303-4AFF-A1FB-A13E320AC237}" srcOrd="1" destOrd="0" presId="urn:microsoft.com/office/officeart/2008/layout/AlternatingHexagons"/>
    <dgm:cxn modelId="{DFDA707F-C3AC-4768-BCE6-35E25FCF488A}" type="presParOf" srcId="{F0F4F110-6DBB-4E96-BEE8-058B2156920E}" destId="{6A0CC09C-2DE9-4FFE-9986-77A2848400F2}" srcOrd="2" destOrd="0" presId="urn:microsoft.com/office/officeart/2008/layout/AlternatingHexagons"/>
    <dgm:cxn modelId="{1BDB2B6A-9261-4F43-BDA1-C71FC848AB26}" type="presParOf" srcId="{6A0CC09C-2DE9-4FFE-9986-77A2848400F2}" destId="{E5777FD9-2552-48D9-BC7E-78BC103CDE72}" srcOrd="0" destOrd="0" presId="urn:microsoft.com/office/officeart/2008/layout/AlternatingHexagons"/>
    <dgm:cxn modelId="{7C933EE8-A355-489B-AAF9-E8EE8E6CC1F3}" type="presParOf" srcId="{6A0CC09C-2DE9-4FFE-9986-77A2848400F2}" destId="{6E16E4B6-F050-429C-8165-397FC770FA7A}" srcOrd="1" destOrd="0" presId="urn:microsoft.com/office/officeart/2008/layout/AlternatingHexagons"/>
    <dgm:cxn modelId="{9283B3E6-ECBF-4352-8F0E-A5BBD6B16E99}" type="presParOf" srcId="{6A0CC09C-2DE9-4FFE-9986-77A2848400F2}" destId="{8152DB72-AF88-473D-8001-352A07C8DFB1}" srcOrd="2" destOrd="0" presId="urn:microsoft.com/office/officeart/2008/layout/AlternatingHexagons"/>
    <dgm:cxn modelId="{5C9D9FEC-2507-46E8-BE68-D9808F989A48}" type="presParOf" srcId="{6A0CC09C-2DE9-4FFE-9986-77A2848400F2}" destId="{3EB55DF1-0960-4C86-8230-720312CD0640}" srcOrd="3" destOrd="0" presId="urn:microsoft.com/office/officeart/2008/layout/AlternatingHexagons"/>
    <dgm:cxn modelId="{230EC64A-8B9A-4078-8189-ADB25808E7A1}" type="presParOf" srcId="{6A0CC09C-2DE9-4FFE-9986-77A2848400F2}" destId="{6E0FE39E-98E8-4D2C-B4D5-1C7E1703C3E4}" srcOrd="4" destOrd="0" presId="urn:microsoft.com/office/officeart/2008/layout/AlternatingHexagons"/>
    <dgm:cxn modelId="{26FA3942-711F-48DB-97AB-643EA70AC8D4}" type="presParOf" srcId="{F0F4F110-6DBB-4E96-BEE8-058B2156920E}" destId="{241D855B-8E69-46F1-8F89-A5F51BE8FA37}" srcOrd="3" destOrd="0" presId="urn:microsoft.com/office/officeart/2008/layout/AlternatingHexagons"/>
    <dgm:cxn modelId="{1F0BBF3E-576E-4C6B-8243-B715CDDA2F95}" type="presParOf" srcId="{F0F4F110-6DBB-4E96-BEE8-058B2156920E}" destId="{002EB44E-ECC5-4CB8-A495-22E958D38CB1}" srcOrd="4" destOrd="0" presId="urn:microsoft.com/office/officeart/2008/layout/AlternatingHexagons"/>
    <dgm:cxn modelId="{DB77F5BE-A06E-41AF-9EFE-005E4BA1F582}" type="presParOf" srcId="{002EB44E-ECC5-4CB8-A495-22E958D38CB1}" destId="{C3D206CC-3F09-4EFE-B0A1-86B6CD0B83A5}" srcOrd="0" destOrd="0" presId="urn:microsoft.com/office/officeart/2008/layout/AlternatingHexagons"/>
    <dgm:cxn modelId="{E9F1E4D7-038C-4EAC-AF9A-8D4D34008924}" type="presParOf" srcId="{002EB44E-ECC5-4CB8-A495-22E958D38CB1}" destId="{F20E8C16-698E-4B29-AB40-C9A341042C35}" srcOrd="1" destOrd="0" presId="urn:microsoft.com/office/officeart/2008/layout/AlternatingHexagons"/>
    <dgm:cxn modelId="{8901CA18-37F8-425D-804E-0FA31459945E}" type="presParOf" srcId="{002EB44E-ECC5-4CB8-A495-22E958D38CB1}" destId="{2C24F83E-4EDF-4735-A319-D6CEC666F816}" srcOrd="2" destOrd="0" presId="urn:microsoft.com/office/officeart/2008/layout/AlternatingHexagons"/>
    <dgm:cxn modelId="{F2C4877F-5388-429D-ABB6-8AD6486C8A64}" type="presParOf" srcId="{002EB44E-ECC5-4CB8-A495-22E958D38CB1}" destId="{E5816010-72D5-4D7F-B35E-F483B1D8BAE0}" srcOrd="3" destOrd="0" presId="urn:microsoft.com/office/officeart/2008/layout/AlternatingHexagons"/>
    <dgm:cxn modelId="{F6B8A0F8-A291-4D02-B634-86C3450A12D8}" type="presParOf" srcId="{002EB44E-ECC5-4CB8-A495-22E958D38CB1}" destId="{9A76ACD0-91C1-459A-9AF3-3CE990774DF6}" srcOrd="4" destOrd="0" presId="urn:microsoft.com/office/officeart/2008/layout/AlternatingHexagon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F5B82B7-E308-4B42-9BCB-32024EEC08A6}" type="doc">
      <dgm:prSet loTypeId="urn:microsoft.com/office/officeart/2008/layout/AlternatingHexagons" loCatId="list" qsTypeId="urn:microsoft.com/office/officeart/2005/8/quickstyle/simple1" qsCatId="simple" csTypeId="urn:microsoft.com/office/officeart/2005/8/colors/accent1_2" csCatId="accent1" phldr="1"/>
      <dgm:spPr/>
      <dgm:t>
        <a:bodyPr/>
        <a:lstStyle/>
        <a:p>
          <a:endParaRPr lang="en-IN"/>
        </a:p>
      </dgm:t>
    </dgm:pt>
    <dgm:pt modelId="{52A752D2-679E-41C3-A353-70B9A14732B9}">
      <dgm:prSet phldrT="[Text]" custT="1"/>
      <dgm:spPr>
        <a:solidFill>
          <a:schemeClr val="accent1"/>
        </a:solidFill>
        <a:ln>
          <a:noFill/>
        </a:ln>
      </dgm:spPr>
      <dgm:t>
        <a:bodyPr/>
        <a:lstStyle/>
        <a:p>
          <a:r>
            <a:rPr lang="en-IN" sz="1000" dirty="0" smtClean="0"/>
            <a:t>PIN for Store Location</a:t>
          </a:r>
          <a:endParaRPr lang="en-IN" sz="1000" dirty="0"/>
        </a:p>
      </dgm:t>
    </dgm:pt>
    <dgm:pt modelId="{3AF70B85-4B40-450B-AF5B-E4D1F7C9DD83}" type="parTrans" cxnId="{BA0C4DA9-A86C-4997-9923-39348D76A392}">
      <dgm:prSet/>
      <dgm:spPr/>
      <dgm:t>
        <a:bodyPr/>
        <a:lstStyle/>
        <a:p>
          <a:endParaRPr lang="en-IN"/>
        </a:p>
      </dgm:t>
    </dgm:pt>
    <dgm:pt modelId="{BBB307DA-474F-49B4-A047-80B701DBD380}" type="sibTrans" cxnId="{BA0C4DA9-A86C-4997-9923-39348D76A392}">
      <dgm:prSet custT="1"/>
      <dgm:spPr>
        <a:solidFill>
          <a:srgbClr val="38A6E9"/>
        </a:solidFill>
      </dgm:spPr>
      <dgm:t>
        <a:bodyPr/>
        <a:lstStyle/>
        <a:p>
          <a:r>
            <a:rPr lang="en-IN" sz="1000" dirty="0" smtClean="0"/>
            <a:t>Adjacent </a:t>
          </a:r>
        </a:p>
        <a:p>
          <a:r>
            <a:rPr lang="en-IN" sz="1000" dirty="0" smtClean="0"/>
            <a:t>PIN 2 …with competitor store</a:t>
          </a:r>
          <a:endParaRPr lang="en-IN" sz="1000" dirty="0"/>
        </a:p>
      </dgm:t>
    </dgm:pt>
    <dgm:pt modelId="{B04B8AB9-FD8F-4BC9-80F5-05D806CB8AE0}">
      <dgm:prSet phldrT="[Text]" custT="1"/>
      <dgm:spPr>
        <a:solidFill>
          <a:srgbClr val="38A6E9"/>
        </a:solidFill>
      </dgm:spPr>
      <dgm:t>
        <a:bodyPr/>
        <a:lstStyle/>
        <a:p>
          <a:r>
            <a:rPr lang="en-IN" sz="1000" dirty="0" smtClean="0"/>
            <a:t>Adjacent </a:t>
          </a:r>
        </a:p>
        <a:p>
          <a:r>
            <a:rPr lang="en-IN" sz="1000" dirty="0" smtClean="0"/>
            <a:t>PIN 3</a:t>
          </a:r>
          <a:endParaRPr lang="en-IN" sz="1000" dirty="0"/>
        </a:p>
      </dgm:t>
    </dgm:pt>
    <dgm:pt modelId="{045DC9D7-D9E5-4A8A-BF23-6B5C35EF8D61}" type="parTrans" cxnId="{1354A5F9-8AC1-4FBB-8450-BA8DDA16EFE2}">
      <dgm:prSet/>
      <dgm:spPr/>
      <dgm:t>
        <a:bodyPr/>
        <a:lstStyle/>
        <a:p>
          <a:endParaRPr lang="en-IN"/>
        </a:p>
      </dgm:t>
    </dgm:pt>
    <dgm:pt modelId="{E7B1D8B3-E14B-4A5B-B5D4-1DD18D95AD1C}" type="sibTrans" cxnId="{1354A5F9-8AC1-4FBB-8450-BA8DDA16EFE2}">
      <dgm:prSet custT="1"/>
      <dgm:spPr>
        <a:solidFill>
          <a:srgbClr val="38A6E9"/>
        </a:solidFill>
      </dgm:spPr>
      <dgm:t>
        <a:bodyPr/>
        <a:lstStyle/>
        <a:p>
          <a:r>
            <a:rPr lang="en-IN" sz="1000" dirty="0" smtClean="0"/>
            <a:t>Adjacent </a:t>
          </a:r>
        </a:p>
        <a:p>
          <a:r>
            <a:rPr lang="en-IN" sz="1000" dirty="0" smtClean="0"/>
            <a:t>PIN 4</a:t>
          </a:r>
          <a:endParaRPr lang="en-IN" sz="1000" dirty="0"/>
        </a:p>
      </dgm:t>
    </dgm:pt>
    <dgm:pt modelId="{11C0066F-C1E8-4CDB-B00B-2F370EC50DDD}">
      <dgm:prSet phldrT="[Text]" custT="1"/>
      <dgm:spPr>
        <a:solidFill>
          <a:srgbClr val="38A6E9"/>
        </a:solidFill>
      </dgm:spPr>
      <dgm:t>
        <a:bodyPr/>
        <a:lstStyle/>
        <a:p>
          <a:r>
            <a:rPr lang="en-IN" sz="1000" dirty="0" smtClean="0"/>
            <a:t>Adjacent </a:t>
          </a:r>
        </a:p>
        <a:p>
          <a:r>
            <a:rPr lang="en-IN" sz="1000" dirty="0" smtClean="0"/>
            <a:t>PIN 1</a:t>
          </a:r>
          <a:endParaRPr lang="en-IN" sz="1000" dirty="0"/>
        </a:p>
      </dgm:t>
    </dgm:pt>
    <dgm:pt modelId="{D8D994AB-B482-42D8-9A4C-10DA8C4CA832}" type="sibTrans" cxnId="{8C25F8A6-AE8A-40A6-A527-3BB6DA4395F8}">
      <dgm:prSet custT="1"/>
      <dgm:spPr>
        <a:solidFill>
          <a:srgbClr val="38A6E9"/>
        </a:solidFill>
      </dgm:spPr>
      <dgm:t>
        <a:bodyPr/>
        <a:lstStyle/>
        <a:p>
          <a:r>
            <a:rPr lang="en-IN" sz="1000" dirty="0" smtClean="0"/>
            <a:t>Adjacent </a:t>
          </a:r>
        </a:p>
        <a:p>
          <a:r>
            <a:rPr lang="en-IN" sz="1000" dirty="0" smtClean="0"/>
            <a:t>PIN ..n</a:t>
          </a:r>
          <a:endParaRPr lang="en-IN" sz="1000" dirty="0"/>
        </a:p>
      </dgm:t>
    </dgm:pt>
    <dgm:pt modelId="{1F2E3D3D-E1C2-474B-BB6A-0EB47A943F9C}" type="parTrans" cxnId="{8C25F8A6-AE8A-40A6-A527-3BB6DA4395F8}">
      <dgm:prSet/>
      <dgm:spPr/>
      <dgm:t>
        <a:bodyPr/>
        <a:lstStyle/>
        <a:p>
          <a:endParaRPr lang="en-IN"/>
        </a:p>
      </dgm:t>
    </dgm:pt>
    <dgm:pt modelId="{F0F4F110-6DBB-4E96-BEE8-058B2156920E}" type="pres">
      <dgm:prSet presAssocID="{8F5B82B7-E308-4B42-9BCB-32024EEC08A6}" presName="Name0" presStyleCnt="0">
        <dgm:presLayoutVars>
          <dgm:chMax/>
          <dgm:chPref/>
          <dgm:dir/>
          <dgm:animLvl val="lvl"/>
        </dgm:presLayoutVars>
      </dgm:prSet>
      <dgm:spPr/>
      <dgm:t>
        <a:bodyPr/>
        <a:lstStyle/>
        <a:p>
          <a:endParaRPr lang="en-IN"/>
        </a:p>
      </dgm:t>
    </dgm:pt>
    <dgm:pt modelId="{D9D06DB4-FE10-4703-8B29-C042F36775FF}" type="pres">
      <dgm:prSet presAssocID="{11C0066F-C1E8-4CDB-B00B-2F370EC50DDD}" presName="composite" presStyleCnt="0"/>
      <dgm:spPr/>
    </dgm:pt>
    <dgm:pt modelId="{BA935580-37A3-40D4-8D2E-C5C4C586BD73}" type="pres">
      <dgm:prSet presAssocID="{11C0066F-C1E8-4CDB-B00B-2F370EC50DDD}" presName="Parent1" presStyleLbl="node1" presStyleIdx="0" presStyleCnt="6">
        <dgm:presLayoutVars>
          <dgm:chMax val="1"/>
          <dgm:chPref val="1"/>
          <dgm:bulletEnabled val="1"/>
        </dgm:presLayoutVars>
      </dgm:prSet>
      <dgm:spPr/>
      <dgm:t>
        <a:bodyPr/>
        <a:lstStyle/>
        <a:p>
          <a:endParaRPr lang="en-IN"/>
        </a:p>
      </dgm:t>
    </dgm:pt>
    <dgm:pt modelId="{7BD56787-9900-4C86-8045-F8907D24F665}" type="pres">
      <dgm:prSet presAssocID="{11C0066F-C1E8-4CDB-B00B-2F370EC50DDD}" presName="Childtext1" presStyleLbl="revTx" presStyleIdx="0" presStyleCnt="3">
        <dgm:presLayoutVars>
          <dgm:chMax val="0"/>
          <dgm:chPref val="0"/>
          <dgm:bulletEnabled val="1"/>
        </dgm:presLayoutVars>
      </dgm:prSet>
      <dgm:spPr/>
      <dgm:t>
        <a:bodyPr/>
        <a:lstStyle/>
        <a:p>
          <a:endParaRPr lang="en-IN"/>
        </a:p>
      </dgm:t>
    </dgm:pt>
    <dgm:pt modelId="{B6972857-DB7D-4E7E-ACFB-923C7E431984}" type="pres">
      <dgm:prSet presAssocID="{11C0066F-C1E8-4CDB-B00B-2F370EC50DDD}" presName="BalanceSpacing" presStyleCnt="0"/>
      <dgm:spPr/>
    </dgm:pt>
    <dgm:pt modelId="{E8BEFFA8-B875-43A1-9547-474A6455A58F}" type="pres">
      <dgm:prSet presAssocID="{11C0066F-C1E8-4CDB-B00B-2F370EC50DDD}" presName="BalanceSpacing1" presStyleCnt="0"/>
      <dgm:spPr/>
    </dgm:pt>
    <dgm:pt modelId="{CD88D55C-77B7-44FD-B259-90991644BAE5}" type="pres">
      <dgm:prSet presAssocID="{D8D994AB-B482-42D8-9A4C-10DA8C4CA832}" presName="Accent1Text" presStyleLbl="node1" presStyleIdx="1" presStyleCnt="6"/>
      <dgm:spPr/>
      <dgm:t>
        <a:bodyPr/>
        <a:lstStyle/>
        <a:p>
          <a:endParaRPr lang="en-IN"/>
        </a:p>
      </dgm:t>
    </dgm:pt>
    <dgm:pt modelId="{FB370503-8303-4AFF-A1FB-A13E320AC237}" type="pres">
      <dgm:prSet presAssocID="{D8D994AB-B482-42D8-9A4C-10DA8C4CA832}" presName="spaceBetweenRectangles" presStyleCnt="0"/>
      <dgm:spPr/>
    </dgm:pt>
    <dgm:pt modelId="{6A0CC09C-2DE9-4FFE-9986-77A2848400F2}" type="pres">
      <dgm:prSet presAssocID="{52A752D2-679E-41C3-A353-70B9A14732B9}" presName="composite" presStyleCnt="0"/>
      <dgm:spPr/>
    </dgm:pt>
    <dgm:pt modelId="{E5777FD9-2552-48D9-BC7E-78BC103CDE72}" type="pres">
      <dgm:prSet presAssocID="{52A752D2-679E-41C3-A353-70B9A14732B9}" presName="Parent1" presStyleLbl="node1" presStyleIdx="2" presStyleCnt="6">
        <dgm:presLayoutVars>
          <dgm:chMax val="1"/>
          <dgm:chPref val="1"/>
          <dgm:bulletEnabled val="1"/>
        </dgm:presLayoutVars>
      </dgm:prSet>
      <dgm:spPr/>
      <dgm:t>
        <a:bodyPr/>
        <a:lstStyle/>
        <a:p>
          <a:endParaRPr lang="en-IN"/>
        </a:p>
      </dgm:t>
    </dgm:pt>
    <dgm:pt modelId="{6E16E4B6-F050-429C-8165-397FC770FA7A}" type="pres">
      <dgm:prSet presAssocID="{52A752D2-679E-41C3-A353-70B9A14732B9}" presName="Childtext1" presStyleLbl="revTx" presStyleIdx="1" presStyleCnt="3">
        <dgm:presLayoutVars>
          <dgm:chMax val="0"/>
          <dgm:chPref val="0"/>
          <dgm:bulletEnabled val="1"/>
        </dgm:presLayoutVars>
      </dgm:prSet>
      <dgm:spPr/>
      <dgm:t>
        <a:bodyPr/>
        <a:lstStyle/>
        <a:p>
          <a:endParaRPr lang="en-IN"/>
        </a:p>
      </dgm:t>
    </dgm:pt>
    <dgm:pt modelId="{8152DB72-AF88-473D-8001-352A07C8DFB1}" type="pres">
      <dgm:prSet presAssocID="{52A752D2-679E-41C3-A353-70B9A14732B9}" presName="BalanceSpacing" presStyleCnt="0"/>
      <dgm:spPr/>
    </dgm:pt>
    <dgm:pt modelId="{3EB55DF1-0960-4C86-8230-720312CD0640}" type="pres">
      <dgm:prSet presAssocID="{52A752D2-679E-41C3-A353-70B9A14732B9}" presName="BalanceSpacing1" presStyleCnt="0"/>
      <dgm:spPr/>
    </dgm:pt>
    <dgm:pt modelId="{6E0FE39E-98E8-4D2C-B4D5-1C7E1703C3E4}" type="pres">
      <dgm:prSet presAssocID="{BBB307DA-474F-49B4-A047-80B701DBD380}" presName="Accent1Text" presStyleLbl="node1" presStyleIdx="3" presStyleCnt="6"/>
      <dgm:spPr/>
      <dgm:t>
        <a:bodyPr/>
        <a:lstStyle/>
        <a:p>
          <a:endParaRPr lang="en-IN"/>
        </a:p>
      </dgm:t>
    </dgm:pt>
    <dgm:pt modelId="{241D855B-8E69-46F1-8F89-A5F51BE8FA37}" type="pres">
      <dgm:prSet presAssocID="{BBB307DA-474F-49B4-A047-80B701DBD380}" presName="spaceBetweenRectangles" presStyleCnt="0"/>
      <dgm:spPr/>
    </dgm:pt>
    <dgm:pt modelId="{002EB44E-ECC5-4CB8-A495-22E958D38CB1}" type="pres">
      <dgm:prSet presAssocID="{B04B8AB9-FD8F-4BC9-80F5-05D806CB8AE0}" presName="composite" presStyleCnt="0"/>
      <dgm:spPr/>
    </dgm:pt>
    <dgm:pt modelId="{C3D206CC-3F09-4EFE-B0A1-86B6CD0B83A5}" type="pres">
      <dgm:prSet presAssocID="{B04B8AB9-FD8F-4BC9-80F5-05D806CB8AE0}" presName="Parent1" presStyleLbl="node1" presStyleIdx="4" presStyleCnt="6">
        <dgm:presLayoutVars>
          <dgm:chMax val="1"/>
          <dgm:chPref val="1"/>
          <dgm:bulletEnabled val="1"/>
        </dgm:presLayoutVars>
      </dgm:prSet>
      <dgm:spPr/>
      <dgm:t>
        <a:bodyPr/>
        <a:lstStyle/>
        <a:p>
          <a:endParaRPr lang="en-IN"/>
        </a:p>
      </dgm:t>
    </dgm:pt>
    <dgm:pt modelId="{F20E8C16-698E-4B29-AB40-C9A341042C35}" type="pres">
      <dgm:prSet presAssocID="{B04B8AB9-FD8F-4BC9-80F5-05D806CB8AE0}" presName="Childtext1" presStyleLbl="revTx" presStyleIdx="2" presStyleCnt="3">
        <dgm:presLayoutVars>
          <dgm:chMax val="0"/>
          <dgm:chPref val="0"/>
          <dgm:bulletEnabled val="1"/>
        </dgm:presLayoutVars>
      </dgm:prSet>
      <dgm:spPr/>
      <dgm:t>
        <a:bodyPr/>
        <a:lstStyle/>
        <a:p>
          <a:endParaRPr lang="en-IN"/>
        </a:p>
      </dgm:t>
    </dgm:pt>
    <dgm:pt modelId="{2C24F83E-4EDF-4735-A319-D6CEC666F816}" type="pres">
      <dgm:prSet presAssocID="{B04B8AB9-FD8F-4BC9-80F5-05D806CB8AE0}" presName="BalanceSpacing" presStyleCnt="0"/>
      <dgm:spPr/>
    </dgm:pt>
    <dgm:pt modelId="{E5816010-72D5-4D7F-B35E-F483B1D8BAE0}" type="pres">
      <dgm:prSet presAssocID="{B04B8AB9-FD8F-4BC9-80F5-05D806CB8AE0}" presName="BalanceSpacing1" presStyleCnt="0"/>
      <dgm:spPr/>
    </dgm:pt>
    <dgm:pt modelId="{9A76ACD0-91C1-459A-9AF3-3CE990774DF6}" type="pres">
      <dgm:prSet presAssocID="{E7B1D8B3-E14B-4A5B-B5D4-1DD18D95AD1C}" presName="Accent1Text" presStyleLbl="node1" presStyleIdx="5" presStyleCnt="6"/>
      <dgm:spPr/>
      <dgm:t>
        <a:bodyPr/>
        <a:lstStyle/>
        <a:p>
          <a:endParaRPr lang="en-IN"/>
        </a:p>
      </dgm:t>
    </dgm:pt>
  </dgm:ptLst>
  <dgm:cxnLst>
    <dgm:cxn modelId="{B56D21E2-4380-416A-AB71-FCE1DC8F492F}" type="presOf" srcId="{BBB307DA-474F-49B4-A047-80B701DBD380}" destId="{6E0FE39E-98E8-4D2C-B4D5-1C7E1703C3E4}" srcOrd="0" destOrd="0" presId="urn:microsoft.com/office/officeart/2008/layout/AlternatingHexagons"/>
    <dgm:cxn modelId="{1354A5F9-8AC1-4FBB-8450-BA8DDA16EFE2}" srcId="{8F5B82B7-E308-4B42-9BCB-32024EEC08A6}" destId="{B04B8AB9-FD8F-4BC9-80F5-05D806CB8AE0}" srcOrd="2" destOrd="0" parTransId="{045DC9D7-D9E5-4A8A-BF23-6B5C35EF8D61}" sibTransId="{E7B1D8B3-E14B-4A5B-B5D4-1DD18D95AD1C}"/>
    <dgm:cxn modelId="{7E8BF30E-8BF8-4B5B-8F1D-CDA0A9F1CB10}" type="presOf" srcId="{E7B1D8B3-E14B-4A5B-B5D4-1DD18D95AD1C}" destId="{9A76ACD0-91C1-459A-9AF3-3CE990774DF6}" srcOrd="0" destOrd="0" presId="urn:microsoft.com/office/officeart/2008/layout/AlternatingHexagons"/>
    <dgm:cxn modelId="{0444338E-67DC-42BD-BF3A-D6659C28A7FD}" type="presOf" srcId="{B04B8AB9-FD8F-4BC9-80F5-05D806CB8AE0}" destId="{C3D206CC-3F09-4EFE-B0A1-86B6CD0B83A5}" srcOrd="0" destOrd="0" presId="urn:microsoft.com/office/officeart/2008/layout/AlternatingHexagons"/>
    <dgm:cxn modelId="{3812DF47-7907-4C75-968B-91C5EA378472}" type="presOf" srcId="{52A752D2-679E-41C3-A353-70B9A14732B9}" destId="{E5777FD9-2552-48D9-BC7E-78BC103CDE72}" srcOrd="0" destOrd="0" presId="urn:microsoft.com/office/officeart/2008/layout/AlternatingHexagons"/>
    <dgm:cxn modelId="{0AC55A8E-74B0-4155-9F1A-277ED1FFEE07}" type="presOf" srcId="{D8D994AB-B482-42D8-9A4C-10DA8C4CA832}" destId="{CD88D55C-77B7-44FD-B259-90991644BAE5}" srcOrd="0" destOrd="0" presId="urn:microsoft.com/office/officeart/2008/layout/AlternatingHexagons"/>
    <dgm:cxn modelId="{59316EF6-97F8-4521-9409-06CAD6FC2401}" type="presOf" srcId="{11C0066F-C1E8-4CDB-B00B-2F370EC50DDD}" destId="{BA935580-37A3-40D4-8D2E-C5C4C586BD73}" srcOrd="0" destOrd="0" presId="urn:microsoft.com/office/officeart/2008/layout/AlternatingHexagons"/>
    <dgm:cxn modelId="{4833196A-3743-4001-A0E7-328B90D93CAC}" type="presOf" srcId="{8F5B82B7-E308-4B42-9BCB-32024EEC08A6}" destId="{F0F4F110-6DBB-4E96-BEE8-058B2156920E}" srcOrd="0" destOrd="0" presId="urn:microsoft.com/office/officeart/2008/layout/AlternatingHexagons"/>
    <dgm:cxn modelId="{8C25F8A6-AE8A-40A6-A527-3BB6DA4395F8}" srcId="{8F5B82B7-E308-4B42-9BCB-32024EEC08A6}" destId="{11C0066F-C1E8-4CDB-B00B-2F370EC50DDD}" srcOrd="0" destOrd="0" parTransId="{1F2E3D3D-E1C2-474B-BB6A-0EB47A943F9C}" sibTransId="{D8D994AB-B482-42D8-9A4C-10DA8C4CA832}"/>
    <dgm:cxn modelId="{BA0C4DA9-A86C-4997-9923-39348D76A392}" srcId="{8F5B82B7-E308-4B42-9BCB-32024EEC08A6}" destId="{52A752D2-679E-41C3-A353-70B9A14732B9}" srcOrd="1" destOrd="0" parTransId="{3AF70B85-4B40-450B-AF5B-E4D1F7C9DD83}" sibTransId="{BBB307DA-474F-49B4-A047-80B701DBD380}"/>
    <dgm:cxn modelId="{50FF419B-55DE-4F76-9EDE-A3D1E3E951D8}" type="presParOf" srcId="{F0F4F110-6DBB-4E96-BEE8-058B2156920E}" destId="{D9D06DB4-FE10-4703-8B29-C042F36775FF}" srcOrd="0" destOrd="0" presId="urn:microsoft.com/office/officeart/2008/layout/AlternatingHexagons"/>
    <dgm:cxn modelId="{D1F8A5D9-AE96-48BF-B6EA-620156A111F7}" type="presParOf" srcId="{D9D06DB4-FE10-4703-8B29-C042F36775FF}" destId="{BA935580-37A3-40D4-8D2E-C5C4C586BD73}" srcOrd="0" destOrd="0" presId="urn:microsoft.com/office/officeart/2008/layout/AlternatingHexagons"/>
    <dgm:cxn modelId="{FD5B97C9-4945-41FF-9D55-6CC54E5F5ABB}" type="presParOf" srcId="{D9D06DB4-FE10-4703-8B29-C042F36775FF}" destId="{7BD56787-9900-4C86-8045-F8907D24F665}" srcOrd="1" destOrd="0" presId="urn:microsoft.com/office/officeart/2008/layout/AlternatingHexagons"/>
    <dgm:cxn modelId="{3F859C79-2F97-4B01-B658-D6BE54278B62}" type="presParOf" srcId="{D9D06DB4-FE10-4703-8B29-C042F36775FF}" destId="{B6972857-DB7D-4E7E-ACFB-923C7E431984}" srcOrd="2" destOrd="0" presId="urn:microsoft.com/office/officeart/2008/layout/AlternatingHexagons"/>
    <dgm:cxn modelId="{AF96A623-8076-4344-B07B-2294C40320FC}" type="presParOf" srcId="{D9D06DB4-FE10-4703-8B29-C042F36775FF}" destId="{E8BEFFA8-B875-43A1-9547-474A6455A58F}" srcOrd="3" destOrd="0" presId="urn:microsoft.com/office/officeart/2008/layout/AlternatingHexagons"/>
    <dgm:cxn modelId="{61660FE6-B56E-466E-987D-5D5C5834E7DB}" type="presParOf" srcId="{D9D06DB4-FE10-4703-8B29-C042F36775FF}" destId="{CD88D55C-77B7-44FD-B259-90991644BAE5}" srcOrd="4" destOrd="0" presId="urn:microsoft.com/office/officeart/2008/layout/AlternatingHexagons"/>
    <dgm:cxn modelId="{4536A733-7BE7-49CE-B6CD-FFC23D1D0999}" type="presParOf" srcId="{F0F4F110-6DBB-4E96-BEE8-058B2156920E}" destId="{FB370503-8303-4AFF-A1FB-A13E320AC237}" srcOrd="1" destOrd="0" presId="urn:microsoft.com/office/officeart/2008/layout/AlternatingHexagons"/>
    <dgm:cxn modelId="{CCF30248-2C38-4712-9F09-72B45BF681C7}" type="presParOf" srcId="{F0F4F110-6DBB-4E96-BEE8-058B2156920E}" destId="{6A0CC09C-2DE9-4FFE-9986-77A2848400F2}" srcOrd="2" destOrd="0" presId="urn:microsoft.com/office/officeart/2008/layout/AlternatingHexagons"/>
    <dgm:cxn modelId="{01D1941E-3308-43A4-9BA2-77703D2A4CCF}" type="presParOf" srcId="{6A0CC09C-2DE9-4FFE-9986-77A2848400F2}" destId="{E5777FD9-2552-48D9-BC7E-78BC103CDE72}" srcOrd="0" destOrd="0" presId="urn:microsoft.com/office/officeart/2008/layout/AlternatingHexagons"/>
    <dgm:cxn modelId="{8B517A96-6E5A-43BB-BF0E-130CACC15165}" type="presParOf" srcId="{6A0CC09C-2DE9-4FFE-9986-77A2848400F2}" destId="{6E16E4B6-F050-429C-8165-397FC770FA7A}" srcOrd="1" destOrd="0" presId="urn:microsoft.com/office/officeart/2008/layout/AlternatingHexagons"/>
    <dgm:cxn modelId="{80542EF8-3807-439F-AE5F-757B84A14F34}" type="presParOf" srcId="{6A0CC09C-2DE9-4FFE-9986-77A2848400F2}" destId="{8152DB72-AF88-473D-8001-352A07C8DFB1}" srcOrd="2" destOrd="0" presId="urn:microsoft.com/office/officeart/2008/layout/AlternatingHexagons"/>
    <dgm:cxn modelId="{310F859E-D465-44BB-81F2-93FCEE3D07F7}" type="presParOf" srcId="{6A0CC09C-2DE9-4FFE-9986-77A2848400F2}" destId="{3EB55DF1-0960-4C86-8230-720312CD0640}" srcOrd="3" destOrd="0" presId="urn:microsoft.com/office/officeart/2008/layout/AlternatingHexagons"/>
    <dgm:cxn modelId="{709CCC6A-1097-4267-BBE9-D016A1D1CA38}" type="presParOf" srcId="{6A0CC09C-2DE9-4FFE-9986-77A2848400F2}" destId="{6E0FE39E-98E8-4D2C-B4D5-1C7E1703C3E4}" srcOrd="4" destOrd="0" presId="urn:microsoft.com/office/officeart/2008/layout/AlternatingHexagons"/>
    <dgm:cxn modelId="{4D44C49C-6A1F-480D-BD03-B1726A6C8A80}" type="presParOf" srcId="{F0F4F110-6DBB-4E96-BEE8-058B2156920E}" destId="{241D855B-8E69-46F1-8F89-A5F51BE8FA37}" srcOrd="3" destOrd="0" presId="urn:microsoft.com/office/officeart/2008/layout/AlternatingHexagons"/>
    <dgm:cxn modelId="{1841B86A-BF6C-493E-8401-AD1696F9C3E8}" type="presParOf" srcId="{F0F4F110-6DBB-4E96-BEE8-058B2156920E}" destId="{002EB44E-ECC5-4CB8-A495-22E958D38CB1}" srcOrd="4" destOrd="0" presId="urn:microsoft.com/office/officeart/2008/layout/AlternatingHexagons"/>
    <dgm:cxn modelId="{10611E03-E579-467D-9F5D-DE4A91B250DE}" type="presParOf" srcId="{002EB44E-ECC5-4CB8-A495-22E958D38CB1}" destId="{C3D206CC-3F09-4EFE-B0A1-86B6CD0B83A5}" srcOrd="0" destOrd="0" presId="urn:microsoft.com/office/officeart/2008/layout/AlternatingHexagons"/>
    <dgm:cxn modelId="{0D694791-87D7-4E63-A9A7-F511F93B5AA4}" type="presParOf" srcId="{002EB44E-ECC5-4CB8-A495-22E958D38CB1}" destId="{F20E8C16-698E-4B29-AB40-C9A341042C35}" srcOrd="1" destOrd="0" presId="urn:microsoft.com/office/officeart/2008/layout/AlternatingHexagons"/>
    <dgm:cxn modelId="{A23F1F01-412A-467A-915B-C68E33ED3BEF}" type="presParOf" srcId="{002EB44E-ECC5-4CB8-A495-22E958D38CB1}" destId="{2C24F83E-4EDF-4735-A319-D6CEC666F816}" srcOrd="2" destOrd="0" presId="urn:microsoft.com/office/officeart/2008/layout/AlternatingHexagons"/>
    <dgm:cxn modelId="{3F1C14D9-DD2B-48EB-A0F7-74B578EF8518}" type="presParOf" srcId="{002EB44E-ECC5-4CB8-A495-22E958D38CB1}" destId="{E5816010-72D5-4D7F-B35E-F483B1D8BAE0}" srcOrd="3" destOrd="0" presId="urn:microsoft.com/office/officeart/2008/layout/AlternatingHexagons"/>
    <dgm:cxn modelId="{5FBC64F5-550E-4D20-B87F-B00F1225AA49}" type="presParOf" srcId="{002EB44E-ECC5-4CB8-A495-22E958D38CB1}" destId="{9A76ACD0-91C1-459A-9AF3-3CE990774DF6}" srcOrd="4" destOrd="0" presId="urn:microsoft.com/office/officeart/2008/layout/AlternatingHexagon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7B5752A-F9CF-48F9-A490-6CCB1B61777C}" type="doc">
      <dgm:prSet loTypeId="urn:microsoft.com/office/officeart/2005/8/layout/hProcess7" loCatId="list" qsTypeId="urn:microsoft.com/office/officeart/2005/8/quickstyle/simple1" qsCatId="simple" csTypeId="urn:microsoft.com/office/officeart/2005/8/colors/colorful5" csCatId="colorful" phldr="1"/>
      <dgm:spPr/>
      <dgm:t>
        <a:bodyPr/>
        <a:lstStyle/>
        <a:p>
          <a:endParaRPr lang="en-IN"/>
        </a:p>
      </dgm:t>
    </dgm:pt>
    <dgm:pt modelId="{4B6A9737-AEBD-492C-ACE2-EF2BF96D56F6}">
      <dgm:prSet phldrT="[Text]" custT="1"/>
      <dgm:spPr/>
      <dgm:t>
        <a:bodyPr/>
        <a:lstStyle/>
        <a:p>
          <a:r>
            <a:rPr lang="en-IN" sz="1800" dirty="0" smtClean="0"/>
            <a:t>Store Attractiveness</a:t>
          </a:r>
          <a:endParaRPr lang="en-IN" sz="1800" dirty="0"/>
        </a:p>
      </dgm:t>
    </dgm:pt>
    <dgm:pt modelId="{A57E86BC-FF3B-462F-8C24-B5F85C6F16BE}" type="parTrans" cxnId="{76197296-C376-48C5-B8A5-3FD29CE9B443}">
      <dgm:prSet/>
      <dgm:spPr/>
      <dgm:t>
        <a:bodyPr/>
        <a:lstStyle/>
        <a:p>
          <a:endParaRPr lang="en-IN"/>
        </a:p>
      </dgm:t>
    </dgm:pt>
    <dgm:pt modelId="{C25DCFB7-16DA-4DB5-B72B-20D73D4F8DB5}" type="sibTrans" cxnId="{76197296-C376-48C5-B8A5-3FD29CE9B443}">
      <dgm:prSet/>
      <dgm:spPr/>
      <dgm:t>
        <a:bodyPr/>
        <a:lstStyle/>
        <a:p>
          <a:endParaRPr lang="en-IN"/>
        </a:p>
      </dgm:t>
    </dgm:pt>
    <dgm:pt modelId="{50F88C4C-9B9E-44FF-927D-962E0F2BA12A}">
      <dgm:prSet phldrT="[Text]" custT="1"/>
      <dgm:spPr/>
      <dgm:t>
        <a:bodyPr/>
        <a:lstStyle/>
        <a:p>
          <a:r>
            <a:rPr lang="en-IN" sz="1800" b="0" i="0" dirty="0" smtClean="0">
              <a:solidFill>
                <a:schemeClr val="bg1"/>
              </a:solidFill>
              <a:latin typeface="Calibri" panose="020F0502020204030204" pitchFamily="34" charset="0"/>
            </a:rPr>
            <a:t>Square Foot Area, Size and Layout</a:t>
          </a:r>
          <a:endParaRPr lang="en-IN" sz="1800" b="0" i="0" dirty="0">
            <a:solidFill>
              <a:schemeClr val="bg1"/>
            </a:solidFill>
          </a:endParaRPr>
        </a:p>
      </dgm:t>
    </dgm:pt>
    <dgm:pt modelId="{CF072A86-086E-4670-8C0F-3AC43D8559E4}" type="parTrans" cxnId="{21F9C2E0-1D45-4E9D-8296-6A03CE056C22}">
      <dgm:prSet/>
      <dgm:spPr/>
      <dgm:t>
        <a:bodyPr/>
        <a:lstStyle/>
        <a:p>
          <a:endParaRPr lang="en-IN"/>
        </a:p>
      </dgm:t>
    </dgm:pt>
    <dgm:pt modelId="{AA37DFA1-84A5-4F93-8C7C-F1E12F672A82}" type="sibTrans" cxnId="{21F9C2E0-1D45-4E9D-8296-6A03CE056C22}">
      <dgm:prSet/>
      <dgm:spPr/>
      <dgm:t>
        <a:bodyPr/>
        <a:lstStyle/>
        <a:p>
          <a:endParaRPr lang="en-IN"/>
        </a:p>
      </dgm:t>
    </dgm:pt>
    <dgm:pt modelId="{5A80D90D-5BAA-4DB0-B564-26B519B612E3}">
      <dgm:prSet phldrT="[Text]" custT="1"/>
      <dgm:spPr/>
      <dgm:t>
        <a:bodyPr/>
        <a:lstStyle/>
        <a:p>
          <a:r>
            <a:rPr lang="en-IN" sz="1800" smtClean="0">
              <a:latin typeface="Calibri" panose="020F0502020204030204" pitchFamily="34" charset="0"/>
            </a:rPr>
            <a:t>Use TATA Communications ATM data</a:t>
          </a:r>
        </a:p>
        <a:p>
          <a:r>
            <a:rPr lang="en-IN" sz="1800" smtClean="0">
              <a:latin typeface="Calibri" panose="020F0502020204030204" pitchFamily="34" charset="0"/>
            </a:rPr>
            <a:t>Transaction Volumes and Values by ATM location</a:t>
          </a:r>
        </a:p>
        <a:p>
          <a:r>
            <a:rPr lang="en-IN" sz="1800" smtClean="0">
              <a:latin typeface="Calibri" panose="020F0502020204030204" pitchFamily="34" charset="0"/>
            </a:rPr>
            <a:t>Refine PIN level recommendations to location level recommendations</a:t>
          </a:r>
          <a:endParaRPr lang="en-IN" sz="1800" dirty="0">
            <a:latin typeface="Calibri" panose="020F0502020204030204" pitchFamily="34" charset="0"/>
          </a:endParaRPr>
        </a:p>
      </dgm:t>
    </dgm:pt>
    <dgm:pt modelId="{31CF309E-5C57-4AFF-95EF-329C533CD084}" type="parTrans" cxnId="{5F10C273-1DF3-4EB0-B943-88F85B5B1C18}">
      <dgm:prSet/>
      <dgm:spPr/>
      <dgm:t>
        <a:bodyPr/>
        <a:lstStyle/>
        <a:p>
          <a:endParaRPr lang="en-IN"/>
        </a:p>
      </dgm:t>
    </dgm:pt>
    <dgm:pt modelId="{53A0EFF3-3107-4D9E-8B55-493DC6285764}" type="sibTrans" cxnId="{5F10C273-1DF3-4EB0-B943-88F85B5B1C18}">
      <dgm:prSet/>
      <dgm:spPr/>
      <dgm:t>
        <a:bodyPr/>
        <a:lstStyle/>
        <a:p>
          <a:endParaRPr lang="en-IN"/>
        </a:p>
      </dgm:t>
    </dgm:pt>
    <dgm:pt modelId="{64B5AFF9-557C-4CC8-99B3-A71092260AF4}">
      <dgm:prSet phldrT="[Text]" custT="1"/>
      <dgm:spPr/>
      <dgm:t>
        <a:bodyPr/>
        <a:lstStyle/>
        <a:p>
          <a:r>
            <a:rPr lang="en-IN" sz="1800" dirty="0" smtClean="0"/>
            <a:t>Granular Model Build</a:t>
          </a:r>
        </a:p>
        <a:p>
          <a:endParaRPr lang="en-IN" sz="1800" dirty="0"/>
        </a:p>
      </dgm:t>
    </dgm:pt>
    <dgm:pt modelId="{9C9FCF98-6F45-4BED-9145-A9D0540058CD}" type="parTrans" cxnId="{CC47D494-861E-4C5E-A5B7-A157E1485CDF}">
      <dgm:prSet/>
      <dgm:spPr/>
      <dgm:t>
        <a:bodyPr/>
        <a:lstStyle/>
        <a:p>
          <a:endParaRPr lang="en-IN"/>
        </a:p>
      </dgm:t>
    </dgm:pt>
    <dgm:pt modelId="{327362D9-3A53-4DFF-9915-C89A9D4A49C5}" type="sibTrans" cxnId="{CC47D494-861E-4C5E-A5B7-A157E1485CDF}">
      <dgm:prSet/>
      <dgm:spPr/>
      <dgm:t>
        <a:bodyPr/>
        <a:lstStyle/>
        <a:p>
          <a:endParaRPr lang="en-IN"/>
        </a:p>
      </dgm:t>
    </dgm:pt>
    <dgm:pt modelId="{40F0FFF4-12B9-4215-80FC-B8AC5394ECFA}">
      <dgm:prSet phldrT="[Text]" custT="1"/>
      <dgm:spPr/>
      <dgm:t>
        <a:bodyPr/>
        <a:lstStyle/>
        <a:p>
          <a:r>
            <a:rPr lang="en-IN" sz="1800" dirty="0" smtClean="0">
              <a:latin typeface="Calibri" panose="020F0502020204030204" pitchFamily="34" charset="0"/>
            </a:rPr>
            <a:t>Ward/Street level granularity in recommendations</a:t>
          </a:r>
        </a:p>
        <a:p>
          <a:r>
            <a:rPr lang="en-IN" sz="1800" dirty="0" smtClean="0">
              <a:latin typeface="Calibri" panose="020F0502020204030204" pitchFamily="34" charset="0"/>
            </a:rPr>
            <a:t>Model build at ward/street level, replacing PIN</a:t>
          </a:r>
        </a:p>
        <a:p>
          <a:r>
            <a:rPr lang="en-IN" sz="1800" dirty="0" smtClean="0">
              <a:latin typeface="Calibri" panose="020F0502020204030204" pitchFamily="34" charset="0"/>
            </a:rPr>
            <a:t>Incorporate Points of Interest (POIs) like restaurants, railway stations and others</a:t>
          </a:r>
          <a:endParaRPr lang="en-IN" sz="1800" dirty="0">
            <a:latin typeface="Calibri" panose="020F0502020204030204" pitchFamily="34" charset="0"/>
          </a:endParaRPr>
        </a:p>
      </dgm:t>
    </dgm:pt>
    <dgm:pt modelId="{53C2BF86-6AC9-4586-8A9E-A7E13D183394}" type="parTrans" cxnId="{91BE0D75-5F6C-46C1-9F41-875F9A274FDF}">
      <dgm:prSet/>
      <dgm:spPr/>
      <dgm:t>
        <a:bodyPr/>
        <a:lstStyle/>
        <a:p>
          <a:endParaRPr lang="en-IN"/>
        </a:p>
      </dgm:t>
    </dgm:pt>
    <dgm:pt modelId="{02298172-9EC9-4404-BDA9-D817687AF172}" type="sibTrans" cxnId="{91BE0D75-5F6C-46C1-9F41-875F9A274FDF}">
      <dgm:prSet/>
      <dgm:spPr/>
      <dgm:t>
        <a:bodyPr/>
        <a:lstStyle/>
        <a:p>
          <a:endParaRPr lang="en-IN"/>
        </a:p>
      </dgm:t>
    </dgm:pt>
    <dgm:pt modelId="{91D59FE7-52AE-4821-8270-746E40AF9F16}">
      <dgm:prSet custT="1"/>
      <dgm:spPr/>
      <dgm:t>
        <a:bodyPr/>
        <a:lstStyle/>
        <a:p>
          <a:r>
            <a:rPr lang="en-IN" sz="1800" b="0" i="0" dirty="0" smtClean="0">
              <a:solidFill>
                <a:schemeClr val="bg1"/>
              </a:solidFill>
              <a:latin typeface="Calibri" panose="020F0502020204030204" pitchFamily="34" charset="0"/>
            </a:rPr>
            <a:t>Number and quality of Sales People per sq. foot</a:t>
          </a:r>
        </a:p>
      </dgm:t>
    </dgm:pt>
    <dgm:pt modelId="{5B5C9FEE-2E19-40E6-884F-FC7A74ED1593}" type="parTrans" cxnId="{8B6A484A-4A28-471F-9049-2335C95497A3}">
      <dgm:prSet/>
      <dgm:spPr/>
      <dgm:t>
        <a:bodyPr/>
        <a:lstStyle/>
        <a:p>
          <a:endParaRPr lang="en-IN"/>
        </a:p>
      </dgm:t>
    </dgm:pt>
    <dgm:pt modelId="{A944C010-C426-4BEF-81D6-6315E537EBDF}" type="sibTrans" cxnId="{8B6A484A-4A28-471F-9049-2335C95497A3}">
      <dgm:prSet/>
      <dgm:spPr/>
      <dgm:t>
        <a:bodyPr/>
        <a:lstStyle/>
        <a:p>
          <a:endParaRPr lang="en-IN"/>
        </a:p>
      </dgm:t>
    </dgm:pt>
    <dgm:pt modelId="{FF601A6E-59DE-4C62-8EBF-BA0737D527E2}">
      <dgm:prSet custT="1"/>
      <dgm:spPr/>
      <dgm:t>
        <a:bodyPr/>
        <a:lstStyle/>
        <a:p>
          <a:r>
            <a:rPr lang="en-IN" sz="1800" b="0" i="0" dirty="0" smtClean="0">
              <a:solidFill>
                <a:schemeClr val="bg1"/>
              </a:solidFill>
              <a:latin typeface="Calibri" panose="020F0502020204030204" pitchFamily="34" charset="0"/>
            </a:rPr>
            <a:t>Measure of stock out</a:t>
          </a:r>
        </a:p>
      </dgm:t>
    </dgm:pt>
    <dgm:pt modelId="{8080C85A-3993-49B2-8BE5-E6BA35EA4071}" type="parTrans" cxnId="{0C905D9B-1C73-4B4B-ABFF-7FA1FCBB75B8}">
      <dgm:prSet/>
      <dgm:spPr/>
      <dgm:t>
        <a:bodyPr/>
        <a:lstStyle/>
        <a:p>
          <a:endParaRPr lang="en-IN"/>
        </a:p>
      </dgm:t>
    </dgm:pt>
    <dgm:pt modelId="{F649CCC9-D6B0-4DF2-9F70-0D27A3E97834}" type="sibTrans" cxnId="{0C905D9B-1C73-4B4B-ABFF-7FA1FCBB75B8}">
      <dgm:prSet/>
      <dgm:spPr/>
      <dgm:t>
        <a:bodyPr/>
        <a:lstStyle/>
        <a:p>
          <a:endParaRPr lang="en-IN"/>
        </a:p>
      </dgm:t>
    </dgm:pt>
    <dgm:pt modelId="{5346CB31-EF6E-4655-82EA-D796C7DFB152}">
      <dgm:prSet custT="1"/>
      <dgm:spPr/>
      <dgm:t>
        <a:bodyPr/>
        <a:lstStyle/>
        <a:p>
          <a:r>
            <a:rPr lang="en-IN" sz="1800" b="0" i="0" dirty="0" smtClean="0">
              <a:solidFill>
                <a:schemeClr val="bg1"/>
              </a:solidFill>
              <a:latin typeface="Calibri" panose="020F0502020204030204" pitchFamily="34" charset="0"/>
            </a:rPr>
            <a:t>Attractive Promotions</a:t>
          </a:r>
        </a:p>
      </dgm:t>
    </dgm:pt>
    <dgm:pt modelId="{29CE3561-8D8D-42D2-8DB2-C9BB4AF301FE}" type="parTrans" cxnId="{7D8F0E58-3F88-4CDF-88DC-2CF6B6C0B107}">
      <dgm:prSet/>
      <dgm:spPr/>
      <dgm:t>
        <a:bodyPr/>
        <a:lstStyle/>
        <a:p>
          <a:endParaRPr lang="en-IN"/>
        </a:p>
      </dgm:t>
    </dgm:pt>
    <dgm:pt modelId="{F059501F-97E9-483B-AE03-60924B6D925B}" type="sibTrans" cxnId="{7D8F0E58-3F88-4CDF-88DC-2CF6B6C0B107}">
      <dgm:prSet/>
      <dgm:spPr/>
      <dgm:t>
        <a:bodyPr/>
        <a:lstStyle/>
        <a:p>
          <a:endParaRPr lang="en-IN"/>
        </a:p>
      </dgm:t>
    </dgm:pt>
    <dgm:pt modelId="{C7DE2431-7EA2-4DCF-8383-EF2F7C3CB29F}">
      <dgm:prSet custT="1"/>
      <dgm:spPr/>
      <dgm:t>
        <a:bodyPr/>
        <a:lstStyle/>
        <a:p>
          <a:r>
            <a:rPr lang="en-IN" sz="1800" b="0" i="0" dirty="0" smtClean="0">
              <a:solidFill>
                <a:schemeClr val="bg1"/>
              </a:solidFill>
              <a:latin typeface="Calibri" panose="020F0502020204030204" pitchFamily="34" charset="0"/>
            </a:rPr>
            <a:t>Parking Space availability</a:t>
          </a:r>
          <a:endParaRPr lang="en-IN" sz="1800" b="0" i="0" dirty="0">
            <a:solidFill>
              <a:schemeClr val="bg1"/>
            </a:solidFill>
            <a:latin typeface="Calibri" panose="020F0502020204030204" pitchFamily="34" charset="0"/>
          </a:endParaRPr>
        </a:p>
      </dgm:t>
    </dgm:pt>
    <dgm:pt modelId="{449AFD66-0C7A-43EC-AF5E-DC2C5F85DC93}" type="parTrans" cxnId="{DF835A3D-DF7D-4E2D-9ABF-1F9DF4962379}">
      <dgm:prSet/>
      <dgm:spPr/>
      <dgm:t>
        <a:bodyPr/>
        <a:lstStyle/>
        <a:p>
          <a:endParaRPr lang="en-IN"/>
        </a:p>
      </dgm:t>
    </dgm:pt>
    <dgm:pt modelId="{6DC960B5-0DDF-45D0-9A34-BC7F0D909F32}" type="sibTrans" cxnId="{DF835A3D-DF7D-4E2D-9ABF-1F9DF4962379}">
      <dgm:prSet/>
      <dgm:spPr/>
      <dgm:t>
        <a:bodyPr/>
        <a:lstStyle/>
        <a:p>
          <a:endParaRPr lang="en-IN"/>
        </a:p>
      </dgm:t>
    </dgm:pt>
    <dgm:pt modelId="{DC28285D-44D5-429A-B00A-FE8809C807CC}">
      <dgm:prSet phldrT="[Text]" custT="1"/>
      <dgm:spPr/>
      <dgm:t>
        <a:bodyPr/>
        <a:lstStyle/>
        <a:p>
          <a:r>
            <a:rPr lang="en-IN" sz="1800" dirty="0" smtClean="0"/>
            <a:t>Granular Recommendations</a:t>
          </a:r>
        </a:p>
        <a:p>
          <a:endParaRPr lang="en-IN" sz="1800" dirty="0"/>
        </a:p>
      </dgm:t>
    </dgm:pt>
    <dgm:pt modelId="{001D671B-61F7-4BD2-B0D5-28DB959B0FFB}" type="sibTrans" cxnId="{AFD6B2B8-F725-49D5-BEF7-A044B087F17B}">
      <dgm:prSet/>
      <dgm:spPr/>
      <dgm:t>
        <a:bodyPr/>
        <a:lstStyle/>
        <a:p>
          <a:endParaRPr lang="en-IN"/>
        </a:p>
      </dgm:t>
    </dgm:pt>
    <dgm:pt modelId="{25EE6533-3068-47A3-83AC-66F605C7D9F8}" type="parTrans" cxnId="{AFD6B2B8-F725-49D5-BEF7-A044B087F17B}">
      <dgm:prSet/>
      <dgm:spPr/>
      <dgm:t>
        <a:bodyPr/>
        <a:lstStyle/>
        <a:p>
          <a:endParaRPr lang="en-IN"/>
        </a:p>
      </dgm:t>
    </dgm:pt>
    <dgm:pt modelId="{0E44E3C1-2E41-4F01-A871-B37655C6F57C}">
      <dgm:prSet custT="1"/>
      <dgm:spPr/>
      <dgm:t>
        <a:bodyPr/>
        <a:lstStyle/>
        <a:p>
          <a:endParaRPr lang="en-IN" sz="1800" dirty="0" smtClean="0">
            <a:latin typeface="Calibri" panose="020F0502020204030204" pitchFamily="34" charset="0"/>
          </a:endParaRPr>
        </a:p>
      </dgm:t>
    </dgm:pt>
    <dgm:pt modelId="{389A8DBB-7418-4BD0-AFAC-9EC435B427C8}" type="parTrans" cxnId="{79FDBE7C-4305-4DCA-A71E-D8B34C000039}">
      <dgm:prSet/>
      <dgm:spPr/>
      <dgm:t>
        <a:bodyPr/>
        <a:lstStyle/>
        <a:p>
          <a:endParaRPr lang="en-IN"/>
        </a:p>
      </dgm:t>
    </dgm:pt>
    <dgm:pt modelId="{0BC2CFDC-1B01-474D-95B7-F78B50DD7B60}" type="sibTrans" cxnId="{79FDBE7C-4305-4DCA-A71E-D8B34C000039}">
      <dgm:prSet/>
      <dgm:spPr/>
      <dgm:t>
        <a:bodyPr/>
        <a:lstStyle/>
        <a:p>
          <a:endParaRPr lang="en-IN"/>
        </a:p>
      </dgm:t>
    </dgm:pt>
    <dgm:pt modelId="{4557C3A1-87CD-41C1-AEDB-076DA7EE42F7}">
      <dgm:prSet custT="1"/>
      <dgm:spPr/>
      <dgm:t>
        <a:bodyPr/>
        <a:lstStyle/>
        <a:p>
          <a:endParaRPr lang="en-IN" sz="1800" dirty="0" smtClean="0">
            <a:latin typeface="Calibri" panose="020F0502020204030204" pitchFamily="34" charset="0"/>
          </a:endParaRPr>
        </a:p>
      </dgm:t>
    </dgm:pt>
    <dgm:pt modelId="{9DA71206-B3FB-4FCD-8C47-E0CAFD02A3BD}" type="parTrans" cxnId="{17A423C1-CF46-42BE-853A-43F72DF85914}">
      <dgm:prSet/>
      <dgm:spPr/>
      <dgm:t>
        <a:bodyPr/>
        <a:lstStyle/>
        <a:p>
          <a:endParaRPr lang="en-IN"/>
        </a:p>
      </dgm:t>
    </dgm:pt>
    <dgm:pt modelId="{AFAF03FA-3773-4AC2-8B3F-5B4CFC9B8EDB}" type="sibTrans" cxnId="{17A423C1-CF46-42BE-853A-43F72DF85914}">
      <dgm:prSet/>
      <dgm:spPr/>
      <dgm:t>
        <a:bodyPr/>
        <a:lstStyle/>
        <a:p>
          <a:endParaRPr lang="en-IN"/>
        </a:p>
      </dgm:t>
    </dgm:pt>
    <dgm:pt modelId="{619C2A57-6DE5-4D6E-ABB8-37E6750F896B}" type="pres">
      <dgm:prSet presAssocID="{E7B5752A-F9CF-48F9-A490-6CCB1B61777C}" presName="Name0" presStyleCnt="0">
        <dgm:presLayoutVars>
          <dgm:dir/>
          <dgm:animLvl val="lvl"/>
          <dgm:resizeHandles val="exact"/>
        </dgm:presLayoutVars>
      </dgm:prSet>
      <dgm:spPr/>
      <dgm:t>
        <a:bodyPr/>
        <a:lstStyle/>
        <a:p>
          <a:endParaRPr lang="en-IN"/>
        </a:p>
      </dgm:t>
    </dgm:pt>
    <dgm:pt modelId="{EA1F8258-D013-460A-AE04-1ED372AE99BC}" type="pres">
      <dgm:prSet presAssocID="{4B6A9737-AEBD-492C-ACE2-EF2BF96D56F6}" presName="compositeNode" presStyleCnt="0">
        <dgm:presLayoutVars>
          <dgm:bulletEnabled val="1"/>
        </dgm:presLayoutVars>
      </dgm:prSet>
      <dgm:spPr/>
    </dgm:pt>
    <dgm:pt modelId="{4F9AD015-FFCE-4F06-970E-7A4C7BEDD9D4}" type="pres">
      <dgm:prSet presAssocID="{4B6A9737-AEBD-492C-ACE2-EF2BF96D56F6}" presName="bgRect" presStyleLbl="node1" presStyleIdx="0" presStyleCnt="3" custLinFactNeighborY="16514"/>
      <dgm:spPr/>
      <dgm:t>
        <a:bodyPr/>
        <a:lstStyle/>
        <a:p>
          <a:endParaRPr lang="en-IN"/>
        </a:p>
      </dgm:t>
    </dgm:pt>
    <dgm:pt modelId="{65B40545-A0DB-4D9C-BE9A-A5444551DAEB}" type="pres">
      <dgm:prSet presAssocID="{4B6A9737-AEBD-492C-ACE2-EF2BF96D56F6}" presName="parentNode" presStyleLbl="node1" presStyleIdx="0" presStyleCnt="3">
        <dgm:presLayoutVars>
          <dgm:chMax val="0"/>
          <dgm:bulletEnabled val="1"/>
        </dgm:presLayoutVars>
      </dgm:prSet>
      <dgm:spPr/>
      <dgm:t>
        <a:bodyPr/>
        <a:lstStyle/>
        <a:p>
          <a:endParaRPr lang="en-IN"/>
        </a:p>
      </dgm:t>
    </dgm:pt>
    <dgm:pt modelId="{ACDCAC3C-7DAF-4DC9-AF09-5ADC3FE3EA5A}" type="pres">
      <dgm:prSet presAssocID="{4B6A9737-AEBD-492C-ACE2-EF2BF96D56F6}" presName="childNode" presStyleLbl="node1" presStyleIdx="0" presStyleCnt="3">
        <dgm:presLayoutVars>
          <dgm:bulletEnabled val="1"/>
        </dgm:presLayoutVars>
      </dgm:prSet>
      <dgm:spPr/>
      <dgm:t>
        <a:bodyPr/>
        <a:lstStyle/>
        <a:p>
          <a:endParaRPr lang="en-IN"/>
        </a:p>
      </dgm:t>
    </dgm:pt>
    <dgm:pt modelId="{2039AF47-2D3A-49FB-8B18-4A1E506909B4}" type="pres">
      <dgm:prSet presAssocID="{C25DCFB7-16DA-4DB5-B72B-20D73D4F8DB5}" presName="hSp" presStyleCnt="0"/>
      <dgm:spPr/>
    </dgm:pt>
    <dgm:pt modelId="{70E610D5-C88D-451C-9DE5-F762A641F56A}" type="pres">
      <dgm:prSet presAssocID="{C25DCFB7-16DA-4DB5-B72B-20D73D4F8DB5}" presName="vProcSp" presStyleCnt="0"/>
      <dgm:spPr/>
    </dgm:pt>
    <dgm:pt modelId="{385C1174-34F8-4858-AF8A-86249A115DF1}" type="pres">
      <dgm:prSet presAssocID="{C25DCFB7-16DA-4DB5-B72B-20D73D4F8DB5}" presName="vSp1" presStyleCnt="0"/>
      <dgm:spPr/>
    </dgm:pt>
    <dgm:pt modelId="{BCF08358-CE49-41BF-A3F6-65F0F96895E7}" type="pres">
      <dgm:prSet presAssocID="{C25DCFB7-16DA-4DB5-B72B-20D73D4F8DB5}" presName="simulatedConn" presStyleLbl="solidFgAcc1" presStyleIdx="0" presStyleCnt="2"/>
      <dgm:spPr/>
    </dgm:pt>
    <dgm:pt modelId="{620BBC66-EB47-4C84-ABD6-30B4F08CEC21}" type="pres">
      <dgm:prSet presAssocID="{C25DCFB7-16DA-4DB5-B72B-20D73D4F8DB5}" presName="vSp2" presStyleCnt="0"/>
      <dgm:spPr/>
    </dgm:pt>
    <dgm:pt modelId="{32CAAB0D-4701-4656-9C1D-312E045B2A65}" type="pres">
      <dgm:prSet presAssocID="{C25DCFB7-16DA-4DB5-B72B-20D73D4F8DB5}" presName="sibTrans" presStyleCnt="0"/>
      <dgm:spPr/>
    </dgm:pt>
    <dgm:pt modelId="{1A4B9399-BD1C-48E6-98E2-0F6C1BE67366}" type="pres">
      <dgm:prSet presAssocID="{DC28285D-44D5-429A-B00A-FE8809C807CC}" presName="compositeNode" presStyleCnt="0">
        <dgm:presLayoutVars>
          <dgm:bulletEnabled val="1"/>
        </dgm:presLayoutVars>
      </dgm:prSet>
      <dgm:spPr/>
    </dgm:pt>
    <dgm:pt modelId="{CB5A7D5A-07E3-4CCB-B0B0-986AAF238002}" type="pres">
      <dgm:prSet presAssocID="{DC28285D-44D5-429A-B00A-FE8809C807CC}" presName="bgRect" presStyleLbl="node1" presStyleIdx="1" presStyleCnt="3"/>
      <dgm:spPr/>
      <dgm:t>
        <a:bodyPr/>
        <a:lstStyle/>
        <a:p>
          <a:endParaRPr lang="en-IN"/>
        </a:p>
      </dgm:t>
    </dgm:pt>
    <dgm:pt modelId="{E240285D-DC81-401A-AA7E-32F1324BD397}" type="pres">
      <dgm:prSet presAssocID="{DC28285D-44D5-429A-B00A-FE8809C807CC}" presName="parentNode" presStyleLbl="node1" presStyleIdx="1" presStyleCnt="3">
        <dgm:presLayoutVars>
          <dgm:chMax val="0"/>
          <dgm:bulletEnabled val="1"/>
        </dgm:presLayoutVars>
      </dgm:prSet>
      <dgm:spPr/>
      <dgm:t>
        <a:bodyPr/>
        <a:lstStyle/>
        <a:p>
          <a:endParaRPr lang="en-IN"/>
        </a:p>
      </dgm:t>
    </dgm:pt>
    <dgm:pt modelId="{D505C506-C7F1-4D67-B950-7432FAE3F41F}" type="pres">
      <dgm:prSet presAssocID="{DC28285D-44D5-429A-B00A-FE8809C807CC}" presName="childNode" presStyleLbl="node1" presStyleIdx="1" presStyleCnt="3">
        <dgm:presLayoutVars>
          <dgm:bulletEnabled val="1"/>
        </dgm:presLayoutVars>
      </dgm:prSet>
      <dgm:spPr/>
      <dgm:t>
        <a:bodyPr/>
        <a:lstStyle/>
        <a:p>
          <a:endParaRPr lang="en-IN"/>
        </a:p>
      </dgm:t>
    </dgm:pt>
    <dgm:pt modelId="{1E7F8E4B-BCC0-4878-8217-EF73943D0D11}" type="pres">
      <dgm:prSet presAssocID="{001D671B-61F7-4BD2-B0D5-28DB959B0FFB}" presName="hSp" presStyleCnt="0"/>
      <dgm:spPr/>
    </dgm:pt>
    <dgm:pt modelId="{01527EAF-2C1D-42A3-B1A3-5AE6DB105116}" type="pres">
      <dgm:prSet presAssocID="{001D671B-61F7-4BD2-B0D5-28DB959B0FFB}" presName="vProcSp" presStyleCnt="0"/>
      <dgm:spPr/>
    </dgm:pt>
    <dgm:pt modelId="{8DE608EB-C203-4944-8AC6-8C3A03F02A6F}" type="pres">
      <dgm:prSet presAssocID="{001D671B-61F7-4BD2-B0D5-28DB959B0FFB}" presName="vSp1" presStyleCnt="0"/>
      <dgm:spPr/>
    </dgm:pt>
    <dgm:pt modelId="{BED3F0B3-EAC1-4159-B6CA-41871F784D16}" type="pres">
      <dgm:prSet presAssocID="{001D671B-61F7-4BD2-B0D5-28DB959B0FFB}" presName="simulatedConn" presStyleLbl="solidFgAcc1" presStyleIdx="1" presStyleCnt="2"/>
      <dgm:spPr/>
    </dgm:pt>
    <dgm:pt modelId="{1E1A464E-C29F-4D1A-91EA-D1E2DD7C3A60}" type="pres">
      <dgm:prSet presAssocID="{001D671B-61F7-4BD2-B0D5-28DB959B0FFB}" presName="vSp2" presStyleCnt="0"/>
      <dgm:spPr/>
    </dgm:pt>
    <dgm:pt modelId="{126DAE8A-7333-441B-837A-7B0EB9270CF8}" type="pres">
      <dgm:prSet presAssocID="{001D671B-61F7-4BD2-B0D5-28DB959B0FFB}" presName="sibTrans" presStyleCnt="0"/>
      <dgm:spPr/>
    </dgm:pt>
    <dgm:pt modelId="{497004F0-E95D-4E51-A369-16C37DDBCF62}" type="pres">
      <dgm:prSet presAssocID="{64B5AFF9-557C-4CC8-99B3-A71092260AF4}" presName="compositeNode" presStyleCnt="0">
        <dgm:presLayoutVars>
          <dgm:bulletEnabled val="1"/>
        </dgm:presLayoutVars>
      </dgm:prSet>
      <dgm:spPr/>
    </dgm:pt>
    <dgm:pt modelId="{A6A57F76-6B4B-4CA9-8476-E38CE38B27D2}" type="pres">
      <dgm:prSet presAssocID="{64B5AFF9-557C-4CC8-99B3-A71092260AF4}" presName="bgRect" presStyleLbl="node1" presStyleIdx="2" presStyleCnt="3"/>
      <dgm:spPr/>
      <dgm:t>
        <a:bodyPr/>
        <a:lstStyle/>
        <a:p>
          <a:endParaRPr lang="en-IN"/>
        </a:p>
      </dgm:t>
    </dgm:pt>
    <dgm:pt modelId="{D7051198-25C5-434F-8BE2-FFA14A0EAB80}" type="pres">
      <dgm:prSet presAssocID="{64B5AFF9-557C-4CC8-99B3-A71092260AF4}" presName="parentNode" presStyleLbl="node1" presStyleIdx="2" presStyleCnt="3">
        <dgm:presLayoutVars>
          <dgm:chMax val="0"/>
          <dgm:bulletEnabled val="1"/>
        </dgm:presLayoutVars>
      </dgm:prSet>
      <dgm:spPr/>
      <dgm:t>
        <a:bodyPr/>
        <a:lstStyle/>
        <a:p>
          <a:endParaRPr lang="en-IN"/>
        </a:p>
      </dgm:t>
    </dgm:pt>
    <dgm:pt modelId="{7FD35824-4C93-4F37-8F8C-80C9C3D24B5E}" type="pres">
      <dgm:prSet presAssocID="{64B5AFF9-557C-4CC8-99B3-A71092260AF4}" presName="childNode" presStyleLbl="node1" presStyleIdx="2" presStyleCnt="3">
        <dgm:presLayoutVars>
          <dgm:bulletEnabled val="1"/>
        </dgm:presLayoutVars>
      </dgm:prSet>
      <dgm:spPr/>
      <dgm:t>
        <a:bodyPr/>
        <a:lstStyle/>
        <a:p>
          <a:endParaRPr lang="en-IN"/>
        </a:p>
      </dgm:t>
    </dgm:pt>
  </dgm:ptLst>
  <dgm:cxnLst>
    <dgm:cxn modelId="{91BE0D75-5F6C-46C1-9F41-875F9A274FDF}" srcId="{64B5AFF9-557C-4CC8-99B3-A71092260AF4}" destId="{40F0FFF4-12B9-4215-80FC-B8AC5394ECFA}" srcOrd="0" destOrd="0" parTransId="{53C2BF86-6AC9-4586-8A9E-A7E13D183394}" sibTransId="{02298172-9EC9-4404-BDA9-D817687AF172}"/>
    <dgm:cxn modelId="{1ABF65B4-BCE2-4FA0-A089-DA513D607DFF}" type="presOf" srcId="{5A80D90D-5BAA-4DB0-B564-26B519B612E3}" destId="{D505C506-C7F1-4D67-B950-7432FAE3F41F}" srcOrd="0" destOrd="0" presId="urn:microsoft.com/office/officeart/2005/8/layout/hProcess7"/>
    <dgm:cxn modelId="{845C475D-822A-4AAD-9087-DFB09B36C594}" type="presOf" srcId="{5346CB31-EF6E-4655-82EA-D796C7DFB152}" destId="{ACDCAC3C-7DAF-4DC9-AF09-5ADC3FE3EA5A}" srcOrd="0" destOrd="3" presId="urn:microsoft.com/office/officeart/2005/8/layout/hProcess7"/>
    <dgm:cxn modelId="{DF835A3D-DF7D-4E2D-9ABF-1F9DF4962379}" srcId="{4B6A9737-AEBD-492C-ACE2-EF2BF96D56F6}" destId="{C7DE2431-7EA2-4DCF-8383-EF2F7C3CB29F}" srcOrd="4" destOrd="0" parTransId="{449AFD66-0C7A-43EC-AF5E-DC2C5F85DC93}" sibTransId="{6DC960B5-0DDF-45D0-9A34-BC7F0D909F32}"/>
    <dgm:cxn modelId="{CE93CB30-32CB-4A43-83E2-3C408A5AC94D}" type="presOf" srcId="{4B6A9737-AEBD-492C-ACE2-EF2BF96D56F6}" destId="{4F9AD015-FFCE-4F06-970E-7A4C7BEDD9D4}" srcOrd="0" destOrd="0" presId="urn:microsoft.com/office/officeart/2005/8/layout/hProcess7"/>
    <dgm:cxn modelId="{21F9C2E0-1D45-4E9D-8296-6A03CE056C22}" srcId="{4B6A9737-AEBD-492C-ACE2-EF2BF96D56F6}" destId="{50F88C4C-9B9E-44FF-927D-962E0F2BA12A}" srcOrd="0" destOrd="0" parTransId="{CF072A86-086E-4670-8C0F-3AC43D8559E4}" sibTransId="{AA37DFA1-84A5-4F93-8C7C-F1E12F672A82}"/>
    <dgm:cxn modelId="{4074159E-276A-480A-A9A3-6C372E251873}" type="presOf" srcId="{91D59FE7-52AE-4821-8270-746E40AF9F16}" destId="{ACDCAC3C-7DAF-4DC9-AF09-5ADC3FE3EA5A}" srcOrd="0" destOrd="1" presId="urn:microsoft.com/office/officeart/2005/8/layout/hProcess7"/>
    <dgm:cxn modelId="{377270B5-2AE1-493A-BCB6-0DD838937155}" type="presOf" srcId="{DC28285D-44D5-429A-B00A-FE8809C807CC}" destId="{E240285D-DC81-401A-AA7E-32F1324BD397}" srcOrd="1" destOrd="0" presId="urn:microsoft.com/office/officeart/2005/8/layout/hProcess7"/>
    <dgm:cxn modelId="{CC47D494-861E-4C5E-A5B7-A157E1485CDF}" srcId="{E7B5752A-F9CF-48F9-A490-6CCB1B61777C}" destId="{64B5AFF9-557C-4CC8-99B3-A71092260AF4}" srcOrd="2" destOrd="0" parTransId="{9C9FCF98-6F45-4BED-9145-A9D0540058CD}" sibTransId="{327362D9-3A53-4DFF-9915-C89A9D4A49C5}"/>
    <dgm:cxn modelId="{51F5804F-F5A6-4176-BA34-D0A0D5A1DB08}" type="presOf" srcId="{40F0FFF4-12B9-4215-80FC-B8AC5394ECFA}" destId="{7FD35824-4C93-4F37-8F8C-80C9C3D24B5E}" srcOrd="0" destOrd="0" presId="urn:microsoft.com/office/officeart/2005/8/layout/hProcess7"/>
    <dgm:cxn modelId="{4506D226-7FE8-436F-94AE-7905920DB730}" type="presOf" srcId="{E7B5752A-F9CF-48F9-A490-6CCB1B61777C}" destId="{619C2A57-6DE5-4D6E-ABB8-37E6750F896B}" srcOrd="0" destOrd="0" presId="urn:microsoft.com/office/officeart/2005/8/layout/hProcess7"/>
    <dgm:cxn modelId="{79FDBE7C-4305-4DCA-A71E-D8B34C000039}" srcId="{DC28285D-44D5-429A-B00A-FE8809C807CC}" destId="{0E44E3C1-2E41-4F01-A871-B37655C6F57C}" srcOrd="1" destOrd="0" parTransId="{389A8DBB-7418-4BD0-AFAC-9EC435B427C8}" sibTransId="{0BC2CFDC-1B01-474D-95B7-F78B50DD7B60}"/>
    <dgm:cxn modelId="{AFD6B2B8-F725-49D5-BEF7-A044B087F17B}" srcId="{E7B5752A-F9CF-48F9-A490-6CCB1B61777C}" destId="{DC28285D-44D5-429A-B00A-FE8809C807CC}" srcOrd="1" destOrd="0" parTransId="{25EE6533-3068-47A3-83AC-66F605C7D9F8}" sibTransId="{001D671B-61F7-4BD2-B0D5-28DB959B0FFB}"/>
    <dgm:cxn modelId="{5F10C273-1DF3-4EB0-B943-88F85B5B1C18}" srcId="{DC28285D-44D5-429A-B00A-FE8809C807CC}" destId="{5A80D90D-5BAA-4DB0-B564-26B519B612E3}" srcOrd="0" destOrd="0" parTransId="{31CF309E-5C57-4AFF-95EF-329C533CD084}" sibTransId="{53A0EFF3-3107-4D9E-8B55-493DC6285764}"/>
    <dgm:cxn modelId="{0C905D9B-1C73-4B4B-ABFF-7FA1FCBB75B8}" srcId="{4B6A9737-AEBD-492C-ACE2-EF2BF96D56F6}" destId="{FF601A6E-59DE-4C62-8EBF-BA0737D527E2}" srcOrd="2" destOrd="0" parTransId="{8080C85A-3993-49B2-8BE5-E6BA35EA4071}" sibTransId="{F649CCC9-D6B0-4DF2-9F70-0D27A3E97834}"/>
    <dgm:cxn modelId="{AF1BD869-EA9F-4B41-B846-47C2342A3158}" type="presOf" srcId="{4B6A9737-AEBD-492C-ACE2-EF2BF96D56F6}" destId="{65B40545-A0DB-4D9C-BE9A-A5444551DAEB}" srcOrd="1" destOrd="0" presId="urn:microsoft.com/office/officeart/2005/8/layout/hProcess7"/>
    <dgm:cxn modelId="{E467F948-F374-45AF-8167-BBD82F33F1A1}" type="presOf" srcId="{DC28285D-44D5-429A-B00A-FE8809C807CC}" destId="{CB5A7D5A-07E3-4CCB-B0B0-986AAF238002}" srcOrd="0" destOrd="0" presId="urn:microsoft.com/office/officeart/2005/8/layout/hProcess7"/>
    <dgm:cxn modelId="{5A689BC1-95AE-4B4B-8A18-0D5729DCE21E}" type="presOf" srcId="{FF601A6E-59DE-4C62-8EBF-BA0737D527E2}" destId="{ACDCAC3C-7DAF-4DC9-AF09-5ADC3FE3EA5A}" srcOrd="0" destOrd="2" presId="urn:microsoft.com/office/officeart/2005/8/layout/hProcess7"/>
    <dgm:cxn modelId="{2E8C41BC-7D8F-47D9-A0EB-06E6EEFAA246}" type="presOf" srcId="{64B5AFF9-557C-4CC8-99B3-A71092260AF4}" destId="{A6A57F76-6B4B-4CA9-8476-E38CE38B27D2}" srcOrd="0" destOrd="0" presId="urn:microsoft.com/office/officeart/2005/8/layout/hProcess7"/>
    <dgm:cxn modelId="{E29FCF81-718D-473D-9F8B-9CBD47A915CD}" type="presOf" srcId="{4557C3A1-87CD-41C1-AEDB-076DA7EE42F7}" destId="{7FD35824-4C93-4F37-8F8C-80C9C3D24B5E}" srcOrd="0" destOrd="1" presId="urn:microsoft.com/office/officeart/2005/8/layout/hProcess7"/>
    <dgm:cxn modelId="{76197296-C376-48C5-B8A5-3FD29CE9B443}" srcId="{E7B5752A-F9CF-48F9-A490-6CCB1B61777C}" destId="{4B6A9737-AEBD-492C-ACE2-EF2BF96D56F6}" srcOrd="0" destOrd="0" parTransId="{A57E86BC-FF3B-462F-8C24-B5F85C6F16BE}" sibTransId="{C25DCFB7-16DA-4DB5-B72B-20D73D4F8DB5}"/>
    <dgm:cxn modelId="{85BA5E9C-91F3-447D-A758-24F3CA481938}" type="presOf" srcId="{C7DE2431-7EA2-4DCF-8383-EF2F7C3CB29F}" destId="{ACDCAC3C-7DAF-4DC9-AF09-5ADC3FE3EA5A}" srcOrd="0" destOrd="4" presId="urn:microsoft.com/office/officeart/2005/8/layout/hProcess7"/>
    <dgm:cxn modelId="{17A423C1-CF46-42BE-853A-43F72DF85914}" srcId="{64B5AFF9-557C-4CC8-99B3-A71092260AF4}" destId="{4557C3A1-87CD-41C1-AEDB-076DA7EE42F7}" srcOrd="1" destOrd="0" parTransId="{9DA71206-B3FB-4FCD-8C47-E0CAFD02A3BD}" sibTransId="{AFAF03FA-3773-4AC2-8B3F-5B4CFC9B8EDB}"/>
    <dgm:cxn modelId="{8B6A484A-4A28-471F-9049-2335C95497A3}" srcId="{4B6A9737-AEBD-492C-ACE2-EF2BF96D56F6}" destId="{91D59FE7-52AE-4821-8270-746E40AF9F16}" srcOrd="1" destOrd="0" parTransId="{5B5C9FEE-2E19-40E6-884F-FC7A74ED1593}" sibTransId="{A944C010-C426-4BEF-81D6-6315E537EBDF}"/>
    <dgm:cxn modelId="{4BE6C492-0740-4CA7-BA9E-A966889BB698}" type="presOf" srcId="{64B5AFF9-557C-4CC8-99B3-A71092260AF4}" destId="{D7051198-25C5-434F-8BE2-FFA14A0EAB80}" srcOrd="1" destOrd="0" presId="urn:microsoft.com/office/officeart/2005/8/layout/hProcess7"/>
    <dgm:cxn modelId="{29E3EEFB-BFA1-4A93-9CC3-5BAED9DA0EAF}" type="presOf" srcId="{0E44E3C1-2E41-4F01-A871-B37655C6F57C}" destId="{D505C506-C7F1-4D67-B950-7432FAE3F41F}" srcOrd="0" destOrd="1" presId="urn:microsoft.com/office/officeart/2005/8/layout/hProcess7"/>
    <dgm:cxn modelId="{40863B51-008B-442E-9DFC-E6E1027BA46D}" type="presOf" srcId="{50F88C4C-9B9E-44FF-927D-962E0F2BA12A}" destId="{ACDCAC3C-7DAF-4DC9-AF09-5ADC3FE3EA5A}" srcOrd="0" destOrd="0" presId="urn:microsoft.com/office/officeart/2005/8/layout/hProcess7"/>
    <dgm:cxn modelId="{7D8F0E58-3F88-4CDF-88DC-2CF6B6C0B107}" srcId="{4B6A9737-AEBD-492C-ACE2-EF2BF96D56F6}" destId="{5346CB31-EF6E-4655-82EA-D796C7DFB152}" srcOrd="3" destOrd="0" parTransId="{29CE3561-8D8D-42D2-8DB2-C9BB4AF301FE}" sibTransId="{F059501F-97E9-483B-AE03-60924B6D925B}"/>
    <dgm:cxn modelId="{DC156158-8DE9-4236-B5F4-B44D2C26515E}" type="presParOf" srcId="{619C2A57-6DE5-4D6E-ABB8-37E6750F896B}" destId="{EA1F8258-D013-460A-AE04-1ED372AE99BC}" srcOrd="0" destOrd="0" presId="urn:microsoft.com/office/officeart/2005/8/layout/hProcess7"/>
    <dgm:cxn modelId="{ABEF0BFB-4E6C-4426-953E-10FC97EED05B}" type="presParOf" srcId="{EA1F8258-D013-460A-AE04-1ED372AE99BC}" destId="{4F9AD015-FFCE-4F06-970E-7A4C7BEDD9D4}" srcOrd="0" destOrd="0" presId="urn:microsoft.com/office/officeart/2005/8/layout/hProcess7"/>
    <dgm:cxn modelId="{C92CA87B-B3C1-4DBB-8905-F939F9825AA4}" type="presParOf" srcId="{EA1F8258-D013-460A-AE04-1ED372AE99BC}" destId="{65B40545-A0DB-4D9C-BE9A-A5444551DAEB}" srcOrd="1" destOrd="0" presId="urn:microsoft.com/office/officeart/2005/8/layout/hProcess7"/>
    <dgm:cxn modelId="{FA1F14CC-50F5-4869-B9C4-7DC167D644A4}" type="presParOf" srcId="{EA1F8258-D013-460A-AE04-1ED372AE99BC}" destId="{ACDCAC3C-7DAF-4DC9-AF09-5ADC3FE3EA5A}" srcOrd="2" destOrd="0" presId="urn:microsoft.com/office/officeart/2005/8/layout/hProcess7"/>
    <dgm:cxn modelId="{F371989C-561A-43B4-A357-CC6C41FFCC17}" type="presParOf" srcId="{619C2A57-6DE5-4D6E-ABB8-37E6750F896B}" destId="{2039AF47-2D3A-49FB-8B18-4A1E506909B4}" srcOrd="1" destOrd="0" presId="urn:microsoft.com/office/officeart/2005/8/layout/hProcess7"/>
    <dgm:cxn modelId="{5A24A5D7-571A-4736-BD8A-9678E17148D4}" type="presParOf" srcId="{619C2A57-6DE5-4D6E-ABB8-37E6750F896B}" destId="{70E610D5-C88D-451C-9DE5-F762A641F56A}" srcOrd="2" destOrd="0" presId="urn:microsoft.com/office/officeart/2005/8/layout/hProcess7"/>
    <dgm:cxn modelId="{2B6DD823-B780-4BD3-81D5-7E9616835567}" type="presParOf" srcId="{70E610D5-C88D-451C-9DE5-F762A641F56A}" destId="{385C1174-34F8-4858-AF8A-86249A115DF1}" srcOrd="0" destOrd="0" presId="urn:microsoft.com/office/officeart/2005/8/layout/hProcess7"/>
    <dgm:cxn modelId="{F8F9165C-ABC8-4DDD-8EEE-DC1E4D2108A7}" type="presParOf" srcId="{70E610D5-C88D-451C-9DE5-F762A641F56A}" destId="{BCF08358-CE49-41BF-A3F6-65F0F96895E7}" srcOrd="1" destOrd="0" presId="urn:microsoft.com/office/officeart/2005/8/layout/hProcess7"/>
    <dgm:cxn modelId="{E49050E7-8EA6-4723-9BD0-E712DCF3E011}" type="presParOf" srcId="{70E610D5-C88D-451C-9DE5-F762A641F56A}" destId="{620BBC66-EB47-4C84-ABD6-30B4F08CEC21}" srcOrd="2" destOrd="0" presId="urn:microsoft.com/office/officeart/2005/8/layout/hProcess7"/>
    <dgm:cxn modelId="{69E500F4-B1EC-4D6E-B6CB-0CB2F78BE808}" type="presParOf" srcId="{619C2A57-6DE5-4D6E-ABB8-37E6750F896B}" destId="{32CAAB0D-4701-4656-9C1D-312E045B2A65}" srcOrd="3" destOrd="0" presId="urn:microsoft.com/office/officeart/2005/8/layout/hProcess7"/>
    <dgm:cxn modelId="{E02C1669-490B-44E3-A192-A6D235A9156D}" type="presParOf" srcId="{619C2A57-6DE5-4D6E-ABB8-37E6750F896B}" destId="{1A4B9399-BD1C-48E6-98E2-0F6C1BE67366}" srcOrd="4" destOrd="0" presId="urn:microsoft.com/office/officeart/2005/8/layout/hProcess7"/>
    <dgm:cxn modelId="{9BA7516A-0615-4433-9BDC-72CE7CD035F5}" type="presParOf" srcId="{1A4B9399-BD1C-48E6-98E2-0F6C1BE67366}" destId="{CB5A7D5A-07E3-4CCB-B0B0-986AAF238002}" srcOrd="0" destOrd="0" presId="urn:microsoft.com/office/officeart/2005/8/layout/hProcess7"/>
    <dgm:cxn modelId="{11F02A28-3130-4E63-9815-3D4FD6314933}" type="presParOf" srcId="{1A4B9399-BD1C-48E6-98E2-0F6C1BE67366}" destId="{E240285D-DC81-401A-AA7E-32F1324BD397}" srcOrd="1" destOrd="0" presId="urn:microsoft.com/office/officeart/2005/8/layout/hProcess7"/>
    <dgm:cxn modelId="{E7869CE9-69FC-4490-B063-A1BF36544F7B}" type="presParOf" srcId="{1A4B9399-BD1C-48E6-98E2-0F6C1BE67366}" destId="{D505C506-C7F1-4D67-B950-7432FAE3F41F}" srcOrd="2" destOrd="0" presId="urn:microsoft.com/office/officeart/2005/8/layout/hProcess7"/>
    <dgm:cxn modelId="{C8CC9519-5DD8-4AE7-A88B-20B02EDAABF1}" type="presParOf" srcId="{619C2A57-6DE5-4D6E-ABB8-37E6750F896B}" destId="{1E7F8E4B-BCC0-4878-8217-EF73943D0D11}" srcOrd="5" destOrd="0" presId="urn:microsoft.com/office/officeart/2005/8/layout/hProcess7"/>
    <dgm:cxn modelId="{A58AAD57-8E21-4BCC-8846-D4D23E18C1D0}" type="presParOf" srcId="{619C2A57-6DE5-4D6E-ABB8-37E6750F896B}" destId="{01527EAF-2C1D-42A3-B1A3-5AE6DB105116}" srcOrd="6" destOrd="0" presId="urn:microsoft.com/office/officeart/2005/8/layout/hProcess7"/>
    <dgm:cxn modelId="{3EBDAD71-0B0A-4693-92BC-8CE6ECB09069}" type="presParOf" srcId="{01527EAF-2C1D-42A3-B1A3-5AE6DB105116}" destId="{8DE608EB-C203-4944-8AC6-8C3A03F02A6F}" srcOrd="0" destOrd="0" presId="urn:microsoft.com/office/officeart/2005/8/layout/hProcess7"/>
    <dgm:cxn modelId="{AEA619C6-878B-4AAD-8856-9F181F3DBDE2}" type="presParOf" srcId="{01527EAF-2C1D-42A3-B1A3-5AE6DB105116}" destId="{BED3F0B3-EAC1-4159-B6CA-41871F784D16}" srcOrd="1" destOrd="0" presId="urn:microsoft.com/office/officeart/2005/8/layout/hProcess7"/>
    <dgm:cxn modelId="{3E05BCB8-17FE-4157-9BB5-40A2E92BAA4E}" type="presParOf" srcId="{01527EAF-2C1D-42A3-B1A3-5AE6DB105116}" destId="{1E1A464E-C29F-4D1A-91EA-D1E2DD7C3A60}" srcOrd="2" destOrd="0" presId="urn:microsoft.com/office/officeart/2005/8/layout/hProcess7"/>
    <dgm:cxn modelId="{1DC5ACD1-8983-4430-907E-41D18AC718FC}" type="presParOf" srcId="{619C2A57-6DE5-4D6E-ABB8-37E6750F896B}" destId="{126DAE8A-7333-441B-837A-7B0EB9270CF8}" srcOrd="7" destOrd="0" presId="urn:microsoft.com/office/officeart/2005/8/layout/hProcess7"/>
    <dgm:cxn modelId="{56ED42C7-7E3B-40E5-83C1-FC8B33CD331F}" type="presParOf" srcId="{619C2A57-6DE5-4D6E-ABB8-37E6750F896B}" destId="{497004F0-E95D-4E51-A369-16C37DDBCF62}" srcOrd="8" destOrd="0" presId="urn:microsoft.com/office/officeart/2005/8/layout/hProcess7"/>
    <dgm:cxn modelId="{8B86453D-C4B5-441C-861F-96C0A439B26A}" type="presParOf" srcId="{497004F0-E95D-4E51-A369-16C37DDBCF62}" destId="{A6A57F76-6B4B-4CA9-8476-E38CE38B27D2}" srcOrd="0" destOrd="0" presId="urn:microsoft.com/office/officeart/2005/8/layout/hProcess7"/>
    <dgm:cxn modelId="{E8EDFBA5-EBB1-4C2B-BA5E-F69A379789C0}" type="presParOf" srcId="{497004F0-E95D-4E51-A369-16C37DDBCF62}" destId="{D7051198-25C5-434F-8BE2-FFA14A0EAB80}" srcOrd="1" destOrd="0" presId="urn:microsoft.com/office/officeart/2005/8/layout/hProcess7"/>
    <dgm:cxn modelId="{2048F4B6-86E7-4644-82EE-F9CB79EDFD56}" type="presParOf" srcId="{497004F0-E95D-4E51-A369-16C37DDBCF62}" destId="{7FD35824-4C93-4F37-8F8C-80C9C3D24B5E}" srcOrd="2" destOrd="0" presId="urn:microsoft.com/office/officeart/2005/8/layout/hProcess7"/>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E3DBD5A-01D7-4698-89F3-9FB31764B25E}"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8AEEBF5D-EFF6-43CE-A74B-BE9B4EE4FF48}">
      <dgm:prSet phldrT="[Text]"/>
      <dgm:spPr>
        <a:solidFill>
          <a:schemeClr val="tx2">
            <a:lumMod val="40000"/>
            <a:lumOff val="60000"/>
          </a:schemeClr>
        </a:solidFill>
        <a:ln>
          <a:solidFill>
            <a:srgbClr val="5AA0F5"/>
          </a:solidFill>
        </a:ln>
      </dgm:spPr>
      <dgm:t>
        <a:bodyPr/>
        <a:lstStyle/>
        <a:p>
          <a:r>
            <a:rPr lang="en-IN" dirty="0" smtClean="0"/>
            <a:t>Segmentation and Targeting</a:t>
          </a:r>
          <a:endParaRPr lang="en-IN" dirty="0"/>
        </a:p>
      </dgm:t>
    </dgm:pt>
    <dgm:pt modelId="{8C6A7D38-715B-4368-91DC-A54DB43C813B}" type="parTrans" cxnId="{B6F179B3-263A-4DBD-903C-FAA134D7BD25}">
      <dgm:prSet/>
      <dgm:spPr/>
      <dgm:t>
        <a:bodyPr/>
        <a:lstStyle/>
        <a:p>
          <a:endParaRPr lang="en-IN"/>
        </a:p>
      </dgm:t>
    </dgm:pt>
    <dgm:pt modelId="{C2A88C04-D8F8-4993-B1FD-F10C990F3E7F}" type="sibTrans" cxnId="{B6F179B3-263A-4DBD-903C-FAA134D7BD25}">
      <dgm:prSet/>
      <dgm:spPr/>
      <dgm:t>
        <a:bodyPr/>
        <a:lstStyle/>
        <a:p>
          <a:endParaRPr lang="en-IN"/>
        </a:p>
      </dgm:t>
    </dgm:pt>
    <dgm:pt modelId="{4E54CB2B-8B89-4D3E-9769-ABC3E0582F07}">
      <dgm:prSet phldrT="[Text]" custT="1"/>
      <dgm:spPr/>
      <dgm:t>
        <a:bodyPr/>
        <a:lstStyle/>
        <a:p>
          <a:r>
            <a:rPr lang="en-IN" sz="1400" dirty="0" smtClean="0"/>
            <a:t>Rationalize Segments catered to</a:t>
          </a:r>
          <a:endParaRPr lang="en-IN" sz="1400" dirty="0"/>
        </a:p>
      </dgm:t>
    </dgm:pt>
    <dgm:pt modelId="{8B1239F3-C9CC-4AA8-B01E-58A4049C69A4}" type="parTrans" cxnId="{07B044AA-2AD8-45BC-9963-627E33D87E49}">
      <dgm:prSet/>
      <dgm:spPr/>
      <dgm:t>
        <a:bodyPr/>
        <a:lstStyle/>
        <a:p>
          <a:endParaRPr lang="en-IN"/>
        </a:p>
      </dgm:t>
    </dgm:pt>
    <dgm:pt modelId="{77E1FF67-988C-423B-9435-137F512C8CB3}" type="sibTrans" cxnId="{07B044AA-2AD8-45BC-9963-627E33D87E49}">
      <dgm:prSet/>
      <dgm:spPr/>
      <dgm:t>
        <a:bodyPr/>
        <a:lstStyle/>
        <a:p>
          <a:endParaRPr lang="en-IN"/>
        </a:p>
      </dgm:t>
    </dgm:pt>
    <dgm:pt modelId="{6A4AC63A-34C2-4F69-AC42-BBB44D1EE518}">
      <dgm:prSet phldrT="[Text]" custT="1"/>
      <dgm:spPr/>
      <dgm:t>
        <a:bodyPr/>
        <a:lstStyle/>
        <a:p>
          <a:r>
            <a:rPr lang="en-IN" sz="1400" dirty="0" smtClean="0"/>
            <a:t>Understand Competitor segments </a:t>
          </a:r>
          <a:endParaRPr lang="en-IN" sz="1400" dirty="0"/>
        </a:p>
      </dgm:t>
    </dgm:pt>
    <dgm:pt modelId="{A540210D-A0E7-42BA-9915-C4BA36207DCA}" type="parTrans" cxnId="{D3F1E071-57EE-4371-9D02-A5A169B8E2AD}">
      <dgm:prSet/>
      <dgm:spPr/>
      <dgm:t>
        <a:bodyPr/>
        <a:lstStyle/>
        <a:p>
          <a:endParaRPr lang="en-IN"/>
        </a:p>
      </dgm:t>
    </dgm:pt>
    <dgm:pt modelId="{F603C301-6094-4F5B-9D45-4B6D138C804C}" type="sibTrans" cxnId="{D3F1E071-57EE-4371-9D02-A5A169B8E2AD}">
      <dgm:prSet/>
      <dgm:spPr/>
      <dgm:t>
        <a:bodyPr/>
        <a:lstStyle/>
        <a:p>
          <a:endParaRPr lang="en-IN"/>
        </a:p>
      </dgm:t>
    </dgm:pt>
    <dgm:pt modelId="{436996BC-EFEE-40E9-8035-5F3F62E7DBA8}">
      <dgm:prSet phldrT="[Text]"/>
      <dgm:spPr>
        <a:solidFill>
          <a:schemeClr val="tx2">
            <a:lumMod val="40000"/>
            <a:lumOff val="60000"/>
          </a:schemeClr>
        </a:solidFill>
        <a:ln>
          <a:solidFill>
            <a:srgbClr val="5AA0F5"/>
          </a:solidFill>
        </a:ln>
      </dgm:spPr>
      <dgm:t>
        <a:bodyPr/>
        <a:lstStyle/>
        <a:p>
          <a:r>
            <a:rPr lang="en-IN" dirty="0" smtClean="0"/>
            <a:t>Growth Opportunities</a:t>
          </a:r>
          <a:endParaRPr lang="en-IN" dirty="0"/>
        </a:p>
      </dgm:t>
    </dgm:pt>
    <dgm:pt modelId="{3DA32987-1438-4A70-B511-116EFA54D46F}" type="parTrans" cxnId="{B855E06B-B933-49C0-9C3F-B926E06727CF}">
      <dgm:prSet/>
      <dgm:spPr/>
      <dgm:t>
        <a:bodyPr/>
        <a:lstStyle/>
        <a:p>
          <a:endParaRPr lang="en-IN"/>
        </a:p>
      </dgm:t>
    </dgm:pt>
    <dgm:pt modelId="{9797B299-597B-42A8-A11F-8FBF51373246}" type="sibTrans" cxnId="{B855E06B-B933-49C0-9C3F-B926E06727CF}">
      <dgm:prSet/>
      <dgm:spPr/>
      <dgm:t>
        <a:bodyPr/>
        <a:lstStyle/>
        <a:p>
          <a:endParaRPr lang="en-IN"/>
        </a:p>
      </dgm:t>
    </dgm:pt>
    <dgm:pt modelId="{253E3071-64E5-4C51-811D-38A80FCDA0D7}">
      <dgm:prSet phldrT="[Text]" custT="1"/>
      <dgm:spPr/>
      <dgm:t>
        <a:bodyPr/>
        <a:lstStyle/>
        <a:p>
          <a:r>
            <a:rPr lang="en-IN" sz="1400" dirty="0" smtClean="0"/>
            <a:t>Areas similar to Target Segments – Cluster of similar areas</a:t>
          </a:r>
          <a:endParaRPr lang="en-IN" sz="1400" dirty="0"/>
        </a:p>
      </dgm:t>
    </dgm:pt>
    <dgm:pt modelId="{11AE019A-4B50-4382-8A53-FBB596F6CE73}" type="parTrans" cxnId="{77AF87E0-AB19-4FA6-9605-E2514BB54FFB}">
      <dgm:prSet/>
      <dgm:spPr/>
      <dgm:t>
        <a:bodyPr/>
        <a:lstStyle/>
        <a:p>
          <a:endParaRPr lang="en-IN"/>
        </a:p>
      </dgm:t>
    </dgm:pt>
    <dgm:pt modelId="{E87E7201-9635-4589-A272-8E8A5AF7C290}" type="sibTrans" cxnId="{77AF87E0-AB19-4FA6-9605-E2514BB54FFB}">
      <dgm:prSet/>
      <dgm:spPr/>
      <dgm:t>
        <a:bodyPr/>
        <a:lstStyle/>
        <a:p>
          <a:endParaRPr lang="en-IN"/>
        </a:p>
      </dgm:t>
    </dgm:pt>
    <dgm:pt modelId="{24EFE33E-05B0-4A3E-960E-659A28DB1A4C}">
      <dgm:prSet phldrT="[Text]" custT="1"/>
      <dgm:spPr/>
      <dgm:t>
        <a:bodyPr/>
        <a:lstStyle/>
        <a:p>
          <a:r>
            <a:rPr lang="en-IN" sz="1400" dirty="0" smtClean="0"/>
            <a:t>Prospect Locations for new stores – Store Location Model</a:t>
          </a:r>
          <a:endParaRPr lang="en-IN" sz="1400" dirty="0"/>
        </a:p>
      </dgm:t>
    </dgm:pt>
    <dgm:pt modelId="{E0206474-0BD3-4539-ABA8-91D83A38B338}" type="parTrans" cxnId="{931F47F8-37D9-45A8-B09D-E3FE78625D2E}">
      <dgm:prSet/>
      <dgm:spPr/>
      <dgm:t>
        <a:bodyPr/>
        <a:lstStyle/>
        <a:p>
          <a:endParaRPr lang="en-IN"/>
        </a:p>
      </dgm:t>
    </dgm:pt>
    <dgm:pt modelId="{A7069156-7FA4-4672-AA45-6BCD250CC78B}" type="sibTrans" cxnId="{931F47F8-37D9-45A8-B09D-E3FE78625D2E}">
      <dgm:prSet/>
      <dgm:spPr/>
      <dgm:t>
        <a:bodyPr/>
        <a:lstStyle/>
        <a:p>
          <a:endParaRPr lang="en-IN"/>
        </a:p>
      </dgm:t>
    </dgm:pt>
    <dgm:pt modelId="{7BA7FC61-C766-44D8-BB1E-D0B476AFB629}">
      <dgm:prSet phldrT="[Text]"/>
      <dgm:spPr>
        <a:solidFill>
          <a:schemeClr val="tx2">
            <a:lumMod val="40000"/>
            <a:lumOff val="60000"/>
          </a:schemeClr>
        </a:solidFill>
        <a:ln>
          <a:solidFill>
            <a:srgbClr val="5AA0F5"/>
          </a:solidFill>
        </a:ln>
      </dgm:spPr>
      <dgm:t>
        <a:bodyPr/>
        <a:lstStyle/>
        <a:p>
          <a:r>
            <a:rPr lang="en-IN" dirty="0" smtClean="0"/>
            <a:t>Store Performance Benchmarking</a:t>
          </a:r>
          <a:endParaRPr lang="en-IN" dirty="0"/>
        </a:p>
      </dgm:t>
    </dgm:pt>
    <dgm:pt modelId="{637A6A5B-CFA7-4ADE-A4C5-582AFC926B5B}" type="parTrans" cxnId="{DA3B31DA-6426-4A6C-9BC1-1C98E2BDECD3}">
      <dgm:prSet/>
      <dgm:spPr/>
      <dgm:t>
        <a:bodyPr/>
        <a:lstStyle/>
        <a:p>
          <a:endParaRPr lang="en-IN"/>
        </a:p>
      </dgm:t>
    </dgm:pt>
    <dgm:pt modelId="{37230608-49C1-4D0B-BB4C-F4E2D48FC1F7}" type="sibTrans" cxnId="{DA3B31DA-6426-4A6C-9BC1-1C98E2BDECD3}">
      <dgm:prSet/>
      <dgm:spPr/>
      <dgm:t>
        <a:bodyPr/>
        <a:lstStyle/>
        <a:p>
          <a:endParaRPr lang="en-IN"/>
        </a:p>
      </dgm:t>
    </dgm:pt>
    <dgm:pt modelId="{3635EC44-C11B-4555-8A9D-C602E6FE3934}">
      <dgm:prSet phldrT="[Text]" custT="1"/>
      <dgm:spPr/>
      <dgm:t>
        <a:bodyPr/>
        <a:lstStyle/>
        <a:p>
          <a:r>
            <a:rPr lang="en-IN" sz="1400" dirty="0" smtClean="0"/>
            <a:t>Rationalize store performance with store location</a:t>
          </a:r>
          <a:endParaRPr lang="en-IN" sz="1400" dirty="0"/>
        </a:p>
      </dgm:t>
    </dgm:pt>
    <dgm:pt modelId="{CB657643-29F9-492A-B218-76F608B7D17B}" type="parTrans" cxnId="{7D577B83-0015-453A-8107-24E2398BEA00}">
      <dgm:prSet/>
      <dgm:spPr/>
      <dgm:t>
        <a:bodyPr/>
        <a:lstStyle/>
        <a:p>
          <a:endParaRPr lang="en-IN"/>
        </a:p>
      </dgm:t>
    </dgm:pt>
    <dgm:pt modelId="{D62DE36E-FDBB-4274-9592-4AE62EC23912}" type="sibTrans" cxnId="{7D577B83-0015-453A-8107-24E2398BEA00}">
      <dgm:prSet/>
      <dgm:spPr/>
      <dgm:t>
        <a:bodyPr/>
        <a:lstStyle/>
        <a:p>
          <a:endParaRPr lang="en-IN"/>
        </a:p>
      </dgm:t>
    </dgm:pt>
    <dgm:pt modelId="{461E8951-3C4D-4D58-A473-0A3053B37115}">
      <dgm:prSet phldrT="[Text]" custT="1"/>
      <dgm:spPr/>
      <dgm:t>
        <a:bodyPr/>
        <a:lstStyle/>
        <a:p>
          <a:endParaRPr lang="en-IN" sz="1400" dirty="0"/>
        </a:p>
      </dgm:t>
    </dgm:pt>
    <dgm:pt modelId="{13115F88-E611-4FA3-BCE9-7BDA36D4088E}" type="parTrans" cxnId="{0FDB7167-2B39-42F0-B3AA-8D9EFBA4F9AD}">
      <dgm:prSet/>
      <dgm:spPr/>
      <dgm:t>
        <a:bodyPr/>
        <a:lstStyle/>
        <a:p>
          <a:endParaRPr lang="en-IN"/>
        </a:p>
      </dgm:t>
    </dgm:pt>
    <dgm:pt modelId="{59E7FC5E-7D07-43E8-B635-11933DDF4E9B}" type="sibTrans" cxnId="{0FDB7167-2B39-42F0-B3AA-8D9EFBA4F9AD}">
      <dgm:prSet/>
      <dgm:spPr/>
      <dgm:t>
        <a:bodyPr/>
        <a:lstStyle/>
        <a:p>
          <a:endParaRPr lang="en-IN"/>
        </a:p>
      </dgm:t>
    </dgm:pt>
    <dgm:pt modelId="{D066B700-9651-48B8-8B47-9268C0FBA36C}" type="pres">
      <dgm:prSet presAssocID="{EE3DBD5A-01D7-4698-89F3-9FB31764B25E}" presName="Name0" presStyleCnt="0">
        <dgm:presLayoutVars>
          <dgm:dir/>
          <dgm:animLvl val="lvl"/>
          <dgm:resizeHandles val="exact"/>
        </dgm:presLayoutVars>
      </dgm:prSet>
      <dgm:spPr/>
      <dgm:t>
        <a:bodyPr/>
        <a:lstStyle/>
        <a:p>
          <a:endParaRPr lang="en-IN"/>
        </a:p>
      </dgm:t>
    </dgm:pt>
    <dgm:pt modelId="{78D261F9-8919-475E-9E37-7482A0FAE48E}" type="pres">
      <dgm:prSet presAssocID="{8AEEBF5D-EFF6-43CE-A74B-BE9B4EE4FF48}" presName="composite" presStyleCnt="0"/>
      <dgm:spPr/>
    </dgm:pt>
    <dgm:pt modelId="{587C09BE-3887-4CB5-84FC-D4ECEB03B8CE}" type="pres">
      <dgm:prSet presAssocID="{8AEEBF5D-EFF6-43CE-A74B-BE9B4EE4FF48}" presName="parTx" presStyleLbl="alignNode1" presStyleIdx="0" presStyleCnt="3">
        <dgm:presLayoutVars>
          <dgm:chMax val="0"/>
          <dgm:chPref val="0"/>
          <dgm:bulletEnabled val="1"/>
        </dgm:presLayoutVars>
      </dgm:prSet>
      <dgm:spPr/>
      <dgm:t>
        <a:bodyPr/>
        <a:lstStyle/>
        <a:p>
          <a:endParaRPr lang="en-IN"/>
        </a:p>
      </dgm:t>
    </dgm:pt>
    <dgm:pt modelId="{2BA17993-40B7-4BE2-9C58-A359FC7AE548}" type="pres">
      <dgm:prSet presAssocID="{8AEEBF5D-EFF6-43CE-A74B-BE9B4EE4FF48}" presName="desTx" presStyleLbl="alignAccFollowNode1" presStyleIdx="0" presStyleCnt="3">
        <dgm:presLayoutVars>
          <dgm:bulletEnabled val="1"/>
        </dgm:presLayoutVars>
      </dgm:prSet>
      <dgm:spPr/>
      <dgm:t>
        <a:bodyPr/>
        <a:lstStyle/>
        <a:p>
          <a:endParaRPr lang="en-IN"/>
        </a:p>
      </dgm:t>
    </dgm:pt>
    <dgm:pt modelId="{B62CE347-ACD2-4E4F-9AD8-F0BB9D510154}" type="pres">
      <dgm:prSet presAssocID="{C2A88C04-D8F8-4993-B1FD-F10C990F3E7F}" presName="space" presStyleCnt="0"/>
      <dgm:spPr/>
    </dgm:pt>
    <dgm:pt modelId="{B6577582-1BA9-47B7-B70A-F5602873DD4B}" type="pres">
      <dgm:prSet presAssocID="{436996BC-EFEE-40E9-8035-5F3F62E7DBA8}" presName="composite" presStyleCnt="0"/>
      <dgm:spPr/>
    </dgm:pt>
    <dgm:pt modelId="{77BC54FA-59AB-4953-BBCC-B1745F28A46F}" type="pres">
      <dgm:prSet presAssocID="{436996BC-EFEE-40E9-8035-5F3F62E7DBA8}" presName="parTx" presStyleLbl="alignNode1" presStyleIdx="1" presStyleCnt="3">
        <dgm:presLayoutVars>
          <dgm:chMax val="0"/>
          <dgm:chPref val="0"/>
          <dgm:bulletEnabled val="1"/>
        </dgm:presLayoutVars>
      </dgm:prSet>
      <dgm:spPr/>
      <dgm:t>
        <a:bodyPr/>
        <a:lstStyle/>
        <a:p>
          <a:endParaRPr lang="en-IN"/>
        </a:p>
      </dgm:t>
    </dgm:pt>
    <dgm:pt modelId="{ECA50D66-5149-4288-AE4C-603A576E705D}" type="pres">
      <dgm:prSet presAssocID="{436996BC-EFEE-40E9-8035-5F3F62E7DBA8}" presName="desTx" presStyleLbl="alignAccFollowNode1" presStyleIdx="1" presStyleCnt="3">
        <dgm:presLayoutVars>
          <dgm:bulletEnabled val="1"/>
        </dgm:presLayoutVars>
      </dgm:prSet>
      <dgm:spPr/>
      <dgm:t>
        <a:bodyPr/>
        <a:lstStyle/>
        <a:p>
          <a:endParaRPr lang="en-IN"/>
        </a:p>
      </dgm:t>
    </dgm:pt>
    <dgm:pt modelId="{95968E4C-3320-4F5B-86A2-0DFBDB7E98FD}" type="pres">
      <dgm:prSet presAssocID="{9797B299-597B-42A8-A11F-8FBF51373246}" presName="space" presStyleCnt="0"/>
      <dgm:spPr/>
    </dgm:pt>
    <dgm:pt modelId="{6EC6C518-3EAC-46A2-9ED8-DE41AAA5F611}" type="pres">
      <dgm:prSet presAssocID="{7BA7FC61-C766-44D8-BB1E-D0B476AFB629}" presName="composite" presStyleCnt="0"/>
      <dgm:spPr/>
    </dgm:pt>
    <dgm:pt modelId="{0C759C9E-45A2-4FC3-8EB6-D46A1DD30E58}" type="pres">
      <dgm:prSet presAssocID="{7BA7FC61-C766-44D8-BB1E-D0B476AFB629}" presName="parTx" presStyleLbl="alignNode1" presStyleIdx="2" presStyleCnt="3">
        <dgm:presLayoutVars>
          <dgm:chMax val="0"/>
          <dgm:chPref val="0"/>
          <dgm:bulletEnabled val="1"/>
        </dgm:presLayoutVars>
      </dgm:prSet>
      <dgm:spPr/>
      <dgm:t>
        <a:bodyPr/>
        <a:lstStyle/>
        <a:p>
          <a:endParaRPr lang="en-IN"/>
        </a:p>
      </dgm:t>
    </dgm:pt>
    <dgm:pt modelId="{DBD90A61-D69C-49D3-9081-C2C41B21FF87}" type="pres">
      <dgm:prSet presAssocID="{7BA7FC61-C766-44D8-BB1E-D0B476AFB629}" presName="desTx" presStyleLbl="alignAccFollowNode1" presStyleIdx="2" presStyleCnt="3">
        <dgm:presLayoutVars>
          <dgm:bulletEnabled val="1"/>
        </dgm:presLayoutVars>
      </dgm:prSet>
      <dgm:spPr/>
      <dgm:t>
        <a:bodyPr/>
        <a:lstStyle/>
        <a:p>
          <a:endParaRPr lang="en-IN"/>
        </a:p>
      </dgm:t>
    </dgm:pt>
  </dgm:ptLst>
  <dgm:cxnLst>
    <dgm:cxn modelId="{B855E06B-B933-49C0-9C3F-B926E06727CF}" srcId="{EE3DBD5A-01D7-4698-89F3-9FB31764B25E}" destId="{436996BC-EFEE-40E9-8035-5F3F62E7DBA8}" srcOrd="1" destOrd="0" parTransId="{3DA32987-1438-4A70-B511-116EFA54D46F}" sibTransId="{9797B299-597B-42A8-A11F-8FBF51373246}"/>
    <dgm:cxn modelId="{8BFDE8F7-16A5-46D5-AC58-CA7341E4BFBC}" type="presOf" srcId="{7BA7FC61-C766-44D8-BB1E-D0B476AFB629}" destId="{0C759C9E-45A2-4FC3-8EB6-D46A1DD30E58}" srcOrd="0" destOrd="0" presId="urn:microsoft.com/office/officeart/2005/8/layout/hList1"/>
    <dgm:cxn modelId="{931F47F8-37D9-45A8-B09D-E3FE78625D2E}" srcId="{436996BC-EFEE-40E9-8035-5F3F62E7DBA8}" destId="{24EFE33E-05B0-4A3E-960E-659A28DB1A4C}" srcOrd="1" destOrd="0" parTransId="{E0206474-0BD3-4539-ABA8-91D83A38B338}" sibTransId="{A7069156-7FA4-4672-AA45-6BCD250CC78B}"/>
    <dgm:cxn modelId="{0FDB7167-2B39-42F0-B3AA-8D9EFBA4F9AD}" srcId="{8AEEBF5D-EFF6-43CE-A74B-BE9B4EE4FF48}" destId="{461E8951-3C4D-4D58-A473-0A3053B37115}" srcOrd="1" destOrd="0" parTransId="{13115F88-E611-4FA3-BCE9-7BDA36D4088E}" sibTransId="{59E7FC5E-7D07-43E8-B635-11933DDF4E9B}"/>
    <dgm:cxn modelId="{D3F1E071-57EE-4371-9D02-A5A169B8E2AD}" srcId="{8AEEBF5D-EFF6-43CE-A74B-BE9B4EE4FF48}" destId="{6A4AC63A-34C2-4F69-AC42-BBB44D1EE518}" srcOrd="2" destOrd="0" parTransId="{A540210D-A0E7-42BA-9915-C4BA36207DCA}" sibTransId="{F603C301-6094-4F5B-9D45-4B6D138C804C}"/>
    <dgm:cxn modelId="{7D577B83-0015-453A-8107-24E2398BEA00}" srcId="{7BA7FC61-C766-44D8-BB1E-D0B476AFB629}" destId="{3635EC44-C11B-4555-8A9D-C602E6FE3934}" srcOrd="0" destOrd="0" parTransId="{CB657643-29F9-492A-B218-76F608B7D17B}" sibTransId="{D62DE36E-FDBB-4274-9592-4AE62EC23912}"/>
    <dgm:cxn modelId="{586B409F-9647-4574-A5C1-BAF4E004F5D3}" type="presOf" srcId="{3635EC44-C11B-4555-8A9D-C602E6FE3934}" destId="{DBD90A61-D69C-49D3-9081-C2C41B21FF87}" srcOrd="0" destOrd="0" presId="urn:microsoft.com/office/officeart/2005/8/layout/hList1"/>
    <dgm:cxn modelId="{2997817F-81FF-46BF-946B-9A0260CB05BB}" type="presOf" srcId="{24EFE33E-05B0-4A3E-960E-659A28DB1A4C}" destId="{ECA50D66-5149-4288-AE4C-603A576E705D}" srcOrd="0" destOrd="1" presId="urn:microsoft.com/office/officeart/2005/8/layout/hList1"/>
    <dgm:cxn modelId="{07B044AA-2AD8-45BC-9963-627E33D87E49}" srcId="{8AEEBF5D-EFF6-43CE-A74B-BE9B4EE4FF48}" destId="{4E54CB2B-8B89-4D3E-9769-ABC3E0582F07}" srcOrd="0" destOrd="0" parTransId="{8B1239F3-C9CC-4AA8-B01E-58A4049C69A4}" sibTransId="{77E1FF67-988C-423B-9435-137F512C8CB3}"/>
    <dgm:cxn modelId="{DA3B31DA-6426-4A6C-9BC1-1C98E2BDECD3}" srcId="{EE3DBD5A-01D7-4698-89F3-9FB31764B25E}" destId="{7BA7FC61-C766-44D8-BB1E-D0B476AFB629}" srcOrd="2" destOrd="0" parTransId="{637A6A5B-CFA7-4ADE-A4C5-582AFC926B5B}" sibTransId="{37230608-49C1-4D0B-BB4C-F4E2D48FC1F7}"/>
    <dgm:cxn modelId="{4959C59D-A136-4165-9055-7069D53C2D9A}" type="presOf" srcId="{EE3DBD5A-01D7-4698-89F3-9FB31764B25E}" destId="{D066B700-9651-48B8-8B47-9268C0FBA36C}" srcOrd="0" destOrd="0" presId="urn:microsoft.com/office/officeart/2005/8/layout/hList1"/>
    <dgm:cxn modelId="{FCFC3417-4FBD-4CAC-98B7-126F6F1735E0}" type="presOf" srcId="{8AEEBF5D-EFF6-43CE-A74B-BE9B4EE4FF48}" destId="{587C09BE-3887-4CB5-84FC-D4ECEB03B8CE}" srcOrd="0" destOrd="0" presId="urn:microsoft.com/office/officeart/2005/8/layout/hList1"/>
    <dgm:cxn modelId="{50027004-863B-4E31-A370-D268B7802325}" type="presOf" srcId="{461E8951-3C4D-4D58-A473-0A3053B37115}" destId="{2BA17993-40B7-4BE2-9C58-A359FC7AE548}" srcOrd="0" destOrd="1" presId="urn:microsoft.com/office/officeart/2005/8/layout/hList1"/>
    <dgm:cxn modelId="{B6F179B3-263A-4DBD-903C-FAA134D7BD25}" srcId="{EE3DBD5A-01D7-4698-89F3-9FB31764B25E}" destId="{8AEEBF5D-EFF6-43CE-A74B-BE9B4EE4FF48}" srcOrd="0" destOrd="0" parTransId="{8C6A7D38-715B-4368-91DC-A54DB43C813B}" sibTransId="{C2A88C04-D8F8-4993-B1FD-F10C990F3E7F}"/>
    <dgm:cxn modelId="{0DC7BBE3-2841-4CCD-B406-95A3F0B53551}" type="presOf" srcId="{6A4AC63A-34C2-4F69-AC42-BBB44D1EE518}" destId="{2BA17993-40B7-4BE2-9C58-A359FC7AE548}" srcOrd="0" destOrd="2" presId="urn:microsoft.com/office/officeart/2005/8/layout/hList1"/>
    <dgm:cxn modelId="{AA3F829D-A18B-449A-9305-AAC1BF8015F7}" type="presOf" srcId="{4E54CB2B-8B89-4D3E-9769-ABC3E0582F07}" destId="{2BA17993-40B7-4BE2-9C58-A359FC7AE548}" srcOrd="0" destOrd="0" presId="urn:microsoft.com/office/officeart/2005/8/layout/hList1"/>
    <dgm:cxn modelId="{424F9B10-87A1-4255-B9C9-67F90DD84C3D}" type="presOf" srcId="{436996BC-EFEE-40E9-8035-5F3F62E7DBA8}" destId="{77BC54FA-59AB-4953-BBCC-B1745F28A46F}" srcOrd="0" destOrd="0" presId="urn:microsoft.com/office/officeart/2005/8/layout/hList1"/>
    <dgm:cxn modelId="{77AF87E0-AB19-4FA6-9605-E2514BB54FFB}" srcId="{436996BC-EFEE-40E9-8035-5F3F62E7DBA8}" destId="{253E3071-64E5-4C51-811D-38A80FCDA0D7}" srcOrd="0" destOrd="0" parTransId="{11AE019A-4B50-4382-8A53-FBB596F6CE73}" sibTransId="{E87E7201-9635-4589-A272-8E8A5AF7C290}"/>
    <dgm:cxn modelId="{C7DF3F6D-6087-4521-A909-4E9CF7928932}" type="presOf" srcId="{253E3071-64E5-4C51-811D-38A80FCDA0D7}" destId="{ECA50D66-5149-4288-AE4C-603A576E705D}" srcOrd="0" destOrd="0" presId="urn:microsoft.com/office/officeart/2005/8/layout/hList1"/>
    <dgm:cxn modelId="{81541C49-392B-4CCC-8A73-70CA443F4C5D}" type="presParOf" srcId="{D066B700-9651-48B8-8B47-9268C0FBA36C}" destId="{78D261F9-8919-475E-9E37-7482A0FAE48E}" srcOrd="0" destOrd="0" presId="urn:microsoft.com/office/officeart/2005/8/layout/hList1"/>
    <dgm:cxn modelId="{99457296-272B-4A0C-97C7-712BBDF5CD77}" type="presParOf" srcId="{78D261F9-8919-475E-9E37-7482A0FAE48E}" destId="{587C09BE-3887-4CB5-84FC-D4ECEB03B8CE}" srcOrd="0" destOrd="0" presId="urn:microsoft.com/office/officeart/2005/8/layout/hList1"/>
    <dgm:cxn modelId="{F37C50C8-196C-4DAA-9A3D-5CC66C7F5143}" type="presParOf" srcId="{78D261F9-8919-475E-9E37-7482A0FAE48E}" destId="{2BA17993-40B7-4BE2-9C58-A359FC7AE548}" srcOrd="1" destOrd="0" presId="urn:microsoft.com/office/officeart/2005/8/layout/hList1"/>
    <dgm:cxn modelId="{436F2BEC-A77B-4090-B999-06314FCD2202}" type="presParOf" srcId="{D066B700-9651-48B8-8B47-9268C0FBA36C}" destId="{B62CE347-ACD2-4E4F-9AD8-F0BB9D510154}" srcOrd="1" destOrd="0" presId="urn:microsoft.com/office/officeart/2005/8/layout/hList1"/>
    <dgm:cxn modelId="{50F0ABDA-FFDE-44B0-AB0F-D74D5CBC7325}" type="presParOf" srcId="{D066B700-9651-48B8-8B47-9268C0FBA36C}" destId="{B6577582-1BA9-47B7-B70A-F5602873DD4B}" srcOrd="2" destOrd="0" presId="urn:microsoft.com/office/officeart/2005/8/layout/hList1"/>
    <dgm:cxn modelId="{61A228C1-EE28-477F-9E71-6A408E780005}" type="presParOf" srcId="{B6577582-1BA9-47B7-B70A-F5602873DD4B}" destId="{77BC54FA-59AB-4953-BBCC-B1745F28A46F}" srcOrd="0" destOrd="0" presId="urn:microsoft.com/office/officeart/2005/8/layout/hList1"/>
    <dgm:cxn modelId="{B54E7541-48A1-4423-83FF-451768EF4718}" type="presParOf" srcId="{B6577582-1BA9-47B7-B70A-F5602873DD4B}" destId="{ECA50D66-5149-4288-AE4C-603A576E705D}" srcOrd="1" destOrd="0" presId="urn:microsoft.com/office/officeart/2005/8/layout/hList1"/>
    <dgm:cxn modelId="{96229682-2141-4340-9F9A-29AA6588B6E3}" type="presParOf" srcId="{D066B700-9651-48B8-8B47-9268C0FBA36C}" destId="{95968E4C-3320-4F5B-86A2-0DFBDB7E98FD}" srcOrd="3" destOrd="0" presId="urn:microsoft.com/office/officeart/2005/8/layout/hList1"/>
    <dgm:cxn modelId="{BD20D6AB-3FA5-474C-BCCA-1859FFDF05E9}" type="presParOf" srcId="{D066B700-9651-48B8-8B47-9268C0FBA36C}" destId="{6EC6C518-3EAC-46A2-9ED8-DE41AAA5F611}" srcOrd="4" destOrd="0" presId="urn:microsoft.com/office/officeart/2005/8/layout/hList1"/>
    <dgm:cxn modelId="{A20EE8D3-E678-4A0C-AFB8-FB1DF624F164}" type="presParOf" srcId="{6EC6C518-3EAC-46A2-9ED8-DE41AAA5F611}" destId="{0C759C9E-45A2-4FC3-8EB6-D46A1DD30E58}" srcOrd="0" destOrd="0" presId="urn:microsoft.com/office/officeart/2005/8/layout/hList1"/>
    <dgm:cxn modelId="{CF9C2DA2-0BA0-41A9-A366-BBE377C10989}" type="presParOf" srcId="{6EC6C518-3EAC-46A2-9ED8-DE41AAA5F611}" destId="{DBD90A61-D69C-49D3-9081-C2C41B21FF87}"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0447C8-CDC5-4CEA-90D2-B0A6F961FBE6}">
      <dsp:nvSpPr>
        <dsp:cNvPr id="0" name=""/>
        <dsp:cNvSpPr/>
      </dsp:nvSpPr>
      <dsp:spPr>
        <a:xfrm>
          <a:off x="0" y="0"/>
          <a:ext cx="4408840" cy="546607"/>
        </a:xfrm>
        <a:prstGeom prst="rect">
          <a:avLst/>
        </a:prstGeom>
        <a:solidFill>
          <a:schemeClr val="tx2">
            <a:lumMod val="7500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IN" sz="1400" kern="1200" dirty="0" smtClean="0"/>
            <a:t>Probability of Store Visit from Catchment</a:t>
          </a:r>
          <a:endParaRPr lang="en-IN" sz="1400" kern="1200" dirty="0"/>
        </a:p>
      </dsp:txBody>
      <dsp:txXfrm>
        <a:off x="0" y="0"/>
        <a:ext cx="4408840" cy="546607"/>
      </dsp:txXfrm>
    </dsp:sp>
    <dsp:sp modelId="{21849321-513F-4F74-948F-22AE0722B5FB}">
      <dsp:nvSpPr>
        <dsp:cNvPr id="0" name=""/>
        <dsp:cNvSpPr/>
      </dsp:nvSpPr>
      <dsp:spPr>
        <a:xfrm>
          <a:off x="0" y="546607"/>
          <a:ext cx="2204420" cy="1147876"/>
        </a:xfrm>
        <a:prstGeom prst="rect">
          <a:avLst/>
        </a:prstGeom>
        <a:solidFill>
          <a:schemeClr val="bg1"/>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IN" sz="1400" kern="1200" smtClean="0">
              <a:solidFill>
                <a:schemeClr val="tx1"/>
              </a:solidFill>
            </a:rPr>
            <a:t>Store/Competitor  Attractiveness</a:t>
          </a:r>
        </a:p>
        <a:p>
          <a:pPr lvl="0" algn="ctr" defTabSz="622300">
            <a:lnSpc>
              <a:spcPct val="90000"/>
            </a:lnSpc>
            <a:spcBef>
              <a:spcPct val="0"/>
            </a:spcBef>
            <a:spcAft>
              <a:spcPct val="35000"/>
            </a:spcAft>
          </a:pPr>
          <a:r>
            <a:rPr lang="en-IN" sz="1200" i="1" kern="1200" smtClean="0">
              <a:solidFill>
                <a:schemeClr val="tx1"/>
              </a:solidFill>
            </a:rPr>
            <a:t>Derived from Store Characteristics</a:t>
          </a:r>
          <a:endParaRPr lang="en-IN" sz="1200" i="1" kern="1200" dirty="0">
            <a:solidFill>
              <a:schemeClr val="tx1"/>
            </a:solidFill>
          </a:endParaRPr>
        </a:p>
      </dsp:txBody>
      <dsp:txXfrm>
        <a:off x="0" y="546607"/>
        <a:ext cx="2204420" cy="1147876"/>
      </dsp:txXfrm>
    </dsp:sp>
    <dsp:sp modelId="{FB47CFB8-7F4B-4846-A974-B919E03B5AFB}">
      <dsp:nvSpPr>
        <dsp:cNvPr id="0" name=""/>
        <dsp:cNvSpPr/>
      </dsp:nvSpPr>
      <dsp:spPr>
        <a:xfrm>
          <a:off x="2204420" y="546607"/>
          <a:ext cx="2204420" cy="1147876"/>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IN" sz="1400" kern="1200" dirty="0" smtClean="0">
              <a:solidFill>
                <a:schemeClr val="tx1"/>
              </a:solidFill>
            </a:rPr>
            <a:t>Store/Competitor Distance</a:t>
          </a:r>
        </a:p>
        <a:p>
          <a:pPr lvl="0" algn="ctr" defTabSz="622300">
            <a:lnSpc>
              <a:spcPct val="90000"/>
            </a:lnSpc>
            <a:spcBef>
              <a:spcPct val="0"/>
            </a:spcBef>
            <a:spcAft>
              <a:spcPct val="35000"/>
            </a:spcAft>
          </a:pPr>
          <a:r>
            <a:rPr lang="en-IN" sz="1200" i="1" kern="1200" dirty="0" smtClean="0">
              <a:solidFill>
                <a:schemeClr val="tx1"/>
              </a:solidFill>
            </a:rPr>
            <a:t>Driving Distance to Store/Competitor PIN</a:t>
          </a:r>
          <a:endParaRPr lang="en-IN" sz="1200" kern="1200" dirty="0">
            <a:solidFill>
              <a:schemeClr val="tx1"/>
            </a:solidFill>
          </a:endParaRPr>
        </a:p>
      </dsp:txBody>
      <dsp:txXfrm>
        <a:off x="2204420" y="546607"/>
        <a:ext cx="2204420" cy="1147876"/>
      </dsp:txXfrm>
    </dsp:sp>
    <dsp:sp modelId="{66B4487D-DDE8-4879-8E6F-59D6C5AD45D3}">
      <dsp:nvSpPr>
        <dsp:cNvPr id="0" name=""/>
        <dsp:cNvSpPr/>
      </dsp:nvSpPr>
      <dsp:spPr>
        <a:xfrm>
          <a:off x="0" y="1694484"/>
          <a:ext cx="4408840" cy="127541"/>
        </a:xfrm>
        <a:prstGeom prst="rect">
          <a:avLst/>
        </a:prstGeom>
        <a:solidFill>
          <a:schemeClr val="bg1"/>
        </a:solidFill>
        <a:ln>
          <a:noFill/>
        </a:ln>
        <a:effectLst/>
      </dsp:spPr>
      <dsp:style>
        <a:lnRef idx="0">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3B253B-96EA-4582-8E25-BA4FF4F15F12}">
      <dsp:nvSpPr>
        <dsp:cNvPr id="0" name=""/>
        <dsp:cNvSpPr/>
      </dsp:nvSpPr>
      <dsp:spPr>
        <a:xfrm>
          <a:off x="0" y="0"/>
          <a:ext cx="4408840" cy="550498"/>
        </a:xfrm>
        <a:prstGeom prst="rect">
          <a:avLst/>
        </a:prstGeom>
        <a:solidFill>
          <a:schemeClr val="tx2">
            <a:lumMod val="7500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IN" sz="1400" kern="1200" dirty="0" smtClean="0"/>
            <a:t>Potential of Catchment – for Croma Sales</a:t>
          </a:r>
          <a:endParaRPr lang="en-IN" sz="1400" kern="1200" dirty="0"/>
        </a:p>
      </dsp:txBody>
      <dsp:txXfrm>
        <a:off x="0" y="0"/>
        <a:ext cx="4408840" cy="550498"/>
      </dsp:txXfrm>
    </dsp:sp>
    <dsp:sp modelId="{9A5E95D9-0DD0-4B74-981F-14F91AAD3261}">
      <dsp:nvSpPr>
        <dsp:cNvPr id="0" name=""/>
        <dsp:cNvSpPr/>
      </dsp:nvSpPr>
      <dsp:spPr>
        <a:xfrm>
          <a:off x="2152" y="550498"/>
          <a:ext cx="1468178" cy="1156046"/>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IN" sz="1400" kern="1200" dirty="0" smtClean="0">
              <a:solidFill>
                <a:schemeClr val="tx1"/>
              </a:solidFill>
            </a:rPr>
            <a:t>Aggregated data Sources from CIBIL, Census and others </a:t>
          </a:r>
          <a:endParaRPr lang="en-IN" sz="1400" kern="1200" dirty="0">
            <a:solidFill>
              <a:schemeClr val="tx1"/>
            </a:solidFill>
          </a:endParaRPr>
        </a:p>
      </dsp:txBody>
      <dsp:txXfrm>
        <a:off x="2152" y="550498"/>
        <a:ext cx="1468178" cy="1156046"/>
      </dsp:txXfrm>
    </dsp:sp>
    <dsp:sp modelId="{0B3B8EB1-D7F6-48BB-8DA3-9C86170B250C}">
      <dsp:nvSpPr>
        <dsp:cNvPr id="0" name=""/>
        <dsp:cNvSpPr/>
      </dsp:nvSpPr>
      <dsp:spPr>
        <a:xfrm>
          <a:off x="1470330" y="550498"/>
          <a:ext cx="1468178" cy="1156046"/>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IN" sz="1400" kern="1200" dirty="0" smtClean="0">
              <a:solidFill>
                <a:schemeClr val="tx1"/>
              </a:solidFill>
            </a:rPr>
            <a:t>Aggregated TATA </a:t>
          </a:r>
          <a:r>
            <a:rPr lang="en-IN" sz="1400" kern="1200" dirty="0" err="1" smtClean="0">
              <a:solidFill>
                <a:schemeClr val="tx1"/>
              </a:solidFill>
            </a:rPr>
            <a:t>Indicash</a:t>
          </a:r>
          <a:r>
            <a:rPr lang="en-IN" sz="1400" kern="1200" dirty="0" smtClean="0">
              <a:solidFill>
                <a:schemeClr val="tx1"/>
              </a:solidFill>
            </a:rPr>
            <a:t> ATM data</a:t>
          </a:r>
          <a:endParaRPr lang="en-IN" sz="1400" kern="1200" dirty="0">
            <a:solidFill>
              <a:schemeClr val="tx1"/>
            </a:solidFill>
          </a:endParaRPr>
        </a:p>
      </dsp:txBody>
      <dsp:txXfrm>
        <a:off x="1470330" y="550498"/>
        <a:ext cx="1468178" cy="1156046"/>
      </dsp:txXfrm>
    </dsp:sp>
    <dsp:sp modelId="{DC4C132C-632B-427B-8DAE-A7E8D64F7DF6}">
      <dsp:nvSpPr>
        <dsp:cNvPr id="0" name=""/>
        <dsp:cNvSpPr/>
      </dsp:nvSpPr>
      <dsp:spPr>
        <a:xfrm>
          <a:off x="2938509" y="550498"/>
          <a:ext cx="1468178" cy="1156046"/>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IN" sz="1400" kern="1200" dirty="0" smtClean="0">
              <a:solidFill>
                <a:schemeClr val="tx1"/>
              </a:solidFill>
            </a:rPr>
            <a:t>TOP 50 PIN locations for CROMA</a:t>
          </a:r>
          <a:endParaRPr lang="en-IN" sz="1400" kern="1200" dirty="0">
            <a:solidFill>
              <a:schemeClr val="tx1"/>
            </a:solidFill>
          </a:endParaRPr>
        </a:p>
      </dsp:txBody>
      <dsp:txXfrm>
        <a:off x="2938509" y="550498"/>
        <a:ext cx="1468178" cy="1156046"/>
      </dsp:txXfrm>
    </dsp:sp>
    <dsp:sp modelId="{802DFF20-0C59-4E0C-9C3F-E0E0F2060876}">
      <dsp:nvSpPr>
        <dsp:cNvPr id="0" name=""/>
        <dsp:cNvSpPr/>
      </dsp:nvSpPr>
      <dsp:spPr>
        <a:xfrm>
          <a:off x="0" y="1706544"/>
          <a:ext cx="4408840" cy="128449"/>
        </a:xfrm>
        <a:prstGeom prst="rect">
          <a:avLst/>
        </a:prstGeom>
        <a:solidFill>
          <a:schemeClr val="bg1"/>
        </a:solidFill>
        <a:ln>
          <a:noFill/>
        </a:ln>
        <a:effectLst/>
      </dsp:spPr>
      <dsp:style>
        <a:lnRef idx="0">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D45133-FB29-4CC6-B206-3630DF77021C}">
      <dsp:nvSpPr>
        <dsp:cNvPr id="0" name=""/>
        <dsp:cNvSpPr/>
      </dsp:nvSpPr>
      <dsp:spPr>
        <a:xfrm>
          <a:off x="0" y="0"/>
          <a:ext cx="2640722" cy="2640722"/>
        </a:xfrm>
        <a:prstGeom prst="pie">
          <a:avLst>
            <a:gd name="adj1" fmla="val 5400000"/>
            <a:gd name="adj2" fmla="val 16200000"/>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94C959B-74C4-438C-AA72-949882D1DE12}">
      <dsp:nvSpPr>
        <dsp:cNvPr id="0" name=""/>
        <dsp:cNvSpPr/>
      </dsp:nvSpPr>
      <dsp:spPr>
        <a:xfrm>
          <a:off x="1320361" y="0"/>
          <a:ext cx="5701162" cy="2640722"/>
        </a:xfrm>
        <a:prstGeom prst="rect">
          <a:avLst/>
        </a:prstGeom>
        <a:solidFill>
          <a:schemeClr val="lt1">
            <a:alpha val="90000"/>
            <a:hueOff val="0"/>
            <a:satOff val="0"/>
            <a:lumOff val="0"/>
            <a:alphaOff val="0"/>
          </a:schemeClr>
        </a:solidFill>
        <a:ln w="19050"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lvl="0" algn="ctr" defTabSz="711200" rtl="0">
            <a:lnSpc>
              <a:spcPct val="90000"/>
            </a:lnSpc>
            <a:spcBef>
              <a:spcPct val="0"/>
            </a:spcBef>
            <a:spcAft>
              <a:spcPct val="35000"/>
            </a:spcAft>
          </a:pPr>
          <a:r>
            <a:rPr lang="en-IN" sz="1600" kern="1200" dirty="0" smtClean="0">
              <a:latin typeface="Calibri" panose="020F0502020204030204" pitchFamily="34" charset="0"/>
            </a:rPr>
            <a:t>Modernity &amp; affluence levels of key catchments in Hyderabad</a:t>
          </a:r>
          <a:endParaRPr lang="en-IN" sz="1600" kern="1200" dirty="0">
            <a:latin typeface="Calibri" panose="020F0502020204030204" pitchFamily="34" charset="0"/>
          </a:endParaRPr>
        </a:p>
      </dsp:txBody>
      <dsp:txXfrm>
        <a:off x="1320361" y="0"/>
        <a:ext cx="5701162" cy="422515"/>
      </dsp:txXfrm>
    </dsp:sp>
    <dsp:sp modelId="{0A00C66D-EC5A-47EA-8E37-D5566A686B63}">
      <dsp:nvSpPr>
        <dsp:cNvPr id="0" name=""/>
        <dsp:cNvSpPr/>
      </dsp:nvSpPr>
      <dsp:spPr>
        <a:xfrm>
          <a:off x="277275" y="422515"/>
          <a:ext cx="2086171" cy="2086171"/>
        </a:xfrm>
        <a:prstGeom prst="pie">
          <a:avLst>
            <a:gd name="adj1" fmla="val 5400000"/>
            <a:gd name="adj2" fmla="val 16200000"/>
          </a:avLst>
        </a:prstGeom>
        <a:solidFill>
          <a:schemeClr val="accent4">
            <a:hueOff val="-266661"/>
            <a:satOff val="-3194"/>
            <a:lumOff val="883"/>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5857C52-E4D4-46D5-8E87-6F67131A9ACA}">
      <dsp:nvSpPr>
        <dsp:cNvPr id="0" name=""/>
        <dsp:cNvSpPr/>
      </dsp:nvSpPr>
      <dsp:spPr>
        <a:xfrm>
          <a:off x="1320361" y="422515"/>
          <a:ext cx="5701162" cy="2086171"/>
        </a:xfrm>
        <a:prstGeom prst="rect">
          <a:avLst/>
        </a:prstGeom>
        <a:solidFill>
          <a:schemeClr val="lt1">
            <a:alpha val="90000"/>
            <a:hueOff val="0"/>
            <a:satOff val="0"/>
            <a:lumOff val="0"/>
            <a:alphaOff val="0"/>
          </a:schemeClr>
        </a:solidFill>
        <a:ln w="19050" cap="rnd" cmpd="sng" algn="ctr">
          <a:solidFill>
            <a:schemeClr val="accent4">
              <a:hueOff val="-266661"/>
              <a:satOff val="-3194"/>
              <a:lumOff val="88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lvl="0" algn="ctr" defTabSz="711200" rtl="0">
            <a:lnSpc>
              <a:spcPct val="90000"/>
            </a:lnSpc>
            <a:spcBef>
              <a:spcPct val="0"/>
            </a:spcBef>
            <a:spcAft>
              <a:spcPct val="35000"/>
            </a:spcAft>
          </a:pPr>
          <a:r>
            <a:rPr lang="en-IN" sz="1600" kern="1200" dirty="0" smtClean="0">
              <a:latin typeface="Calibri" panose="020F0502020204030204" pitchFamily="34" charset="0"/>
            </a:rPr>
            <a:t>Consumer demographics in various regions of Hyderabad</a:t>
          </a:r>
          <a:endParaRPr lang="en-IN" sz="1600" kern="1200" dirty="0">
            <a:latin typeface="Calibri" panose="020F0502020204030204" pitchFamily="34" charset="0"/>
          </a:endParaRPr>
        </a:p>
      </dsp:txBody>
      <dsp:txXfrm>
        <a:off x="1320361" y="422515"/>
        <a:ext cx="5701162" cy="422515"/>
      </dsp:txXfrm>
    </dsp:sp>
    <dsp:sp modelId="{37719500-1674-4781-A9A8-6B4FFAC858AA}">
      <dsp:nvSpPr>
        <dsp:cNvPr id="0" name=""/>
        <dsp:cNvSpPr/>
      </dsp:nvSpPr>
      <dsp:spPr>
        <a:xfrm>
          <a:off x="554551" y="845031"/>
          <a:ext cx="1531619" cy="1531619"/>
        </a:xfrm>
        <a:prstGeom prst="pie">
          <a:avLst>
            <a:gd name="adj1" fmla="val 5400000"/>
            <a:gd name="adj2" fmla="val 16200000"/>
          </a:avLst>
        </a:prstGeom>
        <a:solidFill>
          <a:schemeClr val="accent4">
            <a:hueOff val="-533322"/>
            <a:satOff val="-6388"/>
            <a:lumOff val="176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488A166-C377-4E3B-99F7-29F74EB3EC94}">
      <dsp:nvSpPr>
        <dsp:cNvPr id="0" name=""/>
        <dsp:cNvSpPr/>
      </dsp:nvSpPr>
      <dsp:spPr>
        <a:xfrm>
          <a:off x="1320361" y="845031"/>
          <a:ext cx="5701162" cy="1531619"/>
        </a:xfrm>
        <a:prstGeom prst="rect">
          <a:avLst/>
        </a:prstGeom>
        <a:solidFill>
          <a:schemeClr val="lt1">
            <a:alpha val="90000"/>
            <a:hueOff val="0"/>
            <a:satOff val="0"/>
            <a:lumOff val="0"/>
            <a:alphaOff val="0"/>
          </a:schemeClr>
        </a:solidFill>
        <a:ln w="19050" cap="rnd" cmpd="sng" algn="ctr">
          <a:solidFill>
            <a:schemeClr val="accent4">
              <a:hueOff val="-533322"/>
              <a:satOff val="-6388"/>
              <a:lumOff val="176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lvl="0" algn="ctr" defTabSz="711200" rtl="0">
            <a:lnSpc>
              <a:spcPct val="90000"/>
            </a:lnSpc>
            <a:spcBef>
              <a:spcPct val="0"/>
            </a:spcBef>
            <a:spcAft>
              <a:spcPct val="35000"/>
            </a:spcAft>
          </a:pPr>
          <a:r>
            <a:rPr lang="en-IN" sz="1600" kern="1200" dirty="0" smtClean="0">
              <a:latin typeface="Calibri" panose="020F0502020204030204" pitchFamily="34" charset="0"/>
            </a:rPr>
            <a:t>Knowledge from other Tata retail organizations </a:t>
          </a:r>
          <a:endParaRPr lang="en-IN" sz="1600" kern="1200" dirty="0">
            <a:latin typeface="Calibri" panose="020F0502020204030204" pitchFamily="34" charset="0"/>
          </a:endParaRPr>
        </a:p>
      </dsp:txBody>
      <dsp:txXfrm>
        <a:off x="1320361" y="845031"/>
        <a:ext cx="5701162" cy="422515"/>
      </dsp:txXfrm>
    </dsp:sp>
    <dsp:sp modelId="{F8218CCE-9FE1-4475-A089-AE0F33FE55C6}">
      <dsp:nvSpPr>
        <dsp:cNvPr id="0" name=""/>
        <dsp:cNvSpPr/>
      </dsp:nvSpPr>
      <dsp:spPr>
        <a:xfrm>
          <a:off x="831827" y="1267547"/>
          <a:ext cx="977067" cy="977067"/>
        </a:xfrm>
        <a:prstGeom prst="pie">
          <a:avLst>
            <a:gd name="adj1" fmla="val 5400000"/>
            <a:gd name="adj2" fmla="val 16200000"/>
          </a:avLst>
        </a:prstGeom>
        <a:solidFill>
          <a:schemeClr val="accent4">
            <a:hueOff val="-799983"/>
            <a:satOff val="-9582"/>
            <a:lumOff val="2648"/>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0004BA9-DEAE-4187-88CF-9B99F7936FF1}">
      <dsp:nvSpPr>
        <dsp:cNvPr id="0" name=""/>
        <dsp:cNvSpPr/>
      </dsp:nvSpPr>
      <dsp:spPr>
        <a:xfrm>
          <a:off x="1320361" y="1267547"/>
          <a:ext cx="5701162" cy="977067"/>
        </a:xfrm>
        <a:prstGeom prst="rect">
          <a:avLst/>
        </a:prstGeom>
        <a:solidFill>
          <a:schemeClr val="lt1">
            <a:alpha val="90000"/>
            <a:hueOff val="0"/>
            <a:satOff val="0"/>
            <a:lumOff val="0"/>
            <a:alphaOff val="0"/>
          </a:schemeClr>
        </a:solidFill>
        <a:ln w="19050" cap="rnd" cmpd="sng" algn="ctr">
          <a:solidFill>
            <a:schemeClr val="accent4">
              <a:hueOff val="-799983"/>
              <a:satOff val="-9582"/>
              <a:lumOff val="264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lvl="0" algn="ctr" defTabSz="711200" rtl="0">
            <a:lnSpc>
              <a:spcPct val="90000"/>
            </a:lnSpc>
            <a:spcBef>
              <a:spcPct val="0"/>
            </a:spcBef>
            <a:spcAft>
              <a:spcPct val="35000"/>
            </a:spcAft>
          </a:pPr>
          <a:r>
            <a:rPr lang="en-IN" sz="1600" kern="1200" dirty="0" smtClean="0">
              <a:latin typeface="Calibri" panose="020F0502020204030204" pitchFamily="34" charset="0"/>
            </a:rPr>
            <a:t>Heat maps for the new sites proposed</a:t>
          </a:r>
          <a:endParaRPr lang="en-IN" sz="1600" kern="1200" dirty="0">
            <a:latin typeface="Calibri" panose="020F0502020204030204" pitchFamily="34" charset="0"/>
          </a:endParaRPr>
        </a:p>
      </dsp:txBody>
      <dsp:txXfrm>
        <a:off x="1320361" y="1267547"/>
        <a:ext cx="5701162" cy="422515"/>
      </dsp:txXfrm>
    </dsp:sp>
    <dsp:sp modelId="{E54D1735-E202-4E01-88E4-3508660EBF14}">
      <dsp:nvSpPr>
        <dsp:cNvPr id="0" name=""/>
        <dsp:cNvSpPr/>
      </dsp:nvSpPr>
      <dsp:spPr>
        <a:xfrm>
          <a:off x="1109103" y="1690062"/>
          <a:ext cx="422515" cy="422515"/>
        </a:xfrm>
        <a:prstGeom prst="pie">
          <a:avLst>
            <a:gd name="adj1" fmla="val 5400000"/>
            <a:gd name="adj2" fmla="val 16200000"/>
          </a:avLst>
        </a:prstGeom>
        <a:solidFill>
          <a:schemeClr val="accent4">
            <a:hueOff val="-1066644"/>
            <a:satOff val="-12776"/>
            <a:lumOff val="353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109561C-7562-4E72-A52E-1FF961DFC945}">
      <dsp:nvSpPr>
        <dsp:cNvPr id="0" name=""/>
        <dsp:cNvSpPr/>
      </dsp:nvSpPr>
      <dsp:spPr>
        <a:xfrm>
          <a:off x="1320361" y="1690062"/>
          <a:ext cx="5701162" cy="422515"/>
        </a:xfrm>
        <a:prstGeom prst="rect">
          <a:avLst/>
        </a:prstGeom>
        <a:solidFill>
          <a:schemeClr val="lt1">
            <a:alpha val="90000"/>
            <a:hueOff val="0"/>
            <a:satOff val="0"/>
            <a:lumOff val="0"/>
            <a:alphaOff val="0"/>
          </a:schemeClr>
        </a:solidFill>
        <a:ln w="19050" cap="rnd" cmpd="sng" algn="ctr">
          <a:solidFill>
            <a:schemeClr val="accent4">
              <a:hueOff val="-1066644"/>
              <a:satOff val="-12776"/>
              <a:lumOff val="353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lvl="0" algn="ctr" defTabSz="711200" rtl="0">
            <a:lnSpc>
              <a:spcPct val="90000"/>
            </a:lnSpc>
            <a:spcBef>
              <a:spcPct val="0"/>
            </a:spcBef>
            <a:spcAft>
              <a:spcPct val="35000"/>
            </a:spcAft>
          </a:pPr>
          <a:r>
            <a:rPr lang="en-IN" sz="1600" kern="1200" dirty="0" smtClean="0">
              <a:latin typeface="Calibri" panose="020F0502020204030204" pitchFamily="34" charset="0"/>
            </a:rPr>
            <a:t>Additional hotspots Croma can consider for new stores</a:t>
          </a:r>
          <a:endParaRPr lang="en-IN" sz="1600" kern="1200" dirty="0">
            <a:latin typeface="Calibri" panose="020F0502020204030204" pitchFamily="34" charset="0"/>
          </a:endParaRPr>
        </a:p>
      </dsp:txBody>
      <dsp:txXfrm>
        <a:off x="1320361" y="1690062"/>
        <a:ext cx="5701162" cy="42251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8922C4-E2F0-4DC7-A007-5C5E0CCF8F2B}">
      <dsp:nvSpPr>
        <dsp:cNvPr id="0" name=""/>
        <dsp:cNvSpPr/>
      </dsp:nvSpPr>
      <dsp:spPr>
        <a:xfrm>
          <a:off x="1507" y="0"/>
          <a:ext cx="3214389" cy="813746"/>
        </a:xfrm>
        <a:prstGeom prst="roundRect">
          <a:avLst>
            <a:gd name="adj" fmla="val 10000"/>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IN" sz="1800" kern="1200" dirty="0" smtClean="0"/>
            <a:t>Validation of 5 identified store locations</a:t>
          </a:r>
          <a:endParaRPr lang="en-IN" sz="1800" kern="1200" dirty="0"/>
        </a:p>
      </dsp:txBody>
      <dsp:txXfrm>
        <a:off x="25341" y="23834"/>
        <a:ext cx="3166721" cy="766078"/>
      </dsp:txXfrm>
    </dsp:sp>
    <dsp:sp modelId="{19736CB0-2EB2-4CC5-AB71-AC24D315B3D3}">
      <dsp:nvSpPr>
        <dsp:cNvPr id="0" name=""/>
        <dsp:cNvSpPr/>
      </dsp:nvSpPr>
      <dsp:spPr>
        <a:xfrm>
          <a:off x="3537335" y="8289"/>
          <a:ext cx="681450" cy="797168"/>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en-IN" sz="1400" kern="1200" dirty="0"/>
        </a:p>
      </dsp:txBody>
      <dsp:txXfrm>
        <a:off x="3537335" y="167723"/>
        <a:ext cx="477015" cy="478300"/>
      </dsp:txXfrm>
    </dsp:sp>
    <dsp:sp modelId="{487CEA42-8344-4161-A186-20B367B67CC8}">
      <dsp:nvSpPr>
        <dsp:cNvPr id="0" name=""/>
        <dsp:cNvSpPr/>
      </dsp:nvSpPr>
      <dsp:spPr>
        <a:xfrm>
          <a:off x="4501652" y="0"/>
          <a:ext cx="3214389" cy="813746"/>
        </a:xfrm>
        <a:prstGeom prst="roundRect">
          <a:avLst>
            <a:gd name="adj" fmla="val 10000"/>
          </a:avLst>
        </a:prstGeom>
        <a:solidFill>
          <a:schemeClr val="accent3">
            <a:hueOff val="11249043"/>
            <a:satOff val="2189"/>
            <a:lumOff val="1176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IN" sz="1800" kern="1200" dirty="0" smtClean="0"/>
            <a:t>Identification of the 5 best pin locations</a:t>
          </a:r>
          <a:endParaRPr lang="en-IN" sz="1800" kern="1200" dirty="0"/>
        </a:p>
      </dsp:txBody>
      <dsp:txXfrm>
        <a:off x="4525486" y="23834"/>
        <a:ext cx="3166721" cy="76607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AlternatingHexagons">
  <dgm:title val=""/>
  <dgm:desc val=""/>
  <dgm:catLst>
    <dgm:cat type="list" pri="1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alg type="lin">
      <dgm:param type="linDir" val="fromT"/>
    </dgm:alg>
    <dgm:shape xmlns:r="http://schemas.openxmlformats.org/officeDocument/2006/relationships" r:blip="">
      <dgm:adjLst/>
    </dgm:shape>
    <dgm:constrLst>
      <dgm:constr type="primFontSz" for="des" forName="Parent1" val="65"/>
      <dgm:constr type="primFontSz" for="des" forName="Childtext1" refType="primFontSz" refFor="des" refForName="Parent1" op="lte"/>
      <dgm:constr type="w" for="ch" forName="composite" refType="w"/>
      <dgm:constr type="h" for="ch" forName="composite" refType="h"/>
      <dgm:constr type="h" for="ch" forName="spaceBetweenRectangles" refType="w" refFor="ch" refForName="composite" fact="-0.042"/>
      <dgm:constr type="sp" refType="h" refFor="ch" refForName="composite" op="equ" fact="0.1"/>
    </dgm:constrLst>
    <dgm:forEach name="nodesForEach" axis="ch" ptType="node">
      <dgm:layoutNode name="composite">
        <dgm:alg type="composite">
          <dgm:param type="ar" val="3.6"/>
        </dgm:alg>
        <dgm:shape xmlns:r="http://schemas.openxmlformats.org/officeDocument/2006/relationships" r:blip="">
          <dgm:adjLst/>
        </dgm:shape>
        <dgm:choose name="Name1">
          <dgm:if name="Name2" func="var" arg="dir" op="equ" val="norm">
            <dgm:choose name="Name3">
              <dgm:if name="Name4" axis="self" ptType="node" func="posOdd" op="equ" val="1">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dgm:constr type="h" for="ch" forName="BalanceSpacing" refType="h" fact="0.1"/>
                  <dgm:constr type="l" for="ch" forName="BalanceSpacing1" refType="w" fact="0.69"/>
                  <dgm:constr type="t" for="ch" forName="BalanceSpacing1" refType="h" fact="0.2"/>
                  <dgm:constr type="w" for="ch" forName="BalanceSpacing1" refType="w" fact="0.31"/>
                  <dgm:constr type="h" for="ch" forName="BalanceSpacing1" refType="h" fact="0.6"/>
                </dgm:constrLst>
              </dgm:if>
              <dgm:else name="Name5">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 type="l" for="ch" forName="BalanceSpacing1" refType="w" fact="0"/>
                  <dgm:constr type="t" for="ch" forName="BalanceSpacing1" refType="h" fact="0.2"/>
                  <dgm:constr type="w" for="ch" forName="BalanceSpacing1" refType="w" fact="0.3"/>
                  <dgm:constr type="h" for="ch" forName="BalanceSpacing1" refType="h" fact="0.6"/>
                </dgm:constrLst>
              </dgm:else>
            </dgm:choose>
          </dgm:if>
          <dgm:else name="Name6">
            <dgm:choose name="Name7">
              <dgm:if name="Name8" axis="self" ptType="node" func="posOdd" op="equ" val="1">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Lst>
              </dgm:if>
              <dgm:else name="Name9">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fact="0.18"/>
                  <dgm:constr type="h" for="ch" forName="BalanceSpacing" refType="h"/>
                </dgm:constrLst>
              </dgm:else>
            </dgm:choose>
          </dgm:else>
        </dgm:choose>
        <dgm:layoutNode name="Parent1" styleLbl="node1">
          <dgm:varLst>
            <dgm:chMax val="1"/>
            <dgm:chPref val="1"/>
            <dgm:bulletEnabled val="1"/>
          </dgm:varLst>
          <dgm:alg type="tx"/>
          <dgm:shape xmlns:r="http://schemas.openxmlformats.org/officeDocument/2006/relationships" rot="90" type="hexagon" r:blip="">
            <dgm:adjLst>
              <dgm:adj idx="1" val="0.25"/>
              <dgm:adj idx="2" val="1.154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hildtext1" styleLbl="revTx">
          <dgm:varLst>
            <dgm:chMax val="0"/>
            <dgm:chPref val="0"/>
            <dgm:bulletEnabled val="1"/>
          </dgm:varLst>
          <dgm:choose name="Name10">
            <dgm:if name="Name11" func="var" arg="dir" op="equ" val="norm">
              <dgm:choose name="Name12">
                <dgm:if name="Name13" axis="self" ptType="node" func="posOdd" op="equ" val="1">
                  <dgm:alg type="tx">
                    <dgm:param type="parTxLTRAlign" val="l"/>
                  </dgm:alg>
                </dgm:if>
                <dgm:else name="Name14">
                  <dgm:alg type="tx">
                    <dgm:param type="parTxLTRAlign" val="r"/>
                  </dgm:alg>
                </dgm:else>
              </dgm:choose>
            </dgm:if>
            <dgm:else name="Name15">
              <dgm:choose name="Name16">
                <dgm:if name="Name17" axis="self" ptType="node" func="posOdd" op="equ" val="1">
                  <dgm:alg type="tx">
                    <dgm:param type="parTxLTRAlign" val="r"/>
                  </dgm:alg>
                </dgm:if>
                <dgm:else name="Name18">
                  <dgm:alg type="tx">
                    <dgm:param type="parTxLTRAlign" val="l"/>
                  </dgm:alg>
                </dgm:else>
              </dgm:choose>
            </dgm:else>
          </dgm:choose>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BalanceSpacing">
          <dgm:alg type="sp"/>
          <dgm:shape xmlns:r="http://schemas.openxmlformats.org/officeDocument/2006/relationships" r:blip="">
            <dgm:adjLst/>
          </dgm:shape>
        </dgm:layoutNode>
        <dgm:layoutNode name="BalanceSpacing1">
          <dgm:alg type="sp"/>
          <dgm:shape xmlns:r="http://schemas.openxmlformats.org/officeDocument/2006/relationships" r:blip="">
            <dgm:adjLst/>
          </dgm:shape>
        </dgm:layoutNode>
        <dgm:forEach name="Name19" axis="followSib" ptType="sibTrans" hideLastTrans="0" cnt="1">
          <dgm:layoutNode name="Accent1Text" styleLbl="node1">
            <dgm:alg type="tx"/>
            <dgm:shape xmlns:r="http://schemas.openxmlformats.org/officeDocument/2006/relationships" rot="90" type="hexagon" r:blip="">
              <dgm:adjLst>
                <dgm:adj idx="1" val="0.25"/>
                <dgm:adj idx="2" val="1.1547"/>
              </dgm:adjLst>
            </dgm:shape>
            <dgm:presOf axis="self" ptType="sibTrans"/>
            <dgm:constrLst>
              <dgm:constr type="lMarg"/>
              <dgm:constr type="rMarg"/>
              <dgm:constr type="tMarg"/>
              <dgm:constr type="bMarg"/>
            </dgm:constrLst>
            <dgm:ruleLst>
              <dgm:rule type="primFontSz" val="5" fact="NaN" max="NaN"/>
            </dgm:ruleLst>
          </dgm:layoutNode>
        </dgm:forEach>
      </dgm:layoutNode>
      <dgm:forEach name="Name2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8/layout/AlternatingHexagons">
  <dgm:title val=""/>
  <dgm:desc val=""/>
  <dgm:catLst>
    <dgm:cat type="list" pri="1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alg type="lin">
      <dgm:param type="linDir" val="fromT"/>
    </dgm:alg>
    <dgm:shape xmlns:r="http://schemas.openxmlformats.org/officeDocument/2006/relationships" r:blip="">
      <dgm:adjLst/>
    </dgm:shape>
    <dgm:constrLst>
      <dgm:constr type="primFontSz" for="des" forName="Parent1" val="65"/>
      <dgm:constr type="primFontSz" for="des" forName="Childtext1" refType="primFontSz" refFor="des" refForName="Parent1" op="lte"/>
      <dgm:constr type="w" for="ch" forName="composite" refType="w"/>
      <dgm:constr type="h" for="ch" forName="composite" refType="h"/>
      <dgm:constr type="h" for="ch" forName="spaceBetweenRectangles" refType="w" refFor="ch" refForName="composite" fact="-0.042"/>
      <dgm:constr type="sp" refType="h" refFor="ch" refForName="composite" op="equ" fact="0.1"/>
    </dgm:constrLst>
    <dgm:forEach name="nodesForEach" axis="ch" ptType="node">
      <dgm:layoutNode name="composite">
        <dgm:alg type="composite">
          <dgm:param type="ar" val="3.6"/>
        </dgm:alg>
        <dgm:shape xmlns:r="http://schemas.openxmlformats.org/officeDocument/2006/relationships" r:blip="">
          <dgm:adjLst/>
        </dgm:shape>
        <dgm:choose name="Name1">
          <dgm:if name="Name2" func="var" arg="dir" op="equ" val="norm">
            <dgm:choose name="Name3">
              <dgm:if name="Name4" axis="self" ptType="node" func="posOdd" op="equ" val="1">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dgm:constr type="h" for="ch" forName="BalanceSpacing" refType="h" fact="0.1"/>
                  <dgm:constr type="l" for="ch" forName="BalanceSpacing1" refType="w" fact="0.69"/>
                  <dgm:constr type="t" for="ch" forName="BalanceSpacing1" refType="h" fact="0.2"/>
                  <dgm:constr type="w" for="ch" forName="BalanceSpacing1" refType="w" fact="0.31"/>
                  <dgm:constr type="h" for="ch" forName="BalanceSpacing1" refType="h" fact="0.6"/>
                </dgm:constrLst>
              </dgm:if>
              <dgm:else name="Name5">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 type="l" for="ch" forName="BalanceSpacing1" refType="w" fact="0"/>
                  <dgm:constr type="t" for="ch" forName="BalanceSpacing1" refType="h" fact="0.2"/>
                  <dgm:constr type="w" for="ch" forName="BalanceSpacing1" refType="w" fact="0.3"/>
                  <dgm:constr type="h" for="ch" forName="BalanceSpacing1" refType="h" fact="0.6"/>
                </dgm:constrLst>
              </dgm:else>
            </dgm:choose>
          </dgm:if>
          <dgm:else name="Name6">
            <dgm:choose name="Name7">
              <dgm:if name="Name8" axis="self" ptType="node" func="posOdd" op="equ" val="1">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Lst>
              </dgm:if>
              <dgm:else name="Name9">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fact="0.18"/>
                  <dgm:constr type="h" for="ch" forName="BalanceSpacing" refType="h"/>
                </dgm:constrLst>
              </dgm:else>
            </dgm:choose>
          </dgm:else>
        </dgm:choose>
        <dgm:layoutNode name="Parent1" styleLbl="node1">
          <dgm:varLst>
            <dgm:chMax val="1"/>
            <dgm:chPref val="1"/>
            <dgm:bulletEnabled val="1"/>
          </dgm:varLst>
          <dgm:alg type="tx"/>
          <dgm:shape xmlns:r="http://schemas.openxmlformats.org/officeDocument/2006/relationships" rot="90" type="hexagon" r:blip="">
            <dgm:adjLst>
              <dgm:adj idx="1" val="0.25"/>
              <dgm:adj idx="2" val="1.154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hildtext1" styleLbl="revTx">
          <dgm:varLst>
            <dgm:chMax val="0"/>
            <dgm:chPref val="0"/>
            <dgm:bulletEnabled val="1"/>
          </dgm:varLst>
          <dgm:choose name="Name10">
            <dgm:if name="Name11" func="var" arg="dir" op="equ" val="norm">
              <dgm:choose name="Name12">
                <dgm:if name="Name13" axis="self" ptType="node" func="posOdd" op="equ" val="1">
                  <dgm:alg type="tx">
                    <dgm:param type="parTxLTRAlign" val="l"/>
                  </dgm:alg>
                </dgm:if>
                <dgm:else name="Name14">
                  <dgm:alg type="tx">
                    <dgm:param type="parTxLTRAlign" val="r"/>
                  </dgm:alg>
                </dgm:else>
              </dgm:choose>
            </dgm:if>
            <dgm:else name="Name15">
              <dgm:choose name="Name16">
                <dgm:if name="Name17" axis="self" ptType="node" func="posOdd" op="equ" val="1">
                  <dgm:alg type="tx">
                    <dgm:param type="parTxLTRAlign" val="r"/>
                  </dgm:alg>
                </dgm:if>
                <dgm:else name="Name18">
                  <dgm:alg type="tx">
                    <dgm:param type="parTxLTRAlign" val="l"/>
                  </dgm:alg>
                </dgm:else>
              </dgm:choose>
            </dgm:else>
          </dgm:choose>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BalanceSpacing">
          <dgm:alg type="sp"/>
          <dgm:shape xmlns:r="http://schemas.openxmlformats.org/officeDocument/2006/relationships" r:blip="">
            <dgm:adjLst/>
          </dgm:shape>
        </dgm:layoutNode>
        <dgm:layoutNode name="BalanceSpacing1">
          <dgm:alg type="sp"/>
          <dgm:shape xmlns:r="http://schemas.openxmlformats.org/officeDocument/2006/relationships" r:blip="">
            <dgm:adjLst/>
          </dgm:shape>
        </dgm:layoutNode>
        <dgm:forEach name="Name19" axis="followSib" ptType="sibTrans" hideLastTrans="0" cnt="1">
          <dgm:layoutNode name="Accent1Text" styleLbl="node1">
            <dgm:alg type="tx"/>
            <dgm:shape xmlns:r="http://schemas.openxmlformats.org/officeDocument/2006/relationships" rot="90" type="hexagon" r:blip="">
              <dgm:adjLst>
                <dgm:adj idx="1" val="0.25"/>
                <dgm:adj idx="2" val="1.1547"/>
              </dgm:adjLst>
            </dgm:shape>
            <dgm:presOf axis="self" ptType="sibTrans"/>
            <dgm:constrLst>
              <dgm:constr type="lMarg"/>
              <dgm:constr type="rMarg"/>
              <dgm:constr type="tMarg"/>
              <dgm:constr type="bMarg"/>
            </dgm:constrLst>
            <dgm:ruleLst>
              <dgm:rule type="primFontSz" val="5" fact="NaN" max="NaN"/>
            </dgm:ruleLst>
          </dgm:layoutNode>
        </dgm:forEach>
      </dgm:layoutNode>
      <dgm:forEach name="Name2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6CE8BD-B0B3-49AC-AA36-05E90766EC67}" type="datetimeFigureOut">
              <a:rPr lang="en-IN" smtClean="0"/>
              <a:t>25-11-2015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539653-CBB2-4BB3-882D-582A40A85B0E}" type="slidenum">
              <a:rPr lang="en-IN" smtClean="0"/>
              <a:t>‹#›</a:t>
            </a:fld>
            <a:endParaRPr lang="en-IN"/>
          </a:p>
        </p:txBody>
      </p:sp>
    </p:spTree>
    <p:extLst>
      <p:ext uri="{BB962C8B-B14F-4D97-AF65-F5344CB8AC3E}">
        <p14:creationId xmlns:p14="http://schemas.microsoft.com/office/powerpoint/2010/main" val="27763280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4AC80FA6-BA02-4C3D-AB3D-7F99A89BBA54}" type="slidenum">
              <a:rPr lang="en-IN" smtClean="0">
                <a:solidFill>
                  <a:prstClr val="black"/>
                </a:solidFill>
              </a:rPr>
              <a:pPr/>
              <a:t>1</a:t>
            </a:fld>
            <a:endParaRPr lang="en-IN">
              <a:solidFill>
                <a:prstClr val="black"/>
              </a:solidFill>
            </a:endParaRPr>
          </a:p>
        </p:txBody>
      </p:sp>
    </p:spTree>
    <p:extLst>
      <p:ext uri="{BB962C8B-B14F-4D97-AF65-F5344CB8AC3E}">
        <p14:creationId xmlns:p14="http://schemas.microsoft.com/office/powerpoint/2010/main" val="9080941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1A7A2F9-2791-4C9B-A4CB-730F738B65FA}" type="datetime1">
              <a:rPr lang="en-US" smtClean="0">
                <a:solidFill>
                  <a:srgbClr val="ACD433"/>
                </a:solidFill>
              </a:rPr>
              <a:pPr/>
              <a:t>11/25/2015</a:t>
            </a:fld>
            <a:endParaRPr lang="en-US" dirty="0">
              <a:solidFill>
                <a:srgbClr val="ACD433"/>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6" name="Text Placeholder 9"/>
          <p:cNvSpPr>
            <a:spLocks noGrp="1"/>
          </p:cNvSpPr>
          <p:nvPr>
            <p:ph type="body" sz="quarter" idx="13"/>
          </p:nvPr>
        </p:nvSpPr>
        <p:spPr>
          <a:xfrm>
            <a:off x="528357" y="1217086"/>
            <a:ext cx="11113180" cy="582362"/>
          </a:xfrm>
        </p:spPr>
        <p:txBody>
          <a:bodyPr>
            <a:normAutofit/>
          </a:bodyPr>
          <a:lstStyle>
            <a:lvl1pPr marL="0" indent="0">
              <a:buNone/>
              <a:defRPr sz="1800">
                <a:solidFill>
                  <a:schemeClr val="tx2">
                    <a:lumMod val="60000"/>
                    <a:lumOff val="40000"/>
                  </a:schemeClr>
                </a:solidFill>
              </a:defRPr>
            </a:lvl1pPr>
          </a:lstStyle>
          <a:p>
            <a:pPr lvl="0"/>
            <a:endParaRPr lang="en-IN" dirty="0"/>
          </a:p>
        </p:txBody>
      </p:sp>
      <p:sp>
        <p:nvSpPr>
          <p:cNvPr id="8" name="Footer Placeholder 4"/>
          <p:cNvSpPr>
            <a:spLocks noGrp="1"/>
          </p:cNvSpPr>
          <p:nvPr>
            <p:ph type="ftr" sz="quarter" idx="3"/>
          </p:nvPr>
        </p:nvSpPr>
        <p:spPr>
          <a:xfrm>
            <a:off x="1196498" y="6647419"/>
            <a:ext cx="8964000" cy="198472"/>
          </a:xfrm>
          <a:prstGeom prst="rect">
            <a:avLst/>
          </a:prstGeom>
        </p:spPr>
        <p:txBody>
          <a:bodyPr vert="horz" lIns="91440" tIns="45720" rIns="91440" bIns="45720" rtlCol="0" anchor="b"/>
          <a:lstStyle>
            <a:lvl1pPr algn="l">
              <a:defRPr sz="1000" b="1" i="0">
                <a:solidFill>
                  <a:schemeClr val="bg2">
                    <a:lumMod val="75000"/>
                  </a:schemeClr>
                </a:solidFill>
                <a:latin typeface="+mn-lt"/>
              </a:defRPr>
            </a:lvl1pPr>
          </a:lstStyle>
          <a:p>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Tree>
    <p:extLst>
      <p:ext uri="{BB962C8B-B14F-4D97-AF65-F5344CB8AC3E}">
        <p14:creationId xmlns:p14="http://schemas.microsoft.com/office/powerpoint/2010/main" val="1527333417"/>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3" name="Group 12"/>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7645"/>
            <a:ext cx="4351023" cy="2283824"/>
          </a:xfrm>
        </p:spPr>
        <p:txBody>
          <a:bodyPr anchor="ctr"/>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95558" y="2677644"/>
            <a:ext cx="3755379" cy="228382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D314C6A-BDF1-4CCB-BEC3-2F1FB60332B4}" type="datetime1">
              <a:rPr lang="en-US" smtClean="0">
                <a:solidFill>
                  <a:srgbClr val="ACD433"/>
                </a:solidFill>
              </a:rPr>
              <a:pPr/>
              <a:t>11/25/2015</a:t>
            </a:fld>
            <a:endParaRPr lang="en-US" dirty="0">
              <a:solidFill>
                <a:srgbClr val="ACD433"/>
              </a:solidFill>
            </a:endParaRPr>
          </a:p>
        </p:txBody>
      </p:sp>
      <p:sp>
        <p:nvSpPr>
          <p:cNvPr id="5" name="Footer Placeholder 4"/>
          <p:cNvSpPr>
            <a:spLocks noGrp="1"/>
          </p:cNvSpPr>
          <p:nvPr>
            <p:ph type="ftr" sz="quarter" idx="11"/>
          </p:nvPr>
        </p:nvSpPr>
        <p:spPr/>
        <p:txBody>
          <a:bodyPr/>
          <a:lstStyle>
            <a:lvl1pPr>
              <a:defRPr>
                <a:solidFill>
                  <a:schemeClr val="bg1">
                    <a:lumMod val="50000"/>
                  </a:schemeClr>
                </a:solidFill>
              </a:defRPr>
            </a:lvl1pPr>
          </a:lstStyle>
          <a:p>
            <a:r>
              <a:rPr lang="en-IN" dirty="0" smtClean="0">
                <a:solidFill>
                  <a:prstClr val="white">
                    <a:lumMod val="50000"/>
                  </a:prstClr>
                </a:solidFill>
              </a:rPr>
              <a:t>The information contained in this document is strictly private and confidential. © Copyright, Consumer Analytics Division, Tata Industries Limited   </a:t>
            </a:r>
            <a:endParaRPr lang="en-US" dirty="0">
              <a:solidFill>
                <a:prstClr val="white">
                  <a:lumMod val="50000"/>
                </a:prstClr>
              </a:solidFill>
            </a:endParaRPr>
          </a:p>
        </p:txBody>
      </p:sp>
      <p:sp>
        <p:nvSpPr>
          <p:cNvPr id="15" name="Rectangle 14"/>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45697571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C8D8B9C-4075-4BC1-AF9A-5E9B94506DB7}" type="datetime1">
              <a:rPr lang="en-US" smtClean="0">
                <a:solidFill>
                  <a:srgbClr val="ACD433"/>
                </a:solidFill>
              </a:rPr>
              <a:pPr/>
              <a:t>11/25/2015</a:t>
            </a:fld>
            <a:endParaRPr lang="en-US" dirty="0">
              <a:solidFill>
                <a:srgbClr val="ACD433"/>
              </a:solidFill>
            </a:endParaRPr>
          </a:p>
        </p:txBody>
      </p:sp>
      <p:sp>
        <p:nvSpPr>
          <p:cNvPr id="6" name="Footer Placeholder 5"/>
          <p:cNvSpPr>
            <a:spLocks noGrp="1"/>
          </p:cNvSpPr>
          <p:nvPr>
            <p:ph type="ftr" sz="quarter" idx="11"/>
          </p:nvPr>
        </p:nvSpPr>
        <p:spPr/>
        <p:txBody>
          <a:bodyPr/>
          <a:lstStyle/>
          <a:p>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7" name="Slide Number Placeholder 6"/>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0" name="Text Placeholder 9"/>
          <p:cNvSpPr>
            <a:spLocks noGrp="1"/>
          </p:cNvSpPr>
          <p:nvPr>
            <p:ph type="body" sz="quarter" idx="13"/>
          </p:nvPr>
        </p:nvSpPr>
        <p:spPr>
          <a:xfrm>
            <a:off x="528357" y="1217086"/>
            <a:ext cx="11113180" cy="582362"/>
          </a:xfr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Tree>
    <p:extLst>
      <p:ext uri="{BB962C8B-B14F-4D97-AF65-F5344CB8AC3E}">
        <p14:creationId xmlns:p14="http://schemas.microsoft.com/office/powerpoint/2010/main" val="1688101438"/>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08710" y="3179762"/>
            <a:ext cx="4825159" cy="2840039"/>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8EA3936-0EFA-41DE-9BD7-867C7334E912}" type="datetime1">
              <a:rPr lang="en-US" smtClean="0">
                <a:solidFill>
                  <a:srgbClr val="ACD433"/>
                </a:solidFill>
              </a:rPr>
              <a:pPr/>
              <a:t>11/25/2015</a:t>
            </a:fld>
            <a:endParaRPr lang="en-US" dirty="0">
              <a:solidFill>
                <a:srgbClr val="ACD433"/>
              </a:solidFill>
            </a:endParaRPr>
          </a:p>
        </p:txBody>
      </p:sp>
      <p:sp>
        <p:nvSpPr>
          <p:cNvPr id="8" name="Footer Placeholder 7"/>
          <p:cNvSpPr>
            <a:spLocks noGrp="1"/>
          </p:cNvSpPr>
          <p:nvPr>
            <p:ph type="ftr" sz="quarter" idx="11"/>
          </p:nvPr>
        </p:nvSpPr>
        <p:spPr/>
        <p:txBody>
          <a:bodyPr/>
          <a:lstStyle/>
          <a:p>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1" name="Text Placeholder 9"/>
          <p:cNvSpPr>
            <a:spLocks noGrp="1"/>
          </p:cNvSpPr>
          <p:nvPr>
            <p:ph type="body" sz="quarter" idx="13"/>
          </p:nvPr>
        </p:nvSpPr>
        <p:spPr>
          <a:xfrm>
            <a:off x="528357" y="1217086"/>
            <a:ext cx="11113180" cy="582362"/>
          </a:xfr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US" sz="1800" b="0" i="0" kern="1200" dirty="0">
              <a:solidFill>
                <a:schemeClr val="tx2">
                  <a:lumMod val="60000"/>
                  <a:lumOff val="40000"/>
                </a:schemeClr>
              </a:solidFill>
              <a:latin typeface="+mn-lt"/>
              <a:ea typeface="+mn-ea"/>
              <a:cs typeface="+mn-cs"/>
            </a:endParaRPr>
          </a:p>
        </p:txBody>
      </p:sp>
    </p:spTree>
    <p:extLst>
      <p:ext uri="{BB962C8B-B14F-4D97-AF65-F5344CB8AC3E}">
        <p14:creationId xmlns:p14="http://schemas.microsoft.com/office/powerpoint/2010/main" val="32520795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2DCA53F-FCBF-4517-A84A-91F4E4243AD6}" type="datetime1">
              <a:rPr lang="en-US" smtClean="0">
                <a:solidFill>
                  <a:srgbClr val="ACD433"/>
                </a:solidFill>
              </a:rPr>
              <a:pPr/>
              <a:t>11/25/2015</a:t>
            </a:fld>
            <a:endParaRPr lang="en-US" dirty="0">
              <a:solidFill>
                <a:srgbClr val="ACD433"/>
              </a:solidFill>
            </a:endParaRPr>
          </a:p>
        </p:txBody>
      </p:sp>
      <p:sp>
        <p:nvSpPr>
          <p:cNvPr id="4" name="Footer Placeholder 3"/>
          <p:cNvSpPr>
            <a:spLocks noGrp="1"/>
          </p:cNvSpPr>
          <p:nvPr>
            <p:ph type="ftr" sz="quarter" idx="11"/>
          </p:nvPr>
        </p:nvSpPr>
        <p:spPr/>
        <p:txBody>
          <a:bodyPr/>
          <a:lstStyle/>
          <a:p>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7" name="Text Placeholder 9"/>
          <p:cNvSpPr>
            <a:spLocks noGrp="1"/>
          </p:cNvSpPr>
          <p:nvPr>
            <p:ph type="body" sz="quarter" idx="13"/>
          </p:nvPr>
        </p:nvSpPr>
        <p:spPr>
          <a:xfrm>
            <a:off x="528357" y="1217086"/>
            <a:ext cx="11113180" cy="582362"/>
          </a:xfr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Tree>
    <p:extLst>
      <p:ext uri="{BB962C8B-B14F-4D97-AF65-F5344CB8AC3E}">
        <p14:creationId xmlns:p14="http://schemas.microsoft.com/office/powerpoint/2010/main" val="1113186812"/>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37F569-69F7-4064-9BEA-699FAB1E2095}" type="datetime1">
              <a:rPr lang="en-US" smtClean="0">
                <a:solidFill>
                  <a:srgbClr val="ACD433"/>
                </a:solidFill>
              </a:rPr>
              <a:pPr/>
              <a:t>11/25/2015</a:t>
            </a:fld>
            <a:endParaRPr lang="en-US" dirty="0">
              <a:solidFill>
                <a:srgbClr val="ACD433"/>
              </a:solidFill>
            </a:endParaRPr>
          </a:p>
        </p:txBody>
      </p:sp>
      <p:sp>
        <p:nvSpPr>
          <p:cNvPr id="3" name="Footer Placeholder 2"/>
          <p:cNvSpPr>
            <a:spLocks noGrp="1"/>
          </p:cNvSpPr>
          <p:nvPr>
            <p:ph type="ftr" sz="quarter" idx="11"/>
          </p:nvPr>
        </p:nvSpPr>
        <p:spPr/>
        <p:txBody>
          <a:bodyPr/>
          <a:lstStyle/>
          <a:p>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7" name="Rectangle 6"/>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3023238132"/>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4" name="Group 13"/>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Oval 15"/>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295400"/>
            <a:ext cx="2793159" cy="16002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781146" y="1447800"/>
            <a:ext cx="5190065" cy="45720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bwMode="gray">
          <a:xfrm>
            <a:off x="1154955" y="2895600"/>
            <a:ext cx="2793158" cy="3129279"/>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F8F716B-BD40-4E33-9AD7-F407523D0EAA}" type="datetime1">
              <a:rPr lang="en-US" smtClean="0">
                <a:solidFill>
                  <a:srgbClr val="ACD433"/>
                </a:solidFill>
              </a:rPr>
              <a:pPr/>
              <a:t>11/25/2015</a:t>
            </a:fld>
            <a:endParaRPr lang="en-US" dirty="0">
              <a:solidFill>
                <a:srgbClr val="ACD433"/>
              </a:solidFill>
            </a:endParaRPr>
          </a:p>
        </p:txBody>
      </p:sp>
      <p:sp>
        <p:nvSpPr>
          <p:cNvPr id="6" name="Footer Placeholder 5"/>
          <p:cNvSpPr>
            <a:spLocks noGrp="1"/>
          </p:cNvSpPr>
          <p:nvPr>
            <p:ph type="ftr" sz="quarter" idx="11"/>
          </p:nvPr>
        </p:nvSpPr>
        <p:spPr/>
        <p:txBody>
          <a:bodyPr/>
          <a:lstStyle/>
          <a:p>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15" name="Rectangle 14"/>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971199406"/>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20" name="Group 19"/>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60" cy="173566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F64C8B8-752A-44DB-A90C-10515ACFC9C9}" type="datetime1">
              <a:rPr lang="en-US" smtClean="0">
                <a:solidFill>
                  <a:srgbClr val="ACD433"/>
                </a:solidFill>
              </a:rPr>
              <a:pPr/>
              <a:t>11/25/2015</a:t>
            </a:fld>
            <a:endParaRPr lang="en-US" dirty="0">
              <a:solidFill>
                <a:srgbClr val="ACD433"/>
              </a:solidFill>
            </a:endParaRPr>
          </a:p>
        </p:txBody>
      </p:sp>
      <p:sp>
        <p:nvSpPr>
          <p:cNvPr id="6" name="Footer Placeholder 5"/>
          <p:cNvSpPr>
            <a:spLocks noGrp="1"/>
          </p:cNvSpPr>
          <p:nvPr>
            <p:ph type="ftr" sz="quarter" idx="11"/>
          </p:nvPr>
        </p:nvSpPr>
        <p:spPr/>
        <p:txBody>
          <a:bodyPr/>
          <a:lstStyle/>
          <a:p>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14" name="Rectangle 13"/>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1684545311"/>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anoramic Picture with Caption">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6674"/>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bwMode="gray">
          <a:xfrm>
            <a:off x="1154956" y="5536665"/>
            <a:ext cx="8825656"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2E22D1A-CAE7-4D37-85C8-6F613DE24951}" type="datetime1">
              <a:rPr lang="en-US" smtClean="0">
                <a:solidFill>
                  <a:srgbClr val="ACD433"/>
                </a:solidFill>
              </a:rPr>
              <a:pPr/>
              <a:t>11/25/2015</a:t>
            </a:fld>
            <a:endParaRPr lang="en-US" dirty="0">
              <a:solidFill>
                <a:srgbClr val="ACD433"/>
              </a:solidFill>
            </a:endParaRPr>
          </a:p>
        </p:txBody>
      </p:sp>
      <p:sp>
        <p:nvSpPr>
          <p:cNvPr id="6" name="Footer Placeholder 5"/>
          <p:cNvSpPr>
            <a:spLocks noGrp="1"/>
          </p:cNvSpPr>
          <p:nvPr>
            <p:ph type="ftr" sz="quarter" idx="11"/>
          </p:nvPr>
        </p:nvSpPr>
        <p:spPr/>
        <p:txBody>
          <a:bodyPr/>
          <a:lstStyle/>
          <a:p>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13" name="Rectangle 12"/>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2104461455"/>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2" name="Group 11"/>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3416"/>
            <a:ext cx="8825659" cy="1379755"/>
          </a:xfrm>
        </p:spPr>
        <p:txBody>
          <a:bodyPr/>
          <a:lstStyle>
            <a:lvl1pPr>
              <a:defRPr sz="40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A0EA7AC-973C-4890-8C8F-5713B4430E66}" type="datetime1">
              <a:rPr lang="en-US" smtClean="0">
                <a:solidFill>
                  <a:srgbClr val="ACD433"/>
                </a:solidFill>
              </a:rPr>
              <a:pPr/>
              <a:t>11/25/2015</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13" name="Rectangle 12"/>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2059395067"/>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0" y="-2373"/>
            <a:ext cx="12192000" cy="6867027"/>
            <a:chOff x="0" y="-2373"/>
            <a:chExt cx="12192000" cy="6867027"/>
          </a:xfrm>
        </p:grpSpPr>
        <p:sp>
          <p:nvSpPr>
            <p:cNvPr id="15" name="Rectangle 14"/>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3" name="TextBox 12"/>
          <p:cNvSpPr txBox="1"/>
          <p:nvPr/>
        </p:nvSpPr>
        <p:spPr>
          <a:xfrm>
            <a:off x="9719438" y="2631815"/>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defTabSz="457200"/>
            <a:r>
              <a:rPr lang="en-US" sz="9600" dirty="0">
                <a:solidFill>
                  <a:srgbClr val="ACD433"/>
                </a:solidFill>
              </a:rPr>
              <a:t>”</a:t>
            </a:r>
          </a:p>
        </p:txBody>
      </p:sp>
      <p:sp>
        <p:nvSpPr>
          <p:cNvPr id="9" name="TextBox 8"/>
          <p:cNvSpPr txBox="1"/>
          <p:nvPr/>
        </p:nvSpPr>
        <p:spPr>
          <a:xfrm>
            <a:off x="898295" y="591093"/>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defTabSz="457200"/>
            <a:r>
              <a:rPr lang="en-US" sz="9600" dirty="0">
                <a:solidFill>
                  <a:srgbClr val="ACD433"/>
                </a:solidFill>
              </a:rPr>
              <a:t>“</a:t>
            </a:r>
          </a:p>
        </p:txBody>
      </p:sp>
      <p:sp>
        <p:nvSpPr>
          <p:cNvPr id="2" name="Title 1"/>
          <p:cNvSpPr>
            <a:spLocks noGrp="1"/>
          </p:cNvSpPr>
          <p:nvPr>
            <p:ph type="title"/>
          </p:nvPr>
        </p:nvSpPr>
        <p:spPr>
          <a:xfrm>
            <a:off x="1581878" y="980517"/>
            <a:ext cx="8453906" cy="2698249"/>
          </a:xfrm>
        </p:spPr>
        <p:txBody>
          <a:bodyPr/>
          <a:lstStyle>
            <a:lvl1pPr>
              <a:defRPr sz="4000"/>
            </a:lvl1pPr>
          </a:lstStyle>
          <a:p>
            <a:r>
              <a:rPr lang="en-US" smtClean="0"/>
              <a:t>Click to edit Master title style</a:t>
            </a:r>
            <a:endParaRPr lang="en-US" dirty="0"/>
          </a:p>
        </p:txBody>
      </p:sp>
      <p:sp>
        <p:nvSpPr>
          <p:cNvPr id="14" name="Text Placeholder 3"/>
          <p:cNvSpPr>
            <a:spLocks noGrp="1"/>
          </p:cNvSpPr>
          <p:nvPr>
            <p:ph type="body" sz="half" idx="13"/>
          </p:nvPr>
        </p:nvSpPr>
        <p:spPr bwMode="gray">
          <a:xfrm>
            <a:off x="1945945" y="3678766"/>
            <a:ext cx="7725772" cy="342174"/>
          </a:xfrm>
        </p:spPr>
        <p:txBody>
          <a:bodyPr anchor="t">
            <a:normAutofit/>
          </a:bodyPr>
          <a:lstStyle>
            <a:lvl1pPr marL="0" indent="0">
              <a:buNone/>
              <a:defRPr lang="en-US" sz="1400" b="0" i="0" kern="1200" cap="small" dirty="0">
                <a:solidFill>
                  <a:schemeClr val="accent1"/>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C4CB4A7-A039-47BA-8611-423ABC1B084B}" type="datetime1">
              <a:rPr lang="en-US" smtClean="0">
                <a:solidFill>
                  <a:srgbClr val="ACD433"/>
                </a:solidFill>
              </a:rPr>
              <a:pPr/>
              <a:t>11/25/2015</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32" name="Rectangle 31"/>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1321803816"/>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8" name="Group 17"/>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5033068"/>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54F628B-4CBE-4103-A993-1BF1EE287E73}" type="datetime1">
              <a:rPr lang="en-US" smtClean="0">
                <a:solidFill>
                  <a:srgbClr val="ACD433"/>
                </a:solidFill>
              </a:rPr>
              <a:pPr/>
              <a:t>11/25/2015</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12" name="Rectangle 11"/>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3335558591"/>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800"/>
            </a:lvl1pPr>
          </a:lstStyle>
          <a:p>
            <a:r>
              <a:rPr lang="en-US" dirty="0" smtClean="0"/>
              <a:t>Click to edit Master title style</a:t>
            </a:r>
            <a:endParaRPr lang="en-US" dirty="0"/>
          </a:p>
        </p:txBody>
      </p:sp>
      <p:sp>
        <p:nvSpPr>
          <p:cNvPr id="3" name="Text Placeholder 2"/>
          <p:cNvSpPr>
            <a:spLocks noGrp="1"/>
          </p:cNvSpPr>
          <p:nvPr>
            <p:ph type="body" idx="1"/>
          </p:nvPr>
        </p:nvSpPr>
        <p:spPr>
          <a:xfrm>
            <a:off x="1154954" y="2617299"/>
            <a:ext cx="312916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1154954" y="3193561"/>
            <a:ext cx="3129168" cy="283349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12721" y="2603502"/>
            <a:ext cx="31453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4512721" y="3193561"/>
            <a:ext cx="3145380" cy="283349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886700" y="2617299"/>
            <a:ext cx="3161029"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886700" y="3193561"/>
            <a:ext cx="3164719" cy="28334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22" name="Straight Connector 21"/>
          <p:cNvCxnSpPr/>
          <p:nvPr/>
        </p:nvCxnSpPr>
        <p:spPr>
          <a:xfrm>
            <a:off x="440397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D22E54B1-73A1-4263-B78F-FF5389683A00}" type="datetime1">
              <a:rPr lang="en-US" smtClean="0">
                <a:solidFill>
                  <a:srgbClr val="ACD433"/>
                </a:solidFill>
              </a:rPr>
              <a:pPr/>
              <a:t>11/25/2015</a:t>
            </a:fld>
            <a:endParaRPr lang="en-US" dirty="0">
              <a:solidFill>
                <a:srgbClr val="ACD433"/>
              </a:solidFill>
            </a:endParaRPr>
          </a:p>
        </p:txBody>
      </p:sp>
      <p:sp>
        <p:nvSpPr>
          <p:cNvPr id="8" name="Footer Placeholder 7"/>
          <p:cNvSpPr>
            <a:spLocks noGrp="1"/>
          </p:cNvSpPr>
          <p:nvPr>
            <p:ph type="ftr" sz="quarter" idx="11"/>
          </p:nvPr>
        </p:nvSpPr>
        <p:spPr/>
        <p:txBody>
          <a:bodyPr/>
          <a:lstStyle/>
          <a:p>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7" name="Text Placeholder 9"/>
          <p:cNvSpPr>
            <a:spLocks noGrp="1"/>
          </p:cNvSpPr>
          <p:nvPr>
            <p:ph type="body" sz="quarter" idx="18"/>
          </p:nvPr>
        </p:nvSpPr>
        <p:spPr>
          <a:xfrm>
            <a:off x="528357" y="1217086"/>
            <a:ext cx="11113180" cy="582362"/>
          </a:xfr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Tree>
    <p:extLst>
      <p:ext uri="{BB962C8B-B14F-4D97-AF65-F5344CB8AC3E}">
        <p14:creationId xmlns:p14="http://schemas.microsoft.com/office/powerpoint/2010/main" val="1361866019"/>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 Picture Colum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54952" y="4532845"/>
            <a:ext cx="30504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1334552"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1154953" y="5109107"/>
            <a:ext cx="3050437"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72537" y="4532846"/>
            <a:ext cx="3046766" cy="651156"/>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4748463" y="2603500"/>
            <a:ext cx="2691241"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4568865" y="5184002"/>
            <a:ext cx="3050438" cy="84305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983434" y="4532847"/>
            <a:ext cx="3050438" cy="651154"/>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983434" y="5184001"/>
            <a:ext cx="3050437" cy="843054"/>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4388153" y="2603500"/>
            <a:ext cx="0" cy="351759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1905" y="2603500"/>
            <a:ext cx="0" cy="34925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24F1AEE-92DB-4E7F-88D2-942D1764EA56}" type="datetime1">
              <a:rPr lang="en-US" smtClean="0">
                <a:solidFill>
                  <a:srgbClr val="ACD433"/>
                </a:solidFill>
              </a:rPr>
              <a:pPr/>
              <a:t>11/25/2015</a:t>
            </a:fld>
            <a:endParaRPr lang="en-US" dirty="0">
              <a:solidFill>
                <a:srgbClr val="ACD433"/>
              </a:solidFill>
            </a:endParaRPr>
          </a:p>
        </p:txBody>
      </p:sp>
      <p:sp>
        <p:nvSpPr>
          <p:cNvPr id="8" name="Footer Placeholder 7"/>
          <p:cNvSpPr>
            <a:spLocks noGrp="1"/>
          </p:cNvSpPr>
          <p:nvPr>
            <p:ph type="ftr" sz="quarter" idx="11"/>
          </p:nvPr>
        </p:nvSpPr>
        <p:spPr/>
        <p:txBody>
          <a:bodyPr/>
          <a:lstStyle/>
          <a:p>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20" name="Text Placeholder 9"/>
          <p:cNvSpPr>
            <a:spLocks noGrp="1"/>
          </p:cNvSpPr>
          <p:nvPr>
            <p:ph type="body" sz="quarter" idx="23"/>
          </p:nvPr>
        </p:nvSpPr>
        <p:spPr>
          <a:xfrm>
            <a:off x="528357" y="1217086"/>
            <a:ext cx="11113180" cy="582362"/>
          </a:xfr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
        <p:nvSpPr>
          <p:cNvPr id="21" name="Title 1"/>
          <p:cNvSpPr>
            <a:spLocks noGrp="1"/>
          </p:cNvSpPr>
          <p:nvPr>
            <p:ph type="title"/>
          </p:nvPr>
        </p:nvSpPr>
        <p:spPr>
          <a:xfrm>
            <a:off x="1154953" y="516222"/>
            <a:ext cx="9130460" cy="706964"/>
          </a:xfrm>
        </p:spPr>
        <p:txBody>
          <a:bodyPr/>
          <a:lstStyle>
            <a:lvl1pPr>
              <a:defRPr sz="2800"/>
            </a:lvl1pPr>
          </a:lstStyle>
          <a:p>
            <a:r>
              <a:rPr lang="en-US" dirty="0" smtClean="0"/>
              <a:t>Click to edit Master title style</a:t>
            </a:r>
            <a:endParaRPr lang="en-US" dirty="0"/>
          </a:p>
        </p:txBody>
      </p:sp>
    </p:spTree>
    <p:extLst>
      <p:ext uri="{BB962C8B-B14F-4D97-AF65-F5344CB8AC3E}">
        <p14:creationId xmlns:p14="http://schemas.microsoft.com/office/powerpoint/2010/main" val="2567287767"/>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AAECB69-58DB-4BFC-A325-53FE97BF7120}" type="datetime1">
              <a:rPr lang="en-US" smtClean="0">
                <a:solidFill>
                  <a:srgbClr val="ACD433"/>
                </a:solidFill>
              </a:rPr>
              <a:pPr/>
              <a:t>11/25/2015</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9" name="Text Placeholder 9"/>
          <p:cNvSpPr>
            <a:spLocks noGrp="1"/>
          </p:cNvSpPr>
          <p:nvPr>
            <p:ph type="body" sz="quarter" idx="13"/>
          </p:nvPr>
        </p:nvSpPr>
        <p:spPr>
          <a:xfrm>
            <a:off x="528357" y="1217086"/>
            <a:ext cx="11113180" cy="582362"/>
          </a:xfrm>
        </p:spPr>
        <p:txBody>
          <a:bodyPr>
            <a:normAutofit/>
          </a:bodyPr>
          <a:lstStyle>
            <a:lvl1pPr marL="0" indent="0">
              <a:buNone/>
              <a:defRPr sz="1800"/>
            </a:lvl1pPr>
          </a:lstStyle>
          <a:p>
            <a:pPr lvl="0"/>
            <a:endParaRPr lang="en-IN" dirty="0"/>
          </a:p>
        </p:txBody>
      </p:sp>
      <p:sp>
        <p:nvSpPr>
          <p:cNvPr id="10" name="Title 1"/>
          <p:cNvSpPr>
            <a:spLocks noGrp="1"/>
          </p:cNvSpPr>
          <p:nvPr>
            <p:ph type="title"/>
          </p:nvPr>
        </p:nvSpPr>
        <p:spPr>
          <a:xfrm>
            <a:off x="1154953" y="516222"/>
            <a:ext cx="9130460" cy="706964"/>
          </a:xfrm>
        </p:spPr>
        <p:txBody>
          <a:bodyPr/>
          <a:lstStyle>
            <a:lvl1pPr>
              <a:defRPr sz="2800"/>
            </a:lvl1pPr>
          </a:lstStyle>
          <a:p>
            <a:r>
              <a:rPr lang="en-US" dirty="0" smtClean="0"/>
              <a:t>Click to edit Master title style</a:t>
            </a:r>
            <a:endParaRPr lang="en-US" dirty="0"/>
          </a:p>
        </p:txBody>
      </p:sp>
    </p:spTree>
    <p:extLst>
      <p:ext uri="{BB962C8B-B14F-4D97-AF65-F5344CB8AC3E}">
        <p14:creationId xmlns:p14="http://schemas.microsoft.com/office/powerpoint/2010/main" val="3476152530"/>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8"/>
            <a:ext cx="1413933" cy="4748589"/>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1278468"/>
            <a:ext cx="6247546" cy="474859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C957FAD-3E96-46CB-BEF0-7672DAA2E0D2}" type="datetime1">
              <a:rPr lang="en-US" smtClean="0">
                <a:solidFill>
                  <a:srgbClr val="ACD433"/>
                </a:solidFill>
              </a:rPr>
              <a:pPr/>
              <a:t>11/25/2015</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13" name="Rectangle 12"/>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2543516415"/>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FD43EC9-C0C5-43DB-8D6A-D364C7F30D5B}" type="datetime1">
              <a:rPr lang="en-US" smtClean="0">
                <a:solidFill>
                  <a:srgbClr val="ACD433"/>
                </a:solidFill>
              </a:rPr>
              <a:pPr/>
              <a:t>11/25/2015</a:t>
            </a:fld>
            <a:endParaRPr lang="en-IN">
              <a:solidFill>
                <a:srgbClr val="ACD433"/>
              </a:solidFill>
            </a:endParaRPr>
          </a:p>
        </p:txBody>
      </p:sp>
      <p:sp>
        <p:nvSpPr>
          <p:cNvPr id="4" name="Footer Placeholder 3"/>
          <p:cNvSpPr>
            <a:spLocks noGrp="1"/>
          </p:cNvSpPr>
          <p:nvPr>
            <p:ph type="ftr" sz="quarter" idx="11"/>
          </p:nvPr>
        </p:nvSpPr>
        <p:spPr/>
        <p:txBody>
          <a:bodyPr/>
          <a:lstStyle/>
          <a:p>
            <a:r>
              <a:rPr lang="en-IN" smtClean="0">
                <a:solidFill>
                  <a:srgbClr val="EBEBEB">
                    <a:lumMod val="75000"/>
                  </a:srgbClr>
                </a:solidFill>
              </a:rPr>
              <a:t>The information contained in this document is strictly private and confidential. © Copyright, Consumer Analytics Division, Tata Industries Limited   </a:t>
            </a:r>
            <a:endParaRPr lang="en-IN">
              <a:solidFill>
                <a:srgbClr val="EBEBEB">
                  <a:lumMod val="75000"/>
                </a:srgbClr>
              </a:solidFill>
            </a:endParaRPr>
          </a:p>
        </p:txBody>
      </p:sp>
      <p:sp>
        <p:nvSpPr>
          <p:cNvPr id="5" name="Slide Number Placeholder 4"/>
          <p:cNvSpPr>
            <a:spLocks noGrp="1"/>
          </p:cNvSpPr>
          <p:nvPr>
            <p:ph type="sldNum" sz="quarter" idx="12"/>
          </p:nvPr>
        </p:nvSpPr>
        <p:spPr/>
        <p:txBody>
          <a:bodyPr/>
          <a:lstStyle/>
          <a:p>
            <a:fld id="{E2B0EC35-7F37-490F-B231-6B92D181A0EA}" type="slidenum">
              <a:rPr lang="en-IN" smtClean="0">
                <a:solidFill>
                  <a:srgbClr val="0E5580"/>
                </a:solidFill>
              </a:rPr>
              <a:pPr/>
              <a:t>‹#›</a:t>
            </a:fld>
            <a:endParaRPr lang="en-IN">
              <a:solidFill>
                <a:srgbClr val="0E5580"/>
              </a:solidFill>
            </a:endParaRPr>
          </a:p>
        </p:txBody>
      </p:sp>
    </p:spTree>
    <p:extLst>
      <p:ext uri="{BB962C8B-B14F-4D97-AF65-F5344CB8AC3E}">
        <p14:creationId xmlns:p14="http://schemas.microsoft.com/office/powerpoint/2010/main" val="156522198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9" name="Group 8"/>
          <p:cNvGrpSpPr/>
          <p:nvPr/>
        </p:nvGrpSpPr>
        <p:grpSpPr>
          <a:xfrm>
            <a:off x="0" y="-55228"/>
            <a:ext cx="12192000" cy="6867027"/>
            <a:chOff x="0" y="-2373"/>
            <a:chExt cx="12192000" cy="6867027"/>
          </a:xfrm>
        </p:grpSpPr>
        <p:sp>
          <p:nvSpPr>
            <p:cNvPr id="26" name="Rectangle 25"/>
            <p:cNvSpPr/>
            <p:nvPr/>
          </p:nvSpPr>
          <p:spPr>
            <a:xfrm>
              <a:off x="0" y="0"/>
              <a:ext cx="12192000" cy="6858000"/>
            </a:xfrm>
            <a:prstGeom prst="rect">
              <a:avLst/>
            </a:prstGeom>
            <a:blipFill>
              <a:blip r:embed="rId19">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0"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629984" y="542362"/>
            <a:ext cx="9785683" cy="706964"/>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1154955" y="2603500"/>
            <a:ext cx="8761412" cy="34163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650938" y="6394061"/>
            <a:ext cx="990599" cy="304799"/>
          </a:xfrm>
          <a:prstGeom prst="rect">
            <a:avLst/>
          </a:prstGeom>
        </p:spPr>
        <p:txBody>
          <a:bodyPr vert="horz" lIns="91440" tIns="45720" rIns="91440" bIns="45720" rtlCol="0" anchor="t"/>
          <a:lstStyle>
            <a:lvl1pPr algn="r">
              <a:defRPr sz="1000" b="1" i="0">
                <a:solidFill>
                  <a:schemeClr val="accent1"/>
                </a:solidFill>
              </a:defRPr>
            </a:lvl1pPr>
          </a:lstStyle>
          <a:p>
            <a:pPr defTabSz="457200"/>
            <a:fld id="{F87393B5-8BA9-476F-99E3-FFB38A1E2962}" type="datetime1">
              <a:rPr lang="en-US" smtClean="0">
                <a:solidFill>
                  <a:srgbClr val="ACD433"/>
                </a:solidFill>
              </a:rPr>
              <a:pPr defTabSz="457200"/>
              <a:t>11/25/2015</a:t>
            </a:fld>
            <a:endParaRPr lang="en-US" dirty="0">
              <a:solidFill>
                <a:srgbClr val="ACD433"/>
              </a:solidFill>
            </a:endParaRPr>
          </a:p>
        </p:txBody>
      </p:sp>
      <p:sp>
        <p:nvSpPr>
          <p:cNvPr id="5" name="Footer Placeholder 4"/>
          <p:cNvSpPr>
            <a:spLocks noGrp="1"/>
          </p:cNvSpPr>
          <p:nvPr>
            <p:ph type="ftr" sz="quarter" idx="3"/>
          </p:nvPr>
        </p:nvSpPr>
        <p:spPr>
          <a:xfrm>
            <a:off x="1196498" y="6647419"/>
            <a:ext cx="8964000" cy="198472"/>
          </a:xfrm>
          <a:prstGeom prst="rect">
            <a:avLst/>
          </a:prstGeom>
        </p:spPr>
        <p:txBody>
          <a:bodyPr vert="horz" lIns="91440" tIns="45720" rIns="91440" bIns="45720" rtlCol="0" anchor="b"/>
          <a:lstStyle>
            <a:lvl1pPr algn="l">
              <a:defRPr sz="1000" b="0" i="0">
                <a:solidFill>
                  <a:schemeClr val="bg2">
                    <a:lumMod val="75000"/>
                  </a:schemeClr>
                </a:solidFill>
                <a:latin typeface="+mn-lt"/>
              </a:defRPr>
            </a:lvl1pPr>
          </a:lstStyle>
          <a:p>
            <a:pPr defTabSz="457200"/>
            <a:r>
              <a:rPr lang="en-IN" dirty="0"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22" name="Rectangle 21"/>
          <p:cNvSpPr/>
          <p:nvPr/>
        </p:nvSpPr>
        <p:spPr>
          <a:xfrm>
            <a:off x="10437812" y="0"/>
            <a:ext cx="685800" cy="1061351"/>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2"/>
                </a:solidFill>
                <a:latin typeface="+mn-lt"/>
              </a:defRPr>
            </a:lvl1pPr>
          </a:lstStyle>
          <a:p>
            <a:pPr defTabSz="457200"/>
            <a:fld id="{D57F1E4F-1CFF-5643-939E-217C01CDF565}" type="slidenum">
              <a:rPr lang="en-US" smtClean="0">
                <a:solidFill>
                  <a:srgbClr val="0E5580"/>
                </a:solidFill>
              </a:rPr>
              <a:pPr defTabSz="457200"/>
              <a:t>‹#›</a:t>
            </a:fld>
            <a:endParaRPr lang="en-US" dirty="0">
              <a:solidFill>
                <a:srgbClr val="0E5580"/>
              </a:solidFill>
            </a:endParaRPr>
          </a:p>
        </p:txBody>
      </p:sp>
      <p:pic>
        <p:nvPicPr>
          <p:cNvPr id="24" name="Picture 23"/>
          <p:cNvPicPr>
            <a:picLocks noChangeAspect="1"/>
          </p:cNvPicPr>
          <p:nvPr userDrawn="1"/>
        </p:nvPicPr>
        <p:blipFill>
          <a:blip r:embed="rId20" cstate="print">
            <a:extLst>
              <a:ext uri="{28A0092B-C50C-407E-A947-70E740481C1C}">
                <a14:useLocalDpi xmlns:a14="http://schemas.microsoft.com/office/drawing/2010/main" val="0"/>
              </a:ext>
            </a:extLst>
          </a:blip>
          <a:stretch>
            <a:fillRect/>
          </a:stretch>
        </p:blipFill>
        <p:spPr>
          <a:xfrm>
            <a:off x="11714962" y="0"/>
            <a:ext cx="477038" cy="450761"/>
          </a:xfrm>
          <a:prstGeom prst="rect">
            <a:avLst/>
          </a:prstGeom>
        </p:spPr>
      </p:pic>
      <p:sp>
        <p:nvSpPr>
          <p:cNvPr id="31" name="Rectangle 30"/>
          <p:cNvSpPr/>
          <p:nvPr userDrawn="1"/>
        </p:nvSpPr>
        <p:spPr>
          <a:xfrm>
            <a:off x="444500" y="1151908"/>
            <a:ext cx="11270462" cy="1043481"/>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IN">
              <a:solidFill>
                <a:prstClr val="white"/>
              </a:solidFill>
            </a:endParaRPr>
          </a:p>
        </p:txBody>
      </p:sp>
      <p:sp>
        <p:nvSpPr>
          <p:cNvPr id="32" name="Rectangle 31"/>
          <p:cNvSpPr/>
          <p:nvPr userDrawn="1"/>
        </p:nvSpPr>
        <p:spPr>
          <a:xfrm>
            <a:off x="484906" y="1893122"/>
            <a:ext cx="11230056" cy="41223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IN">
              <a:solidFill>
                <a:prstClr val="white"/>
              </a:solidFill>
            </a:endParaRPr>
          </a:p>
        </p:txBody>
      </p:sp>
    </p:spTree>
    <p:extLst>
      <p:ext uri="{BB962C8B-B14F-4D97-AF65-F5344CB8AC3E}">
        <p14:creationId xmlns:p14="http://schemas.microsoft.com/office/powerpoint/2010/main" val="23148341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iming>
    <p:tnLst>
      <p:par>
        <p:cTn id="1" dur="indefinite" restart="never" nodeType="tmRoot"/>
      </p:par>
    </p:tnLst>
  </p:timing>
  <p:hf hdr="0" ftr="0" dt="0"/>
  <p:txStyles>
    <p:titleStyle>
      <a:lvl1pPr algn="l" defTabSz="457200" rtl="0" eaLnBrk="1" latinLnBrk="0" hangingPunct="1">
        <a:spcBef>
          <a:spcPct val="0"/>
        </a:spcBef>
        <a:buNone/>
        <a:defRPr sz="24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diagramColors" Target="../diagrams/colors1.xml"/><Relationship Id="rId13" Type="http://schemas.openxmlformats.org/officeDocument/2006/relationships/diagramColors" Target="../diagrams/colors2.xml"/><Relationship Id="rId3" Type="http://schemas.openxmlformats.org/officeDocument/2006/relationships/image" Target="../media/image6.png"/><Relationship Id="rId7" Type="http://schemas.openxmlformats.org/officeDocument/2006/relationships/diagramQuickStyle" Target="../diagrams/quickStyle1.xml"/><Relationship Id="rId12" Type="http://schemas.openxmlformats.org/officeDocument/2006/relationships/diagramQuickStyle" Target="../diagrams/quickStyle2.xml"/><Relationship Id="rId2" Type="http://schemas.openxmlformats.org/officeDocument/2006/relationships/image" Target="../media/image5.png"/><Relationship Id="rId16"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diagramLayout" Target="../diagrams/layout1.xml"/><Relationship Id="rId11" Type="http://schemas.openxmlformats.org/officeDocument/2006/relationships/diagramLayout" Target="../diagrams/layout2.xml"/><Relationship Id="rId5" Type="http://schemas.openxmlformats.org/officeDocument/2006/relationships/diagramData" Target="../diagrams/data1.xml"/><Relationship Id="rId15" Type="http://schemas.openxmlformats.org/officeDocument/2006/relationships/image" Target="../media/image8.png"/><Relationship Id="rId10" Type="http://schemas.openxmlformats.org/officeDocument/2006/relationships/diagramData" Target="../diagrams/data2.xml"/><Relationship Id="rId4" Type="http://schemas.openxmlformats.org/officeDocument/2006/relationships/image" Target="../media/image7.png"/><Relationship Id="rId9" Type="http://schemas.microsoft.com/office/2007/relationships/diagramDrawing" Target="../diagrams/drawing1.xml"/><Relationship Id="rId14" Type="http://schemas.microsoft.com/office/2007/relationships/diagramDrawing" Target="../diagrams/drawing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microsoft.com/office/2007/relationships/diagramDrawing" Target="../diagrams/drawing3.xml"/><Relationship Id="rId13" Type="http://schemas.microsoft.com/office/2007/relationships/diagramDrawing" Target="../diagrams/drawing4.xml"/><Relationship Id="rId3" Type="http://schemas.openxmlformats.org/officeDocument/2006/relationships/image" Target="../media/image11.png"/><Relationship Id="rId7" Type="http://schemas.openxmlformats.org/officeDocument/2006/relationships/diagramColors" Target="../diagrams/colors3.xml"/><Relationship Id="rId12" Type="http://schemas.openxmlformats.org/officeDocument/2006/relationships/diagramColors" Target="../diagrams/colors4.xml"/><Relationship Id="rId2" Type="http://schemas.openxmlformats.org/officeDocument/2006/relationships/image" Target="../media/image10.jpeg"/><Relationship Id="rId1" Type="http://schemas.openxmlformats.org/officeDocument/2006/relationships/slideLayout" Target="../slideLayouts/slideLayout1.xml"/><Relationship Id="rId6" Type="http://schemas.openxmlformats.org/officeDocument/2006/relationships/diagramQuickStyle" Target="../diagrams/quickStyle3.xml"/><Relationship Id="rId11" Type="http://schemas.openxmlformats.org/officeDocument/2006/relationships/diagramQuickStyle" Target="../diagrams/quickStyle4.xml"/><Relationship Id="rId5" Type="http://schemas.openxmlformats.org/officeDocument/2006/relationships/diagramLayout" Target="../diagrams/layout3.xml"/><Relationship Id="rId10" Type="http://schemas.openxmlformats.org/officeDocument/2006/relationships/diagramLayout" Target="../diagrams/layout4.xml"/><Relationship Id="rId4" Type="http://schemas.openxmlformats.org/officeDocument/2006/relationships/diagramData" Target="../diagrams/data3.xml"/><Relationship Id="rId9" Type="http://schemas.openxmlformats.org/officeDocument/2006/relationships/diagramData" Target="../diagrams/data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12.png"/><Relationship Id="rId2" Type="http://schemas.openxmlformats.org/officeDocument/2006/relationships/diagramData" Target="../diagrams/data6.xml"/><Relationship Id="rId1" Type="http://schemas.openxmlformats.org/officeDocument/2006/relationships/slideLayout" Target="../slideLayouts/slideLayout1.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xml"/><Relationship Id="rId5" Type="http://schemas.openxmlformats.org/officeDocument/2006/relationships/chart" Target="../charts/chart4.xml"/><Relationship Id="rId4" Type="http://schemas.openxmlformats.org/officeDocument/2006/relationships/chart" Target="../charts/char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diagramColors" Target="../diagrams/colors7.xml"/><Relationship Id="rId5" Type="http://schemas.openxmlformats.org/officeDocument/2006/relationships/diagramQuickStyle" Target="../diagrams/quickStyle7.xml"/><Relationship Id="rId10" Type="http://schemas.openxmlformats.org/officeDocument/2006/relationships/image" Target="../media/image5.png"/><Relationship Id="rId4" Type="http://schemas.openxmlformats.org/officeDocument/2006/relationships/diagramLayout" Target="../diagrams/layout7.xml"/><Relationship Id="rId9"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1.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1154954" y="1961766"/>
            <a:ext cx="9989861" cy="209013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smtClean="0">
                <a:solidFill>
                  <a:prstClr val="black"/>
                </a:solidFill>
              </a:rPr>
              <a:t>Croma Store Analysis</a:t>
            </a:r>
          </a:p>
          <a:p>
            <a:pPr algn="l"/>
            <a:r>
              <a:rPr lang="en-US" sz="3200" b="1" dirty="0" smtClean="0">
                <a:solidFill>
                  <a:prstClr val="black"/>
                </a:solidFill>
              </a:rPr>
              <a:t>POC - Hyderabad</a:t>
            </a:r>
            <a:endParaRPr lang="en-IN" sz="3200" dirty="0">
              <a:solidFill>
                <a:prstClr val="black"/>
              </a:solidFill>
            </a:endParaRPr>
          </a:p>
        </p:txBody>
      </p:sp>
      <p:sp>
        <p:nvSpPr>
          <p:cNvPr id="6" name="Title 5"/>
          <p:cNvSpPr>
            <a:spLocks noGrp="1"/>
          </p:cNvSpPr>
          <p:nvPr>
            <p:ph type="title"/>
          </p:nvPr>
        </p:nvSpPr>
        <p:spPr>
          <a:xfrm>
            <a:off x="1154954" y="4777381"/>
            <a:ext cx="8825657" cy="566738"/>
          </a:xfrm>
        </p:spPr>
        <p:txBody>
          <a:bodyPr>
            <a:normAutofit/>
          </a:bodyPr>
          <a:lstStyle/>
          <a:p>
            <a:r>
              <a:rPr lang="en-US" b="1" dirty="0" smtClean="0">
                <a:latin typeface="+mn-lt"/>
              </a:rPr>
              <a:t>Consumer </a:t>
            </a:r>
            <a:r>
              <a:rPr lang="en-US" b="1" smtClean="0">
                <a:latin typeface="+mn-lt"/>
              </a:rPr>
              <a:t>Analytics Division   </a:t>
            </a:r>
            <a:r>
              <a:rPr lang="en-US" b="1" dirty="0" smtClean="0">
                <a:latin typeface="+mn-lt"/>
              </a:rPr>
              <a:t>26/11/2015 </a:t>
            </a:r>
            <a:endParaRPr lang="en-IN" b="1" dirty="0">
              <a:latin typeface="+mn-lt"/>
            </a:endParaRPr>
          </a:p>
        </p:txBody>
      </p:sp>
      <p:sp>
        <p:nvSpPr>
          <p:cNvPr id="4" name="TextBox 3"/>
          <p:cNvSpPr txBox="1"/>
          <p:nvPr/>
        </p:nvSpPr>
        <p:spPr bwMode="gray">
          <a:xfrm>
            <a:off x="1154954" y="5322628"/>
            <a:ext cx="10268222" cy="873457"/>
          </a:xfrm>
          <a:prstGeom prst="rect">
            <a:avLst/>
          </a:prstGeom>
        </p:spPr>
        <p:txBody>
          <a:bodyPr vert="horz" wrap="square" lIns="91440" tIns="45720" rIns="91440" bIns="45720" rtlCol="0" anchor="t">
            <a:noAutofit/>
          </a:bodyPr>
          <a:lstStyle/>
          <a:p>
            <a:pPr defTabSz="457200"/>
            <a:r>
              <a:rPr lang="en-US" sz="900" dirty="0">
                <a:solidFill>
                  <a:prstClr val="white"/>
                </a:solidFill>
              </a:rPr>
              <a:t>The information contained in the document is proprietary to Tata Industries Limited- Consumer Analytics Division and is strictly confidential. </a:t>
            </a:r>
            <a:r>
              <a:rPr lang="en-IN" sz="900" dirty="0">
                <a:solidFill>
                  <a:prstClr val="white"/>
                </a:solidFill>
              </a:rPr>
              <a:t>In consideration of receipt of this document, the recipient agrees that the information is being shared only for the limited purpose. The recipient of this information further agrees to maintain such information in confidence and to not reproduce, disclose, duplicate, electronically transmit or use in whole or in part for any other purpose. Prior written consent shall be obtained from the Consumer Analytics Division of Tata Industries in case the information is necessitated to be shared with anyone other than the Recipient to whom this information is addressed. The above restriction shall not limit the right to use the information contained in this deck, if it is obtained from another source without restriction.</a:t>
            </a:r>
            <a:br>
              <a:rPr lang="en-IN" sz="900" dirty="0">
                <a:solidFill>
                  <a:prstClr val="white"/>
                </a:solidFill>
              </a:rPr>
            </a:br>
            <a:r>
              <a:rPr lang="en-IN" sz="900" dirty="0">
                <a:solidFill>
                  <a:prstClr val="white"/>
                </a:solidFill>
              </a:rPr>
              <a:t> </a:t>
            </a:r>
            <a:br>
              <a:rPr lang="en-IN" sz="900" dirty="0">
                <a:solidFill>
                  <a:prstClr val="white"/>
                </a:solidFill>
              </a:rPr>
            </a:br>
            <a:r>
              <a:rPr lang="en-IN" sz="900" dirty="0">
                <a:solidFill>
                  <a:prstClr val="white"/>
                </a:solidFill>
              </a:rPr>
              <a:t>© Copyright, Consumer Analytics Division, Tata Industries Limited </a:t>
            </a:r>
          </a:p>
          <a:p>
            <a:pPr defTabSz="457200"/>
            <a:endParaRPr lang="en-IN" sz="900" dirty="0">
              <a:solidFill>
                <a:prstClr val="white"/>
              </a:solidFill>
            </a:endParaRPr>
          </a:p>
        </p:txBody>
      </p:sp>
      <p:sp>
        <p:nvSpPr>
          <p:cNvPr id="2" name="Footer Placeholder 1"/>
          <p:cNvSpPr>
            <a:spLocks noGrp="1"/>
          </p:cNvSpPr>
          <p:nvPr>
            <p:ph type="ftr" sz="quarter" idx="11"/>
          </p:nvPr>
        </p:nvSpPr>
        <p:spPr/>
        <p:txBody>
          <a:bodyPr/>
          <a:lstStyle/>
          <a:p>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3" name="Slide Number Placeholder 2"/>
          <p:cNvSpPr>
            <a:spLocks noGrp="1"/>
          </p:cNvSpPr>
          <p:nvPr>
            <p:ph type="sldNum" sz="quarter" idx="12"/>
          </p:nvPr>
        </p:nvSpPr>
        <p:spPr/>
        <p:txBody>
          <a:bodyPr/>
          <a:lstStyle/>
          <a:p>
            <a:fld id="{D57F1E4F-1CFF-5643-939E-217C01CDF565}" type="slidenum">
              <a:rPr lang="en-US" smtClean="0">
                <a:solidFill>
                  <a:srgbClr val="0E5580"/>
                </a:solidFill>
              </a:rPr>
              <a:pPr/>
              <a:t>1</a:t>
            </a:fld>
            <a:endParaRPr lang="en-US" dirty="0">
              <a:solidFill>
                <a:srgbClr val="0E5580"/>
              </a:solidFill>
            </a:endParaRPr>
          </a:p>
        </p:txBody>
      </p:sp>
    </p:spTree>
    <p:extLst>
      <p:ext uri="{BB962C8B-B14F-4D97-AF65-F5344CB8AC3E}">
        <p14:creationId xmlns:p14="http://schemas.microsoft.com/office/powerpoint/2010/main" val="96363153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p:cNvSpPr/>
          <p:nvPr/>
        </p:nvSpPr>
        <p:spPr>
          <a:xfrm>
            <a:off x="7410250" y="3396770"/>
            <a:ext cx="3740876" cy="1786959"/>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IN" sz="1200" u="sng" dirty="0" smtClean="0">
                <a:solidFill>
                  <a:schemeClr val="tx2">
                    <a:lumMod val="50000"/>
                  </a:schemeClr>
                </a:solidFill>
              </a:rPr>
              <a:t>Additional Plan</a:t>
            </a:r>
          </a:p>
          <a:p>
            <a:pPr marL="285750" indent="-285750">
              <a:buFont typeface="Wingdings" panose="05000000000000000000" pitchFamily="2" charset="2"/>
              <a:buChar char="Ø"/>
            </a:pPr>
            <a:endParaRPr lang="en-IN" sz="1200" dirty="0" smtClean="0">
              <a:solidFill>
                <a:schemeClr val="tx2">
                  <a:lumMod val="50000"/>
                </a:schemeClr>
              </a:solidFill>
            </a:endParaRPr>
          </a:p>
          <a:p>
            <a:pPr marL="285750" indent="-285750">
              <a:buFont typeface="Wingdings" panose="05000000000000000000" pitchFamily="2" charset="2"/>
              <a:buChar char="Ø"/>
            </a:pPr>
            <a:r>
              <a:rPr lang="en-IN" sz="1000" dirty="0" smtClean="0">
                <a:solidFill>
                  <a:schemeClr val="tx2">
                    <a:lumMod val="50000"/>
                  </a:schemeClr>
                </a:solidFill>
              </a:rPr>
              <a:t>Croma </a:t>
            </a:r>
            <a:r>
              <a:rPr lang="en-IN" sz="1000" dirty="0">
                <a:solidFill>
                  <a:schemeClr val="tx2">
                    <a:lumMod val="50000"/>
                  </a:schemeClr>
                </a:solidFill>
              </a:rPr>
              <a:t>is exploring additional locations in </a:t>
            </a:r>
            <a:r>
              <a:rPr lang="en-IN" sz="1000" dirty="0" smtClean="0">
                <a:solidFill>
                  <a:schemeClr val="tx2">
                    <a:lumMod val="50000"/>
                  </a:schemeClr>
                </a:solidFill>
              </a:rPr>
              <a:t>Hyderabad:</a:t>
            </a:r>
          </a:p>
          <a:p>
            <a:endParaRPr lang="en-IN" sz="1000" dirty="0">
              <a:solidFill>
                <a:schemeClr val="tx2">
                  <a:lumMod val="50000"/>
                </a:schemeClr>
              </a:solidFill>
            </a:endParaRPr>
          </a:p>
          <a:p>
            <a:pPr marL="742950" lvl="1" indent="-285750" fontAlgn="t">
              <a:buFont typeface="Wingdings" panose="05000000000000000000" pitchFamily="2" charset="2"/>
              <a:buChar char="Ø"/>
            </a:pPr>
            <a:r>
              <a:rPr lang="en-IN" sz="1000" dirty="0">
                <a:solidFill>
                  <a:schemeClr val="tx2">
                    <a:lumMod val="50000"/>
                  </a:schemeClr>
                </a:solidFill>
              </a:rPr>
              <a:t>AS Rao Nagar</a:t>
            </a:r>
          </a:p>
          <a:p>
            <a:pPr marL="742950" lvl="1" indent="-285750" fontAlgn="t">
              <a:buFont typeface="Wingdings" panose="05000000000000000000" pitchFamily="2" charset="2"/>
              <a:buChar char="Ø"/>
            </a:pPr>
            <a:r>
              <a:rPr lang="en-IN" sz="1000" dirty="0" err="1">
                <a:solidFill>
                  <a:schemeClr val="tx2">
                    <a:lumMod val="50000"/>
                  </a:schemeClr>
                </a:solidFill>
              </a:rPr>
              <a:t>Kukatpally</a:t>
            </a:r>
            <a:endParaRPr lang="en-IN" sz="1000" dirty="0">
              <a:solidFill>
                <a:schemeClr val="tx2">
                  <a:lumMod val="50000"/>
                </a:schemeClr>
              </a:solidFill>
            </a:endParaRPr>
          </a:p>
          <a:p>
            <a:pPr marL="742950" lvl="1" indent="-285750" fontAlgn="t">
              <a:buFont typeface="Wingdings" panose="05000000000000000000" pitchFamily="2" charset="2"/>
              <a:buChar char="Ø"/>
            </a:pPr>
            <a:r>
              <a:rPr lang="en-IN" sz="1000" dirty="0" err="1">
                <a:solidFill>
                  <a:schemeClr val="tx2">
                    <a:lumMod val="50000"/>
                  </a:schemeClr>
                </a:solidFill>
              </a:rPr>
              <a:t>Himayat</a:t>
            </a:r>
            <a:r>
              <a:rPr lang="en-IN" sz="1000" dirty="0">
                <a:solidFill>
                  <a:schemeClr val="tx2">
                    <a:lumMod val="50000"/>
                  </a:schemeClr>
                </a:solidFill>
              </a:rPr>
              <a:t> Nagar</a:t>
            </a:r>
          </a:p>
          <a:p>
            <a:pPr marL="742950" lvl="1" indent="-285750" fontAlgn="t">
              <a:buFont typeface="Wingdings" panose="05000000000000000000" pitchFamily="2" charset="2"/>
              <a:buChar char="Ø"/>
            </a:pPr>
            <a:r>
              <a:rPr lang="en-IN" sz="1000" dirty="0" err="1">
                <a:solidFill>
                  <a:schemeClr val="tx2">
                    <a:lumMod val="50000"/>
                  </a:schemeClr>
                </a:solidFill>
              </a:rPr>
              <a:t>Habsiguda</a:t>
            </a:r>
            <a:endParaRPr lang="en-IN" sz="1000" dirty="0">
              <a:solidFill>
                <a:schemeClr val="tx2">
                  <a:lumMod val="50000"/>
                </a:schemeClr>
              </a:solidFill>
            </a:endParaRPr>
          </a:p>
          <a:p>
            <a:pPr marL="742950" lvl="1" indent="-285750" fontAlgn="t">
              <a:buFont typeface="Wingdings" panose="05000000000000000000" pitchFamily="2" charset="2"/>
              <a:buChar char="Ø"/>
            </a:pPr>
            <a:r>
              <a:rPr lang="en-IN" sz="1000" dirty="0" err="1" smtClean="0">
                <a:solidFill>
                  <a:schemeClr val="tx2">
                    <a:lumMod val="50000"/>
                  </a:schemeClr>
                </a:solidFill>
              </a:rPr>
              <a:t>Chandanagar</a:t>
            </a:r>
            <a:endParaRPr lang="en-IN" sz="1000" b="1" u="sng" dirty="0" smtClean="0">
              <a:solidFill>
                <a:schemeClr val="tx2">
                  <a:lumMod val="50000"/>
                </a:schemeClr>
              </a:solidFill>
            </a:endParaRPr>
          </a:p>
          <a:p>
            <a:endParaRPr lang="en-IN" sz="1200" b="1" dirty="0">
              <a:solidFill>
                <a:schemeClr val="tx2">
                  <a:lumMod val="50000"/>
                </a:schemeClr>
              </a:solidFill>
            </a:endParaRPr>
          </a:p>
        </p:txBody>
      </p:sp>
      <p:sp>
        <p:nvSpPr>
          <p:cNvPr id="6" name="Title 5"/>
          <p:cNvSpPr>
            <a:spLocks noGrp="1"/>
          </p:cNvSpPr>
          <p:nvPr>
            <p:ph type="title"/>
          </p:nvPr>
        </p:nvSpPr>
        <p:spPr/>
        <p:txBody>
          <a:bodyPr/>
          <a:lstStyle/>
          <a:p>
            <a:r>
              <a:rPr lang="en-IN" dirty="0" smtClean="0"/>
              <a:t>Background</a:t>
            </a:r>
            <a:endParaRPr lang="en-IN" dirty="0"/>
          </a:p>
        </p:txBody>
      </p:sp>
      <p:sp>
        <p:nvSpPr>
          <p:cNvPr id="5" name="Slide Number Placeholder 4"/>
          <p:cNvSpPr>
            <a:spLocks noGrp="1"/>
          </p:cNvSpPr>
          <p:nvPr>
            <p:ph type="sldNum" sz="quarter" idx="12"/>
          </p:nvPr>
        </p:nvSpPr>
        <p:spPr/>
        <p:txBody>
          <a:bodyPr/>
          <a:lstStyle/>
          <a:p>
            <a:fld id="{D57F1E4F-1CFF-5643-939E-217C01CDF565}" type="slidenum">
              <a:rPr lang="en-US" smtClean="0">
                <a:solidFill>
                  <a:srgbClr val="0E5580"/>
                </a:solidFill>
              </a:rPr>
              <a:pPr/>
              <a:t>2</a:t>
            </a:fld>
            <a:endParaRPr lang="en-US" dirty="0">
              <a:solidFill>
                <a:srgbClr val="0E5580"/>
              </a:solidFill>
            </a:endParaRPr>
          </a:p>
        </p:txBody>
      </p:sp>
      <p:sp>
        <p:nvSpPr>
          <p:cNvPr id="19" name="Rectangle 18"/>
          <p:cNvSpPr/>
          <p:nvPr/>
        </p:nvSpPr>
        <p:spPr>
          <a:xfrm>
            <a:off x="7392470" y="1396234"/>
            <a:ext cx="3740876" cy="1797728"/>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IN" sz="1200" u="sng" dirty="0" smtClean="0">
                <a:solidFill>
                  <a:schemeClr val="tx2">
                    <a:lumMod val="50000"/>
                  </a:schemeClr>
                </a:solidFill>
              </a:rPr>
              <a:t>Current State</a:t>
            </a:r>
          </a:p>
          <a:p>
            <a:pPr marL="285750" indent="-285750">
              <a:buFont typeface="Wingdings" panose="05000000000000000000" pitchFamily="2" charset="2"/>
              <a:buChar char="Ø"/>
            </a:pPr>
            <a:endParaRPr lang="en-IN" sz="1200" dirty="0" smtClean="0">
              <a:solidFill>
                <a:schemeClr val="tx2">
                  <a:lumMod val="50000"/>
                </a:schemeClr>
              </a:solidFill>
            </a:endParaRPr>
          </a:p>
          <a:p>
            <a:pPr marL="285750" indent="-285750">
              <a:buFont typeface="Wingdings" panose="05000000000000000000" pitchFamily="2" charset="2"/>
              <a:buChar char="Ø"/>
            </a:pPr>
            <a:r>
              <a:rPr lang="en-IN" sz="1000" dirty="0" smtClean="0">
                <a:solidFill>
                  <a:schemeClr val="tx2">
                    <a:lumMod val="50000"/>
                  </a:schemeClr>
                </a:solidFill>
              </a:rPr>
              <a:t>Croma has 5 store locations in Hyderabad</a:t>
            </a:r>
          </a:p>
          <a:p>
            <a:pPr marL="285750" indent="-285750">
              <a:buFont typeface="Wingdings" panose="05000000000000000000" pitchFamily="2" charset="2"/>
              <a:buChar char="Ø"/>
            </a:pPr>
            <a:endParaRPr lang="en-IN" sz="1000" dirty="0">
              <a:solidFill>
                <a:schemeClr val="tx2">
                  <a:lumMod val="50000"/>
                </a:schemeClr>
              </a:solidFill>
            </a:endParaRPr>
          </a:p>
          <a:p>
            <a:pPr marL="742950" lvl="1" indent="-285750" fontAlgn="t">
              <a:buFont typeface="Wingdings" panose="05000000000000000000" pitchFamily="2" charset="2"/>
              <a:buChar char="Ø"/>
            </a:pPr>
            <a:r>
              <a:rPr lang="en-IN" sz="1000" dirty="0">
                <a:solidFill>
                  <a:schemeClr val="tx2">
                    <a:lumMod val="50000"/>
                  </a:schemeClr>
                </a:solidFill>
              </a:rPr>
              <a:t>Jubilee Hills</a:t>
            </a:r>
          </a:p>
          <a:p>
            <a:pPr marL="742950" lvl="1" indent="-285750" fontAlgn="t">
              <a:buFont typeface="Wingdings" panose="05000000000000000000" pitchFamily="2" charset="2"/>
              <a:buChar char="Ø"/>
            </a:pPr>
            <a:r>
              <a:rPr lang="en-IN" sz="1000" dirty="0" err="1">
                <a:solidFill>
                  <a:schemeClr val="tx2">
                    <a:lumMod val="50000"/>
                  </a:schemeClr>
                </a:solidFill>
              </a:rPr>
              <a:t>Panjagutta</a:t>
            </a:r>
            <a:endParaRPr lang="en-IN" sz="1000" dirty="0">
              <a:solidFill>
                <a:schemeClr val="tx2">
                  <a:lumMod val="50000"/>
                </a:schemeClr>
              </a:solidFill>
            </a:endParaRPr>
          </a:p>
          <a:p>
            <a:pPr marL="742950" lvl="1" indent="-285750" fontAlgn="t">
              <a:buFont typeface="Wingdings" panose="05000000000000000000" pitchFamily="2" charset="2"/>
              <a:buChar char="Ø"/>
            </a:pPr>
            <a:r>
              <a:rPr lang="en-IN" sz="1000" dirty="0" err="1">
                <a:solidFill>
                  <a:schemeClr val="tx2">
                    <a:lumMod val="50000"/>
                  </a:schemeClr>
                </a:solidFill>
              </a:rPr>
              <a:t>Vikrampuri</a:t>
            </a:r>
            <a:endParaRPr lang="en-IN" sz="1000" dirty="0">
              <a:solidFill>
                <a:schemeClr val="tx2">
                  <a:lumMod val="50000"/>
                </a:schemeClr>
              </a:solidFill>
            </a:endParaRPr>
          </a:p>
          <a:p>
            <a:pPr marL="742950" lvl="1" indent="-285750" fontAlgn="t">
              <a:buFont typeface="Wingdings" panose="05000000000000000000" pitchFamily="2" charset="2"/>
              <a:buChar char="Ø"/>
            </a:pPr>
            <a:r>
              <a:rPr lang="en-IN" sz="1000" dirty="0" err="1">
                <a:solidFill>
                  <a:schemeClr val="tx2">
                    <a:lumMod val="50000"/>
                  </a:schemeClr>
                </a:solidFill>
              </a:rPr>
              <a:t>Kondapur</a:t>
            </a:r>
            <a:endParaRPr lang="en-IN" sz="1000" dirty="0">
              <a:solidFill>
                <a:schemeClr val="tx2">
                  <a:lumMod val="50000"/>
                </a:schemeClr>
              </a:solidFill>
            </a:endParaRPr>
          </a:p>
          <a:p>
            <a:pPr marL="742950" lvl="1" indent="-285750" fontAlgn="t">
              <a:buFont typeface="Wingdings" panose="05000000000000000000" pitchFamily="2" charset="2"/>
              <a:buChar char="Ø"/>
            </a:pPr>
            <a:r>
              <a:rPr lang="en-IN" sz="1000" dirty="0" smtClean="0">
                <a:solidFill>
                  <a:schemeClr val="tx2">
                    <a:lumMod val="50000"/>
                  </a:schemeClr>
                </a:solidFill>
              </a:rPr>
              <a:t>Rajiv Gandhi International Airport, </a:t>
            </a:r>
            <a:r>
              <a:rPr lang="en-IN" sz="1000" dirty="0" err="1" smtClean="0">
                <a:solidFill>
                  <a:schemeClr val="tx2">
                    <a:lumMod val="50000"/>
                  </a:schemeClr>
                </a:solidFill>
              </a:rPr>
              <a:t>Shamshabad</a:t>
            </a:r>
            <a:endParaRPr lang="en-IN" sz="1000" b="1" u="sng" dirty="0" smtClean="0">
              <a:solidFill>
                <a:schemeClr val="tx2">
                  <a:lumMod val="50000"/>
                </a:schemeClr>
              </a:solidFill>
            </a:endParaRPr>
          </a:p>
          <a:p>
            <a:endParaRPr lang="en-IN" sz="1200" b="1" u="sng" dirty="0" smtClean="0">
              <a:solidFill>
                <a:schemeClr val="tx2">
                  <a:lumMod val="50000"/>
                </a:schemeClr>
              </a:solidFill>
            </a:endParaRPr>
          </a:p>
          <a:p>
            <a:endParaRPr lang="en-IN" sz="1200" b="1" u="sng" dirty="0" smtClean="0">
              <a:solidFill>
                <a:schemeClr val="tx2">
                  <a:lumMod val="50000"/>
                </a:schemeClr>
              </a:solidFill>
            </a:endParaRPr>
          </a:p>
          <a:p>
            <a:endParaRPr lang="en-IN" sz="1200" b="1" dirty="0">
              <a:solidFill>
                <a:schemeClr val="tx2">
                  <a:lumMod val="50000"/>
                </a:schemeClr>
              </a:solidFill>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5105" y="1153569"/>
            <a:ext cx="6173274" cy="5704431"/>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5104" y="1153569"/>
            <a:ext cx="6173274" cy="5704431"/>
          </a:xfrm>
          <a:prstGeom prst="rect">
            <a:avLst/>
          </a:prstGeom>
        </p:spPr>
      </p:pic>
      <p:sp>
        <p:nvSpPr>
          <p:cNvPr id="10" name="Rectangle 9"/>
          <p:cNvSpPr/>
          <p:nvPr/>
        </p:nvSpPr>
        <p:spPr>
          <a:xfrm>
            <a:off x="7410250" y="5386538"/>
            <a:ext cx="3740876" cy="1194567"/>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IN" sz="1200" u="sng" dirty="0" smtClean="0">
                <a:solidFill>
                  <a:schemeClr val="tx2">
                    <a:lumMod val="50000"/>
                  </a:schemeClr>
                </a:solidFill>
              </a:rPr>
              <a:t>Objective</a:t>
            </a:r>
          </a:p>
          <a:p>
            <a:endParaRPr lang="en-IN" sz="1200" u="sng" dirty="0">
              <a:solidFill>
                <a:schemeClr val="tx2">
                  <a:lumMod val="50000"/>
                </a:schemeClr>
              </a:solidFill>
            </a:endParaRPr>
          </a:p>
          <a:p>
            <a:pPr marL="171450" indent="-171450">
              <a:buFont typeface="Wingdings" panose="05000000000000000000" pitchFamily="2" charset="2"/>
              <a:buChar char="Ø"/>
            </a:pPr>
            <a:r>
              <a:rPr lang="en-IN" sz="1000" dirty="0" smtClean="0">
                <a:solidFill>
                  <a:schemeClr val="tx2">
                    <a:lumMod val="50000"/>
                  </a:schemeClr>
                </a:solidFill>
              </a:rPr>
              <a:t> Validate the proposed store locations</a:t>
            </a:r>
          </a:p>
          <a:p>
            <a:endParaRPr lang="en-IN" sz="1000" dirty="0" smtClean="0">
              <a:solidFill>
                <a:schemeClr val="tx2">
                  <a:lumMod val="50000"/>
                </a:schemeClr>
              </a:solidFill>
            </a:endParaRPr>
          </a:p>
          <a:p>
            <a:pPr marL="171450" indent="-171450">
              <a:buFont typeface="Wingdings" panose="05000000000000000000" pitchFamily="2" charset="2"/>
              <a:buChar char="Ø"/>
            </a:pPr>
            <a:r>
              <a:rPr lang="en-IN" sz="1000" dirty="0" smtClean="0">
                <a:solidFill>
                  <a:schemeClr val="tx2">
                    <a:lumMod val="50000"/>
                  </a:schemeClr>
                </a:solidFill>
              </a:rPr>
              <a:t> Identify optimal store locations for Croma in Hyderabad </a:t>
            </a:r>
            <a:endParaRPr lang="en-IN" sz="1200" b="1" u="sng" dirty="0" smtClean="0">
              <a:solidFill>
                <a:schemeClr val="tx2">
                  <a:lumMod val="50000"/>
                </a:schemeClr>
              </a:solidFill>
            </a:endParaRPr>
          </a:p>
          <a:p>
            <a:endParaRPr lang="en-IN" sz="1200" b="1" u="sng" dirty="0" smtClean="0">
              <a:solidFill>
                <a:schemeClr val="tx2">
                  <a:lumMod val="50000"/>
                </a:schemeClr>
              </a:solidFill>
            </a:endParaRPr>
          </a:p>
          <a:p>
            <a:endParaRPr lang="en-IN" sz="1200" b="1" dirty="0">
              <a:solidFill>
                <a:schemeClr val="tx2">
                  <a:lumMod val="50000"/>
                </a:schemeClr>
              </a:solidFill>
            </a:endParaRPr>
          </a:p>
        </p:txBody>
      </p:sp>
    </p:spTree>
    <p:extLst>
      <p:ext uri="{BB962C8B-B14F-4D97-AF65-F5344CB8AC3E}">
        <p14:creationId xmlns:p14="http://schemas.microsoft.com/office/powerpoint/2010/main" val="2557188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41"/>
          <p:cNvPicPr>
            <a:picLocks noChangeAspect="1"/>
          </p:cNvPicPr>
          <p:nvPr/>
        </p:nvPicPr>
        <p:blipFill>
          <a:blip r:embed="rId2"/>
          <a:stretch>
            <a:fillRect/>
          </a:stretch>
        </p:blipFill>
        <p:spPr>
          <a:xfrm>
            <a:off x="9181722" y="5954632"/>
            <a:ext cx="1285875" cy="857250"/>
          </a:xfrm>
          <a:prstGeom prst="rect">
            <a:avLst/>
          </a:prstGeom>
        </p:spPr>
      </p:pic>
      <p:pic>
        <p:nvPicPr>
          <p:cNvPr id="40" name="Picture 39"/>
          <p:cNvPicPr>
            <a:picLocks noChangeAspect="1"/>
          </p:cNvPicPr>
          <p:nvPr/>
        </p:nvPicPr>
        <p:blipFill>
          <a:blip r:embed="rId3"/>
          <a:stretch>
            <a:fillRect/>
          </a:stretch>
        </p:blipFill>
        <p:spPr>
          <a:xfrm>
            <a:off x="7870657" y="5819072"/>
            <a:ext cx="992811" cy="992810"/>
          </a:xfrm>
          <a:prstGeom prst="rect">
            <a:avLst/>
          </a:prstGeom>
        </p:spPr>
      </p:pic>
      <p:pic>
        <p:nvPicPr>
          <p:cNvPr id="35" name="Picture 34"/>
          <p:cNvPicPr>
            <a:picLocks noChangeAspect="1"/>
          </p:cNvPicPr>
          <p:nvPr/>
        </p:nvPicPr>
        <p:blipFill>
          <a:blip r:embed="rId2"/>
          <a:stretch>
            <a:fillRect/>
          </a:stretch>
        </p:blipFill>
        <p:spPr>
          <a:xfrm>
            <a:off x="2824786" y="4390345"/>
            <a:ext cx="1285875" cy="857250"/>
          </a:xfrm>
          <a:prstGeom prst="rect">
            <a:avLst/>
          </a:prstGeom>
        </p:spPr>
      </p:pic>
      <p:sp>
        <p:nvSpPr>
          <p:cNvPr id="5" name="Title 4"/>
          <p:cNvSpPr>
            <a:spLocks noGrp="1"/>
          </p:cNvSpPr>
          <p:nvPr>
            <p:ph type="title"/>
          </p:nvPr>
        </p:nvSpPr>
        <p:spPr/>
        <p:txBody>
          <a:bodyPr/>
          <a:lstStyle/>
          <a:p>
            <a:r>
              <a:rPr lang="en-IN" dirty="0" smtClean="0"/>
              <a:t>Optimal Store Location Model - Approach</a:t>
            </a:r>
            <a:endParaRPr lang="en-IN" dirty="0"/>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3</a:t>
            </a:fld>
            <a:endParaRPr lang="en-US" dirty="0">
              <a:solidFill>
                <a:srgbClr val="0E5580"/>
              </a:solidFill>
            </a:endParaRPr>
          </a:p>
        </p:txBody>
      </p:sp>
      <p:sp>
        <p:nvSpPr>
          <p:cNvPr id="7" name="Text Placeholder 6"/>
          <p:cNvSpPr>
            <a:spLocks noGrp="1"/>
          </p:cNvSpPr>
          <p:nvPr>
            <p:ph type="body" sz="quarter" idx="13"/>
          </p:nvPr>
        </p:nvSpPr>
        <p:spPr>
          <a:xfrm>
            <a:off x="501060" y="1162982"/>
            <a:ext cx="11113180" cy="582362"/>
          </a:xfrm>
        </p:spPr>
        <p:txBody>
          <a:bodyPr>
            <a:normAutofit fontScale="85000" lnSpcReduction="10000"/>
          </a:bodyPr>
          <a:lstStyle/>
          <a:p>
            <a:r>
              <a:rPr lang="en-IN" dirty="0" smtClean="0"/>
              <a:t>Store Location Attractiveness is determined by Store Attractiveness and Area Potential and also the Distance to the store. Catchment Area Analysis on current stores helps us determine the exponents for each parameter   </a:t>
            </a:r>
            <a:endParaRPr lang="en-IN" dirty="0"/>
          </a:p>
        </p:txBody>
      </p:sp>
      <p:sp>
        <p:nvSpPr>
          <p:cNvPr id="13" name="Oval 12"/>
          <p:cNvSpPr/>
          <p:nvPr/>
        </p:nvSpPr>
        <p:spPr>
          <a:xfrm>
            <a:off x="3272050" y="2821263"/>
            <a:ext cx="1644730" cy="1644730"/>
          </a:xfrm>
          <a:prstGeom prst="ellipse">
            <a:avLst/>
          </a:prstGeom>
          <a:solidFill>
            <a:schemeClr val="tx2">
              <a:lumMod val="7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endParaRPr lang="en-IN" sz="1400" dirty="0">
              <a:latin typeface="Calibri" panose="020F0502020204030204" pitchFamily="34" charset="0"/>
            </a:endParaRPr>
          </a:p>
        </p:txBody>
      </p:sp>
      <p:cxnSp>
        <p:nvCxnSpPr>
          <p:cNvPr id="55" name="Straight Connector 54"/>
          <p:cNvCxnSpPr/>
          <p:nvPr/>
        </p:nvCxnSpPr>
        <p:spPr>
          <a:xfrm>
            <a:off x="472925" y="1683130"/>
            <a:ext cx="11222365" cy="0"/>
          </a:xfrm>
          <a:prstGeom prst="line">
            <a:avLst/>
          </a:prstGeom>
          <a:ln w="28575">
            <a:solidFill>
              <a:srgbClr val="1C5785"/>
            </a:solidFill>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10785851" y="5760222"/>
            <a:ext cx="153212" cy="20855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bwMode="gray">
          <a:xfrm>
            <a:off x="11039468" y="5629623"/>
            <a:ext cx="1046329" cy="488698"/>
          </a:xfrm>
          <a:prstGeom prst="rect">
            <a:avLst/>
          </a:prstGeom>
        </p:spPr>
        <p:txBody>
          <a:bodyPr vert="horz" wrap="square" lIns="91440" tIns="45720" rIns="91440" bIns="45720" rtlCol="0" anchor="ctr">
            <a:noAutofit/>
          </a:bodyPr>
          <a:lstStyle/>
          <a:p>
            <a:r>
              <a:rPr lang="en-IN" sz="1000" dirty="0" smtClean="0"/>
              <a:t>Considered for analysis</a:t>
            </a:r>
          </a:p>
        </p:txBody>
      </p:sp>
      <p:sp>
        <p:nvSpPr>
          <p:cNvPr id="24" name="Oval 23"/>
          <p:cNvSpPr/>
          <p:nvPr/>
        </p:nvSpPr>
        <p:spPr>
          <a:xfrm>
            <a:off x="673262" y="2821263"/>
            <a:ext cx="1644730" cy="1644730"/>
          </a:xfrm>
          <a:prstGeom prst="ellipse">
            <a:avLst/>
          </a:prstGeom>
          <a:solidFill>
            <a:schemeClr val="tx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endParaRPr lang="en-IN" sz="1400" dirty="0">
              <a:latin typeface="Calibri" panose="020F0502020204030204" pitchFamily="34" charset="0"/>
            </a:endParaRPr>
          </a:p>
        </p:txBody>
      </p:sp>
      <p:sp>
        <p:nvSpPr>
          <p:cNvPr id="27" name="TextBox 26"/>
          <p:cNvSpPr txBox="1"/>
          <p:nvPr/>
        </p:nvSpPr>
        <p:spPr bwMode="gray">
          <a:xfrm>
            <a:off x="1001233" y="3189427"/>
            <a:ext cx="914400" cy="914400"/>
          </a:xfrm>
          <a:prstGeom prst="rect">
            <a:avLst/>
          </a:prstGeom>
        </p:spPr>
        <p:txBody>
          <a:bodyPr vert="horz" wrap="none" lIns="91440" tIns="45720" rIns="91440" bIns="45720" rtlCol="0" anchor="ctr">
            <a:noAutofit/>
          </a:bodyPr>
          <a:lstStyle/>
          <a:p>
            <a:pPr algn="ctr"/>
            <a:r>
              <a:rPr lang="en-IN" sz="1400" b="1" dirty="0" smtClean="0">
                <a:solidFill>
                  <a:schemeClr val="bg1"/>
                </a:solidFill>
              </a:rPr>
              <a:t> Store Location </a:t>
            </a:r>
          </a:p>
          <a:p>
            <a:pPr algn="ctr"/>
            <a:r>
              <a:rPr lang="en-IN" sz="1400" b="1" dirty="0" smtClean="0">
                <a:solidFill>
                  <a:schemeClr val="bg1"/>
                </a:solidFill>
              </a:rPr>
              <a:t>Attractiveness </a:t>
            </a:r>
          </a:p>
          <a:p>
            <a:pPr algn="ctr"/>
            <a:r>
              <a:rPr lang="en-IN" sz="1400" b="1" dirty="0" smtClean="0">
                <a:solidFill>
                  <a:schemeClr val="bg1"/>
                </a:solidFill>
              </a:rPr>
              <a:t>at PIN Level</a:t>
            </a:r>
          </a:p>
        </p:txBody>
      </p:sp>
      <p:sp>
        <p:nvSpPr>
          <p:cNvPr id="25" name="TextBox 24"/>
          <p:cNvSpPr txBox="1"/>
          <p:nvPr/>
        </p:nvSpPr>
        <p:spPr bwMode="gray">
          <a:xfrm>
            <a:off x="3637215" y="3186428"/>
            <a:ext cx="914400" cy="914400"/>
          </a:xfrm>
          <a:prstGeom prst="rect">
            <a:avLst/>
          </a:prstGeom>
        </p:spPr>
        <p:txBody>
          <a:bodyPr vert="horz" wrap="none" lIns="91440" tIns="45720" rIns="91440" bIns="45720" rtlCol="0" anchor="ctr">
            <a:noAutofit/>
          </a:bodyPr>
          <a:lstStyle/>
          <a:p>
            <a:pPr algn="ctr"/>
            <a:r>
              <a:rPr lang="en-IN" sz="1400" b="1" dirty="0" smtClean="0">
                <a:solidFill>
                  <a:schemeClr val="bg1"/>
                </a:solidFill>
              </a:rPr>
              <a:t> Catchment</a:t>
            </a:r>
          </a:p>
          <a:p>
            <a:pPr algn="ctr"/>
            <a:r>
              <a:rPr lang="en-IN" sz="1400" b="1" dirty="0" smtClean="0">
                <a:solidFill>
                  <a:schemeClr val="bg1"/>
                </a:solidFill>
              </a:rPr>
              <a:t>Area: </a:t>
            </a:r>
          </a:p>
          <a:p>
            <a:pPr algn="ctr"/>
            <a:r>
              <a:rPr lang="en-IN" sz="1400" b="1" dirty="0" smtClean="0">
                <a:solidFill>
                  <a:schemeClr val="bg1"/>
                </a:solidFill>
              </a:rPr>
              <a:t>35 mins of drive</a:t>
            </a:r>
          </a:p>
          <a:p>
            <a:pPr algn="ctr"/>
            <a:r>
              <a:rPr lang="en-IN" sz="1400" b="1" dirty="0" smtClean="0">
                <a:solidFill>
                  <a:schemeClr val="bg1"/>
                </a:solidFill>
              </a:rPr>
              <a:t> time</a:t>
            </a:r>
          </a:p>
        </p:txBody>
      </p:sp>
      <p:sp>
        <p:nvSpPr>
          <p:cNvPr id="2" name="Right Arrow 1"/>
          <p:cNvSpPr/>
          <p:nvPr/>
        </p:nvSpPr>
        <p:spPr>
          <a:xfrm>
            <a:off x="2574501" y="3447342"/>
            <a:ext cx="502276" cy="505372"/>
          </a:xfrm>
          <a:prstGeom prst="rightArrow">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3" name="Group 2"/>
          <p:cNvGrpSpPr/>
          <p:nvPr/>
        </p:nvGrpSpPr>
        <p:grpSpPr>
          <a:xfrm>
            <a:off x="1843278" y="4540550"/>
            <a:ext cx="859802" cy="587214"/>
            <a:chOff x="2045506" y="4832916"/>
            <a:chExt cx="859802" cy="587214"/>
          </a:xfrm>
        </p:grpSpPr>
        <p:pic>
          <p:nvPicPr>
            <p:cNvPr id="31" name="Picture 30"/>
            <p:cNvPicPr>
              <a:picLocks noChangeAspect="1"/>
            </p:cNvPicPr>
            <p:nvPr/>
          </p:nvPicPr>
          <p:blipFill>
            <a:blip r:embed="rId4"/>
            <a:stretch>
              <a:fillRect/>
            </a:stretch>
          </p:blipFill>
          <p:spPr>
            <a:xfrm>
              <a:off x="2045506" y="4832916"/>
              <a:ext cx="587214" cy="587214"/>
            </a:xfrm>
            <a:prstGeom prst="rect">
              <a:avLst/>
            </a:prstGeom>
          </p:spPr>
        </p:pic>
        <p:sp>
          <p:nvSpPr>
            <p:cNvPr id="34" name="Rounded Rectangle 33"/>
            <p:cNvSpPr/>
            <p:nvPr/>
          </p:nvSpPr>
          <p:spPr>
            <a:xfrm>
              <a:off x="2468944" y="5015355"/>
              <a:ext cx="436364" cy="191962"/>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dirty="0" smtClean="0">
                  <a:solidFill>
                    <a:sysClr val="windowText" lastClr="000000"/>
                  </a:solidFill>
                </a:rPr>
                <a:t>API</a:t>
              </a:r>
              <a:endParaRPr lang="en-IN" sz="1100" dirty="0">
                <a:solidFill>
                  <a:sysClr val="windowText" lastClr="000000"/>
                </a:solidFill>
              </a:endParaRPr>
            </a:p>
          </p:txBody>
        </p:sp>
      </p:grpSp>
      <p:sp>
        <p:nvSpPr>
          <p:cNvPr id="6" name="TextBox 5"/>
          <p:cNvSpPr txBox="1"/>
          <p:nvPr/>
        </p:nvSpPr>
        <p:spPr bwMode="gray">
          <a:xfrm>
            <a:off x="1533201" y="5127066"/>
            <a:ext cx="1346367" cy="276806"/>
          </a:xfrm>
          <a:prstGeom prst="rect">
            <a:avLst/>
          </a:prstGeom>
        </p:spPr>
        <p:txBody>
          <a:bodyPr vert="horz" wrap="square" lIns="91440" tIns="45720" rIns="91440" bIns="45720" rtlCol="0" anchor="ctr">
            <a:noAutofit/>
          </a:bodyPr>
          <a:lstStyle/>
          <a:p>
            <a:r>
              <a:rPr lang="en-IN" sz="1000" i="1" dirty="0" smtClean="0"/>
              <a:t>Driving Distance between PINs</a:t>
            </a:r>
          </a:p>
        </p:txBody>
      </p:sp>
      <p:sp>
        <p:nvSpPr>
          <p:cNvPr id="36" name="TextBox 35"/>
          <p:cNvSpPr txBox="1"/>
          <p:nvPr/>
        </p:nvSpPr>
        <p:spPr bwMode="gray">
          <a:xfrm>
            <a:off x="2834987" y="5244292"/>
            <a:ext cx="1346367" cy="276806"/>
          </a:xfrm>
          <a:prstGeom prst="rect">
            <a:avLst/>
          </a:prstGeom>
        </p:spPr>
        <p:txBody>
          <a:bodyPr vert="horz" wrap="square" lIns="91440" tIns="45720" rIns="91440" bIns="45720" rtlCol="0" anchor="ctr">
            <a:noAutofit/>
          </a:bodyPr>
          <a:lstStyle/>
          <a:p>
            <a:r>
              <a:rPr lang="en-IN" sz="1000" i="1" dirty="0" smtClean="0"/>
              <a:t>Customer location - Gurgaon/Delhi stores Transaction data</a:t>
            </a:r>
          </a:p>
        </p:txBody>
      </p:sp>
      <p:graphicFrame>
        <p:nvGraphicFramePr>
          <p:cNvPr id="11" name="Diagram 10"/>
          <p:cNvGraphicFramePr/>
          <p:nvPr>
            <p:extLst>
              <p:ext uri="{D42A27DB-BD31-4B8C-83A1-F6EECF244321}">
                <p14:modId xmlns:p14="http://schemas.microsoft.com/office/powerpoint/2010/main" val="3356112940"/>
              </p:ext>
            </p:extLst>
          </p:nvPr>
        </p:nvGraphicFramePr>
        <p:xfrm>
          <a:off x="6098248" y="1963704"/>
          <a:ext cx="4408840" cy="1822026"/>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aphicFrame>
        <p:nvGraphicFramePr>
          <p:cNvPr id="15" name="Diagram 14"/>
          <p:cNvGraphicFramePr/>
          <p:nvPr>
            <p:extLst>
              <p:ext uri="{D42A27DB-BD31-4B8C-83A1-F6EECF244321}">
                <p14:modId xmlns:p14="http://schemas.microsoft.com/office/powerpoint/2010/main" val="2339933067"/>
              </p:ext>
            </p:extLst>
          </p:nvPr>
        </p:nvGraphicFramePr>
        <p:xfrm>
          <a:off x="6111126" y="4326795"/>
          <a:ext cx="4408840" cy="1834994"/>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pic>
        <p:nvPicPr>
          <p:cNvPr id="37" name="Picture 36"/>
          <p:cNvPicPr>
            <a:picLocks noChangeAspect="1"/>
          </p:cNvPicPr>
          <p:nvPr/>
        </p:nvPicPr>
        <p:blipFill>
          <a:blip r:embed="rId15"/>
          <a:stretch>
            <a:fillRect/>
          </a:stretch>
        </p:blipFill>
        <p:spPr>
          <a:xfrm>
            <a:off x="6220496" y="6107621"/>
            <a:ext cx="501017" cy="588350"/>
          </a:xfrm>
          <a:prstGeom prst="rect">
            <a:avLst/>
          </a:prstGeom>
        </p:spPr>
      </p:pic>
      <p:pic>
        <p:nvPicPr>
          <p:cNvPr id="38" name="Picture 37"/>
          <p:cNvPicPr>
            <a:picLocks noChangeAspect="1"/>
          </p:cNvPicPr>
          <p:nvPr/>
        </p:nvPicPr>
        <p:blipFill>
          <a:blip r:embed="rId16"/>
          <a:stretch>
            <a:fillRect/>
          </a:stretch>
        </p:blipFill>
        <p:spPr>
          <a:xfrm>
            <a:off x="6902963" y="6056720"/>
            <a:ext cx="612336" cy="711476"/>
          </a:xfrm>
          <a:prstGeom prst="rect">
            <a:avLst/>
          </a:prstGeom>
          <a:ln>
            <a:solidFill>
              <a:schemeClr val="bg1"/>
            </a:solidFill>
          </a:ln>
        </p:spPr>
      </p:pic>
      <p:sp>
        <p:nvSpPr>
          <p:cNvPr id="41" name="TextBox 40"/>
          <p:cNvSpPr txBox="1"/>
          <p:nvPr/>
        </p:nvSpPr>
        <p:spPr bwMode="gray">
          <a:xfrm>
            <a:off x="7672893" y="6534909"/>
            <a:ext cx="1362581" cy="161062"/>
          </a:xfrm>
          <a:prstGeom prst="rect">
            <a:avLst/>
          </a:prstGeom>
        </p:spPr>
        <p:txBody>
          <a:bodyPr vert="horz" wrap="square" lIns="91440" tIns="45720" rIns="91440" bIns="45720" rtlCol="0" anchor="ctr">
            <a:noAutofit/>
          </a:bodyPr>
          <a:lstStyle/>
          <a:p>
            <a:pPr algn="ctr"/>
            <a:r>
              <a:rPr lang="en-IN" sz="600" dirty="0" smtClean="0"/>
              <a:t>ATM data</a:t>
            </a:r>
          </a:p>
        </p:txBody>
      </p:sp>
      <p:cxnSp>
        <p:nvCxnSpPr>
          <p:cNvPr id="17" name="Straight Arrow Connector 16"/>
          <p:cNvCxnSpPr/>
          <p:nvPr/>
        </p:nvCxnSpPr>
        <p:spPr>
          <a:xfrm flipV="1">
            <a:off x="4877224" y="2322928"/>
            <a:ext cx="1104884" cy="701981"/>
          </a:xfrm>
          <a:prstGeom prst="straightConnector1">
            <a:avLst/>
          </a:prstGeom>
          <a:ln>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a:off x="4915516" y="4100828"/>
            <a:ext cx="1066592" cy="439722"/>
          </a:xfrm>
          <a:prstGeom prst="straightConnector1">
            <a:avLst/>
          </a:prstGeom>
          <a:ln>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525151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7" name="Table 106"/>
          <p:cNvGraphicFramePr>
            <a:graphicFrameLocks noGrp="1"/>
          </p:cNvGraphicFramePr>
          <p:nvPr>
            <p:extLst>
              <p:ext uri="{D42A27DB-BD31-4B8C-83A1-F6EECF244321}">
                <p14:modId xmlns:p14="http://schemas.microsoft.com/office/powerpoint/2010/main" val="1552614440"/>
              </p:ext>
            </p:extLst>
          </p:nvPr>
        </p:nvGraphicFramePr>
        <p:xfrm>
          <a:off x="563535" y="1166418"/>
          <a:ext cx="8774371" cy="5187472"/>
        </p:xfrm>
        <a:graphic>
          <a:graphicData uri="http://schemas.openxmlformats.org/drawingml/2006/table">
            <a:tbl>
              <a:tblPr firstRow="1" bandRow="1">
                <a:tableStyleId>{21E4AEA4-8DFA-4A89-87EB-49C32662AFE0}</a:tableStyleId>
              </a:tblPr>
              <a:tblGrid>
                <a:gridCol w="391927"/>
                <a:gridCol w="391927"/>
                <a:gridCol w="391925"/>
                <a:gridCol w="391925"/>
                <a:gridCol w="391927"/>
                <a:gridCol w="391927"/>
                <a:gridCol w="391927"/>
                <a:gridCol w="391927"/>
                <a:gridCol w="345406"/>
                <a:gridCol w="345406"/>
                <a:gridCol w="636966"/>
                <a:gridCol w="391927"/>
                <a:gridCol w="783850"/>
                <a:gridCol w="391927"/>
                <a:gridCol w="391927"/>
                <a:gridCol w="391925"/>
                <a:gridCol w="391925"/>
                <a:gridCol w="783850"/>
                <a:gridCol w="783850"/>
              </a:tblGrid>
              <a:tr h="298837">
                <a:tc rowSpan="2" gridSpan="8">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endParaRPr lang="en-IN"/>
                    </a:p>
                  </a:txBody>
                  <a:tcPr/>
                </a:tc>
                <a:tc rowSpan="2" hMerge="1">
                  <a:txBody>
                    <a:bodyPr/>
                    <a:lstStyle/>
                    <a:p>
                      <a:pPr algn="ctr"/>
                      <a:endParaRPr lang="en-IN" sz="9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hMerge="1">
                  <a:txBody>
                    <a:bodyPr/>
                    <a:lstStyle/>
                    <a:p>
                      <a:endParaRPr lang="en-IN"/>
                    </a:p>
                  </a:txBody>
                  <a:tcPr/>
                </a:tc>
                <a:tc rowSpan="2" hMerge="1">
                  <a:txBody>
                    <a:bodyPr/>
                    <a:lstStyle/>
                    <a:p>
                      <a:pPr algn="ctr"/>
                      <a:endParaRPr lang="en-IN" sz="9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hMerge="1">
                  <a:txBody>
                    <a:bodyPr/>
                    <a:lstStyle/>
                    <a:p>
                      <a:endParaRPr lang="en-IN"/>
                    </a:p>
                  </a:txBody>
                  <a:tcPr/>
                </a:tc>
                <a:tc rowSpan="2" hMerge="1">
                  <a:txBody>
                    <a:bodyPr/>
                    <a:lstStyle/>
                    <a:p>
                      <a:pPr algn="ctr"/>
                      <a:endParaRPr lang="en-IN" sz="9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no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a:p>
                  </a:txBody>
                  <a:tcPr/>
                </a:tc>
                <a:tc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hMerge="1">
                  <a:txBody>
                    <a:bodyPr/>
                    <a:lstStyle/>
                    <a:p>
                      <a:pPr algn="ctr"/>
                      <a:endParaRPr lang="en-IN" sz="900" dirty="0"/>
                    </a:p>
                  </a:txBody>
                  <a:tcPr anchor="ctr">
                    <a:solidFill>
                      <a:schemeClr val="accent1"/>
                    </a:solidFill>
                  </a:tcPr>
                </a:tc>
                <a:tc rowSpan="2" gridSpan="6">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2" hMerge="1">
                  <a:txBody>
                    <a:bodyPr/>
                    <a:lstStyle/>
                    <a:p>
                      <a:pPr algn="ctr"/>
                      <a:endParaRPr lang="en-IN" sz="900" dirty="0"/>
                    </a:p>
                  </a:txBody>
                  <a:tcPr anchor="ctr">
                    <a:solidFill>
                      <a:schemeClr val="accent1"/>
                    </a:solidFill>
                  </a:tcPr>
                </a:tc>
                <a:tc rowSpan="2" hMerge="1">
                  <a:txBody>
                    <a:bodyPr/>
                    <a:lstStyle/>
                    <a:p>
                      <a:endParaRPr lang="en-IN"/>
                    </a:p>
                  </a:txBody>
                  <a:tcPr/>
                </a:tc>
                <a:tc rowSpan="2" hMerge="1">
                  <a:txBody>
                    <a:bodyPr/>
                    <a:lstStyle/>
                    <a:p>
                      <a:pPr algn="ctr"/>
                      <a:endParaRPr lang="en-IN" sz="900" dirty="0"/>
                    </a:p>
                  </a:txBody>
                  <a:tcPr anchor="ctr">
                    <a:solidFill>
                      <a:schemeClr val="accent1"/>
                    </a:solidFill>
                  </a:tcPr>
                </a:tc>
                <a:tc rowSpan="2" hMerge="1">
                  <a:txBody>
                    <a:bodyPr/>
                    <a:lstStyle/>
                    <a:p>
                      <a:pPr algn="ctr"/>
                      <a:endParaRPr lang="en-IN" sz="900" dirty="0"/>
                    </a:p>
                  </a:txBody>
                  <a:tcPr anchor="ctr">
                    <a:solidFill>
                      <a:schemeClr val="accent1"/>
                    </a:solidFill>
                  </a:tcPr>
                </a:tc>
              </a:tr>
              <a:tr h="365582">
                <a:tc gridSpan="8" vMerge="1">
                  <a:txBody>
                    <a:bodyPr/>
                    <a:lstStyle/>
                    <a:p>
                      <a:pPr algn="ctr"/>
                      <a:endParaRPr lang="en-IN" sz="9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vMerge="1">
                  <a:txBody>
                    <a:bodyPr/>
                    <a:lstStyle/>
                    <a:p>
                      <a:endParaRPr lang="en-IN"/>
                    </a:p>
                  </a:txBody>
                  <a:tcPr/>
                </a:tc>
                <a:tc hMerge="1" vMerge="1">
                  <a:txBody>
                    <a:bodyPr/>
                    <a:lstStyle/>
                    <a:p>
                      <a:pPr algn="ctr"/>
                      <a:endParaRPr lang="en-IN" sz="9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vMerge="1">
                  <a:txBody>
                    <a:bodyPr/>
                    <a:lstStyle/>
                    <a:p>
                      <a:endParaRPr lang="en-IN"/>
                    </a:p>
                  </a:txBody>
                  <a:tcPr/>
                </a:tc>
                <a:tc hMerge="1" vMerge="1">
                  <a:txBody>
                    <a:bodyPr/>
                    <a:lstStyle/>
                    <a:p>
                      <a:pPr algn="ctr"/>
                      <a:endParaRPr lang="en-IN" sz="9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vMerge="1">
                  <a:txBody>
                    <a:bodyPr/>
                    <a:lstStyle/>
                    <a:p>
                      <a:endParaRPr lang="en-IN"/>
                    </a:p>
                  </a:txBody>
                  <a:tcPr/>
                </a:tc>
                <a:tc hMerge="1" vMerge="1">
                  <a:txBody>
                    <a:bodyPr/>
                    <a:lstStyle/>
                    <a:p>
                      <a:pPr algn="ctr"/>
                      <a:endParaRPr lang="en-IN" sz="9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vMerge="1">
                  <a:txBody>
                    <a:bodyPr/>
                    <a:lstStyle/>
                    <a:p>
                      <a:endParaRPr lang="en-IN"/>
                    </a:p>
                  </a:txBody>
                  <a:tcPr/>
                </a:tc>
                <a:tc grid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hMerge="1">
                  <a:txBody>
                    <a:bodyPr/>
                    <a:lstStyle/>
                    <a:p>
                      <a:pPr algn="ctr"/>
                      <a:endParaRPr lang="en-IN" sz="900" dirty="0"/>
                    </a:p>
                  </a:txBody>
                  <a:tcPr anchor="ctr">
                    <a:solidFill>
                      <a:schemeClr val="accent1"/>
                    </a:solidFill>
                  </a:tcPr>
                </a:tc>
                <a:tc hMerge="1">
                  <a:txBody>
                    <a:bodyPr/>
                    <a:lstStyle/>
                    <a:p>
                      <a:endParaRPr lang="en-IN"/>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6" vMerge="1">
                  <a:txBody>
                    <a:bodyPr/>
                    <a:lstStyle/>
                    <a:p>
                      <a:pPr algn="ctr"/>
                      <a:endParaRPr lang="en-IN" sz="900"/>
                    </a:p>
                  </a:txBody>
                  <a:tcPr anchor="ctr">
                    <a:solidFill>
                      <a:schemeClr val="accent1"/>
                    </a:solidFill>
                  </a:tcPr>
                </a:tc>
                <a:tc hMerge="1" vMerge="1">
                  <a:txBody>
                    <a:bodyPr/>
                    <a:lstStyle/>
                    <a:p>
                      <a:endParaRPr lang="en-IN"/>
                    </a:p>
                  </a:txBody>
                  <a:tcPr/>
                </a:tc>
                <a:tc hMerge="1" vMerge="1">
                  <a:txBody>
                    <a:bodyPr/>
                    <a:lstStyle/>
                    <a:p>
                      <a:pPr algn="ctr"/>
                      <a:endParaRPr lang="en-IN" sz="900"/>
                    </a:p>
                  </a:txBody>
                  <a:tcPr anchor="ctr">
                    <a:solidFill>
                      <a:schemeClr val="accent1"/>
                    </a:solidFill>
                  </a:tcPr>
                </a:tc>
                <a:tc hMerge="1" vMerge="1">
                  <a:txBody>
                    <a:bodyPr/>
                    <a:lstStyle/>
                    <a:p>
                      <a:endParaRPr lang="en-IN"/>
                    </a:p>
                  </a:txBody>
                  <a:tcPr/>
                </a:tc>
                <a:tc hMerge="1" vMerge="1">
                  <a:txBody>
                    <a:bodyPr/>
                    <a:lstStyle/>
                    <a:p>
                      <a:pPr algn="ctr"/>
                      <a:endParaRPr lang="en-IN" sz="900" dirty="0"/>
                    </a:p>
                  </a:txBody>
                  <a:tcPr anchor="ctr">
                    <a:solidFill>
                      <a:schemeClr val="accent1"/>
                    </a:solidFill>
                  </a:tcPr>
                </a:tc>
                <a:tc hMerge="1" vMerge="1">
                  <a:txBody>
                    <a:bodyPr/>
                    <a:lstStyle/>
                    <a:p>
                      <a:pPr algn="ctr"/>
                      <a:endParaRPr lang="en-IN" sz="900" dirty="0"/>
                    </a:p>
                  </a:txBody>
                  <a:tcPr anchor="ctr">
                    <a:solidFill>
                      <a:schemeClr val="accent1"/>
                    </a:solidFill>
                  </a:tcPr>
                </a:tc>
              </a:tr>
              <a:tr h="228489">
                <a:tc gridSpan="4">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no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h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hMerge="1">
                  <a:txBody>
                    <a:bodyPr/>
                    <a:lstStyle/>
                    <a:p>
                      <a:pPr algn="ctr"/>
                      <a:endParaRPr lang="en-IN" sz="900" dirty="0"/>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hMerge="1">
                  <a:txBody>
                    <a:bodyPr/>
                    <a:lstStyle/>
                    <a:p>
                      <a:pPr algn="ctr"/>
                      <a:endParaRPr lang="en-IN" sz="900" dirty="0"/>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2"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2" hMerge="1">
                  <a:txBody>
                    <a:bodyPr/>
                    <a:lstStyle/>
                    <a:p>
                      <a:pPr algn="ctr"/>
                      <a:endParaRPr lang="en-IN" sz="900" dirty="0"/>
                    </a:p>
                  </a:txBody>
                  <a:tcPr anchor="ctr">
                    <a:solidFill>
                      <a:schemeClr val="accent1"/>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229601">
                <a:tc gridSpan="2">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a:endParaRPr lang="en-IN" sz="900" dirty="0"/>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rowSpan="3"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3" hMerge="1">
                  <a:txBody>
                    <a:bodyPr/>
                    <a:lstStyle/>
                    <a:p>
                      <a:endParaRPr lang="en-IN"/>
                    </a:p>
                  </a:txBody>
                  <a:tcPr/>
                </a:tc>
                <a:tc rowSpan="3" hMerge="1">
                  <a:txBody>
                    <a:bodyPr/>
                    <a:lstStyle/>
                    <a:p>
                      <a:pPr algn="ctr"/>
                      <a:endParaRPr lang="en-IN" sz="900" dirty="0"/>
                    </a:p>
                  </a:txBody>
                  <a:tcPr/>
                </a:tc>
                <a:tc gridSpan="2" vMerge="1">
                  <a:txBody>
                    <a:bodyPr/>
                    <a:lstStyle/>
                    <a:p>
                      <a:pPr algn="ctr"/>
                      <a:endParaRPr lang="en-IN" sz="900" dirty="0"/>
                    </a:p>
                  </a:txBody>
                  <a:tcPr anchor="ctr">
                    <a:solidFill>
                      <a:schemeClr val="accent1"/>
                    </a:solidFill>
                  </a:tcPr>
                </a:tc>
                <a:tc hMerge="1" vMerge="1">
                  <a:txBody>
                    <a:bodyPr/>
                    <a:lstStyle/>
                    <a:p>
                      <a:endParaRPr lang="en-IN"/>
                    </a:p>
                  </a:txBody>
                  <a:tcPr/>
                </a:tc>
                <a:tc gridSpan="3" vMerge="1">
                  <a:txBody>
                    <a:bodyPr/>
                    <a:lstStyle/>
                    <a:p>
                      <a:pPr algn="ctr"/>
                      <a:endParaRPr lang="en-IN" sz="900" dirty="0"/>
                    </a:p>
                  </a:txBody>
                  <a:tcPr anchor="ctr">
                    <a:solidFill>
                      <a:schemeClr val="accent1"/>
                    </a:solidFill>
                  </a:tcPr>
                </a:tc>
                <a:tc hMerge="1" vMerge="1">
                  <a:txBody>
                    <a:bodyPr/>
                    <a:lstStyle/>
                    <a:p>
                      <a:endParaRPr lang="en-IN"/>
                    </a:p>
                  </a:txBody>
                  <a:tcPr/>
                </a:tc>
                <a:tc hMerge="1" vMerge="1">
                  <a:txBody>
                    <a:bodyPr/>
                    <a:lstStyle/>
                    <a:p>
                      <a:pPr algn="ctr"/>
                      <a:endParaRPr lang="en-IN" sz="900" dirty="0"/>
                    </a:p>
                  </a:txBody>
                  <a:tcPr/>
                </a:tc>
                <a:tc rowSpan="6">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229601">
                <a:tc rowSpan="5">
                  <a:txBody>
                    <a:bodyPr/>
                    <a:lstStyle/>
                    <a:p>
                      <a:pPr marL="0" marR="0" indent="0" algn="ctr" defTabSz="457200" rtl="0" eaLnBrk="1" fontAlgn="auto" latinLnBrk="0" hangingPunct="1">
                        <a:lnSpc>
                          <a:spcPct val="100000"/>
                        </a:lnSpc>
                        <a:spcBef>
                          <a:spcPts val="0"/>
                        </a:spcBef>
                        <a:spcAft>
                          <a:spcPts val="0"/>
                        </a:spcAft>
                        <a:buClrTx/>
                        <a:buSzTx/>
                        <a:buFontTx/>
                        <a:buNone/>
                        <a:tabLst/>
                        <a:defRPr/>
                      </a:pPr>
                      <a:endParaRPr lang="en-IN" sz="900" b="0" dirty="0" smtClean="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lumMod val="95000"/>
                      </a:schemeClr>
                    </a:solidFill>
                  </a:tcPr>
                </a:tc>
                <a:tc rowSpan="5">
                  <a:txBody>
                    <a:bodyPr/>
                    <a:lstStyle/>
                    <a:p>
                      <a:pPr marL="0" marR="0" indent="0" algn="ctr" defTabSz="457200" rtl="0" eaLnBrk="1" fontAlgn="auto" latinLnBrk="0" hangingPunct="1">
                        <a:lnSpc>
                          <a:spcPct val="100000"/>
                        </a:lnSpc>
                        <a:spcBef>
                          <a:spcPts val="0"/>
                        </a:spcBef>
                        <a:spcAft>
                          <a:spcPts val="0"/>
                        </a:spcAft>
                        <a:buClrTx/>
                        <a:buSzTx/>
                        <a:buFontTx/>
                        <a:buNone/>
                        <a:tabLst/>
                        <a:defRPr/>
                      </a:pP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vMerge="1">
                  <a:txBody>
                    <a:bodyPr/>
                    <a:lstStyle/>
                    <a:p>
                      <a:pPr algn="ctr"/>
                      <a:endParaRPr lang="en-IN" sz="900" dirty="0"/>
                    </a:p>
                  </a:txBody>
                  <a:tcPr/>
                </a:tc>
                <a:tc hMerge="1" vMerge="1">
                  <a:txBody>
                    <a:bodyPr/>
                    <a:lstStyle/>
                    <a:p>
                      <a:endParaRPr lang="en-IN"/>
                    </a:p>
                  </a:txBody>
                  <a:tcPr/>
                </a:tc>
                <a:tc gridSpan="2" vMerge="1">
                  <a:txBody>
                    <a:bodyPr/>
                    <a:lstStyle/>
                    <a:p>
                      <a:pPr algn="ctr"/>
                      <a:endParaRPr lang="en-IN" sz="900" dirty="0"/>
                    </a:p>
                  </a:txBody>
                  <a:tcPr/>
                </a:tc>
                <a:tc hMerge="1" v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gridSpan="3" vMerge="1">
                  <a:txBody>
                    <a:bodyPr/>
                    <a:lstStyle/>
                    <a:p>
                      <a:pPr algn="ct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vMerge="1">
                  <a:txBody>
                    <a:bodyPr/>
                    <a:lstStyle/>
                    <a:p>
                      <a:endParaRPr lang="en-IN"/>
                    </a:p>
                  </a:txBody>
                  <a:tcPr/>
                </a:tc>
                <a:tc hMerge="1"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rowSpan="2" grid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2" hMerge="1">
                  <a:txBody>
                    <a:bodyPr/>
                    <a:lstStyle/>
                    <a:p>
                      <a:pPr algn="ctr"/>
                      <a:endParaRPr lang="en-IN" sz="900" dirty="0"/>
                    </a:p>
                  </a:txBody>
                  <a:tcPr/>
                </a:tc>
                <a:tc rowSpan="2" hMerge="1">
                  <a:txBody>
                    <a:bodyPr/>
                    <a:lstStyle/>
                    <a:p>
                      <a:endParaRPr lang="en-IN"/>
                    </a:p>
                  </a:txBody>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pPr algn="ctr"/>
                      <a:endParaRPr lang="en-IN" sz="900" dirty="0"/>
                    </a:p>
                  </a:txBody>
                  <a:tcPr anchor="ctr">
                    <a:solidFill>
                      <a:schemeClr val="accent1"/>
                    </a:solidFill>
                  </a:tcPr>
                </a:tc>
              </a:tr>
              <a:tr h="123401">
                <a:tc vMerge="1">
                  <a:txBody>
                    <a:bodyPr/>
                    <a:lstStyle/>
                    <a:p>
                      <a:pPr marL="0" marR="0" indent="0" algn="ctr" defTabSz="457200" rtl="0" eaLnBrk="1" fontAlgn="auto" latinLnBrk="0" hangingPunct="1">
                        <a:lnSpc>
                          <a:spcPct val="100000"/>
                        </a:lnSpc>
                        <a:spcBef>
                          <a:spcPts val="0"/>
                        </a:spcBef>
                        <a:spcAft>
                          <a:spcPts val="0"/>
                        </a:spcAft>
                        <a:buClrTx/>
                        <a:buSzTx/>
                        <a:buFontTx/>
                        <a:buNone/>
                        <a:tabLst/>
                        <a:defRPr/>
                      </a:pPr>
                      <a:endParaRPr lang="en-IN" sz="900" dirty="0" smtClean="0"/>
                    </a:p>
                  </a:txBody>
                  <a:tcPr/>
                </a:tc>
                <a:tc vMerge="1">
                  <a:txBody>
                    <a:bodyPr/>
                    <a:lstStyle/>
                    <a:p>
                      <a:pPr marL="0" marR="0" indent="0" algn="ctr" defTabSz="457200" rtl="0" eaLnBrk="1" fontAlgn="auto" latinLnBrk="0" hangingPunct="1">
                        <a:lnSpc>
                          <a:spcPct val="100000"/>
                        </a:lnSpc>
                        <a:spcBef>
                          <a:spcPts val="0"/>
                        </a:spcBef>
                        <a:spcAft>
                          <a:spcPts val="0"/>
                        </a:spcAft>
                        <a:buClrTx/>
                        <a:buSzTx/>
                        <a:buFontTx/>
                        <a:buNone/>
                        <a:tabLst/>
                        <a:defRPr/>
                      </a:pPr>
                      <a:endParaRPr lang="en-IN" sz="900" dirty="0" smtClean="0"/>
                    </a:p>
                  </a:txBody>
                  <a:tcPr/>
                </a:tc>
                <a:tc rowSpan="4" grid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4" hMerge="1">
                  <a:txBody>
                    <a:bodyPr/>
                    <a:lstStyle/>
                    <a:p>
                      <a:endParaRPr lang="en-IN"/>
                    </a:p>
                  </a:txBody>
                  <a:tcPr/>
                </a:tc>
                <a:tc rowSpan="4" hMerge="1">
                  <a:txBody>
                    <a:bodyPr/>
                    <a:lstStyle/>
                    <a:p>
                      <a:pPr algn="ctr"/>
                      <a:endParaRPr lang="en-IN" sz="900" dirty="0" smtClean="0"/>
                    </a:p>
                  </a:txBody>
                  <a:tcPr/>
                </a:tc>
                <a:tc rowSpan="4" hMerge="1">
                  <a:txBody>
                    <a:bodyPr/>
                    <a:lstStyle/>
                    <a:p>
                      <a:endParaRPr lang="en-IN"/>
                    </a:p>
                  </a:txBody>
                  <a:tcPr/>
                </a:tc>
                <a:tc rowSpan="2" gridSpan="2">
                  <a:txBody>
                    <a:bodyPr/>
                    <a:lstStyle/>
                    <a:p>
                      <a:pPr marL="0" marR="0" indent="0" algn="ctr" defTabSz="457200" rtl="0" eaLnBrk="1" fontAlgn="auto" latinLnBrk="0" hangingPunct="1">
                        <a:lnSpc>
                          <a:spcPct val="100000"/>
                        </a:lnSpc>
                        <a:spcBef>
                          <a:spcPts val="0"/>
                        </a:spcBef>
                        <a:spcAft>
                          <a:spcPts val="0"/>
                        </a:spcAft>
                        <a:buClrTx/>
                        <a:buSzTx/>
                        <a:buFontTx/>
                        <a:buNone/>
                        <a:tabLst/>
                        <a:defRPr/>
                      </a:pP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4"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4" hMerge="1">
                  <a:txBody>
                    <a:bodyPr/>
                    <a:lstStyle/>
                    <a:p>
                      <a:endParaRPr lang="en-IN"/>
                    </a:p>
                  </a:txBody>
                  <a:tcPr/>
                </a:tc>
                <a:tc gridSpan="3" vMerge="1">
                  <a:txBody>
                    <a:bodyPr/>
                    <a:lstStyle/>
                    <a:p>
                      <a:pPr algn="ctr"/>
                      <a:endParaRPr lang="en-IN" sz="900" b="0" dirty="0">
                        <a:solidFill>
                          <a:schemeClr val="tx1"/>
                        </a:solidFill>
                      </a:endParaRPr>
                    </a:p>
                  </a:txBody>
                  <a:tcPr/>
                </a:tc>
                <a:tc hMerge="1" vMerge="1">
                  <a:txBody>
                    <a:bodyPr/>
                    <a:lstStyle/>
                    <a:p>
                      <a:endParaRPr lang="en-IN"/>
                    </a:p>
                  </a:txBody>
                  <a:tcPr/>
                </a:tc>
                <a:tc hMerge="1"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gridSpan="4"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vMerge="1">
                  <a:txBody>
                    <a:bodyPr/>
                    <a:lstStyle/>
                    <a:p>
                      <a:endParaRPr lang="en-IN"/>
                    </a:p>
                  </a:txBody>
                  <a:tcPr/>
                </a:tc>
                <a:tc hMerge="1"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vMerge="1">
                  <a:txBody>
                    <a:bodyPr/>
                    <a:lstStyle/>
                    <a:p>
                      <a:endParaRPr lang="en-IN"/>
                    </a:p>
                  </a:txBody>
                  <a:tcPr/>
                </a:tc>
                <a:tc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pPr algn="ctr"/>
                      <a:endParaRPr lang="en-IN" sz="900" dirty="0"/>
                    </a:p>
                  </a:txBody>
                  <a:tcPr anchor="ctr">
                    <a:solidFill>
                      <a:schemeClr val="accent1"/>
                    </a:solidFill>
                  </a:tcPr>
                </a:tc>
              </a:tr>
              <a:tr h="105088">
                <a:tc vMerge="1">
                  <a:txBody>
                    <a:bodyPr/>
                    <a:lstStyle/>
                    <a:p>
                      <a:endParaRPr lang="en-IN"/>
                    </a:p>
                  </a:txBody>
                  <a:tcPr/>
                </a:tc>
                <a:tc vMerge="1">
                  <a:txBody>
                    <a:bodyPr/>
                    <a:lstStyle/>
                    <a:p>
                      <a:endParaRPr lang="en-IN"/>
                    </a:p>
                  </a:txBody>
                  <a:tcPr/>
                </a:tc>
                <a:tc gridSpan="4" vMerge="1">
                  <a:txBody>
                    <a:bodyPr/>
                    <a:lstStyle/>
                    <a:p>
                      <a:endParaRPr lang="en-IN"/>
                    </a:p>
                  </a:txBody>
                  <a:tcPr/>
                </a:tc>
                <a:tc hMerge="1" vMerge="1">
                  <a:txBody>
                    <a:bodyPr/>
                    <a:lstStyle/>
                    <a:p>
                      <a:endParaRPr lang="en-IN"/>
                    </a:p>
                  </a:txBody>
                  <a:tcPr/>
                </a:tc>
                <a:tc hMerge="1" vMerge="1">
                  <a:txBody>
                    <a:bodyPr/>
                    <a:lstStyle/>
                    <a:p>
                      <a:endParaRPr lang="en-IN"/>
                    </a:p>
                  </a:txBody>
                  <a:tcPr/>
                </a:tc>
                <a:tc hMerge="1" vMerge="1">
                  <a:txBody>
                    <a:bodyPr/>
                    <a:lstStyle/>
                    <a:p>
                      <a:endParaRPr lang="en-IN"/>
                    </a:p>
                  </a:txBody>
                  <a:tcPr/>
                </a:tc>
                <a:tc gridSpan="2" vMerge="1">
                  <a:txBody>
                    <a:bodyPr/>
                    <a:lstStyle/>
                    <a:p>
                      <a:endParaRPr lang="en-IN"/>
                    </a:p>
                  </a:txBody>
                  <a:tcPr/>
                </a:tc>
                <a:tc hMerge="1" vMerge="1">
                  <a:txBody>
                    <a:bodyPr/>
                    <a:lstStyle/>
                    <a:p>
                      <a:endParaRPr lang="en-IN"/>
                    </a:p>
                  </a:txBody>
                  <a:tcPr/>
                </a:tc>
                <a:tc gridSpan="2" vMerge="1">
                  <a:txBody>
                    <a:bodyPr/>
                    <a:lstStyle/>
                    <a:p>
                      <a:endParaRPr lang="en-IN"/>
                    </a:p>
                  </a:txBody>
                  <a:tcPr/>
                </a:tc>
                <a:tc hMerge="1" vMerge="1">
                  <a:txBody>
                    <a:bodyPr/>
                    <a:lstStyle/>
                    <a:p>
                      <a:endParaRPr lang="en-IN"/>
                    </a:p>
                  </a:txBody>
                  <a:tcPr/>
                </a:tc>
                <a:tc rowSpan="3" gridSpan="2">
                  <a:txBody>
                    <a:bodyPr/>
                    <a:lstStyle/>
                    <a:p>
                      <a:pPr marL="0" marR="0" indent="0" algn="ctr" defTabSz="457200" rtl="0" eaLnBrk="1" fontAlgn="auto" latinLnBrk="0" hangingPunct="1">
                        <a:lnSpc>
                          <a:spcPct val="100000"/>
                        </a:lnSpc>
                        <a:spcBef>
                          <a:spcPts val="0"/>
                        </a:spcBef>
                        <a:spcAft>
                          <a:spcPts val="0"/>
                        </a:spcAft>
                        <a:buClrTx/>
                        <a:buSzTx/>
                        <a:buFontTx/>
                        <a:buNone/>
                        <a:tabLst/>
                        <a:defRPr/>
                      </a:pP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3" hMerge="1">
                  <a:txBody>
                    <a:bodyPr/>
                    <a:lstStyle/>
                    <a:p>
                      <a:endParaRPr lang="en-IN"/>
                    </a:p>
                  </a:txBody>
                  <a:tcPr/>
                </a:tc>
                <a:tc row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endParaRPr lang="en-IN"/>
                    </a:p>
                  </a:txBody>
                  <a:tcPr/>
                </a:tc>
              </a:tr>
              <a:tr h="260494">
                <a:tc vMerge="1">
                  <a:txBody>
                    <a:bodyPr/>
                    <a:lstStyle/>
                    <a:p>
                      <a:endParaRPr lang="en-IN"/>
                    </a:p>
                  </a:txBody>
                  <a:tcPr/>
                </a:tc>
                <a:tc vMerge="1">
                  <a:txBody>
                    <a:bodyPr/>
                    <a:lstStyle/>
                    <a:p>
                      <a:endParaRPr lang="en-IN"/>
                    </a:p>
                  </a:txBody>
                  <a:tcPr/>
                </a:tc>
                <a:tc gridSpan="4" vMerge="1">
                  <a:txBody>
                    <a:bodyPr/>
                    <a:lstStyle/>
                    <a:p>
                      <a:endParaRPr lang="en-IN"/>
                    </a:p>
                  </a:txBody>
                  <a:tcPr/>
                </a:tc>
                <a:tc hMerge="1" vMerge="1">
                  <a:txBody>
                    <a:bodyPr/>
                    <a:lstStyle/>
                    <a:p>
                      <a:endParaRPr lang="en-IN"/>
                    </a:p>
                  </a:txBody>
                  <a:tcPr/>
                </a:tc>
                <a:tc hMerge="1" vMerge="1">
                  <a:txBody>
                    <a:bodyPr/>
                    <a:lstStyle/>
                    <a:p>
                      <a:endParaRPr lang="en-IN"/>
                    </a:p>
                  </a:txBody>
                  <a:tcPr/>
                </a:tc>
                <a:tc hMerge="1" vMerge="1">
                  <a:txBody>
                    <a:bodyPr/>
                    <a:lstStyle/>
                    <a:p>
                      <a:endParaRPr lang="en-IN"/>
                    </a:p>
                  </a:txBody>
                  <a:tcPr/>
                </a:tc>
                <a:tc rowSpan="2" gridSpan="2">
                  <a:txBody>
                    <a:bodyPr/>
                    <a:lstStyle/>
                    <a:p>
                      <a:pPr algn="ct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gridSpan="2" vMerge="1">
                  <a:txBody>
                    <a:bodyPr/>
                    <a:lstStyle/>
                    <a:p>
                      <a:endParaRPr lang="en-IN"/>
                    </a:p>
                  </a:txBody>
                  <a:tcPr/>
                </a:tc>
                <a:tc hMerge="1" vMerge="1">
                  <a:txBody>
                    <a:bodyPr/>
                    <a:lstStyle/>
                    <a:p>
                      <a:endParaRPr lang="en-IN"/>
                    </a:p>
                  </a:txBody>
                  <a:tcPr/>
                </a:tc>
                <a:tc gridSpan="2" vMerge="1">
                  <a:txBody>
                    <a:bodyPr/>
                    <a:lstStyle/>
                    <a:p>
                      <a:endParaRPr lang="en-IN"/>
                    </a:p>
                  </a:txBody>
                  <a:tcPr/>
                </a:tc>
                <a:tc hMerge="1" vMerge="1">
                  <a:txBody>
                    <a:bodyPr/>
                    <a:lstStyle/>
                    <a:p>
                      <a:endParaRPr lang="en-IN"/>
                    </a:p>
                  </a:txBody>
                  <a:tcPr/>
                </a:tc>
                <a:tc vMerge="1">
                  <a:txBody>
                    <a:bodyPr/>
                    <a:lstStyle/>
                    <a:p>
                      <a:endParaRPr lang="en-IN"/>
                    </a:p>
                  </a:txBody>
                  <a:tcPr/>
                </a:tc>
                <a:tc gridSpan="2" vMerge="1">
                  <a:txBody>
                    <a:bodyPr/>
                    <a:lstStyle/>
                    <a:p>
                      <a:endParaRPr lang="en-IN"/>
                    </a:p>
                  </a:txBody>
                  <a:tcPr/>
                </a:tc>
                <a:tc hMerge="1" vMerge="1">
                  <a:txBody>
                    <a:bodyPr/>
                    <a:lstStyle/>
                    <a:p>
                      <a:endParaRPr lang="en-IN"/>
                    </a:p>
                  </a:txBody>
                  <a:tcPr/>
                </a:tc>
                <a:tc gridSpan="2" vMerge="1">
                  <a:txBody>
                    <a:bodyPr/>
                    <a:lstStyle/>
                    <a:p>
                      <a:endParaRPr lang="en-IN"/>
                    </a:p>
                  </a:txBody>
                  <a:tcPr/>
                </a:tc>
                <a:tc hMerge="1" vMerge="1">
                  <a:txBody>
                    <a:bodyPr/>
                    <a:lstStyle/>
                    <a:p>
                      <a:endParaRPr lang="en-IN"/>
                    </a:p>
                  </a:txBody>
                  <a:tcPr/>
                </a:tc>
                <a:tc vMerge="1">
                  <a:txBody>
                    <a:bodyPr/>
                    <a:lstStyle/>
                    <a:p>
                      <a:endParaRPr lang="en-IN"/>
                    </a:p>
                  </a:txBody>
                  <a:tcPr/>
                </a:tc>
                <a:tc vMerge="1">
                  <a:txBody>
                    <a:bodyPr/>
                    <a:lstStyle/>
                    <a:p>
                      <a:endParaRPr lang="en-IN"/>
                    </a:p>
                  </a:txBody>
                  <a:tcPr/>
                </a:tc>
              </a:tr>
              <a:tr h="0">
                <a:tc vMerge="1">
                  <a:txBody>
                    <a:bodyPr/>
                    <a:lstStyle/>
                    <a:p>
                      <a:endParaRPr lang="en-IN"/>
                    </a:p>
                  </a:txBody>
                  <a:tcPr/>
                </a:tc>
                <a:tc vMerge="1">
                  <a:txBody>
                    <a:bodyPr/>
                    <a:lstStyle/>
                    <a:p>
                      <a:endParaRPr lang="en-IN"/>
                    </a:p>
                  </a:txBody>
                  <a:tcPr/>
                </a:tc>
                <a:tc gridSpan="4" vMerge="1">
                  <a:txBody>
                    <a:bodyPr/>
                    <a:lstStyle/>
                    <a:p>
                      <a:endParaRPr lang="en-IN"/>
                    </a:p>
                  </a:txBody>
                  <a:tcPr/>
                </a:tc>
                <a:tc hMerge="1" vMerge="1">
                  <a:txBody>
                    <a:bodyPr/>
                    <a:lstStyle/>
                    <a:p>
                      <a:endParaRPr lang="en-IN"/>
                    </a:p>
                  </a:txBody>
                  <a:tcPr/>
                </a:tc>
                <a:tc hMerge="1" vMerge="1">
                  <a:txBody>
                    <a:bodyPr/>
                    <a:lstStyle/>
                    <a:p>
                      <a:endParaRPr lang="en-IN"/>
                    </a:p>
                  </a:txBody>
                  <a:tcPr/>
                </a:tc>
                <a:tc hMerge="1" vMerge="1">
                  <a:txBody>
                    <a:bodyPr/>
                    <a:lstStyle/>
                    <a:p>
                      <a:endParaRPr lang="en-IN"/>
                    </a:p>
                  </a:txBody>
                  <a:tcPr/>
                </a:tc>
                <a:tc gridSpan="2" vMerge="1">
                  <a:txBody>
                    <a:bodyPr/>
                    <a:lstStyle/>
                    <a:p>
                      <a:endParaRPr lang="en-IN"/>
                    </a:p>
                  </a:txBody>
                  <a:tcPr/>
                </a:tc>
                <a:tc hMerge="1" vMerge="1">
                  <a:txBody>
                    <a:bodyPr/>
                    <a:lstStyle/>
                    <a:p>
                      <a:endParaRPr lang="en-IN"/>
                    </a:p>
                  </a:txBody>
                  <a:tcPr/>
                </a:tc>
                <a:tc gridSpan="2" vMerge="1">
                  <a:txBody>
                    <a:bodyPr/>
                    <a:lstStyle/>
                    <a:p>
                      <a:endParaRPr lang="en-IN"/>
                    </a:p>
                  </a:txBody>
                  <a:tcPr/>
                </a:tc>
                <a:tc hMerge="1" vMerge="1">
                  <a:txBody>
                    <a:bodyPr/>
                    <a:lstStyle/>
                    <a:p>
                      <a:endParaRPr lang="en-IN"/>
                    </a:p>
                  </a:txBody>
                  <a:tcPr/>
                </a:tc>
                <a:tc gridSpan="2" vMerge="1">
                  <a:txBody>
                    <a:bodyPr/>
                    <a:lstStyle/>
                    <a:p>
                      <a:endParaRPr lang="en-IN"/>
                    </a:p>
                  </a:txBody>
                  <a:tcPr/>
                </a:tc>
                <a:tc hMerge="1" vMerge="1">
                  <a:txBody>
                    <a:bodyPr/>
                    <a:lstStyle/>
                    <a:p>
                      <a:endParaRPr lang="en-IN"/>
                    </a:p>
                  </a:txBody>
                  <a:tcPr/>
                </a:tc>
                <a:tc vMerge="1">
                  <a:txBody>
                    <a:bodyPr/>
                    <a:lstStyle/>
                    <a:p>
                      <a:endParaRPr lang="en-IN"/>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4"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4" hMerge="1">
                  <a:txBody>
                    <a:bodyPr/>
                    <a:lstStyle/>
                    <a:p>
                      <a:endParaRPr lang="en-IN"/>
                    </a:p>
                  </a:txBody>
                  <a:tcPr/>
                </a:tc>
                <a:tc vMerge="1">
                  <a:txBody>
                    <a:bodyPr/>
                    <a:lstStyle/>
                    <a:p>
                      <a:endParaRPr lang="en-IN"/>
                    </a:p>
                  </a:txBody>
                  <a:tcPr/>
                </a:tc>
                <a:tc vMerge="1">
                  <a:txBody>
                    <a:bodyPr/>
                    <a:lstStyle/>
                    <a:p>
                      <a:endParaRPr lang="en-IN"/>
                    </a:p>
                  </a:txBody>
                  <a:tcPr/>
                </a:tc>
              </a:tr>
              <a:tr h="269409">
                <a:tc>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lumMod val="95000"/>
                      </a:schemeClr>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a:endParaRPr lang="en-IN" sz="900" dirty="0"/>
                    </a:p>
                  </a:txBody>
                  <a:tcPr/>
                </a:tc>
                <a:tc hMerge="1">
                  <a:txBody>
                    <a:bodyPr/>
                    <a:lstStyle/>
                    <a:p>
                      <a:pPr algn="ctr"/>
                      <a:endParaRPr lang="en-IN" sz="900" dirty="0"/>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vMerge="1">
                  <a:txBody>
                    <a:bodyPr/>
                    <a:lstStyle/>
                    <a:p>
                      <a:pPr algn="ctr"/>
                      <a:endParaRPr lang="en-IN" sz="900" dirty="0"/>
                    </a:p>
                  </a:txBody>
                  <a:tcPr/>
                </a:tc>
                <a:tc gridSpan="2" vMerge="1">
                  <a:txBody>
                    <a:bodyPr/>
                    <a:lstStyle/>
                    <a:p>
                      <a:pPr algn="ctr"/>
                      <a:endParaRPr lang="en-IN" sz="900" dirty="0"/>
                    </a:p>
                  </a:txBody>
                  <a:tcPr/>
                </a:tc>
                <a:tc hMerge="1" vMerge="1">
                  <a:txBody>
                    <a:bodyPr/>
                    <a:lstStyle/>
                    <a:p>
                      <a:endParaRPr lang="en-IN"/>
                    </a:p>
                  </a:txBody>
                  <a:tcPr/>
                </a:tc>
                <a:tc gridSpan="2" vMerge="1">
                  <a:txBody>
                    <a:bodyPr/>
                    <a:lstStyle/>
                    <a:p>
                      <a:pPr algn="ctr"/>
                      <a:endParaRPr lang="en-IN" sz="900" dirty="0"/>
                    </a:p>
                  </a:txBody>
                  <a:tcPr/>
                </a:tc>
                <a:tc hMerge="1" vMerge="1">
                  <a:txBody>
                    <a:bodyPr/>
                    <a:lstStyle/>
                    <a:p>
                      <a:endParaRPr lang="en-IN"/>
                    </a:p>
                  </a:txBody>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0">
                <a:tc rowSpan="2" gridSpan="2">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vMerge="1">
                  <a:txBody>
                    <a:bodyPr/>
                    <a:lstStyle/>
                    <a:p>
                      <a:endParaRPr lang="en-IN"/>
                    </a:p>
                  </a:txBody>
                  <a:tcPr/>
                </a:tc>
                <a:tc hMerge="1" vMerge="1">
                  <a:txBody>
                    <a:bodyPr/>
                    <a:lstStyle/>
                    <a:p>
                      <a:endParaRPr lang="en-IN"/>
                    </a:p>
                  </a:txBody>
                  <a:tcPr/>
                </a:tc>
                <a:tc vMerge="1">
                  <a:txBody>
                    <a:bodyPr/>
                    <a:lstStyle/>
                    <a:p>
                      <a:endParaRPr lang="en-IN"/>
                    </a:p>
                  </a:txBody>
                  <a:tcPr/>
                </a:tc>
                <a:tc vMerge="1">
                  <a:txBody>
                    <a:bodyPr/>
                    <a:lstStyle/>
                    <a:p>
                      <a:endParaRPr lang="en-IN"/>
                    </a:p>
                  </a:txBody>
                  <a:tcPr/>
                </a:tc>
              </a:tr>
              <a:tr h="365582">
                <a:tc gridSpan="2" vMerge="1">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vMerge="1">
                  <a:txBody>
                    <a:bodyPr/>
                    <a:lstStyle/>
                    <a:p>
                      <a:endParaRPr lang="en-IN"/>
                    </a:p>
                  </a:txBody>
                  <a:tcPr/>
                </a:tc>
                <a:tc gridSpan="2"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hMerge="1" vMerge="1">
                  <a:txBody>
                    <a:bodyPr/>
                    <a:lstStyle/>
                    <a:p>
                      <a:endParaRPr lang="en-IN"/>
                    </a:p>
                  </a:txBody>
                  <a:tcPr/>
                </a:tc>
                <a:tc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gridSpan="2"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vMerge="1">
                  <a:txBody>
                    <a:bodyPr/>
                    <a:lstStyle/>
                    <a:p>
                      <a:endParaRPr lang="en-IN"/>
                    </a:p>
                  </a:txBody>
                  <a:tcPr/>
                </a:tc>
                <a:tc gridSpan="2"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vMerge="1">
                  <a:txBody>
                    <a:bodyPr/>
                    <a:lstStyle/>
                    <a:p>
                      <a:endParaRPr lang="en-IN"/>
                    </a:p>
                  </a:txBody>
                  <a:tcPr/>
                </a:tc>
                <a:tc gridSpan="2"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vMerge="1">
                  <a:txBody>
                    <a:bodyPr/>
                    <a:lstStyle/>
                    <a:p>
                      <a:pPr algn="ctr"/>
                      <a:endParaRPr lang="en-IN" sz="900" dirty="0"/>
                    </a:p>
                  </a:txBody>
                  <a:tcPr/>
                </a:tc>
                <a:tc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vMerge="1">
                  <a:txBody>
                    <a:bodyPr/>
                    <a:lstStyle/>
                    <a:p>
                      <a:pPr algn="ctr"/>
                      <a:endParaRPr lang="en-IN" sz="900" dirty="0"/>
                    </a:p>
                  </a:txBody>
                  <a:tcPr/>
                </a:tc>
                <a:tc hMerge="1" vMerge="1">
                  <a:txBody>
                    <a:bodyPr/>
                    <a:lstStyle/>
                    <a:p>
                      <a:endParaRPr lang="en-IN"/>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373543">
                <a:tc rowSpan="4">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lumMod val="95000"/>
                      </a:schemeClr>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gridSpan="2">
                  <a:txBody>
                    <a:bodyPr/>
                    <a:lstStyle/>
                    <a:p>
                      <a:pPr algn="ct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pPr algn="ctr"/>
                      <a:endParaRPr lang="en-IN" sz="900" dirty="0"/>
                    </a:p>
                  </a:txBody>
                  <a:tcPr/>
                </a:tc>
                <a:tc rowSpan="2" gridSpan="2">
                  <a:txBody>
                    <a:bodyPr/>
                    <a:lstStyle/>
                    <a:p>
                      <a:pPr algn="ct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pPr algn="ctr"/>
                      <a:endParaRPr lang="en-IN" sz="900" dirty="0"/>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a:txBody>
                    <a:bodyPr/>
                    <a:lstStyle/>
                    <a:p>
                      <a:pPr algn="ct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r>
              <a:tr h="229601">
                <a:tc vMerge="1">
                  <a:txBody>
                    <a:bodyPr/>
                    <a:lstStyle/>
                    <a:p>
                      <a:pPr algn="ctr"/>
                      <a:endParaRPr lang="en-IN" sz="9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vMerge="1">
                  <a:txBody>
                    <a:bodyPr/>
                    <a:lstStyle/>
                    <a:p>
                      <a:pPr algn="ctr"/>
                      <a:endParaRPr lang="en-IN" sz="900" dirty="0" smtClean="0"/>
                    </a:p>
                  </a:txBody>
                  <a:tcPr/>
                </a:tc>
                <a:tc hMerge="1" vMerge="1">
                  <a:txBody>
                    <a:bodyPr/>
                    <a:lstStyle/>
                    <a:p>
                      <a:endParaRPr lang="en-IN"/>
                    </a:p>
                  </a:txBody>
                  <a:tcPr/>
                </a:tc>
                <a:tc gridSpan="2" vMerge="1">
                  <a:txBody>
                    <a:bodyPr/>
                    <a:lstStyle/>
                    <a:p>
                      <a:pPr algn="ctr"/>
                      <a:endParaRPr lang="en-IN" sz="900" dirty="0"/>
                    </a:p>
                  </a:txBody>
                  <a:tcPr/>
                </a:tc>
                <a:tc hMerge="1" vMerge="1">
                  <a:txBody>
                    <a:bodyPr/>
                    <a:lstStyle/>
                    <a:p>
                      <a:endParaRPr lang="en-IN"/>
                    </a:p>
                  </a:txBody>
                  <a:tcPr/>
                </a:tc>
                <a:tc rowSpan="3"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3" hMerge="1">
                  <a:txBody>
                    <a:bodyPr/>
                    <a:lstStyle/>
                    <a:p>
                      <a:endParaRPr lang="en-IN"/>
                    </a:p>
                  </a:txBody>
                  <a:tcPr/>
                </a:tc>
                <a:tc gridSpan="2">
                  <a:txBody>
                    <a:bodyPr/>
                    <a:lstStyle/>
                    <a:p>
                      <a:pPr algn="ct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a:endParaRPr lang="en-IN" sz="900" dirty="0"/>
                    </a:p>
                  </a:txBody>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228489">
                <a:tc vMerge="1">
                  <a:txBody>
                    <a:bodyPr/>
                    <a:lstStyle/>
                    <a:p>
                      <a:pPr algn="ctr"/>
                      <a:endParaRPr lang="en-IN" sz="9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vMerge="1">
                  <a:txBody>
                    <a:bodyPr/>
                    <a:lstStyle/>
                    <a:p>
                      <a:pPr algn="ctr"/>
                      <a:endParaRPr lang="en-IN" sz="9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grid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2" hMerge="1">
                  <a:txBody>
                    <a:bodyPr/>
                    <a:lstStyle/>
                    <a:p>
                      <a:pPr algn="ctr"/>
                      <a:endParaRPr lang="en-IN" sz="900" dirty="0"/>
                    </a:p>
                  </a:txBody>
                  <a:tcPr/>
                </a:tc>
                <a:tc rowSpan="2" hMerge="1">
                  <a:txBody>
                    <a:bodyPr/>
                    <a:lstStyle/>
                    <a:p>
                      <a:endParaRPr lang="en-IN"/>
                    </a:p>
                  </a:txBody>
                  <a:tcPr/>
                </a:tc>
                <a:tc gridSpan="2" vMerge="1">
                  <a:txBody>
                    <a:bodyPr/>
                    <a:lstStyle/>
                    <a:p>
                      <a:pPr algn="ctr"/>
                      <a:endParaRPr lang="en-IN" sz="900" dirty="0"/>
                    </a:p>
                  </a:txBody>
                  <a:tcPr/>
                </a:tc>
                <a:tc hMerge="1" v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row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4"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4" hMerge="1">
                  <a:txBody>
                    <a:bodyPr/>
                    <a:lstStyle/>
                    <a:p>
                      <a:endParaRPr lang="en-IN"/>
                    </a:p>
                  </a:txBody>
                  <a:tcPr/>
                </a:tc>
                <a:tc row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pPr algn="ctr"/>
                      <a:endParaRPr lang="en-IN" sz="900" dirty="0"/>
                    </a:p>
                  </a:txBody>
                  <a:tcPr/>
                </a:tc>
              </a:tr>
              <a:tr h="228489">
                <a:tc vMerge="1">
                  <a:txBody>
                    <a:bodyPr/>
                    <a:lstStyle/>
                    <a:p>
                      <a:endParaRPr lang="en-IN"/>
                    </a:p>
                  </a:txBody>
                  <a:tcPr/>
                </a:tc>
                <a:tc vMerge="1">
                  <a:txBody>
                    <a:bodyPr/>
                    <a:lstStyle/>
                    <a:p>
                      <a:endParaRPr lang="en-IN"/>
                    </a:p>
                  </a:txBody>
                  <a:tcPr/>
                </a:tc>
                <a:tc gridSpan="4" vMerge="1">
                  <a:txBody>
                    <a:bodyPr/>
                    <a:lstStyle/>
                    <a:p>
                      <a:endParaRPr lang="en-IN"/>
                    </a:p>
                  </a:txBody>
                  <a:tcPr/>
                </a:tc>
                <a:tc hMerge="1" vMerge="1">
                  <a:txBody>
                    <a:bodyPr/>
                    <a:lstStyle/>
                    <a:p>
                      <a:endParaRPr lang="en-IN"/>
                    </a:p>
                  </a:txBody>
                  <a:tcPr/>
                </a:tc>
                <a:tc hMerge="1" vMerge="1">
                  <a:txBody>
                    <a:bodyPr/>
                    <a:lstStyle/>
                    <a:p>
                      <a:endParaRPr lang="en-IN"/>
                    </a:p>
                  </a:txBody>
                  <a:tcPr/>
                </a:tc>
                <a:tc hMerge="1" vMerge="1">
                  <a:txBody>
                    <a:bodyPr/>
                    <a:lstStyle/>
                    <a:p>
                      <a:endParaRPr lang="en-IN"/>
                    </a:p>
                  </a:txBody>
                  <a:tcPr/>
                </a:tc>
                <a:tc gridSpan="2" vMerge="1">
                  <a:txBody>
                    <a:bodyPr/>
                    <a:lstStyle/>
                    <a:p>
                      <a:endParaRPr lang="en-IN"/>
                    </a:p>
                  </a:txBody>
                  <a:tcPr/>
                </a:tc>
                <a:tc hMerge="1" vMerge="1">
                  <a:txBody>
                    <a:bodyPr/>
                    <a:lstStyle/>
                    <a:p>
                      <a:endParaRPr lang="en-IN" dirty="0"/>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gridSpan="2" vMerge="1">
                  <a:txBody>
                    <a:bodyPr/>
                    <a:lstStyle/>
                    <a:p>
                      <a:endParaRPr lang="en-IN"/>
                    </a:p>
                  </a:txBody>
                  <a:tcPr/>
                </a:tc>
                <a:tc hMerge="1"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pPr algn="ctr"/>
                      <a:endParaRPr lang="en-IN" sz="900" dirty="0"/>
                    </a:p>
                  </a:txBody>
                  <a:tcPr/>
                </a:tc>
                <a:tc vMerge="1">
                  <a:txBody>
                    <a:bodyPr/>
                    <a:lstStyle/>
                    <a:p>
                      <a:endParaRPr lang="en-IN"/>
                    </a:p>
                  </a:txBody>
                  <a:tcPr/>
                </a:tc>
              </a:tr>
              <a:tr h="228489">
                <a:tc rowSpan="3" gridSpan="2">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3" hMerge="1">
                  <a:txBody>
                    <a:bodyPr/>
                    <a:lstStyle/>
                    <a:p>
                      <a:endParaRPr lang="en-IN"/>
                    </a:p>
                  </a:txBody>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gridSpan="2">
                  <a:txBody>
                    <a:bodyPr/>
                    <a:lstStyle/>
                    <a:p>
                      <a:pPr algn="ct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vMerge="1">
                  <a:txBody>
                    <a:bodyPr/>
                    <a:lstStyle/>
                    <a:p>
                      <a:pPr algn="ctr"/>
                      <a:endParaRPr lang="en-IN" sz="900" dirty="0"/>
                    </a:p>
                  </a:txBody>
                  <a:tcPr/>
                </a:tc>
                <a:tc vMerge="1">
                  <a:txBody>
                    <a:bodyPr/>
                    <a:lstStyle/>
                    <a:p>
                      <a:pPr algn="ctr"/>
                      <a:endParaRPr lang="en-IN" sz="900" dirty="0"/>
                    </a:p>
                  </a:txBody>
                  <a:tcPr/>
                </a:tc>
                <a:tc vMerge="1">
                  <a:txBody>
                    <a:bodyPr/>
                    <a:lstStyle/>
                    <a:p>
                      <a:pPr algn="ctr"/>
                      <a:endParaRPr lang="en-IN" sz="900" dirty="0"/>
                    </a:p>
                  </a:txBody>
                  <a:tcPr/>
                </a:tc>
                <a:tc gridSpan="2" vMerge="1">
                  <a:txBody>
                    <a:bodyPr/>
                    <a:lstStyle/>
                    <a:p>
                      <a:pPr algn="ctr"/>
                      <a:endParaRPr lang="en-IN" sz="900" dirty="0"/>
                    </a:p>
                  </a:txBody>
                  <a:tcPr/>
                </a:tc>
                <a:tc hMerge="1" vMerge="1">
                  <a:txBody>
                    <a:bodyPr/>
                    <a:lstStyle/>
                    <a:p>
                      <a:endParaRPr lang="en-IN"/>
                    </a:p>
                  </a:txBody>
                  <a:tcPr/>
                </a:tc>
                <a:tc vMerge="1">
                  <a:txBody>
                    <a:bodyPr/>
                    <a:lstStyle/>
                    <a:p>
                      <a:pPr algn="ctr"/>
                      <a:endParaRPr lang="en-IN" sz="900" dirty="0"/>
                    </a:p>
                  </a:txBody>
                  <a:tcPr/>
                </a:tc>
                <a:tc vMerge="1">
                  <a:txBody>
                    <a:bodyPr/>
                    <a:lstStyle/>
                    <a:p>
                      <a:endParaRPr lang="en-IN"/>
                    </a:p>
                  </a:txBody>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228489">
                <a:tc gridSpan="2" vMerge="1">
                  <a:txBody>
                    <a:bodyPr/>
                    <a:lstStyle/>
                    <a:p>
                      <a:endParaRPr lang="en-IN"/>
                    </a:p>
                  </a:txBody>
                  <a:tcPr/>
                </a:tc>
                <a:tc hMerge="1" vMerge="1">
                  <a:txBody>
                    <a:bodyPr/>
                    <a:lstStyle/>
                    <a:p>
                      <a:endParaRPr lang="en-IN"/>
                    </a:p>
                  </a:txBody>
                  <a:tcPr/>
                </a:tc>
                <a:tc vMerge="1">
                  <a:txBody>
                    <a:bodyPr/>
                    <a:lstStyle/>
                    <a:p>
                      <a:pPr algn="ctr"/>
                      <a:endParaRPr lang="en-IN" sz="1000" dirty="0"/>
                    </a:p>
                  </a:txBody>
                  <a:tcPr/>
                </a:tc>
                <a:tc vMerge="1">
                  <a:txBody>
                    <a:bodyPr/>
                    <a:lstStyle/>
                    <a:p>
                      <a:endParaRPr lang="en-IN"/>
                    </a:p>
                  </a:txBody>
                  <a:tcPr/>
                </a:tc>
                <a:tc gridSpan="2" vMerge="1">
                  <a:txBody>
                    <a:bodyPr/>
                    <a:lstStyle/>
                    <a:p>
                      <a:pPr algn="ctr"/>
                      <a:endParaRPr lang="en-IN" sz="1000" dirty="0"/>
                    </a:p>
                  </a:txBody>
                  <a:tcPr/>
                </a:tc>
                <a:tc hMerge="1" vMerge="1">
                  <a:txBody>
                    <a:bodyPr/>
                    <a:lstStyle/>
                    <a:p>
                      <a:endParaRPr lang="en-IN"/>
                    </a:p>
                  </a:txBody>
                  <a:tcPr/>
                </a:tc>
                <a:tc gridSpan="2" vMerge="1">
                  <a:txBody>
                    <a:bodyPr/>
                    <a:lstStyle/>
                    <a:p>
                      <a:endParaRPr lang="en-IN"/>
                    </a:p>
                  </a:txBody>
                  <a:tcPr/>
                </a:tc>
                <a:tc hMerge="1" v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gridSpan="2" vMerge="1">
                  <a:txBody>
                    <a:bodyPr/>
                    <a:lstStyle/>
                    <a:p>
                      <a:endParaRPr lang="en-IN"/>
                    </a:p>
                  </a:txBody>
                  <a:tcPr/>
                </a:tc>
                <a:tc hMerge="1"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r>
              <a:tr h="365582">
                <a:tc gridSpan="2" vMerge="1">
                  <a:txBody>
                    <a:bodyPr/>
                    <a:lstStyle/>
                    <a:p>
                      <a:pPr algn="ctr"/>
                      <a:endParaRPr lang="en-IN" sz="900" dirty="0"/>
                    </a:p>
                  </a:txBody>
                  <a:tcPr/>
                </a:tc>
                <a:tc hMerge="1" vMerge="1">
                  <a:txBody>
                    <a:bodyPr/>
                    <a:lstStyle/>
                    <a:p>
                      <a:endParaRPr lang="en-IN"/>
                    </a:p>
                  </a:txBody>
                  <a:tcPr/>
                </a:tc>
                <a:tc grid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hMerge="1">
                  <a:txBody>
                    <a:bodyPr/>
                    <a:lstStyle/>
                    <a:p>
                      <a:pPr algn="ctr"/>
                      <a:endParaRPr lang="en-IN" sz="900" dirty="0"/>
                    </a:p>
                  </a:txBody>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a:endParaRPr lang="en-IN" sz="900" dirty="0"/>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dirty="0"/>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rowSpan="4"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rowSpan="4" h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r>
              <a:tr h="228489">
                <a:tc rowSpan="2" gridSpan="6">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2" hMerge="1">
                  <a:txBody>
                    <a:bodyPr/>
                    <a:lstStyle/>
                    <a:p>
                      <a:pPr algn="ctr"/>
                      <a:endParaRPr lang="en-IN" sz="900"/>
                    </a:p>
                  </a:txBody>
                  <a:tcPr/>
                </a:tc>
                <a:tc rowSpan="2" hMerge="1">
                  <a:txBody>
                    <a:bodyPr/>
                    <a:lstStyle/>
                    <a:p>
                      <a:endParaRPr lang="en-IN"/>
                    </a:p>
                  </a:txBody>
                  <a:tcPr/>
                </a:tc>
                <a:tc rowSpan="2" hMerge="1">
                  <a:txBody>
                    <a:bodyPr/>
                    <a:lstStyle/>
                    <a:p>
                      <a:pPr algn="ctr"/>
                      <a:endParaRPr lang="en-IN" sz="900" dirty="0"/>
                    </a:p>
                  </a:txBody>
                  <a:tcPr/>
                </a:tc>
                <a:tc rowSpan="2"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hMerge="1">
                  <a:txBody>
                    <a:bodyPr/>
                    <a:lstStyle/>
                    <a:p>
                      <a:pPr algn="ctr"/>
                      <a:endParaRPr lang="en-IN" sz="900" dirty="0"/>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a:endParaRPr lang="en-IN" sz="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gridSpan="2"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r>
              <a:tr h="228489">
                <a:tc gridSpan="6" vMerge="1">
                  <a:txBody>
                    <a:bodyPr/>
                    <a:lstStyle/>
                    <a:p>
                      <a:pPr algn="ctr"/>
                      <a:endParaRPr lang="en-IN" sz="900" dirty="0"/>
                    </a:p>
                  </a:txBody>
                  <a:tcPr/>
                </a:tc>
                <a:tc hMerge="1" vMerge="1">
                  <a:txBody>
                    <a:bodyPr/>
                    <a:lstStyle/>
                    <a:p>
                      <a:endParaRPr lang="en-IN"/>
                    </a:p>
                  </a:txBody>
                  <a:tcPr/>
                </a:tc>
                <a:tc hMerge="1" vMerge="1">
                  <a:txBody>
                    <a:bodyPr/>
                    <a:lstStyle/>
                    <a:p>
                      <a:pPr algn="ctr"/>
                      <a:endParaRPr lang="en-IN" sz="900" dirty="0"/>
                    </a:p>
                  </a:txBody>
                  <a:tcPr/>
                </a:tc>
                <a:tc hMerge="1" vMerge="1">
                  <a:txBody>
                    <a:bodyPr/>
                    <a:lstStyle/>
                    <a:p>
                      <a:endParaRPr lang="en-IN"/>
                    </a:p>
                  </a:txBody>
                  <a:tcPr/>
                </a:tc>
                <a:tc hMerge="1" vMerge="1">
                  <a:txBody>
                    <a:bodyPr/>
                    <a:lstStyle/>
                    <a:p>
                      <a:pPr algn="ctr"/>
                      <a:endParaRPr lang="en-IN" sz="900" dirty="0"/>
                    </a:p>
                  </a:txBody>
                  <a:tcPr/>
                </a:tc>
                <a:tc hMerge="1" v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rowSpan="2"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2" hMerge="1">
                  <a:txBody>
                    <a:bodyPr/>
                    <a:lstStyle/>
                    <a:p>
                      <a:pPr algn="ctr"/>
                      <a:endParaRPr lang="en-IN" sz="900" dirty="0"/>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endParaRPr lang="en-IN"/>
                    </a:p>
                  </a:txBody>
                  <a:tcPr/>
                </a:tc>
                <a:tc gridSpan="2"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r>
              <a:tr h="228489">
                <a:tc gridSpan="2">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no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a:p>
                  </a:txBody>
                  <a:tcPr/>
                </a:tc>
                <a:tc gridSpan="3" vMerge="1">
                  <a:txBody>
                    <a:bodyPr/>
                    <a:lstStyle/>
                    <a:p>
                      <a:pPr algn="ctr"/>
                      <a:endParaRPr lang="en-IN" sz="900" dirty="0"/>
                    </a:p>
                  </a:txBody>
                  <a:tcPr/>
                </a:tc>
                <a:tc hMerge="1" vMerge="1">
                  <a:txBody>
                    <a:bodyPr/>
                    <a:lstStyle/>
                    <a:p>
                      <a:endParaRPr lang="en-IN"/>
                    </a:p>
                  </a:txBody>
                  <a:tcPr/>
                </a:tc>
                <a:tc hMerge="1" vMerge="1">
                  <a:txBody>
                    <a:bodyPr/>
                    <a:lstStyle/>
                    <a:p>
                      <a:pPr algn="ctr"/>
                      <a:endParaRPr lang="en-IN" sz="900" dirty="0"/>
                    </a:p>
                  </a:txBody>
                  <a:tcPr/>
                </a:tc>
                <a:tc grid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a:endParaRPr lang="en-IN" sz="900" dirty="0"/>
                    </a:p>
                  </a:txBody>
                  <a:tcPr/>
                </a:tc>
                <a:tc hMerge="1">
                  <a:txBody>
                    <a:bodyPr/>
                    <a:lstStyle/>
                    <a:p>
                      <a:pPr algn="ctr"/>
                      <a:endParaRPr lang="en-IN" sz="900" dirty="0"/>
                    </a:p>
                  </a:txBody>
                  <a:tcPr/>
                </a:tc>
                <a:tc hMerge="1">
                  <a:txBody>
                    <a:bodyPr/>
                    <a:lstStyle/>
                    <a:p>
                      <a:endParaRPr lang="en-IN"/>
                    </a:p>
                  </a:txBody>
                  <a:tcPr/>
                </a:tc>
                <a:tc gridSpan="2"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en-IN"/>
                    </a:p>
                  </a:txBody>
                  <a:tcPr/>
                </a:tc>
                <a:tc gridSpan="2"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4</a:t>
            </a:fld>
            <a:endParaRPr lang="en-US" dirty="0">
              <a:solidFill>
                <a:srgbClr val="0E5580"/>
              </a:solidFill>
            </a:endParaRPr>
          </a:p>
        </p:txBody>
      </p:sp>
      <p:sp>
        <p:nvSpPr>
          <p:cNvPr id="28" name="Title 4"/>
          <p:cNvSpPr>
            <a:spLocks noGrp="1"/>
          </p:cNvSpPr>
          <p:nvPr>
            <p:ph type="title"/>
          </p:nvPr>
        </p:nvSpPr>
        <p:spPr>
          <a:xfrm>
            <a:off x="629984" y="542362"/>
            <a:ext cx="9785683" cy="706964"/>
          </a:xfrm>
        </p:spPr>
        <p:txBody>
          <a:bodyPr/>
          <a:lstStyle/>
          <a:p>
            <a:r>
              <a:rPr lang="en-IN" dirty="0" smtClean="0"/>
              <a:t>Model Application</a:t>
            </a:r>
            <a:endParaRPr lang="en-IN" dirty="0"/>
          </a:p>
        </p:txBody>
      </p:sp>
      <p:sp>
        <p:nvSpPr>
          <p:cNvPr id="43" name="TextBox 42"/>
          <p:cNvSpPr txBox="1"/>
          <p:nvPr/>
        </p:nvSpPr>
        <p:spPr bwMode="gray">
          <a:xfrm>
            <a:off x="1288473" y="3584031"/>
            <a:ext cx="900545" cy="138546"/>
          </a:xfrm>
          <a:prstGeom prst="rect">
            <a:avLst/>
          </a:prstGeom>
        </p:spPr>
        <p:txBody>
          <a:bodyPr vert="horz" wrap="square" lIns="91440" tIns="45720" rIns="91440" bIns="45720" rtlCol="0" anchor="ctr">
            <a:noAutofit/>
          </a:bodyPr>
          <a:lstStyle/>
          <a:p>
            <a:endParaRPr lang="en-IN" sz="2000" i="1" dirty="0" smtClean="0"/>
          </a:p>
        </p:txBody>
      </p:sp>
      <p:sp>
        <p:nvSpPr>
          <p:cNvPr id="44" name="TextBox 43"/>
          <p:cNvSpPr txBox="1"/>
          <p:nvPr/>
        </p:nvSpPr>
        <p:spPr bwMode="gray">
          <a:xfrm>
            <a:off x="1291595" y="3674183"/>
            <a:ext cx="1039091" cy="138546"/>
          </a:xfrm>
          <a:prstGeom prst="rect">
            <a:avLst/>
          </a:prstGeom>
        </p:spPr>
        <p:txBody>
          <a:bodyPr vert="horz" wrap="square" lIns="91440" tIns="45720" rIns="91440" bIns="45720" rtlCol="0" anchor="ctr">
            <a:noAutofit/>
          </a:bodyPr>
          <a:lstStyle/>
          <a:p>
            <a:pPr algn="ctr"/>
            <a:r>
              <a:rPr lang="en-IN" sz="800" i="1" dirty="0" smtClean="0"/>
              <a:t>Jubilee Hills</a:t>
            </a:r>
          </a:p>
        </p:txBody>
      </p:sp>
      <p:sp>
        <p:nvSpPr>
          <p:cNvPr id="45" name="TextBox 44"/>
          <p:cNvSpPr txBox="1"/>
          <p:nvPr/>
        </p:nvSpPr>
        <p:spPr bwMode="gray">
          <a:xfrm>
            <a:off x="2819241" y="2687506"/>
            <a:ext cx="1039091" cy="138546"/>
          </a:xfrm>
          <a:prstGeom prst="rect">
            <a:avLst/>
          </a:prstGeom>
        </p:spPr>
        <p:txBody>
          <a:bodyPr vert="horz" wrap="square" lIns="91440" tIns="45720" rIns="91440" bIns="45720" rtlCol="0" anchor="ctr">
            <a:noAutofit/>
          </a:bodyPr>
          <a:lstStyle/>
          <a:p>
            <a:pPr algn="ctr"/>
            <a:r>
              <a:rPr lang="en-IN" sz="800" i="1" dirty="0" err="1" smtClean="0"/>
              <a:t>Panjagutta</a:t>
            </a:r>
            <a:endParaRPr lang="en-IN" sz="800" i="1" dirty="0" smtClean="0"/>
          </a:p>
        </p:txBody>
      </p:sp>
      <p:sp>
        <p:nvSpPr>
          <p:cNvPr id="46" name="TextBox 45"/>
          <p:cNvSpPr txBox="1"/>
          <p:nvPr/>
        </p:nvSpPr>
        <p:spPr bwMode="gray">
          <a:xfrm>
            <a:off x="4444107" y="2115594"/>
            <a:ext cx="1039091" cy="138546"/>
          </a:xfrm>
          <a:prstGeom prst="rect">
            <a:avLst/>
          </a:prstGeom>
        </p:spPr>
        <p:txBody>
          <a:bodyPr vert="horz" wrap="square" lIns="91440" tIns="45720" rIns="91440" bIns="45720" rtlCol="0" anchor="ctr">
            <a:noAutofit/>
          </a:bodyPr>
          <a:lstStyle/>
          <a:p>
            <a:pPr algn="ctr"/>
            <a:r>
              <a:rPr lang="en-IN" sz="800" i="1" dirty="0" err="1" smtClean="0"/>
              <a:t>Vikrampuri</a:t>
            </a:r>
            <a:endParaRPr lang="en-IN" sz="800" i="1" dirty="0" smtClean="0"/>
          </a:p>
        </p:txBody>
      </p:sp>
      <p:sp>
        <p:nvSpPr>
          <p:cNvPr id="48" name="TextBox 47"/>
          <p:cNvSpPr txBox="1"/>
          <p:nvPr/>
        </p:nvSpPr>
        <p:spPr bwMode="gray">
          <a:xfrm>
            <a:off x="1291593" y="6046559"/>
            <a:ext cx="1039091" cy="138546"/>
          </a:xfrm>
          <a:prstGeom prst="rect">
            <a:avLst/>
          </a:prstGeom>
        </p:spPr>
        <p:txBody>
          <a:bodyPr vert="horz" wrap="square" lIns="91440" tIns="45720" rIns="91440" bIns="45720" rtlCol="0" anchor="ctr">
            <a:noAutofit/>
          </a:bodyPr>
          <a:lstStyle/>
          <a:p>
            <a:pPr algn="ctr"/>
            <a:r>
              <a:rPr lang="en-IN" sz="800" i="1" dirty="0" smtClean="0"/>
              <a:t>Airport</a:t>
            </a:r>
          </a:p>
        </p:txBody>
      </p:sp>
      <p:sp>
        <p:nvSpPr>
          <p:cNvPr id="49" name="TextBox 48"/>
          <p:cNvSpPr txBox="1"/>
          <p:nvPr/>
        </p:nvSpPr>
        <p:spPr bwMode="gray">
          <a:xfrm>
            <a:off x="7664685" y="2453040"/>
            <a:ext cx="1039091" cy="138546"/>
          </a:xfrm>
          <a:prstGeom prst="rect">
            <a:avLst/>
          </a:prstGeom>
        </p:spPr>
        <p:txBody>
          <a:bodyPr vert="horz" wrap="square" lIns="91440" tIns="45720" rIns="91440" bIns="45720" rtlCol="0" anchor="ctr">
            <a:noAutofit/>
          </a:bodyPr>
          <a:lstStyle/>
          <a:p>
            <a:pPr algn="ctr"/>
            <a:r>
              <a:rPr lang="en-IN" sz="800" i="1" dirty="0" smtClean="0"/>
              <a:t>A S Rao Nagar</a:t>
            </a:r>
          </a:p>
        </p:txBody>
      </p:sp>
      <p:sp>
        <p:nvSpPr>
          <p:cNvPr id="50" name="TextBox 49"/>
          <p:cNvSpPr txBox="1"/>
          <p:nvPr/>
        </p:nvSpPr>
        <p:spPr bwMode="gray">
          <a:xfrm>
            <a:off x="2647389" y="2230798"/>
            <a:ext cx="1039091" cy="138546"/>
          </a:xfrm>
          <a:prstGeom prst="rect">
            <a:avLst/>
          </a:prstGeom>
          <a:noFill/>
        </p:spPr>
        <p:txBody>
          <a:bodyPr vert="horz" wrap="square" lIns="91440" tIns="45720" rIns="91440" bIns="45720" rtlCol="0" anchor="ctr">
            <a:noAutofit/>
          </a:bodyPr>
          <a:lstStyle/>
          <a:p>
            <a:pPr algn="ctr"/>
            <a:r>
              <a:rPr lang="en-IN" sz="800" i="1" dirty="0" err="1" smtClean="0"/>
              <a:t>Kukatpally</a:t>
            </a:r>
            <a:endParaRPr lang="en-IN" sz="800" i="1" dirty="0" smtClean="0"/>
          </a:p>
        </p:txBody>
      </p:sp>
      <p:sp>
        <p:nvSpPr>
          <p:cNvPr id="51" name="TextBox 50"/>
          <p:cNvSpPr txBox="1"/>
          <p:nvPr/>
        </p:nvSpPr>
        <p:spPr bwMode="gray">
          <a:xfrm>
            <a:off x="4456783" y="3969445"/>
            <a:ext cx="1039091" cy="138546"/>
          </a:xfrm>
          <a:prstGeom prst="rect">
            <a:avLst/>
          </a:prstGeom>
        </p:spPr>
        <p:txBody>
          <a:bodyPr vert="horz" wrap="square" lIns="91440" tIns="45720" rIns="91440" bIns="45720" rtlCol="0" anchor="ctr">
            <a:noAutofit/>
          </a:bodyPr>
          <a:lstStyle/>
          <a:p>
            <a:pPr algn="ctr"/>
            <a:r>
              <a:rPr lang="en-IN" sz="800" i="1" dirty="0" err="1" smtClean="0"/>
              <a:t>HImayatnagar</a:t>
            </a:r>
            <a:endParaRPr lang="en-IN" sz="800" i="1" dirty="0" smtClean="0"/>
          </a:p>
        </p:txBody>
      </p:sp>
      <p:sp>
        <p:nvSpPr>
          <p:cNvPr id="52" name="TextBox 51"/>
          <p:cNvSpPr txBox="1"/>
          <p:nvPr/>
        </p:nvSpPr>
        <p:spPr bwMode="gray">
          <a:xfrm>
            <a:off x="6884590" y="3969445"/>
            <a:ext cx="1039091" cy="138546"/>
          </a:xfrm>
          <a:prstGeom prst="rect">
            <a:avLst/>
          </a:prstGeom>
        </p:spPr>
        <p:txBody>
          <a:bodyPr vert="horz" wrap="square" lIns="91440" tIns="45720" rIns="91440" bIns="45720" rtlCol="0" anchor="ctr">
            <a:noAutofit/>
          </a:bodyPr>
          <a:lstStyle/>
          <a:p>
            <a:pPr algn="ctr"/>
            <a:r>
              <a:rPr lang="en-IN" sz="800" i="1" dirty="0" err="1" smtClean="0"/>
              <a:t>Habsiguda</a:t>
            </a:r>
            <a:endParaRPr lang="en-IN" sz="800" i="1" dirty="0" smtClean="0"/>
          </a:p>
        </p:txBody>
      </p:sp>
      <p:sp>
        <p:nvSpPr>
          <p:cNvPr id="53" name="TextBox 52"/>
          <p:cNvSpPr txBox="1"/>
          <p:nvPr/>
        </p:nvSpPr>
        <p:spPr bwMode="gray">
          <a:xfrm>
            <a:off x="469936" y="2217919"/>
            <a:ext cx="1039091" cy="138546"/>
          </a:xfrm>
          <a:prstGeom prst="rect">
            <a:avLst/>
          </a:prstGeom>
        </p:spPr>
        <p:txBody>
          <a:bodyPr vert="horz" wrap="square" lIns="91440" tIns="45720" rIns="91440" bIns="45720" rtlCol="0" anchor="ctr">
            <a:noAutofit/>
          </a:bodyPr>
          <a:lstStyle/>
          <a:p>
            <a:pPr algn="ctr"/>
            <a:r>
              <a:rPr lang="en-IN" sz="800" i="1" dirty="0" err="1" smtClean="0"/>
              <a:t>Chandanagar</a:t>
            </a:r>
            <a:endParaRPr lang="en-IN" sz="800" i="1" dirty="0" smtClean="0"/>
          </a:p>
        </p:txBody>
      </p:sp>
      <p:sp>
        <p:nvSpPr>
          <p:cNvPr id="54" name="Oval 53"/>
          <p:cNvSpPr/>
          <p:nvPr/>
        </p:nvSpPr>
        <p:spPr>
          <a:xfrm>
            <a:off x="1724890" y="3500906"/>
            <a:ext cx="187037" cy="159422"/>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55" name="Oval 54"/>
          <p:cNvSpPr/>
          <p:nvPr/>
        </p:nvSpPr>
        <p:spPr>
          <a:xfrm>
            <a:off x="3276594" y="2528153"/>
            <a:ext cx="187037" cy="159422"/>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57" name="Oval 56"/>
          <p:cNvSpPr/>
          <p:nvPr/>
        </p:nvSpPr>
        <p:spPr>
          <a:xfrm>
            <a:off x="1717619" y="5887137"/>
            <a:ext cx="187037" cy="159422"/>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59" name="Oval 58"/>
          <p:cNvSpPr/>
          <p:nvPr/>
        </p:nvSpPr>
        <p:spPr>
          <a:xfrm>
            <a:off x="3256984" y="2067391"/>
            <a:ext cx="187037" cy="159422"/>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60" name="Oval 59"/>
          <p:cNvSpPr/>
          <p:nvPr/>
        </p:nvSpPr>
        <p:spPr>
          <a:xfrm>
            <a:off x="895962" y="2080270"/>
            <a:ext cx="187037" cy="159422"/>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61" name="Oval 60"/>
          <p:cNvSpPr/>
          <p:nvPr/>
        </p:nvSpPr>
        <p:spPr>
          <a:xfrm>
            <a:off x="4882809" y="3838890"/>
            <a:ext cx="187037" cy="159422"/>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dirty="0"/>
          </a:p>
        </p:txBody>
      </p:sp>
      <p:sp>
        <p:nvSpPr>
          <p:cNvPr id="62" name="Oval 61"/>
          <p:cNvSpPr/>
          <p:nvPr/>
        </p:nvSpPr>
        <p:spPr>
          <a:xfrm>
            <a:off x="7310616" y="3792376"/>
            <a:ext cx="187037" cy="159422"/>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63" name="Oval 62"/>
          <p:cNvSpPr/>
          <p:nvPr/>
        </p:nvSpPr>
        <p:spPr>
          <a:xfrm>
            <a:off x="8051098" y="2301218"/>
            <a:ext cx="187037" cy="159422"/>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72" name="TextBox 71"/>
          <p:cNvSpPr txBox="1"/>
          <p:nvPr/>
        </p:nvSpPr>
        <p:spPr bwMode="gray">
          <a:xfrm>
            <a:off x="5720607" y="4247987"/>
            <a:ext cx="1039091" cy="138546"/>
          </a:xfrm>
          <a:prstGeom prst="rect">
            <a:avLst/>
          </a:prstGeom>
        </p:spPr>
        <p:txBody>
          <a:bodyPr vert="horz" wrap="square" lIns="91440" tIns="45720" rIns="91440" bIns="45720" rtlCol="0" anchor="ctr">
            <a:noAutofit/>
          </a:bodyPr>
          <a:lstStyle/>
          <a:p>
            <a:pPr algn="ctr"/>
            <a:r>
              <a:rPr lang="en-IN" sz="800" i="1" dirty="0" err="1" smtClean="0"/>
              <a:t>Kachiguda</a:t>
            </a:r>
            <a:endParaRPr lang="en-IN" sz="800" i="1" dirty="0" smtClean="0"/>
          </a:p>
        </p:txBody>
      </p:sp>
      <p:sp>
        <p:nvSpPr>
          <p:cNvPr id="73" name="TextBox 72"/>
          <p:cNvSpPr txBox="1"/>
          <p:nvPr/>
        </p:nvSpPr>
        <p:spPr bwMode="gray">
          <a:xfrm>
            <a:off x="6044714" y="4041951"/>
            <a:ext cx="1039091" cy="138546"/>
          </a:xfrm>
          <a:prstGeom prst="rect">
            <a:avLst/>
          </a:prstGeom>
        </p:spPr>
        <p:txBody>
          <a:bodyPr vert="horz" wrap="square" lIns="91440" tIns="45720" rIns="91440" bIns="45720" rtlCol="0" anchor="ctr">
            <a:noAutofit/>
          </a:bodyPr>
          <a:lstStyle/>
          <a:p>
            <a:pPr algn="ctr"/>
            <a:r>
              <a:rPr lang="en-IN" sz="800" i="1" dirty="0" err="1" smtClean="0"/>
              <a:t>Shivam</a:t>
            </a:r>
            <a:r>
              <a:rPr lang="en-IN" sz="800" i="1" dirty="0" smtClean="0"/>
              <a:t> Road</a:t>
            </a:r>
          </a:p>
        </p:txBody>
      </p:sp>
      <p:sp>
        <p:nvSpPr>
          <p:cNvPr id="74" name="TextBox 73"/>
          <p:cNvSpPr txBox="1"/>
          <p:nvPr/>
        </p:nvSpPr>
        <p:spPr bwMode="gray">
          <a:xfrm>
            <a:off x="6044713" y="4973579"/>
            <a:ext cx="1039091" cy="138546"/>
          </a:xfrm>
          <a:prstGeom prst="rect">
            <a:avLst/>
          </a:prstGeom>
        </p:spPr>
        <p:txBody>
          <a:bodyPr vert="horz" wrap="square" lIns="91440" tIns="45720" rIns="91440" bIns="45720" rtlCol="0" anchor="ctr">
            <a:noAutofit/>
          </a:bodyPr>
          <a:lstStyle/>
          <a:p>
            <a:pPr algn="ctr"/>
            <a:r>
              <a:rPr lang="en-IN" sz="800" i="1" dirty="0" err="1" smtClean="0"/>
              <a:t>Kothapete</a:t>
            </a:r>
            <a:endParaRPr lang="en-IN" sz="800" i="1" dirty="0" smtClean="0"/>
          </a:p>
        </p:txBody>
      </p:sp>
      <p:sp>
        <p:nvSpPr>
          <p:cNvPr id="75" name="TextBox 74"/>
          <p:cNvSpPr txBox="1"/>
          <p:nvPr/>
        </p:nvSpPr>
        <p:spPr bwMode="gray">
          <a:xfrm>
            <a:off x="2248567" y="3674183"/>
            <a:ext cx="1039091" cy="138546"/>
          </a:xfrm>
          <a:prstGeom prst="rect">
            <a:avLst/>
          </a:prstGeom>
        </p:spPr>
        <p:txBody>
          <a:bodyPr vert="horz" wrap="square" lIns="91440" tIns="45720" rIns="91440" bIns="45720" rtlCol="0" anchor="ctr">
            <a:noAutofit/>
          </a:bodyPr>
          <a:lstStyle/>
          <a:p>
            <a:pPr algn="ctr"/>
            <a:r>
              <a:rPr lang="en-IN" sz="800" i="1" dirty="0" smtClean="0"/>
              <a:t>Banjara Hills</a:t>
            </a:r>
          </a:p>
        </p:txBody>
      </p:sp>
      <p:sp>
        <p:nvSpPr>
          <p:cNvPr id="76" name="TextBox 75"/>
          <p:cNvSpPr txBox="1"/>
          <p:nvPr/>
        </p:nvSpPr>
        <p:spPr bwMode="gray">
          <a:xfrm>
            <a:off x="4404828" y="3304939"/>
            <a:ext cx="1039091" cy="138546"/>
          </a:xfrm>
          <a:prstGeom prst="rect">
            <a:avLst/>
          </a:prstGeom>
        </p:spPr>
        <p:txBody>
          <a:bodyPr vert="horz" wrap="square" lIns="91440" tIns="45720" rIns="91440" bIns="45720" rtlCol="0" anchor="ctr">
            <a:noAutofit/>
          </a:bodyPr>
          <a:lstStyle/>
          <a:p>
            <a:pPr algn="ctr"/>
            <a:r>
              <a:rPr lang="en-IN" sz="800" i="1" dirty="0" err="1" smtClean="0"/>
              <a:t>Amsri</a:t>
            </a:r>
            <a:r>
              <a:rPr lang="en-IN" sz="800" i="1" dirty="0" smtClean="0"/>
              <a:t> Faust,</a:t>
            </a:r>
          </a:p>
          <a:p>
            <a:pPr algn="ctr"/>
            <a:r>
              <a:rPr lang="en-IN" sz="800" i="1" dirty="0" err="1" smtClean="0"/>
              <a:t>Secunderabad</a:t>
            </a:r>
            <a:endParaRPr lang="en-IN" sz="800" i="1" dirty="0" smtClean="0"/>
          </a:p>
        </p:txBody>
      </p:sp>
      <p:sp>
        <p:nvSpPr>
          <p:cNvPr id="77" name="TextBox 76"/>
          <p:cNvSpPr txBox="1"/>
          <p:nvPr/>
        </p:nvSpPr>
        <p:spPr bwMode="gray">
          <a:xfrm>
            <a:off x="1688990" y="4679225"/>
            <a:ext cx="1039091" cy="138546"/>
          </a:xfrm>
          <a:prstGeom prst="rect">
            <a:avLst/>
          </a:prstGeom>
        </p:spPr>
        <p:txBody>
          <a:bodyPr vert="horz" wrap="square" lIns="91440" tIns="45720" rIns="91440" bIns="45720" rtlCol="0" anchor="ctr">
            <a:noAutofit/>
          </a:bodyPr>
          <a:lstStyle/>
          <a:p>
            <a:pPr algn="ctr"/>
            <a:r>
              <a:rPr lang="en-IN" sz="800" i="1" dirty="0" err="1" smtClean="0"/>
              <a:t>Attapur</a:t>
            </a:r>
            <a:endParaRPr lang="en-IN" sz="800" i="1" dirty="0" smtClean="0"/>
          </a:p>
        </p:txBody>
      </p:sp>
      <p:sp>
        <p:nvSpPr>
          <p:cNvPr id="78" name="TextBox 77"/>
          <p:cNvSpPr txBox="1"/>
          <p:nvPr/>
        </p:nvSpPr>
        <p:spPr bwMode="gray">
          <a:xfrm>
            <a:off x="3571019" y="3298098"/>
            <a:ext cx="1039091" cy="138546"/>
          </a:xfrm>
          <a:prstGeom prst="rect">
            <a:avLst/>
          </a:prstGeom>
        </p:spPr>
        <p:txBody>
          <a:bodyPr vert="horz" wrap="square" lIns="91440" tIns="45720" rIns="91440" bIns="45720" rtlCol="0" anchor="ctr">
            <a:noAutofit/>
          </a:bodyPr>
          <a:lstStyle/>
          <a:p>
            <a:pPr algn="ctr"/>
            <a:r>
              <a:rPr lang="en-IN" sz="800" i="1" dirty="0" err="1" smtClean="0"/>
              <a:t>Begumpet</a:t>
            </a:r>
            <a:endParaRPr lang="en-IN" sz="800" i="1" dirty="0" smtClean="0"/>
          </a:p>
        </p:txBody>
      </p:sp>
      <p:sp>
        <p:nvSpPr>
          <p:cNvPr id="79" name="TextBox 78"/>
          <p:cNvSpPr txBox="1"/>
          <p:nvPr/>
        </p:nvSpPr>
        <p:spPr bwMode="gray">
          <a:xfrm>
            <a:off x="4404828" y="2788820"/>
            <a:ext cx="1039091" cy="138546"/>
          </a:xfrm>
          <a:prstGeom prst="rect">
            <a:avLst/>
          </a:prstGeom>
        </p:spPr>
        <p:txBody>
          <a:bodyPr vert="horz" wrap="square" lIns="91440" tIns="45720" rIns="91440" bIns="45720" rtlCol="0" anchor="ctr">
            <a:noAutofit/>
          </a:bodyPr>
          <a:lstStyle/>
          <a:p>
            <a:pPr algn="ctr"/>
            <a:r>
              <a:rPr lang="en-IN" sz="800" i="1" dirty="0" smtClean="0"/>
              <a:t>Odyssey, </a:t>
            </a:r>
            <a:r>
              <a:rPr lang="en-IN" sz="800" i="1" dirty="0" err="1" smtClean="0"/>
              <a:t>Vikrampuri</a:t>
            </a:r>
            <a:endParaRPr lang="en-IN" sz="800" i="1" dirty="0" smtClean="0"/>
          </a:p>
        </p:txBody>
      </p:sp>
      <p:sp>
        <p:nvSpPr>
          <p:cNvPr id="80" name="TextBox 79"/>
          <p:cNvSpPr txBox="1"/>
          <p:nvPr/>
        </p:nvSpPr>
        <p:spPr bwMode="gray">
          <a:xfrm>
            <a:off x="7715223" y="3241704"/>
            <a:ext cx="1039091" cy="138546"/>
          </a:xfrm>
          <a:prstGeom prst="rect">
            <a:avLst/>
          </a:prstGeom>
        </p:spPr>
        <p:txBody>
          <a:bodyPr vert="horz" wrap="square" lIns="91440" tIns="45720" rIns="91440" bIns="45720" rtlCol="0" anchor="ctr">
            <a:noAutofit/>
          </a:bodyPr>
          <a:lstStyle/>
          <a:p>
            <a:pPr algn="ctr"/>
            <a:r>
              <a:rPr lang="en-IN" sz="800" i="1" dirty="0" err="1" smtClean="0"/>
              <a:t>Nacharam</a:t>
            </a:r>
            <a:endParaRPr lang="en-IN" sz="800" i="1" dirty="0" smtClean="0"/>
          </a:p>
        </p:txBody>
      </p:sp>
      <p:sp>
        <p:nvSpPr>
          <p:cNvPr id="81" name="TextBox 80"/>
          <p:cNvSpPr txBox="1"/>
          <p:nvPr/>
        </p:nvSpPr>
        <p:spPr bwMode="gray">
          <a:xfrm>
            <a:off x="2082310" y="4159099"/>
            <a:ext cx="1039091" cy="138546"/>
          </a:xfrm>
          <a:prstGeom prst="rect">
            <a:avLst/>
          </a:prstGeom>
        </p:spPr>
        <p:txBody>
          <a:bodyPr vert="horz" wrap="square" lIns="91440" tIns="45720" rIns="91440" bIns="45720" rtlCol="0" anchor="ctr">
            <a:noAutofit/>
          </a:bodyPr>
          <a:lstStyle/>
          <a:p>
            <a:pPr algn="ctr"/>
            <a:r>
              <a:rPr lang="en-IN" sz="800" i="1" dirty="0" err="1" smtClean="0"/>
              <a:t>Tolichowki</a:t>
            </a:r>
            <a:endParaRPr lang="en-IN" sz="800" i="1" dirty="0" smtClean="0"/>
          </a:p>
        </p:txBody>
      </p:sp>
      <p:sp>
        <p:nvSpPr>
          <p:cNvPr id="82" name="TextBox 81"/>
          <p:cNvSpPr txBox="1"/>
          <p:nvPr/>
        </p:nvSpPr>
        <p:spPr bwMode="gray">
          <a:xfrm>
            <a:off x="7599768" y="4224979"/>
            <a:ext cx="1104008" cy="173021"/>
          </a:xfrm>
          <a:prstGeom prst="rect">
            <a:avLst/>
          </a:prstGeom>
        </p:spPr>
        <p:txBody>
          <a:bodyPr vert="horz" wrap="square" lIns="91440" tIns="45720" rIns="91440" bIns="45720" rtlCol="0" anchor="ctr">
            <a:noAutofit/>
          </a:bodyPr>
          <a:lstStyle/>
          <a:p>
            <a:pPr algn="ctr"/>
            <a:r>
              <a:rPr lang="en-IN" sz="800" i="1" dirty="0" smtClean="0"/>
              <a:t>Uppal</a:t>
            </a:r>
          </a:p>
        </p:txBody>
      </p:sp>
      <p:sp>
        <p:nvSpPr>
          <p:cNvPr id="83" name="TextBox 82"/>
          <p:cNvSpPr txBox="1"/>
          <p:nvPr/>
        </p:nvSpPr>
        <p:spPr bwMode="gray">
          <a:xfrm>
            <a:off x="7210211" y="5817864"/>
            <a:ext cx="1039091" cy="138546"/>
          </a:xfrm>
          <a:prstGeom prst="rect">
            <a:avLst/>
          </a:prstGeom>
        </p:spPr>
        <p:txBody>
          <a:bodyPr vert="horz" wrap="square" lIns="91440" tIns="45720" rIns="91440" bIns="45720" rtlCol="0" anchor="ctr">
            <a:noAutofit/>
          </a:bodyPr>
          <a:lstStyle/>
          <a:p>
            <a:pPr algn="ctr"/>
            <a:r>
              <a:rPr lang="en-IN" sz="800" i="1" dirty="0" err="1" smtClean="0"/>
              <a:t>Vanasthalipuram</a:t>
            </a:r>
            <a:endParaRPr lang="en-IN" sz="800" i="1" dirty="0" smtClean="0"/>
          </a:p>
        </p:txBody>
      </p:sp>
      <p:sp>
        <p:nvSpPr>
          <p:cNvPr id="84" name="TextBox 83"/>
          <p:cNvSpPr txBox="1"/>
          <p:nvPr/>
        </p:nvSpPr>
        <p:spPr bwMode="gray">
          <a:xfrm>
            <a:off x="7670863" y="3042563"/>
            <a:ext cx="1039091" cy="138546"/>
          </a:xfrm>
          <a:prstGeom prst="rect">
            <a:avLst/>
          </a:prstGeom>
        </p:spPr>
        <p:txBody>
          <a:bodyPr vert="horz" wrap="square" lIns="91440" tIns="45720" rIns="91440" bIns="45720" rtlCol="0" anchor="ctr">
            <a:noAutofit/>
          </a:bodyPr>
          <a:lstStyle/>
          <a:p>
            <a:pPr algn="ctr"/>
            <a:r>
              <a:rPr lang="en-IN" sz="800" i="1" dirty="0" err="1" smtClean="0"/>
              <a:t>Mallapur</a:t>
            </a:r>
            <a:endParaRPr lang="en-IN" sz="800" i="1" dirty="0" smtClean="0"/>
          </a:p>
        </p:txBody>
      </p:sp>
      <p:sp>
        <p:nvSpPr>
          <p:cNvPr id="85" name="TextBox 84"/>
          <p:cNvSpPr txBox="1"/>
          <p:nvPr/>
        </p:nvSpPr>
        <p:spPr bwMode="gray">
          <a:xfrm>
            <a:off x="1108757" y="3324903"/>
            <a:ext cx="1039091" cy="138546"/>
          </a:xfrm>
          <a:prstGeom prst="rect">
            <a:avLst/>
          </a:prstGeom>
        </p:spPr>
        <p:txBody>
          <a:bodyPr vert="horz" wrap="square" lIns="91440" tIns="45720" rIns="91440" bIns="45720" rtlCol="0" anchor="ctr">
            <a:noAutofit/>
          </a:bodyPr>
          <a:lstStyle/>
          <a:p>
            <a:pPr algn="ctr"/>
            <a:r>
              <a:rPr lang="en-IN" sz="800" i="1" dirty="0" err="1" smtClean="0"/>
              <a:t>HiTec</a:t>
            </a:r>
            <a:r>
              <a:rPr lang="en-IN" sz="800" i="1" dirty="0" smtClean="0"/>
              <a:t> City</a:t>
            </a:r>
          </a:p>
        </p:txBody>
      </p:sp>
      <p:sp>
        <p:nvSpPr>
          <p:cNvPr id="86" name="TextBox 85"/>
          <p:cNvSpPr txBox="1"/>
          <p:nvPr/>
        </p:nvSpPr>
        <p:spPr bwMode="gray">
          <a:xfrm>
            <a:off x="5351757" y="1689731"/>
            <a:ext cx="1039091" cy="138546"/>
          </a:xfrm>
          <a:prstGeom prst="rect">
            <a:avLst/>
          </a:prstGeom>
        </p:spPr>
        <p:txBody>
          <a:bodyPr vert="horz" wrap="square" lIns="91440" tIns="45720" rIns="91440" bIns="45720" rtlCol="0" anchor="ctr">
            <a:noAutofit/>
          </a:bodyPr>
          <a:lstStyle/>
          <a:p>
            <a:pPr algn="ctr"/>
            <a:r>
              <a:rPr lang="en-IN" sz="800" i="1" dirty="0" err="1" smtClean="0"/>
              <a:t>Hakimpet</a:t>
            </a:r>
            <a:endParaRPr lang="en-IN" sz="800" i="1" dirty="0" smtClean="0"/>
          </a:p>
        </p:txBody>
      </p:sp>
      <p:sp>
        <p:nvSpPr>
          <p:cNvPr id="87" name="TextBox 86"/>
          <p:cNvSpPr txBox="1"/>
          <p:nvPr/>
        </p:nvSpPr>
        <p:spPr bwMode="gray">
          <a:xfrm>
            <a:off x="747102" y="3042563"/>
            <a:ext cx="1039091" cy="138546"/>
          </a:xfrm>
          <a:prstGeom prst="rect">
            <a:avLst/>
          </a:prstGeom>
        </p:spPr>
        <p:txBody>
          <a:bodyPr vert="horz" wrap="square" lIns="91440" tIns="45720" rIns="91440" bIns="45720" rtlCol="0" anchor="ctr">
            <a:noAutofit/>
          </a:bodyPr>
          <a:lstStyle/>
          <a:p>
            <a:pPr algn="ctr"/>
            <a:r>
              <a:rPr lang="en-IN" sz="800" i="1" dirty="0" err="1" smtClean="0"/>
              <a:t>Gachibowli</a:t>
            </a:r>
            <a:endParaRPr lang="en-IN" sz="800" i="1" dirty="0" smtClean="0"/>
          </a:p>
        </p:txBody>
      </p:sp>
      <p:sp>
        <p:nvSpPr>
          <p:cNvPr id="88" name="TextBox 87"/>
          <p:cNvSpPr txBox="1"/>
          <p:nvPr/>
        </p:nvSpPr>
        <p:spPr bwMode="gray">
          <a:xfrm>
            <a:off x="461619" y="3285116"/>
            <a:ext cx="1039091" cy="138546"/>
          </a:xfrm>
          <a:prstGeom prst="rect">
            <a:avLst/>
          </a:prstGeom>
        </p:spPr>
        <p:txBody>
          <a:bodyPr vert="horz" wrap="square" lIns="91440" tIns="45720" rIns="91440" bIns="45720" rtlCol="0" anchor="ctr">
            <a:noAutofit/>
          </a:bodyPr>
          <a:lstStyle/>
          <a:p>
            <a:pPr algn="ctr"/>
            <a:r>
              <a:rPr lang="en-IN" sz="800" i="1" dirty="0" err="1" smtClean="0"/>
              <a:t>Madniguda</a:t>
            </a:r>
            <a:endParaRPr lang="en-IN" sz="800" i="1" dirty="0" smtClean="0"/>
          </a:p>
        </p:txBody>
      </p:sp>
      <p:sp>
        <p:nvSpPr>
          <p:cNvPr id="89" name="TextBox 88"/>
          <p:cNvSpPr txBox="1"/>
          <p:nvPr/>
        </p:nvSpPr>
        <p:spPr bwMode="gray">
          <a:xfrm>
            <a:off x="4400983" y="3096534"/>
            <a:ext cx="1039091" cy="138546"/>
          </a:xfrm>
          <a:prstGeom prst="rect">
            <a:avLst/>
          </a:prstGeom>
        </p:spPr>
        <p:txBody>
          <a:bodyPr vert="horz" wrap="square" lIns="91440" tIns="45720" rIns="91440" bIns="45720" rtlCol="0" anchor="ctr">
            <a:noAutofit/>
          </a:bodyPr>
          <a:lstStyle/>
          <a:p>
            <a:pPr algn="ctr"/>
            <a:r>
              <a:rPr lang="en-IN" sz="800" i="1" dirty="0" smtClean="0"/>
              <a:t>M G Road</a:t>
            </a:r>
          </a:p>
        </p:txBody>
      </p:sp>
      <p:sp>
        <p:nvSpPr>
          <p:cNvPr id="90" name="TextBox 89"/>
          <p:cNvSpPr txBox="1"/>
          <p:nvPr/>
        </p:nvSpPr>
        <p:spPr bwMode="gray">
          <a:xfrm>
            <a:off x="3097760" y="2994531"/>
            <a:ext cx="1039091" cy="138546"/>
          </a:xfrm>
          <a:prstGeom prst="rect">
            <a:avLst/>
          </a:prstGeom>
        </p:spPr>
        <p:txBody>
          <a:bodyPr vert="horz" wrap="square" lIns="91440" tIns="45720" rIns="91440" bIns="45720" rtlCol="0" anchor="ctr">
            <a:noAutofit/>
          </a:bodyPr>
          <a:lstStyle/>
          <a:p>
            <a:pPr algn="ctr"/>
            <a:r>
              <a:rPr lang="en-IN" sz="800" i="1" dirty="0" err="1" smtClean="0"/>
              <a:t>Panjagutta</a:t>
            </a:r>
            <a:endParaRPr lang="en-IN" sz="800" i="1" dirty="0" smtClean="0"/>
          </a:p>
        </p:txBody>
      </p:sp>
      <p:sp>
        <p:nvSpPr>
          <p:cNvPr id="91" name="TextBox 90"/>
          <p:cNvSpPr txBox="1"/>
          <p:nvPr/>
        </p:nvSpPr>
        <p:spPr bwMode="gray">
          <a:xfrm>
            <a:off x="2078570" y="2357440"/>
            <a:ext cx="1039091" cy="138546"/>
          </a:xfrm>
          <a:prstGeom prst="rect">
            <a:avLst/>
          </a:prstGeom>
        </p:spPr>
        <p:txBody>
          <a:bodyPr vert="horz" wrap="square" lIns="91440" tIns="45720" rIns="91440" bIns="45720" rtlCol="0" anchor="ctr">
            <a:noAutofit/>
          </a:bodyPr>
          <a:lstStyle/>
          <a:p>
            <a:pPr algn="ctr"/>
            <a:r>
              <a:rPr lang="en-IN" sz="800" i="1" dirty="0" err="1"/>
              <a:t>KpHB</a:t>
            </a:r>
            <a:r>
              <a:rPr lang="en-IN" sz="800" i="1" dirty="0"/>
              <a:t> Colony</a:t>
            </a:r>
            <a:endParaRPr lang="en-IN" sz="800" i="1" dirty="0" smtClean="0"/>
          </a:p>
        </p:txBody>
      </p:sp>
      <p:sp>
        <p:nvSpPr>
          <p:cNvPr id="92" name="TextBox 91"/>
          <p:cNvSpPr txBox="1"/>
          <p:nvPr/>
        </p:nvSpPr>
        <p:spPr bwMode="gray">
          <a:xfrm>
            <a:off x="3604533" y="4315220"/>
            <a:ext cx="1039091" cy="138546"/>
          </a:xfrm>
          <a:prstGeom prst="rect">
            <a:avLst/>
          </a:prstGeom>
        </p:spPr>
        <p:txBody>
          <a:bodyPr vert="horz" wrap="square" lIns="91440" tIns="45720" rIns="91440" bIns="45720" rtlCol="0" anchor="ctr">
            <a:noAutofit/>
          </a:bodyPr>
          <a:lstStyle/>
          <a:p>
            <a:pPr algn="ctr"/>
            <a:r>
              <a:rPr lang="en-IN" sz="800" i="1" dirty="0" err="1" smtClean="0"/>
              <a:t>Abids</a:t>
            </a:r>
            <a:endParaRPr lang="en-IN" sz="800" i="1" dirty="0" smtClean="0"/>
          </a:p>
        </p:txBody>
      </p:sp>
      <p:sp>
        <p:nvSpPr>
          <p:cNvPr id="93" name="TextBox 92"/>
          <p:cNvSpPr txBox="1"/>
          <p:nvPr/>
        </p:nvSpPr>
        <p:spPr bwMode="gray">
          <a:xfrm>
            <a:off x="3051473" y="4006704"/>
            <a:ext cx="1039091" cy="138546"/>
          </a:xfrm>
          <a:prstGeom prst="rect">
            <a:avLst/>
          </a:prstGeom>
        </p:spPr>
        <p:txBody>
          <a:bodyPr vert="horz" wrap="square" lIns="91440" tIns="45720" rIns="91440" bIns="45720" rtlCol="0" anchor="ctr">
            <a:noAutofit/>
          </a:bodyPr>
          <a:lstStyle/>
          <a:p>
            <a:pPr algn="ctr"/>
            <a:r>
              <a:rPr lang="en-IN" sz="800" i="1" dirty="0" err="1" smtClean="0"/>
              <a:t>Lakdi-ka-Pul</a:t>
            </a:r>
            <a:endParaRPr lang="en-IN" sz="800" i="1" dirty="0" smtClean="0"/>
          </a:p>
        </p:txBody>
      </p:sp>
      <p:sp>
        <p:nvSpPr>
          <p:cNvPr id="95" name="TextBox 94"/>
          <p:cNvSpPr txBox="1"/>
          <p:nvPr/>
        </p:nvSpPr>
        <p:spPr bwMode="gray">
          <a:xfrm>
            <a:off x="5300240" y="4890642"/>
            <a:ext cx="1039091" cy="138546"/>
          </a:xfrm>
          <a:prstGeom prst="rect">
            <a:avLst/>
          </a:prstGeom>
        </p:spPr>
        <p:txBody>
          <a:bodyPr vert="horz" wrap="square" lIns="91440" tIns="45720" rIns="91440" bIns="45720" rtlCol="0" anchor="ctr">
            <a:noAutofit/>
          </a:bodyPr>
          <a:lstStyle/>
          <a:p>
            <a:pPr algn="ctr"/>
            <a:r>
              <a:rPr lang="en-IN" sz="800" i="1" dirty="0" err="1" smtClean="0"/>
              <a:t>Malkapet</a:t>
            </a:r>
            <a:endParaRPr lang="en-IN" sz="800" i="1" dirty="0" smtClean="0"/>
          </a:p>
        </p:txBody>
      </p:sp>
      <p:sp>
        <p:nvSpPr>
          <p:cNvPr id="96" name="TextBox 95"/>
          <p:cNvSpPr txBox="1"/>
          <p:nvPr/>
        </p:nvSpPr>
        <p:spPr bwMode="gray">
          <a:xfrm>
            <a:off x="5300239" y="4576685"/>
            <a:ext cx="1039091" cy="138546"/>
          </a:xfrm>
          <a:prstGeom prst="rect">
            <a:avLst/>
          </a:prstGeom>
        </p:spPr>
        <p:txBody>
          <a:bodyPr vert="horz" wrap="square" lIns="91440" tIns="45720" rIns="91440" bIns="45720" rtlCol="0" anchor="ctr">
            <a:noAutofit/>
          </a:bodyPr>
          <a:lstStyle/>
          <a:p>
            <a:pPr algn="ctr"/>
            <a:r>
              <a:rPr lang="en-IN" sz="800" i="1" dirty="0" err="1" smtClean="0"/>
              <a:t>Dilkushnagar</a:t>
            </a:r>
            <a:endParaRPr lang="en-IN" sz="800" i="1" dirty="0" smtClean="0"/>
          </a:p>
        </p:txBody>
      </p:sp>
      <p:sp>
        <p:nvSpPr>
          <p:cNvPr id="97" name="TextBox 96"/>
          <p:cNvSpPr txBox="1"/>
          <p:nvPr/>
        </p:nvSpPr>
        <p:spPr bwMode="gray">
          <a:xfrm>
            <a:off x="6650797" y="4651577"/>
            <a:ext cx="1039091" cy="138546"/>
          </a:xfrm>
          <a:prstGeom prst="rect">
            <a:avLst/>
          </a:prstGeom>
        </p:spPr>
        <p:txBody>
          <a:bodyPr vert="horz" wrap="square" lIns="91440" tIns="45720" rIns="91440" bIns="45720" rtlCol="0" anchor="ctr">
            <a:noAutofit/>
          </a:bodyPr>
          <a:lstStyle/>
          <a:p>
            <a:pPr algn="ctr"/>
            <a:r>
              <a:rPr lang="en-IN" sz="800" i="1" dirty="0" err="1" smtClean="0"/>
              <a:t>Kothapete</a:t>
            </a:r>
            <a:endParaRPr lang="en-IN" sz="800" i="1" dirty="0" smtClean="0"/>
          </a:p>
        </p:txBody>
      </p:sp>
      <p:sp>
        <p:nvSpPr>
          <p:cNvPr id="98" name="TextBox 97"/>
          <p:cNvSpPr txBox="1"/>
          <p:nvPr/>
        </p:nvSpPr>
        <p:spPr bwMode="gray">
          <a:xfrm>
            <a:off x="1290810" y="2355292"/>
            <a:ext cx="1039091" cy="138546"/>
          </a:xfrm>
          <a:prstGeom prst="rect">
            <a:avLst/>
          </a:prstGeom>
        </p:spPr>
        <p:txBody>
          <a:bodyPr vert="horz" wrap="square" lIns="91440" tIns="45720" rIns="91440" bIns="45720" rtlCol="0" anchor="ctr">
            <a:noAutofit/>
          </a:bodyPr>
          <a:lstStyle/>
          <a:p>
            <a:pPr algn="ctr"/>
            <a:r>
              <a:rPr lang="en-IN" sz="800" i="1" dirty="0" err="1" smtClean="0"/>
              <a:t>Madinaguda</a:t>
            </a:r>
            <a:endParaRPr lang="en-IN" sz="800" i="1" dirty="0" smtClean="0"/>
          </a:p>
        </p:txBody>
      </p:sp>
      <p:sp>
        <p:nvSpPr>
          <p:cNvPr id="99" name="TextBox 98"/>
          <p:cNvSpPr txBox="1"/>
          <p:nvPr/>
        </p:nvSpPr>
        <p:spPr bwMode="gray">
          <a:xfrm>
            <a:off x="5349609" y="1494398"/>
            <a:ext cx="1039091" cy="138546"/>
          </a:xfrm>
          <a:prstGeom prst="rect">
            <a:avLst/>
          </a:prstGeom>
        </p:spPr>
        <p:txBody>
          <a:bodyPr vert="horz" wrap="square" lIns="91440" tIns="45720" rIns="91440" bIns="45720" rtlCol="0" anchor="ctr">
            <a:noAutofit/>
          </a:bodyPr>
          <a:lstStyle/>
          <a:p>
            <a:pPr algn="ctr"/>
            <a:r>
              <a:rPr lang="en-IN" sz="800" i="1" dirty="0" err="1" smtClean="0"/>
              <a:t>Kompally</a:t>
            </a:r>
            <a:endParaRPr lang="en-IN" sz="800" i="1" dirty="0" smtClean="0"/>
          </a:p>
        </p:txBody>
      </p:sp>
      <p:sp>
        <p:nvSpPr>
          <p:cNvPr id="100" name="TextBox 99"/>
          <p:cNvSpPr txBox="1"/>
          <p:nvPr/>
        </p:nvSpPr>
        <p:spPr bwMode="gray">
          <a:xfrm>
            <a:off x="5285213" y="3799371"/>
            <a:ext cx="1039091" cy="138546"/>
          </a:xfrm>
          <a:prstGeom prst="rect">
            <a:avLst/>
          </a:prstGeom>
        </p:spPr>
        <p:txBody>
          <a:bodyPr vert="horz" wrap="square" lIns="91440" tIns="45720" rIns="91440" bIns="45720" rtlCol="0" anchor="ctr">
            <a:noAutofit/>
          </a:bodyPr>
          <a:lstStyle/>
          <a:p>
            <a:pPr algn="ctr"/>
            <a:r>
              <a:rPr lang="en-IN" sz="800" i="1" dirty="0" err="1" smtClean="0"/>
              <a:t>Chikkadpally</a:t>
            </a:r>
            <a:endParaRPr lang="en-IN" sz="800" i="1" dirty="0" smtClean="0"/>
          </a:p>
        </p:txBody>
      </p:sp>
      <p:sp>
        <p:nvSpPr>
          <p:cNvPr id="101" name="TextBox 100"/>
          <p:cNvSpPr txBox="1"/>
          <p:nvPr/>
        </p:nvSpPr>
        <p:spPr bwMode="gray">
          <a:xfrm>
            <a:off x="1305073" y="3001685"/>
            <a:ext cx="1039091" cy="138546"/>
          </a:xfrm>
          <a:prstGeom prst="rect">
            <a:avLst/>
          </a:prstGeom>
        </p:spPr>
        <p:txBody>
          <a:bodyPr vert="horz" wrap="square" lIns="91440" tIns="45720" rIns="91440" bIns="45720" rtlCol="0" anchor="ctr">
            <a:noAutofit/>
          </a:bodyPr>
          <a:lstStyle/>
          <a:p>
            <a:pPr algn="ctr"/>
            <a:r>
              <a:rPr lang="en-IN" sz="800" i="1" dirty="0" err="1" smtClean="0"/>
              <a:t>Kondapur</a:t>
            </a:r>
            <a:endParaRPr lang="en-IN" sz="800" i="1" dirty="0" smtClean="0"/>
          </a:p>
        </p:txBody>
      </p:sp>
      <p:sp>
        <p:nvSpPr>
          <p:cNvPr id="102" name="TextBox 101"/>
          <p:cNvSpPr txBox="1"/>
          <p:nvPr/>
        </p:nvSpPr>
        <p:spPr bwMode="gray">
          <a:xfrm>
            <a:off x="6171120" y="3820484"/>
            <a:ext cx="1039091" cy="138546"/>
          </a:xfrm>
          <a:prstGeom prst="rect">
            <a:avLst/>
          </a:prstGeom>
        </p:spPr>
        <p:txBody>
          <a:bodyPr vert="horz" wrap="square" lIns="91440" tIns="45720" rIns="91440" bIns="45720" rtlCol="0" anchor="ctr">
            <a:noAutofit/>
          </a:bodyPr>
          <a:lstStyle/>
          <a:p>
            <a:pPr algn="ctr"/>
            <a:r>
              <a:rPr lang="en-IN" sz="800" i="1" dirty="0" err="1" smtClean="0"/>
              <a:t>Nallakunta</a:t>
            </a:r>
            <a:endParaRPr lang="en-IN" sz="800" i="1" dirty="0" smtClean="0"/>
          </a:p>
        </p:txBody>
      </p:sp>
      <p:sp>
        <p:nvSpPr>
          <p:cNvPr id="103" name="TextBox 102"/>
          <p:cNvSpPr txBox="1"/>
          <p:nvPr/>
        </p:nvSpPr>
        <p:spPr bwMode="gray">
          <a:xfrm>
            <a:off x="7047898" y="4984283"/>
            <a:ext cx="1039091" cy="138546"/>
          </a:xfrm>
          <a:prstGeom prst="rect">
            <a:avLst/>
          </a:prstGeom>
        </p:spPr>
        <p:txBody>
          <a:bodyPr vert="horz" wrap="square" lIns="91440" tIns="45720" rIns="91440" bIns="45720" rtlCol="0" anchor="ctr">
            <a:noAutofit/>
          </a:bodyPr>
          <a:lstStyle/>
          <a:p>
            <a:pPr algn="ctr"/>
            <a:r>
              <a:rPr lang="en-IN" sz="800" i="1" dirty="0" err="1" smtClean="0"/>
              <a:t>Alkapuri</a:t>
            </a:r>
            <a:endParaRPr lang="en-IN" sz="800" i="1" dirty="0" smtClean="0"/>
          </a:p>
        </p:txBody>
      </p:sp>
      <p:sp>
        <p:nvSpPr>
          <p:cNvPr id="104" name="TextBox 103"/>
          <p:cNvSpPr txBox="1"/>
          <p:nvPr/>
        </p:nvSpPr>
        <p:spPr bwMode="gray">
          <a:xfrm>
            <a:off x="4454635" y="4327909"/>
            <a:ext cx="1039091" cy="138546"/>
          </a:xfrm>
          <a:prstGeom prst="rect">
            <a:avLst/>
          </a:prstGeom>
        </p:spPr>
        <p:txBody>
          <a:bodyPr vert="horz" wrap="square" lIns="91440" tIns="45720" rIns="91440" bIns="45720" rtlCol="0" anchor="ctr">
            <a:noAutofit/>
          </a:bodyPr>
          <a:lstStyle/>
          <a:p>
            <a:pPr algn="ctr"/>
            <a:r>
              <a:rPr lang="en-IN" sz="800" i="1" dirty="0" err="1" smtClean="0"/>
              <a:t>Koti</a:t>
            </a:r>
            <a:endParaRPr lang="en-IN" sz="800" i="1" dirty="0" smtClean="0"/>
          </a:p>
        </p:txBody>
      </p:sp>
      <p:sp>
        <p:nvSpPr>
          <p:cNvPr id="116" name="TextBox 115"/>
          <p:cNvSpPr txBox="1"/>
          <p:nvPr/>
        </p:nvSpPr>
        <p:spPr bwMode="gray">
          <a:xfrm>
            <a:off x="6475793" y="5688654"/>
            <a:ext cx="1039091" cy="138546"/>
          </a:xfrm>
          <a:prstGeom prst="rect">
            <a:avLst/>
          </a:prstGeom>
        </p:spPr>
        <p:txBody>
          <a:bodyPr vert="horz" wrap="square" lIns="91440" tIns="45720" rIns="91440" bIns="45720" rtlCol="0" anchor="ctr">
            <a:noAutofit/>
          </a:bodyPr>
          <a:lstStyle/>
          <a:p>
            <a:pPr algn="ctr"/>
            <a:r>
              <a:rPr lang="en-IN" sz="800" i="1" dirty="0" err="1" smtClean="0"/>
              <a:t>Hastinapuram</a:t>
            </a:r>
            <a:endParaRPr lang="en-IN" sz="800" i="1" dirty="0" smtClean="0"/>
          </a:p>
        </p:txBody>
      </p:sp>
      <p:sp>
        <p:nvSpPr>
          <p:cNvPr id="123" name="TextBox 122"/>
          <p:cNvSpPr txBox="1"/>
          <p:nvPr/>
        </p:nvSpPr>
        <p:spPr bwMode="gray">
          <a:xfrm>
            <a:off x="238032" y="2731693"/>
            <a:ext cx="1039091" cy="138546"/>
          </a:xfrm>
          <a:prstGeom prst="rect">
            <a:avLst/>
          </a:prstGeom>
        </p:spPr>
        <p:txBody>
          <a:bodyPr vert="horz" wrap="square" lIns="91440" tIns="45720" rIns="91440" bIns="45720" rtlCol="0" anchor="ctr">
            <a:noAutofit/>
          </a:bodyPr>
          <a:lstStyle/>
          <a:p>
            <a:pPr algn="ctr"/>
            <a:r>
              <a:rPr lang="en-IN" sz="800" i="1" dirty="0" err="1" smtClean="0"/>
              <a:t>Nallagandla</a:t>
            </a:r>
            <a:endParaRPr lang="en-IN" sz="800" i="1" dirty="0" smtClean="0"/>
          </a:p>
        </p:txBody>
      </p:sp>
      <p:sp>
        <p:nvSpPr>
          <p:cNvPr id="125" name="TextBox 124"/>
          <p:cNvSpPr txBox="1"/>
          <p:nvPr/>
        </p:nvSpPr>
        <p:spPr bwMode="gray">
          <a:xfrm>
            <a:off x="713195" y="2513190"/>
            <a:ext cx="1039091" cy="138546"/>
          </a:xfrm>
          <a:prstGeom prst="rect">
            <a:avLst/>
          </a:prstGeom>
        </p:spPr>
        <p:txBody>
          <a:bodyPr vert="horz" wrap="square" lIns="91440" tIns="45720" rIns="91440" bIns="45720" rtlCol="0" anchor="ctr">
            <a:noAutofit/>
          </a:bodyPr>
          <a:lstStyle/>
          <a:p>
            <a:pPr algn="ctr"/>
            <a:r>
              <a:rPr lang="en-IN" sz="800" i="1" dirty="0" smtClean="0"/>
              <a:t>CUC</a:t>
            </a:r>
          </a:p>
        </p:txBody>
      </p:sp>
      <p:sp>
        <p:nvSpPr>
          <p:cNvPr id="131" name="TextBox 130"/>
          <p:cNvSpPr txBox="1"/>
          <p:nvPr/>
        </p:nvSpPr>
        <p:spPr bwMode="gray">
          <a:xfrm>
            <a:off x="1644444" y="2821819"/>
            <a:ext cx="1039091" cy="138546"/>
          </a:xfrm>
          <a:prstGeom prst="rect">
            <a:avLst/>
          </a:prstGeom>
        </p:spPr>
        <p:txBody>
          <a:bodyPr vert="horz" wrap="square" lIns="91440" tIns="45720" rIns="91440" bIns="45720" rtlCol="0" anchor="ctr">
            <a:noAutofit/>
          </a:bodyPr>
          <a:lstStyle/>
          <a:p>
            <a:pPr algn="ctr"/>
            <a:r>
              <a:rPr lang="en-IN" sz="800" i="1" dirty="0" err="1" smtClean="0"/>
              <a:t>Kothaguda</a:t>
            </a:r>
            <a:endParaRPr lang="en-IN" sz="800" i="1" dirty="0" smtClean="0"/>
          </a:p>
        </p:txBody>
      </p:sp>
      <p:sp>
        <p:nvSpPr>
          <p:cNvPr id="132" name="TextBox 131"/>
          <p:cNvSpPr txBox="1"/>
          <p:nvPr/>
        </p:nvSpPr>
        <p:spPr bwMode="gray">
          <a:xfrm>
            <a:off x="1873946" y="3220392"/>
            <a:ext cx="1039091" cy="138546"/>
          </a:xfrm>
          <a:prstGeom prst="rect">
            <a:avLst/>
          </a:prstGeom>
        </p:spPr>
        <p:txBody>
          <a:bodyPr vert="horz" wrap="square" lIns="91440" tIns="45720" rIns="91440" bIns="45720" rtlCol="0" anchor="ctr">
            <a:noAutofit/>
          </a:bodyPr>
          <a:lstStyle/>
          <a:p>
            <a:pPr algn="ctr"/>
            <a:r>
              <a:rPr lang="en-IN" sz="800" i="1" dirty="0" err="1" smtClean="0"/>
              <a:t>Jawahar</a:t>
            </a:r>
            <a:r>
              <a:rPr lang="en-IN" sz="800" i="1" dirty="0" smtClean="0"/>
              <a:t> Nagar</a:t>
            </a:r>
          </a:p>
        </p:txBody>
      </p:sp>
      <p:sp>
        <p:nvSpPr>
          <p:cNvPr id="133" name="TextBox 132"/>
          <p:cNvSpPr txBox="1"/>
          <p:nvPr/>
        </p:nvSpPr>
        <p:spPr bwMode="gray">
          <a:xfrm>
            <a:off x="244738" y="4204554"/>
            <a:ext cx="1039091" cy="138546"/>
          </a:xfrm>
          <a:prstGeom prst="rect">
            <a:avLst/>
          </a:prstGeom>
        </p:spPr>
        <p:txBody>
          <a:bodyPr vert="horz" wrap="square" lIns="91440" tIns="45720" rIns="91440" bIns="45720" rtlCol="0" anchor="ctr">
            <a:noAutofit/>
          </a:bodyPr>
          <a:lstStyle/>
          <a:p>
            <a:pPr algn="ctr"/>
            <a:r>
              <a:rPr lang="en-IN" sz="800" i="1" dirty="0" smtClean="0"/>
              <a:t>Osman Nagar</a:t>
            </a:r>
          </a:p>
        </p:txBody>
      </p:sp>
      <p:sp>
        <p:nvSpPr>
          <p:cNvPr id="134" name="TextBox 133"/>
          <p:cNvSpPr txBox="1"/>
          <p:nvPr/>
        </p:nvSpPr>
        <p:spPr bwMode="gray">
          <a:xfrm>
            <a:off x="563453" y="3913817"/>
            <a:ext cx="1039091" cy="138546"/>
          </a:xfrm>
          <a:prstGeom prst="rect">
            <a:avLst/>
          </a:prstGeom>
        </p:spPr>
        <p:txBody>
          <a:bodyPr vert="horz" wrap="square" lIns="91440" tIns="45720" rIns="91440" bIns="45720" rtlCol="0" anchor="ctr">
            <a:noAutofit/>
          </a:bodyPr>
          <a:lstStyle/>
          <a:p>
            <a:pPr algn="ctr"/>
            <a:r>
              <a:rPr lang="en-IN" sz="800" i="1" dirty="0" err="1" smtClean="0"/>
              <a:t>Manikonda</a:t>
            </a:r>
            <a:endParaRPr lang="en-IN" sz="800" i="1" dirty="0" smtClean="0"/>
          </a:p>
        </p:txBody>
      </p:sp>
      <p:sp>
        <p:nvSpPr>
          <p:cNvPr id="135" name="TextBox 134"/>
          <p:cNvSpPr txBox="1"/>
          <p:nvPr/>
        </p:nvSpPr>
        <p:spPr bwMode="gray">
          <a:xfrm>
            <a:off x="660035" y="4479711"/>
            <a:ext cx="1039091" cy="138546"/>
          </a:xfrm>
          <a:prstGeom prst="rect">
            <a:avLst/>
          </a:prstGeom>
        </p:spPr>
        <p:txBody>
          <a:bodyPr vert="horz" wrap="square" lIns="91440" tIns="45720" rIns="91440" bIns="45720" rtlCol="0" anchor="ctr">
            <a:noAutofit/>
          </a:bodyPr>
          <a:lstStyle/>
          <a:p>
            <a:pPr algn="ctr"/>
            <a:r>
              <a:rPr lang="en-IN" sz="800" i="1" dirty="0" smtClean="0"/>
              <a:t>Army Golf Course</a:t>
            </a:r>
          </a:p>
        </p:txBody>
      </p:sp>
      <p:sp>
        <p:nvSpPr>
          <p:cNvPr id="136" name="TextBox 135"/>
          <p:cNvSpPr txBox="1"/>
          <p:nvPr/>
        </p:nvSpPr>
        <p:spPr bwMode="gray">
          <a:xfrm>
            <a:off x="469936" y="5224346"/>
            <a:ext cx="1039091" cy="138546"/>
          </a:xfrm>
          <a:prstGeom prst="rect">
            <a:avLst/>
          </a:prstGeom>
        </p:spPr>
        <p:txBody>
          <a:bodyPr vert="horz" wrap="square" lIns="91440" tIns="45720" rIns="91440" bIns="45720" rtlCol="0" anchor="ctr">
            <a:noAutofit/>
          </a:bodyPr>
          <a:lstStyle/>
          <a:p>
            <a:pPr algn="ctr"/>
            <a:r>
              <a:rPr lang="en-IN" sz="800" i="1" dirty="0" err="1" smtClean="0"/>
              <a:t>Himayathsagar</a:t>
            </a:r>
            <a:endParaRPr lang="en-IN" sz="800" i="1" dirty="0" smtClean="0"/>
          </a:p>
        </p:txBody>
      </p:sp>
      <p:sp>
        <p:nvSpPr>
          <p:cNvPr id="137" name="TextBox 136"/>
          <p:cNvSpPr txBox="1"/>
          <p:nvPr/>
        </p:nvSpPr>
        <p:spPr bwMode="gray">
          <a:xfrm>
            <a:off x="1034239" y="4962878"/>
            <a:ext cx="1039091" cy="138546"/>
          </a:xfrm>
          <a:prstGeom prst="rect">
            <a:avLst/>
          </a:prstGeom>
        </p:spPr>
        <p:txBody>
          <a:bodyPr vert="horz" wrap="square" lIns="91440" tIns="45720" rIns="91440" bIns="45720" rtlCol="0" anchor="ctr">
            <a:noAutofit/>
          </a:bodyPr>
          <a:lstStyle/>
          <a:p>
            <a:pPr algn="ctr"/>
            <a:r>
              <a:rPr lang="en-IN" sz="800" i="1" dirty="0" err="1" smtClean="0"/>
              <a:t>Bandlaguda</a:t>
            </a:r>
            <a:endParaRPr lang="en-IN" sz="800" i="1" dirty="0" smtClean="0"/>
          </a:p>
        </p:txBody>
      </p:sp>
      <p:sp>
        <p:nvSpPr>
          <p:cNvPr id="138" name="TextBox 137"/>
          <p:cNvSpPr txBox="1"/>
          <p:nvPr/>
        </p:nvSpPr>
        <p:spPr bwMode="gray">
          <a:xfrm>
            <a:off x="1589371" y="5112590"/>
            <a:ext cx="1039091" cy="138546"/>
          </a:xfrm>
          <a:prstGeom prst="rect">
            <a:avLst/>
          </a:prstGeom>
        </p:spPr>
        <p:txBody>
          <a:bodyPr vert="horz" wrap="square" lIns="91440" tIns="45720" rIns="91440" bIns="45720" rtlCol="0" anchor="ctr">
            <a:noAutofit/>
          </a:bodyPr>
          <a:lstStyle/>
          <a:p>
            <a:pPr algn="ctr"/>
            <a:r>
              <a:rPr lang="en-IN" sz="800" i="1" dirty="0" err="1" smtClean="0"/>
              <a:t>Padmasri</a:t>
            </a:r>
            <a:r>
              <a:rPr lang="en-IN" sz="800" i="1" dirty="0" smtClean="0"/>
              <a:t> Estates</a:t>
            </a:r>
          </a:p>
        </p:txBody>
      </p:sp>
      <p:sp>
        <p:nvSpPr>
          <p:cNvPr id="139" name="TextBox 138"/>
          <p:cNvSpPr txBox="1"/>
          <p:nvPr/>
        </p:nvSpPr>
        <p:spPr bwMode="gray">
          <a:xfrm>
            <a:off x="1677629" y="5485637"/>
            <a:ext cx="1039091" cy="138546"/>
          </a:xfrm>
          <a:prstGeom prst="rect">
            <a:avLst/>
          </a:prstGeom>
        </p:spPr>
        <p:txBody>
          <a:bodyPr vert="horz" wrap="square" lIns="91440" tIns="45720" rIns="91440" bIns="45720" rtlCol="0" anchor="ctr">
            <a:noAutofit/>
          </a:bodyPr>
          <a:lstStyle/>
          <a:p>
            <a:pPr algn="ctr"/>
            <a:r>
              <a:rPr lang="en-IN" sz="800" i="1" dirty="0" err="1" smtClean="0"/>
              <a:t>Kismatpur</a:t>
            </a:r>
            <a:endParaRPr lang="en-IN" sz="800" i="1" dirty="0" smtClean="0"/>
          </a:p>
        </p:txBody>
      </p:sp>
      <p:sp>
        <p:nvSpPr>
          <p:cNvPr id="140" name="TextBox 139"/>
          <p:cNvSpPr txBox="1"/>
          <p:nvPr/>
        </p:nvSpPr>
        <p:spPr bwMode="gray">
          <a:xfrm>
            <a:off x="2683535" y="4982959"/>
            <a:ext cx="1039091" cy="138546"/>
          </a:xfrm>
          <a:prstGeom prst="rect">
            <a:avLst/>
          </a:prstGeom>
        </p:spPr>
        <p:txBody>
          <a:bodyPr vert="horz" wrap="square" lIns="91440" tIns="45720" rIns="91440" bIns="45720" rtlCol="0" anchor="ctr">
            <a:noAutofit/>
          </a:bodyPr>
          <a:lstStyle/>
          <a:p>
            <a:pPr algn="ctr"/>
            <a:r>
              <a:rPr lang="en-IN" sz="800" i="1" dirty="0" smtClean="0"/>
              <a:t>Nehru Zoological Park</a:t>
            </a:r>
          </a:p>
        </p:txBody>
      </p:sp>
      <p:sp>
        <p:nvSpPr>
          <p:cNvPr id="141" name="TextBox 140"/>
          <p:cNvSpPr txBox="1"/>
          <p:nvPr/>
        </p:nvSpPr>
        <p:spPr bwMode="gray">
          <a:xfrm>
            <a:off x="2835242" y="5421319"/>
            <a:ext cx="1039091" cy="138546"/>
          </a:xfrm>
          <a:prstGeom prst="rect">
            <a:avLst/>
          </a:prstGeom>
        </p:spPr>
        <p:txBody>
          <a:bodyPr vert="horz" wrap="square" lIns="91440" tIns="45720" rIns="91440" bIns="45720" rtlCol="0" anchor="ctr">
            <a:noAutofit/>
          </a:bodyPr>
          <a:lstStyle/>
          <a:p>
            <a:pPr algn="ctr"/>
            <a:r>
              <a:rPr lang="en-IN" sz="800" i="1" dirty="0" err="1" smtClean="0"/>
              <a:t>Sivarampalli</a:t>
            </a:r>
            <a:endParaRPr lang="en-IN" sz="800" i="1" dirty="0" smtClean="0"/>
          </a:p>
        </p:txBody>
      </p:sp>
      <p:sp>
        <p:nvSpPr>
          <p:cNvPr id="142" name="TextBox 141"/>
          <p:cNvSpPr txBox="1"/>
          <p:nvPr/>
        </p:nvSpPr>
        <p:spPr bwMode="gray">
          <a:xfrm>
            <a:off x="2683534" y="5766098"/>
            <a:ext cx="1039091" cy="138546"/>
          </a:xfrm>
          <a:prstGeom prst="rect">
            <a:avLst/>
          </a:prstGeom>
        </p:spPr>
        <p:txBody>
          <a:bodyPr vert="horz" wrap="square" lIns="91440" tIns="45720" rIns="91440" bIns="45720" rtlCol="0" anchor="ctr">
            <a:noAutofit/>
          </a:bodyPr>
          <a:lstStyle/>
          <a:p>
            <a:pPr algn="ctr"/>
            <a:r>
              <a:rPr lang="en-IN" sz="800" i="1" dirty="0" err="1" smtClean="0"/>
              <a:t>Gagan</a:t>
            </a:r>
            <a:r>
              <a:rPr lang="en-IN" sz="800" i="1" dirty="0" smtClean="0"/>
              <a:t> </a:t>
            </a:r>
            <a:r>
              <a:rPr lang="en-IN" sz="800" i="1" dirty="0" err="1" smtClean="0"/>
              <a:t>Pahad</a:t>
            </a:r>
            <a:endParaRPr lang="en-IN" sz="800" i="1" dirty="0" smtClean="0"/>
          </a:p>
        </p:txBody>
      </p:sp>
      <p:sp>
        <p:nvSpPr>
          <p:cNvPr id="143" name="TextBox 142"/>
          <p:cNvSpPr txBox="1"/>
          <p:nvPr/>
        </p:nvSpPr>
        <p:spPr bwMode="gray">
          <a:xfrm>
            <a:off x="2860736" y="4517862"/>
            <a:ext cx="1039091" cy="138546"/>
          </a:xfrm>
          <a:prstGeom prst="rect">
            <a:avLst/>
          </a:prstGeom>
        </p:spPr>
        <p:txBody>
          <a:bodyPr vert="horz" wrap="square" lIns="91440" tIns="45720" rIns="91440" bIns="45720" rtlCol="0" anchor="ctr">
            <a:noAutofit/>
          </a:bodyPr>
          <a:lstStyle/>
          <a:p>
            <a:pPr algn="ctr"/>
            <a:r>
              <a:rPr lang="en-IN" sz="800" i="1" dirty="0" err="1" smtClean="0"/>
              <a:t>Karwan</a:t>
            </a:r>
            <a:endParaRPr lang="en-IN" sz="800" i="1" dirty="0" smtClean="0"/>
          </a:p>
        </p:txBody>
      </p:sp>
      <p:sp>
        <p:nvSpPr>
          <p:cNvPr id="144" name="TextBox 143"/>
          <p:cNvSpPr txBox="1"/>
          <p:nvPr/>
        </p:nvSpPr>
        <p:spPr bwMode="gray">
          <a:xfrm>
            <a:off x="4218182" y="4673684"/>
            <a:ext cx="1039091" cy="138546"/>
          </a:xfrm>
          <a:prstGeom prst="rect">
            <a:avLst/>
          </a:prstGeom>
        </p:spPr>
        <p:txBody>
          <a:bodyPr vert="horz" wrap="square" lIns="91440" tIns="45720" rIns="91440" bIns="45720" rtlCol="0" anchor="ctr">
            <a:noAutofit/>
          </a:bodyPr>
          <a:lstStyle/>
          <a:p>
            <a:pPr algn="ctr"/>
            <a:r>
              <a:rPr lang="en-IN" sz="800" i="1" dirty="0" err="1" smtClean="0"/>
              <a:t>CharMinar</a:t>
            </a:r>
            <a:endParaRPr lang="en-IN" sz="800" i="1" dirty="0" smtClean="0"/>
          </a:p>
        </p:txBody>
      </p:sp>
      <p:sp>
        <p:nvSpPr>
          <p:cNvPr id="145" name="TextBox 144"/>
          <p:cNvSpPr txBox="1"/>
          <p:nvPr/>
        </p:nvSpPr>
        <p:spPr bwMode="gray">
          <a:xfrm>
            <a:off x="4587411" y="4527313"/>
            <a:ext cx="1039091" cy="138546"/>
          </a:xfrm>
          <a:prstGeom prst="rect">
            <a:avLst/>
          </a:prstGeom>
        </p:spPr>
        <p:txBody>
          <a:bodyPr vert="horz" wrap="square" lIns="91440" tIns="45720" rIns="91440" bIns="45720" rtlCol="0" anchor="ctr">
            <a:noAutofit/>
          </a:bodyPr>
          <a:lstStyle/>
          <a:p>
            <a:pPr algn="ctr"/>
            <a:r>
              <a:rPr lang="en-IN" sz="800" i="1" dirty="0" err="1" smtClean="0"/>
              <a:t>Malakpet</a:t>
            </a:r>
            <a:endParaRPr lang="en-IN" sz="800" i="1" dirty="0" smtClean="0"/>
          </a:p>
        </p:txBody>
      </p:sp>
      <p:sp>
        <p:nvSpPr>
          <p:cNvPr id="146" name="TextBox 145"/>
          <p:cNvSpPr txBox="1"/>
          <p:nvPr/>
        </p:nvSpPr>
        <p:spPr bwMode="gray">
          <a:xfrm>
            <a:off x="3571019" y="5162093"/>
            <a:ext cx="1039091" cy="138546"/>
          </a:xfrm>
          <a:prstGeom prst="rect">
            <a:avLst/>
          </a:prstGeom>
        </p:spPr>
        <p:txBody>
          <a:bodyPr vert="horz" wrap="square" lIns="91440" tIns="45720" rIns="91440" bIns="45720" rtlCol="0" anchor="ctr">
            <a:noAutofit/>
          </a:bodyPr>
          <a:lstStyle/>
          <a:p>
            <a:pPr algn="ctr"/>
            <a:r>
              <a:rPr lang="en-IN" sz="800" i="1" dirty="0" smtClean="0"/>
              <a:t>Murad Nagar</a:t>
            </a:r>
          </a:p>
        </p:txBody>
      </p:sp>
      <p:sp>
        <p:nvSpPr>
          <p:cNvPr id="147" name="TextBox 146"/>
          <p:cNvSpPr txBox="1"/>
          <p:nvPr/>
        </p:nvSpPr>
        <p:spPr bwMode="gray">
          <a:xfrm>
            <a:off x="3851885" y="5748591"/>
            <a:ext cx="1039091" cy="138546"/>
          </a:xfrm>
          <a:prstGeom prst="rect">
            <a:avLst/>
          </a:prstGeom>
        </p:spPr>
        <p:txBody>
          <a:bodyPr vert="horz" wrap="square" lIns="91440" tIns="45720" rIns="91440" bIns="45720" rtlCol="0" anchor="ctr">
            <a:noAutofit/>
          </a:bodyPr>
          <a:lstStyle/>
          <a:p>
            <a:pPr algn="ctr"/>
            <a:r>
              <a:rPr lang="en-IN" sz="800" i="1" dirty="0" err="1" smtClean="0"/>
              <a:t>Kamaguda</a:t>
            </a:r>
            <a:endParaRPr lang="en-IN" sz="800" i="1" dirty="0" smtClean="0"/>
          </a:p>
        </p:txBody>
      </p:sp>
      <p:sp>
        <p:nvSpPr>
          <p:cNvPr id="148" name="TextBox 147"/>
          <p:cNvSpPr txBox="1"/>
          <p:nvPr/>
        </p:nvSpPr>
        <p:spPr bwMode="gray">
          <a:xfrm>
            <a:off x="3808498" y="5510401"/>
            <a:ext cx="1039091" cy="138546"/>
          </a:xfrm>
          <a:prstGeom prst="rect">
            <a:avLst/>
          </a:prstGeom>
        </p:spPr>
        <p:txBody>
          <a:bodyPr vert="horz" wrap="square" lIns="91440" tIns="45720" rIns="91440" bIns="45720" rtlCol="0" anchor="ctr">
            <a:noAutofit/>
          </a:bodyPr>
          <a:lstStyle/>
          <a:p>
            <a:pPr algn="ctr"/>
            <a:r>
              <a:rPr lang="en-IN" sz="800" i="1" dirty="0" err="1" smtClean="0"/>
              <a:t>Falaknuma</a:t>
            </a:r>
            <a:endParaRPr lang="en-IN" sz="800" i="1" dirty="0" smtClean="0"/>
          </a:p>
        </p:txBody>
      </p:sp>
      <p:sp>
        <p:nvSpPr>
          <p:cNvPr id="149" name="TextBox 148"/>
          <p:cNvSpPr txBox="1"/>
          <p:nvPr/>
        </p:nvSpPr>
        <p:spPr bwMode="gray">
          <a:xfrm>
            <a:off x="3585870" y="4775911"/>
            <a:ext cx="1039091" cy="138546"/>
          </a:xfrm>
          <a:prstGeom prst="rect">
            <a:avLst/>
          </a:prstGeom>
        </p:spPr>
        <p:txBody>
          <a:bodyPr vert="horz" wrap="square" lIns="91440" tIns="45720" rIns="91440" bIns="45720" rtlCol="0" anchor="ctr">
            <a:noAutofit/>
          </a:bodyPr>
          <a:lstStyle/>
          <a:p>
            <a:pPr algn="ctr"/>
            <a:r>
              <a:rPr lang="en-IN" sz="800" i="1" dirty="0" smtClean="0"/>
              <a:t>High Court</a:t>
            </a:r>
          </a:p>
        </p:txBody>
      </p:sp>
      <p:sp>
        <p:nvSpPr>
          <p:cNvPr id="150" name="TextBox 149"/>
          <p:cNvSpPr txBox="1"/>
          <p:nvPr/>
        </p:nvSpPr>
        <p:spPr bwMode="gray">
          <a:xfrm>
            <a:off x="3263243" y="3592259"/>
            <a:ext cx="1039091" cy="138546"/>
          </a:xfrm>
          <a:prstGeom prst="rect">
            <a:avLst/>
          </a:prstGeom>
        </p:spPr>
        <p:txBody>
          <a:bodyPr vert="horz" wrap="square" lIns="91440" tIns="45720" rIns="91440" bIns="45720" rtlCol="0" anchor="ctr">
            <a:noAutofit/>
          </a:bodyPr>
          <a:lstStyle/>
          <a:p>
            <a:pPr algn="ctr"/>
            <a:r>
              <a:rPr lang="en-IN" sz="800" i="1" dirty="0" err="1" smtClean="0"/>
              <a:t>Khairatabad</a:t>
            </a:r>
            <a:endParaRPr lang="en-IN" sz="800" i="1" dirty="0" smtClean="0"/>
          </a:p>
        </p:txBody>
      </p:sp>
      <p:sp>
        <p:nvSpPr>
          <p:cNvPr id="152" name="TextBox 151"/>
          <p:cNvSpPr txBox="1"/>
          <p:nvPr/>
        </p:nvSpPr>
        <p:spPr bwMode="gray">
          <a:xfrm>
            <a:off x="3632831" y="3913541"/>
            <a:ext cx="1039091" cy="138546"/>
          </a:xfrm>
          <a:prstGeom prst="rect">
            <a:avLst/>
          </a:prstGeom>
        </p:spPr>
        <p:txBody>
          <a:bodyPr vert="horz" wrap="square" lIns="91440" tIns="45720" rIns="91440" bIns="45720" rtlCol="0" anchor="ctr">
            <a:noAutofit/>
          </a:bodyPr>
          <a:lstStyle/>
          <a:p>
            <a:pPr algn="ctr"/>
            <a:r>
              <a:rPr lang="en-IN" sz="800" i="1" dirty="0" smtClean="0"/>
              <a:t>Hill Fort Road</a:t>
            </a:r>
          </a:p>
        </p:txBody>
      </p:sp>
      <p:sp>
        <p:nvSpPr>
          <p:cNvPr id="153" name="TextBox 152"/>
          <p:cNvSpPr txBox="1"/>
          <p:nvPr/>
        </p:nvSpPr>
        <p:spPr bwMode="gray">
          <a:xfrm>
            <a:off x="3581166" y="2633705"/>
            <a:ext cx="1039091" cy="138546"/>
          </a:xfrm>
          <a:prstGeom prst="rect">
            <a:avLst/>
          </a:prstGeom>
        </p:spPr>
        <p:txBody>
          <a:bodyPr vert="horz" wrap="square" lIns="91440" tIns="45720" rIns="91440" bIns="45720" rtlCol="0" anchor="ctr">
            <a:noAutofit/>
          </a:bodyPr>
          <a:lstStyle/>
          <a:p>
            <a:pPr algn="ctr"/>
            <a:r>
              <a:rPr lang="en-IN" sz="800" i="1" dirty="0" err="1" smtClean="0"/>
              <a:t>Bowenpally</a:t>
            </a:r>
            <a:endParaRPr lang="en-IN" sz="800" i="1" dirty="0" smtClean="0"/>
          </a:p>
        </p:txBody>
      </p:sp>
      <p:sp>
        <p:nvSpPr>
          <p:cNvPr id="154" name="TextBox 153"/>
          <p:cNvSpPr txBox="1"/>
          <p:nvPr/>
        </p:nvSpPr>
        <p:spPr bwMode="gray">
          <a:xfrm>
            <a:off x="3605216" y="2373338"/>
            <a:ext cx="1039091" cy="138546"/>
          </a:xfrm>
          <a:prstGeom prst="rect">
            <a:avLst/>
          </a:prstGeom>
        </p:spPr>
        <p:txBody>
          <a:bodyPr vert="horz" wrap="square" lIns="91440" tIns="45720" rIns="91440" bIns="45720" rtlCol="0" anchor="ctr">
            <a:noAutofit/>
          </a:bodyPr>
          <a:lstStyle/>
          <a:p>
            <a:pPr algn="ctr"/>
            <a:r>
              <a:rPr lang="en-IN" sz="800" i="1" dirty="0" smtClean="0"/>
              <a:t>HAL</a:t>
            </a:r>
          </a:p>
        </p:txBody>
      </p:sp>
      <p:sp>
        <p:nvSpPr>
          <p:cNvPr id="155" name="TextBox 154"/>
          <p:cNvSpPr txBox="1"/>
          <p:nvPr/>
        </p:nvSpPr>
        <p:spPr bwMode="gray">
          <a:xfrm>
            <a:off x="4681516" y="1883055"/>
            <a:ext cx="1039091" cy="138546"/>
          </a:xfrm>
          <a:prstGeom prst="rect">
            <a:avLst/>
          </a:prstGeom>
        </p:spPr>
        <p:txBody>
          <a:bodyPr vert="horz" wrap="square" lIns="91440" tIns="45720" rIns="91440" bIns="45720" rtlCol="0" anchor="ctr">
            <a:noAutofit/>
          </a:bodyPr>
          <a:lstStyle/>
          <a:p>
            <a:pPr algn="ctr"/>
            <a:r>
              <a:rPr lang="en-IN" sz="800" i="1" dirty="0" err="1" smtClean="0"/>
              <a:t>Alwal</a:t>
            </a:r>
            <a:endParaRPr lang="en-IN" sz="800" i="1" dirty="0" smtClean="0"/>
          </a:p>
        </p:txBody>
      </p:sp>
      <p:sp>
        <p:nvSpPr>
          <p:cNvPr id="156" name="TextBox 155"/>
          <p:cNvSpPr txBox="1"/>
          <p:nvPr/>
        </p:nvSpPr>
        <p:spPr bwMode="gray">
          <a:xfrm>
            <a:off x="3650664" y="1606997"/>
            <a:ext cx="1039091" cy="138546"/>
          </a:xfrm>
          <a:prstGeom prst="rect">
            <a:avLst/>
          </a:prstGeom>
        </p:spPr>
        <p:txBody>
          <a:bodyPr vert="horz" wrap="square" lIns="91440" tIns="45720" rIns="91440" bIns="45720" rtlCol="0" anchor="ctr">
            <a:noAutofit/>
          </a:bodyPr>
          <a:lstStyle/>
          <a:p>
            <a:pPr algn="ctr"/>
            <a:r>
              <a:rPr lang="en-IN" sz="800" i="1" dirty="0" err="1" smtClean="0"/>
              <a:t>Doolapally</a:t>
            </a:r>
            <a:endParaRPr lang="en-IN" sz="800" i="1" dirty="0" smtClean="0"/>
          </a:p>
        </p:txBody>
      </p:sp>
      <p:sp>
        <p:nvSpPr>
          <p:cNvPr id="157" name="TextBox 156"/>
          <p:cNvSpPr txBox="1"/>
          <p:nvPr/>
        </p:nvSpPr>
        <p:spPr bwMode="gray">
          <a:xfrm>
            <a:off x="5257273" y="2765399"/>
            <a:ext cx="1039091" cy="138546"/>
          </a:xfrm>
          <a:prstGeom prst="rect">
            <a:avLst/>
          </a:prstGeom>
        </p:spPr>
        <p:txBody>
          <a:bodyPr vert="horz" wrap="square" lIns="91440" tIns="45720" rIns="91440" bIns="45720" rtlCol="0" anchor="ctr">
            <a:noAutofit/>
          </a:bodyPr>
          <a:lstStyle/>
          <a:p>
            <a:pPr algn="ctr"/>
            <a:r>
              <a:rPr lang="en-IN" sz="800" i="1" dirty="0" smtClean="0"/>
              <a:t>Nehru Nagar</a:t>
            </a:r>
          </a:p>
        </p:txBody>
      </p:sp>
      <p:sp>
        <p:nvSpPr>
          <p:cNvPr id="158" name="TextBox 157"/>
          <p:cNvSpPr txBox="1"/>
          <p:nvPr/>
        </p:nvSpPr>
        <p:spPr bwMode="gray">
          <a:xfrm>
            <a:off x="5655428" y="2460642"/>
            <a:ext cx="1039091" cy="138546"/>
          </a:xfrm>
          <a:prstGeom prst="rect">
            <a:avLst/>
          </a:prstGeom>
        </p:spPr>
        <p:txBody>
          <a:bodyPr vert="horz" wrap="square" lIns="91440" tIns="45720" rIns="91440" bIns="45720" rtlCol="0" anchor="ctr">
            <a:noAutofit/>
          </a:bodyPr>
          <a:lstStyle/>
          <a:p>
            <a:pPr algn="ctr"/>
            <a:r>
              <a:rPr lang="en-IN" sz="800" i="1" dirty="0" err="1" smtClean="0"/>
              <a:t>Anantram</a:t>
            </a:r>
            <a:endParaRPr lang="en-IN" sz="800" i="1" dirty="0" smtClean="0"/>
          </a:p>
        </p:txBody>
      </p:sp>
      <p:sp>
        <p:nvSpPr>
          <p:cNvPr id="159" name="TextBox 158"/>
          <p:cNvSpPr txBox="1"/>
          <p:nvPr/>
        </p:nvSpPr>
        <p:spPr bwMode="gray">
          <a:xfrm>
            <a:off x="6049765" y="3140754"/>
            <a:ext cx="1039091" cy="138546"/>
          </a:xfrm>
          <a:prstGeom prst="rect">
            <a:avLst/>
          </a:prstGeom>
        </p:spPr>
        <p:txBody>
          <a:bodyPr vert="horz" wrap="square" lIns="91440" tIns="45720" rIns="91440" bIns="45720" rtlCol="0" anchor="ctr">
            <a:noAutofit/>
          </a:bodyPr>
          <a:lstStyle/>
          <a:p>
            <a:pPr algn="ctr"/>
            <a:r>
              <a:rPr lang="en-IN" sz="800" i="1" dirty="0" err="1" smtClean="0"/>
              <a:t>Sitaphalmandi</a:t>
            </a:r>
            <a:endParaRPr lang="en-IN" sz="800" i="1" dirty="0" smtClean="0"/>
          </a:p>
        </p:txBody>
      </p:sp>
      <p:sp>
        <p:nvSpPr>
          <p:cNvPr id="160" name="TextBox 159"/>
          <p:cNvSpPr txBox="1"/>
          <p:nvPr/>
        </p:nvSpPr>
        <p:spPr bwMode="gray">
          <a:xfrm>
            <a:off x="5443008" y="3523930"/>
            <a:ext cx="1039091" cy="138546"/>
          </a:xfrm>
          <a:prstGeom prst="rect">
            <a:avLst/>
          </a:prstGeom>
        </p:spPr>
        <p:txBody>
          <a:bodyPr vert="horz" wrap="square" lIns="91440" tIns="45720" rIns="91440" bIns="45720" rtlCol="0" anchor="ctr">
            <a:noAutofit/>
          </a:bodyPr>
          <a:lstStyle/>
          <a:p>
            <a:pPr algn="ctr"/>
            <a:r>
              <a:rPr lang="en-IN" sz="800" i="1" dirty="0" err="1" smtClean="0"/>
              <a:t>Bhoiguda</a:t>
            </a:r>
            <a:r>
              <a:rPr lang="en-IN" sz="800" i="1" dirty="0" smtClean="0"/>
              <a:t> Road</a:t>
            </a:r>
          </a:p>
        </p:txBody>
      </p:sp>
      <p:sp>
        <p:nvSpPr>
          <p:cNvPr id="161" name="TextBox 160"/>
          <p:cNvSpPr txBox="1"/>
          <p:nvPr/>
        </p:nvSpPr>
        <p:spPr bwMode="gray">
          <a:xfrm>
            <a:off x="6875347" y="3396288"/>
            <a:ext cx="1039091" cy="138546"/>
          </a:xfrm>
          <a:prstGeom prst="rect">
            <a:avLst/>
          </a:prstGeom>
        </p:spPr>
        <p:txBody>
          <a:bodyPr vert="horz" wrap="square" lIns="91440" tIns="45720" rIns="91440" bIns="45720" rtlCol="0" anchor="ctr">
            <a:noAutofit/>
          </a:bodyPr>
          <a:lstStyle/>
          <a:p>
            <a:pPr algn="ctr"/>
            <a:r>
              <a:rPr lang="en-IN" sz="800" i="1" dirty="0" smtClean="0"/>
              <a:t>Railway Workshop</a:t>
            </a:r>
          </a:p>
        </p:txBody>
      </p:sp>
      <p:sp>
        <p:nvSpPr>
          <p:cNvPr id="162" name="TextBox 161"/>
          <p:cNvSpPr txBox="1"/>
          <p:nvPr/>
        </p:nvSpPr>
        <p:spPr bwMode="gray">
          <a:xfrm>
            <a:off x="6573205" y="2761190"/>
            <a:ext cx="1039091" cy="138546"/>
          </a:xfrm>
          <a:prstGeom prst="rect">
            <a:avLst/>
          </a:prstGeom>
        </p:spPr>
        <p:txBody>
          <a:bodyPr vert="horz" wrap="square" lIns="91440" tIns="45720" rIns="91440" bIns="45720" rtlCol="0" anchor="ctr">
            <a:noAutofit/>
          </a:bodyPr>
          <a:lstStyle/>
          <a:p>
            <a:pPr algn="ctr"/>
            <a:r>
              <a:rPr lang="en-IN" sz="800" i="1" dirty="0" err="1" smtClean="0"/>
              <a:t>Malkajgiri</a:t>
            </a:r>
            <a:endParaRPr lang="en-IN" sz="800" i="1" dirty="0" smtClean="0"/>
          </a:p>
        </p:txBody>
      </p:sp>
      <p:sp>
        <p:nvSpPr>
          <p:cNvPr id="163" name="TextBox 162"/>
          <p:cNvSpPr txBox="1"/>
          <p:nvPr/>
        </p:nvSpPr>
        <p:spPr bwMode="gray">
          <a:xfrm>
            <a:off x="6174973" y="2012026"/>
            <a:ext cx="1039091" cy="138546"/>
          </a:xfrm>
          <a:prstGeom prst="rect">
            <a:avLst/>
          </a:prstGeom>
        </p:spPr>
        <p:txBody>
          <a:bodyPr vert="horz" wrap="square" lIns="91440" tIns="45720" rIns="91440" bIns="45720" rtlCol="0" anchor="ctr">
            <a:noAutofit/>
          </a:bodyPr>
          <a:lstStyle/>
          <a:p>
            <a:pPr algn="ctr"/>
            <a:r>
              <a:rPr lang="en-IN" sz="800" i="1" dirty="0" smtClean="0"/>
              <a:t>Generals Road</a:t>
            </a:r>
          </a:p>
        </p:txBody>
      </p:sp>
      <p:sp>
        <p:nvSpPr>
          <p:cNvPr id="164" name="TextBox 163"/>
          <p:cNvSpPr txBox="1"/>
          <p:nvPr/>
        </p:nvSpPr>
        <p:spPr bwMode="gray">
          <a:xfrm>
            <a:off x="7210211" y="2010942"/>
            <a:ext cx="1039091" cy="138546"/>
          </a:xfrm>
          <a:prstGeom prst="rect">
            <a:avLst/>
          </a:prstGeom>
        </p:spPr>
        <p:txBody>
          <a:bodyPr vert="horz" wrap="square" lIns="91440" tIns="45720" rIns="91440" bIns="45720" rtlCol="0" anchor="ctr">
            <a:noAutofit/>
          </a:bodyPr>
          <a:lstStyle/>
          <a:p>
            <a:pPr algn="ctr"/>
            <a:r>
              <a:rPr lang="en-IN" sz="800" i="1" dirty="0" err="1" smtClean="0"/>
              <a:t>Sainikpuri</a:t>
            </a:r>
            <a:endParaRPr lang="en-IN" sz="800" i="1" dirty="0" smtClean="0"/>
          </a:p>
        </p:txBody>
      </p:sp>
      <p:sp>
        <p:nvSpPr>
          <p:cNvPr id="165" name="TextBox 164"/>
          <p:cNvSpPr txBox="1"/>
          <p:nvPr/>
        </p:nvSpPr>
        <p:spPr bwMode="gray">
          <a:xfrm>
            <a:off x="5069846" y="5395641"/>
            <a:ext cx="1039091" cy="138546"/>
          </a:xfrm>
          <a:prstGeom prst="rect">
            <a:avLst/>
          </a:prstGeom>
        </p:spPr>
        <p:txBody>
          <a:bodyPr vert="horz" wrap="square" lIns="91440" tIns="45720" rIns="91440" bIns="45720" rtlCol="0" anchor="ctr">
            <a:noAutofit/>
          </a:bodyPr>
          <a:lstStyle/>
          <a:p>
            <a:pPr algn="ctr"/>
            <a:r>
              <a:rPr lang="en-IN" sz="800" i="1" dirty="0" smtClean="0"/>
              <a:t>Saidabad</a:t>
            </a:r>
          </a:p>
        </p:txBody>
      </p:sp>
      <p:sp>
        <p:nvSpPr>
          <p:cNvPr id="166" name="TextBox 165"/>
          <p:cNvSpPr txBox="1"/>
          <p:nvPr/>
        </p:nvSpPr>
        <p:spPr bwMode="gray">
          <a:xfrm>
            <a:off x="6046040" y="5458392"/>
            <a:ext cx="1039091" cy="138546"/>
          </a:xfrm>
          <a:prstGeom prst="rect">
            <a:avLst/>
          </a:prstGeom>
        </p:spPr>
        <p:txBody>
          <a:bodyPr vert="horz" wrap="square" lIns="91440" tIns="45720" rIns="91440" bIns="45720" rtlCol="0" anchor="ctr">
            <a:noAutofit/>
          </a:bodyPr>
          <a:lstStyle/>
          <a:p>
            <a:pPr algn="ctr"/>
            <a:r>
              <a:rPr lang="en-IN" sz="800" i="1" dirty="0" err="1" smtClean="0"/>
              <a:t>Saroornagar</a:t>
            </a:r>
            <a:endParaRPr lang="en-IN" sz="800" i="1" dirty="0" smtClean="0"/>
          </a:p>
        </p:txBody>
      </p:sp>
      <p:sp>
        <p:nvSpPr>
          <p:cNvPr id="167" name="TextBox 166"/>
          <p:cNvSpPr txBox="1"/>
          <p:nvPr/>
        </p:nvSpPr>
        <p:spPr bwMode="gray">
          <a:xfrm>
            <a:off x="6882745" y="5456244"/>
            <a:ext cx="1039091" cy="138546"/>
          </a:xfrm>
          <a:prstGeom prst="rect">
            <a:avLst/>
          </a:prstGeom>
        </p:spPr>
        <p:txBody>
          <a:bodyPr vert="horz" wrap="square" lIns="91440" tIns="45720" rIns="91440" bIns="45720" rtlCol="0" anchor="ctr">
            <a:noAutofit/>
          </a:bodyPr>
          <a:lstStyle/>
          <a:p>
            <a:pPr algn="ctr"/>
            <a:r>
              <a:rPr lang="en-IN" sz="800" i="1" dirty="0" smtClean="0"/>
              <a:t>LB Nagar</a:t>
            </a:r>
          </a:p>
        </p:txBody>
      </p:sp>
      <p:sp>
        <p:nvSpPr>
          <p:cNvPr id="193" name="TextBox 192"/>
          <p:cNvSpPr txBox="1"/>
          <p:nvPr/>
        </p:nvSpPr>
        <p:spPr bwMode="gray">
          <a:xfrm>
            <a:off x="563453" y="1351362"/>
            <a:ext cx="3417490" cy="218941"/>
          </a:xfrm>
          <a:prstGeom prst="rect">
            <a:avLst/>
          </a:prstGeom>
        </p:spPr>
        <p:txBody>
          <a:bodyPr vert="horz" wrap="square" lIns="91440" tIns="45720" rIns="91440" bIns="45720" rtlCol="0" anchor="ctr">
            <a:noAutofit/>
          </a:bodyPr>
          <a:lstStyle/>
          <a:p>
            <a:r>
              <a:rPr lang="en-IN" sz="1200" b="1" dirty="0" smtClean="0"/>
              <a:t>Hyderabad</a:t>
            </a:r>
          </a:p>
          <a:p>
            <a:r>
              <a:rPr lang="en-IN" sz="1200" i="1" dirty="0" smtClean="0"/>
              <a:t>Indicative PINCODE map</a:t>
            </a:r>
          </a:p>
          <a:p>
            <a:r>
              <a:rPr lang="en-IN" sz="1000" dirty="0" smtClean="0"/>
              <a:t>Not to scale</a:t>
            </a:r>
          </a:p>
        </p:txBody>
      </p:sp>
      <p:sp>
        <p:nvSpPr>
          <p:cNvPr id="195" name="Oval 194"/>
          <p:cNvSpPr/>
          <p:nvPr/>
        </p:nvSpPr>
        <p:spPr>
          <a:xfrm>
            <a:off x="1967851" y="6476116"/>
            <a:ext cx="187037" cy="159422"/>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p>
        </p:txBody>
      </p:sp>
      <p:sp>
        <p:nvSpPr>
          <p:cNvPr id="196" name="TextBox 195"/>
          <p:cNvSpPr txBox="1"/>
          <p:nvPr/>
        </p:nvSpPr>
        <p:spPr bwMode="gray">
          <a:xfrm>
            <a:off x="2213846" y="6458695"/>
            <a:ext cx="903816" cy="367049"/>
          </a:xfrm>
          <a:prstGeom prst="rect">
            <a:avLst/>
          </a:prstGeom>
        </p:spPr>
        <p:txBody>
          <a:bodyPr vert="horz" wrap="square" lIns="91440" tIns="45720" rIns="91440" bIns="45720" rtlCol="0" anchor="ctr">
            <a:noAutofit/>
          </a:bodyPr>
          <a:lstStyle/>
          <a:p>
            <a:r>
              <a:rPr lang="en-IN" sz="800" dirty="0" smtClean="0"/>
              <a:t>Proposed Croma Store Locations</a:t>
            </a:r>
          </a:p>
        </p:txBody>
      </p:sp>
      <p:sp>
        <p:nvSpPr>
          <p:cNvPr id="197" name="Oval 196"/>
          <p:cNvSpPr/>
          <p:nvPr/>
        </p:nvSpPr>
        <p:spPr>
          <a:xfrm>
            <a:off x="659579" y="6468767"/>
            <a:ext cx="187037" cy="159422"/>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p>
        </p:txBody>
      </p:sp>
      <p:sp>
        <p:nvSpPr>
          <p:cNvPr id="198" name="TextBox 197"/>
          <p:cNvSpPr txBox="1"/>
          <p:nvPr/>
        </p:nvSpPr>
        <p:spPr bwMode="gray">
          <a:xfrm>
            <a:off x="918487" y="6468445"/>
            <a:ext cx="1229361" cy="367049"/>
          </a:xfrm>
          <a:prstGeom prst="rect">
            <a:avLst/>
          </a:prstGeom>
        </p:spPr>
        <p:txBody>
          <a:bodyPr vert="horz" wrap="square" lIns="91440" tIns="45720" rIns="91440" bIns="45720" rtlCol="0" anchor="ctr">
            <a:noAutofit/>
          </a:bodyPr>
          <a:lstStyle/>
          <a:p>
            <a:r>
              <a:rPr lang="en-IN" sz="800" dirty="0" smtClean="0"/>
              <a:t>Existing </a:t>
            </a:r>
          </a:p>
          <a:p>
            <a:r>
              <a:rPr lang="en-IN" sz="800" dirty="0" smtClean="0"/>
              <a:t>Croma Store Locations</a:t>
            </a:r>
          </a:p>
        </p:txBody>
      </p:sp>
      <p:sp>
        <p:nvSpPr>
          <p:cNvPr id="205" name="TextBox 204"/>
          <p:cNvSpPr txBox="1"/>
          <p:nvPr/>
        </p:nvSpPr>
        <p:spPr bwMode="gray">
          <a:xfrm>
            <a:off x="3698636" y="3473614"/>
            <a:ext cx="1039091" cy="138546"/>
          </a:xfrm>
          <a:prstGeom prst="rect">
            <a:avLst/>
          </a:prstGeom>
        </p:spPr>
        <p:txBody>
          <a:bodyPr vert="horz" wrap="square" lIns="91440" tIns="45720" rIns="91440" bIns="45720" rtlCol="0" anchor="ctr">
            <a:noAutofit/>
          </a:bodyPr>
          <a:lstStyle/>
          <a:p>
            <a:pPr algn="ctr"/>
            <a:r>
              <a:rPr lang="en-IN" sz="800" i="1" dirty="0" smtClean="0"/>
              <a:t>Secretariat</a:t>
            </a:r>
          </a:p>
        </p:txBody>
      </p:sp>
      <p:sp>
        <p:nvSpPr>
          <p:cNvPr id="58" name="Oval 57"/>
          <p:cNvSpPr/>
          <p:nvPr/>
        </p:nvSpPr>
        <p:spPr>
          <a:xfrm>
            <a:off x="1607903" y="2929435"/>
            <a:ext cx="187037" cy="159422"/>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05" name="TextBox 104"/>
          <p:cNvSpPr txBox="1"/>
          <p:nvPr/>
        </p:nvSpPr>
        <p:spPr bwMode="gray">
          <a:xfrm>
            <a:off x="1304153" y="4023002"/>
            <a:ext cx="1039091" cy="138546"/>
          </a:xfrm>
          <a:prstGeom prst="rect">
            <a:avLst/>
          </a:prstGeom>
        </p:spPr>
        <p:txBody>
          <a:bodyPr vert="horz" wrap="square" lIns="91440" tIns="45720" rIns="91440" bIns="45720" rtlCol="0" anchor="ctr">
            <a:noAutofit/>
          </a:bodyPr>
          <a:lstStyle/>
          <a:p>
            <a:pPr algn="ctr"/>
            <a:r>
              <a:rPr lang="en-IN" sz="800" i="1" dirty="0" smtClean="0"/>
              <a:t>Golconda</a:t>
            </a:r>
          </a:p>
        </p:txBody>
      </p:sp>
      <p:sp>
        <p:nvSpPr>
          <p:cNvPr id="106" name="Rectangle 105"/>
          <p:cNvSpPr/>
          <p:nvPr/>
        </p:nvSpPr>
        <p:spPr>
          <a:xfrm>
            <a:off x="9576529" y="1470473"/>
            <a:ext cx="2120447" cy="123036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IN" sz="1000" dirty="0" smtClean="0">
              <a:solidFill>
                <a:schemeClr val="tx2">
                  <a:lumMod val="50000"/>
                </a:schemeClr>
              </a:solidFill>
            </a:endParaRPr>
          </a:p>
          <a:p>
            <a:r>
              <a:rPr lang="en-IN" sz="1000" dirty="0" smtClean="0">
                <a:solidFill>
                  <a:schemeClr val="tx2">
                    <a:lumMod val="50000"/>
                  </a:schemeClr>
                </a:solidFill>
              </a:rPr>
              <a:t>Geo-location of </a:t>
            </a:r>
            <a:r>
              <a:rPr lang="en-IN" sz="1000" b="1" dirty="0" smtClean="0">
                <a:solidFill>
                  <a:schemeClr val="tx2">
                    <a:lumMod val="50000"/>
                  </a:schemeClr>
                </a:solidFill>
              </a:rPr>
              <a:t>current and planned Croma Stores</a:t>
            </a:r>
            <a:r>
              <a:rPr lang="en-IN" sz="1000" dirty="0" smtClean="0">
                <a:solidFill>
                  <a:schemeClr val="tx2">
                    <a:lumMod val="50000"/>
                  </a:schemeClr>
                </a:solidFill>
              </a:rPr>
              <a:t> is critical in determining the location attractiveness of a potential location</a:t>
            </a:r>
          </a:p>
          <a:p>
            <a:endParaRPr lang="en-IN" sz="1000" dirty="0" smtClean="0">
              <a:solidFill>
                <a:schemeClr val="tx2">
                  <a:lumMod val="50000"/>
                </a:schemeClr>
              </a:solidFill>
            </a:endParaRPr>
          </a:p>
          <a:p>
            <a:endParaRPr lang="en-IN" sz="1000" dirty="0">
              <a:solidFill>
                <a:schemeClr val="tx2">
                  <a:lumMod val="50000"/>
                </a:schemeClr>
              </a:solidFill>
            </a:endParaRPr>
          </a:p>
        </p:txBody>
      </p:sp>
      <p:sp>
        <p:nvSpPr>
          <p:cNvPr id="108" name="Oval 107"/>
          <p:cNvSpPr/>
          <p:nvPr/>
        </p:nvSpPr>
        <p:spPr>
          <a:xfrm>
            <a:off x="5206720" y="2159292"/>
            <a:ext cx="187037" cy="159422"/>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cxnSp>
        <p:nvCxnSpPr>
          <p:cNvPr id="3" name="Straight Connector 2"/>
          <p:cNvCxnSpPr/>
          <p:nvPr/>
        </p:nvCxnSpPr>
        <p:spPr>
          <a:xfrm>
            <a:off x="4388104" y="1166418"/>
            <a:ext cx="0" cy="5187472"/>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7" idx="1"/>
            <a:endCxn id="107" idx="3"/>
          </p:cNvCxnSpPr>
          <p:nvPr/>
        </p:nvCxnSpPr>
        <p:spPr>
          <a:xfrm>
            <a:off x="563535" y="3760154"/>
            <a:ext cx="8774371"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180446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3" name="Table 192"/>
          <p:cNvGraphicFramePr>
            <a:graphicFrameLocks noGrp="1"/>
          </p:cNvGraphicFramePr>
          <p:nvPr>
            <p:extLst>
              <p:ext uri="{D42A27DB-BD31-4B8C-83A1-F6EECF244321}">
                <p14:modId xmlns:p14="http://schemas.microsoft.com/office/powerpoint/2010/main" val="4133737359"/>
              </p:ext>
            </p:extLst>
          </p:nvPr>
        </p:nvGraphicFramePr>
        <p:xfrm>
          <a:off x="563535" y="1166418"/>
          <a:ext cx="8774371" cy="5187472"/>
        </p:xfrm>
        <a:graphic>
          <a:graphicData uri="http://schemas.openxmlformats.org/drawingml/2006/table">
            <a:tbl>
              <a:tblPr firstRow="1" bandRow="1">
                <a:tableStyleId>{21E4AEA4-8DFA-4A89-87EB-49C32662AFE0}</a:tableStyleId>
              </a:tblPr>
              <a:tblGrid>
                <a:gridCol w="391927"/>
                <a:gridCol w="391927"/>
                <a:gridCol w="391925"/>
                <a:gridCol w="391925"/>
                <a:gridCol w="391927"/>
                <a:gridCol w="391927"/>
                <a:gridCol w="391927"/>
                <a:gridCol w="391927"/>
                <a:gridCol w="345406"/>
                <a:gridCol w="345406"/>
                <a:gridCol w="636966"/>
                <a:gridCol w="391927"/>
                <a:gridCol w="783850"/>
                <a:gridCol w="391927"/>
                <a:gridCol w="391927"/>
                <a:gridCol w="391925"/>
                <a:gridCol w="391925"/>
                <a:gridCol w="783850"/>
                <a:gridCol w="783850"/>
              </a:tblGrid>
              <a:tr h="298837">
                <a:tc rowSpan="2" gridSpan="8">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endParaRPr lang="en-IN"/>
                    </a:p>
                  </a:txBody>
                  <a:tcPr/>
                </a:tc>
                <a:tc rowSpan="2" hMerge="1">
                  <a:txBody>
                    <a:bodyPr/>
                    <a:lstStyle/>
                    <a:p>
                      <a:pPr algn="ctr"/>
                      <a:endParaRPr lang="en-IN" sz="9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hMerge="1">
                  <a:txBody>
                    <a:bodyPr/>
                    <a:lstStyle/>
                    <a:p>
                      <a:endParaRPr lang="en-IN"/>
                    </a:p>
                  </a:txBody>
                  <a:tcPr/>
                </a:tc>
                <a:tc rowSpan="2" hMerge="1">
                  <a:txBody>
                    <a:bodyPr/>
                    <a:lstStyle/>
                    <a:p>
                      <a:pPr algn="ctr"/>
                      <a:endParaRPr lang="en-IN" sz="9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hMerge="1">
                  <a:txBody>
                    <a:bodyPr/>
                    <a:lstStyle/>
                    <a:p>
                      <a:endParaRPr lang="en-IN"/>
                    </a:p>
                  </a:txBody>
                  <a:tcPr/>
                </a:tc>
                <a:tc rowSpan="2" hMerge="1">
                  <a:txBody>
                    <a:bodyPr/>
                    <a:lstStyle/>
                    <a:p>
                      <a:pPr algn="ctr"/>
                      <a:endParaRPr lang="en-IN" sz="9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no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a:p>
                  </a:txBody>
                  <a:tcPr/>
                </a:tc>
                <a:tc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hMerge="1">
                  <a:txBody>
                    <a:bodyPr/>
                    <a:lstStyle/>
                    <a:p>
                      <a:pPr algn="ctr"/>
                      <a:endParaRPr lang="en-IN" sz="900" dirty="0"/>
                    </a:p>
                  </a:txBody>
                  <a:tcPr anchor="ctr">
                    <a:solidFill>
                      <a:schemeClr val="accent1"/>
                    </a:solidFill>
                  </a:tcPr>
                </a:tc>
                <a:tc rowSpan="2" gridSpan="6">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2" hMerge="1">
                  <a:txBody>
                    <a:bodyPr/>
                    <a:lstStyle/>
                    <a:p>
                      <a:pPr algn="ctr"/>
                      <a:endParaRPr lang="en-IN" sz="900" dirty="0"/>
                    </a:p>
                  </a:txBody>
                  <a:tcPr anchor="ctr">
                    <a:solidFill>
                      <a:schemeClr val="accent1"/>
                    </a:solidFill>
                  </a:tcPr>
                </a:tc>
                <a:tc rowSpan="2" hMerge="1">
                  <a:txBody>
                    <a:bodyPr/>
                    <a:lstStyle/>
                    <a:p>
                      <a:endParaRPr lang="en-IN"/>
                    </a:p>
                  </a:txBody>
                  <a:tcPr/>
                </a:tc>
                <a:tc rowSpan="2" hMerge="1">
                  <a:txBody>
                    <a:bodyPr/>
                    <a:lstStyle/>
                    <a:p>
                      <a:pPr algn="ctr"/>
                      <a:endParaRPr lang="en-IN" sz="900" dirty="0"/>
                    </a:p>
                  </a:txBody>
                  <a:tcPr anchor="ctr">
                    <a:solidFill>
                      <a:schemeClr val="accent1"/>
                    </a:solidFill>
                  </a:tcPr>
                </a:tc>
                <a:tc rowSpan="2" hMerge="1">
                  <a:txBody>
                    <a:bodyPr/>
                    <a:lstStyle/>
                    <a:p>
                      <a:pPr algn="ctr"/>
                      <a:endParaRPr lang="en-IN" sz="900" dirty="0"/>
                    </a:p>
                  </a:txBody>
                  <a:tcPr anchor="ctr">
                    <a:solidFill>
                      <a:schemeClr val="accent1"/>
                    </a:solidFill>
                  </a:tcPr>
                </a:tc>
              </a:tr>
              <a:tr h="365582">
                <a:tc gridSpan="8" vMerge="1">
                  <a:txBody>
                    <a:bodyPr/>
                    <a:lstStyle/>
                    <a:p>
                      <a:pPr algn="ctr"/>
                      <a:endParaRPr lang="en-IN" sz="9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vMerge="1">
                  <a:txBody>
                    <a:bodyPr/>
                    <a:lstStyle/>
                    <a:p>
                      <a:endParaRPr lang="en-IN"/>
                    </a:p>
                  </a:txBody>
                  <a:tcPr/>
                </a:tc>
                <a:tc hMerge="1" vMerge="1">
                  <a:txBody>
                    <a:bodyPr/>
                    <a:lstStyle/>
                    <a:p>
                      <a:pPr algn="ctr"/>
                      <a:endParaRPr lang="en-IN" sz="9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vMerge="1">
                  <a:txBody>
                    <a:bodyPr/>
                    <a:lstStyle/>
                    <a:p>
                      <a:endParaRPr lang="en-IN"/>
                    </a:p>
                  </a:txBody>
                  <a:tcPr/>
                </a:tc>
                <a:tc hMerge="1" vMerge="1">
                  <a:txBody>
                    <a:bodyPr/>
                    <a:lstStyle/>
                    <a:p>
                      <a:pPr algn="ctr"/>
                      <a:endParaRPr lang="en-IN" sz="9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vMerge="1">
                  <a:txBody>
                    <a:bodyPr/>
                    <a:lstStyle/>
                    <a:p>
                      <a:endParaRPr lang="en-IN"/>
                    </a:p>
                  </a:txBody>
                  <a:tcPr/>
                </a:tc>
                <a:tc hMerge="1" vMerge="1">
                  <a:txBody>
                    <a:bodyPr/>
                    <a:lstStyle/>
                    <a:p>
                      <a:pPr algn="ctr"/>
                      <a:endParaRPr lang="en-IN" sz="9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vMerge="1">
                  <a:txBody>
                    <a:bodyPr/>
                    <a:lstStyle/>
                    <a:p>
                      <a:endParaRPr lang="en-IN"/>
                    </a:p>
                  </a:txBody>
                  <a:tcPr/>
                </a:tc>
                <a:tc grid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hMerge="1">
                  <a:txBody>
                    <a:bodyPr/>
                    <a:lstStyle/>
                    <a:p>
                      <a:pPr algn="ctr"/>
                      <a:endParaRPr lang="en-IN" sz="900" dirty="0"/>
                    </a:p>
                  </a:txBody>
                  <a:tcPr anchor="ctr">
                    <a:solidFill>
                      <a:schemeClr val="accent1"/>
                    </a:solidFill>
                  </a:tcPr>
                </a:tc>
                <a:tc hMerge="1">
                  <a:txBody>
                    <a:bodyPr/>
                    <a:lstStyle/>
                    <a:p>
                      <a:endParaRPr lang="en-IN"/>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6" vMerge="1">
                  <a:txBody>
                    <a:bodyPr/>
                    <a:lstStyle/>
                    <a:p>
                      <a:pPr algn="ctr"/>
                      <a:endParaRPr lang="en-IN" sz="900"/>
                    </a:p>
                  </a:txBody>
                  <a:tcPr anchor="ctr">
                    <a:solidFill>
                      <a:schemeClr val="accent1"/>
                    </a:solidFill>
                  </a:tcPr>
                </a:tc>
                <a:tc hMerge="1" vMerge="1">
                  <a:txBody>
                    <a:bodyPr/>
                    <a:lstStyle/>
                    <a:p>
                      <a:endParaRPr lang="en-IN"/>
                    </a:p>
                  </a:txBody>
                  <a:tcPr/>
                </a:tc>
                <a:tc hMerge="1" vMerge="1">
                  <a:txBody>
                    <a:bodyPr/>
                    <a:lstStyle/>
                    <a:p>
                      <a:pPr algn="ctr"/>
                      <a:endParaRPr lang="en-IN" sz="900"/>
                    </a:p>
                  </a:txBody>
                  <a:tcPr anchor="ctr">
                    <a:solidFill>
                      <a:schemeClr val="accent1"/>
                    </a:solidFill>
                  </a:tcPr>
                </a:tc>
                <a:tc hMerge="1" vMerge="1">
                  <a:txBody>
                    <a:bodyPr/>
                    <a:lstStyle/>
                    <a:p>
                      <a:endParaRPr lang="en-IN"/>
                    </a:p>
                  </a:txBody>
                  <a:tcPr/>
                </a:tc>
                <a:tc hMerge="1" vMerge="1">
                  <a:txBody>
                    <a:bodyPr/>
                    <a:lstStyle/>
                    <a:p>
                      <a:pPr algn="ctr"/>
                      <a:endParaRPr lang="en-IN" sz="900" dirty="0"/>
                    </a:p>
                  </a:txBody>
                  <a:tcPr anchor="ctr">
                    <a:solidFill>
                      <a:schemeClr val="accent1"/>
                    </a:solidFill>
                  </a:tcPr>
                </a:tc>
                <a:tc hMerge="1" vMerge="1">
                  <a:txBody>
                    <a:bodyPr/>
                    <a:lstStyle/>
                    <a:p>
                      <a:pPr algn="ctr"/>
                      <a:endParaRPr lang="en-IN" sz="900" dirty="0"/>
                    </a:p>
                  </a:txBody>
                  <a:tcPr anchor="ctr">
                    <a:solidFill>
                      <a:schemeClr val="accent1"/>
                    </a:solidFill>
                  </a:tcPr>
                </a:tc>
              </a:tr>
              <a:tr h="228489">
                <a:tc gridSpan="4">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no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h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hMerge="1">
                  <a:txBody>
                    <a:bodyPr/>
                    <a:lstStyle/>
                    <a:p>
                      <a:pPr algn="ctr"/>
                      <a:endParaRPr lang="en-IN" sz="900" dirty="0"/>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hMerge="1">
                  <a:txBody>
                    <a:bodyPr/>
                    <a:lstStyle/>
                    <a:p>
                      <a:pPr algn="ctr"/>
                      <a:endParaRPr lang="en-IN" sz="900" dirty="0"/>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2"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2" hMerge="1">
                  <a:txBody>
                    <a:bodyPr/>
                    <a:lstStyle/>
                    <a:p>
                      <a:pPr algn="ctr"/>
                      <a:endParaRPr lang="en-IN" sz="900" dirty="0"/>
                    </a:p>
                  </a:txBody>
                  <a:tcPr anchor="ctr">
                    <a:solidFill>
                      <a:schemeClr val="accent1"/>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229601">
                <a:tc gridSpan="2">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a:endParaRPr lang="en-IN" sz="900" dirty="0"/>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rowSpan="3"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3" hMerge="1">
                  <a:txBody>
                    <a:bodyPr/>
                    <a:lstStyle/>
                    <a:p>
                      <a:endParaRPr lang="en-IN"/>
                    </a:p>
                  </a:txBody>
                  <a:tcPr/>
                </a:tc>
                <a:tc rowSpan="3" hMerge="1">
                  <a:txBody>
                    <a:bodyPr/>
                    <a:lstStyle/>
                    <a:p>
                      <a:pPr algn="ctr"/>
                      <a:endParaRPr lang="en-IN" sz="900" dirty="0"/>
                    </a:p>
                  </a:txBody>
                  <a:tcPr/>
                </a:tc>
                <a:tc gridSpan="2" vMerge="1">
                  <a:txBody>
                    <a:bodyPr/>
                    <a:lstStyle/>
                    <a:p>
                      <a:pPr algn="ctr"/>
                      <a:endParaRPr lang="en-IN" sz="900" dirty="0"/>
                    </a:p>
                  </a:txBody>
                  <a:tcPr anchor="ctr">
                    <a:solidFill>
                      <a:schemeClr val="accent1"/>
                    </a:solidFill>
                  </a:tcPr>
                </a:tc>
                <a:tc hMerge="1" vMerge="1">
                  <a:txBody>
                    <a:bodyPr/>
                    <a:lstStyle/>
                    <a:p>
                      <a:endParaRPr lang="en-IN"/>
                    </a:p>
                  </a:txBody>
                  <a:tcPr/>
                </a:tc>
                <a:tc gridSpan="3" vMerge="1">
                  <a:txBody>
                    <a:bodyPr/>
                    <a:lstStyle/>
                    <a:p>
                      <a:pPr algn="ctr"/>
                      <a:endParaRPr lang="en-IN" sz="900" dirty="0"/>
                    </a:p>
                  </a:txBody>
                  <a:tcPr anchor="ctr">
                    <a:solidFill>
                      <a:schemeClr val="accent1"/>
                    </a:solidFill>
                  </a:tcPr>
                </a:tc>
                <a:tc hMerge="1" vMerge="1">
                  <a:txBody>
                    <a:bodyPr/>
                    <a:lstStyle/>
                    <a:p>
                      <a:endParaRPr lang="en-IN"/>
                    </a:p>
                  </a:txBody>
                  <a:tcPr/>
                </a:tc>
                <a:tc hMerge="1" vMerge="1">
                  <a:txBody>
                    <a:bodyPr/>
                    <a:lstStyle/>
                    <a:p>
                      <a:pPr algn="ctr"/>
                      <a:endParaRPr lang="en-IN" sz="900" dirty="0"/>
                    </a:p>
                  </a:txBody>
                  <a:tcPr/>
                </a:tc>
                <a:tc rowSpan="6">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229601">
                <a:tc rowSpan="5">
                  <a:txBody>
                    <a:bodyPr/>
                    <a:lstStyle/>
                    <a:p>
                      <a:pPr marL="0" marR="0" indent="0" algn="ctr" defTabSz="457200" rtl="0" eaLnBrk="1" fontAlgn="auto" latinLnBrk="0" hangingPunct="1">
                        <a:lnSpc>
                          <a:spcPct val="100000"/>
                        </a:lnSpc>
                        <a:spcBef>
                          <a:spcPts val="0"/>
                        </a:spcBef>
                        <a:spcAft>
                          <a:spcPts val="0"/>
                        </a:spcAft>
                        <a:buClrTx/>
                        <a:buSzTx/>
                        <a:buFontTx/>
                        <a:buNone/>
                        <a:tabLst/>
                        <a:defRPr/>
                      </a:pPr>
                      <a:endParaRPr lang="en-IN" sz="900" b="0" dirty="0" smtClean="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lumMod val="95000"/>
                      </a:schemeClr>
                    </a:solidFill>
                  </a:tcPr>
                </a:tc>
                <a:tc rowSpan="5">
                  <a:txBody>
                    <a:bodyPr/>
                    <a:lstStyle/>
                    <a:p>
                      <a:pPr marL="0" marR="0" indent="0" algn="ctr" defTabSz="457200" rtl="0" eaLnBrk="1" fontAlgn="auto" latinLnBrk="0" hangingPunct="1">
                        <a:lnSpc>
                          <a:spcPct val="100000"/>
                        </a:lnSpc>
                        <a:spcBef>
                          <a:spcPts val="0"/>
                        </a:spcBef>
                        <a:spcAft>
                          <a:spcPts val="0"/>
                        </a:spcAft>
                        <a:buClrTx/>
                        <a:buSzTx/>
                        <a:buFontTx/>
                        <a:buNone/>
                        <a:tabLst/>
                        <a:defRPr/>
                      </a:pP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vMerge="1">
                  <a:txBody>
                    <a:bodyPr/>
                    <a:lstStyle/>
                    <a:p>
                      <a:pPr algn="ctr"/>
                      <a:endParaRPr lang="en-IN" sz="900" dirty="0"/>
                    </a:p>
                  </a:txBody>
                  <a:tcPr/>
                </a:tc>
                <a:tc hMerge="1" vMerge="1">
                  <a:txBody>
                    <a:bodyPr/>
                    <a:lstStyle/>
                    <a:p>
                      <a:endParaRPr lang="en-IN"/>
                    </a:p>
                  </a:txBody>
                  <a:tcPr/>
                </a:tc>
                <a:tc gridSpan="2" vMerge="1">
                  <a:txBody>
                    <a:bodyPr/>
                    <a:lstStyle/>
                    <a:p>
                      <a:pPr algn="ctr"/>
                      <a:endParaRPr lang="en-IN" sz="900" dirty="0"/>
                    </a:p>
                  </a:txBody>
                  <a:tcPr/>
                </a:tc>
                <a:tc hMerge="1" v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gridSpan="3" vMerge="1">
                  <a:txBody>
                    <a:bodyPr/>
                    <a:lstStyle/>
                    <a:p>
                      <a:pPr algn="ct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vMerge="1">
                  <a:txBody>
                    <a:bodyPr/>
                    <a:lstStyle/>
                    <a:p>
                      <a:endParaRPr lang="en-IN"/>
                    </a:p>
                  </a:txBody>
                  <a:tcPr/>
                </a:tc>
                <a:tc hMerge="1"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rowSpan="2" grid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2" hMerge="1">
                  <a:txBody>
                    <a:bodyPr/>
                    <a:lstStyle/>
                    <a:p>
                      <a:pPr algn="ctr"/>
                      <a:endParaRPr lang="en-IN" sz="900" dirty="0"/>
                    </a:p>
                  </a:txBody>
                  <a:tcPr/>
                </a:tc>
                <a:tc rowSpan="2" hMerge="1">
                  <a:txBody>
                    <a:bodyPr/>
                    <a:lstStyle/>
                    <a:p>
                      <a:endParaRPr lang="en-IN"/>
                    </a:p>
                  </a:txBody>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pPr algn="ctr"/>
                      <a:endParaRPr lang="en-IN" sz="900" dirty="0"/>
                    </a:p>
                  </a:txBody>
                  <a:tcPr anchor="ctr">
                    <a:solidFill>
                      <a:schemeClr val="accent1"/>
                    </a:solidFill>
                  </a:tcPr>
                </a:tc>
              </a:tr>
              <a:tr h="123401">
                <a:tc vMerge="1">
                  <a:txBody>
                    <a:bodyPr/>
                    <a:lstStyle/>
                    <a:p>
                      <a:pPr marL="0" marR="0" indent="0" algn="ctr" defTabSz="457200" rtl="0" eaLnBrk="1" fontAlgn="auto" latinLnBrk="0" hangingPunct="1">
                        <a:lnSpc>
                          <a:spcPct val="100000"/>
                        </a:lnSpc>
                        <a:spcBef>
                          <a:spcPts val="0"/>
                        </a:spcBef>
                        <a:spcAft>
                          <a:spcPts val="0"/>
                        </a:spcAft>
                        <a:buClrTx/>
                        <a:buSzTx/>
                        <a:buFontTx/>
                        <a:buNone/>
                        <a:tabLst/>
                        <a:defRPr/>
                      </a:pPr>
                      <a:endParaRPr lang="en-IN" sz="900" dirty="0" smtClean="0"/>
                    </a:p>
                  </a:txBody>
                  <a:tcPr/>
                </a:tc>
                <a:tc vMerge="1">
                  <a:txBody>
                    <a:bodyPr/>
                    <a:lstStyle/>
                    <a:p>
                      <a:pPr marL="0" marR="0" indent="0" algn="ctr" defTabSz="457200" rtl="0" eaLnBrk="1" fontAlgn="auto" latinLnBrk="0" hangingPunct="1">
                        <a:lnSpc>
                          <a:spcPct val="100000"/>
                        </a:lnSpc>
                        <a:spcBef>
                          <a:spcPts val="0"/>
                        </a:spcBef>
                        <a:spcAft>
                          <a:spcPts val="0"/>
                        </a:spcAft>
                        <a:buClrTx/>
                        <a:buSzTx/>
                        <a:buFontTx/>
                        <a:buNone/>
                        <a:tabLst/>
                        <a:defRPr/>
                      </a:pPr>
                      <a:endParaRPr lang="en-IN" sz="900" dirty="0" smtClean="0"/>
                    </a:p>
                  </a:txBody>
                  <a:tcPr/>
                </a:tc>
                <a:tc rowSpan="4" grid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4" hMerge="1">
                  <a:txBody>
                    <a:bodyPr/>
                    <a:lstStyle/>
                    <a:p>
                      <a:endParaRPr lang="en-IN"/>
                    </a:p>
                  </a:txBody>
                  <a:tcPr/>
                </a:tc>
                <a:tc rowSpan="4" hMerge="1">
                  <a:txBody>
                    <a:bodyPr/>
                    <a:lstStyle/>
                    <a:p>
                      <a:pPr algn="ctr"/>
                      <a:endParaRPr lang="en-IN" sz="900" dirty="0" smtClean="0"/>
                    </a:p>
                  </a:txBody>
                  <a:tcPr/>
                </a:tc>
                <a:tc rowSpan="4" hMerge="1">
                  <a:txBody>
                    <a:bodyPr/>
                    <a:lstStyle/>
                    <a:p>
                      <a:endParaRPr lang="en-IN"/>
                    </a:p>
                  </a:txBody>
                  <a:tcPr/>
                </a:tc>
                <a:tc rowSpan="2" gridSpan="2">
                  <a:txBody>
                    <a:bodyPr/>
                    <a:lstStyle/>
                    <a:p>
                      <a:pPr marL="0" marR="0" indent="0" algn="ctr" defTabSz="457200" rtl="0" eaLnBrk="1" fontAlgn="auto" latinLnBrk="0" hangingPunct="1">
                        <a:lnSpc>
                          <a:spcPct val="100000"/>
                        </a:lnSpc>
                        <a:spcBef>
                          <a:spcPts val="0"/>
                        </a:spcBef>
                        <a:spcAft>
                          <a:spcPts val="0"/>
                        </a:spcAft>
                        <a:buClrTx/>
                        <a:buSzTx/>
                        <a:buFontTx/>
                        <a:buNone/>
                        <a:tabLst/>
                        <a:defRPr/>
                      </a:pP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4"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4" hMerge="1">
                  <a:txBody>
                    <a:bodyPr/>
                    <a:lstStyle/>
                    <a:p>
                      <a:endParaRPr lang="en-IN"/>
                    </a:p>
                  </a:txBody>
                  <a:tcPr/>
                </a:tc>
                <a:tc gridSpan="3" vMerge="1">
                  <a:txBody>
                    <a:bodyPr/>
                    <a:lstStyle/>
                    <a:p>
                      <a:pPr algn="ctr"/>
                      <a:endParaRPr lang="en-IN" sz="900" b="0" dirty="0">
                        <a:solidFill>
                          <a:schemeClr val="tx1"/>
                        </a:solidFill>
                      </a:endParaRPr>
                    </a:p>
                  </a:txBody>
                  <a:tcPr/>
                </a:tc>
                <a:tc hMerge="1" vMerge="1">
                  <a:txBody>
                    <a:bodyPr/>
                    <a:lstStyle/>
                    <a:p>
                      <a:endParaRPr lang="en-IN"/>
                    </a:p>
                  </a:txBody>
                  <a:tcPr/>
                </a:tc>
                <a:tc hMerge="1"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gridSpan="4"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vMerge="1">
                  <a:txBody>
                    <a:bodyPr/>
                    <a:lstStyle/>
                    <a:p>
                      <a:endParaRPr lang="en-IN"/>
                    </a:p>
                  </a:txBody>
                  <a:tcPr/>
                </a:tc>
                <a:tc hMerge="1"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vMerge="1">
                  <a:txBody>
                    <a:bodyPr/>
                    <a:lstStyle/>
                    <a:p>
                      <a:endParaRPr lang="en-IN"/>
                    </a:p>
                  </a:txBody>
                  <a:tcPr/>
                </a:tc>
                <a:tc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pPr algn="ctr"/>
                      <a:endParaRPr lang="en-IN" sz="900" dirty="0"/>
                    </a:p>
                  </a:txBody>
                  <a:tcPr anchor="ctr">
                    <a:solidFill>
                      <a:schemeClr val="accent1"/>
                    </a:solidFill>
                  </a:tcPr>
                </a:tc>
              </a:tr>
              <a:tr h="105088">
                <a:tc vMerge="1">
                  <a:txBody>
                    <a:bodyPr/>
                    <a:lstStyle/>
                    <a:p>
                      <a:endParaRPr lang="en-IN"/>
                    </a:p>
                  </a:txBody>
                  <a:tcPr/>
                </a:tc>
                <a:tc vMerge="1">
                  <a:txBody>
                    <a:bodyPr/>
                    <a:lstStyle/>
                    <a:p>
                      <a:endParaRPr lang="en-IN"/>
                    </a:p>
                  </a:txBody>
                  <a:tcPr/>
                </a:tc>
                <a:tc gridSpan="4" vMerge="1">
                  <a:txBody>
                    <a:bodyPr/>
                    <a:lstStyle/>
                    <a:p>
                      <a:endParaRPr lang="en-IN"/>
                    </a:p>
                  </a:txBody>
                  <a:tcPr/>
                </a:tc>
                <a:tc hMerge="1" vMerge="1">
                  <a:txBody>
                    <a:bodyPr/>
                    <a:lstStyle/>
                    <a:p>
                      <a:endParaRPr lang="en-IN"/>
                    </a:p>
                  </a:txBody>
                  <a:tcPr/>
                </a:tc>
                <a:tc hMerge="1" vMerge="1">
                  <a:txBody>
                    <a:bodyPr/>
                    <a:lstStyle/>
                    <a:p>
                      <a:endParaRPr lang="en-IN"/>
                    </a:p>
                  </a:txBody>
                  <a:tcPr/>
                </a:tc>
                <a:tc hMerge="1" vMerge="1">
                  <a:txBody>
                    <a:bodyPr/>
                    <a:lstStyle/>
                    <a:p>
                      <a:endParaRPr lang="en-IN"/>
                    </a:p>
                  </a:txBody>
                  <a:tcPr/>
                </a:tc>
                <a:tc gridSpan="2" vMerge="1">
                  <a:txBody>
                    <a:bodyPr/>
                    <a:lstStyle/>
                    <a:p>
                      <a:endParaRPr lang="en-IN"/>
                    </a:p>
                  </a:txBody>
                  <a:tcPr/>
                </a:tc>
                <a:tc hMerge="1" vMerge="1">
                  <a:txBody>
                    <a:bodyPr/>
                    <a:lstStyle/>
                    <a:p>
                      <a:endParaRPr lang="en-IN"/>
                    </a:p>
                  </a:txBody>
                  <a:tcPr/>
                </a:tc>
                <a:tc gridSpan="2" vMerge="1">
                  <a:txBody>
                    <a:bodyPr/>
                    <a:lstStyle/>
                    <a:p>
                      <a:endParaRPr lang="en-IN"/>
                    </a:p>
                  </a:txBody>
                  <a:tcPr/>
                </a:tc>
                <a:tc hMerge="1" vMerge="1">
                  <a:txBody>
                    <a:bodyPr/>
                    <a:lstStyle/>
                    <a:p>
                      <a:endParaRPr lang="en-IN"/>
                    </a:p>
                  </a:txBody>
                  <a:tcPr/>
                </a:tc>
                <a:tc rowSpan="3" gridSpan="2">
                  <a:txBody>
                    <a:bodyPr/>
                    <a:lstStyle/>
                    <a:p>
                      <a:pPr marL="0" marR="0" indent="0" algn="ctr" defTabSz="457200" rtl="0" eaLnBrk="1" fontAlgn="auto" latinLnBrk="0" hangingPunct="1">
                        <a:lnSpc>
                          <a:spcPct val="100000"/>
                        </a:lnSpc>
                        <a:spcBef>
                          <a:spcPts val="0"/>
                        </a:spcBef>
                        <a:spcAft>
                          <a:spcPts val="0"/>
                        </a:spcAft>
                        <a:buClrTx/>
                        <a:buSzTx/>
                        <a:buFontTx/>
                        <a:buNone/>
                        <a:tabLst/>
                        <a:defRPr/>
                      </a:pP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3" hMerge="1">
                  <a:txBody>
                    <a:bodyPr/>
                    <a:lstStyle/>
                    <a:p>
                      <a:endParaRPr lang="en-IN"/>
                    </a:p>
                  </a:txBody>
                  <a:tcPr/>
                </a:tc>
                <a:tc row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endParaRPr lang="en-IN"/>
                    </a:p>
                  </a:txBody>
                  <a:tcPr/>
                </a:tc>
              </a:tr>
              <a:tr h="260494">
                <a:tc vMerge="1">
                  <a:txBody>
                    <a:bodyPr/>
                    <a:lstStyle/>
                    <a:p>
                      <a:endParaRPr lang="en-IN"/>
                    </a:p>
                  </a:txBody>
                  <a:tcPr/>
                </a:tc>
                <a:tc vMerge="1">
                  <a:txBody>
                    <a:bodyPr/>
                    <a:lstStyle/>
                    <a:p>
                      <a:endParaRPr lang="en-IN"/>
                    </a:p>
                  </a:txBody>
                  <a:tcPr/>
                </a:tc>
                <a:tc gridSpan="4" vMerge="1">
                  <a:txBody>
                    <a:bodyPr/>
                    <a:lstStyle/>
                    <a:p>
                      <a:endParaRPr lang="en-IN"/>
                    </a:p>
                  </a:txBody>
                  <a:tcPr/>
                </a:tc>
                <a:tc hMerge="1" vMerge="1">
                  <a:txBody>
                    <a:bodyPr/>
                    <a:lstStyle/>
                    <a:p>
                      <a:endParaRPr lang="en-IN"/>
                    </a:p>
                  </a:txBody>
                  <a:tcPr/>
                </a:tc>
                <a:tc hMerge="1" vMerge="1">
                  <a:txBody>
                    <a:bodyPr/>
                    <a:lstStyle/>
                    <a:p>
                      <a:endParaRPr lang="en-IN"/>
                    </a:p>
                  </a:txBody>
                  <a:tcPr/>
                </a:tc>
                <a:tc hMerge="1" vMerge="1">
                  <a:txBody>
                    <a:bodyPr/>
                    <a:lstStyle/>
                    <a:p>
                      <a:endParaRPr lang="en-IN"/>
                    </a:p>
                  </a:txBody>
                  <a:tcPr/>
                </a:tc>
                <a:tc rowSpan="2" gridSpan="2">
                  <a:txBody>
                    <a:bodyPr/>
                    <a:lstStyle/>
                    <a:p>
                      <a:pPr algn="ct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gridSpan="2" vMerge="1">
                  <a:txBody>
                    <a:bodyPr/>
                    <a:lstStyle/>
                    <a:p>
                      <a:endParaRPr lang="en-IN"/>
                    </a:p>
                  </a:txBody>
                  <a:tcPr/>
                </a:tc>
                <a:tc hMerge="1" vMerge="1">
                  <a:txBody>
                    <a:bodyPr/>
                    <a:lstStyle/>
                    <a:p>
                      <a:endParaRPr lang="en-IN"/>
                    </a:p>
                  </a:txBody>
                  <a:tcPr/>
                </a:tc>
                <a:tc gridSpan="2" vMerge="1">
                  <a:txBody>
                    <a:bodyPr/>
                    <a:lstStyle/>
                    <a:p>
                      <a:endParaRPr lang="en-IN"/>
                    </a:p>
                  </a:txBody>
                  <a:tcPr/>
                </a:tc>
                <a:tc hMerge="1" vMerge="1">
                  <a:txBody>
                    <a:bodyPr/>
                    <a:lstStyle/>
                    <a:p>
                      <a:endParaRPr lang="en-IN"/>
                    </a:p>
                  </a:txBody>
                  <a:tcPr/>
                </a:tc>
                <a:tc vMerge="1">
                  <a:txBody>
                    <a:bodyPr/>
                    <a:lstStyle/>
                    <a:p>
                      <a:endParaRPr lang="en-IN"/>
                    </a:p>
                  </a:txBody>
                  <a:tcPr/>
                </a:tc>
                <a:tc gridSpan="2" vMerge="1">
                  <a:txBody>
                    <a:bodyPr/>
                    <a:lstStyle/>
                    <a:p>
                      <a:endParaRPr lang="en-IN"/>
                    </a:p>
                  </a:txBody>
                  <a:tcPr/>
                </a:tc>
                <a:tc hMerge="1" vMerge="1">
                  <a:txBody>
                    <a:bodyPr/>
                    <a:lstStyle/>
                    <a:p>
                      <a:endParaRPr lang="en-IN"/>
                    </a:p>
                  </a:txBody>
                  <a:tcPr/>
                </a:tc>
                <a:tc gridSpan="2" vMerge="1">
                  <a:txBody>
                    <a:bodyPr/>
                    <a:lstStyle/>
                    <a:p>
                      <a:endParaRPr lang="en-IN"/>
                    </a:p>
                  </a:txBody>
                  <a:tcPr/>
                </a:tc>
                <a:tc hMerge="1" vMerge="1">
                  <a:txBody>
                    <a:bodyPr/>
                    <a:lstStyle/>
                    <a:p>
                      <a:endParaRPr lang="en-IN"/>
                    </a:p>
                  </a:txBody>
                  <a:tcPr/>
                </a:tc>
                <a:tc vMerge="1">
                  <a:txBody>
                    <a:bodyPr/>
                    <a:lstStyle/>
                    <a:p>
                      <a:endParaRPr lang="en-IN"/>
                    </a:p>
                  </a:txBody>
                  <a:tcPr/>
                </a:tc>
                <a:tc vMerge="1">
                  <a:txBody>
                    <a:bodyPr/>
                    <a:lstStyle/>
                    <a:p>
                      <a:endParaRPr lang="en-IN"/>
                    </a:p>
                  </a:txBody>
                  <a:tcPr/>
                </a:tc>
              </a:tr>
              <a:tr h="0">
                <a:tc vMerge="1">
                  <a:txBody>
                    <a:bodyPr/>
                    <a:lstStyle/>
                    <a:p>
                      <a:endParaRPr lang="en-IN"/>
                    </a:p>
                  </a:txBody>
                  <a:tcPr/>
                </a:tc>
                <a:tc vMerge="1">
                  <a:txBody>
                    <a:bodyPr/>
                    <a:lstStyle/>
                    <a:p>
                      <a:endParaRPr lang="en-IN"/>
                    </a:p>
                  </a:txBody>
                  <a:tcPr/>
                </a:tc>
                <a:tc gridSpan="4" vMerge="1">
                  <a:txBody>
                    <a:bodyPr/>
                    <a:lstStyle/>
                    <a:p>
                      <a:endParaRPr lang="en-IN"/>
                    </a:p>
                  </a:txBody>
                  <a:tcPr/>
                </a:tc>
                <a:tc hMerge="1" vMerge="1">
                  <a:txBody>
                    <a:bodyPr/>
                    <a:lstStyle/>
                    <a:p>
                      <a:endParaRPr lang="en-IN"/>
                    </a:p>
                  </a:txBody>
                  <a:tcPr/>
                </a:tc>
                <a:tc hMerge="1" vMerge="1">
                  <a:txBody>
                    <a:bodyPr/>
                    <a:lstStyle/>
                    <a:p>
                      <a:endParaRPr lang="en-IN"/>
                    </a:p>
                  </a:txBody>
                  <a:tcPr/>
                </a:tc>
                <a:tc hMerge="1" vMerge="1">
                  <a:txBody>
                    <a:bodyPr/>
                    <a:lstStyle/>
                    <a:p>
                      <a:endParaRPr lang="en-IN"/>
                    </a:p>
                  </a:txBody>
                  <a:tcPr/>
                </a:tc>
                <a:tc gridSpan="2" vMerge="1">
                  <a:txBody>
                    <a:bodyPr/>
                    <a:lstStyle/>
                    <a:p>
                      <a:endParaRPr lang="en-IN"/>
                    </a:p>
                  </a:txBody>
                  <a:tcPr/>
                </a:tc>
                <a:tc hMerge="1" vMerge="1">
                  <a:txBody>
                    <a:bodyPr/>
                    <a:lstStyle/>
                    <a:p>
                      <a:endParaRPr lang="en-IN"/>
                    </a:p>
                  </a:txBody>
                  <a:tcPr/>
                </a:tc>
                <a:tc gridSpan="2" vMerge="1">
                  <a:txBody>
                    <a:bodyPr/>
                    <a:lstStyle/>
                    <a:p>
                      <a:endParaRPr lang="en-IN"/>
                    </a:p>
                  </a:txBody>
                  <a:tcPr/>
                </a:tc>
                <a:tc hMerge="1" vMerge="1">
                  <a:txBody>
                    <a:bodyPr/>
                    <a:lstStyle/>
                    <a:p>
                      <a:endParaRPr lang="en-IN"/>
                    </a:p>
                  </a:txBody>
                  <a:tcPr/>
                </a:tc>
                <a:tc gridSpan="2" vMerge="1">
                  <a:txBody>
                    <a:bodyPr/>
                    <a:lstStyle/>
                    <a:p>
                      <a:endParaRPr lang="en-IN"/>
                    </a:p>
                  </a:txBody>
                  <a:tcPr/>
                </a:tc>
                <a:tc hMerge="1" vMerge="1">
                  <a:txBody>
                    <a:bodyPr/>
                    <a:lstStyle/>
                    <a:p>
                      <a:endParaRPr lang="en-IN"/>
                    </a:p>
                  </a:txBody>
                  <a:tcPr/>
                </a:tc>
                <a:tc vMerge="1">
                  <a:txBody>
                    <a:bodyPr/>
                    <a:lstStyle/>
                    <a:p>
                      <a:endParaRPr lang="en-IN"/>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4"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4" hMerge="1">
                  <a:txBody>
                    <a:bodyPr/>
                    <a:lstStyle/>
                    <a:p>
                      <a:endParaRPr lang="en-IN"/>
                    </a:p>
                  </a:txBody>
                  <a:tcPr/>
                </a:tc>
                <a:tc vMerge="1">
                  <a:txBody>
                    <a:bodyPr/>
                    <a:lstStyle/>
                    <a:p>
                      <a:endParaRPr lang="en-IN"/>
                    </a:p>
                  </a:txBody>
                  <a:tcPr/>
                </a:tc>
                <a:tc vMerge="1">
                  <a:txBody>
                    <a:bodyPr/>
                    <a:lstStyle/>
                    <a:p>
                      <a:endParaRPr lang="en-IN"/>
                    </a:p>
                  </a:txBody>
                  <a:tcPr/>
                </a:tc>
              </a:tr>
              <a:tr h="269409">
                <a:tc>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lumMod val="95000"/>
                      </a:schemeClr>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a:endParaRPr lang="en-IN" sz="900" dirty="0"/>
                    </a:p>
                  </a:txBody>
                  <a:tcPr/>
                </a:tc>
                <a:tc hMerge="1">
                  <a:txBody>
                    <a:bodyPr/>
                    <a:lstStyle/>
                    <a:p>
                      <a:pPr algn="ctr"/>
                      <a:endParaRPr lang="en-IN" sz="900" dirty="0"/>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vMerge="1">
                  <a:txBody>
                    <a:bodyPr/>
                    <a:lstStyle/>
                    <a:p>
                      <a:pPr algn="ctr"/>
                      <a:endParaRPr lang="en-IN" sz="900" dirty="0"/>
                    </a:p>
                  </a:txBody>
                  <a:tcPr/>
                </a:tc>
                <a:tc gridSpan="2" vMerge="1">
                  <a:txBody>
                    <a:bodyPr/>
                    <a:lstStyle/>
                    <a:p>
                      <a:pPr algn="ctr"/>
                      <a:endParaRPr lang="en-IN" sz="900" dirty="0"/>
                    </a:p>
                  </a:txBody>
                  <a:tcPr/>
                </a:tc>
                <a:tc hMerge="1" vMerge="1">
                  <a:txBody>
                    <a:bodyPr/>
                    <a:lstStyle/>
                    <a:p>
                      <a:endParaRPr lang="en-IN"/>
                    </a:p>
                  </a:txBody>
                  <a:tcPr/>
                </a:tc>
                <a:tc gridSpan="2" vMerge="1">
                  <a:txBody>
                    <a:bodyPr/>
                    <a:lstStyle/>
                    <a:p>
                      <a:pPr algn="ctr"/>
                      <a:endParaRPr lang="en-IN" sz="900" dirty="0"/>
                    </a:p>
                  </a:txBody>
                  <a:tcPr/>
                </a:tc>
                <a:tc hMerge="1" vMerge="1">
                  <a:txBody>
                    <a:bodyPr/>
                    <a:lstStyle/>
                    <a:p>
                      <a:endParaRPr lang="en-IN"/>
                    </a:p>
                  </a:txBody>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0">
                <a:tc rowSpan="2" gridSpan="2">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vMerge="1">
                  <a:txBody>
                    <a:bodyPr/>
                    <a:lstStyle/>
                    <a:p>
                      <a:endParaRPr lang="en-IN"/>
                    </a:p>
                  </a:txBody>
                  <a:tcPr/>
                </a:tc>
                <a:tc hMerge="1" vMerge="1">
                  <a:txBody>
                    <a:bodyPr/>
                    <a:lstStyle/>
                    <a:p>
                      <a:endParaRPr lang="en-IN"/>
                    </a:p>
                  </a:txBody>
                  <a:tcPr/>
                </a:tc>
                <a:tc vMerge="1">
                  <a:txBody>
                    <a:bodyPr/>
                    <a:lstStyle/>
                    <a:p>
                      <a:endParaRPr lang="en-IN"/>
                    </a:p>
                  </a:txBody>
                  <a:tcPr/>
                </a:tc>
                <a:tc vMerge="1">
                  <a:txBody>
                    <a:bodyPr/>
                    <a:lstStyle/>
                    <a:p>
                      <a:endParaRPr lang="en-IN"/>
                    </a:p>
                  </a:txBody>
                  <a:tcPr/>
                </a:tc>
              </a:tr>
              <a:tr h="365582">
                <a:tc gridSpan="2" vMerge="1">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vMerge="1">
                  <a:txBody>
                    <a:bodyPr/>
                    <a:lstStyle/>
                    <a:p>
                      <a:endParaRPr lang="en-IN"/>
                    </a:p>
                  </a:txBody>
                  <a:tcPr/>
                </a:tc>
                <a:tc gridSpan="2"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hMerge="1" vMerge="1">
                  <a:txBody>
                    <a:bodyPr/>
                    <a:lstStyle/>
                    <a:p>
                      <a:endParaRPr lang="en-IN"/>
                    </a:p>
                  </a:txBody>
                  <a:tcPr/>
                </a:tc>
                <a:tc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gridSpan="2"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vMerge="1">
                  <a:txBody>
                    <a:bodyPr/>
                    <a:lstStyle/>
                    <a:p>
                      <a:endParaRPr lang="en-IN"/>
                    </a:p>
                  </a:txBody>
                  <a:tcPr/>
                </a:tc>
                <a:tc gridSpan="2"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vMerge="1">
                  <a:txBody>
                    <a:bodyPr/>
                    <a:lstStyle/>
                    <a:p>
                      <a:endParaRPr lang="en-IN"/>
                    </a:p>
                  </a:txBody>
                  <a:tcPr/>
                </a:tc>
                <a:tc gridSpan="2"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vMerge="1">
                  <a:txBody>
                    <a:bodyPr/>
                    <a:lstStyle/>
                    <a:p>
                      <a:pPr algn="ctr"/>
                      <a:endParaRPr lang="en-IN" sz="900" dirty="0"/>
                    </a:p>
                  </a:txBody>
                  <a:tcPr/>
                </a:tc>
                <a:tc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vMerge="1">
                  <a:txBody>
                    <a:bodyPr/>
                    <a:lstStyle/>
                    <a:p>
                      <a:pPr algn="ctr"/>
                      <a:endParaRPr lang="en-IN" sz="900" dirty="0"/>
                    </a:p>
                  </a:txBody>
                  <a:tcPr/>
                </a:tc>
                <a:tc hMerge="1" vMerge="1">
                  <a:txBody>
                    <a:bodyPr/>
                    <a:lstStyle/>
                    <a:p>
                      <a:endParaRPr lang="en-IN"/>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373543">
                <a:tc rowSpan="4">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lumMod val="95000"/>
                      </a:schemeClr>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gridSpan="2">
                  <a:txBody>
                    <a:bodyPr/>
                    <a:lstStyle/>
                    <a:p>
                      <a:pPr algn="ct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pPr algn="ctr"/>
                      <a:endParaRPr lang="en-IN" sz="900" dirty="0"/>
                    </a:p>
                  </a:txBody>
                  <a:tcPr/>
                </a:tc>
                <a:tc rowSpan="2" gridSpan="2">
                  <a:txBody>
                    <a:bodyPr/>
                    <a:lstStyle/>
                    <a:p>
                      <a:pPr algn="ct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pPr algn="ctr"/>
                      <a:endParaRPr lang="en-IN" sz="900" dirty="0"/>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a:txBody>
                    <a:bodyPr/>
                    <a:lstStyle/>
                    <a:p>
                      <a:pPr algn="ct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r>
              <a:tr h="229601">
                <a:tc vMerge="1">
                  <a:txBody>
                    <a:bodyPr/>
                    <a:lstStyle/>
                    <a:p>
                      <a:pPr algn="ctr"/>
                      <a:endParaRPr lang="en-IN" sz="9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vMerge="1">
                  <a:txBody>
                    <a:bodyPr/>
                    <a:lstStyle/>
                    <a:p>
                      <a:pPr algn="ctr"/>
                      <a:endParaRPr lang="en-IN" sz="900" dirty="0" smtClean="0"/>
                    </a:p>
                  </a:txBody>
                  <a:tcPr/>
                </a:tc>
                <a:tc hMerge="1" vMerge="1">
                  <a:txBody>
                    <a:bodyPr/>
                    <a:lstStyle/>
                    <a:p>
                      <a:endParaRPr lang="en-IN"/>
                    </a:p>
                  </a:txBody>
                  <a:tcPr/>
                </a:tc>
                <a:tc gridSpan="2" vMerge="1">
                  <a:txBody>
                    <a:bodyPr/>
                    <a:lstStyle/>
                    <a:p>
                      <a:pPr algn="ctr"/>
                      <a:endParaRPr lang="en-IN" sz="900" dirty="0"/>
                    </a:p>
                  </a:txBody>
                  <a:tcPr/>
                </a:tc>
                <a:tc hMerge="1" vMerge="1">
                  <a:txBody>
                    <a:bodyPr/>
                    <a:lstStyle/>
                    <a:p>
                      <a:endParaRPr lang="en-IN"/>
                    </a:p>
                  </a:txBody>
                  <a:tcPr/>
                </a:tc>
                <a:tc rowSpan="3"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3" hMerge="1">
                  <a:txBody>
                    <a:bodyPr/>
                    <a:lstStyle/>
                    <a:p>
                      <a:endParaRPr lang="en-IN"/>
                    </a:p>
                  </a:txBody>
                  <a:tcPr/>
                </a:tc>
                <a:tc gridSpan="2">
                  <a:txBody>
                    <a:bodyPr/>
                    <a:lstStyle/>
                    <a:p>
                      <a:pPr algn="ct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a:endParaRPr lang="en-IN" sz="900" dirty="0"/>
                    </a:p>
                  </a:txBody>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228489">
                <a:tc vMerge="1">
                  <a:txBody>
                    <a:bodyPr/>
                    <a:lstStyle/>
                    <a:p>
                      <a:pPr algn="ctr"/>
                      <a:endParaRPr lang="en-IN" sz="9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vMerge="1">
                  <a:txBody>
                    <a:bodyPr/>
                    <a:lstStyle/>
                    <a:p>
                      <a:pPr algn="ctr"/>
                      <a:endParaRPr lang="en-IN" sz="9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grid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2" hMerge="1">
                  <a:txBody>
                    <a:bodyPr/>
                    <a:lstStyle/>
                    <a:p>
                      <a:pPr algn="ctr"/>
                      <a:endParaRPr lang="en-IN" sz="900" dirty="0"/>
                    </a:p>
                  </a:txBody>
                  <a:tcPr/>
                </a:tc>
                <a:tc rowSpan="2" hMerge="1">
                  <a:txBody>
                    <a:bodyPr/>
                    <a:lstStyle/>
                    <a:p>
                      <a:endParaRPr lang="en-IN"/>
                    </a:p>
                  </a:txBody>
                  <a:tcPr/>
                </a:tc>
                <a:tc gridSpan="2" vMerge="1">
                  <a:txBody>
                    <a:bodyPr/>
                    <a:lstStyle/>
                    <a:p>
                      <a:pPr algn="ctr"/>
                      <a:endParaRPr lang="en-IN" sz="900" dirty="0"/>
                    </a:p>
                  </a:txBody>
                  <a:tcPr/>
                </a:tc>
                <a:tc hMerge="1" v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row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4"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4" hMerge="1">
                  <a:txBody>
                    <a:bodyPr/>
                    <a:lstStyle/>
                    <a:p>
                      <a:endParaRPr lang="en-IN"/>
                    </a:p>
                  </a:txBody>
                  <a:tcPr/>
                </a:tc>
                <a:tc row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pPr algn="ctr"/>
                      <a:endParaRPr lang="en-IN" sz="900" dirty="0"/>
                    </a:p>
                  </a:txBody>
                  <a:tcPr/>
                </a:tc>
              </a:tr>
              <a:tr h="228489">
                <a:tc vMerge="1">
                  <a:txBody>
                    <a:bodyPr/>
                    <a:lstStyle/>
                    <a:p>
                      <a:endParaRPr lang="en-IN"/>
                    </a:p>
                  </a:txBody>
                  <a:tcPr/>
                </a:tc>
                <a:tc vMerge="1">
                  <a:txBody>
                    <a:bodyPr/>
                    <a:lstStyle/>
                    <a:p>
                      <a:endParaRPr lang="en-IN"/>
                    </a:p>
                  </a:txBody>
                  <a:tcPr/>
                </a:tc>
                <a:tc gridSpan="4" vMerge="1">
                  <a:txBody>
                    <a:bodyPr/>
                    <a:lstStyle/>
                    <a:p>
                      <a:endParaRPr lang="en-IN"/>
                    </a:p>
                  </a:txBody>
                  <a:tcPr/>
                </a:tc>
                <a:tc hMerge="1" vMerge="1">
                  <a:txBody>
                    <a:bodyPr/>
                    <a:lstStyle/>
                    <a:p>
                      <a:endParaRPr lang="en-IN"/>
                    </a:p>
                  </a:txBody>
                  <a:tcPr/>
                </a:tc>
                <a:tc hMerge="1" vMerge="1">
                  <a:txBody>
                    <a:bodyPr/>
                    <a:lstStyle/>
                    <a:p>
                      <a:endParaRPr lang="en-IN"/>
                    </a:p>
                  </a:txBody>
                  <a:tcPr/>
                </a:tc>
                <a:tc hMerge="1" vMerge="1">
                  <a:txBody>
                    <a:bodyPr/>
                    <a:lstStyle/>
                    <a:p>
                      <a:endParaRPr lang="en-IN"/>
                    </a:p>
                  </a:txBody>
                  <a:tcPr/>
                </a:tc>
                <a:tc gridSpan="2" vMerge="1">
                  <a:txBody>
                    <a:bodyPr/>
                    <a:lstStyle/>
                    <a:p>
                      <a:endParaRPr lang="en-IN"/>
                    </a:p>
                  </a:txBody>
                  <a:tcPr/>
                </a:tc>
                <a:tc hMerge="1" vMerge="1">
                  <a:txBody>
                    <a:bodyPr/>
                    <a:lstStyle/>
                    <a:p>
                      <a:endParaRPr lang="en-IN" dirty="0"/>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gridSpan="2" vMerge="1">
                  <a:txBody>
                    <a:bodyPr/>
                    <a:lstStyle/>
                    <a:p>
                      <a:endParaRPr lang="en-IN"/>
                    </a:p>
                  </a:txBody>
                  <a:tcPr/>
                </a:tc>
                <a:tc hMerge="1"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pPr algn="ctr"/>
                      <a:endParaRPr lang="en-IN" sz="900" dirty="0"/>
                    </a:p>
                  </a:txBody>
                  <a:tcPr/>
                </a:tc>
                <a:tc vMerge="1">
                  <a:txBody>
                    <a:bodyPr/>
                    <a:lstStyle/>
                    <a:p>
                      <a:endParaRPr lang="en-IN"/>
                    </a:p>
                  </a:txBody>
                  <a:tcPr/>
                </a:tc>
              </a:tr>
              <a:tr h="228489">
                <a:tc rowSpan="3" gridSpan="2">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3" hMerge="1">
                  <a:txBody>
                    <a:bodyPr/>
                    <a:lstStyle/>
                    <a:p>
                      <a:endParaRPr lang="en-IN"/>
                    </a:p>
                  </a:txBody>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gridSpan="2">
                  <a:txBody>
                    <a:bodyPr/>
                    <a:lstStyle/>
                    <a:p>
                      <a:pPr algn="ct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vMerge="1">
                  <a:txBody>
                    <a:bodyPr/>
                    <a:lstStyle/>
                    <a:p>
                      <a:pPr algn="ctr"/>
                      <a:endParaRPr lang="en-IN" sz="900" dirty="0"/>
                    </a:p>
                  </a:txBody>
                  <a:tcPr/>
                </a:tc>
                <a:tc vMerge="1">
                  <a:txBody>
                    <a:bodyPr/>
                    <a:lstStyle/>
                    <a:p>
                      <a:pPr algn="ctr"/>
                      <a:endParaRPr lang="en-IN" sz="900" dirty="0"/>
                    </a:p>
                  </a:txBody>
                  <a:tcPr/>
                </a:tc>
                <a:tc vMerge="1">
                  <a:txBody>
                    <a:bodyPr/>
                    <a:lstStyle/>
                    <a:p>
                      <a:pPr algn="ctr"/>
                      <a:endParaRPr lang="en-IN" sz="900" dirty="0"/>
                    </a:p>
                  </a:txBody>
                  <a:tcPr/>
                </a:tc>
                <a:tc gridSpan="2" vMerge="1">
                  <a:txBody>
                    <a:bodyPr/>
                    <a:lstStyle/>
                    <a:p>
                      <a:pPr algn="ctr"/>
                      <a:endParaRPr lang="en-IN" sz="900" dirty="0"/>
                    </a:p>
                  </a:txBody>
                  <a:tcPr/>
                </a:tc>
                <a:tc hMerge="1" vMerge="1">
                  <a:txBody>
                    <a:bodyPr/>
                    <a:lstStyle/>
                    <a:p>
                      <a:endParaRPr lang="en-IN"/>
                    </a:p>
                  </a:txBody>
                  <a:tcPr/>
                </a:tc>
                <a:tc vMerge="1">
                  <a:txBody>
                    <a:bodyPr/>
                    <a:lstStyle/>
                    <a:p>
                      <a:pPr algn="ctr"/>
                      <a:endParaRPr lang="en-IN" sz="900" dirty="0"/>
                    </a:p>
                  </a:txBody>
                  <a:tcPr/>
                </a:tc>
                <a:tc vMerge="1">
                  <a:txBody>
                    <a:bodyPr/>
                    <a:lstStyle/>
                    <a:p>
                      <a:endParaRPr lang="en-IN"/>
                    </a:p>
                  </a:txBody>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228489">
                <a:tc gridSpan="2" vMerge="1">
                  <a:txBody>
                    <a:bodyPr/>
                    <a:lstStyle/>
                    <a:p>
                      <a:endParaRPr lang="en-IN"/>
                    </a:p>
                  </a:txBody>
                  <a:tcPr/>
                </a:tc>
                <a:tc hMerge="1" vMerge="1">
                  <a:txBody>
                    <a:bodyPr/>
                    <a:lstStyle/>
                    <a:p>
                      <a:endParaRPr lang="en-IN"/>
                    </a:p>
                  </a:txBody>
                  <a:tcPr/>
                </a:tc>
                <a:tc vMerge="1">
                  <a:txBody>
                    <a:bodyPr/>
                    <a:lstStyle/>
                    <a:p>
                      <a:pPr algn="ctr"/>
                      <a:endParaRPr lang="en-IN" sz="1000" dirty="0"/>
                    </a:p>
                  </a:txBody>
                  <a:tcPr/>
                </a:tc>
                <a:tc vMerge="1">
                  <a:txBody>
                    <a:bodyPr/>
                    <a:lstStyle/>
                    <a:p>
                      <a:endParaRPr lang="en-IN"/>
                    </a:p>
                  </a:txBody>
                  <a:tcPr/>
                </a:tc>
                <a:tc gridSpan="2" vMerge="1">
                  <a:txBody>
                    <a:bodyPr/>
                    <a:lstStyle/>
                    <a:p>
                      <a:pPr algn="ctr"/>
                      <a:endParaRPr lang="en-IN" sz="1000" dirty="0"/>
                    </a:p>
                  </a:txBody>
                  <a:tcPr/>
                </a:tc>
                <a:tc hMerge="1" vMerge="1">
                  <a:txBody>
                    <a:bodyPr/>
                    <a:lstStyle/>
                    <a:p>
                      <a:endParaRPr lang="en-IN"/>
                    </a:p>
                  </a:txBody>
                  <a:tcPr/>
                </a:tc>
                <a:tc gridSpan="2" vMerge="1">
                  <a:txBody>
                    <a:bodyPr/>
                    <a:lstStyle/>
                    <a:p>
                      <a:endParaRPr lang="en-IN"/>
                    </a:p>
                  </a:txBody>
                  <a:tcPr/>
                </a:tc>
                <a:tc hMerge="1" v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gridSpan="2" vMerge="1">
                  <a:txBody>
                    <a:bodyPr/>
                    <a:lstStyle/>
                    <a:p>
                      <a:endParaRPr lang="en-IN"/>
                    </a:p>
                  </a:txBody>
                  <a:tcPr/>
                </a:tc>
                <a:tc hMerge="1"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r>
              <a:tr h="365582">
                <a:tc gridSpan="2" vMerge="1">
                  <a:txBody>
                    <a:bodyPr/>
                    <a:lstStyle/>
                    <a:p>
                      <a:pPr algn="ctr"/>
                      <a:endParaRPr lang="en-IN" sz="900" dirty="0"/>
                    </a:p>
                  </a:txBody>
                  <a:tcPr/>
                </a:tc>
                <a:tc hMerge="1" vMerge="1">
                  <a:txBody>
                    <a:bodyPr/>
                    <a:lstStyle/>
                    <a:p>
                      <a:endParaRPr lang="en-IN"/>
                    </a:p>
                  </a:txBody>
                  <a:tcPr/>
                </a:tc>
                <a:tc grid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hMerge="1">
                  <a:txBody>
                    <a:bodyPr/>
                    <a:lstStyle/>
                    <a:p>
                      <a:pPr algn="ctr"/>
                      <a:endParaRPr lang="en-IN" sz="900" dirty="0"/>
                    </a:p>
                  </a:txBody>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a:endParaRPr lang="en-IN" sz="900" dirty="0"/>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dirty="0"/>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rowSpan="4"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rowSpan="4" h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r>
              <a:tr h="228489">
                <a:tc rowSpan="2" gridSpan="6">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2" hMerge="1">
                  <a:txBody>
                    <a:bodyPr/>
                    <a:lstStyle/>
                    <a:p>
                      <a:pPr algn="ctr"/>
                      <a:endParaRPr lang="en-IN" sz="900"/>
                    </a:p>
                  </a:txBody>
                  <a:tcPr/>
                </a:tc>
                <a:tc rowSpan="2" hMerge="1">
                  <a:txBody>
                    <a:bodyPr/>
                    <a:lstStyle/>
                    <a:p>
                      <a:endParaRPr lang="en-IN"/>
                    </a:p>
                  </a:txBody>
                  <a:tcPr/>
                </a:tc>
                <a:tc rowSpan="2" hMerge="1">
                  <a:txBody>
                    <a:bodyPr/>
                    <a:lstStyle/>
                    <a:p>
                      <a:pPr algn="ctr"/>
                      <a:endParaRPr lang="en-IN" sz="900" dirty="0"/>
                    </a:p>
                  </a:txBody>
                  <a:tcPr/>
                </a:tc>
                <a:tc rowSpan="2"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hMerge="1">
                  <a:txBody>
                    <a:bodyPr/>
                    <a:lstStyle/>
                    <a:p>
                      <a:pPr algn="ctr"/>
                      <a:endParaRPr lang="en-IN" sz="900" dirty="0"/>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a:endParaRPr lang="en-IN" sz="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gridSpan="2"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r>
              <a:tr h="228489">
                <a:tc gridSpan="6" vMerge="1">
                  <a:txBody>
                    <a:bodyPr/>
                    <a:lstStyle/>
                    <a:p>
                      <a:pPr algn="ctr"/>
                      <a:endParaRPr lang="en-IN" sz="900" dirty="0"/>
                    </a:p>
                  </a:txBody>
                  <a:tcPr/>
                </a:tc>
                <a:tc hMerge="1" vMerge="1">
                  <a:txBody>
                    <a:bodyPr/>
                    <a:lstStyle/>
                    <a:p>
                      <a:endParaRPr lang="en-IN"/>
                    </a:p>
                  </a:txBody>
                  <a:tcPr/>
                </a:tc>
                <a:tc hMerge="1" vMerge="1">
                  <a:txBody>
                    <a:bodyPr/>
                    <a:lstStyle/>
                    <a:p>
                      <a:pPr algn="ctr"/>
                      <a:endParaRPr lang="en-IN" sz="900" dirty="0"/>
                    </a:p>
                  </a:txBody>
                  <a:tcPr/>
                </a:tc>
                <a:tc hMerge="1" vMerge="1">
                  <a:txBody>
                    <a:bodyPr/>
                    <a:lstStyle/>
                    <a:p>
                      <a:endParaRPr lang="en-IN"/>
                    </a:p>
                  </a:txBody>
                  <a:tcPr/>
                </a:tc>
                <a:tc hMerge="1" vMerge="1">
                  <a:txBody>
                    <a:bodyPr/>
                    <a:lstStyle/>
                    <a:p>
                      <a:pPr algn="ctr"/>
                      <a:endParaRPr lang="en-IN" sz="900" dirty="0"/>
                    </a:p>
                  </a:txBody>
                  <a:tcPr/>
                </a:tc>
                <a:tc hMerge="1" v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rowSpan="2"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2" hMerge="1">
                  <a:txBody>
                    <a:bodyPr/>
                    <a:lstStyle/>
                    <a:p>
                      <a:pPr algn="ctr"/>
                      <a:endParaRPr lang="en-IN" sz="900" dirty="0"/>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endParaRPr lang="en-IN"/>
                    </a:p>
                  </a:txBody>
                  <a:tcPr/>
                </a:tc>
                <a:tc gridSpan="2"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r>
              <a:tr h="228489">
                <a:tc gridSpan="2">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no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a:p>
                  </a:txBody>
                  <a:tcPr/>
                </a:tc>
                <a:tc gridSpan="3" vMerge="1">
                  <a:txBody>
                    <a:bodyPr/>
                    <a:lstStyle/>
                    <a:p>
                      <a:pPr algn="ctr"/>
                      <a:endParaRPr lang="en-IN" sz="900" dirty="0"/>
                    </a:p>
                  </a:txBody>
                  <a:tcPr/>
                </a:tc>
                <a:tc hMerge="1" vMerge="1">
                  <a:txBody>
                    <a:bodyPr/>
                    <a:lstStyle/>
                    <a:p>
                      <a:endParaRPr lang="en-IN"/>
                    </a:p>
                  </a:txBody>
                  <a:tcPr/>
                </a:tc>
                <a:tc hMerge="1" vMerge="1">
                  <a:txBody>
                    <a:bodyPr/>
                    <a:lstStyle/>
                    <a:p>
                      <a:pPr algn="ctr"/>
                      <a:endParaRPr lang="en-IN" sz="900" dirty="0"/>
                    </a:p>
                  </a:txBody>
                  <a:tcPr/>
                </a:tc>
                <a:tc grid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a:endParaRPr lang="en-IN" sz="900" dirty="0"/>
                    </a:p>
                  </a:txBody>
                  <a:tcPr/>
                </a:tc>
                <a:tc hMerge="1">
                  <a:txBody>
                    <a:bodyPr/>
                    <a:lstStyle/>
                    <a:p>
                      <a:pPr algn="ctr"/>
                      <a:endParaRPr lang="en-IN" sz="900" dirty="0"/>
                    </a:p>
                  </a:txBody>
                  <a:tcPr/>
                </a:tc>
                <a:tc hMerge="1">
                  <a:txBody>
                    <a:bodyPr/>
                    <a:lstStyle/>
                    <a:p>
                      <a:endParaRPr lang="en-IN"/>
                    </a:p>
                  </a:txBody>
                  <a:tcPr/>
                </a:tc>
                <a:tc gridSpan="2"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en-IN"/>
                    </a:p>
                  </a:txBody>
                  <a:tcPr/>
                </a:tc>
                <a:tc gridSpan="2"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5</a:t>
            </a:fld>
            <a:endParaRPr lang="en-US" dirty="0">
              <a:solidFill>
                <a:srgbClr val="0E5580"/>
              </a:solidFill>
            </a:endParaRPr>
          </a:p>
        </p:txBody>
      </p:sp>
      <p:sp>
        <p:nvSpPr>
          <p:cNvPr id="28" name="Title 4"/>
          <p:cNvSpPr>
            <a:spLocks noGrp="1"/>
          </p:cNvSpPr>
          <p:nvPr>
            <p:ph type="title"/>
          </p:nvPr>
        </p:nvSpPr>
        <p:spPr>
          <a:xfrm>
            <a:off x="629984" y="542362"/>
            <a:ext cx="9785683" cy="706964"/>
          </a:xfrm>
        </p:spPr>
        <p:txBody>
          <a:bodyPr/>
          <a:lstStyle/>
          <a:p>
            <a:r>
              <a:rPr lang="en-IN" dirty="0" smtClean="0"/>
              <a:t>Model Application – Competitor Presence</a:t>
            </a:r>
            <a:endParaRPr lang="en-IN" dirty="0"/>
          </a:p>
        </p:txBody>
      </p:sp>
      <p:sp>
        <p:nvSpPr>
          <p:cNvPr id="43" name="TextBox 42"/>
          <p:cNvSpPr txBox="1"/>
          <p:nvPr/>
        </p:nvSpPr>
        <p:spPr bwMode="gray">
          <a:xfrm>
            <a:off x="1288473" y="3584031"/>
            <a:ext cx="900545" cy="138546"/>
          </a:xfrm>
          <a:prstGeom prst="rect">
            <a:avLst/>
          </a:prstGeom>
        </p:spPr>
        <p:txBody>
          <a:bodyPr vert="horz" wrap="square" lIns="91440" tIns="45720" rIns="91440" bIns="45720" rtlCol="0" anchor="ctr">
            <a:noAutofit/>
          </a:bodyPr>
          <a:lstStyle/>
          <a:p>
            <a:endParaRPr lang="en-IN" sz="2000" i="1" dirty="0" smtClean="0"/>
          </a:p>
        </p:txBody>
      </p:sp>
      <p:sp>
        <p:nvSpPr>
          <p:cNvPr id="44" name="TextBox 43"/>
          <p:cNvSpPr txBox="1"/>
          <p:nvPr/>
        </p:nvSpPr>
        <p:spPr bwMode="gray">
          <a:xfrm>
            <a:off x="1291595" y="3674183"/>
            <a:ext cx="1039091" cy="138546"/>
          </a:xfrm>
          <a:prstGeom prst="rect">
            <a:avLst/>
          </a:prstGeom>
        </p:spPr>
        <p:txBody>
          <a:bodyPr vert="horz" wrap="square" lIns="91440" tIns="45720" rIns="91440" bIns="45720" rtlCol="0" anchor="ctr">
            <a:noAutofit/>
          </a:bodyPr>
          <a:lstStyle/>
          <a:p>
            <a:pPr algn="ctr"/>
            <a:r>
              <a:rPr lang="en-IN" sz="800" i="1" dirty="0" smtClean="0"/>
              <a:t>Jubilee Hills</a:t>
            </a:r>
          </a:p>
        </p:txBody>
      </p:sp>
      <p:sp>
        <p:nvSpPr>
          <p:cNvPr id="45" name="TextBox 44"/>
          <p:cNvSpPr txBox="1"/>
          <p:nvPr/>
        </p:nvSpPr>
        <p:spPr bwMode="gray">
          <a:xfrm>
            <a:off x="2819241" y="2687506"/>
            <a:ext cx="1039091" cy="138546"/>
          </a:xfrm>
          <a:prstGeom prst="rect">
            <a:avLst/>
          </a:prstGeom>
        </p:spPr>
        <p:txBody>
          <a:bodyPr vert="horz" wrap="square" lIns="91440" tIns="45720" rIns="91440" bIns="45720" rtlCol="0" anchor="ctr">
            <a:noAutofit/>
          </a:bodyPr>
          <a:lstStyle/>
          <a:p>
            <a:pPr algn="ctr"/>
            <a:r>
              <a:rPr lang="en-IN" sz="800" i="1" dirty="0" err="1" smtClean="0"/>
              <a:t>Panjagutta</a:t>
            </a:r>
            <a:endParaRPr lang="en-IN" sz="800" i="1" dirty="0" smtClean="0"/>
          </a:p>
        </p:txBody>
      </p:sp>
      <p:sp>
        <p:nvSpPr>
          <p:cNvPr id="46" name="TextBox 45"/>
          <p:cNvSpPr txBox="1"/>
          <p:nvPr/>
        </p:nvSpPr>
        <p:spPr bwMode="gray">
          <a:xfrm>
            <a:off x="4444107" y="2115594"/>
            <a:ext cx="1039091" cy="138546"/>
          </a:xfrm>
          <a:prstGeom prst="rect">
            <a:avLst/>
          </a:prstGeom>
        </p:spPr>
        <p:txBody>
          <a:bodyPr vert="horz" wrap="square" lIns="91440" tIns="45720" rIns="91440" bIns="45720" rtlCol="0" anchor="ctr">
            <a:noAutofit/>
          </a:bodyPr>
          <a:lstStyle/>
          <a:p>
            <a:pPr algn="ctr"/>
            <a:r>
              <a:rPr lang="en-IN" sz="800" i="1" dirty="0" err="1" smtClean="0"/>
              <a:t>Vikrampuri</a:t>
            </a:r>
            <a:endParaRPr lang="en-IN" sz="800" i="1" dirty="0" smtClean="0"/>
          </a:p>
        </p:txBody>
      </p:sp>
      <p:sp>
        <p:nvSpPr>
          <p:cNvPr id="48" name="TextBox 47"/>
          <p:cNvSpPr txBox="1"/>
          <p:nvPr/>
        </p:nvSpPr>
        <p:spPr bwMode="gray">
          <a:xfrm>
            <a:off x="1291593" y="6046559"/>
            <a:ext cx="1039091" cy="138546"/>
          </a:xfrm>
          <a:prstGeom prst="rect">
            <a:avLst/>
          </a:prstGeom>
        </p:spPr>
        <p:txBody>
          <a:bodyPr vert="horz" wrap="square" lIns="91440" tIns="45720" rIns="91440" bIns="45720" rtlCol="0" anchor="ctr">
            <a:noAutofit/>
          </a:bodyPr>
          <a:lstStyle/>
          <a:p>
            <a:pPr algn="ctr"/>
            <a:r>
              <a:rPr lang="en-IN" sz="800" i="1" dirty="0" smtClean="0"/>
              <a:t>Airport</a:t>
            </a:r>
          </a:p>
        </p:txBody>
      </p:sp>
      <p:sp>
        <p:nvSpPr>
          <p:cNvPr id="49" name="TextBox 48"/>
          <p:cNvSpPr txBox="1"/>
          <p:nvPr/>
        </p:nvSpPr>
        <p:spPr bwMode="gray">
          <a:xfrm>
            <a:off x="7664685" y="2453040"/>
            <a:ext cx="1039091" cy="138546"/>
          </a:xfrm>
          <a:prstGeom prst="rect">
            <a:avLst/>
          </a:prstGeom>
        </p:spPr>
        <p:txBody>
          <a:bodyPr vert="horz" wrap="square" lIns="91440" tIns="45720" rIns="91440" bIns="45720" rtlCol="0" anchor="ctr">
            <a:noAutofit/>
          </a:bodyPr>
          <a:lstStyle/>
          <a:p>
            <a:pPr algn="ctr"/>
            <a:r>
              <a:rPr lang="en-IN" sz="800" i="1" dirty="0" smtClean="0"/>
              <a:t>A S Rao Nagar</a:t>
            </a:r>
          </a:p>
        </p:txBody>
      </p:sp>
      <p:sp>
        <p:nvSpPr>
          <p:cNvPr id="50" name="TextBox 49"/>
          <p:cNvSpPr txBox="1"/>
          <p:nvPr/>
        </p:nvSpPr>
        <p:spPr bwMode="gray">
          <a:xfrm>
            <a:off x="2647389" y="2230798"/>
            <a:ext cx="1039091" cy="138546"/>
          </a:xfrm>
          <a:prstGeom prst="rect">
            <a:avLst/>
          </a:prstGeom>
          <a:noFill/>
        </p:spPr>
        <p:txBody>
          <a:bodyPr vert="horz" wrap="square" lIns="91440" tIns="45720" rIns="91440" bIns="45720" rtlCol="0" anchor="ctr">
            <a:noAutofit/>
          </a:bodyPr>
          <a:lstStyle/>
          <a:p>
            <a:pPr algn="ctr"/>
            <a:r>
              <a:rPr lang="en-IN" sz="800" i="1" dirty="0" err="1" smtClean="0"/>
              <a:t>Kukatpally</a:t>
            </a:r>
            <a:endParaRPr lang="en-IN" sz="800" i="1" dirty="0" smtClean="0"/>
          </a:p>
        </p:txBody>
      </p:sp>
      <p:sp>
        <p:nvSpPr>
          <p:cNvPr id="51" name="TextBox 50"/>
          <p:cNvSpPr txBox="1"/>
          <p:nvPr/>
        </p:nvSpPr>
        <p:spPr bwMode="gray">
          <a:xfrm>
            <a:off x="4456783" y="3969445"/>
            <a:ext cx="1039091" cy="138546"/>
          </a:xfrm>
          <a:prstGeom prst="rect">
            <a:avLst/>
          </a:prstGeom>
        </p:spPr>
        <p:txBody>
          <a:bodyPr vert="horz" wrap="square" lIns="91440" tIns="45720" rIns="91440" bIns="45720" rtlCol="0" anchor="ctr">
            <a:noAutofit/>
          </a:bodyPr>
          <a:lstStyle/>
          <a:p>
            <a:pPr algn="ctr"/>
            <a:r>
              <a:rPr lang="en-IN" sz="800" i="1" dirty="0" err="1" smtClean="0"/>
              <a:t>HImayatnagar</a:t>
            </a:r>
            <a:endParaRPr lang="en-IN" sz="800" i="1" dirty="0" smtClean="0"/>
          </a:p>
        </p:txBody>
      </p:sp>
      <p:sp>
        <p:nvSpPr>
          <p:cNvPr id="52" name="TextBox 51"/>
          <p:cNvSpPr txBox="1"/>
          <p:nvPr/>
        </p:nvSpPr>
        <p:spPr bwMode="gray">
          <a:xfrm>
            <a:off x="6884590" y="3969445"/>
            <a:ext cx="1039091" cy="138546"/>
          </a:xfrm>
          <a:prstGeom prst="rect">
            <a:avLst/>
          </a:prstGeom>
        </p:spPr>
        <p:txBody>
          <a:bodyPr vert="horz" wrap="square" lIns="91440" tIns="45720" rIns="91440" bIns="45720" rtlCol="0" anchor="ctr">
            <a:noAutofit/>
          </a:bodyPr>
          <a:lstStyle/>
          <a:p>
            <a:pPr algn="ctr"/>
            <a:r>
              <a:rPr lang="en-IN" sz="800" i="1" dirty="0" err="1" smtClean="0"/>
              <a:t>Habsiguda</a:t>
            </a:r>
            <a:endParaRPr lang="en-IN" sz="800" i="1" dirty="0" smtClean="0"/>
          </a:p>
        </p:txBody>
      </p:sp>
      <p:sp>
        <p:nvSpPr>
          <p:cNvPr id="53" name="TextBox 52"/>
          <p:cNvSpPr txBox="1"/>
          <p:nvPr/>
        </p:nvSpPr>
        <p:spPr bwMode="gray">
          <a:xfrm>
            <a:off x="469936" y="2217919"/>
            <a:ext cx="1039091" cy="138546"/>
          </a:xfrm>
          <a:prstGeom prst="rect">
            <a:avLst/>
          </a:prstGeom>
        </p:spPr>
        <p:txBody>
          <a:bodyPr vert="horz" wrap="square" lIns="91440" tIns="45720" rIns="91440" bIns="45720" rtlCol="0" anchor="ctr">
            <a:noAutofit/>
          </a:bodyPr>
          <a:lstStyle/>
          <a:p>
            <a:pPr algn="ctr"/>
            <a:r>
              <a:rPr lang="en-IN" sz="800" i="1" dirty="0" err="1" smtClean="0"/>
              <a:t>Chandanagar</a:t>
            </a:r>
            <a:endParaRPr lang="en-IN" sz="800" i="1" dirty="0" smtClean="0"/>
          </a:p>
        </p:txBody>
      </p:sp>
      <p:sp>
        <p:nvSpPr>
          <p:cNvPr id="55" name="Oval 54"/>
          <p:cNvSpPr/>
          <p:nvPr/>
        </p:nvSpPr>
        <p:spPr>
          <a:xfrm>
            <a:off x="3276594" y="2528153"/>
            <a:ext cx="187037" cy="159422"/>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57" name="Oval 56"/>
          <p:cNvSpPr/>
          <p:nvPr/>
        </p:nvSpPr>
        <p:spPr>
          <a:xfrm>
            <a:off x="1717619" y="5887137"/>
            <a:ext cx="187037" cy="159422"/>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59" name="Oval 58"/>
          <p:cNvSpPr/>
          <p:nvPr/>
        </p:nvSpPr>
        <p:spPr>
          <a:xfrm>
            <a:off x="3256984" y="2067391"/>
            <a:ext cx="187037" cy="159422"/>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60" name="Oval 59"/>
          <p:cNvSpPr/>
          <p:nvPr/>
        </p:nvSpPr>
        <p:spPr>
          <a:xfrm>
            <a:off x="895962" y="2080270"/>
            <a:ext cx="187037" cy="159422"/>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61" name="Oval 60"/>
          <p:cNvSpPr/>
          <p:nvPr/>
        </p:nvSpPr>
        <p:spPr>
          <a:xfrm>
            <a:off x="4882809" y="3838890"/>
            <a:ext cx="187037" cy="159422"/>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dirty="0"/>
          </a:p>
        </p:txBody>
      </p:sp>
      <p:sp>
        <p:nvSpPr>
          <p:cNvPr id="62" name="Oval 61"/>
          <p:cNvSpPr/>
          <p:nvPr/>
        </p:nvSpPr>
        <p:spPr>
          <a:xfrm>
            <a:off x="7310616" y="3792376"/>
            <a:ext cx="187037" cy="159422"/>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63" name="Oval 62"/>
          <p:cNvSpPr/>
          <p:nvPr/>
        </p:nvSpPr>
        <p:spPr>
          <a:xfrm>
            <a:off x="8051098" y="2301218"/>
            <a:ext cx="187037" cy="159422"/>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72" name="TextBox 71"/>
          <p:cNvSpPr txBox="1"/>
          <p:nvPr/>
        </p:nvSpPr>
        <p:spPr bwMode="gray">
          <a:xfrm>
            <a:off x="5720607" y="4247987"/>
            <a:ext cx="1039091" cy="138546"/>
          </a:xfrm>
          <a:prstGeom prst="rect">
            <a:avLst/>
          </a:prstGeom>
        </p:spPr>
        <p:txBody>
          <a:bodyPr vert="horz" wrap="square" lIns="91440" tIns="45720" rIns="91440" bIns="45720" rtlCol="0" anchor="ctr">
            <a:noAutofit/>
          </a:bodyPr>
          <a:lstStyle/>
          <a:p>
            <a:pPr algn="ctr"/>
            <a:r>
              <a:rPr lang="en-IN" sz="800" i="1" dirty="0" err="1" smtClean="0"/>
              <a:t>Kachiguda</a:t>
            </a:r>
            <a:endParaRPr lang="en-IN" sz="800" i="1" dirty="0" smtClean="0"/>
          </a:p>
        </p:txBody>
      </p:sp>
      <p:sp>
        <p:nvSpPr>
          <p:cNvPr id="73" name="TextBox 72"/>
          <p:cNvSpPr txBox="1"/>
          <p:nvPr/>
        </p:nvSpPr>
        <p:spPr bwMode="gray">
          <a:xfrm>
            <a:off x="6044714" y="4041951"/>
            <a:ext cx="1039091" cy="138546"/>
          </a:xfrm>
          <a:prstGeom prst="rect">
            <a:avLst/>
          </a:prstGeom>
        </p:spPr>
        <p:txBody>
          <a:bodyPr vert="horz" wrap="square" lIns="91440" tIns="45720" rIns="91440" bIns="45720" rtlCol="0" anchor="ctr">
            <a:noAutofit/>
          </a:bodyPr>
          <a:lstStyle/>
          <a:p>
            <a:pPr algn="ctr"/>
            <a:r>
              <a:rPr lang="en-IN" sz="800" i="1" dirty="0" err="1" smtClean="0"/>
              <a:t>Shivam</a:t>
            </a:r>
            <a:r>
              <a:rPr lang="en-IN" sz="800" i="1" dirty="0" smtClean="0"/>
              <a:t> Road</a:t>
            </a:r>
          </a:p>
        </p:txBody>
      </p:sp>
      <p:sp>
        <p:nvSpPr>
          <p:cNvPr id="74" name="TextBox 73"/>
          <p:cNvSpPr txBox="1"/>
          <p:nvPr/>
        </p:nvSpPr>
        <p:spPr bwMode="gray">
          <a:xfrm>
            <a:off x="6044713" y="4973579"/>
            <a:ext cx="1039091" cy="138546"/>
          </a:xfrm>
          <a:prstGeom prst="rect">
            <a:avLst/>
          </a:prstGeom>
        </p:spPr>
        <p:txBody>
          <a:bodyPr vert="horz" wrap="square" lIns="91440" tIns="45720" rIns="91440" bIns="45720" rtlCol="0" anchor="ctr">
            <a:noAutofit/>
          </a:bodyPr>
          <a:lstStyle/>
          <a:p>
            <a:pPr algn="ctr"/>
            <a:r>
              <a:rPr lang="en-IN" sz="800" i="1" dirty="0" err="1" smtClean="0"/>
              <a:t>Kothapete</a:t>
            </a:r>
            <a:endParaRPr lang="en-IN" sz="800" i="1" dirty="0" smtClean="0"/>
          </a:p>
        </p:txBody>
      </p:sp>
      <p:sp>
        <p:nvSpPr>
          <p:cNvPr id="75" name="TextBox 74"/>
          <p:cNvSpPr txBox="1"/>
          <p:nvPr/>
        </p:nvSpPr>
        <p:spPr bwMode="gray">
          <a:xfrm>
            <a:off x="2248567" y="3674183"/>
            <a:ext cx="1039091" cy="138546"/>
          </a:xfrm>
          <a:prstGeom prst="rect">
            <a:avLst/>
          </a:prstGeom>
        </p:spPr>
        <p:txBody>
          <a:bodyPr vert="horz" wrap="square" lIns="91440" tIns="45720" rIns="91440" bIns="45720" rtlCol="0" anchor="ctr">
            <a:noAutofit/>
          </a:bodyPr>
          <a:lstStyle/>
          <a:p>
            <a:pPr algn="ctr"/>
            <a:r>
              <a:rPr lang="en-IN" sz="800" i="1" dirty="0" smtClean="0"/>
              <a:t>Banjara Hills</a:t>
            </a:r>
          </a:p>
        </p:txBody>
      </p:sp>
      <p:sp>
        <p:nvSpPr>
          <p:cNvPr id="76" name="TextBox 75"/>
          <p:cNvSpPr txBox="1"/>
          <p:nvPr/>
        </p:nvSpPr>
        <p:spPr bwMode="gray">
          <a:xfrm>
            <a:off x="4404828" y="3304939"/>
            <a:ext cx="1039091" cy="138546"/>
          </a:xfrm>
          <a:prstGeom prst="rect">
            <a:avLst/>
          </a:prstGeom>
        </p:spPr>
        <p:txBody>
          <a:bodyPr vert="horz" wrap="square" lIns="91440" tIns="45720" rIns="91440" bIns="45720" rtlCol="0" anchor="ctr">
            <a:noAutofit/>
          </a:bodyPr>
          <a:lstStyle/>
          <a:p>
            <a:pPr algn="ctr"/>
            <a:r>
              <a:rPr lang="en-IN" sz="800" i="1" dirty="0" err="1" smtClean="0"/>
              <a:t>Amsri</a:t>
            </a:r>
            <a:r>
              <a:rPr lang="en-IN" sz="800" i="1" dirty="0" smtClean="0"/>
              <a:t> Faust,</a:t>
            </a:r>
          </a:p>
          <a:p>
            <a:pPr algn="ctr"/>
            <a:r>
              <a:rPr lang="en-IN" sz="800" i="1" dirty="0" err="1" smtClean="0"/>
              <a:t>Secunderabad</a:t>
            </a:r>
            <a:endParaRPr lang="en-IN" sz="800" i="1" dirty="0" smtClean="0"/>
          </a:p>
        </p:txBody>
      </p:sp>
      <p:sp>
        <p:nvSpPr>
          <p:cNvPr id="77" name="TextBox 76"/>
          <p:cNvSpPr txBox="1"/>
          <p:nvPr/>
        </p:nvSpPr>
        <p:spPr bwMode="gray">
          <a:xfrm>
            <a:off x="1688990" y="4679225"/>
            <a:ext cx="1039091" cy="138546"/>
          </a:xfrm>
          <a:prstGeom prst="rect">
            <a:avLst/>
          </a:prstGeom>
        </p:spPr>
        <p:txBody>
          <a:bodyPr vert="horz" wrap="square" lIns="91440" tIns="45720" rIns="91440" bIns="45720" rtlCol="0" anchor="ctr">
            <a:noAutofit/>
          </a:bodyPr>
          <a:lstStyle/>
          <a:p>
            <a:pPr algn="ctr"/>
            <a:r>
              <a:rPr lang="en-IN" sz="800" i="1" dirty="0" err="1" smtClean="0"/>
              <a:t>Attapur</a:t>
            </a:r>
            <a:endParaRPr lang="en-IN" sz="800" i="1" dirty="0" smtClean="0"/>
          </a:p>
        </p:txBody>
      </p:sp>
      <p:sp>
        <p:nvSpPr>
          <p:cNvPr id="78" name="TextBox 77"/>
          <p:cNvSpPr txBox="1"/>
          <p:nvPr/>
        </p:nvSpPr>
        <p:spPr bwMode="gray">
          <a:xfrm>
            <a:off x="3571019" y="3298098"/>
            <a:ext cx="1039091" cy="138546"/>
          </a:xfrm>
          <a:prstGeom prst="rect">
            <a:avLst/>
          </a:prstGeom>
        </p:spPr>
        <p:txBody>
          <a:bodyPr vert="horz" wrap="square" lIns="91440" tIns="45720" rIns="91440" bIns="45720" rtlCol="0" anchor="ctr">
            <a:noAutofit/>
          </a:bodyPr>
          <a:lstStyle/>
          <a:p>
            <a:pPr algn="ctr"/>
            <a:r>
              <a:rPr lang="en-IN" sz="800" i="1" dirty="0" err="1" smtClean="0"/>
              <a:t>Begumpet</a:t>
            </a:r>
            <a:endParaRPr lang="en-IN" sz="800" i="1" dirty="0" smtClean="0"/>
          </a:p>
        </p:txBody>
      </p:sp>
      <p:sp>
        <p:nvSpPr>
          <p:cNvPr id="79" name="TextBox 78"/>
          <p:cNvSpPr txBox="1"/>
          <p:nvPr/>
        </p:nvSpPr>
        <p:spPr bwMode="gray">
          <a:xfrm>
            <a:off x="4404828" y="2788820"/>
            <a:ext cx="1039091" cy="138546"/>
          </a:xfrm>
          <a:prstGeom prst="rect">
            <a:avLst/>
          </a:prstGeom>
        </p:spPr>
        <p:txBody>
          <a:bodyPr vert="horz" wrap="square" lIns="91440" tIns="45720" rIns="91440" bIns="45720" rtlCol="0" anchor="ctr">
            <a:noAutofit/>
          </a:bodyPr>
          <a:lstStyle/>
          <a:p>
            <a:pPr algn="ctr"/>
            <a:r>
              <a:rPr lang="en-IN" sz="800" i="1" dirty="0" smtClean="0"/>
              <a:t>Odyssey, </a:t>
            </a:r>
            <a:r>
              <a:rPr lang="en-IN" sz="800" i="1" dirty="0" err="1" smtClean="0"/>
              <a:t>Vikrampuri</a:t>
            </a:r>
            <a:endParaRPr lang="en-IN" sz="800" i="1" dirty="0" smtClean="0"/>
          </a:p>
        </p:txBody>
      </p:sp>
      <p:sp>
        <p:nvSpPr>
          <p:cNvPr id="80" name="TextBox 79"/>
          <p:cNvSpPr txBox="1"/>
          <p:nvPr/>
        </p:nvSpPr>
        <p:spPr bwMode="gray">
          <a:xfrm>
            <a:off x="7715223" y="3241704"/>
            <a:ext cx="1039091" cy="138546"/>
          </a:xfrm>
          <a:prstGeom prst="rect">
            <a:avLst/>
          </a:prstGeom>
        </p:spPr>
        <p:txBody>
          <a:bodyPr vert="horz" wrap="square" lIns="91440" tIns="45720" rIns="91440" bIns="45720" rtlCol="0" anchor="ctr">
            <a:noAutofit/>
          </a:bodyPr>
          <a:lstStyle/>
          <a:p>
            <a:pPr algn="ctr"/>
            <a:r>
              <a:rPr lang="en-IN" sz="800" i="1" dirty="0" err="1" smtClean="0"/>
              <a:t>Nacharam</a:t>
            </a:r>
            <a:endParaRPr lang="en-IN" sz="800" i="1" dirty="0" smtClean="0"/>
          </a:p>
        </p:txBody>
      </p:sp>
      <p:sp>
        <p:nvSpPr>
          <p:cNvPr id="81" name="TextBox 80"/>
          <p:cNvSpPr txBox="1"/>
          <p:nvPr/>
        </p:nvSpPr>
        <p:spPr bwMode="gray">
          <a:xfrm>
            <a:off x="2082310" y="4159099"/>
            <a:ext cx="1039091" cy="138546"/>
          </a:xfrm>
          <a:prstGeom prst="rect">
            <a:avLst/>
          </a:prstGeom>
        </p:spPr>
        <p:txBody>
          <a:bodyPr vert="horz" wrap="square" lIns="91440" tIns="45720" rIns="91440" bIns="45720" rtlCol="0" anchor="ctr">
            <a:noAutofit/>
          </a:bodyPr>
          <a:lstStyle/>
          <a:p>
            <a:pPr algn="ctr"/>
            <a:r>
              <a:rPr lang="en-IN" sz="800" i="1" dirty="0" err="1" smtClean="0"/>
              <a:t>Tolichowki</a:t>
            </a:r>
            <a:endParaRPr lang="en-IN" sz="800" i="1" dirty="0" smtClean="0"/>
          </a:p>
        </p:txBody>
      </p:sp>
      <p:sp>
        <p:nvSpPr>
          <p:cNvPr id="82" name="TextBox 81"/>
          <p:cNvSpPr txBox="1"/>
          <p:nvPr/>
        </p:nvSpPr>
        <p:spPr bwMode="gray">
          <a:xfrm>
            <a:off x="7599768" y="4224979"/>
            <a:ext cx="1104008" cy="173021"/>
          </a:xfrm>
          <a:prstGeom prst="rect">
            <a:avLst/>
          </a:prstGeom>
        </p:spPr>
        <p:txBody>
          <a:bodyPr vert="horz" wrap="square" lIns="91440" tIns="45720" rIns="91440" bIns="45720" rtlCol="0" anchor="ctr">
            <a:noAutofit/>
          </a:bodyPr>
          <a:lstStyle/>
          <a:p>
            <a:pPr algn="ctr"/>
            <a:r>
              <a:rPr lang="en-IN" sz="800" i="1" dirty="0" smtClean="0"/>
              <a:t>Uppal</a:t>
            </a:r>
          </a:p>
        </p:txBody>
      </p:sp>
      <p:sp>
        <p:nvSpPr>
          <p:cNvPr id="83" name="TextBox 82"/>
          <p:cNvSpPr txBox="1"/>
          <p:nvPr/>
        </p:nvSpPr>
        <p:spPr bwMode="gray">
          <a:xfrm>
            <a:off x="7210211" y="5817864"/>
            <a:ext cx="1039091" cy="138546"/>
          </a:xfrm>
          <a:prstGeom prst="rect">
            <a:avLst/>
          </a:prstGeom>
        </p:spPr>
        <p:txBody>
          <a:bodyPr vert="horz" wrap="square" lIns="91440" tIns="45720" rIns="91440" bIns="45720" rtlCol="0" anchor="ctr">
            <a:noAutofit/>
          </a:bodyPr>
          <a:lstStyle/>
          <a:p>
            <a:pPr algn="ctr"/>
            <a:r>
              <a:rPr lang="en-IN" sz="800" i="1" dirty="0" err="1" smtClean="0"/>
              <a:t>Vanasthalipuram</a:t>
            </a:r>
            <a:endParaRPr lang="en-IN" sz="800" i="1" dirty="0" smtClean="0"/>
          </a:p>
        </p:txBody>
      </p:sp>
      <p:sp>
        <p:nvSpPr>
          <p:cNvPr id="84" name="TextBox 83"/>
          <p:cNvSpPr txBox="1"/>
          <p:nvPr/>
        </p:nvSpPr>
        <p:spPr bwMode="gray">
          <a:xfrm>
            <a:off x="7670863" y="3042563"/>
            <a:ext cx="1039091" cy="138546"/>
          </a:xfrm>
          <a:prstGeom prst="rect">
            <a:avLst/>
          </a:prstGeom>
        </p:spPr>
        <p:txBody>
          <a:bodyPr vert="horz" wrap="square" lIns="91440" tIns="45720" rIns="91440" bIns="45720" rtlCol="0" anchor="ctr">
            <a:noAutofit/>
          </a:bodyPr>
          <a:lstStyle/>
          <a:p>
            <a:pPr algn="ctr"/>
            <a:r>
              <a:rPr lang="en-IN" sz="800" i="1" dirty="0" err="1" smtClean="0"/>
              <a:t>Mallapur</a:t>
            </a:r>
            <a:endParaRPr lang="en-IN" sz="800" i="1" dirty="0" smtClean="0"/>
          </a:p>
        </p:txBody>
      </p:sp>
      <p:sp>
        <p:nvSpPr>
          <p:cNvPr id="85" name="TextBox 84"/>
          <p:cNvSpPr txBox="1"/>
          <p:nvPr/>
        </p:nvSpPr>
        <p:spPr bwMode="gray">
          <a:xfrm>
            <a:off x="1108757" y="3324903"/>
            <a:ext cx="1039091" cy="138546"/>
          </a:xfrm>
          <a:prstGeom prst="rect">
            <a:avLst/>
          </a:prstGeom>
        </p:spPr>
        <p:txBody>
          <a:bodyPr vert="horz" wrap="square" lIns="91440" tIns="45720" rIns="91440" bIns="45720" rtlCol="0" anchor="ctr">
            <a:noAutofit/>
          </a:bodyPr>
          <a:lstStyle/>
          <a:p>
            <a:pPr algn="ctr"/>
            <a:r>
              <a:rPr lang="en-IN" sz="800" i="1" dirty="0" err="1" smtClean="0"/>
              <a:t>HiTec</a:t>
            </a:r>
            <a:r>
              <a:rPr lang="en-IN" sz="800" i="1" dirty="0" smtClean="0"/>
              <a:t> City</a:t>
            </a:r>
          </a:p>
        </p:txBody>
      </p:sp>
      <p:sp>
        <p:nvSpPr>
          <p:cNvPr id="86" name="TextBox 85"/>
          <p:cNvSpPr txBox="1"/>
          <p:nvPr/>
        </p:nvSpPr>
        <p:spPr bwMode="gray">
          <a:xfrm>
            <a:off x="5351757" y="1689731"/>
            <a:ext cx="1039091" cy="138546"/>
          </a:xfrm>
          <a:prstGeom prst="rect">
            <a:avLst/>
          </a:prstGeom>
        </p:spPr>
        <p:txBody>
          <a:bodyPr vert="horz" wrap="square" lIns="91440" tIns="45720" rIns="91440" bIns="45720" rtlCol="0" anchor="ctr">
            <a:noAutofit/>
          </a:bodyPr>
          <a:lstStyle/>
          <a:p>
            <a:pPr algn="ctr"/>
            <a:r>
              <a:rPr lang="en-IN" sz="800" i="1" dirty="0" err="1" smtClean="0"/>
              <a:t>Hakimpet</a:t>
            </a:r>
            <a:endParaRPr lang="en-IN" sz="800" i="1" dirty="0" smtClean="0"/>
          </a:p>
        </p:txBody>
      </p:sp>
      <p:sp>
        <p:nvSpPr>
          <p:cNvPr id="87" name="TextBox 86"/>
          <p:cNvSpPr txBox="1"/>
          <p:nvPr/>
        </p:nvSpPr>
        <p:spPr bwMode="gray">
          <a:xfrm>
            <a:off x="747102" y="3042563"/>
            <a:ext cx="1039091" cy="138546"/>
          </a:xfrm>
          <a:prstGeom prst="rect">
            <a:avLst/>
          </a:prstGeom>
        </p:spPr>
        <p:txBody>
          <a:bodyPr vert="horz" wrap="square" lIns="91440" tIns="45720" rIns="91440" bIns="45720" rtlCol="0" anchor="ctr">
            <a:noAutofit/>
          </a:bodyPr>
          <a:lstStyle/>
          <a:p>
            <a:pPr algn="ctr"/>
            <a:r>
              <a:rPr lang="en-IN" sz="800" i="1" dirty="0" err="1" smtClean="0"/>
              <a:t>Gachibowli</a:t>
            </a:r>
            <a:endParaRPr lang="en-IN" sz="800" i="1" dirty="0" smtClean="0"/>
          </a:p>
        </p:txBody>
      </p:sp>
      <p:sp>
        <p:nvSpPr>
          <p:cNvPr id="88" name="TextBox 87"/>
          <p:cNvSpPr txBox="1"/>
          <p:nvPr/>
        </p:nvSpPr>
        <p:spPr bwMode="gray">
          <a:xfrm>
            <a:off x="461619" y="3285116"/>
            <a:ext cx="1039091" cy="138546"/>
          </a:xfrm>
          <a:prstGeom prst="rect">
            <a:avLst/>
          </a:prstGeom>
        </p:spPr>
        <p:txBody>
          <a:bodyPr vert="horz" wrap="square" lIns="91440" tIns="45720" rIns="91440" bIns="45720" rtlCol="0" anchor="ctr">
            <a:noAutofit/>
          </a:bodyPr>
          <a:lstStyle/>
          <a:p>
            <a:pPr algn="ctr"/>
            <a:r>
              <a:rPr lang="en-IN" sz="800" i="1" dirty="0" err="1" smtClean="0"/>
              <a:t>Madniguda</a:t>
            </a:r>
            <a:endParaRPr lang="en-IN" sz="800" i="1" dirty="0" smtClean="0"/>
          </a:p>
        </p:txBody>
      </p:sp>
      <p:sp>
        <p:nvSpPr>
          <p:cNvPr id="89" name="TextBox 88"/>
          <p:cNvSpPr txBox="1"/>
          <p:nvPr/>
        </p:nvSpPr>
        <p:spPr bwMode="gray">
          <a:xfrm>
            <a:off x="4400983" y="3096534"/>
            <a:ext cx="1039091" cy="138546"/>
          </a:xfrm>
          <a:prstGeom prst="rect">
            <a:avLst/>
          </a:prstGeom>
        </p:spPr>
        <p:txBody>
          <a:bodyPr vert="horz" wrap="square" lIns="91440" tIns="45720" rIns="91440" bIns="45720" rtlCol="0" anchor="ctr">
            <a:noAutofit/>
          </a:bodyPr>
          <a:lstStyle/>
          <a:p>
            <a:pPr algn="ctr"/>
            <a:r>
              <a:rPr lang="en-IN" sz="800" i="1" dirty="0" smtClean="0"/>
              <a:t>M G Road</a:t>
            </a:r>
          </a:p>
        </p:txBody>
      </p:sp>
      <p:sp>
        <p:nvSpPr>
          <p:cNvPr id="90" name="TextBox 89"/>
          <p:cNvSpPr txBox="1"/>
          <p:nvPr/>
        </p:nvSpPr>
        <p:spPr bwMode="gray">
          <a:xfrm>
            <a:off x="3097760" y="2994531"/>
            <a:ext cx="1039091" cy="138546"/>
          </a:xfrm>
          <a:prstGeom prst="rect">
            <a:avLst/>
          </a:prstGeom>
        </p:spPr>
        <p:txBody>
          <a:bodyPr vert="horz" wrap="square" lIns="91440" tIns="45720" rIns="91440" bIns="45720" rtlCol="0" anchor="ctr">
            <a:noAutofit/>
          </a:bodyPr>
          <a:lstStyle/>
          <a:p>
            <a:pPr algn="ctr"/>
            <a:r>
              <a:rPr lang="en-IN" sz="800" i="1" dirty="0" err="1" smtClean="0"/>
              <a:t>Panjagutta</a:t>
            </a:r>
            <a:endParaRPr lang="en-IN" sz="800" i="1" dirty="0" smtClean="0"/>
          </a:p>
        </p:txBody>
      </p:sp>
      <p:sp>
        <p:nvSpPr>
          <p:cNvPr id="91" name="TextBox 90"/>
          <p:cNvSpPr txBox="1"/>
          <p:nvPr/>
        </p:nvSpPr>
        <p:spPr bwMode="gray">
          <a:xfrm>
            <a:off x="2078570" y="2357440"/>
            <a:ext cx="1039091" cy="138546"/>
          </a:xfrm>
          <a:prstGeom prst="rect">
            <a:avLst/>
          </a:prstGeom>
        </p:spPr>
        <p:txBody>
          <a:bodyPr vert="horz" wrap="square" lIns="91440" tIns="45720" rIns="91440" bIns="45720" rtlCol="0" anchor="ctr">
            <a:noAutofit/>
          </a:bodyPr>
          <a:lstStyle/>
          <a:p>
            <a:pPr algn="ctr"/>
            <a:r>
              <a:rPr lang="en-IN" sz="800" i="1" dirty="0" err="1"/>
              <a:t>KpHB</a:t>
            </a:r>
            <a:r>
              <a:rPr lang="en-IN" sz="800" i="1" dirty="0"/>
              <a:t> Colony</a:t>
            </a:r>
            <a:endParaRPr lang="en-IN" sz="800" i="1" dirty="0" smtClean="0"/>
          </a:p>
        </p:txBody>
      </p:sp>
      <p:sp>
        <p:nvSpPr>
          <p:cNvPr id="92" name="TextBox 91"/>
          <p:cNvSpPr txBox="1"/>
          <p:nvPr/>
        </p:nvSpPr>
        <p:spPr bwMode="gray">
          <a:xfrm>
            <a:off x="3604533" y="4315220"/>
            <a:ext cx="1039091" cy="138546"/>
          </a:xfrm>
          <a:prstGeom prst="rect">
            <a:avLst/>
          </a:prstGeom>
        </p:spPr>
        <p:txBody>
          <a:bodyPr vert="horz" wrap="square" lIns="91440" tIns="45720" rIns="91440" bIns="45720" rtlCol="0" anchor="ctr">
            <a:noAutofit/>
          </a:bodyPr>
          <a:lstStyle/>
          <a:p>
            <a:pPr algn="ctr"/>
            <a:r>
              <a:rPr lang="en-IN" sz="800" i="1" dirty="0" err="1" smtClean="0"/>
              <a:t>Abids</a:t>
            </a:r>
            <a:endParaRPr lang="en-IN" sz="800" i="1" dirty="0" smtClean="0"/>
          </a:p>
        </p:txBody>
      </p:sp>
      <p:sp>
        <p:nvSpPr>
          <p:cNvPr id="93" name="TextBox 92"/>
          <p:cNvSpPr txBox="1"/>
          <p:nvPr/>
        </p:nvSpPr>
        <p:spPr bwMode="gray">
          <a:xfrm>
            <a:off x="3051473" y="4006704"/>
            <a:ext cx="1039091" cy="138546"/>
          </a:xfrm>
          <a:prstGeom prst="rect">
            <a:avLst/>
          </a:prstGeom>
        </p:spPr>
        <p:txBody>
          <a:bodyPr vert="horz" wrap="square" lIns="91440" tIns="45720" rIns="91440" bIns="45720" rtlCol="0" anchor="ctr">
            <a:noAutofit/>
          </a:bodyPr>
          <a:lstStyle/>
          <a:p>
            <a:pPr algn="ctr"/>
            <a:r>
              <a:rPr lang="en-IN" sz="800" i="1" dirty="0" err="1" smtClean="0"/>
              <a:t>Lakdi-ka-Pul</a:t>
            </a:r>
            <a:endParaRPr lang="en-IN" sz="800" i="1" dirty="0" smtClean="0"/>
          </a:p>
        </p:txBody>
      </p:sp>
      <p:sp>
        <p:nvSpPr>
          <p:cNvPr id="95" name="TextBox 94"/>
          <p:cNvSpPr txBox="1"/>
          <p:nvPr/>
        </p:nvSpPr>
        <p:spPr bwMode="gray">
          <a:xfrm>
            <a:off x="5300240" y="4890642"/>
            <a:ext cx="1039091" cy="138546"/>
          </a:xfrm>
          <a:prstGeom prst="rect">
            <a:avLst/>
          </a:prstGeom>
        </p:spPr>
        <p:txBody>
          <a:bodyPr vert="horz" wrap="square" lIns="91440" tIns="45720" rIns="91440" bIns="45720" rtlCol="0" anchor="ctr">
            <a:noAutofit/>
          </a:bodyPr>
          <a:lstStyle/>
          <a:p>
            <a:pPr algn="ctr"/>
            <a:r>
              <a:rPr lang="en-IN" sz="800" i="1" dirty="0" err="1" smtClean="0"/>
              <a:t>Malkapet</a:t>
            </a:r>
            <a:endParaRPr lang="en-IN" sz="800" i="1" dirty="0" smtClean="0"/>
          </a:p>
        </p:txBody>
      </p:sp>
      <p:sp>
        <p:nvSpPr>
          <p:cNvPr id="96" name="TextBox 95"/>
          <p:cNvSpPr txBox="1"/>
          <p:nvPr/>
        </p:nvSpPr>
        <p:spPr bwMode="gray">
          <a:xfrm>
            <a:off x="5300239" y="4576685"/>
            <a:ext cx="1039091" cy="138546"/>
          </a:xfrm>
          <a:prstGeom prst="rect">
            <a:avLst/>
          </a:prstGeom>
        </p:spPr>
        <p:txBody>
          <a:bodyPr vert="horz" wrap="square" lIns="91440" tIns="45720" rIns="91440" bIns="45720" rtlCol="0" anchor="ctr">
            <a:noAutofit/>
          </a:bodyPr>
          <a:lstStyle/>
          <a:p>
            <a:pPr algn="ctr"/>
            <a:r>
              <a:rPr lang="en-IN" sz="800" i="1" dirty="0" err="1" smtClean="0"/>
              <a:t>Dilkushnagar</a:t>
            </a:r>
            <a:endParaRPr lang="en-IN" sz="800" i="1" dirty="0" smtClean="0"/>
          </a:p>
        </p:txBody>
      </p:sp>
      <p:sp>
        <p:nvSpPr>
          <p:cNvPr id="97" name="TextBox 96"/>
          <p:cNvSpPr txBox="1"/>
          <p:nvPr/>
        </p:nvSpPr>
        <p:spPr bwMode="gray">
          <a:xfrm>
            <a:off x="6650797" y="4651577"/>
            <a:ext cx="1039091" cy="138546"/>
          </a:xfrm>
          <a:prstGeom prst="rect">
            <a:avLst/>
          </a:prstGeom>
        </p:spPr>
        <p:txBody>
          <a:bodyPr vert="horz" wrap="square" lIns="91440" tIns="45720" rIns="91440" bIns="45720" rtlCol="0" anchor="ctr">
            <a:noAutofit/>
          </a:bodyPr>
          <a:lstStyle/>
          <a:p>
            <a:pPr algn="ctr"/>
            <a:r>
              <a:rPr lang="en-IN" sz="800" i="1" dirty="0" err="1" smtClean="0"/>
              <a:t>Kothapete</a:t>
            </a:r>
            <a:endParaRPr lang="en-IN" sz="800" i="1" dirty="0" smtClean="0"/>
          </a:p>
        </p:txBody>
      </p:sp>
      <p:sp>
        <p:nvSpPr>
          <p:cNvPr id="98" name="TextBox 97"/>
          <p:cNvSpPr txBox="1"/>
          <p:nvPr/>
        </p:nvSpPr>
        <p:spPr bwMode="gray">
          <a:xfrm>
            <a:off x="1290810" y="2355292"/>
            <a:ext cx="1039091" cy="138546"/>
          </a:xfrm>
          <a:prstGeom prst="rect">
            <a:avLst/>
          </a:prstGeom>
        </p:spPr>
        <p:txBody>
          <a:bodyPr vert="horz" wrap="square" lIns="91440" tIns="45720" rIns="91440" bIns="45720" rtlCol="0" anchor="ctr">
            <a:noAutofit/>
          </a:bodyPr>
          <a:lstStyle/>
          <a:p>
            <a:pPr algn="ctr"/>
            <a:r>
              <a:rPr lang="en-IN" sz="800" i="1" dirty="0" err="1" smtClean="0"/>
              <a:t>Madinaguda</a:t>
            </a:r>
            <a:endParaRPr lang="en-IN" sz="800" i="1" dirty="0" smtClean="0"/>
          </a:p>
        </p:txBody>
      </p:sp>
      <p:sp>
        <p:nvSpPr>
          <p:cNvPr id="99" name="TextBox 98"/>
          <p:cNvSpPr txBox="1"/>
          <p:nvPr/>
        </p:nvSpPr>
        <p:spPr bwMode="gray">
          <a:xfrm>
            <a:off x="5349609" y="1494398"/>
            <a:ext cx="1039091" cy="138546"/>
          </a:xfrm>
          <a:prstGeom prst="rect">
            <a:avLst/>
          </a:prstGeom>
        </p:spPr>
        <p:txBody>
          <a:bodyPr vert="horz" wrap="square" lIns="91440" tIns="45720" rIns="91440" bIns="45720" rtlCol="0" anchor="ctr">
            <a:noAutofit/>
          </a:bodyPr>
          <a:lstStyle/>
          <a:p>
            <a:pPr algn="ctr"/>
            <a:r>
              <a:rPr lang="en-IN" sz="800" i="1" dirty="0" err="1" smtClean="0"/>
              <a:t>Kompally</a:t>
            </a:r>
            <a:endParaRPr lang="en-IN" sz="800" i="1" dirty="0" smtClean="0"/>
          </a:p>
        </p:txBody>
      </p:sp>
      <p:sp>
        <p:nvSpPr>
          <p:cNvPr id="100" name="TextBox 99"/>
          <p:cNvSpPr txBox="1"/>
          <p:nvPr/>
        </p:nvSpPr>
        <p:spPr bwMode="gray">
          <a:xfrm>
            <a:off x="5285213" y="3799371"/>
            <a:ext cx="1039091" cy="138546"/>
          </a:xfrm>
          <a:prstGeom prst="rect">
            <a:avLst/>
          </a:prstGeom>
        </p:spPr>
        <p:txBody>
          <a:bodyPr vert="horz" wrap="square" lIns="91440" tIns="45720" rIns="91440" bIns="45720" rtlCol="0" anchor="ctr">
            <a:noAutofit/>
          </a:bodyPr>
          <a:lstStyle/>
          <a:p>
            <a:pPr algn="ctr"/>
            <a:r>
              <a:rPr lang="en-IN" sz="800" i="1" dirty="0" err="1" smtClean="0"/>
              <a:t>Chikkadpally</a:t>
            </a:r>
            <a:endParaRPr lang="en-IN" sz="800" i="1" dirty="0" smtClean="0"/>
          </a:p>
        </p:txBody>
      </p:sp>
      <p:sp>
        <p:nvSpPr>
          <p:cNvPr id="101" name="TextBox 100"/>
          <p:cNvSpPr txBox="1"/>
          <p:nvPr/>
        </p:nvSpPr>
        <p:spPr bwMode="gray">
          <a:xfrm>
            <a:off x="1305073" y="3001685"/>
            <a:ext cx="1039091" cy="138546"/>
          </a:xfrm>
          <a:prstGeom prst="rect">
            <a:avLst/>
          </a:prstGeom>
        </p:spPr>
        <p:txBody>
          <a:bodyPr vert="horz" wrap="square" lIns="91440" tIns="45720" rIns="91440" bIns="45720" rtlCol="0" anchor="ctr">
            <a:noAutofit/>
          </a:bodyPr>
          <a:lstStyle/>
          <a:p>
            <a:pPr algn="ctr"/>
            <a:r>
              <a:rPr lang="en-IN" sz="800" i="1" dirty="0" err="1" smtClean="0"/>
              <a:t>Kondapur</a:t>
            </a:r>
            <a:endParaRPr lang="en-IN" sz="800" i="1" dirty="0" smtClean="0"/>
          </a:p>
        </p:txBody>
      </p:sp>
      <p:sp>
        <p:nvSpPr>
          <p:cNvPr id="102" name="TextBox 101"/>
          <p:cNvSpPr txBox="1"/>
          <p:nvPr/>
        </p:nvSpPr>
        <p:spPr bwMode="gray">
          <a:xfrm>
            <a:off x="6171120" y="3820484"/>
            <a:ext cx="1039091" cy="138546"/>
          </a:xfrm>
          <a:prstGeom prst="rect">
            <a:avLst/>
          </a:prstGeom>
        </p:spPr>
        <p:txBody>
          <a:bodyPr vert="horz" wrap="square" lIns="91440" tIns="45720" rIns="91440" bIns="45720" rtlCol="0" anchor="ctr">
            <a:noAutofit/>
          </a:bodyPr>
          <a:lstStyle/>
          <a:p>
            <a:pPr algn="ctr"/>
            <a:r>
              <a:rPr lang="en-IN" sz="800" i="1" dirty="0" err="1" smtClean="0"/>
              <a:t>Nallakunta</a:t>
            </a:r>
            <a:endParaRPr lang="en-IN" sz="800" i="1" dirty="0" smtClean="0"/>
          </a:p>
        </p:txBody>
      </p:sp>
      <p:sp>
        <p:nvSpPr>
          <p:cNvPr id="103" name="TextBox 102"/>
          <p:cNvSpPr txBox="1"/>
          <p:nvPr/>
        </p:nvSpPr>
        <p:spPr bwMode="gray">
          <a:xfrm>
            <a:off x="7047898" y="4984283"/>
            <a:ext cx="1039091" cy="138546"/>
          </a:xfrm>
          <a:prstGeom prst="rect">
            <a:avLst/>
          </a:prstGeom>
        </p:spPr>
        <p:txBody>
          <a:bodyPr vert="horz" wrap="square" lIns="91440" tIns="45720" rIns="91440" bIns="45720" rtlCol="0" anchor="ctr">
            <a:noAutofit/>
          </a:bodyPr>
          <a:lstStyle/>
          <a:p>
            <a:pPr algn="ctr"/>
            <a:r>
              <a:rPr lang="en-IN" sz="800" i="1" dirty="0" err="1" smtClean="0"/>
              <a:t>Alkapuri</a:t>
            </a:r>
            <a:endParaRPr lang="en-IN" sz="800" i="1" dirty="0" smtClean="0"/>
          </a:p>
        </p:txBody>
      </p:sp>
      <p:sp>
        <p:nvSpPr>
          <p:cNvPr id="104" name="TextBox 103"/>
          <p:cNvSpPr txBox="1"/>
          <p:nvPr/>
        </p:nvSpPr>
        <p:spPr bwMode="gray">
          <a:xfrm>
            <a:off x="4454635" y="4327909"/>
            <a:ext cx="1039091" cy="138546"/>
          </a:xfrm>
          <a:prstGeom prst="rect">
            <a:avLst/>
          </a:prstGeom>
        </p:spPr>
        <p:txBody>
          <a:bodyPr vert="horz" wrap="square" lIns="91440" tIns="45720" rIns="91440" bIns="45720" rtlCol="0" anchor="ctr">
            <a:noAutofit/>
          </a:bodyPr>
          <a:lstStyle/>
          <a:p>
            <a:pPr algn="ctr"/>
            <a:r>
              <a:rPr lang="en-IN" sz="800" i="1" dirty="0" err="1" smtClean="0"/>
              <a:t>Koti</a:t>
            </a:r>
            <a:endParaRPr lang="en-IN" sz="800" i="1" dirty="0" smtClean="0"/>
          </a:p>
        </p:txBody>
      </p:sp>
      <p:sp>
        <p:nvSpPr>
          <p:cNvPr id="105" name="Oval 104"/>
          <p:cNvSpPr/>
          <p:nvPr/>
        </p:nvSpPr>
        <p:spPr>
          <a:xfrm>
            <a:off x="5707287" y="4231779"/>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6" name="Oval 105"/>
          <p:cNvSpPr/>
          <p:nvPr/>
        </p:nvSpPr>
        <p:spPr>
          <a:xfrm>
            <a:off x="6465062" y="4023961"/>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7" name="Oval 106"/>
          <p:cNvSpPr/>
          <p:nvPr/>
        </p:nvSpPr>
        <p:spPr>
          <a:xfrm>
            <a:off x="6475793" y="4794547"/>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9" name="Oval 108"/>
          <p:cNvSpPr/>
          <p:nvPr/>
        </p:nvSpPr>
        <p:spPr>
          <a:xfrm>
            <a:off x="4850200" y="3203811"/>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0" name="Oval 109"/>
          <p:cNvSpPr/>
          <p:nvPr/>
        </p:nvSpPr>
        <p:spPr>
          <a:xfrm>
            <a:off x="2120085" y="4538546"/>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1" name="Oval 110"/>
          <p:cNvSpPr/>
          <p:nvPr/>
        </p:nvSpPr>
        <p:spPr>
          <a:xfrm>
            <a:off x="4020995" y="3186878"/>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 name="Oval 111"/>
          <p:cNvSpPr/>
          <p:nvPr/>
        </p:nvSpPr>
        <p:spPr>
          <a:xfrm>
            <a:off x="4849582" y="2572271"/>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3" name="Oval 112"/>
          <p:cNvSpPr/>
          <p:nvPr/>
        </p:nvSpPr>
        <p:spPr>
          <a:xfrm>
            <a:off x="7750015" y="3235080"/>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4" name="Oval 113"/>
          <p:cNvSpPr/>
          <p:nvPr/>
        </p:nvSpPr>
        <p:spPr>
          <a:xfrm>
            <a:off x="2496498" y="4021075"/>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5" name="Oval 114"/>
          <p:cNvSpPr/>
          <p:nvPr/>
        </p:nvSpPr>
        <p:spPr>
          <a:xfrm>
            <a:off x="7813329" y="4240197"/>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0" name="Oval 119"/>
          <p:cNvSpPr/>
          <p:nvPr/>
        </p:nvSpPr>
        <p:spPr>
          <a:xfrm>
            <a:off x="7747867" y="3065505"/>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1" name="Oval 120"/>
          <p:cNvSpPr/>
          <p:nvPr/>
        </p:nvSpPr>
        <p:spPr>
          <a:xfrm>
            <a:off x="1513643" y="3232018"/>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2" name="Oval 121"/>
          <p:cNvSpPr/>
          <p:nvPr/>
        </p:nvSpPr>
        <p:spPr>
          <a:xfrm>
            <a:off x="5400207" y="1700364"/>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4" name="Oval 123"/>
          <p:cNvSpPr/>
          <p:nvPr/>
        </p:nvSpPr>
        <p:spPr>
          <a:xfrm>
            <a:off x="7841385" y="2318089"/>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6" name="Oval 125"/>
          <p:cNvSpPr/>
          <p:nvPr/>
        </p:nvSpPr>
        <p:spPr>
          <a:xfrm>
            <a:off x="3089557" y="2067391"/>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7" name="Oval 126"/>
          <p:cNvSpPr/>
          <p:nvPr/>
        </p:nvSpPr>
        <p:spPr>
          <a:xfrm>
            <a:off x="1241036" y="3152596"/>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8" name="Oval 127"/>
          <p:cNvSpPr/>
          <p:nvPr/>
        </p:nvSpPr>
        <p:spPr>
          <a:xfrm>
            <a:off x="1045704" y="3163327"/>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9" name="Oval 128"/>
          <p:cNvSpPr/>
          <p:nvPr/>
        </p:nvSpPr>
        <p:spPr>
          <a:xfrm>
            <a:off x="2939559" y="2056251"/>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3" name="TextBox 122"/>
          <p:cNvSpPr txBox="1"/>
          <p:nvPr/>
        </p:nvSpPr>
        <p:spPr bwMode="gray">
          <a:xfrm>
            <a:off x="238032" y="2731693"/>
            <a:ext cx="1039091" cy="138546"/>
          </a:xfrm>
          <a:prstGeom prst="rect">
            <a:avLst/>
          </a:prstGeom>
        </p:spPr>
        <p:txBody>
          <a:bodyPr vert="horz" wrap="square" lIns="91440" tIns="45720" rIns="91440" bIns="45720" rtlCol="0" anchor="ctr">
            <a:noAutofit/>
          </a:bodyPr>
          <a:lstStyle/>
          <a:p>
            <a:pPr algn="ctr"/>
            <a:r>
              <a:rPr lang="en-IN" sz="800" i="1" dirty="0" err="1" smtClean="0"/>
              <a:t>Nallagandla</a:t>
            </a:r>
            <a:endParaRPr lang="en-IN" sz="800" i="1" dirty="0" smtClean="0"/>
          </a:p>
        </p:txBody>
      </p:sp>
      <p:sp>
        <p:nvSpPr>
          <p:cNvPr id="125" name="TextBox 124"/>
          <p:cNvSpPr txBox="1"/>
          <p:nvPr/>
        </p:nvSpPr>
        <p:spPr bwMode="gray">
          <a:xfrm>
            <a:off x="713195" y="2513190"/>
            <a:ext cx="1039091" cy="138546"/>
          </a:xfrm>
          <a:prstGeom prst="rect">
            <a:avLst/>
          </a:prstGeom>
        </p:spPr>
        <p:txBody>
          <a:bodyPr vert="horz" wrap="square" lIns="91440" tIns="45720" rIns="91440" bIns="45720" rtlCol="0" anchor="ctr">
            <a:noAutofit/>
          </a:bodyPr>
          <a:lstStyle/>
          <a:p>
            <a:pPr algn="ctr"/>
            <a:r>
              <a:rPr lang="en-IN" sz="800" i="1" dirty="0" smtClean="0"/>
              <a:t>CUC</a:t>
            </a:r>
          </a:p>
        </p:txBody>
      </p:sp>
      <p:sp>
        <p:nvSpPr>
          <p:cNvPr id="131" name="TextBox 130"/>
          <p:cNvSpPr txBox="1"/>
          <p:nvPr/>
        </p:nvSpPr>
        <p:spPr bwMode="gray">
          <a:xfrm>
            <a:off x="1644444" y="2821819"/>
            <a:ext cx="1039091" cy="138546"/>
          </a:xfrm>
          <a:prstGeom prst="rect">
            <a:avLst/>
          </a:prstGeom>
        </p:spPr>
        <p:txBody>
          <a:bodyPr vert="horz" wrap="square" lIns="91440" tIns="45720" rIns="91440" bIns="45720" rtlCol="0" anchor="ctr">
            <a:noAutofit/>
          </a:bodyPr>
          <a:lstStyle/>
          <a:p>
            <a:pPr algn="ctr"/>
            <a:r>
              <a:rPr lang="en-IN" sz="800" i="1" dirty="0" err="1" smtClean="0"/>
              <a:t>Kothaguda</a:t>
            </a:r>
            <a:endParaRPr lang="en-IN" sz="800" i="1" dirty="0" smtClean="0"/>
          </a:p>
        </p:txBody>
      </p:sp>
      <p:sp>
        <p:nvSpPr>
          <p:cNvPr id="132" name="TextBox 131"/>
          <p:cNvSpPr txBox="1"/>
          <p:nvPr/>
        </p:nvSpPr>
        <p:spPr bwMode="gray">
          <a:xfrm>
            <a:off x="1873946" y="3220392"/>
            <a:ext cx="1039091" cy="138546"/>
          </a:xfrm>
          <a:prstGeom prst="rect">
            <a:avLst/>
          </a:prstGeom>
        </p:spPr>
        <p:txBody>
          <a:bodyPr vert="horz" wrap="square" lIns="91440" tIns="45720" rIns="91440" bIns="45720" rtlCol="0" anchor="ctr">
            <a:noAutofit/>
          </a:bodyPr>
          <a:lstStyle/>
          <a:p>
            <a:pPr algn="ctr"/>
            <a:r>
              <a:rPr lang="en-IN" sz="800" i="1" dirty="0" err="1" smtClean="0"/>
              <a:t>Jawahar</a:t>
            </a:r>
            <a:r>
              <a:rPr lang="en-IN" sz="800" i="1" dirty="0" smtClean="0"/>
              <a:t> Nagar</a:t>
            </a:r>
          </a:p>
        </p:txBody>
      </p:sp>
      <p:sp>
        <p:nvSpPr>
          <p:cNvPr id="133" name="TextBox 132"/>
          <p:cNvSpPr txBox="1"/>
          <p:nvPr/>
        </p:nvSpPr>
        <p:spPr bwMode="gray">
          <a:xfrm>
            <a:off x="244738" y="4204554"/>
            <a:ext cx="1039091" cy="138546"/>
          </a:xfrm>
          <a:prstGeom prst="rect">
            <a:avLst/>
          </a:prstGeom>
        </p:spPr>
        <p:txBody>
          <a:bodyPr vert="horz" wrap="square" lIns="91440" tIns="45720" rIns="91440" bIns="45720" rtlCol="0" anchor="ctr">
            <a:noAutofit/>
          </a:bodyPr>
          <a:lstStyle/>
          <a:p>
            <a:pPr algn="ctr"/>
            <a:r>
              <a:rPr lang="en-IN" sz="800" i="1" dirty="0" smtClean="0"/>
              <a:t>Osman Nagar</a:t>
            </a:r>
          </a:p>
        </p:txBody>
      </p:sp>
      <p:sp>
        <p:nvSpPr>
          <p:cNvPr id="134" name="TextBox 133"/>
          <p:cNvSpPr txBox="1"/>
          <p:nvPr/>
        </p:nvSpPr>
        <p:spPr bwMode="gray">
          <a:xfrm>
            <a:off x="563453" y="3913817"/>
            <a:ext cx="1039091" cy="138546"/>
          </a:xfrm>
          <a:prstGeom prst="rect">
            <a:avLst/>
          </a:prstGeom>
        </p:spPr>
        <p:txBody>
          <a:bodyPr vert="horz" wrap="square" lIns="91440" tIns="45720" rIns="91440" bIns="45720" rtlCol="0" anchor="ctr">
            <a:noAutofit/>
          </a:bodyPr>
          <a:lstStyle/>
          <a:p>
            <a:pPr algn="ctr"/>
            <a:r>
              <a:rPr lang="en-IN" sz="800" i="1" dirty="0" err="1" smtClean="0"/>
              <a:t>Manikonda</a:t>
            </a:r>
            <a:endParaRPr lang="en-IN" sz="800" i="1" dirty="0" smtClean="0"/>
          </a:p>
        </p:txBody>
      </p:sp>
      <p:sp>
        <p:nvSpPr>
          <p:cNvPr id="135" name="TextBox 134"/>
          <p:cNvSpPr txBox="1"/>
          <p:nvPr/>
        </p:nvSpPr>
        <p:spPr bwMode="gray">
          <a:xfrm>
            <a:off x="660035" y="4479711"/>
            <a:ext cx="1039091" cy="138546"/>
          </a:xfrm>
          <a:prstGeom prst="rect">
            <a:avLst/>
          </a:prstGeom>
        </p:spPr>
        <p:txBody>
          <a:bodyPr vert="horz" wrap="square" lIns="91440" tIns="45720" rIns="91440" bIns="45720" rtlCol="0" anchor="ctr">
            <a:noAutofit/>
          </a:bodyPr>
          <a:lstStyle/>
          <a:p>
            <a:pPr algn="ctr"/>
            <a:r>
              <a:rPr lang="en-IN" sz="800" i="1" dirty="0" smtClean="0"/>
              <a:t>Army Golf Course</a:t>
            </a:r>
          </a:p>
        </p:txBody>
      </p:sp>
      <p:sp>
        <p:nvSpPr>
          <p:cNvPr id="136" name="TextBox 135"/>
          <p:cNvSpPr txBox="1"/>
          <p:nvPr/>
        </p:nvSpPr>
        <p:spPr bwMode="gray">
          <a:xfrm>
            <a:off x="469936" y="5224346"/>
            <a:ext cx="1039091" cy="138546"/>
          </a:xfrm>
          <a:prstGeom prst="rect">
            <a:avLst/>
          </a:prstGeom>
        </p:spPr>
        <p:txBody>
          <a:bodyPr vert="horz" wrap="square" lIns="91440" tIns="45720" rIns="91440" bIns="45720" rtlCol="0" anchor="ctr">
            <a:noAutofit/>
          </a:bodyPr>
          <a:lstStyle/>
          <a:p>
            <a:pPr algn="ctr"/>
            <a:r>
              <a:rPr lang="en-IN" sz="800" i="1" dirty="0" err="1" smtClean="0"/>
              <a:t>Himayathsagar</a:t>
            </a:r>
            <a:endParaRPr lang="en-IN" sz="800" i="1" dirty="0" smtClean="0"/>
          </a:p>
        </p:txBody>
      </p:sp>
      <p:sp>
        <p:nvSpPr>
          <p:cNvPr id="137" name="TextBox 136"/>
          <p:cNvSpPr txBox="1"/>
          <p:nvPr/>
        </p:nvSpPr>
        <p:spPr bwMode="gray">
          <a:xfrm>
            <a:off x="1034239" y="4962878"/>
            <a:ext cx="1039091" cy="138546"/>
          </a:xfrm>
          <a:prstGeom prst="rect">
            <a:avLst/>
          </a:prstGeom>
        </p:spPr>
        <p:txBody>
          <a:bodyPr vert="horz" wrap="square" lIns="91440" tIns="45720" rIns="91440" bIns="45720" rtlCol="0" anchor="ctr">
            <a:noAutofit/>
          </a:bodyPr>
          <a:lstStyle/>
          <a:p>
            <a:pPr algn="ctr"/>
            <a:r>
              <a:rPr lang="en-IN" sz="800" i="1" dirty="0" err="1" smtClean="0"/>
              <a:t>Bandlaguda</a:t>
            </a:r>
            <a:endParaRPr lang="en-IN" sz="800" i="1" dirty="0" smtClean="0"/>
          </a:p>
        </p:txBody>
      </p:sp>
      <p:sp>
        <p:nvSpPr>
          <p:cNvPr id="138" name="TextBox 137"/>
          <p:cNvSpPr txBox="1"/>
          <p:nvPr/>
        </p:nvSpPr>
        <p:spPr bwMode="gray">
          <a:xfrm>
            <a:off x="1589371" y="5112590"/>
            <a:ext cx="1039091" cy="138546"/>
          </a:xfrm>
          <a:prstGeom prst="rect">
            <a:avLst/>
          </a:prstGeom>
        </p:spPr>
        <p:txBody>
          <a:bodyPr vert="horz" wrap="square" lIns="91440" tIns="45720" rIns="91440" bIns="45720" rtlCol="0" anchor="ctr">
            <a:noAutofit/>
          </a:bodyPr>
          <a:lstStyle/>
          <a:p>
            <a:pPr algn="ctr"/>
            <a:r>
              <a:rPr lang="en-IN" sz="800" i="1" dirty="0" err="1" smtClean="0"/>
              <a:t>Padmasri</a:t>
            </a:r>
            <a:r>
              <a:rPr lang="en-IN" sz="800" i="1" dirty="0" smtClean="0"/>
              <a:t> Estates</a:t>
            </a:r>
          </a:p>
        </p:txBody>
      </p:sp>
      <p:sp>
        <p:nvSpPr>
          <p:cNvPr id="139" name="TextBox 138"/>
          <p:cNvSpPr txBox="1"/>
          <p:nvPr/>
        </p:nvSpPr>
        <p:spPr bwMode="gray">
          <a:xfrm>
            <a:off x="1677629" y="5485637"/>
            <a:ext cx="1039091" cy="138546"/>
          </a:xfrm>
          <a:prstGeom prst="rect">
            <a:avLst/>
          </a:prstGeom>
        </p:spPr>
        <p:txBody>
          <a:bodyPr vert="horz" wrap="square" lIns="91440" tIns="45720" rIns="91440" bIns="45720" rtlCol="0" anchor="ctr">
            <a:noAutofit/>
          </a:bodyPr>
          <a:lstStyle/>
          <a:p>
            <a:pPr algn="ctr"/>
            <a:r>
              <a:rPr lang="en-IN" sz="800" i="1" dirty="0" err="1" smtClean="0"/>
              <a:t>Kismatpur</a:t>
            </a:r>
            <a:endParaRPr lang="en-IN" sz="800" i="1" dirty="0" smtClean="0"/>
          </a:p>
        </p:txBody>
      </p:sp>
      <p:sp>
        <p:nvSpPr>
          <p:cNvPr id="140" name="TextBox 139"/>
          <p:cNvSpPr txBox="1"/>
          <p:nvPr/>
        </p:nvSpPr>
        <p:spPr bwMode="gray">
          <a:xfrm>
            <a:off x="2683535" y="4982959"/>
            <a:ext cx="1039091" cy="138546"/>
          </a:xfrm>
          <a:prstGeom prst="rect">
            <a:avLst/>
          </a:prstGeom>
        </p:spPr>
        <p:txBody>
          <a:bodyPr vert="horz" wrap="square" lIns="91440" tIns="45720" rIns="91440" bIns="45720" rtlCol="0" anchor="ctr">
            <a:noAutofit/>
          </a:bodyPr>
          <a:lstStyle/>
          <a:p>
            <a:pPr algn="ctr"/>
            <a:r>
              <a:rPr lang="en-IN" sz="800" i="1" dirty="0" smtClean="0"/>
              <a:t>Nehru Zoological Park</a:t>
            </a:r>
          </a:p>
        </p:txBody>
      </p:sp>
      <p:sp>
        <p:nvSpPr>
          <p:cNvPr id="141" name="TextBox 140"/>
          <p:cNvSpPr txBox="1"/>
          <p:nvPr/>
        </p:nvSpPr>
        <p:spPr bwMode="gray">
          <a:xfrm>
            <a:off x="2835242" y="5421319"/>
            <a:ext cx="1039091" cy="138546"/>
          </a:xfrm>
          <a:prstGeom prst="rect">
            <a:avLst/>
          </a:prstGeom>
        </p:spPr>
        <p:txBody>
          <a:bodyPr vert="horz" wrap="square" lIns="91440" tIns="45720" rIns="91440" bIns="45720" rtlCol="0" anchor="ctr">
            <a:noAutofit/>
          </a:bodyPr>
          <a:lstStyle/>
          <a:p>
            <a:pPr algn="ctr"/>
            <a:r>
              <a:rPr lang="en-IN" sz="800" i="1" dirty="0" err="1" smtClean="0"/>
              <a:t>Sivarampalli</a:t>
            </a:r>
            <a:endParaRPr lang="en-IN" sz="800" i="1" dirty="0" smtClean="0"/>
          </a:p>
        </p:txBody>
      </p:sp>
      <p:sp>
        <p:nvSpPr>
          <p:cNvPr id="142" name="TextBox 141"/>
          <p:cNvSpPr txBox="1"/>
          <p:nvPr/>
        </p:nvSpPr>
        <p:spPr bwMode="gray">
          <a:xfrm>
            <a:off x="2683534" y="5766098"/>
            <a:ext cx="1039091" cy="138546"/>
          </a:xfrm>
          <a:prstGeom prst="rect">
            <a:avLst/>
          </a:prstGeom>
        </p:spPr>
        <p:txBody>
          <a:bodyPr vert="horz" wrap="square" lIns="91440" tIns="45720" rIns="91440" bIns="45720" rtlCol="0" anchor="ctr">
            <a:noAutofit/>
          </a:bodyPr>
          <a:lstStyle/>
          <a:p>
            <a:pPr algn="ctr"/>
            <a:r>
              <a:rPr lang="en-IN" sz="800" i="1" dirty="0" err="1" smtClean="0"/>
              <a:t>Gagan</a:t>
            </a:r>
            <a:r>
              <a:rPr lang="en-IN" sz="800" i="1" dirty="0" smtClean="0"/>
              <a:t> </a:t>
            </a:r>
            <a:r>
              <a:rPr lang="en-IN" sz="800" i="1" dirty="0" err="1" smtClean="0"/>
              <a:t>Pahad</a:t>
            </a:r>
            <a:endParaRPr lang="en-IN" sz="800" i="1" dirty="0" smtClean="0"/>
          </a:p>
        </p:txBody>
      </p:sp>
      <p:sp>
        <p:nvSpPr>
          <p:cNvPr id="143" name="TextBox 142"/>
          <p:cNvSpPr txBox="1"/>
          <p:nvPr/>
        </p:nvSpPr>
        <p:spPr bwMode="gray">
          <a:xfrm>
            <a:off x="2860736" y="4517862"/>
            <a:ext cx="1039091" cy="138546"/>
          </a:xfrm>
          <a:prstGeom prst="rect">
            <a:avLst/>
          </a:prstGeom>
        </p:spPr>
        <p:txBody>
          <a:bodyPr vert="horz" wrap="square" lIns="91440" tIns="45720" rIns="91440" bIns="45720" rtlCol="0" anchor="ctr">
            <a:noAutofit/>
          </a:bodyPr>
          <a:lstStyle/>
          <a:p>
            <a:pPr algn="ctr"/>
            <a:r>
              <a:rPr lang="en-IN" sz="800" i="1" dirty="0" err="1" smtClean="0"/>
              <a:t>Karwan</a:t>
            </a:r>
            <a:endParaRPr lang="en-IN" sz="800" i="1" dirty="0" smtClean="0"/>
          </a:p>
        </p:txBody>
      </p:sp>
      <p:sp>
        <p:nvSpPr>
          <p:cNvPr id="144" name="TextBox 143"/>
          <p:cNvSpPr txBox="1"/>
          <p:nvPr/>
        </p:nvSpPr>
        <p:spPr bwMode="gray">
          <a:xfrm>
            <a:off x="4218182" y="4673684"/>
            <a:ext cx="1039091" cy="138546"/>
          </a:xfrm>
          <a:prstGeom prst="rect">
            <a:avLst/>
          </a:prstGeom>
        </p:spPr>
        <p:txBody>
          <a:bodyPr vert="horz" wrap="square" lIns="91440" tIns="45720" rIns="91440" bIns="45720" rtlCol="0" anchor="ctr">
            <a:noAutofit/>
          </a:bodyPr>
          <a:lstStyle/>
          <a:p>
            <a:pPr algn="ctr"/>
            <a:r>
              <a:rPr lang="en-IN" sz="800" i="1" dirty="0" err="1" smtClean="0"/>
              <a:t>CharMinar</a:t>
            </a:r>
            <a:endParaRPr lang="en-IN" sz="800" i="1" dirty="0" smtClean="0"/>
          </a:p>
        </p:txBody>
      </p:sp>
      <p:sp>
        <p:nvSpPr>
          <p:cNvPr id="145" name="TextBox 144"/>
          <p:cNvSpPr txBox="1"/>
          <p:nvPr/>
        </p:nvSpPr>
        <p:spPr bwMode="gray">
          <a:xfrm>
            <a:off x="4587411" y="4527313"/>
            <a:ext cx="1039091" cy="138546"/>
          </a:xfrm>
          <a:prstGeom prst="rect">
            <a:avLst/>
          </a:prstGeom>
        </p:spPr>
        <p:txBody>
          <a:bodyPr vert="horz" wrap="square" lIns="91440" tIns="45720" rIns="91440" bIns="45720" rtlCol="0" anchor="ctr">
            <a:noAutofit/>
          </a:bodyPr>
          <a:lstStyle/>
          <a:p>
            <a:pPr algn="ctr"/>
            <a:r>
              <a:rPr lang="en-IN" sz="800" i="1" dirty="0" err="1" smtClean="0"/>
              <a:t>Malakpet</a:t>
            </a:r>
            <a:endParaRPr lang="en-IN" sz="800" i="1" dirty="0" smtClean="0"/>
          </a:p>
        </p:txBody>
      </p:sp>
      <p:sp>
        <p:nvSpPr>
          <p:cNvPr id="146" name="TextBox 145"/>
          <p:cNvSpPr txBox="1"/>
          <p:nvPr/>
        </p:nvSpPr>
        <p:spPr bwMode="gray">
          <a:xfrm>
            <a:off x="3571019" y="5162093"/>
            <a:ext cx="1039091" cy="138546"/>
          </a:xfrm>
          <a:prstGeom prst="rect">
            <a:avLst/>
          </a:prstGeom>
        </p:spPr>
        <p:txBody>
          <a:bodyPr vert="horz" wrap="square" lIns="91440" tIns="45720" rIns="91440" bIns="45720" rtlCol="0" anchor="ctr">
            <a:noAutofit/>
          </a:bodyPr>
          <a:lstStyle/>
          <a:p>
            <a:pPr algn="ctr"/>
            <a:r>
              <a:rPr lang="en-IN" sz="800" i="1" dirty="0" smtClean="0"/>
              <a:t>Murad Nagar</a:t>
            </a:r>
          </a:p>
        </p:txBody>
      </p:sp>
      <p:sp>
        <p:nvSpPr>
          <p:cNvPr id="147" name="TextBox 146"/>
          <p:cNvSpPr txBox="1"/>
          <p:nvPr/>
        </p:nvSpPr>
        <p:spPr bwMode="gray">
          <a:xfrm>
            <a:off x="3851885" y="5748591"/>
            <a:ext cx="1039091" cy="138546"/>
          </a:xfrm>
          <a:prstGeom prst="rect">
            <a:avLst/>
          </a:prstGeom>
        </p:spPr>
        <p:txBody>
          <a:bodyPr vert="horz" wrap="square" lIns="91440" tIns="45720" rIns="91440" bIns="45720" rtlCol="0" anchor="ctr">
            <a:noAutofit/>
          </a:bodyPr>
          <a:lstStyle/>
          <a:p>
            <a:pPr algn="ctr"/>
            <a:r>
              <a:rPr lang="en-IN" sz="800" i="1" dirty="0" err="1" smtClean="0"/>
              <a:t>Kamaguda</a:t>
            </a:r>
            <a:endParaRPr lang="en-IN" sz="800" i="1" dirty="0" smtClean="0"/>
          </a:p>
        </p:txBody>
      </p:sp>
      <p:sp>
        <p:nvSpPr>
          <p:cNvPr id="148" name="TextBox 147"/>
          <p:cNvSpPr txBox="1"/>
          <p:nvPr/>
        </p:nvSpPr>
        <p:spPr bwMode="gray">
          <a:xfrm>
            <a:off x="3808498" y="5510401"/>
            <a:ext cx="1039091" cy="138546"/>
          </a:xfrm>
          <a:prstGeom prst="rect">
            <a:avLst/>
          </a:prstGeom>
        </p:spPr>
        <p:txBody>
          <a:bodyPr vert="horz" wrap="square" lIns="91440" tIns="45720" rIns="91440" bIns="45720" rtlCol="0" anchor="ctr">
            <a:noAutofit/>
          </a:bodyPr>
          <a:lstStyle/>
          <a:p>
            <a:pPr algn="ctr"/>
            <a:r>
              <a:rPr lang="en-IN" sz="800" i="1" dirty="0" err="1" smtClean="0"/>
              <a:t>Falaknuma</a:t>
            </a:r>
            <a:endParaRPr lang="en-IN" sz="800" i="1" dirty="0" smtClean="0"/>
          </a:p>
        </p:txBody>
      </p:sp>
      <p:sp>
        <p:nvSpPr>
          <p:cNvPr id="149" name="TextBox 148"/>
          <p:cNvSpPr txBox="1"/>
          <p:nvPr/>
        </p:nvSpPr>
        <p:spPr bwMode="gray">
          <a:xfrm>
            <a:off x="3585870" y="4775911"/>
            <a:ext cx="1039091" cy="138546"/>
          </a:xfrm>
          <a:prstGeom prst="rect">
            <a:avLst/>
          </a:prstGeom>
        </p:spPr>
        <p:txBody>
          <a:bodyPr vert="horz" wrap="square" lIns="91440" tIns="45720" rIns="91440" bIns="45720" rtlCol="0" anchor="ctr">
            <a:noAutofit/>
          </a:bodyPr>
          <a:lstStyle/>
          <a:p>
            <a:pPr algn="ctr"/>
            <a:r>
              <a:rPr lang="en-IN" sz="800" i="1" dirty="0" smtClean="0"/>
              <a:t>High Court</a:t>
            </a:r>
          </a:p>
        </p:txBody>
      </p:sp>
      <p:sp>
        <p:nvSpPr>
          <p:cNvPr id="150" name="TextBox 149"/>
          <p:cNvSpPr txBox="1"/>
          <p:nvPr/>
        </p:nvSpPr>
        <p:spPr bwMode="gray">
          <a:xfrm>
            <a:off x="3263243" y="3592259"/>
            <a:ext cx="1039091" cy="138546"/>
          </a:xfrm>
          <a:prstGeom prst="rect">
            <a:avLst/>
          </a:prstGeom>
        </p:spPr>
        <p:txBody>
          <a:bodyPr vert="horz" wrap="square" lIns="91440" tIns="45720" rIns="91440" bIns="45720" rtlCol="0" anchor="ctr">
            <a:noAutofit/>
          </a:bodyPr>
          <a:lstStyle/>
          <a:p>
            <a:pPr algn="ctr"/>
            <a:r>
              <a:rPr lang="en-IN" sz="800" i="1" dirty="0" err="1" smtClean="0"/>
              <a:t>Khairatabad</a:t>
            </a:r>
            <a:endParaRPr lang="en-IN" sz="800" i="1" dirty="0" smtClean="0"/>
          </a:p>
        </p:txBody>
      </p:sp>
      <p:sp>
        <p:nvSpPr>
          <p:cNvPr id="152" name="TextBox 151"/>
          <p:cNvSpPr txBox="1"/>
          <p:nvPr/>
        </p:nvSpPr>
        <p:spPr bwMode="gray">
          <a:xfrm>
            <a:off x="3632831" y="3913541"/>
            <a:ext cx="1039091" cy="138546"/>
          </a:xfrm>
          <a:prstGeom prst="rect">
            <a:avLst/>
          </a:prstGeom>
        </p:spPr>
        <p:txBody>
          <a:bodyPr vert="horz" wrap="square" lIns="91440" tIns="45720" rIns="91440" bIns="45720" rtlCol="0" anchor="ctr">
            <a:noAutofit/>
          </a:bodyPr>
          <a:lstStyle/>
          <a:p>
            <a:pPr algn="ctr"/>
            <a:r>
              <a:rPr lang="en-IN" sz="800" i="1" dirty="0" smtClean="0"/>
              <a:t>Hill Fort Road</a:t>
            </a:r>
          </a:p>
        </p:txBody>
      </p:sp>
      <p:sp>
        <p:nvSpPr>
          <p:cNvPr id="153" name="TextBox 152"/>
          <p:cNvSpPr txBox="1"/>
          <p:nvPr/>
        </p:nvSpPr>
        <p:spPr bwMode="gray">
          <a:xfrm>
            <a:off x="3581166" y="2633705"/>
            <a:ext cx="1039091" cy="138546"/>
          </a:xfrm>
          <a:prstGeom prst="rect">
            <a:avLst/>
          </a:prstGeom>
        </p:spPr>
        <p:txBody>
          <a:bodyPr vert="horz" wrap="square" lIns="91440" tIns="45720" rIns="91440" bIns="45720" rtlCol="0" anchor="ctr">
            <a:noAutofit/>
          </a:bodyPr>
          <a:lstStyle/>
          <a:p>
            <a:pPr algn="ctr"/>
            <a:r>
              <a:rPr lang="en-IN" sz="800" i="1" dirty="0" err="1" smtClean="0"/>
              <a:t>Bowenpally</a:t>
            </a:r>
            <a:endParaRPr lang="en-IN" sz="800" i="1" dirty="0" smtClean="0"/>
          </a:p>
        </p:txBody>
      </p:sp>
      <p:sp>
        <p:nvSpPr>
          <p:cNvPr id="154" name="TextBox 153"/>
          <p:cNvSpPr txBox="1"/>
          <p:nvPr/>
        </p:nvSpPr>
        <p:spPr bwMode="gray">
          <a:xfrm>
            <a:off x="3605216" y="2373338"/>
            <a:ext cx="1039091" cy="138546"/>
          </a:xfrm>
          <a:prstGeom prst="rect">
            <a:avLst/>
          </a:prstGeom>
        </p:spPr>
        <p:txBody>
          <a:bodyPr vert="horz" wrap="square" lIns="91440" tIns="45720" rIns="91440" bIns="45720" rtlCol="0" anchor="ctr">
            <a:noAutofit/>
          </a:bodyPr>
          <a:lstStyle/>
          <a:p>
            <a:pPr algn="ctr"/>
            <a:r>
              <a:rPr lang="en-IN" sz="800" i="1" dirty="0" smtClean="0"/>
              <a:t>HAL</a:t>
            </a:r>
          </a:p>
        </p:txBody>
      </p:sp>
      <p:sp>
        <p:nvSpPr>
          <p:cNvPr id="155" name="TextBox 154"/>
          <p:cNvSpPr txBox="1"/>
          <p:nvPr/>
        </p:nvSpPr>
        <p:spPr bwMode="gray">
          <a:xfrm>
            <a:off x="4681516" y="1883055"/>
            <a:ext cx="1039091" cy="138546"/>
          </a:xfrm>
          <a:prstGeom prst="rect">
            <a:avLst/>
          </a:prstGeom>
        </p:spPr>
        <p:txBody>
          <a:bodyPr vert="horz" wrap="square" lIns="91440" tIns="45720" rIns="91440" bIns="45720" rtlCol="0" anchor="ctr">
            <a:noAutofit/>
          </a:bodyPr>
          <a:lstStyle/>
          <a:p>
            <a:pPr algn="ctr"/>
            <a:r>
              <a:rPr lang="en-IN" sz="800" i="1" dirty="0" err="1" smtClean="0"/>
              <a:t>Alwal</a:t>
            </a:r>
            <a:endParaRPr lang="en-IN" sz="800" i="1" dirty="0" smtClean="0"/>
          </a:p>
        </p:txBody>
      </p:sp>
      <p:sp>
        <p:nvSpPr>
          <p:cNvPr id="156" name="TextBox 155"/>
          <p:cNvSpPr txBox="1"/>
          <p:nvPr/>
        </p:nvSpPr>
        <p:spPr bwMode="gray">
          <a:xfrm>
            <a:off x="3650664" y="1606997"/>
            <a:ext cx="1039091" cy="138546"/>
          </a:xfrm>
          <a:prstGeom prst="rect">
            <a:avLst/>
          </a:prstGeom>
        </p:spPr>
        <p:txBody>
          <a:bodyPr vert="horz" wrap="square" lIns="91440" tIns="45720" rIns="91440" bIns="45720" rtlCol="0" anchor="ctr">
            <a:noAutofit/>
          </a:bodyPr>
          <a:lstStyle/>
          <a:p>
            <a:pPr algn="ctr"/>
            <a:r>
              <a:rPr lang="en-IN" sz="800" i="1" dirty="0" err="1" smtClean="0"/>
              <a:t>Doolapally</a:t>
            </a:r>
            <a:endParaRPr lang="en-IN" sz="800" i="1" dirty="0" smtClean="0"/>
          </a:p>
        </p:txBody>
      </p:sp>
      <p:sp>
        <p:nvSpPr>
          <p:cNvPr id="157" name="TextBox 156"/>
          <p:cNvSpPr txBox="1"/>
          <p:nvPr/>
        </p:nvSpPr>
        <p:spPr bwMode="gray">
          <a:xfrm>
            <a:off x="5257273" y="2765399"/>
            <a:ext cx="1039091" cy="138546"/>
          </a:xfrm>
          <a:prstGeom prst="rect">
            <a:avLst/>
          </a:prstGeom>
        </p:spPr>
        <p:txBody>
          <a:bodyPr vert="horz" wrap="square" lIns="91440" tIns="45720" rIns="91440" bIns="45720" rtlCol="0" anchor="ctr">
            <a:noAutofit/>
          </a:bodyPr>
          <a:lstStyle/>
          <a:p>
            <a:pPr algn="ctr"/>
            <a:r>
              <a:rPr lang="en-IN" sz="800" i="1" dirty="0" smtClean="0"/>
              <a:t>Nehru Nagar</a:t>
            </a:r>
          </a:p>
        </p:txBody>
      </p:sp>
      <p:sp>
        <p:nvSpPr>
          <p:cNvPr id="158" name="TextBox 157"/>
          <p:cNvSpPr txBox="1"/>
          <p:nvPr/>
        </p:nvSpPr>
        <p:spPr bwMode="gray">
          <a:xfrm>
            <a:off x="5655428" y="2460642"/>
            <a:ext cx="1039091" cy="138546"/>
          </a:xfrm>
          <a:prstGeom prst="rect">
            <a:avLst/>
          </a:prstGeom>
        </p:spPr>
        <p:txBody>
          <a:bodyPr vert="horz" wrap="square" lIns="91440" tIns="45720" rIns="91440" bIns="45720" rtlCol="0" anchor="ctr">
            <a:noAutofit/>
          </a:bodyPr>
          <a:lstStyle/>
          <a:p>
            <a:pPr algn="ctr"/>
            <a:r>
              <a:rPr lang="en-IN" sz="800" i="1" dirty="0" err="1" smtClean="0"/>
              <a:t>Anantram</a:t>
            </a:r>
            <a:endParaRPr lang="en-IN" sz="800" i="1" dirty="0" smtClean="0"/>
          </a:p>
        </p:txBody>
      </p:sp>
      <p:sp>
        <p:nvSpPr>
          <p:cNvPr id="159" name="TextBox 158"/>
          <p:cNvSpPr txBox="1"/>
          <p:nvPr/>
        </p:nvSpPr>
        <p:spPr bwMode="gray">
          <a:xfrm>
            <a:off x="6049765" y="3140754"/>
            <a:ext cx="1039091" cy="138546"/>
          </a:xfrm>
          <a:prstGeom prst="rect">
            <a:avLst/>
          </a:prstGeom>
        </p:spPr>
        <p:txBody>
          <a:bodyPr vert="horz" wrap="square" lIns="91440" tIns="45720" rIns="91440" bIns="45720" rtlCol="0" anchor="ctr">
            <a:noAutofit/>
          </a:bodyPr>
          <a:lstStyle/>
          <a:p>
            <a:pPr algn="ctr"/>
            <a:r>
              <a:rPr lang="en-IN" sz="800" i="1" dirty="0" err="1" smtClean="0"/>
              <a:t>Sitaphalmandi</a:t>
            </a:r>
            <a:endParaRPr lang="en-IN" sz="800" i="1" dirty="0" smtClean="0"/>
          </a:p>
        </p:txBody>
      </p:sp>
      <p:sp>
        <p:nvSpPr>
          <p:cNvPr id="160" name="TextBox 159"/>
          <p:cNvSpPr txBox="1"/>
          <p:nvPr/>
        </p:nvSpPr>
        <p:spPr bwMode="gray">
          <a:xfrm>
            <a:off x="5443008" y="3523930"/>
            <a:ext cx="1039091" cy="138546"/>
          </a:xfrm>
          <a:prstGeom prst="rect">
            <a:avLst/>
          </a:prstGeom>
        </p:spPr>
        <p:txBody>
          <a:bodyPr vert="horz" wrap="square" lIns="91440" tIns="45720" rIns="91440" bIns="45720" rtlCol="0" anchor="ctr">
            <a:noAutofit/>
          </a:bodyPr>
          <a:lstStyle/>
          <a:p>
            <a:pPr algn="ctr"/>
            <a:r>
              <a:rPr lang="en-IN" sz="800" i="1" dirty="0" err="1" smtClean="0"/>
              <a:t>Bhoiguda</a:t>
            </a:r>
            <a:r>
              <a:rPr lang="en-IN" sz="800" i="1" dirty="0" smtClean="0"/>
              <a:t> Road</a:t>
            </a:r>
          </a:p>
        </p:txBody>
      </p:sp>
      <p:sp>
        <p:nvSpPr>
          <p:cNvPr id="161" name="TextBox 160"/>
          <p:cNvSpPr txBox="1"/>
          <p:nvPr/>
        </p:nvSpPr>
        <p:spPr bwMode="gray">
          <a:xfrm>
            <a:off x="6875347" y="3396288"/>
            <a:ext cx="1039091" cy="138546"/>
          </a:xfrm>
          <a:prstGeom prst="rect">
            <a:avLst/>
          </a:prstGeom>
        </p:spPr>
        <p:txBody>
          <a:bodyPr vert="horz" wrap="square" lIns="91440" tIns="45720" rIns="91440" bIns="45720" rtlCol="0" anchor="ctr">
            <a:noAutofit/>
          </a:bodyPr>
          <a:lstStyle/>
          <a:p>
            <a:pPr algn="ctr"/>
            <a:r>
              <a:rPr lang="en-IN" sz="800" i="1" dirty="0" smtClean="0"/>
              <a:t>Railway Workshop</a:t>
            </a:r>
          </a:p>
        </p:txBody>
      </p:sp>
      <p:sp>
        <p:nvSpPr>
          <p:cNvPr id="162" name="TextBox 161"/>
          <p:cNvSpPr txBox="1"/>
          <p:nvPr/>
        </p:nvSpPr>
        <p:spPr bwMode="gray">
          <a:xfrm>
            <a:off x="6573205" y="2761190"/>
            <a:ext cx="1039091" cy="138546"/>
          </a:xfrm>
          <a:prstGeom prst="rect">
            <a:avLst/>
          </a:prstGeom>
        </p:spPr>
        <p:txBody>
          <a:bodyPr vert="horz" wrap="square" lIns="91440" tIns="45720" rIns="91440" bIns="45720" rtlCol="0" anchor="ctr">
            <a:noAutofit/>
          </a:bodyPr>
          <a:lstStyle/>
          <a:p>
            <a:pPr algn="ctr"/>
            <a:r>
              <a:rPr lang="en-IN" sz="800" i="1" dirty="0" err="1" smtClean="0"/>
              <a:t>Malkajgiri</a:t>
            </a:r>
            <a:endParaRPr lang="en-IN" sz="800" i="1" dirty="0" smtClean="0"/>
          </a:p>
        </p:txBody>
      </p:sp>
      <p:sp>
        <p:nvSpPr>
          <p:cNvPr id="163" name="TextBox 162"/>
          <p:cNvSpPr txBox="1"/>
          <p:nvPr/>
        </p:nvSpPr>
        <p:spPr bwMode="gray">
          <a:xfrm>
            <a:off x="6174973" y="2012026"/>
            <a:ext cx="1039091" cy="138546"/>
          </a:xfrm>
          <a:prstGeom prst="rect">
            <a:avLst/>
          </a:prstGeom>
        </p:spPr>
        <p:txBody>
          <a:bodyPr vert="horz" wrap="square" lIns="91440" tIns="45720" rIns="91440" bIns="45720" rtlCol="0" anchor="ctr">
            <a:noAutofit/>
          </a:bodyPr>
          <a:lstStyle/>
          <a:p>
            <a:pPr algn="ctr"/>
            <a:r>
              <a:rPr lang="en-IN" sz="800" i="1" dirty="0" smtClean="0"/>
              <a:t>Generals Road</a:t>
            </a:r>
          </a:p>
        </p:txBody>
      </p:sp>
      <p:sp>
        <p:nvSpPr>
          <p:cNvPr id="164" name="TextBox 163"/>
          <p:cNvSpPr txBox="1"/>
          <p:nvPr/>
        </p:nvSpPr>
        <p:spPr bwMode="gray">
          <a:xfrm>
            <a:off x="7210211" y="2010942"/>
            <a:ext cx="1039091" cy="138546"/>
          </a:xfrm>
          <a:prstGeom prst="rect">
            <a:avLst/>
          </a:prstGeom>
        </p:spPr>
        <p:txBody>
          <a:bodyPr vert="horz" wrap="square" lIns="91440" tIns="45720" rIns="91440" bIns="45720" rtlCol="0" anchor="ctr">
            <a:noAutofit/>
          </a:bodyPr>
          <a:lstStyle/>
          <a:p>
            <a:pPr algn="ctr"/>
            <a:r>
              <a:rPr lang="en-IN" sz="800" i="1" dirty="0" err="1" smtClean="0"/>
              <a:t>Sainikpuri</a:t>
            </a:r>
            <a:endParaRPr lang="en-IN" sz="800" i="1" dirty="0" smtClean="0"/>
          </a:p>
        </p:txBody>
      </p:sp>
      <p:sp>
        <p:nvSpPr>
          <p:cNvPr id="165" name="TextBox 164"/>
          <p:cNvSpPr txBox="1"/>
          <p:nvPr/>
        </p:nvSpPr>
        <p:spPr bwMode="gray">
          <a:xfrm>
            <a:off x="5069846" y="5395641"/>
            <a:ext cx="1039091" cy="138546"/>
          </a:xfrm>
          <a:prstGeom prst="rect">
            <a:avLst/>
          </a:prstGeom>
        </p:spPr>
        <p:txBody>
          <a:bodyPr vert="horz" wrap="square" lIns="91440" tIns="45720" rIns="91440" bIns="45720" rtlCol="0" anchor="ctr">
            <a:noAutofit/>
          </a:bodyPr>
          <a:lstStyle/>
          <a:p>
            <a:pPr algn="ctr"/>
            <a:r>
              <a:rPr lang="en-IN" sz="800" i="1" dirty="0" smtClean="0"/>
              <a:t>Saidabad</a:t>
            </a:r>
          </a:p>
        </p:txBody>
      </p:sp>
      <p:sp>
        <p:nvSpPr>
          <p:cNvPr id="166" name="TextBox 165"/>
          <p:cNvSpPr txBox="1"/>
          <p:nvPr/>
        </p:nvSpPr>
        <p:spPr bwMode="gray">
          <a:xfrm>
            <a:off x="6046040" y="5458392"/>
            <a:ext cx="1039091" cy="138546"/>
          </a:xfrm>
          <a:prstGeom prst="rect">
            <a:avLst/>
          </a:prstGeom>
        </p:spPr>
        <p:txBody>
          <a:bodyPr vert="horz" wrap="square" lIns="91440" tIns="45720" rIns="91440" bIns="45720" rtlCol="0" anchor="ctr">
            <a:noAutofit/>
          </a:bodyPr>
          <a:lstStyle/>
          <a:p>
            <a:pPr algn="ctr"/>
            <a:r>
              <a:rPr lang="en-IN" sz="800" i="1" dirty="0" err="1" smtClean="0"/>
              <a:t>Saroornagar</a:t>
            </a:r>
            <a:endParaRPr lang="en-IN" sz="800" i="1" dirty="0" smtClean="0"/>
          </a:p>
        </p:txBody>
      </p:sp>
      <p:sp>
        <p:nvSpPr>
          <p:cNvPr id="167" name="TextBox 166"/>
          <p:cNvSpPr txBox="1"/>
          <p:nvPr/>
        </p:nvSpPr>
        <p:spPr bwMode="gray">
          <a:xfrm>
            <a:off x="6882745" y="5456244"/>
            <a:ext cx="1039091" cy="138546"/>
          </a:xfrm>
          <a:prstGeom prst="rect">
            <a:avLst/>
          </a:prstGeom>
        </p:spPr>
        <p:txBody>
          <a:bodyPr vert="horz" wrap="square" lIns="91440" tIns="45720" rIns="91440" bIns="45720" rtlCol="0" anchor="ctr">
            <a:noAutofit/>
          </a:bodyPr>
          <a:lstStyle/>
          <a:p>
            <a:pPr algn="ctr"/>
            <a:r>
              <a:rPr lang="en-IN" sz="800" i="1" dirty="0" smtClean="0"/>
              <a:t>LB Nagar</a:t>
            </a:r>
          </a:p>
        </p:txBody>
      </p:sp>
      <p:sp>
        <p:nvSpPr>
          <p:cNvPr id="168" name="Oval 167"/>
          <p:cNvSpPr/>
          <p:nvPr/>
        </p:nvSpPr>
        <p:spPr>
          <a:xfrm>
            <a:off x="5076498" y="3208445"/>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9" name="Oval 168"/>
          <p:cNvSpPr/>
          <p:nvPr/>
        </p:nvSpPr>
        <p:spPr>
          <a:xfrm>
            <a:off x="3477724" y="3143527"/>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0" name="Oval 169"/>
          <p:cNvSpPr/>
          <p:nvPr/>
        </p:nvSpPr>
        <p:spPr>
          <a:xfrm>
            <a:off x="2292776" y="2203303"/>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1" name="Oval 170"/>
          <p:cNvSpPr/>
          <p:nvPr/>
        </p:nvSpPr>
        <p:spPr>
          <a:xfrm>
            <a:off x="3980943" y="4199909"/>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2" name="Oval 171"/>
          <p:cNvSpPr/>
          <p:nvPr/>
        </p:nvSpPr>
        <p:spPr>
          <a:xfrm>
            <a:off x="7097565" y="3813643"/>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3" name="Oval 172"/>
          <p:cNvSpPr/>
          <p:nvPr/>
        </p:nvSpPr>
        <p:spPr>
          <a:xfrm>
            <a:off x="8283918" y="2319358"/>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4" name="Oval 173"/>
          <p:cNvSpPr/>
          <p:nvPr/>
        </p:nvSpPr>
        <p:spPr>
          <a:xfrm>
            <a:off x="3079116" y="3545260"/>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6" name="Oval 175"/>
          <p:cNvSpPr/>
          <p:nvPr/>
        </p:nvSpPr>
        <p:spPr>
          <a:xfrm>
            <a:off x="5705889" y="5076021"/>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7" name="Oval 176"/>
          <p:cNvSpPr/>
          <p:nvPr/>
        </p:nvSpPr>
        <p:spPr>
          <a:xfrm>
            <a:off x="5705889" y="4729032"/>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8" name="Oval 177"/>
          <p:cNvSpPr/>
          <p:nvPr/>
        </p:nvSpPr>
        <p:spPr>
          <a:xfrm>
            <a:off x="7070934" y="4829151"/>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9" name="Oval 178"/>
          <p:cNvSpPr/>
          <p:nvPr/>
        </p:nvSpPr>
        <p:spPr>
          <a:xfrm>
            <a:off x="1752436" y="2203303"/>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0" name="Oval 179"/>
          <p:cNvSpPr/>
          <p:nvPr/>
        </p:nvSpPr>
        <p:spPr>
          <a:xfrm>
            <a:off x="7562978" y="5691515"/>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1" name="Oval 180"/>
          <p:cNvSpPr/>
          <p:nvPr/>
        </p:nvSpPr>
        <p:spPr>
          <a:xfrm>
            <a:off x="5397837" y="1494801"/>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2" name="Oval 181"/>
          <p:cNvSpPr/>
          <p:nvPr/>
        </p:nvSpPr>
        <p:spPr>
          <a:xfrm>
            <a:off x="5692817" y="3954086"/>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4" name="Oval 183"/>
          <p:cNvSpPr/>
          <p:nvPr/>
        </p:nvSpPr>
        <p:spPr>
          <a:xfrm>
            <a:off x="2357543" y="4546997"/>
            <a:ext cx="191726" cy="16385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5" name="Oval 184"/>
          <p:cNvSpPr/>
          <p:nvPr/>
        </p:nvSpPr>
        <p:spPr>
          <a:xfrm>
            <a:off x="2280130" y="4020918"/>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6" name="Oval 185"/>
          <p:cNvSpPr/>
          <p:nvPr/>
        </p:nvSpPr>
        <p:spPr>
          <a:xfrm>
            <a:off x="4662563" y="3851769"/>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7" name="Oval 186"/>
          <p:cNvSpPr/>
          <p:nvPr/>
        </p:nvSpPr>
        <p:spPr>
          <a:xfrm>
            <a:off x="1661984" y="3130238"/>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8" name="Oval 187"/>
          <p:cNvSpPr/>
          <p:nvPr/>
        </p:nvSpPr>
        <p:spPr>
          <a:xfrm>
            <a:off x="6196157" y="3827395"/>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9" name="Oval 188"/>
          <p:cNvSpPr/>
          <p:nvPr/>
        </p:nvSpPr>
        <p:spPr>
          <a:xfrm>
            <a:off x="670764" y="2087299"/>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0" name="Oval 189"/>
          <p:cNvSpPr/>
          <p:nvPr/>
        </p:nvSpPr>
        <p:spPr>
          <a:xfrm>
            <a:off x="7469459" y="4791164"/>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1" name="Oval 190"/>
          <p:cNvSpPr/>
          <p:nvPr/>
        </p:nvSpPr>
        <p:spPr>
          <a:xfrm>
            <a:off x="2513394" y="2203251"/>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2" name="Oval 191"/>
          <p:cNvSpPr/>
          <p:nvPr/>
        </p:nvSpPr>
        <p:spPr>
          <a:xfrm>
            <a:off x="4815689" y="4225062"/>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5" name="TextBox 204"/>
          <p:cNvSpPr txBox="1"/>
          <p:nvPr/>
        </p:nvSpPr>
        <p:spPr bwMode="gray">
          <a:xfrm>
            <a:off x="3698636" y="3473614"/>
            <a:ext cx="1039091" cy="138546"/>
          </a:xfrm>
          <a:prstGeom prst="rect">
            <a:avLst/>
          </a:prstGeom>
        </p:spPr>
        <p:txBody>
          <a:bodyPr vert="horz" wrap="square" lIns="91440" tIns="45720" rIns="91440" bIns="45720" rtlCol="0" anchor="ctr">
            <a:noAutofit/>
          </a:bodyPr>
          <a:lstStyle/>
          <a:p>
            <a:pPr algn="ctr"/>
            <a:r>
              <a:rPr lang="en-IN" sz="800" i="1" dirty="0" smtClean="0"/>
              <a:t>Secretariat</a:t>
            </a:r>
          </a:p>
        </p:txBody>
      </p:sp>
      <p:sp>
        <p:nvSpPr>
          <p:cNvPr id="183" name="Oval 182"/>
          <p:cNvSpPr/>
          <p:nvPr/>
        </p:nvSpPr>
        <p:spPr>
          <a:xfrm>
            <a:off x="3245267" y="6479451"/>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4" name="TextBox 193"/>
          <p:cNvSpPr txBox="1"/>
          <p:nvPr/>
        </p:nvSpPr>
        <p:spPr bwMode="gray">
          <a:xfrm>
            <a:off x="3533632" y="6458695"/>
            <a:ext cx="780990" cy="367049"/>
          </a:xfrm>
          <a:prstGeom prst="rect">
            <a:avLst/>
          </a:prstGeom>
        </p:spPr>
        <p:txBody>
          <a:bodyPr vert="horz" wrap="square" lIns="91440" tIns="45720" rIns="91440" bIns="45720" rtlCol="0" anchor="ctr">
            <a:noAutofit/>
          </a:bodyPr>
          <a:lstStyle/>
          <a:p>
            <a:r>
              <a:rPr lang="en-IN" sz="800" dirty="0" smtClean="0"/>
              <a:t>Reliance Digital Stores</a:t>
            </a:r>
          </a:p>
        </p:txBody>
      </p:sp>
      <p:sp>
        <p:nvSpPr>
          <p:cNvPr id="206" name="Oval 205"/>
          <p:cNvSpPr/>
          <p:nvPr/>
        </p:nvSpPr>
        <p:spPr>
          <a:xfrm>
            <a:off x="4504649" y="6472861"/>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7" name="TextBox 206"/>
          <p:cNvSpPr txBox="1"/>
          <p:nvPr/>
        </p:nvSpPr>
        <p:spPr bwMode="gray">
          <a:xfrm>
            <a:off x="4770469" y="6469247"/>
            <a:ext cx="871025" cy="367049"/>
          </a:xfrm>
          <a:prstGeom prst="rect">
            <a:avLst/>
          </a:prstGeom>
        </p:spPr>
        <p:txBody>
          <a:bodyPr vert="horz" wrap="square" lIns="91440" tIns="45720" rIns="91440" bIns="45720" rtlCol="0" anchor="ctr">
            <a:noAutofit/>
          </a:bodyPr>
          <a:lstStyle/>
          <a:p>
            <a:r>
              <a:rPr lang="en-IN" sz="800" dirty="0" smtClean="0"/>
              <a:t>Bajaj Electronics Stores</a:t>
            </a:r>
          </a:p>
        </p:txBody>
      </p:sp>
      <p:sp>
        <p:nvSpPr>
          <p:cNvPr id="199" name="Oval 198"/>
          <p:cNvSpPr/>
          <p:nvPr/>
        </p:nvSpPr>
        <p:spPr>
          <a:xfrm>
            <a:off x="1607903" y="2929435"/>
            <a:ext cx="187037" cy="159422"/>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200" name="TextBox 199"/>
          <p:cNvSpPr txBox="1"/>
          <p:nvPr/>
        </p:nvSpPr>
        <p:spPr bwMode="gray">
          <a:xfrm>
            <a:off x="1304153" y="4023002"/>
            <a:ext cx="1039091" cy="138546"/>
          </a:xfrm>
          <a:prstGeom prst="rect">
            <a:avLst/>
          </a:prstGeom>
        </p:spPr>
        <p:txBody>
          <a:bodyPr vert="horz" wrap="square" lIns="91440" tIns="45720" rIns="91440" bIns="45720" rtlCol="0" anchor="ctr">
            <a:noAutofit/>
          </a:bodyPr>
          <a:lstStyle/>
          <a:p>
            <a:pPr algn="ctr"/>
            <a:r>
              <a:rPr lang="en-IN" sz="800" i="1" dirty="0" smtClean="0"/>
              <a:t>Golconda</a:t>
            </a:r>
          </a:p>
        </p:txBody>
      </p:sp>
      <p:sp>
        <p:nvSpPr>
          <p:cNvPr id="209" name="Oval 208"/>
          <p:cNvSpPr/>
          <p:nvPr/>
        </p:nvSpPr>
        <p:spPr>
          <a:xfrm>
            <a:off x="1967851" y="6476116"/>
            <a:ext cx="187037" cy="159422"/>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p>
        </p:txBody>
      </p:sp>
      <p:sp>
        <p:nvSpPr>
          <p:cNvPr id="210" name="TextBox 209"/>
          <p:cNvSpPr txBox="1"/>
          <p:nvPr/>
        </p:nvSpPr>
        <p:spPr bwMode="gray">
          <a:xfrm>
            <a:off x="2213846" y="6458695"/>
            <a:ext cx="903816" cy="367049"/>
          </a:xfrm>
          <a:prstGeom prst="rect">
            <a:avLst/>
          </a:prstGeom>
        </p:spPr>
        <p:txBody>
          <a:bodyPr vert="horz" wrap="square" lIns="91440" tIns="45720" rIns="91440" bIns="45720" rtlCol="0" anchor="ctr">
            <a:noAutofit/>
          </a:bodyPr>
          <a:lstStyle/>
          <a:p>
            <a:r>
              <a:rPr lang="en-IN" sz="800" dirty="0" smtClean="0"/>
              <a:t>Proposed Croma Store Locations</a:t>
            </a:r>
          </a:p>
        </p:txBody>
      </p:sp>
      <p:sp>
        <p:nvSpPr>
          <p:cNvPr id="211" name="Oval 210"/>
          <p:cNvSpPr/>
          <p:nvPr/>
        </p:nvSpPr>
        <p:spPr>
          <a:xfrm>
            <a:off x="659579" y="6468767"/>
            <a:ext cx="187037" cy="159422"/>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p>
        </p:txBody>
      </p:sp>
      <p:sp>
        <p:nvSpPr>
          <p:cNvPr id="212" name="TextBox 211"/>
          <p:cNvSpPr txBox="1"/>
          <p:nvPr/>
        </p:nvSpPr>
        <p:spPr bwMode="gray">
          <a:xfrm>
            <a:off x="918487" y="6468445"/>
            <a:ext cx="1229361" cy="367049"/>
          </a:xfrm>
          <a:prstGeom prst="rect">
            <a:avLst/>
          </a:prstGeom>
        </p:spPr>
        <p:txBody>
          <a:bodyPr vert="horz" wrap="square" lIns="91440" tIns="45720" rIns="91440" bIns="45720" rtlCol="0" anchor="ctr">
            <a:noAutofit/>
          </a:bodyPr>
          <a:lstStyle/>
          <a:p>
            <a:r>
              <a:rPr lang="en-IN" sz="800" dirty="0" smtClean="0"/>
              <a:t>Existing </a:t>
            </a:r>
          </a:p>
          <a:p>
            <a:r>
              <a:rPr lang="en-IN" sz="800" dirty="0" smtClean="0"/>
              <a:t>Croma Store Locations</a:t>
            </a:r>
          </a:p>
        </p:txBody>
      </p:sp>
      <p:sp>
        <p:nvSpPr>
          <p:cNvPr id="213" name="Rectangle 212"/>
          <p:cNvSpPr/>
          <p:nvPr/>
        </p:nvSpPr>
        <p:spPr>
          <a:xfrm>
            <a:off x="9576529" y="1470474"/>
            <a:ext cx="2120447" cy="122121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IN" sz="1000" dirty="0" smtClean="0">
              <a:solidFill>
                <a:schemeClr val="tx2">
                  <a:lumMod val="50000"/>
                </a:schemeClr>
              </a:solidFill>
            </a:endParaRPr>
          </a:p>
          <a:p>
            <a:r>
              <a:rPr lang="en-IN" sz="1000" dirty="0" smtClean="0">
                <a:solidFill>
                  <a:schemeClr val="tx2">
                    <a:lumMod val="50000"/>
                  </a:schemeClr>
                </a:solidFill>
              </a:rPr>
              <a:t>Geo-location of </a:t>
            </a:r>
            <a:r>
              <a:rPr lang="en-IN" sz="1000" b="1" dirty="0" smtClean="0">
                <a:solidFill>
                  <a:schemeClr val="tx2">
                    <a:lumMod val="50000"/>
                  </a:schemeClr>
                </a:solidFill>
              </a:rPr>
              <a:t>existing and planned Croma Stores</a:t>
            </a:r>
            <a:r>
              <a:rPr lang="en-IN" sz="1000" dirty="0" smtClean="0">
                <a:solidFill>
                  <a:schemeClr val="tx2">
                    <a:lumMod val="50000"/>
                  </a:schemeClr>
                </a:solidFill>
              </a:rPr>
              <a:t> is critical in determining the location attractiveness of a potential location</a:t>
            </a:r>
          </a:p>
          <a:p>
            <a:endParaRPr lang="en-IN" sz="1000" dirty="0" smtClean="0">
              <a:solidFill>
                <a:schemeClr val="tx2">
                  <a:lumMod val="50000"/>
                </a:schemeClr>
              </a:solidFill>
            </a:endParaRPr>
          </a:p>
          <a:p>
            <a:endParaRPr lang="en-IN" sz="1000" dirty="0">
              <a:solidFill>
                <a:schemeClr val="tx2">
                  <a:lumMod val="50000"/>
                </a:schemeClr>
              </a:solidFill>
            </a:endParaRPr>
          </a:p>
        </p:txBody>
      </p:sp>
      <p:sp>
        <p:nvSpPr>
          <p:cNvPr id="214" name="Rectangle 213"/>
          <p:cNvSpPr/>
          <p:nvPr/>
        </p:nvSpPr>
        <p:spPr>
          <a:xfrm>
            <a:off x="9576528" y="2962768"/>
            <a:ext cx="2120447" cy="1076275"/>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IN" sz="1000" dirty="0" smtClean="0">
              <a:solidFill>
                <a:schemeClr val="tx2">
                  <a:lumMod val="50000"/>
                </a:schemeClr>
              </a:solidFill>
            </a:endParaRPr>
          </a:p>
          <a:p>
            <a:r>
              <a:rPr lang="en-IN" sz="1000" dirty="0" smtClean="0">
                <a:solidFill>
                  <a:schemeClr val="tx2">
                    <a:lumMod val="50000"/>
                  </a:schemeClr>
                </a:solidFill>
              </a:rPr>
              <a:t>Distance from </a:t>
            </a:r>
            <a:r>
              <a:rPr lang="en-IN" sz="1000" b="1" dirty="0" smtClean="0">
                <a:solidFill>
                  <a:schemeClr val="tx2">
                    <a:lumMod val="50000"/>
                  </a:schemeClr>
                </a:solidFill>
              </a:rPr>
              <a:t>competitor stores</a:t>
            </a:r>
            <a:r>
              <a:rPr lang="en-IN" sz="1000" dirty="0" smtClean="0">
                <a:solidFill>
                  <a:schemeClr val="tx2">
                    <a:lumMod val="50000"/>
                  </a:schemeClr>
                </a:solidFill>
              </a:rPr>
              <a:t> and Croma stores determines the probability of store visit from Catchment</a:t>
            </a:r>
          </a:p>
          <a:p>
            <a:endParaRPr lang="en-IN" sz="1000" dirty="0" smtClean="0">
              <a:solidFill>
                <a:schemeClr val="tx2">
                  <a:lumMod val="50000"/>
                </a:schemeClr>
              </a:solidFill>
            </a:endParaRPr>
          </a:p>
          <a:p>
            <a:endParaRPr lang="en-IN" sz="1000" dirty="0">
              <a:solidFill>
                <a:schemeClr val="tx2">
                  <a:lumMod val="50000"/>
                </a:schemeClr>
              </a:solidFill>
            </a:endParaRPr>
          </a:p>
        </p:txBody>
      </p:sp>
      <p:sp>
        <p:nvSpPr>
          <p:cNvPr id="215" name="TextBox 214"/>
          <p:cNvSpPr txBox="1"/>
          <p:nvPr/>
        </p:nvSpPr>
        <p:spPr bwMode="gray">
          <a:xfrm>
            <a:off x="563453" y="1377120"/>
            <a:ext cx="3417490" cy="218941"/>
          </a:xfrm>
          <a:prstGeom prst="rect">
            <a:avLst/>
          </a:prstGeom>
        </p:spPr>
        <p:txBody>
          <a:bodyPr vert="horz" wrap="square" lIns="91440" tIns="45720" rIns="91440" bIns="45720" rtlCol="0" anchor="ctr">
            <a:noAutofit/>
          </a:bodyPr>
          <a:lstStyle/>
          <a:p>
            <a:r>
              <a:rPr lang="en-IN" sz="1200" b="1" dirty="0" smtClean="0"/>
              <a:t>Hyderabad</a:t>
            </a:r>
          </a:p>
          <a:p>
            <a:r>
              <a:rPr lang="en-IN" sz="1200" i="1" dirty="0" smtClean="0"/>
              <a:t>Indicative PINCODE map</a:t>
            </a:r>
          </a:p>
          <a:p>
            <a:r>
              <a:rPr lang="en-IN" sz="1000" dirty="0" smtClean="0"/>
              <a:t>Not to scale</a:t>
            </a:r>
          </a:p>
        </p:txBody>
      </p:sp>
      <p:sp>
        <p:nvSpPr>
          <p:cNvPr id="198" name="TextBox 197"/>
          <p:cNvSpPr txBox="1"/>
          <p:nvPr/>
        </p:nvSpPr>
        <p:spPr bwMode="gray">
          <a:xfrm>
            <a:off x="6475793" y="5611380"/>
            <a:ext cx="1039091" cy="138546"/>
          </a:xfrm>
          <a:prstGeom prst="rect">
            <a:avLst/>
          </a:prstGeom>
        </p:spPr>
        <p:txBody>
          <a:bodyPr vert="horz" wrap="square" lIns="91440" tIns="45720" rIns="91440" bIns="45720" rtlCol="0" anchor="ctr">
            <a:noAutofit/>
          </a:bodyPr>
          <a:lstStyle/>
          <a:p>
            <a:pPr algn="ctr"/>
            <a:r>
              <a:rPr lang="en-IN" sz="800" i="1" dirty="0" err="1" smtClean="0"/>
              <a:t>Hastinapuram</a:t>
            </a:r>
            <a:endParaRPr lang="en-IN" sz="800" i="1" dirty="0" smtClean="0"/>
          </a:p>
        </p:txBody>
      </p:sp>
      <p:sp>
        <p:nvSpPr>
          <p:cNvPr id="201" name="Oval 200"/>
          <p:cNvSpPr/>
          <p:nvPr/>
        </p:nvSpPr>
        <p:spPr>
          <a:xfrm>
            <a:off x="7117594" y="5732555"/>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2" name="Oval 201"/>
          <p:cNvSpPr/>
          <p:nvPr/>
        </p:nvSpPr>
        <p:spPr>
          <a:xfrm>
            <a:off x="7421365" y="5579173"/>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3" name="Oval 202"/>
          <p:cNvSpPr/>
          <p:nvPr/>
        </p:nvSpPr>
        <p:spPr>
          <a:xfrm>
            <a:off x="6948019" y="5730407"/>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5" name="Oval 194"/>
          <p:cNvSpPr/>
          <p:nvPr/>
        </p:nvSpPr>
        <p:spPr>
          <a:xfrm>
            <a:off x="1543286" y="3487370"/>
            <a:ext cx="187037" cy="159422"/>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96" name="Oval 195"/>
          <p:cNvSpPr/>
          <p:nvPr/>
        </p:nvSpPr>
        <p:spPr>
          <a:xfrm>
            <a:off x="2739817" y="3482092"/>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7" name="Oval 196"/>
          <p:cNvSpPr/>
          <p:nvPr/>
        </p:nvSpPr>
        <p:spPr>
          <a:xfrm>
            <a:off x="2531981" y="3491565"/>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4" name="Oval 203"/>
          <p:cNvSpPr/>
          <p:nvPr/>
        </p:nvSpPr>
        <p:spPr>
          <a:xfrm>
            <a:off x="1789294" y="3505689"/>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8" name="Oval 207"/>
          <p:cNvSpPr/>
          <p:nvPr/>
        </p:nvSpPr>
        <p:spPr>
          <a:xfrm>
            <a:off x="5206720" y="2159292"/>
            <a:ext cx="187037" cy="159422"/>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cxnSp>
        <p:nvCxnSpPr>
          <p:cNvPr id="175" name="Straight Connector 174"/>
          <p:cNvCxnSpPr/>
          <p:nvPr/>
        </p:nvCxnSpPr>
        <p:spPr>
          <a:xfrm>
            <a:off x="4388104" y="1166418"/>
            <a:ext cx="0" cy="5187472"/>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6" name="Straight Connector 215"/>
          <p:cNvCxnSpPr/>
          <p:nvPr/>
        </p:nvCxnSpPr>
        <p:spPr>
          <a:xfrm>
            <a:off x="563535" y="3760154"/>
            <a:ext cx="8774371"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653382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8" name="Table 197"/>
          <p:cNvGraphicFramePr>
            <a:graphicFrameLocks noGrp="1"/>
          </p:cNvGraphicFramePr>
          <p:nvPr>
            <p:extLst>
              <p:ext uri="{D42A27DB-BD31-4B8C-83A1-F6EECF244321}">
                <p14:modId xmlns:p14="http://schemas.microsoft.com/office/powerpoint/2010/main" val="174810256"/>
              </p:ext>
            </p:extLst>
          </p:nvPr>
        </p:nvGraphicFramePr>
        <p:xfrm>
          <a:off x="563535" y="1166418"/>
          <a:ext cx="8774371" cy="5187472"/>
        </p:xfrm>
        <a:graphic>
          <a:graphicData uri="http://schemas.openxmlformats.org/drawingml/2006/table">
            <a:tbl>
              <a:tblPr firstRow="1" bandRow="1">
                <a:tableStyleId>{21E4AEA4-8DFA-4A89-87EB-49C32662AFE0}</a:tableStyleId>
              </a:tblPr>
              <a:tblGrid>
                <a:gridCol w="391927"/>
                <a:gridCol w="391927"/>
                <a:gridCol w="391925"/>
                <a:gridCol w="391925"/>
                <a:gridCol w="391927"/>
                <a:gridCol w="391927"/>
                <a:gridCol w="391927"/>
                <a:gridCol w="391927"/>
                <a:gridCol w="345406"/>
                <a:gridCol w="345406"/>
                <a:gridCol w="636966"/>
                <a:gridCol w="391927"/>
                <a:gridCol w="783850"/>
                <a:gridCol w="391927"/>
                <a:gridCol w="391927"/>
                <a:gridCol w="391925"/>
                <a:gridCol w="391925"/>
                <a:gridCol w="783850"/>
                <a:gridCol w="783850"/>
              </a:tblGrid>
              <a:tr h="298837">
                <a:tc rowSpan="2" gridSpan="8">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endParaRPr lang="en-IN"/>
                    </a:p>
                  </a:txBody>
                  <a:tcPr/>
                </a:tc>
                <a:tc rowSpan="2" hMerge="1">
                  <a:txBody>
                    <a:bodyPr/>
                    <a:lstStyle/>
                    <a:p>
                      <a:pPr algn="ctr"/>
                      <a:endParaRPr lang="en-IN" sz="9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hMerge="1">
                  <a:txBody>
                    <a:bodyPr/>
                    <a:lstStyle/>
                    <a:p>
                      <a:endParaRPr lang="en-IN"/>
                    </a:p>
                  </a:txBody>
                  <a:tcPr/>
                </a:tc>
                <a:tc rowSpan="2" hMerge="1">
                  <a:txBody>
                    <a:bodyPr/>
                    <a:lstStyle/>
                    <a:p>
                      <a:pPr algn="ctr"/>
                      <a:endParaRPr lang="en-IN" sz="9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hMerge="1">
                  <a:txBody>
                    <a:bodyPr/>
                    <a:lstStyle/>
                    <a:p>
                      <a:endParaRPr lang="en-IN"/>
                    </a:p>
                  </a:txBody>
                  <a:tcPr/>
                </a:tc>
                <a:tc rowSpan="2" hMerge="1">
                  <a:txBody>
                    <a:bodyPr/>
                    <a:lstStyle/>
                    <a:p>
                      <a:pPr algn="ctr"/>
                      <a:endParaRPr lang="en-IN" sz="9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no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a:p>
                  </a:txBody>
                  <a:tcPr/>
                </a:tc>
                <a:tc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hMerge="1">
                  <a:txBody>
                    <a:bodyPr/>
                    <a:lstStyle/>
                    <a:p>
                      <a:pPr algn="ctr"/>
                      <a:endParaRPr lang="en-IN" sz="900" dirty="0"/>
                    </a:p>
                  </a:txBody>
                  <a:tcPr anchor="ctr">
                    <a:solidFill>
                      <a:schemeClr val="accent1"/>
                    </a:solidFill>
                  </a:tcPr>
                </a:tc>
                <a:tc rowSpan="2" gridSpan="6">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rowSpan="2" hMerge="1">
                  <a:txBody>
                    <a:bodyPr/>
                    <a:lstStyle/>
                    <a:p>
                      <a:endParaRPr lang="en-IN"/>
                    </a:p>
                  </a:txBody>
                  <a:tcPr/>
                </a:tc>
                <a:tc rowSpan="2" hMerge="1">
                  <a:txBody>
                    <a:bodyPr/>
                    <a:lstStyle/>
                    <a:p>
                      <a:pPr algn="ctr"/>
                      <a:endParaRPr lang="en-IN" sz="900" dirty="0"/>
                    </a:p>
                  </a:txBody>
                  <a:tcPr anchor="ctr">
                    <a:solidFill>
                      <a:schemeClr val="accent1"/>
                    </a:solidFill>
                  </a:tcPr>
                </a:tc>
                <a:tc rowSpan="2" hMerge="1">
                  <a:txBody>
                    <a:bodyPr/>
                    <a:lstStyle/>
                    <a:p>
                      <a:endParaRPr lang="en-IN"/>
                    </a:p>
                  </a:txBody>
                  <a:tcPr/>
                </a:tc>
                <a:tc rowSpan="2" hMerge="1">
                  <a:txBody>
                    <a:bodyPr/>
                    <a:lstStyle/>
                    <a:p>
                      <a:pPr algn="ctr"/>
                      <a:endParaRPr lang="en-IN" sz="900" dirty="0"/>
                    </a:p>
                  </a:txBody>
                  <a:tcPr anchor="ctr">
                    <a:solidFill>
                      <a:schemeClr val="accent1"/>
                    </a:solidFill>
                  </a:tcPr>
                </a:tc>
                <a:tc rowSpan="2" hMerge="1">
                  <a:txBody>
                    <a:bodyPr/>
                    <a:lstStyle/>
                    <a:p>
                      <a:pPr algn="ctr"/>
                      <a:endParaRPr lang="en-IN" sz="900" dirty="0"/>
                    </a:p>
                  </a:txBody>
                  <a:tcPr anchor="ctr">
                    <a:solidFill>
                      <a:schemeClr val="accent1"/>
                    </a:solidFill>
                  </a:tcPr>
                </a:tc>
              </a:tr>
              <a:tr h="365582">
                <a:tc gridSpan="8" vMerge="1">
                  <a:txBody>
                    <a:bodyPr/>
                    <a:lstStyle/>
                    <a:p>
                      <a:pPr algn="ctr"/>
                      <a:endParaRPr lang="en-IN" sz="9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vMerge="1">
                  <a:txBody>
                    <a:bodyPr/>
                    <a:lstStyle/>
                    <a:p>
                      <a:endParaRPr lang="en-IN"/>
                    </a:p>
                  </a:txBody>
                  <a:tcPr/>
                </a:tc>
                <a:tc hMerge="1" vMerge="1">
                  <a:txBody>
                    <a:bodyPr/>
                    <a:lstStyle/>
                    <a:p>
                      <a:pPr algn="ctr"/>
                      <a:endParaRPr lang="en-IN" sz="9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vMerge="1">
                  <a:txBody>
                    <a:bodyPr/>
                    <a:lstStyle/>
                    <a:p>
                      <a:endParaRPr lang="en-IN"/>
                    </a:p>
                  </a:txBody>
                  <a:tcPr/>
                </a:tc>
                <a:tc hMerge="1" vMerge="1">
                  <a:txBody>
                    <a:bodyPr/>
                    <a:lstStyle/>
                    <a:p>
                      <a:pPr algn="ctr"/>
                      <a:endParaRPr lang="en-IN" sz="9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vMerge="1">
                  <a:txBody>
                    <a:bodyPr/>
                    <a:lstStyle/>
                    <a:p>
                      <a:endParaRPr lang="en-IN"/>
                    </a:p>
                  </a:txBody>
                  <a:tcPr/>
                </a:tc>
                <a:tc hMerge="1" vMerge="1">
                  <a:txBody>
                    <a:bodyPr/>
                    <a:lstStyle/>
                    <a:p>
                      <a:pPr algn="ctr"/>
                      <a:endParaRPr lang="en-IN" sz="9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vMerge="1">
                  <a:txBody>
                    <a:bodyPr/>
                    <a:lstStyle/>
                    <a:p>
                      <a:endParaRPr lang="en-IN"/>
                    </a:p>
                  </a:txBody>
                  <a:tcPr/>
                </a:tc>
                <a:tc grid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hMerge="1">
                  <a:txBody>
                    <a:bodyPr/>
                    <a:lstStyle/>
                    <a:p>
                      <a:endParaRPr lang="en-IN"/>
                    </a:p>
                  </a:txBody>
                  <a:tcPr/>
                </a:tc>
                <a:tc hMerge="1">
                  <a:txBody>
                    <a:bodyPr/>
                    <a:lstStyle/>
                    <a:p>
                      <a:pPr algn="ctr"/>
                      <a:endParaRPr lang="en-IN" sz="900" dirty="0"/>
                    </a:p>
                  </a:txBody>
                  <a:tcPr anchor="ctr">
                    <a:solidFill>
                      <a:schemeClr val="accent1"/>
                    </a:solidFill>
                  </a:tcPr>
                </a:tc>
                <a:tc hMerge="1">
                  <a:txBody>
                    <a:bodyPr/>
                    <a:lstStyle/>
                    <a:p>
                      <a:endParaRPr lang="en-IN"/>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gridSpan="6" vMerge="1">
                  <a:txBody>
                    <a:bodyPr/>
                    <a:lstStyle/>
                    <a:p>
                      <a:pPr algn="ctr"/>
                      <a:endParaRPr lang="en-IN" sz="900"/>
                    </a:p>
                  </a:txBody>
                  <a:tcPr anchor="ctr">
                    <a:solidFill>
                      <a:schemeClr val="accent1"/>
                    </a:solidFill>
                  </a:tcPr>
                </a:tc>
                <a:tc hMerge="1" vMerge="1">
                  <a:txBody>
                    <a:bodyPr/>
                    <a:lstStyle/>
                    <a:p>
                      <a:endParaRPr lang="en-IN"/>
                    </a:p>
                  </a:txBody>
                  <a:tcPr/>
                </a:tc>
                <a:tc hMerge="1" vMerge="1">
                  <a:txBody>
                    <a:bodyPr/>
                    <a:lstStyle/>
                    <a:p>
                      <a:pPr algn="ctr"/>
                      <a:endParaRPr lang="en-IN" sz="900"/>
                    </a:p>
                  </a:txBody>
                  <a:tcPr anchor="ctr">
                    <a:solidFill>
                      <a:schemeClr val="accent1"/>
                    </a:solidFill>
                  </a:tcPr>
                </a:tc>
                <a:tc hMerge="1" vMerge="1">
                  <a:txBody>
                    <a:bodyPr/>
                    <a:lstStyle/>
                    <a:p>
                      <a:endParaRPr lang="en-IN"/>
                    </a:p>
                  </a:txBody>
                  <a:tcPr/>
                </a:tc>
                <a:tc hMerge="1" vMerge="1">
                  <a:txBody>
                    <a:bodyPr/>
                    <a:lstStyle/>
                    <a:p>
                      <a:pPr algn="ctr"/>
                      <a:endParaRPr lang="en-IN" sz="900" dirty="0"/>
                    </a:p>
                  </a:txBody>
                  <a:tcPr anchor="ctr">
                    <a:solidFill>
                      <a:schemeClr val="accent1"/>
                    </a:solidFill>
                  </a:tcPr>
                </a:tc>
                <a:tc hMerge="1" vMerge="1">
                  <a:txBody>
                    <a:bodyPr/>
                    <a:lstStyle/>
                    <a:p>
                      <a:pPr algn="ctr"/>
                      <a:endParaRPr lang="en-IN" sz="900" dirty="0"/>
                    </a:p>
                  </a:txBody>
                  <a:tcPr anchor="ctr">
                    <a:solidFill>
                      <a:schemeClr val="accent1"/>
                    </a:solidFill>
                  </a:tcPr>
                </a:tc>
              </a:tr>
              <a:tr h="228489">
                <a:tc gridSpan="4">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no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a:p>
                  </a:txBody>
                  <a:tcPr/>
                </a:tc>
                <a:tc h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hMerge="1">
                  <a:txBody>
                    <a:bodyPr/>
                    <a:lstStyle/>
                    <a:p>
                      <a:endParaRPr lang="en-IN"/>
                    </a:p>
                  </a:txBody>
                  <a:tcPr/>
                </a:tc>
                <a:tc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hMerge="1">
                  <a:txBody>
                    <a:bodyPr/>
                    <a:lstStyle/>
                    <a:p>
                      <a:endParaRPr lang="en-IN"/>
                    </a:p>
                  </a:txBody>
                  <a:tcPr/>
                </a:tc>
                <a:tc hMerge="1">
                  <a:txBody>
                    <a:bodyPr/>
                    <a:lstStyle/>
                    <a:p>
                      <a:pPr algn="ctr"/>
                      <a:endParaRPr lang="en-IN" sz="900" dirty="0"/>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hMerge="1">
                  <a:txBody>
                    <a:bodyPr/>
                    <a:lstStyle/>
                    <a:p>
                      <a:endParaRPr lang="en-IN"/>
                    </a:p>
                  </a:txBody>
                  <a:tcPr/>
                </a:tc>
                <a:tc hMerge="1">
                  <a:txBody>
                    <a:bodyPr/>
                    <a:lstStyle/>
                    <a:p>
                      <a:pPr algn="ctr"/>
                      <a:endParaRPr lang="en-IN" sz="900" dirty="0"/>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rowSpan="2" hMerge="1">
                  <a:txBody>
                    <a:bodyPr/>
                    <a:lstStyle/>
                    <a:p>
                      <a:endParaRPr lang="en-IN"/>
                    </a:p>
                  </a:txBody>
                  <a:tcPr/>
                </a:tc>
                <a:tc rowSpan="2"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rowSpan="2" hMerge="1">
                  <a:txBody>
                    <a:bodyPr/>
                    <a:lstStyle/>
                    <a:p>
                      <a:endParaRPr lang="en-IN"/>
                    </a:p>
                  </a:txBody>
                  <a:tcPr/>
                </a:tc>
                <a:tc rowSpan="2" hMerge="1">
                  <a:txBody>
                    <a:bodyPr/>
                    <a:lstStyle/>
                    <a:p>
                      <a:pPr algn="ctr"/>
                      <a:endParaRPr lang="en-IN" sz="900" dirty="0"/>
                    </a:p>
                  </a:txBody>
                  <a:tcPr anchor="ctr">
                    <a:solidFill>
                      <a:schemeClr val="accent1"/>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r>
              <a:tr h="229601">
                <a:tc gridSpan="2">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hMerge="1">
                  <a:txBody>
                    <a:bodyPr/>
                    <a:lstStyle/>
                    <a:p>
                      <a:pPr algn="ctr"/>
                      <a:endParaRPr lang="en-IN" sz="900" dirty="0"/>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rowSpan="2" hMerge="1">
                  <a:txBody>
                    <a:bodyPr/>
                    <a:lstStyle/>
                    <a:p>
                      <a:endParaRPr lang="en-IN"/>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rowSpan="2" hMerge="1">
                  <a:txBody>
                    <a:bodyPr/>
                    <a:lstStyle/>
                    <a:p>
                      <a:endParaRPr lang="en-IN"/>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hMerge="1">
                  <a:txBody>
                    <a:bodyPr/>
                    <a:lstStyle/>
                    <a:p>
                      <a:endParaRPr lang="en-IN"/>
                    </a:p>
                  </a:txBody>
                  <a:tcPr/>
                </a:tc>
                <a:tc rowSpan="3"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rowSpan="3" hMerge="1">
                  <a:txBody>
                    <a:bodyPr/>
                    <a:lstStyle/>
                    <a:p>
                      <a:endParaRPr lang="en-IN"/>
                    </a:p>
                  </a:txBody>
                  <a:tcPr/>
                </a:tc>
                <a:tc rowSpan="3" hMerge="1">
                  <a:txBody>
                    <a:bodyPr/>
                    <a:lstStyle/>
                    <a:p>
                      <a:pPr algn="ctr"/>
                      <a:endParaRPr lang="en-IN" sz="900" dirty="0"/>
                    </a:p>
                  </a:txBody>
                  <a:tcPr/>
                </a:tc>
                <a:tc gridSpan="2" vMerge="1">
                  <a:txBody>
                    <a:bodyPr/>
                    <a:lstStyle/>
                    <a:p>
                      <a:pPr algn="ctr"/>
                      <a:endParaRPr lang="en-IN" sz="900" dirty="0"/>
                    </a:p>
                  </a:txBody>
                  <a:tcPr anchor="ctr">
                    <a:solidFill>
                      <a:schemeClr val="accent1"/>
                    </a:solidFill>
                  </a:tcPr>
                </a:tc>
                <a:tc hMerge="1" vMerge="1">
                  <a:txBody>
                    <a:bodyPr/>
                    <a:lstStyle/>
                    <a:p>
                      <a:endParaRPr lang="en-IN"/>
                    </a:p>
                  </a:txBody>
                  <a:tcPr/>
                </a:tc>
                <a:tc gridSpan="3" vMerge="1">
                  <a:txBody>
                    <a:bodyPr/>
                    <a:lstStyle/>
                    <a:p>
                      <a:pPr algn="ctr"/>
                      <a:endParaRPr lang="en-IN" sz="900" dirty="0"/>
                    </a:p>
                  </a:txBody>
                  <a:tcPr anchor="ctr">
                    <a:solidFill>
                      <a:schemeClr val="accent1"/>
                    </a:solidFill>
                  </a:tcPr>
                </a:tc>
                <a:tc hMerge="1" vMerge="1">
                  <a:txBody>
                    <a:bodyPr/>
                    <a:lstStyle/>
                    <a:p>
                      <a:endParaRPr lang="en-IN"/>
                    </a:p>
                  </a:txBody>
                  <a:tcPr/>
                </a:tc>
                <a:tc hMerge="1" vMerge="1">
                  <a:txBody>
                    <a:bodyPr/>
                    <a:lstStyle/>
                    <a:p>
                      <a:pPr algn="ctr"/>
                      <a:endParaRPr lang="en-IN" sz="900" dirty="0"/>
                    </a:p>
                  </a:txBody>
                  <a:tcPr/>
                </a:tc>
                <a:tc rowSpan="6">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229601">
                <a:tc rowSpan="5">
                  <a:txBody>
                    <a:bodyPr/>
                    <a:lstStyle/>
                    <a:p>
                      <a:pPr marL="0" marR="0" indent="0" algn="ctr" defTabSz="457200" rtl="0" eaLnBrk="1" fontAlgn="auto" latinLnBrk="0" hangingPunct="1">
                        <a:lnSpc>
                          <a:spcPct val="100000"/>
                        </a:lnSpc>
                        <a:spcBef>
                          <a:spcPts val="0"/>
                        </a:spcBef>
                        <a:spcAft>
                          <a:spcPts val="0"/>
                        </a:spcAft>
                        <a:buClrTx/>
                        <a:buSzTx/>
                        <a:buFontTx/>
                        <a:buNone/>
                        <a:tabLst/>
                        <a:defRPr/>
                      </a:pPr>
                      <a:endParaRPr lang="en-IN" sz="900" b="0" dirty="0" smtClean="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tx2">
                        <a:lumMod val="60000"/>
                        <a:lumOff val="40000"/>
                      </a:schemeClr>
                    </a:solidFill>
                  </a:tcPr>
                </a:tc>
                <a:tc rowSpan="5">
                  <a:txBody>
                    <a:bodyPr/>
                    <a:lstStyle/>
                    <a:p>
                      <a:pPr marL="0" marR="0" indent="0" algn="ctr" defTabSz="457200" rtl="0" eaLnBrk="1" fontAlgn="auto" latinLnBrk="0" hangingPunct="1">
                        <a:lnSpc>
                          <a:spcPct val="100000"/>
                        </a:lnSpc>
                        <a:spcBef>
                          <a:spcPts val="0"/>
                        </a:spcBef>
                        <a:spcAft>
                          <a:spcPts val="0"/>
                        </a:spcAft>
                        <a:buClrTx/>
                        <a:buSzTx/>
                        <a:buFontTx/>
                        <a:buNone/>
                        <a:tabLst/>
                        <a:defRPr/>
                      </a:pP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gridSpan="2" vMerge="1">
                  <a:txBody>
                    <a:bodyPr/>
                    <a:lstStyle/>
                    <a:p>
                      <a:pPr algn="ctr"/>
                      <a:endParaRPr lang="en-IN" sz="900" dirty="0"/>
                    </a:p>
                  </a:txBody>
                  <a:tcPr/>
                </a:tc>
                <a:tc hMerge="1" vMerge="1">
                  <a:txBody>
                    <a:bodyPr/>
                    <a:lstStyle/>
                    <a:p>
                      <a:endParaRPr lang="en-IN"/>
                    </a:p>
                  </a:txBody>
                  <a:tcPr/>
                </a:tc>
                <a:tc gridSpan="2" vMerge="1">
                  <a:txBody>
                    <a:bodyPr/>
                    <a:lstStyle/>
                    <a:p>
                      <a:pPr algn="ctr"/>
                      <a:endParaRPr lang="en-IN" sz="900" dirty="0"/>
                    </a:p>
                  </a:txBody>
                  <a:tcPr/>
                </a:tc>
                <a:tc hMerge="1" v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IN"/>
                    </a:p>
                  </a:txBody>
                  <a:tcPr/>
                </a:tc>
                <a:tc gridSpan="3" vMerge="1">
                  <a:txBody>
                    <a:bodyPr/>
                    <a:lstStyle/>
                    <a:p>
                      <a:pPr algn="ct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vMerge="1">
                  <a:txBody>
                    <a:bodyPr/>
                    <a:lstStyle/>
                    <a:p>
                      <a:endParaRPr lang="en-IN"/>
                    </a:p>
                  </a:txBody>
                  <a:tcPr/>
                </a:tc>
                <a:tc hMerge="1"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rowSpan="2" grid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rowSpan="2" hMerge="1">
                  <a:txBody>
                    <a:bodyPr/>
                    <a:lstStyle/>
                    <a:p>
                      <a:endParaRPr lang="en-IN"/>
                    </a:p>
                  </a:txBody>
                  <a:tcPr/>
                </a:tc>
                <a:tc rowSpan="2" hMerge="1">
                  <a:txBody>
                    <a:bodyPr/>
                    <a:lstStyle/>
                    <a:p>
                      <a:pPr algn="ctr"/>
                      <a:endParaRPr lang="en-IN" sz="900" dirty="0"/>
                    </a:p>
                  </a:txBody>
                  <a:tcPr/>
                </a:tc>
                <a:tc rowSpan="2" hMerge="1">
                  <a:txBody>
                    <a:bodyPr/>
                    <a:lstStyle/>
                    <a:p>
                      <a:endParaRPr lang="en-IN"/>
                    </a:p>
                  </a:txBody>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vMerge="1">
                  <a:txBody>
                    <a:bodyPr/>
                    <a:lstStyle/>
                    <a:p>
                      <a:pPr algn="ctr"/>
                      <a:endParaRPr lang="en-IN" sz="900" dirty="0"/>
                    </a:p>
                  </a:txBody>
                  <a:tcPr anchor="ctr">
                    <a:solidFill>
                      <a:schemeClr val="accent1"/>
                    </a:solidFill>
                  </a:tcPr>
                </a:tc>
              </a:tr>
              <a:tr h="123401">
                <a:tc vMerge="1">
                  <a:txBody>
                    <a:bodyPr/>
                    <a:lstStyle/>
                    <a:p>
                      <a:pPr marL="0" marR="0" indent="0" algn="ctr" defTabSz="457200" rtl="0" eaLnBrk="1" fontAlgn="auto" latinLnBrk="0" hangingPunct="1">
                        <a:lnSpc>
                          <a:spcPct val="100000"/>
                        </a:lnSpc>
                        <a:spcBef>
                          <a:spcPts val="0"/>
                        </a:spcBef>
                        <a:spcAft>
                          <a:spcPts val="0"/>
                        </a:spcAft>
                        <a:buClrTx/>
                        <a:buSzTx/>
                        <a:buFontTx/>
                        <a:buNone/>
                        <a:tabLst/>
                        <a:defRPr/>
                      </a:pPr>
                      <a:endParaRPr lang="en-IN" sz="900" dirty="0" smtClean="0"/>
                    </a:p>
                  </a:txBody>
                  <a:tcPr/>
                </a:tc>
                <a:tc vMerge="1">
                  <a:txBody>
                    <a:bodyPr/>
                    <a:lstStyle/>
                    <a:p>
                      <a:pPr marL="0" marR="0" indent="0" algn="ctr" defTabSz="457200" rtl="0" eaLnBrk="1" fontAlgn="auto" latinLnBrk="0" hangingPunct="1">
                        <a:lnSpc>
                          <a:spcPct val="100000"/>
                        </a:lnSpc>
                        <a:spcBef>
                          <a:spcPts val="0"/>
                        </a:spcBef>
                        <a:spcAft>
                          <a:spcPts val="0"/>
                        </a:spcAft>
                        <a:buClrTx/>
                        <a:buSzTx/>
                        <a:buFontTx/>
                        <a:buNone/>
                        <a:tabLst/>
                        <a:defRPr/>
                      </a:pPr>
                      <a:endParaRPr lang="en-IN" sz="900" dirty="0" smtClean="0"/>
                    </a:p>
                  </a:txBody>
                  <a:tcPr/>
                </a:tc>
                <a:tc rowSpan="4" grid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rowSpan="4" hMerge="1">
                  <a:txBody>
                    <a:bodyPr/>
                    <a:lstStyle/>
                    <a:p>
                      <a:endParaRPr lang="en-IN"/>
                    </a:p>
                  </a:txBody>
                  <a:tcPr/>
                </a:tc>
                <a:tc rowSpan="4" hMerge="1">
                  <a:txBody>
                    <a:bodyPr/>
                    <a:lstStyle/>
                    <a:p>
                      <a:pPr algn="ctr"/>
                      <a:endParaRPr lang="en-IN" sz="900" dirty="0" smtClean="0"/>
                    </a:p>
                  </a:txBody>
                  <a:tcPr/>
                </a:tc>
                <a:tc rowSpan="4" hMerge="1">
                  <a:txBody>
                    <a:bodyPr/>
                    <a:lstStyle/>
                    <a:p>
                      <a:endParaRPr lang="en-IN"/>
                    </a:p>
                  </a:txBody>
                  <a:tcPr/>
                </a:tc>
                <a:tc rowSpan="2" gridSpan="2">
                  <a:txBody>
                    <a:bodyPr/>
                    <a:lstStyle/>
                    <a:p>
                      <a:pPr marL="0" marR="0" indent="0" algn="ctr" defTabSz="457200" rtl="0" eaLnBrk="1" fontAlgn="auto" latinLnBrk="0" hangingPunct="1">
                        <a:lnSpc>
                          <a:spcPct val="100000"/>
                        </a:lnSpc>
                        <a:spcBef>
                          <a:spcPts val="0"/>
                        </a:spcBef>
                        <a:spcAft>
                          <a:spcPts val="0"/>
                        </a:spcAft>
                        <a:buClrTx/>
                        <a:buSzTx/>
                        <a:buFontTx/>
                        <a:buNone/>
                        <a:tabLst/>
                        <a:defRPr/>
                      </a:pP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rowSpan="2" hMerge="1">
                  <a:txBody>
                    <a:bodyPr/>
                    <a:lstStyle/>
                    <a:p>
                      <a:endParaRPr lang="en-IN"/>
                    </a:p>
                  </a:txBody>
                  <a:tcPr/>
                </a:tc>
                <a:tc rowSpan="4"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rowSpan="4" hMerge="1">
                  <a:txBody>
                    <a:bodyPr/>
                    <a:lstStyle/>
                    <a:p>
                      <a:endParaRPr lang="en-IN"/>
                    </a:p>
                  </a:txBody>
                  <a:tcPr/>
                </a:tc>
                <a:tc gridSpan="3" vMerge="1">
                  <a:txBody>
                    <a:bodyPr/>
                    <a:lstStyle/>
                    <a:p>
                      <a:pPr algn="ctr"/>
                      <a:endParaRPr lang="en-IN" sz="900" b="0" dirty="0">
                        <a:solidFill>
                          <a:schemeClr val="tx1"/>
                        </a:solidFill>
                      </a:endParaRPr>
                    </a:p>
                  </a:txBody>
                  <a:tcPr/>
                </a:tc>
                <a:tc hMerge="1" vMerge="1">
                  <a:txBody>
                    <a:bodyPr/>
                    <a:lstStyle/>
                    <a:p>
                      <a:endParaRPr lang="en-IN"/>
                    </a:p>
                  </a:txBody>
                  <a:tcPr/>
                </a:tc>
                <a:tc hMerge="1"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gridSpan="4"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vMerge="1">
                  <a:txBody>
                    <a:bodyPr/>
                    <a:lstStyle/>
                    <a:p>
                      <a:endParaRPr lang="en-IN"/>
                    </a:p>
                  </a:txBody>
                  <a:tcPr/>
                </a:tc>
                <a:tc hMerge="1"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vMerge="1">
                  <a:txBody>
                    <a:bodyPr/>
                    <a:lstStyle/>
                    <a:p>
                      <a:endParaRPr lang="en-IN"/>
                    </a:p>
                  </a:txBody>
                  <a:tcPr/>
                </a:tc>
                <a:tc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pPr algn="ctr"/>
                      <a:endParaRPr lang="en-IN" sz="900" dirty="0"/>
                    </a:p>
                  </a:txBody>
                  <a:tcPr anchor="ctr">
                    <a:solidFill>
                      <a:schemeClr val="accent1"/>
                    </a:solidFill>
                  </a:tcPr>
                </a:tc>
              </a:tr>
              <a:tr h="105088">
                <a:tc vMerge="1">
                  <a:txBody>
                    <a:bodyPr/>
                    <a:lstStyle/>
                    <a:p>
                      <a:endParaRPr lang="en-IN"/>
                    </a:p>
                  </a:txBody>
                  <a:tcPr/>
                </a:tc>
                <a:tc vMerge="1">
                  <a:txBody>
                    <a:bodyPr/>
                    <a:lstStyle/>
                    <a:p>
                      <a:endParaRPr lang="en-IN"/>
                    </a:p>
                  </a:txBody>
                  <a:tcPr/>
                </a:tc>
                <a:tc gridSpan="4" vMerge="1">
                  <a:txBody>
                    <a:bodyPr/>
                    <a:lstStyle/>
                    <a:p>
                      <a:endParaRPr lang="en-IN"/>
                    </a:p>
                  </a:txBody>
                  <a:tcPr/>
                </a:tc>
                <a:tc hMerge="1" vMerge="1">
                  <a:txBody>
                    <a:bodyPr/>
                    <a:lstStyle/>
                    <a:p>
                      <a:endParaRPr lang="en-IN"/>
                    </a:p>
                  </a:txBody>
                  <a:tcPr/>
                </a:tc>
                <a:tc hMerge="1" vMerge="1">
                  <a:txBody>
                    <a:bodyPr/>
                    <a:lstStyle/>
                    <a:p>
                      <a:endParaRPr lang="en-IN"/>
                    </a:p>
                  </a:txBody>
                  <a:tcPr/>
                </a:tc>
                <a:tc hMerge="1" vMerge="1">
                  <a:txBody>
                    <a:bodyPr/>
                    <a:lstStyle/>
                    <a:p>
                      <a:endParaRPr lang="en-IN"/>
                    </a:p>
                  </a:txBody>
                  <a:tcPr/>
                </a:tc>
                <a:tc gridSpan="2" vMerge="1">
                  <a:txBody>
                    <a:bodyPr/>
                    <a:lstStyle/>
                    <a:p>
                      <a:endParaRPr lang="en-IN"/>
                    </a:p>
                  </a:txBody>
                  <a:tcPr/>
                </a:tc>
                <a:tc hMerge="1" vMerge="1">
                  <a:txBody>
                    <a:bodyPr/>
                    <a:lstStyle/>
                    <a:p>
                      <a:endParaRPr lang="en-IN"/>
                    </a:p>
                  </a:txBody>
                  <a:tcPr/>
                </a:tc>
                <a:tc gridSpan="2" vMerge="1">
                  <a:txBody>
                    <a:bodyPr/>
                    <a:lstStyle/>
                    <a:p>
                      <a:endParaRPr lang="en-IN"/>
                    </a:p>
                  </a:txBody>
                  <a:tcPr/>
                </a:tc>
                <a:tc hMerge="1" vMerge="1">
                  <a:txBody>
                    <a:bodyPr/>
                    <a:lstStyle/>
                    <a:p>
                      <a:endParaRPr lang="en-IN"/>
                    </a:p>
                  </a:txBody>
                  <a:tcPr/>
                </a:tc>
                <a:tc rowSpan="3" gridSpan="2">
                  <a:txBody>
                    <a:bodyPr/>
                    <a:lstStyle/>
                    <a:p>
                      <a:pPr marL="0" marR="0" indent="0" algn="ctr" defTabSz="457200" rtl="0" eaLnBrk="1" fontAlgn="auto" latinLnBrk="0" hangingPunct="1">
                        <a:lnSpc>
                          <a:spcPct val="100000"/>
                        </a:lnSpc>
                        <a:spcBef>
                          <a:spcPts val="0"/>
                        </a:spcBef>
                        <a:spcAft>
                          <a:spcPts val="0"/>
                        </a:spcAft>
                        <a:buClrTx/>
                        <a:buSzTx/>
                        <a:buFontTx/>
                        <a:buNone/>
                        <a:tabLst/>
                        <a:defRPr/>
                      </a:pP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rowSpan="3" hMerge="1">
                  <a:txBody>
                    <a:bodyPr/>
                    <a:lstStyle/>
                    <a:p>
                      <a:endParaRPr lang="en-IN"/>
                    </a:p>
                  </a:txBody>
                  <a:tcPr/>
                </a:tc>
                <a:tc row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rowSpan="2" hMerge="1">
                  <a:txBody>
                    <a:bodyPr/>
                    <a:lstStyle/>
                    <a:p>
                      <a:endParaRPr lang="en-IN"/>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rowSpan="2" hMerge="1">
                  <a:txBody>
                    <a:bodyPr/>
                    <a:lstStyle/>
                    <a:p>
                      <a:endParaRPr lang="en-IN"/>
                    </a:p>
                  </a:txBody>
                  <a:tcPr/>
                </a:tc>
                <a:tc row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vMerge="1">
                  <a:txBody>
                    <a:bodyPr/>
                    <a:lstStyle/>
                    <a:p>
                      <a:endParaRPr lang="en-IN"/>
                    </a:p>
                  </a:txBody>
                  <a:tcPr/>
                </a:tc>
              </a:tr>
              <a:tr h="260494">
                <a:tc vMerge="1">
                  <a:txBody>
                    <a:bodyPr/>
                    <a:lstStyle/>
                    <a:p>
                      <a:endParaRPr lang="en-IN"/>
                    </a:p>
                  </a:txBody>
                  <a:tcPr/>
                </a:tc>
                <a:tc vMerge="1">
                  <a:txBody>
                    <a:bodyPr/>
                    <a:lstStyle/>
                    <a:p>
                      <a:endParaRPr lang="en-IN"/>
                    </a:p>
                  </a:txBody>
                  <a:tcPr/>
                </a:tc>
                <a:tc gridSpan="4" vMerge="1">
                  <a:txBody>
                    <a:bodyPr/>
                    <a:lstStyle/>
                    <a:p>
                      <a:endParaRPr lang="en-IN"/>
                    </a:p>
                  </a:txBody>
                  <a:tcPr/>
                </a:tc>
                <a:tc hMerge="1" vMerge="1">
                  <a:txBody>
                    <a:bodyPr/>
                    <a:lstStyle/>
                    <a:p>
                      <a:endParaRPr lang="en-IN"/>
                    </a:p>
                  </a:txBody>
                  <a:tcPr/>
                </a:tc>
                <a:tc hMerge="1" vMerge="1">
                  <a:txBody>
                    <a:bodyPr/>
                    <a:lstStyle/>
                    <a:p>
                      <a:endParaRPr lang="en-IN"/>
                    </a:p>
                  </a:txBody>
                  <a:tcPr/>
                </a:tc>
                <a:tc hMerge="1" vMerge="1">
                  <a:txBody>
                    <a:bodyPr/>
                    <a:lstStyle/>
                    <a:p>
                      <a:endParaRPr lang="en-IN"/>
                    </a:p>
                  </a:txBody>
                  <a:tcPr/>
                </a:tc>
                <a:tc rowSpan="2" gridSpan="2">
                  <a:txBody>
                    <a:bodyPr/>
                    <a:lstStyle/>
                    <a:p>
                      <a:pPr algn="ct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rowSpan="2" hMerge="1">
                  <a:txBody>
                    <a:bodyPr/>
                    <a:lstStyle/>
                    <a:p>
                      <a:endParaRPr lang="en-IN"/>
                    </a:p>
                  </a:txBody>
                  <a:tcPr/>
                </a:tc>
                <a:tc gridSpan="2" vMerge="1">
                  <a:txBody>
                    <a:bodyPr/>
                    <a:lstStyle/>
                    <a:p>
                      <a:endParaRPr lang="en-IN"/>
                    </a:p>
                  </a:txBody>
                  <a:tcPr/>
                </a:tc>
                <a:tc hMerge="1" vMerge="1">
                  <a:txBody>
                    <a:bodyPr/>
                    <a:lstStyle/>
                    <a:p>
                      <a:endParaRPr lang="en-IN"/>
                    </a:p>
                  </a:txBody>
                  <a:tcPr/>
                </a:tc>
                <a:tc gridSpan="2" vMerge="1">
                  <a:txBody>
                    <a:bodyPr/>
                    <a:lstStyle/>
                    <a:p>
                      <a:endParaRPr lang="en-IN"/>
                    </a:p>
                  </a:txBody>
                  <a:tcPr/>
                </a:tc>
                <a:tc hMerge="1" vMerge="1">
                  <a:txBody>
                    <a:bodyPr/>
                    <a:lstStyle/>
                    <a:p>
                      <a:endParaRPr lang="en-IN"/>
                    </a:p>
                  </a:txBody>
                  <a:tcPr/>
                </a:tc>
                <a:tc vMerge="1">
                  <a:txBody>
                    <a:bodyPr/>
                    <a:lstStyle/>
                    <a:p>
                      <a:endParaRPr lang="en-IN"/>
                    </a:p>
                  </a:txBody>
                  <a:tcPr/>
                </a:tc>
                <a:tc gridSpan="2" vMerge="1">
                  <a:txBody>
                    <a:bodyPr/>
                    <a:lstStyle/>
                    <a:p>
                      <a:endParaRPr lang="en-IN"/>
                    </a:p>
                  </a:txBody>
                  <a:tcPr/>
                </a:tc>
                <a:tc hMerge="1" vMerge="1">
                  <a:txBody>
                    <a:bodyPr/>
                    <a:lstStyle/>
                    <a:p>
                      <a:endParaRPr lang="en-IN"/>
                    </a:p>
                  </a:txBody>
                  <a:tcPr/>
                </a:tc>
                <a:tc gridSpan="2" vMerge="1">
                  <a:txBody>
                    <a:bodyPr/>
                    <a:lstStyle/>
                    <a:p>
                      <a:endParaRPr lang="en-IN"/>
                    </a:p>
                  </a:txBody>
                  <a:tcPr/>
                </a:tc>
                <a:tc hMerge="1" vMerge="1">
                  <a:txBody>
                    <a:bodyPr/>
                    <a:lstStyle/>
                    <a:p>
                      <a:endParaRPr lang="en-IN"/>
                    </a:p>
                  </a:txBody>
                  <a:tcPr/>
                </a:tc>
                <a:tc vMerge="1">
                  <a:txBody>
                    <a:bodyPr/>
                    <a:lstStyle/>
                    <a:p>
                      <a:endParaRPr lang="en-IN"/>
                    </a:p>
                  </a:txBody>
                  <a:tcPr/>
                </a:tc>
                <a:tc vMerge="1">
                  <a:txBody>
                    <a:bodyPr/>
                    <a:lstStyle/>
                    <a:p>
                      <a:endParaRPr lang="en-IN"/>
                    </a:p>
                  </a:txBody>
                  <a:tcPr/>
                </a:tc>
              </a:tr>
              <a:tr h="0">
                <a:tc vMerge="1">
                  <a:txBody>
                    <a:bodyPr/>
                    <a:lstStyle/>
                    <a:p>
                      <a:endParaRPr lang="en-IN"/>
                    </a:p>
                  </a:txBody>
                  <a:tcPr/>
                </a:tc>
                <a:tc vMerge="1">
                  <a:txBody>
                    <a:bodyPr/>
                    <a:lstStyle/>
                    <a:p>
                      <a:endParaRPr lang="en-IN"/>
                    </a:p>
                  </a:txBody>
                  <a:tcPr/>
                </a:tc>
                <a:tc gridSpan="4" vMerge="1">
                  <a:txBody>
                    <a:bodyPr/>
                    <a:lstStyle/>
                    <a:p>
                      <a:endParaRPr lang="en-IN"/>
                    </a:p>
                  </a:txBody>
                  <a:tcPr/>
                </a:tc>
                <a:tc hMerge="1" vMerge="1">
                  <a:txBody>
                    <a:bodyPr/>
                    <a:lstStyle/>
                    <a:p>
                      <a:endParaRPr lang="en-IN"/>
                    </a:p>
                  </a:txBody>
                  <a:tcPr/>
                </a:tc>
                <a:tc hMerge="1" vMerge="1">
                  <a:txBody>
                    <a:bodyPr/>
                    <a:lstStyle/>
                    <a:p>
                      <a:endParaRPr lang="en-IN"/>
                    </a:p>
                  </a:txBody>
                  <a:tcPr/>
                </a:tc>
                <a:tc hMerge="1" vMerge="1">
                  <a:txBody>
                    <a:bodyPr/>
                    <a:lstStyle/>
                    <a:p>
                      <a:endParaRPr lang="en-IN"/>
                    </a:p>
                  </a:txBody>
                  <a:tcPr/>
                </a:tc>
                <a:tc gridSpan="2" vMerge="1">
                  <a:txBody>
                    <a:bodyPr/>
                    <a:lstStyle/>
                    <a:p>
                      <a:endParaRPr lang="en-IN"/>
                    </a:p>
                  </a:txBody>
                  <a:tcPr/>
                </a:tc>
                <a:tc hMerge="1" vMerge="1">
                  <a:txBody>
                    <a:bodyPr/>
                    <a:lstStyle/>
                    <a:p>
                      <a:endParaRPr lang="en-IN"/>
                    </a:p>
                  </a:txBody>
                  <a:tcPr/>
                </a:tc>
                <a:tc gridSpan="2" vMerge="1">
                  <a:txBody>
                    <a:bodyPr/>
                    <a:lstStyle/>
                    <a:p>
                      <a:endParaRPr lang="en-IN"/>
                    </a:p>
                  </a:txBody>
                  <a:tcPr/>
                </a:tc>
                <a:tc hMerge="1" vMerge="1">
                  <a:txBody>
                    <a:bodyPr/>
                    <a:lstStyle/>
                    <a:p>
                      <a:endParaRPr lang="en-IN"/>
                    </a:p>
                  </a:txBody>
                  <a:tcPr/>
                </a:tc>
                <a:tc gridSpan="2" vMerge="1">
                  <a:txBody>
                    <a:bodyPr/>
                    <a:lstStyle/>
                    <a:p>
                      <a:endParaRPr lang="en-IN"/>
                    </a:p>
                  </a:txBody>
                  <a:tcPr/>
                </a:tc>
                <a:tc hMerge="1" vMerge="1">
                  <a:txBody>
                    <a:bodyPr/>
                    <a:lstStyle/>
                    <a:p>
                      <a:endParaRPr lang="en-IN"/>
                    </a:p>
                  </a:txBody>
                  <a:tcPr/>
                </a:tc>
                <a:tc vMerge="1">
                  <a:txBody>
                    <a:bodyPr/>
                    <a:lstStyle/>
                    <a:p>
                      <a:endParaRPr lang="en-IN"/>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rowSpan="2" hMerge="1">
                  <a:txBody>
                    <a:bodyPr/>
                    <a:lstStyle/>
                    <a:p>
                      <a:endParaRPr lang="en-IN"/>
                    </a:p>
                  </a:txBody>
                  <a:tcPr/>
                </a:tc>
                <a:tc rowSpan="4"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4" hMerge="1">
                  <a:txBody>
                    <a:bodyPr/>
                    <a:lstStyle/>
                    <a:p>
                      <a:endParaRPr lang="en-IN"/>
                    </a:p>
                  </a:txBody>
                  <a:tcPr/>
                </a:tc>
                <a:tc vMerge="1">
                  <a:txBody>
                    <a:bodyPr/>
                    <a:lstStyle/>
                    <a:p>
                      <a:endParaRPr lang="en-IN"/>
                    </a:p>
                  </a:txBody>
                  <a:tcPr/>
                </a:tc>
                <a:tc vMerge="1">
                  <a:txBody>
                    <a:bodyPr/>
                    <a:lstStyle/>
                    <a:p>
                      <a:endParaRPr lang="en-IN"/>
                    </a:p>
                  </a:txBody>
                  <a:tcPr/>
                </a:tc>
              </a:tr>
              <a:tr h="269409">
                <a:tc>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lumMod val="95000"/>
                      </a:schemeClr>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pPr algn="ctr"/>
                      <a:endParaRPr lang="en-IN" sz="900" dirty="0"/>
                    </a:p>
                  </a:txBody>
                  <a:tcPr/>
                </a:tc>
                <a:tc hMerge="1">
                  <a:txBody>
                    <a:bodyPr/>
                    <a:lstStyle/>
                    <a:p>
                      <a:pPr algn="ctr"/>
                      <a:endParaRPr lang="en-IN" sz="900" dirty="0"/>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IN"/>
                    </a:p>
                  </a:txBody>
                  <a:tcPr/>
                </a:tc>
                <a:tc vMerge="1">
                  <a:txBody>
                    <a:bodyPr/>
                    <a:lstStyle/>
                    <a:p>
                      <a:pPr algn="ctr"/>
                      <a:endParaRPr lang="en-IN" sz="900" dirty="0"/>
                    </a:p>
                  </a:txBody>
                  <a:tcPr/>
                </a:tc>
                <a:tc gridSpan="2" vMerge="1">
                  <a:txBody>
                    <a:bodyPr/>
                    <a:lstStyle/>
                    <a:p>
                      <a:pPr algn="ctr"/>
                      <a:endParaRPr lang="en-IN" sz="900" dirty="0"/>
                    </a:p>
                  </a:txBody>
                  <a:tcPr/>
                </a:tc>
                <a:tc hMerge="1" vMerge="1">
                  <a:txBody>
                    <a:bodyPr/>
                    <a:lstStyle/>
                    <a:p>
                      <a:endParaRPr lang="en-IN"/>
                    </a:p>
                  </a:txBody>
                  <a:tcPr/>
                </a:tc>
                <a:tc gridSpan="2" vMerge="1">
                  <a:txBody>
                    <a:bodyPr/>
                    <a:lstStyle/>
                    <a:p>
                      <a:pPr algn="ctr"/>
                      <a:endParaRPr lang="en-IN" sz="900" dirty="0"/>
                    </a:p>
                  </a:txBody>
                  <a:tcPr/>
                </a:tc>
                <a:tc hMerge="1" vMerge="1">
                  <a:txBody>
                    <a:bodyPr/>
                    <a:lstStyle/>
                    <a:p>
                      <a:endParaRPr lang="en-IN"/>
                    </a:p>
                  </a:txBody>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r>
              <a:tr h="0">
                <a:tc rowSpan="2" gridSpan="2">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rowSpan="2" hMerge="1">
                  <a:txBody>
                    <a:bodyPr/>
                    <a:lstStyle/>
                    <a:p>
                      <a:endParaRPr lang="en-IN"/>
                    </a:p>
                  </a:txBody>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rowSpan="2" hMerge="1">
                  <a:txBody>
                    <a:bodyPr/>
                    <a:lstStyle/>
                    <a:p>
                      <a:endParaRPr lang="en-IN"/>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rowSpan="2" hMerge="1">
                  <a:txBody>
                    <a:bodyPr/>
                    <a:lstStyle/>
                    <a:p>
                      <a:endParaRPr lang="en-IN"/>
                    </a:p>
                  </a:txBody>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vMerge="1">
                  <a:txBody>
                    <a:bodyPr/>
                    <a:lstStyle/>
                    <a:p>
                      <a:endParaRPr lang="en-IN"/>
                    </a:p>
                  </a:txBody>
                  <a:tcPr/>
                </a:tc>
                <a:tc hMerge="1" vMerge="1">
                  <a:txBody>
                    <a:bodyPr/>
                    <a:lstStyle/>
                    <a:p>
                      <a:endParaRPr lang="en-IN"/>
                    </a:p>
                  </a:txBody>
                  <a:tcPr/>
                </a:tc>
                <a:tc vMerge="1">
                  <a:txBody>
                    <a:bodyPr/>
                    <a:lstStyle/>
                    <a:p>
                      <a:endParaRPr lang="en-IN"/>
                    </a:p>
                  </a:txBody>
                  <a:tcPr/>
                </a:tc>
                <a:tc vMerge="1">
                  <a:txBody>
                    <a:bodyPr/>
                    <a:lstStyle/>
                    <a:p>
                      <a:endParaRPr lang="en-IN"/>
                    </a:p>
                  </a:txBody>
                  <a:tcPr/>
                </a:tc>
              </a:tr>
              <a:tr h="365582">
                <a:tc gridSpan="2" vMerge="1">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vMerge="1">
                  <a:txBody>
                    <a:bodyPr/>
                    <a:lstStyle/>
                    <a:p>
                      <a:endParaRPr lang="en-IN"/>
                    </a:p>
                  </a:txBody>
                  <a:tcPr/>
                </a:tc>
                <a:tc gridSpan="2"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hMerge="1" vMerge="1">
                  <a:txBody>
                    <a:bodyPr/>
                    <a:lstStyle/>
                    <a:p>
                      <a:endParaRPr lang="en-IN"/>
                    </a:p>
                  </a:txBody>
                  <a:tcPr/>
                </a:tc>
                <a:tc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gridSpan="2"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vMerge="1">
                  <a:txBody>
                    <a:bodyPr/>
                    <a:lstStyle/>
                    <a:p>
                      <a:endParaRPr lang="en-IN"/>
                    </a:p>
                  </a:txBody>
                  <a:tcPr/>
                </a:tc>
                <a:tc gridSpan="2"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vMerge="1">
                  <a:txBody>
                    <a:bodyPr/>
                    <a:lstStyle/>
                    <a:p>
                      <a:endParaRPr lang="en-IN"/>
                    </a:p>
                  </a:txBody>
                  <a:tcPr/>
                </a:tc>
                <a:tc gridSpan="2"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vMerge="1">
                  <a:txBody>
                    <a:bodyPr/>
                    <a:lstStyle/>
                    <a:p>
                      <a:pPr algn="ctr"/>
                      <a:endParaRPr lang="en-IN" sz="900" dirty="0"/>
                    </a:p>
                  </a:txBody>
                  <a:tcPr/>
                </a:tc>
                <a:tc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vMerge="1">
                  <a:txBody>
                    <a:bodyPr/>
                    <a:lstStyle/>
                    <a:p>
                      <a:pPr algn="ctr"/>
                      <a:endParaRPr lang="en-IN" sz="900" dirty="0"/>
                    </a:p>
                  </a:txBody>
                  <a:tcPr/>
                </a:tc>
                <a:tc hMerge="1" vMerge="1">
                  <a:txBody>
                    <a:bodyPr/>
                    <a:lstStyle/>
                    <a:p>
                      <a:endParaRPr lang="en-IN"/>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r>
              <a:tr h="373543">
                <a:tc rowSpan="4">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lumMod val="95000"/>
                      </a:schemeClr>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rowSpan="2" gridSpan="2">
                  <a:txBody>
                    <a:bodyPr/>
                    <a:lstStyle/>
                    <a:p>
                      <a:pPr algn="ct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rowSpan="2" hMerge="1">
                  <a:txBody>
                    <a:bodyPr/>
                    <a:lstStyle/>
                    <a:p>
                      <a:pPr algn="ctr"/>
                      <a:endParaRPr lang="en-IN" sz="900" dirty="0"/>
                    </a:p>
                  </a:txBody>
                  <a:tcPr/>
                </a:tc>
                <a:tc rowSpan="2" gridSpan="2">
                  <a:txBody>
                    <a:bodyPr/>
                    <a:lstStyle/>
                    <a:p>
                      <a:pPr algn="ct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rowSpan="2" hMerge="1">
                  <a:txBody>
                    <a:bodyPr/>
                    <a:lstStyle/>
                    <a:p>
                      <a:pPr algn="ctr"/>
                      <a:endParaRPr lang="en-IN" sz="900" dirty="0"/>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IN"/>
                    </a:p>
                  </a:txBody>
                  <a:tcPr/>
                </a:tc>
                <a:tc>
                  <a:txBody>
                    <a:bodyPr/>
                    <a:lstStyle/>
                    <a:p>
                      <a:pPr algn="ct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endParaRPr lang="en-IN"/>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r>
              <a:tr h="229601">
                <a:tc vMerge="1">
                  <a:txBody>
                    <a:bodyPr/>
                    <a:lstStyle/>
                    <a:p>
                      <a:pPr algn="ctr"/>
                      <a:endParaRPr lang="en-IN" sz="9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gridSpan="2" vMerge="1">
                  <a:txBody>
                    <a:bodyPr/>
                    <a:lstStyle/>
                    <a:p>
                      <a:pPr algn="ctr"/>
                      <a:endParaRPr lang="en-IN" sz="900" dirty="0" smtClean="0"/>
                    </a:p>
                  </a:txBody>
                  <a:tcPr/>
                </a:tc>
                <a:tc hMerge="1" vMerge="1">
                  <a:txBody>
                    <a:bodyPr/>
                    <a:lstStyle/>
                    <a:p>
                      <a:endParaRPr lang="en-IN"/>
                    </a:p>
                  </a:txBody>
                  <a:tcPr/>
                </a:tc>
                <a:tc gridSpan="2" vMerge="1">
                  <a:txBody>
                    <a:bodyPr/>
                    <a:lstStyle/>
                    <a:p>
                      <a:pPr algn="ctr"/>
                      <a:endParaRPr lang="en-IN" sz="900" dirty="0"/>
                    </a:p>
                  </a:txBody>
                  <a:tcPr/>
                </a:tc>
                <a:tc hMerge="1" vMerge="1">
                  <a:txBody>
                    <a:bodyPr/>
                    <a:lstStyle/>
                    <a:p>
                      <a:endParaRPr lang="en-IN"/>
                    </a:p>
                  </a:txBody>
                  <a:tcPr/>
                </a:tc>
                <a:tc rowSpan="3"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rowSpan="3" hMerge="1">
                  <a:txBody>
                    <a:bodyPr/>
                    <a:lstStyle/>
                    <a:p>
                      <a:endParaRPr lang="en-IN"/>
                    </a:p>
                  </a:txBody>
                  <a:tcPr/>
                </a:tc>
                <a:tc gridSpan="2">
                  <a:txBody>
                    <a:bodyPr/>
                    <a:lstStyle/>
                    <a:p>
                      <a:pPr algn="ct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endParaRPr lang="en-IN"/>
                    </a:p>
                  </a:txBody>
                  <a:tcPr/>
                </a:tc>
                <a:tc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a:endParaRPr lang="en-IN" sz="900" dirty="0"/>
                    </a:p>
                  </a:txBody>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hMerge="1">
                  <a:txBody>
                    <a:bodyPr/>
                    <a:lstStyle/>
                    <a:p>
                      <a:endParaRPr lang="en-IN"/>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row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228489">
                <a:tc vMerge="1">
                  <a:txBody>
                    <a:bodyPr/>
                    <a:lstStyle/>
                    <a:p>
                      <a:pPr algn="ctr"/>
                      <a:endParaRPr lang="en-IN" sz="9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vMerge="1">
                  <a:txBody>
                    <a:bodyPr/>
                    <a:lstStyle/>
                    <a:p>
                      <a:pPr algn="ctr"/>
                      <a:endParaRPr lang="en-IN" sz="9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grid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rowSpan="2" hMerge="1">
                  <a:txBody>
                    <a:bodyPr/>
                    <a:lstStyle/>
                    <a:p>
                      <a:endParaRPr lang="en-IN"/>
                    </a:p>
                  </a:txBody>
                  <a:tcPr/>
                </a:tc>
                <a:tc rowSpan="2" hMerge="1">
                  <a:txBody>
                    <a:bodyPr/>
                    <a:lstStyle/>
                    <a:p>
                      <a:pPr algn="ctr"/>
                      <a:endParaRPr lang="en-IN" sz="900" dirty="0"/>
                    </a:p>
                  </a:txBody>
                  <a:tcPr/>
                </a:tc>
                <a:tc rowSpan="2" hMerge="1">
                  <a:txBody>
                    <a:bodyPr/>
                    <a:lstStyle/>
                    <a:p>
                      <a:endParaRPr lang="en-IN"/>
                    </a:p>
                  </a:txBody>
                  <a:tcPr/>
                </a:tc>
                <a:tc gridSpan="2" vMerge="1">
                  <a:txBody>
                    <a:bodyPr/>
                    <a:lstStyle/>
                    <a:p>
                      <a:pPr algn="ctr"/>
                      <a:endParaRPr lang="en-IN" sz="900" dirty="0"/>
                    </a:p>
                  </a:txBody>
                  <a:tcPr/>
                </a:tc>
                <a:tc hMerge="1" v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endParaRPr lang="en-IN"/>
                    </a:p>
                  </a:txBody>
                  <a:tcPr/>
                </a:tc>
                <a:tc row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4"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rowSpan="4" hMerge="1">
                  <a:txBody>
                    <a:bodyPr/>
                    <a:lstStyle/>
                    <a:p>
                      <a:endParaRPr lang="en-IN"/>
                    </a:p>
                  </a:txBody>
                  <a:tcPr/>
                </a:tc>
                <a:tc row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row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vMerge="1">
                  <a:txBody>
                    <a:bodyPr/>
                    <a:lstStyle/>
                    <a:p>
                      <a:pPr algn="ctr"/>
                      <a:endParaRPr lang="en-IN" sz="900" dirty="0"/>
                    </a:p>
                  </a:txBody>
                  <a:tcPr/>
                </a:tc>
              </a:tr>
              <a:tr h="228489">
                <a:tc vMerge="1">
                  <a:txBody>
                    <a:bodyPr/>
                    <a:lstStyle/>
                    <a:p>
                      <a:endParaRPr lang="en-IN"/>
                    </a:p>
                  </a:txBody>
                  <a:tcPr/>
                </a:tc>
                <a:tc vMerge="1">
                  <a:txBody>
                    <a:bodyPr/>
                    <a:lstStyle/>
                    <a:p>
                      <a:endParaRPr lang="en-IN"/>
                    </a:p>
                  </a:txBody>
                  <a:tcPr/>
                </a:tc>
                <a:tc gridSpan="4" vMerge="1">
                  <a:txBody>
                    <a:bodyPr/>
                    <a:lstStyle/>
                    <a:p>
                      <a:endParaRPr lang="en-IN"/>
                    </a:p>
                  </a:txBody>
                  <a:tcPr/>
                </a:tc>
                <a:tc hMerge="1" vMerge="1">
                  <a:txBody>
                    <a:bodyPr/>
                    <a:lstStyle/>
                    <a:p>
                      <a:endParaRPr lang="en-IN"/>
                    </a:p>
                  </a:txBody>
                  <a:tcPr/>
                </a:tc>
                <a:tc hMerge="1" vMerge="1">
                  <a:txBody>
                    <a:bodyPr/>
                    <a:lstStyle/>
                    <a:p>
                      <a:endParaRPr lang="en-IN"/>
                    </a:p>
                  </a:txBody>
                  <a:tcPr/>
                </a:tc>
                <a:tc hMerge="1" vMerge="1">
                  <a:txBody>
                    <a:bodyPr/>
                    <a:lstStyle/>
                    <a:p>
                      <a:endParaRPr lang="en-IN"/>
                    </a:p>
                  </a:txBody>
                  <a:tcPr/>
                </a:tc>
                <a:tc gridSpan="2" vMerge="1">
                  <a:txBody>
                    <a:bodyPr/>
                    <a:lstStyle/>
                    <a:p>
                      <a:endParaRPr lang="en-IN"/>
                    </a:p>
                  </a:txBody>
                  <a:tcPr/>
                </a:tc>
                <a:tc hMerge="1" vMerge="1">
                  <a:txBody>
                    <a:bodyPr/>
                    <a:lstStyle/>
                    <a:p>
                      <a:endParaRPr lang="en-IN" dirty="0"/>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gridSpan="2" vMerge="1">
                  <a:txBody>
                    <a:bodyPr/>
                    <a:lstStyle/>
                    <a:p>
                      <a:endParaRPr lang="en-IN"/>
                    </a:p>
                  </a:txBody>
                  <a:tcPr/>
                </a:tc>
                <a:tc hMerge="1"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pPr algn="ctr"/>
                      <a:endParaRPr lang="en-IN" sz="900" dirty="0"/>
                    </a:p>
                  </a:txBody>
                  <a:tcPr/>
                </a:tc>
                <a:tc vMerge="1">
                  <a:txBody>
                    <a:bodyPr/>
                    <a:lstStyle/>
                    <a:p>
                      <a:endParaRPr lang="en-IN"/>
                    </a:p>
                  </a:txBody>
                  <a:tcPr/>
                </a:tc>
              </a:tr>
              <a:tr h="228489">
                <a:tc rowSpan="3" gridSpan="2">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rowSpan="3" hMerge="1">
                  <a:txBody>
                    <a:bodyPr/>
                    <a:lstStyle/>
                    <a:p>
                      <a:endParaRPr lang="en-IN"/>
                    </a:p>
                  </a:txBody>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rowSpan="2" gridSpan="2">
                  <a:txBody>
                    <a:bodyPr/>
                    <a:lstStyle/>
                    <a:p>
                      <a:pPr algn="ct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vMerge="1">
                  <a:txBody>
                    <a:bodyPr/>
                    <a:lstStyle/>
                    <a:p>
                      <a:pPr algn="ctr"/>
                      <a:endParaRPr lang="en-IN" sz="900" dirty="0"/>
                    </a:p>
                  </a:txBody>
                  <a:tcPr/>
                </a:tc>
                <a:tc vMerge="1">
                  <a:txBody>
                    <a:bodyPr/>
                    <a:lstStyle/>
                    <a:p>
                      <a:pPr algn="ctr"/>
                      <a:endParaRPr lang="en-IN" sz="900" dirty="0"/>
                    </a:p>
                  </a:txBody>
                  <a:tcPr/>
                </a:tc>
                <a:tc vMerge="1">
                  <a:txBody>
                    <a:bodyPr/>
                    <a:lstStyle/>
                    <a:p>
                      <a:pPr algn="ctr"/>
                      <a:endParaRPr lang="en-IN" sz="900" dirty="0"/>
                    </a:p>
                  </a:txBody>
                  <a:tcPr/>
                </a:tc>
                <a:tc gridSpan="2" vMerge="1">
                  <a:txBody>
                    <a:bodyPr/>
                    <a:lstStyle/>
                    <a:p>
                      <a:pPr algn="ctr"/>
                      <a:endParaRPr lang="en-IN" sz="900" dirty="0"/>
                    </a:p>
                  </a:txBody>
                  <a:tcPr/>
                </a:tc>
                <a:tc hMerge="1" vMerge="1">
                  <a:txBody>
                    <a:bodyPr/>
                    <a:lstStyle/>
                    <a:p>
                      <a:endParaRPr lang="en-IN"/>
                    </a:p>
                  </a:txBody>
                  <a:tcPr/>
                </a:tc>
                <a:tc vMerge="1">
                  <a:txBody>
                    <a:bodyPr/>
                    <a:lstStyle/>
                    <a:p>
                      <a:pPr algn="ctr"/>
                      <a:endParaRPr lang="en-IN" sz="900" dirty="0"/>
                    </a:p>
                  </a:txBody>
                  <a:tcPr/>
                </a:tc>
                <a:tc vMerge="1">
                  <a:txBody>
                    <a:bodyPr/>
                    <a:lstStyle/>
                    <a:p>
                      <a:endParaRPr lang="en-IN"/>
                    </a:p>
                  </a:txBody>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r>
              <a:tr h="228489">
                <a:tc gridSpan="2" vMerge="1">
                  <a:txBody>
                    <a:bodyPr/>
                    <a:lstStyle/>
                    <a:p>
                      <a:endParaRPr lang="en-IN"/>
                    </a:p>
                  </a:txBody>
                  <a:tcPr/>
                </a:tc>
                <a:tc hMerge="1" vMerge="1">
                  <a:txBody>
                    <a:bodyPr/>
                    <a:lstStyle/>
                    <a:p>
                      <a:endParaRPr lang="en-IN"/>
                    </a:p>
                  </a:txBody>
                  <a:tcPr/>
                </a:tc>
                <a:tc vMerge="1">
                  <a:txBody>
                    <a:bodyPr/>
                    <a:lstStyle/>
                    <a:p>
                      <a:pPr algn="ctr"/>
                      <a:endParaRPr lang="en-IN" sz="1000" dirty="0"/>
                    </a:p>
                  </a:txBody>
                  <a:tcPr/>
                </a:tc>
                <a:tc vMerge="1">
                  <a:txBody>
                    <a:bodyPr/>
                    <a:lstStyle/>
                    <a:p>
                      <a:endParaRPr lang="en-IN"/>
                    </a:p>
                  </a:txBody>
                  <a:tcPr/>
                </a:tc>
                <a:tc gridSpan="2" vMerge="1">
                  <a:txBody>
                    <a:bodyPr/>
                    <a:lstStyle/>
                    <a:p>
                      <a:pPr algn="ctr"/>
                      <a:endParaRPr lang="en-IN" sz="1000" dirty="0"/>
                    </a:p>
                  </a:txBody>
                  <a:tcPr/>
                </a:tc>
                <a:tc hMerge="1" vMerge="1">
                  <a:txBody>
                    <a:bodyPr/>
                    <a:lstStyle/>
                    <a:p>
                      <a:endParaRPr lang="en-IN"/>
                    </a:p>
                  </a:txBody>
                  <a:tcPr/>
                </a:tc>
                <a:tc gridSpan="2" vMerge="1">
                  <a:txBody>
                    <a:bodyPr/>
                    <a:lstStyle/>
                    <a:p>
                      <a:endParaRPr lang="en-IN"/>
                    </a:p>
                  </a:txBody>
                  <a:tcPr/>
                </a:tc>
                <a:tc hMerge="1" v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gridSpan="2" vMerge="1">
                  <a:txBody>
                    <a:bodyPr/>
                    <a:lstStyle/>
                    <a:p>
                      <a:endParaRPr lang="en-IN"/>
                    </a:p>
                  </a:txBody>
                  <a:tcPr/>
                </a:tc>
                <a:tc hMerge="1"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r>
              <a:tr h="365582">
                <a:tc gridSpan="2" vMerge="1">
                  <a:txBody>
                    <a:bodyPr/>
                    <a:lstStyle/>
                    <a:p>
                      <a:pPr algn="ctr"/>
                      <a:endParaRPr lang="en-IN" sz="900" dirty="0"/>
                    </a:p>
                  </a:txBody>
                  <a:tcPr/>
                </a:tc>
                <a:tc hMerge="1" vMerge="1">
                  <a:txBody>
                    <a:bodyPr/>
                    <a:lstStyle/>
                    <a:p>
                      <a:endParaRPr lang="en-IN"/>
                    </a:p>
                  </a:txBody>
                  <a:tcPr/>
                </a:tc>
                <a:tc grid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hMerge="1">
                  <a:txBody>
                    <a:bodyPr/>
                    <a:lstStyle/>
                    <a:p>
                      <a:pPr algn="ctr"/>
                      <a:endParaRPr lang="en-IN" sz="900" dirty="0"/>
                    </a:p>
                  </a:txBody>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pPr algn="ctr"/>
                      <a:endParaRPr lang="en-IN" sz="900" dirty="0"/>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dirty="0"/>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hMerge="1">
                  <a:txBody>
                    <a:bodyPr/>
                    <a:lstStyle/>
                    <a:p>
                      <a:endParaRPr lang="en-IN"/>
                    </a:p>
                  </a:txBody>
                  <a:tcPr/>
                </a:tc>
                <a:tc rowSpan="4"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rowSpan="4" h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r>
              <a:tr h="228489">
                <a:tc rowSpan="2" gridSpan="6">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rowSpan="2" hMerge="1">
                  <a:txBody>
                    <a:bodyPr/>
                    <a:lstStyle/>
                    <a:p>
                      <a:endParaRPr lang="en-IN"/>
                    </a:p>
                  </a:txBody>
                  <a:tcPr/>
                </a:tc>
                <a:tc rowSpan="2" hMerge="1">
                  <a:txBody>
                    <a:bodyPr/>
                    <a:lstStyle/>
                    <a:p>
                      <a:pPr algn="ctr"/>
                      <a:endParaRPr lang="en-IN" sz="900"/>
                    </a:p>
                  </a:txBody>
                  <a:tcPr/>
                </a:tc>
                <a:tc rowSpan="2" hMerge="1">
                  <a:txBody>
                    <a:bodyPr/>
                    <a:lstStyle/>
                    <a:p>
                      <a:endParaRPr lang="en-IN"/>
                    </a:p>
                  </a:txBody>
                  <a:tcPr/>
                </a:tc>
                <a:tc rowSpan="2" hMerge="1">
                  <a:txBody>
                    <a:bodyPr/>
                    <a:lstStyle/>
                    <a:p>
                      <a:pPr algn="ctr"/>
                      <a:endParaRPr lang="en-IN" sz="900" dirty="0"/>
                    </a:p>
                  </a:txBody>
                  <a:tcPr/>
                </a:tc>
                <a:tc rowSpan="2"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hMerge="1">
                  <a:txBody>
                    <a:bodyPr/>
                    <a:lstStyle/>
                    <a:p>
                      <a:pPr algn="ctr"/>
                      <a:endParaRPr lang="en-IN" sz="900" dirty="0"/>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a:endParaRPr lang="en-IN" sz="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hMerge="1">
                  <a:txBody>
                    <a:bodyPr/>
                    <a:lstStyle/>
                    <a:p>
                      <a:endParaRPr lang="en-IN"/>
                    </a:p>
                  </a:txBody>
                  <a:tcPr/>
                </a:tc>
                <a:tc gridSpan="2"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r>
              <a:tr h="228489">
                <a:tc gridSpan="6" vMerge="1">
                  <a:txBody>
                    <a:bodyPr/>
                    <a:lstStyle/>
                    <a:p>
                      <a:pPr algn="ctr"/>
                      <a:endParaRPr lang="en-IN" sz="900" dirty="0"/>
                    </a:p>
                  </a:txBody>
                  <a:tcPr/>
                </a:tc>
                <a:tc hMerge="1" vMerge="1">
                  <a:txBody>
                    <a:bodyPr/>
                    <a:lstStyle/>
                    <a:p>
                      <a:endParaRPr lang="en-IN"/>
                    </a:p>
                  </a:txBody>
                  <a:tcPr/>
                </a:tc>
                <a:tc hMerge="1" vMerge="1">
                  <a:txBody>
                    <a:bodyPr/>
                    <a:lstStyle/>
                    <a:p>
                      <a:pPr algn="ctr"/>
                      <a:endParaRPr lang="en-IN" sz="900" dirty="0"/>
                    </a:p>
                  </a:txBody>
                  <a:tcPr/>
                </a:tc>
                <a:tc hMerge="1" vMerge="1">
                  <a:txBody>
                    <a:bodyPr/>
                    <a:lstStyle/>
                    <a:p>
                      <a:endParaRPr lang="en-IN"/>
                    </a:p>
                  </a:txBody>
                  <a:tcPr/>
                </a:tc>
                <a:tc hMerge="1" vMerge="1">
                  <a:txBody>
                    <a:bodyPr/>
                    <a:lstStyle/>
                    <a:p>
                      <a:pPr algn="ctr"/>
                      <a:endParaRPr lang="en-IN" sz="900" dirty="0"/>
                    </a:p>
                  </a:txBody>
                  <a:tcPr/>
                </a:tc>
                <a:tc hMerge="1" v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rowSpan="2"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2" hMerge="1">
                  <a:txBody>
                    <a:bodyPr/>
                    <a:lstStyle/>
                    <a:p>
                      <a:pPr algn="ctr"/>
                      <a:endParaRPr lang="en-IN" sz="900" dirty="0"/>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endParaRPr lang="en-IN"/>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endParaRPr lang="en-IN"/>
                    </a:p>
                  </a:txBody>
                  <a:tcPr/>
                </a:tc>
                <a:tc gridSpan="2"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r>
              <a:tr h="228489">
                <a:tc gridSpan="2">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no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a:p>
                  </a:txBody>
                  <a:tcPr/>
                </a:tc>
                <a:tc gridSpan="3" vMerge="1">
                  <a:txBody>
                    <a:bodyPr/>
                    <a:lstStyle/>
                    <a:p>
                      <a:pPr algn="ctr"/>
                      <a:endParaRPr lang="en-IN" sz="900" dirty="0"/>
                    </a:p>
                  </a:txBody>
                  <a:tcPr/>
                </a:tc>
                <a:tc hMerge="1" vMerge="1">
                  <a:txBody>
                    <a:bodyPr/>
                    <a:lstStyle/>
                    <a:p>
                      <a:endParaRPr lang="en-IN"/>
                    </a:p>
                  </a:txBody>
                  <a:tcPr/>
                </a:tc>
                <a:tc hMerge="1" vMerge="1">
                  <a:txBody>
                    <a:bodyPr/>
                    <a:lstStyle/>
                    <a:p>
                      <a:pPr algn="ctr"/>
                      <a:endParaRPr lang="en-IN" sz="900" dirty="0"/>
                    </a:p>
                  </a:txBody>
                  <a:tcPr/>
                </a:tc>
                <a:tc grid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a:endParaRPr lang="en-IN" sz="900" dirty="0"/>
                    </a:p>
                  </a:txBody>
                  <a:tcPr/>
                </a:tc>
                <a:tc hMerge="1">
                  <a:txBody>
                    <a:bodyPr/>
                    <a:lstStyle/>
                    <a:p>
                      <a:pPr algn="ctr"/>
                      <a:endParaRPr lang="en-IN" sz="900" dirty="0"/>
                    </a:p>
                  </a:txBody>
                  <a:tcPr/>
                </a:tc>
                <a:tc hMerge="1">
                  <a:txBody>
                    <a:bodyPr/>
                    <a:lstStyle/>
                    <a:p>
                      <a:endParaRPr lang="en-IN"/>
                    </a:p>
                  </a:txBody>
                  <a:tcPr/>
                </a:tc>
                <a:tc gridSpan="2"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en-IN"/>
                    </a:p>
                  </a:txBody>
                  <a:tcPr/>
                </a:tc>
                <a:tc gridSpan="2"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6</a:t>
            </a:fld>
            <a:endParaRPr lang="en-US" dirty="0">
              <a:solidFill>
                <a:srgbClr val="0E5580"/>
              </a:solidFill>
            </a:endParaRPr>
          </a:p>
        </p:txBody>
      </p:sp>
      <p:sp>
        <p:nvSpPr>
          <p:cNvPr id="28" name="Title 4"/>
          <p:cNvSpPr>
            <a:spLocks noGrp="1"/>
          </p:cNvSpPr>
          <p:nvPr>
            <p:ph type="title"/>
          </p:nvPr>
        </p:nvSpPr>
        <p:spPr>
          <a:xfrm>
            <a:off x="629984" y="542362"/>
            <a:ext cx="9785683" cy="706964"/>
          </a:xfrm>
        </p:spPr>
        <p:txBody>
          <a:bodyPr/>
          <a:lstStyle/>
          <a:p>
            <a:r>
              <a:rPr lang="en-IN" dirty="0" smtClean="0"/>
              <a:t>Model Application – Croma Sales Potential</a:t>
            </a:r>
            <a:endParaRPr lang="en-IN" dirty="0"/>
          </a:p>
        </p:txBody>
      </p:sp>
      <p:sp>
        <p:nvSpPr>
          <p:cNvPr id="43" name="TextBox 42"/>
          <p:cNvSpPr txBox="1"/>
          <p:nvPr/>
        </p:nvSpPr>
        <p:spPr bwMode="gray">
          <a:xfrm>
            <a:off x="1288473" y="3571152"/>
            <a:ext cx="900545" cy="138546"/>
          </a:xfrm>
          <a:prstGeom prst="rect">
            <a:avLst/>
          </a:prstGeom>
        </p:spPr>
        <p:txBody>
          <a:bodyPr vert="horz" wrap="square" lIns="91440" tIns="45720" rIns="91440" bIns="45720" rtlCol="0" anchor="ctr">
            <a:noAutofit/>
          </a:bodyPr>
          <a:lstStyle/>
          <a:p>
            <a:endParaRPr lang="en-IN" sz="2000" i="1" dirty="0" smtClean="0"/>
          </a:p>
        </p:txBody>
      </p:sp>
      <p:sp>
        <p:nvSpPr>
          <p:cNvPr id="44" name="TextBox 43"/>
          <p:cNvSpPr txBox="1"/>
          <p:nvPr/>
        </p:nvSpPr>
        <p:spPr bwMode="gray">
          <a:xfrm>
            <a:off x="1291595" y="3661304"/>
            <a:ext cx="1039091" cy="138546"/>
          </a:xfrm>
          <a:prstGeom prst="rect">
            <a:avLst/>
          </a:prstGeom>
        </p:spPr>
        <p:txBody>
          <a:bodyPr vert="horz" wrap="square" lIns="91440" tIns="45720" rIns="91440" bIns="45720" rtlCol="0" anchor="ctr">
            <a:noAutofit/>
          </a:bodyPr>
          <a:lstStyle/>
          <a:p>
            <a:pPr algn="ctr"/>
            <a:r>
              <a:rPr lang="en-IN" sz="800" i="1" dirty="0" smtClean="0"/>
              <a:t>Jubilee Hills</a:t>
            </a:r>
          </a:p>
        </p:txBody>
      </p:sp>
      <p:sp>
        <p:nvSpPr>
          <p:cNvPr id="45" name="TextBox 44"/>
          <p:cNvSpPr txBox="1"/>
          <p:nvPr/>
        </p:nvSpPr>
        <p:spPr bwMode="gray">
          <a:xfrm>
            <a:off x="2819241" y="2674627"/>
            <a:ext cx="1039091" cy="138546"/>
          </a:xfrm>
          <a:prstGeom prst="rect">
            <a:avLst/>
          </a:prstGeom>
        </p:spPr>
        <p:txBody>
          <a:bodyPr vert="horz" wrap="square" lIns="91440" tIns="45720" rIns="91440" bIns="45720" rtlCol="0" anchor="ctr">
            <a:noAutofit/>
          </a:bodyPr>
          <a:lstStyle/>
          <a:p>
            <a:pPr algn="ctr"/>
            <a:r>
              <a:rPr lang="en-IN" sz="800" i="1" dirty="0" err="1" smtClean="0"/>
              <a:t>Panjagutta</a:t>
            </a:r>
            <a:endParaRPr lang="en-IN" sz="800" i="1" dirty="0" smtClean="0"/>
          </a:p>
        </p:txBody>
      </p:sp>
      <p:sp>
        <p:nvSpPr>
          <p:cNvPr id="46" name="TextBox 45"/>
          <p:cNvSpPr txBox="1"/>
          <p:nvPr/>
        </p:nvSpPr>
        <p:spPr bwMode="gray">
          <a:xfrm>
            <a:off x="4444107" y="2102715"/>
            <a:ext cx="1039091" cy="138546"/>
          </a:xfrm>
          <a:prstGeom prst="rect">
            <a:avLst/>
          </a:prstGeom>
        </p:spPr>
        <p:txBody>
          <a:bodyPr vert="horz" wrap="square" lIns="91440" tIns="45720" rIns="91440" bIns="45720" rtlCol="0" anchor="ctr">
            <a:noAutofit/>
          </a:bodyPr>
          <a:lstStyle/>
          <a:p>
            <a:pPr algn="ctr"/>
            <a:r>
              <a:rPr lang="en-IN" sz="800" i="1" dirty="0" err="1" smtClean="0"/>
              <a:t>Vikrampuri</a:t>
            </a:r>
            <a:endParaRPr lang="en-IN" sz="800" i="1" dirty="0" smtClean="0"/>
          </a:p>
        </p:txBody>
      </p:sp>
      <p:sp>
        <p:nvSpPr>
          <p:cNvPr id="47" name="TextBox 46"/>
          <p:cNvSpPr txBox="1"/>
          <p:nvPr/>
        </p:nvSpPr>
        <p:spPr bwMode="gray">
          <a:xfrm>
            <a:off x="1304153" y="4010123"/>
            <a:ext cx="1039091" cy="138546"/>
          </a:xfrm>
          <a:prstGeom prst="rect">
            <a:avLst/>
          </a:prstGeom>
        </p:spPr>
        <p:txBody>
          <a:bodyPr vert="horz" wrap="square" lIns="91440" tIns="45720" rIns="91440" bIns="45720" rtlCol="0" anchor="ctr">
            <a:noAutofit/>
          </a:bodyPr>
          <a:lstStyle/>
          <a:p>
            <a:pPr algn="ctr"/>
            <a:r>
              <a:rPr lang="en-IN" sz="800" i="1" dirty="0" smtClean="0"/>
              <a:t>Golconda</a:t>
            </a:r>
          </a:p>
        </p:txBody>
      </p:sp>
      <p:sp>
        <p:nvSpPr>
          <p:cNvPr id="48" name="TextBox 47"/>
          <p:cNvSpPr txBox="1"/>
          <p:nvPr/>
        </p:nvSpPr>
        <p:spPr bwMode="gray">
          <a:xfrm>
            <a:off x="1291593" y="6033680"/>
            <a:ext cx="1039091" cy="138546"/>
          </a:xfrm>
          <a:prstGeom prst="rect">
            <a:avLst/>
          </a:prstGeom>
        </p:spPr>
        <p:txBody>
          <a:bodyPr vert="horz" wrap="square" lIns="91440" tIns="45720" rIns="91440" bIns="45720" rtlCol="0" anchor="ctr">
            <a:noAutofit/>
          </a:bodyPr>
          <a:lstStyle/>
          <a:p>
            <a:pPr algn="ctr"/>
            <a:r>
              <a:rPr lang="en-IN" sz="800" i="1" dirty="0" smtClean="0"/>
              <a:t>Airport</a:t>
            </a:r>
          </a:p>
        </p:txBody>
      </p:sp>
      <p:sp>
        <p:nvSpPr>
          <p:cNvPr id="49" name="TextBox 48"/>
          <p:cNvSpPr txBox="1"/>
          <p:nvPr/>
        </p:nvSpPr>
        <p:spPr bwMode="gray">
          <a:xfrm>
            <a:off x="7664685" y="2440161"/>
            <a:ext cx="1039091" cy="138546"/>
          </a:xfrm>
          <a:prstGeom prst="rect">
            <a:avLst/>
          </a:prstGeom>
        </p:spPr>
        <p:txBody>
          <a:bodyPr vert="horz" wrap="square" lIns="91440" tIns="45720" rIns="91440" bIns="45720" rtlCol="0" anchor="ctr">
            <a:noAutofit/>
          </a:bodyPr>
          <a:lstStyle/>
          <a:p>
            <a:pPr algn="ctr"/>
            <a:r>
              <a:rPr lang="en-IN" sz="800" i="1" dirty="0" smtClean="0"/>
              <a:t>A S Rao Nagar</a:t>
            </a:r>
          </a:p>
        </p:txBody>
      </p:sp>
      <p:sp>
        <p:nvSpPr>
          <p:cNvPr id="50" name="TextBox 49"/>
          <p:cNvSpPr txBox="1"/>
          <p:nvPr/>
        </p:nvSpPr>
        <p:spPr bwMode="gray">
          <a:xfrm>
            <a:off x="2647389" y="2217919"/>
            <a:ext cx="1039091" cy="138546"/>
          </a:xfrm>
          <a:prstGeom prst="rect">
            <a:avLst/>
          </a:prstGeom>
          <a:noFill/>
        </p:spPr>
        <p:txBody>
          <a:bodyPr vert="horz" wrap="square" lIns="91440" tIns="45720" rIns="91440" bIns="45720" rtlCol="0" anchor="ctr">
            <a:noAutofit/>
          </a:bodyPr>
          <a:lstStyle/>
          <a:p>
            <a:pPr algn="ctr"/>
            <a:r>
              <a:rPr lang="en-IN" sz="800" i="1" dirty="0" err="1" smtClean="0"/>
              <a:t>Kukatpally</a:t>
            </a:r>
            <a:endParaRPr lang="en-IN" sz="800" i="1" dirty="0" smtClean="0"/>
          </a:p>
        </p:txBody>
      </p:sp>
      <p:sp>
        <p:nvSpPr>
          <p:cNvPr id="51" name="TextBox 50"/>
          <p:cNvSpPr txBox="1"/>
          <p:nvPr/>
        </p:nvSpPr>
        <p:spPr bwMode="gray">
          <a:xfrm>
            <a:off x="4456783" y="3956566"/>
            <a:ext cx="1039091" cy="138546"/>
          </a:xfrm>
          <a:prstGeom prst="rect">
            <a:avLst/>
          </a:prstGeom>
        </p:spPr>
        <p:txBody>
          <a:bodyPr vert="horz" wrap="square" lIns="91440" tIns="45720" rIns="91440" bIns="45720" rtlCol="0" anchor="ctr">
            <a:noAutofit/>
          </a:bodyPr>
          <a:lstStyle/>
          <a:p>
            <a:pPr algn="ctr"/>
            <a:r>
              <a:rPr lang="en-IN" sz="800" i="1" dirty="0" err="1" smtClean="0"/>
              <a:t>HImayatnagar</a:t>
            </a:r>
            <a:endParaRPr lang="en-IN" sz="800" i="1" dirty="0" smtClean="0"/>
          </a:p>
        </p:txBody>
      </p:sp>
      <p:sp>
        <p:nvSpPr>
          <p:cNvPr id="52" name="TextBox 51"/>
          <p:cNvSpPr txBox="1"/>
          <p:nvPr/>
        </p:nvSpPr>
        <p:spPr bwMode="gray">
          <a:xfrm>
            <a:off x="6884590" y="3956566"/>
            <a:ext cx="1039091" cy="138546"/>
          </a:xfrm>
          <a:prstGeom prst="rect">
            <a:avLst/>
          </a:prstGeom>
        </p:spPr>
        <p:txBody>
          <a:bodyPr vert="horz" wrap="square" lIns="91440" tIns="45720" rIns="91440" bIns="45720" rtlCol="0" anchor="ctr">
            <a:noAutofit/>
          </a:bodyPr>
          <a:lstStyle/>
          <a:p>
            <a:pPr algn="ctr"/>
            <a:r>
              <a:rPr lang="en-IN" sz="800" i="1" dirty="0" err="1" smtClean="0"/>
              <a:t>Habsiguda</a:t>
            </a:r>
            <a:endParaRPr lang="en-IN" sz="800" i="1" dirty="0" smtClean="0"/>
          </a:p>
        </p:txBody>
      </p:sp>
      <p:sp>
        <p:nvSpPr>
          <p:cNvPr id="53" name="TextBox 52"/>
          <p:cNvSpPr txBox="1"/>
          <p:nvPr/>
        </p:nvSpPr>
        <p:spPr bwMode="gray">
          <a:xfrm>
            <a:off x="469936" y="2205040"/>
            <a:ext cx="1039091" cy="138546"/>
          </a:xfrm>
          <a:prstGeom prst="rect">
            <a:avLst/>
          </a:prstGeom>
        </p:spPr>
        <p:txBody>
          <a:bodyPr vert="horz" wrap="square" lIns="91440" tIns="45720" rIns="91440" bIns="45720" rtlCol="0" anchor="ctr">
            <a:noAutofit/>
          </a:bodyPr>
          <a:lstStyle/>
          <a:p>
            <a:pPr algn="ctr"/>
            <a:r>
              <a:rPr lang="en-IN" sz="800" i="1" dirty="0" err="1" smtClean="0"/>
              <a:t>Chandanagar</a:t>
            </a:r>
            <a:endParaRPr lang="en-IN" sz="800" i="1" dirty="0" smtClean="0"/>
          </a:p>
        </p:txBody>
      </p:sp>
      <p:sp>
        <p:nvSpPr>
          <p:cNvPr id="55" name="Oval 54"/>
          <p:cNvSpPr/>
          <p:nvPr/>
        </p:nvSpPr>
        <p:spPr>
          <a:xfrm>
            <a:off x="3276594" y="2515274"/>
            <a:ext cx="187037" cy="159422"/>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57" name="Oval 56"/>
          <p:cNvSpPr/>
          <p:nvPr/>
        </p:nvSpPr>
        <p:spPr>
          <a:xfrm>
            <a:off x="1717619" y="5874258"/>
            <a:ext cx="187037" cy="159422"/>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59" name="Oval 58"/>
          <p:cNvSpPr/>
          <p:nvPr/>
        </p:nvSpPr>
        <p:spPr>
          <a:xfrm>
            <a:off x="3256984" y="2054512"/>
            <a:ext cx="187037" cy="159422"/>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60" name="Oval 59"/>
          <p:cNvSpPr/>
          <p:nvPr/>
        </p:nvSpPr>
        <p:spPr>
          <a:xfrm>
            <a:off x="895962" y="2067391"/>
            <a:ext cx="187037" cy="159422"/>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61" name="Oval 60"/>
          <p:cNvSpPr/>
          <p:nvPr/>
        </p:nvSpPr>
        <p:spPr>
          <a:xfrm>
            <a:off x="4882809" y="3826011"/>
            <a:ext cx="187037" cy="159422"/>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dirty="0"/>
          </a:p>
        </p:txBody>
      </p:sp>
      <p:sp>
        <p:nvSpPr>
          <p:cNvPr id="62" name="Oval 61"/>
          <p:cNvSpPr/>
          <p:nvPr/>
        </p:nvSpPr>
        <p:spPr>
          <a:xfrm>
            <a:off x="7310616" y="3779497"/>
            <a:ext cx="187037" cy="159422"/>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63" name="Oval 62"/>
          <p:cNvSpPr/>
          <p:nvPr/>
        </p:nvSpPr>
        <p:spPr>
          <a:xfrm>
            <a:off x="8051098" y="2288339"/>
            <a:ext cx="187037" cy="159422"/>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72" name="TextBox 71"/>
          <p:cNvSpPr txBox="1"/>
          <p:nvPr/>
        </p:nvSpPr>
        <p:spPr bwMode="gray">
          <a:xfrm>
            <a:off x="5720607" y="4235108"/>
            <a:ext cx="1039091" cy="138546"/>
          </a:xfrm>
          <a:prstGeom prst="rect">
            <a:avLst/>
          </a:prstGeom>
        </p:spPr>
        <p:txBody>
          <a:bodyPr vert="horz" wrap="square" lIns="91440" tIns="45720" rIns="91440" bIns="45720" rtlCol="0" anchor="ctr">
            <a:noAutofit/>
          </a:bodyPr>
          <a:lstStyle/>
          <a:p>
            <a:pPr algn="ctr"/>
            <a:r>
              <a:rPr lang="en-IN" sz="800" i="1" dirty="0" err="1" smtClean="0"/>
              <a:t>Kachiguda</a:t>
            </a:r>
            <a:endParaRPr lang="en-IN" sz="800" i="1" dirty="0" smtClean="0"/>
          </a:p>
        </p:txBody>
      </p:sp>
      <p:sp>
        <p:nvSpPr>
          <p:cNvPr id="73" name="TextBox 72"/>
          <p:cNvSpPr txBox="1"/>
          <p:nvPr/>
        </p:nvSpPr>
        <p:spPr bwMode="gray">
          <a:xfrm>
            <a:off x="6044714" y="4029072"/>
            <a:ext cx="1039091" cy="138546"/>
          </a:xfrm>
          <a:prstGeom prst="rect">
            <a:avLst/>
          </a:prstGeom>
        </p:spPr>
        <p:txBody>
          <a:bodyPr vert="horz" wrap="square" lIns="91440" tIns="45720" rIns="91440" bIns="45720" rtlCol="0" anchor="ctr">
            <a:noAutofit/>
          </a:bodyPr>
          <a:lstStyle/>
          <a:p>
            <a:pPr algn="ctr"/>
            <a:r>
              <a:rPr lang="en-IN" sz="800" i="1" dirty="0" err="1" smtClean="0"/>
              <a:t>Shivam</a:t>
            </a:r>
            <a:r>
              <a:rPr lang="en-IN" sz="800" i="1" dirty="0" smtClean="0"/>
              <a:t> Road</a:t>
            </a:r>
          </a:p>
        </p:txBody>
      </p:sp>
      <p:sp>
        <p:nvSpPr>
          <p:cNvPr id="74" name="TextBox 73"/>
          <p:cNvSpPr txBox="1"/>
          <p:nvPr/>
        </p:nvSpPr>
        <p:spPr bwMode="gray">
          <a:xfrm>
            <a:off x="6044713" y="4960700"/>
            <a:ext cx="1039091" cy="138546"/>
          </a:xfrm>
          <a:prstGeom prst="rect">
            <a:avLst/>
          </a:prstGeom>
        </p:spPr>
        <p:txBody>
          <a:bodyPr vert="horz" wrap="square" lIns="91440" tIns="45720" rIns="91440" bIns="45720" rtlCol="0" anchor="ctr">
            <a:noAutofit/>
          </a:bodyPr>
          <a:lstStyle/>
          <a:p>
            <a:pPr algn="ctr"/>
            <a:r>
              <a:rPr lang="en-IN" sz="800" i="1" dirty="0" err="1" smtClean="0"/>
              <a:t>Kothapete</a:t>
            </a:r>
            <a:endParaRPr lang="en-IN" sz="800" i="1" dirty="0" smtClean="0"/>
          </a:p>
        </p:txBody>
      </p:sp>
      <p:sp>
        <p:nvSpPr>
          <p:cNvPr id="75" name="TextBox 74"/>
          <p:cNvSpPr txBox="1"/>
          <p:nvPr/>
        </p:nvSpPr>
        <p:spPr bwMode="gray">
          <a:xfrm>
            <a:off x="2248567" y="3661304"/>
            <a:ext cx="1039091" cy="138546"/>
          </a:xfrm>
          <a:prstGeom prst="rect">
            <a:avLst/>
          </a:prstGeom>
        </p:spPr>
        <p:txBody>
          <a:bodyPr vert="horz" wrap="square" lIns="91440" tIns="45720" rIns="91440" bIns="45720" rtlCol="0" anchor="ctr">
            <a:noAutofit/>
          </a:bodyPr>
          <a:lstStyle/>
          <a:p>
            <a:pPr algn="ctr"/>
            <a:r>
              <a:rPr lang="en-IN" sz="800" i="1" dirty="0" smtClean="0"/>
              <a:t>Banjara Hills</a:t>
            </a:r>
          </a:p>
        </p:txBody>
      </p:sp>
      <p:sp>
        <p:nvSpPr>
          <p:cNvPr id="76" name="TextBox 75"/>
          <p:cNvSpPr txBox="1"/>
          <p:nvPr/>
        </p:nvSpPr>
        <p:spPr bwMode="gray">
          <a:xfrm>
            <a:off x="4404828" y="3292060"/>
            <a:ext cx="1039091" cy="138546"/>
          </a:xfrm>
          <a:prstGeom prst="rect">
            <a:avLst/>
          </a:prstGeom>
        </p:spPr>
        <p:txBody>
          <a:bodyPr vert="horz" wrap="square" lIns="91440" tIns="45720" rIns="91440" bIns="45720" rtlCol="0" anchor="ctr">
            <a:noAutofit/>
          </a:bodyPr>
          <a:lstStyle/>
          <a:p>
            <a:pPr algn="ctr"/>
            <a:r>
              <a:rPr lang="en-IN" sz="800" i="1" dirty="0" err="1" smtClean="0"/>
              <a:t>Amsri</a:t>
            </a:r>
            <a:r>
              <a:rPr lang="en-IN" sz="800" i="1" dirty="0" smtClean="0"/>
              <a:t> Faust,</a:t>
            </a:r>
          </a:p>
          <a:p>
            <a:pPr algn="ctr"/>
            <a:r>
              <a:rPr lang="en-IN" sz="800" i="1" dirty="0" err="1" smtClean="0"/>
              <a:t>Secunderabad</a:t>
            </a:r>
            <a:endParaRPr lang="en-IN" sz="800" i="1" dirty="0" smtClean="0"/>
          </a:p>
        </p:txBody>
      </p:sp>
      <p:sp>
        <p:nvSpPr>
          <p:cNvPr id="77" name="TextBox 76"/>
          <p:cNvSpPr txBox="1"/>
          <p:nvPr/>
        </p:nvSpPr>
        <p:spPr bwMode="gray">
          <a:xfrm>
            <a:off x="1688990" y="4666346"/>
            <a:ext cx="1039091" cy="138546"/>
          </a:xfrm>
          <a:prstGeom prst="rect">
            <a:avLst/>
          </a:prstGeom>
        </p:spPr>
        <p:txBody>
          <a:bodyPr vert="horz" wrap="square" lIns="91440" tIns="45720" rIns="91440" bIns="45720" rtlCol="0" anchor="ctr">
            <a:noAutofit/>
          </a:bodyPr>
          <a:lstStyle/>
          <a:p>
            <a:pPr algn="ctr"/>
            <a:r>
              <a:rPr lang="en-IN" sz="800" i="1" dirty="0" err="1" smtClean="0"/>
              <a:t>Attapur</a:t>
            </a:r>
            <a:endParaRPr lang="en-IN" sz="800" i="1" dirty="0" smtClean="0"/>
          </a:p>
        </p:txBody>
      </p:sp>
      <p:sp>
        <p:nvSpPr>
          <p:cNvPr id="78" name="TextBox 77"/>
          <p:cNvSpPr txBox="1"/>
          <p:nvPr/>
        </p:nvSpPr>
        <p:spPr bwMode="gray">
          <a:xfrm>
            <a:off x="3571019" y="3285219"/>
            <a:ext cx="1039091" cy="138546"/>
          </a:xfrm>
          <a:prstGeom prst="rect">
            <a:avLst/>
          </a:prstGeom>
        </p:spPr>
        <p:txBody>
          <a:bodyPr vert="horz" wrap="square" lIns="91440" tIns="45720" rIns="91440" bIns="45720" rtlCol="0" anchor="ctr">
            <a:noAutofit/>
          </a:bodyPr>
          <a:lstStyle/>
          <a:p>
            <a:pPr algn="ctr"/>
            <a:r>
              <a:rPr lang="en-IN" sz="800" i="1" dirty="0" err="1" smtClean="0"/>
              <a:t>Begumpet</a:t>
            </a:r>
            <a:endParaRPr lang="en-IN" sz="800" i="1" dirty="0" smtClean="0"/>
          </a:p>
        </p:txBody>
      </p:sp>
      <p:sp>
        <p:nvSpPr>
          <p:cNvPr id="79" name="TextBox 78"/>
          <p:cNvSpPr txBox="1"/>
          <p:nvPr/>
        </p:nvSpPr>
        <p:spPr bwMode="gray">
          <a:xfrm>
            <a:off x="4404828" y="2775941"/>
            <a:ext cx="1039091" cy="138546"/>
          </a:xfrm>
          <a:prstGeom prst="rect">
            <a:avLst/>
          </a:prstGeom>
        </p:spPr>
        <p:txBody>
          <a:bodyPr vert="horz" wrap="square" lIns="91440" tIns="45720" rIns="91440" bIns="45720" rtlCol="0" anchor="ctr">
            <a:noAutofit/>
          </a:bodyPr>
          <a:lstStyle/>
          <a:p>
            <a:pPr algn="ctr"/>
            <a:r>
              <a:rPr lang="en-IN" sz="800" i="1" dirty="0" smtClean="0"/>
              <a:t>Odyssey, </a:t>
            </a:r>
            <a:r>
              <a:rPr lang="en-IN" sz="800" i="1" dirty="0" err="1" smtClean="0"/>
              <a:t>Vikrampuri</a:t>
            </a:r>
            <a:endParaRPr lang="en-IN" sz="800" i="1" dirty="0" smtClean="0"/>
          </a:p>
        </p:txBody>
      </p:sp>
      <p:sp>
        <p:nvSpPr>
          <p:cNvPr id="80" name="TextBox 79"/>
          <p:cNvSpPr txBox="1"/>
          <p:nvPr/>
        </p:nvSpPr>
        <p:spPr bwMode="gray">
          <a:xfrm>
            <a:off x="7715223" y="3228825"/>
            <a:ext cx="1039091" cy="138546"/>
          </a:xfrm>
          <a:prstGeom prst="rect">
            <a:avLst/>
          </a:prstGeom>
        </p:spPr>
        <p:txBody>
          <a:bodyPr vert="horz" wrap="square" lIns="91440" tIns="45720" rIns="91440" bIns="45720" rtlCol="0" anchor="ctr">
            <a:noAutofit/>
          </a:bodyPr>
          <a:lstStyle/>
          <a:p>
            <a:pPr algn="ctr"/>
            <a:r>
              <a:rPr lang="en-IN" sz="800" i="1" dirty="0" err="1" smtClean="0"/>
              <a:t>Nacharam</a:t>
            </a:r>
            <a:endParaRPr lang="en-IN" sz="800" i="1" dirty="0" smtClean="0"/>
          </a:p>
        </p:txBody>
      </p:sp>
      <p:sp>
        <p:nvSpPr>
          <p:cNvPr id="81" name="TextBox 80"/>
          <p:cNvSpPr txBox="1"/>
          <p:nvPr/>
        </p:nvSpPr>
        <p:spPr bwMode="gray">
          <a:xfrm>
            <a:off x="2082310" y="4146220"/>
            <a:ext cx="1039091" cy="138546"/>
          </a:xfrm>
          <a:prstGeom prst="rect">
            <a:avLst/>
          </a:prstGeom>
        </p:spPr>
        <p:txBody>
          <a:bodyPr vert="horz" wrap="square" lIns="91440" tIns="45720" rIns="91440" bIns="45720" rtlCol="0" anchor="ctr">
            <a:noAutofit/>
          </a:bodyPr>
          <a:lstStyle/>
          <a:p>
            <a:pPr algn="ctr"/>
            <a:r>
              <a:rPr lang="en-IN" sz="800" i="1" dirty="0" err="1" smtClean="0"/>
              <a:t>Tolichowki</a:t>
            </a:r>
            <a:endParaRPr lang="en-IN" sz="800" i="1" dirty="0" smtClean="0"/>
          </a:p>
        </p:txBody>
      </p:sp>
      <p:sp>
        <p:nvSpPr>
          <p:cNvPr id="82" name="TextBox 81"/>
          <p:cNvSpPr txBox="1"/>
          <p:nvPr/>
        </p:nvSpPr>
        <p:spPr bwMode="gray">
          <a:xfrm>
            <a:off x="7599768" y="4212100"/>
            <a:ext cx="1104008" cy="173021"/>
          </a:xfrm>
          <a:prstGeom prst="rect">
            <a:avLst/>
          </a:prstGeom>
        </p:spPr>
        <p:txBody>
          <a:bodyPr vert="horz" wrap="square" lIns="91440" tIns="45720" rIns="91440" bIns="45720" rtlCol="0" anchor="ctr">
            <a:noAutofit/>
          </a:bodyPr>
          <a:lstStyle/>
          <a:p>
            <a:pPr algn="ctr"/>
            <a:r>
              <a:rPr lang="en-IN" sz="800" i="1" dirty="0" smtClean="0"/>
              <a:t>Uppal</a:t>
            </a:r>
          </a:p>
        </p:txBody>
      </p:sp>
      <p:sp>
        <p:nvSpPr>
          <p:cNvPr id="83" name="TextBox 82"/>
          <p:cNvSpPr txBox="1"/>
          <p:nvPr/>
        </p:nvSpPr>
        <p:spPr bwMode="gray">
          <a:xfrm>
            <a:off x="7210211" y="5804985"/>
            <a:ext cx="1039091" cy="138546"/>
          </a:xfrm>
          <a:prstGeom prst="rect">
            <a:avLst/>
          </a:prstGeom>
        </p:spPr>
        <p:txBody>
          <a:bodyPr vert="horz" wrap="square" lIns="91440" tIns="45720" rIns="91440" bIns="45720" rtlCol="0" anchor="ctr">
            <a:noAutofit/>
          </a:bodyPr>
          <a:lstStyle/>
          <a:p>
            <a:pPr algn="ctr"/>
            <a:r>
              <a:rPr lang="en-IN" sz="800" i="1" dirty="0" err="1" smtClean="0"/>
              <a:t>Vanasthalipuram</a:t>
            </a:r>
            <a:endParaRPr lang="en-IN" sz="800" i="1" dirty="0" smtClean="0"/>
          </a:p>
        </p:txBody>
      </p:sp>
      <p:sp>
        <p:nvSpPr>
          <p:cNvPr id="84" name="TextBox 83"/>
          <p:cNvSpPr txBox="1"/>
          <p:nvPr/>
        </p:nvSpPr>
        <p:spPr bwMode="gray">
          <a:xfrm>
            <a:off x="7670863" y="3029684"/>
            <a:ext cx="1039091" cy="138546"/>
          </a:xfrm>
          <a:prstGeom prst="rect">
            <a:avLst/>
          </a:prstGeom>
        </p:spPr>
        <p:txBody>
          <a:bodyPr vert="horz" wrap="square" lIns="91440" tIns="45720" rIns="91440" bIns="45720" rtlCol="0" anchor="ctr">
            <a:noAutofit/>
          </a:bodyPr>
          <a:lstStyle/>
          <a:p>
            <a:pPr algn="ctr"/>
            <a:r>
              <a:rPr lang="en-IN" sz="800" i="1" dirty="0" err="1" smtClean="0"/>
              <a:t>Mallapur</a:t>
            </a:r>
            <a:endParaRPr lang="en-IN" sz="800" i="1" dirty="0" smtClean="0"/>
          </a:p>
        </p:txBody>
      </p:sp>
      <p:sp>
        <p:nvSpPr>
          <p:cNvPr id="85" name="TextBox 84"/>
          <p:cNvSpPr txBox="1"/>
          <p:nvPr/>
        </p:nvSpPr>
        <p:spPr bwMode="gray">
          <a:xfrm>
            <a:off x="1108757" y="3312024"/>
            <a:ext cx="1039091" cy="138546"/>
          </a:xfrm>
          <a:prstGeom prst="rect">
            <a:avLst/>
          </a:prstGeom>
        </p:spPr>
        <p:txBody>
          <a:bodyPr vert="horz" wrap="square" lIns="91440" tIns="45720" rIns="91440" bIns="45720" rtlCol="0" anchor="ctr">
            <a:noAutofit/>
          </a:bodyPr>
          <a:lstStyle/>
          <a:p>
            <a:pPr algn="ctr"/>
            <a:r>
              <a:rPr lang="en-IN" sz="800" i="1" dirty="0" err="1" smtClean="0"/>
              <a:t>HiTec</a:t>
            </a:r>
            <a:r>
              <a:rPr lang="en-IN" sz="800" i="1" dirty="0" smtClean="0"/>
              <a:t> City</a:t>
            </a:r>
          </a:p>
        </p:txBody>
      </p:sp>
      <p:sp>
        <p:nvSpPr>
          <p:cNvPr id="86" name="TextBox 85"/>
          <p:cNvSpPr txBox="1"/>
          <p:nvPr/>
        </p:nvSpPr>
        <p:spPr bwMode="gray">
          <a:xfrm>
            <a:off x="5351757" y="1676852"/>
            <a:ext cx="1039091" cy="138546"/>
          </a:xfrm>
          <a:prstGeom prst="rect">
            <a:avLst/>
          </a:prstGeom>
        </p:spPr>
        <p:txBody>
          <a:bodyPr vert="horz" wrap="square" lIns="91440" tIns="45720" rIns="91440" bIns="45720" rtlCol="0" anchor="ctr">
            <a:noAutofit/>
          </a:bodyPr>
          <a:lstStyle/>
          <a:p>
            <a:pPr algn="ctr"/>
            <a:r>
              <a:rPr lang="en-IN" sz="800" i="1" dirty="0" err="1" smtClean="0"/>
              <a:t>Hakimpet</a:t>
            </a:r>
            <a:endParaRPr lang="en-IN" sz="800" i="1" dirty="0" smtClean="0"/>
          </a:p>
        </p:txBody>
      </p:sp>
      <p:sp>
        <p:nvSpPr>
          <p:cNvPr id="87" name="TextBox 86"/>
          <p:cNvSpPr txBox="1"/>
          <p:nvPr/>
        </p:nvSpPr>
        <p:spPr bwMode="gray">
          <a:xfrm>
            <a:off x="747102" y="3029684"/>
            <a:ext cx="1039091" cy="138546"/>
          </a:xfrm>
          <a:prstGeom prst="rect">
            <a:avLst/>
          </a:prstGeom>
        </p:spPr>
        <p:txBody>
          <a:bodyPr vert="horz" wrap="square" lIns="91440" tIns="45720" rIns="91440" bIns="45720" rtlCol="0" anchor="ctr">
            <a:noAutofit/>
          </a:bodyPr>
          <a:lstStyle/>
          <a:p>
            <a:pPr algn="ctr"/>
            <a:r>
              <a:rPr lang="en-IN" sz="800" i="1" dirty="0" err="1" smtClean="0"/>
              <a:t>Gachibowli</a:t>
            </a:r>
            <a:endParaRPr lang="en-IN" sz="800" i="1" dirty="0" smtClean="0"/>
          </a:p>
        </p:txBody>
      </p:sp>
      <p:sp>
        <p:nvSpPr>
          <p:cNvPr id="88" name="TextBox 87"/>
          <p:cNvSpPr txBox="1"/>
          <p:nvPr/>
        </p:nvSpPr>
        <p:spPr bwMode="gray">
          <a:xfrm>
            <a:off x="461619" y="3272237"/>
            <a:ext cx="1039091" cy="138546"/>
          </a:xfrm>
          <a:prstGeom prst="rect">
            <a:avLst/>
          </a:prstGeom>
        </p:spPr>
        <p:txBody>
          <a:bodyPr vert="horz" wrap="square" lIns="91440" tIns="45720" rIns="91440" bIns="45720" rtlCol="0" anchor="ctr">
            <a:noAutofit/>
          </a:bodyPr>
          <a:lstStyle/>
          <a:p>
            <a:pPr algn="ctr"/>
            <a:r>
              <a:rPr lang="en-IN" sz="800" i="1" dirty="0" err="1" smtClean="0"/>
              <a:t>Madniguda</a:t>
            </a:r>
            <a:endParaRPr lang="en-IN" sz="800" i="1" dirty="0" smtClean="0"/>
          </a:p>
        </p:txBody>
      </p:sp>
      <p:sp>
        <p:nvSpPr>
          <p:cNvPr id="89" name="TextBox 88"/>
          <p:cNvSpPr txBox="1"/>
          <p:nvPr/>
        </p:nvSpPr>
        <p:spPr bwMode="gray">
          <a:xfrm>
            <a:off x="4400983" y="3083655"/>
            <a:ext cx="1039091" cy="138546"/>
          </a:xfrm>
          <a:prstGeom prst="rect">
            <a:avLst/>
          </a:prstGeom>
        </p:spPr>
        <p:txBody>
          <a:bodyPr vert="horz" wrap="square" lIns="91440" tIns="45720" rIns="91440" bIns="45720" rtlCol="0" anchor="ctr">
            <a:noAutofit/>
          </a:bodyPr>
          <a:lstStyle/>
          <a:p>
            <a:pPr algn="ctr"/>
            <a:r>
              <a:rPr lang="en-IN" sz="800" i="1" dirty="0" smtClean="0"/>
              <a:t>M G Road</a:t>
            </a:r>
          </a:p>
        </p:txBody>
      </p:sp>
      <p:sp>
        <p:nvSpPr>
          <p:cNvPr id="90" name="TextBox 89"/>
          <p:cNvSpPr txBox="1"/>
          <p:nvPr/>
        </p:nvSpPr>
        <p:spPr bwMode="gray">
          <a:xfrm>
            <a:off x="3097760" y="2981652"/>
            <a:ext cx="1039091" cy="138546"/>
          </a:xfrm>
          <a:prstGeom prst="rect">
            <a:avLst/>
          </a:prstGeom>
        </p:spPr>
        <p:txBody>
          <a:bodyPr vert="horz" wrap="square" lIns="91440" tIns="45720" rIns="91440" bIns="45720" rtlCol="0" anchor="ctr">
            <a:noAutofit/>
          </a:bodyPr>
          <a:lstStyle/>
          <a:p>
            <a:pPr algn="ctr"/>
            <a:r>
              <a:rPr lang="en-IN" sz="800" i="1" dirty="0" err="1" smtClean="0"/>
              <a:t>Panjagutta</a:t>
            </a:r>
            <a:endParaRPr lang="en-IN" sz="800" i="1" dirty="0" smtClean="0"/>
          </a:p>
        </p:txBody>
      </p:sp>
      <p:sp>
        <p:nvSpPr>
          <p:cNvPr id="91" name="TextBox 90"/>
          <p:cNvSpPr txBox="1"/>
          <p:nvPr/>
        </p:nvSpPr>
        <p:spPr bwMode="gray">
          <a:xfrm>
            <a:off x="2078570" y="2344561"/>
            <a:ext cx="1039091" cy="138546"/>
          </a:xfrm>
          <a:prstGeom prst="rect">
            <a:avLst/>
          </a:prstGeom>
        </p:spPr>
        <p:txBody>
          <a:bodyPr vert="horz" wrap="square" lIns="91440" tIns="45720" rIns="91440" bIns="45720" rtlCol="0" anchor="ctr">
            <a:noAutofit/>
          </a:bodyPr>
          <a:lstStyle/>
          <a:p>
            <a:pPr algn="ctr"/>
            <a:r>
              <a:rPr lang="en-IN" sz="800" i="1" dirty="0" err="1"/>
              <a:t>KpHB</a:t>
            </a:r>
            <a:r>
              <a:rPr lang="en-IN" sz="800" i="1" dirty="0"/>
              <a:t> Colony</a:t>
            </a:r>
            <a:endParaRPr lang="en-IN" sz="800" i="1" dirty="0" smtClean="0"/>
          </a:p>
        </p:txBody>
      </p:sp>
      <p:sp>
        <p:nvSpPr>
          <p:cNvPr id="92" name="TextBox 91"/>
          <p:cNvSpPr txBox="1"/>
          <p:nvPr/>
        </p:nvSpPr>
        <p:spPr bwMode="gray">
          <a:xfrm>
            <a:off x="3604533" y="4302341"/>
            <a:ext cx="1039091" cy="138546"/>
          </a:xfrm>
          <a:prstGeom prst="rect">
            <a:avLst/>
          </a:prstGeom>
        </p:spPr>
        <p:txBody>
          <a:bodyPr vert="horz" wrap="square" lIns="91440" tIns="45720" rIns="91440" bIns="45720" rtlCol="0" anchor="ctr">
            <a:noAutofit/>
          </a:bodyPr>
          <a:lstStyle/>
          <a:p>
            <a:pPr algn="ctr"/>
            <a:r>
              <a:rPr lang="en-IN" sz="800" i="1" dirty="0" err="1" smtClean="0"/>
              <a:t>Abids</a:t>
            </a:r>
            <a:endParaRPr lang="en-IN" sz="800" i="1" dirty="0" smtClean="0"/>
          </a:p>
        </p:txBody>
      </p:sp>
      <p:sp>
        <p:nvSpPr>
          <p:cNvPr id="93" name="TextBox 92"/>
          <p:cNvSpPr txBox="1"/>
          <p:nvPr/>
        </p:nvSpPr>
        <p:spPr bwMode="gray">
          <a:xfrm>
            <a:off x="3051473" y="3993825"/>
            <a:ext cx="1039091" cy="138546"/>
          </a:xfrm>
          <a:prstGeom prst="rect">
            <a:avLst/>
          </a:prstGeom>
        </p:spPr>
        <p:txBody>
          <a:bodyPr vert="horz" wrap="square" lIns="91440" tIns="45720" rIns="91440" bIns="45720" rtlCol="0" anchor="ctr">
            <a:noAutofit/>
          </a:bodyPr>
          <a:lstStyle/>
          <a:p>
            <a:pPr algn="ctr"/>
            <a:r>
              <a:rPr lang="en-IN" sz="800" i="1" dirty="0" err="1" smtClean="0"/>
              <a:t>Lakdi-ka-Pul</a:t>
            </a:r>
            <a:endParaRPr lang="en-IN" sz="800" i="1" dirty="0" smtClean="0"/>
          </a:p>
        </p:txBody>
      </p:sp>
      <p:sp>
        <p:nvSpPr>
          <p:cNvPr id="95" name="TextBox 94"/>
          <p:cNvSpPr txBox="1"/>
          <p:nvPr/>
        </p:nvSpPr>
        <p:spPr bwMode="gray">
          <a:xfrm>
            <a:off x="5300240" y="4877763"/>
            <a:ext cx="1039091" cy="138546"/>
          </a:xfrm>
          <a:prstGeom prst="rect">
            <a:avLst/>
          </a:prstGeom>
        </p:spPr>
        <p:txBody>
          <a:bodyPr vert="horz" wrap="square" lIns="91440" tIns="45720" rIns="91440" bIns="45720" rtlCol="0" anchor="ctr">
            <a:noAutofit/>
          </a:bodyPr>
          <a:lstStyle/>
          <a:p>
            <a:pPr algn="ctr"/>
            <a:r>
              <a:rPr lang="en-IN" sz="800" i="1" dirty="0" err="1" smtClean="0"/>
              <a:t>Malkapet</a:t>
            </a:r>
            <a:endParaRPr lang="en-IN" sz="800" i="1" dirty="0" smtClean="0"/>
          </a:p>
        </p:txBody>
      </p:sp>
      <p:sp>
        <p:nvSpPr>
          <p:cNvPr id="96" name="TextBox 95"/>
          <p:cNvSpPr txBox="1"/>
          <p:nvPr/>
        </p:nvSpPr>
        <p:spPr bwMode="gray">
          <a:xfrm>
            <a:off x="5300239" y="4563806"/>
            <a:ext cx="1039091" cy="138546"/>
          </a:xfrm>
          <a:prstGeom prst="rect">
            <a:avLst/>
          </a:prstGeom>
        </p:spPr>
        <p:txBody>
          <a:bodyPr vert="horz" wrap="square" lIns="91440" tIns="45720" rIns="91440" bIns="45720" rtlCol="0" anchor="ctr">
            <a:noAutofit/>
          </a:bodyPr>
          <a:lstStyle/>
          <a:p>
            <a:pPr algn="ctr"/>
            <a:r>
              <a:rPr lang="en-IN" sz="800" i="1" dirty="0" err="1" smtClean="0"/>
              <a:t>Dilkushnagar</a:t>
            </a:r>
            <a:endParaRPr lang="en-IN" sz="800" i="1" dirty="0" smtClean="0"/>
          </a:p>
        </p:txBody>
      </p:sp>
      <p:sp>
        <p:nvSpPr>
          <p:cNvPr id="97" name="TextBox 96"/>
          <p:cNvSpPr txBox="1"/>
          <p:nvPr/>
        </p:nvSpPr>
        <p:spPr bwMode="gray">
          <a:xfrm>
            <a:off x="6650797" y="4638698"/>
            <a:ext cx="1039091" cy="138546"/>
          </a:xfrm>
          <a:prstGeom prst="rect">
            <a:avLst/>
          </a:prstGeom>
        </p:spPr>
        <p:txBody>
          <a:bodyPr vert="horz" wrap="square" lIns="91440" tIns="45720" rIns="91440" bIns="45720" rtlCol="0" anchor="ctr">
            <a:noAutofit/>
          </a:bodyPr>
          <a:lstStyle/>
          <a:p>
            <a:pPr algn="ctr"/>
            <a:r>
              <a:rPr lang="en-IN" sz="800" i="1" dirty="0" err="1" smtClean="0"/>
              <a:t>Kothapete</a:t>
            </a:r>
            <a:endParaRPr lang="en-IN" sz="800" i="1" dirty="0" smtClean="0"/>
          </a:p>
        </p:txBody>
      </p:sp>
      <p:sp>
        <p:nvSpPr>
          <p:cNvPr id="98" name="TextBox 97"/>
          <p:cNvSpPr txBox="1"/>
          <p:nvPr/>
        </p:nvSpPr>
        <p:spPr bwMode="gray">
          <a:xfrm>
            <a:off x="1290810" y="2342413"/>
            <a:ext cx="1039091" cy="138546"/>
          </a:xfrm>
          <a:prstGeom prst="rect">
            <a:avLst/>
          </a:prstGeom>
        </p:spPr>
        <p:txBody>
          <a:bodyPr vert="horz" wrap="square" lIns="91440" tIns="45720" rIns="91440" bIns="45720" rtlCol="0" anchor="ctr">
            <a:noAutofit/>
          </a:bodyPr>
          <a:lstStyle/>
          <a:p>
            <a:pPr algn="ctr"/>
            <a:r>
              <a:rPr lang="en-IN" sz="800" i="1" dirty="0" err="1" smtClean="0"/>
              <a:t>Madinaguda</a:t>
            </a:r>
            <a:endParaRPr lang="en-IN" sz="800" i="1" dirty="0" smtClean="0"/>
          </a:p>
        </p:txBody>
      </p:sp>
      <p:sp>
        <p:nvSpPr>
          <p:cNvPr id="99" name="TextBox 98"/>
          <p:cNvSpPr txBox="1"/>
          <p:nvPr/>
        </p:nvSpPr>
        <p:spPr bwMode="gray">
          <a:xfrm>
            <a:off x="5349609" y="1481519"/>
            <a:ext cx="1039091" cy="138546"/>
          </a:xfrm>
          <a:prstGeom prst="rect">
            <a:avLst/>
          </a:prstGeom>
        </p:spPr>
        <p:txBody>
          <a:bodyPr vert="horz" wrap="square" lIns="91440" tIns="45720" rIns="91440" bIns="45720" rtlCol="0" anchor="ctr">
            <a:noAutofit/>
          </a:bodyPr>
          <a:lstStyle/>
          <a:p>
            <a:pPr algn="ctr"/>
            <a:r>
              <a:rPr lang="en-IN" sz="800" i="1" dirty="0" err="1" smtClean="0"/>
              <a:t>Kompally</a:t>
            </a:r>
            <a:endParaRPr lang="en-IN" sz="800" i="1" dirty="0" smtClean="0"/>
          </a:p>
        </p:txBody>
      </p:sp>
      <p:sp>
        <p:nvSpPr>
          <p:cNvPr id="100" name="TextBox 99"/>
          <p:cNvSpPr txBox="1"/>
          <p:nvPr/>
        </p:nvSpPr>
        <p:spPr bwMode="gray">
          <a:xfrm>
            <a:off x="5285213" y="3786492"/>
            <a:ext cx="1039091" cy="138546"/>
          </a:xfrm>
          <a:prstGeom prst="rect">
            <a:avLst/>
          </a:prstGeom>
        </p:spPr>
        <p:txBody>
          <a:bodyPr vert="horz" wrap="square" lIns="91440" tIns="45720" rIns="91440" bIns="45720" rtlCol="0" anchor="ctr">
            <a:noAutofit/>
          </a:bodyPr>
          <a:lstStyle/>
          <a:p>
            <a:pPr algn="ctr"/>
            <a:r>
              <a:rPr lang="en-IN" sz="800" i="1" dirty="0" err="1" smtClean="0"/>
              <a:t>Chikkadpally</a:t>
            </a:r>
            <a:endParaRPr lang="en-IN" sz="800" i="1" dirty="0" smtClean="0"/>
          </a:p>
        </p:txBody>
      </p:sp>
      <p:sp>
        <p:nvSpPr>
          <p:cNvPr id="101" name="TextBox 100"/>
          <p:cNvSpPr txBox="1"/>
          <p:nvPr/>
        </p:nvSpPr>
        <p:spPr bwMode="gray">
          <a:xfrm>
            <a:off x="1305073" y="2988806"/>
            <a:ext cx="1039091" cy="138546"/>
          </a:xfrm>
          <a:prstGeom prst="rect">
            <a:avLst/>
          </a:prstGeom>
        </p:spPr>
        <p:txBody>
          <a:bodyPr vert="horz" wrap="square" lIns="91440" tIns="45720" rIns="91440" bIns="45720" rtlCol="0" anchor="ctr">
            <a:noAutofit/>
          </a:bodyPr>
          <a:lstStyle/>
          <a:p>
            <a:pPr algn="ctr"/>
            <a:r>
              <a:rPr lang="en-IN" sz="800" i="1" dirty="0" err="1" smtClean="0"/>
              <a:t>Kondapur</a:t>
            </a:r>
            <a:endParaRPr lang="en-IN" sz="800" i="1" dirty="0" smtClean="0"/>
          </a:p>
        </p:txBody>
      </p:sp>
      <p:sp>
        <p:nvSpPr>
          <p:cNvPr id="102" name="TextBox 101"/>
          <p:cNvSpPr txBox="1"/>
          <p:nvPr/>
        </p:nvSpPr>
        <p:spPr bwMode="gray">
          <a:xfrm>
            <a:off x="6171120" y="3807605"/>
            <a:ext cx="1039091" cy="138546"/>
          </a:xfrm>
          <a:prstGeom prst="rect">
            <a:avLst/>
          </a:prstGeom>
        </p:spPr>
        <p:txBody>
          <a:bodyPr vert="horz" wrap="square" lIns="91440" tIns="45720" rIns="91440" bIns="45720" rtlCol="0" anchor="ctr">
            <a:noAutofit/>
          </a:bodyPr>
          <a:lstStyle/>
          <a:p>
            <a:pPr algn="ctr"/>
            <a:r>
              <a:rPr lang="en-IN" sz="800" i="1" dirty="0" err="1" smtClean="0"/>
              <a:t>Nallakunta</a:t>
            </a:r>
            <a:endParaRPr lang="en-IN" sz="800" i="1" dirty="0" smtClean="0"/>
          </a:p>
        </p:txBody>
      </p:sp>
      <p:sp>
        <p:nvSpPr>
          <p:cNvPr id="103" name="TextBox 102"/>
          <p:cNvSpPr txBox="1"/>
          <p:nvPr/>
        </p:nvSpPr>
        <p:spPr bwMode="gray">
          <a:xfrm>
            <a:off x="7047898" y="4971404"/>
            <a:ext cx="1039091" cy="138546"/>
          </a:xfrm>
          <a:prstGeom prst="rect">
            <a:avLst/>
          </a:prstGeom>
        </p:spPr>
        <p:txBody>
          <a:bodyPr vert="horz" wrap="square" lIns="91440" tIns="45720" rIns="91440" bIns="45720" rtlCol="0" anchor="ctr">
            <a:noAutofit/>
          </a:bodyPr>
          <a:lstStyle/>
          <a:p>
            <a:pPr algn="ctr"/>
            <a:r>
              <a:rPr lang="en-IN" sz="800" i="1" dirty="0" err="1" smtClean="0"/>
              <a:t>Alkapuri</a:t>
            </a:r>
            <a:endParaRPr lang="en-IN" sz="800" i="1" dirty="0" smtClean="0"/>
          </a:p>
        </p:txBody>
      </p:sp>
      <p:sp>
        <p:nvSpPr>
          <p:cNvPr id="104" name="TextBox 103"/>
          <p:cNvSpPr txBox="1"/>
          <p:nvPr/>
        </p:nvSpPr>
        <p:spPr bwMode="gray">
          <a:xfrm>
            <a:off x="4454635" y="4315030"/>
            <a:ext cx="1039091" cy="138546"/>
          </a:xfrm>
          <a:prstGeom prst="rect">
            <a:avLst/>
          </a:prstGeom>
        </p:spPr>
        <p:txBody>
          <a:bodyPr vert="horz" wrap="square" lIns="91440" tIns="45720" rIns="91440" bIns="45720" rtlCol="0" anchor="ctr">
            <a:noAutofit/>
          </a:bodyPr>
          <a:lstStyle/>
          <a:p>
            <a:pPr algn="ctr"/>
            <a:r>
              <a:rPr lang="en-IN" sz="800" i="1" dirty="0" err="1" smtClean="0"/>
              <a:t>Koti</a:t>
            </a:r>
            <a:endParaRPr lang="en-IN" sz="800" i="1" dirty="0" smtClean="0"/>
          </a:p>
        </p:txBody>
      </p:sp>
      <p:sp>
        <p:nvSpPr>
          <p:cNvPr id="105" name="Oval 104"/>
          <p:cNvSpPr/>
          <p:nvPr/>
        </p:nvSpPr>
        <p:spPr>
          <a:xfrm>
            <a:off x="5707287" y="4218900"/>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6" name="Oval 105"/>
          <p:cNvSpPr/>
          <p:nvPr/>
        </p:nvSpPr>
        <p:spPr>
          <a:xfrm>
            <a:off x="6465062" y="4011082"/>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7" name="Oval 106"/>
          <p:cNvSpPr/>
          <p:nvPr/>
        </p:nvSpPr>
        <p:spPr>
          <a:xfrm>
            <a:off x="6475793" y="4781668"/>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9" name="Oval 108"/>
          <p:cNvSpPr/>
          <p:nvPr/>
        </p:nvSpPr>
        <p:spPr>
          <a:xfrm>
            <a:off x="4850200" y="3190932"/>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0" name="Oval 109"/>
          <p:cNvSpPr/>
          <p:nvPr/>
        </p:nvSpPr>
        <p:spPr>
          <a:xfrm>
            <a:off x="2120085" y="4525667"/>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1" name="Oval 110"/>
          <p:cNvSpPr/>
          <p:nvPr/>
        </p:nvSpPr>
        <p:spPr>
          <a:xfrm>
            <a:off x="4020995" y="3173999"/>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 name="Oval 111"/>
          <p:cNvSpPr/>
          <p:nvPr/>
        </p:nvSpPr>
        <p:spPr>
          <a:xfrm>
            <a:off x="4849582" y="2559392"/>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3" name="Oval 112"/>
          <p:cNvSpPr/>
          <p:nvPr/>
        </p:nvSpPr>
        <p:spPr>
          <a:xfrm>
            <a:off x="7750015" y="3222201"/>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4" name="Oval 113"/>
          <p:cNvSpPr/>
          <p:nvPr/>
        </p:nvSpPr>
        <p:spPr>
          <a:xfrm>
            <a:off x="2496498" y="4008196"/>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5" name="Oval 114"/>
          <p:cNvSpPr/>
          <p:nvPr/>
        </p:nvSpPr>
        <p:spPr>
          <a:xfrm>
            <a:off x="7813329" y="4227318"/>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0" name="Oval 119"/>
          <p:cNvSpPr/>
          <p:nvPr/>
        </p:nvSpPr>
        <p:spPr>
          <a:xfrm>
            <a:off x="7747867" y="3052626"/>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1" name="Oval 120"/>
          <p:cNvSpPr/>
          <p:nvPr/>
        </p:nvSpPr>
        <p:spPr>
          <a:xfrm>
            <a:off x="1513643" y="3219139"/>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2" name="Oval 121"/>
          <p:cNvSpPr/>
          <p:nvPr/>
        </p:nvSpPr>
        <p:spPr>
          <a:xfrm>
            <a:off x="5400207" y="1687485"/>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4" name="Oval 123"/>
          <p:cNvSpPr/>
          <p:nvPr/>
        </p:nvSpPr>
        <p:spPr>
          <a:xfrm>
            <a:off x="7841385" y="2305210"/>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6" name="Oval 125"/>
          <p:cNvSpPr/>
          <p:nvPr/>
        </p:nvSpPr>
        <p:spPr>
          <a:xfrm>
            <a:off x="3089557" y="2054512"/>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7" name="Oval 126"/>
          <p:cNvSpPr/>
          <p:nvPr/>
        </p:nvSpPr>
        <p:spPr>
          <a:xfrm>
            <a:off x="1241036" y="3139717"/>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8" name="Oval 127"/>
          <p:cNvSpPr/>
          <p:nvPr/>
        </p:nvSpPr>
        <p:spPr>
          <a:xfrm>
            <a:off x="1045704" y="3150448"/>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9" name="Oval 128"/>
          <p:cNvSpPr/>
          <p:nvPr/>
        </p:nvSpPr>
        <p:spPr>
          <a:xfrm>
            <a:off x="2939559" y="2043372"/>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3" name="TextBox 122"/>
          <p:cNvSpPr txBox="1"/>
          <p:nvPr/>
        </p:nvSpPr>
        <p:spPr bwMode="gray">
          <a:xfrm>
            <a:off x="238032" y="2718814"/>
            <a:ext cx="1039091" cy="138546"/>
          </a:xfrm>
          <a:prstGeom prst="rect">
            <a:avLst/>
          </a:prstGeom>
        </p:spPr>
        <p:txBody>
          <a:bodyPr vert="horz" wrap="square" lIns="91440" tIns="45720" rIns="91440" bIns="45720" rtlCol="0" anchor="ctr">
            <a:noAutofit/>
          </a:bodyPr>
          <a:lstStyle/>
          <a:p>
            <a:pPr algn="ctr"/>
            <a:r>
              <a:rPr lang="en-IN" sz="800" i="1" dirty="0" err="1" smtClean="0"/>
              <a:t>Nallagandla</a:t>
            </a:r>
            <a:endParaRPr lang="en-IN" sz="800" i="1" dirty="0" smtClean="0"/>
          </a:p>
        </p:txBody>
      </p:sp>
      <p:sp>
        <p:nvSpPr>
          <p:cNvPr id="125" name="TextBox 124"/>
          <p:cNvSpPr txBox="1"/>
          <p:nvPr/>
        </p:nvSpPr>
        <p:spPr bwMode="gray">
          <a:xfrm>
            <a:off x="713195" y="2500311"/>
            <a:ext cx="1039091" cy="138546"/>
          </a:xfrm>
          <a:prstGeom prst="rect">
            <a:avLst/>
          </a:prstGeom>
        </p:spPr>
        <p:txBody>
          <a:bodyPr vert="horz" wrap="square" lIns="91440" tIns="45720" rIns="91440" bIns="45720" rtlCol="0" anchor="ctr">
            <a:noAutofit/>
          </a:bodyPr>
          <a:lstStyle/>
          <a:p>
            <a:pPr algn="ctr"/>
            <a:r>
              <a:rPr lang="en-IN" sz="800" i="1" dirty="0" smtClean="0"/>
              <a:t>CUC</a:t>
            </a:r>
          </a:p>
        </p:txBody>
      </p:sp>
      <p:sp>
        <p:nvSpPr>
          <p:cNvPr id="131" name="TextBox 130"/>
          <p:cNvSpPr txBox="1"/>
          <p:nvPr/>
        </p:nvSpPr>
        <p:spPr bwMode="gray">
          <a:xfrm>
            <a:off x="1644444" y="2808940"/>
            <a:ext cx="1039091" cy="138546"/>
          </a:xfrm>
          <a:prstGeom prst="rect">
            <a:avLst/>
          </a:prstGeom>
        </p:spPr>
        <p:txBody>
          <a:bodyPr vert="horz" wrap="square" lIns="91440" tIns="45720" rIns="91440" bIns="45720" rtlCol="0" anchor="ctr">
            <a:noAutofit/>
          </a:bodyPr>
          <a:lstStyle/>
          <a:p>
            <a:pPr algn="ctr"/>
            <a:r>
              <a:rPr lang="en-IN" sz="800" i="1" dirty="0" err="1" smtClean="0"/>
              <a:t>Kothaguda</a:t>
            </a:r>
            <a:endParaRPr lang="en-IN" sz="800" i="1" dirty="0" smtClean="0"/>
          </a:p>
        </p:txBody>
      </p:sp>
      <p:sp>
        <p:nvSpPr>
          <p:cNvPr id="132" name="TextBox 131"/>
          <p:cNvSpPr txBox="1"/>
          <p:nvPr/>
        </p:nvSpPr>
        <p:spPr bwMode="gray">
          <a:xfrm>
            <a:off x="1873946" y="3207513"/>
            <a:ext cx="1039091" cy="138546"/>
          </a:xfrm>
          <a:prstGeom prst="rect">
            <a:avLst/>
          </a:prstGeom>
        </p:spPr>
        <p:txBody>
          <a:bodyPr vert="horz" wrap="square" lIns="91440" tIns="45720" rIns="91440" bIns="45720" rtlCol="0" anchor="ctr">
            <a:noAutofit/>
          </a:bodyPr>
          <a:lstStyle/>
          <a:p>
            <a:pPr algn="ctr"/>
            <a:r>
              <a:rPr lang="en-IN" sz="800" i="1" dirty="0" err="1" smtClean="0"/>
              <a:t>Jawahar</a:t>
            </a:r>
            <a:r>
              <a:rPr lang="en-IN" sz="800" i="1" dirty="0" smtClean="0"/>
              <a:t> Nagar</a:t>
            </a:r>
          </a:p>
        </p:txBody>
      </p:sp>
      <p:sp>
        <p:nvSpPr>
          <p:cNvPr id="133" name="TextBox 132"/>
          <p:cNvSpPr txBox="1"/>
          <p:nvPr/>
        </p:nvSpPr>
        <p:spPr bwMode="gray">
          <a:xfrm>
            <a:off x="244738" y="4191675"/>
            <a:ext cx="1039091" cy="138546"/>
          </a:xfrm>
          <a:prstGeom prst="rect">
            <a:avLst/>
          </a:prstGeom>
        </p:spPr>
        <p:txBody>
          <a:bodyPr vert="horz" wrap="square" lIns="91440" tIns="45720" rIns="91440" bIns="45720" rtlCol="0" anchor="ctr">
            <a:noAutofit/>
          </a:bodyPr>
          <a:lstStyle/>
          <a:p>
            <a:pPr algn="ctr"/>
            <a:r>
              <a:rPr lang="en-IN" sz="800" i="1" dirty="0" smtClean="0"/>
              <a:t>Osman Nagar</a:t>
            </a:r>
          </a:p>
        </p:txBody>
      </p:sp>
      <p:sp>
        <p:nvSpPr>
          <p:cNvPr id="134" name="TextBox 133"/>
          <p:cNvSpPr txBox="1"/>
          <p:nvPr/>
        </p:nvSpPr>
        <p:spPr bwMode="gray">
          <a:xfrm>
            <a:off x="563453" y="3900938"/>
            <a:ext cx="1039091" cy="138546"/>
          </a:xfrm>
          <a:prstGeom prst="rect">
            <a:avLst/>
          </a:prstGeom>
        </p:spPr>
        <p:txBody>
          <a:bodyPr vert="horz" wrap="square" lIns="91440" tIns="45720" rIns="91440" bIns="45720" rtlCol="0" anchor="ctr">
            <a:noAutofit/>
          </a:bodyPr>
          <a:lstStyle/>
          <a:p>
            <a:pPr algn="ctr"/>
            <a:r>
              <a:rPr lang="en-IN" sz="800" i="1" dirty="0" err="1" smtClean="0"/>
              <a:t>Manikonda</a:t>
            </a:r>
            <a:endParaRPr lang="en-IN" sz="800" i="1" dirty="0" smtClean="0"/>
          </a:p>
        </p:txBody>
      </p:sp>
      <p:sp>
        <p:nvSpPr>
          <p:cNvPr id="135" name="TextBox 134"/>
          <p:cNvSpPr txBox="1"/>
          <p:nvPr/>
        </p:nvSpPr>
        <p:spPr bwMode="gray">
          <a:xfrm>
            <a:off x="660035" y="4466832"/>
            <a:ext cx="1039091" cy="138546"/>
          </a:xfrm>
          <a:prstGeom prst="rect">
            <a:avLst/>
          </a:prstGeom>
        </p:spPr>
        <p:txBody>
          <a:bodyPr vert="horz" wrap="square" lIns="91440" tIns="45720" rIns="91440" bIns="45720" rtlCol="0" anchor="ctr">
            <a:noAutofit/>
          </a:bodyPr>
          <a:lstStyle/>
          <a:p>
            <a:pPr algn="ctr"/>
            <a:r>
              <a:rPr lang="en-IN" sz="800" i="1" dirty="0" smtClean="0"/>
              <a:t>Army Golf Course</a:t>
            </a:r>
          </a:p>
        </p:txBody>
      </p:sp>
      <p:sp>
        <p:nvSpPr>
          <p:cNvPr id="136" name="TextBox 135"/>
          <p:cNvSpPr txBox="1"/>
          <p:nvPr/>
        </p:nvSpPr>
        <p:spPr bwMode="gray">
          <a:xfrm>
            <a:off x="469936" y="5211467"/>
            <a:ext cx="1039091" cy="138546"/>
          </a:xfrm>
          <a:prstGeom prst="rect">
            <a:avLst/>
          </a:prstGeom>
        </p:spPr>
        <p:txBody>
          <a:bodyPr vert="horz" wrap="square" lIns="91440" tIns="45720" rIns="91440" bIns="45720" rtlCol="0" anchor="ctr">
            <a:noAutofit/>
          </a:bodyPr>
          <a:lstStyle/>
          <a:p>
            <a:pPr algn="ctr"/>
            <a:r>
              <a:rPr lang="en-IN" sz="800" i="1" dirty="0" err="1" smtClean="0"/>
              <a:t>Himayathsagar</a:t>
            </a:r>
            <a:endParaRPr lang="en-IN" sz="800" i="1" dirty="0" smtClean="0"/>
          </a:p>
        </p:txBody>
      </p:sp>
      <p:sp>
        <p:nvSpPr>
          <p:cNvPr id="137" name="TextBox 136"/>
          <p:cNvSpPr txBox="1"/>
          <p:nvPr/>
        </p:nvSpPr>
        <p:spPr bwMode="gray">
          <a:xfrm>
            <a:off x="1034239" y="4949999"/>
            <a:ext cx="1039091" cy="138546"/>
          </a:xfrm>
          <a:prstGeom prst="rect">
            <a:avLst/>
          </a:prstGeom>
        </p:spPr>
        <p:txBody>
          <a:bodyPr vert="horz" wrap="square" lIns="91440" tIns="45720" rIns="91440" bIns="45720" rtlCol="0" anchor="ctr">
            <a:noAutofit/>
          </a:bodyPr>
          <a:lstStyle/>
          <a:p>
            <a:pPr algn="ctr"/>
            <a:r>
              <a:rPr lang="en-IN" sz="800" i="1" dirty="0" err="1" smtClean="0"/>
              <a:t>Bandlaguda</a:t>
            </a:r>
            <a:endParaRPr lang="en-IN" sz="800" i="1" dirty="0" smtClean="0"/>
          </a:p>
        </p:txBody>
      </p:sp>
      <p:sp>
        <p:nvSpPr>
          <p:cNvPr id="138" name="TextBox 137"/>
          <p:cNvSpPr txBox="1"/>
          <p:nvPr/>
        </p:nvSpPr>
        <p:spPr bwMode="gray">
          <a:xfrm>
            <a:off x="1589371" y="5099711"/>
            <a:ext cx="1039091" cy="138546"/>
          </a:xfrm>
          <a:prstGeom prst="rect">
            <a:avLst/>
          </a:prstGeom>
        </p:spPr>
        <p:txBody>
          <a:bodyPr vert="horz" wrap="square" lIns="91440" tIns="45720" rIns="91440" bIns="45720" rtlCol="0" anchor="ctr">
            <a:noAutofit/>
          </a:bodyPr>
          <a:lstStyle/>
          <a:p>
            <a:pPr algn="ctr"/>
            <a:r>
              <a:rPr lang="en-IN" sz="800" i="1" dirty="0" err="1" smtClean="0"/>
              <a:t>Padmasri</a:t>
            </a:r>
            <a:r>
              <a:rPr lang="en-IN" sz="800" i="1" dirty="0" smtClean="0"/>
              <a:t> Estates</a:t>
            </a:r>
          </a:p>
        </p:txBody>
      </p:sp>
      <p:sp>
        <p:nvSpPr>
          <p:cNvPr id="139" name="TextBox 138"/>
          <p:cNvSpPr txBox="1"/>
          <p:nvPr/>
        </p:nvSpPr>
        <p:spPr bwMode="gray">
          <a:xfrm>
            <a:off x="1677629" y="5472758"/>
            <a:ext cx="1039091" cy="138546"/>
          </a:xfrm>
          <a:prstGeom prst="rect">
            <a:avLst/>
          </a:prstGeom>
        </p:spPr>
        <p:txBody>
          <a:bodyPr vert="horz" wrap="square" lIns="91440" tIns="45720" rIns="91440" bIns="45720" rtlCol="0" anchor="ctr">
            <a:noAutofit/>
          </a:bodyPr>
          <a:lstStyle/>
          <a:p>
            <a:pPr algn="ctr"/>
            <a:r>
              <a:rPr lang="en-IN" sz="800" i="1" dirty="0" err="1" smtClean="0"/>
              <a:t>Kismatpur</a:t>
            </a:r>
            <a:endParaRPr lang="en-IN" sz="800" i="1" dirty="0" smtClean="0"/>
          </a:p>
        </p:txBody>
      </p:sp>
      <p:sp>
        <p:nvSpPr>
          <p:cNvPr id="140" name="TextBox 139"/>
          <p:cNvSpPr txBox="1"/>
          <p:nvPr/>
        </p:nvSpPr>
        <p:spPr bwMode="gray">
          <a:xfrm>
            <a:off x="2683535" y="4970080"/>
            <a:ext cx="1039091" cy="138546"/>
          </a:xfrm>
          <a:prstGeom prst="rect">
            <a:avLst/>
          </a:prstGeom>
        </p:spPr>
        <p:txBody>
          <a:bodyPr vert="horz" wrap="square" lIns="91440" tIns="45720" rIns="91440" bIns="45720" rtlCol="0" anchor="ctr">
            <a:noAutofit/>
          </a:bodyPr>
          <a:lstStyle/>
          <a:p>
            <a:pPr algn="ctr"/>
            <a:r>
              <a:rPr lang="en-IN" sz="800" i="1" dirty="0" smtClean="0"/>
              <a:t>Nehru Zoological Park</a:t>
            </a:r>
          </a:p>
        </p:txBody>
      </p:sp>
      <p:sp>
        <p:nvSpPr>
          <p:cNvPr id="141" name="TextBox 140"/>
          <p:cNvSpPr txBox="1"/>
          <p:nvPr/>
        </p:nvSpPr>
        <p:spPr bwMode="gray">
          <a:xfrm>
            <a:off x="2835242" y="5408440"/>
            <a:ext cx="1039091" cy="138546"/>
          </a:xfrm>
          <a:prstGeom prst="rect">
            <a:avLst/>
          </a:prstGeom>
        </p:spPr>
        <p:txBody>
          <a:bodyPr vert="horz" wrap="square" lIns="91440" tIns="45720" rIns="91440" bIns="45720" rtlCol="0" anchor="ctr">
            <a:noAutofit/>
          </a:bodyPr>
          <a:lstStyle/>
          <a:p>
            <a:pPr algn="ctr"/>
            <a:r>
              <a:rPr lang="en-IN" sz="800" i="1" dirty="0" err="1" smtClean="0"/>
              <a:t>Sivarampalli</a:t>
            </a:r>
            <a:endParaRPr lang="en-IN" sz="800" i="1" dirty="0" smtClean="0"/>
          </a:p>
        </p:txBody>
      </p:sp>
      <p:sp>
        <p:nvSpPr>
          <p:cNvPr id="142" name="TextBox 141"/>
          <p:cNvSpPr txBox="1"/>
          <p:nvPr/>
        </p:nvSpPr>
        <p:spPr bwMode="gray">
          <a:xfrm>
            <a:off x="2683534" y="5753219"/>
            <a:ext cx="1039091" cy="138546"/>
          </a:xfrm>
          <a:prstGeom prst="rect">
            <a:avLst/>
          </a:prstGeom>
        </p:spPr>
        <p:txBody>
          <a:bodyPr vert="horz" wrap="square" lIns="91440" tIns="45720" rIns="91440" bIns="45720" rtlCol="0" anchor="ctr">
            <a:noAutofit/>
          </a:bodyPr>
          <a:lstStyle/>
          <a:p>
            <a:pPr algn="ctr"/>
            <a:r>
              <a:rPr lang="en-IN" sz="800" i="1" dirty="0" err="1" smtClean="0"/>
              <a:t>Gagan</a:t>
            </a:r>
            <a:r>
              <a:rPr lang="en-IN" sz="800" i="1" dirty="0" smtClean="0"/>
              <a:t> </a:t>
            </a:r>
            <a:r>
              <a:rPr lang="en-IN" sz="800" i="1" dirty="0" err="1" smtClean="0"/>
              <a:t>Pahad</a:t>
            </a:r>
            <a:endParaRPr lang="en-IN" sz="800" i="1" dirty="0" smtClean="0"/>
          </a:p>
        </p:txBody>
      </p:sp>
      <p:sp>
        <p:nvSpPr>
          <p:cNvPr id="143" name="TextBox 142"/>
          <p:cNvSpPr txBox="1"/>
          <p:nvPr/>
        </p:nvSpPr>
        <p:spPr bwMode="gray">
          <a:xfrm>
            <a:off x="2860736" y="4504983"/>
            <a:ext cx="1039091" cy="138546"/>
          </a:xfrm>
          <a:prstGeom prst="rect">
            <a:avLst/>
          </a:prstGeom>
        </p:spPr>
        <p:txBody>
          <a:bodyPr vert="horz" wrap="square" lIns="91440" tIns="45720" rIns="91440" bIns="45720" rtlCol="0" anchor="ctr">
            <a:noAutofit/>
          </a:bodyPr>
          <a:lstStyle/>
          <a:p>
            <a:pPr algn="ctr"/>
            <a:r>
              <a:rPr lang="en-IN" sz="800" i="1" dirty="0" err="1" smtClean="0"/>
              <a:t>Karwan</a:t>
            </a:r>
            <a:endParaRPr lang="en-IN" sz="800" i="1" dirty="0" smtClean="0"/>
          </a:p>
        </p:txBody>
      </p:sp>
      <p:sp>
        <p:nvSpPr>
          <p:cNvPr id="144" name="TextBox 143"/>
          <p:cNvSpPr txBox="1"/>
          <p:nvPr/>
        </p:nvSpPr>
        <p:spPr bwMode="gray">
          <a:xfrm>
            <a:off x="4218182" y="4660805"/>
            <a:ext cx="1039091" cy="138546"/>
          </a:xfrm>
          <a:prstGeom prst="rect">
            <a:avLst/>
          </a:prstGeom>
        </p:spPr>
        <p:txBody>
          <a:bodyPr vert="horz" wrap="square" lIns="91440" tIns="45720" rIns="91440" bIns="45720" rtlCol="0" anchor="ctr">
            <a:noAutofit/>
          </a:bodyPr>
          <a:lstStyle/>
          <a:p>
            <a:pPr algn="ctr"/>
            <a:r>
              <a:rPr lang="en-IN" sz="800" i="1" dirty="0" err="1" smtClean="0"/>
              <a:t>CharMinar</a:t>
            </a:r>
            <a:endParaRPr lang="en-IN" sz="800" i="1" dirty="0" smtClean="0"/>
          </a:p>
        </p:txBody>
      </p:sp>
      <p:sp>
        <p:nvSpPr>
          <p:cNvPr id="145" name="TextBox 144"/>
          <p:cNvSpPr txBox="1"/>
          <p:nvPr/>
        </p:nvSpPr>
        <p:spPr bwMode="gray">
          <a:xfrm>
            <a:off x="4587411" y="4514434"/>
            <a:ext cx="1039091" cy="138546"/>
          </a:xfrm>
          <a:prstGeom prst="rect">
            <a:avLst/>
          </a:prstGeom>
        </p:spPr>
        <p:txBody>
          <a:bodyPr vert="horz" wrap="square" lIns="91440" tIns="45720" rIns="91440" bIns="45720" rtlCol="0" anchor="ctr">
            <a:noAutofit/>
          </a:bodyPr>
          <a:lstStyle/>
          <a:p>
            <a:pPr algn="ctr"/>
            <a:r>
              <a:rPr lang="en-IN" sz="800" i="1" dirty="0" err="1" smtClean="0"/>
              <a:t>Malakpet</a:t>
            </a:r>
            <a:endParaRPr lang="en-IN" sz="800" i="1" dirty="0" smtClean="0"/>
          </a:p>
        </p:txBody>
      </p:sp>
      <p:sp>
        <p:nvSpPr>
          <p:cNvPr id="146" name="TextBox 145"/>
          <p:cNvSpPr txBox="1"/>
          <p:nvPr/>
        </p:nvSpPr>
        <p:spPr bwMode="gray">
          <a:xfrm>
            <a:off x="3571019" y="5149214"/>
            <a:ext cx="1039091" cy="138546"/>
          </a:xfrm>
          <a:prstGeom prst="rect">
            <a:avLst/>
          </a:prstGeom>
        </p:spPr>
        <p:txBody>
          <a:bodyPr vert="horz" wrap="square" lIns="91440" tIns="45720" rIns="91440" bIns="45720" rtlCol="0" anchor="ctr">
            <a:noAutofit/>
          </a:bodyPr>
          <a:lstStyle/>
          <a:p>
            <a:pPr algn="ctr"/>
            <a:r>
              <a:rPr lang="en-IN" sz="800" i="1" dirty="0" smtClean="0"/>
              <a:t>Murad Nagar</a:t>
            </a:r>
          </a:p>
        </p:txBody>
      </p:sp>
      <p:sp>
        <p:nvSpPr>
          <p:cNvPr id="147" name="TextBox 146"/>
          <p:cNvSpPr txBox="1"/>
          <p:nvPr/>
        </p:nvSpPr>
        <p:spPr bwMode="gray">
          <a:xfrm>
            <a:off x="3851885" y="5735712"/>
            <a:ext cx="1039091" cy="138546"/>
          </a:xfrm>
          <a:prstGeom prst="rect">
            <a:avLst/>
          </a:prstGeom>
        </p:spPr>
        <p:txBody>
          <a:bodyPr vert="horz" wrap="square" lIns="91440" tIns="45720" rIns="91440" bIns="45720" rtlCol="0" anchor="ctr">
            <a:noAutofit/>
          </a:bodyPr>
          <a:lstStyle/>
          <a:p>
            <a:pPr algn="ctr"/>
            <a:r>
              <a:rPr lang="en-IN" sz="800" i="1" dirty="0" err="1" smtClean="0"/>
              <a:t>Kamaguda</a:t>
            </a:r>
            <a:endParaRPr lang="en-IN" sz="800" i="1" dirty="0" smtClean="0"/>
          </a:p>
        </p:txBody>
      </p:sp>
      <p:sp>
        <p:nvSpPr>
          <p:cNvPr id="148" name="TextBox 147"/>
          <p:cNvSpPr txBox="1"/>
          <p:nvPr/>
        </p:nvSpPr>
        <p:spPr bwMode="gray">
          <a:xfrm>
            <a:off x="3808498" y="5497522"/>
            <a:ext cx="1039091" cy="138546"/>
          </a:xfrm>
          <a:prstGeom prst="rect">
            <a:avLst/>
          </a:prstGeom>
        </p:spPr>
        <p:txBody>
          <a:bodyPr vert="horz" wrap="square" lIns="91440" tIns="45720" rIns="91440" bIns="45720" rtlCol="0" anchor="ctr">
            <a:noAutofit/>
          </a:bodyPr>
          <a:lstStyle/>
          <a:p>
            <a:pPr algn="ctr"/>
            <a:r>
              <a:rPr lang="en-IN" sz="800" i="1" dirty="0" err="1" smtClean="0"/>
              <a:t>Falaknuma</a:t>
            </a:r>
            <a:endParaRPr lang="en-IN" sz="800" i="1" dirty="0" smtClean="0"/>
          </a:p>
        </p:txBody>
      </p:sp>
      <p:sp>
        <p:nvSpPr>
          <p:cNvPr id="149" name="TextBox 148"/>
          <p:cNvSpPr txBox="1"/>
          <p:nvPr/>
        </p:nvSpPr>
        <p:spPr bwMode="gray">
          <a:xfrm>
            <a:off x="3585870" y="4763032"/>
            <a:ext cx="1039091" cy="138546"/>
          </a:xfrm>
          <a:prstGeom prst="rect">
            <a:avLst/>
          </a:prstGeom>
        </p:spPr>
        <p:txBody>
          <a:bodyPr vert="horz" wrap="square" lIns="91440" tIns="45720" rIns="91440" bIns="45720" rtlCol="0" anchor="ctr">
            <a:noAutofit/>
          </a:bodyPr>
          <a:lstStyle/>
          <a:p>
            <a:pPr algn="ctr"/>
            <a:r>
              <a:rPr lang="en-IN" sz="800" i="1" dirty="0" smtClean="0"/>
              <a:t>High Court</a:t>
            </a:r>
          </a:p>
        </p:txBody>
      </p:sp>
      <p:sp>
        <p:nvSpPr>
          <p:cNvPr id="150" name="TextBox 149"/>
          <p:cNvSpPr txBox="1"/>
          <p:nvPr/>
        </p:nvSpPr>
        <p:spPr bwMode="gray">
          <a:xfrm>
            <a:off x="3263243" y="3579380"/>
            <a:ext cx="1039091" cy="138546"/>
          </a:xfrm>
          <a:prstGeom prst="rect">
            <a:avLst/>
          </a:prstGeom>
        </p:spPr>
        <p:txBody>
          <a:bodyPr vert="horz" wrap="square" lIns="91440" tIns="45720" rIns="91440" bIns="45720" rtlCol="0" anchor="ctr">
            <a:noAutofit/>
          </a:bodyPr>
          <a:lstStyle/>
          <a:p>
            <a:pPr algn="ctr"/>
            <a:r>
              <a:rPr lang="en-IN" sz="800" i="1" dirty="0" err="1" smtClean="0"/>
              <a:t>Khairatabad</a:t>
            </a:r>
            <a:endParaRPr lang="en-IN" sz="800" i="1" dirty="0" smtClean="0"/>
          </a:p>
        </p:txBody>
      </p:sp>
      <p:sp>
        <p:nvSpPr>
          <p:cNvPr id="152" name="TextBox 151"/>
          <p:cNvSpPr txBox="1"/>
          <p:nvPr/>
        </p:nvSpPr>
        <p:spPr bwMode="gray">
          <a:xfrm>
            <a:off x="3632831" y="3900662"/>
            <a:ext cx="1039091" cy="138546"/>
          </a:xfrm>
          <a:prstGeom prst="rect">
            <a:avLst/>
          </a:prstGeom>
        </p:spPr>
        <p:txBody>
          <a:bodyPr vert="horz" wrap="square" lIns="91440" tIns="45720" rIns="91440" bIns="45720" rtlCol="0" anchor="ctr">
            <a:noAutofit/>
          </a:bodyPr>
          <a:lstStyle/>
          <a:p>
            <a:pPr algn="ctr"/>
            <a:r>
              <a:rPr lang="en-IN" sz="800" i="1" dirty="0" smtClean="0"/>
              <a:t>Hill Fort Road</a:t>
            </a:r>
          </a:p>
        </p:txBody>
      </p:sp>
      <p:sp>
        <p:nvSpPr>
          <p:cNvPr id="153" name="TextBox 152"/>
          <p:cNvSpPr txBox="1"/>
          <p:nvPr/>
        </p:nvSpPr>
        <p:spPr bwMode="gray">
          <a:xfrm>
            <a:off x="3581166" y="2620826"/>
            <a:ext cx="1039091" cy="138546"/>
          </a:xfrm>
          <a:prstGeom prst="rect">
            <a:avLst/>
          </a:prstGeom>
        </p:spPr>
        <p:txBody>
          <a:bodyPr vert="horz" wrap="square" lIns="91440" tIns="45720" rIns="91440" bIns="45720" rtlCol="0" anchor="ctr">
            <a:noAutofit/>
          </a:bodyPr>
          <a:lstStyle/>
          <a:p>
            <a:pPr algn="ctr"/>
            <a:r>
              <a:rPr lang="en-IN" sz="800" i="1" dirty="0" err="1" smtClean="0"/>
              <a:t>Bowenpally</a:t>
            </a:r>
            <a:endParaRPr lang="en-IN" sz="800" i="1" dirty="0" smtClean="0"/>
          </a:p>
        </p:txBody>
      </p:sp>
      <p:sp>
        <p:nvSpPr>
          <p:cNvPr id="154" name="TextBox 153"/>
          <p:cNvSpPr txBox="1"/>
          <p:nvPr/>
        </p:nvSpPr>
        <p:spPr bwMode="gray">
          <a:xfrm>
            <a:off x="3605216" y="2360459"/>
            <a:ext cx="1039091" cy="138546"/>
          </a:xfrm>
          <a:prstGeom prst="rect">
            <a:avLst/>
          </a:prstGeom>
        </p:spPr>
        <p:txBody>
          <a:bodyPr vert="horz" wrap="square" lIns="91440" tIns="45720" rIns="91440" bIns="45720" rtlCol="0" anchor="ctr">
            <a:noAutofit/>
          </a:bodyPr>
          <a:lstStyle/>
          <a:p>
            <a:pPr algn="ctr"/>
            <a:r>
              <a:rPr lang="en-IN" sz="800" i="1" dirty="0" smtClean="0"/>
              <a:t>HAL</a:t>
            </a:r>
          </a:p>
        </p:txBody>
      </p:sp>
      <p:sp>
        <p:nvSpPr>
          <p:cNvPr id="155" name="TextBox 154"/>
          <p:cNvSpPr txBox="1"/>
          <p:nvPr/>
        </p:nvSpPr>
        <p:spPr bwMode="gray">
          <a:xfrm>
            <a:off x="4681516" y="1870176"/>
            <a:ext cx="1039091" cy="138546"/>
          </a:xfrm>
          <a:prstGeom prst="rect">
            <a:avLst/>
          </a:prstGeom>
        </p:spPr>
        <p:txBody>
          <a:bodyPr vert="horz" wrap="square" lIns="91440" tIns="45720" rIns="91440" bIns="45720" rtlCol="0" anchor="ctr">
            <a:noAutofit/>
          </a:bodyPr>
          <a:lstStyle/>
          <a:p>
            <a:pPr algn="ctr"/>
            <a:r>
              <a:rPr lang="en-IN" sz="800" i="1" dirty="0" err="1" smtClean="0"/>
              <a:t>Alwal</a:t>
            </a:r>
            <a:endParaRPr lang="en-IN" sz="800" i="1" dirty="0" smtClean="0"/>
          </a:p>
        </p:txBody>
      </p:sp>
      <p:sp>
        <p:nvSpPr>
          <p:cNvPr id="156" name="TextBox 155"/>
          <p:cNvSpPr txBox="1"/>
          <p:nvPr/>
        </p:nvSpPr>
        <p:spPr bwMode="gray">
          <a:xfrm>
            <a:off x="3650664" y="1594118"/>
            <a:ext cx="1039091" cy="138546"/>
          </a:xfrm>
          <a:prstGeom prst="rect">
            <a:avLst/>
          </a:prstGeom>
        </p:spPr>
        <p:txBody>
          <a:bodyPr vert="horz" wrap="square" lIns="91440" tIns="45720" rIns="91440" bIns="45720" rtlCol="0" anchor="ctr">
            <a:noAutofit/>
          </a:bodyPr>
          <a:lstStyle/>
          <a:p>
            <a:pPr algn="ctr"/>
            <a:r>
              <a:rPr lang="en-IN" sz="800" i="1" dirty="0" err="1" smtClean="0"/>
              <a:t>Doolapally</a:t>
            </a:r>
            <a:endParaRPr lang="en-IN" sz="800" i="1" dirty="0" smtClean="0"/>
          </a:p>
        </p:txBody>
      </p:sp>
      <p:sp>
        <p:nvSpPr>
          <p:cNvPr id="157" name="TextBox 156"/>
          <p:cNvSpPr txBox="1"/>
          <p:nvPr/>
        </p:nvSpPr>
        <p:spPr bwMode="gray">
          <a:xfrm>
            <a:off x="5257273" y="2752520"/>
            <a:ext cx="1039091" cy="138546"/>
          </a:xfrm>
          <a:prstGeom prst="rect">
            <a:avLst/>
          </a:prstGeom>
        </p:spPr>
        <p:txBody>
          <a:bodyPr vert="horz" wrap="square" lIns="91440" tIns="45720" rIns="91440" bIns="45720" rtlCol="0" anchor="ctr">
            <a:noAutofit/>
          </a:bodyPr>
          <a:lstStyle/>
          <a:p>
            <a:pPr algn="ctr"/>
            <a:r>
              <a:rPr lang="en-IN" sz="800" i="1" dirty="0" smtClean="0"/>
              <a:t>Nehru Nagar</a:t>
            </a:r>
          </a:p>
        </p:txBody>
      </p:sp>
      <p:sp>
        <p:nvSpPr>
          <p:cNvPr id="158" name="TextBox 157"/>
          <p:cNvSpPr txBox="1"/>
          <p:nvPr/>
        </p:nvSpPr>
        <p:spPr bwMode="gray">
          <a:xfrm>
            <a:off x="5655428" y="2447763"/>
            <a:ext cx="1039091" cy="138546"/>
          </a:xfrm>
          <a:prstGeom prst="rect">
            <a:avLst/>
          </a:prstGeom>
        </p:spPr>
        <p:txBody>
          <a:bodyPr vert="horz" wrap="square" lIns="91440" tIns="45720" rIns="91440" bIns="45720" rtlCol="0" anchor="ctr">
            <a:noAutofit/>
          </a:bodyPr>
          <a:lstStyle/>
          <a:p>
            <a:pPr algn="ctr"/>
            <a:r>
              <a:rPr lang="en-IN" sz="800" i="1" dirty="0" err="1" smtClean="0"/>
              <a:t>Anantram</a:t>
            </a:r>
            <a:endParaRPr lang="en-IN" sz="800" i="1" dirty="0" smtClean="0"/>
          </a:p>
        </p:txBody>
      </p:sp>
      <p:sp>
        <p:nvSpPr>
          <p:cNvPr id="159" name="TextBox 158"/>
          <p:cNvSpPr txBox="1"/>
          <p:nvPr/>
        </p:nvSpPr>
        <p:spPr bwMode="gray">
          <a:xfrm>
            <a:off x="6049765" y="3127875"/>
            <a:ext cx="1039091" cy="138546"/>
          </a:xfrm>
          <a:prstGeom prst="rect">
            <a:avLst/>
          </a:prstGeom>
        </p:spPr>
        <p:txBody>
          <a:bodyPr vert="horz" wrap="square" lIns="91440" tIns="45720" rIns="91440" bIns="45720" rtlCol="0" anchor="ctr">
            <a:noAutofit/>
          </a:bodyPr>
          <a:lstStyle/>
          <a:p>
            <a:pPr algn="ctr"/>
            <a:r>
              <a:rPr lang="en-IN" sz="800" i="1" dirty="0" err="1" smtClean="0"/>
              <a:t>Sitaphalmandi</a:t>
            </a:r>
            <a:endParaRPr lang="en-IN" sz="800" i="1" dirty="0" smtClean="0"/>
          </a:p>
        </p:txBody>
      </p:sp>
      <p:sp>
        <p:nvSpPr>
          <p:cNvPr id="160" name="TextBox 159"/>
          <p:cNvSpPr txBox="1"/>
          <p:nvPr/>
        </p:nvSpPr>
        <p:spPr bwMode="gray">
          <a:xfrm>
            <a:off x="5443008" y="3511051"/>
            <a:ext cx="1039091" cy="138546"/>
          </a:xfrm>
          <a:prstGeom prst="rect">
            <a:avLst/>
          </a:prstGeom>
        </p:spPr>
        <p:txBody>
          <a:bodyPr vert="horz" wrap="square" lIns="91440" tIns="45720" rIns="91440" bIns="45720" rtlCol="0" anchor="ctr">
            <a:noAutofit/>
          </a:bodyPr>
          <a:lstStyle/>
          <a:p>
            <a:pPr algn="ctr"/>
            <a:r>
              <a:rPr lang="en-IN" sz="800" i="1" dirty="0" err="1" smtClean="0"/>
              <a:t>Bhoiguda</a:t>
            </a:r>
            <a:r>
              <a:rPr lang="en-IN" sz="800" i="1" dirty="0" smtClean="0"/>
              <a:t> Road</a:t>
            </a:r>
          </a:p>
        </p:txBody>
      </p:sp>
      <p:sp>
        <p:nvSpPr>
          <p:cNvPr id="161" name="TextBox 160"/>
          <p:cNvSpPr txBox="1"/>
          <p:nvPr/>
        </p:nvSpPr>
        <p:spPr bwMode="gray">
          <a:xfrm>
            <a:off x="6875347" y="3383409"/>
            <a:ext cx="1039091" cy="138546"/>
          </a:xfrm>
          <a:prstGeom prst="rect">
            <a:avLst/>
          </a:prstGeom>
        </p:spPr>
        <p:txBody>
          <a:bodyPr vert="horz" wrap="square" lIns="91440" tIns="45720" rIns="91440" bIns="45720" rtlCol="0" anchor="ctr">
            <a:noAutofit/>
          </a:bodyPr>
          <a:lstStyle/>
          <a:p>
            <a:pPr algn="ctr"/>
            <a:r>
              <a:rPr lang="en-IN" sz="800" i="1" dirty="0" smtClean="0"/>
              <a:t>Railway Workshop</a:t>
            </a:r>
          </a:p>
        </p:txBody>
      </p:sp>
      <p:sp>
        <p:nvSpPr>
          <p:cNvPr id="162" name="TextBox 161"/>
          <p:cNvSpPr txBox="1"/>
          <p:nvPr/>
        </p:nvSpPr>
        <p:spPr bwMode="gray">
          <a:xfrm>
            <a:off x="6573205" y="2748311"/>
            <a:ext cx="1039091" cy="138546"/>
          </a:xfrm>
          <a:prstGeom prst="rect">
            <a:avLst/>
          </a:prstGeom>
        </p:spPr>
        <p:txBody>
          <a:bodyPr vert="horz" wrap="square" lIns="91440" tIns="45720" rIns="91440" bIns="45720" rtlCol="0" anchor="ctr">
            <a:noAutofit/>
          </a:bodyPr>
          <a:lstStyle/>
          <a:p>
            <a:pPr algn="ctr"/>
            <a:r>
              <a:rPr lang="en-IN" sz="800" i="1" dirty="0" err="1" smtClean="0"/>
              <a:t>Malkajgiri</a:t>
            </a:r>
            <a:endParaRPr lang="en-IN" sz="800" i="1" dirty="0" smtClean="0"/>
          </a:p>
        </p:txBody>
      </p:sp>
      <p:sp>
        <p:nvSpPr>
          <p:cNvPr id="163" name="TextBox 162"/>
          <p:cNvSpPr txBox="1"/>
          <p:nvPr/>
        </p:nvSpPr>
        <p:spPr bwMode="gray">
          <a:xfrm>
            <a:off x="6174973" y="1999147"/>
            <a:ext cx="1039091" cy="138546"/>
          </a:xfrm>
          <a:prstGeom prst="rect">
            <a:avLst/>
          </a:prstGeom>
        </p:spPr>
        <p:txBody>
          <a:bodyPr vert="horz" wrap="square" lIns="91440" tIns="45720" rIns="91440" bIns="45720" rtlCol="0" anchor="ctr">
            <a:noAutofit/>
          </a:bodyPr>
          <a:lstStyle/>
          <a:p>
            <a:pPr algn="ctr"/>
            <a:r>
              <a:rPr lang="en-IN" sz="800" i="1" dirty="0" smtClean="0"/>
              <a:t>Generals Road</a:t>
            </a:r>
          </a:p>
        </p:txBody>
      </p:sp>
      <p:sp>
        <p:nvSpPr>
          <p:cNvPr id="164" name="TextBox 163"/>
          <p:cNvSpPr txBox="1"/>
          <p:nvPr/>
        </p:nvSpPr>
        <p:spPr bwMode="gray">
          <a:xfrm>
            <a:off x="7210211" y="1998063"/>
            <a:ext cx="1039091" cy="138546"/>
          </a:xfrm>
          <a:prstGeom prst="rect">
            <a:avLst/>
          </a:prstGeom>
        </p:spPr>
        <p:txBody>
          <a:bodyPr vert="horz" wrap="square" lIns="91440" tIns="45720" rIns="91440" bIns="45720" rtlCol="0" anchor="ctr">
            <a:noAutofit/>
          </a:bodyPr>
          <a:lstStyle/>
          <a:p>
            <a:pPr algn="ctr"/>
            <a:r>
              <a:rPr lang="en-IN" sz="800" i="1" dirty="0" err="1" smtClean="0"/>
              <a:t>Sainikpuri</a:t>
            </a:r>
            <a:endParaRPr lang="en-IN" sz="800" i="1" dirty="0" smtClean="0"/>
          </a:p>
        </p:txBody>
      </p:sp>
      <p:sp>
        <p:nvSpPr>
          <p:cNvPr id="165" name="TextBox 164"/>
          <p:cNvSpPr txBox="1"/>
          <p:nvPr/>
        </p:nvSpPr>
        <p:spPr bwMode="gray">
          <a:xfrm>
            <a:off x="5069846" y="5382762"/>
            <a:ext cx="1039091" cy="138546"/>
          </a:xfrm>
          <a:prstGeom prst="rect">
            <a:avLst/>
          </a:prstGeom>
        </p:spPr>
        <p:txBody>
          <a:bodyPr vert="horz" wrap="square" lIns="91440" tIns="45720" rIns="91440" bIns="45720" rtlCol="0" anchor="ctr">
            <a:noAutofit/>
          </a:bodyPr>
          <a:lstStyle/>
          <a:p>
            <a:pPr algn="ctr"/>
            <a:r>
              <a:rPr lang="en-IN" sz="800" i="1" dirty="0" smtClean="0"/>
              <a:t>Saidabad</a:t>
            </a:r>
          </a:p>
        </p:txBody>
      </p:sp>
      <p:sp>
        <p:nvSpPr>
          <p:cNvPr id="166" name="TextBox 165"/>
          <p:cNvSpPr txBox="1"/>
          <p:nvPr/>
        </p:nvSpPr>
        <p:spPr bwMode="gray">
          <a:xfrm>
            <a:off x="6046040" y="5445513"/>
            <a:ext cx="1039091" cy="138546"/>
          </a:xfrm>
          <a:prstGeom prst="rect">
            <a:avLst/>
          </a:prstGeom>
        </p:spPr>
        <p:txBody>
          <a:bodyPr vert="horz" wrap="square" lIns="91440" tIns="45720" rIns="91440" bIns="45720" rtlCol="0" anchor="ctr">
            <a:noAutofit/>
          </a:bodyPr>
          <a:lstStyle/>
          <a:p>
            <a:pPr algn="ctr"/>
            <a:r>
              <a:rPr lang="en-IN" sz="800" i="1" dirty="0" err="1" smtClean="0"/>
              <a:t>Saroornagar</a:t>
            </a:r>
            <a:endParaRPr lang="en-IN" sz="800" i="1" dirty="0" smtClean="0"/>
          </a:p>
        </p:txBody>
      </p:sp>
      <p:sp>
        <p:nvSpPr>
          <p:cNvPr id="167" name="TextBox 166"/>
          <p:cNvSpPr txBox="1"/>
          <p:nvPr/>
        </p:nvSpPr>
        <p:spPr bwMode="gray">
          <a:xfrm>
            <a:off x="6882745" y="5443365"/>
            <a:ext cx="1039091" cy="138546"/>
          </a:xfrm>
          <a:prstGeom prst="rect">
            <a:avLst/>
          </a:prstGeom>
        </p:spPr>
        <p:txBody>
          <a:bodyPr vert="horz" wrap="square" lIns="91440" tIns="45720" rIns="91440" bIns="45720" rtlCol="0" anchor="ctr">
            <a:noAutofit/>
          </a:bodyPr>
          <a:lstStyle/>
          <a:p>
            <a:pPr algn="ctr"/>
            <a:r>
              <a:rPr lang="en-IN" sz="800" i="1" dirty="0" smtClean="0"/>
              <a:t>LB Nagar</a:t>
            </a:r>
          </a:p>
        </p:txBody>
      </p:sp>
      <p:sp>
        <p:nvSpPr>
          <p:cNvPr id="168" name="Oval 167"/>
          <p:cNvSpPr/>
          <p:nvPr/>
        </p:nvSpPr>
        <p:spPr>
          <a:xfrm>
            <a:off x="5076498" y="3195566"/>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9" name="Oval 168"/>
          <p:cNvSpPr/>
          <p:nvPr/>
        </p:nvSpPr>
        <p:spPr>
          <a:xfrm>
            <a:off x="3477724" y="3130648"/>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0" name="Oval 169"/>
          <p:cNvSpPr/>
          <p:nvPr/>
        </p:nvSpPr>
        <p:spPr>
          <a:xfrm>
            <a:off x="2292776" y="2190424"/>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1" name="Oval 170"/>
          <p:cNvSpPr/>
          <p:nvPr/>
        </p:nvSpPr>
        <p:spPr>
          <a:xfrm>
            <a:off x="3980943" y="4187030"/>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2" name="Oval 171"/>
          <p:cNvSpPr/>
          <p:nvPr/>
        </p:nvSpPr>
        <p:spPr>
          <a:xfrm>
            <a:off x="7097565" y="3800764"/>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3" name="Oval 172"/>
          <p:cNvSpPr/>
          <p:nvPr/>
        </p:nvSpPr>
        <p:spPr>
          <a:xfrm>
            <a:off x="8283918" y="2306479"/>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4" name="Oval 173"/>
          <p:cNvSpPr/>
          <p:nvPr/>
        </p:nvSpPr>
        <p:spPr>
          <a:xfrm>
            <a:off x="3079116" y="3532381"/>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6" name="Oval 175"/>
          <p:cNvSpPr/>
          <p:nvPr/>
        </p:nvSpPr>
        <p:spPr>
          <a:xfrm>
            <a:off x="5705889" y="5063142"/>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7" name="Oval 176"/>
          <p:cNvSpPr/>
          <p:nvPr/>
        </p:nvSpPr>
        <p:spPr>
          <a:xfrm>
            <a:off x="5705889" y="4716153"/>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8" name="Oval 177"/>
          <p:cNvSpPr/>
          <p:nvPr/>
        </p:nvSpPr>
        <p:spPr>
          <a:xfrm>
            <a:off x="7070934" y="4816272"/>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9" name="Oval 178"/>
          <p:cNvSpPr/>
          <p:nvPr/>
        </p:nvSpPr>
        <p:spPr>
          <a:xfrm>
            <a:off x="1752436" y="2190424"/>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0" name="Oval 179"/>
          <p:cNvSpPr/>
          <p:nvPr/>
        </p:nvSpPr>
        <p:spPr>
          <a:xfrm>
            <a:off x="7562978" y="5691515"/>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1" name="Oval 180"/>
          <p:cNvSpPr/>
          <p:nvPr/>
        </p:nvSpPr>
        <p:spPr>
          <a:xfrm>
            <a:off x="5397837" y="1481922"/>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2" name="Oval 181"/>
          <p:cNvSpPr/>
          <p:nvPr/>
        </p:nvSpPr>
        <p:spPr>
          <a:xfrm>
            <a:off x="5692817" y="3941207"/>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4" name="Oval 183"/>
          <p:cNvSpPr/>
          <p:nvPr/>
        </p:nvSpPr>
        <p:spPr>
          <a:xfrm>
            <a:off x="2357543" y="4534118"/>
            <a:ext cx="191726" cy="16385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5" name="Oval 184"/>
          <p:cNvSpPr/>
          <p:nvPr/>
        </p:nvSpPr>
        <p:spPr>
          <a:xfrm>
            <a:off x="2280130" y="4008039"/>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6" name="Oval 185"/>
          <p:cNvSpPr/>
          <p:nvPr/>
        </p:nvSpPr>
        <p:spPr>
          <a:xfrm>
            <a:off x="4662563" y="3838890"/>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7" name="Oval 186"/>
          <p:cNvSpPr/>
          <p:nvPr/>
        </p:nvSpPr>
        <p:spPr>
          <a:xfrm>
            <a:off x="1661984" y="3117359"/>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8" name="Oval 187"/>
          <p:cNvSpPr/>
          <p:nvPr/>
        </p:nvSpPr>
        <p:spPr>
          <a:xfrm>
            <a:off x="6196157" y="3814516"/>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9" name="Oval 188"/>
          <p:cNvSpPr/>
          <p:nvPr/>
        </p:nvSpPr>
        <p:spPr>
          <a:xfrm>
            <a:off x="670764" y="2074420"/>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0" name="Oval 189"/>
          <p:cNvSpPr/>
          <p:nvPr/>
        </p:nvSpPr>
        <p:spPr>
          <a:xfrm>
            <a:off x="7469459" y="4778285"/>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1" name="Oval 190"/>
          <p:cNvSpPr/>
          <p:nvPr/>
        </p:nvSpPr>
        <p:spPr>
          <a:xfrm>
            <a:off x="2513394" y="2190372"/>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2" name="Oval 191"/>
          <p:cNvSpPr/>
          <p:nvPr/>
        </p:nvSpPr>
        <p:spPr>
          <a:xfrm>
            <a:off x="4815689" y="4212183"/>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3" name="TextBox 192"/>
          <p:cNvSpPr txBox="1"/>
          <p:nvPr/>
        </p:nvSpPr>
        <p:spPr bwMode="gray">
          <a:xfrm>
            <a:off x="563453" y="1375501"/>
            <a:ext cx="3417490" cy="218941"/>
          </a:xfrm>
          <a:prstGeom prst="rect">
            <a:avLst/>
          </a:prstGeom>
        </p:spPr>
        <p:txBody>
          <a:bodyPr vert="horz" wrap="square" lIns="91440" tIns="45720" rIns="91440" bIns="45720" rtlCol="0" anchor="ctr">
            <a:noAutofit/>
          </a:bodyPr>
          <a:lstStyle/>
          <a:p>
            <a:r>
              <a:rPr lang="en-IN" sz="1200" b="1" dirty="0" smtClean="0"/>
              <a:t>Hyderabad</a:t>
            </a:r>
          </a:p>
          <a:p>
            <a:r>
              <a:rPr lang="en-IN" sz="1200" i="1" dirty="0" smtClean="0"/>
              <a:t>Indicative PINCODE map</a:t>
            </a:r>
          </a:p>
          <a:p>
            <a:r>
              <a:rPr lang="en-IN" sz="1000" dirty="0" smtClean="0"/>
              <a:t>Not to scale</a:t>
            </a:r>
          </a:p>
        </p:txBody>
      </p:sp>
      <p:sp>
        <p:nvSpPr>
          <p:cNvPr id="203" name="TextBox 202"/>
          <p:cNvSpPr txBox="1"/>
          <p:nvPr/>
        </p:nvSpPr>
        <p:spPr bwMode="gray">
          <a:xfrm>
            <a:off x="8028422" y="6411628"/>
            <a:ext cx="1286971" cy="367049"/>
          </a:xfrm>
          <a:prstGeom prst="rect">
            <a:avLst/>
          </a:prstGeom>
        </p:spPr>
        <p:txBody>
          <a:bodyPr vert="horz" wrap="square" lIns="91440" tIns="45720" rIns="91440" bIns="45720" rtlCol="0" anchor="ctr">
            <a:noAutofit/>
          </a:bodyPr>
          <a:lstStyle/>
          <a:p>
            <a:r>
              <a:rPr lang="en-IN" sz="800" dirty="0" smtClean="0"/>
              <a:t>Croma sales PIN Potential gradient – </a:t>
            </a:r>
          </a:p>
          <a:p>
            <a:r>
              <a:rPr lang="en-IN" sz="800" dirty="0" smtClean="0"/>
              <a:t>High to Low</a:t>
            </a:r>
          </a:p>
        </p:txBody>
      </p:sp>
      <p:sp>
        <p:nvSpPr>
          <p:cNvPr id="205" name="TextBox 204"/>
          <p:cNvSpPr txBox="1"/>
          <p:nvPr/>
        </p:nvSpPr>
        <p:spPr bwMode="gray">
          <a:xfrm>
            <a:off x="3698636" y="3460735"/>
            <a:ext cx="1039091" cy="138546"/>
          </a:xfrm>
          <a:prstGeom prst="rect">
            <a:avLst/>
          </a:prstGeom>
        </p:spPr>
        <p:txBody>
          <a:bodyPr vert="horz" wrap="square" lIns="91440" tIns="45720" rIns="91440" bIns="45720" rtlCol="0" anchor="ctr">
            <a:noAutofit/>
          </a:bodyPr>
          <a:lstStyle/>
          <a:p>
            <a:pPr algn="ctr"/>
            <a:r>
              <a:rPr lang="en-IN" sz="800" i="1" dirty="0" smtClean="0"/>
              <a:t>Secretariat</a:t>
            </a:r>
          </a:p>
        </p:txBody>
      </p:sp>
      <p:sp>
        <p:nvSpPr>
          <p:cNvPr id="183" name="Oval 182"/>
          <p:cNvSpPr/>
          <p:nvPr/>
        </p:nvSpPr>
        <p:spPr>
          <a:xfrm>
            <a:off x="1607903" y="2916556"/>
            <a:ext cx="187037" cy="159422"/>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206" name="Oval 205"/>
          <p:cNvSpPr/>
          <p:nvPr/>
        </p:nvSpPr>
        <p:spPr>
          <a:xfrm>
            <a:off x="3245267" y="6479451"/>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7" name="TextBox 206"/>
          <p:cNvSpPr txBox="1"/>
          <p:nvPr/>
        </p:nvSpPr>
        <p:spPr bwMode="gray">
          <a:xfrm>
            <a:off x="3533632" y="6458695"/>
            <a:ext cx="780990" cy="367049"/>
          </a:xfrm>
          <a:prstGeom prst="rect">
            <a:avLst/>
          </a:prstGeom>
        </p:spPr>
        <p:txBody>
          <a:bodyPr vert="horz" wrap="square" lIns="91440" tIns="45720" rIns="91440" bIns="45720" rtlCol="0" anchor="ctr">
            <a:noAutofit/>
          </a:bodyPr>
          <a:lstStyle/>
          <a:p>
            <a:r>
              <a:rPr lang="en-IN" sz="800" dirty="0" smtClean="0"/>
              <a:t>Reliance Digital Stores</a:t>
            </a:r>
          </a:p>
        </p:txBody>
      </p:sp>
      <p:sp>
        <p:nvSpPr>
          <p:cNvPr id="208" name="Oval 207"/>
          <p:cNvSpPr/>
          <p:nvPr/>
        </p:nvSpPr>
        <p:spPr>
          <a:xfrm>
            <a:off x="4504649" y="6472861"/>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9" name="TextBox 208"/>
          <p:cNvSpPr txBox="1"/>
          <p:nvPr/>
        </p:nvSpPr>
        <p:spPr bwMode="gray">
          <a:xfrm>
            <a:off x="4770469" y="6469247"/>
            <a:ext cx="871025" cy="367049"/>
          </a:xfrm>
          <a:prstGeom prst="rect">
            <a:avLst/>
          </a:prstGeom>
        </p:spPr>
        <p:txBody>
          <a:bodyPr vert="horz" wrap="square" lIns="91440" tIns="45720" rIns="91440" bIns="45720" rtlCol="0" anchor="ctr">
            <a:noAutofit/>
          </a:bodyPr>
          <a:lstStyle/>
          <a:p>
            <a:r>
              <a:rPr lang="en-IN" sz="800" dirty="0" smtClean="0"/>
              <a:t>Bajaj Electronics Stores</a:t>
            </a:r>
          </a:p>
        </p:txBody>
      </p:sp>
      <p:sp>
        <p:nvSpPr>
          <p:cNvPr id="210" name="Oval 209"/>
          <p:cNvSpPr/>
          <p:nvPr/>
        </p:nvSpPr>
        <p:spPr>
          <a:xfrm>
            <a:off x="1967851" y="6476116"/>
            <a:ext cx="187037" cy="159422"/>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p>
        </p:txBody>
      </p:sp>
      <p:sp>
        <p:nvSpPr>
          <p:cNvPr id="211" name="TextBox 210"/>
          <p:cNvSpPr txBox="1"/>
          <p:nvPr/>
        </p:nvSpPr>
        <p:spPr bwMode="gray">
          <a:xfrm>
            <a:off x="2213846" y="6458695"/>
            <a:ext cx="903816" cy="367049"/>
          </a:xfrm>
          <a:prstGeom prst="rect">
            <a:avLst/>
          </a:prstGeom>
        </p:spPr>
        <p:txBody>
          <a:bodyPr vert="horz" wrap="square" lIns="91440" tIns="45720" rIns="91440" bIns="45720" rtlCol="0" anchor="ctr">
            <a:noAutofit/>
          </a:bodyPr>
          <a:lstStyle/>
          <a:p>
            <a:r>
              <a:rPr lang="en-IN" sz="800" dirty="0" smtClean="0"/>
              <a:t>Proposed Croma Store Locations</a:t>
            </a:r>
          </a:p>
        </p:txBody>
      </p:sp>
      <p:sp>
        <p:nvSpPr>
          <p:cNvPr id="212" name="Oval 211"/>
          <p:cNvSpPr/>
          <p:nvPr/>
        </p:nvSpPr>
        <p:spPr>
          <a:xfrm>
            <a:off x="659579" y="6468767"/>
            <a:ext cx="187037" cy="159422"/>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p>
        </p:txBody>
      </p:sp>
      <p:sp>
        <p:nvSpPr>
          <p:cNvPr id="213" name="TextBox 212"/>
          <p:cNvSpPr txBox="1"/>
          <p:nvPr/>
        </p:nvSpPr>
        <p:spPr bwMode="gray">
          <a:xfrm>
            <a:off x="918487" y="6468445"/>
            <a:ext cx="1229361" cy="367049"/>
          </a:xfrm>
          <a:prstGeom prst="rect">
            <a:avLst/>
          </a:prstGeom>
        </p:spPr>
        <p:txBody>
          <a:bodyPr vert="horz" wrap="square" lIns="91440" tIns="45720" rIns="91440" bIns="45720" rtlCol="0" anchor="ctr">
            <a:noAutofit/>
          </a:bodyPr>
          <a:lstStyle/>
          <a:p>
            <a:r>
              <a:rPr lang="en-IN" sz="800" dirty="0" smtClean="0"/>
              <a:t>Existing </a:t>
            </a:r>
          </a:p>
          <a:p>
            <a:r>
              <a:rPr lang="en-IN" sz="800" dirty="0" smtClean="0"/>
              <a:t>Croma Store Locations</a:t>
            </a:r>
          </a:p>
        </p:txBody>
      </p:sp>
      <p:graphicFrame>
        <p:nvGraphicFramePr>
          <p:cNvPr id="2" name="Table 1"/>
          <p:cNvGraphicFramePr>
            <a:graphicFrameLocks noGrp="1"/>
          </p:cNvGraphicFramePr>
          <p:nvPr>
            <p:extLst>
              <p:ext uri="{D42A27DB-BD31-4B8C-83A1-F6EECF244321}">
                <p14:modId xmlns:p14="http://schemas.microsoft.com/office/powerpoint/2010/main" val="1610152696"/>
              </p:ext>
            </p:extLst>
          </p:nvPr>
        </p:nvGraphicFramePr>
        <p:xfrm>
          <a:off x="5788630" y="6430652"/>
          <a:ext cx="2052755" cy="243840"/>
        </p:xfrm>
        <a:graphic>
          <a:graphicData uri="http://schemas.openxmlformats.org/drawingml/2006/table">
            <a:tbl>
              <a:tblPr firstRow="1" bandRow="1">
                <a:tableStyleId>{5C22544A-7EE6-4342-B048-85BDC9FD1C3A}</a:tableStyleId>
              </a:tblPr>
              <a:tblGrid>
                <a:gridCol w="410551"/>
                <a:gridCol w="410551"/>
                <a:gridCol w="410551"/>
                <a:gridCol w="410551"/>
                <a:gridCol w="410551"/>
              </a:tblGrid>
              <a:tr h="206853">
                <a:tc>
                  <a:txBody>
                    <a:bodyPr/>
                    <a:lstStyle/>
                    <a:p>
                      <a:pPr marL="0" algn="l" defTabSz="457200" rtl="0" eaLnBrk="1" latinLnBrk="0" hangingPunct="1"/>
                      <a:endParaRPr lang="en-IN" sz="1000" kern="1200" dirty="0">
                        <a:solidFill>
                          <a:schemeClr val="dk1"/>
                        </a:solidFill>
                        <a:latin typeface="+mn-lt"/>
                        <a:ea typeface="+mn-ea"/>
                        <a:cs typeface="+mn-cs"/>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solidFill>
                  </a:tcPr>
                </a:tc>
                <a:tc>
                  <a:txBody>
                    <a:bodyPr/>
                    <a:lstStyle/>
                    <a:p>
                      <a:pPr marL="0" algn="l" defTabSz="457200" rtl="0" eaLnBrk="1" latinLnBrk="0" hangingPunct="1"/>
                      <a:endParaRPr lang="en-IN" sz="1000" kern="1200" dirty="0">
                        <a:solidFill>
                          <a:schemeClr val="dk1"/>
                        </a:solidFill>
                        <a:latin typeface="+mn-lt"/>
                        <a:ea typeface="+mn-ea"/>
                        <a:cs typeface="+mn-cs"/>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60000"/>
                        <a:lumOff val="40000"/>
                      </a:schemeClr>
                    </a:solidFill>
                  </a:tcPr>
                </a:tc>
                <a:tc>
                  <a:txBody>
                    <a:bodyPr/>
                    <a:lstStyle/>
                    <a:p>
                      <a:pPr marL="0" algn="l" defTabSz="457200" rtl="0" eaLnBrk="1" latinLnBrk="0" hangingPunct="1"/>
                      <a:endParaRPr lang="en-IN" sz="1000" kern="1200" dirty="0">
                        <a:solidFill>
                          <a:schemeClr val="dk1"/>
                        </a:solidFill>
                        <a:latin typeface="+mn-lt"/>
                        <a:ea typeface="+mn-ea"/>
                        <a:cs typeface="+mn-cs"/>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40000"/>
                        <a:lumOff val="60000"/>
                      </a:schemeClr>
                    </a:solidFill>
                  </a:tcPr>
                </a:tc>
                <a:tc>
                  <a:txBody>
                    <a:bodyPr/>
                    <a:lstStyle/>
                    <a:p>
                      <a:pPr marL="0" algn="l" defTabSz="457200" rtl="0" eaLnBrk="1" latinLnBrk="0" hangingPunct="1"/>
                      <a:endParaRPr lang="en-IN" sz="1000" kern="1200" dirty="0">
                        <a:solidFill>
                          <a:schemeClr val="dk1"/>
                        </a:solidFill>
                        <a:latin typeface="+mn-lt"/>
                        <a:ea typeface="+mn-ea"/>
                        <a:cs typeface="+mn-cs"/>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marL="0" algn="l" defTabSz="457200" rtl="0" eaLnBrk="1" latinLnBrk="0" hangingPunct="1"/>
                      <a:endParaRPr lang="en-IN" sz="1000" kern="1200" dirty="0">
                        <a:solidFill>
                          <a:schemeClr val="dk1"/>
                        </a:solidFill>
                        <a:latin typeface="+mn-lt"/>
                        <a:ea typeface="+mn-ea"/>
                        <a:cs typeface="+mn-cs"/>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r>
            </a:tbl>
          </a:graphicData>
        </a:graphic>
      </p:graphicFrame>
      <p:sp>
        <p:nvSpPr>
          <p:cNvPr id="214" name="Rectangle 213"/>
          <p:cNvSpPr/>
          <p:nvPr/>
        </p:nvSpPr>
        <p:spPr>
          <a:xfrm>
            <a:off x="9576529" y="1470474"/>
            <a:ext cx="2120447" cy="122121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IN" sz="1000" dirty="0" smtClean="0">
              <a:solidFill>
                <a:schemeClr val="tx2">
                  <a:lumMod val="50000"/>
                </a:schemeClr>
              </a:solidFill>
            </a:endParaRPr>
          </a:p>
          <a:p>
            <a:r>
              <a:rPr lang="en-IN" sz="1000" dirty="0" smtClean="0">
                <a:solidFill>
                  <a:schemeClr val="tx2">
                    <a:lumMod val="50000"/>
                  </a:schemeClr>
                </a:solidFill>
              </a:rPr>
              <a:t>Geo-location of </a:t>
            </a:r>
            <a:r>
              <a:rPr lang="en-IN" sz="1000" b="1" dirty="0" smtClean="0">
                <a:solidFill>
                  <a:schemeClr val="tx2">
                    <a:lumMod val="50000"/>
                  </a:schemeClr>
                </a:solidFill>
              </a:rPr>
              <a:t>existing and planned Croma Stores</a:t>
            </a:r>
            <a:r>
              <a:rPr lang="en-IN" sz="1000" dirty="0" smtClean="0">
                <a:solidFill>
                  <a:schemeClr val="tx2">
                    <a:lumMod val="50000"/>
                  </a:schemeClr>
                </a:solidFill>
              </a:rPr>
              <a:t> is critical in determining the location attractiveness of a potential location</a:t>
            </a:r>
          </a:p>
          <a:p>
            <a:endParaRPr lang="en-IN" sz="1000" dirty="0" smtClean="0">
              <a:solidFill>
                <a:schemeClr val="tx2">
                  <a:lumMod val="50000"/>
                </a:schemeClr>
              </a:solidFill>
            </a:endParaRPr>
          </a:p>
          <a:p>
            <a:endParaRPr lang="en-IN" sz="1000" dirty="0">
              <a:solidFill>
                <a:schemeClr val="tx2">
                  <a:lumMod val="50000"/>
                </a:schemeClr>
              </a:solidFill>
            </a:endParaRPr>
          </a:p>
        </p:txBody>
      </p:sp>
      <p:sp>
        <p:nvSpPr>
          <p:cNvPr id="215" name="Rectangle 214"/>
          <p:cNvSpPr/>
          <p:nvPr/>
        </p:nvSpPr>
        <p:spPr>
          <a:xfrm>
            <a:off x="9576528" y="2962768"/>
            <a:ext cx="2120447" cy="1076275"/>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IN" sz="1000" dirty="0" smtClean="0">
              <a:solidFill>
                <a:schemeClr val="tx2">
                  <a:lumMod val="50000"/>
                </a:schemeClr>
              </a:solidFill>
            </a:endParaRPr>
          </a:p>
          <a:p>
            <a:r>
              <a:rPr lang="en-IN" sz="1000" dirty="0" smtClean="0">
                <a:solidFill>
                  <a:schemeClr val="tx2">
                    <a:lumMod val="50000"/>
                  </a:schemeClr>
                </a:solidFill>
              </a:rPr>
              <a:t>Distance from </a:t>
            </a:r>
            <a:r>
              <a:rPr lang="en-IN" sz="1000" b="1" dirty="0" smtClean="0">
                <a:solidFill>
                  <a:schemeClr val="tx2">
                    <a:lumMod val="50000"/>
                  </a:schemeClr>
                </a:solidFill>
              </a:rPr>
              <a:t>competitor stores</a:t>
            </a:r>
            <a:r>
              <a:rPr lang="en-IN" sz="1000" dirty="0" smtClean="0">
                <a:solidFill>
                  <a:schemeClr val="tx2">
                    <a:lumMod val="50000"/>
                  </a:schemeClr>
                </a:solidFill>
              </a:rPr>
              <a:t> and Croma stores determines the probability of store visit from Catchment</a:t>
            </a:r>
          </a:p>
          <a:p>
            <a:endParaRPr lang="en-IN" sz="1000" dirty="0" smtClean="0">
              <a:solidFill>
                <a:schemeClr val="tx2">
                  <a:lumMod val="50000"/>
                </a:schemeClr>
              </a:solidFill>
            </a:endParaRPr>
          </a:p>
          <a:p>
            <a:endParaRPr lang="en-IN" sz="1000" dirty="0">
              <a:solidFill>
                <a:schemeClr val="tx2">
                  <a:lumMod val="50000"/>
                </a:schemeClr>
              </a:solidFill>
            </a:endParaRPr>
          </a:p>
        </p:txBody>
      </p:sp>
      <p:sp>
        <p:nvSpPr>
          <p:cNvPr id="216" name="Rectangle 215"/>
          <p:cNvSpPr/>
          <p:nvPr/>
        </p:nvSpPr>
        <p:spPr>
          <a:xfrm>
            <a:off x="9589296" y="4352312"/>
            <a:ext cx="2120447" cy="1076275"/>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IN" sz="1000" dirty="0" smtClean="0">
              <a:solidFill>
                <a:schemeClr val="tx2">
                  <a:lumMod val="50000"/>
                </a:schemeClr>
              </a:solidFill>
            </a:endParaRPr>
          </a:p>
          <a:p>
            <a:r>
              <a:rPr lang="en-IN" sz="1000" b="1" dirty="0" smtClean="0">
                <a:solidFill>
                  <a:schemeClr val="tx2">
                    <a:lumMod val="50000"/>
                  </a:schemeClr>
                </a:solidFill>
              </a:rPr>
              <a:t>Potential of the Catchment area </a:t>
            </a:r>
            <a:r>
              <a:rPr lang="en-IN" sz="1000" dirty="0" smtClean="0">
                <a:solidFill>
                  <a:schemeClr val="tx2">
                    <a:lumMod val="50000"/>
                  </a:schemeClr>
                </a:solidFill>
              </a:rPr>
              <a:t>for Croma sales is the other driver for location attractiveness</a:t>
            </a:r>
          </a:p>
          <a:p>
            <a:endParaRPr lang="en-IN" sz="1000" dirty="0" smtClean="0">
              <a:solidFill>
                <a:schemeClr val="tx2">
                  <a:lumMod val="50000"/>
                </a:schemeClr>
              </a:solidFill>
            </a:endParaRPr>
          </a:p>
          <a:p>
            <a:endParaRPr lang="en-IN" sz="1000" dirty="0">
              <a:solidFill>
                <a:schemeClr val="tx2">
                  <a:lumMod val="50000"/>
                </a:schemeClr>
              </a:solidFill>
            </a:endParaRPr>
          </a:p>
        </p:txBody>
      </p:sp>
      <p:sp>
        <p:nvSpPr>
          <p:cNvPr id="194" name="TextBox 193"/>
          <p:cNvSpPr txBox="1"/>
          <p:nvPr/>
        </p:nvSpPr>
        <p:spPr bwMode="gray">
          <a:xfrm>
            <a:off x="6475793" y="5611380"/>
            <a:ext cx="1039091" cy="138546"/>
          </a:xfrm>
          <a:prstGeom prst="rect">
            <a:avLst/>
          </a:prstGeom>
        </p:spPr>
        <p:txBody>
          <a:bodyPr vert="horz" wrap="square" lIns="91440" tIns="45720" rIns="91440" bIns="45720" rtlCol="0" anchor="ctr">
            <a:noAutofit/>
          </a:bodyPr>
          <a:lstStyle/>
          <a:p>
            <a:pPr algn="ctr"/>
            <a:r>
              <a:rPr lang="en-IN" sz="800" i="1" dirty="0" err="1" smtClean="0"/>
              <a:t>Hastinapuram</a:t>
            </a:r>
            <a:endParaRPr lang="en-IN" sz="800" i="1" dirty="0" smtClean="0"/>
          </a:p>
        </p:txBody>
      </p:sp>
      <p:sp>
        <p:nvSpPr>
          <p:cNvPr id="195" name="Oval 194"/>
          <p:cNvSpPr/>
          <p:nvPr/>
        </p:nvSpPr>
        <p:spPr>
          <a:xfrm>
            <a:off x="7117594" y="5732555"/>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6" name="Oval 195"/>
          <p:cNvSpPr/>
          <p:nvPr/>
        </p:nvSpPr>
        <p:spPr>
          <a:xfrm>
            <a:off x="7421365" y="5579173"/>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7" name="Oval 196"/>
          <p:cNvSpPr/>
          <p:nvPr/>
        </p:nvSpPr>
        <p:spPr>
          <a:xfrm>
            <a:off x="6948019" y="5730407"/>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9" name="Oval 198"/>
          <p:cNvSpPr/>
          <p:nvPr/>
        </p:nvSpPr>
        <p:spPr>
          <a:xfrm>
            <a:off x="1543286" y="3487370"/>
            <a:ext cx="187037" cy="159422"/>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200" name="Oval 199"/>
          <p:cNvSpPr/>
          <p:nvPr/>
        </p:nvSpPr>
        <p:spPr>
          <a:xfrm>
            <a:off x="2739817" y="3482092"/>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1" name="Oval 200"/>
          <p:cNvSpPr/>
          <p:nvPr/>
        </p:nvSpPr>
        <p:spPr>
          <a:xfrm>
            <a:off x="2531981" y="3491565"/>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2" name="Oval 201"/>
          <p:cNvSpPr/>
          <p:nvPr/>
        </p:nvSpPr>
        <p:spPr>
          <a:xfrm>
            <a:off x="1789294" y="3505689"/>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4" name="Oval 203"/>
          <p:cNvSpPr/>
          <p:nvPr/>
        </p:nvSpPr>
        <p:spPr>
          <a:xfrm>
            <a:off x="5206720" y="2159292"/>
            <a:ext cx="187037" cy="159422"/>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cxnSp>
        <p:nvCxnSpPr>
          <p:cNvPr id="175" name="Straight Connector 174"/>
          <p:cNvCxnSpPr/>
          <p:nvPr/>
        </p:nvCxnSpPr>
        <p:spPr>
          <a:xfrm>
            <a:off x="4388104" y="1166418"/>
            <a:ext cx="0" cy="5187472"/>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7" name="Straight Connector 216"/>
          <p:cNvCxnSpPr/>
          <p:nvPr/>
        </p:nvCxnSpPr>
        <p:spPr>
          <a:xfrm>
            <a:off x="563535" y="3760154"/>
            <a:ext cx="8774371"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912615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5" name="Table 194"/>
          <p:cNvGraphicFramePr>
            <a:graphicFrameLocks noGrp="1"/>
          </p:cNvGraphicFramePr>
          <p:nvPr>
            <p:extLst>
              <p:ext uri="{D42A27DB-BD31-4B8C-83A1-F6EECF244321}">
                <p14:modId xmlns:p14="http://schemas.microsoft.com/office/powerpoint/2010/main" val="344645444"/>
              </p:ext>
            </p:extLst>
          </p:nvPr>
        </p:nvGraphicFramePr>
        <p:xfrm>
          <a:off x="563535" y="1166418"/>
          <a:ext cx="8774371" cy="5187472"/>
        </p:xfrm>
        <a:graphic>
          <a:graphicData uri="http://schemas.openxmlformats.org/drawingml/2006/table">
            <a:tbl>
              <a:tblPr firstRow="1" bandRow="1">
                <a:tableStyleId>{21E4AEA4-8DFA-4A89-87EB-49C32662AFE0}</a:tableStyleId>
              </a:tblPr>
              <a:tblGrid>
                <a:gridCol w="391927"/>
                <a:gridCol w="391927"/>
                <a:gridCol w="391925"/>
                <a:gridCol w="391925"/>
                <a:gridCol w="391927"/>
                <a:gridCol w="391927"/>
                <a:gridCol w="391927"/>
                <a:gridCol w="391927"/>
                <a:gridCol w="345406"/>
                <a:gridCol w="345406"/>
                <a:gridCol w="636966"/>
                <a:gridCol w="391927"/>
                <a:gridCol w="783850"/>
                <a:gridCol w="391927"/>
                <a:gridCol w="391927"/>
                <a:gridCol w="391925"/>
                <a:gridCol w="391925"/>
                <a:gridCol w="783850"/>
                <a:gridCol w="783850"/>
              </a:tblGrid>
              <a:tr h="298837">
                <a:tc rowSpan="2" gridSpan="8">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endParaRPr lang="en-IN"/>
                    </a:p>
                  </a:txBody>
                  <a:tcPr/>
                </a:tc>
                <a:tc rowSpan="2" hMerge="1">
                  <a:txBody>
                    <a:bodyPr/>
                    <a:lstStyle/>
                    <a:p>
                      <a:pPr algn="ctr"/>
                      <a:endParaRPr lang="en-IN" sz="9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hMerge="1">
                  <a:txBody>
                    <a:bodyPr/>
                    <a:lstStyle/>
                    <a:p>
                      <a:endParaRPr lang="en-IN"/>
                    </a:p>
                  </a:txBody>
                  <a:tcPr/>
                </a:tc>
                <a:tc rowSpan="2" hMerge="1">
                  <a:txBody>
                    <a:bodyPr/>
                    <a:lstStyle/>
                    <a:p>
                      <a:pPr algn="ctr"/>
                      <a:endParaRPr lang="en-IN" sz="9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hMerge="1">
                  <a:txBody>
                    <a:bodyPr/>
                    <a:lstStyle/>
                    <a:p>
                      <a:endParaRPr lang="en-IN"/>
                    </a:p>
                  </a:txBody>
                  <a:tcPr/>
                </a:tc>
                <a:tc rowSpan="2" hMerge="1">
                  <a:txBody>
                    <a:bodyPr/>
                    <a:lstStyle/>
                    <a:p>
                      <a:pPr algn="ctr"/>
                      <a:endParaRPr lang="en-IN" sz="9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no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a:p>
                  </a:txBody>
                  <a:tcPr/>
                </a:tc>
                <a:tc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hMerge="1">
                  <a:txBody>
                    <a:bodyPr/>
                    <a:lstStyle/>
                    <a:p>
                      <a:pPr algn="ctr"/>
                      <a:endParaRPr lang="en-IN" sz="900" dirty="0"/>
                    </a:p>
                  </a:txBody>
                  <a:tcPr anchor="ctr">
                    <a:solidFill>
                      <a:schemeClr val="accent1"/>
                    </a:solidFill>
                  </a:tcPr>
                </a:tc>
                <a:tc rowSpan="2" gridSpan="6">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rowSpan="2" hMerge="1">
                  <a:txBody>
                    <a:bodyPr/>
                    <a:lstStyle/>
                    <a:p>
                      <a:endParaRPr lang="en-IN"/>
                    </a:p>
                  </a:txBody>
                  <a:tcPr/>
                </a:tc>
                <a:tc rowSpan="2" hMerge="1">
                  <a:txBody>
                    <a:bodyPr/>
                    <a:lstStyle/>
                    <a:p>
                      <a:pPr algn="ctr"/>
                      <a:endParaRPr lang="en-IN" sz="900" dirty="0"/>
                    </a:p>
                  </a:txBody>
                  <a:tcPr anchor="ctr">
                    <a:solidFill>
                      <a:schemeClr val="accent1"/>
                    </a:solidFill>
                  </a:tcPr>
                </a:tc>
                <a:tc rowSpan="2" hMerge="1">
                  <a:txBody>
                    <a:bodyPr/>
                    <a:lstStyle/>
                    <a:p>
                      <a:endParaRPr lang="en-IN"/>
                    </a:p>
                  </a:txBody>
                  <a:tcPr/>
                </a:tc>
                <a:tc rowSpan="2" hMerge="1">
                  <a:txBody>
                    <a:bodyPr/>
                    <a:lstStyle/>
                    <a:p>
                      <a:pPr algn="ctr"/>
                      <a:endParaRPr lang="en-IN" sz="900" dirty="0"/>
                    </a:p>
                  </a:txBody>
                  <a:tcPr anchor="ctr">
                    <a:solidFill>
                      <a:schemeClr val="accent1"/>
                    </a:solidFill>
                  </a:tcPr>
                </a:tc>
                <a:tc rowSpan="2" hMerge="1">
                  <a:txBody>
                    <a:bodyPr/>
                    <a:lstStyle/>
                    <a:p>
                      <a:pPr algn="ctr"/>
                      <a:endParaRPr lang="en-IN" sz="900" dirty="0"/>
                    </a:p>
                  </a:txBody>
                  <a:tcPr anchor="ctr">
                    <a:solidFill>
                      <a:schemeClr val="accent1"/>
                    </a:solidFill>
                  </a:tcPr>
                </a:tc>
              </a:tr>
              <a:tr h="365582">
                <a:tc gridSpan="8" vMerge="1">
                  <a:txBody>
                    <a:bodyPr/>
                    <a:lstStyle/>
                    <a:p>
                      <a:pPr algn="ctr"/>
                      <a:endParaRPr lang="en-IN" sz="9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vMerge="1">
                  <a:txBody>
                    <a:bodyPr/>
                    <a:lstStyle/>
                    <a:p>
                      <a:endParaRPr lang="en-IN"/>
                    </a:p>
                  </a:txBody>
                  <a:tcPr/>
                </a:tc>
                <a:tc hMerge="1" vMerge="1">
                  <a:txBody>
                    <a:bodyPr/>
                    <a:lstStyle/>
                    <a:p>
                      <a:pPr algn="ctr"/>
                      <a:endParaRPr lang="en-IN" sz="9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vMerge="1">
                  <a:txBody>
                    <a:bodyPr/>
                    <a:lstStyle/>
                    <a:p>
                      <a:endParaRPr lang="en-IN"/>
                    </a:p>
                  </a:txBody>
                  <a:tcPr/>
                </a:tc>
                <a:tc hMerge="1" vMerge="1">
                  <a:txBody>
                    <a:bodyPr/>
                    <a:lstStyle/>
                    <a:p>
                      <a:pPr algn="ctr"/>
                      <a:endParaRPr lang="en-IN" sz="9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vMerge="1">
                  <a:txBody>
                    <a:bodyPr/>
                    <a:lstStyle/>
                    <a:p>
                      <a:endParaRPr lang="en-IN"/>
                    </a:p>
                  </a:txBody>
                  <a:tcPr/>
                </a:tc>
                <a:tc hMerge="1" vMerge="1">
                  <a:txBody>
                    <a:bodyPr/>
                    <a:lstStyle/>
                    <a:p>
                      <a:pPr algn="ctr"/>
                      <a:endParaRPr lang="en-IN" sz="9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vMerge="1">
                  <a:txBody>
                    <a:bodyPr/>
                    <a:lstStyle/>
                    <a:p>
                      <a:endParaRPr lang="en-IN"/>
                    </a:p>
                  </a:txBody>
                  <a:tcPr/>
                </a:tc>
                <a:tc grid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hMerge="1">
                  <a:txBody>
                    <a:bodyPr/>
                    <a:lstStyle/>
                    <a:p>
                      <a:endParaRPr lang="en-IN"/>
                    </a:p>
                  </a:txBody>
                  <a:tcPr/>
                </a:tc>
                <a:tc hMerge="1">
                  <a:txBody>
                    <a:bodyPr/>
                    <a:lstStyle/>
                    <a:p>
                      <a:pPr algn="ctr"/>
                      <a:endParaRPr lang="en-IN" sz="900" dirty="0"/>
                    </a:p>
                  </a:txBody>
                  <a:tcPr anchor="ctr">
                    <a:solidFill>
                      <a:schemeClr val="accent1"/>
                    </a:solidFill>
                  </a:tcPr>
                </a:tc>
                <a:tc hMerge="1">
                  <a:txBody>
                    <a:bodyPr/>
                    <a:lstStyle/>
                    <a:p>
                      <a:endParaRPr lang="en-IN"/>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gridSpan="6" vMerge="1">
                  <a:txBody>
                    <a:bodyPr/>
                    <a:lstStyle/>
                    <a:p>
                      <a:pPr algn="ctr"/>
                      <a:endParaRPr lang="en-IN" sz="900"/>
                    </a:p>
                  </a:txBody>
                  <a:tcPr anchor="ctr">
                    <a:solidFill>
                      <a:schemeClr val="accent1"/>
                    </a:solidFill>
                  </a:tcPr>
                </a:tc>
                <a:tc hMerge="1" vMerge="1">
                  <a:txBody>
                    <a:bodyPr/>
                    <a:lstStyle/>
                    <a:p>
                      <a:endParaRPr lang="en-IN"/>
                    </a:p>
                  </a:txBody>
                  <a:tcPr/>
                </a:tc>
                <a:tc hMerge="1" vMerge="1">
                  <a:txBody>
                    <a:bodyPr/>
                    <a:lstStyle/>
                    <a:p>
                      <a:pPr algn="ctr"/>
                      <a:endParaRPr lang="en-IN" sz="900"/>
                    </a:p>
                  </a:txBody>
                  <a:tcPr anchor="ctr">
                    <a:solidFill>
                      <a:schemeClr val="accent1"/>
                    </a:solidFill>
                  </a:tcPr>
                </a:tc>
                <a:tc hMerge="1" vMerge="1">
                  <a:txBody>
                    <a:bodyPr/>
                    <a:lstStyle/>
                    <a:p>
                      <a:endParaRPr lang="en-IN"/>
                    </a:p>
                  </a:txBody>
                  <a:tcPr/>
                </a:tc>
                <a:tc hMerge="1" vMerge="1">
                  <a:txBody>
                    <a:bodyPr/>
                    <a:lstStyle/>
                    <a:p>
                      <a:pPr algn="ctr"/>
                      <a:endParaRPr lang="en-IN" sz="900" dirty="0"/>
                    </a:p>
                  </a:txBody>
                  <a:tcPr anchor="ctr">
                    <a:solidFill>
                      <a:schemeClr val="accent1"/>
                    </a:solidFill>
                  </a:tcPr>
                </a:tc>
                <a:tc hMerge="1" vMerge="1">
                  <a:txBody>
                    <a:bodyPr/>
                    <a:lstStyle/>
                    <a:p>
                      <a:pPr algn="ctr"/>
                      <a:endParaRPr lang="en-IN" sz="900" dirty="0"/>
                    </a:p>
                  </a:txBody>
                  <a:tcPr anchor="ctr">
                    <a:solidFill>
                      <a:schemeClr val="accent1"/>
                    </a:solidFill>
                  </a:tcPr>
                </a:tc>
              </a:tr>
              <a:tr h="228489">
                <a:tc gridSpan="4">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no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a:p>
                  </a:txBody>
                  <a:tcPr/>
                </a:tc>
                <a:tc h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hMerge="1">
                  <a:txBody>
                    <a:bodyPr/>
                    <a:lstStyle/>
                    <a:p>
                      <a:endParaRPr lang="en-IN"/>
                    </a:p>
                  </a:txBody>
                  <a:tcPr/>
                </a:tc>
                <a:tc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hMerge="1">
                  <a:txBody>
                    <a:bodyPr/>
                    <a:lstStyle/>
                    <a:p>
                      <a:endParaRPr lang="en-IN"/>
                    </a:p>
                  </a:txBody>
                  <a:tcPr/>
                </a:tc>
                <a:tc hMerge="1">
                  <a:txBody>
                    <a:bodyPr/>
                    <a:lstStyle/>
                    <a:p>
                      <a:pPr algn="ctr"/>
                      <a:endParaRPr lang="en-IN" sz="900" dirty="0"/>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hMerge="1">
                  <a:txBody>
                    <a:bodyPr/>
                    <a:lstStyle/>
                    <a:p>
                      <a:endParaRPr lang="en-IN"/>
                    </a:p>
                  </a:txBody>
                  <a:tcPr/>
                </a:tc>
                <a:tc hMerge="1">
                  <a:txBody>
                    <a:bodyPr/>
                    <a:lstStyle/>
                    <a:p>
                      <a:pPr algn="ctr"/>
                      <a:endParaRPr lang="en-IN" sz="900" dirty="0"/>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rowSpan="2" hMerge="1">
                  <a:txBody>
                    <a:bodyPr/>
                    <a:lstStyle/>
                    <a:p>
                      <a:endParaRPr lang="en-IN"/>
                    </a:p>
                  </a:txBody>
                  <a:tcPr/>
                </a:tc>
                <a:tc rowSpan="2"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rowSpan="2" hMerge="1">
                  <a:txBody>
                    <a:bodyPr/>
                    <a:lstStyle/>
                    <a:p>
                      <a:endParaRPr lang="en-IN"/>
                    </a:p>
                  </a:txBody>
                  <a:tcPr/>
                </a:tc>
                <a:tc rowSpan="2" hMerge="1">
                  <a:txBody>
                    <a:bodyPr/>
                    <a:lstStyle/>
                    <a:p>
                      <a:pPr algn="ctr"/>
                      <a:endParaRPr lang="en-IN" sz="900" dirty="0"/>
                    </a:p>
                  </a:txBody>
                  <a:tcPr anchor="ctr">
                    <a:solidFill>
                      <a:schemeClr val="accent1"/>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r>
              <a:tr h="229601">
                <a:tc gridSpan="2">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hMerge="1">
                  <a:txBody>
                    <a:bodyPr/>
                    <a:lstStyle/>
                    <a:p>
                      <a:pPr algn="ctr"/>
                      <a:endParaRPr lang="en-IN" sz="900" dirty="0"/>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rowSpan="2" hMerge="1">
                  <a:txBody>
                    <a:bodyPr/>
                    <a:lstStyle/>
                    <a:p>
                      <a:endParaRPr lang="en-IN"/>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rowSpan="2" hMerge="1">
                  <a:txBody>
                    <a:bodyPr/>
                    <a:lstStyle/>
                    <a:p>
                      <a:endParaRPr lang="en-IN"/>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hMerge="1">
                  <a:txBody>
                    <a:bodyPr/>
                    <a:lstStyle/>
                    <a:p>
                      <a:endParaRPr lang="en-IN"/>
                    </a:p>
                  </a:txBody>
                  <a:tcPr/>
                </a:tc>
                <a:tc rowSpan="3"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rowSpan="3" hMerge="1">
                  <a:txBody>
                    <a:bodyPr/>
                    <a:lstStyle/>
                    <a:p>
                      <a:endParaRPr lang="en-IN"/>
                    </a:p>
                  </a:txBody>
                  <a:tcPr/>
                </a:tc>
                <a:tc rowSpan="3" hMerge="1">
                  <a:txBody>
                    <a:bodyPr/>
                    <a:lstStyle/>
                    <a:p>
                      <a:pPr algn="ctr"/>
                      <a:endParaRPr lang="en-IN" sz="900" dirty="0"/>
                    </a:p>
                  </a:txBody>
                  <a:tcPr/>
                </a:tc>
                <a:tc gridSpan="2" vMerge="1">
                  <a:txBody>
                    <a:bodyPr/>
                    <a:lstStyle/>
                    <a:p>
                      <a:pPr algn="ctr"/>
                      <a:endParaRPr lang="en-IN" sz="900" dirty="0"/>
                    </a:p>
                  </a:txBody>
                  <a:tcPr anchor="ctr">
                    <a:solidFill>
                      <a:schemeClr val="accent1"/>
                    </a:solidFill>
                  </a:tcPr>
                </a:tc>
                <a:tc hMerge="1" vMerge="1">
                  <a:txBody>
                    <a:bodyPr/>
                    <a:lstStyle/>
                    <a:p>
                      <a:endParaRPr lang="en-IN"/>
                    </a:p>
                  </a:txBody>
                  <a:tcPr/>
                </a:tc>
                <a:tc gridSpan="3" vMerge="1">
                  <a:txBody>
                    <a:bodyPr/>
                    <a:lstStyle/>
                    <a:p>
                      <a:pPr algn="ctr"/>
                      <a:endParaRPr lang="en-IN" sz="900" dirty="0"/>
                    </a:p>
                  </a:txBody>
                  <a:tcPr anchor="ctr">
                    <a:solidFill>
                      <a:schemeClr val="accent1"/>
                    </a:solidFill>
                  </a:tcPr>
                </a:tc>
                <a:tc hMerge="1" vMerge="1">
                  <a:txBody>
                    <a:bodyPr/>
                    <a:lstStyle/>
                    <a:p>
                      <a:endParaRPr lang="en-IN"/>
                    </a:p>
                  </a:txBody>
                  <a:tcPr/>
                </a:tc>
                <a:tc hMerge="1" vMerge="1">
                  <a:txBody>
                    <a:bodyPr/>
                    <a:lstStyle/>
                    <a:p>
                      <a:pPr algn="ctr"/>
                      <a:endParaRPr lang="en-IN" sz="900" dirty="0"/>
                    </a:p>
                  </a:txBody>
                  <a:tcPr/>
                </a:tc>
                <a:tc rowSpan="6">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229601">
                <a:tc rowSpan="5">
                  <a:txBody>
                    <a:bodyPr/>
                    <a:lstStyle/>
                    <a:p>
                      <a:pPr marL="0" marR="0" indent="0" algn="ctr" defTabSz="457200" rtl="0" eaLnBrk="1" fontAlgn="auto" latinLnBrk="0" hangingPunct="1">
                        <a:lnSpc>
                          <a:spcPct val="100000"/>
                        </a:lnSpc>
                        <a:spcBef>
                          <a:spcPts val="0"/>
                        </a:spcBef>
                        <a:spcAft>
                          <a:spcPts val="0"/>
                        </a:spcAft>
                        <a:buClrTx/>
                        <a:buSzTx/>
                        <a:buFontTx/>
                        <a:buNone/>
                        <a:tabLst/>
                        <a:defRPr/>
                      </a:pPr>
                      <a:endParaRPr lang="en-IN" sz="900" b="0" dirty="0" smtClean="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tx2">
                        <a:lumMod val="60000"/>
                        <a:lumOff val="40000"/>
                      </a:schemeClr>
                    </a:solidFill>
                  </a:tcPr>
                </a:tc>
                <a:tc rowSpan="5">
                  <a:txBody>
                    <a:bodyPr/>
                    <a:lstStyle/>
                    <a:p>
                      <a:pPr marL="0" marR="0" indent="0" algn="ctr" defTabSz="457200" rtl="0" eaLnBrk="1" fontAlgn="auto" latinLnBrk="0" hangingPunct="1">
                        <a:lnSpc>
                          <a:spcPct val="100000"/>
                        </a:lnSpc>
                        <a:spcBef>
                          <a:spcPts val="0"/>
                        </a:spcBef>
                        <a:spcAft>
                          <a:spcPts val="0"/>
                        </a:spcAft>
                        <a:buClrTx/>
                        <a:buSzTx/>
                        <a:buFontTx/>
                        <a:buNone/>
                        <a:tabLst/>
                        <a:defRPr/>
                      </a:pP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gridSpan="2" vMerge="1">
                  <a:txBody>
                    <a:bodyPr/>
                    <a:lstStyle/>
                    <a:p>
                      <a:pPr algn="ctr"/>
                      <a:endParaRPr lang="en-IN" sz="900" dirty="0"/>
                    </a:p>
                  </a:txBody>
                  <a:tcPr/>
                </a:tc>
                <a:tc hMerge="1" vMerge="1">
                  <a:txBody>
                    <a:bodyPr/>
                    <a:lstStyle/>
                    <a:p>
                      <a:endParaRPr lang="en-IN"/>
                    </a:p>
                  </a:txBody>
                  <a:tcPr/>
                </a:tc>
                <a:tc gridSpan="2" vMerge="1">
                  <a:txBody>
                    <a:bodyPr/>
                    <a:lstStyle/>
                    <a:p>
                      <a:pPr algn="ctr"/>
                      <a:endParaRPr lang="en-IN" sz="900" dirty="0"/>
                    </a:p>
                  </a:txBody>
                  <a:tcPr/>
                </a:tc>
                <a:tc hMerge="1" v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IN"/>
                    </a:p>
                  </a:txBody>
                  <a:tcPr/>
                </a:tc>
                <a:tc gridSpan="3" vMerge="1">
                  <a:txBody>
                    <a:bodyPr/>
                    <a:lstStyle/>
                    <a:p>
                      <a:pPr algn="ct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vMerge="1">
                  <a:txBody>
                    <a:bodyPr/>
                    <a:lstStyle/>
                    <a:p>
                      <a:endParaRPr lang="en-IN"/>
                    </a:p>
                  </a:txBody>
                  <a:tcPr/>
                </a:tc>
                <a:tc hMerge="1"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rowSpan="2" grid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rowSpan="2" hMerge="1">
                  <a:txBody>
                    <a:bodyPr/>
                    <a:lstStyle/>
                    <a:p>
                      <a:endParaRPr lang="en-IN"/>
                    </a:p>
                  </a:txBody>
                  <a:tcPr/>
                </a:tc>
                <a:tc rowSpan="2" hMerge="1">
                  <a:txBody>
                    <a:bodyPr/>
                    <a:lstStyle/>
                    <a:p>
                      <a:pPr algn="ctr"/>
                      <a:endParaRPr lang="en-IN" sz="900" dirty="0"/>
                    </a:p>
                  </a:txBody>
                  <a:tcPr/>
                </a:tc>
                <a:tc rowSpan="2" hMerge="1">
                  <a:txBody>
                    <a:bodyPr/>
                    <a:lstStyle/>
                    <a:p>
                      <a:endParaRPr lang="en-IN"/>
                    </a:p>
                  </a:txBody>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vMerge="1">
                  <a:txBody>
                    <a:bodyPr/>
                    <a:lstStyle/>
                    <a:p>
                      <a:pPr algn="ctr"/>
                      <a:endParaRPr lang="en-IN" sz="900" dirty="0"/>
                    </a:p>
                  </a:txBody>
                  <a:tcPr anchor="ctr">
                    <a:solidFill>
                      <a:schemeClr val="accent1"/>
                    </a:solidFill>
                  </a:tcPr>
                </a:tc>
              </a:tr>
              <a:tr h="123401">
                <a:tc vMerge="1">
                  <a:txBody>
                    <a:bodyPr/>
                    <a:lstStyle/>
                    <a:p>
                      <a:pPr marL="0" marR="0" indent="0" algn="ctr" defTabSz="457200" rtl="0" eaLnBrk="1" fontAlgn="auto" latinLnBrk="0" hangingPunct="1">
                        <a:lnSpc>
                          <a:spcPct val="100000"/>
                        </a:lnSpc>
                        <a:spcBef>
                          <a:spcPts val="0"/>
                        </a:spcBef>
                        <a:spcAft>
                          <a:spcPts val="0"/>
                        </a:spcAft>
                        <a:buClrTx/>
                        <a:buSzTx/>
                        <a:buFontTx/>
                        <a:buNone/>
                        <a:tabLst/>
                        <a:defRPr/>
                      </a:pPr>
                      <a:endParaRPr lang="en-IN" sz="900" dirty="0" smtClean="0"/>
                    </a:p>
                  </a:txBody>
                  <a:tcPr/>
                </a:tc>
                <a:tc vMerge="1">
                  <a:txBody>
                    <a:bodyPr/>
                    <a:lstStyle/>
                    <a:p>
                      <a:pPr marL="0" marR="0" indent="0" algn="ctr" defTabSz="457200" rtl="0" eaLnBrk="1" fontAlgn="auto" latinLnBrk="0" hangingPunct="1">
                        <a:lnSpc>
                          <a:spcPct val="100000"/>
                        </a:lnSpc>
                        <a:spcBef>
                          <a:spcPts val="0"/>
                        </a:spcBef>
                        <a:spcAft>
                          <a:spcPts val="0"/>
                        </a:spcAft>
                        <a:buClrTx/>
                        <a:buSzTx/>
                        <a:buFontTx/>
                        <a:buNone/>
                        <a:tabLst/>
                        <a:defRPr/>
                      </a:pPr>
                      <a:endParaRPr lang="en-IN" sz="900" dirty="0" smtClean="0"/>
                    </a:p>
                  </a:txBody>
                  <a:tcPr/>
                </a:tc>
                <a:tc rowSpan="4" grid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rowSpan="4" hMerge="1">
                  <a:txBody>
                    <a:bodyPr/>
                    <a:lstStyle/>
                    <a:p>
                      <a:endParaRPr lang="en-IN"/>
                    </a:p>
                  </a:txBody>
                  <a:tcPr/>
                </a:tc>
                <a:tc rowSpan="4" hMerge="1">
                  <a:txBody>
                    <a:bodyPr/>
                    <a:lstStyle/>
                    <a:p>
                      <a:pPr algn="ctr"/>
                      <a:endParaRPr lang="en-IN" sz="900" dirty="0" smtClean="0"/>
                    </a:p>
                  </a:txBody>
                  <a:tcPr/>
                </a:tc>
                <a:tc rowSpan="4" hMerge="1">
                  <a:txBody>
                    <a:bodyPr/>
                    <a:lstStyle/>
                    <a:p>
                      <a:endParaRPr lang="en-IN"/>
                    </a:p>
                  </a:txBody>
                  <a:tcPr/>
                </a:tc>
                <a:tc rowSpan="2" gridSpan="2">
                  <a:txBody>
                    <a:bodyPr/>
                    <a:lstStyle/>
                    <a:p>
                      <a:pPr marL="0" marR="0" indent="0" algn="ctr" defTabSz="457200" rtl="0" eaLnBrk="1" fontAlgn="auto" latinLnBrk="0" hangingPunct="1">
                        <a:lnSpc>
                          <a:spcPct val="100000"/>
                        </a:lnSpc>
                        <a:spcBef>
                          <a:spcPts val="0"/>
                        </a:spcBef>
                        <a:spcAft>
                          <a:spcPts val="0"/>
                        </a:spcAft>
                        <a:buClrTx/>
                        <a:buSzTx/>
                        <a:buFontTx/>
                        <a:buNone/>
                        <a:tabLst/>
                        <a:defRPr/>
                      </a:pP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rowSpan="2" hMerge="1">
                  <a:txBody>
                    <a:bodyPr/>
                    <a:lstStyle/>
                    <a:p>
                      <a:endParaRPr lang="en-IN"/>
                    </a:p>
                  </a:txBody>
                  <a:tcPr/>
                </a:tc>
                <a:tc rowSpan="4"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rowSpan="4" hMerge="1">
                  <a:txBody>
                    <a:bodyPr/>
                    <a:lstStyle/>
                    <a:p>
                      <a:endParaRPr lang="en-IN"/>
                    </a:p>
                  </a:txBody>
                  <a:tcPr/>
                </a:tc>
                <a:tc gridSpan="3" vMerge="1">
                  <a:txBody>
                    <a:bodyPr/>
                    <a:lstStyle/>
                    <a:p>
                      <a:pPr algn="ctr"/>
                      <a:endParaRPr lang="en-IN" sz="900" b="0" dirty="0">
                        <a:solidFill>
                          <a:schemeClr val="tx1"/>
                        </a:solidFill>
                      </a:endParaRPr>
                    </a:p>
                  </a:txBody>
                  <a:tcPr/>
                </a:tc>
                <a:tc hMerge="1" vMerge="1">
                  <a:txBody>
                    <a:bodyPr/>
                    <a:lstStyle/>
                    <a:p>
                      <a:endParaRPr lang="en-IN"/>
                    </a:p>
                  </a:txBody>
                  <a:tcPr/>
                </a:tc>
                <a:tc hMerge="1"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gridSpan="4"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vMerge="1">
                  <a:txBody>
                    <a:bodyPr/>
                    <a:lstStyle/>
                    <a:p>
                      <a:endParaRPr lang="en-IN"/>
                    </a:p>
                  </a:txBody>
                  <a:tcPr/>
                </a:tc>
                <a:tc hMerge="1"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vMerge="1">
                  <a:txBody>
                    <a:bodyPr/>
                    <a:lstStyle/>
                    <a:p>
                      <a:endParaRPr lang="en-IN"/>
                    </a:p>
                  </a:txBody>
                  <a:tcPr/>
                </a:tc>
                <a:tc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pPr algn="ctr"/>
                      <a:endParaRPr lang="en-IN" sz="900" dirty="0"/>
                    </a:p>
                  </a:txBody>
                  <a:tcPr anchor="ctr">
                    <a:solidFill>
                      <a:schemeClr val="accent1"/>
                    </a:solidFill>
                  </a:tcPr>
                </a:tc>
              </a:tr>
              <a:tr h="105088">
                <a:tc vMerge="1">
                  <a:txBody>
                    <a:bodyPr/>
                    <a:lstStyle/>
                    <a:p>
                      <a:endParaRPr lang="en-IN"/>
                    </a:p>
                  </a:txBody>
                  <a:tcPr/>
                </a:tc>
                <a:tc vMerge="1">
                  <a:txBody>
                    <a:bodyPr/>
                    <a:lstStyle/>
                    <a:p>
                      <a:endParaRPr lang="en-IN"/>
                    </a:p>
                  </a:txBody>
                  <a:tcPr/>
                </a:tc>
                <a:tc gridSpan="4" vMerge="1">
                  <a:txBody>
                    <a:bodyPr/>
                    <a:lstStyle/>
                    <a:p>
                      <a:endParaRPr lang="en-IN"/>
                    </a:p>
                  </a:txBody>
                  <a:tcPr/>
                </a:tc>
                <a:tc hMerge="1" vMerge="1">
                  <a:txBody>
                    <a:bodyPr/>
                    <a:lstStyle/>
                    <a:p>
                      <a:endParaRPr lang="en-IN"/>
                    </a:p>
                  </a:txBody>
                  <a:tcPr/>
                </a:tc>
                <a:tc hMerge="1" vMerge="1">
                  <a:txBody>
                    <a:bodyPr/>
                    <a:lstStyle/>
                    <a:p>
                      <a:endParaRPr lang="en-IN"/>
                    </a:p>
                  </a:txBody>
                  <a:tcPr/>
                </a:tc>
                <a:tc hMerge="1" vMerge="1">
                  <a:txBody>
                    <a:bodyPr/>
                    <a:lstStyle/>
                    <a:p>
                      <a:endParaRPr lang="en-IN"/>
                    </a:p>
                  </a:txBody>
                  <a:tcPr/>
                </a:tc>
                <a:tc gridSpan="2" vMerge="1">
                  <a:txBody>
                    <a:bodyPr/>
                    <a:lstStyle/>
                    <a:p>
                      <a:endParaRPr lang="en-IN"/>
                    </a:p>
                  </a:txBody>
                  <a:tcPr/>
                </a:tc>
                <a:tc hMerge="1" vMerge="1">
                  <a:txBody>
                    <a:bodyPr/>
                    <a:lstStyle/>
                    <a:p>
                      <a:endParaRPr lang="en-IN"/>
                    </a:p>
                  </a:txBody>
                  <a:tcPr/>
                </a:tc>
                <a:tc gridSpan="2" vMerge="1">
                  <a:txBody>
                    <a:bodyPr/>
                    <a:lstStyle/>
                    <a:p>
                      <a:endParaRPr lang="en-IN"/>
                    </a:p>
                  </a:txBody>
                  <a:tcPr/>
                </a:tc>
                <a:tc hMerge="1" vMerge="1">
                  <a:txBody>
                    <a:bodyPr/>
                    <a:lstStyle/>
                    <a:p>
                      <a:endParaRPr lang="en-IN"/>
                    </a:p>
                  </a:txBody>
                  <a:tcPr/>
                </a:tc>
                <a:tc rowSpan="3" gridSpan="2">
                  <a:txBody>
                    <a:bodyPr/>
                    <a:lstStyle/>
                    <a:p>
                      <a:pPr marL="0" marR="0" indent="0" algn="ctr" defTabSz="457200" rtl="0" eaLnBrk="1" fontAlgn="auto" latinLnBrk="0" hangingPunct="1">
                        <a:lnSpc>
                          <a:spcPct val="100000"/>
                        </a:lnSpc>
                        <a:spcBef>
                          <a:spcPts val="0"/>
                        </a:spcBef>
                        <a:spcAft>
                          <a:spcPts val="0"/>
                        </a:spcAft>
                        <a:buClrTx/>
                        <a:buSzTx/>
                        <a:buFontTx/>
                        <a:buNone/>
                        <a:tabLst/>
                        <a:defRPr/>
                      </a:pP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rowSpan="3" hMerge="1">
                  <a:txBody>
                    <a:bodyPr/>
                    <a:lstStyle/>
                    <a:p>
                      <a:endParaRPr lang="en-IN"/>
                    </a:p>
                  </a:txBody>
                  <a:tcPr/>
                </a:tc>
                <a:tc row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rowSpan="2" hMerge="1">
                  <a:txBody>
                    <a:bodyPr/>
                    <a:lstStyle/>
                    <a:p>
                      <a:endParaRPr lang="en-IN"/>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rowSpan="2" hMerge="1">
                  <a:txBody>
                    <a:bodyPr/>
                    <a:lstStyle/>
                    <a:p>
                      <a:endParaRPr lang="en-IN"/>
                    </a:p>
                  </a:txBody>
                  <a:tcPr/>
                </a:tc>
                <a:tc row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vMerge="1">
                  <a:txBody>
                    <a:bodyPr/>
                    <a:lstStyle/>
                    <a:p>
                      <a:endParaRPr lang="en-IN"/>
                    </a:p>
                  </a:txBody>
                  <a:tcPr/>
                </a:tc>
              </a:tr>
              <a:tr h="260494">
                <a:tc vMerge="1">
                  <a:txBody>
                    <a:bodyPr/>
                    <a:lstStyle/>
                    <a:p>
                      <a:endParaRPr lang="en-IN"/>
                    </a:p>
                  </a:txBody>
                  <a:tcPr/>
                </a:tc>
                <a:tc vMerge="1">
                  <a:txBody>
                    <a:bodyPr/>
                    <a:lstStyle/>
                    <a:p>
                      <a:endParaRPr lang="en-IN"/>
                    </a:p>
                  </a:txBody>
                  <a:tcPr/>
                </a:tc>
                <a:tc gridSpan="4" vMerge="1">
                  <a:txBody>
                    <a:bodyPr/>
                    <a:lstStyle/>
                    <a:p>
                      <a:endParaRPr lang="en-IN"/>
                    </a:p>
                  </a:txBody>
                  <a:tcPr/>
                </a:tc>
                <a:tc hMerge="1" vMerge="1">
                  <a:txBody>
                    <a:bodyPr/>
                    <a:lstStyle/>
                    <a:p>
                      <a:endParaRPr lang="en-IN"/>
                    </a:p>
                  </a:txBody>
                  <a:tcPr/>
                </a:tc>
                <a:tc hMerge="1" vMerge="1">
                  <a:txBody>
                    <a:bodyPr/>
                    <a:lstStyle/>
                    <a:p>
                      <a:endParaRPr lang="en-IN"/>
                    </a:p>
                  </a:txBody>
                  <a:tcPr/>
                </a:tc>
                <a:tc hMerge="1" vMerge="1">
                  <a:txBody>
                    <a:bodyPr/>
                    <a:lstStyle/>
                    <a:p>
                      <a:endParaRPr lang="en-IN"/>
                    </a:p>
                  </a:txBody>
                  <a:tcPr/>
                </a:tc>
                <a:tc rowSpan="2" gridSpan="2">
                  <a:txBody>
                    <a:bodyPr/>
                    <a:lstStyle/>
                    <a:p>
                      <a:pPr algn="ct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rowSpan="2" hMerge="1">
                  <a:txBody>
                    <a:bodyPr/>
                    <a:lstStyle/>
                    <a:p>
                      <a:endParaRPr lang="en-IN"/>
                    </a:p>
                  </a:txBody>
                  <a:tcPr/>
                </a:tc>
                <a:tc gridSpan="2" vMerge="1">
                  <a:txBody>
                    <a:bodyPr/>
                    <a:lstStyle/>
                    <a:p>
                      <a:endParaRPr lang="en-IN"/>
                    </a:p>
                  </a:txBody>
                  <a:tcPr/>
                </a:tc>
                <a:tc hMerge="1" vMerge="1">
                  <a:txBody>
                    <a:bodyPr/>
                    <a:lstStyle/>
                    <a:p>
                      <a:endParaRPr lang="en-IN"/>
                    </a:p>
                  </a:txBody>
                  <a:tcPr/>
                </a:tc>
                <a:tc gridSpan="2" vMerge="1">
                  <a:txBody>
                    <a:bodyPr/>
                    <a:lstStyle/>
                    <a:p>
                      <a:endParaRPr lang="en-IN"/>
                    </a:p>
                  </a:txBody>
                  <a:tcPr/>
                </a:tc>
                <a:tc hMerge="1" vMerge="1">
                  <a:txBody>
                    <a:bodyPr/>
                    <a:lstStyle/>
                    <a:p>
                      <a:endParaRPr lang="en-IN"/>
                    </a:p>
                  </a:txBody>
                  <a:tcPr/>
                </a:tc>
                <a:tc vMerge="1">
                  <a:txBody>
                    <a:bodyPr/>
                    <a:lstStyle/>
                    <a:p>
                      <a:endParaRPr lang="en-IN"/>
                    </a:p>
                  </a:txBody>
                  <a:tcPr/>
                </a:tc>
                <a:tc gridSpan="2" vMerge="1">
                  <a:txBody>
                    <a:bodyPr/>
                    <a:lstStyle/>
                    <a:p>
                      <a:endParaRPr lang="en-IN"/>
                    </a:p>
                  </a:txBody>
                  <a:tcPr/>
                </a:tc>
                <a:tc hMerge="1" vMerge="1">
                  <a:txBody>
                    <a:bodyPr/>
                    <a:lstStyle/>
                    <a:p>
                      <a:endParaRPr lang="en-IN"/>
                    </a:p>
                  </a:txBody>
                  <a:tcPr/>
                </a:tc>
                <a:tc gridSpan="2" vMerge="1">
                  <a:txBody>
                    <a:bodyPr/>
                    <a:lstStyle/>
                    <a:p>
                      <a:endParaRPr lang="en-IN"/>
                    </a:p>
                  </a:txBody>
                  <a:tcPr/>
                </a:tc>
                <a:tc hMerge="1" vMerge="1">
                  <a:txBody>
                    <a:bodyPr/>
                    <a:lstStyle/>
                    <a:p>
                      <a:endParaRPr lang="en-IN"/>
                    </a:p>
                  </a:txBody>
                  <a:tcPr/>
                </a:tc>
                <a:tc vMerge="1">
                  <a:txBody>
                    <a:bodyPr/>
                    <a:lstStyle/>
                    <a:p>
                      <a:endParaRPr lang="en-IN"/>
                    </a:p>
                  </a:txBody>
                  <a:tcPr/>
                </a:tc>
                <a:tc vMerge="1">
                  <a:txBody>
                    <a:bodyPr/>
                    <a:lstStyle/>
                    <a:p>
                      <a:endParaRPr lang="en-IN"/>
                    </a:p>
                  </a:txBody>
                  <a:tcPr/>
                </a:tc>
              </a:tr>
              <a:tr h="0">
                <a:tc vMerge="1">
                  <a:txBody>
                    <a:bodyPr/>
                    <a:lstStyle/>
                    <a:p>
                      <a:endParaRPr lang="en-IN"/>
                    </a:p>
                  </a:txBody>
                  <a:tcPr/>
                </a:tc>
                <a:tc vMerge="1">
                  <a:txBody>
                    <a:bodyPr/>
                    <a:lstStyle/>
                    <a:p>
                      <a:endParaRPr lang="en-IN"/>
                    </a:p>
                  </a:txBody>
                  <a:tcPr/>
                </a:tc>
                <a:tc gridSpan="4" vMerge="1">
                  <a:txBody>
                    <a:bodyPr/>
                    <a:lstStyle/>
                    <a:p>
                      <a:endParaRPr lang="en-IN"/>
                    </a:p>
                  </a:txBody>
                  <a:tcPr/>
                </a:tc>
                <a:tc hMerge="1" vMerge="1">
                  <a:txBody>
                    <a:bodyPr/>
                    <a:lstStyle/>
                    <a:p>
                      <a:endParaRPr lang="en-IN"/>
                    </a:p>
                  </a:txBody>
                  <a:tcPr/>
                </a:tc>
                <a:tc hMerge="1" vMerge="1">
                  <a:txBody>
                    <a:bodyPr/>
                    <a:lstStyle/>
                    <a:p>
                      <a:endParaRPr lang="en-IN"/>
                    </a:p>
                  </a:txBody>
                  <a:tcPr/>
                </a:tc>
                <a:tc hMerge="1" vMerge="1">
                  <a:txBody>
                    <a:bodyPr/>
                    <a:lstStyle/>
                    <a:p>
                      <a:endParaRPr lang="en-IN"/>
                    </a:p>
                  </a:txBody>
                  <a:tcPr/>
                </a:tc>
                <a:tc gridSpan="2" vMerge="1">
                  <a:txBody>
                    <a:bodyPr/>
                    <a:lstStyle/>
                    <a:p>
                      <a:endParaRPr lang="en-IN"/>
                    </a:p>
                  </a:txBody>
                  <a:tcPr/>
                </a:tc>
                <a:tc hMerge="1" vMerge="1">
                  <a:txBody>
                    <a:bodyPr/>
                    <a:lstStyle/>
                    <a:p>
                      <a:endParaRPr lang="en-IN"/>
                    </a:p>
                  </a:txBody>
                  <a:tcPr/>
                </a:tc>
                <a:tc gridSpan="2" vMerge="1">
                  <a:txBody>
                    <a:bodyPr/>
                    <a:lstStyle/>
                    <a:p>
                      <a:endParaRPr lang="en-IN"/>
                    </a:p>
                  </a:txBody>
                  <a:tcPr/>
                </a:tc>
                <a:tc hMerge="1" vMerge="1">
                  <a:txBody>
                    <a:bodyPr/>
                    <a:lstStyle/>
                    <a:p>
                      <a:endParaRPr lang="en-IN"/>
                    </a:p>
                  </a:txBody>
                  <a:tcPr/>
                </a:tc>
                <a:tc gridSpan="2" vMerge="1">
                  <a:txBody>
                    <a:bodyPr/>
                    <a:lstStyle/>
                    <a:p>
                      <a:endParaRPr lang="en-IN"/>
                    </a:p>
                  </a:txBody>
                  <a:tcPr/>
                </a:tc>
                <a:tc hMerge="1" vMerge="1">
                  <a:txBody>
                    <a:bodyPr/>
                    <a:lstStyle/>
                    <a:p>
                      <a:endParaRPr lang="en-IN"/>
                    </a:p>
                  </a:txBody>
                  <a:tcPr/>
                </a:tc>
                <a:tc vMerge="1">
                  <a:txBody>
                    <a:bodyPr/>
                    <a:lstStyle/>
                    <a:p>
                      <a:endParaRPr lang="en-IN"/>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rowSpan="2" hMerge="1">
                  <a:txBody>
                    <a:bodyPr/>
                    <a:lstStyle/>
                    <a:p>
                      <a:endParaRPr lang="en-IN"/>
                    </a:p>
                  </a:txBody>
                  <a:tcPr/>
                </a:tc>
                <a:tc rowSpan="4"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4" hMerge="1">
                  <a:txBody>
                    <a:bodyPr/>
                    <a:lstStyle/>
                    <a:p>
                      <a:endParaRPr lang="en-IN"/>
                    </a:p>
                  </a:txBody>
                  <a:tcPr/>
                </a:tc>
                <a:tc vMerge="1">
                  <a:txBody>
                    <a:bodyPr/>
                    <a:lstStyle/>
                    <a:p>
                      <a:endParaRPr lang="en-IN"/>
                    </a:p>
                  </a:txBody>
                  <a:tcPr/>
                </a:tc>
                <a:tc vMerge="1">
                  <a:txBody>
                    <a:bodyPr/>
                    <a:lstStyle/>
                    <a:p>
                      <a:endParaRPr lang="en-IN"/>
                    </a:p>
                  </a:txBody>
                  <a:tcPr/>
                </a:tc>
              </a:tr>
              <a:tr h="269409">
                <a:tc>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lumMod val="95000"/>
                      </a:schemeClr>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pPr algn="ctr"/>
                      <a:endParaRPr lang="en-IN" sz="900" dirty="0"/>
                    </a:p>
                  </a:txBody>
                  <a:tcPr/>
                </a:tc>
                <a:tc hMerge="1">
                  <a:txBody>
                    <a:bodyPr/>
                    <a:lstStyle/>
                    <a:p>
                      <a:pPr algn="ctr"/>
                      <a:endParaRPr lang="en-IN" sz="900" dirty="0"/>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IN"/>
                    </a:p>
                  </a:txBody>
                  <a:tcPr/>
                </a:tc>
                <a:tc vMerge="1">
                  <a:txBody>
                    <a:bodyPr/>
                    <a:lstStyle/>
                    <a:p>
                      <a:pPr algn="ctr"/>
                      <a:endParaRPr lang="en-IN" sz="900" dirty="0"/>
                    </a:p>
                  </a:txBody>
                  <a:tcPr/>
                </a:tc>
                <a:tc gridSpan="2" vMerge="1">
                  <a:txBody>
                    <a:bodyPr/>
                    <a:lstStyle/>
                    <a:p>
                      <a:pPr algn="ctr"/>
                      <a:endParaRPr lang="en-IN" sz="900" dirty="0"/>
                    </a:p>
                  </a:txBody>
                  <a:tcPr/>
                </a:tc>
                <a:tc hMerge="1" vMerge="1">
                  <a:txBody>
                    <a:bodyPr/>
                    <a:lstStyle/>
                    <a:p>
                      <a:endParaRPr lang="en-IN"/>
                    </a:p>
                  </a:txBody>
                  <a:tcPr/>
                </a:tc>
                <a:tc gridSpan="2" vMerge="1">
                  <a:txBody>
                    <a:bodyPr/>
                    <a:lstStyle/>
                    <a:p>
                      <a:pPr algn="ctr"/>
                      <a:endParaRPr lang="en-IN" sz="900" dirty="0"/>
                    </a:p>
                  </a:txBody>
                  <a:tcPr/>
                </a:tc>
                <a:tc hMerge="1" vMerge="1">
                  <a:txBody>
                    <a:bodyPr/>
                    <a:lstStyle/>
                    <a:p>
                      <a:endParaRPr lang="en-IN"/>
                    </a:p>
                  </a:txBody>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r>
              <a:tr h="0">
                <a:tc rowSpan="2" gridSpan="2">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rowSpan="2" hMerge="1">
                  <a:txBody>
                    <a:bodyPr/>
                    <a:lstStyle/>
                    <a:p>
                      <a:endParaRPr lang="en-IN"/>
                    </a:p>
                  </a:txBody>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rowSpan="2" hMerge="1">
                  <a:txBody>
                    <a:bodyPr/>
                    <a:lstStyle/>
                    <a:p>
                      <a:endParaRPr lang="en-IN"/>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rowSpan="2" hMerge="1">
                  <a:txBody>
                    <a:bodyPr/>
                    <a:lstStyle/>
                    <a:p>
                      <a:endParaRPr lang="en-IN"/>
                    </a:p>
                  </a:txBody>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vMerge="1">
                  <a:txBody>
                    <a:bodyPr/>
                    <a:lstStyle/>
                    <a:p>
                      <a:endParaRPr lang="en-IN"/>
                    </a:p>
                  </a:txBody>
                  <a:tcPr/>
                </a:tc>
                <a:tc hMerge="1" vMerge="1">
                  <a:txBody>
                    <a:bodyPr/>
                    <a:lstStyle/>
                    <a:p>
                      <a:endParaRPr lang="en-IN"/>
                    </a:p>
                  </a:txBody>
                  <a:tcPr/>
                </a:tc>
                <a:tc vMerge="1">
                  <a:txBody>
                    <a:bodyPr/>
                    <a:lstStyle/>
                    <a:p>
                      <a:endParaRPr lang="en-IN"/>
                    </a:p>
                  </a:txBody>
                  <a:tcPr/>
                </a:tc>
                <a:tc vMerge="1">
                  <a:txBody>
                    <a:bodyPr/>
                    <a:lstStyle/>
                    <a:p>
                      <a:endParaRPr lang="en-IN"/>
                    </a:p>
                  </a:txBody>
                  <a:tcPr/>
                </a:tc>
              </a:tr>
              <a:tr h="365582">
                <a:tc gridSpan="2" vMerge="1">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vMerge="1">
                  <a:txBody>
                    <a:bodyPr/>
                    <a:lstStyle/>
                    <a:p>
                      <a:endParaRPr lang="en-IN"/>
                    </a:p>
                  </a:txBody>
                  <a:tcPr/>
                </a:tc>
                <a:tc gridSpan="2"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hMerge="1" vMerge="1">
                  <a:txBody>
                    <a:bodyPr/>
                    <a:lstStyle/>
                    <a:p>
                      <a:endParaRPr lang="en-IN"/>
                    </a:p>
                  </a:txBody>
                  <a:tcPr/>
                </a:tc>
                <a:tc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gridSpan="2"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vMerge="1">
                  <a:txBody>
                    <a:bodyPr/>
                    <a:lstStyle/>
                    <a:p>
                      <a:endParaRPr lang="en-IN"/>
                    </a:p>
                  </a:txBody>
                  <a:tcPr/>
                </a:tc>
                <a:tc gridSpan="2"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vMerge="1">
                  <a:txBody>
                    <a:bodyPr/>
                    <a:lstStyle/>
                    <a:p>
                      <a:endParaRPr lang="en-IN"/>
                    </a:p>
                  </a:txBody>
                  <a:tcPr/>
                </a:tc>
                <a:tc gridSpan="2"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vMerge="1">
                  <a:txBody>
                    <a:bodyPr/>
                    <a:lstStyle/>
                    <a:p>
                      <a:pPr algn="ctr"/>
                      <a:endParaRPr lang="en-IN" sz="900" dirty="0"/>
                    </a:p>
                  </a:txBody>
                  <a:tcPr/>
                </a:tc>
                <a:tc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vMerge="1">
                  <a:txBody>
                    <a:bodyPr/>
                    <a:lstStyle/>
                    <a:p>
                      <a:pPr algn="ctr"/>
                      <a:endParaRPr lang="en-IN" sz="900" dirty="0"/>
                    </a:p>
                  </a:txBody>
                  <a:tcPr/>
                </a:tc>
                <a:tc hMerge="1" vMerge="1">
                  <a:txBody>
                    <a:bodyPr/>
                    <a:lstStyle/>
                    <a:p>
                      <a:endParaRPr lang="en-IN"/>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r>
              <a:tr h="373543">
                <a:tc rowSpan="4">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lumMod val="95000"/>
                      </a:schemeClr>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rowSpan="2" gridSpan="2">
                  <a:txBody>
                    <a:bodyPr/>
                    <a:lstStyle/>
                    <a:p>
                      <a:pPr algn="ct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rowSpan="2" hMerge="1">
                  <a:txBody>
                    <a:bodyPr/>
                    <a:lstStyle/>
                    <a:p>
                      <a:pPr algn="ctr"/>
                      <a:endParaRPr lang="en-IN" sz="900" dirty="0"/>
                    </a:p>
                  </a:txBody>
                  <a:tcPr/>
                </a:tc>
                <a:tc rowSpan="2" gridSpan="2">
                  <a:txBody>
                    <a:bodyPr/>
                    <a:lstStyle/>
                    <a:p>
                      <a:pPr algn="ct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rowSpan="2" hMerge="1">
                  <a:txBody>
                    <a:bodyPr/>
                    <a:lstStyle/>
                    <a:p>
                      <a:pPr algn="ctr"/>
                      <a:endParaRPr lang="en-IN" sz="900" dirty="0"/>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IN"/>
                    </a:p>
                  </a:txBody>
                  <a:tcPr/>
                </a:tc>
                <a:tc>
                  <a:txBody>
                    <a:bodyPr/>
                    <a:lstStyle/>
                    <a:p>
                      <a:pPr algn="ct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endParaRPr lang="en-IN"/>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r>
              <a:tr h="229601">
                <a:tc vMerge="1">
                  <a:txBody>
                    <a:bodyPr/>
                    <a:lstStyle/>
                    <a:p>
                      <a:pPr algn="ctr"/>
                      <a:endParaRPr lang="en-IN" sz="9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gridSpan="2" vMerge="1">
                  <a:txBody>
                    <a:bodyPr/>
                    <a:lstStyle/>
                    <a:p>
                      <a:pPr algn="ctr"/>
                      <a:endParaRPr lang="en-IN" sz="900" dirty="0" smtClean="0"/>
                    </a:p>
                  </a:txBody>
                  <a:tcPr/>
                </a:tc>
                <a:tc hMerge="1" vMerge="1">
                  <a:txBody>
                    <a:bodyPr/>
                    <a:lstStyle/>
                    <a:p>
                      <a:endParaRPr lang="en-IN"/>
                    </a:p>
                  </a:txBody>
                  <a:tcPr/>
                </a:tc>
                <a:tc gridSpan="2" vMerge="1">
                  <a:txBody>
                    <a:bodyPr/>
                    <a:lstStyle/>
                    <a:p>
                      <a:pPr algn="ctr"/>
                      <a:endParaRPr lang="en-IN" sz="900" dirty="0"/>
                    </a:p>
                  </a:txBody>
                  <a:tcPr/>
                </a:tc>
                <a:tc hMerge="1" vMerge="1">
                  <a:txBody>
                    <a:bodyPr/>
                    <a:lstStyle/>
                    <a:p>
                      <a:endParaRPr lang="en-IN"/>
                    </a:p>
                  </a:txBody>
                  <a:tcPr/>
                </a:tc>
                <a:tc rowSpan="3"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rowSpan="3" hMerge="1">
                  <a:txBody>
                    <a:bodyPr/>
                    <a:lstStyle/>
                    <a:p>
                      <a:endParaRPr lang="en-IN"/>
                    </a:p>
                  </a:txBody>
                  <a:tcPr/>
                </a:tc>
                <a:tc gridSpan="2">
                  <a:txBody>
                    <a:bodyPr/>
                    <a:lstStyle/>
                    <a:p>
                      <a:pPr algn="ct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endParaRPr lang="en-IN"/>
                    </a:p>
                  </a:txBody>
                  <a:tcPr/>
                </a:tc>
                <a:tc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a:endParaRPr lang="en-IN" sz="900" dirty="0"/>
                    </a:p>
                  </a:txBody>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hMerge="1">
                  <a:txBody>
                    <a:bodyPr/>
                    <a:lstStyle/>
                    <a:p>
                      <a:endParaRPr lang="en-IN"/>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row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228489">
                <a:tc vMerge="1">
                  <a:txBody>
                    <a:bodyPr/>
                    <a:lstStyle/>
                    <a:p>
                      <a:pPr algn="ctr"/>
                      <a:endParaRPr lang="en-IN" sz="9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vMerge="1">
                  <a:txBody>
                    <a:bodyPr/>
                    <a:lstStyle/>
                    <a:p>
                      <a:pPr algn="ctr"/>
                      <a:endParaRPr lang="en-IN" sz="9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grid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rowSpan="2" hMerge="1">
                  <a:txBody>
                    <a:bodyPr/>
                    <a:lstStyle/>
                    <a:p>
                      <a:endParaRPr lang="en-IN"/>
                    </a:p>
                  </a:txBody>
                  <a:tcPr/>
                </a:tc>
                <a:tc rowSpan="2" hMerge="1">
                  <a:txBody>
                    <a:bodyPr/>
                    <a:lstStyle/>
                    <a:p>
                      <a:pPr algn="ctr"/>
                      <a:endParaRPr lang="en-IN" sz="900" dirty="0"/>
                    </a:p>
                  </a:txBody>
                  <a:tcPr/>
                </a:tc>
                <a:tc rowSpan="2" hMerge="1">
                  <a:txBody>
                    <a:bodyPr/>
                    <a:lstStyle/>
                    <a:p>
                      <a:endParaRPr lang="en-IN"/>
                    </a:p>
                  </a:txBody>
                  <a:tcPr/>
                </a:tc>
                <a:tc gridSpan="2" vMerge="1">
                  <a:txBody>
                    <a:bodyPr/>
                    <a:lstStyle/>
                    <a:p>
                      <a:pPr algn="ctr"/>
                      <a:endParaRPr lang="en-IN" sz="900" dirty="0"/>
                    </a:p>
                  </a:txBody>
                  <a:tcPr/>
                </a:tc>
                <a:tc hMerge="1" v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endParaRPr lang="en-IN"/>
                    </a:p>
                  </a:txBody>
                  <a:tcPr/>
                </a:tc>
                <a:tc row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4"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rowSpan="4" hMerge="1">
                  <a:txBody>
                    <a:bodyPr/>
                    <a:lstStyle/>
                    <a:p>
                      <a:endParaRPr lang="en-IN"/>
                    </a:p>
                  </a:txBody>
                  <a:tcPr/>
                </a:tc>
                <a:tc row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row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vMerge="1">
                  <a:txBody>
                    <a:bodyPr/>
                    <a:lstStyle/>
                    <a:p>
                      <a:pPr algn="ctr"/>
                      <a:endParaRPr lang="en-IN" sz="900" dirty="0"/>
                    </a:p>
                  </a:txBody>
                  <a:tcPr/>
                </a:tc>
              </a:tr>
              <a:tr h="228489">
                <a:tc vMerge="1">
                  <a:txBody>
                    <a:bodyPr/>
                    <a:lstStyle/>
                    <a:p>
                      <a:endParaRPr lang="en-IN"/>
                    </a:p>
                  </a:txBody>
                  <a:tcPr/>
                </a:tc>
                <a:tc vMerge="1">
                  <a:txBody>
                    <a:bodyPr/>
                    <a:lstStyle/>
                    <a:p>
                      <a:endParaRPr lang="en-IN"/>
                    </a:p>
                  </a:txBody>
                  <a:tcPr/>
                </a:tc>
                <a:tc gridSpan="4" vMerge="1">
                  <a:txBody>
                    <a:bodyPr/>
                    <a:lstStyle/>
                    <a:p>
                      <a:endParaRPr lang="en-IN"/>
                    </a:p>
                  </a:txBody>
                  <a:tcPr/>
                </a:tc>
                <a:tc hMerge="1" vMerge="1">
                  <a:txBody>
                    <a:bodyPr/>
                    <a:lstStyle/>
                    <a:p>
                      <a:endParaRPr lang="en-IN"/>
                    </a:p>
                  </a:txBody>
                  <a:tcPr/>
                </a:tc>
                <a:tc hMerge="1" vMerge="1">
                  <a:txBody>
                    <a:bodyPr/>
                    <a:lstStyle/>
                    <a:p>
                      <a:endParaRPr lang="en-IN"/>
                    </a:p>
                  </a:txBody>
                  <a:tcPr/>
                </a:tc>
                <a:tc hMerge="1" vMerge="1">
                  <a:txBody>
                    <a:bodyPr/>
                    <a:lstStyle/>
                    <a:p>
                      <a:endParaRPr lang="en-IN"/>
                    </a:p>
                  </a:txBody>
                  <a:tcPr/>
                </a:tc>
                <a:tc gridSpan="2" vMerge="1">
                  <a:txBody>
                    <a:bodyPr/>
                    <a:lstStyle/>
                    <a:p>
                      <a:endParaRPr lang="en-IN"/>
                    </a:p>
                  </a:txBody>
                  <a:tcPr/>
                </a:tc>
                <a:tc hMerge="1" vMerge="1">
                  <a:txBody>
                    <a:bodyPr/>
                    <a:lstStyle/>
                    <a:p>
                      <a:endParaRPr lang="en-IN" dirty="0"/>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gridSpan="2" vMerge="1">
                  <a:txBody>
                    <a:bodyPr/>
                    <a:lstStyle/>
                    <a:p>
                      <a:endParaRPr lang="en-IN"/>
                    </a:p>
                  </a:txBody>
                  <a:tcPr/>
                </a:tc>
                <a:tc hMerge="1"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pPr algn="ctr"/>
                      <a:endParaRPr lang="en-IN" sz="900" dirty="0"/>
                    </a:p>
                  </a:txBody>
                  <a:tcPr/>
                </a:tc>
                <a:tc vMerge="1">
                  <a:txBody>
                    <a:bodyPr/>
                    <a:lstStyle/>
                    <a:p>
                      <a:endParaRPr lang="en-IN"/>
                    </a:p>
                  </a:txBody>
                  <a:tcPr/>
                </a:tc>
              </a:tr>
              <a:tr h="228489">
                <a:tc rowSpan="3" gridSpan="2">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rowSpan="3" hMerge="1">
                  <a:txBody>
                    <a:bodyPr/>
                    <a:lstStyle/>
                    <a:p>
                      <a:endParaRPr lang="en-IN"/>
                    </a:p>
                  </a:txBody>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rowSpan="2" gridSpan="2">
                  <a:txBody>
                    <a:bodyPr/>
                    <a:lstStyle/>
                    <a:p>
                      <a:pPr algn="ct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vMerge="1">
                  <a:txBody>
                    <a:bodyPr/>
                    <a:lstStyle/>
                    <a:p>
                      <a:pPr algn="ctr"/>
                      <a:endParaRPr lang="en-IN" sz="900" dirty="0"/>
                    </a:p>
                  </a:txBody>
                  <a:tcPr/>
                </a:tc>
                <a:tc vMerge="1">
                  <a:txBody>
                    <a:bodyPr/>
                    <a:lstStyle/>
                    <a:p>
                      <a:pPr algn="ctr"/>
                      <a:endParaRPr lang="en-IN" sz="900" dirty="0"/>
                    </a:p>
                  </a:txBody>
                  <a:tcPr/>
                </a:tc>
                <a:tc vMerge="1">
                  <a:txBody>
                    <a:bodyPr/>
                    <a:lstStyle/>
                    <a:p>
                      <a:pPr algn="ctr"/>
                      <a:endParaRPr lang="en-IN" sz="900" dirty="0"/>
                    </a:p>
                  </a:txBody>
                  <a:tcPr/>
                </a:tc>
                <a:tc gridSpan="2" vMerge="1">
                  <a:txBody>
                    <a:bodyPr/>
                    <a:lstStyle/>
                    <a:p>
                      <a:pPr algn="ctr"/>
                      <a:endParaRPr lang="en-IN" sz="900" dirty="0"/>
                    </a:p>
                  </a:txBody>
                  <a:tcPr/>
                </a:tc>
                <a:tc hMerge="1" vMerge="1">
                  <a:txBody>
                    <a:bodyPr/>
                    <a:lstStyle/>
                    <a:p>
                      <a:endParaRPr lang="en-IN"/>
                    </a:p>
                  </a:txBody>
                  <a:tcPr/>
                </a:tc>
                <a:tc vMerge="1">
                  <a:txBody>
                    <a:bodyPr/>
                    <a:lstStyle/>
                    <a:p>
                      <a:pPr algn="ctr"/>
                      <a:endParaRPr lang="en-IN" sz="900" dirty="0"/>
                    </a:p>
                  </a:txBody>
                  <a:tcPr/>
                </a:tc>
                <a:tc vMerge="1">
                  <a:txBody>
                    <a:bodyPr/>
                    <a:lstStyle/>
                    <a:p>
                      <a:endParaRPr lang="en-IN"/>
                    </a:p>
                  </a:txBody>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r>
              <a:tr h="228489">
                <a:tc gridSpan="2" vMerge="1">
                  <a:txBody>
                    <a:bodyPr/>
                    <a:lstStyle/>
                    <a:p>
                      <a:endParaRPr lang="en-IN"/>
                    </a:p>
                  </a:txBody>
                  <a:tcPr/>
                </a:tc>
                <a:tc hMerge="1" vMerge="1">
                  <a:txBody>
                    <a:bodyPr/>
                    <a:lstStyle/>
                    <a:p>
                      <a:endParaRPr lang="en-IN"/>
                    </a:p>
                  </a:txBody>
                  <a:tcPr/>
                </a:tc>
                <a:tc vMerge="1">
                  <a:txBody>
                    <a:bodyPr/>
                    <a:lstStyle/>
                    <a:p>
                      <a:pPr algn="ctr"/>
                      <a:endParaRPr lang="en-IN" sz="1000" dirty="0"/>
                    </a:p>
                  </a:txBody>
                  <a:tcPr/>
                </a:tc>
                <a:tc vMerge="1">
                  <a:txBody>
                    <a:bodyPr/>
                    <a:lstStyle/>
                    <a:p>
                      <a:endParaRPr lang="en-IN"/>
                    </a:p>
                  </a:txBody>
                  <a:tcPr/>
                </a:tc>
                <a:tc gridSpan="2" vMerge="1">
                  <a:txBody>
                    <a:bodyPr/>
                    <a:lstStyle/>
                    <a:p>
                      <a:pPr algn="ctr"/>
                      <a:endParaRPr lang="en-IN" sz="1000" dirty="0"/>
                    </a:p>
                  </a:txBody>
                  <a:tcPr/>
                </a:tc>
                <a:tc hMerge="1" vMerge="1">
                  <a:txBody>
                    <a:bodyPr/>
                    <a:lstStyle/>
                    <a:p>
                      <a:endParaRPr lang="en-IN"/>
                    </a:p>
                  </a:txBody>
                  <a:tcPr/>
                </a:tc>
                <a:tc gridSpan="2" vMerge="1">
                  <a:txBody>
                    <a:bodyPr/>
                    <a:lstStyle/>
                    <a:p>
                      <a:endParaRPr lang="en-IN"/>
                    </a:p>
                  </a:txBody>
                  <a:tcPr/>
                </a:tc>
                <a:tc hMerge="1" v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gridSpan="2" vMerge="1">
                  <a:txBody>
                    <a:bodyPr/>
                    <a:lstStyle/>
                    <a:p>
                      <a:endParaRPr lang="en-IN"/>
                    </a:p>
                  </a:txBody>
                  <a:tcPr/>
                </a:tc>
                <a:tc hMerge="1"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r>
              <a:tr h="365582">
                <a:tc gridSpan="2" vMerge="1">
                  <a:txBody>
                    <a:bodyPr/>
                    <a:lstStyle/>
                    <a:p>
                      <a:pPr algn="ctr"/>
                      <a:endParaRPr lang="en-IN" sz="900" dirty="0"/>
                    </a:p>
                  </a:txBody>
                  <a:tcPr/>
                </a:tc>
                <a:tc hMerge="1" vMerge="1">
                  <a:txBody>
                    <a:bodyPr/>
                    <a:lstStyle/>
                    <a:p>
                      <a:endParaRPr lang="en-IN"/>
                    </a:p>
                  </a:txBody>
                  <a:tcPr/>
                </a:tc>
                <a:tc grid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hMerge="1">
                  <a:txBody>
                    <a:bodyPr/>
                    <a:lstStyle/>
                    <a:p>
                      <a:pPr algn="ctr"/>
                      <a:endParaRPr lang="en-IN" sz="900" dirty="0"/>
                    </a:p>
                  </a:txBody>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pPr algn="ctr"/>
                      <a:endParaRPr lang="en-IN" sz="900" dirty="0"/>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dirty="0"/>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hMerge="1">
                  <a:txBody>
                    <a:bodyPr/>
                    <a:lstStyle/>
                    <a:p>
                      <a:endParaRPr lang="en-IN"/>
                    </a:p>
                  </a:txBody>
                  <a:tcPr/>
                </a:tc>
                <a:tc rowSpan="4"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rowSpan="4" h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r>
              <a:tr h="228489">
                <a:tc rowSpan="2" gridSpan="6">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rowSpan="2" hMerge="1">
                  <a:txBody>
                    <a:bodyPr/>
                    <a:lstStyle/>
                    <a:p>
                      <a:endParaRPr lang="en-IN"/>
                    </a:p>
                  </a:txBody>
                  <a:tcPr/>
                </a:tc>
                <a:tc rowSpan="2" hMerge="1">
                  <a:txBody>
                    <a:bodyPr/>
                    <a:lstStyle/>
                    <a:p>
                      <a:pPr algn="ctr"/>
                      <a:endParaRPr lang="en-IN" sz="900"/>
                    </a:p>
                  </a:txBody>
                  <a:tcPr/>
                </a:tc>
                <a:tc rowSpan="2" hMerge="1">
                  <a:txBody>
                    <a:bodyPr/>
                    <a:lstStyle/>
                    <a:p>
                      <a:endParaRPr lang="en-IN"/>
                    </a:p>
                  </a:txBody>
                  <a:tcPr/>
                </a:tc>
                <a:tc rowSpan="2" hMerge="1">
                  <a:txBody>
                    <a:bodyPr/>
                    <a:lstStyle/>
                    <a:p>
                      <a:pPr algn="ctr"/>
                      <a:endParaRPr lang="en-IN" sz="900" dirty="0"/>
                    </a:p>
                  </a:txBody>
                  <a:tcPr/>
                </a:tc>
                <a:tc rowSpan="2"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hMerge="1">
                  <a:txBody>
                    <a:bodyPr/>
                    <a:lstStyle/>
                    <a:p>
                      <a:pPr algn="ctr"/>
                      <a:endParaRPr lang="en-IN" sz="900" dirty="0"/>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a:endParaRPr lang="en-IN" sz="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hMerge="1">
                  <a:txBody>
                    <a:bodyPr/>
                    <a:lstStyle/>
                    <a:p>
                      <a:endParaRPr lang="en-IN"/>
                    </a:p>
                  </a:txBody>
                  <a:tcPr/>
                </a:tc>
                <a:tc gridSpan="2"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r>
              <a:tr h="228489">
                <a:tc gridSpan="6" vMerge="1">
                  <a:txBody>
                    <a:bodyPr/>
                    <a:lstStyle/>
                    <a:p>
                      <a:pPr algn="ctr"/>
                      <a:endParaRPr lang="en-IN" sz="900" dirty="0"/>
                    </a:p>
                  </a:txBody>
                  <a:tcPr/>
                </a:tc>
                <a:tc hMerge="1" vMerge="1">
                  <a:txBody>
                    <a:bodyPr/>
                    <a:lstStyle/>
                    <a:p>
                      <a:endParaRPr lang="en-IN"/>
                    </a:p>
                  </a:txBody>
                  <a:tcPr/>
                </a:tc>
                <a:tc hMerge="1" vMerge="1">
                  <a:txBody>
                    <a:bodyPr/>
                    <a:lstStyle/>
                    <a:p>
                      <a:pPr algn="ctr"/>
                      <a:endParaRPr lang="en-IN" sz="900" dirty="0"/>
                    </a:p>
                  </a:txBody>
                  <a:tcPr/>
                </a:tc>
                <a:tc hMerge="1" vMerge="1">
                  <a:txBody>
                    <a:bodyPr/>
                    <a:lstStyle/>
                    <a:p>
                      <a:endParaRPr lang="en-IN"/>
                    </a:p>
                  </a:txBody>
                  <a:tcPr/>
                </a:tc>
                <a:tc hMerge="1" vMerge="1">
                  <a:txBody>
                    <a:bodyPr/>
                    <a:lstStyle/>
                    <a:p>
                      <a:pPr algn="ctr"/>
                      <a:endParaRPr lang="en-IN" sz="900" dirty="0"/>
                    </a:p>
                  </a:txBody>
                  <a:tcPr/>
                </a:tc>
                <a:tc hMerge="1" v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rowSpan="2"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2" hMerge="1">
                  <a:txBody>
                    <a:bodyPr/>
                    <a:lstStyle/>
                    <a:p>
                      <a:pPr algn="ctr"/>
                      <a:endParaRPr lang="en-IN" sz="900" dirty="0"/>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endParaRPr lang="en-IN"/>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endParaRPr lang="en-IN"/>
                    </a:p>
                  </a:txBody>
                  <a:tcPr/>
                </a:tc>
                <a:tc gridSpan="2"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r>
              <a:tr h="228489">
                <a:tc gridSpan="2">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no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a:p>
                  </a:txBody>
                  <a:tcPr/>
                </a:tc>
                <a:tc gridSpan="3" vMerge="1">
                  <a:txBody>
                    <a:bodyPr/>
                    <a:lstStyle/>
                    <a:p>
                      <a:pPr algn="ctr"/>
                      <a:endParaRPr lang="en-IN" sz="900" dirty="0"/>
                    </a:p>
                  </a:txBody>
                  <a:tcPr/>
                </a:tc>
                <a:tc hMerge="1" vMerge="1">
                  <a:txBody>
                    <a:bodyPr/>
                    <a:lstStyle/>
                    <a:p>
                      <a:endParaRPr lang="en-IN"/>
                    </a:p>
                  </a:txBody>
                  <a:tcPr/>
                </a:tc>
                <a:tc hMerge="1" vMerge="1">
                  <a:txBody>
                    <a:bodyPr/>
                    <a:lstStyle/>
                    <a:p>
                      <a:pPr algn="ctr"/>
                      <a:endParaRPr lang="en-IN" sz="900" dirty="0"/>
                    </a:p>
                  </a:txBody>
                  <a:tcPr/>
                </a:tc>
                <a:tc grid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a:endParaRPr lang="en-IN" sz="900" dirty="0"/>
                    </a:p>
                  </a:txBody>
                  <a:tcPr/>
                </a:tc>
                <a:tc hMerge="1">
                  <a:txBody>
                    <a:bodyPr/>
                    <a:lstStyle/>
                    <a:p>
                      <a:pPr algn="ctr"/>
                      <a:endParaRPr lang="en-IN" sz="900" dirty="0"/>
                    </a:p>
                  </a:txBody>
                  <a:tcPr/>
                </a:tc>
                <a:tc hMerge="1">
                  <a:txBody>
                    <a:bodyPr/>
                    <a:lstStyle/>
                    <a:p>
                      <a:endParaRPr lang="en-IN"/>
                    </a:p>
                  </a:txBody>
                  <a:tcPr/>
                </a:tc>
                <a:tc gridSpan="2"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en-IN"/>
                    </a:p>
                  </a:txBody>
                  <a:tcPr/>
                </a:tc>
                <a:tc gridSpan="2"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7</a:t>
            </a:fld>
            <a:endParaRPr lang="en-US" dirty="0">
              <a:solidFill>
                <a:srgbClr val="0E5580"/>
              </a:solidFill>
            </a:endParaRPr>
          </a:p>
        </p:txBody>
      </p:sp>
      <p:sp>
        <p:nvSpPr>
          <p:cNvPr id="28" name="Title 4"/>
          <p:cNvSpPr>
            <a:spLocks noGrp="1"/>
          </p:cNvSpPr>
          <p:nvPr>
            <p:ph type="title"/>
          </p:nvPr>
        </p:nvSpPr>
        <p:spPr>
          <a:xfrm>
            <a:off x="629984" y="542362"/>
            <a:ext cx="9785683" cy="706964"/>
          </a:xfrm>
        </p:spPr>
        <p:txBody>
          <a:bodyPr/>
          <a:lstStyle/>
          <a:p>
            <a:r>
              <a:rPr lang="en-IN" dirty="0" smtClean="0"/>
              <a:t>Model Application – Croma Sales Potential</a:t>
            </a:r>
            <a:endParaRPr lang="en-IN" dirty="0"/>
          </a:p>
        </p:txBody>
      </p:sp>
      <p:sp>
        <p:nvSpPr>
          <p:cNvPr id="43" name="TextBox 42"/>
          <p:cNvSpPr txBox="1"/>
          <p:nvPr/>
        </p:nvSpPr>
        <p:spPr bwMode="gray">
          <a:xfrm>
            <a:off x="1288473" y="3571152"/>
            <a:ext cx="900545" cy="138546"/>
          </a:xfrm>
          <a:prstGeom prst="rect">
            <a:avLst/>
          </a:prstGeom>
        </p:spPr>
        <p:txBody>
          <a:bodyPr vert="horz" wrap="square" lIns="91440" tIns="45720" rIns="91440" bIns="45720" rtlCol="0" anchor="ctr">
            <a:noAutofit/>
          </a:bodyPr>
          <a:lstStyle/>
          <a:p>
            <a:endParaRPr lang="en-IN" sz="2000" i="1" dirty="0" smtClean="0"/>
          </a:p>
        </p:txBody>
      </p:sp>
      <p:sp>
        <p:nvSpPr>
          <p:cNvPr id="44" name="TextBox 43"/>
          <p:cNvSpPr txBox="1"/>
          <p:nvPr/>
        </p:nvSpPr>
        <p:spPr bwMode="gray">
          <a:xfrm>
            <a:off x="1291595" y="3661304"/>
            <a:ext cx="1039091" cy="138546"/>
          </a:xfrm>
          <a:prstGeom prst="rect">
            <a:avLst/>
          </a:prstGeom>
        </p:spPr>
        <p:txBody>
          <a:bodyPr vert="horz" wrap="square" lIns="91440" tIns="45720" rIns="91440" bIns="45720" rtlCol="0" anchor="ctr">
            <a:noAutofit/>
          </a:bodyPr>
          <a:lstStyle/>
          <a:p>
            <a:pPr algn="ctr"/>
            <a:r>
              <a:rPr lang="en-IN" sz="800" i="1" dirty="0" smtClean="0"/>
              <a:t>Jubilee Hills</a:t>
            </a:r>
          </a:p>
        </p:txBody>
      </p:sp>
      <p:sp>
        <p:nvSpPr>
          <p:cNvPr id="45" name="TextBox 44"/>
          <p:cNvSpPr txBox="1"/>
          <p:nvPr/>
        </p:nvSpPr>
        <p:spPr bwMode="gray">
          <a:xfrm>
            <a:off x="2819241" y="2674627"/>
            <a:ext cx="1039091" cy="138546"/>
          </a:xfrm>
          <a:prstGeom prst="rect">
            <a:avLst/>
          </a:prstGeom>
        </p:spPr>
        <p:txBody>
          <a:bodyPr vert="horz" wrap="square" lIns="91440" tIns="45720" rIns="91440" bIns="45720" rtlCol="0" anchor="ctr">
            <a:noAutofit/>
          </a:bodyPr>
          <a:lstStyle/>
          <a:p>
            <a:pPr algn="ctr"/>
            <a:r>
              <a:rPr lang="en-IN" sz="800" i="1" dirty="0" err="1" smtClean="0"/>
              <a:t>Panjagutta</a:t>
            </a:r>
            <a:endParaRPr lang="en-IN" sz="800" i="1" dirty="0" smtClean="0"/>
          </a:p>
        </p:txBody>
      </p:sp>
      <p:sp>
        <p:nvSpPr>
          <p:cNvPr id="46" name="TextBox 45"/>
          <p:cNvSpPr txBox="1"/>
          <p:nvPr/>
        </p:nvSpPr>
        <p:spPr bwMode="gray">
          <a:xfrm>
            <a:off x="4444107" y="2102715"/>
            <a:ext cx="1039091" cy="138546"/>
          </a:xfrm>
          <a:prstGeom prst="rect">
            <a:avLst/>
          </a:prstGeom>
        </p:spPr>
        <p:txBody>
          <a:bodyPr vert="horz" wrap="square" lIns="91440" tIns="45720" rIns="91440" bIns="45720" rtlCol="0" anchor="ctr">
            <a:noAutofit/>
          </a:bodyPr>
          <a:lstStyle/>
          <a:p>
            <a:pPr algn="ctr"/>
            <a:r>
              <a:rPr lang="en-IN" sz="800" i="1" dirty="0" err="1" smtClean="0"/>
              <a:t>Vikrampuri</a:t>
            </a:r>
            <a:endParaRPr lang="en-IN" sz="800" i="1" dirty="0" smtClean="0"/>
          </a:p>
        </p:txBody>
      </p:sp>
      <p:sp>
        <p:nvSpPr>
          <p:cNvPr id="47" name="TextBox 46"/>
          <p:cNvSpPr txBox="1"/>
          <p:nvPr/>
        </p:nvSpPr>
        <p:spPr bwMode="gray">
          <a:xfrm>
            <a:off x="1304153" y="4010123"/>
            <a:ext cx="1039091" cy="138546"/>
          </a:xfrm>
          <a:prstGeom prst="rect">
            <a:avLst/>
          </a:prstGeom>
        </p:spPr>
        <p:txBody>
          <a:bodyPr vert="horz" wrap="square" lIns="91440" tIns="45720" rIns="91440" bIns="45720" rtlCol="0" anchor="ctr">
            <a:noAutofit/>
          </a:bodyPr>
          <a:lstStyle/>
          <a:p>
            <a:pPr algn="ctr"/>
            <a:r>
              <a:rPr lang="en-IN" sz="800" i="1" dirty="0" smtClean="0"/>
              <a:t>Golconda</a:t>
            </a:r>
          </a:p>
        </p:txBody>
      </p:sp>
      <p:sp>
        <p:nvSpPr>
          <p:cNvPr id="48" name="TextBox 47"/>
          <p:cNvSpPr txBox="1"/>
          <p:nvPr/>
        </p:nvSpPr>
        <p:spPr bwMode="gray">
          <a:xfrm>
            <a:off x="1291593" y="6033680"/>
            <a:ext cx="1039091" cy="138546"/>
          </a:xfrm>
          <a:prstGeom prst="rect">
            <a:avLst/>
          </a:prstGeom>
        </p:spPr>
        <p:txBody>
          <a:bodyPr vert="horz" wrap="square" lIns="91440" tIns="45720" rIns="91440" bIns="45720" rtlCol="0" anchor="ctr">
            <a:noAutofit/>
          </a:bodyPr>
          <a:lstStyle/>
          <a:p>
            <a:pPr algn="ctr"/>
            <a:r>
              <a:rPr lang="en-IN" sz="800" i="1" dirty="0" smtClean="0"/>
              <a:t>Airport</a:t>
            </a:r>
          </a:p>
        </p:txBody>
      </p:sp>
      <p:sp>
        <p:nvSpPr>
          <p:cNvPr id="49" name="TextBox 48"/>
          <p:cNvSpPr txBox="1"/>
          <p:nvPr/>
        </p:nvSpPr>
        <p:spPr bwMode="gray">
          <a:xfrm>
            <a:off x="7664685" y="2440161"/>
            <a:ext cx="1039091" cy="138546"/>
          </a:xfrm>
          <a:prstGeom prst="rect">
            <a:avLst/>
          </a:prstGeom>
        </p:spPr>
        <p:txBody>
          <a:bodyPr vert="horz" wrap="square" lIns="91440" tIns="45720" rIns="91440" bIns="45720" rtlCol="0" anchor="ctr">
            <a:noAutofit/>
          </a:bodyPr>
          <a:lstStyle/>
          <a:p>
            <a:pPr algn="ctr"/>
            <a:r>
              <a:rPr lang="en-IN" sz="800" i="1" dirty="0" smtClean="0"/>
              <a:t>A S Rao Nagar</a:t>
            </a:r>
          </a:p>
        </p:txBody>
      </p:sp>
      <p:sp>
        <p:nvSpPr>
          <p:cNvPr id="50" name="TextBox 49"/>
          <p:cNvSpPr txBox="1"/>
          <p:nvPr/>
        </p:nvSpPr>
        <p:spPr bwMode="gray">
          <a:xfrm>
            <a:off x="2647389" y="2217919"/>
            <a:ext cx="1039091" cy="138546"/>
          </a:xfrm>
          <a:prstGeom prst="rect">
            <a:avLst/>
          </a:prstGeom>
          <a:noFill/>
        </p:spPr>
        <p:txBody>
          <a:bodyPr vert="horz" wrap="square" lIns="91440" tIns="45720" rIns="91440" bIns="45720" rtlCol="0" anchor="ctr">
            <a:noAutofit/>
          </a:bodyPr>
          <a:lstStyle/>
          <a:p>
            <a:pPr algn="ctr"/>
            <a:r>
              <a:rPr lang="en-IN" sz="800" i="1" dirty="0" err="1" smtClean="0"/>
              <a:t>Kukatpally</a:t>
            </a:r>
            <a:endParaRPr lang="en-IN" sz="800" i="1" dirty="0" smtClean="0"/>
          </a:p>
        </p:txBody>
      </p:sp>
      <p:sp>
        <p:nvSpPr>
          <p:cNvPr id="51" name="TextBox 50"/>
          <p:cNvSpPr txBox="1"/>
          <p:nvPr/>
        </p:nvSpPr>
        <p:spPr bwMode="gray">
          <a:xfrm>
            <a:off x="4456783" y="3956566"/>
            <a:ext cx="1039091" cy="138546"/>
          </a:xfrm>
          <a:prstGeom prst="rect">
            <a:avLst/>
          </a:prstGeom>
        </p:spPr>
        <p:txBody>
          <a:bodyPr vert="horz" wrap="square" lIns="91440" tIns="45720" rIns="91440" bIns="45720" rtlCol="0" anchor="ctr">
            <a:noAutofit/>
          </a:bodyPr>
          <a:lstStyle/>
          <a:p>
            <a:pPr algn="ctr"/>
            <a:r>
              <a:rPr lang="en-IN" sz="800" i="1" dirty="0" err="1" smtClean="0"/>
              <a:t>HImayatnagar</a:t>
            </a:r>
            <a:endParaRPr lang="en-IN" sz="800" i="1" dirty="0" smtClean="0"/>
          </a:p>
        </p:txBody>
      </p:sp>
      <p:sp>
        <p:nvSpPr>
          <p:cNvPr id="52" name="TextBox 51"/>
          <p:cNvSpPr txBox="1"/>
          <p:nvPr/>
        </p:nvSpPr>
        <p:spPr bwMode="gray">
          <a:xfrm>
            <a:off x="6884590" y="3956566"/>
            <a:ext cx="1039091" cy="138546"/>
          </a:xfrm>
          <a:prstGeom prst="rect">
            <a:avLst/>
          </a:prstGeom>
        </p:spPr>
        <p:txBody>
          <a:bodyPr vert="horz" wrap="square" lIns="91440" tIns="45720" rIns="91440" bIns="45720" rtlCol="0" anchor="ctr">
            <a:noAutofit/>
          </a:bodyPr>
          <a:lstStyle/>
          <a:p>
            <a:pPr algn="ctr"/>
            <a:r>
              <a:rPr lang="en-IN" sz="800" i="1" dirty="0" err="1" smtClean="0"/>
              <a:t>Habsiguda</a:t>
            </a:r>
            <a:endParaRPr lang="en-IN" sz="800" i="1" dirty="0" smtClean="0"/>
          </a:p>
        </p:txBody>
      </p:sp>
      <p:sp>
        <p:nvSpPr>
          <p:cNvPr id="53" name="TextBox 52"/>
          <p:cNvSpPr txBox="1"/>
          <p:nvPr/>
        </p:nvSpPr>
        <p:spPr bwMode="gray">
          <a:xfrm>
            <a:off x="469936" y="2205040"/>
            <a:ext cx="1039091" cy="138546"/>
          </a:xfrm>
          <a:prstGeom prst="rect">
            <a:avLst/>
          </a:prstGeom>
        </p:spPr>
        <p:txBody>
          <a:bodyPr vert="horz" wrap="square" lIns="91440" tIns="45720" rIns="91440" bIns="45720" rtlCol="0" anchor="ctr">
            <a:noAutofit/>
          </a:bodyPr>
          <a:lstStyle/>
          <a:p>
            <a:pPr algn="ctr"/>
            <a:r>
              <a:rPr lang="en-IN" sz="800" i="1" dirty="0" err="1" smtClean="0"/>
              <a:t>Chandanagar</a:t>
            </a:r>
            <a:endParaRPr lang="en-IN" sz="800" i="1" dirty="0" smtClean="0"/>
          </a:p>
        </p:txBody>
      </p:sp>
      <p:sp>
        <p:nvSpPr>
          <p:cNvPr id="54" name="Oval 53"/>
          <p:cNvSpPr/>
          <p:nvPr/>
        </p:nvSpPr>
        <p:spPr>
          <a:xfrm>
            <a:off x="1543286" y="3487370"/>
            <a:ext cx="187037" cy="159422"/>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55" name="Oval 54"/>
          <p:cNvSpPr/>
          <p:nvPr/>
        </p:nvSpPr>
        <p:spPr>
          <a:xfrm>
            <a:off x="3276594" y="2515274"/>
            <a:ext cx="187037" cy="159422"/>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56" name="Oval 55"/>
          <p:cNvSpPr/>
          <p:nvPr/>
        </p:nvSpPr>
        <p:spPr>
          <a:xfrm>
            <a:off x="5206720" y="2159292"/>
            <a:ext cx="187037" cy="159422"/>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57" name="Oval 56"/>
          <p:cNvSpPr/>
          <p:nvPr/>
        </p:nvSpPr>
        <p:spPr>
          <a:xfrm>
            <a:off x="1717619" y="5874258"/>
            <a:ext cx="187037" cy="159422"/>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59" name="Oval 58"/>
          <p:cNvSpPr/>
          <p:nvPr/>
        </p:nvSpPr>
        <p:spPr>
          <a:xfrm>
            <a:off x="3256984" y="2054512"/>
            <a:ext cx="187037" cy="159422"/>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60" name="Oval 59"/>
          <p:cNvSpPr/>
          <p:nvPr/>
        </p:nvSpPr>
        <p:spPr>
          <a:xfrm>
            <a:off x="895962" y="2067391"/>
            <a:ext cx="187037" cy="159422"/>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61" name="Oval 60"/>
          <p:cNvSpPr/>
          <p:nvPr/>
        </p:nvSpPr>
        <p:spPr>
          <a:xfrm>
            <a:off x="4882809" y="3826011"/>
            <a:ext cx="187037" cy="159422"/>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dirty="0"/>
          </a:p>
        </p:txBody>
      </p:sp>
      <p:sp>
        <p:nvSpPr>
          <p:cNvPr id="62" name="Oval 61"/>
          <p:cNvSpPr/>
          <p:nvPr/>
        </p:nvSpPr>
        <p:spPr>
          <a:xfrm>
            <a:off x="7310616" y="3779497"/>
            <a:ext cx="187037" cy="159422"/>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63" name="Oval 62"/>
          <p:cNvSpPr/>
          <p:nvPr/>
        </p:nvSpPr>
        <p:spPr>
          <a:xfrm>
            <a:off x="8051098" y="2288339"/>
            <a:ext cx="187037" cy="159422"/>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72" name="TextBox 71"/>
          <p:cNvSpPr txBox="1"/>
          <p:nvPr/>
        </p:nvSpPr>
        <p:spPr bwMode="gray">
          <a:xfrm>
            <a:off x="5720607" y="4235108"/>
            <a:ext cx="1039091" cy="138546"/>
          </a:xfrm>
          <a:prstGeom prst="rect">
            <a:avLst/>
          </a:prstGeom>
        </p:spPr>
        <p:txBody>
          <a:bodyPr vert="horz" wrap="square" lIns="91440" tIns="45720" rIns="91440" bIns="45720" rtlCol="0" anchor="ctr">
            <a:noAutofit/>
          </a:bodyPr>
          <a:lstStyle/>
          <a:p>
            <a:pPr algn="ctr"/>
            <a:r>
              <a:rPr lang="en-IN" sz="800" i="1" dirty="0" err="1" smtClean="0"/>
              <a:t>Kachiguda</a:t>
            </a:r>
            <a:endParaRPr lang="en-IN" sz="800" i="1" dirty="0" smtClean="0"/>
          </a:p>
        </p:txBody>
      </p:sp>
      <p:sp>
        <p:nvSpPr>
          <p:cNvPr id="73" name="TextBox 72"/>
          <p:cNvSpPr txBox="1"/>
          <p:nvPr/>
        </p:nvSpPr>
        <p:spPr bwMode="gray">
          <a:xfrm>
            <a:off x="6044714" y="4029072"/>
            <a:ext cx="1039091" cy="138546"/>
          </a:xfrm>
          <a:prstGeom prst="rect">
            <a:avLst/>
          </a:prstGeom>
        </p:spPr>
        <p:txBody>
          <a:bodyPr vert="horz" wrap="square" lIns="91440" tIns="45720" rIns="91440" bIns="45720" rtlCol="0" anchor="ctr">
            <a:noAutofit/>
          </a:bodyPr>
          <a:lstStyle/>
          <a:p>
            <a:pPr algn="ctr"/>
            <a:r>
              <a:rPr lang="en-IN" sz="800" i="1" dirty="0" err="1" smtClean="0"/>
              <a:t>Shivam</a:t>
            </a:r>
            <a:r>
              <a:rPr lang="en-IN" sz="800" i="1" dirty="0" smtClean="0"/>
              <a:t> Road</a:t>
            </a:r>
          </a:p>
        </p:txBody>
      </p:sp>
      <p:sp>
        <p:nvSpPr>
          <p:cNvPr id="74" name="TextBox 73"/>
          <p:cNvSpPr txBox="1"/>
          <p:nvPr/>
        </p:nvSpPr>
        <p:spPr bwMode="gray">
          <a:xfrm>
            <a:off x="6044713" y="4960700"/>
            <a:ext cx="1039091" cy="138546"/>
          </a:xfrm>
          <a:prstGeom prst="rect">
            <a:avLst/>
          </a:prstGeom>
        </p:spPr>
        <p:txBody>
          <a:bodyPr vert="horz" wrap="square" lIns="91440" tIns="45720" rIns="91440" bIns="45720" rtlCol="0" anchor="ctr">
            <a:noAutofit/>
          </a:bodyPr>
          <a:lstStyle/>
          <a:p>
            <a:pPr algn="ctr"/>
            <a:r>
              <a:rPr lang="en-IN" sz="800" i="1" dirty="0" err="1" smtClean="0"/>
              <a:t>Kothapete</a:t>
            </a:r>
            <a:endParaRPr lang="en-IN" sz="800" i="1" dirty="0" smtClean="0"/>
          </a:p>
        </p:txBody>
      </p:sp>
      <p:sp>
        <p:nvSpPr>
          <p:cNvPr id="75" name="TextBox 74"/>
          <p:cNvSpPr txBox="1"/>
          <p:nvPr/>
        </p:nvSpPr>
        <p:spPr bwMode="gray">
          <a:xfrm>
            <a:off x="2248567" y="3661304"/>
            <a:ext cx="1039091" cy="138546"/>
          </a:xfrm>
          <a:prstGeom prst="rect">
            <a:avLst/>
          </a:prstGeom>
        </p:spPr>
        <p:txBody>
          <a:bodyPr vert="horz" wrap="square" lIns="91440" tIns="45720" rIns="91440" bIns="45720" rtlCol="0" anchor="ctr">
            <a:noAutofit/>
          </a:bodyPr>
          <a:lstStyle/>
          <a:p>
            <a:pPr algn="ctr"/>
            <a:r>
              <a:rPr lang="en-IN" sz="800" i="1" dirty="0" smtClean="0"/>
              <a:t>Banjara Hills</a:t>
            </a:r>
          </a:p>
        </p:txBody>
      </p:sp>
      <p:sp>
        <p:nvSpPr>
          <p:cNvPr id="76" name="TextBox 75"/>
          <p:cNvSpPr txBox="1"/>
          <p:nvPr/>
        </p:nvSpPr>
        <p:spPr bwMode="gray">
          <a:xfrm>
            <a:off x="4404828" y="3292060"/>
            <a:ext cx="1039091" cy="138546"/>
          </a:xfrm>
          <a:prstGeom prst="rect">
            <a:avLst/>
          </a:prstGeom>
        </p:spPr>
        <p:txBody>
          <a:bodyPr vert="horz" wrap="square" lIns="91440" tIns="45720" rIns="91440" bIns="45720" rtlCol="0" anchor="ctr">
            <a:noAutofit/>
          </a:bodyPr>
          <a:lstStyle/>
          <a:p>
            <a:pPr algn="ctr"/>
            <a:r>
              <a:rPr lang="en-IN" sz="800" i="1" dirty="0" err="1" smtClean="0"/>
              <a:t>Amsri</a:t>
            </a:r>
            <a:r>
              <a:rPr lang="en-IN" sz="800" i="1" dirty="0" smtClean="0"/>
              <a:t> Faust,</a:t>
            </a:r>
          </a:p>
          <a:p>
            <a:pPr algn="ctr"/>
            <a:r>
              <a:rPr lang="en-IN" sz="800" i="1" dirty="0" err="1" smtClean="0"/>
              <a:t>Secunderabad</a:t>
            </a:r>
            <a:endParaRPr lang="en-IN" sz="800" i="1" dirty="0" smtClean="0"/>
          </a:p>
        </p:txBody>
      </p:sp>
      <p:sp>
        <p:nvSpPr>
          <p:cNvPr id="77" name="TextBox 76"/>
          <p:cNvSpPr txBox="1"/>
          <p:nvPr/>
        </p:nvSpPr>
        <p:spPr bwMode="gray">
          <a:xfrm>
            <a:off x="1688990" y="4666346"/>
            <a:ext cx="1039091" cy="138546"/>
          </a:xfrm>
          <a:prstGeom prst="rect">
            <a:avLst/>
          </a:prstGeom>
        </p:spPr>
        <p:txBody>
          <a:bodyPr vert="horz" wrap="square" lIns="91440" tIns="45720" rIns="91440" bIns="45720" rtlCol="0" anchor="ctr">
            <a:noAutofit/>
          </a:bodyPr>
          <a:lstStyle/>
          <a:p>
            <a:pPr algn="ctr"/>
            <a:r>
              <a:rPr lang="en-IN" sz="800" i="1" dirty="0" err="1" smtClean="0"/>
              <a:t>Attapur</a:t>
            </a:r>
            <a:endParaRPr lang="en-IN" sz="800" i="1" dirty="0" smtClean="0"/>
          </a:p>
        </p:txBody>
      </p:sp>
      <p:sp>
        <p:nvSpPr>
          <p:cNvPr id="78" name="TextBox 77"/>
          <p:cNvSpPr txBox="1"/>
          <p:nvPr/>
        </p:nvSpPr>
        <p:spPr bwMode="gray">
          <a:xfrm>
            <a:off x="3571019" y="3285219"/>
            <a:ext cx="1039091" cy="138546"/>
          </a:xfrm>
          <a:prstGeom prst="rect">
            <a:avLst/>
          </a:prstGeom>
        </p:spPr>
        <p:txBody>
          <a:bodyPr vert="horz" wrap="square" lIns="91440" tIns="45720" rIns="91440" bIns="45720" rtlCol="0" anchor="ctr">
            <a:noAutofit/>
          </a:bodyPr>
          <a:lstStyle/>
          <a:p>
            <a:pPr algn="ctr"/>
            <a:r>
              <a:rPr lang="en-IN" sz="800" i="1" dirty="0" err="1" smtClean="0"/>
              <a:t>Begumpet</a:t>
            </a:r>
            <a:endParaRPr lang="en-IN" sz="800" i="1" dirty="0" smtClean="0"/>
          </a:p>
        </p:txBody>
      </p:sp>
      <p:sp>
        <p:nvSpPr>
          <p:cNvPr id="79" name="TextBox 78"/>
          <p:cNvSpPr txBox="1"/>
          <p:nvPr/>
        </p:nvSpPr>
        <p:spPr bwMode="gray">
          <a:xfrm>
            <a:off x="4404828" y="2775941"/>
            <a:ext cx="1039091" cy="138546"/>
          </a:xfrm>
          <a:prstGeom prst="rect">
            <a:avLst/>
          </a:prstGeom>
        </p:spPr>
        <p:txBody>
          <a:bodyPr vert="horz" wrap="square" lIns="91440" tIns="45720" rIns="91440" bIns="45720" rtlCol="0" anchor="ctr">
            <a:noAutofit/>
          </a:bodyPr>
          <a:lstStyle/>
          <a:p>
            <a:pPr algn="ctr"/>
            <a:r>
              <a:rPr lang="en-IN" sz="800" i="1" dirty="0" smtClean="0"/>
              <a:t>Odyssey, </a:t>
            </a:r>
            <a:r>
              <a:rPr lang="en-IN" sz="800" i="1" dirty="0" err="1" smtClean="0"/>
              <a:t>Vikrampuri</a:t>
            </a:r>
            <a:endParaRPr lang="en-IN" sz="800" i="1" dirty="0" smtClean="0"/>
          </a:p>
        </p:txBody>
      </p:sp>
      <p:sp>
        <p:nvSpPr>
          <p:cNvPr id="80" name="TextBox 79"/>
          <p:cNvSpPr txBox="1"/>
          <p:nvPr/>
        </p:nvSpPr>
        <p:spPr bwMode="gray">
          <a:xfrm>
            <a:off x="7715223" y="3228825"/>
            <a:ext cx="1039091" cy="138546"/>
          </a:xfrm>
          <a:prstGeom prst="rect">
            <a:avLst/>
          </a:prstGeom>
        </p:spPr>
        <p:txBody>
          <a:bodyPr vert="horz" wrap="square" lIns="91440" tIns="45720" rIns="91440" bIns="45720" rtlCol="0" anchor="ctr">
            <a:noAutofit/>
          </a:bodyPr>
          <a:lstStyle/>
          <a:p>
            <a:pPr algn="ctr"/>
            <a:r>
              <a:rPr lang="en-IN" sz="800" i="1" dirty="0" err="1" smtClean="0"/>
              <a:t>Nacharam</a:t>
            </a:r>
            <a:endParaRPr lang="en-IN" sz="800" i="1" dirty="0" smtClean="0"/>
          </a:p>
        </p:txBody>
      </p:sp>
      <p:sp>
        <p:nvSpPr>
          <p:cNvPr id="81" name="TextBox 80"/>
          <p:cNvSpPr txBox="1"/>
          <p:nvPr/>
        </p:nvSpPr>
        <p:spPr bwMode="gray">
          <a:xfrm>
            <a:off x="2082310" y="4146220"/>
            <a:ext cx="1039091" cy="138546"/>
          </a:xfrm>
          <a:prstGeom prst="rect">
            <a:avLst/>
          </a:prstGeom>
        </p:spPr>
        <p:txBody>
          <a:bodyPr vert="horz" wrap="square" lIns="91440" tIns="45720" rIns="91440" bIns="45720" rtlCol="0" anchor="ctr">
            <a:noAutofit/>
          </a:bodyPr>
          <a:lstStyle/>
          <a:p>
            <a:pPr algn="ctr"/>
            <a:r>
              <a:rPr lang="en-IN" sz="800" i="1" dirty="0" err="1" smtClean="0"/>
              <a:t>Tolichowki</a:t>
            </a:r>
            <a:endParaRPr lang="en-IN" sz="800" i="1" dirty="0" smtClean="0"/>
          </a:p>
        </p:txBody>
      </p:sp>
      <p:sp>
        <p:nvSpPr>
          <p:cNvPr id="82" name="TextBox 81"/>
          <p:cNvSpPr txBox="1"/>
          <p:nvPr/>
        </p:nvSpPr>
        <p:spPr bwMode="gray">
          <a:xfrm>
            <a:off x="7599768" y="4212100"/>
            <a:ext cx="1104008" cy="173021"/>
          </a:xfrm>
          <a:prstGeom prst="rect">
            <a:avLst/>
          </a:prstGeom>
        </p:spPr>
        <p:txBody>
          <a:bodyPr vert="horz" wrap="square" lIns="91440" tIns="45720" rIns="91440" bIns="45720" rtlCol="0" anchor="ctr">
            <a:noAutofit/>
          </a:bodyPr>
          <a:lstStyle/>
          <a:p>
            <a:pPr algn="ctr"/>
            <a:r>
              <a:rPr lang="en-IN" sz="800" i="1" dirty="0" smtClean="0"/>
              <a:t>Uppal</a:t>
            </a:r>
          </a:p>
        </p:txBody>
      </p:sp>
      <p:sp>
        <p:nvSpPr>
          <p:cNvPr id="83" name="TextBox 82"/>
          <p:cNvSpPr txBox="1"/>
          <p:nvPr/>
        </p:nvSpPr>
        <p:spPr bwMode="gray">
          <a:xfrm>
            <a:off x="7210211" y="5804985"/>
            <a:ext cx="1039091" cy="138546"/>
          </a:xfrm>
          <a:prstGeom prst="rect">
            <a:avLst/>
          </a:prstGeom>
        </p:spPr>
        <p:txBody>
          <a:bodyPr vert="horz" wrap="square" lIns="91440" tIns="45720" rIns="91440" bIns="45720" rtlCol="0" anchor="ctr">
            <a:noAutofit/>
          </a:bodyPr>
          <a:lstStyle/>
          <a:p>
            <a:pPr algn="ctr"/>
            <a:r>
              <a:rPr lang="en-IN" sz="800" i="1" dirty="0" err="1" smtClean="0"/>
              <a:t>Vanasthalipuram</a:t>
            </a:r>
            <a:endParaRPr lang="en-IN" sz="800" i="1" dirty="0" smtClean="0"/>
          </a:p>
        </p:txBody>
      </p:sp>
      <p:sp>
        <p:nvSpPr>
          <p:cNvPr id="84" name="TextBox 83"/>
          <p:cNvSpPr txBox="1"/>
          <p:nvPr/>
        </p:nvSpPr>
        <p:spPr bwMode="gray">
          <a:xfrm>
            <a:off x="7670863" y="3029684"/>
            <a:ext cx="1039091" cy="138546"/>
          </a:xfrm>
          <a:prstGeom prst="rect">
            <a:avLst/>
          </a:prstGeom>
        </p:spPr>
        <p:txBody>
          <a:bodyPr vert="horz" wrap="square" lIns="91440" tIns="45720" rIns="91440" bIns="45720" rtlCol="0" anchor="ctr">
            <a:noAutofit/>
          </a:bodyPr>
          <a:lstStyle/>
          <a:p>
            <a:pPr algn="ctr"/>
            <a:r>
              <a:rPr lang="en-IN" sz="800" i="1" dirty="0" err="1" smtClean="0"/>
              <a:t>Mallapur</a:t>
            </a:r>
            <a:endParaRPr lang="en-IN" sz="800" i="1" dirty="0" smtClean="0"/>
          </a:p>
        </p:txBody>
      </p:sp>
      <p:sp>
        <p:nvSpPr>
          <p:cNvPr id="85" name="TextBox 84"/>
          <p:cNvSpPr txBox="1"/>
          <p:nvPr/>
        </p:nvSpPr>
        <p:spPr bwMode="gray">
          <a:xfrm>
            <a:off x="1108757" y="3312024"/>
            <a:ext cx="1039091" cy="138546"/>
          </a:xfrm>
          <a:prstGeom prst="rect">
            <a:avLst/>
          </a:prstGeom>
        </p:spPr>
        <p:txBody>
          <a:bodyPr vert="horz" wrap="square" lIns="91440" tIns="45720" rIns="91440" bIns="45720" rtlCol="0" anchor="ctr">
            <a:noAutofit/>
          </a:bodyPr>
          <a:lstStyle/>
          <a:p>
            <a:pPr algn="ctr"/>
            <a:r>
              <a:rPr lang="en-IN" sz="800" i="1" dirty="0" err="1" smtClean="0"/>
              <a:t>HiTec</a:t>
            </a:r>
            <a:r>
              <a:rPr lang="en-IN" sz="800" i="1" dirty="0" smtClean="0"/>
              <a:t> City</a:t>
            </a:r>
          </a:p>
        </p:txBody>
      </p:sp>
      <p:sp>
        <p:nvSpPr>
          <p:cNvPr id="86" name="TextBox 85"/>
          <p:cNvSpPr txBox="1"/>
          <p:nvPr/>
        </p:nvSpPr>
        <p:spPr bwMode="gray">
          <a:xfrm>
            <a:off x="5351757" y="1676852"/>
            <a:ext cx="1039091" cy="138546"/>
          </a:xfrm>
          <a:prstGeom prst="rect">
            <a:avLst/>
          </a:prstGeom>
        </p:spPr>
        <p:txBody>
          <a:bodyPr vert="horz" wrap="square" lIns="91440" tIns="45720" rIns="91440" bIns="45720" rtlCol="0" anchor="ctr">
            <a:noAutofit/>
          </a:bodyPr>
          <a:lstStyle/>
          <a:p>
            <a:pPr algn="ctr"/>
            <a:r>
              <a:rPr lang="en-IN" sz="800" i="1" dirty="0" err="1" smtClean="0"/>
              <a:t>Hakimpet</a:t>
            </a:r>
            <a:endParaRPr lang="en-IN" sz="800" i="1" dirty="0" smtClean="0"/>
          </a:p>
        </p:txBody>
      </p:sp>
      <p:sp>
        <p:nvSpPr>
          <p:cNvPr id="87" name="TextBox 86"/>
          <p:cNvSpPr txBox="1"/>
          <p:nvPr/>
        </p:nvSpPr>
        <p:spPr bwMode="gray">
          <a:xfrm>
            <a:off x="747102" y="3029684"/>
            <a:ext cx="1039091" cy="138546"/>
          </a:xfrm>
          <a:prstGeom prst="rect">
            <a:avLst/>
          </a:prstGeom>
        </p:spPr>
        <p:txBody>
          <a:bodyPr vert="horz" wrap="square" lIns="91440" tIns="45720" rIns="91440" bIns="45720" rtlCol="0" anchor="ctr">
            <a:noAutofit/>
          </a:bodyPr>
          <a:lstStyle/>
          <a:p>
            <a:pPr algn="ctr"/>
            <a:r>
              <a:rPr lang="en-IN" sz="800" i="1" dirty="0" err="1" smtClean="0"/>
              <a:t>Gachibowli</a:t>
            </a:r>
            <a:endParaRPr lang="en-IN" sz="800" i="1" dirty="0" smtClean="0"/>
          </a:p>
        </p:txBody>
      </p:sp>
      <p:sp>
        <p:nvSpPr>
          <p:cNvPr id="88" name="TextBox 87"/>
          <p:cNvSpPr txBox="1"/>
          <p:nvPr/>
        </p:nvSpPr>
        <p:spPr bwMode="gray">
          <a:xfrm>
            <a:off x="461619" y="3272237"/>
            <a:ext cx="1039091" cy="138546"/>
          </a:xfrm>
          <a:prstGeom prst="rect">
            <a:avLst/>
          </a:prstGeom>
        </p:spPr>
        <p:txBody>
          <a:bodyPr vert="horz" wrap="square" lIns="91440" tIns="45720" rIns="91440" bIns="45720" rtlCol="0" anchor="ctr">
            <a:noAutofit/>
          </a:bodyPr>
          <a:lstStyle/>
          <a:p>
            <a:pPr algn="ctr"/>
            <a:r>
              <a:rPr lang="en-IN" sz="800" i="1" dirty="0" err="1" smtClean="0"/>
              <a:t>Madniguda</a:t>
            </a:r>
            <a:endParaRPr lang="en-IN" sz="800" i="1" dirty="0" smtClean="0"/>
          </a:p>
        </p:txBody>
      </p:sp>
      <p:sp>
        <p:nvSpPr>
          <p:cNvPr id="89" name="TextBox 88"/>
          <p:cNvSpPr txBox="1"/>
          <p:nvPr/>
        </p:nvSpPr>
        <p:spPr bwMode="gray">
          <a:xfrm>
            <a:off x="4400983" y="3083655"/>
            <a:ext cx="1039091" cy="138546"/>
          </a:xfrm>
          <a:prstGeom prst="rect">
            <a:avLst/>
          </a:prstGeom>
        </p:spPr>
        <p:txBody>
          <a:bodyPr vert="horz" wrap="square" lIns="91440" tIns="45720" rIns="91440" bIns="45720" rtlCol="0" anchor="ctr">
            <a:noAutofit/>
          </a:bodyPr>
          <a:lstStyle/>
          <a:p>
            <a:pPr algn="ctr"/>
            <a:r>
              <a:rPr lang="en-IN" sz="800" i="1" dirty="0" smtClean="0"/>
              <a:t>M G Road</a:t>
            </a:r>
          </a:p>
        </p:txBody>
      </p:sp>
      <p:sp>
        <p:nvSpPr>
          <p:cNvPr id="90" name="TextBox 89"/>
          <p:cNvSpPr txBox="1"/>
          <p:nvPr/>
        </p:nvSpPr>
        <p:spPr bwMode="gray">
          <a:xfrm>
            <a:off x="3097760" y="2981652"/>
            <a:ext cx="1039091" cy="138546"/>
          </a:xfrm>
          <a:prstGeom prst="rect">
            <a:avLst/>
          </a:prstGeom>
        </p:spPr>
        <p:txBody>
          <a:bodyPr vert="horz" wrap="square" lIns="91440" tIns="45720" rIns="91440" bIns="45720" rtlCol="0" anchor="ctr">
            <a:noAutofit/>
          </a:bodyPr>
          <a:lstStyle/>
          <a:p>
            <a:pPr algn="ctr"/>
            <a:r>
              <a:rPr lang="en-IN" sz="800" i="1" dirty="0" err="1" smtClean="0"/>
              <a:t>Panjagutta</a:t>
            </a:r>
            <a:endParaRPr lang="en-IN" sz="800" i="1" dirty="0" smtClean="0"/>
          </a:p>
        </p:txBody>
      </p:sp>
      <p:sp>
        <p:nvSpPr>
          <p:cNvPr id="91" name="TextBox 90"/>
          <p:cNvSpPr txBox="1"/>
          <p:nvPr/>
        </p:nvSpPr>
        <p:spPr bwMode="gray">
          <a:xfrm>
            <a:off x="2078570" y="2344561"/>
            <a:ext cx="1039091" cy="138546"/>
          </a:xfrm>
          <a:prstGeom prst="rect">
            <a:avLst/>
          </a:prstGeom>
        </p:spPr>
        <p:txBody>
          <a:bodyPr vert="horz" wrap="square" lIns="91440" tIns="45720" rIns="91440" bIns="45720" rtlCol="0" anchor="ctr">
            <a:noAutofit/>
          </a:bodyPr>
          <a:lstStyle/>
          <a:p>
            <a:pPr algn="ctr"/>
            <a:r>
              <a:rPr lang="en-IN" sz="800" i="1" dirty="0" err="1"/>
              <a:t>KpHB</a:t>
            </a:r>
            <a:r>
              <a:rPr lang="en-IN" sz="800" i="1" dirty="0"/>
              <a:t> Colony</a:t>
            </a:r>
            <a:endParaRPr lang="en-IN" sz="800" i="1" dirty="0" smtClean="0"/>
          </a:p>
        </p:txBody>
      </p:sp>
      <p:sp>
        <p:nvSpPr>
          <p:cNvPr id="92" name="TextBox 91"/>
          <p:cNvSpPr txBox="1"/>
          <p:nvPr/>
        </p:nvSpPr>
        <p:spPr bwMode="gray">
          <a:xfrm>
            <a:off x="3604533" y="4302341"/>
            <a:ext cx="1039091" cy="138546"/>
          </a:xfrm>
          <a:prstGeom prst="rect">
            <a:avLst/>
          </a:prstGeom>
        </p:spPr>
        <p:txBody>
          <a:bodyPr vert="horz" wrap="square" lIns="91440" tIns="45720" rIns="91440" bIns="45720" rtlCol="0" anchor="ctr">
            <a:noAutofit/>
          </a:bodyPr>
          <a:lstStyle/>
          <a:p>
            <a:pPr algn="ctr"/>
            <a:r>
              <a:rPr lang="en-IN" sz="800" i="1" dirty="0" err="1" smtClean="0"/>
              <a:t>Abids</a:t>
            </a:r>
            <a:endParaRPr lang="en-IN" sz="800" i="1" dirty="0" smtClean="0"/>
          </a:p>
        </p:txBody>
      </p:sp>
      <p:sp>
        <p:nvSpPr>
          <p:cNvPr id="93" name="TextBox 92"/>
          <p:cNvSpPr txBox="1"/>
          <p:nvPr/>
        </p:nvSpPr>
        <p:spPr bwMode="gray">
          <a:xfrm>
            <a:off x="3051473" y="3993825"/>
            <a:ext cx="1039091" cy="138546"/>
          </a:xfrm>
          <a:prstGeom prst="rect">
            <a:avLst/>
          </a:prstGeom>
        </p:spPr>
        <p:txBody>
          <a:bodyPr vert="horz" wrap="square" lIns="91440" tIns="45720" rIns="91440" bIns="45720" rtlCol="0" anchor="ctr">
            <a:noAutofit/>
          </a:bodyPr>
          <a:lstStyle/>
          <a:p>
            <a:pPr algn="ctr"/>
            <a:r>
              <a:rPr lang="en-IN" sz="800" i="1" dirty="0" err="1" smtClean="0"/>
              <a:t>Lakdi-ka-Pul</a:t>
            </a:r>
            <a:endParaRPr lang="en-IN" sz="800" i="1" dirty="0" smtClean="0"/>
          </a:p>
        </p:txBody>
      </p:sp>
      <p:sp>
        <p:nvSpPr>
          <p:cNvPr id="95" name="TextBox 94"/>
          <p:cNvSpPr txBox="1"/>
          <p:nvPr/>
        </p:nvSpPr>
        <p:spPr bwMode="gray">
          <a:xfrm>
            <a:off x="5300240" y="4877763"/>
            <a:ext cx="1039091" cy="138546"/>
          </a:xfrm>
          <a:prstGeom prst="rect">
            <a:avLst/>
          </a:prstGeom>
        </p:spPr>
        <p:txBody>
          <a:bodyPr vert="horz" wrap="square" lIns="91440" tIns="45720" rIns="91440" bIns="45720" rtlCol="0" anchor="ctr">
            <a:noAutofit/>
          </a:bodyPr>
          <a:lstStyle/>
          <a:p>
            <a:pPr algn="ctr"/>
            <a:r>
              <a:rPr lang="en-IN" sz="800" i="1" dirty="0" err="1" smtClean="0"/>
              <a:t>Malkapet</a:t>
            </a:r>
            <a:endParaRPr lang="en-IN" sz="800" i="1" dirty="0" smtClean="0"/>
          </a:p>
        </p:txBody>
      </p:sp>
      <p:sp>
        <p:nvSpPr>
          <p:cNvPr id="96" name="TextBox 95"/>
          <p:cNvSpPr txBox="1"/>
          <p:nvPr/>
        </p:nvSpPr>
        <p:spPr bwMode="gray">
          <a:xfrm>
            <a:off x="5300239" y="4563806"/>
            <a:ext cx="1039091" cy="138546"/>
          </a:xfrm>
          <a:prstGeom prst="rect">
            <a:avLst/>
          </a:prstGeom>
        </p:spPr>
        <p:txBody>
          <a:bodyPr vert="horz" wrap="square" lIns="91440" tIns="45720" rIns="91440" bIns="45720" rtlCol="0" anchor="ctr">
            <a:noAutofit/>
          </a:bodyPr>
          <a:lstStyle/>
          <a:p>
            <a:pPr algn="ctr"/>
            <a:r>
              <a:rPr lang="en-IN" sz="800" i="1" dirty="0" err="1" smtClean="0"/>
              <a:t>Dilkushnagar</a:t>
            </a:r>
            <a:endParaRPr lang="en-IN" sz="800" i="1" dirty="0" smtClean="0"/>
          </a:p>
        </p:txBody>
      </p:sp>
      <p:sp>
        <p:nvSpPr>
          <p:cNvPr id="97" name="TextBox 96"/>
          <p:cNvSpPr txBox="1"/>
          <p:nvPr/>
        </p:nvSpPr>
        <p:spPr bwMode="gray">
          <a:xfrm>
            <a:off x="6650797" y="4638698"/>
            <a:ext cx="1039091" cy="138546"/>
          </a:xfrm>
          <a:prstGeom prst="rect">
            <a:avLst/>
          </a:prstGeom>
        </p:spPr>
        <p:txBody>
          <a:bodyPr vert="horz" wrap="square" lIns="91440" tIns="45720" rIns="91440" bIns="45720" rtlCol="0" anchor="ctr">
            <a:noAutofit/>
          </a:bodyPr>
          <a:lstStyle/>
          <a:p>
            <a:pPr algn="ctr"/>
            <a:r>
              <a:rPr lang="en-IN" sz="800" i="1" dirty="0" err="1" smtClean="0"/>
              <a:t>Kothapete</a:t>
            </a:r>
            <a:endParaRPr lang="en-IN" sz="800" i="1" dirty="0" smtClean="0"/>
          </a:p>
        </p:txBody>
      </p:sp>
      <p:sp>
        <p:nvSpPr>
          <p:cNvPr id="98" name="TextBox 97"/>
          <p:cNvSpPr txBox="1"/>
          <p:nvPr/>
        </p:nvSpPr>
        <p:spPr bwMode="gray">
          <a:xfrm>
            <a:off x="1290810" y="2342413"/>
            <a:ext cx="1039091" cy="138546"/>
          </a:xfrm>
          <a:prstGeom prst="rect">
            <a:avLst/>
          </a:prstGeom>
        </p:spPr>
        <p:txBody>
          <a:bodyPr vert="horz" wrap="square" lIns="91440" tIns="45720" rIns="91440" bIns="45720" rtlCol="0" anchor="ctr">
            <a:noAutofit/>
          </a:bodyPr>
          <a:lstStyle/>
          <a:p>
            <a:pPr algn="ctr"/>
            <a:r>
              <a:rPr lang="en-IN" sz="800" i="1" dirty="0" err="1" smtClean="0"/>
              <a:t>Madinaguda</a:t>
            </a:r>
            <a:endParaRPr lang="en-IN" sz="800" i="1" dirty="0" smtClean="0"/>
          </a:p>
        </p:txBody>
      </p:sp>
      <p:sp>
        <p:nvSpPr>
          <p:cNvPr id="99" name="TextBox 98"/>
          <p:cNvSpPr txBox="1"/>
          <p:nvPr/>
        </p:nvSpPr>
        <p:spPr bwMode="gray">
          <a:xfrm>
            <a:off x="5349609" y="1481519"/>
            <a:ext cx="1039091" cy="138546"/>
          </a:xfrm>
          <a:prstGeom prst="rect">
            <a:avLst/>
          </a:prstGeom>
        </p:spPr>
        <p:txBody>
          <a:bodyPr vert="horz" wrap="square" lIns="91440" tIns="45720" rIns="91440" bIns="45720" rtlCol="0" anchor="ctr">
            <a:noAutofit/>
          </a:bodyPr>
          <a:lstStyle/>
          <a:p>
            <a:pPr algn="ctr"/>
            <a:r>
              <a:rPr lang="en-IN" sz="800" i="1" dirty="0" err="1" smtClean="0"/>
              <a:t>Kompally</a:t>
            </a:r>
            <a:endParaRPr lang="en-IN" sz="800" i="1" dirty="0" smtClean="0"/>
          </a:p>
        </p:txBody>
      </p:sp>
      <p:sp>
        <p:nvSpPr>
          <p:cNvPr id="100" name="TextBox 99"/>
          <p:cNvSpPr txBox="1"/>
          <p:nvPr/>
        </p:nvSpPr>
        <p:spPr bwMode="gray">
          <a:xfrm>
            <a:off x="5285213" y="3786492"/>
            <a:ext cx="1039091" cy="138546"/>
          </a:xfrm>
          <a:prstGeom prst="rect">
            <a:avLst/>
          </a:prstGeom>
        </p:spPr>
        <p:txBody>
          <a:bodyPr vert="horz" wrap="square" lIns="91440" tIns="45720" rIns="91440" bIns="45720" rtlCol="0" anchor="ctr">
            <a:noAutofit/>
          </a:bodyPr>
          <a:lstStyle/>
          <a:p>
            <a:pPr algn="ctr"/>
            <a:r>
              <a:rPr lang="en-IN" sz="800" i="1" dirty="0" err="1" smtClean="0"/>
              <a:t>Chikkadpally</a:t>
            </a:r>
            <a:endParaRPr lang="en-IN" sz="800" i="1" dirty="0" smtClean="0"/>
          </a:p>
        </p:txBody>
      </p:sp>
      <p:sp>
        <p:nvSpPr>
          <p:cNvPr id="101" name="TextBox 100"/>
          <p:cNvSpPr txBox="1"/>
          <p:nvPr/>
        </p:nvSpPr>
        <p:spPr bwMode="gray">
          <a:xfrm>
            <a:off x="1305073" y="2988806"/>
            <a:ext cx="1039091" cy="138546"/>
          </a:xfrm>
          <a:prstGeom prst="rect">
            <a:avLst/>
          </a:prstGeom>
        </p:spPr>
        <p:txBody>
          <a:bodyPr vert="horz" wrap="square" lIns="91440" tIns="45720" rIns="91440" bIns="45720" rtlCol="0" anchor="ctr">
            <a:noAutofit/>
          </a:bodyPr>
          <a:lstStyle/>
          <a:p>
            <a:pPr algn="ctr"/>
            <a:r>
              <a:rPr lang="en-IN" sz="800" i="1" dirty="0" err="1" smtClean="0"/>
              <a:t>Kondapur</a:t>
            </a:r>
            <a:endParaRPr lang="en-IN" sz="800" i="1" dirty="0" smtClean="0"/>
          </a:p>
        </p:txBody>
      </p:sp>
      <p:sp>
        <p:nvSpPr>
          <p:cNvPr id="102" name="TextBox 101"/>
          <p:cNvSpPr txBox="1"/>
          <p:nvPr/>
        </p:nvSpPr>
        <p:spPr bwMode="gray">
          <a:xfrm>
            <a:off x="6171120" y="3807605"/>
            <a:ext cx="1039091" cy="138546"/>
          </a:xfrm>
          <a:prstGeom prst="rect">
            <a:avLst/>
          </a:prstGeom>
        </p:spPr>
        <p:txBody>
          <a:bodyPr vert="horz" wrap="square" lIns="91440" tIns="45720" rIns="91440" bIns="45720" rtlCol="0" anchor="ctr">
            <a:noAutofit/>
          </a:bodyPr>
          <a:lstStyle/>
          <a:p>
            <a:pPr algn="ctr"/>
            <a:r>
              <a:rPr lang="en-IN" sz="800" i="1" dirty="0" err="1" smtClean="0"/>
              <a:t>Nallakunta</a:t>
            </a:r>
            <a:endParaRPr lang="en-IN" sz="800" i="1" dirty="0" smtClean="0"/>
          </a:p>
        </p:txBody>
      </p:sp>
      <p:sp>
        <p:nvSpPr>
          <p:cNvPr id="103" name="TextBox 102"/>
          <p:cNvSpPr txBox="1"/>
          <p:nvPr/>
        </p:nvSpPr>
        <p:spPr bwMode="gray">
          <a:xfrm>
            <a:off x="7047898" y="4971404"/>
            <a:ext cx="1039091" cy="138546"/>
          </a:xfrm>
          <a:prstGeom prst="rect">
            <a:avLst/>
          </a:prstGeom>
        </p:spPr>
        <p:txBody>
          <a:bodyPr vert="horz" wrap="square" lIns="91440" tIns="45720" rIns="91440" bIns="45720" rtlCol="0" anchor="ctr">
            <a:noAutofit/>
          </a:bodyPr>
          <a:lstStyle/>
          <a:p>
            <a:pPr algn="ctr"/>
            <a:r>
              <a:rPr lang="en-IN" sz="800" i="1" dirty="0" err="1" smtClean="0"/>
              <a:t>Alkapuri</a:t>
            </a:r>
            <a:endParaRPr lang="en-IN" sz="800" i="1" dirty="0" smtClean="0"/>
          </a:p>
        </p:txBody>
      </p:sp>
      <p:sp>
        <p:nvSpPr>
          <p:cNvPr id="104" name="TextBox 103"/>
          <p:cNvSpPr txBox="1"/>
          <p:nvPr/>
        </p:nvSpPr>
        <p:spPr bwMode="gray">
          <a:xfrm>
            <a:off x="4454635" y="4315030"/>
            <a:ext cx="1039091" cy="138546"/>
          </a:xfrm>
          <a:prstGeom prst="rect">
            <a:avLst/>
          </a:prstGeom>
        </p:spPr>
        <p:txBody>
          <a:bodyPr vert="horz" wrap="square" lIns="91440" tIns="45720" rIns="91440" bIns="45720" rtlCol="0" anchor="ctr">
            <a:noAutofit/>
          </a:bodyPr>
          <a:lstStyle/>
          <a:p>
            <a:pPr algn="ctr"/>
            <a:r>
              <a:rPr lang="en-IN" sz="800" i="1" dirty="0" err="1" smtClean="0"/>
              <a:t>Koti</a:t>
            </a:r>
            <a:endParaRPr lang="en-IN" sz="800" i="1" dirty="0" smtClean="0"/>
          </a:p>
        </p:txBody>
      </p:sp>
      <p:sp>
        <p:nvSpPr>
          <p:cNvPr id="105" name="Oval 104"/>
          <p:cNvSpPr/>
          <p:nvPr/>
        </p:nvSpPr>
        <p:spPr>
          <a:xfrm>
            <a:off x="5707287" y="4218900"/>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6" name="Oval 105"/>
          <p:cNvSpPr/>
          <p:nvPr/>
        </p:nvSpPr>
        <p:spPr>
          <a:xfrm>
            <a:off x="6465062" y="4011082"/>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7" name="Oval 106"/>
          <p:cNvSpPr/>
          <p:nvPr/>
        </p:nvSpPr>
        <p:spPr>
          <a:xfrm>
            <a:off x="6475793" y="4781668"/>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8" name="Oval 107"/>
          <p:cNvSpPr/>
          <p:nvPr/>
        </p:nvSpPr>
        <p:spPr>
          <a:xfrm>
            <a:off x="2739817" y="3482092"/>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9" name="Oval 108"/>
          <p:cNvSpPr/>
          <p:nvPr/>
        </p:nvSpPr>
        <p:spPr>
          <a:xfrm>
            <a:off x="4850200" y="3190932"/>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0" name="Oval 109"/>
          <p:cNvSpPr/>
          <p:nvPr/>
        </p:nvSpPr>
        <p:spPr>
          <a:xfrm>
            <a:off x="2120085" y="4525667"/>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1" name="Oval 110"/>
          <p:cNvSpPr/>
          <p:nvPr/>
        </p:nvSpPr>
        <p:spPr>
          <a:xfrm>
            <a:off x="4020995" y="3173999"/>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 name="Oval 111"/>
          <p:cNvSpPr/>
          <p:nvPr/>
        </p:nvSpPr>
        <p:spPr>
          <a:xfrm>
            <a:off x="4849582" y="2559392"/>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3" name="Oval 112"/>
          <p:cNvSpPr/>
          <p:nvPr/>
        </p:nvSpPr>
        <p:spPr>
          <a:xfrm>
            <a:off x="7750015" y="3222201"/>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4" name="Oval 113"/>
          <p:cNvSpPr/>
          <p:nvPr/>
        </p:nvSpPr>
        <p:spPr>
          <a:xfrm>
            <a:off x="2496498" y="4008196"/>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5" name="Oval 114"/>
          <p:cNvSpPr/>
          <p:nvPr/>
        </p:nvSpPr>
        <p:spPr>
          <a:xfrm>
            <a:off x="7813329" y="4227318"/>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6" name="TextBox 115"/>
          <p:cNvSpPr txBox="1"/>
          <p:nvPr/>
        </p:nvSpPr>
        <p:spPr bwMode="gray">
          <a:xfrm>
            <a:off x="6475793" y="5611380"/>
            <a:ext cx="1039091" cy="138546"/>
          </a:xfrm>
          <a:prstGeom prst="rect">
            <a:avLst/>
          </a:prstGeom>
        </p:spPr>
        <p:txBody>
          <a:bodyPr vert="horz" wrap="square" lIns="91440" tIns="45720" rIns="91440" bIns="45720" rtlCol="0" anchor="ctr">
            <a:noAutofit/>
          </a:bodyPr>
          <a:lstStyle/>
          <a:p>
            <a:pPr algn="ctr"/>
            <a:r>
              <a:rPr lang="en-IN" sz="800" i="1" dirty="0" err="1" smtClean="0"/>
              <a:t>Hastinapuram</a:t>
            </a:r>
            <a:endParaRPr lang="en-IN" sz="800" i="1" dirty="0" smtClean="0"/>
          </a:p>
        </p:txBody>
      </p:sp>
      <p:sp>
        <p:nvSpPr>
          <p:cNvPr id="117" name="Oval 116"/>
          <p:cNvSpPr/>
          <p:nvPr/>
        </p:nvSpPr>
        <p:spPr>
          <a:xfrm>
            <a:off x="2531981" y="3491565"/>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8" name="Oval 117"/>
          <p:cNvSpPr/>
          <p:nvPr/>
        </p:nvSpPr>
        <p:spPr>
          <a:xfrm>
            <a:off x="7117594" y="5732555"/>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9" name="Oval 118"/>
          <p:cNvSpPr/>
          <p:nvPr/>
        </p:nvSpPr>
        <p:spPr>
          <a:xfrm>
            <a:off x="7421365" y="5579173"/>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0" name="Oval 119"/>
          <p:cNvSpPr/>
          <p:nvPr/>
        </p:nvSpPr>
        <p:spPr>
          <a:xfrm>
            <a:off x="7747867" y="3052626"/>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1" name="Oval 120"/>
          <p:cNvSpPr/>
          <p:nvPr/>
        </p:nvSpPr>
        <p:spPr>
          <a:xfrm>
            <a:off x="1513643" y="3219139"/>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2" name="Oval 121"/>
          <p:cNvSpPr/>
          <p:nvPr/>
        </p:nvSpPr>
        <p:spPr>
          <a:xfrm>
            <a:off x="5400207" y="1687485"/>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4" name="Oval 123"/>
          <p:cNvSpPr/>
          <p:nvPr/>
        </p:nvSpPr>
        <p:spPr>
          <a:xfrm>
            <a:off x="7841385" y="2305210"/>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6" name="Oval 125"/>
          <p:cNvSpPr/>
          <p:nvPr/>
        </p:nvSpPr>
        <p:spPr>
          <a:xfrm>
            <a:off x="3089557" y="2054512"/>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7" name="Oval 126"/>
          <p:cNvSpPr/>
          <p:nvPr/>
        </p:nvSpPr>
        <p:spPr>
          <a:xfrm>
            <a:off x="1241036" y="3139717"/>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8" name="Oval 127"/>
          <p:cNvSpPr/>
          <p:nvPr/>
        </p:nvSpPr>
        <p:spPr>
          <a:xfrm>
            <a:off x="1045704" y="3150448"/>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9" name="Oval 128"/>
          <p:cNvSpPr/>
          <p:nvPr/>
        </p:nvSpPr>
        <p:spPr>
          <a:xfrm>
            <a:off x="2939559" y="2043372"/>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0" name="Oval 129"/>
          <p:cNvSpPr/>
          <p:nvPr/>
        </p:nvSpPr>
        <p:spPr>
          <a:xfrm>
            <a:off x="6948019" y="5730407"/>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3" name="TextBox 122"/>
          <p:cNvSpPr txBox="1"/>
          <p:nvPr/>
        </p:nvSpPr>
        <p:spPr bwMode="gray">
          <a:xfrm>
            <a:off x="238032" y="2718814"/>
            <a:ext cx="1039091" cy="138546"/>
          </a:xfrm>
          <a:prstGeom prst="rect">
            <a:avLst/>
          </a:prstGeom>
        </p:spPr>
        <p:txBody>
          <a:bodyPr vert="horz" wrap="square" lIns="91440" tIns="45720" rIns="91440" bIns="45720" rtlCol="0" anchor="ctr">
            <a:noAutofit/>
          </a:bodyPr>
          <a:lstStyle/>
          <a:p>
            <a:pPr algn="ctr"/>
            <a:r>
              <a:rPr lang="en-IN" sz="800" i="1" dirty="0" err="1" smtClean="0"/>
              <a:t>Nallagandla</a:t>
            </a:r>
            <a:endParaRPr lang="en-IN" sz="800" i="1" dirty="0" smtClean="0"/>
          </a:p>
        </p:txBody>
      </p:sp>
      <p:sp>
        <p:nvSpPr>
          <p:cNvPr id="125" name="TextBox 124"/>
          <p:cNvSpPr txBox="1"/>
          <p:nvPr/>
        </p:nvSpPr>
        <p:spPr bwMode="gray">
          <a:xfrm>
            <a:off x="713195" y="2500311"/>
            <a:ext cx="1039091" cy="138546"/>
          </a:xfrm>
          <a:prstGeom prst="rect">
            <a:avLst/>
          </a:prstGeom>
        </p:spPr>
        <p:txBody>
          <a:bodyPr vert="horz" wrap="square" lIns="91440" tIns="45720" rIns="91440" bIns="45720" rtlCol="0" anchor="ctr">
            <a:noAutofit/>
          </a:bodyPr>
          <a:lstStyle/>
          <a:p>
            <a:pPr algn="ctr"/>
            <a:r>
              <a:rPr lang="en-IN" sz="800" i="1" dirty="0" smtClean="0"/>
              <a:t>CUC</a:t>
            </a:r>
          </a:p>
        </p:txBody>
      </p:sp>
      <p:sp>
        <p:nvSpPr>
          <p:cNvPr id="131" name="TextBox 130"/>
          <p:cNvSpPr txBox="1"/>
          <p:nvPr/>
        </p:nvSpPr>
        <p:spPr bwMode="gray">
          <a:xfrm>
            <a:off x="1644444" y="2808940"/>
            <a:ext cx="1039091" cy="138546"/>
          </a:xfrm>
          <a:prstGeom prst="rect">
            <a:avLst/>
          </a:prstGeom>
        </p:spPr>
        <p:txBody>
          <a:bodyPr vert="horz" wrap="square" lIns="91440" tIns="45720" rIns="91440" bIns="45720" rtlCol="0" anchor="ctr">
            <a:noAutofit/>
          </a:bodyPr>
          <a:lstStyle/>
          <a:p>
            <a:pPr algn="ctr"/>
            <a:r>
              <a:rPr lang="en-IN" sz="800" i="1" dirty="0" err="1" smtClean="0"/>
              <a:t>Kothaguda</a:t>
            </a:r>
            <a:endParaRPr lang="en-IN" sz="800" i="1" dirty="0" smtClean="0"/>
          </a:p>
        </p:txBody>
      </p:sp>
      <p:sp>
        <p:nvSpPr>
          <p:cNvPr id="132" name="TextBox 131"/>
          <p:cNvSpPr txBox="1"/>
          <p:nvPr/>
        </p:nvSpPr>
        <p:spPr bwMode="gray">
          <a:xfrm>
            <a:off x="1873946" y="3207513"/>
            <a:ext cx="1039091" cy="138546"/>
          </a:xfrm>
          <a:prstGeom prst="rect">
            <a:avLst/>
          </a:prstGeom>
        </p:spPr>
        <p:txBody>
          <a:bodyPr vert="horz" wrap="square" lIns="91440" tIns="45720" rIns="91440" bIns="45720" rtlCol="0" anchor="ctr">
            <a:noAutofit/>
          </a:bodyPr>
          <a:lstStyle/>
          <a:p>
            <a:pPr algn="ctr"/>
            <a:r>
              <a:rPr lang="en-IN" sz="800" i="1" dirty="0" err="1" smtClean="0"/>
              <a:t>Jawahar</a:t>
            </a:r>
            <a:r>
              <a:rPr lang="en-IN" sz="800" i="1" dirty="0" smtClean="0"/>
              <a:t> Nagar</a:t>
            </a:r>
          </a:p>
        </p:txBody>
      </p:sp>
      <p:sp>
        <p:nvSpPr>
          <p:cNvPr id="133" name="TextBox 132"/>
          <p:cNvSpPr txBox="1"/>
          <p:nvPr/>
        </p:nvSpPr>
        <p:spPr bwMode="gray">
          <a:xfrm>
            <a:off x="244738" y="4191675"/>
            <a:ext cx="1039091" cy="138546"/>
          </a:xfrm>
          <a:prstGeom prst="rect">
            <a:avLst/>
          </a:prstGeom>
        </p:spPr>
        <p:txBody>
          <a:bodyPr vert="horz" wrap="square" lIns="91440" tIns="45720" rIns="91440" bIns="45720" rtlCol="0" anchor="ctr">
            <a:noAutofit/>
          </a:bodyPr>
          <a:lstStyle/>
          <a:p>
            <a:pPr algn="ctr"/>
            <a:r>
              <a:rPr lang="en-IN" sz="800" i="1" dirty="0" smtClean="0"/>
              <a:t>Osman Nagar</a:t>
            </a:r>
          </a:p>
        </p:txBody>
      </p:sp>
      <p:sp>
        <p:nvSpPr>
          <p:cNvPr id="134" name="TextBox 133"/>
          <p:cNvSpPr txBox="1"/>
          <p:nvPr/>
        </p:nvSpPr>
        <p:spPr bwMode="gray">
          <a:xfrm>
            <a:off x="563453" y="3900938"/>
            <a:ext cx="1039091" cy="138546"/>
          </a:xfrm>
          <a:prstGeom prst="rect">
            <a:avLst/>
          </a:prstGeom>
        </p:spPr>
        <p:txBody>
          <a:bodyPr vert="horz" wrap="square" lIns="91440" tIns="45720" rIns="91440" bIns="45720" rtlCol="0" anchor="ctr">
            <a:noAutofit/>
          </a:bodyPr>
          <a:lstStyle/>
          <a:p>
            <a:pPr algn="ctr"/>
            <a:r>
              <a:rPr lang="en-IN" sz="800" i="1" dirty="0" err="1" smtClean="0"/>
              <a:t>Manikonda</a:t>
            </a:r>
            <a:endParaRPr lang="en-IN" sz="800" i="1" dirty="0" smtClean="0"/>
          </a:p>
        </p:txBody>
      </p:sp>
      <p:sp>
        <p:nvSpPr>
          <p:cNvPr id="135" name="TextBox 134"/>
          <p:cNvSpPr txBox="1"/>
          <p:nvPr/>
        </p:nvSpPr>
        <p:spPr bwMode="gray">
          <a:xfrm>
            <a:off x="660035" y="4466832"/>
            <a:ext cx="1039091" cy="138546"/>
          </a:xfrm>
          <a:prstGeom prst="rect">
            <a:avLst/>
          </a:prstGeom>
        </p:spPr>
        <p:txBody>
          <a:bodyPr vert="horz" wrap="square" lIns="91440" tIns="45720" rIns="91440" bIns="45720" rtlCol="0" anchor="ctr">
            <a:noAutofit/>
          </a:bodyPr>
          <a:lstStyle/>
          <a:p>
            <a:pPr algn="ctr"/>
            <a:r>
              <a:rPr lang="en-IN" sz="800" i="1" dirty="0" smtClean="0"/>
              <a:t>Army Golf Course</a:t>
            </a:r>
          </a:p>
        </p:txBody>
      </p:sp>
      <p:sp>
        <p:nvSpPr>
          <p:cNvPr id="136" name="TextBox 135"/>
          <p:cNvSpPr txBox="1"/>
          <p:nvPr/>
        </p:nvSpPr>
        <p:spPr bwMode="gray">
          <a:xfrm>
            <a:off x="469936" y="5211467"/>
            <a:ext cx="1039091" cy="138546"/>
          </a:xfrm>
          <a:prstGeom prst="rect">
            <a:avLst/>
          </a:prstGeom>
        </p:spPr>
        <p:txBody>
          <a:bodyPr vert="horz" wrap="square" lIns="91440" tIns="45720" rIns="91440" bIns="45720" rtlCol="0" anchor="ctr">
            <a:noAutofit/>
          </a:bodyPr>
          <a:lstStyle/>
          <a:p>
            <a:pPr algn="ctr"/>
            <a:r>
              <a:rPr lang="en-IN" sz="800" i="1" dirty="0" err="1" smtClean="0"/>
              <a:t>Himayathsagar</a:t>
            </a:r>
            <a:endParaRPr lang="en-IN" sz="800" i="1" dirty="0" smtClean="0"/>
          </a:p>
        </p:txBody>
      </p:sp>
      <p:sp>
        <p:nvSpPr>
          <p:cNvPr id="137" name="TextBox 136"/>
          <p:cNvSpPr txBox="1"/>
          <p:nvPr/>
        </p:nvSpPr>
        <p:spPr bwMode="gray">
          <a:xfrm>
            <a:off x="1034239" y="4949999"/>
            <a:ext cx="1039091" cy="138546"/>
          </a:xfrm>
          <a:prstGeom prst="rect">
            <a:avLst/>
          </a:prstGeom>
        </p:spPr>
        <p:txBody>
          <a:bodyPr vert="horz" wrap="square" lIns="91440" tIns="45720" rIns="91440" bIns="45720" rtlCol="0" anchor="ctr">
            <a:noAutofit/>
          </a:bodyPr>
          <a:lstStyle/>
          <a:p>
            <a:pPr algn="ctr"/>
            <a:r>
              <a:rPr lang="en-IN" sz="800" i="1" dirty="0" err="1" smtClean="0"/>
              <a:t>Bandlaguda</a:t>
            </a:r>
            <a:endParaRPr lang="en-IN" sz="800" i="1" dirty="0" smtClean="0"/>
          </a:p>
        </p:txBody>
      </p:sp>
      <p:sp>
        <p:nvSpPr>
          <p:cNvPr id="138" name="TextBox 137"/>
          <p:cNvSpPr txBox="1"/>
          <p:nvPr/>
        </p:nvSpPr>
        <p:spPr bwMode="gray">
          <a:xfrm>
            <a:off x="1589371" y="5099711"/>
            <a:ext cx="1039091" cy="138546"/>
          </a:xfrm>
          <a:prstGeom prst="rect">
            <a:avLst/>
          </a:prstGeom>
        </p:spPr>
        <p:txBody>
          <a:bodyPr vert="horz" wrap="square" lIns="91440" tIns="45720" rIns="91440" bIns="45720" rtlCol="0" anchor="ctr">
            <a:noAutofit/>
          </a:bodyPr>
          <a:lstStyle/>
          <a:p>
            <a:pPr algn="ctr"/>
            <a:r>
              <a:rPr lang="en-IN" sz="800" i="1" dirty="0" err="1" smtClean="0"/>
              <a:t>Padmasri</a:t>
            </a:r>
            <a:r>
              <a:rPr lang="en-IN" sz="800" i="1" dirty="0" smtClean="0"/>
              <a:t> Estates</a:t>
            </a:r>
          </a:p>
        </p:txBody>
      </p:sp>
      <p:sp>
        <p:nvSpPr>
          <p:cNvPr id="139" name="TextBox 138"/>
          <p:cNvSpPr txBox="1"/>
          <p:nvPr/>
        </p:nvSpPr>
        <p:spPr bwMode="gray">
          <a:xfrm>
            <a:off x="1677629" y="5472758"/>
            <a:ext cx="1039091" cy="138546"/>
          </a:xfrm>
          <a:prstGeom prst="rect">
            <a:avLst/>
          </a:prstGeom>
        </p:spPr>
        <p:txBody>
          <a:bodyPr vert="horz" wrap="square" lIns="91440" tIns="45720" rIns="91440" bIns="45720" rtlCol="0" anchor="ctr">
            <a:noAutofit/>
          </a:bodyPr>
          <a:lstStyle/>
          <a:p>
            <a:pPr algn="ctr"/>
            <a:r>
              <a:rPr lang="en-IN" sz="800" i="1" dirty="0" err="1" smtClean="0"/>
              <a:t>Kismatpur</a:t>
            </a:r>
            <a:endParaRPr lang="en-IN" sz="800" i="1" dirty="0" smtClean="0"/>
          </a:p>
        </p:txBody>
      </p:sp>
      <p:sp>
        <p:nvSpPr>
          <p:cNvPr id="140" name="TextBox 139"/>
          <p:cNvSpPr txBox="1"/>
          <p:nvPr/>
        </p:nvSpPr>
        <p:spPr bwMode="gray">
          <a:xfrm>
            <a:off x="2683535" y="4970080"/>
            <a:ext cx="1039091" cy="138546"/>
          </a:xfrm>
          <a:prstGeom prst="rect">
            <a:avLst/>
          </a:prstGeom>
        </p:spPr>
        <p:txBody>
          <a:bodyPr vert="horz" wrap="square" lIns="91440" tIns="45720" rIns="91440" bIns="45720" rtlCol="0" anchor="ctr">
            <a:noAutofit/>
          </a:bodyPr>
          <a:lstStyle/>
          <a:p>
            <a:pPr algn="ctr"/>
            <a:r>
              <a:rPr lang="en-IN" sz="800" i="1" dirty="0" smtClean="0"/>
              <a:t>Nehru Zoological Park</a:t>
            </a:r>
          </a:p>
        </p:txBody>
      </p:sp>
      <p:sp>
        <p:nvSpPr>
          <p:cNvPr id="141" name="TextBox 140"/>
          <p:cNvSpPr txBox="1"/>
          <p:nvPr/>
        </p:nvSpPr>
        <p:spPr bwMode="gray">
          <a:xfrm>
            <a:off x="2835242" y="5408440"/>
            <a:ext cx="1039091" cy="138546"/>
          </a:xfrm>
          <a:prstGeom prst="rect">
            <a:avLst/>
          </a:prstGeom>
        </p:spPr>
        <p:txBody>
          <a:bodyPr vert="horz" wrap="square" lIns="91440" tIns="45720" rIns="91440" bIns="45720" rtlCol="0" anchor="ctr">
            <a:noAutofit/>
          </a:bodyPr>
          <a:lstStyle/>
          <a:p>
            <a:pPr algn="ctr"/>
            <a:r>
              <a:rPr lang="en-IN" sz="800" i="1" dirty="0" err="1" smtClean="0"/>
              <a:t>Sivarampalli</a:t>
            </a:r>
            <a:endParaRPr lang="en-IN" sz="800" i="1" dirty="0" smtClean="0"/>
          </a:p>
        </p:txBody>
      </p:sp>
      <p:sp>
        <p:nvSpPr>
          <p:cNvPr id="142" name="TextBox 141"/>
          <p:cNvSpPr txBox="1"/>
          <p:nvPr/>
        </p:nvSpPr>
        <p:spPr bwMode="gray">
          <a:xfrm>
            <a:off x="2683534" y="5753219"/>
            <a:ext cx="1039091" cy="138546"/>
          </a:xfrm>
          <a:prstGeom prst="rect">
            <a:avLst/>
          </a:prstGeom>
        </p:spPr>
        <p:txBody>
          <a:bodyPr vert="horz" wrap="square" lIns="91440" tIns="45720" rIns="91440" bIns="45720" rtlCol="0" anchor="ctr">
            <a:noAutofit/>
          </a:bodyPr>
          <a:lstStyle/>
          <a:p>
            <a:pPr algn="ctr"/>
            <a:r>
              <a:rPr lang="en-IN" sz="800" i="1" dirty="0" err="1" smtClean="0"/>
              <a:t>Gagan</a:t>
            </a:r>
            <a:r>
              <a:rPr lang="en-IN" sz="800" i="1" dirty="0" smtClean="0"/>
              <a:t> </a:t>
            </a:r>
            <a:r>
              <a:rPr lang="en-IN" sz="800" i="1" dirty="0" err="1" smtClean="0"/>
              <a:t>Pahad</a:t>
            </a:r>
            <a:endParaRPr lang="en-IN" sz="800" i="1" dirty="0" smtClean="0"/>
          </a:p>
        </p:txBody>
      </p:sp>
      <p:sp>
        <p:nvSpPr>
          <p:cNvPr id="143" name="TextBox 142"/>
          <p:cNvSpPr txBox="1"/>
          <p:nvPr/>
        </p:nvSpPr>
        <p:spPr bwMode="gray">
          <a:xfrm>
            <a:off x="2860736" y="4504983"/>
            <a:ext cx="1039091" cy="138546"/>
          </a:xfrm>
          <a:prstGeom prst="rect">
            <a:avLst/>
          </a:prstGeom>
        </p:spPr>
        <p:txBody>
          <a:bodyPr vert="horz" wrap="square" lIns="91440" tIns="45720" rIns="91440" bIns="45720" rtlCol="0" anchor="ctr">
            <a:noAutofit/>
          </a:bodyPr>
          <a:lstStyle/>
          <a:p>
            <a:pPr algn="ctr"/>
            <a:r>
              <a:rPr lang="en-IN" sz="800" i="1" dirty="0" err="1" smtClean="0"/>
              <a:t>Karwan</a:t>
            </a:r>
            <a:endParaRPr lang="en-IN" sz="800" i="1" dirty="0" smtClean="0"/>
          </a:p>
        </p:txBody>
      </p:sp>
      <p:sp>
        <p:nvSpPr>
          <p:cNvPr id="144" name="TextBox 143"/>
          <p:cNvSpPr txBox="1"/>
          <p:nvPr/>
        </p:nvSpPr>
        <p:spPr bwMode="gray">
          <a:xfrm>
            <a:off x="4218182" y="4660805"/>
            <a:ext cx="1039091" cy="138546"/>
          </a:xfrm>
          <a:prstGeom prst="rect">
            <a:avLst/>
          </a:prstGeom>
        </p:spPr>
        <p:txBody>
          <a:bodyPr vert="horz" wrap="square" lIns="91440" tIns="45720" rIns="91440" bIns="45720" rtlCol="0" anchor="ctr">
            <a:noAutofit/>
          </a:bodyPr>
          <a:lstStyle/>
          <a:p>
            <a:pPr algn="ctr"/>
            <a:r>
              <a:rPr lang="en-IN" sz="800" i="1" dirty="0" err="1" smtClean="0"/>
              <a:t>CharMinar</a:t>
            </a:r>
            <a:endParaRPr lang="en-IN" sz="800" i="1" dirty="0" smtClean="0"/>
          </a:p>
        </p:txBody>
      </p:sp>
      <p:sp>
        <p:nvSpPr>
          <p:cNvPr id="145" name="TextBox 144"/>
          <p:cNvSpPr txBox="1"/>
          <p:nvPr/>
        </p:nvSpPr>
        <p:spPr bwMode="gray">
          <a:xfrm>
            <a:off x="4587411" y="4514434"/>
            <a:ext cx="1039091" cy="138546"/>
          </a:xfrm>
          <a:prstGeom prst="rect">
            <a:avLst/>
          </a:prstGeom>
        </p:spPr>
        <p:txBody>
          <a:bodyPr vert="horz" wrap="square" lIns="91440" tIns="45720" rIns="91440" bIns="45720" rtlCol="0" anchor="ctr">
            <a:noAutofit/>
          </a:bodyPr>
          <a:lstStyle/>
          <a:p>
            <a:pPr algn="ctr"/>
            <a:r>
              <a:rPr lang="en-IN" sz="800" i="1" dirty="0" err="1" smtClean="0"/>
              <a:t>Malakpet</a:t>
            </a:r>
            <a:endParaRPr lang="en-IN" sz="800" i="1" dirty="0" smtClean="0"/>
          </a:p>
        </p:txBody>
      </p:sp>
      <p:sp>
        <p:nvSpPr>
          <p:cNvPr id="146" name="TextBox 145"/>
          <p:cNvSpPr txBox="1"/>
          <p:nvPr/>
        </p:nvSpPr>
        <p:spPr bwMode="gray">
          <a:xfrm>
            <a:off x="3571019" y="5149214"/>
            <a:ext cx="1039091" cy="138546"/>
          </a:xfrm>
          <a:prstGeom prst="rect">
            <a:avLst/>
          </a:prstGeom>
        </p:spPr>
        <p:txBody>
          <a:bodyPr vert="horz" wrap="square" lIns="91440" tIns="45720" rIns="91440" bIns="45720" rtlCol="0" anchor="ctr">
            <a:noAutofit/>
          </a:bodyPr>
          <a:lstStyle/>
          <a:p>
            <a:pPr algn="ctr"/>
            <a:r>
              <a:rPr lang="en-IN" sz="800" i="1" dirty="0" smtClean="0"/>
              <a:t>Murad Nagar</a:t>
            </a:r>
          </a:p>
        </p:txBody>
      </p:sp>
      <p:sp>
        <p:nvSpPr>
          <p:cNvPr id="147" name="TextBox 146"/>
          <p:cNvSpPr txBox="1"/>
          <p:nvPr/>
        </p:nvSpPr>
        <p:spPr bwMode="gray">
          <a:xfrm>
            <a:off x="3851885" y="5735712"/>
            <a:ext cx="1039091" cy="138546"/>
          </a:xfrm>
          <a:prstGeom prst="rect">
            <a:avLst/>
          </a:prstGeom>
        </p:spPr>
        <p:txBody>
          <a:bodyPr vert="horz" wrap="square" lIns="91440" tIns="45720" rIns="91440" bIns="45720" rtlCol="0" anchor="ctr">
            <a:noAutofit/>
          </a:bodyPr>
          <a:lstStyle/>
          <a:p>
            <a:pPr algn="ctr"/>
            <a:r>
              <a:rPr lang="en-IN" sz="800" i="1" dirty="0" err="1" smtClean="0"/>
              <a:t>Kamaguda</a:t>
            </a:r>
            <a:endParaRPr lang="en-IN" sz="800" i="1" dirty="0" smtClean="0"/>
          </a:p>
        </p:txBody>
      </p:sp>
      <p:sp>
        <p:nvSpPr>
          <p:cNvPr id="148" name="TextBox 147"/>
          <p:cNvSpPr txBox="1"/>
          <p:nvPr/>
        </p:nvSpPr>
        <p:spPr bwMode="gray">
          <a:xfrm>
            <a:off x="3808498" y="5497522"/>
            <a:ext cx="1039091" cy="138546"/>
          </a:xfrm>
          <a:prstGeom prst="rect">
            <a:avLst/>
          </a:prstGeom>
        </p:spPr>
        <p:txBody>
          <a:bodyPr vert="horz" wrap="square" lIns="91440" tIns="45720" rIns="91440" bIns="45720" rtlCol="0" anchor="ctr">
            <a:noAutofit/>
          </a:bodyPr>
          <a:lstStyle/>
          <a:p>
            <a:pPr algn="ctr"/>
            <a:r>
              <a:rPr lang="en-IN" sz="800" i="1" dirty="0" err="1" smtClean="0"/>
              <a:t>Falaknuma</a:t>
            </a:r>
            <a:endParaRPr lang="en-IN" sz="800" i="1" dirty="0" smtClean="0"/>
          </a:p>
        </p:txBody>
      </p:sp>
      <p:sp>
        <p:nvSpPr>
          <p:cNvPr id="149" name="TextBox 148"/>
          <p:cNvSpPr txBox="1"/>
          <p:nvPr/>
        </p:nvSpPr>
        <p:spPr bwMode="gray">
          <a:xfrm>
            <a:off x="3585870" y="4763032"/>
            <a:ext cx="1039091" cy="138546"/>
          </a:xfrm>
          <a:prstGeom prst="rect">
            <a:avLst/>
          </a:prstGeom>
        </p:spPr>
        <p:txBody>
          <a:bodyPr vert="horz" wrap="square" lIns="91440" tIns="45720" rIns="91440" bIns="45720" rtlCol="0" anchor="ctr">
            <a:noAutofit/>
          </a:bodyPr>
          <a:lstStyle/>
          <a:p>
            <a:pPr algn="ctr"/>
            <a:r>
              <a:rPr lang="en-IN" sz="800" i="1" dirty="0" smtClean="0"/>
              <a:t>High Court</a:t>
            </a:r>
          </a:p>
        </p:txBody>
      </p:sp>
      <p:sp>
        <p:nvSpPr>
          <p:cNvPr id="150" name="TextBox 149"/>
          <p:cNvSpPr txBox="1"/>
          <p:nvPr/>
        </p:nvSpPr>
        <p:spPr bwMode="gray">
          <a:xfrm>
            <a:off x="3263243" y="3579380"/>
            <a:ext cx="1039091" cy="138546"/>
          </a:xfrm>
          <a:prstGeom prst="rect">
            <a:avLst/>
          </a:prstGeom>
        </p:spPr>
        <p:txBody>
          <a:bodyPr vert="horz" wrap="square" lIns="91440" tIns="45720" rIns="91440" bIns="45720" rtlCol="0" anchor="ctr">
            <a:noAutofit/>
          </a:bodyPr>
          <a:lstStyle/>
          <a:p>
            <a:pPr algn="ctr"/>
            <a:r>
              <a:rPr lang="en-IN" sz="800" i="1" dirty="0" err="1" smtClean="0"/>
              <a:t>Khairatabad</a:t>
            </a:r>
            <a:endParaRPr lang="en-IN" sz="800" i="1" dirty="0" smtClean="0"/>
          </a:p>
        </p:txBody>
      </p:sp>
      <p:sp>
        <p:nvSpPr>
          <p:cNvPr id="152" name="TextBox 151"/>
          <p:cNvSpPr txBox="1"/>
          <p:nvPr/>
        </p:nvSpPr>
        <p:spPr bwMode="gray">
          <a:xfrm>
            <a:off x="3632831" y="3900662"/>
            <a:ext cx="1039091" cy="138546"/>
          </a:xfrm>
          <a:prstGeom prst="rect">
            <a:avLst/>
          </a:prstGeom>
        </p:spPr>
        <p:txBody>
          <a:bodyPr vert="horz" wrap="square" lIns="91440" tIns="45720" rIns="91440" bIns="45720" rtlCol="0" anchor="ctr">
            <a:noAutofit/>
          </a:bodyPr>
          <a:lstStyle/>
          <a:p>
            <a:pPr algn="ctr"/>
            <a:r>
              <a:rPr lang="en-IN" sz="800" i="1" dirty="0" smtClean="0"/>
              <a:t>Hill Fort Road</a:t>
            </a:r>
          </a:p>
        </p:txBody>
      </p:sp>
      <p:sp>
        <p:nvSpPr>
          <p:cNvPr id="153" name="TextBox 152"/>
          <p:cNvSpPr txBox="1"/>
          <p:nvPr/>
        </p:nvSpPr>
        <p:spPr bwMode="gray">
          <a:xfrm>
            <a:off x="3581166" y="2620826"/>
            <a:ext cx="1039091" cy="138546"/>
          </a:xfrm>
          <a:prstGeom prst="rect">
            <a:avLst/>
          </a:prstGeom>
        </p:spPr>
        <p:txBody>
          <a:bodyPr vert="horz" wrap="square" lIns="91440" tIns="45720" rIns="91440" bIns="45720" rtlCol="0" anchor="ctr">
            <a:noAutofit/>
          </a:bodyPr>
          <a:lstStyle/>
          <a:p>
            <a:pPr algn="ctr"/>
            <a:r>
              <a:rPr lang="en-IN" sz="800" i="1" dirty="0" err="1" smtClean="0"/>
              <a:t>Bowenpally</a:t>
            </a:r>
            <a:endParaRPr lang="en-IN" sz="800" i="1" dirty="0" smtClean="0"/>
          </a:p>
        </p:txBody>
      </p:sp>
      <p:sp>
        <p:nvSpPr>
          <p:cNvPr id="154" name="TextBox 153"/>
          <p:cNvSpPr txBox="1"/>
          <p:nvPr/>
        </p:nvSpPr>
        <p:spPr bwMode="gray">
          <a:xfrm>
            <a:off x="3605216" y="2360459"/>
            <a:ext cx="1039091" cy="138546"/>
          </a:xfrm>
          <a:prstGeom prst="rect">
            <a:avLst/>
          </a:prstGeom>
        </p:spPr>
        <p:txBody>
          <a:bodyPr vert="horz" wrap="square" lIns="91440" tIns="45720" rIns="91440" bIns="45720" rtlCol="0" anchor="ctr">
            <a:noAutofit/>
          </a:bodyPr>
          <a:lstStyle/>
          <a:p>
            <a:pPr algn="ctr"/>
            <a:r>
              <a:rPr lang="en-IN" sz="800" i="1" dirty="0" smtClean="0"/>
              <a:t>HAL</a:t>
            </a:r>
          </a:p>
        </p:txBody>
      </p:sp>
      <p:sp>
        <p:nvSpPr>
          <p:cNvPr id="155" name="TextBox 154"/>
          <p:cNvSpPr txBox="1"/>
          <p:nvPr/>
        </p:nvSpPr>
        <p:spPr bwMode="gray">
          <a:xfrm>
            <a:off x="4681516" y="1870176"/>
            <a:ext cx="1039091" cy="138546"/>
          </a:xfrm>
          <a:prstGeom prst="rect">
            <a:avLst/>
          </a:prstGeom>
        </p:spPr>
        <p:txBody>
          <a:bodyPr vert="horz" wrap="square" lIns="91440" tIns="45720" rIns="91440" bIns="45720" rtlCol="0" anchor="ctr">
            <a:noAutofit/>
          </a:bodyPr>
          <a:lstStyle/>
          <a:p>
            <a:pPr algn="ctr"/>
            <a:r>
              <a:rPr lang="en-IN" sz="800" i="1" dirty="0" err="1" smtClean="0"/>
              <a:t>Alwal</a:t>
            </a:r>
            <a:endParaRPr lang="en-IN" sz="800" i="1" dirty="0" smtClean="0"/>
          </a:p>
        </p:txBody>
      </p:sp>
      <p:sp>
        <p:nvSpPr>
          <p:cNvPr id="156" name="TextBox 155"/>
          <p:cNvSpPr txBox="1"/>
          <p:nvPr/>
        </p:nvSpPr>
        <p:spPr bwMode="gray">
          <a:xfrm>
            <a:off x="3650664" y="1594118"/>
            <a:ext cx="1039091" cy="138546"/>
          </a:xfrm>
          <a:prstGeom prst="rect">
            <a:avLst/>
          </a:prstGeom>
        </p:spPr>
        <p:txBody>
          <a:bodyPr vert="horz" wrap="square" lIns="91440" tIns="45720" rIns="91440" bIns="45720" rtlCol="0" anchor="ctr">
            <a:noAutofit/>
          </a:bodyPr>
          <a:lstStyle/>
          <a:p>
            <a:pPr algn="ctr"/>
            <a:r>
              <a:rPr lang="en-IN" sz="800" i="1" dirty="0" err="1" smtClean="0"/>
              <a:t>Doolapally</a:t>
            </a:r>
            <a:endParaRPr lang="en-IN" sz="800" i="1" dirty="0" smtClean="0"/>
          </a:p>
        </p:txBody>
      </p:sp>
      <p:sp>
        <p:nvSpPr>
          <p:cNvPr id="157" name="TextBox 156"/>
          <p:cNvSpPr txBox="1"/>
          <p:nvPr/>
        </p:nvSpPr>
        <p:spPr bwMode="gray">
          <a:xfrm>
            <a:off x="5257273" y="2752520"/>
            <a:ext cx="1039091" cy="138546"/>
          </a:xfrm>
          <a:prstGeom prst="rect">
            <a:avLst/>
          </a:prstGeom>
        </p:spPr>
        <p:txBody>
          <a:bodyPr vert="horz" wrap="square" lIns="91440" tIns="45720" rIns="91440" bIns="45720" rtlCol="0" anchor="ctr">
            <a:noAutofit/>
          </a:bodyPr>
          <a:lstStyle/>
          <a:p>
            <a:pPr algn="ctr"/>
            <a:r>
              <a:rPr lang="en-IN" sz="800" i="1" dirty="0" smtClean="0"/>
              <a:t>Nehru Nagar</a:t>
            </a:r>
          </a:p>
        </p:txBody>
      </p:sp>
      <p:sp>
        <p:nvSpPr>
          <p:cNvPr id="158" name="TextBox 157"/>
          <p:cNvSpPr txBox="1"/>
          <p:nvPr/>
        </p:nvSpPr>
        <p:spPr bwMode="gray">
          <a:xfrm>
            <a:off x="5655428" y="2447763"/>
            <a:ext cx="1039091" cy="138546"/>
          </a:xfrm>
          <a:prstGeom prst="rect">
            <a:avLst/>
          </a:prstGeom>
        </p:spPr>
        <p:txBody>
          <a:bodyPr vert="horz" wrap="square" lIns="91440" tIns="45720" rIns="91440" bIns="45720" rtlCol="0" anchor="ctr">
            <a:noAutofit/>
          </a:bodyPr>
          <a:lstStyle/>
          <a:p>
            <a:pPr algn="ctr"/>
            <a:r>
              <a:rPr lang="en-IN" sz="800" i="1" dirty="0" err="1" smtClean="0"/>
              <a:t>Anantram</a:t>
            </a:r>
            <a:endParaRPr lang="en-IN" sz="800" i="1" dirty="0" smtClean="0"/>
          </a:p>
        </p:txBody>
      </p:sp>
      <p:sp>
        <p:nvSpPr>
          <p:cNvPr id="159" name="TextBox 158"/>
          <p:cNvSpPr txBox="1"/>
          <p:nvPr/>
        </p:nvSpPr>
        <p:spPr bwMode="gray">
          <a:xfrm>
            <a:off x="6049765" y="3127875"/>
            <a:ext cx="1039091" cy="138546"/>
          </a:xfrm>
          <a:prstGeom prst="rect">
            <a:avLst/>
          </a:prstGeom>
        </p:spPr>
        <p:txBody>
          <a:bodyPr vert="horz" wrap="square" lIns="91440" tIns="45720" rIns="91440" bIns="45720" rtlCol="0" anchor="ctr">
            <a:noAutofit/>
          </a:bodyPr>
          <a:lstStyle/>
          <a:p>
            <a:pPr algn="ctr"/>
            <a:r>
              <a:rPr lang="en-IN" sz="800" i="1" dirty="0" err="1" smtClean="0"/>
              <a:t>Sitaphalmandi</a:t>
            </a:r>
            <a:endParaRPr lang="en-IN" sz="800" i="1" dirty="0" smtClean="0"/>
          </a:p>
        </p:txBody>
      </p:sp>
      <p:sp>
        <p:nvSpPr>
          <p:cNvPr id="160" name="TextBox 159"/>
          <p:cNvSpPr txBox="1"/>
          <p:nvPr/>
        </p:nvSpPr>
        <p:spPr bwMode="gray">
          <a:xfrm>
            <a:off x="5443008" y="3511051"/>
            <a:ext cx="1039091" cy="138546"/>
          </a:xfrm>
          <a:prstGeom prst="rect">
            <a:avLst/>
          </a:prstGeom>
        </p:spPr>
        <p:txBody>
          <a:bodyPr vert="horz" wrap="square" lIns="91440" tIns="45720" rIns="91440" bIns="45720" rtlCol="0" anchor="ctr">
            <a:noAutofit/>
          </a:bodyPr>
          <a:lstStyle/>
          <a:p>
            <a:pPr algn="ctr"/>
            <a:r>
              <a:rPr lang="en-IN" sz="800" i="1" dirty="0" err="1" smtClean="0"/>
              <a:t>Bhoiguda</a:t>
            </a:r>
            <a:r>
              <a:rPr lang="en-IN" sz="800" i="1" dirty="0" smtClean="0"/>
              <a:t> Road</a:t>
            </a:r>
          </a:p>
        </p:txBody>
      </p:sp>
      <p:sp>
        <p:nvSpPr>
          <p:cNvPr id="161" name="TextBox 160"/>
          <p:cNvSpPr txBox="1"/>
          <p:nvPr/>
        </p:nvSpPr>
        <p:spPr bwMode="gray">
          <a:xfrm>
            <a:off x="6875347" y="3383409"/>
            <a:ext cx="1039091" cy="138546"/>
          </a:xfrm>
          <a:prstGeom prst="rect">
            <a:avLst/>
          </a:prstGeom>
        </p:spPr>
        <p:txBody>
          <a:bodyPr vert="horz" wrap="square" lIns="91440" tIns="45720" rIns="91440" bIns="45720" rtlCol="0" anchor="ctr">
            <a:noAutofit/>
          </a:bodyPr>
          <a:lstStyle/>
          <a:p>
            <a:pPr algn="ctr"/>
            <a:r>
              <a:rPr lang="en-IN" sz="800" i="1" dirty="0" smtClean="0"/>
              <a:t>Railway Workshop</a:t>
            </a:r>
          </a:p>
        </p:txBody>
      </p:sp>
      <p:sp>
        <p:nvSpPr>
          <p:cNvPr id="162" name="TextBox 161"/>
          <p:cNvSpPr txBox="1"/>
          <p:nvPr/>
        </p:nvSpPr>
        <p:spPr bwMode="gray">
          <a:xfrm>
            <a:off x="6573205" y="2748311"/>
            <a:ext cx="1039091" cy="138546"/>
          </a:xfrm>
          <a:prstGeom prst="rect">
            <a:avLst/>
          </a:prstGeom>
        </p:spPr>
        <p:txBody>
          <a:bodyPr vert="horz" wrap="square" lIns="91440" tIns="45720" rIns="91440" bIns="45720" rtlCol="0" anchor="ctr">
            <a:noAutofit/>
          </a:bodyPr>
          <a:lstStyle/>
          <a:p>
            <a:pPr algn="ctr"/>
            <a:r>
              <a:rPr lang="en-IN" sz="800" i="1" dirty="0" err="1" smtClean="0"/>
              <a:t>Malkajgiri</a:t>
            </a:r>
            <a:endParaRPr lang="en-IN" sz="800" i="1" dirty="0" smtClean="0"/>
          </a:p>
        </p:txBody>
      </p:sp>
      <p:sp>
        <p:nvSpPr>
          <p:cNvPr id="163" name="TextBox 162"/>
          <p:cNvSpPr txBox="1"/>
          <p:nvPr/>
        </p:nvSpPr>
        <p:spPr bwMode="gray">
          <a:xfrm>
            <a:off x="6174973" y="1999147"/>
            <a:ext cx="1039091" cy="138546"/>
          </a:xfrm>
          <a:prstGeom prst="rect">
            <a:avLst/>
          </a:prstGeom>
        </p:spPr>
        <p:txBody>
          <a:bodyPr vert="horz" wrap="square" lIns="91440" tIns="45720" rIns="91440" bIns="45720" rtlCol="0" anchor="ctr">
            <a:noAutofit/>
          </a:bodyPr>
          <a:lstStyle/>
          <a:p>
            <a:pPr algn="ctr"/>
            <a:r>
              <a:rPr lang="en-IN" sz="800" i="1" dirty="0" smtClean="0"/>
              <a:t>Generals Road</a:t>
            </a:r>
          </a:p>
        </p:txBody>
      </p:sp>
      <p:sp>
        <p:nvSpPr>
          <p:cNvPr id="164" name="TextBox 163"/>
          <p:cNvSpPr txBox="1"/>
          <p:nvPr/>
        </p:nvSpPr>
        <p:spPr bwMode="gray">
          <a:xfrm>
            <a:off x="7210211" y="1998063"/>
            <a:ext cx="1039091" cy="138546"/>
          </a:xfrm>
          <a:prstGeom prst="rect">
            <a:avLst/>
          </a:prstGeom>
        </p:spPr>
        <p:txBody>
          <a:bodyPr vert="horz" wrap="square" lIns="91440" tIns="45720" rIns="91440" bIns="45720" rtlCol="0" anchor="ctr">
            <a:noAutofit/>
          </a:bodyPr>
          <a:lstStyle/>
          <a:p>
            <a:pPr algn="ctr"/>
            <a:r>
              <a:rPr lang="en-IN" sz="800" i="1" dirty="0" err="1" smtClean="0"/>
              <a:t>Sainikpuri</a:t>
            </a:r>
            <a:endParaRPr lang="en-IN" sz="800" i="1" dirty="0" smtClean="0"/>
          </a:p>
        </p:txBody>
      </p:sp>
      <p:sp>
        <p:nvSpPr>
          <p:cNvPr id="165" name="TextBox 164"/>
          <p:cNvSpPr txBox="1"/>
          <p:nvPr/>
        </p:nvSpPr>
        <p:spPr bwMode="gray">
          <a:xfrm>
            <a:off x="5069846" y="5382762"/>
            <a:ext cx="1039091" cy="138546"/>
          </a:xfrm>
          <a:prstGeom prst="rect">
            <a:avLst/>
          </a:prstGeom>
        </p:spPr>
        <p:txBody>
          <a:bodyPr vert="horz" wrap="square" lIns="91440" tIns="45720" rIns="91440" bIns="45720" rtlCol="0" anchor="ctr">
            <a:noAutofit/>
          </a:bodyPr>
          <a:lstStyle/>
          <a:p>
            <a:pPr algn="ctr"/>
            <a:r>
              <a:rPr lang="en-IN" sz="800" i="1" dirty="0" smtClean="0"/>
              <a:t>Saidabad</a:t>
            </a:r>
          </a:p>
        </p:txBody>
      </p:sp>
      <p:sp>
        <p:nvSpPr>
          <p:cNvPr id="166" name="TextBox 165"/>
          <p:cNvSpPr txBox="1"/>
          <p:nvPr/>
        </p:nvSpPr>
        <p:spPr bwMode="gray">
          <a:xfrm>
            <a:off x="6046040" y="5445513"/>
            <a:ext cx="1039091" cy="138546"/>
          </a:xfrm>
          <a:prstGeom prst="rect">
            <a:avLst/>
          </a:prstGeom>
        </p:spPr>
        <p:txBody>
          <a:bodyPr vert="horz" wrap="square" lIns="91440" tIns="45720" rIns="91440" bIns="45720" rtlCol="0" anchor="ctr">
            <a:noAutofit/>
          </a:bodyPr>
          <a:lstStyle/>
          <a:p>
            <a:pPr algn="ctr"/>
            <a:r>
              <a:rPr lang="en-IN" sz="800" i="1" dirty="0" err="1" smtClean="0"/>
              <a:t>Saroornagar</a:t>
            </a:r>
            <a:endParaRPr lang="en-IN" sz="800" i="1" dirty="0" smtClean="0"/>
          </a:p>
        </p:txBody>
      </p:sp>
      <p:sp>
        <p:nvSpPr>
          <p:cNvPr id="167" name="TextBox 166"/>
          <p:cNvSpPr txBox="1"/>
          <p:nvPr/>
        </p:nvSpPr>
        <p:spPr bwMode="gray">
          <a:xfrm>
            <a:off x="6882745" y="5443365"/>
            <a:ext cx="1039091" cy="138546"/>
          </a:xfrm>
          <a:prstGeom prst="rect">
            <a:avLst/>
          </a:prstGeom>
        </p:spPr>
        <p:txBody>
          <a:bodyPr vert="horz" wrap="square" lIns="91440" tIns="45720" rIns="91440" bIns="45720" rtlCol="0" anchor="ctr">
            <a:noAutofit/>
          </a:bodyPr>
          <a:lstStyle/>
          <a:p>
            <a:pPr algn="ctr"/>
            <a:r>
              <a:rPr lang="en-IN" sz="800" i="1" dirty="0" smtClean="0"/>
              <a:t>LB Nagar</a:t>
            </a:r>
          </a:p>
        </p:txBody>
      </p:sp>
      <p:sp>
        <p:nvSpPr>
          <p:cNvPr id="168" name="Oval 167"/>
          <p:cNvSpPr/>
          <p:nvPr/>
        </p:nvSpPr>
        <p:spPr>
          <a:xfrm>
            <a:off x="5076498" y="3195566"/>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9" name="Oval 168"/>
          <p:cNvSpPr/>
          <p:nvPr/>
        </p:nvSpPr>
        <p:spPr>
          <a:xfrm>
            <a:off x="3477724" y="3130648"/>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0" name="Oval 169"/>
          <p:cNvSpPr/>
          <p:nvPr/>
        </p:nvSpPr>
        <p:spPr>
          <a:xfrm>
            <a:off x="2292776" y="2190424"/>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1" name="Oval 170"/>
          <p:cNvSpPr/>
          <p:nvPr/>
        </p:nvSpPr>
        <p:spPr>
          <a:xfrm>
            <a:off x="3980943" y="4187030"/>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2" name="Oval 171"/>
          <p:cNvSpPr/>
          <p:nvPr/>
        </p:nvSpPr>
        <p:spPr>
          <a:xfrm>
            <a:off x="7097565" y="3800764"/>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3" name="Oval 172"/>
          <p:cNvSpPr/>
          <p:nvPr/>
        </p:nvSpPr>
        <p:spPr>
          <a:xfrm>
            <a:off x="8283918" y="2306479"/>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4" name="Oval 173"/>
          <p:cNvSpPr/>
          <p:nvPr/>
        </p:nvSpPr>
        <p:spPr>
          <a:xfrm>
            <a:off x="3079116" y="3532381"/>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5" name="Oval 174"/>
          <p:cNvSpPr/>
          <p:nvPr/>
        </p:nvSpPr>
        <p:spPr>
          <a:xfrm>
            <a:off x="1789294" y="3505689"/>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6" name="Oval 175"/>
          <p:cNvSpPr/>
          <p:nvPr/>
        </p:nvSpPr>
        <p:spPr>
          <a:xfrm>
            <a:off x="5705889" y="5063142"/>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7" name="Oval 176"/>
          <p:cNvSpPr/>
          <p:nvPr/>
        </p:nvSpPr>
        <p:spPr>
          <a:xfrm>
            <a:off x="5705889" y="4716153"/>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8" name="Oval 177"/>
          <p:cNvSpPr/>
          <p:nvPr/>
        </p:nvSpPr>
        <p:spPr>
          <a:xfrm>
            <a:off x="7070934" y="4816272"/>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9" name="Oval 178"/>
          <p:cNvSpPr/>
          <p:nvPr/>
        </p:nvSpPr>
        <p:spPr>
          <a:xfrm>
            <a:off x="1752436" y="2190424"/>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0" name="Oval 179"/>
          <p:cNvSpPr/>
          <p:nvPr/>
        </p:nvSpPr>
        <p:spPr>
          <a:xfrm>
            <a:off x="7562978" y="5691515"/>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1" name="Oval 180"/>
          <p:cNvSpPr/>
          <p:nvPr/>
        </p:nvSpPr>
        <p:spPr>
          <a:xfrm>
            <a:off x="5397837" y="1481922"/>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2" name="Oval 181"/>
          <p:cNvSpPr/>
          <p:nvPr/>
        </p:nvSpPr>
        <p:spPr>
          <a:xfrm>
            <a:off x="5692817" y="3941207"/>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4" name="Oval 183"/>
          <p:cNvSpPr/>
          <p:nvPr/>
        </p:nvSpPr>
        <p:spPr>
          <a:xfrm>
            <a:off x="2357543" y="4534118"/>
            <a:ext cx="191726" cy="16385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5" name="Oval 184"/>
          <p:cNvSpPr/>
          <p:nvPr/>
        </p:nvSpPr>
        <p:spPr>
          <a:xfrm>
            <a:off x="2280130" y="4008039"/>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6" name="Oval 185"/>
          <p:cNvSpPr/>
          <p:nvPr/>
        </p:nvSpPr>
        <p:spPr>
          <a:xfrm>
            <a:off x="4662563" y="3838890"/>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7" name="Oval 186"/>
          <p:cNvSpPr/>
          <p:nvPr/>
        </p:nvSpPr>
        <p:spPr>
          <a:xfrm>
            <a:off x="1661984" y="3117359"/>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8" name="Oval 187"/>
          <p:cNvSpPr/>
          <p:nvPr/>
        </p:nvSpPr>
        <p:spPr>
          <a:xfrm>
            <a:off x="6196157" y="3814516"/>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9" name="Oval 188"/>
          <p:cNvSpPr/>
          <p:nvPr/>
        </p:nvSpPr>
        <p:spPr>
          <a:xfrm>
            <a:off x="670764" y="2074420"/>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0" name="Oval 189"/>
          <p:cNvSpPr/>
          <p:nvPr/>
        </p:nvSpPr>
        <p:spPr>
          <a:xfrm>
            <a:off x="7469459" y="4778285"/>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1" name="Oval 190"/>
          <p:cNvSpPr/>
          <p:nvPr/>
        </p:nvSpPr>
        <p:spPr>
          <a:xfrm>
            <a:off x="2513394" y="2190372"/>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2" name="Oval 191"/>
          <p:cNvSpPr/>
          <p:nvPr/>
        </p:nvSpPr>
        <p:spPr>
          <a:xfrm>
            <a:off x="4815689" y="4212183"/>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3" name="TextBox 192"/>
          <p:cNvSpPr txBox="1"/>
          <p:nvPr/>
        </p:nvSpPr>
        <p:spPr bwMode="gray">
          <a:xfrm>
            <a:off x="563453" y="1377879"/>
            <a:ext cx="3417490" cy="218941"/>
          </a:xfrm>
          <a:prstGeom prst="rect">
            <a:avLst/>
          </a:prstGeom>
        </p:spPr>
        <p:txBody>
          <a:bodyPr vert="horz" wrap="square" lIns="91440" tIns="45720" rIns="91440" bIns="45720" rtlCol="0" anchor="ctr">
            <a:noAutofit/>
          </a:bodyPr>
          <a:lstStyle/>
          <a:p>
            <a:r>
              <a:rPr lang="en-IN" sz="1200" b="1" dirty="0" smtClean="0"/>
              <a:t>Hyderabad</a:t>
            </a:r>
          </a:p>
          <a:p>
            <a:r>
              <a:rPr lang="en-IN" sz="1200" i="1" dirty="0" smtClean="0"/>
              <a:t>Indicative PINCODE map</a:t>
            </a:r>
          </a:p>
          <a:p>
            <a:r>
              <a:rPr lang="en-IN" sz="1000" dirty="0" smtClean="0"/>
              <a:t>Not to scale</a:t>
            </a:r>
          </a:p>
        </p:txBody>
      </p:sp>
      <p:sp>
        <p:nvSpPr>
          <p:cNvPr id="203" name="TextBox 202"/>
          <p:cNvSpPr txBox="1"/>
          <p:nvPr/>
        </p:nvSpPr>
        <p:spPr bwMode="gray">
          <a:xfrm>
            <a:off x="8028422" y="6411628"/>
            <a:ext cx="1286971" cy="367049"/>
          </a:xfrm>
          <a:prstGeom prst="rect">
            <a:avLst/>
          </a:prstGeom>
        </p:spPr>
        <p:txBody>
          <a:bodyPr vert="horz" wrap="square" lIns="91440" tIns="45720" rIns="91440" bIns="45720" rtlCol="0" anchor="ctr">
            <a:noAutofit/>
          </a:bodyPr>
          <a:lstStyle/>
          <a:p>
            <a:r>
              <a:rPr lang="en-IN" sz="800" dirty="0" smtClean="0"/>
              <a:t>Croma sales PIN Potential gradient – </a:t>
            </a:r>
          </a:p>
          <a:p>
            <a:r>
              <a:rPr lang="en-IN" sz="800" dirty="0" smtClean="0"/>
              <a:t>High to Low</a:t>
            </a:r>
          </a:p>
        </p:txBody>
      </p:sp>
      <p:sp>
        <p:nvSpPr>
          <p:cNvPr id="205" name="TextBox 204"/>
          <p:cNvSpPr txBox="1"/>
          <p:nvPr/>
        </p:nvSpPr>
        <p:spPr bwMode="gray">
          <a:xfrm>
            <a:off x="3698636" y="3460735"/>
            <a:ext cx="1039091" cy="138546"/>
          </a:xfrm>
          <a:prstGeom prst="rect">
            <a:avLst/>
          </a:prstGeom>
        </p:spPr>
        <p:txBody>
          <a:bodyPr vert="horz" wrap="square" lIns="91440" tIns="45720" rIns="91440" bIns="45720" rtlCol="0" anchor="ctr">
            <a:noAutofit/>
          </a:bodyPr>
          <a:lstStyle/>
          <a:p>
            <a:pPr algn="ctr"/>
            <a:r>
              <a:rPr lang="en-IN" sz="800" i="1" dirty="0" smtClean="0"/>
              <a:t>Secretariat</a:t>
            </a:r>
          </a:p>
        </p:txBody>
      </p:sp>
      <p:sp>
        <p:nvSpPr>
          <p:cNvPr id="183" name="Oval 182"/>
          <p:cNvSpPr/>
          <p:nvPr/>
        </p:nvSpPr>
        <p:spPr>
          <a:xfrm>
            <a:off x="1607903" y="2916556"/>
            <a:ext cx="187037" cy="159422"/>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206" name="Oval 205"/>
          <p:cNvSpPr/>
          <p:nvPr/>
        </p:nvSpPr>
        <p:spPr>
          <a:xfrm>
            <a:off x="3245267" y="6479451"/>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7" name="TextBox 206"/>
          <p:cNvSpPr txBox="1"/>
          <p:nvPr/>
        </p:nvSpPr>
        <p:spPr bwMode="gray">
          <a:xfrm>
            <a:off x="3533632" y="6458695"/>
            <a:ext cx="780990" cy="367049"/>
          </a:xfrm>
          <a:prstGeom prst="rect">
            <a:avLst/>
          </a:prstGeom>
        </p:spPr>
        <p:txBody>
          <a:bodyPr vert="horz" wrap="square" lIns="91440" tIns="45720" rIns="91440" bIns="45720" rtlCol="0" anchor="ctr">
            <a:noAutofit/>
          </a:bodyPr>
          <a:lstStyle/>
          <a:p>
            <a:r>
              <a:rPr lang="en-IN" sz="800" dirty="0" smtClean="0"/>
              <a:t>Reliance Digital Stores</a:t>
            </a:r>
          </a:p>
        </p:txBody>
      </p:sp>
      <p:sp>
        <p:nvSpPr>
          <p:cNvPr id="208" name="Oval 207"/>
          <p:cNvSpPr/>
          <p:nvPr/>
        </p:nvSpPr>
        <p:spPr>
          <a:xfrm>
            <a:off x="4504649" y="6472861"/>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9" name="TextBox 208"/>
          <p:cNvSpPr txBox="1"/>
          <p:nvPr/>
        </p:nvSpPr>
        <p:spPr bwMode="gray">
          <a:xfrm>
            <a:off x="4770469" y="6469247"/>
            <a:ext cx="871025" cy="367049"/>
          </a:xfrm>
          <a:prstGeom prst="rect">
            <a:avLst/>
          </a:prstGeom>
        </p:spPr>
        <p:txBody>
          <a:bodyPr vert="horz" wrap="square" lIns="91440" tIns="45720" rIns="91440" bIns="45720" rtlCol="0" anchor="ctr">
            <a:noAutofit/>
          </a:bodyPr>
          <a:lstStyle/>
          <a:p>
            <a:r>
              <a:rPr lang="en-IN" sz="800" dirty="0" smtClean="0"/>
              <a:t>Bajaj Electronics Stores</a:t>
            </a:r>
          </a:p>
        </p:txBody>
      </p:sp>
      <p:sp>
        <p:nvSpPr>
          <p:cNvPr id="210" name="Oval 209"/>
          <p:cNvSpPr/>
          <p:nvPr/>
        </p:nvSpPr>
        <p:spPr>
          <a:xfrm>
            <a:off x="1967851" y="6476116"/>
            <a:ext cx="187037" cy="159422"/>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p>
        </p:txBody>
      </p:sp>
      <p:sp>
        <p:nvSpPr>
          <p:cNvPr id="211" name="TextBox 210"/>
          <p:cNvSpPr txBox="1"/>
          <p:nvPr/>
        </p:nvSpPr>
        <p:spPr bwMode="gray">
          <a:xfrm>
            <a:off x="2213846" y="6458695"/>
            <a:ext cx="903816" cy="367049"/>
          </a:xfrm>
          <a:prstGeom prst="rect">
            <a:avLst/>
          </a:prstGeom>
        </p:spPr>
        <p:txBody>
          <a:bodyPr vert="horz" wrap="square" lIns="91440" tIns="45720" rIns="91440" bIns="45720" rtlCol="0" anchor="ctr">
            <a:noAutofit/>
          </a:bodyPr>
          <a:lstStyle/>
          <a:p>
            <a:r>
              <a:rPr lang="en-IN" sz="800" dirty="0" smtClean="0"/>
              <a:t>Proposed Croma Store Locations</a:t>
            </a:r>
          </a:p>
        </p:txBody>
      </p:sp>
      <p:sp>
        <p:nvSpPr>
          <p:cNvPr id="212" name="Oval 211"/>
          <p:cNvSpPr/>
          <p:nvPr/>
        </p:nvSpPr>
        <p:spPr>
          <a:xfrm>
            <a:off x="659579" y="6468767"/>
            <a:ext cx="187037" cy="159422"/>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p>
        </p:txBody>
      </p:sp>
      <p:sp>
        <p:nvSpPr>
          <p:cNvPr id="213" name="TextBox 212"/>
          <p:cNvSpPr txBox="1"/>
          <p:nvPr/>
        </p:nvSpPr>
        <p:spPr bwMode="gray">
          <a:xfrm>
            <a:off x="918487" y="6468445"/>
            <a:ext cx="1229361" cy="367049"/>
          </a:xfrm>
          <a:prstGeom prst="rect">
            <a:avLst/>
          </a:prstGeom>
        </p:spPr>
        <p:txBody>
          <a:bodyPr vert="horz" wrap="square" lIns="91440" tIns="45720" rIns="91440" bIns="45720" rtlCol="0" anchor="ctr">
            <a:noAutofit/>
          </a:bodyPr>
          <a:lstStyle/>
          <a:p>
            <a:r>
              <a:rPr lang="en-IN" sz="800" dirty="0" smtClean="0"/>
              <a:t>Existing </a:t>
            </a:r>
          </a:p>
          <a:p>
            <a:r>
              <a:rPr lang="en-IN" sz="800" dirty="0" smtClean="0"/>
              <a:t>Croma Store Locations</a:t>
            </a:r>
          </a:p>
        </p:txBody>
      </p:sp>
      <p:graphicFrame>
        <p:nvGraphicFramePr>
          <p:cNvPr id="2" name="Table 1"/>
          <p:cNvGraphicFramePr>
            <a:graphicFrameLocks noGrp="1"/>
          </p:cNvGraphicFramePr>
          <p:nvPr/>
        </p:nvGraphicFramePr>
        <p:xfrm>
          <a:off x="5788630" y="6430652"/>
          <a:ext cx="2052755" cy="243840"/>
        </p:xfrm>
        <a:graphic>
          <a:graphicData uri="http://schemas.openxmlformats.org/drawingml/2006/table">
            <a:tbl>
              <a:tblPr firstRow="1" bandRow="1">
                <a:tableStyleId>{5C22544A-7EE6-4342-B048-85BDC9FD1C3A}</a:tableStyleId>
              </a:tblPr>
              <a:tblGrid>
                <a:gridCol w="410551"/>
                <a:gridCol w="410551"/>
                <a:gridCol w="410551"/>
                <a:gridCol w="410551"/>
                <a:gridCol w="410551"/>
              </a:tblGrid>
              <a:tr h="206853">
                <a:tc>
                  <a:txBody>
                    <a:bodyPr/>
                    <a:lstStyle/>
                    <a:p>
                      <a:pPr marL="0" algn="l" defTabSz="457200" rtl="0" eaLnBrk="1" latinLnBrk="0" hangingPunct="1"/>
                      <a:endParaRPr lang="en-IN" sz="1000" kern="1200" dirty="0">
                        <a:solidFill>
                          <a:schemeClr val="dk1"/>
                        </a:solidFill>
                        <a:latin typeface="+mn-lt"/>
                        <a:ea typeface="+mn-ea"/>
                        <a:cs typeface="+mn-cs"/>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solidFill>
                  </a:tcPr>
                </a:tc>
                <a:tc>
                  <a:txBody>
                    <a:bodyPr/>
                    <a:lstStyle/>
                    <a:p>
                      <a:pPr marL="0" algn="l" defTabSz="457200" rtl="0" eaLnBrk="1" latinLnBrk="0" hangingPunct="1"/>
                      <a:endParaRPr lang="en-IN" sz="1000" kern="1200" dirty="0">
                        <a:solidFill>
                          <a:schemeClr val="dk1"/>
                        </a:solidFill>
                        <a:latin typeface="+mn-lt"/>
                        <a:ea typeface="+mn-ea"/>
                        <a:cs typeface="+mn-cs"/>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60000"/>
                        <a:lumOff val="40000"/>
                      </a:schemeClr>
                    </a:solidFill>
                  </a:tcPr>
                </a:tc>
                <a:tc>
                  <a:txBody>
                    <a:bodyPr/>
                    <a:lstStyle/>
                    <a:p>
                      <a:pPr marL="0" algn="l" defTabSz="457200" rtl="0" eaLnBrk="1" latinLnBrk="0" hangingPunct="1"/>
                      <a:endParaRPr lang="en-IN" sz="1000" kern="1200" dirty="0">
                        <a:solidFill>
                          <a:schemeClr val="dk1"/>
                        </a:solidFill>
                        <a:latin typeface="+mn-lt"/>
                        <a:ea typeface="+mn-ea"/>
                        <a:cs typeface="+mn-cs"/>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40000"/>
                        <a:lumOff val="60000"/>
                      </a:schemeClr>
                    </a:solidFill>
                  </a:tcPr>
                </a:tc>
                <a:tc>
                  <a:txBody>
                    <a:bodyPr/>
                    <a:lstStyle/>
                    <a:p>
                      <a:pPr marL="0" algn="l" defTabSz="457200" rtl="0" eaLnBrk="1" latinLnBrk="0" hangingPunct="1"/>
                      <a:endParaRPr lang="en-IN" sz="1000" kern="1200" dirty="0">
                        <a:solidFill>
                          <a:schemeClr val="dk1"/>
                        </a:solidFill>
                        <a:latin typeface="+mn-lt"/>
                        <a:ea typeface="+mn-ea"/>
                        <a:cs typeface="+mn-cs"/>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marL="0" algn="l" defTabSz="457200" rtl="0" eaLnBrk="1" latinLnBrk="0" hangingPunct="1"/>
                      <a:endParaRPr lang="en-IN" sz="1000" kern="1200" dirty="0">
                        <a:solidFill>
                          <a:schemeClr val="dk1"/>
                        </a:solidFill>
                        <a:latin typeface="+mn-lt"/>
                        <a:ea typeface="+mn-ea"/>
                        <a:cs typeface="+mn-cs"/>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r>
            </a:tbl>
          </a:graphicData>
        </a:graphic>
      </p:graphicFrame>
      <p:sp>
        <p:nvSpPr>
          <p:cNvPr id="9" name="Rectangle 8"/>
          <p:cNvSpPr/>
          <p:nvPr/>
        </p:nvSpPr>
        <p:spPr>
          <a:xfrm>
            <a:off x="3832129" y="3532381"/>
            <a:ext cx="571004" cy="545013"/>
          </a:xfrm>
          <a:prstGeom prst="rect">
            <a:avLst/>
          </a:prstGeom>
          <a:noFill/>
          <a:ln w="28575">
            <a:solidFill>
              <a:schemeClr val="tx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Line Callout 2 9"/>
          <p:cNvSpPr/>
          <p:nvPr/>
        </p:nvSpPr>
        <p:spPr>
          <a:xfrm>
            <a:off x="9734190" y="4831102"/>
            <a:ext cx="1952651" cy="1115551"/>
          </a:xfrm>
          <a:prstGeom prst="borderCallout2">
            <a:avLst>
              <a:gd name="adj1" fmla="val 18750"/>
              <a:gd name="adj2" fmla="val -8333"/>
              <a:gd name="adj3" fmla="val 12284"/>
              <a:gd name="adj4" fmla="val -281786"/>
              <a:gd name="adj5" fmla="val -93168"/>
              <a:gd name="adj6" fmla="val -282370"/>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b="1" dirty="0" smtClean="0">
                <a:solidFill>
                  <a:schemeClr val="tx1"/>
                </a:solidFill>
              </a:rPr>
              <a:t>Secretariat</a:t>
            </a:r>
            <a:r>
              <a:rPr lang="en-IN" sz="1000" dirty="0" smtClean="0">
                <a:solidFill>
                  <a:schemeClr val="tx1"/>
                </a:solidFill>
              </a:rPr>
              <a:t> and </a:t>
            </a:r>
            <a:r>
              <a:rPr lang="en-IN" sz="1000" b="1" dirty="0" smtClean="0">
                <a:solidFill>
                  <a:schemeClr val="tx1"/>
                </a:solidFill>
              </a:rPr>
              <a:t>Hill Fort Road</a:t>
            </a:r>
            <a:r>
              <a:rPr lang="en-IN" sz="1000" dirty="0" smtClean="0">
                <a:solidFill>
                  <a:schemeClr val="tx1"/>
                </a:solidFill>
              </a:rPr>
              <a:t> are close to high potential locations with minimal competitor presence – should Croma consider these locations?</a:t>
            </a:r>
            <a:endParaRPr lang="en-IN" sz="1000" dirty="0">
              <a:solidFill>
                <a:schemeClr val="tx1"/>
              </a:solidFill>
            </a:endParaRPr>
          </a:p>
        </p:txBody>
      </p:sp>
      <p:sp>
        <p:nvSpPr>
          <p:cNvPr id="194" name="Line Callout 2 193"/>
          <p:cNvSpPr/>
          <p:nvPr/>
        </p:nvSpPr>
        <p:spPr>
          <a:xfrm>
            <a:off x="9736287" y="1365408"/>
            <a:ext cx="1952651" cy="1309219"/>
          </a:xfrm>
          <a:prstGeom prst="borderCallout2">
            <a:avLst>
              <a:gd name="adj1" fmla="val 18750"/>
              <a:gd name="adj2" fmla="val -8333"/>
              <a:gd name="adj3" fmla="val 20366"/>
              <a:gd name="adj4" fmla="val -92492"/>
              <a:gd name="adj5" fmla="val 77478"/>
              <a:gd name="adj6" fmla="val -215094"/>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dirty="0" smtClean="0">
                <a:solidFill>
                  <a:schemeClr val="tx1"/>
                </a:solidFill>
              </a:rPr>
              <a:t>Croma does not have a presence in </a:t>
            </a:r>
            <a:r>
              <a:rPr lang="en-IN" sz="1000" b="1" dirty="0" smtClean="0">
                <a:solidFill>
                  <a:schemeClr val="tx1"/>
                </a:solidFill>
              </a:rPr>
              <a:t>sections of </a:t>
            </a:r>
            <a:r>
              <a:rPr lang="en-IN" sz="1000" b="1" dirty="0" err="1" smtClean="0">
                <a:solidFill>
                  <a:schemeClr val="tx1"/>
                </a:solidFill>
              </a:rPr>
              <a:t>Secunderabad</a:t>
            </a:r>
            <a:r>
              <a:rPr lang="en-IN" sz="1000" b="1" dirty="0" smtClean="0">
                <a:solidFill>
                  <a:schemeClr val="tx1"/>
                </a:solidFill>
              </a:rPr>
              <a:t> </a:t>
            </a:r>
            <a:r>
              <a:rPr lang="en-IN" sz="1000" dirty="0" smtClean="0">
                <a:solidFill>
                  <a:schemeClr val="tx1"/>
                </a:solidFill>
              </a:rPr>
              <a:t>which has relatively lesser competition – should Croma establish a presence in this region?</a:t>
            </a:r>
            <a:endParaRPr lang="en-IN" sz="1000" dirty="0">
              <a:solidFill>
                <a:schemeClr val="tx1"/>
              </a:solidFill>
            </a:endParaRPr>
          </a:p>
        </p:txBody>
      </p:sp>
      <p:sp>
        <p:nvSpPr>
          <p:cNvPr id="197" name="Rectangle 196"/>
          <p:cNvSpPr/>
          <p:nvPr/>
        </p:nvSpPr>
        <p:spPr>
          <a:xfrm>
            <a:off x="4512014" y="2370608"/>
            <a:ext cx="1878833" cy="1150121"/>
          </a:xfrm>
          <a:prstGeom prst="rect">
            <a:avLst/>
          </a:prstGeom>
          <a:noFill/>
          <a:ln w="28575">
            <a:solidFill>
              <a:schemeClr val="tx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8" name="Line Callout 2 197"/>
          <p:cNvSpPr/>
          <p:nvPr/>
        </p:nvSpPr>
        <p:spPr>
          <a:xfrm>
            <a:off x="9734190" y="3086394"/>
            <a:ext cx="1952651" cy="1309219"/>
          </a:xfrm>
          <a:prstGeom prst="borderCallout2">
            <a:avLst>
              <a:gd name="adj1" fmla="val 18750"/>
              <a:gd name="adj2" fmla="val -8333"/>
              <a:gd name="adj3" fmla="val 66600"/>
              <a:gd name="adj4" fmla="val -85237"/>
              <a:gd name="adj5" fmla="val 113875"/>
              <a:gd name="adj6" fmla="val -154415"/>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dirty="0" smtClean="0">
                <a:solidFill>
                  <a:schemeClr val="tx1"/>
                </a:solidFill>
              </a:rPr>
              <a:t>The </a:t>
            </a:r>
            <a:r>
              <a:rPr lang="en-IN" sz="1000" b="1" dirty="0" smtClean="0">
                <a:solidFill>
                  <a:schemeClr val="tx1"/>
                </a:solidFill>
              </a:rPr>
              <a:t>south east </a:t>
            </a:r>
            <a:r>
              <a:rPr lang="en-IN" sz="1000" dirty="0" smtClean="0">
                <a:solidFill>
                  <a:schemeClr val="tx1"/>
                </a:solidFill>
              </a:rPr>
              <a:t>section of the city has dense competition presence and medium potential, should Croma consider this region?</a:t>
            </a:r>
            <a:endParaRPr lang="en-IN" sz="1000" dirty="0">
              <a:solidFill>
                <a:schemeClr val="tx1"/>
              </a:solidFill>
            </a:endParaRPr>
          </a:p>
        </p:txBody>
      </p:sp>
      <p:sp>
        <p:nvSpPr>
          <p:cNvPr id="199" name="Rectangle 198"/>
          <p:cNvSpPr/>
          <p:nvPr/>
        </p:nvSpPr>
        <p:spPr>
          <a:xfrm>
            <a:off x="5587537" y="4208391"/>
            <a:ext cx="2190180" cy="1642546"/>
          </a:xfrm>
          <a:prstGeom prst="rect">
            <a:avLst/>
          </a:prstGeom>
          <a:noFill/>
          <a:ln w="28575">
            <a:solidFill>
              <a:schemeClr val="tx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96" name="Straight Connector 195"/>
          <p:cNvCxnSpPr/>
          <p:nvPr/>
        </p:nvCxnSpPr>
        <p:spPr>
          <a:xfrm>
            <a:off x="4388104" y="1166418"/>
            <a:ext cx="0" cy="5187472"/>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p:cNvCxnSpPr/>
          <p:nvPr/>
        </p:nvCxnSpPr>
        <p:spPr>
          <a:xfrm>
            <a:off x="563535" y="3760154"/>
            <a:ext cx="8774371"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28734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8</a:t>
            </a:fld>
            <a:endParaRPr lang="en-US" dirty="0">
              <a:solidFill>
                <a:srgbClr val="0E5580"/>
              </a:solidFill>
            </a:endParaRPr>
          </a:p>
        </p:txBody>
      </p:sp>
      <p:sp>
        <p:nvSpPr>
          <p:cNvPr id="28" name="Title 4"/>
          <p:cNvSpPr>
            <a:spLocks noGrp="1"/>
          </p:cNvSpPr>
          <p:nvPr>
            <p:ph type="title"/>
          </p:nvPr>
        </p:nvSpPr>
        <p:spPr>
          <a:xfrm>
            <a:off x="629984" y="542362"/>
            <a:ext cx="9785683" cy="706964"/>
          </a:xfrm>
        </p:spPr>
        <p:txBody>
          <a:bodyPr/>
          <a:lstStyle/>
          <a:p>
            <a:r>
              <a:rPr lang="en-IN" dirty="0" smtClean="0"/>
              <a:t>Model Results – Relative Location Attractiveness Scores</a:t>
            </a:r>
            <a:endParaRPr lang="en-IN" dirty="0"/>
          </a:p>
        </p:txBody>
      </p:sp>
      <p:graphicFrame>
        <p:nvGraphicFramePr>
          <p:cNvPr id="2" name="Table 1"/>
          <p:cNvGraphicFramePr>
            <a:graphicFrameLocks noGrp="1"/>
          </p:cNvGraphicFramePr>
          <p:nvPr>
            <p:extLst>
              <p:ext uri="{D42A27DB-BD31-4B8C-83A1-F6EECF244321}">
                <p14:modId xmlns:p14="http://schemas.microsoft.com/office/powerpoint/2010/main" val="4289371046"/>
              </p:ext>
            </p:extLst>
          </p:nvPr>
        </p:nvGraphicFramePr>
        <p:xfrm>
          <a:off x="629984" y="2559123"/>
          <a:ext cx="3319232" cy="2082150"/>
        </p:xfrm>
        <a:graphic>
          <a:graphicData uri="http://schemas.openxmlformats.org/drawingml/2006/table">
            <a:tbl>
              <a:tblPr firstRow="1" bandRow="1">
                <a:tableStyleId>{5C22544A-7EE6-4342-B048-85BDC9FD1C3A}</a:tableStyleId>
              </a:tblPr>
              <a:tblGrid>
                <a:gridCol w="1659616"/>
                <a:gridCol w="1659616"/>
              </a:tblGrid>
              <a:tr h="280985">
                <a:tc>
                  <a:txBody>
                    <a:bodyPr/>
                    <a:lstStyle/>
                    <a:p>
                      <a:pPr algn="ctr"/>
                      <a:r>
                        <a:rPr lang="en-IN" sz="1000" dirty="0" smtClean="0"/>
                        <a:t>Store</a:t>
                      </a:r>
                      <a:endParaRPr lang="en-IN" sz="1000" dirty="0"/>
                    </a:p>
                  </a:txBody>
                  <a:tcPr anchor="ctr"/>
                </a:tc>
                <a:tc>
                  <a:txBody>
                    <a:bodyPr/>
                    <a:lstStyle/>
                    <a:p>
                      <a:pPr algn="ctr"/>
                      <a:r>
                        <a:rPr lang="en-IN" sz="1000" dirty="0" smtClean="0"/>
                        <a:t>Relative Location Attractiveness Score</a:t>
                      </a:r>
                      <a:endParaRPr lang="en-IN" sz="1000" dirty="0"/>
                    </a:p>
                  </a:txBody>
                  <a:tcPr anchor="ctr"/>
                </a:tc>
              </a:tr>
              <a:tr h="280985">
                <a:tc>
                  <a:txBody>
                    <a:bodyPr/>
                    <a:lstStyle/>
                    <a:p>
                      <a:pPr algn="ctr"/>
                      <a:r>
                        <a:rPr lang="en-IN" sz="1000" dirty="0" smtClean="0"/>
                        <a:t>Jubilee</a:t>
                      </a:r>
                      <a:r>
                        <a:rPr lang="en-IN" sz="1000" baseline="0" dirty="0" smtClean="0"/>
                        <a:t> Hills</a:t>
                      </a:r>
                      <a:endParaRPr lang="en-IN" sz="1000" dirty="0"/>
                    </a:p>
                  </a:txBody>
                  <a:tcPr/>
                </a:tc>
                <a:tc>
                  <a:txBody>
                    <a:bodyPr/>
                    <a:lstStyle/>
                    <a:p>
                      <a:pPr algn="ctr"/>
                      <a:r>
                        <a:rPr lang="en-IN" sz="1000" dirty="0" smtClean="0"/>
                        <a:t>24</a:t>
                      </a:r>
                      <a:endParaRPr lang="en-IN" sz="1000" dirty="0"/>
                    </a:p>
                  </a:txBody>
                  <a:tcPr/>
                </a:tc>
              </a:tr>
              <a:tr h="280985">
                <a:tc>
                  <a:txBody>
                    <a:bodyPr/>
                    <a:lstStyle/>
                    <a:p>
                      <a:pPr algn="ctr"/>
                      <a:r>
                        <a:rPr lang="en-IN" sz="1000" dirty="0" err="1" smtClean="0"/>
                        <a:t>Kondapur</a:t>
                      </a:r>
                      <a:endParaRPr lang="en-IN" sz="1000" dirty="0"/>
                    </a:p>
                  </a:txBody>
                  <a:tcPr/>
                </a:tc>
                <a:tc>
                  <a:txBody>
                    <a:bodyPr/>
                    <a:lstStyle/>
                    <a:p>
                      <a:pPr algn="ctr"/>
                      <a:r>
                        <a:rPr lang="en-IN" sz="1000" dirty="0" smtClean="0"/>
                        <a:t>20</a:t>
                      </a:r>
                      <a:endParaRPr lang="en-IN" sz="1000" dirty="0"/>
                    </a:p>
                  </a:txBody>
                  <a:tcPr/>
                </a:tc>
              </a:tr>
              <a:tr h="280985">
                <a:tc>
                  <a:txBody>
                    <a:bodyPr/>
                    <a:lstStyle/>
                    <a:p>
                      <a:pPr algn="ctr"/>
                      <a:r>
                        <a:rPr lang="en-IN" sz="1000" dirty="0" err="1" smtClean="0"/>
                        <a:t>Vikrampuri</a:t>
                      </a:r>
                      <a:endParaRPr lang="en-IN" sz="1000" dirty="0"/>
                    </a:p>
                  </a:txBody>
                  <a:tcPr/>
                </a:tc>
                <a:tc>
                  <a:txBody>
                    <a:bodyPr/>
                    <a:lstStyle/>
                    <a:p>
                      <a:pPr algn="ctr"/>
                      <a:r>
                        <a:rPr lang="en-IN" sz="1000" dirty="0" smtClean="0"/>
                        <a:t>16</a:t>
                      </a:r>
                      <a:endParaRPr lang="en-IN" sz="1000" dirty="0"/>
                    </a:p>
                  </a:txBody>
                  <a:tcPr/>
                </a:tc>
              </a:tr>
              <a:tr h="280985">
                <a:tc>
                  <a:txBody>
                    <a:bodyPr/>
                    <a:lstStyle/>
                    <a:p>
                      <a:pPr algn="ctr"/>
                      <a:r>
                        <a:rPr lang="en-IN" sz="1000" dirty="0" smtClean="0"/>
                        <a:t>Airport, </a:t>
                      </a:r>
                      <a:r>
                        <a:rPr lang="en-IN" sz="1000" dirty="0" err="1" smtClean="0"/>
                        <a:t>Shamshabad</a:t>
                      </a:r>
                      <a:endParaRPr lang="en-IN" sz="1000" dirty="0"/>
                    </a:p>
                  </a:txBody>
                  <a:tcPr/>
                </a:tc>
                <a:tc>
                  <a:txBody>
                    <a:bodyPr/>
                    <a:lstStyle/>
                    <a:p>
                      <a:pPr algn="ctr"/>
                      <a:r>
                        <a:rPr lang="en-IN" sz="1000" dirty="0" smtClean="0"/>
                        <a:t>15</a:t>
                      </a:r>
                      <a:endParaRPr lang="en-IN" sz="1000" dirty="0"/>
                    </a:p>
                  </a:txBody>
                  <a:tcPr/>
                </a:tc>
              </a:tr>
              <a:tr h="280985">
                <a:tc>
                  <a:txBody>
                    <a:bodyPr/>
                    <a:lstStyle/>
                    <a:p>
                      <a:pPr algn="ctr"/>
                      <a:r>
                        <a:rPr lang="en-IN" sz="1000" dirty="0" err="1" smtClean="0"/>
                        <a:t>Panjagutta</a:t>
                      </a:r>
                      <a:endParaRPr lang="en-IN" sz="1000" dirty="0"/>
                    </a:p>
                  </a:txBody>
                  <a:tcPr/>
                </a:tc>
                <a:tc>
                  <a:txBody>
                    <a:bodyPr/>
                    <a:lstStyle/>
                    <a:p>
                      <a:pPr algn="ctr"/>
                      <a:r>
                        <a:rPr lang="en-IN" sz="1000" dirty="0" smtClean="0"/>
                        <a:t>13</a:t>
                      </a:r>
                      <a:endParaRPr lang="en-IN" sz="1000" dirty="0"/>
                    </a:p>
                  </a:txBody>
                  <a:tcPr/>
                </a:tc>
              </a:tr>
              <a:tr h="280985">
                <a:tc>
                  <a:txBody>
                    <a:bodyPr/>
                    <a:lstStyle/>
                    <a:p>
                      <a:pPr algn="ctr"/>
                      <a:r>
                        <a:rPr lang="en-IN" sz="1000" dirty="0" smtClean="0"/>
                        <a:t>Average</a:t>
                      </a:r>
                      <a:endParaRPr lang="en-IN" sz="1000" dirty="0"/>
                    </a:p>
                  </a:txBody>
                  <a:tcPr>
                    <a:solidFill>
                      <a:schemeClr val="accent2"/>
                    </a:solidFill>
                  </a:tcPr>
                </a:tc>
                <a:tc>
                  <a:txBody>
                    <a:bodyPr/>
                    <a:lstStyle/>
                    <a:p>
                      <a:pPr algn="ctr"/>
                      <a:r>
                        <a:rPr lang="en-IN" sz="1000" b="1" dirty="0" smtClean="0">
                          <a:solidFill>
                            <a:schemeClr val="tx1"/>
                          </a:solidFill>
                        </a:rPr>
                        <a:t>17.9</a:t>
                      </a:r>
                      <a:endParaRPr lang="en-IN" sz="1000" b="1" dirty="0">
                        <a:solidFill>
                          <a:schemeClr val="tx1"/>
                        </a:solidFill>
                      </a:endParaRPr>
                    </a:p>
                  </a:txBody>
                  <a:tcPr>
                    <a:solidFill>
                      <a:schemeClr val="accent2"/>
                    </a:solidFill>
                  </a:tcPr>
                </a:tc>
              </a:tr>
            </a:tbl>
          </a:graphicData>
        </a:graphic>
      </p:graphicFrame>
      <p:graphicFrame>
        <p:nvGraphicFramePr>
          <p:cNvPr id="194" name="Table 193"/>
          <p:cNvGraphicFramePr>
            <a:graphicFrameLocks noGrp="1"/>
          </p:cNvGraphicFramePr>
          <p:nvPr>
            <p:extLst>
              <p:ext uri="{D42A27DB-BD31-4B8C-83A1-F6EECF244321}">
                <p14:modId xmlns:p14="http://schemas.microsoft.com/office/powerpoint/2010/main" val="3948627619"/>
              </p:ext>
            </p:extLst>
          </p:nvPr>
        </p:nvGraphicFramePr>
        <p:xfrm>
          <a:off x="4313375" y="2559123"/>
          <a:ext cx="3319232" cy="2082150"/>
        </p:xfrm>
        <a:graphic>
          <a:graphicData uri="http://schemas.openxmlformats.org/drawingml/2006/table">
            <a:tbl>
              <a:tblPr firstRow="1" bandRow="1">
                <a:tableStyleId>{5C22544A-7EE6-4342-B048-85BDC9FD1C3A}</a:tableStyleId>
              </a:tblPr>
              <a:tblGrid>
                <a:gridCol w="1659616"/>
                <a:gridCol w="1659616"/>
              </a:tblGrid>
              <a:tr h="280985">
                <a:tc>
                  <a:txBody>
                    <a:bodyPr/>
                    <a:lstStyle/>
                    <a:p>
                      <a:pPr algn="ctr"/>
                      <a:r>
                        <a:rPr lang="en-IN" sz="1000" dirty="0" smtClean="0"/>
                        <a:t>Store</a:t>
                      </a:r>
                      <a:endParaRPr lang="en-IN" sz="1000" dirty="0"/>
                    </a:p>
                  </a:txBody>
                  <a:tcPr anchor="ctr"/>
                </a:tc>
                <a:tc>
                  <a:txBody>
                    <a:bodyPr/>
                    <a:lstStyle/>
                    <a:p>
                      <a:pPr algn="ctr"/>
                      <a:r>
                        <a:rPr lang="en-IN" sz="1000" dirty="0" smtClean="0"/>
                        <a:t>Relative Location Attractiveness Score</a:t>
                      </a:r>
                      <a:endParaRPr lang="en-IN" sz="1000" dirty="0"/>
                    </a:p>
                  </a:txBody>
                  <a:tcPr anchor="ctr"/>
                </a:tc>
              </a:tr>
              <a:tr h="280985">
                <a:tc>
                  <a:txBody>
                    <a:bodyPr/>
                    <a:lstStyle/>
                    <a:p>
                      <a:pPr algn="ctr"/>
                      <a:r>
                        <a:rPr lang="en-IN" sz="1000" dirty="0" err="1" smtClean="0"/>
                        <a:t>Himayat</a:t>
                      </a:r>
                      <a:r>
                        <a:rPr lang="en-IN" sz="1000" dirty="0" smtClean="0"/>
                        <a:t> Nagar</a:t>
                      </a:r>
                      <a:endParaRPr lang="en-IN" sz="1000" dirty="0"/>
                    </a:p>
                  </a:txBody>
                  <a:tcPr/>
                </a:tc>
                <a:tc>
                  <a:txBody>
                    <a:bodyPr/>
                    <a:lstStyle/>
                    <a:p>
                      <a:pPr algn="ctr"/>
                      <a:r>
                        <a:rPr lang="en-IN" sz="1000" dirty="0" smtClean="0"/>
                        <a:t>35</a:t>
                      </a:r>
                      <a:endParaRPr lang="en-IN" sz="1000" dirty="0"/>
                    </a:p>
                  </a:txBody>
                  <a:tcPr/>
                </a:tc>
              </a:tr>
              <a:tr h="280985">
                <a:tc>
                  <a:txBody>
                    <a:bodyPr/>
                    <a:lstStyle/>
                    <a:p>
                      <a:pPr algn="ctr"/>
                      <a:r>
                        <a:rPr lang="en-IN" sz="1000" dirty="0" err="1" smtClean="0"/>
                        <a:t>Habsiguda</a:t>
                      </a:r>
                      <a:endParaRPr lang="en-IN" sz="1000" dirty="0"/>
                    </a:p>
                  </a:txBody>
                  <a:tcPr/>
                </a:tc>
                <a:tc>
                  <a:txBody>
                    <a:bodyPr/>
                    <a:lstStyle/>
                    <a:p>
                      <a:pPr algn="ctr"/>
                      <a:r>
                        <a:rPr lang="en-IN" sz="1000" dirty="0" smtClean="0"/>
                        <a:t>28</a:t>
                      </a:r>
                      <a:endParaRPr lang="en-IN" sz="1000" dirty="0"/>
                    </a:p>
                  </a:txBody>
                  <a:tcPr/>
                </a:tc>
              </a:tr>
              <a:tr h="280985">
                <a:tc>
                  <a:txBody>
                    <a:bodyPr/>
                    <a:lstStyle/>
                    <a:p>
                      <a:pPr algn="ctr"/>
                      <a:r>
                        <a:rPr lang="en-IN" sz="1000" dirty="0" err="1" smtClean="0"/>
                        <a:t>Kukatpally</a:t>
                      </a:r>
                      <a:endParaRPr lang="en-IN" sz="1000" dirty="0"/>
                    </a:p>
                  </a:txBody>
                  <a:tcPr/>
                </a:tc>
                <a:tc>
                  <a:txBody>
                    <a:bodyPr/>
                    <a:lstStyle/>
                    <a:p>
                      <a:pPr algn="ctr"/>
                      <a:r>
                        <a:rPr lang="en-IN" sz="1000" dirty="0" smtClean="0"/>
                        <a:t>16</a:t>
                      </a:r>
                      <a:endParaRPr lang="en-IN" sz="1000" dirty="0"/>
                    </a:p>
                  </a:txBody>
                  <a:tcPr/>
                </a:tc>
              </a:tr>
              <a:tr h="280985">
                <a:tc>
                  <a:txBody>
                    <a:bodyPr/>
                    <a:lstStyle/>
                    <a:p>
                      <a:pPr algn="ctr"/>
                      <a:r>
                        <a:rPr lang="en-IN" sz="1000" dirty="0" smtClean="0"/>
                        <a:t>AS Rao Nagar</a:t>
                      </a:r>
                      <a:endParaRPr lang="en-IN" sz="1000" dirty="0"/>
                    </a:p>
                  </a:txBody>
                  <a:tcPr/>
                </a:tc>
                <a:tc>
                  <a:txBody>
                    <a:bodyPr/>
                    <a:lstStyle/>
                    <a:p>
                      <a:pPr algn="ctr"/>
                      <a:r>
                        <a:rPr lang="en-IN" sz="1000" dirty="0" smtClean="0"/>
                        <a:t>13</a:t>
                      </a:r>
                      <a:endParaRPr lang="en-IN" sz="1000" dirty="0"/>
                    </a:p>
                  </a:txBody>
                  <a:tcPr/>
                </a:tc>
              </a:tr>
              <a:tr h="280985">
                <a:tc>
                  <a:txBody>
                    <a:bodyPr/>
                    <a:lstStyle/>
                    <a:p>
                      <a:pPr algn="ctr"/>
                      <a:r>
                        <a:rPr lang="en-IN" sz="1000" dirty="0" err="1" smtClean="0"/>
                        <a:t>Chandanagar</a:t>
                      </a:r>
                      <a:endParaRPr lang="en-IN" sz="1000" dirty="0"/>
                    </a:p>
                  </a:txBody>
                  <a:tcPr/>
                </a:tc>
                <a:tc>
                  <a:txBody>
                    <a:bodyPr/>
                    <a:lstStyle/>
                    <a:p>
                      <a:pPr algn="ctr"/>
                      <a:r>
                        <a:rPr lang="en-IN" sz="1000" dirty="0" smtClean="0"/>
                        <a:t>8</a:t>
                      </a:r>
                      <a:endParaRPr lang="en-IN" sz="1000" dirty="0"/>
                    </a:p>
                  </a:txBody>
                  <a:tcPr/>
                </a:tc>
              </a:tr>
              <a:tr h="280985">
                <a:tc>
                  <a:txBody>
                    <a:bodyPr/>
                    <a:lstStyle/>
                    <a:p>
                      <a:pPr algn="ctr"/>
                      <a:r>
                        <a:rPr lang="en-IN" sz="1000" dirty="0" smtClean="0"/>
                        <a:t>Average</a:t>
                      </a:r>
                      <a:endParaRPr lang="en-IN" sz="1000" dirty="0"/>
                    </a:p>
                  </a:txBody>
                  <a:tcPr>
                    <a:solidFill>
                      <a:schemeClr val="accent2"/>
                    </a:solidFill>
                  </a:tcPr>
                </a:tc>
                <a:tc>
                  <a:txBody>
                    <a:bodyPr/>
                    <a:lstStyle/>
                    <a:p>
                      <a:pPr algn="ctr"/>
                      <a:r>
                        <a:rPr lang="en-IN" sz="1000" b="1" dirty="0" smtClean="0"/>
                        <a:t>20.0</a:t>
                      </a:r>
                      <a:endParaRPr lang="en-IN" sz="1000" b="1" dirty="0"/>
                    </a:p>
                  </a:txBody>
                  <a:tcPr>
                    <a:solidFill>
                      <a:schemeClr val="accent2"/>
                    </a:solidFill>
                  </a:tcPr>
                </a:tc>
              </a:tr>
            </a:tbl>
          </a:graphicData>
        </a:graphic>
      </p:graphicFrame>
      <p:pic>
        <p:nvPicPr>
          <p:cNvPr id="206" name="Picture 2" descr="http://www.wikimarkit.org/wp-content/uploads/2013/01/relianceDigital.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06935" y="1806789"/>
            <a:ext cx="1239278" cy="50562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07" name="Table 206"/>
          <p:cNvGraphicFramePr>
            <a:graphicFrameLocks noGrp="1"/>
          </p:cNvGraphicFramePr>
          <p:nvPr>
            <p:extLst>
              <p:ext uri="{D42A27DB-BD31-4B8C-83A1-F6EECF244321}">
                <p14:modId xmlns:p14="http://schemas.microsoft.com/office/powerpoint/2010/main" val="2169091447"/>
              </p:ext>
            </p:extLst>
          </p:nvPr>
        </p:nvGraphicFramePr>
        <p:xfrm>
          <a:off x="7996766" y="4360288"/>
          <a:ext cx="1659616" cy="280985"/>
        </p:xfrm>
        <a:graphic>
          <a:graphicData uri="http://schemas.openxmlformats.org/drawingml/2006/table">
            <a:tbl>
              <a:tblPr firstRow="1" bandRow="1">
                <a:tableStyleId>{5C22544A-7EE6-4342-B048-85BDC9FD1C3A}</a:tableStyleId>
              </a:tblPr>
              <a:tblGrid>
                <a:gridCol w="1659616"/>
              </a:tblGrid>
              <a:tr h="280985">
                <a:tc>
                  <a:txBody>
                    <a:bodyPr/>
                    <a:lstStyle/>
                    <a:p>
                      <a:pPr algn="ctr"/>
                      <a:r>
                        <a:rPr lang="en-IN" sz="1000" dirty="0" smtClean="0">
                          <a:solidFill>
                            <a:schemeClr val="tx1"/>
                          </a:solidFill>
                        </a:rPr>
                        <a:t>21.5</a:t>
                      </a:r>
                      <a:endParaRPr lang="en-IN" sz="1000" dirty="0">
                        <a:solidFill>
                          <a:schemeClr val="tx1"/>
                        </a:solidFill>
                      </a:endParaRPr>
                    </a:p>
                  </a:txBody>
                  <a:tcPr>
                    <a:solidFill>
                      <a:schemeClr val="accent2"/>
                    </a:solidFill>
                  </a:tcPr>
                </a:tc>
              </a:tr>
            </a:tbl>
          </a:graphicData>
        </a:graphic>
      </p:graphicFrame>
      <p:pic>
        <p:nvPicPr>
          <p:cNvPr id="208" name="Picture 207"/>
          <p:cNvPicPr>
            <a:picLocks noChangeAspect="1"/>
          </p:cNvPicPr>
          <p:nvPr/>
        </p:nvPicPr>
        <p:blipFill>
          <a:blip r:embed="rId3"/>
          <a:stretch>
            <a:fillRect/>
          </a:stretch>
        </p:blipFill>
        <p:spPr>
          <a:xfrm>
            <a:off x="10020541" y="1963107"/>
            <a:ext cx="1630874" cy="278761"/>
          </a:xfrm>
          <a:prstGeom prst="rect">
            <a:avLst/>
          </a:prstGeom>
        </p:spPr>
      </p:pic>
      <p:graphicFrame>
        <p:nvGraphicFramePr>
          <p:cNvPr id="209" name="Table 208"/>
          <p:cNvGraphicFramePr>
            <a:graphicFrameLocks noGrp="1"/>
          </p:cNvGraphicFramePr>
          <p:nvPr>
            <p:extLst>
              <p:ext uri="{D42A27DB-BD31-4B8C-83A1-F6EECF244321}">
                <p14:modId xmlns:p14="http://schemas.microsoft.com/office/powerpoint/2010/main" val="289494520"/>
              </p:ext>
            </p:extLst>
          </p:nvPr>
        </p:nvGraphicFramePr>
        <p:xfrm>
          <a:off x="10020541" y="4360287"/>
          <a:ext cx="1659616" cy="280985"/>
        </p:xfrm>
        <a:graphic>
          <a:graphicData uri="http://schemas.openxmlformats.org/drawingml/2006/table">
            <a:tbl>
              <a:tblPr firstRow="1" bandRow="1">
                <a:tableStyleId>{5C22544A-7EE6-4342-B048-85BDC9FD1C3A}</a:tableStyleId>
              </a:tblPr>
              <a:tblGrid>
                <a:gridCol w="1659616"/>
              </a:tblGrid>
              <a:tr h="280985">
                <a:tc>
                  <a:txBody>
                    <a:bodyPr/>
                    <a:lstStyle/>
                    <a:p>
                      <a:pPr algn="ctr"/>
                      <a:r>
                        <a:rPr lang="en-IN" sz="1000" dirty="0" smtClean="0">
                          <a:solidFill>
                            <a:schemeClr val="tx1"/>
                          </a:solidFill>
                        </a:rPr>
                        <a:t>22.6</a:t>
                      </a:r>
                      <a:endParaRPr lang="en-IN" sz="1000" dirty="0">
                        <a:solidFill>
                          <a:schemeClr val="tx1"/>
                        </a:solidFill>
                      </a:endParaRPr>
                    </a:p>
                  </a:txBody>
                  <a:tcPr>
                    <a:solidFill>
                      <a:schemeClr val="accent2"/>
                    </a:solidFill>
                  </a:tcPr>
                </a:tc>
              </a:tr>
            </a:tbl>
          </a:graphicData>
        </a:graphic>
      </p:graphicFrame>
      <p:pic>
        <p:nvPicPr>
          <p:cNvPr id="5" name="Picture 4"/>
          <p:cNvPicPr>
            <a:picLocks noChangeAspect="1"/>
          </p:cNvPicPr>
          <p:nvPr/>
        </p:nvPicPr>
        <p:blipFill>
          <a:blip r:embed="rId4"/>
          <a:stretch>
            <a:fillRect/>
          </a:stretch>
        </p:blipFill>
        <p:spPr>
          <a:xfrm>
            <a:off x="1646662" y="1618028"/>
            <a:ext cx="1285875" cy="857250"/>
          </a:xfrm>
          <a:prstGeom prst="rect">
            <a:avLst/>
          </a:prstGeom>
        </p:spPr>
      </p:pic>
      <p:sp>
        <p:nvSpPr>
          <p:cNvPr id="6" name="TextBox 5"/>
          <p:cNvSpPr txBox="1"/>
          <p:nvPr/>
        </p:nvSpPr>
        <p:spPr bwMode="gray">
          <a:xfrm>
            <a:off x="629984" y="2279811"/>
            <a:ext cx="3319232" cy="255365"/>
          </a:xfrm>
          <a:prstGeom prst="rect">
            <a:avLst/>
          </a:prstGeom>
        </p:spPr>
        <p:txBody>
          <a:bodyPr vert="horz" wrap="square" lIns="91440" tIns="45720" rIns="91440" bIns="45720" rtlCol="0" anchor="ctr">
            <a:noAutofit/>
          </a:bodyPr>
          <a:lstStyle/>
          <a:p>
            <a:pPr algn="ctr"/>
            <a:r>
              <a:rPr lang="en-IN" sz="1200" dirty="0" smtClean="0"/>
              <a:t>Existing Stores</a:t>
            </a:r>
          </a:p>
        </p:txBody>
      </p:sp>
      <p:pic>
        <p:nvPicPr>
          <p:cNvPr id="210" name="Picture 209"/>
          <p:cNvPicPr>
            <a:picLocks noChangeAspect="1"/>
          </p:cNvPicPr>
          <p:nvPr/>
        </p:nvPicPr>
        <p:blipFill>
          <a:blip r:embed="rId4"/>
          <a:stretch>
            <a:fillRect/>
          </a:stretch>
        </p:blipFill>
        <p:spPr>
          <a:xfrm>
            <a:off x="5330053" y="1619848"/>
            <a:ext cx="1285875" cy="857250"/>
          </a:xfrm>
          <a:prstGeom prst="rect">
            <a:avLst/>
          </a:prstGeom>
        </p:spPr>
      </p:pic>
      <p:cxnSp>
        <p:nvCxnSpPr>
          <p:cNvPr id="8" name="Straight Arrow Connector 7"/>
          <p:cNvCxnSpPr/>
          <p:nvPr/>
        </p:nvCxnSpPr>
        <p:spPr>
          <a:xfrm flipH="1">
            <a:off x="8826573" y="2559123"/>
            <a:ext cx="2" cy="13347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bwMode="gray">
          <a:xfrm>
            <a:off x="8101850" y="4002733"/>
            <a:ext cx="1449447" cy="220952"/>
          </a:xfrm>
          <a:prstGeom prst="rect">
            <a:avLst/>
          </a:prstGeom>
        </p:spPr>
        <p:txBody>
          <a:bodyPr vert="horz" wrap="square" lIns="91440" tIns="45720" rIns="91440" bIns="45720" rtlCol="0" anchor="ctr">
            <a:noAutofit/>
          </a:bodyPr>
          <a:lstStyle/>
          <a:p>
            <a:pPr algn="ctr"/>
            <a:r>
              <a:rPr lang="en-IN" sz="1000" dirty="0" smtClean="0"/>
              <a:t>Average across all stores</a:t>
            </a:r>
          </a:p>
        </p:txBody>
      </p:sp>
      <p:cxnSp>
        <p:nvCxnSpPr>
          <p:cNvPr id="212" name="Straight Arrow Connector 211"/>
          <p:cNvCxnSpPr/>
          <p:nvPr/>
        </p:nvCxnSpPr>
        <p:spPr>
          <a:xfrm flipH="1">
            <a:off x="10842248" y="2542916"/>
            <a:ext cx="2" cy="13347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3" name="TextBox 212"/>
          <p:cNvSpPr txBox="1"/>
          <p:nvPr/>
        </p:nvSpPr>
        <p:spPr bwMode="gray">
          <a:xfrm>
            <a:off x="10117525" y="3986526"/>
            <a:ext cx="1449447" cy="220952"/>
          </a:xfrm>
          <a:prstGeom prst="rect">
            <a:avLst/>
          </a:prstGeom>
        </p:spPr>
        <p:txBody>
          <a:bodyPr vert="horz" wrap="square" lIns="91440" tIns="45720" rIns="91440" bIns="45720" rtlCol="0" anchor="ctr">
            <a:noAutofit/>
          </a:bodyPr>
          <a:lstStyle/>
          <a:p>
            <a:pPr algn="ctr"/>
            <a:r>
              <a:rPr lang="en-IN" sz="1000" dirty="0" smtClean="0"/>
              <a:t>Average across all stores</a:t>
            </a:r>
          </a:p>
        </p:txBody>
      </p:sp>
      <p:sp>
        <p:nvSpPr>
          <p:cNvPr id="214" name="Text Placeholder 6"/>
          <p:cNvSpPr>
            <a:spLocks noGrp="1"/>
          </p:cNvSpPr>
          <p:nvPr>
            <p:ph type="body" sz="quarter" idx="13"/>
          </p:nvPr>
        </p:nvSpPr>
        <p:spPr>
          <a:xfrm>
            <a:off x="501060" y="1162982"/>
            <a:ext cx="11113180" cy="582362"/>
          </a:xfrm>
        </p:spPr>
        <p:txBody>
          <a:bodyPr>
            <a:normAutofit fontScale="92500" lnSpcReduction="10000"/>
          </a:bodyPr>
          <a:lstStyle/>
          <a:p>
            <a:r>
              <a:rPr lang="en-IN" dirty="0" smtClean="0"/>
              <a:t>Overall, the proposed Croma </a:t>
            </a:r>
            <a:r>
              <a:rPr lang="en-IN" dirty="0"/>
              <a:t>locations appear to be more </a:t>
            </a:r>
            <a:r>
              <a:rPr lang="en-IN" dirty="0" smtClean="0"/>
              <a:t>attractive locations </a:t>
            </a:r>
            <a:r>
              <a:rPr lang="en-IN" dirty="0"/>
              <a:t>compared to existing Croma store locations</a:t>
            </a:r>
          </a:p>
        </p:txBody>
      </p:sp>
      <p:cxnSp>
        <p:nvCxnSpPr>
          <p:cNvPr id="215" name="Straight Connector 214"/>
          <p:cNvCxnSpPr/>
          <p:nvPr/>
        </p:nvCxnSpPr>
        <p:spPr>
          <a:xfrm>
            <a:off x="501060" y="1721396"/>
            <a:ext cx="11222365" cy="0"/>
          </a:xfrm>
          <a:prstGeom prst="line">
            <a:avLst/>
          </a:prstGeom>
          <a:ln w="28575">
            <a:solidFill>
              <a:srgbClr val="1C5785"/>
            </a:solidFill>
          </a:ln>
        </p:spPr>
        <p:style>
          <a:lnRef idx="1">
            <a:schemeClr val="accent1"/>
          </a:lnRef>
          <a:fillRef idx="0">
            <a:schemeClr val="accent1"/>
          </a:fillRef>
          <a:effectRef idx="0">
            <a:schemeClr val="accent1"/>
          </a:effectRef>
          <a:fontRef idx="minor">
            <a:schemeClr val="tx1"/>
          </a:fontRef>
        </p:style>
      </p:cxnSp>
      <p:sp>
        <p:nvSpPr>
          <p:cNvPr id="216" name="Rectangle 215"/>
          <p:cNvSpPr/>
          <p:nvPr/>
        </p:nvSpPr>
        <p:spPr>
          <a:xfrm>
            <a:off x="943314" y="5043015"/>
            <a:ext cx="10228672" cy="1421852"/>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IN" sz="1200" b="1" u="sng" dirty="0" smtClean="0">
              <a:solidFill>
                <a:schemeClr val="tx2">
                  <a:lumMod val="50000"/>
                </a:schemeClr>
              </a:solidFill>
            </a:endParaRPr>
          </a:p>
          <a:p>
            <a:pPr marL="171450" indent="-171450">
              <a:buFont typeface="Wingdings" panose="05000000000000000000" pitchFamily="2" charset="2"/>
              <a:buChar char="Ø"/>
            </a:pPr>
            <a:r>
              <a:rPr lang="en-IN" sz="1200" dirty="0" smtClean="0">
                <a:solidFill>
                  <a:schemeClr val="tx2">
                    <a:lumMod val="50000"/>
                  </a:schemeClr>
                </a:solidFill>
              </a:rPr>
              <a:t>   The </a:t>
            </a:r>
            <a:r>
              <a:rPr lang="en-IN" sz="1200" dirty="0">
                <a:solidFill>
                  <a:schemeClr val="tx2">
                    <a:lumMod val="50000"/>
                  </a:schemeClr>
                </a:solidFill>
              </a:rPr>
              <a:t>existing Croma store locations do not appear to be as attractive as the overall presence of the </a:t>
            </a:r>
            <a:r>
              <a:rPr lang="en-IN" sz="1200" dirty="0" smtClean="0">
                <a:solidFill>
                  <a:schemeClr val="tx2">
                    <a:lumMod val="50000"/>
                  </a:schemeClr>
                </a:solidFill>
              </a:rPr>
              <a:t>competition</a:t>
            </a:r>
          </a:p>
          <a:p>
            <a:pPr marL="171450" indent="-171450">
              <a:buFont typeface="Wingdings" panose="05000000000000000000" pitchFamily="2" charset="2"/>
              <a:buChar char="Ø"/>
            </a:pPr>
            <a:endParaRPr lang="en-IN" sz="1200" b="1" u="sng" dirty="0" smtClean="0">
              <a:solidFill>
                <a:schemeClr val="tx2">
                  <a:lumMod val="50000"/>
                </a:schemeClr>
              </a:solidFill>
            </a:endParaRPr>
          </a:p>
          <a:p>
            <a:pPr marL="285750" indent="-285750">
              <a:buFont typeface="Wingdings" panose="05000000000000000000" pitchFamily="2" charset="2"/>
              <a:buChar char="Ø"/>
            </a:pPr>
            <a:r>
              <a:rPr lang="en-IN" sz="1200" dirty="0" smtClean="0">
                <a:solidFill>
                  <a:schemeClr val="tx2">
                    <a:lumMod val="50000"/>
                  </a:schemeClr>
                </a:solidFill>
              </a:rPr>
              <a:t>Overall, the planned Croma store </a:t>
            </a:r>
            <a:r>
              <a:rPr lang="en-IN" sz="1200" dirty="0">
                <a:solidFill>
                  <a:schemeClr val="tx2">
                    <a:lumMod val="50000"/>
                  </a:schemeClr>
                </a:solidFill>
              </a:rPr>
              <a:t>l</a:t>
            </a:r>
            <a:r>
              <a:rPr lang="en-IN" sz="1200" dirty="0" smtClean="0">
                <a:solidFill>
                  <a:schemeClr val="tx2">
                    <a:lumMod val="50000"/>
                  </a:schemeClr>
                </a:solidFill>
              </a:rPr>
              <a:t>ocations appear to be more attractive locations compared to existing Croma store locations</a:t>
            </a:r>
          </a:p>
          <a:p>
            <a:pPr marL="285750" indent="-285750">
              <a:buFont typeface="Wingdings" panose="05000000000000000000" pitchFamily="2" charset="2"/>
              <a:buChar char="Ø"/>
            </a:pPr>
            <a:endParaRPr lang="en-IN" sz="1200" dirty="0" smtClean="0">
              <a:solidFill>
                <a:schemeClr val="tx2">
                  <a:lumMod val="50000"/>
                </a:schemeClr>
              </a:solidFill>
            </a:endParaRPr>
          </a:p>
          <a:p>
            <a:pPr marL="285750" indent="-285750">
              <a:buFont typeface="Wingdings" panose="05000000000000000000" pitchFamily="2" charset="2"/>
              <a:buChar char="Ø"/>
            </a:pPr>
            <a:r>
              <a:rPr lang="en-IN" sz="1200" dirty="0" smtClean="0">
                <a:solidFill>
                  <a:schemeClr val="tx2">
                    <a:lumMod val="50000"/>
                  </a:schemeClr>
                </a:solidFill>
              </a:rPr>
              <a:t>Among the proposed locations, </a:t>
            </a:r>
            <a:r>
              <a:rPr lang="en-IN" sz="1200" dirty="0" err="1" smtClean="0">
                <a:solidFill>
                  <a:schemeClr val="tx2">
                    <a:lumMod val="50000"/>
                  </a:schemeClr>
                </a:solidFill>
              </a:rPr>
              <a:t>Chandanagr</a:t>
            </a:r>
            <a:r>
              <a:rPr lang="en-IN" sz="1200" dirty="0" smtClean="0">
                <a:solidFill>
                  <a:schemeClr val="tx2">
                    <a:lumMod val="50000"/>
                  </a:schemeClr>
                </a:solidFill>
              </a:rPr>
              <a:t> stands out for a relatively low location attractiveness score</a:t>
            </a:r>
          </a:p>
          <a:p>
            <a:pPr marL="285750" indent="-285750">
              <a:buFont typeface="Wingdings" panose="05000000000000000000" pitchFamily="2" charset="2"/>
              <a:buChar char="Ø"/>
            </a:pPr>
            <a:endParaRPr lang="en-IN" sz="1200" dirty="0" smtClean="0">
              <a:solidFill>
                <a:schemeClr val="tx2">
                  <a:lumMod val="50000"/>
                </a:schemeClr>
              </a:solidFill>
            </a:endParaRPr>
          </a:p>
          <a:p>
            <a:pPr marL="285750" indent="-285750">
              <a:buFont typeface="Wingdings" panose="05000000000000000000" pitchFamily="2" charset="2"/>
              <a:buChar char="Ø"/>
            </a:pPr>
            <a:endParaRPr lang="en-IN" sz="1200" dirty="0" smtClean="0">
              <a:solidFill>
                <a:schemeClr val="tx2">
                  <a:lumMod val="50000"/>
                </a:schemeClr>
              </a:solidFill>
            </a:endParaRPr>
          </a:p>
          <a:p>
            <a:endParaRPr lang="en-IN" sz="1200" dirty="0" smtClean="0">
              <a:solidFill>
                <a:schemeClr val="tx2">
                  <a:lumMod val="50000"/>
                </a:schemeClr>
              </a:solidFill>
            </a:endParaRPr>
          </a:p>
          <a:p>
            <a:endParaRPr lang="en-IN" sz="1200" b="1" u="sng" dirty="0" smtClean="0">
              <a:solidFill>
                <a:schemeClr val="tx2">
                  <a:lumMod val="50000"/>
                </a:schemeClr>
              </a:solidFill>
            </a:endParaRPr>
          </a:p>
          <a:p>
            <a:endParaRPr lang="en-IN" sz="1200" b="1" dirty="0">
              <a:solidFill>
                <a:schemeClr val="tx2">
                  <a:lumMod val="50000"/>
                </a:schemeClr>
              </a:solidFill>
            </a:endParaRPr>
          </a:p>
        </p:txBody>
      </p:sp>
      <p:sp>
        <p:nvSpPr>
          <p:cNvPr id="22" name="TextBox 21"/>
          <p:cNvSpPr txBox="1"/>
          <p:nvPr/>
        </p:nvSpPr>
        <p:spPr bwMode="gray">
          <a:xfrm>
            <a:off x="4313375" y="2278294"/>
            <a:ext cx="3319232" cy="255365"/>
          </a:xfrm>
          <a:prstGeom prst="rect">
            <a:avLst/>
          </a:prstGeom>
        </p:spPr>
        <p:txBody>
          <a:bodyPr vert="horz" wrap="square" lIns="91440" tIns="45720" rIns="91440" bIns="45720" rtlCol="0" anchor="ctr">
            <a:noAutofit/>
          </a:bodyPr>
          <a:lstStyle/>
          <a:p>
            <a:pPr algn="ctr"/>
            <a:r>
              <a:rPr lang="en-IN" sz="1200" dirty="0" smtClean="0"/>
              <a:t>Proposed Stores</a:t>
            </a:r>
          </a:p>
        </p:txBody>
      </p:sp>
      <p:sp>
        <p:nvSpPr>
          <p:cNvPr id="3" name="TextBox 2"/>
          <p:cNvSpPr txBox="1"/>
          <p:nvPr/>
        </p:nvSpPr>
        <p:spPr bwMode="gray">
          <a:xfrm>
            <a:off x="501060" y="6568225"/>
            <a:ext cx="10922501" cy="193183"/>
          </a:xfrm>
          <a:prstGeom prst="rect">
            <a:avLst/>
          </a:prstGeom>
        </p:spPr>
        <p:txBody>
          <a:bodyPr vert="horz" wrap="square" lIns="91440" tIns="45720" rIns="91440" bIns="45720" rtlCol="0" anchor="ctr">
            <a:noAutofit/>
          </a:bodyPr>
          <a:lstStyle/>
          <a:p>
            <a:r>
              <a:rPr lang="en-IN" sz="800" dirty="0" smtClean="0"/>
              <a:t>Best Location for Reliance Digital  – </a:t>
            </a:r>
            <a:r>
              <a:rPr lang="en-IN" sz="800" dirty="0" err="1" smtClean="0"/>
              <a:t>Kachiguda</a:t>
            </a:r>
            <a:r>
              <a:rPr lang="en-IN" sz="800" dirty="0" smtClean="0"/>
              <a:t>: Score-36 (PIN 500027</a:t>
            </a:r>
            <a:r>
              <a:rPr lang="en-IN" sz="800" dirty="0"/>
              <a:t>); Best Location for </a:t>
            </a:r>
            <a:r>
              <a:rPr lang="en-IN" sz="800" dirty="0" smtClean="0"/>
              <a:t>Bajaj Electronics – </a:t>
            </a:r>
            <a:r>
              <a:rPr lang="en-IN" sz="800" dirty="0" err="1" smtClean="0"/>
              <a:t>Lakdi-ka-Pul</a:t>
            </a:r>
            <a:r>
              <a:rPr lang="en-IN" sz="800" dirty="0" smtClean="0"/>
              <a:t>: Score-37 </a:t>
            </a:r>
            <a:r>
              <a:rPr lang="en-IN" sz="800" dirty="0"/>
              <a:t>(PIN </a:t>
            </a:r>
            <a:r>
              <a:rPr lang="en-IN" sz="800" dirty="0" smtClean="0"/>
              <a:t>500004) </a:t>
            </a:r>
          </a:p>
        </p:txBody>
      </p:sp>
    </p:spTree>
    <p:extLst>
      <p:ext uri="{BB962C8B-B14F-4D97-AF65-F5344CB8AC3E}">
        <p14:creationId xmlns:p14="http://schemas.microsoft.com/office/powerpoint/2010/main" val="212097316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Thank You</a:t>
            </a:r>
            <a:endParaRPr lang="en-IN" dirty="0"/>
          </a:p>
        </p:txBody>
      </p:sp>
      <p:sp>
        <p:nvSpPr>
          <p:cNvPr id="3" name="Text Placeholder 2"/>
          <p:cNvSpPr>
            <a:spLocks noGrp="1"/>
          </p:cNvSpPr>
          <p:nvPr>
            <p:ph type="body" idx="1"/>
          </p:nvPr>
        </p:nvSpPr>
        <p:spPr/>
        <p:txBody>
          <a:bodyPr/>
          <a:lstStyle/>
          <a:p>
            <a:r>
              <a:rPr lang="en-IN" dirty="0" smtClean="0"/>
              <a:t>Appendix</a:t>
            </a:r>
            <a:endParaRPr lang="en-IN" dirty="0"/>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9</a:t>
            </a:fld>
            <a:endParaRPr lang="en-US" dirty="0">
              <a:solidFill>
                <a:srgbClr val="0E5580"/>
              </a:solidFill>
            </a:endParaRPr>
          </a:p>
        </p:txBody>
      </p:sp>
    </p:spTree>
    <p:extLst>
      <p:ext uri="{BB962C8B-B14F-4D97-AF65-F5344CB8AC3E}">
        <p14:creationId xmlns:p14="http://schemas.microsoft.com/office/powerpoint/2010/main" val="289628102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IN" dirty="0" smtClean="0"/>
              <a:t>Background</a:t>
            </a:r>
            <a:endParaRPr lang="en-IN" dirty="0"/>
          </a:p>
        </p:txBody>
      </p:sp>
      <p:sp>
        <p:nvSpPr>
          <p:cNvPr id="5" name="Slide Number Placeholder 4"/>
          <p:cNvSpPr>
            <a:spLocks noGrp="1"/>
          </p:cNvSpPr>
          <p:nvPr>
            <p:ph type="sldNum" sz="quarter" idx="12"/>
          </p:nvPr>
        </p:nvSpPr>
        <p:spPr/>
        <p:txBody>
          <a:bodyPr/>
          <a:lstStyle/>
          <a:p>
            <a:fld id="{D57F1E4F-1CFF-5643-939E-217C01CDF565}" type="slidenum">
              <a:rPr lang="en-US" smtClean="0">
                <a:solidFill>
                  <a:srgbClr val="0E5580"/>
                </a:solidFill>
              </a:rPr>
              <a:pPr/>
              <a:t>10</a:t>
            </a:fld>
            <a:endParaRPr lang="en-US" dirty="0">
              <a:solidFill>
                <a:srgbClr val="0E5580"/>
              </a:solidFill>
            </a:endParaRPr>
          </a:p>
        </p:txBody>
      </p:sp>
      <p:sp>
        <p:nvSpPr>
          <p:cNvPr id="9" name="Rectangle 8"/>
          <p:cNvSpPr/>
          <p:nvPr/>
        </p:nvSpPr>
        <p:spPr>
          <a:xfrm>
            <a:off x="4405637" y="1249326"/>
            <a:ext cx="3269100" cy="410882"/>
          </a:xfrm>
          <a:prstGeom prst="rect">
            <a:avLst/>
          </a:prstGeom>
        </p:spPr>
        <p:txBody>
          <a:bodyPr wrap="none">
            <a:spAutoFit/>
          </a:bodyPr>
          <a:lstStyle/>
          <a:p>
            <a:pPr>
              <a:lnSpc>
                <a:spcPct val="115000"/>
              </a:lnSpc>
              <a:spcAft>
                <a:spcPts val="1000"/>
              </a:spcAft>
            </a:pPr>
            <a:r>
              <a:rPr lang="en-IN" dirty="0" err="1">
                <a:latin typeface="Calibri" panose="020F0502020204030204" pitchFamily="34" charset="0"/>
                <a:ea typeface="Calibri" panose="020F0502020204030204" pitchFamily="34" charset="0"/>
                <a:cs typeface="Times New Roman" panose="02020603050405020304" pitchFamily="18" charset="0"/>
              </a:rPr>
              <a:t>Croma</a:t>
            </a:r>
            <a:r>
              <a:rPr lang="en-IN" dirty="0">
                <a:latin typeface="Calibri" panose="020F0502020204030204" pitchFamily="34" charset="0"/>
                <a:ea typeface="Calibri" panose="020F0502020204030204" pitchFamily="34" charset="0"/>
                <a:cs typeface="Times New Roman" panose="02020603050405020304" pitchFamily="18" charset="0"/>
              </a:rPr>
              <a:t> has 5 stores in </a:t>
            </a:r>
            <a:r>
              <a:rPr lang="en-IN" dirty="0" smtClean="0">
                <a:latin typeface="Calibri" panose="020F0502020204030204" pitchFamily="34" charset="0"/>
                <a:ea typeface="Calibri" panose="020F0502020204030204" pitchFamily="34" charset="0"/>
                <a:cs typeface="Times New Roman" panose="02020603050405020304" pitchFamily="18" charset="0"/>
              </a:rPr>
              <a:t>Hyderabad</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11" name="Table 10"/>
          <p:cNvGraphicFramePr>
            <a:graphicFrameLocks noGrp="1"/>
          </p:cNvGraphicFramePr>
          <p:nvPr>
            <p:extLst/>
          </p:nvPr>
        </p:nvGraphicFramePr>
        <p:xfrm>
          <a:off x="1745082" y="1740817"/>
          <a:ext cx="8590211" cy="2457208"/>
        </p:xfrm>
        <a:graphic>
          <a:graphicData uri="http://schemas.openxmlformats.org/drawingml/2006/table">
            <a:tbl>
              <a:tblPr firstRow="1" firstCol="1" bandRow="1">
                <a:tableStyleId>{EB9631B5-78F2-41C9-869B-9F39066F8104}</a:tableStyleId>
              </a:tblPr>
              <a:tblGrid>
                <a:gridCol w="1988807"/>
                <a:gridCol w="6601404"/>
              </a:tblGrid>
              <a:tr h="303388">
                <a:tc>
                  <a:txBody>
                    <a:bodyPr/>
                    <a:lstStyle/>
                    <a:p>
                      <a:pPr algn="ctr">
                        <a:lnSpc>
                          <a:spcPct val="115000"/>
                        </a:lnSpc>
                        <a:spcAft>
                          <a:spcPts val="0"/>
                        </a:spcAft>
                      </a:pPr>
                      <a:r>
                        <a:rPr lang="en-IN" sz="1400" dirty="0">
                          <a:effectLst/>
                          <a:latin typeface="Calibri" panose="020F0502020204030204" pitchFamily="34" charset="0"/>
                        </a:rPr>
                        <a:t>Location</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400" dirty="0">
                          <a:effectLst/>
                          <a:latin typeface="Calibri" panose="020F0502020204030204" pitchFamily="34" charset="0"/>
                        </a:rPr>
                        <a:t>Address of Premises/Store</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365364">
                <a:tc>
                  <a:txBody>
                    <a:bodyPr/>
                    <a:lstStyle/>
                    <a:p>
                      <a:pPr>
                        <a:lnSpc>
                          <a:spcPct val="115000"/>
                        </a:lnSpc>
                        <a:spcAft>
                          <a:spcPts val="0"/>
                        </a:spcAft>
                      </a:pPr>
                      <a:r>
                        <a:rPr lang="en-IN" sz="1400" dirty="0">
                          <a:effectLst/>
                          <a:latin typeface="Calibri" panose="020F0502020204030204" pitchFamily="34" charset="0"/>
                        </a:rPr>
                        <a:t>Jubilee Hills - Hyderabad</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000" dirty="0">
                          <a:effectLst/>
                        </a:rPr>
                        <a:t>CROMA , Ground </a:t>
                      </a:r>
                      <a:r>
                        <a:rPr lang="en-IN" sz="1000" dirty="0" err="1">
                          <a:effectLst/>
                        </a:rPr>
                        <a:t>Flr</a:t>
                      </a:r>
                      <a:r>
                        <a:rPr lang="en-IN" sz="1000" dirty="0">
                          <a:effectLst/>
                        </a:rPr>
                        <a:t> &amp; First , Plot no.755 , Road no.36 ,</a:t>
                      </a:r>
                      <a:r>
                        <a:rPr lang="en-IN" sz="1000" dirty="0" err="1">
                          <a:effectLst/>
                        </a:rPr>
                        <a:t>Jubille</a:t>
                      </a:r>
                      <a:r>
                        <a:rPr lang="en-IN" sz="1000" dirty="0">
                          <a:effectLst/>
                        </a:rPr>
                        <a:t> Hills ,Hyderabad -500033</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450951">
                <a:tc>
                  <a:txBody>
                    <a:bodyPr/>
                    <a:lstStyle/>
                    <a:p>
                      <a:pPr>
                        <a:lnSpc>
                          <a:spcPct val="115000"/>
                        </a:lnSpc>
                        <a:spcAft>
                          <a:spcPts val="0"/>
                        </a:spcAft>
                      </a:pPr>
                      <a:r>
                        <a:rPr lang="en-IN" sz="1400" dirty="0" err="1">
                          <a:effectLst/>
                          <a:latin typeface="Calibri" panose="020F0502020204030204" pitchFamily="34" charset="0"/>
                        </a:rPr>
                        <a:t>Panjagutta</a:t>
                      </a:r>
                      <a:r>
                        <a:rPr lang="en-IN" sz="1400" dirty="0">
                          <a:effectLst/>
                          <a:latin typeface="Calibri" panose="020F0502020204030204" pitchFamily="34" charset="0"/>
                        </a:rPr>
                        <a:t> - Hyderabad</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000" dirty="0" err="1">
                          <a:effectLst/>
                        </a:rPr>
                        <a:t>CROMA,'Prestige</a:t>
                      </a:r>
                      <a:r>
                        <a:rPr lang="en-IN" sz="1000" dirty="0">
                          <a:effectLst/>
                        </a:rPr>
                        <a:t> Towers" Ground Flr6-3-664,Panjagutta Main Road, </a:t>
                      </a:r>
                      <a:r>
                        <a:rPr lang="en-IN" sz="1000" dirty="0" err="1">
                          <a:effectLst/>
                        </a:rPr>
                        <a:t>Somajiguda</a:t>
                      </a:r>
                      <a:r>
                        <a:rPr lang="en-IN" sz="1000" dirty="0">
                          <a:effectLst/>
                        </a:rPr>
                        <a:t>, Hyderabad - 500018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450951">
                <a:tc>
                  <a:txBody>
                    <a:bodyPr/>
                    <a:lstStyle/>
                    <a:p>
                      <a:pPr>
                        <a:lnSpc>
                          <a:spcPct val="115000"/>
                        </a:lnSpc>
                        <a:spcAft>
                          <a:spcPts val="0"/>
                        </a:spcAft>
                      </a:pPr>
                      <a:r>
                        <a:rPr lang="en-IN" sz="1400" dirty="0" err="1">
                          <a:effectLst/>
                          <a:latin typeface="Calibri" panose="020F0502020204030204" pitchFamily="34" charset="0"/>
                        </a:rPr>
                        <a:t>Vikrampuri</a:t>
                      </a:r>
                      <a:r>
                        <a:rPr lang="en-IN" sz="1400" dirty="0">
                          <a:effectLst/>
                          <a:latin typeface="Calibri" panose="020F0502020204030204" pitchFamily="34" charset="0"/>
                        </a:rPr>
                        <a:t> Hyderabad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000" dirty="0" err="1">
                          <a:effectLst/>
                        </a:rPr>
                        <a:t>CROMA,Ground</a:t>
                      </a:r>
                      <a:r>
                        <a:rPr lang="en-IN" sz="1000" dirty="0">
                          <a:effectLst/>
                        </a:rPr>
                        <a:t> </a:t>
                      </a:r>
                      <a:r>
                        <a:rPr lang="en-IN" sz="1000" dirty="0" err="1">
                          <a:effectLst/>
                        </a:rPr>
                        <a:t>Floor,Gayatri</a:t>
                      </a:r>
                      <a:r>
                        <a:rPr lang="en-IN" sz="1000" dirty="0">
                          <a:effectLst/>
                        </a:rPr>
                        <a:t> </a:t>
                      </a:r>
                      <a:r>
                        <a:rPr lang="en-IN" sz="1000" dirty="0" err="1">
                          <a:effectLst/>
                        </a:rPr>
                        <a:t>Westend,Survey</a:t>
                      </a:r>
                      <a:r>
                        <a:rPr lang="en-IN" sz="1000" dirty="0">
                          <a:effectLst/>
                        </a:rPr>
                        <a:t> No.54,Kakaguda,Karkhana Road,Vikrampuri,Secunderabad-500015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443277">
                <a:tc>
                  <a:txBody>
                    <a:bodyPr/>
                    <a:lstStyle/>
                    <a:p>
                      <a:pPr>
                        <a:lnSpc>
                          <a:spcPct val="115000"/>
                        </a:lnSpc>
                        <a:spcAft>
                          <a:spcPts val="0"/>
                        </a:spcAft>
                      </a:pPr>
                      <a:r>
                        <a:rPr lang="en-IN" sz="1400" dirty="0" err="1">
                          <a:effectLst/>
                          <a:latin typeface="Calibri" panose="020F0502020204030204" pitchFamily="34" charset="0"/>
                        </a:rPr>
                        <a:t>Kondapur</a:t>
                      </a:r>
                      <a:r>
                        <a:rPr lang="en-IN" sz="1400" dirty="0">
                          <a:effectLst/>
                          <a:latin typeface="Calibri" panose="020F0502020204030204" pitchFamily="34" charset="0"/>
                        </a:rPr>
                        <a:t>  Hyderabad</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000" dirty="0">
                          <a:effectLst/>
                        </a:rPr>
                        <a:t>CROMA , Ground. Floor of building </a:t>
                      </a:r>
                      <a:r>
                        <a:rPr lang="en-IN" sz="1000" dirty="0" err="1">
                          <a:effectLst/>
                        </a:rPr>
                        <a:t>Nagarjuna</a:t>
                      </a:r>
                      <a:r>
                        <a:rPr lang="en-IN" sz="1000" dirty="0">
                          <a:effectLst/>
                        </a:rPr>
                        <a:t> Ikon, at Plot # 4 part of 5 &amp; 6, </a:t>
                      </a:r>
                      <a:r>
                        <a:rPr lang="en-IN" sz="1000" dirty="0" err="1">
                          <a:effectLst/>
                        </a:rPr>
                        <a:t>Sy</a:t>
                      </a:r>
                      <a:r>
                        <a:rPr lang="en-IN" sz="1000" dirty="0">
                          <a:effectLst/>
                        </a:rPr>
                        <a:t>. No. 19,Kothaguda,  </a:t>
                      </a:r>
                      <a:r>
                        <a:rPr lang="en-IN" sz="1000" dirty="0" err="1">
                          <a:effectLst/>
                        </a:rPr>
                        <a:t>Serlingampally</a:t>
                      </a:r>
                      <a:r>
                        <a:rPr lang="en-IN" sz="1000" dirty="0">
                          <a:effectLst/>
                        </a:rPr>
                        <a:t> Mandal, </a:t>
                      </a:r>
                      <a:r>
                        <a:rPr lang="en-IN" sz="1000" dirty="0" err="1">
                          <a:effectLst/>
                        </a:rPr>
                        <a:t>Ranga</a:t>
                      </a:r>
                      <a:r>
                        <a:rPr lang="en-IN" sz="1000" dirty="0">
                          <a:effectLst/>
                        </a:rPr>
                        <a:t> Reddy District, </a:t>
                      </a:r>
                      <a:r>
                        <a:rPr lang="en-IN" sz="1000" dirty="0" err="1">
                          <a:effectLst/>
                        </a:rPr>
                        <a:t>Kondapoor</a:t>
                      </a:r>
                      <a:r>
                        <a:rPr lang="en-IN" sz="1000" dirty="0">
                          <a:effectLst/>
                        </a:rPr>
                        <a:t>, Hyderabad- 50008.</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443277">
                <a:tc>
                  <a:txBody>
                    <a:bodyPr/>
                    <a:lstStyle/>
                    <a:p>
                      <a:pPr>
                        <a:lnSpc>
                          <a:spcPct val="115000"/>
                        </a:lnSpc>
                        <a:spcAft>
                          <a:spcPts val="0"/>
                        </a:spcAft>
                      </a:pPr>
                      <a:r>
                        <a:rPr lang="en-IN" sz="1400" dirty="0">
                          <a:effectLst/>
                          <a:latin typeface="Calibri" panose="020F0502020204030204" pitchFamily="34" charset="0"/>
                        </a:rPr>
                        <a:t>Hyderabad Airport Store</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N" sz="1000" dirty="0">
                          <a:effectLst/>
                        </a:rPr>
                        <a:t>CROMA ,Unit no. SU 16a, Level F, Domestic departure, Rajiv Gandhi International Airport, </a:t>
                      </a:r>
                      <a:r>
                        <a:rPr lang="en-IN" sz="1000" dirty="0" err="1">
                          <a:effectLst/>
                        </a:rPr>
                        <a:t>Shamshabad</a:t>
                      </a:r>
                      <a:r>
                        <a:rPr lang="en-IN" sz="1000" dirty="0">
                          <a:effectLst/>
                        </a:rPr>
                        <a:t>, Hyderabad – 500409</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bl>
          </a:graphicData>
        </a:graphic>
      </p:graphicFrame>
      <p:sp>
        <p:nvSpPr>
          <p:cNvPr id="12" name="Rectangle 11"/>
          <p:cNvSpPr/>
          <p:nvPr/>
        </p:nvSpPr>
        <p:spPr>
          <a:xfrm>
            <a:off x="629984" y="4571355"/>
            <a:ext cx="11203965" cy="410882"/>
          </a:xfrm>
          <a:prstGeom prst="rect">
            <a:avLst/>
          </a:prstGeom>
        </p:spPr>
        <p:txBody>
          <a:bodyPr wrap="none">
            <a:spAutoFit/>
          </a:bodyPr>
          <a:lstStyle/>
          <a:p>
            <a:pPr>
              <a:lnSpc>
                <a:spcPct val="115000"/>
              </a:lnSpc>
              <a:spcAft>
                <a:spcPts val="1000"/>
              </a:spcAft>
            </a:pPr>
            <a:r>
              <a:rPr lang="en-IN" dirty="0" err="1">
                <a:latin typeface="Calibri" panose="020F0502020204030204" pitchFamily="34" charset="0"/>
                <a:ea typeface="Calibri" panose="020F0502020204030204" pitchFamily="34" charset="0"/>
                <a:cs typeface="Times New Roman" panose="02020603050405020304" pitchFamily="18" charset="0"/>
              </a:rPr>
              <a:t>Croma</a:t>
            </a:r>
            <a:r>
              <a:rPr lang="en-IN" dirty="0">
                <a:latin typeface="Calibri" panose="020F0502020204030204" pitchFamily="34" charset="0"/>
                <a:ea typeface="Calibri" panose="020F0502020204030204" pitchFamily="34" charset="0"/>
                <a:cs typeface="Times New Roman" panose="02020603050405020304" pitchFamily="18" charset="0"/>
              </a:rPr>
              <a:t> is exploring additional locations in Hyderabad to ensure reach throughout the city</a:t>
            </a:r>
            <a:r>
              <a:rPr lang="en-IN" dirty="0" smtClean="0">
                <a:latin typeface="Calibri" panose="020F0502020204030204" pitchFamily="34" charset="0"/>
                <a:ea typeface="Calibri" panose="020F0502020204030204" pitchFamily="34" charset="0"/>
                <a:cs typeface="Times New Roman" panose="02020603050405020304" pitchFamily="18" charset="0"/>
              </a:rPr>
              <a:t>. Key Identified locations are: </a:t>
            </a:r>
            <a:endParaRPr lang="en-IN" dirty="0">
              <a:latin typeface="Calibri" panose="020F0502020204030204" pitchFamily="34" charset="0"/>
              <a:ea typeface="Calibri" panose="020F0502020204030204" pitchFamily="34" charset="0"/>
              <a:cs typeface="Times New Roman" panose="02020603050405020304" pitchFamily="18" charset="0"/>
            </a:endParaRPr>
          </a:p>
        </p:txBody>
      </p:sp>
      <p:sp>
        <p:nvSpPr>
          <p:cNvPr id="13" name="Rectangle 12"/>
          <p:cNvSpPr/>
          <p:nvPr/>
        </p:nvSpPr>
        <p:spPr>
          <a:xfrm>
            <a:off x="1040979" y="5264532"/>
            <a:ext cx="2698752" cy="369332"/>
          </a:xfrm>
          <a:prstGeom prst="rect">
            <a:avLst/>
          </a:prstGeom>
          <a:noFill/>
          <a:ln w="28575">
            <a:solidFill>
              <a:schemeClr val="tx2">
                <a:lumMod val="60000"/>
                <a:lumOff val="40000"/>
              </a:schemeClr>
            </a:solidFill>
          </a:ln>
        </p:spPr>
        <p:txBody>
          <a:bodyPr wrap="none">
            <a:spAutoFit/>
          </a:bodyPr>
          <a:lstStyle/>
          <a:p>
            <a:pPr>
              <a:spcAft>
                <a:spcPts val="0"/>
              </a:spcAft>
            </a:pPr>
            <a:r>
              <a:rPr lang="en-IN" dirty="0">
                <a:latin typeface="Calibri" panose="020F0502020204030204" pitchFamily="34" charset="0"/>
                <a:ea typeface="Calibri" panose="020F0502020204030204" pitchFamily="34" charset="0"/>
                <a:cs typeface="Consolas" panose="020B0609020204030204" pitchFamily="49" charset="0"/>
              </a:rPr>
              <a:t>A S Rao Nagar (Main Road)</a:t>
            </a:r>
            <a:endParaRPr lang="en-IN" sz="2400" dirty="0">
              <a:effectLst/>
              <a:latin typeface="Calibri" panose="020F0502020204030204" pitchFamily="34" charset="0"/>
              <a:ea typeface="Calibri" panose="020F0502020204030204" pitchFamily="34" charset="0"/>
              <a:cs typeface="Consolas" panose="020B0609020204030204" pitchFamily="49" charset="0"/>
            </a:endParaRPr>
          </a:p>
        </p:txBody>
      </p:sp>
      <p:sp>
        <p:nvSpPr>
          <p:cNvPr id="14" name="Rectangle 13"/>
          <p:cNvSpPr/>
          <p:nvPr/>
        </p:nvSpPr>
        <p:spPr>
          <a:xfrm>
            <a:off x="4775820" y="5264532"/>
            <a:ext cx="2770630" cy="369332"/>
          </a:xfrm>
          <a:prstGeom prst="rect">
            <a:avLst/>
          </a:prstGeom>
          <a:noFill/>
          <a:ln w="28575">
            <a:solidFill>
              <a:schemeClr val="tx2">
                <a:lumMod val="60000"/>
                <a:lumOff val="40000"/>
              </a:schemeClr>
            </a:solidFill>
          </a:ln>
        </p:spPr>
        <p:txBody>
          <a:bodyPr wrap="none">
            <a:spAutoFit/>
          </a:bodyPr>
          <a:lstStyle/>
          <a:p>
            <a:r>
              <a:rPr lang="en-IN" dirty="0" err="1">
                <a:latin typeface="Calibri" panose="020F0502020204030204" pitchFamily="34" charset="0"/>
                <a:ea typeface="Calibri" panose="020F0502020204030204" pitchFamily="34" charset="0"/>
                <a:cs typeface="Consolas" panose="020B0609020204030204" pitchFamily="49" charset="0"/>
              </a:rPr>
              <a:t>Himayat</a:t>
            </a:r>
            <a:r>
              <a:rPr lang="en-IN" dirty="0">
                <a:latin typeface="Calibri" panose="020F0502020204030204" pitchFamily="34" charset="0"/>
                <a:ea typeface="Calibri" panose="020F0502020204030204" pitchFamily="34" charset="0"/>
                <a:cs typeface="Consolas" panose="020B0609020204030204" pitchFamily="49" charset="0"/>
              </a:rPr>
              <a:t> Nagar (Main Road)</a:t>
            </a:r>
          </a:p>
        </p:txBody>
      </p:sp>
      <p:sp>
        <p:nvSpPr>
          <p:cNvPr id="15" name="Rectangle 14"/>
          <p:cNvSpPr/>
          <p:nvPr/>
        </p:nvSpPr>
        <p:spPr>
          <a:xfrm>
            <a:off x="8582539" y="5264532"/>
            <a:ext cx="2370072" cy="369332"/>
          </a:xfrm>
          <a:prstGeom prst="rect">
            <a:avLst/>
          </a:prstGeom>
          <a:noFill/>
          <a:ln w="28575">
            <a:solidFill>
              <a:schemeClr val="tx2">
                <a:lumMod val="60000"/>
                <a:lumOff val="40000"/>
              </a:schemeClr>
            </a:solidFill>
          </a:ln>
        </p:spPr>
        <p:txBody>
          <a:bodyPr wrap="none">
            <a:spAutoFit/>
          </a:bodyPr>
          <a:lstStyle/>
          <a:p>
            <a:r>
              <a:rPr lang="en-IN" dirty="0" err="1">
                <a:latin typeface="Calibri" panose="020F0502020204030204" pitchFamily="34" charset="0"/>
                <a:ea typeface="Calibri" panose="020F0502020204030204" pitchFamily="34" charset="0"/>
                <a:cs typeface="Consolas" panose="020B0609020204030204" pitchFamily="49" charset="0"/>
              </a:rPr>
              <a:t>Habsiguda</a:t>
            </a:r>
            <a:r>
              <a:rPr lang="en-IN" dirty="0">
                <a:latin typeface="Calibri" panose="020F0502020204030204" pitchFamily="34" charset="0"/>
                <a:ea typeface="Calibri" panose="020F0502020204030204" pitchFamily="34" charset="0"/>
                <a:cs typeface="Consolas" panose="020B0609020204030204" pitchFamily="49" charset="0"/>
              </a:rPr>
              <a:t> (Main Road)</a:t>
            </a:r>
          </a:p>
        </p:txBody>
      </p:sp>
      <p:sp>
        <p:nvSpPr>
          <p:cNvPr id="16" name="Rectangle 15"/>
          <p:cNvSpPr/>
          <p:nvPr/>
        </p:nvSpPr>
        <p:spPr>
          <a:xfrm>
            <a:off x="2983255" y="6088081"/>
            <a:ext cx="2355132" cy="369332"/>
          </a:xfrm>
          <a:prstGeom prst="rect">
            <a:avLst/>
          </a:prstGeom>
          <a:noFill/>
          <a:ln w="28575">
            <a:solidFill>
              <a:schemeClr val="tx2">
                <a:lumMod val="60000"/>
                <a:lumOff val="40000"/>
              </a:schemeClr>
            </a:solidFill>
          </a:ln>
        </p:spPr>
        <p:txBody>
          <a:bodyPr wrap="none">
            <a:spAutoFit/>
          </a:bodyPr>
          <a:lstStyle/>
          <a:p>
            <a:r>
              <a:rPr lang="en-IN" dirty="0" err="1">
                <a:latin typeface="Calibri" panose="020F0502020204030204" pitchFamily="34" charset="0"/>
                <a:ea typeface="Calibri" panose="020F0502020204030204" pitchFamily="34" charset="0"/>
                <a:cs typeface="Consolas" panose="020B0609020204030204" pitchFamily="49" charset="0"/>
              </a:rPr>
              <a:t>Kukatpally</a:t>
            </a:r>
            <a:r>
              <a:rPr lang="en-IN" dirty="0">
                <a:latin typeface="Calibri" panose="020F0502020204030204" pitchFamily="34" charset="0"/>
                <a:ea typeface="Calibri" panose="020F0502020204030204" pitchFamily="34" charset="0"/>
                <a:cs typeface="Consolas" panose="020B0609020204030204" pitchFamily="49" charset="0"/>
              </a:rPr>
              <a:t> (Main Road)</a:t>
            </a:r>
          </a:p>
        </p:txBody>
      </p:sp>
      <p:sp>
        <p:nvSpPr>
          <p:cNvPr id="17" name="Rectangle 16"/>
          <p:cNvSpPr/>
          <p:nvPr/>
        </p:nvSpPr>
        <p:spPr>
          <a:xfrm>
            <a:off x="6711406" y="6088081"/>
            <a:ext cx="2626616" cy="369332"/>
          </a:xfrm>
          <a:prstGeom prst="rect">
            <a:avLst/>
          </a:prstGeom>
          <a:noFill/>
          <a:ln w="28575">
            <a:solidFill>
              <a:schemeClr val="tx2">
                <a:lumMod val="60000"/>
                <a:lumOff val="40000"/>
              </a:schemeClr>
            </a:solidFill>
          </a:ln>
        </p:spPr>
        <p:txBody>
          <a:bodyPr wrap="none">
            <a:spAutoFit/>
          </a:bodyPr>
          <a:lstStyle/>
          <a:p>
            <a:r>
              <a:rPr lang="en-IN" dirty="0" err="1">
                <a:latin typeface="Calibri" panose="020F0502020204030204" pitchFamily="34" charset="0"/>
                <a:ea typeface="Calibri" panose="020F0502020204030204" pitchFamily="34" charset="0"/>
                <a:cs typeface="Consolas" panose="020B0609020204030204" pitchFamily="49" charset="0"/>
              </a:rPr>
              <a:t>Chandanagar</a:t>
            </a:r>
            <a:r>
              <a:rPr lang="en-IN" dirty="0">
                <a:latin typeface="Calibri" panose="020F0502020204030204" pitchFamily="34" charset="0"/>
                <a:ea typeface="Calibri" panose="020F0502020204030204" pitchFamily="34" charset="0"/>
                <a:cs typeface="Consolas" panose="020B0609020204030204" pitchFamily="49" charset="0"/>
              </a:rPr>
              <a:t> (Main Road)</a:t>
            </a:r>
          </a:p>
        </p:txBody>
      </p:sp>
      <p:cxnSp>
        <p:nvCxnSpPr>
          <p:cNvPr id="18" name="Straight Connector 17"/>
          <p:cNvCxnSpPr/>
          <p:nvPr/>
        </p:nvCxnSpPr>
        <p:spPr>
          <a:xfrm flipV="1">
            <a:off x="13232" y="4448564"/>
            <a:ext cx="12192000" cy="0"/>
          </a:xfrm>
          <a:prstGeom prst="line">
            <a:avLst/>
          </a:prstGeom>
          <a:ln w="28575">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93656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dirty="0" smtClean="0"/>
              <a:t>The Business Problem</a:t>
            </a:r>
            <a:endParaRPr lang="en-IN" dirty="0"/>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11</a:t>
            </a:fld>
            <a:endParaRPr lang="en-US" dirty="0">
              <a:solidFill>
                <a:srgbClr val="0E5580"/>
              </a:solidFill>
            </a:endParaRPr>
          </a:p>
        </p:txBody>
      </p:sp>
      <p:sp>
        <p:nvSpPr>
          <p:cNvPr id="8" name="TextBox 7"/>
          <p:cNvSpPr txBox="1"/>
          <p:nvPr/>
        </p:nvSpPr>
        <p:spPr bwMode="gray">
          <a:xfrm>
            <a:off x="551718" y="1704151"/>
            <a:ext cx="1903274" cy="445749"/>
          </a:xfrm>
          <a:prstGeom prst="rect">
            <a:avLst/>
          </a:prstGeom>
          <a:ln>
            <a:solidFill>
              <a:schemeClr val="tx2">
                <a:lumMod val="60000"/>
                <a:lumOff val="40000"/>
              </a:schemeClr>
            </a:solidFill>
          </a:ln>
        </p:spPr>
        <p:txBody>
          <a:bodyPr vert="horz" wrap="none" lIns="91440" tIns="45720" rIns="91440" bIns="45720" rtlCol="0" anchor="ctr">
            <a:noAutofit/>
          </a:bodyPr>
          <a:lstStyle/>
          <a:p>
            <a:pPr algn="ctr"/>
            <a:r>
              <a:rPr lang="en-IN" sz="2000" b="1" dirty="0" smtClean="0"/>
              <a:t>Competition</a:t>
            </a:r>
          </a:p>
        </p:txBody>
      </p:sp>
      <p:pic>
        <p:nvPicPr>
          <p:cNvPr id="2050" name="Picture 2" descr="http://www.wikimarkit.org/wp-content/uploads/2013/01/relianceDigital.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92377" y="1385181"/>
            <a:ext cx="2565978" cy="104692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p:cNvPicPr>
            <a:picLocks noChangeAspect="1"/>
          </p:cNvPicPr>
          <p:nvPr/>
        </p:nvPicPr>
        <p:blipFill>
          <a:blip r:embed="rId3"/>
          <a:stretch>
            <a:fillRect/>
          </a:stretch>
        </p:blipFill>
        <p:spPr>
          <a:xfrm>
            <a:off x="7264120" y="1620377"/>
            <a:ext cx="3849781" cy="658033"/>
          </a:xfrm>
          <a:prstGeom prst="rect">
            <a:avLst/>
          </a:prstGeom>
        </p:spPr>
      </p:pic>
      <p:graphicFrame>
        <p:nvGraphicFramePr>
          <p:cNvPr id="11" name="Diagram 10"/>
          <p:cNvGraphicFramePr/>
          <p:nvPr>
            <p:extLst/>
          </p:nvPr>
        </p:nvGraphicFramePr>
        <p:xfrm>
          <a:off x="3937831" y="2871133"/>
          <a:ext cx="7021524" cy="264072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3" name="Right Arrow 12"/>
          <p:cNvSpPr/>
          <p:nvPr/>
        </p:nvSpPr>
        <p:spPr>
          <a:xfrm>
            <a:off x="2721009" y="1772432"/>
            <a:ext cx="762059" cy="377468"/>
          </a:xfrm>
          <a:prstGeom prst="rightArrow">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TextBox 15"/>
          <p:cNvSpPr txBox="1"/>
          <p:nvPr/>
        </p:nvSpPr>
        <p:spPr bwMode="gray">
          <a:xfrm>
            <a:off x="551718" y="3837551"/>
            <a:ext cx="1903274" cy="707886"/>
          </a:xfrm>
          <a:prstGeom prst="rect">
            <a:avLst/>
          </a:prstGeom>
          <a:ln>
            <a:solidFill>
              <a:schemeClr val="tx2">
                <a:lumMod val="60000"/>
                <a:lumOff val="40000"/>
              </a:schemeClr>
            </a:solidFill>
          </a:ln>
        </p:spPr>
        <p:txBody>
          <a:bodyPr vert="horz" wrap="square" lIns="91440" tIns="45720" rIns="91440" bIns="45720" rtlCol="0" anchor="ctr">
            <a:spAutoFit/>
          </a:bodyPr>
          <a:lstStyle/>
          <a:p>
            <a:pPr algn="ctr"/>
            <a:r>
              <a:rPr lang="en-IN" sz="2000" b="1" dirty="0" smtClean="0"/>
              <a:t>Key Decision Points</a:t>
            </a:r>
          </a:p>
        </p:txBody>
      </p:sp>
      <p:sp>
        <p:nvSpPr>
          <p:cNvPr id="17" name="Right Arrow 16"/>
          <p:cNvSpPr/>
          <p:nvPr/>
        </p:nvSpPr>
        <p:spPr>
          <a:xfrm>
            <a:off x="2721008" y="3983144"/>
            <a:ext cx="762059" cy="377468"/>
          </a:xfrm>
          <a:prstGeom prst="rightArrow">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5" name="Straight Connector 14"/>
          <p:cNvCxnSpPr/>
          <p:nvPr/>
        </p:nvCxnSpPr>
        <p:spPr>
          <a:xfrm flipV="1">
            <a:off x="0" y="2614410"/>
            <a:ext cx="12192000" cy="0"/>
          </a:xfrm>
          <a:prstGeom prst="line">
            <a:avLst/>
          </a:prstGeom>
          <a:ln w="28575">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V="1">
            <a:off x="0" y="5754709"/>
            <a:ext cx="12192000" cy="0"/>
          </a:xfrm>
          <a:prstGeom prst="line">
            <a:avLst/>
          </a:prstGeom>
          <a:ln w="28575">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bwMode="gray">
          <a:xfrm>
            <a:off x="551718" y="5997563"/>
            <a:ext cx="1903274" cy="707886"/>
          </a:xfrm>
          <a:prstGeom prst="rect">
            <a:avLst/>
          </a:prstGeom>
          <a:ln>
            <a:solidFill>
              <a:schemeClr val="tx2">
                <a:lumMod val="60000"/>
                <a:lumOff val="40000"/>
              </a:schemeClr>
            </a:solidFill>
          </a:ln>
        </p:spPr>
        <p:txBody>
          <a:bodyPr vert="horz" wrap="square" lIns="91440" tIns="45720" rIns="91440" bIns="45720" rtlCol="0" anchor="ctr">
            <a:spAutoFit/>
          </a:bodyPr>
          <a:lstStyle/>
          <a:p>
            <a:pPr algn="ctr"/>
            <a:r>
              <a:rPr lang="en-IN" sz="2000" b="1" dirty="0" smtClean="0"/>
              <a:t>Expected Outcomes</a:t>
            </a:r>
          </a:p>
        </p:txBody>
      </p:sp>
      <p:sp>
        <p:nvSpPr>
          <p:cNvPr id="23" name="Right Arrow 22"/>
          <p:cNvSpPr/>
          <p:nvPr/>
        </p:nvSpPr>
        <p:spPr>
          <a:xfrm>
            <a:off x="2721007" y="6162772"/>
            <a:ext cx="762059" cy="377468"/>
          </a:xfrm>
          <a:prstGeom prst="rightArrow">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aphicFrame>
        <p:nvGraphicFramePr>
          <p:cNvPr id="19" name="Diagram 18"/>
          <p:cNvGraphicFramePr/>
          <p:nvPr>
            <p:extLst/>
          </p:nvPr>
        </p:nvGraphicFramePr>
        <p:xfrm>
          <a:off x="3937831" y="5907381"/>
          <a:ext cx="7717549" cy="813747"/>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9118385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dirty="0" smtClean="0"/>
              <a:t>Optimal Store Location Model - Approach: Catchment Area</a:t>
            </a:r>
            <a:endParaRPr lang="en-IN" dirty="0"/>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12</a:t>
            </a:fld>
            <a:endParaRPr lang="en-US" dirty="0">
              <a:solidFill>
                <a:srgbClr val="0E5580"/>
              </a:solidFill>
            </a:endParaRPr>
          </a:p>
        </p:txBody>
      </p:sp>
      <p:sp>
        <p:nvSpPr>
          <p:cNvPr id="7" name="Text Placeholder 6"/>
          <p:cNvSpPr>
            <a:spLocks noGrp="1"/>
          </p:cNvSpPr>
          <p:nvPr>
            <p:ph type="body" sz="quarter" idx="13"/>
          </p:nvPr>
        </p:nvSpPr>
        <p:spPr>
          <a:xfrm>
            <a:off x="501060" y="1162982"/>
            <a:ext cx="11113180" cy="582362"/>
          </a:xfrm>
        </p:spPr>
        <p:txBody>
          <a:bodyPr>
            <a:normAutofit fontScale="85000" lnSpcReduction="10000"/>
          </a:bodyPr>
          <a:lstStyle/>
          <a:p>
            <a:r>
              <a:rPr lang="en-IN" dirty="0" smtClean="0"/>
              <a:t>Store Location Attractiveness is determined by Store Attractiveness and Area Potential and also the Distance to the store. Catchment Area Analysis on current stores helps us determine the exponents for each parameter   </a:t>
            </a:r>
            <a:endParaRPr lang="en-IN" dirty="0"/>
          </a:p>
        </p:txBody>
      </p:sp>
      <p:sp>
        <p:nvSpPr>
          <p:cNvPr id="10" name="Freeform 9"/>
          <p:cNvSpPr/>
          <p:nvPr/>
        </p:nvSpPr>
        <p:spPr>
          <a:xfrm rot="2531094">
            <a:off x="2418259" y="5052364"/>
            <a:ext cx="822815" cy="57656"/>
          </a:xfrm>
          <a:custGeom>
            <a:avLst/>
            <a:gdLst/>
            <a:ahLst/>
            <a:cxnLst/>
            <a:rect l="0" t="0" r="0" b="0"/>
            <a:pathLst>
              <a:path>
                <a:moveTo>
                  <a:pt x="0" y="28828"/>
                </a:moveTo>
                <a:lnTo>
                  <a:pt x="822815" y="28828"/>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1" name="Freeform 10"/>
          <p:cNvSpPr/>
          <p:nvPr/>
        </p:nvSpPr>
        <p:spPr>
          <a:xfrm>
            <a:off x="2651837" y="4217514"/>
            <a:ext cx="914439" cy="57656"/>
          </a:xfrm>
          <a:custGeom>
            <a:avLst/>
            <a:gdLst/>
            <a:ahLst/>
            <a:cxnLst/>
            <a:rect l="0" t="0" r="0" b="0"/>
            <a:pathLst>
              <a:path>
                <a:moveTo>
                  <a:pt x="0" y="28828"/>
                </a:moveTo>
                <a:lnTo>
                  <a:pt x="914439" y="28828"/>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2" name="Freeform 11"/>
          <p:cNvSpPr/>
          <p:nvPr/>
        </p:nvSpPr>
        <p:spPr>
          <a:xfrm rot="19038400">
            <a:off x="2483286" y="3452056"/>
            <a:ext cx="784421" cy="54966"/>
          </a:xfrm>
          <a:custGeom>
            <a:avLst/>
            <a:gdLst/>
            <a:ahLst/>
            <a:cxnLst/>
            <a:rect l="0" t="0" r="0" b="0"/>
            <a:pathLst>
              <a:path>
                <a:moveTo>
                  <a:pt x="0" y="28828"/>
                </a:moveTo>
                <a:lnTo>
                  <a:pt x="822815" y="28828"/>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3" name="Oval 12"/>
          <p:cNvSpPr/>
          <p:nvPr/>
        </p:nvSpPr>
        <p:spPr>
          <a:xfrm>
            <a:off x="1236373" y="3353834"/>
            <a:ext cx="1644730" cy="1644730"/>
          </a:xfrm>
          <a:prstGeom prst="ellipse">
            <a:avLst/>
          </a:prstGeom>
          <a:solidFill>
            <a:schemeClr val="tx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endParaRPr lang="en-IN" sz="1400" dirty="0">
              <a:latin typeface="Calibri" panose="020F0502020204030204" pitchFamily="34" charset="0"/>
            </a:endParaRPr>
          </a:p>
        </p:txBody>
      </p:sp>
      <p:sp>
        <p:nvSpPr>
          <p:cNvPr id="14" name="Freeform 13"/>
          <p:cNvSpPr/>
          <p:nvPr/>
        </p:nvSpPr>
        <p:spPr>
          <a:xfrm>
            <a:off x="2985918" y="1877887"/>
            <a:ext cx="1562100" cy="1562100"/>
          </a:xfrm>
          <a:custGeom>
            <a:avLst/>
            <a:gdLst>
              <a:gd name="connsiteX0" fmla="*/ 0 w 1562100"/>
              <a:gd name="connsiteY0" fmla="*/ 781050 h 1562100"/>
              <a:gd name="connsiteX1" fmla="*/ 781050 w 1562100"/>
              <a:gd name="connsiteY1" fmla="*/ 0 h 1562100"/>
              <a:gd name="connsiteX2" fmla="*/ 1562100 w 1562100"/>
              <a:gd name="connsiteY2" fmla="*/ 781050 h 1562100"/>
              <a:gd name="connsiteX3" fmla="*/ 781050 w 1562100"/>
              <a:gd name="connsiteY3" fmla="*/ 1562100 h 1562100"/>
              <a:gd name="connsiteX4" fmla="*/ 0 w 1562100"/>
              <a:gd name="connsiteY4" fmla="*/ 781050 h 1562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2100" h="1562100">
                <a:moveTo>
                  <a:pt x="0" y="781050"/>
                </a:moveTo>
                <a:cubicBezTo>
                  <a:pt x="0" y="349688"/>
                  <a:pt x="349688" y="0"/>
                  <a:pt x="781050" y="0"/>
                </a:cubicBezTo>
                <a:cubicBezTo>
                  <a:pt x="1212412" y="0"/>
                  <a:pt x="1562100" y="349688"/>
                  <a:pt x="1562100" y="781050"/>
                </a:cubicBezTo>
                <a:cubicBezTo>
                  <a:pt x="1562100" y="1212412"/>
                  <a:pt x="1212412" y="1562100"/>
                  <a:pt x="781050" y="1562100"/>
                </a:cubicBezTo>
                <a:cubicBezTo>
                  <a:pt x="349688" y="1562100"/>
                  <a:pt x="0" y="1212412"/>
                  <a:pt x="0" y="781050"/>
                </a:cubicBezTo>
                <a:close/>
              </a:path>
            </a:pathLst>
          </a:custGeom>
          <a:solidFill>
            <a:schemeClr val="tx2">
              <a:lumMod val="60000"/>
              <a:lumOff val="4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49084" tIns="249084" rIns="249084" bIns="249084" numCol="1" spcCol="1270" anchor="ctr" anchorCtr="0">
            <a:noAutofit/>
          </a:bodyPr>
          <a:lstStyle/>
          <a:p>
            <a:pPr lvl="0" algn="ctr" defTabSz="1422400">
              <a:lnSpc>
                <a:spcPct val="90000"/>
              </a:lnSpc>
              <a:spcBef>
                <a:spcPct val="0"/>
              </a:spcBef>
              <a:spcAft>
                <a:spcPct val="35000"/>
              </a:spcAft>
            </a:pPr>
            <a:endParaRPr lang="en-IN" sz="3200" kern="1200" dirty="0"/>
          </a:p>
        </p:txBody>
      </p:sp>
      <p:sp>
        <p:nvSpPr>
          <p:cNvPr id="15" name="Freeform 14"/>
          <p:cNvSpPr/>
          <p:nvPr/>
        </p:nvSpPr>
        <p:spPr>
          <a:xfrm>
            <a:off x="4602734" y="1508267"/>
            <a:ext cx="2343150" cy="1562100"/>
          </a:xfrm>
          <a:custGeom>
            <a:avLst/>
            <a:gdLst>
              <a:gd name="connsiteX0" fmla="*/ 0 w 2343150"/>
              <a:gd name="connsiteY0" fmla="*/ 0 h 1562100"/>
              <a:gd name="connsiteX1" fmla="*/ 2343150 w 2343150"/>
              <a:gd name="connsiteY1" fmla="*/ 0 h 1562100"/>
              <a:gd name="connsiteX2" fmla="*/ 2343150 w 2343150"/>
              <a:gd name="connsiteY2" fmla="*/ 1562100 h 1562100"/>
              <a:gd name="connsiteX3" fmla="*/ 0 w 2343150"/>
              <a:gd name="connsiteY3" fmla="*/ 1562100 h 1562100"/>
              <a:gd name="connsiteX4" fmla="*/ 0 w 2343150"/>
              <a:gd name="connsiteY4" fmla="*/ 0 h 1562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43150" h="1562100">
                <a:moveTo>
                  <a:pt x="0" y="0"/>
                </a:moveTo>
                <a:lnTo>
                  <a:pt x="2343150" y="0"/>
                </a:lnTo>
                <a:lnTo>
                  <a:pt x="2343150" y="1562100"/>
                </a:lnTo>
                <a:lnTo>
                  <a:pt x="0" y="15621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285750" lvl="1" indent="-285750" algn="l" defTabSz="2266950">
              <a:lnSpc>
                <a:spcPct val="90000"/>
              </a:lnSpc>
              <a:spcBef>
                <a:spcPct val="0"/>
              </a:spcBef>
              <a:spcAft>
                <a:spcPct val="15000"/>
              </a:spcAft>
              <a:buChar char="••"/>
            </a:pPr>
            <a:endParaRPr lang="en-IN" sz="5100" kern="1200" dirty="0"/>
          </a:p>
          <a:p>
            <a:pPr marL="285750" lvl="1" indent="-285750" algn="l" defTabSz="2266950">
              <a:lnSpc>
                <a:spcPct val="90000"/>
              </a:lnSpc>
              <a:spcBef>
                <a:spcPct val="0"/>
              </a:spcBef>
              <a:spcAft>
                <a:spcPct val="15000"/>
              </a:spcAft>
              <a:buChar char="••"/>
            </a:pPr>
            <a:endParaRPr lang="en-IN" sz="5100" kern="1200" dirty="0"/>
          </a:p>
        </p:txBody>
      </p:sp>
      <p:sp>
        <p:nvSpPr>
          <p:cNvPr id="16" name="Freeform 15"/>
          <p:cNvSpPr/>
          <p:nvPr/>
        </p:nvSpPr>
        <p:spPr>
          <a:xfrm>
            <a:off x="3566277" y="3465292"/>
            <a:ext cx="1562100" cy="1562100"/>
          </a:xfrm>
          <a:custGeom>
            <a:avLst/>
            <a:gdLst>
              <a:gd name="connsiteX0" fmla="*/ 0 w 1562100"/>
              <a:gd name="connsiteY0" fmla="*/ 781050 h 1562100"/>
              <a:gd name="connsiteX1" fmla="*/ 781050 w 1562100"/>
              <a:gd name="connsiteY1" fmla="*/ 0 h 1562100"/>
              <a:gd name="connsiteX2" fmla="*/ 1562100 w 1562100"/>
              <a:gd name="connsiteY2" fmla="*/ 781050 h 1562100"/>
              <a:gd name="connsiteX3" fmla="*/ 781050 w 1562100"/>
              <a:gd name="connsiteY3" fmla="*/ 1562100 h 1562100"/>
              <a:gd name="connsiteX4" fmla="*/ 0 w 1562100"/>
              <a:gd name="connsiteY4" fmla="*/ 781050 h 1562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2100" h="1562100">
                <a:moveTo>
                  <a:pt x="0" y="781050"/>
                </a:moveTo>
                <a:cubicBezTo>
                  <a:pt x="0" y="349688"/>
                  <a:pt x="349688" y="0"/>
                  <a:pt x="781050" y="0"/>
                </a:cubicBezTo>
                <a:cubicBezTo>
                  <a:pt x="1212412" y="0"/>
                  <a:pt x="1562100" y="349688"/>
                  <a:pt x="1562100" y="781050"/>
                </a:cubicBezTo>
                <a:cubicBezTo>
                  <a:pt x="1562100" y="1212412"/>
                  <a:pt x="1212412" y="1562100"/>
                  <a:pt x="781050" y="1562100"/>
                </a:cubicBezTo>
                <a:cubicBezTo>
                  <a:pt x="349688" y="1562100"/>
                  <a:pt x="0" y="1212412"/>
                  <a:pt x="0" y="781050"/>
                </a:cubicBezTo>
                <a:close/>
              </a:path>
            </a:pathLst>
          </a:custGeom>
          <a:solidFill>
            <a:schemeClr val="tx2">
              <a:lumMod val="60000"/>
              <a:lumOff val="4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49084" tIns="249084" rIns="249084" bIns="249084" numCol="1" spcCol="1270" anchor="ctr" anchorCtr="0">
            <a:noAutofit/>
          </a:bodyPr>
          <a:lstStyle/>
          <a:p>
            <a:pPr lvl="0" algn="ctr" defTabSz="1422400">
              <a:lnSpc>
                <a:spcPct val="90000"/>
              </a:lnSpc>
              <a:spcBef>
                <a:spcPct val="0"/>
              </a:spcBef>
              <a:spcAft>
                <a:spcPct val="35000"/>
              </a:spcAft>
            </a:pPr>
            <a:endParaRPr lang="en-IN" sz="3200" kern="1200" dirty="0"/>
          </a:p>
        </p:txBody>
      </p:sp>
      <p:sp>
        <p:nvSpPr>
          <p:cNvPr id="18" name="Freeform 17"/>
          <p:cNvSpPr/>
          <p:nvPr/>
        </p:nvSpPr>
        <p:spPr>
          <a:xfrm>
            <a:off x="2985918" y="5071574"/>
            <a:ext cx="1562100" cy="1562100"/>
          </a:xfrm>
          <a:custGeom>
            <a:avLst/>
            <a:gdLst>
              <a:gd name="connsiteX0" fmla="*/ 0 w 1562100"/>
              <a:gd name="connsiteY0" fmla="*/ 781050 h 1562100"/>
              <a:gd name="connsiteX1" fmla="*/ 781050 w 1562100"/>
              <a:gd name="connsiteY1" fmla="*/ 0 h 1562100"/>
              <a:gd name="connsiteX2" fmla="*/ 1562100 w 1562100"/>
              <a:gd name="connsiteY2" fmla="*/ 781050 h 1562100"/>
              <a:gd name="connsiteX3" fmla="*/ 781050 w 1562100"/>
              <a:gd name="connsiteY3" fmla="*/ 1562100 h 1562100"/>
              <a:gd name="connsiteX4" fmla="*/ 0 w 1562100"/>
              <a:gd name="connsiteY4" fmla="*/ 781050 h 1562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2100" h="1562100">
                <a:moveTo>
                  <a:pt x="0" y="781050"/>
                </a:moveTo>
                <a:cubicBezTo>
                  <a:pt x="0" y="349688"/>
                  <a:pt x="349688" y="0"/>
                  <a:pt x="781050" y="0"/>
                </a:cubicBezTo>
                <a:cubicBezTo>
                  <a:pt x="1212412" y="0"/>
                  <a:pt x="1562100" y="349688"/>
                  <a:pt x="1562100" y="781050"/>
                </a:cubicBezTo>
                <a:cubicBezTo>
                  <a:pt x="1562100" y="1212412"/>
                  <a:pt x="1212412" y="1562100"/>
                  <a:pt x="781050" y="1562100"/>
                </a:cubicBezTo>
                <a:cubicBezTo>
                  <a:pt x="349688" y="1562100"/>
                  <a:pt x="0" y="1212412"/>
                  <a:pt x="0" y="781050"/>
                </a:cubicBezTo>
                <a:close/>
              </a:path>
            </a:pathLst>
          </a:custGeom>
          <a:solidFill>
            <a:schemeClr val="tx2">
              <a:lumMod val="60000"/>
              <a:lumOff val="4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49084" tIns="249084" rIns="249084" bIns="249084" numCol="1" spcCol="1270" anchor="ctr" anchorCtr="0">
            <a:noAutofit/>
          </a:bodyPr>
          <a:lstStyle/>
          <a:p>
            <a:pPr lvl="0" algn="ctr" defTabSz="1422400">
              <a:lnSpc>
                <a:spcPct val="90000"/>
              </a:lnSpc>
              <a:spcBef>
                <a:spcPct val="0"/>
              </a:spcBef>
              <a:spcAft>
                <a:spcPct val="35000"/>
              </a:spcAft>
            </a:pPr>
            <a:endParaRPr lang="en-IN" sz="3200" kern="1200" dirty="0"/>
          </a:p>
        </p:txBody>
      </p:sp>
      <p:sp>
        <p:nvSpPr>
          <p:cNvPr id="19" name="Freeform 18"/>
          <p:cNvSpPr/>
          <p:nvPr/>
        </p:nvSpPr>
        <p:spPr>
          <a:xfrm>
            <a:off x="4602734" y="5364661"/>
            <a:ext cx="2343150" cy="1562100"/>
          </a:xfrm>
          <a:custGeom>
            <a:avLst/>
            <a:gdLst>
              <a:gd name="connsiteX0" fmla="*/ 0 w 2343150"/>
              <a:gd name="connsiteY0" fmla="*/ 0 h 1562100"/>
              <a:gd name="connsiteX1" fmla="*/ 2343150 w 2343150"/>
              <a:gd name="connsiteY1" fmla="*/ 0 h 1562100"/>
              <a:gd name="connsiteX2" fmla="*/ 2343150 w 2343150"/>
              <a:gd name="connsiteY2" fmla="*/ 1562100 h 1562100"/>
              <a:gd name="connsiteX3" fmla="*/ 0 w 2343150"/>
              <a:gd name="connsiteY3" fmla="*/ 1562100 h 1562100"/>
              <a:gd name="connsiteX4" fmla="*/ 0 w 2343150"/>
              <a:gd name="connsiteY4" fmla="*/ 0 h 1562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43150" h="1562100">
                <a:moveTo>
                  <a:pt x="0" y="0"/>
                </a:moveTo>
                <a:lnTo>
                  <a:pt x="2343150" y="0"/>
                </a:lnTo>
                <a:lnTo>
                  <a:pt x="2343150" y="1562100"/>
                </a:lnTo>
                <a:lnTo>
                  <a:pt x="0" y="15621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285750" lvl="1" indent="-285750" algn="l" defTabSz="2266950">
              <a:lnSpc>
                <a:spcPct val="90000"/>
              </a:lnSpc>
              <a:spcBef>
                <a:spcPct val="0"/>
              </a:spcBef>
              <a:spcAft>
                <a:spcPct val="15000"/>
              </a:spcAft>
              <a:buChar char="••"/>
            </a:pPr>
            <a:endParaRPr lang="en-IN" sz="5100" kern="1200" dirty="0"/>
          </a:p>
          <a:p>
            <a:pPr marL="285750" lvl="1" indent="-285750" algn="l" defTabSz="2266950">
              <a:lnSpc>
                <a:spcPct val="90000"/>
              </a:lnSpc>
              <a:spcBef>
                <a:spcPct val="0"/>
              </a:spcBef>
              <a:spcAft>
                <a:spcPct val="15000"/>
              </a:spcAft>
              <a:buChar char="••"/>
            </a:pPr>
            <a:endParaRPr lang="en-IN" sz="5100" kern="1200" dirty="0"/>
          </a:p>
        </p:txBody>
      </p:sp>
      <p:sp>
        <p:nvSpPr>
          <p:cNvPr id="20" name="Rectangle 19"/>
          <p:cNvSpPr/>
          <p:nvPr/>
        </p:nvSpPr>
        <p:spPr>
          <a:xfrm>
            <a:off x="5186983" y="1932331"/>
            <a:ext cx="4271750" cy="1347004"/>
          </a:xfrm>
          <a:prstGeom prst="rect">
            <a:avLst/>
          </a:prstGeom>
          <a:no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IN" sz="1400" b="1" i="1" dirty="0" smtClean="0">
                <a:solidFill>
                  <a:schemeClr val="tx1"/>
                </a:solidFill>
                <a:latin typeface="Calibri" panose="020F0502020204030204" pitchFamily="34" charset="0"/>
              </a:rPr>
              <a:t>Attractiveness is a function of:</a:t>
            </a:r>
          </a:p>
          <a:p>
            <a:pPr marL="342900" indent="-342900">
              <a:buAutoNum type="arabicPeriod"/>
            </a:pPr>
            <a:r>
              <a:rPr lang="en-IN" sz="1400" b="1" i="1" dirty="0" smtClean="0">
                <a:solidFill>
                  <a:schemeClr val="tx1"/>
                </a:solidFill>
                <a:latin typeface="Calibri" panose="020F0502020204030204" pitchFamily="34" charset="0"/>
              </a:rPr>
              <a:t>Square Foot Area, Size and Layout</a:t>
            </a:r>
          </a:p>
          <a:p>
            <a:pPr marL="342900" indent="-342900">
              <a:buAutoNum type="arabicPeriod"/>
            </a:pPr>
            <a:r>
              <a:rPr lang="en-IN" sz="1400" b="1" i="1" dirty="0" smtClean="0">
                <a:solidFill>
                  <a:schemeClr val="tx1"/>
                </a:solidFill>
                <a:latin typeface="Calibri" panose="020F0502020204030204" pitchFamily="34" charset="0"/>
              </a:rPr>
              <a:t>Number and quality of Sales People per sq. foot</a:t>
            </a:r>
          </a:p>
          <a:p>
            <a:pPr marL="342900" indent="-342900">
              <a:buAutoNum type="arabicPeriod"/>
            </a:pPr>
            <a:r>
              <a:rPr lang="en-IN" sz="1400" b="1" i="1" dirty="0" smtClean="0">
                <a:solidFill>
                  <a:schemeClr val="tx1"/>
                </a:solidFill>
                <a:latin typeface="Calibri" panose="020F0502020204030204" pitchFamily="34" charset="0"/>
              </a:rPr>
              <a:t>Measure of stock out</a:t>
            </a:r>
          </a:p>
          <a:p>
            <a:pPr marL="342900" indent="-342900">
              <a:buAutoNum type="arabicPeriod"/>
            </a:pPr>
            <a:r>
              <a:rPr lang="en-IN" sz="1400" b="1" i="1" dirty="0" smtClean="0">
                <a:solidFill>
                  <a:schemeClr val="tx1"/>
                </a:solidFill>
                <a:latin typeface="Calibri" panose="020F0502020204030204" pitchFamily="34" charset="0"/>
              </a:rPr>
              <a:t>Attractive Promotions</a:t>
            </a:r>
          </a:p>
          <a:p>
            <a:pPr marL="342900" indent="-342900">
              <a:buAutoNum type="arabicPeriod"/>
            </a:pPr>
            <a:r>
              <a:rPr lang="en-IN" sz="1400" b="1" i="1" dirty="0" smtClean="0">
                <a:solidFill>
                  <a:schemeClr val="tx1"/>
                </a:solidFill>
                <a:latin typeface="Calibri" panose="020F0502020204030204" pitchFamily="34" charset="0"/>
              </a:rPr>
              <a:t>Parking Space availability</a:t>
            </a:r>
            <a:endParaRPr lang="en-IN" sz="1400" b="1" i="1" dirty="0">
              <a:solidFill>
                <a:schemeClr val="tx1"/>
              </a:solidFill>
              <a:latin typeface="Calibri" panose="020F0502020204030204" pitchFamily="34" charset="0"/>
            </a:endParaRPr>
          </a:p>
        </p:txBody>
      </p:sp>
      <p:sp>
        <p:nvSpPr>
          <p:cNvPr id="21" name="TextBox 20"/>
          <p:cNvSpPr txBox="1"/>
          <p:nvPr/>
        </p:nvSpPr>
        <p:spPr bwMode="gray">
          <a:xfrm>
            <a:off x="3309768" y="2201737"/>
            <a:ext cx="914400" cy="914400"/>
          </a:xfrm>
          <a:prstGeom prst="rect">
            <a:avLst/>
          </a:prstGeom>
        </p:spPr>
        <p:txBody>
          <a:bodyPr vert="horz" wrap="none" lIns="91440" tIns="45720" rIns="91440" bIns="45720" rtlCol="0" anchor="ctr">
            <a:noAutofit/>
          </a:bodyPr>
          <a:lstStyle/>
          <a:p>
            <a:pPr algn="ctr"/>
            <a:r>
              <a:rPr lang="en-IN" sz="1200" dirty="0" smtClean="0"/>
              <a:t>Store/Competitor</a:t>
            </a:r>
          </a:p>
          <a:p>
            <a:pPr algn="ctr"/>
            <a:r>
              <a:rPr lang="en-IN" sz="1200" dirty="0" smtClean="0"/>
              <a:t>Attractiveness</a:t>
            </a:r>
          </a:p>
        </p:txBody>
      </p:sp>
      <p:sp>
        <p:nvSpPr>
          <p:cNvPr id="22" name="TextBox 21"/>
          <p:cNvSpPr txBox="1"/>
          <p:nvPr/>
        </p:nvSpPr>
        <p:spPr bwMode="gray">
          <a:xfrm>
            <a:off x="3957216" y="3773072"/>
            <a:ext cx="914400" cy="914400"/>
          </a:xfrm>
          <a:prstGeom prst="rect">
            <a:avLst/>
          </a:prstGeom>
        </p:spPr>
        <p:txBody>
          <a:bodyPr vert="horz" wrap="none" lIns="91440" tIns="45720" rIns="91440" bIns="45720" rtlCol="0" anchor="ctr">
            <a:noAutofit/>
          </a:bodyPr>
          <a:lstStyle/>
          <a:p>
            <a:pPr algn="ctr"/>
            <a:r>
              <a:rPr lang="en-IN" sz="1200" dirty="0" smtClean="0"/>
              <a:t>Store/Competitor </a:t>
            </a:r>
          </a:p>
          <a:p>
            <a:pPr algn="ctr"/>
            <a:r>
              <a:rPr lang="en-IN" sz="1200" dirty="0" smtClean="0"/>
              <a:t>Distance</a:t>
            </a:r>
          </a:p>
        </p:txBody>
      </p:sp>
      <p:sp>
        <p:nvSpPr>
          <p:cNvPr id="23" name="TextBox 22"/>
          <p:cNvSpPr txBox="1"/>
          <p:nvPr/>
        </p:nvSpPr>
        <p:spPr bwMode="gray">
          <a:xfrm>
            <a:off x="3309768" y="5378824"/>
            <a:ext cx="914400" cy="914400"/>
          </a:xfrm>
          <a:prstGeom prst="rect">
            <a:avLst/>
          </a:prstGeom>
        </p:spPr>
        <p:txBody>
          <a:bodyPr vert="horz" wrap="none" lIns="91440" tIns="45720" rIns="91440" bIns="45720" rtlCol="0" anchor="ctr">
            <a:noAutofit/>
          </a:bodyPr>
          <a:lstStyle/>
          <a:p>
            <a:r>
              <a:rPr lang="en-IN" sz="1200" dirty="0" smtClean="0"/>
              <a:t>Potential – </a:t>
            </a:r>
          </a:p>
          <a:p>
            <a:pPr algn="ctr"/>
            <a:r>
              <a:rPr lang="en-IN" sz="1200" dirty="0" smtClean="0"/>
              <a:t>for Croma Sales </a:t>
            </a:r>
          </a:p>
        </p:txBody>
      </p:sp>
      <p:sp>
        <p:nvSpPr>
          <p:cNvPr id="24" name="Rectangle 23"/>
          <p:cNvSpPr/>
          <p:nvPr/>
        </p:nvSpPr>
        <p:spPr>
          <a:xfrm>
            <a:off x="5868025" y="3556770"/>
            <a:ext cx="4299045" cy="1347004"/>
          </a:xfrm>
          <a:prstGeom prst="rect">
            <a:avLst/>
          </a:prstGeom>
          <a:no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400" b="1" i="1" dirty="0" smtClean="0">
                <a:solidFill>
                  <a:schemeClr val="tx1"/>
                </a:solidFill>
                <a:latin typeface="Calibri" panose="020F0502020204030204" pitchFamily="34" charset="0"/>
              </a:rPr>
              <a:t>Distance is:</a:t>
            </a:r>
          </a:p>
          <a:p>
            <a:pPr marL="342900" indent="-342900">
              <a:buAutoNum type="arabicPeriod"/>
            </a:pPr>
            <a:r>
              <a:rPr lang="en-IN" sz="1400" b="1" i="1" dirty="0" smtClean="0">
                <a:solidFill>
                  <a:schemeClr val="tx1"/>
                </a:solidFill>
                <a:latin typeface="Calibri" panose="020F0502020204030204" pitchFamily="34" charset="0"/>
              </a:rPr>
              <a:t>Distance from the pin along the driveway</a:t>
            </a:r>
          </a:p>
          <a:p>
            <a:pPr marL="342900" indent="-342900">
              <a:buAutoNum type="arabicPeriod"/>
            </a:pPr>
            <a:r>
              <a:rPr lang="en-IN" sz="1400" b="1" i="1" dirty="0" smtClean="0">
                <a:solidFill>
                  <a:schemeClr val="tx1"/>
                </a:solidFill>
                <a:latin typeface="Calibri" panose="020F0502020204030204" pitchFamily="34" charset="0"/>
              </a:rPr>
              <a:t>Traffic Congestion/Drive Time to the Store location PIN  (Source – Google API)</a:t>
            </a:r>
            <a:endParaRPr lang="en-IN" sz="1400" b="1" i="1" dirty="0">
              <a:solidFill>
                <a:schemeClr val="tx1"/>
              </a:solidFill>
              <a:latin typeface="Calibri" panose="020F0502020204030204" pitchFamily="34" charset="0"/>
            </a:endParaRPr>
          </a:p>
        </p:txBody>
      </p:sp>
      <p:sp>
        <p:nvSpPr>
          <p:cNvPr id="25" name="Rectangle 24"/>
          <p:cNvSpPr/>
          <p:nvPr/>
        </p:nvSpPr>
        <p:spPr>
          <a:xfrm>
            <a:off x="5183969" y="5241043"/>
            <a:ext cx="4271750" cy="1347004"/>
          </a:xfrm>
          <a:prstGeom prst="rect">
            <a:avLst/>
          </a:prstGeom>
          <a:no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IN" sz="1400" b="1" i="1" dirty="0" smtClean="0">
                <a:solidFill>
                  <a:schemeClr val="tx1"/>
                </a:solidFill>
                <a:latin typeface="Calibri" panose="020F0502020204030204" pitchFamily="34" charset="0"/>
              </a:rPr>
              <a:t>Potential of the catchment area PINs is a function of:</a:t>
            </a:r>
          </a:p>
          <a:p>
            <a:pPr marL="342900" indent="-342900">
              <a:buAutoNum type="arabicPeriod"/>
            </a:pPr>
            <a:r>
              <a:rPr lang="en-IN" sz="1400" b="1" i="1" dirty="0" smtClean="0">
                <a:solidFill>
                  <a:schemeClr val="tx1"/>
                </a:solidFill>
                <a:latin typeface="Calibri" panose="020F0502020204030204" pitchFamily="34" charset="0"/>
              </a:rPr>
              <a:t>Affluence levels</a:t>
            </a:r>
          </a:p>
          <a:p>
            <a:pPr marL="342900" indent="-342900">
              <a:buAutoNum type="arabicPeriod"/>
            </a:pPr>
            <a:r>
              <a:rPr lang="en-IN" sz="1400" b="1" i="1" dirty="0" smtClean="0">
                <a:solidFill>
                  <a:schemeClr val="tx1"/>
                </a:solidFill>
                <a:latin typeface="Calibri" panose="020F0502020204030204" pitchFamily="34" charset="0"/>
              </a:rPr>
              <a:t>Population strength</a:t>
            </a:r>
          </a:p>
          <a:p>
            <a:pPr marL="342900" indent="-342900">
              <a:buAutoNum type="arabicPeriod"/>
            </a:pPr>
            <a:r>
              <a:rPr lang="en-IN" sz="1400" b="1" i="1" dirty="0" smtClean="0">
                <a:solidFill>
                  <a:schemeClr val="tx1"/>
                </a:solidFill>
                <a:latin typeface="Calibri" panose="020F0502020204030204" pitchFamily="34" charset="0"/>
              </a:rPr>
              <a:t>Demographic estimates</a:t>
            </a:r>
          </a:p>
          <a:p>
            <a:pPr marL="342900" indent="-342900">
              <a:buAutoNum type="arabicPeriod"/>
            </a:pPr>
            <a:r>
              <a:rPr lang="en-IN" sz="1400" b="1" i="1" dirty="0" smtClean="0">
                <a:solidFill>
                  <a:schemeClr val="tx1"/>
                </a:solidFill>
                <a:latin typeface="Calibri" panose="020F0502020204030204" pitchFamily="34" charset="0"/>
              </a:rPr>
              <a:t>Future economic growth of the area</a:t>
            </a:r>
            <a:endParaRPr lang="en-IN" sz="1400" b="1" i="1" dirty="0">
              <a:solidFill>
                <a:schemeClr val="tx1"/>
              </a:solidFill>
              <a:latin typeface="Calibri" panose="020F0502020204030204" pitchFamily="34" charset="0"/>
            </a:endParaRPr>
          </a:p>
        </p:txBody>
      </p:sp>
      <p:sp>
        <p:nvSpPr>
          <p:cNvPr id="27" name="TextBox 26"/>
          <p:cNvSpPr txBox="1"/>
          <p:nvPr/>
        </p:nvSpPr>
        <p:spPr bwMode="gray">
          <a:xfrm>
            <a:off x="1601538" y="3718999"/>
            <a:ext cx="914400" cy="914400"/>
          </a:xfrm>
          <a:prstGeom prst="rect">
            <a:avLst/>
          </a:prstGeom>
        </p:spPr>
        <p:txBody>
          <a:bodyPr vert="horz" wrap="none" lIns="91440" tIns="45720" rIns="91440" bIns="45720" rtlCol="0" anchor="ctr">
            <a:noAutofit/>
          </a:bodyPr>
          <a:lstStyle/>
          <a:p>
            <a:pPr algn="ctr"/>
            <a:r>
              <a:rPr lang="en-IN" sz="1600" b="1" dirty="0" smtClean="0">
                <a:solidFill>
                  <a:schemeClr val="bg1"/>
                </a:solidFill>
              </a:rPr>
              <a:t> Store Location </a:t>
            </a:r>
          </a:p>
          <a:p>
            <a:pPr algn="ctr"/>
            <a:r>
              <a:rPr lang="en-IN" sz="1600" b="1" dirty="0" smtClean="0">
                <a:solidFill>
                  <a:schemeClr val="bg1"/>
                </a:solidFill>
              </a:rPr>
              <a:t>Attractiveness </a:t>
            </a:r>
          </a:p>
          <a:p>
            <a:pPr algn="ctr"/>
            <a:r>
              <a:rPr lang="en-IN" sz="1600" b="1" dirty="0" smtClean="0">
                <a:solidFill>
                  <a:schemeClr val="bg1"/>
                </a:solidFill>
              </a:rPr>
              <a:t>at PIN Level</a:t>
            </a:r>
          </a:p>
        </p:txBody>
      </p:sp>
      <p:cxnSp>
        <p:nvCxnSpPr>
          <p:cNvPr id="55" name="Straight Connector 54"/>
          <p:cNvCxnSpPr/>
          <p:nvPr/>
        </p:nvCxnSpPr>
        <p:spPr>
          <a:xfrm>
            <a:off x="501060" y="1721396"/>
            <a:ext cx="11222365" cy="0"/>
          </a:xfrm>
          <a:prstGeom prst="line">
            <a:avLst/>
          </a:prstGeom>
          <a:ln w="28575">
            <a:solidFill>
              <a:srgbClr val="1C5785"/>
            </a:solidFill>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9455719" y="1932331"/>
            <a:ext cx="692833" cy="1354031"/>
          </a:xfrm>
          <a:prstGeom prst="rect">
            <a:avLst/>
          </a:pr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IN" sz="1400" b="1" dirty="0" smtClean="0">
                <a:solidFill>
                  <a:schemeClr val="tx2">
                    <a:lumMod val="50000"/>
                  </a:schemeClr>
                </a:solidFill>
              </a:rPr>
              <a:t>Not Considered</a:t>
            </a:r>
          </a:p>
          <a:p>
            <a:pPr algn="ctr"/>
            <a:r>
              <a:rPr lang="en-IN" sz="1400" b="1" dirty="0" smtClean="0">
                <a:solidFill>
                  <a:schemeClr val="tx2">
                    <a:lumMod val="50000"/>
                  </a:schemeClr>
                </a:solidFill>
              </a:rPr>
              <a:t>(Lack of Data)</a:t>
            </a:r>
            <a:endParaRPr lang="en-IN" sz="1400" b="1" dirty="0">
              <a:solidFill>
                <a:schemeClr val="tx2">
                  <a:lumMod val="50000"/>
                </a:schemeClr>
              </a:solidFill>
            </a:endParaRPr>
          </a:p>
        </p:txBody>
      </p:sp>
      <p:sp>
        <p:nvSpPr>
          <p:cNvPr id="35" name="Rectangle 34"/>
          <p:cNvSpPr/>
          <p:nvPr/>
        </p:nvSpPr>
        <p:spPr>
          <a:xfrm>
            <a:off x="10164057" y="3556891"/>
            <a:ext cx="692833" cy="1347004"/>
          </a:xfrm>
          <a:prstGeom prst="rect">
            <a:avLst/>
          </a:pr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IN" sz="1400" b="1" dirty="0" smtClean="0">
                <a:solidFill>
                  <a:schemeClr val="tx2">
                    <a:lumMod val="50000"/>
                  </a:schemeClr>
                </a:solidFill>
              </a:rPr>
              <a:t>Considered</a:t>
            </a:r>
          </a:p>
        </p:txBody>
      </p:sp>
      <p:sp>
        <p:nvSpPr>
          <p:cNvPr id="36" name="Rectangle 35"/>
          <p:cNvSpPr/>
          <p:nvPr/>
        </p:nvSpPr>
        <p:spPr>
          <a:xfrm>
            <a:off x="9455719" y="5241043"/>
            <a:ext cx="692833" cy="1347004"/>
          </a:xfrm>
          <a:prstGeom prst="rect">
            <a:avLst/>
          </a:pr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IN" sz="1400" b="1" dirty="0" smtClean="0">
                <a:solidFill>
                  <a:schemeClr val="tx2">
                    <a:lumMod val="50000"/>
                  </a:schemeClr>
                </a:solidFill>
              </a:rPr>
              <a:t>Considered</a:t>
            </a:r>
          </a:p>
        </p:txBody>
      </p:sp>
    </p:spTree>
    <p:extLst>
      <p:ext uri="{BB962C8B-B14F-4D97-AF65-F5344CB8AC3E}">
        <p14:creationId xmlns:p14="http://schemas.microsoft.com/office/powerpoint/2010/main" val="421725544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13</a:t>
            </a:fld>
            <a:endParaRPr lang="en-US" dirty="0">
              <a:solidFill>
                <a:srgbClr val="0E5580"/>
              </a:solidFill>
            </a:endParaRPr>
          </a:p>
        </p:txBody>
      </p:sp>
      <p:sp>
        <p:nvSpPr>
          <p:cNvPr id="28" name="Title 4"/>
          <p:cNvSpPr>
            <a:spLocks noGrp="1"/>
          </p:cNvSpPr>
          <p:nvPr>
            <p:ph type="title"/>
          </p:nvPr>
        </p:nvSpPr>
        <p:spPr>
          <a:xfrm>
            <a:off x="629984" y="542362"/>
            <a:ext cx="9785683" cy="706964"/>
          </a:xfrm>
        </p:spPr>
        <p:txBody>
          <a:bodyPr/>
          <a:lstStyle/>
          <a:p>
            <a:r>
              <a:rPr lang="en-IN" dirty="0" smtClean="0"/>
              <a:t>Defining Store </a:t>
            </a:r>
            <a:r>
              <a:rPr lang="en-IN" dirty="0"/>
              <a:t>Catchment </a:t>
            </a:r>
            <a:r>
              <a:rPr lang="en-IN" dirty="0" smtClean="0"/>
              <a:t>Area – at PIN level</a:t>
            </a:r>
            <a:endParaRPr lang="en-IN" dirty="0"/>
          </a:p>
        </p:txBody>
      </p:sp>
      <p:sp>
        <p:nvSpPr>
          <p:cNvPr id="183" name="Text Placeholder 6"/>
          <p:cNvSpPr>
            <a:spLocks noGrp="1"/>
          </p:cNvSpPr>
          <p:nvPr>
            <p:ph type="body" sz="quarter" idx="13"/>
          </p:nvPr>
        </p:nvSpPr>
        <p:spPr>
          <a:xfrm>
            <a:off x="501060" y="1162982"/>
            <a:ext cx="11113180" cy="582362"/>
          </a:xfrm>
        </p:spPr>
        <p:txBody>
          <a:bodyPr>
            <a:normAutofit fontScale="92500" lnSpcReduction="10000"/>
          </a:bodyPr>
          <a:lstStyle/>
          <a:p>
            <a:r>
              <a:rPr lang="en-IN" dirty="0" smtClean="0"/>
              <a:t>Catchment area of a store location PIN is defined to include all PINs that lie within a 35 minute driving distance from it</a:t>
            </a:r>
            <a:endParaRPr lang="en-IN" dirty="0"/>
          </a:p>
        </p:txBody>
      </p:sp>
      <p:cxnSp>
        <p:nvCxnSpPr>
          <p:cNvPr id="195" name="Straight Connector 194"/>
          <p:cNvCxnSpPr/>
          <p:nvPr/>
        </p:nvCxnSpPr>
        <p:spPr>
          <a:xfrm>
            <a:off x="501060" y="1721396"/>
            <a:ext cx="11222365" cy="0"/>
          </a:xfrm>
          <a:prstGeom prst="line">
            <a:avLst/>
          </a:prstGeom>
          <a:ln w="28575">
            <a:solidFill>
              <a:srgbClr val="1C5785"/>
            </a:solidFill>
          </a:ln>
        </p:spPr>
        <p:style>
          <a:lnRef idx="1">
            <a:schemeClr val="accent1"/>
          </a:lnRef>
          <a:fillRef idx="0">
            <a:schemeClr val="accent1"/>
          </a:fillRef>
          <a:effectRef idx="0">
            <a:schemeClr val="accent1"/>
          </a:effectRef>
          <a:fontRef idx="minor">
            <a:schemeClr val="tx1"/>
          </a:fontRef>
        </p:style>
      </p:cxnSp>
      <p:graphicFrame>
        <p:nvGraphicFramePr>
          <p:cNvPr id="6" name="Diagram 5"/>
          <p:cNvGraphicFramePr/>
          <p:nvPr>
            <p:extLst/>
          </p:nvPr>
        </p:nvGraphicFramePr>
        <p:xfrm>
          <a:off x="53069" y="2698592"/>
          <a:ext cx="5815463" cy="34565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7" name="Straight Arrow Connector 6"/>
          <p:cNvCxnSpPr/>
          <p:nvPr/>
        </p:nvCxnSpPr>
        <p:spPr>
          <a:xfrm flipH="1">
            <a:off x="2674956" y="3466532"/>
            <a:ext cx="586853" cy="736979"/>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p:cNvCxnSpPr/>
          <p:nvPr/>
        </p:nvCxnSpPr>
        <p:spPr>
          <a:xfrm>
            <a:off x="2075644" y="3466532"/>
            <a:ext cx="599312" cy="749826"/>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0" name="Rectangle 9"/>
          <p:cNvSpPr/>
          <p:nvPr/>
        </p:nvSpPr>
        <p:spPr>
          <a:xfrm>
            <a:off x="81244" y="1865363"/>
            <a:ext cx="5441581" cy="5662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2">
                    <a:lumMod val="50000"/>
                  </a:schemeClr>
                </a:solidFill>
              </a:rPr>
              <a:t>Catchment </a:t>
            </a:r>
            <a:r>
              <a:rPr lang="en-IN" b="1" dirty="0" smtClean="0">
                <a:solidFill>
                  <a:schemeClr val="tx2">
                    <a:lumMod val="50000"/>
                  </a:schemeClr>
                </a:solidFill>
              </a:rPr>
              <a:t>Area</a:t>
            </a:r>
          </a:p>
          <a:p>
            <a:pPr algn="ctr"/>
            <a:r>
              <a:rPr lang="en-IN" sz="1400" b="1" dirty="0" smtClean="0">
                <a:solidFill>
                  <a:schemeClr val="tx2">
                    <a:lumMod val="50000"/>
                  </a:schemeClr>
                </a:solidFill>
              </a:rPr>
              <a:t>Driving distance of catchment PIN from Store Location PIN</a:t>
            </a:r>
            <a:endParaRPr lang="en-IN" sz="1400" b="1" dirty="0">
              <a:solidFill>
                <a:schemeClr val="tx2">
                  <a:lumMod val="50000"/>
                </a:schemeClr>
              </a:solidFill>
            </a:endParaRPr>
          </a:p>
        </p:txBody>
      </p:sp>
      <p:cxnSp>
        <p:nvCxnSpPr>
          <p:cNvPr id="11" name="Elbow Connector 10"/>
          <p:cNvCxnSpPr/>
          <p:nvPr/>
        </p:nvCxnSpPr>
        <p:spPr>
          <a:xfrm flipV="1">
            <a:off x="3156800" y="2393837"/>
            <a:ext cx="3188128" cy="1278578"/>
          </a:xfrm>
          <a:prstGeom prst="bentConnector3">
            <a:avLst>
              <a:gd name="adj1" fmla="val 77470"/>
            </a:avLst>
          </a:prstGeom>
          <a:ln w="952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bwMode="gray">
          <a:xfrm>
            <a:off x="6344928" y="2393837"/>
            <a:ext cx="5598543" cy="362363"/>
          </a:xfrm>
          <a:prstGeom prst="rect">
            <a:avLst/>
          </a:prstGeom>
        </p:spPr>
        <p:txBody>
          <a:bodyPr vert="horz" wrap="square" lIns="91440" tIns="45720" rIns="91440" bIns="45720" rtlCol="0" anchor="ctr">
            <a:noAutofit/>
          </a:bodyPr>
          <a:lstStyle/>
          <a:p>
            <a:r>
              <a:rPr lang="en-IN" sz="2000" dirty="0" smtClean="0"/>
              <a:t>Driving time cut off – 35 minutes </a:t>
            </a:r>
          </a:p>
          <a:p>
            <a:r>
              <a:rPr lang="en-IN" sz="2000" dirty="0"/>
              <a:t>	</a:t>
            </a:r>
            <a:r>
              <a:rPr lang="en-IN" sz="1600" dirty="0" smtClean="0"/>
              <a:t>Accounting for more than 85% of store sales on an average. </a:t>
            </a:r>
            <a:r>
              <a:rPr lang="en-IN" sz="1600" i="1" dirty="0" smtClean="0"/>
              <a:t>(Source – Google API)</a:t>
            </a:r>
          </a:p>
        </p:txBody>
      </p:sp>
      <p:graphicFrame>
        <p:nvGraphicFramePr>
          <p:cNvPr id="9" name="Table 8"/>
          <p:cNvGraphicFramePr>
            <a:graphicFrameLocks noGrp="1"/>
          </p:cNvGraphicFramePr>
          <p:nvPr>
            <p:extLst/>
          </p:nvPr>
        </p:nvGraphicFramePr>
        <p:xfrm>
          <a:off x="6467844" y="3933497"/>
          <a:ext cx="5091720" cy="2128380"/>
        </p:xfrm>
        <a:graphic>
          <a:graphicData uri="http://schemas.openxmlformats.org/drawingml/2006/table">
            <a:tbl>
              <a:tblPr firstRow="1" bandRow="1">
                <a:tableStyleId>{5C22544A-7EE6-4342-B048-85BDC9FD1C3A}</a:tableStyleId>
              </a:tblPr>
              <a:tblGrid>
                <a:gridCol w="1898354"/>
                <a:gridCol w="1496126"/>
                <a:gridCol w="1697240"/>
              </a:tblGrid>
              <a:tr h="595991">
                <a:tc>
                  <a:txBody>
                    <a:bodyPr/>
                    <a:lstStyle/>
                    <a:p>
                      <a:pPr algn="ctr"/>
                      <a:r>
                        <a:rPr lang="en-IN" sz="1200" dirty="0" smtClean="0"/>
                        <a:t>Store</a:t>
                      </a:r>
                      <a:endParaRPr lang="en-IN" sz="1200" dirty="0"/>
                    </a:p>
                  </a:txBody>
                  <a:tcPr anchor="ctr"/>
                </a:tc>
                <a:tc>
                  <a:txBody>
                    <a:bodyPr/>
                    <a:lstStyle/>
                    <a:p>
                      <a:pPr algn="ctr"/>
                      <a:r>
                        <a:rPr lang="en-IN" sz="1200" dirty="0" smtClean="0"/>
                        <a:t>PIN</a:t>
                      </a:r>
                      <a:endParaRPr lang="en-IN" sz="1200" dirty="0"/>
                    </a:p>
                  </a:txBody>
                  <a:tcPr anchor="ctr"/>
                </a:tc>
                <a:tc>
                  <a:txBody>
                    <a:bodyPr/>
                    <a:lstStyle/>
                    <a:p>
                      <a:pPr algn="ctr"/>
                      <a:r>
                        <a:rPr lang="en-IN" sz="1200" dirty="0" smtClean="0"/>
                        <a:t>% Sales from PINs within 35 minutes Driving time </a:t>
                      </a:r>
                      <a:endParaRPr lang="en-IN" sz="1200" dirty="0"/>
                    </a:p>
                  </a:txBody>
                  <a:tcPr anchor="ctr"/>
                </a:tc>
              </a:tr>
              <a:tr h="297660">
                <a:tc>
                  <a:txBody>
                    <a:bodyPr/>
                    <a:lstStyle/>
                    <a:p>
                      <a:pPr algn="ctr"/>
                      <a:r>
                        <a:rPr lang="en-IN" sz="1000" dirty="0" smtClean="0"/>
                        <a:t>Gurgaon – Sector 29</a:t>
                      </a:r>
                      <a:endParaRPr lang="en-IN" sz="1000" dirty="0"/>
                    </a:p>
                  </a:txBody>
                  <a:tcPr anchor="ctr"/>
                </a:tc>
                <a:tc>
                  <a:txBody>
                    <a:bodyPr/>
                    <a:lstStyle/>
                    <a:p>
                      <a:pPr algn="ctr"/>
                      <a:r>
                        <a:rPr lang="en-IN" sz="1000" dirty="0" smtClean="0"/>
                        <a:t>122007</a:t>
                      </a:r>
                      <a:endParaRPr lang="en-IN" sz="1000" dirty="0"/>
                    </a:p>
                  </a:txBody>
                  <a:tcPr anchor="ctr"/>
                </a:tc>
                <a:tc>
                  <a:txBody>
                    <a:bodyPr/>
                    <a:lstStyle/>
                    <a:p>
                      <a:pPr algn="ctr"/>
                      <a:r>
                        <a:rPr lang="en-IN" sz="1000" dirty="0" smtClean="0"/>
                        <a:t>92%</a:t>
                      </a:r>
                      <a:endParaRPr lang="en-IN" sz="1000" dirty="0"/>
                    </a:p>
                  </a:txBody>
                  <a:tcPr anchor="ctr"/>
                </a:tc>
              </a:tr>
              <a:tr h="297660">
                <a:tc>
                  <a:txBody>
                    <a:bodyPr/>
                    <a:lstStyle/>
                    <a:p>
                      <a:pPr algn="ctr"/>
                      <a:r>
                        <a:rPr lang="en-IN" sz="1000" dirty="0" smtClean="0"/>
                        <a:t>Gurgaon – DLF Mega Mall</a:t>
                      </a:r>
                      <a:endParaRPr lang="en-IN" sz="1000" dirty="0"/>
                    </a:p>
                  </a:txBody>
                  <a:tcPr anchor="ctr"/>
                </a:tc>
                <a:tc>
                  <a:txBody>
                    <a:bodyPr/>
                    <a:lstStyle/>
                    <a:p>
                      <a:pPr algn="ctr"/>
                      <a:r>
                        <a:rPr lang="en-IN" sz="1000" dirty="0" smtClean="0"/>
                        <a:t>122002</a:t>
                      </a:r>
                      <a:endParaRPr lang="en-IN" sz="1000" dirty="0"/>
                    </a:p>
                  </a:txBody>
                  <a:tcPr anchor="ctr"/>
                </a:tc>
                <a:tc>
                  <a:txBody>
                    <a:bodyPr/>
                    <a:lstStyle/>
                    <a:p>
                      <a:pPr algn="ctr"/>
                      <a:r>
                        <a:rPr lang="en-IN" sz="1000" dirty="0" smtClean="0"/>
                        <a:t>89%</a:t>
                      </a:r>
                      <a:endParaRPr lang="en-IN" sz="1000" dirty="0"/>
                    </a:p>
                  </a:txBody>
                  <a:tcPr anchor="ctr"/>
                </a:tc>
              </a:tr>
              <a:tr h="297660">
                <a:tc>
                  <a:txBody>
                    <a:bodyPr/>
                    <a:lstStyle/>
                    <a:p>
                      <a:pPr algn="ctr"/>
                      <a:r>
                        <a:rPr lang="en-IN" sz="1000" dirty="0" smtClean="0"/>
                        <a:t>Gurgaon</a:t>
                      </a:r>
                      <a:r>
                        <a:rPr lang="en-IN" sz="1000" baseline="0" dirty="0" smtClean="0"/>
                        <a:t> – Trade Tower</a:t>
                      </a:r>
                      <a:endParaRPr lang="en-IN" sz="1000" dirty="0"/>
                    </a:p>
                  </a:txBody>
                  <a:tcPr anchor="ctr"/>
                </a:tc>
                <a:tc>
                  <a:txBody>
                    <a:bodyPr/>
                    <a:lstStyle/>
                    <a:p>
                      <a:pPr algn="ctr"/>
                      <a:r>
                        <a:rPr lang="en-IN" sz="1000" dirty="0" smtClean="0"/>
                        <a:t>122018</a:t>
                      </a:r>
                      <a:endParaRPr lang="en-IN" sz="1000" dirty="0"/>
                    </a:p>
                  </a:txBody>
                  <a:tcPr anchor="ctr"/>
                </a:tc>
                <a:tc>
                  <a:txBody>
                    <a:bodyPr/>
                    <a:lstStyle/>
                    <a:p>
                      <a:pPr algn="ctr"/>
                      <a:r>
                        <a:rPr lang="en-IN" sz="1000" dirty="0" smtClean="0"/>
                        <a:t>94%</a:t>
                      </a:r>
                      <a:endParaRPr lang="en-IN" sz="1000" dirty="0"/>
                    </a:p>
                  </a:txBody>
                  <a:tcPr anchor="ctr"/>
                </a:tc>
              </a:tr>
              <a:tr h="297660">
                <a:tc>
                  <a:txBody>
                    <a:bodyPr/>
                    <a:lstStyle/>
                    <a:p>
                      <a:pPr algn="ctr"/>
                      <a:r>
                        <a:rPr lang="en-IN" sz="1000" dirty="0" smtClean="0"/>
                        <a:t>Delhi – </a:t>
                      </a:r>
                      <a:r>
                        <a:rPr lang="en-IN" sz="1000" dirty="0" err="1" smtClean="0"/>
                        <a:t>Rajouri</a:t>
                      </a:r>
                      <a:endParaRPr lang="en-IN" sz="1000" dirty="0"/>
                    </a:p>
                  </a:txBody>
                  <a:tcPr anchor="ctr"/>
                </a:tc>
                <a:tc>
                  <a:txBody>
                    <a:bodyPr/>
                    <a:lstStyle/>
                    <a:p>
                      <a:pPr algn="ctr"/>
                      <a:r>
                        <a:rPr lang="en-IN" sz="1000" dirty="0" smtClean="0"/>
                        <a:t>110027</a:t>
                      </a:r>
                      <a:endParaRPr lang="en-IN" sz="1000" dirty="0"/>
                    </a:p>
                  </a:txBody>
                  <a:tcPr anchor="ctr"/>
                </a:tc>
                <a:tc>
                  <a:txBody>
                    <a:bodyPr/>
                    <a:lstStyle/>
                    <a:p>
                      <a:pPr algn="ctr"/>
                      <a:r>
                        <a:rPr lang="en-IN" sz="1000" dirty="0" smtClean="0"/>
                        <a:t>71%</a:t>
                      </a:r>
                      <a:endParaRPr lang="en-IN" sz="1000" dirty="0"/>
                    </a:p>
                  </a:txBody>
                  <a:tcPr anchor="ctr"/>
                </a:tc>
              </a:tr>
              <a:tr h="297660">
                <a:tc>
                  <a:txBody>
                    <a:bodyPr/>
                    <a:lstStyle/>
                    <a:p>
                      <a:pPr algn="ctr"/>
                      <a:r>
                        <a:rPr lang="en-IN" sz="1000" dirty="0" smtClean="0"/>
                        <a:t>Delhi – </a:t>
                      </a:r>
                      <a:r>
                        <a:rPr lang="en-IN" sz="1000" dirty="0" err="1" smtClean="0"/>
                        <a:t>Saket</a:t>
                      </a:r>
                      <a:endParaRPr lang="en-IN" sz="1000" dirty="0"/>
                    </a:p>
                  </a:txBody>
                  <a:tcPr anchor="ctr"/>
                </a:tc>
                <a:tc>
                  <a:txBody>
                    <a:bodyPr/>
                    <a:lstStyle/>
                    <a:p>
                      <a:pPr algn="ctr"/>
                      <a:r>
                        <a:rPr lang="en-IN" sz="1000" dirty="0" smtClean="0"/>
                        <a:t>110017</a:t>
                      </a:r>
                      <a:endParaRPr lang="en-IN" sz="1000" dirty="0"/>
                    </a:p>
                  </a:txBody>
                  <a:tcPr anchor="ctr"/>
                </a:tc>
                <a:tc>
                  <a:txBody>
                    <a:bodyPr/>
                    <a:lstStyle/>
                    <a:p>
                      <a:pPr algn="ctr"/>
                      <a:r>
                        <a:rPr lang="en-IN" sz="1000" dirty="0" smtClean="0"/>
                        <a:t>89%</a:t>
                      </a:r>
                      <a:endParaRPr lang="en-IN" sz="1000" dirty="0"/>
                    </a:p>
                  </a:txBody>
                  <a:tcPr anchor="ctr"/>
                </a:tc>
              </a:tr>
            </a:tbl>
          </a:graphicData>
        </a:graphic>
      </p:graphicFrame>
      <p:sp>
        <p:nvSpPr>
          <p:cNvPr id="13" name="TextBox 12"/>
          <p:cNvSpPr txBox="1"/>
          <p:nvPr/>
        </p:nvSpPr>
        <p:spPr bwMode="gray">
          <a:xfrm>
            <a:off x="6407744" y="3511841"/>
            <a:ext cx="4969190" cy="368489"/>
          </a:xfrm>
          <a:prstGeom prst="rect">
            <a:avLst/>
          </a:prstGeom>
        </p:spPr>
        <p:txBody>
          <a:bodyPr vert="horz" wrap="square" lIns="91440" tIns="45720" rIns="91440" bIns="45720" rtlCol="0" anchor="ctr">
            <a:noAutofit/>
          </a:bodyPr>
          <a:lstStyle/>
          <a:p>
            <a:r>
              <a:rPr lang="en-IN" sz="1200" b="1" dirty="0" smtClean="0"/>
              <a:t>Gurgaon and Delhi – 5 sample stores</a:t>
            </a:r>
          </a:p>
          <a:p>
            <a:r>
              <a:rPr lang="en-IN" sz="1200" i="1" dirty="0" smtClean="0"/>
              <a:t>Derived from Transaction data shared</a:t>
            </a:r>
          </a:p>
        </p:txBody>
      </p:sp>
    </p:spTree>
    <p:extLst>
      <p:ext uri="{BB962C8B-B14F-4D97-AF65-F5344CB8AC3E}">
        <p14:creationId xmlns:p14="http://schemas.microsoft.com/office/powerpoint/2010/main" val="38084557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14</a:t>
            </a:fld>
            <a:endParaRPr lang="en-US" dirty="0">
              <a:solidFill>
                <a:srgbClr val="0E5580"/>
              </a:solidFill>
            </a:endParaRPr>
          </a:p>
        </p:txBody>
      </p:sp>
      <p:sp>
        <p:nvSpPr>
          <p:cNvPr id="28" name="Title 4"/>
          <p:cNvSpPr>
            <a:spLocks noGrp="1"/>
          </p:cNvSpPr>
          <p:nvPr>
            <p:ph type="title"/>
          </p:nvPr>
        </p:nvSpPr>
        <p:spPr>
          <a:xfrm>
            <a:off x="629984" y="542362"/>
            <a:ext cx="9785683" cy="706964"/>
          </a:xfrm>
        </p:spPr>
        <p:txBody>
          <a:bodyPr/>
          <a:lstStyle/>
          <a:p>
            <a:r>
              <a:rPr lang="en-IN" dirty="0"/>
              <a:t>Studying Store Catchment Area</a:t>
            </a:r>
          </a:p>
        </p:txBody>
      </p:sp>
      <p:sp>
        <p:nvSpPr>
          <p:cNvPr id="183" name="Text Placeholder 6"/>
          <p:cNvSpPr>
            <a:spLocks noGrp="1"/>
          </p:cNvSpPr>
          <p:nvPr>
            <p:ph type="body" sz="quarter" idx="13"/>
          </p:nvPr>
        </p:nvSpPr>
        <p:spPr>
          <a:xfrm>
            <a:off x="501060" y="1162982"/>
            <a:ext cx="11113180" cy="582362"/>
          </a:xfrm>
        </p:spPr>
        <p:txBody>
          <a:bodyPr>
            <a:normAutofit fontScale="92500" lnSpcReduction="10000"/>
          </a:bodyPr>
          <a:lstStyle/>
          <a:p>
            <a:r>
              <a:rPr lang="en-IN" dirty="0"/>
              <a:t>The distance to the location of the store </a:t>
            </a:r>
            <a:r>
              <a:rPr lang="en-IN" dirty="0" smtClean="0"/>
              <a:t>and </a:t>
            </a:r>
            <a:r>
              <a:rPr lang="en-IN" dirty="0"/>
              <a:t>the potential of the catchment are can be </a:t>
            </a:r>
            <a:r>
              <a:rPr lang="en-IN" dirty="0" smtClean="0"/>
              <a:t>quantified for every PIN in Hyderabad district</a:t>
            </a:r>
            <a:endParaRPr lang="en-IN" dirty="0"/>
          </a:p>
        </p:txBody>
      </p:sp>
      <p:cxnSp>
        <p:nvCxnSpPr>
          <p:cNvPr id="195" name="Straight Connector 194"/>
          <p:cNvCxnSpPr/>
          <p:nvPr/>
        </p:nvCxnSpPr>
        <p:spPr>
          <a:xfrm>
            <a:off x="501060" y="1721396"/>
            <a:ext cx="11222365" cy="0"/>
          </a:xfrm>
          <a:prstGeom prst="line">
            <a:avLst/>
          </a:prstGeom>
          <a:ln w="28575">
            <a:solidFill>
              <a:srgbClr val="1C5785"/>
            </a:solidFill>
          </a:ln>
        </p:spPr>
        <p:style>
          <a:lnRef idx="1">
            <a:schemeClr val="accent1"/>
          </a:lnRef>
          <a:fillRef idx="0">
            <a:schemeClr val="accent1"/>
          </a:fillRef>
          <a:effectRef idx="0">
            <a:schemeClr val="accent1"/>
          </a:effectRef>
          <a:fontRef idx="minor">
            <a:schemeClr val="tx1"/>
          </a:fontRef>
        </p:style>
      </p:cxnSp>
      <p:graphicFrame>
        <p:nvGraphicFramePr>
          <p:cNvPr id="196" name="Diagram 195"/>
          <p:cNvGraphicFramePr/>
          <p:nvPr>
            <p:extLst/>
          </p:nvPr>
        </p:nvGraphicFramePr>
        <p:xfrm>
          <a:off x="53069" y="2698592"/>
          <a:ext cx="5815463" cy="34565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97" name="Hexagon 4"/>
          <p:cNvSpPr/>
          <p:nvPr/>
        </p:nvSpPr>
        <p:spPr>
          <a:xfrm>
            <a:off x="972265" y="3772773"/>
            <a:ext cx="639433" cy="73497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endParaRPr lang="en-IN" sz="1500" kern="1200"/>
          </a:p>
        </p:txBody>
      </p:sp>
      <p:cxnSp>
        <p:nvCxnSpPr>
          <p:cNvPr id="198" name="Straight Arrow Connector 197"/>
          <p:cNvCxnSpPr/>
          <p:nvPr/>
        </p:nvCxnSpPr>
        <p:spPr>
          <a:xfrm flipH="1">
            <a:off x="2674956" y="3466532"/>
            <a:ext cx="586853" cy="736979"/>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99" name="Rectangle 198"/>
          <p:cNvSpPr/>
          <p:nvPr/>
        </p:nvSpPr>
        <p:spPr>
          <a:xfrm>
            <a:off x="585732" y="1878378"/>
            <a:ext cx="4619730" cy="5662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chemeClr val="tx2">
                    <a:lumMod val="50000"/>
                  </a:schemeClr>
                </a:solidFill>
              </a:rPr>
              <a:t>PIN Location based Catchment Area</a:t>
            </a:r>
            <a:endParaRPr lang="en-IN" b="1" dirty="0">
              <a:solidFill>
                <a:schemeClr val="tx2">
                  <a:lumMod val="50000"/>
                </a:schemeClr>
              </a:solidFill>
            </a:endParaRPr>
          </a:p>
        </p:txBody>
      </p:sp>
      <p:cxnSp>
        <p:nvCxnSpPr>
          <p:cNvPr id="200" name="Elbow Connector 199"/>
          <p:cNvCxnSpPr/>
          <p:nvPr/>
        </p:nvCxnSpPr>
        <p:spPr>
          <a:xfrm>
            <a:off x="3055424" y="3755462"/>
            <a:ext cx="2459420" cy="602226"/>
          </a:xfrm>
          <a:prstGeom prst="bentConnector3">
            <a:avLst>
              <a:gd name="adj1" fmla="val 82032"/>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01" name="Elbow Connector 200"/>
          <p:cNvCxnSpPr/>
          <p:nvPr/>
        </p:nvCxnSpPr>
        <p:spPr>
          <a:xfrm flipV="1">
            <a:off x="3083560" y="2444626"/>
            <a:ext cx="2439265" cy="573858"/>
          </a:xfrm>
          <a:prstGeom prst="bentConnector3">
            <a:avLst>
              <a:gd name="adj1" fmla="val 82296"/>
            </a:avLst>
          </a:prstGeom>
          <a:ln w="952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07" name="Straight Arrow Connector 206"/>
          <p:cNvCxnSpPr/>
          <p:nvPr/>
        </p:nvCxnSpPr>
        <p:spPr>
          <a:xfrm>
            <a:off x="3398287" y="3515907"/>
            <a:ext cx="303669" cy="687604"/>
          </a:xfrm>
          <a:prstGeom prst="straightConnector1">
            <a:avLst/>
          </a:prstGeom>
          <a:ln>
            <a:prstDash val="dash"/>
            <a:headEnd type="triangle"/>
            <a:tailEnd type="triangle"/>
          </a:ln>
        </p:spPr>
        <p:style>
          <a:lnRef idx="1">
            <a:schemeClr val="dk1"/>
          </a:lnRef>
          <a:fillRef idx="0">
            <a:schemeClr val="dk1"/>
          </a:fillRef>
          <a:effectRef idx="0">
            <a:schemeClr val="dk1"/>
          </a:effectRef>
          <a:fontRef idx="minor">
            <a:schemeClr val="tx1"/>
          </a:fontRef>
        </p:style>
      </p:cxnSp>
      <p:cxnSp>
        <p:nvCxnSpPr>
          <p:cNvPr id="208" name="Elbow Connector 207"/>
          <p:cNvCxnSpPr/>
          <p:nvPr/>
        </p:nvCxnSpPr>
        <p:spPr>
          <a:xfrm>
            <a:off x="3574026" y="3881541"/>
            <a:ext cx="1963863" cy="985210"/>
          </a:xfrm>
          <a:prstGeom prst="bentConnector3">
            <a:avLst>
              <a:gd name="adj1" fmla="val 66476"/>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grpSp>
        <p:nvGrpSpPr>
          <p:cNvPr id="2" name="Group 1"/>
          <p:cNvGrpSpPr/>
          <p:nvPr/>
        </p:nvGrpSpPr>
        <p:grpSpPr>
          <a:xfrm>
            <a:off x="5661818" y="5570634"/>
            <a:ext cx="5952422" cy="1141908"/>
            <a:chOff x="4945488" y="5013233"/>
            <a:chExt cx="5470179" cy="1141908"/>
          </a:xfrm>
        </p:grpSpPr>
        <p:sp>
          <p:nvSpPr>
            <p:cNvPr id="218" name="Rounded Rectangle 217"/>
            <p:cNvSpPr/>
            <p:nvPr/>
          </p:nvSpPr>
          <p:spPr>
            <a:xfrm>
              <a:off x="4945488" y="5013233"/>
              <a:ext cx="5470179" cy="1141908"/>
            </a:xfrm>
            <a:prstGeom prst="roundRect">
              <a:avLst/>
            </a:prstGeom>
            <a:solidFill>
              <a:schemeClr val="accent4">
                <a:lumMod val="20000"/>
                <a:lumOff val="80000"/>
                <a:alpha val="35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smtClean="0">
                  <a:solidFill>
                    <a:schemeClr val="tx1"/>
                  </a:solidFill>
                </a:rPr>
                <a:t>Store Location </a:t>
              </a:r>
            </a:p>
            <a:p>
              <a:r>
                <a:rPr lang="en-IN" dirty="0" smtClean="0">
                  <a:solidFill>
                    <a:schemeClr val="tx1"/>
                  </a:solidFill>
                </a:rPr>
                <a:t>Attractiveness </a:t>
              </a:r>
              <a:endParaRPr lang="en-IN" dirty="0">
                <a:solidFill>
                  <a:schemeClr val="tx1"/>
                </a:solidFill>
              </a:endParaRPr>
            </a:p>
          </p:txBody>
        </p:sp>
        <p:sp>
          <p:nvSpPr>
            <p:cNvPr id="219" name="Oval 218"/>
            <p:cNvSpPr/>
            <p:nvPr/>
          </p:nvSpPr>
          <p:spPr>
            <a:xfrm>
              <a:off x="8643192" y="5390510"/>
              <a:ext cx="512618" cy="425537"/>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B</a:t>
              </a:r>
              <a:endParaRPr lang="en-IN" dirty="0"/>
            </a:p>
          </p:txBody>
        </p:sp>
        <p:sp>
          <p:nvSpPr>
            <p:cNvPr id="225" name="TextBox 224"/>
            <p:cNvSpPr txBox="1"/>
            <p:nvPr/>
          </p:nvSpPr>
          <p:spPr bwMode="gray">
            <a:xfrm>
              <a:off x="8307620" y="5488053"/>
              <a:ext cx="315890" cy="297002"/>
            </a:xfrm>
            <a:prstGeom prst="rect">
              <a:avLst/>
            </a:prstGeom>
            <a:ln>
              <a:noFill/>
            </a:ln>
          </p:spPr>
          <p:txBody>
            <a:bodyPr vert="horz" wrap="square" lIns="91440" tIns="45720" rIns="91440" bIns="45720" rtlCol="0" anchor="ctr">
              <a:noAutofit/>
            </a:bodyPr>
            <a:lstStyle/>
            <a:p>
              <a:r>
                <a:rPr lang="en-IN" sz="2000" dirty="0" smtClean="0"/>
                <a:t>*</a:t>
              </a:r>
            </a:p>
          </p:txBody>
        </p:sp>
        <p:sp>
          <p:nvSpPr>
            <p:cNvPr id="226" name="Oval 225"/>
            <p:cNvSpPr/>
            <p:nvPr/>
          </p:nvSpPr>
          <p:spPr>
            <a:xfrm>
              <a:off x="7750174" y="5371418"/>
              <a:ext cx="512618" cy="425537"/>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A</a:t>
              </a:r>
              <a:endParaRPr lang="en-IN" dirty="0"/>
            </a:p>
          </p:txBody>
        </p:sp>
        <p:sp>
          <p:nvSpPr>
            <p:cNvPr id="227" name="TextBox 226"/>
            <p:cNvSpPr txBox="1"/>
            <p:nvPr/>
          </p:nvSpPr>
          <p:spPr bwMode="gray">
            <a:xfrm>
              <a:off x="9367443" y="5677605"/>
              <a:ext cx="955652" cy="106308"/>
            </a:xfrm>
            <a:prstGeom prst="rect">
              <a:avLst/>
            </a:prstGeom>
            <a:ln>
              <a:noFill/>
            </a:ln>
          </p:spPr>
          <p:txBody>
            <a:bodyPr vert="horz" wrap="square" lIns="91440" tIns="45720" rIns="91440" bIns="45720" rtlCol="0" anchor="ctr">
              <a:noAutofit/>
            </a:bodyPr>
            <a:lstStyle/>
            <a:p>
              <a:r>
                <a:rPr lang="en-IN" sz="800" dirty="0" smtClean="0"/>
                <a:t>across PINs in catchment</a:t>
              </a:r>
            </a:p>
          </p:txBody>
        </p:sp>
        <p:pic>
          <p:nvPicPr>
            <p:cNvPr id="232" name="Picture 231"/>
            <p:cNvPicPr>
              <a:picLocks noChangeAspect="1"/>
            </p:cNvPicPr>
            <p:nvPr/>
          </p:nvPicPr>
          <p:blipFill>
            <a:blip r:embed="rId7">
              <a:clrChange>
                <a:clrFrom>
                  <a:srgbClr val="FFFFFF"/>
                </a:clrFrom>
                <a:clrTo>
                  <a:srgbClr val="FFFFFF">
                    <a:alpha val="0"/>
                  </a:srgbClr>
                </a:clrTo>
              </a:clrChange>
            </a:blip>
            <a:stretch>
              <a:fillRect/>
            </a:stretch>
          </p:blipFill>
          <p:spPr>
            <a:xfrm>
              <a:off x="6924060" y="5340418"/>
              <a:ext cx="525723" cy="525723"/>
            </a:xfrm>
            <a:prstGeom prst="rect">
              <a:avLst/>
            </a:prstGeom>
            <a:ln>
              <a:noFill/>
            </a:ln>
          </p:spPr>
        </p:pic>
      </p:grpSp>
      <p:grpSp>
        <p:nvGrpSpPr>
          <p:cNvPr id="47" name="Group 46"/>
          <p:cNvGrpSpPr/>
          <p:nvPr/>
        </p:nvGrpSpPr>
        <p:grpSpPr>
          <a:xfrm>
            <a:off x="5654260" y="2082017"/>
            <a:ext cx="5959980" cy="1293212"/>
            <a:chOff x="5654260" y="2208627"/>
            <a:chExt cx="5959980" cy="1293212"/>
          </a:xfrm>
        </p:grpSpPr>
        <p:sp>
          <p:nvSpPr>
            <p:cNvPr id="204" name="TextBox 203"/>
            <p:cNvSpPr txBox="1"/>
            <p:nvPr/>
          </p:nvSpPr>
          <p:spPr bwMode="gray">
            <a:xfrm>
              <a:off x="5661818" y="2402422"/>
              <a:ext cx="5588752" cy="362363"/>
            </a:xfrm>
            <a:prstGeom prst="rect">
              <a:avLst/>
            </a:prstGeom>
          </p:spPr>
          <p:txBody>
            <a:bodyPr vert="horz" wrap="square" lIns="91440" tIns="45720" rIns="91440" bIns="45720" rtlCol="0" anchor="ctr">
              <a:noAutofit/>
            </a:bodyPr>
            <a:lstStyle/>
            <a:p>
              <a:r>
                <a:rPr lang="en-IN" sz="2000" dirty="0" smtClean="0"/>
                <a:t>Croma Sales Potential of PIN </a:t>
              </a:r>
            </a:p>
            <a:p>
              <a:r>
                <a:rPr lang="en-IN" sz="2000" dirty="0"/>
                <a:t>	</a:t>
              </a:r>
              <a:r>
                <a:rPr lang="en-IN" sz="1600" dirty="0"/>
                <a:t>	</a:t>
              </a:r>
              <a:endParaRPr lang="en-IN" sz="1600" dirty="0" smtClean="0"/>
            </a:p>
          </p:txBody>
        </p:sp>
        <p:sp>
          <p:nvSpPr>
            <p:cNvPr id="210" name="Oval 209"/>
            <p:cNvSpPr/>
            <p:nvPr/>
          </p:nvSpPr>
          <p:spPr>
            <a:xfrm>
              <a:off x="10794443" y="2852316"/>
              <a:ext cx="512618" cy="425537"/>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A</a:t>
              </a:r>
              <a:endParaRPr lang="en-IN" dirty="0"/>
            </a:p>
          </p:txBody>
        </p:sp>
        <p:sp>
          <p:nvSpPr>
            <p:cNvPr id="26" name="TextBox 25"/>
            <p:cNvSpPr txBox="1"/>
            <p:nvPr/>
          </p:nvSpPr>
          <p:spPr bwMode="gray">
            <a:xfrm>
              <a:off x="5760293" y="2806247"/>
              <a:ext cx="1189148" cy="498920"/>
            </a:xfrm>
            <a:prstGeom prst="rect">
              <a:avLst/>
            </a:prstGeom>
            <a:solidFill>
              <a:schemeClr val="tx2">
                <a:lumMod val="40000"/>
                <a:lumOff val="60000"/>
              </a:schemeClr>
            </a:solidFill>
            <a:ln>
              <a:noFill/>
            </a:ln>
          </p:spPr>
          <p:txBody>
            <a:bodyPr vert="horz" wrap="square" lIns="91440" tIns="45720" rIns="91440" bIns="45720" rtlCol="0" anchor="ctr">
              <a:noAutofit/>
            </a:bodyPr>
            <a:lstStyle/>
            <a:p>
              <a:pPr algn="ctr"/>
              <a:r>
                <a:rPr lang="en-IN" sz="1000" dirty="0" smtClean="0"/>
                <a:t>Aggregated PIN level data</a:t>
              </a:r>
            </a:p>
          </p:txBody>
        </p:sp>
        <p:sp>
          <p:nvSpPr>
            <p:cNvPr id="54" name="TextBox 53"/>
            <p:cNvSpPr txBox="1"/>
            <p:nvPr/>
          </p:nvSpPr>
          <p:spPr bwMode="gray">
            <a:xfrm>
              <a:off x="7572681" y="2817970"/>
              <a:ext cx="1189148" cy="498920"/>
            </a:xfrm>
            <a:prstGeom prst="rect">
              <a:avLst/>
            </a:prstGeom>
            <a:solidFill>
              <a:schemeClr val="tx2">
                <a:lumMod val="40000"/>
                <a:lumOff val="60000"/>
              </a:schemeClr>
            </a:solidFill>
            <a:ln>
              <a:noFill/>
            </a:ln>
          </p:spPr>
          <p:txBody>
            <a:bodyPr vert="horz" wrap="square" lIns="91440" tIns="45720" rIns="91440" bIns="45720" rtlCol="0" anchor="ctr">
              <a:noAutofit/>
            </a:bodyPr>
            <a:lstStyle/>
            <a:p>
              <a:pPr algn="ctr"/>
              <a:r>
                <a:rPr lang="en-IN" sz="1000" dirty="0" smtClean="0"/>
                <a:t>Top 50 Croma PINs</a:t>
              </a:r>
            </a:p>
          </p:txBody>
        </p:sp>
        <p:sp>
          <p:nvSpPr>
            <p:cNvPr id="29" name="Equal 28"/>
            <p:cNvSpPr/>
            <p:nvPr/>
          </p:nvSpPr>
          <p:spPr>
            <a:xfrm>
              <a:off x="8986925" y="2949732"/>
              <a:ext cx="256309" cy="215752"/>
            </a:xfrm>
            <a:prstGeom prst="mathEqual">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6" name="TextBox 55"/>
            <p:cNvSpPr txBox="1"/>
            <p:nvPr/>
          </p:nvSpPr>
          <p:spPr bwMode="gray">
            <a:xfrm>
              <a:off x="9469471" y="2815625"/>
              <a:ext cx="1189148" cy="498920"/>
            </a:xfrm>
            <a:prstGeom prst="rect">
              <a:avLst/>
            </a:prstGeom>
            <a:solidFill>
              <a:schemeClr val="accent1"/>
            </a:solidFill>
            <a:ln>
              <a:noFill/>
            </a:ln>
          </p:spPr>
          <p:txBody>
            <a:bodyPr vert="horz" wrap="square" lIns="91440" tIns="45720" rIns="91440" bIns="45720" rtlCol="0" anchor="ctr">
              <a:noAutofit/>
            </a:bodyPr>
            <a:lstStyle/>
            <a:p>
              <a:pPr algn="ctr"/>
              <a:r>
                <a:rPr lang="en-IN" sz="1000" dirty="0" smtClean="0"/>
                <a:t>PIN level Croma sales potential score</a:t>
              </a:r>
            </a:p>
          </p:txBody>
        </p:sp>
        <p:sp>
          <p:nvSpPr>
            <p:cNvPr id="30" name="Right Arrow 29"/>
            <p:cNvSpPr/>
            <p:nvPr/>
          </p:nvSpPr>
          <p:spPr>
            <a:xfrm>
              <a:off x="7144700" y="2949837"/>
              <a:ext cx="253218" cy="215752"/>
            </a:xfrm>
            <a:prstGeom prst="rightArrow">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41" name="Rectangle 40"/>
            <p:cNvSpPr/>
            <p:nvPr/>
          </p:nvSpPr>
          <p:spPr>
            <a:xfrm>
              <a:off x="5654260" y="2208627"/>
              <a:ext cx="5959980" cy="1293212"/>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42" name="Group 41"/>
          <p:cNvGrpSpPr/>
          <p:nvPr/>
        </p:nvGrpSpPr>
        <p:grpSpPr>
          <a:xfrm>
            <a:off x="5654260" y="3652351"/>
            <a:ext cx="5967538" cy="1527981"/>
            <a:chOff x="5654260" y="3567945"/>
            <a:chExt cx="5967538" cy="1527981"/>
          </a:xfrm>
        </p:grpSpPr>
        <p:sp>
          <p:nvSpPr>
            <p:cNvPr id="205" name="TextBox 204"/>
            <p:cNvSpPr txBox="1"/>
            <p:nvPr/>
          </p:nvSpPr>
          <p:spPr bwMode="gray">
            <a:xfrm>
              <a:off x="5654260" y="3567945"/>
              <a:ext cx="5553017" cy="550787"/>
            </a:xfrm>
            <a:prstGeom prst="rect">
              <a:avLst/>
            </a:prstGeom>
          </p:spPr>
          <p:txBody>
            <a:bodyPr vert="horz" wrap="square" lIns="91440" tIns="45720" rIns="91440" bIns="45720" rtlCol="0" anchor="ctr">
              <a:noAutofit/>
            </a:bodyPr>
            <a:lstStyle/>
            <a:p>
              <a:r>
                <a:rPr lang="en-IN" sz="2000" dirty="0" smtClean="0"/>
                <a:t>Probability of Store Visit from PIN</a:t>
              </a:r>
            </a:p>
          </p:txBody>
        </p:sp>
        <p:sp>
          <p:nvSpPr>
            <p:cNvPr id="211" name="Oval 210"/>
            <p:cNvSpPr/>
            <p:nvPr/>
          </p:nvSpPr>
          <p:spPr>
            <a:xfrm>
              <a:off x="10794443" y="4205862"/>
              <a:ext cx="512618" cy="425537"/>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B</a:t>
              </a:r>
            </a:p>
          </p:txBody>
        </p:sp>
        <p:sp>
          <p:nvSpPr>
            <p:cNvPr id="62" name="TextBox 61"/>
            <p:cNvSpPr txBox="1"/>
            <p:nvPr/>
          </p:nvSpPr>
          <p:spPr bwMode="gray">
            <a:xfrm>
              <a:off x="6005010" y="4140262"/>
              <a:ext cx="2583630" cy="266040"/>
            </a:xfrm>
            <a:prstGeom prst="rect">
              <a:avLst/>
            </a:prstGeom>
            <a:solidFill>
              <a:schemeClr val="tx2">
                <a:lumMod val="40000"/>
                <a:lumOff val="60000"/>
              </a:schemeClr>
            </a:solidFill>
            <a:ln>
              <a:noFill/>
            </a:ln>
          </p:spPr>
          <p:txBody>
            <a:bodyPr vert="horz" wrap="square" lIns="91440" tIns="45720" rIns="91440" bIns="45720" rtlCol="0" anchor="ctr">
              <a:noAutofit/>
            </a:bodyPr>
            <a:lstStyle/>
            <a:p>
              <a:pPr algn="ctr"/>
              <a:r>
                <a:rPr lang="en-IN" sz="1000" dirty="0" smtClean="0"/>
                <a:t>Driving distance to Store Location PIN</a:t>
              </a:r>
            </a:p>
          </p:txBody>
        </p:sp>
        <p:sp>
          <p:nvSpPr>
            <p:cNvPr id="63" name="TextBox 62"/>
            <p:cNvSpPr txBox="1"/>
            <p:nvPr/>
          </p:nvSpPr>
          <p:spPr bwMode="gray">
            <a:xfrm>
              <a:off x="6015506" y="4608873"/>
              <a:ext cx="2573133" cy="417273"/>
            </a:xfrm>
            <a:prstGeom prst="rect">
              <a:avLst/>
            </a:prstGeom>
            <a:solidFill>
              <a:schemeClr val="tx2">
                <a:lumMod val="40000"/>
                <a:lumOff val="60000"/>
              </a:schemeClr>
            </a:solidFill>
            <a:ln>
              <a:noFill/>
            </a:ln>
          </p:spPr>
          <p:txBody>
            <a:bodyPr vert="horz" wrap="square" lIns="91440" tIns="45720" rIns="91440" bIns="45720" rtlCol="0" anchor="ctr">
              <a:noAutofit/>
            </a:bodyPr>
            <a:lstStyle/>
            <a:p>
              <a:pPr algn="ctr"/>
              <a:r>
                <a:rPr lang="en-IN" sz="1000" dirty="0" smtClean="0"/>
                <a:t>Driving Distance to other store/competitor PINs</a:t>
              </a:r>
            </a:p>
          </p:txBody>
        </p:sp>
        <p:sp>
          <p:nvSpPr>
            <p:cNvPr id="65" name="TextBox 64"/>
            <p:cNvSpPr txBox="1"/>
            <p:nvPr/>
          </p:nvSpPr>
          <p:spPr bwMode="gray">
            <a:xfrm>
              <a:off x="9469471" y="4169170"/>
              <a:ext cx="1189148" cy="498920"/>
            </a:xfrm>
            <a:prstGeom prst="rect">
              <a:avLst/>
            </a:prstGeom>
            <a:solidFill>
              <a:schemeClr val="accent1"/>
            </a:solidFill>
            <a:ln>
              <a:noFill/>
            </a:ln>
          </p:spPr>
          <p:txBody>
            <a:bodyPr vert="horz" wrap="square" lIns="91440" tIns="45720" rIns="91440" bIns="45720" rtlCol="0" anchor="ctr">
              <a:noAutofit/>
            </a:bodyPr>
            <a:lstStyle/>
            <a:p>
              <a:pPr algn="ctr"/>
              <a:r>
                <a:rPr lang="en-IN" sz="1000" dirty="0" smtClean="0"/>
                <a:t>PIN level probability of Store Visit</a:t>
              </a:r>
            </a:p>
          </p:txBody>
        </p:sp>
        <p:cxnSp>
          <p:nvCxnSpPr>
            <p:cNvPr id="36" name="Straight Arrow Connector 35"/>
            <p:cNvCxnSpPr/>
            <p:nvPr/>
          </p:nvCxnSpPr>
          <p:spPr>
            <a:xfrm>
              <a:off x="8689081" y="4273282"/>
              <a:ext cx="707642" cy="0"/>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38" name="Elbow Connector 37"/>
            <p:cNvCxnSpPr/>
            <p:nvPr/>
          </p:nvCxnSpPr>
          <p:spPr>
            <a:xfrm flipV="1">
              <a:off x="8712568" y="4426867"/>
              <a:ext cx="684155" cy="355478"/>
            </a:xfrm>
            <a:prstGeom prst="bentConnector3">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74" name="Rectangle 73"/>
            <p:cNvSpPr/>
            <p:nvPr/>
          </p:nvSpPr>
          <p:spPr>
            <a:xfrm>
              <a:off x="5661818" y="3657739"/>
              <a:ext cx="5959980" cy="1438187"/>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27223985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dirty="0" smtClean="0"/>
              <a:t>Probability of Visit</a:t>
            </a:r>
            <a:endParaRPr lang="en-IN" dirty="0"/>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15</a:t>
            </a:fld>
            <a:endParaRPr lang="en-US" dirty="0">
              <a:solidFill>
                <a:srgbClr val="0E5580"/>
              </a:solidFill>
            </a:endParaRPr>
          </a:p>
        </p:txBody>
      </p:sp>
      <p:sp>
        <p:nvSpPr>
          <p:cNvPr id="10" name="Rounded Rectangle 9"/>
          <p:cNvSpPr/>
          <p:nvPr/>
        </p:nvSpPr>
        <p:spPr>
          <a:xfrm>
            <a:off x="438204" y="4765330"/>
            <a:ext cx="11113180" cy="309015"/>
          </a:xfrm>
          <a:prstGeom prst="roundRect">
            <a:avLst/>
          </a:prstGeom>
          <a:solidFill>
            <a:srgbClr val="5B9BD5"/>
          </a:solidFill>
          <a:ln w="12700" cap="flat" cmpd="sng" algn="ctr">
            <a:solidFill>
              <a:srgbClr val="5B9BD5">
                <a:shade val="50000"/>
              </a:srgbClr>
            </a:solidFill>
            <a:prstDash val="solid"/>
            <a:miter lim="800000"/>
          </a:ln>
          <a:effectLst/>
        </p:spPr>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800" kern="0" dirty="0" smtClean="0">
                <a:solidFill>
                  <a:sysClr val="window" lastClr="FFFFFF"/>
                </a:solidFill>
                <a:latin typeface="Calibri" panose="020F0502020204030204"/>
              </a:rPr>
              <a:t>Framework</a:t>
            </a:r>
            <a:endParaRPr kumimoji="0" lang="en-IN" sz="1800" b="0" i="0" u="none" strike="noStrike" kern="0" cap="none" spc="0" normalizeH="0" baseline="0" noProof="0" dirty="0">
              <a:ln>
                <a:noFill/>
              </a:ln>
              <a:solidFill>
                <a:sysClr val="window" lastClr="FFFFFF"/>
              </a:solidFill>
              <a:effectLst/>
              <a:uLnTx/>
              <a:uFillTx/>
              <a:latin typeface="Calibri" panose="020F0502020204030204"/>
              <a:ea typeface="+mn-ea"/>
              <a:cs typeface="+mn-cs"/>
            </a:endParaRPr>
          </a:p>
        </p:txBody>
      </p:sp>
      <p:graphicFrame>
        <p:nvGraphicFramePr>
          <p:cNvPr id="12" name="Table 11"/>
          <p:cNvGraphicFramePr>
            <a:graphicFrameLocks noGrp="1"/>
          </p:cNvGraphicFramePr>
          <p:nvPr>
            <p:extLst/>
          </p:nvPr>
        </p:nvGraphicFramePr>
        <p:xfrm>
          <a:off x="428757" y="5155380"/>
          <a:ext cx="11113183" cy="1508760"/>
        </p:xfrm>
        <a:graphic>
          <a:graphicData uri="http://schemas.openxmlformats.org/drawingml/2006/table">
            <a:tbl>
              <a:tblPr/>
              <a:tblGrid>
                <a:gridCol w="1089684"/>
                <a:gridCol w="684774"/>
                <a:gridCol w="684774"/>
                <a:gridCol w="684774"/>
                <a:gridCol w="684774"/>
                <a:gridCol w="684774"/>
                <a:gridCol w="684774"/>
                <a:gridCol w="675326"/>
                <a:gridCol w="694221"/>
                <a:gridCol w="684774"/>
                <a:gridCol w="684774"/>
                <a:gridCol w="635152"/>
                <a:gridCol w="635152"/>
                <a:gridCol w="635152"/>
                <a:gridCol w="635152"/>
                <a:gridCol w="635152"/>
              </a:tblGrid>
              <a:tr h="376317">
                <a:tc>
                  <a:txBody>
                    <a:bodyPr/>
                    <a:lstStyle/>
                    <a:p>
                      <a:pPr algn="ctr" fontAlgn="ctr"/>
                      <a:r>
                        <a:rPr lang="en-IN" sz="1100" b="0" i="0" u="none" strike="noStrike" dirty="0">
                          <a:solidFill>
                            <a:srgbClr val="000000"/>
                          </a:solidFill>
                          <a:effectLst/>
                          <a:latin typeface="Calibri" panose="020F0502020204030204" pitchFamily="34" charset="0"/>
                        </a:rPr>
                        <a:t>All PINs in Hyderabad District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dirty="0">
                          <a:solidFill>
                            <a:srgbClr val="000000"/>
                          </a:solidFill>
                          <a:effectLst/>
                          <a:latin typeface="Calibri" panose="020F0502020204030204" pitchFamily="34" charset="0"/>
                        </a:rPr>
                        <a:t>Planned </a:t>
                      </a:r>
                      <a:r>
                        <a:rPr lang="en-IN" sz="1100" b="0" i="0" u="none" strike="noStrike" dirty="0" err="1">
                          <a:solidFill>
                            <a:srgbClr val="000000"/>
                          </a:solidFill>
                          <a:effectLst/>
                          <a:latin typeface="Calibri" panose="020F0502020204030204" pitchFamily="34" charset="0"/>
                        </a:rPr>
                        <a:t>Croma</a:t>
                      </a:r>
                      <a:r>
                        <a:rPr lang="en-IN" sz="1100" b="0" i="0" u="none" strike="noStrike" dirty="0">
                          <a:solidFill>
                            <a:srgbClr val="000000"/>
                          </a:solidFill>
                          <a:effectLst/>
                          <a:latin typeface="Calibri" panose="020F0502020204030204" pitchFamily="34" charset="0"/>
                        </a:rPr>
                        <a:t> Store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dirty="0">
                          <a:solidFill>
                            <a:srgbClr val="000000"/>
                          </a:solidFill>
                          <a:effectLst/>
                          <a:latin typeface="Calibri" panose="020F0502020204030204" pitchFamily="34" charset="0"/>
                        </a:rPr>
                        <a:t>Planned </a:t>
                      </a:r>
                      <a:r>
                        <a:rPr lang="en-IN" sz="1100" b="0" i="0" u="none" strike="noStrike" dirty="0" err="1">
                          <a:solidFill>
                            <a:srgbClr val="000000"/>
                          </a:solidFill>
                          <a:effectLst/>
                          <a:latin typeface="Calibri" panose="020F0502020204030204" pitchFamily="34" charset="0"/>
                        </a:rPr>
                        <a:t>Croma</a:t>
                      </a:r>
                      <a:r>
                        <a:rPr lang="en-IN" sz="1100" b="0" i="0" u="none" strike="noStrike" dirty="0">
                          <a:solidFill>
                            <a:srgbClr val="000000"/>
                          </a:solidFill>
                          <a:effectLst/>
                          <a:latin typeface="Calibri" panose="020F0502020204030204" pitchFamily="34" charset="0"/>
                        </a:rPr>
                        <a:t> Store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dirty="0">
                          <a:solidFill>
                            <a:srgbClr val="000000"/>
                          </a:solidFill>
                          <a:effectLst/>
                          <a:latin typeface="Calibri" panose="020F0502020204030204" pitchFamily="34" charset="0"/>
                        </a:rPr>
                        <a:t>Planned </a:t>
                      </a:r>
                      <a:r>
                        <a:rPr lang="en-IN" sz="1100" b="0" i="0" u="none" strike="noStrike" dirty="0" err="1">
                          <a:solidFill>
                            <a:srgbClr val="000000"/>
                          </a:solidFill>
                          <a:effectLst/>
                          <a:latin typeface="Calibri" panose="020F0502020204030204" pitchFamily="34" charset="0"/>
                        </a:rPr>
                        <a:t>Croma</a:t>
                      </a:r>
                      <a:r>
                        <a:rPr lang="en-IN" sz="1100" b="0" i="0" u="none" strike="noStrike" dirty="0">
                          <a:solidFill>
                            <a:srgbClr val="000000"/>
                          </a:solidFill>
                          <a:effectLst/>
                          <a:latin typeface="Calibri" panose="020F0502020204030204" pitchFamily="34" charset="0"/>
                        </a:rPr>
                        <a:t> Store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a:solidFill>
                            <a:srgbClr val="000000"/>
                          </a:solidFill>
                          <a:effectLst/>
                          <a:latin typeface="Calibri" panose="020F0502020204030204" pitchFamily="34" charset="0"/>
                        </a:rPr>
                        <a:t>Croma Store 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dirty="0" err="1" smtClean="0">
                          <a:solidFill>
                            <a:srgbClr val="000000"/>
                          </a:solidFill>
                          <a:effectLst/>
                          <a:latin typeface="Calibri" panose="020F0502020204030204" pitchFamily="34" charset="0"/>
                        </a:rPr>
                        <a:t>Croma</a:t>
                      </a:r>
                      <a:r>
                        <a:rPr lang="en-IN" sz="1100" b="0" i="0" u="none" strike="noStrike" dirty="0" smtClean="0">
                          <a:solidFill>
                            <a:srgbClr val="000000"/>
                          </a:solidFill>
                          <a:effectLst/>
                          <a:latin typeface="Calibri" panose="020F0502020204030204" pitchFamily="34" charset="0"/>
                        </a:rPr>
                        <a:t> Store 5</a:t>
                      </a:r>
                      <a:endParaRPr lang="en-IN"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dirty="0">
                          <a:solidFill>
                            <a:srgbClr val="000000"/>
                          </a:solidFill>
                          <a:effectLst/>
                          <a:latin typeface="Calibri" panose="020F0502020204030204" pitchFamily="34" charset="0"/>
                        </a:rPr>
                        <a:t>Competitor Store </a:t>
                      </a:r>
                      <a:r>
                        <a:rPr lang="en-IN" sz="1100" b="0" i="0" u="none" strike="noStrike" dirty="0" smtClean="0">
                          <a:solidFill>
                            <a:srgbClr val="000000"/>
                          </a:solidFill>
                          <a:effectLst/>
                          <a:latin typeface="Calibri" panose="020F0502020204030204" pitchFamily="34" charset="0"/>
                        </a:rPr>
                        <a:t>1</a:t>
                      </a:r>
                      <a:endParaRPr lang="en-IN"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dirty="0">
                          <a:solidFill>
                            <a:srgbClr val="000000"/>
                          </a:solidFill>
                          <a:effectLst/>
                          <a:latin typeface="Calibri" panose="020F0502020204030204" pitchFamily="34" charset="0"/>
                        </a:rPr>
                        <a:t>Competitor Store </a:t>
                      </a:r>
                      <a:r>
                        <a:rPr lang="en-IN" sz="1100" b="0" i="0" u="none" strike="noStrike" dirty="0" smtClean="0">
                          <a:solidFill>
                            <a:srgbClr val="000000"/>
                          </a:solidFill>
                          <a:effectLst/>
                          <a:latin typeface="Calibri" panose="020F0502020204030204" pitchFamily="34" charset="0"/>
                        </a:rPr>
                        <a:t>2</a:t>
                      </a:r>
                      <a:endParaRPr lang="en-IN"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dirty="0">
                          <a:solidFill>
                            <a:srgbClr val="000000"/>
                          </a:solidFill>
                          <a:effectLst/>
                          <a:latin typeface="Calibri" panose="020F0502020204030204" pitchFamily="34" charset="0"/>
                        </a:rPr>
                        <a:t>Competitor Store </a:t>
                      </a:r>
                      <a:r>
                        <a:rPr lang="en-IN" sz="1100" b="0" i="0" u="none" strike="noStrike" dirty="0" smtClean="0">
                          <a:solidFill>
                            <a:srgbClr val="000000"/>
                          </a:solidFill>
                          <a:effectLst/>
                          <a:latin typeface="Calibri" panose="020F0502020204030204" pitchFamily="34" charset="0"/>
                        </a:rPr>
                        <a:t>3</a:t>
                      </a:r>
                      <a:endParaRPr lang="en-IN"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dirty="0">
                          <a:solidFill>
                            <a:srgbClr val="000000"/>
                          </a:solidFill>
                          <a:effectLst/>
                          <a:latin typeface="Calibri" panose="020F0502020204030204" pitchFamily="34" charset="0"/>
                        </a:rPr>
                        <a:t>Remainder PINs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IN"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a:solidFill>
                            <a:srgbClr val="000000"/>
                          </a:solidFill>
                          <a:effectLst/>
                          <a:latin typeface="Calibri" panose="020F0502020204030204" pitchFamily="34" charset="0"/>
                        </a:rPr>
                        <a:t>Remainder PINS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a:solidFill>
                            <a:srgbClr val="000000"/>
                          </a:solidFill>
                          <a:effectLst/>
                          <a:latin typeface="Calibri" panose="020F0502020204030204" pitchFamily="34" charset="0"/>
                        </a:rPr>
                        <a:t>Remainder PINs .. 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25439">
                <a:tc>
                  <a:txBody>
                    <a:bodyPr/>
                    <a:lstStyle/>
                    <a:p>
                      <a:pPr algn="ctr" fontAlgn="ctr"/>
                      <a:r>
                        <a:rPr lang="en-IN" sz="1100" b="0" i="0" u="none" strike="noStrike">
                          <a:solidFill>
                            <a:srgbClr val="000000"/>
                          </a:solidFill>
                          <a:effectLst/>
                          <a:latin typeface="Calibri" panose="020F0502020204030204" pitchFamily="34" charset="0"/>
                        </a:rPr>
                        <a:t> Area/Store PINs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a:solidFill>
                            <a:srgbClr val="000000"/>
                          </a:solidFill>
                          <a:effectLst/>
                          <a:latin typeface="Calibri" panose="020F0502020204030204" pitchFamily="34" charset="0"/>
                        </a:rPr>
                        <a:t>PIN P1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dirty="0">
                          <a:solidFill>
                            <a:srgbClr val="000000"/>
                          </a:solidFill>
                          <a:effectLst/>
                          <a:latin typeface="Calibri" panose="020F0502020204030204" pitchFamily="34" charset="0"/>
                        </a:rPr>
                        <a:t>PIN P2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a:solidFill>
                            <a:srgbClr val="000000"/>
                          </a:solidFill>
                          <a:effectLst/>
                          <a:latin typeface="Calibri" panose="020F0502020204030204" pitchFamily="34" charset="0"/>
                        </a:rPr>
                        <a:t>PIN P5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a:solidFill>
                            <a:srgbClr val="000000"/>
                          </a:solidFill>
                          <a:effectLst/>
                          <a:latin typeface="Calibri" panose="020F0502020204030204" pitchFamily="34" charset="0"/>
                        </a:rPr>
                        <a:t>PIN P6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dirty="0">
                          <a:solidFill>
                            <a:srgbClr val="000000"/>
                          </a:solidFill>
                          <a:effectLst/>
                          <a:latin typeface="Calibri" panose="020F0502020204030204" pitchFamily="34" charset="0"/>
                        </a:rPr>
                        <a:t>PIN </a:t>
                      </a:r>
                      <a:r>
                        <a:rPr lang="en-IN" sz="1100" b="0" i="0" u="none" strike="noStrike" dirty="0" smtClean="0">
                          <a:solidFill>
                            <a:srgbClr val="000000"/>
                          </a:solidFill>
                          <a:effectLst/>
                          <a:latin typeface="Calibri" panose="020F0502020204030204" pitchFamily="34" charset="0"/>
                        </a:rPr>
                        <a:t>P10</a:t>
                      </a:r>
                      <a:endParaRPr lang="en-IN"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a:solidFill>
                            <a:srgbClr val="000000"/>
                          </a:solidFill>
                          <a:effectLst/>
                          <a:latin typeface="Calibri" panose="020F0502020204030204" pitchFamily="34" charset="0"/>
                        </a:rPr>
                        <a:t>PIN P10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dirty="0">
                          <a:solidFill>
                            <a:srgbClr val="000000"/>
                          </a:solidFill>
                          <a:effectLst/>
                          <a:latin typeface="Calibri" panose="020F0502020204030204" pitchFamily="34" charset="0"/>
                        </a:rPr>
                        <a:t>PIN P11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dirty="0">
                          <a:solidFill>
                            <a:srgbClr val="000000"/>
                          </a:solidFill>
                          <a:effectLst/>
                          <a:latin typeface="Calibri" panose="020F0502020204030204" pitchFamily="34" charset="0"/>
                        </a:rPr>
                        <a:t>PIN P11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dirty="0">
                          <a:solidFill>
                            <a:srgbClr val="000000"/>
                          </a:solidFill>
                          <a:effectLst/>
                          <a:latin typeface="Calibri" panose="020F0502020204030204" pitchFamily="34" charset="0"/>
                        </a:rPr>
                        <a:t>PIN P12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IN"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a:solidFill>
                            <a:srgbClr val="000000"/>
                          </a:solidFill>
                          <a:effectLst/>
                          <a:latin typeface="Calibri" panose="020F0502020204030204" pitchFamily="34" charset="0"/>
                        </a:rPr>
                        <a:t>PIN P13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a:solidFill>
                            <a:srgbClr val="000000"/>
                          </a:solidFill>
                          <a:effectLst/>
                          <a:latin typeface="Calibri" panose="020F0502020204030204" pitchFamily="34" charset="0"/>
                        </a:rPr>
                        <a:t>PIN Pn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25439">
                <a:tc>
                  <a:txBody>
                    <a:bodyPr/>
                    <a:lstStyle/>
                    <a:p>
                      <a:pPr algn="ctr" fontAlgn="b"/>
                      <a:r>
                        <a:rPr lang="en-IN" sz="1100" b="0" i="0" u="none" strike="noStrike">
                          <a:solidFill>
                            <a:srgbClr val="000000"/>
                          </a:solidFill>
                          <a:effectLst/>
                          <a:latin typeface="Calibri" panose="020F0502020204030204" pitchFamily="34" charset="0"/>
                        </a:rPr>
                        <a:t>PIN 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r>
                        <a:rPr lang="en-IN" sz="1100" b="0" i="0" u="none" strike="noStrike">
                          <a:solidFill>
                            <a:srgbClr val="000000"/>
                          </a:solidFill>
                          <a:effectLst/>
                          <a:latin typeface="Calibri" panose="020F0502020204030204" pitchFamily="34" charset="0"/>
                        </a:rPr>
                        <a:t>pp1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r>
                        <a:rPr lang="en-IN" sz="1100" b="0" i="0" u="none" strike="noStrike">
                          <a:solidFill>
                            <a:srgbClr val="000000"/>
                          </a:solidFill>
                          <a:effectLst/>
                          <a:latin typeface="Calibri" panose="020F0502020204030204" pitchFamily="34" charset="0"/>
                        </a:rPr>
                        <a:t>pp2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r>
                        <a:rPr lang="en-IN" sz="1100" b="0" i="0" u="none" strike="noStrike" dirty="0">
                          <a:solidFill>
                            <a:srgbClr val="000000"/>
                          </a:solidFill>
                          <a:effectLst/>
                          <a:latin typeface="Calibri" panose="020F0502020204030204" pitchFamily="34" charset="0"/>
                        </a:rPr>
                        <a: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r>
                        <a:rPr lang="en-IN" sz="1100" b="0" i="0" u="none" strike="noStrike" dirty="0">
                          <a:solidFill>
                            <a:srgbClr val="000000"/>
                          </a:solidFill>
                          <a:effectLst/>
                          <a:latin typeface="Calibri" panose="020F0502020204030204" pitchFamily="34" charset="0"/>
                        </a:rPr>
                        <a:t>pp5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r>
                        <a:rPr lang="en-IN" sz="1100" b="0" i="0" u="none" strike="noStrike" dirty="0">
                          <a:solidFill>
                            <a:srgbClr val="000000"/>
                          </a:solidFill>
                          <a:effectLst/>
                          <a:latin typeface="Calibri" panose="020F0502020204030204" pitchFamily="34" charset="0"/>
                        </a:rPr>
                        <a:t>pp6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r>
                        <a:rPr lang="en-IN" sz="1100" b="0" i="0" u="none" strike="noStrike" dirty="0">
                          <a:solidFill>
                            <a:srgbClr val="000000"/>
                          </a:solidFill>
                          <a:effectLst/>
                          <a:latin typeface="Calibri" panose="020F0502020204030204" pitchFamily="34" charset="0"/>
                        </a:rPr>
                        <a: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r>
                        <a:rPr lang="en-IN" sz="1100" b="0" i="0" u="none" strike="noStrike" dirty="0" smtClean="0">
                          <a:solidFill>
                            <a:srgbClr val="000000"/>
                          </a:solidFill>
                          <a:effectLst/>
                          <a:latin typeface="Calibri" panose="020F0502020204030204" pitchFamily="34" charset="0"/>
                        </a:rPr>
                        <a:t>pp10</a:t>
                      </a:r>
                      <a:endParaRPr lang="en-IN" sz="1100" b="0" i="0" u="none" strike="noStrike" dirty="0">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r>
                        <a:rPr lang="en-IN" sz="1100" b="0" i="0" u="none" strike="noStrike">
                          <a:solidFill>
                            <a:srgbClr val="000000"/>
                          </a:solidFill>
                          <a:effectLst/>
                          <a:latin typeface="Calibri" panose="020F0502020204030204" pitchFamily="34" charset="0"/>
                        </a:rPr>
                        <a:t>pp10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r>
                        <a:rPr lang="en-IN" sz="1100" b="0" i="0" u="none" strike="noStrike" dirty="0">
                          <a:solidFill>
                            <a:srgbClr val="000000"/>
                          </a:solidFill>
                          <a:effectLst/>
                          <a:latin typeface="Calibri" panose="020F0502020204030204" pitchFamily="34" charset="0"/>
                        </a:rPr>
                        <a:t>pp11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r>
                        <a:rPr lang="en-IN" sz="1100" b="0" i="0" u="none" strike="noStrike" dirty="0">
                          <a:solidFill>
                            <a:srgbClr val="000000"/>
                          </a:solidFill>
                          <a:effectLst/>
                          <a:latin typeface="Calibri" panose="020F0502020204030204" pitchFamily="34" charset="0"/>
                        </a:rPr>
                        <a:t>pp11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r>
                        <a:rPr lang="en-IN" sz="1100" b="0" i="0" u="none" strike="noStrike" dirty="0">
                          <a:solidFill>
                            <a:srgbClr val="000000"/>
                          </a:solidFill>
                          <a:effectLst/>
                          <a:latin typeface="Calibri" panose="020F0502020204030204" pitchFamily="34" charset="0"/>
                        </a:rPr>
                        <a:t>pp12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endParaRPr lang="en-IN" sz="1100" b="0" i="0" u="none" strike="noStrike" dirty="0">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r>
                        <a:rPr lang="en-IN" sz="1100" b="0" i="0" u="none" strike="noStrike">
                          <a:solidFill>
                            <a:srgbClr val="000000"/>
                          </a:solidFill>
                          <a:effectLst/>
                          <a:latin typeface="Calibri" panose="020F0502020204030204" pitchFamily="34" charset="0"/>
                        </a:rPr>
                        <a:t>pp13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r>
                        <a:rPr lang="en-IN" sz="1100" b="0" i="0" u="none" strike="noStrike" dirty="0">
                          <a:solidFill>
                            <a:srgbClr val="000000"/>
                          </a:solidFill>
                          <a:effectLst/>
                          <a:latin typeface="Calibri" panose="020F0502020204030204" pitchFamily="34" charset="0"/>
                        </a:rPr>
                        <a: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r>
                        <a:rPr lang="en-IN" sz="1100" b="0" i="0" u="none" strike="noStrike">
                          <a:solidFill>
                            <a:srgbClr val="000000"/>
                          </a:solidFill>
                          <a:effectLst/>
                          <a:latin typeface="Calibri" panose="020F0502020204030204" pitchFamily="34" charset="0"/>
                        </a:rPr>
                        <a:t>ppn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125439">
                <a:tc>
                  <a:txBody>
                    <a:bodyPr/>
                    <a:lstStyle/>
                    <a:p>
                      <a:pPr algn="ctr" fontAlgn="b"/>
                      <a:r>
                        <a:rPr lang="en-IN" sz="1100" b="0" i="0" u="none" strike="noStrike">
                          <a:solidFill>
                            <a:srgbClr val="000000"/>
                          </a:solidFill>
                          <a:effectLst/>
                          <a:latin typeface="Calibri" panose="020F0502020204030204" pitchFamily="34" charset="0"/>
                        </a:rPr>
                        <a:t>PIN 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IN"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IN"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IN" sz="1100" b="0" i="0" u="none" strike="noStrike" dirty="0">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IN" sz="1100" b="0" i="0" u="none" strike="noStrike" dirty="0">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IN" sz="1100" b="0" i="0" u="none" strike="noStrike" dirty="0">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IN" sz="1100" b="0" i="0" u="none" strike="noStrike" dirty="0">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IN" sz="1100" b="0" i="0" u="none" strike="noStrike" dirty="0">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IN" sz="11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IN" sz="1100" b="0" i="0" u="none" strike="noStrike" dirty="0">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IN" sz="1100" b="0" i="0" u="none" strike="noStrike" dirty="0">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IN" sz="1100" b="0" i="0" u="none" strike="noStrike" dirty="0">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endParaRPr lang="en-IN"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IN" sz="11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IN" sz="1100" b="0" i="0" u="none" strike="noStrike" dirty="0">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IN" sz="11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r>
              <a:tr h="125439">
                <a:tc>
                  <a:txBody>
                    <a:bodyPr/>
                    <a:lstStyle/>
                    <a:p>
                      <a:pPr algn="ctr" fontAlgn="b"/>
                      <a:r>
                        <a:rPr lang="en-IN" sz="1100" b="0" i="0" u="none" strike="noStrike">
                          <a:solidFill>
                            <a:srgbClr val="000000"/>
                          </a:solidFill>
                          <a:effectLst/>
                          <a:latin typeface="Calibri" panose="020F0502020204030204" pitchFamily="34" charset="0"/>
                        </a:rPr>
                        <a: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IN"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IN"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IN" sz="1100" b="0" i="0" u="none" strike="noStrike" dirty="0">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IN" sz="1100" b="0" i="0" u="none" strike="noStrike" dirty="0">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IN" sz="11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IN" sz="1100" b="0" i="0" u="none" strike="noStrike" dirty="0">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IN" sz="11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IN" sz="1100" b="0" i="0" u="none" strike="noStrike" dirty="0">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IN" sz="1100" b="0" i="0" u="none" strike="noStrike" dirty="0">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IN" sz="1100" b="0" i="0" u="none" strike="noStrike" dirty="0">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IN" sz="1100" b="0" i="0" u="none" strike="noStrike" dirty="0">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endParaRPr lang="en-IN"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IN" sz="1100" b="0" i="0" u="none" strike="noStrike" dirty="0">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IN" sz="1100" b="0" i="0" u="none" strike="noStrike" dirty="0">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IN" sz="11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r>
              <a:tr h="125439">
                <a:tc>
                  <a:txBody>
                    <a:bodyPr/>
                    <a:lstStyle/>
                    <a:p>
                      <a:pPr algn="ctr" fontAlgn="b"/>
                      <a:r>
                        <a:rPr lang="en-IN" sz="1100" b="0" i="0" u="none" strike="noStrike" dirty="0">
                          <a:solidFill>
                            <a:srgbClr val="000000"/>
                          </a:solidFill>
                          <a:effectLst/>
                          <a:latin typeface="Calibri" panose="020F0502020204030204" pitchFamily="34" charset="0"/>
                        </a:rPr>
                        <a: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IN"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IN"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IN" sz="1100" b="0" i="0" u="none" strike="noStrike" dirty="0">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IN"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IN" sz="11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IN" sz="1100" b="0" i="0" u="none" strike="noStrike" dirty="0">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IN" sz="11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IN" sz="11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IN" sz="1100" b="0" i="0" u="none" strike="noStrike" dirty="0">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IN" sz="1100" b="0" i="0" u="none" strike="noStrike" dirty="0">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IN" sz="1100" b="0" i="0" u="none" strike="noStrike" dirty="0">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endParaRPr lang="en-IN"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IN" sz="11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IN" sz="1100" b="0" i="0" u="none" strike="noStrike" dirty="0">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IN" sz="1100" b="0" i="0" u="none" strike="noStrike" dirty="0">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r>
              <a:tr h="125439">
                <a:tc>
                  <a:txBody>
                    <a:bodyPr/>
                    <a:lstStyle/>
                    <a:p>
                      <a:pPr algn="ctr" fontAlgn="b"/>
                      <a:r>
                        <a:rPr lang="en-IN" sz="1100" b="0" i="0" u="none" strike="noStrike">
                          <a:solidFill>
                            <a:srgbClr val="000000"/>
                          </a:solidFill>
                          <a:effectLst/>
                          <a:latin typeface="Calibri" panose="020F0502020204030204" pitchFamily="34" charset="0"/>
                        </a:rPr>
                        <a:t>PIN 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dirty="0">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dirty="0">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dirty="0">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dirty="0">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dirty="0">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dirty="0">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dirty="0">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ctr"/>
                      <a:endParaRPr lang="en-IN" sz="11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dirty="0">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dirty="0">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dirty="0">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
        <p:nvSpPr>
          <p:cNvPr id="16" name="Oval 15"/>
          <p:cNvSpPr/>
          <p:nvPr/>
        </p:nvSpPr>
        <p:spPr>
          <a:xfrm>
            <a:off x="2849574" y="2513588"/>
            <a:ext cx="914400" cy="914400"/>
          </a:xfrm>
          <a:prstGeom prst="ellips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tx2">
                    <a:lumMod val="50000"/>
                  </a:schemeClr>
                </a:solidFill>
              </a:rPr>
              <a:t>Pin 1</a:t>
            </a:r>
            <a:endParaRPr lang="en-IN" dirty="0">
              <a:solidFill>
                <a:schemeClr val="tx2">
                  <a:lumMod val="50000"/>
                </a:schemeClr>
              </a:solidFill>
            </a:endParaRPr>
          </a:p>
        </p:txBody>
      </p:sp>
      <p:sp>
        <p:nvSpPr>
          <p:cNvPr id="17" name="Oval 16"/>
          <p:cNvSpPr/>
          <p:nvPr/>
        </p:nvSpPr>
        <p:spPr>
          <a:xfrm>
            <a:off x="4491902" y="1291066"/>
            <a:ext cx="914400" cy="914400"/>
          </a:xfrm>
          <a:prstGeom prst="ellips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tx2">
                    <a:lumMod val="50000"/>
                  </a:schemeClr>
                </a:solidFill>
              </a:rPr>
              <a:t>Pin 2</a:t>
            </a:r>
            <a:endParaRPr lang="en-IN" dirty="0">
              <a:solidFill>
                <a:schemeClr val="tx2">
                  <a:lumMod val="50000"/>
                </a:schemeClr>
              </a:solidFill>
            </a:endParaRPr>
          </a:p>
        </p:txBody>
      </p:sp>
      <p:sp>
        <p:nvSpPr>
          <p:cNvPr id="18" name="Oval 17"/>
          <p:cNvSpPr/>
          <p:nvPr/>
        </p:nvSpPr>
        <p:spPr>
          <a:xfrm>
            <a:off x="5260696" y="3348843"/>
            <a:ext cx="914400" cy="914400"/>
          </a:xfrm>
          <a:prstGeom prst="ellips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tx2">
                    <a:lumMod val="50000"/>
                  </a:schemeClr>
                </a:solidFill>
              </a:rPr>
              <a:t>Pin 4</a:t>
            </a:r>
            <a:endParaRPr lang="en-IN" dirty="0">
              <a:solidFill>
                <a:schemeClr val="tx2">
                  <a:lumMod val="50000"/>
                </a:schemeClr>
              </a:solidFill>
            </a:endParaRPr>
          </a:p>
        </p:txBody>
      </p:sp>
      <p:sp>
        <p:nvSpPr>
          <p:cNvPr id="19" name="Oval 18"/>
          <p:cNvSpPr/>
          <p:nvPr/>
        </p:nvSpPr>
        <p:spPr>
          <a:xfrm>
            <a:off x="6823905" y="2055604"/>
            <a:ext cx="914400" cy="914400"/>
          </a:xfrm>
          <a:prstGeom prst="ellips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tx2">
                    <a:lumMod val="50000"/>
                  </a:schemeClr>
                </a:solidFill>
              </a:rPr>
              <a:t>Pin 3</a:t>
            </a:r>
            <a:endParaRPr lang="en-IN" dirty="0">
              <a:solidFill>
                <a:schemeClr val="tx2">
                  <a:lumMod val="50000"/>
                </a:schemeClr>
              </a:solidFill>
            </a:endParaRPr>
          </a:p>
        </p:txBody>
      </p:sp>
      <p:cxnSp>
        <p:nvCxnSpPr>
          <p:cNvPr id="21" name="Straight Arrow Connector 20"/>
          <p:cNvCxnSpPr>
            <a:stCxn id="16" idx="7"/>
            <a:endCxn id="17" idx="3"/>
          </p:cNvCxnSpPr>
          <p:nvPr/>
        </p:nvCxnSpPr>
        <p:spPr>
          <a:xfrm flipV="1">
            <a:off x="3630063" y="2071555"/>
            <a:ext cx="995750" cy="575944"/>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16" idx="5"/>
            <a:endCxn id="18" idx="2"/>
          </p:cNvCxnSpPr>
          <p:nvPr/>
        </p:nvCxnSpPr>
        <p:spPr>
          <a:xfrm>
            <a:off x="3630063" y="3294077"/>
            <a:ext cx="1630633" cy="511966"/>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16" idx="6"/>
            <a:endCxn id="19" idx="2"/>
          </p:cNvCxnSpPr>
          <p:nvPr/>
        </p:nvCxnSpPr>
        <p:spPr>
          <a:xfrm flipV="1">
            <a:off x="3763974" y="2512804"/>
            <a:ext cx="3059931" cy="457984"/>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0" name="Pentagon 29"/>
          <p:cNvSpPr/>
          <p:nvPr/>
        </p:nvSpPr>
        <p:spPr>
          <a:xfrm>
            <a:off x="515114" y="2474038"/>
            <a:ext cx="1251290" cy="924056"/>
          </a:xfrm>
          <a:prstGeom prst="homePlate">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tx2">
                    <a:lumMod val="50000"/>
                  </a:schemeClr>
                </a:solidFill>
                <a:latin typeface="Calibri" panose="020F0502020204030204" pitchFamily="34" charset="0"/>
              </a:rPr>
              <a:t>The Concept</a:t>
            </a:r>
            <a:endParaRPr lang="en-IN" dirty="0">
              <a:solidFill>
                <a:schemeClr val="tx2">
                  <a:lumMod val="50000"/>
                </a:schemeClr>
              </a:solidFill>
              <a:latin typeface="Calibri" panose="020F0502020204030204" pitchFamily="34" charset="0"/>
            </a:endParaRPr>
          </a:p>
        </p:txBody>
      </p:sp>
      <p:pic>
        <p:nvPicPr>
          <p:cNvPr id="31" name="Picture 18" descr="Image result for man in suit clip art"/>
          <p:cNvPicPr>
            <a:picLocks noChangeAspect="1" noChangeArrowheads="1"/>
          </p:cNvPicPr>
          <p:nvPr/>
        </p:nvPicPr>
        <p:blipFill>
          <a:blip r:embed="rId2">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2299080" y="2410294"/>
            <a:ext cx="326914" cy="1065656"/>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31"/>
          <p:cNvSpPr txBox="1"/>
          <p:nvPr/>
        </p:nvSpPr>
        <p:spPr bwMode="gray">
          <a:xfrm>
            <a:off x="3839708" y="2026789"/>
            <a:ext cx="422182" cy="370962"/>
          </a:xfrm>
          <a:prstGeom prst="rect">
            <a:avLst/>
          </a:prstGeom>
        </p:spPr>
        <p:txBody>
          <a:bodyPr vert="horz" wrap="none" lIns="91440" tIns="45720" rIns="91440" bIns="45720" rtlCol="0" anchor="ctr">
            <a:noAutofit/>
          </a:bodyPr>
          <a:lstStyle/>
          <a:p>
            <a:r>
              <a:rPr lang="en-IN" sz="1600" dirty="0" smtClean="0">
                <a:latin typeface="Calibri" panose="020F0502020204030204" pitchFamily="34" charset="0"/>
              </a:rPr>
              <a:t>p1</a:t>
            </a:r>
          </a:p>
        </p:txBody>
      </p:sp>
      <p:sp>
        <p:nvSpPr>
          <p:cNvPr id="33" name="TextBox 32"/>
          <p:cNvSpPr txBox="1"/>
          <p:nvPr/>
        </p:nvSpPr>
        <p:spPr bwMode="gray">
          <a:xfrm>
            <a:off x="5317118" y="2320178"/>
            <a:ext cx="379002" cy="409915"/>
          </a:xfrm>
          <a:prstGeom prst="rect">
            <a:avLst/>
          </a:prstGeom>
        </p:spPr>
        <p:txBody>
          <a:bodyPr vert="horz" wrap="none" lIns="91440" tIns="45720" rIns="91440" bIns="45720" rtlCol="0" anchor="ctr">
            <a:noAutofit/>
          </a:bodyPr>
          <a:lstStyle/>
          <a:p>
            <a:r>
              <a:rPr lang="en-IN" sz="1600" dirty="0" smtClean="0">
                <a:latin typeface="Calibri" panose="020F0502020204030204" pitchFamily="34" charset="0"/>
              </a:rPr>
              <a:t>p2</a:t>
            </a:r>
          </a:p>
        </p:txBody>
      </p:sp>
      <p:sp>
        <p:nvSpPr>
          <p:cNvPr id="34" name="TextBox 33"/>
          <p:cNvSpPr txBox="1"/>
          <p:nvPr/>
        </p:nvSpPr>
        <p:spPr bwMode="gray">
          <a:xfrm>
            <a:off x="4448270" y="3232229"/>
            <a:ext cx="422182" cy="370962"/>
          </a:xfrm>
          <a:prstGeom prst="rect">
            <a:avLst/>
          </a:prstGeom>
        </p:spPr>
        <p:txBody>
          <a:bodyPr vert="horz" wrap="none" lIns="91440" tIns="45720" rIns="91440" bIns="45720" rtlCol="0" anchor="ctr">
            <a:noAutofit/>
          </a:bodyPr>
          <a:lstStyle/>
          <a:p>
            <a:r>
              <a:rPr lang="en-IN" sz="1600" dirty="0">
                <a:latin typeface="Calibri" panose="020F0502020204030204" pitchFamily="34" charset="0"/>
              </a:rPr>
              <a:t>p</a:t>
            </a:r>
            <a:r>
              <a:rPr lang="en-IN" sz="1600" dirty="0" smtClean="0">
                <a:latin typeface="Calibri" panose="020F0502020204030204" pitchFamily="34" charset="0"/>
              </a:rPr>
              <a:t>3</a:t>
            </a:r>
          </a:p>
        </p:txBody>
      </p:sp>
      <p:sp>
        <p:nvSpPr>
          <p:cNvPr id="35" name="TextBox 34"/>
          <p:cNvSpPr txBox="1"/>
          <p:nvPr/>
        </p:nvSpPr>
        <p:spPr bwMode="gray">
          <a:xfrm>
            <a:off x="4045288" y="2256954"/>
            <a:ext cx="422182" cy="370962"/>
          </a:xfrm>
          <a:prstGeom prst="rect">
            <a:avLst/>
          </a:prstGeom>
        </p:spPr>
        <p:txBody>
          <a:bodyPr vert="horz" wrap="none" lIns="91440" tIns="45720" rIns="91440" bIns="45720" rtlCol="0" anchor="ctr">
            <a:noAutofit/>
          </a:bodyPr>
          <a:lstStyle/>
          <a:p>
            <a:r>
              <a:rPr lang="en-IN" sz="1600" dirty="0">
                <a:latin typeface="Calibri" panose="020F0502020204030204" pitchFamily="34" charset="0"/>
              </a:rPr>
              <a:t>d</a:t>
            </a:r>
            <a:r>
              <a:rPr lang="en-IN" sz="1600" dirty="0" smtClean="0">
                <a:latin typeface="Calibri" panose="020F0502020204030204" pitchFamily="34" charset="0"/>
              </a:rPr>
              <a:t>1</a:t>
            </a:r>
          </a:p>
        </p:txBody>
      </p:sp>
      <p:sp>
        <p:nvSpPr>
          <p:cNvPr id="36" name="TextBox 35"/>
          <p:cNvSpPr txBox="1"/>
          <p:nvPr/>
        </p:nvSpPr>
        <p:spPr bwMode="gray">
          <a:xfrm>
            <a:off x="4481364" y="3567963"/>
            <a:ext cx="422182" cy="370962"/>
          </a:xfrm>
          <a:prstGeom prst="rect">
            <a:avLst/>
          </a:prstGeom>
        </p:spPr>
        <p:txBody>
          <a:bodyPr vert="horz" wrap="none" lIns="91440" tIns="45720" rIns="91440" bIns="45720" rtlCol="0" anchor="ctr">
            <a:noAutofit/>
          </a:bodyPr>
          <a:lstStyle/>
          <a:p>
            <a:r>
              <a:rPr lang="en-IN" sz="1600" dirty="0" smtClean="0">
                <a:latin typeface="Calibri" panose="020F0502020204030204" pitchFamily="34" charset="0"/>
              </a:rPr>
              <a:t>d</a:t>
            </a:r>
            <a:r>
              <a:rPr lang="en-IN" sz="1600" dirty="0">
                <a:latin typeface="Calibri" panose="020F0502020204030204" pitchFamily="34" charset="0"/>
              </a:rPr>
              <a:t>3</a:t>
            </a:r>
            <a:endParaRPr lang="en-IN" sz="1600" dirty="0" smtClean="0">
              <a:latin typeface="Calibri" panose="020F0502020204030204" pitchFamily="34" charset="0"/>
            </a:endParaRPr>
          </a:p>
        </p:txBody>
      </p:sp>
      <p:sp>
        <p:nvSpPr>
          <p:cNvPr id="37" name="TextBox 36"/>
          <p:cNvSpPr txBox="1"/>
          <p:nvPr/>
        </p:nvSpPr>
        <p:spPr bwMode="gray">
          <a:xfrm>
            <a:off x="5472526" y="2637505"/>
            <a:ext cx="422182" cy="370962"/>
          </a:xfrm>
          <a:prstGeom prst="rect">
            <a:avLst/>
          </a:prstGeom>
        </p:spPr>
        <p:txBody>
          <a:bodyPr vert="horz" wrap="none" lIns="91440" tIns="45720" rIns="91440" bIns="45720" rtlCol="0" anchor="ctr">
            <a:noAutofit/>
          </a:bodyPr>
          <a:lstStyle/>
          <a:p>
            <a:r>
              <a:rPr lang="en-IN" sz="1600" dirty="0" smtClean="0">
                <a:latin typeface="Calibri" panose="020F0502020204030204" pitchFamily="34" charset="0"/>
              </a:rPr>
              <a:t>d</a:t>
            </a:r>
            <a:r>
              <a:rPr lang="en-IN" sz="1600" dirty="0">
                <a:latin typeface="Calibri" panose="020F0502020204030204" pitchFamily="34" charset="0"/>
              </a:rPr>
              <a:t>2</a:t>
            </a:r>
            <a:endParaRPr lang="en-IN" sz="1600" dirty="0" smtClean="0">
              <a:latin typeface="Calibri" panose="020F0502020204030204" pitchFamily="34" charset="0"/>
            </a:endParaRPr>
          </a:p>
        </p:txBody>
      </p:sp>
      <p:pic>
        <p:nvPicPr>
          <p:cNvPr id="3074" name="Picture 2" descr="http://wcdn4.dataknet.com/static/resources/icons/set50/ab7c6be5.png"/>
          <p:cNvPicPr>
            <a:picLocks noChangeAspect="1" noChangeArrowheads="1"/>
          </p:cNvPicPr>
          <p:nvPr/>
        </p:nvPicPr>
        <p:blipFill>
          <a:blip r:embed="rId3" cstate="print">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5459439" y="1355304"/>
            <a:ext cx="603922" cy="603922"/>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2" descr="http://wcdn4.dataknet.com/static/resources/icons/set50/ab7c6be5.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22753" y="2148239"/>
            <a:ext cx="603922" cy="603922"/>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2" descr="http://wcdn4.dataknet.com/static/resources/icons/set50/ab7c6be5.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59956" y="3102017"/>
            <a:ext cx="603922" cy="603922"/>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2" descr="http://wcdn4.dataknet.com/static/resources/icons/set50/ab7c6be5.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72214" y="3834666"/>
            <a:ext cx="603922" cy="603922"/>
          </a:xfrm>
          <a:prstGeom prst="rect">
            <a:avLst/>
          </a:prstGeom>
          <a:noFill/>
          <a:extLst>
            <a:ext uri="{909E8E84-426E-40DD-AFC4-6F175D3DCCD1}">
              <a14:hiddenFill xmlns:a14="http://schemas.microsoft.com/office/drawing/2010/main">
                <a:solidFill>
                  <a:srgbClr val="FFFFFF"/>
                </a:solidFill>
              </a14:hiddenFill>
            </a:ext>
          </a:extLst>
        </p:spPr>
      </p:pic>
      <p:sp>
        <p:nvSpPr>
          <p:cNvPr id="38" name="Rounded Rectangle 37"/>
          <p:cNvSpPr/>
          <p:nvPr/>
        </p:nvSpPr>
        <p:spPr>
          <a:xfrm>
            <a:off x="8667502" y="1291066"/>
            <a:ext cx="2794695" cy="3192665"/>
          </a:xfrm>
          <a:prstGeom prst="round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400" dirty="0" smtClean="0">
                <a:solidFill>
                  <a:schemeClr val="tx2">
                    <a:lumMod val="50000"/>
                  </a:schemeClr>
                </a:solidFill>
                <a:latin typeface="Calibri" panose="020F0502020204030204" pitchFamily="34" charset="0"/>
              </a:rPr>
              <a:t>Probability of a person from Pin 1 visiting any store in another pin is dependent upon:</a:t>
            </a:r>
          </a:p>
          <a:p>
            <a:pPr marL="342900" indent="-342900">
              <a:buAutoNum type="alphaLcPeriod"/>
            </a:pPr>
            <a:r>
              <a:rPr lang="en-IN" sz="1400" dirty="0" smtClean="0">
                <a:solidFill>
                  <a:schemeClr val="tx2">
                    <a:lumMod val="50000"/>
                  </a:schemeClr>
                </a:solidFill>
                <a:latin typeface="Calibri" panose="020F0502020204030204" pitchFamily="34" charset="0"/>
              </a:rPr>
              <a:t>Distance from the pin (d)</a:t>
            </a:r>
          </a:p>
          <a:p>
            <a:pPr marL="342900" indent="-342900">
              <a:buAutoNum type="alphaLcPeriod"/>
            </a:pPr>
            <a:r>
              <a:rPr lang="en-IN" sz="1400" dirty="0" smtClean="0">
                <a:solidFill>
                  <a:schemeClr val="tx2">
                    <a:lumMod val="50000"/>
                  </a:schemeClr>
                </a:solidFill>
                <a:latin typeface="Calibri" panose="020F0502020204030204" pitchFamily="34" charset="0"/>
              </a:rPr>
              <a:t>Number of stores in the visiting pin</a:t>
            </a:r>
          </a:p>
          <a:p>
            <a:pPr algn="ctr"/>
            <a:endParaRPr lang="en-IN" sz="1400" dirty="0" smtClean="0">
              <a:solidFill>
                <a:schemeClr val="tx2">
                  <a:lumMod val="50000"/>
                </a:schemeClr>
              </a:solidFill>
              <a:latin typeface="Calibri" panose="020F0502020204030204" pitchFamily="34" charset="0"/>
            </a:endParaRPr>
          </a:p>
          <a:p>
            <a:r>
              <a:rPr lang="en-IN" sz="1400" dirty="0" smtClean="0">
                <a:solidFill>
                  <a:schemeClr val="tx2">
                    <a:lumMod val="50000"/>
                  </a:schemeClr>
                </a:solidFill>
                <a:latin typeface="Calibri" panose="020F0502020204030204" pitchFamily="34" charset="0"/>
              </a:rPr>
              <a:t>As a result, the probability of a </a:t>
            </a:r>
            <a:r>
              <a:rPr lang="en-IN" sz="1400" dirty="0">
                <a:solidFill>
                  <a:schemeClr val="tx2">
                    <a:lumMod val="50000"/>
                  </a:schemeClr>
                </a:solidFill>
                <a:latin typeface="Calibri" panose="020F0502020204030204" pitchFamily="34" charset="0"/>
              </a:rPr>
              <a:t>P</a:t>
            </a:r>
            <a:r>
              <a:rPr lang="en-IN" sz="1400" dirty="0" smtClean="0">
                <a:solidFill>
                  <a:schemeClr val="tx2">
                    <a:lumMod val="50000"/>
                  </a:schemeClr>
                </a:solidFill>
                <a:latin typeface="Calibri" panose="020F0502020204030204" pitchFamily="34" charset="0"/>
              </a:rPr>
              <a:t>erson A visiting a store in Pin 3 (p2) might be higher than visiting a store in Pin 4 (p3) as there is lesser competition in Pin 3</a:t>
            </a:r>
            <a:endParaRPr lang="en-IN" sz="1400" dirty="0">
              <a:solidFill>
                <a:schemeClr val="tx2">
                  <a:lumMod val="50000"/>
                </a:schemeClr>
              </a:solidFill>
              <a:latin typeface="Calibri" panose="020F0502020204030204" pitchFamily="34" charset="0"/>
            </a:endParaRPr>
          </a:p>
        </p:txBody>
      </p:sp>
      <p:sp>
        <p:nvSpPr>
          <p:cNvPr id="42" name="TextBox 41"/>
          <p:cNvSpPr txBox="1"/>
          <p:nvPr/>
        </p:nvSpPr>
        <p:spPr bwMode="gray">
          <a:xfrm>
            <a:off x="1982921" y="3539513"/>
            <a:ext cx="928806" cy="384464"/>
          </a:xfrm>
          <a:prstGeom prst="rect">
            <a:avLst/>
          </a:prstGeom>
        </p:spPr>
        <p:txBody>
          <a:bodyPr vert="horz" wrap="none" lIns="91440" tIns="45720" rIns="91440" bIns="45720" rtlCol="0" anchor="ctr">
            <a:noAutofit/>
          </a:bodyPr>
          <a:lstStyle/>
          <a:p>
            <a:r>
              <a:rPr lang="en-IN" sz="1600" b="1" dirty="0" smtClean="0">
                <a:latin typeface="Calibri" panose="020F0502020204030204" pitchFamily="34" charset="0"/>
              </a:rPr>
              <a:t>Person A</a:t>
            </a:r>
          </a:p>
        </p:txBody>
      </p:sp>
    </p:spTree>
    <p:extLst>
      <p:ext uri="{BB962C8B-B14F-4D97-AF65-F5344CB8AC3E}">
        <p14:creationId xmlns:p14="http://schemas.microsoft.com/office/powerpoint/2010/main" val="199461688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dirty="0" smtClean="0"/>
              <a:t>Potential of PIN- Logistic Regression</a:t>
            </a:r>
            <a:endParaRPr lang="en-IN" dirty="0"/>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16</a:t>
            </a:fld>
            <a:endParaRPr lang="en-US" dirty="0">
              <a:solidFill>
                <a:srgbClr val="0E5580"/>
              </a:solidFill>
            </a:endParaRPr>
          </a:p>
        </p:txBody>
      </p:sp>
      <p:sp>
        <p:nvSpPr>
          <p:cNvPr id="7" name="Text Placeholder 6"/>
          <p:cNvSpPr>
            <a:spLocks noGrp="1"/>
          </p:cNvSpPr>
          <p:nvPr>
            <p:ph type="body" sz="quarter" idx="13"/>
          </p:nvPr>
        </p:nvSpPr>
        <p:spPr>
          <a:xfrm>
            <a:off x="528357" y="1178449"/>
            <a:ext cx="11113180" cy="582362"/>
          </a:xfrm>
        </p:spPr>
        <p:txBody>
          <a:bodyPr>
            <a:normAutofit fontScale="92500" lnSpcReduction="10000"/>
          </a:bodyPr>
          <a:lstStyle/>
          <a:p>
            <a:r>
              <a:rPr lang="en-IN" dirty="0" smtClean="0"/>
              <a:t>The Top 50 Croma PINs were treated as targets to identify PIN characteristics that would identify a High Potential PIN for Croma </a:t>
            </a:r>
            <a:endParaRPr lang="en-IN" dirty="0"/>
          </a:p>
        </p:txBody>
      </p:sp>
      <p:sp>
        <p:nvSpPr>
          <p:cNvPr id="2" name="TextBox 1"/>
          <p:cNvSpPr txBox="1"/>
          <p:nvPr/>
        </p:nvSpPr>
        <p:spPr bwMode="gray">
          <a:xfrm>
            <a:off x="3964482" y="2356729"/>
            <a:ext cx="1558343" cy="323400"/>
          </a:xfrm>
          <a:prstGeom prst="rect">
            <a:avLst/>
          </a:prstGeom>
        </p:spPr>
        <p:txBody>
          <a:bodyPr vert="horz" wrap="none" lIns="91440" tIns="45720" rIns="91440" bIns="45720" rtlCol="0" anchor="ctr">
            <a:noAutofit/>
          </a:bodyPr>
          <a:lstStyle/>
          <a:p>
            <a:pPr algn="ctr"/>
            <a:r>
              <a:rPr lang="en-IN" dirty="0" smtClean="0">
                <a:solidFill>
                  <a:schemeClr val="tx2">
                    <a:lumMod val="50000"/>
                  </a:schemeClr>
                </a:solidFill>
                <a:latin typeface="Calibri" panose="020F0502020204030204" pitchFamily="34" charset="0"/>
              </a:rPr>
              <a:t>CROMA High </a:t>
            </a:r>
          </a:p>
          <a:p>
            <a:pPr algn="ctr"/>
            <a:r>
              <a:rPr lang="en-IN" dirty="0" smtClean="0">
                <a:solidFill>
                  <a:schemeClr val="tx2">
                    <a:lumMod val="50000"/>
                  </a:schemeClr>
                </a:solidFill>
                <a:latin typeface="Calibri" panose="020F0502020204030204" pitchFamily="34" charset="0"/>
              </a:rPr>
              <a:t>Potential PINs</a:t>
            </a:r>
          </a:p>
          <a:p>
            <a:pPr algn="ctr"/>
            <a:r>
              <a:rPr lang="en-IN" dirty="0" smtClean="0">
                <a:solidFill>
                  <a:schemeClr val="tx2">
                    <a:lumMod val="50000"/>
                  </a:schemeClr>
                </a:solidFill>
                <a:latin typeface="Calibri" panose="020F0502020204030204" pitchFamily="34" charset="0"/>
              </a:rPr>
              <a:t>(1)</a:t>
            </a:r>
          </a:p>
        </p:txBody>
      </p:sp>
      <p:pic>
        <p:nvPicPr>
          <p:cNvPr id="9" name="Picture 8"/>
          <p:cNvPicPr>
            <a:picLocks noChangeAspect="1"/>
          </p:cNvPicPr>
          <p:nvPr/>
        </p:nvPicPr>
        <p:blipFill>
          <a:blip r:embed="rId2"/>
          <a:stretch>
            <a:fillRect/>
          </a:stretch>
        </p:blipFill>
        <p:spPr>
          <a:xfrm>
            <a:off x="2728999" y="1764748"/>
            <a:ext cx="960259" cy="1035835"/>
          </a:xfrm>
          <a:prstGeom prst="rect">
            <a:avLst/>
          </a:prstGeom>
        </p:spPr>
      </p:pic>
      <p:pic>
        <p:nvPicPr>
          <p:cNvPr id="11" name="Picture 10"/>
          <p:cNvPicPr>
            <a:picLocks noChangeAspect="1"/>
          </p:cNvPicPr>
          <p:nvPr/>
        </p:nvPicPr>
        <p:blipFill>
          <a:blip r:embed="rId2"/>
          <a:stretch>
            <a:fillRect/>
          </a:stretch>
        </p:blipFill>
        <p:spPr>
          <a:xfrm rot="10800000">
            <a:off x="2695321" y="3023463"/>
            <a:ext cx="960259" cy="1035835"/>
          </a:xfrm>
          <a:prstGeom prst="rect">
            <a:avLst/>
          </a:prstGeom>
        </p:spPr>
      </p:pic>
      <p:sp>
        <p:nvSpPr>
          <p:cNvPr id="12" name="TextBox 11"/>
          <p:cNvSpPr txBox="1"/>
          <p:nvPr/>
        </p:nvSpPr>
        <p:spPr bwMode="gray">
          <a:xfrm>
            <a:off x="3969057" y="3358389"/>
            <a:ext cx="1558343" cy="323400"/>
          </a:xfrm>
          <a:prstGeom prst="rect">
            <a:avLst/>
          </a:prstGeom>
        </p:spPr>
        <p:txBody>
          <a:bodyPr vert="horz" wrap="none" lIns="91440" tIns="45720" rIns="91440" bIns="45720" rtlCol="0" anchor="ctr">
            <a:noAutofit/>
          </a:bodyPr>
          <a:lstStyle/>
          <a:p>
            <a:pPr algn="ctr"/>
            <a:r>
              <a:rPr lang="en-IN" dirty="0" smtClean="0">
                <a:solidFill>
                  <a:schemeClr val="tx2">
                    <a:lumMod val="50000"/>
                  </a:schemeClr>
                </a:solidFill>
                <a:latin typeface="Calibri" panose="020F0502020204030204" pitchFamily="34" charset="0"/>
              </a:rPr>
              <a:t>Other PINs</a:t>
            </a:r>
          </a:p>
          <a:p>
            <a:pPr algn="ctr"/>
            <a:r>
              <a:rPr lang="en-IN" dirty="0" smtClean="0">
                <a:solidFill>
                  <a:schemeClr val="tx2">
                    <a:lumMod val="50000"/>
                  </a:schemeClr>
                </a:solidFill>
                <a:latin typeface="Calibri" panose="020F0502020204030204" pitchFamily="34" charset="0"/>
              </a:rPr>
              <a:t>(0)</a:t>
            </a:r>
          </a:p>
        </p:txBody>
      </p:sp>
      <p:sp>
        <p:nvSpPr>
          <p:cNvPr id="10" name="Pentagon 9"/>
          <p:cNvSpPr/>
          <p:nvPr/>
        </p:nvSpPr>
        <p:spPr>
          <a:xfrm>
            <a:off x="198673" y="2123767"/>
            <a:ext cx="2366029" cy="576975"/>
          </a:xfrm>
          <a:prstGeom prst="homePlate">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Top 50 Croma PINs</a:t>
            </a:r>
            <a:endParaRPr lang="en-IN" dirty="0"/>
          </a:p>
        </p:txBody>
      </p:sp>
      <p:sp>
        <p:nvSpPr>
          <p:cNvPr id="14" name="Pentagon 13"/>
          <p:cNvSpPr/>
          <p:nvPr/>
        </p:nvSpPr>
        <p:spPr>
          <a:xfrm>
            <a:off x="198673" y="3122677"/>
            <a:ext cx="2366029" cy="576975"/>
          </a:xfrm>
          <a:prstGeom prst="homePlate">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All Other PINs</a:t>
            </a:r>
            <a:endParaRPr lang="en-IN" dirty="0"/>
          </a:p>
        </p:txBody>
      </p:sp>
      <p:sp>
        <p:nvSpPr>
          <p:cNvPr id="13" name="Left Brace 12"/>
          <p:cNvSpPr/>
          <p:nvPr/>
        </p:nvSpPr>
        <p:spPr>
          <a:xfrm flipH="1">
            <a:off x="5668877" y="1991157"/>
            <a:ext cx="360608" cy="1750405"/>
          </a:xfrm>
          <a:prstGeom prst="leftBrac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7" name="Rectangle 16"/>
          <p:cNvSpPr/>
          <p:nvPr/>
        </p:nvSpPr>
        <p:spPr>
          <a:xfrm>
            <a:off x="6170962" y="2390623"/>
            <a:ext cx="5470575" cy="1015663"/>
          </a:xfrm>
          <a:prstGeom prst="rect">
            <a:avLst/>
          </a:prstGeom>
        </p:spPr>
        <p:txBody>
          <a:bodyPr wrap="square">
            <a:spAutoFit/>
          </a:bodyPr>
          <a:lstStyle/>
          <a:p>
            <a:r>
              <a:rPr lang="en-IN" sz="1200" dirty="0" smtClean="0">
                <a:latin typeface="Calibri" panose="020F0502020204030204" pitchFamily="34" charset="0"/>
              </a:rPr>
              <a:t>Volume of Loans by Category</a:t>
            </a:r>
          </a:p>
          <a:p>
            <a:r>
              <a:rPr lang="en-IN" sz="1200" dirty="0" smtClean="0">
                <a:latin typeface="Calibri" panose="020F0502020204030204" pitchFamily="34" charset="0"/>
              </a:rPr>
              <a:t>Volume, Average age and Credit Worthiness of Borrowers by Category</a:t>
            </a:r>
          </a:p>
          <a:p>
            <a:r>
              <a:rPr lang="en-IN" sz="1200" dirty="0" smtClean="0">
                <a:latin typeface="Calibri" panose="020F0502020204030204" pitchFamily="34" charset="0"/>
              </a:rPr>
              <a:t>Volume of Credit Inquiries by Category</a:t>
            </a:r>
          </a:p>
          <a:p>
            <a:r>
              <a:rPr lang="en-IN" sz="1200" dirty="0" err="1">
                <a:latin typeface="Calibri" panose="020F0502020204030204" pitchFamily="34" charset="0"/>
              </a:rPr>
              <a:t>Recency</a:t>
            </a:r>
            <a:r>
              <a:rPr lang="en-IN" sz="1200" dirty="0" smtClean="0">
                <a:latin typeface="Calibri" panose="020F0502020204030204" pitchFamily="34" charset="0"/>
              </a:rPr>
              <a:t> and Size of trades by category</a:t>
            </a:r>
          </a:p>
          <a:p>
            <a:r>
              <a:rPr lang="en-IN" sz="1200" dirty="0" smtClean="0">
                <a:latin typeface="Calibri" panose="020F0502020204030204" pitchFamily="34" charset="0"/>
              </a:rPr>
              <a:t>Credit Volume and Utilization by category</a:t>
            </a:r>
            <a:endParaRPr lang="en-IN" sz="1200" dirty="0">
              <a:latin typeface="Calibri" panose="020F0502020204030204" pitchFamily="34" charset="0"/>
            </a:endParaRPr>
          </a:p>
        </p:txBody>
      </p:sp>
      <p:sp>
        <p:nvSpPr>
          <p:cNvPr id="18" name="Rectangle 17"/>
          <p:cNvSpPr/>
          <p:nvPr/>
        </p:nvSpPr>
        <p:spPr>
          <a:xfrm>
            <a:off x="6170961" y="2404442"/>
            <a:ext cx="5470575" cy="1009247"/>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6170960" y="2125012"/>
            <a:ext cx="5470576" cy="279429"/>
          </a:xfrm>
          <a:prstGeom prst="rect">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t>Universe of Aggregated Variables at PIN level</a:t>
            </a:r>
            <a:endParaRPr lang="en-IN" sz="1600" dirty="0"/>
          </a:p>
        </p:txBody>
      </p:sp>
      <p:sp>
        <p:nvSpPr>
          <p:cNvPr id="20" name="Pentagon 19"/>
          <p:cNvSpPr/>
          <p:nvPr/>
        </p:nvSpPr>
        <p:spPr>
          <a:xfrm rot="5400000">
            <a:off x="5380029" y="1915993"/>
            <a:ext cx="230198" cy="4572001"/>
          </a:xfrm>
          <a:prstGeom prst="homePlate">
            <a:avLst>
              <a:gd name="adj" fmla="val 100000"/>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21" name="Table 20"/>
          <p:cNvGraphicFramePr>
            <a:graphicFrameLocks noGrp="1"/>
          </p:cNvGraphicFramePr>
          <p:nvPr>
            <p:extLst>
              <p:ext uri="{D42A27DB-BD31-4B8C-83A1-F6EECF244321}">
                <p14:modId xmlns:p14="http://schemas.microsoft.com/office/powerpoint/2010/main" val="631794560"/>
              </p:ext>
            </p:extLst>
          </p:nvPr>
        </p:nvGraphicFramePr>
        <p:xfrm>
          <a:off x="1871644" y="4810149"/>
          <a:ext cx="8122921" cy="1837948"/>
        </p:xfrm>
        <a:graphic>
          <a:graphicData uri="http://schemas.openxmlformats.org/drawingml/2006/table">
            <a:tbl>
              <a:tblPr/>
              <a:tblGrid>
                <a:gridCol w="6716721"/>
                <a:gridCol w="1406200"/>
              </a:tblGrid>
              <a:tr h="262564">
                <a:tc>
                  <a:txBody>
                    <a:bodyPr/>
                    <a:lstStyle/>
                    <a:p>
                      <a:pPr algn="l" fontAlgn="b"/>
                      <a:r>
                        <a:rPr lang="en-IN" sz="1600" b="0" i="0" u="none" strike="noStrike" dirty="0" smtClean="0">
                          <a:solidFill>
                            <a:schemeClr val="tx2">
                              <a:lumMod val="50000"/>
                            </a:schemeClr>
                          </a:solidFill>
                          <a:effectLst/>
                          <a:latin typeface="Calibri" panose="020F0502020204030204" pitchFamily="34" charset="0"/>
                        </a:rPr>
                        <a:t>Population of Professionals Proxy</a:t>
                      </a:r>
                      <a:endParaRPr lang="en-IN" sz="1600" b="0" i="0" u="none" strike="noStrike" dirty="0">
                        <a:solidFill>
                          <a:schemeClr val="tx2">
                            <a:lumMod val="50000"/>
                          </a:schemeClr>
                        </a:solidFill>
                        <a:effectLst/>
                        <a:latin typeface="Calibri" panose="020F0502020204030204" pitchFamily="34" charset="0"/>
                      </a:endParaRPr>
                    </a:p>
                  </a:txBody>
                  <a:tcPr marL="9525" marR="9525" marT="9525" marB="0" anchor="b">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N" sz="1600" b="0" i="0" u="none" strike="noStrike" dirty="0" smtClean="0">
                          <a:solidFill>
                            <a:srgbClr val="000000"/>
                          </a:solidFill>
                          <a:effectLst/>
                          <a:latin typeface="Calibri" panose="020F0502020204030204" pitchFamily="34" charset="0"/>
                        </a:rPr>
                        <a:t>(+)</a:t>
                      </a:r>
                      <a:endParaRPr lang="en-IN" sz="16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r>
              <a:tr h="262564">
                <a:tc>
                  <a:txBody>
                    <a:bodyPr/>
                    <a:lstStyle/>
                    <a:p>
                      <a:pPr algn="l" fontAlgn="b"/>
                      <a:r>
                        <a:rPr lang="en-IN" sz="1600" b="0" i="0" u="none" strike="noStrike" dirty="0" smtClean="0">
                          <a:solidFill>
                            <a:schemeClr val="tx2">
                              <a:lumMod val="50000"/>
                            </a:schemeClr>
                          </a:solidFill>
                          <a:effectLst/>
                          <a:latin typeface="Calibri" panose="020F0502020204030204" pitchFamily="34" charset="0"/>
                        </a:rPr>
                        <a:t>Average Age</a:t>
                      </a:r>
                      <a:r>
                        <a:rPr lang="en-IN" sz="1600" b="0" i="0" u="none" strike="noStrike" baseline="0" dirty="0" smtClean="0">
                          <a:solidFill>
                            <a:schemeClr val="tx2">
                              <a:lumMod val="50000"/>
                            </a:schemeClr>
                          </a:solidFill>
                          <a:effectLst/>
                          <a:latin typeface="Calibri" panose="020F0502020204030204" pitchFamily="34" charset="0"/>
                        </a:rPr>
                        <a:t> Proxy</a:t>
                      </a:r>
                      <a:endParaRPr lang="en-IN" sz="1600" b="0" i="0" u="none" strike="noStrike" dirty="0">
                        <a:solidFill>
                          <a:schemeClr val="tx2">
                            <a:lumMod val="50000"/>
                          </a:schemeClr>
                        </a:solidFill>
                        <a:effectLst/>
                        <a:latin typeface="Calibri" panose="020F0502020204030204" pitchFamily="34" charset="0"/>
                      </a:endParaRPr>
                    </a:p>
                  </a:txBody>
                  <a:tcPr marL="9525" marR="9525" marT="9525" marB="0" anchor="b">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N" sz="1600" b="0" i="0" u="none" strike="noStrike" dirty="0" smtClean="0">
                          <a:solidFill>
                            <a:srgbClr val="000000"/>
                          </a:solidFill>
                          <a:effectLst/>
                          <a:latin typeface="Calibri" panose="020F0502020204030204" pitchFamily="34" charset="0"/>
                        </a:rPr>
                        <a:t>(-)</a:t>
                      </a:r>
                      <a:endParaRPr lang="en-IN" sz="16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r>
              <a:tr h="262564">
                <a:tc>
                  <a:txBody>
                    <a:bodyPr/>
                    <a:lstStyle/>
                    <a:p>
                      <a:pPr algn="l" fontAlgn="b"/>
                      <a:r>
                        <a:rPr lang="en-IN" sz="1600" b="0" i="0" u="none" strike="noStrike" dirty="0" smtClean="0">
                          <a:solidFill>
                            <a:schemeClr val="tx2">
                              <a:lumMod val="50000"/>
                            </a:schemeClr>
                          </a:solidFill>
                          <a:effectLst/>
                          <a:latin typeface="Calibri" panose="020F0502020204030204" pitchFamily="34" charset="0"/>
                        </a:rPr>
                        <a:t>Volume</a:t>
                      </a:r>
                      <a:r>
                        <a:rPr lang="en-IN" sz="1600" b="0" i="0" u="none" strike="noStrike" baseline="0" dirty="0" smtClean="0">
                          <a:solidFill>
                            <a:schemeClr val="tx2">
                              <a:lumMod val="50000"/>
                            </a:schemeClr>
                          </a:solidFill>
                          <a:effectLst/>
                          <a:latin typeface="Calibri" panose="020F0502020204030204" pitchFamily="34" charset="0"/>
                        </a:rPr>
                        <a:t> of</a:t>
                      </a:r>
                      <a:r>
                        <a:rPr lang="en-IN" sz="1600" b="0" i="0" u="none" strike="noStrike" dirty="0" smtClean="0">
                          <a:solidFill>
                            <a:schemeClr val="tx2">
                              <a:lumMod val="50000"/>
                            </a:schemeClr>
                          </a:solidFill>
                          <a:effectLst/>
                          <a:latin typeface="Calibri" panose="020F0502020204030204" pitchFamily="34" charset="0"/>
                        </a:rPr>
                        <a:t> </a:t>
                      </a:r>
                      <a:r>
                        <a:rPr lang="en-IN" sz="1600" b="0" i="0" u="none" strike="noStrike" dirty="0">
                          <a:solidFill>
                            <a:schemeClr val="tx2">
                              <a:lumMod val="50000"/>
                            </a:schemeClr>
                          </a:solidFill>
                          <a:effectLst/>
                          <a:latin typeface="Calibri" panose="020F0502020204030204" pitchFamily="34" charset="0"/>
                        </a:rPr>
                        <a:t>two wheeler </a:t>
                      </a:r>
                      <a:r>
                        <a:rPr lang="en-IN" sz="1600" b="0" i="0" u="none" strike="noStrike" dirty="0" smtClean="0">
                          <a:solidFill>
                            <a:schemeClr val="tx2">
                              <a:lumMod val="50000"/>
                            </a:schemeClr>
                          </a:solidFill>
                          <a:effectLst/>
                          <a:latin typeface="Calibri" panose="020F0502020204030204" pitchFamily="34" charset="0"/>
                        </a:rPr>
                        <a:t>trades Proxy</a:t>
                      </a:r>
                      <a:endParaRPr lang="en-IN" sz="1600" b="0" i="0" u="none" strike="noStrike" dirty="0">
                        <a:solidFill>
                          <a:schemeClr val="tx2">
                            <a:lumMod val="50000"/>
                          </a:schemeClr>
                        </a:solidFill>
                        <a:effectLst/>
                        <a:latin typeface="Calibri" panose="020F0502020204030204" pitchFamily="34" charset="0"/>
                      </a:endParaRPr>
                    </a:p>
                  </a:txBody>
                  <a:tcPr marL="9525" marR="9525" marT="9525" marB="0" anchor="b">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N" sz="1600" b="0" i="0" u="none" strike="noStrike" dirty="0" smtClean="0">
                          <a:solidFill>
                            <a:srgbClr val="000000"/>
                          </a:solidFill>
                          <a:effectLst/>
                          <a:latin typeface="Calibri" panose="020F0502020204030204" pitchFamily="34" charset="0"/>
                        </a:rPr>
                        <a:t>(-)</a:t>
                      </a:r>
                      <a:endParaRPr lang="en-IN" sz="16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r>
              <a:tr h="262564">
                <a:tc>
                  <a:txBody>
                    <a:bodyPr/>
                    <a:lstStyle/>
                    <a:p>
                      <a:pPr algn="l" fontAlgn="b"/>
                      <a:r>
                        <a:rPr lang="en-IN" sz="1600" b="0" i="0" u="none" strike="noStrike" dirty="0" smtClean="0">
                          <a:solidFill>
                            <a:schemeClr val="tx2">
                              <a:lumMod val="50000"/>
                            </a:schemeClr>
                          </a:solidFill>
                          <a:effectLst/>
                          <a:latin typeface="Calibri" panose="020F0502020204030204" pitchFamily="34" charset="0"/>
                        </a:rPr>
                        <a:t>Credit</a:t>
                      </a:r>
                      <a:r>
                        <a:rPr lang="en-IN" sz="1600" b="0" i="0" u="none" strike="noStrike" baseline="0" dirty="0" smtClean="0">
                          <a:solidFill>
                            <a:schemeClr val="tx2">
                              <a:lumMod val="50000"/>
                            </a:schemeClr>
                          </a:solidFill>
                          <a:effectLst/>
                          <a:latin typeface="Calibri" panose="020F0502020204030204" pitchFamily="34" charset="0"/>
                        </a:rPr>
                        <a:t> Card usage</a:t>
                      </a:r>
                      <a:endParaRPr lang="en-IN" sz="1600" b="0" i="0" u="none" strike="noStrike" dirty="0">
                        <a:solidFill>
                          <a:schemeClr val="tx2">
                            <a:lumMod val="50000"/>
                          </a:schemeClr>
                        </a:solidFill>
                        <a:effectLst/>
                        <a:latin typeface="Calibri" panose="020F0502020204030204" pitchFamily="34" charset="0"/>
                      </a:endParaRPr>
                    </a:p>
                  </a:txBody>
                  <a:tcPr marL="9525" marR="9525" marT="9525" marB="0" anchor="b">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N" sz="1600" b="0" i="0" u="none" strike="noStrike" dirty="0" smtClean="0">
                          <a:solidFill>
                            <a:srgbClr val="000000"/>
                          </a:solidFill>
                          <a:effectLst/>
                          <a:latin typeface="Calibri" panose="020F0502020204030204" pitchFamily="34" charset="0"/>
                        </a:rPr>
                        <a:t>(+)</a:t>
                      </a:r>
                      <a:endParaRPr lang="en-IN" sz="16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r>
              <a:tr h="262564">
                <a:tc>
                  <a:txBody>
                    <a:bodyPr/>
                    <a:lstStyle/>
                    <a:p>
                      <a:pPr algn="l" fontAlgn="b"/>
                      <a:r>
                        <a:rPr lang="en-IN" sz="1600" b="0" i="0" u="none" strike="noStrike" dirty="0" smtClean="0">
                          <a:solidFill>
                            <a:schemeClr val="tx2">
                              <a:lumMod val="50000"/>
                            </a:schemeClr>
                          </a:solidFill>
                          <a:effectLst/>
                          <a:latin typeface="Calibri" panose="020F0502020204030204" pitchFamily="34" charset="0"/>
                        </a:rPr>
                        <a:t>Personal Loan adoption</a:t>
                      </a:r>
                      <a:endParaRPr lang="en-IN" sz="1600" b="0" i="0" u="none" strike="noStrike" dirty="0">
                        <a:solidFill>
                          <a:schemeClr val="tx2">
                            <a:lumMod val="50000"/>
                          </a:schemeClr>
                        </a:solidFill>
                        <a:effectLst/>
                        <a:latin typeface="Calibri" panose="020F0502020204030204" pitchFamily="34" charset="0"/>
                      </a:endParaRPr>
                    </a:p>
                  </a:txBody>
                  <a:tcPr marL="9525" marR="9525" marT="9525" marB="0" anchor="b">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N" sz="1600" b="0" i="0" u="none" strike="noStrike" dirty="0" smtClean="0">
                          <a:solidFill>
                            <a:srgbClr val="000000"/>
                          </a:solidFill>
                          <a:effectLst/>
                          <a:latin typeface="Calibri" panose="020F0502020204030204" pitchFamily="34" charset="0"/>
                        </a:rPr>
                        <a:t>(-)</a:t>
                      </a:r>
                      <a:endParaRPr lang="en-IN" sz="16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r>
              <a:tr h="262564">
                <a:tc>
                  <a:txBody>
                    <a:bodyPr/>
                    <a:lstStyle/>
                    <a:p>
                      <a:pPr algn="l" fontAlgn="b"/>
                      <a:r>
                        <a:rPr lang="en-IN" sz="1600" b="0" i="0" u="none" strike="noStrike" dirty="0" smtClean="0">
                          <a:solidFill>
                            <a:schemeClr val="tx2">
                              <a:lumMod val="50000"/>
                            </a:schemeClr>
                          </a:solidFill>
                          <a:effectLst/>
                          <a:latin typeface="Calibri" panose="020F0502020204030204" pitchFamily="34" charset="0"/>
                        </a:rPr>
                        <a:t>Increase in Credit Card usage</a:t>
                      </a:r>
                      <a:r>
                        <a:rPr lang="en-IN" sz="1600" b="0" i="0" u="none" strike="noStrike" baseline="0" dirty="0" smtClean="0">
                          <a:solidFill>
                            <a:schemeClr val="tx2">
                              <a:lumMod val="50000"/>
                            </a:schemeClr>
                          </a:solidFill>
                          <a:effectLst/>
                          <a:latin typeface="Calibri" panose="020F0502020204030204" pitchFamily="34" charset="0"/>
                        </a:rPr>
                        <a:t> </a:t>
                      </a:r>
                      <a:endParaRPr lang="en-IN" sz="1600" b="0" i="0" u="none" strike="noStrike" dirty="0">
                        <a:solidFill>
                          <a:schemeClr val="tx2">
                            <a:lumMod val="50000"/>
                          </a:schemeClr>
                        </a:solidFill>
                        <a:effectLst/>
                        <a:latin typeface="Calibri" panose="020F0502020204030204" pitchFamily="34" charset="0"/>
                      </a:endParaRPr>
                    </a:p>
                  </a:txBody>
                  <a:tcPr marL="9525" marR="9525" marT="9525" marB="0" anchor="b">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N" sz="1600" b="0" i="0" u="none" strike="noStrike" dirty="0" smtClean="0">
                          <a:solidFill>
                            <a:srgbClr val="000000"/>
                          </a:solidFill>
                          <a:effectLst/>
                          <a:latin typeface="Calibri" panose="020F0502020204030204" pitchFamily="34" charset="0"/>
                        </a:rPr>
                        <a:t>(+)</a:t>
                      </a:r>
                      <a:endParaRPr lang="en-IN" sz="16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r>
              <a:tr h="262564">
                <a:tc>
                  <a:txBody>
                    <a:bodyPr/>
                    <a:lstStyle/>
                    <a:p>
                      <a:pPr algn="l" fontAlgn="b"/>
                      <a:r>
                        <a:rPr lang="en-IN" sz="1600" b="0" i="0" u="none" strike="noStrike" baseline="0" dirty="0" smtClean="0">
                          <a:solidFill>
                            <a:schemeClr val="tx2">
                              <a:lumMod val="50000"/>
                            </a:schemeClr>
                          </a:solidFill>
                          <a:effectLst/>
                          <a:latin typeface="Calibri" panose="020F0502020204030204" pitchFamily="34" charset="0"/>
                        </a:rPr>
                        <a:t>Small Business Proxy</a:t>
                      </a:r>
                      <a:endParaRPr lang="en-IN" sz="1600" b="0" i="0" u="none" strike="noStrike" dirty="0">
                        <a:solidFill>
                          <a:schemeClr val="tx2">
                            <a:lumMod val="50000"/>
                          </a:schemeClr>
                        </a:solidFill>
                        <a:effectLst/>
                        <a:latin typeface="Calibri" panose="020F0502020204030204" pitchFamily="34" charset="0"/>
                      </a:endParaRPr>
                    </a:p>
                  </a:txBody>
                  <a:tcPr marL="9525" marR="9525" marT="9525" marB="0" anchor="b">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N" sz="1600" b="0" i="0" u="none" strike="noStrike" dirty="0" smtClean="0">
                          <a:solidFill>
                            <a:srgbClr val="000000"/>
                          </a:solidFill>
                          <a:effectLst/>
                          <a:latin typeface="Calibri" panose="020F0502020204030204" pitchFamily="34" charset="0"/>
                        </a:rPr>
                        <a:t>(-)</a:t>
                      </a:r>
                      <a:endParaRPr lang="en-IN" sz="16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r>
            </a:tbl>
          </a:graphicData>
        </a:graphic>
      </p:graphicFrame>
      <p:sp>
        <p:nvSpPr>
          <p:cNvPr id="22" name="TextBox 21"/>
          <p:cNvSpPr txBox="1"/>
          <p:nvPr/>
        </p:nvSpPr>
        <p:spPr bwMode="gray">
          <a:xfrm>
            <a:off x="1871644" y="4408952"/>
            <a:ext cx="8315682" cy="283645"/>
          </a:xfrm>
          <a:prstGeom prst="rect">
            <a:avLst/>
          </a:prstGeom>
          <a:solidFill>
            <a:schemeClr val="accent6">
              <a:lumMod val="50000"/>
            </a:schemeClr>
          </a:solidFill>
        </p:spPr>
        <p:txBody>
          <a:bodyPr vert="horz" wrap="none" lIns="91440" tIns="45720" rIns="91440" bIns="45720" rtlCol="0" anchor="ctr">
            <a:noAutofit/>
          </a:bodyPr>
          <a:lstStyle/>
          <a:p>
            <a:r>
              <a:rPr lang="en-IN" dirty="0" smtClean="0">
                <a:solidFill>
                  <a:schemeClr val="bg1"/>
                </a:solidFill>
                <a:latin typeface="Calibri" panose="020F0502020204030204" pitchFamily="34" charset="0"/>
              </a:rPr>
              <a:t>Selection of significant Variables that define a Performing PIN vs. a Non-Performing PIN</a:t>
            </a:r>
          </a:p>
        </p:txBody>
      </p:sp>
      <p:sp>
        <p:nvSpPr>
          <p:cNvPr id="23" name="Rectangle 22"/>
          <p:cNvSpPr/>
          <p:nvPr/>
        </p:nvSpPr>
        <p:spPr>
          <a:xfrm>
            <a:off x="1466348" y="4800059"/>
            <a:ext cx="325619" cy="1848041"/>
          </a:xfrm>
          <a:prstGeom prst="rect">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N" sz="1600" dirty="0" smtClean="0">
                <a:latin typeface="Calibri" panose="020F0502020204030204" pitchFamily="34" charset="0"/>
              </a:rPr>
              <a:t>Significant Variables</a:t>
            </a:r>
            <a:endParaRPr lang="en-IN" sz="1600" dirty="0">
              <a:latin typeface="Calibri" panose="020F0502020204030204" pitchFamily="34" charset="0"/>
            </a:endParaRPr>
          </a:p>
        </p:txBody>
      </p:sp>
      <p:sp>
        <p:nvSpPr>
          <p:cNvPr id="25" name="Rectangle 24"/>
          <p:cNvSpPr/>
          <p:nvPr/>
        </p:nvSpPr>
        <p:spPr>
          <a:xfrm rot="10800000">
            <a:off x="10074241" y="4810148"/>
            <a:ext cx="265649" cy="1848041"/>
          </a:xfrm>
          <a:prstGeom prst="rect">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N" sz="1600" dirty="0" smtClean="0">
                <a:latin typeface="Calibri" panose="020F0502020204030204" pitchFamily="34" charset="0"/>
              </a:rPr>
              <a:t>Co-Relation</a:t>
            </a:r>
            <a:endParaRPr lang="en-IN" sz="1600" dirty="0">
              <a:latin typeface="Calibri" panose="020F0502020204030204" pitchFamily="34" charset="0"/>
            </a:endParaRPr>
          </a:p>
        </p:txBody>
      </p:sp>
      <p:cxnSp>
        <p:nvCxnSpPr>
          <p:cNvPr id="24" name="Straight Connector 23"/>
          <p:cNvCxnSpPr/>
          <p:nvPr/>
        </p:nvCxnSpPr>
        <p:spPr>
          <a:xfrm>
            <a:off x="468965" y="1781809"/>
            <a:ext cx="11232000" cy="1971"/>
          </a:xfrm>
          <a:prstGeom prst="line">
            <a:avLst/>
          </a:prstGeom>
          <a:ln w="28575">
            <a:solidFill>
              <a:srgbClr val="1C578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940102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844062" y="2222955"/>
            <a:ext cx="576775" cy="181488"/>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800" dirty="0" smtClean="0">
                <a:solidFill>
                  <a:sysClr val="windowText" lastClr="000000"/>
                </a:solidFill>
              </a:rPr>
              <a:t>in lakhs </a:t>
            </a:r>
            <a:endParaRPr lang="en-IN" sz="800" dirty="0">
              <a:solidFill>
                <a:sysClr val="windowText" lastClr="000000"/>
              </a:solidFill>
            </a:endParaRPr>
          </a:p>
        </p:txBody>
      </p:sp>
      <p:graphicFrame>
        <p:nvGraphicFramePr>
          <p:cNvPr id="8" name="Chart 7"/>
          <p:cNvGraphicFramePr/>
          <p:nvPr>
            <p:extLst/>
          </p:nvPr>
        </p:nvGraphicFramePr>
        <p:xfrm>
          <a:off x="514074" y="2217475"/>
          <a:ext cx="3986565" cy="1924836"/>
        </p:xfrm>
        <a:graphic>
          <a:graphicData uri="http://schemas.openxmlformats.org/drawingml/2006/chart">
            <c:chart xmlns:c="http://schemas.openxmlformats.org/drawingml/2006/chart" xmlns:r="http://schemas.openxmlformats.org/officeDocument/2006/relationships" r:id="rId2"/>
          </a:graphicData>
        </a:graphic>
      </p:graphicFrame>
      <p:sp>
        <p:nvSpPr>
          <p:cNvPr id="5" name="Title 4"/>
          <p:cNvSpPr>
            <a:spLocks noGrp="1"/>
          </p:cNvSpPr>
          <p:nvPr>
            <p:ph type="title"/>
          </p:nvPr>
        </p:nvSpPr>
        <p:spPr/>
        <p:txBody>
          <a:bodyPr/>
          <a:lstStyle/>
          <a:p>
            <a:r>
              <a:rPr lang="en-IN" dirty="0" smtClean="0"/>
              <a:t>Potential of PIN - Logistic Regression Results</a:t>
            </a:r>
            <a:endParaRPr lang="en-IN" dirty="0"/>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17</a:t>
            </a:fld>
            <a:endParaRPr lang="en-US" dirty="0">
              <a:solidFill>
                <a:srgbClr val="0E5580"/>
              </a:solidFill>
            </a:endParaRPr>
          </a:p>
        </p:txBody>
      </p:sp>
      <p:sp>
        <p:nvSpPr>
          <p:cNvPr id="15" name="Rounded Rectangle 14"/>
          <p:cNvSpPr/>
          <p:nvPr/>
        </p:nvSpPr>
        <p:spPr>
          <a:xfrm>
            <a:off x="514075" y="1997622"/>
            <a:ext cx="3997693" cy="226048"/>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t>Affluence</a:t>
            </a:r>
            <a:endParaRPr lang="en-IN" sz="1400" dirty="0"/>
          </a:p>
        </p:txBody>
      </p:sp>
      <p:graphicFrame>
        <p:nvGraphicFramePr>
          <p:cNvPr id="26" name="Chart 25"/>
          <p:cNvGraphicFramePr/>
          <p:nvPr>
            <p:extLst/>
          </p:nvPr>
        </p:nvGraphicFramePr>
        <p:xfrm>
          <a:off x="5162785" y="2227491"/>
          <a:ext cx="4008822" cy="1940196"/>
        </p:xfrm>
        <a:graphic>
          <a:graphicData uri="http://schemas.openxmlformats.org/drawingml/2006/chart">
            <c:chart xmlns:c="http://schemas.openxmlformats.org/drawingml/2006/chart" xmlns:r="http://schemas.openxmlformats.org/officeDocument/2006/relationships" r:id="rId3"/>
          </a:graphicData>
        </a:graphic>
      </p:graphicFrame>
      <p:sp>
        <p:nvSpPr>
          <p:cNvPr id="29" name="Rounded Rectangle 28"/>
          <p:cNvSpPr/>
          <p:nvPr/>
        </p:nvSpPr>
        <p:spPr>
          <a:xfrm>
            <a:off x="5176853" y="2001675"/>
            <a:ext cx="3997693" cy="226048"/>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t>Population</a:t>
            </a:r>
            <a:endParaRPr lang="en-IN" sz="1400" dirty="0"/>
          </a:p>
        </p:txBody>
      </p:sp>
      <p:graphicFrame>
        <p:nvGraphicFramePr>
          <p:cNvPr id="30" name="Chart 29"/>
          <p:cNvGraphicFramePr/>
          <p:nvPr>
            <p:extLst/>
          </p:nvPr>
        </p:nvGraphicFramePr>
        <p:xfrm>
          <a:off x="511726" y="4592566"/>
          <a:ext cx="3986565" cy="1924836"/>
        </p:xfrm>
        <a:graphic>
          <a:graphicData uri="http://schemas.openxmlformats.org/drawingml/2006/chart">
            <c:chart xmlns:c="http://schemas.openxmlformats.org/drawingml/2006/chart" xmlns:r="http://schemas.openxmlformats.org/officeDocument/2006/relationships" r:id="rId4"/>
          </a:graphicData>
        </a:graphic>
      </p:graphicFrame>
      <p:sp>
        <p:nvSpPr>
          <p:cNvPr id="32" name="Rounded Rectangle 31"/>
          <p:cNvSpPr/>
          <p:nvPr/>
        </p:nvSpPr>
        <p:spPr>
          <a:xfrm>
            <a:off x="511727" y="4371524"/>
            <a:ext cx="3997693" cy="226048"/>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t>Sophistication</a:t>
            </a:r>
            <a:endParaRPr lang="en-IN" sz="1400" dirty="0"/>
          </a:p>
        </p:txBody>
      </p:sp>
      <p:graphicFrame>
        <p:nvGraphicFramePr>
          <p:cNvPr id="34" name="Chart 33"/>
          <p:cNvGraphicFramePr/>
          <p:nvPr>
            <p:extLst/>
          </p:nvPr>
        </p:nvGraphicFramePr>
        <p:xfrm>
          <a:off x="5190919" y="4602581"/>
          <a:ext cx="3986565" cy="1924836"/>
        </p:xfrm>
        <a:graphic>
          <a:graphicData uri="http://schemas.openxmlformats.org/drawingml/2006/chart">
            <c:chart xmlns:c="http://schemas.openxmlformats.org/drawingml/2006/chart" xmlns:r="http://schemas.openxmlformats.org/officeDocument/2006/relationships" r:id="rId5"/>
          </a:graphicData>
        </a:graphic>
      </p:graphicFrame>
      <p:sp>
        <p:nvSpPr>
          <p:cNvPr id="35" name="Rounded Rectangle 34"/>
          <p:cNvSpPr/>
          <p:nvPr/>
        </p:nvSpPr>
        <p:spPr>
          <a:xfrm>
            <a:off x="5190920" y="4368660"/>
            <a:ext cx="3997693" cy="226048"/>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t>Average Age</a:t>
            </a:r>
            <a:endParaRPr lang="en-IN" sz="1400" dirty="0"/>
          </a:p>
        </p:txBody>
      </p:sp>
      <p:sp>
        <p:nvSpPr>
          <p:cNvPr id="36" name="Text Placeholder 6"/>
          <p:cNvSpPr>
            <a:spLocks noGrp="1"/>
          </p:cNvSpPr>
          <p:nvPr>
            <p:ph type="body" sz="quarter" idx="13"/>
          </p:nvPr>
        </p:nvSpPr>
        <p:spPr>
          <a:xfrm>
            <a:off x="528356" y="1174882"/>
            <a:ext cx="11172609" cy="582362"/>
          </a:xfrm>
        </p:spPr>
        <p:txBody>
          <a:bodyPr>
            <a:normAutofit fontScale="92500" lnSpcReduction="10000"/>
          </a:bodyPr>
          <a:lstStyle/>
          <a:p>
            <a:r>
              <a:rPr lang="en-IN" dirty="0" smtClean="0"/>
              <a:t>The Score identifies relatively Affluent, populated and sophisticated PINs with a slightly younger demography  </a:t>
            </a:r>
            <a:endParaRPr lang="en-IN" dirty="0"/>
          </a:p>
        </p:txBody>
      </p:sp>
      <p:cxnSp>
        <p:nvCxnSpPr>
          <p:cNvPr id="37" name="Straight Connector 36"/>
          <p:cNvCxnSpPr/>
          <p:nvPr/>
        </p:nvCxnSpPr>
        <p:spPr>
          <a:xfrm>
            <a:off x="468965" y="1743172"/>
            <a:ext cx="11232000" cy="1971"/>
          </a:xfrm>
          <a:prstGeom prst="line">
            <a:avLst/>
          </a:prstGeom>
          <a:ln w="28575">
            <a:solidFill>
              <a:srgbClr val="1C5785"/>
            </a:solidFill>
          </a:ln>
        </p:spPr>
        <p:style>
          <a:lnRef idx="1">
            <a:schemeClr val="accent1"/>
          </a:lnRef>
          <a:fillRef idx="0">
            <a:schemeClr val="accent1"/>
          </a:fillRef>
          <a:effectRef idx="0">
            <a:schemeClr val="accent1"/>
          </a:effectRef>
          <a:fontRef idx="minor">
            <a:schemeClr val="tx1"/>
          </a:fontRef>
        </p:style>
      </p:cxnSp>
      <p:graphicFrame>
        <p:nvGraphicFramePr>
          <p:cNvPr id="16" name="Table 15"/>
          <p:cNvGraphicFramePr>
            <a:graphicFrameLocks noGrp="1"/>
          </p:cNvGraphicFramePr>
          <p:nvPr>
            <p:extLst/>
          </p:nvPr>
        </p:nvGraphicFramePr>
        <p:xfrm>
          <a:off x="9767324" y="1997622"/>
          <a:ext cx="1888056" cy="897255"/>
        </p:xfrm>
        <a:graphic>
          <a:graphicData uri="http://schemas.openxmlformats.org/drawingml/2006/table">
            <a:tbl>
              <a:tblPr firstRow="1" bandRow="1">
                <a:tableStyleId>{5C22544A-7EE6-4342-B048-85BDC9FD1C3A}</a:tableStyleId>
              </a:tblPr>
              <a:tblGrid>
                <a:gridCol w="944028"/>
                <a:gridCol w="944028"/>
              </a:tblGrid>
              <a:tr h="299085">
                <a:tc>
                  <a:txBody>
                    <a:bodyPr/>
                    <a:lstStyle/>
                    <a:p>
                      <a:pPr algn="ctr"/>
                      <a:r>
                        <a:rPr lang="en-IN" sz="1000" dirty="0" smtClean="0"/>
                        <a:t># Total</a:t>
                      </a:r>
                      <a:r>
                        <a:rPr lang="en-IN" sz="1000" baseline="0" dirty="0" smtClean="0"/>
                        <a:t> PINs</a:t>
                      </a:r>
                      <a:endParaRPr lang="en-IN" sz="1000" dirty="0"/>
                    </a:p>
                  </a:txBody>
                  <a:tcPr/>
                </a:tc>
                <a:tc>
                  <a:txBody>
                    <a:bodyPr/>
                    <a:lstStyle/>
                    <a:p>
                      <a:pPr algn="ctr"/>
                      <a:r>
                        <a:rPr lang="en-IN" sz="1000" dirty="0" smtClean="0"/>
                        <a:t>104</a:t>
                      </a:r>
                      <a:endParaRPr lang="en-IN" sz="1000" dirty="0"/>
                    </a:p>
                  </a:txBody>
                  <a:tcPr/>
                </a:tc>
              </a:tr>
              <a:tr h="299085">
                <a:tc>
                  <a:txBody>
                    <a:bodyPr/>
                    <a:lstStyle/>
                    <a:p>
                      <a:pPr algn="ctr"/>
                      <a:r>
                        <a:rPr lang="en-IN" sz="1000" dirty="0" smtClean="0"/>
                        <a:t>High*</a:t>
                      </a:r>
                      <a:endParaRPr lang="en-IN" sz="1000" dirty="0"/>
                    </a:p>
                  </a:txBody>
                  <a:tcPr/>
                </a:tc>
                <a:tc>
                  <a:txBody>
                    <a:bodyPr/>
                    <a:lstStyle/>
                    <a:p>
                      <a:pPr algn="ctr"/>
                      <a:r>
                        <a:rPr lang="en-IN" sz="1000" dirty="0" smtClean="0"/>
                        <a:t>83</a:t>
                      </a:r>
                      <a:endParaRPr lang="en-IN" sz="1000" dirty="0"/>
                    </a:p>
                  </a:txBody>
                  <a:tcPr/>
                </a:tc>
              </a:tr>
              <a:tr h="299085">
                <a:tc>
                  <a:txBody>
                    <a:bodyPr/>
                    <a:lstStyle/>
                    <a:p>
                      <a:pPr algn="ctr"/>
                      <a:r>
                        <a:rPr lang="en-IN" sz="1000" dirty="0" smtClean="0"/>
                        <a:t>Med-Low*</a:t>
                      </a:r>
                      <a:endParaRPr lang="en-IN" sz="1000" dirty="0"/>
                    </a:p>
                  </a:txBody>
                  <a:tcPr/>
                </a:tc>
                <a:tc>
                  <a:txBody>
                    <a:bodyPr/>
                    <a:lstStyle/>
                    <a:p>
                      <a:pPr algn="ctr"/>
                      <a:r>
                        <a:rPr lang="en-IN" sz="1000" dirty="0" smtClean="0"/>
                        <a:t>21</a:t>
                      </a:r>
                      <a:endParaRPr lang="en-IN" sz="1000" dirty="0"/>
                    </a:p>
                  </a:txBody>
                  <a:tcPr/>
                </a:tc>
              </a:tr>
            </a:tbl>
          </a:graphicData>
        </a:graphic>
      </p:graphicFrame>
      <p:sp>
        <p:nvSpPr>
          <p:cNvPr id="17" name="Rounded Rectangle 16"/>
          <p:cNvSpPr/>
          <p:nvPr/>
        </p:nvSpPr>
        <p:spPr>
          <a:xfrm>
            <a:off x="5430128" y="2247920"/>
            <a:ext cx="858129" cy="127478"/>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800" dirty="0" smtClean="0">
                <a:solidFill>
                  <a:sysClr val="windowText" lastClr="000000"/>
                </a:solidFill>
              </a:rPr>
              <a:t>In thousands</a:t>
            </a:r>
            <a:endParaRPr lang="en-IN" sz="800" dirty="0">
              <a:solidFill>
                <a:sysClr val="windowText" lastClr="000000"/>
              </a:solidFill>
            </a:endParaRPr>
          </a:p>
        </p:txBody>
      </p:sp>
      <p:sp>
        <p:nvSpPr>
          <p:cNvPr id="3" name="Rounded Rectangle 2"/>
          <p:cNvSpPr/>
          <p:nvPr/>
        </p:nvSpPr>
        <p:spPr>
          <a:xfrm>
            <a:off x="9767324" y="2968281"/>
            <a:ext cx="1933641" cy="46423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dirty="0" smtClean="0">
                <a:solidFill>
                  <a:sysClr val="windowText" lastClr="000000"/>
                </a:solidFill>
              </a:rPr>
              <a:t>* Score Classification based on National ranking </a:t>
            </a:r>
            <a:endParaRPr lang="en-IN" sz="1000" dirty="0">
              <a:solidFill>
                <a:sysClr val="windowText" lastClr="000000"/>
              </a:solidFill>
            </a:endParaRPr>
          </a:p>
        </p:txBody>
      </p:sp>
    </p:spTree>
    <p:extLst>
      <p:ext uri="{BB962C8B-B14F-4D97-AF65-F5344CB8AC3E}">
        <p14:creationId xmlns:p14="http://schemas.microsoft.com/office/powerpoint/2010/main" val="1791306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dirty="0" smtClean="0"/>
              <a:t>Computing Model Results</a:t>
            </a:r>
            <a:endParaRPr lang="en-IN" dirty="0"/>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18</a:t>
            </a:fld>
            <a:endParaRPr lang="en-US" dirty="0">
              <a:solidFill>
                <a:srgbClr val="0E5580"/>
              </a:solidFill>
            </a:endParaRPr>
          </a:p>
        </p:txBody>
      </p:sp>
      <p:graphicFrame>
        <p:nvGraphicFramePr>
          <p:cNvPr id="8" name="Table 7"/>
          <p:cNvGraphicFramePr>
            <a:graphicFrameLocks noGrp="1"/>
          </p:cNvGraphicFramePr>
          <p:nvPr>
            <p:extLst>
              <p:ext uri="{D42A27DB-BD31-4B8C-83A1-F6EECF244321}">
                <p14:modId xmlns:p14="http://schemas.microsoft.com/office/powerpoint/2010/main" val="1849896560"/>
              </p:ext>
            </p:extLst>
          </p:nvPr>
        </p:nvGraphicFramePr>
        <p:xfrm>
          <a:off x="1218981" y="2928535"/>
          <a:ext cx="7115771" cy="2354436"/>
        </p:xfrm>
        <a:graphic>
          <a:graphicData uri="http://schemas.openxmlformats.org/drawingml/2006/table">
            <a:tbl>
              <a:tblPr firstRow="1" bandRow="1">
                <a:tableStyleId>{5C22544A-7EE6-4342-B048-85BDC9FD1C3A}</a:tableStyleId>
              </a:tblPr>
              <a:tblGrid>
                <a:gridCol w="1286256"/>
                <a:gridCol w="1560053"/>
                <a:gridCol w="1423154"/>
                <a:gridCol w="1471845"/>
                <a:gridCol w="1374463"/>
              </a:tblGrid>
              <a:tr h="354244">
                <a:tc>
                  <a:txBody>
                    <a:bodyPr/>
                    <a:lstStyle/>
                    <a:p>
                      <a:pPr algn="ctr"/>
                      <a:r>
                        <a:rPr lang="en-IN" sz="1900" b="1" dirty="0" smtClean="0"/>
                        <a:t>Scores</a:t>
                      </a:r>
                      <a:endParaRPr lang="en-IN" sz="1900" b="1" dirty="0"/>
                    </a:p>
                  </a:txBody>
                  <a:tcPr marL="86125" marR="86125" marT="43062" marB="43062">
                    <a:solidFill>
                      <a:schemeClr val="tx2"/>
                    </a:solidFill>
                  </a:tcPr>
                </a:tc>
                <a:tc>
                  <a:txBody>
                    <a:bodyPr/>
                    <a:lstStyle/>
                    <a:p>
                      <a:pPr algn="ctr"/>
                      <a:r>
                        <a:rPr lang="en-IN" sz="1900" b="0" dirty="0" smtClean="0"/>
                        <a:t>High</a:t>
                      </a:r>
                      <a:endParaRPr lang="en-IN" sz="1900" b="0" dirty="0"/>
                    </a:p>
                  </a:txBody>
                  <a:tcPr marL="86125" marR="86125" marT="43062" marB="43062">
                    <a:solidFill>
                      <a:schemeClr val="tx2"/>
                    </a:solidFill>
                  </a:tcPr>
                </a:tc>
                <a:tc>
                  <a:txBody>
                    <a:bodyPr/>
                    <a:lstStyle/>
                    <a:p>
                      <a:pPr algn="ctr"/>
                      <a:r>
                        <a:rPr lang="en-IN" sz="1900" b="0" dirty="0" smtClean="0"/>
                        <a:t>Medium</a:t>
                      </a:r>
                      <a:endParaRPr lang="en-IN" sz="1900" b="0" dirty="0"/>
                    </a:p>
                  </a:txBody>
                  <a:tcPr marL="86125" marR="86125" marT="43062" marB="43062">
                    <a:solidFill>
                      <a:schemeClr val="tx2"/>
                    </a:solidFill>
                  </a:tcPr>
                </a:tc>
                <a:tc>
                  <a:txBody>
                    <a:bodyPr/>
                    <a:lstStyle/>
                    <a:p>
                      <a:pPr algn="ctr"/>
                      <a:r>
                        <a:rPr lang="en-IN" sz="1900" b="0" dirty="0" smtClean="0"/>
                        <a:t>Low</a:t>
                      </a:r>
                      <a:endParaRPr lang="en-IN" sz="1900" b="0" dirty="0"/>
                    </a:p>
                  </a:txBody>
                  <a:tcPr marL="86125" marR="86125" marT="43062" marB="43062">
                    <a:solidFill>
                      <a:schemeClr val="tx2"/>
                    </a:solidFill>
                  </a:tcPr>
                </a:tc>
                <a:tc>
                  <a:txBody>
                    <a:bodyPr/>
                    <a:lstStyle/>
                    <a:p>
                      <a:pPr algn="ctr"/>
                      <a:r>
                        <a:rPr lang="en-IN" sz="1900" b="0" dirty="0" smtClean="0"/>
                        <a:t>Zero</a:t>
                      </a:r>
                      <a:endParaRPr lang="en-IN" sz="1900" b="0" dirty="0"/>
                    </a:p>
                  </a:txBody>
                  <a:tcPr marL="86125" marR="86125" marT="43062" marB="43062">
                    <a:solidFill>
                      <a:schemeClr val="tx2"/>
                    </a:solidFill>
                  </a:tcPr>
                </a:tc>
              </a:tr>
              <a:tr h="659584">
                <a:tc>
                  <a:txBody>
                    <a:bodyPr/>
                    <a:lstStyle/>
                    <a:p>
                      <a:pPr algn="ctr"/>
                      <a:r>
                        <a:rPr lang="en-IN" sz="1900" b="0" dirty="0" smtClean="0">
                          <a:solidFill>
                            <a:schemeClr val="bg1"/>
                          </a:solidFill>
                        </a:rPr>
                        <a:t>High </a:t>
                      </a:r>
                      <a:endParaRPr lang="en-IN" sz="1900" b="0" dirty="0">
                        <a:solidFill>
                          <a:schemeClr val="bg1"/>
                        </a:solidFill>
                      </a:endParaRPr>
                    </a:p>
                  </a:txBody>
                  <a:tcPr marL="86125" marR="86125" marT="43062" marB="43062" anchor="ctr">
                    <a:solidFill>
                      <a:schemeClr val="tx2"/>
                    </a:solidFill>
                  </a:tcPr>
                </a:tc>
                <a:tc>
                  <a:txBody>
                    <a:bodyPr/>
                    <a:lstStyle/>
                    <a:p>
                      <a:endParaRPr lang="en-IN" sz="1700" dirty="0"/>
                    </a:p>
                  </a:txBody>
                  <a:tcPr marL="86125" marR="86125" marT="43062" marB="43062">
                    <a:solidFill>
                      <a:schemeClr val="tx2">
                        <a:lumMod val="50000"/>
                      </a:schemeClr>
                    </a:solidFill>
                  </a:tcPr>
                </a:tc>
                <a:tc>
                  <a:txBody>
                    <a:bodyPr/>
                    <a:lstStyle/>
                    <a:p>
                      <a:endParaRPr lang="en-IN" sz="1700" dirty="0"/>
                    </a:p>
                  </a:txBody>
                  <a:tcPr marL="86125" marR="86125" marT="43062" marB="43062">
                    <a:solidFill>
                      <a:schemeClr val="tx2">
                        <a:lumMod val="75000"/>
                      </a:schemeClr>
                    </a:solidFill>
                  </a:tcPr>
                </a:tc>
                <a:tc>
                  <a:txBody>
                    <a:bodyPr/>
                    <a:lstStyle/>
                    <a:p>
                      <a:endParaRPr lang="en-IN" sz="1700" dirty="0"/>
                    </a:p>
                  </a:txBody>
                  <a:tcPr marL="86125" marR="86125" marT="43062" marB="43062">
                    <a:solidFill>
                      <a:schemeClr val="tx2">
                        <a:lumMod val="40000"/>
                        <a:lumOff val="60000"/>
                      </a:schemeClr>
                    </a:solidFill>
                  </a:tcPr>
                </a:tc>
                <a:tc>
                  <a:txBody>
                    <a:bodyPr/>
                    <a:lstStyle/>
                    <a:p>
                      <a:endParaRPr lang="en-IN" sz="1700" dirty="0"/>
                    </a:p>
                  </a:txBody>
                  <a:tcPr marL="86125" marR="86125" marT="43062" marB="43062">
                    <a:solidFill>
                      <a:schemeClr val="tx2">
                        <a:lumMod val="20000"/>
                        <a:lumOff val="80000"/>
                      </a:schemeClr>
                    </a:solidFill>
                  </a:tcPr>
                </a:tc>
              </a:tr>
              <a:tr h="659584">
                <a:tc>
                  <a:txBody>
                    <a:bodyPr/>
                    <a:lstStyle/>
                    <a:p>
                      <a:pPr algn="ctr"/>
                      <a:r>
                        <a:rPr lang="en-IN" sz="1900" b="0" dirty="0" smtClean="0">
                          <a:solidFill>
                            <a:schemeClr val="bg1"/>
                          </a:solidFill>
                        </a:rPr>
                        <a:t>Medium</a:t>
                      </a:r>
                      <a:endParaRPr lang="en-IN" sz="1900" b="0" dirty="0">
                        <a:solidFill>
                          <a:schemeClr val="bg1"/>
                        </a:solidFill>
                      </a:endParaRPr>
                    </a:p>
                  </a:txBody>
                  <a:tcPr marL="86125" marR="86125" marT="43062" marB="43062" anchor="ctr">
                    <a:solidFill>
                      <a:schemeClr val="tx2"/>
                    </a:solidFill>
                  </a:tcPr>
                </a:tc>
                <a:tc>
                  <a:txBody>
                    <a:bodyPr/>
                    <a:lstStyle/>
                    <a:p>
                      <a:endParaRPr lang="en-IN" sz="1700" dirty="0"/>
                    </a:p>
                  </a:txBody>
                  <a:tcPr marL="86125" marR="86125" marT="43062" marB="43062">
                    <a:solidFill>
                      <a:schemeClr val="tx2">
                        <a:lumMod val="75000"/>
                      </a:schemeClr>
                    </a:solidFill>
                  </a:tcPr>
                </a:tc>
                <a:tc>
                  <a:txBody>
                    <a:bodyPr/>
                    <a:lstStyle/>
                    <a:p>
                      <a:endParaRPr lang="en-IN" sz="1700" dirty="0"/>
                    </a:p>
                  </a:txBody>
                  <a:tcPr marL="86125" marR="86125" marT="43062" marB="43062">
                    <a:solidFill>
                      <a:schemeClr val="tx2">
                        <a:lumMod val="60000"/>
                        <a:lumOff val="40000"/>
                      </a:schemeClr>
                    </a:solidFill>
                  </a:tcPr>
                </a:tc>
                <a:tc>
                  <a:txBody>
                    <a:bodyPr/>
                    <a:lstStyle/>
                    <a:p>
                      <a:endParaRPr lang="en-IN" sz="1700" dirty="0"/>
                    </a:p>
                  </a:txBody>
                  <a:tcPr marL="86125" marR="86125" marT="43062" marB="43062">
                    <a:solidFill>
                      <a:schemeClr val="tx2">
                        <a:lumMod val="40000"/>
                        <a:lumOff val="60000"/>
                      </a:schemeClr>
                    </a:solidFill>
                  </a:tcPr>
                </a:tc>
                <a:tc>
                  <a:txBody>
                    <a:bodyPr/>
                    <a:lstStyle/>
                    <a:p>
                      <a:endParaRPr lang="en-IN" sz="1700" dirty="0"/>
                    </a:p>
                  </a:txBody>
                  <a:tcPr marL="86125" marR="86125" marT="43062" marB="43062">
                    <a:solidFill>
                      <a:schemeClr val="tx2">
                        <a:lumMod val="20000"/>
                        <a:lumOff val="80000"/>
                      </a:schemeClr>
                    </a:solidFill>
                  </a:tcPr>
                </a:tc>
              </a:tr>
              <a:tr h="659584">
                <a:tc>
                  <a:txBody>
                    <a:bodyPr/>
                    <a:lstStyle/>
                    <a:p>
                      <a:pPr algn="ctr"/>
                      <a:r>
                        <a:rPr lang="en-IN" sz="1900" b="0" dirty="0" smtClean="0">
                          <a:solidFill>
                            <a:schemeClr val="bg1"/>
                          </a:solidFill>
                        </a:rPr>
                        <a:t>Low</a:t>
                      </a:r>
                      <a:endParaRPr lang="en-IN" sz="1900" b="0" dirty="0">
                        <a:solidFill>
                          <a:schemeClr val="bg1"/>
                        </a:solidFill>
                      </a:endParaRPr>
                    </a:p>
                  </a:txBody>
                  <a:tcPr marL="86125" marR="86125" marT="43062" marB="43062" anchor="ctr">
                    <a:solidFill>
                      <a:schemeClr val="tx2"/>
                    </a:solidFill>
                  </a:tcPr>
                </a:tc>
                <a:tc>
                  <a:txBody>
                    <a:bodyPr/>
                    <a:lstStyle/>
                    <a:p>
                      <a:endParaRPr lang="en-IN" sz="1700" dirty="0"/>
                    </a:p>
                  </a:txBody>
                  <a:tcPr marL="86125" marR="86125" marT="43062" marB="43062">
                    <a:solidFill>
                      <a:schemeClr val="tx2">
                        <a:lumMod val="40000"/>
                        <a:lumOff val="60000"/>
                      </a:schemeClr>
                    </a:solidFill>
                  </a:tcPr>
                </a:tc>
                <a:tc>
                  <a:txBody>
                    <a:bodyPr/>
                    <a:lstStyle/>
                    <a:p>
                      <a:endParaRPr lang="en-IN" sz="1700" dirty="0"/>
                    </a:p>
                  </a:txBody>
                  <a:tcPr marL="86125" marR="86125" marT="43062" marB="43062">
                    <a:solidFill>
                      <a:schemeClr val="tx2">
                        <a:lumMod val="40000"/>
                        <a:lumOff val="60000"/>
                      </a:schemeClr>
                    </a:solidFill>
                  </a:tcPr>
                </a:tc>
                <a:tc>
                  <a:txBody>
                    <a:bodyPr/>
                    <a:lstStyle/>
                    <a:p>
                      <a:endParaRPr lang="en-IN" sz="1700" dirty="0"/>
                    </a:p>
                  </a:txBody>
                  <a:tcPr marL="86125" marR="86125" marT="43062" marB="43062">
                    <a:solidFill>
                      <a:schemeClr val="tx2">
                        <a:lumMod val="40000"/>
                        <a:lumOff val="60000"/>
                      </a:schemeClr>
                    </a:solidFill>
                  </a:tcPr>
                </a:tc>
                <a:tc>
                  <a:txBody>
                    <a:bodyPr/>
                    <a:lstStyle/>
                    <a:p>
                      <a:endParaRPr lang="en-IN" sz="1700" dirty="0"/>
                    </a:p>
                  </a:txBody>
                  <a:tcPr marL="86125" marR="86125" marT="43062" marB="43062">
                    <a:solidFill>
                      <a:schemeClr val="tx2">
                        <a:lumMod val="20000"/>
                        <a:lumOff val="80000"/>
                      </a:schemeClr>
                    </a:solidFill>
                  </a:tcPr>
                </a:tc>
              </a:tr>
            </a:tbl>
          </a:graphicData>
        </a:graphic>
      </p:graphicFrame>
      <p:cxnSp>
        <p:nvCxnSpPr>
          <p:cNvPr id="10" name="Straight Arrow Connector 9"/>
          <p:cNvCxnSpPr/>
          <p:nvPr/>
        </p:nvCxnSpPr>
        <p:spPr>
          <a:xfrm>
            <a:off x="1186954" y="2664010"/>
            <a:ext cx="7147798" cy="0"/>
          </a:xfrm>
          <a:prstGeom prst="straightConnector1">
            <a:avLst/>
          </a:prstGeom>
          <a:ln>
            <a:solidFill>
              <a:schemeClr val="accent6">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a:off x="800418" y="2934467"/>
            <a:ext cx="1" cy="2361383"/>
          </a:xfrm>
          <a:prstGeom prst="straightConnector1">
            <a:avLst/>
          </a:prstGeom>
          <a:ln>
            <a:solidFill>
              <a:schemeClr val="accent6">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bwMode="gray">
          <a:xfrm>
            <a:off x="4151548" y="2529364"/>
            <a:ext cx="1283336" cy="227812"/>
          </a:xfrm>
          <a:prstGeom prst="rect">
            <a:avLst/>
          </a:prstGeom>
          <a:solidFill>
            <a:schemeClr val="bg1"/>
          </a:solidFill>
        </p:spPr>
        <p:txBody>
          <a:bodyPr vert="horz" wrap="none" lIns="91440" tIns="45720" rIns="91440" bIns="45720" rtlCol="0" anchor="ctr">
            <a:noAutofit/>
          </a:bodyPr>
          <a:lstStyle/>
          <a:p>
            <a:r>
              <a:rPr lang="en-IN" sz="2000" dirty="0" smtClean="0">
                <a:latin typeface="Calibri" panose="020F0502020204030204" pitchFamily="34" charset="0"/>
              </a:rPr>
              <a:t>Probability</a:t>
            </a:r>
          </a:p>
        </p:txBody>
      </p:sp>
      <p:sp>
        <p:nvSpPr>
          <p:cNvPr id="16" name="TextBox 15"/>
          <p:cNvSpPr txBox="1"/>
          <p:nvPr/>
        </p:nvSpPr>
        <p:spPr bwMode="gray">
          <a:xfrm rot="16200000">
            <a:off x="224792" y="4033780"/>
            <a:ext cx="1136597" cy="360258"/>
          </a:xfrm>
          <a:prstGeom prst="rect">
            <a:avLst/>
          </a:prstGeom>
          <a:solidFill>
            <a:schemeClr val="bg1"/>
          </a:solidFill>
        </p:spPr>
        <p:txBody>
          <a:bodyPr vert="horz" wrap="none" lIns="91440" tIns="45720" rIns="91440" bIns="45720" rtlCol="0" anchor="ctr">
            <a:noAutofit/>
          </a:bodyPr>
          <a:lstStyle/>
          <a:p>
            <a:r>
              <a:rPr lang="en-IN" sz="2000" dirty="0" smtClean="0">
                <a:latin typeface="Calibri" panose="020F0502020204030204" pitchFamily="34" charset="0"/>
              </a:rPr>
              <a:t>Potential</a:t>
            </a:r>
          </a:p>
        </p:txBody>
      </p:sp>
      <p:sp>
        <p:nvSpPr>
          <p:cNvPr id="21" name="Rectangle 20"/>
          <p:cNvSpPr/>
          <p:nvPr/>
        </p:nvSpPr>
        <p:spPr>
          <a:xfrm>
            <a:off x="8985665" y="3217933"/>
            <a:ext cx="914400" cy="267286"/>
          </a:xfrm>
          <a:prstGeom prst="rect">
            <a:avLst/>
          </a:prstGeom>
          <a:solidFill>
            <a:srgbClr val="072A40"/>
          </a:solidFill>
          <a:ln>
            <a:solidFill>
              <a:srgbClr val="072A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p:nvSpPr>
        <p:spPr>
          <a:xfrm>
            <a:off x="8985665" y="3631865"/>
            <a:ext cx="914400" cy="267286"/>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22"/>
          <p:cNvSpPr/>
          <p:nvPr/>
        </p:nvSpPr>
        <p:spPr>
          <a:xfrm>
            <a:off x="8985665" y="4066722"/>
            <a:ext cx="914400" cy="267286"/>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ectangle 23"/>
          <p:cNvSpPr/>
          <p:nvPr/>
        </p:nvSpPr>
        <p:spPr>
          <a:xfrm>
            <a:off x="8985665" y="4514519"/>
            <a:ext cx="914400" cy="267286"/>
          </a:xfrm>
          <a:prstGeom prst="rect">
            <a:avLst/>
          </a:prstGeom>
          <a:solidFill>
            <a:schemeClr val="tx2">
              <a:lumMod val="40000"/>
              <a:lumOff val="60000"/>
            </a:schemeClr>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Box 24"/>
          <p:cNvSpPr txBox="1"/>
          <p:nvPr/>
        </p:nvSpPr>
        <p:spPr bwMode="gray">
          <a:xfrm>
            <a:off x="9046359" y="2566015"/>
            <a:ext cx="1726929" cy="335372"/>
          </a:xfrm>
          <a:prstGeom prst="rect">
            <a:avLst/>
          </a:prstGeom>
        </p:spPr>
        <p:txBody>
          <a:bodyPr vert="horz" wrap="none" lIns="91440" tIns="45720" rIns="91440" bIns="45720" rtlCol="0" anchor="ctr">
            <a:noAutofit/>
          </a:bodyPr>
          <a:lstStyle/>
          <a:p>
            <a:r>
              <a:rPr lang="en-IN" dirty="0" smtClean="0">
                <a:latin typeface="Calibri" panose="020F0502020204030204" pitchFamily="34" charset="0"/>
              </a:rPr>
              <a:t>Store Location Preference</a:t>
            </a:r>
          </a:p>
        </p:txBody>
      </p:sp>
      <p:sp>
        <p:nvSpPr>
          <p:cNvPr id="26" name="TextBox 25"/>
          <p:cNvSpPr txBox="1"/>
          <p:nvPr/>
        </p:nvSpPr>
        <p:spPr bwMode="gray">
          <a:xfrm>
            <a:off x="10229724" y="3151797"/>
            <a:ext cx="914400" cy="267286"/>
          </a:xfrm>
          <a:prstGeom prst="rect">
            <a:avLst/>
          </a:prstGeom>
        </p:spPr>
        <p:txBody>
          <a:bodyPr vert="horz" wrap="none" lIns="91440" tIns="45720" rIns="91440" bIns="45720" rtlCol="0" anchor="ctr">
            <a:noAutofit/>
          </a:bodyPr>
          <a:lstStyle/>
          <a:p>
            <a:r>
              <a:rPr lang="en-IN" dirty="0" smtClean="0">
                <a:latin typeface="Calibri" panose="020F0502020204030204" pitchFamily="34" charset="0"/>
              </a:rPr>
              <a:t>Highest</a:t>
            </a:r>
          </a:p>
        </p:txBody>
      </p:sp>
      <p:sp>
        <p:nvSpPr>
          <p:cNvPr id="27" name="TextBox 26"/>
          <p:cNvSpPr txBox="1"/>
          <p:nvPr/>
        </p:nvSpPr>
        <p:spPr bwMode="gray">
          <a:xfrm>
            <a:off x="10268361" y="4954353"/>
            <a:ext cx="914400" cy="267286"/>
          </a:xfrm>
          <a:prstGeom prst="rect">
            <a:avLst/>
          </a:prstGeom>
        </p:spPr>
        <p:txBody>
          <a:bodyPr vert="horz" wrap="none" lIns="91440" tIns="45720" rIns="91440" bIns="45720" rtlCol="0" anchor="ctr">
            <a:noAutofit/>
          </a:bodyPr>
          <a:lstStyle/>
          <a:p>
            <a:r>
              <a:rPr lang="en-IN" dirty="0" smtClean="0">
                <a:latin typeface="Calibri" panose="020F0502020204030204" pitchFamily="34" charset="0"/>
              </a:rPr>
              <a:t>Lowest</a:t>
            </a:r>
          </a:p>
        </p:txBody>
      </p:sp>
      <p:sp>
        <p:nvSpPr>
          <p:cNvPr id="28" name="Rectangle 27"/>
          <p:cNvSpPr/>
          <p:nvPr/>
        </p:nvSpPr>
        <p:spPr>
          <a:xfrm>
            <a:off x="8985665" y="4962316"/>
            <a:ext cx="914400" cy="267286"/>
          </a:xfrm>
          <a:prstGeom prst="rect">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0" name="Straight Arrow Connector 29"/>
          <p:cNvCxnSpPr>
            <a:endCxn id="27" idx="0"/>
          </p:cNvCxnSpPr>
          <p:nvPr/>
        </p:nvCxnSpPr>
        <p:spPr>
          <a:xfrm>
            <a:off x="10686924" y="3406204"/>
            <a:ext cx="0" cy="1548149"/>
          </a:xfrm>
          <a:prstGeom prst="straightConnector1">
            <a:avLst/>
          </a:prstGeom>
          <a:ln>
            <a:solidFill>
              <a:schemeClr val="tx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36"/>
          <p:cNvSpPr/>
          <p:nvPr/>
        </p:nvSpPr>
        <p:spPr>
          <a:xfrm>
            <a:off x="1090187" y="1844511"/>
            <a:ext cx="9925143" cy="513119"/>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solidFill>
                  <a:schemeClr val="tx2">
                    <a:lumMod val="50000"/>
                  </a:schemeClr>
                </a:solidFill>
              </a:rPr>
              <a:t>For each pair of PINs we have a probability score. For each PIN we have a potential score </a:t>
            </a:r>
            <a:endParaRPr lang="en-IN" sz="1600" dirty="0">
              <a:solidFill>
                <a:schemeClr val="tx2">
                  <a:lumMod val="50000"/>
                </a:schemeClr>
              </a:solidFill>
            </a:endParaRPr>
          </a:p>
        </p:txBody>
      </p:sp>
      <p:sp>
        <p:nvSpPr>
          <p:cNvPr id="38" name="Rectangle 37"/>
          <p:cNvSpPr/>
          <p:nvPr/>
        </p:nvSpPr>
        <p:spPr>
          <a:xfrm>
            <a:off x="1189435" y="5813420"/>
            <a:ext cx="9925143" cy="676203"/>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solidFill>
                  <a:schemeClr val="tx2">
                    <a:lumMod val="50000"/>
                  </a:schemeClr>
                </a:solidFill>
              </a:rPr>
              <a:t>A total score for each PIN is calculated based on the number of High-High, High-Medium and Medium-High Combinations it has</a:t>
            </a:r>
            <a:endParaRPr lang="en-IN" sz="1600" dirty="0">
              <a:solidFill>
                <a:schemeClr val="tx2">
                  <a:lumMod val="50000"/>
                </a:schemeClr>
              </a:solidFill>
            </a:endParaRPr>
          </a:p>
        </p:txBody>
      </p:sp>
      <p:cxnSp>
        <p:nvCxnSpPr>
          <p:cNvPr id="29" name="Straight Connector 28"/>
          <p:cNvCxnSpPr/>
          <p:nvPr/>
        </p:nvCxnSpPr>
        <p:spPr>
          <a:xfrm>
            <a:off x="468965" y="1743172"/>
            <a:ext cx="11232000" cy="1971"/>
          </a:xfrm>
          <a:prstGeom prst="line">
            <a:avLst/>
          </a:prstGeom>
          <a:ln w="28575">
            <a:solidFill>
              <a:srgbClr val="1C5785"/>
            </a:solidFill>
          </a:ln>
        </p:spPr>
        <p:style>
          <a:lnRef idx="1">
            <a:schemeClr val="accent1"/>
          </a:lnRef>
          <a:fillRef idx="0">
            <a:schemeClr val="accent1"/>
          </a:fillRef>
          <a:effectRef idx="0">
            <a:schemeClr val="accent1"/>
          </a:effectRef>
          <a:fontRef idx="minor">
            <a:schemeClr val="tx1"/>
          </a:fontRef>
        </p:style>
      </p:cxnSp>
      <p:sp>
        <p:nvSpPr>
          <p:cNvPr id="35" name="Text Placeholder 6"/>
          <p:cNvSpPr txBox="1">
            <a:spLocks/>
          </p:cNvSpPr>
          <p:nvPr/>
        </p:nvSpPr>
        <p:spPr>
          <a:xfrm>
            <a:off x="528356" y="1160812"/>
            <a:ext cx="11172609" cy="582362"/>
          </a:xfrm>
          <a:prstGeom prst="rect">
            <a:avLst/>
          </a:prstGeom>
        </p:spPr>
        <p:txBody>
          <a:bodyPr vert="horz" lIns="91440" tIns="45720" rIns="91440" bIns="45720" rtlCol="0">
            <a:normAutofit fontScale="92500" lnSpcReduction="10000"/>
          </a:bodyPr>
          <a:lstStyle>
            <a:lvl1pPr marL="0" indent="0" algn="l" defTabSz="457200" rtl="0" eaLnBrk="1" latinLnBrk="0" hangingPunct="1">
              <a:spcBef>
                <a:spcPts val="1000"/>
              </a:spcBef>
              <a:spcAft>
                <a:spcPts val="0"/>
              </a:spcAft>
              <a:buClr>
                <a:schemeClr val="accent1"/>
              </a:buClr>
              <a:buSzPct val="80000"/>
              <a:buFont typeface="Wingdings 3" charset="2"/>
              <a:buNone/>
              <a:defRPr sz="1800" b="0" i="0" kern="1200">
                <a:solidFill>
                  <a:schemeClr val="tx2">
                    <a:lumMod val="60000"/>
                    <a:lumOff val="40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n-IN" dirty="0"/>
              <a:t>Model Results are arrived at by combining probability of store </a:t>
            </a:r>
            <a:r>
              <a:rPr lang="en-IN" dirty="0" smtClean="0"/>
              <a:t>visit with </a:t>
            </a:r>
            <a:r>
              <a:rPr lang="en-IN" dirty="0"/>
              <a:t>the potential of the catchment area of the store location </a:t>
            </a:r>
          </a:p>
        </p:txBody>
      </p:sp>
    </p:spTree>
    <p:extLst>
      <p:ext uri="{BB962C8B-B14F-4D97-AF65-F5344CB8AC3E}">
        <p14:creationId xmlns:p14="http://schemas.microsoft.com/office/powerpoint/2010/main" val="230521504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dirty="0" smtClean="0"/>
              <a:t>Results</a:t>
            </a:r>
            <a:endParaRPr lang="en-IN" dirty="0"/>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19</a:t>
            </a:fld>
            <a:endParaRPr lang="en-US" dirty="0">
              <a:solidFill>
                <a:srgbClr val="0E5580"/>
              </a:solidFill>
            </a:endParaRPr>
          </a:p>
        </p:txBody>
      </p:sp>
      <p:sp>
        <p:nvSpPr>
          <p:cNvPr id="9" name="Rectangle 8"/>
          <p:cNvSpPr/>
          <p:nvPr/>
        </p:nvSpPr>
        <p:spPr>
          <a:xfrm>
            <a:off x="962067" y="5248835"/>
            <a:ext cx="10228672" cy="953037"/>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IN" sz="1200" b="1" u="sng" dirty="0" smtClean="0">
                <a:solidFill>
                  <a:schemeClr val="tx2">
                    <a:lumMod val="50000"/>
                  </a:schemeClr>
                </a:solidFill>
              </a:rPr>
              <a:t>Note:</a:t>
            </a:r>
          </a:p>
          <a:p>
            <a:endParaRPr lang="en-IN" sz="1200" b="1" u="sng" dirty="0" smtClean="0">
              <a:solidFill>
                <a:schemeClr val="tx2">
                  <a:lumMod val="50000"/>
                </a:schemeClr>
              </a:solidFill>
            </a:endParaRPr>
          </a:p>
          <a:p>
            <a:pPr marL="171450" indent="-171450">
              <a:buFont typeface="Wingdings" panose="05000000000000000000" pitchFamily="2" charset="2"/>
              <a:buChar char="Ø"/>
            </a:pPr>
            <a:r>
              <a:rPr lang="en-IN" sz="1200" dirty="0" smtClean="0">
                <a:solidFill>
                  <a:schemeClr val="tx2">
                    <a:lumMod val="50000"/>
                  </a:schemeClr>
                </a:solidFill>
              </a:rPr>
              <a:t>   The </a:t>
            </a:r>
            <a:r>
              <a:rPr lang="en-IN" sz="1200" dirty="0">
                <a:solidFill>
                  <a:schemeClr val="tx2">
                    <a:lumMod val="50000"/>
                  </a:schemeClr>
                </a:solidFill>
              </a:rPr>
              <a:t>existing Croma store locations do not appear to be as attractive as the overall presence of the </a:t>
            </a:r>
            <a:r>
              <a:rPr lang="en-IN" sz="1200" dirty="0" smtClean="0">
                <a:solidFill>
                  <a:schemeClr val="tx2">
                    <a:lumMod val="50000"/>
                  </a:schemeClr>
                </a:solidFill>
              </a:rPr>
              <a:t>competition</a:t>
            </a:r>
            <a:endParaRPr lang="en-IN" sz="1200" b="1" u="sng" dirty="0" smtClean="0">
              <a:solidFill>
                <a:schemeClr val="tx2">
                  <a:lumMod val="50000"/>
                </a:schemeClr>
              </a:solidFill>
            </a:endParaRPr>
          </a:p>
          <a:p>
            <a:pPr marL="285750" indent="-285750">
              <a:buFont typeface="Wingdings" panose="05000000000000000000" pitchFamily="2" charset="2"/>
              <a:buChar char="Ø"/>
            </a:pPr>
            <a:r>
              <a:rPr lang="en-IN" sz="1200" dirty="0" smtClean="0">
                <a:solidFill>
                  <a:schemeClr val="tx2">
                    <a:lumMod val="50000"/>
                  </a:schemeClr>
                </a:solidFill>
              </a:rPr>
              <a:t>Overall, the planned Croma store </a:t>
            </a:r>
            <a:r>
              <a:rPr lang="en-IN" sz="1200" dirty="0">
                <a:solidFill>
                  <a:schemeClr val="tx2">
                    <a:lumMod val="50000"/>
                  </a:schemeClr>
                </a:solidFill>
              </a:rPr>
              <a:t>l</a:t>
            </a:r>
            <a:r>
              <a:rPr lang="en-IN" sz="1200" dirty="0" smtClean="0">
                <a:solidFill>
                  <a:schemeClr val="tx2">
                    <a:lumMod val="50000"/>
                  </a:schemeClr>
                </a:solidFill>
              </a:rPr>
              <a:t>ocations appear to be more appropriate locations compared to existing Croma store locations</a:t>
            </a:r>
          </a:p>
          <a:p>
            <a:endParaRPr lang="en-IN" sz="1200" dirty="0" smtClean="0">
              <a:solidFill>
                <a:schemeClr val="tx2">
                  <a:lumMod val="50000"/>
                </a:schemeClr>
              </a:solidFill>
            </a:endParaRPr>
          </a:p>
          <a:p>
            <a:endParaRPr lang="en-IN" sz="1200" b="1" u="sng" dirty="0" smtClean="0">
              <a:solidFill>
                <a:schemeClr val="tx2">
                  <a:lumMod val="50000"/>
                </a:schemeClr>
              </a:solidFill>
            </a:endParaRPr>
          </a:p>
          <a:p>
            <a:endParaRPr lang="en-IN" sz="1200" b="1" dirty="0">
              <a:solidFill>
                <a:schemeClr val="tx2">
                  <a:lumMod val="50000"/>
                </a:schemeClr>
              </a:solidFill>
            </a:endParaRPr>
          </a:p>
        </p:txBody>
      </p:sp>
      <p:sp>
        <p:nvSpPr>
          <p:cNvPr id="10" name="Text Placeholder 6"/>
          <p:cNvSpPr txBox="1">
            <a:spLocks/>
          </p:cNvSpPr>
          <p:nvPr/>
        </p:nvSpPr>
        <p:spPr>
          <a:xfrm>
            <a:off x="528356" y="1174882"/>
            <a:ext cx="11172609" cy="582362"/>
          </a:xfrm>
          <a:prstGeom prst="rect">
            <a:avLst/>
          </a:prstGeom>
        </p:spPr>
        <p:txBody>
          <a:bodyPr vert="horz" lIns="91440" tIns="45720" rIns="91440" bIns="45720" rtlCol="0">
            <a:normAutofit fontScale="92500" lnSpcReduction="10000"/>
          </a:bodyPr>
          <a:lstStyle>
            <a:lvl1pPr marL="0" indent="0" algn="l" defTabSz="457200" rtl="0" eaLnBrk="1" latinLnBrk="0" hangingPunct="1">
              <a:spcBef>
                <a:spcPts val="1000"/>
              </a:spcBef>
              <a:spcAft>
                <a:spcPts val="0"/>
              </a:spcAft>
              <a:buClr>
                <a:schemeClr val="accent1"/>
              </a:buClr>
              <a:buSzPct val="80000"/>
              <a:buFont typeface="Wingdings 3" charset="2"/>
              <a:buNone/>
              <a:defRPr sz="1800" b="0" i="0" kern="1200">
                <a:solidFill>
                  <a:schemeClr val="tx2">
                    <a:lumMod val="60000"/>
                    <a:lumOff val="40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n-IN" dirty="0" smtClean="0"/>
              <a:t>The Model results provide a relative rank ordering of store locations with respect to attractiveness as a Croma </a:t>
            </a:r>
            <a:r>
              <a:rPr lang="en-IN" dirty="0"/>
              <a:t>s</a:t>
            </a:r>
            <a:r>
              <a:rPr lang="en-IN" dirty="0" smtClean="0"/>
              <a:t>tore location</a:t>
            </a:r>
            <a:endParaRPr lang="en-IN" dirty="0"/>
          </a:p>
        </p:txBody>
      </p:sp>
      <p:cxnSp>
        <p:nvCxnSpPr>
          <p:cNvPr id="11" name="Straight Connector 10"/>
          <p:cNvCxnSpPr/>
          <p:nvPr/>
        </p:nvCxnSpPr>
        <p:spPr>
          <a:xfrm>
            <a:off x="468965" y="1743172"/>
            <a:ext cx="11232000" cy="1971"/>
          </a:xfrm>
          <a:prstGeom prst="line">
            <a:avLst/>
          </a:prstGeom>
          <a:ln w="28575">
            <a:solidFill>
              <a:srgbClr val="1C5785"/>
            </a:solidFill>
          </a:ln>
        </p:spPr>
        <p:style>
          <a:lnRef idx="1">
            <a:schemeClr val="accent1"/>
          </a:lnRef>
          <a:fillRef idx="0">
            <a:schemeClr val="accent1"/>
          </a:fillRef>
          <a:effectRef idx="0">
            <a:schemeClr val="accent1"/>
          </a:effectRef>
          <a:fontRef idx="minor">
            <a:schemeClr val="tx1"/>
          </a:fontRef>
        </p:style>
      </p:cxnSp>
      <p:graphicFrame>
        <p:nvGraphicFramePr>
          <p:cNvPr id="12" name="Table 11"/>
          <p:cNvGraphicFramePr>
            <a:graphicFrameLocks noGrp="1"/>
          </p:cNvGraphicFramePr>
          <p:nvPr>
            <p:extLst>
              <p:ext uri="{D42A27DB-BD31-4B8C-83A1-F6EECF244321}">
                <p14:modId xmlns:p14="http://schemas.microsoft.com/office/powerpoint/2010/main" val="2414776837"/>
              </p:ext>
            </p:extLst>
          </p:nvPr>
        </p:nvGraphicFramePr>
        <p:xfrm>
          <a:off x="629984" y="2032411"/>
          <a:ext cx="5731656" cy="2828925"/>
        </p:xfrm>
        <a:graphic>
          <a:graphicData uri="http://schemas.openxmlformats.org/drawingml/2006/table">
            <a:tbl>
              <a:tblPr/>
              <a:tblGrid>
                <a:gridCol w="1701586"/>
                <a:gridCol w="806014"/>
                <a:gridCol w="806014"/>
                <a:gridCol w="806014"/>
                <a:gridCol w="806014"/>
                <a:gridCol w="806014"/>
              </a:tblGrid>
              <a:tr h="161925">
                <a:tc>
                  <a:txBody>
                    <a:bodyPr/>
                    <a:lstStyle/>
                    <a:p>
                      <a:pPr algn="ctr" fontAlgn="b"/>
                      <a:endParaRPr lang="en-IN" sz="1000" b="0" i="0" u="none" strike="noStrike" dirty="0">
                        <a:solidFill>
                          <a:srgbClr val="000000"/>
                        </a:solidFill>
                        <a:effectLst/>
                        <a:latin typeface="Calibri" panose="020F0502020204030204" pitchFamily="34" charset="0"/>
                      </a:endParaRP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New Store</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b"/>
                      <a:r>
                        <a:rPr lang="en-IN" sz="1000" b="0" i="0" u="none" strike="noStrike">
                          <a:solidFill>
                            <a:srgbClr val="000000"/>
                          </a:solidFill>
                          <a:effectLst/>
                          <a:latin typeface="Calibri" panose="020F0502020204030204" pitchFamily="34" charset="0"/>
                        </a:rPr>
                        <a:t>New Store</a:t>
                      </a: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b"/>
                      <a:r>
                        <a:rPr lang="en-IN" sz="1000" b="0" i="0" u="none" strike="noStrike">
                          <a:solidFill>
                            <a:srgbClr val="000000"/>
                          </a:solidFill>
                          <a:effectLst/>
                          <a:latin typeface="Calibri" panose="020F0502020204030204" pitchFamily="34" charset="0"/>
                        </a:rPr>
                        <a:t>New Store</a:t>
                      </a: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b"/>
                      <a:r>
                        <a:rPr lang="en-IN" sz="1000" b="0" i="0" u="none" strike="noStrike">
                          <a:solidFill>
                            <a:srgbClr val="000000"/>
                          </a:solidFill>
                          <a:effectLst/>
                          <a:latin typeface="Calibri" panose="020F0502020204030204" pitchFamily="34" charset="0"/>
                        </a:rPr>
                        <a:t>New Store</a:t>
                      </a: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b"/>
                      <a:r>
                        <a:rPr lang="en-IN" sz="1000" b="0" i="0" u="none" strike="noStrike">
                          <a:solidFill>
                            <a:srgbClr val="000000"/>
                          </a:solidFill>
                          <a:effectLst/>
                          <a:latin typeface="Calibri" panose="020F0502020204030204" pitchFamily="34" charset="0"/>
                        </a:rPr>
                        <a:t>New Store</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r>
              <a:tr h="161925">
                <a:tc>
                  <a:txBody>
                    <a:bodyPr/>
                    <a:lstStyle/>
                    <a:p>
                      <a:pPr algn="ctr" fontAlgn="b"/>
                      <a:endParaRPr lang="en-IN" sz="1000" b="0" i="0" u="none" strike="noStrike">
                        <a:solidFill>
                          <a:srgbClr val="000000"/>
                        </a:solidFill>
                        <a:effectLst/>
                        <a:latin typeface="Calibri" panose="020F0502020204030204" pitchFamily="34" charset="0"/>
                      </a:endParaRP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r>
                        <a:rPr lang="en-IN" sz="1000" b="0" i="0" u="none" strike="noStrike">
                          <a:solidFill>
                            <a:srgbClr val="000000"/>
                          </a:solidFill>
                          <a:effectLst/>
                          <a:latin typeface="Calibri" panose="020F0502020204030204" pitchFamily="34" charset="0"/>
                        </a:rPr>
                        <a:t>AS Rao Nagar</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b"/>
                      <a:r>
                        <a:rPr lang="en-IN" sz="1000" b="0" i="0" u="none" strike="noStrike" dirty="0" err="1">
                          <a:solidFill>
                            <a:srgbClr val="000000"/>
                          </a:solidFill>
                          <a:effectLst/>
                          <a:latin typeface="Calibri" panose="020F0502020204030204" pitchFamily="34" charset="0"/>
                        </a:rPr>
                        <a:t>Kukatpally</a:t>
                      </a:r>
                      <a:endParaRPr lang="en-IN" sz="10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b"/>
                      <a:r>
                        <a:rPr lang="en-IN" sz="1000" b="0" i="0" u="none" strike="noStrike">
                          <a:solidFill>
                            <a:srgbClr val="000000"/>
                          </a:solidFill>
                          <a:effectLst/>
                          <a:latin typeface="Calibri" panose="020F0502020204030204" pitchFamily="34" charset="0"/>
                        </a:rPr>
                        <a:t>Himayat Nagar</a:t>
                      </a: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b"/>
                      <a:r>
                        <a:rPr lang="en-IN" sz="1000" b="0" i="0" u="none" strike="noStrike">
                          <a:solidFill>
                            <a:srgbClr val="000000"/>
                          </a:solidFill>
                          <a:effectLst/>
                          <a:latin typeface="Calibri" panose="020F0502020204030204" pitchFamily="34" charset="0"/>
                        </a:rPr>
                        <a:t>Habsiguda</a:t>
                      </a: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b"/>
                      <a:r>
                        <a:rPr lang="en-IN" sz="1000" b="0" i="0" u="none" strike="noStrike">
                          <a:solidFill>
                            <a:srgbClr val="000000"/>
                          </a:solidFill>
                          <a:effectLst/>
                          <a:latin typeface="Calibri" panose="020F0502020204030204" pitchFamily="34" charset="0"/>
                        </a:rPr>
                        <a:t>Chanda Nagar</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r>
              <a:tr h="238125">
                <a:tc>
                  <a:txBody>
                    <a:bodyPr/>
                    <a:lstStyle/>
                    <a:p>
                      <a:pPr algn="ctr" fontAlgn="ctr"/>
                      <a:r>
                        <a:rPr lang="en-IN" sz="1000" b="1" i="0" u="none" strike="noStrike" dirty="0" smtClean="0">
                          <a:solidFill>
                            <a:srgbClr val="000000"/>
                          </a:solidFill>
                          <a:effectLst/>
                          <a:latin typeface="Calibri" panose="020F0502020204030204" pitchFamily="34" charset="0"/>
                        </a:rPr>
                        <a:t>PIN Potential-Visit</a:t>
                      </a:r>
                      <a:r>
                        <a:rPr lang="en-IN" sz="1000" b="1" i="0" u="none" strike="noStrike" baseline="0" dirty="0" smtClean="0">
                          <a:solidFill>
                            <a:srgbClr val="000000"/>
                          </a:solidFill>
                          <a:effectLst/>
                          <a:latin typeface="Calibri" panose="020F0502020204030204" pitchFamily="34" charset="0"/>
                        </a:rPr>
                        <a:t> Probability</a:t>
                      </a:r>
                      <a:r>
                        <a:rPr lang="en-IN" sz="1000" b="1" i="0" u="none" strike="noStrike" dirty="0" smtClean="0">
                          <a:solidFill>
                            <a:srgbClr val="000000"/>
                          </a:solidFill>
                          <a:effectLst/>
                          <a:latin typeface="Calibri" panose="020F0502020204030204" pitchFamily="34" charset="0"/>
                        </a:rPr>
                        <a:t>*</a:t>
                      </a:r>
                      <a:endParaRPr lang="en-IN" sz="1000" b="1"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0CECE"/>
                    </a:solidFill>
                  </a:tcPr>
                </a:tc>
                <a:tc>
                  <a:txBody>
                    <a:bodyPr/>
                    <a:lstStyle/>
                    <a:p>
                      <a:pPr algn="ctr" fontAlgn="b"/>
                      <a:r>
                        <a:rPr lang="en-IN" sz="1000" b="0" i="0" u="none" strike="noStrike" dirty="0">
                          <a:solidFill>
                            <a:srgbClr val="000000"/>
                          </a:solidFill>
                          <a:effectLst/>
                          <a:latin typeface="Calibri" panose="020F0502020204030204" pitchFamily="34" charset="0"/>
                        </a:rPr>
                        <a:t>500062</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b"/>
                      <a:r>
                        <a:rPr lang="en-IN" sz="1000" b="0" i="0" u="none" strike="noStrike">
                          <a:solidFill>
                            <a:srgbClr val="000000"/>
                          </a:solidFill>
                          <a:effectLst/>
                          <a:latin typeface="Calibri" panose="020F0502020204030204" pitchFamily="34" charset="0"/>
                        </a:rPr>
                        <a:t>500072</a:t>
                      </a: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b"/>
                      <a:r>
                        <a:rPr lang="en-IN" sz="1000" b="0" i="0" u="none" strike="noStrike">
                          <a:solidFill>
                            <a:srgbClr val="000000"/>
                          </a:solidFill>
                          <a:effectLst/>
                          <a:latin typeface="Calibri" panose="020F0502020204030204" pitchFamily="34" charset="0"/>
                        </a:rPr>
                        <a:t>500029</a:t>
                      </a: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b"/>
                      <a:r>
                        <a:rPr lang="en-IN" sz="1000" b="0" i="0" u="none" strike="noStrike">
                          <a:solidFill>
                            <a:srgbClr val="000000"/>
                          </a:solidFill>
                          <a:effectLst/>
                          <a:latin typeface="Calibri" panose="020F0502020204030204" pitchFamily="34" charset="0"/>
                        </a:rPr>
                        <a:t>500007</a:t>
                      </a: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b"/>
                      <a:r>
                        <a:rPr lang="en-IN" sz="1000" b="0" i="0" u="none" strike="noStrike">
                          <a:solidFill>
                            <a:srgbClr val="000000"/>
                          </a:solidFill>
                          <a:effectLst/>
                          <a:latin typeface="Calibri" panose="020F0502020204030204" pitchFamily="34" charset="0"/>
                        </a:rPr>
                        <a:t>500050</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r>
              <a:tr h="161925">
                <a:tc>
                  <a:txBody>
                    <a:bodyPr/>
                    <a:lstStyle/>
                    <a:p>
                      <a:pPr algn="ctr" fontAlgn="b"/>
                      <a:r>
                        <a:rPr lang="en-IN" sz="1000" b="0" i="0" u="none" strike="noStrike">
                          <a:solidFill>
                            <a:srgbClr val="000000"/>
                          </a:solidFill>
                          <a:effectLst/>
                          <a:latin typeface="Calibri" panose="020F0502020204030204" pitchFamily="34" charset="0"/>
                        </a:rPr>
                        <a:t>High-Zero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IN" sz="1000" b="0" i="0" u="none" strike="noStrike" dirty="0">
                          <a:solidFill>
                            <a:srgbClr val="000000"/>
                          </a:solidFill>
                          <a:effectLst/>
                          <a:latin typeface="Calibri" panose="020F0502020204030204" pitchFamily="34" charset="0"/>
                        </a:rPr>
                        <a:t>55%</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n-IN" sz="1000" b="0" i="0" u="none" strike="noStrike">
                          <a:solidFill>
                            <a:srgbClr val="000000"/>
                          </a:solidFill>
                          <a:effectLst/>
                          <a:latin typeface="Calibri" panose="020F0502020204030204" pitchFamily="34" charset="0"/>
                        </a:rPr>
                        <a:t>47%</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n-IN" sz="1000" b="0" i="0" u="none" strike="noStrike">
                          <a:solidFill>
                            <a:srgbClr val="000000"/>
                          </a:solidFill>
                          <a:effectLst/>
                          <a:latin typeface="Calibri" panose="020F0502020204030204" pitchFamily="34" charset="0"/>
                        </a:rPr>
                        <a:t>38%</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n-IN" sz="1000" b="0" i="0" u="none" strike="noStrike">
                          <a:solidFill>
                            <a:srgbClr val="000000"/>
                          </a:solidFill>
                          <a:effectLst/>
                          <a:latin typeface="Calibri" panose="020F0502020204030204" pitchFamily="34" charset="0"/>
                        </a:rPr>
                        <a:t>38%</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n-IN" sz="1000" b="0" i="0" u="none" strike="noStrike">
                          <a:solidFill>
                            <a:srgbClr val="000000"/>
                          </a:solidFill>
                          <a:effectLst/>
                          <a:latin typeface="Calibri" panose="020F0502020204030204" pitchFamily="34" charset="0"/>
                        </a:rPr>
                        <a:t>65%</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161925">
                <a:tc>
                  <a:txBody>
                    <a:bodyPr/>
                    <a:lstStyle/>
                    <a:p>
                      <a:pPr algn="ctr" fontAlgn="b"/>
                      <a:r>
                        <a:rPr lang="en-IN" sz="1000" b="0" i="0" u="none" strike="noStrike">
                          <a:solidFill>
                            <a:srgbClr val="000000"/>
                          </a:solidFill>
                          <a:effectLst/>
                          <a:latin typeface="Calibri" panose="020F0502020204030204" pitchFamily="34" charset="0"/>
                        </a:rPr>
                        <a:t>High-High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D966"/>
                    </a:solidFill>
                  </a:tcPr>
                </a:tc>
                <a:tc>
                  <a:txBody>
                    <a:bodyPr/>
                    <a:lstStyle/>
                    <a:p>
                      <a:pPr algn="ctr" fontAlgn="b"/>
                      <a:r>
                        <a:rPr lang="en-IN" sz="1000" b="0" i="0" u="none" strike="noStrike">
                          <a:solidFill>
                            <a:srgbClr val="000000"/>
                          </a:solidFill>
                          <a:effectLst/>
                          <a:latin typeface="Calibri" panose="020F0502020204030204" pitchFamily="34" charset="0"/>
                        </a:rPr>
                        <a:t>13%</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solidFill>
                      <a:srgbClr val="B1D580"/>
                    </a:solidFill>
                  </a:tcPr>
                </a:tc>
                <a:tc>
                  <a:txBody>
                    <a:bodyPr/>
                    <a:lstStyle/>
                    <a:p>
                      <a:pPr algn="ctr" fontAlgn="b"/>
                      <a:r>
                        <a:rPr lang="en-IN" sz="1000" b="0" i="0" u="none" strike="noStrike">
                          <a:solidFill>
                            <a:srgbClr val="000000"/>
                          </a:solidFill>
                          <a:effectLst/>
                          <a:latin typeface="Calibri" panose="020F0502020204030204" pitchFamily="34" charset="0"/>
                        </a:rPr>
                        <a:t>11%</a:t>
                      </a:r>
                    </a:p>
                  </a:txBody>
                  <a:tcPr marL="9525" marR="9525" marT="9525" marB="0" anchor="b">
                    <a:lnL>
                      <a:noFill/>
                    </a:lnL>
                    <a:lnR>
                      <a:noFill/>
                    </a:lnR>
                    <a:lnT>
                      <a:noFill/>
                    </a:lnT>
                    <a:lnB>
                      <a:noFill/>
                    </a:lnB>
                    <a:solidFill>
                      <a:srgbClr val="E6E483"/>
                    </a:solidFill>
                  </a:tcPr>
                </a:tc>
                <a:tc>
                  <a:txBody>
                    <a:bodyPr/>
                    <a:lstStyle/>
                    <a:p>
                      <a:pPr algn="ctr" fontAlgn="b"/>
                      <a:r>
                        <a:rPr lang="en-IN" sz="1000" b="0" i="0" u="none" strike="noStrike">
                          <a:solidFill>
                            <a:srgbClr val="000000"/>
                          </a:solidFill>
                          <a:effectLst/>
                          <a:latin typeface="Calibri" panose="020F0502020204030204" pitchFamily="34" charset="0"/>
                        </a:rPr>
                        <a:t>10%</a:t>
                      </a:r>
                    </a:p>
                  </a:txBody>
                  <a:tcPr marL="9525" marR="9525" marT="9525" marB="0" anchor="b">
                    <a:lnL>
                      <a:noFill/>
                    </a:lnL>
                    <a:lnR>
                      <a:noFill/>
                    </a:lnR>
                    <a:lnT>
                      <a:noFill/>
                    </a:lnT>
                    <a:lnB>
                      <a:noFill/>
                    </a:lnB>
                    <a:solidFill>
                      <a:srgbClr val="FFEB84"/>
                    </a:solidFill>
                  </a:tcPr>
                </a:tc>
                <a:tc>
                  <a:txBody>
                    <a:bodyPr/>
                    <a:lstStyle/>
                    <a:p>
                      <a:pPr algn="ctr" fontAlgn="b"/>
                      <a:r>
                        <a:rPr lang="en-IN" sz="1000" b="0" i="0" u="none" strike="noStrike">
                          <a:solidFill>
                            <a:srgbClr val="000000"/>
                          </a:solidFill>
                          <a:effectLst/>
                          <a:latin typeface="Calibri" panose="020F0502020204030204" pitchFamily="34" charset="0"/>
                        </a:rPr>
                        <a:t>15%</a:t>
                      </a:r>
                    </a:p>
                  </a:txBody>
                  <a:tcPr marL="9525" marR="9525" marT="9525" marB="0" anchor="b">
                    <a:lnL>
                      <a:noFill/>
                    </a:lnL>
                    <a:lnR>
                      <a:noFill/>
                    </a:lnR>
                    <a:lnT>
                      <a:noFill/>
                    </a:lnT>
                    <a:lnB>
                      <a:noFill/>
                    </a:lnB>
                    <a:solidFill>
                      <a:srgbClr val="63BE7B"/>
                    </a:solidFill>
                  </a:tcPr>
                </a:tc>
                <a:tc>
                  <a:txBody>
                    <a:bodyPr/>
                    <a:lstStyle/>
                    <a:p>
                      <a:pPr algn="ctr" fontAlgn="b"/>
                      <a:r>
                        <a:rPr lang="en-IN" sz="1000" b="0" i="0" u="none" strike="noStrike">
                          <a:solidFill>
                            <a:srgbClr val="000000"/>
                          </a:solidFill>
                          <a:effectLst/>
                          <a:latin typeface="Calibri" panose="020F0502020204030204" pitchFamily="34" charset="0"/>
                        </a:rPr>
                        <a:t>6%</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solidFill>
                      <a:srgbClr val="FBA075"/>
                    </a:solidFill>
                  </a:tcPr>
                </a:tc>
              </a:tr>
              <a:tr h="161925">
                <a:tc>
                  <a:txBody>
                    <a:bodyPr/>
                    <a:lstStyle/>
                    <a:p>
                      <a:pPr algn="ctr" fontAlgn="b"/>
                      <a:r>
                        <a:rPr lang="en-IN" sz="1000" b="0" i="0" u="none" strike="noStrike">
                          <a:solidFill>
                            <a:srgbClr val="000000"/>
                          </a:solidFill>
                          <a:effectLst/>
                          <a:latin typeface="Calibri" panose="020F0502020204030204" pitchFamily="34" charset="0"/>
                        </a:rPr>
                        <a:t>High-Medium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D966"/>
                    </a:solidFill>
                  </a:tcPr>
                </a:tc>
                <a:tc>
                  <a:txBody>
                    <a:bodyPr/>
                    <a:lstStyle/>
                    <a:p>
                      <a:pPr algn="ctr" fontAlgn="b"/>
                      <a:r>
                        <a:rPr lang="en-IN" sz="1000" b="0" i="0" u="none" strike="noStrike">
                          <a:solidFill>
                            <a:srgbClr val="000000"/>
                          </a:solidFill>
                          <a:effectLst/>
                          <a:latin typeface="Calibri" panose="020F0502020204030204" pitchFamily="34" charset="0"/>
                        </a:rPr>
                        <a:t>5%</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solidFill>
                      <a:srgbClr val="FBA075"/>
                    </a:solidFill>
                  </a:tcPr>
                </a:tc>
                <a:tc>
                  <a:txBody>
                    <a:bodyPr/>
                    <a:lstStyle/>
                    <a:p>
                      <a:pPr algn="ctr" fontAlgn="b"/>
                      <a:r>
                        <a:rPr lang="en-IN" sz="1000" b="0" i="0" u="none" strike="noStrike">
                          <a:solidFill>
                            <a:srgbClr val="000000"/>
                          </a:solidFill>
                          <a:effectLst/>
                          <a:latin typeface="Calibri" panose="020F0502020204030204" pitchFamily="34" charset="0"/>
                        </a:rPr>
                        <a:t>8%</a:t>
                      </a:r>
                    </a:p>
                  </a:txBody>
                  <a:tcPr marL="9525" marR="9525" marT="9525" marB="0" anchor="b">
                    <a:lnL>
                      <a:noFill/>
                    </a:lnL>
                    <a:lnR>
                      <a:noFill/>
                    </a:lnR>
                    <a:lnT>
                      <a:noFill/>
                    </a:lnT>
                    <a:lnB>
                      <a:noFill/>
                    </a:lnB>
                    <a:solidFill>
                      <a:srgbClr val="FED880"/>
                    </a:solidFill>
                  </a:tcPr>
                </a:tc>
                <a:tc>
                  <a:txBody>
                    <a:bodyPr/>
                    <a:lstStyle/>
                    <a:p>
                      <a:pPr algn="ctr" fontAlgn="b"/>
                      <a:r>
                        <a:rPr lang="en-IN" sz="1000" b="0" i="0" u="none" strike="noStrike">
                          <a:solidFill>
                            <a:srgbClr val="000000"/>
                          </a:solidFill>
                          <a:effectLst/>
                          <a:latin typeface="Calibri" panose="020F0502020204030204" pitchFamily="34" charset="0"/>
                        </a:rPr>
                        <a:t>17%</a:t>
                      </a:r>
                    </a:p>
                  </a:txBody>
                  <a:tcPr marL="9525" marR="9525" marT="9525" marB="0" anchor="b">
                    <a:lnL>
                      <a:noFill/>
                    </a:lnL>
                    <a:lnR>
                      <a:noFill/>
                    </a:lnR>
                    <a:lnT>
                      <a:noFill/>
                    </a:lnT>
                    <a:lnB>
                      <a:noFill/>
                    </a:lnB>
                    <a:solidFill>
                      <a:srgbClr val="ADD480"/>
                    </a:solidFill>
                  </a:tcPr>
                </a:tc>
                <a:tc>
                  <a:txBody>
                    <a:bodyPr/>
                    <a:lstStyle/>
                    <a:p>
                      <a:pPr algn="ctr" fontAlgn="b"/>
                      <a:r>
                        <a:rPr lang="en-IN" sz="1000" b="0" i="0" u="none" strike="noStrike">
                          <a:solidFill>
                            <a:srgbClr val="000000"/>
                          </a:solidFill>
                          <a:effectLst/>
                          <a:latin typeface="Calibri" panose="020F0502020204030204" pitchFamily="34" charset="0"/>
                        </a:rPr>
                        <a:t>13%</a:t>
                      </a:r>
                    </a:p>
                  </a:txBody>
                  <a:tcPr marL="9525" marR="9525" marT="9525" marB="0" anchor="b">
                    <a:lnL>
                      <a:noFill/>
                    </a:lnL>
                    <a:lnR>
                      <a:noFill/>
                    </a:lnR>
                    <a:lnT>
                      <a:noFill/>
                    </a:lnT>
                    <a:lnB>
                      <a:noFill/>
                    </a:lnB>
                    <a:solidFill>
                      <a:srgbClr val="DBE182"/>
                    </a:solidFill>
                  </a:tcPr>
                </a:tc>
                <a:tc>
                  <a:txBody>
                    <a:bodyPr/>
                    <a:lstStyle/>
                    <a:p>
                      <a:pPr algn="ctr" fontAlgn="b"/>
                      <a:r>
                        <a:rPr lang="en-IN" sz="1000" b="0" i="0" u="none" strike="noStrike">
                          <a:solidFill>
                            <a:srgbClr val="000000"/>
                          </a:solidFill>
                          <a:effectLst/>
                          <a:latin typeface="Calibri" panose="020F0502020204030204" pitchFamily="34" charset="0"/>
                        </a:rPr>
                        <a:t>2%</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solidFill>
                      <a:srgbClr val="F8696B"/>
                    </a:solidFill>
                  </a:tcPr>
                </a:tc>
              </a:tr>
              <a:tr h="161925">
                <a:tc>
                  <a:txBody>
                    <a:bodyPr/>
                    <a:lstStyle/>
                    <a:p>
                      <a:pPr algn="ctr" fontAlgn="b"/>
                      <a:r>
                        <a:rPr lang="en-IN" sz="1000" b="0" i="0" u="none" strike="noStrike">
                          <a:solidFill>
                            <a:srgbClr val="000000"/>
                          </a:solidFill>
                          <a:effectLst/>
                          <a:latin typeface="Calibri" panose="020F0502020204030204" pitchFamily="34" charset="0"/>
                        </a:rPr>
                        <a:t>High-Low</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8%</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n-IN" sz="1000" b="0" i="0" u="none" strike="noStrike" dirty="0">
                          <a:solidFill>
                            <a:srgbClr val="000000"/>
                          </a:solidFill>
                          <a:effectLst/>
                          <a:latin typeface="Calibri" panose="020F0502020204030204" pitchFamily="34" charset="0"/>
                        </a:rPr>
                        <a:t>14%</a:t>
                      </a:r>
                    </a:p>
                  </a:txBody>
                  <a:tcPr marL="9525" marR="9525" marT="9525" marB="0" anchor="b">
                    <a:lnL>
                      <a:noFill/>
                    </a:lnL>
                    <a:lnR>
                      <a:noFill/>
                    </a:lnR>
                    <a:lnT>
                      <a:noFill/>
                    </a:lnT>
                    <a:lnB>
                      <a:noFill/>
                    </a:lnB>
                  </a:tcPr>
                </a:tc>
                <a:tc>
                  <a:txBody>
                    <a:bodyPr/>
                    <a:lstStyle/>
                    <a:p>
                      <a:pPr algn="ctr" fontAlgn="b"/>
                      <a:r>
                        <a:rPr lang="en-IN" sz="1000" b="0" i="0" u="none" strike="noStrike" dirty="0">
                          <a:solidFill>
                            <a:srgbClr val="000000"/>
                          </a:solidFill>
                          <a:effectLst/>
                          <a:latin typeface="Calibri" panose="020F0502020204030204" pitchFamily="34" charset="0"/>
                        </a:rPr>
                        <a:t>14%</a:t>
                      </a:r>
                    </a:p>
                  </a:txBody>
                  <a:tcPr marL="9525" marR="9525" marT="9525" marB="0" anchor="b">
                    <a:lnL>
                      <a:noFill/>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13%</a:t>
                      </a:r>
                    </a:p>
                  </a:txBody>
                  <a:tcPr marL="9525" marR="9525" marT="9525" marB="0" anchor="b">
                    <a:lnL>
                      <a:noFill/>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7%</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r>
              <a:tr h="161925">
                <a:tc>
                  <a:txBody>
                    <a:bodyPr/>
                    <a:lstStyle/>
                    <a:p>
                      <a:pPr algn="ctr" fontAlgn="b"/>
                      <a:r>
                        <a:rPr lang="en-IN" sz="1000" b="0" i="0" u="none" strike="noStrike">
                          <a:solidFill>
                            <a:srgbClr val="000000"/>
                          </a:solidFill>
                          <a:effectLst/>
                          <a:latin typeface="Calibri" panose="020F0502020204030204" pitchFamily="34" charset="0"/>
                        </a:rPr>
                        <a:t>Medium-Zero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17%</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17%</a:t>
                      </a:r>
                    </a:p>
                  </a:txBody>
                  <a:tcPr marL="9525" marR="9525" marT="9525" marB="0" anchor="b">
                    <a:lnL>
                      <a:noFill/>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10%</a:t>
                      </a:r>
                    </a:p>
                  </a:txBody>
                  <a:tcPr marL="9525" marR="9525" marT="9525" marB="0" anchor="b">
                    <a:lnL>
                      <a:noFill/>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13%</a:t>
                      </a:r>
                    </a:p>
                  </a:txBody>
                  <a:tcPr marL="9525" marR="9525" marT="9525" marB="0" anchor="b">
                    <a:lnL>
                      <a:noFill/>
                    </a:lnL>
                    <a:lnR>
                      <a:noFill/>
                    </a:lnR>
                    <a:lnT>
                      <a:noFill/>
                    </a:lnT>
                    <a:lnB>
                      <a:noFill/>
                    </a:lnB>
                  </a:tcPr>
                </a:tc>
                <a:tc>
                  <a:txBody>
                    <a:bodyPr/>
                    <a:lstStyle/>
                    <a:p>
                      <a:pPr algn="ctr" fontAlgn="b"/>
                      <a:r>
                        <a:rPr lang="en-IN" sz="1000" b="0" i="0" u="none" strike="noStrike" dirty="0">
                          <a:solidFill>
                            <a:srgbClr val="000000"/>
                          </a:solidFill>
                          <a:effectLst/>
                          <a:latin typeface="Calibri" panose="020F0502020204030204" pitchFamily="34" charset="0"/>
                        </a:rPr>
                        <a:t>18%</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r>
              <a:tr h="161925">
                <a:tc>
                  <a:txBody>
                    <a:bodyPr/>
                    <a:lstStyle/>
                    <a:p>
                      <a:pPr algn="ctr" fontAlgn="b"/>
                      <a:r>
                        <a:rPr lang="en-IN" sz="1000" b="0" i="0" u="none" strike="noStrike">
                          <a:solidFill>
                            <a:srgbClr val="000000"/>
                          </a:solidFill>
                          <a:effectLst/>
                          <a:latin typeface="Calibri" panose="020F0502020204030204" pitchFamily="34" charset="0"/>
                        </a:rPr>
                        <a:t>Medium-High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D966"/>
                    </a:solidFill>
                  </a:tcPr>
                </a:tc>
                <a:tc>
                  <a:txBody>
                    <a:bodyPr/>
                    <a:lstStyle/>
                    <a:p>
                      <a:pPr algn="ctr" fontAlgn="b"/>
                      <a:r>
                        <a:rPr lang="en-IN" sz="1000" b="0" i="0" u="none" strike="noStrike">
                          <a:solidFill>
                            <a:srgbClr val="000000"/>
                          </a:solidFill>
                          <a:effectLst/>
                          <a:latin typeface="Calibri" panose="020F0502020204030204" pitchFamily="34" charset="0"/>
                        </a:rPr>
                        <a:t>0%</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solidFill>
                      <a:srgbClr val="F8696B"/>
                    </a:solidFill>
                  </a:tcPr>
                </a:tc>
                <a:tc>
                  <a:txBody>
                    <a:bodyPr/>
                    <a:lstStyle/>
                    <a:p>
                      <a:pPr algn="ctr" fontAlgn="b"/>
                      <a:r>
                        <a:rPr lang="en-IN" sz="1000" b="0" i="0" u="none" strike="noStrike">
                          <a:solidFill>
                            <a:srgbClr val="000000"/>
                          </a:solidFill>
                          <a:effectLst/>
                          <a:latin typeface="Calibri" panose="020F0502020204030204" pitchFamily="34" charset="0"/>
                        </a:rPr>
                        <a:t>0%</a:t>
                      </a:r>
                    </a:p>
                  </a:txBody>
                  <a:tcPr marL="9525" marR="9525" marT="9525" marB="0" anchor="b">
                    <a:lnL>
                      <a:noFill/>
                    </a:lnL>
                    <a:lnR>
                      <a:noFill/>
                    </a:lnR>
                    <a:lnT>
                      <a:noFill/>
                    </a:lnT>
                    <a:lnB>
                      <a:noFill/>
                    </a:lnB>
                    <a:solidFill>
                      <a:srgbClr val="F8696B"/>
                    </a:solidFill>
                  </a:tcPr>
                </a:tc>
                <a:tc>
                  <a:txBody>
                    <a:bodyPr/>
                    <a:lstStyle/>
                    <a:p>
                      <a:pPr algn="ctr" fontAlgn="b"/>
                      <a:r>
                        <a:rPr lang="en-IN" sz="1000" b="0" i="0" u="none" strike="noStrike">
                          <a:solidFill>
                            <a:srgbClr val="000000"/>
                          </a:solidFill>
                          <a:effectLst/>
                          <a:latin typeface="Calibri" panose="020F0502020204030204" pitchFamily="34" charset="0"/>
                        </a:rPr>
                        <a:t>7%</a:t>
                      </a:r>
                    </a:p>
                  </a:txBody>
                  <a:tcPr marL="9525" marR="9525" marT="9525" marB="0" anchor="b">
                    <a:lnL>
                      <a:noFill/>
                    </a:lnL>
                    <a:lnR>
                      <a:noFill/>
                    </a:lnR>
                    <a:lnT>
                      <a:noFill/>
                    </a:lnT>
                    <a:lnB>
                      <a:noFill/>
                    </a:lnB>
                    <a:solidFill>
                      <a:srgbClr val="7DC67D"/>
                    </a:solidFill>
                  </a:tcPr>
                </a:tc>
                <a:tc>
                  <a:txBody>
                    <a:bodyPr/>
                    <a:lstStyle/>
                    <a:p>
                      <a:pPr algn="ctr" fontAlgn="b"/>
                      <a:r>
                        <a:rPr lang="en-IN" sz="1000" b="0" i="0" u="none" strike="noStrike">
                          <a:solidFill>
                            <a:srgbClr val="000000"/>
                          </a:solidFill>
                          <a:effectLst/>
                          <a:latin typeface="Calibri" panose="020F0502020204030204" pitchFamily="34" charset="0"/>
                        </a:rPr>
                        <a:t>1%</a:t>
                      </a:r>
                    </a:p>
                  </a:txBody>
                  <a:tcPr marL="9525" marR="9525" marT="9525" marB="0" anchor="b">
                    <a:lnL>
                      <a:noFill/>
                    </a:lnL>
                    <a:lnR>
                      <a:noFill/>
                    </a:lnR>
                    <a:lnT>
                      <a:noFill/>
                    </a:lnT>
                    <a:lnB>
                      <a:noFill/>
                    </a:lnB>
                    <a:solidFill>
                      <a:srgbClr val="FBAA77"/>
                    </a:solidFill>
                  </a:tcPr>
                </a:tc>
                <a:tc>
                  <a:txBody>
                    <a:bodyPr/>
                    <a:lstStyle/>
                    <a:p>
                      <a:pPr algn="ctr" fontAlgn="b"/>
                      <a:r>
                        <a:rPr lang="en-IN" sz="1000" b="0" i="0" u="none" strike="noStrike">
                          <a:solidFill>
                            <a:srgbClr val="000000"/>
                          </a:solidFill>
                          <a:effectLst/>
                          <a:latin typeface="Calibri" panose="020F0502020204030204" pitchFamily="34" charset="0"/>
                        </a:rPr>
                        <a:t>0%</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solidFill>
                      <a:srgbClr val="F8696B"/>
                    </a:solidFill>
                  </a:tcPr>
                </a:tc>
              </a:tr>
              <a:tr h="161925">
                <a:tc>
                  <a:txBody>
                    <a:bodyPr/>
                    <a:lstStyle/>
                    <a:p>
                      <a:pPr algn="ctr" fontAlgn="b"/>
                      <a:r>
                        <a:rPr lang="en-IN" sz="1000" b="0" i="0" u="none" strike="noStrike">
                          <a:solidFill>
                            <a:srgbClr val="000000"/>
                          </a:solidFill>
                          <a:effectLst/>
                          <a:latin typeface="Calibri" panose="020F0502020204030204" pitchFamily="34" charset="0"/>
                        </a:rPr>
                        <a:t>Medium-Medium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1%</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0%</a:t>
                      </a:r>
                    </a:p>
                  </a:txBody>
                  <a:tcPr marL="9525" marR="9525" marT="9525" marB="0" anchor="b">
                    <a:lnL>
                      <a:noFill/>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2%</a:t>
                      </a:r>
                    </a:p>
                  </a:txBody>
                  <a:tcPr marL="9525" marR="9525" marT="9525" marB="0" anchor="b">
                    <a:lnL>
                      <a:noFill/>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3%</a:t>
                      </a:r>
                    </a:p>
                  </a:txBody>
                  <a:tcPr marL="9525" marR="9525" marT="9525" marB="0" anchor="b">
                    <a:lnL>
                      <a:noFill/>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0%</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r>
              <a:tr h="161925">
                <a:tc>
                  <a:txBody>
                    <a:bodyPr/>
                    <a:lstStyle/>
                    <a:p>
                      <a:pPr algn="ctr" fontAlgn="b"/>
                      <a:r>
                        <a:rPr lang="en-IN" sz="1000" b="0" i="0" u="none" strike="noStrike">
                          <a:solidFill>
                            <a:srgbClr val="000000"/>
                          </a:solidFill>
                          <a:effectLst/>
                          <a:latin typeface="Calibri" panose="020F0502020204030204" pitchFamily="34" charset="0"/>
                        </a:rPr>
                        <a:t>Medium-Low</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0%</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1%</a:t>
                      </a:r>
                    </a:p>
                  </a:txBody>
                  <a:tcPr marL="9525" marR="9525" marT="9525" marB="0" anchor="b">
                    <a:lnL>
                      <a:noFill/>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0%</a:t>
                      </a:r>
                    </a:p>
                  </a:txBody>
                  <a:tcPr marL="9525" marR="9525" marT="9525" marB="0" anchor="b">
                    <a:lnL>
                      <a:noFill/>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2%</a:t>
                      </a:r>
                    </a:p>
                  </a:txBody>
                  <a:tcPr marL="9525" marR="9525" marT="9525" marB="0" anchor="b">
                    <a:lnL>
                      <a:noFill/>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0%</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r>
              <a:tr h="161925">
                <a:tc>
                  <a:txBody>
                    <a:bodyPr/>
                    <a:lstStyle/>
                    <a:p>
                      <a:pPr algn="ctr" fontAlgn="b"/>
                      <a:r>
                        <a:rPr lang="en-IN" sz="1000" b="0" i="0" u="none" strike="noStrike">
                          <a:solidFill>
                            <a:srgbClr val="000000"/>
                          </a:solidFill>
                          <a:effectLst/>
                          <a:latin typeface="Calibri" panose="020F0502020204030204" pitchFamily="34" charset="0"/>
                        </a:rPr>
                        <a:t>Low-Zero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2%</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1%</a:t>
                      </a:r>
                    </a:p>
                  </a:txBody>
                  <a:tcPr marL="9525" marR="9525" marT="9525" marB="0" anchor="b">
                    <a:lnL>
                      <a:noFill/>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1%</a:t>
                      </a:r>
                    </a:p>
                  </a:txBody>
                  <a:tcPr marL="9525" marR="9525" marT="9525" marB="0" anchor="b">
                    <a:lnL>
                      <a:noFill/>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1%</a:t>
                      </a:r>
                    </a:p>
                  </a:txBody>
                  <a:tcPr marL="9525" marR="9525" marT="9525" marB="0" anchor="b">
                    <a:lnL>
                      <a:noFill/>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1%</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r>
              <a:tr h="161925">
                <a:tc>
                  <a:txBody>
                    <a:bodyPr/>
                    <a:lstStyle/>
                    <a:p>
                      <a:pPr algn="ctr" fontAlgn="b"/>
                      <a:r>
                        <a:rPr lang="en-IN" sz="1000" b="0" i="0" u="none" strike="noStrike">
                          <a:solidFill>
                            <a:srgbClr val="000000"/>
                          </a:solidFill>
                          <a:effectLst/>
                          <a:latin typeface="Calibri" panose="020F0502020204030204" pitchFamily="34" charset="0"/>
                        </a:rPr>
                        <a:t>Low-High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0%</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0%</a:t>
                      </a:r>
                    </a:p>
                  </a:txBody>
                  <a:tcPr marL="9525" marR="9525" marT="9525" marB="0" anchor="b">
                    <a:lnL>
                      <a:noFill/>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1%</a:t>
                      </a:r>
                    </a:p>
                  </a:txBody>
                  <a:tcPr marL="9525" marR="9525" marT="9525" marB="0" anchor="b">
                    <a:lnL>
                      <a:noFill/>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0%</a:t>
                      </a:r>
                    </a:p>
                  </a:txBody>
                  <a:tcPr marL="9525" marR="9525" marT="9525" marB="0" anchor="b">
                    <a:lnL>
                      <a:noFill/>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0%</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r>
              <a:tr h="161925">
                <a:tc>
                  <a:txBody>
                    <a:bodyPr/>
                    <a:lstStyle/>
                    <a:p>
                      <a:pPr algn="ctr" fontAlgn="b"/>
                      <a:r>
                        <a:rPr lang="en-IN" sz="1000" b="0" i="0" u="none" strike="noStrike">
                          <a:solidFill>
                            <a:srgbClr val="000000"/>
                          </a:solidFill>
                          <a:effectLst/>
                          <a:latin typeface="Calibri" panose="020F0502020204030204" pitchFamily="34" charset="0"/>
                        </a:rPr>
                        <a:t>Low-Medium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0%</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0%</a:t>
                      </a:r>
                    </a:p>
                  </a:txBody>
                  <a:tcPr marL="9525" marR="9525" marT="9525" marB="0" anchor="b">
                    <a:lnL>
                      <a:noFill/>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0%</a:t>
                      </a:r>
                    </a:p>
                  </a:txBody>
                  <a:tcPr marL="9525" marR="9525" marT="9525" marB="0" anchor="b">
                    <a:lnL>
                      <a:noFill/>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0%</a:t>
                      </a:r>
                    </a:p>
                  </a:txBody>
                  <a:tcPr marL="9525" marR="9525" marT="9525" marB="0" anchor="b">
                    <a:lnL>
                      <a:noFill/>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1%</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r>
              <a:tr h="161925">
                <a:tc>
                  <a:txBody>
                    <a:bodyPr/>
                    <a:lstStyle/>
                    <a:p>
                      <a:pPr algn="ctr" fontAlgn="b"/>
                      <a:r>
                        <a:rPr lang="en-IN" sz="1000" b="0" i="0" u="none" strike="noStrike">
                          <a:solidFill>
                            <a:srgbClr val="000000"/>
                          </a:solidFill>
                          <a:effectLst/>
                          <a:latin typeface="Calibri" panose="020F0502020204030204" pitchFamily="34" charset="0"/>
                        </a:rPr>
                        <a:t>Low-Low</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r>
                        <a:rPr lang="en-IN" sz="1000" b="0" i="0" u="none" strike="noStrike">
                          <a:solidFill>
                            <a:srgbClr val="000000"/>
                          </a:solidFill>
                          <a:effectLst/>
                          <a:latin typeface="Calibri" panose="020F0502020204030204" pitchFamily="34" charset="0"/>
                        </a:rPr>
                        <a:t>0%</a:t>
                      </a:r>
                    </a:p>
                  </a:txBody>
                  <a:tcPr marL="9525" marR="9525" marT="9525"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n-IN" sz="1000" b="0" i="0" u="none" strike="noStrike">
                          <a:solidFill>
                            <a:srgbClr val="000000"/>
                          </a:solidFill>
                          <a:effectLst/>
                          <a:latin typeface="Calibri" panose="020F0502020204030204" pitchFamily="34" charset="0"/>
                        </a:rPr>
                        <a:t>1%</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n-IN" sz="1000" b="0" i="0" u="none" strike="noStrike">
                          <a:solidFill>
                            <a:srgbClr val="000000"/>
                          </a:solidFill>
                          <a:effectLst/>
                          <a:latin typeface="Calibri" panose="020F0502020204030204" pitchFamily="34" charset="0"/>
                        </a:rPr>
                        <a:t>0%</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n-IN" sz="1000" b="0" i="0" u="none" strike="noStrike">
                          <a:solidFill>
                            <a:srgbClr val="000000"/>
                          </a:solidFill>
                          <a:effectLst/>
                          <a:latin typeface="Calibri" panose="020F0502020204030204" pitchFamily="34" charset="0"/>
                        </a:rPr>
                        <a:t>1%</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n-IN" sz="1000" b="0" i="0" u="none" strike="noStrike">
                          <a:solidFill>
                            <a:srgbClr val="000000"/>
                          </a:solidFill>
                          <a:effectLst/>
                          <a:latin typeface="Calibri" panose="020F0502020204030204" pitchFamily="34" charset="0"/>
                        </a:rPr>
                        <a:t>0%</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r h="161925">
                <a:tc>
                  <a:txBody>
                    <a:bodyPr/>
                    <a:lstStyle/>
                    <a:p>
                      <a:pPr algn="ctr" fontAlgn="b"/>
                      <a:endParaRPr lang="en-IN" sz="10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61925">
                <a:tc>
                  <a:txBody>
                    <a:bodyPr/>
                    <a:lstStyle/>
                    <a:p>
                      <a:pPr algn="ctr" fontAlgn="b"/>
                      <a:r>
                        <a:rPr lang="en-IN" sz="1000" b="0" i="0" u="none" strike="noStrike" dirty="0">
                          <a:solidFill>
                            <a:srgbClr val="000000"/>
                          </a:solidFill>
                          <a:effectLst/>
                          <a:latin typeface="Calibri" panose="020F0502020204030204" pitchFamily="34" charset="0"/>
                        </a:rPr>
                        <a:t>Relative Location Attractiveness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000" b="0" i="0" u="none" strike="noStrike">
                          <a:solidFill>
                            <a:srgbClr val="000000"/>
                          </a:solidFill>
                          <a:effectLst/>
                          <a:latin typeface="Calibri" panose="020F0502020204030204" pitchFamily="34" charset="0"/>
                        </a:rPr>
                        <a:t>17%</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57C"/>
                    </a:solidFill>
                  </a:tcPr>
                </a:tc>
                <a:tc>
                  <a:txBody>
                    <a:bodyPr/>
                    <a:lstStyle/>
                    <a:p>
                      <a:pPr algn="ctr" fontAlgn="b"/>
                      <a:r>
                        <a:rPr lang="en-IN" sz="1000" b="0" i="0" u="none" strike="noStrike" dirty="0">
                          <a:solidFill>
                            <a:srgbClr val="000000"/>
                          </a:solidFill>
                          <a:effectLst/>
                          <a:latin typeface="Calibri" panose="020F0502020204030204" pitchFamily="34" charset="0"/>
                        </a:rPr>
                        <a:t>18%</a:t>
                      </a: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F7E"/>
                    </a:solidFill>
                  </a:tcPr>
                </a:tc>
                <a:tc>
                  <a:txBody>
                    <a:bodyPr/>
                    <a:lstStyle/>
                    <a:p>
                      <a:pPr algn="ctr" fontAlgn="b"/>
                      <a:r>
                        <a:rPr lang="en-IN" sz="1000" b="0" i="0" u="none" strike="noStrike">
                          <a:solidFill>
                            <a:srgbClr val="000000"/>
                          </a:solidFill>
                          <a:effectLst/>
                          <a:latin typeface="Calibri" panose="020F0502020204030204" pitchFamily="34" charset="0"/>
                        </a:rPr>
                        <a:t>34%</a:t>
                      </a: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8C47D"/>
                    </a:solidFill>
                  </a:tcPr>
                </a:tc>
                <a:tc>
                  <a:txBody>
                    <a:bodyPr/>
                    <a:lstStyle/>
                    <a:p>
                      <a:pPr algn="ctr" fontAlgn="b"/>
                      <a:r>
                        <a:rPr lang="en-IN" sz="1000" b="0" i="0" u="none" strike="noStrike">
                          <a:solidFill>
                            <a:srgbClr val="000000"/>
                          </a:solidFill>
                          <a:effectLst/>
                          <a:latin typeface="Calibri" panose="020F0502020204030204" pitchFamily="34" charset="0"/>
                        </a:rPr>
                        <a:t>29%</a:t>
                      </a: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CD380"/>
                    </a:solidFill>
                  </a:tcPr>
                </a:tc>
                <a:tc>
                  <a:txBody>
                    <a:bodyPr/>
                    <a:lstStyle/>
                    <a:p>
                      <a:pPr algn="ctr" fontAlgn="b"/>
                      <a:r>
                        <a:rPr lang="en-IN" sz="1000" b="0" i="0" u="none" strike="noStrike" dirty="0">
                          <a:solidFill>
                            <a:srgbClr val="000000"/>
                          </a:solidFill>
                          <a:effectLst/>
                          <a:latin typeface="Calibri" panose="020F0502020204030204" pitchFamily="34" charset="0"/>
                        </a:rPr>
                        <a:t>8%</a:t>
                      </a: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119501224"/>
              </p:ext>
            </p:extLst>
          </p:nvPr>
        </p:nvGraphicFramePr>
        <p:xfrm>
          <a:off x="6448150" y="2032411"/>
          <a:ext cx="4128190" cy="2828925"/>
        </p:xfrm>
        <a:graphic>
          <a:graphicData uri="http://schemas.openxmlformats.org/drawingml/2006/table">
            <a:tbl>
              <a:tblPr/>
              <a:tblGrid>
                <a:gridCol w="825638"/>
                <a:gridCol w="825638"/>
                <a:gridCol w="825638"/>
                <a:gridCol w="825638"/>
                <a:gridCol w="825638"/>
              </a:tblGrid>
              <a:tr h="161925">
                <a:tc>
                  <a:txBody>
                    <a:bodyPr/>
                    <a:lstStyle/>
                    <a:p>
                      <a:pPr algn="ctr" fontAlgn="b"/>
                      <a:r>
                        <a:rPr lang="en-IN" sz="1000" b="0" i="0" u="none" strike="noStrike" dirty="0">
                          <a:solidFill>
                            <a:srgbClr val="000000"/>
                          </a:solidFill>
                          <a:effectLst/>
                          <a:latin typeface="Calibri" panose="020F0502020204030204" pitchFamily="34" charset="0"/>
                        </a:rPr>
                        <a:t>TATA CROMA</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a:txBody>
                    <a:bodyPr/>
                    <a:lstStyle/>
                    <a:p>
                      <a:pPr algn="ctr" fontAlgn="b"/>
                      <a:r>
                        <a:rPr lang="en-IN" sz="1000" b="0" i="0" u="none" strike="noStrike">
                          <a:solidFill>
                            <a:srgbClr val="000000"/>
                          </a:solidFill>
                          <a:effectLst/>
                          <a:latin typeface="Calibri" panose="020F0502020204030204" pitchFamily="34" charset="0"/>
                        </a:rPr>
                        <a:t>TATA CROMA</a:t>
                      </a: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a:txBody>
                    <a:bodyPr/>
                    <a:lstStyle/>
                    <a:p>
                      <a:pPr algn="ctr" fontAlgn="b"/>
                      <a:r>
                        <a:rPr lang="en-IN" sz="1000" b="0" i="0" u="none" strike="noStrike">
                          <a:solidFill>
                            <a:srgbClr val="000000"/>
                          </a:solidFill>
                          <a:effectLst/>
                          <a:latin typeface="Calibri" panose="020F0502020204030204" pitchFamily="34" charset="0"/>
                        </a:rPr>
                        <a:t>TATA CROMA</a:t>
                      </a: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a:txBody>
                    <a:bodyPr/>
                    <a:lstStyle/>
                    <a:p>
                      <a:pPr algn="ctr" fontAlgn="b"/>
                      <a:r>
                        <a:rPr lang="en-IN" sz="1000" b="0" i="0" u="none" strike="noStrike" dirty="0">
                          <a:solidFill>
                            <a:srgbClr val="000000"/>
                          </a:solidFill>
                          <a:effectLst/>
                          <a:latin typeface="Calibri" panose="020F0502020204030204" pitchFamily="34" charset="0"/>
                        </a:rPr>
                        <a:t>TATA CROMA</a:t>
                      </a: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a:txBody>
                    <a:bodyPr/>
                    <a:lstStyle/>
                    <a:p>
                      <a:pPr algn="ctr" fontAlgn="b"/>
                      <a:r>
                        <a:rPr lang="en-IN" sz="1000" b="0" i="0" u="none" strike="noStrike" dirty="0">
                          <a:solidFill>
                            <a:srgbClr val="000000"/>
                          </a:solidFill>
                          <a:effectLst/>
                          <a:latin typeface="Calibri" panose="020F0502020204030204" pitchFamily="34" charset="0"/>
                        </a:rPr>
                        <a:t>TATA CROMA</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r>
              <a:tr h="161925">
                <a:tc>
                  <a:txBody>
                    <a:bodyPr/>
                    <a:lstStyle/>
                    <a:p>
                      <a:pPr algn="ctr" fontAlgn="b"/>
                      <a:r>
                        <a:rPr lang="en-IN" sz="1000" b="0" i="0" u="none" strike="noStrike">
                          <a:solidFill>
                            <a:srgbClr val="000000"/>
                          </a:solidFill>
                          <a:effectLst/>
                          <a:latin typeface="Calibri" panose="020F0502020204030204" pitchFamily="34" charset="0"/>
                        </a:rPr>
                        <a:t>Jubilee Hills</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a:txBody>
                    <a:bodyPr/>
                    <a:lstStyle/>
                    <a:p>
                      <a:pPr algn="ctr" fontAlgn="b"/>
                      <a:r>
                        <a:rPr lang="en-IN" sz="1000" b="0" i="0" u="none" strike="noStrike">
                          <a:solidFill>
                            <a:srgbClr val="000000"/>
                          </a:solidFill>
                          <a:effectLst/>
                          <a:latin typeface="Calibri" panose="020F0502020204030204" pitchFamily="34" charset="0"/>
                        </a:rPr>
                        <a:t>Somajiguda</a:t>
                      </a: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a:txBody>
                    <a:bodyPr/>
                    <a:lstStyle/>
                    <a:p>
                      <a:pPr algn="ctr" fontAlgn="b"/>
                      <a:r>
                        <a:rPr lang="en-IN" sz="1000" b="0" i="0" u="none" strike="noStrike">
                          <a:solidFill>
                            <a:srgbClr val="000000"/>
                          </a:solidFill>
                          <a:effectLst/>
                          <a:latin typeface="Calibri" panose="020F0502020204030204" pitchFamily="34" charset="0"/>
                        </a:rPr>
                        <a:t>Karkhana Road</a:t>
                      </a: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a:txBody>
                    <a:bodyPr/>
                    <a:lstStyle/>
                    <a:p>
                      <a:pPr algn="ctr" fontAlgn="b"/>
                      <a:r>
                        <a:rPr lang="en-IN" sz="1000" b="0" i="0" u="none" strike="noStrike">
                          <a:solidFill>
                            <a:srgbClr val="000000"/>
                          </a:solidFill>
                          <a:effectLst/>
                          <a:latin typeface="Calibri" panose="020F0502020204030204" pitchFamily="34" charset="0"/>
                        </a:rPr>
                        <a:t>Kondapur</a:t>
                      </a: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a:txBody>
                    <a:bodyPr/>
                    <a:lstStyle/>
                    <a:p>
                      <a:pPr algn="ctr" fontAlgn="b"/>
                      <a:r>
                        <a:rPr lang="en-IN" sz="1000" b="0" i="0" u="none" strike="noStrike">
                          <a:solidFill>
                            <a:srgbClr val="000000"/>
                          </a:solidFill>
                          <a:effectLst/>
                          <a:latin typeface="Calibri" panose="020F0502020204030204" pitchFamily="34" charset="0"/>
                        </a:rPr>
                        <a:t>Shamshabad</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r>
              <a:tr h="238125">
                <a:tc>
                  <a:txBody>
                    <a:bodyPr/>
                    <a:lstStyle/>
                    <a:p>
                      <a:pPr algn="ctr" fontAlgn="b"/>
                      <a:r>
                        <a:rPr lang="en-IN" sz="1000" b="0" i="0" u="none" strike="noStrike">
                          <a:solidFill>
                            <a:srgbClr val="000000"/>
                          </a:solidFill>
                          <a:effectLst/>
                          <a:latin typeface="Calibri" panose="020F0502020204030204" pitchFamily="34" charset="0"/>
                        </a:rPr>
                        <a:t>500033</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a:txBody>
                    <a:bodyPr/>
                    <a:lstStyle/>
                    <a:p>
                      <a:pPr algn="ctr" fontAlgn="b"/>
                      <a:r>
                        <a:rPr lang="en-IN" sz="1000" b="0" i="0" u="none" strike="noStrike" dirty="0">
                          <a:solidFill>
                            <a:srgbClr val="000000"/>
                          </a:solidFill>
                          <a:effectLst/>
                          <a:latin typeface="Calibri" panose="020F0502020204030204" pitchFamily="34" charset="0"/>
                        </a:rPr>
                        <a:t>500018</a:t>
                      </a: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a:txBody>
                    <a:bodyPr/>
                    <a:lstStyle/>
                    <a:p>
                      <a:pPr algn="ctr" fontAlgn="b"/>
                      <a:r>
                        <a:rPr lang="en-IN" sz="1000" b="0" i="0" u="none" strike="noStrike">
                          <a:solidFill>
                            <a:srgbClr val="000000"/>
                          </a:solidFill>
                          <a:effectLst/>
                          <a:latin typeface="Calibri" panose="020F0502020204030204" pitchFamily="34" charset="0"/>
                        </a:rPr>
                        <a:t>500015</a:t>
                      </a: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a:txBody>
                    <a:bodyPr/>
                    <a:lstStyle/>
                    <a:p>
                      <a:pPr algn="ctr" fontAlgn="b"/>
                      <a:r>
                        <a:rPr lang="en-IN" sz="1000" b="0" i="0" u="none" strike="noStrike" dirty="0">
                          <a:solidFill>
                            <a:srgbClr val="000000"/>
                          </a:solidFill>
                          <a:effectLst/>
                          <a:latin typeface="Calibri" panose="020F0502020204030204" pitchFamily="34" charset="0"/>
                        </a:rPr>
                        <a:t>500081</a:t>
                      </a: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a:txBody>
                    <a:bodyPr/>
                    <a:lstStyle/>
                    <a:p>
                      <a:pPr algn="ctr" fontAlgn="b"/>
                      <a:r>
                        <a:rPr lang="en-IN" sz="1000" b="0" i="0" u="none" strike="noStrike">
                          <a:solidFill>
                            <a:srgbClr val="000000"/>
                          </a:solidFill>
                          <a:effectLst/>
                          <a:latin typeface="Calibri" panose="020F0502020204030204" pitchFamily="34" charset="0"/>
                        </a:rPr>
                        <a:t>500409</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r>
              <a:tr h="161925">
                <a:tc>
                  <a:txBody>
                    <a:bodyPr/>
                    <a:lstStyle/>
                    <a:p>
                      <a:pPr algn="ctr" fontAlgn="b"/>
                      <a:r>
                        <a:rPr lang="en-IN" sz="1000" b="0" i="0" u="none" strike="noStrike">
                          <a:solidFill>
                            <a:srgbClr val="000000"/>
                          </a:solidFill>
                          <a:effectLst/>
                          <a:latin typeface="Calibri" panose="020F0502020204030204" pitchFamily="34" charset="0"/>
                        </a:rPr>
                        <a:t>43%</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n-IN" sz="1000" b="0" i="0" u="none" strike="noStrike">
                          <a:solidFill>
                            <a:srgbClr val="000000"/>
                          </a:solidFill>
                          <a:effectLst/>
                          <a:latin typeface="Calibri" panose="020F0502020204030204" pitchFamily="34" charset="0"/>
                        </a:rPr>
                        <a:t>58%</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n-IN" sz="1000" b="0" i="0" u="none" strike="noStrike" dirty="0">
                          <a:solidFill>
                            <a:srgbClr val="000000"/>
                          </a:solidFill>
                          <a:effectLst/>
                          <a:latin typeface="Calibri" panose="020F0502020204030204" pitchFamily="34" charset="0"/>
                        </a:rPr>
                        <a:t>48%</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n-IN" sz="1000" b="0" i="0" u="none" strike="noStrike">
                          <a:solidFill>
                            <a:srgbClr val="000000"/>
                          </a:solidFill>
                          <a:effectLst/>
                          <a:latin typeface="Calibri" panose="020F0502020204030204" pitchFamily="34" charset="0"/>
                        </a:rPr>
                        <a:t>52%</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n-IN" sz="1000" b="0" i="0" u="none" strike="noStrike">
                          <a:solidFill>
                            <a:srgbClr val="000000"/>
                          </a:solidFill>
                          <a:effectLst/>
                          <a:latin typeface="Calibri" panose="020F0502020204030204" pitchFamily="34" charset="0"/>
                        </a:rPr>
                        <a:t>69%</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161925">
                <a:tc>
                  <a:txBody>
                    <a:bodyPr/>
                    <a:lstStyle/>
                    <a:p>
                      <a:pPr algn="ctr" fontAlgn="b"/>
                      <a:r>
                        <a:rPr lang="en-IN" sz="1000" b="0" i="0" u="none" strike="noStrike">
                          <a:solidFill>
                            <a:srgbClr val="000000"/>
                          </a:solidFill>
                          <a:effectLst/>
                          <a:latin typeface="Calibri" panose="020F0502020204030204" pitchFamily="34" charset="0"/>
                        </a:rPr>
                        <a:t>9%</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solidFill>
                      <a:srgbClr val="FDD880"/>
                    </a:solidFill>
                  </a:tcPr>
                </a:tc>
                <a:tc>
                  <a:txBody>
                    <a:bodyPr/>
                    <a:lstStyle/>
                    <a:p>
                      <a:pPr algn="ctr" fontAlgn="b"/>
                      <a:r>
                        <a:rPr lang="en-IN" sz="1000" b="0" i="0" u="none" strike="noStrike">
                          <a:solidFill>
                            <a:srgbClr val="000000"/>
                          </a:solidFill>
                          <a:effectLst/>
                          <a:latin typeface="Calibri" panose="020F0502020204030204" pitchFamily="34" charset="0"/>
                        </a:rPr>
                        <a:t>3%</a:t>
                      </a:r>
                    </a:p>
                  </a:txBody>
                  <a:tcPr marL="9525" marR="9525" marT="9525" marB="0" anchor="b">
                    <a:lnL>
                      <a:noFill/>
                    </a:lnL>
                    <a:lnR>
                      <a:noFill/>
                    </a:lnR>
                    <a:lnT>
                      <a:noFill/>
                    </a:lnT>
                    <a:lnB>
                      <a:noFill/>
                    </a:lnB>
                    <a:solidFill>
                      <a:srgbClr val="F8696B"/>
                    </a:solidFill>
                  </a:tcPr>
                </a:tc>
                <a:tc>
                  <a:txBody>
                    <a:bodyPr/>
                    <a:lstStyle/>
                    <a:p>
                      <a:pPr algn="ctr" fontAlgn="b"/>
                      <a:r>
                        <a:rPr lang="en-IN" sz="1000" b="0" i="0" u="none" strike="noStrike" dirty="0">
                          <a:solidFill>
                            <a:srgbClr val="000000"/>
                          </a:solidFill>
                          <a:effectLst/>
                          <a:latin typeface="Calibri" panose="020F0502020204030204" pitchFamily="34" charset="0"/>
                        </a:rPr>
                        <a:t>14%</a:t>
                      </a:r>
                    </a:p>
                  </a:txBody>
                  <a:tcPr marL="9525" marR="9525" marT="9525" marB="0" anchor="b">
                    <a:lnL>
                      <a:noFill/>
                    </a:lnL>
                    <a:lnR>
                      <a:noFill/>
                    </a:lnR>
                    <a:lnT>
                      <a:noFill/>
                    </a:lnT>
                    <a:lnB>
                      <a:noFill/>
                    </a:lnB>
                    <a:solidFill>
                      <a:srgbClr val="7EC67D"/>
                    </a:solidFill>
                  </a:tcPr>
                </a:tc>
                <a:tc>
                  <a:txBody>
                    <a:bodyPr/>
                    <a:lstStyle/>
                    <a:p>
                      <a:pPr algn="ctr" fontAlgn="b"/>
                      <a:r>
                        <a:rPr lang="en-IN" sz="1000" b="0" i="0" u="none" strike="noStrike">
                          <a:solidFill>
                            <a:srgbClr val="000000"/>
                          </a:solidFill>
                          <a:effectLst/>
                          <a:latin typeface="Calibri" panose="020F0502020204030204" pitchFamily="34" charset="0"/>
                        </a:rPr>
                        <a:t>8%</a:t>
                      </a:r>
                    </a:p>
                  </a:txBody>
                  <a:tcPr marL="9525" marR="9525" marT="9525" marB="0" anchor="b">
                    <a:lnL>
                      <a:noFill/>
                    </a:lnL>
                    <a:lnR>
                      <a:noFill/>
                    </a:lnR>
                    <a:lnT>
                      <a:noFill/>
                    </a:lnT>
                    <a:lnB>
                      <a:noFill/>
                    </a:lnB>
                    <a:solidFill>
                      <a:srgbClr val="FCC57C"/>
                    </a:solidFill>
                  </a:tcPr>
                </a:tc>
                <a:tc>
                  <a:txBody>
                    <a:bodyPr/>
                    <a:lstStyle/>
                    <a:p>
                      <a:pPr algn="ctr" fontAlgn="b"/>
                      <a:r>
                        <a:rPr lang="en-IN" sz="1000" b="0" i="0" u="none" strike="noStrike">
                          <a:solidFill>
                            <a:srgbClr val="000000"/>
                          </a:solidFill>
                          <a:effectLst/>
                          <a:latin typeface="Calibri" panose="020F0502020204030204" pitchFamily="34" charset="0"/>
                        </a:rPr>
                        <a:t>5%</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solidFill>
                      <a:srgbClr val="FA8E72"/>
                    </a:solidFill>
                  </a:tcPr>
                </a:tc>
              </a:tr>
              <a:tr h="161925">
                <a:tc>
                  <a:txBody>
                    <a:bodyPr/>
                    <a:lstStyle/>
                    <a:p>
                      <a:pPr algn="ctr" fontAlgn="b"/>
                      <a:r>
                        <a:rPr lang="en-IN" sz="1000" b="0" i="0" u="none" strike="noStrike" dirty="0">
                          <a:solidFill>
                            <a:srgbClr val="000000"/>
                          </a:solidFill>
                          <a:effectLst/>
                          <a:latin typeface="Calibri" panose="020F0502020204030204" pitchFamily="34" charset="0"/>
                        </a:rPr>
                        <a:t>14%</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solidFill>
                      <a:srgbClr val="C8DC81"/>
                    </a:solidFill>
                  </a:tcPr>
                </a:tc>
                <a:tc>
                  <a:txBody>
                    <a:bodyPr/>
                    <a:lstStyle/>
                    <a:p>
                      <a:pPr algn="ctr" fontAlgn="b"/>
                      <a:r>
                        <a:rPr lang="en-IN" sz="1000" b="0" i="0" u="none" strike="noStrike">
                          <a:solidFill>
                            <a:srgbClr val="000000"/>
                          </a:solidFill>
                          <a:effectLst/>
                          <a:latin typeface="Calibri" panose="020F0502020204030204" pitchFamily="34" charset="0"/>
                        </a:rPr>
                        <a:t>11%</a:t>
                      </a:r>
                    </a:p>
                  </a:txBody>
                  <a:tcPr marL="9525" marR="9525" marT="9525" marB="0" anchor="b">
                    <a:lnL>
                      <a:noFill/>
                    </a:lnL>
                    <a:lnR>
                      <a:noFill/>
                    </a:lnR>
                    <a:lnT>
                      <a:noFill/>
                    </a:lnT>
                    <a:lnB>
                      <a:noFill/>
                    </a:lnB>
                    <a:solidFill>
                      <a:srgbClr val="EDE683"/>
                    </a:solidFill>
                  </a:tcPr>
                </a:tc>
                <a:tc>
                  <a:txBody>
                    <a:bodyPr/>
                    <a:lstStyle/>
                    <a:p>
                      <a:pPr algn="ctr" fontAlgn="b"/>
                      <a:r>
                        <a:rPr lang="en-IN" sz="1000" b="0" i="0" u="none" strike="noStrike">
                          <a:solidFill>
                            <a:srgbClr val="000000"/>
                          </a:solidFill>
                          <a:effectLst/>
                          <a:latin typeface="Calibri" panose="020F0502020204030204" pitchFamily="34" charset="0"/>
                        </a:rPr>
                        <a:t>5%</a:t>
                      </a:r>
                    </a:p>
                  </a:txBody>
                  <a:tcPr marL="9525" marR="9525" marT="9525" marB="0" anchor="b">
                    <a:lnL>
                      <a:noFill/>
                    </a:lnL>
                    <a:lnR>
                      <a:noFill/>
                    </a:lnR>
                    <a:lnT>
                      <a:noFill/>
                    </a:lnT>
                    <a:lnB>
                      <a:noFill/>
                    </a:lnB>
                    <a:solidFill>
                      <a:srgbClr val="FBA075"/>
                    </a:solidFill>
                  </a:tcPr>
                </a:tc>
                <a:tc>
                  <a:txBody>
                    <a:bodyPr/>
                    <a:lstStyle/>
                    <a:p>
                      <a:pPr algn="ctr" fontAlgn="b"/>
                      <a:r>
                        <a:rPr lang="en-IN" sz="1000" b="0" i="0" u="none" strike="noStrike" dirty="0">
                          <a:solidFill>
                            <a:srgbClr val="000000"/>
                          </a:solidFill>
                          <a:effectLst/>
                          <a:latin typeface="Calibri" panose="020F0502020204030204" pitchFamily="34" charset="0"/>
                        </a:rPr>
                        <a:t>12%</a:t>
                      </a:r>
                    </a:p>
                  </a:txBody>
                  <a:tcPr marL="9525" marR="9525" marT="9525" marB="0" anchor="b">
                    <a:lnL>
                      <a:noFill/>
                    </a:lnL>
                    <a:lnR>
                      <a:noFill/>
                    </a:lnR>
                    <a:lnT>
                      <a:noFill/>
                    </a:lnT>
                    <a:lnB>
                      <a:noFill/>
                    </a:lnB>
                    <a:solidFill>
                      <a:srgbClr val="E4E483"/>
                    </a:solidFill>
                  </a:tcPr>
                </a:tc>
                <a:tc>
                  <a:txBody>
                    <a:bodyPr/>
                    <a:lstStyle/>
                    <a:p>
                      <a:pPr algn="ctr" fontAlgn="b"/>
                      <a:r>
                        <a:rPr lang="en-IN" sz="1000" b="0" i="0" u="none" strike="noStrike">
                          <a:solidFill>
                            <a:srgbClr val="000000"/>
                          </a:solidFill>
                          <a:effectLst/>
                          <a:latin typeface="Calibri" panose="020F0502020204030204" pitchFamily="34" charset="0"/>
                        </a:rPr>
                        <a:t>3%</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solidFill>
                      <a:srgbClr val="F97B6E"/>
                    </a:solidFill>
                  </a:tcPr>
                </a:tc>
              </a:tr>
              <a:tr h="161925">
                <a:tc>
                  <a:txBody>
                    <a:bodyPr/>
                    <a:lstStyle/>
                    <a:p>
                      <a:pPr algn="ctr" fontAlgn="b"/>
                      <a:r>
                        <a:rPr lang="en-IN" sz="1000" b="0" i="0" u="none" strike="noStrike">
                          <a:solidFill>
                            <a:srgbClr val="000000"/>
                          </a:solidFill>
                          <a:effectLst/>
                          <a:latin typeface="Calibri" panose="020F0502020204030204" pitchFamily="34" charset="0"/>
                        </a:rPr>
                        <a:t>13%</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9%</a:t>
                      </a:r>
                    </a:p>
                  </a:txBody>
                  <a:tcPr marL="9525" marR="9525" marT="9525" marB="0" anchor="b">
                    <a:lnL>
                      <a:noFill/>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13%</a:t>
                      </a:r>
                    </a:p>
                  </a:txBody>
                  <a:tcPr marL="9525" marR="9525" marT="9525" marB="0" anchor="b">
                    <a:lnL>
                      <a:noFill/>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9%</a:t>
                      </a:r>
                    </a:p>
                  </a:txBody>
                  <a:tcPr marL="9525" marR="9525" marT="9525" marB="0" anchor="b">
                    <a:lnL>
                      <a:noFill/>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3%</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r>
              <a:tr h="161925">
                <a:tc>
                  <a:txBody>
                    <a:bodyPr/>
                    <a:lstStyle/>
                    <a:p>
                      <a:pPr algn="ctr" fontAlgn="b"/>
                      <a:r>
                        <a:rPr lang="en-IN" sz="1000" b="0" i="0" u="none" strike="noStrike" dirty="0">
                          <a:solidFill>
                            <a:srgbClr val="000000"/>
                          </a:solidFill>
                          <a:effectLst/>
                          <a:latin typeface="Calibri" panose="020F0502020204030204" pitchFamily="34" charset="0"/>
                        </a:rPr>
                        <a:t>16%</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n-IN" sz="1000" b="0" i="0" u="none" strike="noStrike" dirty="0">
                          <a:solidFill>
                            <a:srgbClr val="000000"/>
                          </a:solidFill>
                          <a:effectLst/>
                          <a:latin typeface="Calibri" panose="020F0502020204030204" pitchFamily="34" charset="0"/>
                        </a:rPr>
                        <a:t>18%</a:t>
                      </a:r>
                    </a:p>
                  </a:txBody>
                  <a:tcPr marL="9525" marR="9525" marT="9525" marB="0" anchor="b">
                    <a:lnL>
                      <a:noFill/>
                    </a:lnL>
                    <a:lnR>
                      <a:noFill/>
                    </a:lnR>
                    <a:lnT>
                      <a:noFill/>
                    </a:lnT>
                    <a:lnB>
                      <a:noFill/>
                    </a:lnB>
                  </a:tcPr>
                </a:tc>
                <a:tc>
                  <a:txBody>
                    <a:bodyPr/>
                    <a:lstStyle/>
                    <a:p>
                      <a:pPr algn="ctr" fontAlgn="b"/>
                      <a:r>
                        <a:rPr lang="en-IN" sz="1000" b="0" i="0" u="none" strike="noStrike" dirty="0">
                          <a:solidFill>
                            <a:srgbClr val="000000"/>
                          </a:solidFill>
                          <a:effectLst/>
                          <a:latin typeface="Calibri" panose="020F0502020204030204" pitchFamily="34" charset="0"/>
                        </a:rPr>
                        <a:t>16%</a:t>
                      </a:r>
                    </a:p>
                  </a:txBody>
                  <a:tcPr marL="9525" marR="9525" marT="9525" marB="0" anchor="b">
                    <a:lnL>
                      <a:noFill/>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17%</a:t>
                      </a:r>
                    </a:p>
                  </a:txBody>
                  <a:tcPr marL="9525" marR="9525" marT="9525" marB="0" anchor="b">
                    <a:lnL>
                      <a:noFill/>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10%</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r>
              <a:tr h="161925">
                <a:tc>
                  <a:txBody>
                    <a:bodyPr/>
                    <a:lstStyle/>
                    <a:p>
                      <a:pPr algn="ctr" fontAlgn="b"/>
                      <a:r>
                        <a:rPr lang="en-IN" sz="1000" b="0" i="0" u="none" strike="noStrike">
                          <a:solidFill>
                            <a:srgbClr val="000000"/>
                          </a:solidFill>
                          <a:effectLst/>
                          <a:latin typeface="Calibri" panose="020F0502020204030204" pitchFamily="34" charset="0"/>
                        </a:rPr>
                        <a:t>0%</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solidFill>
                      <a:srgbClr val="F8696B"/>
                    </a:solidFill>
                  </a:tcPr>
                </a:tc>
                <a:tc>
                  <a:txBody>
                    <a:bodyPr/>
                    <a:lstStyle/>
                    <a:p>
                      <a:pPr algn="ctr" fontAlgn="b"/>
                      <a:r>
                        <a:rPr lang="en-IN" sz="1000" b="0" i="0" u="none" strike="noStrike">
                          <a:solidFill>
                            <a:srgbClr val="000000"/>
                          </a:solidFill>
                          <a:effectLst/>
                          <a:latin typeface="Calibri" panose="020F0502020204030204" pitchFamily="34" charset="0"/>
                        </a:rPr>
                        <a:t>0%</a:t>
                      </a:r>
                    </a:p>
                  </a:txBody>
                  <a:tcPr marL="9525" marR="9525" marT="9525" marB="0" anchor="b">
                    <a:lnL>
                      <a:noFill/>
                    </a:lnL>
                    <a:lnR>
                      <a:noFill/>
                    </a:lnR>
                    <a:lnT>
                      <a:noFill/>
                    </a:lnT>
                    <a:lnB>
                      <a:noFill/>
                    </a:lnB>
                    <a:solidFill>
                      <a:srgbClr val="F8696B"/>
                    </a:solidFill>
                  </a:tcPr>
                </a:tc>
                <a:tc>
                  <a:txBody>
                    <a:bodyPr/>
                    <a:lstStyle/>
                    <a:p>
                      <a:pPr algn="ctr" fontAlgn="b"/>
                      <a:r>
                        <a:rPr lang="en-IN" sz="1000" b="0" i="0" u="none" strike="noStrike">
                          <a:solidFill>
                            <a:srgbClr val="000000"/>
                          </a:solidFill>
                          <a:effectLst/>
                          <a:latin typeface="Calibri" panose="020F0502020204030204" pitchFamily="34" charset="0"/>
                        </a:rPr>
                        <a:t>0%</a:t>
                      </a:r>
                    </a:p>
                  </a:txBody>
                  <a:tcPr marL="9525" marR="9525" marT="9525" marB="0" anchor="b">
                    <a:lnL>
                      <a:noFill/>
                    </a:lnL>
                    <a:lnR>
                      <a:noFill/>
                    </a:lnR>
                    <a:lnT>
                      <a:noFill/>
                    </a:lnT>
                    <a:lnB>
                      <a:noFill/>
                    </a:lnB>
                    <a:solidFill>
                      <a:srgbClr val="F8696B"/>
                    </a:solidFill>
                  </a:tcPr>
                </a:tc>
                <a:tc>
                  <a:txBody>
                    <a:bodyPr/>
                    <a:lstStyle/>
                    <a:p>
                      <a:pPr algn="ctr" fontAlgn="b"/>
                      <a:r>
                        <a:rPr lang="en-IN" sz="1000" b="0" i="0" u="none" strike="noStrike">
                          <a:solidFill>
                            <a:srgbClr val="000000"/>
                          </a:solidFill>
                          <a:effectLst/>
                          <a:latin typeface="Calibri" panose="020F0502020204030204" pitchFamily="34" charset="0"/>
                        </a:rPr>
                        <a:t>1%</a:t>
                      </a:r>
                    </a:p>
                  </a:txBody>
                  <a:tcPr marL="9525" marR="9525" marT="9525" marB="0" anchor="b">
                    <a:lnL>
                      <a:noFill/>
                    </a:lnL>
                    <a:lnR>
                      <a:noFill/>
                    </a:lnR>
                    <a:lnT>
                      <a:noFill/>
                    </a:lnT>
                    <a:lnB>
                      <a:noFill/>
                    </a:lnB>
                    <a:solidFill>
                      <a:srgbClr val="FBAA77"/>
                    </a:solidFill>
                  </a:tcPr>
                </a:tc>
                <a:tc>
                  <a:txBody>
                    <a:bodyPr/>
                    <a:lstStyle/>
                    <a:p>
                      <a:pPr algn="ctr" fontAlgn="b"/>
                      <a:r>
                        <a:rPr lang="en-IN" sz="1000" b="0" i="0" u="none" strike="noStrike">
                          <a:solidFill>
                            <a:srgbClr val="000000"/>
                          </a:solidFill>
                          <a:effectLst/>
                          <a:latin typeface="Calibri" panose="020F0502020204030204" pitchFamily="34" charset="0"/>
                        </a:rPr>
                        <a:t>8%</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solidFill>
                      <a:srgbClr val="63BE7B"/>
                    </a:solidFill>
                  </a:tcPr>
                </a:tc>
              </a:tr>
              <a:tr h="161925">
                <a:tc>
                  <a:txBody>
                    <a:bodyPr/>
                    <a:lstStyle/>
                    <a:p>
                      <a:pPr algn="ctr" fontAlgn="b"/>
                      <a:r>
                        <a:rPr lang="en-IN" sz="1000" b="0" i="0" u="none" strike="noStrike">
                          <a:solidFill>
                            <a:srgbClr val="000000"/>
                          </a:solidFill>
                          <a:effectLst/>
                          <a:latin typeface="Calibri" panose="020F0502020204030204" pitchFamily="34" charset="0"/>
                        </a:rPr>
                        <a:t>1%</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0%</a:t>
                      </a:r>
                    </a:p>
                  </a:txBody>
                  <a:tcPr marL="9525" marR="9525" marT="9525" marB="0" anchor="b">
                    <a:lnL>
                      <a:noFill/>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1%</a:t>
                      </a:r>
                    </a:p>
                  </a:txBody>
                  <a:tcPr marL="9525" marR="9525" marT="9525" marB="0" anchor="b">
                    <a:lnL>
                      <a:noFill/>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0%</a:t>
                      </a:r>
                    </a:p>
                  </a:txBody>
                  <a:tcPr marL="9525" marR="9525" marT="9525" marB="0" anchor="b">
                    <a:lnL>
                      <a:noFill/>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1%</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r>
              <a:tr h="161925">
                <a:tc>
                  <a:txBody>
                    <a:bodyPr/>
                    <a:lstStyle/>
                    <a:p>
                      <a:pPr algn="ctr" fontAlgn="b"/>
                      <a:r>
                        <a:rPr lang="en-IN" sz="1000" b="0" i="0" u="none" strike="noStrike">
                          <a:solidFill>
                            <a:srgbClr val="000000"/>
                          </a:solidFill>
                          <a:effectLst/>
                          <a:latin typeface="Calibri" panose="020F0502020204030204" pitchFamily="34" charset="0"/>
                        </a:rPr>
                        <a:t>1%</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0%</a:t>
                      </a:r>
                    </a:p>
                  </a:txBody>
                  <a:tcPr marL="9525" marR="9525" marT="9525" marB="0" anchor="b">
                    <a:lnL>
                      <a:noFill/>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1%</a:t>
                      </a:r>
                    </a:p>
                  </a:txBody>
                  <a:tcPr marL="9525" marR="9525" marT="9525" marB="0" anchor="b">
                    <a:lnL>
                      <a:noFill/>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0%</a:t>
                      </a:r>
                    </a:p>
                  </a:txBody>
                  <a:tcPr marL="9525" marR="9525" marT="9525" marB="0" anchor="b">
                    <a:lnL>
                      <a:noFill/>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0%</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r>
              <a:tr h="161925">
                <a:tc>
                  <a:txBody>
                    <a:bodyPr/>
                    <a:lstStyle/>
                    <a:p>
                      <a:pPr algn="ctr" fontAlgn="b"/>
                      <a:r>
                        <a:rPr lang="en-IN" sz="1000" b="0" i="0" u="none" strike="noStrike">
                          <a:solidFill>
                            <a:srgbClr val="000000"/>
                          </a:solidFill>
                          <a:effectLst/>
                          <a:latin typeface="Calibri" panose="020F0502020204030204" pitchFamily="34" charset="0"/>
                        </a:rPr>
                        <a:t>0%</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1%</a:t>
                      </a:r>
                    </a:p>
                  </a:txBody>
                  <a:tcPr marL="9525" marR="9525" marT="9525" marB="0" anchor="b">
                    <a:lnL>
                      <a:noFill/>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1%</a:t>
                      </a:r>
                    </a:p>
                  </a:txBody>
                  <a:tcPr marL="9525" marR="9525" marT="9525" marB="0" anchor="b">
                    <a:lnL>
                      <a:noFill/>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0%</a:t>
                      </a:r>
                    </a:p>
                  </a:txBody>
                  <a:tcPr marL="9525" marR="9525" marT="9525" marB="0" anchor="b">
                    <a:lnL>
                      <a:noFill/>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1%</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r>
              <a:tr h="161925">
                <a:tc>
                  <a:txBody>
                    <a:bodyPr/>
                    <a:lstStyle/>
                    <a:p>
                      <a:pPr algn="ctr" fontAlgn="b"/>
                      <a:r>
                        <a:rPr lang="en-IN" sz="1000" b="0" i="0" u="none" strike="noStrike">
                          <a:solidFill>
                            <a:srgbClr val="000000"/>
                          </a:solidFill>
                          <a:effectLst/>
                          <a:latin typeface="Calibri" panose="020F0502020204030204" pitchFamily="34" charset="0"/>
                        </a:rPr>
                        <a:t>0%</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0%</a:t>
                      </a:r>
                    </a:p>
                  </a:txBody>
                  <a:tcPr marL="9525" marR="9525" marT="9525" marB="0" anchor="b">
                    <a:lnL>
                      <a:noFill/>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0%</a:t>
                      </a:r>
                    </a:p>
                  </a:txBody>
                  <a:tcPr marL="9525" marR="9525" marT="9525" marB="0" anchor="b">
                    <a:lnL>
                      <a:noFill/>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1%</a:t>
                      </a:r>
                    </a:p>
                  </a:txBody>
                  <a:tcPr marL="9525" marR="9525" marT="9525" marB="0" anchor="b">
                    <a:lnL>
                      <a:noFill/>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1%</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r>
              <a:tr h="161925">
                <a:tc>
                  <a:txBody>
                    <a:bodyPr/>
                    <a:lstStyle/>
                    <a:p>
                      <a:pPr algn="ctr" fontAlgn="b"/>
                      <a:r>
                        <a:rPr lang="en-IN" sz="1000" b="0" i="0" u="none" strike="noStrike">
                          <a:solidFill>
                            <a:srgbClr val="000000"/>
                          </a:solidFill>
                          <a:effectLst/>
                          <a:latin typeface="Calibri" panose="020F0502020204030204" pitchFamily="34" charset="0"/>
                        </a:rPr>
                        <a:t>1%</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1%</a:t>
                      </a:r>
                    </a:p>
                  </a:txBody>
                  <a:tcPr marL="9525" marR="9525" marT="9525" marB="0" anchor="b">
                    <a:lnL>
                      <a:noFill/>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0%</a:t>
                      </a:r>
                    </a:p>
                  </a:txBody>
                  <a:tcPr marL="9525" marR="9525" marT="9525" marB="0" anchor="b">
                    <a:lnL>
                      <a:noFill/>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0%</a:t>
                      </a:r>
                    </a:p>
                  </a:txBody>
                  <a:tcPr marL="9525" marR="9525" marT="9525" marB="0" anchor="b">
                    <a:lnL>
                      <a:noFill/>
                    </a:lnL>
                    <a:lnR>
                      <a:noFill/>
                    </a:lnR>
                    <a:lnT>
                      <a:noFill/>
                    </a:lnT>
                    <a:lnB>
                      <a:noFill/>
                    </a:lnB>
                  </a:tcPr>
                </a:tc>
                <a:tc>
                  <a:txBody>
                    <a:bodyPr/>
                    <a:lstStyle/>
                    <a:p>
                      <a:pPr algn="ctr" fontAlgn="b"/>
                      <a:r>
                        <a:rPr lang="en-IN" sz="1000" b="0" i="0" u="none" strike="noStrike">
                          <a:solidFill>
                            <a:srgbClr val="000000"/>
                          </a:solidFill>
                          <a:effectLst/>
                          <a:latin typeface="Calibri" panose="020F0502020204030204" pitchFamily="34" charset="0"/>
                        </a:rPr>
                        <a:t>0%</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r>
              <a:tr h="161925">
                <a:tc>
                  <a:txBody>
                    <a:bodyPr/>
                    <a:lstStyle/>
                    <a:p>
                      <a:pPr algn="ctr" fontAlgn="b"/>
                      <a:r>
                        <a:rPr lang="en-IN" sz="1000" b="0" i="0" u="none" strike="noStrike">
                          <a:solidFill>
                            <a:srgbClr val="000000"/>
                          </a:solidFill>
                          <a:effectLst/>
                          <a:latin typeface="Calibri" panose="020F0502020204030204" pitchFamily="34" charset="0"/>
                        </a:rPr>
                        <a:t>1%</a:t>
                      </a:r>
                    </a:p>
                  </a:txBody>
                  <a:tcPr marL="9525" marR="9525" marT="9525"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n-IN" sz="1000" b="0" i="0" u="none" strike="noStrike">
                          <a:solidFill>
                            <a:srgbClr val="000000"/>
                          </a:solidFill>
                          <a:effectLst/>
                          <a:latin typeface="Calibri" panose="020F0502020204030204" pitchFamily="34" charset="0"/>
                        </a:rPr>
                        <a:t>0%</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n-IN" sz="1000" b="0" i="0" u="none" strike="noStrike">
                          <a:solidFill>
                            <a:srgbClr val="000000"/>
                          </a:solidFill>
                          <a:effectLst/>
                          <a:latin typeface="Calibri" panose="020F0502020204030204" pitchFamily="34" charset="0"/>
                        </a:rPr>
                        <a:t>1%</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n-IN" sz="1000" b="0" i="0" u="none" strike="noStrike">
                          <a:solidFill>
                            <a:srgbClr val="000000"/>
                          </a:solidFill>
                          <a:effectLst/>
                          <a:latin typeface="Calibri" panose="020F0502020204030204" pitchFamily="34" charset="0"/>
                        </a:rPr>
                        <a:t>1%</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n-IN" sz="1000" b="0" i="0" u="none" strike="noStrike">
                          <a:solidFill>
                            <a:srgbClr val="000000"/>
                          </a:solidFill>
                          <a:effectLst/>
                          <a:latin typeface="Calibri" panose="020F0502020204030204" pitchFamily="34" charset="0"/>
                        </a:rPr>
                        <a:t>0%</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r h="161925">
                <a:tc>
                  <a:txBody>
                    <a:bodyPr/>
                    <a:lstStyle/>
                    <a:p>
                      <a:pPr algn="ctr" fontAlgn="b"/>
                      <a:endParaRPr lang="en-IN" sz="10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61925">
                <a:tc>
                  <a:txBody>
                    <a:bodyPr/>
                    <a:lstStyle/>
                    <a:p>
                      <a:pPr algn="ctr" fontAlgn="b"/>
                      <a:r>
                        <a:rPr lang="en-IN" sz="1000" b="0" i="0" u="none" strike="noStrike" dirty="0">
                          <a:solidFill>
                            <a:srgbClr val="000000"/>
                          </a:solidFill>
                          <a:effectLst/>
                          <a:latin typeface="Calibri" panose="020F0502020204030204" pitchFamily="34" charset="0"/>
                        </a:rPr>
                        <a:t>23%</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683"/>
                    </a:solidFill>
                  </a:tcPr>
                </a:tc>
                <a:tc>
                  <a:txBody>
                    <a:bodyPr/>
                    <a:lstStyle/>
                    <a:p>
                      <a:pPr algn="ctr" fontAlgn="b"/>
                      <a:r>
                        <a:rPr lang="en-IN" sz="1000" b="0" i="0" u="none" strike="noStrike">
                          <a:solidFill>
                            <a:srgbClr val="000000"/>
                          </a:solidFill>
                          <a:effectLst/>
                          <a:latin typeface="Calibri" panose="020F0502020204030204" pitchFamily="34" charset="0"/>
                        </a:rPr>
                        <a:t>13%</a:t>
                      </a: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A075"/>
                    </a:solidFill>
                  </a:tcPr>
                </a:tc>
                <a:tc>
                  <a:txBody>
                    <a:bodyPr/>
                    <a:lstStyle/>
                    <a:p>
                      <a:pPr algn="ctr" fontAlgn="b"/>
                      <a:r>
                        <a:rPr lang="en-IN" sz="1000" b="0" i="0" u="none" strike="noStrike" dirty="0">
                          <a:solidFill>
                            <a:srgbClr val="000000"/>
                          </a:solidFill>
                          <a:effectLst/>
                          <a:latin typeface="Calibri" panose="020F0502020204030204" pitchFamily="34" charset="0"/>
                        </a:rPr>
                        <a:t>19%</a:t>
                      </a: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880"/>
                    </a:solidFill>
                  </a:tcPr>
                </a:tc>
                <a:tc>
                  <a:txBody>
                    <a:bodyPr/>
                    <a:lstStyle/>
                    <a:p>
                      <a:pPr algn="ctr" fontAlgn="b"/>
                      <a:r>
                        <a:rPr lang="en-IN" sz="1000" b="0" i="0" u="none" strike="noStrike" dirty="0">
                          <a:solidFill>
                            <a:srgbClr val="000000"/>
                          </a:solidFill>
                          <a:effectLst/>
                          <a:latin typeface="Calibri" panose="020F0502020204030204" pitchFamily="34" charset="0"/>
                        </a:rPr>
                        <a:t>20%</a:t>
                      </a: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182"/>
                    </a:solidFill>
                  </a:tcPr>
                </a:tc>
                <a:tc>
                  <a:txBody>
                    <a:bodyPr/>
                    <a:lstStyle/>
                    <a:p>
                      <a:pPr algn="ctr" fontAlgn="b"/>
                      <a:r>
                        <a:rPr lang="en-IN" sz="1000" b="0" i="0" u="none" strike="noStrike" dirty="0">
                          <a:solidFill>
                            <a:srgbClr val="000000"/>
                          </a:solidFill>
                          <a:effectLst/>
                          <a:latin typeface="Calibri" panose="020F0502020204030204" pitchFamily="34" charset="0"/>
                        </a:rPr>
                        <a:t>15%</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379"/>
                    </a:solidFill>
                  </a:tcPr>
                </a:tc>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4075061349"/>
              </p:ext>
            </p:extLst>
          </p:nvPr>
        </p:nvGraphicFramePr>
        <p:xfrm>
          <a:off x="10676918" y="2018924"/>
          <a:ext cx="925571" cy="2842412"/>
        </p:xfrm>
        <a:graphic>
          <a:graphicData uri="http://schemas.openxmlformats.org/drawingml/2006/table">
            <a:tbl>
              <a:tblPr firstRow="1" bandRow="1">
                <a:tableStyleId>{5C22544A-7EE6-4342-B048-85BDC9FD1C3A}</a:tableStyleId>
              </a:tblPr>
              <a:tblGrid>
                <a:gridCol w="925571"/>
              </a:tblGrid>
              <a:tr h="2842412">
                <a:tc>
                  <a:txBody>
                    <a:bodyPr/>
                    <a:lstStyle/>
                    <a:p>
                      <a:pPr algn="ctr"/>
                      <a:r>
                        <a:rPr lang="en-IN" sz="1000" dirty="0" smtClean="0">
                          <a:latin typeface="Calibri" panose="020F0502020204030204" pitchFamily="34" charset="0"/>
                        </a:rPr>
                        <a:t>Model includes Competition stores</a:t>
                      </a:r>
                      <a:r>
                        <a:rPr lang="en-IN" sz="1000" baseline="0" dirty="0" smtClean="0">
                          <a:latin typeface="Calibri" panose="020F0502020204030204" pitchFamily="34" charset="0"/>
                        </a:rPr>
                        <a:t> in Hyderabad  - Reliance Digital and</a:t>
                      </a:r>
                    </a:p>
                    <a:p>
                      <a:pPr algn="ctr"/>
                      <a:r>
                        <a:rPr lang="en-IN" sz="1000" baseline="0" dirty="0" smtClean="0">
                          <a:latin typeface="Calibri" panose="020F0502020204030204" pitchFamily="34" charset="0"/>
                        </a:rPr>
                        <a:t>Bajaj Electronics</a:t>
                      </a:r>
                      <a:endParaRPr lang="en-IN" sz="1000" dirty="0">
                        <a:latin typeface="Calibri" panose="020F0502020204030204" pitchFamily="34" charset="0"/>
                      </a:endParaRPr>
                    </a:p>
                  </a:txBody>
                  <a:tcPr anchor="ctr"/>
                </a:tc>
              </a:tr>
            </a:tbl>
          </a:graphicData>
        </a:graphic>
      </p:graphicFrame>
      <p:sp>
        <p:nvSpPr>
          <p:cNvPr id="6" name="TextBox 5"/>
          <p:cNvSpPr txBox="1"/>
          <p:nvPr/>
        </p:nvSpPr>
        <p:spPr bwMode="gray">
          <a:xfrm>
            <a:off x="629983" y="4861337"/>
            <a:ext cx="10972505" cy="261679"/>
          </a:xfrm>
          <a:prstGeom prst="rect">
            <a:avLst/>
          </a:prstGeom>
        </p:spPr>
        <p:txBody>
          <a:bodyPr vert="horz" wrap="square" lIns="91440" tIns="45720" rIns="91440" bIns="45720" rtlCol="0" anchor="ctr">
            <a:noAutofit/>
          </a:bodyPr>
          <a:lstStyle/>
          <a:p>
            <a:r>
              <a:rPr lang="en-IN" sz="800" dirty="0" smtClean="0"/>
              <a:t>* Score result combines the rank ordering of the catchment area potential with the rank ordering of the probability of store visit for each PIN in catchment </a:t>
            </a:r>
          </a:p>
        </p:txBody>
      </p:sp>
    </p:spTree>
    <p:extLst>
      <p:ext uri="{BB962C8B-B14F-4D97-AF65-F5344CB8AC3E}">
        <p14:creationId xmlns:p14="http://schemas.microsoft.com/office/powerpoint/2010/main" val="267006029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20</a:t>
            </a:fld>
            <a:endParaRPr lang="en-US" dirty="0">
              <a:solidFill>
                <a:srgbClr val="0E5580"/>
              </a:solidFill>
            </a:endParaRPr>
          </a:p>
        </p:txBody>
      </p:sp>
      <p:sp>
        <p:nvSpPr>
          <p:cNvPr id="28" name="Title 4"/>
          <p:cNvSpPr>
            <a:spLocks noGrp="1"/>
          </p:cNvSpPr>
          <p:nvPr>
            <p:ph type="title"/>
          </p:nvPr>
        </p:nvSpPr>
        <p:spPr>
          <a:xfrm>
            <a:off x="629984" y="542362"/>
            <a:ext cx="9785683" cy="706964"/>
          </a:xfrm>
        </p:spPr>
        <p:txBody>
          <a:bodyPr/>
          <a:lstStyle/>
          <a:p>
            <a:r>
              <a:rPr lang="en-IN" dirty="0" smtClean="0"/>
              <a:t>Current State</a:t>
            </a:r>
            <a:endParaRPr lang="en-IN" dirty="0"/>
          </a:p>
        </p:txBody>
      </p:sp>
      <p:graphicFrame>
        <p:nvGraphicFramePr>
          <p:cNvPr id="29" name="Table 28"/>
          <p:cNvGraphicFramePr>
            <a:graphicFrameLocks noGrp="1"/>
          </p:cNvGraphicFramePr>
          <p:nvPr>
            <p:extLst/>
          </p:nvPr>
        </p:nvGraphicFramePr>
        <p:xfrm>
          <a:off x="629984" y="1495959"/>
          <a:ext cx="8692691" cy="5117617"/>
        </p:xfrm>
        <a:graphic>
          <a:graphicData uri="http://schemas.openxmlformats.org/drawingml/2006/table">
            <a:tbl>
              <a:tblPr firstRow="1" bandRow="1">
                <a:tableStyleId>{21E4AEA4-8DFA-4A89-87EB-49C32662AFE0}</a:tableStyleId>
              </a:tblPr>
              <a:tblGrid>
                <a:gridCol w="391927"/>
                <a:gridCol w="391927"/>
                <a:gridCol w="391925"/>
                <a:gridCol w="391925"/>
                <a:gridCol w="391927"/>
                <a:gridCol w="391927"/>
                <a:gridCol w="391927"/>
                <a:gridCol w="391927"/>
                <a:gridCol w="345406"/>
                <a:gridCol w="345406"/>
                <a:gridCol w="555286"/>
                <a:gridCol w="391927"/>
                <a:gridCol w="783850"/>
                <a:gridCol w="391927"/>
                <a:gridCol w="391927"/>
                <a:gridCol w="391925"/>
                <a:gridCol w="391925"/>
                <a:gridCol w="783850"/>
                <a:gridCol w="783850"/>
              </a:tblGrid>
              <a:tr h="309246">
                <a:tc rowSpan="2" gridSpan="8">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endParaRPr lang="en-IN"/>
                    </a:p>
                  </a:txBody>
                  <a:tcPr/>
                </a:tc>
                <a:tc rowSpan="2" hMerge="1">
                  <a:txBody>
                    <a:bodyPr/>
                    <a:lstStyle/>
                    <a:p>
                      <a:pPr algn="ctr"/>
                      <a:endParaRPr lang="en-IN" sz="9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hMerge="1">
                  <a:txBody>
                    <a:bodyPr/>
                    <a:lstStyle/>
                    <a:p>
                      <a:endParaRPr lang="en-IN"/>
                    </a:p>
                  </a:txBody>
                  <a:tcPr/>
                </a:tc>
                <a:tc rowSpan="2" hMerge="1">
                  <a:txBody>
                    <a:bodyPr/>
                    <a:lstStyle/>
                    <a:p>
                      <a:pPr algn="ctr"/>
                      <a:endParaRPr lang="en-IN" sz="9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hMerge="1">
                  <a:txBody>
                    <a:bodyPr/>
                    <a:lstStyle/>
                    <a:p>
                      <a:endParaRPr lang="en-IN"/>
                    </a:p>
                  </a:txBody>
                  <a:tcPr/>
                </a:tc>
                <a:tc rowSpan="2" hMerge="1">
                  <a:txBody>
                    <a:bodyPr/>
                    <a:lstStyle/>
                    <a:p>
                      <a:pPr algn="ctr"/>
                      <a:endParaRPr lang="en-IN" sz="9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no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a:p>
                  </a:txBody>
                  <a:tcPr/>
                </a:tc>
                <a:tc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endParaRPr lang="en-IN"/>
                    </a:p>
                  </a:txBody>
                  <a:tcPr/>
                </a:tc>
                <a:tc hMerge="1">
                  <a:txBody>
                    <a:bodyPr/>
                    <a:lstStyle/>
                    <a:p>
                      <a:pPr algn="ctr"/>
                      <a:endParaRPr lang="en-IN" sz="900" dirty="0"/>
                    </a:p>
                  </a:txBody>
                  <a:tcPr anchor="ctr">
                    <a:solidFill>
                      <a:schemeClr val="accent1"/>
                    </a:solidFill>
                  </a:tcPr>
                </a:tc>
                <a:tc rowSpan="2" gridSpan="6">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rowSpan="2" hMerge="1">
                  <a:txBody>
                    <a:bodyPr/>
                    <a:lstStyle/>
                    <a:p>
                      <a:endParaRPr lang="en-IN"/>
                    </a:p>
                  </a:txBody>
                  <a:tcPr/>
                </a:tc>
                <a:tc rowSpan="2" hMerge="1">
                  <a:txBody>
                    <a:bodyPr/>
                    <a:lstStyle/>
                    <a:p>
                      <a:pPr algn="ctr"/>
                      <a:endParaRPr lang="en-IN" sz="900" dirty="0"/>
                    </a:p>
                  </a:txBody>
                  <a:tcPr anchor="ctr">
                    <a:solidFill>
                      <a:schemeClr val="accent1"/>
                    </a:solidFill>
                  </a:tcPr>
                </a:tc>
                <a:tc rowSpan="2" hMerge="1">
                  <a:txBody>
                    <a:bodyPr/>
                    <a:lstStyle/>
                    <a:p>
                      <a:endParaRPr lang="en-IN"/>
                    </a:p>
                  </a:txBody>
                  <a:tcPr/>
                </a:tc>
                <a:tc rowSpan="2" hMerge="1">
                  <a:txBody>
                    <a:bodyPr/>
                    <a:lstStyle/>
                    <a:p>
                      <a:pPr algn="ctr"/>
                      <a:endParaRPr lang="en-IN" sz="900" dirty="0"/>
                    </a:p>
                  </a:txBody>
                  <a:tcPr anchor="ctr">
                    <a:solidFill>
                      <a:schemeClr val="accent1"/>
                    </a:solidFill>
                  </a:tcPr>
                </a:tc>
                <a:tc rowSpan="2" hMerge="1">
                  <a:txBody>
                    <a:bodyPr/>
                    <a:lstStyle/>
                    <a:p>
                      <a:pPr algn="ctr"/>
                      <a:endParaRPr lang="en-IN" sz="900" dirty="0"/>
                    </a:p>
                  </a:txBody>
                  <a:tcPr anchor="ctr">
                    <a:solidFill>
                      <a:schemeClr val="accent1"/>
                    </a:solidFill>
                  </a:tcPr>
                </a:tc>
              </a:tr>
              <a:tr h="309246">
                <a:tc gridSpan="8" vMerge="1">
                  <a:txBody>
                    <a:bodyPr/>
                    <a:lstStyle/>
                    <a:p>
                      <a:pPr algn="ctr"/>
                      <a:endParaRPr lang="en-IN" sz="9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vMerge="1">
                  <a:txBody>
                    <a:bodyPr/>
                    <a:lstStyle/>
                    <a:p>
                      <a:endParaRPr lang="en-IN"/>
                    </a:p>
                  </a:txBody>
                  <a:tcPr/>
                </a:tc>
                <a:tc hMerge="1" vMerge="1">
                  <a:txBody>
                    <a:bodyPr/>
                    <a:lstStyle/>
                    <a:p>
                      <a:pPr algn="ctr"/>
                      <a:endParaRPr lang="en-IN" sz="9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vMerge="1">
                  <a:txBody>
                    <a:bodyPr/>
                    <a:lstStyle/>
                    <a:p>
                      <a:endParaRPr lang="en-IN"/>
                    </a:p>
                  </a:txBody>
                  <a:tcPr/>
                </a:tc>
                <a:tc hMerge="1" vMerge="1">
                  <a:txBody>
                    <a:bodyPr/>
                    <a:lstStyle/>
                    <a:p>
                      <a:pPr algn="ctr"/>
                      <a:endParaRPr lang="en-IN" sz="9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vMerge="1">
                  <a:txBody>
                    <a:bodyPr/>
                    <a:lstStyle/>
                    <a:p>
                      <a:endParaRPr lang="en-IN"/>
                    </a:p>
                  </a:txBody>
                  <a:tcPr/>
                </a:tc>
                <a:tc hMerge="1" vMerge="1">
                  <a:txBody>
                    <a:bodyPr/>
                    <a:lstStyle/>
                    <a:p>
                      <a:pPr algn="ctr"/>
                      <a:endParaRPr lang="en-IN" sz="9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vMerge="1">
                  <a:txBody>
                    <a:bodyPr/>
                    <a:lstStyle/>
                    <a:p>
                      <a:endParaRPr lang="en-IN"/>
                    </a:p>
                  </a:txBody>
                  <a:tcPr/>
                </a:tc>
                <a:tc grid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solidFill>
                  </a:tcPr>
                </a:tc>
                <a:tc hMerge="1">
                  <a:txBody>
                    <a:bodyPr/>
                    <a:lstStyle/>
                    <a:p>
                      <a:endParaRPr lang="en-IN"/>
                    </a:p>
                  </a:txBody>
                  <a:tcPr/>
                </a:tc>
                <a:tc hMerge="1">
                  <a:txBody>
                    <a:bodyPr/>
                    <a:lstStyle/>
                    <a:p>
                      <a:pPr algn="ctr"/>
                      <a:endParaRPr lang="en-IN" sz="900" dirty="0"/>
                    </a:p>
                  </a:txBody>
                  <a:tcPr anchor="ctr">
                    <a:solidFill>
                      <a:schemeClr val="accent1"/>
                    </a:solidFill>
                  </a:tcPr>
                </a:tc>
                <a:tc hMerge="1">
                  <a:txBody>
                    <a:bodyPr/>
                    <a:lstStyle/>
                    <a:p>
                      <a:endParaRPr lang="en-IN"/>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gridSpan="6" vMerge="1">
                  <a:txBody>
                    <a:bodyPr/>
                    <a:lstStyle/>
                    <a:p>
                      <a:pPr algn="ctr"/>
                      <a:endParaRPr lang="en-IN" sz="900"/>
                    </a:p>
                  </a:txBody>
                  <a:tcPr anchor="ctr">
                    <a:solidFill>
                      <a:schemeClr val="accent1"/>
                    </a:solidFill>
                  </a:tcPr>
                </a:tc>
                <a:tc hMerge="1" vMerge="1">
                  <a:txBody>
                    <a:bodyPr/>
                    <a:lstStyle/>
                    <a:p>
                      <a:endParaRPr lang="en-IN"/>
                    </a:p>
                  </a:txBody>
                  <a:tcPr/>
                </a:tc>
                <a:tc hMerge="1" vMerge="1">
                  <a:txBody>
                    <a:bodyPr/>
                    <a:lstStyle/>
                    <a:p>
                      <a:pPr algn="ctr"/>
                      <a:endParaRPr lang="en-IN" sz="900"/>
                    </a:p>
                  </a:txBody>
                  <a:tcPr anchor="ctr">
                    <a:solidFill>
                      <a:schemeClr val="accent1"/>
                    </a:solidFill>
                  </a:tcPr>
                </a:tc>
                <a:tc hMerge="1" vMerge="1">
                  <a:txBody>
                    <a:bodyPr/>
                    <a:lstStyle/>
                    <a:p>
                      <a:endParaRPr lang="en-IN"/>
                    </a:p>
                  </a:txBody>
                  <a:tcPr/>
                </a:tc>
                <a:tc hMerge="1" vMerge="1">
                  <a:txBody>
                    <a:bodyPr/>
                    <a:lstStyle/>
                    <a:p>
                      <a:pPr algn="ctr"/>
                      <a:endParaRPr lang="en-IN" sz="900" dirty="0"/>
                    </a:p>
                  </a:txBody>
                  <a:tcPr anchor="ctr">
                    <a:solidFill>
                      <a:schemeClr val="accent1"/>
                    </a:solidFill>
                  </a:tcPr>
                </a:tc>
                <a:tc hMerge="1" vMerge="1">
                  <a:txBody>
                    <a:bodyPr/>
                    <a:lstStyle/>
                    <a:p>
                      <a:pPr algn="ctr"/>
                      <a:endParaRPr lang="en-IN" sz="900" dirty="0"/>
                    </a:p>
                  </a:txBody>
                  <a:tcPr anchor="ctr">
                    <a:solidFill>
                      <a:schemeClr val="accent1"/>
                    </a:solidFill>
                  </a:tcPr>
                </a:tc>
              </a:tr>
              <a:tr h="232703">
                <a:tc gridSpan="2">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no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no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IN"/>
                    </a:p>
                  </a:txBody>
                  <a:tcPr/>
                </a:tc>
                <a:tc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rgbClr val="5AA0F5"/>
                    </a:solidFill>
                  </a:tcPr>
                </a:tc>
                <a:tc hMerge="1">
                  <a:txBody>
                    <a:bodyPr/>
                    <a:lstStyle/>
                    <a:p>
                      <a:endParaRPr lang="en-IN"/>
                    </a:p>
                  </a:txBody>
                  <a:tcPr/>
                </a:tc>
                <a:tc hMerge="1">
                  <a:txBody>
                    <a:bodyPr/>
                    <a:lstStyle/>
                    <a:p>
                      <a:pPr algn="ctr"/>
                      <a:endParaRPr lang="en-IN" sz="900" dirty="0"/>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endParaRPr lang="en-IN"/>
                    </a:p>
                  </a:txBody>
                  <a:tcPr/>
                </a:tc>
                <a:tc hMerge="1">
                  <a:txBody>
                    <a:bodyPr/>
                    <a:lstStyle/>
                    <a:p>
                      <a:pPr algn="ctr"/>
                      <a:endParaRPr lang="en-IN" sz="900" dirty="0"/>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rowSpan="2" hMerge="1">
                  <a:txBody>
                    <a:bodyPr/>
                    <a:lstStyle/>
                    <a:p>
                      <a:endParaRPr lang="en-IN"/>
                    </a:p>
                  </a:txBody>
                  <a:tcPr/>
                </a:tc>
                <a:tc rowSpan="2"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solidFill>
                  </a:tcPr>
                </a:tc>
                <a:tc rowSpan="2" hMerge="1">
                  <a:txBody>
                    <a:bodyPr/>
                    <a:lstStyle/>
                    <a:p>
                      <a:endParaRPr lang="en-IN"/>
                    </a:p>
                  </a:txBody>
                  <a:tcPr/>
                </a:tc>
                <a:tc rowSpan="2" hMerge="1">
                  <a:txBody>
                    <a:bodyPr/>
                    <a:lstStyle/>
                    <a:p>
                      <a:pPr algn="ctr"/>
                      <a:endParaRPr lang="en-IN" sz="900" dirty="0"/>
                    </a:p>
                  </a:txBody>
                  <a:tcPr anchor="ctr">
                    <a:solidFill>
                      <a:schemeClr val="accent1"/>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r>
              <a:tr h="237599">
                <a:tc gridSpan="2">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pPr algn="ctr"/>
                      <a:endParaRPr lang="en-IN" sz="900" dirty="0"/>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solidFill>
                  </a:tcPr>
                </a:tc>
                <a:tc rowSpan="2" hMerge="1">
                  <a:txBody>
                    <a:bodyPr/>
                    <a:lstStyle/>
                    <a:p>
                      <a:endParaRPr lang="en-IN"/>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solidFill>
                  </a:tcPr>
                </a:tc>
                <a:tc rowSpan="2" hMerge="1">
                  <a:txBody>
                    <a:bodyPr/>
                    <a:lstStyle/>
                    <a:p>
                      <a:endParaRPr lang="en-IN"/>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gridSpan="5">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endParaRPr lang="en-IN"/>
                    </a:p>
                  </a:txBody>
                  <a:tcPr/>
                </a:tc>
                <a:tc hMerge="1">
                  <a:txBody>
                    <a:bodyPr/>
                    <a:lstStyle/>
                    <a:p>
                      <a:pPr algn="ctr"/>
                      <a:endParaRPr lang="en-IN" sz="9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lang="en-IN"/>
                    </a:p>
                  </a:txBody>
                  <a:tcPr/>
                </a:tc>
                <a:tc hMerge="1">
                  <a:txBody>
                    <a:bodyPr/>
                    <a:lstStyle/>
                    <a:p>
                      <a:pPr algn="ctr"/>
                      <a:endParaRPr lang="en-IN" sz="900" dirty="0"/>
                    </a:p>
                  </a:txBody>
                  <a:tcPr/>
                </a:tc>
                <a:tc gridSpan="2" vMerge="1">
                  <a:txBody>
                    <a:bodyPr/>
                    <a:lstStyle/>
                    <a:p>
                      <a:pPr algn="ctr"/>
                      <a:endParaRPr lang="en-IN" sz="900" dirty="0"/>
                    </a:p>
                  </a:txBody>
                  <a:tcPr anchor="ctr">
                    <a:solidFill>
                      <a:schemeClr val="accent1"/>
                    </a:solidFill>
                  </a:tcPr>
                </a:tc>
                <a:tc hMerge="1" vMerge="1">
                  <a:txBody>
                    <a:bodyPr/>
                    <a:lstStyle/>
                    <a:p>
                      <a:endParaRPr lang="en-IN"/>
                    </a:p>
                  </a:txBody>
                  <a:tcPr/>
                </a:tc>
                <a:tc gridSpan="3" vMerge="1">
                  <a:txBody>
                    <a:bodyPr/>
                    <a:lstStyle/>
                    <a:p>
                      <a:pPr algn="ctr"/>
                      <a:endParaRPr lang="en-IN" sz="900" dirty="0"/>
                    </a:p>
                  </a:txBody>
                  <a:tcPr anchor="ctr">
                    <a:solidFill>
                      <a:schemeClr val="accent1"/>
                    </a:solidFill>
                  </a:tcPr>
                </a:tc>
                <a:tc hMerge="1" vMerge="1">
                  <a:txBody>
                    <a:bodyPr/>
                    <a:lstStyle/>
                    <a:p>
                      <a:endParaRPr lang="en-IN"/>
                    </a:p>
                  </a:txBody>
                  <a:tcPr/>
                </a:tc>
                <a:tc hMerge="1" vMerge="1">
                  <a:txBody>
                    <a:bodyPr/>
                    <a:lstStyle/>
                    <a:p>
                      <a:pPr algn="ctr"/>
                      <a:endParaRPr lang="en-IN" sz="900" dirty="0"/>
                    </a:p>
                  </a:txBody>
                  <a:tcPr/>
                </a:tc>
                <a:tc rowSpan="5">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237599">
                <a:tc rowSpan="4">
                  <a:txBody>
                    <a:bodyPr/>
                    <a:lstStyle/>
                    <a:p>
                      <a:pPr marL="0" marR="0" indent="0" algn="ctr" defTabSz="457200" rtl="0" eaLnBrk="1" fontAlgn="auto" latinLnBrk="0" hangingPunct="1">
                        <a:lnSpc>
                          <a:spcPct val="100000"/>
                        </a:lnSpc>
                        <a:spcBef>
                          <a:spcPts val="0"/>
                        </a:spcBef>
                        <a:spcAft>
                          <a:spcPts val="0"/>
                        </a:spcAft>
                        <a:buClrTx/>
                        <a:buSzTx/>
                        <a:buFontTx/>
                        <a:buNone/>
                        <a:tabLst/>
                        <a:defRPr/>
                      </a:pPr>
                      <a:endParaRPr lang="en-IN" sz="900" b="0" dirty="0" smtClean="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4">
                        <a:lumMod val="60000"/>
                        <a:lumOff val="40000"/>
                        <a:alpha val="80000"/>
                      </a:schemeClr>
                    </a:solidFill>
                  </a:tcPr>
                </a:tc>
                <a:tc rowSpan="4">
                  <a:txBody>
                    <a:bodyPr/>
                    <a:lstStyle/>
                    <a:p>
                      <a:pPr marL="0" marR="0" indent="0" algn="ctr" defTabSz="457200" rtl="0" eaLnBrk="1" fontAlgn="auto" latinLnBrk="0" hangingPunct="1">
                        <a:lnSpc>
                          <a:spcPct val="100000"/>
                        </a:lnSpc>
                        <a:spcBef>
                          <a:spcPts val="0"/>
                        </a:spcBef>
                        <a:spcAft>
                          <a:spcPts val="0"/>
                        </a:spcAft>
                        <a:buClrTx/>
                        <a:buSzTx/>
                        <a:buFontTx/>
                        <a:buNone/>
                        <a:tabLst/>
                        <a:defRPr/>
                      </a:pP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solidFill>
                  </a:tcPr>
                </a:tc>
                <a:tc gridSpan="2" vMerge="1">
                  <a:txBody>
                    <a:bodyPr/>
                    <a:lstStyle/>
                    <a:p>
                      <a:pPr algn="ctr"/>
                      <a:endParaRPr lang="en-IN" sz="900" dirty="0"/>
                    </a:p>
                  </a:txBody>
                  <a:tcPr/>
                </a:tc>
                <a:tc hMerge="1" vMerge="1">
                  <a:txBody>
                    <a:bodyPr/>
                    <a:lstStyle/>
                    <a:p>
                      <a:endParaRPr lang="en-IN"/>
                    </a:p>
                  </a:txBody>
                  <a:tcPr/>
                </a:tc>
                <a:tc gridSpan="2" vMerge="1">
                  <a:txBody>
                    <a:bodyPr/>
                    <a:lstStyle/>
                    <a:p>
                      <a:pPr algn="ctr"/>
                      <a:endParaRPr lang="en-IN" sz="900" dirty="0"/>
                    </a:p>
                  </a:txBody>
                  <a:tcPr/>
                </a:tc>
                <a:tc hMerge="1" v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endParaRPr lang="en-IN"/>
                    </a:p>
                  </a:txBody>
                  <a:tcPr/>
                </a:tc>
                <a:tc rowSpan="4"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alpha val="80000"/>
                      </a:schemeClr>
                    </a:solidFill>
                  </a:tcPr>
                </a:tc>
                <a:tc rowSpan="4" hMerge="1">
                  <a:txBody>
                    <a:bodyPr/>
                    <a:lstStyle/>
                    <a:p>
                      <a:endParaRPr lang="en-IN"/>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grid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endParaRPr lang="en-IN"/>
                    </a:p>
                  </a:txBody>
                  <a:tcPr/>
                </a:tc>
                <a:tc hMerge="1">
                  <a:txBody>
                    <a:bodyPr/>
                    <a:lstStyle/>
                    <a:p>
                      <a:pPr algn="ctr"/>
                      <a:endParaRPr lang="en-IN" sz="900" dirty="0"/>
                    </a:p>
                  </a:txBody>
                  <a:tcPr/>
                </a:tc>
                <a:tc hMerge="1">
                  <a:txBody>
                    <a:bodyPr/>
                    <a:lstStyle/>
                    <a:p>
                      <a:endParaRPr lang="en-IN"/>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vMerge="1">
                  <a:txBody>
                    <a:bodyPr/>
                    <a:lstStyle/>
                    <a:p>
                      <a:pPr algn="ctr"/>
                      <a:endParaRPr lang="en-IN" sz="900" dirty="0"/>
                    </a:p>
                  </a:txBody>
                  <a:tcPr anchor="ctr">
                    <a:solidFill>
                      <a:schemeClr val="accent1"/>
                    </a:solidFill>
                  </a:tcPr>
                </a:tc>
              </a:tr>
              <a:tr h="202178">
                <a:tc vMerge="1">
                  <a:txBody>
                    <a:bodyPr/>
                    <a:lstStyle/>
                    <a:p>
                      <a:pPr marL="0" marR="0" indent="0" algn="ctr" defTabSz="457200" rtl="0" eaLnBrk="1" fontAlgn="auto" latinLnBrk="0" hangingPunct="1">
                        <a:lnSpc>
                          <a:spcPct val="100000"/>
                        </a:lnSpc>
                        <a:spcBef>
                          <a:spcPts val="0"/>
                        </a:spcBef>
                        <a:spcAft>
                          <a:spcPts val="0"/>
                        </a:spcAft>
                        <a:buClrTx/>
                        <a:buSzTx/>
                        <a:buFontTx/>
                        <a:buNone/>
                        <a:tabLst/>
                        <a:defRPr/>
                      </a:pPr>
                      <a:endParaRPr lang="en-IN" sz="900" dirty="0" smtClean="0"/>
                    </a:p>
                  </a:txBody>
                  <a:tcPr/>
                </a:tc>
                <a:tc vMerge="1">
                  <a:txBody>
                    <a:bodyPr/>
                    <a:lstStyle/>
                    <a:p>
                      <a:pPr marL="0" marR="0" indent="0" algn="ctr" defTabSz="457200" rtl="0" eaLnBrk="1" fontAlgn="auto" latinLnBrk="0" hangingPunct="1">
                        <a:lnSpc>
                          <a:spcPct val="100000"/>
                        </a:lnSpc>
                        <a:spcBef>
                          <a:spcPts val="0"/>
                        </a:spcBef>
                        <a:spcAft>
                          <a:spcPts val="0"/>
                        </a:spcAft>
                        <a:buClrTx/>
                        <a:buSzTx/>
                        <a:buFontTx/>
                        <a:buNone/>
                        <a:tabLst/>
                        <a:defRPr/>
                      </a:pPr>
                      <a:endParaRPr lang="en-IN" sz="900" dirty="0" smtClean="0"/>
                    </a:p>
                  </a:txBody>
                  <a:tcPr/>
                </a:tc>
                <a:tc rowSpan="3" grid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solidFill>
                  </a:tcPr>
                </a:tc>
                <a:tc rowSpan="3" hMerge="1">
                  <a:txBody>
                    <a:bodyPr/>
                    <a:lstStyle/>
                    <a:p>
                      <a:endParaRPr lang="en-IN"/>
                    </a:p>
                  </a:txBody>
                  <a:tcPr/>
                </a:tc>
                <a:tc rowSpan="3" hMerge="1">
                  <a:txBody>
                    <a:bodyPr/>
                    <a:lstStyle/>
                    <a:p>
                      <a:pPr algn="ctr"/>
                      <a:endParaRPr lang="en-IN" sz="900" dirty="0" smtClean="0"/>
                    </a:p>
                  </a:txBody>
                  <a:tcPr/>
                </a:tc>
                <a:tc rowSpan="3" hMerge="1">
                  <a:txBody>
                    <a:bodyPr/>
                    <a:lstStyle/>
                    <a:p>
                      <a:endParaRPr lang="en-IN"/>
                    </a:p>
                  </a:txBody>
                  <a:tcPr/>
                </a:tc>
                <a:tc gridSpan="2">
                  <a:txBody>
                    <a:bodyPr/>
                    <a:lstStyle/>
                    <a:p>
                      <a:pPr marL="0" marR="0" indent="0" algn="ctr" defTabSz="457200" rtl="0" eaLnBrk="1" fontAlgn="auto" latinLnBrk="0" hangingPunct="1">
                        <a:lnSpc>
                          <a:spcPct val="100000"/>
                        </a:lnSpc>
                        <a:spcBef>
                          <a:spcPts val="0"/>
                        </a:spcBef>
                        <a:spcAft>
                          <a:spcPts val="0"/>
                        </a:spcAft>
                        <a:buClrTx/>
                        <a:buSzTx/>
                        <a:buFontTx/>
                        <a:buNone/>
                        <a:tabLst/>
                        <a:defRPr/>
                      </a:pP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hMerge="1">
                  <a:txBody>
                    <a:bodyPr/>
                    <a:lstStyle/>
                    <a:p>
                      <a:endParaRPr lang="en-IN"/>
                    </a:p>
                  </a:txBody>
                  <a:tcPr/>
                </a:tc>
                <a:tc rowSpan="3"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rowSpan="3" hMerge="1">
                  <a:txBody>
                    <a:bodyPr/>
                    <a:lstStyle/>
                    <a:p>
                      <a:endParaRPr lang="en-IN"/>
                    </a:p>
                  </a:txBody>
                  <a:tcPr/>
                </a:tc>
                <a:tc gridSpan="2" vMerge="1">
                  <a:txBody>
                    <a:bodyPr/>
                    <a:lstStyle/>
                    <a:p>
                      <a:endParaRPr lang="en-IN" sz="900" dirty="0"/>
                    </a:p>
                  </a:txBody>
                  <a:tcPr/>
                </a:tc>
                <a:tc hMerge="1" vMerge="1">
                  <a:txBody>
                    <a:bodyPr/>
                    <a:lstStyle/>
                    <a:p>
                      <a:endParaRPr lang="en-IN"/>
                    </a:p>
                  </a:txBody>
                  <a:tcPr/>
                </a:tc>
                <a:tc row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rowSpan="2" hMerge="1">
                  <a:txBody>
                    <a:bodyPr/>
                    <a:lstStyle/>
                    <a:p>
                      <a:endParaRPr lang="en-IN"/>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rowSpan="2" hMerge="1">
                  <a:txBody>
                    <a:bodyPr/>
                    <a:lstStyle/>
                    <a:p>
                      <a:endParaRPr lang="en-IN"/>
                    </a:p>
                  </a:txBody>
                  <a:tcPr/>
                </a:tc>
                <a:tc row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vMerge="1">
                  <a:txBody>
                    <a:bodyPr/>
                    <a:lstStyle/>
                    <a:p>
                      <a:pPr algn="ctr"/>
                      <a:endParaRPr lang="en-IN" sz="900" dirty="0"/>
                    </a:p>
                  </a:txBody>
                  <a:tcPr anchor="ctr">
                    <a:solidFill>
                      <a:schemeClr val="accent1"/>
                    </a:solidFill>
                  </a:tcPr>
                </a:tc>
              </a:tr>
              <a:tr h="193278">
                <a:tc vMerge="1">
                  <a:txBody>
                    <a:bodyPr/>
                    <a:lstStyle/>
                    <a:p>
                      <a:endParaRPr lang="en-IN"/>
                    </a:p>
                  </a:txBody>
                  <a:tcPr/>
                </a:tc>
                <a:tc vMerge="1">
                  <a:txBody>
                    <a:bodyPr/>
                    <a:lstStyle/>
                    <a:p>
                      <a:endParaRPr lang="en-IN"/>
                    </a:p>
                  </a:txBody>
                  <a:tcPr/>
                </a:tc>
                <a:tc gridSpan="4" vMerge="1">
                  <a:txBody>
                    <a:bodyPr/>
                    <a:lstStyle/>
                    <a:p>
                      <a:endParaRPr lang="en-IN"/>
                    </a:p>
                  </a:txBody>
                  <a:tcPr/>
                </a:tc>
                <a:tc hMerge="1" vMerge="1">
                  <a:txBody>
                    <a:bodyPr/>
                    <a:lstStyle/>
                    <a:p>
                      <a:endParaRPr lang="en-IN"/>
                    </a:p>
                  </a:txBody>
                  <a:tcPr/>
                </a:tc>
                <a:tc hMerge="1" vMerge="1">
                  <a:txBody>
                    <a:bodyPr/>
                    <a:lstStyle/>
                    <a:p>
                      <a:endParaRPr lang="en-IN"/>
                    </a:p>
                  </a:txBody>
                  <a:tcPr/>
                </a:tc>
                <a:tc hMerge="1" vMerge="1">
                  <a:txBody>
                    <a:bodyPr/>
                    <a:lstStyle/>
                    <a:p>
                      <a:endParaRPr lang="en-IN"/>
                    </a:p>
                  </a:txBody>
                  <a:tcPr/>
                </a:tc>
                <a:tc rowSpan="2" gridSpan="2">
                  <a:txBody>
                    <a:bodyPr/>
                    <a:lstStyle/>
                    <a:p>
                      <a:pPr algn="ct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rgbClr val="5AA0F5"/>
                    </a:solidFill>
                  </a:tcPr>
                </a:tc>
                <a:tc rowSpan="2" hMerge="1">
                  <a:txBody>
                    <a:bodyPr/>
                    <a:lstStyle/>
                    <a:p>
                      <a:endParaRPr lang="en-IN"/>
                    </a:p>
                  </a:txBody>
                  <a:tcPr/>
                </a:tc>
                <a:tc gridSpan="2" vMerge="1">
                  <a:txBody>
                    <a:bodyPr/>
                    <a:lstStyle/>
                    <a:p>
                      <a:endParaRPr lang="en-IN"/>
                    </a:p>
                  </a:txBody>
                  <a:tcPr/>
                </a:tc>
                <a:tc hMerge="1" vMerge="1">
                  <a:txBody>
                    <a:bodyPr/>
                    <a:lstStyle/>
                    <a:p>
                      <a:endParaRPr lang="en-IN"/>
                    </a:p>
                  </a:txBody>
                  <a:tcPr/>
                </a:tc>
                <a:tc gridSpan="2" vMerge="1">
                  <a:txBody>
                    <a:bodyPr/>
                    <a:lstStyle/>
                    <a:p>
                      <a:endParaRPr lang="en-IN"/>
                    </a:p>
                  </a:txBody>
                  <a:tcPr/>
                </a:tc>
                <a:tc hMerge="1" vMerge="1">
                  <a:txBody>
                    <a:bodyPr/>
                    <a:lstStyle/>
                    <a:p>
                      <a:endParaRPr lang="en-IN"/>
                    </a:p>
                  </a:txBody>
                  <a:tcPr/>
                </a:tc>
                <a:tc vMerge="1">
                  <a:txBody>
                    <a:bodyPr/>
                    <a:lstStyle/>
                    <a:p>
                      <a:endParaRPr lang="en-IN"/>
                    </a:p>
                  </a:txBody>
                  <a:tcPr/>
                </a:tc>
                <a:tc gridSpan="2" vMerge="1">
                  <a:txBody>
                    <a:bodyPr/>
                    <a:lstStyle/>
                    <a:p>
                      <a:endParaRPr lang="en-IN"/>
                    </a:p>
                  </a:txBody>
                  <a:tcPr/>
                </a:tc>
                <a:tc hMerge="1" vMerge="1">
                  <a:txBody>
                    <a:bodyPr/>
                    <a:lstStyle/>
                    <a:p>
                      <a:endParaRPr lang="en-IN"/>
                    </a:p>
                  </a:txBody>
                  <a:tcPr/>
                </a:tc>
                <a:tc gridSpan="2" vMerge="1">
                  <a:txBody>
                    <a:bodyPr/>
                    <a:lstStyle/>
                    <a:p>
                      <a:endParaRPr lang="en-IN"/>
                    </a:p>
                  </a:txBody>
                  <a:tcPr/>
                </a:tc>
                <a:tc hMerge="1" vMerge="1">
                  <a:txBody>
                    <a:bodyPr/>
                    <a:lstStyle/>
                    <a:p>
                      <a:endParaRPr lang="en-IN"/>
                    </a:p>
                  </a:txBody>
                  <a:tcPr/>
                </a:tc>
                <a:tc vMerge="1">
                  <a:txBody>
                    <a:bodyPr/>
                    <a:lstStyle/>
                    <a:p>
                      <a:endParaRPr lang="en-IN"/>
                    </a:p>
                  </a:txBody>
                  <a:tcPr/>
                </a:tc>
                <a:tc vMerge="1">
                  <a:txBody>
                    <a:bodyPr/>
                    <a:lstStyle/>
                    <a:p>
                      <a:endParaRPr lang="en-IN"/>
                    </a:p>
                  </a:txBody>
                  <a:tcPr/>
                </a:tc>
              </a:tr>
              <a:tr h="0">
                <a:tc vMerge="1">
                  <a:txBody>
                    <a:bodyPr/>
                    <a:lstStyle/>
                    <a:p>
                      <a:endParaRPr lang="en-IN"/>
                    </a:p>
                  </a:txBody>
                  <a:tcPr/>
                </a:tc>
                <a:tc vMerge="1">
                  <a:txBody>
                    <a:bodyPr/>
                    <a:lstStyle/>
                    <a:p>
                      <a:endParaRPr lang="en-IN"/>
                    </a:p>
                  </a:txBody>
                  <a:tcPr/>
                </a:tc>
                <a:tc gridSpan="4" vMerge="1">
                  <a:txBody>
                    <a:bodyPr/>
                    <a:lstStyle/>
                    <a:p>
                      <a:endParaRPr lang="en-IN"/>
                    </a:p>
                  </a:txBody>
                  <a:tcPr/>
                </a:tc>
                <a:tc hMerge="1" vMerge="1">
                  <a:txBody>
                    <a:bodyPr/>
                    <a:lstStyle/>
                    <a:p>
                      <a:endParaRPr lang="en-IN"/>
                    </a:p>
                  </a:txBody>
                  <a:tcPr/>
                </a:tc>
                <a:tc hMerge="1" vMerge="1">
                  <a:txBody>
                    <a:bodyPr/>
                    <a:lstStyle/>
                    <a:p>
                      <a:endParaRPr lang="en-IN"/>
                    </a:p>
                  </a:txBody>
                  <a:tcPr/>
                </a:tc>
                <a:tc hMerge="1" vMerge="1">
                  <a:txBody>
                    <a:bodyPr/>
                    <a:lstStyle/>
                    <a:p>
                      <a:endParaRPr lang="en-IN"/>
                    </a:p>
                  </a:txBody>
                  <a:tcPr/>
                </a:tc>
                <a:tc gridSpan="2" vMerge="1">
                  <a:txBody>
                    <a:bodyPr/>
                    <a:lstStyle/>
                    <a:p>
                      <a:endParaRPr lang="en-IN"/>
                    </a:p>
                  </a:txBody>
                  <a:tcPr/>
                </a:tc>
                <a:tc hMerge="1" vMerge="1">
                  <a:txBody>
                    <a:bodyPr/>
                    <a:lstStyle/>
                    <a:p>
                      <a:endParaRPr lang="en-IN"/>
                    </a:p>
                  </a:txBody>
                  <a:tcPr/>
                </a:tc>
                <a:tc gridSpan="2" vMerge="1">
                  <a:txBody>
                    <a:bodyPr/>
                    <a:lstStyle/>
                    <a:p>
                      <a:endParaRPr lang="en-IN"/>
                    </a:p>
                  </a:txBody>
                  <a:tcPr/>
                </a:tc>
                <a:tc hMerge="1" vMerge="1">
                  <a:txBody>
                    <a:bodyPr/>
                    <a:lstStyle/>
                    <a:p>
                      <a:endParaRPr lang="en-IN"/>
                    </a:p>
                  </a:txBody>
                  <a:tcPr/>
                </a:tc>
                <a:tc gridSpan="2" vMerge="1">
                  <a:txBody>
                    <a:bodyPr/>
                    <a:lstStyle/>
                    <a:p>
                      <a:endParaRPr lang="en-IN"/>
                    </a:p>
                  </a:txBody>
                  <a:tcPr/>
                </a:tc>
                <a:tc hMerge="1" vMerge="1">
                  <a:txBody>
                    <a:bodyPr/>
                    <a:lstStyle/>
                    <a:p>
                      <a:endParaRPr lang="en-IN"/>
                    </a:p>
                  </a:txBody>
                  <a:tcPr/>
                </a:tc>
                <a:tc vMerge="1">
                  <a:txBody>
                    <a:bodyPr/>
                    <a:lstStyle/>
                    <a:p>
                      <a:endParaRPr lang="en-IN"/>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rowSpan="2" hMerge="1">
                  <a:txBody>
                    <a:bodyPr/>
                    <a:lstStyle/>
                    <a:p>
                      <a:endParaRPr lang="en-IN"/>
                    </a:p>
                  </a:txBody>
                  <a:tcPr/>
                </a:tc>
                <a:tc rowSpan="3"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3" hMerge="1">
                  <a:txBody>
                    <a:bodyPr/>
                    <a:lstStyle/>
                    <a:p>
                      <a:endParaRPr lang="en-IN"/>
                    </a:p>
                  </a:txBody>
                  <a:tcPr/>
                </a:tc>
                <a:tc vMerge="1">
                  <a:txBody>
                    <a:bodyPr/>
                    <a:lstStyle/>
                    <a:p>
                      <a:endParaRPr lang="en-IN"/>
                    </a:p>
                  </a:txBody>
                  <a:tcPr/>
                </a:tc>
                <a:tc vMerge="1">
                  <a:txBody>
                    <a:bodyPr/>
                    <a:lstStyle/>
                    <a:p>
                      <a:endParaRPr lang="en-IN"/>
                    </a:p>
                  </a:txBody>
                  <a:tcPr/>
                </a:tc>
              </a:tr>
              <a:tr h="386556">
                <a:tc>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4"/>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rgbClr val="5AA0F5"/>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solidFill>
                  </a:tcPr>
                </a:tc>
                <a:tc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hMerge="1">
                  <a:txBody>
                    <a:bodyPr/>
                    <a:lstStyle/>
                    <a:p>
                      <a:pPr algn="ctr"/>
                      <a:endParaRPr lang="en-IN" sz="900" dirty="0"/>
                    </a:p>
                  </a:txBody>
                  <a:tcPr/>
                </a:tc>
                <a:tc hMerge="1">
                  <a:txBody>
                    <a:bodyPr/>
                    <a:lstStyle/>
                    <a:p>
                      <a:pPr algn="ctr"/>
                      <a:endParaRPr lang="en-IN" sz="900" dirty="0"/>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rgbClr val="5AA0F5"/>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solidFill>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rgbClr val="5AA0F5"/>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IN"/>
                    </a:p>
                  </a:txBody>
                  <a:tcPr/>
                </a:tc>
                <a:tc vMerge="1">
                  <a:txBody>
                    <a:bodyPr/>
                    <a:lstStyle/>
                    <a:p>
                      <a:pPr algn="ctr"/>
                      <a:endParaRPr lang="en-IN" sz="900" dirty="0"/>
                    </a:p>
                  </a:txBody>
                  <a:tcPr/>
                </a:tc>
                <a:tc gridSpan="2" vMerge="1">
                  <a:txBody>
                    <a:bodyPr/>
                    <a:lstStyle/>
                    <a:p>
                      <a:pPr algn="ctr"/>
                      <a:endParaRPr lang="en-IN" sz="900" dirty="0"/>
                    </a:p>
                  </a:txBody>
                  <a:tcPr/>
                </a:tc>
                <a:tc hMerge="1" vMerge="1">
                  <a:txBody>
                    <a:bodyPr/>
                    <a:lstStyle/>
                    <a:p>
                      <a:endParaRPr lang="en-IN"/>
                    </a:p>
                  </a:txBody>
                  <a:tcPr/>
                </a:tc>
                <a:tc gridSpan="2" vMerge="1">
                  <a:txBody>
                    <a:bodyPr/>
                    <a:lstStyle/>
                    <a:p>
                      <a:pPr algn="ctr"/>
                      <a:endParaRPr lang="en-IN" sz="900" dirty="0"/>
                    </a:p>
                  </a:txBody>
                  <a:tcPr/>
                </a:tc>
                <a:tc hMerge="1" vMerge="1">
                  <a:txBody>
                    <a:bodyPr/>
                    <a:lstStyle/>
                    <a:p>
                      <a:endParaRPr lang="en-IN"/>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365760">
                <a:tc gridSpan="2">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solidFill>
                  </a:tcPr>
                </a:tc>
                <a:tc hMerge="1">
                  <a:txBody>
                    <a:bodyPr/>
                    <a:lstStyle/>
                    <a:p>
                      <a:endParaRPr lang="en-IN"/>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pPr algn="ctr"/>
                      <a:endParaRPr lang="en-IN" sz="900" dirty="0"/>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gridSpan="2" vMerge="1">
                  <a:txBody>
                    <a:bodyPr/>
                    <a:lstStyle/>
                    <a:p>
                      <a:pPr algn="ctr"/>
                      <a:endParaRPr lang="en-IN" sz="900" dirty="0"/>
                    </a:p>
                  </a:txBody>
                  <a:tcPr/>
                </a:tc>
                <a:tc hMerge="1" vMerge="1">
                  <a:txBody>
                    <a:bodyPr/>
                    <a:lstStyle/>
                    <a:p>
                      <a:endParaRPr lang="en-IN"/>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alpha val="80000"/>
                      </a:schemeClr>
                    </a:solidFill>
                  </a:tcPr>
                </a:tc>
              </a:tr>
              <a:tr h="386556">
                <a:tc rowSpan="4">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4"/>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rowSpan="2" gridSpan="2">
                  <a:txBody>
                    <a:bodyPr/>
                    <a:lstStyle/>
                    <a:p>
                      <a:pPr algn="ct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rowSpan="2" hMerge="1">
                  <a:txBody>
                    <a:bodyPr/>
                    <a:lstStyle/>
                    <a:p>
                      <a:pPr algn="ctr"/>
                      <a:endParaRPr lang="en-IN" sz="900" dirty="0"/>
                    </a:p>
                  </a:txBody>
                  <a:tcPr/>
                </a:tc>
                <a:tc rowSpan="2" gridSpan="2">
                  <a:txBody>
                    <a:bodyPr/>
                    <a:lstStyle/>
                    <a:p>
                      <a:pPr algn="ct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rowSpan="2" hMerge="1">
                  <a:txBody>
                    <a:bodyPr/>
                    <a:lstStyle/>
                    <a:p>
                      <a:pPr algn="ctr"/>
                      <a:endParaRPr lang="en-IN" sz="900" dirty="0"/>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rgbClr val="5AA0F5"/>
                    </a:solidFill>
                  </a:tcPr>
                </a:tc>
                <a:tc hMerge="1">
                  <a:txBody>
                    <a:bodyPr/>
                    <a:lstStyle/>
                    <a:p>
                      <a:endParaRPr lang="en-IN"/>
                    </a:p>
                  </a:txBody>
                  <a:tcPr/>
                </a:tc>
                <a:tc>
                  <a:txBody>
                    <a:bodyPr/>
                    <a:lstStyle/>
                    <a:p>
                      <a:pPr algn="ct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endParaRPr lang="en-IN"/>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r>
              <a:tr h="237599">
                <a:tc vMerge="1">
                  <a:txBody>
                    <a:bodyPr/>
                    <a:lstStyle/>
                    <a:p>
                      <a:pPr algn="ctr"/>
                      <a:endParaRPr lang="en-IN" sz="9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vMerge="1">
                  <a:txBody>
                    <a:bodyPr/>
                    <a:lstStyle/>
                    <a:p>
                      <a:pPr algn="ctr"/>
                      <a:endParaRPr lang="en-IN" sz="900" dirty="0" smtClean="0"/>
                    </a:p>
                  </a:txBody>
                  <a:tcPr/>
                </a:tc>
                <a:tc hMerge="1" vMerge="1">
                  <a:txBody>
                    <a:bodyPr/>
                    <a:lstStyle/>
                    <a:p>
                      <a:endParaRPr lang="en-IN"/>
                    </a:p>
                  </a:txBody>
                  <a:tcPr/>
                </a:tc>
                <a:tc gridSpan="2" vMerge="1">
                  <a:txBody>
                    <a:bodyPr/>
                    <a:lstStyle/>
                    <a:p>
                      <a:pPr algn="ctr"/>
                      <a:endParaRPr lang="en-IN" sz="900" dirty="0"/>
                    </a:p>
                  </a:txBody>
                  <a:tcPr/>
                </a:tc>
                <a:tc hMerge="1" vMerge="1">
                  <a:txBody>
                    <a:bodyPr/>
                    <a:lstStyle/>
                    <a:p>
                      <a:endParaRPr lang="en-IN"/>
                    </a:p>
                  </a:txBody>
                  <a:tcPr/>
                </a:tc>
                <a:tc rowSpan="3"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rowSpan="3" hMerge="1">
                  <a:txBody>
                    <a:bodyPr/>
                    <a:lstStyle/>
                    <a:p>
                      <a:endParaRPr lang="en-IN"/>
                    </a:p>
                  </a:txBody>
                  <a:tcPr/>
                </a:tc>
                <a:tc gridSpan="2">
                  <a:txBody>
                    <a:bodyPr/>
                    <a:lstStyle/>
                    <a:p>
                      <a:pPr algn="ct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rgbClr val="5AA0F5"/>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a:endParaRPr lang="en-IN" sz="900" dirty="0"/>
                    </a:p>
                  </a:txBody>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rgbClr val="5AA0F5"/>
                    </a:solidFill>
                  </a:tcPr>
                </a:tc>
                <a:tc hMerge="1">
                  <a:txBody>
                    <a:bodyPr/>
                    <a:lstStyle/>
                    <a:p>
                      <a:endParaRPr lang="en-IN"/>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row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r>
              <a:tr h="193278">
                <a:tc vMerge="1">
                  <a:txBody>
                    <a:bodyPr/>
                    <a:lstStyle/>
                    <a:p>
                      <a:pPr algn="ctr"/>
                      <a:endParaRPr lang="en-IN" sz="9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vMerge="1">
                  <a:txBody>
                    <a:bodyPr/>
                    <a:lstStyle/>
                    <a:p>
                      <a:pPr algn="ctr"/>
                      <a:endParaRPr lang="en-IN" sz="9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grid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rowSpan="2" hMerge="1">
                  <a:txBody>
                    <a:bodyPr/>
                    <a:lstStyle/>
                    <a:p>
                      <a:endParaRPr lang="en-IN"/>
                    </a:p>
                  </a:txBody>
                  <a:tcPr/>
                </a:tc>
                <a:tc rowSpan="2" hMerge="1">
                  <a:txBody>
                    <a:bodyPr/>
                    <a:lstStyle/>
                    <a:p>
                      <a:pPr algn="ctr"/>
                      <a:endParaRPr lang="en-IN" sz="900" dirty="0"/>
                    </a:p>
                  </a:txBody>
                  <a:tcPr/>
                </a:tc>
                <a:tc rowSpan="2" hMerge="1">
                  <a:txBody>
                    <a:bodyPr/>
                    <a:lstStyle/>
                    <a:p>
                      <a:endParaRPr lang="en-IN"/>
                    </a:p>
                  </a:txBody>
                  <a:tcPr/>
                </a:tc>
                <a:tc gridSpan="2" vMerge="1">
                  <a:txBody>
                    <a:bodyPr/>
                    <a:lstStyle/>
                    <a:p>
                      <a:pPr algn="ctr"/>
                      <a:endParaRPr lang="en-IN" sz="900" dirty="0"/>
                    </a:p>
                  </a:txBody>
                  <a:tcPr/>
                </a:tc>
                <a:tc hMerge="1" v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endParaRPr lang="en-IN"/>
                    </a:p>
                  </a:txBody>
                  <a:tcPr/>
                </a:tc>
                <a:tc row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rowSpan="4"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rowSpan="4" hMerge="1">
                  <a:txBody>
                    <a:bodyPr/>
                    <a:lstStyle/>
                    <a:p>
                      <a:endParaRPr lang="en-IN"/>
                    </a:p>
                  </a:txBody>
                  <a:tcPr/>
                </a:tc>
                <a:tc row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row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vMerge="1">
                  <a:txBody>
                    <a:bodyPr/>
                    <a:lstStyle/>
                    <a:p>
                      <a:pPr algn="ctr"/>
                      <a:endParaRPr lang="en-IN" sz="900" dirty="0"/>
                    </a:p>
                  </a:txBody>
                  <a:tcPr/>
                </a:tc>
              </a:tr>
              <a:tr h="193278">
                <a:tc vMerge="1">
                  <a:txBody>
                    <a:bodyPr/>
                    <a:lstStyle/>
                    <a:p>
                      <a:endParaRPr lang="en-IN"/>
                    </a:p>
                  </a:txBody>
                  <a:tcPr/>
                </a:tc>
                <a:tc vMerge="1">
                  <a:txBody>
                    <a:bodyPr/>
                    <a:lstStyle/>
                    <a:p>
                      <a:endParaRPr lang="en-IN"/>
                    </a:p>
                  </a:txBody>
                  <a:tcPr/>
                </a:tc>
                <a:tc gridSpan="4" vMerge="1">
                  <a:txBody>
                    <a:bodyPr/>
                    <a:lstStyle/>
                    <a:p>
                      <a:endParaRPr lang="en-IN"/>
                    </a:p>
                  </a:txBody>
                  <a:tcPr/>
                </a:tc>
                <a:tc hMerge="1" vMerge="1">
                  <a:txBody>
                    <a:bodyPr/>
                    <a:lstStyle/>
                    <a:p>
                      <a:endParaRPr lang="en-IN"/>
                    </a:p>
                  </a:txBody>
                  <a:tcPr/>
                </a:tc>
                <a:tc hMerge="1" vMerge="1">
                  <a:txBody>
                    <a:bodyPr/>
                    <a:lstStyle/>
                    <a:p>
                      <a:endParaRPr lang="en-IN"/>
                    </a:p>
                  </a:txBody>
                  <a:tcPr/>
                </a:tc>
                <a:tc hMerge="1" vMerge="1">
                  <a:txBody>
                    <a:bodyPr/>
                    <a:lstStyle/>
                    <a:p>
                      <a:endParaRPr lang="en-IN"/>
                    </a:p>
                  </a:txBody>
                  <a:tcPr/>
                </a:tc>
                <a:tc gridSpan="2" vMerge="1">
                  <a:txBody>
                    <a:bodyPr/>
                    <a:lstStyle/>
                    <a:p>
                      <a:endParaRPr lang="en-IN"/>
                    </a:p>
                  </a:txBody>
                  <a:tcPr/>
                </a:tc>
                <a:tc hMerge="1" vMerge="1">
                  <a:txBody>
                    <a:bodyPr/>
                    <a:lstStyle/>
                    <a:p>
                      <a:endParaRPr lang="en-IN" dirty="0"/>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gridSpan="2" vMerge="1">
                  <a:txBody>
                    <a:bodyPr/>
                    <a:lstStyle/>
                    <a:p>
                      <a:endParaRPr lang="en-IN"/>
                    </a:p>
                  </a:txBody>
                  <a:tcPr/>
                </a:tc>
                <a:tc hMerge="1"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pPr algn="ctr"/>
                      <a:endParaRPr lang="en-IN" sz="900" dirty="0"/>
                    </a:p>
                  </a:txBody>
                  <a:tcPr/>
                </a:tc>
                <a:tc vMerge="1">
                  <a:txBody>
                    <a:bodyPr/>
                    <a:lstStyle/>
                    <a:p>
                      <a:endParaRPr lang="en-IN"/>
                    </a:p>
                  </a:txBody>
                  <a:tcPr/>
                </a:tc>
              </a:tr>
              <a:tr h="193278">
                <a:tc rowSpan="3" gridSpan="2">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rowSpan="3" hMerge="1">
                  <a:txBody>
                    <a:bodyPr/>
                    <a:lstStyle/>
                    <a:p>
                      <a:endParaRPr lang="en-IN"/>
                    </a:p>
                  </a:txBody>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rowSpan="2" gridSpan="2">
                  <a:txBody>
                    <a:bodyPr/>
                    <a:lstStyle/>
                    <a:p>
                      <a:pPr algn="ct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vMerge="1">
                  <a:txBody>
                    <a:bodyPr/>
                    <a:lstStyle/>
                    <a:p>
                      <a:pPr algn="ctr"/>
                      <a:endParaRPr lang="en-IN" sz="900" dirty="0"/>
                    </a:p>
                  </a:txBody>
                  <a:tcPr/>
                </a:tc>
                <a:tc vMerge="1">
                  <a:txBody>
                    <a:bodyPr/>
                    <a:lstStyle/>
                    <a:p>
                      <a:pPr algn="ctr"/>
                      <a:endParaRPr lang="en-IN" sz="900" dirty="0"/>
                    </a:p>
                  </a:txBody>
                  <a:tcPr/>
                </a:tc>
                <a:tc vMerge="1">
                  <a:txBody>
                    <a:bodyPr/>
                    <a:lstStyle/>
                    <a:p>
                      <a:pPr algn="ctr"/>
                      <a:endParaRPr lang="en-IN" sz="900" dirty="0"/>
                    </a:p>
                  </a:txBody>
                  <a:tcPr/>
                </a:tc>
                <a:tc gridSpan="2" vMerge="1">
                  <a:txBody>
                    <a:bodyPr/>
                    <a:lstStyle/>
                    <a:p>
                      <a:pPr algn="ctr"/>
                      <a:endParaRPr lang="en-IN" sz="900" dirty="0"/>
                    </a:p>
                  </a:txBody>
                  <a:tcPr/>
                </a:tc>
                <a:tc hMerge="1" vMerge="1">
                  <a:txBody>
                    <a:bodyPr/>
                    <a:lstStyle/>
                    <a:p>
                      <a:endParaRPr lang="en-IN"/>
                    </a:p>
                  </a:txBody>
                  <a:tcPr/>
                </a:tc>
                <a:tc vMerge="1">
                  <a:txBody>
                    <a:bodyPr/>
                    <a:lstStyle/>
                    <a:p>
                      <a:pPr algn="ctr"/>
                      <a:endParaRPr lang="en-IN" sz="900" dirty="0"/>
                    </a:p>
                  </a:txBody>
                  <a:tcPr/>
                </a:tc>
                <a:tc vMerge="1">
                  <a:txBody>
                    <a:bodyPr/>
                    <a:lstStyle/>
                    <a:p>
                      <a:endParaRPr lang="en-IN"/>
                    </a:p>
                  </a:txBody>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r>
              <a:tr h="193278">
                <a:tc gridSpan="2" vMerge="1">
                  <a:txBody>
                    <a:bodyPr/>
                    <a:lstStyle/>
                    <a:p>
                      <a:endParaRPr lang="en-IN"/>
                    </a:p>
                  </a:txBody>
                  <a:tcPr/>
                </a:tc>
                <a:tc hMerge="1" vMerge="1">
                  <a:txBody>
                    <a:bodyPr/>
                    <a:lstStyle/>
                    <a:p>
                      <a:endParaRPr lang="en-IN"/>
                    </a:p>
                  </a:txBody>
                  <a:tcPr/>
                </a:tc>
                <a:tc vMerge="1">
                  <a:txBody>
                    <a:bodyPr/>
                    <a:lstStyle/>
                    <a:p>
                      <a:pPr algn="ctr"/>
                      <a:endParaRPr lang="en-IN" sz="1000" dirty="0"/>
                    </a:p>
                  </a:txBody>
                  <a:tcPr/>
                </a:tc>
                <a:tc vMerge="1">
                  <a:txBody>
                    <a:bodyPr/>
                    <a:lstStyle/>
                    <a:p>
                      <a:endParaRPr lang="en-IN"/>
                    </a:p>
                  </a:txBody>
                  <a:tcPr/>
                </a:tc>
                <a:tc gridSpan="2" vMerge="1">
                  <a:txBody>
                    <a:bodyPr/>
                    <a:lstStyle/>
                    <a:p>
                      <a:pPr algn="ctr"/>
                      <a:endParaRPr lang="en-IN" sz="1000" dirty="0"/>
                    </a:p>
                  </a:txBody>
                  <a:tcPr/>
                </a:tc>
                <a:tc hMerge="1" vMerge="1">
                  <a:txBody>
                    <a:bodyPr/>
                    <a:lstStyle/>
                    <a:p>
                      <a:endParaRPr lang="en-IN"/>
                    </a:p>
                  </a:txBody>
                  <a:tcPr/>
                </a:tc>
                <a:tc gridSpan="2" vMerge="1">
                  <a:txBody>
                    <a:bodyPr/>
                    <a:lstStyle/>
                    <a:p>
                      <a:endParaRPr lang="en-IN"/>
                    </a:p>
                  </a:txBody>
                  <a:tcPr/>
                </a:tc>
                <a:tc hMerge="1" v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gridSpan="2" vMerge="1">
                  <a:txBody>
                    <a:bodyPr/>
                    <a:lstStyle/>
                    <a:p>
                      <a:endParaRPr lang="en-IN"/>
                    </a:p>
                  </a:txBody>
                  <a:tcPr/>
                </a:tc>
                <a:tc hMerge="1"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r>
              <a:tr h="309246">
                <a:tc gridSpan="2" vMerge="1">
                  <a:txBody>
                    <a:bodyPr/>
                    <a:lstStyle/>
                    <a:p>
                      <a:pPr algn="ctr"/>
                      <a:endParaRPr lang="en-IN" sz="900" dirty="0"/>
                    </a:p>
                  </a:txBody>
                  <a:tcPr/>
                </a:tc>
                <a:tc hMerge="1" vMerge="1">
                  <a:txBody>
                    <a:bodyPr/>
                    <a:lstStyle/>
                    <a:p>
                      <a:endParaRPr lang="en-IN"/>
                    </a:p>
                  </a:txBody>
                  <a:tcPr/>
                </a:tc>
                <a:tc grid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hMerge="1">
                  <a:txBody>
                    <a:bodyPr/>
                    <a:lstStyle/>
                    <a:p>
                      <a:pPr algn="ctr"/>
                      <a:endParaRPr lang="en-IN" sz="900" dirty="0"/>
                    </a:p>
                  </a:txBody>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hMerge="1">
                  <a:txBody>
                    <a:bodyPr/>
                    <a:lstStyle/>
                    <a:p>
                      <a:pPr algn="ctr"/>
                      <a:endParaRPr lang="en-IN" sz="900" dirty="0"/>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IN" dirty="0"/>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IN"/>
                    </a:p>
                  </a:txBody>
                  <a:tcPr/>
                </a:tc>
                <a:tc rowSpan="4"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rowSpan="4" h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r>
              <a:tr h="232703">
                <a:tc rowSpan="2" gridSpan="6">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alpha val="80000"/>
                      </a:schemeClr>
                    </a:solidFill>
                  </a:tcPr>
                </a:tc>
                <a:tc rowSpan="2" hMerge="1">
                  <a:txBody>
                    <a:bodyPr/>
                    <a:lstStyle/>
                    <a:p>
                      <a:endParaRPr lang="en-IN"/>
                    </a:p>
                  </a:txBody>
                  <a:tcPr/>
                </a:tc>
                <a:tc rowSpan="2" hMerge="1">
                  <a:txBody>
                    <a:bodyPr/>
                    <a:lstStyle/>
                    <a:p>
                      <a:pPr algn="ctr"/>
                      <a:endParaRPr lang="en-IN" sz="900"/>
                    </a:p>
                  </a:txBody>
                  <a:tcPr/>
                </a:tc>
                <a:tc rowSpan="2" hMerge="1">
                  <a:txBody>
                    <a:bodyPr/>
                    <a:lstStyle/>
                    <a:p>
                      <a:endParaRPr lang="en-IN"/>
                    </a:p>
                  </a:txBody>
                  <a:tcPr/>
                </a:tc>
                <a:tc rowSpan="2" hMerge="1">
                  <a:txBody>
                    <a:bodyPr/>
                    <a:lstStyle/>
                    <a:p>
                      <a:pPr algn="ctr"/>
                      <a:endParaRPr lang="en-IN" sz="900" dirty="0"/>
                    </a:p>
                  </a:txBody>
                  <a:tcPr/>
                </a:tc>
                <a:tc rowSpan="2"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endParaRPr lang="en-IN"/>
                    </a:p>
                  </a:txBody>
                  <a:tcPr/>
                </a:tc>
                <a:tc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hMerge="1">
                  <a:txBody>
                    <a:bodyPr/>
                    <a:lstStyle/>
                    <a:p>
                      <a:pPr algn="ctr"/>
                      <a:endParaRPr lang="en-IN" sz="900" dirty="0"/>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a:endParaRPr lang="en-IN" sz="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hMerge="1">
                  <a:txBody>
                    <a:bodyPr/>
                    <a:lstStyle/>
                    <a:p>
                      <a:endParaRPr lang="en-IN"/>
                    </a:p>
                  </a:txBody>
                  <a:tcPr/>
                </a:tc>
                <a:tc gridSpan="2"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r>
              <a:tr h="232703">
                <a:tc gridSpan="6" vMerge="1">
                  <a:txBody>
                    <a:bodyPr/>
                    <a:lstStyle/>
                    <a:p>
                      <a:pPr algn="ctr"/>
                      <a:endParaRPr lang="en-IN" sz="900" dirty="0"/>
                    </a:p>
                  </a:txBody>
                  <a:tcPr/>
                </a:tc>
                <a:tc hMerge="1" vMerge="1">
                  <a:txBody>
                    <a:bodyPr/>
                    <a:lstStyle/>
                    <a:p>
                      <a:endParaRPr lang="en-IN"/>
                    </a:p>
                  </a:txBody>
                  <a:tcPr/>
                </a:tc>
                <a:tc hMerge="1" vMerge="1">
                  <a:txBody>
                    <a:bodyPr/>
                    <a:lstStyle/>
                    <a:p>
                      <a:pPr algn="ctr"/>
                      <a:endParaRPr lang="en-IN" sz="900" dirty="0"/>
                    </a:p>
                  </a:txBody>
                  <a:tcPr/>
                </a:tc>
                <a:tc hMerge="1" vMerge="1">
                  <a:txBody>
                    <a:bodyPr/>
                    <a:lstStyle/>
                    <a:p>
                      <a:endParaRPr lang="en-IN"/>
                    </a:p>
                  </a:txBody>
                  <a:tcPr/>
                </a:tc>
                <a:tc hMerge="1" vMerge="1">
                  <a:txBody>
                    <a:bodyPr/>
                    <a:lstStyle/>
                    <a:p>
                      <a:pPr algn="ctr"/>
                      <a:endParaRPr lang="en-IN" sz="900" dirty="0"/>
                    </a:p>
                  </a:txBody>
                  <a:tcPr/>
                </a:tc>
                <a:tc hMerge="1" v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endParaRPr lang="en-IN"/>
                    </a:p>
                  </a:txBody>
                  <a:tcPr/>
                </a:tc>
                <a:tc rowSpan="2"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2" hMerge="1">
                  <a:txBody>
                    <a:bodyPr/>
                    <a:lstStyle/>
                    <a:p>
                      <a:pPr algn="ctr"/>
                      <a:endParaRPr lang="en-IN" sz="900" dirty="0"/>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hMerge="1">
                  <a:txBody>
                    <a:bodyPr/>
                    <a:lstStyle/>
                    <a:p>
                      <a:endParaRPr lang="en-IN"/>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endParaRPr lang="en-IN"/>
                    </a:p>
                  </a:txBody>
                  <a:tcPr/>
                </a:tc>
                <a:tc gridSpan="2"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r>
              <a:tr h="232703">
                <a:tc gridSpan="2">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no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a:p>
                  </a:txBody>
                  <a:tcPr/>
                </a:tc>
                <a:tc gridSpan="3" vMerge="1">
                  <a:txBody>
                    <a:bodyPr/>
                    <a:lstStyle/>
                    <a:p>
                      <a:pPr algn="ctr"/>
                      <a:endParaRPr lang="en-IN" sz="900" dirty="0"/>
                    </a:p>
                  </a:txBody>
                  <a:tcPr/>
                </a:tc>
                <a:tc hMerge="1" vMerge="1">
                  <a:txBody>
                    <a:bodyPr/>
                    <a:lstStyle/>
                    <a:p>
                      <a:endParaRPr lang="en-IN"/>
                    </a:p>
                  </a:txBody>
                  <a:tcPr/>
                </a:tc>
                <a:tc hMerge="1" vMerge="1">
                  <a:txBody>
                    <a:bodyPr/>
                    <a:lstStyle/>
                    <a:p>
                      <a:pPr algn="ctr"/>
                      <a:endParaRPr lang="en-IN" sz="900" dirty="0"/>
                    </a:p>
                  </a:txBody>
                  <a:tcPr/>
                </a:tc>
                <a:tc grid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a:endParaRPr lang="en-IN" sz="900" dirty="0"/>
                    </a:p>
                  </a:txBody>
                  <a:tcPr/>
                </a:tc>
                <a:tc hMerge="1">
                  <a:txBody>
                    <a:bodyPr/>
                    <a:lstStyle/>
                    <a:p>
                      <a:pPr algn="ctr"/>
                      <a:endParaRPr lang="en-IN" sz="900" dirty="0"/>
                    </a:p>
                  </a:txBody>
                  <a:tcPr/>
                </a:tc>
                <a:tc hMerge="1">
                  <a:txBody>
                    <a:bodyPr/>
                    <a:lstStyle/>
                    <a:p>
                      <a:endParaRPr lang="en-IN"/>
                    </a:p>
                  </a:txBody>
                  <a:tcPr/>
                </a:tc>
                <a:tc gridSpan="2"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en-IN"/>
                    </a:p>
                  </a:txBody>
                  <a:tcPr/>
                </a:tc>
                <a:tc gridSpan="2"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sp>
        <p:nvSpPr>
          <p:cNvPr id="43" name="TextBox 42"/>
          <p:cNvSpPr txBox="1"/>
          <p:nvPr/>
        </p:nvSpPr>
        <p:spPr bwMode="gray">
          <a:xfrm>
            <a:off x="1288473" y="3893127"/>
            <a:ext cx="900545" cy="138546"/>
          </a:xfrm>
          <a:prstGeom prst="rect">
            <a:avLst/>
          </a:prstGeom>
        </p:spPr>
        <p:txBody>
          <a:bodyPr vert="horz" wrap="square" lIns="91440" tIns="45720" rIns="91440" bIns="45720" rtlCol="0" anchor="ctr">
            <a:noAutofit/>
          </a:bodyPr>
          <a:lstStyle/>
          <a:p>
            <a:endParaRPr lang="en-IN" sz="2000" i="1" dirty="0" smtClean="0"/>
          </a:p>
        </p:txBody>
      </p:sp>
      <p:sp>
        <p:nvSpPr>
          <p:cNvPr id="44" name="TextBox 43"/>
          <p:cNvSpPr txBox="1"/>
          <p:nvPr/>
        </p:nvSpPr>
        <p:spPr bwMode="gray">
          <a:xfrm>
            <a:off x="1291595" y="3983279"/>
            <a:ext cx="1039091" cy="138546"/>
          </a:xfrm>
          <a:prstGeom prst="rect">
            <a:avLst/>
          </a:prstGeom>
        </p:spPr>
        <p:txBody>
          <a:bodyPr vert="horz" wrap="square" lIns="91440" tIns="45720" rIns="91440" bIns="45720" rtlCol="0" anchor="ctr">
            <a:noAutofit/>
          </a:bodyPr>
          <a:lstStyle/>
          <a:p>
            <a:pPr algn="ctr"/>
            <a:r>
              <a:rPr lang="en-IN" sz="800" i="1" dirty="0" smtClean="0"/>
              <a:t>Jubilee Hills</a:t>
            </a:r>
          </a:p>
        </p:txBody>
      </p:sp>
      <p:sp>
        <p:nvSpPr>
          <p:cNvPr id="45" name="TextBox 44"/>
          <p:cNvSpPr txBox="1"/>
          <p:nvPr/>
        </p:nvSpPr>
        <p:spPr bwMode="gray">
          <a:xfrm>
            <a:off x="2819241" y="2996602"/>
            <a:ext cx="1039091" cy="138546"/>
          </a:xfrm>
          <a:prstGeom prst="rect">
            <a:avLst/>
          </a:prstGeom>
        </p:spPr>
        <p:txBody>
          <a:bodyPr vert="horz" wrap="square" lIns="91440" tIns="45720" rIns="91440" bIns="45720" rtlCol="0" anchor="ctr">
            <a:noAutofit/>
          </a:bodyPr>
          <a:lstStyle/>
          <a:p>
            <a:pPr algn="ctr"/>
            <a:r>
              <a:rPr lang="en-IN" sz="800" i="1" dirty="0" err="1" smtClean="0"/>
              <a:t>Panjagutta</a:t>
            </a:r>
            <a:endParaRPr lang="en-IN" sz="800" i="1" dirty="0" smtClean="0"/>
          </a:p>
        </p:txBody>
      </p:sp>
      <p:sp>
        <p:nvSpPr>
          <p:cNvPr id="46" name="TextBox 45"/>
          <p:cNvSpPr txBox="1"/>
          <p:nvPr/>
        </p:nvSpPr>
        <p:spPr bwMode="gray">
          <a:xfrm>
            <a:off x="4444107" y="2424690"/>
            <a:ext cx="1039091" cy="138546"/>
          </a:xfrm>
          <a:prstGeom prst="rect">
            <a:avLst/>
          </a:prstGeom>
        </p:spPr>
        <p:txBody>
          <a:bodyPr vert="horz" wrap="square" lIns="91440" tIns="45720" rIns="91440" bIns="45720" rtlCol="0" anchor="ctr">
            <a:noAutofit/>
          </a:bodyPr>
          <a:lstStyle/>
          <a:p>
            <a:pPr algn="ctr"/>
            <a:r>
              <a:rPr lang="en-IN" sz="800" i="1" dirty="0" err="1" smtClean="0"/>
              <a:t>Vikrampuri</a:t>
            </a:r>
            <a:endParaRPr lang="en-IN" sz="800" i="1" dirty="0" smtClean="0"/>
          </a:p>
        </p:txBody>
      </p:sp>
      <p:sp>
        <p:nvSpPr>
          <p:cNvPr id="47" name="TextBox 46"/>
          <p:cNvSpPr txBox="1"/>
          <p:nvPr/>
        </p:nvSpPr>
        <p:spPr bwMode="gray">
          <a:xfrm>
            <a:off x="1291594" y="4551314"/>
            <a:ext cx="1039091" cy="138546"/>
          </a:xfrm>
          <a:prstGeom prst="rect">
            <a:avLst/>
          </a:prstGeom>
        </p:spPr>
        <p:txBody>
          <a:bodyPr vert="horz" wrap="square" lIns="91440" tIns="45720" rIns="91440" bIns="45720" rtlCol="0" anchor="ctr">
            <a:noAutofit/>
          </a:bodyPr>
          <a:lstStyle/>
          <a:p>
            <a:pPr algn="ctr"/>
            <a:r>
              <a:rPr lang="en-IN" sz="800" i="1" dirty="0" err="1" smtClean="0"/>
              <a:t>Kondapur</a:t>
            </a:r>
            <a:endParaRPr lang="en-IN" sz="800" i="1" dirty="0" smtClean="0"/>
          </a:p>
        </p:txBody>
      </p:sp>
      <p:sp>
        <p:nvSpPr>
          <p:cNvPr id="48" name="TextBox 47"/>
          <p:cNvSpPr txBox="1"/>
          <p:nvPr/>
        </p:nvSpPr>
        <p:spPr bwMode="gray">
          <a:xfrm>
            <a:off x="1291593" y="6355655"/>
            <a:ext cx="1039091" cy="138546"/>
          </a:xfrm>
          <a:prstGeom prst="rect">
            <a:avLst/>
          </a:prstGeom>
        </p:spPr>
        <p:txBody>
          <a:bodyPr vert="horz" wrap="square" lIns="91440" tIns="45720" rIns="91440" bIns="45720" rtlCol="0" anchor="ctr">
            <a:noAutofit/>
          </a:bodyPr>
          <a:lstStyle/>
          <a:p>
            <a:pPr algn="ctr"/>
            <a:r>
              <a:rPr lang="en-IN" sz="800" i="1" dirty="0" smtClean="0"/>
              <a:t>Airport</a:t>
            </a:r>
          </a:p>
        </p:txBody>
      </p:sp>
      <p:sp>
        <p:nvSpPr>
          <p:cNvPr id="49" name="TextBox 48"/>
          <p:cNvSpPr txBox="1"/>
          <p:nvPr/>
        </p:nvSpPr>
        <p:spPr bwMode="gray">
          <a:xfrm>
            <a:off x="7664685" y="2762136"/>
            <a:ext cx="1039091" cy="138546"/>
          </a:xfrm>
          <a:prstGeom prst="rect">
            <a:avLst/>
          </a:prstGeom>
        </p:spPr>
        <p:txBody>
          <a:bodyPr vert="horz" wrap="square" lIns="91440" tIns="45720" rIns="91440" bIns="45720" rtlCol="0" anchor="ctr">
            <a:noAutofit/>
          </a:bodyPr>
          <a:lstStyle/>
          <a:p>
            <a:pPr algn="ctr"/>
            <a:r>
              <a:rPr lang="en-IN" sz="800" i="1" dirty="0" smtClean="0"/>
              <a:t>A S Rao Nagar</a:t>
            </a:r>
          </a:p>
        </p:txBody>
      </p:sp>
      <p:sp>
        <p:nvSpPr>
          <p:cNvPr id="50" name="TextBox 49"/>
          <p:cNvSpPr txBox="1"/>
          <p:nvPr/>
        </p:nvSpPr>
        <p:spPr bwMode="gray">
          <a:xfrm>
            <a:off x="2647389" y="2539894"/>
            <a:ext cx="1039091" cy="138546"/>
          </a:xfrm>
          <a:prstGeom prst="rect">
            <a:avLst/>
          </a:prstGeom>
          <a:noFill/>
        </p:spPr>
        <p:txBody>
          <a:bodyPr vert="horz" wrap="square" lIns="91440" tIns="45720" rIns="91440" bIns="45720" rtlCol="0" anchor="ctr">
            <a:noAutofit/>
          </a:bodyPr>
          <a:lstStyle/>
          <a:p>
            <a:pPr algn="ctr"/>
            <a:r>
              <a:rPr lang="en-IN" sz="800" i="1" dirty="0" err="1" smtClean="0"/>
              <a:t>Kukatpally</a:t>
            </a:r>
            <a:endParaRPr lang="en-IN" sz="800" i="1" dirty="0" smtClean="0"/>
          </a:p>
        </p:txBody>
      </p:sp>
      <p:sp>
        <p:nvSpPr>
          <p:cNvPr id="51" name="TextBox 50"/>
          <p:cNvSpPr txBox="1"/>
          <p:nvPr/>
        </p:nvSpPr>
        <p:spPr bwMode="gray">
          <a:xfrm>
            <a:off x="4456783" y="4278541"/>
            <a:ext cx="1039091" cy="138546"/>
          </a:xfrm>
          <a:prstGeom prst="rect">
            <a:avLst/>
          </a:prstGeom>
        </p:spPr>
        <p:txBody>
          <a:bodyPr vert="horz" wrap="square" lIns="91440" tIns="45720" rIns="91440" bIns="45720" rtlCol="0" anchor="ctr">
            <a:noAutofit/>
          </a:bodyPr>
          <a:lstStyle/>
          <a:p>
            <a:pPr algn="ctr"/>
            <a:r>
              <a:rPr lang="en-IN" sz="800" i="1" dirty="0" err="1" smtClean="0"/>
              <a:t>HImayatnagar</a:t>
            </a:r>
            <a:endParaRPr lang="en-IN" sz="800" i="1" dirty="0" smtClean="0"/>
          </a:p>
        </p:txBody>
      </p:sp>
      <p:sp>
        <p:nvSpPr>
          <p:cNvPr id="52" name="TextBox 51"/>
          <p:cNvSpPr txBox="1"/>
          <p:nvPr/>
        </p:nvSpPr>
        <p:spPr bwMode="gray">
          <a:xfrm>
            <a:off x="6884590" y="4278541"/>
            <a:ext cx="1039091" cy="138546"/>
          </a:xfrm>
          <a:prstGeom prst="rect">
            <a:avLst/>
          </a:prstGeom>
        </p:spPr>
        <p:txBody>
          <a:bodyPr vert="horz" wrap="square" lIns="91440" tIns="45720" rIns="91440" bIns="45720" rtlCol="0" anchor="ctr">
            <a:noAutofit/>
          </a:bodyPr>
          <a:lstStyle/>
          <a:p>
            <a:pPr algn="ctr"/>
            <a:r>
              <a:rPr lang="en-IN" sz="800" i="1" dirty="0" err="1" smtClean="0"/>
              <a:t>Habsiguda</a:t>
            </a:r>
            <a:endParaRPr lang="en-IN" sz="800" i="1" dirty="0" smtClean="0"/>
          </a:p>
        </p:txBody>
      </p:sp>
      <p:sp>
        <p:nvSpPr>
          <p:cNvPr id="53" name="TextBox 52"/>
          <p:cNvSpPr txBox="1"/>
          <p:nvPr/>
        </p:nvSpPr>
        <p:spPr bwMode="gray">
          <a:xfrm>
            <a:off x="469936" y="2527015"/>
            <a:ext cx="1039091" cy="138546"/>
          </a:xfrm>
          <a:prstGeom prst="rect">
            <a:avLst/>
          </a:prstGeom>
        </p:spPr>
        <p:txBody>
          <a:bodyPr vert="horz" wrap="square" lIns="91440" tIns="45720" rIns="91440" bIns="45720" rtlCol="0" anchor="ctr">
            <a:noAutofit/>
          </a:bodyPr>
          <a:lstStyle/>
          <a:p>
            <a:pPr algn="ctr"/>
            <a:r>
              <a:rPr lang="en-IN" sz="800" i="1" dirty="0" err="1" smtClean="0"/>
              <a:t>Chandanagar</a:t>
            </a:r>
            <a:endParaRPr lang="en-IN" sz="800" i="1" dirty="0" smtClean="0"/>
          </a:p>
        </p:txBody>
      </p:sp>
      <p:sp>
        <p:nvSpPr>
          <p:cNvPr id="54" name="Oval 53"/>
          <p:cNvSpPr/>
          <p:nvPr/>
        </p:nvSpPr>
        <p:spPr>
          <a:xfrm>
            <a:off x="1724890" y="3810002"/>
            <a:ext cx="187037" cy="159422"/>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55" name="Oval 54"/>
          <p:cNvSpPr/>
          <p:nvPr/>
        </p:nvSpPr>
        <p:spPr>
          <a:xfrm>
            <a:off x="3276594" y="2837249"/>
            <a:ext cx="187037" cy="159422"/>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56" name="Oval 55"/>
          <p:cNvSpPr/>
          <p:nvPr/>
        </p:nvSpPr>
        <p:spPr>
          <a:xfrm>
            <a:off x="4370091" y="2429201"/>
            <a:ext cx="187037" cy="159422"/>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57" name="Oval 56"/>
          <p:cNvSpPr/>
          <p:nvPr/>
        </p:nvSpPr>
        <p:spPr>
          <a:xfrm>
            <a:off x="1717619" y="6196233"/>
            <a:ext cx="187037" cy="159422"/>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58" name="Oval 57"/>
          <p:cNvSpPr/>
          <p:nvPr/>
        </p:nvSpPr>
        <p:spPr>
          <a:xfrm>
            <a:off x="1717618" y="4399889"/>
            <a:ext cx="187037" cy="159422"/>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59" name="Oval 58"/>
          <p:cNvSpPr/>
          <p:nvPr/>
        </p:nvSpPr>
        <p:spPr>
          <a:xfrm>
            <a:off x="3256984" y="2376487"/>
            <a:ext cx="187037" cy="159422"/>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60" name="Oval 59"/>
          <p:cNvSpPr/>
          <p:nvPr/>
        </p:nvSpPr>
        <p:spPr>
          <a:xfrm>
            <a:off x="895962" y="2389366"/>
            <a:ext cx="187037" cy="159422"/>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61" name="Oval 60"/>
          <p:cNvSpPr/>
          <p:nvPr/>
        </p:nvSpPr>
        <p:spPr>
          <a:xfrm>
            <a:off x="4882809" y="4147986"/>
            <a:ext cx="187037" cy="159422"/>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dirty="0"/>
          </a:p>
        </p:txBody>
      </p:sp>
      <p:sp>
        <p:nvSpPr>
          <p:cNvPr id="62" name="Oval 61"/>
          <p:cNvSpPr/>
          <p:nvPr/>
        </p:nvSpPr>
        <p:spPr>
          <a:xfrm>
            <a:off x="7310616" y="4101472"/>
            <a:ext cx="187037" cy="159422"/>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63" name="Oval 62"/>
          <p:cNvSpPr/>
          <p:nvPr/>
        </p:nvSpPr>
        <p:spPr>
          <a:xfrm>
            <a:off x="8051098" y="2610314"/>
            <a:ext cx="187037" cy="159422"/>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72" name="TextBox 71"/>
          <p:cNvSpPr txBox="1"/>
          <p:nvPr/>
        </p:nvSpPr>
        <p:spPr bwMode="gray">
          <a:xfrm>
            <a:off x="5720607" y="4557083"/>
            <a:ext cx="1039091" cy="138546"/>
          </a:xfrm>
          <a:prstGeom prst="rect">
            <a:avLst/>
          </a:prstGeom>
        </p:spPr>
        <p:txBody>
          <a:bodyPr vert="horz" wrap="square" lIns="91440" tIns="45720" rIns="91440" bIns="45720" rtlCol="0" anchor="ctr">
            <a:noAutofit/>
          </a:bodyPr>
          <a:lstStyle/>
          <a:p>
            <a:pPr algn="ctr"/>
            <a:r>
              <a:rPr lang="en-IN" sz="800" i="1" dirty="0" err="1" smtClean="0"/>
              <a:t>Kachiguda</a:t>
            </a:r>
            <a:endParaRPr lang="en-IN" sz="800" i="1" dirty="0" smtClean="0"/>
          </a:p>
        </p:txBody>
      </p:sp>
      <p:sp>
        <p:nvSpPr>
          <p:cNvPr id="73" name="TextBox 72"/>
          <p:cNvSpPr txBox="1"/>
          <p:nvPr/>
        </p:nvSpPr>
        <p:spPr bwMode="gray">
          <a:xfrm>
            <a:off x="6044714" y="4351047"/>
            <a:ext cx="1039091" cy="138546"/>
          </a:xfrm>
          <a:prstGeom prst="rect">
            <a:avLst/>
          </a:prstGeom>
        </p:spPr>
        <p:txBody>
          <a:bodyPr vert="horz" wrap="square" lIns="91440" tIns="45720" rIns="91440" bIns="45720" rtlCol="0" anchor="ctr">
            <a:noAutofit/>
          </a:bodyPr>
          <a:lstStyle/>
          <a:p>
            <a:pPr algn="ctr"/>
            <a:r>
              <a:rPr lang="en-IN" sz="800" i="1" dirty="0" err="1" smtClean="0"/>
              <a:t>Shivam</a:t>
            </a:r>
            <a:r>
              <a:rPr lang="en-IN" sz="800" i="1" dirty="0" smtClean="0"/>
              <a:t> Road</a:t>
            </a:r>
          </a:p>
        </p:txBody>
      </p:sp>
      <p:sp>
        <p:nvSpPr>
          <p:cNvPr id="74" name="TextBox 73"/>
          <p:cNvSpPr txBox="1"/>
          <p:nvPr/>
        </p:nvSpPr>
        <p:spPr bwMode="gray">
          <a:xfrm>
            <a:off x="6044713" y="5282675"/>
            <a:ext cx="1039091" cy="138546"/>
          </a:xfrm>
          <a:prstGeom prst="rect">
            <a:avLst/>
          </a:prstGeom>
        </p:spPr>
        <p:txBody>
          <a:bodyPr vert="horz" wrap="square" lIns="91440" tIns="45720" rIns="91440" bIns="45720" rtlCol="0" anchor="ctr">
            <a:noAutofit/>
          </a:bodyPr>
          <a:lstStyle/>
          <a:p>
            <a:pPr algn="ctr"/>
            <a:r>
              <a:rPr lang="en-IN" sz="800" i="1" dirty="0" err="1" smtClean="0"/>
              <a:t>Kothapete</a:t>
            </a:r>
            <a:endParaRPr lang="en-IN" sz="800" i="1" dirty="0" smtClean="0"/>
          </a:p>
        </p:txBody>
      </p:sp>
      <p:sp>
        <p:nvSpPr>
          <p:cNvPr id="75" name="TextBox 74"/>
          <p:cNvSpPr txBox="1"/>
          <p:nvPr/>
        </p:nvSpPr>
        <p:spPr bwMode="gray">
          <a:xfrm>
            <a:off x="2248567" y="3983279"/>
            <a:ext cx="1039091" cy="138546"/>
          </a:xfrm>
          <a:prstGeom prst="rect">
            <a:avLst/>
          </a:prstGeom>
        </p:spPr>
        <p:txBody>
          <a:bodyPr vert="horz" wrap="square" lIns="91440" tIns="45720" rIns="91440" bIns="45720" rtlCol="0" anchor="ctr">
            <a:noAutofit/>
          </a:bodyPr>
          <a:lstStyle/>
          <a:p>
            <a:pPr algn="ctr"/>
            <a:r>
              <a:rPr lang="en-IN" sz="800" i="1" dirty="0" smtClean="0"/>
              <a:t>Banjara Hills</a:t>
            </a:r>
          </a:p>
        </p:txBody>
      </p:sp>
      <p:sp>
        <p:nvSpPr>
          <p:cNvPr id="76" name="TextBox 75"/>
          <p:cNvSpPr txBox="1"/>
          <p:nvPr/>
        </p:nvSpPr>
        <p:spPr bwMode="gray">
          <a:xfrm>
            <a:off x="4404828" y="3614035"/>
            <a:ext cx="1039091" cy="138546"/>
          </a:xfrm>
          <a:prstGeom prst="rect">
            <a:avLst/>
          </a:prstGeom>
        </p:spPr>
        <p:txBody>
          <a:bodyPr vert="horz" wrap="square" lIns="91440" tIns="45720" rIns="91440" bIns="45720" rtlCol="0" anchor="ctr">
            <a:noAutofit/>
          </a:bodyPr>
          <a:lstStyle/>
          <a:p>
            <a:pPr algn="ctr"/>
            <a:r>
              <a:rPr lang="en-IN" sz="800" i="1" dirty="0" err="1" smtClean="0"/>
              <a:t>Amsri</a:t>
            </a:r>
            <a:r>
              <a:rPr lang="en-IN" sz="800" i="1" dirty="0" smtClean="0"/>
              <a:t> Faust,</a:t>
            </a:r>
          </a:p>
          <a:p>
            <a:pPr algn="ctr"/>
            <a:r>
              <a:rPr lang="en-IN" sz="800" i="1" dirty="0" err="1" smtClean="0"/>
              <a:t>Secunderabad</a:t>
            </a:r>
            <a:endParaRPr lang="en-IN" sz="800" i="1" dirty="0" smtClean="0"/>
          </a:p>
        </p:txBody>
      </p:sp>
      <p:sp>
        <p:nvSpPr>
          <p:cNvPr id="77" name="TextBox 76"/>
          <p:cNvSpPr txBox="1"/>
          <p:nvPr/>
        </p:nvSpPr>
        <p:spPr bwMode="gray">
          <a:xfrm>
            <a:off x="1688990" y="4988321"/>
            <a:ext cx="1039091" cy="138546"/>
          </a:xfrm>
          <a:prstGeom prst="rect">
            <a:avLst/>
          </a:prstGeom>
        </p:spPr>
        <p:txBody>
          <a:bodyPr vert="horz" wrap="square" lIns="91440" tIns="45720" rIns="91440" bIns="45720" rtlCol="0" anchor="ctr">
            <a:noAutofit/>
          </a:bodyPr>
          <a:lstStyle/>
          <a:p>
            <a:pPr algn="ctr"/>
            <a:r>
              <a:rPr lang="en-IN" sz="800" i="1" dirty="0" err="1" smtClean="0"/>
              <a:t>Attapur</a:t>
            </a:r>
            <a:endParaRPr lang="en-IN" sz="800" i="1" dirty="0" smtClean="0"/>
          </a:p>
        </p:txBody>
      </p:sp>
      <p:sp>
        <p:nvSpPr>
          <p:cNvPr id="78" name="TextBox 77"/>
          <p:cNvSpPr txBox="1"/>
          <p:nvPr/>
        </p:nvSpPr>
        <p:spPr bwMode="gray">
          <a:xfrm>
            <a:off x="3571019" y="3607194"/>
            <a:ext cx="1039091" cy="138546"/>
          </a:xfrm>
          <a:prstGeom prst="rect">
            <a:avLst/>
          </a:prstGeom>
        </p:spPr>
        <p:txBody>
          <a:bodyPr vert="horz" wrap="square" lIns="91440" tIns="45720" rIns="91440" bIns="45720" rtlCol="0" anchor="ctr">
            <a:noAutofit/>
          </a:bodyPr>
          <a:lstStyle/>
          <a:p>
            <a:pPr algn="ctr"/>
            <a:r>
              <a:rPr lang="en-IN" sz="800" i="1" dirty="0" err="1" smtClean="0"/>
              <a:t>Begumpet</a:t>
            </a:r>
            <a:endParaRPr lang="en-IN" sz="800" i="1" dirty="0" smtClean="0"/>
          </a:p>
        </p:txBody>
      </p:sp>
      <p:sp>
        <p:nvSpPr>
          <p:cNvPr id="79" name="TextBox 78"/>
          <p:cNvSpPr txBox="1"/>
          <p:nvPr/>
        </p:nvSpPr>
        <p:spPr bwMode="gray">
          <a:xfrm>
            <a:off x="4404828" y="3097916"/>
            <a:ext cx="1039091" cy="138546"/>
          </a:xfrm>
          <a:prstGeom prst="rect">
            <a:avLst/>
          </a:prstGeom>
        </p:spPr>
        <p:txBody>
          <a:bodyPr vert="horz" wrap="square" lIns="91440" tIns="45720" rIns="91440" bIns="45720" rtlCol="0" anchor="ctr">
            <a:noAutofit/>
          </a:bodyPr>
          <a:lstStyle/>
          <a:p>
            <a:pPr algn="ctr"/>
            <a:r>
              <a:rPr lang="en-IN" sz="800" i="1" dirty="0" smtClean="0"/>
              <a:t>Odyssey, </a:t>
            </a:r>
            <a:r>
              <a:rPr lang="en-IN" sz="800" i="1" dirty="0" err="1" smtClean="0"/>
              <a:t>Vikrampuri</a:t>
            </a:r>
            <a:endParaRPr lang="en-IN" sz="800" i="1" dirty="0" smtClean="0"/>
          </a:p>
        </p:txBody>
      </p:sp>
      <p:sp>
        <p:nvSpPr>
          <p:cNvPr id="80" name="TextBox 79"/>
          <p:cNvSpPr txBox="1"/>
          <p:nvPr/>
        </p:nvSpPr>
        <p:spPr bwMode="gray">
          <a:xfrm>
            <a:off x="7715223" y="3550800"/>
            <a:ext cx="1039091" cy="138546"/>
          </a:xfrm>
          <a:prstGeom prst="rect">
            <a:avLst/>
          </a:prstGeom>
        </p:spPr>
        <p:txBody>
          <a:bodyPr vert="horz" wrap="square" lIns="91440" tIns="45720" rIns="91440" bIns="45720" rtlCol="0" anchor="ctr">
            <a:noAutofit/>
          </a:bodyPr>
          <a:lstStyle/>
          <a:p>
            <a:pPr algn="ctr"/>
            <a:r>
              <a:rPr lang="en-IN" sz="800" i="1" dirty="0" err="1" smtClean="0"/>
              <a:t>Nacharam</a:t>
            </a:r>
            <a:endParaRPr lang="en-IN" sz="800" i="1" dirty="0" smtClean="0"/>
          </a:p>
        </p:txBody>
      </p:sp>
      <p:sp>
        <p:nvSpPr>
          <p:cNvPr id="81" name="TextBox 80"/>
          <p:cNvSpPr txBox="1"/>
          <p:nvPr/>
        </p:nvSpPr>
        <p:spPr bwMode="gray">
          <a:xfrm>
            <a:off x="2082310" y="4468195"/>
            <a:ext cx="1039091" cy="138546"/>
          </a:xfrm>
          <a:prstGeom prst="rect">
            <a:avLst/>
          </a:prstGeom>
        </p:spPr>
        <p:txBody>
          <a:bodyPr vert="horz" wrap="square" lIns="91440" tIns="45720" rIns="91440" bIns="45720" rtlCol="0" anchor="ctr">
            <a:noAutofit/>
          </a:bodyPr>
          <a:lstStyle/>
          <a:p>
            <a:pPr algn="ctr"/>
            <a:r>
              <a:rPr lang="en-IN" sz="800" i="1" dirty="0" err="1" smtClean="0"/>
              <a:t>Tolichowki</a:t>
            </a:r>
            <a:endParaRPr lang="en-IN" sz="800" i="1" dirty="0" smtClean="0"/>
          </a:p>
        </p:txBody>
      </p:sp>
      <p:sp>
        <p:nvSpPr>
          <p:cNvPr id="82" name="TextBox 81"/>
          <p:cNvSpPr txBox="1"/>
          <p:nvPr/>
        </p:nvSpPr>
        <p:spPr bwMode="gray">
          <a:xfrm>
            <a:off x="7599768" y="4534075"/>
            <a:ext cx="1104008" cy="173021"/>
          </a:xfrm>
          <a:prstGeom prst="rect">
            <a:avLst/>
          </a:prstGeom>
        </p:spPr>
        <p:txBody>
          <a:bodyPr vert="horz" wrap="square" lIns="91440" tIns="45720" rIns="91440" bIns="45720" rtlCol="0" anchor="ctr">
            <a:noAutofit/>
          </a:bodyPr>
          <a:lstStyle/>
          <a:p>
            <a:pPr algn="ctr"/>
            <a:r>
              <a:rPr lang="en-IN" sz="800" i="1" dirty="0" smtClean="0"/>
              <a:t>Uppal</a:t>
            </a:r>
          </a:p>
        </p:txBody>
      </p:sp>
      <p:sp>
        <p:nvSpPr>
          <p:cNvPr id="83" name="TextBox 82"/>
          <p:cNvSpPr txBox="1"/>
          <p:nvPr/>
        </p:nvSpPr>
        <p:spPr bwMode="gray">
          <a:xfrm>
            <a:off x="7210211" y="6126960"/>
            <a:ext cx="1039091" cy="138546"/>
          </a:xfrm>
          <a:prstGeom prst="rect">
            <a:avLst/>
          </a:prstGeom>
        </p:spPr>
        <p:txBody>
          <a:bodyPr vert="horz" wrap="square" lIns="91440" tIns="45720" rIns="91440" bIns="45720" rtlCol="0" anchor="ctr">
            <a:noAutofit/>
          </a:bodyPr>
          <a:lstStyle/>
          <a:p>
            <a:pPr algn="ctr"/>
            <a:r>
              <a:rPr lang="en-IN" sz="800" i="1" dirty="0" err="1" smtClean="0"/>
              <a:t>Vanasthalipuram</a:t>
            </a:r>
            <a:endParaRPr lang="en-IN" sz="800" i="1" dirty="0" smtClean="0"/>
          </a:p>
        </p:txBody>
      </p:sp>
      <p:sp>
        <p:nvSpPr>
          <p:cNvPr id="84" name="TextBox 83"/>
          <p:cNvSpPr txBox="1"/>
          <p:nvPr/>
        </p:nvSpPr>
        <p:spPr bwMode="gray">
          <a:xfrm>
            <a:off x="7670863" y="3351659"/>
            <a:ext cx="1039091" cy="138546"/>
          </a:xfrm>
          <a:prstGeom prst="rect">
            <a:avLst/>
          </a:prstGeom>
        </p:spPr>
        <p:txBody>
          <a:bodyPr vert="horz" wrap="square" lIns="91440" tIns="45720" rIns="91440" bIns="45720" rtlCol="0" anchor="ctr">
            <a:noAutofit/>
          </a:bodyPr>
          <a:lstStyle/>
          <a:p>
            <a:pPr algn="ctr"/>
            <a:r>
              <a:rPr lang="en-IN" sz="800" i="1" dirty="0" err="1" smtClean="0"/>
              <a:t>Mallapur</a:t>
            </a:r>
            <a:endParaRPr lang="en-IN" sz="800" i="1" dirty="0" smtClean="0"/>
          </a:p>
        </p:txBody>
      </p:sp>
      <p:sp>
        <p:nvSpPr>
          <p:cNvPr id="85" name="TextBox 84"/>
          <p:cNvSpPr txBox="1"/>
          <p:nvPr/>
        </p:nvSpPr>
        <p:spPr bwMode="gray">
          <a:xfrm>
            <a:off x="1108757" y="3633999"/>
            <a:ext cx="1039091" cy="138546"/>
          </a:xfrm>
          <a:prstGeom prst="rect">
            <a:avLst/>
          </a:prstGeom>
        </p:spPr>
        <p:txBody>
          <a:bodyPr vert="horz" wrap="square" lIns="91440" tIns="45720" rIns="91440" bIns="45720" rtlCol="0" anchor="ctr">
            <a:noAutofit/>
          </a:bodyPr>
          <a:lstStyle/>
          <a:p>
            <a:pPr algn="ctr"/>
            <a:r>
              <a:rPr lang="en-IN" sz="800" i="1" dirty="0" err="1" smtClean="0"/>
              <a:t>HiTec</a:t>
            </a:r>
            <a:r>
              <a:rPr lang="en-IN" sz="800" i="1" dirty="0" smtClean="0"/>
              <a:t> City</a:t>
            </a:r>
          </a:p>
        </p:txBody>
      </p:sp>
      <p:sp>
        <p:nvSpPr>
          <p:cNvPr id="86" name="TextBox 85"/>
          <p:cNvSpPr txBox="1"/>
          <p:nvPr/>
        </p:nvSpPr>
        <p:spPr bwMode="gray">
          <a:xfrm>
            <a:off x="5351757" y="1998827"/>
            <a:ext cx="1039091" cy="138546"/>
          </a:xfrm>
          <a:prstGeom prst="rect">
            <a:avLst/>
          </a:prstGeom>
        </p:spPr>
        <p:txBody>
          <a:bodyPr vert="horz" wrap="square" lIns="91440" tIns="45720" rIns="91440" bIns="45720" rtlCol="0" anchor="ctr">
            <a:noAutofit/>
          </a:bodyPr>
          <a:lstStyle/>
          <a:p>
            <a:pPr algn="ctr"/>
            <a:r>
              <a:rPr lang="en-IN" sz="800" i="1" dirty="0" err="1" smtClean="0"/>
              <a:t>Hakimpet</a:t>
            </a:r>
            <a:endParaRPr lang="en-IN" sz="800" i="1" dirty="0" smtClean="0"/>
          </a:p>
        </p:txBody>
      </p:sp>
      <p:sp>
        <p:nvSpPr>
          <p:cNvPr id="87" name="TextBox 86"/>
          <p:cNvSpPr txBox="1"/>
          <p:nvPr/>
        </p:nvSpPr>
        <p:spPr bwMode="gray">
          <a:xfrm>
            <a:off x="747102" y="3351659"/>
            <a:ext cx="1039091" cy="138546"/>
          </a:xfrm>
          <a:prstGeom prst="rect">
            <a:avLst/>
          </a:prstGeom>
        </p:spPr>
        <p:txBody>
          <a:bodyPr vert="horz" wrap="square" lIns="91440" tIns="45720" rIns="91440" bIns="45720" rtlCol="0" anchor="ctr">
            <a:noAutofit/>
          </a:bodyPr>
          <a:lstStyle/>
          <a:p>
            <a:pPr algn="ctr"/>
            <a:r>
              <a:rPr lang="en-IN" sz="800" i="1" dirty="0" err="1" smtClean="0"/>
              <a:t>Gachibowli</a:t>
            </a:r>
            <a:endParaRPr lang="en-IN" sz="800" i="1" dirty="0" smtClean="0"/>
          </a:p>
        </p:txBody>
      </p:sp>
      <p:sp>
        <p:nvSpPr>
          <p:cNvPr id="88" name="TextBox 87"/>
          <p:cNvSpPr txBox="1"/>
          <p:nvPr/>
        </p:nvSpPr>
        <p:spPr bwMode="gray">
          <a:xfrm>
            <a:off x="461619" y="3594212"/>
            <a:ext cx="1039091" cy="138546"/>
          </a:xfrm>
          <a:prstGeom prst="rect">
            <a:avLst/>
          </a:prstGeom>
        </p:spPr>
        <p:txBody>
          <a:bodyPr vert="horz" wrap="square" lIns="91440" tIns="45720" rIns="91440" bIns="45720" rtlCol="0" anchor="ctr">
            <a:noAutofit/>
          </a:bodyPr>
          <a:lstStyle/>
          <a:p>
            <a:pPr algn="ctr"/>
            <a:r>
              <a:rPr lang="en-IN" sz="800" i="1" dirty="0" err="1" smtClean="0"/>
              <a:t>Madniguda</a:t>
            </a:r>
            <a:endParaRPr lang="en-IN" sz="800" i="1" dirty="0" smtClean="0"/>
          </a:p>
        </p:txBody>
      </p:sp>
      <p:sp>
        <p:nvSpPr>
          <p:cNvPr id="89" name="TextBox 88"/>
          <p:cNvSpPr txBox="1"/>
          <p:nvPr/>
        </p:nvSpPr>
        <p:spPr bwMode="gray">
          <a:xfrm>
            <a:off x="4400983" y="3405630"/>
            <a:ext cx="1039091" cy="138546"/>
          </a:xfrm>
          <a:prstGeom prst="rect">
            <a:avLst/>
          </a:prstGeom>
        </p:spPr>
        <p:txBody>
          <a:bodyPr vert="horz" wrap="square" lIns="91440" tIns="45720" rIns="91440" bIns="45720" rtlCol="0" anchor="ctr">
            <a:noAutofit/>
          </a:bodyPr>
          <a:lstStyle/>
          <a:p>
            <a:pPr algn="ctr"/>
            <a:r>
              <a:rPr lang="en-IN" sz="800" i="1" dirty="0" smtClean="0"/>
              <a:t>M G Road</a:t>
            </a:r>
          </a:p>
        </p:txBody>
      </p:sp>
      <p:sp>
        <p:nvSpPr>
          <p:cNvPr id="90" name="TextBox 89"/>
          <p:cNvSpPr txBox="1"/>
          <p:nvPr/>
        </p:nvSpPr>
        <p:spPr bwMode="gray">
          <a:xfrm>
            <a:off x="3097760" y="3303627"/>
            <a:ext cx="1039091" cy="138546"/>
          </a:xfrm>
          <a:prstGeom prst="rect">
            <a:avLst/>
          </a:prstGeom>
        </p:spPr>
        <p:txBody>
          <a:bodyPr vert="horz" wrap="square" lIns="91440" tIns="45720" rIns="91440" bIns="45720" rtlCol="0" anchor="ctr">
            <a:noAutofit/>
          </a:bodyPr>
          <a:lstStyle/>
          <a:p>
            <a:pPr algn="ctr"/>
            <a:r>
              <a:rPr lang="en-IN" sz="800" i="1" dirty="0" err="1" smtClean="0"/>
              <a:t>Panjagutta</a:t>
            </a:r>
            <a:endParaRPr lang="en-IN" sz="800" i="1" dirty="0" smtClean="0"/>
          </a:p>
        </p:txBody>
      </p:sp>
      <p:sp>
        <p:nvSpPr>
          <p:cNvPr id="91" name="TextBox 90"/>
          <p:cNvSpPr txBox="1"/>
          <p:nvPr/>
        </p:nvSpPr>
        <p:spPr bwMode="gray">
          <a:xfrm>
            <a:off x="2078570" y="2666536"/>
            <a:ext cx="1039091" cy="138546"/>
          </a:xfrm>
          <a:prstGeom prst="rect">
            <a:avLst/>
          </a:prstGeom>
        </p:spPr>
        <p:txBody>
          <a:bodyPr vert="horz" wrap="square" lIns="91440" tIns="45720" rIns="91440" bIns="45720" rtlCol="0" anchor="ctr">
            <a:noAutofit/>
          </a:bodyPr>
          <a:lstStyle/>
          <a:p>
            <a:pPr algn="ctr"/>
            <a:r>
              <a:rPr lang="en-IN" sz="800" i="1" dirty="0" err="1"/>
              <a:t>KpHB</a:t>
            </a:r>
            <a:r>
              <a:rPr lang="en-IN" sz="800" i="1" dirty="0"/>
              <a:t> Colony</a:t>
            </a:r>
            <a:endParaRPr lang="en-IN" sz="800" i="1" dirty="0" smtClean="0"/>
          </a:p>
        </p:txBody>
      </p:sp>
      <p:sp>
        <p:nvSpPr>
          <p:cNvPr id="92" name="TextBox 91"/>
          <p:cNvSpPr txBox="1"/>
          <p:nvPr/>
        </p:nvSpPr>
        <p:spPr bwMode="gray">
          <a:xfrm>
            <a:off x="3604533" y="4624316"/>
            <a:ext cx="1039091" cy="138546"/>
          </a:xfrm>
          <a:prstGeom prst="rect">
            <a:avLst/>
          </a:prstGeom>
        </p:spPr>
        <p:txBody>
          <a:bodyPr vert="horz" wrap="square" lIns="91440" tIns="45720" rIns="91440" bIns="45720" rtlCol="0" anchor="ctr">
            <a:noAutofit/>
          </a:bodyPr>
          <a:lstStyle/>
          <a:p>
            <a:pPr algn="ctr"/>
            <a:r>
              <a:rPr lang="en-IN" sz="800" i="1" dirty="0" err="1" smtClean="0"/>
              <a:t>Abids</a:t>
            </a:r>
            <a:endParaRPr lang="en-IN" sz="800" i="1" dirty="0" smtClean="0"/>
          </a:p>
        </p:txBody>
      </p:sp>
      <p:sp>
        <p:nvSpPr>
          <p:cNvPr id="93" name="TextBox 92"/>
          <p:cNvSpPr txBox="1"/>
          <p:nvPr/>
        </p:nvSpPr>
        <p:spPr bwMode="gray">
          <a:xfrm>
            <a:off x="3051473" y="4315800"/>
            <a:ext cx="1039091" cy="138546"/>
          </a:xfrm>
          <a:prstGeom prst="rect">
            <a:avLst/>
          </a:prstGeom>
        </p:spPr>
        <p:txBody>
          <a:bodyPr vert="horz" wrap="square" lIns="91440" tIns="45720" rIns="91440" bIns="45720" rtlCol="0" anchor="ctr">
            <a:noAutofit/>
          </a:bodyPr>
          <a:lstStyle/>
          <a:p>
            <a:pPr algn="ctr"/>
            <a:r>
              <a:rPr lang="en-IN" sz="800" i="1" dirty="0" err="1" smtClean="0"/>
              <a:t>Lakdi-ka-Pul</a:t>
            </a:r>
            <a:endParaRPr lang="en-IN" sz="800" i="1" dirty="0" smtClean="0"/>
          </a:p>
        </p:txBody>
      </p:sp>
      <p:sp>
        <p:nvSpPr>
          <p:cNvPr id="95" name="TextBox 94"/>
          <p:cNvSpPr txBox="1"/>
          <p:nvPr/>
        </p:nvSpPr>
        <p:spPr bwMode="gray">
          <a:xfrm>
            <a:off x="5300240" y="5199738"/>
            <a:ext cx="1039091" cy="138546"/>
          </a:xfrm>
          <a:prstGeom prst="rect">
            <a:avLst/>
          </a:prstGeom>
        </p:spPr>
        <p:txBody>
          <a:bodyPr vert="horz" wrap="square" lIns="91440" tIns="45720" rIns="91440" bIns="45720" rtlCol="0" anchor="ctr">
            <a:noAutofit/>
          </a:bodyPr>
          <a:lstStyle/>
          <a:p>
            <a:pPr algn="ctr"/>
            <a:r>
              <a:rPr lang="en-IN" sz="800" i="1" dirty="0" err="1" smtClean="0"/>
              <a:t>Malkapet</a:t>
            </a:r>
            <a:endParaRPr lang="en-IN" sz="800" i="1" dirty="0" smtClean="0"/>
          </a:p>
        </p:txBody>
      </p:sp>
      <p:sp>
        <p:nvSpPr>
          <p:cNvPr id="96" name="TextBox 95"/>
          <p:cNvSpPr txBox="1"/>
          <p:nvPr/>
        </p:nvSpPr>
        <p:spPr bwMode="gray">
          <a:xfrm>
            <a:off x="5300239" y="4885781"/>
            <a:ext cx="1039091" cy="138546"/>
          </a:xfrm>
          <a:prstGeom prst="rect">
            <a:avLst/>
          </a:prstGeom>
        </p:spPr>
        <p:txBody>
          <a:bodyPr vert="horz" wrap="square" lIns="91440" tIns="45720" rIns="91440" bIns="45720" rtlCol="0" anchor="ctr">
            <a:noAutofit/>
          </a:bodyPr>
          <a:lstStyle/>
          <a:p>
            <a:pPr algn="ctr"/>
            <a:r>
              <a:rPr lang="en-IN" sz="800" i="1" dirty="0" err="1" smtClean="0"/>
              <a:t>Dilkushnagar</a:t>
            </a:r>
            <a:endParaRPr lang="en-IN" sz="800" i="1" dirty="0" smtClean="0"/>
          </a:p>
        </p:txBody>
      </p:sp>
      <p:sp>
        <p:nvSpPr>
          <p:cNvPr id="97" name="TextBox 96"/>
          <p:cNvSpPr txBox="1"/>
          <p:nvPr/>
        </p:nvSpPr>
        <p:spPr bwMode="gray">
          <a:xfrm>
            <a:off x="6650797" y="4960673"/>
            <a:ext cx="1039091" cy="138546"/>
          </a:xfrm>
          <a:prstGeom prst="rect">
            <a:avLst/>
          </a:prstGeom>
        </p:spPr>
        <p:txBody>
          <a:bodyPr vert="horz" wrap="square" lIns="91440" tIns="45720" rIns="91440" bIns="45720" rtlCol="0" anchor="ctr">
            <a:noAutofit/>
          </a:bodyPr>
          <a:lstStyle/>
          <a:p>
            <a:pPr algn="ctr"/>
            <a:r>
              <a:rPr lang="en-IN" sz="800" i="1" dirty="0" err="1" smtClean="0"/>
              <a:t>Kothapete</a:t>
            </a:r>
            <a:endParaRPr lang="en-IN" sz="800" i="1" dirty="0" smtClean="0"/>
          </a:p>
        </p:txBody>
      </p:sp>
      <p:sp>
        <p:nvSpPr>
          <p:cNvPr id="98" name="TextBox 97"/>
          <p:cNvSpPr txBox="1"/>
          <p:nvPr/>
        </p:nvSpPr>
        <p:spPr bwMode="gray">
          <a:xfrm>
            <a:off x="1290810" y="2664388"/>
            <a:ext cx="1039091" cy="138546"/>
          </a:xfrm>
          <a:prstGeom prst="rect">
            <a:avLst/>
          </a:prstGeom>
        </p:spPr>
        <p:txBody>
          <a:bodyPr vert="horz" wrap="square" lIns="91440" tIns="45720" rIns="91440" bIns="45720" rtlCol="0" anchor="ctr">
            <a:noAutofit/>
          </a:bodyPr>
          <a:lstStyle/>
          <a:p>
            <a:pPr algn="ctr"/>
            <a:r>
              <a:rPr lang="en-IN" sz="800" i="1" dirty="0" err="1" smtClean="0"/>
              <a:t>Madinaguda</a:t>
            </a:r>
            <a:endParaRPr lang="en-IN" sz="800" i="1" dirty="0" smtClean="0"/>
          </a:p>
        </p:txBody>
      </p:sp>
      <p:sp>
        <p:nvSpPr>
          <p:cNvPr id="99" name="TextBox 98"/>
          <p:cNvSpPr txBox="1"/>
          <p:nvPr/>
        </p:nvSpPr>
        <p:spPr bwMode="gray">
          <a:xfrm>
            <a:off x="5349609" y="1803494"/>
            <a:ext cx="1039091" cy="138546"/>
          </a:xfrm>
          <a:prstGeom prst="rect">
            <a:avLst/>
          </a:prstGeom>
        </p:spPr>
        <p:txBody>
          <a:bodyPr vert="horz" wrap="square" lIns="91440" tIns="45720" rIns="91440" bIns="45720" rtlCol="0" anchor="ctr">
            <a:noAutofit/>
          </a:bodyPr>
          <a:lstStyle/>
          <a:p>
            <a:pPr algn="ctr"/>
            <a:r>
              <a:rPr lang="en-IN" sz="800" i="1" dirty="0" err="1" smtClean="0"/>
              <a:t>Kompally</a:t>
            </a:r>
            <a:endParaRPr lang="en-IN" sz="800" i="1" dirty="0" smtClean="0"/>
          </a:p>
        </p:txBody>
      </p:sp>
      <p:sp>
        <p:nvSpPr>
          <p:cNvPr id="100" name="TextBox 99"/>
          <p:cNvSpPr txBox="1"/>
          <p:nvPr/>
        </p:nvSpPr>
        <p:spPr bwMode="gray">
          <a:xfrm>
            <a:off x="5285213" y="4108467"/>
            <a:ext cx="1039091" cy="138546"/>
          </a:xfrm>
          <a:prstGeom prst="rect">
            <a:avLst/>
          </a:prstGeom>
        </p:spPr>
        <p:txBody>
          <a:bodyPr vert="horz" wrap="square" lIns="91440" tIns="45720" rIns="91440" bIns="45720" rtlCol="0" anchor="ctr">
            <a:noAutofit/>
          </a:bodyPr>
          <a:lstStyle/>
          <a:p>
            <a:pPr algn="ctr"/>
            <a:r>
              <a:rPr lang="en-IN" sz="800" i="1" dirty="0" err="1" smtClean="0"/>
              <a:t>Chikkadpally</a:t>
            </a:r>
            <a:endParaRPr lang="en-IN" sz="800" i="1" dirty="0" smtClean="0"/>
          </a:p>
        </p:txBody>
      </p:sp>
      <p:sp>
        <p:nvSpPr>
          <p:cNvPr id="101" name="TextBox 100"/>
          <p:cNvSpPr txBox="1"/>
          <p:nvPr/>
        </p:nvSpPr>
        <p:spPr bwMode="gray">
          <a:xfrm>
            <a:off x="1305073" y="3310781"/>
            <a:ext cx="1039091" cy="138546"/>
          </a:xfrm>
          <a:prstGeom prst="rect">
            <a:avLst/>
          </a:prstGeom>
        </p:spPr>
        <p:txBody>
          <a:bodyPr vert="horz" wrap="square" lIns="91440" tIns="45720" rIns="91440" bIns="45720" rtlCol="0" anchor="ctr">
            <a:noAutofit/>
          </a:bodyPr>
          <a:lstStyle/>
          <a:p>
            <a:pPr algn="ctr"/>
            <a:r>
              <a:rPr lang="en-IN" sz="800" i="1" dirty="0" err="1" smtClean="0"/>
              <a:t>Kondapur</a:t>
            </a:r>
            <a:endParaRPr lang="en-IN" sz="800" i="1" dirty="0" smtClean="0"/>
          </a:p>
        </p:txBody>
      </p:sp>
      <p:sp>
        <p:nvSpPr>
          <p:cNvPr id="102" name="TextBox 101"/>
          <p:cNvSpPr txBox="1"/>
          <p:nvPr/>
        </p:nvSpPr>
        <p:spPr bwMode="gray">
          <a:xfrm>
            <a:off x="6171120" y="4129580"/>
            <a:ext cx="1039091" cy="138546"/>
          </a:xfrm>
          <a:prstGeom prst="rect">
            <a:avLst/>
          </a:prstGeom>
        </p:spPr>
        <p:txBody>
          <a:bodyPr vert="horz" wrap="square" lIns="91440" tIns="45720" rIns="91440" bIns="45720" rtlCol="0" anchor="ctr">
            <a:noAutofit/>
          </a:bodyPr>
          <a:lstStyle/>
          <a:p>
            <a:pPr algn="ctr"/>
            <a:r>
              <a:rPr lang="en-IN" sz="800" i="1" dirty="0" err="1" smtClean="0"/>
              <a:t>Nallakunta</a:t>
            </a:r>
            <a:endParaRPr lang="en-IN" sz="800" i="1" dirty="0" smtClean="0"/>
          </a:p>
        </p:txBody>
      </p:sp>
      <p:sp>
        <p:nvSpPr>
          <p:cNvPr id="103" name="TextBox 102"/>
          <p:cNvSpPr txBox="1"/>
          <p:nvPr/>
        </p:nvSpPr>
        <p:spPr bwMode="gray">
          <a:xfrm>
            <a:off x="7047898" y="5293379"/>
            <a:ext cx="1039091" cy="138546"/>
          </a:xfrm>
          <a:prstGeom prst="rect">
            <a:avLst/>
          </a:prstGeom>
        </p:spPr>
        <p:txBody>
          <a:bodyPr vert="horz" wrap="square" lIns="91440" tIns="45720" rIns="91440" bIns="45720" rtlCol="0" anchor="ctr">
            <a:noAutofit/>
          </a:bodyPr>
          <a:lstStyle/>
          <a:p>
            <a:pPr algn="ctr"/>
            <a:r>
              <a:rPr lang="en-IN" sz="800" i="1" dirty="0" err="1" smtClean="0"/>
              <a:t>Alkapuri</a:t>
            </a:r>
            <a:endParaRPr lang="en-IN" sz="800" i="1" dirty="0" smtClean="0"/>
          </a:p>
        </p:txBody>
      </p:sp>
      <p:sp>
        <p:nvSpPr>
          <p:cNvPr id="104" name="TextBox 103"/>
          <p:cNvSpPr txBox="1"/>
          <p:nvPr/>
        </p:nvSpPr>
        <p:spPr bwMode="gray">
          <a:xfrm>
            <a:off x="4454635" y="4637005"/>
            <a:ext cx="1039091" cy="138546"/>
          </a:xfrm>
          <a:prstGeom prst="rect">
            <a:avLst/>
          </a:prstGeom>
        </p:spPr>
        <p:txBody>
          <a:bodyPr vert="horz" wrap="square" lIns="91440" tIns="45720" rIns="91440" bIns="45720" rtlCol="0" anchor="ctr">
            <a:noAutofit/>
          </a:bodyPr>
          <a:lstStyle/>
          <a:p>
            <a:pPr algn="ctr"/>
            <a:r>
              <a:rPr lang="en-IN" sz="800" i="1" dirty="0" err="1" smtClean="0"/>
              <a:t>Koti</a:t>
            </a:r>
            <a:endParaRPr lang="en-IN" sz="800" i="1" dirty="0" smtClean="0"/>
          </a:p>
        </p:txBody>
      </p:sp>
      <p:sp>
        <p:nvSpPr>
          <p:cNvPr id="105" name="Oval 104"/>
          <p:cNvSpPr/>
          <p:nvPr/>
        </p:nvSpPr>
        <p:spPr>
          <a:xfrm>
            <a:off x="5707287" y="4540875"/>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6" name="Oval 105"/>
          <p:cNvSpPr/>
          <p:nvPr/>
        </p:nvSpPr>
        <p:spPr>
          <a:xfrm>
            <a:off x="6465062" y="4333057"/>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7" name="Oval 106"/>
          <p:cNvSpPr/>
          <p:nvPr/>
        </p:nvSpPr>
        <p:spPr>
          <a:xfrm>
            <a:off x="6475793" y="5103643"/>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8" name="Oval 107"/>
          <p:cNvSpPr/>
          <p:nvPr/>
        </p:nvSpPr>
        <p:spPr>
          <a:xfrm>
            <a:off x="2791411" y="3829812"/>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9" name="Oval 108"/>
          <p:cNvSpPr/>
          <p:nvPr/>
        </p:nvSpPr>
        <p:spPr>
          <a:xfrm>
            <a:off x="4850200" y="3512907"/>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0" name="Oval 109"/>
          <p:cNvSpPr/>
          <p:nvPr/>
        </p:nvSpPr>
        <p:spPr>
          <a:xfrm>
            <a:off x="2120085" y="4847642"/>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1" name="Oval 110"/>
          <p:cNvSpPr/>
          <p:nvPr/>
        </p:nvSpPr>
        <p:spPr>
          <a:xfrm>
            <a:off x="4020995" y="3495974"/>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 name="Oval 111"/>
          <p:cNvSpPr/>
          <p:nvPr/>
        </p:nvSpPr>
        <p:spPr>
          <a:xfrm>
            <a:off x="4849582" y="2881367"/>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3" name="Oval 112"/>
          <p:cNvSpPr/>
          <p:nvPr/>
        </p:nvSpPr>
        <p:spPr>
          <a:xfrm>
            <a:off x="7750015" y="3544176"/>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4" name="Oval 113"/>
          <p:cNvSpPr/>
          <p:nvPr/>
        </p:nvSpPr>
        <p:spPr>
          <a:xfrm>
            <a:off x="2496498" y="4330171"/>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5" name="Oval 114"/>
          <p:cNvSpPr/>
          <p:nvPr/>
        </p:nvSpPr>
        <p:spPr>
          <a:xfrm>
            <a:off x="7813329" y="4549293"/>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6" name="TextBox 115"/>
          <p:cNvSpPr txBox="1"/>
          <p:nvPr/>
        </p:nvSpPr>
        <p:spPr bwMode="gray">
          <a:xfrm>
            <a:off x="6475793" y="5997750"/>
            <a:ext cx="1039091" cy="138546"/>
          </a:xfrm>
          <a:prstGeom prst="rect">
            <a:avLst/>
          </a:prstGeom>
        </p:spPr>
        <p:txBody>
          <a:bodyPr vert="horz" wrap="square" lIns="91440" tIns="45720" rIns="91440" bIns="45720" rtlCol="0" anchor="ctr">
            <a:noAutofit/>
          </a:bodyPr>
          <a:lstStyle/>
          <a:p>
            <a:pPr algn="ctr"/>
            <a:r>
              <a:rPr lang="en-IN" sz="800" i="1" dirty="0" err="1" smtClean="0"/>
              <a:t>Hastinapuram</a:t>
            </a:r>
            <a:endParaRPr lang="en-IN" sz="800" i="1" dirty="0" smtClean="0"/>
          </a:p>
        </p:txBody>
      </p:sp>
      <p:sp>
        <p:nvSpPr>
          <p:cNvPr id="117" name="Oval 116"/>
          <p:cNvSpPr/>
          <p:nvPr/>
        </p:nvSpPr>
        <p:spPr>
          <a:xfrm>
            <a:off x="2570323" y="3827664"/>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8" name="Oval 117"/>
          <p:cNvSpPr/>
          <p:nvPr/>
        </p:nvSpPr>
        <p:spPr>
          <a:xfrm>
            <a:off x="7117594" y="6157562"/>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9" name="Oval 118"/>
          <p:cNvSpPr/>
          <p:nvPr/>
        </p:nvSpPr>
        <p:spPr>
          <a:xfrm>
            <a:off x="7421365" y="6004180"/>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0" name="Oval 119"/>
          <p:cNvSpPr/>
          <p:nvPr/>
        </p:nvSpPr>
        <p:spPr>
          <a:xfrm>
            <a:off x="7747867" y="3374601"/>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1" name="Oval 120"/>
          <p:cNvSpPr/>
          <p:nvPr/>
        </p:nvSpPr>
        <p:spPr>
          <a:xfrm>
            <a:off x="1513643" y="3541114"/>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2" name="Oval 121"/>
          <p:cNvSpPr/>
          <p:nvPr/>
        </p:nvSpPr>
        <p:spPr>
          <a:xfrm>
            <a:off x="5400207" y="2009460"/>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4" name="Oval 123"/>
          <p:cNvSpPr/>
          <p:nvPr/>
        </p:nvSpPr>
        <p:spPr>
          <a:xfrm>
            <a:off x="7841385" y="2627185"/>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6" name="Oval 125"/>
          <p:cNvSpPr/>
          <p:nvPr/>
        </p:nvSpPr>
        <p:spPr>
          <a:xfrm>
            <a:off x="3089557" y="2376487"/>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7" name="Oval 126"/>
          <p:cNvSpPr/>
          <p:nvPr/>
        </p:nvSpPr>
        <p:spPr>
          <a:xfrm>
            <a:off x="1241036" y="3461692"/>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8" name="Oval 127"/>
          <p:cNvSpPr/>
          <p:nvPr/>
        </p:nvSpPr>
        <p:spPr>
          <a:xfrm>
            <a:off x="1045704" y="3472423"/>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9" name="Oval 128"/>
          <p:cNvSpPr/>
          <p:nvPr/>
        </p:nvSpPr>
        <p:spPr>
          <a:xfrm>
            <a:off x="2939559" y="2365347"/>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0" name="Oval 129"/>
          <p:cNvSpPr/>
          <p:nvPr/>
        </p:nvSpPr>
        <p:spPr>
          <a:xfrm>
            <a:off x="6948019" y="6155414"/>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3" name="TextBox 122"/>
          <p:cNvSpPr txBox="1"/>
          <p:nvPr/>
        </p:nvSpPr>
        <p:spPr bwMode="gray">
          <a:xfrm>
            <a:off x="238032" y="3040789"/>
            <a:ext cx="1039091" cy="138546"/>
          </a:xfrm>
          <a:prstGeom prst="rect">
            <a:avLst/>
          </a:prstGeom>
        </p:spPr>
        <p:txBody>
          <a:bodyPr vert="horz" wrap="square" lIns="91440" tIns="45720" rIns="91440" bIns="45720" rtlCol="0" anchor="ctr">
            <a:noAutofit/>
          </a:bodyPr>
          <a:lstStyle/>
          <a:p>
            <a:pPr algn="ctr"/>
            <a:r>
              <a:rPr lang="en-IN" sz="800" i="1" dirty="0" err="1" smtClean="0"/>
              <a:t>Nallagandla</a:t>
            </a:r>
            <a:endParaRPr lang="en-IN" sz="800" i="1" dirty="0" smtClean="0"/>
          </a:p>
        </p:txBody>
      </p:sp>
      <p:sp>
        <p:nvSpPr>
          <p:cNvPr id="125" name="TextBox 124"/>
          <p:cNvSpPr txBox="1"/>
          <p:nvPr/>
        </p:nvSpPr>
        <p:spPr bwMode="gray">
          <a:xfrm>
            <a:off x="713195" y="2822286"/>
            <a:ext cx="1039091" cy="138546"/>
          </a:xfrm>
          <a:prstGeom prst="rect">
            <a:avLst/>
          </a:prstGeom>
        </p:spPr>
        <p:txBody>
          <a:bodyPr vert="horz" wrap="square" lIns="91440" tIns="45720" rIns="91440" bIns="45720" rtlCol="0" anchor="ctr">
            <a:noAutofit/>
          </a:bodyPr>
          <a:lstStyle/>
          <a:p>
            <a:pPr algn="ctr"/>
            <a:r>
              <a:rPr lang="en-IN" sz="800" i="1" dirty="0" smtClean="0"/>
              <a:t>CUC</a:t>
            </a:r>
          </a:p>
        </p:txBody>
      </p:sp>
      <p:sp>
        <p:nvSpPr>
          <p:cNvPr id="131" name="TextBox 130"/>
          <p:cNvSpPr txBox="1"/>
          <p:nvPr/>
        </p:nvSpPr>
        <p:spPr bwMode="gray">
          <a:xfrm>
            <a:off x="1644444" y="3130915"/>
            <a:ext cx="1039091" cy="138546"/>
          </a:xfrm>
          <a:prstGeom prst="rect">
            <a:avLst/>
          </a:prstGeom>
        </p:spPr>
        <p:txBody>
          <a:bodyPr vert="horz" wrap="square" lIns="91440" tIns="45720" rIns="91440" bIns="45720" rtlCol="0" anchor="ctr">
            <a:noAutofit/>
          </a:bodyPr>
          <a:lstStyle/>
          <a:p>
            <a:pPr algn="ctr"/>
            <a:r>
              <a:rPr lang="en-IN" sz="800" i="1" dirty="0" err="1" smtClean="0"/>
              <a:t>Kothaguda</a:t>
            </a:r>
            <a:endParaRPr lang="en-IN" sz="800" i="1" dirty="0" smtClean="0"/>
          </a:p>
        </p:txBody>
      </p:sp>
      <p:sp>
        <p:nvSpPr>
          <p:cNvPr id="132" name="TextBox 131"/>
          <p:cNvSpPr txBox="1"/>
          <p:nvPr/>
        </p:nvSpPr>
        <p:spPr bwMode="gray">
          <a:xfrm>
            <a:off x="1873946" y="3529488"/>
            <a:ext cx="1039091" cy="138546"/>
          </a:xfrm>
          <a:prstGeom prst="rect">
            <a:avLst/>
          </a:prstGeom>
        </p:spPr>
        <p:txBody>
          <a:bodyPr vert="horz" wrap="square" lIns="91440" tIns="45720" rIns="91440" bIns="45720" rtlCol="0" anchor="ctr">
            <a:noAutofit/>
          </a:bodyPr>
          <a:lstStyle/>
          <a:p>
            <a:pPr algn="ctr"/>
            <a:r>
              <a:rPr lang="en-IN" sz="800" i="1" dirty="0" err="1" smtClean="0"/>
              <a:t>Jawahar</a:t>
            </a:r>
            <a:r>
              <a:rPr lang="en-IN" sz="800" i="1" dirty="0" smtClean="0"/>
              <a:t> Nagar</a:t>
            </a:r>
          </a:p>
        </p:txBody>
      </p:sp>
      <p:sp>
        <p:nvSpPr>
          <p:cNvPr id="133" name="TextBox 132"/>
          <p:cNvSpPr txBox="1"/>
          <p:nvPr/>
        </p:nvSpPr>
        <p:spPr bwMode="gray">
          <a:xfrm>
            <a:off x="244738" y="4513650"/>
            <a:ext cx="1039091" cy="138546"/>
          </a:xfrm>
          <a:prstGeom prst="rect">
            <a:avLst/>
          </a:prstGeom>
        </p:spPr>
        <p:txBody>
          <a:bodyPr vert="horz" wrap="square" lIns="91440" tIns="45720" rIns="91440" bIns="45720" rtlCol="0" anchor="ctr">
            <a:noAutofit/>
          </a:bodyPr>
          <a:lstStyle/>
          <a:p>
            <a:pPr algn="ctr"/>
            <a:r>
              <a:rPr lang="en-IN" sz="800" i="1" dirty="0" smtClean="0"/>
              <a:t>Osman Nagar</a:t>
            </a:r>
          </a:p>
        </p:txBody>
      </p:sp>
      <p:sp>
        <p:nvSpPr>
          <p:cNvPr id="134" name="TextBox 133"/>
          <p:cNvSpPr txBox="1"/>
          <p:nvPr/>
        </p:nvSpPr>
        <p:spPr bwMode="gray">
          <a:xfrm>
            <a:off x="563453" y="4222913"/>
            <a:ext cx="1039091" cy="138546"/>
          </a:xfrm>
          <a:prstGeom prst="rect">
            <a:avLst/>
          </a:prstGeom>
        </p:spPr>
        <p:txBody>
          <a:bodyPr vert="horz" wrap="square" lIns="91440" tIns="45720" rIns="91440" bIns="45720" rtlCol="0" anchor="ctr">
            <a:noAutofit/>
          </a:bodyPr>
          <a:lstStyle/>
          <a:p>
            <a:pPr algn="ctr"/>
            <a:r>
              <a:rPr lang="en-IN" sz="800" i="1" dirty="0" err="1" smtClean="0"/>
              <a:t>Manikonda</a:t>
            </a:r>
            <a:endParaRPr lang="en-IN" sz="800" i="1" dirty="0" smtClean="0"/>
          </a:p>
        </p:txBody>
      </p:sp>
      <p:sp>
        <p:nvSpPr>
          <p:cNvPr id="135" name="TextBox 134"/>
          <p:cNvSpPr txBox="1"/>
          <p:nvPr/>
        </p:nvSpPr>
        <p:spPr bwMode="gray">
          <a:xfrm>
            <a:off x="660035" y="4788807"/>
            <a:ext cx="1039091" cy="138546"/>
          </a:xfrm>
          <a:prstGeom prst="rect">
            <a:avLst/>
          </a:prstGeom>
        </p:spPr>
        <p:txBody>
          <a:bodyPr vert="horz" wrap="square" lIns="91440" tIns="45720" rIns="91440" bIns="45720" rtlCol="0" anchor="ctr">
            <a:noAutofit/>
          </a:bodyPr>
          <a:lstStyle/>
          <a:p>
            <a:pPr algn="ctr"/>
            <a:r>
              <a:rPr lang="en-IN" sz="800" i="1" dirty="0" smtClean="0"/>
              <a:t>Army Golf Course</a:t>
            </a:r>
          </a:p>
        </p:txBody>
      </p:sp>
      <p:sp>
        <p:nvSpPr>
          <p:cNvPr id="136" name="TextBox 135"/>
          <p:cNvSpPr txBox="1"/>
          <p:nvPr/>
        </p:nvSpPr>
        <p:spPr bwMode="gray">
          <a:xfrm>
            <a:off x="469936" y="5533442"/>
            <a:ext cx="1039091" cy="138546"/>
          </a:xfrm>
          <a:prstGeom prst="rect">
            <a:avLst/>
          </a:prstGeom>
        </p:spPr>
        <p:txBody>
          <a:bodyPr vert="horz" wrap="square" lIns="91440" tIns="45720" rIns="91440" bIns="45720" rtlCol="0" anchor="ctr">
            <a:noAutofit/>
          </a:bodyPr>
          <a:lstStyle/>
          <a:p>
            <a:pPr algn="ctr"/>
            <a:r>
              <a:rPr lang="en-IN" sz="800" i="1" dirty="0" err="1" smtClean="0"/>
              <a:t>Himayathsagar</a:t>
            </a:r>
            <a:endParaRPr lang="en-IN" sz="800" i="1" dirty="0" smtClean="0"/>
          </a:p>
        </p:txBody>
      </p:sp>
      <p:sp>
        <p:nvSpPr>
          <p:cNvPr id="137" name="TextBox 136"/>
          <p:cNvSpPr txBox="1"/>
          <p:nvPr/>
        </p:nvSpPr>
        <p:spPr bwMode="gray">
          <a:xfrm>
            <a:off x="1034239" y="5271974"/>
            <a:ext cx="1039091" cy="138546"/>
          </a:xfrm>
          <a:prstGeom prst="rect">
            <a:avLst/>
          </a:prstGeom>
        </p:spPr>
        <p:txBody>
          <a:bodyPr vert="horz" wrap="square" lIns="91440" tIns="45720" rIns="91440" bIns="45720" rtlCol="0" anchor="ctr">
            <a:noAutofit/>
          </a:bodyPr>
          <a:lstStyle/>
          <a:p>
            <a:pPr algn="ctr"/>
            <a:r>
              <a:rPr lang="en-IN" sz="800" i="1" dirty="0" err="1" smtClean="0"/>
              <a:t>Bandlaguda</a:t>
            </a:r>
            <a:endParaRPr lang="en-IN" sz="800" i="1" dirty="0" smtClean="0"/>
          </a:p>
        </p:txBody>
      </p:sp>
      <p:sp>
        <p:nvSpPr>
          <p:cNvPr id="138" name="TextBox 137"/>
          <p:cNvSpPr txBox="1"/>
          <p:nvPr/>
        </p:nvSpPr>
        <p:spPr bwMode="gray">
          <a:xfrm>
            <a:off x="1589371" y="5421686"/>
            <a:ext cx="1039091" cy="138546"/>
          </a:xfrm>
          <a:prstGeom prst="rect">
            <a:avLst/>
          </a:prstGeom>
        </p:spPr>
        <p:txBody>
          <a:bodyPr vert="horz" wrap="square" lIns="91440" tIns="45720" rIns="91440" bIns="45720" rtlCol="0" anchor="ctr">
            <a:noAutofit/>
          </a:bodyPr>
          <a:lstStyle/>
          <a:p>
            <a:pPr algn="ctr"/>
            <a:r>
              <a:rPr lang="en-IN" sz="800" i="1" dirty="0" err="1" smtClean="0"/>
              <a:t>Padmasri</a:t>
            </a:r>
            <a:r>
              <a:rPr lang="en-IN" sz="800" i="1" dirty="0" smtClean="0"/>
              <a:t> Estates</a:t>
            </a:r>
          </a:p>
        </p:txBody>
      </p:sp>
      <p:sp>
        <p:nvSpPr>
          <p:cNvPr id="139" name="TextBox 138"/>
          <p:cNvSpPr txBox="1"/>
          <p:nvPr/>
        </p:nvSpPr>
        <p:spPr bwMode="gray">
          <a:xfrm>
            <a:off x="1677629" y="5794733"/>
            <a:ext cx="1039091" cy="138546"/>
          </a:xfrm>
          <a:prstGeom prst="rect">
            <a:avLst/>
          </a:prstGeom>
        </p:spPr>
        <p:txBody>
          <a:bodyPr vert="horz" wrap="square" lIns="91440" tIns="45720" rIns="91440" bIns="45720" rtlCol="0" anchor="ctr">
            <a:noAutofit/>
          </a:bodyPr>
          <a:lstStyle/>
          <a:p>
            <a:pPr algn="ctr"/>
            <a:r>
              <a:rPr lang="en-IN" sz="800" i="1" dirty="0" err="1" smtClean="0"/>
              <a:t>Kismatpur</a:t>
            </a:r>
            <a:endParaRPr lang="en-IN" sz="800" i="1" dirty="0" smtClean="0"/>
          </a:p>
        </p:txBody>
      </p:sp>
      <p:sp>
        <p:nvSpPr>
          <p:cNvPr id="140" name="TextBox 139"/>
          <p:cNvSpPr txBox="1"/>
          <p:nvPr/>
        </p:nvSpPr>
        <p:spPr bwMode="gray">
          <a:xfrm>
            <a:off x="2683535" y="5292055"/>
            <a:ext cx="1039091" cy="138546"/>
          </a:xfrm>
          <a:prstGeom prst="rect">
            <a:avLst/>
          </a:prstGeom>
        </p:spPr>
        <p:txBody>
          <a:bodyPr vert="horz" wrap="square" lIns="91440" tIns="45720" rIns="91440" bIns="45720" rtlCol="0" anchor="ctr">
            <a:noAutofit/>
          </a:bodyPr>
          <a:lstStyle/>
          <a:p>
            <a:pPr algn="ctr"/>
            <a:r>
              <a:rPr lang="en-IN" sz="800" i="1" dirty="0" smtClean="0"/>
              <a:t>Nehru Zoological Park</a:t>
            </a:r>
          </a:p>
        </p:txBody>
      </p:sp>
      <p:sp>
        <p:nvSpPr>
          <p:cNvPr id="141" name="TextBox 140"/>
          <p:cNvSpPr txBox="1"/>
          <p:nvPr/>
        </p:nvSpPr>
        <p:spPr bwMode="gray">
          <a:xfrm>
            <a:off x="2835242" y="5730415"/>
            <a:ext cx="1039091" cy="138546"/>
          </a:xfrm>
          <a:prstGeom prst="rect">
            <a:avLst/>
          </a:prstGeom>
        </p:spPr>
        <p:txBody>
          <a:bodyPr vert="horz" wrap="square" lIns="91440" tIns="45720" rIns="91440" bIns="45720" rtlCol="0" anchor="ctr">
            <a:noAutofit/>
          </a:bodyPr>
          <a:lstStyle/>
          <a:p>
            <a:pPr algn="ctr"/>
            <a:r>
              <a:rPr lang="en-IN" sz="800" i="1" dirty="0" err="1" smtClean="0"/>
              <a:t>Sivarampalli</a:t>
            </a:r>
            <a:endParaRPr lang="en-IN" sz="800" i="1" dirty="0" smtClean="0"/>
          </a:p>
        </p:txBody>
      </p:sp>
      <p:sp>
        <p:nvSpPr>
          <p:cNvPr id="142" name="TextBox 141"/>
          <p:cNvSpPr txBox="1"/>
          <p:nvPr/>
        </p:nvSpPr>
        <p:spPr bwMode="gray">
          <a:xfrm>
            <a:off x="2683534" y="6075194"/>
            <a:ext cx="1039091" cy="138546"/>
          </a:xfrm>
          <a:prstGeom prst="rect">
            <a:avLst/>
          </a:prstGeom>
        </p:spPr>
        <p:txBody>
          <a:bodyPr vert="horz" wrap="square" lIns="91440" tIns="45720" rIns="91440" bIns="45720" rtlCol="0" anchor="ctr">
            <a:noAutofit/>
          </a:bodyPr>
          <a:lstStyle/>
          <a:p>
            <a:pPr algn="ctr"/>
            <a:r>
              <a:rPr lang="en-IN" sz="800" i="1" dirty="0" err="1" smtClean="0"/>
              <a:t>Gagan</a:t>
            </a:r>
            <a:r>
              <a:rPr lang="en-IN" sz="800" i="1" dirty="0" smtClean="0"/>
              <a:t> </a:t>
            </a:r>
            <a:r>
              <a:rPr lang="en-IN" sz="800" i="1" dirty="0" err="1" smtClean="0"/>
              <a:t>Pahad</a:t>
            </a:r>
            <a:endParaRPr lang="en-IN" sz="800" i="1" dirty="0" smtClean="0"/>
          </a:p>
        </p:txBody>
      </p:sp>
      <p:sp>
        <p:nvSpPr>
          <p:cNvPr id="143" name="TextBox 142"/>
          <p:cNvSpPr txBox="1"/>
          <p:nvPr/>
        </p:nvSpPr>
        <p:spPr bwMode="gray">
          <a:xfrm>
            <a:off x="2860736" y="4826958"/>
            <a:ext cx="1039091" cy="138546"/>
          </a:xfrm>
          <a:prstGeom prst="rect">
            <a:avLst/>
          </a:prstGeom>
        </p:spPr>
        <p:txBody>
          <a:bodyPr vert="horz" wrap="square" lIns="91440" tIns="45720" rIns="91440" bIns="45720" rtlCol="0" anchor="ctr">
            <a:noAutofit/>
          </a:bodyPr>
          <a:lstStyle/>
          <a:p>
            <a:pPr algn="ctr"/>
            <a:r>
              <a:rPr lang="en-IN" sz="800" i="1" dirty="0" err="1" smtClean="0"/>
              <a:t>Karwan</a:t>
            </a:r>
            <a:endParaRPr lang="en-IN" sz="800" i="1" dirty="0" smtClean="0"/>
          </a:p>
        </p:txBody>
      </p:sp>
      <p:sp>
        <p:nvSpPr>
          <p:cNvPr id="144" name="TextBox 143"/>
          <p:cNvSpPr txBox="1"/>
          <p:nvPr/>
        </p:nvSpPr>
        <p:spPr bwMode="gray">
          <a:xfrm>
            <a:off x="4218182" y="4982780"/>
            <a:ext cx="1039091" cy="138546"/>
          </a:xfrm>
          <a:prstGeom prst="rect">
            <a:avLst/>
          </a:prstGeom>
        </p:spPr>
        <p:txBody>
          <a:bodyPr vert="horz" wrap="square" lIns="91440" tIns="45720" rIns="91440" bIns="45720" rtlCol="0" anchor="ctr">
            <a:noAutofit/>
          </a:bodyPr>
          <a:lstStyle/>
          <a:p>
            <a:pPr algn="ctr"/>
            <a:r>
              <a:rPr lang="en-IN" sz="800" i="1" dirty="0" err="1" smtClean="0"/>
              <a:t>CharMinar</a:t>
            </a:r>
            <a:endParaRPr lang="en-IN" sz="800" i="1" dirty="0" smtClean="0"/>
          </a:p>
        </p:txBody>
      </p:sp>
      <p:sp>
        <p:nvSpPr>
          <p:cNvPr id="145" name="TextBox 144"/>
          <p:cNvSpPr txBox="1"/>
          <p:nvPr/>
        </p:nvSpPr>
        <p:spPr bwMode="gray">
          <a:xfrm>
            <a:off x="4587411" y="4836409"/>
            <a:ext cx="1039091" cy="138546"/>
          </a:xfrm>
          <a:prstGeom prst="rect">
            <a:avLst/>
          </a:prstGeom>
        </p:spPr>
        <p:txBody>
          <a:bodyPr vert="horz" wrap="square" lIns="91440" tIns="45720" rIns="91440" bIns="45720" rtlCol="0" anchor="ctr">
            <a:noAutofit/>
          </a:bodyPr>
          <a:lstStyle/>
          <a:p>
            <a:pPr algn="ctr"/>
            <a:r>
              <a:rPr lang="en-IN" sz="800" i="1" dirty="0" err="1" smtClean="0"/>
              <a:t>Malakpet</a:t>
            </a:r>
            <a:endParaRPr lang="en-IN" sz="800" i="1" dirty="0" smtClean="0"/>
          </a:p>
        </p:txBody>
      </p:sp>
      <p:sp>
        <p:nvSpPr>
          <p:cNvPr id="146" name="TextBox 145"/>
          <p:cNvSpPr txBox="1"/>
          <p:nvPr/>
        </p:nvSpPr>
        <p:spPr bwMode="gray">
          <a:xfrm>
            <a:off x="3571019" y="5471189"/>
            <a:ext cx="1039091" cy="138546"/>
          </a:xfrm>
          <a:prstGeom prst="rect">
            <a:avLst/>
          </a:prstGeom>
        </p:spPr>
        <p:txBody>
          <a:bodyPr vert="horz" wrap="square" lIns="91440" tIns="45720" rIns="91440" bIns="45720" rtlCol="0" anchor="ctr">
            <a:noAutofit/>
          </a:bodyPr>
          <a:lstStyle/>
          <a:p>
            <a:pPr algn="ctr"/>
            <a:r>
              <a:rPr lang="en-IN" sz="800" i="1" dirty="0" smtClean="0"/>
              <a:t>Murad Nagar</a:t>
            </a:r>
          </a:p>
        </p:txBody>
      </p:sp>
      <p:sp>
        <p:nvSpPr>
          <p:cNvPr id="147" name="TextBox 146"/>
          <p:cNvSpPr txBox="1"/>
          <p:nvPr/>
        </p:nvSpPr>
        <p:spPr bwMode="gray">
          <a:xfrm>
            <a:off x="3851885" y="6057687"/>
            <a:ext cx="1039091" cy="138546"/>
          </a:xfrm>
          <a:prstGeom prst="rect">
            <a:avLst/>
          </a:prstGeom>
        </p:spPr>
        <p:txBody>
          <a:bodyPr vert="horz" wrap="square" lIns="91440" tIns="45720" rIns="91440" bIns="45720" rtlCol="0" anchor="ctr">
            <a:noAutofit/>
          </a:bodyPr>
          <a:lstStyle/>
          <a:p>
            <a:pPr algn="ctr"/>
            <a:r>
              <a:rPr lang="en-IN" sz="800" i="1" dirty="0" err="1" smtClean="0"/>
              <a:t>Kamaguda</a:t>
            </a:r>
            <a:endParaRPr lang="en-IN" sz="800" i="1" dirty="0" smtClean="0"/>
          </a:p>
        </p:txBody>
      </p:sp>
      <p:sp>
        <p:nvSpPr>
          <p:cNvPr id="148" name="TextBox 147"/>
          <p:cNvSpPr txBox="1"/>
          <p:nvPr/>
        </p:nvSpPr>
        <p:spPr bwMode="gray">
          <a:xfrm>
            <a:off x="3808498" y="5819497"/>
            <a:ext cx="1039091" cy="138546"/>
          </a:xfrm>
          <a:prstGeom prst="rect">
            <a:avLst/>
          </a:prstGeom>
        </p:spPr>
        <p:txBody>
          <a:bodyPr vert="horz" wrap="square" lIns="91440" tIns="45720" rIns="91440" bIns="45720" rtlCol="0" anchor="ctr">
            <a:noAutofit/>
          </a:bodyPr>
          <a:lstStyle/>
          <a:p>
            <a:pPr algn="ctr"/>
            <a:r>
              <a:rPr lang="en-IN" sz="800" i="1" dirty="0" err="1" smtClean="0"/>
              <a:t>Falaknuma</a:t>
            </a:r>
            <a:endParaRPr lang="en-IN" sz="800" i="1" dirty="0" smtClean="0"/>
          </a:p>
        </p:txBody>
      </p:sp>
      <p:sp>
        <p:nvSpPr>
          <p:cNvPr id="149" name="TextBox 148"/>
          <p:cNvSpPr txBox="1"/>
          <p:nvPr/>
        </p:nvSpPr>
        <p:spPr bwMode="gray">
          <a:xfrm>
            <a:off x="3585870" y="5085007"/>
            <a:ext cx="1039091" cy="138546"/>
          </a:xfrm>
          <a:prstGeom prst="rect">
            <a:avLst/>
          </a:prstGeom>
        </p:spPr>
        <p:txBody>
          <a:bodyPr vert="horz" wrap="square" lIns="91440" tIns="45720" rIns="91440" bIns="45720" rtlCol="0" anchor="ctr">
            <a:noAutofit/>
          </a:bodyPr>
          <a:lstStyle/>
          <a:p>
            <a:pPr algn="ctr"/>
            <a:r>
              <a:rPr lang="en-IN" sz="800" i="1" dirty="0" smtClean="0"/>
              <a:t>High Court</a:t>
            </a:r>
          </a:p>
        </p:txBody>
      </p:sp>
      <p:sp>
        <p:nvSpPr>
          <p:cNvPr id="150" name="TextBox 149"/>
          <p:cNvSpPr txBox="1"/>
          <p:nvPr/>
        </p:nvSpPr>
        <p:spPr bwMode="gray">
          <a:xfrm>
            <a:off x="3263243" y="3901355"/>
            <a:ext cx="1039091" cy="138546"/>
          </a:xfrm>
          <a:prstGeom prst="rect">
            <a:avLst/>
          </a:prstGeom>
        </p:spPr>
        <p:txBody>
          <a:bodyPr vert="horz" wrap="square" lIns="91440" tIns="45720" rIns="91440" bIns="45720" rtlCol="0" anchor="ctr">
            <a:noAutofit/>
          </a:bodyPr>
          <a:lstStyle/>
          <a:p>
            <a:pPr algn="ctr"/>
            <a:r>
              <a:rPr lang="en-IN" sz="800" i="1" dirty="0" err="1" smtClean="0"/>
              <a:t>Khairatabad</a:t>
            </a:r>
            <a:endParaRPr lang="en-IN" sz="800" i="1" dirty="0" smtClean="0"/>
          </a:p>
        </p:txBody>
      </p:sp>
      <p:sp>
        <p:nvSpPr>
          <p:cNvPr id="152" name="TextBox 151"/>
          <p:cNvSpPr txBox="1"/>
          <p:nvPr/>
        </p:nvSpPr>
        <p:spPr bwMode="gray">
          <a:xfrm>
            <a:off x="3632831" y="4222637"/>
            <a:ext cx="1039091" cy="138546"/>
          </a:xfrm>
          <a:prstGeom prst="rect">
            <a:avLst/>
          </a:prstGeom>
        </p:spPr>
        <p:txBody>
          <a:bodyPr vert="horz" wrap="square" lIns="91440" tIns="45720" rIns="91440" bIns="45720" rtlCol="0" anchor="ctr">
            <a:noAutofit/>
          </a:bodyPr>
          <a:lstStyle/>
          <a:p>
            <a:pPr algn="ctr"/>
            <a:r>
              <a:rPr lang="en-IN" sz="800" i="1" dirty="0" smtClean="0"/>
              <a:t>Hill Fort Road</a:t>
            </a:r>
          </a:p>
        </p:txBody>
      </p:sp>
      <p:sp>
        <p:nvSpPr>
          <p:cNvPr id="153" name="TextBox 152"/>
          <p:cNvSpPr txBox="1"/>
          <p:nvPr/>
        </p:nvSpPr>
        <p:spPr bwMode="gray">
          <a:xfrm>
            <a:off x="3581166" y="2942801"/>
            <a:ext cx="1039091" cy="138546"/>
          </a:xfrm>
          <a:prstGeom prst="rect">
            <a:avLst/>
          </a:prstGeom>
        </p:spPr>
        <p:txBody>
          <a:bodyPr vert="horz" wrap="square" lIns="91440" tIns="45720" rIns="91440" bIns="45720" rtlCol="0" anchor="ctr">
            <a:noAutofit/>
          </a:bodyPr>
          <a:lstStyle/>
          <a:p>
            <a:pPr algn="ctr"/>
            <a:r>
              <a:rPr lang="en-IN" sz="800" i="1" dirty="0" err="1" smtClean="0"/>
              <a:t>Bowenpally</a:t>
            </a:r>
            <a:endParaRPr lang="en-IN" sz="800" i="1" dirty="0" smtClean="0"/>
          </a:p>
        </p:txBody>
      </p:sp>
      <p:sp>
        <p:nvSpPr>
          <p:cNvPr id="154" name="TextBox 153"/>
          <p:cNvSpPr txBox="1"/>
          <p:nvPr/>
        </p:nvSpPr>
        <p:spPr bwMode="gray">
          <a:xfrm>
            <a:off x="3605216" y="2682434"/>
            <a:ext cx="1039091" cy="138546"/>
          </a:xfrm>
          <a:prstGeom prst="rect">
            <a:avLst/>
          </a:prstGeom>
        </p:spPr>
        <p:txBody>
          <a:bodyPr vert="horz" wrap="square" lIns="91440" tIns="45720" rIns="91440" bIns="45720" rtlCol="0" anchor="ctr">
            <a:noAutofit/>
          </a:bodyPr>
          <a:lstStyle/>
          <a:p>
            <a:pPr algn="ctr"/>
            <a:r>
              <a:rPr lang="en-IN" sz="800" i="1" dirty="0" smtClean="0"/>
              <a:t>HAL</a:t>
            </a:r>
          </a:p>
        </p:txBody>
      </p:sp>
      <p:sp>
        <p:nvSpPr>
          <p:cNvPr id="155" name="TextBox 154"/>
          <p:cNvSpPr txBox="1"/>
          <p:nvPr/>
        </p:nvSpPr>
        <p:spPr bwMode="gray">
          <a:xfrm>
            <a:off x="4681516" y="2192151"/>
            <a:ext cx="1039091" cy="138546"/>
          </a:xfrm>
          <a:prstGeom prst="rect">
            <a:avLst/>
          </a:prstGeom>
        </p:spPr>
        <p:txBody>
          <a:bodyPr vert="horz" wrap="square" lIns="91440" tIns="45720" rIns="91440" bIns="45720" rtlCol="0" anchor="ctr">
            <a:noAutofit/>
          </a:bodyPr>
          <a:lstStyle/>
          <a:p>
            <a:pPr algn="ctr"/>
            <a:r>
              <a:rPr lang="en-IN" sz="800" i="1" dirty="0" err="1" smtClean="0"/>
              <a:t>Alwal</a:t>
            </a:r>
            <a:endParaRPr lang="en-IN" sz="800" i="1" dirty="0" smtClean="0"/>
          </a:p>
        </p:txBody>
      </p:sp>
      <p:sp>
        <p:nvSpPr>
          <p:cNvPr id="156" name="TextBox 155"/>
          <p:cNvSpPr txBox="1"/>
          <p:nvPr/>
        </p:nvSpPr>
        <p:spPr bwMode="gray">
          <a:xfrm>
            <a:off x="3650664" y="1916093"/>
            <a:ext cx="1039091" cy="138546"/>
          </a:xfrm>
          <a:prstGeom prst="rect">
            <a:avLst/>
          </a:prstGeom>
        </p:spPr>
        <p:txBody>
          <a:bodyPr vert="horz" wrap="square" lIns="91440" tIns="45720" rIns="91440" bIns="45720" rtlCol="0" anchor="ctr">
            <a:noAutofit/>
          </a:bodyPr>
          <a:lstStyle/>
          <a:p>
            <a:pPr algn="ctr"/>
            <a:r>
              <a:rPr lang="en-IN" sz="800" i="1" dirty="0" err="1" smtClean="0"/>
              <a:t>Doolapally</a:t>
            </a:r>
            <a:endParaRPr lang="en-IN" sz="800" i="1" dirty="0" smtClean="0"/>
          </a:p>
        </p:txBody>
      </p:sp>
      <p:sp>
        <p:nvSpPr>
          <p:cNvPr id="157" name="TextBox 156"/>
          <p:cNvSpPr txBox="1"/>
          <p:nvPr/>
        </p:nvSpPr>
        <p:spPr bwMode="gray">
          <a:xfrm>
            <a:off x="5257273" y="3074495"/>
            <a:ext cx="1039091" cy="138546"/>
          </a:xfrm>
          <a:prstGeom prst="rect">
            <a:avLst/>
          </a:prstGeom>
        </p:spPr>
        <p:txBody>
          <a:bodyPr vert="horz" wrap="square" lIns="91440" tIns="45720" rIns="91440" bIns="45720" rtlCol="0" anchor="ctr">
            <a:noAutofit/>
          </a:bodyPr>
          <a:lstStyle/>
          <a:p>
            <a:pPr algn="ctr"/>
            <a:r>
              <a:rPr lang="en-IN" sz="800" i="1" dirty="0" smtClean="0"/>
              <a:t>Nehru Nagar</a:t>
            </a:r>
          </a:p>
        </p:txBody>
      </p:sp>
      <p:sp>
        <p:nvSpPr>
          <p:cNvPr id="158" name="TextBox 157"/>
          <p:cNvSpPr txBox="1"/>
          <p:nvPr/>
        </p:nvSpPr>
        <p:spPr bwMode="gray">
          <a:xfrm>
            <a:off x="5655428" y="2769738"/>
            <a:ext cx="1039091" cy="138546"/>
          </a:xfrm>
          <a:prstGeom prst="rect">
            <a:avLst/>
          </a:prstGeom>
        </p:spPr>
        <p:txBody>
          <a:bodyPr vert="horz" wrap="square" lIns="91440" tIns="45720" rIns="91440" bIns="45720" rtlCol="0" anchor="ctr">
            <a:noAutofit/>
          </a:bodyPr>
          <a:lstStyle/>
          <a:p>
            <a:pPr algn="ctr"/>
            <a:r>
              <a:rPr lang="en-IN" sz="800" i="1" dirty="0" err="1" smtClean="0"/>
              <a:t>Anantram</a:t>
            </a:r>
            <a:endParaRPr lang="en-IN" sz="800" i="1" dirty="0" smtClean="0"/>
          </a:p>
        </p:txBody>
      </p:sp>
      <p:sp>
        <p:nvSpPr>
          <p:cNvPr id="159" name="TextBox 158"/>
          <p:cNvSpPr txBox="1"/>
          <p:nvPr/>
        </p:nvSpPr>
        <p:spPr bwMode="gray">
          <a:xfrm>
            <a:off x="6049765" y="3449850"/>
            <a:ext cx="1039091" cy="138546"/>
          </a:xfrm>
          <a:prstGeom prst="rect">
            <a:avLst/>
          </a:prstGeom>
        </p:spPr>
        <p:txBody>
          <a:bodyPr vert="horz" wrap="square" lIns="91440" tIns="45720" rIns="91440" bIns="45720" rtlCol="0" anchor="ctr">
            <a:noAutofit/>
          </a:bodyPr>
          <a:lstStyle/>
          <a:p>
            <a:pPr algn="ctr"/>
            <a:r>
              <a:rPr lang="en-IN" sz="800" i="1" dirty="0" err="1" smtClean="0"/>
              <a:t>Sitaphalmandi</a:t>
            </a:r>
            <a:endParaRPr lang="en-IN" sz="800" i="1" dirty="0" smtClean="0"/>
          </a:p>
        </p:txBody>
      </p:sp>
      <p:sp>
        <p:nvSpPr>
          <p:cNvPr id="160" name="TextBox 159"/>
          <p:cNvSpPr txBox="1"/>
          <p:nvPr/>
        </p:nvSpPr>
        <p:spPr bwMode="gray">
          <a:xfrm>
            <a:off x="5443008" y="3833026"/>
            <a:ext cx="1039091" cy="138546"/>
          </a:xfrm>
          <a:prstGeom prst="rect">
            <a:avLst/>
          </a:prstGeom>
        </p:spPr>
        <p:txBody>
          <a:bodyPr vert="horz" wrap="square" lIns="91440" tIns="45720" rIns="91440" bIns="45720" rtlCol="0" anchor="ctr">
            <a:noAutofit/>
          </a:bodyPr>
          <a:lstStyle/>
          <a:p>
            <a:pPr algn="ctr"/>
            <a:r>
              <a:rPr lang="en-IN" sz="800" i="1" dirty="0" err="1" smtClean="0"/>
              <a:t>Bhoiguda</a:t>
            </a:r>
            <a:r>
              <a:rPr lang="en-IN" sz="800" i="1" dirty="0" smtClean="0"/>
              <a:t> Road</a:t>
            </a:r>
          </a:p>
        </p:txBody>
      </p:sp>
      <p:sp>
        <p:nvSpPr>
          <p:cNvPr id="161" name="TextBox 160"/>
          <p:cNvSpPr txBox="1"/>
          <p:nvPr/>
        </p:nvSpPr>
        <p:spPr bwMode="gray">
          <a:xfrm>
            <a:off x="6875347" y="3705384"/>
            <a:ext cx="1039091" cy="138546"/>
          </a:xfrm>
          <a:prstGeom prst="rect">
            <a:avLst/>
          </a:prstGeom>
        </p:spPr>
        <p:txBody>
          <a:bodyPr vert="horz" wrap="square" lIns="91440" tIns="45720" rIns="91440" bIns="45720" rtlCol="0" anchor="ctr">
            <a:noAutofit/>
          </a:bodyPr>
          <a:lstStyle/>
          <a:p>
            <a:pPr algn="ctr"/>
            <a:r>
              <a:rPr lang="en-IN" sz="800" i="1" dirty="0" smtClean="0"/>
              <a:t>Railway Workshop</a:t>
            </a:r>
          </a:p>
        </p:txBody>
      </p:sp>
      <p:sp>
        <p:nvSpPr>
          <p:cNvPr id="162" name="TextBox 161"/>
          <p:cNvSpPr txBox="1"/>
          <p:nvPr/>
        </p:nvSpPr>
        <p:spPr bwMode="gray">
          <a:xfrm>
            <a:off x="6573205" y="3070286"/>
            <a:ext cx="1039091" cy="138546"/>
          </a:xfrm>
          <a:prstGeom prst="rect">
            <a:avLst/>
          </a:prstGeom>
        </p:spPr>
        <p:txBody>
          <a:bodyPr vert="horz" wrap="square" lIns="91440" tIns="45720" rIns="91440" bIns="45720" rtlCol="0" anchor="ctr">
            <a:noAutofit/>
          </a:bodyPr>
          <a:lstStyle/>
          <a:p>
            <a:pPr algn="ctr"/>
            <a:r>
              <a:rPr lang="en-IN" sz="800" i="1" dirty="0" err="1" smtClean="0"/>
              <a:t>Malkajgiri</a:t>
            </a:r>
            <a:endParaRPr lang="en-IN" sz="800" i="1" dirty="0" smtClean="0"/>
          </a:p>
        </p:txBody>
      </p:sp>
      <p:sp>
        <p:nvSpPr>
          <p:cNvPr id="163" name="TextBox 162"/>
          <p:cNvSpPr txBox="1"/>
          <p:nvPr/>
        </p:nvSpPr>
        <p:spPr bwMode="gray">
          <a:xfrm>
            <a:off x="6174973" y="2321122"/>
            <a:ext cx="1039091" cy="138546"/>
          </a:xfrm>
          <a:prstGeom prst="rect">
            <a:avLst/>
          </a:prstGeom>
        </p:spPr>
        <p:txBody>
          <a:bodyPr vert="horz" wrap="square" lIns="91440" tIns="45720" rIns="91440" bIns="45720" rtlCol="0" anchor="ctr">
            <a:noAutofit/>
          </a:bodyPr>
          <a:lstStyle/>
          <a:p>
            <a:pPr algn="ctr"/>
            <a:r>
              <a:rPr lang="en-IN" sz="800" i="1" dirty="0" smtClean="0"/>
              <a:t>Generals Road</a:t>
            </a:r>
          </a:p>
        </p:txBody>
      </p:sp>
      <p:sp>
        <p:nvSpPr>
          <p:cNvPr id="164" name="TextBox 163"/>
          <p:cNvSpPr txBox="1"/>
          <p:nvPr/>
        </p:nvSpPr>
        <p:spPr bwMode="gray">
          <a:xfrm>
            <a:off x="7210211" y="2320038"/>
            <a:ext cx="1039091" cy="138546"/>
          </a:xfrm>
          <a:prstGeom prst="rect">
            <a:avLst/>
          </a:prstGeom>
        </p:spPr>
        <p:txBody>
          <a:bodyPr vert="horz" wrap="square" lIns="91440" tIns="45720" rIns="91440" bIns="45720" rtlCol="0" anchor="ctr">
            <a:noAutofit/>
          </a:bodyPr>
          <a:lstStyle/>
          <a:p>
            <a:pPr algn="ctr"/>
            <a:r>
              <a:rPr lang="en-IN" sz="800" i="1" dirty="0" err="1" smtClean="0"/>
              <a:t>Sainikpuri</a:t>
            </a:r>
            <a:endParaRPr lang="en-IN" sz="800" i="1" dirty="0" smtClean="0"/>
          </a:p>
        </p:txBody>
      </p:sp>
      <p:sp>
        <p:nvSpPr>
          <p:cNvPr id="165" name="TextBox 164"/>
          <p:cNvSpPr txBox="1"/>
          <p:nvPr/>
        </p:nvSpPr>
        <p:spPr bwMode="gray">
          <a:xfrm>
            <a:off x="5069846" y="5704737"/>
            <a:ext cx="1039091" cy="138546"/>
          </a:xfrm>
          <a:prstGeom prst="rect">
            <a:avLst/>
          </a:prstGeom>
        </p:spPr>
        <p:txBody>
          <a:bodyPr vert="horz" wrap="square" lIns="91440" tIns="45720" rIns="91440" bIns="45720" rtlCol="0" anchor="ctr">
            <a:noAutofit/>
          </a:bodyPr>
          <a:lstStyle/>
          <a:p>
            <a:pPr algn="ctr"/>
            <a:r>
              <a:rPr lang="en-IN" sz="800" i="1" dirty="0" smtClean="0"/>
              <a:t>Saidabad</a:t>
            </a:r>
          </a:p>
        </p:txBody>
      </p:sp>
      <p:sp>
        <p:nvSpPr>
          <p:cNvPr id="166" name="TextBox 165"/>
          <p:cNvSpPr txBox="1"/>
          <p:nvPr/>
        </p:nvSpPr>
        <p:spPr bwMode="gray">
          <a:xfrm>
            <a:off x="6046040" y="5767488"/>
            <a:ext cx="1039091" cy="138546"/>
          </a:xfrm>
          <a:prstGeom prst="rect">
            <a:avLst/>
          </a:prstGeom>
        </p:spPr>
        <p:txBody>
          <a:bodyPr vert="horz" wrap="square" lIns="91440" tIns="45720" rIns="91440" bIns="45720" rtlCol="0" anchor="ctr">
            <a:noAutofit/>
          </a:bodyPr>
          <a:lstStyle/>
          <a:p>
            <a:pPr algn="ctr"/>
            <a:r>
              <a:rPr lang="en-IN" sz="800" i="1" dirty="0" err="1" smtClean="0"/>
              <a:t>Saroornagar</a:t>
            </a:r>
            <a:endParaRPr lang="en-IN" sz="800" i="1" dirty="0" smtClean="0"/>
          </a:p>
        </p:txBody>
      </p:sp>
      <p:sp>
        <p:nvSpPr>
          <p:cNvPr id="167" name="TextBox 166"/>
          <p:cNvSpPr txBox="1"/>
          <p:nvPr/>
        </p:nvSpPr>
        <p:spPr bwMode="gray">
          <a:xfrm>
            <a:off x="6882745" y="5765340"/>
            <a:ext cx="1039091" cy="138546"/>
          </a:xfrm>
          <a:prstGeom prst="rect">
            <a:avLst/>
          </a:prstGeom>
        </p:spPr>
        <p:txBody>
          <a:bodyPr vert="horz" wrap="square" lIns="91440" tIns="45720" rIns="91440" bIns="45720" rtlCol="0" anchor="ctr">
            <a:noAutofit/>
          </a:bodyPr>
          <a:lstStyle/>
          <a:p>
            <a:pPr algn="ctr"/>
            <a:r>
              <a:rPr lang="en-IN" sz="800" i="1" dirty="0" smtClean="0"/>
              <a:t>LB Nagar</a:t>
            </a:r>
          </a:p>
        </p:txBody>
      </p:sp>
      <p:sp>
        <p:nvSpPr>
          <p:cNvPr id="168" name="Oval 167"/>
          <p:cNvSpPr/>
          <p:nvPr/>
        </p:nvSpPr>
        <p:spPr>
          <a:xfrm>
            <a:off x="5076498" y="3517541"/>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9" name="Oval 168"/>
          <p:cNvSpPr/>
          <p:nvPr/>
        </p:nvSpPr>
        <p:spPr>
          <a:xfrm>
            <a:off x="3477724" y="3452623"/>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0" name="Oval 169"/>
          <p:cNvSpPr/>
          <p:nvPr/>
        </p:nvSpPr>
        <p:spPr>
          <a:xfrm>
            <a:off x="2292776" y="2512399"/>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1" name="Oval 170"/>
          <p:cNvSpPr/>
          <p:nvPr/>
        </p:nvSpPr>
        <p:spPr>
          <a:xfrm>
            <a:off x="3980943" y="4509005"/>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2" name="Oval 171"/>
          <p:cNvSpPr/>
          <p:nvPr/>
        </p:nvSpPr>
        <p:spPr>
          <a:xfrm>
            <a:off x="7097565" y="4122739"/>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3" name="Oval 172"/>
          <p:cNvSpPr/>
          <p:nvPr/>
        </p:nvSpPr>
        <p:spPr>
          <a:xfrm>
            <a:off x="8283918" y="2628454"/>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4" name="Oval 173"/>
          <p:cNvSpPr/>
          <p:nvPr/>
        </p:nvSpPr>
        <p:spPr>
          <a:xfrm>
            <a:off x="3079116" y="3854356"/>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5" name="Oval 174"/>
          <p:cNvSpPr/>
          <p:nvPr/>
        </p:nvSpPr>
        <p:spPr>
          <a:xfrm>
            <a:off x="1945978" y="3815580"/>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6" name="Oval 175"/>
          <p:cNvSpPr/>
          <p:nvPr/>
        </p:nvSpPr>
        <p:spPr>
          <a:xfrm>
            <a:off x="5705889" y="5385117"/>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7" name="Oval 176"/>
          <p:cNvSpPr/>
          <p:nvPr/>
        </p:nvSpPr>
        <p:spPr>
          <a:xfrm>
            <a:off x="5705889" y="5038128"/>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8" name="Oval 177"/>
          <p:cNvSpPr/>
          <p:nvPr/>
        </p:nvSpPr>
        <p:spPr>
          <a:xfrm>
            <a:off x="7070934" y="5138247"/>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9" name="Oval 178"/>
          <p:cNvSpPr/>
          <p:nvPr/>
        </p:nvSpPr>
        <p:spPr>
          <a:xfrm>
            <a:off x="1752436" y="2512399"/>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0" name="Oval 179"/>
          <p:cNvSpPr/>
          <p:nvPr/>
        </p:nvSpPr>
        <p:spPr>
          <a:xfrm>
            <a:off x="7562978" y="6116522"/>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1" name="Oval 180"/>
          <p:cNvSpPr/>
          <p:nvPr/>
        </p:nvSpPr>
        <p:spPr>
          <a:xfrm>
            <a:off x="5397837" y="1803897"/>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2" name="Oval 181"/>
          <p:cNvSpPr/>
          <p:nvPr/>
        </p:nvSpPr>
        <p:spPr>
          <a:xfrm>
            <a:off x="5692817" y="4263182"/>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4" name="Oval 183"/>
          <p:cNvSpPr/>
          <p:nvPr/>
        </p:nvSpPr>
        <p:spPr>
          <a:xfrm>
            <a:off x="2357543" y="4856093"/>
            <a:ext cx="191726" cy="16385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5" name="Oval 184"/>
          <p:cNvSpPr/>
          <p:nvPr/>
        </p:nvSpPr>
        <p:spPr>
          <a:xfrm>
            <a:off x="2280130" y="4330014"/>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6" name="Oval 185"/>
          <p:cNvSpPr/>
          <p:nvPr/>
        </p:nvSpPr>
        <p:spPr>
          <a:xfrm>
            <a:off x="4662563" y="4160865"/>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7" name="Oval 186"/>
          <p:cNvSpPr/>
          <p:nvPr/>
        </p:nvSpPr>
        <p:spPr>
          <a:xfrm>
            <a:off x="1661984" y="3439334"/>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8" name="Oval 187"/>
          <p:cNvSpPr/>
          <p:nvPr/>
        </p:nvSpPr>
        <p:spPr>
          <a:xfrm>
            <a:off x="6196157" y="4136491"/>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9" name="Oval 188"/>
          <p:cNvSpPr/>
          <p:nvPr/>
        </p:nvSpPr>
        <p:spPr>
          <a:xfrm>
            <a:off x="670764" y="2396395"/>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0" name="Oval 189"/>
          <p:cNvSpPr/>
          <p:nvPr/>
        </p:nvSpPr>
        <p:spPr>
          <a:xfrm>
            <a:off x="7469459" y="5100260"/>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1" name="Oval 190"/>
          <p:cNvSpPr/>
          <p:nvPr/>
        </p:nvSpPr>
        <p:spPr>
          <a:xfrm>
            <a:off x="2513394" y="2512347"/>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2" name="Oval 191"/>
          <p:cNvSpPr/>
          <p:nvPr/>
        </p:nvSpPr>
        <p:spPr>
          <a:xfrm>
            <a:off x="4815689" y="4534158"/>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3" name="TextBox 192"/>
          <p:cNvSpPr txBox="1"/>
          <p:nvPr/>
        </p:nvSpPr>
        <p:spPr bwMode="gray">
          <a:xfrm>
            <a:off x="563453" y="1558306"/>
            <a:ext cx="3417490" cy="218941"/>
          </a:xfrm>
          <a:prstGeom prst="rect">
            <a:avLst/>
          </a:prstGeom>
        </p:spPr>
        <p:txBody>
          <a:bodyPr vert="horz" wrap="square" lIns="91440" tIns="45720" rIns="91440" bIns="45720" rtlCol="0" anchor="ctr">
            <a:noAutofit/>
          </a:bodyPr>
          <a:lstStyle/>
          <a:p>
            <a:r>
              <a:rPr lang="en-IN" sz="1200" b="1" dirty="0" smtClean="0"/>
              <a:t>Hyderabad</a:t>
            </a:r>
          </a:p>
          <a:p>
            <a:r>
              <a:rPr lang="en-IN" sz="1200" i="1" dirty="0" smtClean="0"/>
              <a:t>Indicative PINCODE map</a:t>
            </a:r>
          </a:p>
          <a:p>
            <a:r>
              <a:rPr lang="en-IN" sz="1000" dirty="0" smtClean="0"/>
              <a:t>Not to scale</a:t>
            </a:r>
          </a:p>
        </p:txBody>
      </p:sp>
      <p:sp>
        <p:nvSpPr>
          <p:cNvPr id="195" name="Oval 194"/>
          <p:cNvSpPr/>
          <p:nvPr/>
        </p:nvSpPr>
        <p:spPr>
          <a:xfrm>
            <a:off x="10043844" y="2572938"/>
            <a:ext cx="187037" cy="159422"/>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6" name="TextBox 195"/>
          <p:cNvSpPr txBox="1"/>
          <p:nvPr/>
        </p:nvSpPr>
        <p:spPr bwMode="gray">
          <a:xfrm>
            <a:off x="10296960" y="2503665"/>
            <a:ext cx="1374551" cy="367049"/>
          </a:xfrm>
          <a:prstGeom prst="rect">
            <a:avLst/>
          </a:prstGeom>
        </p:spPr>
        <p:txBody>
          <a:bodyPr vert="horz" wrap="square" lIns="91440" tIns="45720" rIns="91440" bIns="45720" rtlCol="0" anchor="ctr">
            <a:noAutofit/>
          </a:bodyPr>
          <a:lstStyle/>
          <a:p>
            <a:r>
              <a:rPr lang="en-IN" sz="1200" dirty="0" smtClean="0"/>
              <a:t>Proposed Croma Store Locations</a:t>
            </a:r>
          </a:p>
        </p:txBody>
      </p:sp>
      <p:sp>
        <p:nvSpPr>
          <p:cNvPr id="197" name="Oval 196"/>
          <p:cNvSpPr/>
          <p:nvPr/>
        </p:nvSpPr>
        <p:spPr>
          <a:xfrm>
            <a:off x="10043844" y="1805224"/>
            <a:ext cx="187037" cy="159422"/>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8" name="TextBox 197"/>
          <p:cNvSpPr txBox="1"/>
          <p:nvPr/>
        </p:nvSpPr>
        <p:spPr bwMode="gray">
          <a:xfrm>
            <a:off x="10296960" y="1701411"/>
            <a:ext cx="1374551" cy="367049"/>
          </a:xfrm>
          <a:prstGeom prst="rect">
            <a:avLst/>
          </a:prstGeom>
        </p:spPr>
        <p:txBody>
          <a:bodyPr vert="horz" wrap="square" lIns="91440" tIns="45720" rIns="91440" bIns="45720" rtlCol="0" anchor="ctr">
            <a:noAutofit/>
          </a:bodyPr>
          <a:lstStyle/>
          <a:p>
            <a:r>
              <a:rPr lang="en-IN" sz="1200" dirty="0" smtClean="0"/>
              <a:t>Existing </a:t>
            </a:r>
          </a:p>
          <a:p>
            <a:r>
              <a:rPr lang="en-IN" sz="1200" dirty="0" smtClean="0"/>
              <a:t>Croma Store Locations</a:t>
            </a:r>
          </a:p>
        </p:txBody>
      </p:sp>
      <p:sp>
        <p:nvSpPr>
          <p:cNvPr id="199" name="Oval 198"/>
          <p:cNvSpPr/>
          <p:nvPr/>
        </p:nvSpPr>
        <p:spPr>
          <a:xfrm>
            <a:off x="10057694" y="3348795"/>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0" name="TextBox 199"/>
          <p:cNvSpPr txBox="1"/>
          <p:nvPr/>
        </p:nvSpPr>
        <p:spPr bwMode="gray">
          <a:xfrm>
            <a:off x="10310810" y="3279522"/>
            <a:ext cx="1374551" cy="367049"/>
          </a:xfrm>
          <a:prstGeom prst="rect">
            <a:avLst/>
          </a:prstGeom>
        </p:spPr>
        <p:txBody>
          <a:bodyPr vert="horz" wrap="square" lIns="91440" tIns="45720" rIns="91440" bIns="45720" rtlCol="0" anchor="ctr">
            <a:noAutofit/>
          </a:bodyPr>
          <a:lstStyle/>
          <a:p>
            <a:r>
              <a:rPr lang="en-IN" sz="1200" dirty="0" smtClean="0"/>
              <a:t>Reliance Digital Stores</a:t>
            </a:r>
          </a:p>
        </p:txBody>
      </p:sp>
      <p:sp>
        <p:nvSpPr>
          <p:cNvPr id="201" name="Oval 200"/>
          <p:cNvSpPr/>
          <p:nvPr/>
        </p:nvSpPr>
        <p:spPr>
          <a:xfrm>
            <a:off x="10071545" y="3999969"/>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2" name="TextBox 201"/>
          <p:cNvSpPr txBox="1"/>
          <p:nvPr/>
        </p:nvSpPr>
        <p:spPr bwMode="gray">
          <a:xfrm>
            <a:off x="10324661" y="3930696"/>
            <a:ext cx="1374551" cy="367049"/>
          </a:xfrm>
          <a:prstGeom prst="rect">
            <a:avLst/>
          </a:prstGeom>
        </p:spPr>
        <p:txBody>
          <a:bodyPr vert="horz" wrap="square" lIns="91440" tIns="45720" rIns="91440" bIns="45720" rtlCol="0" anchor="ctr">
            <a:noAutofit/>
          </a:bodyPr>
          <a:lstStyle/>
          <a:p>
            <a:r>
              <a:rPr lang="en-IN" sz="1200" dirty="0" smtClean="0"/>
              <a:t>Bajaj Electronics Stores</a:t>
            </a:r>
          </a:p>
        </p:txBody>
      </p:sp>
      <p:sp>
        <p:nvSpPr>
          <p:cNvPr id="203" name="TextBox 202"/>
          <p:cNvSpPr txBox="1"/>
          <p:nvPr/>
        </p:nvSpPr>
        <p:spPr bwMode="gray">
          <a:xfrm>
            <a:off x="10348915" y="4701487"/>
            <a:ext cx="1374551" cy="367049"/>
          </a:xfrm>
          <a:prstGeom prst="rect">
            <a:avLst/>
          </a:prstGeom>
        </p:spPr>
        <p:txBody>
          <a:bodyPr vert="horz" wrap="square" lIns="91440" tIns="45720" rIns="91440" bIns="45720" rtlCol="0" anchor="ctr">
            <a:noAutofit/>
          </a:bodyPr>
          <a:lstStyle/>
          <a:p>
            <a:r>
              <a:rPr lang="en-IN" sz="1200" dirty="0" smtClean="0"/>
              <a:t>Croma sales PIN Potential gradient – </a:t>
            </a:r>
          </a:p>
          <a:p>
            <a:r>
              <a:rPr lang="en-IN" sz="1200" dirty="0" smtClean="0"/>
              <a:t>High to Low</a:t>
            </a:r>
          </a:p>
        </p:txBody>
      </p:sp>
      <p:graphicFrame>
        <p:nvGraphicFramePr>
          <p:cNvPr id="204" name="Table 203"/>
          <p:cNvGraphicFramePr>
            <a:graphicFrameLocks noGrp="1"/>
          </p:cNvGraphicFramePr>
          <p:nvPr>
            <p:extLst/>
          </p:nvPr>
        </p:nvGraphicFramePr>
        <p:xfrm>
          <a:off x="10005563" y="4557378"/>
          <a:ext cx="331005" cy="1828800"/>
        </p:xfrm>
        <a:graphic>
          <a:graphicData uri="http://schemas.openxmlformats.org/drawingml/2006/table">
            <a:tbl>
              <a:tblPr firstRow="1" bandRow="1">
                <a:tableStyleId>{5C22544A-7EE6-4342-B048-85BDC9FD1C3A}</a:tableStyleId>
              </a:tblPr>
              <a:tblGrid>
                <a:gridCol w="331005"/>
              </a:tblGrid>
              <a:tr h="321612">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solidFill>
                  </a:tcPr>
                </a:tc>
              </a:tr>
              <a:tr h="321612">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60000"/>
                        <a:lumOff val="40000"/>
                      </a:schemeClr>
                    </a:solidFill>
                  </a:tcPr>
                </a:tc>
              </a:tr>
              <a:tr h="321612">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40000"/>
                        <a:lumOff val="60000"/>
                      </a:schemeClr>
                    </a:solidFill>
                  </a:tcPr>
                </a:tc>
              </a:tr>
              <a:tr h="321612">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r>
              <a:tr h="321612">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r>
            </a:tbl>
          </a:graphicData>
        </a:graphic>
      </p:graphicFrame>
      <p:sp>
        <p:nvSpPr>
          <p:cNvPr id="205" name="TextBox 204"/>
          <p:cNvSpPr txBox="1"/>
          <p:nvPr/>
        </p:nvSpPr>
        <p:spPr bwMode="gray">
          <a:xfrm>
            <a:off x="3698636" y="3782710"/>
            <a:ext cx="1039091" cy="138546"/>
          </a:xfrm>
          <a:prstGeom prst="rect">
            <a:avLst/>
          </a:prstGeom>
        </p:spPr>
        <p:txBody>
          <a:bodyPr vert="horz" wrap="square" lIns="91440" tIns="45720" rIns="91440" bIns="45720" rtlCol="0" anchor="ctr">
            <a:noAutofit/>
          </a:bodyPr>
          <a:lstStyle/>
          <a:p>
            <a:pPr algn="ctr"/>
            <a:r>
              <a:rPr lang="en-IN" sz="800" i="1" dirty="0" smtClean="0"/>
              <a:t>Secretariat</a:t>
            </a:r>
          </a:p>
        </p:txBody>
      </p:sp>
    </p:spTree>
    <p:extLst>
      <p:ext uri="{BB962C8B-B14F-4D97-AF65-F5344CB8AC3E}">
        <p14:creationId xmlns:p14="http://schemas.microsoft.com/office/powerpoint/2010/main" val="13064825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dirty="0" smtClean="0"/>
              <a:t>Potential Considerations</a:t>
            </a:r>
            <a:endParaRPr lang="en-IN" dirty="0"/>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21</a:t>
            </a:fld>
            <a:endParaRPr lang="en-US" dirty="0">
              <a:solidFill>
                <a:srgbClr val="0E5580"/>
              </a:solidFill>
            </a:endParaRPr>
          </a:p>
        </p:txBody>
      </p:sp>
      <p:graphicFrame>
        <p:nvGraphicFramePr>
          <p:cNvPr id="154" name="Table 153"/>
          <p:cNvGraphicFramePr>
            <a:graphicFrameLocks noGrp="1"/>
          </p:cNvGraphicFramePr>
          <p:nvPr>
            <p:extLst/>
          </p:nvPr>
        </p:nvGraphicFramePr>
        <p:xfrm>
          <a:off x="629984" y="1495959"/>
          <a:ext cx="8692691" cy="5117617"/>
        </p:xfrm>
        <a:graphic>
          <a:graphicData uri="http://schemas.openxmlformats.org/drawingml/2006/table">
            <a:tbl>
              <a:tblPr firstRow="1" bandRow="1">
                <a:tableStyleId>{21E4AEA4-8DFA-4A89-87EB-49C32662AFE0}</a:tableStyleId>
              </a:tblPr>
              <a:tblGrid>
                <a:gridCol w="391927"/>
                <a:gridCol w="391927"/>
                <a:gridCol w="391925"/>
                <a:gridCol w="391925"/>
                <a:gridCol w="391927"/>
                <a:gridCol w="391927"/>
                <a:gridCol w="391927"/>
                <a:gridCol w="391927"/>
                <a:gridCol w="345406"/>
                <a:gridCol w="345406"/>
                <a:gridCol w="555286"/>
                <a:gridCol w="391927"/>
                <a:gridCol w="783850"/>
                <a:gridCol w="391927"/>
                <a:gridCol w="391927"/>
                <a:gridCol w="391925"/>
                <a:gridCol w="391925"/>
                <a:gridCol w="783850"/>
                <a:gridCol w="783850"/>
              </a:tblGrid>
              <a:tr h="309246">
                <a:tc rowSpan="2" gridSpan="8">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endParaRPr lang="en-IN"/>
                    </a:p>
                  </a:txBody>
                  <a:tcPr/>
                </a:tc>
                <a:tc rowSpan="2" hMerge="1">
                  <a:txBody>
                    <a:bodyPr/>
                    <a:lstStyle/>
                    <a:p>
                      <a:pPr algn="ctr"/>
                      <a:endParaRPr lang="en-IN" sz="9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hMerge="1">
                  <a:txBody>
                    <a:bodyPr/>
                    <a:lstStyle/>
                    <a:p>
                      <a:endParaRPr lang="en-IN"/>
                    </a:p>
                  </a:txBody>
                  <a:tcPr/>
                </a:tc>
                <a:tc rowSpan="2" hMerge="1">
                  <a:txBody>
                    <a:bodyPr/>
                    <a:lstStyle/>
                    <a:p>
                      <a:pPr algn="ctr"/>
                      <a:endParaRPr lang="en-IN" sz="9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hMerge="1">
                  <a:txBody>
                    <a:bodyPr/>
                    <a:lstStyle/>
                    <a:p>
                      <a:endParaRPr lang="en-IN"/>
                    </a:p>
                  </a:txBody>
                  <a:tcPr/>
                </a:tc>
                <a:tc rowSpan="2" hMerge="1">
                  <a:txBody>
                    <a:bodyPr/>
                    <a:lstStyle/>
                    <a:p>
                      <a:pPr algn="ctr"/>
                      <a:endParaRPr lang="en-IN" sz="9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no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a:p>
                  </a:txBody>
                  <a:tcPr/>
                </a:tc>
                <a:tc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endParaRPr lang="en-IN"/>
                    </a:p>
                  </a:txBody>
                  <a:tcPr/>
                </a:tc>
                <a:tc hMerge="1">
                  <a:txBody>
                    <a:bodyPr/>
                    <a:lstStyle/>
                    <a:p>
                      <a:pPr algn="ctr"/>
                      <a:endParaRPr lang="en-IN" sz="900" dirty="0"/>
                    </a:p>
                  </a:txBody>
                  <a:tcPr anchor="ctr">
                    <a:solidFill>
                      <a:schemeClr val="accent1"/>
                    </a:solidFill>
                  </a:tcPr>
                </a:tc>
                <a:tc rowSpan="2" gridSpan="6">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rowSpan="2" hMerge="1">
                  <a:txBody>
                    <a:bodyPr/>
                    <a:lstStyle/>
                    <a:p>
                      <a:endParaRPr lang="en-IN"/>
                    </a:p>
                  </a:txBody>
                  <a:tcPr/>
                </a:tc>
                <a:tc rowSpan="2" hMerge="1">
                  <a:txBody>
                    <a:bodyPr/>
                    <a:lstStyle/>
                    <a:p>
                      <a:pPr algn="ctr"/>
                      <a:endParaRPr lang="en-IN" sz="900" dirty="0"/>
                    </a:p>
                  </a:txBody>
                  <a:tcPr anchor="ctr">
                    <a:solidFill>
                      <a:schemeClr val="accent1"/>
                    </a:solidFill>
                  </a:tcPr>
                </a:tc>
                <a:tc rowSpan="2" hMerge="1">
                  <a:txBody>
                    <a:bodyPr/>
                    <a:lstStyle/>
                    <a:p>
                      <a:endParaRPr lang="en-IN"/>
                    </a:p>
                  </a:txBody>
                  <a:tcPr/>
                </a:tc>
                <a:tc rowSpan="2" hMerge="1">
                  <a:txBody>
                    <a:bodyPr/>
                    <a:lstStyle/>
                    <a:p>
                      <a:pPr algn="ctr"/>
                      <a:endParaRPr lang="en-IN" sz="900" dirty="0"/>
                    </a:p>
                  </a:txBody>
                  <a:tcPr anchor="ctr">
                    <a:solidFill>
                      <a:schemeClr val="accent1"/>
                    </a:solidFill>
                  </a:tcPr>
                </a:tc>
                <a:tc rowSpan="2" hMerge="1">
                  <a:txBody>
                    <a:bodyPr/>
                    <a:lstStyle/>
                    <a:p>
                      <a:pPr algn="ctr"/>
                      <a:endParaRPr lang="en-IN" sz="900" dirty="0"/>
                    </a:p>
                  </a:txBody>
                  <a:tcPr anchor="ctr">
                    <a:solidFill>
                      <a:schemeClr val="accent1"/>
                    </a:solidFill>
                  </a:tcPr>
                </a:tc>
              </a:tr>
              <a:tr h="309246">
                <a:tc gridSpan="8" vMerge="1">
                  <a:txBody>
                    <a:bodyPr/>
                    <a:lstStyle/>
                    <a:p>
                      <a:pPr algn="ctr"/>
                      <a:endParaRPr lang="en-IN" sz="9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vMerge="1">
                  <a:txBody>
                    <a:bodyPr/>
                    <a:lstStyle/>
                    <a:p>
                      <a:endParaRPr lang="en-IN"/>
                    </a:p>
                  </a:txBody>
                  <a:tcPr/>
                </a:tc>
                <a:tc hMerge="1" vMerge="1">
                  <a:txBody>
                    <a:bodyPr/>
                    <a:lstStyle/>
                    <a:p>
                      <a:pPr algn="ctr"/>
                      <a:endParaRPr lang="en-IN" sz="9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vMerge="1">
                  <a:txBody>
                    <a:bodyPr/>
                    <a:lstStyle/>
                    <a:p>
                      <a:endParaRPr lang="en-IN"/>
                    </a:p>
                  </a:txBody>
                  <a:tcPr/>
                </a:tc>
                <a:tc hMerge="1" vMerge="1">
                  <a:txBody>
                    <a:bodyPr/>
                    <a:lstStyle/>
                    <a:p>
                      <a:pPr algn="ctr"/>
                      <a:endParaRPr lang="en-IN" sz="9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vMerge="1">
                  <a:txBody>
                    <a:bodyPr/>
                    <a:lstStyle/>
                    <a:p>
                      <a:endParaRPr lang="en-IN"/>
                    </a:p>
                  </a:txBody>
                  <a:tcPr/>
                </a:tc>
                <a:tc hMerge="1" vMerge="1">
                  <a:txBody>
                    <a:bodyPr/>
                    <a:lstStyle/>
                    <a:p>
                      <a:pPr algn="ctr"/>
                      <a:endParaRPr lang="en-IN" sz="9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vMerge="1">
                  <a:txBody>
                    <a:bodyPr/>
                    <a:lstStyle/>
                    <a:p>
                      <a:endParaRPr lang="en-IN"/>
                    </a:p>
                  </a:txBody>
                  <a:tcPr/>
                </a:tc>
                <a:tc grid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solidFill>
                  </a:tcPr>
                </a:tc>
                <a:tc hMerge="1">
                  <a:txBody>
                    <a:bodyPr/>
                    <a:lstStyle/>
                    <a:p>
                      <a:endParaRPr lang="en-IN"/>
                    </a:p>
                  </a:txBody>
                  <a:tcPr/>
                </a:tc>
                <a:tc hMerge="1">
                  <a:txBody>
                    <a:bodyPr/>
                    <a:lstStyle/>
                    <a:p>
                      <a:pPr algn="ctr"/>
                      <a:endParaRPr lang="en-IN" sz="900" dirty="0"/>
                    </a:p>
                  </a:txBody>
                  <a:tcPr anchor="ctr">
                    <a:solidFill>
                      <a:schemeClr val="accent1"/>
                    </a:solidFill>
                  </a:tcPr>
                </a:tc>
                <a:tc hMerge="1">
                  <a:txBody>
                    <a:bodyPr/>
                    <a:lstStyle/>
                    <a:p>
                      <a:endParaRPr lang="en-IN"/>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gridSpan="6" vMerge="1">
                  <a:txBody>
                    <a:bodyPr/>
                    <a:lstStyle/>
                    <a:p>
                      <a:pPr algn="ctr"/>
                      <a:endParaRPr lang="en-IN" sz="900"/>
                    </a:p>
                  </a:txBody>
                  <a:tcPr anchor="ctr">
                    <a:solidFill>
                      <a:schemeClr val="accent1"/>
                    </a:solidFill>
                  </a:tcPr>
                </a:tc>
                <a:tc hMerge="1" vMerge="1">
                  <a:txBody>
                    <a:bodyPr/>
                    <a:lstStyle/>
                    <a:p>
                      <a:endParaRPr lang="en-IN"/>
                    </a:p>
                  </a:txBody>
                  <a:tcPr/>
                </a:tc>
                <a:tc hMerge="1" vMerge="1">
                  <a:txBody>
                    <a:bodyPr/>
                    <a:lstStyle/>
                    <a:p>
                      <a:pPr algn="ctr"/>
                      <a:endParaRPr lang="en-IN" sz="900"/>
                    </a:p>
                  </a:txBody>
                  <a:tcPr anchor="ctr">
                    <a:solidFill>
                      <a:schemeClr val="accent1"/>
                    </a:solidFill>
                  </a:tcPr>
                </a:tc>
                <a:tc hMerge="1" vMerge="1">
                  <a:txBody>
                    <a:bodyPr/>
                    <a:lstStyle/>
                    <a:p>
                      <a:endParaRPr lang="en-IN"/>
                    </a:p>
                  </a:txBody>
                  <a:tcPr/>
                </a:tc>
                <a:tc hMerge="1" vMerge="1">
                  <a:txBody>
                    <a:bodyPr/>
                    <a:lstStyle/>
                    <a:p>
                      <a:pPr algn="ctr"/>
                      <a:endParaRPr lang="en-IN" sz="900" dirty="0"/>
                    </a:p>
                  </a:txBody>
                  <a:tcPr anchor="ctr">
                    <a:solidFill>
                      <a:schemeClr val="accent1"/>
                    </a:solidFill>
                  </a:tcPr>
                </a:tc>
                <a:tc hMerge="1" vMerge="1">
                  <a:txBody>
                    <a:bodyPr/>
                    <a:lstStyle/>
                    <a:p>
                      <a:pPr algn="ctr"/>
                      <a:endParaRPr lang="en-IN" sz="900" dirty="0"/>
                    </a:p>
                  </a:txBody>
                  <a:tcPr anchor="ctr">
                    <a:solidFill>
                      <a:schemeClr val="accent1"/>
                    </a:solidFill>
                  </a:tcPr>
                </a:tc>
              </a:tr>
              <a:tr h="232703">
                <a:tc gridSpan="4">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no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a:p>
                  </a:txBody>
                  <a:tcPr/>
                </a:tc>
                <a:tc h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IN"/>
                    </a:p>
                  </a:txBody>
                  <a:tcPr/>
                </a:tc>
                <a:tc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rgbClr val="5AA0F5"/>
                    </a:solidFill>
                  </a:tcPr>
                </a:tc>
                <a:tc hMerge="1">
                  <a:txBody>
                    <a:bodyPr/>
                    <a:lstStyle/>
                    <a:p>
                      <a:endParaRPr lang="en-IN"/>
                    </a:p>
                  </a:txBody>
                  <a:tcPr/>
                </a:tc>
                <a:tc hMerge="1">
                  <a:txBody>
                    <a:bodyPr/>
                    <a:lstStyle/>
                    <a:p>
                      <a:pPr algn="ctr"/>
                      <a:endParaRPr lang="en-IN" sz="900" dirty="0"/>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endParaRPr lang="en-IN"/>
                    </a:p>
                  </a:txBody>
                  <a:tcPr/>
                </a:tc>
                <a:tc hMerge="1">
                  <a:txBody>
                    <a:bodyPr/>
                    <a:lstStyle/>
                    <a:p>
                      <a:pPr algn="ctr"/>
                      <a:endParaRPr lang="en-IN" sz="900" dirty="0"/>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rowSpan="2" hMerge="1">
                  <a:txBody>
                    <a:bodyPr/>
                    <a:lstStyle/>
                    <a:p>
                      <a:endParaRPr lang="en-IN"/>
                    </a:p>
                  </a:txBody>
                  <a:tcPr/>
                </a:tc>
                <a:tc rowSpan="2"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solidFill>
                  </a:tcPr>
                </a:tc>
                <a:tc rowSpan="2" hMerge="1">
                  <a:txBody>
                    <a:bodyPr/>
                    <a:lstStyle/>
                    <a:p>
                      <a:endParaRPr lang="en-IN"/>
                    </a:p>
                  </a:txBody>
                  <a:tcPr/>
                </a:tc>
                <a:tc rowSpan="2" hMerge="1">
                  <a:txBody>
                    <a:bodyPr/>
                    <a:lstStyle/>
                    <a:p>
                      <a:pPr algn="ctr"/>
                      <a:endParaRPr lang="en-IN" sz="900" dirty="0"/>
                    </a:p>
                  </a:txBody>
                  <a:tcPr anchor="ctr">
                    <a:solidFill>
                      <a:schemeClr val="accent1"/>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r>
              <a:tr h="237599">
                <a:tc gridSpan="2">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pPr algn="ctr"/>
                      <a:endParaRPr lang="en-IN" sz="900" dirty="0"/>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solidFill>
                  </a:tcPr>
                </a:tc>
                <a:tc rowSpan="2" hMerge="1">
                  <a:txBody>
                    <a:bodyPr/>
                    <a:lstStyle/>
                    <a:p>
                      <a:endParaRPr lang="en-IN"/>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solidFill>
                  </a:tcPr>
                </a:tc>
                <a:tc rowSpan="2" hMerge="1">
                  <a:txBody>
                    <a:bodyPr/>
                    <a:lstStyle/>
                    <a:p>
                      <a:endParaRPr lang="en-IN"/>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gridSpan="5">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endParaRPr lang="en-IN"/>
                    </a:p>
                  </a:txBody>
                  <a:tcPr/>
                </a:tc>
                <a:tc hMerge="1">
                  <a:txBody>
                    <a:bodyPr/>
                    <a:lstStyle/>
                    <a:p>
                      <a:pPr algn="ctr"/>
                      <a:endParaRPr lang="en-IN" sz="9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lang="en-IN"/>
                    </a:p>
                  </a:txBody>
                  <a:tcPr/>
                </a:tc>
                <a:tc hMerge="1">
                  <a:txBody>
                    <a:bodyPr/>
                    <a:lstStyle/>
                    <a:p>
                      <a:pPr algn="ctr"/>
                      <a:endParaRPr lang="en-IN" sz="900" dirty="0"/>
                    </a:p>
                  </a:txBody>
                  <a:tcPr/>
                </a:tc>
                <a:tc gridSpan="2" vMerge="1">
                  <a:txBody>
                    <a:bodyPr/>
                    <a:lstStyle/>
                    <a:p>
                      <a:pPr algn="ctr"/>
                      <a:endParaRPr lang="en-IN" sz="900" dirty="0"/>
                    </a:p>
                  </a:txBody>
                  <a:tcPr anchor="ctr">
                    <a:solidFill>
                      <a:schemeClr val="accent1"/>
                    </a:solidFill>
                  </a:tcPr>
                </a:tc>
                <a:tc hMerge="1" vMerge="1">
                  <a:txBody>
                    <a:bodyPr/>
                    <a:lstStyle/>
                    <a:p>
                      <a:endParaRPr lang="en-IN"/>
                    </a:p>
                  </a:txBody>
                  <a:tcPr/>
                </a:tc>
                <a:tc gridSpan="3" vMerge="1">
                  <a:txBody>
                    <a:bodyPr/>
                    <a:lstStyle/>
                    <a:p>
                      <a:pPr algn="ctr"/>
                      <a:endParaRPr lang="en-IN" sz="900" dirty="0"/>
                    </a:p>
                  </a:txBody>
                  <a:tcPr anchor="ctr">
                    <a:solidFill>
                      <a:schemeClr val="accent1"/>
                    </a:solidFill>
                  </a:tcPr>
                </a:tc>
                <a:tc hMerge="1" vMerge="1">
                  <a:txBody>
                    <a:bodyPr/>
                    <a:lstStyle/>
                    <a:p>
                      <a:endParaRPr lang="en-IN"/>
                    </a:p>
                  </a:txBody>
                  <a:tcPr/>
                </a:tc>
                <a:tc hMerge="1" vMerge="1">
                  <a:txBody>
                    <a:bodyPr/>
                    <a:lstStyle/>
                    <a:p>
                      <a:pPr algn="ctr"/>
                      <a:endParaRPr lang="en-IN" sz="900" dirty="0"/>
                    </a:p>
                  </a:txBody>
                  <a:tcPr/>
                </a:tc>
                <a:tc rowSpan="5">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237599">
                <a:tc rowSpan="4">
                  <a:txBody>
                    <a:bodyPr/>
                    <a:lstStyle/>
                    <a:p>
                      <a:pPr marL="0" marR="0" indent="0" algn="ctr" defTabSz="457200" rtl="0" eaLnBrk="1" fontAlgn="auto" latinLnBrk="0" hangingPunct="1">
                        <a:lnSpc>
                          <a:spcPct val="100000"/>
                        </a:lnSpc>
                        <a:spcBef>
                          <a:spcPts val="0"/>
                        </a:spcBef>
                        <a:spcAft>
                          <a:spcPts val="0"/>
                        </a:spcAft>
                        <a:buClrTx/>
                        <a:buSzTx/>
                        <a:buFontTx/>
                        <a:buNone/>
                        <a:tabLst/>
                        <a:defRPr/>
                      </a:pPr>
                      <a:endParaRPr lang="en-IN" sz="900" b="0" dirty="0" smtClean="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4">
                        <a:lumMod val="60000"/>
                        <a:lumOff val="40000"/>
                        <a:alpha val="80000"/>
                      </a:schemeClr>
                    </a:solidFill>
                  </a:tcPr>
                </a:tc>
                <a:tc rowSpan="4">
                  <a:txBody>
                    <a:bodyPr/>
                    <a:lstStyle/>
                    <a:p>
                      <a:pPr marL="0" marR="0" indent="0" algn="ctr" defTabSz="457200" rtl="0" eaLnBrk="1" fontAlgn="auto" latinLnBrk="0" hangingPunct="1">
                        <a:lnSpc>
                          <a:spcPct val="100000"/>
                        </a:lnSpc>
                        <a:spcBef>
                          <a:spcPts val="0"/>
                        </a:spcBef>
                        <a:spcAft>
                          <a:spcPts val="0"/>
                        </a:spcAft>
                        <a:buClrTx/>
                        <a:buSzTx/>
                        <a:buFontTx/>
                        <a:buNone/>
                        <a:tabLst/>
                        <a:defRPr/>
                      </a:pP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solidFill>
                  </a:tcPr>
                </a:tc>
                <a:tc gridSpan="2" vMerge="1">
                  <a:txBody>
                    <a:bodyPr/>
                    <a:lstStyle/>
                    <a:p>
                      <a:pPr algn="ctr"/>
                      <a:endParaRPr lang="en-IN" sz="900" dirty="0"/>
                    </a:p>
                  </a:txBody>
                  <a:tcPr/>
                </a:tc>
                <a:tc hMerge="1" vMerge="1">
                  <a:txBody>
                    <a:bodyPr/>
                    <a:lstStyle/>
                    <a:p>
                      <a:endParaRPr lang="en-IN"/>
                    </a:p>
                  </a:txBody>
                  <a:tcPr/>
                </a:tc>
                <a:tc gridSpan="2" vMerge="1">
                  <a:txBody>
                    <a:bodyPr/>
                    <a:lstStyle/>
                    <a:p>
                      <a:pPr algn="ctr"/>
                      <a:endParaRPr lang="en-IN" sz="900" dirty="0"/>
                    </a:p>
                  </a:txBody>
                  <a:tcPr/>
                </a:tc>
                <a:tc hMerge="1" v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endParaRPr lang="en-IN"/>
                    </a:p>
                  </a:txBody>
                  <a:tcPr/>
                </a:tc>
                <a:tc rowSpan="4"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alpha val="80000"/>
                      </a:schemeClr>
                    </a:solidFill>
                  </a:tcPr>
                </a:tc>
                <a:tc rowSpan="4" hMerge="1">
                  <a:txBody>
                    <a:bodyPr/>
                    <a:lstStyle/>
                    <a:p>
                      <a:endParaRPr lang="en-IN"/>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grid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endParaRPr lang="en-IN"/>
                    </a:p>
                  </a:txBody>
                  <a:tcPr/>
                </a:tc>
                <a:tc hMerge="1">
                  <a:txBody>
                    <a:bodyPr/>
                    <a:lstStyle/>
                    <a:p>
                      <a:pPr algn="ctr"/>
                      <a:endParaRPr lang="en-IN" sz="900" dirty="0"/>
                    </a:p>
                  </a:txBody>
                  <a:tcPr/>
                </a:tc>
                <a:tc hMerge="1">
                  <a:txBody>
                    <a:bodyPr/>
                    <a:lstStyle/>
                    <a:p>
                      <a:endParaRPr lang="en-IN"/>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vMerge="1">
                  <a:txBody>
                    <a:bodyPr/>
                    <a:lstStyle/>
                    <a:p>
                      <a:pPr algn="ctr"/>
                      <a:endParaRPr lang="en-IN" sz="900" dirty="0"/>
                    </a:p>
                  </a:txBody>
                  <a:tcPr anchor="ctr">
                    <a:solidFill>
                      <a:schemeClr val="accent1"/>
                    </a:solidFill>
                  </a:tcPr>
                </a:tc>
              </a:tr>
              <a:tr h="202178">
                <a:tc vMerge="1">
                  <a:txBody>
                    <a:bodyPr/>
                    <a:lstStyle/>
                    <a:p>
                      <a:pPr marL="0" marR="0" indent="0" algn="ctr" defTabSz="457200" rtl="0" eaLnBrk="1" fontAlgn="auto" latinLnBrk="0" hangingPunct="1">
                        <a:lnSpc>
                          <a:spcPct val="100000"/>
                        </a:lnSpc>
                        <a:spcBef>
                          <a:spcPts val="0"/>
                        </a:spcBef>
                        <a:spcAft>
                          <a:spcPts val="0"/>
                        </a:spcAft>
                        <a:buClrTx/>
                        <a:buSzTx/>
                        <a:buFontTx/>
                        <a:buNone/>
                        <a:tabLst/>
                        <a:defRPr/>
                      </a:pPr>
                      <a:endParaRPr lang="en-IN" sz="900" dirty="0" smtClean="0"/>
                    </a:p>
                  </a:txBody>
                  <a:tcPr/>
                </a:tc>
                <a:tc vMerge="1">
                  <a:txBody>
                    <a:bodyPr/>
                    <a:lstStyle/>
                    <a:p>
                      <a:pPr marL="0" marR="0" indent="0" algn="ctr" defTabSz="457200" rtl="0" eaLnBrk="1" fontAlgn="auto" latinLnBrk="0" hangingPunct="1">
                        <a:lnSpc>
                          <a:spcPct val="100000"/>
                        </a:lnSpc>
                        <a:spcBef>
                          <a:spcPts val="0"/>
                        </a:spcBef>
                        <a:spcAft>
                          <a:spcPts val="0"/>
                        </a:spcAft>
                        <a:buClrTx/>
                        <a:buSzTx/>
                        <a:buFontTx/>
                        <a:buNone/>
                        <a:tabLst/>
                        <a:defRPr/>
                      </a:pPr>
                      <a:endParaRPr lang="en-IN" sz="900" dirty="0" smtClean="0"/>
                    </a:p>
                  </a:txBody>
                  <a:tcPr/>
                </a:tc>
                <a:tc rowSpan="3" grid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solidFill>
                  </a:tcPr>
                </a:tc>
                <a:tc rowSpan="3" hMerge="1">
                  <a:txBody>
                    <a:bodyPr/>
                    <a:lstStyle/>
                    <a:p>
                      <a:endParaRPr lang="en-IN"/>
                    </a:p>
                  </a:txBody>
                  <a:tcPr/>
                </a:tc>
                <a:tc rowSpan="3" hMerge="1">
                  <a:txBody>
                    <a:bodyPr/>
                    <a:lstStyle/>
                    <a:p>
                      <a:pPr algn="ctr"/>
                      <a:endParaRPr lang="en-IN" sz="900" dirty="0" smtClean="0"/>
                    </a:p>
                  </a:txBody>
                  <a:tcPr/>
                </a:tc>
                <a:tc rowSpan="3" hMerge="1">
                  <a:txBody>
                    <a:bodyPr/>
                    <a:lstStyle/>
                    <a:p>
                      <a:endParaRPr lang="en-IN"/>
                    </a:p>
                  </a:txBody>
                  <a:tcPr/>
                </a:tc>
                <a:tc gridSpan="2">
                  <a:txBody>
                    <a:bodyPr/>
                    <a:lstStyle/>
                    <a:p>
                      <a:pPr marL="0" marR="0" indent="0" algn="ctr" defTabSz="457200" rtl="0" eaLnBrk="1" fontAlgn="auto" latinLnBrk="0" hangingPunct="1">
                        <a:lnSpc>
                          <a:spcPct val="100000"/>
                        </a:lnSpc>
                        <a:spcBef>
                          <a:spcPts val="0"/>
                        </a:spcBef>
                        <a:spcAft>
                          <a:spcPts val="0"/>
                        </a:spcAft>
                        <a:buClrTx/>
                        <a:buSzTx/>
                        <a:buFontTx/>
                        <a:buNone/>
                        <a:tabLst/>
                        <a:defRPr/>
                      </a:pP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hMerge="1">
                  <a:txBody>
                    <a:bodyPr/>
                    <a:lstStyle/>
                    <a:p>
                      <a:endParaRPr lang="en-IN"/>
                    </a:p>
                  </a:txBody>
                  <a:tcPr/>
                </a:tc>
                <a:tc rowSpan="3"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rowSpan="3" hMerge="1">
                  <a:txBody>
                    <a:bodyPr/>
                    <a:lstStyle/>
                    <a:p>
                      <a:endParaRPr lang="en-IN"/>
                    </a:p>
                  </a:txBody>
                  <a:tcPr/>
                </a:tc>
                <a:tc gridSpan="2" vMerge="1">
                  <a:txBody>
                    <a:bodyPr/>
                    <a:lstStyle/>
                    <a:p>
                      <a:endParaRPr lang="en-IN" sz="900" dirty="0"/>
                    </a:p>
                  </a:txBody>
                  <a:tcPr/>
                </a:tc>
                <a:tc hMerge="1" vMerge="1">
                  <a:txBody>
                    <a:bodyPr/>
                    <a:lstStyle/>
                    <a:p>
                      <a:endParaRPr lang="en-IN"/>
                    </a:p>
                  </a:txBody>
                  <a:tcPr/>
                </a:tc>
                <a:tc row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rowSpan="2" hMerge="1">
                  <a:txBody>
                    <a:bodyPr/>
                    <a:lstStyle/>
                    <a:p>
                      <a:endParaRPr lang="en-IN"/>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rowSpan="2" hMerge="1">
                  <a:txBody>
                    <a:bodyPr/>
                    <a:lstStyle/>
                    <a:p>
                      <a:endParaRPr lang="en-IN"/>
                    </a:p>
                  </a:txBody>
                  <a:tcPr/>
                </a:tc>
                <a:tc row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vMerge="1">
                  <a:txBody>
                    <a:bodyPr/>
                    <a:lstStyle/>
                    <a:p>
                      <a:pPr algn="ctr"/>
                      <a:endParaRPr lang="en-IN" sz="900" dirty="0"/>
                    </a:p>
                  </a:txBody>
                  <a:tcPr anchor="ctr">
                    <a:solidFill>
                      <a:schemeClr val="accent1"/>
                    </a:solidFill>
                  </a:tcPr>
                </a:tc>
              </a:tr>
              <a:tr h="193278">
                <a:tc vMerge="1">
                  <a:txBody>
                    <a:bodyPr/>
                    <a:lstStyle/>
                    <a:p>
                      <a:endParaRPr lang="en-IN"/>
                    </a:p>
                  </a:txBody>
                  <a:tcPr/>
                </a:tc>
                <a:tc vMerge="1">
                  <a:txBody>
                    <a:bodyPr/>
                    <a:lstStyle/>
                    <a:p>
                      <a:endParaRPr lang="en-IN"/>
                    </a:p>
                  </a:txBody>
                  <a:tcPr/>
                </a:tc>
                <a:tc gridSpan="4" vMerge="1">
                  <a:txBody>
                    <a:bodyPr/>
                    <a:lstStyle/>
                    <a:p>
                      <a:endParaRPr lang="en-IN"/>
                    </a:p>
                  </a:txBody>
                  <a:tcPr/>
                </a:tc>
                <a:tc hMerge="1" vMerge="1">
                  <a:txBody>
                    <a:bodyPr/>
                    <a:lstStyle/>
                    <a:p>
                      <a:endParaRPr lang="en-IN"/>
                    </a:p>
                  </a:txBody>
                  <a:tcPr/>
                </a:tc>
                <a:tc hMerge="1" vMerge="1">
                  <a:txBody>
                    <a:bodyPr/>
                    <a:lstStyle/>
                    <a:p>
                      <a:endParaRPr lang="en-IN"/>
                    </a:p>
                  </a:txBody>
                  <a:tcPr/>
                </a:tc>
                <a:tc hMerge="1" vMerge="1">
                  <a:txBody>
                    <a:bodyPr/>
                    <a:lstStyle/>
                    <a:p>
                      <a:endParaRPr lang="en-IN"/>
                    </a:p>
                  </a:txBody>
                  <a:tcPr/>
                </a:tc>
                <a:tc rowSpan="2" gridSpan="2">
                  <a:txBody>
                    <a:bodyPr/>
                    <a:lstStyle/>
                    <a:p>
                      <a:pPr algn="ct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rgbClr val="5AA0F5"/>
                    </a:solidFill>
                  </a:tcPr>
                </a:tc>
                <a:tc rowSpan="2" hMerge="1">
                  <a:txBody>
                    <a:bodyPr/>
                    <a:lstStyle/>
                    <a:p>
                      <a:endParaRPr lang="en-IN"/>
                    </a:p>
                  </a:txBody>
                  <a:tcPr/>
                </a:tc>
                <a:tc gridSpan="2" vMerge="1">
                  <a:txBody>
                    <a:bodyPr/>
                    <a:lstStyle/>
                    <a:p>
                      <a:endParaRPr lang="en-IN"/>
                    </a:p>
                  </a:txBody>
                  <a:tcPr/>
                </a:tc>
                <a:tc hMerge="1" vMerge="1">
                  <a:txBody>
                    <a:bodyPr/>
                    <a:lstStyle/>
                    <a:p>
                      <a:endParaRPr lang="en-IN"/>
                    </a:p>
                  </a:txBody>
                  <a:tcPr/>
                </a:tc>
                <a:tc gridSpan="2" vMerge="1">
                  <a:txBody>
                    <a:bodyPr/>
                    <a:lstStyle/>
                    <a:p>
                      <a:endParaRPr lang="en-IN"/>
                    </a:p>
                  </a:txBody>
                  <a:tcPr/>
                </a:tc>
                <a:tc hMerge="1" vMerge="1">
                  <a:txBody>
                    <a:bodyPr/>
                    <a:lstStyle/>
                    <a:p>
                      <a:endParaRPr lang="en-IN"/>
                    </a:p>
                  </a:txBody>
                  <a:tcPr/>
                </a:tc>
                <a:tc vMerge="1">
                  <a:txBody>
                    <a:bodyPr/>
                    <a:lstStyle/>
                    <a:p>
                      <a:endParaRPr lang="en-IN"/>
                    </a:p>
                  </a:txBody>
                  <a:tcPr/>
                </a:tc>
                <a:tc gridSpan="2" vMerge="1">
                  <a:txBody>
                    <a:bodyPr/>
                    <a:lstStyle/>
                    <a:p>
                      <a:endParaRPr lang="en-IN"/>
                    </a:p>
                  </a:txBody>
                  <a:tcPr/>
                </a:tc>
                <a:tc hMerge="1" vMerge="1">
                  <a:txBody>
                    <a:bodyPr/>
                    <a:lstStyle/>
                    <a:p>
                      <a:endParaRPr lang="en-IN"/>
                    </a:p>
                  </a:txBody>
                  <a:tcPr/>
                </a:tc>
                <a:tc gridSpan="2" vMerge="1">
                  <a:txBody>
                    <a:bodyPr/>
                    <a:lstStyle/>
                    <a:p>
                      <a:endParaRPr lang="en-IN"/>
                    </a:p>
                  </a:txBody>
                  <a:tcPr/>
                </a:tc>
                <a:tc hMerge="1" vMerge="1">
                  <a:txBody>
                    <a:bodyPr/>
                    <a:lstStyle/>
                    <a:p>
                      <a:endParaRPr lang="en-IN"/>
                    </a:p>
                  </a:txBody>
                  <a:tcPr/>
                </a:tc>
                <a:tc vMerge="1">
                  <a:txBody>
                    <a:bodyPr/>
                    <a:lstStyle/>
                    <a:p>
                      <a:endParaRPr lang="en-IN"/>
                    </a:p>
                  </a:txBody>
                  <a:tcPr/>
                </a:tc>
                <a:tc vMerge="1">
                  <a:txBody>
                    <a:bodyPr/>
                    <a:lstStyle/>
                    <a:p>
                      <a:endParaRPr lang="en-IN"/>
                    </a:p>
                  </a:txBody>
                  <a:tcPr/>
                </a:tc>
              </a:tr>
              <a:tr h="0">
                <a:tc vMerge="1">
                  <a:txBody>
                    <a:bodyPr/>
                    <a:lstStyle/>
                    <a:p>
                      <a:endParaRPr lang="en-IN"/>
                    </a:p>
                  </a:txBody>
                  <a:tcPr/>
                </a:tc>
                <a:tc vMerge="1">
                  <a:txBody>
                    <a:bodyPr/>
                    <a:lstStyle/>
                    <a:p>
                      <a:endParaRPr lang="en-IN"/>
                    </a:p>
                  </a:txBody>
                  <a:tcPr/>
                </a:tc>
                <a:tc gridSpan="4" vMerge="1">
                  <a:txBody>
                    <a:bodyPr/>
                    <a:lstStyle/>
                    <a:p>
                      <a:endParaRPr lang="en-IN"/>
                    </a:p>
                  </a:txBody>
                  <a:tcPr/>
                </a:tc>
                <a:tc hMerge="1" vMerge="1">
                  <a:txBody>
                    <a:bodyPr/>
                    <a:lstStyle/>
                    <a:p>
                      <a:endParaRPr lang="en-IN"/>
                    </a:p>
                  </a:txBody>
                  <a:tcPr/>
                </a:tc>
                <a:tc hMerge="1" vMerge="1">
                  <a:txBody>
                    <a:bodyPr/>
                    <a:lstStyle/>
                    <a:p>
                      <a:endParaRPr lang="en-IN"/>
                    </a:p>
                  </a:txBody>
                  <a:tcPr/>
                </a:tc>
                <a:tc hMerge="1" vMerge="1">
                  <a:txBody>
                    <a:bodyPr/>
                    <a:lstStyle/>
                    <a:p>
                      <a:endParaRPr lang="en-IN"/>
                    </a:p>
                  </a:txBody>
                  <a:tcPr/>
                </a:tc>
                <a:tc gridSpan="2" vMerge="1">
                  <a:txBody>
                    <a:bodyPr/>
                    <a:lstStyle/>
                    <a:p>
                      <a:endParaRPr lang="en-IN"/>
                    </a:p>
                  </a:txBody>
                  <a:tcPr/>
                </a:tc>
                <a:tc hMerge="1" vMerge="1">
                  <a:txBody>
                    <a:bodyPr/>
                    <a:lstStyle/>
                    <a:p>
                      <a:endParaRPr lang="en-IN"/>
                    </a:p>
                  </a:txBody>
                  <a:tcPr/>
                </a:tc>
                <a:tc gridSpan="2" vMerge="1">
                  <a:txBody>
                    <a:bodyPr/>
                    <a:lstStyle/>
                    <a:p>
                      <a:endParaRPr lang="en-IN"/>
                    </a:p>
                  </a:txBody>
                  <a:tcPr/>
                </a:tc>
                <a:tc hMerge="1" vMerge="1">
                  <a:txBody>
                    <a:bodyPr/>
                    <a:lstStyle/>
                    <a:p>
                      <a:endParaRPr lang="en-IN"/>
                    </a:p>
                  </a:txBody>
                  <a:tcPr/>
                </a:tc>
                <a:tc gridSpan="2" vMerge="1">
                  <a:txBody>
                    <a:bodyPr/>
                    <a:lstStyle/>
                    <a:p>
                      <a:endParaRPr lang="en-IN"/>
                    </a:p>
                  </a:txBody>
                  <a:tcPr/>
                </a:tc>
                <a:tc hMerge="1" vMerge="1">
                  <a:txBody>
                    <a:bodyPr/>
                    <a:lstStyle/>
                    <a:p>
                      <a:endParaRPr lang="en-IN"/>
                    </a:p>
                  </a:txBody>
                  <a:tcPr/>
                </a:tc>
                <a:tc vMerge="1">
                  <a:txBody>
                    <a:bodyPr/>
                    <a:lstStyle/>
                    <a:p>
                      <a:endParaRPr lang="en-IN"/>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rowSpan="2" hMerge="1">
                  <a:txBody>
                    <a:bodyPr/>
                    <a:lstStyle/>
                    <a:p>
                      <a:endParaRPr lang="en-IN"/>
                    </a:p>
                  </a:txBody>
                  <a:tcPr/>
                </a:tc>
                <a:tc rowSpan="3"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3" hMerge="1">
                  <a:txBody>
                    <a:bodyPr/>
                    <a:lstStyle/>
                    <a:p>
                      <a:endParaRPr lang="en-IN"/>
                    </a:p>
                  </a:txBody>
                  <a:tcPr/>
                </a:tc>
                <a:tc vMerge="1">
                  <a:txBody>
                    <a:bodyPr/>
                    <a:lstStyle/>
                    <a:p>
                      <a:endParaRPr lang="en-IN"/>
                    </a:p>
                  </a:txBody>
                  <a:tcPr/>
                </a:tc>
                <a:tc vMerge="1">
                  <a:txBody>
                    <a:bodyPr/>
                    <a:lstStyle/>
                    <a:p>
                      <a:endParaRPr lang="en-IN"/>
                    </a:p>
                  </a:txBody>
                  <a:tcPr/>
                </a:tc>
              </a:tr>
              <a:tr h="386556">
                <a:tc>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4"/>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rgbClr val="5AA0F5"/>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solidFill>
                  </a:tcPr>
                </a:tc>
                <a:tc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hMerge="1">
                  <a:txBody>
                    <a:bodyPr/>
                    <a:lstStyle/>
                    <a:p>
                      <a:pPr algn="ctr"/>
                      <a:endParaRPr lang="en-IN" sz="900" dirty="0"/>
                    </a:p>
                  </a:txBody>
                  <a:tcPr/>
                </a:tc>
                <a:tc hMerge="1">
                  <a:txBody>
                    <a:bodyPr/>
                    <a:lstStyle/>
                    <a:p>
                      <a:pPr algn="ctr"/>
                      <a:endParaRPr lang="en-IN" sz="900" dirty="0"/>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rgbClr val="5AA0F5"/>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solidFill>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rgbClr val="5AA0F5"/>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IN"/>
                    </a:p>
                  </a:txBody>
                  <a:tcPr/>
                </a:tc>
                <a:tc vMerge="1">
                  <a:txBody>
                    <a:bodyPr/>
                    <a:lstStyle/>
                    <a:p>
                      <a:pPr algn="ctr"/>
                      <a:endParaRPr lang="en-IN" sz="900" dirty="0"/>
                    </a:p>
                  </a:txBody>
                  <a:tcPr/>
                </a:tc>
                <a:tc gridSpan="2" vMerge="1">
                  <a:txBody>
                    <a:bodyPr/>
                    <a:lstStyle/>
                    <a:p>
                      <a:pPr algn="ctr"/>
                      <a:endParaRPr lang="en-IN" sz="900" dirty="0"/>
                    </a:p>
                  </a:txBody>
                  <a:tcPr/>
                </a:tc>
                <a:tc hMerge="1" vMerge="1">
                  <a:txBody>
                    <a:bodyPr/>
                    <a:lstStyle/>
                    <a:p>
                      <a:endParaRPr lang="en-IN"/>
                    </a:p>
                  </a:txBody>
                  <a:tcPr/>
                </a:tc>
                <a:tc gridSpan="2" vMerge="1">
                  <a:txBody>
                    <a:bodyPr/>
                    <a:lstStyle/>
                    <a:p>
                      <a:pPr algn="ctr"/>
                      <a:endParaRPr lang="en-IN" sz="900" dirty="0"/>
                    </a:p>
                  </a:txBody>
                  <a:tcPr/>
                </a:tc>
                <a:tc hMerge="1" vMerge="1">
                  <a:txBody>
                    <a:bodyPr/>
                    <a:lstStyle/>
                    <a:p>
                      <a:endParaRPr lang="en-IN"/>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365760">
                <a:tc gridSpan="2">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solidFill>
                  </a:tcPr>
                </a:tc>
                <a:tc hMerge="1">
                  <a:txBody>
                    <a:bodyPr/>
                    <a:lstStyle/>
                    <a:p>
                      <a:endParaRPr lang="en-IN"/>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pPr algn="ctr"/>
                      <a:endParaRPr lang="en-IN" sz="900" dirty="0"/>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gridSpan="2" vMerge="1">
                  <a:txBody>
                    <a:bodyPr/>
                    <a:lstStyle/>
                    <a:p>
                      <a:pPr algn="ctr"/>
                      <a:endParaRPr lang="en-IN" sz="900" dirty="0"/>
                    </a:p>
                  </a:txBody>
                  <a:tcPr/>
                </a:tc>
                <a:tc hMerge="1" vMerge="1">
                  <a:txBody>
                    <a:bodyPr/>
                    <a:lstStyle/>
                    <a:p>
                      <a:endParaRPr lang="en-IN"/>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alpha val="80000"/>
                      </a:schemeClr>
                    </a:solidFill>
                  </a:tcPr>
                </a:tc>
              </a:tr>
              <a:tr h="386556">
                <a:tc rowSpan="4">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4"/>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rowSpan="2" gridSpan="2">
                  <a:txBody>
                    <a:bodyPr/>
                    <a:lstStyle/>
                    <a:p>
                      <a:pPr algn="ct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rowSpan="2" hMerge="1">
                  <a:txBody>
                    <a:bodyPr/>
                    <a:lstStyle/>
                    <a:p>
                      <a:pPr algn="ctr"/>
                      <a:endParaRPr lang="en-IN" sz="900" dirty="0"/>
                    </a:p>
                  </a:txBody>
                  <a:tcPr/>
                </a:tc>
                <a:tc rowSpan="2" gridSpan="2">
                  <a:txBody>
                    <a:bodyPr/>
                    <a:lstStyle/>
                    <a:p>
                      <a:pPr algn="ct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rowSpan="2" hMerge="1">
                  <a:txBody>
                    <a:bodyPr/>
                    <a:lstStyle/>
                    <a:p>
                      <a:pPr algn="ctr"/>
                      <a:endParaRPr lang="en-IN" sz="900" dirty="0"/>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rgbClr val="5AA0F5"/>
                    </a:solidFill>
                  </a:tcPr>
                </a:tc>
                <a:tc hMerge="1">
                  <a:txBody>
                    <a:bodyPr/>
                    <a:lstStyle/>
                    <a:p>
                      <a:endParaRPr lang="en-IN"/>
                    </a:p>
                  </a:txBody>
                  <a:tcPr/>
                </a:tc>
                <a:tc>
                  <a:txBody>
                    <a:bodyPr/>
                    <a:lstStyle/>
                    <a:p>
                      <a:pPr algn="ct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endParaRPr lang="en-IN"/>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r>
              <a:tr h="237599">
                <a:tc vMerge="1">
                  <a:txBody>
                    <a:bodyPr/>
                    <a:lstStyle/>
                    <a:p>
                      <a:pPr algn="ctr"/>
                      <a:endParaRPr lang="en-IN" sz="9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vMerge="1">
                  <a:txBody>
                    <a:bodyPr/>
                    <a:lstStyle/>
                    <a:p>
                      <a:pPr algn="ctr"/>
                      <a:endParaRPr lang="en-IN" sz="900" dirty="0" smtClean="0"/>
                    </a:p>
                  </a:txBody>
                  <a:tcPr/>
                </a:tc>
                <a:tc hMerge="1" vMerge="1">
                  <a:txBody>
                    <a:bodyPr/>
                    <a:lstStyle/>
                    <a:p>
                      <a:endParaRPr lang="en-IN"/>
                    </a:p>
                  </a:txBody>
                  <a:tcPr/>
                </a:tc>
                <a:tc gridSpan="2" vMerge="1">
                  <a:txBody>
                    <a:bodyPr/>
                    <a:lstStyle/>
                    <a:p>
                      <a:pPr algn="ctr"/>
                      <a:endParaRPr lang="en-IN" sz="900" dirty="0"/>
                    </a:p>
                  </a:txBody>
                  <a:tcPr/>
                </a:tc>
                <a:tc hMerge="1" vMerge="1">
                  <a:txBody>
                    <a:bodyPr/>
                    <a:lstStyle/>
                    <a:p>
                      <a:endParaRPr lang="en-IN"/>
                    </a:p>
                  </a:txBody>
                  <a:tcPr/>
                </a:tc>
                <a:tc rowSpan="3"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rowSpan="3" hMerge="1">
                  <a:txBody>
                    <a:bodyPr/>
                    <a:lstStyle/>
                    <a:p>
                      <a:endParaRPr lang="en-IN"/>
                    </a:p>
                  </a:txBody>
                  <a:tcPr/>
                </a:tc>
                <a:tc gridSpan="2">
                  <a:txBody>
                    <a:bodyPr/>
                    <a:lstStyle/>
                    <a:p>
                      <a:pPr algn="ct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rgbClr val="5AA0F5"/>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a:endParaRPr lang="en-IN" sz="900" dirty="0"/>
                    </a:p>
                  </a:txBody>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rgbClr val="5AA0F5"/>
                    </a:solidFill>
                  </a:tcPr>
                </a:tc>
                <a:tc hMerge="1">
                  <a:txBody>
                    <a:bodyPr/>
                    <a:lstStyle/>
                    <a:p>
                      <a:endParaRPr lang="en-IN"/>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row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r>
              <a:tr h="193278">
                <a:tc vMerge="1">
                  <a:txBody>
                    <a:bodyPr/>
                    <a:lstStyle/>
                    <a:p>
                      <a:pPr algn="ctr"/>
                      <a:endParaRPr lang="en-IN" sz="9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vMerge="1">
                  <a:txBody>
                    <a:bodyPr/>
                    <a:lstStyle/>
                    <a:p>
                      <a:pPr algn="ctr"/>
                      <a:endParaRPr lang="en-IN" sz="9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grid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rowSpan="2" hMerge="1">
                  <a:txBody>
                    <a:bodyPr/>
                    <a:lstStyle/>
                    <a:p>
                      <a:endParaRPr lang="en-IN"/>
                    </a:p>
                  </a:txBody>
                  <a:tcPr/>
                </a:tc>
                <a:tc rowSpan="2" hMerge="1">
                  <a:txBody>
                    <a:bodyPr/>
                    <a:lstStyle/>
                    <a:p>
                      <a:pPr algn="ctr"/>
                      <a:endParaRPr lang="en-IN" sz="900" dirty="0"/>
                    </a:p>
                  </a:txBody>
                  <a:tcPr/>
                </a:tc>
                <a:tc rowSpan="2" hMerge="1">
                  <a:txBody>
                    <a:bodyPr/>
                    <a:lstStyle/>
                    <a:p>
                      <a:endParaRPr lang="en-IN"/>
                    </a:p>
                  </a:txBody>
                  <a:tcPr/>
                </a:tc>
                <a:tc gridSpan="2" vMerge="1">
                  <a:txBody>
                    <a:bodyPr/>
                    <a:lstStyle/>
                    <a:p>
                      <a:pPr algn="ctr"/>
                      <a:endParaRPr lang="en-IN" sz="900" dirty="0"/>
                    </a:p>
                  </a:txBody>
                  <a:tcPr/>
                </a:tc>
                <a:tc hMerge="1" v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endParaRPr lang="en-IN"/>
                    </a:p>
                  </a:txBody>
                  <a:tcPr/>
                </a:tc>
                <a:tc row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rowSpan="4"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rowSpan="4" hMerge="1">
                  <a:txBody>
                    <a:bodyPr/>
                    <a:lstStyle/>
                    <a:p>
                      <a:endParaRPr lang="en-IN"/>
                    </a:p>
                  </a:txBody>
                  <a:tcPr/>
                </a:tc>
                <a:tc row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row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vMerge="1">
                  <a:txBody>
                    <a:bodyPr/>
                    <a:lstStyle/>
                    <a:p>
                      <a:pPr algn="ctr"/>
                      <a:endParaRPr lang="en-IN" sz="900" dirty="0"/>
                    </a:p>
                  </a:txBody>
                  <a:tcPr/>
                </a:tc>
              </a:tr>
              <a:tr h="193278">
                <a:tc vMerge="1">
                  <a:txBody>
                    <a:bodyPr/>
                    <a:lstStyle/>
                    <a:p>
                      <a:endParaRPr lang="en-IN"/>
                    </a:p>
                  </a:txBody>
                  <a:tcPr/>
                </a:tc>
                <a:tc vMerge="1">
                  <a:txBody>
                    <a:bodyPr/>
                    <a:lstStyle/>
                    <a:p>
                      <a:endParaRPr lang="en-IN"/>
                    </a:p>
                  </a:txBody>
                  <a:tcPr/>
                </a:tc>
                <a:tc gridSpan="4" vMerge="1">
                  <a:txBody>
                    <a:bodyPr/>
                    <a:lstStyle/>
                    <a:p>
                      <a:endParaRPr lang="en-IN"/>
                    </a:p>
                  </a:txBody>
                  <a:tcPr/>
                </a:tc>
                <a:tc hMerge="1" vMerge="1">
                  <a:txBody>
                    <a:bodyPr/>
                    <a:lstStyle/>
                    <a:p>
                      <a:endParaRPr lang="en-IN"/>
                    </a:p>
                  </a:txBody>
                  <a:tcPr/>
                </a:tc>
                <a:tc hMerge="1" vMerge="1">
                  <a:txBody>
                    <a:bodyPr/>
                    <a:lstStyle/>
                    <a:p>
                      <a:endParaRPr lang="en-IN"/>
                    </a:p>
                  </a:txBody>
                  <a:tcPr/>
                </a:tc>
                <a:tc hMerge="1" vMerge="1">
                  <a:txBody>
                    <a:bodyPr/>
                    <a:lstStyle/>
                    <a:p>
                      <a:endParaRPr lang="en-IN"/>
                    </a:p>
                  </a:txBody>
                  <a:tcPr/>
                </a:tc>
                <a:tc gridSpan="2" vMerge="1">
                  <a:txBody>
                    <a:bodyPr/>
                    <a:lstStyle/>
                    <a:p>
                      <a:endParaRPr lang="en-IN"/>
                    </a:p>
                  </a:txBody>
                  <a:tcPr/>
                </a:tc>
                <a:tc hMerge="1" vMerge="1">
                  <a:txBody>
                    <a:bodyPr/>
                    <a:lstStyle/>
                    <a:p>
                      <a:endParaRPr lang="en-IN" dirty="0"/>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gridSpan="2" vMerge="1">
                  <a:txBody>
                    <a:bodyPr/>
                    <a:lstStyle/>
                    <a:p>
                      <a:endParaRPr lang="en-IN"/>
                    </a:p>
                  </a:txBody>
                  <a:tcPr/>
                </a:tc>
                <a:tc hMerge="1"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pPr algn="ctr"/>
                      <a:endParaRPr lang="en-IN" sz="900" dirty="0"/>
                    </a:p>
                  </a:txBody>
                  <a:tcPr/>
                </a:tc>
                <a:tc vMerge="1">
                  <a:txBody>
                    <a:bodyPr/>
                    <a:lstStyle/>
                    <a:p>
                      <a:endParaRPr lang="en-IN"/>
                    </a:p>
                  </a:txBody>
                  <a:tcPr/>
                </a:tc>
              </a:tr>
              <a:tr h="193278">
                <a:tc rowSpan="3" gridSpan="2">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rowSpan="3" hMerge="1">
                  <a:txBody>
                    <a:bodyPr/>
                    <a:lstStyle/>
                    <a:p>
                      <a:endParaRPr lang="en-IN"/>
                    </a:p>
                  </a:txBody>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rowSpan="2" gridSpan="2">
                  <a:txBody>
                    <a:bodyPr/>
                    <a:lstStyle/>
                    <a:p>
                      <a:pPr algn="ctr"/>
                      <a:endParaRPr lang="en-IN" sz="900" b="0" dirty="0" smtClean="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vMerge="1">
                  <a:txBody>
                    <a:bodyPr/>
                    <a:lstStyle/>
                    <a:p>
                      <a:pPr algn="ctr"/>
                      <a:endParaRPr lang="en-IN" sz="900" dirty="0"/>
                    </a:p>
                  </a:txBody>
                  <a:tcPr/>
                </a:tc>
                <a:tc vMerge="1">
                  <a:txBody>
                    <a:bodyPr/>
                    <a:lstStyle/>
                    <a:p>
                      <a:pPr algn="ctr"/>
                      <a:endParaRPr lang="en-IN" sz="900" dirty="0"/>
                    </a:p>
                  </a:txBody>
                  <a:tcPr/>
                </a:tc>
                <a:tc vMerge="1">
                  <a:txBody>
                    <a:bodyPr/>
                    <a:lstStyle/>
                    <a:p>
                      <a:pPr algn="ctr"/>
                      <a:endParaRPr lang="en-IN" sz="900" dirty="0"/>
                    </a:p>
                  </a:txBody>
                  <a:tcPr/>
                </a:tc>
                <a:tc gridSpan="2" vMerge="1">
                  <a:txBody>
                    <a:bodyPr/>
                    <a:lstStyle/>
                    <a:p>
                      <a:pPr algn="ctr"/>
                      <a:endParaRPr lang="en-IN" sz="900" dirty="0"/>
                    </a:p>
                  </a:txBody>
                  <a:tcPr/>
                </a:tc>
                <a:tc hMerge="1" vMerge="1">
                  <a:txBody>
                    <a:bodyPr/>
                    <a:lstStyle/>
                    <a:p>
                      <a:endParaRPr lang="en-IN"/>
                    </a:p>
                  </a:txBody>
                  <a:tcPr/>
                </a:tc>
                <a:tc vMerge="1">
                  <a:txBody>
                    <a:bodyPr/>
                    <a:lstStyle/>
                    <a:p>
                      <a:pPr algn="ctr"/>
                      <a:endParaRPr lang="en-IN" sz="900" dirty="0"/>
                    </a:p>
                  </a:txBody>
                  <a:tcPr/>
                </a:tc>
                <a:tc vMerge="1">
                  <a:txBody>
                    <a:bodyPr/>
                    <a:lstStyle/>
                    <a:p>
                      <a:endParaRPr lang="en-IN"/>
                    </a:p>
                  </a:txBody>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r>
              <a:tr h="193278">
                <a:tc gridSpan="2" vMerge="1">
                  <a:txBody>
                    <a:bodyPr/>
                    <a:lstStyle/>
                    <a:p>
                      <a:endParaRPr lang="en-IN"/>
                    </a:p>
                  </a:txBody>
                  <a:tcPr/>
                </a:tc>
                <a:tc hMerge="1" vMerge="1">
                  <a:txBody>
                    <a:bodyPr/>
                    <a:lstStyle/>
                    <a:p>
                      <a:endParaRPr lang="en-IN"/>
                    </a:p>
                  </a:txBody>
                  <a:tcPr/>
                </a:tc>
                <a:tc vMerge="1">
                  <a:txBody>
                    <a:bodyPr/>
                    <a:lstStyle/>
                    <a:p>
                      <a:pPr algn="ctr"/>
                      <a:endParaRPr lang="en-IN" sz="1000" dirty="0"/>
                    </a:p>
                  </a:txBody>
                  <a:tcPr/>
                </a:tc>
                <a:tc vMerge="1">
                  <a:txBody>
                    <a:bodyPr/>
                    <a:lstStyle/>
                    <a:p>
                      <a:endParaRPr lang="en-IN"/>
                    </a:p>
                  </a:txBody>
                  <a:tcPr/>
                </a:tc>
                <a:tc gridSpan="2" vMerge="1">
                  <a:txBody>
                    <a:bodyPr/>
                    <a:lstStyle/>
                    <a:p>
                      <a:pPr algn="ctr"/>
                      <a:endParaRPr lang="en-IN" sz="1000" dirty="0"/>
                    </a:p>
                  </a:txBody>
                  <a:tcPr/>
                </a:tc>
                <a:tc hMerge="1" vMerge="1">
                  <a:txBody>
                    <a:bodyPr/>
                    <a:lstStyle/>
                    <a:p>
                      <a:endParaRPr lang="en-IN"/>
                    </a:p>
                  </a:txBody>
                  <a:tcPr/>
                </a:tc>
                <a:tc gridSpan="2" vMerge="1">
                  <a:txBody>
                    <a:bodyPr/>
                    <a:lstStyle/>
                    <a:p>
                      <a:endParaRPr lang="en-IN"/>
                    </a:p>
                  </a:txBody>
                  <a:tcPr/>
                </a:tc>
                <a:tc hMerge="1" v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gridSpan="2" vMerge="1">
                  <a:txBody>
                    <a:bodyPr/>
                    <a:lstStyle/>
                    <a:p>
                      <a:endParaRPr lang="en-IN"/>
                    </a:p>
                  </a:txBody>
                  <a:tcPr/>
                </a:tc>
                <a:tc hMerge="1"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r>
              <a:tr h="309246">
                <a:tc gridSpan="2" vMerge="1">
                  <a:txBody>
                    <a:bodyPr/>
                    <a:lstStyle/>
                    <a:p>
                      <a:pPr algn="ctr"/>
                      <a:endParaRPr lang="en-IN" sz="900" dirty="0"/>
                    </a:p>
                  </a:txBody>
                  <a:tcPr/>
                </a:tc>
                <a:tc hMerge="1" vMerge="1">
                  <a:txBody>
                    <a:bodyPr/>
                    <a:lstStyle/>
                    <a:p>
                      <a:endParaRPr lang="en-IN"/>
                    </a:p>
                  </a:txBody>
                  <a:tcPr/>
                </a:tc>
                <a:tc grid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hMerge="1">
                  <a:txBody>
                    <a:bodyPr/>
                    <a:lstStyle/>
                    <a:p>
                      <a:pPr algn="ctr"/>
                      <a:endParaRPr lang="en-IN" sz="900" dirty="0"/>
                    </a:p>
                  </a:txBody>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hMerge="1">
                  <a:txBody>
                    <a:bodyPr/>
                    <a:lstStyle/>
                    <a:p>
                      <a:pPr algn="ctr"/>
                      <a:endParaRPr lang="en-IN" sz="900" dirty="0"/>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IN" dirty="0"/>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IN"/>
                    </a:p>
                  </a:txBody>
                  <a:tcPr/>
                </a:tc>
                <a:tc rowSpan="4"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rowSpan="4" h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r>
              <a:tr h="232703">
                <a:tc rowSpan="2" gridSpan="6">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alpha val="80000"/>
                      </a:schemeClr>
                    </a:solidFill>
                  </a:tcPr>
                </a:tc>
                <a:tc rowSpan="2" hMerge="1">
                  <a:txBody>
                    <a:bodyPr/>
                    <a:lstStyle/>
                    <a:p>
                      <a:endParaRPr lang="en-IN"/>
                    </a:p>
                  </a:txBody>
                  <a:tcPr/>
                </a:tc>
                <a:tc rowSpan="2" hMerge="1">
                  <a:txBody>
                    <a:bodyPr/>
                    <a:lstStyle/>
                    <a:p>
                      <a:pPr algn="ctr"/>
                      <a:endParaRPr lang="en-IN" sz="900"/>
                    </a:p>
                  </a:txBody>
                  <a:tcPr/>
                </a:tc>
                <a:tc rowSpan="2" hMerge="1">
                  <a:txBody>
                    <a:bodyPr/>
                    <a:lstStyle/>
                    <a:p>
                      <a:endParaRPr lang="en-IN"/>
                    </a:p>
                  </a:txBody>
                  <a:tcPr/>
                </a:tc>
                <a:tc rowSpan="2" hMerge="1">
                  <a:txBody>
                    <a:bodyPr/>
                    <a:lstStyle/>
                    <a:p>
                      <a:pPr algn="ctr"/>
                      <a:endParaRPr lang="en-IN" sz="900" dirty="0"/>
                    </a:p>
                  </a:txBody>
                  <a:tcPr/>
                </a:tc>
                <a:tc rowSpan="2"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endParaRPr lang="en-IN"/>
                    </a:p>
                  </a:txBody>
                  <a:tcPr/>
                </a:tc>
                <a:tc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IN"/>
                    </a:p>
                  </a:txBody>
                  <a:tcPr/>
                </a:tc>
                <a:tc hMerge="1">
                  <a:txBody>
                    <a:bodyPr/>
                    <a:lstStyle/>
                    <a:p>
                      <a:pPr algn="ctr"/>
                      <a:endParaRPr lang="en-IN" sz="900" dirty="0"/>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a:endParaRPr lang="en-IN" sz="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hMerge="1">
                  <a:txBody>
                    <a:bodyPr/>
                    <a:lstStyle/>
                    <a:p>
                      <a:endParaRPr lang="en-IN"/>
                    </a:p>
                  </a:txBody>
                  <a:tcPr/>
                </a:tc>
                <a:tc gridSpan="2"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r>
              <a:tr h="232703">
                <a:tc gridSpan="6" vMerge="1">
                  <a:txBody>
                    <a:bodyPr/>
                    <a:lstStyle/>
                    <a:p>
                      <a:pPr algn="ctr"/>
                      <a:endParaRPr lang="en-IN" sz="900" dirty="0"/>
                    </a:p>
                  </a:txBody>
                  <a:tcPr/>
                </a:tc>
                <a:tc hMerge="1" vMerge="1">
                  <a:txBody>
                    <a:bodyPr/>
                    <a:lstStyle/>
                    <a:p>
                      <a:endParaRPr lang="en-IN"/>
                    </a:p>
                  </a:txBody>
                  <a:tcPr/>
                </a:tc>
                <a:tc hMerge="1" vMerge="1">
                  <a:txBody>
                    <a:bodyPr/>
                    <a:lstStyle/>
                    <a:p>
                      <a:pPr algn="ctr"/>
                      <a:endParaRPr lang="en-IN" sz="900" dirty="0"/>
                    </a:p>
                  </a:txBody>
                  <a:tcPr/>
                </a:tc>
                <a:tc hMerge="1" vMerge="1">
                  <a:txBody>
                    <a:bodyPr/>
                    <a:lstStyle/>
                    <a:p>
                      <a:endParaRPr lang="en-IN"/>
                    </a:p>
                  </a:txBody>
                  <a:tcPr/>
                </a:tc>
                <a:tc hMerge="1" vMerge="1">
                  <a:txBody>
                    <a:bodyPr/>
                    <a:lstStyle/>
                    <a:p>
                      <a:pPr algn="ctr"/>
                      <a:endParaRPr lang="en-IN" sz="900" dirty="0"/>
                    </a:p>
                  </a:txBody>
                  <a:tcPr/>
                </a:tc>
                <a:tc hMerge="1" v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endParaRPr lang="en-IN"/>
                    </a:p>
                  </a:txBody>
                  <a:tcPr/>
                </a:tc>
                <a:tc rowSpan="2" gridSpan="3">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hMerge="1">
                  <a:txBody>
                    <a:bodyPr/>
                    <a:lstStyle/>
                    <a:p>
                      <a:endParaRPr lang="en-IN"/>
                    </a:p>
                  </a:txBody>
                  <a:tcPr/>
                </a:tc>
                <a:tc rowSpan="2" hMerge="1">
                  <a:txBody>
                    <a:bodyPr/>
                    <a:lstStyle/>
                    <a:p>
                      <a:pPr algn="ctr"/>
                      <a:endParaRPr lang="en-IN" sz="900" dirty="0"/>
                    </a:p>
                  </a:txBody>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hMerge="1">
                  <a:txBody>
                    <a:bodyPr/>
                    <a:lstStyle/>
                    <a:p>
                      <a:endParaRPr lang="en-IN"/>
                    </a:p>
                  </a:txBody>
                  <a:tcPr/>
                </a:tc>
                <a:tc rowSpan="2" gridSpan="2">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rowSpan="2" hMerge="1">
                  <a:txBody>
                    <a:bodyPr/>
                    <a:lstStyle/>
                    <a:p>
                      <a:endParaRPr lang="en-IN"/>
                    </a:p>
                  </a:txBody>
                  <a:tcPr/>
                </a:tc>
                <a:tc gridSpan="2"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r>
              <a:tr h="232703">
                <a:tc gridSpan="2">
                  <a:txBody>
                    <a:bodyPr/>
                    <a:lstStyle/>
                    <a:p>
                      <a:pPr algn="ctr"/>
                      <a:endParaRPr lang="en-IN" sz="9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a:p>
                  </a:txBody>
                  <a:tcPr/>
                </a:tc>
                <a:tc gridSpan="2">
                  <a:txBody>
                    <a:bodyPr/>
                    <a:lstStyle/>
                    <a:p>
                      <a:pPr algn="ctr"/>
                      <a:endParaRPr lang="en-IN" sz="900" b="0" dirty="0">
                        <a:solidFill>
                          <a:schemeClr val="tx1"/>
                        </a:solidFill>
                      </a:endParaRPr>
                    </a:p>
                  </a:txBody>
                  <a:tcPr anchor="ctr">
                    <a:lnL w="12700" cap="flat" cmpd="sng" algn="ctr">
                      <a:no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a:p>
                  </a:txBody>
                  <a:tcPr/>
                </a:tc>
                <a:tc gridSpan="3" vMerge="1">
                  <a:txBody>
                    <a:bodyPr/>
                    <a:lstStyle/>
                    <a:p>
                      <a:pPr algn="ctr"/>
                      <a:endParaRPr lang="en-IN" sz="900" dirty="0"/>
                    </a:p>
                  </a:txBody>
                  <a:tcPr/>
                </a:tc>
                <a:tc hMerge="1" vMerge="1">
                  <a:txBody>
                    <a:bodyPr/>
                    <a:lstStyle/>
                    <a:p>
                      <a:endParaRPr lang="en-IN"/>
                    </a:p>
                  </a:txBody>
                  <a:tcPr/>
                </a:tc>
                <a:tc hMerge="1" vMerge="1">
                  <a:txBody>
                    <a:bodyPr/>
                    <a:lstStyle/>
                    <a:p>
                      <a:pPr algn="ctr"/>
                      <a:endParaRPr lang="en-IN" sz="900" dirty="0"/>
                    </a:p>
                  </a:txBody>
                  <a:tcPr/>
                </a:tc>
                <a:tc gridSpan="4">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a:endParaRPr lang="en-IN" sz="900" dirty="0"/>
                    </a:p>
                  </a:txBody>
                  <a:tcPr/>
                </a:tc>
                <a:tc hMerge="1">
                  <a:txBody>
                    <a:bodyPr/>
                    <a:lstStyle/>
                    <a:p>
                      <a:pPr algn="ctr"/>
                      <a:endParaRPr lang="en-IN" sz="900" dirty="0"/>
                    </a:p>
                  </a:txBody>
                  <a:tcPr/>
                </a:tc>
                <a:tc hMerge="1">
                  <a:txBody>
                    <a:bodyPr/>
                    <a:lstStyle/>
                    <a:p>
                      <a:endParaRPr lang="en-IN"/>
                    </a:p>
                  </a:txBody>
                  <a:tcPr/>
                </a:tc>
                <a:tc gridSpan="2"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en-IN"/>
                    </a:p>
                  </a:txBody>
                  <a:tcPr/>
                </a:tc>
                <a:tc gridSpan="2"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pPr algn="ctr"/>
                      <a:endParaRPr lang="en-IN" sz="900" b="0" dirty="0">
                        <a:solidFill>
                          <a:schemeClr val="tx1"/>
                        </a:solidFill>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sp>
        <p:nvSpPr>
          <p:cNvPr id="155" name="TextBox 154"/>
          <p:cNvSpPr txBox="1"/>
          <p:nvPr/>
        </p:nvSpPr>
        <p:spPr bwMode="gray">
          <a:xfrm>
            <a:off x="1288473" y="3893127"/>
            <a:ext cx="900545" cy="138546"/>
          </a:xfrm>
          <a:prstGeom prst="rect">
            <a:avLst/>
          </a:prstGeom>
        </p:spPr>
        <p:txBody>
          <a:bodyPr vert="horz" wrap="square" lIns="91440" tIns="45720" rIns="91440" bIns="45720" rtlCol="0" anchor="ctr">
            <a:noAutofit/>
          </a:bodyPr>
          <a:lstStyle/>
          <a:p>
            <a:endParaRPr lang="en-IN" sz="2000" i="1" dirty="0" smtClean="0"/>
          </a:p>
        </p:txBody>
      </p:sp>
      <p:sp>
        <p:nvSpPr>
          <p:cNvPr id="156" name="TextBox 155"/>
          <p:cNvSpPr txBox="1"/>
          <p:nvPr/>
        </p:nvSpPr>
        <p:spPr bwMode="gray">
          <a:xfrm>
            <a:off x="1291595" y="3983279"/>
            <a:ext cx="1039091" cy="138546"/>
          </a:xfrm>
          <a:prstGeom prst="rect">
            <a:avLst/>
          </a:prstGeom>
        </p:spPr>
        <p:txBody>
          <a:bodyPr vert="horz" wrap="square" lIns="91440" tIns="45720" rIns="91440" bIns="45720" rtlCol="0" anchor="ctr">
            <a:noAutofit/>
          </a:bodyPr>
          <a:lstStyle/>
          <a:p>
            <a:pPr algn="ctr"/>
            <a:r>
              <a:rPr lang="en-IN" sz="800" i="1" dirty="0" smtClean="0"/>
              <a:t>Jubilee Hills</a:t>
            </a:r>
          </a:p>
        </p:txBody>
      </p:sp>
      <p:sp>
        <p:nvSpPr>
          <p:cNvPr id="157" name="TextBox 156"/>
          <p:cNvSpPr txBox="1"/>
          <p:nvPr/>
        </p:nvSpPr>
        <p:spPr bwMode="gray">
          <a:xfrm>
            <a:off x="2819241" y="2996602"/>
            <a:ext cx="1039091" cy="138546"/>
          </a:xfrm>
          <a:prstGeom prst="rect">
            <a:avLst/>
          </a:prstGeom>
        </p:spPr>
        <p:txBody>
          <a:bodyPr vert="horz" wrap="square" lIns="91440" tIns="45720" rIns="91440" bIns="45720" rtlCol="0" anchor="ctr">
            <a:noAutofit/>
          </a:bodyPr>
          <a:lstStyle/>
          <a:p>
            <a:pPr algn="ctr"/>
            <a:r>
              <a:rPr lang="en-IN" sz="800" i="1" dirty="0" err="1" smtClean="0"/>
              <a:t>Panjagutta</a:t>
            </a:r>
            <a:endParaRPr lang="en-IN" sz="800" i="1" dirty="0" smtClean="0"/>
          </a:p>
        </p:txBody>
      </p:sp>
      <p:sp>
        <p:nvSpPr>
          <p:cNvPr id="158" name="TextBox 157"/>
          <p:cNvSpPr txBox="1"/>
          <p:nvPr/>
        </p:nvSpPr>
        <p:spPr bwMode="gray">
          <a:xfrm>
            <a:off x="4444107" y="2424690"/>
            <a:ext cx="1039091" cy="138546"/>
          </a:xfrm>
          <a:prstGeom prst="rect">
            <a:avLst/>
          </a:prstGeom>
        </p:spPr>
        <p:txBody>
          <a:bodyPr vert="horz" wrap="square" lIns="91440" tIns="45720" rIns="91440" bIns="45720" rtlCol="0" anchor="ctr">
            <a:noAutofit/>
          </a:bodyPr>
          <a:lstStyle/>
          <a:p>
            <a:pPr algn="ctr"/>
            <a:r>
              <a:rPr lang="en-IN" sz="800" i="1" dirty="0" err="1" smtClean="0"/>
              <a:t>Vikrampuri</a:t>
            </a:r>
            <a:endParaRPr lang="en-IN" sz="800" i="1" dirty="0" smtClean="0"/>
          </a:p>
        </p:txBody>
      </p:sp>
      <p:sp>
        <p:nvSpPr>
          <p:cNvPr id="159" name="TextBox 158"/>
          <p:cNvSpPr txBox="1"/>
          <p:nvPr/>
        </p:nvSpPr>
        <p:spPr bwMode="gray">
          <a:xfrm>
            <a:off x="1291594" y="4551314"/>
            <a:ext cx="1039091" cy="138546"/>
          </a:xfrm>
          <a:prstGeom prst="rect">
            <a:avLst/>
          </a:prstGeom>
        </p:spPr>
        <p:txBody>
          <a:bodyPr vert="horz" wrap="square" lIns="91440" tIns="45720" rIns="91440" bIns="45720" rtlCol="0" anchor="ctr">
            <a:noAutofit/>
          </a:bodyPr>
          <a:lstStyle/>
          <a:p>
            <a:pPr algn="ctr"/>
            <a:r>
              <a:rPr lang="en-IN" sz="800" i="1" dirty="0" err="1" smtClean="0"/>
              <a:t>Kondapur</a:t>
            </a:r>
            <a:endParaRPr lang="en-IN" sz="800" i="1" dirty="0" smtClean="0"/>
          </a:p>
        </p:txBody>
      </p:sp>
      <p:sp>
        <p:nvSpPr>
          <p:cNvPr id="160" name="TextBox 159"/>
          <p:cNvSpPr txBox="1"/>
          <p:nvPr/>
        </p:nvSpPr>
        <p:spPr bwMode="gray">
          <a:xfrm>
            <a:off x="1291593" y="6355655"/>
            <a:ext cx="1039091" cy="138546"/>
          </a:xfrm>
          <a:prstGeom prst="rect">
            <a:avLst/>
          </a:prstGeom>
        </p:spPr>
        <p:txBody>
          <a:bodyPr vert="horz" wrap="square" lIns="91440" tIns="45720" rIns="91440" bIns="45720" rtlCol="0" anchor="ctr">
            <a:noAutofit/>
          </a:bodyPr>
          <a:lstStyle/>
          <a:p>
            <a:pPr algn="ctr"/>
            <a:r>
              <a:rPr lang="en-IN" sz="800" i="1" dirty="0" smtClean="0"/>
              <a:t>Airport</a:t>
            </a:r>
          </a:p>
        </p:txBody>
      </p:sp>
      <p:sp>
        <p:nvSpPr>
          <p:cNvPr id="161" name="TextBox 160"/>
          <p:cNvSpPr txBox="1"/>
          <p:nvPr/>
        </p:nvSpPr>
        <p:spPr bwMode="gray">
          <a:xfrm>
            <a:off x="7664685" y="2762136"/>
            <a:ext cx="1039091" cy="138546"/>
          </a:xfrm>
          <a:prstGeom prst="rect">
            <a:avLst/>
          </a:prstGeom>
        </p:spPr>
        <p:txBody>
          <a:bodyPr vert="horz" wrap="square" lIns="91440" tIns="45720" rIns="91440" bIns="45720" rtlCol="0" anchor="ctr">
            <a:noAutofit/>
          </a:bodyPr>
          <a:lstStyle/>
          <a:p>
            <a:pPr algn="ctr"/>
            <a:r>
              <a:rPr lang="en-IN" sz="800" i="1" dirty="0" smtClean="0"/>
              <a:t>A S Rao Nagar</a:t>
            </a:r>
          </a:p>
        </p:txBody>
      </p:sp>
      <p:sp>
        <p:nvSpPr>
          <p:cNvPr id="162" name="TextBox 161"/>
          <p:cNvSpPr txBox="1"/>
          <p:nvPr/>
        </p:nvSpPr>
        <p:spPr bwMode="gray">
          <a:xfrm>
            <a:off x="2647389" y="2539894"/>
            <a:ext cx="1039091" cy="138546"/>
          </a:xfrm>
          <a:prstGeom prst="rect">
            <a:avLst/>
          </a:prstGeom>
          <a:noFill/>
        </p:spPr>
        <p:txBody>
          <a:bodyPr vert="horz" wrap="square" lIns="91440" tIns="45720" rIns="91440" bIns="45720" rtlCol="0" anchor="ctr">
            <a:noAutofit/>
          </a:bodyPr>
          <a:lstStyle/>
          <a:p>
            <a:pPr algn="ctr"/>
            <a:r>
              <a:rPr lang="en-IN" sz="800" i="1" dirty="0" err="1" smtClean="0"/>
              <a:t>Kukatpally</a:t>
            </a:r>
            <a:endParaRPr lang="en-IN" sz="800" i="1" dirty="0" smtClean="0"/>
          </a:p>
        </p:txBody>
      </p:sp>
      <p:sp>
        <p:nvSpPr>
          <p:cNvPr id="163" name="TextBox 162"/>
          <p:cNvSpPr txBox="1"/>
          <p:nvPr/>
        </p:nvSpPr>
        <p:spPr bwMode="gray">
          <a:xfrm>
            <a:off x="4456783" y="4278541"/>
            <a:ext cx="1039091" cy="138546"/>
          </a:xfrm>
          <a:prstGeom prst="rect">
            <a:avLst/>
          </a:prstGeom>
        </p:spPr>
        <p:txBody>
          <a:bodyPr vert="horz" wrap="square" lIns="91440" tIns="45720" rIns="91440" bIns="45720" rtlCol="0" anchor="ctr">
            <a:noAutofit/>
          </a:bodyPr>
          <a:lstStyle/>
          <a:p>
            <a:pPr algn="ctr"/>
            <a:r>
              <a:rPr lang="en-IN" sz="800" i="1" dirty="0" err="1" smtClean="0"/>
              <a:t>HImayatnagar</a:t>
            </a:r>
            <a:endParaRPr lang="en-IN" sz="800" i="1" dirty="0" smtClean="0"/>
          </a:p>
        </p:txBody>
      </p:sp>
      <p:sp>
        <p:nvSpPr>
          <p:cNvPr id="164" name="TextBox 163"/>
          <p:cNvSpPr txBox="1"/>
          <p:nvPr/>
        </p:nvSpPr>
        <p:spPr bwMode="gray">
          <a:xfrm>
            <a:off x="6884590" y="4278541"/>
            <a:ext cx="1039091" cy="138546"/>
          </a:xfrm>
          <a:prstGeom prst="rect">
            <a:avLst/>
          </a:prstGeom>
        </p:spPr>
        <p:txBody>
          <a:bodyPr vert="horz" wrap="square" lIns="91440" tIns="45720" rIns="91440" bIns="45720" rtlCol="0" anchor="ctr">
            <a:noAutofit/>
          </a:bodyPr>
          <a:lstStyle/>
          <a:p>
            <a:pPr algn="ctr"/>
            <a:r>
              <a:rPr lang="en-IN" sz="800" i="1" dirty="0" err="1" smtClean="0"/>
              <a:t>Habsiguda</a:t>
            </a:r>
            <a:endParaRPr lang="en-IN" sz="800" i="1" dirty="0" smtClean="0"/>
          </a:p>
        </p:txBody>
      </p:sp>
      <p:sp>
        <p:nvSpPr>
          <p:cNvPr id="165" name="TextBox 164"/>
          <p:cNvSpPr txBox="1"/>
          <p:nvPr/>
        </p:nvSpPr>
        <p:spPr bwMode="gray">
          <a:xfrm>
            <a:off x="469936" y="2527015"/>
            <a:ext cx="1039091" cy="138546"/>
          </a:xfrm>
          <a:prstGeom prst="rect">
            <a:avLst/>
          </a:prstGeom>
        </p:spPr>
        <p:txBody>
          <a:bodyPr vert="horz" wrap="square" lIns="91440" tIns="45720" rIns="91440" bIns="45720" rtlCol="0" anchor="ctr">
            <a:noAutofit/>
          </a:bodyPr>
          <a:lstStyle/>
          <a:p>
            <a:pPr algn="ctr"/>
            <a:r>
              <a:rPr lang="en-IN" sz="800" i="1" dirty="0" err="1" smtClean="0"/>
              <a:t>Chandanagar</a:t>
            </a:r>
            <a:endParaRPr lang="en-IN" sz="800" i="1" dirty="0" smtClean="0"/>
          </a:p>
        </p:txBody>
      </p:sp>
      <p:sp>
        <p:nvSpPr>
          <p:cNvPr id="166" name="Oval 165"/>
          <p:cNvSpPr/>
          <p:nvPr/>
        </p:nvSpPr>
        <p:spPr>
          <a:xfrm>
            <a:off x="1724890" y="3810002"/>
            <a:ext cx="187037" cy="159422"/>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67" name="Oval 166"/>
          <p:cNvSpPr/>
          <p:nvPr/>
        </p:nvSpPr>
        <p:spPr>
          <a:xfrm>
            <a:off x="3276594" y="2837249"/>
            <a:ext cx="187037" cy="159422"/>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68" name="Oval 167"/>
          <p:cNvSpPr/>
          <p:nvPr/>
        </p:nvSpPr>
        <p:spPr>
          <a:xfrm>
            <a:off x="4370091" y="2429201"/>
            <a:ext cx="187037" cy="159422"/>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69" name="Oval 168"/>
          <p:cNvSpPr/>
          <p:nvPr/>
        </p:nvSpPr>
        <p:spPr>
          <a:xfrm>
            <a:off x="1717619" y="6196233"/>
            <a:ext cx="187037" cy="159422"/>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70" name="Oval 169"/>
          <p:cNvSpPr/>
          <p:nvPr/>
        </p:nvSpPr>
        <p:spPr>
          <a:xfrm>
            <a:off x="1717618" y="4399889"/>
            <a:ext cx="187037" cy="159422"/>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72" name="Oval 171"/>
          <p:cNvSpPr/>
          <p:nvPr/>
        </p:nvSpPr>
        <p:spPr>
          <a:xfrm>
            <a:off x="4204018" y="3897830"/>
            <a:ext cx="187037" cy="159422"/>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73" name="Oval 172"/>
          <p:cNvSpPr/>
          <p:nvPr/>
        </p:nvSpPr>
        <p:spPr>
          <a:xfrm>
            <a:off x="4882809" y="4147986"/>
            <a:ext cx="187037" cy="159422"/>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84" name="TextBox 183"/>
          <p:cNvSpPr txBox="1"/>
          <p:nvPr/>
        </p:nvSpPr>
        <p:spPr bwMode="gray">
          <a:xfrm>
            <a:off x="5720607" y="4557083"/>
            <a:ext cx="1039091" cy="138546"/>
          </a:xfrm>
          <a:prstGeom prst="rect">
            <a:avLst/>
          </a:prstGeom>
        </p:spPr>
        <p:txBody>
          <a:bodyPr vert="horz" wrap="square" lIns="91440" tIns="45720" rIns="91440" bIns="45720" rtlCol="0" anchor="ctr">
            <a:noAutofit/>
          </a:bodyPr>
          <a:lstStyle/>
          <a:p>
            <a:pPr algn="ctr"/>
            <a:r>
              <a:rPr lang="en-IN" sz="800" i="1" dirty="0" err="1" smtClean="0"/>
              <a:t>Kachiguda</a:t>
            </a:r>
            <a:endParaRPr lang="en-IN" sz="800" i="1" dirty="0" smtClean="0"/>
          </a:p>
        </p:txBody>
      </p:sp>
      <p:sp>
        <p:nvSpPr>
          <p:cNvPr id="185" name="TextBox 184"/>
          <p:cNvSpPr txBox="1"/>
          <p:nvPr/>
        </p:nvSpPr>
        <p:spPr bwMode="gray">
          <a:xfrm>
            <a:off x="6044714" y="4351047"/>
            <a:ext cx="1039091" cy="138546"/>
          </a:xfrm>
          <a:prstGeom prst="rect">
            <a:avLst/>
          </a:prstGeom>
        </p:spPr>
        <p:txBody>
          <a:bodyPr vert="horz" wrap="square" lIns="91440" tIns="45720" rIns="91440" bIns="45720" rtlCol="0" anchor="ctr">
            <a:noAutofit/>
          </a:bodyPr>
          <a:lstStyle/>
          <a:p>
            <a:pPr algn="ctr"/>
            <a:r>
              <a:rPr lang="en-IN" sz="800" i="1" dirty="0" err="1" smtClean="0"/>
              <a:t>Shivam</a:t>
            </a:r>
            <a:r>
              <a:rPr lang="en-IN" sz="800" i="1" dirty="0" smtClean="0"/>
              <a:t> Road</a:t>
            </a:r>
          </a:p>
        </p:txBody>
      </p:sp>
      <p:sp>
        <p:nvSpPr>
          <p:cNvPr id="186" name="TextBox 185"/>
          <p:cNvSpPr txBox="1"/>
          <p:nvPr/>
        </p:nvSpPr>
        <p:spPr bwMode="gray">
          <a:xfrm>
            <a:off x="6044713" y="5282675"/>
            <a:ext cx="1039091" cy="138546"/>
          </a:xfrm>
          <a:prstGeom prst="rect">
            <a:avLst/>
          </a:prstGeom>
        </p:spPr>
        <p:txBody>
          <a:bodyPr vert="horz" wrap="square" lIns="91440" tIns="45720" rIns="91440" bIns="45720" rtlCol="0" anchor="ctr">
            <a:noAutofit/>
          </a:bodyPr>
          <a:lstStyle/>
          <a:p>
            <a:pPr algn="ctr"/>
            <a:r>
              <a:rPr lang="en-IN" sz="800" i="1" dirty="0" err="1" smtClean="0"/>
              <a:t>Kothapete</a:t>
            </a:r>
            <a:endParaRPr lang="en-IN" sz="800" i="1" dirty="0" smtClean="0"/>
          </a:p>
        </p:txBody>
      </p:sp>
      <p:sp>
        <p:nvSpPr>
          <p:cNvPr id="187" name="TextBox 186"/>
          <p:cNvSpPr txBox="1"/>
          <p:nvPr/>
        </p:nvSpPr>
        <p:spPr bwMode="gray">
          <a:xfrm>
            <a:off x="2248567" y="3983279"/>
            <a:ext cx="1039091" cy="138546"/>
          </a:xfrm>
          <a:prstGeom prst="rect">
            <a:avLst/>
          </a:prstGeom>
        </p:spPr>
        <p:txBody>
          <a:bodyPr vert="horz" wrap="square" lIns="91440" tIns="45720" rIns="91440" bIns="45720" rtlCol="0" anchor="ctr">
            <a:noAutofit/>
          </a:bodyPr>
          <a:lstStyle/>
          <a:p>
            <a:pPr algn="ctr"/>
            <a:r>
              <a:rPr lang="en-IN" sz="800" i="1" dirty="0" smtClean="0"/>
              <a:t>Banjara Hills</a:t>
            </a:r>
          </a:p>
        </p:txBody>
      </p:sp>
      <p:sp>
        <p:nvSpPr>
          <p:cNvPr id="188" name="TextBox 187"/>
          <p:cNvSpPr txBox="1"/>
          <p:nvPr/>
        </p:nvSpPr>
        <p:spPr bwMode="gray">
          <a:xfrm>
            <a:off x="4404828" y="3614035"/>
            <a:ext cx="1039091" cy="138546"/>
          </a:xfrm>
          <a:prstGeom prst="rect">
            <a:avLst/>
          </a:prstGeom>
        </p:spPr>
        <p:txBody>
          <a:bodyPr vert="horz" wrap="square" lIns="91440" tIns="45720" rIns="91440" bIns="45720" rtlCol="0" anchor="ctr">
            <a:noAutofit/>
          </a:bodyPr>
          <a:lstStyle/>
          <a:p>
            <a:pPr algn="ctr"/>
            <a:r>
              <a:rPr lang="en-IN" sz="800" i="1" dirty="0" err="1" smtClean="0"/>
              <a:t>Amsri</a:t>
            </a:r>
            <a:r>
              <a:rPr lang="en-IN" sz="800" i="1" dirty="0" smtClean="0"/>
              <a:t> Faust,</a:t>
            </a:r>
          </a:p>
          <a:p>
            <a:pPr algn="ctr"/>
            <a:r>
              <a:rPr lang="en-IN" sz="800" i="1" dirty="0" err="1" smtClean="0"/>
              <a:t>Secunderabad</a:t>
            </a:r>
            <a:endParaRPr lang="en-IN" sz="800" i="1" dirty="0" smtClean="0"/>
          </a:p>
        </p:txBody>
      </p:sp>
      <p:sp>
        <p:nvSpPr>
          <p:cNvPr id="189" name="TextBox 188"/>
          <p:cNvSpPr txBox="1"/>
          <p:nvPr/>
        </p:nvSpPr>
        <p:spPr bwMode="gray">
          <a:xfrm>
            <a:off x="1688990" y="4988321"/>
            <a:ext cx="1039091" cy="138546"/>
          </a:xfrm>
          <a:prstGeom prst="rect">
            <a:avLst/>
          </a:prstGeom>
        </p:spPr>
        <p:txBody>
          <a:bodyPr vert="horz" wrap="square" lIns="91440" tIns="45720" rIns="91440" bIns="45720" rtlCol="0" anchor="ctr">
            <a:noAutofit/>
          </a:bodyPr>
          <a:lstStyle/>
          <a:p>
            <a:pPr algn="ctr"/>
            <a:r>
              <a:rPr lang="en-IN" sz="800" i="1" dirty="0" err="1" smtClean="0"/>
              <a:t>Attapur</a:t>
            </a:r>
            <a:endParaRPr lang="en-IN" sz="800" i="1" dirty="0" smtClean="0"/>
          </a:p>
        </p:txBody>
      </p:sp>
      <p:sp>
        <p:nvSpPr>
          <p:cNvPr id="190" name="TextBox 189"/>
          <p:cNvSpPr txBox="1"/>
          <p:nvPr/>
        </p:nvSpPr>
        <p:spPr bwMode="gray">
          <a:xfrm>
            <a:off x="3571019" y="3607194"/>
            <a:ext cx="1039091" cy="138546"/>
          </a:xfrm>
          <a:prstGeom prst="rect">
            <a:avLst/>
          </a:prstGeom>
        </p:spPr>
        <p:txBody>
          <a:bodyPr vert="horz" wrap="square" lIns="91440" tIns="45720" rIns="91440" bIns="45720" rtlCol="0" anchor="ctr">
            <a:noAutofit/>
          </a:bodyPr>
          <a:lstStyle/>
          <a:p>
            <a:pPr algn="ctr"/>
            <a:r>
              <a:rPr lang="en-IN" sz="800" i="1" dirty="0" err="1" smtClean="0"/>
              <a:t>Begumpet</a:t>
            </a:r>
            <a:endParaRPr lang="en-IN" sz="800" i="1" dirty="0" smtClean="0"/>
          </a:p>
        </p:txBody>
      </p:sp>
      <p:sp>
        <p:nvSpPr>
          <p:cNvPr id="191" name="TextBox 190"/>
          <p:cNvSpPr txBox="1"/>
          <p:nvPr/>
        </p:nvSpPr>
        <p:spPr bwMode="gray">
          <a:xfrm>
            <a:off x="4404828" y="3097916"/>
            <a:ext cx="1039091" cy="138546"/>
          </a:xfrm>
          <a:prstGeom prst="rect">
            <a:avLst/>
          </a:prstGeom>
        </p:spPr>
        <p:txBody>
          <a:bodyPr vert="horz" wrap="square" lIns="91440" tIns="45720" rIns="91440" bIns="45720" rtlCol="0" anchor="ctr">
            <a:noAutofit/>
          </a:bodyPr>
          <a:lstStyle/>
          <a:p>
            <a:pPr algn="ctr"/>
            <a:r>
              <a:rPr lang="en-IN" sz="800" i="1" dirty="0" smtClean="0"/>
              <a:t>Odyssey, </a:t>
            </a:r>
            <a:r>
              <a:rPr lang="en-IN" sz="800" i="1" dirty="0" err="1" smtClean="0"/>
              <a:t>Vikrampuri</a:t>
            </a:r>
            <a:endParaRPr lang="en-IN" sz="800" i="1" dirty="0" smtClean="0"/>
          </a:p>
        </p:txBody>
      </p:sp>
      <p:sp>
        <p:nvSpPr>
          <p:cNvPr id="192" name="TextBox 191"/>
          <p:cNvSpPr txBox="1"/>
          <p:nvPr/>
        </p:nvSpPr>
        <p:spPr bwMode="gray">
          <a:xfrm>
            <a:off x="7715223" y="3550800"/>
            <a:ext cx="1039091" cy="138546"/>
          </a:xfrm>
          <a:prstGeom prst="rect">
            <a:avLst/>
          </a:prstGeom>
        </p:spPr>
        <p:txBody>
          <a:bodyPr vert="horz" wrap="square" lIns="91440" tIns="45720" rIns="91440" bIns="45720" rtlCol="0" anchor="ctr">
            <a:noAutofit/>
          </a:bodyPr>
          <a:lstStyle/>
          <a:p>
            <a:pPr algn="ctr"/>
            <a:r>
              <a:rPr lang="en-IN" sz="800" i="1" dirty="0" err="1" smtClean="0"/>
              <a:t>Nacharam</a:t>
            </a:r>
            <a:endParaRPr lang="en-IN" sz="800" i="1" dirty="0" smtClean="0"/>
          </a:p>
        </p:txBody>
      </p:sp>
      <p:sp>
        <p:nvSpPr>
          <p:cNvPr id="193" name="TextBox 192"/>
          <p:cNvSpPr txBox="1"/>
          <p:nvPr/>
        </p:nvSpPr>
        <p:spPr bwMode="gray">
          <a:xfrm>
            <a:off x="2082310" y="4468195"/>
            <a:ext cx="1039091" cy="138546"/>
          </a:xfrm>
          <a:prstGeom prst="rect">
            <a:avLst/>
          </a:prstGeom>
        </p:spPr>
        <p:txBody>
          <a:bodyPr vert="horz" wrap="square" lIns="91440" tIns="45720" rIns="91440" bIns="45720" rtlCol="0" anchor="ctr">
            <a:noAutofit/>
          </a:bodyPr>
          <a:lstStyle/>
          <a:p>
            <a:pPr algn="ctr"/>
            <a:r>
              <a:rPr lang="en-IN" sz="800" i="1" dirty="0" err="1" smtClean="0"/>
              <a:t>Tolichowki</a:t>
            </a:r>
            <a:endParaRPr lang="en-IN" sz="800" i="1" dirty="0" smtClean="0"/>
          </a:p>
        </p:txBody>
      </p:sp>
      <p:sp>
        <p:nvSpPr>
          <p:cNvPr id="194" name="TextBox 193"/>
          <p:cNvSpPr txBox="1"/>
          <p:nvPr/>
        </p:nvSpPr>
        <p:spPr bwMode="gray">
          <a:xfrm>
            <a:off x="7599768" y="4534075"/>
            <a:ext cx="1104008" cy="173021"/>
          </a:xfrm>
          <a:prstGeom prst="rect">
            <a:avLst/>
          </a:prstGeom>
        </p:spPr>
        <p:txBody>
          <a:bodyPr vert="horz" wrap="square" lIns="91440" tIns="45720" rIns="91440" bIns="45720" rtlCol="0" anchor="ctr">
            <a:noAutofit/>
          </a:bodyPr>
          <a:lstStyle/>
          <a:p>
            <a:pPr algn="ctr"/>
            <a:r>
              <a:rPr lang="en-IN" sz="800" i="1" dirty="0" smtClean="0"/>
              <a:t>Uppal</a:t>
            </a:r>
          </a:p>
        </p:txBody>
      </p:sp>
      <p:sp>
        <p:nvSpPr>
          <p:cNvPr id="195" name="TextBox 194"/>
          <p:cNvSpPr txBox="1"/>
          <p:nvPr/>
        </p:nvSpPr>
        <p:spPr bwMode="gray">
          <a:xfrm>
            <a:off x="7210211" y="6126960"/>
            <a:ext cx="1039091" cy="138546"/>
          </a:xfrm>
          <a:prstGeom prst="rect">
            <a:avLst/>
          </a:prstGeom>
        </p:spPr>
        <p:txBody>
          <a:bodyPr vert="horz" wrap="square" lIns="91440" tIns="45720" rIns="91440" bIns="45720" rtlCol="0" anchor="ctr">
            <a:noAutofit/>
          </a:bodyPr>
          <a:lstStyle/>
          <a:p>
            <a:pPr algn="ctr"/>
            <a:r>
              <a:rPr lang="en-IN" sz="800" i="1" dirty="0" err="1" smtClean="0"/>
              <a:t>Vanasthalipuram</a:t>
            </a:r>
            <a:endParaRPr lang="en-IN" sz="800" i="1" dirty="0" smtClean="0"/>
          </a:p>
        </p:txBody>
      </p:sp>
      <p:sp>
        <p:nvSpPr>
          <p:cNvPr id="196" name="TextBox 195"/>
          <p:cNvSpPr txBox="1"/>
          <p:nvPr/>
        </p:nvSpPr>
        <p:spPr bwMode="gray">
          <a:xfrm>
            <a:off x="7670863" y="3351659"/>
            <a:ext cx="1039091" cy="138546"/>
          </a:xfrm>
          <a:prstGeom prst="rect">
            <a:avLst/>
          </a:prstGeom>
        </p:spPr>
        <p:txBody>
          <a:bodyPr vert="horz" wrap="square" lIns="91440" tIns="45720" rIns="91440" bIns="45720" rtlCol="0" anchor="ctr">
            <a:noAutofit/>
          </a:bodyPr>
          <a:lstStyle/>
          <a:p>
            <a:pPr algn="ctr"/>
            <a:r>
              <a:rPr lang="en-IN" sz="800" i="1" dirty="0" err="1" smtClean="0"/>
              <a:t>Mallapur</a:t>
            </a:r>
            <a:endParaRPr lang="en-IN" sz="800" i="1" dirty="0" smtClean="0"/>
          </a:p>
        </p:txBody>
      </p:sp>
      <p:sp>
        <p:nvSpPr>
          <p:cNvPr id="197" name="TextBox 196"/>
          <p:cNvSpPr txBox="1"/>
          <p:nvPr/>
        </p:nvSpPr>
        <p:spPr bwMode="gray">
          <a:xfrm>
            <a:off x="1108757" y="3633999"/>
            <a:ext cx="1039091" cy="138546"/>
          </a:xfrm>
          <a:prstGeom prst="rect">
            <a:avLst/>
          </a:prstGeom>
        </p:spPr>
        <p:txBody>
          <a:bodyPr vert="horz" wrap="square" lIns="91440" tIns="45720" rIns="91440" bIns="45720" rtlCol="0" anchor="ctr">
            <a:noAutofit/>
          </a:bodyPr>
          <a:lstStyle/>
          <a:p>
            <a:pPr algn="ctr"/>
            <a:r>
              <a:rPr lang="en-IN" sz="800" i="1" dirty="0" err="1" smtClean="0"/>
              <a:t>HiTec</a:t>
            </a:r>
            <a:r>
              <a:rPr lang="en-IN" sz="800" i="1" dirty="0" smtClean="0"/>
              <a:t> City</a:t>
            </a:r>
          </a:p>
        </p:txBody>
      </p:sp>
      <p:sp>
        <p:nvSpPr>
          <p:cNvPr id="198" name="TextBox 197"/>
          <p:cNvSpPr txBox="1"/>
          <p:nvPr/>
        </p:nvSpPr>
        <p:spPr bwMode="gray">
          <a:xfrm>
            <a:off x="5351757" y="1998827"/>
            <a:ext cx="1039091" cy="138546"/>
          </a:xfrm>
          <a:prstGeom prst="rect">
            <a:avLst/>
          </a:prstGeom>
        </p:spPr>
        <p:txBody>
          <a:bodyPr vert="horz" wrap="square" lIns="91440" tIns="45720" rIns="91440" bIns="45720" rtlCol="0" anchor="ctr">
            <a:noAutofit/>
          </a:bodyPr>
          <a:lstStyle/>
          <a:p>
            <a:pPr algn="ctr"/>
            <a:r>
              <a:rPr lang="en-IN" sz="800" i="1" dirty="0" err="1" smtClean="0"/>
              <a:t>Hakimpet</a:t>
            </a:r>
            <a:endParaRPr lang="en-IN" sz="800" i="1" dirty="0" smtClean="0"/>
          </a:p>
        </p:txBody>
      </p:sp>
      <p:sp>
        <p:nvSpPr>
          <p:cNvPr id="199" name="TextBox 198"/>
          <p:cNvSpPr txBox="1"/>
          <p:nvPr/>
        </p:nvSpPr>
        <p:spPr bwMode="gray">
          <a:xfrm>
            <a:off x="747102" y="3351659"/>
            <a:ext cx="1039091" cy="138546"/>
          </a:xfrm>
          <a:prstGeom prst="rect">
            <a:avLst/>
          </a:prstGeom>
        </p:spPr>
        <p:txBody>
          <a:bodyPr vert="horz" wrap="square" lIns="91440" tIns="45720" rIns="91440" bIns="45720" rtlCol="0" anchor="ctr">
            <a:noAutofit/>
          </a:bodyPr>
          <a:lstStyle/>
          <a:p>
            <a:pPr algn="ctr"/>
            <a:r>
              <a:rPr lang="en-IN" sz="800" i="1" dirty="0" err="1" smtClean="0"/>
              <a:t>Gachibowli</a:t>
            </a:r>
            <a:endParaRPr lang="en-IN" sz="800" i="1" dirty="0" smtClean="0"/>
          </a:p>
        </p:txBody>
      </p:sp>
      <p:sp>
        <p:nvSpPr>
          <p:cNvPr id="200" name="TextBox 199"/>
          <p:cNvSpPr txBox="1"/>
          <p:nvPr/>
        </p:nvSpPr>
        <p:spPr bwMode="gray">
          <a:xfrm>
            <a:off x="461619" y="3594212"/>
            <a:ext cx="1039091" cy="138546"/>
          </a:xfrm>
          <a:prstGeom prst="rect">
            <a:avLst/>
          </a:prstGeom>
        </p:spPr>
        <p:txBody>
          <a:bodyPr vert="horz" wrap="square" lIns="91440" tIns="45720" rIns="91440" bIns="45720" rtlCol="0" anchor="ctr">
            <a:noAutofit/>
          </a:bodyPr>
          <a:lstStyle/>
          <a:p>
            <a:pPr algn="ctr"/>
            <a:r>
              <a:rPr lang="en-IN" sz="800" i="1" dirty="0" err="1" smtClean="0"/>
              <a:t>Madniguda</a:t>
            </a:r>
            <a:endParaRPr lang="en-IN" sz="800" i="1" dirty="0" smtClean="0"/>
          </a:p>
        </p:txBody>
      </p:sp>
      <p:sp>
        <p:nvSpPr>
          <p:cNvPr id="201" name="TextBox 200"/>
          <p:cNvSpPr txBox="1"/>
          <p:nvPr/>
        </p:nvSpPr>
        <p:spPr bwMode="gray">
          <a:xfrm>
            <a:off x="4400983" y="3405630"/>
            <a:ext cx="1039091" cy="138546"/>
          </a:xfrm>
          <a:prstGeom prst="rect">
            <a:avLst/>
          </a:prstGeom>
        </p:spPr>
        <p:txBody>
          <a:bodyPr vert="horz" wrap="square" lIns="91440" tIns="45720" rIns="91440" bIns="45720" rtlCol="0" anchor="ctr">
            <a:noAutofit/>
          </a:bodyPr>
          <a:lstStyle/>
          <a:p>
            <a:pPr algn="ctr"/>
            <a:r>
              <a:rPr lang="en-IN" sz="800" i="1" dirty="0" smtClean="0"/>
              <a:t>M G Road</a:t>
            </a:r>
          </a:p>
        </p:txBody>
      </p:sp>
      <p:sp>
        <p:nvSpPr>
          <p:cNvPr id="202" name="TextBox 201"/>
          <p:cNvSpPr txBox="1"/>
          <p:nvPr/>
        </p:nvSpPr>
        <p:spPr bwMode="gray">
          <a:xfrm>
            <a:off x="3097760" y="3303627"/>
            <a:ext cx="1039091" cy="138546"/>
          </a:xfrm>
          <a:prstGeom prst="rect">
            <a:avLst/>
          </a:prstGeom>
        </p:spPr>
        <p:txBody>
          <a:bodyPr vert="horz" wrap="square" lIns="91440" tIns="45720" rIns="91440" bIns="45720" rtlCol="0" anchor="ctr">
            <a:noAutofit/>
          </a:bodyPr>
          <a:lstStyle/>
          <a:p>
            <a:pPr algn="ctr"/>
            <a:r>
              <a:rPr lang="en-IN" sz="800" i="1" dirty="0" err="1" smtClean="0"/>
              <a:t>Panjagutta</a:t>
            </a:r>
            <a:endParaRPr lang="en-IN" sz="800" i="1" dirty="0" smtClean="0"/>
          </a:p>
        </p:txBody>
      </p:sp>
      <p:sp>
        <p:nvSpPr>
          <p:cNvPr id="203" name="TextBox 202"/>
          <p:cNvSpPr txBox="1"/>
          <p:nvPr/>
        </p:nvSpPr>
        <p:spPr bwMode="gray">
          <a:xfrm>
            <a:off x="2078570" y="2666536"/>
            <a:ext cx="1039091" cy="138546"/>
          </a:xfrm>
          <a:prstGeom prst="rect">
            <a:avLst/>
          </a:prstGeom>
        </p:spPr>
        <p:txBody>
          <a:bodyPr vert="horz" wrap="square" lIns="91440" tIns="45720" rIns="91440" bIns="45720" rtlCol="0" anchor="ctr">
            <a:noAutofit/>
          </a:bodyPr>
          <a:lstStyle/>
          <a:p>
            <a:pPr algn="ctr"/>
            <a:r>
              <a:rPr lang="en-IN" sz="800" i="1" dirty="0" err="1"/>
              <a:t>KpHB</a:t>
            </a:r>
            <a:r>
              <a:rPr lang="en-IN" sz="800" i="1" dirty="0"/>
              <a:t> Colony</a:t>
            </a:r>
            <a:endParaRPr lang="en-IN" sz="800" i="1" dirty="0" smtClean="0"/>
          </a:p>
        </p:txBody>
      </p:sp>
      <p:sp>
        <p:nvSpPr>
          <p:cNvPr id="204" name="TextBox 203"/>
          <p:cNvSpPr txBox="1"/>
          <p:nvPr/>
        </p:nvSpPr>
        <p:spPr bwMode="gray">
          <a:xfrm>
            <a:off x="3604533" y="4624316"/>
            <a:ext cx="1039091" cy="138546"/>
          </a:xfrm>
          <a:prstGeom prst="rect">
            <a:avLst/>
          </a:prstGeom>
        </p:spPr>
        <p:txBody>
          <a:bodyPr vert="horz" wrap="square" lIns="91440" tIns="45720" rIns="91440" bIns="45720" rtlCol="0" anchor="ctr">
            <a:noAutofit/>
          </a:bodyPr>
          <a:lstStyle/>
          <a:p>
            <a:pPr algn="ctr"/>
            <a:r>
              <a:rPr lang="en-IN" sz="800" i="1" dirty="0" err="1" smtClean="0"/>
              <a:t>Abids</a:t>
            </a:r>
            <a:endParaRPr lang="en-IN" sz="800" i="1" dirty="0" smtClean="0"/>
          </a:p>
        </p:txBody>
      </p:sp>
      <p:sp>
        <p:nvSpPr>
          <p:cNvPr id="205" name="TextBox 204"/>
          <p:cNvSpPr txBox="1"/>
          <p:nvPr/>
        </p:nvSpPr>
        <p:spPr bwMode="gray">
          <a:xfrm>
            <a:off x="3051473" y="4315800"/>
            <a:ext cx="1039091" cy="138546"/>
          </a:xfrm>
          <a:prstGeom prst="rect">
            <a:avLst/>
          </a:prstGeom>
        </p:spPr>
        <p:txBody>
          <a:bodyPr vert="horz" wrap="square" lIns="91440" tIns="45720" rIns="91440" bIns="45720" rtlCol="0" anchor="ctr">
            <a:noAutofit/>
          </a:bodyPr>
          <a:lstStyle/>
          <a:p>
            <a:pPr algn="ctr"/>
            <a:r>
              <a:rPr lang="en-IN" sz="800" i="1" dirty="0" err="1" smtClean="0"/>
              <a:t>Lakdi-ka-Pul</a:t>
            </a:r>
            <a:endParaRPr lang="en-IN" sz="800" i="1" dirty="0" smtClean="0"/>
          </a:p>
        </p:txBody>
      </p:sp>
      <p:sp>
        <p:nvSpPr>
          <p:cNvPr id="206" name="TextBox 205"/>
          <p:cNvSpPr txBox="1"/>
          <p:nvPr/>
        </p:nvSpPr>
        <p:spPr bwMode="gray">
          <a:xfrm>
            <a:off x="5300240" y="5199738"/>
            <a:ext cx="1039091" cy="138546"/>
          </a:xfrm>
          <a:prstGeom prst="rect">
            <a:avLst/>
          </a:prstGeom>
        </p:spPr>
        <p:txBody>
          <a:bodyPr vert="horz" wrap="square" lIns="91440" tIns="45720" rIns="91440" bIns="45720" rtlCol="0" anchor="ctr">
            <a:noAutofit/>
          </a:bodyPr>
          <a:lstStyle/>
          <a:p>
            <a:pPr algn="ctr"/>
            <a:r>
              <a:rPr lang="en-IN" sz="800" i="1" dirty="0" err="1" smtClean="0"/>
              <a:t>Malkapet</a:t>
            </a:r>
            <a:endParaRPr lang="en-IN" sz="800" i="1" dirty="0" smtClean="0"/>
          </a:p>
        </p:txBody>
      </p:sp>
      <p:sp>
        <p:nvSpPr>
          <p:cNvPr id="207" name="TextBox 206"/>
          <p:cNvSpPr txBox="1"/>
          <p:nvPr/>
        </p:nvSpPr>
        <p:spPr bwMode="gray">
          <a:xfrm>
            <a:off x="5300239" y="4885781"/>
            <a:ext cx="1039091" cy="138546"/>
          </a:xfrm>
          <a:prstGeom prst="rect">
            <a:avLst/>
          </a:prstGeom>
        </p:spPr>
        <p:txBody>
          <a:bodyPr vert="horz" wrap="square" lIns="91440" tIns="45720" rIns="91440" bIns="45720" rtlCol="0" anchor="ctr">
            <a:noAutofit/>
          </a:bodyPr>
          <a:lstStyle/>
          <a:p>
            <a:pPr algn="ctr"/>
            <a:r>
              <a:rPr lang="en-IN" sz="800" i="1" dirty="0" err="1" smtClean="0"/>
              <a:t>Dilkushnagar</a:t>
            </a:r>
            <a:endParaRPr lang="en-IN" sz="800" i="1" dirty="0" smtClean="0"/>
          </a:p>
        </p:txBody>
      </p:sp>
      <p:sp>
        <p:nvSpPr>
          <p:cNvPr id="208" name="TextBox 207"/>
          <p:cNvSpPr txBox="1"/>
          <p:nvPr/>
        </p:nvSpPr>
        <p:spPr bwMode="gray">
          <a:xfrm>
            <a:off x="6650797" y="4960673"/>
            <a:ext cx="1039091" cy="138546"/>
          </a:xfrm>
          <a:prstGeom prst="rect">
            <a:avLst/>
          </a:prstGeom>
        </p:spPr>
        <p:txBody>
          <a:bodyPr vert="horz" wrap="square" lIns="91440" tIns="45720" rIns="91440" bIns="45720" rtlCol="0" anchor="ctr">
            <a:noAutofit/>
          </a:bodyPr>
          <a:lstStyle/>
          <a:p>
            <a:pPr algn="ctr"/>
            <a:r>
              <a:rPr lang="en-IN" sz="800" i="1" dirty="0" err="1" smtClean="0"/>
              <a:t>Kothapete</a:t>
            </a:r>
            <a:endParaRPr lang="en-IN" sz="800" i="1" dirty="0" smtClean="0"/>
          </a:p>
        </p:txBody>
      </p:sp>
      <p:sp>
        <p:nvSpPr>
          <p:cNvPr id="209" name="TextBox 208"/>
          <p:cNvSpPr txBox="1"/>
          <p:nvPr/>
        </p:nvSpPr>
        <p:spPr bwMode="gray">
          <a:xfrm>
            <a:off x="1290810" y="2664388"/>
            <a:ext cx="1039091" cy="138546"/>
          </a:xfrm>
          <a:prstGeom prst="rect">
            <a:avLst/>
          </a:prstGeom>
        </p:spPr>
        <p:txBody>
          <a:bodyPr vert="horz" wrap="square" lIns="91440" tIns="45720" rIns="91440" bIns="45720" rtlCol="0" anchor="ctr">
            <a:noAutofit/>
          </a:bodyPr>
          <a:lstStyle/>
          <a:p>
            <a:pPr algn="ctr"/>
            <a:r>
              <a:rPr lang="en-IN" sz="800" i="1" dirty="0" err="1" smtClean="0"/>
              <a:t>Madinaguda</a:t>
            </a:r>
            <a:endParaRPr lang="en-IN" sz="800" i="1" dirty="0" smtClean="0"/>
          </a:p>
        </p:txBody>
      </p:sp>
      <p:sp>
        <p:nvSpPr>
          <p:cNvPr id="210" name="TextBox 209"/>
          <p:cNvSpPr txBox="1"/>
          <p:nvPr/>
        </p:nvSpPr>
        <p:spPr bwMode="gray">
          <a:xfrm>
            <a:off x="5349609" y="1803494"/>
            <a:ext cx="1039091" cy="138546"/>
          </a:xfrm>
          <a:prstGeom prst="rect">
            <a:avLst/>
          </a:prstGeom>
        </p:spPr>
        <p:txBody>
          <a:bodyPr vert="horz" wrap="square" lIns="91440" tIns="45720" rIns="91440" bIns="45720" rtlCol="0" anchor="ctr">
            <a:noAutofit/>
          </a:bodyPr>
          <a:lstStyle/>
          <a:p>
            <a:pPr algn="ctr"/>
            <a:r>
              <a:rPr lang="en-IN" sz="800" i="1" dirty="0" err="1" smtClean="0"/>
              <a:t>Kompally</a:t>
            </a:r>
            <a:endParaRPr lang="en-IN" sz="800" i="1" dirty="0" smtClean="0"/>
          </a:p>
        </p:txBody>
      </p:sp>
      <p:sp>
        <p:nvSpPr>
          <p:cNvPr id="211" name="TextBox 210"/>
          <p:cNvSpPr txBox="1"/>
          <p:nvPr/>
        </p:nvSpPr>
        <p:spPr bwMode="gray">
          <a:xfrm>
            <a:off x="5285213" y="4108467"/>
            <a:ext cx="1039091" cy="138546"/>
          </a:xfrm>
          <a:prstGeom prst="rect">
            <a:avLst/>
          </a:prstGeom>
        </p:spPr>
        <p:txBody>
          <a:bodyPr vert="horz" wrap="square" lIns="91440" tIns="45720" rIns="91440" bIns="45720" rtlCol="0" anchor="ctr">
            <a:noAutofit/>
          </a:bodyPr>
          <a:lstStyle/>
          <a:p>
            <a:pPr algn="ctr"/>
            <a:r>
              <a:rPr lang="en-IN" sz="800" i="1" dirty="0" err="1" smtClean="0"/>
              <a:t>Chikkadpally</a:t>
            </a:r>
            <a:endParaRPr lang="en-IN" sz="800" i="1" dirty="0" smtClean="0"/>
          </a:p>
        </p:txBody>
      </p:sp>
      <p:sp>
        <p:nvSpPr>
          <p:cNvPr id="212" name="TextBox 211"/>
          <p:cNvSpPr txBox="1"/>
          <p:nvPr/>
        </p:nvSpPr>
        <p:spPr bwMode="gray">
          <a:xfrm>
            <a:off x="1305073" y="3310781"/>
            <a:ext cx="1039091" cy="138546"/>
          </a:xfrm>
          <a:prstGeom prst="rect">
            <a:avLst/>
          </a:prstGeom>
        </p:spPr>
        <p:txBody>
          <a:bodyPr vert="horz" wrap="square" lIns="91440" tIns="45720" rIns="91440" bIns="45720" rtlCol="0" anchor="ctr">
            <a:noAutofit/>
          </a:bodyPr>
          <a:lstStyle/>
          <a:p>
            <a:pPr algn="ctr"/>
            <a:r>
              <a:rPr lang="en-IN" sz="800" i="1" dirty="0" err="1" smtClean="0"/>
              <a:t>Kondapur</a:t>
            </a:r>
            <a:endParaRPr lang="en-IN" sz="800" i="1" dirty="0" smtClean="0"/>
          </a:p>
        </p:txBody>
      </p:sp>
      <p:sp>
        <p:nvSpPr>
          <p:cNvPr id="213" name="TextBox 212"/>
          <p:cNvSpPr txBox="1"/>
          <p:nvPr/>
        </p:nvSpPr>
        <p:spPr bwMode="gray">
          <a:xfrm>
            <a:off x="6171120" y="4129580"/>
            <a:ext cx="1039091" cy="138546"/>
          </a:xfrm>
          <a:prstGeom prst="rect">
            <a:avLst/>
          </a:prstGeom>
        </p:spPr>
        <p:txBody>
          <a:bodyPr vert="horz" wrap="square" lIns="91440" tIns="45720" rIns="91440" bIns="45720" rtlCol="0" anchor="ctr">
            <a:noAutofit/>
          </a:bodyPr>
          <a:lstStyle/>
          <a:p>
            <a:pPr algn="ctr"/>
            <a:r>
              <a:rPr lang="en-IN" sz="800" i="1" dirty="0" err="1" smtClean="0"/>
              <a:t>Nallakunta</a:t>
            </a:r>
            <a:endParaRPr lang="en-IN" sz="800" i="1" dirty="0" smtClean="0"/>
          </a:p>
        </p:txBody>
      </p:sp>
      <p:sp>
        <p:nvSpPr>
          <p:cNvPr id="214" name="TextBox 213"/>
          <p:cNvSpPr txBox="1"/>
          <p:nvPr/>
        </p:nvSpPr>
        <p:spPr bwMode="gray">
          <a:xfrm>
            <a:off x="7047898" y="5293379"/>
            <a:ext cx="1039091" cy="138546"/>
          </a:xfrm>
          <a:prstGeom prst="rect">
            <a:avLst/>
          </a:prstGeom>
        </p:spPr>
        <p:txBody>
          <a:bodyPr vert="horz" wrap="square" lIns="91440" tIns="45720" rIns="91440" bIns="45720" rtlCol="0" anchor="ctr">
            <a:noAutofit/>
          </a:bodyPr>
          <a:lstStyle/>
          <a:p>
            <a:pPr algn="ctr"/>
            <a:r>
              <a:rPr lang="en-IN" sz="800" i="1" dirty="0" err="1" smtClean="0"/>
              <a:t>Alkapuri</a:t>
            </a:r>
            <a:endParaRPr lang="en-IN" sz="800" i="1" dirty="0" smtClean="0"/>
          </a:p>
        </p:txBody>
      </p:sp>
      <p:sp>
        <p:nvSpPr>
          <p:cNvPr id="215" name="TextBox 214"/>
          <p:cNvSpPr txBox="1"/>
          <p:nvPr/>
        </p:nvSpPr>
        <p:spPr bwMode="gray">
          <a:xfrm>
            <a:off x="4454635" y="4637005"/>
            <a:ext cx="1039091" cy="138546"/>
          </a:xfrm>
          <a:prstGeom prst="rect">
            <a:avLst/>
          </a:prstGeom>
        </p:spPr>
        <p:txBody>
          <a:bodyPr vert="horz" wrap="square" lIns="91440" tIns="45720" rIns="91440" bIns="45720" rtlCol="0" anchor="ctr">
            <a:noAutofit/>
          </a:bodyPr>
          <a:lstStyle/>
          <a:p>
            <a:pPr algn="ctr"/>
            <a:r>
              <a:rPr lang="en-IN" sz="800" i="1" dirty="0" err="1" smtClean="0"/>
              <a:t>Koti</a:t>
            </a:r>
            <a:endParaRPr lang="en-IN" sz="800" i="1" dirty="0" smtClean="0"/>
          </a:p>
        </p:txBody>
      </p:sp>
      <p:sp>
        <p:nvSpPr>
          <p:cNvPr id="216" name="Oval 215"/>
          <p:cNvSpPr/>
          <p:nvPr/>
        </p:nvSpPr>
        <p:spPr>
          <a:xfrm>
            <a:off x="5707287" y="4540875"/>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7" name="Oval 216"/>
          <p:cNvSpPr/>
          <p:nvPr/>
        </p:nvSpPr>
        <p:spPr>
          <a:xfrm>
            <a:off x="6465062" y="4333057"/>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8" name="Oval 217"/>
          <p:cNvSpPr/>
          <p:nvPr/>
        </p:nvSpPr>
        <p:spPr>
          <a:xfrm>
            <a:off x="6475793" y="5103643"/>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9" name="Oval 218"/>
          <p:cNvSpPr/>
          <p:nvPr/>
        </p:nvSpPr>
        <p:spPr>
          <a:xfrm>
            <a:off x="2791411" y="3829812"/>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0" name="Oval 219"/>
          <p:cNvSpPr/>
          <p:nvPr/>
        </p:nvSpPr>
        <p:spPr>
          <a:xfrm>
            <a:off x="4850200" y="3512907"/>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1" name="Oval 220"/>
          <p:cNvSpPr/>
          <p:nvPr/>
        </p:nvSpPr>
        <p:spPr>
          <a:xfrm>
            <a:off x="2120085" y="4847642"/>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2" name="Oval 221"/>
          <p:cNvSpPr/>
          <p:nvPr/>
        </p:nvSpPr>
        <p:spPr>
          <a:xfrm>
            <a:off x="4020995" y="3495974"/>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3" name="Oval 222"/>
          <p:cNvSpPr/>
          <p:nvPr/>
        </p:nvSpPr>
        <p:spPr>
          <a:xfrm>
            <a:off x="4849582" y="2881367"/>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4" name="Oval 223"/>
          <p:cNvSpPr/>
          <p:nvPr/>
        </p:nvSpPr>
        <p:spPr>
          <a:xfrm>
            <a:off x="7750015" y="3544176"/>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5" name="Oval 224"/>
          <p:cNvSpPr/>
          <p:nvPr/>
        </p:nvSpPr>
        <p:spPr>
          <a:xfrm>
            <a:off x="2496498" y="4330171"/>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6" name="Oval 225"/>
          <p:cNvSpPr/>
          <p:nvPr/>
        </p:nvSpPr>
        <p:spPr>
          <a:xfrm>
            <a:off x="7813329" y="4549293"/>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7" name="TextBox 226"/>
          <p:cNvSpPr txBox="1"/>
          <p:nvPr/>
        </p:nvSpPr>
        <p:spPr bwMode="gray">
          <a:xfrm>
            <a:off x="6475793" y="5997750"/>
            <a:ext cx="1039091" cy="138546"/>
          </a:xfrm>
          <a:prstGeom prst="rect">
            <a:avLst/>
          </a:prstGeom>
        </p:spPr>
        <p:txBody>
          <a:bodyPr vert="horz" wrap="square" lIns="91440" tIns="45720" rIns="91440" bIns="45720" rtlCol="0" anchor="ctr">
            <a:noAutofit/>
          </a:bodyPr>
          <a:lstStyle/>
          <a:p>
            <a:pPr algn="ctr"/>
            <a:r>
              <a:rPr lang="en-IN" sz="800" i="1" dirty="0" err="1" smtClean="0"/>
              <a:t>Hastinapuram</a:t>
            </a:r>
            <a:endParaRPr lang="en-IN" sz="800" i="1" dirty="0" smtClean="0"/>
          </a:p>
        </p:txBody>
      </p:sp>
      <p:sp>
        <p:nvSpPr>
          <p:cNvPr id="228" name="Oval 227"/>
          <p:cNvSpPr/>
          <p:nvPr/>
        </p:nvSpPr>
        <p:spPr>
          <a:xfrm>
            <a:off x="2570323" y="3827664"/>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9" name="Oval 228"/>
          <p:cNvSpPr/>
          <p:nvPr/>
        </p:nvSpPr>
        <p:spPr>
          <a:xfrm>
            <a:off x="7117594" y="6157562"/>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0" name="Oval 229"/>
          <p:cNvSpPr/>
          <p:nvPr/>
        </p:nvSpPr>
        <p:spPr>
          <a:xfrm>
            <a:off x="7421365" y="6004180"/>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1" name="Oval 230"/>
          <p:cNvSpPr/>
          <p:nvPr/>
        </p:nvSpPr>
        <p:spPr>
          <a:xfrm>
            <a:off x="7747867" y="3374601"/>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2" name="Oval 231"/>
          <p:cNvSpPr/>
          <p:nvPr/>
        </p:nvSpPr>
        <p:spPr>
          <a:xfrm>
            <a:off x="1513643" y="3541114"/>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3" name="Oval 232"/>
          <p:cNvSpPr/>
          <p:nvPr/>
        </p:nvSpPr>
        <p:spPr>
          <a:xfrm>
            <a:off x="5400207" y="2009460"/>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4" name="Oval 233"/>
          <p:cNvSpPr/>
          <p:nvPr/>
        </p:nvSpPr>
        <p:spPr>
          <a:xfrm>
            <a:off x="7841385" y="2627185"/>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5" name="Oval 234"/>
          <p:cNvSpPr/>
          <p:nvPr/>
        </p:nvSpPr>
        <p:spPr>
          <a:xfrm>
            <a:off x="3166831" y="2402245"/>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6" name="Oval 235"/>
          <p:cNvSpPr/>
          <p:nvPr/>
        </p:nvSpPr>
        <p:spPr>
          <a:xfrm>
            <a:off x="1241036" y="3461692"/>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7" name="Oval 236"/>
          <p:cNvSpPr/>
          <p:nvPr/>
        </p:nvSpPr>
        <p:spPr>
          <a:xfrm>
            <a:off x="1045704" y="3472423"/>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8" name="Oval 237"/>
          <p:cNvSpPr/>
          <p:nvPr/>
        </p:nvSpPr>
        <p:spPr>
          <a:xfrm>
            <a:off x="3016833" y="2391105"/>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9" name="Oval 238"/>
          <p:cNvSpPr/>
          <p:nvPr/>
        </p:nvSpPr>
        <p:spPr>
          <a:xfrm>
            <a:off x="6948019" y="6155414"/>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0" name="TextBox 239"/>
          <p:cNvSpPr txBox="1"/>
          <p:nvPr/>
        </p:nvSpPr>
        <p:spPr bwMode="gray">
          <a:xfrm>
            <a:off x="238032" y="3040789"/>
            <a:ext cx="1039091" cy="138546"/>
          </a:xfrm>
          <a:prstGeom prst="rect">
            <a:avLst/>
          </a:prstGeom>
        </p:spPr>
        <p:txBody>
          <a:bodyPr vert="horz" wrap="square" lIns="91440" tIns="45720" rIns="91440" bIns="45720" rtlCol="0" anchor="ctr">
            <a:noAutofit/>
          </a:bodyPr>
          <a:lstStyle/>
          <a:p>
            <a:pPr algn="ctr"/>
            <a:r>
              <a:rPr lang="en-IN" sz="800" i="1" dirty="0" err="1" smtClean="0"/>
              <a:t>Nallagandla</a:t>
            </a:r>
            <a:endParaRPr lang="en-IN" sz="800" i="1" dirty="0" smtClean="0"/>
          </a:p>
        </p:txBody>
      </p:sp>
      <p:sp>
        <p:nvSpPr>
          <p:cNvPr id="241" name="TextBox 240"/>
          <p:cNvSpPr txBox="1"/>
          <p:nvPr/>
        </p:nvSpPr>
        <p:spPr bwMode="gray">
          <a:xfrm>
            <a:off x="713195" y="2822286"/>
            <a:ext cx="1039091" cy="138546"/>
          </a:xfrm>
          <a:prstGeom prst="rect">
            <a:avLst/>
          </a:prstGeom>
        </p:spPr>
        <p:txBody>
          <a:bodyPr vert="horz" wrap="square" lIns="91440" tIns="45720" rIns="91440" bIns="45720" rtlCol="0" anchor="ctr">
            <a:noAutofit/>
          </a:bodyPr>
          <a:lstStyle/>
          <a:p>
            <a:pPr algn="ctr"/>
            <a:r>
              <a:rPr lang="en-IN" sz="800" i="1" dirty="0" smtClean="0"/>
              <a:t>CUC</a:t>
            </a:r>
          </a:p>
        </p:txBody>
      </p:sp>
      <p:sp>
        <p:nvSpPr>
          <p:cNvPr id="242" name="TextBox 241"/>
          <p:cNvSpPr txBox="1"/>
          <p:nvPr/>
        </p:nvSpPr>
        <p:spPr bwMode="gray">
          <a:xfrm>
            <a:off x="1644444" y="3130915"/>
            <a:ext cx="1039091" cy="138546"/>
          </a:xfrm>
          <a:prstGeom prst="rect">
            <a:avLst/>
          </a:prstGeom>
        </p:spPr>
        <p:txBody>
          <a:bodyPr vert="horz" wrap="square" lIns="91440" tIns="45720" rIns="91440" bIns="45720" rtlCol="0" anchor="ctr">
            <a:noAutofit/>
          </a:bodyPr>
          <a:lstStyle/>
          <a:p>
            <a:pPr algn="ctr"/>
            <a:r>
              <a:rPr lang="en-IN" sz="800" i="1" dirty="0" err="1" smtClean="0"/>
              <a:t>Kothaguda</a:t>
            </a:r>
            <a:endParaRPr lang="en-IN" sz="800" i="1" dirty="0" smtClean="0"/>
          </a:p>
        </p:txBody>
      </p:sp>
      <p:sp>
        <p:nvSpPr>
          <p:cNvPr id="243" name="TextBox 242"/>
          <p:cNvSpPr txBox="1"/>
          <p:nvPr/>
        </p:nvSpPr>
        <p:spPr bwMode="gray">
          <a:xfrm>
            <a:off x="1873946" y="3529488"/>
            <a:ext cx="1039091" cy="138546"/>
          </a:xfrm>
          <a:prstGeom prst="rect">
            <a:avLst/>
          </a:prstGeom>
        </p:spPr>
        <p:txBody>
          <a:bodyPr vert="horz" wrap="square" lIns="91440" tIns="45720" rIns="91440" bIns="45720" rtlCol="0" anchor="ctr">
            <a:noAutofit/>
          </a:bodyPr>
          <a:lstStyle/>
          <a:p>
            <a:pPr algn="ctr"/>
            <a:r>
              <a:rPr lang="en-IN" sz="800" i="1" dirty="0" err="1" smtClean="0"/>
              <a:t>Jawahar</a:t>
            </a:r>
            <a:r>
              <a:rPr lang="en-IN" sz="800" i="1" dirty="0" smtClean="0"/>
              <a:t> Nagar</a:t>
            </a:r>
          </a:p>
        </p:txBody>
      </p:sp>
      <p:sp>
        <p:nvSpPr>
          <p:cNvPr id="244" name="TextBox 243"/>
          <p:cNvSpPr txBox="1"/>
          <p:nvPr/>
        </p:nvSpPr>
        <p:spPr bwMode="gray">
          <a:xfrm>
            <a:off x="244738" y="4513650"/>
            <a:ext cx="1039091" cy="138546"/>
          </a:xfrm>
          <a:prstGeom prst="rect">
            <a:avLst/>
          </a:prstGeom>
        </p:spPr>
        <p:txBody>
          <a:bodyPr vert="horz" wrap="square" lIns="91440" tIns="45720" rIns="91440" bIns="45720" rtlCol="0" anchor="ctr">
            <a:noAutofit/>
          </a:bodyPr>
          <a:lstStyle/>
          <a:p>
            <a:pPr algn="ctr"/>
            <a:r>
              <a:rPr lang="en-IN" sz="800" i="1" dirty="0" smtClean="0"/>
              <a:t>Osman Nagar</a:t>
            </a:r>
          </a:p>
        </p:txBody>
      </p:sp>
      <p:sp>
        <p:nvSpPr>
          <p:cNvPr id="245" name="TextBox 244"/>
          <p:cNvSpPr txBox="1"/>
          <p:nvPr/>
        </p:nvSpPr>
        <p:spPr bwMode="gray">
          <a:xfrm>
            <a:off x="563453" y="4222913"/>
            <a:ext cx="1039091" cy="138546"/>
          </a:xfrm>
          <a:prstGeom prst="rect">
            <a:avLst/>
          </a:prstGeom>
        </p:spPr>
        <p:txBody>
          <a:bodyPr vert="horz" wrap="square" lIns="91440" tIns="45720" rIns="91440" bIns="45720" rtlCol="0" anchor="ctr">
            <a:noAutofit/>
          </a:bodyPr>
          <a:lstStyle/>
          <a:p>
            <a:pPr algn="ctr"/>
            <a:r>
              <a:rPr lang="en-IN" sz="800" i="1" dirty="0" err="1" smtClean="0"/>
              <a:t>Manikonda</a:t>
            </a:r>
            <a:endParaRPr lang="en-IN" sz="800" i="1" dirty="0" smtClean="0"/>
          </a:p>
        </p:txBody>
      </p:sp>
      <p:sp>
        <p:nvSpPr>
          <p:cNvPr id="246" name="TextBox 245"/>
          <p:cNvSpPr txBox="1"/>
          <p:nvPr/>
        </p:nvSpPr>
        <p:spPr bwMode="gray">
          <a:xfrm>
            <a:off x="660035" y="4788807"/>
            <a:ext cx="1039091" cy="138546"/>
          </a:xfrm>
          <a:prstGeom prst="rect">
            <a:avLst/>
          </a:prstGeom>
        </p:spPr>
        <p:txBody>
          <a:bodyPr vert="horz" wrap="square" lIns="91440" tIns="45720" rIns="91440" bIns="45720" rtlCol="0" anchor="ctr">
            <a:noAutofit/>
          </a:bodyPr>
          <a:lstStyle/>
          <a:p>
            <a:pPr algn="ctr"/>
            <a:r>
              <a:rPr lang="en-IN" sz="800" i="1" dirty="0" smtClean="0"/>
              <a:t>Army Golf Course</a:t>
            </a:r>
          </a:p>
        </p:txBody>
      </p:sp>
      <p:sp>
        <p:nvSpPr>
          <p:cNvPr id="247" name="TextBox 246"/>
          <p:cNvSpPr txBox="1"/>
          <p:nvPr/>
        </p:nvSpPr>
        <p:spPr bwMode="gray">
          <a:xfrm>
            <a:off x="469936" y="5533442"/>
            <a:ext cx="1039091" cy="138546"/>
          </a:xfrm>
          <a:prstGeom prst="rect">
            <a:avLst/>
          </a:prstGeom>
        </p:spPr>
        <p:txBody>
          <a:bodyPr vert="horz" wrap="square" lIns="91440" tIns="45720" rIns="91440" bIns="45720" rtlCol="0" anchor="ctr">
            <a:noAutofit/>
          </a:bodyPr>
          <a:lstStyle/>
          <a:p>
            <a:pPr algn="ctr"/>
            <a:r>
              <a:rPr lang="en-IN" sz="800" i="1" dirty="0" err="1" smtClean="0"/>
              <a:t>Himayathsagar</a:t>
            </a:r>
            <a:endParaRPr lang="en-IN" sz="800" i="1" dirty="0" smtClean="0"/>
          </a:p>
        </p:txBody>
      </p:sp>
      <p:sp>
        <p:nvSpPr>
          <p:cNvPr id="248" name="TextBox 247"/>
          <p:cNvSpPr txBox="1"/>
          <p:nvPr/>
        </p:nvSpPr>
        <p:spPr bwMode="gray">
          <a:xfrm>
            <a:off x="1034239" y="5271974"/>
            <a:ext cx="1039091" cy="138546"/>
          </a:xfrm>
          <a:prstGeom prst="rect">
            <a:avLst/>
          </a:prstGeom>
        </p:spPr>
        <p:txBody>
          <a:bodyPr vert="horz" wrap="square" lIns="91440" tIns="45720" rIns="91440" bIns="45720" rtlCol="0" anchor="ctr">
            <a:noAutofit/>
          </a:bodyPr>
          <a:lstStyle/>
          <a:p>
            <a:pPr algn="ctr"/>
            <a:r>
              <a:rPr lang="en-IN" sz="800" i="1" dirty="0" err="1" smtClean="0"/>
              <a:t>Bandlaguda</a:t>
            </a:r>
            <a:endParaRPr lang="en-IN" sz="800" i="1" dirty="0" smtClean="0"/>
          </a:p>
        </p:txBody>
      </p:sp>
      <p:sp>
        <p:nvSpPr>
          <p:cNvPr id="249" name="TextBox 248"/>
          <p:cNvSpPr txBox="1"/>
          <p:nvPr/>
        </p:nvSpPr>
        <p:spPr bwMode="gray">
          <a:xfrm>
            <a:off x="1589371" y="5421686"/>
            <a:ext cx="1039091" cy="138546"/>
          </a:xfrm>
          <a:prstGeom prst="rect">
            <a:avLst/>
          </a:prstGeom>
        </p:spPr>
        <p:txBody>
          <a:bodyPr vert="horz" wrap="square" lIns="91440" tIns="45720" rIns="91440" bIns="45720" rtlCol="0" anchor="ctr">
            <a:noAutofit/>
          </a:bodyPr>
          <a:lstStyle/>
          <a:p>
            <a:pPr algn="ctr"/>
            <a:r>
              <a:rPr lang="en-IN" sz="800" i="1" dirty="0" err="1" smtClean="0"/>
              <a:t>Padmasri</a:t>
            </a:r>
            <a:r>
              <a:rPr lang="en-IN" sz="800" i="1" dirty="0" smtClean="0"/>
              <a:t> Estates</a:t>
            </a:r>
          </a:p>
        </p:txBody>
      </p:sp>
      <p:sp>
        <p:nvSpPr>
          <p:cNvPr id="250" name="TextBox 249"/>
          <p:cNvSpPr txBox="1"/>
          <p:nvPr/>
        </p:nvSpPr>
        <p:spPr bwMode="gray">
          <a:xfrm>
            <a:off x="1677629" y="5794733"/>
            <a:ext cx="1039091" cy="138546"/>
          </a:xfrm>
          <a:prstGeom prst="rect">
            <a:avLst/>
          </a:prstGeom>
        </p:spPr>
        <p:txBody>
          <a:bodyPr vert="horz" wrap="square" lIns="91440" tIns="45720" rIns="91440" bIns="45720" rtlCol="0" anchor="ctr">
            <a:noAutofit/>
          </a:bodyPr>
          <a:lstStyle/>
          <a:p>
            <a:pPr algn="ctr"/>
            <a:r>
              <a:rPr lang="en-IN" sz="800" i="1" dirty="0" err="1" smtClean="0"/>
              <a:t>Kismatpur</a:t>
            </a:r>
            <a:endParaRPr lang="en-IN" sz="800" i="1" dirty="0" smtClean="0"/>
          </a:p>
        </p:txBody>
      </p:sp>
      <p:sp>
        <p:nvSpPr>
          <p:cNvPr id="251" name="TextBox 250"/>
          <p:cNvSpPr txBox="1"/>
          <p:nvPr/>
        </p:nvSpPr>
        <p:spPr bwMode="gray">
          <a:xfrm>
            <a:off x="2683535" y="5292055"/>
            <a:ext cx="1039091" cy="138546"/>
          </a:xfrm>
          <a:prstGeom prst="rect">
            <a:avLst/>
          </a:prstGeom>
        </p:spPr>
        <p:txBody>
          <a:bodyPr vert="horz" wrap="square" lIns="91440" tIns="45720" rIns="91440" bIns="45720" rtlCol="0" anchor="ctr">
            <a:noAutofit/>
          </a:bodyPr>
          <a:lstStyle/>
          <a:p>
            <a:pPr algn="ctr"/>
            <a:r>
              <a:rPr lang="en-IN" sz="800" i="1" dirty="0" smtClean="0"/>
              <a:t>Nehru Zoological Park</a:t>
            </a:r>
          </a:p>
        </p:txBody>
      </p:sp>
      <p:sp>
        <p:nvSpPr>
          <p:cNvPr id="252" name="TextBox 251"/>
          <p:cNvSpPr txBox="1"/>
          <p:nvPr/>
        </p:nvSpPr>
        <p:spPr bwMode="gray">
          <a:xfrm>
            <a:off x="2835242" y="5730415"/>
            <a:ext cx="1039091" cy="138546"/>
          </a:xfrm>
          <a:prstGeom prst="rect">
            <a:avLst/>
          </a:prstGeom>
        </p:spPr>
        <p:txBody>
          <a:bodyPr vert="horz" wrap="square" lIns="91440" tIns="45720" rIns="91440" bIns="45720" rtlCol="0" anchor="ctr">
            <a:noAutofit/>
          </a:bodyPr>
          <a:lstStyle/>
          <a:p>
            <a:pPr algn="ctr"/>
            <a:r>
              <a:rPr lang="en-IN" sz="800" i="1" dirty="0" err="1" smtClean="0"/>
              <a:t>Sivarampalli</a:t>
            </a:r>
            <a:endParaRPr lang="en-IN" sz="800" i="1" dirty="0" smtClean="0"/>
          </a:p>
        </p:txBody>
      </p:sp>
      <p:sp>
        <p:nvSpPr>
          <p:cNvPr id="253" name="TextBox 252"/>
          <p:cNvSpPr txBox="1"/>
          <p:nvPr/>
        </p:nvSpPr>
        <p:spPr bwMode="gray">
          <a:xfrm>
            <a:off x="2683534" y="6075194"/>
            <a:ext cx="1039091" cy="138546"/>
          </a:xfrm>
          <a:prstGeom prst="rect">
            <a:avLst/>
          </a:prstGeom>
        </p:spPr>
        <p:txBody>
          <a:bodyPr vert="horz" wrap="square" lIns="91440" tIns="45720" rIns="91440" bIns="45720" rtlCol="0" anchor="ctr">
            <a:noAutofit/>
          </a:bodyPr>
          <a:lstStyle/>
          <a:p>
            <a:pPr algn="ctr"/>
            <a:r>
              <a:rPr lang="en-IN" sz="800" i="1" dirty="0" err="1" smtClean="0"/>
              <a:t>Gagan</a:t>
            </a:r>
            <a:r>
              <a:rPr lang="en-IN" sz="800" i="1" dirty="0" smtClean="0"/>
              <a:t> </a:t>
            </a:r>
            <a:r>
              <a:rPr lang="en-IN" sz="800" i="1" dirty="0" err="1" smtClean="0"/>
              <a:t>Pahad</a:t>
            </a:r>
            <a:endParaRPr lang="en-IN" sz="800" i="1" dirty="0" smtClean="0"/>
          </a:p>
        </p:txBody>
      </p:sp>
      <p:sp>
        <p:nvSpPr>
          <p:cNvPr id="254" name="TextBox 253"/>
          <p:cNvSpPr txBox="1"/>
          <p:nvPr/>
        </p:nvSpPr>
        <p:spPr bwMode="gray">
          <a:xfrm>
            <a:off x="2860736" y="4826958"/>
            <a:ext cx="1039091" cy="138546"/>
          </a:xfrm>
          <a:prstGeom prst="rect">
            <a:avLst/>
          </a:prstGeom>
        </p:spPr>
        <p:txBody>
          <a:bodyPr vert="horz" wrap="square" lIns="91440" tIns="45720" rIns="91440" bIns="45720" rtlCol="0" anchor="ctr">
            <a:noAutofit/>
          </a:bodyPr>
          <a:lstStyle/>
          <a:p>
            <a:pPr algn="ctr"/>
            <a:r>
              <a:rPr lang="en-IN" sz="800" i="1" dirty="0" err="1" smtClean="0"/>
              <a:t>Karwan</a:t>
            </a:r>
            <a:endParaRPr lang="en-IN" sz="800" i="1" dirty="0" smtClean="0"/>
          </a:p>
        </p:txBody>
      </p:sp>
      <p:sp>
        <p:nvSpPr>
          <p:cNvPr id="255" name="TextBox 254"/>
          <p:cNvSpPr txBox="1"/>
          <p:nvPr/>
        </p:nvSpPr>
        <p:spPr bwMode="gray">
          <a:xfrm>
            <a:off x="4218182" y="4982780"/>
            <a:ext cx="1039091" cy="138546"/>
          </a:xfrm>
          <a:prstGeom prst="rect">
            <a:avLst/>
          </a:prstGeom>
        </p:spPr>
        <p:txBody>
          <a:bodyPr vert="horz" wrap="square" lIns="91440" tIns="45720" rIns="91440" bIns="45720" rtlCol="0" anchor="ctr">
            <a:noAutofit/>
          </a:bodyPr>
          <a:lstStyle/>
          <a:p>
            <a:pPr algn="ctr"/>
            <a:r>
              <a:rPr lang="en-IN" sz="800" i="1" dirty="0" err="1" smtClean="0"/>
              <a:t>CharMinar</a:t>
            </a:r>
            <a:endParaRPr lang="en-IN" sz="800" i="1" dirty="0" smtClean="0"/>
          </a:p>
        </p:txBody>
      </p:sp>
      <p:sp>
        <p:nvSpPr>
          <p:cNvPr id="256" name="TextBox 255"/>
          <p:cNvSpPr txBox="1"/>
          <p:nvPr/>
        </p:nvSpPr>
        <p:spPr bwMode="gray">
          <a:xfrm>
            <a:off x="4587411" y="4836409"/>
            <a:ext cx="1039091" cy="138546"/>
          </a:xfrm>
          <a:prstGeom prst="rect">
            <a:avLst/>
          </a:prstGeom>
        </p:spPr>
        <p:txBody>
          <a:bodyPr vert="horz" wrap="square" lIns="91440" tIns="45720" rIns="91440" bIns="45720" rtlCol="0" anchor="ctr">
            <a:noAutofit/>
          </a:bodyPr>
          <a:lstStyle/>
          <a:p>
            <a:pPr algn="ctr"/>
            <a:r>
              <a:rPr lang="en-IN" sz="800" i="1" dirty="0" err="1" smtClean="0"/>
              <a:t>Malakpet</a:t>
            </a:r>
            <a:endParaRPr lang="en-IN" sz="800" i="1" dirty="0" smtClean="0"/>
          </a:p>
        </p:txBody>
      </p:sp>
      <p:sp>
        <p:nvSpPr>
          <p:cNvPr id="257" name="TextBox 256"/>
          <p:cNvSpPr txBox="1"/>
          <p:nvPr/>
        </p:nvSpPr>
        <p:spPr bwMode="gray">
          <a:xfrm>
            <a:off x="3571019" y="5471189"/>
            <a:ext cx="1039091" cy="138546"/>
          </a:xfrm>
          <a:prstGeom prst="rect">
            <a:avLst/>
          </a:prstGeom>
        </p:spPr>
        <p:txBody>
          <a:bodyPr vert="horz" wrap="square" lIns="91440" tIns="45720" rIns="91440" bIns="45720" rtlCol="0" anchor="ctr">
            <a:noAutofit/>
          </a:bodyPr>
          <a:lstStyle/>
          <a:p>
            <a:pPr algn="ctr"/>
            <a:r>
              <a:rPr lang="en-IN" sz="800" i="1" dirty="0" smtClean="0"/>
              <a:t>Murad Nagar</a:t>
            </a:r>
          </a:p>
        </p:txBody>
      </p:sp>
      <p:sp>
        <p:nvSpPr>
          <p:cNvPr id="258" name="TextBox 257"/>
          <p:cNvSpPr txBox="1"/>
          <p:nvPr/>
        </p:nvSpPr>
        <p:spPr bwMode="gray">
          <a:xfrm>
            <a:off x="3851885" y="6057687"/>
            <a:ext cx="1039091" cy="138546"/>
          </a:xfrm>
          <a:prstGeom prst="rect">
            <a:avLst/>
          </a:prstGeom>
        </p:spPr>
        <p:txBody>
          <a:bodyPr vert="horz" wrap="square" lIns="91440" tIns="45720" rIns="91440" bIns="45720" rtlCol="0" anchor="ctr">
            <a:noAutofit/>
          </a:bodyPr>
          <a:lstStyle/>
          <a:p>
            <a:pPr algn="ctr"/>
            <a:r>
              <a:rPr lang="en-IN" sz="800" i="1" dirty="0" err="1" smtClean="0"/>
              <a:t>Kamaguda</a:t>
            </a:r>
            <a:endParaRPr lang="en-IN" sz="800" i="1" dirty="0" smtClean="0"/>
          </a:p>
        </p:txBody>
      </p:sp>
      <p:sp>
        <p:nvSpPr>
          <p:cNvPr id="259" name="TextBox 258"/>
          <p:cNvSpPr txBox="1"/>
          <p:nvPr/>
        </p:nvSpPr>
        <p:spPr bwMode="gray">
          <a:xfrm>
            <a:off x="3808498" y="5819497"/>
            <a:ext cx="1039091" cy="138546"/>
          </a:xfrm>
          <a:prstGeom prst="rect">
            <a:avLst/>
          </a:prstGeom>
        </p:spPr>
        <p:txBody>
          <a:bodyPr vert="horz" wrap="square" lIns="91440" tIns="45720" rIns="91440" bIns="45720" rtlCol="0" anchor="ctr">
            <a:noAutofit/>
          </a:bodyPr>
          <a:lstStyle/>
          <a:p>
            <a:pPr algn="ctr"/>
            <a:r>
              <a:rPr lang="en-IN" sz="800" i="1" dirty="0" err="1" smtClean="0"/>
              <a:t>Falaknuma</a:t>
            </a:r>
            <a:endParaRPr lang="en-IN" sz="800" i="1" dirty="0" smtClean="0"/>
          </a:p>
        </p:txBody>
      </p:sp>
      <p:sp>
        <p:nvSpPr>
          <p:cNvPr id="260" name="TextBox 259"/>
          <p:cNvSpPr txBox="1"/>
          <p:nvPr/>
        </p:nvSpPr>
        <p:spPr bwMode="gray">
          <a:xfrm>
            <a:off x="3585870" y="5085007"/>
            <a:ext cx="1039091" cy="138546"/>
          </a:xfrm>
          <a:prstGeom prst="rect">
            <a:avLst/>
          </a:prstGeom>
        </p:spPr>
        <p:txBody>
          <a:bodyPr vert="horz" wrap="square" lIns="91440" tIns="45720" rIns="91440" bIns="45720" rtlCol="0" anchor="ctr">
            <a:noAutofit/>
          </a:bodyPr>
          <a:lstStyle/>
          <a:p>
            <a:pPr algn="ctr"/>
            <a:r>
              <a:rPr lang="en-IN" sz="800" i="1" dirty="0" smtClean="0"/>
              <a:t>High Court</a:t>
            </a:r>
          </a:p>
        </p:txBody>
      </p:sp>
      <p:sp>
        <p:nvSpPr>
          <p:cNvPr id="261" name="TextBox 260"/>
          <p:cNvSpPr txBox="1"/>
          <p:nvPr/>
        </p:nvSpPr>
        <p:spPr bwMode="gray">
          <a:xfrm>
            <a:off x="3263243" y="3901355"/>
            <a:ext cx="1039091" cy="138546"/>
          </a:xfrm>
          <a:prstGeom prst="rect">
            <a:avLst/>
          </a:prstGeom>
        </p:spPr>
        <p:txBody>
          <a:bodyPr vert="horz" wrap="square" lIns="91440" tIns="45720" rIns="91440" bIns="45720" rtlCol="0" anchor="ctr">
            <a:noAutofit/>
          </a:bodyPr>
          <a:lstStyle/>
          <a:p>
            <a:pPr algn="ctr"/>
            <a:r>
              <a:rPr lang="en-IN" sz="800" i="1" dirty="0" err="1" smtClean="0"/>
              <a:t>Khairatabad</a:t>
            </a:r>
            <a:endParaRPr lang="en-IN" sz="800" i="1" dirty="0" smtClean="0"/>
          </a:p>
        </p:txBody>
      </p:sp>
      <p:sp>
        <p:nvSpPr>
          <p:cNvPr id="262" name="TextBox 261"/>
          <p:cNvSpPr txBox="1"/>
          <p:nvPr/>
        </p:nvSpPr>
        <p:spPr bwMode="gray">
          <a:xfrm>
            <a:off x="3632831" y="4222637"/>
            <a:ext cx="1039091" cy="138546"/>
          </a:xfrm>
          <a:prstGeom prst="rect">
            <a:avLst/>
          </a:prstGeom>
        </p:spPr>
        <p:txBody>
          <a:bodyPr vert="horz" wrap="square" lIns="91440" tIns="45720" rIns="91440" bIns="45720" rtlCol="0" anchor="ctr">
            <a:noAutofit/>
          </a:bodyPr>
          <a:lstStyle/>
          <a:p>
            <a:pPr algn="ctr"/>
            <a:r>
              <a:rPr lang="en-IN" sz="800" i="1" dirty="0" smtClean="0"/>
              <a:t>Hill Fort Road</a:t>
            </a:r>
          </a:p>
        </p:txBody>
      </p:sp>
      <p:sp>
        <p:nvSpPr>
          <p:cNvPr id="263" name="TextBox 262"/>
          <p:cNvSpPr txBox="1"/>
          <p:nvPr/>
        </p:nvSpPr>
        <p:spPr bwMode="gray">
          <a:xfrm>
            <a:off x="3580540" y="3071918"/>
            <a:ext cx="1039091" cy="138546"/>
          </a:xfrm>
          <a:prstGeom prst="rect">
            <a:avLst/>
          </a:prstGeom>
        </p:spPr>
        <p:txBody>
          <a:bodyPr vert="horz" wrap="square" lIns="91440" tIns="45720" rIns="91440" bIns="45720" rtlCol="0" anchor="ctr">
            <a:noAutofit/>
          </a:bodyPr>
          <a:lstStyle/>
          <a:p>
            <a:pPr algn="ctr"/>
            <a:r>
              <a:rPr lang="en-IN" sz="800" i="1" dirty="0" err="1" smtClean="0"/>
              <a:t>Bowenpally</a:t>
            </a:r>
            <a:endParaRPr lang="en-IN" sz="800" i="1" dirty="0" smtClean="0"/>
          </a:p>
        </p:txBody>
      </p:sp>
      <p:sp>
        <p:nvSpPr>
          <p:cNvPr id="264" name="TextBox 263"/>
          <p:cNvSpPr txBox="1"/>
          <p:nvPr/>
        </p:nvSpPr>
        <p:spPr bwMode="gray">
          <a:xfrm>
            <a:off x="3605216" y="2682434"/>
            <a:ext cx="1039091" cy="138546"/>
          </a:xfrm>
          <a:prstGeom prst="rect">
            <a:avLst/>
          </a:prstGeom>
        </p:spPr>
        <p:txBody>
          <a:bodyPr vert="horz" wrap="square" lIns="91440" tIns="45720" rIns="91440" bIns="45720" rtlCol="0" anchor="ctr">
            <a:noAutofit/>
          </a:bodyPr>
          <a:lstStyle/>
          <a:p>
            <a:pPr algn="ctr"/>
            <a:r>
              <a:rPr lang="en-IN" sz="800" i="1" dirty="0" smtClean="0"/>
              <a:t>HAL</a:t>
            </a:r>
          </a:p>
        </p:txBody>
      </p:sp>
      <p:sp>
        <p:nvSpPr>
          <p:cNvPr id="265" name="TextBox 264"/>
          <p:cNvSpPr txBox="1"/>
          <p:nvPr/>
        </p:nvSpPr>
        <p:spPr bwMode="gray">
          <a:xfrm>
            <a:off x="4681516" y="2192151"/>
            <a:ext cx="1039091" cy="138546"/>
          </a:xfrm>
          <a:prstGeom prst="rect">
            <a:avLst/>
          </a:prstGeom>
        </p:spPr>
        <p:txBody>
          <a:bodyPr vert="horz" wrap="square" lIns="91440" tIns="45720" rIns="91440" bIns="45720" rtlCol="0" anchor="ctr">
            <a:noAutofit/>
          </a:bodyPr>
          <a:lstStyle/>
          <a:p>
            <a:pPr algn="ctr"/>
            <a:r>
              <a:rPr lang="en-IN" sz="800" i="1" dirty="0" err="1" smtClean="0"/>
              <a:t>Alwal</a:t>
            </a:r>
            <a:endParaRPr lang="en-IN" sz="800" i="1" dirty="0" smtClean="0"/>
          </a:p>
        </p:txBody>
      </p:sp>
      <p:sp>
        <p:nvSpPr>
          <p:cNvPr id="266" name="TextBox 265"/>
          <p:cNvSpPr txBox="1"/>
          <p:nvPr/>
        </p:nvSpPr>
        <p:spPr bwMode="gray">
          <a:xfrm>
            <a:off x="3650664" y="1916093"/>
            <a:ext cx="1039091" cy="138546"/>
          </a:xfrm>
          <a:prstGeom prst="rect">
            <a:avLst/>
          </a:prstGeom>
        </p:spPr>
        <p:txBody>
          <a:bodyPr vert="horz" wrap="square" lIns="91440" tIns="45720" rIns="91440" bIns="45720" rtlCol="0" anchor="ctr">
            <a:noAutofit/>
          </a:bodyPr>
          <a:lstStyle/>
          <a:p>
            <a:pPr algn="ctr"/>
            <a:r>
              <a:rPr lang="en-IN" sz="800" i="1" dirty="0" err="1" smtClean="0"/>
              <a:t>Doolapally</a:t>
            </a:r>
            <a:endParaRPr lang="en-IN" sz="800" i="1" dirty="0" smtClean="0"/>
          </a:p>
        </p:txBody>
      </p:sp>
      <p:sp>
        <p:nvSpPr>
          <p:cNvPr id="267" name="TextBox 266"/>
          <p:cNvSpPr txBox="1"/>
          <p:nvPr/>
        </p:nvSpPr>
        <p:spPr bwMode="gray">
          <a:xfrm>
            <a:off x="5257273" y="3074495"/>
            <a:ext cx="1039091" cy="138546"/>
          </a:xfrm>
          <a:prstGeom prst="rect">
            <a:avLst/>
          </a:prstGeom>
        </p:spPr>
        <p:txBody>
          <a:bodyPr vert="horz" wrap="square" lIns="91440" tIns="45720" rIns="91440" bIns="45720" rtlCol="0" anchor="ctr">
            <a:noAutofit/>
          </a:bodyPr>
          <a:lstStyle/>
          <a:p>
            <a:pPr algn="ctr"/>
            <a:r>
              <a:rPr lang="en-IN" sz="800" i="1" dirty="0" smtClean="0"/>
              <a:t>Nehru Nagar</a:t>
            </a:r>
          </a:p>
        </p:txBody>
      </p:sp>
      <p:sp>
        <p:nvSpPr>
          <p:cNvPr id="268" name="TextBox 267"/>
          <p:cNvSpPr txBox="1"/>
          <p:nvPr/>
        </p:nvSpPr>
        <p:spPr bwMode="gray">
          <a:xfrm>
            <a:off x="5655428" y="2769738"/>
            <a:ext cx="1039091" cy="138546"/>
          </a:xfrm>
          <a:prstGeom prst="rect">
            <a:avLst/>
          </a:prstGeom>
        </p:spPr>
        <p:txBody>
          <a:bodyPr vert="horz" wrap="square" lIns="91440" tIns="45720" rIns="91440" bIns="45720" rtlCol="0" anchor="ctr">
            <a:noAutofit/>
          </a:bodyPr>
          <a:lstStyle/>
          <a:p>
            <a:pPr algn="ctr"/>
            <a:r>
              <a:rPr lang="en-IN" sz="800" i="1" dirty="0" err="1" smtClean="0"/>
              <a:t>Anantram</a:t>
            </a:r>
            <a:endParaRPr lang="en-IN" sz="800" i="1" dirty="0" smtClean="0"/>
          </a:p>
        </p:txBody>
      </p:sp>
      <p:sp>
        <p:nvSpPr>
          <p:cNvPr id="269" name="TextBox 268"/>
          <p:cNvSpPr txBox="1"/>
          <p:nvPr/>
        </p:nvSpPr>
        <p:spPr bwMode="gray">
          <a:xfrm>
            <a:off x="6049765" y="3449850"/>
            <a:ext cx="1039091" cy="138546"/>
          </a:xfrm>
          <a:prstGeom prst="rect">
            <a:avLst/>
          </a:prstGeom>
        </p:spPr>
        <p:txBody>
          <a:bodyPr vert="horz" wrap="square" lIns="91440" tIns="45720" rIns="91440" bIns="45720" rtlCol="0" anchor="ctr">
            <a:noAutofit/>
          </a:bodyPr>
          <a:lstStyle/>
          <a:p>
            <a:pPr algn="ctr"/>
            <a:r>
              <a:rPr lang="en-IN" sz="800" i="1" dirty="0" err="1" smtClean="0"/>
              <a:t>Sitaphalmandi</a:t>
            </a:r>
            <a:endParaRPr lang="en-IN" sz="800" i="1" dirty="0" smtClean="0"/>
          </a:p>
        </p:txBody>
      </p:sp>
      <p:sp>
        <p:nvSpPr>
          <p:cNvPr id="270" name="TextBox 269"/>
          <p:cNvSpPr txBox="1"/>
          <p:nvPr/>
        </p:nvSpPr>
        <p:spPr bwMode="gray">
          <a:xfrm>
            <a:off x="5443008" y="3833026"/>
            <a:ext cx="1039091" cy="138546"/>
          </a:xfrm>
          <a:prstGeom prst="rect">
            <a:avLst/>
          </a:prstGeom>
        </p:spPr>
        <p:txBody>
          <a:bodyPr vert="horz" wrap="square" lIns="91440" tIns="45720" rIns="91440" bIns="45720" rtlCol="0" anchor="ctr">
            <a:noAutofit/>
          </a:bodyPr>
          <a:lstStyle/>
          <a:p>
            <a:pPr algn="ctr"/>
            <a:r>
              <a:rPr lang="en-IN" sz="800" i="1" dirty="0" err="1" smtClean="0"/>
              <a:t>Bhoiguda</a:t>
            </a:r>
            <a:r>
              <a:rPr lang="en-IN" sz="800" i="1" dirty="0" smtClean="0"/>
              <a:t> Road</a:t>
            </a:r>
          </a:p>
        </p:txBody>
      </p:sp>
      <p:sp>
        <p:nvSpPr>
          <p:cNvPr id="271" name="TextBox 270"/>
          <p:cNvSpPr txBox="1"/>
          <p:nvPr/>
        </p:nvSpPr>
        <p:spPr bwMode="gray">
          <a:xfrm>
            <a:off x="6875347" y="3705384"/>
            <a:ext cx="1039091" cy="138546"/>
          </a:xfrm>
          <a:prstGeom prst="rect">
            <a:avLst/>
          </a:prstGeom>
        </p:spPr>
        <p:txBody>
          <a:bodyPr vert="horz" wrap="square" lIns="91440" tIns="45720" rIns="91440" bIns="45720" rtlCol="0" anchor="ctr">
            <a:noAutofit/>
          </a:bodyPr>
          <a:lstStyle/>
          <a:p>
            <a:pPr algn="ctr"/>
            <a:r>
              <a:rPr lang="en-IN" sz="800" i="1" dirty="0" smtClean="0"/>
              <a:t>Railway Workshop</a:t>
            </a:r>
          </a:p>
        </p:txBody>
      </p:sp>
      <p:sp>
        <p:nvSpPr>
          <p:cNvPr id="272" name="TextBox 271"/>
          <p:cNvSpPr txBox="1"/>
          <p:nvPr/>
        </p:nvSpPr>
        <p:spPr bwMode="gray">
          <a:xfrm>
            <a:off x="6573205" y="3070286"/>
            <a:ext cx="1039091" cy="138546"/>
          </a:xfrm>
          <a:prstGeom prst="rect">
            <a:avLst/>
          </a:prstGeom>
        </p:spPr>
        <p:txBody>
          <a:bodyPr vert="horz" wrap="square" lIns="91440" tIns="45720" rIns="91440" bIns="45720" rtlCol="0" anchor="ctr">
            <a:noAutofit/>
          </a:bodyPr>
          <a:lstStyle/>
          <a:p>
            <a:pPr algn="ctr"/>
            <a:r>
              <a:rPr lang="en-IN" sz="800" i="1" dirty="0" err="1" smtClean="0"/>
              <a:t>Malkajgiri</a:t>
            </a:r>
            <a:endParaRPr lang="en-IN" sz="800" i="1" dirty="0" smtClean="0"/>
          </a:p>
        </p:txBody>
      </p:sp>
      <p:sp>
        <p:nvSpPr>
          <p:cNvPr id="273" name="TextBox 272"/>
          <p:cNvSpPr txBox="1"/>
          <p:nvPr/>
        </p:nvSpPr>
        <p:spPr bwMode="gray">
          <a:xfrm>
            <a:off x="6174973" y="2321122"/>
            <a:ext cx="1039091" cy="138546"/>
          </a:xfrm>
          <a:prstGeom prst="rect">
            <a:avLst/>
          </a:prstGeom>
        </p:spPr>
        <p:txBody>
          <a:bodyPr vert="horz" wrap="square" lIns="91440" tIns="45720" rIns="91440" bIns="45720" rtlCol="0" anchor="ctr">
            <a:noAutofit/>
          </a:bodyPr>
          <a:lstStyle/>
          <a:p>
            <a:pPr algn="ctr"/>
            <a:r>
              <a:rPr lang="en-IN" sz="800" i="1" dirty="0" smtClean="0"/>
              <a:t>Generals Road</a:t>
            </a:r>
          </a:p>
        </p:txBody>
      </p:sp>
      <p:sp>
        <p:nvSpPr>
          <p:cNvPr id="274" name="TextBox 273"/>
          <p:cNvSpPr txBox="1"/>
          <p:nvPr/>
        </p:nvSpPr>
        <p:spPr bwMode="gray">
          <a:xfrm>
            <a:off x="7210211" y="2320038"/>
            <a:ext cx="1039091" cy="138546"/>
          </a:xfrm>
          <a:prstGeom prst="rect">
            <a:avLst/>
          </a:prstGeom>
        </p:spPr>
        <p:txBody>
          <a:bodyPr vert="horz" wrap="square" lIns="91440" tIns="45720" rIns="91440" bIns="45720" rtlCol="0" anchor="ctr">
            <a:noAutofit/>
          </a:bodyPr>
          <a:lstStyle/>
          <a:p>
            <a:pPr algn="ctr"/>
            <a:r>
              <a:rPr lang="en-IN" sz="800" i="1" dirty="0" err="1" smtClean="0"/>
              <a:t>Sainikpuri</a:t>
            </a:r>
            <a:endParaRPr lang="en-IN" sz="800" i="1" dirty="0" smtClean="0"/>
          </a:p>
        </p:txBody>
      </p:sp>
      <p:sp>
        <p:nvSpPr>
          <p:cNvPr id="275" name="TextBox 274"/>
          <p:cNvSpPr txBox="1"/>
          <p:nvPr/>
        </p:nvSpPr>
        <p:spPr bwMode="gray">
          <a:xfrm>
            <a:off x="5069846" y="5704737"/>
            <a:ext cx="1039091" cy="138546"/>
          </a:xfrm>
          <a:prstGeom prst="rect">
            <a:avLst/>
          </a:prstGeom>
        </p:spPr>
        <p:txBody>
          <a:bodyPr vert="horz" wrap="square" lIns="91440" tIns="45720" rIns="91440" bIns="45720" rtlCol="0" anchor="ctr">
            <a:noAutofit/>
          </a:bodyPr>
          <a:lstStyle/>
          <a:p>
            <a:pPr algn="ctr"/>
            <a:r>
              <a:rPr lang="en-IN" sz="800" i="1" dirty="0" smtClean="0"/>
              <a:t>Saidabad</a:t>
            </a:r>
          </a:p>
        </p:txBody>
      </p:sp>
      <p:sp>
        <p:nvSpPr>
          <p:cNvPr id="276" name="TextBox 275"/>
          <p:cNvSpPr txBox="1"/>
          <p:nvPr/>
        </p:nvSpPr>
        <p:spPr bwMode="gray">
          <a:xfrm>
            <a:off x="6046040" y="5767488"/>
            <a:ext cx="1039091" cy="138546"/>
          </a:xfrm>
          <a:prstGeom prst="rect">
            <a:avLst/>
          </a:prstGeom>
        </p:spPr>
        <p:txBody>
          <a:bodyPr vert="horz" wrap="square" lIns="91440" tIns="45720" rIns="91440" bIns="45720" rtlCol="0" anchor="ctr">
            <a:noAutofit/>
          </a:bodyPr>
          <a:lstStyle/>
          <a:p>
            <a:pPr algn="ctr"/>
            <a:r>
              <a:rPr lang="en-IN" sz="800" i="1" dirty="0" err="1" smtClean="0"/>
              <a:t>Saroornagar</a:t>
            </a:r>
            <a:endParaRPr lang="en-IN" sz="800" i="1" dirty="0" smtClean="0"/>
          </a:p>
        </p:txBody>
      </p:sp>
      <p:sp>
        <p:nvSpPr>
          <p:cNvPr id="277" name="TextBox 276"/>
          <p:cNvSpPr txBox="1"/>
          <p:nvPr/>
        </p:nvSpPr>
        <p:spPr bwMode="gray">
          <a:xfrm>
            <a:off x="6882745" y="5765340"/>
            <a:ext cx="1039091" cy="138546"/>
          </a:xfrm>
          <a:prstGeom prst="rect">
            <a:avLst/>
          </a:prstGeom>
        </p:spPr>
        <p:txBody>
          <a:bodyPr vert="horz" wrap="square" lIns="91440" tIns="45720" rIns="91440" bIns="45720" rtlCol="0" anchor="ctr">
            <a:noAutofit/>
          </a:bodyPr>
          <a:lstStyle/>
          <a:p>
            <a:pPr algn="ctr"/>
            <a:r>
              <a:rPr lang="en-IN" sz="800" i="1" dirty="0" smtClean="0"/>
              <a:t>LB Nagar</a:t>
            </a:r>
          </a:p>
        </p:txBody>
      </p:sp>
      <p:sp>
        <p:nvSpPr>
          <p:cNvPr id="278" name="Oval 277"/>
          <p:cNvSpPr/>
          <p:nvPr/>
        </p:nvSpPr>
        <p:spPr>
          <a:xfrm>
            <a:off x="5076498" y="3517541"/>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9" name="Oval 278"/>
          <p:cNvSpPr/>
          <p:nvPr/>
        </p:nvSpPr>
        <p:spPr>
          <a:xfrm>
            <a:off x="3477724" y="3452623"/>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0" name="Oval 279"/>
          <p:cNvSpPr/>
          <p:nvPr/>
        </p:nvSpPr>
        <p:spPr>
          <a:xfrm>
            <a:off x="2292776" y="2512399"/>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1" name="Oval 280"/>
          <p:cNvSpPr/>
          <p:nvPr/>
        </p:nvSpPr>
        <p:spPr>
          <a:xfrm>
            <a:off x="3980943" y="4509005"/>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2" name="Oval 281"/>
          <p:cNvSpPr/>
          <p:nvPr/>
        </p:nvSpPr>
        <p:spPr>
          <a:xfrm>
            <a:off x="7097565" y="4122739"/>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3" name="Oval 282"/>
          <p:cNvSpPr/>
          <p:nvPr/>
        </p:nvSpPr>
        <p:spPr>
          <a:xfrm>
            <a:off x="8283918" y="2628454"/>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4" name="Oval 283"/>
          <p:cNvSpPr/>
          <p:nvPr/>
        </p:nvSpPr>
        <p:spPr>
          <a:xfrm>
            <a:off x="3079116" y="3854356"/>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5" name="Oval 284"/>
          <p:cNvSpPr/>
          <p:nvPr/>
        </p:nvSpPr>
        <p:spPr>
          <a:xfrm>
            <a:off x="1945978" y="3815580"/>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6" name="Oval 285"/>
          <p:cNvSpPr/>
          <p:nvPr/>
        </p:nvSpPr>
        <p:spPr>
          <a:xfrm>
            <a:off x="5705889" y="5385117"/>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7" name="Oval 286"/>
          <p:cNvSpPr/>
          <p:nvPr/>
        </p:nvSpPr>
        <p:spPr>
          <a:xfrm>
            <a:off x="5705889" y="5038128"/>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8" name="Oval 287"/>
          <p:cNvSpPr/>
          <p:nvPr/>
        </p:nvSpPr>
        <p:spPr>
          <a:xfrm>
            <a:off x="7070934" y="5138247"/>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9" name="Oval 288"/>
          <p:cNvSpPr/>
          <p:nvPr/>
        </p:nvSpPr>
        <p:spPr>
          <a:xfrm>
            <a:off x="1752436" y="2512399"/>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0" name="Oval 289"/>
          <p:cNvSpPr/>
          <p:nvPr/>
        </p:nvSpPr>
        <p:spPr>
          <a:xfrm>
            <a:off x="7562978" y="6116522"/>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1" name="Oval 290"/>
          <p:cNvSpPr/>
          <p:nvPr/>
        </p:nvSpPr>
        <p:spPr>
          <a:xfrm>
            <a:off x="5397837" y="1803897"/>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2" name="Oval 291"/>
          <p:cNvSpPr/>
          <p:nvPr/>
        </p:nvSpPr>
        <p:spPr>
          <a:xfrm>
            <a:off x="5692817" y="4263182"/>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3" name="Oval 292"/>
          <p:cNvSpPr/>
          <p:nvPr/>
        </p:nvSpPr>
        <p:spPr>
          <a:xfrm>
            <a:off x="2357543" y="4856093"/>
            <a:ext cx="191726" cy="16385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4" name="Oval 293"/>
          <p:cNvSpPr/>
          <p:nvPr/>
        </p:nvSpPr>
        <p:spPr>
          <a:xfrm>
            <a:off x="2280130" y="4330014"/>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5" name="Oval 294"/>
          <p:cNvSpPr/>
          <p:nvPr/>
        </p:nvSpPr>
        <p:spPr>
          <a:xfrm>
            <a:off x="4662563" y="4160865"/>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6" name="Oval 295"/>
          <p:cNvSpPr/>
          <p:nvPr/>
        </p:nvSpPr>
        <p:spPr>
          <a:xfrm>
            <a:off x="1661984" y="3439334"/>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7" name="Oval 296"/>
          <p:cNvSpPr/>
          <p:nvPr/>
        </p:nvSpPr>
        <p:spPr>
          <a:xfrm>
            <a:off x="6196157" y="4136491"/>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8" name="Oval 297"/>
          <p:cNvSpPr/>
          <p:nvPr/>
        </p:nvSpPr>
        <p:spPr>
          <a:xfrm>
            <a:off x="670764" y="2396395"/>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9" name="Oval 298"/>
          <p:cNvSpPr/>
          <p:nvPr/>
        </p:nvSpPr>
        <p:spPr>
          <a:xfrm>
            <a:off x="7469459" y="5100260"/>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0" name="Oval 299"/>
          <p:cNvSpPr/>
          <p:nvPr/>
        </p:nvSpPr>
        <p:spPr>
          <a:xfrm>
            <a:off x="2513394" y="2512347"/>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1" name="Oval 300"/>
          <p:cNvSpPr/>
          <p:nvPr/>
        </p:nvSpPr>
        <p:spPr>
          <a:xfrm>
            <a:off x="4815689" y="4534158"/>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2" name="Oval 301"/>
          <p:cNvSpPr/>
          <p:nvPr/>
        </p:nvSpPr>
        <p:spPr>
          <a:xfrm>
            <a:off x="4202076" y="4204823"/>
            <a:ext cx="187037" cy="159422"/>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303" name="Oval 302"/>
          <p:cNvSpPr/>
          <p:nvPr/>
        </p:nvSpPr>
        <p:spPr>
          <a:xfrm>
            <a:off x="4189051" y="4516434"/>
            <a:ext cx="187037" cy="159422"/>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304" name="Oval 303"/>
          <p:cNvSpPr/>
          <p:nvPr/>
        </p:nvSpPr>
        <p:spPr>
          <a:xfrm>
            <a:off x="7327846" y="4104463"/>
            <a:ext cx="187037" cy="159422"/>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2" name="TextBox 1"/>
          <p:cNvSpPr txBox="1"/>
          <p:nvPr/>
        </p:nvSpPr>
        <p:spPr bwMode="gray">
          <a:xfrm>
            <a:off x="563453" y="1558306"/>
            <a:ext cx="3417490" cy="218941"/>
          </a:xfrm>
          <a:prstGeom prst="rect">
            <a:avLst/>
          </a:prstGeom>
        </p:spPr>
        <p:txBody>
          <a:bodyPr vert="horz" wrap="square" lIns="91440" tIns="45720" rIns="91440" bIns="45720" rtlCol="0" anchor="ctr">
            <a:noAutofit/>
          </a:bodyPr>
          <a:lstStyle/>
          <a:p>
            <a:r>
              <a:rPr lang="en-IN" sz="1200" b="1" dirty="0" smtClean="0"/>
              <a:t>Hyderabad</a:t>
            </a:r>
          </a:p>
          <a:p>
            <a:r>
              <a:rPr lang="en-IN" sz="1200" i="1" dirty="0" smtClean="0"/>
              <a:t>Indicative PINCODE map</a:t>
            </a:r>
          </a:p>
          <a:p>
            <a:r>
              <a:rPr lang="en-IN" sz="1000" dirty="0" smtClean="0"/>
              <a:t>Not to scale</a:t>
            </a:r>
          </a:p>
        </p:txBody>
      </p:sp>
      <p:sp>
        <p:nvSpPr>
          <p:cNvPr id="305" name="Oval 304"/>
          <p:cNvSpPr/>
          <p:nvPr/>
        </p:nvSpPr>
        <p:spPr>
          <a:xfrm>
            <a:off x="10043844" y="2572938"/>
            <a:ext cx="187037" cy="159422"/>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6" name="TextBox 305"/>
          <p:cNvSpPr txBox="1"/>
          <p:nvPr/>
        </p:nvSpPr>
        <p:spPr bwMode="gray">
          <a:xfrm>
            <a:off x="10296960" y="2503665"/>
            <a:ext cx="1374551" cy="367049"/>
          </a:xfrm>
          <a:prstGeom prst="rect">
            <a:avLst/>
          </a:prstGeom>
        </p:spPr>
        <p:txBody>
          <a:bodyPr vert="horz" wrap="square" lIns="91440" tIns="45720" rIns="91440" bIns="45720" rtlCol="0" anchor="ctr">
            <a:noAutofit/>
          </a:bodyPr>
          <a:lstStyle/>
          <a:p>
            <a:r>
              <a:rPr lang="en-IN" sz="1200" dirty="0" smtClean="0"/>
              <a:t>Potential Considerations - Croma Store Locations</a:t>
            </a:r>
          </a:p>
        </p:txBody>
      </p:sp>
      <p:sp>
        <p:nvSpPr>
          <p:cNvPr id="307" name="Oval 306"/>
          <p:cNvSpPr/>
          <p:nvPr/>
        </p:nvSpPr>
        <p:spPr>
          <a:xfrm>
            <a:off x="10043844" y="1805224"/>
            <a:ext cx="187037" cy="159422"/>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8" name="TextBox 307"/>
          <p:cNvSpPr txBox="1"/>
          <p:nvPr/>
        </p:nvSpPr>
        <p:spPr bwMode="gray">
          <a:xfrm>
            <a:off x="10296960" y="1701411"/>
            <a:ext cx="1374551" cy="367049"/>
          </a:xfrm>
          <a:prstGeom prst="rect">
            <a:avLst/>
          </a:prstGeom>
        </p:spPr>
        <p:txBody>
          <a:bodyPr vert="horz" wrap="square" lIns="91440" tIns="45720" rIns="91440" bIns="45720" rtlCol="0" anchor="ctr">
            <a:noAutofit/>
          </a:bodyPr>
          <a:lstStyle/>
          <a:p>
            <a:r>
              <a:rPr lang="en-IN" sz="1200" dirty="0" smtClean="0"/>
              <a:t>Existing </a:t>
            </a:r>
          </a:p>
          <a:p>
            <a:r>
              <a:rPr lang="en-IN" sz="1200" dirty="0" smtClean="0"/>
              <a:t>Croma Store Locations</a:t>
            </a:r>
          </a:p>
        </p:txBody>
      </p:sp>
      <p:sp>
        <p:nvSpPr>
          <p:cNvPr id="309" name="Oval 308"/>
          <p:cNvSpPr/>
          <p:nvPr/>
        </p:nvSpPr>
        <p:spPr>
          <a:xfrm>
            <a:off x="10057694" y="3348795"/>
            <a:ext cx="187037" cy="1594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0" name="TextBox 309"/>
          <p:cNvSpPr txBox="1"/>
          <p:nvPr/>
        </p:nvSpPr>
        <p:spPr bwMode="gray">
          <a:xfrm>
            <a:off x="10310810" y="3279522"/>
            <a:ext cx="1374551" cy="367049"/>
          </a:xfrm>
          <a:prstGeom prst="rect">
            <a:avLst/>
          </a:prstGeom>
        </p:spPr>
        <p:txBody>
          <a:bodyPr vert="horz" wrap="square" lIns="91440" tIns="45720" rIns="91440" bIns="45720" rtlCol="0" anchor="ctr">
            <a:noAutofit/>
          </a:bodyPr>
          <a:lstStyle/>
          <a:p>
            <a:r>
              <a:rPr lang="en-IN" sz="1200" dirty="0" smtClean="0"/>
              <a:t>Reliance Digital Stores</a:t>
            </a:r>
          </a:p>
        </p:txBody>
      </p:sp>
      <p:sp>
        <p:nvSpPr>
          <p:cNvPr id="311" name="Oval 310"/>
          <p:cNvSpPr/>
          <p:nvPr/>
        </p:nvSpPr>
        <p:spPr>
          <a:xfrm>
            <a:off x="10071545" y="3999969"/>
            <a:ext cx="187037" cy="15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2" name="TextBox 311"/>
          <p:cNvSpPr txBox="1"/>
          <p:nvPr/>
        </p:nvSpPr>
        <p:spPr bwMode="gray">
          <a:xfrm>
            <a:off x="10324661" y="3930696"/>
            <a:ext cx="1374551" cy="367049"/>
          </a:xfrm>
          <a:prstGeom prst="rect">
            <a:avLst/>
          </a:prstGeom>
        </p:spPr>
        <p:txBody>
          <a:bodyPr vert="horz" wrap="square" lIns="91440" tIns="45720" rIns="91440" bIns="45720" rtlCol="0" anchor="ctr">
            <a:noAutofit/>
          </a:bodyPr>
          <a:lstStyle/>
          <a:p>
            <a:r>
              <a:rPr lang="en-IN" sz="1200" dirty="0" smtClean="0"/>
              <a:t>Bajaj Electronics Stores</a:t>
            </a:r>
          </a:p>
        </p:txBody>
      </p:sp>
      <p:sp>
        <p:nvSpPr>
          <p:cNvPr id="314" name="TextBox 313"/>
          <p:cNvSpPr txBox="1"/>
          <p:nvPr/>
        </p:nvSpPr>
        <p:spPr bwMode="gray">
          <a:xfrm>
            <a:off x="10348915" y="4701487"/>
            <a:ext cx="1374551" cy="367049"/>
          </a:xfrm>
          <a:prstGeom prst="rect">
            <a:avLst/>
          </a:prstGeom>
        </p:spPr>
        <p:txBody>
          <a:bodyPr vert="horz" wrap="square" lIns="91440" tIns="45720" rIns="91440" bIns="45720" rtlCol="0" anchor="ctr">
            <a:noAutofit/>
          </a:bodyPr>
          <a:lstStyle/>
          <a:p>
            <a:r>
              <a:rPr lang="en-IN" sz="1200" dirty="0" smtClean="0"/>
              <a:t>Croma sales PIN Potential gradient – </a:t>
            </a:r>
          </a:p>
          <a:p>
            <a:r>
              <a:rPr lang="en-IN" sz="1200" dirty="0" smtClean="0"/>
              <a:t>High to Low</a:t>
            </a:r>
          </a:p>
        </p:txBody>
      </p:sp>
      <p:graphicFrame>
        <p:nvGraphicFramePr>
          <p:cNvPr id="3" name="Table 2"/>
          <p:cNvGraphicFramePr>
            <a:graphicFrameLocks noGrp="1"/>
          </p:cNvGraphicFramePr>
          <p:nvPr>
            <p:extLst/>
          </p:nvPr>
        </p:nvGraphicFramePr>
        <p:xfrm>
          <a:off x="10005563" y="4557378"/>
          <a:ext cx="331005" cy="1828800"/>
        </p:xfrm>
        <a:graphic>
          <a:graphicData uri="http://schemas.openxmlformats.org/drawingml/2006/table">
            <a:tbl>
              <a:tblPr firstRow="1" bandRow="1">
                <a:tableStyleId>{5C22544A-7EE6-4342-B048-85BDC9FD1C3A}</a:tableStyleId>
              </a:tblPr>
              <a:tblGrid>
                <a:gridCol w="331005"/>
              </a:tblGrid>
              <a:tr h="321612">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solidFill>
                  </a:tcPr>
                </a:tc>
              </a:tr>
              <a:tr h="321612">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60000"/>
                        <a:lumOff val="40000"/>
                      </a:schemeClr>
                    </a:solidFill>
                  </a:tcPr>
                </a:tc>
              </a:tr>
              <a:tr h="321612">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40000"/>
                        <a:lumOff val="60000"/>
                      </a:schemeClr>
                    </a:solidFill>
                  </a:tcPr>
                </a:tc>
              </a:tr>
              <a:tr h="321612">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r>
              <a:tr h="321612">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r>
            </a:tbl>
          </a:graphicData>
        </a:graphic>
      </p:graphicFrame>
      <p:sp>
        <p:nvSpPr>
          <p:cNvPr id="317" name="TextBox 316"/>
          <p:cNvSpPr txBox="1"/>
          <p:nvPr/>
        </p:nvSpPr>
        <p:spPr bwMode="gray">
          <a:xfrm>
            <a:off x="3698636" y="3782710"/>
            <a:ext cx="1039091" cy="138546"/>
          </a:xfrm>
          <a:prstGeom prst="rect">
            <a:avLst/>
          </a:prstGeom>
        </p:spPr>
        <p:txBody>
          <a:bodyPr vert="horz" wrap="square" lIns="91440" tIns="45720" rIns="91440" bIns="45720" rtlCol="0" anchor="ctr">
            <a:noAutofit/>
          </a:bodyPr>
          <a:lstStyle/>
          <a:p>
            <a:pPr algn="ctr"/>
            <a:r>
              <a:rPr lang="en-IN" sz="800" i="1" dirty="0" smtClean="0"/>
              <a:t>Secretariat</a:t>
            </a:r>
          </a:p>
        </p:txBody>
      </p:sp>
    </p:spTree>
    <p:extLst>
      <p:ext uri="{BB962C8B-B14F-4D97-AF65-F5344CB8AC3E}">
        <p14:creationId xmlns:p14="http://schemas.microsoft.com/office/powerpoint/2010/main" val="1595286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6" name="Group 5"/>
          <p:cNvGrpSpPr/>
          <p:nvPr/>
        </p:nvGrpSpPr>
        <p:grpSpPr>
          <a:xfrm>
            <a:off x="5359257" y="5296614"/>
            <a:ext cx="1362581" cy="1029625"/>
            <a:chOff x="9134630" y="5268908"/>
            <a:chExt cx="1362581" cy="1029625"/>
          </a:xfrm>
        </p:grpSpPr>
        <p:pic>
          <p:nvPicPr>
            <p:cNvPr id="14" name="Picture 13"/>
            <p:cNvPicPr>
              <a:picLocks noChangeAspect="1"/>
            </p:cNvPicPr>
            <p:nvPr/>
          </p:nvPicPr>
          <p:blipFill>
            <a:blip r:embed="rId2"/>
            <a:stretch>
              <a:fillRect/>
            </a:stretch>
          </p:blipFill>
          <p:spPr>
            <a:xfrm>
              <a:off x="9301109" y="5268908"/>
              <a:ext cx="1029625" cy="1029625"/>
            </a:xfrm>
            <a:prstGeom prst="rect">
              <a:avLst/>
            </a:prstGeom>
          </p:spPr>
        </p:pic>
        <p:sp>
          <p:nvSpPr>
            <p:cNvPr id="15" name="TextBox 14"/>
            <p:cNvSpPr txBox="1"/>
            <p:nvPr/>
          </p:nvSpPr>
          <p:spPr bwMode="gray">
            <a:xfrm>
              <a:off x="9134630" y="6049800"/>
              <a:ext cx="1362581" cy="161062"/>
            </a:xfrm>
            <a:prstGeom prst="rect">
              <a:avLst/>
            </a:prstGeom>
          </p:spPr>
          <p:txBody>
            <a:bodyPr vert="horz" wrap="square" lIns="91440" tIns="45720" rIns="91440" bIns="45720" rtlCol="0" anchor="ctr">
              <a:noAutofit/>
            </a:bodyPr>
            <a:lstStyle/>
            <a:p>
              <a:pPr algn="ctr"/>
              <a:r>
                <a:rPr lang="en-IN" sz="600" dirty="0" smtClean="0"/>
                <a:t>ATM data</a:t>
              </a:r>
            </a:p>
          </p:txBody>
        </p:sp>
      </p:grpSp>
      <p:sp>
        <p:nvSpPr>
          <p:cNvPr id="5" name="Title 4"/>
          <p:cNvSpPr>
            <a:spLocks noGrp="1"/>
          </p:cNvSpPr>
          <p:nvPr>
            <p:ph type="title"/>
          </p:nvPr>
        </p:nvSpPr>
        <p:spPr/>
        <p:txBody>
          <a:bodyPr/>
          <a:lstStyle/>
          <a:p>
            <a:r>
              <a:rPr lang="en-IN" dirty="0" smtClean="0"/>
              <a:t>Analysis – Next Steps</a:t>
            </a:r>
            <a:endParaRPr lang="en-IN" dirty="0"/>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22</a:t>
            </a:fld>
            <a:endParaRPr lang="en-US" dirty="0">
              <a:solidFill>
                <a:srgbClr val="0E5580"/>
              </a:solidFill>
            </a:endParaRPr>
          </a:p>
        </p:txBody>
      </p:sp>
      <p:graphicFrame>
        <p:nvGraphicFramePr>
          <p:cNvPr id="3" name="Diagram 2"/>
          <p:cNvGraphicFramePr/>
          <p:nvPr>
            <p:extLst/>
          </p:nvPr>
        </p:nvGraphicFramePr>
        <p:xfrm>
          <a:off x="501060" y="2217414"/>
          <a:ext cx="11113180" cy="26833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 Placeholder 6"/>
          <p:cNvSpPr>
            <a:spLocks noGrp="1"/>
          </p:cNvSpPr>
          <p:nvPr>
            <p:ph type="body" sz="quarter" idx="13"/>
          </p:nvPr>
        </p:nvSpPr>
        <p:spPr>
          <a:xfrm>
            <a:off x="501060" y="1162982"/>
            <a:ext cx="11113180" cy="582362"/>
          </a:xfrm>
        </p:spPr>
        <p:txBody>
          <a:bodyPr>
            <a:normAutofit fontScale="92500" lnSpcReduction="10000"/>
          </a:bodyPr>
          <a:lstStyle/>
          <a:p>
            <a:r>
              <a:rPr lang="en-IN" dirty="0" smtClean="0"/>
              <a:t>By incorporating Store Attractiveness and data sources that would provide more granular aggregation (</a:t>
            </a:r>
            <a:r>
              <a:rPr lang="en-IN" dirty="0"/>
              <a:t>s</a:t>
            </a:r>
            <a:r>
              <a:rPr lang="en-IN" dirty="0" smtClean="0"/>
              <a:t>treet/ward level) the final recommendation would be made more accurate and granular</a:t>
            </a:r>
            <a:endParaRPr lang="en-IN" dirty="0"/>
          </a:p>
        </p:txBody>
      </p:sp>
      <p:cxnSp>
        <p:nvCxnSpPr>
          <p:cNvPr id="9" name="Straight Connector 8"/>
          <p:cNvCxnSpPr/>
          <p:nvPr/>
        </p:nvCxnSpPr>
        <p:spPr>
          <a:xfrm>
            <a:off x="501060" y="1721396"/>
            <a:ext cx="11222365" cy="0"/>
          </a:xfrm>
          <a:prstGeom prst="line">
            <a:avLst/>
          </a:prstGeom>
          <a:ln w="28575">
            <a:solidFill>
              <a:srgbClr val="1C5785"/>
            </a:solidFill>
          </a:ln>
        </p:spPr>
        <p:style>
          <a:lnRef idx="1">
            <a:schemeClr val="accent1"/>
          </a:lnRef>
          <a:fillRef idx="0">
            <a:schemeClr val="accent1"/>
          </a:fillRef>
          <a:effectRef idx="0">
            <a:schemeClr val="accent1"/>
          </a:effectRef>
          <a:fontRef idx="minor">
            <a:schemeClr val="tx1"/>
          </a:fontRef>
        </p:style>
      </p:cxnSp>
      <p:sp>
        <p:nvSpPr>
          <p:cNvPr id="2" name="Isosceles Triangle 1"/>
          <p:cNvSpPr/>
          <p:nvPr/>
        </p:nvSpPr>
        <p:spPr>
          <a:xfrm rot="10800000">
            <a:off x="1593273" y="5164999"/>
            <a:ext cx="1454728" cy="207819"/>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Isosceles Triangle 9"/>
          <p:cNvSpPr/>
          <p:nvPr/>
        </p:nvSpPr>
        <p:spPr>
          <a:xfrm rot="10800000">
            <a:off x="5320152" y="5192704"/>
            <a:ext cx="1454728" cy="207819"/>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Isosceles Triangle 10"/>
          <p:cNvSpPr/>
          <p:nvPr/>
        </p:nvSpPr>
        <p:spPr>
          <a:xfrm rot="10800000">
            <a:off x="9088558" y="5178850"/>
            <a:ext cx="1454728" cy="207819"/>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 name="Picture 11"/>
          <p:cNvPicPr>
            <a:picLocks noChangeAspect="1"/>
          </p:cNvPicPr>
          <p:nvPr/>
        </p:nvPicPr>
        <p:blipFill>
          <a:blip r:embed="rId8"/>
          <a:stretch>
            <a:fillRect/>
          </a:stretch>
        </p:blipFill>
        <p:spPr>
          <a:xfrm>
            <a:off x="8517234" y="5717573"/>
            <a:ext cx="1486706" cy="357320"/>
          </a:xfrm>
          <a:prstGeom prst="rect">
            <a:avLst/>
          </a:prstGeom>
        </p:spPr>
      </p:pic>
      <p:pic>
        <p:nvPicPr>
          <p:cNvPr id="13" name="Picture 12"/>
          <p:cNvPicPr>
            <a:picLocks noChangeAspect="1"/>
          </p:cNvPicPr>
          <p:nvPr/>
        </p:nvPicPr>
        <p:blipFill>
          <a:blip r:embed="rId9"/>
          <a:stretch>
            <a:fillRect/>
          </a:stretch>
        </p:blipFill>
        <p:spPr>
          <a:xfrm>
            <a:off x="10415667" y="5553898"/>
            <a:ext cx="583039" cy="684670"/>
          </a:xfrm>
          <a:prstGeom prst="rect">
            <a:avLst/>
          </a:prstGeom>
        </p:spPr>
      </p:pic>
      <p:pic>
        <p:nvPicPr>
          <p:cNvPr id="16" name="Picture 15"/>
          <p:cNvPicPr>
            <a:picLocks noChangeAspect="1"/>
          </p:cNvPicPr>
          <p:nvPr/>
        </p:nvPicPr>
        <p:blipFill>
          <a:blip r:embed="rId10"/>
          <a:stretch>
            <a:fillRect/>
          </a:stretch>
        </p:blipFill>
        <p:spPr>
          <a:xfrm>
            <a:off x="1714585" y="5386670"/>
            <a:ext cx="1285875" cy="857250"/>
          </a:xfrm>
          <a:prstGeom prst="rect">
            <a:avLst/>
          </a:prstGeom>
        </p:spPr>
      </p:pic>
    </p:spTree>
    <p:extLst>
      <p:ext uri="{BB962C8B-B14F-4D97-AF65-F5344CB8AC3E}">
        <p14:creationId xmlns:p14="http://schemas.microsoft.com/office/powerpoint/2010/main" val="13050755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1706586159"/>
              </p:ext>
            </p:extLst>
          </p:nvPr>
        </p:nvGraphicFramePr>
        <p:xfrm>
          <a:off x="2048242" y="2641410"/>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itle 4"/>
          <p:cNvSpPr>
            <a:spLocks noGrp="1"/>
          </p:cNvSpPr>
          <p:nvPr>
            <p:ph type="title"/>
          </p:nvPr>
        </p:nvSpPr>
        <p:spPr/>
        <p:txBody>
          <a:bodyPr/>
          <a:lstStyle/>
          <a:p>
            <a:r>
              <a:rPr lang="en-IN" dirty="0" smtClean="0"/>
              <a:t>Store Analytics</a:t>
            </a:r>
            <a:endParaRPr lang="en-IN" dirty="0"/>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23</a:t>
            </a:fld>
            <a:endParaRPr lang="en-US" dirty="0">
              <a:solidFill>
                <a:srgbClr val="0E5580"/>
              </a:solidFill>
            </a:endParaRPr>
          </a:p>
        </p:txBody>
      </p:sp>
      <p:sp>
        <p:nvSpPr>
          <p:cNvPr id="8" name="Text Placeholder 6"/>
          <p:cNvSpPr>
            <a:spLocks noGrp="1"/>
          </p:cNvSpPr>
          <p:nvPr>
            <p:ph type="body" sz="quarter" idx="13"/>
          </p:nvPr>
        </p:nvSpPr>
        <p:spPr>
          <a:xfrm>
            <a:off x="501060" y="1162982"/>
            <a:ext cx="11113180" cy="582362"/>
          </a:xfrm>
        </p:spPr>
        <p:txBody>
          <a:bodyPr>
            <a:normAutofit fontScale="85000" lnSpcReduction="10000"/>
          </a:bodyPr>
          <a:lstStyle/>
          <a:p>
            <a:r>
              <a:rPr lang="en-IN" dirty="0" smtClean="0"/>
              <a:t>Leveraging data sources that would build a comprehensive profile of the store location characteristics, we can rationalize Segmentation and Targeting, identify growth opportunities and benchmark store performance</a:t>
            </a:r>
            <a:endParaRPr lang="en-IN" dirty="0"/>
          </a:p>
        </p:txBody>
      </p:sp>
      <p:cxnSp>
        <p:nvCxnSpPr>
          <p:cNvPr id="9" name="Straight Connector 8"/>
          <p:cNvCxnSpPr/>
          <p:nvPr/>
        </p:nvCxnSpPr>
        <p:spPr>
          <a:xfrm>
            <a:off x="501060" y="1721396"/>
            <a:ext cx="11222365" cy="0"/>
          </a:xfrm>
          <a:prstGeom prst="line">
            <a:avLst/>
          </a:prstGeom>
          <a:ln w="28575">
            <a:solidFill>
              <a:srgbClr val="1C5785"/>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bwMode="gray">
          <a:xfrm>
            <a:off x="6322532" y="2870928"/>
            <a:ext cx="648362" cy="304800"/>
          </a:xfrm>
          <a:prstGeom prst="rect">
            <a:avLst/>
          </a:prstGeom>
        </p:spPr>
        <p:txBody>
          <a:bodyPr vert="horz" wrap="square" lIns="91440" tIns="45720" rIns="91440" bIns="45720" rtlCol="0" anchor="ctr">
            <a:noAutofit/>
          </a:bodyPr>
          <a:lstStyle/>
          <a:p>
            <a:endParaRPr lang="en-IN" sz="2000" dirty="0" smtClean="0"/>
          </a:p>
        </p:txBody>
      </p:sp>
      <p:sp>
        <p:nvSpPr>
          <p:cNvPr id="11" name="TextBox 10"/>
          <p:cNvSpPr txBox="1"/>
          <p:nvPr/>
        </p:nvSpPr>
        <p:spPr bwMode="gray">
          <a:xfrm>
            <a:off x="3203024" y="2743299"/>
            <a:ext cx="2910679" cy="362363"/>
          </a:xfrm>
          <a:prstGeom prst="rect">
            <a:avLst/>
          </a:prstGeom>
        </p:spPr>
        <p:txBody>
          <a:bodyPr vert="horz" wrap="square" lIns="91440" tIns="45720" rIns="91440" bIns="45720" rtlCol="0" anchor="ctr">
            <a:noAutofit/>
          </a:bodyPr>
          <a:lstStyle/>
          <a:p>
            <a:pPr marL="342900" indent="-342900">
              <a:buFont typeface="Wingdings" panose="05000000000000000000" pitchFamily="2" charset="2"/>
              <a:buChar char="Ø"/>
            </a:pPr>
            <a:r>
              <a:rPr lang="en-IN" sz="1600" dirty="0" smtClean="0"/>
              <a:t>Location of Stores</a:t>
            </a:r>
          </a:p>
        </p:txBody>
      </p:sp>
      <p:sp>
        <p:nvSpPr>
          <p:cNvPr id="14" name="TextBox 13"/>
          <p:cNvSpPr txBox="1"/>
          <p:nvPr/>
        </p:nvSpPr>
        <p:spPr bwMode="gray">
          <a:xfrm>
            <a:off x="5951613" y="2727204"/>
            <a:ext cx="4224629" cy="362363"/>
          </a:xfrm>
          <a:prstGeom prst="rect">
            <a:avLst/>
          </a:prstGeom>
        </p:spPr>
        <p:txBody>
          <a:bodyPr vert="horz" wrap="square" lIns="91440" tIns="45720" rIns="91440" bIns="45720" rtlCol="0" anchor="ctr">
            <a:noAutofit/>
          </a:bodyPr>
          <a:lstStyle/>
          <a:p>
            <a:pPr marL="342900" indent="-342900">
              <a:buFont typeface="Wingdings" panose="05000000000000000000" pitchFamily="2" charset="2"/>
              <a:buChar char="Ø"/>
            </a:pPr>
            <a:r>
              <a:rPr lang="en-IN" sz="1600" dirty="0" smtClean="0"/>
              <a:t>Location of Competition</a:t>
            </a:r>
          </a:p>
        </p:txBody>
      </p:sp>
      <p:sp>
        <p:nvSpPr>
          <p:cNvPr id="17" name="Rounded Rectangle 16"/>
          <p:cNvSpPr/>
          <p:nvPr/>
        </p:nvSpPr>
        <p:spPr>
          <a:xfrm>
            <a:off x="4658363" y="2062414"/>
            <a:ext cx="2729553" cy="423081"/>
          </a:xfrm>
          <a:prstGeom prst="round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900" dirty="0" smtClean="0"/>
              <a:t>Geo-Location</a:t>
            </a:r>
            <a:endParaRPr lang="en-IN" sz="1900" dirty="0"/>
          </a:p>
        </p:txBody>
      </p:sp>
      <p:grpSp>
        <p:nvGrpSpPr>
          <p:cNvPr id="6" name="Group 5"/>
          <p:cNvGrpSpPr/>
          <p:nvPr/>
        </p:nvGrpSpPr>
        <p:grpSpPr>
          <a:xfrm>
            <a:off x="3426786" y="3345957"/>
            <a:ext cx="5261727" cy="745737"/>
            <a:chOff x="3426785" y="3275593"/>
            <a:chExt cx="5261727" cy="745737"/>
          </a:xfrm>
        </p:grpSpPr>
        <p:sp>
          <p:nvSpPr>
            <p:cNvPr id="15" name="Isosceles Triangle 14"/>
            <p:cNvSpPr/>
            <p:nvPr/>
          </p:nvSpPr>
          <p:spPr>
            <a:xfrm rot="10800000">
              <a:off x="3426785" y="3275593"/>
              <a:ext cx="5261727" cy="745737"/>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extBox 27"/>
            <p:cNvSpPr txBox="1"/>
            <p:nvPr/>
          </p:nvSpPr>
          <p:spPr bwMode="gray">
            <a:xfrm>
              <a:off x="4441350" y="3508561"/>
              <a:ext cx="3232597" cy="141668"/>
            </a:xfrm>
            <a:prstGeom prst="rect">
              <a:avLst/>
            </a:prstGeom>
          </p:spPr>
          <p:txBody>
            <a:bodyPr vert="horz" wrap="square" lIns="91440" tIns="45720" rIns="91440" bIns="45720" rtlCol="0" anchor="ctr">
              <a:noAutofit/>
            </a:bodyPr>
            <a:lstStyle/>
            <a:p>
              <a:pPr algn="ctr"/>
              <a:r>
                <a:rPr lang="en-IN" sz="1400" b="1" dirty="0" smtClean="0">
                  <a:solidFill>
                    <a:schemeClr val="bg1"/>
                  </a:solidFill>
                </a:rPr>
                <a:t>Incorporating Aggregated Data Sources</a:t>
              </a:r>
            </a:p>
          </p:txBody>
        </p:sp>
      </p:grpSp>
    </p:spTree>
    <p:extLst>
      <p:ext uri="{BB962C8B-B14F-4D97-AF65-F5344CB8AC3E}">
        <p14:creationId xmlns:p14="http://schemas.microsoft.com/office/powerpoint/2010/main" val="27202702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p:cNvPicPr>
            <a:picLocks noChangeAspect="1"/>
          </p:cNvPicPr>
          <p:nvPr/>
        </p:nvPicPr>
        <p:blipFill>
          <a:blip r:embed="rId2"/>
          <a:stretch>
            <a:fillRect/>
          </a:stretch>
        </p:blipFill>
        <p:spPr>
          <a:xfrm>
            <a:off x="5272530" y="1636565"/>
            <a:ext cx="1285875" cy="857250"/>
          </a:xfrm>
          <a:prstGeom prst="rect">
            <a:avLst/>
          </a:prstGeom>
        </p:spPr>
      </p:pic>
      <p:sp>
        <p:nvSpPr>
          <p:cNvPr id="5" name="Title 4"/>
          <p:cNvSpPr>
            <a:spLocks noGrp="1"/>
          </p:cNvSpPr>
          <p:nvPr>
            <p:ph type="title"/>
          </p:nvPr>
        </p:nvSpPr>
        <p:spPr/>
        <p:txBody>
          <a:bodyPr/>
          <a:lstStyle/>
          <a:p>
            <a:r>
              <a:rPr lang="en-IN" dirty="0" smtClean="0"/>
              <a:t>Store Analytics</a:t>
            </a:r>
            <a:endParaRPr lang="en-IN" dirty="0"/>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24</a:t>
            </a:fld>
            <a:endParaRPr lang="en-US" dirty="0">
              <a:solidFill>
                <a:srgbClr val="0E5580"/>
              </a:solidFill>
            </a:endParaRPr>
          </a:p>
        </p:txBody>
      </p:sp>
      <p:sp>
        <p:nvSpPr>
          <p:cNvPr id="8" name="Text Placeholder 6"/>
          <p:cNvSpPr>
            <a:spLocks noGrp="1"/>
          </p:cNvSpPr>
          <p:nvPr>
            <p:ph type="body" sz="quarter" idx="13"/>
          </p:nvPr>
        </p:nvSpPr>
        <p:spPr>
          <a:xfrm>
            <a:off x="501060" y="1162982"/>
            <a:ext cx="11113180" cy="582362"/>
          </a:xfrm>
        </p:spPr>
        <p:txBody>
          <a:bodyPr>
            <a:normAutofit fontScale="92500" lnSpcReduction="10000"/>
          </a:bodyPr>
          <a:lstStyle/>
          <a:p>
            <a:r>
              <a:rPr lang="en-IN" dirty="0" smtClean="0"/>
              <a:t>Leveraging data sources that would build a comprehensive profile of the store location characteristics, we can rationalize Segmentation and Targeting</a:t>
            </a:r>
            <a:r>
              <a:rPr lang="en-IN" dirty="0"/>
              <a:t> </a:t>
            </a:r>
            <a:r>
              <a:rPr lang="en-IN" dirty="0" smtClean="0"/>
              <a:t>of not just out stores but competitors as well</a:t>
            </a:r>
            <a:endParaRPr lang="en-IN" dirty="0"/>
          </a:p>
        </p:txBody>
      </p:sp>
      <p:cxnSp>
        <p:nvCxnSpPr>
          <p:cNvPr id="9" name="Straight Connector 8"/>
          <p:cNvCxnSpPr/>
          <p:nvPr/>
        </p:nvCxnSpPr>
        <p:spPr>
          <a:xfrm>
            <a:off x="501060" y="1721396"/>
            <a:ext cx="11222365" cy="0"/>
          </a:xfrm>
          <a:prstGeom prst="line">
            <a:avLst/>
          </a:prstGeom>
          <a:ln w="28575">
            <a:solidFill>
              <a:srgbClr val="1C5785"/>
            </a:solidFill>
          </a:ln>
        </p:spPr>
        <p:style>
          <a:lnRef idx="1">
            <a:schemeClr val="accent1"/>
          </a:lnRef>
          <a:fillRef idx="0">
            <a:schemeClr val="accent1"/>
          </a:fillRef>
          <a:effectRef idx="0">
            <a:schemeClr val="accent1"/>
          </a:effectRef>
          <a:fontRef idx="minor">
            <a:schemeClr val="tx1"/>
          </a:fontRef>
        </p:style>
      </p:cxnSp>
      <p:pic>
        <p:nvPicPr>
          <p:cNvPr id="16" name="Picture 2" descr="http://www.wikimarkit.org/wp-content/uploads/2013/01/relianceDigital.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37741" y="1784241"/>
            <a:ext cx="1239278" cy="50562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p:cNvGraphicFramePr>
            <a:graphicFrameLocks noGrp="1"/>
          </p:cNvGraphicFramePr>
          <p:nvPr>
            <p:extLst>
              <p:ext uri="{D42A27DB-BD31-4B8C-83A1-F6EECF244321}">
                <p14:modId xmlns:p14="http://schemas.microsoft.com/office/powerpoint/2010/main" val="2876010066"/>
              </p:ext>
            </p:extLst>
          </p:nvPr>
        </p:nvGraphicFramePr>
        <p:xfrm>
          <a:off x="2391502" y="2420528"/>
          <a:ext cx="7137658" cy="2565400"/>
        </p:xfrm>
        <a:graphic>
          <a:graphicData uri="http://schemas.openxmlformats.org/drawingml/2006/table">
            <a:tbl>
              <a:tblPr firstRow="1" bandRow="1">
                <a:tableStyleId>{5C22544A-7EE6-4342-B048-85BDC9FD1C3A}</a:tableStyleId>
              </a:tblPr>
              <a:tblGrid>
                <a:gridCol w="1261074"/>
                <a:gridCol w="1261074"/>
                <a:gridCol w="2216439"/>
                <a:gridCol w="2399071"/>
              </a:tblGrid>
              <a:tr h="370840">
                <a:tc>
                  <a:txBody>
                    <a:bodyPr/>
                    <a:lstStyle/>
                    <a:p>
                      <a:pPr algn="ctr"/>
                      <a:endParaRPr lang="en-IN" sz="1200" dirty="0"/>
                    </a:p>
                  </a:txBody>
                  <a:tcPr anchor="ctr">
                    <a:solidFill>
                      <a:schemeClr val="bg1"/>
                    </a:solidFill>
                  </a:tcPr>
                </a:tc>
                <a:tc>
                  <a:txBody>
                    <a:bodyPr/>
                    <a:lstStyle/>
                    <a:p>
                      <a:pPr algn="ctr"/>
                      <a:endParaRPr lang="en-IN" sz="1200" dirty="0"/>
                    </a:p>
                  </a:txBody>
                  <a:tcPr anchor="ctr">
                    <a:solidFill>
                      <a:schemeClr val="bg1"/>
                    </a:solidFill>
                  </a:tcPr>
                </a:tc>
                <a:tc>
                  <a:txBody>
                    <a:bodyPr/>
                    <a:lstStyle/>
                    <a:p>
                      <a:pPr algn="ctr"/>
                      <a:r>
                        <a:rPr lang="en-IN" sz="1200" dirty="0" smtClean="0"/>
                        <a:t>Jubilee Hills, PIN 500033</a:t>
                      </a:r>
                      <a:endParaRPr lang="en-IN" sz="1200" dirty="0"/>
                    </a:p>
                  </a:txBody>
                  <a:tcPr anchor="ctr"/>
                </a:tc>
                <a:tc>
                  <a:txBody>
                    <a:bodyPr/>
                    <a:lstStyle/>
                    <a:p>
                      <a:pPr algn="ctr"/>
                      <a:r>
                        <a:rPr lang="en-IN" sz="1200" dirty="0" err="1" smtClean="0"/>
                        <a:t>Kachiguda</a:t>
                      </a:r>
                      <a:r>
                        <a:rPr lang="en-IN" sz="1200" dirty="0" smtClean="0"/>
                        <a:t>, PIN 500027</a:t>
                      </a:r>
                      <a:endParaRPr lang="en-IN" sz="1200" dirty="0"/>
                    </a:p>
                  </a:txBody>
                  <a:tcPr anchor="ctr"/>
                </a:tc>
              </a:tr>
              <a:tr h="370840">
                <a:tc>
                  <a:txBody>
                    <a:bodyPr/>
                    <a:lstStyle/>
                    <a:p>
                      <a:pPr algn="ctr"/>
                      <a:r>
                        <a:rPr lang="en-IN" sz="1200" dirty="0" smtClean="0"/>
                        <a:t>Affluence</a:t>
                      </a:r>
                      <a:endParaRPr lang="en-IN" sz="1200" dirty="0"/>
                    </a:p>
                  </a:txBody>
                  <a:tcPr anchor="ctr"/>
                </a:tc>
                <a:tc>
                  <a:txBody>
                    <a:bodyPr/>
                    <a:lstStyle/>
                    <a:p>
                      <a:pPr algn="ctr"/>
                      <a:r>
                        <a:rPr lang="en-IN" sz="1200" dirty="0" smtClean="0"/>
                        <a:t>Avg.</a:t>
                      </a:r>
                      <a:r>
                        <a:rPr lang="en-IN" sz="1200" baseline="0" dirty="0" smtClean="0"/>
                        <a:t> ticket size – Auto Loan</a:t>
                      </a:r>
                      <a:endParaRPr lang="en-IN" sz="1200" dirty="0"/>
                    </a:p>
                  </a:txBody>
                  <a:tcPr anchor="ctr"/>
                </a:tc>
                <a:tc>
                  <a:txBody>
                    <a:bodyPr/>
                    <a:lstStyle/>
                    <a:p>
                      <a:pPr algn="ctr" fontAlgn="b"/>
                      <a:r>
                        <a:rPr lang="en-IN" sz="1200" b="0" i="0" u="none" strike="noStrike" dirty="0">
                          <a:solidFill>
                            <a:srgbClr val="000000"/>
                          </a:solidFill>
                          <a:effectLst/>
                          <a:latin typeface="+mn-lt"/>
                        </a:rPr>
                        <a:t>₹ 13,39,768</a:t>
                      </a:r>
                    </a:p>
                  </a:txBody>
                  <a:tcPr marL="9525" marR="9525" marT="9525" marB="0" anchor="ctr"/>
                </a:tc>
                <a:tc>
                  <a:txBody>
                    <a:bodyPr/>
                    <a:lstStyle/>
                    <a:p>
                      <a:pPr algn="ctr" fontAlgn="b"/>
                      <a:r>
                        <a:rPr lang="en-IN" sz="1200" b="0" i="0" u="none" strike="noStrike">
                          <a:solidFill>
                            <a:srgbClr val="000000"/>
                          </a:solidFill>
                          <a:effectLst/>
                          <a:latin typeface="+mn-lt"/>
                        </a:rPr>
                        <a:t>₹ 5,03,629</a:t>
                      </a:r>
                    </a:p>
                  </a:txBody>
                  <a:tcPr marL="9525" marR="9525" marT="9525" marB="0" anchor="ctr"/>
                </a:tc>
              </a:tr>
              <a:tr h="370840">
                <a:tc>
                  <a:txBody>
                    <a:bodyPr/>
                    <a:lstStyle/>
                    <a:p>
                      <a:pPr algn="ctr"/>
                      <a:r>
                        <a:rPr lang="en-IN" sz="1200" dirty="0" smtClean="0"/>
                        <a:t>Population</a:t>
                      </a:r>
                      <a:endParaRPr lang="en-IN" sz="1200" dirty="0"/>
                    </a:p>
                  </a:txBody>
                  <a:tcPr anchor="ctr"/>
                </a:tc>
                <a:tc>
                  <a:txBody>
                    <a:bodyPr/>
                    <a:lstStyle/>
                    <a:p>
                      <a:pPr algn="ctr"/>
                      <a:r>
                        <a:rPr lang="en-IN" sz="1200" dirty="0" smtClean="0"/>
                        <a:t>Avg.</a:t>
                      </a:r>
                      <a:r>
                        <a:rPr lang="en-IN" sz="1200" baseline="0" dirty="0" smtClean="0"/>
                        <a:t> no of borrowers</a:t>
                      </a:r>
                      <a:endParaRPr lang="en-IN" sz="1200" dirty="0"/>
                    </a:p>
                  </a:txBody>
                  <a:tcPr anchor="ctr"/>
                </a:tc>
                <a:tc>
                  <a:txBody>
                    <a:bodyPr/>
                    <a:lstStyle/>
                    <a:p>
                      <a:pPr algn="ctr" fontAlgn="b"/>
                      <a:r>
                        <a:rPr lang="en-IN" sz="1200" b="0" i="0" u="none" strike="noStrike">
                          <a:solidFill>
                            <a:srgbClr val="000000"/>
                          </a:solidFill>
                          <a:effectLst/>
                          <a:latin typeface="+mn-lt"/>
                        </a:rPr>
                        <a:t>30,960</a:t>
                      </a:r>
                    </a:p>
                  </a:txBody>
                  <a:tcPr marL="9525" marR="9525" marT="9525" marB="0" anchor="ctr"/>
                </a:tc>
                <a:tc>
                  <a:txBody>
                    <a:bodyPr/>
                    <a:lstStyle/>
                    <a:p>
                      <a:pPr algn="ctr" fontAlgn="b"/>
                      <a:r>
                        <a:rPr lang="en-IN" sz="1200" b="0" i="0" u="none" strike="noStrike">
                          <a:solidFill>
                            <a:srgbClr val="000000"/>
                          </a:solidFill>
                          <a:effectLst/>
                          <a:latin typeface="+mn-lt"/>
                        </a:rPr>
                        <a:t>23,260</a:t>
                      </a:r>
                    </a:p>
                  </a:txBody>
                  <a:tcPr marL="9525" marR="9525" marT="9525" marB="0" anchor="ctr"/>
                </a:tc>
              </a:tr>
              <a:tr h="370840">
                <a:tc>
                  <a:txBody>
                    <a:bodyPr/>
                    <a:lstStyle/>
                    <a:p>
                      <a:pPr algn="ctr"/>
                      <a:r>
                        <a:rPr lang="en-IN" sz="1200" dirty="0" smtClean="0"/>
                        <a:t>Sophistication</a:t>
                      </a:r>
                      <a:endParaRPr lang="en-IN" sz="1200" dirty="0"/>
                    </a:p>
                  </a:txBody>
                  <a:tcPr anchor="ctr"/>
                </a:tc>
                <a:tc>
                  <a:txBody>
                    <a:bodyPr/>
                    <a:lstStyle/>
                    <a:p>
                      <a:pPr algn="ctr"/>
                      <a:r>
                        <a:rPr lang="en-IN" sz="1200" dirty="0" smtClean="0"/>
                        <a:t>Avg. Credit card penetration</a:t>
                      </a:r>
                      <a:endParaRPr lang="en-IN" sz="1200" dirty="0"/>
                    </a:p>
                  </a:txBody>
                  <a:tcPr anchor="ctr"/>
                </a:tc>
                <a:tc>
                  <a:txBody>
                    <a:bodyPr/>
                    <a:lstStyle/>
                    <a:p>
                      <a:pPr algn="ctr" fontAlgn="b"/>
                      <a:r>
                        <a:rPr lang="en-IN" sz="1200" b="0" i="0" u="none" strike="noStrike">
                          <a:solidFill>
                            <a:srgbClr val="000000"/>
                          </a:solidFill>
                          <a:effectLst/>
                          <a:latin typeface="+mn-lt"/>
                        </a:rPr>
                        <a:t>52%</a:t>
                      </a:r>
                    </a:p>
                  </a:txBody>
                  <a:tcPr marL="9525" marR="9525" marT="9525" marB="0" anchor="ctr"/>
                </a:tc>
                <a:tc>
                  <a:txBody>
                    <a:bodyPr/>
                    <a:lstStyle/>
                    <a:p>
                      <a:pPr algn="ctr" fontAlgn="b"/>
                      <a:r>
                        <a:rPr lang="en-IN" sz="1200" b="0" i="0" u="none" strike="noStrike">
                          <a:solidFill>
                            <a:srgbClr val="000000"/>
                          </a:solidFill>
                          <a:effectLst/>
                          <a:latin typeface="+mn-lt"/>
                        </a:rPr>
                        <a:t>37%</a:t>
                      </a:r>
                    </a:p>
                  </a:txBody>
                  <a:tcPr marL="9525" marR="9525" marT="9525" marB="0" anchor="ctr"/>
                </a:tc>
              </a:tr>
              <a:tr h="370840">
                <a:tc>
                  <a:txBody>
                    <a:bodyPr/>
                    <a:lstStyle/>
                    <a:p>
                      <a:pPr algn="ctr"/>
                      <a:r>
                        <a:rPr lang="en-IN" sz="1200" dirty="0" smtClean="0"/>
                        <a:t>Avg.</a:t>
                      </a:r>
                      <a:r>
                        <a:rPr lang="en-IN" sz="1200" baseline="0" dirty="0" smtClean="0"/>
                        <a:t> Age</a:t>
                      </a:r>
                      <a:endParaRPr lang="en-IN" sz="1200" dirty="0"/>
                    </a:p>
                  </a:txBody>
                  <a:tcPr anchor="ctr"/>
                </a:tc>
                <a:tc>
                  <a:txBody>
                    <a:bodyPr/>
                    <a:lstStyle/>
                    <a:p>
                      <a:pPr algn="ctr"/>
                      <a:r>
                        <a:rPr lang="en-IN" sz="1200" dirty="0" smtClean="0"/>
                        <a:t>Avg. age of Borrowers</a:t>
                      </a:r>
                      <a:endParaRPr lang="en-IN" sz="1200" dirty="0"/>
                    </a:p>
                  </a:txBody>
                  <a:tcPr anchor="ctr"/>
                </a:tc>
                <a:tc>
                  <a:txBody>
                    <a:bodyPr/>
                    <a:lstStyle/>
                    <a:p>
                      <a:pPr algn="ctr" fontAlgn="b"/>
                      <a:r>
                        <a:rPr lang="en-IN" sz="1200" b="0" i="0" u="none" strike="noStrike">
                          <a:solidFill>
                            <a:srgbClr val="000000"/>
                          </a:solidFill>
                          <a:effectLst/>
                          <a:latin typeface="+mn-lt"/>
                        </a:rPr>
                        <a:t>41</a:t>
                      </a:r>
                    </a:p>
                  </a:txBody>
                  <a:tcPr marL="9525" marR="9525" marT="9525" marB="0" anchor="ctr"/>
                </a:tc>
                <a:tc>
                  <a:txBody>
                    <a:bodyPr/>
                    <a:lstStyle/>
                    <a:p>
                      <a:pPr algn="ctr" fontAlgn="b"/>
                      <a:r>
                        <a:rPr lang="en-IN" sz="1200" b="0" i="0" u="none" strike="noStrike" dirty="0">
                          <a:solidFill>
                            <a:srgbClr val="000000"/>
                          </a:solidFill>
                          <a:effectLst/>
                          <a:latin typeface="+mn-lt"/>
                        </a:rPr>
                        <a:t>48</a:t>
                      </a:r>
                    </a:p>
                  </a:txBody>
                  <a:tcPr marL="9525" marR="9525" marT="9525" marB="0" anchor="ctr"/>
                </a:tc>
              </a:tr>
            </a:tbl>
          </a:graphicData>
        </a:graphic>
      </p:graphicFrame>
      <p:sp>
        <p:nvSpPr>
          <p:cNvPr id="19" name="Rectangle 18"/>
          <p:cNvSpPr/>
          <p:nvPr/>
        </p:nvSpPr>
        <p:spPr>
          <a:xfrm>
            <a:off x="1102744" y="5229133"/>
            <a:ext cx="10228672" cy="1339542"/>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IN" sz="1200" b="1" u="sng" dirty="0" smtClean="0">
                <a:solidFill>
                  <a:schemeClr val="tx2">
                    <a:lumMod val="50000"/>
                  </a:schemeClr>
                </a:solidFill>
              </a:rPr>
              <a:t>Note:</a:t>
            </a:r>
          </a:p>
          <a:p>
            <a:endParaRPr lang="en-IN" sz="1200" b="1" u="sng" dirty="0" smtClean="0">
              <a:solidFill>
                <a:schemeClr val="tx2">
                  <a:lumMod val="50000"/>
                </a:schemeClr>
              </a:solidFill>
            </a:endParaRPr>
          </a:p>
          <a:p>
            <a:pPr marL="171450" indent="-171450">
              <a:buFont typeface="Wingdings" panose="05000000000000000000" pitchFamily="2" charset="2"/>
              <a:buChar char="Ø"/>
            </a:pPr>
            <a:r>
              <a:rPr lang="en-IN" sz="1200" dirty="0" smtClean="0">
                <a:solidFill>
                  <a:schemeClr val="tx2">
                    <a:lumMod val="50000"/>
                  </a:schemeClr>
                </a:solidFill>
              </a:rPr>
              <a:t>   By comparing the most popular locations for retailers within the city, we can rationalize the target segment for each</a:t>
            </a:r>
          </a:p>
          <a:p>
            <a:pPr marL="628650" lvl="1" indent="-171450">
              <a:buFont typeface="Wingdings" panose="05000000000000000000" pitchFamily="2" charset="2"/>
              <a:buChar char="Ø"/>
            </a:pPr>
            <a:r>
              <a:rPr lang="en-IN" sz="1200" dirty="0">
                <a:solidFill>
                  <a:schemeClr val="tx2">
                    <a:lumMod val="50000"/>
                  </a:schemeClr>
                </a:solidFill>
              </a:rPr>
              <a:t> </a:t>
            </a:r>
            <a:r>
              <a:rPr lang="en-IN" sz="1200" dirty="0" smtClean="0">
                <a:solidFill>
                  <a:schemeClr val="tx2">
                    <a:lumMod val="50000"/>
                  </a:schemeClr>
                </a:solidFill>
              </a:rPr>
              <a:t>  This exercise would yield a more comprehensive view when looking at stores across the country</a:t>
            </a:r>
          </a:p>
          <a:p>
            <a:pPr marL="171450" indent="-171450">
              <a:buFont typeface="Wingdings" panose="05000000000000000000" pitchFamily="2" charset="2"/>
              <a:buChar char="Ø"/>
            </a:pPr>
            <a:endParaRPr lang="en-IN" sz="1200" dirty="0">
              <a:solidFill>
                <a:schemeClr val="tx2">
                  <a:lumMod val="50000"/>
                </a:schemeClr>
              </a:solidFill>
            </a:endParaRPr>
          </a:p>
          <a:p>
            <a:pPr marL="171450" indent="-171450">
              <a:buFont typeface="Wingdings" panose="05000000000000000000" pitchFamily="2" charset="2"/>
              <a:buChar char="Ø"/>
            </a:pPr>
            <a:r>
              <a:rPr lang="en-IN" sz="1200" dirty="0" smtClean="0">
                <a:solidFill>
                  <a:schemeClr val="tx2">
                    <a:lumMod val="50000"/>
                  </a:schemeClr>
                </a:solidFill>
              </a:rPr>
              <a:t>A simple comparison above for Hyderabad suggests a more affluent, sophisticated and younger target segment for Croma</a:t>
            </a:r>
          </a:p>
          <a:p>
            <a:pPr marL="171450" indent="-171450">
              <a:buFont typeface="Wingdings" panose="05000000000000000000" pitchFamily="2" charset="2"/>
              <a:buChar char="Ø"/>
            </a:pPr>
            <a:endParaRPr lang="en-IN" sz="1200" dirty="0" smtClean="0">
              <a:solidFill>
                <a:schemeClr val="tx2">
                  <a:lumMod val="50000"/>
                </a:schemeClr>
              </a:solidFill>
            </a:endParaRPr>
          </a:p>
          <a:p>
            <a:endParaRPr lang="en-IN" sz="1200" b="1" u="sng" dirty="0" smtClean="0">
              <a:solidFill>
                <a:schemeClr val="tx2">
                  <a:lumMod val="50000"/>
                </a:schemeClr>
              </a:solidFill>
            </a:endParaRPr>
          </a:p>
          <a:p>
            <a:endParaRPr lang="en-IN" sz="1200" b="1" dirty="0">
              <a:solidFill>
                <a:schemeClr val="tx2">
                  <a:lumMod val="50000"/>
                </a:schemeClr>
              </a:solidFill>
            </a:endParaRPr>
          </a:p>
        </p:txBody>
      </p:sp>
      <p:sp>
        <p:nvSpPr>
          <p:cNvPr id="7" name="TextBox 6"/>
          <p:cNvSpPr txBox="1"/>
          <p:nvPr/>
        </p:nvSpPr>
        <p:spPr bwMode="gray">
          <a:xfrm>
            <a:off x="9529160" y="4733115"/>
            <a:ext cx="1758462" cy="301386"/>
          </a:xfrm>
          <a:prstGeom prst="rect">
            <a:avLst/>
          </a:prstGeom>
        </p:spPr>
        <p:txBody>
          <a:bodyPr vert="horz" wrap="square" lIns="91440" tIns="45720" rIns="91440" bIns="45720" rtlCol="0" anchor="ctr">
            <a:noAutofit/>
          </a:bodyPr>
          <a:lstStyle/>
          <a:p>
            <a:r>
              <a:rPr lang="en-IN" sz="1000" dirty="0" smtClean="0"/>
              <a:t>Reflected metrics are characteristics of the PIN</a:t>
            </a:r>
          </a:p>
        </p:txBody>
      </p:sp>
    </p:spTree>
    <p:extLst>
      <p:ext uri="{BB962C8B-B14F-4D97-AF65-F5344CB8AC3E}">
        <p14:creationId xmlns:p14="http://schemas.microsoft.com/office/powerpoint/2010/main" val="52959127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dirty="0" smtClean="0"/>
              <a:t>Applications of TATA Communications ATM Data</a:t>
            </a:r>
            <a:endParaRPr lang="en-IN" dirty="0"/>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25</a:t>
            </a:fld>
            <a:endParaRPr lang="en-US" dirty="0">
              <a:solidFill>
                <a:srgbClr val="0E5580"/>
              </a:solidFill>
            </a:endParaRPr>
          </a:p>
        </p:txBody>
      </p:sp>
      <p:sp>
        <p:nvSpPr>
          <p:cNvPr id="16" name="Rectangle 15"/>
          <p:cNvSpPr/>
          <p:nvPr/>
        </p:nvSpPr>
        <p:spPr>
          <a:xfrm>
            <a:off x="492371" y="1899135"/>
            <a:ext cx="11240084" cy="3080825"/>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400" dirty="0" smtClean="0">
              <a:solidFill>
                <a:schemeClr val="tx1"/>
              </a:solidFill>
            </a:endParaRPr>
          </a:p>
        </p:txBody>
      </p:sp>
      <p:sp>
        <p:nvSpPr>
          <p:cNvPr id="17" name="Rounded Rectangle 16"/>
          <p:cNvSpPr/>
          <p:nvPr/>
        </p:nvSpPr>
        <p:spPr>
          <a:xfrm>
            <a:off x="829993" y="1712367"/>
            <a:ext cx="6696221" cy="341514"/>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t>Application 1 – Granular Location Recommendations</a:t>
            </a:r>
            <a:endParaRPr lang="en-IN" sz="1600" dirty="0"/>
          </a:p>
        </p:txBody>
      </p:sp>
      <p:sp>
        <p:nvSpPr>
          <p:cNvPr id="2" name="TextBox 1"/>
          <p:cNvSpPr txBox="1"/>
          <p:nvPr/>
        </p:nvSpPr>
        <p:spPr bwMode="gray">
          <a:xfrm>
            <a:off x="629984" y="2053880"/>
            <a:ext cx="10933659" cy="949121"/>
          </a:xfrm>
          <a:prstGeom prst="rect">
            <a:avLst/>
          </a:prstGeom>
          <a:ln>
            <a:noFill/>
          </a:ln>
        </p:spPr>
        <p:txBody>
          <a:bodyPr vert="horz" wrap="square" lIns="91440" tIns="45720" rIns="91440" bIns="45720" rtlCol="0" anchor="ctr">
            <a:noAutofit/>
          </a:bodyPr>
          <a:lstStyle/>
          <a:p>
            <a:r>
              <a:rPr lang="en-IN" sz="1200" dirty="0"/>
              <a:t>Use ATM location data for further granular and focussed street level planning post identifying a larger geography (PIN/Ward) of potential. </a:t>
            </a:r>
            <a:endParaRPr lang="en-IN" sz="1200" dirty="0" smtClean="0"/>
          </a:p>
          <a:p>
            <a:r>
              <a:rPr lang="en-IN" sz="1200" dirty="0" smtClean="0"/>
              <a:t>E.g. if PIN 500001 has been identified as a ‘High Potential’ PIN, then we could study the ATM locations for granular recommendation</a:t>
            </a:r>
            <a:endParaRPr lang="en-IN" sz="1200" dirty="0"/>
          </a:p>
          <a:p>
            <a:endParaRPr lang="en-IN" sz="1200" dirty="0" smtClean="0"/>
          </a:p>
        </p:txBody>
      </p:sp>
      <p:graphicFrame>
        <p:nvGraphicFramePr>
          <p:cNvPr id="8" name="Table 7"/>
          <p:cNvGraphicFramePr>
            <a:graphicFrameLocks noGrp="1"/>
          </p:cNvGraphicFramePr>
          <p:nvPr>
            <p:extLst/>
          </p:nvPr>
        </p:nvGraphicFramePr>
        <p:xfrm>
          <a:off x="829994" y="2763851"/>
          <a:ext cx="6799201" cy="2011680"/>
        </p:xfrm>
        <a:graphic>
          <a:graphicData uri="http://schemas.openxmlformats.org/drawingml/2006/table">
            <a:tbl>
              <a:tblPr/>
              <a:tblGrid>
                <a:gridCol w="3498559"/>
                <a:gridCol w="1729488"/>
                <a:gridCol w="1571154"/>
              </a:tblGrid>
              <a:tr h="150387">
                <a:tc>
                  <a:txBody>
                    <a:bodyPr/>
                    <a:lstStyle/>
                    <a:p>
                      <a:pPr algn="ctr" fontAlgn="b"/>
                      <a:r>
                        <a:rPr lang="en-IN" sz="1100" b="1" i="0" u="none" strike="noStrike" dirty="0" smtClean="0">
                          <a:solidFill>
                            <a:srgbClr val="000000"/>
                          </a:solidFill>
                          <a:effectLst/>
                          <a:latin typeface="Calibri" panose="020F0502020204030204" pitchFamily="34" charset="0"/>
                        </a:rPr>
                        <a:t>ATM Location – based on Site </a:t>
                      </a:r>
                      <a:r>
                        <a:rPr lang="en-IN" sz="1100" b="1" i="0" u="none" strike="noStrike" dirty="0" err="1" smtClean="0">
                          <a:solidFill>
                            <a:srgbClr val="000000"/>
                          </a:solidFill>
                          <a:effectLst/>
                          <a:latin typeface="Calibri" panose="020F0502020204030204" pitchFamily="34" charset="0"/>
                        </a:rPr>
                        <a:t>Lat</a:t>
                      </a:r>
                      <a:r>
                        <a:rPr lang="en-IN" sz="1100" b="1" i="0" u="none" strike="noStrike" dirty="0" smtClean="0">
                          <a:solidFill>
                            <a:srgbClr val="000000"/>
                          </a:solidFill>
                          <a:effectLst/>
                          <a:latin typeface="Calibri" panose="020F0502020204030204" pitchFamily="34" charset="0"/>
                        </a:rPr>
                        <a:t> Long</a:t>
                      </a:r>
                      <a:endParaRPr lang="en-IN" sz="1100" b="1"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100" b="1" i="0" u="none" strike="noStrike" dirty="0" smtClean="0">
                          <a:solidFill>
                            <a:srgbClr val="000000"/>
                          </a:solidFill>
                          <a:effectLst/>
                          <a:latin typeface="Calibri" panose="020F0502020204030204" pitchFamily="34" charset="0"/>
                        </a:rPr>
                        <a:t>Max</a:t>
                      </a:r>
                      <a:r>
                        <a:rPr lang="en-IN" sz="1100" b="1" i="0" u="none" strike="noStrike" baseline="0" dirty="0" smtClean="0">
                          <a:solidFill>
                            <a:srgbClr val="000000"/>
                          </a:solidFill>
                          <a:effectLst/>
                          <a:latin typeface="Calibri" panose="020F0502020204030204" pitchFamily="34" charset="0"/>
                        </a:rPr>
                        <a:t> Transaction Size*</a:t>
                      </a:r>
                      <a:endParaRPr lang="en-IN" sz="1100" b="1"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100" b="1" i="0" u="none" strike="noStrike" dirty="0" smtClean="0">
                          <a:solidFill>
                            <a:srgbClr val="000000"/>
                          </a:solidFill>
                          <a:effectLst/>
                          <a:latin typeface="Calibri" panose="020F0502020204030204" pitchFamily="34" charset="0"/>
                        </a:rPr>
                        <a:t>Max Footfall*</a:t>
                      </a:r>
                      <a:endParaRPr lang="en-IN" sz="1100" b="1"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50387">
                <a:tc>
                  <a:txBody>
                    <a:bodyPr/>
                    <a:lstStyle/>
                    <a:p>
                      <a:pPr algn="ctr" fontAlgn="b"/>
                      <a:r>
                        <a:rPr lang="en-IN" sz="1100" b="0" i="0" u="none" strike="noStrike" dirty="0">
                          <a:solidFill>
                            <a:srgbClr val="000000"/>
                          </a:solidFill>
                          <a:effectLst/>
                          <a:latin typeface="Calibri" panose="020F0502020204030204" pitchFamily="34" charset="0"/>
                        </a:rPr>
                        <a:t>Maharani Jhansi Rd, </a:t>
                      </a:r>
                      <a:r>
                        <a:rPr lang="en-IN" sz="1100" b="0" i="0" u="none" strike="noStrike" dirty="0" err="1">
                          <a:solidFill>
                            <a:srgbClr val="000000"/>
                          </a:solidFill>
                          <a:effectLst/>
                          <a:latin typeface="Calibri" panose="020F0502020204030204" pitchFamily="34" charset="0"/>
                        </a:rPr>
                        <a:t>Poosal</a:t>
                      </a:r>
                      <a:r>
                        <a:rPr lang="en-IN" sz="1100" b="0" i="0" u="none" strike="noStrike" dirty="0">
                          <a:solidFill>
                            <a:srgbClr val="000000"/>
                          </a:solidFill>
                          <a:effectLst/>
                          <a:latin typeface="Calibri" panose="020F0502020204030204" pitchFamily="34" charset="0"/>
                        </a:rPr>
                        <a:t> </a:t>
                      </a:r>
                      <a:r>
                        <a:rPr lang="en-IN" sz="1100" b="0" i="0" u="none" strike="noStrike" dirty="0" err="1">
                          <a:solidFill>
                            <a:srgbClr val="000000"/>
                          </a:solidFill>
                          <a:effectLst/>
                          <a:latin typeface="Calibri" panose="020F0502020204030204" pitchFamily="34" charset="0"/>
                        </a:rPr>
                        <a:t>Basthi</a:t>
                      </a:r>
                      <a:r>
                        <a:rPr lang="en-IN" sz="1100" b="0" i="0" u="none" strike="noStrike" dirty="0">
                          <a:solidFill>
                            <a:srgbClr val="000000"/>
                          </a:solidFill>
                          <a:effectLst/>
                          <a:latin typeface="Calibri" panose="020F0502020204030204" pitchFamily="34" charset="0"/>
                        </a:rPr>
                        <a:t>, Shankar </a:t>
                      </a:r>
                      <a:r>
                        <a:rPr lang="en-IN" sz="1100" b="0" i="0" u="none" strike="noStrike" dirty="0" err="1">
                          <a:solidFill>
                            <a:srgbClr val="000000"/>
                          </a:solidFill>
                          <a:effectLst/>
                          <a:latin typeface="Calibri" panose="020F0502020204030204" pitchFamily="34" charset="0"/>
                        </a:rPr>
                        <a:t>Bagh</a:t>
                      </a:r>
                      <a:r>
                        <a:rPr lang="en-IN" sz="1100" b="0" i="0" u="none" strike="noStrike" dirty="0">
                          <a:solidFill>
                            <a:srgbClr val="000000"/>
                          </a:solidFill>
                          <a:effectLst/>
                          <a:latin typeface="Calibri" panose="020F0502020204030204" pitchFamily="34" charset="0"/>
                        </a:rPr>
                        <a:t> Colony</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c>
                  <a:txBody>
                    <a:bodyPr/>
                    <a:lstStyle/>
                    <a:p>
                      <a:pPr algn="ctr" fontAlgn="b"/>
                      <a:r>
                        <a:rPr lang="en-IN" sz="1100" b="0" i="0" u="none" strike="noStrike">
                          <a:solidFill>
                            <a:srgbClr val="000000"/>
                          </a:solidFill>
                          <a:effectLst/>
                          <a:latin typeface="Calibri" panose="020F0502020204030204" pitchFamily="34" charset="0"/>
                        </a:rPr>
                        <a:t>₹ 2,255</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FA9473"/>
                    </a:solidFill>
                  </a:tcPr>
                </a:tc>
                <a:tc>
                  <a:txBody>
                    <a:bodyPr/>
                    <a:lstStyle/>
                    <a:p>
                      <a:pPr algn="ctr" fontAlgn="b"/>
                      <a:r>
                        <a:rPr lang="en-IN" sz="1100" b="0" i="0" u="none" strike="noStrike">
                          <a:solidFill>
                            <a:srgbClr val="000000"/>
                          </a:solidFill>
                          <a:effectLst/>
                          <a:latin typeface="Calibri" panose="020F0502020204030204" pitchFamily="34" charset="0"/>
                        </a:rPr>
                        <a:t>649</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C1D981"/>
                    </a:solidFill>
                  </a:tcPr>
                </a:tc>
              </a:tr>
              <a:tr h="150387">
                <a:tc>
                  <a:txBody>
                    <a:bodyPr/>
                    <a:lstStyle/>
                    <a:p>
                      <a:pPr algn="ctr" fontAlgn="b"/>
                      <a:r>
                        <a:rPr lang="en-IN" sz="1100" b="0" i="0" u="none" strike="noStrike" dirty="0" err="1">
                          <a:solidFill>
                            <a:srgbClr val="000000"/>
                          </a:solidFill>
                          <a:effectLst/>
                          <a:latin typeface="Calibri" panose="020F0502020204030204" pitchFamily="34" charset="0"/>
                        </a:rPr>
                        <a:t>HIndi</a:t>
                      </a:r>
                      <a:r>
                        <a:rPr lang="en-IN" sz="1100" b="0" i="0" u="none" strike="noStrike" dirty="0">
                          <a:solidFill>
                            <a:srgbClr val="000000"/>
                          </a:solidFill>
                          <a:effectLst/>
                          <a:latin typeface="Calibri" panose="020F0502020204030204" pitchFamily="34" charset="0"/>
                        </a:rPr>
                        <a:t> Nagar, </a:t>
                      </a:r>
                      <a:r>
                        <a:rPr lang="en-IN" sz="1100" b="0" i="0" u="none" strike="noStrike" dirty="0" err="1">
                          <a:solidFill>
                            <a:srgbClr val="000000"/>
                          </a:solidFill>
                          <a:effectLst/>
                          <a:latin typeface="Calibri" panose="020F0502020204030204" pitchFamily="34" charset="0"/>
                        </a:rPr>
                        <a:t>Ghosha</a:t>
                      </a:r>
                      <a:r>
                        <a:rPr lang="en-IN" sz="1100" b="0" i="0" u="none" strike="noStrike" dirty="0">
                          <a:solidFill>
                            <a:srgbClr val="000000"/>
                          </a:solidFill>
                          <a:effectLst/>
                          <a:latin typeface="Calibri" panose="020F0502020204030204" pitchFamily="34" charset="0"/>
                        </a:rPr>
                        <a:t> Mahal North, </a:t>
                      </a:r>
                      <a:r>
                        <a:rPr lang="en-IN" sz="1100" b="0" i="0" u="none" strike="noStrike" dirty="0" err="1">
                          <a:solidFill>
                            <a:srgbClr val="000000"/>
                          </a:solidFill>
                          <a:effectLst/>
                          <a:latin typeface="Calibri" panose="020F0502020204030204" pitchFamily="34" charset="0"/>
                        </a:rPr>
                        <a:t>Nampally</a:t>
                      </a:r>
                      <a:endParaRPr lang="en-IN" sz="11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pPr algn="ctr" fontAlgn="b"/>
                      <a:r>
                        <a:rPr lang="en-IN" sz="1100" b="0" i="0" u="none" strike="noStrike">
                          <a:solidFill>
                            <a:srgbClr val="000000"/>
                          </a:solidFill>
                          <a:effectLst/>
                          <a:latin typeface="Calibri" panose="020F0502020204030204" pitchFamily="34" charset="0"/>
                        </a:rPr>
                        <a:t>₹ 3,137</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rgbClr val="FFEB84"/>
                    </a:solidFill>
                  </a:tcPr>
                </a:tc>
                <a:tc>
                  <a:txBody>
                    <a:bodyPr/>
                    <a:lstStyle/>
                    <a:p>
                      <a:pPr algn="ctr" fontAlgn="b"/>
                      <a:r>
                        <a:rPr lang="en-IN" sz="1100" b="0" i="0" u="none" strike="noStrike" dirty="0">
                          <a:solidFill>
                            <a:srgbClr val="000000"/>
                          </a:solidFill>
                          <a:effectLst/>
                          <a:latin typeface="Calibri" panose="020F0502020204030204" pitchFamily="34" charset="0"/>
                        </a:rPr>
                        <a:t>267</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rgbClr val="FCC07B"/>
                    </a:solidFill>
                  </a:tcPr>
                </a:tc>
              </a:tr>
              <a:tr h="150387">
                <a:tc>
                  <a:txBody>
                    <a:bodyPr/>
                    <a:lstStyle/>
                    <a:p>
                      <a:pPr algn="ctr" fontAlgn="b"/>
                      <a:r>
                        <a:rPr lang="en-IN" sz="1100" b="0" i="0" u="none" strike="noStrike" dirty="0" err="1">
                          <a:solidFill>
                            <a:srgbClr val="000000"/>
                          </a:solidFill>
                          <a:effectLst/>
                          <a:latin typeface="Calibri" panose="020F0502020204030204" pitchFamily="34" charset="0"/>
                        </a:rPr>
                        <a:t>Koti</a:t>
                      </a:r>
                      <a:r>
                        <a:rPr lang="en-IN" sz="1100" b="0" i="0" u="none" strike="noStrike" dirty="0">
                          <a:solidFill>
                            <a:srgbClr val="000000"/>
                          </a:solidFill>
                          <a:effectLst/>
                          <a:latin typeface="Calibri" panose="020F0502020204030204" pitchFamily="34" charset="0"/>
                        </a:rPr>
                        <a:t> Main Rd, </a:t>
                      </a:r>
                      <a:r>
                        <a:rPr lang="en-IN" sz="1100" b="0" i="0" u="none" strike="noStrike" dirty="0" err="1">
                          <a:solidFill>
                            <a:srgbClr val="000000"/>
                          </a:solidFill>
                          <a:effectLst/>
                          <a:latin typeface="Calibri" panose="020F0502020204030204" pitchFamily="34" charset="0"/>
                        </a:rPr>
                        <a:t>Subhash</a:t>
                      </a:r>
                      <a:r>
                        <a:rPr lang="en-IN" sz="1100" b="0" i="0" u="none" strike="noStrike" dirty="0">
                          <a:solidFill>
                            <a:srgbClr val="000000"/>
                          </a:solidFill>
                          <a:effectLst/>
                          <a:latin typeface="Calibri" panose="020F0502020204030204" pitchFamily="34" charset="0"/>
                        </a:rPr>
                        <a:t> Nagar, </a:t>
                      </a:r>
                      <a:r>
                        <a:rPr lang="en-IN" sz="1100" b="0" i="0" u="none" strike="noStrike" dirty="0" err="1">
                          <a:solidFill>
                            <a:srgbClr val="000000"/>
                          </a:solidFill>
                          <a:effectLst/>
                          <a:latin typeface="Calibri" panose="020F0502020204030204" pitchFamily="34" charset="0"/>
                        </a:rPr>
                        <a:t>Badi</a:t>
                      </a:r>
                      <a:r>
                        <a:rPr lang="en-IN" sz="1100" b="0" i="0" u="none" strike="noStrike" dirty="0">
                          <a:solidFill>
                            <a:srgbClr val="000000"/>
                          </a:solidFill>
                          <a:effectLst/>
                          <a:latin typeface="Calibri" panose="020F0502020204030204" pitchFamily="34" charset="0"/>
                        </a:rPr>
                        <a:t> </a:t>
                      </a:r>
                      <a:r>
                        <a:rPr lang="en-IN" sz="1100" b="0" i="0" u="none" strike="noStrike" dirty="0" err="1">
                          <a:solidFill>
                            <a:srgbClr val="000000"/>
                          </a:solidFill>
                          <a:effectLst/>
                          <a:latin typeface="Calibri" panose="020F0502020204030204" pitchFamily="34" charset="0"/>
                        </a:rPr>
                        <a:t>Chowdi</a:t>
                      </a:r>
                      <a:endParaRPr lang="en-IN" sz="11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pPr algn="ctr" fontAlgn="b"/>
                      <a:r>
                        <a:rPr lang="en-IN" sz="1100" b="0" i="0" u="none" strike="noStrike">
                          <a:solidFill>
                            <a:srgbClr val="000000"/>
                          </a:solidFill>
                          <a:effectLst/>
                          <a:latin typeface="Calibri" panose="020F0502020204030204" pitchFamily="34" charset="0"/>
                        </a:rPr>
                        <a:t>₹ 5,703</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rgbClr val="7AC57D"/>
                    </a:solidFill>
                  </a:tcPr>
                </a:tc>
                <a:tc>
                  <a:txBody>
                    <a:bodyPr/>
                    <a:lstStyle/>
                    <a:p>
                      <a:pPr algn="ctr" fontAlgn="b"/>
                      <a:r>
                        <a:rPr lang="en-IN" sz="1100" b="0" i="0" u="none" strike="noStrike" dirty="0">
                          <a:solidFill>
                            <a:srgbClr val="000000"/>
                          </a:solidFill>
                          <a:effectLst/>
                          <a:latin typeface="Calibri" panose="020F0502020204030204" pitchFamily="34" charset="0"/>
                        </a:rPr>
                        <a:t>79</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rgbClr val="F8736C"/>
                    </a:solidFill>
                  </a:tcPr>
                </a:tc>
              </a:tr>
              <a:tr h="150387">
                <a:tc>
                  <a:txBody>
                    <a:bodyPr/>
                    <a:lstStyle/>
                    <a:p>
                      <a:pPr algn="ctr" fontAlgn="b"/>
                      <a:r>
                        <a:rPr lang="en-IN" sz="1100" b="0" i="0" u="none" strike="noStrike" dirty="0">
                          <a:solidFill>
                            <a:srgbClr val="000000"/>
                          </a:solidFill>
                          <a:effectLst/>
                          <a:latin typeface="Calibri" panose="020F0502020204030204" pitchFamily="34" charset="0"/>
                        </a:rPr>
                        <a:t>Sultan Bazar Road</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pPr algn="ctr" fontAlgn="b"/>
                      <a:r>
                        <a:rPr lang="en-IN" sz="1100" b="0" i="0" u="none" strike="noStrike">
                          <a:solidFill>
                            <a:srgbClr val="000000"/>
                          </a:solidFill>
                          <a:effectLst/>
                          <a:latin typeface="Calibri" panose="020F0502020204030204" pitchFamily="34" charset="0"/>
                        </a:rPr>
                        <a:t>₹ 2,888</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rgbClr val="FDD27F"/>
                    </a:solidFill>
                  </a:tcPr>
                </a:tc>
                <a:tc>
                  <a:txBody>
                    <a:bodyPr/>
                    <a:lstStyle/>
                    <a:p>
                      <a:pPr algn="ctr" fontAlgn="b"/>
                      <a:r>
                        <a:rPr lang="en-IN" sz="1100" b="0" i="0" u="none" strike="noStrike" dirty="0">
                          <a:solidFill>
                            <a:srgbClr val="000000"/>
                          </a:solidFill>
                          <a:effectLst/>
                          <a:latin typeface="Calibri" panose="020F0502020204030204" pitchFamily="34" charset="0"/>
                        </a:rPr>
                        <a:t>502</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rgbClr val="E2E383"/>
                    </a:solidFill>
                  </a:tcPr>
                </a:tc>
              </a:tr>
              <a:tr h="150387">
                <a:tc>
                  <a:txBody>
                    <a:bodyPr/>
                    <a:lstStyle/>
                    <a:p>
                      <a:pPr algn="ctr" fontAlgn="b"/>
                      <a:r>
                        <a:rPr lang="en-IN" sz="1100" b="0" i="0" u="none" strike="noStrike" dirty="0" err="1">
                          <a:solidFill>
                            <a:srgbClr val="000000"/>
                          </a:solidFill>
                          <a:effectLst/>
                          <a:latin typeface="Calibri" panose="020F0502020204030204" pitchFamily="34" charset="0"/>
                        </a:rPr>
                        <a:t>Mallepally</a:t>
                      </a:r>
                      <a:r>
                        <a:rPr lang="en-IN" sz="1100" b="0" i="0" u="none" strike="noStrike" dirty="0">
                          <a:solidFill>
                            <a:srgbClr val="000000"/>
                          </a:solidFill>
                          <a:effectLst/>
                          <a:latin typeface="Calibri" panose="020F0502020204030204" pitchFamily="34" charset="0"/>
                        </a:rPr>
                        <a:t> Rd, </a:t>
                      </a:r>
                      <a:r>
                        <a:rPr lang="en-IN" sz="1100" b="0" i="0" u="none" strike="noStrike" dirty="0" err="1">
                          <a:solidFill>
                            <a:srgbClr val="000000"/>
                          </a:solidFill>
                          <a:effectLst/>
                          <a:latin typeface="Calibri" panose="020F0502020204030204" pitchFamily="34" charset="0"/>
                        </a:rPr>
                        <a:t>Mallepally</a:t>
                      </a:r>
                      <a:r>
                        <a:rPr lang="en-IN" sz="1100" b="0" i="0" u="none" strike="noStrike" dirty="0">
                          <a:solidFill>
                            <a:srgbClr val="000000"/>
                          </a:solidFill>
                          <a:effectLst/>
                          <a:latin typeface="Calibri" panose="020F0502020204030204" pitchFamily="34" charset="0"/>
                        </a:rPr>
                        <a:t>, New </a:t>
                      </a:r>
                      <a:r>
                        <a:rPr lang="en-IN" sz="1100" b="0" i="0" u="none" strike="noStrike" dirty="0" err="1">
                          <a:solidFill>
                            <a:srgbClr val="000000"/>
                          </a:solidFill>
                          <a:effectLst/>
                          <a:latin typeface="Calibri" panose="020F0502020204030204" pitchFamily="34" charset="0"/>
                        </a:rPr>
                        <a:t>Mallepally</a:t>
                      </a:r>
                      <a:endParaRPr lang="en-IN" sz="11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pPr algn="ctr" fontAlgn="b"/>
                      <a:r>
                        <a:rPr lang="en-IN" sz="1100" b="0" i="0" u="none" strike="noStrike">
                          <a:solidFill>
                            <a:srgbClr val="000000"/>
                          </a:solidFill>
                          <a:effectLst/>
                          <a:latin typeface="Calibri" panose="020F0502020204030204" pitchFamily="34" charset="0"/>
                        </a:rPr>
                        <a:t>₹ 2,910</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rgbClr val="FDD47F"/>
                    </a:solidFill>
                  </a:tcPr>
                </a:tc>
                <a:tc>
                  <a:txBody>
                    <a:bodyPr/>
                    <a:lstStyle/>
                    <a:p>
                      <a:pPr algn="ctr" fontAlgn="b"/>
                      <a:r>
                        <a:rPr lang="en-IN" sz="1100" b="0" i="0" u="none" strike="noStrike" dirty="0">
                          <a:solidFill>
                            <a:srgbClr val="000000"/>
                          </a:solidFill>
                          <a:effectLst/>
                          <a:latin typeface="Calibri" panose="020F0502020204030204" pitchFamily="34" charset="0"/>
                        </a:rPr>
                        <a:t>54</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rgbClr val="F8696B"/>
                    </a:solidFill>
                  </a:tcPr>
                </a:tc>
              </a:tr>
              <a:tr h="150387">
                <a:tc>
                  <a:txBody>
                    <a:bodyPr/>
                    <a:lstStyle/>
                    <a:p>
                      <a:pPr algn="ctr" fontAlgn="b"/>
                      <a:r>
                        <a:rPr lang="en-IN" sz="1100" b="0" i="0" u="none" strike="noStrike" dirty="0" err="1">
                          <a:solidFill>
                            <a:srgbClr val="000000"/>
                          </a:solidFill>
                          <a:effectLst/>
                          <a:latin typeface="Calibri" panose="020F0502020204030204" pitchFamily="34" charset="0"/>
                        </a:rPr>
                        <a:t>Nampally</a:t>
                      </a:r>
                      <a:r>
                        <a:rPr lang="en-IN" sz="1100" b="0" i="0" u="none" strike="noStrike" dirty="0">
                          <a:solidFill>
                            <a:srgbClr val="000000"/>
                          </a:solidFill>
                          <a:effectLst/>
                          <a:latin typeface="Calibri" panose="020F0502020204030204" pitchFamily="34" charset="0"/>
                        </a:rPr>
                        <a:t> Station Rd, Old </a:t>
                      </a:r>
                      <a:r>
                        <a:rPr lang="en-IN" sz="1100" b="0" i="0" u="none" strike="noStrike" dirty="0" err="1">
                          <a:solidFill>
                            <a:srgbClr val="000000"/>
                          </a:solidFill>
                          <a:effectLst/>
                          <a:latin typeface="Calibri" panose="020F0502020204030204" pitchFamily="34" charset="0"/>
                        </a:rPr>
                        <a:t>Kattal</a:t>
                      </a:r>
                      <a:r>
                        <a:rPr lang="en-IN" sz="1100" b="0" i="0" u="none" strike="noStrike" dirty="0">
                          <a:solidFill>
                            <a:srgbClr val="000000"/>
                          </a:solidFill>
                          <a:effectLst/>
                          <a:latin typeface="Calibri" panose="020F0502020204030204" pitchFamily="34" charset="0"/>
                        </a:rPr>
                        <a:t> </a:t>
                      </a:r>
                      <a:r>
                        <a:rPr lang="en-IN" sz="1100" b="0" i="0" u="none" strike="noStrike" dirty="0" err="1">
                          <a:solidFill>
                            <a:srgbClr val="000000"/>
                          </a:solidFill>
                          <a:effectLst/>
                          <a:latin typeface="Calibri" panose="020F0502020204030204" pitchFamily="34" charset="0"/>
                        </a:rPr>
                        <a:t>Mandi</a:t>
                      </a:r>
                      <a:endParaRPr lang="en-IN" sz="11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pPr algn="ctr" fontAlgn="b"/>
                      <a:r>
                        <a:rPr lang="en-IN" sz="1100" b="0" i="0" u="none" strike="noStrike">
                          <a:solidFill>
                            <a:srgbClr val="000000"/>
                          </a:solidFill>
                          <a:effectLst/>
                          <a:latin typeface="Calibri" panose="020F0502020204030204" pitchFamily="34" charset="0"/>
                        </a:rPr>
                        <a:t>₹ 3,615</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rgbClr val="E7E483"/>
                    </a:solidFill>
                  </a:tcPr>
                </a:tc>
                <a:tc>
                  <a:txBody>
                    <a:bodyPr/>
                    <a:lstStyle/>
                    <a:p>
                      <a:pPr algn="ctr" fontAlgn="b"/>
                      <a:r>
                        <a:rPr lang="en-IN" sz="1100" b="0" i="0" u="none" strike="noStrike" dirty="0">
                          <a:solidFill>
                            <a:srgbClr val="000000"/>
                          </a:solidFill>
                          <a:effectLst/>
                          <a:latin typeface="Calibri" panose="020F0502020204030204" pitchFamily="34" charset="0"/>
                        </a:rPr>
                        <a:t>297</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rgbClr val="FDCD7E"/>
                    </a:solidFill>
                  </a:tcPr>
                </a:tc>
              </a:tr>
              <a:tr h="150387">
                <a:tc>
                  <a:txBody>
                    <a:bodyPr/>
                    <a:lstStyle/>
                    <a:p>
                      <a:pPr algn="ctr" fontAlgn="b"/>
                      <a:r>
                        <a:rPr lang="en-IN" sz="1100" b="0" i="0" u="none" strike="noStrike" dirty="0" err="1">
                          <a:solidFill>
                            <a:srgbClr val="000000"/>
                          </a:solidFill>
                          <a:effectLst/>
                          <a:latin typeface="Calibri" panose="020F0502020204030204" pitchFamily="34" charset="0"/>
                        </a:rPr>
                        <a:t>Mozampura</a:t>
                      </a:r>
                      <a:r>
                        <a:rPr lang="en-IN" sz="1100" b="0" i="0" u="none" strike="noStrike" dirty="0">
                          <a:solidFill>
                            <a:srgbClr val="000000"/>
                          </a:solidFill>
                          <a:effectLst/>
                          <a:latin typeface="Calibri" panose="020F0502020204030204" pitchFamily="34" charset="0"/>
                        </a:rPr>
                        <a:t>, Bazar </a:t>
                      </a:r>
                      <a:r>
                        <a:rPr lang="en-IN" sz="1100" b="0" i="0" u="none" strike="noStrike" dirty="0" err="1">
                          <a:solidFill>
                            <a:srgbClr val="000000"/>
                          </a:solidFill>
                          <a:effectLst/>
                          <a:latin typeface="Calibri" panose="020F0502020204030204" pitchFamily="34" charset="0"/>
                        </a:rPr>
                        <a:t>Ghat</a:t>
                      </a:r>
                      <a:r>
                        <a:rPr lang="en-IN" sz="1100" b="0" i="0" u="none" strike="noStrike" dirty="0">
                          <a:solidFill>
                            <a:srgbClr val="000000"/>
                          </a:solidFill>
                          <a:effectLst/>
                          <a:latin typeface="Calibri" panose="020F0502020204030204" pitchFamily="34" charset="0"/>
                        </a:rPr>
                        <a:t>, New </a:t>
                      </a:r>
                      <a:r>
                        <a:rPr lang="en-IN" sz="1100" b="0" i="0" u="none" strike="noStrike" dirty="0" err="1">
                          <a:solidFill>
                            <a:srgbClr val="000000"/>
                          </a:solidFill>
                          <a:effectLst/>
                          <a:latin typeface="Calibri" panose="020F0502020204030204" pitchFamily="34" charset="0"/>
                        </a:rPr>
                        <a:t>Mallepally</a:t>
                      </a:r>
                      <a:endParaRPr lang="en-IN" sz="1100" b="0" i="0" u="none" strike="noStrike" dirty="0">
                        <a:solidFill>
                          <a:srgbClr val="000000"/>
                        </a:solidFill>
                        <a:effectLst/>
                        <a:latin typeface="Calibri" panose="020F0502020204030204"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pPr algn="ctr" fontAlgn="b"/>
                      <a:r>
                        <a:rPr lang="en-IN" sz="1100" b="0" i="0" u="none" strike="noStrike">
                          <a:solidFill>
                            <a:srgbClr val="000000"/>
                          </a:solidFill>
                          <a:effectLst/>
                          <a:latin typeface="Calibri" panose="020F0502020204030204" pitchFamily="34" charset="0"/>
                        </a:rPr>
                        <a:t>₹ 3,804</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rgbClr val="DDE283"/>
                    </a:solidFill>
                  </a:tcPr>
                </a:tc>
                <a:tc>
                  <a:txBody>
                    <a:bodyPr/>
                    <a:lstStyle/>
                    <a:p>
                      <a:pPr algn="ctr" fontAlgn="b"/>
                      <a:r>
                        <a:rPr lang="en-IN" sz="1100" b="0" i="0" u="none" strike="noStrike" dirty="0">
                          <a:solidFill>
                            <a:srgbClr val="000000"/>
                          </a:solidFill>
                          <a:effectLst/>
                          <a:latin typeface="Calibri" panose="020F0502020204030204" pitchFamily="34" charset="0"/>
                        </a:rPr>
                        <a:t>526</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rgbClr val="DCE182"/>
                    </a:solidFill>
                  </a:tcPr>
                </a:tc>
              </a:tr>
              <a:tr h="150387">
                <a:tc>
                  <a:txBody>
                    <a:bodyPr/>
                    <a:lstStyle/>
                    <a:p>
                      <a:pPr algn="ctr" fontAlgn="b"/>
                      <a:r>
                        <a:rPr lang="en-IN" sz="1100" b="0" i="0" u="none" strike="noStrike" dirty="0">
                          <a:solidFill>
                            <a:srgbClr val="000000"/>
                          </a:solidFill>
                          <a:effectLst/>
                          <a:latin typeface="Calibri" panose="020F0502020204030204" pitchFamily="34" charset="0"/>
                        </a:rPr>
                        <a:t>Public Garden Rd, </a:t>
                      </a:r>
                      <a:r>
                        <a:rPr lang="en-IN" sz="1100" b="0" i="0" u="none" strike="noStrike" dirty="0" err="1">
                          <a:solidFill>
                            <a:srgbClr val="000000"/>
                          </a:solidFill>
                          <a:effectLst/>
                          <a:latin typeface="Calibri" panose="020F0502020204030204" pitchFamily="34" charset="0"/>
                        </a:rPr>
                        <a:t>Fateh</a:t>
                      </a:r>
                      <a:r>
                        <a:rPr lang="en-IN" sz="1100" b="0" i="0" u="none" strike="noStrike" dirty="0">
                          <a:solidFill>
                            <a:srgbClr val="000000"/>
                          </a:solidFill>
                          <a:effectLst/>
                          <a:latin typeface="Calibri" panose="020F0502020204030204" pitchFamily="34" charset="0"/>
                        </a:rPr>
                        <a:t> </a:t>
                      </a:r>
                      <a:r>
                        <a:rPr lang="en-IN" sz="1100" b="0" i="0" u="none" strike="noStrike" dirty="0" err="1">
                          <a:solidFill>
                            <a:srgbClr val="000000"/>
                          </a:solidFill>
                          <a:effectLst/>
                          <a:latin typeface="Calibri" panose="020F0502020204030204" pitchFamily="34" charset="0"/>
                        </a:rPr>
                        <a:t>Maidan</a:t>
                      </a:r>
                      <a:endParaRPr lang="en-IN" sz="11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pPr algn="ctr" fontAlgn="b"/>
                      <a:r>
                        <a:rPr lang="en-IN" sz="1100" b="0" i="0" u="none" strike="noStrike" dirty="0">
                          <a:solidFill>
                            <a:srgbClr val="000000"/>
                          </a:solidFill>
                          <a:effectLst/>
                          <a:latin typeface="Calibri" panose="020F0502020204030204" pitchFamily="34" charset="0"/>
                        </a:rPr>
                        <a:t>₹ 4,577</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rgbClr val="B5D680"/>
                    </a:solidFill>
                  </a:tcPr>
                </a:tc>
                <a:tc>
                  <a:txBody>
                    <a:bodyPr/>
                    <a:lstStyle/>
                    <a:p>
                      <a:pPr algn="ctr" fontAlgn="b"/>
                      <a:r>
                        <a:rPr lang="en-IN" sz="1100" b="0" i="0" u="none" strike="noStrike" dirty="0">
                          <a:solidFill>
                            <a:srgbClr val="000000"/>
                          </a:solidFill>
                          <a:effectLst/>
                          <a:latin typeface="Calibri" panose="020F0502020204030204" pitchFamily="34" charset="0"/>
                        </a:rPr>
                        <a:t>517</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rgbClr val="DEE283"/>
                    </a:solidFill>
                  </a:tcPr>
                </a:tc>
              </a:tr>
              <a:tr h="150387">
                <a:tc>
                  <a:txBody>
                    <a:bodyPr/>
                    <a:lstStyle/>
                    <a:p>
                      <a:pPr algn="ctr" fontAlgn="b"/>
                      <a:r>
                        <a:rPr lang="en-IN" sz="1100" b="0" i="0" u="none" strike="noStrike" dirty="0">
                          <a:solidFill>
                            <a:srgbClr val="000000"/>
                          </a:solidFill>
                          <a:effectLst/>
                          <a:latin typeface="Calibri" panose="020F0502020204030204" pitchFamily="34" charset="0"/>
                        </a:rPr>
                        <a:t>9th St, Musheerabad, </a:t>
                      </a:r>
                      <a:r>
                        <a:rPr lang="en-IN" sz="1100" b="0" i="0" u="none" strike="noStrike" dirty="0" err="1">
                          <a:solidFill>
                            <a:srgbClr val="000000"/>
                          </a:solidFill>
                          <a:effectLst/>
                          <a:latin typeface="Calibri" panose="020F0502020204030204" pitchFamily="34" charset="0"/>
                        </a:rPr>
                        <a:t>Zamistanpur</a:t>
                      </a:r>
                      <a:endParaRPr lang="en-IN" sz="11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pPr algn="ctr" fontAlgn="b"/>
                      <a:r>
                        <a:rPr lang="en-IN" sz="1100" b="0" i="0" u="none" strike="noStrike">
                          <a:solidFill>
                            <a:srgbClr val="000000"/>
                          </a:solidFill>
                          <a:effectLst/>
                          <a:latin typeface="Calibri" panose="020F0502020204030204" pitchFamily="34" charset="0"/>
                        </a:rPr>
                        <a:t>₹ 6,138</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rgbClr val="63BE7B"/>
                    </a:solidFill>
                  </a:tcPr>
                </a:tc>
                <a:tc>
                  <a:txBody>
                    <a:bodyPr/>
                    <a:lstStyle/>
                    <a:p>
                      <a:pPr algn="ctr" fontAlgn="b"/>
                      <a:r>
                        <a:rPr lang="en-IN" sz="1100" b="0" i="0" u="none" strike="noStrike" dirty="0">
                          <a:solidFill>
                            <a:srgbClr val="000000"/>
                          </a:solidFill>
                          <a:effectLst/>
                          <a:latin typeface="Calibri" panose="020F0502020204030204" pitchFamily="34" charset="0"/>
                        </a:rPr>
                        <a:t>369</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rgbClr val="FFEB84"/>
                    </a:solidFill>
                  </a:tcPr>
                </a:tc>
              </a:tr>
              <a:tr h="150387">
                <a:tc>
                  <a:txBody>
                    <a:bodyPr/>
                    <a:lstStyle/>
                    <a:p>
                      <a:pPr algn="ctr" fontAlgn="b"/>
                      <a:r>
                        <a:rPr lang="en-IN" sz="1100" b="0" i="0" u="none" strike="noStrike" dirty="0">
                          <a:solidFill>
                            <a:srgbClr val="000000"/>
                          </a:solidFill>
                          <a:effectLst/>
                          <a:latin typeface="Calibri" panose="020F0502020204030204" pitchFamily="34" charset="0"/>
                        </a:rPr>
                        <a:t>Street Number 7, Musheerabad</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pPr algn="ctr" fontAlgn="b"/>
                      <a:r>
                        <a:rPr lang="en-IN" sz="1100" b="0" i="0" u="none" strike="noStrike" dirty="0">
                          <a:solidFill>
                            <a:srgbClr val="000000"/>
                          </a:solidFill>
                          <a:effectLst/>
                          <a:latin typeface="Calibri" panose="020F0502020204030204" pitchFamily="34" charset="0"/>
                        </a:rPr>
                        <a:t>₹ 2,396</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rgbClr val="FBA275"/>
                    </a:solidFill>
                  </a:tcPr>
                </a:tc>
                <a:tc>
                  <a:txBody>
                    <a:bodyPr/>
                    <a:lstStyle/>
                    <a:p>
                      <a:pPr algn="ctr" fontAlgn="b"/>
                      <a:r>
                        <a:rPr lang="en-IN" sz="1100" b="0" i="0" u="none" strike="noStrike" dirty="0">
                          <a:solidFill>
                            <a:srgbClr val="000000"/>
                          </a:solidFill>
                          <a:effectLst/>
                          <a:latin typeface="Calibri" panose="020F0502020204030204" pitchFamily="34" charset="0"/>
                        </a:rPr>
                        <a:t>348</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rgbClr val="FEE282"/>
                    </a:solidFill>
                  </a:tcPr>
                </a:tc>
              </a:tr>
              <a:tr h="150387">
                <a:tc>
                  <a:txBody>
                    <a:bodyPr/>
                    <a:lstStyle/>
                    <a:p>
                      <a:pPr algn="ctr" fontAlgn="b"/>
                      <a:r>
                        <a:rPr lang="en-IN" sz="1100" b="0" i="0" u="none" strike="noStrike" dirty="0">
                          <a:solidFill>
                            <a:srgbClr val="000000"/>
                          </a:solidFill>
                          <a:effectLst/>
                          <a:latin typeface="Calibri" panose="020F0502020204030204" pitchFamily="34" charset="0"/>
                        </a:rPr>
                        <a:t>Sapphire Complex, Old Mumbai Hwy, </a:t>
                      </a:r>
                      <a:r>
                        <a:rPr lang="en-IN" sz="1100" b="0" i="0" u="none" strike="noStrike" dirty="0" err="1">
                          <a:solidFill>
                            <a:srgbClr val="000000"/>
                          </a:solidFill>
                          <a:effectLst/>
                          <a:latin typeface="Calibri" panose="020F0502020204030204" pitchFamily="34" charset="0"/>
                        </a:rPr>
                        <a:t>Cyberhills</a:t>
                      </a:r>
                      <a:r>
                        <a:rPr lang="en-IN" sz="1100" b="0" i="0" u="none" strike="noStrike" dirty="0">
                          <a:solidFill>
                            <a:srgbClr val="000000"/>
                          </a:solidFill>
                          <a:effectLst/>
                          <a:latin typeface="Calibri" panose="020F0502020204030204" pitchFamily="34" charset="0"/>
                        </a:rPr>
                        <a:t> Colony</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pPr algn="ctr" fontAlgn="b"/>
                      <a:r>
                        <a:rPr lang="en-IN" sz="1100" b="0" i="0" u="none" strike="noStrike" dirty="0">
                          <a:solidFill>
                            <a:srgbClr val="000000"/>
                          </a:solidFill>
                          <a:effectLst/>
                          <a:latin typeface="Calibri" panose="020F0502020204030204" pitchFamily="34" charset="0"/>
                        </a:rPr>
                        <a:t>₹ 1,816</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F8696B"/>
                    </a:solidFill>
                  </a:tcPr>
                </a:tc>
                <a:tc>
                  <a:txBody>
                    <a:bodyPr/>
                    <a:lstStyle/>
                    <a:p>
                      <a:pPr algn="ctr" fontAlgn="b"/>
                      <a:r>
                        <a:rPr lang="en-IN" sz="1100" b="0" i="0" u="none" strike="noStrike" dirty="0">
                          <a:solidFill>
                            <a:srgbClr val="000000"/>
                          </a:solidFill>
                          <a:effectLst/>
                          <a:latin typeface="Calibri" panose="020F0502020204030204" pitchFamily="34" charset="0"/>
                        </a:rPr>
                        <a:t>1,063</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63BE7B"/>
                    </a:solidFill>
                  </a:tcPr>
                </a:tc>
              </a:tr>
            </a:tbl>
          </a:graphicData>
        </a:graphic>
      </p:graphicFrame>
      <p:sp>
        <p:nvSpPr>
          <p:cNvPr id="9" name="TextBox 8"/>
          <p:cNvSpPr txBox="1"/>
          <p:nvPr/>
        </p:nvSpPr>
        <p:spPr bwMode="gray">
          <a:xfrm>
            <a:off x="5767754" y="4775531"/>
            <a:ext cx="1983544" cy="204429"/>
          </a:xfrm>
          <a:prstGeom prst="rect">
            <a:avLst/>
          </a:prstGeom>
        </p:spPr>
        <p:txBody>
          <a:bodyPr vert="horz" wrap="square" lIns="91440" tIns="45720" rIns="91440" bIns="45720" rtlCol="0" anchor="ctr">
            <a:noAutofit/>
          </a:bodyPr>
          <a:lstStyle/>
          <a:p>
            <a:pPr algn="r"/>
            <a:r>
              <a:rPr lang="en-IN" sz="800" dirty="0" smtClean="0"/>
              <a:t>* Measured over last 3 months</a:t>
            </a:r>
          </a:p>
        </p:txBody>
      </p:sp>
      <p:sp>
        <p:nvSpPr>
          <p:cNvPr id="11" name="Rounded Rectangle 10"/>
          <p:cNvSpPr/>
          <p:nvPr/>
        </p:nvSpPr>
        <p:spPr>
          <a:xfrm>
            <a:off x="4178105" y="4107763"/>
            <a:ext cx="3573193" cy="154745"/>
          </a:xfrm>
          <a:prstGeom prst="roundRect">
            <a:avLst/>
          </a:prstGeom>
          <a:solidFill>
            <a:schemeClr val="tx2">
              <a:lumMod val="20000"/>
              <a:lumOff val="80000"/>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 name="Picture 11"/>
          <p:cNvPicPr>
            <a:picLocks noChangeAspect="1"/>
          </p:cNvPicPr>
          <p:nvPr/>
        </p:nvPicPr>
        <p:blipFill>
          <a:blip r:embed="rId2"/>
          <a:stretch>
            <a:fillRect/>
          </a:stretch>
        </p:blipFill>
        <p:spPr>
          <a:xfrm>
            <a:off x="8796467" y="3045205"/>
            <a:ext cx="2636357" cy="1772530"/>
          </a:xfrm>
          <a:prstGeom prst="rect">
            <a:avLst/>
          </a:prstGeom>
        </p:spPr>
      </p:pic>
      <p:sp>
        <p:nvSpPr>
          <p:cNvPr id="13" name="Rounded Rectangle 12"/>
          <p:cNvSpPr/>
          <p:nvPr/>
        </p:nvSpPr>
        <p:spPr>
          <a:xfrm>
            <a:off x="8669855" y="2763851"/>
            <a:ext cx="2762969" cy="23915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000" b="1" dirty="0" smtClean="0">
                <a:solidFill>
                  <a:sysClr val="windowText" lastClr="000000"/>
                </a:solidFill>
              </a:rPr>
              <a:t>Granular Recommendations – PIN 500001</a:t>
            </a:r>
            <a:endParaRPr lang="en-IN" sz="1000" b="1" dirty="0">
              <a:solidFill>
                <a:sysClr val="windowText" lastClr="000000"/>
              </a:solidFill>
            </a:endParaRPr>
          </a:p>
        </p:txBody>
      </p:sp>
      <p:sp>
        <p:nvSpPr>
          <p:cNvPr id="27" name="Rectangle 26"/>
          <p:cNvSpPr/>
          <p:nvPr/>
        </p:nvSpPr>
        <p:spPr>
          <a:xfrm>
            <a:off x="504094" y="5288554"/>
            <a:ext cx="7247203" cy="1506139"/>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200" dirty="0" smtClean="0">
                <a:solidFill>
                  <a:schemeClr val="tx1"/>
                </a:solidFill>
              </a:rPr>
              <a:t>Model for Aggregated Location Potential using</a:t>
            </a:r>
          </a:p>
          <a:p>
            <a:r>
              <a:rPr lang="en-IN" sz="1200" dirty="0" smtClean="0">
                <a:solidFill>
                  <a:schemeClr val="tx1"/>
                </a:solidFill>
              </a:rPr>
              <a:t> </a:t>
            </a:r>
          </a:p>
          <a:p>
            <a:r>
              <a:rPr lang="en-IN" sz="1200" b="1" dirty="0" smtClean="0">
                <a:solidFill>
                  <a:schemeClr val="tx1"/>
                </a:solidFill>
              </a:rPr>
              <a:t>Target</a:t>
            </a:r>
            <a:r>
              <a:rPr lang="en-IN" sz="1200" dirty="0" smtClean="0">
                <a:solidFill>
                  <a:schemeClr val="tx1"/>
                </a:solidFill>
              </a:rPr>
              <a:t> – ATM data based indicators</a:t>
            </a:r>
          </a:p>
          <a:p>
            <a:r>
              <a:rPr lang="en-IN" sz="1200" b="1" dirty="0" smtClean="0">
                <a:solidFill>
                  <a:schemeClr val="tx1"/>
                </a:solidFill>
              </a:rPr>
              <a:t>Predictors</a:t>
            </a:r>
            <a:r>
              <a:rPr lang="en-IN" sz="1200" dirty="0" smtClean="0">
                <a:solidFill>
                  <a:schemeClr val="tx1"/>
                </a:solidFill>
              </a:rPr>
              <a:t> – Aggregated </a:t>
            </a:r>
            <a:r>
              <a:rPr lang="en-IN" sz="1200" dirty="0" err="1" smtClean="0">
                <a:solidFill>
                  <a:schemeClr val="tx1"/>
                </a:solidFill>
              </a:rPr>
              <a:t>TataIQ</a:t>
            </a:r>
            <a:r>
              <a:rPr lang="en-IN" sz="1200" dirty="0" smtClean="0">
                <a:solidFill>
                  <a:schemeClr val="tx1"/>
                </a:solidFill>
              </a:rPr>
              <a:t> data   </a:t>
            </a:r>
          </a:p>
        </p:txBody>
      </p:sp>
      <p:sp>
        <p:nvSpPr>
          <p:cNvPr id="28" name="Rounded Rectangle 27"/>
          <p:cNvSpPr/>
          <p:nvPr/>
        </p:nvSpPr>
        <p:spPr>
          <a:xfrm>
            <a:off x="829993" y="5166729"/>
            <a:ext cx="6696221" cy="318774"/>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t>Application 2 – Model with Aggregated ATM data as Target </a:t>
            </a:r>
            <a:endParaRPr lang="en-IN" sz="1600" dirty="0"/>
          </a:p>
        </p:txBody>
      </p:sp>
      <p:sp>
        <p:nvSpPr>
          <p:cNvPr id="15" name="TextBox 14"/>
          <p:cNvSpPr txBox="1"/>
          <p:nvPr/>
        </p:nvSpPr>
        <p:spPr bwMode="gray">
          <a:xfrm>
            <a:off x="7636055" y="3626598"/>
            <a:ext cx="1153552" cy="365760"/>
          </a:xfrm>
          <a:prstGeom prst="rect">
            <a:avLst/>
          </a:prstGeom>
        </p:spPr>
        <p:txBody>
          <a:bodyPr vert="horz" wrap="square" lIns="91440" tIns="45720" rIns="91440" bIns="45720" rtlCol="0" anchor="ctr">
            <a:noAutofit/>
          </a:bodyPr>
          <a:lstStyle/>
          <a:p>
            <a:pPr algn="ctr"/>
            <a:r>
              <a:rPr lang="en-IN" sz="800" dirty="0" smtClean="0"/>
              <a:t>Potential Recommendation</a:t>
            </a:r>
          </a:p>
        </p:txBody>
      </p:sp>
      <p:cxnSp>
        <p:nvCxnSpPr>
          <p:cNvPr id="38" name="Elbow Connector 37"/>
          <p:cNvCxnSpPr>
            <a:stCxn id="15" idx="2"/>
          </p:cNvCxnSpPr>
          <p:nvPr/>
        </p:nvCxnSpPr>
        <p:spPr>
          <a:xfrm rot="5400000">
            <a:off x="7885677" y="3857980"/>
            <a:ext cx="192777" cy="46153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 Placeholder 4"/>
          <p:cNvSpPr>
            <a:spLocks noGrp="1"/>
          </p:cNvSpPr>
          <p:nvPr>
            <p:ph type="body" sz="quarter" idx="13"/>
          </p:nvPr>
        </p:nvSpPr>
        <p:spPr>
          <a:xfrm>
            <a:off x="404265" y="1175302"/>
            <a:ext cx="11113180" cy="582362"/>
          </a:xfrm>
        </p:spPr>
        <p:txBody>
          <a:bodyPr vert="horz" lIns="91440" tIns="45720" rIns="91440" bIns="45720" rtlCol="0">
            <a:normAutofit fontScale="92500" lnSpcReduction="10000"/>
          </a:bodyPr>
          <a:lstStyle/>
          <a:p>
            <a:r>
              <a:rPr lang="en-IN" dirty="0" smtClean="0"/>
              <a:t>The ATM level data can be used to fine tune the results obtained by using other aggregated data. It can also be used to create modelled attributes at PIN/Ward level</a:t>
            </a:r>
            <a:endParaRPr lang="en-IN" dirty="0"/>
          </a:p>
        </p:txBody>
      </p:sp>
      <p:cxnSp>
        <p:nvCxnSpPr>
          <p:cNvPr id="20" name="Straight Connector 19"/>
          <p:cNvCxnSpPr/>
          <p:nvPr/>
        </p:nvCxnSpPr>
        <p:spPr>
          <a:xfrm>
            <a:off x="458330" y="1736036"/>
            <a:ext cx="11116101" cy="0"/>
          </a:xfrm>
          <a:prstGeom prst="line">
            <a:avLst/>
          </a:prstGeom>
          <a:ln w="28575">
            <a:solidFill>
              <a:srgbClr val="1C578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4850307"/>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Boardroom">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txDef>
      <a:spPr bwMode="gray"/>
      <a:bodyPr vert="horz" lIns="91440" tIns="45720" rIns="91440" bIns="45720" rtlCol="0" anchor="ctr">
        <a:noAutofit/>
      </a:bodyPr>
      <a:lstStyle>
        <a:defPPr>
          <a:defRPr sz="2000" dirty="0" smtClean="0"/>
        </a:defPPr>
      </a:lstStyle>
    </a:txDef>
  </a:objectDefaults>
  <a:extraClrSchemeLst/>
  <a:extLst>
    <a:ext uri="{05A4C25C-085E-4340-85A3-A5531E510DB2}">
      <thm15:themeFamily xmlns:thm15="http://schemas.microsoft.com/office/thememl/2012/main" name="Ion Boardroom" id="{FC33163D-4339-46B1-8EED-24C834239D99}" vid="{A3AB87EF-B655-4FFF-8D05-F333AD7F27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5695</TotalTime>
  <Words>3608</Words>
  <Application>Microsoft Office PowerPoint</Application>
  <PresentationFormat>Widescreen</PresentationFormat>
  <Paragraphs>1296</Paragraphs>
  <Slides>25</Slides>
  <Notes>1</Notes>
  <HiddenSlides>5</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Arial</vt:lpstr>
      <vt:lpstr>Calibri</vt:lpstr>
      <vt:lpstr>Century Gothic</vt:lpstr>
      <vt:lpstr>Consolas</vt:lpstr>
      <vt:lpstr>Times New Roman</vt:lpstr>
      <vt:lpstr>Wingdings</vt:lpstr>
      <vt:lpstr>Wingdings 3</vt:lpstr>
      <vt:lpstr>Ion Boardroom</vt:lpstr>
      <vt:lpstr>Consumer Analytics Division   26/11/2015 </vt:lpstr>
      <vt:lpstr>Background</vt:lpstr>
      <vt:lpstr>Optimal Store Location Model - Approach</vt:lpstr>
      <vt:lpstr>Model Application</vt:lpstr>
      <vt:lpstr>Model Application – Competitor Presence</vt:lpstr>
      <vt:lpstr>Model Application – Croma Sales Potential</vt:lpstr>
      <vt:lpstr>Model Application – Croma Sales Potential</vt:lpstr>
      <vt:lpstr>Model Results – Relative Location Attractiveness Scores</vt:lpstr>
      <vt:lpstr>Thank You</vt:lpstr>
      <vt:lpstr>Background</vt:lpstr>
      <vt:lpstr>The Business Problem</vt:lpstr>
      <vt:lpstr>Optimal Store Location Model - Approach: Catchment Area</vt:lpstr>
      <vt:lpstr>Defining Store Catchment Area – at PIN level</vt:lpstr>
      <vt:lpstr>Studying Store Catchment Area</vt:lpstr>
      <vt:lpstr>Probability of Visit</vt:lpstr>
      <vt:lpstr>Potential of PIN- Logistic Regression</vt:lpstr>
      <vt:lpstr>Potential of PIN - Logistic Regression Results</vt:lpstr>
      <vt:lpstr>Computing Model Results</vt:lpstr>
      <vt:lpstr>Results</vt:lpstr>
      <vt:lpstr>Current State</vt:lpstr>
      <vt:lpstr>Potential Considerations</vt:lpstr>
      <vt:lpstr>Analysis – Next Steps</vt:lpstr>
      <vt:lpstr>Store Analytics</vt:lpstr>
      <vt:lpstr>Store Analytics</vt:lpstr>
      <vt:lpstr>Applications of TATA Communications ATM Data</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Manbir Singh Tandon</dc:creator>
  <cp:lastModifiedBy>C R Ganesh</cp:lastModifiedBy>
  <cp:revision>329</cp:revision>
  <dcterms:created xsi:type="dcterms:W3CDTF">2015-10-03T04:35:34Z</dcterms:created>
  <dcterms:modified xsi:type="dcterms:W3CDTF">2015-11-25T07:16:57Z</dcterms:modified>
</cp:coreProperties>
</file>
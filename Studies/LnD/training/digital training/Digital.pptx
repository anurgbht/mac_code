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1"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5B97B4E-5529-4759-808C-3D803ED760C8}" type="datetimeFigureOut">
              <a:rPr lang="en-US" smtClean="0"/>
              <a:t>8/29/2016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E211BC-6181-4A24-93A6-62012854A0E3}" type="slidenum">
              <a:rPr lang="en-US" smtClean="0"/>
              <a:t>‹#›</a:t>
            </a:fld>
            <a:endParaRPr lang="en-US"/>
          </a:p>
        </p:txBody>
      </p:sp>
    </p:spTree>
    <p:extLst>
      <p:ext uri="{BB962C8B-B14F-4D97-AF65-F5344CB8AC3E}">
        <p14:creationId xmlns:p14="http://schemas.microsoft.com/office/powerpoint/2010/main" val="857833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B97B4E-5529-4759-808C-3D803ED760C8}" type="datetimeFigureOut">
              <a:rPr lang="en-US" smtClean="0"/>
              <a:t>8/29/2016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E211BC-6181-4A24-93A6-62012854A0E3}" type="slidenum">
              <a:rPr lang="en-US" smtClean="0"/>
              <a:t>‹#›</a:t>
            </a:fld>
            <a:endParaRPr lang="en-US"/>
          </a:p>
        </p:txBody>
      </p:sp>
    </p:spTree>
    <p:extLst>
      <p:ext uri="{BB962C8B-B14F-4D97-AF65-F5344CB8AC3E}">
        <p14:creationId xmlns:p14="http://schemas.microsoft.com/office/powerpoint/2010/main" val="1528578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B97B4E-5529-4759-808C-3D803ED760C8}" type="datetimeFigureOut">
              <a:rPr lang="en-US" smtClean="0"/>
              <a:t>8/29/2016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E211BC-6181-4A24-93A6-62012854A0E3}" type="slidenum">
              <a:rPr lang="en-US" smtClean="0"/>
              <a:t>‹#›</a:t>
            </a:fld>
            <a:endParaRPr lang="en-US"/>
          </a:p>
        </p:txBody>
      </p:sp>
    </p:spTree>
    <p:extLst>
      <p:ext uri="{BB962C8B-B14F-4D97-AF65-F5344CB8AC3E}">
        <p14:creationId xmlns:p14="http://schemas.microsoft.com/office/powerpoint/2010/main" val="3870336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5B97B4E-5529-4759-808C-3D803ED760C8}" type="datetimeFigureOut">
              <a:rPr lang="en-US" smtClean="0"/>
              <a:t>8/29/2016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E211BC-6181-4A24-93A6-62012854A0E3}" type="slidenum">
              <a:rPr lang="en-US" smtClean="0"/>
              <a:t>‹#›</a:t>
            </a:fld>
            <a:endParaRPr lang="en-US"/>
          </a:p>
        </p:txBody>
      </p:sp>
    </p:spTree>
    <p:extLst>
      <p:ext uri="{BB962C8B-B14F-4D97-AF65-F5344CB8AC3E}">
        <p14:creationId xmlns:p14="http://schemas.microsoft.com/office/powerpoint/2010/main" val="1027623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5B97B4E-5529-4759-808C-3D803ED760C8}" type="datetimeFigureOut">
              <a:rPr lang="en-US" smtClean="0"/>
              <a:t>8/29/2016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CE211BC-6181-4A24-93A6-62012854A0E3}" type="slidenum">
              <a:rPr lang="en-US" smtClean="0"/>
              <a:t>‹#›</a:t>
            </a:fld>
            <a:endParaRPr lang="en-US"/>
          </a:p>
        </p:txBody>
      </p:sp>
    </p:spTree>
    <p:extLst>
      <p:ext uri="{BB962C8B-B14F-4D97-AF65-F5344CB8AC3E}">
        <p14:creationId xmlns:p14="http://schemas.microsoft.com/office/powerpoint/2010/main" val="3600223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5B97B4E-5529-4759-808C-3D803ED760C8}" type="datetimeFigureOut">
              <a:rPr lang="en-US" smtClean="0"/>
              <a:t>8/29/2016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CE211BC-6181-4A24-93A6-62012854A0E3}" type="slidenum">
              <a:rPr lang="en-US" smtClean="0"/>
              <a:t>‹#›</a:t>
            </a:fld>
            <a:endParaRPr lang="en-US"/>
          </a:p>
        </p:txBody>
      </p:sp>
    </p:spTree>
    <p:extLst>
      <p:ext uri="{BB962C8B-B14F-4D97-AF65-F5344CB8AC3E}">
        <p14:creationId xmlns:p14="http://schemas.microsoft.com/office/powerpoint/2010/main" val="3947246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B97B4E-5529-4759-808C-3D803ED760C8}" type="datetimeFigureOut">
              <a:rPr lang="en-US" smtClean="0"/>
              <a:t>8/29/2016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CE211BC-6181-4A24-93A6-62012854A0E3}" type="slidenum">
              <a:rPr lang="en-US" smtClean="0"/>
              <a:t>‹#›</a:t>
            </a:fld>
            <a:endParaRPr lang="en-US"/>
          </a:p>
        </p:txBody>
      </p:sp>
    </p:spTree>
    <p:extLst>
      <p:ext uri="{BB962C8B-B14F-4D97-AF65-F5344CB8AC3E}">
        <p14:creationId xmlns:p14="http://schemas.microsoft.com/office/powerpoint/2010/main" val="3689392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B97B4E-5529-4759-808C-3D803ED760C8}" type="datetimeFigureOut">
              <a:rPr lang="en-US" smtClean="0"/>
              <a:t>8/29/2016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E211BC-6181-4A24-93A6-62012854A0E3}" type="slidenum">
              <a:rPr lang="en-US" smtClean="0"/>
              <a:t>‹#›</a:t>
            </a:fld>
            <a:endParaRPr lang="en-US"/>
          </a:p>
        </p:txBody>
      </p:sp>
    </p:spTree>
    <p:extLst>
      <p:ext uri="{BB962C8B-B14F-4D97-AF65-F5344CB8AC3E}">
        <p14:creationId xmlns:p14="http://schemas.microsoft.com/office/powerpoint/2010/main" val="4273113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B97B4E-5529-4759-808C-3D803ED760C8}" type="datetimeFigureOut">
              <a:rPr lang="en-US" smtClean="0"/>
              <a:t>8/29/2016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E211BC-6181-4A24-93A6-62012854A0E3}" type="slidenum">
              <a:rPr lang="en-US" smtClean="0"/>
              <a:t>‹#›</a:t>
            </a:fld>
            <a:endParaRPr lang="en-US"/>
          </a:p>
        </p:txBody>
      </p:sp>
    </p:spTree>
    <p:extLst>
      <p:ext uri="{BB962C8B-B14F-4D97-AF65-F5344CB8AC3E}">
        <p14:creationId xmlns:p14="http://schemas.microsoft.com/office/powerpoint/2010/main" val="1291881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B97B4E-5529-4759-808C-3D803ED760C8}" type="datetimeFigureOut">
              <a:rPr lang="en-US" smtClean="0"/>
              <a:t>8/29/2016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E211BC-6181-4A24-93A6-62012854A0E3}" type="slidenum">
              <a:rPr lang="en-US" smtClean="0"/>
              <a:t>‹#›</a:t>
            </a:fld>
            <a:endParaRPr lang="en-US"/>
          </a:p>
        </p:txBody>
      </p:sp>
    </p:spTree>
    <p:extLst>
      <p:ext uri="{BB962C8B-B14F-4D97-AF65-F5344CB8AC3E}">
        <p14:creationId xmlns:p14="http://schemas.microsoft.com/office/powerpoint/2010/main" val="668594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B97B4E-5529-4759-808C-3D803ED760C8}" type="datetimeFigureOut">
              <a:rPr lang="en-US" smtClean="0"/>
              <a:t>8/29/2016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E211BC-6181-4A24-93A6-62012854A0E3}" type="slidenum">
              <a:rPr lang="en-US" smtClean="0"/>
              <a:t>‹#›</a:t>
            </a:fld>
            <a:endParaRPr lang="en-US"/>
          </a:p>
        </p:txBody>
      </p:sp>
    </p:spTree>
    <p:extLst>
      <p:ext uri="{BB962C8B-B14F-4D97-AF65-F5344CB8AC3E}">
        <p14:creationId xmlns:p14="http://schemas.microsoft.com/office/powerpoint/2010/main" val="1726745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B97B4E-5529-4759-808C-3D803ED760C8}" type="datetimeFigureOut">
              <a:rPr lang="en-US" smtClean="0"/>
              <a:t>8/29/2016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E211BC-6181-4A24-93A6-62012854A0E3}" type="slidenum">
              <a:rPr lang="en-US" smtClean="0"/>
              <a:t>‹#›</a:t>
            </a:fld>
            <a:endParaRPr lang="en-US"/>
          </a:p>
        </p:txBody>
      </p:sp>
    </p:spTree>
    <p:extLst>
      <p:ext uri="{BB962C8B-B14F-4D97-AF65-F5344CB8AC3E}">
        <p14:creationId xmlns:p14="http://schemas.microsoft.com/office/powerpoint/2010/main" val="2306323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22454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835" y="106017"/>
            <a:ext cx="11963400" cy="543339"/>
          </a:xfrm>
        </p:spPr>
        <p:txBody>
          <a:bodyPr>
            <a:normAutofit/>
          </a:bodyPr>
          <a:lstStyle/>
          <a:p>
            <a:pPr algn="ctr"/>
            <a:r>
              <a:rPr lang="en-US" sz="3200" dirty="0">
                <a:latin typeface="Cambria" panose="02040503050406030204" pitchFamily="18" charset="0"/>
              </a:rPr>
              <a:t>Toyota</a:t>
            </a:r>
          </a:p>
        </p:txBody>
      </p:sp>
      <p:sp>
        <p:nvSpPr>
          <p:cNvPr id="3" name="Content Placeholder 2"/>
          <p:cNvSpPr>
            <a:spLocks noGrp="1"/>
          </p:cNvSpPr>
          <p:nvPr>
            <p:ph idx="1"/>
          </p:nvPr>
        </p:nvSpPr>
        <p:spPr>
          <a:xfrm>
            <a:off x="1" y="901148"/>
            <a:ext cx="12192000" cy="5956852"/>
          </a:xfrm>
        </p:spPr>
        <p:txBody>
          <a:bodyPr>
            <a:normAutofit/>
          </a:bodyPr>
          <a:lstStyle/>
          <a:p>
            <a:endParaRPr lang="en-US" sz="2000" dirty="0">
              <a:latin typeface="Cambria" panose="02040503050406030204" pitchFamily="18" charset="0"/>
            </a:endParaRPr>
          </a:p>
          <a:p>
            <a:r>
              <a:rPr lang="en-US" sz="2000" dirty="0">
                <a:latin typeface="Cambria" panose="02040503050406030204" pitchFamily="18" charset="0"/>
              </a:rPr>
              <a:t>Toyota launched its Global Vision to be a global high quality , trusted, automotive brand synonymous with innovation </a:t>
            </a:r>
          </a:p>
          <a:p>
            <a:pPr marL="0" indent="0">
              <a:buNone/>
            </a:pPr>
            <a:endParaRPr lang="en-US" sz="2000" dirty="0">
              <a:latin typeface="Cambria" panose="02040503050406030204" pitchFamily="18" charset="0"/>
            </a:endParaRPr>
          </a:p>
          <a:p>
            <a:r>
              <a:rPr lang="en-US" sz="2000" dirty="0">
                <a:latin typeface="Cambria" panose="02040503050406030204" pitchFamily="18" charset="0"/>
              </a:rPr>
              <a:t>Toyota is tapping into their universal sense of adventure. Its global “Feeling the Street” campaign allowed people to vote on their favorite street musicians from around the world and follow six winners on a New Zealand road trip</a:t>
            </a:r>
          </a:p>
          <a:p>
            <a:pPr marL="0" indent="0">
              <a:buNone/>
            </a:pPr>
            <a:endParaRPr lang="en-US" sz="2000" dirty="0">
              <a:latin typeface="Cambria" panose="02040503050406030204" pitchFamily="18" charset="0"/>
            </a:endParaRPr>
          </a:p>
          <a:p>
            <a:r>
              <a:rPr lang="en-US" sz="2000" dirty="0">
                <a:latin typeface="Cambria" panose="02040503050406030204" pitchFamily="18" charset="0"/>
              </a:rPr>
              <a:t>Toyota is also harnessing digital platforms and geo-targeting technologies to position its cars within the context of peoples’ lives</a:t>
            </a:r>
          </a:p>
          <a:p>
            <a:endParaRPr lang="en-US" sz="2000" dirty="0">
              <a:latin typeface="Cambria" panose="02040503050406030204" pitchFamily="18" charset="0"/>
            </a:endParaRPr>
          </a:p>
          <a:p>
            <a:r>
              <a:rPr lang="en-US" sz="2000" dirty="0">
                <a:latin typeface="Cambria" panose="02040503050406030204" pitchFamily="18" charset="0"/>
              </a:rPr>
              <a:t>In the U.S, Toyota targeted Los Angeles drivers with videos launched in the “Live Story” feature on Snapchat</a:t>
            </a:r>
          </a:p>
          <a:p>
            <a:pPr marL="0" indent="0">
              <a:buNone/>
            </a:pPr>
            <a:endParaRPr lang="en-US" sz="2000" dirty="0">
              <a:latin typeface="Cambria" panose="02040503050406030204" pitchFamily="18" charset="0"/>
            </a:endParaRPr>
          </a:p>
          <a:p>
            <a:r>
              <a:rPr lang="en-US" sz="2000" dirty="0">
                <a:latin typeface="Cambria" panose="02040503050406030204" pitchFamily="18" charset="0"/>
              </a:rPr>
              <a:t>Partnered with Google to customize ads in 15,000 U.S. cities that inspire real-life, local adventures</a:t>
            </a:r>
          </a:p>
        </p:txBody>
      </p:sp>
    </p:spTree>
    <p:extLst>
      <p:ext uri="{BB962C8B-B14F-4D97-AF65-F5344CB8AC3E}">
        <p14:creationId xmlns:p14="http://schemas.microsoft.com/office/powerpoint/2010/main" val="2927351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1999" cy="689112"/>
          </a:xfrm>
        </p:spPr>
        <p:txBody>
          <a:bodyPr>
            <a:normAutofit/>
          </a:bodyPr>
          <a:lstStyle/>
          <a:p>
            <a:pPr algn="ctr"/>
            <a:r>
              <a:rPr lang="en-US" sz="3200" dirty="0">
                <a:latin typeface="Cambria" panose="02040503050406030204" pitchFamily="18" charset="0"/>
              </a:rPr>
              <a:t>Toyota</a:t>
            </a:r>
          </a:p>
        </p:txBody>
      </p:sp>
      <p:sp>
        <p:nvSpPr>
          <p:cNvPr id="3" name="Content Placeholder 2"/>
          <p:cNvSpPr>
            <a:spLocks noGrp="1"/>
          </p:cNvSpPr>
          <p:nvPr>
            <p:ph idx="1"/>
          </p:nvPr>
        </p:nvSpPr>
        <p:spPr>
          <a:xfrm>
            <a:off x="-1" y="689113"/>
            <a:ext cx="12191999" cy="6168886"/>
          </a:xfrm>
        </p:spPr>
        <p:txBody>
          <a:bodyPr>
            <a:normAutofit/>
          </a:bodyPr>
          <a:lstStyle/>
          <a:p>
            <a:pPr fontAlgn="base"/>
            <a:endParaRPr lang="en-US" sz="2000" dirty="0">
              <a:latin typeface="Cambria" panose="02040503050406030204" pitchFamily="18" charset="0"/>
            </a:endParaRPr>
          </a:p>
          <a:p>
            <a:pPr fontAlgn="base"/>
            <a:endParaRPr lang="en-US" sz="2000" dirty="0">
              <a:latin typeface="Cambria" panose="02040503050406030204" pitchFamily="18" charset="0"/>
            </a:endParaRPr>
          </a:p>
          <a:p>
            <a:pPr fontAlgn="base"/>
            <a:r>
              <a:rPr lang="en-US" sz="2000" dirty="0">
                <a:latin typeface="Cambria" panose="02040503050406030204" pitchFamily="18" charset="0"/>
              </a:rPr>
              <a:t>This year Toyota launched new “Stand Together” (Lets go places) campaign. Toyota gathers people around the world and tries to give a message; “We generate power when we gather together “ . Grasping hands and connecting from everywhere in the world</a:t>
            </a:r>
          </a:p>
          <a:p>
            <a:pPr fontAlgn="base"/>
            <a:endParaRPr lang="en-US" sz="2000" dirty="0">
              <a:latin typeface="Cambria" panose="02040503050406030204" pitchFamily="18" charset="0"/>
            </a:endParaRPr>
          </a:p>
          <a:p>
            <a:pPr fontAlgn="base"/>
            <a:r>
              <a:rPr lang="en-US" sz="2000" dirty="0">
                <a:latin typeface="Cambria" panose="02040503050406030204" pitchFamily="18" charset="0"/>
              </a:rPr>
              <a:t>The ‘Toyota Hybrid Solutions’ regional Facebook page, promoting its 'Hybrid Synergy Drive' (HSD) technology is part of a wider above-the-line digital campaign</a:t>
            </a:r>
          </a:p>
          <a:p>
            <a:pPr fontAlgn="base"/>
            <a:endParaRPr lang="en-US" sz="2000" dirty="0">
              <a:latin typeface="Cambria" panose="02040503050406030204" pitchFamily="18" charset="0"/>
            </a:endParaRPr>
          </a:p>
          <a:p>
            <a:pPr marL="0" indent="0" fontAlgn="base">
              <a:buNone/>
            </a:pPr>
            <a:endParaRPr lang="en-US" sz="2000" dirty="0">
              <a:latin typeface="Cambria" panose="02040503050406030204" pitchFamily="18" charset="0"/>
            </a:endParaRPr>
          </a:p>
          <a:p>
            <a:r>
              <a:rPr lang="en-US" sz="2000" dirty="0">
                <a:latin typeface="Cambria" panose="02040503050406030204" pitchFamily="18" charset="0"/>
              </a:rPr>
              <a:t> Creating an entertaining YouTube brand channel, they combined digital production and video content to make the online research process more interactive and productive</a:t>
            </a:r>
          </a:p>
          <a:p>
            <a:pPr marL="0" indent="0">
              <a:buNone/>
            </a:pPr>
            <a:endParaRPr lang="en-US" b="1" dirty="0"/>
          </a:p>
        </p:txBody>
      </p:sp>
    </p:spTree>
    <p:extLst>
      <p:ext uri="{BB962C8B-B14F-4D97-AF65-F5344CB8AC3E}">
        <p14:creationId xmlns:p14="http://schemas.microsoft.com/office/powerpoint/2010/main" val="1949861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5774"/>
            <a:ext cx="12046226" cy="848139"/>
          </a:xfrm>
        </p:spPr>
        <p:txBody>
          <a:bodyPr>
            <a:normAutofit/>
          </a:bodyPr>
          <a:lstStyle/>
          <a:p>
            <a:pPr algn="ctr"/>
            <a:r>
              <a:rPr lang="en-US" sz="2800" dirty="0">
                <a:latin typeface="Cambria" panose="02040503050406030204" pitchFamily="18" charset="0"/>
              </a:rPr>
              <a:t>Samsung </a:t>
            </a:r>
          </a:p>
        </p:txBody>
      </p:sp>
      <p:sp>
        <p:nvSpPr>
          <p:cNvPr id="3" name="Content Placeholder 2"/>
          <p:cNvSpPr>
            <a:spLocks noGrp="1"/>
          </p:cNvSpPr>
          <p:nvPr>
            <p:ph idx="1"/>
          </p:nvPr>
        </p:nvSpPr>
        <p:spPr>
          <a:xfrm>
            <a:off x="0" y="993913"/>
            <a:ext cx="12192000" cy="5864086"/>
          </a:xfrm>
        </p:spPr>
        <p:txBody>
          <a:bodyPr>
            <a:normAutofit/>
          </a:bodyPr>
          <a:lstStyle/>
          <a:p>
            <a:endParaRPr lang="en-US" sz="2400" dirty="0">
              <a:latin typeface="Cambria" panose="02040503050406030204" pitchFamily="18" charset="0"/>
            </a:endParaRPr>
          </a:p>
          <a:p>
            <a:endParaRPr lang="en-US" sz="2400" dirty="0">
              <a:latin typeface="Cambria" panose="02040503050406030204" pitchFamily="18" charset="0"/>
            </a:endParaRPr>
          </a:p>
          <a:p>
            <a:r>
              <a:rPr lang="en-US" sz="2000" dirty="0">
                <a:latin typeface="Cambria" panose="02040503050406030204" pitchFamily="18" charset="0"/>
              </a:rPr>
              <a:t>Its global “Next is Now” campaign built anticipation around the launch of its Galaxy phones by previewing its innovative features</a:t>
            </a:r>
          </a:p>
          <a:p>
            <a:pPr marL="0" indent="0">
              <a:buNone/>
            </a:pPr>
            <a:endParaRPr lang="en-US" sz="2000" dirty="0">
              <a:latin typeface="Cambria" panose="02040503050406030204" pitchFamily="18" charset="0"/>
            </a:endParaRPr>
          </a:p>
          <a:p>
            <a:r>
              <a:rPr lang="en-US" sz="2000" dirty="0">
                <a:latin typeface="Cambria" panose="02040503050406030204" pitchFamily="18" charset="0"/>
              </a:rPr>
              <a:t>Samsung  aired  Ads during the 2015 Oscars .The ads align with a company-wide commitment to proving that digital innovation can enrich peoples’ lives</a:t>
            </a:r>
          </a:p>
          <a:p>
            <a:pPr marL="0" indent="0">
              <a:buNone/>
            </a:pPr>
            <a:endParaRPr lang="en-US" sz="2000" dirty="0">
              <a:latin typeface="Cambria" panose="02040503050406030204" pitchFamily="18" charset="0"/>
            </a:endParaRPr>
          </a:p>
          <a:p>
            <a:r>
              <a:rPr lang="en-US" sz="2000" dirty="0">
                <a:latin typeface="Cambria" panose="02040503050406030204" pitchFamily="18" charset="0"/>
              </a:rPr>
              <a:t>Its ongoing “Launching People” campaign, which shares the stories of people who use Samsung products to turn their visions</a:t>
            </a:r>
          </a:p>
          <a:p>
            <a:pPr marL="0" indent="0">
              <a:buNone/>
            </a:pPr>
            <a:endParaRPr lang="en-US" sz="2400" dirty="0">
              <a:latin typeface="Cambria" panose="02040503050406030204" pitchFamily="18" charset="0"/>
            </a:endParaRPr>
          </a:p>
          <a:p>
            <a:endParaRPr lang="en-US" dirty="0"/>
          </a:p>
        </p:txBody>
      </p:sp>
    </p:spTree>
    <p:extLst>
      <p:ext uri="{BB962C8B-B14F-4D97-AF65-F5344CB8AC3E}">
        <p14:creationId xmlns:p14="http://schemas.microsoft.com/office/powerpoint/2010/main" val="220028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052" y="172279"/>
            <a:ext cx="11035748" cy="649356"/>
          </a:xfrm>
        </p:spPr>
        <p:txBody>
          <a:bodyPr>
            <a:normAutofit fontScale="90000"/>
          </a:bodyPr>
          <a:lstStyle/>
          <a:p>
            <a:pPr algn="ctr"/>
            <a:r>
              <a:rPr lang="en-US" dirty="0">
                <a:latin typeface="Cambria" panose="02040503050406030204" pitchFamily="18" charset="0"/>
              </a:rPr>
              <a:t>Samsung </a:t>
            </a:r>
            <a:endParaRPr lang="en-US" dirty="0"/>
          </a:p>
        </p:txBody>
      </p:sp>
      <p:sp>
        <p:nvSpPr>
          <p:cNvPr id="3" name="Content Placeholder 2"/>
          <p:cNvSpPr>
            <a:spLocks noGrp="1"/>
          </p:cNvSpPr>
          <p:nvPr>
            <p:ph idx="1"/>
          </p:nvPr>
        </p:nvSpPr>
        <p:spPr>
          <a:xfrm>
            <a:off x="0" y="980661"/>
            <a:ext cx="12192000" cy="5877338"/>
          </a:xfrm>
        </p:spPr>
        <p:txBody>
          <a:bodyPr>
            <a:normAutofit/>
          </a:bodyPr>
          <a:lstStyle/>
          <a:p>
            <a:pPr fontAlgn="base"/>
            <a:endParaRPr lang="en-US" sz="2400" b="1" dirty="0">
              <a:latin typeface="Cambria" panose="02040503050406030204" pitchFamily="18" charset="0"/>
            </a:endParaRPr>
          </a:p>
          <a:p>
            <a:pPr fontAlgn="base"/>
            <a:endParaRPr lang="en-US" sz="2400" b="1" dirty="0">
              <a:latin typeface="Cambria" panose="02040503050406030204" pitchFamily="18" charset="0"/>
            </a:endParaRPr>
          </a:p>
          <a:p>
            <a:pPr fontAlgn="base"/>
            <a:r>
              <a:rPr lang="en-US" sz="2000" dirty="0">
                <a:latin typeface="Cambria" panose="02040503050406030204" pitchFamily="18" charset="0"/>
              </a:rPr>
              <a:t>Samsung Galaxy Note 7 , Busy </a:t>
            </a:r>
            <a:r>
              <a:rPr lang="en-US" sz="2000" dirty="0" err="1">
                <a:latin typeface="Cambria" panose="02040503050406030204" pitchFamily="18" charset="0"/>
              </a:rPr>
              <a:t>Busy</a:t>
            </a:r>
            <a:r>
              <a:rPr lang="en-US" sz="2000" dirty="0">
                <a:latin typeface="Cambria" panose="02040503050406030204" pitchFamily="18" charset="0"/>
              </a:rPr>
              <a:t> </a:t>
            </a:r>
            <a:r>
              <a:rPr lang="en-US" sz="2000" dirty="0" err="1">
                <a:latin typeface="Cambria" panose="02040503050406030204" pitchFamily="18" charset="0"/>
              </a:rPr>
              <a:t>Busy</a:t>
            </a:r>
            <a:r>
              <a:rPr lang="en-US" sz="2000" dirty="0">
                <a:latin typeface="Cambria" panose="02040503050406030204" pitchFamily="18" charset="0"/>
              </a:rPr>
              <a:t> campaign with Christoph Waltz:</a:t>
            </a:r>
          </a:p>
          <a:p>
            <a:pPr fontAlgn="base"/>
            <a:endParaRPr lang="en-US" sz="2000" dirty="0">
              <a:latin typeface="Cambria" panose="02040503050406030204" pitchFamily="18" charset="0"/>
            </a:endParaRPr>
          </a:p>
          <a:p>
            <a:pPr fontAlgn="base"/>
            <a:r>
              <a:rPr lang="en-US" sz="2000" dirty="0">
                <a:latin typeface="Cambria" panose="02040503050406030204" pitchFamily="18" charset="0"/>
              </a:rPr>
              <a:t>Galaxy Note 7 is defined by </a:t>
            </a:r>
            <a:r>
              <a:rPr lang="en-US" sz="2000" dirty="0" err="1">
                <a:latin typeface="Cambria" panose="02040503050406030204" pitchFamily="18" charset="0"/>
              </a:rPr>
              <a:t>Cristoph</a:t>
            </a:r>
            <a:r>
              <a:rPr lang="en-US" sz="2000" dirty="0">
                <a:latin typeface="Cambria" panose="02040503050406030204" pitchFamily="18" charset="0"/>
              </a:rPr>
              <a:t> Waltz. The smartphone Galaxy Note 7 allows people to multitask. The ad message says, take a picture of what you do and share extra-</a:t>
            </a:r>
            <a:r>
              <a:rPr lang="en-US" sz="2000" dirty="0" err="1">
                <a:latin typeface="Cambria" panose="02040503050406030204" pitchFamily="18" charset="0"/>
              </a:rPr>
              <a:t>curriculars</a:t>
            </a:r>
            <a:r>
              <a:rPr lang="en-US" sz="2000" dirty="0">
                <a:latin typeface="Cambria" panose="02040503050406030204" pitchFamily="18" charset="0"/>
              </a:rPr>
              <a:t> in a fun way</a:t>
            </a:r>
          </a:p>
          <a:p>
            <a:endParaRPr lang="en-US" sz="2000" dirty="0">
              <a:latin typeface="Cambria" panose="02040503050406030204" pitchFamily="18" charset="0"/>
            </a:endParaRPr>
          </a:p>
          <a:p>
            <a:r>
              <a:rPr lang="en-US" sz="2000" dirty="0">
                <a:latin typeface="Cambria" panose="02040503050406030204" pitchFamily="18" charset="0"/>
              </a:rPr>
              <a:t>Samsung Unpacking 1988 to 2016: Samsung’s release of the new Galaxy S7, Galaxy S7 edge and Gear 360 is being promoted with a commercial covering the unpacking of new models, from the release of the SH-100 mobile phone in 1988 to the first wristwatch phone, the world’s smallest TV phone to Samsung’s first MP3 phone.</a:t>
            </a:r>
          </a:p>
          <a:p>
            <a:endParaRPr lang="en-US" dirty="0"/>
          </a:p>
        </p:txBody>
      </p:sp>
    </p:spTree>
    <p:extLst>
      <p:ext uri="{BB962C8B-B14F-4D97-AF65-F5344CB8AC3E}">
        <p14:creationId xmlns:p14="http://schemas.microsoft.com/office/powerpoint/2010/main" val="2512168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774" y="92766"/>
            <a:ext cx="12046226" cy="954156"/>
          </a:xfrm>
        </p:spPr>
        <p:txBody>
          <a:bodyPr>
            <a:normAutofit/>
          </a:bodyPr>
          <a:lstStyle/>
          <a:p>
            <a:pPr algn="ctr"/>
            <a:r>
              <a:rPr lang="en-US" sz="4000" dirty="0">
                <a:latin typeface="Cambria" panose="02040503050406030204" pitchFamily="18" charset="0"/>
              </a:rPr>
              <a:t>GE</a:t>
            </a:r>
          </a:p>
        </p:txBody>
      </p:sp>
      <p:sp>
        <p:nvSpPr>
          <p:cNvPr id="3" name="Content Placeholder 2"/>
          <p:cNvSpPr>
            <a:spLocks noGrp="1"/>
          </p:cNvSpPr>
          <p:nvPr>
            <p:ph idx="1"/>
          </p:nvPr>
        </p:nvSpPr>
        <p:spPr>
          <a:xfrm>
            <a:off x="0" y="715618"/>
            <a:ext cx="12191999" cy="6142382"/>
          </a:xfrm>
        </p:spPr>
        <p:txBody>
          <a:bodyPr>
            <a:normAutofit/>
          </a:bodyPr>
          <a:lstStyle/>
          <a:p>
            <a:endParaRPr lang="en-US" sz="2000" dirty="0">
              <a:latin typeface="Cambria" panose="02040503050406030204" pitchFamily="18" charset="0"/>
            </a:endParaRPr>
          </a:p>
          <a:p>
            <a:endParaRPr lang="en-US" sz="2000" dirty="0">
              <a:latin typeface="Cambria" panose="02040503050406030204" pitchFamily="18" charset="0"/>
            </a:endParaRPr>
          </a:p>
          <a:p>
            <a:r>
              <a:rPr lang="en-US" sz="2000" dirty="0">
                <a:latin typeface="Cambria" panose="02040503050406030204" pitchFamily="18" charset="0"/>
              </a:rPr>
              <a:t>GE’s marketing efforts have focused on new storytelling platforms</a:t>
            </a:r>
          </a:p>
          <a:p>
            <a:endParaRPr lang="en-US" sz="2000" dirty="0">
              <a:latin typeface="Cambria" panose="02040503050406030204" pitchFamily="18" charset="0"/>
            </a:endParaRPr>
          </a:p>
          <a:p>
            <a:r>
              <a:rPr lang="en-US" sz="2000" dirty="0">
                <a:latin typeface="Cambria" panose="02040503050406030204" pitchFamily="18" charset="0"/>
              </a:rPr>
              <a:t> 35–40 percent of its marketing budget allocated to digital media</a:t>
            </a:r>
          </a:p>
          <a:p>
            <a:endParaRPr lang="en-US" sz="2000" dirty="0">
              <a:latin typeface="Cambria" panose="02040503050406030204" pitchFamily="18" charset="0"/>
            </a:endParaRPr>
          </a:p>
          <a:p>
            <a:r>
              <a:rPr lang="en-US" sz="2000" dirty="0">
                <a:latin typeface="Cambria" panose="02040503050406030204" pitchFamily="18" charset="0"/>
              </a:rPr>
              <a:t>Apart from Facebook, Twitter, YouTube, Instagram  the company is tapping into platforms like </a:t>
            </a:r>
            <a:r>
              <a:rPr lang="en-US" sz="2000" dirty="0" err="1">
                <a:latin typeface="Cambria" panose="02040503050406030204" pitchFamily="18" charset="0"/>
              </a:rPr>
              <a:t>Wattpad</a:t>
            </a:r>
            <a:r>
              <a:rPr lang="en-US" sz="2000" dirty="0">
                <a:latin typeface="Cambria" panose="02040503050406030204" pitchFamily="18" charset="0"/>
              </a:rPr>
              <a:t>, Vine, Tumblr, and Snapchat to spark conversations with audiences and solve real business problems, both by curating new ideas and pushing industry-leading</a:t>
            </a:r>
          </a:p>
          <a:p>
            <a:pPr marL="0" indent="0">
              <a:buNone/>
            </a:pPr>
            <a:endParaRPr lang="en-US" sz="2000" dirty="0">
              <a:latin typeface="Cambria" panose="02040503050406030204" pitchFamily="18" charset="0"/>
            </a:endParaRPr>
          </a:p>
          <a:p>
            <a:r>
              <a:rPr lang="en-US" sz="2000" dirty="0">
                <a:latin typeface="Cambria" panose="02040503050406030204" pitchFamily="18" charset="0"/>
              </a:rPr>
              <a:t>GE invites Instagram influencers to tour the GE facilities, encouraging them to share this rare look behind the scenes using  the hashtag #</a:t>
            </a:r>
            <a:r>
              <a:rPr lang="en-US" sz="2000" dirty="0" err="1">
                <a:latin typeface="Cambria" panose="02040503050406030204" pitchFamily="18" charset="0"/>
              </a:rPr>
              <a:t>GEInstaWalk</a:t>
            </a:r>
            <a:endParaRPr lang="en-US" sz="2000" dirty="0">
              <a:latin typeface="Cambria" panose="02040503050406030204" pitchFamily="18" charset="0"/>
            </a:endParaRPr>
          </a:p>
          <a:p>
            <a:endParaRPr lang="en-US" sz="2000" dirty="0">
              <a:latin typeface="Cambria" panose="02040503050406030204" pitchFamily="18" charset="0"/>
            </a:endParaRPr>
          </a:p>
          <a:p>
            <a:pPr marL="0" indent="0">
              <a:buNone/>
            </a:pPr>
            <a:endParaRPr lang="en-US" sz="2000" dirty="0">
              <a:latin typeface="Cambria" panose="02040503050406030204" pitchFamily="18" charset="0"/>
            </a:endParaRPr>
          </a:p>
          <a:p>
            <a:r>
              <a:rPr lang="en-US" sz="2000" dirty="0">
                <a:latin typeface="Cambria" panose="02040503050406030204" pitchFamily="18" charset="0"/>
              </a:rPr>
              <a:t>Just recently, it rolled out a series of commercials with the tagline “The Digital Company. That’s Also an Industrial Company”</a:t>
            </a:r>
          </a:p>
          <a:p>
            <a:endParaRPr lang="en-US" dirty="0">
              <a:latin typeface="Cambria" panose="02040503050406030204" pitchFamily="18" charset="0"/>
            </a:endParaRPr>
          </a:p>
          <a:p>
            <a:endParaRPr lang="en-US" dirty="0"/>
          </a:p>
          <a:p>
            <a:endParaRPr lang="en-US" dirty="0"/>
          </a:p>
        </p:txBody>
      </p:sp>
    </p:spTree>
    <p:extLst>
      <p:ext uri="{BB962C8B-B14F-4D97-AF65-F5344CB8AC3E}">
        <p14:creationId xmlns:p14="http://schemas.microsoft.com/office/powerpoint/2010/main" val="21000504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36104"/>
          </a:xfrm>
        </p:spPr>
        <p:txBody>
          <a:bodyPr>
            <a:normAutofit/>
          </a:bodyPr>
          <a:lstStyle/>
          <a:p>
            <a:pPr algn="ctr"/>
            <a:r>
              <a:rPr lang="en-US" sz="2800" b="1" dirty="0">
                <a:latin typeface="Cambria" panose="02040503050406030204" pitchFamily="18" charset="0"/>
              </a:rPr>
              <a:t>McDonald’s</a:t>
            </a:r>
          </a:p>
        </p:txBody>
      </p:sp>
      <p:sp>
        <p:nvSpPr>
          <p:cNvPr id="3" name="Content Placeholder 2"/>
          <p:cNvSpPr>
            <a:spLocks noGrp="1"/>
          </p:cNvSpPr>
          <p:nvPr>
            <p:ph idx="1"/>
          </p:nvPr>
        </p:nvSpPr>
        <p:spPr>
          <a:xfrm>
            <a:off x="198782" y="940904"/>
            <a:ext cx="11993217" cy="5917096"/>
          </a:xfrm>
        </p:spPr>
        <p:txBody>
          <a:bodyPr>
            <a:normAutofit/>
          </a:bodyPr>
          <a:lstStyle/>
          <a:p>
            <a:endParaRPr lang="en-US" sz="2000" dirty="0">
              <a:latin typeface="Cambria" panose="02040503050406030204" pitchFamily="18" charset="0"/>
            </a:endParaRPr>
          </a:p>
          <a:p>
            <a:r>
              <a:rPr lang="en-US" sz="1800" dirty="0">
                <a:latin typeface="Cambria" panose="02040503050406030204" pitchFamily="18" charset="0"/>
              </a:rPr>
              <a:t>McDonald's Launches 'Moments of Joy' in 24 Cities #</a:t>
            </a:r>
            <a:r>
              <a:rPr lang="en-US" sz="1800" dirty="0" err="1">
                <a:latin typeface="Cambria" panose="02040503050406030204" pitchFamily="18" charset="0"/>
              </a:rPr>
              <a:t>imlovinit</a:t>
            </a:r>
            <a:r>
              <a:rPr lang="en-US" sz="1800" dirty="0">
                <a:latin typeface="Cambria" panose="02040503050406030204" pitchFamily="18" charset="0"/>
              </a:rPr>
              <a:t> campaign . 24 gifts of joy. In 24 cities. Over 24 hours. "Moments of joy" marks McDonald's biggest global push since "I'm </a:t>
            </a:r>
            <a:r>
              <a:rPr lang="en-US" sz="1800" dirty="0" err="1">
                <a:latin typeface="Cambria" panose="02040503050406030204" pitchFamily="18" charset="0"/>
              </a:rPr>
              <a:t>lovin</a:t>
            </a:r>
            <a:r>
              <a:rPr lang="en-US" sz="1800" dirty="0">
                <a:latin typeface="Cambria" panose="02040503050406030204" pitchFamily="18" charset="0"/>
              </a:rPr>
              <a:t>' it,"</a:t>
            </a:r>
          </a:p>
          <a:p>
            <a:endParaRPr lang="en-US" sz="2000" dirty="0">
              <a:latin typeface="Cambria" panose="02040503050406030204" pitchFamily="18" charset="0"/>
            </a:endParaRPr>
          </a:p>
          <a:p>
            <a:r>
              <a:rPr lang="en-US" sz="2000" dirty="0">
                <a:latin typeface="Cambria" panose="02040503050406030204" pitchFamily="18" charset="0"/>
              </a:rPr>
              <a:t>The company opened up a line of dialogue by expanding its “Our food. Your questions.” initiative, a social media campaign that aims to answer all customer questions transparently</a:t>
            </a:r>
          </a:p>
          <a:p>
            <a:pPr marL="0" indent="0">
              <a:buNone/>
            </a:pPr>
            <a:endParaRPr lang="en-US" sz="2000" dirty="0">
              <a:latin typeface="Cambria" panose="02040503050406030204" pitchFamily="18" charset="0"/>
            </a:endParaRPr>
          </a:p>
          <a:p>
            <a:r>
              <a:rPr lang="en-US" sz="2000" dirty="0">
                <a:latin typeface="Cambria" panose="02040503050406030204" pitchFamily="18" charset="0"/>
              </a:rPr>
              <a:t>McDonald’s Is the First Brand to Use Snapchat’s Latest Sponsored </a:t>
            </a:r>
            <a:r>
              <a:rPr lang="en-US" sz="2000" dirty="0" err="1">
                <a:latin typeface="Cambria" panose="02040503050406030204" pitchFamily="18" charset="0"/>
              </a:rPr>
              <a:t>Geofilters</a:t>
            </a:r>
            <a:r>
              <a:rPr lang="en-US" sz="2000" dirty="0">
                <a:latin typeface="Cambria" panose="02040503050406030204" pitchFamily="18" charset="0"/>
              </a:rPr>
              <a:t>.</a:t>
            </a:r>
          </a:p>
          <a:p>
            <a:endParaRPr lang="en-US" sz="2000" dirty="0">
              <a:latin typeface="Cambria" panose="02040503050406030204" pitchFamily="18" charset="0"/>
            </a:endParaRPr>
          </a:p>
          <a:p>
            <a:r>
              <a:rPr lang="en-US" sz="2000" dirty="0">
                <a:latin typeface="Cambria" panose="02040503050406030204" pitchFamily="18" charset="0"/>
              </a:rPr>
              <a:t>Users can head to any US McDonald’s store and use this feature to add more color and life to their snaps. The feature is met with a lot of enthusiasm by fans on twitter </a:t>
            </a:r>
          </a:p>
          <a:p>
            <a:endParaRPr lang="en-US" sz="1800" dirty="0">
              <a:latin typeface="Cambria" panose="02040503050406030204" pitchFamily="18" charset="0"/>
            </a:endParaRPr>
          </a:p>
          <a:p>
            <a:pPr marL="0" indent="0">
              <a:buNone/>
            </a:pPr>
            <a:endParaRPr lang="en-US" dirty="0"/>
          </a:p>
          <a:p>
            <a:endParaRPr lang="en-US"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3448463" y="5062330"/>
            <a:ext cx="3310145" cy="1613453"/>
          </a:xfrm>
          <a:prstGeom prst="rect">
            <a:avLst/>
          </a:prstGeom>
          <a:noFill/>
          <a:ln>
            <a:noFill/>
          </a:ln>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7453520" y="4969564"/>
            <a:ext cx="3214481" cy="1798983"/>
          </a:xfrm>
          <a:prstGeom prst="rect">
            <a:avLst/>
          </a:prstGeom>
          <a:noFill/>
          <a:ln>
            <a:noFill/>
          </a:ln>
        </p:spPr>
      </p:pic>
    </p:spTree>
    <p:extLst>
      <p:ext uri="{BB962C8B-B14F-4D97-AF65-F5344CB8AC3E}">
        <p14:creationId xmlns:p14="http://schemas.microsoft.com/office/powerpoint/2010/main" val="13075166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471</Words>
  <Application>Microsoft Office PowerPoint</Application>
  <PresentationFormat>Widescreen</PresentationFormat>
  <Paragraphs>60</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Cambria</vt:lpstr>
      <vt:lpstr>Office Theme</vt:lpstr>
      <vt:lpstr>PowerPoint Presentation</vt:lpstr>
      <vt:lpstr>Toyota</vt:lpstr>
      <vt:lpstr>Toyota</vt:lpstr>
      <vt:lpstr>Samsung </vt:lpstr>
      <vt:lpstr>Samsung </vt:lpstr>
      <vt:lpstr>GE</vt:lpstr>
      <vt:lpstr>McDonald’s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Anupam  Naskar</dc:creator>
  <cp:lastModifiedBy>Anupam  Naskar</cp:lastModifiedBy>
  <cp:revision>17</cp:revision>
  <dcterms:created xsi:type="dcterms:W3CDTF">2016-08-29T09:38:49Z</dcterms:created>
  <dcterms:modified xsi:type="dcterms:W3CDTF">2016-08-29T11:49:36Z</dcterms:modified>
</cp:coreProperties>
</file>
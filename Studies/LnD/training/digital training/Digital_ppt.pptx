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1" r:id="rId7"/>
    <p:sldId id="263" r:id="rId8"/>
    <p:sldId id="264" r:id="rId9"/>
    <p:sldId id="265" r:id="rId10"/>
    <p:sldId id="266" r:id="rId11"/>
    <p:sldId id="267" r:id="rId12"/>
    <p:sldId id="269"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8" d="100"/>
          <a:sy n="68" d="100"/>
        </p:scale>
        <p:origin x="13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5B97B4E-5529-4759-808C-3D803ED760C8}" type="datetimeFigureOut">
              <a:rPr lang="en-US" smtClean="0"/>
              <a:t>8/29/2016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85783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B97B4E-5529-4759-808C-3D803ED760C8}" type="datetimeFigureOut">
              <a:rPr lang="en-US" smtClean="0"/>
              <a:t>8/29/2016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1528578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B97B4E-5529-4759-808C-3D803ED760C8}" type="datetimeFigureOut">
              <a:rPr lang="en-US" smtClean="0"/>
              <a:t>8/29/2016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3870336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5B97B4E-5529-4759-808C-3D803ED760C8}" type="datetimeFigureOut">
              <a:rPr lang="en-US" smtClean="0"/>
              <a:t>8/29/2016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1027623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5B97B4E-5529-4759-808C-3D803ED760C8}" type="datetimeFigureOut">
              <a:rPr lang="en-US" smtClean="0"/>
              <a:t>8/29/2016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3600223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5B97B4E-5529-4759-808C-3D803ED760C8}" type="datetimeFigureOut">
              <a:rPr lang="en-US" smtClean="0"/>
              <a:t>8/29/2016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3947246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B97B4E-5529-4759-808C-3D803ED760C8}" type="datetimeFigureOut">
              <a:rPr lang="en-US" smtClean="0"/>
              <a:t>8/29/2016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3689392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B97B4E-5529-4759-808C-3D803ED760C8}" type="datetimeFigureOut">
              <a:rPr lang="en-US" smtClean="0"/>
              <a:t>8/29/2016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4273113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B97B4E-5529-4759-808C-3D803ED760C8}" type="datetimeFigureOut">
              <a:rPr lang="en-US" smtClean="0"/>
              <a:t>8/29/2016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1291881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B97B4E-5529-4759-808C-3D803ED760C8}" type="datetimeFigureOut">
              <a:rPr lang="en-US" smtClean="0"/>
              <a:t>8/29/2016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668594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B97B4E-5529-4759-808C-3D803ED760C8}" type="datetimeFigureOut">
              <a:rPr lang="en-US" smtClean="0"/>
              <a:t>8/29/2016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1726745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B97B4E-5529-4759-808C-3D803ED760C8}" type="datetimeFigureOut">
              <a:rPr lang="en-US" smtClean="0"/>
              <a:t>8/29/2016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E211BC-6181-4A24-93A6-62012854A0E3}" type="slidenum">
              <a:rPr lang="en-US" smtClean="0"/>
              <a:t>‹#›</a:t>
            </a:fld>
            <a:endParaRPr lang="en-US"/>
          </a:p>
        </p:txBody>
      </p:sp>
    </p:spTree>
    <p:extLst>
      <p:ext uri="{BB962C8B-B14F-4D97-AF65-F5344CB8AC3E}">
        <p14:creationId xmlns:p14="http://schemas.microsoft.com/office/powerpoint/2010/main" val="2306323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1178" y="3703951"/>
            <a:ext cx="2143125" cy="2143125"/>
          </a:xfrm>
          <a:prstGeom prst="rect">
            <a:avLst/>
          </a:prstGeom>
        </p:spPr>
      </p:pic>
      <p:sp>
        <p:nvSpPr>
          <p:cNvPr id="8" name="AutoShape 6" descr="Image result for question mark images with black background"/>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8" descr="Image result for question mark images with black background"/>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10" descr="Image result for question mark images with black background"/>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4063" y="7937"/>
            <a:ext cx="6096000" cy="3429000"/>
          </a:xfrm>
          <a:prstGeom prst="rect">
            <a:avLst/>
          </a:prstGeom>
        </p:spPr>
      </p:pic>
      <p:sp>
        <p:nvSpPr>
          <p:cNvPr id="12" name="Rectangle 11"/>
          <p:cNvSpPr/>
          <p:nvPr/>
        </p:nvSpPr>
        <p:spPr>
          <a:xfrm>
            <a:off x="612775" y="4092750"/>
            <a:ext cx="9388403" cy="1754326"/>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How will I stand myself globally </a:t>
            </a:r>
          </a:p>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Recognized??</a:t>
            </a:r>
          </a:p>
        </p:txBody>
      </p:sp>
    </p:spTree>
    <p:extLst>
      <p:ext uri="{BB962C8B-B14F-4D97-AF65-F5344CB8AC3E}">
        <p14:creationId xmlns:p14="http://schemas.microsoft.com/office/powerpoint/2010/main" val="1822454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835" y="106017"/>
            <a:ext cx="11963400" cy="543339"/>
          </a:xfrm>
        </p:spPr>
        <p:txBody>
          <a:bodyPr>
            <a:normAutofit/>
          </a:bodyPr>
          <a:lstStyle/>
          <a:p>
            <a:pPr algn="ctr"/>
            <a:r>
              <a:rPr lang="en-US" sz="3200" dirty="0">
                <a:latin typeface="Cambria" panose="02040503050406030204" pitchFamily="18" charset="0"/>
              </a:rPr>
              <a:t>Toyota</a:t>
            </a:r>
          </a:p>
        </p:txBody>
      </p:sp>
      <p:sp>
        <p:nvSpPr>
          <p:cNvPr id="3" name="Content Placeholder 2"/>
          <p:cNvSpPr>
            <a:spLocks noGrp="1"/>
          </p:cNvSpPr>
          <p:nvPr>
            <p:ph idx="1"/>
          </p:nvPr>
        </p:nvSpPr>
        <p:spPr>
          <a:xfrm>
            <a:off x="1" y="901148"/>
            <a:ext cx="12192000" cy="5956852"/>
          </a:xfrm>
        </p:spPr>
        <p:txBody>
          <a:bodyPr>
            <a:normAutofit/>
          </a:bodyPr>
          <a:lstStyle/>
          <a:p>
            <a:endParaRPr lang="en-US" sz="2000" dirty="0">
              <a:latin typeface="Cambria" panose="02040503050406030204" pitchFamily="18" charset="0"/>
            </a:endParaRPr>
          </a:p>
          <a:p>
            <a:r>
              <a:rPr lang="en-US" sz="2000" dirty="0">
                <a:latin typeface="Cambria" panose="02040503050406030204" pitchFamily="18" charset="0"/>
              </a:rPr>
              <a:t>Toyota launched its Global Vision to be a global high quality , trusted, automotive brand synonymous with innovation </a:t>
            </a:r>
          </a:p>
          <a:p>
            <a:pPr marL="0" indent="0">
              <a:buNone/>
            </a:pPr>
            <a:endParaRPr lang="en-US" sz="2000" dirty="0">
              <a:latin typeface="Cambria" panose="02040503050406030204" pitchFamily="18" charset="0"/>
            </a:endParaRPr>
          </a:p>
          <a:p>
            <a:r>
              <a:rPr lang="en-US" sz="2000" dirty="0">
                <a:latin typeface="Cambria" panose="02040503050406030204" pitchFamily="18" charset="0"/>
              </a:rPr>
              <a:t>Toyota is tapping into their universal sense of adventure. Its global “Feeling the Street” campaign allowed people to vote on their favorite street musicians from around the world and follow six winners on a New Zealand road trip</a:t>
            </a:r>
          </a:p>
          <a:p>
            <a:pPr marL="0" indent="0">
              <a:buNone/>
            </a:pPr>
            <a:endParaRPr lang="en-US" sz="2000" dirty="0">
              <a:latin typeface="Cambria" panose="02040503050406030204" pitchFamily="18" charset="0"/>
            </a:endParaRPr>
          </a:p>
          <a:p>
            <a:r>
              <a:rPr lang="en-US" sz="2000" dirty="0">
                <a:latin typeface="Cambria" panose="02040503050406030204" pitchFamily="18" charset="0"/>
              </a:rPr>
              <a:t>Toyota is also harnessing digital platforms and geo-targeting technologies to position its cars within the context of peoples’ lives</a:t>
            </a:r>
          </a:p>
          <a:p>
            <a:endParaRPr lang="en-US" sz="2000" dirty="0">
              <a:latin typeface="Cambria" panose="02040503050406030204" pitchFamily="18" charset="0"/>
            </a:endParaRPr>
          </a:p>
          <a:p>
            <a:r>
              <a:rPr lang="en-US" sz="2000" dirty="0">
                <a:latin typeface="Cambria" panose="02040503050406030204" pitchFamily="18" charset="0"/>
              </a:rPr>
              <a:t>In the U.S, Toyota targeted Los Angeles drivers with videos launched in the “Live Story” feature on Snapchat</a:t>
            </a:r>
          </a:p>
          <a:p>
            <a:pPr marL="0" indent="0">
              <a:buNone/>
            </a:pPr>
            <a:endParaRPr lang="en-US" sz="2000" dirty="0">
              <a:latin typeface="Cambria" panose="02040503050406030204" pitchFamily="18" charset="0"/>
            </a:endParaRPr>
          </a:p>
          <a:p>
            <a:r>
              <a:rPr lang="en-US" sz="2000" dirty="0">
                <a:latin typeface="Cambria" panose="02040503050406030204" pitchFamily="18" charset="0"/>
              </a:rPr>
              <a:t>Partnered with Google to customize ads in 15,000 U.S. cities that inspire real-life, local adventures</a:t>
            </a:r>
          </a:p>
        </p:txBody>
      </p:sp>
    </p:spTree>
    <p:extLst>
      <p:ext uri="{BB962C8B-B14F-4D97-AF65-F5344CB8AC3E}">
        <p14:creationId xmlns:p14="http://schemas.microsoft.com/office/powerpoint/2010/main" val="2927351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1999" cy="689112"/>
          </a:xfrm>
        </p:spPr>
        <p:txBody>
          <a:bodyPr>
            <a:normAutofit/>
          </a:bodyPr>
          <a:lstStyle/>
          <a:p>
            <a:pPr algn="ctr"/>
            <a:r>
              <a:rPr lang="en-US" sz="3200" dirty="0">
                <a:latin typeface="Cambria" panose="02040503050406030204" pitchFamily="18" charset="0"/>
              </a:rPr>
              <a:t>Toyota</a:t>
            </a:r>
          </a:p>
        </p:txBody>
      </p:sp>
      <p:sp>
        <p:nvSpPr>
          <p:cNvPr id="3" name="Content Placeholder 2"/>
          <p:cNvSpPr>
            <a:spLocks noGrp="1"/>
          </p:cNvSpPr>
          <p:nvPr>
            <p:ph idx="1"/>
          </p:nvPr>
        </p:nvSpPr>
        <p:spPr>
          <a:xfrm>
            <a:off x="-1" y="689113"/>
            <a:ext cx="12191999" cy="6168886"/>
          </a:xfrm>
        </p:spPr>
        <p:txBody>
          <a:bodyPr>
            <a:normAutofit/>
          </a:bodyPr>
          <a:lstStyle/>
          <a:p>
            <a:pPr fontAlgn="base"/>
            <a:endParaRPr lang="en-US" sz="2000" dirty="0">
              <a:latin typeface="Cambria" panose="02040503050406030204" pitchFamily="18" charset="0"/>
            </a:endParaRPr>
          </a:p>
          <a:p>
            <a:pPr fontAlgn="base"/>
            <a:endParaRPr lang="en-US" sz="2000" dirty="0">
              <a:latin typeface="Cambria" panose="02040503050406030204" pitchFamily="18" charset="0"/>
            </a:endParaRPr>
          </a:p>
          <a:p>
            <a:pPr fontAlgn="base"/>
            <a:r>
              <a:rPr lang="en-US" sz="2000" dirty="0">
                <a:latin typeface="Cambria" panose="02040503050406030204" pitchFamily="18" charset="0"/>
              </a:rPr>
              <a:t>This year Toyota launched new “Stand Together” (Lets go places) campaign. Toyota gathers people around the world and tries to give a message; “We generate power when we gather together “ . Grasping hands and connecting from everywhere in the world</a:t>
            </a:r>
          </a:p>
          <a:p>
            <a:pPr fontAlgn="base"/>
            <a:endParaRPr lang="en-US" sz="2000" dirty="0">
              <a:latin typeface="Cambria" panose="02040503050406030204" pitchFamily="18" charset="0"/>
            </a:endParaRPr>
          </a:p>
          <a:p>
            <a:pPr fontAlgn="base"/>
            <a:r>
              <a:rPr lang="en-US" sz="2000" dirty="0">
                <a:latin typeface="Cambria" panose="02040503050406030204" pitchFamily="18" charset="0"/>
              </a:rPr>
              <a:t>The ‘Toyota Hybrid Solutions’ regional Facebook page, promoting its 'Hybrid Synergy Drive' (HSD) technology is part of a wider above-the-line digital campaign</a:t>
            </a:r>
          </a:p>
          <a:p>
            <a:pPr fontAlgn="base"/>
            <a:endParaRPr lang="en-US" sz="2000" dirty="0">
              <a:latin typeface="Cambria" panose="02040503050406030204" pitchFamily="18" charset="0"/>
            </a:endParaRPr>
          </a:p>
          <a:p>
            <a:pPr marL="0" indent="0" fontAlgn="base">
              <a:buNone/>
            </a:pPr>
            <a:endParaRPr lang="en-US" sz="2000" dirty="0">
              <a:latin typeface="Cambria" panose="02040503050406030204" pitchFamily="18" charset="0"/>
            </a:endParaRPr>
          </a:p>
          <a:p>
            <a:r>
              <a:rPr lang="en-US" sz="2000" dirty="0">
                <a:latin typeface="Cambria" panose="02040503050406030204" pitchFamily="18" charset="0"/>
              </a:rPr>
              <a:t> Creating an entertaining YouTube brand channel, they combined digital production and video content to make the online research process more interactive and productive</a:t>
            </a:r>
          </a:p>
          <a:p>
            <a:pPr marL="0" indent="0">
              <a:buNone/>
            </a:pPr>
            <a:endParaRPr lang="en-US" b="1" dirty="0"/>
          </a:p>
        </p:txBody>
      </p:sp>
    </p:spTree>
    <p:extLst>
      <p:ext uri="{BB962C8B-B14F-4D97-AF65-F5344CB8AC3E}">
        <p14:creationId xmlns:p14="http://schemas.microsoft.com/office/powerpoint/2010/main" val="1949861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5774"/>
            <a:ext cx="12046226" cy="848139"/>
          </a:xfrm>
        </p:spPr>
        <p:txBody>
          <a:bodyPr>
            <a:normAutofit/>
          </a:bodyPr>
          <a:lstStyle/>
          <a:p>
            <a:pPr algn="ctr"/>
            <a:r>
              <a:rPr lang="en-US" sz="2800" dirty="0">
                <a:latin typeface="Cambria" panose="02040503050406030204" pitchFamily="18" charset="0"/>
              </a:rPr>
              <a:t>Samsung </a:t>
            </a:r>
          </a:p>
        </p:txBody>
      </p:sp>
      <p:sp>
        <p:nvSpPr>
          <p:cNvPr id="3" name="Content Placeholder 2"/>
          <p:cNvSpPr>
            <a:spLocks noGrp="1"/>
          </p:cNvSpPr>
          <p:nvPr>
            <p:ph idx="1"/>
          </p:nvPr>
        </p:nvSpPr>
        <p:spPr>
          <a:xfrm>
            <a:off x="0" y="993913"/>
            <a:ext cx="12192000" cy="5864086"/>
          </a:xfrm>
        </p:spPr>
        <p:txBody>
          <a:bodyPr>
            <a:normAutofit/>
          </a:bodyPr>
          <a:lstStyle/>
          <a:p>
            <a:endParaRPr lang="en-US" sz="2400" dirty="0">
              <a:latin typeface="Cambria" panose="02040503050406030204" pitchFamily="18" charset="0"/>
            </a:endParaRPr>
          </a:p>
          <a:p>
            <a:endParaRPr lang="en-US" sz="2400" dirty="0">
              <a:latin typeface="Cambria" panose="02040503050406030204" pitchFamily="18" charset="0"/>
            </a:endParaRPr>
          </a:p>
          <a:p>
            <a:r>
              <a:rPr lang="en-US" sz="2000" dirty="0">
                <a:latin typeface="Cambria" panose="02040503050406030204" pitchFamily="18" charset="0"/>
              </a:rPr>
              <a:t>Its global “Next is Now” campaign built anticipation around the launch of its Galaxy phones by previewing its innovative features</a:t>
            </a:r>
          </a:p>
          <a:p>
            <a:pPr marL="0" indent="0">
              <a:buNone/>
            </a:pPr>
            <a:endParaRPr lang="en-US" sz="2000" dirty="0">
              <a:latin typeface="Cambria" panose="02040503050406030204" pitchFamily="18" charset="0"/>
            </a:endParaRPr>
          </a:p>
          <a:p>
            <a:r>
              <a:rPr lang="en-US" sz="2000" dirty="0">
                <a:latin typeface="Cambria" panose="02040503050406030204" pitchFamily="18" charset="0"/>
              </a:rPr>
              <a:t>Samsung  aired  Ads during the 2015 Oscars .The ads align with a company-wide commitment to proving that digital innovation can enrich peoples’ lives</a:t>
            </a:r>
          </a:p>
          <a:p>
            <a:pPr marL="0" indent="0">
              <a:buNone/>
            </a:pPr>
            <a:endParaRPr lang="en-US" sz="2000" dirty="0">
              <a:latin typeface="Cambria" panose="02040503050406030204" pitchFamily="18" charset="0"/>
            </a:endParaRPr>
          </a:p>
          <a:p>
            <a:r>
              <a:rPr lang="en-US" sz="2000" dirty="0">
                <a:latin typeface="Cambria" panose="02040503050406030204" pitchFamily="18" charset="0"/>
              </a:rPr>
              <a:t>Its ongoing “Launching People” campaign, which shares the stories of people who use Samsung products to turn their visions</a:t>
            </a:r>
          </a:p>
          <a:p>
            <a:pPr marL="0" indent="0">
              <a:buNone/>
            </a:pPr>
            <a:endParaRPr lang="en-US" sz="2400" dirty="0">
              <a:latin typeface="Cambria" panose="02040503050406030204" pitchFamily="18" charset="0"/>
            </a:endParaRPr>
          </a:p>
          <a:p>
            <a:endParaRPr lang="en-US" dirty="0"/>
          </a:p>
        </p:txBody>
      </p:sp>
    </p:spTree>
    <p:extLst>
      <p:ext uri="{BB962C8B-B14F-4D97-AF65-F5344CB8AC3E}">
        <p14:creationId xmlns:p14="http://schemas.microsoft.com/office/powerpoint/2010/main" val="220028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052" y="172279"/>
            <a:ext cx="11035748" cy="649356"/>
          </a:xfrm>
        </p:spPr>
        <p:txBody>
          <a:bodyPr>
            <a:normAutofit fontScale="90000"/>
          </a:bodyPr>
          <a:lstStyle/>
          <a:p>
            <a:pPr algn="ctr"/>
            <a:r>
              <a:rPr lang="en-US" dirty="0">
                <a:latin typeface="Cambria" panose="02040503050406030204" pitchFamily="18" charset="0"/>
              </a:rPr>
              <a:t>Samsung </a:t>
            </a:r>
            <a:endParaRPr lang="en-US" dirty="0"/>
          </a:p>
        </p:txBody>
      </p:sp>
      <p:sp>
        <p:nvSpPr>
          <p:cNvPr id="3" name="Content Placeholder 2"/>
          <p:cNvSpPr>
            <a:spLocks noGrp="1"/>
          </p:cNvSpPr>
          <p:nvPr>
            <p:ph idx="1"/>
          </p:nvPr>
        </p:nvSpPr>
        <p:spPr>
          <a:xfrm>
            <a:off x="0" y="980661"/>
            <a:ext cx="12192000" cy="5877338"/>
          </a:xfrm>
        </p:spPr>
        <p:txBody>
          <a:bodyPr>
            <a:normAutofit/>
          </a:bodyPr>
          <a:lstStyle/>
          <a:p>
            <a:pPr fontAlgn="base"/>
            <a:endParaRPr lang="en-US" sz="2400" b="1" dirty="0">
              <a:latin typeface="Cambria" panose="02040503050406030204" pitchFamily="18" charset="0"/>
            </a:endParaRPr>
          </a:p>
          <a:p>
            <a:pPr fontAlgn="base"/>
            <a:endParaRPr lang="en-US" sz="2400" b="1" dirty="0">
              <a:latin typeface="Cambria" panose="02040503050406030204" pitchFamily="18" charset="0"/>
            </a:endParaRPr>
          </a:p>
          <a:p>
            <a:pPr fontAlgn="base"/>
            <a:r>
              <a:rPr lang="en-US" sz="2000" dirty="0">
                <a:latin typeface="Cambria" panose="02040503050406030204" pitchFamily="18" charset="0"/>
              </a:rPr>
              <a:t>Samsung Galaxy Note 7 , Busy </a:t>
            </a:r>
            <a:r>
              <a:rPr lang="en-US" sz="2000" dirty="0" err="1">
                <a:latin typeface="Cambria" panose="02040503050406030204" pitchFamily="18" charset="0"/>
              </a:rPr>
              <a:t>Busy</a:t>
            </a:r>
            <a:r>
              <a:rPr lang="en-US" sz="2000" dirty="0">
                <a:latin typeface="Cambria" panose="02040503050406030204" pitchFamily="18" charset="0"/>
              </a:rPr>
              <a:t> </a:t>
            </a:r>
            <a:r>
              <a:rPr lang="en-US" sz="2000" dirty="0" err="1">
                <a:latin typeface="Cambria" panose="02040503050406030204" pitchFamily="18" charset="0"/>
              </a:rPr>
              <a:t>Busy</a:t>
            </a:r>
            <a:r>
              <a:rPr lang="en-US" sz="2000" dirty="0">
                <a:latin typeface="Cambria" panose="02040503050406030204" pitchFamily="18" charset="0"/>
              </a:rPr>
              <a:t> campaign with Christoph Waltz:</a:t>
            </a:r>
          </a:p>
          <a:p>
            <a:pPr fontAlgn="base"/>
            <a:endParaRPr lang="en-US" sz="2000" dirty="0">
              <a:latin typeface="Cambria" panose="02040503050406030204" pitchFamily="18" charset="0"/>
            </a:endParaRPr>
          </a:p>
          <a:p>
            <a:pPr fontAlgn="base"/>
            <a:r>
              <a:rPr lang="en-US" sz="2000" dirty="0">
                <a:latin typeface="Cambria" panose="02040503050406030204" pitchFamily="18" charset="0"/>
              </a:rPr>
              <a:t>Galaxy Note 7 is defined by </a:t>
            </a:r>
            <a:r>
              <a:rPr lang="en-US" sz="2000" dirty="0" err="1">
                <a:latin typeface="Cambria" panose="02040503050406030204" pitchFamily="18" charset="0"/>
              </a:rPr>
              <a:t>Cristoph</a:t>
            </a:r>
            <a:r>
              <a:rPr lang="en-US" sz="2000" dirty="0">
                <a:latin typeface="Cambria" panose="02040503050406030204" pitchFamily="18" charset="0"/>
              </a:rPr>
              <a:t> Waltz. The smartphone Galaxy Note 7 allows people to multitask. The ad message says, take a picture of what you do and share extra-</a:t>
            </a:r>
            <a:r>
              <a:rPr lang="en-US" sz="2000" dirty="0" err="1">
                <a:latin typeface="Cambria" panose="02040503050406030204" pitchFamily="18" charset="0"/>
              </a:rPr>
              <a:t>curriculars</a:t>
            </a:r>
            <a:r>
              <a:rPr lang="en-US" sz="2000" dirty="0">
                <a:latin typeface="Cambria" panose="02040503050406030204" pitchFamily="18" charset="0"/>
              </a:rPr>
              <a:t> in a fun way</a:t>
            </a:r>
          </a:p>
          <a:p>
            <a:endParaRPr lang="en-US" sz="2000" dirty="0">
              <a:latin typeface="Cambria" panose="02040503050406030204" pitchFamily="18" charset="0"/>
            </a:endParaRPr>
          </a:p>
          <a:p>
            <a:r>
              <a:rPr lang="en-US" sz="2000" dirty="0">
                <a:latin typeface="Cambria" panose="02040503050406030204" pitchFamily="18" charset="0"/>
              </a:rPr>
              <a:t>Samsung Unpacking 1988 to 2016: Samsung’s release of the new Galaxy S7, Galaxy S7 edge and Gear 360 is being promoted with a commercial covering the unpacking of new models, from the release of the SH-100 mobile phone in 1988 to the first wristwatch phone, the world’s smallest TV phone to Samsung’s first MP3 phone.</a:t>
            </a:r>
          </a:p>
          <a:p>
            <a:endParaRPr lang="en-US" dirty="0"/>
          </a:p>
        </p:txBody>
      </p:sp>
    </p:spTree>
    <p:extLst>
      <p:ext uri="{BB962C8B-B14F-4D97-AF65-F5344CB8AC3E}">
        <p14:creationId xmlns:p14="http://schemas.microsoft.com/office/powerpoint/2010/main" val="2512168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774" y="92766"/>
            <a:ext cx="12046226" cy="954156"/>
          </a:xfrm>
        </p:spPr>
        <p:txBody>
          <a:bodyPr>
            <a:normAutofit/>
          </a:bodyPr>
          <a:lstStyle/>
          <a:p>
            <a:pPr algn="ctr"/>
            <a:r>
              <a:rPr lang="en-US" sz="4000" dirty="0">
                <a:latin typeface="Cambria" panose="02040503050406030204" pitchFamily="18" charset="0"/>
              </a:rPr>
              <a:t>GE</a:t>
            </a:r>
          </a:p>
        </p:txBody>
      </p:sp>
      <p:sp>
        <p:nvSpPr>
          <p:cNvPr id="3" name="Content Placeholder 2"/>
          <p:cNvSpPr>
            <a:spLocks noGrp="1"/>
          </p:cNvSpPr>
          <p:nvPr>
            <p:ph idx="1"/>
          </p:nvPr>
        </p:nvSpPr>
        <p:spPr>
          <a:xfrm>
            <a:off x="0" y="715618"/>
            <a:ext cx="12191999" cy="6142382"/>
          </a:xfrm>
        </p:spPr>
        <p:txBody>
          <a:bodyPr>
            <a:normAutofit/>
          </a:bodyPr>
          <a:lstStyle/>
          <a:p>
            <a:endParaRPr lang="en-US" sz="2000" dirty="0">
              <a:latin typeface="Cambria" panose="02040503050406030204" pitchFamily="18" charset="0"/>
            </a:endParaRPr>
          </a:p>
          <a:p>
            <a:endParaRPr lang="en-US" sz="2000" dirty="0">
              <a:latin typeface="Cambria" panose="02040503050406030204" pitchFamily="18" charset="0"/>
            </a:endParaRPr>
          </a:p>
          <a:p>
            <a:r>
              <a:rPr lang="en-US" sz="2000" dirty="0">
                <a:latin typeface="Cambria" panose="02040503050406030204" pitchFamily="18" charset="0"/>
              </a:rPr>
              <a:t>GE’s marketing efforts have focused on new storytelling platforms</a:t>
            </a:r>
          </a:p>
          <a:p>
            <a:endParaRPr lang="en-US" sz="2000" dirty="0">
              <a:latin typeface="Cambria" panose="02040503050406030204" pitchFamily="18" charset="0"/>
            </a:endParaRPr>
          </a:p>
          <a:p>
            <a:r>
              <a:rPr lang="en-US" sz="2000" dirty="0">
                <a:latin typeface="Cambria" panose="02040503050406030204" pitchFamily="18" charset="0"/>
              </a:rPr>
              <a:t> 35–40 percent of its marketing budget allocated to digital media</a:t>
            </a:r>
          </a:p>
          <a:p>
            <a:endParaRPr lang="en-US" sz="2000" dirty="0">
              <a:latin typeface="Cambria" panose="02040503050406030204" pitchFamily="18" charset="0"/>
            </a:endParaRPr>
          </a:p>
          <a:p>
            <a:r>
              <a:rPr lang="en-US" sz="2000" dirty="0">
                <a:latin typeface="Cambria" panose="02040503050406030204" pitchFamily="18" charset="0"/>
              </a:rPr>
              <a:t>Apart from Facebook, Twitter, YouTube, Instagram  the company is tapping into platforms like </a:t>
            </a:r>
            <a:r>
              <a:rPr lang="en-US" sz="2000" dirty="0" err="1">
                <a:latin typeface="Cambria" panose="02040503050406030204" pitchFamily="18" charset="0"/>
              </a:rPr>
              <a:t>Wattpad</a:t>
            </a:r>
            <a:r>
              <a:rPr lang="en-US" sz="2000" dirty="0">
                <a:latin typeface="Cambria" panose="02040503050406030204" pitchFamily="18" charset="0"/>
              </a:rPr>
              <a:t>, Vine, Tumblr, and Snapchat to spark conversations with audiences and solve real business problems, both by curating new ideas and pushing industry-leading</a:t>
            </a:r>
          </a:p>
          <a:p>
            <a:pPr marL="0" indent="0">
              <a:buNone/>
            </a:pPr>
            <a:endParaRPr lang="en-US" sz="2000" dirty="0">
              <a:latin typeface="Cambria" panose="02040503050406030204" pitchFamily="18" charset="0"/>
            </a:endParaRPr>
          </a:p>
          <a:p>
            <a:r>
              <a:rPr lang="en-US" sz="2000" dirty="0">
                <a:latin typeface="Cambria" panose="02040503050406030204" pitchFamily="18" charset="0"/>
              </a:rPr>
              <a:t>GE invites Instagram influencers to tour the GE facilities, encouraging them to share this rare look behind the scenes using  the hashtag #</a:t>
            </a:r>
            <a:r>
              <a:rPr lang="en-US" sz="2000" dirty="0" err="1">
                <a:latin typeface="Cambria" panose="02040503050406030204" pitchFamily="18" charset="0"/>
              </a:rPr>
              <a:t>GEInstaWalk</a:t>
            </a:r>
            <a:endParaRPr lang="en-US" sz="2000" dirty="0">
              <a:latin typeface="Cambria" panose="02040503050406030204" pitchFamily="18" charset="0"/>
            </a:endParaRPr>
          </a:p>
          <a:p>
            <a:endParaRPr lang="en-US" sz="2000" dirty="0">
              <a:latin typeface="Cambria" panose="02040503050406030204" pitchFamily="18" charset="0"/>
            </a:endParaRPr>
          </a:p>
          <a:p>
            <a:pPr marL="0" indent="0">
              <a:buNone/>
            </a:pPr>
            <a:endParaRPr lang="en-US" sz="2000" dirty="0">
              <a:latin typeface="Cambria" panose="02040503050406030204" pitchFamily="18" charset="0"/>
            </a:endParaRPr>
          </a:p>
          <a:p>
            <a:r>
              <a:rPr lang="en-US" sz="2000" dirty="0">
                <a:latin typeface="Cambria" panose="02040503050406030204" pitchFamily="18" charset="0"/>
              </a:rPr>
              <a:t>Just recently, it rolled out a series of commercials with the tagline “The Digital Company. That’s Also an Industrial Company”</a:t>
            </a:r>
          </a:p>
          <a:p>
            <a:endParaRPr lang="en-US" dirty="0">
              <a:latin typeface="Cambria" panose="02040503050406030204" pitchFamily="18" charset="0"/>
            </a:endParaRPr>
          </a:p>
          <a:p>
            <a:endParaRPr lang="en-US" dirty="0"/>
          </a:p>
          <a:p>
            <a:endParaRPr lang="en-US" dirty="0"/>
          </a:p>
        </p:txBody>
      </p:sp>
    </p:spTree>
    <p:extLst>
      <p:ext uri="{BB962C8B-B14F-4D97-AF65-F5344CB8AC3E}">
        <p14:creationId xmlns:p14="http://schemas.microsoft.com/office/powerpoint/2010/main" val="2100050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36104"/>
          </a:xfrm>
        </p:spPr>
        <p:txBody>
          <a:bodyPr>
            <a:normAutofit/>
          </a:bodyPr>
          <a:lstStyle/>
          <a:p>
            <a:pPr algn="ctr"/>
            <a:r>
              <a:rPr lang="en-US" sz="2800" b="1" dirty="0">
                <a:latin typeface="Cambria" panose="02040503050406030204" pitchFamily="18" charset="0"/>
              </a:rPr>
              <a:t>McDonald’s</a:t>
            </a:r>
          </a:p>
        </p:txBody>
      </p:sp>
      <p:sp>
        <p:nvSpPr>
          <p:cNvPr id="3" name="Content Placeholder 2"/>
          <p:cNvSpPr>
            <a:spLocks noGrp="1"/>
          </p:cNvSpPr>
          <p:nvPr>
            <p:ph idx="1"/>
          </p:nvPr>
        </p:nvSpPr>
        <p:spPr>
          <a:xfrm>
            <a:off x="198782" y="940904"/>
            <a:ext cx="11993217" cy="5917096"/>
          </a:xfrm>
        </p:spPr>
        <p:txBody>
          <a:bodyPr>
            <a:normAutofit/>
          </a:bodyPr>
          <a:lstStyle/>
          <a:p>
            <a:endParaRPr lang="en-US" sz="2000" dirty="0">
              <a:latin typeface="Cambria" panose="02040503050406030204" pitchFamily="18" charset="0"/>
            </a:endParaRPr>
          </a:p>
          <a:p>
            <a:r>
              <a:rPr lang="en-US" sz="1800" dirty="0">
                <a:latin typeface="Cambria" panose="02040503050406030204" pitchFamily="18" charset="0"/>
              </a:rPr>
              <a:t>McDonald's Launches 'Moments of Joy' in 24 Cities #</a:t>
            </a:r>
            <a:r>
              <a:rPr lang="en-US" sz="1800" dirty="0" err="1">
                <a:latin typeface="Cambria" panose="02040503050406030204" pitchFamily="18" charset="0"/>
              </a:rPr>
              <a:t>imlovinit</a:t>
            </a:r>
            <a:r>
              <a:rPr lang="en-US" sz="1800" dirty="0">
                <a:latin typeface="Cambria" panose="02040503050406030204" pitchFamily="18" charset="0"/>
              </a:rPr>
              <a:t> campaign . 24 gifts of joy. In 24 cities. Over 24 hours. "Moments of joy" marks McDonald's biggest global push since "I'm </a:t>
            </a:r>
            <a:r>
              <a:rPr lang="en-US" sz="1800" dirty="0" err="1">
                <a:latin typeface="Cambria" panose="02040503050406030204" pitchFamily="18" charset="0"/>
              </a:rPr>
              <a:t>lovin</a:t>
            </a:r>
            <a:r>
              <a:rPr lang="en-US" sz="1800" dirty="0">
                <a:latin typeface="Cambria" panose="02040503050406030204" pitchFamily="18" charset="0"/>
              </a:rPr>
              <a:t>' it,"</a:t>
            </a:r>
          </a:p>
          <a:p>
            <a:endParaRPr lang="en-US" sz="2000" dirty="0">
              <a:latin typeface="Cambria" panose="02040503050406030204" pitchFamily="18" charset="0"/>
            </a:endParaRPr>
          </a:p>
          <a:p>
            <a:r>
              <a:rPr lang="en-US" sz="2000" dirty="0">
                <a:latin typeface="Cambria" panose="02040503050406030204" pitchFamily="18" charset="0"/>
              </a:rPr>
              <a:t>The company opened up a line of dialogue by expanding its “Our food. Your questions.” initiative, a social media campaign that aims to answer all customer questions transparently</a:t>
            </a:r>
          </a:p>
          <a:p>
            <a:pPr marL="0" indent="0">
              <a:buNone/>
            </a:pPr>
            <a:endParaRPr lang="en-US" sz="2000" dirty="0">
              <a:latin typeface="Cambria" panose="02040503050406030204" pitchFamily="18" charset="0"/>
            </a:endParaRPr>
          </a:p>
          <a:p>
            <a:r>
              <a:rPr lang="en-US" sz="2000" dirty="0">
                <a:latin typeface="Cambria" panose="02040503050406030204" pitchFamily="18" charset="0"/>
              </a:rPr>
              <a:t>McDonald’s Is the First Brand to Use Snapchat’s Latest Sponsored </a:t>
            </a:r>
            <a:r>
              <a:rPr lang="en-US" sz="2000" dirty="0" err="1">
                <a:latin typeface="Cambria" panose="02040503050406030204" pitchFamily="18" charset="0"/>
              </a:rPr>
              <a:t>Geofilters</a:t>
            </a:r>
            <a:r>
              <a:rPr lang="en-US" sz="2000" dirty="0">
                <a:latin typeface="Cambria" panose="02040503050406030204" pitchFamily="18" charset="0"/>
              </a:rPr>
              <a:t>.</a:t>
            </a:r>
          </a:p>
          <a:p>
            <a:endParaRPr lang="en-US" sz="2000" dirty="0">
              <a:latin typeface="Cambria" panose="02040503050406030204" pitchFamily="18" charset="0"/>
            </a:endParaRPr>
          </a:p>
          <a:p>
            <a:r>
              <a:rPr lang="en-US" sz="2000" dirty="0">
                <a:latin typeface="Cambria" panose="02040503050406030204" pitchFamily="18" charset="0"/>
              </a:rPr>
              <a:t>Users can head to any US McDonald’s store and use this feature to add more color and life to their snaps. The feature is met with a lot of enthusiasm by fans on twitter </a:t>
            </a:r>
          </a:p>
          <a:p>
            <a:endParaRPr lang="en-US" sz="1800" dirty="0">
              <a:latin typeface="Cambria" panose="02040503050406030204" pitchFamily="18" charset="0"/>
            </a:endParaRPr>
          </a:p>
          <a:p>
            <a:pPr marL="0" indent="0">
              <a:buNone/>
            </a:pPr>
            <a:endParaRPr lang="en-US" dirty="0"/>
          </a:p>
          <a:p>
            <a:endParaRPr lang="en-US"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3448463" y="5062330"/>
            <a:ext cx="3310145" cy="1613453"/>
          </a:xfrm>
          <a:prstGeom prst="rect">
            <a:avLst/>
          </a:prstGeom>
          <a:noFill/>
          <a:ln>
            <a:noFill/>
          </a:ln>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7453520" y="4969564"/>
            <a:ext cx="3214481" cy="1798983"/>
          </a:xfrm>
          <a:prstGeom prst="rect">
            <a:avLst/>
          </a:prstGeom>
          <a:noFill/>
          <a:ln>
            <a:noFill/>
          </a:ln>
        </p:spPr>
      </p:pic>
    </p:spTree>
    <p:extLst>
      <p:ext uri="{BB962C8B-B14F-4D97-AF65-F5344CB8AC3E}">
        <p14:creationId xmlns:p14="http://schemas.microsoft.com/office/powerpoint/2010/main" val="1307516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36104"/>
          </a:xfrm>
        </p:spPr>
        <p:txBody>
          <a:bodyPr>
            <a:normAutofit/>
          </a:bodyPr>
          <a:lstStyle/>
          <a:p>
            <a:pPr algn="ctr"/>
            <a:r>
              <a:rPr lang="en-US" sz="2800" b="1" dirty="0">
                <a:latin typeface="Cambria" panose="02040503050406030204" pitchFamily="18" charset="0"/>
              </a:rPr>
              <a:t>Oracle</a:t>
            </a:r>
          </a:p>
        </p:txBody>
      </p:sp>
      <p:sp>
        <p:nvSpPr>
          <p:cNvPr id="3" name="Content Placeholder 2"/>
          <p:cNvSpPr>
            <a:spLocks noGrp="1"/>
          </p:cNvSpPr>
          <p:nvPr>
            <p:ph idx="1"/>
          </p:nvPr>
        </p:nvSpPr>
        <p:spPr>
          <a:xfrm>
            <a:off x="540813" y="781878"/>
            <a:ext cx="11993217" cy="5917096"/>
          </a:xfrm>
        </p:spPr>
        <p:txBody>
          <a:bodyPr>
            <a:normAutofit/>
          </a:bodyPr>
          <a:lstStyle/>
          <a:p>
            <a:endParaRPr lang="en-US" sz="2000" dirty="0">
              <a:latin typeface="Cambria" panose="02040503050406030204" pitchFamily="18" charset="0"/>
            </a:endParaRPr>
          </a:p>
          <a:p>
            <a:r>
              <a:rPr lang="en-US" sz="2000" dirty="0">
                <a:latin typeface="Cambria" panose="02040503050406030204" pitchFamily="18" charset="0"/>
              </a:rPr>
              <a:t>They spent a lot time and money on R&amp;D(Research &amp; Development) by executing  Larry Ellison’s vision “turn the 38-year-old technology leader into the number one cloud company in the world.” </a:t>
            </a:r>
          </a:p>
          <a:p>
            <a:r>
              <a:rPr lang="en-US" sz="2000" dirty="0">
                <a:latin typeface="Cambria" panose="02040503050406030204" pitchFamily="18" charset="0"/>
              </a:rPr>
              <a:t>Virtually its entire software is now offered as cloud services.</a:t>
            </a:r>
          </a:p>
          <a:p>
            <a:pPr marL="0" indent="0">
              <a:buNone/>
            </a:pPr>
            <a:endParaRPr lang="en-US" sz="1800" dirty="0">
              <a:latin typeface="Cambria" panose="02040503050406030204" pitchFamily="18" charset="0"/>
            </a:endParaRPr>
          </a:p>
          <a:p>
            <a:pPr marL="0" indent="0">
              <a:buNone/>
            </a:pPr>
            <a:endParaRPr lang="en-US" dirty="0"/>
          </a:p>
          <a:p>
            <a:pPr marL="0" indent="0">
              <a:buNone/>
            </a:pPr>
            <a:endParaRPr lang="en-US" dirty="0"/>
          </a:p>
        </p:txBody>
      </p:sp>
      <p:sp>
        <p:nvSpPr>
          <p:cNvPr id="6" name="Rounded Rectangle 37"/>
          <p:cNvSpPr/>
          <p:nvPr/>
        </p:nvSpPr>
        <p:spPr>
          <a:xfrm>
            <a:off x="2476589" y="2752199"/>
            <a:ext cx="8121666" cy="3543791"/>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lgn="l" rtl="0" fontAlgn="base">
              <a:spcBef>
                <a:spcPct val="0"/>
              </a:spcBef>
              <a:spcAft>
                <a:spcPct val="0"/>
              </a:spcAft>
              <a:defRPr sz="700" kern="1200">
                <a:solidFill>
                  <a:schemeClr val="lt1"/>
                </a:solidFill>
                <a:latin typeface="+mn-lt"/>
                <a:ea typeface="+mn-ea"/>
                <a:cs typeface="+mn-cs"/>
              </a:defRPr>
            </a:lvl1pPr>
            <a:lvl2pPr marL="169863" indent="114300" algn="l" rtl="0" fontAlgn="base">
              <a:spcBef>
                <a:spcPct val="0"/>
              </a:spcBef>
              <a:spcAft>
                <a:spcPct val="0"/>
              </a:spcAft>
              <a:defRPr sz="700" kern="1200">
                <a:solidFill>
                  <a:schemeClr val="lt1"/>
                </a:solidFill>
                <a:latin typeface="+mn-lt"/>
                <a:ea typeface="+mn-ea"/>
                <a:cs typeface="+mn-cs"/>
              </a:defRPr>
            </a:lvl2pPr>
            <a:lvl3pPr marL="341313" indent="228600" algn="l" rtl="0" fontAlgn="base">
              <a:spcBef>
                <a:spcPct val="0"/>
              </a:spcBef>
              <a:spcAft>
                <a:spcPct val="0"/>
              </a:spcAft>
              <a:defRPr sz="700" kern="1200">
                <a:solidFill>
                  <a:schemeClr val="lt1"/>
                </a:solidFill>
                <a:latin typeface="+mn-lt"/>
                <a:ea typeface="+mn-ea"/>
                <a:cs typeface="+mn-cs"/>
              </a:defRPr>
            </a:lvl3pPr>
            <a:lvl4pPr marL="512763" indent="342900" algn="l" rtl="0" fontAlgn="base">
              <a:spcBef>
                <a:spcPct val="0"/>
              </a:spcBef>
              <a:spcAft>
                <a:spcPct val="0"/>
              </a:spcAft>
              <a:defRPr sz="700" kern="1200">
                <a:solidFill>
                  <a:schemeClr val="lt1"/>
                </a:solidFill>
                <a:latin typeface="+mn-lt"/>
                <a:ea typeface="+mn-ea"/>
                <a:cs typeface="+mn-cs"/>
              </a:defRPr>
            </a:lvl4pPr>
            <a:lvl5pPr marL="684213" indent="455613" algn="l" rtl="0" fontAlgn="base">
              <a:spcBef>
                <a:spcPct val="0"/>
              </a:spcBef>
              <a:spcAft>
                <a:spcPct val="0"/>
              </a:spcAft>
              <a:defRPr sz="700" kern="1200">
                <a:solidFill>
                  <a:schemeClr val="lt1"/>
                </a:solidFill>
                <a:latin typeface="+mn-lt"/>
                <a:ea typeface="+mn-ea"/>
                <a:cs typeface="+mn-cs"/>
              </a:defRPr>
            </a:lvl5pPr>
            <a:lvl6pPr marL="2286000" algn="l" defTabSz="914400" rtl="0" eaLnBrk="1" latinLnBrk="0" hangingPunct="1">
              <a:defRPr sz="700" kern="1200">
                <a:solidFill>
                  <a:schemeClr val="lt1"/>
                </a:solidFill>
                <a:latin typeface="+mn-lt"/>
                <a:ea typeface="+mn-ea"/>
                <a:cs typeface="+mn-cs"/>
              </a:defRPr>
            </a:lvl6pPr>
            <a:lvl7pPr marL="2743200" algn="l" defTabSz="914400" rtl="0" eaLnBrk="1" latinLnBrk="0" hangingPunct="1">
              <a:defRPr sz="700" kern="1200">
                <a:solidFill>
                  <a:schemeClr val="lt1"/>
                </a:solidFill>
                <a:latin typeface="+mn-lt"/>
                <a:ea typeface="+mn-ea"/>
                <a:cs typeface="+mn-cs"/>
              </a:defRPr>
            </a:lvl7pPr>
            <a:lvl8pPr marL="3200400" algn="l" defTabSz="914400" rtl="0" eaLnBrk="1" latinLnBrk="0" hangingPunct="1">
              <a:defRPr sz="700" kern="1200">
                <a:solidFill>
                  <a:schemeClr val="lt1"/>
                </a:solidFill>
                <a:latin typeface="+mn-lt"/>
                <a:ea typeface="+mn-ea"/>
                <a:cs typeface="+mn-cs"/>
              </a:defRPr>
            </a:lvl8pPr>
            <a:lvl9pPr marL="3657600" algn="l" defTabSz="914400" rtl="0" eaLnBrk="1" latinLnBrk="0" hangingPunct="1">
              <a:defRPr sz="700" kern="1200">
                <a:solidFill>
                  <a:schemeClr val="lt1"/>
                </a:solidFill>
                <a:latin typeface="+mn-lt"/>
                <a:ea typeface="+mn-ea"/>
                <a:cs typeface="+mn-cs"/>
              </a:defRPr>
            </a:lvl9pPr>
          </a:lstStyle>
          <a:p>
            <a:endParaRPr lang="en-US" sz="1600" dirty="0" err="1">
              <a:solidFill>
                <a:srgbClr val="000000"/>
              </a:solidFill>
              <a:latin typeface="Arial" pitchFamily="34" charset="0"/>
              <a:cs typeface="Arial" pitchFamily="34" charset="0"/>
            </a:endParaRPr>
          </a:p>
        </p:txBody>
      </p:sp>
      <p:grpSp>
        <p:nvGrpSpPr>
          <p:cNvPr id="7" name="Group 6"/>
          <p:cNvGrpSpPr/>
          <p:nvPr/>
        </p:nvGrpSpPr>
        <p:grpSpPr>
          <a:xfrm>
            <a:off x="7301092" y="2862790"/>
            <a:ext cx="3200400" cy="3336285"/>
            <a:chOff x="5601327" y="1118525"/>
            <a:chExt cx="3200400" cy="3336285"/>
          </a:xfrm>
        </p:grpSpPr>
        <p:grpSp>
          <p:nvGrpSpPr>
            <p:cNvPr id="21" name="Group 20"/>
            <p:cNvGrpSpPr/>
            <p:nvPr/>
          </p:nvGrpSpPr>
          <p:grpSpPr>
            <a:xfrm>
              <a:off x="5601327" y="1118525"/>
              <a:ext cx="3200400" cy="3336285"/>
              <a:chOff x="5601327" y="1118525"/>
              <a:chExt cx="3200400" cy="3336285"/>
            </a:xfrm>
          </p:grpSpPr>
          <p:sp>
            <p:nvSpPr>
              <p:cNvPr id="23" name="Rounded Rectangle 35"/>
              <p:cNvSpPr/>
              <p:nvPr/>
            </p:nvSpPr>
            <p:spPr>
              <a:xfrm>
                <a:off x="5601327" y="1118525"/>
                <a:ext cx="3200400" cy="3336285"/>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lgn="l" rtl="0" fontAlgn="base">
                  <a:spcBef>
                    <a:spcPct val="0"/>
                  </a:spcBef>
                  <a:spcAft>
                    <a:spcPct val="0"/>
                  </a:spcAft>
                  <a:defRPr sz="700" kern="1200">
                    <a:solidFill>
                      <a:schemeClr val="lt1"/>
                    </a:solidFill>
                    <a:latin typeface="+mn-lt"/>
                    <a:ea typeface="+mn-ea"/>
                    <a:cs typeface="+mn-cs"/>
                  </a:defRPr>
                </a:lvl1pPr>
                <a:lvl2pPr marL="169863" indent="114300" algn="l" rtl="0" fontAlgn="base">
                  <a:spcBef>
                    <a:spcPct val="0"/>
                  </a:spcBef>
                  <a:spcAft>
                    <a:spcPct val="0"/>
                  </a:spcAft>
                  <a:defRPr sz="700" kern="1200">
                    <a:solidFill>
                      <a:schemeClr val="lt1"/>
                    </a:solidFill>
                    <a:latin typeface="+mn-lt"/>
                    <a:ea typeface="+mn-ea"/>
                    <a:cs typeface="+mn-cs"/>
                  </a:defRPr>
                </a:lvl2pPr>
                <a:lvl3pPr marL="341313" indent="228600" algn="l" rtl="0" fontAlgn="base">
                  <a:spcBef>
                    <a:spcPct val="0"/>
                  </a:spcBef>
                  <a:spcAft>
                    <a:spcPct val="0"/>
                  </a:spcAft>
                  <a:defRPr sz="700" kern="1200">
                    <a:solidFill>
                      <a:schemeClr val="lt1"/>
                    </a:solidFill>
                    <a:latin typeface="+mn-lt"/>
                    <a:ea typeface="+mn-ea"/>
                    <a:cs typeface="+mn-cs"/>
                  </a:defRPr>
                </a:lvl3pPr>
                <a:lvl4pPr marL="512763" indent="342900" algn="l" rtl="0" fontAlgn="base">
                  <a:spcBef>
                    <a:spcPct val="0"/>
                  </a:spcBef>
                  <a:spcAft>
                    <a:spcPct val="0"/>
                  </a:spcAft>
                  <a:defRPr sz="700" kern="1200">
                    <a:solidFill>
                      <a:schemeClr val="lt1"/>
                    </a:solidFill>
                    <a:latin typeface="+mn-lt"/>
                    <a:ea typeface="+mn-ea"/>
                    <a:cs typeface="+mn-cs"/>
                  </a:defRPr>
                </a:lvl4pPr>
                <a:lvl5pPr marL="684213" indent="455613" algn="l" rtl="0" fontAlgn="base">
                  <a:spcBef>
                    <a:spcPct val="0"/>
                  </a:spcBef>
                  <a:spcAft>
                    <a:spcPct val="0"/>
                  </a:spcAft>
                  <a:defRPr sz="700" kern="1200">
                    <a:solidFill>
                      <a:schemeClr val="lt1"/>
                    </a:solidFill>
                    <a:latin typeface="+mn-lt"/>
                    <a:ea typeface="+mn-ea"/>
                    <a:cs typeface="+mn-cs"/>
                  </a:defRPr>
                </a:lvl5pPr>
                <a:lvl6pPr marL="2286000" algn="l" defTabSz="914400" rtl="0" eaLnBrk="1" latinLnBrk="0" hangingPunct="1">
                  <a:defRPr sz="700" kern="1200">
                    <a:solidFill>
                      <a:schemeClr val="lt1"/>
                    </a:solidFill>
                    <a:latin typeface="+mn-lt"/>
                    <a:ea typeface="+mn-ea"/>
                    <a:cs typeface="+mn-cs"/>
                  </a:defRPr>
                </a:lvl6pPr>
                <a:lvl7pPr marL="2743200" algn="l" defTabSz="914400" rtl="0" eaLnBrk="1" latinLnBrk="0" hangingPunct="1">
                  <a:defRPr sz="700" kern="1200">
                    <a:solidFill>
                      <a:schemeClr val="lt1"/>
                    </a:solidFill>
                    <a:latin typeface="+mn-lt"/>
                    <a:ea typeface="+mn-ea"/>
                    <a:cs typeface="+mn-cs"/>
                  </a:defRPr>
                </a:lvl7pPr>
                <a:lvl8pPr marL="3200400" algn="l" defTabSz="914400" rtl="0" eaLnBrk="1" latinLnBrk="0" hangingPunct="1">
                  <a:defRPr sz="700" kern="1200">
                    <a:solidFill>
                      <a:schemeClr val="lt1"/>
                    </a:solidFill>
                    <a:latin typeface="+mn-lt"/>
                    <a:ea typeface="+mn-ea"/>
                    <a:cs typeface="+mn-cs"/>
                  </a:defRPr>
                </a:lvl8pPr>
                <a:lvl9pPr marL="3657600" algn="l" defTabSz="914400" rtl="0" eaLnBrk="1" latinLnBrk="0" hangingPunct="1">
                  <a:defRPr sz="700" kern="1200">
                    <a:solidFill>
                      <a:schemeClr val="lt1"/>
                    </a:solidFill>
                    <a:latin typeface="+mn-lt"/>
                    <a:ea typeface="+mn-ea"/>
                    <a:cs typeface="+mn-cs"/>
                  </a:defRPr>
                </a:lvl9pPr>
              </a:lstStyle>
              <a:p>
                <a:endParaRPr lang="en-US" sz="1600" dirty="0" err="1">
                  <a:solidFill>
                    <a:srgbClr val="000000"/>
                  </a:solidFill>
                  <a:latin typeface="Arial" pitchFamily="34" charset="0"/>
                  <a:cs typeface="Arial" pitchFamily="34" charset="0"/>
                </a:endParaRPr>
              </a:p>
            </p:txBody>
          </p:sp>
          <p:sp>
            <p:nvSpPr>
              <p:cNvPr id="24" name="TextBox 21"/>
              <p:cNvSpPr txBox="1"/>
              <p:nvPr/>
            </p:nvSpPr>
            <p:spPr>
              <a:xfrm>
                <a:off x="6356203" y="1121416"/>
                <a:ext cx="1878921" cy="273909"/>
              </a:xfrm>
              <a:prstGeom prst="rect">
                <a:avLst/>
              </a:prstGeom>
              <a:noFill/>
              <a:ln>
                <a:noFill/>
              </a:ln>
            </p:spPr>
            <p:txBody>
              <a:bodyPr wrap="none" lIns="0" tIns="0" rIns="0" bIns="0" rtlCol="0">
                <a:noAutofit/>
              </a:bodyPr>
              <a:lstStyle>
                <a:defPPr>
                  <a:defRPr lang="en-US"/>
                </a:defPPr>
                <a:lvl1pPr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1pPr>
                <a:lvl2pPr marL="169863" indent="1143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2pPr>
                <a:lvl3pPr marL="341313" indent="2286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3pPr>
                <a:lvl4pPr marL="512763" indent="3429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4pPr>
                <a:lvl5pPr marL="684213" indent="455613"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5pPr>
                <a:lvl6pPr marL="22860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6pPr>
                <a:lvl7pPr marL="27432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7pPr>
                <a:lvl8pPr marL="32004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8pPr>
                <a:lvl9pPr marL="36576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9pPr>
              </a:lstStyle>
              <a:p>
                <a:r>
                  <a:rPr lang="en-US" sz="1800" b="1" dirty="0">
                    <a:solidFill>
                      <a:srgbClr val="FFFFFF"/>
                    </a:solidFill>
                  </a:rPr>
                  <a:t>General Purpose</a:t>
                </a:r>
              </a:p>
            </p:txBody>
          </p:sp>
          <p:sp>
            <p:nvSpPr>
              <p:cNvPr id="25" name="TextBox 34"/>
              <p:cNvSpPr txBox="1"/>
              <p:nvPr/>
            </p:nvSpPr>
            <p:spPr>
              <a:xfrm>
                <a:off x="6863974" y="3392366"/>
                <a:ext cx="891848" cy="273909"/>
              </a:xfrm>
              <a:prstGeom prst="rect">
                <a:avLst/>
              </a:prstGeom>
              <a:noFill/>
              <a:ln>
                <a:noFill/>
              </a:ln>
            </p:spPr>
            <p:txBody>
              <a:bodyPr wrap="none" lIns="0" tIns="0" rIns="0" bIns="0" rtlCol="0">
                <a:noAutofit/>
              </a:bodyPr>
              <a:lstStyle>
                <a:defPPr>
                  <a:defRPr lang="en-US"/>
                </a:defPPr>
                <a:lvl1pPr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1pPr>
                <a:lvl2pPr marL="169863" indent="1143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2pPr>
                <a:lvl3pPr marL="341313" indent="2286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3pPr>
                <a:lvl4pPr marL="512763" indent="3429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4pPr>
                <a:lvl5pPr marL="684213" indent="455613"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5pPr>
                <a:lvl6pPr marL="22860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6pPr>
                <a:lvl7pPr marL="27432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7pPr>
                <a:lvl8pPr marL="32004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8pPr>
                <a:lvl9pPr marL="36576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9pPr>
              </a:lstStyle>
              <a:p>
                <a:pPr algn="ctr"/>
                <a:r>
                  <a:rPr lang="en-US" sz="1200" b="1" dirty="0">
                    <a:solidFill>
                      <a:srgbClr val="000000"/>
                    </a:solidFill>
                  </a:rPr>
                  <a:t>SPARC</a:t>
                </a:r>
                <a:br>
                  <a:rPr lang="en-US" sz="1200" b="1" dirty="0">
                    <a:solidFill>
                      <a:srgbClr val="000000"/>
                    </a:solidFill>
                  </a:rPr>
                </a:br>
                <a:r>
                  <a:rPr lang="en-US" sz="1200" b="1" dirty="0">
                    <a:solidFill>
                      <a:srgbClr val="000000"/>
                    </a:solidFill>
                  </a:rPr>
                  <a:t>SuperCluster</a:t>
                </a:r>
              </a:p>
            </p:txBody>
          </p:sp>
          <p:pic>
            <p:nvPicPr>
              <p:cNvPr id="26" name="Picture 25"/>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488903" y="3893714"/>
                <a:ext cx="770929" cy="244921"/>
              </a:xfrm>
              <a:prstGeom prst="rect">
                <a:avLst/>
              </a:prstGeom>
              <a:noFill/>
              <a:ln>
                <a:noFill/>
              </a:ln>
              <a:extLst>
                <a:ext uri="{909E8E84-426E-40dd-AFC4-6F175D3DCCD1}">
                  <a14:hiddenFill xmlns:mc="http://schemas.openxmlformats.org/markup-compatibility/2006" xmlns:mv="urn:schemas-microsoft-com:mac:vml" xmlns:a14="http://schemas.microsoft.com/office/drawing/2010/main" xmlns="" xmlns:lc="http://schemas.openxmlformats.org/drawingml/2006/lockedCanvas">
                    <a:solidFill>
                      <a:srgbClr val="FFFFFF"/>
                    </a:solidFill>
                  </a14:hiddenFill>
                </a:ext>
                <a:ext uri="{91240B29-F687-4f45-9708-019B960494DF}">
                  <a14:hiddenLine xmlns:mc="http://schemas.openxmlformats.org/markup-compatibility/2006" xmlns:mv="urn:schemas-microsoft-com:mac:vml" xmlns:a14="http://schemas.microsoft.com/office/drawing/2010/main" xmlns="" xmlns:lc="http://schemas.openxmlformats.org/drawingml/2006/lockedCanvas" w="9525">
                    <a:solidFill>
                      <a:srgbClr val="000000"/>
                    </a:solidFill>
                    <a:miter lim="800000"/>
                    <a:headEnd/>
                    <a:tailEnd/>
                  </a14:hiddenLine>
                </a:ext>
              </a:extLst>
            </p:spPr>
          </p:pic>
          <p:pic>
            <p:nvPicPr>
              <p:cNvPr id="27" name="Picture 26"/>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326491" y="3888126"/>
                <a:ext cx="574717" cy="266833"/>
              </a:xfrm>
              <a:prstGeom prst="rect">
                <a:avLst/>
              </a:prstGeom>
              <a:noFill/>
              <a:ln>
                <a:noFill/>
              </a:ln>
              <a:extLst>
                <a:ext uri="{909E8E84-426E-40dd-AFC4-6F175D3DCCD1}">
                  <a14:hiddenFill xmlns:mc="http://schemas.openxmlformats.org/markup-compatibility/2006" xmlns:mv="urn:schemas-microsoft-com:mac:vml" xmlns:a14="http://schemas.microsoft.com/office/drawing/2010/main" xmlns="" xmlns:lc="http://schemas.openxmlformats.org/drawingml/2006/lockedCanvas">
                    <a:solidFill>
                      <a:srgbClr val="FFFFFF"/>
                    </a:solidFill>
                  </a14:hiddenFill>
                </a:ext>
                <a:ext uri="{91240B29-F687-4f45-9708-019B960494DF}">
                  <a14:hiddenLine xmlns:mc="http://schemas.openxmlformats.org/markup-compatibility/2006" xmlns:mv="urn:schemas-microsoft-com:mac:vml" xmlns:a14="http://schemas.microsoft.com/office/drawing/2010/main" xmlns="" xmlns:lc="http://schemas.openxmlformats.org/drawingml/2006/lockedCanvas" w="9525">
                    <a:solidFill>
                      <a:srgbClr val="000000"/>
                    </a:solidFill>
                    <a:miter lim="800000"/>
                    <a:headEnd/>
                    <a:tailEnd/>
                  </a14:hiddenLine>
                </a:ext>
              </a:extLst>
            </p:spPr>
          </p:pic>
          <p:pic>
            <p:nvPicPr>
              <p:cNvPr id="28" name="Picture 27"/>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720998" y="3894788"/>
                <a:ext cx="691418" cy="249878"/>
              </a:xfrm>
              <a:prstGeom prst="rect">
                <a:avLst/>
              </a:prstGeom>
              <a:solidFill>
                <a:srgbClr val="FFFFFF"/>
              </a:solidFill>
              <a:ln w="9525">
                <a:noFill/>
                <a:round/>
                <a:headEnd/>
                <a:tailEnd/>
              </a:ln>
            </p:spPr>
          </p:pic>
          <p:pic>
            <p:nvPicPr>
              <p:cNvPr id="29" name="Picture 28" descr="O_OptimizedSolutions_clr.bmp"/>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962676" y="3886172"/>
                <a:ext cx="696532" cy="251959"/>
              </a:xfrm>
              <a:prstGeom prst="rect">
                <a:avLst/>
              </a:prstGeom>
            </p:spPr>
          </p:pic>
        </p:grpSp>
        <p:pic>
          <p:nvPicPr>
            <p:cNvPr id="22" name="Picture 21" descr="ssparc_sc_t4-4_ta4d.png"/>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781771" y="1577636"/>
              <a:ext cx="772188" cy="1789116"/>
            </a:xfrm>
            <a:prstGeom prst="rect">
              <a:avLst/>
            </a:prstGeom>
          </p:spPr>
        </p:pic>
      </p:grpSp>
      <p:sp>
        <p:nvSpPr>
          <p:cNvPr id="8" name="Rounded Rectangle 31"/>
          <p:cNvSpPr/>
          <p:nvPr/>
        </p:nvSpPr>
        <p:spPr>
          <a:xfrm>
            <a:off x="2607837" y="2860807"/>
            <a:ext cx="4572000" cy="333628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lgn="l" rtl="0" fontAlgn="base">
              <a:spcBef>
                <a:spcPct val="0"/>
              </a:spcBef>
              <a:spcAft>
                <a:spcPct val="0"/>
              </a:spcAft>
              <a:defRPr sz="700" kern="1200">
                <a:solidFill>
                  <a:schemeClr val="lt1"/>
                </a:solidFill>
                <a:latin typeface="+mn-lt"/>
                <a:ea typeface="+mn-ea"/>
                <a:cs typeface="+mn-cs"/>
              </a:defRPr>
            </a:lvl1pPr>
            <a:lvl2pPr marL="169863" indent="114300" algn="l" rtl="0" fontAlgn="base">
              <a:spcBef>
                <a:spcPct val="0"/>
              </a:spcBef>
              <a:spcAft>
                <a:spcPct val="0"/>
              </a:spcAft>
              <a:defRPr sz="700" kern="1200">
                <a:solidFill>
                  <a:schemeClr val="lt1"/>
                </a:solidFill>
                <a:latin typeface="+mn-lt"/>
                <a:ea typeface="+mn-ea"/>
                <a:cs typeface="+mn-cs"/>
              </a:defRPr>
            </a:lvl2pPr>
            <a:lvl3pPr marL="341313" indent="228600" algn="l" rtl="0" fontAlgn="base">
              <a:spcBef>
                <a:spcPct val="0"/>
              </a:spcBef>
              <a:spcAft>
                <a:spcPct val="0"/>
              </a:spcAft>
              <a:defRPr sz="700" kern="1200">
                <a:solidFill>
                  <a:schemeClr val="lt1"/>
                </a:solidFill>
                <a:latin typeface="+mn-lt"/>
                <a:ea typeface="+mn-ea"/>
                <a:cs typeface="+mn-cs"/>
              </a:defRPr>
            </a:lvl3pPr>
            <a:lvl4pPr marL="512763" indent="342900" algn="l" rtl="0" fontAlgn="base">
              <a:spcBef>
                <a:spcPct val="0"/>
              </a:spcBef>
              <a:spcAft>
                <a:spcPct val="0"/>
              </a:spcAft>
              <a:defRPr sz="700" kern="1200">
                <a:solidFill>
                  <a:schemeClr val="lt1"/>
                </a:solidFill>
                <a:latin typeface="+mn-lt"/>
                <a:ea typeface="+mn-ea"/>
                <a:cs typeface="+mn-cs"/>
              </a:defRPr>
            </a:lvl4pPr>
            <a:lvl5pPr marL="684213" indent="455613" algn="l" rtl="0" fontAlgn="base">
              <a:spcBef>
                <a:spcPct val="0"/>
              </a:spcBef>
              <a:spcAft>
                <a:spcPct val="0"/>
              </a:spcAft>
              <a:defRPr sz="700" kern="1200">
                <a:solidFill>
                  <a:schemeClr val="lt1"/>
                </a:solidFill>
                <a:latin typeface="+mn-lt"/>
                <a:ea typeface="+mn-ea"/>
                <a:cs typeface="+mn-cs"/>
              </a:defRPr>
            </a:lvl5pPr>
            <a:lvl6pPr marL="2286000" algn="l" defTabSz="914400" rtl="0" eaLnBrk="1" latinLnBrk="0" hangingPunct="1">
              <a:defRPr sz="700" kern="1200">
                <a:solidFill>
                  <a:schemeClr val="lt1"/>
                </a:solidFill>
                <a:latin typeface="+mn-lt"/>
                <a:ea typeface="+mn-ea"/>
                <a:cs typeface="+mn-cs"/>
              </a:defRPr>
            </a:lvl6pPr>
            <a:lvl7pPr marL="2743200" algn="l" defTabSz="914400" rtl="0" eaLnBrk="1" latinLnBrk="0" hangingPunct="1">
              <a:defRPr sz="700" kern="1200">
                <a:solidFill>
                  <a:schemeClr val="lt1"/>
                </a:solidFill>
                <a:latin typeface="+mn-lt"/>
                <a:ea typeface="+mn-ea"/>
                <a:cs typeface="+mn-cs"/>
              </a:defRPr>
            </a:lvl7pPr>
            <a:lvl8pPr marL="3200400" algn="l" defTabSz="914400" rtl="0" eaLnBrk="1" latinLnBrk="0" hangingPunct="1">
              <a:defRPr sz="700" kern="1200">
                <a:solidFill>
                  <a:schemeClr val="lt1"/>
                </a:solidFill>
                <a:latin typeface="+mn-lt"/>
                <a:ea typeface="+mn-ea"/>
                <a:cs typeface="+mn-cs"/>
              </a:defRPr>
            </a:lvl8pPr>
            <a:lvl9pPr marL="3657600" algn="l" defTabSz="914400" rtl="0" eaLnBrk="1" latinLnBrk="0" hangingPunct="1">
              <a:defRPr sz="700" kern="1200">
                <a:solidFill>
                  <a:schemeClr val="lt1"/>
                </a:solidFill>
                <a:latin typeface="+mn-lt"/>
                <a:ea typeface="+mn-ea"/>
                <a:cs typeface="+mn-cs"/>
              </a:defRPr>
            </a:lvl9pPr>
          </a:lstStyle>
          <a:p>
            <a:endParaRPr lang="en-US" sz="1600" dirty="0" err="1">
              <a:solidFill>
                <a:srgbClr val="000000"/>
              </a:solidFill>
              <a:latin typeface="Arial" pitchFamily="34" charset="0"/>
              <a:cs typeface="Arial" pitchFamily="34" charset="0"/>
            </a:endParaRPr>
          </a:p>
        </p:txBody>
      </p:sp>
      <p:sp>
        <p:nvSpPr>
          <p:cNvPr id="9" name="Content Placeholder 12"/>
          <p:cNvSpPr>
            <a:spLocks noGrp="1"/>
          </p:cNvSpPr>
          <p:nvPr/>
        </p:nvSpPr>
        <p:spPr bwMode="auto">
          <a:xfrm>
            <a:off x="2675883" y="2231884"/>
            <a:ext cx="8139112" cy="318691"/>
          </a:xfrm>
          <a:prstGeom prst="rect">
            <a:avLst/>
          </a:prstGeom>
          <a:noFill/>
          <a:ln>
            <a:noFill/>
          </a:ln>
          <a:extLst>
            <a:ext uri="{909E8E84-426E-40dd-AFC4-6F175D3DCCD1}">
              <a14:hiddenFill xmlns:a14="http://schemas.microsoft.com/office/drawing/2010/main" xmlns="" xmlns:lc="http://schemas.openxmlformats.org/drawingml/2006/lockedCanvas">
                <a:solidFill>
                  <a:srgbClr val="FFFFFF"/>
                </a:solidFill>
              </a14:hiddenFill>
            </a:ext>
            <a:ext uri="{91240B29-F687-4f45-9708-019B960494DF}">
              <a14:hiddenLine xmlns:a14="http://schemas.microsoft.com/office/drawing/2010/main" xmlns="" xmlns:lc="http://schemas.openxmlformats.org/drawingml/2006/lockedCanvas"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0" indent="0" algn="l" rtl="0" eaLnBrk="0" fontAlgn="base" hangingPunct="0">
              <a:spcBef>
                <a:spcPts val="500"/>
              </a:spcBef>
              <a:spcAft>
                <a:spcPts val="200"/>
              </a:spcAft>
              <a:buClr>
                <a:schemeClr val="tx2"/>
              </a:buClr>
              <a:buFont typeface="Arial" pitchFamily="34" charset="0"/>
              <a:buNone/>
              <a:defRPr sz="2400" kern="1200">
                <a:solidFill>
                  <a:schemeClr val="accent2"/>
                </a:solidFill>
                <a:latin typeface="Arial" pitchFamily="34" charset="0"/>
                <a:ea typeface="ＭＳ Ｐゴシック" pitchFamily="127" charset="-128"/>
                <a:cs typeface="ＭＳ Ｐゴシック" pitchFamily="127" charset="-128"/>
              </a:defRPr>
            </a:lvl1pPr>
            <a:lvl2pPr marL="512763" indent="-227013" algn="l" rtl="0" eaLnBrk="0" fontAlgn="base" hangingPunct="0">
              <a:spcBef>
                <a:spcPts val="200"/>
              </a:spcBef>
              <a:spcAft>
                <a:spcPts val="200"/>
              </a:spcAft>
              <a:buFont typeface="Arial" pitchFamily="34" charset="0"/>
              <a:buChar char="–"/>
              <a:defRPr sz="1500" kern="1200">
                <a:solidFill>
                  <a:schemeClr val="tx1"/>
                </a:solidFill>
                <a:latin typeface="Arial" pitchFamily="34" charset="0"/>
                <a:ea typeface="ＭＳ Ｐゴシック" pitchFamily="127" charset="-128"/>
                <a:cs typeface="ＭＳ Ｐゴシック" pitchFamily="127" charset="-128"/>
              </a:defRPr>
            </a:lvl2pPr>
            <a:lvl3pPr marL="712788" indent="-141288" algn="l" rtl="0" eaLnBrk="0" fontAlgn="base" hangingPunct="0">
              <a:spcBef>
                <a:spcPts val="200"/>
              </a:spcBef>
              <a:spcAft>
                <a:spcPts val="200"/>
              </a:spcAft>
              <a:buClr>
                <a:schemeClr val="tx2"/>
              </a:buClr>
              <a:buFont typeface="Arial" pitchFamily="34" charset="0"/>
              <a:buChar char="•"/>
              <a:defRPr sz="1200" kern="1200">
                <a:solidFill>
                  <a:schemeClr val="tx1"/>
                </a:solidFill>
                <a:latin typeface="Arial" pitchFamily="34" charset="0"/>
                <a:ea typeface="ＭＳ Ｐゴシック" pitchFamily="127" charset="-128"/>
                <a:cs typeface="ＭＳ Ｐゴシック" pitchFamily="127" charset="-128"/>
              </a:defRPr>
            </a:lvl3pPr>
            <a:lvl4pPr marL="1085850" indent="-228600" algn="l" rtl="0" eaLnBrk="0" fontAlgn="base" hangingPunct="0">
              <a:spcBef>
                <a:spcPts val="200"/>
              </a:spcBef>
              <a:spcAft>
                <a:spcPts val="200"/>
              </a:spcAft>
              <a:buFont typeface="Arial" pitchFamily="34" charset="0"/>
              <a:buChar char="–"/>
              <a:defRPr sz="1100" kern="1200">
                <a:solidFill>
                  <a:schemeClr val="tx1"/>
                </a:solidFill>
                <a:latin typeface="Arial" pitchFamily="34" charset="0"/>
                <a:ea typeface="ＭＳ Ｐゴシック" pitchFamily="127" charset="-128"/>
                <a:cs typeface="ＭＳ Ｐゴシック" pitchFamily="127" charset="-128"/>
              </a:defRPr>
            </a:lvl4pPr>
            <a:lvl5pPr marL="1374775" indent="-231775" algn="l" rtl="0" eaLnBrk="0" fontAlgn="base" hangingPunct="0">
              <a:spcBef>
                <a:spcPts val="200"/>
              </a:spcBef>
              <a:spcAft>
                <a:spcPts val="200"/>
              </a:spcAft>
              <a:buClr>
                <a:schemeClr val="tx2"/>
              </a:buClr>
              <a:buFont typeface="Arial" pitchFamily="34" charset="0"/>
              <a:buChar char="•"/>
              <a:defRPr sz="1100" kern="1200">
                <a:solidFill>
                  <a:schemeClr val="tx1"/>
                </a:solidFill>
                <a:latin typeface="Arial" pitchFamily="34" charset="0"/>
                <a:ea typeface="ＭＳ Ｐゴシック" pitchFamily="127" charset="-128"/>
                <a:cs typeface="ＭＳ Ｐゴシック" pitchFamily="127" charset="-128"/>
              </a:defRPr>
            </a:lvl5pPr>
            <a:lvl6pPr marL="1570651" indent="-142786" algn="l" defTabSz="571145" rtl="0" eaLnBrk="1" latinLnBrk="0" hangingPunct="1">
              <a:spcBef>
                <a:spcPct val="20000"/>
              </a:spcBef>
              <a:buFont typeface="Arial" pitchFamily="34" charset="0"/>
              <a:buChar char="•"/>
              <a:defRPr sz="1100" kern="1200">
                <a:solidFill>
                  <a:schemeClr val="tx1"/>
                </a:solidFill>
                <a:latin typeface="+mn-lt"/>
                <a:ea typeface="+mn-ea"/>
                <a:cs typeface="+mn-cs"/>
              </a:defRPr>
            </a:lvl6pPr>
            <a:lvl7pPr marL="1856224" indent="-142786" algn="l" defTabSz="571145" rtl="0" eaLnBrk="1" latinLnBrk="0" hangingPunct="1">
              <a:spcBef>
                <a:spcPct val="20000"/>
              </a:spcBef>
              <a:buFont typeface="Arial" pitchFamily="34" charset="0"/>
              <a:buChar char="•"/>
              <a:defRPr sz="1100" kern="1200">
                <a:solidFill>
                  <a:schemeClr val="tx1"/>
                </a:solidFill>
                <a:latin typeface="+mn-lt"/>
                <a:ea typeface="+mn-ea"/>
                <a:cs typeface="+mn-cs"/>
              </a:defRPr>
            </a:lvl7pPr>
            <a:lvl8pPr marL="2141797" indent="-142786" algn="l" defTabSz="571145" rtl="0" eaLnBrk="1" latinLnBrk="0" hangingPunct="1">
              <a:spcBef>
                <a:spcPct val="20000"/>
              </a:spcBef>
              <a:buFont typeface="Arial" pitchFamily="34" charset="0"/>
              <a:buChar char="•"/>
              <a:defRPr sz="1100" kern="1200">
                <a:solidFill>
                  <a:schemeClr val="tx1"/>
                </a:solidFill>
                <a:latin typeface="+mn-lt"/>
                <a:ea typeface="+mn-ea"/>
                <a:cs typeface="+mn-cs"/>
              </a:defRPr>
            </a:lvl8pPr>
            <a:lvl9pPr marL="2427369" indent="-142786" algn="l" defTabSz="571145" rtl="0" eaLnBrk="1" latinLnBrk="0" hangingPunct="1">
              <a:spcBef>
                <a:spcPct val="20000"/>
              </a:spcBef>
              <a:buFont typeface="Arial" pitchFamily="34" charset="0"/>
              <a:buChar char="•"/>
              <a:defRPr sz="1100" kern="1200">
                <a:solidFill>
                  <a:schemeClr val="tx1"/>
                </a:solidFill>
                <a:latin typeface="+mn-lt"/>
                <a:ea typeface="+mn-ea"/>
                <a:cs typeface="+mn-cs"/>
              </a:defRPr>
            </a:lvl9pPr>
          </a:lstStyle>
          <a:p>
            <a:r>
              <a:rPr lang="en-US" dirty="0"/>
              <a:t>Cloud Built-in</a:t>
            </a:r>
          </a:p>
        </p:txBody>
      </p:sp>
      <p:sp>
        <p:nvSpPr>
          <p:cNvPr id="10" name="TextBox 20"/>
          <p:cNvSpPr txBox="1"/>
          <p:nvPr/>
        </p:nvSpPr>
        <p:spPr>
          <a:xfrm>
            <a:off x="4191722" y="2869035"/>
            <a:ext cx="1548903" cy="273909"/>
          </a:xfrm>
          <a:prstGeom prst="rect">
            <a:avLst/>
          </a:prstGeom>
          <a:noFill/>
          <a:ln>
            <a:noFill/>
          </a:ln>
        </p:spPr>
        <p:txBody>
          <a:bodyPr wrap="none" lIns="0" tIns="0" rIns="0" bIns="0" rtlCol="0">
            <a:noAutofit/>
          </a:bodyPr>
          <a:lstStyle>
            <a:defPPr>
              <a:defRPr lang="en-US"/>
            </a:defPPr>
            <a:lvl1pPr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1pPr>
            <a:lvl2pPr marL="169863" indent="1143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2pPr>
            <a:lvl3pPr marL="341313" indent="2286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3pPr>
            <a:lvl4pPr marL="512763" indent="3429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4pPr>
            <a:lvl5pPr marL="684213" indent="455613"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5pPr>
            <a:lvl6pPr marL="22860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6pPr>
            <a:lvl7pPr marL="27432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7pPr>
            <a:lvl8pPr marL="32004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8pPr>
            <a:lvl9pPr marL="36576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9pPr>
          </a:lstStyle>
          <a:p>
            <a:r>
              <a:rPr lang="en-US" sz="1800" b="1" dirty="0">
                <a:solidFill>
                  <a:srgbClr val="FFFFFF"/>
                </a:solidFill>
              </a:rPr>
              <a:t>Purpose Built</a:t>
            </a:r>
          </a:p>
        </p:txBody>
      </p:sp>
      <p:sp>
        <p:nvSpPr>
          <p:cNvPr id="11" name="TextBox 28"/>
          <p:cNvSpPr txBox="1"/>
          <p:nvPr/>
        </p:nvSpPr>
        <p:spPr>
          <a:xfrm>
            <a:off x="4435596" y="4673901"/>
            <a:ext cx="638966" cy="273909"/>
          </a:xfrm>
          <a:prstGeom prst="rect">
            <a:avLst/>
          </a:prstGeom>
          <a:noFill/>
          <a:ln>
            <a:noFill/>
          </a:ln>
        </p:spPr>
        <p:txBody>
          <a:bodyPr wrap="none" lIns="0" tIns="0" rIns="0" bIns="0" rtlCol="0">
            <a:noAutofit/>
          </a:bodyPr>
          <a:lstStyle>
            <a:defPPr>
              <a:defRPr lang="en-US"/>
            </a:defPPr>
            <a:lvl1pPr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1pPr>
            <a:lvl2pPr marL="169863" indent="1143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2pPr>
            <a:lvl3pPr marL="341313" indent="2286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3pPr>
            <a:lvl4pPr marL="512763" indent="3429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4pPr>
            <a:lvl5pPr marL="684213" indent="455613"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5pPr>
            <a:lvl6pPr marL="22860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6pPr>
            <a:lvl7pPr marL="27432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7pPr>
            <a:lvl8pPr marL="32004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8pPr>
            <a:lvl9pPr marL="36576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9pPr>
          </a:lstStyle>
          <a:p>
            <a:r>
              <a:rPr lang="en-US" sz="1200" b="1" dirty="0">
                <a:solidFill>
                  <a:srgbClr val="000000"/>
                </a:solidFill>
              </a:rPr>
              <a:t>Big Data</a:t>
            </a:r>
          </a:p>
        </p:txBody>
      </p:sp>
      <p:pic>
        <p:nvPicPr>
          <p:cNvPr id="12" name="Picture 11" descr="Exalogic_1up_0074.png"/>
          <p:cNvPicPr>
            <a:picLocks/>
          </p:cNvPicPr>
          <p:nvPr/>
        </p:nvPicPr>
        <p:blipFill>
          <a:blip r:embed="rId7" cstate="screen">
            <a:extLst>
              <a:ext uri="{28A0092B-C50C-407E-A947-70E740481C1C}">
                <a14:useLocalDpi xmlns:a14="http://schemas.microsoft.com/office/drawing/2010/main"/>
              </a:ext>
            </a:extLst>
          </a:blip>
          <a:srcRect/>
          <a:stretch>
            <a:fillRect/>
          </a:stretch>
        </p:blipFill>
        <p:spPr bwMode="auto">
          <a:xfrm>
            <a:off x="4502012" y="3191997"/>
            <a:ext cx="951284" cy="1729607"/>
          </a:xfrm>
          <a:prstGeom prst="rect">
            <a:avLst/>
          </a:prstGeom>
          <a:noFill/>
          <a:ln w="9525">
            <a:noFill/>
            <a:miter lim="800000"/>
            <a:headEnd/>
            <a:tailEnd/>
          </a:ln>
        </p:spPr>
      </p:pic>
      <p:sp>
        <p:nvSpPr>
          <p:cNvPr id="13" name="TextBox 30"/>
          <p:cNvSpPr txBox="1"/>
          <p:nvPr/>
        </p:nvSpPr>
        <p:spPr>
          <a:xfrm>
            <a:off x="4690726" y="4925693"/>
            <a:ext cx="628429" cy="273909"/>
          </a:xfrm>
          <a:prstGeom prst="rect">
            <a:avLst/>
          </a:prstGeom>
          <a:noFill/>
          <a:ln>
            <a:noFill/>
          </a:ln>
        </p:spPr>
        <p:txBody>
          <a:bodyPr wrap="none" lIns="0" tIns="0" rIns="0" bIns="0" rtlCol="0">
            <a:noAutofit/>
          </a:bodyPr>
          <a:lstStyle>
            <a:defPPr>
              <a:defRPr lang="en-US"/>
            </a:defPPr>
            <a:lvl1pPr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1pPr>
            <a:lvl2pPr marL="169863" indent="1143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2pPr>
            <a:lvl3pPr marL="341313" indent="2286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3pPr>
            <a:lvl4pPr marL="512763" indent="3429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4pPr>
            <a:lvl5pPr marL="684213" indent="455613"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5pPr>
            <a:lvl6pPr marL="22860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6pPr>
            <a:lvl7pPr marL="27432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7pPr>
            <a:lvl8pPr marL="32004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8pPr>
            <a:lvl9pPr marL="36576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9pPr>
          </a:lstStyle>
          <a:p>
            <a:r>
              <a:rPr lang="en-US" sz="1200" b="1" dirty="0">
                <a:solidFill>
                  <a:srgbClr val="000000"/>
                </a:solidFill>
              </a:rPr>
              <a:t>Exalogic</a:t>
            </a:r>
          </a:p>
        </p:txBody>
      </p:sp>
      <p:pic>
        <p:nvPicPr>
          <p:cNvPr id="14" name="Picture 13" descr="ExadataX2-2_1up_00784.png"/>
          <p:cNvPicPr>
            <a:picLocks/>
          </p:cNvPicPr>
          <p:nvPr/>
        </p:nvPicPr>
        <p:blipFill>
          <a:blip r:embed="rId8" cstate="print"/>
          <a:srcRect/>
          <a:stretch>
            <a:fillRect/>
          </a:stretch>
        </p:blipFill>
        <p:spPr bwMode="auto">
          <a:xfrm>
            <a:off x="2930745" y="3164562"/>
            <a:ext cx="951284" cy="1729607"/>
          </a:xfrm>
          <a:prstGeom prst="rect">
            <a:avLst/>
          </a:prstGeom>
          <a:noFill/>
          <a:ln w="9525">
            <a:noFill/>
            <a:miter lim="800000"/>
            <a:headEnd/>
            <a:tailEnd/>
          </a:ln>
        </p:spPr>
      </p:pic>
      <p:sp>
        <p:nvSpPr>
          <p:cNvPr id="15" name="TextBox 32"/>
          <p:cNvSpPr txBox="1"/>
          <p:nvPr/>
        </p:nvSpPr>
        <p:spPr>
          <a:xfrm>
            <a:off x="3141826" y="4925693"/>
            <a:ext cx="586283" cy="273909"/>
          </a:xfrm>
          <a:prstGeom prst="rect">
            <a:avLst/>
          </a:prstGeom>
          <a:noFill/>
          <a:ln>
            <a:noFill/>
          </a:ln>
        </p:spPr>
        <p:txBody>
          <a:bodyPr wrap="none" lIns="0" tIns="0" rIns="0" bIns="0" rtlCol="0">
            <a:noAutofit/>
          </a:bodyPr>
          <a:lstStyle>
            <a:defPPr>
              <a:defRPr lang="en-US"/>
            </a:defPPr>
            <a:lvl1pPr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1pPr>
            <a:lvl2pPr marL="169863" indent="1143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2pPr>
            <a:lvl3pPr marL="341313" indent="2286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3pPr>
            <a:lvl4pPr marL="512763" indent="3429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4pPr>
            <a:lvl5pPr marL="684213" indent="455613"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5pPr>
            <a:lvl6pPr marL="22860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6pPr>
            <a:lvl7pPr marL="27432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7pPr>
            <a:lvl8pPr marL="32004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8pPr>
            <a:lvl9pPr marL="36576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9pPr>
          </a:lstStyle>
          <a:p>
            <a:r>
              <a:rPr lang="en-US" sz="1200" b="1" dirty="0">
                <a:solidFill>
                  <a:srgbClr val="000000"/>
                </a:solidFill>
              </a:rPr>
              <a:t>Exadata</a:t>
            </a:r>
          </a:p>
        </p:txBody>
      </p:sp>
      <p:pic>
        <p:nvPicPr>
          <p:cNvPr id="16" name="Picture 15"/>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3534915" y="5772296"/>
            <a:ext cx="1212817" cy="385356"/>
          </a:xfrm>
          <a:prstGeom prst="rect">
            <a:avLst/>
          </a:prstGeom>
          <a:noFill/>
          <a:ln>
            <a:noFill/>
          </a:ln>
          <a:extLst>
            <a:ext uri="{909E8E84-426E-40dd-AFC4-6F175D3DCCD1}">
              <a14:hiddenFill xmlns:mc="http://schemas.openxmlformats.org/markup-compatibility/2006" xmlns:mv="urn:schemas-microsoft-com:mac:vml" xmlns:a14="http://schemas.microsoft.com/office/drawing/2010/main" xmlns="" xmlns:lc="http://schemas.openxmlformats.org/drawingml/2006/lockedCanvas">
                <a:solidFill>
                  <a:srgbClr val="FFFFFF"/>
                </a:solidFill>
              </a14:hiddenFill>
            </a:ext>
            <a:ext uri="{91240B29-F687-4f45-9708-019B960494DF}">
              <a14:hiddenLine xmlns:mc="http://schemas.openxmlformats.org/markup-compatibility/2006" xmlns:mv="urn:schemas-microsoft-com:mac:vml" xmlns:a14="http://schemas.microsoft.com/office/drawing/2010/main" xmlns="" xmlns:lc="http://schemas.openxmlformats.org/drawingml/2006/lockedCanvas" w="9525">
                <a:solidFill>
                  <a:srgbClr val="000000"/>
                </a:solidFill>
                <a:miter lim="800000"/>
                <a:headEnd/>
                <a:tailEnd/>
              </a14:hiddenLine>
            </a:ext>
          </a:extLst>
        </p:spPr>
      </p:pic>
      <p:pic>
        <p:nvPicPr>
          <p:cNvPr id="17" name="Picture 16"/>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5051414" y="5777299"/>
            <a:ext cx="986579" cy="380353"/>
          </a:xfrm>
          <a:prstGeom prst="rect">
            <a:avLst/>
          </a:prstGeom>
          <a:noFill/>
          <a:ln>
            <a:noFill/>
          </a:ln>
          <a:extLst>
            <a:ext uri="{909E8E84-426E-40dd-AFC4-6F175D3DCCD1}">
              <a14:hiddenFill xmlns:mc="http://schemas.openxmlformats.org/markup-compatibility/2006" xmlns:mv="urn:schemas-microsoft-com:mac:vml" xmlns:a14="http://schemas.microsoft.com/office/drawing/2010/main" xmlns="" xmlns:lc="http://schemas.openxmlformats.org/drawingml/2006/lockedCanvas">
                <a:solidFill>
                  <a:srgbClr val="FFFFFF"/>
                </a:solidFill>
              </a14:hiddenFill>
            </a:ext>
            <a:ext uri="{91240B29-F687-4f45-9708-019B960494DF}">
              <a14:hiddenLine xmlns:mc="http://schemas.openxmlformats.org/markup-compatibility/2006" xmlns:mv="urn:schemas-microsoft-com:mac:vml" xmlns:a14="http://schemas.microsoft.com/office/drawing/2010/main" xmlns="" xmlns:lc="http://schemas.openxmlformats.org/drawingml/2006/lockedCanvas" w="9525">
                <a:solidFill>
                  <a:srgbClr val="000000"/>
                </a:solidFill>
                <a:miter lim="800000"/>
                <a:headEnd/>
                <a:tailEnd/>
              </a14:hiddenLine>
            </a:ext>
          </a:extLst>
        </p:spPr>
      </p:pic>
      <p:pic>
        <p:nvPicPr>
          <p:cNvPr id="18" name="Picture 17" descr="4-04.png"/>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5250072" y="5187178"/>
            <a:ext cx="1210958" cy="467914"/>
          </a:xfrm>
          <a:prstGeom prst="rect">
            <a:avLst/>
          </a:prstGeom>
        </p:spPr>
      </p:pic>
      <p:pic>
        <p:nvPicPr>
          <p:cNvPr id="19" name="c3b12d64-20b5-42bb-bc40-62fd51f7cb46" descr="827CDB06-9D38-42D3-85C2-F4AE1F21F057@us"/>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5982864" y="3166042"/>
            <a:ext cx="762575" cy="1761672"/>
          </a:xfrm>
          <a:prstGeom prst="rect">
            <a:avLst/>
          </a:prstGeom>
          <a:noFill/>
          <a:ln w="9525">
            <a:noFill/>
            <a:miter lim="800000"/>
            <a:headEnd/>
            <a:tailEnd/>
          </a:ln>
        </p:spPr>
      </p:pic>
      <p:pic>
        <p:nvPicPr>
          <p:cNvPr id="20" name="Picture 19"/>
          <p:cNvPicPr>
            <a:picLocks noChangeAspect="1"/>
          </p:cNvPicPr>
          <p:nvPr/>
        </p:nvPicPr>
        <p:blipFill>
          <a:blip r:embed="rId13" cstate="print"/>
          <a:srcRect/>
          <a:stretch>
            <a:fillRect/>
          </a:stretch>
        </p:blipFill>
        <p:spPr bwMode="auto">
          <a:xfrm>
            <a:off x="3194244" y="5136775"/>
            <a:ext cx="1570017" cy="588757"/>
          </a:xfrm>
          <a:prstGeom prst="rect">
            <a:avLst/>
          </a:prstGeom>
          <a:noFill/>
          <a:ln w="9525">
            <a:noFill/>
            <a:miter lim="800000"/>
            <a:headEnd/>
            <a:tailEnd/>
          </a:ln>
        </p:spPr>
      </p:pic>
    </p:spTree>
    <p:extLst>
      <p:ext uri="{BB962C8B-B14F-4D97-AF65-F5344CB8AC3E}">
        <p14:creationId xmlns:p14="http://schemas.microsoft.com/office/powerpoint/2010/main" val="644715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0904" y="123826"/>
            <a:ext cx="12046226" cy="954156"/>
          </a:xfrm>
        </p:spPr>
        <p:txBody>
          <a:bodyPr>
            <a:normAutofit/>
          </a:bodyPr>
          <a:lstStyle/>
          <a:p>
            <a:pPr algn="ctr"/>
            <a:r>
              <a:rPr lang="en-US" sz="4000" dirty="0">
                <a:latin typeface="Cambria" panose="02040503050406030204" pitchFamily="18" charset="0"/>
              </a:rPr>
              <a:t>Nike</a:t>
            </a:r>
          </a:p>
        </p:txBody>
      </p:sp>
      <p:sp>
        <p:nvSpPr>
          <p:cNvPr id="3" name="Content Placeholder 2"/>
          <p:cNvSpPr>
            <a:spLocks noGrp="1"/>
          </p:cNvSpPr>
          <p:nvPr>
            <p:ph idx="1"/>
          </p:nvPr>
        </p:nvSpPr>
        <p:spPr>
          <a:xfrm>
            <a:off x="252200" y="1029530"/>
            <a:ext cx="12191999" cy="6142382"/>
          </a:xfrm>
        </p:spPr>
        <p:txBody>
          <a:bodyPr>
            <a:normAutofit/>
          </a:bodyPr>
          <a:lstStyle/>
          <a:p>
            <a:endParaRPr lang="en-US" sz="2000" dirty="0">
              <a:latin typeface="Cambria" panose="02040503050406030204" pitchFamily="18" charset="0"/>
            </a:endParaRPr>
          </a:p>
          <a:p>
            <a:endParaRPr lang="en-US" sz="2000" dirty="0">
              <a:latin typeface="Cambria" panose="02040503050406030204" pitchFamily="18" charset="0"/>
            </a:endParaRPr>
          </a:p>
          <a:p>
            <a:r>
              <a:rPr lang="en-US" sz="2000" dirty="0">
                <a:latin typeface="Cambria" panose="02040503050406030204" pitchFamily="18" charset="0"/>
              </a:rPr>
              <a:t> Nike launched its biggest-ever female focused advertising push with the “Better for It” campaign.</a:t>
            </a:r>
          </a:p>
          <a:p>
            <a:pPr marL="0" indent="0">
              <a:buNone/>
            </a:pPr>
            <a:endParaRPr lang="en-US" sz="2000" dirty="0">
              <a:latin typeface="Cambria" panose="02040503050406030204" pitchFamily="18" charset="0"/>
            </a:endParaRPr>
          </a:p>
          <a:p>
            <a:r>
              <a:rPr lang="en-US" sz="2000" dirty="0">
                <a:latin typeface="Cambria" panose="02040503050406030204" pitchFamily="18" charset="0"/>
              </a:rPr>
              <a:t> In addition to “Better for It,” there was the whimsical World Cup– themed “Winner Stays On,” a tribute to LeBron James following his NBA defeat, and an ode to the last-place marathon finisher.</a:t>
            </a:r>
          </a:p>
          <a:p>
            <a:pPr marL="0" indent="0">
              <a:buNone/>
            </a:pPr>
            <a:endParaRPr lang="en-US" sz="2000" dirty="0">
              <a:latin typeface="Cambria" panose="02040503050406030204" pitchFamily="18" charset="0"/>
            </a:endParaRPr>
          </a:p>
          <a:p>
            <a:r>
              <a:rPr lang="en-US" sz="2000" dirty="0">
                <a:latin typeface="Cambria" panose="02040503050406030204" pitchFamily="18" charset="0"/>
              </a:rPr>
              <a:t>They believe in “Change is in the air for Nike.”</a:t>
            </a:r>
            <a:endParaRPr lang="en-US" dirty="0"/>
          </a:p>
          <a:p>
            <a:pPr marL="0" indent="0">
              <a:buNone/>
            </a:pPr>
            <a:endParaRPr lang="en-US" dirty="0"/>
          </a:p>
        </p:txBody>
      </p:sp>
      <p:pic>
        <p:nvPicPr>
          <p:cNvPr id="4" name="Picture 3"/>
          <p:cNvPicPr>
            <a:picLocks noChangeAspect="1"/>
          </p:cNvPicPr>
          <p:nvPr/>
        </p:nvPicPr>
        <p:blipFill>
          <a:blip r:embed="rId2"/>
          <a:stretch>
            <a:fillRect/>
          </a:stretch>
        </p:blipFill>
        <p:spPr>
          <a:xfrm>
            <a:off x="5690975" y="238955"/>
            <a:ext cx="1314450" cy="790575"/>
          </a:xfrm>
          <a:prstGeom prst="rect">
            <a:avLst/>
          </a:prstGeom>
        </p:spPr>
      </p:pic>
    </p:spTree>
    <p:extLst>
      <p:ext uri="{BB962C8B-B14F-4D97-AF65-F5344CB8AC3E}">
        <p14:creationId xmlns:p14="http://schemas.microsoft.com/office/powerpoint/2010/main" val="4239735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940904" y="123826"/>
            <a:ext cx="12046226" cy="95415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Cambria" panose="02040503050406030204" pitchFamily="18" charset="0"/>
              </a:rPr>
              <a:t>HP</a:t>
            </a:r>
          </a:p>
        </p:txBody>
      </p:sp>
      <p:sp>
        <p:nvSpPr>
          <p:cNvPr id="12" name="Content Placeholder 2"/>
          <p:cNvSpPr txBox="1">
            <a:spLocks/>
          </p:cNvSpPr>
          <p:nvPr/>
        </p:nvSpPr>
        <p:spPr>
          <a:xfrm>
            <a:off x="0" y="715618"/>
            <a:ext cx="12191999" cy="61423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Cambria" panose="02040503050406030204" pitchFamily="18" charset="0"/>
            </a:endParaRPr>
          </a:p>
          <a:p>
            <a:pPr marL="0" indent="0">
              <a:buNone/>
            </a:pPr>
            <a:endParaRPr lang="en-US" sz="2000" dirty="0">
              <a:latin typeface="Cambria" panose="02040503050406030204" pitchFamily="18" charset="0"/>
            </a:endParaRPr>
          </a:p>
          <a:p>
            <a:r>
              <a:rPr lang="en-US" sz="2000" dirty="0">
                <a:latin typeface="Cambria" panose="02040503050406030204" pitchFamily="18" charset="0"/>
              </a:rPr>
              <a:t> The USP of HP  is that it has got largest division in its corporate history.</a:t>
            </a:r>
          </a:p>
          <a:p>
            <a:pPr marL="0" indent="0">
              <a:buFont typeface="Arial" panose="020B0604020202020204" pitchFamily="34" charset="0"/>
              <a:buNone/>
            </a:pPr>
            <a:endParaRPr lang="en-US" sz="2000" dirty="0">
              <a:latin typeface="Cambria" panose="02040503050406030204" pitchFamily="18" charset="0"/>
            </a:endParaRPr>
          </a:p>
          <a:p>
            <a:r>
              <a:rPr lang="en-US" sz="2000" dirty="0">
                <a:latin typeface="Cambria" panose="02040503050406030204" pitchFamily="18" charset="0"/>
              </a:rPr>
              <a:t> The company continues to innovate, and its most ambitious research effort is The Machine, which reinvents the fundamental architecture of computers to enable a quantum leap in performance, power efficiency, and security.</a:t>
            </a:r>
          </a:p>
          <a:p>
            <a:pPr marL="0" indent="0">
              <a:buNone/>
            </a:pPr>
            <a:endParaRPr lang="en-US" sz="2000" dirty="0">
              <a:latin typeface="Cambria" panose="02040503050406030204" pitchFamily="18" charset="0"/>
            </a:endParaRPr>
          </a:p>
          <a:p>
            <a:endParaRPr lang="en-US" dirty="0"/>
          </a:p>
        </p:txBody>
      </p:sp>
      <p:sp>
        <p:nvSpPr>
          <p:cNvPr id="13" name="TextBox 12"/>
          <p:cNvSpPr txBox="1"/>
          <p:nvPr/>
        </p:nvSpPr>
        <p:spPr>
          <a:xfrm>
            <a:off x="132522" y="3310471"/>
            <a:ext cx="9899374" cy="3585597"/>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Efficient use of communication tools and tactics that HP used</a:t>
            </a:r>
          </a:p>
          <a:p>
            <a:endParaRPr lang="en-US" b="1"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Demand generation.</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Sales and marketing tools.</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Channel announcement email.</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Channel Implementation guide.</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Campaign Introduction video.</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3972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4975" y="1122669"/>
            <a:ext cx="9214541" cy="5311264"/>
          </a:xfrm>
          <a:prstGeom prst="rect">
            <a:avLst/>
          </a:prstGeom>
        </p:spPr>
      </p:pic>
      <p:sp>
        <p:nvSpPr>
          <p:cNvPr id="5" name="TextBox 4"/>
          <p:cNvSpPr txBox="1"/>
          <p:nvPr/>
        </p:nvSpPr>
        <p:spPr>
          <a:xfrm>
            <a:off x="1934817" y="304799"/>
            <a:ext cx="853440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Small demo page on marketing software.</a:t>
            </a:r>
          </a:p>
        </p:txBody>
      </p:sp>
    </p:spTree>
    <p:extLst>
      <p:ext uri="{BB962C8B-B14F-4D97-AF65-F5344CB8AC3E}">
        <p14:creationId xmlns:p14="http://schemas.microsoft.com/office/powerpoint/2010/main" val="919791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940904" y="123826"/>
            <a:ext cx="12046226" cy="95415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Cambria" panose="02040503050406030204" pitchFamily="18" charset="0"/>
              </a:rPr>
              <a:t>HONDA</a:t>
            </a:r>
          </a:p>
        </p:txBody>
      </p:sp>
      <p:sp>
        <p:nvSpPr>
          <p:cNvPr id="12" name="Content Placeholder 2"/>
          <p:cNvSpPr txBox="1">
            <a:spLocks/>
          </p:cNvSpPr>
          <p:nvPr/>
        </p:nvSpPr>
        <p:spPr>
          <a:xfrm>
            <a:off x="661183" y="600904"/>
            <a:ext cx="10705514" cy="61423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Cambria" panose="02040503050406030204" pitchFamily="18" charset="0"/>
            </a:endParaRPr>
          </a:p>
          <a:p>
            <a:pPr marL="0" indent="0">
              <a:buNone/>
            </a:pPr>
            <a:endParaRPr lang="en-US" sz="2000" dirty="0">
              <a:latin typeface="Cambria" panose="02040503050406030204" pitchFamily="18" charset="0"/>
            </a:endParaRPr>
          </a:p>
          <a:p>
            <a:r>
              <a:rPr lang="en-US" sz="2200" dirty="0">
                <a:latin typeface="Cambria" panose="02040503050406030204" pitchFamily="18" charset="0"/>
              </a:rPr>
              <a:t> Honda launched a campaign known as “The Endless Road,” which features a remarkably creative “never-ending” YouTube video that is bespoke to its audience—seamlessly personalized using real-time location data. </a:t>
            </a:r>
          </a:p>
          <a:p>
            <a:pPr marL="0" indent="0">
              <a:buNone/>
            </a:pPr>
            <a:endParaRPr lang="en-US" sz="2200" dirty="0">
              <a:latin typeface="Cambria" panose="02040503050406030204" pitchFamily="18" charset="0"/>
            </a:endParaRPr>
          </a:p>
          <a:p>
            <a:r>
              <a:rPr lang="en-US" sz="2200" dirty="0">
                <a:latin typeface="Cambria" panose="02040503050406030204" pitchFamily="18" charset="0"/>
              </a:rPr>
              <a:t> Honda is employing new products and novel marketing efforts to demonstrate innovation and progress.</a:t>
            </a:r>
          </a:p>
          <a:p>
            <a:pPr marL="0" indent="0">
              <a:buNone/>
            </a:pPr>
            <a:endParaRPr lang="en-US" sz="2200" dirty="0">
              <a:latin typeface="Cambria" panose="02040503050406030204" pitchFamily="18" charset="0"/>
            </a:endParaRPr>
          </a:p>
          <a:p>
            <a:endParaRPr lang="en-US" dirty="0"/>
          </a:p>
        </p:txBody>
      </p:sp>
      <p:sp>
        <p:nvSpPr>
          <p:cNvPr id="13" name="TextBox 12"/>
          <p:cNvSpPr txBox="1"/>
          <p:nvPr/>
        </p:nvSpPr>
        <p:spPr>
          <a:xfrm>
            <a:off x="132522" y="3310471"/>
            <a:ext cx="9899374" cy="369332"/>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7198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940904" y="123826"/>
            <a:ext cx="12046226" cy="95415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4000" dirty="0">
              <a:latin typeface="Cambria" panose="02040503050406030204" pitchFamily="18" charset="0"/>
            </a:endParaRPr>
          </a:p>
        </p:txBody>
      </p:sp>
      <p:sp>
        <p:nvSpPr>
          <p:cNvPr id="12" name="Content Placeholder 2"/>
          <p:cNvSpPr txBox="1">
            <a:spLocks/>
          </p:cNvSpPr>
          <p:nvPr/>
        </p:nvSpPr>
        <p:spPr>
          <a:xfrm>
            <a:off x="295423" y="608612"/>
            <a:ext cx="10705514" cy="61423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dirty="0">
              <a:latin typeface="Cambria" panose="02040503050406030204" pitchFamily="18" charset="0"/>
            </a:endParaRPr>
          </a:p>
          <a:p>
            <a:pPr marL="0" indent="0">
              <a:buNone/>
            </a:pPr>
            <a:endParaRPr lang="en-US" sz="2000" dirty="0">
              <a:latin typeface="Cambria" panose="02040503050406030204" pitchFamily="18" charset="0"/>
            </a:endParaRPr>
          </a:p>
          <a:p>
            <a:r>
              <a:rPr lang="en-US" sz="2200" dirty="0">
                <a:latin typeface="Cambria" panose="02040503050406030204" pitchFamily="18" charset="0"/>
              </a:rPr>
              <a:t> Grands </a:t>
            </a:r>
            <a:r>
              <a:rPr lang="en-US" sz="2200" dirty="0" err="1">
                <a:latin typeface="Cambria" panose="02040503050406030204" pitchFamily="18" charset="0"/>
              </a:rPr>
              <a:t>Classiques</a:t>
            </a:r>
            <a:r>
              <a:rPr lang="en-US" sz="2200" dirty="0">
                <a:latin typeface="Cambria" panose="02040503050406030204" pitchFamily="18" charset="0"/>
              </a:rPr>
              <a:t> (a French term for “coveted icons”) are new, innovative, and sometimes shocking when introduced, but over time they become classics. </a:t>
            </a:r>
          </a:p>
          <a:p>
            <a:endParaRPr lang="en-US" sz="2200" dirty="0">
              <a:latin typeface="Cambria" panose="02040503050406030204" pitchFamily="18" charset="0"/>
            </a:endParaRPr>
          </a:p>
          <a:p>
            <a:r>
              <a:rPr lang="en-US" sz="2200" dirty="0">
                <a:latin typeface="Cambria" panose="02040503050406030204" pitchFamily="18" charset="0"/>
              </a:rPr>
              <a:t>A focus on retail and sales networks, along with a continued emphasis on creativity and quality.</a:t>
            </a:r>
          </a:p>
          <a:p>
            <a:endParaRPr lang="en-US" sz="2200" dirty="0">
              <a:latin typeface="Cambria" panose="02040503050406030204" pitchFamily="18" charset="0"/>
            </a:endParaRPr>
          </a:p>
          <a:p>
            <a:r>
              <a:rPr lang="en-US" sz="2200" dirty="0">
                <a:latin typeface="Cambria" panose="02040503050406030204" pitchFamily="18" charset="0"/>
              </a:rPr>
              <a:t> “Don’t believe in borders,” and “dare to new frontiers” are just a few of the sentiments from “The Spirit of Travel,” Louis Vuitton’s campaign film, which values the experience of the journey as much as the destination.</a:t>
            </a:r>
          </a:p>
          <a:p>
            <a:pPr marL="0" indent="0">
              <a:buNone/>
            </a:pPr>
            <a:endParaRPr lang="en-US" sz="2200" dirty="0">
              <a:latin typeface="Cambria" panose="02040503050406030204" pitchFamily="18" charset="0"/>
            </a:endParaRPr>
          </a:p>
          <a:p>
            <a:endParaRPr lang="en-US" dirty="0"/>
          </a:p>
        </p:txBody>
      </p:sp>
      <p:sp>
        <p:nvSpPr>
          <p:cNvPr id="13" name="TextBox 12"/>
          <p:cNvSpPr txBox="1"/>
          <p:nvPr/>
        </p:nvSpPr>
        <p:spPr>
          <a:xfrm>
            <a:off x="132522" y="3310471"/>
            <a:ext cx="9899374" cy="369332"/>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p:txBody>
      </p:sp>
      <p:sp>
        <p:nvSpPr>
          <p:cNvPr id="5" name="Title 1"/>
          <p:cNvSpPr txBox="1">
            <a:spLocks/>
          </p:cNvSpPr>
          <p:nvPr/>
        </p:nvSpPr>
        <p:spPr>
          <a:xfrm>
            <a:off x="-788504" y="276226"/>
            <a:ext cx="12046226" cy="95415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Cambria" panose="02040503050406030204" pitchFamily="18" charset="0"/>
              </a:rPr>
              <a:t>Louis Vuitton</a:t>
            </a:r>
          </a:p>
        </p:txBody>
      </p:sp>
    </p:spTree>
    <p:extLst>
      <p:ext uri="{BB962C8B-B14F-4D97-AF65-F5344CB8AC3E}">
        <p14:creationId xmlns:p14="http://schemas.microsoft.com/office/powerpoint/2010/main" val="16474881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TM02900720[[fn=Integral]]</Template>
  <TotalTime>281</TotalTime>
  <Words>847</Words>
  <Application>Microsoft Office PowerPoint</Application>
  <PresentationFormat>Widescreen</PresentationFormat>
  <Paragraphs>110</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ＭＳ Ｐゴシック</vt:lpstr>
      <vt:lpstr>Arial</vt:lpstr>
      <vt:lpstr>Calibri</vt:lpstr>
      <vt:lpstr>Calibri Light</vt:lpstr>
      <vt:lpstr>Cambria</vt:lpstr>
      <vt:lpstr>Times New Roman</vt:lpstr>
      <vt:lpstr>Office Theme</vt:lpstr>
      <vt:lpstr>PowerPoint Presentation</vt:lpstr>
      <vt:lpstr>Toyota</vt:lpstr>
      <vt:lpstr>Toyota</vt:lpstr>
      <vt:lpstr>Samsung </vt:lpstr>
      <vt:lpstr>Samsung </vt:lpstr>
      <vt:lpstr>GE</vt:lpstr>
      <vt:lpstr>McDonald’s</vt:lpstr>
      <vt:lpstr>Oracle</vt:lpstr>
      <vt:lpstr>Nike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Anupam  Naskar</dc:creator>
  <cp:lastModifiedBy>Akshatha Panchakshari</cp:lastModifiedBy>
  <cp:revision>27</cp:revision>
  <dcterms:created xsi:type="dcterms:W3CDTF">2016-08-29T09:38:49Z</dcterms:created>
  <dcterms:modified xsi:type="dcterms:W3CDTF">2016-08-29T17:28:58Z</dcterms:modified>
</cp:coreProperties>
</file>
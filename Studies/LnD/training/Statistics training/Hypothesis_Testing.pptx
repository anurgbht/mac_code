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98" r:id="rId2"/>
    <p:sldId id="573" r:id="rId3"/>
    <p:sldId id="585" r:id="rId4"/>
    <p:sldId id="575" r:id="rId5"/>
    <p:sldId id="597" r:id="rId6"/>
    <p:sldId id="586" r:id="rId7"/>
    <p:sldId id="588" r:id="rId8"/>
    <p:sldId id="589" r:id="rId9"/>
    <p:sldId id="590" r:id="rId10"/>
    <p:sldId id="591" r:id="rId11"/>
    <p:sldId id="592" r:id="rId12"/>
    <p:sldId id="594" r:id="rId13"/>
    <p:sldId id="593" r:id="rId14"/>
    <p:sldId id="595" r:id="rId15"/>
    <p:sldId id="59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A50021"/>
    <a:srgbClr val="EAB2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68" autoAdjust="0"/>
    <p:restoredTop sz="69534" autoAdjust="0"/>
  </p:normalViewPr>
  <p:slideViewPr>
    <p:cSldViewPr>
      <p:cViewPr>
        <p:scale>
          <a:sx n="81" d="100"/>
          <a:sy n="81" d="100"/>
        </p:scale>
        <p:origin x="-1266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6EB01-9AF7-440A-AB9A-E9CA5D124CB8}" type="datetimeFigureOut">
              <a:rPr lang="en-US" smtClean="0"/>
              <a:pPr/>
              <a:t>8/7/2016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E823E-8B00-4D21-9D72-A02300B0F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5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padma\Downloads\fotolia_546398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rgbClr val="C7DEF7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906000" cy="6874764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 bwMode="gray">
          <a:xfrm>
            <a:off x="2460625" y="4256720"/>
            <a:ext cx="7445375" cy="713105"/>
          </a:xfrm>
          <a:prstGeom prst="rect">
            <a:avLst/>
          </a:prstGeom>
          <a:solidFill>
            <a:schemeClr val="tx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2460625" y="3186112"/>
            <a:ext cx="7445375" cy="1004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0625" y="3140969"/>
            <a:ext cx="7416824" cy="1008112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0625" y="4293096"/>
            <a:ext cx="6552728" cy="64807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9301"/>
            <a:ext cx="8229600" cy="4525963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tx2">
                  <a:lumMod val="50000"/>
                </a:schemeClr>
              </a:buClr>
              <a:defRPr sz="2400"/>
            </a:lvl1pPr>
            <a:lvl2pPr>
              <a:buClr>
                <a:schemeClr val="tx2">
                  <a:lumMod val="50000"/>
                </a:schemeClr>
              </a:buClr>
              <a:defRPr sz="2000"/>
            </a:lvl2pPr>
            <a:lvl3pPr>
              <a:buClr>
                <a:schemeClr val="tx2">
                  <a:lumMod val="50000"/>
                </a:schemeClr>
              </a:buClr>
              <a:defRPr sz="1800"/>
            </a:lvl3pPr>
            <a:lvl4pPr>
              <a:buClr>
                <a:schemeClr val="tx2">
                  <a:lumMod val="50000"/>
                </a:schemeClr>
              </a:buClr>
              <a:defRPr sz="1600"/>
            </a:lvl4pPr>
            <a:lvl5pPr>
              <a:buClr>
                <a:schemeClr val="tx2">
                  <a:lumMod val="50000"/>
                </a:schemeClr>
              </a:buCl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2924944"/>
            <a:ext cx="7812360" cy="136815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 userDrawn="1"/>
        </p:nvSpPr>
        <p:spPr>
          <a:xfrm>
            <a:off x="5868144" y="2924944"/>
            <a:ext cx="2952328" cy="136815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FS Analytics Training - Customer Lifecycle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24944"/>
            <a:ext cx="7772400" cy="1371600"/>
          </a:xfrm>
          <a:noFill/>
        </p:spPr>
        <p:txBody>
          <a:bodyPr anchor="ctr"/>
          <a:lstStyle>
            <a:lvl1pPr algn="l">
              <a:defRPr sz="2800" b="1" cap="all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FS Analytics Training - Customer Lifecycle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FS Analytics Training - Customer Lifecycle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padma\Downloads\fotolia_54639801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srgbClr val="C7DEF7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0" y="0"/>
            <a:ext cx="9906000" cy="6874764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 bwMode="gray">
          <a:xfrm>
            <a:off x="35496" y="4256720"/>
            <a:ext cx="7445375" cy="1188504"/>
          </a:xfrm>
          <a:prstGeom prst="rect">
            <a:avLst/>
          </a:prstGeom>
          <a:solidFill>
            <a:srgbClr val="103E7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35496" y="3356992"/>
            <a:ext cx="7445375" cy="83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3140969"/>
            <a:ext cx="7416824" cy="1008112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496" y="4293096"/>
            <a:ext cx="6552728" cy="64807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 bwMode="gray">
          <a:xfrm>
            <a:off x="0" y="6157768"/>
            <a:ext cx="9144000" cy="700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296"/>
            <a:ext cx="9144000" cy="11967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20688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15920" y="650256"/>
            <a:ext cx="9144000" cy="0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 bwMode="gray">
          <a:xfrm>
            <a:off x="0" y="6237312"/>
            <a:ext cx="9054000" cy="634336"/>
          </a:xfrm>
          <a:prstGeom prst="rect">
            <a:avLst/>
          </a:prstGeom>
          <a:solidFill>
            <a:srgbClr val="103E7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9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IN" smtClean="0"/>
              <a:t>FS Analytics Training - Customer Lifecycle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289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DB50002-EFD4-4435-B5D7-6278A1D152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</p:sldLayoutIdLst>
  <p:hf hdr="0" dt="0"/>
  <p:txStyles>
    <p:titleStyle>
      <a:lvl1pPr algn="l" defTabSz="914400" rtl="0" eaLnBrk="1" latinLnBrk="0" hangingPunct="1">
        <a:spcBef>
          <a:spcPts val="600"/>
        </a:spcBef>
        <a:buNone/>
        <a:defRPr sz="3200" b="1" kern="1200">
          <a:solidFill>
            <a:schemeClr val="tx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Agenda for today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A good meeting starts with a clear agenda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68760"/>
            <a:ext cx="73448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The landscape of hypothesis testing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A few real world problems on hypothesis testing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A bit more on test vs. control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Testing distributions and a few real world problems on similarity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Type-1 and Type-2 errors and cost of errors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Design of experiments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45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do you want to test today?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Identify the right test to make the right inference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50418" y="701847"/>
            <a:ext cx="29523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Testing for quantitative data</a:t>
            </a:r>
            <a:endParaRPr lang="en-IN" dirty="0"/>
          </a:p>
        </p:txBody>
      </p:sp>
      <p:sp>
        <p:nvSpPr>
          <p:cNvPr id="52" name="Rectangle 51"/>
          <p:cNvSpPr/>
          <p:nvPr/>
        </p:nvSpPr>
        <p:spPr>
          <a:xfrm>
            <a:off x="163406" y="1513053"/>
            <a:ext cx="3718215" cy="476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Test variance</a:t>
            </a:r>
            <a:endParaRPr lang="en-IN" sz="1400" dirty="0"/>
          </a:p>
        </p:txBody>
      </p:sp>
      <p:sp>
        <p:nvSpPr>
          <p:cNvPr id="53" name="Rectangle 52"/>
          <p:cNvSpPr/>
          <p:nvPr/>
        </p:nvSpPr>
        <p:spPr>
          <a:xfrm>
            <a:off x="4219883" y="1489903"/>
            <a:ext cx="4528580" cy="476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Test mean</a:t>
            </a:r>
            <a:endParaRPr lang="en-IN" sz="1400" dirty="0"/>
          </a:p>
        </p:txBody>
      </p:sp>
      <p:sp>
        <p:nvSpPr>
          <p:cNvPr id="56" name="Rectangle 55"/>
          <p:cNvSpPr/>
          <p:nvPr/>
        </p:nvSpPr>
        <p:spPr>
          <a:xfrm>
            <a:off x="163407" y="2217743"/>
            <a:ext cx="3718214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Anderson Darling Test for normality</a:t>
            </a:r>
            <a:endParaRPr lang="en-IN" sz="1400" dirty="0"/>
          </a:p>
        </p:txBody>
      </p:sp>
      <p:sp>
        <p:nvSpPr>
          <p:cNvPr id="57" name="Rectangle 56"/>
          <p:cNvSpPr/>
          <p:nvPr/>
        </p:nvSpPr>
        <p:spPr>
          <a:xfrm>
            <a:off x="163406" y="3232206"/>
            <a:ext cx="1058371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Non-normal data: </a:t>
            </a:r>
            <a:r>
              <a:rPr lang="en-IN" sz="1400" dirty="0" err="1" smtClean="0"/>
              <a:t>Levene’s</a:t>
            </a:r>
            <a:r>
              <a:rPr lang="en-IN" sz="1400" dirty="0" smtClean="0"/>
              <a:t> test</a:t>
            </a:r>
            <a:endParaRPr lang="en-IN" sz="1400" dirty="0"/>
          </a:p>
        </p:txBody>
      </p:sp>
      <p:sp>
        <p:nvSpPr>
          <p:cNvPr id="58" name="Rectangle 57"/>
          <p:cNvSpPr/>
          <p:nvPr/>
        </p:nvSpPr>
        <p:spPr>
          <a:xfrm>
            <a:off x="1268919" y="3232206"/>
            <a:ext cx="1262406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Normal data: for two samples use F-test</a:t>
            </a:r>
            <a:endParaRPr lang="en-IN" sz="1400" dirty="0"/>
          </a:p>
        </p:txBody>
      </p:sp>
      <p:sp>
        <p:nvSpPr>
          <p:cNvPr id="59" name="Rectangle 58"/>
          <p:cNvSpPr/>
          <p:nvPr/>
        </p:nvSpPr>
        <p:spPr>
          <a:xfrm>
            <a:off x="2619215" y="3235092"/>
            <a:ext cx="1262406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Normal data: for more than two samples use Bartlett’s test</a:t>
            </a:r>
            <a:endParaRPr lang="en-IN" sz="1400" dirty="0"/>
          </a:p>
        </p:txBody>
      </p:sp>
      <p:sp>
        <p:nvSpPr>
          <p:cNvPr id="60" name="Rectangle 59"/>
          <p:cNvSpPr/>
          <p:nvPr/>
        </p:nvSpPr>
        <p:spPr>
          <a:xfrm>
            <a:off x="4219882" y="2204864"/>
            <a:ext cx="4528582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Anderson Darling Test for normality or leverage central limit theorem to calculate standard error</a:t>
            </a:r>
            <a:endParaRPr lang="en-IN" sz="1400" dirty="0"/>
          </a:p>
        </p:txBody>
      </p:sp>
      <p:sp>
        <p:nvSpPr>
          <p:cNvPr id="61" name="Rectangle 60"/>
          <p:cNvSpPr/>
          <p:nvPr/>
        </p:nvSpPr>
        <p:spPr>
          <a:xfrm>
            <a:off x="4219882" y="3226427"/>
            <a:ext cx="1262406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Single sample: use one sample t-test</a:t>
            </a:r>
            <a:endParaRPr lang="en-IN" sz="1400" dirty="0"/>
          </a:p>
        </p:txBody>
      </p:sp>
      <p:sp>
        <p:nvSpPr>
          <p:cNvPr id="62" name="Rectangle 61"/>
          <p:cNvSpPr/>
          <p:nvPr/>
        </p:nvSpPr>
        <p:spPr>
          <a:xfrm>
            <a:off x="5644655" y="3226427"/>
            <a:ext cx="1429739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Paired two sample: Paired t-test</a:t>
            </a:r>
            <a:endParaRPr lang="en-IN" sz="1400" dirty="0"/>
          </a:p>
        </p:txBody>
      </p:sp>
      <p:sp>
        <p:nvSpPr>
          <p:cNvPr id="63" name="Rectangle 62"/>
          <p:cNvSpPr/>
          <p:nvPr/>
        </p:nvSpPr>
        <p:spPr>
          <a:xfrm>
            <a:off x="1691680" y="4840617"/>
            <a:ext cx="1493765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Non paired two sample: Two sample t-test for equal variance</a:t>
            </a:r>
            <a:endParaRPr lang="en-IN" sz="1400" dirty="0"/>
          </a:p>
        </p:txBody>
      </p:sp>
      <p:sp>
        <p:nvSpPr>
          <p:cNvPr id="64" name="Rectangle 63"/>
          <p:cNvSpPr/>
          <p:nvPr/>
        </p:nvSpPr>
        <p:spPr>
          <a:xfrm>
            <a:off x="7236762" y="3226427"/>
            <a:ext cx="1511701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Test equality of  variance</a:t>
            </a:r>
            <a:endParaRPr lang="en-IN" sz="1400" dirty="0"/>
          </a:p>
        </p:txBody>
      </p:sp>
      <p:sp>
        <p:nvSpPr>
          <p:cNvPr id="66" name="Rectangle 65"/>
          <p:cNvSpPr/>
          <p:nvPr/>
        </p:nvSpPr>
        <p:spPr>
          <a:xfrm>
            <a:off x="3337910" y="4850083"/>
            <a:ext cx="1493765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Non paired two sample: Two sample t-test for unequal variance</a:t>
            </a:r>
            <a:endParaRPr lang="en-IN" sz="1400" dirty="0"/>
          </a:p>
        </p:txBody>
      </p:sp>
      <p:sp>
        <p:nvSpPr>
          <p:cNvPr id="67" name="Rectangle 66"/>
          <p:cNvSpPr/>
          <p:nvPr/>
        </p:nvSpPr>
        <p:spPr>
          <a:xfrm>
            <a:off x="4984140" y="4850083"/>
            <a:ext cx="1493765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More than two sample:  equal variance use  ANOVA</a:t>
            </a:r>
            <a:endParaRPr lang="en-IN" sz="1400" dirty="0"/>
          </a:p>
        </p:txBody>
      </p:sp>
      <p:sp>
        <p:nvSpPr>
          <p:cNvPr id="68" name="Rectangle 67"/>
          <p:cNvSpPr/>
          <p:nvPr/>
        </p:nvSpPr>
        <p:spPr>
          <a:xfrm>
            <a:off x="6630369" y="4850083"/>
            <a:ext cx="2406127" cy="105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More than two sample:  un-equal variance use  ANOVA and ANCOVA (explore Welch approach or Bayesian ANOVA)</a:t>
            </a:r>
            <a:endParaRPr lang="en-IN" sz="1400" dirty="0"/>
          </a:p>
        </p:txBody>
      </p:sp>
      <p:cxnSp>
        <p:nvCxnSpPr>
          <p:cNvPr id="42" name="Elbow Connector 41"/>
          <p:cNvCxnSpPr>
            <a:stCxn id="38" idx="2"/>
            <a:endCxn id="52" idx="0"/>
          </p:cNvCxnSpPr>
          <p:nvPr/>
        </p:nvCxnSpPr>
        <p:spPr>
          <a:xfrm rot="5400000">
            <a:off x="3184969" y="-28560"/>
            <a:ext cx="379158" cy="270406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38" idx="2"/>
            <a:endCxn id="53" idx="0"/>
          </p:cNvCxnSpPr>
          <p:nvPr/>
        </p:nvCxnSpPr>
        <p:spPr>
          <a:xfrm rot="16200000" flipH="1">
            <a:off x="5427373" y="433103"/>
            <a:ext cx="356008" cy="175759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/>
          <p:cNvCxnSpPr>
            <a:stCxn id="56" idx="2"/>
            <a:endCxn id="57" idx="0"/>
          </p:cNvCxnSpPr>
          <p:nvPr/>
        </p:nvCxnSpPr>
        <p:spPr>
          <a:xfrm rot="5400000">
            <a:off x="1196714" y="2406405"/>
            <a:ext cx="321679" cy="132992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56" idx="2"/>
            <a:endCxn id="58" idx="0"/>
          </p:cNvCxnSpPr>
          <p:nvPr/>
        </p:nvCxnSpPr>
        <p:spPr>
          <a:xfrm rot="5400000">
            <a:off x="1800479" y="3010170"/>
            <a:ext cx="321679" cy="12239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56" idx="2"/>
            <a:endCxn id="59" idx="0"/>
          </p:cNvCxnSpPr>
          <p:nvPr/>
        </p:nvCxnSpPr>
        <p:spPr>
          <a:xfrm rot="16200000" flipH="1">
            <a:off x="2474184" y="2458857"/>
            <a:ext cx="324565" cy="12279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60" idx="2"/>
            <a:endCxn id="61" idx="0"/>
          </p:cNvCxnSpPr>
          <p:nvPr/>
        </p:nvCxnSpPr>
        <p:spPr>
          <a:xfrm rot="5400000">
            <a:off x="5503240" y="2245493"/>
            <a:ext cx="328779" cy="163308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/>
          <p:cNvCxnSpPr>
            <a:stCxn id="60" idx="2"/>
            <a:endCxn id="62" idx="0"/>
          </p:cNvCxnSpPr>
          <p:nvPr/>
        </p:nvCxnSpPr>
        <p:spPr>
          <a:xfrm rot="5400000">
            <a:off x="6257460" y="2999713"/>
            <a:ext cx="328779" cy="12464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60" idx="2"/>
            <a:endCxn id="64" idx="0"/>
          </p:cNvCxnSpPr>
          <p:nvPr/>
        </p:nvCxnSpPr>
        <p:spPr>
          <a:xfrm rot="16200000" flipH="1">
            <a:off x="7074004" y="2307817"/>
            <a:ext cx="328779" cy="15084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/>
          <p:cNvCxnSpPr>
            <a:stCxn id="64" idx="2"/>
            <a:endCxn id="63" idx="0"/>
          </p:cNvCxnSpPr>
          <p:nvPr/>
        </p:nvCxnSpPr>
        <p:spPr>
          <a:xfrm rot="5400000">
            <a:off x="4934905" y="1782909"/>
            <a:ext cx="561366" cy="555405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Elbow Connector 84"/>
          <p:cNvCxnSpPr>
            <a:stCxn id="64" idx="2"/>
            <a:endCxn id="66" idx="0"/>
          </p:cNvCxnSpPr>
          <p:nvPr/>
        </p:nvCxnSpPr>
        <p:spPr>
          <a:xfrm rot="5400000">
            <a:off x="5753287" y="2610757"/>
            <a:ext cx="570832" cy="390782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/>
          <p:cNvCxnSpPr>
            <a:stCxn id="64" idx="2"/>
            <a:endCxn id="67" idx="0"/>
          </p:cNvCxnSpPr>
          <p:nvPr/>
        </p:nvCxnSpPr>
        <p:spPr>
          <a:xfrm rot="5400000">
            <a:off x="6576402" y="3433872"/>
            <a:ext cx="570832" cy="226159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/>
          <p:cNvCxnSpPr>
            <a:stCxn id="64" idx="2"/>
            <a:endCxn id="68" idx="0"/>
          </p:cNvCxnSpPr>
          <p:nvPr/>
        </p:nvCxnSpPr>
        <p:spPr>
          <a:xfrm rot="5400000">
            <a:off x="7627607" y="4485077"/>
            <a:ext cx="570832" cy="1591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07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do you want to test today?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Identify the right test to make the right </a:t>
            </a:r>
            <a:r>
              <a:rPr lang="en-IN" dirty="0" smtClean="0">
                <a:solidFill>
                  <a:schemeClr val="bg1"/>
                </a:solidFill>
              </a:rPr>
              <a:t>inference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275856" y="792000"/>
            <a:ext cx="2952328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Testing for quantitative data</a:t>
            </a:r>
            <a:endParaRPr lang="en-IN" dirty="0"/>
          </a:p>
        </p:txBody>
      </p:sp>
      <p:sp>
        <p:nvSpPr>
          <p:cNvPr id="52" name="Rectangle 51"/>
          <p:cNvSpPr/>
          <p:nvPr/>
        </p:nvSpPr>
        <p:spPr>
          <a:xfrm>
            <a:off x="2725771" y="1412747"/>
            <a:ext cx="3718215" cy="476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Test Median</a:t>
            </a:r>
            <a:endParaRPr lang="en-IN" sz="1400" dirty="0"/>
          </a:p>
        </p:txBody>
      </p:sp>
      <p:sp>
        <p:nvSpPr>
          <p:cNvPr id="56" name="Rectangle 55"/>
          <p:cNvSpPr/>
          <p:nvPr/>
        </p:nvSpPr>
        <p:spPr>
          <a:xfrm>
            <a:off x="163406" y="3422012"/>
            <a:ext cx="1282549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Symmetrical distribution</a:t>
            </a:r>
          </a:p>
          <a:p>
            <a:pPr algn="ctr"/>
            <a:r>
              <a:rPr lang="en-IN" sz="1400" dirty="0" smtClean="0"/>
              <a:t>Wilcoxon Test</a:t>
            </a:r>
            <a:endParaRPr lang="en-IN" sz="1400" dirty="0"/>
          </a:p>
        </p:txBody>
      </p:sp>
      <p:sp>
        <p:nvSpPr>
          <p:cNvPr id="20" name="Rectangle 19"/>
          <p:cNvSpPr/>
          <p:nvPr/>
        </p:nvSpPr>
        <p:spPr>
          <a:xfrm>
            <a:off x="163406" y="2221227"/>
            <a:ext cx="2392369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One sample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3835815" y="2219465"/>
            <a:ext cx="2392369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Two sample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6644127" y="2219465"/>
            <a:ext cx="2392369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More than two sample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1763890" y="3422012"/>
            <a:ext cx="1282549" cy="6927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Asymmetrical distribution</a:t>
            </a:r>
          </a:p>
          <a:p>
            <a:pPr algn="ctr"/>
            <a:r>
              <a:rPr lang="en-IN" sz="1400" dirty="0" smtClean="0"/>
              <a:t>Sing Test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>
          <a:xfrm>
            <a:off x="3469471" y="3422011"/>
            <a:ext cx="1282549" cy="113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Paired sample: use Friedman Test</a:t>
            </a:r>
            <a:endParaRPr lang="en-IN" sz="1400" dirty="0"/>
          </a:p>
        </p:txBody>
      </p:sp>
      <p:sp>
        <p:nvSpPr>
          <p:cNvPr id="25" name="Rectangle 24"/>
          <p:cNvSpPr/>
          <p:nvPr/>
        </p:nvSpPr>
        <p:spPr>
          <a:xfrm>
            <a:off x="4860032" y="3417132"/>
            <a:ext cx="1282549" cy="113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Non paired sample: equal variance Mann-Whitney Test</a:t>
            </a:r>
            <a:endParaRPr lang="en-IN" sz="1400" dirty="0"/>
          </a:p>
        </p:txBody>
      </p:sp>
      <p:sp>
        <p:nvSpPr>
          <p:cNvPr id="27" name="Rectangle 26"/>
          <p:cNvSpPr/>
          <p:nvPr/>
        </p:nvSpPr>
        <p:spPr>
          <a:xfrm>
            <a:off x="6264833" y="3417132"/>
            <a:ext cx="2771663" cy="113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Non paired sample: unequal variance or more than 2 samples use Moods Median, </a:t>
            </a:r>
            <a:r>
              <a:rPr lang="en-IN" sz="1400" dirty="0" err="1" smtClean="0"/>
              <a:t>Kruskall</a:t>
            </a:r>
            <a:r>
              <a:rPr lang="en-IN" sz="1400" dirty="0" smtClean="0"/>
              <a:t> Wallis</a:t>
            </a:r>
            <a:endParaRPr lang="en-IN" sz="1400" dirty="0"/>
          </a:p>
        </p:txBody>
      </p:sp>
      <p:cxnSp>
        <p:nvCxnSpPr>
          <p:cNvPr id="5" name="Elbow Connector 4"/>
          <p:cNvCxnSpPr>
            <a:stCxn id="2" idx="2"/>
            <a:endCxn id="52" idx="0"/>
          </p:cNvCxnSpPr>
          <p:nvPr/>
        </p:nvCxnSpPr>
        <p:spPr>
          <a:xfrm rot="16200000" flipH="1">
            <a:off x="4484090" y="1311957"/>
            <a:ext cx="188699" cy="12879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52" idx="2"/>
            <a:endCxn id="20" idx="0"/>
          </p:cNvCxnSpPr>
          <p:nvPr/>
        </p:nvCxnSpPr>
        <p:spPr>
          <a:xfrm rot="5400000">
            <a:off x="2806089" y="442437"/>
            <a:ext cx="332292" cy="322528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stCxn id="52" idx="2"/>
            <a:endCxn id="21" idx="0"/>
          </p:cNvCxnSpPr>
          <p:nvPr/>
        </p:nvCxnSpPr>
        <p:spPr>
          <a:xfrm rot="16200000" flipH="1">
            <a:off x="4643174" y="1830639"/>
            <a:ext cx="330530" cy="44712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52" idx="2"/>
            <a:endCxn id="22" idx="0"/>
          </p:cNvCxnSpPr>
          <p:nvPr/>
        </p:nvCxnSpPr>
        <p:spPr>
          <a:xfrm rot="16200000" flipH="1">
            <a:off x="6047330" y="426483"/>
            <a:ext cx="330530" cy="325543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20" idx="2"/>
            <a:endCxn id="56" idx="0"/>
          </p:cNvCxnSpPr>
          <p:nvPr/>
        </p:nvCxnSpPr>
        <p:spPr>
          <a:xfrm rot="5400000">
            <a:off x="828136" y="2890556"/>
            <a:ext cx="508001" cy="55491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20" idx="2"/>
            <a:endCxn id="23" idx="0"/>
          </p:cNvCxnSpPr>
          <p:nvPr/>
        </p:nvCxnSpPr>
        <p:spPr>
          <a:xfrm rot="16200000" flipH="1">
            <a:off x="1628378" y="2645224"/>
            <a:ext cx="508001" cy="104557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21" idx="2"/>
            <a:endCxn id="24" idx="0"/>
          </p:cNvCxnSpPr>
          <p:nvPr/>
        </p:nvCxnSpPr>
        <p:spPr>
          <a:xfrm rot="5400000">
            <a:off x="4316492" y="2706503"/>
            <a:ext cx="509762" cy="92125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21" idx="2"/>
            <a:endCxn id="25" idx="0"/>
          </p:cNvCxnSpPr>
          <p:nvPr/>
        </p:nvCxnSpPr>
        <p:spPr>
          <a:xfrm rot="16200000" flipH="1">
            <a:off x="5014212" y="2930036"/>
            <a:ext cx="504883" cy="46930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21" idx="2"/>
            <a:endCxn id="27" idx="0"/>
          </p:cNvCxnSpPr>
          <p:nvPr/>
        </p:nvCxnSpPr>
        <p:spPr>
          <a:xfrm rot="16200000" flipH="1">
            <a:off x="6088891" y="1855357"/>
            <a:ext cx="504883" cy="2618665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22" idx="2"/>
            <a:endCxn id="27" idx="0"/>
          </p:cNvCxnSpPr>
          <p:nvPr/>
        </p:nvCxnSpPr>
        <p:spPr>
          <a:xfrm rot="5400000">
            <a:off x="7493048" y="3069867"/>
            <a:ext cx="504883" cy="18964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4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Welcome to the real world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An understanding of the problem helps one identify the right test to use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7524" y="902768"/>
            <a:ext cx="856895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Test Vs. Control analysis: the most common use of hypothesis testing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As a retailer you have the mobile number of all your loyalty customers. You send an offer for 5% price off during festive season. And you see a huge surge in sale. Is the surge due to your discount or due to the season?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Impact assessment  without control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You are a credit card company and you have a promotion on restaurant tables for a 10% off. How do you know that customers are taking out your credit card due to the offer?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You have a promotion depicting a celebrity in your store and you see a surge in sale before and after the promotion. How do you know that the surge is due to the celebrity and not a natural process?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Sampling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You have to design a survey and most of the answers are Y/N. How many samples should you use to have a robust measure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You have selected a sample from the population for a survey, how do you know the sample is representative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37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Test Vs. Control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An understanding of the problem helps one identify the right test to use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1721478" y="3207931"/>
            <a:ext cx="2508738" cy="293077"/>
          </a:xfrm>
          <a:custGeom>
            <a:avLst/>
            <a:gdLst>
              <a:gd name="connsiteX0" fmla="*/ 0 w 2508738"/>
              <a:gd name="connsiteY0" fmla="*/ 293077 h 293077"/>
              <a:gd name="connsiteX1" fmla="*/ 410308 w 2508738"/>
              <a:gd name="connsiteY1" fmla="*/ 187569 h 293077"/>
              <a:gd name="connsiteX2" fmla="*/ 644769 w 2508738"/>
              <a:gd name="connsiteY2" fmla="*/ 140677 h 293077"/>
              <a:gd name="connsiteX3" fmla="*/ 1359877 w 2508738"/>
              <a:gd name="connsiteY3" fmla="*/ 128954 h 293077"/>
              <a:gd name="connsiteX4" fmla="*/ 1899138 w 2508738"/>
              <a:gd name="connsiteY4" fmla="*/ 35169 h 293077"/>
              <a:gd name="connsiteX5" fmla="*/ 2508738 w 2508738"/>
              <a:gd name="connsiteY5" fmla="*/ 0 h 29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08738" h="293077">
                <a:moveTo>
                  <a:pt x="0" y="293077"/>
                </a:moveTo>
                <a:lnTo>
                  <a:pt x="410308" y="187569"/>
                </a:lnTo>
                <a:cubicBezTo>
                  <a:pt x="517769" y="162169"/>
                  <a:pt x="486508" y="150446"/>
                  <a:pt x="644769" y="140677"/>
                </a:cubicBezTo>
                <a:cubicBezTo>
                  <a:pt x="803030" y="130908"/>
                  <a:pt x="1150816" y="146539"/>
                  <a:pt x="1359877" y="128954"/>
                </a:cubicBezTo>
                <a:cubicBezTo>
                  <a:pt x="1568938" y="111369"/>
                  <a:pt x="1707661" y="56661"/>
                  <a:pt x="1899138" y="35169"/>
                </a:cubicBezTo>
                <a:cubicBezTo>
                  <a:pt x="2090615" y="13677"/>
                  <a:pt x="2299676" y="6838"/>
                  <a:pt x="2508738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 8"/>
          <p:cNvSpPr/>
          <p:nvPr/>
        </p:nvSpPr>
        <p:spPr>
          <a:xfrm>
            <a:off x="4218493" y="2211470"/>
            <a:ext cx="2286000" cy="996461"/>
          </a:xfrm>
          <a:custGeom>
            <a:avLst/>
            <a:gdLst>
              <a:gd name="connsiteX0" fmla="*/ 0 w 2286000"/>
              <a:gd name="connsiteY0" fmla="*/ 996461 h 996461"/>
              <a:gd name="connsiteX1" fmla="*/ 281354 w 2286000"/>
              <a:gd name="connsiteY1" fmla="*/ 867507 h 996461"/>
              <a:gd name="connsiteX2" fmla="*/ 445477 w 2286000"/>
              <a:gd name="connsiteY2" fmla="*/ 726830 h 996461"/>
              <a:gd name="connsiteX3" fmla="*/ 691662 w 2286000"/>
              <a:gd name="connsiteY3" fmla="*/ 574430 h 996461"/>
              <a:gd name="connsiteX4" fmla="*/ 902677 w 2286000"/>
              <a:gd name="connsiteY4" fmla="*/ 527538 h 996461"/>
              <a:gd name="connsiteX5" fmla="*/ 1477108 w 2286000"/>
              <a:gd name="connsiteY5" fmla="*/ 269630 h 996461"/>
              <a:gd name="connsiteX6" fmla="*/ 1887416 w 2286000"/>
              <a:gd name="connsiteY6" fmla="*/ 164123 h 996461"/>
              <a:gd name="connsiteX7" fmla="*/ 2286000 w 2286000"/>
              <a:gd name="connsiteY7" fmla="*/ 0 h 996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86000" h="996461">
                <a:moveTo>
                  <a:pt x="0" y="996461"/>
                </a:moveTo>
                <a:cubicBezTo>
                  <a:pt x="103554" y="954453"/>
                  <a:pt x="207108" y="912445"/>
                  <a:pt x="281354" y="867507"/>
                </a:cubicBezTo>
                <a:cubicBezTo>
                  <a:pt x="355600" y="822569"/>
                  <a:pt x="377092" y="775676"/>
                  <a:pt x="445477" y="726830"/>
                </a:cubicBezTo>
                <a:cubicBezTo>
                  <a:pt x="513862" y="677984"/>
                  <a:pt x="615462" y="607645"/>
                  <a:pt x="691662" y="574430"/>
                </a:cubicBezTo>
                <a:cubicBezTo>
                  <a:pt x="767862" y="541215"/>
                  <a:pt x="771769" y="578338"/>
                  <a:pt x="902677" y="527538"/>
                </a:cubicBezTo>
                <a:cubicBezTo>
                  <a:pt x="1033585" y="476738"/>
                  <a:pt x="1312985" y="330199"/>
                  <a:pt x="1477108" y="269630"/>
                </a:cubicBezTo>
                <a:cubicBezTo>
                  <a:pt x="1641231" y="209061"/>
                  <a:pt x="1752601" y="209061"/>
                  <a:pt x="1887416" y="164123"/>
                </a:cubicBezTo>
                <a:cubicBezTo>
                  <a:pt x="2022231" y="119185"/>
                  <a:pt x="2154115" y="59592"/>
                  <a:pt x="2286000" y="0"/>
                </a:cubicBezTo>
              </a:path>
            </a:pathLst>
          </a:custGeom>
          <a:noFill/>
          <a:ln w="666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reeform 9"/>
          <p:cNvSpPr/>
          <p:nvPr/>
        </p:nvSpPr>
        <p:spPr>
          <a:xfrm>
            <a:off x="4206770" y="2839306"/>
            <a:ext cx="2309446" cy="362803"/>
          </a:xfrm>
          <a:custGeom>
            <a:avLst/>
            <a:gdLst>
              <a:gd name="connsiteX0" fmla="*/ 0 w 2309446"/>
              <a:gd name="connsiteY0" fmla="*/ 345179 h 362803"/>
              <a:gd name="connsiteX1" fmla="*/ 398585 w 2309446"/>
              <a:gd name="connsiteY1" fmla="*/ 356902 h 362803"/>
              <a:gd name="connsiteX2" fmla="*/ 644769 w 2309446"/>
              <a:gd name="connsiteY2" fmla="*/ 263117 h 362803"/>
              <a:gd name="connsiteX3" fmla="*/ 996462 w 2309446"/>
              <a:gd name="connsiteY3" fmla="*/ 98994 h 362803"/>
              <a:gd name="connsiteX4" fmla="*/ 1219200 w 2309446"/>
              <a:gd name="connsiteY4" fmla="*/ 52102 h 362803"/>
              <a:gd name="connsiteX5" fmla="*/ 1477108 w 2309446"/>
              <a:gd name="connsiteY5" fmla="*/ 75548 h 362803"/>
              <a:gd name="connsiteX6" fmla="*/ 1922585 w 2309446"/>
              <a:gd name="connsiteY6" fmla="*/ 5210 h 362803"/>
              <a:gd name="connsiteX7" fmla="*/ 2192216 w 2309446"/>
              <a:gd name="connsiteY7" fmla="*/ 5210 h 362803"/>
              <a:gd name="connsiteX8" fmla="*/ 2286000 w 2309446"/>
              <a:gd name="connsiteY8" fmla="*/ 5210 h 362803"/>
              <a:gd name="connsiteX9" fmla="*/ 2309446 w 2309446"/>
              <a:gd name="connsiteY9" fmla="*/ 5210 h 36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09446" h="362803">
                <a:moveTo>
                  <a:pt x="0" y="345179"/>
                </a:moveTo>
                <a:cubicBezTo>
                  <a:pt x="145562" y="357879"/>
                  <a:pt x="291124" y="370579"/>
                  <a:pt x="398585" y="356902"/>
                </a:cubicBezTo>
                <a:cubicBezTo>
                  <a:pt x="506047" y="343225"/>
                  <a:pt x="545123" y="306102"/>
                  <a:pt x="644769" y="263117"/>
                </a:cubicBezTo>
                <a:cubicBezTo>
                  <a:pt x="744415" y="220132"/>
                  <a:pt x="900723" y="134163"/>
                  <a:pt x="996462" y="98994"/>
                </a:cubicBezTo>
                <a:cubicBezTo>
                  <a:pt x="1092201" y="63825"/>
                  <a:pt x="1139092" y="56010"/>
                  <a:pt x="1219200" y="52102"/>
                </a:cubicBezTo>
                <a:cubicBezTo>
                  <a:pt x="1299308" y="48194"/>
                  <a:pt x="1359877" y="83363"/>
                  <a:pt x="1477108" y="75548"/>
                </a:cubicBezTo>
                <a:cubicBezTo>
                  <a:pt x="1594339" y="67733"/>
                  <a:pt x="1803400" y="16933"/>
                  <a:pt x="1922585" y="5210"/>
                </a:cubicBezTo>
                <a:cubicBezTo>
                  <a:pt x="2041770" y="-6513"/>
                  <a:pt x="2192216" y="5210"/>
                  <a:pt x="2192216" y="5210"/>
                </a:cubicBezTo>
                <a:lnTo>
                  <a:pt x="2286000" y="5210"/>
                </a:lnTo>
                <a:lnTo>
                  <a:pt x="2309446" y="5210"/>
                </a:ln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 rot="16200000">
            <a:off x="3546140" y="3642501"/>
            <a:ext cx="1368152" cy="7920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4014192" y="3020707"/>
            <a:ext cx="432048" cy="3337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/>
          <p:cNvCxnSpPr>
            <a:stCxn id="12" idx="0"/>
          </p:cNvCxnSpPr>
          <p:nvPr/>
        </p:nvCxnSpPr>
        <p:spPr>
          <a:xfrm flipV="1">
            <a:off x="4230216" y="2492896"/>
            <a:ext cx="0" cy="5278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74132" y="209770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Treatment</a:t>
            </a:r>
            <a:endParaRPr lang="en-IN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975847" y="4293096"/>
            <a:ext cx="103834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13203" y="410843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 period</a:t>
            </a:r>
            <a:endParaRPr lang="en-IN" dirty="0"/>
          </a:p>
        </p:txBody>
      </p:sp>
      <p:sp>
        <p:nvSpPr>
          <p:cNvPr id="20" name="TextBox 19"/>
          <p:cNvSpPr txBox="1"/>
          <p:nvPr/>
        </p:nvSpPr>
        <p:spPr>
          <a:xfrm>
            <a:off x="5292080" y="410843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Post period</a:t>
            </a:r>
            <a:endParaRPr lang="en-IN" dirty="0"/>
          </a:p>
        </p:txBody>
      </p:sp>
      <p:cxnSp>
        <p:nvCxnSpPr>
          <p:cNvPr id="21" name="Straight Arrow Connector 20"/>
          <p:cNvCxnSpPr>
            <a:endCxn id="20" idx="1"/>
          </p:cNvCxnSpPr>
          <p:nvPr/>
        </p:nvCxnSpPr>
        <p:spPr>
          <a:xfrm>
            <a:off x="4446240" y="4288459"/>
            <a:ext cx="845840" cy="463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16216" y="2026804"/>
            <a:ext cx="731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Test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6542820" y="2647183"/>
            <a:ext cx="105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Control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163407" y="692696"/>
            <a:ext cx="8657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to look at test vs. control results?</a:t>
            </a:r>
          </a:p>
          <a:p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Pre – Post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Test - Control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190374" y="4797152"/>
            <a:ext cx="8657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Hypothesis: Pre test = Pre control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Hypothesis: Post test – Post control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err="1" smtClean="0"/>
              <a:t>Hypothess</a:t>
            </a:r>
            <a:r>
              <a:rPr lang="en-US" dirty="0" smtClean="0"/>
              <a:t>: (Post test – Pre test) – (Post control – Pre control)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65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do you want to test today?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Identify the right test to make the right </a:t>
            </a:r>
            <a:r>
              <a:rPr lang="en-IN" dirty="0" smtClean="0">
                <a:solidFill>
                  <a:schemeClr val="bg1"/>
                </a:solidFill>
              </a:rPr>
              <a:t>inference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2235" y="869877"/>
            <a:ext cx="80089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How to test the similarity between two distributions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err="1" smtClean="0"/>
              <a:t>Kolgromove</a:t>
            </a:r>
            <a:r>
              <a:rPr lang="en-IN" dirty="0" smtClean="0"/>
              <a:t> Smirnov Test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Test median: Mann-Whitney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Test only correlation between variables and not exactly the distribution: Spearman's </a:t>
            </a:r>
            <a:r>
              <a:rPr lang="en-IN" dirty="0"/>
              <a:t>rho and Kendall's </a:t>
            </a:r>
            <a:r>
              <a:rPr lang="en-IN" dirty="0" smtClean="0"/>
              <a:t>tau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Dice and </a:t>
            </a:r>
            <a:r>
              <a:rPr lang="en-IN" dirty="0" err="1"/>
              <a:t>Jaccard</a:t>
            </a:r>
            <a:r>
              <a:rPr lang="en-IN" dirty="0"/>
              <a:t> similarity </a:t>
            </a:r>
            <a:r>
              <a:rPr lang="en-IN" dirty="0" smtClean="0"/>
              <a:t>indices for 1/0 type of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Cosine similarity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Chi-Square test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Shapiro-Wilk (testing with respect to normal distribution)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6" name="Freeform 5"/>
          <p:cNvSpPr/>
          <p:nvPr/>
        </p:nvSpPr>
        <p:spPr>
          <a:xfrm>
            <a:off x="6501928" y="2237982"/>
            <a:ext cx="2562896" cy="1371508"/>
          </a:xfrm>
          <a:custGeom>
            <a:avLst/>
            <a:gdLst>
              <a:gd name="connsiteX0" fmla="*/ 0 w 2562896"/>
              <a:gd name="connsiteY0" fmla="*/ 1371508 h 1371508"/>
              <a:gd name="connsiteX1" fmla="*/ 476518 w 2562896"/>
              <a:gd name="connsiteY1" fmla="*/ 688928 h 1371508"/>
              <a:gd name="connsiteX2" fmla="*/ 991673 w 2562896"/>
              <a:gd name="connsiteY2" fmla="*/ 32105 h 1371508"/>
              <a:gd name="connsiteX3" fmla="*/ 1545465 w 2562896"/>
              <a:gd name="connsiteY3" fmla="*/ 212409 h 1371508"/>
              <a:gd name="connsiteX4" fmla="*/ 2562896 w 2562896"/>
              <a:gd name="connsiteY4" fmla="*/ 1165446 h 1371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2896" h="1371508">
                <a:moveTo>
                  <a:pt x="0" y="1371508"/>
                </a:moveTo>
                <a:cubicBezTo>
                  <a:pt x="155619" y="1141835"/>
                  <a:pt x="311239" y="912162"/>
                  <a:pt x="476518" y="688928"/>
                </a:cubicBezTo>
                <a:cubicBezTo>
                  <a:pt x="641797" y="465694"/>
                  <a:pt x="813515" y="111525"/>
                  <a:pt x="991673" y="32105"/>
                </a:cubicBezTo>
                <a:cubicBezTo>
                  <a:pt x="1169831" y="-47315"/>
                  <a:pt x="1283595" y="23519"/>
                  <a:pt x="1545465" y="212409"/>
                </a:cubicBezTo>
                <a:cubicBezTo>
                  <a:pt x="1807335" y="401299"/>
                  <a:pt x="2185115" y="783372"/>
                  <a:pt x="2562896" y="116544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reeform 30"/>
          <p:cNvSpPr/>
          <p:nvPr/>
        </p:nvSpPr>
        <p:spPr>
          <a:xfrm>
            <a:off x="6641677" y="2509158"/>
            <a:ext cx="2309155" cy="1143349"/>
          </a:xfrm>
          <a:custGeom>
            <a:avLst/>
            <a:gdLst>
              <a:gd name="connsiteX0" fmla="*/ 0 w 2562896"/>
              <a:gd name="connsiteY0" fmla="*/ 1371508 h 1371508"/>
              <a:gd name="connsiteX1" fmla="*/ 476518 w 2562896"/>
              <a:gd name="connsiteY1" fmla="*/ 688928 h 1371508"/>
              <a:gd name="connsiteX2" fmla="*/ 991673 w 2562896"/>
              <a:gd name="connsiteY2" fmla="*/ 32105 h 1371508"/>
              <a:gd name="connsiteX3" fmla="*/ 1545465 w 2562896"/>
              <a:gd name="connsiteY3" fmla="*/ 212409 h 1371508"/>
              <a:gd name="connsiteX4" fmla="*/ 2562896 w 2562896"/>
              <a:gd name="connsiteY4" fmla="*/ 1165446 h 1371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2896" h="1371508">
                <a:moveTo>
                  <a:pt x="0" y="1371508"/>
                </a:moveTo>
                <a:cubicBezTo>
                  <a:pt x="155619" y="1141835"/>
                  <a:pt x="311239" y="912162"/>
                  <a:pt x="476518" y="688928"/>
                </a:cubicBezTo>
                <a:cubicBezTo>
                  <a:pt x="641797" y="465694"/>
                  <a:pt x="813515" y="111525"/>
                  <a:pt x="991673" y="32105"/>
                </a:cubicBezTo>
                <a:cubicBezTo>
                  <a:pt x="1169831" y="-47315"/>
                  <a:pt x="1283595" y="23519"/>
                  <a:pt x="1545465" y="212409"/>
                </a:cubicBezTo>
                <a:cubicBezTo>
                  <a:pt x="1807335" y="401299"/>
                  <a:pt x="2185115" y="783372"/>
                  <a:pt x="2562896" y="1165446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248299" y="3956146"/>
            <a:ext cx="7776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What about qualitative data?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Chi square test and contingency tables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Test of proportion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Similarity measures: cosine similarity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Rank correlation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84747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Welcome to the real world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An understanding of the problem helps one identify the right test to use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3406" y="606626"/>
            <a:ext cx="8693069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Similarity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Recommender systems – which users are similar?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dirty="0" smtClean="0"/>
              <a:t>Sridhar: Science Fiction: 10, Horror: 5, Romantic: 3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dirty="0" smtClean="0"/>
              <a:t>Shanti: </a:t>
            </a:r>
            <a:r>
              <a:rPr lang="en-IN" dirty="0"/>
              <a:t>Science Fiction: 4</a:t>
            </a:r>
            <a:r>
              <a:rPr lang="en-IN" dirty="0" smtClean="0"/>
              <a:t>, </a:t>
            </a:r>
            <a:r>
              <a:rPr lang="en-IN" dirty="0"/>
              <a:t>Horror: </a:t>
            </a:r>
            <a:r>
              <a:rPr lang="en-IN" dirty="0" smtClean="0"/>
              <a:t>1, </a:t>
            </a:r>
            <a:r>
              <a:rPr lang="en-IN" dirty="0"/>
              <a:t>Romantic: </a:t>
            </a:r>
            <a:r>
              <a:rPr lang="en-IN" dirty="0" smtClean="0"/>
              <a:t>2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dirty="0" err="1" smtClean="0"/>
              <a:t>Senthil</a:t>
            </a:r>
            <a:r>
              <a:rPr lang="en-IN" dirty="0" smtClean="0"/>
              <a:t>: </a:t>
            </a:r>
            <a:r>
              <a:rPr lang="en-IN" dirty="0"/>
              <a:t>Science Fiction: </a:t>
            </a:r>
            <a:r>
              <a:rPr lang="en-IN" dirty="0" smtClean="0"/>
              <a:t>1, </a:t>
            </a:r>
            <a:r>
              <a:rPr lang="en-IN" dirty="0"/>
              <a:t>Horror: </a:t>
            </a:r>
            <a:r>
              <a:rPr lang="en-IN" dirty="0" smtClean="0"/>
              <a:t>3, </a:t>
            </a:r>
            <a:r>
              <a:rPr lang="en-IN" dirty="0"/>
              <a:t>Romantic: 6</a:t>
            </a:r>
            <a:endParaRPr lang="en-IN" dirty="0" smtClean="0"/>
          </a:p>
          <a:p>
            <a:pPr lvl="2"/>
            <a:endParaRPr lang="en-IN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Multi dimensional scaling – which of the brands are closest?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1600" dirty="0" smtClean="0"/>
              <a:t>Suzuki: </a:t>
            </a:r>
            <a:r>
              <a:rPr lang="en-IN" sz="1600" b="1" dirty="0" smtClean="0">
                <a:solidFill>
                  <a:srgbClr val="00B050"/>
                </a:solidFill>
              </a:rPr>
              <a:t>price (750), mileage (200), servicing(320)</a:t>
            </a:r>
            <a:r>
              <a:rPr lang="en-IN" sz="1600" dirty="0" smtClean="0"/>
              <a:t>, </a:t>
            </a:r>
            <a:r>
              <a:rPr lang="en-IN" sz="1600" b="1" dirty="0" smtClean="0">
                <a:solidFill>
                  <a:srgbClr val="FF0000"/>
                </a:solidFill>
              </a:rPr>
              <a:t>space(276), looks(310), power (118)</a:t>
            </a:r>
            <a:endParaRPr lang="en-IN" sz="1600" b="1" dirty="0" smtClean="0">
              <a:solidFill>
                <a:srgbClr val="FF0000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1600" dirty="0" smtClean="0"/>
              <a:t>Hyundai: </a:t>
            </a:r>
            <a:r>
              <a:rPr lang="en-IN" sz="1600" b="1" dirty="0" smtClean="0">
                <a:solidFill>
                  <a:srgbClr val="00B050"/>
                </a:solidFill>
              </a:rPr>
              <a:t>price(126), </a:t>
            </a:r>
            <a:r>
              <a:rPr lang="en-IN" sz="1600" b="1" dirty="0" smtClean="0">
                <a:solidFill>
                  <a:srgbClr val="00B050"/>
                </a:solidFill>
              </a:rPr>
              <a:t>looks</a:t>
            </a:r>
            <a:r>
              <a:rPr lang="en-IN" sz="1600" b="1" dirty="0" smtClean="0">
                <a:solidFill>
                  <a:srgbClr val="00B050"/>
                </a:solidFill>
              </a:rPr>
              <a:t>,(278) power(312), </a:t>
            </a:r>
            <a:r>
              <a:rPr lang="en-IN" sz="1600" b="1" dirty="0" smtClean="0">
                <a:solidFill>
                  <a:srgbClr val="FF0000"/>
                </a:solidFill>
              </a:rPr>
              <a:t>mileage (187), space (236), servicing (112), noise (78)</a:t>
            </a:r>
            <a:endParaRPr lang="en-IN" sz="1600" dirty="0" smtClean="0">
              <a:solidFill>
                <a:srgbClr val="FF0000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1600" dirty="0" smtClean="0"/>
              <a:t>Nissan: </a:t>
            </a:r>
            <a:r>
              <a:rPr lang="en-IN" sz="1600" b="1" dirty="0" smtClean="0">
                <a:solidFill>
                  <a:srgbClr val="00B050"/>
                </a:solidFill>
              </a:rPr>
              <a:t>looks(112), power(189), space(286), noise(374), </a:t>
            </a:r>
            <a:r>
              <a:rPr lang="en-IN" sz="1600" b="1" dirty="0" smtClean="0">
                <a:solidFill>
                  <a:srgbClr val="FF0000"/>
                </a:solidFill>
              </a:rPr>
              <a:t>mileage(112), servicing (126), price(117)</a:t>
            </a:r>
            <a:endParaRPr lang="en-IN" sz="1600" dirty="0" smtClean="0"/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sz="1600" dirty="0" smtClean="0"/>
              <a:t>Toyota: </a:t>
            </a:r>
            <a:r>
              <a:rPr lang="en-IN" sz="1600" b="1" dirty="0" smtClean="0">
                <a:solidFill>
                  <a:srgbClr val="00B050"/>
                </a:solidFill>
              </a:rPr>
              <a:t>looks(118), power (128), space(326), </a:t>
            </a:r>
            <a:r>
              <a:rPr lang="en-IN" sz="1600" b="1" dirty="0" smtClean="0">
                <a:solidFill>
                  <a:srgbClr val="FF0000"/>
                </a:solidFill>
              </a:rPr>
              <a:t>mileage(189), noise(116), price(89)</a:t>
            </a:r>
            <a:endParaRPr lang="en-IN" sz="1600" dirty="0" smtClean="0"/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Identification of faulty patterns in signals 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dirty="0" smtClean="0"/>
              <a:t>Healthcare data pattern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dirty="0" smtClean="0"/>
              <a:t>Machine data pattern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Identification of distribution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lvl="2"/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747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" y="77725"/>
            <a:ext cx="9144000" cy="1196752"/>
          </a:xfrm>
        </p:spPr>
        <p:txBody>
          <a:bodyPr/>
          <a:lstStyle/>
          <a:p>
            <a:r>
              <a:rPr lang="en-IN" dirty="0" smtClean="0"/>
              <a:t>“There are more things in heaven and earth…..”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do we determine the significance of a test?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95817" y="1700808"/>
            <a:ext cx="2160240" cy="1656184"/>
          </a:xfrm>
          <a:prstGeom prst="rec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Correct decision </a:t>
            </a:r>
          </a:p>
          <a:p>
            <a:pPr algn="ctr"/>
            <a:r>
              <a:rPr lang="en-IN" dirty="0" smtClean="0"/>
              <a:t>1- Alpha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373786" y="1700808"/>
            <a:ext cx="2160240" cy="1656184"/>
          </a:xfrm>
          <a:prstGeom prst="rect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Incorrect decision </a:t>
            </a:r>
          </a:p>
          <a:p>
            <a:pPr algn="ctr"/>
            <a:r>
              <a:rPr lang="en-IN" dirty="0" smtClean="0"/>
              <a:t>Beta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004642" y="3573016"/>
            <a:ext cx="2160240" cy="1656184"/>
          </a:xfrm>
          <a:prstGeom prst="rect">
            <a:avLst/>
          </a:prstGeom>
          <a:solidFill>
            <a:srgbClr val="CC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Incorrect decision</a:t>
            </a:r>
          </a:p>
          <a:p>
            <a:pPr algn="ctr"/>
            <a:r>
              <a:rPr lang="en-IN" dirty="0" smtClean="0"/>
              <a:t>Alpha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4372081" y="3573016"/>
            <a:ext cx="2160240" cy="1656184"/>
          </a:xfrm>
          <a:prstGeom prst="rect">
            <a:avLst/>
          </a:prstGeom>
          <a:solidFill>
            <a:srgbClr val="00B05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Correct decision</a:t>
            </a:r>
          </a:p>
          <a:p>
            <a:pPr algn="ctr"/>
            <a:r>
              <a:rPr lang="en-IN" dirty="0" smtClean="0"/>
              <a:t>1-Beta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-36512" y="1916832"/>
            <a:ext cx="1816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Do not reject the null hypothesis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-6701" y="3939443"/>
            <a:ext cx="1816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Reject the null hypothesis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995817" y="946465"/>
            <a:ext cx="2348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 reality the null hypothesis is true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516097" y="900882"/>
            <a:ext cx="2348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In reality the null hypothesis is false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99873" y="5628354"/>
            <a:ext cx="549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Power of a test = 1 -  Beta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545020" y="1274656"/>
            <a:ext cx="250247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If we test a hypothesis multiple times, the chance of an error increases with each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What do we do?</a:t>
            </a:r>
            <a:endParaRPr lang="en-IN" sz="1600" dirty="0" smtClean="0"/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 smtClean="0"/>
              <a:t>The </a:t>
            </a:r>
            <a:r>
              <a:rPr lang="en-IN" sz="1600" dirty="0"/>
              <a:t>Bonferroni correction sets the significance cut-off at </a:t>
            </a:r>
            <a:r>
              <a:rPr lang="en-IN" sz="1600" dirty="0" smtClean="0"/>
              <a:t>α/n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 smtClean="0"/>
              <a:t>For </a:t>
            </a:r>
            <a:r>
              <a:rPr lang="en-IN" sz="1600" dirty="0"/>
              <a:t>example, in the example above, with 20 tests and α = 0.05, you’d only reject a null hypothesis if the p-value is less than </a:t>
            </a:r>
            <a:r>
              <a:rPr lang="en-IN" sz="1600" dirty="0" smtClean="0"/>
              <a:t>0.0025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1337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do we determine alpha and beta?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do we determine the significance of a test?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7524" y="902768"/>
            <a:ext cx="85689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Cost of an error determines the significance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Impact of inaccurate prediction vs. false positive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Examples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Hypothesis: If a person spends more than </a:t>
            </a:r>
            <a:r>
              <a:rPr lang="en-IN" dirty="0" err="1" smtClean="0"/>
              <a:t>Rs</a:t>
            </a:r>
            <a:r>
              <a:rPr lang="en-IN" dirty="0" smtClean="0"/>
              <a:t>. 5,000 on gym membership then we conclude that his/her income is more than </a:t>
            </a:r>
            <a:r>
              <a:rPr lang="en-IN" dirty="0" err="1" smtClean="0"/>
              <a:t>Rs</a:t>
            </a:r>
            <a:r>
              <a:rPr lang="en-IN" dirty="0" smtClean="0"/>
              <a:t>. 25 Lacs. And we send a free copy of a magazine to him/her along with an advertisement of the company’s luxury spa service. What are the costs of the errors? And should we have high alpha or low alpha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Hypothesis: If the exhaust temperature of a car engine exceeds 200 degree centigrade then we infer that there is a problem and we send an SMS to the driver to come and visit the service station. What are the costs? </a:t>
            </a:r>
            <a:r>
              <a:rPr lang="en-IN" dirty="0"/>
              <a:t>And should we have high alpha or low </a:t>
            </a:r>
            <a:r>
              <a:rPr lang="en-IN" dirty="0" smtClean="0"/>
              <a:t>alpha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Sensitivity and specificity of a model uses a similar concept</a:t>
            </a:r>
            <a:endParaRPr lang="en-IN" dirty="0"/>
          </a:p>
          <a:p>
            <a:pPr lvl="1"/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12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of experiment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to know about  the customer – simple ask them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7524" y="902768"/>
            <a:ext cx="85689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Business managers often ask questions like: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/>
              <a:t>Do our customers love a free gift more than a discount</a:t>
            </a:r>
            <a:r>
              <a:rPr lang="en-IN" dirty="0" smtClean="0"/>
              <a:t>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dirty="0" smtClean="0"/>
              <a:t>Do </a:t>
            </a:r>
            <a:r>
              <a:rPr lang="en-IN" dirty="0"/>
              <a:t>our customers respond to advertising that contain the picture of a sports icon</a:t>
            </a:r>
            <a:r>
              <a:rPr lang="en-IN" dirty="0" smtClean="0"/>
              <a:t>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How can we answer these questions?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Simple: “ask the customer”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/>
              <a:t>But how do you ask if there are so many things to ask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process of “asking the customer” entails creating experiments or tests where one is able to read the result and obtain answers to the questions of </a:t>
            </a:r>
            <a:r>
              <a:rPr lang="en-IN" dirty="0" smtClean="0"/>
              <a:t>interest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</a:t>
            </a:r>
            <a:r>
              <a:rPr lang="en-IN" dirty="0" smtClean="0"/>
              <a:t>ost </a:t>
            </a:r>
            <a:r>
              <a:rPr lang="en-IN" dirty="0"/>
              <a:t>companies set aside a testing budget that would allow them to test and learn</a:t>
            </a: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</a:t>
            </a:r>
            <a:r>
              <a:rPr lang="en-IN" dirty="0" smtClean="0"/>
              <a:t>s </a:t>
            </a:r>
            <a:r>
              <a:rPr lang="en-IN" dirty="0"/>
              <a:t>the budget is always limited, it is never possible to test all combinations of every marketing </a:t>
            </a:r>
            <a:r>
              <a:rPr lang="en-IN" dirty="0" smtClean="0"/>
              <a:t>parameter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B</a:t>
            </a:r>
            <a:r>
              <a:rPr lang="en-IN" dirty="0" smtClean="0"/>
              <a:t>uild </a:t>
            </a:r>
            <a:r>
              <a:rPr lang="en-IN" dirty="0"/>
              <a:t>a testing framework which helps them in identifying the critical few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42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DoE: a simple example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to know about  the customer – simple ask them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717031"/>
            <a:ext cx="6536623" cy="23762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323528" y="760636"/>
            <a:ext cx="3491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A simple example of a banner Ad: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A picture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A text message about the offer and product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A redirect link(which takes to the landing page of advertiser). This is ‘Call to Action’ Link.</a:t>
            </a:r>
          </a:p>
          <a:p>
            <a:endParaRPr lang="en-IN" sz="1600" dirty="0"/>
          </a:p>
        </p:txBody>
      </p:sp>
      <p:sp>
        <p:nvSpPr>
          <p:cNvPr id="5" name="Isosceles Triangle 4"/>
          <p:cNvSpPr/>
          <p:nvPr/>
        </p:nvSpPr>
        <p:spPr>
          <a:xfrm rot="5400000">
            <a:off x="3641938" y="1524254"/>
            <a:ext cx="1692188" cy="3600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668052" y="753250"/>
            <a:ext cx="422442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1600" dirty="0" smtClean="0"/>
              <a:t>Parameters to experiment (or factors)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Position of the picture: Left, Right, Middle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Position of the Call to Action link: Top and Bottom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Presence of animation or movement in the picture: Yes, No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Position of the banner advertisement on the web page: Left and </a:t>
            </a:r>
            <a:r>
              <a:rPr lang="en-IN" sz="1600" dirty="0" smtClean="0"/>
              <a:t>Right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IN" sz="1600" dirty="0"/>
              <a:t>T</a:t>
            </a:r>
            <a:r>
              <a:rPr lang="en-IN" sz="1600" dirty="0" smtClean="0"/>
              <a:t>here </a:t>
            </a:r>
            <a:r>
              <a:rPr lang="en-IN" sz="1600" dirty="0"/>
              <a:t>will be 3*2*2*2 = 24 combinations that one could have</a:t>
            </a:r>
          </a:p>
          <a:p>
            <a:pPr lvl="1"/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7800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DoE: without interaction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to know about  the customer – simple ask them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3717032"/>
            <a:ext cx="79208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Assuming that CTR can be modeled as a logistic regression </a:t>
            </a:r>
            <a:endParaRPr lang="en-IN" dirty="0" smtClean="0"/>
          </a:p>
          <a:p>
            <a:endParaRPr lang="en-IN" dirty="0"/>
          </a:p>
          <a:p>
            <a:r>
              <a:rPr lang="en-IN" dirty="0" smtClean="0"/>
              <a:t>Ln(CTR</a:t>
            </a:r>
            <a:r>
              <a:rPr lang="en-IN" dirty="0"/>
              <a:t>/(1-CTR)) = α + β1(Position of picture is left) </a:t>
            </a:r>
            <a:endParaRPr lang="en-IN" dirty="0" smtClean="0"/>
          </a:p>
          <a:p>
            <a:r>
              <a:rPr lang="en-IN" dirty="0" smtClean="0"/>
              <a:t>+ </a:t>
            </a:r>
            <a:r>
              <a:rPr lang="en-IN" dirty="0"/>
              <a:t>β2(Position of picture is right) </a:t>
            </a:r>
            <a:endParaRPr lang="en-IN" dirty="0" smtClean="0"/>
          </a:p>
          <a:p>
            <a:r>
              <a:rPr lang="en-IN" dirty="0" smtClean="0"/>
              <a:t>+ </a:t>
            </a:r>
            <a:r>
              <a:rPr lang="en-IN" dirty="0"/>
              <a:t>β3(Position of call to action link is top) </a:t>
            </a:r>
            <a:endParaRPr lang="en-IN" dirty="0" smtClean="0"/>
          </a:p>
          <a:p>
            <a:r>
              <a:rPr lang="en-IN" dirty="0" smtClean="0"/>
              <a:t>+ </a:t>
            </a:r>
            <a:r>
              <a:rPr lang="en-IN" dirty="0"/>
              <a:t>β4(Presence of animation is yes) </a:t>
            </a:r>
            <a:r>
              <a:rPr lang="en-IN" dirty="0" smtClean="0"/>
              <a:t>4</a:t>
            </a:r>
          </a:p>
          <a:p>
            <a:r>
              <a:rPr lang="en-IN" dirty="0" smtClean="0"/>
              <a:t>+ </a:t>
            </a:r>
            <a:r>
              <a:rPr lang="en-IN" dirty="0"/>
              <a:t>β5(Placement on web site is left)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7584" y="980728"/>
            <a:ext cx="77768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I</a:t>
            </a:r>
            <a:r>
              <a:rPr lang="en-IN" dirty="0" smtClean="0"/>
              <a:t>t </a:t>
            </a:r>
            <a:r>
              <a:rPr lang="en-IN" dirty="0"/>
              <a:t>is important to quantify the “success metric” for a banner </a:t>
            </a:r>
            <a:r>
              <a:rPr lang="en-IN" dirty="0" smtClean="0"/>
              <a:t>advertisement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smtClean="0"/>
              <a:t>The </a:t>
            </a:r>
            <a:r>
              <a:rPr lang="en-IN" dirty="0"/>
              <a:t>most common success metric that is used is called the Click Through Rate (CTR</a:t>
            </a:r>
            <a:r>
              <a:rPr lang="en-IN" dirty="0" smtClean="0"/>
              <a:t>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smtClean="0"/>
              <a:t>Click </a:t>
            </a:r>
            <a:r>
              <a:rPr lang="en-IN" dirty="0"/>
              <a:t>through rate is a very simple metric which is calculated as: Number of visitors clicking the link in the advertisement divided by the number of visitors who are exposed to the advertisement.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16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DoE: without interaction effects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to know about  the customer – simple ask them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496944" cy="5328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386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DoE: without interaction effects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to know about  the customer – simple ask them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1196752"/>
            <a:ext cx="3440279" cy="475252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39551" y="692696"/>
            <a:ext cx="374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Partial factorial design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283968" y="1062028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Estimating α: If one has results of experiment C24 one will be able to ascertain the value of α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Estimating β3: If one has the results of C4 and C8 then one can obtain the value of β3. 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Estimating β2: If one has the results of experiment C12 then one can plug in the values of α and β3 to obtain β2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Estimating β4:  If one has the result of C10 one could use the values of α β2 and β3 to obtain β4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Estimating β1: The value of β4 can then be plugged into the result of C6 to obtain β1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Estimating β5: The value of β5 can be obtained by plugging in the value of β2 into the result of experiment </a:t>
            </a:r>
            <a:r>
              <a:rPr lang="en-IN" sz="1600" dirty="0" smtClean="0"/>
              <a:t>C15</a:t>
            </a:r>
          </a:p>
          <a:p>
            <a:pPr marL="285750" lvl="0" indent="-285750">
              <a:buFont typeface="Wingdings" pitchFamily="2" charset="2"/>
              <a:buChar char="Ø"/>
            </a:pPr>
            <a:r>
              <a:rPr lang="en-IN" sz="1600" dirty="0"/>
              <a:t>B</a:t>
            </a:r>
            <a:r>
              <a:rPr lang="en-IN" sz="1600" dirty="0" smtClean="0"/>
              <a:t>y </a:t>
            </a:r>
            <a:r>
              <a:rPr lang="en-IN" sz="1600" dirty="0"/>
              <a:t>conducting only 7 experiments (C4, C8, C12, C14, C6, C10 and C15), one can obtain all the information that can be obtained by conducting 24 experiments. </a:t>
            </a:r>
          </a:p>
        </p:txBody>
      </p:sp>
    </p:spTree>
    <p:extLst>
      <p:ext uri="{BB962C8B-B14F-4D97-AF65-F5344CB8AC3E}">
        <p14:creationId xmlns:p14="http://schemas.microsoft.com/office/powerpoint/2010/main" val="346686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DoE: with interaction effects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50002-EFD4-4435-B5D7-6278A1D1526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163407" y="6240351"/>
            <a:ext cx="7632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How to know about  the customer – simple ask them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24562" y="4149080"/>
            <a:ext cx="72478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dirty="0"/>
              <a:t>Ln(CTR/(1-CTR)) = α + β1(Position of picture is left) </a:t>
            </a:r>
            <a:endParaRPr lang="en-IN" dirty="0" smtClean="0"/>
          </a:p>
          <a:p>
            <a:pPr lvl="0"/>
            <a:r>
              <a:rPr lang="en-IN" dirty="0" smtClean="0"/>
              <a:t>+ </a:t>
            </a:r>
            <a:r>
              <a:rPr lang="en-IN" dirty="0"/>
              <a:t>β2(Position of picture is right) </a:t>
            </a:r>
            <a:endParaRPr lang="en-IN" dirty="0" smtClean="0"/>
          </a:p>
          <a:p>
            <a:pPr lvl="0"/>
            <a:r>
              <a:rPr lang="en-IN" dirty="0" smtClean="0"/>
              <a:t>+ </a:t>
            </a:r>
            <a:r>
              <a:rPr lang="en-IN" dirty="0"/>
              <a:t>β3(Position of call to action link is top) </a:t>
            </a:r>
            <a:endParaRPr lang="en-IN" dirty="0" smtClean="0"/>
          </a:p>
          <a:p>
            <a:pPr lvl="0"/>
            <a:r>
              <a:rPr lang="en-IN" dirty="0" smtClean="0"/>
              <a:t>+ </a:t>
            </a:r>
            <a:r>
              <a:rPr lang="en-IN" dirty="0"/>
              <a:t>β4(Presence of animation is yes) </a:t>
            </a:r>
            <a:endParaRPr lang="en-IN" dirty="0" smtClean="0"/>
          </a:p>
          <a:p>
            <a:pPr lvl="0"/>
            <a:r>
              <a:rPr lang="en-IN" dirty="0" smtClean="0"/>
              <a:t>+ </a:t>
            </a:r>
            <a:r>
              <a:rPr lang="en-IN" dirty="0"/>
              <a:t>β5(Placement on web site is left) </a:t>
            </a:r>
            <a:endParaRPr lang="en-IN" dirty="0" smtClean="0"/>
          </a:p>
          <a:p>
            <a:pPr lvl="0"/>
            <a:r>
              <a:rPr lang="en-IN" dirty="0" smtClean="0"/>
              <a:t>+ </a:t>
            </a:r>
            <a:r>
              <a:rPr lang="en-IN" dirty="0"/>
              <a:t>β10(Placement on web site is left &amp; Presence of animation)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7544" y="980728"/>
            <a:ext cx="84249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As a critic of the partial factorial approach, one could argue that the combination of an animation and a placement of the advertisement to the right of the website would be more effective in </a:t>
            </a:r>
            <a:r>
              <a:rPr lang="en-IN" dirty="0" smtClean="0"/>
              <a:t>conjunction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IN" dirty="0" smtClean="0"/>
              <a:t>This </a:t>
            </a:r>
            <a:r>
              <a:rPr lang="en-IN" dirty="0"/>
              <a:t>implies that the interaction between placement and animation needs to be taken into </a:t>
            </a:r>
            <a:r>
              <a:rPr lang="en-IN" dirty="0" smtClean="0"/>
              <a:t>account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I</a:t>
            </a:r>
            <a:r>
              <a:rPr lang="en-IN" dirty="0" smtClean="0"/>
              <a:t>t </a:t>
            </a:r>
            <a:r>
              <a:rPr lang="en-IN" dirty="0"/>
              <a:t>is difficult to limit the number of experiments or tests that needs to be conducted if there are significant number of interactions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38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60387</TotalTime>
  <Words>1855</Words>
  <Application>Microsoft Office PowerPoint</Application>
  <PresentationFormat>On-screen Show (4:3)</PresentationFormat>
  <Paragraphs>214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Agenda for today</vt:lpstr>
      <vt:lpstr>What do you want to test today?</vt:lpstr>
      <vt:lpstr>What do you want to test today?</vt:lpstr>
      <vt:lpstr>Welcome to the real world</vt:lpstr>
      <vt:lpstr>Test Vs. Control</vt:lpstr>
      <vt:lpstr>What do you want to test today?</vt:lpstr>
      <vt:lpstr>Welcome to the real world</vt:lpstr>
      <vt:lpstr>“There are more things in heaven and earth…..”</vt:lpstr>
      <vt:lpstr>How do we determine alpha and beta?</vt:lpstr>
      <vt:lpstr>Design of experiment</vt:lpstr>
      <vt:lpstr>DoE: a simple example</vt:lpstr>
      <vt:lpstr>DoE: without interaction</vt:lpstr>
      <vt:lpstr>DoE: without interaction effects</vt:lpstr>
      <vt:lpstr>DoE: without interaction effects</vt:lpstr>
      <vt:lpstr>DoE: with interaction effects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padma</dc:creator>
  <cp:lastModifiedBy>Hp</cp:lastModifiedBy>
  <cp:revision>863</cp:revision>
  <dcterms:created xsi:type="dcterms:W3CDTF">2014-11-14T09:17:31Z</dcterms:created>
  <dcterms:modified xsi:type="dcterms:W3CDTF">2016-08-07T14:00:09Z</dcterms:modified>
</cp:coreProperties>
</file>
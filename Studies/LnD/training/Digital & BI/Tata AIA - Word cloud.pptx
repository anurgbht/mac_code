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318" r:id="rId2"/>
    <p:sldId id="325" r:id="rId3"/>
    <p:sldId id="322" r:id="rId4"/>
    <p:sldId id="327" r:id="rId5"/>
    <p:sldId id="32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3D6"/>
    <a:srgbClr val="ACD433"/>
    <a:srgbClr val="FDF3D6"/>
    <a:srgbClr val="FDF2D6"/>
    <a:srgbClr val="FDF2D4"/>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9" autoAdjust="0"/>
    <p:restoredTop sz="94660"/>
  </p:normalViewPr>
  <p:slideViewPr>
    <p:cSldViewPr snapToGrid="0">
      <p:cViewPr varScale="1">
        <p:scale>
          <a:sx n="68" d="100"/>
          <a:sy n="68" d="100"/>
        </p:scale>
        <p:origin x="8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7778840233742795E-2"/>
          <c:y val="0.14753220789551405"/>
          <c:w val="0.8762120888002185"/>
          <c:h val="0.62827146561083413"/>
        </c:manualLayout>
      </c:layout>
      <c:barChart>
        <c:barDir val="col"/>
        <c:grouping val="percentStacked"/>
        <c:varyColors val="0"/>
        <c:ser>
          <c:idx val="0"/>
          <c:order val="0"/>
          <c:tx>
            <c:strRef>
              <c:f>Sheet1!$B$1</c:f>
              <c:strCache>
                <c:ptCount val="1"/>
                <c:pt idx="0">
                  <c:v>Positive</c:v>
                </c:pt>
              </c:strCache>
            </c:strRef>
          </c:tx>
          <c:spPr>
            <a:solidFill>
              <a:schemeClr val="accent1"/>
            </a:solidFill>
            <a:ln>
              <a:noFill/>
            </a:ln>
            <a:effectLst/>
          </c:spPr>
          <c:invertIfNegative val="0"/>
          <c:cat>
            <c:strRef>
              <c:f>Sheet1!$A$2:$A$6</c:f>
              <c:strCache>
                <c:ptCount val="5"/>
                <c:pt idx="0">
                  <c:v>Jan</c:v>
                </c:pt>
                <c:pt idx="1">
                  <c:v>Feb</c:v>
                </c:pt>
                <c:pt idx="2">
                  <c:v>Mar</c:v>
                </c:pt>
                <c:pt idx="3">
                  <c:v>Apr</c:v>
                </c:pt>
                <c:pt idx="4">
                  <c:v>May</c:v>
                </c:pt>
              </c:strCache>
            </c:strRef>
          </c:cat>
          <c:val>
            <c:numRef>
              <c:f>Sheet1!$B$2:$B$6</c:f>
              <c:numCache>
                <c:formatCode>General</c:formatCode>
                <c:ptCount val="5"/>
                <c:pt idx="0">
                  <c:v>2</c:v>
                </c:pt>
                <c:pt idx="1">
                  <c:v>5</c:v>
                </c:pt>
                <c:pt idx="2">
                  <c:v>177</c:v>
                </c:pt>
                <c:pt idx="3">
                  <c:v>246</c:v>
                </c:pt>
                <c:pt idx="4">
                  <c:v>13</c:v>
                </c:pt>
              </c:numCache>
            </c:numRef>
          </c:val>
        </c:ser>
        <c:ser>
          <c:idx val="1"/>
          <c:order val="1"/>
          <c:tx>
            <c:strRef>
              <c:f>Sheet1!$C$1</c:f>
              <c:strCache>
                <c:ptCount val="1"/>
                <c:pt idx="0">
                  <c:v>Negative</c:v>
                </c:pt>
              </c:strCache>
            </c:strRef>
          </c:tx>
          <c:spPr>
            <a:solidFill>
              <a:schemeClr val="accent2"/>
            </a:solidFill>
            <a:ln>
              <a:noFill/>
            </a:ln>
            <a:effectLst/>
          </c:spPr>
          <c:invertIfNegative val="0"/>
          <c:cat>
            <c:strRef>
              <c:f>Sheet1!$A$2:$A$6</c:f>
              <c:strCache>
                <c:ptCount val="5"/>
                <c:pt idx="0">
                  <c:v>Jan</c:v>
                </c:pt>
                <c:pt idx="1">
                  <c:v>Feb</c:v>
                </c:pt>
                <c:pt idx="2">
                  <c:v>Mar</c:v>
                </c:pt>
                <c:pt idx="3">
                  <c:v>Apr</c:v>
                </c:pt>
                <c:pt idx="4">
                  <c:v>May</c:v>
                </c:pt>
              </c:strCache>
            </c:strRef>
          </c:cat>
          <c:val>
            <c:numRef>
              <c:f>Sheet1!$C$2:$C$6</c:f>
              <c:numCache>
                <c:formatCode>General</c:formatCode>
                <c:ptCount val="5"/>
                <c:pt idx="0">
                  <c:v>21</c:v>
                </c:pt>
                <c:pt idx="1">
                  <c:v>6</c:v>
                </c:pt>
                <c:pt idx="2">
                  <c:v>21</c:v>
                </c:pt>
                <c:pt idx="3">
                  <c:v>22</c:v>
                </c:pt>
                <c:pt idx="4">
                  <c:v>18</c:v>
                </c:pt>
              </c:numCache>
            </c:numRef>
          </c:val>
        </c:ser>
        <c:ser>
          <c:idx val="2"/>
          <c:order val="2"/>
          <c:tx>
            <c:strRef>
              <c:f>Sheet1!$D$1</c:f>
              <c:strCache>
                <c:ptCount val="1"/>
                <c:pt idx="0">
                  <c:v>Neutral</c:v>
                </c:pt>
              </c:strCache>
            </c:strRef>
          </c:tx>
          <c:spPr>
            <a:solidFill>
              <a:schemeClr val="accent3"/>
            </a:solidFill>
            <a:ln>
              <a:noFill/>
            </a:ln>
            <a:effectLst/>
          </c:spPr>
          <c:invertIfNegative val="0"/>
          <c:cat>
            <c:strRef>
              <c:f>Sheet1!$A$2:$A$6</c:f>
              <c:strCache>
                <c:ptCount val="5"/>
                <c:pt idx="0">
                  <c:v>Jan</c:v>
                </c:pt>
                <c:pt idx="1">
                  <c:v>Feb</c:v>
                </c:pt>
                <c:pt idx="2">
                  <c:v>Mar</c:v>
                </c:pt>
                <c:pt idx="3">
                  <c:v>Apr</c:v>
                </c:pt>
                <c:pt idx="4">
                  <c:v>May</c:v>
                </c:pt>
              </c:strCache>
            </c:strRef>
          </c:cat>
          <c:val>
            <c:numRef>
              <c:f>Sheet1!$D$2:$D$6</c:f>
              <c:numCache>
                <c:formatCode>General</c:formatCode>
                <c:ptCount val="5"/>
                <c:pt idx="0">
                  <c:v>19</c:v>
                </c:pt>
                <c:pt idx="1">
                  <c:v>9</c:v>
                </c:pt>
                <c:pt idx="2">
                  <c:v>86</c:v>
                </c:pt>
                <c:pt idx="3">
                  <c:v>472</c:v>
                </c:pt>
                <c:pt idx="4">
                  <c:v>28</c:v>
                </c:pt>
              </c:numCache>
            </c:numRef>
          </c:val>
        </c:ser>
        <c:dLbls>
          <c:showLegendKey val="0"/>
          <c:showVal val="0"/>
          <c:showCatName val="0"/>
          <c:showSerName val="0"/>
          <c:showPercent val="0"/>
          <c:showBubbleSize val="0"/>
        </c:dLbls>
        <c:gapWidth val="150"/>
        <c:overlap val="100"/>
        <c:axId val="528545760"/>
        <c:axId val="528550112"/>
      </c:barChart>
      <c:catAx>
        <c:axId val="52854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8550112"/>
        <c:crosses val="autoZero"/>
        <c:auto val="1"/>
        <c:lblAlgn val="ctr"/>
        <c:lblOffset val="100"/>
        <c:noMultiLvlLbl val="0"/>
      </c:catAx>
      <c:valAx>
        <c:axId val="52855011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8545760"/>
        <c:crosses val="autoZero"/>
        <c:crossBetween val="between"/>
        <c:majorUnit val="0.2"/>
      </c:valAx>
      <c:spPr>
        <a:noFill/>
        <a:ln>
          <a:noFill/>
        </a:ln>
        <a:effectLst/>
      </c:spPr>
    </c:plotArea>
    <c:legend>
      <c:legendPos val="b"/>
      <c:layout>
        <c:manualLayout>
          <c:xMode val="edge"/>
          <c:yMode val="edge"/>
          <c:x val="0.2035681764401755"/>
          <c:y val="1.1118192514567459E-2"/>
          <c:w val="0.44626687913303592"/>
          <c:h val="8.3158973558216109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991279425124191E-2"/>
          <c:y val="0.15977794582957169"/>
          <c:w val="0.83939458588766513"/>
          <c:h val="0.70199435052223114"/>
        </c:manualLayout>
      </c:layout>
      <c:lineChart>
        <c:grouping val="standard"/>
        <c:varyColors val="0"/>
        <c:ser>
          <c:idx val="0"/>
          <c:order val="0"/>
          <c:tx>
            <c:strRef>
              <c:f>Sheet1!$B$1</c:f>
              <c:strCache>
                <c:ptCount val="1"/>
                <c:pt idx="0">
                  <c:v>Total Fan Posts</c:v>
                </c:pt>
              </c:strCache>
            </c:strRef>
          </c:tx>
          <c:spPr>
            <a:ln w="28575" cap="rnd">
              <a:solidFill>
                <a:schemeClr val="tx2">
                  <a:lumMod val="75000"/>
                </a:schemeClr>
              </a:solidFill>
              <a:round/>
            </a:ln>
            <a:effectLst/>
          </c:spPr>
          <c:marker>
            <c:symbol val="none"/>
          </c:marker>
          <c:dLbls>
            <c:dLbl>
              <c:idx val="0"/>
              <c:layout>
                <c:manualLayout>
                  <c:x val="-3.5378453413406535E-2"/>
                  <c:y val="-5.6530250697308236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4.8994392101779145E-2"/>
                  <c:y val="-7.160506976932203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4.0455989195306512E-2"/>
                  <c:y val="-8.0671199678150618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4.1349174308191378E-2"/>
                  <c:y val="-1.4769074997449477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2.6115230885887238E-2"/>
                  <c:y val="-6.029907987521177E-2"/>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42</c:v>
                </c:pt>
                <c:pt idx="1">
                  <c:v>20</c:v>
                </c:pt>
                <c:pt idx="2">
                  <c:v>284</c:v>
                </c:pt>
                <c:pt idx="3">
                  <c:v>740</c:v>
                </c:pt>
                <c:pt idx="4">
                  <c:v>59</c:v>
                </c:pt>
              </c:numCache>
            </c:numRef>
          </c:val>
          <c:smooth val="0"/>
        </c:ser>
        <c:dLbls>
          <c:showLegendKey val="0"/>
          <c:showVal val="0"/>
          <c:showCatName val="0"/>
          <c:showSerName val="0"/>
          <c:showPercent val="0"/>
          <c:showBubbleSize val="0"/>
        </c:dLbls>
        <c:smooth val="0"/>
        <c:axId val="528544672"/>
        <c:axId val="528546304"/>
      </c:lineChart>
      <c:catAx>
        <c:axId val="528544672"/>
        <c:scaling>
          <c:orientation val="minMax"/>
        </c:scaling>
        <c:delete val="1"/>
        <c:axPos val="t"/>
        <c:numFmt formatCode="General" sourceLinked="1"/>
        <c:majorTickMark val="none"/>
        <c:minorTickMark val="none"/>
        <c:tickLblPos val="nextTo"/>
        <c:crossAx val="528546304"/>
        <c:crosses val="max"/>
        <c:auto val="1"/>
        <c:lblAlgn val="ctr"/>
        <c:lblOffset val="100"/>
        <c:noMultiLvlLbl val="0"/>
      </c:catAx>
      <c:valAx>
        <c:axId val="528546304"/>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8544672"/>
        <c:crosses val="max"/>
        <c:crossBetween val="between"/>
        <c:majorUnit val="200"/>
      </c:valAx>
      <c:spPr>
        <a:noFill/>
        <a:ln>
          <a:noFill/>
        </a:ln>
        <a:effectLst/>
      </c:spPr>
    </c:plotArea>
    <c:legend>
      <c:legendPos val="b"/>
      <c:layout>
        <c:manualLayout>
          <c:xMode val="edge"/>
          <c:yMode val="edge"/>
          <c:x val="0.61229857171449564"/>
          <c:y val="1.6297795370271154E-2"/>
          <c:w val="0.30021252329117998"/>
          <c:h val="7.7122285762443579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826324135302095"/>
          <c:y val="0.53286294076357787"/>
          <c:w val="0.83773043670486169"/>
          <c:h val="0.46713705923642201"/>
        </c:manualLayout>
      </c:layout>
      <c:barChart>
        <c:barDir val="bar"/>
        <c:grouping val="stacked"/>
        <c:varyColors val="0"/>
        <c:ser>
          <c:idx val="0"/>
          <c:order val="0"/>
          <c:tx>
            <c:strRef>
              <c:f>Sheet1!$B$1</c:f>
              <c:strCache>
                <c:ptCount val="1"/>
                <c:pt idx="0">
                  <c:v>Facebook</c:v>
                </c:pt>
              </c:strCache>
            </c:strRef>
          </c:tx>
          <c:spPr>
            <a:solidFill>
              <a:schemeClr val="accent1">
                <a:lumMod val="50000"/>
              </a:schemeClr>
            </a:solidFill>
            <a:ln>
              <a:noFill/>
            </a:ln>
            <a:effectLst/>
          </c:spPr>
          <c:invertIfNegative val="0"/>
          <c:dLbls>
            <c:dLbl>
              <c:idx val="0"/>
              <c:layout>
                <c:manualLayout>
                  <c:x val="-7.5160093784758075E-2"/>
                  <c:y val="-5.5720325210183441E-3"/>
                </c:manualLayout>
              </c:layout>
              <c:numFmt formatCode="0%" sourceLinked="0"/>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extLst>
                <c:ext xmlns:c15="http://schemas.microsoft.com/office/drawing/2012/chart" uri="{CE6537A1-D6FC-4f65-9D91-7224C49458BB}">
                  <c15:layout>
                    <c:manualLayout>
                      <c:w val="0.13246122479197983"/>
                      <c:h val="0.45082425050851871"/>
                    </c:manualLayout>
                  </c15:layout>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0.00%</c:formatCode>
                <c:ptCount val="1"/>
                <c:pt idx="0">
                  <c:v>0.01</c:v>
                </c:pt>
              </c:numCache>
            </c:numRef>
          </c:val>
        </c:ser>
        <c:ser>
          <c:idx val="1"/>
          <c:order val="1"/>
          <c:tx>
            <c:strRef>
              <c:f>Sheet1!$C$1</c:f>
              <c:strCache>
                <c:ptCount val="1"/>
                <c:pt idx="0">
                  <c:v>Twitter</c:v>
                </c:pt>
              </c:strCache>
            </c:strRef>
          </c:tx>
          <c:spPr>
            <a:solidFill>
              <a:schemeClr val="accent1">
                <a:lumMod val="60000"/>
                <a:lumOff val="40000"/>
              </a:schemeClr>
            </a:solidFill>
            <a:ln>
              <a:noFill/>
            </a:ln>
            <a:effectLst/>
          </c:spPr>
          <c:invertIfNegative val="0"/>
          <c:dLbls>
            <c:dLbl>
              <c:idx val="0"/>
              <c:layout>
                <c:manualLayout>
                  <c:x val="2.6307773447494577E-3"/>
                  <c:y val="-3.5585982584267865E-2"/>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0.00%</c:formatCode>
                <c:ptCount val="1"/>
                <c:pt idx="0">
                  <c:v>0.99</c:v>
                </c:pt>
              </c:numCache>
            </c:numRef>
          </c:val>
        </c:ser>
        <c:dLbls>
          <c:dLblPos val="ctr"/>
          <c:showLegendKey val="0"/>
          <c:showVal val="1"/>
          <c:showCatName val="0"/>
          <c:showSerName val="0"/>
          <c:showPercent val="0"/>
          <c:showBubbleSize val="0"/>
        </c:dLbls>
        <c:gapWidth val="55"/>
        <c:overlap val="100"/>
        <c:axId val="528547392"/>
        <c:axId val="538912448"/>
      </c:barChart>
      <c:catAx>
        <c:axId val="528547392"/>
        <c:scaling>
          <c:orientation val="minMax"/>
        </c:scaling>
        <c:delete val="1"/>
        <c:axPos val="l"/>
        <c:numFmt formatCode="General" sourceLinked="1"/>
        <c:majorTickMark val="none"/>
        <c:minorTickMark val="none"/>
        <c:tickLblPos val="nextTo"/>
        <c:crossAx val="538912448"/>
        <c:crosses val="autoZero"/>
        <c:auto val="1"/>
        <c:lblAlgn val="ctr"/>
        <c:lblOffset val="100"/>
        <c:noMultiLvlLbl val="0"/>
      </c:catAx>
      <c:valAx>
        <c:axId val="538912448"/>
        <c:scaling>
          <c:orientation val="minMax"/>
        </c:scaling>
        <c:delete val="1"/>
        <c:axPos val="b"/>
        <c:numFmt formatCode="0.00%" sourceLinked="1"/>
        <c:majorTickMark val="none"/>
        <c:minorTickMark val="none"/>
        <c:tickLblPos val="nextTo"/>
        <c:crossAx val="5285473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681976347635049E-2"/>
          <c:y val="0.53286294076357787"/>
          <c:w val="0.91731176060105968"/>
          <c:h val="0.46713705923642201"/>
        </c:manualLayout>
      </c:layout>
      <c:barChart>
        <c:barDir val="bar"/>
        <c:grouping val="stacked"/>
        <c:varyColors val="0"/>
        <c:ser>
          <c:idx val="0"/>
          <c:order val="0"/>
          <c:tx>
            <c:strRef>
              <c:f>Sheet1!$B$1</c:f>
              <c:strCache>
                <c:ptCount val="1"/>
                <c:pt idx="0">
                  <c:v>Customer Service</c:v>
                </c:pt>
              </c:strCache>
            </c:strRef>
          </c:tx>
          <c:spPr>
            <a:solidFill>
              <a:schemeClr val="accent1"/>
            </a:solidFill>
            <a:ln>
              <a:noFill/>
            </a:ln>
            <a:effectLst/>
          </c:spPr>
          <c:invertIfNegative val="0"/>
          <c:dLbls>
            <c:dLbl>
              <c:idx val="0"/>
              <c:layout>
                <c:manualLayout>
                  <c:x val="5.2507137032601156E-8"/>
                  <c:y val="-0.45220885500026659"/>
                </c:manualLayout>
              </c:layout>
              <c:numFmt formatCode="0.0%" sourceLinked="0"/>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extLst>
                <c:ext xmlns:c15="http://schemas.microsoft.com/office/drawing/2012/chart" uri="{CE6537A1-D6FC-4f65-9D91-7224C49458BB}">
                  <c15:layout>
                    <c:manualLayout>
                      <c:w val="0.13246122479197983"/>
                      <c:h val="0.45082425050851871"/>
                    </c:manualLayout>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0.00%</c:formatCode>
                <c:ptCount val="1"/>
                <c:pt idx="0">
                  <c:v>1.6E-2</c:v>
                </c:pt>
              </c:numCache>
            </c:numRef>
          </c:val>
        </c:ser>
        <c:ser>
          <c:idx val="1"/>
          <c:order val="1"/>
          <c:tx>
            <c:strRef>
              <c:f>Sheet1!$C$1</c:f>
              <c:strCache>
                <c:ptCount val="1"/>
                <c:pt idx="0">
                  <c:v>Campaign</c:v>
                </c:pt>
              </c:strCache>
            </c:strRef>
          </c:tx>
          <c:spPr>
            <a:solidFill>
              <a:schemeClr val="accent2"/>
            </a:solidFill>
            <a:ln>
              <a:noFill/>
            </a:ln>
            <a:effectLst/>
          </c:spPr>
          <c:invertIfNegative val="0"/>
          <c:dLbls>
            <c:dLbl>
              <c:idx val="0"/>
              <c:layout>
                <c:manualLayout>
                  <c:x val="-4.0010438418842569E-3"/>
                  <c:y val="-0.45515376190222279"/>
                </c:manualLayout>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0.00%</c:formatCode>
                <c:ptCount val="1"/>
                <c:pt idx="0">
                  <c:v>0.91600000000000004</c:v>
                </c:pt>
              </c:numCache>
            </c:numRef>
          </c:val>
        </c:ser>
        <c:ser>
          <c:idx val="2"/>
          <c:order val="2"/>
          <c:tx>
            <c:strRef>
              <c:f>Sheet1!$D$1</c:f>
              <c:strCache>
                <c:ptCount val="1"/>
                <c:pt idx="0">
                  <c:v>Brand</c:v>
                </c:pt>
              </c:strCache>
            </c:strRef>
          </c:tx>
          <c:spPr>
            <a:solidFill>
              <a:schemeClr val="accent3"/>
            </a:solidFill>
            <a:ln>
              <a:noFill/>
            </a:ln>
            <a:effectLst/>
          </c:spPr>
          <c:invertIfNegative val="0"/>
          <c:dLbls>
            <c:dLbl>
              <c:idx val="0"/>
              <c:layout>
                <c:manualLayout>
                  <c:x val="-0.11469659013401397"/>
                  <c:y val="-0.43295113937040708"/>
                </c:manualLayout>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0.00%</c:formatCode>
                <c:ptCount val="1"/>
                <c:pt idx="0">
                  <c:v>6.0999999999999999E-2</c:v>
                </c:pt>
              </c:numCache>
            </c:numRef>
          </c:val>
        </c:ser>
        <c:ser>
          <c:idx val="3"/>
          <c:order val="3"/>
          <c:tx>
            <c:strRef>
              <c:f>Sheet1!$E$1</c:f>
              <c:strCache>
                <c:ptCount val="1"/>
                <c:pt idx="0">
                  <c:v>Website </c:v>
                </c:pt>
              </c:strCache>
            </c:strRef>
          </c:tx>
          <c:spPr>
            <a:solidFill>
              <a:schemeClr val="accent4"/>
            </a:solidFill>
            <a:ln>
              <a:noFill/>
            </a:ln>
            <a:effectLst/>
          </c:spPr>
          <c:invertIfNegative val="0"/>
          <c:dLbls>
            <c:dLbl>
              <c:idx val="0"/>
              <c:layout>
                <c:manualLayout>
                  <c:x val="2.4006263051305151E-2"/>
                  <c:y val="-0.4662550731681307"/>
                </c:manualLayout>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0.00%</c:formatCode>
                <c:ptCount val="1"/>
                <c:pt idx="0">
                  <c:v>2E-3</c:v>
                </c:pt>
              </c:numCache>
            </c:numRef>
          </c:val>
        </c:ser>
        <c:ser>
          <c:idx val="4"/>
          <c:order val="4"/>
          <c:tx>
            <c:strRef>
              <c:f>Sheet1!$F$1</c:f>
              <c:strCache>
                <c:ptCount val="1"/>
                <c:pt idx="0">
                  <c:v>Others</c:v>
                </c:pt>
              </c:strCache>
            </c:strRef>
          </c:tx>
          <c:spPr>
            <a:solidFill>
              <a:schemeClr val="accent5"/>
            </a:solidFill>
            <a:ln>
              <a:noFill/>
            </a:ln>
            <a:effectLst/>
          </c:spPr>
          <c:invertIfNegative val="0"/>
          <c:dLbls>
            <c:dLbl>
              <c:idx val="0"/>
              <c:layout>
                <c:manualLayout>
                  <c:x val="6.5350382750775302E-2"/>
                  <c:y val="0"/>
                </c:manualLayout>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0.00%</c:formatCode>
                <c:ptCount val="1"/>
                <c:pt idx="0">
                  <c:v>5.0000000000000001E-3</c:v>
                </c:pt>
              </c:numCache>
            </c:numRef>
          </c:val>
        </c:ser>
        <c:dLbls>
          <c:dLblPos val="ctr"/>
          <c:showLegendKey val="0"/>
          <c:showVal val="1"/>
          <c:showCatName val="0"/>
          <c:showSerName val="0"/>
          <c:showPercent val="0"/>
          <c:showBubbleSize val="0"/>
        </c:dLbls>
        <c:gapWidth val="55"/>
        <c:overlap val="100"/>
        <c:axId val="538914624"/>
        <c:axId val="538909728"/>
      </c:barChart>
      <c:catAx>
        <c:axId val="538914624"/>
        <c:scaling>
          <c:orientation val="minMax"/>
        </c:scaling>
        <c:delete val="1"/>
        <c:axPos val="l"/>
        <c:numFmt formatCode="General" sourceLinked="1"/>
        <c:majorTickMark val="none"/>
        <c:minorTickMark val="none"/>
        <c:tickLblPos val="nextTo"/>
        <c:crossAx val="538909728"/>
        <c:crosses val="autoZero"/>
        <c:auto val="1"/>
        <c:lblAlgn val="ctr"/>
        <c:lblOffset val="100"/>
        <c:noMultiLvlLbl val="0"/>
      </c:catAx>
      <c:valAx>
        <c:axId val="538909728"/>
        <c:scaling>
          <c:orientation val="minMax"/>
        </c:scaling>
        <c:delete val="1"/>
        <c:axPos val="b"/>
        <c:numFmt formatCode="0.00%" sourceLinked="1"/>
        <c:majorTickMark val="none"/>
        <c:minorTickMark val="none"/>
        <c:tickLblPos val="nextTo"/>
        <c:crossAx val="5389146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688766593000244E-2"/>
          <c:y val="0.3774445830408677"/>
          <c:w val="0.94939480469931004"/>
          <c:h val="0.50044099303414558"/>
        </c:manualLayout>
      </c:layout>
      <c:barChart>
        <c:barDir val="bar"/>
        <c:grouping val="stacked"/>
        <c:varyColors val="0"/>
        <c:ser>
          <c:idx val="0"/>
          <c:order val="0"/>
          <c:tx>
            <c:strRef>
              <c:f>Sheet1!$B$1</c:f>
              <c:strCache>
                <c:ptCount val="1"/>
                <c:pt idx="0">
                  <c:v>Agent</c:v>
                </c:pt>
              </c:strCache>
            </c:strRef>
          </c:tx>
          <c:spPr>
            <a:solidFill>
              <a:schemeClr val="accent1"/>
            </a:solidFill>
            <a:ln>
              <a:noFill/>
            </a:ln>
            <a:effectLst/>
          </c:spPr>
          <c:invertIfNegative val="0"/>
          <c:dLbls>
            <c:dLbl>
              <c:idx val="0"/>
              <c:layout>
                <c:manualLayout>
                  <c:x val="1.1555517037165433E-3"/>
                  <c:y val="-0.41074851683859132"/>
                </c:manualLayout>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0.00%</c:formatCode>
                <c:ptCount val="1"/>
                <c:pt idx="0">
                  <c:v>2.3E-2</c:v>
                </c:pt>
              </c:numCache>
            </c:numRef>
          </c:val>
        </c:ser>
        <c:ser>
          <c:idx val="1"/>
          <c:order val="1"/>
          <c:tx>
            <c:strRef>
              <c:f>Sheet1!$C$1</c:f>
              <c:strCache>
                <c:ptCount val="1"/>
                <c:pt idx="0">
                  <c:v>Campaign</c:v>
                </c:pt>
              </c:strCache>
            </c:strRef>
          </c:tx>
          <c:spPr>
            <a:solidFill>
              <a:schemeClr val="accent2"/>
            </a:solidFill>
            <a:ln>
              <a:noFill/>
            </a:ln>
            <a:effectLst/>
          </c:spPr>
          <c:invertIfNegative val="0"/>
          <c:dLbls>
            <c:dLbl>
              <c:idx val="0"/>
              <c:layout>
                <c:manualLayout>
                  <c:x val="2.5302597650344996E-2"/>
                  <c:y val="-0.41074851683859132"/>
                </c:manualLayout>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0.00%</c:formatCode>
                <c:ptCount val="1"/>
                <c:pt idx="0">
                  <c:v>0.182</c:v>
                </c:pt>
              </c:numCache>
            </c:numRef>
          </c:val>
        </c:ser>
        <c:ser>
          <c:idx val="2"/>
          <c:order val="2"/>
          <c:tx>
            <c:strRef>
              <c:f>Sheet1!$D$1</c:f>
              <c:strCache>
                <c:ptCount val="1"/>
                <c:pt idx="0">
                  <c:v>Brand</c:v>
                </c:pt>
              </c:strCache>
            </c:strRef>
          </c:tx>
          <c:spPr>
            <a:solidFill>
              <a:schemeClr val="accent3"/>
            </a:solidFill>
            <a:ln>
              <a:noFill/>
            </a:ln>
            <a:effectLst/>
          </c:spPr>
          <c:invertIfNegative val="0"/>
          <c:dLbls>
            <c:dLbl>
              <c:idx val="0"/>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0.00%</c:formatCode>
                <c:ptCount val="1"/>
                <c:pt idx="0">
                  <c:v>0.17</c:v>
                </c:pt>
              </c:numCache>
            </c:numRef>
          </c:val>
        </c:ser>
        <c:ser>
          <c:idx val="3"/>
          <c:order val="3"/>
          <c:tx>
            <c:strRef>
              <c:f>Sheet1!$E$1</c:f>
              <c:strCache>
                <c:ptCount val="1"/>
                <c:pt idx="0">
                  <c:v>Website </c:v>
                </c:pt>
              </c:strCache>
            </c:strRef>
          </c:tx>
          <c:spPr>
            <a:solidFill>
              <a:schemeClr val="accent4"/>
            </a:solidFill>
            <a:ln>
              <a:noFill/>
            </a:ln>
            <a:effectLst/>
          </c:spPr>
          <c:invertIfNegative val="0"/>
          <c:dLbls>
            <c:dLbl>
              <c:idx val="0"/>
              <c:layout>
                <c:manualLayout>
                  <c:x val="3.7953896475517029E-3"/>
                  <c:y val="-0.41074851683859132"/>
                </c:manualLayout>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0.00%</c:formatCode>
                <c:ptCount val="1"/>
                <c:pt idx="0">
                  <c:v>0.10199999999999999</c:v>
                </c:pt>
              </c:numCache>
            </c:numRef>
          </c:val>
        </c:ser>
        <c:ser>
          <c:idx val="4"/>
          <c:order val="4"/>
          <c:tx>
            <c:strRef>
              <c:f>Sheet1!$F$1</c:f>
              <c:strCache>
                <c:ptCount val="1"/>
                <c:pt idx="0">
                  <c:v>Customer Service</c:v>
                </c:pt>
              </c:strCache>
            </c:strRef>
          </c:tx>
          <c:spPr>
            <a:solidFill>
              <a:schemeClr val="accent5"/>
            </a:solidFill>
            <a:ln>
              <a:noFill/>
            </a:ln>
            <a:effectLst/>
          </c:spPr>
          <c:invertIfNegative val="0"/>
          <c:dLbls>
            <c:dLbl>
              <c:idx val="0"/>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0.00%</c:formatCode>
                <c:ptCount val="1"/>
                <c:pt idx="0">
                  <c:v>0.36299999999999999</c:v>
                </c:pt>
              </c:numCache>
            </c:numRef>
          </c:val>
        </c:ser>
        <c:ser>
          <c:idx val="5"/>
          <c:order val="5"/>
          <c:tx>
            <c:strRef>
              <c:f>Sheet1!$G$1</c:f>
              <c:strCache>
                <c:ptCount val="1"/>
                <c:pt idx="0">
                  <c:v>Others</c:v>
                </c:pt>
              </c:strCache>
            </c:strRef>
          </c:tx>
          <c:spPr>
            <a:solidFill>
              <a:schemeClr val="accent6"/>
            </a:solidFill>
            <a:ln>
              <a:noFill/>
            </a:ln>
            <a:effectLst/>
          </c:spPr>
          <c:invertIfNegative val="0"/>
          <c:dLbls>
            <c:dLbl>
              <c:idx val="0"/>
              <c:layout>
                <c:manualLayout>
                  <c:x val="-1.2651298825173427E-3"/>
                  <c:y val="-0.38854589430677555"/>
                </c:manualLayout>
              </c:layout>
              <c:showLegendKey val="0"/>
              <c:showVal val="1"/>
              <c:showCatName val="0"/>
              <c:showSerName val="1"/>
              <c:showPercent val="0"/>
              <c:showBubbleSize val="0"/>
              <c:extLst>
                <c:ext xmlns:c15="http://schemas.microsoft.com/office/drawing/2012/chart" uri="{CE6537A1-D6FC-4f65-9D91-7224C49458BB}">
                  <c15:layout/>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Sheet1!$G$2</c:f>
              <c:numCache>
                <c:formatCode>0.00%</c:formatCode>
                <c:ptCount val="1"/>
                <c:pt idx="0">
                  <c:v>0.16</c:v>
                </c:pt>
              </c:numCache>
            </c:numRef>
          </c:val>
        </c:ser>
        <c:dLbls>
          <c:dLblPos val="ctr"/>
          <c:showLegendKey val="0"/>
          <c:showVal val="1"/>
          <c:showCatName val="0"/>
          <c:showSerName val="0"/>
          <c:showPercent val="0"/>
          <c:showBubbleSize val="0"/>
        </c:dLbls>
        <c:gapWidth val="55"/>
        <c:overlap val="100"/>
        <c:axId val="538911904"/>
        <c:axId val="538914080"/>
      </c:barChart>
      <c:catAx>
        <c:axId val="538911904"/>
        <c:scaling>
          <c:orientation val="minMax"/>
        </c:scaling>
        <c:delete val="1"/>
        <c:axPos val="l"/>
        <c:numFmt formatCode="General" sourceLinked="1"/>
        <c:majorTickMark val="none"/>
        <c:minorTickMark val="none"/>
        <c:tickLblPos val="nextTo"/>
        <c:crossAx val="538914080"/>
        <c:crosses val="autoZero"/>
        <c:auto val="1"/>
        <c:lblAlgn val="ctr"/>
        <c:lblOffset val="100"/>
        <c:noMultiLvlLbl val="0"/>
      </c:catAx>
      <c:valAx>
        <c:axId val="538914080"/>
        <c:scaling>
          <c:orientation val="minMax"/>
        </c:scaling>
        <c:delete val="1"/>
        <c:axPos val="b"/>
        <c:numFmt formatCode="0.00%" sourceLinked="1"/>
        <c:majorTickMark val="none"/>
        <c:minorTickMark val="none"/>
        <c:tickLblPos val="nextTo"/>
        <c:crossAx val="5389119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E89639-4074-41CA-8B1E-A79B4A30457A}" type="datetimeFigureOut">
              <a:rPr lang="en-IN" smtClean="0"/>
              <a:t>26-06-2016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165B1-143E-48EF-8DB1-7F3084AA34BC}" type="slidenum">
              <a:rPr lang="en-IN" smtClean="0"/>
              <a:t>‹#›</a:t>
            </a:fld>
            <a:endParaRPr lang="en-IN"/>
          </a:p>
        </p:txBody>
      </p:sp>
    </p:spTree>
    <p:extLst>
      <p:ext uri="{BB962C8B-B14F-4D97-AF65-F5344CB8AC3E}">
        <p14:creationId xmlns:p14="http://schemas.microsoft.com/office/powerpoint/2010/main" val="3634751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26-06-2016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680088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26-06-2016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58608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21FACE-E8F9-4406-8FAD-E38769FF28FC}" type="datetimeFigureOut">
              <a:rPr lang="en-IN" smtClean="0"/>
              <a:t>26-06-2016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979009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D21FACE-E8F9-4406-8FAD-E38769FF28FC}" type="datetimeFigureOut">
              <a:rPr lang="en-IN" smtClean="0"/>
              <a:t>26-06-2016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784939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D21FACE-E8F9-4406-8FAD-E38769FF28FC}" type="datetimeFigureOut">
              <a:rPr lang="en-IN" smtClean="0"/>
              <a:t>26-06-2016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71149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D21FACE-E8F9-4406-8FAD-E38769FF28FC}" type="datetimeFigureOut">
              <a:rPr lang="en-IN" smtClean="0"/>
              <a:t>26-06-2016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245387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21FACE-E8F9-4406-8FAD-E38769FF28FC}" type="datetimeFigureOut">
              <a:rPr lang="en-IN" smtClean="0"/>
              <a:t>26-06-2016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162422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21FACE-E8F9-4406-8FAD-E38769FF28FC}" type="datetimeFigureOut">
              <a:rPr lang="en-IN" smtClean="0"/>
              <a:t>26-06-2016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4154645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21FACE-E8F9-4406-8FAD-E38769FF28FC}" type="datetimeFigureOut">
              <a:rPr lang="en-IN" smtClean="0"/>
              <a:t>26-06-2016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694529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26-06-2016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16766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26-06-2016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893196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6/26/2016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493866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21FACE-E8F9-4406-8FAD-E38769FF28FC}" type="datetimeFigureOut">
              <a:rPr lang="en-IN" smtClean="0"/>
              <a:t>26-06-2016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DB1803-5FB1-45C7-863C-2EB59EF6ECED}" type="slidenum">
              <a:rPr lang="en-IN" smtClean="0"/>
              <a:t>‹#›</a:t>
            </a:fld>
            <a:endParaRPr lang="en-IN"/>
          </a:p>
        </p:txBody>
      </p:sp>
    </p:spTree>
    <p:extLst>
      <p:ext uri="{BB962C8B-B14F-4D97-AF65-F5344CB8AC3E}">
        <p14:creationId xmlns:p14="http://schemas.microsoft.com/office/powerpoint/2010/main" val="2872061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hart" Target="../charts/chart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2007" t="7083" b="13722"/>
          <a:stretch/>
        </p:blipFill>
        <p:spPr>
          <a:xfrm flipH="1">
            <a:off x="0" y="0"/>
            <a:ext cx="12192000" cy="6858000"/>
          </a:xfrm>
          <a:prstGeom prst="rect">
            <a:avLst/>
          </a:prstGeom>
        </p:spPr>
      </p:pic>
      <p:sp>
        <p:nvSpPr>
          <p:cNvPr id="7" name="Rectangle 6"/>
          <p:cNvSpPr/>
          <p:nvPr/>
        </p:nvSpPr>
        <p:spPr>
          <a:xfrm>
            <a:off x="785076" y="5770919"/>
            <a:ext cx="10621848" cy="830997"/>
          </a:xfrm>
          <a:prstGeom prst="rect">
            <a:avLst/>
          </a:prstGeom>
        </p:spPr>
        <p:txBody>
          <a:bodyPr wrap="square" anchor="b">
            <a:spAutoFit/>
          </a:bodyPr>
          <a:lstStyle/>
          <a:p>
            <a:pPr lvl="0" algn="ctr"/>
            <a:r>
              <a:rPr lang="en-US" sz="800" dirty="0">
                <a:solidFill>
                  <a:prstClr val="white"/>
                </a:solidFill>
                <a:latin typeface="Century Gothic"/>
              </a:rPr>
              <a:t>The information contained in the document is proprietary to Tata Industries Limited- Tata Insights &amp; Quants Division and is strictly confidential. </a:t>
            </a:r>
            <a:r>
              <a:rPr lang="en-IN" sz="8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800" dirty="0">
                <a:solidFill>
                  <a:prstClr val="white"/>
                </a:solidFill>
                <a:latin typeface="Century Gothic"/>
              </a:rPr>
            </a:br>
            <a:r>
              <a:rPr lang="en-IN" sz="800" dirty="0">
                <a:solidFill>
                  <a:prstClr val="white"/>
                </a:solidFill>
                <a:latin typeface="Century Gothic"/>
              </a:rPr>
              <a:t> </a:t>
            </a:r>
            <a:br>
              <a:rPr lang="en-IN" sz="800" dirty="0">
                <a:solidFill>
                  <a:prstClr val="white"/>
                </a:solidFill>
                <a:latin typeface="Century Gothic"/>
              </a:rPr>
            </a:br>
            <a:r>
              <a:rPr lang="en-IN" sz="800" b="1" dirty="0">
                <a:solidFill>
                  <a:prstClr val="white"/>
                </a:solidFill>
                <a:latin typeface="Leelawadee UI" panose="020B0502040204020203" pitchFamily="34" charset="-34"/>
                <a:cs typeface="Leelawadee UI" panose="020B0502040204020203" pitchFamily="34" charset="-34"/>
              </a:rPr>
              <a:t>© Copyright, Tata Insights &amp; Quants Division, Tata Industries Limited</a:t>
            </a:r>
            <a:r>
              <a:rPr lang="en-IN" sz="800" dirty="0">
                <a:solidFill>
                  <a:prstClr val="white"/>
                </a:solidFill>
                <a:latin typeface="Century Gothic"/>
              </a:rPr>
              <a:t> </a:t>
            </a:r>
          </a:p>
        </p:txBody>
      </p:sp>
      <p:pic>
        <p:nvPicPr>
          <p:cNvPr id="2" name="Picture 1"/>
          <p:cNvPicPr>
            <a:picLocks noChangeAspect="1"/>
          </p:cNvPicPr>
          <p:nvPr/>
        </p:nvPicPr>
        <p:blipFill>
          <a:blip r:embed="rId3"/>
          <a:stretch>
            <a:fillRect/>
          </a:stretch>
        </p:blipFill>
        <p:spPr>
          <a:xfrm>
            <a:off x="228600" y="172938"/>
            <a:ext cx="2838386" cy="1015396"/>
          </a:xfrm>
          <a:prstGeom prst="rect">
            <a:avLst/>
          </a:prstGeom>
        </p:spPr>
      </p:pic>
      <p:sp>
        <p:nvSpPr>
          <p:cNvPr id="11" name="Rectangle 10"/>
          <p:cNvSpPr/>
          <p:nvPr/>
        </p:nvSpPr>
        <p:spPr>
          <a:xfrm>
            <a:off x="3066986" y="319088"/>
            <a:ext cx="9125014" cy="550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06924" y="356363"/>
            <a:ext cx="518376" cy="475868"/>
          </a:xfrm>
          <a:prstGeom prst="rect">
            <a:avLst/>
          </a:prstGeom>
        </p:spPr>
      </p:pic>
      <p:sp>
        <p:nvSpPr>
          <p:cNvPr id="13" name="Rectangle 12"/>
          <p:cNvSpPr/>
          <p:nvPr/>
        </p:nvSpPr>
        <p:spPr>
          <a:xfrm>
            <a:off x="0" y="319088"/>
            <a:ext cx="266701" cy="550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p:cNvGrpSpPr/>
          <p:nvPr/>
        </p:nvGrpSpPr>
        <p:grpSpPr>
          <a:xfrm>
            <a:off x="2797030" y="2113564"/>
            <a:ext cx="6920673" cy="1092884"/>
            <a:chOff x="392060" y="1958412"/>
            <a:chExt cx="6920673" cy="1092884"/>
          </a:xfrm>
        </p:grpSpPr>
        <p:grpSp>
          <p:nvGrpSpPr>
            <p:cNvPr id="14" name="Group 13"/>
            <p:cNvGrpSpPr/>
            <p:nvPr/>
          </p:nvGrpSpPr>
          <p:grpSpPr>
            <a:xfrm>
              <a:off x="826622" y="2466521"/>
              <a:ext cx="6051550" cy="584775"/>
              <a:chOff x="1680697" y="5694680"/>
              <a:chExt cx="6051550" cy="584775"/>
            </a:xfrm>
          </p:grpSpPr>
          <p:sp>
            <p:nvSpPr>
              <p:cNvPr id="16" name="Rectangle 15"/>
              <p:cNvSpPr/>
              <p:nvPr/>
            </p:nvSpPr>
            <p:spPr>
              <a:xfrm>
                <a:off x="2309460" y="5694680"/>
                <a:ext cx="4525080" cy="584775"/>
              </a:xfrm>
              <a:prstGeom prst="rect">
                <a:avLst/>
              </a:prstGeom>
            </p:spPr>
            <p:txBody>
              <a:bodyPr wrap="square" anchor="ctr">
                <a:spAutoFit/>
              </a:bodyPr>
              <a:lstStyle/>
              <a:p>
                <a:pPr algn="ctr"/>
                <a:endParaRPr lang="en-US" sz="3200" spc="600" dirty="0">
                  <a:solidFill>
                    <a:schemeClr val="bg1"/>
                  </a:solidFill>
                  <a:latin typeface="Leelawadee UI" panose="020B0502040204020203" pitchFamily="34" charset="-34"/>
                  <a:cs typeface="Leelawadee UI" panose="020B0502040204020203" pitchFamily="34" charset="-34"/>
                </a:endParaRPr>
              </a:p>
            </p:txBody>
          </p:sp>
          <p:cxnSp>
            <p:nvCxnSpPr>
              <p:cNvPr id="18" name="Straight Connector 17"/>
              <p:cNvCxnSpPr/>
              <p:nvPr/>
            </p:nvCxnSpPr>
            <p:spPr>
              <a:xfrm>
                <a:off x="1680697" y="5987067"/>
                <a:ext cx="6051550" cy="0"/>
              </a:xfrm>
              <a:prstGeom prst="line">
                <a:avLst/>
              </a:prstGeom>
              <a:ln w="28575">
                <a:solidFill>
                  <a:srgbClr val="D41145"/>
                </a:solidFill>
              </a:ln>
            </p:spPr>
            <p:style>
              <a:lnRef idx="1">
                <a:schemeClr val="accent1"/>
              </a:lnRef>
              <a:fillRef idx="0">
                <a:schemeClr val="accent1"/>
              </a:fillRef>
              <a:effectRef idx="0">
                <a:schemeClr val="accent1"/>
              </a:effectRef>
              <a:fontRef idx="minor">
                <a:schemeClr val="tx1"/>
              </a:fontRef>
            </p:style>
          </p:cxnSp>
        </p:grpSp>
        <p:sp>
          <p:nvSpPr>
            <p:cNvPr id="19" name="Rectangle 18"/>
            <p:cNvSpPr/>
            <p:nvPr/>
          </p:nvSpPr>
          <p:spPr>
            <a:xfrm>
              <a:off x="392060" y="1958412"/>
              <a:ext cx="6920673" cy="1077218"/>
            </a:xfrm>
            <a:prstGeom prst="rect">
              <a:avLst/>
            </a:prstGeom>
          </p:spPr>
          <p:txBody>
            <a:bodyPr wrap="square">
              <a:spAutoFit/>
            </a:bodyPr>
            <a:lstStyle/>
            <a:p>
              <a:pPr algn="ctr"/>
              <a:r>
                <a:rPr lang="en-US" sz="3200" b="1" dirty="0" smtClean="0">
                  <a:solidFill>
                    <a:schemeClr val="bg1"/>
                  </a:solidFill>
                  <a:latin typeface="Leelawadee UI" panose="020B0502040204020203" pitchFamily="34" charset="-34"/>
                  <a:cs typeface="Leelawadee UI" panose="020B0502040204020203" pitchFamily="34" charset="-34"/>
                </a:rPr>
                <a:t>Tata AIA – Fan Posts</a:t>
              </a:r>
            </a:p>
            <a:p>
              <a:pPr algn="ctr"/>
              <a:endParaRPr lang="en-US" sz="3200" b="1" dirty="0">
                <a:solidFill>
                  <a:schemeClr val="bg1"/>
                </a:solidFill>
                <a:latin typeface="Leelawadee UI" panose="020B0502040204020203" pitchFamily="34" charset="-34"/>
                <a:cs typeface="Leelawadee UI" panose="020B0502040204020203" pitchFamily="34" charset="-34"/>
              </a:endParaRPr>
            </a:p>
          </p:txBody>
        </p:sp>
      </p:grpSp>
    </p:spTree>
    <p:extLst>
      <p:ext uri="{BB962C8B-B14F-4D97-AF65-F5344CB8AC3E}">
        <p14:creationId xmlns:p14="http://schemas.microsoft.com/office/powerpoint/2010/main" val="3063027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Chart 24"/>
          <p:cNvGraphicFramePr/>
          <p:nvPr>
            <p:extLst>
              <p:ext uri="{D42A27DB-BD31-4B8C-83A1-F6EECF244321}">
                <p14:modId xmlns:p14="http://schemas.microsoft.com/office/powerpoint/2010/main" val="3877274788"/>
              </p:ext>
            </p:extLst>
          </p:nvPr>
        </p:nvGraphicFramePr>
        <p:xfrm>
          <a:off x="5854545" y="1385584"/>
          <a:ext cx="5371203" cy="34268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6" name="Chart 25"/>
          <p:cNvGraphicFramePr/>
          <p:nvPr>
            <p:extLst>
              <p:ext uri="{D42A27DB-BD31-4B8C-83A1-F6EECF244321}">
                <p14:modId xmlns:p14="http://schemas.microsoft.com/office/powerpoint/2010/main" val="3197812947"/>
              </p:ext>
            </p:extLst>
          </p:nvPr>
        </p:nvGraphicFramePr>
        <p:xfrm>
          <a:off x="6241916" y="1369091"/>
          <a:ext cx="5550921" cy="3116986"/>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p:cNvSpPr/>
          <p:nvPr/>
        </p:nvSpPr>
        <p:spPr>
          <a:xfrm>
            <a:off x="767169" y="204486"/>
            <a:ext cx="10717305" cy="197655"/>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graphicFrame>
        <p:nvGraphicFramePr>
          <p:cNvPr id="2" name="Table 1"/>
          <p:cNvGraphicFramePr>
            <a:graphicFrameLocks noGrp="1"/>
          </p:cNvGraphicFramePr>
          <p:nvPr>
            <p:extLst>
              <p:ext uri="{D42A27DB-BD31-4B8C-83A1-F6EECF244321}">
                <p14:modId xmlns:p14="http://schemas.microsoft.com/office/powerpoint/2010/main" val="488970896"/>
              </p:ext>
            </p:extLst>
          </p:nvPr>
        </p:nvGraphicFramePr>
        <p:xfrm>
          <a:off x="5244957" y="4469584"/>
          <a:ext cx="6590381" cy="1097280"/>
        </p:xfrm>
        <a:graphic>
          <a:graphicData uri="http://schemas.openxmlformats.org/drawingml/2006/table">
            <a:tbl>
              <a:tblPr firstRow="1" bandRow="1">
                <a:tableStyleId>{5940675A-B579-460E-94D1-54222C63F5DA}</a:tableStyleId>
              </a:tblPr>
              <a:tblGrid>
                <a:gridCol w="1279278"/>
                <a:gridCol w="859809"/>
                <a:gridCol w="872852"/>
                <a:gridCol w="873456"/>
                <a:gridCol w="955344"/>
                <a:gridCol w="900752"/>
                <a:gridCol w="848890"/>
              </a:tblGrid>
              <a:tr h="234087">
                <a:tc>
                  <a:txBody>
                    <a:bodyPr/>
                    <a:lstStyle/>
                    <a:p>
                      <a:pPr algn="ctr"/>
                      <a:r>
                        <a:rPr lang="en-IN" sz="1200" dirty="0" smtClean="0"/>
                        <a:t>Total</a:t>
                      </a:r>
                      <a:r>
                        <a:rPr lang="en-IN" sz="1200" baseline="0" dirty="0" smtClean="0"/>
                        <a:t> Fan </a:t>
                      </a:r>
                      <a:r>
                        <a:rPr lang="en-IN" sz="1200" dirty="0" smtClean="0"/>
                        <a:t>Post</a:t>
                      </a:r>
                      <a:endParaRPr lang="en-IN" sz="1200" dirty="0"/>
                    </a:p>
                  </a:txBody>
                  <a:tcPr anchor="ctr"/>
                </a:tc>
                <a:tc>
                  <a:txBody>
                    <a:bodyPr/>
                    <a:lstStyle/>
                    <a:p>
                      <a:pPr marL="0" algn="ctr" defTabSz="914400" rtl="0" eaLnBrk="1" latinLnBrk="0" hangingPunct="1"/>
                      <a:r>
                        <a:rPr lang="en-IN" sz="1200" kern="1200" dirty="0" smtClean="0">
                          <a:solidFill>
                            <a:schemeClr val="tx1"/>
                          </a:solidFill>
                          <a:latin typeface="+mn-lt"/>
                          <a:ea typeface="+mn-ea"/>
                          <a:cs typeface="+mn-cs"/>
                        </a:rPr>
                        <a:t>42</a:t>
                      </a:r>
                      <a:endParaRPr lang="en-IN" sz="1200" kern="1200" dirty="0">
                        <a:solidFill>
                          <a:schemeClr val="tx1"/>
                        </a:solidFill>
                        <a:latin typeface="+mn-lt"/>
                        <a:ea typeface="+mn-ea"/>
                        <a:cs typeface="+mn-cs"/>
                      </a:endParaRPr>
                    </a:p>
                  </a:txBody>
                  <a:tcPr anchor="ctr"/>
                </a:tc>
                <a:tc>
                  <a:txBody>
                    <a:bodyPr/>
                    <a:lstStyle/>
                    <a:p>
                      <a:pPr marL="0" algn="ctr" defTabSz="914400" rtl="0" eaLnBrk="1" latinLnBrk="0" hangingPunct="1"/>
                      <a:r>
                        <a:rPr lang="en-IN" sz="1200" kern="1200" dirty="0" smtClean="0">
                          <a:solidFill>
                            <a:schemeClr val="tx1"/>
                          </a:solidFill>
                          <a:latin typeface="+mn-lt"/>
                          <a:ea typeface="+mn-ea"/>
                          <a:cs typeface="+mn-cs"/>
                        </a:rPr>
                        <a:t>20</a:t>
                      </a:r>
                      <a:endParaRPr lang="en-IN" sz="1200" kern="1200" dirty="0">
                        <a:solidFill>
                          <a:schemeClr val="tx1"/>
                        </a:solidFill>
                        <a:latin typeface="+mn-lt"/>
                        <a:ea typeface="+mn-ea"/>
                        <a:cs typeface="+mn-cs"/>
                      </a:endParaRPr>
                    </a:p>
                  </a:txBody>
                  <a:tcPr anchor="ctr"/>
                </a:tc>
                <a:tc>
                  <a:txBody>
                    <a:bodyPr/>
                    <a:lstStyle/>
                    <a:p>
                      <a:pPr marL="0" algn="ctr" defTabSz="914400" rtl="0" eaLnBrk="1" latinLnBrk="0" hangingPunct="1"/>
                      <a:r>
                        <a:rPr lang="en-IN" sz="1200" kern="1200" dirty="0" smtClean="0">
                          <a:solidFill>
                            <a:schemeClr val="tx1"/>
                          </a:solidFill>
                          <a:latin typeface="+mn-lt"/>
                          <a:ea typeface="+mn-ea"/>
                          <a:cs typeface="+mn-cs"/>
                        </a:rPr>
                        <a:t>284</a:t>
                      </a:r>
                      <a:endParaRPr lang="en-IN" sz="1200" kern="1200" dirty="0">
                        <a:solidFill>
                          <a:schemeClr val="tx1"/>
                        </a:solidFill>
                        <a:latin typeface="+mn-lt"/>
                        <a:ea typeface="+mn-ea"/>
                        <a:cs typeface="+mn-cs"/>
                      </a:endParaRPr>
                    </a:p>
                  </a:txBody>
                  <a:tcPr anchor="ctr"/>
                </a:tc>
                <a:tc>
                  <a:txBody>
                    <a:bodyPr/>
                    <a:lstStyle/>
                    <a:p>
                      <a:pPr marL="0" algn="ctr" defTabSz="914400" rtl="0" eaLnBrk="1" latinLnBrk="0" hangingPunct="1"/>
                      <a:r>
                        <a:rPr lang="en-IN" sz="1200" kern="1200" dirty="0" smtClean="0">
                          <a:solidFill>
                            <a:schemeClr val="tx1"/>
                          </a:solidFill>
                          <a:latin typeface="+mn-lt"/>
                          <a:ea typeface="+mn-ea"/>
                          <a:cs typeface="+mn-cs"/>
                        </a:rPr>
                        <a:t>740</a:t>
                      </a:r>
                      <a:endParaRPr lang="en-IN" sz="1200" kern="1200" dirty="0">
                        <a:solidFill>
                          <a:schemeClr val="tx1"/>
                        </a:solidFill>
                        <a:latin typeface="+mn-lt"/>
                        <a:ea typeface="+mn-ea"/>
                        <a:cs typeface="+mn-cs"/>
                      </a:endParaRPr>
                    </a:p>
                  </a:txBody>
                  <a:tcPr anchor="ctr"/>
                </a:tc>
                <a:tc>
                  <a:txBody>
                    <a:bodyPr/>
                    <a:lstStyle/>
                    <a:p>
                      <a:pPr marL="0" algn="ctr" defTabSz="914400" rtl="0" eaLnBrk="1" latinLnBrk="0" hangingPunct="1"/>
                      <a:r>
                        <a:rPr lang="en-IN" sz="1200" kern="1200" dirty="0" smtClean="0">
                          <a:solidFill>
                            <a:schemeClr val="tx1"/>
                          </a:solidFill>
                          <a:latin typeface="+mn-lt"/>
                          <a:ea typeface="+mn-ea"/>
                          <a:cs typeface="+mn-cs"/>
                        </a:rPr>
                        <a:t>59</a:t>
                      </a:r>
                      <a:endParaRPr lang="en-IN" sz="1200" kern="1200" dirty="0">
                        <a:solidFill>
                          <a:schemeClr val="tx1"/>
                        </a:solidFill>
                        <a:latin typeface="+mn-lt"/>
                        <a:ea typeface="+mn-ea"/>
                        <a:cs typeface="+mn-cs"/>
                      </a:endParaRPr>
                    </a:p>
                  </a:txBody>
                  <a:tcPr anchor="ctr"/>
                </a:tc>
                <a:tc>
                  <a:txBody>
                    <a:bodyPr/>
                    <a:lstStyle/>
                    <a:p>
                      <a:pPr marL="0" algn="ctr" defTabSz="914400" rtl="0" eaLnBrk="1" latinLnBrk="0" hangingPunct="1"/>
                      <a:r>
                        <a:rPr lang="en-IN" sz="1200" b="1" kern="1200" dirty="0" smtClean="0">
                          <a:solidFill>
                            <a:schemeClr val="tx1"/>
                          </a:solidFill>
                          <a:latin typeface="+mn-lt"/>
                          <a:ea typeface="+mn-ea"/>
                          <a:cs typeface="+mn-cs"/>
                        </a:rPr>
                        <a:t>1145</a:t>
                      </a:r>
                      <a:endParaRPr lang="en-IN" sz="1200" b="1" kern="1200" dirty="0">
                        <a:solidFill>
                          <a:schemeClr val="tx1"/>
                        </a:solidFill>
                        <a:latin typeface="+mn-lt"/>
                        <a:ea typeface="+mn-ea"/>
                        <a:cs typeface="+mn-cs"/>
                      </a:endParaRPr>
                    </a:p>
                  </a:txBody>
                  <a:tcPr anchor="ctr"/>
                </a:tc>
              </a:tr>
              <a:tr h="225686">
                <a:tc>
                  <a:txBody>
                    <a:bodyPr/>
                    <a:lstStyle/>
                    <a:p>
                      <a:pPr algn="ctr"/>
                      <a:r>
                        <a:rPr lang="en-IN" sz="1200" dirty="0" smtClean="0"/>
                        <a:t>% Positive</a:t>
                      </a:r>
                      <a:endParaRPr lang="en-IN" sz="1200" dirty="0"/>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5 %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25 %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62 %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33 %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22 %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b="1" kern="1200" dirty="0" smtClean="0">
                          <a:solidFill>
                            <a:schemeClr val="tx1"/>
                          </a:solidFill>
                          <a:latin typeface="+mn-lt"/>
                          <a:ea typeface="+mn-ea"/>
                          <a:cs typeface="+mn-cs"/>
                        </a:rPr>
                        <a:t> 39 %</a:t>
                      </a:r>
                      <a:endParaRPr lang="en-IN" sz="1200" b="1" kern="1200" dirty="0">
                        <a:solidFill>
                          <a:schemeClr val="tx1"/>
                        </a:solidFill>
                        <a:latin typeface="+mn-lt"/>
                        <a:ea typeface="+mn-ea"/>
                        <a:cs typeface="+mn-cs"/>
                      </a:endParaRPr>
                    </a:p>
                  </a:txBody>
                  <a:tcPr anchor="ctr">
                    <a:solidFill>
                      <a:schemeClr val="bg2"/>
                    </a:solidFill>
                  </a:tcPr>
                </a:tc>
              </a:tr>
              <a:tr h="225686">
                <a:tc>
                  <a:txBody>
                    <a:bodyPr/>
                    <a:lstStyle/>
                    <a:p>
                      <a:pPr algn="ctr"/>
                      <a:r>
                        <a:rPr lang="en-IN" sz="1200" dirty="0" smtClean="0"/>
                        <a:t>% Negative</a:t>
                      </a:r>
                      <a:endParaRPr lang="en-IN" sz="1200" dirty="0"/>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50 %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30 %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7 %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3 %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kern="1200" dirty="0" smtClean="0">
                          <a:solidFill>
                            <a:schemeClr val="tx1"/>
                          </a:solidFill>
                          <a:latin typeface="+mn-lt"/>
                          <a:ea typeface="+mn-ea"/>
                          <a:cs typeface="+mn-cs"/>
                        </a:rPr>
                        <a:t>31 %</a:t>
                      </a:r>
                      <a:endParaRPr lang="en-IN" sz="1200" kern="1200" dirty="0">
                        <a:solidFill>
                          <a:schemeClr val="tx1"/>
                        </a:solidFill>
                        <a:latin typeface="+mn-lt"/>
                        <a:ea typeface="+mn-ea"/>
                        <a:cs typeface="+mn-cs"/>
                      </a:endParaRPr>
                    </a:p>
                  </a:txBody>
                  <a:tcPr anchor="ctr">
                    <a:solidFill>
                      <a:schemeClr val="bg2"/>
                    </a:solidFill>
                  </a:tcPr>
                </a:tc>
                <a:tc>
                  <a:txBody>
                    <a:bodyPr/>
                    <a:lstStyle/>
                    <a:p>
                      <a:pPr marL="0" algn="ctr" defTabSz="914400" rtl="0" eaLnBrk="1" latinLnBrk="0" hangingPunct="1"/>
                      <a:r>
                        <a:rPr lang="en-IN" sz="1200" b="1" kern="1200" dirty="0" smtClean="0">
                          <a:solidFill>
                            <a:schemeClr val="tx1"/>
                          </a:solidFill>
                          <a:latin typeface="+mn-lt"/>
                          <a:ea typeface="+mn-ea"/>
                          <a:cs typeface="+mn-cs"/>
                        </a:rPr>
                        <a:t>  8 %</a:t>
                      </a:r>
                    </a:p>
                  </a:txBody>
                  <a:tcPr anchor="ctr">
                    <a:solidFill>
                      <a:schemeClr val="bg2"/>
                    </a:solidFill>
                  </a:tcPr>
                </a:tc>
              </a:tr>
              <a:tr h="23408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smtClean="0"/>
                        <a:t>% Neutral</a:t>
                      </a:r>
                    </a:p>
                  </a:txBody>
                  <a:tcPr anchor="ctr">
                    <a:solidFill>
                      <a:schemeClr val="bg2"/>
                    </a:solidFill>
                  </a:tcPr>
                </a:tc>
                <a:tc>
                  <a:txBody>
                    <a:bodyPr/>
                    <a:lstStyle/>
                    <a:p>
                      <a:pPr marL="0" algn="ctr" defTabSz="914400" rtl="0" eaLnBrk="1" fontAlgn="b" latinLnBrk="0" hangingPunct="1"/>
                      <a:r>
                        <a:rPr lang="en-IN" sz="1200" kern="1200" dirty="0" smtClean="0">
                          <a:solidFill>
                            <a:schemeClr val="tx1"/>
                          </a:solidFill>
                          <a:latin typeface="+mn-lt"/>
                          <a:ea typeface="+mn-ea"/>
                          <a:cs typeface="+mn-cs"/>
                        </a:rPr>
                        <a:t>45 %</a:t>
                      </a:r>
                      <a:endParaRPr lang="en-IN" sz="1200" kern="1200" dirty="0">
                        <a:solidFill>
                          <a:schemeClr val="tx1"/>
                        </a:solidFill>
                        <a:latin typeface="+mn-lt"/>
                        <a:ea typeface="+mn-ea"/>
                        <a:cs typeface="+mn-cs"/>
                      </a:endParaRPr>
                    </a:p>
                  </a:txBody>
                  <a:tcPr marL="9525" marR="9525" marT="9525" marB="0" anchor="ctr">
                    <a:solidFill>
                      <a:schemeClr val="bg2"/>
                    </a:solidFill>
                  </a:tcPr>
                </a:tc>
                <a:tc>
                  <a:txBody>
                    <a:bodyPr/>
                    <a:lstStyle/>
                    <a:p>
                      <a:pPr marL="0" algn="ctr" defTabSz="914400" rtl="0" eaLnBrk="1" fontAlgn="b" latinLnBrk="0" hangingPunct="1"/>
                      <a:r>
                        <a:rPr lang="en-IN" sz="1200" kern="1200" dirty="0" smtClean="0">
                          <a:solidFill>
                            <a:schemeClr val="tx1"/>
                          </a:solidFill>
                          <a:latin typeface="+mn-lt"/>
                          <a:ea typeface="+mn-ea"/>
                          <a:cs typeface="+mn-cs"/>
                        </a:rPr>
                        <a:t>55 %</a:t>
                      </a:r>
                      <a:endParaRPr lang="en-IN" sz="1200" kern="1200" dirty="0">
                        <a:solidFill>
                          <a:schemeClr val="tx1"/>
                        </a:solidFill>
                        <a:latin typeface="+mn-lt"/>
                        <a:ea typeface="+mn-ea"/>
                        <a:cs typeface="+mn-cs"/>
                      </a:endParaRPr>
                    </a:p>
                  </a:txBody>
                  <a:tcPr marL="9525" marR="9525" marT="9525" marB="0" anchor="ctr">
                    <a:solidFill>
                      <a:schemeClr val="bg2"/>
                    </a:solidFill>
                  </a:tcPr>
                </a:tc>
                <a:tc>
                  <a:txBody>
                    <a:bodyPr/>
                    <a:lstStyle/>
                    <a:p>
                      <a:pPr marL="0" algn="ctr" defTabSz="914400" rtl="0" eaLnBrk="1" fontAlgn="b" latinLnBrk="0" hangingPunct="1"/>
                      <a:r>
                        <a:rPr lang="en-IN" sz="1200" kern="1200" dirty="0" smtClean="0">
                          <a:solidFill>
                            <a:schemeClr val="tx1"/>
                          </a:solidFill>
                          <a:latin typeface="+mn-lt"/>
                          <a:ea typeface="+mn-ea"/>
                          <a:cs typeface="+mn-cs"/>
                        </a:rPr>
                        <a:t>31 %</a:t>
                      </a:r>
                      <a:endParaRPr lang="en-IN" sz="1200" kern="1200" dirty="0">
                        <a:solidFill>
                          <a:schemeClr val="tx1"/>
                        </a:solidFill>
                        <a:latin typeface="+mn-lt"/>
                        <a:ea typeface="+mn-ea"/>
                        <a:cs typeface="+mn-cs"/>
                      </a:endParaRPr>
                    </a:p>
                  </a:txBody>
                  <a:tcPr marL="9525" marR="9525" marT="9525" marB="0" anchor="ctr">
                    <a:solidFill>
                      <a:schemeClr val="bg2"/>
                    </a:solidFill>
                  </a:tcPr>
                </a:tc>
                <a:tc>
                  <a:txBody>
                    <a:bodyPr/>
                    <a:lstStyle/>
                    <a:p>
                      <a:pPr marL="0" algn="ctr" defTabSz="914400" rtl="0" eaLnBrk="1" fontAlgn="b" latinLnBrk="0" hangingPunct="1"/>
                      <a:r>
                        <a:rPr lang="en-IN" sz="1200" kern="1200" dirty="0" smtClean="0">
                          <a:solidFill>
                            <a:schemeClr val="tx1"/>
                          </a:solidFill>
                          <a:latin typeface="+mn-lt"/>
                          <a:ea typeface="+mn-ea"/>
                          <a:cs typeface="+mn-cs"/>
                        </a:rPr>
                        <a:t>64 %</a:t>
                      </a:r>
                      <a:endParaRPr lang="en-IN" sz="1200" kern="1200" dirty="0">
                        <a:solidFill>
                          <a:schemeClr val="tx1"/>
                        </a:solidFill>
                        <a:latin typeface="+mn-lt"/>
                        <a:ea typeface="+mn-ea"/>
                        <a:cs typeface="+mn-cs"/>
                      </a:endParaRPr>
                    </a:p>
                  </a:txBody>
                  <a:tcPr marL="9525" marR="9525" marT="9525" marB="0" anchor="ctr">
                    <a:solidFill>
                      <a:schemeClr val="bg2"/>
                    </a:solidFill>
                  </a:tcPr>
                </a:tc>
                <a:tc>
                  <a:txBody>
                    <a:bodyPr/>
                    <a:lstStyle/>
                    <a:p>
                      <a:pPr marL="0" algn="ctr" defTabSz="914400" rtl="0" eaLnBrk="1" fontAlgn="b" latinLnBrk="0" hangingPunct="1"/>
                      <a:r>
                        <a:rPr lang="en-IN" sz="1200" kern="1200" dirty="0" smtClean="0">
                          <a:solidFill>
                            <a:schemeClr val="tx1"/>
                          </a:solidFill>
                          <a:latin typeface="+mn-lt"/>
                          <a:ea typeface="+mn-ea"/>
                          <a:cs typeface="+mn-cs"/>
                        </a:rPr>
                        <a:t>47 %</a:t>
                      </a:r>
                      <a:endParaRPr lang="en-IN" sz="1200" kern="1200" dirty="0">
                        <a:solidFill>
                          <a:schemeClr val="tx1"/>
                        </a:solidFill>
                        <a:latin typeface="+mn-lt"/>
                        <a:ea typeface="+mn-ea"/>
                        <a:cs typeface="+mn-cs"/>
                      </a:endParaRPr>
                    </a:p>
                  </a:txBody>
                  <a:tcPr marL="9525" marR="9525" marT="9525" marB="0" anchor="ctr">
                    <a:solidFill>
                      <a:schemeClr val="bg2"/>
                    </a:solidFill>
                  </a:tcPr>
                </a:tc>
                <a:tc>
                  <a:txBody>
                    <a:bodyPr/>
                    <a:lstStyle/>
                    <a:p>
                      <a:pPr marL="0" algn="ctr" defTabSz="914400" rtl="0" eaLnBrk="1" fontAlgn="b" latinLnBrk="0" hangingPunct="1"/>
                      <a:r>
                        <a:rPr lang="en-IN" sz="1200" b="1" kern="1200" dirty="0" smtClean="0">
                          <a:solidFill>
                            <a:schemeClr val="tx1"/>
                          </a:solidFill>
                          <a:latin typeface="+mn-lt"/>
                          <a:ea typeface="+mn-ea"/>
                          <a:cs typeface="+mn-cs"/>
                        </a:rPr>
                        <a:t>53 %</a:t>
                      </a:r>
                      <a:endParaRPr lang="en-IN" sz="1200" b="1" kern="1200" dirty="0">
                        <a:solidFill>
                          <a:schemeClr val="tx1"/>
                        </a:solidFill>
                        <a:latin typeface="+mn-lt"/>
                        <a:ea typeface="+mn-ea"/>
                        <a:cs typeface="+mn-cs"/>
                      </a:endParaRPr>
                    </a:p>
                  </a:txBody>
                  <a:tcPr marL="9525" marR="9525" marT="9525" marB="0" anchor="ctr">
                    <a:solidFill>
                      <a:schemeClr val="bg2"/>
                    </a:solidFill>
                  </a:tcPr>
                </a:tc>
              </a:tr>
            </a:tbl>
          </a:graphicData>
        </a:graphic>
      </p:graphicFrame>
      <p:sp>
        <p:nvSpPr>
          <p:cNvPr id="4" name="TextBox 3"/>
          <p:cNvSpPr txBox="1"/>
          <p:nvPr/>
        </p:nvSpPr>
        <p:spPr>
          <a:xfrm>
            <a:off x="11176112" y="4106250"/>
            <a:ext cx="616725" cy="307777"/>
          </a:xfrm>
          <a:prstGeom prst="rect">
            <a:avLst/>
          </a:prstGeom>
          <a:noFill/>
        </p:spPr>
        <p:txBody>
          <a:bodyPr wrap="square" rtlCol="0">
            <a:spAutoFit/>
          </a:bodyPr>
          <a:lstStyle/>
          <a:p>
            <a:r>
              <a:rPr lang="en-IN" sz="1400" b="1" dirty="0" smtClean="0"/>
              <a:t>Total</a:t>
            </a:r>
            <a:endParaRPr lang="en-IN" sz="1400" b="1" dirty="0"/>
          </a:p>
        </p:txBody>
      </p:sp>
      <p:sp>
        <p:nvSpPr>
          <p:cNvPr id="6" name="TextBox 5"/>
          <p:cNvSpPr txBox="1"/>
          <p:nvPr/>
        </p:nvSpPr>
        <p:spPr>
          <a:xfrm>
            <a:off x="5245564" y="951852"/>
            <a:ext cx="6589169" cy="338554"/>
          </a:xfrm>
          <a:prstGeom prst="rect">
            <a:avLst/>
          </a:prstGeom>
          <a:noFill/>
        </p:spPr>
        <p:txBody>
          <a:bodyPr wrap="square" rtlCol="0">
            <a:spAutoFit/>
          </a:bodyPr>
          <a:lstStyle/>
          <a:p>
            <a:pPr algn="ctr"/>
            <a:r>
              <a:rPr lang="en-IN" sz="1600" b="1" dirty="0" smtClean="0"/>
              <a:t>Trend of fan post in 2016 : </a:t>
            </a:r>
            <a:r>
              <a:rPr lang="en-IN" sz="1600" u="sng" dirty="0" smtClean="0"/>
              <a:t>March and April peak due to ‘</a:t>
            </a:r>
            <a:r>
              <a:rPr lang="en-IN" sz="1600" u="sng" dirty="0" err="1" smtClean="0"/>
              <a:t>Catchup</a:t>
            </a:r>
            <a:r>
              <a:rPr lang="en-IN" sz="1600" u="sng" dirty="0" smtClean="0"/>
              <a:t>’ Campaign</a:t>
            </a:r>
            <a:endParaRPr lang="en-IN" sz="1600" u="sng" dirty="0"/>
          </a:p>
        </p:txBody>
      </p:sp>
      <p:sp>
        <p:nvSpPr>
          <p:cNvPr id="7" name="TextBox 6"/>
          <p:cNvSpPr txBox="1"/>
          <p:nvPr/>
        </p:nvSpPr>
        <p:spPr>
          <a:xfrm>
            <a:off x="205729" y="6019038"/>
            <a:ext cx="5824369" cy="769441"/>
          </a:xfrm>
          <a:prstGeom prst="rect">
            <a:avLst/>
          </a:prstGeom>
          <a:noFill/>
        </p:spPr>
        <p:txBody>
          <a:bodyPr wrap="square" rtlCol="0">
            <a:spAutoFit/>
          </a:bodyPr>
          <a:lstStyle/>
          <a:p>
            <a:r>
              <a:rPr lang="en-IN" sz="1100" dirty="0" smtClean="0"/>
              <a:t>* Fan post are content posted by users on Tata AIA Social media profile</a:t>
            </a:r>
          </a:p>
          <a:p>
            <a:r>
              <a:rPr lang="en-IN" sz="1100" dirty="0" smtClean="0"/>
              <a:t>** ‘Visitor Posts ‘ on Facebook page of Tata AIA ( inbuilt forum at which people are free to raise their views and concerns) are captured . Specific comments to brand posts of Tata AIA on Facebook page could not be captured. </a:t>
            </a:r>
            <a:endParaRPr lang="en-IN" sz="1100" dirty="0"/>
          </a:p>
        </p:txBody>
      </p:sp>
      <p:graphicFrame>
        <p:nvGraphicFramePr>
          <p:cNvPr id="21" name="Chart 20"/>
          <p:cNvGraphicFramePr/>
          <p:nvPr>
            <p:extLst>
              <p:ext uri="{D42A27DB-BD31-4B8C-83A1-F6EECF244321}">
                <p14:modId xmlns:p14="http://schemas.microsoft.com/office/powerpoint/2010/main" val="625295127"/>
              </p:ext>
            </p:extLst>
          </p:nvPr>
        </p:nvGraphicFramePr>
        <p:xfrm>
          <a:off x="6244319" y="5727770"/>
          <a:ext cx="5745070" cy="938347"/>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Box 21"/>
          <p:cNvSpPr txBox="1"/>
          <p:nvPr/>
        </p:nvSpPr>
        <p:spPr>
          <a:xfrm>
            <a:off x="5614440" y="5709311"/>
            <a:ext cx="6589169" cy="338554"/>
          </a:xfrm>
          <a:prstGeom prst="rect">
            <a:avLst/>
          </a:prstGeom>
          <a:noFill/>
        </p:spPr>
        <p:txBody>
          <a:bodyPr wrap="square" rtlCol="0">
            <a:spAutoFit/>
          </a:bodyPr>
          <a:lstStyle/>
          <a:p>
            <a:pPr algn="ctr"/>
            <a:r>
              <a:rPr lang="en-IN" sz="1600" b="1" dirty="0" smtClean="0"/>
              <a:t>Channel Contribution</a:t>
            </a:r>
            <a:endParaRPr lang="en-IN" sz="1600" dirty="0"/>
          </a:p>
        </p:txBody>
      </p:sp>
      <p:graphicFrame>
        <p:nvGraphicFramePr>
          <p:cNvPr id="23" name="Table 22"/>
          <p:cNvGraphicFramePr>
            <a:graphicFrameLocks noGrp="1"/>
          </p:cNvGraphicFramePr>
          <p:nvPr>
            <p:extLst>
              <p:ext uri="{D42A27DB-BD31-4B8C-83A1-F6EECF244321}">
                <p14:modId xmlns:p14="http://schemas.microsoft.com/office/powerpoint/2010/main" val="77652808"/>
              </p:ext>
            </p:extLst>
          </p:nvPr>
        </p:nvGraphicFramePr>
        <p:xfrm>
          <a:off x="205729" y="715703"/>
          <a:ext cx="4595284" cy="2180310"/>
        </p:xfrm>
        <a:graphic>
          <a:graphicData uri="http://schemas.openxmlformats.org/drawingml/2006/table">
            <a:tbl>
              <a:tblPr firstRow="1" bandRow="1">
                <a:tableStyleId>{7E9639D4-E3E2-4D34-9284-5A2195B3D0D7}</a:tableStyleId>
              </a:tblPr>
              <a:tblGrid>
                <a:gridCol w="4595284"/>
              </a:tblGrid>
              <a:tr h="290710">
                <a:tc>
                  <a:txBody>
                    <a:bodyPr/>
                    <a:lstStyle/>
                    <a:p>
                      <a:pPr algn="ctr"/>
                      <a:r>
                        <a:rPr lang="en-IN" sz="1400" dirty="0" smtClean="0">
                          <a:latin typeface="Leelawadee" panose="020B0502040204020203" pitchFamily="34" charset="-34"/>
                          <a:cs typeface="Leelawadee" panose="020B0502040204020203" pitchFamily="34" charset="-34"/>
                        </a:rPr>
                        <a:t>Methodology</a:t>
                      </a:r>
                      <a:endParaRPr lang="en-IN" sz="1400" dirty="0">
                        <a:latin typeface="Leelawadee" panose="020B0502040204020203" pitchFamily="34" charset="-34"/>
                        <a:cs typeface="Leelawadee" panose="020B0502040204020203" pitchFamily="34" charset="-34"/>
                      </a:endParaRPr>
                    </a:p>
                  </a:txBody>
                  <a:tcPr anchor="ctr"/>
                </a:tc>
              </a:tr>
              <a:tr h="1875510">
                <a:tc>
                  <a:txBody>
                    <a:bodyPr/>
                    <a:lstStyle/>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Fan posts* of Tata AIA were analysed over </a:t>
                      </a:r>
                      <a:r>
                        <a:rPr lang="en-IN" sz="1400" b="1" dirty="0" smtClean="0">
                          <a:latin typeface="Leelawadee" panose="020B0502040204020203" pitchFamily="34" charset="-34"/>
                          <a:cs typeface="Leelawadee" panose="020B0502040204020203" pitchFamily="34" charset="-34"/>
                        </a:rPr>
                        <a:t>Facebook** and Twitter</a:t>
                      </a:r>
                      <a:r>
                        <a:rPr lang="en-IN" sz="1400" dirty="0" smtClean="0">
                          <a:latin typeface="Leelawadee" panose="020B0502040204020203" pitchFamily="34" charset="-34"/>
                          <a:cs typeface="Leelawadee" panose="020B0502040204020203" pitchFamily="34" charset="-34"/>
                        </a:rPr>
                        <a:t> from </a:t>
                      </a:r>
                      <a:r>
                        <a:rPr lang="en-IN" sz="1400" b="1" dirty="0" smtClean="0">
                          <a:latin typeface="Leelawadee" panose="020B0502040204020203" pitchFamily="34" charset="-34"/>
                          <a:cs typeface="Leelawadee" panose="020B0502040204020203" pitchFamily="34" charset="-34"/>
                        </a:rPr>
                        <a:t>Jan – May 16 </a:t>
                      </a: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Posts were classified into various themes based on its content such as Website, Brand, Customer Service, Agents and Campaigns</a:t>
                      </a: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‘Filtered word cloud’ was derived from ‘raw word clouds’ by removing and merging related keywords to drive insights  </a:t>
                      </a:r>
                    </a:p>
                  </a:txBody>
                  <a:tcPr anchor="ctr"/>
                </a:tc>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787784898"/>
              </p:ext>
            </p:extLst>
          </p:nvPr>
        </p:nvGraphicFramePr>
        <p:xfrm>
          <a:off x="205729" y="3087521"/>
          <a:ext cx="4595284" cy="2804480"/>
        </p:xfrm>
        <a:graphic>
          <a:graphicData uri="http://schemas.openxmlformats.org/drawingml/2006/table">
            <a:tbl>
              <a:tblPr firstRow="1" bandRow="1">
                <a:tableStyleId>{7E9639D4-E3E2-4D34-9284-5A2195B3D0D7}</a:tableStyleId>
              </a:tblPr>
              <a:tblGrid>
                <a:gridCol w="4595284"/>
              </a:tblGrid>
              <a:tr h="287320">
                <a:tc>
                  <a:txBody>
                    <a:bodyPr/>
                    <a:lstStyle/>
                    <a:p>
                      <a:pPr algn="ctr"/>
                      <a:r>
                        <a:rPr lang="en-IN" sz="1400" b="1" dirty="0" smtClean="0">
                          <a:latin typeface="Leelawadee" panose="020B0502040204020203" pitchFamily="34" charset="-34"/>
                          <a:cs typeface="Leelawadee" panose="020B0502040204020203" pitchFamily="34" charset="-34"/>
                        </a:rPr>
                        <a:t>Key Observations </a:t>
                      </a:r>
                      <a:endParaRPr lang="en-IN" sz="1400" dirty="0">
                        <a:latin typeface="Leelawadee" panose="020B0502040204020203" pitchFamily="34" charset="-34"/>
                        <a:cs typeface="Leelawadee" panose="020B0502040204020203" pitchFamily="34" charset="-34"/>
                      </a:endParaRPr>
                    </a:p>
                  </a:txBody>
                  <a:tcPr anchor="ctr"/>
                </a:tc>
              </a:tr>
              <a:tr h="2499680">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kern="1200" dirty="0" smtClean="0">
                          <a:solidFill>
                            <a:schemeClr val="tx1"/>
                          </a:solidFill>
                          <a:latin typeface="Leelawadee" panose="020B0502040204020203" pitchFamily="34" charset="-34"/>
                          <a:ea typeface="+mn-ea"/>
                          <a:cs typeface="Leelawadee" panose="020B0502040204020203" pitchFamily="34" charset="-34"/>
                        </a:rPr>
                        <a:t>March &amp; April witnessed exceptionally high number of Fan posts due to ‘</a:t>
                      </a:r>
                      <a:r>
                        <a:rPr lang="en-IN" sz="1400" kern="1200" dirty="0" err="1" smtClean="0">
                          <a:solidFill>
                            <a:schemeClr val="tx1"/>
                          </a:solidFill>
                          <a:latin typeface="Leelawadee" panose="020B0502040204020203" pitchFamily="34" charset="-34"/>
                          <a:ea typeface="+mn-ea"/>
                          <a:cs typeface="Leelawadee" panose="020B0502040204020203" pitchFamily="34" charset="-34"/>
                        </a:rPr>
                        <a:t>Catchup</a:t>
                      </a:r>
                      <a:r>
                        <a:rPr lang="en-IN" sz="1400" kern="1200" dirty="0" smtClean="0">
                          <a:solidFill>
                            <a:schemeClr val="tx1"/>
                          </a:solidFill>
                          <a:latin typeface="Leelawadee" panose="020B0502040204020203" pitchFamily="34" charset="-34"/>
                          <a:ea typeface="+mn-ea"/>
                          <a:cs typeface="Leelawadee" panose="020B0502040204020203" pitchFamily="34" charset="-34"/>
                        </a:rPr>
                        <a:t>’ Campaign</a:t>
                      </a: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Out </a:t>
                      </a:r>
                      <a:r>
                        <a:rPr lang="en-IN" sz="1400" dirty="0" smtClean="0">
                          <a:latin typeface="Leelawadee" panose="020B0502040204020203" pitchFamily="34" charset="-34"/>
                          <a:cs typeface="Leelawadee" panose="020B0502040204020203" pitchFamily="34" charset="-34"/>
                        </a:rPr>
                        <a:t>of total 1145 Fan posts, Tata AIA had 39 % with Positive Sentiment and 8 % with Negative sentiment</a:t>
                      </a: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a:t>
                      </a:r>
                      <a:r>
                        <a:rPr lang="en-IN" sz="1400" dirty="0" err="1" smtClean="0">
                          <a:latin typeface="Leelawadee" panose="020B0502040204020203" pitchFamily="34" charset="-34"/>
                          <a:cs typeface="Leelawadee" panose="020B0502040204020203" pitchFamily="34" charset="-34"/>
                        </a:rPr>
                        <a:t>Catchup</a:t>
                      </a:r>
                      <a:r>
                        <a:rPr lang="en-IN" sz="1400" dirty="0" smtClean="0">
                          <a:latin typeface="Leelawadee" panose="020B0502040204020203" pitchFamily="34" charset="-34"/>
                          <a:cs typeface="Leelawadee" panose="020B0502040204020203" pitchFamily="34" charset="-34"/>
                        </a:rPr>
                        <a:t>’ campaign was responsible for most of Positive  sentiment (Related to contest prize) and Neutral sentiment ( promotion &amp; inquiry of contest) fan posts </a:t>
                      </a: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Negative Fan post were mostly related to customer service and alleged contact information leak of </a:t>
                      </a:r>
                      <a:r>
                        <a:rPr lang="en-IN" sz="1400" dirty="0" smtClean="0">
                          <a:latin typeface="Leelawadee" panose="020B0502040204020203" pitchFamily="34" charset="-34"/>
                          <a:cs typeface="Leelawadee" panose="020B0502040204020203" pitchFamily="34" charset="-34"/>
                        </a:rPr>
                        <a:t>customers</a:t>
                      </a:r>
                    </a:p>
                  </a:txBody>
                  <a:tcPr anchor="ctr"/>
                </a:tc>
              </a:tr>
            </a:tbl>
          </a:graphicData>
        </a:graphic>
      </p:graphicFrame>
      <p:sp>
        <p:nvSpPr>
          <p:cNvPr id="18" name="Rectangle 17"/>
          <p:cNvSpPr/>
          <p:nvPr/>
        </p:nvSpPr>
        <p:spPr>
          <a:xfrm>
            <a:off x="4567775" y="76072"/>
            <a:ext cx="3024419" cy="461665"/>
          </a:xfrm>
          <a:prstGeom prst="rect">
            <a:avLst/>
          </a:prstGeom>
        </p:spPr>
        <p:txBody>
          <a:bodyPr wrap="none" anchor="t">
            <a:spAutoFit/>
          </a:bodyPr>
          <a:lstStyle/>
          <a:p>
            <a:pPr algn="ctr"/>
            <a:r>
              <a:rPr lang="en-US" sz="2400" b="1" dirty="0" smtClean="0">
                <a:solidFill>
                  <a:srgbClr val="0070C0"/>
                </a:solidFill>
                <a:latin typeface="Leelawadee UI" panose="020B0502040204020203" pitchFamily="34" charset="-34"/>
                <a:cs typeface="Leelawadee UI" panose="020B0502040204020203" pitchFamily="34" charset="-34"/>
              </a:rPr>
              <a:t>Executive Summary</a:t>
            </a:r>
            <a:endParaRPr lang="en-IN" sz="2400" b="1" dirty="0">
              <a:solidFill>
                <a:srgbClr val="0070C0"/>
              </a:solidFill>
              <a:latin typeface="Leelawadee UI" panose="020B0502040204020203" pitchFamily="34" charset="-34"/>
              <a:cs typeface="Leelawadee UI" panose="020B0502040204020203" pitchFamily="34" charset="-34"/>
            </a:endParaRPr>
          </a:p>
        </p:txBody>
      </p:sp>
      <p:cxnSp>
        <p:nvCxnSpPr>
          <p:cNvPr id="19" name="Straight Connector 18"/>
          <p:cNvCxnSpPr/>
          <p:nvPr/>
        </p:nvCxnSpPr>
        <p:spPr>
          <a:xfrm>
            <a:off x="-16020" y="601548"/>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423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solidFill>
                  <a:srgbClr val="0E5580"/>
                </a:solidFill>
              </a:rPr>
              <a:pPr/>
              <a:t>3</a:t>
            </a:fld>
            <a:endParaRPr lang="en-US" dirty="0">
              <a:solidFill>
                <a:srgbClr val="0E5580"/>
              </a:solidFill>
            </a:endParaRPr>
          </a:p>
        </p:txBody>
      </p:sp>
      <p:grpSp>
        <p:nvGrpSpPr>
          <p:cNvPr id="10" name="Group 9"/>
          <p:cNvGrpSpPr/>
          <p:nvPr/>
        </p:nvGrpSpPr>
        <p:grpSpPr>
          <a:xfrm>
            <a:off x="-16020" y="76072"/>
            <a:ext cx="12192000" cy="525476"/>
            <a:chOff x="23" y="96971"/>
            <a:chExt cx="12192000" cy="981888"/>
          </a:xfrm>
        </p:grpSpPr>
        <p:sp>
          <p:nvSpPr>
            <p:cNvPr id="13" name="Rectangle 12"/>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14" name="Rectangle 13"/>
            <p:cNvSpPr/>
            <p:nvPr/>
          </p:nvSpPr>
          <p:spPr>
            <a:xfrm>
              <a:off x="3189907" y="96971"/>
              <a:ext cx="5812232" cy="862653"/>
            </a:xfrm>
            <a:prstGeom prst="rect">
              <a:avLst/>
            </a:prstGeom>
          </p:spPr>
          <p:txBody>
            <a:bodyPr wrap="none" anchor="t">
              <a:spAutoFit/>
            </a:bodyPr>
            <a:lstStyle/>
            <a:p>
              <a:pPr algn="ctr"/>
              <a:r>
                <a:rPr lang="en-US" sz="2400" b="1" dirty="0" smtClean="0">
                  <a:solidFill>
                    <a:srgbClr val="0070C0"/>
                  </a:solidFill>
                  <a:latin typeface="Leelawadee UI" panose="020B0502040204020203" pitchFamily="34" charset="-34"/>
                  <a:cs typeface="Leelawadee UI" panose="020B0502040204020203" pitchFamily="34" charset="-34"/>
                </a:rPr>
                <a:t>Tata AIA Fan Post – Positive Sentiment </a:t>
              </a:r>
              <a:endParaRPr lang="en-IN" sz="2400" b="1" dirty="0">
                <a:solidFill>
                  <a:srgbClr val="0070C0"/>
                </a:solidFill>
                <a:latin typeface="Leelawadee UI" panose="020B0502040204020203" pitchFamily="34" charset="-34"/>
                <a:cs typeface="Leelawadee UI" panose="020B0502040204020203" pitchFamily="34" charset="-34"/>
              </a:endParaRPr>
            </a:p>
          </p:txBody>
        </p:sp>
        <p:cxnSp>
          <p:nvCxnSpPr>
            <p:cNvPr id="17" name="Straight Connector 16"/>
            <p:cNvCxnSpPr/>
            <p:nvPr/>
          </p:nvCxnSpPr>
          <p:spPr>
            <a:xfrm>
              <a:off x="23" y="1078859"/>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9231806" y="2190022"/>
            <a:ext cx="2532564" cy="289310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IN" sz="1400" b="1" dirty="0" smtClean="0">
                <a:latin typeface="Leelawadee" panose="020B0502040204020203" pitchFamily="34" charset="-34"/>
                <a:cs typeface="Leelawadee" panose="020B0502040204020203" pitchFamily="34" charset="-34"/>
              </a:rPr>
              <a:t>Observations</a:t>
            </a:r>
          </a:p>
          <a:p>
            <a:pPr algn="ctr"/>
            <a:endParaRPr lang="en-IN" sz="1400" b="1"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b="1" dirty="0" smtClean="0">
                <a:latin typeface="Leelawadee" panose="020B0502040204020203" pitchFamily="34" charset="-34"/>
                <a:cs typeface="Leelawadee" panose="020B0502040204020203" pitchFamily="34" charset="-34"/>
              </a:rPr>
              <a:t>Campaign : </a:t>
            </a:r>
            <a:r>
              <a:rPr lang="en-IN" sz="1400" dirty="0" smtClean="0">
                <a:latin typeface="Leelawadee" panose="020B0502040204020203" pitchFamily="34" charset="-34"/>
                <a:cs typeface="Leelawadee" panose="020B0502040204020203" pitchFamily="34" charset="-34"/>
              </a:rPr>
              <a:t>Most discussions were around Amazon vouchers and Dubai as a holiday destinations for ‘</a:t>
            </a:r>
            <a:r>
              <a:rPr lang="en-IN" sz="1400" dirty="0" err="1" smtClean="0">
                <a:latin typeface="Leelawadee" panose="020B0502040204020203" pitchFamily="34" charset="-34"/>
                <a:cs typeface="Leelawadee" panose="020B0502040204020203" pitchFamily="34" charset="-34"/>
              </a:rPr>
              <a:t>CatchUp</a:t>
            </a:r>
            <a:r>
              <a:rPr lang="en-IN" sz="1400" dirty="0" smtClean="0">
                <a:latin typeface="Leelawadee" panose="020B0502040204020203" pitchFamily="34" charset="-34"/>
                <a:cs typeface="Leelawadee" panose="020B0502040204020203" pitchFamily="34" charset="-34"/>
              </a:rPr>
              <a:t>’ campaign winners</a:t>
            </a:r>
          </a:p>
          <a:p>
            <a:endParaRPr lang="en-IN" sz="14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endParaRPr lang="en-IN" sz="14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b="1" dirty="0" smtClean="0">
                <a:latin typeface="Leelawadee" panose="020B0502040204020203" pitchFamily="34" charset="-34"/>
                <a:cs typeface="Leelawadee" panose="020B0502040204020203" pitchFamily="34" charset="-34"/>
              </a:rPr>
              <a:t>Brand </a:t>
            </a:r>
            <a:r>
              <a:rPr lang="en-IN" sz="1400" dirty="0" smtClean="0">
                <a:latin typeface="Leelawadee" panose="020B0502040204020203" pitchFamily="34" charset="-34"/>
                <a:cs typeface="Leelawadee" panose="020B0502040204020203" pitchFamily="34" charset="-34"/>
              </a:rPr>
              <a:t>: regarding Tata AIA awarded as one of Best employers</a:t>
            </a:r>
          </a:p>
        </p:txBody>
      </p:sp>
      <p:graphicFrame>
        <p:nvGraphicFramePr>
          <p:cNvPr id="23" name="Table 22"/>
          <p:cNvGraphicFramePr>
            <a:graphicFrameLocks noGrp="1"/>
          </p:cNvGraphicFramePr>
          <p:nvPr>
            <p:extLst>
              <p:ext uri="{D42A27DB-BD31-4B8C-83A1-F6EECF244321}">
                <p14:modId xmlns:p14="http://schemas.microsoft.com/office/powerpoint/2010/main" val="3651157014"/>
              </p:ext>
            </p:extLst>
          </p:nvPr>
        </p:nvGraphicFramePr>
        <p:xfrm>
          <a:off x="325410" y="802217"/>
          <a:ext cx="8111190" cy="725733"/>
        </p:xfrm>
        <a:graphic>
          <a:graphicData uri="http://schemas.openxmlformats.org/drawingml/2006/table">
            <a:tbl>
              <a:tblPr firstRow="1" bandRow="1">
                <a:tableStyleId>{7E9639D4-E3E2-4D34-9284-5A2195B3D0D7}</a:tableStyleId>
              </a:tblPr>
              <a:tblGrid>
                <a:gridCol w="2080906"/>
                <a:gridCol w="1892968"/>
                <a:gridCol w="1846262"/>
                <a:gridCol w="2291054"/>
              </a:tblGrid>
              <a:tr h="420933">
                <a:tc>
                  <a:txBody>
                    <a:bodyPr/>
                    <a:lstStyle/>
                    <a:p>
                      <a:pPr algn="ctr"/>
                      <a:r>
                        <a:rPr lang="en-IN" sz="1400" dirty="0" smtClean="0">
                          <a:latin typeface="Leelawadee" panose="020B0502040204020203" pitchFamily="34" charset="-34"/>
                          <a:cs typeface="Leelawadee" panose="020B0502040204020203" pitchFamily="34" charset="-34"/>
                        </a:rPr>
                        <a:t>Total</a:t>
                      </a:r>
                      <a:r>
                        <a:rPr lang="en-IN" sz="1400" baseline="0" dirty="0" smtClean="0">
                          <a:latin typeface="Leelawadee" panose="020B0502040204020203" pitchFamily="34" charset="-34"/>
                          <a:cs typeface="Leelawadee" panose="020B0502040204020203" pitchFamily="34" charset="-34"/>
                        </a:rPr>
                        <a:t> Positive Posts</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 of Positive</a:t>
                      </a:r>
                      <a:r>
                        <a:rPr lang="en-IN" sz="1400" baseline="0" dirty="0" smtClean="0">
                          <a:latin typeface="Leelawadee" panose="020B0502040204020203" pitchFamily="34" charset="-34"/>
                          <a:cs typeface="Leelawadee" panose="020B0502040204020203" pitchFamily="34" charset="-34"/>
                        </a:rPr>
                        <a:t> Post</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Time Period</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Channels</a:t>
                      </a:r>
                      <a:endParaRPr lang="en-IN" sz="1400" dirty="0">
                        <a:latin typeface="Leelawadee" panose="020B0502040204020203" pitchFamily="34" charset="-34"/>
                        <a:cs typeface="Leelawadee" panose="020B0502040204020203" pitchFamily="34" charset="-34"/>
                      </a:endParaRPr>
                    </a:p>
                  </a:txBody>
                  <a:tcPr anchor="ctr"/>
                </a:tc>
              </a:tr>
              <a:tr h="297258">
                <a:tc>
                  <a:txBody>
                    <a:bodyPr/>
                    <a:lstStyle/>
                    <a:p>
                      <a:pPr algn="ctr"/>
                      <a:r>
                        <a:rPr lang="en-IN" sz="1400" dirty="0" smtClean="0">
                          <a:latin typeface="Leelawadee" panose="020B0502040204020203" pitchFamily="34" charset="-34"/>
                          <a:cs typeface="Leelawadee" panose="020B0502040204020203" pitchFamily="34" charset="-34"/>
                        </a:rPr>
                        <a:t>443</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39 %</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Jan-May 2016</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 Facebook &amp; Twitter</a:t>
                      </a:r>
                      <a:endParaRPr lang="en-IN" sz="1400" dirty="0">
                        <a:latin typeface="Leelawadee" panose="020B0502040204020203" pitchFamily="34" charset="-34"/>
                        <a:cs typeface="Leelawadee" panose="020B0502040204020203" pitchFamily="34" charset="-34"/>
                      </a:endParaRPr>
                    </a:p>
                  </a:txBody>
                  <a:tcPr anchor="ctr"/>
                </a:tc>
              </a:tr>
            </a:tbl>
          </a:graphicData>
        </a:graphic>
      </p:graphicFrame>
      <p:graphicFrame>
        <p:nvGraphicFramePr>
          <p:cNvPr id="27" name="Table 26"/>
          <p:cNvGraphicFramePr>
            <a:graphicFrameLocks noGrp="1"/>
          </p:cNvGraphicFramePr>
          <p:nvPr>
            <p:extLst>
              <p:ext uri="{D42A27DB-BD31-4B8C-83A1-F6EECF244321}">
                <p14:modId xmlns:p14="http://schemas.microsoft.com/office/powerpoint/2010/main" val="3118339885"/>
              </p:ext>
            </p:extLst>
          </p:nvPr>
        </p:nvGraphicFramePr>
        <p:xfrm>
          <a:off x="9013747" y="802217"/>
          <a:ext cx="2990052" cy="709692"/>
        </p:xfrm>
        <a:graphic>
          <a:graphicData uri="http://schemas.openxmlformats.org/drawingml/2006/table">
            <a:tbl>
              <a:tblPr firstRow="1" bandRow="1">
                <a:tableStyleId>{7E9639D4-E3E2-4D34-9284-5A2195B3D0D7}</a:tableStyleId>
              </a:tblPr>
              <a:tblGrid>
                <a:gridCol w="2990052"/>
              </a:tblGrid>
              <a:tr h="390871">
                <a:tc>
                  <a:txBody>
                    <a:bodyPr/>
                    <a:lstStyle/>
                    <a:p>
                      <a:pPr algn="ctr"/>
                      <a:r>
                        <a:rPr lang="en-IN" sz="1400" dirty="0" smtClean="0">
                          <a:latin typeface="Leelawadee" panose="020B0502040204020203" pitchFamily="34" charset="-34"/>
                          <a:cs typeface="Leelawadee" panose="020B0502040204020203" pitchFamily="34" charset="-34"/>
                        </a:rPr>
                        <a:t>Top Theme</a:t>
                      </a:r>
                      <a:endParaRPr lang="en-IN" sz="1400" dirty="0">
                        <a:latin typeface="Leelawadee" panose="020B0502040204020203" pitchFamily="34" charset="-34"/>
                        <a:cs typeface="Leelawadee" panose="020B0502040204020203" pitchFamily="34" charset="-34"/>
                      </a:endParaRPr>
                    </a:p>
                  </a:txBody>
                  <a:tcPr anchor="ctr"/>
                </a:tc>
              </a:tr>
              <a:tr h="318821">
                <a:tc>
                  <a:txBody>
                    <a:bodyPr/>
                    <a:lstStyle/>
                    <a:p>
                      <a:pPr algn="ctr"/>
                      <a:r>
                        <a:rPr lang="en-IN" sz="1400" dirty="0" smtClean="0">
                          <a:latin typeface="Leelawadee" panose="020B0502040204020203" pitchFamily="34" charset="-34"/>
                          <a:cs typeface="Leelawadee" panose="020B0502040204020203" pitchFamily="34" charset="-34"/>
                        </a:rPr>
                        <a:t>Campaigns – </a:t>
                      </a:r>
                      <a:r>
                        <a:rPr lang="en-IN" sz="1400" dirty="0" err="1" smtClean="0">
                          <a:latin typeface="Leelawadee" panose="020B0502040204020203" pitchFamily="34" charset="-34"/>
                          <a:cs typeface="Leelawadee" panose="020B0502040204020203" pitchFamily="34" charset="-34"/>
                        </a:rPr>
                        <a:t>Catchup</a:t>
                      </a:r>
                      <a:r>
                        <a:rPr lang="en-IN" sz="1400" dirty="0" smtClean="0">
                          <a:latin typeface="Leelawadee" panose="020B0502040204020203" pitchFamily="34" charset="-34"/>
                          <a:cs typeface="Leelawadee" panose="020B0502040204020203" pitchFamily="34" charset="-34"/>
                        </a:rPr>
                        <a:t> </a:t>
                      </a:r>
                      <a:endParaRPr lang="en-IN" sz="1400" dirty="0">
                        <a:latin typeface="Leelawadee" panose="020B0502040204020203" pitchFamily="34" charset="-34"/>
                        <a:cs typeface="Leelawadee" panose="020B0502040204020203" pitchFamily="34" charset="-34"/>
                      </a:endParaRPr>
                    </a:p>
                  </a:txBody>
                  <a:tcPr anchor="ctr"/>
                </a:tc>
              </a:tr>
            </a:tbl>
          </a:graphicData>
        </a:graphic>
      </p:graphicFrame>
      <p:sp>
        <p:nvSpPr>
          <p:cNvPr id="26" name="Rounded Rectangle 25"/>
          <p:cNvSpPr/>
          <p:nvPr/>
        </p:nvSpPr>
        <p:spPr>
          <a:xfrm>
            <a:off x="9013747" y="1892211"/>
            <a:ext cx="2990052" cy="4083837"/>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a:blip r:embed="rId2"/>
          <a:stretch>
            <a:fillRect/>
          </a:stretch>
        </p:blipFill>
        <p:spPr>
          <a:xfrm>
            <a:off x="4559587" y="2132220"/>
            <a:ext cx="3877013" cy="2995873"/>
          </a:xfrm>
          <a:prstGeom prst="rect">
            <a:avLst/>
          </a:prstGeom>
          <a:ln>
            <a:noFill/>
          </a:ln>
          <a:effectLst>
            <a:outerShdw blurRad="190500" algn="tl" rotWithShape="0">
              <a:srgbClr val="000000">
                <a:alpha val="70000"/>
              </a:srgbClr>
            </a:outerShdw>
          </a:effectLst>
        </p:spPr>
      </p:pic>
      <p:sp>
        <p:nvSpPr>
          <p:cNvPr id="20" name="TextBox 19"/>
          <p:cNvSpPr txBox="1"/>
          <p:nvPr/>
        </p:nvSpPr>
        <p:spPr>
          <a:xfrm>
            <a:off x="3018188" y="5417420"/>
            <a:ext cx="2259106" cy="338554"/>
          </a:xfrm>
          <a:prstGeom prst="rect">
            <a:avLst/>
          </a:prstGeom>
          <a:noFill/>
        </p:spPr>
        <p:txBody>
          <a:bodyPr wrap="square" rtlCol="0">
            <a:spAutoFit/>
          </a:bodyPr>
          <a:lstStyle/>
          <a:p>
            <a:pPr algn="ctr"/>
            <a:r>
              <a:rPr lang="en-IN" sz="1600" b="1" dirty="0" smtClean="0"/>
              <a:t>Theme distribution</a:t>
            </a:r>
            <a:endParaRPr lang="en-IN" sz="1600" b="1" dirty="0"/>
          </a:p>
        </p:txBody>
      </p:sp>
      <p:graphicFrame>
        <p:nvGraphicFramePr>
          <p:cNvPr id="19" name="Chart 18"/>
          <p:cNvGraphicFramePr/>
          <p:nvPr>
            <p:extLst>
              <p:ext uri="{D42A27DB-BD31-4B8C-83A1-F6EECF244321}">
                <p14:modId xmlns:p14="http://schemas.microsoft.com/office/powerpoint/2010/main" val="1869000844"/>
              </p:ext>
            </p:extLst>
          </p:nvPr>
        </p:nvGraphicFramePr>
        <p:xfrm>
          <a:off x="279212" y="5596728"/>
          <a:ext cx="9522515" cy="1144009"/>
        </p:xfrm>
        <a:graphic>
          <a:graphicData uri="http://schemas.openxmlformats.org/drawingml/2006/chart">
            <c:chart xmlns:c="http://schemas.openxmlformats.org/drawingml/2006/chart" xmlns:r="http://schemas.openxmlformats.org/officeDocument/2006/relationships" r:id="rId3"/>
          </a:graphicData>
        </a:graphic>
      </p:graphicFrame>
      <p:pic>
        <p:nvPicPr>
          <p:cNvPr id="28" name="Picture 27"/>
          <p:cNvPicPr>
            <a:picLocks noChangeAspect="1"/>
          </p:cNvPicPr>
          <p:nvPr/>
        </p:nvPicPr>
        <p:blipFill>
          <a:blip r:embed="rId4"/>
          <a:stretch>
            <a:fillRect/>
          </a:stretch>
        </p:blipFill>
        <p:spPr>
          <a:xfrm>
            <a:off x="279212" y="2132220"/>
            <a:ext cx="3426122" cy="2990668"/>
          </a:xfrm>
          <a:prstGeom prst="rect">
            <a:avLst/>
          </a:prstGeom>
          <a:ln>
            <a:noFill/>
          </a:ln>
          <a:effectLst>
            <a:outerShdw blurRad="190500" algn="tl" rotWithShape="0">
              <a:srgbClr val="000000">
                <a:alpha val="70000"/>
              </a:srgbClr>
            </a:outerShdw>
          </a:effectLst>
        </p:spPr>
      </p:pic>
      <p:sp>
        <p:nvSpPr>
          <p:cNvPr id="29" name="TextBox 28"/>
          <p:cNvSpPr txBox="1"/>
          <p:nvPr/>
        </p:nvSpPr>
        <p:spPr>
          <a:xfrm>
            <a:off x="5368541" y="1683697"/>
            <a:ext cx="2259106" cy="338554"/>
          </a:xfrm>
          <a:prstGeom prst="rect">
            <a:avLst/>
          </a:prstGeom>
          <a:noFill/>
        </p:spPr>
        <p:txBody>
          <a:bodyPr wrap="square" rtlCol="0">
            <a:spAutoFit/>
          </a:bodyPr>
          <a:lstStyle/>
          <a:p>
            <a:pPr algn="ctr"/>
            <a:r>
              <a:rPr lang="en-IN" sz="1600" b="1" dirty="0" smtClean="0"/>
              <a:t>Filtered Word Cloud</a:t>
            </a:r>
            <a:endParaRPr lang="en-IN" sz="1600" b="1" dirty="0"/>
          </a:p>
        </p:txBody>
      </p:sp>
      <p:sp>
        <p:nvSpPr>
          <p:cNvPr id="30" name="TextBox 29"/>
          <p:cNvSpPr txBox="1"/>
          <p:nvPr/>
        </p:nvSpPr>
        <p:spPr>
          <a:xfrm>
            <a:off x="839470" y="1669262"/>
            <a:ext cx="2259106" cy="338554"/>
          </a:xfrm>
          <a:prstGeom prst="rect">
            <a:avLst/>
          </a:prstGeom>
          <a:noFill/>
        </p:spPr>
        <p:txBody>
          <a:bodyPr wrap="square" rtlCol="0">
            <a:spAutoFit/>
          </a:bodyPr>
          <a:lstStyle/>
          <a:p>
            <a:pPr algn="ctr"/>
            <a:r>
              <a:rPr lang="en-IN" sz="1600" b="1" dirty="0" smtClean="0"/>
              <a:t>Raw Word Cloud</a:t>
            </a:r>
            <a:endParaRPr lang="en-IN" sz="1600" b="1" dirty="0"/>
          </a:p>
        </p:txBody>
      </p:sp>
      <p:sp>
        <p:nvSpPr>
          <p:cNvPr id="24" name="Right Arrow 23"/>
          <p:cNvSpPr/>
          <p:nvPr/>
        </p:nvSpPr>
        <p:spPr>
          <a:xfrm>
            <a:off x="3945620" y="3418480"/>
            <a:ext cx="354963" cy="4438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713248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grpSp>
        <p:nvGrpSpPr>
          <p:cNvPr id="10" name="Group 9"/>
          <p:cNvGrpSpPr/>
          <p:nvPr/>
        </p:nvGrpSpPr>
        <p:grpSpPr>
          <a:xfrm>
            <a:off x="-16020" y="76072"/>
            <a:ext cx="12192000" cy="525476"/>
            <a:chOff x="23" y="96971"/>
            <a:chExt cx="12192000" cy="981888"/>
          </a:xfrm>
        </p:grpSpPr>
        <p:sp>
          <p:nvSpPr>
            <p:cNvPr id="13" name="Rectangle 12"/>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14" name="Rectangle 13"/>
            <p:cNvSpPr/>
            <p:nvPr/>
          </p:nvSpPr>
          <p:spPr>
            <a:xfrm>
              <a:off x="3101968" y="96971"/>
              <a:ext cx="5988114" cy="862653"/>
            </a:xfrm>
            <a:prstGeom prst="rect">
              <a:avLst/>
            </a:prstGeom>
          </p:spPr>
          <p:txBody>
            <a:bodyPr wrap="none" anchor="t">
              <a:spAutoFit/>
            </a:bodyPr>
            <a:lstStyle/>
            <a:p>
              <a:pPr algn="ctr"/>
              <a:r>
                <a:rPr lang="en-US" sz="2400" b="1" dirty="0" smtClean="0">
                  <a:solidFill>
                    <a:srgbClr val="0070C0"/>
                  </a:solidFill>
                  <a:latin typeface="Leelawadee UI" panose="020B0502040204020203" pitchFamily="34" charset="-34"/>
                  <a:cs typeface="Leelawadee UI" panose="020B0502040204020203" pitchFamily="34" charset="-34"/>
                </a:rPr>
                <a:t>Tata AIA Fan Post – Negative Sentiment </a:t>
              </a:r>
              <a:endParaRPr lang="en-IN" sz="2400" b="1" dirty="0">
                <a:solidFill>
                  <a:srgbClr val="0070C0"/>
                </a:solidFill>
                <a:latin typeface="Leelawadee UI" panose="020B0502040204020203" pitchFamily="34" charset="-34"/>
                <a:cs typeface="Leelawadee UI" panose="020B0502040204020203" pitchFamily="34" charset="-34"/>
              </a:endParaRPr>
            </a:p>
          </p:txBody>
        </p:sp>
        <p:cxnSp>
          <p:nvCxnSpPr>
            <p:cNvPr id="17" name="Straight Connector 16"/>
            <p:cNvCxnSpPr/>
            <p:nvPr/>
          </p:nvCxnSpPr>
          <p:spPr>
            <a:xfrm>
              <a:off x="23" y="1078859"/>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8922477" y="1939074"/>
            <a:ext cx="3029846" cy="4185761"/>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IN" sz="1400" b="1" dirty="0" smtClean="0">
                <a:latin typeface="Leelawadee" panose="020B0502040204020203" pitchFamily="34" charset="-34"/>
                <a:cs typeface="Leelawadee" panose="020B0502040204020203" pitchFamily="34" charset="-34"/>
              </a:rPr>
              <a:t>Observations</a:t>
            </a:r>
            <a:endParaRPr lang="en-IN" sz="1400" b="1"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endParaRPr lang="en-IN" sz="14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b="1" dirty="0" smtClean="0">
                <a:latin typeface="Leelawadee" panose="020B0502040204020203" pitchFamily="34" charset="-34"/>
                <a:cs typeface="Leelawadee" panose="020B0502040204020203" pitchFamily="34" charset="-34"/>
              </a:rPr>
              <a:t>Customer Service : </a:t>
            </a:r>
            <a:r>
              <a:rPr lang="en-IN" sz="1400" dirty="0" smtClean="0">
                <a:latin typeface="Leelawadee" panose="020B0502040204020203" pitchFamily="34" charset="-34"/>
                <a:cs typeface="Leelawadee" panose="020B0502040204020203" pitchFamily="34" charset="-34"/>
              </a:rPr>
              <a:t>Mostly related to delayed response as a complain by users</a:t>
            </a:r>
          </a:p>
          <a:p>
            <a:pPr marL="285750" indent="-285750">
              <a:buFont typeface="Arial" panose="020B0604020202020204" pitchFamily="34" charset="0"/>
              <a:buChar char="•"/>
            </a:pPr>
            <a:endParaRPr lang="en-IN" sz="1400" b="1"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b="1" dirty="0" smtClean="0">
                <a:latin typeface="Leelawadee" panose="020B0502040204020203" pitchFamily="34" charset="-34"/>
                <a:cs typeface="Leelawadee" panose="020B0502040204020203" pitchFamily="34" charset="-34"/>
              </a:rPr>
              <a:t>Brand </a:t>
            </a:r>
            <a:r>
              <a:rPr lang="en-IN" sz="1400" b="1" dirty="0">
                <a:latin typeface="Leelawadee" panose="020B0502040204020203" pitchFamily="34" charset="-34"/>
                <a:cs typeface="Leelawadee" panose="020B0502040204020203" pitchFamily="34" charset="-34"/>
              </a:rPr>
              <a:t>&amp; Others</a:t>
            </a:r>
            <a:r>
              <a:rPr lang="en-IN" sz="1400" dirty="0">
                <a:latin typeface="Leelawadee" panose="020B0502040204020203" pitchFamily="34" charset="-34"/>
                <a:cs typeface="Leelawadee" panose="020B0502040204020203" pitchFamily="34" charset="-34"/>
              </a:rPr>
              <a:t> : Most users were concerned with data breach related to their contact information and harassment call by fake agents </a:t>
            </a:r>
          </a:p>
          <a:p>
            <a:pPr marL="285750" indent="-285750">
              <a:buFont typeface="Arial" panose="020B0604020202020204" pitchFamily="34" charset="0"/>
              <a:buChar char="•"/>
            </a:pPr>
            <a:endParaRPr lang="en-IN" sz="14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b="1" dirty="0">
                <a:latin typeface="Leelawadee" panose="020B0502040204020203" pitchFamily="34" charset="-34"/>
                <a:cs typeface="Leelawadee" panose="020B0502040204020203" pitchFamily="34" charset="-34"/>
              </a:rPr>
              <a:t>Website :</a:t>
            </a:r>
            <a:r>
              <a:rPr lang="en-IN" sz="1400" dirty="0">
                <a:latin typeface="Leelawadee" panose="020B0502040204020203" pitchFamily="34" charset="-34"/>
                <a:cs typeface="Leelawadee" panose="020B0502040204020203" pitchFamily="34" charset="-34"/>
              </a:rPr>
              <a:t> Few users were concerned with failure to pay premium online </a:t>
            </a:r>
          </a:p>
          <a:p>
            <a:pPr marL="285750" indent="-285750">
              <a:buFont typeface="Arial" panose="020B0604020202020204" pitchFamily="34" charset="0"/>
              <a:buChar char="•"/>
            </a:pPr>
            <a:endParaRPr lang="en-IN" sz="14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b="1" dirty="0">
                <a:latin typeface="Leelawadee" panose="020B0502040204020203" pitchFamily="34" charset="-34"/>
                <a:cs typeface="Leelawadee" panose="020B0502040204020203" pitchFamily="34" charset="-34"/>
              </a:rPr>
              <a:t>Others :</a:t>
            </a:r>
            <a:r>
              <a:rPr lang="en-IN" sz="1400" dirty="0">
                <a:latin typeface="Leelawadee" panose="020B0502040204020203" pitchFamily="34" charset="-34"/>
                <a:cs typeface="Leelawadee" panose="020B0502040204020203" pitchFamily="34" charset="-34"/>
              </a:rPr>
              <a:t> Issue related to selling policy to advisors (new recruits) was raised for Vizag Branch</a:t>
            </a:r>
          </a:p>
        </p:txBody>
      </p:sp>
      <p:graphicFrame>
        <p:nvGraphicFramePr>
          <p:cNvPr id="23" name="Table 22"/>
          <p:cNvGraphicFramePr>
            <a:graphicFrameLocks noGrp="1"/>
          </p:cNvGraphicFramePr>
          <p:nvPr>
            <p:extLst>
              <p:ext uri="{D42A27DB-BD31-4B8C-83A1-F6EECF244321}">
                <p14:modId xmlns:p14="http://schemas.microsoft.com/office/powerpoint/2010/main" val="2356083506"/>
              </p:ext>
            </p:extLst>
          </p:nvPr>
        </p:nvGraphicFramePr>
        <p:xfrm>
          <a:off x="325410" y="802217"/>
          <a:ext cx="8111190" cy="725733"/>
        </p:xfrm>
        <a:graphic>
          <a:graphicData uri="http://schemas.openxmlformats.org/drawingml/2006/table">
            <a:tbl>
              <a:tblPr firstRow="1" bandRow="1">
                <a:tableStyleId>{7E9639D4-E3E2-4D34-9284-5A2195B3D0D7}</a:tableStyleId>
              </a:tblPr>
              <a:tblGrid>
                <a:gridCol w="2080906"/>
                <a:gridCol w="1892968"/>
                <a:gridCol w="1846262"/>
                <a:gridCol w="2291054"/>
              </a:tblGrid>
              <a:tr h="420933">
                <a:tc>
                  <a:txBody>
                    <a:bodyPr/>
                    <a:lstStyle/>
                    <a:p>
                      <a:pPr algn="ctr"/>
                      <a:r>
                        <a:rPr lang="en-IN" sz="1400" dirty="0" smtClean="0">
                          <a:latin typeface="Leelawadee" panose="020B0502040204020203" pitchFamily="34" charset="-34"/>
                          <a:cs typeface="Leelawadee" panose="020B0502040204020203" pitchFamily="34" charset="-34"/>
                        </a:rPr>
                        <a:t>Total</a:t>
                      </a:r>
                      <a:r>
                        <a:rPr lang="en-IN" sz="1400" baseline="0" dirty="0" smtClean="0">
                          <a:latin typeface="Leelawadee" panose="020B0502040204020203" pitchFamily="34" charset="-34"/>
                          <a:cs typeface="Leelawadee" panose="020B0502040204020203" pitchFamily="34" charset="-34"/>
                        </a:rPr>
                        <a:t> Negative Posts</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 of Negative</a:t>
                      </a:r>
                      <a:r>
                        <a:rPr lang="en-IN" sz="1400" baseline="0" dirty="0" smtClean="0">
                          <a:latin typeface="Leelawadee" panose="020B0502040204020203" pitchFamily="34" charset="-34"/>
                          <a:cs typeface="Leelawadee" panose="020B0502040204020203" pitchFamily="34" charset="-34"/>
                        </a:rPr>
                        <a:t> Post</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Time Period</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Channels</a:t>
                      </a:r>
                      <a:endParaRPr lang="en-IN" sz="1400" dirty="0">
                        <a:latin typeface="Leelawadee" panose="020B0502040204020203" pitchFamily="34" charset="-34"/>
                        <a:cs typeface="Leelawadee" panose="020B0502040204020203" pitchFamily="34" charset="-34"/>
                      </a:endParaRPr>
                    </a:p>
                  </a:txBody>
                  <a:tcPr anchor="ctr"/>
                </a:tc>
              </a:tr>
              <a:tr h="297258">
                <a:tc>
                  <a:txBody>
                    <a:bodyPr/>
                    <a:lstStyle/>
                    <a:p>
                      <a:pPr algn="ctr"/>
                      <a:r>
                        <a:rPr lang="en-IN" sz="1400" dirty="0" smtClean="0">
                          <a:latin typeface="Leelawadee" panose="020B0502040204020203" pitchFamily="34" charset="-34"/>
                          <a:cs typeface="Leelawadee" panose="020B0502040204020203" pitchFamily="34" charset="-34"/>
                        </a:rPr>
                        <a:t>88</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8 %</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Jan-May 2016</a:t>
                      </a:r>
                      <a:endParaRPr lang="en-IN" sz="1400" dirty="0">
                        <a:latin typeface="Leelawadee" panose="020B0502040204020203" pitchFamily="34" charset="-34"/>
                        <a:cs typeface="Leelawadee" panose="020B0502040204020203" pitchFamily="34" charset="-34"/>
                      </a:endParaRPr>
                    </a:p>
                  </a:txBody>
                  <a:tcPr anchor="ctr"/>
                </a:tc>
                <a:tc>
                  <a:txBody>
                    <a:bodyPr/>
                    <a:lstStyle/>
                    <a:p>
                      <a:pPr algn="ctr"/>
                      <a:r>
                        <a:rPr lang="en-IN" sz="1400" dirty="0" smtClean="0">
                          <a:latin typeface="Leelawadee" panose="020B0502040204020203" pitchFamily="34" charset="-34"/>
                          <a:cs typeface="Leelawadee" panose="020B0502040204020203" pitchFamily="34" charset="-34"/>
                        </a:rPr>
                        <a:t> Facebook &amp; Twitter</a:t>
                      </a:r>
                      <a:endParaRPr lang="en-IN" sz="1400" dirty="0">
                        <a:latin typeface="Leelawadee" panose="020B0502040204020203" pitchFamily="34" charset="-34"/>
                        <a:cs typeface="Leelawadee" panose="020B0502040204020203" pitchFamily="34" charset="-34"/>
                      </a:endParaRPr>
                    </a:p>
                  </a:txBody>
                  <a:tcPr anchor="ctr"/>
                </a:tc>
              </a:tr>
            </a:tbl>
          </a:graphicData>
        </a:graphic>
      </p:graphicFrame>
      <p:graphicFrame>
        <p:nvGraphicFramePr>
          <p:cNvPr id="27" name="Table 26"/>
          <p:cNvGraphicFramePr>
            <a:graphicFrameLocks noGrp="1"/>
          </p:cNvGraphicFramePr>
          <p:nvPr>
            <p:extLst>
              <p:ext uri="{D42A27DB-BD31-4B8C-83A1-F6EECF244321}">
                <p14:modId xmlns:p14="http://schemas.microsoft.com/office/powerpoint/2010/main" val="2083588376"/>
              </p:ext>
            </p:extLst>
          </p:nvPr>
        </p:nvGraphicFramePr>
        <p:xfrm>
          <a:off x="8871002" y="829479"/>
          <a:ext cx="3132797" cy="682430"/>
        </p:xfrm>
        <a:graphic>
          <a:graphicData uri="http://schemas.openxmlformats.org/drawingml/2006/table">
            <a:tbl>
              <a:tblPr firstRow="1" bandRow="1">
                <a:tableStyleId>{7E9639D4-E3E2-4D34-9284-5A2195B3D0D7}</a:tableStyleId>
              </a:tblPr>
              <a:tblGrid>
                <a:gridCol w="3132797"/>
              </a:tblGrid>
              <a:tr h="375856">
                <a:tc>
                  <a:txBody>
                    <a:bodyPr/>
                    <a:lstStyle/>
                    <a:p>
                      <a:pPr algn="ctr"/>
                      <a:r>
                        <a:rPr lang="en-IN" sz="1400" dirty="0" smtClean="0">
                          <a:latin typeface="Leelawadee" panose="020B0502040204020203" pitchFamily="34" charset="-34"/>
                          <a:cs typeface="Leelawadee" panose="020B0502040204020203" pitchFamily="34" charset="-34"/>
                        </a:rPr>
                        <a:t>Top Theme</a:t>
                      </a:r>
                      <a:endParaRPr lang="en-IN" sz="1400" dirty="0">
                        <a:latin typeface="Leelawadee" panose="020B0502040204020203" pitchFamily="34" charset="-34"/>
                        <a:cs typeface="Leelawadee" panose="020B0502040204020203" pitchFamily="34" charset="-34"/>
                      </a:endParaRPr>
                    </a:p>
                  </a:txBody>
                  <a:tcPr anchor="ctr"/>
                </a:tc>
              </a:tr>
              <a:tr h="306574">
                <a:tc>
                  <a:txBody>
                    <a:bodyPr/>
                    <a:lstStyle/>
                    <a:p>
                      <a:pPr algn="ctr"/>
                      <a:r>
                        <a:rPr lang="en-IN" sz="1400" dirty="0" smtClean="0">
                          <a:latin typeface="Leelawadee" panose="020B0502040204020203" pitchFamily="34" charset="-34"/>
                          <a:cs typeface="Leelawadee" panose="020B0502040204020203" pitchFamily="34" charset="-34"/>
                        </a:rPr>
                        <a:t>Customer</a:t>
                      </a:r>
                      <a:r>
                        <a:rPr lang="en-IN" sz="1400" baseline="0" dirty="0" smtClean="0">
                          <a:latin typeface="Leelawadee" panose="020B0502040204020203" pitchFamily="34" charset="-34"/>
                          <a:cs typeface="Leelawadee" panose="020B0502040204020203" pitchFamily="34" charset="-34"/>
                        </a:rPr>
                        <a:t> Service</a:t>
                      </a:r>
                      <a:endParaRPr lang="en-IN" sz="1400" dirty="0">
                        <a:latin typeface="Leelawadee" panose="020B0502040204020203" pitchFamily="34" charset="-34"/>
                        <a:cs typeface="Leelawadee" panose="020B0502040204020203" pitchFamily="34" charset="-34"/>
                      </a:endParaRPr>
                    </a:p>
                  </a:txBody>
                  <a:tcPr anchor="ctr"/>
                </a:tc>
              </a:tr>
            </a:tbl>
          </a:graphicData>
        </a:graphic>
      </p:graphicFrame>
      <p:sp>
        <p:nvSpPr>
          <p:cNvPr id="26" name="Rounded Rectangle 25"/>
          <p:cNvSpPr/>
          <p:nvPr/>
        </p:nvSpPr>
        <p:spPr>
          <a:xfrm>
            <a:off x="8871002" y="1857688"/>
            <a:ext cx="3132797" cy="4498662"/>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3018188" y="5417420"/>
            <a:ext cx="2259106" cy="338554"/>
          </a:xfrm>
          <a:prstGeom prst="rect">
            <a:avLst/>
          </a:prstGeom>
          <a:noFill/>
        </p:spPr>
        <p:txBody>
          <a:bodyPr wrap="square" rtlCol="0">
            <a:spAutoFit/>
          </a:bodyPr>
          <a:lstStyle/>
          <a:p>
            <a:pPr algn="ctr"/>
            <a:r>
              <a:rPr lang="en-IN" sz="1600" b="1" dirty="0" smtClean="0"/>
              <a:t>Theme distribution</a:t>
            </a:r>
            <a:endParaRPr lang="en-IN" sz="1600" b="1" dirty="0"/>
          </a:p>
        </p:txBody>
      </p:sp>
      <p:graphicFrame>
        <p:nvGraphicFramePr>
          <p:cNvPr id="19" name="Chart 18"/>
          <p:cNvGraphicFramePr/>
          <p:nvPr>
            <p:extLst>
              <p:ext uri="{D42A27DB-BD31-4B8C-83A1-F6EECF244321}">
                <p14:modId xmlns:p14="http://schemas.microsoft.com/office/powerpoint/2010/main" val="4127176886"/>
              </p:ext>
            </p:extLst>
          </p:nvPr>
        </p:nvGraphicFramePr>
        <p:xfrm>
          <a:off x="258046" y="5745266"/>
          <a:ext cx="10038495" cy="1144009"/>
        </p:xfrm>
        <a:graphic>
          <a:graphicData uri="http://schemas.openxmlformats.org/drawingml/2006/chart">
            <c:chart xmlns:c="http://schemas.openxmlformats.org/drawingml/2006/chart" xmlns:r="http://schemas.openxmlformats.org/officeDocument/2006/relationships" r:id="rId2"/>
          </a:graphicData>
        </a:graphic>
      </p:graphicFrame>
      <p:sp>
        <p:nvSpPr>
          <p:cNvPr id="29" name="TextBox 28"/>
          <p:cNvSpPr txBox="1"/>
          <p:nvPr/>
        </p:nvSpPr>
        <p:spPr>
          <a:xfrm>
            <a:off x="5087115" y="1669262"/>
            <a:ext cx="2259106" cy="338554"/>
          </a:xfrm>
          <a:prstGeom prst="rect">
            <a:avLst/>
          </a:prstGeom>
          <a:noFill/>
        </p:spPr>
        <p:txBody>
          <a:bodyPr wrap="square" rtlCol="0">
            <a:spAutoFit/>
          </a:bodyPr>
          <a:lstStyle/>
          <a:p>
            <a:pPr algn="ctr"/>
            <a:r>
              <a:rPr lang="en-IN" sz="1600" b="1" dirty="0" smtClean="0"/>
              <a:t>Filtered Word Cloud</a:t>
            </a:r>
            <a:endParaRPr lang="en-IN" sz="1600" b="1" dirty="0"/>
          </a:p>
        </p:txBody>
      </p:sp>
      <p:sp>
        <p:nvSpPr>
          <p:cNvPr id="30" name="TextBox 29"/>
          <p:cNvSpPr txBox="1"/>
          <p:nvPr/>
        </p:nvSpPr>
        <p:spPr>
          <a:xfrm>
            <a:off x="839470" y="1669262"/>
            <a:ext cx="2259106" cy="338554"/>
          </a:xfrm>
          <a:prstGeom prst="rect">
            <a:avLst/>
          </a:prstGeom>
          <a:noFill/>
        </p:spPr>
        <p:txBody>
          <a:bodyPr wrap="square" rtlCol="0">
            <a:spAutoFit/>
          </a:bodyPr>
          <a:lstStyle/>
          <a:p>
            <a:pPr algn="ctr"/>
            <a:r>
              <a:rPr lang="en-IN" sz="1600" b="1" dirty="0" smtClean="0"/>
              <a:t>Raw Word Cloud</a:t>
            </a:r>
            <a:endParaRPr lang="en-IN" sz="1600" b="1" dirty="0"/>
          </a:p>
        </p:txBody>
      </p:sp>
      <p:sp>
        <p:nvSpPr>
          <p:cNvPr id="24" name="Right Arrow 23"/>
          <p:cNvSpPr/>
          <p:nvPr/>
        </p:nvSpPr>
        <p:spPr>
          <a:xfrm>
            <a:off x="3986565" y="3418479"/>
            <a:ext cx="435310" cy="430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p:cNvPicPr>
            <a:picLocks noChangeAspect="1"/>
          </p:cNvPicPr>
          <p:nvPr/>
        </p:nvPicPr>
        <p:blipFill>
          <a:blip r:embed="rId3"/>
          <a:stretch>
            <a:fillRect/>
          </a:stretch>
        </p:blipFill>
        <p:spPr>
          <a:xfrm>
            <a:off x="4833240" y="2182341"/>
            <a:ext cx="2954985" cy="3028597"/>
          </a:xfrm>
          <a:prstGeom prst="rect">
            <a:avLst/>
          </a:prstGeom>
          <a:ln>
            <a:noFill/>
          </a:ln>
          <a:effectLst>
            <a:outerShdw blurRad="190500" algn="tl" rotWithShape="0">
              <a:srgbClr val="000000">
                <a:alpha val="70000"/>
              </a:srgbClr>
            </a:outerShdw>
          </a:effectLst>
        </p:spPr>
      </p:pic>
      <p:pic>
        <p:nvPicPr>
          <p:cNvPr id="22" name="Picture 21"/>
          <p:cNvPicPr>
            <a:picLocks noChangeAspect="1"/>
          </p:cNvPicPr>
          <p:nvPr/>
        </p:nvPicPr>
        <p:blipFill>
          <a:blip r:embed="rId4"/>
          <a:stretch>
            <a:fillRect/>
          </a:stretch>
        </p:blipFill>
        <p:spPr>
          <a:xfrm>
            <a:off x="461889" y="2144601"/>
            <a:ext cx="3100444" cy="299833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182186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2007" t="16448" b="4358"/>
          <a:stretch/>
        </p:blipFill>
        <p:spPr>
          <a:xfrm flipH="1">
            <a:off x="0" y="0"/>
            <a:ext cx="12192000" cy="6858000"/>
          </a:xfrm>
          <a:prstGeom prst="rect">
            <a:avLst/>
          </a:prstGeom>
        </p:spPr>
      </p:pic>
      <p:pic>
        <p:nvPicPr>
          <p:cNvPr id="17" name="Picture 16"/>
          <p:cNvPicPr>
            <a:picLocks noChangeAspect="1"/>
          </p:cNvPicPr>
          <p:nvPr/>
        </p:nvPicPr>
        <p:blipFill>
          <a:blip r:embed="rId3">
            <a:biLevel thresh="25000"/>
          </a:blip>
          <a:stretch>
            <a:fillRect/>
          </a:stretch>
        </p:blipFill>
        <p:spPr>
          <a:xfrm>
            <a:off x="527050" y="3905085"/>
            <a:ext cx="2645833" cy="922032"/>
          </a:xfrm>
          <a:prstGeom prst="rect">
            <a:avLst/>
          </a:prstGeom>
        </p:spPr>
      </p:pic>
      <p:sp>
        <p:nvSpPr>
          <p:cNvPr id="22" name="Rectangle 21"/>
          <p:cNvSpPr/>
          <p:nvPr/>
        </p:nvSpPr>
        <p:spPr>
          <a:xfrm>
            <a:off x="0" y="4873331"/>
            <a:ext cx="12192000" cy="147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5028264" y="1742145"/>
            <a:ext cx="3227294" cy="830997"/>
          </a:xfrm>
          <a:prstGeom prst="rect">
            <a:avLst/>
          </a:prstGeom>
          <a:noFill/>
        </p:spPr>
        <p:txBody>
          <a:bodyPr wrap="square" rtlCol="0">
            <a:spAutoFit/>
          </a:bodyPr>
          <a:lstStyle/>
          <a:p>
            <a:r>
              <a:rPr lang="en-IN" sz="4800" b="1" dirty="0" smtClean="0">
                <a:solidFill>
                  <a:schemeClr val="bg1"/>
                </a:solidFill>
                <a:latin typeface="Leelawadee UI" panose="020B0502040204020203" pitchFamily="34" charset="-34"/>
                <a:cs typeface="Leelawadee UI" panose="020B0502040204020203" pitchFamily="34" charset="-34"/>
              </a:rPr>
              <a:t>Thanks</a:t>
            </a:r>
            <a:endParaRPr lang="en-IN" sz="4800" b="1" dirty="0">
              <a:solidFill>
                <a:schemeClr val="bg1"/>
              </a:solidFill>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23172969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7582</TotalTime>
  <Words>626</Words>
  <Application>Microsoft Office PowerPoint</Application>
  <PresentationFormat>Widescreen</PresentationFormat>
  <Paragraphs>109</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Century Gothic</vt:lpstr>
      <vt:lpstr>Leelawadee</vt:lpstr>
      <vt:lpstr>Leelawadee UI</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Case Studies</dc:title>
  <dc:creator>C R Ganesh</dc:creator>
  <cp:lastModifiedBy>Rahul Mantri</cp:lastModifiedBy>
  <cp:revision>319</cp:revision>
  <dcterms:created xsi:type="dcterms:W3CDTF">2016-03-30T06:40:15Z</dcterms:created>
  <dcterms:modified xsi:type="dcterms:W3CDTF">2016-06-26T17:58:34Z</dcterms:modified>
</cp:coreProperties>
</file>
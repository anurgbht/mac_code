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notesMasterIdLst>
    <p:notesMasterId r:id="rId27"/>
  </p:notesMasterIdLst>
  <p:sldIdLst>
    <p:sldId id="256" r:id="rId2"/>
    <p:sldId id="357" r:id="rId3"/>
    <p:sldId id="337" r:id="rId4"/>
    <p:sldId id="341" r:id="rId5"/>
    <p:sldId id="338" r:id="rId6"/>
    <p:sldId id="343" r:id="rId7"/>
    <p:sldId id="344" r:id="rId8"/>
    <p:sldId id="345" r:id="rId9"/>
    <p:sldId id="342" r:id="rId10"/>
    <p:sldId id="376" r:id="rId11"/>
    <p:sldId id="373" r:id="rId12"/>
    <p:sldId id="347" r:id="rId13"/>
    <p:sldId id="375" r:id="rId14"/>
    <p:sldId id="355" r:id="rId15"/>
    <p:sldId id="370" r:id="rId16"/>
    <p:sldId id="371" r:id="rId17"/>
    <p:sldId id="372" r:id="rId18"/>
    <p:sldId id="368" r:id="rId19"/>
    <p:sldId id="369" r:id="rId20"/>
    <p:sldId id="366" r:id="rId21"/>
    <p:sldId id="362" r:id="rId22"/>
    <p:sldId id="363" r:id="rId23"/>
    <p:sldId id="364" r:id="rId24"/>
    <p:sldId id="365" r:id="rId25"/>
    <p:sldId id="29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168" userDrawn="1">
          <p15:clr>
            <a:srgbClr val="A4A3A4"/>
          </p15:clr>
        </p15:guide>
        <p15:guide id="4" pos="7512" userDrawn="1">
          <p15:clr>
            <a:srgbClr val="A4A3A4"/>
          </p15:clr>
        </p15:guide>
        <p15:guide id="5" orient="horz" pos="144" userDrawn="1">
          <p15:clr>
            <a:srgbClr val="A4A3A4"/>
          </p15:clr>
        </p15:guide>
        <p15:guide id="6" orient="horz" pos="41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8F8"/>
    <a:srgbClr val="D8E8F1"/>
    <a:srgbClr val="E2EBA0"/>
    <a:srgbClr val="0000FF"/>
    <a:srgbClr val="9900FF"/>
    <a:srgbClr val="CBE1AD"/>
    <a:srgbClr val="7030A0"/>
    <a:srgbClr val="B1DDF5"/>
    <a:srgbClr val="DF5327"/>
    <a:srgbClr val="47AA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029" autoAdjust="0"/>
    <p:restoredTop sz="88540" autoAdjust="0"/>
  </p:normalViewPr>
  <p:slideViewPr>
    <p:cSldViewPr snapToGrid="0" showGuides="1">
      <p:cViewPr varScale="1">
        <p:scale>
          <a:sx n="71" d="100"/>
          <a:sy n="71" d="100"/>
        </p:scale>
        <p:origin x="780" y="60"/>
      </p:cViewPr>
      <p:guideLst>
        <p:guide orient="horz" pos="2160"/>
        <p:guide pos="3840"/>
        <p:guide pos="168"/>
        <p:guide pos="7512"/>
        <p:guide orient="horz" pos="144"/>
        <p:guide orient="horz" pos="4176"/>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7BF0886-10BA-4730-AE57-446E017AE1AE}"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IN"/>
        </a:p>
      </dgm:t>
    </dgm:pt>
    <dgm:pt modelId="{61BF3EBA-6D94-4005-909D-21CB97222E04}">
      <dgm:prSet phldrT="[Text]" custT="1"/>
      <dgm:spPr>
        <a:xfrm>
          <a:off x="0" y="0"/>
          <a:ext cx="4408840" cy="546607"/>
        </a:xfrm>
        <a:solidFill>
          <a:srgbClr val="0E5580">
            <a:lumMod val="75000"/>
          </a:srgbClr>
        </a:solidFill>
        <a:ln>
          <a:noFill/>
        </a:ln>
        <a:effectLst/>
      </dgm:spPr>
      <dgm:t>
        <a:bodyPr/>
        <a:lstStyle/>
        <a:p>
          <a:r>
            <a:rPr lang="en-IN" sz="1200" dirty="0" smtClean="0">
              <a:solidFill>
                <a:sysClr val="window" lastClr="FFFFFF">
                  <a:hueOff val="0"/>
                  <a:satOff val="0"/>
                  <a:lumOff val="0"/>
                  <a:alphaOff val="0"/>
                </a:sysClr>
              </a:solidFill>
              <a:latin typeface="Century Gothic"/>
              <a:ea typeface="+mn-ea"/>
              <a:cs typeface="+mn-cs"/>
            </a:rPr>
            <a:t>Probability of Store Visit from Catchment</a:t>
          </a:r>
          <a:endParaRPr lang="en-IN" sz="1200" dirty="0">
            <a:solidFill>
              <a:sysClr val="window" lastClr="FFFFFF">
                <a:hueOff val="0"/>
                <a:satOff val="0"/>
                <a:lumOff val="0"/>
                <a:alphaOff val="0"/>
              </a:sysClr>
            </a:solidFill>
            <a:latin typeface="Century Gothic"/>
            <a:ea typeface="+mn-ea"/>
            <a:cs typeface="+mn-cs"/>
          </a:endParaRPr>
        </a:p>
      </dgm:t>
    </dgm:pt>
    <dgm:pt modelId="{E03B0D14-4DD5-4270-9E34-C56D06C948FD}" type="parTrans" cxnId="{2D2A3C5F-B4B2-4955-A833-4D2246648B0B}">
      <dgm:prSet/>
      <dgm:spPr/>
      <dgm:t>
        <a:bodyPr/>
        <a:lstStyle/>
        <a:p>
          <a:endParaRPr lang="en-IN" sz="1400"/>
        </a:p>
      </dgm:t>
    </dgm:pt>
    <dgm:pt modelId="{BB018256-2ED3-431A-BC32-43C7DA72697C}" type="sibTrans" cxnId="{2D2A3C5F-B4B2-4955-A833-4D2246648B0B}">
      <dgm:prSet/>
      <dgm:spPr/>
      <dgm:t>
        <a:bodyPr/>
        <a:lstStyle/>
        <a:p>
          <a:endParaRPr lang="en-IN" sz="1400"/>
        </a:p>
      </dgm:t>
    </dgm:pt>
    <dgm:pt modelId="{D5F0860C-4C53-4A7C-9D58-355CD702093A}">
      <dgm:prSet phldrT="[Text]" custT="1"/>
      <dgm:spPr>
        <a:xfrm>
          <a:off x="2204420" y="546607"/>
          <a:ext cx="2204420" cy="1147876"/>
        </a:xfrm>
        <a:solidFill>
          <a:srgbClr val="0E5580">
            <a:lumMod val="20000"/>
            <a:lumOff val="80000"/>
          </a:srgbClr>
        </a:solidFill>
        <a:ln w="19050" cap="rnd" cmpd="sng" algn="ctr">
          <a:solidFill>
            <a:sysClr val="window" lastClr="FFFFFF">
              <a:hueOff val="0"/>
              <a:satOff val="0"/>
              <a:lumOff val="0"/>
              <a:alphaOff val="0"/>
            </a:sysClr>
          </a:solidFill>
          <a:prstDash val="solid"/>
        </a:ln>
        <a:effectLst/>
      </dgm:spPr>
      <dgm:t>
        <a:bodyPr/>
        <a:lstStyle/>
        <a:p>
          <a:r>
            <a:rPr lang="en-IN" sz="1000" dirty="0" smtClean="0">
              <a:solidFill>
                <a:sysClr val="windowText" lastClr="000000"/>
              </a:solidFill>
              <a:latin typeface="Century Gothic"/>
              <a:ea typeface="+mn-ea"/>
              <a:cs typeface="+mn-cs"/>
            </a:rPr>
            <a:t>Store/Competitor Distance</a:t>
          </a:r>
        </a:p>
        <a:p>
          <a:r>
            <a:rPr lang="en-IN" sz="1000" i="1" dirty="0" smtClean="0">
              <a:solidFill>
                <a:sysClr val="windowText" lastClr="000000"/>
              </a:solidFill>
              <a:latin typeface="Century Gothic"/>
              <a:ea typeface="+mn-ea"/>
              <a:cs typeface="+mn-cs"/>
            </a:rPr>
            <a:t>Driving Distance to Store/Competitor PIN</a:t>
          </a:r>
          <a:endParaRPr lang="en-IN" sz="1000" dirty="0">
            <a:solidFill>
              <a:sysClr val="windowText" lastClr="000000"/>
            </a:solidFill>
            <a:latin typeface="Century Gothic"/>
            <a:ea typeface="+mn-ea"/>
            <a:cs typeface="+mn-cs"/>
          </a:endParaRPr>
        </a:p>
      </dgm:t>
    </dgm:pt>
    <dgm:pt modelId="{771E23D3-A4DC-4522-BA04-4582388650CF}" type="parTrans" cxnId="{BF421254-E8C9-441A-B512-802079B7F957}">
      <dgm:prSet/>
      <dgm:spPr/>
      <dgm:t>
        <a:bodyPr/>
        <a:lstStyle/>
        <a:p>
          <a:endParaRPr lang="en-IN" sz="1400"/>
        </a:p>
      </dgm:t>
    </dgm:pt>
    <dgm:pt modelId="{ED14F401-7F5A-41D3-98E0-21B0EF16F42D}" type="sibTrans" cxnId="{BF421254-E8C9-441A-B512-802079B7F957}">
      <dgm:prSet/>
      <dgm:spPr/>
      <dgm:t>
        <a:bodyPr/>
        <a:lstStyle/>
        <a:p>
          <a:endParaRPr lang="en-IN" sz="1400"/>
        </a:p>
      </dgm:t>
    </dgm:pt>
    <dgm:pt modelId="{7D7371AF-495B-49A1-B4D9-34BCF5EDB1FC}" type="pres">
      <dgm:prSet presAssocID="{E7BF0886-10BA-4730-AE57-446E017AE1AE}" presName="composite" presStyleCnt="0">
        <dgm:presLayoutVars>
          <dgm:chMax val="1"/>
          <dgm:dir/>
          <dgm:resizeHandles val="exact"/>
        </dgm:presLayoutVars>
      </dgm:prSet>
      <dgm:spPr/>
      <dgm:t>
        <a:bodyPr/>
        <a:lstStyle/>
        <a:p>
          <a:endParaRPr lang="en-IN"/>
        </a:p>
      </dgm:t>
    </dgm:pt>
    <dgm:pt modelId="{DD0447C8-CDC5-4CEA-90D2-B0A6F961FBE6}" type="pres">
      <dgm:prSet presAssocID="{61BF3EBA-6D94-4005-909D-21CB97222E04}" presName="roof" presStyleLbl="dkBgShp" presStyleIdx="0" presStyleCnt="2" custLinFactY="-149740" custLinFactNeighborX="67027" custLinFactNeighborY="-200000"/>
      <dgm:spPr>
        <a:prstGeom prst="rect">
          <a:avLst/>
        </a:prstGeom>
      </dgm:spPr>
      <dgm:t>
        <a:bodyPr/>
        <a:lstStyle/>
        <a:p>
          <a:endParaRPr lang="en-IN"/>
        </a:p>
      </dgm:t>
    </dgm:pt>
    <dgm:pt modelId="{23995A50-D1ED-4346-ADD1-0D01D157B0FC}" type="pres">
      <dgm:prSet presAssocID="{61BF3EBA-6D94-4005-909D-21CB97222E04}" presName="pillars" presStyleCnt="0"/>
      <dgm:spPr/>
    </dgm:pt>
    <dgm:pt modelId="{21849321-513F-4F74-948F-22AE0722B5FB}" type="pres">
      <dgm:prSet presAssocID="{61BF3EBA-6D94-4005-909D-21CB97222E04}" presName="pillar1" presStyleLbl="node1" presStyleIdx="0" presStyleCnt="1">
        <dgm:presLayoutVars>
          <dgm:bulletEnabled val="1"/>
        </dgm:presLayoutVars>
      </dgm:prSet>
      <dgm:spPr>
        <a:solidFill>
          <a:sysClr val="window" lastClr="FFFFFF"/>
        </a:solidFill>
        <a:ln w="19050" cap="rnd" cmpd="sng" algn="ctr">
          <a:solidFill>
            <a:sysClr val="window" lastClr="FFFFFF">
              <a:hueOff val="0"/>
              <a:satOff val="0"/>
              <a:lumOff val="0"/>
              <a:alphaOff val="0"/>
            </a:sysClr>
          </a:solidFill>
          <a:prstDash val="solid"/>
        </a:ln>
        <a:effectLst/>
      </dgm:spPr>
      <dgm:t>
        <a:bodyPr/>
        <a:lstStyle/>
        <a:p>
          <a:endParaRPr lang="en-IN"/>
        </a:p>
      </dgm:t>
    </dgm:pt>
    <dgm:pt modelId="{66B4487D-DDE8-4879-8E6F-59D6C5AD45D3}" type="pres">
      <dgm:prSet presAssocID="{61BF3EBA-6D94-4005-909D-21CB97222E04}" presName="base" presStyleLbl="dkBgShp" presStyleIdx="1" presStyleCnt="2"/>
      <dgm:spPr>
        <a:xfrm>
          <a:off x="0" y="1694484"/>
          <a:ext cx="4408840" cy="127541"/>
        </a:xfrm>
        <a:prstGeom prst="rect">
          <a:avLst/>
        </a:prstGeom>
        <a:solidFill>
          <a:sysClr val="window" lastClr="FFFFFF"/>
        </a:solidFill>
        <a:ln>
          <a:noFill/>
        </a:ln>
        <a:effectLst/>
      </dgm:spPr>
      <dgm:t>
        <a:bodyPr/>
        <a:lstStyle/>
        <a:p>
          <a:endParaRPr lang="en-IN"/>
        </a:p>
      </dgm:t>
    </dgm:pt>
  </dgm:ptLst>
  <dgm:cxnLst>
    <dgm:cxn modelId="{8FB336AC-C6EF-4413-9D06-5CCCC18A756B}" type="presOf" srcId="{D5F0860C-4C53-4A7C-9D58-355CD702093A}" destId="{21849321-513F-4F74-948F-22AE0722B5FB}" srcOrd="0" destOrd="0" presId="urn:microsoft.com/office/officeart/2005/8/layout/hList3"/>
    <dgm:cxn modelId="{34A2FCEA-ED44-400C-AAE2-60D5F1B2A7E0}" type="presOf" srcId="{E7BF0886-10BA-4730-AE57-446E017AE1AE}" destId="{7D7371AF-495B-49A1-B4D9-34BCF5EDB1FC}" srcOrd="0" destOrd="0" presId="urn:microsoft.com/office/officeart/2005/8/layout/hList3"/>
    <dgm:cxn modelId="{2D2A3C5F-B4B2-4955-A833-4D2246648B0B}" srcId="{E7BF0886-10BA-4730-AE57-446E017AE1AE}" destId="{61BF3EBA-6D94-4005-909D-21CB97222E04}" srcOrd="0" destOrd="0" parTransId="{E03B0D14-4DD5-4270-9E34-C56D06C948FD}" sibTransId="{BB018256-2ED3-431A-BC32-43C7DA72697C}"/>
    <dgm:cxn modelId="{BF421254-E8C9-441A-B512-802079B7F957}" srcId="{61BF3EBA-6D94-4005-909D-21CB97222E04}" destId="{D5F0860C-4C53-4A7C-9D58-355CD702093A}" srcOrd="0" destOrd="0" parTransId="{771E23D3-A4DC-4522-BA04-4582388650CF}" sibTransId="{ED14F401-7F5A-41D3-98E0-21B0EF16F42D}"/>
    <dgm:cxn modelId="{D90BD7CF-2EAC-482A-A415-90AAF34958E5}" type="presOf" srcId="{61BF3EBA-6D94-4005-909D-21CB97222E04}" destId="{DD0447C8-CDC5-4CEA-90D2-B0A6F961FBE6}" srcOrd="0" destOrd="0" presId="urn:microsoft.com/office/officeart/2005/8/layout/hList3"/>
    <dgm:cxn modelId="{507E471E-E9A9-46F9-B477-EC1A7839E23B}" type="presParOf" srcId="{7D7371AF-495B-49A1-B4D9-34BCF5EDB1FC}" destId="{DD0447C8-CDC5-4CEA-90D2-B0A6F961FBE6}" srcOrd="0" destOrd="0" presId="urn:microsoft.com/office/officeart/2005/8/layout/hList3"/>
    <dgm:cxn modelId="{DE4DE626-2162-41F6-BDFF-F6305B149F87}" type="presParOf" srcId="{7D7371AF-495B-49A1-B4D9-34BCF5EDB1FC}" destId="{23995A50-D1ED-4346-ADD1-0D01D157B0FC}" srcOrd="1" destOrd="0" presId="urn:microsoft.com/office/officeart/2005/8/layout/hList3"/>
    <dgm:cxn modelId="{F6B74F13-31AE-46EF-84D7-E5A7CBEE921D}" type="presParOf" srcId="{23995A50-D1ED-4346-ADD1-0D01D157B0FC}" destId="{21849321-513F-4F74-948F-22AE0722B5FB}" srcOrd="0" destOrd="0" presId="urn:microsoft.com/office/officeart/2005/8/layout/hList3"/>
    <dgm:cxn modelId="{12330067-0966-4111-A50D-6E495605443D}" type="presParOf" srcId="{7D7371AF-495B-49A1-B4D9-34BCF5EDB1FC}" destId="{66B4487D-DDE8-4879-8E6F-59D6C5AD45D3}" srcOrd="2" destOrd="0" presId="urn:microsoft.com/office/officeart/2005/8/layout/h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FD9A5C2-B1E5-412D-8405-E568C75A38C9}" type="doc">
      <dgm:prSet loTypeId="urn:microsoft.com/office/officeart/2005/8/layout/hList3" loCatId="list" qsTypeId="urn:microsoft.com/office/officeart/2005/8/quickstyle/simple1" qsCatId="simple" csTypeId="urn:microsoft.com/office/officeart/2005/8/colors/accent1_2" csCatId="accent1" phldr="1"/>
      <dgm:spPr/>
      <dgm:t>
        <a:bodyPr/>
        <a:lstStyle/>
        <a:p>
          <a:endParaRPr lang="en-IN"/>
        </a:p>
      </dgm:t>
    </dgm:pt>
    <dgm:pt modelId="{EAC4015B-5D91-4BB0-AE71-B33FF46A5BBA}">
      <dgm:prSet phldrT="[Text]" custT="1"/>
      <dgm:spPr>
        <a:xfrm>
          <a:off x="0" y="0"/>
          <a:ext cx="4408840" cy="550498"/>
        </a:xfrm>
        <a:solidFill>
          <a:srgbClr val="0E5580">
            <a:lumMod val="75000"/>
          </a:srgbClr>
        </a:solidFill>
        <a:ln>
          <a:noFill/>
        </a:ln>
        <a:effectLst/>
      </dgm:spPr>
      <dgm:t>
        <a:bodyPr/>
        <a:lstStyle/>
        <a:p>
          <a:r>
            <a:rPr lang="en-IN" sz="1200" dirty="0" smtClean="0">
              <a:solidFill>
                <a:sysClr val="window" lastClr="FFFFFF">
                  <a:hueOff val="0"/>
                  <a:satOff val="0"/>
                  <a:lumOff val="0"/>
                  <a:alphaOff val="0"/>
                </a:sysClr>
              </a:solidFill>
              <a:latin typeface="Century Gothic"/>
              <a:ea typeface="+mn-ea"/>
              <a:cs typeface="+mn-cs"/>
            </a:rPr>
            <a:t>Potential of Catchment</a:t>
          </a:r>
          <a:endParaRPr lang="en-IN" sz="1200" dirty="0">
            <a:solidFill>
              <a:sysClr val="window" lastClr="FFFFFF">
                <a:hueOff val="0"/>
                <a:satOff val="0"/>
                <a:lumOff val="0"/>
                <a:alphaOff val="0"/>
              </a:sysClr>
            </a:solidFill>
            <a:latin typeface="Century Gothic"/>
            <a:ea typeface="+mn-ea"/>
            <a:cs typeface="+mn-cs"/>
          </a:endParaRPr>
        </a:p>
      </dgm:t>
    </dgm:pt>
    <dgm:pt modelId="{9B3C62F1-FB8C-43C4-9CA3-00E81F3BCBDD}" type="parTrans" cxnId="{094BAA6A-987C-46F7-AF7F-1A5FAD20037E}">
      <dgm:prSet/>
      <dgm:spPr/>
      <dgm:t>
        <a:bodyPr/>
        <a:lstStyle/>
        <a:p>
          <a:endParaRPr lang="en-IN" sz="1400"/>
        </a:p>
      </dgm:t>
    </dgm:pt>
    <dgm:pt modelId="{51552A55-8915-48E9-85F8-122D08E966D7}" type="sibTrans" cxnId="{094BAA6A-987C-46F7-AF7F-1A5FAD20037E}">
      <dgm:prSet/>
      <dgm:spPr/>
      <dgm:t>
        <a:bodyPr/>
        <a:lstStyle/>
        <a:p>
          <a:endParaRPr lang="en-IN" sz="1400"/>
        </a:p>
      </dgm:t>
    </dgm:pt>
    <dgm:pt modelId="{3EB16E9A-9213-4585-AC73-873A6F81CCE7}">
      <dgm:prSet custT="1"/>
      <dgm:spPr>
        <a:solidFill>
          <a:schemeClr val="bg1"/>
        </a:solidFill>
        <a:ln w="19050" cap="rnd" cmpd="sng" algn="ctr">
          <a:solidFill>
            <a:sysClr val="window" lastClr="FFFFFF">
              <a:hueOff val="0"/>
              <a:satOff val="0"/>
              <a:lumOff val="0"/>
              <a:alphaOff val="0"/>
            </a:sysClr>
          </a:solidFill>
          <a:prstDash val="solid"/>
        </a:ln>
        <a:effectLst/>
      </dgm:spPr>
      <dgm:t>
        <a:bodyPr/>
        <a:lstStyle/>
        <a:p>
          <a:r>
            <a:rPr lang="en-IN" sz="1000" dirty="0" smtClean="0">
              <a:solidFill>
                <a:sysClr val="windowText" lastClr="000000"/>
              </a:solidFill>
              <a:latin typeface="Century Gothic"/>
              <a:ea typeface="+mn-ea"/>
              <a:cs typeface="+mn-cs"/>
            </a:rPr>
            <a:t>Location Characteristics</a:t>
          </a:r>
        </a:p>
        <a:p>
          <a:r>
            <a:rPr lang="en-IN" sz="1000" i="1" dirty="0" smtClean="0">
              <a:solidFill>
                <a:sysClr val="windowText" lastClr="000000"/>
              </a:solidFill>
              <a:latin typeface="Century Gothic"/>
              <a:ea typeface="+mn-ea"/>
              <a:cs typeface="+mn-cs"/>
            </a:rPr>
            <a:t>Location Attractiveness model</a:t>
          </a:r>
          <a:endParaRPr lang="en-IN" sz="1000" i="1" dirty="0">
            <a:solidFill>
              <a:sysClr val="windowText" lastClr="000000"/>
            </a:solidFill>
            <a:latin typeface="Century Gothic"/>
            <a:ea typeface="+mn-ea"/>
            <a:cs typeface="+mn-cs"/>
          </a:endParaRPr>
        </a:p>
      </dgm:t>
    </dgm:pt>
    <dgm:pt modelId="{F969DBE6-7BFE-49E6-A54A-B72EA4650751}" type="parTrans" cxnId="{B1679B4A-4C0A-45C3-A9C9-79AC52CEDA9B}">
      <dgm:prSet/>
      <dgm:spPr/>
      <dgm:t>
        <a:bodyPr/>
        <a:lstStyle/>
        <a:p>
          <a:endParaRPr lang="en-IN"/>
        </a:p>
      </dgm:t>
    </dgm:pt>
    <dgm:pt modelId="{99E1BF98-45E4-4BF0-8542-F479B49DD723}" type="sibTrans" cxnId="{B1679B4A-4C0A-45C3-A9C9-79AC52CEDA9B}">
      <dgm:prSet/>
      <dgm:spPr/>
      <dgm:t>
        <a:bodyPr/>
        <a:lstStyle/>
        <a:p>
          <a:endParaRPr lang="en-IN"/>
        </a:p>
      </dgm:t>
    </dgm:pt>
    <dgm:pt modelId="{1438DD53-8643-49F6-A8E6-226AE152BA7C}" type="pres">
      <dgm:prSet presAssocID="{CFD9A5C2-B1E5-412D-8405-E568C75A38C9}" presName="composite" presStyleCnt="0">
        <dgm:presLayoutVars>
          <dgm:chMax val="1"/>
          <dgm:dir/>
          <dgm:resizeHandles val="exact"/>
        </dgm:presLayoutVars>
      </dgm:prSet>
      <dgm:spPr/>
      <dgm:t>
        <a:bodyPr/>
        <a:lstStyle/>
        <a:p>
          <a:endParaRPr lang="en-IN"/>
        </a:p>
      </dgm:t>
    </dgm:pt>
    <dgm:pt modelId="{2E3B253B-96EA-4582-8E25-BA4FF4F15F12}" type="pres">
      <dgm:prSet presAssocID="{EAC4015B-5D91-4BB0-AE71-B33FF46A5BBA}" presName="roof" presStyleLbl="dkBgShp" presStyleIdx="0" presStyleCnt="2" custLinFactY="-100000" custLinFactNeighborX="-90663" custLinFactNeighborY="-162599"/>
      <dgm:spPr>
        <a:prstGeom prst="rect">
          <a:avLst/>
        </a:prstGeom>
      </dgm:spPr>
      <dgm:t>
        <a:bodyPr/>
        <a:lstStyle/>
        <a:p>
          <a:endParaRPr lang="en-IN"/>
        </a:p>
      </dgm:t>
    </dgm:pt>
    <dgm:pt modelId="{0B9125B7-7142-49CA-BF0B-187F871D9D76}" type="pres">
      <dgm:prSet presAssocID="{EAC4015B-5D91-4BB0-AE71-B33FF46A5BBA}" presName="pillars" presStyleCnt="0"/>
      <dgm:spPr/>
    </dgm:pt>
    <dgm:pt modelId="{9A5E95D9-0DD0-4B74-981F-14F91AAD3261}" type="pres">
      <dgm:prSet presAssocID="{EAC4015B-5D91-4BB0-AE71-B33FF46A5BBA}" presName="pillar1" presStyleLbl="node1" presStyleIdx="0" presStyleCnt="1" custAng="10800000" custFlipVert="1" custScaleY="93485">
        <dgm:presLayoutVars>
          <dgm:bulletEnabled val="1"/>
        </dgm:presLayoutVars>
      </dgm:prSet>
      <dgm:spPr/>
      <dgm:t>
        <a:bodyPr/>
        <a:lstStyle/>
        <a:p>
          <a:endParaRPr lang="en-IN"/>
        </a:p>
      </dgm:t>
    </dgm:pt>
    <dgm:pt modelId="{802DFF20-0C59-4E0C-9C3F-E0E0F2060876}" type="pres">
      <dgm:prSet presAssocID="{EAC4015B-5D91-4BB0-AE71-B33FF46A5BBA}" presName="base" presStyleLbl="dkBgShp" presStyleIdx="1" presStyleCnt="2"/>
      <dgm:spPr>
        <a:xfrm>
          <a:off x="0" y="1706544"/>
          <a:ext cx="4408840" cy="128449"/>
        </a:xfrm>
        <a:prstGeom prst="rect">
          <a:avLst/>
        </a:prstGeom>
        <a:solidFill>
          <a:sysClr val="window" lastClr="FFFFFF"/>
        </a:solidFill>
        <a:ln>
          <a:noFill/>
        </a:ln>
        <a:effectLst/>
      </dgm:spPr>
      <dgm:t>
        <a:bodyPr/>
        <a:lstStyle/>
        <a:p>
          <a:endParaRPr lang="en-IN"/>
        </a:p>
      </dgm:t>
    </dgm:pt>
  </dgm:ptLst>
  <dgm:cxnLst>
    <dgm:cxn modelId="{094BAA6A-987C-46F7-AF7F-1A5FAD20037E}" srcId="{CFD9A5C2-B1E5-412D-8405-E568C75A38C9}" destId="{EAC4015B-5D91-4BB0-AE71-B33FF46A5BBA}" srcOrd="0" destOrd="0" parTransId="{9B3C62F1-FB8C-43C4-9CA3-00E81F3BCBDD}" sibTransId="{51552A55-8915-48E9-85F8-122D08E966D7}"/>
    <dgm:cxn modelId="{D94CA45B-54A3-47A6-A010-75743EB047B2}" type="presOf" srcId="{3EB16E9A-9213-4585-AC73-873A6F81CCE7}" destId="{9A5E95D9-0DD0-4B74-981F-14F91AAD3261}" srcOrd="0" destOrd="0" presId="urn:microsoft.com/office/officeart/2005/8/layout/hList3"/>
    <dgm:cxn modelId="{90C14BB6-CFBA-4E0A-A39D-A8831661C119}" type="presOf" srcId="{CFD9A5C2-B1E5-412D-8405-E568C75A38C9}" destId="{1438DD53-8643-49F6-A8E6-226AE152BA7C}" srcOrd="0" destOrd="0" presId="urn:microsoft.com/office/officeart/2005/8/layout/hList3"/>
    <dgm:cxn modelId="{B1679B4A-4C0A-45C3-A9C9-79AC52CEDA9B}" srcId="{EAC4015B-5D91-4BB0-AE71-B33FF46A5BBA}" destId="{3EB16E9A-9213-4585-AC73-873A6F81CCE7}" srcOrd="0" destOrd="0" parTransId="{F969DBE6-7BFE-49E6-A54A-B72EA4650751}" sibTransId="{99E1BF98-45E4-4BF0-8542-F479B49DD723}"/>
    <dgm:cxn modelId="{8524F2CD-0EE0-484C-91B6-F6F67F75A36F}" type="presOf" srcId="{EAC4015B-5D91-4BB0-AE71-B33FF46A5BBA}" destId="{2E3B253B-96EA-4582-8E25-BA4FF4F15F12}" srcOrd="0" destOrd="0" presId="urn:microsoft.com/office/officeart/2005/8/layout/hList3"/>
    <dgm:cxn modelId="{D1724728-F8CF-4DEB-9A46-B79226D8387B}" type="presParOf" srcId="{1438DD53-8643-49F6-A8E6-226AE152BA7C}" destId="{2E3B253B-96EA-4582-8E25-BA4FF4F15F12}" srcOrd="0" destOrd="0" presId="urn:microsoft.com/office/officeart/2005/8/layout/hList3"/>
    <dgm:cxn modelId="{0ABF43D0-D034-43E0-BCCF-63C7FA5A4314}" type="presParOf" srcId="{1438DD53-8643-49F6-A8E6-226AE152BA7C}" destId="{0B9125B7-7142-49CA-BF0B-187F871D9D76}" srcOrd="1" destOrd="0" presId="urn:microsoft.com/office/officeart/2005/8/layout/hList3"/>
    <dgm:cxn modelId="{558DEA0C-D479-4B65-9071-BB714B485F1D}" type="presParOf" srcId="{0B9125B7-7142-49CA-BF0B-187F871D9D76}" destId="{9A5E95D9-0DD0-4B74-981F-14F91AAD3261}" srcOrd="0" destOrd="0" presId="urn:microsoft.com/office/officeart/2005/8/layout/hList3"/>
    <dgm:cxn modelId="{86693BE1-3820-4244-BB2C-2455324CE68E}" type="presParOf" srcId="{1438DD53-8643-49F6-A8E6-226AE152BA7C}" destId="{802DFF20-0C59-4E0C-9C3F-E0E0F2060876}" srcOrd="2" destOrd="0" presId="urn:microsoft.com/office/officeart/2005/8/layout/h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0447C8-CDC5-4CEA-90D2-B0A6F961FBE6}">
      <dsp:nvSpPr>
        <dsp:cNvPr id="0" name=""/>
        <dsp:cNvSpPr/>
      </dsp:nvSpPr>
      <dsp:spPr>
        <a:xfrm>
          <a:off x="0" y="0"/>
          <a:ext cx="3583817" cy="261001"/>
        </a:xfrm>
        <a:prstGeom prst="rect">
          <a:avLst/>
        </a:prstGeom>
        <a:solidFill>
          <a:srgbClr val="0E5580">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solidFill>
                <a:sysClr val="window" lastClr="FFFFFF">
                  <a:hueOff val="0"/>
                  <a:satOff val="0"/>
                  <a:lumOff val="0"/>
                  <a:alphaOff val="0"/>
                </a:sysClr>
              </a:solidFill>
              <a:latin typeface="Century Gothic"/>
              <a:ea typeface="+mn-ea"/>
              <a:cs typeface="+mn-cs"/>
            </a:rPr>
            <a:t>Probability of Store Visit from Catchment</a:t>
          </a:r>
          <a:endParaRPr lang="en-IN" sz="1200" kern="1200" dirty="0">
            <a:solidFill>
              <a:sysClr val="window" lastClr="FFFFFF">
                <a:hueOff val="0"/>
                <a:satOff val="0"/>
                <a:lumOff val="0"/>
                <a:alphaOff val="0"/>
              </a:sysClr>
            </a:solidFill>
            <a:latin typeface="Century Gothic"/>
            <a:ea typeface="+mn-ea"/>
            <a:cs typeface="+mn-cs"/>
          </a:endParaRPr>
        </a:p>
      </dsp:txBody>
      <dsp:txXfrm>
        <a:off x="0" y="0"/>
        <a:ext cx="3583817" cy="261001"/>
      </dsp:txXfrm>
    </dsp:sp>
    <dsp:sp modelId="{21849321-513F-4F74-948F-22AE0722B5FB}">
      <dsp:nvSpPr>
        <dsp:cNvPr id="0" name=""/>
        <dsp:cNvSpPr/>
      </dsp:nvSpPr>
      <dsp:spPr>
        <a:xfrm>
          <a:off x="0" y="261001"/>
          <a:ext cx="3583817" cy="548103"/>
        </a:xfrm>
        <a:prstGeom prst="rect">
          <a:avLst/>
        </a:prstGeom>
        <a:solidFill>
          <a:sysClr val="window" lastClr="FFFFFF"/>
        </a:solidFill>
        <a:ln w="19050" cap="rnd"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IN" sz="1000" kern="1200" dirty="0" smtClean="0">
              <a:solidFill>
                <a:sysClr val="windowText" lastClr="000000"/>
              </a:solidFill>
              <a:latin typeface="Century Gothic"/>
              <a:ea typeface="+mn-ea"/>
              <a:cs typeface="+mn-cs"/>
            </a:rPr>
            <a:t>Store/Competitor Distance</a:t>
          </a:r>
        </a:p>
        <a:p>
          <a:pPr lvl="0" algn="ctr" defTabSz="444500">
            <a:lnSpc>
              <a:spcPct val="90000"/>
            </a:lnSpc>
            <a:spcBef>
              <a:spcPct val="0"/>
            </a:spcBef>
            <a:spcAft>
              <a:spcPct val="35000"/>
            </a:spcAft>
          </a:pPr>
          <a:r>
            <a:rPr lang="en-IN" sz="1000" i="1" kern="1200" dirty="0" smtClean="0">
              <a:solidFill>
                <a:sysClr val="windowText" lastClr="000000"/>
              </a:solidFill>
              <a:latin typeface="Century Gothic"/>
              <a:ea typeface="+mn-ea"/>
              <a:cs typeface="+mn-cs"/>
            </a:rPr>
            <a:t>Driving Distance to Store/Competitor PIN</a:t>
          </a:r>
          <a:endParaRPr lang="en-IN" sz="1000" kern="1200" dirty="0">
            <a:solidFill>
              <a:sysClr val="windowText" lastClr="000000"/>
            </a:solidFill>
            <a:latin typeface="Century Gothic"/>
            <a:ea typeface="+mn-ea"/>
            <a:cs typeface="+mn-cs"/>
          </a:endParaRPr>
        </a:p>
      </dsp:txBody>
      <dsp:txXfrm>
        <a:off x="0" y="261001"/>
        <a:ext cx="3583817" cy="548103"/>
      </dsp:txXfrm>
    </dsp:sp>
    <dsp:sp modelId="{66B4487D-DDE8-4879-8E6F-59D6C5AD45D3}">
      <dsp:nvSpPr>
        <dsp:cNvPr id="0" name=""/>
        <dsp:cNvSpPr/>
      </dsp:nvSpPr>
      <dsp:spPr>
        <a:xfrm>
          <a:off x="0" y="809104"/>
          <a:ext cx="3583817" cy="60900"/>
        </a:xfrm>
        <a:prstGeom prst="rect">
          <a:avLst/>
        </a:prstGeom>
        <a:solidFill>
          <a:sysClr val="window" lastClr="FFFFFF"/>
        </a:solidFill>
        <a:ln>
          <a:noFill/>
        </a:ln>
        <a:effectLst/>
      </dsp:spPr>
      <dsp:style>
        <a:lnRef idx="0">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3B253B-96EA-4582-8E25-BA4FF4F15F12}">
      <dsp:nvSpPr>
        <dsp:cNvPr id="0" name=""/>
        <dsp:cNvSpPr/>
      </dsp:nvSpPr>
      <dsp:spPr>
        <a:xfrm>
          <a:off x="0" y="0"/>
          <a:ext cx="3093358" cy="264988"/>
        </a:xfrm>
        <a:prstGeom prst="rect">
          <a:avLst/>
        </a:prstGeom>
        <a:solidFill>
          <a:srgbClr val="0E5580">
            <a:lumMod val="75000"/>
          </a:srgbClr>
        </a:solidFill>
        <a:ln>
          <a:noFill/>
        </a:ln>
        <a:effectLst/>
      </dsp:spPr>
      <dsp:style>
        <a:lnRef idx="0">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lvl="0" algn="ctr" defTabSz="533400">
            <a:lnSpc>
              <a:spcPct val="90000"/>
            </a:lnSpc>
            <a:spcBef>
              <a:spcPct val="0"/>
            </a:spcBef>
            <a:spcAft>
              <a:spcPct val="35000"/>
            </a:spcAft>
          </a:pPr>
          <a:r>
            <a:rPr lang="en-IN" sz="1200" kern="1200" dirty="0" smtClean="0">
              <a:solidFill>
                <a:sysClr val="window" lastClr="FFFFFF">
                  <a:hueOff val="0"/>
                  <a:satOff val="0"/>
                  <a:lumOff val="0"/>
                  <a:alphaOff val="0"/>
                </a:sysClr>
              </a:solidFill>
              <a:latin typeface="Century Gothic"/>
              <a:ea typeface="+mn-ea"/>
              <a:cs typeface="+mn-cs"/>
            </a:rPr>
            <a:t>Potential of Catchment</a:t>
          </a:r>
          <a:endParaRPr lang="en-IN" sz="1200" kern="1200" dirty="0">
            <a:solidFill>
              <a:sysClr val="window" lastClr="FFFFFF">
                <a:hueOff val="0"/>
                <a:satOff val="0"/>
                <a:lumOff val="0"/>
                <a:alphaOff val="0"/>
              </a:sysClr>
            </a:solidFill>
            <a:latin typeface="Century Gothic"/>
            <a:ea typeface="+mn-ea"/>
            <a:cs typeface="+mn-cs"/>
          </a:endParaRPr>
        </a:p>
      </dsp:txBody>
      <dsp:txXfrm>
        <a:off x="0" y="0"/>
        <a:ext cx="3093358" cy="264988"/>
      </dsp:txXfrm>
    </dsp:sp>
    <dsp:sp modelId="{9A5E95D9-0DD0-4B74-981F-14F91AAD3261}">
      <dsp:nvSpPr>
        <dsp:cNvPr id="0" name=""/>
        <dsp:cNvSpPr/>
      </dsp:nvSpPr>
      <dsp:spPr>
        <a:xfrm rot="10800000" flipV="1">
          <a:off x="0" y="283115"/>
          <a:ext cx="3093358" cy="520220"/>
        </a:xfrm>
        <a:prstGeom prst="rect">
          <a:avLst/>
        </a:prstGeom>
        <a:solidFill>
          <a:schemeClr val="bg1"/>
        </a:solidFill>
        <a:ln w="19050" cap="rnd"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IN" sz="1000" kern="1200" dirty="0" smtClean="0">
              <a:solidFill>
                <a:sysClr val="windowText" lastClr="000000"/>
              </a:solidFill>
              <a:latin typeface="Century Gothic"/>
              <a:ea typeface="+mn-ea"/>
              <a:cs typeface="+mn-cs"/>
            </a:rPr>
            <a:t>Location Characteristics</a:t>
          </a:r>
        </a:p>
        <a:p>
          <a:pPr lvl="0" algn="ctr" defTabSz="444500">
            <a:lnSpc>
              <a:spcPct val="90000"/>
            </a:lnSpc>
            <a:spcBef>
              <a:spcPct val="0"/>
            </a:spcBef>
            <a:spcAft>
              <a:spcPct val="35000"/>
            </a:spcAft>
          </a:pPr>
          <a:r>
            <a:rPr lang="en-IN" sz="1000" i="1" kern="1200" dirty="0" smtClean="0">
              <a:solidFill>
                <a:sysClr val="windowText" lastClr="000000"/>
              </a:solidFill>
              <a:latin typeface="Century Gothic"/>
              <a:ea typeface="+mn-ea"/>
              <a:cs typeface="+mn-cs"/>
            </a:rPr>
            <a:t>Location Attractiveness model</a:t>
          </a:r>
          <a:endParaRPr lang="en-IN" sz="1000" i="1" kern="1200" dirty="0">
            <a:solidFill>
              <a:sysClr val="windowText" lastClr="000000"/>
            </a:solidFill>
            <a:latin typeface="Century Gothic"/>
            <a:ea typeface="+mn-ea"/>
            <a:cs typeface="+mn-cs"/>
          </a:endParaRPr>
        </a:p>
      </dsp:txBody>
      <dsp:txXfrm rot="-10800000">
        <a:off x="0" y="283115"/>
        <a:ext cx="3093358" cy="520220"/>
      </dsp:txXfrm>
    </dsp:sp>
    <dsp:sp modelId="{802DFF20-0C59-4E0C-9C3F-E0E0F2060876}">
      <dsp:nvSpPr>
        <dsp:cNvPr id="0" name=""/>
        <dsp:cNvSpPr/>
      </dsp:nvSpPr>
      <dsp:spPr>
        <a:xfrm>
          <a:off x="0" y="821463"/>
          <a:ext cx="3093358" cy="61830"/>
        </a:xfrm>
        <a:prstGeom prst="rect">
          <a:avLst/>
        </a:prstGeom>
        <a:solidFill>
          <a:sysClr val="window" lastClr="FFFFFF"/>
        </a:solidFill>
        <a:ln>
          <a:noFill/>
        </a:ln>
        <a:effectLst/>
      </dsp:spPr>
      <dsp:style>
        <a:lnRef idx="0">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1615BD-D018-E545-9289-4AB1AE8F6686}" type="datetimeFigureOut">
              <a:rPr lang="en-US" smtClean="0"/>
              <a:t>6/29/2016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7CCB0-914D-D143-908C-7E6DBE57730A}" type="slidenum">
              <a:rPr lang="en-US" smtClean="0"/>
              <a:t>‹#›</a:t>
            </a:fld>
            <a:endParaRPr lang="en-US"/>
          </a:p>
        </p:txBody>
      </p:sp>
    </p:spTree>
    <p:extLst>
      <p:ext uri="{BB962C8B-B14F-4D97-AF65-F5344CB8AC3E}">
        <p14:creationId xmlns:p14="http://schemas.microsoft.com/office/powerpoint/2010/main" val="519056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C922AD0-3546-44A3-A368-81335D1AFDE3}" type="slidenum">
              <a:rPr lang="en-IN" smtClean="0">
                <a:solidFill>
                  <a:prstClr val="black"/>
                </a:solidFill>
              </a:rPr>
              <a:pPr/>
              <a:t>2</a:t>
            </a:fld>
            <a:endParaRPr lang="en-IN">
              <a:solidFill>
                <a:prstClr val="black"/>
              </a:solidFill>
            </a:endParaRPr>
          </a:p>
        </p:txBody>
      </p:sp>
    </p:spTree>
    <p:extLst>
      <p:ext uri="{BB962C8B-B14F-4D97-AF65-F5344CB8AC3E}">
        <p14:creationId xmlns:p14="http://schemas.microsoft.com/office/powerpoint/2010/main" val="10396284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10</a:t>
            </a:fld>
            <a:endParaRPr lang="en-IN" dirty="0">
              <a:solidFill>
                <a:prstClr val="black"/>
              </a:solidFill>
            </a:endParaRPr>
          </a:p>
        </p:txBody>
      </p:sp>
    </p:spTree>
    <p:extLst>
      <p:ext uri="{BB962C8B-B14F-4D97-AF65-F5344CB8AC3E}">
        <p14:creationId xmlns:p14="http://schemas.microsoft.com/office/powerpoint/2010/main" val="3472694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11</a:t>
            </a:fld>
            <a:endParaRPr lang="en-IN" dirty="0">
              <a:solidFill>
                <a:prstClr val="black"/>
              </a:solidFill>
            </a:endParaRPr>
          </a:p>
        </p:txBody>
      </p:sp>
    </p:spTree>
    <p:extLst>
      <p:ext uri="{BB962C8B-B14F-4D97-AF65-F5344CB8AC3E}">
        <p14:creationId xmlns:p14="http://schemas.microsoft.com/office/powerpoint/2010/main" val="852927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13</a:t>
            </a:fld>
            <a:endParaRPr lang="en-IN" dirty="0">
              <a:solidFill>
                <a:prstClr val="black"/>
              </a:solidFill>
            </a:endParaRPr>
          </a:p>
        </p:txBody>
      </p:sp>
    </p:spTree>
    <p:extLst>
      <p:ext uri="{BB962C8B-B14F-4D97-AF65-F5344CB8AC3E}">
        <p14:creationId xmlns:p14="http://schemas.microsoft.com/office/powerpoint/2010/main" val="1859067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15</a:t>
            </a:fld>
            <a:endParaRPr lang="en-IN" dirty="0">
              <a:solidFill>
                <a:prstClr val="black"/>
              </a:solidFill>
            </a:endParaRPr>
          </a:p>
        </p:txBody>
      </p:sp>
    </p:spTree>
    <p:extLst>
      <p:ext uri="{BB962C8B-B14F-4D97-AF65-F5344CB8AC3E}">
        <p14:creationId xmlns:p14="http://schemas.microsoft.com/office/powerpoint/2010/main" val="2548371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16</a:t>
            </a:fld>
            <a:endParaRPr lang="en-IN" dirty="0">
              <a:solidFill>
                <a:prstClr val="black"/>
              </a:solidFill>
            </a:endParaRPr>
          </a:p>
        </p:txBody>
      </p:sp>
    </p:spTree>
    <p:extLst>
      <p:ext uri="{BB962C8B-B14F-4D97-AF65-F5344CB8AC3E}">
        <p14:creationId xmlns:p14="http://schemas.microsoft.com/office/powerpoint/2010/main" val="378824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3817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309749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455250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2063579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718782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984383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316661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661033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062758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167575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2FF8D3-827B-46C7-970B-BED96715392A}" type="datetimeFigureOut">
              <a:rPr lang="en-IN" smtClean="0"/>
              <a:t>29-06-2016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3040F425-731D-4835-A38A-9545B9CAE996}" type="slidenum">
              <a:rPr lang="en-IN" smtClean="0"/>
              <a:t>‹#›</a:t>
            </a:fld>
            <a:endParaRPr lang="en-IN" dirty="0"/>
          </a:p>
        </p:txBody>
      </p:sp>
    </p:spTree>
    <p:extLst>
      <p:ext uri="{BB962C8B-B14F-4D97-AF65-F5344CB8AC3E}">
        <p14:creationId xmlns:p14="http://schemas.microsoft.com/office/powerpoint/2010/main" val="18833290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6/29/2016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0561217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9984" y="542362"/>
            <a:ext cx="9785683" cy="706964"/>
          </a:xfrm>
          <a:prstGeom prst="rect">
            <a:avLst/>
          </a:prstGeo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2DCA53F-FCBF-4517-A84A-91F4E4243AD6}" type="datetime1">
              <a:rPr lang="en-US" smtClean="0">
                <a:solidFill>
                  <a:srgbClr val="ACD433"/>
                </a:solidFill>
              </a:rPr>
              <a:pPr/>
              <a:t>6/29/2016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a:prstGeom prst="rect">
            <a:avLst/>
          </a:prstGeo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116707774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F87393B5-8BA9-476F-99E3-FFB38A1E2962}" type="datetime1">
              <a:rPr lang="en-US" smtClean="0">
                <a:solidFill>
                  <a:srgbClr val="ACD433"/>
                </a:solidFill>
              </a:rPr>
              <a:pPr defTabSz="457200"/>
              <a:t>6/29/2016</a:t>
            </a:fld>
            <a:endParaRPr lang="en-US" dirty="0">
              <a:solidFill>
                <a:srgbClr val="ACD433"/>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r>
              <a:rPr lang="en-IN" smtClean="0">
                <a:solidFill>
                  <a:srgbClr val="EBEBEB">
                    <a:lumMod val="75000"/>
                  </a:srgbClr>
                </a:solidFill>
              </a:rPr>
              <a:t>The information contained in this document is strictly private and confidential. © Copyright, Consumer Analytics Division, Tata Industries Limited   </a:t>
            </a:r>
            <a:endParaRPr lang="en-US" dirty="0">
              <a:solidFill>
                <a:srgbClr val="EBEBEB">
                  <a:lumMod val="75000"/>
                </a:srgb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spTree>
    <p:extLst>
      <p:ext uri="{BB962C8B-B14F-4D97-AF65-F5344CB8AC3E}">
        <p14:creationId xmlns:p14="http://schemas.microsoft.com/office/powerpoint/2010/main" val="1891427039"/>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jpeg"/><Relationship Id="rId13" Type="http://schemas.openxmlformats.org/officeDocument/2006/relationships/image" Target="../media/image10.jpeg"/><Relationship Id="rId18" Type="http://schemas.openxmlformats.org/officeDocument/2006/relationships/image" Target="../media/image15.png"/><Relationship Id="rId3" Type="http://schemas.openxmlformats.org/officeDocument/2006/relationships/slideLayout" Target="../slideLayouts/slideLayout2.xml"/><Relationship Id="rId21" Type="http://schemas.openxmlformats.org/officeDocument/2006/relationships/image" Target="../media/image18.png"/><Relationship Id="rId7" Type="http://schemas.openxmlformats.org/officeDocument/2006/relationships/image" Target="../media/image4.jpeg"/><Relationship Id="rId12" Type="http://schemas.openxmlformats.org/officeDocument/2006/relationships/image" Target="../media/image9.png"/><Relationship Id="rId17" Type="http://schemas.openxmlformats.org/officeDocument/2006/relationships/image" Target="../media/image14.jpeg"/><Relationship Id="rId2" Type="http://schemas.openxmlformats.org/officeDocument/2006/relationships/tags" Target="../tags/tag2.xml"/><Relationship Id="rId16" Type="http://schemas.openxmlformats.org/officeDocument/2006/relationships/image" Target="../media/image13.png"/><Relationship Id="rId20" Type="http://schemas.openxmlformats.org/officeDocument/2006/relationships/image" Target="../media/image17.jpeg"/><Relationship Id="rId1" Type="http://schemas.openxmlformats.org/officeDocument/2006/relationships/tags" Target="../tags/tag1.xml"/><Relationship Id="rId6" Type="http://schemas.openxmlformats.org/officeDocument/2006/relationships/image" Target="../media/image3.jpeg"/><Relationship Id="rId11" Type="http://schemas.openxmlformats.org/officeDocument/2006/relationships/image" Target="../media/image8.png"/><Relationship Id="rId5" Type="http://schemas.openxmlformats.org/officeDocument/2006/relationships/image" Target="../media/image2.jpeg"/><Relationship Id="rId15" Type="http://schemas.openxmlformats.org/officeDocument/2006/relationships/image" Target="../media/image12.png"/><Relationship Id="rId10" Type="http://schemas.openxmlformats.org/officeDocument/2006/relationships/image" Target="../media/image7.jpeg"/><Relationship Id="rId19" Type="http://schemas.openxmlformats.org/officeDocument/2006/relationships/image" Target="../media/image16.jpeg"/><Relationship Id="rId4" Type="http://schemas.openxmlformats.org/officeDocument/2006/relationships/notesSlide" Target="../notesSlides/notesSlide1.xml"/><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4.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53.jpeg"/><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1.png"/><Relationship Id="rId4" Type="http://schemas.openxmlformats.org/officeDocument/2006/relationships/image" Target="../media/image60.png"/></Relationships>
</file>

<file path=ppt/slides/_rels/slide17.xml.rels><?xml version="1.0" encoding="UTF-8" standalone="yes"?>
<Relationships xmlns="http://schemas.openxmlformats.org/package/2006/relationships"><Relationship Id="rId3" Type="http://schemas.openxmlformats.org/officeDocument/2006/relationships/image" Target="../media/image63.emf"/><Relationship Id="rId2" Type="http://schemas.openxmlformats.org/officeDocument/2006/relationships/image" Target="../media/image62.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66.png"/><Relationship Id="rId4" Type="http://schemas.openxmlformats.org/officeDocument/2006/relationships/image" Target="../media/image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2.xml"/><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70.png"/><Relationship Id="rId1" Type="http://schemas.openxmlformats.org/officeDocument/2006/relationships/slideLayout" Target="../slideLayouts/slideLayout12.xml"/><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72.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image" Target="../media/image74.png"/><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image" Target="../media/image73.png"/></Relationships>
</file>

<file path=ppt/slides/_rels/slide24.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7" name="Rectangle 6"/>
          <p:cNvSpPr/>
          <p:nvPr/>
        </p:nvSpPr>
        <p:spPr>
          <a:xfrm>
            <a:off x="228600" y="5580271"/>
            <a:ext cx="11788792" cy="1061829"/>
          </a:xfrm>
          <a:prstGeom prst="rect">
            <a:avLst/>
          </a:prstGeom>
        </p:spPr>
        <p:txBody>
          <a:bodyPr wrap="square" anchor="b">
            <a:spAutoFit/>
          </a:bodyPr>
          <a:lstStyle/>
          <a:p>
            <a:pPr lvl="0"/>
            <a:r>
              <a:rPr lang="en-US" sz="900" dirty="0">
                <a:solidFill>
                  <a:prstClr val="white"/>
                </a:solidFill>
                <a:latin typeface="Century Gothic"/>
              </a:rPr>
              <a:t>The information contained in the document is proprietary to Tata Industries Limited- Tata Insights &amp; Quants Division and is strictly confidential. </a:t>
            </a:r>
            <a:r>
              <a:rPr lang="en-IN" sz="9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900" dirty="0">
                <a:solidFill>
                  <a:prstClr val="white"/>
                </a:solidFill>
                <a:latin typeface="Century Gothic"/>
              </a:rPr>
            </a:br>
            <a:r>
              <a:rPr lang="en-IN" sz="900" dirty="0">
                <a:solidFill>
                  <a:prstClr val="white"/>
                </a:solidFill>
                <a:latin typeface="Century Gothic"/>
              </a:rPr>
              <a:t> </a:t>
            </a:r>
            <a:br>
              <a:rPr lang="en-IN" sz="900" dirty="0">
                <a:solidFill>
                  <a:prstClr val="white"/>
                </a:solidFill>
                <a:latin typeface="Century Gothic"/>
              </a:rPr>
            </a:br>
            <a:r>
              <a:rPr lang="en-IN" sz="900" dirty="0">
                <a:solidFill>
                  <a:prstClr val="white"/>
                </a:solidFill>
                <a:latin typeface="Century Gothic"/>
              </a:rPr>
              <a:t>© Copyright, Tata Insights &amp; Quants Division, Tata Industries Limited </a:t>
            </a:r>
          </a:p>
        </p:txBody>
      </p:sp>
      <p:sp>
        <p:nvSpPr>
          <p:cNvPr id="8" name="Rectangle 7"/>
          <p:cNvSpPr/>
          <p:nvPr/>
        </p:nvSpPr>
        <p:spPr>
          <a:xfrm>
            <a:off x="228600" y="1762488"/>
            <a:ext cx="11608627" cy="1815882"/>
          </a:xfrm>
          <a:prstGeom prst="rect">
            <a:avLst/>
          </a:prstGeom>
        </p:spPr>
        <p:txBody>
          <a:bodyPr wrap="none">
            <a:spAutoFit/>
          </a:bodyPr>
          <a:lstStyle/>
          <a:p>
            <a:pPr algn="r"/>
            <a:r>
              <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Tata Unistore Digital Analytics Proposal</a:t>
            </a:r>
          </a:p>
          <a:p>
            <a:pPr algn="r"/>
            <a:endParaRPr lang="en-US" sz="32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a:p>
            <a:pPr algn="r"/>
            <a:r>
              <a:rPr lang="en-US" sz="32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Scope and Timelines</a:t>
            </a:r>
            <a:endParaRPr lang="en-US" sz="3200" b="1"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sp>
        <p:nvSpPr>
          <p:cNvPr id="10" name="Rectangle 9"/>
          <p:cNvSpPr/>
          <p:nvPr/>
        </p:nvSpPr>
        <p:spPr>
          <a:xfrm>
            <a:off x="4778392" y="3978251"/>
            <a:ext cx="7239000" cy="400110"/>
          </a:xfrm>
          <a:prstGeom prst="rect">
            <a:avLst/>
          </a:prstGeom>
        </p:spPr>
        <p:txBody>
          <a:bodyPr wrap="square">
            <a:spAutoFit/>
          </a:bodyPr>
          <a:lstStyle/>
          <a:p>
            <a:pPr algn="r"/>
            <a:r>
              <a:rPr lang="en-US" sz="2000" b="1" dirty="0" smtClean="0">
                <a:solidFill>
                  <a:schemeClr val="bg1"/>
                </a:solidFill>
                <a:latin typeface="Leelawadee UI" panose="020B0502040204020203" pitchFamily="34" charset="-34"/>
                <a:cs typeface="Leelawadee UI" panose="020B0502040204020203" pitchFamily="34" charset="-34"/>
              </a:rPr>
              <a:t>03/05/2016</a:t>
            </a:r>
            <a:endParaRPr lang="en-US" sz="2000" b="1" dirty="0">
              <a:solidFill>
                <a:schemeClr val="bg1"/>
              </a:solidFill>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41203208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flipH="1">
            <a:off x="-6899" y="6378301"/>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838332" y="291779"/>
              <a:ext cx="2515369"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About Tata </a:t>
              </a:r>
              <a:r>
                <a:rPr lang="en-IN" sz="2800" b="1" dirty="0" err="1" smtClean="0">
                  <a:solidFill>
                    <a:srgbClr val="0070C0"/>
                  </a:solidFill>
                  <a:latin typeface="Leelawadee UI" panose="020B0502040204020203" pitchFamily="34" charset="-34"/>
                  <a:cs typeface="Leelawadee UI" panose="020B0502040204020203" pitchFamily="34" charset="-34"/>
                </a:rPr>
                <a:t>iQ</a:t>
              </a:r>
              <a:endParaRPr lang="en-IN" sz="2800" b="1" dirty="0" smtClean="0">
                <a:solidFill>
                  <a:srgbClr val="0070C0"/>
                </a:solidFill>
                <a:latin typeface="Leelawadee UI" panose="020B0502040204020203" pitchFamily="34" charset="-34"/>
                <a:cs typeface="Leelawadee UI" panose="020B0502040204020203" pitchFamily="34" charset="-34"/>
              </a:endParaRPr>
            </a:p>
          </p:txBody>
        </p:sp>
      </p:grpSp>
      <p:sp>
        <p:nvSpPr>
          <p:cNvPr id="2" name="TextBox 1"/>
          <p:cNvSpPr txBox="1"/>
          <p:nvPr/>
        </p:nvSpPr>
        <p:spPr>
          <a:xfrm>
            <a:off x="248991" y="647459"/>
            <a:ext cx="11694017" cy="646331"/>
          </a:xfrm>
          <a:prstGeom prst="rect">
            <a:avLst/>
          </a:prstGeom>
          <a:noFill/>
        </p:spPr>
        <p:txBody>
          <a:bodyPr wrap="square" rtlCol="0">
            <a:spAutoFit/>
          </a:bodyPr>
          <a:lstStyle/>
          <a:p>
            <a:r>
              <a:rPr lang="en-IN" dirty="0">
                <a:solidFill>
                  <a:srgbClr val="002060"/>
                </a:solidFill>
              </a:rPr>
              <a:t>Our goal is to be </a:t>
            </a:r>
            <a:r>
              <a:rPr lang="en-IN" b="1" dirty="0" smtClean="0">
                <a:solidFill>
                  <a:srgbClr val="002060"/>
                </a:solidFill>
              </a:rPr>
              <a:t>India’s </a:t>
            </a:r>
            <a:r>
              <a:rPr lang="en-IN" b="1" dirty="0">
                <a:solidFill>
                  <a:srgbClr val="002060"/>
                </a:solidFill>
              </a:rPr>
              <a:t>premier Omni-channel Marketing Solutions &amp; Decision Sciences company </a:t>
            </a:r>
            <a:r>
              <a:rPr lang="en-IN" dirty="0">
                <a:solidFill>
                  <a:srgbClr val="002060"/>
                </a:solidFill>
              </a:rPr>
              <a:t>powered by the richest and most valuable database, and high impact insights and analytics</a:t>
            </a:r>
          </a:p>
        </p:txBody>
      </p:sp>
      <p:sp>
        <p:nvSpPr>
          <p:cNvPr id="23" name="Rectangle 22"/>
          <p:cNvSpPr/>
          <p:nvPr/>
        </p:nvSpPr>
        <p:spPr>
          <a:xfrm>
            <a:off x="591464" y="2507283"/>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4" name="Rectangle 23"/>
          <p:cNvSpPr/>
          <p:nvPr/>
        </p:nvSpPr>
        <p:spPr>
          <a:xfrm>
            <a:off x="4496149" y="2723634"/>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5" name="Rectangle 24"/>
          <p:cNvSpPr/>
          <p:nvPr/>
        </p:nvSpPr>
        <p:spPr>
          <a:xfrm>
            <a:off x="8434470" y="2550158"/>
            <a:ext cx="3070487" cy="2055080"/>
          </a:xfrm>
          <a:prstGeom prst="rect">
            <a:avLst/>
          </a:prstGeom>
          <a:solidFill>
            <a:schemeClr val="bg1">
              <a:lumMod val="95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26" name="Rectangle 25"/>
          <p:cNvSpPr/>
          <p:nvPr/>
        </p:nvSpPr>
        <p:spPr>
          <a:xfrm>
            <a:off x="478052" y="2299991"/>
            <a:ext cx="3296960" cy="3841324"/>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5E5E5E">
                  <a:lumMod val="75000"/>
                </a:srgbClr>
              </a:solidFill>
            </a:endParaRPr>
          </a:p>
        </p:txBody>
      </p:sp>
      <p:sp>
        <p:nvSpPr>
          <p:cNvPr id="27" name="Rectangle 26"/>
          <p:cNvSpPr/>
          <p:nvPr/>
        </p:nvSpPr>
        <p:spPr>
          <a:xfrm>
            <a:off x="4386162" y="2299991"/>
            <a:ext cx="3296960" cy="3841324"/>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5E5E5E">
                  <a:lumMod val="75000"/>
                </a:srgbClr>
              </a:solidFill>
            </a:endParaRPr>
          </a:p>
        </p:txBody>
      </p:sp>
      <p:sp>
        <p:nvSpPr>
          <p:cNvPr id="28" name="Rectangle 27"/>
          <p:cNvSpPr/>
          <p:nvPr/>
        </p:nvSpPr>
        <p:spPr>
          <a:xfrm>
            <a:off x="8316184" y="2299990"/>
            <a:ext cx="3296960" cy="3824743"/>
          </a:xfrm>
          <a:prstGeom prst="rect">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rgbClr val="5E5E5E">
                  <a:lumMod val="75000"/>
                </a:srgbClr>
              </a:solidFill>
            </a:endParaRPr>
          </a:p>
        </p:txBody>
      </p:sp>
      <p:grpSp>
        <p:nvGrpSpPr>
          <p:cNvPr id="29" name="Group 28"/>
          <p:cNvGrpSpPr/>
          <p:nvPr/>
        </p:nvGrpSpPr>
        <p:grpSpPr>
          <a:xfrm>
            <a:off x="103844" y="1282705"/>
            <a:ext cx="11906807" cy="542786"/>
            <a:chOff x="528357" y="1705748"/>
            <a:chExt cx="11135092" cy="446386"/>
          </a:xfrm>
        </p:grpSpPr>
        <p:sp>
          <p:nvSpPr>
            <p:cNvPr id="30" name="Left-Right Arrow 29"/>
            <p:cNvSpPr/>
            <p:nvPr/>
          </p:nvSpPr>
          <p:spPr>
            <a:xfrm>
              <a:off x="528357" y="1705748"/>
              <a:ext cx="11135092" cy="446386"/>
            </a:xfrm>
            <a:prstGeom prst="leftRightArrow">
              <a:avLst/>
            </a:prstGeom>
            <a:solidFill>
              <a:srgbClr val="002060"/>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prstClr val="white"/>
                </a:solidFill>
              </a:endParaRPr>
            </a:p>
          </p:txBody>
        </p:sp>
        <p:sp>
          <p:nvSpPr>
            <p:cNvPr id="31" name="TextBox 30"/>
            <p:cNvSpPr txBox="1"/>
            <p:nvPr/>
          </p:nvSpPr>
          <p:spPr bwMode="gray">
            <a:xfrm>
              <a:off x="1561276" y="1746633"/>
              <a:ext cx="1734793" cy="354833"/>
            </a:xfrm>
            <a:prstGeom prst="rect">
              <a:avLst/>
            </a:prstGeom>
          </p:spPr>
          <p:txBody>
            <a:bodyPr vert="horz" wrap="none" lIns="91440" tIns="45720" rIns="91440" bIns="45720" rtlCol="0" anchor="ctr">
              <a:noAutofit/>
            </a:bodyPr>
            <a:lstStyle/>
            <a:p>
              <a:r>
                <a:rPr lang="en-IN" b="1" dirty="0">
                  <a:solidFill>
                    <a:prstClr val="white"/>
                  </a:solidFill>
                </a:rPr>
                <a:t>Analytic Services</a:t>
              </a:r>
            </a:p>
          </p:txBody>
        </p:sp>
        <p:sp>
          <p:nvSpPr>
            <p:cNvPr id="32" name="TextBox 31"/>
            <p:cNvSpPr txBox="1"/>
            <p:nvPr/>
          </p:nvSpPr>
          <p:spPr bwMode="gray">
            <a:xfrm>
              <a:off x="4672881" y="1747677"/>
              <a:ext cx="2881557" cy="354833"/>
            </a:xfrm>
            <a:prstGeom prst="rect">
              <a:avLst/>
            </a:prstGeom>
          </p:spPr>
          <p:txBody>
            <a:bodyPr vert="horz" wrap="none" lIns="91440" tIns="45720" rIns="91440" bIns="45720" rtlCol="0" anchor="ctr">
              <a:noAutofit/>
            </a:bodyPr>
            <a:lstStyle/>
            <a:p>
              <a:r>
                <a:rPr lang="en-IN" b="1" dirty="0">
                  <a:solidFill>
                    <a:prstClr val="white"/>
                  </a:solidFill>
                </a:rPr>
                <a:t>Largest and Richest Database</a:t>
              </a:r>
            </a:p>
          </p:txBody>
        </p:sp>
        <p:sp>
          <p:nvSpPr>
            <p:cNvPr id="33" name="TextBox 32"/>
            <p:cNvSpPr txBox="1"/>
            <p:nvPr/>
          </p:nvSpPr>
          <p:spPr bwMode="gray">
            <a:xfrm>
              <a:off x="8390154" y="1746632"/>
              <a:ext cx="2275780" cy="354833"/>
            </a:xfrm>
            <a:prstGeom prst="rect">
              <a:avLst/>
            </a:prstGeom>
          </p:spPr>
          <p:txBody>
            <a:bodyPr vert="horz" wrap="none" lIns="91440" tIns="45720" rIns="91440" bIns="45720" rtlCol="0" anchor="ctr">
              <a:noAutofit/>
            </a:bodyPr>
            <a:lstStyle/>
            <a:p>
              <a:r>
                <a:rPr lang="en-IN" b="1" dirty="0">
                  <a:solidFill>
                    <a:prstClr val="white"/>
                  </a:solidFill>
                </a:rPr>
                <a:t>Collaboration and One Tata</a:t>
              </a:r>
            </a:p>
          </p:txBody>
        </p:sp>
      </p:grpSp>
      <p:grpSp>
        <p:nvGrpSpPr>
          <p:cNvPr id="34" name="Group 33"/>
          <p:cNvGrpSpPr/>
          <p:nvPr/>
        </p:nvGrpSpPr>
        <p:grpSpPr>
          <a:xfrm>
            <a:off x="4414356" y="2484552"/>
            <a:ext cx="1107537" cy="1897484"/>
            <a:chOff x="2953253" y="2191887"/>
            <a:chExt cx="1400538" cy="2379509"/>
          </a:xfrm>
        </p:grpSpPr>
        <p:sp>
          <p:nvSpPr>
            <p:cNvPr id="35" name="Rounded Rectangle 34"/>
            <p:cNvSpPr/>
            <p:nvPr>
              <p:custDataLst>
                <p:tags r:id="rId1"/>
              </p:custDataLst>
            </p:nvPr>
          </p:nvSpPr>
          <p:spPr bwMode="gray">
            <a:xfrm>
              <a:off x="3094944" y="2191887"/>
              <a:ext cx="1108539" cy="2379509"/>
            </a:xfrm>
            <a:prstGeom prst="roundRect">
              <a:avLst>
                <a:gd name="adj" fmla="val 9878"/>
              </a:avLst>
            </a:prstGeom>
            <a:solidFill>
              <a:schemeClr val="bg1">
                <a:lumMod val="95000"/>
              </a:schemeClr>
            </a:solidFill>
            <a:ln w="6350" cap="flat" cmpd="sng" algn="ctr">
              <a:solidFill>
                <a:schemeClr val="bg1">
                  <a:lumMod val="65000"/>
                </a:schemeClr>
              </a:solidFill>
              <a:prstDash val="solid"/>
              <a:round/>
              <a:headEnd type="none" w="med" len="med"/>
              <a:tailEnd type="none" w="med" len="med"/>
            </a:ln>
            <a:effectLst>
              <a:outerShdw blurRad="50800" dist="38100" dir="2700000" algn="tl" rotWithShape="0">
                <a:prstClr val="black">
                  <a:alpha val="40000"/>
                </a:prstClr>
              </a:outerShdw>
            </a:effectLst>
          </p:spPr>
          <p:txBody>
            <a:bodyPr tIns="91440"/>
            <a:lstStyle/>
            <a:p>
              <a:pPr indent="-171450" defTabSz="895350" fontAlgn="base">
                <a:spcBef>
                  <a:spcPct val="0"/>
                </a:spcBef>
                <a:spcAft>
                  <a:spcPct val="0"/>
                </a:spcAft>
                <a:buClr>
                  <a:srgbClr val="11356F"/>
                </a:buClr>
                <a:buSzPct val="100000"/>
                <a:defRPr/>
              </a:pPr>
              <a:endParaRPr lang="en-GB" sz="1400" dirty="0">
                <a:solidFill>
                  <a:prstClr val="black">
                    <a:lumMod val="65000"/>
                    <a:lumOff val="35000"/>
                  </a:prstClr>
                </a:solidFill>
                <a:cs typeface="Arial" pitchFamily="34" charset="0"/>
              </a:endParaRPr>
            </a:p>
          </p:txBody>
        </p:sp>
        <p:pic>
          <p:nvPicPr>
            <p:cNvPr id="36" name="Picture 35" descr="http://socialmediab2b.com/wp-content/uploads/2011/12/Dun-Bradstreet-social-media.jpg"/>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a:stretch/>
          </p:blipFill>
          <p:spPr bwMode="auto">
            <a:xfrm>
              <a:off x="3358113" y="2274159"/>
              <a:ext cx="551730" cy="53552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http://www.ucanews.com/uploads/2011/03/FFT505_1s.jpg"/>
            <p:cNvPicPr>
              <a:picLocks noChangeAspect="1" noChangeArrowheads="1"/>
            </p:cNvPicPr>
            <p:nvPr/>
          </p:nvPicPr>
          <p:blipFill rotWithShape="1">
            <a:blip r:embed="rId7"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3233586" y="3034527"/>
              <a:ext cx="440738" cy="50030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http://3.bp.blogspot.com/-b_9jTjLfg5Y/T9WJY1TcvVI/AAAAAAAAAg4/02iZ1BRgO3c/s1600/Rajasthan%2BGovernment%25E2%2580%2599s.jpg"/>
            <p:cNvPicPr>
              <a:picLocks noChangeAspect="1" noChangeArrowheads="1"/>
            </p:cNvPicPr>
            <p:nvPr/>
          </p:nvPicPr>
          <p:blipFill>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749813" y="3049044"/>
              <a:ext cx="280314" cy="46733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368583" y="3801468"/>
              <a:ext cx="576049" cy="486336"/>
            </a:xfrm>
            <a:prstGeom prst="rect">
              <a:avLst/>
            </a:prstGeom>
          </p:spPr>
        </p:pic>
        <p:sp>
          <p:nvSpPr>
            <p:cNvPr id="41" name="Rounded Rectangle 40"/>
            <p:cNvSpPr/>
            <p:nvPr>
              <p:custDataLst>
                <p:tags r:id="rId2"/>
              </p:custDataLst>
            </p:nvPr>
          </p:nvSpPr>
          <p:spPr bwMode="gray">
            <a:xfrm>
              <a:off x="3190972" y="2203966"/>
              <a:ext cx="931272" cy="324668"/>
            </a:xfrm>
            <a:prstGeom prst="roundRect">
              <a:avLst/>
            </a:prstGeom>
          </p:spPr>
          <p:txBody>
            <a:bodyPr vert="horz" lIns="91440" tIns="45720" rIns="91440" bIns="45720" rtlCol="0" anchor="ctr">
              <a:noAutofit/>
            </a:bodyPr>
            <a:lstStyle/>
            <a:p>
              <a:pPr fontAlgn="base">
                <a:spcBef>
                  <a:spcPct val="0"/>
                </a:spcBef>
                <a:spcAft>
                  <a:spcPct val="0"/>
                </a:spcAft>
              </a:pPr>
              <a:endParaRPr lang="en-GB" sz="1600" b="1" dirty="0">
                <a:solidFill>
                  <a:srgbClr val="0091CF"/>
                </a:solidFill>
                <a:cs typeface="Calibri"/>
              </a:endParaRPr>
            </a:p>
          </p:txBody>
        </p:sp>
        <p:sp>
          <p:nvSpPr>
            <p:cNvPr id="42" name="TextBox 41"/>
            <p:cNvSpPr txBox="1"/>
            <p:nvPr/>
          </p:nvSpPr>
          <p:spPr bwMode="gray">
            <a:xfrm>
              <a:off x="2953253" y="2733506"/>
              <a:ext cx="1400011" cy="353038"/>
            </a:xfrm>
            <a:prstGeom prst="rect">
              <a:avLst/>
            </a:prstGeom>
            <a:noFill/>
            <a:ln>
              <a:noFill/>
            </a:ln>
          </p:spPr>
          <p:txBody>
            <a:bodyPr vert="horz" wrap="square" lIns="91440" tIns="45720" rIns="91440" bIns="45720" rtlCol="0" anchor="ctr">
              <a:noAutofit/>
            </a:bodyPr>
            <a:lstStyle>
              <a:defPPr>
                <a:defRPr lang="en-US"/>
              </a:defPPr>
              <a:lvl1pPr algn="ctr">
                <a:defRPr sz="3600" b="1">
                  <a:solidFill>
                    <a:schemeClr val="bg1">
                      <a:lumMod val="50000"/>
                    </a:schemeClr>
                  </a:solidFill>
                </a:defRPr>
              </a:lvl1pPr>
            </a:lstStyle>
            <a:p>
              <a:r>
                <a:rPr lang="en-IN" sz="1200" b="0" dirty="0" smtClean="0">
                  <a:solidFill>
                    <a:srgbClr val="000000"/>
                  </a:solidFill>
                </a:rPr>
                <a:t>Proprietary</a:t>
              </a:r>
              <a:endParaRPr lang="en-IN" sz="1200" b="0" dirty="0">
                <a:solidFill>
                  <a:srgbClr val="000000"/>
                </a:solidFill>
              </a:endParaRPr>
            </a:p>
          </p:txBody>
        </p:sp>
        <p:sp>
          <p:nvSpPr>
            <p:cNvPr id="43" name="TextBox 42"/>
            <p:cNvSpPr txBox="1"/>
            <p:nvPr/>
          </p:nvSpPr>
          <p:spPr bwMode="gray">
            <a:xfrm>
              <a:off x="2953779" y="3485396"/>
              <a:ext cx="1400012" cy="353038"/>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200" b="0" dirty="0">
                  <a:solidFill>
                    <a:srgbClr val="000000"/>
                  </a:solidFill>
                </a:rPr>
                <a:t>Public</a:t>
              </a:r>
            </a:p>
          </p:txBody>
        </p:sp>
      </p:grpSp>
      <p:sp>
        <p:nvSpPr>
          <p:cNvPr id="44" name="TextBox 43"/>
          <p:cNvSpPr txBox="1"/>
          <p:nvPr/>
        </p:nvSpPr>
        <p:spPr bwMode="gray">
          <a:xfrm>
            <a:off x="4417911" y="4530699"/>
            <a:ext cx="3198955" cy="190193"/>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Tata iQ Proprietary Database</a:t>
            </a:r>
            <a:endParaRPr lang="en-IN" sz="1800" dirty="0">
              <a:solidFill>
                <a:srgbClr val="000000"/>
              </a:solidFill>
            </a:endParaRPr>
          </a:p>
        </p:txBody>
      </p:sp>
      <p:sp>
        <p:nvSpPr>
          <p:cNvPr id="45" name="Rectangle 44"/>
          <p:cNvSpPr/>
          <p:nvPr/>
        </p:nvSpPr>
        <p:spPr>
          <a:xfrm>
            <a:off x="4419934" y="4930163"/>
            <a:ext cx="3252120" cy="1077218"/>
          </a:xfrm>
          <a:prstGeom prst="rect">
            <a:avLst/>
          </a:prstGeom>
        </p:spPr>
        <p:txBody>
          <a:bodyPr wrap="square">
            <a:spAutoFit/>
          </a:bodyPr>
          <a:lstStyle/>
          <a:p>
            <a:pPr marL="1588" algn="ctr" defTabSz="457200">
              <a:buClr>
                <a:srgbClr val="000000"/>
              </a:buClr>
            </a:pPr>
            <a:r>
              <a:rPr lang="en-US" sz="1600" b="1" dirty="0">
                <a:solidFill>
                  <a:srgbClr val="5E5E5E">
                    <a:lumMod val="60000"/>
                    <a:lumOff val="40000"/>
                  </a:srgbClr>
                </a:solidFill>
                <a:cs typeface="Arial" charset="0"/>
              </a:rPr>
              <a:t>900MM People Base</a:t>
            </a:r>
          </a:p>
          <a:p>
            <a:pPr marL="1588" algn="ctr" defTabSz="457200">
              <a:buClr>
                <a:srgbClr val="000000"/>
              </a:buClr>
            </a:pPr>
            <a:r>
              <a:rPr lang="en-US" sz="1600" b="1" smtClean="0">
                <a:solidFill>
                  <a:srgbClr val="5E5E5E">
                    <a:lumMod val="60000"/>
                    <a:lumOff val="40000"/>
                  </a:srgbClr>
                </a:solidFill>
                <a:cs typeface="Arial" charset="0"/>
              </a:rPr>
              <a:t>300 </a:t>
            </a:r>
            <a:r>
              <a:rPr lang="en-US" sz="1600" b="1" dirty="0">
                <a:solidFill>
                  <a:srgbClr val="5E5E5E">
                    <a:lumMod val="60000"/>
                    <a:lumOff val="40000"/>
                  </a:srgbClr>
                </a:solidFill>
                <a:cs typeface="Arial" charset="0"/>
              </a:rPr>
              <a:t>MM Enriched Base </a:t>
            </a:r>
          </a:p>
          <a:p>
            <a:pPr marL="1588" algn="ctr" defTabSz="457200">
              <a:buClr>
                <a:srgbClr val="000000"/>
              </a:buClr>
            </a:pPr>
            <a:r>
              <a:rPr lang="en-US" sz="1600" b="1" dirty="0">
                <a:solidFill>
                  <a:srgbClr val="5E5E5E">
                    <a:lumMod val="60000"/>
                    <a:lumOff val="40000"/>
                  </a:srgbClr>
                </a:solidFill>
                <a:cs typeface="Arial" charset="0"/>
              </a:rPr>
              <a:t>Data across Individuals &amp; Institutions</a:t>
            </a:r>
          </a:p>
        </p:txBody>
      </p:sp>
      <p:sp>
        <p:nvSpPr>
          <p:cNvPr id="46" name="TextBox 45"/>
          <p:cNvSpPr txBox="1"/>
          <p:nvPr/>
        </p:nvSpPr>
        <p:spPr bwMode="gray">
          <a:xfrm>
            <a:off x="4645465" y="4192987"/>
            <a:ext cx="734968" cy="251122"/>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200" b="0" dirty="0" smtClean="0">
                <a:solidFill>
                  <a:srgbClr val="000000"/>
                </a:solidFill>
              </a:rPr>
              <a:t>Internal</a:t>
            </a:r>
            <a:endParaRPr lang="en-IN" sz="1200" b="0" dirty="0">
              <a:solidFill>
                <a:srgbClr val="000000"/>
              </a:solidFill>
            </a:endParaRPr>
          </a:p>
        </p:txBody>
      </p:sp>
      <p:sp>
        <p:nvSpPr>
          <p:cNvPr id="47" name="TextBox 46"/>
          <p:cNvSpPr txBox="1"/>
          <p:nvPr/>
        </p:nvSpPr>
        <p:spPr bwMode="gray">
          <a:xfrm>
            <a:off x="700333" y="2971693"/>
            <a:ext cx="758997"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Campaigns</a:t>
            </a:r>
            <a:endParaRPr lang="en-IN" sz="1100" dirty="0">
              <a:solidFill>
                <a:srgbClr val="000000"/>
              </a:solidFill>
            </a:endParaRPr>
          </a:p>
        </p:txBody>
      </p:sp>
      <p:sp>
        <p:nvSpPr>
          <p:cNvPr id="48" name="TextBox 47"/>
          <p:cNvSpPr txBox="1"/>
          <p:nvPr/>
        </p:nvSpPr>
        <p:spPr bwMode="gray">
          <a:xfrm>
            <a:off x="2807895" y="3018079"/>
            <a:ext cx="758997"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Customer Insight &amp; </a:t>
            </a:r>
          </a:p>
          <a:p>
            <a:pPr algn="ctr"/>
            <a:r>
              <a:rPr lang="en-IN" sz="1100" dirty="0" smtClean="0">
                <a:solidFill>
                  <a:srgbClr val="000000"/>
                </a:solidFill>
              </a:rPr>
              <a:t>Prospecting</a:t>
            </a:r>
            <a:endParaRPr lang="en-IN" sz="1100" dirty="0">
              <a:solidFill>
                <a:srgbClr val="000000"/>
              </a:solidFill>
            </a:endParaRPr>
          </a:p>
        </p:txBody>
      </p:sp>
      <p:sp>
        <p:nvSpPr>
          <p:cNvPr id="49" name="TextBox 48"/>
          <p:cNvSpPr txBox="1"/>
          <p:nvPr/>
        </p:nvSpPr>
        <p:spPr bwMode="gray">
          <a:xfrm>
            <a:off x="1852348" y="3563726"/>
            <a:ext cx="681041"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Risk Analytics</a:t>
            </a:r>
            <a:endParaRPr lang="en-IN" sz="1100" dirty="0">
              <a:solidFill>
                <a:srgbClr val="000000"/>
              </a:solidFill>
            </a:endParaRPr>
          </a:p>
        </p:txBody>
      </p:sp>
      <p:sp>
        <p:nvSpPr>
          <p:cNvPr id="50" name="TextBox 49"/>
          <p:cNvSpPr txBox="1"/>
          <p:nvPr/>
        </p:nvSpPr>
        <p:spPr bwMode="gray">
          <a:xfrm>
            <a:off x="2436613" y="4014042"/>
            <a:ext cx="605963"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Operations</a:t>
            </a:r>
            <a:endParaRPr lang="en-IN" sz="1100" dirty="0">
              <a:solidFill>
                <a:srgbClr val="000000"/>
              </a:solidFill>
            </a:endParaRPr>
          </a:p>
        </p:txBody>
      </p:sp>
      <p:sp>
        <p:nvSpPr>
          <p:cNvPr id="53" name="TextBox 52"/>
          <p:cNvSpPr txBox="1"/>
          <p:nvPr/>
        </p:nvSpPr>
        <p:spPr bwMode="gray">
          <a:xfrm>
            <a:off x="699281" y="4014042"/>
            <a:ext cx="1100035" cy="354833"/>
          </a:xfrm>
          <a:prstGeom prst="rect">
            <a:avLst/>
          </a:prstGeom>
        </p:spPr>
        <p:txBody>
          <a:bodyPr vert="horz" wrap="none" lIns="91440" tIns="45720" rIns="91440" bIns="45720" rtlCol="0" anchor="ctr">
            <a:noAutofit/>
          </a:bodyPr>
          <a:lstStyle/>
          <a:p>
            <a:pPr algn="ctr"/>
            <a:r>
              <a:rPr lang="en-IN" sz="1100" dirty="0" smtClean="0">
                <a:solidFill>
                  <a:srgbClr val="000000"/>
                </a:solidFill>
              </a:rPr>
              <a:t>Supply Chain</a:t>
            </a:r>
            <a:endParaRPr lang="en-IN" sz="1000" dirty="0">
              <a:solidFill>
                <a:srgbClr val="000000"/>
              </a:solidFill>
            </a:endParaRPr>
          </a:p>
        </p:txBody>
      </p:sp>
      <p:sp>
        <p:nvSpPr>
          <p:cNvPr id="55" name="TextBox 54"/>
          <p:cNvSpPr txBox="1"/>
          <p:nvPr/>
        </p:nvSpPr>
        <p:spPr bwMode="gray">
          <a:xfrm>
            <a:off x="472788" y="4828015"/>
            <a:ext cx="3307410" cy="1263954"/>
          </a:xfrm>
          <a:prstGeom prst="rect">
            <a:avLst/>
          </a:prstGeom>
        </p:spPr>
        <p:txBody>
          <a:bodyPr vert="horz" wrap="square" lIns="91440" tIns="45720" rIns="91440" bIns="45720" rtlCol="0" anchor="ctr">
            <a:noAutofit/>
          </a:bodyPr>
          <a:lstStyle/>
          <a:p>
            <a:pPr algn="ctr" defTabSz="457200"/>
            <a:r>
              <a:rPr lang="en-US" sz="1400" b="1" dirty="0">
                <a:solidFill>
                  <a:srgbClr val="5E5E5E">
                    <a:lumMod val="60000"/>
                    <a:lumOff val="40000"/>
                  </a:srgbClr>
                </a:solidFill>
                <a:cs typeface="Arial" charset="0"/>
              </a:rPr>
              <a:t>Profiling, Segmentation, Predictive Analytics, Machine Learning</a:t>
            </a:r>
          </a:p>
          <a:p>
            <a:pPr algn="ctr" defTabSz="457200"/>
            <a:r>
              <a:rPr lang="en-US" sz="1400" b="1" dirty="0">
                <a:solidFill>
                  <a:srgbClr val="5E5E5E">
                    <a:lumMod val="60000"/>
                    <a:lumOff val="40000"/>
                  </a:srgbClr>
                </a:solidFill>
                <a:cs typeface="Arial" charset="0"/>
              </a:rPr>
              <a:t>Quantitative Analytics, </a:t>
            </a:r>
            <a:r>
              <a:rPr lang="en-IN" sz="1400" b="1" dirty="0">
                <a:solidFill>
                  <a:srgbClr val="5E5E5E">
                    <a:lumMod val="60000"/>
                    <a:lumOff val="40000"/>
                  </a:srgbClr>
                </a:solidFill>
                <a:cs typeface="Arial" charset="0"/>
              </a:rPr>
              <a:t>Existing Customer management (cross-sell, up-sell), Pricing, Channel, Store, Online, Assortment, Risk, Digital, Operations, Prospecting  </a:t>
            </a:r>
          </a:p>
        </p:txBody>
      </p:sp>
      <p:sp>
        <p:nvSpPr>
          <p:cNvPr id="56" name="TextBox 55"/>
          <p:cNvSpPr txBox="1"/>
          <p:nvPr/>
        </p:nvSpPr>
        <p:spPr bwMode="gray">
          <a:xfrm>
            <a:off x="646262" y="4451531"/>
            <a:ext cx="2979196" cy="205610"/>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Advanced Analytic Solutions</a:t>
            </a:r>
            <a:endParaRPr lang="en-IN" sz="1800" dirty="0">
              <a:solidFill>
                <a:srgbClr val="000000"/>
              </a:solidFill>
            </a:endParaRPr>
          </a:p>
        </p:txBody>
      </p:sp>
      <p:grpSp>
        <p:nvGrpSpPr>
          <p:cNvPr id="58" name="Group 57"/>
          <p:cNvGrpSpPr/>
          <p:nvPr/>
        </p:nvGrpSpPr>
        <p:grpSpPr>
          <a:xfrm rot="16200000">
            <a:off x="5814434" y="3138145"/>
            <a:ext cx="827490" cy="1477908"/>
            <a:chOff x="6878550" y="2886966"/>
            <a:chExt cx="800806" cy="1430249"/>
          </a:xfrm>
        </p:grpSpPr>
        <p:sp>
          <p:nvSpPr>
            <p:cNvPr id="59" name="Oval 58"/>
            <p:cNvSpPr/>
            <p:nvPr/>
          </p:nvSpPr>
          <p:spPr>
            <a:xfrm>
              <a:off x="6897467" y="3535326"/>
              <a:ext cx="781889" cy="781889"/>
            </a:xfrm>
            <a:prstGeom prst="ellipse">
              <a:avLst/>
            </a:prstGeom>
            <a:solidFill>
              <a:schemeClr val="accent6">
                <a:lumMod val="75000"/>
                <a:alpha val="79000"/>
              </a:schemeClr>
            </a:solidFill>
            <a:ln>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050" dirty="0">
                  <a:solidFill>
                    <a:prstClr val="white"/>
                  </a:solidFill>
                </a:rPr>
                <a:t>Online</a:t>
              </a:r>
            </a:p>
            <a:p>
              <a:pPr algn="ctr"/>
              <a:r>
                <a:rPr lang="en-IN" sz="1050" dirty="0">
                  <a:solidFill>
                    <a:prstClr val="white"/>
                  </a:solidFill>
                </a:rPr>
                <a:t>Data</a:t>
              </a:r>
            </a:p>
          </p:txBody>
        </p:sp>
        <p:sp>
          <p:nvSpPr>
            <p:cNvPr id="60" name="Oval 59"/>
            <p:cNvSpPr/>
            <p:nvPr/>
          </p:nvSpPr>
          <p:spPr>
            <a:xfrm>
              <a:off x="6878550" y="2886966"/>
              <a:ext cx="781889" cy="781889"/>
            </a:xfrm>
            <a:prstGeom prst="ellipse">
              <a:avLst/>
            </a:prstGeom>
            <a:solidFill>
              <a:schemeClr val="tx2">
                <a:lumMod val="60000"/>
                <a:lumOff val="40000"/>
                <a:alpha val="79000"/>
              </a:schemeClr>
            </a:solidFill>
            <a:ln>
              <a:solidFill>
                <a:schemeClr val="tx2">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sz="1050" dirty="0">
                  <a:solidFill>
                    <a:prstClr val="white"/>
                  </a:solidFill>
                </a:rPr>
                <a:t>Offline</a:t>
              </a:r>
            </a:p>
            <a:p>
              <a:pPr algn="ctr"/>
              <a:r>
                <a:rPr lang="en-IN" sz="1050" dirty="0">
                  <a:solidFill>
                    <a:prstClr val="white"/>
                  </a:solidFill>
                </a:rPr>
                <a:t>Data</a:t>
              </a:r>
            </a:p>
          </p:txBody>
        </p:sp>
      </p:grpSp>
      <p:grpSp>
        <p:nvGrpSpPr>
          <p:cNvPr id="61" name="Group 60"/>
          <p:cNvGrpSpPr/>
          <p:nvPr/>
        </p:nvGrpSpPr>
        <p:grpSpPr>
          <a:xfrm>
            <a:off x="1623658" y="1784659"/>
            <a:ext cx="954046" cy="954046"/>
            <a:chOff x="1550288" y="4209766"/>
            <a:chExt cx="1142151" cy="1142151"/>
          </a:xfrm>
        </p:grpSpPr>
        <p:sp>
          <p:nvSpPr>
            <p:cNvPr id="62" name="Oval 61"/>
            <p:cNvSpPr/>
            <p:nvPr/>
          </p:nvSpPr>
          <p:spPr>
            <a:xfrm>
              <a:off x="1550288" y="4209766"/>
              <a:ext cx="1142151" cy="1142151"/>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63" name="Picture 10" descr="http://www.d2-analytics.com/images/business_analytics_4.jpg"/>
            <p:cNvPicPr>
              <a:picLocks noChangeAspect="1" noChangeArrowheads="1"/>
            </p:cNvPicPr>
            <p:nvPr/>
          </p:nvPicPr>
          <p:blipFill>
            <a:blip r:embed="rId10"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642802" y="4355256"/>
              <a:ext cx="930492" cy="91756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4" name="Group 63"/>
          <p:cNvGrpSpPr/>
          <p:nvPr/>
        </p:nvGrpSpPr>
        <p:grpSpPr>
          <a:xfrm>
            <a:off x="9450817" y="1784659"/>
            <a:ext cx="954046" cy="954046"/>
            <a:chOff x="9623954" y="2236108"/>
            <a:chExt cx="782029" cy="782029"/>
          </a:xfrm>
        </p:grpSpPr>
        <p:sp>
          <p:nvSpPr>
            <p:cNvPr id="65" name="Oval 64"/>
            <p:cNvSpPr/>
            <p:nvPr/>
          </p:nvSpPr>
          <p:spPr>
            <a:xfrm>
              <a:off x="9623954" y="2236108"/>
              <a:ext cx="782029" cy="782029"/>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66" name="Picture 12" descr="http://static1.squarespace.com/static/52f2e912e4b052b2dabe3343/t/536d2006e4b03a731bdb54b3/1392326037613/NETWORK%20ICON_87%20copy.png"/>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9702191" y="2335725"/>
              <a:ext cx="616675" cy="61500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7" name="Group 66"/>
          <p:cNvGrpSpPr/>
          <p:nvPr/>
        </p:nvGrpSpPr>
        <p:grpSpPr>
          <a:xfrm>
            <a:off x="5568971" y="1802508"/>
            <a:ext cx="954046" cy="954046"/>
            <a:chOff x="5742108" y="2253957"/>
            <a:chExt cx="782029" cy="782029"/>
          </a:xfrm>
        </p:grpSpPr>
        <p:sp>
          <p:nvSpPr>
            <p:cNvPr id="68" name="Oval 67"/>
            <p:cNvSpPr/>
            <p:nvPr/>
          </p:nvSpPr>
          <p:spPr>
            <a:xfrm>
              <a:off x="5742108" y="2253957"/>
              <a:ext cx="782029" cy="782029"/>
            </a:xfrm>
            <a:prstGeom prst="ellipse">
              <a:avLst/>
            </a:prstGeom>
            <a:solidFill>
              <a:schemeClr val="bg1"/>
            </a:solid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69" name="Picture 16" descr="https://cdn3.iconfinder.com/data/icons/chemistry-1/512/DNA_binary_code-128.png"/>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5890895" y="2394743"/>
              <a:ext cx="484454" cy="484454"/>
            </a:xfrm>
            <a:prstGeom prst="rect">
              <a:avLst/>
            </a:prstGeom>
            <a:noFill/>
            <a:extLst>
              <a:ext uri="{909E8E84-426E-40DD-AFC4-6F175D3DCCD1}">
                <a14:hiddenFill xmlns:a14="http://schemas.microsoft.com/office/drawing/2010/main">
                  <a:solidFill>
                    <a:srgbClr val="FFFFFF"/>
                  </a:solidFill>
                </a14:hiddenFill>
              </a:ext>
            </a:extLst>
          </p:spPr>
        </p:pic>
      </p:grpSp>
      <p:pic>
        <p:nvPicPr>
          <p:cNvPr id="70" name="Picture 69"/>
          <p:cNvPicPr>
            <a:picLocks noChangeAspect="1"/>
          </p:cNvPicPr>
          <p:nvPr/>
        </p:nvPicPr>
        <p:blipFill>
          <a:blip r:embed="rId1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509845" y="2875903"/>
            <a:ext cx="920796" cy="883466"/>
          </a:xfrm>
          <a:prstGeom prst="rect">
            <a:avLst/>
          </a:prstGeom>
        </p:spPr>
      </p:pic>
      <p:pic>
        <p:nvPicPr>
          <p:cNvPr id="71" name="Picture 70"/>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6320319" y="2332116"/>
            <a:ext cx="1496810" cy="1150784"/>
          </a:xfrm>
          <a:prstGeom prst="rect">
            <a:avLst/>
          </a:prstGeom>
        </p:spPr>
      </p:pic>
      <p:pic>
        <p:nvPicPr>
          <p:cNvPr id="72" name="Picture 71"/>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9852457" y="2821601"/>
            <a:ext cx="192322" cy="357169"/>
          </a:xfrm>
          <a:prstGeom prst="rect">
            <a:avLst/>
          </a:prstGeom>
        </p:spPr>
      </p:pic>
      <p:sp>
        <p:nvSpPr>
          <p:cNvPr id="73" name="TextBox 72"/>
          <p:cNvSpPr txBox="1"/>
          <p:nvPr/>
        </p:nvSpPr>
        <p:spPr bwMode="gray">
          <a:xfrm>
            <a:off x="8430470" y="3708130"/>
            <a:ext cx="1100035" cy="354833"/>
          </a:xfrm>
          <a:prstGeom prst="rect">
            <a:avLst/>
          </a:prstGeom>
        </p:spPr>
        <p:txBody>
          <a:bodyPr vert="horz" wrap="none" lIns="91440" tIns="45720" rIns="91440" bIns="45720" rtlCol="0" anchor="ctr">
            <a:noAutofit/>
          </a:bodyPr>
          <a:lstStyle/>
          <a:p>
            <a:pPr algn="ctr"/>
            <a:r>
              <a:rPr lang="en-IN" sz="1400" smtClean="0">
                <a:solidFill>
                  <a:srgbClr val="000000"/>
                </a:solidFill>
              </a:rPr>
              <a:t>TSSS’15</a:t>
            </a:r>
            <a:endParaRPr lang="en-IN" sz="1400" dirty="0">
              <a:solidFill>
                <a:srgbClr val="000000"/>
              </a:solidFill>
            </a:endParaRPr>
          </a:p>
        </p:txBody>
      </p:sp>
      <p:sp>
        <p:nvSpPr>
          <p:cNvPr id="74" name="TextBox 73"/>
          <p:cNvSpPr txBox="1"/>
          <p:nvPr/>
        </p:nvSpPr>
        <p:spPr bwMode="gray">
          <a:xfrm>
            <a:off x="9445656" y="3211353"/>
            <a:ext cx="1100035" cy="205589"/>
          </a:xfrm>
          <a:prstGeom prst="rect">
            <a:avLst/>
          </a:prstGeom>
        </p:spPr>
        <p:txBody>
          <a:bodyPr vert="horz" wrap="none" lIns="91440" tIns="45720" rIns="91440" bIns="45720" rtlCol="0" anchor="ctr">
            <a:noAutofit/>
          </a:bodyPr>
          <a:lstStyle/>
          <a:p>
            <a:pPr algn="ctr"/>
            <a:r>
              <a:rPr lang="en-IN" sz="1400" dirty="0" err="1" smtClean="0">
                <a:solidFill>
                  <a:srgbClr val="000000"/>
                </a:solidFill>
              </a:rPr>
              <a:t>ShopsAPP</a:t>
            </a:r>
            <a:endParaRPr lang="en-IN" sz="1400" dirty="0">
              <a:solidFill>
                <a:srgbClr val="000000"/>
              </a:solidFill>
            </a:endParaRPr>
          </a:p>
        </p:txBody>
      </p:sp>
      <p:pic>
        <p:nvPicPr>
          <p:cNvPr id="75" name="Picture 22" descr="http://www.businessexpocenter.com/resource/resmgr/affiliate_programs_icon_75.png"/>
          <p:cNvPicPr>
            <a:picLocks noChangeAspect="1" noChangeArrowheads="1"/>
          </p:cNvPicPr>
          <p:nvPr/>
        </p:nvPicPr>
        <p:blipFill>
          <a:blip r:embed="rId16"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448950" y="2864511"/>
            <a:ext cx="973911" cy="676187"/>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p:cNvSpPr txBox="1"/>
          <p:nvPr/>
        </p:nvSpPr>
        <p:spPr bwMode="gray">
          <a:xfrm>
            <a:off x="10463023" y="3583074"/>
            <a:ext cx="1100035" cy="354833"/>
          </a:xfrm>
          <a:prstGeom prst="rect">
            <a:avLst/>
          </a:prstGeom>
        </p:spPr>
        <p:txBody>
          <a:bodyPr vert="horz" wrap="none" lIns="91440" tIns="45720" rIns="91440" bIns="45720" rtlCol="0" anchor="ctr">
            <a:noAutofit/>
          </a:bodyPr>
          <a:lstStyle/>
          <a:p>
            <a:pPr algn="ctr"/>
            <a:r>
              <a:rPr lang="en-IN" sz="1400" dirty="0">
                <a:solidFill>
                  <a:srgbClr val="000000"/>
                </a:solidFill>
              </a:rPr>
              <a:t>Affiliate </a:t>
            </a:r>
          </a:p>
          <a:p>
            <a:pPr algn="ctr"/>
            <a:r>
              <a:rPr lang="en-IN" sz="1400" dirty="0">
                <a:solidFill>
                  <a:srgbClr val="000000"/>
                </a:solidFill>
              </a:rPr>
              <a:t>Marketing</a:t>
            </a:r>
          </a:p>
        </p:txBody>
      </p:sp>
      <p:pic>
        <p:nvPicPr>
          <p:cNvPr id="77" name="Picture 24" descr="https://encrypted-tbn0.gstatic.com/images?q=tbn:ANd9GcTp2Q72evBRMBCXyt7L9AyX-dWTT6cUj52C3z9LgGqokZx3IQdCvQ"/>
          <p:cNvPicPr>
            <a:picLocks noChangeAspect="1" noChangeArrowheads="1"/>
          </p:cNvPicPr>
          <p:nvPr/>
        </p:nvPicPr>
        <p:blipFill>
          <a:blip r:embed="rId17" cstate="email">
            <a:clrChange>
              <a:clrFrom>
                <a:srgbClr val="FEFEFE"/>
              </a:clrFrom>
              <a:clrTo>
                <a:srgbClr val="FEFEFE">
                  <a:alpha val="0"/>
                </a:srgbClr>
              </a:clrTo>
            </a:clrChange>
            <a:extLst>
              <a:ext uri="{28A0092B-C50C-407E-A947-70E740481C1C}">
                <a14:useLocalDpi xmlns:a14="http://schemas.microsoft.com/office/drawing/2010/main"/>
              </a:ext>
            </a:extLst>
          </a:blip>
          <a:srcRect/>
          <a:stretch>
            <a:fillRect/>
          </a:stretch>
        </p:blipFill>
        <p:spPr bwMode="auto">
          <a:xfrm>
            <a:off x="9428290" y="3566571"/>
            <a:ext cx="1040656" cy="638172"/>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p:cNvSpPr txBox="1"/>
          <p:nvPr/>
        </p:nvSpPr>
        <p:spPr bwMode="gray">
          <a:xfrm>
            <a:off x="9428290" y="4113552"/>
            <a:ext cx="1100035" cy="184503"/>
          </a:xfrm>
          <a:prstGeom prst="rect">
            <a:avLst/>
          </a:prstGeom>
        </p:spPr>
        <p:txBody>
          <a:bodyPr vert="horz" wrap="none" lIns="91440" tIns="45720" rIns="91440" bIns="45720" rtlCol="0" anchor="ctr">
            <a:noAutofit/>
          </a:bodyPr>
          <a:lstStyle/>
          <a:p>
            <a:pPr algn="ctr"/>
            <a:r>
              <a:rPr lang="en-IN" sz="1400" dirty="0">
                <a:solidFill>
                  <a:srgbClr val="000000"/>
                </a:solidFill>
              </a:rPr>
              <a:t>Group-wide Loyalty</a:t>
            </a:r>
          </a:p>
        </p:txBody>
      </p:sp>
      <p:sp>
        <p:nvSpPr>
          <p:cNvPr id="79" name="TextBox 78"/>
          <p:cNvSpPr txBox="1"/>
          <p:nvPr/>
        </p:nvSpPr>
        <p:spPr bwMode="gray">
          <a:xfrm>
            <a:off x="8980487" y="4520610"/>
            <a:ext cx="2134384" cy="204693"/>
          </a:xfrm>
          <a:prstGeom prst="rect">
            <a:avLst/>
          </a:prstGeom>
          <a:noFill/>
          <a:ln>
            <a:noFill/>
          </a:ln>
        </p:spPr>
        <p:txBody>
          <a:bodyPr vert="horz" wrap="square" lIns="91440" tIns="45720" rIns="91440" bIns="45720" rtlCol="0" anchor="ctr">
            <a:noAutofit/>
          </a:bodyPr>
          <a:lstStyle>
            <a:defPPr>
              <a:defRPr lang="en-US"/>
            </a:defPPr>
            <a:lvl1pPr algn="ctr">
              <a:defRPr sz="1000" b="1">
                <a:latin typeface="Calibri" panose="020F0502020204030204" pitchFamily="34" charset="0"/>
              </a:defRPr>
            </a:lvl1pPr>
          </a:lstStyle>
          <a:p>
            <a:r>
              <a:rPr lang="en-IN" sz="1800" dirty="0" smtClean="0">
                <a:solidFill>
                  <a:srgbClr val="000000"/>
                </a:solidFill>
              </a:rPr>
              <a:t>Building One Tata</a:t>
            </a:r>
            <a:endParaRPr lang="en-IN" sz="1800" dirty="0">
              <a:solidFill>
                <a:srgbClr val="000000"/>
              </a:solidFill>
            </a:endParaRPr>
          </a:p>
        </p:txBody>
      </p:sp>
      <p:sp>
        <p:nvSpPr>
          <p:cNvPr id="80" name="Rectangle 79"/>
          <p:cNvSpPr/>
          <p:nvPr/>
        </p:nvSpPr>
        <p:spPr>
          <a:xfrm>
            <a:off x="7852786" y="4869328"/>
            <a:ext cx="3778185" cy="1169551"/>
          </a:xfrm>
          <a:prstGeom prst="rect">
            <a:avLst/>
          </a:prstGeom>
        </p:spPr>
        <p:txBody>
          <a:bodyPr wrap="square">
            <a:spAutoFit/>
          </a:bodyPr>
          <a:lstStyle/>
          <a:p>
            <a:pPr lvl="1" algn="ctr"/>
            <a:r>
              <a:rPr lang="en-IN" sz="1400" b="1" dirty="0">
                <a:solidFill>
                  <a:srgbClr val="5E5E5E">
                    <a:lumMod val="60000"/>
                    <a:lumOff val="40000"/>
                  </a:srgbClr>
                </a:solidFill>
                <a:cs typeface="Arial" charset="0"/>
              </a:rPr>
              <a:t>Unified customer </a:t>
            </a:r>
            <a:r>
              <a:rPr lang="en-IN" sz="1400" b="1" dirty="0" smtClean="0">
                <a:solidFill>
                  <a:srgbClr val="5E5E5E">
                    <a:lumMod val="60000"/>
                    <a:lumOff val="40000"/>
                  </a:srgbClr>
                </a:solidFill>
                <a:cs typeface="Arial" charset="0"/>
              </a:rPr>
              <a:t>view, Maximize </a:t>
            </a:r>
            <a:r>
              <a:rPr lang="en-IN" sz="1400" b="1" dirty="0">
                <a:solidFill>
                  <a:srgbClr val="5E5E5E">
                    <a:lumMod val="60000"/>
                    <a:lumOff val="40000"/>
                  </a:srgbClr>
                </a:solidFill>
                <a:cs typeface="Arial" charset="0"/>
              </a:rPr>
              <a:t>Revenue</a:t>
            </a:r>
          </a:p>
          <a:p>
            <a:pPr lvl="1" algn="ctr"/>
            <a:r>
              <a:rPr lang="en-IN" sz="1400" b="1" dirty="0">
                <a:solidFill>
                  <a:srgbClr val="5E5E5E">
                    <a:lumMod val="60000"/>
                    <a:lumOff val="40000"/>
                  </a:srgbClr>
                </a:solidFill>
                <a:cs typeface="Arial" charset="0"/>
              </a:rPr>
              <a:t>Minimize </a:t>
            </a:r>
            <a:r>
              <a:rPr lang="en-IN" sz="1400" b="1" dirty="0" smtClean="0">
                <a:solidFill>
                  <a:srgbClr val="5E5E5E">
                    <a:lumMod val="60000"/>
                    <a:lumOff val="40000"/>
                  </a:srgbClr>
                </a:solidFill>
                <a:cs typeface="Arial" charset="0"/>
              </a:rPr>
              <a:t>Expenses,</a:t>
            </a:r>
            <a:endParaRPr lang="en-IN" sz="1400" b="1" dirty="0">
              <a:solidFill>
                <a:srgbClr val="5E5E5E">
                  <a:lumMod val="60000"/>
                  <a:lumOff val="40000"/>
                </a:srgbClr>
              </a:solidFill>
              <a:cs typeface="Arial" charset="0"/>
            </a:endParaRPr>
          </a:p>
          <a:p>
            <a:pPr lvl="1" algn="ctr"/>
            <a:r>
              <a:rPr lang="en-IN" sz="1400" b="1" dirty="0">
                <a:solidFill>
                  <a:srgbClr val="5E5E5E">
                    <a:lumMod val="60000"/>
                    <a:lumOff val="40000"/>
                  </a:srgbClr>
                </a:solidFill>
                <a:cs typeface="Arial" charset="0"/>
              </a:rPr>
              <a:t>Encompassing Loyalty mitigate risks, superior customer experience, sales/revenue growth </a:t>
            </a:r>
          </a:p>
        </p:txBody>
      </p:sp>
      <p:cxnSp>
        <p:nvCxnSpPr>
          <p:cNvPr id="82" name="Straight Connector 81"/>
          <p:cNvCxnSpPr/>
          <p:nvPr/>
        </p:nvCxnSpPr>
        <p:spPr>
          <a:xfrm>
            <a:off x="472788" y="4769191"/>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382912" y="4820436"/>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8329827" y="4820436"/>
            <a:ext cx="32969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5" name="Picture 84"/>
          <p:cNvPicPr>
            <a:picLocks noChangeAspect="1"/>
          </p:cNvPicPr>
          <p:nvPr/>
        </p:nvPicPr>
        <p:blipFill>
          <a:blip r:embed="rId18"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41612" y="3457374"/>
            <a:ext cx="625169" cy="625169"/>
          </a:xfrm>
          <a:prstGeom prst="rect">
            <a:avLst/>
          </a:prstGeom>
        </p:spPr>
      </p:pic>
      <p:pic>
        <p:nvPicPr>
          <p:cNvPr id="86" name="Picture 10" descr="https://encrypted-tbn3.gstatic.com/images?q=tbn:ANd9GcSD-3EzO6E8A8YH_E1QeV--zMX3M-uOeZkKLMhkGbZj5ZZKtqZ3pg"/>
          <p:cNvPicPr>
            <a:picLocks noChangeAspect="1" noChangeArrowheads="1"/>
          </p:cNvPicPr>
          <p:nvPr/>
        </p:nvPicPr>
        <p:blipFill>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1226465">
            <a:off x="723904" y="2505823"/>
            <a:ext cx="871614" cy="61143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38" descr="https://i.ytimg.com/vi/w-CK8VxMz9g/maxresdefault.jpg"/>
          <p:cNvPicPr>
            <a:picLocks noChangeAspect="1" noChangeArrowheads="1"/>
          </p:cNvPicPr>
          <p:nvPr/>
        </p:nvPicPr>
        <p:blipFill>
          <a:blip r:embed="rId20"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765504" y="3100181"/>
            <a:ext cx="810187" cy="60764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89"/>
          <p:cNvPicPr>
            <a:picLocks noChangeAspect="1"/>
          </p:cNvPicPr>
          <p:nvPr/>
        </p:nvPicPr>
        <p:blipFill>
          <a:blip r:embed="rId21"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2905673" y="2502481"/>
            <a:ext cx="629705" cy="549627"/>
          </a:xfrm>
          <a:prstGeom prst="rect">
            <a:avLst/>
          </a:prstGeom>
        </p:spPr>
      </p:pic>
      <p:pic>
        <p:nvPicPr>
          <p:cNvPr id="1026" name="Picture 2" descr="http://www.operationsmanager.com/wp-content/uploads/2015/02/secret-weapon.png"/>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2659127" y="3526610"/>
            <a:ext cx="971024" cy="776820"/>
          </a:xfrm>
          <a:prstGeom prst="rect">
            <a:avLst/>
          </a:prstGeom>
          <a:noFill/>
          <a:extLst>
            <a:ext uri="{909E8E84-426E-40DD-AFC4-6F175D3DCCD1}">
              <a14:hiddenFill xmlns:a14="http://schemas.microsoft.com/office/drawing/2010/main">
                <a:solidFill>
                  <a:srgbClr val="FFFFFF"/>
                </a:solidFill>
              </a14:hiddenFill>
            </a:ext>
          </a:extLst>
        </p:spPr>
      </p:pic>
      <p:sp>
        <p:nvSpPr>
          <p:cNvPr id="81" name="Slide Number Placeholder 3"/>
          <p:cNvSpPr>
            <a:spLocks noGrp="1"/>
          </p:cNvSpPr>
          <p:nvPr>
            <p:ph type="sldNum" sz="quarter" idx="12"/>
          </p:nvPr>
        </p:nvSpPr>
        <p:spPr>
          <a:xfrm>
            <a:off x="9448800" y="6350"/>
            <a:ext cx="2743200" cy="365125"/>
          </a:xfrm>
        </p:spPr>
        <p:txBody>
          <a:bodyPr/>
          <a:lstStyle/>
          <a:p>
            <a:r>
              <a:rPr lang="en-IN" dirty="0"/>
              <a:t>5</a:t>
            </a:r>
          </a:p>
        </p:txBody>
      </p:sp>
    </p:spTree>
    <p:extLst>
      <p:ext uri="{BB962C8B-B14F-4D97-AF65-F5344CB8AC3E}">
        <p14:creationId xmlns:p14="http://schemas.microsoft.com/office/powerpoint/2010/main" val="4572908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sp>
        <p:nvSpPr>
          <p:cNvPr id="3" name="Rectangle 2"/>
          <p:cNvSpPr/>
          <p:nvPr/>
        </p:nvSpPr>
        <p:spPr>
          <a:xfrm>
            <a:off x="0" y="0"/>
            <a:ext cx="12192000" cy="54102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8" name="Group 7"/>
          <p:cNvGrpSpPr/>
          <p:nvPr/>
        </p:nvGrpSpPr>
        <p:grpSpPr>
          <a:xfrm>
            <a:off x="2695024" y="2547738"/>
            <a:ext cx="6701964" cy="1357691"/>
            <a:chOff x="2695024" y="1960714"/>
            <a:chExt cx="6701964" cy="1357691"/>
          </a:xfrm>
        </p:grpSpPr>
        <p:sp>
          <p:nvSpPr>
            <p:cNvPr id="5" name="Rectangle 4"/>
            <p:cNvSpPr/>
            <p:nvPr/>
          </p:nvSpPr>
          <p:spPr>
            <a:xfrm>
              <a:off x="6006377" y="1960714"/>
              <a:ext cx="184731" cy="1200329"/>
            </a:xfrm>
            <a:prstGeom prst="rect">
              <a:avLst/>
            </a:prstGeom>
          </p:spPr>
          <p:txBody>
            <a:bodyPr wrap="none">
              <a:spAutoFit/>
            </a:bodyPr>
            <a:lstStyle/>
            <a:p>
              <a:pPr algn="ctr"/>
              <a:endParaRPr lang="en-IN" sz="7200" dirty="0">
                <a:ln/>
                <a:solidFill>
                  <a:prstClr val="white"/>
                </a:solidFill>
                <a:latin typeface="Leelawadee UI" panose="020B0502040204020203" pitchFamily="34" charset="-34"/>
                <a:cs typeface="Leelawadee UI" panose="020B0502040204020203" pitchFamily="34" charset="-34"/>
              </a:endParaRPr>
            </a:p>
          </p:txBody>
        </p:sp>
        <p:sp>
          <p:nvSpPr>
            <p:cNvPr id="31" name="Rectangle 30"/>
            <p:cNvSpPr/>
            <p:nvPr/>
          </p:nvSpPr>
          <p:spPr>
            <a:xfrm>
              <a:off x="2695024" y="2118076"/>
              <a:ext cx="6701964" cy="1200329"/>
            </a:xfrm>
            <a:prstGeom prst="rect">
              <a:avLst/>
            </a:prstGeom>
          </p:spPr>
          <p:txBody>
            <a:bodyPr wrap="none">
              <a:spAutoFit/>
            </a:bodyPr>
            <a:lstStyle/>
            <a:p>
              <a:pPr algn="ctr"/>
              <a:r>
                <a:rPr lang="en-IN" sz="7200" dirty="0" smtClean="0">
                  <a:ln/>
                  <a:solidFill>
                    <a:prstClr val="white"/>
                  </a:solidFill>
                  <a:latin typeface="Leelawadee UI" panose="020B0502040204020203" pitchFamily="34" charset="-34"/>
                  <a:cs typeface="Leelawadee UI" panose="020B0502040204020203" pitchFamily="34" charset="-34"/>
                </a:rPr>
                <a:t>Digital Analytics</a:t>
              </a:r>
              <a:endParaRPr lang="en-IN" sz="7200" dirty="0">
                <a:ln/>
                <a:solidFill>
                  <a:prstClr val="white"/>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726264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924808" y="291779"/>
              <a:ext cx="6342442"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Digital &amp; Social Analytics by 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a:t>
              </a:r>
            </a:p>
          </p:txBody>
        </p:sp>
      </p:grpSp>
      <p:graphicFrame>
        <p:nvGraphicFramePr>
          <p:cNvPr id="50" name="Table 49"/>
          <p:cNvGraphicFramePr>
            <a:graphicFrameLocks noGrp="1"/>
          </p:cNvGraphicFramePr>
          <p:nvPr>
            <p:extLst>
              <p:ext uri="{D42A27DB-BD31-4B8C-83A1-F6EECF244321}">
                <p14:modId xmlns:p14="http://schemas.microsoft.com/office/powerpoint/2010/main" val="1980113890"/>
              </p:ext>
            </p:extLst>
          </p:nvPr>
        </p:nvGraphicFramePr>
        <p:xfrm>
          <a:off x="737402" y="3627283"/>
          <a:ext cx="3192914" cy="1847889"/>
        </p:xfrm>
        <a:graphic>
          <a:graphicData uri="http://schemas.openxmlformats.org/drawingml/2006/table">
            <a:tbl>
              <a:tblPr firstRow="1" bandRow="1"/>
              <a:tblGrid>
                <a:gridCol w="3192914"/>
              </a:tblGrid>
              <a:tr h="365127">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marR="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Website</a:t>
                      </a:r>
                      <a:r>
                        <a:rPr lang="en-IN" sz="1600" baseline="0" dirty="0" smtClean="0">
                          <a:latin typeface="Leelawadee" panose="020B0502040204020203" pitchFamily="34" charset="-34"/>
                          <a:cs typeface="Leelawadee" panose="020B0502040204020203" pitchFamily="34" charset="-34"/>
                        </a:rPr>
                        <a:t> </a:t>
                      </a:r>
                      <a:r>
                        <a:rPr lang="en-IN" sz="1600" b="0" dirty="0" smtClean="0">
                          <a:latin typeface="Leelawadee" panose="020B0502040204020203" pitchFamily="34" charset="-34"/>
                          <a:cs typeface="Leelawadee" panose="020B0502040204020203" pitchFamily="34" charset="-34"/>
                        </a:rPr>
                        <a:t>Diagnosis</a:t>
                      </a:r>
                    </a:p>
                  </a:txBody>
                  <a:tcPr anchor="ctr">
                    <a:lnL>
                      <a:noFill/>
                    </a:lnL>
                    <a:lnR>
                      <a:noFill/>
                    </a:lnR>
                    <a:lnT>
                      <a:noFill/>
                    </a:lnT>
                    <a:lnB>
                      <a:noFill/>
                    </a:lnB>
                    <a:lnTlToBr w="12700" cmpd="sng">
                      <a:noFill/>
                      <a:prstDash val="solid"/>
                    </a:lnTlToBr>
                    <a:lnBlToTr w="12700" cmpd="sng">
                      <a:noFill/>
                      <a:prstDash val="solid"/>
                    </a:lnBlToTr>
                    <a:noFill/>
                  </a:tcPr>
                </a:tc>
              </a:tr>
              <a:tr h="341180">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Lead</a:t>
                      </a:r>
                      <a:r>
                        <a:rPr lang="en-IN" sz="1600" baseline="0" dirty="0" smtClean="0">
                          <a:latin typeface="Leelawadee" panose="020B0502040204020203" pitchFamily="34" charset="-34"/>
                          <a:cs typeface="Leelawadee" panose="020B0502040204020203" pitchFamily="34" charset="-34"/>
                        </a:rPr>
                        <a:t> Funnel Analysis </a:t>
                      </a:r>
                      <a:endParaRPr lang="en-IN" sz="1600" b="1" dirty="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402303">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Website Feature Analysis </a:t>
                      </a:r>
                    </a:p>
                  </a:txBody>
                  <a:tcPr anchor="ctr">
                    <a:lnL>
                      <a:noFill/>
                    </a:lnL>
                    <a:lnR>
                      <a:noFill/>
                    </a:lnR>
                    <a:lnT>
                      <a:noFill/>
                    </a:lnT>
                    <a:lnB>
                      <a:noFill/>
                    </a:lnB>
                    <a:lnTlToBr w="12700" cmpd="sng">
                      <a:noFill/>
                      <a:prstDash val="solid"/>
                    </a:lnTlToBr>
                    <a:lnBlToTr w="12700" cmpd="sng">
                      <a:noFill/>
                      <a:prstDash val="solid"/>
                    </a:lnBlToTr>
                    <a:noFill/>
                  </a:tcPr>
                </a:tc>
              </a:tr>
              <a:tr h="282844">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Personalization </a:t>
                      </a:r>
                    </a:p>
                  </a:txBody>
                  <a:tcPr anchor="ctr">
                    <a:lnL>
                      <a:noFill/>
                    </a:lnL>
                    <a:lnR>
                      <a:noFill/>
                    </a:lnR>
                    <a:lnT>
                      <a:noFill/>
                    </a:lnT>
                    <a:lnB>
                      <a:noFill/>
                    </a:lnB>
                    <a:lnTlToBr w="12700" cmpd="sng">
                      <a:noFill/>
                      <a:prstDash val="solid"/>
                    </a:lnTlToBr>
                    <a:lnBlToTr w="12700" cmpd="sng">
                      <a:noFill/>
                      <a:prstDash val="solid"/>
                    </a:lnBlToTr>
                    <a:noFill/>
                  </a:tcPr>
                </a:tc>
              </a:tr>
              <a:tr h="403999">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indent="-285750" algn="l">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Segmentation &amp; Retargeting</a:t>
                      </a:r>
                      <a:endParaRPr lang="en-IN" sz="1600" b="1" dirty="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bl>
          </a:graphicData>
        </a:graphic>
      </p:graphicFrame>
      <p:graphicFrame>
        <p:nvGraphicFramePr>
          <p:cNvPr id="51" name="Table 50"/>
          <p:cNvGraphicFramePr>
            <a:graphicFrameLocks noGrp="1"/>
          </p:cNvGraphicFramePr>
          <p:nvPr>
            <p:extLst>
              <p:ext uri="{D42A27DB-BD31-4B8C-83A1-F6EECF244321}">
                <p14:modId xmlns:p14="http://schemas.microsoft.com/office/powerpoint/2010/main" val="4203301616"/>
              </p:ext>
            </p:extLst>
          </p:nvPr>
        </p:nvGraphicFramePr>
        <p:xfrm>
          <a:off x="8206890" y="3570712"/>
          <a:ext cx="3804063" cy="1904459"/>
        </p:xfrm>
        <a:graphic>
          <a:graphicData uri="http://schemas.openxmlformats.org/drawingml/2006/table">
            <a:tbl>
              <a:tblPr firstRow="1" bandRow="1"/>
              <a:tblGrid>
                <a:gridCol w="3804063"/>
              </a:tblGrid>
              <a:tr h="442553">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742950" lvl="1"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Social Reach &amp; Engagement</a:t>
                      </a:r>
                      <a:endParaRPr lang="en-IN" sz="1600" b="1" dirty="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360652">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Sentiment Analysis </a:t>
                      </a:r>
                      <a:endParaRPr lang="en-IN" sz="1600" b="1" dirty="0" smtClean="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385196">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Voice of Customer</a:t>
                      </a:r>
                      <a:endParaRPr lang="en-IN" sz="1600" b="1" dirty="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373522">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Brand Topic</a:t>
                      </a:r>
                      <a:endParaRPr lang="en-IN" sz="1600" b="1" dirty="0" smtClean="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342536">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Social Campaign</a:t>
                      </a:r>
                      <a:endParaRPr lang="en-IN" sz="1600" b="1" dirty="0" smtClean="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bl>
          </a:graphicData>
        </a:graphic>
      </p:graphicFrame>
      <p:graphicFrame>
        <p:nvGraphicFramePr>
          <p:cNvPr id="52" name="Table 51"/>
          <p:cNvGraphicFramePr>
            <a:graphicFrameLocks noGrp="1"/>
          </p:cNvGraphicFramePr>
          <p:nvPr>
            <p:extLst>
              <p:ext uri="{D42A27DB-BD31-4B8C-83A1-F6EECF244321}">
                <p14:modId xmlns:p14="http://schemas.microsoft.com/office/powerpoint/2010/main" val="3301540739"/>
              </p:ext>
            </p:extLst>
          </p:nvPr>
        </p:nvGraphicFramePr>
        <p:xfrm>
          <a:off x="4824698" y="3730786"/>
          <a:ext cx="2883272" cy="1655602"/>
        </p:xfrm>
        <a:graphic>
          <a:graphicData uri="http://schemas.openxmlformats.org/drawingml/2006/table">
            <a:tbl>
              <a:tblPr firstRow="1" bandRow="1"/>
              <a:tblGrid>
                <a:gridCol w="2883272"/>
              </a:tblGrid>
              <a:tr h="424321">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lvl="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Digital Benchmarking</a:t>
                      </a:r>
                      <a:endParaRPr lang="en-IN" sz="1600" b="1" dirty="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441950">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Traffic Source Insights</a:t>
                      </a:r>
                      <a:endParaRPr lang="en-IN" sz="1600" b="1" dirty="0" smtClean="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361272">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Keywords Analysis</a:t>
                      </a:r>
                      <a:endParaRPr lang="en-IN" sz="1600" b="1" dirty="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r h="428059">
                <a:tc>
                  <a:txBody>
                    <a:bodyPr/>
                    <a:lstStyle>
                      <a:lvl1pPr marL="0" algn="l" defTabSz="914400" rtl="0" eaLnBrk="1" latinLnBrk="0" hangingPunct="1">
                        <a:defRPr sz="1800" kern="1200">
                          <a:solidFill>
                            <a:schemeClr val="tx1"/>
                          </a:solidFill>
                          <a:latin typeface="Century Gothic"/>
                        </a:defRPr>
                      </a:lvl1pPr>
                      <a:lvl2pPr marL="457200" algn="l" defTabSz="914400" rtl="0" eaLnBrk="1" latinLnBrk="0" hangingPunct="1">
                        <a:defRPr sz="1800" kern="1200">
                          <a:solidFill>
                            <a:schemeClr val="tx1"/>
                          </a:solidFill>
                          <a:latin typeface="Century Gothic"/>
                        </a:defRPr>
                      </a:lvl2pPr>
                      <a:lvl3pPr marL="914400" algn="l" defTabSz="914400" rtl="0" eaLnBrk="1" latinLnBrk="0" hangingPunct="1">
                        <a:defRPr sz="1800" kern="1200">
                          <a:solidFill>
                            <a:schemeClr val="tx1"/>
                          </a:solidFill>
                          <a:latin typeface="Century Gothic"/>
                        </a:defRPr>
                      </a:lvl3pPr>
                      <a:lvl4pPr marL="1371600" algn="l" defTabSz="914400" rtl="0" eaLnBrk="1" latinLnBrk="0" hangingPunct="1">
                        <a:defRPr sz="1800" kern="1200">
                          <a:solidFill>
                            <a:schemeClr val="tx1"/>
                          </a:solidFill>
                          <a:latin typeface="Century Gothic"/>
                        </a:defRPr>
                      </a:lvl4pPr>
                      <a:lvl5pPr marL="1828800" algn="l" defTabSz="914400" rtl="0" eaLnBrk="1" latinLnBrk="0" hangingPunct="1">
                        <a:defRPr sz="1800" kern="1200">
                          <a:solidFill>
                            <a:schemeClr val="tx1"/>
                          </a:solidFill>
                          <a:latin typeface="Century Gothic"/>
                        </a:defRPr>
                      </a:lvl5pPr>
                      <a:lvl6pPr marL="2286000" algn="l" defTabSz="914400" rtl="0" eaLnBrk="1" latinLnBrk="0" hangingPunct="1">
                        <a:defRPr sz="1800" kern="1200">
                          <a:solidFill>
                            <a:schemeClr val="tx1"/>
                          </a:solidFill>
                          <a:latin typeface="Century Gothic"/>
                        </a:defRPr>
                      </a:lvl6pPr>
                      <a:lvl7pPr marL="2743200" algn="l" defTabSz="914400" rtl="0" eaLnBrk="1" latinLnBrk="0" hangingPunct="1">
                        <a:defRPr sz="1800" kern="1200">
                          <a:solidFill>
                            <a:schemeClr val="tx1"/>
                          </a:solidFill>
                          <a:latin typeface="Century Gothic"/>
                        </a:defRPr>
                      </a:lvl7pPr>
                      <a:lvl8pPr marL="3200400" algn="l" defTabSz="914400" rtl="0" eaLnBrk="1" latinLnBrk="0" hangingPunct="1">
                        <a:defRPr sz="1800" kern="1200">
                          <a:solidFill>
                            <a:schemeClr val="tx1"/>
                          </a:solidFill>
                          <a:latin typeface="Century Gothic"/>
                        </a:defRPr>
                      </a:lvl8pPr>
                      <a:lvl9pPr marL="3657600" algn="l" defTabSz="914400" rtl="0" eaLnBrk="1" latinLnBrk="0" hangingPunct="1">
                        <a:defRPr sz="1800" kern="1200">
                          <a:solidFill>
                            <a:schemeClr val="tx1"/>
                          </a:solidFill>
                          <a:latin typeface="Century Gothic"/>
                        </a:defRPr>
                      </a:lvl9p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dirty="0" smtClean="0">
                          <a:latin typeface="Leelawadee" panose="020B0502040204020203" pitchFamily="34" charset="-34"/>
                          <a:cs typeface="Leelawadee" panose="020B0502040204020203" pitchFamily="34" charset="-34"/>
                        </a:rPr>
                        <a:t>Customer Journey</a:t>
                      </a:r>
                      <a:endParaRPr lang="en-IN" sz="1600" b="1" dirty="0" smtClean="0">
                        <a:latin typeface="Leelawadee" panose="020B0502040204020203" pitchFamily="34" charset="-34"/>
                        <a:cs typeface="Leelawadee" panose="020B0502040204020203" pitchFamily="34" charset="-34"/>
                      </a:endParaRPr>
                    </a:p>
                  </a:txBody>
                  <a:tcPr anchor="ctr">
                    <a:lnL>
                      <a:noFill/>
                    </a:lnL>
                    <a:lnR>
                      <a:noFill/>
                    </a:lnR>
                    <a:lnT>
                      <a:noFill/>
                    </a:lnT>
                    <a:lnB>
                      <a:noFill/>
                    </a:lnB>
                    <a:lnTlToBr w="12700" cmpd="sng">
                      <a:noFill/>
                      <a:prstDash val="solid"/>
                    </a:lnTlToBr>
                    <a:lnBlToTr w="12700" cmpd="sng">
                      <a:noFill/>
                      <a:prstDash val="solid"/>
                    </a:lnBlToTr>
                    <a:noFill/>
                  </a:tcPr>
                </a:tc>
              </a:tr>
            </a:tbl>
          </a:graphicData>
        </a:graphic>
      </p:graphicFrame>
      <p:grpSp>
        <p:nvGrpSpPr>
          <p:cNvPr id="53" name="Group 52"/>
          <p:cNvGrpSpPr/>
          <p:nvPr/>
        </p:nvGrpSpPr>
        <p:grpSpPr>
          <a:xfrm>
            <a:off x="558197" y="2649072"/>
            <a:ext cx="3557981" cy="3160058"/>
            <a:chOff x="846199" y="2759241"/>
            <a:chExt cx="3292663" cy="2887579"/>
          </a:xfrm>
        </p:grpSpPr>
        <p:sp>
          <p:nvSpPr>
            <p:cNvPr id="54" name="Rounded Rectangle 53"/>
            <p:cNvSpPr/>
            <p:nvPr/>
          </p:nvSpPr>
          <p:spPr>
            <a:xfrm>
              <a:off x="846199" y="2759241"/>
              <a:ext cx="3292663" cy="2887579"/>
            </a:xfrm>
            <a:prstGeom prst="roundRect">
              <a:avLst/>
            </a:prstGeom>
            <a:noFill/>
            <a:ln w="19050" cap="rnd" cmpd="sng" algn="ctr">
              <a:solidFill>
                <a:sysClr val="window" lastClr="FFFFFF">
                  <a:lumMod val="50000"/>
                </a:sysClr>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smtClean="0">
                <a:ln>
                  <a:noFill/>
                </a:ln>
                <a:solidFill>
                  <a:prstClr val="white"/>
                </a:solidFill>
                <a:effectLst/>
                <a:uLnTx/>
                <a:uFillTx/>
                <a:latin typeface="Leelawadee UI" panose="020B0502040204020203" pitchFamily="34" charset="-34"/>
                <a:ea typeface="+mn-ea"/>
                <a:cs typeface="Leelawadee UI" panose="020B0502040204020203" pitchFamily="34" charset="-34"/>
              </a:endParaRPr>
            </a:p>
          </p:txBody>
        </p:sp>
        <p:sp>
          <p:nvSpPr>
            <p:cNvPr id="55" name="Rectangle 54"/>
            <p:cNvSpPr/>
            <p:nvPr/>
          </p:nvSpPr>
          <p:spPr>
            <a:xfrm>
              <a:off x="846199" y="2956683"/>
              <a:ext cx="3292663" cy="343734"/>
            </a:xfrm>
            <a:prstGeom prst="rect">
              <a:avLst/>
            </a:prstGeom>
            <a:solidFill>
              <a:srgbClr val="65D6A0">
                <a:lumMod val="75000"/>
              </a:srgbClr>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prstClr val="white"/>
                  </a:solidFill>
                  <a:effectLst/>
                  <a:uLnTx/>
                  <a:uFillTx/>
                  <a:latin typeface="Leelawadee UI" panose="020B0502040204020203" pitchFamily="34" charset="-34"/>
                  <a:ea typeface="+mn-ea"/>
                  <a:cs typeface="Leelawadee UI" panose="020B0502040204020203" pitchFamily="34" charset="-34"/>
                </a:rPr>
                <a:t>A. Web Analytics</a:t>
              </a:r>
            </a:p>
          </p:txBody>
        </p:sp>
      </p:grpSp>
      <p:grpSp>
        <p:nvGrpSpPr>
          <p:cNvPr id="56" name="Group 55"/>
          <p:cNvGrpSpPr/>
          <p:nvPr/>
        </p:nvGrpSpPr>
        <p:grpSpPr>
          <a:xfrm>
            <a:off x="8365591" y="2582448"/>
            <a:ext cx="3645362" cy="3235277"/>
            <a:chOff x="4673261" y="2759242"/>
            <a:chExt cx="3332092" cy="2887578"/>
          </a:xfrm>
        </p:grpSpPr>
        <p:sp>
          <p:nvSpPr>
            <p:cNvPr id="57" name="Rounded Rectangle 56"/>
            <p:cNvSpPr/>
            <p:nvPr/>
          </p:nvSpPr>
          <p:spPr>
            <a:xfrm>
              <a:off x="4673261" y="2759242"/>
              <a:ext cx="3332092" cy="2887578"/>
            </a:xfrm>
            <a:prstGeom prst="roundRect">
              <a:avLst/>
            </a:prstGeom>
            <a:noFill/>
            <a:ln w="19050" cap="rnd" cmpd="sng" algn="ctr">
              <a:solidFill>
                <a:sysClr val="window" lastClr="FFFFFF">
                  <a:lumMod val="50000"/>
                </a:sysClr>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smtClean="0">
                <a:ln>
                  <a:noFill/>
                </a:ln>
                <a:solidFill>
                  <a:prstClr val="white"/>
                </a:solidFill>
                <a:effectLst/>
                <a:uLnTx/>
                <a:uFillTx/>
                <a:latin typeface="Leelawadee UI" panose="020B0502040204020203" pitchFamily="34" charset="-34"/>
                <a:ea typeface="+mn-ea"/>
                <a:cs typeface="Leelawadee UI" panose="020B0502040204020203" pitchFamily="34" charset="-34"/>
              </a:endParaRPr>
            </a:p>
          </p:txBody>
        </p:sp>
        <p:sp>
          <p:nvSpPr>
            <p:cNvPr id="58" name="Rectangle 57"/>
            <p:cNvSpPr/>
            <p:nvPr/>
          </p:nvSpPr>
          <p:spPr>
            <a:xfrm>
              <a:off x="4673261" y="2956683"/>
              <a:ext cx="3332092" cy="343734"/>
            </a:xfrm>
            <a:prstGeom prst="rect">
              <a:avLst/>
            </a:prstGeom>
            <a:solidFill>
              <a:srgbClr val="EF7A24">
                <a:lumMod val="60000"/>
                <a:lumOff val="40000"/>
              </a:srgbClr>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prstClr val="white"/>
                  </a:solidFill>
                  <a:effectLst/>
                  <a:uLnTx/>
                  <a:uFillTx/>
                  <a:latin typeface="Leelawadee UI" panose="020B0502040204020203" pitchFamily="34" charset="-34"/>
                  <a:ea typeface="+mn-ea"/>
                  <a:cs typeface="Leelawadee UI" panose="020B0502040204020203" pitchFamily="34" charset="-34"/>
                </a:rPr>
                <a:t>C. Social Analytics</a:t>
              </a:r>
            </a:p>
          </p:txBody>
        </p:sp>
      </p:grpSp>
      <p:grpSp>
        <p:nvGrpSpPr>
          <p:cNvPr id="59" name="Group 58"/>
          <p:cNvGrpSpPr/>
          <p:nvPr/>
        </p:nvGrpSpPr>
        <p:grpSpPr>
          <a:xfrm>
            <a:off x="4398872" y="2582449"/>
            <a:ext cx="3668153" cy="3235277"/>
            <a:chOff x="8583905" y="2743198"/>
            <a:chExt cx="3174792" cy="2887578"/>
          </a:xfrm>
        </p:grpSpPr>
        <p:sp>
          <p:nvSpPr>
            <p:cNvPr id="60" name="Rounded Rectangle 59"/>
            <p:cNvSpPr/>
            <p:nvPr/>
          </p:nvSpPr>
          <p:spPr>
            <a:xfrm>
              <a:off x="8583905" y="2743198"/>
              <a:ext cx="3174792" cy="2887578"/>
            </a:xfrm>
            <a:prstGeom prst="roundRect">
              <a:avLst/>
            </a:prstGeom>
            <a:noFill/>
            <a:ln w="19050" cap="rnd" cmpd="sng" algn="ctr">
              <a:solidFill>
                <a:sysClr val="window" lastClr="FFFFFF">
                  <a:lumMod val="50000"/>
                </a:sysClr>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smtClean="0">
                <a:ln>
                  <a:noFill/>
                </a:ln>
                <a:solidFill>
                  <a:prstClr val="white"/>
                </a:solidFill>
                <a:effectLst/>
                <a:uLnTx/>
                <a:uFillTx/>
                <a:latin typeface="Leelawadee UI" panose="020B0502040204020203" pitchFamily="34" charset="-34"/>
                <a:ea typeface="+mn-ea"/>
                <a:cs typeface="Leelawadee UI" panose="020B0502040204020203" pitchFamily="34" charset="-34"/>
              </a:endParaRPr>
            </a:p>
          </p:txBody>
        </p:sp>
        <p:sp>
          <p:nvSpPr>
            <p:cNvPr id="61" name="Rectangle 60"/>
            <p:cNvSpPr/>
            <p:nvPr/>
          </p:nvSpPr>
          <p:spPr>
            <a:xfrm>
              <a:off x="8583905" y="2956683"/>
              <a:ext cx="3174792" cy="343734"/>
            </a:xfrm>
            <a:prstGeom prst="rect">
              <a:avLst/>
            </a:prstGeom>
            <a:solidFill>
              <a:srgbClr val="75CEEC">
                <a:lumMod val="75000"/>
              </a:srgbClr>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smtClean="0">
                  <a:ln>
                    <a:noFill/>
                  </a:ln>
                  <a:solidFill>
                    <a:prstClr val="white"/>
                  </a:solidFill>
                  <a:effectLst/>
                  <a:uLnTx/>
                  <a:uFillTx/>
                  <a:latin typeface="Leelawadee UI" panose="020B0502040204020203" pitchFamily="34" charset="-34"/>
                  <a:ea typeface="+mn-ea"/>
                  <a:cs typeface="Leelawadee UI" panose="020B0502040204020203" pitchFamily="34" charset="-34"/>
                </a:rPr>
                <a:t> B. </a:t>
              </a:r>
              <a:r>
                <a:rPr lang="en-US" sz="1600" b="1" kern="0" dirty="0" smtClean="0">
                  <a:solidFill>
                    <a:prstClr val="white"/>
                  </a:solidFill>
                  <a:latin typeface="Leelawadee UI" panose="020B0502040204020203" pitchFamily="34" charset="-34"/>
                  <a:cs typeface="Leelawadee UI" panose="020B0502040204020203" pitchFamily="34" charset="-34"/>
                </a:rPr>
                <a:t>Website</a:t>
              </a:r>
              <a:r>
                <a:rPr kumimoji="0" lang="en-US" sz="1600" b="1" i="0" u="none" strike="noStrike" kern="0" cap="none" spc="0" normalizeH="0" baseline="0" noProof="0" dirty="0" smtClean="0">
                  <a:ln>
                    <a:noFill/>
                  </a:ln>
                  <a:solidFill>
                    <a:prstClr val="white"/>
                  </a:solidFill>
                  <a:effectLst/>
                  <a:uLnTx/>
                  <a:uFillTx/>
                  <a:latin typeface="Leelawadee UI" panose="020B0502040204020203" pitchFamily="34" charset="-34"/>
                  <a:ea typeface="+mn-ea"/>
                  <a:cs typeface="Leelawadee UI" panose="020B0502040204020203" pitchFamily="34" charset="-34"/>
                </a:rPr>
                <a:t> Competitive Insights</a:t>
              </a:r>
            </a:p>
          </p:txBody>
        </p:sp>
      </p:grpSp>
      <p:pic>
        <p:nvPicPr>
          <p:cNvPr id="62" name="Picture 20" descr="http://image005.flaticon.com/1/png/128/48/48726.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632944" y="1084692"/>
            <a:ext cx="1109181" cy="1109182"/>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6" descr="http://xlprojectsblog.s3.amazonaws.com/2014/05/icon_46946.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29590" y="1121171"/>
            <a:ext cx="1260436" cy="1260436"/>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626162" y="1042580"/>
            <a:ext cx="1170646" cy="1339027"/>
          </a:xfrm>
          <a:prstGeom prst="rect">
            <a:avLst/>
          </a:prstGeom>
        </p:spPr>
      </p:pic>
    </p:spTree>
    <p:extLst>
      <p:ext uri="{BB962C8B-B14F-4D97-AF65-F5344CB8AC3E}">
        <p14:creationId xmlns:p14="http://schemas.microsoft.com/office/powerpoint/2010/main" val="38580333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063352" y="291779"/>
              <a:ext cx="406534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Digital Maturity Model</a:t>
              </a:r>
            </a:p>
          </p:txBody>
        </p:sp>
      </p:grpSp>
      <p:sp>
        <p:nvSpPr>
          <p:cNvPr id="44" name="Rectangle 43"/>
          <p:cNvSpPr/>
          <p:nvPr/>
        </p:nvSpPr>
        <p:spPr>
          <a:xfrm>
            <a:off x="2835584" y="1050508"/>
            <a:ext cx="2129654" cy="4278237"/>
          </a:xfrm>
          <a:prstGeom prst="rect">
            <a:avLst/>
          </a:prstGeom>
          <a:solidFill>
            <a:schemeClr val="tx2">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5" name="Rectangle 44"/>
          <p:cNvSpPr/>
          <p:nvPr/>
        </p:nvSpPr>
        <p:spPr>
          <a:xfrm>
            <a:off x="4954492" y="1048271"/>
            <a:ext cx="2144162" cy="4278237"/>
          </a:xfrm>
          <a:prstGeom prst="rect">
            <a:avLst/>
          </a:prstGeom>
          <a:solidFill>
            <a:schemeClr val="tx2">
              <a:lumMod val="60000"/>
              <a:lumOff val="4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46" name="Rectangle 45"/>
          <p:cNvSpPr/>
          <p:nvPr/>
        </p:nvSpPr>
        <p:spPr>
          <a:xfrm>
            <a:off x="875394" y="1051197"/>
            <a:ext cx="1985026" cy="4278237"/>
          </a:xfrm>
          <a:prstGeom prst="rect">
            <a:avLst/>
          </a:prstGeom>
          <a:solidFill>
            <a:schemeClr val="tx2">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cxnSp>
        <p:nvCxnSpPr>
          <p:cNvPr id="47" name="Straight Connector 46"/>
          <p:cNvCxnSpPr/>
          <p:nvPr/>
        </p:nvCxnSpPr>
        <p:spPr>
          <a:xfrm>
            <a:off x="857250" y="1031458"/>
            <a:ext cx="0" cy="4278238"/>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flipV="1">
            <a:off x="857250" y="5328745"/>
            <a:ext cx="10989625" cy="10714"/>
          </a:xfrm>
          <a:prstGeom prst="line">
            <a:avLst/>
          </a:prstGeom>
          <a:ln w="2857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bwMode="gray">
          <a:xfrm>
            <a:off x="103464" y="1401018"/>
            <a:ext cx="470518" cy="3612515"/>
          </a:xfrm>
          <a:prstGeom prst="rect">
            <a:avLst/>
          </a:prstGeom>
        </p:spPr>
        <p:txBody>
          <a:bodyPr vert="vert270" wrap="square" lIns="91440" tIns="45720" rIns="91440" bIns="45720" rtlCol="0" anchor="ctr">
            <a:noAutofit/>
          </a:bodyPr>
          <a:lstStyle/>
          <a:p>
            <a:pPr algn="ctr"/>
            <a:r>
              <a:rPr lang="en-IN" dirty="0" smtClean="0">
                <a:solidFill>
                  <a:prstClr val="black"/>
                </a:solidFill>
              </a:rPr>
              <a:t>Return on Investment  ( ROI )</a:t>
            </a:r>
            <a:endParaRPr lang="en-IN" dirty="0">
              <a:solidFill>
                <a:prstClr val="black"/>
              </a:solidFill>
            </a:endParaRPr>
          </a:p>
        </p:txBody>
      </p:sp>
      <p:sp>
        <p:nvSpPr>
          <p:cNvPr id="50" name="TextBox 49"/>
          <p:cNvSpPr txBox="1"/>
          <p:nvPr/>
        </p:nvSpPr>
        <p:spPr bwMode="gray">
          <a:xfrm rot="5400000">
            <a:off x="1462429" y="587946"/>
            <a:ext cx="558423" cy="1736415"/>
          </a:xfrm>
          <a:prstGeom prst="rect">
            <a:avLst/>
          </a:prstGeom>
        </p:spPr>
        <p:txBody>
          <a:bodyPr vert="vert270" wrap="square" lIns="91440" tIns="45720" rIns="91440" bIns="45720" rtlCol="0" anchor="ctr">
            <a:noAutofit/>
          </a:bodyPr>
          <a:lstStyle/>
          <a:p>
            <a:pPr algn="ctr"/>
            <a:r>
              <a:rPr lang="en-IN" sz="1600" b="1" i="1" dirty="0" smtClean="0"/>
              <a:t>Basic Measurement</a:t>
            </a:r>
            <a:endParaRPr lang="en-IN" sz="1600" b="1" i="1" dirty="0"/>
          </a:p>
        </p:txBody>
      </p:sp>
      <p:sp>
        <p:nvSpPr>
          <p:cNvPr id="51" name="Rectangle 50"/>
          <p:cNvSpPr/>
          <p:nvPr/>
        </p:nvSpPr>
        <p:spPr>
          <a:xfrm>
            <a:off x="7098655" y="1040251"/>
            <a:ext cx="2339018" cy="4278237"/>
          </a:xfrm>
          <a:prstGeom prst="rect">
            <a:avLst/>
          </a:prstGeom>
          <a:solidFill>
            <a:schemeClr val="accent6">
              <a:lumMod val="7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52" name="Rectangle 51"/>
          <p:cNvSpPr/>
          <p:nvPr/>
        </p:nvSpPr>
        <p:spPr>
          <a:xfrm>
            <a:off x="9425594" y="1048273"/>
            <a:ext cx="2430522" cy="4278237"/>
          </a:xfrm>
          <a:prstGeom prst="rect">
            <a:avLst/>
          </a:prstGeom>
          <a:solidFill>
            <a:srgbClr val="92D050">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53" name="TextBox 52"/>
          <p:cNvSpPr txBox="1"/>
          <p:nvPr/>
        </p:nvSpPr>
        <p:spPr bwMode="gray">
          <a:xfrm rot="5400000">
            <a:off x="3595504" y="580886"/>
            <a:ext cx="558423" cy="1736415"/>
          </a:xfrm>
          <a:prstGeom prst="rect">
            <a:avLst/>
          </a:prstGeom>
        </p:spPr>
        <p:txBody>
          <a:bodyPr vert="vert270" wrap="square" lIns="91440" tIns="45720" rIns="91440" bIns="45720" rtlCol="0" anchor="ctr">
            <a:noAutofit/>
          </a:bodyPr>
          <a:lstStyle/>
          <a:p>
            <a:pPr algn="ctr"/>
            <a:r>
              <a:rPr lang="en-IN" sz="1600" b="1" i="1" dirty="0" smtClean="0"/>
              <a:t>Marketing Effectiveness</a:t>
            </a:r>
            <a:endParaRPr lang="en-IN" sz="1600" b="1" i="1" dirty="0"/>
          </a:p>
        </p:txBody>
      </p:sp>
      <p:sp>
        <p:nvSpPr>
          <p:cNvPr id="54" name="TextBox 53"/>
          <p:cNvSpPr txBox="1"/>
          <p:nvPr/>
        </p:nvSpPr>
        <p:spPr bwMode="gray">
          <a:xfrm rot="5400000">
            <a:off x="5711372" y="591334"/>
            <a:ext cx="558423" cy="1736415"/>
          </a:xfrm>
          <a:prstGeom prst="rect">
            <a:avLst/>
          </a:prstGeom>
        </p:spPr>
        <p:txBody>
          <a:bodyPr vert="vert270" wrap="square" lIns="91440" tIns="45720" rIns="91440" bIns="45720" rtlCol="0" anchor="ctr">
            <a:noAutofit/>
          </a:bodyPr>
          <a:lstStyle/>
          <a:p>
            <a:pPr algn="ctr"/>
            <a:r>
              <a:rPr lang="en-IN" sz="1600" b="1" i="1" dirty="0" smtClean="0"/>
              <a:t>Personalization</a:t>
            </a:r>
            <a:endParaRPr lang="en-IN" sz="1600" b="1" i="1" dirty="0"/>
          </a:p>
        </p:txBody>
      </p:sp>
      <p:sp>
        <p:nvSpPr>
          <p:cNvPr id="55" name="TextBox 54"/>
          <p:cNvSpPr txBox="1"/>
          <p:nvPr/>
        </p:nvSpPr>
        <p:spPr bwMode="gray">
          <a:xfrm rot="5400000">
            <a:off x="7939330" y="361350"/>
            <a:ext cx="558423" cy="2132909"/>
          </a:xfrm>
          <a:prstGeom prst="rect">
            <a:avLst/>
          </a:prstGeom>
        </p:spPr>
        <p:txBody>
          <a:bodyPr vert="vert270" wrap="square" lIns="91440" tIns="45720" rIns="91440" bIns="45720" rtlCol="0" anchor="ctr">
            <a:noAutofit/>
          </a:bodyPr>
          <a:lstStyle/>
          <a:p>
            <a:pPr algn="ctr"/>
            <a:r>
              <a:rPr lang="en-IN" sz="1600" b="1" i="1" dirty="0" smtClean="0"/>
              <a:t>Omni-Channel</a:t>
            </a:r>
            <a:endParaRPr lang="en-IN" sz="1600" b="1" i="1" dirty="0"/>
          </a:p>
        </p:txBody>
      </p:sp>
      <p:sp>
        <p:nvSpPr>
          <p:cNvPr id="56" name="TextBox 55"/>
          <p:cNvSpPr txBox="1"/>
          <p:nvPr/>
        </p:nvSpPr>
        <p:spPr bwMode="gray">
          <a:xfrm rot="5400000">
            <a:off x="10384869" y="85523"/>
            <a:ext cx="558423" cy="2629813"/>
          </a:xfrm>
          <a:prstGeom prst="rect">
            <a:avLst/>
          </a:prstGeom>
        </p:spPr>
        <p:txBody>
          <a:bodyPr vert="vert270" wrap="square" lIns="91440" tIns="45720" rIns="91440" bIns="45720" rtlCol="0" anchor="ctr">
            <a:noAutofit/>
          </a:bodyPr>
          <a:lstStyle/>
          <a:p>
            <a:pPr algn="ctr"/>
            <a:r>
              <a:rPr lang="en-IN" sz="1600" b="1" i="1" dirty="0" smtClean="0"/>
              <a:t>Customer Intelligence</a:t>
            </a:r>
            <a:endParaRPr lang="en-IN" sz="1600" b="1" i="1" dirty="0"/>
          </a:p>
        </p:txBody>
      </p:sp>
      <p:pic>
        <p:nvPicPr>
          <p:cNvPr id="57" name="Picture 2" descr="https://cdn0.iconfinder.com/data/icons/medical-15/116/Health_Medical-09-512.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538284" y="1837178"/>
            <a:ext cx="487444" cy="524310"/>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 descr="https://cdn4.iconfinder.com/data/icons/startup-general/512/explore-512.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3425835" y="1787996"/>
            <a:ext cx="636764" cy="636764"/>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6" descr="http://www.innometrics.com/wp-content/uploads/2014/05/Profile-Interactive-web-graphic-head-image.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0493763" y="1667904"/>
            <a:ext cx="490564" cy="647610"/>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p:cNvSpPr txBox="1"/>
          <p:nvPr/>
        </p:nvSpPr>
        <p:spPr bwMode="gray">
          <a:xfrm>
            <a:off x="9586597" y="4700092"/>
            <a:ext cx="2029214" cy="319195"/>
          </a:xfrm>
          <a:prstGeom prst="rect">
            <a:avLst/>
          </a:prstGeom>
        </p:spPr>
        <p:txBody>
          <a:bodyPr vert="horz" wrap="square" lIns="91440" tIns="45720" rIns="91440" bIns="45720" rtlCol="0" anchor="ctr">
            <a:noAutofit/>
          </a:bodyPr>
          <a:lstStyle/>
          <a:p>
            <a:pPr algn="ctr"/>
            <a:r>
              <a:rPr lang="en-IN" sz="1200" b="1" dirty="0" smtClean="0"/>
              <a:t>Requires : </a:t>
            </a:r>
            <a:r>
              <a:rPr lang="en-IN" sz="1200" dirty="0" smtClean="0"/>
              <a:t>CRM Integration</a:t>
            </a:r>
          </a:p>
        </p:txBody>
      </p:sp>
      <p:sp>
        <p:nvSpPr>
          <p:cNvPr id="61" name="TextBox 60"/>
          <p:cNvSpPr txBox="1"/>
          <p:nvPr/>
        </p:nvSpPr>
        <p:spPr bwMode="gray">
          <a:xfrm>
            <a:off x="7202807" y="4636621"/>
            <a:ext cx="2044951" cy="466126"/>
          </a:xfrm>
          <a:prstGeom prst="rect">
            <a:avLst/>
          </a:prstGeom>
        </p:spPr>
        <p:txBody>
          <a:bodyPr vert="horz" wrap="square" lIns="91440" tIns="45720" rIns="91440" bIns="45720" rtlCol="0" anchor="ctr">
            <a:noAutofit/>
          </a:bodyPr>
          <a:lstStyle/>
          <a:p>
            <a:pPr algn="ctr"/>
            <a:r>
              <a:rPr lang="en-IN" sz="1200" b="1" dirty="0" smtClean="0"/>
              <a:t>Requires : </a:t>
            </a:r>
            <a:r>
              <a:rPr lang="en-IN" sz="1200" dirty="0" smtClean="0"/>
              <a:t>Mobile App, Social Media Integration</a:t>
            </a:r>
          </a:p>
        </p:txBody>
      </p:sp>
      <p:sp>
        <p:nvSpPr>
          <p:cNvPr id="62" name="TextBox 61"/>
          <p:cNvSpPr txBox="1"/>
          <p:nvPr/>
        </p:nvSpPr>
        <p:spPr bwMode="gray">
          <a:xfrm>
            <a:off x="5019293" y="4785577"/>
            <a:ext cx="1903850" cy="294697"/>
          </a:xfrm>
          <a:prstGeom prst="rect">
            <a:avLst/>
          </a:prstGeom>
        </p:spPr>
        <p:txBody>
          <a:bodyPr vert="horz" wrap="square" lIns="91440" tIns="45720" rIns="91440" bIns="45720" rtlCol="0" anchor="ctr">
            <a:noAutofit/>
          </a:bodyPr>
          <a:lstStyle/>
          <a:p>
            <a:pPr algn="ctr"/>
            <a:r>
              <a:rPr lang="en-IN" sz="1200" b="1" dirty="0" smtClean="0"/>
              <a:t>Requires : </a:t>
            </a:r>
            <a:r>
              <a:rPr lang="en-IN" sz="1200" dirty="0" smtClean="0"/>
              <a:t>A/B  &amp; MVT Testing Tools </a:t>
            </a:r>
          </a:p>
        </p:txBody>
      </p:sp>
      <p:sp>
        <p:nvSpPr>
          <p:cNvPr id="63" name="TextBox 62"/>
          <p:cNvSpPr txBox="1"/>
          <p:nvPr/>
        </p:nvSpPr>
        <p:spPr bwMode="gray">
          <a:xfrm>
            <a:off x="2810586" y="4691678"/>
            <a:ext cx="2090474" cy="451500"/>
          </a:xfrm>
          <a:prstGeom prst="rect">
            <a:avLst/>
          </a:prstGeom>
        </p:spPr>
        <p:txBody>
          <a:bodyPr vert="horz" wrap="square" lIns="91440" tIns="45720" rIns="91440" bIns="45720" rtlCol="0" anchor="ctr">
            <a:noAutofit/>
          </a:bodyPr>
          <a:lstStyle/>
          <a:p>
            <a:pPr algn="ctr"/>
            <a:r>
              <a:rPr lang="en-IN" sz="1200" b="1" dirty="0" smtClean="0"/>
              <a:t>Requires : </a:t>
            </a:r>
            <a:r>
              <a:rPr lang="en-IN" sz="1200" dirty="0" smtClean="0"/>
              <a:t>Integration with Marketing Channels </a:t>
            </a:r>
          </a:p>
        </p:txBody>
      </p:sp>
      <p:sp>
        <p:nvSpPr>
          <p:cNvPr id="64" name="TextBox 63"/>
          <p:cNvSpPr txBox="1"/>
          <p:nvPr/>
        </p:nvSpPr>
        <p:spPr bwMode="gray">
          <a:xfrm>
            <a:off x="822337" y="4788686"/>
            <a:ext cx="1862048" cy="219184"/>
          </a:xfrm>
          <a:prstGeom prst="rect">
            <a:avLst/>
          </a:prstGeom>
        </p:spPr>
        <p:txBody>
          <a:bodyPr vert="horz" wrap="square" lIns="91440" tIns="45720" rIns="91440" bIns="45720" rtlCol="0" anchor="ctr">
            <a:noAutofit/>
          </a:bodyPr>
          <a:lstStyle/>
          <a:p>
            <a:pPr algn="ctr"/>
            <a:r>
              <a:rPr lang="en-IN" sz="1200" b="1" dirty="0" smtClean="0"/>
              <a:t>Requires : </a:t>
            </a:r>
            <a:r>
              <a:rPr lang="en-IN" sz="1200" dirty="0" smtClean="0"/>
              <a:t>Web Analytic tool</a:t>
            </a:r>
          </a:p>
        </p:txBody>
      </p:sp>
      <p:cxnSp>
        <p:nvCxnSpPr>
          <p:cNvPr id="65" name="Straight Connector 64"/>
          <p:cNvCxnSpPr/>
          <p:nvPr/>
        </p:nvCxnSpPr>
        <p:spPr>
          <a:xfrm flipV="1">
            <a:off x="1680617" y="2577913"/>
            <a:ext cx="9091022" cy="1659203"/>
          </a:xfrm>
          <a:prstGeom prst="line">
            <a:avLst/>
          </a:prstGeom>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bwMode="gray">
          <a:xfrm>
            <a:off x="2985083" y="5470676"/>
            <a:ext cx="6197100" cy="341194"/>
          </a:xfrm>
          <a:prstGeom prst="rect">
            <a:avLst/>
          </a:prstGeom>
        </p:spPr>
        <p:txBody>
          <a:bodyPr vert="horz" wrap="square" lIns="91440" tIns="45720" rIns="91440" bIns="45720" rtlCol="0" anchor="ctr">
            <a:noAutofit/>
          </a:bodyPr>
          <a:lstStyle/>
          <a:p>
            <a:pPr algn="ctr"/>
            <a:r>
              <a:rPr lang="en-IN" sz="1600" dirty="0" smtClean="0">
                <a:solidFill>
                  <a:schemeClr val="tx1">
                    <a:lumMod val="85000"/>
                    <a:lumOff val="15000"/>
                  </a:schemeClr>
                </a:solidFill>
              </a:rPr>
              <a:t>Advanced Digital Analytics</a:t>
            </a:r>
          </a:p>
        </p:txBody>
      </p:sp>
      <p:cxnSp>
        <p:nvCxnSpPr>
          <p:cNvPr id="67" name="Straight Arrow Connector 66"/>
          <p:cNvCxnSpPr/>
          <p:nvPr/>
        </p:nvCxnSpPr>
        <p:spPr>
          <a:xfrm>
            <a:off x="2905883" y="5880266"/>
            <a:ext cx="6938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607977" y="1401018"/>
            <a:ext cx="0" cy="37541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bwMode="gray">
          <a:xfrm>
            <a:off x="1343909" y="2826995"/>
            <a:ext cx="946581" cy="764274"/>
          </a:xfrm>
          <a:prstGeom prst="rect">
            <a:avLst/>
          </a:prstGeom>
        </p:spPr>
        <p:txBody>
          <a:bodyPr vert="horz" wrap="square" lIns="91440" tIns="45720" rIns="91440" bIns="45720" rtlCol="0" anchor="ctr">
            <a:noAutofit/>
          </a:bodyPr>
          <a:lstStyle/>
          <a:p>
            <a:endParaRPr lang="en-IN" sz="2000" dirty="0" smtClean="0"/>
          </a:p>
        </p:txBody>
      </p:sp>
      <p:sp>
        <p:nvSpPr>
          <p:cNvPr id="70" name="TextBox 69"/>
          <p:cNvSpPr txBox="1"/>
          <p:nvPr/>
        </p:nvSpPr>
        <p:spPr bwMode="gray">
          <a:xfrm>
            <a:off x="1275648" y="3034815"/>
            <a:ext cx="946581" cy="536629"/>
          </a:xfrm>
          <a:prstGeom prst="rect">
            <a:avLst/>
          </a:prstGeom>
        </p:spPr>
        <p:txBody>
          <a:bodyPr vert="horz" wrap="square" lIns="91440" tIns="45720" rIns="91440" bIns="45720" rtlCol="0" anchor="ctr">
            <a:noAutofit/>
          </a:bodyPr>
          <a:lstStyle/>
          <a:p>
            <a:endParaRPr lang="en-IN" sz="2000" dirty="0" smtClean="0"/>
          </a:p>
        </p:txBody>
      </p:sp>
      <p:sp>
        <p:nvSpPr>
          <p:cNvPr id="71" name="TextBox 70"/>
          <p:cNvSpPr txBox="1"/>
          <p:nvPr/>
        </p:nvSpPr>
        <p:spPr bwMode="gray">
          <a:xfrm>
            <a:off x="1092639" y="2898015"/>
            <a:ext cx="1534955" cy="782394"/>
          </a:xfrm>
          <a:prstGeom prst="rect">
            <a:avLst/>
          </a:prstGeom>
        </p:spPr>
        <p:txBody>
          <a:bodyPr vert="horz" wrap="square" lIns="91440" tIns="45720" rIns="91440" bIns="45720" rtlCol="0" anchor="ctr">
            <a:noAutofit/>
          </a:bodyPr>
          <a:lstStyle/>
          <a:p>
            <a:r>
              <a:rPr lang="en-IN" sz="1200" dirty="0" smtClean="0"/>
              <a:t>Basic Analysis on Website &amp; Social Media Performed for Tata AIG</a:t>
            </a:r>
          </a:p>
        </p:txBody>
      </p:sp>
      <p:sp>
        <p:nvSpPr>
          <p:cNvPr id="72" name="TextBox 71"/>
          <p:cNvSpPr txBox="1"/>
          <p:nvPr/>
        </p:nvSpPr>
        <p:spPr bwMode="gray">
          <a:xfrm>
            <a:off x="2984874" y="2712142"/>
            <a:ext cx="1735475" cy="639267"/>
          </a:xfrm>
          <a:prstGeom prst="rect">
            <a:avLst/>
          </a:prstGeom>
        </p:spPr>
        <p:txBody>
          <a:bodyPr vert="horz" wrap="square" lIns="91440" tIns="45720" rIns="91440" bIns="45720" rtlCol="0" anchor="ctr">
            <a:noAutofit/>
          </a:bodyPr>
          <a:lstStyle/>
          <a:p>
            <a:r>
              <a:rPr lang="en-IN" sz="1200" dirty="0" smtClean="0"/>
              <a:t>Post Campaign Analysis of Marketing Channels Performed for Tata AIG </a:t>
            </a:r>
          </a:p>
        </p:txBody>
      </p:sp>
      <p:sp>
        <p:nvSpPr>
          <p:cNvPr id="73" name="TextBox 72"/>
          <p:cNvSpPr txBox="1"/>
          <p:nvPr/>
        </p:nvSpPr>
        <p:spPr bwMode="gray">
          <a:xfrm>
            <a:off x="1940021" y="4206329"/>
            <a:ext cx="1365162" cy="443447"/>
          </a:xfrm>
          <a:prstGeom prst="rect">
            <a:avLst/>
          </a:prstGeom>
        </p:spPr>
        <p:txBody>
          <a:bodyPr vert="horz" wrap="square" lIns="91440" tIns="45720" rIns="91440" bIns="45720" rtlCol="0" anchor="ctr">
            <a:noAutofit/>
          </a:bodyPr>
          <a:lstStyle/>
          <a:p>
            <a:pPr algn="ctr"/>
            <a:r>
              <a:rPr lang="en-IN" sz="1100" b="1" i="1" dirty="0" smtClean="0">
                <a:solidFill>
                  <a:schemeClr val="accent6">
                    <a:lumMod val="50000"/>
                  </a:schemeClr>
                </a:solidFill>
              </a:rPr>
              <a:t>Current State of Tata Unistore</a:t>
            </a:r>
          </a:p>
        </p:txBody>
      </p:sp>
      <p:pic>
        <p:nvPicPr>
          <p:cNvPr id="74" name="Picture 2" descr="http://1gga5c4bwhrvq4yfj1x22pxl1r.wpengine.netdna-cdn.com/wp-content/uploads/2014/02/personalization-guys-me.p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5512006" y="1806562"/>
            <a:ext cx="748339" cy="585784"/>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https://classes.lt.unt.edu/Spring_2015/LTEC_3220_020/rl0244/Assignments/Assignment_4/Icons/Software.pn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7686632" y="1851497"/>
            <a:ext cx="862793" cy="509991"/>
          </a:xfrm>
          <a:prstGeom prst="rect">
            <a:avLst/>
          </a:prstGeom>
          <a:noFill/>
          <a:extLst>
            <a:ext uri="{909E8E84-426E-40DD-AFC4-6F175D3DCCD1}">
              <a14:hiddenFill xmlns:a14="http://schemas.microsoft.com/office/drawing/2010/main">
                <a:solidFill>
                  <a:srgbClr val="FFFFFF"/>
                </a:solidFill>
              </a14:hiddenFill>
            </a:ext>
          </a:extLst>
        </p:spPr>
      </p:pic>
      <p:sp>
        <p:nvSpPr>
          <p:cNvPr id="76" name="Oval 75"/>
          <p:cNvSpPr/>
          <p:nvPr/>
        </p:nvSpPr>
        <p:spPr>
          <a:xfrm>
            <a:off x="1882415" y="4062478"/>
            <a:ext cx="221498" cy="232012"/>
          </a:xfrm>
          <a:prstGeom prst="ellipse">
            <a:avLst/>
          </a:prstGeom>
          <a:solidFill>
            <a:schemeClr val="accent6">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p:cNvSpPr/>
          <p:nvPr/>
        </p:nvSpPr>
        <p:spPr>
          <a:xfrm>
            <a:off x="10662680" y="2416330"/>
            <a:ext cx="221498" cy="232012"/>
          </a:xfrm>
          <a:prstGeom prst="ellipse">
            <a:avLst/>
          </a:prstGeom>
          <a:solidFill>
            <a:schemeClr val="tx2">
              <a:lumMod val="60000"/>
              <a:lumOff val="40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781581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268726" y="291779"/>
              <a:ext cx="9654630"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Web Analytics by Tata </a:t>
              </a:r>
              <a:r>
                <a:rPr lang="en-IN" sz="2800" b="1" dirty="0" err="1" smtClean="0">
                  <a:solidFill>
                    <a:srgbClr val="0070C0"/>
                  </a:solidFill>
                  <a:latin typeface="Leelawadee UI" panose="020B0502040204020203" pitchFamily="34" charset="-34"/>
                  <a:cs typeface="Leelawadee UI" panose="020B0502040204020203" pitchFamily="34" charset="-34"/>
                </a:rPr>
                <a:t>iQ</a:t>
              </a:r>
              <a:r>
                <a:rPr lang="en-IN" sz="2800" b="1" dirty="0" smtClean="0">
                  <a:solidFill>
                    <a:srgbClr val="0070C0"/>
                  </a:solidFill>
                  <a:latin typeface="Leelawadee UI" panose="020B0502040204020203" pitchFamily="34" charset="-34"/>
                  <a:cs typeface="Leelawadee UI" panose="020B0502040204020203" pitchFamily="34" charset="-34"/>
                </a:rPr>
                <a:t> : Leveraging Adobe Analytics</a:t>
              </a:r>
            </a:p>
          </p:txBody>
        </p:sp>
      </p:grpSp>
      <p:pic>
        <p:nvPicPr>
          <p:cNvPr id="7" name="Picture 6"/>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3712" y="1763893"/>
            <a:ext cx="5818493" cy="2294148"/>
          </a:xfrm>
          <a:prstGeom prst="rect">
            <a:avLst/>
          </a:prstGeom>
          <a:ln>
            <a:noFill/>
          </a:ln>
          <a:effectLst>
            <a:outerShdw blurRad="190500" algn="tl" rotWithShape="0">
              <a:srgbClr val="000000">
                <a:alpha val="70000"/>
              </a:srgbClr>
            </a:outerShdw>
          </a:effectLst>
        </p:spPr>
      </p:pic>
      <p:sp>
        <p:nvSpPr>
          <p:cNvPr id="8" name="TextBox 7"/>
          <p:cNvSpPr txBox="1"/>
          <p:nvPr/>
        </p:nvSpPr>
        <p:spPr bwMode="gray">
          <a:xfrm>
            <a:off x="565830" y="1274408"/>
            <a:ext cx="2262879" cy="428093"/>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Basic Website Metrics</a:t>
            </a:r>
          </a:p>
        </p:txBody>
      </p:sp>
      <p:sp>
        <p:nvSpPr>
          <p:cNvPr id="9" name="TextBox 8"/>
          <p:cNvSpPr txBox="1"/>
          <p:nvPr/>
        </p:nvSpPr>
        <p:spPr bwMode="gray">
          <a:xfrm>
            <a:off x="7959358" y="855764"/>
            <a:ext cx="4037514"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Customized Reports using Adobe </a:t>
            </a:r>
          </a:p>
        </p:txBody>
      </p:sp>
      <p:sp>
        <p:nvSpPr>
          <p:cNvPr id="10" name="TextBox 9"/>
          <p:cNvSpPr txBox="1"/>
          <p:nvPr/>
        </p:nvSpPr>
        <p:spPr bwMode="gray">
          <a:xfrm>
            <a:off x="8215140" y="3881954"/>
            <a:ext cx="3094850" cy="432217"/>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Business Diagnosis</a:t>
            </a:r>
          </a:p>
        </p:txBody>
      </p:sp>
      <p:sp>
        <p:nvSpPr>
          <p:cNvPr id="11" name="TextBox 10"/>
          <p:cNvSpPr txBox="1"/>
          <p:nvPr/>
        </p:nvSpPr>
        <p:spPr bwMode="gray">
          <a:xfrm>
            <a:off x="7457006" y="1364458"/>
            <a:ext cx="4539866" cy="1760785"/>
          </a:xfrm>
          <a:prstGeom prst="rect">
            <a:avLst/>
          </a:prstGeom>
        </p:spPr>
        <p:txBody>
          <a:bodyPr vert="horz" wrap="square" lIns="91440" tIns="45720" rIns="91440" bIns="45720" rtlCol="0" anchor="ctr">
            <a:noAutofit/>
          </a:bodyPr>
          <a:lstStyle/>
          <a:p>
            <a:r>
              <a:rPr lang="en-IN" sz="1400" dirty="0" smtClean="0">
                <a:latin typeface="Leelawadee" panose="020B0502040204020203" pitchFamily="34" charset="-34"/>
                <a:cs typeface="Leelawadee" panose="020B0502040204020203" pitchFamily="34" charset="-34"/>
              </a:rPr>
              <a:t>Example:</a:t>
            </a:r>
          </a:p>
          <a:p>
            <a:endParaRPr lang="en-IN" sz="7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Web traffic trends segmented based on visitor segments , devices , geography and channels </a:t>
            </a:r>
          </a:p>
          <a:p>
            <a:pPr marL="285750" indent="-285750">
              <a:buFont typeface="Arial" panose="020B0604020202020204" pitchFamily="34" charset="0"/>
              <a:buChar char="•"/>
            </a:pPr>
            <a:endParaRPr lang="en-IN" sz="12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Performance of website pages/section in terms of views and engagement over time </a:t>
            </a:r>
          </a:p>
          <a:p>
            <a:pPr marL="285750" indent="-285750">
              <a:buFont typeface="Arial" panose="020B0604020202020204" pitchFamily="34" charset="0"/>
              <a:buChar char="•"/>
            </a:pPr>
            <a:endParaRPr lang="en-IN" sz="12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Traffic source performance mapping with respect to Campaign tracking code &amp; business needs</a:t>
            </a:r>
          </a:p>
        </p:txBody>
      </p:sp>
      <p:sp>
        <p:nvSpPr>
          <p:cNvPr id="13" name="TextBox 12"/>
          <p:cNvSpPr txBox="1"/>
          <p:nvPr/>
        </p:nvSpPr>
        <p:spPr bwMode="gray">
          <a:xfrm>
            <a:off x="644110" y="4685935"/>
            <a:ext cx="1649341" cy="669787"/>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Traffic Source Reports</a:t>
            </a:r>
          </a:p>
        </p:txBody>
      </p:sp>
      <p:sp>
        <p:nvSpPr>
          <p:cNvPr id="14" name="TextBox 13"/>
          <p:cNvSpPr txBox="1"/>
          <p:nvPr/>
        </p:nvSpPr>
        <p:spPr bwMode="gray">
          <a:xfrm>
            <a:off x="7532346" y="4387315"/>
            <a:ext cx="4464526" cy="1782574"/>
          </a:xfrm>
          <a:prstGeom prst="rect">
            <a:avLst/>
          </a:prstGeom>
        </p:spPr>
        <p:txBody>
          <a:bodyPr vert="horz" wrap="square" lIns="91440" tIns="45720" rIns="91440" bIns="45720" rtlCol="0" anchor="ctr">
            <a:noAutofit/>
          </a:bodyPr>
          <a:lstStyle/>
          <a:p>
            <a:r>
              <a:rPr lang="en-IN" sz="1400" dirty="0">
                <a:latin typeface="Leelawadee" panose="020B0502040204020203" pitchFamily="34" charset="-34"/>
                <a:cs typeface="Leelawadee" panose="020B0502040204020203" pitchFamily="34" charset="-34"/>
              </a:rPr>
              <a:t>Example</a:t>
            </a:r>
            <a:r>
              <a:rPr lang="en-IN" sz="1400" dirty="0" smtClean="0">
                <a:latin typeface="Leelawadee" panose="020B0502040204020203" pitchFamily="34" charset="-34"/>
                <a:cs typeface="Leelawadee" panose="020B0502040204020203" pitchFamily="34" charset="-34"/>
              </a:rPr>
              <a:t>:</a:t>
            </a:r>
          </a:p>
          <a:p>
            <a:pPr marL="285750" indent="-285750">
              <a:buFont typeface="Arial" panose="020B0604020202020204" pitchFamily="34" charset="0"/>
              <a:buChar char="•"/>
            </a:pPr>
            <a:endParaRPr lang="en-IN" sz="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Opportunities to  effectively increase </a:t>
            </a:r>
            <a:r>
              <a:rPr lang="en-IN" sz="1400" dirty="0">
                <a:latin typeface="Leelawadee" panose="020B0502040204020203" pitchFamily="34" charset="-34"/>
                <a:cs typeface="Leelawadee" panose="020B0502040204020203" pitchFamily="34" charset="-34"/>
              </a:rPr>
              <a:t>q</a:t>
            </a:r>
            <a:r>
              <a:rPr lang="en-IN" sz="1400" dirty="0" smtClean="0">
                <a:latin typeface="Leelawadee" panose="020B0502040204020203" pitchFamily="34" charset="-34"/>
                <a:cs typeface="Leelawadee" panose="020B0502040204020203" pitchFamily="34" charset="-34"/>
              </a:rPr>
              <a:t>uality traffic  on website </a:t>
            </a:r>
          </a:p>
          <a:p>
            <a:endParaRPr lang="en-IN" sz="105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Attribution analysis of traffic trends to market or internal events</a:t>
            </a:r>
          </a:p>
          <a:p>
            <a:pPr marL="285750" indent="-285750">
              <a:buFont typeface="Arial" panose="020B0604020202020204" pitchFamily="34" charset="0"/>
              <a:buChar char="•"/>
            </a:pPr>
            <a:endParaRPr lang="en-IN" sz="105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Weak and strong aspects of website in terms of content and features</a:t>
            </a:r>
          </a:p>
          <a:p>
            <a:pPr marL="285750" indent="-285750">
              <a:buFont typeface="Arial" panose="020B0604020202020204" pitchFamily="34" charset="0"/>
              <a:buChar char="•"/>
            </a:pPr>
            <a:endParaRPr lang="en-IN" sz="1400" dirty="0" smtClean="0">
              <a:latin typeface="Leelawadee" panose="020B0502040204020203" pitchFamily="34" charset="-34"/>
              <a:cs typeface="Leelawadee" panose="020B0502040204020203" pitchFamily="34" charset="-34"/>
            </a:endParaRPr>
          </a:p>
        </p:txBody>
      </p:sp>
      <p:sp>
        <p:nvSpPr>
          <p:cNvPr id="16" name="TextBox 15"/>
          <p:cNvSpPr txBox="1"/>
          <p:nvPr/>
        </p:nvSpPr>
        <p:spPr bwMode="gray">
          <a:xfrm>
            <a:off x="2220171" y="838657"/>
            <a:ext cx="3267632"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Standard Reports in Adobe</a:t>
            </a:r>
          </a:p>
        </p:txBody>
      </p:sp>
      <p:pic>
        <p:nvPicPr>
          <p:cNvPr id="17" name="Picture 16"/>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643880" y="3956595"/>
            <a:ext cx="3530630" cy="1999575"/>
          </a:xfrm>
          <a:prstGeom prst="rect">
            <a:avLst/>
          </a:prstGeom>
          <a:ln>
            <a:noFill/>
          </a:ln>
          <a:effectLst>
            <a:outerShdw blurRad="190500" algn="tl" rotWithShape="0">
              <a:srgbClr val="000000">
                <a:alpha val="70000"/>
              </a:srgbClr>
            </a:outerShdw>
          </a:effectLst>
        </p:spPr>
      </p:pic>
      <p:sp>
        <p:nvSpPr>
          <p:cNvPr id="18" name="Rounded Rectangle 17"/>
          <p:cNvSpPr/>
          <p:nvPr/>
        </p:nvSpPr>
        <p:spPr>
          <a:xfrm>
            <a:off x="7420306" y="881385"/>
            <a:ext cx="4576566" cy="2474283"/>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UI" panose="020B0502040204020203" pitchFamily="34" charset="-34"/>
              <a:cs typeface="Leelawadee UI" panose="020B0502040204020203" pitchFamily="34" charset="-34"/>
            </a:endParaRPr>
          </a:p>
        </p:txBody>
      </p:sp>
      <p:sp>
        <p:nvSpPr>
          <p:cNvPr id="19" name="Rounded Rectangle 18"/>
          <p:cNvSpPr/>
          <p:nvPr/>
        </p:nvSpPr>
        <p:spPr>
          <a:xfrm>
            <a:off x="7379720" y="3881954"/>
            <a:ext cx="4617152" cy="2410628"/>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UI" panose="020B0502040204020203" pitchFamily="34" charset="-34"/>
              <a:cs typeface="Leelawadee UI" panose="020B0502040204020203" pitchFamily="34" charset="-34"/>
            </a:endParaRPr>
          </a:p>
        </p:txBody>
      </p:sp>
      <p:sp>
        <p:nvSpPr>
          <p:cNvPr id="20" name="Right Arrow 19"/>
          <p:cNvSpPr/>
          <p:nvPr/>
        </p:nvSpPr>
        <p:spPr>
          <a:xfrm rot="5400000">
            <a:off x="9567492" y="3442345"/>
            <a:ext cx="390146" cy="376518"/>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ounded Rectangle 20"/>
          <p:cNvSpPr/>
          <p:nvPr/>
        </p:nvSpPr>
        <p:spPr>
          <a:xfrm>
            <a:off x="273283" y="838657"/>
            <a:ext cx="6489333" cy="5331231"/>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UI" panose="020B0502040204020203" pitchFamily="34" charset="-34"/>
              <a:cs typeface="Leelawadee UI" panose="020B0502040204020203" pitchFamily="34" charset="-34"/>
            </a:endParaRPr>
          </a:p>
        </p:txBody>
      </p:sp>
      <p:sp>
        <p:nvSpPr>
          <p:cNvPr id="22" name="Right Arrow 21"/>
          <p:cNvSpPr/>
          <p:nvPr/>
        </p:nvSpPr>
        <p:spPr>
          <a:xfrm>
            <a:off x="6919705" y="1786841"/>
            <a:ext cx="441282" cy="369415"/>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899039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404972" y="291779"/>
              <a:ext cx="9382120"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Web Analytics by Tata </a:t>
              </a:r>
              <a:r>
                <a:rPr lang="en-IN" sz="2800" b="1" dirty="0" err="1">
                  <a:solidFill>
                    <a:srgbClr val="0070C0"/>
                  </a:solidFill>
                  <a:latin typeface="Leelawadee UI" panose="020B0502040204020203" pitchFamily="34" charset="-34"/>
                  <a:cs typeface="Leelawadee UI" panose="020B0502040204020203" pitchFamily="34" charset="-34"/>
                </a:rPr>
                <a:t>iQ</a:t>
              </a:r>
              <a:r>
                <a:rPr lang="en-IN" sz="2800" b="1" dirty="0">
                  <a:solidFill>
                    <a:srgbClr val="0070C0"/>
                  </a:solidFill>
                  <a:latin typeface="Leelawadee UI" panose="020B0502040204020203" pitchFamily="34" charset="-34"/>
                  <a:cs typeface="Leelawadee UI" panose="020B0502040204020203" pitchFamily="34" charset="-34"/>
                </a:rPr>
                <a:t> : Leveraging Adobe Analytics</a:t>
              </a:r>
            </a:p>
          </p:txBody>
        </p:sp>
      </p:grpSp>
      <p:sp>
        <p:nvSpPr>
          <p:cNvPr id="23" name="TextBox 22"/>
          <p:cNvSpPr txBox="1"/>
          <p:nvPr/>
        </p:nvSpPr>
        <p:spPr bwMode="gray">
          <a:xfrm>
            <a:off x="4136159" y="1702424"/>
            <a:ext cx="1455109" cy="496180"/>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Path Report</a:t>
            </a:r>
          </a:p>
        </p:txBody>
      </p:sp>
      <p:sp>
        <p:nvSpPr>
          <p:cNvPr id="24" name="TextBox 23"/>
          <p:cNvSpPr txBox="1"/>
          <p:nvPr/>
        </p:nvSpPr>
        <p:spPr bwMode="gray">
          <a:xfrm>
            <a:off x="4434656" y="3449696"/>
            <a:ext cx="1865954" cy="389558"/>
          </a:xfrm>
          <a:prstGeom prst="rect">
            <a:avLst/>
          </a:prstGeom>
        </p:spPr>
        <p:txBody>
          <a:bodyPr vert="horz" wrap="square" lIns="91440" tIns="45720" rIns="91440" bIns="45720" rtlCol="0" anchor="ctr">
            <a:noAutofit/>
          </a:bodyPr>
          <a:lstStyle/>
          <a:p>
            <a:pPr algn="ctr"/>
            <a:r>
              <a:rPr lang="en-IN" sz="1600" b="1" dirty="0" smtClean="0">
                <a:solidFill>
                  <a:schemeClr val="tx2">
                    <a:lumMod val="60000"/>
                    <a:lumOff val="40000"/>
                  </a:schemeClr>
                </a:solidFill>
                <a:latin typeface="Leelawadee" panose="020B0502040204020203" pitchFamily="34" charset="-34"/>
                <a:cs typeface="Leelawadee" panose="020B0502040204020203" pitchFamily="34" charset="-34"/>
              </a:rPr>
              <a:t>Funnel Report</a:t>
            </a:r>
          </a:p>
        </p:txBody>
      </p:sp>
      <p:pic>
        <p:nvPicPr>
          <p:cNvPr id="25" name="Picture 2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3352" y="1511703"/>
            <a:ext cx="3492807" cy="4357694"/>
          </a:xfrm>
          <a:prstGeom prst="rect">
            <a:avLst/>
          </a:prstGeom>
          <a:ln>
            <a:noFill/>
          </a:ln>
          <a:effectLst>
            <a:outerShdw blurRad="190500" algn="tl" rotWithShape="0">
              <a:srgbClr val="000000">
                <a:alpha val="70000"/>
              </a:srgbClr>
            </a:outerShdw>
          </a:effectLst>
        </p:spPr>
      </p:pic>
      <p:sp>
        <p:nvSpPr>
          <p:cNvPr id="26" name="TextBox 25"/>
          <p:cNvSpPr txBox="1"/>
          <p:nvPr/>
        </p:nvSpPr>
        <p:spPr bwMode="gray">
          <a:xfrm>
            <a:off x="7968389" y="855174"/>
            <a:ext cx="3674443"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Customized Reports using Adobe</a:t>
            </a:r>
          </a:p>
        </p:txBody>
      </p:sp>
      <p:sp>
        <p:nvSpPr>
          <p:cNvPr id="27" name="TextBox 26"/>
          <p:cNvSpPr txBox="1"/>
          <p:nvPr/>
        </p:nvSpPr>
        <p:spPr bwMode="gray">
          <a:xfrm>
            <a:off x="8324923" y="3839254"/>
            <a:ext cx="3094850" cy="432217"/>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Business Diagnosis</a:t>
            </a:r>
          </a:p>
        </p:txBody>
      </p:sp>
      <p:sp>
        <p:nvSpPr>
          <p:cNvPr id="28" name="TextBox 27"/>
          <p:cNvSpPr txBox="1"/>
          <p:nvPr/>
        </p:nvSpPr>
        <p:spPr bwMode="gray">
          <a:xfrm>
            <a:off x="7864323" y="1455291"/>
            <a:ext cx="4069839" cy="1649570"/>
          </a:xfrm>
          <a:prstGeom prst="rect">
            <a:avLst/>
          </a:prstGeom>
        </p:spPr>
        <p:txBody>
          <a:bodyPr vert="horz" wrap="square" lIns="91440" tIns="45720" rIns="91440" bIns="45720" rtlCol="0" anchor="ctr">
            <a:noAutofit/>
          </a:bodyPr>
          <a:lstStyle/>
          <a:p>
            <a:r>
              <a:rPr lang="en-IN" sz="1400" dirty="0" smtClean="0">
                <a:latin typeface="Leelawadee" panose="020B0502040204020203" pitchFamily="34" charset="-34"/>
                <a:cs typeface="Leelawadee" panose="020B0502040204020203" pitchFamily="34" charset="-34"/>
              </a:rPr>
              <a:t>Example:</a:t>
            </a:r>
          </a:p>
          <a:p>
            <a:endParaRPr lang="en-IN" sz="11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Top website Paths segmented based on visitor type, devices , geography and channels </a:t>
            </a:r>
          </a:p>
          <a:p>
            <a:pPr marL="285750" indent="-285750">
              <a:buFont typeface="Arial" panose="020B0604020202020204" pitchFamily="34" charset="0"/>
              <a:buChar char="•"/>
            </a:pPr>
            <a:endParaRPr lang="en-IN" sz="12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Customized funnel performance to understand visitors’ behaviour over website</a:t>
            </a:r>
          </a:p>
          <a:p>
            <a:endParaRPr lang="en-IN" sz="1400" dirty="0">
              <a:latin typeface="Leelawadee" panose="020B0502040204020203" pitchFamily="34" charset="-34"/>
              <a:cs typeface="Leelawadee" panose="020B0502040204020203" pitchFamily="34" charset="-34"/>
            </a:endParaRPr>
          </a:p>
        </p:txBody>
      </p:sp>
      <p:sp>
        <p:nvSpPr>
          <p:cNvPr id="29" name="TextBox 28"/>
          <p:cNvSpPr txBox="1"/>
          <p:nvPr/>
        </p:nvSpPr>
        <p:spPr bwMode="gray">
          <a:xfrm>
            <a:off x="7785847" y="4073622"/>
            <a:ext cx="4226789" cy="1883029"/>
          </a:xfrm>
          <a:prstGeom prst="rect">
            <a:avLst/>
          </a:prstGeom>
        </p:spPr>
        <p:txBody>
          <a:bodyPr vert="horz" wrap="square" lIns="91440" tIns="45720" rIns="91440" bIns="45720" rtlCol="0" anchor="ctr">
            <a:noAutofit/>
          </a:bodyPr>
          <a:lstStyle/>
          <a:p>
            <a:r>
              <a:rPr lang="en-IN" sz="1400" dirty="0" smtClean="0">
                <a:latin typeface="Leelawadee" panose="020B0502040204020203" pitchFamily="34" charset="-34"/>
                <a:cs typeface="Leelawadee" panose="020B0502040204020203" pitchFamily="34" charset="-34"/>
              </a:rPr>
              <a:t>Example:</a:t>
            </a:r>
          </a:p>
          <a:p>
            <a:pPr marL="285750" indent="-285750">
              <a:buFont typeface="Arial" panose="020B0604020202020204" pitchFamily="34" charset="0"/>
              <a:buChar char="•"/>
            </a:pPr>
            <a:endParaRPr lang="en-IN" sz="11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Possible solutions to impediments faced by customer for micro-conversions on website – Lead Form / Customer  service etc. </a:t>
            </a:r>
          </a:p>
          <a:p>
            <a:endParaRPr lang="en-IN" sz="1400" dirty="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Suggestion on landing pages optimization &amp; website structure for improved lead conversion and engagement on website</a:t>
            </a:r>
            <a:endParaRPr lang="en-IN" sz="1400" dirty="0">
              <a:latin typeface="Leelawadee" panose="020B0502040204020203" pitchFamily="34" charset="-34"/>
              <a:cs typeface="Leelawadee" panose="020B0502040204020203" pitchFamily="34" charset="-34"/>
            </a:endParaRPr>
          </a:p>
        </p:txBody>
      </p:sp>
      <p:pic>
        <p:nvPicPr>
          <p:cNvPr id="30" name="Picture 2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235961" y="3921014"/>
            <a:ext cx="4377496" cy="2030143"/>
          </a:xfrm>
          <a:prstGeom prst="rect">
            <a:avLst/>
          </a:prstGeom>
          <a:ln>
            <a:noFill/>
          </a:ln>
          <a:effectLst>
            <a:outerShdw blurRad="190500" algn="tl" rotWithShape="0">
              <a:srgbClr val="000000">
                <a:alpha val="70000"/>
              </a:srgbClr>
            </a:outerShdw>
          </a:effectLst>
        </p:spPr>
      </p:pic>
      <p:sp>
        <p:nvSpPr>
          <p:cNvPr id="31" name="TextBox 30"/>
          <p:cNvSpPr txBox="1"/>
          <p:nvPr/>
        </p:nvSpPr>
        <p:spPr bwMode="gray">
          <a:xfrm>
            <a:off x="-246364" y="5737978"/>
            <a:ext cx="3267632"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a:t>
            </a:r>
          </a:p>
        </p:txBody>
      </p:sp>
      <p:sp>
        <p:nvSpPr>
          <p:cNvPr id="32" name="TextBox 31"/>
          <p:cNvSpPr txBox="1"/>
          <p:nvPr/>
        </p:nvSpPr>
        <p:spPr bwMode="gray">
          <a:xfrm>
            <a:off x="1988343" y="874642"/>
            <a:ext cx="3267632" cy="402619"/>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Standard Reports in Adobe</a:t>
            </a:r>
          </a:p>
        </p:txBody>
      </p:sp>
      <p:sp>
        <p:nvSpPr>
          <p:cNvPr id="33" name="Rounded Rectangle 32"/>
          <p:cNvSpPr/>
          <p:nvPr/>
        </p:nvSpPr>
        <p:spPr>
          <a:xfrm>
            <a:off x="7677060" y="861299"/>
            <a:ext cx="4257102" cy="2433577"/>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sp>
        <p:nvSpPr>
          <p:cNvPr id="34" name="Rounded Rectangle 33"/>
          <p:cNvSpPr/>
          <p:nvPr/>
        </p:nvSpPr>
        <p:spPr>
          <a:xfrm>
            <a:off x="7650166" y="3848527"/>
            <a:ext cx="4346706" cy="2303742"/>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sp>
        <p:nvSpPr>
          <p:cNvPr id="35" name="Right Arrow 34"/>
          <p:cNvSpPr/>
          <p:nvPr/>
        </p:nvSpPr>
        <p:spPr>
          <a:xfrm rot="5400000">
            <a:off x="9640020" y="3357621"/>
            <a:ext cx="366998" cy="409616"/>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Leelawadee" panose="020B0502040204020203" pitchFamily="34" charset="-34"/>
              <a:cs typeface="Leelawadee" panose="020B0502040204020203" pitchFamily="34" charset="-34"/>
            </a:endParaRPr>
          </a:p>
        </p:txBody>
      </p:sp>
      <p:sp>
        <p:nvSpPr>
          <p:cNvPr id="36" name="Rounded Rectangle 35"/>
          <p:cNvSpPr/>
          <p:nvPr/>
        </p:nvSpPr>
        <p:spPr>
          <a:xfrm>
            <a:off x="192601" y="853172"/>
            <a:ext cx="6859117" cy="5331231"/>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sp>
        <p:nvSpPr>
          <p:cNvPr id="37" name="Right Arrow 36"/>
          <p:cNvSpPr/>
          <p:nvPr/>
        </p:nvSpPr>
        <p:spPr>
          <a:xfrm>
            <a:off x="7173129" y="1836007"/>
            <a:ext cx="455837" cy="403477"/>
          </a:xfrm>
          <a:prstGeom prst="rightArrow">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Leelawadee" panose="020B0502040204020203" pitchFamily="34" charset="-34"/>
              <a:cs typeface="Leelawadee" panose="020B0502040204020203" pitchFamily="34" charset="-34"/>
            </a:endParaRPr>
          </a:p>
        </p:txBody>
      </p:sp>
    </p:spTree>
    <p:extLst>
      <p:ext uri="{BB962C8B-B14F-4D97-AF65-F5344CB8AC3E}">
        <p14:creationId xmlns:p14="http://schemas.microsoft.com/office/powerpoint/2010/main" val="40741717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712680" y="291779"/>
              <a:ext cx="6766724"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Digital Analytics: Website Performance</a:t>
              </a:r>
            </a:p>
          </p:txBody>
        </p:sp>
      </p:grpSp>
      <p:sp>
        <p:nvSpPr>
          <p:cNvPr id="23" name="TextBox 22"/>
          <p:cNvSpPr txBox="1"/>
          <p:nvPr/>
        </p:nvSpPr>
        <p:spPr bwMode="gray">
          <a:xfrm>
            <a:off x="409263" y="2400685"/>
            <a:ext cx="2110955" cy="2279252"/>
          </a:xfrm>
          <a:prstGeom prst="rect">
            <a:avLst/>
          </a:prstGeom>
        </p:spPr>
        <p:txBody>
          <a:bodyPr vert="horz" wrap="square" lIns="91440" tIns="45720" rIns="91440" bIns="45720" rtlCol="0" anchor="ctr">
            <a:noAutofit/>
          </a:bodyPr>
          <a:lstStyle/>
          <a:p>
            <a:r>
              <a:rPr lang="en-IN" sz="1600" dirty="0" smtClean="0">
                <a:latin typeface="Leelawadee" panose="020B0502040204020203" pitchFamily="34" charset="-34"/>
                <a:cs typeface="Leelawadee" panose="020B0502040204020203" pitchFamily="34" charset="-34"/>
              </a:rPr>
              <a:t>Customized Report :</a:t>
            </a:r>
          </a:p>
          <a:p>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Clickstream Data– Visitor level</a:t>
            </a:r>
          </a:p>
          <a:p>
            <a:pPr marL="285750" indent="-285750">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Fallout Report</a:t>
            </a:r>
          </a:p>
          <a:p>
            <a:pPr marL="285750" indent="-285750">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Page Reports  </a:t>
            </a:r>
          </a:p>
          <a:p>
            <a:pPr marL="285750" indent="-285750">
              <a:buFont typeface="Arial" panose="020B0604020202020204" pitchFamily="34" charset="0"/>
              <a:buChar char="•"/>
            </a:pPr>
            <a:endParaRPr lang="en-IN" sz="1600" dirty="0" smtClean="0">
              <a:latin typeface="Leelawadee" panose="020B0502040204020203" pitchFamily="34" charset="-34"/>
              <a:cs typeface="Leelawadee" panose="020B0502040204020203" pitchFamily="34" charset="-34"/>
            </a:endParaRPr>
          </a:p>
          <a:p>
            <a:pPr marL="285750" indent="-285750">
              <a:buFont typeface="Arial" panose="020B0604020202020204" pitchFamily="34" charset="0"/>
              <a:buChar char="•"/>
            </a:pPr>
            <a:r>
              <a:rPr lang="en-IN" sz="1600" dirty="0" smtClean="0">
                <a:latin typeface="Leelawadee" panose="020B0502040204020203" pitchFamily="34" charset="-34"/>
                <a:cs typeface="Leelawadee" panose="020B0502040204020203" pitchFamily="34" charset="-34"/>
              </a:rPr>
              <a:t>Event Data</a:t>
            </a:r>
          </a:p>
        </p:txBody>
      </p:sp>
      <p:sp>
        <p:nvSpPr>
          <p:cNvPr id="24" name="TextBox 23"/>
          <p:cNvSpPr txBox="1"/>
          <p:nvPr/>
        </p:nvSpPr>
        <p:spPr bwMode="gray">
          <a:xfrm>
            <a:off x="3757680" y="2126589"/>
            <a:ext cx="1468321" cy="672354"/>
          </a:xfrm>
          <a:prstGeom prst="rect">
            <a:avLst/>
          </a:prstGeom>
        </p:spPr>
        <p:txBody>
          <a:bodyPr vert="horz" wrap="square" lIns="91440" tIns="45720" rIns="91440" bIns="45720" rtlCol="0" anchor="ctr">
            <a:noAutofit/>
          </a:bodyPr>
          <a:lstStyle/>
          <a:p>
            <a:pPr algn="ctr"/>
            <a:r>
              <a:rPr lang="en-IN" sz="1600" b="1" dirty="0" smtClean="0">
                <a:solidFill>
                  <a:schemeClr val="tx2">
                    <a:lumMod val="75000"/>
                  </a:schemeClr>
                </a:solidFill>
                <a:latin typeface="Leelawadee" panose="020B0502040204020203" pitchFamily="34" charset="-34"/>
                <a:cs typeface="Leelawadee" panose="020B0502040204020203" pitchFamily="34" charset="-34"/>
              </a:rPr>
              <a:t>Markov Chain Model </a:t>
            </a:r>
          </a:p>
        </p:txBody>
      </p:sp>
      <p:sp>
        <p:nvSpPr>
          <p:cNvPr id="25" name="TextBox 24"/>
          <p:cNvSpPr txBox="1"/>
          <p:nvPr/>
        </p:nvSpPr>
        <p:spPr bwMode="gray">
          <a:xfrm>
            <a:off x="3873354" y="3269604"/>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5">
                    <a:lumMod val="75000"/>
                  </a:schemeClr>
                </a:solidFill>
                <a:latin typeface="Leelawadee" panose="020B0502040204020203" pitchFamily="34" charset="-34"/>
                <a:cs typeface="Leelawadee" panose="020B0502040204020203" pitchFamily="34" charset="-34"/>
              </a:rPr>
              <a:t>Visitor / Visit  Clustering </a:t>
            </a:r>
          </a:p>
        </p:txBody>
      </p:sp>
      <p:sp>
        <p:nvSpPr>
          <p:cNvPr id="26" name="TextBox 25"/>
          <p:cNvSpPr txBox="1"/>
          <p:nvPr/>
        </p:nvSpPr>
        <p:spPr bwMode="gray">
          <a:xfrm>
            <a:off x="6329170" y="3263519"/>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5">
                    <a:lumMod val="75000"/>
                  </a:schemeClr>
                </a:solidFill>
                <a:latin typeface="Leelawadee" panose="020B0502040204020203" pitchFamily="34" charset="-34"/>
                <a:cs typeface="Leelawadee" panose="020B0502040204020203" pitchFamily="34" charset="-34"/>
              </a:rPr>
              <a:t>Visitor Persona </a:t>
            </a:r>
          </a:p>
        </p:txBody>
      </p:sp>
      <p:sp>
        <p:nvSpPr>
          <p:cNvPr id="27" name="TextBox 26"/>
          <p:cNvSpPr txBox="1"/>
          <p:nvPr/>
        </p:nvSpPr>
        <p:spPr bwMode="gray">
          <a:xfrm>
            <a:off x="6257284" y="2126589"/>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tx2">
                    <a:lumMod val="75000"/>
                  </a:schemeClr>
                </a:solidFill>
                <a:latin typeface="Leelawadee" panose="020B0502040204020203" pitchFamily="34" charset="-34"/>
                <a:cs typeface="Leelawadee" panose="020B0502040204020203" pitchFamily="34" charset="-34"/>
              </a:rPr>
              <a:t>Optimized Paths </a:t>
            </a:r>
          </a:p>
        </p:txBody>
      </p:sp>
      <p:sp>
        <p:nvSpPr>
          <p:cNvPr id="28" name="TextBox 27"/>
          <p:cNvSpPr txBox="1"/>
          <p:nvPr/>
        </p:nvSpPr>
        <p:spPr bwMode="gray">
          <a:xfrm>
            <a:off x="8702131" y="1070594"/>
            <a:ext cx="2508952"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Recommendations On</a:t>
            </a:r>
          </a:p>
        </p:txBody>
      </p:sp>
      <p:cxnSp>
        <p:nvCxnSpPr>
          <p:cNvPr id="29" name="Straight Arrow Connector 28"/>
          <p:cNvCxnSpPr/>
          <p:nvPr/>
        </p:nvCxnSpPr>
        <p:spPr>
          <a:xfrm flipV="1">
            <a:off x="2823703" y="2462766"/>
            <a:ext cx="807926" cy="131093"/>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2823703" y="3516196"/>
            <a:ext cx="846358"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338660" y="2462766"/>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5518146" y="3516196"/>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bwMode="gray">
          <a:xfrm>
            <a:off x="6438793" y="4402676"/>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6">
                    <a:lumMod val="50000"/>
                  </a:schemeClr>
                </a:solidFill>
                <a:latin typeface="Leelawadee" panose="020B0502040204020203" pitchFamily="34" charset="-34"/>
                <a:cs typeface="Leelawadee" panose="020B0502040204020203" pitchFamily="34" charset="-34"/>
              </a:rPr>
              <a:t>Website Feature Analysis</a:t>
            </a:r>
          </a:p>
        </p:txBody>
      </p:sp>
      <p:cxnSp>
        <p:nvCxnSpPr>
          <p:cNvPr id="34" name="Straight Arrow Connector 33"/>
          <p:cNvCxnSpPr/>
          <p:nvPr/>
        </p:nvCxnSpPr>
        <p:spPr>
          <a:xfrm>
            <a:off x="2823703" y="4402675"/>
            <a:ext cx="807926" cy="182569"/>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bwMode="gray">
          <a:xfrm>
            <a:off x="8732054" y="2137615"/>
            <a:ext cx="2236991" cy="424966"/>
          </a:xfrm>
          <a:prstGeom prst="rect">
            <a:avLst/>
          </a:prstGeom>
        </p:spPr>
        <p:txBody>
          <a:bodyPr vert="horz" wrap="square" lIns="91440" tIns="45720" rIns="91440" bIns="45720" rtlCol="0" anchor="ctr">
            <a:noAutofit/>
          </a:bodyPr>
          <a:lstStyle/>
          <a:p>
            <a:pPr algn="ctr"/>
            <a:r>
              <a:rPr lang="en-IN" sz="1600" b="1" dirty="0" smtClean="0">
                <a:solidFill>
                  <a:schemeClr val="tx2">
                    <a:lumMod val="75000"/>
                  </a:schemeClr>
                </a:solidFill>
                <a:latin typeface="Leelawadee" panose="020B0502040204020203" pitchFamily="34" charset="-34"/>
                <a:cs typeface="Leelawadee" panose="020B0502040204020203" pitchFamily="34" charset="-34"/>
              </a:rPr>
              <a:t>Website Structure </a:t>
            </a:r>
          </a:p>
        </p:txBody>
      </p:sp>
      <p:sp>
        <p:nvSpPr>
          <p:cNvPr id="36" name="TextBox 35"/>
          <p:cNvSpPr txBox="1"/>
          <p:nvPr/>
        </p:nvSpPr>
        <p:spPr bwMode="gray">
          <a:xfrm>
            <a:off x="3873354" y="4402675"/>
            <a:ext cx="1468321" cy="533402"/>
          </a:xfrm>
          <a:prstGeom prst="rect">
            <a:avLst/>
          </a:prstGeom>
        </p:spPr>
        <p:txBody>
          <a:bodyPr vert="horz" wrap="square" lIns="91440" tIns="45720" rIns="91440" bIns="45720" rtlCol="0" anchor="ctr">
            <a:noAutofit/>
          </a:bodyPr>
          <a:lstStyle/>
          <a:p>
            <a:pPr algn="ctr"/>
            <a:r>
              <a:rPr lang="en-IN" sz="1600" b="1" dirty="0" smtClean="0">
                <a:solidFill>
                  <a:schemeClr val="accent6">
                    <a:lumMod val="50000"/>
                  </a:schemeClr>
                </a:solidFill>
                <a:latin typeface="Leelawadee" panose="020B0502040204020203" pitchFamily="34" charset="-34"/>
                <a:cs typeface="Leelawadee" panose="020B0502040204020203" pitchFamily="34" charset="-34"/>
              </a:rPr>
              <a:t>Multivariate Regression </a:t>
            </a:r>
          </a:p>
        </p:txBody>
      </p:sp>
      <p:cxnSp>
        <p:nvCxnSpPr>
          <p:cNvPr id="37" name="Straight Arrow Connector 36"/>
          <p:cNvCxnSpPr/>
          <p:nvPr/>
        </p:nvCxnSpPr>
        <p:spPr>
          <a:xfrm>
            <a:off x="5475844" y="4628633"/>
            <a:ext cx="869750" cy="11232"/>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bwMode="gray">
          <a:xfrm>
            <a:off x="8689420" y="3269604"/>
            <a:ext cx="2236991" cy="424966"/>
          </a:xfrm>
          <a:prstGeom prst="rect">
            <a:avLst/>
          </a:prstGeom>
        </p:spPr>
        <p:txBody>
          <a:bodyPr vert="horz" wrap="square" lIns="91440" tIns="45720" rIns="91440" bIns="45720" rtlCol="0" anchor="ctr">
            <a:noAutofit/>
          </a:bodyPr>
          <a:lstStyle/>
          <a:p>
            <a:pPr algn="ctr"/>
            <a:r>
              <a:rPr lang="en-IN" sz="1600" b="1" dirty="0" smtClean="0">
                <a:solidFill>
                  <a:schemeClr val="accent5">
                    <a:lumMod val="75000"/>
                  </a:schemeClr>
                </a:solidFill>
                <a:latin typeface="Leelawadee" panose="020B0502040204020203" pitchFamily="34" charset="-34"/>
                <a:cs typeface="Leelawadee" panose="020B0502040204020203" pitchFamily="34" charset="-34"/>
              </a:rPr>
              <a:t>Targeting for Marketing Campaigns </a:t>
            </a:r>
          </a:p>
        </p:txBody>
      </p:sp>
      <p:sp>
        <p:nvSpPr>
          <p:cNvPr id="39" name="TextBox 38"/>
          <p:cNvSpPr txBox="1"/>
          <p:nvPr/>
        </p:nvSpPr>
        <p:spPr bwMode="gray">
          <a:xfrm>
            <a:off x="9040587" y="4391524"/>
            <a:ext cx="1619923" cy="424966"/>
          </a:xfrm>
          <a:prstGeom prst="rect">
            <a:avLst/>
          </a:prstGeom>
        </p:spPr>
        <p:txBody>
          <a:bodyPr vert="horz" wrap="square" lIns="91440" tIns="45720" rIns="91440" bIns="45720" rtlCol="0" anchor="ctr">
            <a:noAutofit/>
          </a:bodyPr>
          <a:lstStyle/>
          <a:p>
            <a:pPr algn="ctr"/>
            <a:r>
              <a:rPr lang="en-IN" sz="1600" b="1" dirty="0" smtClean="0">
                <a:solidFill>
                  <a:schemeClr val="accent6">
                    <a:lumMod val="50000"/>
                  </a:schemeClr>
                </a:solidFill>
                <a:latin typeface="Leelawadee" panose="020B0502040204020203" pitchFamily="34" charset="-34"/>
                <a:cs typeface="Leelawadee" panose="020B0502040204020203" pitchFamily="34" charset="-34"/>
              </a:rPr>
              <a:t>Website Structure / UX </a:t>
            </a:r>
          </a:p>
        </p:txBody>
      </p:sp>
      <p:sp>
        <p:nvSpPr>
          <p:cNvPr id="41" name="TextBox 40"/>
          <p:cNvSpPr txBox="1"/>
          <p:nvPr/>
        </p:nvSpPr>
        <p:spPr bwMode="gray">
          <a:xfrm>
            <a:off x="3373344" y="1129266"/>
            <a:ext cx="2236991"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Analysis</a:t>
            </a:r>
          </a:p>
          <a:p>
            <a:pPr algn="ctr"/>
            <a:r>
              <a:rPr lang="en-IN" sz="1600" b="1" dirty="0" smtClean="0">
                <a:latin typeface="Leelawadee" panose="020B0502040204020203" pitchFamily="34" charset="-34"/>
                <a:cs typeface="Leelawadee" panose="020B0502040204020203" pitchFamily="34" charset="-34"/>
              </a:rPr>
              <a:t>Techniques </a:t>
            </a:r>
          </a:p>
        </p:txBody>
      </p:sp>
      <p:sp>
        <p:nvSpPr>
          <p:cNvPr id="42" name="TextBox 41"/>
          <p:cNvSpPr txBox="1"/>
          <p:nvPr/>
        </p:nvSpPr>
        <p:spPr bwMode="gray">
          <a:xfrm>
            <a:off x="5872948" y="1040038"/>
            <a:ext cx="2236991"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Output</a:t>
            </a:r>
          </a:p>
        </p:txBody>
      </p:sp>
      <p:cxnSp>
        <p:nvCxnSpPr>
          <p:cNvPr id="43" name="Straight Arrow Connector 42"/>
          <p:cNvCxnSpPr/>
          <p:nvPr/>
        </p:nvCxnSpPr>
        <p:spPr>
          <a:xfrm>
            <a:off x="7723263" y="2426908"/>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7902749" y="3480338"/>
            <a:ext cx="918623" cy="0"/>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7860447" y="4592775"/>
            <a:ext cx="869750" cy="11232"/>
          </a:xfrm>
          <a:prstGeom prst="straightConnector1">
            <a:avLst/>
          </a:prstGeom>
          <a:ln w="19050">
            <a:solidFill>
              <a:schemeClr val="bg2">
                <a:lumMod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bwMode="gray">
          <a:xfrm>
            <a:off x="512004" y="1089241"/>
            <a:ext cx="1873194" cy="424966"/>
          </a:xfrm>
          <a:prstGeom prst="rect">
            <a:avLst/>
          </a:prstGeom>
        </p:spPr>
        <p:txBody>
          <a:bodyPr vert="horz" wrap="square" lIns="91440" tIns="45720" rIns="91440" bIns="45720" rtlCol="0" anchor="ctr">
            <a:noAutofit/>
          </a:bodyPr>
          <a:lstStyle/>
          <a:p>
            <a:pPr algn="ctr"/>
            <a:r>
              <a:rPr lang="en-IN" sz="1600" b="1" dirty="0" smtClean="0">
                <a:latin typeface="Leelawadee" panose="020B0502040204020203" pitchFamily="34" charset="-34"/>
                <a:cs typeface="Leelawadee" panose="020B0502040204020203" pitchFamily="34" charset="-34"/>
              </a:rPr>
              <a:t>Input from Adobe Analytics</a:t>
            </a:r>
          </a:p>
        </p:txBody>
      </p:sp>
      <p:sp>
        <p:nvSpPr>
          <p:cNvPr id="47" name="Rounded Rectangle 46"/>
          <p:cNvSpPr/>
          <p:nvPr/>
        </p:nvSpPr>
        <p:spPr>
          <a:xfrm>
            <a:off x="274096" y="2072128"/>
            <a:ext cx="2326060" cy="2958353"/>
          </a:xfrm>
          <a:prstGeom prst="round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IN" sz="1600">
              <a:solidFill>
                <a:prstClr val="white"/>
              </a:solidFill>
              <a:latin typeface="Leelawadee" panose="020B0502040204020203" pitchFamily="34" charset="-34"/>
              <a:cs typeface="Leelawadee" panose="020B0502040204020203" pitchFamily="34" charset="-34"/>
            </a:endParaRPr>
          </a:p>
        </p:txBody>
      </p:sp>
      <p:cxnSp>
        <p:nvCxnSpPr>
          <p:cNvPr id="48" name="Straight Connector 47"/>
          <p:cNvCxnSpPr/>
          <p:nvPr/>
        </p:nvCxnSpPr>
        <p:spPr>
          <a:xfrm>
            <a:off x="512004" y="1648677"/>
            <a:ext cx="1126762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Elbow Connector 48"/>
          <p:cNvCxnSpPr/>
          <p:nvPr/>
        </p:nvCxnSpPr>
        <p:spPr>
          <a:xfrm rot="10800000" flipV="1">
            <a:off x="1398495" y="3480337"/>
            <a:ext cx="9991167" cy="2289732"/>
          </a:xfrm>
          <a:prstGeom prst="bentConnector3">
            <a:avLst>
              <a:gd name="adj1" fmla="val -3298"/>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1398494" y="5191845"/>
            <a:ext cx="1" cy="578225"/>
          </a:xfrm>
          <a:prstGeom prst="straightConnector1">
            <a:avLst/>
          </a:prstGeom>
          <a:ln>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53" idx="1"/>
          </p:cNvCxnSpPr>
          <p:nvPr/>
        </p:nvCxnSpPr>
        <p:spPr>
          <a:xfrm>
            <a:off x="11261668" y="3480336"/>
            <a:ext cx="146097" cy="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bwMode="gray">
          <a:xfrm>
            <a:off x="4795668" y="5905478"/>
            <a:ext cx="3037817" cy="174812"/>
          </a:xfrm>
          <a:prstGeom prst="rect">
            <a:avLst/>
          </a:prstGeom>
        </p:spPr>
        <p:txBody>
          <a:bodyPr vert="horz" wrap="square" lIns="91440" tIns="45720" rIns="91440" bIns="45720" rtlCol="0" anchor="ctr">
            <a:noAutofit/>
          </a:bodyPr>
          <a:lstStyle/>
          <a:p>
            <a:pPr algn="ctr"/>
            <a:r>
              <a:rPr lang="en-IN" sz="1400" dirty="0" smtClean="0"/>
              <a:t>Feedback</a:t>
            </a:r>
          </a:p>
        </p:txBody>
      </p:sp>
      <p:sp>
        <p:nvSpPr>
          <p:cNvPr id="53" name="Right Brace 52"/>
          <p:cNvSpPr/>
          <p:nvPr/>
        </p:nvSpPr>
        <p:spPr>
          <a:xfrm>
            <a:off x="11039974" y="2213522"/>
            <a:ext cx="221694" cy="2533627"/>
          </a:xfrm>
          <a:prstGeom prst="rightBrac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41981193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019515" y="291779"/>
              <a:ext cx="6153031"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Web Analytics Detailed Capabilities</a:t>
              </a:r>
            </a:p>
          </p:txBody>
        </p:sp>
      </p:grpSp>
      <p:graphicFrame>
        <p:nvGraphicFramePr>
          <p:cNvPr id="16" name="Table 15"/>
          <p:cNvGraphicFramePr>
            <a:graphicFrameLocks noGrp="1"/>
          </p:cNvGraphicFramePr>
          <p:nvPr>
            <p:extLst>
              <p:ext uri="{D42A27DB-BD31-4B8C-83A1-F6EECF244321}">
                <p14:modId xmlns:p14="http://schemas.microsoft.com/office/powerpoint/2010/main" val="142745870"/>
              </p:ext>
            </p:extLst>
          </p:nvPr>
        </p:nvGraphicFramePr>
        <p:xfrm>
          <a:off x="629983" y="996462"/>
          <a:ext cx="10705887" cy="4960585"/>
        </p:xfrm>
        <a:graphic>
          <a:graphicData uri="http://schemas.openxmlformats.org/drawingml/2006/table">
            <a:tbl>
              <a:tblPr firstRow="1" bandRow="1">
                <a:tableStyleId>{BC89EF96-8CEA-46FF-86C4-4CE0E7609802}</a:tableStyleId>
              </a:tblPr>
              <a:tblGrid>
                <a:gridCol w="3081405"/>
                <a:gridCol w="7624482"/>
              </a:tblGrid>
              <a:tr h="477244">
                <a:tc>
                  <a:txBody>
                    <a:bodyPr/>
                    <a:lstStyle/>
                    <a:p>
                      <a:pPr algn="ctr"/>
                      <a:r>
                        <a:rPr lang="en-IN" sz="1600" dirty="0" smtClean="0">
                          <a:latin typeface="Leelawadee" panose="020B0502040204020203" pitchFamily="34" charset="-34"/>
                          <a:cs typeface="Leelawadee" panose="020B0502040204020203" pitchFamily="34" charset="-34"/>
                        </a:rPr>
                        <a:t>          </a:t>
                      </a:r>
                      <a:r>
                        <a:rPr lang="en-IN" sz="1600" baseline="0" dirty="0" smtClean="0">
                          <a:latin typeface="Leelawadee" panose="020B0502040204020203" pitchFamily="34" charset="-34"/>
                          <a:cs typeface="Leelawadee" panose="020B0502040204020203" pitchFamily="34" charset="-34"/>
                        </a:rPr>
                        <a:t>Area </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Outcomes</a:t>
                      </a:r>
                      <a:endParaRPr lang="en-IN" sz="1600" dirty="0">
                        <a:latin typeface="Leelawadee" panose="020B0502040204020203" pitchFamily="34" charset="-34"/>
                        <a:cs typeface="Leelawadee" panose="020B0502040204020203" pitchFamily="34" charset="-34"/>
                      </a:endParaRPr>
                    </a:p>
                  </a:txBody>
                  <a:tcPr anchor="ctr"/>
                </a:tc>
              </a:tr>
              <a:tr h="1012426">
                <a:tc>
                  <a:txBody>
                    <a:bodyPr/>
                    <a:lstStyle/>
                    <a:p>
                      <a:pPr algn="ctr"/>
                      <a:r>
                        <a:rPr lang="en-IN" sz="1400" b="1" dirty="0" smtClean="0">
                          <a:latin typeface="Leelawadee" panose="020B0502040204020203" pitchFamily="34" charset="-34"/>
                          <a:cs typeface="Leelawadee" panose="020B0502040204020203" pitchFamily="34" charset="-34"/>
                        </a:rPr>
                        <a:t>              Website</a:t>
                      </a:r>
                      <a:r>
                        <a:rPr lang="en-IN" sz="1400" b="1" baseline="0" dirty="0" smtClean="0">
                          <a:latin typeface="Leelawadee" panose="020B0502040204020203" pitchFamily="34" charset="-34"/>
                          <a:cs typeface="Leelawadee" panose="020B0502040204020203" pitchFamily="34" charset="-34"/>
                        </a:rPr>
                        <a:t> </a:t>
                      </a:r>
                    </a:p>
                    <a:p>
                      <a:pPr algn="ctr"/>
                      <a:r>
                        <a:rPr lang="en-IN" sz="1400" b="1" dirty="0" smtClean="0">
                          <a:latin typeface="Leelawadee" panose="020B0502040204020203" pitchFamily="34" charset="-34"/>
                          <a:cs typeface="Leelawadee" panose="020B0502040204020203" pitchFamily="34" charset="-34"/>
                        </a:rPr>
                        <a:t>               Diagnosis</a:t>
                      </a:r>
                    </a:p>
                  </a:txBody>
                  <a:tcPr anchor="ctr">
                    <a:solidFill>
                      <a:schemeClr val="bg1"/>
                    </a:solidFill>
                  </a:tcPr>
                </a:tc>
                <a:tc>
                  <a:txBody>
                    <a:bodyPr/>
                    <a:lstStyle/>
                    <a:p>
                      <a:pPr marL="742950" lvl="1"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Measure Performance of Key Business Metrics </a:t>
                      </a:r>
                    </a:p>
                    <a:p>
                      <a:pPr marL="742950" lvl="1"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Measure Performance of customized variables and success events </a:t>
                      </a:r>
                    </a:p>
                    <a:p>
                      <a:pPr marL="742950" lvl="1"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Measure Performance across Devices &amp; Channels </a:t>
                      </a:r>
                      <a:endParaRPr lang="en-IN" sz="1400" dirty="0">
                        <a:latin typeface="Leelawadee" panose="020B0502040204020203" pitchFamily="34" charset="-34"/>
                        <a:cs typeface="Leelawadee" panose="020B0502040204020203" pitchFamily="34" charset="-34"/>
                      </a:endParaRPr>
                    </a:p>
                  </a:txBody>
                  <a:tcPr anchor="ctr">
                    <a:solidFill>
                      <a:schemeClr val="accent1">
                        <a:lumMod val="20000"/>
                        <a:lumOff val="80000"/>
                      </a:schemeClr>
                    </a:solidFill>
                  </a:tcPr>
                </a:tc>
              </a:tr>
              <a:tr h="1012426">
                <a:tc>
                  <a:txBody>
                    <a:bodyPr/>
                    <a:lstStyle/>
                    <a:p>
                      <a:pPr algn="ctr"/>
                      <a:r>
                        <a:rPr lang="en-IN" sz="1400" b="1" dirty="0" smtClean="0">
                          <a:latin typeface="Leelawadee" panose="020B0502040204020203" pitchFamily="34" charset="-34"/>
                          <a:cs typeface="Leelawadee" panose="020B0502040204020203" pitchFamily="34" charset="-34"/>
                        </a:rPr>
                        <a:t>            Lead</a:t>
                      </a:r>
                      <a:r>
                        <a:rPr lang="en-IN" sz="1400" b="1" baseline="0" dirty="0" smtClean="0">
                          <a:latin typeface="Leelawadee" panose="020B0502040204020203" pitchFamily="34" charset="-34"/>
                          <a:cs typeface="Leelawadee" panose="020B0502040204020203" pitchFamily="34" charset="-34"/>
                        </a:rPr>
                        <a:t> Funnel</a:t>
                      </a:r>
                    </a:p>
                    <a:p>
                      <a:pPr algn="ctr"/>
                      <a:r>
                        <a:rPr lang="en-IN" sz="1400" b="1" baseline="0" dirty="0" smtClean="0">
                          <a:latin typeface="Leelawadee" panose="020B0502040204020203" pitchFamily="34" charset="-34"/>
                          <a:cs typeface="Leelawadee" panose="020B0502040204020203" pitchFamily="34" charset="-34"/>
                        </a:rPr>
                        <a:t>              Analysis </a:t>
                      </a:r>
                      <a:endParaRPr lang="en-IN" sz="1400" b="0"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Improving Lead Submission using Visitor Path Analysis </a:t>
                      </a:r>
                    </a:p>
                    <a:p>
                      <a:pPr marL="742950" lvl="1"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Segmenting visitor based on paths </a:t>
                      </a:r>
                    </a:p>
                    <a:p>
                      <a:pPr marL="742950" lvl="1"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Understanding Top paths</a:t>
                      </a:r>
                      <a:r>
                        <a:rPr lang="en-IN" sz="1400" baseline="0" dirty="0" smtClean="0">
                          <a:latin typeface="Leelawadee" panose="020B0502040204020203" pitchFamily="34" charset="-34"/>
                          <a:cs typeface="Leelawadee" panose="020B0502040204020203" pitchFamily="34" charset="-34"/>
                        </a:rPr>
                        <a:t> and their conversion rate</a:t>
                      </a:r>
                      <a:endParaRPr lang="en-IN" sz="1400" dirty="0">
                        <a:latin typeface="Leelawadee" panose="020B0502040204020203" pitchFamily="34" charset="-34"/>
                        <a:cs typeface="Leelawadee" panose="020B0502040204020203" pitchFamily="34" charset="-34"/>
                      </a:endParaRPr>
                    </a:p>
                  </a:txBody>
                  <a:tcPr anchor="ctr">
                    <a:solidFill>
                      <a:schemeClr val="accent1">
                        <a:lumMod val="20000"/>
                        <a:lumOff val="80000"/>
                      </a:schemeClr>
                    </a:solidFill>
                  </a:tcPr>
                </a:tc>
              </a:tr>
              <a:tr h="899915">
                <a:tc>
                  <a:txBody>
                    <a:bodyPr/>
                    <a:lstStyle/>
                    <a:p>
                      <a:pPr algn="ctr"/>
                      <a:r>
                        <a:rPr lang="en-IN" sz="1400" b="1" dirty="0" smtClean="0">
                          <a:latin typeface="Leelawadee" panose="020B0502040204020203" pitchFamily="34" charset="-34"/>
                          <a:cs typeface="Leelawadee" panose="020B0502040204020203" pitchFamily="34" charset="-34"/>
                        </a:rPr>
                        <a:t>                 Website Feature</a:t>
                      </a:r>
                    </a:p>
                    <a:p>
                      <a:pPr algn="ctr"/>
                      <a:r>
                        <a:rPr lang="en-IN" sz="1400" b="1" dirty="0" smtClean="0">
                          <a:latin typeface="Leelawadee" panose="020B0502040204020203" pitchFamily="34" charset="-34"/>
                          <a:cs typeface="Leelawadee" panose="020B0502040204020203" pitchFamily="34" charset="-34"/>
                        </a:rPr>
                        <a:t>                Analysis </a:t>
                      </a:r>
                      <a:endParaRPr lang="en-IN" sz="1400" b="0"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lgn="l">
                        <a:buFont typeface="Arial" panose="020B0604020202020204" pitchFamily="34" charset="0"/>
                        <a:buChar char="•"/>
                      </a:pPr>
                      <a:r>
                        <a:rPr lang="en-IN" sz="1400" dirty="0" smtClean="0">
                          <a:solidFill>
                            <a:schemeClr val="tx1"/>
                          </a:solidFill>
                          <a:latin typeface="Leelawadee" panose="020B0502040204020203" pitchFamily="34" charset="-34"/>
                          <a:cs typeface="Leelawadee" panose="020B0502040204020203" pitchFamily="34" charset="-34"/>
                        </a:rPr>
                        <a:t>Usage and  Performance</a:t>
                      </a:r>
                      <a:r>
                        <a:rPr lang="en-IN" sz="1400" baseline="0" dirty="0" smtClean="0">
                          <a:solidFill>
                            <a:schemeClr val="tx1"/>
                          </a:solidFill>
                          <a:latin typeface="Leelawadee" panose="020B0502040204020203" pitchFamily="34" charset="-34"/>
                          <a:cs typeface="Leelawadee" panose="020B0502040204020203" pitchFamily="34" charset="-34"/>
                        </a:rPr>
                        <a:t> of Website Features such as links, buttons etc. </a:t>
                      </a:r>
                      <a:endParaRPr lang="en-IN" sz="1400" dirty="0">
                        <a:solidFill>
                          <a:schemeClr val="tx1"/>
                        </a:solidFill>
                        <a:latin typeface="Leelawadee" panose="020B0502040204020203" pitchFamily="34" charset="-34"/>
                        <a:cs typeface="Leelawadee" panose="020B0502040204020203" pitchFamily="34" charset="-34"/>
                      </a:endParaRPr>
                    </a:p>
                  </a:txBody>
                  <a:tcPr anchor="ctr">
                    <a:solidFill>
                      <a:srgbClr val="D8E8F1"/>
                    </a:solidFill>
                  </a:tcPr>
                </a:tc>
              </a:tr>
              <a:tr h="779287">
                <a:tc>
                  <a:txBody>
                    <a:bodyPr/>
                    <a:lstStyle/>
                    <a:p>
                      <a:pPr algn="ctr"/>
                      <a:r>
                        <a:rPr lang="en-IN" sz="1400" b="1" dirty="0" smtClean="0">
                          <a:latin typeface="Leelawadee" panose="020B0502040204020203" pitchFamily="34" charset="-34"/>
                          <a:cs typeface="Leelawadee" panose="020B0502040204020203" pitchFamily="34" charset="-34"/>
                        </a:rPr>
                        <a:t>                 Segmentation &amp; </a:t>
                      </a:r>
                    </a:p>
                    <a:p>
                      <a:pPr algn="ctr"/>
                      <a:r>
                        <a:rPr lang="en-IN" sz="1400" b="1" dirty="0" smtClean="0">
                          <a:latin typeface="Leelawadee" panose="020B0502040204020203" pitchFamily="34" charset="-34"/>
                          <a:cs typeface="Leelawadee" panose="020B0502040204020203" pitchFamily="34" charset="-34"/>
                        </a:rPr>
                        <a:t>                Retargeting </a:t>
                      </a:r>
                      <a:endParaRPr lang="en-IN" sz="1400" b="0"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smtClean="0">
                          <a:solidFill>
                            <a:schemeClr val="tx1"/>
                          </a:solidFill>
                          <a:latin typeface="Leelawadee" panose="020B0502040204020203" pitchFamily="34" charset="-34"/>
                          <a:cs typeface="Leelawadee" panose="020B0502040204020203" pitchFamily="34" charset="-34"/>
                        </a:rPr>
                        <a:t>Integrating Web Analytics into Digital Campaign Planning for Optimized Results</a:t>
                      </a:r>
                    </a:p>
                  </a:txBody>
                  <a:tcPr anchor="ctr">
                    <a:solidFill>
                      <a:srgbClr val="D8E8F1"/>
                    </a:solidFill>
                  </a:tcPr>
                </a:tc>
              </a:tr>
              <a:tr h="779287">
                <a:tc>
                  <a:txBody>
                    <a:bodyPr/>
                    <a:lstStyle/>
                    <a:p>
                      <a:pPr lvl="2" algn="ctr"/>
                      <a:r>
                        <a:rPr lang="en-IN" sz="1400" b="1" dirty="0" smtClean="0">
                          <a:latin typeface="Leelawadee" panose="020B0502040204020203" pitchFamily="34" charset="-34"/>
                          <a:cs typeface="Leelawadee" panose="020B0502040204020203" pitchFamily="34" charset="-34"/>
                        </a:rPr>
                        <a:t>Personalization</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lgn="l">
                        <a:buFont typeface="Arial" panose="020B0604020202020204" pitchFamily="34" charset="0"/>
                        <a:buChar char="•"/>
                      </a:pPr>
                      <a:r>
                        <a:rPr lang="en-IN" sz="1400" dirty="0" smtClean="0">
                          <a:solidFill>
                            <a:schemeClr val="tx1"/>
                          </a:solidFill>
                          <a:latin typeface="Leelawadee" panose="020B0502040204020203" pitchFamily="34" charset="-34"/>
                          <a:cs typeface="Leelawadee" panose="020B0502040204020203" pitchFamily="34" charset="-34"/>
                        </a:rPr>
                        <a:t>Improved</a:t>
                      </a:r>
                      <a:r>
                        <a:rPr lang="en-IN" sz="1400" baseline="0" dirty="0" smtClean="0">
                          <a:solidFill>
                            <a:schemeClr val="tx1"/>
                          </a:solidFill>
                          <a:latin typeface="Leelawadee" panose="020B0502040204020203" pitchFamily="34" charset="-34"/>
                          <a:cs typeface="Leelawadee" panose="020B0502040204020203" pitchFamily="34" charset="-34"/>
                        </a:rPr>
                        <a:t> website structure and marketing campaign by performing A/B testing </a:t>
                      </a:r>
                      <a:endParaRPr lang="en-IN" sz="1400" dirty="0">
                        <a:solidFill>
                          <a:schemeClr val="tx1"/>
                        </a:solidFill>
                        <a:latin typeface="Leelawadee" panose="020B0502040204020203" pitchFamily="34" charset="-34"/>
                        <a:cs typeface="Leelawadee" panose="020B0502040204020203" pitchFamily="34" charset="-34"/>
                      </a:endParaRPr>
                    </a:p>
                  </a:txBody>
                  <a:tcPr anchor="ctr">
                    <a:solidFill>
                      <a:srgbClr val="D8E8F1"/>
                    </a:solidFill>
                  </a:tcPr>
                </a:tc>
              </a:tr>
            </a:tbl>
          </a:graphicData>
        </a:graphic>
      </p:graphicFrame>
      <p:pic>
        <p:nvPicPr>
          <p:cNvPr id="17" name="Picture 2" descr="http://www.danbeldowicz.com/wp-content/uploads/2014/07/icon-sales-funnel.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763708" y="2681849"/>
            <a:ext cx="669147" cy="6061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http://www.pbpmedia.com/wp-content/uploads/icon_home_leadgen-150x150.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828855" y="4551197"/>
            <a:ext cx="460573" cy="460573"/>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https://cdn4.iconfinder.com/data/icons/111-seo-services-pack/128/new_seo2-01-512.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763708" y="1545118"/>
            <a:ext cx="714176" cy="714176"/>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54451" y="3735630"/>
            <a:ext cx="478659" cy="466063"/>
          </a:xfrm>
          <a:prstGeom prst="rect">
            <a:avLst/>
          </a:prstGeom>
        </p:spPr>
      </p:pic>
      <p:pic>
        <p:nvPicPr>
          <p:cNvPr id="21" name="Picture 2" descr="http://1gga5c4bwhrvq4yfj1x22pxl1r.wpengine.netdna-cdn.com/wp-content/uploads/2014/02/personalization-guys-me.pn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804390" y="5366062"/>
            <a:ext cx="569062" cy="445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380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342730" y="322556"/>
              <a:ext cx="550676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Website Diagnosis &amp; Funnel Analysis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27" name="Group 26"/>
          <p:cNvGrpSpPr/>
          <p:nvPr/>
        </p:nvGrpSpPr>
        <p:grpSpPr>
          <a:xfrm>
            <a:off x="307316" y="1439381"/>
            <a:ext cx="4775672" cy="2860430"/>
            <a:chOff x="468947" y="2849769"/>
            <a:chExt cx="5485024" cy="2799711"/>
          </a:xfrm>
        </p:grpSpPr>
        <p:pic>
          <p:nvPicPr>
            <p:cNvPr id="28" name="Picture 27"/>
            <p:cNvPicPr>
              <a:picLocks noChangeAspect="1"/>
            </p:cNvPicPr>
            <p:nvPr/>
          </p:nvPicPr>
          <p:blipFill>
            <a:blip r:embed="rId4"/>
            <a:stretch>
              <a:fillRect/>
            </a:stretch>
          </p:blipFill>
          <p:spPr>
            <a:xfrm>
              <a:off x="3828490" y="5375716"/>
              <a:ext cx="1684805" cy="235089"/>
            </a:xfrm>
            <a:prstGeom prst="rect">
              <a:avLst/>
            </a:prstGeom>
          </p:spPr>
        </p:pic>
        <p:pic>
          <p:nvPicPr>
            <p:cNvPr id="29" name="Picture 28"/>
            <p:cNvPicPr>
              <a:picLocks noChangeAspect="1"/>
            </p:cNvPicPr>
            <p:nvPr/>
          </p:nvPicPr>
          <p:blipFill>
            <a:blip r:embed="rId5"/>
            <a:stretch>
              <a:fillRect/>
            </a:stretch>
          </p:blipFill>
          <p:spPr>
            <a:xfrm>
              <a:off x="468947" y="2849769"/>
              <a:ext cx="5485024" cy="2799711"/>
            </a:xfrm>
            <a:prstGeom prst="rect">
              <a:avLst/>
            </a:prstGeom>
            <a:ln>
              <a:noFill/>
            </a:ln>
            <a:effectLst>
              <a:outerShdw blurRad="190500" algn="tl" rotWithShape="0">
                <a:srgbClr val="000000">
                  <a:alpha val="70000"/>
                </a:srgbClr>
              </a:outerShdw>
            </a:effectLst>
          </p:spPr>
        </p:pic>
      </p:grpSp>
      <p:pic>
        <p:nvPicPr>
          <p:cNvPr id="30" name="Picture 2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68195" y="1777134"/>
            <a:ext cx="4911428" cy="4173547"/>
          </a:xfrm>
          <a:prstGeom prst="rect">
            <a:avLst/>
          </a:prstGeom>
          <a:ln>
            <a:noFill/>
          </a:ln>
          <a:effectLst>
            <a:outerShdw blurRad="190500" algn="tl" rotWithShape="0">
              <a:srgbClr val="000000">
                <a:alpha val="70000"/>
              </a:srgbClr>
            </a:outerShdw>
          </a:effectLst>
        </p:spPr>
      </p:pic>
      <p:sp>
        <p:nvSpPr>
          <p:cNvPr id="31" name="TextBox 30"/>
          <p:cNvSpPr txBox="1"/>
          <p:nvPr/>
        </p:nvSpPr>
        <p:spPr bwMode="gray">
          <a:xfrm>
            <a:off x="1292677" y="950718"/>
            <a:ext cx="2232406"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Key Website Metrics</a:t>
            </a:r>
            <a:endParaRPr lang="en-IN" b="1" dirty="0">
              <a:solidFill>
                <a:prstClr val="black"/>
              </a:solidFill>
            </a:endParaRPr>
          </a:p>
        </p:txBody>
      </p:sp>
      <p:sp>
        <p:nvSpPr>
          <p:cNvPr id="32" name="TextBox 31"/>
          <p:cNvSpPr txBox="1"/>
          <p:nvPr/>
        </p:nvSpPr>
        <p:spPr bwMode="gray">
          <a:xfrm>
            <a:off x="1760332" y="5095817"/>
            <a:ext cx="208552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Product</a:t>
            </a:r>
            <a:r>
              <a:rPr lang="en-IN" b="1" dirty="0" smtClean="0">
                <a:solidFill>
                  <a:prstClr val="black"/>
                </a:solidFill>
              </a:rPr>
              <a:t> </a:t>
            </a:r>
            <a:r>
              <a:rPr lang="en-IN" b="1" dirty="0" smtClean="0">
                <a:solidFill>
                  <a:prstClr val="black"/>
                </a:solidFill>
              </a:rPr>
              <a:t>Conversion Funnels</a:t>
            </a:r>
            <a:endParaRPr lang="en-IN" b="1" dirty="0">
              <a:solidFill>
                <a:prstClr val="black"/>
              </a:solidFill>
            </a:endParaRPr>
          </a:p>
        </p:txBody>
      </p:sp>
      <p:sp>
        <p:nvSpPr>
          <p:cNvPr id="33" name="TextBox 32"/>
          <p:cNvSpPr txBox="1"/>
          <p:nvPr/>
        </p:nvSpPr>
        <p:spPr bwMode="gray">
          <a:xfrm>
            <a:off x="8092605" y="1071146"/>
            <a:ext cx="3101318"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Customer Journey</a:t>
            </a:r>
            <a:endParaRPr lang="en-IN" b="1" dirty="0">
              <a:solidFill>
                <a:prstClr val="black"/>
              </a:solidFill>
            </a:endParaRPr>
          </a:p>
        </p:txBody>
      </p:sp>
      <p:pic>
        <p:nvPicPr>
          <p:cNvPr id="1026" name="Picture 2" descr="http://remon.us/uploads/3/2/4/3/3243909/_8373481_ori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7158" y="3313333"/>
            <a:ext cx="3030124" cy="278674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8249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46421" y="322556"/>
              <a:ext cx="469936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Marketing Effectiveness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3" name="TextBox 22"/>
          <p:cNvSpPr txBox="1"/>
          <p:nvPr/>
        </p:nvSpPr>
        <p:spPr bwMode="gray">
          <a:xfrm>
            <a:off x="1185100" y="1087253"/>
            <a:ext cx="2232406"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Channel Effectiveness</a:t>
            </a:r>
            <a:endParaRPr lang="en-IN" b="1" dirty="0">
              <a:solidFill>
                <a:prstClr val="black"/>
              </a:solidFill>
            </a:endParaRPr>
          </a:p>
        </p:txBody>
      </p:sp>
      <p:sp>
        <p:nvSpPr>
          <p:cNvPr id="18" name="TextBox 17"/>
          <p:cNvSpPr txBox="1"/>
          <p:nvPr/>
        </p:nvSpPr>
        <p:spPr bwMode="gray">
          <a:xfrm>
            <a:off x="7776769" y="1442081"/>
            <a:ext cx="216060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Campaign Effectiveness</a:t>
            </a:r>
            <a:endParaRPr lang="en-IN" b="1" dirty="0">
              <a:solidFill>
                <a:prstClr val="black"/>
              </a:solidFill>
            </a:endParaRPr>
          </a:p>
        </p:txBody>
      </p:sp>
      <p:pic>
        <p:nvPicPr>
          <p:cNvPr id="19" name="Picture 18"/>
          <p:cNvPicPr>
            <a:picLocks noChangeAspect="1"/>
          </p:cNvPicPr>
          <p:nvPr/>
        </p:nvPicPr>
        <p:blipFill>
          <a:blip r:embed="rId4"/>
          <a:stretch>
            <a:fillRect/>
          </a:stretch>
        </p:blipFill>
        <p:spPr>
          <a:xfrm>
            <a:off x="5328230" y="2174887"/>
            <a:ext cx="6645193" cy="2922375"/>
          </a:xfrm>
          <a:prstGeom prst="rect">
            <a:avLst/>
          </a:prstGeom>
          <a:ln>
            <a:noFill/>
          </a:ln>
          <a:effectLst>
            <a:outerShdw blurRad="190500" algn="tl" rotWithShape="0">
              <a:srgbClr val="000000">
                <a:alpha val="70000"/>
              </a:srgbClr>
            </a:outerShdw>
          </a:effectLst>
        </p:spPr>
      </p:pic>
      <p:pic>
        <p:nvPicPr>
          <p:cNvPr id="20" name="Picture 19"/>
          <p:cNvPicPr>
            <a:picLocks noChangeAspect="1"/>
          </p:cNvPicPr>
          <p:nvPr/>
        </p:nvPicPr>
        <p:blipFill>
          <a:blip r:embed="rId5"/>
          <a:stretch>
            <a:fillRect/>
          </a:stretch>
        </p:blipFill>
        <p:spPr>
          <a:xfrm>
            <a:off x="271377" y="1863952"/>
            <a:ext cx="4737153" cy="3929684"/>
          </a:xfrm>
          <a:prstGeom prst="rect">
            <a:avLst/>
          </a:prstGeom>
        </p:spPr>
      </p:pic>
    </p:spTree>
    <p:extLst>
      <p:ext uri="{BB962C8B-B14F-4D97-AF65-F5344CB8AC3E}">
        <p14:creationId xmlns:p14="http://schemas.microsoft.com/office/powerpoint/2010/main" val="14161081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712982" y="291779"/>
              <a:ext cx="8766118"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Website Competitive Insights &amp; </a:t>
              </a:r>
              <a:r>
                <a:rPr lang="en-IN" sz="2800" b="1" dirty="0" smtClean="0">
                  <a:solidFill>
                    <a:srgbClr val="0070C0"/>
                  </a:solidFill>
                  <a:latin typeface="Leelawadee UI" panose="020B0502040204020203" pitchFamily="34" charset="-34"/>
                  <a:cs typeface="Leelawadee UI" panose="020B0502040204020203" pitchFamily="34" charset="-34"/>
                </a:rPr>
                <a:t>Recommendations</a:t>
              </a:r>
            </a:p>
          </p:txBody>
        </p:sp>
      </p:grpSp>
      <p:sp>
        <p:nvSpPr>
          <p:cNvPr id="13" name="TextBox 12"/>
          <p:cNvSpPr txBox="1"/>
          <p:nvPr/>
        </p:nvSpPr>
        <p:spPr bwMode="gray">
          <a:xfrm>
            <a:off x="780131" y="1742282"/>
            <a:ext cx="7140388" cy="2985247"/>
          </a:xfrm>
          <a:prstGeom prst="rect">
            <a:avLst/>
          </a:prstGeom>
        </p:spPr>
        <p:txBody>
          <a:bodyPr vert="horz" wrap="square" lIns="91440" tIns="45720" rIns="91440" bIns="45720" rtlCol="0" anchor="ctr">
            <a:noAutofit/>
          </a:bodyPr>
          <a:lstStyle/>
          <a:p>
            <a:pPr defTabSz="914400"/>
            <a:endParaRPr lang="en-IN" sz="2000" dirty="0" smtClean="0">
              <a:solidFill>
                <a:prstClr val="black"/>
              </a:solidFill>
            </a:endParaRPr>
          </a:p>
        </p:txBody>
      </p:sp>
      <p:graphicFrame>
        <p:nvGraphicFramePr>
          <p:cNvPr id="14" name="Table 13"/>
          <p:cNvGraphicFramePr>
            <a:graphicFrameLocks noGrp="1"/>
          </p:cNvGraphicFramePr>
          <p:nvPr>
            <p:extLst>
              <p:ext uri="{D42A27DB-BD31-4B8C-83A1-F6EECF244321}">
                <p14:modId xmlns:p14="http://schemas.microsoft.com/office/powerpoint/2010/main" val="4156235498"/>
              </p:ext>
            </p:extLst>
          </p:nvPr>
        </p:nvGraphicFramePr>
        <p:xfrm>
          <a:off x="539084" y="959523"/>
          <a:ext cx="11185612" cy="4911293"/>
        </p:xfrm>
        <a:graphic>
          <a:graphicData uri="http://schemas.openxmlformats.org/drawingml/2006/table">
            <a:tbl>
              <a:tblPr firstRow="1" bandRow="1">
                <a:tableStyleId>{ED083AE6-46FA-4A59-8FB0-9F97EB10719F}</a:tableStyleId>
              </a:tblPr>
              <a:tblGrid>
                <a:gridCol w="3303208"/>
                <a:gridCol w="7882404"/>
              </a:tblGrid>
              <a:tr h="440955">
                <a:tc>
                  <a:txBody>
                    <a:bodyPr/>
                    <a:lstStyle/>
                    <a:p>
                      <a:pPr algn="ctr"/>
                      <a:r>
                        <a:rPr lang="en-IN" sz="1600" dirty="0" smtClean="0">
                          <a:latin typeface="Leelawadee" panose="020B0502040204020203" pitchFamily="34" charset="-34"/>
                          <a:cs typeface="Leelawadee" panose="020B0502040204020203" pitchFamily="34" charset="-34"/>
                        </a:rPr>
                        <a:t>Area</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Outcomes</a:t>
                      </a:r>
                      <a:endParaRPr lang="en-IN" sz="1600" dirty="0">
                        <a:latin typeface="Leelawadee" panose="020B0502040204020203" pitchFamily="34" charset="-34"/>
                        <a:cs typeface="Leelawadee" panose="020B0502040204020203" pitchFamily="34" charset="-34"/>
                      </a:endParaRPr>
                    </a:p>
                  </a:txBody>
                  <a:tcPr anchor="ctr"/>
                </a:tc>
              </a:tr>
              <a:tr h="1077790">
                <a:tc>
                  <a:txBody>
                    <a:bodyPr/>
                    <a:lstStyle/>
                    <a:p>
                      <a:pPr lvl="3"/>
                      <a:r>
                        <a:rPr lang="en-IN" sz="1400" b="1" dirty="0" smtClean="0">
                          <a:latin typeface="Leelawadee" panose="020B0502040204020203" pitchFamily="34" charset="-34"/>
                          <a:cs typeface="Leelawadee" panose="020B0502040204020203" pitchFamily="34" charset="-34"/>
                        </a:rPr>
                        <a:t>Digital Benchmarking</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Website Traffic Estimates – Desktop &amp; Mobile</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Website Engagement – time on site , Bounce rate , page/visit</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Website Traffic trend and Insights </a:t>
                      </a:r>
                    </a:p>
                  </a:txBody>
                  <a:tcPr anchor="ctr">
                    <a:solidFill>
                      <a:schemeClr val="accent4">
                        <a:lumMod val="20000"/>
                        <a:lumOff val="80000"/>
                      </a:schemeClr>
                    </a:solidFill>
                  </a:tcPr>
                </a:tc>
              </a:tr>
              <a:tr h="1387621">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Traffic Source Insights</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Analysis</a:t>
                      </a:r>
                      <a:r>
                        <a:rPr lang="en-IN" sz="1400" baseline="0" dirty="0" smtClean="0">
                          <a:latin typeface="Leelawadee" panose="020B0502040204020203" pitchFamily="34" charset="-34"/>
                          <a:cs typeface="Leelawadee" panose="020B0502040204020203" pitchFamily="34" charset="-34"/>
                        </a:rPr>
                        <a:t> of digital marketing strategy of </a:t>
                      </a:r>
                      <a:r>
                        <a:rPr lang="en-IN" sz="1400" dirty="0" smtClean="0">
                          <a:latin typeface="Leelawadee" panose="020B0502040204020203" pitchFamily="34" charset="-34"/>
                          <a:cs typeface="Leelawadee" panose="020B0502040204020203" pitchFamily="34" charset="-34"/>
                        </a:rPr>
                        <a:t>direct competitors by</a:t>
                      </a:r>
                      <a:r>
                        <a:rPr lang="en-IN" sz="1400" baseline="0" dirty="0" smtClean="0">
                          <a:latin typeface="Leelawadee" panose="020B0502040204020203" pitchFamily="34" charset="-34"/>
                          <a:cs typeface="Leelawadee" panose="020B0502040204020203" pitchFamily="34" charset="-34"/>
                        </a:rPr>
                        <a:t> studying top website traffic sources :</a:t>
                      </a:r>
                    </a:p>
                    <a:p>
                      <a:pPr marL="1200150" lvl="2" indent="-285750">
                        <a:buFont typeface="Courier New" panose="02070309020205020404" pitchFamily="49" charset="0"/>
                        <a:buChar char="o"/>
                      </a:pPr>
                      <a:r>
                        <a:rPr lang="en-IN" sz="1400" baseline="0" dirty="0" smtClean="0">
                          <a:latin typeface="Leelawadee" panose="020B0502040204020203" pitchFamily="34" charset="-34"/>
                          <a:cs typeface="Leelawadee" panose="020B0502040204020203" pitchFamily="34" charset="-34"/>
                        </a:rPr>
                        <a:t>Referral Traffic – Top Referring website </a:t>
                      </a:r>
                    </a:p>
                    <a:p>
                      <a:pPr marL="1200150" lvl="2" indent="-285750">
                        <a:buFont typeface="Courier New" panose="02070309020205020404" pitchFamily="49" charset="0"/>
                        <a:buChar char="o"/>
                      </a:pPr>
                      <a:r>
                        <a:rPr lang="en-IN" sz="1400" baseline="0" dirty="0" smtClean="0">
                          <a:latin typeface="Leelawadee" panose="020B0502040204020203" pitchFamily="34" charset="-34"/>
                          <a:cs typeface="Leelawadee" panose="020B0502040204020203" pitchFamily="34" charset="-34"/>
                        </a:rPr>
                        <a:t>Paid Traffic – Top Ad networks </a:t>
                      </a:r>
                    </a:p>
                    <a:p>
                      <a:pPr marL="1200150" lvl="2" indent="-285750">
                        <a:buFont typeface="Courier New" panose="02070309020205020404" pitchFamily="49" charset="0"/>
                        <a:buChar char="o"/>
                      </a:pPr>
                      <a:r>
                        <a:rPr lang="en-IN" sz="1400" baseline="0" dirty="0" smtClean="0">
                          <a:latin typeface="Leelawadee" panose="020B0502040204020203" pitchFamily="34" charset="-34"/>
                          <a:cs typeface="Leelawadee" panose="020B0502040204020203" pitchFamily="34" charset="-34"/>
                        </a:rPr>
                        <a:t>Social – Top Social Channels </a:t>
                      </a:r>
                      <a:endParaRPr lang="en-IN" sz="1400" dirty="0">
                        <a:latin typeface="Leelawadee" panose="020B0502040204020203" pitchFamily="34" charset="-34"/>
                        <a:cs typeface="Leelawadee" panose="020B0502040204020203" pitchFamily="34" charset="-34"/>
                      </a:endParaRPr>
                    </a:p>
                  </a:txBody>
                  <a:tcPr anchor="ctr">
                    <a:solidFill>
                      <a:schemeClr val="accent4">
                        <a:lumMod val="20000"/>
                        <a:lumOff val="80000"/>
                      </a:schemeClr>
                    </a:solidFill>
                  </a:tcPr>
                </a:tc>
              </a:tr>
              <a:tr h="917644">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Keywords Analysis</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Performance of Keywords among direct competitors in generating website traffic </a:t>
                      </a:r>
                    </a:p>
                  </a:txBody>
                  <a:tcPr anchor="ctr">
                    <a:solidFill>
                      <a:schemeClr val="accent4">
                        <a:lumMod val="20000"/>
                        <a:lumOff val="80000"/>
                      </a:schemeClr>
                    </a:solidFill>
                  </a:tcPr>
                </a:tc>
              </a:tr>
              <a:tr h="1087283">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Customer Journey</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Top Website Sections and Pages on Competitor’s Website</a:t>
                      </a:r>
                      <a:r>
                        <a:rPr lang="en-IN" sz="1400" baseline="0" dirty="0" smtClean="0">
                          <a:latin typeface="Leelawadee" panose="020B0502040204020203" pitchFamily="34" charset="-34"/>
                          <a:cs typeface="Leelawadee" panose="020B0502040204020203" pitchFamily="34" charset="-34"/>
                        </a:rPr>
                        <a:t>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Estimate of Digital Business Performance and online customer journey on Competitor’s Website </a:t>
                      </a:r>
                    </a:p>
                  </a:txBody>
                  <a:tcPr anchor="ctr">
                    <a:solidFill>
                      <a:schemeClr val="accent4">
                        <a:lumMod val="20000"/>
                        <a:lumOff val="80000"/>
                      </a:schemeClr>
                    </a:solidFill>
                  </a:tcPr>
                </a:tc>
              </a:tr>
            </a:tbl>
          </a:graphicData>
        </a:graphic>
      </p:graphicFrame>
      <p:pic>
        <p:nvPicPr>
          <p:cNvPr id="16" name="Picture 2" descr="http://www.exacttarget.com/blog/wp-content/uploads/2014/07/journey_map_icon1.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57048" y="4956232"/>
            <a:ext cx="1072355" cy="82554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p:cNvPicPr>
            <a:picLocks noChangeAspect="1"/>
          </p:cNvPicPr>
          <p:nvPr/>
        </p:nvPicPr>
        <p:blipFill>
          <a:blip r:embed="rId4" cstate="email">
            <a:biLevel thresh="50000"/>
            <a:extLst>
              <a:ext uri="{28A0092B-C50C-407E-A947-70E740481C1C}">
                <a14:useLocalDpi xmlns:a14="http://schemas.microsoft.com/office/drawing/2010/main"/>
              </a:ext>
            </a:extLst>
          </a:blip>
          <a:stretch>
            <a:fillRect/>
          </a:stretch>
        </p:blipFill>
        <p:spPr>
          <a:xfrm>
            <a:off x="778823" y="4100166"/>
            <a:ext cx="992988" cy="613316"/>
          </a:xfrm>
          <a:prstGeom prst="rect">
            <a:avLst/>
          </a:prstGeom>
        </p:spPr>
      </p:pic>
      <p:pic>
        <p:nvPicPr>
          <p:cNvPr id="18" name="Picture 10" descr="http://www.surdej.com/files/seo-icon.pn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821789" y="1558005"/>
            <a:ext cx="805484" cy="68386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https://www.aliasmarketinganddesign.ie/wp-content/uploads/2013/10/Alias-Marketing-and-Design-consultancy-icon-2-300x300.pn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857048" y="2705371"/>
            <a:ext cx="770225" cy="77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16069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82282" y="322556"/>
              <a:ext cx="4227632"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Competitive Insights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1" name="TextBox 20"/>
          <p:cNvSpPr txBox="1"/>
          <p:nvPr/>
        </p:nvSpPr>
        <p:spPr bwMode="gray">
          <a:xfrm>
            <a:off x="1530886" y="5248904"/>
            <a:ext cx="2274161"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Engagement</a:t>
            </a:r>
            <a:endParaRPr lang="en-IN" b="1" dirty="0">
              <a:solidFill>
                <a:prstClr val="black"/>
              </a:solidFill>
            </a:endParaRPr>
          </a:p>
        </p:txBody>
      </p:sp>
      <p:sp>
        <p:nvSpPr>
          <p:cNvPr id="23" name="TextBox 22"/>
          <p:cNvSpPr txBox="1"/>
          <p:nvPr/>
        </p:nvSpPr>
        <p:spPr bwMode="gray">
          <a:xfrm>
            <a:off x="1749876" y="969942"/>
            <a:ext cx="1870699"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Traffic </a:t>
            </a:r>
            <a:endParaRPr lang="en-IN" b="1" dirty="0">
              <a:solidFill>
                <a:prstClr val="black"/>
              </a:solidFill>
            </a:endParaRPr>
          </a:p>
        </p:txBody>
      </p:sp>
      <p:pic>
        <p:nvPicPr>
          <p:cNvPr id="8" name="Picture 7"/>
          <p:cNvPicPr>
            <a:picLocks noChangeAspect="1"/>
          </p:cNvPicPr>
          <p:nvPr/>
        </p:nvPicPr>
        <p:blipFill>
          <a:blip r:embed="rId4"/>
          <a:stretch>
            <a:fillRect/>
          </a:stretch>
        </p:blipFill>
        <p:spPr>
          <a:xfrm>
            <a:off x="314359" y="1500457"/>
            <a:ext cx="4741735" cy="2912526"/>
          </a:xfrm>
          <a:prstGeom prst="rect">
            <a:avLst/>
          </a:prstGeom>
          <a:ln>
            <a:noFill/>
          </a:ln>
          <a:effectLst>
            <a:outerShdw blurRad="190500" algn="tl" rotWithShape="0">
              <a:srgbClr val="000000">
                <a:alpha val="70000"/>
              </a:srgbClr>
            </a:outerShdw>
          </a:effectLst>
        </p:spPr>
      </p:pic>
      <p:pic>
        <p:nvPicPr>
          <p:cNvPr id="9" name="Picture 8"/>
          <p:cNvPicPr>
            <a:picLocks noChangeAspect="1"/>
          </p:cNvPicPr>
          <p:nvPr/>
        </p:nvPicPr>
        <p:blipFill>
          <a:blip r:embed="rId5"/>
          <a:stretch>
            <a:fillRect/>
          </a:stretch>
        </p:blipFill>
        <p:spPr>
          <a:xfrm>
            <a:off x="6425122" y="1520807"/>
            <a:ext cx="5432735" cy="2370648"/>
          </a:xfrm>
          <a:prstGeom prst="rect">
            <a:avLst/>
          </a:prstGeom>
          <a:ln>
            <a:noFill/>
          </a:ln>
          <a:effectLst>
            <a:outerShdw blurRad="190500" algn="tl" rotWithShape="0">
              <a:srgbClr val="000000">
                <a:alpha val="70000"/>
              </a:srgbClr>
            </a:outerShdw>
          </a:effectLst>
        </p:spPr>
      </p:pic>
      <p:pic>
        <p:nvPicPr>
          <p:cNvPr id="2" name="Picture 1"/>
          <p:cNvPicPr>
            <a:picLocks noChangeAspect="1"/>
          </p:cNvPicPr>
          <p:nvPr/>
        </p:nvPicPr>
        <p:blipFill>
          <a:blip r:embed="rId6"/>
          <a:stretch>
            <a:fillRect/>
          </a:stretch>
        </p:blipFill>
        <p:spPr>
          <a:xfrm>
            <a:off x="4122376" y="3695824"/>
            <a:ext cx="5788107" cy="2495348"/>
          </a:xfrm>
          <a:prstGeom prst="rect">
            <a:avLst/>
          </a:prstGeom>
          <a:ln>
            <a:noFill/>
          </a:ln>
          <a:effectLst>
            <a:outerShdw blurRad="190500" algn="tl" rotWithShape="0">
              <a:srgbClr val="000000">
                <a:alpha val="70000"/>
              </a:srgbClr>
            </a:outerShdw>
          </a:effectLst>
        </p:spPr>
      </p:pic>
      <p:sp>
        <p:nvSpPr>
          <p:cNvPr id="18" name="TextBox 17"/>
          <p:cNvSpPr txBox="1"/>
          <p:nvPr/>
        </p:nvSpPr>
        <p:spPr bwMode="gray">
          <a:xfrm>
            <a:off x="8650827" y="956785"/>
            <a:ext cx="154959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Traffic Source</a:t>
            </a:r>
            <a:endParaRPr lang="en-IN" b="1" dirty="0">
              <a:solidFill>
                <a:prstClr val="black"/>
              </a:solidFill>
            </a:endParaRPr>
          </a:p>
        </p:txBody>
      </p:sp>
    </p:spTree>
    <p:extLst>
      <p:ext uri="{BB962C8B-B14F-4D97-AF65-F5344CB8AC3E}">
        <p14:creationId xmlns:p14="http://schemas.microsoft.com/office/powerpoint/2010/main" val="2344800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2696522" y="291779"/>
              <a:ext cx="6799041" cy="523220"/>
            </a:xfrm>
            <a:prstGeom prst="rect">
              <a:avLst/>
            </a:prstGeom>
            <a:solidFill>
              <a:schemeClr val="bg1"/>
            </a:solidFill>
          </p:spPr>
          <p:txBody>
            <a:bodyPr wrap="none" anchor="ctr">
              <a:spAutoFit/>
            </a:bodyPr>
            <a:lstStyle/>
            <a:p>
              <a:pPr algn="ctr"/>
              <a:r>
                <a:rPr lang="en-IN" sz="2800" b="1" dirty="0">
                  <a:solidFill>
                    <a:srgbClr val="0070C0"/>
                  </a:solidFill>
                  <a:latin typeface="Leelawadee UI" panose="020B0502040204020203" pitchFamily="34" charset="-34"/>
                  <a:cs typeface="Leelawadee UI" panose="020B0502040204020203" pitchFamily="34" charset="-34"/>
                </a:rPr>
                <a:t>Social Analytics &amp; Competitive </a:t>
              </a:r>
              <a:r>
                <a:rPr lang="en-IN" sz="2800" b="1" dirty="0" smtClean="0">
                  <a:solidFill>
                    <a:srgbClr val="0070C0"/>
                  </a:solidFill>
                  <a:latin typeface="Leelawadee UI" panose="020B0502040204020203" pitchFamily="34" charset="-34"/>
                  <a:cs typeface="Leelawadee UI" panose="020B0502040204020203" pitchFamily="34" charset="-34"/>
                </a:rPr>
                <a:t>Insights</a:t>
              </a:r>
            </a:p>
          </p:txBody>
        </p:sp>
      </p:grpSp>
      <p:graphicFrame>
        <p:nvGraphicFramePr>
          <p:cNvPr id="13" name="Table 12"/>
          <p:cNvGraphicFramePr>
            <a:graphicFrameLocks noGrp="1"/>
          </p:cNvGraphicFramePr>
          <p:nvPr>
            <p:extLst>
              <p:ext uri="{D42A27DB-BD31-4B8C-83A1-F6EECF244321}">
                <p14:modId xmlns:p14="http://schemas.microsoft.com/office/powerpoint/2010/main" val="1446330134"/>
              </p:ext>
            </p:extLst>
          </p:nvPr>
        </p:nvGraphicFramePr>
        <p:xfrm>
          <a:off x="841572" y="950224"/>
          <a:ext cx="10850385" cy="5062942"/>
        </p:xfrm>
        <a:graphic>
          <a:graphicData uri="http://schemas.openxmlformats.org/drawingml/2006/table">
            <a:tbl>
              <a:tblPr firstRow="1" bandRow="1">
                <a:tableStyleId>{5DA37D80-6434-44D0-A028-1B22A696006F}</a:tableStyleId>
              </a:tblPr>
              <a:tblGrid>
                <a:gridCol w="4237542"/>
                <a:gridCol w="6612843"/>
              </a:tblGrid>
              <a:tr h="411152">
                <a:tc>
                  <a:txBody>
                    <a:bodyPr/>
                    <a:lstStyle/>
                    <a:p>
                      <a:pPr algn="ctr"/>
                      <a:r>
                        <a:rPr lang="en-IN" sz="1600" dirty="0" smtClean="0">
                          <a:latin typeface="Leelawadee" panose="020B0502040204020203" pitchFamily="34" charset="-34"/>
                          <a:cs typeface="Leelawadee" panose="020B0502040204020203" pitchFamily="34" charset="-34"/>
                        </a:rPr>
                        <a:t>             Area</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Outcomes</a:t>
                      </a:r>
                      <a:endParaRPr lang="en-IN" sz="1600" dirty="0">
                        <a:latin typeface="Leelawadee" panose="020B0502040204020203" pitchFamily="34" charset="-34"/>
                        <a:cs typeface="Leelawadee" panose="020B0502040204020203" pitchFamily="34" charset="-34"/>
                      </a:endParaRPr>
                    </a:p>
                  </a:txBody>
                  <a:tcPr anchor="ctr"/>
                </a:tc>
              </a:tr>
              <a:tr h="951518">
                <a:tc>
                  <a:txBody>
                    <a:bodyPr/>
                    <a:lstStyle/>
                    <a:p>
                      <a:pPr lvl="3"/>
                      <a:r>
                        <a:rPr lang="en-IN" sz="1400" b="1" dirty="0" smtClean="0">
                          <a:latin typeface="Leelawadee" panose="020B0502040204020203" pitchFamily="34" charset="-34"/>
                          <a:cs typeface="Leelawadee" panose="020B0502040204020203" pitchFamily="34" charset="-34"/>
                        </a:rPr>
                        <a:t>Topic</a:t>
                      </a:r>
                      <a:r>
                        <a:rPr lang="en-IN" sz="1400" b="1" baseline="0" dirty="0" smtClean="0">
                          <a:latin typeface="Leelawadee" panose="020B0502040204020203" pitchFamily="34" charset="-34"/>
                          <a:cs typeface="Leelawadee" panose="020B0502040204020203" pitchFamily="34" charset="-34"/>
                        </a:rPr>
                        <a:t> &amp; Theme Analysis, Recommend content</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Topic</a:t>
                      </a:r>
                      <a:r>
                        <a:rPr lang="en-IN" sz="1400" baseline="0" dirty="0" smtClean="0">
                          <a:latin typeface="Leelawadee" panose="020B0502040204020203" pitchFamily="34" charset="-34"/>
                          <a:cs typeface="Leelawadee" panose="020B0502040204020203" pitchFamily="34" charset="-34"/>
                        </a:rPr>
                        <a:t> and Theme analysis of Competition Social Media presence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Based on above, recommendations on content while building social media presence </a:t>
                      </a:r>
                      <a:endParaRPr lang="en-IN" sz="1400" dirty="0">
                        <a:latin typeface="Leelawadee" panose="020B0502040204020203" pitchFamily="34" charset="-34"/>
                        <a:cs typeface="Leelawadee" panose="020B0502040204020203" pitchFamily="34" charset="-34"/>
                      </a:endParaRPr>
                    </a:p>
                  </a:txBody>
                  <a:tcPr anchor="ctr">
                    <a:solidFill>
                      <a:srgbClr val="E2EBA0"/>
                    </a:solidFill>
                  </a:tcPr>
                </a:tc>
              </a:tr>
              <a:tr h="883608">
                <a:tc>
                  <a:txBody>
                    <a:bodyPr/>
                    <a:lstStyle/>
                    <a:p>
                      <a:pPr lvl="3"/>
                      <a:r>
                        <a:rPr lang="en-IN" sz="1400" b="1" dirty="0" smtClean="0">
                          <a:latin typeface="Leelawadee" panose="020B0502040204020203" pitchFamily="34" charset="-34"/>
                          <a:cs typeface="Leelawadee" panose="020B0502040204020203" pitchFamily="34" charset="-34"/>
                        </a:rPr>
                        <a:t>Social Reach &amp; Engagement</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Monthly performance of brand across key Social Media KPI’s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KPI’s benchmarked to top industry players</a:t>
                      </a:r>
                      <a:endParaRPr lang="en-IN" sz="1400" dirty="0">
                        <a:latin typeface="Leelawadee" panose="020B0502040204020203" pitchFamily="34" charset="-34"/>
                        <a:cs typeface="Leelawadee" panose="020B0502040204020203" pitchFamily="34" charset="-34"/>
                      </a:endParaRPr>
                    </a:p>
                  </a:txBody>
                  <a:tcPr anchor="ctr">
                    <a:solidFill>
                      <a:schemeClr val="accent2">
                        <a:lumMod val="40000"/>
                        <a:lumOff val="60000"/>
                      </a:schemeClr>
                    </a:solidFill>
                  </a:tcPr>
                </a:tc>
              </a:tr>
              <a:tr h="686956">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Sentiment Analysis </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Monthly Sentiment Analysis benchmarking across social media</a:t>
                      </a:r>
                      <a:endParaRPr lang="en-IN" sz="1400" dirty="0">
                        <a:latin typeface="Leelawadee" panose="020B0502040204020203" pitchFamily="34" charset="-34"/>
                        <a:cs typeface="Leelawadee" panose="020B0502040204020203" pitchFamily="34" charset="-34"/>
                      </a:endParaRPr>
                    </a:p>
                  </a:txBody>
                  <a:tcPr anchor="ctr">
                    <a:solidFill>
                      <a:schemeClr val="accent2">
                        <a:lumMod val="40000"/>
                        <a:lumOff val="60000"/>
                      </a:schemeClr>
                    </a:solidFill>
                  </a:tcPr>
                </a:tc>
              </a:tr>
              <a:tr h="732751">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Voice of Customer</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Customer</a:t>
                      </a:r>
                      <a:r>
                        <a:rPr lang="en-IN" sz="1400" baseline="0" dirty="0" smtClean="0">
                          <a:latin typeface="Leelawadee" panose="020B0502040204020203" pitchFamily="34" charset="-34"/>
                          <a:cs typeface="Leelawadee" panose="020B0502040204020203" pitchFamily="34" charset="-34"/>
                        </a:rPr>
                        <a:t> topic detection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Customer sentiment across topics and social channels</a:t>
                      </a:r>
                      <a:endParaRPr lang="en-IN" sz="1400" dirty="0">
                        <a:latin typeface="Leelawadee" panose="020B0502040204020203" pitchFamily="34" charset="-34"/>
                        <a:cs typeface="Leelawadee" panose="020B0502040204020203" pitchFamily="34" charset="-34"/>
                      </a:endParaRPr>
                    </a:p>
                  </a:txBody>
                  <a:tcPr anchor="ctr">
                    <a:solidFill>
                      <a:schemeClr val="accent2">
                        <a:lumMod val="40000"/>
                        <a:lumOff val="60000"/>
                      </a:schemeClr>
                    </a:solidFill>
                  </a:tcPr>
                </a:tc>
              </a:tr>
              <a:tr h="724214">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Brand Topic</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Performance of Brand posts on social</a:t>
                      </a:r>
                      <a:r>
                        <a:rPr lang="en-IN" sz="1400" baseline="0" dirty="0" smtClean="0">
                          <a:latin typeface="Leelawadee" panose="020B0502040204020203" pitchFamily="34" charset="-34"/>
                          <a:cs typeface="Leelawadee" panose="020B0502040204020203" pitchFamily="34" charset="-34"/>
                        </a:rPr>
                        <a:t> media</a:t>
                      </a:r>
                      <a:r>
                        <a:rPr lang="en-IN" sz="1400" dirty="0" smtClean="0">
                          <a:latin typeface="Leelawadee" panose="020B0502040204020203" pitchFamily="34" charset="-34"/>
                          <a:cs typeface="Leelawadee" panose="020B0502040204020203" pitchFamily="34" charset="-34"/>
                        </a:rPr>
                        <a:t> across industry</a:t>
                      </a:r>
                      <a:r>
                        <a:rPr lang="en-IN" sz="1400" baseline="0" dirty="0" smtClean="0">
                          <a:latin typeface="Leelawadee" panose="020B0502040204020203" pitchFamily="34" charset="-34"/>
                          <a:cs typeface="Leelawadee" panose="020B0502040204020203" pitchFamily="34" charset="-34"/>
                        </a:rPr>
                        <a:t> </a:t>
                      </a:r>
                    </a:p>
                  </a:txBody>
                  <a:tcPr anchor="ctr">
                    <a:solidFill>
                      <a:schemeClr val="accent2">
                        <a:lumMod val="40000"/>
                        <a:lumOff val="60000"/>
                      </a:schemeClr>
                    </a:solidFill>
                  </a:tcPr>
                </a:tc>
              </a:tr>
              <a:tr h="672743">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Social Campaign</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Performance of Social media Campaigns</a:t>
                      </a:r>
                      <a:r>
                        <a:rPr lang="en-IN" sz="1400" baseline="0" dirty="0" smtClean="0">
                          <a:latin typeface="Leelawadee" panose="020B0502040204020203" pitchFamily="34" charset="-34"/>
                          <a:cs typeface="Leelawadee" panose="020B0502040204020203" pitchFamily="34" charset="-34"/>
                        </a:rPr>
                        <a:t> of direct competitors </a:t>
                      </a:r>
                      <a:endParaRPr lang="en-IN" sz="1400" dirty="0">
                        <a:latin typeface="Leelawadee" panose="020B0502040204020203" pitchFamily="34" charset="-34"/>
                        <a:cs typeface="Leelawadee" panose="020B0502040204020203" pitchFamily="34" charset="-34"/>
                      </a:endParaRPr>
                    </a:p>
                  </a:txBody>
                  <a:tcPr anchor="ctr">
                    <a:solidFill>
                      <a:schemeClr val="accent2">
                        <a:lumMod val="40000"/>
                        <a:lumOff val="60000"/>
                      </a:schemeClr>
                    </a:solidFill>
                  </a:tcPr>
                </a:tc>
              </a:tr>
            </a:tbl>
          </a:graphicData>
        </a:graphic>
      </p:graphicFrame>
      <p:pic>
        <p:nvPicPr>
          <p:cNvPr id="14" name="Picture 2" descr="http://socialpulse.co/addons/shared_addons/themes/socialpulse/img/product_icons/02_Reach.pn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68044" y="4738739"/>
            <a:ext cx="978796" cy="57017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www.newviewanalytics.com/html/images/icon-sentiment.pn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274105" y="3298687"/>
            <a:ext cx="566677" cy="42500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http://excelliscorp.com/wp-content/uploads/2013/02/VOC_icon.png"/>
          <p:cNvPicPr>
            <a:picLocks noChangeAspect="1" noChangeArrowheads="1"/>
          </p:cNvPicPr>
          <p:nvPr/>
        </p:nvPicPr>
        <p:blipFill>
          <a:blip r:embed="rId5" cstate="email">
            <a:duotone>
              <a:prstClr val="black"/>
              <a:schemeClr val="bg1">
                <a:lumMod val="50000"/>
                <a:tint val="45000"/>
                <a:satMod val="400000"/>
              </a:schemeClr>
            </a:duotone>
            <a:extLst>
              <a:ext uri="{28A0092B-C50C-407E-A947-70E740481C1C}">
                <a14:useLocalDpi xmlns:a14="http://schemas.microsoft.com/office/drawing/2010/main"/>
              </a:ext>
            </a:extLst>
          </a:blip>
          <a:srcRect/>
          <a:stretch>
            <a:fillRect/>
          </a:stretch>
        </p:blipFill>
        <p:spPr bwMode="auto">
          <a:xfrm>
            <a:off x="1247076" y="3986611"/>
            <a:ext cx="620733" cy="5489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https://i.smartmailpro.com/583/rsz_organization_chart_-_colourful.jpg"/>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148423" y="2474104"/>
            <a:ext cx="883800" cy="66285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http://weareyellowball.com/wp-content/uploads/2015/02/Yellowball-Icon-MARKETING.pn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274105" y="5447787"/>
            <a:ext cx="656382" cy="45582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Related image"/>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303528" y="1629194"/>
            <a:ext cx="507833" cy="53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862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2"/>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40513" y="322556"/>
              <a:ext cx="4311117"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Social Reach &amp; Engagement </a:t>
              </a:r>
              <a:endParaRPr lang="en-IN" sz="2400" b="1" dirty="0" smtClean="0">
                <a:solidFill>
                  <a:schemeClr val="bg1">
                    <a:lumMod val="50000"/>
                  </a:schemeClr>
                </a:solidFill>
                <a:latin typeface="Leelawadee UI" panose="020B0502040204020203" pitchFamily="34" charset="-34"/>
                <a:cs typeface="Leelawadee UI" panose="020B0502040204020203" pitchFamily="34" charset="-34"/>
              </a:endParaRPr>
            </a:p>
          </p:txBody>
        </p:sp>
      </p:grpSp>
      <p:pic>
        <p:nvPicPr>
          <p:cNvPr id="7" name="Picture 6"/>
          <p:cNvPicPr>
            <a:picLocks noChangeAspect="1"/>
          </p:cNvPicPr>
          <p:nvPr/>
        </p:nvPicPr>
        <p:blipFill>
          <a:blip r:embed="rId4"/>
          <a:stretch>
            <a:fillRect/>
          </a:stretch>
        </p:blipFill>
        <p:spPr>
          <a:xfrm>
            <a:off x="2314997" y="1209678"/>
            <a:ext cx="3266256" cy="2263144"/>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5"/>
          <a:stretch>
            <a:fillRect/>
          </a:stretch>
        </p:blipFill>
        <p:spPr>
          <a:xfrm>
            <a:off x="2450269" y="3832713"/>
            <a:ext cx="2995713" cy="2115695"/>
          </a:xfrm>
          <a:prstGeom prst="rect">
            <a:avLst/>
          </a:prstGeom>
          <a:ln>
            <a:noFill/>
          </a:ln>
          <a:effectLst>
            <a:outerShdw blurRad="190500" algn="tl" rotWithShape="0">
              <a:srgbClr val="000000">
                <a:alpha val="70000"/>
              </a:srgbClr>
            </a:outerShdw>
          </a:effectLst>
        </p:spPr>
      </p:pic>
      <p:sp>
        <p:nvSpPr>
          <p:cNvPr id="10" name="TextBox 9"/>
          <p:cNvSpPr txBox="1"/>
          <p:nvPr/>
        </p:nvSpPr>
        <p:spPr bwMode="gray">
          <a:xfrm>
            <a:off x="361242" y="1925285"/>
            <a:ext cx="1693081" cy="824723"/>
          </a:xfrm>
          <a:prstGeom prst="rect">
            <a:avLst/>
          </a:prstGeom>
        </p:spPr>
        <p:txBody>
          <a:bodyPr vert="horz" wrap="square" lIns="91440" tIns="45720" rIns="91440" bIns="45720" rtlCol="0" anchor="ctr">
            <a:noAutofit/>
          </a:bodyPr>
          <a:lstStyle/>
          <a:p>
            <a:pPr algn="ctr"/>
            <a:r>
              <a:rPr lang="en-IN" b="1" dirty="0">
                <a:solidFill>
                  <a:prstClr val="black"/>
                </a:solidFill>
              </a:rPr>
              <a:t>Brand Content Analysis  </a:t>
            </a:r>
          </a:p>
        </p:txBody>
      </p:sp>
      <p:sp>
        <p:nvSpPr>
          <p:cNvPr id="16" name="TextBox 15"/>
          <p:cNvSpPr txBox="1"/>
          <p:nvPr/>
        </p:nvSpPr>
        <p:spPr bwMode="gray">
          <a:xfrm>
            <a:off x="361242" y="4333521"/>
            <a:ext cx="1722602" cy="666549"/>
          </a:xfrm>
          <a:prstGeom prst="rect">
            <a:avLst/>
          </a:prstGeom>
        </p:spPr>
        <p:txBody>
          <a:bodyPr vert="horz" wrap="square" lIns="91440" tIns="45720" rIns="91440" bIns="45720" rtlCol="0" anchor="ctr">
            <a:noAutofit/>
          </a:bodyPr>
          <a:lstStyle/>
          <a:p>
            <a:pPr algn="ctr"/>
            <a:r>
              <a:rPr lang="en-IN" b="1" dirty="0" smtClean="0">
                <a:solidFill>
                  <a:prstClr val="black"/>
                </a:solidFill>
              </a:rPr>
              <a:t>Customer Topic Analysis </a:t>
            </a:r>
            <a:endParaRPr lang="en-IN" b="1" dirty="0">
              <a:solidFill>
                <a:prstClr val="black"/>
              </a:solidFill>
            </a:endParaRPr>
          </a:p>
        </p:txBody>
      </p:sp>
      <p:pic>
        <p:nvPicPr>
          <p:cNvPr id="18" name="Picture 17"/>
          <p:cNvPicPr>
            <a:picLocks noChangeAspect="1"/>
          </p:cNvPicPr>
          <p:nvPr/>
        </p:nvPicPr>
        <p:blipFill>
          <a:blip r:embed="rId6"/>
          <a:stretch>
            <a:fillRect/>
          </a:stretch>
        </p:blipFill>
        <p:spPr>
          <a:xfrm>
            <a:off x="8074651" y="1094843"/>
            <a:ext cx="3078333" cy="2485606"/>
          </a:xfrm>
          <a:prstGeom prst="rect">
            <a:avLst/>
          </a:prstGeom>
          <a:ln>
            <a:noFill/>
          </a:ln>
          <a:effectLst>
            <a:outerShdw blurRad="190500" algn="tl" rotWithShape="0">
              <a:srgbClr val="000000">
                <a:alpha val="70000"/>
              </a:srgbClr>
            </a:outerShdw>
          </a:effectLst>
        </p:spPr>
      </p:pic>
      <p:pic>
        <p:nvPicPr>
          <p:cNvPr id="19" name="Picture 18"/>
          <p:cNvPicPr>
            <a:picLocks noChangeAspect="1"/>
          </p:cNvPicPr>
          <p:nvPr/>
        </p:nvPicPr>
        <p:blipFill>
          <a:blip r:embed="rId7"/>
          <a:stretch>
            <a:fillRect/>
          </a:stretch>
        </p:blipFill>
        <p:spPr>
          <a:xfrm>
            <a:off x="8074651" y="3777003"/>
            <a:ext cx="3016395" cy="2353152"/>
          </a:xfrm>
          <a:prstGeom prst="rect">
            <a:avLst/>
          </a:prstGeom>
          <a:ln>
            <a:noFill/>
          </a:ln>
          <a:effectLst>
            <a:outerShdw blurRad="190500" algn="tl" rotWithShape="0">
              <a:srgbClr val="000000">
                <a:alpha val="70000"/>
              </a:srgbClr>
            </a:outerShdw>
          </a:effectLst>
        </p:spPr>
      </p:pic>
      <p:sp>
        <p:nvSpPr>
          <p:cNvPr id="20" name="TextBox 19"/>
          <p:cNvSpPr txBox="1"/>
          <p:nvPr/>
        </p:nvSpPr>
        <p:spPr bwMode="gray">
          <a:xfrm>
            <a:off x="6096000" y="4541217"/>
            <a:ext cx="1693081" cy="824723"/>
          </a:xfrm>
          <a:prstGeom prst="rect">
            <a:avLst/>
          </a:prstGeom>
        </p:spPr>
        <p:txBody>
          <a:bodyPr vert="horz" wrap="square" lIns="91440" tIns="45720" rIns="91440" bIns="45720" rtlCol="0" anchor="ctr">
            <a:noAutofit/>
          </a:bodyPr>
          <a:lstStyle/>
          <a:p>
            <a:pPr algn="ctr"/>
            <a:r>
              <a:rPr lang="en-IN" b="1" dirty="0" smtClean="0">
                <a:solidFill>
                  <a:prstClr val="black"/>
                </a:solidFill>
              </a:rPr>
              <a:t>Social Benchmarking</a:t>
            </a:r>
            <a:endParaRPr lang="en-IN" b="1" dirty="0">
              <a:solidFill>
                <a:prstClr val="black"/>
              </a:solidFill>
            </a:endParaRPr>
          </a:p>
        </p:txBody>
      </p:sp>
      <p:sp>
        <p:nvSpPr>
          <p:cNvPr id="21" name="TextBox 20"/>
          <p:cNvSpPr txBox="1"/>
          <p:nvPr/>
        </p:nvSpPr>
        <p:spPr bwMode="gray">
          <a:xfrm>
            <a:off x="6330559" y="1870778"/>
            <a:ext cx="1693081" cy="824723"/>
          </a:xfrm>
          <a:prstGeom prst="rect">
            <a:avLst/>
          </a:prstGeom>
        </p:spPr>
        <p:txBody>
          <a:bodyPr vert="horz" wrap="square" lIns="91440" tIns="45720" rIns="91440" bIns="45720" rtlCol="0" anchor="ctr">
            <a:noAutofit/>
          </a:bodyPr>
          <a:lstStyle/>
          <a:p>
            <a:pPr algn="ctr"/>
            <a:r>
              <a:rPr lang="en-IN" b="1" dirty="0" smtClean="0">
                <a:solidFill>
                  <a:prstClr val="black"/>
                </a:solidFill>
              </a:rPr>
              <a:t>Social Media Trend</a:t>
            </a:r>
            <a:endParaRPr lang="en-IN" b="1" dirty="0">
              <a:solidFill>
                <a:prstClr val="black"/>
              </a:solidFill>
            </a:endParaRPr>
          </a:p>
        </p:txBody>
      </p:sp>
    </p:spTree>
    <p:extLst>
      <p:ext uri="{BB962C8B-B14F-4D97-AF65-F5344CB8AC3E}">
        <p14:creationId xmlns:p14="http://schemas.microsoft.com/office/powerpoint/2010/main" val="36554256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2"/>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093618" y="322556"/>
              <a:ext cx="600491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Voice of Customer &amp; Sentiment Analysis</a:t>
              </a:r>
              <a:endParaRPr lang="en-IN" sz="2400" b="1" dirty="0" smtClean="0">
                <a:solidFill>
                  <a:schemeClr val="bg1">
                    <a:lumMod val="50000"/>
                  </a:schemeClr>
                </a:solidFill>
                <a:latin typeface="Leelawadee UI" panose="020B0502040204020203" pitchFamily="34" charset="-34"/>
                <a:cs typeface="Leelawadee UI" panose="020B0502040204020203" pitchFamily="34" charset="-34"/>
              </a:endParaRPr>
            </a:p>
          </p:txBody>
        </p:sp>
      </p:grpSp>
      <p:pic>
        <p:nvPicPr>
          <p:cNvPr id="5" name="Picture 4"/>
          <p:cNvPicPr>
            <a:picLocks noChangeAspect="1"/>
          </p:cNvPicPr>
          <p:nvPr/>
        </p:nvPicPr>
        <p:blipFill>
          <a:blip r:embed="rId4"/>
          <a:stretch>
            <a:fillRect/>
          </a:stretch>
        </p:blipFill>
        <p:spPr>
          <a:xfrm>
            <a:off x="2520514" y="4852772"/>
            <a:ext cx="9296217" cy="1034532"/>
          </a:xfrm>
          <a:prstGeom prst="rect">
            <a:avLst/>
          </a:prstGeom>
          <a:ln>
            <a:noFill/>
          </a:ln>
          <a:effectLst>
            <a:outerShdw blurRad="190500" algn="tl" rotWithShape="0">
              <a:srgbClr val="000000">
                <a:alpha val="70000"/>
              </a:srgbClr>
            </a:outerShdw>
          </a:effectLst>
        </p:spPr>
      </p:pic>
      <p:sp>
        <p:nvSpPr>
          <p:cNvPr id="22" name="TextBox 21"/>
          <p:cNvSpPr txBox="1"/>
          <p:nvPr/>
        </p:nvSpPr>
        <p:spPr bwMode="gray">
          <a:xfrm>
            <a:off x="9787631" y="2226378"/>
            <a:ext cx="1693081" cy="824723"/>
          </a:xfrm>
          <a:prstGeom prst="rect">
            <a:avLst/>
          </a:prstGeom>
        </p:spPr>
        <p:txBody>
          <a:bodyPr vert="horz" wrap="square" lIns="91440" tIns="45720" rIns="91440" bIns="45720" rtlCol="0" anchor="ctr">
            <a:noAutofit/>
          </a:bodyPr>
          <a:lstStyle/>
          <a:p>
            <a:pPr algn="ctr"/>
            <a:r>
              <a:rPr lang="en-IN" b="1" dirty="0" smtClean="0">
                <a:solidFill>
                  <a:prstClr val="black"/>
                </a:solidFill>
              </a:rPr>
              <a:t>Word Cloud and Sentiments </a:t>
            </a:r>
            <a:endParaRPr lang="en-IN" b="1" dirty="0">
              <a:solidFill>
                <a:prstClr val="black"/>
              </a:solidFill>
            </a:endParaRPr>
          </a:p>
        </p:txBody>
      </p:sp>
      <p:sp>
        <p:nvSpPr>
          <p:cNvPr id="23" name="TextBox 22"/>
          <p:cNvSpPr txBox="1"/>
          <p:nvPr/>
        </p:nvSpPr>
        <p:spPr bwMode="gray">
          <a:xfrm>
            <a:off x="466234" y="4969508"/>
            <a:ext cx="1693081" cy="824723"/>
          </a:xfrm>
          <a:prstGeom prst="rect">
            <a:avLst/>
          </a:prstGeom>
        </p:spPr>
        <p:txBody>
          <a:bodyPr vert="horz" wrap="square" lIns="91440" tIns="45720" rIns="91440" bIns="45720" rtlCol="0" anchor="ctr">
            <a:noAutofit/>
          </a:bodyPr>
          <a:lstStyle/>
          <a:p>
            <a:pPr algn="ctr"/>
            <a:r>
              <a:rPr lang="en-IN" b="1" dirty="0" smtClean="0">
                <a:solidFill>
                  <a:prstClr val="black"/>
                </a:solidFill>
              </a:rPr>
              <a:t>Key Themes</a:t>
            </a:r>
            <a:endParaRPr lang="en-IN" b="1" dirty="0">
              <a:solidFill>
                <a:prstClr val="black"/>
              </a:solidFill>
            </a:endParaRPr>
          </a:p>
        </p:txBody>
      </p:sp>
      <p:pic>
        <p:nvPicPr>
          <p:cNvPr id="9" name="Picture 8"/>
          <p:cNvPicPr>
            <a:picLocks noChangeAspect="1"/>
          </p:cNvPicPr>
          <p:nvPr/>
        </p:nvPicPr>
        <p:blipFill>
          <a:blip r:embed="rId5"/>
          <a:stretch>
            <a:fillRect/>
          </a:stretch>
        </p:blipFill>
        <p:spPr>
          <a:xfrm>
            <a:off x="466234" y="1326106"/>
            <a:ext cx="8995893" cy="295048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761880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srcRect l="13115" t="6021" r="13639" b="9169"/>
          <a:stretch/>
        </p:blipFill>
        <p:spPr>
          <a:xfrm>
            <a:off x="158183" y="1427038"/>
            <a:ext cx="5904172" cy="4219074"/>
          </a:xfrm>
          <a:prstGeom prst="rect">
            <a:avLst/>
          </a:prstGeom>
        </p:spPr>
      </p:pic>
      <p:sp>
        <p:nvSpPr>
          <p:cNvPr id="14" name="Slide Number Placeholder 3"/>
          <p:cNvSpPr>
            <a:spLocks noGrp="1"/>
          </p:cNvSpPr>
          <p:nvPr>
            <p:ph type="sldNum" sz="quarter" idx="12"/>
          </p:nvPr>
        </p:nvSpPr>
        <p:spPr>
          <a:xfrm>
            <a:off x="9448800" y="0"/>
            <a:ext cx="2743200" cy="365125"/>
          </a:xfrm>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6" name="Oval 5"/>
          <p:cNvSpPr/>
          <p:nvPr/>
        </p:nvSpPr>
        <p:spPr>
          <a:xfrm>
            <a:off x="2983442" y="1916278"/>
            <a:ext cx="273103" cy="22459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26" name="Oval 25"/>
          <p:cNvSpPr/>
          <p:nvPr/>
        </p:nvSpPr>
        <p:spPr>
          <a:xfrm>
            <a:off x="3649572" y="2700650"/>
            <a:ext cx="273103" cy="224590"/>
          </a:xfrm>
          <a:prstGeom prst="ellipse">
            <a:avLst/>
          </a:prstGeom>
          <a:solidFill>
            <a:schemeClr val="accent3">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27" name="Oval 26"/>
          <p:cNvSpPr/>
          <p:nvPr/>
        </p:nvSpPr>
        <p:spPr>
          <a:xfrm>
            <a:off x="3465480" y="3933318"/>
            <a:ext cx="273103" cy="224590"/>
          </a:xfrm>
          <a:prstGeom prst="ellipse">
            <a:avLst/>
          </a:pr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28" name="Oval 27"/>
          <p:cNvSpPr/>
          <p:nvPr/>
        </p:nvSpPr>
        <p:spPr>
          <a:xfrm>
            <a:off x="4899937" y="4200794"/>
            <a:ext cx="273103" cy="224590"/>
          </a:xfrm>
          <a:prstGeom prst="ellipse">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29" name="Oval 28"/>
          <p:cNvSpPr/>
          <p:nvPr/>
        </p:nvSpPr>
        <p:spPr>
          <a:xfrm>
            <a:off x="2016629" y="4677847"/>
            <a:ext cx="273103" cy="224590"/>
          </a:xfrm>
          <a:prstGeom prst="ellipse">
            <a:avLst/>
          </a:prstGeom>
          <a:solidFill>
            <a:srgbClr val="FFC000"/>
          </a:solidFill>
          <a:ln>
            <a:solidFill>
              <a:srgbClr val="86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30" name="Oval 29"/>
          <p:cNvSpPr/>
          <p:nvPr/>
        </p:nvSpPr>
        <p:spPr>
          <a:xfrm>
            <a:off x="2321816" y="3502619"/>
            <a:ext cx="273103" cy="224590"/>
          </a:xfrm>
          <a:prstGeom prst="ellipse">
            <a:avLst/>
          </a:prstGeom>
          <a:solidFill>
            <a:srgbClr val="7030A0"/>
          </a:solidFill>
          <a:ln>
            <a:solidFill>
              <a:srgbClr val="86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31" name="Oval 30"/>
          <p:cNvSpPr/>
          <p:nvPr/>
        </p:nvSpPr>
        <p:spPr>
          <a:xfrm>
            <a:off x="1327506" y="3447579"/>
            <a:ext cx="273103" cy="224590"/>
          </a:xfrm>
          <a:prstGeom prst="ellipse">
            <a:avLst/>
          </a:prstGeom>
          <a:solidFill>
            <a:schemeClr val="tx1">
              <a:lumMod val="85000"/>
              <a:lumOff val="15000"/>
            </a:schemeClr>
          </a:solidFill>
          <a:ln>
            <a:solidFill>
              <a:srgbClr val="86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9" name="TextBox 8"/>
          <p:cNvSpPr txBox="1"/>
          <p:nvPr/>
        </p:nvSpPr>
        <p:spPr>
          <a:xfrm>
            <a:off x="5185244" y="4425384"/>
            <a:ext cx="1828800" cy="954107"/>
          </a:xfrm>
          <a:prstGeom prst="rect">
            <a:avLst/>
          </a:prstGeom>
          <a:noFill/>
        </p:spPr>
        <p:txBody>
          <a:bodyPr wrap="square" rtlCol="0">
            <a:spAutoFit/>
          </a:bodyPr>
          <a:lstStyle/>
          <a:p>
            <a:r>
              <a:rPr lang="en-IN" sz="1400" dirty="0">
                <a:solidFill>
                  <a:prstClr val="white">
                    <a:lumMod val="65000"/>
                  </a:prstClr>
                </a:solidFill>
              </a:rPr>
              <a:t>Interior</a:t>
            </a:r>
          </a:p>
          <a:p>
            <a:r>
              <a:rPr lang="en-IN" sz="1400" dirty="0">
                <a:solidFill>
                  <a:prstClr val="white">
                    <a:lumMod val="65000"/>
                  </a:prstClr>
                </a:solidFill>
              </a:rPr>
              <a:t>Build</a:t>
            </a:r>
          </a:p>
          <a:p>
            <a:r>
              <a:rPr lang="en-IN" sz="1400" dirty="0">
                <a:solidFill>
                  <a:prstClr val="white">
                    <a:lumMod val="65000"/>
                  </a:prstClr>
                </a:solidFill>
              </a:rPr>
              <a:t>Appearance</a:t>
            </a:r>
          </a:p>
          <a:p>
            <a:r>
              <a:rPr lang="en-IN" sz="1400" dirty="0">
                <a:solidFill>
                  <a:prstClr val="white">
                    <a:lumMod val="65000"/>
                  </a:prstClr>
                </a:solidFill>
              </a:rPr>
              <a:t>Performance</a:t>
            </a:r>
          </a:p>
        </p:txBody>
      </p:sp>
      <p:sp>
        <p:nvSpPr>
          <p:cNvPr id="50" name="TextBox 49"/>
          <p:cNvSpPr txBox="1"/>
          <p:nvPr/>
        </p:nvSpPr>
        <p:spPr>
          <a:xfrm>
            <a:off x="1844304" y="4902437"/>
            <a:ext cx="1828800" cy="738664"/>
          </a:xfrm>
          <a:prstGeom prst="rect">
            <a:avLst/>
          </a:prstGeom>
          <a:noFill/>
        </p:spPr>
        <p:txBody>
          <a:bodyPr wrap="square" rtlCol="0">
            <a:spAutoFit/>
          </a:bodyPr>
          <a:lstStyle/>
          <a:p>
            <a:r>
              <a:rPr lang="en-IN" sz="1400" dirty="0">
                <a:solidFill>
                  <a:prstClr val="white">
                    <a:lumMod val="65000"/>
                  </a:prstClr>
                </a:solidFill>
              </a:rPr>
              <a:t>Mileage</a:t>
            </a:r>
          </a:p>
          <a:p>
            <a:r>
              <a:rPr lang="en-IN" sz="1400" dirty="0">
                <a:solidFill>
                  <a:prstClr val="white">
                    <a:lumMod val="65000"/>
                  </a:prstClr>
                </a:solidFill>
              </a:rPr>
              <a:t>Entertainment</a:t>
            </a:r>
            <a:br>
              <a:rPr lang="en-IN" sz="1400" dirty="0">
                <a:solidFill>
                  <a:prstClr val="white">
                    <a:lumMod val="65000"/>
                  </a:prstClr>
                </a:solidFill>
              </a:rPr>
            </a:br>
            <a:r>
              <a:rPr lang="en-IN" sz="1400" dirty="0">
                <a:solidFill>
                  <a:prstClr val="white">
                    <a:lumMod val="65000"/>
                  </a:prstClr>
                </a:solidFill>
              </a:rPr>
              <a:t>Handling</a:t>
            </a:r>
          </a:p>
        </p:txBody>
      </p:sp>
      <p:sp>
        <p:nvSpPr>
          <p:cNvPr id="52" name="TextBox 51"/>
          <p:cNvSpPr txBox="1"/>
          <p:nvPr/>
        </p:nvSpPr>
        <p:spPr>
          <a:xfrm>
            <a:off x="3208460" y="4185075"/>
            <a:ext cx="1828800" cy="307777"/>
          </a:xfrm>
          <a:prstGeom prst="rect">
            <a:avLst/>
          </a:prstGeom>
          <a:noFill/>
        </p:spPr>
        <p:txBody>
          <a:bodyPr wrap="square" rtlCol="0">
            <a:spAutoFit/>
          </a:bodyPr>
          <a:lstStyle/>
          <a:p>
            <a:endParaRPr lang="en-IN" sz="1400" dirty="0">
              <a:solidFill>
                <a:prstClr val="white">
                  <a:lumMod val="65000"/>
                </a:prstClr>
              </a:solidFill>
            </a:endParaRPr>
          </a:p>
        </p:txBody>
      </p:sp>
      <p:sp>
        <p:nvSpPr>
          <p:cNvPr id="53" name="TextBox 52"/>
          <p:cNvSpPr txBox="1"/>
          <p:nvPr/>
        </p:nvSpPr>
        <p:spPr>
          <a:xfrm>
            <a:off x="1820772" y="3727209"/>
            <a:ext cx="1435773" cy="954107"/>
          </a:xfrm>
          <a:prstGeom prst="rect">
            <a:avLst/>
          </a:prstGeom>
          <a:noFill/>
        </p:spPr>
        <p:txBody>
          <a:bodyPr wrap="square" rtlCol="0">
            <a:spAutoFit/>
          </a:bodyPr>
          <a:lstStyle/>
          <a:p>
            <a:r>
              <a:rPr lang="en-IN" sz="1400" dirty="0">
                <a:solidFill>
                  <a:prstClr val="white">
                    <a:lumMod val="65000"/>
                  </a:prstClr>
                </a:solidFill>
              </a:rPr>
              <a:t>Mileage</a:t>
            </a:r>
          </a:p>
          <a:p>
            <a:r>
              <a:rPr lang="en-IN" sz="1400" dirty="0">
                <a:solidFill>
                  <a:prstClr val="white">
                    <a:lumMod val="65000"/>
                  </a:prstClr>
                </a:solidFill>
              </a:rPr>
              <a:t>Interior</a:t>
            </a:r>
          </a:p>
          <a:p>
            <a:r>
              <a:rPr lang="en-IN" sz="1400" dirty="0">
                <a:solidFill>
                  <a:prstClr val="white">
                    <a:lumMod val="65000"/>
                  </a:prstClr>
                </a:solidFill>
              </a:rPr>
              <a:t>Entertainment</a:t>
            </a:r>
          </a:p>
          <a:p>
            <a:r>
              <a:rPr lang="en-IN" sz="1400" dirty="0">
                <a:solidFill>
                  <a:prstClr val="white">
                    <a:lumMod val="65000"/>
                  </a:prstClr>
                </a:solidFill>
              </a:rPr>
              <a:t>Engine</a:t>
            </a:r>
          </a:p>
        </p:txBody>
      </p:sp>
      <p:sp>
        <p:nvSpPr>
          <p:cNvPr id="54" name="TextBox 53"/>
          <p:cNvSpPr txBox="1"/>
          <p:nvPr/>
        </p:nvSpPr>
        <p:spPr>
          <a:xfrm>
            <a:off x="3208460" y="4217309"/>
            <a:ext cx="1828800" cy="738664"/>
          </a:xfrm>
          <a:prstGeom prst="rect">
            <a:avLst/>
          </a:prstGeom>
          <a:noFill/>
        </p:spPr>
        <p:txBody>
          <a:bodyPr wrap="square" rtlCol="0">
            <a:spAutoFit/>
          </a:bodyPr>
          <a:lstStyle/>
          <a:p>
            <a:r>
              <a:rPr lang="en-IN" sz="1400" dirty="0">
                <a:solidFill>
                  <a:prstClr val="white">
                    <a:lumMod val="65000"/>
                  </a:prstClr>
                </a:solidFill>
              </a:rPr>
              <a:t>Handling</a:t>
            </a:r>
          </a:p>
          <a:p>
            <a:r>
              <a:rPr lang="en-IN" sz="1400" dirty="0">
                <a:solidFill>
                  <a:prstClr val="white">
                    <a:lumMod val="65000"/>
                  </a:prstClr>
                </a:solidFill>
              </a:rPr>
              <a:t>Performance</a:t>
            </a:r>
          </a:p>
          <a:p>
            <a:r>
              <a:rPr lang="en-IN" sz="1400" dirty="0">
                <a:solidFill>
                  <a:prstClr val="white">
                    <a:lumMod val="65000"/>
                  </a:prstClr>
                </a:solidFill>
              </a:rPr>
              <a:t>Interior</a:t>
            </a:r>
          </a:p>
        </p:txBody>
      </p:sp>
      <p:sp>
        <p:nvSpPr>
          <p:cNvPr id="55" name="TextBox 54"/>
          <p:cNvSpPr txBox="1"/>
          <p:nvPr/>
        </p:nvSpPr>
        <p:spPr>
          <a:xfrm>
            <a:off x="4565784" y="2508209"/>
            <a:ext cx="1828800" cy="954107"/>
          </a:xfrm>
          <a:prstGeom prst="rect">
            <a:avLst/>
          </a:prstGeom>
          <a:noFill/>
        </p:spPr>
        <p:txBody>
          <a:bodyPr wrap="square" rtlCol="0">
            <a:spAutoFit/>
          </a:bodyPr>
          <a:lstStyle/>
          <a:p>
            <a:r>
              <a:rPr lang="en-IN" sz="1400" dirty="0">
                <a:solidFill>
                  <a:prstClr val="white">
                    <a:lumMod val="65000"/>
                  </a:prstClr>
                </a:solidFill>
              </a:rPr>
              <a:t>Performance</a:t>
            </a:r>
          </a:p>
          <a:p>
            <a:r>
              <a:rPr lang="en-IN" sz="1400" dirty="0">
                <a:solidFill>
                  <a:prstClr val="white">
                    <a:lumMod val="65000"/>
                  </a:prstClr>
                </a:solidFill>
              </a:rPr>
              <a:t>AC</a:t>
            </a:r>
          </a:p>
          <a:p>
            <a:r>
              <a:rPr lang="en-IN" sz="1400" dirty="0">
                <a:solidFill>
                  <a:prstClr val="white">
                    <a:lumMod val="65000"/>
                  </a:prstClr>
                </a:solidFill>
              </a:rPr>
              <a:t>Interior</a:t>
            </a:r>
          </a:p>
          <a:p>
            <a:r>
              <a:rPr lang="en-IN" sz="1400" dirty="0">
                <a:solidFill>
                  <a:prstClr val="white">
                    <a:lumMod val="65000"/>
                  </a:prstClr>
                </a:solidFill>
              </a:rPr>
              <a:t>Build</a:t>
            </a:r>
          </a:p>
        </p:txBody>
      </p:sp>
      <p:sp>
        <p:nvSpPr>
          <p:cNvPr id="56" name="TextBox 55"/>
          <p:cNvSpPr txBox="1"/>
          <p:nvPr/>
        </p:nvSpPr>
        <p:spPr>
          <a:xfrm>
            <a:off x="3835087" y="1492052"/>
            <a:ext cx="1828800" cy="954107"/>
          </a:xfrm>
          <a:prstGeom prst="rect">
            <a:avLst/>
          </a:prstGeom>
          <a:noFill/>
        </p:spPr>
        <p:txBody>
          <a:bodyPr wrap="square" rtlCol="0">
            <a:spAutoFit/>
          </a:bodyPr>
          <a:lstStyle/>
          <a:p>
            <a:r>
              <a:rPr lang="en-IN" sz="1400" dirty="0">
                <a:solidFill>
                  <a:prstClr val="white">
                    <a:lumMod val="65000"/>
                  </a:prstClr>
                </a:solidFill>
              </a:rPr>
              <a:t>Performance</a:t>
            </a:r>
          </a:p>
          <a:p>
            <a:r>
              <a:rPr lang="en-IN" sz="1400" dirty="0">
                <a:solidFill>
                  <a:prstClr val="white">
                    <a:lumMod val="65000"/>
                  </a:prstClr>
                </a:solidFill>
              </a:rPr>
              <a:t>AC</a:t>
            </a:r>
          </a:p>
          <a:p>
            <a:r>
              <a:rPr lang="en-IN" sz="1400" dirty="0">
                <a:solidFill>
                  <a:prstClr val="white">
                    <a:lumMod val="65000"/>
                  </a:prstClr>
                </a:solidFill>
              </a:rPr>
              <a:t>Interior</a:t>
            </a:r>
          </a:p>
          <a:p>
            <a:r>
              <a:rPr lang="en-IN" sz="1400" dirty="0">
                <a:solidFill>
                  <a:prstClr val="white">
                    <a:lumMod val="65000"/>
                  </a:prstClr>
                </a:solidFill>
              </a:rPr>
              <a:t>Mileage</a:t>
            </a:r>
          </a:p>
        </p:txBody>
      </p:sp>
      <p:sp>
        <p:nvSpPr>
          <p:cNvPr id="59" name="TextBox 58"/>
          <p:cNvSpPr txBox="1"/>
          <p:nvPr/>
        </p:nvSpPr>
        <p:spPr>
          <a:xfrm>
            <a:off x="1041281" y="2426205"/>
            <a:ext cx="1828800" cy="954107"/>
          </a:xfrm>
          <a:prstGeom prst="rect">
            <a:avLst/>
          </a:prstGeom>
          <a:noFill/>
        </p:spPr>
        <p:txBody>
          <a:bodyPr wrap="square" rtlCol="0">
            <a:spAutoFit/>
          </a:bodyPr>
          <a:lstStyle/>
          <a:p>
            <a:r>
              <a:rPr lang="en-IN" sz="1400" dirty="0">
                <a:solidFill>
                  <a:prstClr val="white">
                    <a:lumMod val="65000"/>
                  </a:prstClr>
                </a:solidFill>
              </a:rPr>
              <a:t>Interior</a:t>
            </a:r>
          </a:p>
          <a:p>
            <a:r>
              <a:rPr lang="en-IN" sz="1400" dirty="0">
                <a:solidFill>
                  <a:prstClr val="white">
                    <a:lumMod val="65000"/>
                  </a:prstClr>
                </a:solidFill>
              </a:rPr>
              <a:t>Mileage</a:t>
            </a:r>
          </a:p>
          <a:p>
            <a:r>
              <a:rPr lang="en-IN" sz="1400" dirty="0">
                <a:solidFill>
                  <a:prstClr val="white">
                    <a:lumMod val="65000"/>
                  </a:prstClr>
                </a:solidFill>
              </a:rPr>
              <a:t>Space</a:t>
            </a:r>
          </a:p>
          <a:p>
            <a:r>
              <a:rPr lang="en-IN" sz="1400" dirty="0">
                <a:solidFill>
                  <a:prstClr val="white">
                    <a:lumMod val="65000"/>
                  </a:prstClr>
                </a:solidFill>
              </a:rPr>
              <a:t>Entertainment</a:t>
            </a:r>
          </a:p>
        </p:txBody>
      </p:sp>
      <p:pic>
        <p:nvPicPr>
          <p:cNvPr id="12" name="Picture 11"/>
          <p:cNvPicPr>
            <a:picLocks noChangeAspect="1"/>
          </p:cNvPicPr>
          <p:nvPr/>
        </p:nvPicPr>
        <p:blipFill rotWithShape="1">
          <a:blip r:embed="rId3"/>
          <a:srcRect l="3683" r="5736"/>
          <a:stretch/>
        </p:blipFill>
        <p:spPr>
          <a:xfrm>
            <a:off x="6416843" y="1708012"/>
            <a:ext cx="5550568" cy="3781719"/>
          </a:xfrm>
          <a:prstGeom prst="rect">
            <a:avLst/>
          </a:prstGeom>
        </p:spPr>
      </p:pic>
      <p:sp>
        <p:nvSpPr>
          <p:cNvPr id="60" name="Oval 59"/>
          <p:cNvSpPr/>
          <p:nvPr/>
        </p:nvSpPr>
        <p:spPr>
          <a:xfrm>
            <a:off x="9264122" y="2240671"/>
            <a:ext cx="273103" cy="224590"/>
          </a:xfrm>
          <a:prstGeom prst="ellipse">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1" name="Oval 60"/>
          <p:cNvSpPr/>
          <p:nvPr/>
        </p:nvSpPr>
        <p:spPr>
          <a:xfrm>
            <a:off x="10868526" y="2556335"/>
            <a:ext cx="273103" cy="224590"/>
          </a:xfrm>
          <a:prstGeom prst="ellipse">
            <a:avLst/>
          </a:prstGeom>
          <a:solidFill>
            <a:schemeClr val="accent3">
              <a:lumMod val="75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2" name="Oval 61"/>
          <p:cNvSpPr/>
          <p:nvPr/>
        </p:nvSpPr>
        <p:spPr>
          <a:xfrm>
            <a:off x="7969777" y="3187806"/>
            <a:ext cx="273103" cy="224590"/>
          </a:xfrm>
          <a:prstGeom prst="ellipse">
            <a:avLst/>
          </a:prstGeom>
          <a:solidFill>
            <a:srgbClr val="7030A0"/>
          </a:solidFill>
          <a:ln>
            <a:solidFill>
              <a:srgbClr val="86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3" name="Oval 62"/>
          <p:cNvSpPr/>
          <p:nvPr/>
        </p:nvSpPr>
        <p:spPr>
          <a:xfrm>
            <a:off x="7271839" y="3441841"/>
            <a:ext cx="273103" cy="224590"/>
          </a:xfrm>
          <a:prstGeom prst="ellipse">
            <a:avLst/>
          </a:prstGeom>
          <a:solidFill>
            <a:srgbClr val="FFC000"/>
          </a:solidFill>
          <a:ln>
            <a:solidFill>
              <a:srgbClr val="86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4" name="Oval 63"/>
          <p:cNvSpPr/>
          <p:nvPr/>
        </p:nvSpPr>
        <p:spPr>
          <a:xfrm>
            <a:off x="6848245" y="4134127"/>
            <a:ext cx="273103" cy="224590"/>
          </a:xfrm>
          <a:prstGeom prst="ellipse">
            <a:avLst/>
          </a:prstGeom>
          <a:solidFill>
            <a:schemeClr val="accent6">
              <a:lumMod val="75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5" name="Oval 64"/>
          <p:cNvSpPr/>
          <p:nvPr/>
        </p:nvSpPr>
        <p:spPr>
          <a:xfrm>
            <a:off x="10174727" y="4014438"/>
            <a:ext cx="273103" cy="224590"/>
          </a:xfrm>
          <a:prstGeom prst="ellipse">
            <a:avLst/>
          </a:prstGeom>
          <a:solidFill>
            <a:schemeClr val="tx1">
              <a:lumMod val="85000"/>
              <a:lumOff val="15000"/>
            </a:schemeClr>
          </a:solidFill>
          <a:ln>
            <a:solidFill>
              <a:srgbClr val="86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6" name="Oval 65"/>
          <p:cNvSpPr/>
          <p:nvPr/>
        </p:nvSpPr>
        <p:spPr>
          <a:xfrm>
            <a:off x="11008721" y="4787647"/>
            <a:ext cx="273103" cy="224590"/>
          </a:xfrm>
          <a:prstGeom prst="ellipse">
            <a:avLst/>
          </a:prstGeom>
          <a:solidFill>
            <a:schemeClr val="accent2">
              <a:lumMod val="5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solidFill>
                <a:prstClr val="white"/>
              </a:solidFill>
            </a:endParaRPr>
          </a:p>
        </p:txBody>
      </p:sp>
      <p:sp>
        <p:nvSpPr>
          <p:cNvPr id="67" name="TextBox 66"/>
          <p:cNvSpPr txBox="1"/>
          <p:nvPr/>
        </p:nvSpPr>
        <p:spPr>
          <a:xfrm>
            <a:off x="10820400" y="5100820"/>
            <a:ext cx="1828800" cy="523220"/>
          </a:xfrm>
          <a:prstGeom prst="rect">
            <a:avLst/>
          </a:prstGeom>
          <a:noFill/>
        </p:spPr>
        <p:txBody>
          <a:bodyPr wrap="square" rtlCol="0">
            <a:spAutoFit/>
          </a:bodyPr>
          <a:lstStyle/>
          <a:p>
            <a:r>
              <a:rPr lang="en-IN" sz="1400" dirty="0">
                <a:solidFill>
                  <a:prstClr val="white">
                    <a:lumMod val="65000"/>
                  </a:prstClr>
                </a:solidFill>
              </a:rPr>
              <a:t>Space</a:t>
            </a:r>
          </a:p>
          <a:p>
            <a:r>
              <a:rPr lang="en-IN" sz="1400" dirty="0">
                <a:solidFill>
                  <a:prstClr val="white">
                    <a:lumMod val="65000"/>
                  </a:prstClr>
                </a:solidFill>
              </a:rPr>
              <a:t>Engine</a:t>
            </a:r>
          </a:p>
        </p:txBody>
      </p:sp>
      <p:sp>
        <p:nvSpPr>
          <p:cNvPr id="68" name="TextBox 67"/>
          <p:cNvSpPr txBox="1"/>
          <p:nvPr/>
        </p:nvSpPr>
        <p:spPr>
          <a:xfrm>
            <a:off x="9906000" y="4220262"/>
            <a:ext cx="1828800" cy="523220"/>
          </a:xfrm>
          <a:prstGeom prst="rect">
            <a:avLst/>
          </a:prstGeom>
          <a:noFill/>
        </p:spPr>
        <p:txBody>
          <a:bodyPr wrap="square" rtlCol="0">
            <a:spAutoFit/>
          </a:bodyPr>
          <a:lstStyle/>
          <a:p>
            <a:r>
              <a:rPr lang="en-IN" sz="1400" dirty="0">
                <a:solidFill>
                  <a:prstClr val="white">
                    <a:lumMod val="65000"/>
                  </a:prstClr>
                </a:solidFill>
              </a:rPr>
              <a:t>Engine </a:t>
            </a:r>
          </a:p>
          <a:p>
            <a:r>
              <a:rPr lang="en-IN" sz="1400" dirty="0">
                <a:solidFill>
                  <a:prstClr val="white">
                    <a:lumMod val="65000"/>
                  </a:prstClr>
                </a:solidFill>
              </a:rPr>
              <a:t>Handling</a:t>
            </a:r>
          </a:p>
        </p:txBody>
      </p:sp>
      <p:sp>
        <p:nvSpPr>
          <p:cNvPr id="69" name="TextBox 68"/>
          <p:cNvSpPr txBox="1"/>
          <p:nvPr/>
        </p:nvSpPr>
        <p:spPr>
          <a:xfrm>
            <a:off x="6833397" y="4338963"/>
            <a:ext cx="1828800" cy="523220"/>
          </a:xfrm>
          <a:prstGeom prst="rect">
            <a:avLst/>
          </a:prstGeom>
          <a:noFill/>
        </p:spPr>
        <p:txBody>
          <a:bodyPr wrap="square" rtlCol="0">
            <a:spAutoFit/>
          </a:bodyPr>
          <a:lstStyle/>
          <a:p>
            <a:r>
              <a:rPr lang="en-IN" sz="1400" dirty="0">
                <a:solidFill>
                  <a:prstClr val="white">
                    <a:lumMod val="65000"/>
                  </a:prstClr>
                </a:solidFill>
              </a:rPr>
              <a:t>Mileage</a:t>
            </a:r>
          </a:p>
          <a:p>
            <a:r>
              <a:rPr lang="en-IN" sz="1400" dirty="0">
                <a:solidFill>
                  <a:prstClr val="white">
                    <a:lumMod val="65000"/>
                  </a:prstClr>
                </a:solidFill>
              </a:rPr>
              <a:t>Appearance</a:t>
            </a:r>
          </a:p>
        </p:txBody>
      </p:sp>
      <p:sp>
        <p:nvSpPr>
          <p:cNvPr id="70" name="TextBox 69"/>
          <p:cNvSpPr txBox="1"/>
          <p:nvPr/>
        </p:nvSpPr>
        <p:spPr>
          <a:xfrm>
            <a:off x="7740746" y="3539240"/>
            <a:ext cx="1828800" cy="738664"/>
          </a:xfrm>
          <a:prstGeom prst="rect">
            <a:avLst/>
          </a:prstGeom>
          <a:noFill/>
        </p:spPr>
        <p:txBody>
          <a:bodyPr wrap="square" rtlCol="0">
            <a:spAutoFit/>
          </a:bodyPr>
          <a:lstStyle/>
          <a:p>
            <a:r>
              <a:rPr lang="en-IN" sz="1400" dirty="0">
                <a:solidFill>
                  <a:prstClr val="white">
                    <a:lumMod val="65000"/>
                  </a:prstClr>
                </a:solidFill>
              </a:rPr>
              <a:t>Space</a:t>
            </a:r>
          </a:p>
          <a:p>
            <a:r>
              <a:rPr lang="en-IN" sz="1400" dirty="0">
                <a:solidFill>
                  <a:prstClr val="white">
                    <a:lumMod val="65000"/>
                  </a:prstClr>
                </a:solidFill>
              </a:rPr>
              <a:t>Mileage</a:t>
            </a:r>
          </a:p>
          <a:p>
            <a:r>
              <a:rPr lang="en-IN" sz="1400" dirty="0">
                <a:solidFill>
                  <a:prstClr val="white">
                    <a:lumMod val="65000"/>
                  </a:prstClr>
                </a:solidFill>
              </a:rPr>
              <a:t>Appearance</a:t>
            </a:r>
          </a:p>
        </p:txBody>
      </p:sp>
      <p:sp>
        <p:nvSpPr>
          <p:cNvPr id="71" name="TextBox 70"/>
          <p:cNvSpPr txBox="1"/>
          <p:nvPr/>
        </p:nvSpPr>
        <p:spPr>
          <a:xfrm>
            <a:off x="9565106" y="1719843"/>
            <a:ext cx="1828800" cy="523220"/>
          </a:xfrm>
          <a:prstGeom prst="rect">
            <a:avLst/>
          </a:prstGeom>
          <a:noFill/>
        </p:spPr>
        <p:txBody>
          <a:bodyPr wrap="square" rtlCol="0">
            <a:spAutoFit/>
          </a:bodyPr>
          <a:lstStyle/>
          <a:p>
            <a:r>
              <a:rPr lang="en-IN" sz="1400" dirty="0">
                <a:solidFill>
                  <a:prstClr val="white">
                    <a:lumMod val="65000"/>
                  </a:prstClr>
                </a:solidFill>
              </a:rPr>
              <a:t>Engine</a:t>
            </a:r>
          </a:p>
          <a:p>
            <a:r>
              <a:rPr lang="en-IN" sz="1400" dirty="0">
                <a:solidFill>
                  <a:prstClr val="white">
                    <a:lumMod val="65000"/>
                  </a:prstClr>
                </a:solidFill>
              </a:rPr>
              <a:t>Handling</a:t>
            </a:r>
          </a:p>
        </p:txBody>
      </p:sp>
      <p:sp>
        <p:nvSpPr>
          <p:cNvPr id="72" name="TextBox 71"/>
          <p:cNvSpPr txBox="1"/>
          <p:nvPr/>
        </p:nvSpPr>
        <p:spPr>
          <a:xfrm>
            <a:off x="10631906" y="2776881"/>
            <a:ext cx="1828800" cy="523220"/>
          </a:xfrm>
          <a:prstGeom prst="rect">
            <a:avLst/>
          </a:prstGeom>
          <a:noFill/>
        </p:spPr>
        <p:txBody>
          <a:bodyPr wrap="square" rtlCol="0">
            <a:spAutoFit/>
          </a:bodyPr>
          <a:lstStyle/>
          <a:p>
            <a:r>
              <a:rPr lang="en-IN" sz="1400" dirty="0">
                <a:solidFill>
                  <a:prstClr val="white">
                    <a:lumMod val="65000"/>
                  </a:prstClr>
                </a:solidFill>
              </a:rPr>
              <a:t>Engine</a:t>
            </a:r>
          </a:p>
          <a:p>
            <a:r>
              <a:rPr lang="en-IN" sz="1400" dirty="0">
                <a:solidFill>
                  <a:prstClr val="white">
                    <a:lumMod val="65000"/>
                  </a:prstClr>
                </a:solidFill>
              </a:rPr>
              <a:t>Mileage</a:t>
            </a:r>
          </a:p>
        </p:txBody>
      </p:sp>
      <p:sp>
        <p:nvSpPr>
          <p:cNvPr id="73" name="TextBox 72"/>
          <p:cNvSpPr txBox="1"/>
          <p:nvPr/>
        </p:nvSpPr>
        <p:spPr>
          <a:xfrm>
            <a:off x="7626975" y="2691630"/>
            <a:ext cx="1828800" cy="523220"/>
          </a:xfrm>
          <a:prstGeom prst="rect">
            <a:avLst/>
          </a:prstGeom>
          <a:noFill/>
        </p:spPr>
        <p:txBody>
          <a:bodyPr wrap="square" rtlCol="0">
            <a:spAutoFit/>
          </a:bodyPr>
          <a:lstStyle/>
          <a:p>
            <a:r>
              <a:rPr lang="en-IN" sz="1400" dirty="0">
                <a:solidFill>
                  <a:prstClr val="white">
                    <a:lumMod val="65000"/>
                  </a:prstClr>
                </a:solidFill>
              </a:rPr>
              <a:t>Space</a:t>
            </a:r>
          </a:p>
          <a:p>
            <a:r>
              <a:rPr lang="en-IN" sz="1400" dirty="0">
                <a:solidFill>
                  <a:prstClr val="white">
                    <a:lumMod val="65000"/>
                  </a:prstClr>
                </a:solidFill>
              </a:rPr>
              <a:t>Appearance</a:t>
            </a:r>
          </a:p>
        </p:txBody>
      </p:sp>
      <p:cxnSp>
        <p:nvCxnSpPr>
          <p:cNvPr id="15" name="Straight Connector 14"/>
          <p:cNvCxnSpPr/>
          <p:nvPr/>
        </p:nvCxnSpPr>
        <p:spPr>
          <a:xfrm flipH="1">
            <a:off x="6272463" y="1096461"/>
            <a:ext cx="2277" cy="4708415"/>
          </a:xfrm>
          <a:prstGeom prst="line">
            <a:avLst/>
          </a:prstGeom>
          <a:ln w="349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4" name="Rectangle 73"/>
          <p:cNvSpPr/>
          <p:nvPr/>
        </p:nvSpPr>
        <p:spPr>
          <a:xfrm>
            <a:off x="1" y="5804876"/>
            <a:ext cx="12192000" cy="793151"/>
          </a:xfrm>
          <a:prstGeom prst="rect">
            <a:avLst/>
          </a:prstGeom>
          <a:solidFill>
            <a:schemeClr val="accent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r>
              <a:rPr lang="en-IN" sz="1600" dirty="0">
                <a:solidFill>
                  <a:prstClr val="white"/>
                </a:solidFill>
              </a:rPr>
              <a:t>Tiago seems to be closest to </a:t>
            </a:r>
            <a:r>
              <a:rPr lang="en-IN" sz="1600" dirty="0" err="1">
                <a:solidFill>
                  <a:prstClr val="white"/>
                </a:solidFill>
              </a:rPr>
              <a:t>Kwid</a:t>
            </a:r>
            <a:r>
              <a:rPr lang="en-IN" sz="1600" dirty="0">
                <a:solidFill>
                  <a:prstClr val="white"/>
                </a:solidFill>
              </a:rPr>
              <a:t> both with regards to positive and negative opinion</a:t>
            </a:r>
          </a:p>
          <a:p>
            <a:pPr marL="285750" indent="-285750" algn="ctr">
              <a:buFont typeface="Arial" panose="020B0604020202020204" pitchFamily="34" charset="0"/>
              <a:buChar char="•"/>
            </a:pPr>
            <a:r>
              <a:rPr lang="en-IN" sz="1600" dirty="0">
                <a:solidFill>
                  <a:prstClr val="white"/>
                </a:solidFill>
              </a:rPr>
              <a:t>Engine seems to be a major driver of negative opinion for a number of brands</a:t>
            </a:r>
          </a:p>
        </p:txBody>
      </p:sp>
      <p:sp>
        <p:nvSpPr>
          <p:cNvPr id="18" name="Oval 17"/>
          <p:cNvSpPr/>
          <p:nvPr/>
        </p:nvSpPr>
        <p:spPr>
          <a:xfrm rot="18574646">
            <a:off x="3735807" y="1106741"/>
            <a:ext cx="1338362" cy="4301354"/>
          </a:xfrm>
          <a:prstGeom prst="ellipse">
            <a:avLst/>
          </a:prstGeom>
          <a:solidFill>
            <a:schemeClr val="accent5">
              <a:lumMod val="50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5" name="Oval 74"/>
          <p:cNvSpPr/>
          <p:nvPr/>
        </p:nvSpPr>
        <p:spPr>
          <a:xfrm rot="16029851">
            <a:off x="1165109" y="2893744"/>
            <a:ext cx="1753615" cy="2311822"/>
          </a:xfrm>
          <a:prstGeom prst="ellipse">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6" name="Oval 75"/>
          <p:cNvSpPr/>
          <p:nvPr/>
        </p:nvSpPr>
        <p:spPr>
          <a:xfrm rot="14525507">
            <a:off x="2239282" y="3342820"/>
            <a:ext cx="1338362" cy="2780819"/>
          </a:xfrm>
          <a:prstGeom prst="ellipse">
            <a:avLst/>
          </a:prstGeom>
          <a:solidFill>
            <a:schemeClr val="accent2">
              <a:lumMod val="75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7" name="Oval 76"/>
          <p:cNvSpPr/>
          <p:nvPr/>
        </p:nvSpPr>
        <p:spPr>
          <a:xfrm rot="2874890">
            <a:off x="6457270" y="3007552"/>
            <a:ext cx="1338362" cy="1651342"/>
          </a:xfrm>
          <a:prstGeom prst="ellipse">
            <a:avLst/>
          </a:prstGeom>
          <a:solidFill>
            <a:schemeClr val="accent1">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8" name="Oval 77"/>
          <p:cNvSpPr/>
          <p:nvPr/>
        </p:nvSpPr>
        <p:spPr>
          <a:xfrm rot="2874890">
            <a:off x="7317118" y="2409488"/>
            <a:ext cx="1221404" cy="1603066"/>
          </a:xfrm>
          <a:prstGeom prst="ellipse">
            <a:avLst/>
          </a:prstGeom>
          <a:solidFill>
            <a:schemeClr val="accent2">
              <a:lumMod val="50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9" name="Oval 78"/>
          <p:cNvSpPr/>
          <p:nvPr/>
        </p:nvSpPr>
        <p:spPr>
          <a:xfrm rot="1267972">
            <a:off x="8629075" y="1941858"/>
            <a:ext cx="3509127" cy="3342850"/>
          </a:xfrm>
          <a:prstGeom prst="ellipse">
            <a:avLst/>
          </a:prstGeom>
          <a:solidFill>
            <a:schemeClr val="accent5">
              <a:lumMod val="50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0" name="TextBox 79"/>
          <p:cNvSpPr txBox="1"/>
          <p:nvPr/>
        </p:nvSpPr>
        <p:spPr>
          <a:xfrm>
            <a:off x="0" y="1087219"/>
            <a:ext cx="12192000" cy="309883"/>
          </a:xfrm>
          <a:prstGeom prst="rect">
            <a:avLst/>
          </a:prstGeom>
          <a:solidFill>
            <a:schemeClr val="accent1">
              <a:lumMod val="50000"/>
            </a:schemeClr>
          </a:solidFill>
        </p:spPr>
        <p:txBody>
          <a:bodyPr wrap="square" rtlCol="0">
            <a:noAutofit/>
          </a:bodyPr>
          <a:lstStyle/>
          <a:p>
            <a:pPr algn="ctr"/>
            <a:endParaRPr lang="en-IN" sz="1600" dirty="0">
              <a:solidFill>
                <a:prstClr val="white"/>
              </a:solidFill>
            </a:endParaRPr>
          </a:p>
        </p:txBody>
      </p:sp>
      <p:sp>
        <p:nvSpPr>
          <p:cNvPr id="19" name="TextBox 18"/>
          <p:cNvSpPr txBox="1"/>
          <p:nvPr/>
        </p:nvSpPr>
        <p:spPr>
          <a:xfrm>
            <a:off x="1277175" y="1055135"/>
            <a:ext cx="5218314" cy="369332"/>
          </a:xfrm>
          <a:prstGeom prst="rect">
            <a:avLst/>
          </a:prstGeom>
          <a:noFill/>
        </p:spPr>
        <p:txBody>
          <a:bodyPr wrap="square" rtlCol="0">
            <a:spAutoFit/>
          </a:bodyPr>
          <a:lstStyle/>
          <a:p>
            <a:r>
              <a:rPr lang="en-IN" b="1" dirty="0">
                <a:solidFill>
                  <a:prstClr val="white"/>
                </a:solidFill>
              </a:rPr>
              <a:t>Perceptual Map for Positive Opinion</a:t>
            </a:r>
          </a:p>
        </p:txBody>
      </p:sp>
      <p:sp>
        <p:nvSpPr>
          <p:cNvPr id="82" name="TextBox 81"/>
          <p:cNvSpPr txBox="1"/>
          <p:nvPr/>
        </p:nvSpPr>
        <p:spPr>
          <a:xfrm>
            <a:off x="7448899" y="1031537"/>
            <a:ext cx="5218314" cy="369332"/>
          </a:xfrm>
          <a:prstGeom prst="rect">
            <a:avLst/>
          </a:prstGeom>
          <a:noFill/>
        </p:spPr>
        <p:txBody>
          <a:bodyPr wrap="square" rtlCol="0">
            <a:spAutoFit/>
          </a:bodyPr>
          <a:lstStyle/>
          <a:p>
            <a:r>
              <a:rPr lang="en-IN" b="1" dirty="0">
                <a:solidFill>
                  <a:prstClr val="white"/>
                </a:solidFill>
              </a:rPr>
              <a:t>Perceptual Map for Negative Opinion</a:t>
            </a:r>
          </a:p>
        </p:txBody>
      </p:sp>
      <p:sp>
        <p:nvSpPr>
          <p:cNvPr id="83" name="Oval 82"/>
          <p:cNvSpPr/>
          <p:nvPr/>
        </p:nvSpPr>
        <p:spPr>
          <a:xfrm rot="5866683">
            <a:off x="3851178" y="2945038"/>
            <a:ext cx="1338362" cy="2648656"/>
          </a:xfrm>
          <a:prstGeom prst="ellipse">
            <a:avLst/>
          </a:prstGeom>
          <a:solidFill>
            <a:schemeClr val="accent3">
              <a:lumMod val="50000"/>
              <a:alpha val="1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47" name="Group 46"/>
          <p:cNvGrpSpPr/>
          <p:nvPr/>
        </p:nvGrpSpPr>
        <p:grpSpPr>
          <a:xfrm>
            <a:off x="1" y="388122"/>
            <a:ext cx="12192000" cy="461665"/>
            <a:chOff x="1" y="322556"/>
            <a:chExt cx="12192000" cy="461665"/>
          </a:xfrm>
        </p:grpSpPr>
        <p:cxnSp>
          <p:nvCxnSpPr>
            <p:cNvPr id="48" name="Straight Connector 47"/>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335397" y="322556"/>
              <a:ext cx="3521349"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Social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Perceptual Maps</a:t>
              </a:r>
              <a:endParaRPr lang="en-IN" sz="2400" b="1" dirty="0" smtClean="0">
                <a:solidFill>
                  <a:schemeClr val="bg1">
                    <a:lumMod val="50000"/>
                  </a:schemeClr>
                </a:solidFill>
                <a:latin typeface="Leelawadee UI" panose="020B0502040204020203" pitchFamily="34" charset="-34"/>
                <a:cs typeface="Leelawadee UI" panose="020B0502040204020203" pitchFamily="34" charset="-34"/>
              </a:endParaRPr>
            </a:p>
          </p:txBody>
        </p:sp>
      </p:grpSp>
    </p:spTree>
    <p:extLst>
      <p:ext uri="{BB962C8B-B14F-4D97-AF65-F5344CB8AC3E}">
        <p14:creationId xmlns:p14="http://schemas.microsoft.com/office/powerpoint/2010/main" val="24379353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sp>
        <p:nvSpPr>
          <p:cNvPr id="3" name="Rectangle 2"/>
          <p:cNvSpPr/>
          <p:nvPr/>
        </p:nvSpPr>
        <p:spPr>
          <a:xfrm>
            <a:off x="0" y="0"/>
            <a:ext cx="12192000" cy="54102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8" name="Group 7"/>
          <p:cNvGrpSpPr/>
          <p:nvPr/>
        </p:nvGrpSpPr>
        <p:grpSpPr>
          <a:xfrm>
            <a:off x="943622" y="2547738"/>
            <a:ext cx="10204781" cy="1357691"/>
            <a:chOff x="943622" y="1960714"/>
            <a:chExt cx="10204781" cy="1357691"/>
          </a:xfrm>
        </p:grpSpPr>
        <p:sp>
          <p:nvSpPr>
            <p:cNvPr id="5" name="Rectangle 4"/>
            <p:cNvSpPr/>
            <p:nvPr/>
          </p:nvSpPr>
          <p:spPr>
            <a:xfrm>
              <a:off x="6006377" y="1960714"/>
              <a:ext cx="184731" cy="1200329"/>
            </a:xfrm>
            <a:prstGeom prst="rect">
              <a:avLst/>
            </a:prstGeom>
          </p:spPr>
          <p:txBody>
            <a:bodyPr wrap="none">
              <a:spAutoFit/>
            </a:bodyPr>
            <a:lstStyle/>
            <a:p>
              <a:pPr algn="ctr"/>
              <a:endParaRPr lang="en-IN" sz="7200" dirty="0">
                <a:ln/>
                <a:solidFill>
                  <a:prstClr val="white"/>
                </a:solidFill>
                <a:latin typeface="Leelawadee UI" panose="020B0502040204020203" pitchFamily="34" charset="-34"/>
                <a:cs typeface="Leelawadee UI" panose="020B0502040204020203" pitchFamily="34" charset="-34"/>
              </a:endParaRPr>
            </a:p>
          </p:txBody>
        </p:sp>
        <p:sp>
          <p:nvSpPr>
            <p:cNvPr id="31" name="Rectangle 30"/>
            <p:cNvSpPr/>
            <p:nvPr/>
          </p:nvSpPr>
          <p:spPr>
            <a:xfrm>
              <a:off x="943622" y="2118076"/>
              <a:ext cx="10204781" cy="1200329"/>
            </a:xfrm>
            <a:prstGeom prst="rect">
              <a:avLst/>
            </a:prstGeom>
          </p:spPr>
          <p:txBody>
            <a:bodyPr wrap="none">
              <a:spAutoFit/>
            </a:bodyPr>
            <a:lstStyle/>
            <a:p>
              <a:pPr algn="ctr"/>
              <a:r>
                <a:rPr lang="en-IN" sz="7200" dirty="0" smtClean="0">
                  <a:ln/>
                  <a:solidFill>
                    <a:prstClr val="white"/>
                  </a:solidFill>
                  <a:latin typeface="Leelawadee UI" panose="020B0502040204020203" pitchFamily="34" charset="-34"/>
                  <a:cs typeface="Leelawadee UI" panose="020B0502040204020203" pitchFamily="34" charset="-34"/>
                </a:rPr>
                <a:t>Scope with Tata Unistore</a:t>
              </a:r>
              <a:endParaRPr lang="en-IN" sz="7200" dirty="0">
                <a:ln/>
                <a:solidFill>
                  <a:prstClr val="white"/>
                </a:solidFill>
                <a:latin typeface="Leelawadee UI" panose="020B0502040204020203" pitchFamily="34" charset="-34"/>
                <a:cs typeface="Leelawadee UI" panose="020B0502040204020203" pitchFamily="34" charset="-34"/>
              </a:endParaRP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473760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631190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237066"/>
            <a:ext cx="12192000" cy="523220"/>
            <a:chOff x="1" y="291779"/>
            <a:chExt cx="12192000" cy="523220"/>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291557" y="291779"/>
              <a:ext cx="5608972" cy="523220"/>
            </a:xfrm>
            <a:prstGeom prst="rect">
              <a:avLst/>
            </a:prstGeom>
            <a:solidFill>
              <a:schemeClr val="bg1"/>
            </a:solidFill>
          </p:spPr>
          <p:txBody>
            <a:bodyPr wrap="none" anchor="ctr">
              <a:spAutoFit/>
            </a:bodyPr>
            <a:lstStyle/>
            <a:p>
              <a:pPr algn="ctr"/>
              <a:r>
                <a:rPr lang="en-IN" sz="2800" b="1" dirty="0" smtClean="0">
                  <a:solidFill>
                    <a:srgbClr val="0070C0"/>
                  </a:solidFill>
                  <a:latin typeface="Leelawadee UI" panose="020B0502040204020203" pitchFamily="34" charset="-34"/>
                  <a:cs typeface="Leelawadee UI" panose="020B0502040204020203" pitchFamily="34" charset="-34"/>
                </a:rPr>
                <a:t>Tableau Reporting &amp; Consulting</a:t>
              </a:r>
              <a:endParaRPr lang="en-IN" sz="2800" b="1" dirty="0">
                <a:solidFill>
                  <a:srgbClr val="0070C0"/>
                </a:solidFill>
                <a:latin typeface="Leelawadee UI" panose="020B0502040204020203" pitchFamily="34" charset="-34"/>
                <a:cs typeface="Leelawadee UI" panose="020B0502040204020203" pitchFamily="34" charset="-34"/>
              </a:endParaRPr>
            </a:p>
          </p:txBody>
        </p:sp>
      </p:grpSp>
      <p:sp>
        <p:nvSpPr>
          <p:cNvPr id="57" name="Rounded Rectangle 56"/>
          <p:cNvSpPr/>
          <p:nvPr/>
        </p:nvSpPr>
        <p:spPr>
          <a:xfrm>
            <a:off x="1129552" y="1653990"/>
            <a:ext cx="9681883" cy="3617258"/>
          </a:xfrm>
          <a:prstGeom prst="roundRect">
            <a:avLst/>
          </a:prstGeom>
          <a:noFill/>
          <a:ln w="19050" cap="rnd" cmpd="sng" algn="ctr">
            <a:solidFill>
              <a:sysClr val="window" lastClr="FFFFFF">
                <a:lumMod val="50000"/>
              </a:sysClr>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600" b="0" i="0" u="none" strike="noStrike" kern="0" cap="none" spc="0" normalizeH="0" baseline="0" noProof="0" smtClean="0">
              <a:ln>
                <a:noFill/>
              </a:ln>
              <a:solidFill>
                <a:prstClr val="white"/>
              </a:solidFill>
              <a:effectLst/>
              <a:uLnTx/>
              <a:uFillTx/>
              <a:latin typeface="Leelawadee UI" panose="020B0502040204020203" pitchFamily="34" charset="-34"/>
              <a:ea typeface="+mn-ea"/>
              <a:cs typeface="Leelawadee UI" panose="020B0502040204020203" pitchFamily="34" charset="-34"/>
            </a:endParaRPr>
          </a:p>
        </p:txBody>
      </p:sp>
      <p:sp>
        <p:nvSpPr>
          <p:cNvPr id="58" name="Rectangle 57"/>
          <p:cNvSpPr/>
          <p:nvPr/>
        </p:nvSpPr>
        <p:spPr>
          <a:xfrm>
            <a:off x="837150" y="1987634"/>
            <a:ext cx="10266686" cy="599680"/>
          </a:xfrm>
          <a:prstGeom prst="rect">
            <a:avLst/>
          </a:prstGeom>
          <a:solidFill>
            <a:schemeClr val="accent4">
              <a:lumMod val="60000"/>
              <a:lumOff val="40000"/>
            </a:schemeClr>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b="1" i="0" u="none" strike="noStrike" kern="0" cap="none" spc="0" normalizeH="0" baseline="0" noProof="0" dirty="0" smtClean="0">
                <a:ln>
                  <a:noFill/>
                </a:ln>
                <a:solidFill>
                  <a:prstClr val="white"/>
                </a:solidFill>
                <a:effectLst/>
                <a:uLnTx/>
                <a:uFillTx/>
                <a:latin typeface="Leelawadee UI" panose="020B0502040204020203" pitchFamily="34" charset="-34"/>
                <a:ea typeface="+mn-ea"/>
                <a:cs typeface="Leelawadee UI" panose="020B0502040204020203" pitchFamily="34" charset="-34"/>
              </a:rPr>
              <a:t>Tableau Reporting &amp; Consulting * </a:t>
            </a:r>
          </a:p>
        </p:txBody>
      </p:sp>
      <p:sp>
        <p:nvSpPr>
          <p:cNvPr id="13" name="Rectangle 12"/>
          <p:cNvSpPr/>
          <p:nvPr/>
        </p:nvSpPr>
        <p:spPr>
          <a:xfrm>
            <a:off x="2393429" y="2748373"/>
            <a:ext cx="7046554" cy="369332"/>
          </a:xfrm>
          <a:prstGeom prst="rect">
            <a:avLst/>
          </a:prstGeom>
        </p:spPr>
        <p:txBody>
          <a:bodyPr wrap="square">
            <a:spAutoFit/>
          </a:bodyPr>
          <a:lstStyle/>
          <a:p>
            <a:pPr algn="ctr" fontAlgn="ctr"/>
            <a:r>
              <a:rPr lang="en-IN" dirty="0" smtClean="0"/>
              <a:t>Efforts dependent on :</a:t>
            </a:r>
          </a:p>
        </p:txBody>
      </p:sp>
      <p:sp>
        <p:nvSpPr>
          <p:cNvPr id="2" name="TextBox 1"/>
          <p:cNvSpPr txBox="1"/>
          <p:nvPr/>
        </p:nvSpPr>
        <p:spPr>
          <a:xfrm>
            <a:off x="4975411" y="3322577"/>
            <a:ext cx="1882590" cy="646331"/>
          </a:xfrm>
          <a:prstGeom prst="rect">
            <a:avLst/>
          </a:prstGeom>
          <a:noFill/>
        </p:spPr>
        <p:txBody>
          <a:bodyPr wrap="square" rtlCol="0">
            <a:spAutoFit/>
          </a:bodyPr>
          <a:lstStyle/>
          <a:p>
            <a:pPr algn="ctr"/>
            <a:r>
              <a:rPr lang="en-IN" dirty="0" smtClean="0"/>
              <a:t>b. No. of  Dashboard </a:t>
            </a:r>
            <a:endParaRPr lang="en-IN" dirty="0"/>
          </a:p>
        </p:txBody>
      </p:sp>
      <p:sp>
        <p:nvSpPr>
          <p:cNvPr id="16" name="TextBox 15"/>
          <p:cNvSpPr txBox="1"/>
          <p:nvPr/>
        </p:nvSpPr>
        <p:spPr>
          <a:xfrm>
            <a:off x="7584885" y="3336613"/>
            <a:ext cx="2671483" cy="646331"/>
          </a:xfrm>
          <a:prstGeom prst="rect">
            <a:avLst/>
          </a:prstGeom>
          <a:noFill/>
        </p:spPr>
        <p:txBody>
          <a:bodyPr wrap="square" rtlCol="0">
            <a:spAutoFit/>
          </a:bodyPr>
          <a:lstStyle/>
          <a:p>
            <a:pPr algn="ctr"/>
            <a:r>
              <a:rPr lang="en-IN" dirty="0" smtClean="0"/>
              <a:t>c. Consulting Time Duration</a:t>
            </a:r>
            <a:endParaRPr lang="en-IN" dirty="0"/>
          </a:p>
        </p:txBody>
      </p:sp>
      <p:sp>
        <p:nvSpPr>
          <p:cNvPr id="17" name="TextBox 16"/>
          <p:cNvSpPr txBox="1"/>
          <p:nvPr/>
        </p:nvSpPr>
        <p:spPr>
          <a:xfrm>
            <a:off x="1936004" y="3270152"/>
            <a:ext cx="2326342" cy="646331"/>
          </a:xfrm>
          <a:prstGeom prst="rect">
            <a:avLst/>
          </a:prstGeom>
          <a:noFill/>
        </p:spPr>
        <p:txBody>
          <a:bodyPr wrap="square" rtlCol="0">
            <a:spAutoFit/>
          </a:bodyPr>
          <a:lstStyle/>
          <a:p>
            <a:pPr algn="ctr"/>
            <a:r>
              <a:rPr lang="en-IN" dirty="0" smtClean="0"/>
              <a:t>a. Business Objective &amp; Complexity</a:t>
            </a:r>
            <a:endParaRPr lang="en-IN" dirty="0"/>
          </a:p>
        </p:txBody>
      </p:sp>
      <p:sp>
        <p:nvSpPr>
          <p:cNvPr id="18" name="Rectangle 17"/>
          <p:cNvSpPr/>
          <p:nvPr/>
        </p:nvSpPr>
        <p:spPr>
          <a:xfrm>
            <a:off x="2312971" y="1076907"/>
            <a:ext cx="7046554" cy="369332"/>
          </a:xfrm>
          <a:prstGeom prst="rect">
            <a:avLst/>
          </a:prstGeom>
        </p:spPr>
        <p:txBody>
          <a:bodyPr wrap="square">
            <a:spAutoFit/>
          </a:bodyPr>
          <a:lstStyle/>
          <a:p>
            <a:pPr algn="ctr" fontAlgn="ctr"/>
            <a:r>
              <a:rPr lang="en-IN" dirty="0" smtClean="0"/>
              <a:t>Efforts for below services are not factored currently</a:t>
            </a:r>
          </a:p>
        </p:txBody>
      </p:sp>
      <p:pic>
        <p:nvPicPr>
          <p:cNvPr id="1030" name="Picture 6" descr="http://www.free-icons-download.net/images/puzzle-piece-icon-1785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1218" y="3981645"/>
            <a:ext cx="1075913" cy="10759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www.iconsfind.com/wp-content/uploads/2015/11/20151104_5639638adeaab-210x21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81485" y="4089840"/>
            <a:ext cx="790063" cy="79006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citixsys.com.au/wp-content/uploads/2015/06/Dashboards-Ico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55333" y="3982831"/>
            <a:ext cx="1707949" cy="1490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2714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srgbClr val="000000">
                  <a:lumMod val="50000"/>
                  <a:lumOff val="50000"/>
                </a:srgbClr>
              </a:solidFill>
              <a:latin typeface="Leelawadee UI" panose="020B0502040204020203" pitchFamily="34" charset="-34"/>
              <a:ea typeface="Calibri" panose="020F0502020204030204" pitchFamily="34" charset="0"/>
              <a:cs typeface="Leelawadee UI" panose="020B0502040204020203" pitchFamily="34" charset="-34"/>
            </a:endParaRPr>
          </a:p>
        </p:txBody>
      </p:sp>
      <p:sp>
        <p:nvSpPr>
          <p:cNvPr id="3" name="Rectangle 2"/>
          <p:cNvSpPr/>
          <p:nvPr/>
        </p:nvSpPr>
        <p:spPr>
          <a:xfrm>
            <a:off x="0" y="0"/>
            <a:ext cx="12192000" cy="54102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8" name="Group 7"/>
          <p:cNvGrpSpPr/>
          <p:nvPr/>
        </p:nvGrpSpPr>
        <p:grpSpPr>
          <a:xfrm>
            <a:off x="1724639" y="2547738"/>
            <a:ext cx="8642751" cy="1357691"/>
            <a:chOff x="1724639" y="1960714"/>
            <a:chExt cx="8642751" cy="1357691"/>
          </a:xfrm>
        </p:grpSpPr>
        <p:sp>
          <p:nvSpPr>
            <p:cNvPr id="5" name="Rectangle 4"/>
            <p:cNvSpPr/>
            <p:nvPr/>
          </p:nvSpPr>
          <p:spPr>
            <a:xfrm>
              <a:off x="6006377" y="1960714"/>
              <a:ext cx="184731" cy="1200329"/>
            </a:xfrm>
            <a:prstGeom prst="rect">
              <a:avLst/>
            </a:prstGeom>
          </p:spPr>
          <p:txBody>
            <a:bodyPr wrap="none">
              <a:spAutoFit/>
            </a:bodyPr>
            <a:lstStyle/>
            <a:p>
              <a:pPr algn="ctr"/>
              <a:endParaRPr lang="en-IN" sz="7200" dirty="0">
                <a:ln/>
                <a:solidFill>
                  <a:prstClr val="white"/>
                </a:solidFill>
                <a:latin typeface="Leelawadee UI" panose="020B0502040204020203" pitchFamily="34" charset="-34"/>
                <a:cs typeface="Leelawadee UI" panose="020B0502040204020203" pitchFamily="34" charset="-34"/>
              </a:endParaRPr>
            </a:p>
          </p:txBody>
        </p:sp>
        <p:sp>
          <p:nvSpPr>
            <p:cNvPr id="31" name="Rectangle 30"/>
            <p:cNvSpPr/>
            <p:nvPr/>
          </p:nvSpPr>
          <p:spPr>
            <a:xfrm>
              <a:off x="1724639" y="2118076"/>
              <a:ext cx="8642751" cy="1200329"/>
            </a:xfrm>
            <a:prstGeom prst="rect">
              <a:avLst/>
            </a:prstGeom>
          </p:spPr>
          <p:txBody>
            <a:bodyPr wrap="none">
              <a:spAutoFit/>
            </a:bodyPr>
            <a:lstStyle/>
            <a:p>
              <a:pPr algn="ctr"/>
              <a:r>
                <a:rPr lang="en-IN" sz="7200" dirty="0" smtClean="0">
                  <a:ln/>
                  <a:solidFill>
                    <a:prstClr val="white"/>
                  </a:solidFill>
                  <a:latin typeface="Leelawadee UI" panose="020B0502040204020203" pitchFamily="34" charset="-34"/>
                  <a:cs typeface="Leelawadee UI" panose="020B0502040204020203" pitchFamily="34" charset="-34"/>
                </a:rPr>
                <a:t>Tableau Case Studies</a:t>
              </a:r>
            </a:p>
          </p:txBody>
        </p:sp>
        <p:cxnSp>
          <p:nvCxnSpPr>
            <p:cNvPr id="34" name="Straight Connector 33"/>
            <p:cNvCxnSpPr/>
            <p:nvPr/>
          </p:nvCxnSpPr>
          <p:spPr>
            <a:xfrm>
              <a:off x="2895600" y="1960714"/>
              <a:ext cx="6400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151025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r>
              <a:rPr lang="en-IN" dirty="0" smtClean="0"/>
              <a:t> </a:t>
            </a:r>
            <a:endParaRPr lang="en-IN" dirty="0"/>
          </a:p>
        </p:txBody>
      </p:sp>
      <p:sp>
        <p:nvSpPr>
          <p:cNvPr id="33" name="TextBox 32"/>
          <p:cNvSpPr txBox="1"/>
          <p:nvPr/>
        </p:nvSpPr>
        <p:spPr bwMode="gray">
          <a:xfrm>
            <a:off x="6545998" y="1830849"/>
            <a:ext cx="2091938" cy="254064"/>
          </a:xfrm>
          <a:prstGeom prst="rect">
            <a:avLst/>
          </a:prstGeom>
        </p:spPr>
        <p:txBody>
          <a:bodyPr vert="horz" wrap="square" lIns="91440" tIns="45720" rIns="91440" bIns="45720" rtlCol="0" anchor="ctr">
            <a:noAutofit/>
          </a:bodyPr>
          <a:lstStyle/>
          <a:p>
            <a:pPr algn="ctr"/>
            <a:endParaRPr lang="en-IN" sz="1600" b="1" dirty="0">
              <a:solidFill>
                <a:prstClr val="black"/>
              </a:solidFill>
            </a:endParaRPr>
          </a:p>
        </p:txBody>
      </p:sp>
      <p:grpSp>
        <p:nvGrpSpPr>
          <p:cNvPr id="35" name="Group 34"/>
          <p:cNvGrpSpPr/>
          <p:nvPr/>
        </p:nvGrpSpPr>
        <p:grpSpPr>
          <a:xfrm>
            <a:off x="1" y="267843"/>
            <a:ext cx="12192000" cy="461665"/>
            <a:chOff x="1" y="322556"/>
            <a:chExt cx="12192000" cy="461665"/>
          </a:xfrm>
        </p:grpSpPr>
        <p:cxnSp>
          <p:nvCxnSpPr>
            <p:cNvPr id="37" name="Straight Connector 36"/>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585913" y="322556"/>
              <a:ext cx="9020226"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Tata </a:t>
              </a:r>
              <a:r>
                <a:rPr lang="en-IN" sz="2400" b="1" dirty="0" err="1" smtClean="0">
                  <a:solidFill>
                    <a:srgbClr val="0070C0"/>
                  </a:solidFill>
                  <a:latin typeface="Leelawadee UI" panose="020B0502040204020203" pitchFamily="34" charset="-34"/>
                  <a:cs typeface="Leelawadee UI" panose="020B0502040204020203" pitchFamily="34" charset="-34"/>
                </a:rPr>
                <a:t>iQ</a:t>
              </a:r>
              <a:r>
                <a:rPr lang="en-IN" sz="2400" b="1" dirty="0" smtClean="0">
                  <a:solidFill>
                    <a:srgbClr val="0070C0"/>
                  </a:solidFill>
                  <a:latin typeface="Leelawadee UI" panose="020B0502040204020203" pitchFamily="34" charset="-34"/>
                  <a:cs typeface="Leelawadee UI" panose="020B0502040204020203" pitchFamily="34" charset="-34"/>
                </a:rPr>
                <a:t>  Case Study 1 </a:t>
              </a:r>
              <a:r>
                <a:rPr lang="en-IN" sz="2400" b="1" dirty="0">
                  <a:solidFill>
                    <a:srgbClr val="0070C0"/>
                  </a:solidFill>
                  <a:latin typeface="Leelawadee UI" panose="020B0502040204020203" pitchFamily="34" charset="-34"/>
                  <a:cs typeface="Leelawadee UI" panose="020B0502040204020203" pitchFamily="34" charset="-34"/>
                </a:rPr>
                <a:t>:  </a:t>
              </a:r>
              <a:r>
                <a:rPr lang="en-IN" sz="2400" b="1" dirty="0">
                  <a:solidFill>
                    <a:schemeClr val="bg1">
                      <a:lumMod val="50000"/>
                    </a:schemeClr>
                  </a:solidFill>
                  <a:latin typeface="Leelawadee UI" panose="020B0502040204020203" pitchFamily="34" charset="-34"/>
                  <a:cs typeface="Leelawadee UI" panose="020B0502040204020203" pitchFamily="34" charset="-34"/>
                </a:rPr>
                <a:t>Campaign Performance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 Group wide</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39" name="Group 38"/>
          <p:cNvGrpSpPr/>
          <p:nvPr/>
        </p:nvGrpSpPr>
        <p:grpSpPr>
          <a:xfrm>
            <a:off x="0" y="855655"/>
            <a:ext cx="11941784" cy="479192"/>
            <a:chOff x="2275096" y="1046125"/>
            <a:chExt cx="9321573" cy="479192"/>
          </a:xfrm>
        </p:grpSpPr>
        <p:sp>
          <p:nvSpPr>
            <p:cNvPr id="40" name="Pentagon 39"/>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41" name="Pentagon 40"/>
            <p:cNvSpPr/>
            <p:nvPr/>
          </p:nvSpPr>
          <p:spPr>
            <a:xfrm>
              <a:off x="2275096" y="1046125"/>
              <a:ext cx="3432377"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a:t>
              </a:r>
            </a:p>
          </p:txBody>
        </p:sp>
      </p:grpSp>
      <p:sp>
        <p:nvSpPr>
          <p:cNvPr id="42" name="Rectangle 41"/>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44" name="Rounded Rectangle 43"/>
          <p:cNvSpPr/>
          <p:nvPr/>
        </p:nvSpPr>
        <p:spPr>
          <a:xfrm>
            <a:off x="269567" y="1597744"/>
            <a:ext cx="3754496" cy="496296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p:cNvSpPr/>
          <p:nvPr/>
        </p:nvSpPr>
        <p:spPr>
          <a:xfrm>
            <a:off x="617406" y="1794732"/>
            <a:ext cx="3227203" cy="5693866"/>
          </a:xfrm>
          <a:prstGeom prst="rect">
            <a:avLst/>
          </a:prstGeom>
        </p:spPr>
        <p:txBody>
          <a:bodyPr wrap="square">
            <a:spAutoFit/>
          </a:bodyPr>
          <a:lstStyle/>
          <a:p>
            <a:r>
              <a:rPr lang="en-IN" sz="1400" b="1" dirty="0" smtClean="0">
                <a:solidFill>
                  <a:prstClr val="black"/>
                </a:solidFill>
                <a:latin typeface="Leelawadee" panose="020B0502040204020203" pitchFamily="34" charset="-34"/>
                <a:cs typeface="Leelawadee" panose="020B0502040204020203" pitchFamily="34" charset="-34"/>
              </a:rPr>
              <a:t>Objective</a:t>
            </a:r>
            <a:r>
              <a:rPr lang="en-IN" sz="1400" dirty="0" smtClean="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Tata </a:t>
            </a:r>
            <a:r>
              <a:rPr lang="en-IN" sz="1400" dirty="0">
                <a:solidFill>
                  <a:prstClr val="black"/>
                </a:solidFill>
                <a:latin typeface="Leelawadee" panose="020B0502040204020203" pitchFamily="34" charset="-34"/>
                <a:cs typeface="Leelawadee" panose="020B0502040204020203" pitchFamily="34" charset="-34"/>
              </a:rPr>
              <a:t>Group wants to analyse the performance of ‘Shop Share &amp; Smile’ Program. </a:t>
            </a: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r>
              <a:rPr lang="en-IN" sz="1400" b="1" dirty="0">
                <a:solidFill>
                  <a:prstClr val="black"/>
                </a:solidFill>
                <a:latin typeface="Leelawadee" panose="020B0502040204020203" pitchFamily="34" charset="-34"/>
                <a:cs typeface="Leelawadee" panose="020B0502040204020203" pitchFamily="34" charset="-34"/>
              </a:rPr>
              <a:t>Solution</a:t>
            </a:r>
            <a:r>
              <a:rPr lang="en-IN" sz="1400" b="1" dirty="0" smtClean="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Tableau </a:t>
            </a:r>
            <a:r>
              <a:rPr lang="en-IN" sz="1400" dirty="0">
                <a:solidFill>
                  <a:prstClr val="black"/>
                </a:solidFill>
                <a:latin typeface="Leelawadee" panose="020B0502040204020203" pitchFamily="34" charset="-34"/>
                <a:cs typeface="Leelawadee" panose="020B0502040204020203" pitchFamily="34" charset="-34"/>
              </a:rPr>
              <a:t>dashboard to highlight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Key </a:t>
            </a:r>
            <a:r>
              <a:rPr lang="en-IN" sz="1400" dirty="0">
                <a:solidFill>
                  <a:prstClr val="black"/>
                </a:solidFill>
                <a:latin typeface="Leelawadee" panose="020B0502040204020203" pitchFamily="34" charset="-34"/>
                <a:cs typeface="Leelawadee" panose="020B0502040204020203" pitchFamily="34" charset="-34"/>
              </a:rPr>
              <a:t>Business KPIs</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Performance </a:t>
            </a:r>
            <a:r>
              <a:rPr lang="en-IN" sz="1400" dirty="0">
                <a:solidFill>
                  <a:prstClr val="black"/>
                </a:solidFill>
                <a:latin typeface="Leelawadee" panose="020B0502040204020203" pitchFamily="34" charset="-34"/>
                <a:cs typeface="Leelawadee" panose="020B0502040204020203" pitchFamily="34" charset="-34"/>
              </a:rPr>
              <a:t>of Companies across geographies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Customer </a:t>
            </a:r>
            <a:r>
              <a:rPr lang="en-IN" sz="1400" dirty="0">
                <a:solidFill>
                  <a:prstClr val="black"/>
                </a:solidFill>
                <a:latin typeface="Leelawadee" panose="020B0502040204020203" pitchFamily="34" charset="-34"/>
                <a:cs typeface="Leelawadee" panose="020B0502040204020203" pitchFamily="34" charset="-34"/>
              </a:rPr>
              <a:t>Purchase Pattern</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Employee </a:t>
            </a:r>
            <a:r>
              <a:rPr lang="en-IN" sz="1400" dirty="0">
                <a:solidFill>
                  <a:prstClr val="black"/>
                </a:solidFill>
                <a:latin typeface="Leelawadee" panose="020B0502040204020203" pitchFamily="34" charset="-34"/>
                <a:cs typeface="Leelawadee" panose="020B0502040204020203" pitchFamily="34" charset="-34"/>
              </a:rPr>
              <a:t>Redemptions</a:t>
            </a:r>
          </a:p>
          <a:p>
            <a:r>
              <a:rPr lang="en-IN" sz="1400" dirty="0">
                <a:solidFill>
                  <a:prstClr val="black"/>
                </a:solidFill>
                <a:latin typeface="Leelawadee" panose="020B0502040204020203" pitchFamily="34" charset="-34"/>
                <a:cs typeface="Leelawadee" panose="020B0502040204020203" pitchFamily="34" charset="-34"/>
              </a:rPr>
              <a:t> </a:t>
            </a:r>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Result</a:t>
            </a:r>
            <a:r>
              <a:rPr lang="en-IN" sz="1400" dirty="0" smtClean="0">
                <a:solidFill>
                  <a:prstClr val="black"/>
                </a:solidFill>
                <a:latin typeface="Leelawadee" panose="020B0502040204020203" pitchFamily="34" charset="-34"/>
                <a:cs typeface="Leelawadee" panose="020B0502040204020203" pitchFamily="34" charset="-34"/>
              </a:rPr>
              <a:t>:</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Effective campaign analysis providing insights for better targeting and personalization for next launch of program </a:t>
            </a: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p:txBody>
      </p:sp>
      <p:grpSp>
        <p:nvGrpSpPr>
          <p:cNvPr id="2" name="Group 1"/>
          <p:cNvGrpSpPr/>
          <p:nvPr/>
        </p:nvGrpSpPr>
        <p:grpSpPr>
          <a:xfrm>
            <a:off x="4679576" y="1559870"/>
            <a:ext cx="7136256" cy="5000837"/>
            <a:chOff x="4652682" y="1582099"/>
            <a:chExt cx="7316775" cy="4978609"/>
          </a:xfrm>
        </p:grpSpPr>
        <p:sp>
          <p:nvSpPr>
            <p:cNvPr id="28" name="Rounded Rectangle 27"/>
            <p:cNvSpPr/>
            <p:nvPr/>
          </p:nvSpPr>
          <p:spPr>
            <a:xfrm>
              <a:off x="4652682" y="1582099"/>
              <a:ext cx="7316775" cy="4978609"/>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pic>
          <p:nvPicPr>
            <p:cNvPr id="26" name="Picture 25"/>
            <p:cNvPicPr>
              <a:picLocks noChangeAspect="1"/>
            </p:cNvPicPr>
            <p:nvPr/>
          </p:nvPicPr>
          <p:blipFill>
            <a:blip r:embed="rId2"/>
            <a:stretch>
              <a:fillRect/>
            </a:stretch>
          </p:blipFill>
          <p:spPr>
            <a:xfrm>
              <a:off x="5051339" y="2112674"/>
              <a:ext cx="3259730" cy="1994927"/>
            </a:xfrm>
            <a:prstGeom prst="rect">
              <a:avLst/>
            </a:prstGeom>
            <a:ln>
              <a:noFill/>
            </a:ln>
            <a:effectLst>
              <a:outerShdw blurRad="190500" algn="tl" rotWithShape="0">
                <a:srgbClr val="000000">
                  <a:alpha val="70000"/>
                </a:srgbClr>
              </a:outerShdw>
            </a:effectLst>
          </p:spPr>
        </p:pic>
        <p:pic>
          <p:nvPicPr>
            <p:cNvPr id="29" name="Picture 28"/>
            <p:cNvPicPr>
              <a:picLocks noChangeAspect="1"/>
            </p:cNvPicPr>
            <p:nvPr/>
          </p:nvPicPr>
          <p:blipFill>
            <a:blip r:embed="rId3"/>
            <a:stretch>
              <a:fillRect/>
            </a:stretch>
          </p:blipFill>
          <p:spPr>
            <a:xfrm>
              <a:off x="8148388" y="2706948"/>
              <a:ext cx="3355226" cy="2017058"/>
            </a:xfrm>
            <a:prstGeom prst="rect">
              <a:avLst/>
            </a:prstGeom>
            <a:ln>
              <a:noFill/>
            </a:ln>
            <a:effectLst>
              <a:outerShdw blurRad="190500" algn="tl" rotWithShape="0">
                <a:srgbClr val="000000">
                  <a:alpha val="70000"/>
                </a:srgbClr>
              </a:outerShdw>
            </a:effectLst>
          </p:spPr>
        </p:pic>
        <p:pic>
          <p:nvPicPr>
            <p:cNvPr id="27" name="Picture 26"/>
            <p:cNvPicPr>
              <a:picLocks noChangeAspect="1"/>
            </p:cNvPicPr>
            <p:nvPr/>
          </p:nvPicPr>
          <p:blipFill>
            <a:blip r:embed="rId4"/>
            <a:stretch>
              <a:fillRect/>
            </a:stretch>
          </p:blipFill>
          <p:spPr>
            <a:xfrm>
              <a:off x="6084947" y="4358878"/>
              <a:ext cx="3522870" cy="1966105"/>
            </a:xfrm>
            <a:prstGeom prst="rect">
              <a:avLst/>
            </a:prstGeom>
            <a:ln>
              <a:noFill/>
            </a:ln>
            <a:effectLst>
              <a:outerShdw blurRad="190500" algn="tl" rotWithShape="0">
                <a:srgbClr val="000000">
                  <a:alpha val="70000"/>
                </a:srgbClr>
              </a:outerShdw>
            </a:effectLst>
          </p:spPr>
        </p:pic>
        <p:sp>
          <p:nvSpPr>
            <p:cNvPr id="30" name="TextBox 29"/>
            <p:cNvSpPr txBox="1"/>
            <p:nvPr/>
          </p:nvSpPr>
          <p:spPr bwMode="gray">
            <a:xfrm>
              <a:off x="8969563" y="2046700"/>
              <a:ext cx="2469643" cy="457162"/>
            </a:xfrm>
            <a:prstGeom prst="rect">
              <a:avLst/>
            </a:prstGeom>
          </p:spPr>
          <p:txBody>
            <a:bodyPr vert="horz" wrap="square" lIns="91440" tIns="45720" rIns="91440" bIns="45720" rtlCol="0" anchor="ctr">
              <a:noAutofit/>
            </a:bodyPr>
            <a:lstStyle/>
            <a:p>
              <a:pPr algn="ctr"/>
              <a:r>
                <a:rPr lang="en-IN" sz="1400" b="1" dirty="0">
                  <a:solidFill>
                    <a:prstClr val="black"/>
                  </a:solidFill>
                </a:rPr>
                <a:t>Performance across Companies &amp; Geography</a:t>
              </a:r>
            </a:p>
          </p:txBody>
        </p:sp>
        <p:sp>
          <p:nvSpPr>
            <p:cNvPr id="31" name="TextBox 30"/>
            <p:cNvSpPr txBox="1"/>
            <p:nvPr/>
          </p:nvSpPr>
          <p:spPr bwMode="gray">
            <a:xfrm>
              <a:off x="4789304" y="1738041"/>
              <a:ext cx="3676262" cy="207089"/>
            </a:xfrm>
            <a:prstGeom prst="rect">
              <a:avLst/>
            </a:prstGeom>
          </p:spPr>
          <p:txBody>
            <a:bodyPr vert="horz" wrap="square" lIns="91440" tIns="45720" rIns="91440" bIns="45720" rtlCol="0" anchor="ctr">
              <a:noAutofit/>
            </a:bodyPr>
            <a:lstStyle/>
            <a:p>
              <a:pPr algn="ctr"/>
              <a:r>
                <a:rPr lang="en-IN" sz="1400" b="1" dirty="0">
                  <a:solidFill>
                    <a:prstClr val="black"/>
                  </a:solidFill>
                </a:rPr>
                <a:t> Business KPI</a:t>
              </a:r>
            </a:p>
          </p:txBody>
        </p:sp>
        <p:sp>
          <p:nvSpPr>
            <p:cNvPr id="32" name="TextBox 31"/>
            <p:cNvSpPr txBox="1"/>
            <p:nvPr/>
          </p:nvSpPr>
          <p:spPr bwMode="gray">
            <a:xfrm>
              <a:off x="9607817" y="5260761"/>
              <a:ext cx="1348839" cy="605339"/>
            </a:xfrm>
            <a:prstGeom prst="rect">
              <a:avLst/>
            </a:prstGeom>
          </p:spPr>
          <p:txBody>
            <a:bodyPr vert="horz" wrap="square" lIns="91440" tIns="45720" rIns="91440" bIns="45720" rtlCol="0" anchor="ctr">
              <a:noAutofit/>
            </a:bodyPr>
            <a:lstStyle/>
            <a:p>
              <a:pPr algn="ctr"/>
              <a:r>
                <a:rPr lang="en-IN" sz="1400" b="1" dirty="0">
                  <a:solidFill>
                    <a:prstClr val="black"/>
                  </a:solidFill>
                </a:rPr>
                <a:t>Customer Purchase Pattern</a:t>
              </a:r>
            </a:p>
          </p:txBody>
        </p:sp>
      </p:grpSp>
    </p:spTree>
    <p:extLst>
      <p:ext uri="{BB962C8B-B14F-4D97-AF65-F5344CB8AC3E}">
        <p14:creationId xmlns:p14="http://schemas.microsoft.com/office/powerpoint/2010/main" val="26457342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3"/>
          </p:nvPr>
        </p:nvSpPr>
        <p:spPr/>
        <p:txBody>
          <a:bodyPr>
            <a:normAutofit/>
          </a:bodyPr>
          <a:lstStyle/>
          <a:p>
            <a:r>
              <a:rPr lang="en-IN" dirty="0" smtClean="0"/>
              <a:t> </a:t>
            </a:r>
            <a:endParaRPr lang="en-IN" dirty="0"/>
          </a:p>
        </p:txBody>
      </p:sp>
      <p:sp>
        <p:nvSpPr>
          <p:cNvPr id="33" name="TextBox 32"/>
          <p:cNvSpPr txBox="1"/>
          <p:nvPr/>
        </p:nvSpPr>
        <p:spPr bwMode="gray">
          <a:xfrm>
            <a:off x="6545998" y="1830849"/>
            <a:ext cx="2091938" cy="254064"/>
          </a:xfrm>
          <a:prstGeom prst="rect">
            <a:avLst/>
          </a:prstGeom>
        </p:spPr>
        <p:txBody>
          <a:bodyPr vert="horz" wrap="square" lIns="91440" tIns="45720" rIns="91440" bIns="45720" rtlCol="0" anchor="ctr">
            <a:noAutofit/>
          </a:bodyPr>
          <a:lstStyle/>
          <a:p>
            <a:pPr algn="ctr"/>
            <a:endParaRPr lang="en-IN" sz="1600" b="1" dirty="0">
              <a:solidFill>
                <a:prstClr val="black"/>
              </a:solidFill>
            </a:endParaRPr>
          </a:p>
        </p:txBody>
      </p:sp>
      <p:grpSp>
        <p:nvGrpSpPr>
          <p:cNvPr id="3" name="Group 2"/>
          <p:cNvGrpSpPr/>
          <p:nvPr/>
        </p:nvGrpSpPr>
        <p:grpSpPr>
          <a:xfrm>
            <a:off x="4307872" y="1582100"/>
            <a:ext cx="7347908" cy="5088848"/>
            <a:chOff x="4434336" y="1582099"/>
            <a:chExt cx="7173048" cy="5088849"/>
          </a:xfrm>
        </p:grpSpPr>
        <p:cxnSp>
          <p:nvCxnSpPr>
            <p:cNvPr id="8" name="Straight Connector 7"/>
            <p:cNvCxnSpPr/>
            <p:nvPr/>
          </p:nvCxnSpPr>
          <p:spPr>
            <a:xfrm flipH="1">
              <a:off x="8060310" y="2341936"/>
              <a:ext cx="9884" cy="41392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815724" y="4303521"/>
              <a:ext cx="6548717" cy="1"/>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stretch>
              <a:fillRect/>
            </a:stretch>
          </p:blipFill>
          <p:spPr>
            <a:xfrm>
              <a:off x="5207245" y="2437216"/>
              <a:ext cx="2329430" cy="1678926"/>
            </a:xfrm>
            <a:prstGeom prst="rect">
              <a:avLst/>
            </a:prstGeom>
            <a:ln>
              <a:noFill/>
            </a:ln>
            <a:effectLst>
              <a:outerShdw blurRad="190500" algn="tl" rotWithShape="0">
                <a:srgbClr val="000000">
                  <a:alpha val="70000"/>
                </a:srgbClr>
              </a:outerShdw>
            </a:effectLst>
          </p:spPr>
        </p:pic>
        <p:pic>
          <p:nvPicPr>
            <p:cNvPr id="14" name="Picture 13"/>
            <p:cNvPicPr>
              <a:picLocks noChangeAspect="1"/>
            </p:cNvPicPr>
            <p:nvPr/>
          </p:nvPicPr>
          <p:blipFill>
            <a:blip r:embed="rId3"/>
            <a:stretch>
              <a:fillRect/>
            </a:stretch>
          </p:blipFill>
          <p:spPr>
            <a:xfrm>
              <a:off x="5206807" y="4792381"/>
              <a:ext cx="2329867" cy="1653686"/>
            </a:xfrm>
            <a:prstGeom prst="rect">
              <a:avLst/>
            </a:prstGeom>
            <a:ln>
              <a:noFill/>
            </a:ln>
            <a:effectLst>
              <a:outerShdw blurRad="190500" algn="tl" rotWithShape="0">
                <a:srgbClr val="000000">
                  <a:alpha val="70000"/>
                </a:srgbClr>
              </a:outerShdw>
            </a:effectLst>
          </p:spPr>
        </p:pic>
        <p:pic>
          <p:nvPicPr>
            <p:cNvPr id="15" name="Picture 14"/>
            <p:cNvPicPr>
              <a:picLocks noChangeAspect="1"/>
            </p:cNvPicPr>
            <p:nvPr/>
          </p:nvPicPr>
          <p:blipFill>
            <a:blip r:embed="rId4"/>
            <a:stretch>
              <a:fillRect/>
            </a:stretch>
          </p:blipFill>
          <p:spPr>
            <a:xfrm>
              <a:off x="8637936" y="2475238"/>
              <a:ext cx="2316232" cy="1675695"/>
            </a:xfrm>
            <a:prstGeom prst="rect">
              <a:avLst/>
            </a:prstGeom>
            <a:ln>
              <a:noFill/>
            </a:ln>
            <a:effectLst>
              <a:outerShdw blurRad="190500" algn="tl" rotWithShape="0">
                <a:srgbClr val="000000">
                  <a:alpha val="70000"/>
                </a:srgbClr>
              </a:outerShdw>
            </a:effectLst>
          </p:spPr>
        </p:pic>
        <p:sp>
          <p:nvSpPr>
            <p:cNvPr id="16" name="TextBox 15"/>
            <p:cNvSpPr txBox="1"/>
            <p:nvPr/>
          </p:nvSpPr>
          <p:spPr bwMode="gray">
            <a:xfrm>
              <a:off x="4434336" y="2127655"/>
              <a:ext cx="3655747" cy="176483"/>
            </a:xfrm>
            <a:prstGeom prst="rect">
              <a:avLst/>
            </a:prstGeom>
          </p:spPr>
          <p:txBody>
            <a:bodyPr vert="horz" wrap="square" lIns="91440" tIns="45720" rIns="91440" bIns="45720" rtlCol="0" anchor="ctr">
              <a:noAutofit/>
            </a:bodyPr>
            <a:lstStyle/>
            <a:p>
              <a:pPr algn="ctr"/>
              <a:r>
                <a:rPr lang="en-IN" sz="1400" b="1" dirty="0">
                  <a:solidFill>
                    <a:prstClr val="black"/>
                  </a:solidFill>
                </a:rPr>
                <a:t> Competitor Benchmarking </a:t>
              </a:r>
            </a:p>
          </p:txBody>
        </p:sp>
        <p:pic>
          <p:nvPicPr>
            <p:cNvPr id="17" name="Picture 16"/>
            <p:cNvPicPr>
              <a:picLocks noChangeAspect="1"/>
            </p:cNvPicPr>
            <p:nvPr/>
          </p:nvPicPr>
          <p:blipFill>
            <a:blip r:embed="rId5"/>
            <a:stretch>
              <a:fillRect/>
            </a:stretch>
          </p:blipFill>
          <p:spPr>
            <a:xfrm>
              <a:off x="8682182" y="4819514"/>
              <a:ext cx="2262119" cy="1701072"/>
            </a:xfrm>
            <a:prstGeom prst="rect">
              <a:avLst/>
            </a:prstGeom>
            <a:ln>
              <a:noFill/>
            </a:ln>
            <a:effectLst>
              <a:outerShdw blurRad="190500" algn="tl" rotWithShape="0">
                <a:srgbClr val="000000">
                  <a:alpha val="70000"/>
                </a:srgbClr>
              </a:outerShdw>
            </a:effectLst>
          </p:spPr>
        </p:pic>
        <p:sp>
          <p:nvSpPr>
            <p:cNvPr id="20" name="TextBox 19"/>
            <p:cNvSpPr txBox="1"/>
            <p:nvPr/>
          </p:nvSpPr>
          <p:spPr bwMode="gray">
            <a:xfrm>
              <a:off x="8170059" y="2135986"/>
              <a:ext cx="3331655" cy="202608"/>
            </a:xfrm>
            <a:prstGeom prst="rect">
              <a:avLst/>
            </a:prstGeom>
          </p:spPr>
          <p:txBody>
            <a:bodyPr vert="horz" wrap="square" lIns="91440" tIns="45720" rIns="91440" bIns="45720" rtlCol="0" anchor="ctr">
              <a:noAutofit/>
            </a:bodyPr>
            <a:lstStyle/>
            <a:p>
              <a:pPr algn="ctr"/>
              <a:r>
                <a:rPr lang="en-IN" sz="1400" b="1" dirty="0">
                  <a:solidFill>
                    <a:prstClr val="black"/>
                  </a:solidFill>
                </a:rPr>
                <a:t>Topic &amp; Sentiment Analysis </a:t>
              </a:r>
            </a:p>
          </p:txBody>
        </p:sp>
        <p:sp>
          <p:nvSpPr>
            <p:cNvPr id="21" name="TextBox 20"/>
            <p:cNvSpPr txBox="1"/>
            <p:nvPr/>
          </p:nvSpPr>
          <p:spPr bwMode="gray">
            <a:xfrm>
              <a:off x="4652683" y="4445653"/>
              <a:ext cx="3193284" cy="198571"/>
            </a:xfrm>
            <a:prstGeom prst="rect">
              <a:avLst/>
            </a:prstGeom>
          </p:spPr>
          <p:txBody>
            <a:bodyPr vert="horz" wrap="square" lIns="91440" tIns="45720" rIns="91440" bIns="45720" rtlCol="0" anchor="ctr">
              <a:noAutofit/>
            </a:bodyPr>
            <a:lstStyle/>
            <a:p>
              <a:pPr algn="ctr"/>
              <a:r>
                <a:rPr lang="en-IN" sz="1400" b="1" dirty="0">
                  <a:solidFill>
                    <a:prstClr val="black"/>
                  </a:solidFill>
                </a:rPr>
                <a:t>Brand Content Analysis  </a:t>
              </a:r>
            </a:p>
          </p:txBody>
        </p:sp>
        <p:sp>
          <p:nvSpPr>
            <p:cNvPr id="22" name="TextBox 21"/>
            <p:cNvSpPr txBox="1"/>
            <p:nvPr/>
          </p:nvSpPr>
          <p:spPr bwMode="gray">
            <a:xfrm>
              <a:off x="7951637" y="4467741"/>
              <a:ext cx="3655747" cy="176483"/>
            </a:xfrm>
            <a:prstGeom prst="rect">
              <a:avLst/>
            </a:prstGeom>
          </p:spPr>
          <p:txBody>
            <a:bodyPr vert="horz" wrap="square" lIns="91440" tIns="45720" rIns="91440" bIns="45720" rtlCol="0" anchor="ctr">
              <a:noAutofit/>
            </a:bodyPr>
            <a:lstStyle/>
            <a:p>
              <a:pPr algn="ctr"/>
              <a:r>
                <a:rPr lang="en-IN" sz="1400" b="1" dirty="0">
                  <a:solidFill>
                    <a:prstClr val="black"/>
                  </a:solidFill>
                </a:rPr>
                <a:t>Social Campaign Performance</a:t>
              </a:r>
            </a:p>
          </p:txBody>
        </p:sp>
        <p:sp>
          <p:nvSpPr>
            <p:cNvPr id="28" name="Rounded Rectangle 27"/>
            <p:cNvSpPr/>
            <p:nvPr/>
          </p:nvSpPr>
          <p:spPr>
            <a:xfrm>
              <a:off x="4652683" y="1582099"/>
              <a:ext cx="6944802" cy="5088849"/>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34" name="TextBox 33"/>
            <p:cNvSpPr txBox="1"/>
            <p:nvPr/>
          </p:nvSpPr>
          <p:spPr bwMode="gray">
            <a:xfrm>
              <a:off x="4890015" y="1646963"/>
              <a:ext cx="6474426" cy="326752"/>
            </a:xfrm>
            <a:prstGeom prst="rect">
              <a:avLst/>
            </a:prstGeom>
          </p:spPr>
          <p:txBody>
            <a:bodyPr vert="horz" wrap="square" lIns="91440" tIns="45720" rIns="91440" bIns="45720" rtlCol="0" anchor="ctr">
              <a:noAutofit/>
            </a:bodyPr>
            <a:lstStyle/>
            <a:p>
              <a:pPr algn="ctr"/>
              <a:r>
                <a:rPr lang="en-IN" sz="1600" b="1" dirty="0">
                  <a:solidFill>
                    <a:prstClr val="white">
                      <a:lumMod val="50000"/>
                    </a:prstClr>
                  </a:solidFill>
                </a:rPr>
                <a:t>Social Media Analytics across FB, Twitter, YouTube &amp; LinkedIn</a:t>
              </a:r>
            </a:p>
          </p:txBody>
        </p:sp>
      </p:grpSp>
      <p:grpSp>
        <p:nvGrpSpPr>
          <p:cNvPr id="35" name="Group 34"/>
          <p:cNvGrpSpPr/>
          <p:nvPr/>
        </p:nvGrpSpPr>
        <p:grpSpPr>
          <a:xfrm>
            <a:off x="1" y="267843"/>
            <a:ext cx="12192000" cy="461665"/>
            <a:chOff x="1" y="322556"/>
            <a:chExt cx="12192000" cy="461665"/>
          </a:xfrm>
        </p:grpSpPr>
        <p:cxnSp>
          <p:nvCxnSpPr>
            <p:cNvPr id="37" name="Straight Connector 36"/>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8" name="Rectangle 37"/>
            <p:cNvSpPr/>
            <p:nvPr/>
          </p:nvSpPr>
          <p:spPr>
            <a:xfrm>
              <a:off x="1442153" y="322556"/>
              <a:ext cx="9307741"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Tata </a:t>
              </a:r>
              <a:r>
                <a:rPr lang="en-IN" sz="2400" b="1" dirty="0" err="1" smtClean="0">
                  <a:solidFill>
                    <a:srgbClr val="0070C0"/>
                  </a:solidFill>
                  <a:latin typeface="Leelawadee UI" panose="020B0502040204020203" pitchFamily="34" charset="-34"/>
                  <a:cs typeface="Leelawadee UI" panose="020B0502040204020203" pitchFamily="34" charset="-34"/>
                </a:rPr>
                <a:t>iQ</a:t>
              </a:r>
              <a:r>
                <a:rPr lang="en-IN" sz="2400" b="1" dirty="0" smtClean="0">
                  <a:solidFill>
                    <a:srgbClr val="0070C0"/>
                  </a:solidFill>
                  <a:latin typeface="Leelawadee UI" panose="020B0502040204020203" pitchFamily="34" charset="-34"/>
                  <a:cs typeface="Leelawadee UI" panose="020B0502040204020203" pitchFamily="34" charset="-34"/>
                </a:rPr>
                <a:t> Case Study 2 </a:t>
              </a:r>
              <a:r>
                <a:rPr lang="en-IN" sz="2400" b="1" dirty="0">
                  <a:solidFill>
                    <a:srgbClr val="0070C0"/>
                  </a:solidFill>
                  <a:latin typeface="Leelawadee UI" panose="020B0502040204020203" pitchFamily="34" charset="-34"/>
                  <a:cs typeface="Leelawadee UI" panose="020B0502040204020203" pitchFamily="34" charset="-34"/>
                </a:rPr>
                <a:t>: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Life </a:t>
              </a:r>
              <a:r>
                <a:rPr lang="en-IN" sz="2400" b="1" dirty="0">
                  <a:solidFill>
                    <a:schemeClr val="bg1">
                      <a:lumMod val="50000"/>
                    </a:schemeClr>
                  </a:solidFill>
                  <a:latin typeface="Leelawadee UI" panose="020B0502040204020203" pitchFamily="34" charset="-34"/>
                  <a:cs typeface="Leelawadee UI" panose="020B0502040204020203" pitchFamily="34" charset="-34"/>
                </a:rPr>
                <a:t>Insurance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Domain - Social Analytics </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39" name="Group 38"/>
          <p:cNvGrpSpPr/>
          <p:nvPr/>
        </p:nvGrpSpPr>
        <p:grpSpPr>
          <a:xfrm>
            <a:off x="0" y="855655"/>
            <a:ext cx="11941784" cy="479192"/>
            <a:chOff x="2275096" y="1046125"/>
            <a:chExt cx="9321573" cy="479192"/>
          </a:xfrm>
        </p:grpSpPr>
        <p:sp>
          <p:nvSpPr>
            <p:cNvPr id="40" name="Pentagon 39"/>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41" name="Pentagon 40"/>
            <p:cNvSpPr/>
            <p:nvPr/>
          </p:nvSpPr>
          <p:spPr>
            <a:xfrm>
              <a:off x="2275096" y="1046125"/>
              <a:ext cx="3461375"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 </a:t>
              </a:r>
            </a:p>
          </p:txBody>
        </p:sp>
      </p:grpSp>
      <p:sp>
        <p:nvSpPr>
          <p:cNvPr id="42" name="Rectangle 41"/>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44" name="Rounded Rectangle 43"/>
          <p:cNvSpPr/>
          <p:nvPr/>
        </p:nvSpPr>
        <p:spPr>
          <a:xfrm>
            <a:off x="269567" y="1597744"/>
            <a:ext cx="3754496" cy="507320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9" name="Rectangle 8"/>
          <p:cNvSpPr/>
          <p:nvPr/>
        </p:nvSpPr>
        <p:spPr>
          <a:xfrm>
            <a:off x="592376" y="1774603"/>
            <a:ext cx="3227203" cy="4832092"/>
          </a:xfrm>
          <a:prstGeom prst="rect">
            <a:avLst/>
          </a:prstGeom>
        </p:spPr>
        <p:txBody>
          <a:bodyPr wrap="square">
            <a:spAutoFit/>
          </a:bodyPr>
          <a:lstStyle/>
          <a:p>
            <a:r>
              <a:rPr lang="en-IN" sz="1400" b="1" dirty="0">
                <a:solidFill>
                  <a:prstClr val="black"/>
                </a:solidFill>
                <a:latin typeface="Leelawadee" panose="020B0502040204020203" pitchFamily="34" charset="-34"/>
                <a:cs typeface="Leelawadee" panose="020B0502040204020203" pitchFamily="34" charset="-34"/>
              </a:rPr>
              <a:t>Objective</a:t>
            </a:r>
            <a:r>
              <a:rPr lang="en-IN" sz="1400" dirty="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The </a:t>
            </a:r>
            <a:r>
              <a:rPr lang="en-IN" sz="1400" dirty="0">
                <a:solidFill>
                  <a:prstClr val="black"/>
                </a:solidFill>
                <a:latin typeface="Leelawadee" panose="020B0502040204020203" pitchFamily="34" charset="-34"/>
                <a:cs typeface="Leelawadee" panose="020B0502040204020203" pitchFamily="34" charset="-34"/>
              </a:rPr>
              <a:t>leading Financial Services provider wants to analyse its social media presence with respect to other top Life insurance players in India . </a:t>
            </a:r>
          </a:p>
          <a:p>
            <a:endParaRPr lang="en-IN" sz="1400" dirty="0">
              <a:solidFill>
                <a:prstClr val="black"/>
              </a:solidFill>
              <a:latin typeface="Leelawadee" panose="020B0502040204020203" pitchFamily="34" charset="-34"/>
              <a:cs typeface="Leelawadee" panose="020B0502040204020203" pitchFamily="34" charset="-34"/>
            </a:endParaRPr>
          </a:p>
          <a:p>
            <a:endParaRPr lang="en-IN" sz="1400" b="1" dirty="0" smtClean="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Solution</a:t>
            </a:r>
            <a:r>
              <a:rPr lang="en-IN" sz="1400" b="1" dirty="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Monthly </a:t>
            </a:r>
            <a:r>
              <a:rPr lang="en-IN" sz="1400" dirty="0">
                <a:solidFill>
                  <a:prstClr val="black"/>
                </a:solidFill>
                <a:latin typeface="Leelawadee" panose="020B0502040204020203" pitchFamily="34" charset="-34"/>
                <a:cs typeface="Leelawadee" panose="020B0502040204020203" pitchFamily="34" charset="-34"/>
              </a:rPr>
              <a:t>Tableau dashboard to highlight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Brand </a:t>
            </a:r>
            <a:r>
              <a:rPr lang="en-IN" sz="1400" dirty="0">
                <a:solidFill>
                  <a:prstClr val="black"/>
                </a:solidFill>
                <a:latin typeface="Leelawadee" panose="020B0502040204020203" pitchFamily="34" charset="-34"/>
                <a:cs typeface="Leelawadee" panose="020B0502040204020203" pitchFamily="34" charset="-34"/>
              </a:rPr>
              <a:t>Performance on each social media Channel</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Topic </a:t>
            </a:r>
            <a:r>
              <a:rPr lang="en-IN" sz="1400" dirty="0">
                <a:solidFill>
                  <a:prstClr val="black"/>
                </a:solidFill>
                <a:latin typeface="Leelawadee" panose="020B0502040204020203" pitchFamily="34" charset="-34"/>
                <a:cs typeface="Leelawadee" panose="020B0502040204020203" pitchFamily="34" charset="-34"/>
              </a:rPr>
              <a:t>and Sentiment analysis of Brand over time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Performance </a:t>
            </a:r>
            <a:r>
              <a:rPr lang="en-IN" sz="1400" dirty="0">
                <a:solidFill>
                  <a:prstClr val="black"/>
                </a:solidFill>
                <a:latin typeface="Leelawadee" panose="020B0502040204020203" pitchFamily="34" charset="-34"/>
                <a:cs typeface="Leelawadee" panose="020B0502040204020203" pitchFamily="34" charset="-34"/>
              </a:rPr>
              <a:t>of Brand Content on social media </a:t>
            </a:r>
          </a:p>
          <a:p>
            <a:r>
              <a:rPr lang="en-IN" sz="1400" dirty="0">
                <a:solidFill>
                  <a:prstClr val="black"/>
                </a:solidFill>
                <a:latin typeface="Leelawadee" panose="020B0502040204020203" pitchFamily="34" charset="-34"/>
                <a:cs typeface="Leelawadee" panose="020B0502040204020203" pitchFamily="34" charset="-34"/>
              </a:rPr>
              <a:t> </a:t>
            </a:r>
            <a:endParaRPr lang="en-IN" sz="1400" b="1" dirty="0" smtClean="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Result: </a:t>
            </a:r>
          </a:p>
          <a:p>
            <a:r>
              <a:rPr lang="en-IN" sz="1400" dirty="0" smtClean="0">
                <a:solidFill>
                  <a:prstClr val="black"/>
                </a:solidFill>
                <a:latin typeface="Leelawadee" panose="020B0502040204020203" pitchFamily="34" charset="-34"/>
                <a:cs typeface="Leelawadee" panose="020B0502040204020203" pitchFamily="34" charset="-34"/>
              </a:rPr>
              <a:t>Client able to increase its social media reach (market leader for next 2 months in terms of growth), sentiment and response time over social media </a:t>
            </a:r>
            <a:endParaRPr lang="en-IN" sz="1400" dirty="0">
              <a:solidFill>
                <a:prstClr val="black"/>
              </a:solidFill>
              <a:latin typeface="Leelawadee" panose="020B0502040204020203" pitchFamily="34" charset="-34"/>
              <a:cs typeface="Leelawadee" panose="020B0502040204020203" pitchFamily="34" charset="-34"/>
            </a:endParaRPr>
          </a:p>
        </p:txBody>
      </p:sp>
      <p:sp>
        <p:nvSpPr>
          <p:cNvPr id="2" name="TextBox 1"/>
          <p:cNvSpPr txBox="1"/>
          <p:nvPr/>
        </p:nvSpPr>
        <p:spPr>
          <a:xfrm>
            <a:off x="5580529" y="2545305"/>
            <a:ext cx="662563" cy="123111"/>
          </a:xfrm>
          <a:prstGeom prst="rect">
            <a:avLst/>
          </a:prstGeom>
          <a:solidFill>
            <a:schemeClr val="bg1"/>
          </a:solidFill>
        </p:spPr>
        <p:txBody>
          <a:bodyPr wrap="square" rtlCol="0">
            <a:spAutoFit/>
          </a:bodyPr>
          <a:lstStyle/>
          <a:p>
            <a:endParaRPr lang="en-IN" sz="200" dirty="0"/>
          </a:p>
        </p:txBody>
      </p:sp>
    </p:spTree>
    <p:extLst>
      <p:ext uri="{BB962C8B-B14F-4D97-AF65-F5344CB8AC3E}">
        <p14:creationId xmlns:p14="http://schemas.microsoft.com/office/powerpoint/2010/main" val="32918937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4494439" y="2975403"/>
            <a:ext cx="3928545" cy="3016516"/>
          </a:xfrm>
          <a:prstGeom prst="rect">
            <a:avLst/>
          </a:prstGeom>
        </p:spPr>
      </p:pic>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1309043" y="322556"/>
              <a:ext cx="9573968"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Tata </a:t>
              </a:r>
              <a:r>
                <a:rPr lang="en-IN" sz="2400" b="1" dirty="0" err="1" smtClean="0">
                  <a:solidFill>
                    <a:srgbClr val="0070C0"/>
                  </a:solidFill>
                  <a:latin typeface="Leelawadee UI" panose="020B0502040204020203" pitchFamily="34" charset="-34"/>
                  <a:cs typeface="Leelawadee UI" panose="020B0502040204020203" pitchFamily="34" charset="-34"/>
                </a:rPr>
                <a:t>iQ</a:t>
              </a:r>
              <a:r>
                <a:rPr lang="en-IN" sz="2400" b="1" dirty="0" smtClean="0">
                  <a:solidFill>
                    <a:srgbClr val="0070C0"/>
                  </a:solidFill>
                  <a:latin typeface="Leelawadee UI" panose="020B0502040204020203" pitchFamily="34" charset="-34"/>
                  <a:cs typeface="Leelawadee UI" panose="020B0502040204020203" pitchFamily="34" charset="-34"/>
                </a:rPr>
                <a:t> Case Study 3 : </a:t>
              </a:r>
              <a:r>
                <a:rPr lang="en-IN" sz="2400" b="1" dirty="0" smtClean="0">
                  <a:solidFill>
                    <a:schemeClr val="bg1">
                      <a:lumMod val="50000"/>
                    </a:schemeClr>
                  </a:solidFill>
                  <a:latin typeface="Leelawadee UI" panose="020B0502040204020203" pitchFamily="34" charset="-34"/>
                  <a:cs typeface="Leelawadee UI" panose="020B0502040204020203" pitchFamily="34" charset="-34"/>
                </a:rPr>
                <a:t>Electronics Retailer – Location Optimization</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2" name="Group 1"/>
          <p:cNvGrpSpPr/>
          <p:nvPr/>
        </p:nvGrpSpPr>
        <p:grpSpPr>
          <a:xfrm>
            <a:off x="0" y="855655"/>
            <a:ext cx="11941784" cy="479192"/>
            <a:chOff x="2275096" y="1046125"/>
            <a:chExt cx="9321573" cy="479192"/>
          </a:xfrm>
        </p:grpSpPr>
        <p:sp>
          <p:nvSpPr>
            <p:cNvPr id="68" name="Pentagon 67"/>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69" name="Pentagon 68"/>
            <p:cNvSpPr/>
            <p:nvPr/>
          </p:nvSpPr>
          <p:spPr>
            <a:xfrm>
              <a:off x="2275096" y="1046125"/>
              <a:ext cx="3432377"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 </a:t>
              </a:r>
            </a:p>
          </p:txBody>
        </p:sp>
      </p:grpSp>
      <p:sp>
        <p:nvSpPr>
          <p:cNvPr id="16" name="Rectangle 15"/>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62" name="TextBox 61"/>
          <p:cNvSpPr txBox="1"/>
          <p:nvPr/>
        </p:nvSpPr>
        <p:spPr bwMode="gray">
          <a:xfrm>
            <a:off x="6630225" y="1606235"/>
            <a:ext cx="3394051" cy="307777"/>
          </a:xfrm>
          <a:prstGeom prst="rect">
            <a:avLst/>
          </a:prstGeom>
          <a:noFill/>
          <a:ln>
            <a:noFill/>
            <a:prstDash val="dash"/>
          </a:ln>
        </p:spPr>
        <p:txBody>
          <a:bodyPr wrap="square">
            <a:spAutoFit/>
          </a:bodyPr>
          <a:lstStyle>
            <a:defPPr>
              <a:defRPr lang="en-US"/>
            </a:defPPr>
            <a:lvl1pPr>
              <a:defRPr sz="1200">
                <a:solidFill>
                  <a:prstClr val="black"/>
                </a:solidFill>
                <a:latin typeface="Century" panose="02040604050505020304" pitchFamily="18" charset="0"/>
              </a:defRPr>
            </a:lvl1pPr>
          </a:lstStyle>
          <a:p>
            <a:pPr algn="ctr"/>
            <a:r>
              <a:rPr lang="en-IN" sz="1400" b="1" dirty="0">
                <a:latin typeface="Century Gothic" panose="020B0502020202020204" pitchFamily="34" charset="0"/>
              </a:rPr>
              <a:t> Store Location </a:t>
            </a:r>
            <a:r>
              <a:rPr lang="en-IN" sz="1400" b="1" dirty="0" smtClean="0">
                <a:latin typeface="Century Gothic" panose="020B0502020202020204" pitchFamily="34" charset="0"/>
              </a:rPr>
              <a:t>Attractiveness </a:t>
            </a:r>
            <a:endParaRPr lang="en-IN" sz="1400" b="1" dirty="0">
              <a:latin typeface="Century Gothic" panose="020B0502020202020204" pitchFamily="34" charset="0"/>
            </a:endParaRPr>
          </a:p>
        </p:txBody>
      </p:sp>
      <p:graphicFrame>
        <p:nvGraphicFramePr>
          <p:cNvPr id="80" name="Diagram 79"/>
          <p:cNvGraphicFramePr/>
          <p:nvPr>
            <p:extLst/>
          </p:nvPr>
        </p:nvGraphicFramePr>
        <p:xfrm>
          <a:off x="8091637" y="2056153"/>
          <a:ext cx="3583817" cy="870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1" name="Diagram 80"/>
          <p:cNvGraphicFramePr/>
          <p:nvPr>
            <p:extLst/>
          </p:nvPr>
        </p:nvGraphicFramePr>
        <p:xfrm>
          <a:off x="4815792" y="2049353"/>
          <a:ext cx="3093358" cy="88329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25" name="Picture 24"/>
          <p:cNvPicPr>
            <a:picLocks noChangeAspect="1"/>
          </p:cNvPicPr>
          <p:nvPr/>
        </p:nvPicPr>
        <p:blipFill>
          <a:blip r:embed="rId13"/>
          <a:stretch>
            <a:fillRect/>
          </a:stretch>
        </p:blipFill>
        <p:spPr>
          <a:xfrm>
            <a:off x="6669615" y="6189077"/>
            <a:ext cx="1204579" cy="155855"/>
          </a:xfrm>
          <a:prstGeom prst="rect">
            <a:avLst/>
          </a:prstGeom>
        </p:spPr>
      </p:pic>
      <p:sp>
        <p:nvSpPr>
          <p:cNvPr id="26" name="TextBox 25"/>
          <p:cNvSpPr txBox="1"/>
          <p:nvPr/>
        </p:nvSpPr>
        <p:spPr>
          <a:xfrm>
            <a:off x="6393130" y="6333186"/>
            <a:ext cx="1744224" cy="215444"/>
          </a:xfrm>
          <a:prstGeom prst="rect">
            <a:avLst/>
          </a:prstGeom>
          <a:noFill/>
        </p:spPr>
        <p:txBody>
          <a:bodyPr wrap="square" rtlCol="0">
            <a:spAutoFit/>
          </a:bodyPr>
          <a:lstStyle/>
          <a:p>
            <a:r>
              <a:rPr lang="en-IN" sz="800" dirty="0" smtClean="0"/>
              <a:t>Potential gradient –  High to Low</a:t>
            </a:r>
          </a:p>
        </p:txBody>
      </p:sp>
      <p:grpSp>
        <p:nvGrpSpPr>
          <p:cNvPr id="5" name="Group 4"/>
          <p:cNvGrpSpPr/>
          <p:nvPr/>
        </p:nvGrpSpPr>
        <p:grpSpPr>
          <a:xfrm>
            <a:off x="8260523" y="3129472"/>
            <a:ext cx="3768983" cy="3320248"/>
            <a:chOff x="8038754" y="2858307"/>
            <a:chExt cx="3966367" cy="3142854"/>
          </a:xfrm>
        </p:grpSpPr>
        <p:pic>
          <p:nvPicPr>
            <p:cNvPr id="95" name="Picture 94"/>
            <p:cNvPicPr>
              <a:picLocks noChangeAspect="1"/>
            </p:cNvPicPr>
            <p:nvPr/>
          </p:nvPicPr>
          <p:blipFill>
            <a:blip r:embed="rId2"/>
            <a:stretch>
              <a:fillRect/>
            </a:stretch>
          </p:blipFill>
          <p:spPr>
            <a:xfrm>
              <a:off x="8038754" y="2858307"/>
              <a:ext cx="3894107" cy="2942828"/>
            </a:xfrm>
            <a:prstGeom prst="rect">
              <a:avLst/>
            </a:prstGeom>
          </p:spPr>
        </p:pic>
        <p:sp>
          <p:nvSpPr>
            <p:cNvPr id="97" name="Oval 96"/>
            <p:cNvSpPr/>
            <p:nvPr/>
          </p:nvSpPr>
          <p:spPr>
            <a:xfrm>
              <a:off x="9488408" y="4410349"/>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0" name="Oval 99"/>
            <p:cNvSpPr/>
            <p:nvPr/>
          </p:nvSpPr>
          <p:spPr>
            <a:xfrm>
              <a:off x="9786876" y="3983525"/>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1" name="Oval 100"/>
            <p:cNvSpPr/>
            <p:nvPr/>
          </p:nvSpPr>
          <p:spPr>
            <a:xfrm>
              <a:off x="9317150" y="4038926"/>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2" name="Oval 101"/>
            <p:cNvSpPr/>
            <p:nvPr/>
          </p:nvSpPr>
          <p:spPr>
            <a:xfrm>
              <a:off x="9418818" y="4040132"/>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sp>
          <p:nvSpPr>
            <p:cNvPr id="103" name="Oval 102"/>
            <p:cNvSpPr/>
            <p:nvPr/>
          </p:nvSpPr>
          <p:spPr>
            <a:xfrm>
              <a:off x="8804815" y="3748097"/>
              <a:ext cx="108000" cy="108000"/>
            </a:xfrm>
            <a:prstGeom prst="ellipse">
              <a:avLst/>
            </a:prstGeom>
            <a:solidFill>
              <a:srgbClr val="EF7A24"/>
            </a:solidFill>
            <a:ln w="1905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entury Gothic"/>
                <a:ea typeface="+mn-ea"/>
                <a:cs typeface="+mn-cs"/>
              </a:endParaRPr>
            </a:p>
          </p:txBody>
        </p:sp>
        <p:pic>
          <p:nvPicPr>
            <p:cNvPr id="11" name="Picture 10"/>
            <p:cNvPicPr>
              <a:picLocks noChangeAspect="1"/>
            </p:cNvPicPr>
            <p:nvPr/>
          </p:nvPicPr>
          <p:blipFill>
            <a:blip r:embed="rId14"/>
            <a:stretch>
              <a:fillRect/>
            </a:stretch>
          </p:blipFill>
          <p:spPr>
            <a:xfrm>
              <a:off x="8909419" y="3742250"/>
              <a:ext cx="109738" cy="103641"/>
            </a:xfrm>
            <a:prstGeom prst="rect">
              <a:avLst/>
            </a:prstGeom>
          </p:spPr>
        </p:pic>
        <p:pic>
          <p:nvPicPr>
            <p:cNvPr id="13" name="Picture 12"/>
            <p:cNvPicPr>
              <a:picLocks noChangeAspect="1"/>
            </p:cNvPicPr>
            <p:nvPr/>
          </p:nvPicPr>
          <p:blipFill>
            <a:blip r:embed="rId14"/>
            <a:stretch>
              <a:fillRect/>
            </a:stretch>
          </p:blipFill>
          <p:spPr>
            <a:xfrm>
              <a:off x="9454874" y="3431248"/>
              <a:ext cx="109738" cy="103641"/>
            </a:xfrm>
            <a:prstGeom prst="rect">
              <a:avLst/>
            </a:prstGeom>
          </p:spPr>
        </p:pic>
        <p:pic>
          <p:nvPicPr>
            <p:cNvPr id="14" name="Picture 13"/>
            <p:cNvPicPr>
              <a:picLocks noChangeAspect="1"/>
            </p:cNvPicPr>
            <p:nvPr/>
          </p:nvPicPr>
          <p:blipFill>
            <a:blip r:embed="rId14"/>
            <a:stretch>
              <a:fillRect/>
            </a:stretch>
          </p:blipFill>
          <p:spPr>
            <a:xfrm>
              <a:off x="9877324" y="3157485"/>
              <a:ext cx="109738" cy="103641"/>
            </a:xfrm>
            <a:prstGeom prst="rect">
              <a:avLst/>
            </a:prstGeom>
          </p:spPr>
        </p:pic>
        <p:pic>
          <p:nvPicPr>
            <p:cNvPr id="104" name="Picture 103"/>
            <p:cNvPicPr>
              <a:picLocks noChangeAspect="1"/>
            </p:cNvPicPr>
            <p:nvPr/>
          </p:nvPicPr>
          <p:blipFill>
            <a:blip r:embed="rId14"/>
            <a:stretch>
              <a:fillRect/>
            </a:stretch>
          </p:blipFill>
          <p:spPr>
            <a:xfrm>
              <a:off x="10206064" y="4464349"/>
              <a:ext cx="109738" cy="103641"/>
            </a:xfrm>
            <a:prstGeom prst="rect">
              <a:avLst/>
            </a:prstGeom>
          </p:spPr>
        </p:pic>
        <p:pic>
          <p:nvPicPr>
            <p:cNvPr id="106" name="Picture 105"/>
            <p:cNvPicPr>
              <a:picLocks noChangeAspect="1"/>
            </p:cNvPicPr>
            <p:nvPr/>
          </p:nvPicPr>
          <p:blipFill>
            <a:blip r:embed="rId14"/>
            <a:stretch>
              <a:fillRect/>
            </a:stretch>
          </p:blipFill>
          <p:spPr>
            <a:xfrm>
              <a:off x="10480298" y="3521917"/>
              <a:ext cx="109738" cy="103641"/>
            </a:xfrm>
            <a:prstGeom prst="rect">
              <a:avLst/>
            </a:prstGeom>
          </p:spPr>
        </p:pic>
        <p:pic>
          <p:nvPicPr>
            <p:cNvPr id="107" name="Picture 106"/>
            <p:cNvPicPr>
              <a:picLocks noChangeAspect="1"/>
            </p:cNvPicPr>
            <p:nvPr/>
          </p:nvPicPr>
          <p:blipFill>
            <a:blip r:embed="rId14"/>
            <a:stretch>
              <a:fillRect/>
            </a:stretch>
          </p:blipFill>
          <p:spPr>
            <a:xfrm>
              <a:off x="10370560" y="4808001"/>
              <a:ext cx="109738" cy="103641"/>
            </a:xfrm>
            <a:prstGeom prst="rect">
              <a:avLst/>
            </a:prstGeom>
          </p:spPr>
        </p:pic>
        <p:pic>
          <p:nvPicPr>
            <p:cNvPr id="108" name="Picture 107"/>
            <p:cNvPicPr>
              <a:picLocks noChangeAspect="1"/>
            </p:cNvPicPr>
            <p:nvPr/>
          </p:nvPicPr>
          <p:blipFill>
            <a:blip r:embed="rId14"/>
            <a:stretch>
              <a:fillRect/>
            </a:stretch>
          </p:blipFill>
          <p:spPr>
            <a:xfrm>
              <a:off x="9822455" y="3654550"/>
              <a:ext cx="109738" cy="103641"/>
            </a:xfrm>
            <a:prstGeom prst="rect">
              <a:avLst/>
            </a:prstGeom>
          </p:spPr>
        </p:pic>
        <p:pic>
          <p:nvPicPr>
            <p:cNvPr id="109" name="Picture 108"/>
            <p:cNvPicPr>
              <a:picLocks noChangeAspect="1"/>
            </p:cNvPicPr>
            <p:nvPr/>
          </p:nvPicPr>
          <p:blipFill>
            <a:blip r:embed="rId14"/>
            <a:stretch>
              <a:fillRect/>
            </a:stretch>
          </p:blipFill>
          <p:spPr>
            <a:xfrm>
              <a:off x="10506540" y="4808000"/>
              <a:ext cx="109738" cy="103641"/>
            </a:xfrm>
            <a:prstGeom prst="rect">
              <a:avLst/>
            </a:prstGeom>
          </p:spPr>
        </p:pic>
        <p:sp>
          <p:nvSpPr>
            <p:cNvPr id="110" name="Oval 109"/>
            <p:cNvSpPr/>
            <p:nvPr/>
          </p:nvSpPr>
          <p:spPr>
            <a:xfrm>
              <a:off x="10444264" y="4896625"/>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1" name="Oval 110"/>
            <p:cNvSpPr/>
            <p:nvPr/>
          </p:nvSpPr>
          <p:spPr>
            <a:xfrm>
              <a:off x="10411136" y="4598454"/>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2" name="Oval 111"/>
            <p:cNvSpPr/>
            <p:nvPr/>
          </p:nvSpPr>
          <p:spPr>
            <a:xfrm>
              <a:off x="10523780" y="4591830"/>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3" name="Oval 112"/>
            <p:cNvSpPr/>
            <p:nvPr/>
          </p:nvSpPr>
          <p:spPr>
            <a:xfrm>
              <a:off x="10206064" y="4629521"/>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4" name="Oval 113"/>
            <p:cNvSpPr/>
            <p:nvPr/>
          </p:nvSpPr>
          <p:spPr>
            <a:xfrm>
              <a:off x="10169192" y="430594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5" name="Oval 114"/>
            <p:cNvSpPr/>
            <p:nvPr/>
          </p:nvSpPr>
          <p:spPr>
            <a:xfrm>
              <a:off x="10299515" y="4279817"/>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6" name="Oval 115"/>
            <p:cNvSpPr/>
            <p:nvPr/>
          </p:nvSpPr>
          <p:spPr>
            <a:xfrm>
              <a:off x="9900690" y="429631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7" name="Oval 116"/>
            <p:cNvSpPr/>
            <p:nvPr/>
          </p:nvSpPr>
          <p:spPr>
            <a:xfrm>
              <a:off x="9723505" y="4494048"/>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18" name="Oval 117"/>
            <p:cNvSpPr/>
            <p:nvPr/>
          </p:nvSpPr>
          <p:spPr>
            <a:xfrm>
              <a:off x="9376514" y="440071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0" name="Oval 119"/>
            <p:cNvSpPr/>
            <p:nvPr/>
          </p:nvSpPr>
          <p:spPr>
            <a:xfrm>
              <a:off x="9537166" y="4033184"/>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1" name="Oval 120"/>
            <p:cNvSpPr/>
            <p:nvPr/>
          </p:nvSpPr>
          <p:spPr>
            <a:xfrm>
              <a:off x="9592966" y="3871620"/>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2" name="Oval 121"/>
            <p:cNvSpPr/>
            <p:nvPr/>
          </p:nvSpPr>
          <p:spPr>
            <a:xfrm>
              <a:off x="9138358" y="3408422"/>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3" name="Oval 122"/>
            <p:cNvSpPr/>
            <p:nvPr/>
          </p:nvSpPr>
          <p:spPr>
            <a:xfrm>
              <a:off x="9123337" y="3536785"/>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4" name="Oval 123"/>
            <p:cNvSpPr/>
            <p:nvPr/>
          </p:nvSpPr>
          <p:spPr>
            <a:xfrm>
              <a:off x="9005463" y="3431248"/>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5" name="Oval 124"/>
            <p:cNvSpPr/>
            <p:nvPr/>
          </p:nvSpPr>
          <p:spPr>
            <a:xfrm>
              <a:off x="10581336" y="3521917"/>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6" name="Oval 125"/>
            <p:cNvSpPr/>
            <p:nvPr/>
          </p:nvSpPr>
          <p:spPr>
            <a:xfrm>
              <a:off x="10676180" y="4744230"/>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29" name="Oval 128"/>
            <p:cNvSpPr/>
            <p:nvPr/>
          </p:nvSpPr>
          <p:spPr>
            <a:xfrm>
              <a:off x="9914638" y="3274694"/>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0" name="Oval 129"/>
            <p:cNvSpPr/>
            <p:nvPr/>
          </p:nvSpPr>
          <p:spPr>
            <a:xfrm>
              <a:off x="10555864" y="4125810"/>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1" name="Oval 130"/>
            <p:cNvSpPr/>
            <p:nvPr/>
          </p:nvSpPr>
          <p:spPr>
            <a:xfrm>
              <a:off x="10425411" y="4153925"/>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2" name="Oval 131"/>
            <p:cNvSpPr/>
            <p:nvPr/>
          </p:nvSpPr>
          <p:spPr>
            <a:xfrm>
              <a:off x="8614275" y="3482689"/>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3" name="Oval 132"/>
            <p:cNvSpPr/>
            <p:nvPr/>
          </p:nvSpPr>
          <p:spPr>
            <a:xfrm>
              <a:off x="8720594" y="3482689"/>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pic>
          <p:nvPicPr>
            <p:cNvPr id="27" name="Picture 26"/>
            <p:cNvPicPr>
              <a:picLocks noChangeAspect="1"/>
            </p:cNvPicPr>
            <p:nvPr/>
          </p:nvPicPr>
          <p:blipFill>
            <a:blip r:embed="rId15"/>
            <a:stretch>
              <a:fillRect/>
            </a:stretch>
          </p:blipFill>
          <p:spPr>
            <a:xfrm>
              <a:off x="9648098" y="3427252"/>
              <a:ext cx="109738" cy="103641"/>
            </a:xfrm>
            <a:prstGeom prst="rect">
              <a:avLst/>
            </a:prstGeom>
          </p:spPr>
        </p:pic>
        <p:sp>
          <p:nvSpPr>
            <p:cNvPr id="135" name="Oval 134"/>
            <p:cNvSpPr/>
            <p:nvPr/>
          </p:nvSpPr>
          <p:spPr>
            <a:xfrm>
              <a:off x="9540608" y="3393546"/>
              <a:ext cx="111600" cy="104400"/>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7" name="Oval 136"/>
            <p:cNvSpPr/>
            <p:nvPr/>
          </p:nvSpPr>
          <p:spPr>
            <a:xfrm>
              <a:off x="10667464" y="3496121"/>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38" name="Oval 137"/>
            <p:cNvSpPr/>
            <p:nvPr/>
          </p:nvSpPr>
          <p:spPr>
            <a:xfrm>
              <a:off x="10023957" y="4277521"/>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4" name="Oval 143"/>
            <p:cNvSpPr/>
            <p:nvPr/>
          </p:nvSpPr>
          <p:spPr>
            <a:xfrm>
              <a:off x="10542993" y="5488106"/>
              <a:ext cx="111600" cy="104400"/>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5" name="TextBox 144"/>
            <p:cNvSpPr txBox="1"/>
            <p:nvPr/>
          </p:nvSpPr>
          <p:spPr>
            <a:xfrm>
              <a:off x="10667463" y="5445113"/>
              <a:ext cx="991484" cy="234268"/>
            </a:xfrm>
            <a:prstGeom prst="rect">
              <a:avLst/>
            </a:prstGeom>
            <a:noFill/>
          </p:spPr>
          <p:txBody>
            <a:bodyPr wrap="square" rtlCol="0">
              <a:spAutoFit/>
            </a:bodyPr>
            <a:lstStyle/>
            <a:p>
              <a:r>
                <a:rPr lang="en-IN" sz="800" dirty="0" smtClean="0"/>
                <a:t>Competitor 1</a:t>
              </a:r>
            </a:p>
          </p:txBody>
        </p:sp>
        <p:sp>
          <p:nvSpPr>
            <p:cNvPr id="146" name="TextBox 145"/>
            <p:cNvSpPr txBox="1"/>
            <p:nvPr/>
          </p:nvSpPr>
          <p:spPr>
            <a:xfrm>
              <a:off x="10675953" y="5601241"/>
              <a:ext cx="982994" cy="234268"/>
            </a:xfrm>
            <a:prstGeom prst="rect">
              <a:avLst/>
            </a:prstGeom>
            <a:noFill/>
          </p:spPr>
          <p:txBody>
            <a:bodyPr wrap="square" rtlCol="0">
              <a:spAutoFit/>
            </a:bodyPr>
            <a:lstStyle/>
            <a:p>
              <a:r>
                <a:rPr lang="en-IN" sz="800" dirty="0" smtClean="0"/>
                <a:t>Competitor 2</a:t>
              </a:r>
            </a:p>
          </p:txBody>
        </p:sp>
        <p:sp>
          <p:nvSpPr>
            <p:cNvPr id="147" name="TextBox 146"/>
            <p:cNvSpPr txBox="1"/>
            <p:nvPr/>
          </p:nvSpPr>
          <p:spPr>
            <a:xfrm>
              <a:off x="10667465" y="5766893"/>
              <a:ext cx="1337656" cy="234268"/>
            </a:xfrm>
            <a:prstGeom prst="rect">
              <a:avLst/>
            </a:prstGeom>
            <a:noFill/>
          </p:spPr>
          <p:txBody>
            <a:bodyPr wrap="square" rtlCol="0">
              <a:spAutoFit/>
            </a:bodyPr>
            <a:lstStyle/>
            <a:p>
              <a:r>
                <a:rPr lang="en-IN" sz="800" dirty="0" smtClean="0"/>
                <a:t>Proposed Locations</a:t>
              </a:r>
            </a:p>
          </p:txBody>
        </p:sp>
        <p:sp>
          <p:nvSpPr>
            <p:cNvPr id="148" name="Oval 147"/>
            <p:cNvSpPr/>
            <p:nvPr/>
          </p:nvSpPr>
          <p:spPr>
            <a:xfrm>
              <a:off x="10549621" y="5639754"/>
              <a:ext cx="111600" cy="1044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sp>
          <p:nvSpPr>
            <p:cNvPr id="149" name="Oval 148"/>
            <p:cNvSpPr/>
            <p:nvPr/>
          </p:nvSpPr>
          <p:spPr>
            <a:xfrm>
              <a:off x="10549621" y="5798781"/>
              <a:ext cx="111600" cy="104400"/>
            </a:xfrm>
            <a:prstGeom prst="ellipse">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i="1"/>
            </a:p>
          </p:txBody>
        </p:sp>
      </p:grpSp>
      <p:sp>
        <p:nvSpPr>
          <p:cNvPr id="136" name="TextBox 135"/>
          <p:cNvSpPr txBox="1"/>
          <p:nvPr/>
        </p:nvSpPr>
        <p:spPr>
          <a:xfrm>
            <a:off x="4816098" y="2889890"/>
            <a:ext cx="1767623" cy="215444"/>
          </a:xfrm>
          <a:prstGeom prst="rect">
            <a:avLst/>
          </a:prstGeom>
          <a:noFill/>
        </p:spPr>
        <p:txBody>
          <a:bodyPr wrap="square" rtlCol="0">
            <a:spAutoFit/>
          </a:bodyPr>
          <a:lstStyle/>
          <a:p>
            <a:r>
              <a:rPr lang="en-IN" sz="800" i="1" dirty="0" smtClean="0"/>
              <a:t>Location map not to scale</a:t>
            </a:r>
            <a:endParaRPr lang="en-IN" sz="800" i="1" dirty="0"/>
          </a:p>
        </p:txBody>
      </p:sp>
      <p:sp>
        <p:nvSpPr>
          <p:cNvPr id="150" name="TextBox 149"/>
          <p:cNvSpPr txBox="1"/>
          <p:nvPr/>
        </p:nvSpPr>
        <p:spPr>
          <a:xfrm>
            <a:off x="8297963" y="2861908"/>
            <a:ext cx="1767623" cy="215444"/>
          </a:xfrm>
          <a:prstGeom prst="rect">
            <a:avLst/>
          </a:prstGeom>
          <a:noFill/>
        </p:spPr>
        <p:txBody>
          <a:bodyPr wrap="square" rtlCol="0">
            <a:spAutoFit/>
          </a:bodyPr>
          <a:lstStyle/>
          <a:p>
            <a:r>
              <a:rPr lang="en-IN" sz="800" i="1" dirty="0" smtClean="0"/>
              <a:t>Location map not to scale</a:t>
            </a:r>
            <a:endParaRPr lang="en-IN" sz="800" i="1" dirty="0"/>
          </a:p>
        </p:txBody>
      </p:sp>
      <p:sp>
        <p:nvSpPr>
          <p:cNvPr id="75" name="Rounded Rectangle 74"/>
          <p:cNvSpPr/>
          <p:nvPr/>
        </p:nvSpPr>
        <p:spPr>
          <a:xfrm>
            <a:off x="199818" y="1583374"/>
            <a:ext cx="3754496" cy="507320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6" name="Rectangle 75"/>
          <p:cNvSpPr/>
          <p:nvPr/>
        </p:nvSpPr>
        <p:spPr>
          <a:xfrm>
            <a:off x="417750" y="1833072"/>
            <a:ext cx="3417930" cy="4832092"/>
          </a:xfrm>
          <a:prstGeom prst="rect">
            <a:avLst/>
          </a:prstGeom>
        </p:spPr>
        <p:txBody>
          <a:bodyPr wrap="square">
            <a:spAutoFit/>
          </a:bodyPr>
          <a:lstStyle/>
          <a:p>
            <a:r>
              <a:rPr lang="en-IN" sz="1400" b="1" dirty="0">
                <a:solidFill>
                  <a:prstClr val="black"/>
                </a:solidFill>
                <a:latin typeface="Leelawadee" panose="020B0502040204020203" pitchFamily="34" charset="-34"/>
                <a:cs typeface="Leelawadee" panose="020B0502040204020203" pitchFamily="34" charset="-34"/>
              </a:rPr>
              <a:t>Objective</a:t>
            </a:r>
            <a:r>
              <a:rPr lang="en-IN" sz="1400" dirty="0">
                <a:solidFill>
                  <a:prstClr val="black"/>
                </a:solidFill>
                <a:latin typeface="Leelawadee" panose="020B0502040204020203" pitchFamily="34" charset="-34"/>
                <a:cs typeface="Leelawadee" panose="020B0502040204020203" pitchFamily="34" charset="-34"/>
              </a:rPr>
              <a:t>:</a:t>
            </a:r>
          </a:p>
          <a:p>
            <a:r>
              <a:rPr lang="en-IN" sz="1400" dirty="0">
                <a:solidFill>
                  <a:prstClr val="black"/>
                </a:solidFill>
                <a:latin typeface="Leelawadee" panose="020B0502040204020203" pitchFamily="34" charset="-34"/>
                <a:cs typeface="Leelawadee" panose="020B0502040204020203" pitchFamily="34" charset="-34"/>
              </a:rPr>
              <a:t>The retailer was looking to expand presence in the district of Hyderabad</a:t>
            </a:r>
            <a:r>
              <a:rPr lang="en-IN" sz="1400" dirty="0" smtClean="0">
                <a:solidFill>
                  <a:prstClr val="black"/>
                </a:solidFill>
                <a:latin typeface="Leelawadee" panose="020B0502040204020203" pitchFamily="34" charset="-34"/>
                <a:cs typeface="Leelawadee" panose="020B0502040204020203" pitchFamily="34" charset="-34"/>
              </a:rPr>
              <a:t>. </a:t>
            </a:r>
            <a:endParaRPr lang="en-IN" sz="1400" dirty="0">
              <a:solidFill>
                <a:prstClr val="black"/>
              </a:solidFill>
              <a:latin typeface="Leelawadee" panose="020B0502040204020203" pitchFamily="34" charset="-34"/>
              <a:cs typeface="Leelawadee" panose="020B0502040204020203" pitchFamily="34" charset="-34"/>
            </a:endParaRP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Solution</a:t>
            </a:r>
            <a:r>
              <a:rPr lang="en-IN" sz="1400" b="1" dirty="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Tableau visualization </a:t>
            </a:r>
            <a:r>
              <a:rPr lang="en-IN" sz="1400" dirty="0">
                <a:solidFill>
                  <a:prstClr val="black"/>
                </a:solidFill>
                <a:latin typeface="Leelawadee" panose="020B0502040204020203" pitchFamily="34" charset="-34"/>
                <a:cs typeface="Leelawadee" panose="020B0502040204020203" pitchFamily="34" charset="-34"/>
              </a:rPr>
              <a:t>to highlight :</a:t>
            </a:r>
          </a:p>
          <a:p>
            <a:pPr marL="28575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Catchment area attractiveness with respect to the retailer</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Impact </a:t>
            </a:r>
            <a:r>
              <a:rPr lang="en-IN" sz="1400" dirty="0">
                <a:solidFill>
                  <a:prstClr val="black"/>
                </a:solidFill>
                <a:latin typeface="Leelawadee" panose="020B0502040204020203" pitchFamily="34" charset="-34"/>
                <a:cs typeface="Leelawadee" panose="020B0502040204020203" pitchFamily="34" charset="-34"/>
              </a:rPr>
              <a:t>of Competitor presence</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Potential </a:t>
            </a:r>
            <a:r>
              <a:rPr lang="en-IN" sz="1400" dirty="0">
                <a:solidFill>
                  <a:prstClr val="black"/>
                </a:solidFill>
                <a:latin typeface="Leelawadee" panose="020B0502040204020203" pitchFamily="34" charset="-34"/>
                <a:cs typeface="Leelawadee" panose="020B0502040204020203" pitchFamily="34" charset="-34"/>
              </a:rPr>
              <a:t>Store locations with respect to catchment area attractiveness and competitor presence</a:t>
            </a:r>
          </a:p>
          <a:p>
            <a:r>
              <a:rPr lang="en-IN" sz="1400" dirty="0" smtClean="0">
                <a:solidFill>
                  <a:prstClr val="black"/>
                </a:solidFill>
                <a:latin typeface="Leelawadee" panose="020B0502040204020203" pitchFamily="34" charset="-34"/>
                <a:cs typeface="Leelawadee" panose="020B0502040204020203" pitchFamily="34" charset="-34"/>
              </a:rPr>
              <a:t> </a:t>
            </a:r>
          </a:p>
          <a:p>
            <a:endParaRPr lang="en-IN" sz="1400" b="1" dirty="0" smtClean="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Result : </a:t>
            </a:r>
          </a:p>
          <a:p>
            <a:r>
              <a:rPr lang="en-IN" sz="1400" dirty="0">
                <a:solidFill>
                  <a:prstClr val="black"/>
                </a:solidFill>
                <a:latin typeface="Leelawadee" panose="020B0502040204020203" pitchFamily="34" charset="-34"/>
                <a:cs typeface="Leelawadee" panose="020B0502040204020203" pitchFamily="34" charset="-34"/>
              </a:rPr>
              <a:t>The visualization and the solution helps understand</a:t>
            </a:r>
          </a:p>
          <a:p>
            <a:pPr marL="285750" lvl="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Relative attractiveness </a:t>
            </a:r>
            <a:r>
              <a:rPr lang="en-IN" sz="1400" dirty="0">
                <a:solidFill>
                  <a:prstClr val="black"/>
                </a:solidFill>
                <a:latin typeface="Leelawadee" panose="020B0502040204020203" pitchFamily="34" charset="-34"/>
                <a:cs typeface="Leelawadee" panose="020B0502040204020203" pitchFamily="34" charset="-34"/>
              </a:rPr>
              <a:t>of planned store locations </a:t>
            </a:r>
          </a:p>
          <a:p>
            <a:pPr marL="285750" lvl="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Attractive locations as potential expansion opportunities</a:t>
            </a:r>
          </a:p>
        </p:txBody>
      </p:sp>
      <p:sp>
        <p:nvSpPr>
          <p:cNvPr id="87" name="Rounded Rectangle 86"/>
          <p:cNvSpPr/>
          <p:nvPr/>
        </p:nvSpPr>
        <p:spPr>
          <a:xfrm>
            <a:off x="4531542" y="1582100"/>
            <a:ext cx="7497964" cy="5088848"/>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Tree>
    <p:extLst>
      <p:ext uri="{BB962C8B-B14F-4D97-AF65-F5344CB8AC3E}">
        <p14:creationId xmlns:p14="http://schemas.microsoft.com/office/powerpoint/2010/main" val="34995086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p:cNvGrpSpPr/>
          <p:nvPr/>
        </p:nvGrpSpPr>
        <p:grpSpPr>
          <a:xfrm>
            <a:off x="1" y="267843"/>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9040" y="322556"/>
              <a:ext cx="10533974" cy="461665"/>
            </a:xfrm>
            <a:prstGeom prst="rect">
              <a:avLst/>
            </a:prstGeom>
            <a:solidFill>
              <a:schemeClr val="bg1"/>
            </a:solidFill>
          </p:spPr>
          <p:txBody>
            <a:bodyPr wrap="none" anchor="ctr">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Tata </a:t>
              </a:r>
              <a:r>
                <a:rPr lang="en-IN" sz="2400" b="1" dirty="0" err="1" smtClean="0">
                  <a:solidFill>
                    <a:srgbClr val="0070C0"/>
                  </a:solidFill>
                  <a:latin typeface="Leelawadee UI" panose="020B0502040204020203" pitchFamily="34" charset="-34"/>
                  <a:cs typeface="Leelawadee UI" panose="020B0502040204020203" pitchFamily="34" charset="-34"/>
                </a:rPr>
                <a:t>iQ</a:t>
              </a:r>
              <a:r>
                <a:rPr lang="en-IN" sz="2400" b="1" dirty="0" smtClean="0">
                  <a:solidFill>
                    <a:srgbClr val="0070C0"/>
                  </a:solidFill>
                  <a:latin typeface="Leelawadee UI" panose="020B0502040204020203" pitchFamily="34" charset="-34"/>
                  <a:cs typeface="Leelawadee UI" panose="020B0502040204020203" pitchFamily="34" charset="-34"/>
                </a:rPr>
                <a:t> Case Study 4 : </a:t>
              </a:r>
              <a:r>
                <a:rPr lang="en-IN" sz="2400" b="1" dirty="0">
                  <a:solidFill>
                    <a:schemeClr val="bg1">
                      <a:lumMod val="50000"/>
                    </a:schemeClr>
                  </a:solidFill>
                  <a:latin typeface="Leelawadee UI" panose="020B0502040204020203" pitchFamily="34" charset="-34"/>
                  <a:cs typeface="Leelawadee UI" panose="020B0502040204020203" pitchFamily="34" charset="-34"/>
                </a:rPr>
                <a:t>Financial Services - Business Loans Opportunities </a:t>
              </a:r>
            </a:p>
          </p:txBody>
        </p:sp>
      </p:grpSp>
      <p:grpSp>
        <p:nvGrpSpPr>
          <p:cNvPr id="2" name="Group 1"/>
          <p:cNvGrpSpPr/>
          <p:nvPr/>
        </p:nvGrpSpPr>
        <p:grpSpPr>
          <a:xfrm>
            <a:off x="0" y="855655"/>
            <a:ext cx="11941784" cy="479192"/>
            <a:chOff x="2275096" y="1046125"/>
            <a:chExt cx="9321573" cy="479192"/>
          </a:xfrm>
        </p:grpSpPr>
        <p:sp>
          <p:nvSpPr>
            <p:cNvPr id="68" name="Pentagon 67"/>
            <p:cNvSpPr/>
            <p:nvPr/>
          </p:nvSpPr>
          <p:spPr>
            <a:xfrm>
              <a:off x="4899023" y="1046125"/>
              <a:ext cx="6697646" cy="479192"/>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 Methodology</a:t>
              </a:r>
            </a:p>
          </p:txBody>
        </p:sp>
        <p:sp>
          <p:nvSpPr>
            <p:cNvPr id="69" name="Pentagon 68"/>
            <p:cNvSpPr/>
            <p:nvPr/>
          </p:nvSpPr>
          <p:spPr>
            <a:xfrm>
              <a:off x="2275096" y="1046125"/>
              <a:ext cx="3432377" cy="479192"/>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prstClr val="white"/>
                  </a:solidFill>
                  <a:latin typeface="Leelawadee UI" panose="020B0502040204020203" pitchFamily="34" charset="-34"/>
                  <a:cs typeface="Leelawadee UI" panose="020B0502040204020203" pitchFamily="34" charset="-34"/>
                </a:rPr>
                <a:t>Background </a:t>
              </a:r>
            </a:p>
          </p:txBody>
        </p:sp>
      </p:grpSp>
      <p:sp>
        <p:nvSpPr>
          <p:cNvPr id="16" name="Rectangle 15"/>
          <p:cNvSpPr/>
          <p:nvPr/>
        </p:nvSpPr>
        <p:spPr>
          <a:xfrm>
            <a:off x="11597485" y="855655"/>
            <a:ext cx="594515" cy="47919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b="1">
              <a:solidFill>
                <a:prstClr val="white"/>
              </a:solidFill>
              <a:latin typeface="Leelawadee UI" panose="020B0502040204020203" pitchFamily="34" charset="-34"/>
              <a:cs typeface="Leelawadee UI" panose="020B0502040204020203" pitchFamily="34" charset="-34"/>
            </a:endParaRPr>
          </a:p>
        </p:txBody>
      </p:sp>
      <p:sp>
        <p:nvSpPr>
          <p:cNvPr id="75" name="Rounded Rectangle 74"/>
          <p:cNvSpPr/>
          <p:nvPr/>
        </p:nvSpPr>
        <p:spPr>
          <a:xfrm>
            <a:off x="199817" y="1583374"/>
            <a:ext cx="3885595" cy="5073204"/>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76" name="Rectangle 75"/>
          <p:cNvSpPr/>
          <p:nvPr/>
        </p:nvSpPr>
        <p:spPr>
          <a:xfrm>
            <a:off x="416015" y="1762799"/>
            <a:ext cx="3667662" cy="4832092"/>
          </a:xfrm>
          <a:prstGeom prst="rect">
            <a:avLst/>
          </a:prstGeom>
        </p:spPr>
        <p:txBody>
          <a:bodyPr wrap="square">
            <a:spAutoFit/>
          </a:bodyPr>
          <a:lstStyle/>
          <a:p>
            <a:r>
              <a:rPr lang="en-IN" sz="1400" b="1" dirty="0">
                <a:solidFill>
                  <a:prstClr val="black"/>
                </a:solidFill>
                <a:latin typeface="Leelawadee" panose="020B0502040204020203" pitchFamily="34" charset="-34"/>
                <a:cs typeface="Leelawadee" panose="020B0502040204020203" pitchFamily="34" charset="-34"/>
              </a:rPr>
              <a:t>Objective</a:t>
            </a:r>
            <a:r>
              <a:rPr lang="en-IN" sz="1400" dirty="0">
                <a:solidFill>
                  <a:prstClr val="black"/>
                </a:solidFill>
                <a:latin typeface="Leelawadee" panose="020B0502040204020203" pitchFamily="34" charset="-34"/>
                <a:cs typeface="Leelawadee" panose="020B0502040204020203" pitchFamily="34" charset="-34"/>
              </a:rPr>
              <a:t>:</a:t>
            </a:r>
          </a:p>
          <a:p>
            <a:r>
              <a:rPr lang="en-IN" sz="1400" dirty="0">
                <a:solidFill>
                  <a:prstClr val="black"/>
                </a:solidFill>
                <a:latin typeface="Leelawadee" panose="020B0502040204020203" pitchFamily="34" charset="-34"/>
                <a:cs typeface="Leelawadee" panose="020B0502040204020203" pitchFamily="34" charset="-34"/>
              </a:rPr>
              <a:t>The leading Financial Services provider has a selective but national presence with respect to Business Loans</a:t>
            </a:r>
            <a:r>
              <a:rPr lang="en-IN" sz="1400" dirty="0" smtClean="0">
                <a:solidFill>
                  <a:prstClr val="black"/>
                </a:solidFill>
                <a:latin typeface="Leelawadee" panose="020B0502040204020203" pitchFamily="34" charset="-34"/>
                <a:cs typeface="Leelawadee" panose="020B0502040204020203" pitchFamily="34" charset="-34"/>
              </a:rPr>
              <a:t>.</a:t>
            </a:r>
          </a:p>
          <a:p>
            <a:endParaRPr lang="en-IN" sz="1400" dirty="0" smtClean="0">
              <a:solidFill>
                <a:prstClr val="black"/>
              </a:solidFill>
              <a:latin typeface="Leelawadee" panose="020B0502040204020203" pitchFamily="34" charset="-34"/>
              <a:cs typeface="Leelawadee" panose="020B0502040204020203" pitchFamily="34" charset="-34"/>
            </a:endParaRPr>
          </a:p>
          <a:p>
            <a:endParaRPr lang="en-IN" sz="1400" dirty="0">
              <a:solidFill>
                <a:prstClr val="black"/>
              </a:solidFill>
              <a:latin typeface="Leelawadee" panose="020B0502040204020203" pitchFamily="34" charset="-34"/>
              <a:cs typeface="Leelawadee" panose="020B0502040204020203" pitchFamily="34" charset="-34"/>
            </a:endParaRPr>
          </a:p>
          <a:p>
            <a:r>
              <a:rPr lang="en-IN" sz="1400" b="1" dirty="0" smtClean="0">
                <a:solidFill>
                  <a:prstClr val="black"/>
                </a:solidFill>
                <a:latin typeface="Leelawadee" panose="020B0502040204020203" pitchFamily="34" charset="-34"/>
                <a:cs typeface="Leelawadee" panose="020B0502040204020203" pitchFamily="34" charset="-34"/>
              </a:rPr>
              <a:t>Solution</a:t>
            </a:r>
            <a:r>
              <a:rPr lang="en-IN" sz="1400" b="1" dirty="0">
                <a:solidFill>
                  <a:prstClr val="black"/>
                </a:solidFill>
                <a:latin typeface="Leelawadee" panose="020B0502040204020203" pitchFamily="34" charset="-34"/>
                <a:cs typeface="Leelawadee" panose="020B0502040204020203" pitchFamily="34" charset="-34"/>
              </a:rPr>
              <a:t>:</a:t>
            </a:r>
          </a:p>
          <a:p>
            <a:r>
              <a:rPr lang="en-IN" sz="1400" dirty="0" smtClean="0">
                <a:solidFill>
                  <a:prstClr val="black"/>
                </a:solidFill>
                <a:latin typeface="Leelawadee" panose="020B0502040204020203" pitchFamily="34" charset="-34"/>
                <a:cs typeface="Leelawadee" panose="020B0502040204020203" pitchFamily="34" charset="-34"/>
              </a:rPr>
              <a:t>Tableau visualization </a:t>
            </a:r>
            <a:r>
              <a:rPr lang="en-IN" sz="1400" dirty="0">
                <a:solidFill>
                  <a:prstClr val="black"/>
                </a:solidFill>
                <a:latin typeface="Leelawadee" panose="020B0502040204020203" pitchFamily="34" charset="-34"/>
                <a:cs typeface="Leelawadee" panose="020B0502040204020203" pitchFamily="34" charset="-34"/>
              </a:rPr>
              <a:t>to highlight :</a:t>
            </a:r>
          </a:p>
          <a:p>
            <a:pPr marL="285750" lvl="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The most attractive locations for business loans</a:t>
            </a:r>
          </a:p>
          <a:p>
            <a:pPr marL="285750" lvl="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Market </a:t>
            </a:r>
            <a:r>
              <a:rPr lang="en-IN" sz="1400" dirty="0">
                <a:solidFill>
                  <a:prstClr val="black"/>
                </a:solidFill>
                <a:latin typeface="Leelawadee" panose="020B0502040204020203" pitchFamily="34" charset="-34"/>
                <a:cs typeface="Leelawadee" panose="020B0502040204020203" pitchFamily="34" charset="-34"/>
              </a:rPr>
              <a:t>share in attractive and relatively less attractive locations</a:t>
            </a:r>
          </a:p>
          <a:p>
            <a:pPr marL="285750" lvl="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Sales </a:t>
            </a:r>
            <a:r>
              <a:rPr lang="en-IN" sz="1400" dirty="0">
                <a:solidFill>
                  <a:prstClr val="black"/>
                </a:solidFill>
                <a:latin typeface="Leelawadee" panose="020B0502040204020203" pitchFamily="34" charset="-34"/>
                <a:cs typeface="Leelawadee" panose="020B0502040204020203" pitchFamily="34" charset="-34"/>
              </a:rPr>
              <a:t>presence vis a vis location attractiveness and market share</a:t>
            </a:r>
          </a:p>
          <a:p>
            <a:endParaRPr lang="en-IN" sz="1400" dirty="0" smtClean="0">
              <a:solidFill>
                <a:prstClr val="black"/>
              </a:solidFill>
              <a:latin typeface="Leelawadee" panose="020B0502040204020203" pitchFamily="34" charset="-34"/>
              <a:cs typeface="Leelawadee" panose="020B0502040204020203" pitchFamily="34" charset="-34"/>
            </a:endParaRPr>
          </a:p>
          <a:p>
            <a:r>
              <a:rPr lang="en-IN" sz="1400" dirty="0" smtClean="0">
                <a:solidFill>
                  <a:prstClr val="black"/>
                </a:solidFill>
                <a:latin typeface="Leelawadee" panose="020B0502040204020203" pitchFamily="34" charset="-34"/>
                <a:cs typeface="Leelawadee" panose="020B0502040204020203" pitchFamily="34" charset="-34"/>
              </a:rPr>
              <a:t> </a:t>
            </a:r>
          </a:p>
          <a:p>
            <a:r>
              <a:rPr lang="en-IN" sz="1400" b="1" dirty="0" smtClean="0">
                <a:solidFill>
                  <a:prstClr val="black"/>
                </a:solidFill>
                <a:latin typeface="Leelawadee" panose="020B0502040204020203" pitchFamily="34" charset="-34"/>
                <a:cs typeface="Leelawadee" panose="020B0502040204020203" pitchFamily="34" charset="-34"/>
              </a:rPr>
              <a:t>Result : </a:t>
            </a:r>
          </a:p>
          <a:p>
            <a:r>
              <a:rPr lang="en-IN" sz="1400" dirty="0" smtClean="0">
                <a:solidFill>
                  <a:prstClr val="black"/>
                </a:solidFill>
                <a:latin typeface="Leelawadee" panose="020B0502040204020203" pitchFamily="34" charset="-34"/>
                <a:cs typeface="Leelawadee" panose="020B0502040204020203" pitchFamily="34" charset="-34"/>
              </a:rPr>
              <a:t>The </a:t>
            </a:r>
            <a:r>
              <a:rPr lang="en-IN" sz="1400" dirty="0">
                <a:solidFill>
                  <a:prstClr val="black"/>
                </a:solidFill>
                <a:latin typeface="Leelawadee" panose="020B0502040204020203" pitchFamily="34" charset="-34"/>
                <a:cs typeface="Leelawadee" panose="020B0502040204020203" pitchFamily="34" charset="-34"/>
              </a:rPr>
              <a:t>visualization helps </a:t>
            </a:r>
            <a:r>
              <a:rPr lang="en-IN" sz="1400" dirty="0" smtClean="0">
                <a:solidFill>
                  <a:prstClr val="black"/>
                </a:solidFill>
                <a:latin typeface="Leelawadee" panose="020B0502040204020203" pitchFamily="34" charset="-34"/>
                <a:cs typeface="Leelawadee" panose="020B0502040204020203" pitchFamily="34" charset="-34"/>
              </a:rPr>
              <a:t>client to analyse :</a:t>
            </a:r>
          </a:p>
          <a:p>
            <a:pPr marL="285750" indent="-285750">
              <a:buFont typeface="Arial" panose="020B0604020202020204" pitchFamily="34" charset="0"/>
              <a:buChar char="•"/>
            </a:pPr>
            <a:r>
              <a:rPr lang="en-IN" sz="1400" dirty="0" smtClean="0">
                <a:solidFill>
                  <a:prstClr val="black"/>
                </a:solidFill>
                <a:latin typeface="Leelawadee" panose="020B0502040204020203" pitchFamily="34" charset="-34"/>
                <a:cs typeface="Leelawadee" panose="020B0502040204020203" pitchFamily="34" charset="-34"/>
              </a:rPr>
              <a:t>Market share in high attractive locations </a:t>
            </a:r>
            <a:endParaRPr lang="en-IN" sz="1400" dirty="0">
              <a:solidFill>
                <a:prstClr val="black"/>
              </a:solidFill>
              <a:latin typeface="Leelawadee" panose="020B0502040204020203" pitchFamily="34" charset="-34"/>
              <a:cs typeface="Leelawadee" panose="020B0502040204020203" pitchFamily="34" charset="-34"/>
            </a:endParaRPr>
          </a:p>
          <a:p>
            <a:pPr marL="285750" lvl="0" indent="-285750">
              <a:buFont typeface="Arial" panose="020B0604020202020204" pitchFamily="34" charset="0"/>
              <a:buChar char="•"/>
            </a:pPr>
            <a:r>
              <a:rPr lang="en-IN" sz="1400" dirty="0">
                <a:solidFill>
                  <a:prstClr val="black"/>
                </a:solidFill>
                <a:latin typeface="Leelawadee" panose="020B0502040204020203" pitchFamily="34" charset="-34"/>
                <a:cs typeface="Leelawadee" panose="020B0502040204020203" pitchFamily="34" charset="-34"/>
              </a:rPr>
              <a:t>The locations with low market share which might be driven by low DSA presence</a:t>
            </a:r>
          </a:p>
        </p:txBody>
      </p:sp>
      <p:sp>
        <p:nvSpPr>
          <p:cNvPr id="87" name="Rounded Rectangle 86"/>
          <p:cNvSpPr/>
          <p:nvPr/>
        </p:nvSpPr>
        <p:spPr>
          <a:xfrm>
            <a:off x="4531542" y="1582100"/>
            <a:ext cx="7497964" cy="5088848"/>
          </a:xfrm>
          <a:prstGeom prst="roundRect">
            <a:avLst/>
          </a:prstGeom>
          <a:noFill/>
          <a:ln>
            <a:solidFill>
              <a:schemeClr val="tx1">
                <a:lumMod val="95000"/>
                <a:lumOff val="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grpSp>
        <p:nvGrpSpPr>
          <p:cNvPr id="66" name="Group 65"/>
          <p:cNvGrpSpPr/>
          <p:nvPr/>
        </p:nvGrpSpPr>
        <p:grpSpPr>
          <a:xfrm>
            <a:off x="4860530" y="2541494"/>
            <a:ext cx="3761715" cy="3803707"/>
            <a:chOff x="489866" y="1842053"/>
            <a:chExt cx="3855029" cy="3984718"/>
          </a:xfrm>
        </p:grpSpPr>
        <p:pic>
          <p:nvPicPr>
            <p:cNvPr id="67" name="Picture 66"/>
            <p:cNvPicPr>
              <a:picLocks noChangeAspect="1"/>
            </p:cNvPicPr>
            <p:nvPr/>
          </p:nvPicPr>
          <p:blipFill>
            <a:blip r:embed="rId2"/>
            <a:stretch>
              <a:fillRect/>
            </a:stretch>
          </p:blipFill>
          <p:spPr>
            <a:xfrm>
              <a:off x="489866" y="1842053"/>
              <a:ext cx="3855029" cy="3984718"/>
            </a:xfrm>
            <a:prstGeom prst="rect">
              <a:avLst/>
            </a:prstGeom>
            <a:ln>
              <a:noFill/>
            </a:ln>
            <a:effectLst>
              <a:outerShdw blurRad="292100" dist="139700" dir="2700000" algn="tl" rotWithShape="0">
                <a:srgbClr val="333333">
                  <a:alpha val="65000"/>
                </a:srgbClr>
              </a:outerShdw>
            </a:effectLst>
          </p:spPr>
        </p:pic>
        <p:pic>
          <p:nvPicPr>
            <p:cNvPr id="70" name="Picture 69"/>
            <p:cNvPicPr>
              <a:picLocks noChangeAspect="1"/>
            </p:cNvPicPr>
            <p:nvPr/>
          </p:nvPicPr>
          <p:blipFill>
            <a:blip r:embed="rId3"/>
            <a:stretch>
              <a:fillRect/>
            </a:stretch>
          </p:blipFill>
          <p:spPr>
            <a:xfrm>
              <a:off x="2841644" y="1842053"/>
              <a:ext cx="1503251" cy="1092938"/>
            </a:xfrm>
            <a:prstGeom prst="rect">
              <a:avLst/>
            </a:prstGeom>
            <a:ln>
              <a:noFill/>
            </a:ln>
            <a:effectLst>
              <a:outerShdw blurRad="292100" dist="139700" dir="2700000" algn="tl" rotWithShape="0">
                <a:srgbClr val="333333">
                  <a:alpha val="65000"/>
                </a:srgbClr>
              </a:outerShdw>
            </a:effectLst>
          </p:spPr>
        </p:pic>
      </p:grpSp>
      <p:pic>
        <p:nvPicPr>
          <p:cNvPr id="3" name="Picture 2"/>
          <p:cNvPicPr>
            <a:picLocks noChangeAspect="1"/>
          </p:cNvPicPr>
          <p:nvPr/>
        </p:nvPicPr>
        <p:blipFill>
          <a:blip r:embed="rId4"/>
          <a:stretch>
            <a:fillRect/>
          </a:stretch>
        </p:blipFill>
        <p:spPr>
          <a:xfrm>
            <a:off x="9068374" y="2251244"/>
            <a:ext cx="1491892" cy="1199730"/>
          </a:xfrm>
          <a:prstGeom prst="rect">
            <a:avLst/>
          </a:prstGeom>
          <a:ln>
            <a:noFill/>
          </a:ln>
          <a:effectLst>
            <a:outerShdw blurRad="292100" dist="139700" dir="2700000" algn="tl" rotWithShape="0">
              <a:srgbClr val="333333">
                <a:alpha val="65000"/>
              </a:srgbClr>
            </a:outerShdw>
          </a:effectLst>
        </p:spPr>
      </p:pic>
      <p:pic>
        <p:nvPicPr>
          <p:cNvPr id="4" name="Picture 3"/>
          <p:cNvPicPr>
            <a:picLocks noChangeAspect="1"/>
          </p:cNvPicPr>
          <p:nvPr/>
        </p:nvPicPr>
        <p:blipFill>
          <a:blip r:embed="rId5"/>
          <a:stretch>
            <a:fillRect/>
          </a:stretch>
        </p:blipFill>
        <p:spPr>
          <a:xfrm>
            <a:off x="9106789" y="3797454"/>
            <a:ext cx="1415063" cy="1146689"/>
          </a:xfrm>
          <a:prstGeom prst="rect">
            <a:avLst/>
          </a:prstGeom>
          <a:ln>
            <a:noFill/>
          </a:ln>
          <a:effectLst>
            <a:outerShdw blurRad="292100" dist="139700" dir="2700000" algn="tl" rotWithShape="0">
              <a:srgbClr val="333333">
                <a:alpha val="65000"/>
              </a:srgbClr>
            </a:outerShdw>
          </a:effectLst>
        </p:spPr>
      </p:pic>
      <p:pic>
        <p:nvPicPr>
          <p:cNvPr id="6" name="Picture 5"/>
          <p:cNvPicPr>
            <a:picLocks noChangeAspect="1"/>
          </p:cNvPicPr>
          <p:nvPr/>
        </p:nvPicPr>
        <p:blipFill>
          <a:blip r:embed="rId6"/>
          <a:stretch>
            <a:fillRect/>
          </a:stretch>
        </p:blipFill>
        <p:spPr>
          <a:xfrm>
            <a:off x="9106789" y="5170964"/>
            <a:ext cx="1427851" cy="1153504"/>
          </a:xfrm>
          <a:prstGeom prst="rect">
            <a:avLst/>
          </a:prstGeom>
          <a:ln>
            <a:noFill/>
          </a:ln>
          <a:effectLst>
            <a:outerShdw blurRad="292100" dist="139700" dir="2700000" algn="tl" rotWithShape="0">
              <a:srgbClr val="333333">
                <a:alpha val="65000"/>
              </a:srgbClr>
            </a:outerShdw>
          </a:effectLst>
        </p:spPr>
      </p:pic>
      <p:sp>
        <p:nvSpPr>
          <p:cNvPr id="72" name="Rectangle 71"/>
          <p:cNvSpPr/>
          <p:nvPr/>
        </p:nvSpPr>
        <p:spPr>
          <a:xfrm>
            <a:off x="10590165" y="2675038"/>
            <a:ext cx="1419932" cy="461665"/>
          </a:xfrm>
          <a:prstGeom prst="rect">
            <a:avLst/>
          </a:prstGeom>
          <a:noFill/>
        </p:spPr>
        <p:txBody>
          <a:bodyPr wrap="square">
            <a:spAutoFit/>
          </a:bodyPr>
          <a:lstStyle/>
          <a:p>
            <a:pPr algn="ctr" defTabSz="457200"/>
            <a:r>
              <a:rPr lang="en-US" sz="1200" kern="0" dirty="0" smtClean="0">
                <a:solidFill>
                  <a:prstClr val="black">
                    <a:lumMod val="75000"/>
                    <a:lumOff val="25000"/>
                  </a:prstClr>
                </a:solidFill>
                <a:latin typeface="Leelawadee" panose="020B0502040204020203" pitchFamily="34" charset="-34"/>
                <a:cs typeface="Leelawadee" panose="020B0502040204020203" pitchFamily="34" charset="-34"/>
              </a:rPr>
              <a:t>Business Loans Attractiveness</a:t>
            </a:r>
            <a:endParaRPr lang="en-US" sz="12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73" name="Rectangle 72"/>
          <p:cNvSpPr/>
          <p:nvPr/>
        </p:nvSpPr>
        <p:spPr>
          <a:xfrm>
            <a:off x="10086213" y="4309199"/>
            <a:ext cx="2427837" cy="276999"/>
          </a:xfrm>
          <a:prstGeom prst="rect">
            <a:avLst/>
          </a:prstGeom>
          <a:noFill/>
        </p:spPr>
        <p:txBody>
          <a:bodyPr wrap="square">
            <a:spAutoFit/>
          </a:bodyPr>
          <a:lstStyle/>
          <a:p>
            <a:pPr algn="ctr" defTabSz="457200"/>
            <a:r>
              <a:rPr lang="en-US" sz="1200" kern="0" dirty="0" smtClean="0">
                <a:solidFill>
                  <a:prstClr val="black">
                    <a:lumMod val="75000"/>
                    <a:lumOff val="25000"/>
                  </a:prstClr>
                </a:solidFill>
                <a:latin typeface="Leelawadee" panose="020B0502040204020203" pitchFamily="34" charset="-34"/>
                <a:cs typeface="Leelawadee" panose="020B0502040204020203" pitchFamily="34" charset="-34"/>
              </a:rPr>
              <a:t>Market Share</a:t>
            </a:r>
            <a:endParaRPr lang="en-US" sz="12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74" name="Rectangle 73"/>
          <p:cNvSpPr/>
          <p:nvPr/>
        </p:nvSpPr>
        <p:spPr>
          <a:xfrm>
            <a:off x="10122616" y="5609216"/>
            <a:ext cx="2427837" cy="276999"/>
          </a:xfrm>
          <a:prstGeom prst="rect">
            <a:avLst/>
          </a:prstGeom>
          <a:noFill/>
        </p:spPr>
        <p:txBody>
          <a:bodyPr wrap="square">
            <a:spAutoFit/>
          </a:bodyPr>
          <a:lstStyle/>
          <a:p>
            <a:pPr algn="ctr" defTabSz="457200"/>
            <a:r>
              <a:rPr lang="en-US" sz="1200" kern="0" dirty="0" smtClean="0">
                <a:solidFill>
                  <a:prstClr val="black">
                    <a:lumMod val="75000"/>
                    <a:lumOff val="25000"/>
                  </a:prstClr>
                </a:solidFill>
                <a:latin typeface="Leelawadee" panose="020B0502040204020203" pitchFamily="34" charset="-34"/>
                <a:cs typeface="Leelawadee" panose="020B0502040204020203" pitchFamily="34" charset="-34"/>
              </a:rPr>
              <a:t>DSA Presence</a:t>
            </a:r>
            <a:endParaRPr lang="en-US" sz="12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7" name="Rectangle 6"/>
          <p:cNvSpPr/>
          <p:nvPr/>
        </p:nvSpPr>
        <p:spPr>
          <a:xfrm>
            <a:off x="5028417" y="2061858"/>
            <a:ext cx="3425939" cy="307777"/>
          </a:xfrm>
          <a:prstGeom prst="rect">
            <a:avLst/>
          </a:prstGeom>
        </p:spPr>
        <p:txBody>
          <a:bodyPr wrap="none">
            <a:spAutoFit/>
          </a:bodyPr>
          <a:lstStyle/>
          <a:p>
            <a:pPr algn="ctr" defTabSz="457200"/>
            <a:r>
              <a:rPr lang="en-US" sz="1400" kern="0" dirty="0">
                <a:solidFill>
                  <a:prstClr val="black">
                    <a:lumMod val="75000"/>
                    <a:lumOff val="25000"/>
                  </a:prstClr>
                </a:solidFill>
                <a:latin typeface="Leelawadee" panose="020B0502040204020203" pitchFamily="34" charset="-34"/>
                <a:cs typeface="Leelawadee" panose="020B0502040204020203" pitchFamily="34" charset="-34"/>
              </a:rPr>
              <a:t>District Level Classification by </a:t>
            </a:r>
            <a:r>
              <a:rPr lang="en-US" sz="1400" kern="0" dirty="0" smtClean="0">
                <a:solidFill>
                  <a:prstClr val="black">
                    <a:lumMod val="75000"/>
                    <a:lumOff val="25000"/>
                  </a:prstClr>
                </a:solidFill>
                <a:latin typeface="Leelawadee" panose="020B0502040204020203" pitchFamily="34" charset="-34"/>
                <a:cs typeface="Leelawadee" panose="020B0502040204020203" pitchFamily="34" charset="-34"/>
              </a:rPr>
              <a:t>Dimension</a:t>
            </a:r>
            <a:endParaRPr lang="en-US" sz="1400" kern="0" dirty="0">
              <a:solidFill>
                <a:prstClr val="black">
                  <a:lumMod val="75000"/>
                  <a:lumOff val="25000"/>
                </a:prstClr>
              </a:solidFill>
              <a:latin typeface="Leelawadee" panose="020B0502040204020203" pitchFamily="34" charset="-34"/>
              <a:cs typeface="Leelawadee" panose="020B0502040204020203" pitchFamily="34" charset="-34"/>
            </a:endParaRPr>
          </a:p>
        </p:txBody>
      </p:sp>
      <p:sp>
        <p:nvSpPr>
          <p:cNvPr id="82" name="TextBox 81"/>
          <p:cNvSpPr txBox="1"/>
          <p:nvPr/>
        </p:nvSpPr>
        <p:spPr bwMode="gray">
          <a:xfrm>
            <a:off x="6630225" y="1606235"/>
            <a:ext cx="3394051" cy="307777"/>
          </a:xfrm>
          <a:prstGeom prst="rect">
            <a:avLst/>
          </a:prstGeom>
          <a:noFill/>
          <a:ln>
            <a:noFill/>
            <a:prstDash val="dash"/>
          </a:ln>
        </p:spPr>
        <p:txBody>
          <a:bodyPr wrap="square">
            <a:spAutoFit/>
          </a:bodyPr>
          <a:lstStyle>
            <a:defPPr>
              <a:defRPr lang="en-US"/>
            </a:defPPr>
            <a:lvl1pPr>
              <a:defRPr sz="1200">
                <a:solidFill>
                  <a:prstClr val="black"/>
                </a:solidFill>
                <a:latin typeface="Century" panose="02040604050505020304" pitchFamily="18" charset="0"/>
              </a:defRPr>
            </a:lvl1pPr>
          </a:lstStyle>
          <a:p>
            <a:pPr algn="ctr"/>
            <a:r>
              <a:rPr lang="en-IN" sz="1400" b="1" dirty="0" smtClean="0">
                <a:latin typeface="Century Gothic" panose="020B0502020202020204" pitchFamily="34" charset="0"/>
              </a:rPr>
              <a:t>Business Loan Opportunity</a:t>
            </a:r>
            <a:endParaRPr lang="en-IN" sz="1400" b="1" dirty="0">
              <a:latin typeface="Century Gothic" panose="020B0502020202020204" pitchFamily="34" charset="0"/>
            </a:endParaRPr>
          </a:p>
        </p:txBody>
      </p:sp>
    </p:spTree>
    <p:extLst>
      <p:ext uri="{BB962C8B-B14F-4D97-AF65-F5344CB8AC3E}">
        <p14:creationId xmlns:p14="http://schemas.microsoft.com/office/powerpoint/2010/main" val="379859801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flipH="1">
            <a:off x="0" y="0"/>
            <a:ext cx="12192000" cy="6858000"/>
          </a:xfrm>
          <a:prstGeom prst="rect">
            <a:avLst/>
          </a:prstGeom>
        </p:spPr>
      </p:pic>
      <p:grpSp>
        <p:nvGrpSpPr>
          <p:cNvPr id="6" name="Group 5"/>
          <p:cNvGrpSpPr/>
          <p:nvPr/>
        </p:nvGrpSpPr>
        <p:grpSpPr>
          <a:xfrm>
            <a:off x="0" y="5341203"/>
            <a:ext cx="12192001" cy="830997"/>
            <a:chOff x="0" y="2598003"/>
            <a:chExt cx="12192001" cy="830997"/>
          </a:xfrm>
        </p:grpSpPr>
        <p:sp>
          <p:nvSpPr>
            <p:cNvPr id="8" name="Rectangle 7"/>
            <p:cNvSpPr/>
            <p:nvPr/>
          </p:nvSpPr>
          <p:spPr>
            <a:xfrm>
              <a:off x="4496459" y="2598003"/>
              <a:ext cx="3199082" cy="830997"/>
            </a:xfrm>
            <a:prstGeom prst="rect">
              <a:avLst/>
            </a:prstGeom>
          </p:spPr>
          <p:txBody>
            <a:bodyPr wrap="none">
              <a:spAutoFit/>
            </a:bodyPr>
            <a:lstStyle/>
            <a:p>
              <a:pPr algn="ctr"/>
              <a:r>
                <a:rPr lang="en-US" sz="4800" b="1" dirty="0" smtClean="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rPr>
                <a:t>Thank You</a:t>
              </a:r>
              <a:endParaRPr lang="en-US" sz="4800" b="1" dirty="0">
                <a:solidFill>
                  <a:schemeClr val="bg1"/>
                </a:solidFill>
                <a:effectLst>
                  <a:outerShdw blurRad="38100" dist="38100" dir="2700000" algn="tl">
                    <a:srgbClr val="000000">
                      <a:alpha val="43137"/>
                    </a:srgbClr>
                  </a:outerShdw>
                </a:effectLst>
                <a:latin typeface="Leelawadee UI" panose="020B0502040204020203" pitchFamily="34" charset="-34"/>
                <a:cs typeface="Leelawadee UI" panose="020B0502040204020203" pitchFamily="34" charset="-34"/>
              </a:endParaRPr>
            </a:p>
          </p:txBody>
        </p:sp>
        <p:cxnSp>
          <p:nvCxnSpPr>
            <p:cNvPr id="9" name="Straight Connector 8"/>
            <p:cNvCxnSpPr/>
            <p:nvPr/>
          </p:nvCxnSpPr>
          <p:spPr>
            <a:xfrm>
              <a:off x="780288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0" y="3014443"/>
              <a:ext cx="438912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63798940"/>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pikWV5Nz1USE7H82Y_O7i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TQQTwg5kky6XP36LMEB6A"/>
</p:tagLst>
</file>

<file path=ppt/theme/theme1.xml><?xml version="1.0" encoding="utf-8"?>
<a:theme xmlns:a="http://schemas.openxmlformats.org/drawingml/2006/main" name="Office Them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3092</TotalTime>
  <Words>1800</Words>
  <Application>Microsoft Office PowerPoint</Application>
  <PresentationFormat>Widescreen</PresentationFormat>
  <Paragraphs>391</Paragraphs>
  <Slides>25</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Calibri Light</vt:lpstr>
      <vt:lpstr>Century Gothic</vt:lpstr>
      <vt:lpstr>Courier New</vt:lpstr>
      <vt:lpstr>Leelawadee</vt:lpstr>
      <vt:lpstr>Leelawadee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Rahul Mantri</cp:lastModifiedBy>
  <cp:revision>419</cp:revision>
  <dcterms:created xsi:type="dcterms:W3CDTF">2016-01-28T03:55:22Z</dcterms:created>
  <dcterms:modified xsi:type="dcterms:W3CDTF">2016-06-29T13:12:52Z</dcterms:modified>
</cp:coreProperties>
</file>
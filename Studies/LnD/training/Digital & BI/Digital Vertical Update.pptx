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88" r:id="rId2"/>
    <p:sldId id="289" r:id="rId3"/>
    <p:sldId id="302" r:id="rId4"/>
    <p:sldId id="307" r:id="rId5"/>
    <p:sldId id="293" r:id="rId6"/>
    <p:sldId id="305" r:id="rId7"/>
    <p:sldId id="306" r:id="rId8"/>
    <p:sldId id="296" r:id="rId9"/>
    <p:sldId id="304" r:id="rId10"/>
    <p:sldId id="297" r:id="rId11"/>
    <p:sldId id="287" r:id="rId12"/>
    <p:sldId id="308" r:id="rId13"/>
    <p:sldId id="309" r:id="rId14"/>
    <p:sldId id="310" r:id="rId15"/>
    <p:sldId id="281" r:id="rId16"/>
    <p:sldId id="283" r:id="rId17"/>
    <p:sldId id="28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1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BF0886-10BA-4730-AE57-446E017AE1AE}" type="doc">
      <dgm:prSet loTypeId="urn:microsoft.com/office/officeart/2005/8/layout/hList3" loCatId="list" qsTypeId="urn:microsoft.com/office/officeart/2005/8/quickstyle/simple1" qsCatId="simple" csTypeId="urn:microsoft.com/office/officeart/2005/8/colors/accent1_2" csCatId="accent1" phldr="1"/>
      <dgm:spPr/>
      <dgm:t>
        <a:bodyPr/>
        <a:lstStyle/>
        <a:p>
          <a:endParaRPr lang="en-IN"/>
        </a:p>
      </dgm:t>
    </dgm:pt>
    <dgm:pt modelId="{61BF3EBA-6D94-4005-909D-21CB97222E04}">
      <dgm:prSet phldrT="[Text]" custT="1"/>
      <dgm:spPr>
        <a:xfrm>
          <a:off x="0" y="0"/>
          <a:ext cx="4408840" cy="546607"/>
        </a:xfrm>
        <a:solidFill>
          <a:srgbClr val="0E5580">
            <a:lumMod val="75000"/>
          </a:srgbClr>
        </a:solidFill>
        <a:ln>
          <a:noFill/>
        </a:ln>
        <a:effectLst/>
      </dgm:spPr>
      <dgm:t>
        <a:bodyPr/>
        <a:lstStyle/>
        <a:p>
          <a:r>
            <a:rPr lang="en-IN" sz="1200" dirty="0" smtClean="0">
              <a:solidFill>
                <a:sysClr val="window" lastClr="FFFFFF">
                  <a:hueOff val="0"/>
                  <a:satOff val="0"/>
                  <a:lumOff val="0"/>
                  <a:alphaOff val="0"/>
                </a:sysClr>
              </a:solidFill>
              <a:latin typeface="Century Gothic"/>
              <a:ea typeface="+mn-ea"/>
              <a:cs typeface="+mn-cs"/>
            </a:rPr>
            <a:t>Probability of Store Visit from Catchment</a:t>
          </a:r>
          <a:endParaRPr lang="en-IN" sz="1200" dirty="0">
            <a:solidFill>
              <a:sysClr val="window" lastClr="FFFFFF">
                <a:hueOff val="0"/>
                <a:satOff val="0"/>
                <a:lumOff val="0"/>
                <a:alphaOff val="0"/>
              </a:sysClr>
            </a:solidFill>
            <a:latin typeface="Century Gothic"/>
            <a:ea typeface="+mn-ea"/>
            <a:cs typeface="+mn-cs"/>
          </a:endParaRPr>
        </a:p>
      </dgm:t>
    </dgm:pt>
    <dgm:pt modelId="{E03B0D14-4DD5-4270-9E34-C56D06C948FD}" type="parTrans" cxnId="{2D2A3C5F-B4B2-4955-A833-4D2246648B0B}">
      <dgm:prSet/>
      <dgm:spPr/>
      <dgm:t>
        <a:bodyPr/>
        <a:lstStyle/>
        <a:p>
          <a:endParaRPr lang="en-IN" sz="1400"/>
        </a:p>
      </dgm:t>
    </dgm:pt>
    <dgm:pt modelId="{BB018256-2ED3-431A-BC32-43C7DA72697C}" type="sibTrans" cxnId="{2D2A3C5F-B4B2-4955-A833-4D2246648B0B}">
      <dgm:prSet/>
      <dgm:spPr/>
      <dgm:t>
        <a:bodyPr/>
        <a:lstStyle/>
        <a:p>
          <a:endParaRPr lang="en-IN" sz="1400"/>
        </a:p>
      </dgm:t>
    </dgm:pt>
    <dgm:pt modelId="{D5F0860C-4C53-4A7C-9D58-355CD702093A}">
      <dgm:prSet phldrT="[Text]" custT="1"/>
      <dgm:spPr>
        <a:xfrm>
          <a:off x="2204420" y="546607"/>
          <a:ext cx="2204420" cy="1147876"/>
        </a:xfrm>
        <a:solidFill>
          <a:srgbClr val="0E5580">
            <a:lumMod val="20000"/>
            <a:lumOff val="80000"/>
          </a:srgbClr>
        </a:solidFill>
        <a:ln w="19050" cap="rnd" cmpd="sng" algn="ctr">
          <a:solidFill>
            <a:sysClr val="window" lastClr="FFFFFF">
              <a:hueOff val="0"/>
              <a:satOff val="0"/>
              <a:lumOff val="0"/>
              <a:alphaOff val="0"/>
            </a:sysClr>
          </a:solidFill>
          <a:prstDash val="solid"/>
        </a:ln>
        <a:effectLst/>
      </dgm:spPr>
      <dgm:t>
        <a:bodyPr/>
        <a:lstStyle/>
        <a:p>
          <a:r>
            <a:rPr lang="en-IN" sz="1000" dirty="0" smtClean="0">
              <a:solidFill>
                <a:sysClr val="windowText" lastClr="000000"/>
              </a:solidFill>
              <a:latin typeface="Century Gothic"/>
              <a:ea typeface="+mn-ea"/>
              <a:cs typeface="+mn-cs"/>
            </a:rPr>
            <a:t>Store/Competitor Distance</a:t>
          </a:r>
        </a:p>
        <a:p>
          <a:r>
            <a:rPr lang="en-IN" sz="1000" i="1" dirty="0" smtClean="0">
              <a:solidFill>
                <a:sysClr val="windowText" lastClr="000000"/>
              </a:solidFill>
              <a:latin typeface="Century Gothic"/>
              <a:ea typeface="+mn-ea"/>
              <a:cs typeface="+mn-cs"/>
            </a:rPr>
            <a:t>Driving Distance to Store/Competitor PIN</a:t>
          </a:r>
          <a:endParaRPr lang="en-IN" sz="1000" dirty="0">
            <a:solidFill>
              <a:sysClr val="windowText" lastClr="000000"/>
            </a:solidFill>
            <a:latin typeface="Century Gothic"/>
            <a:ea typeface="+mn-ea"/>
            <a:cs typeface="+mn-cs"/>
          </a:endParaRPr>
        </a:p>
      </dgm:t>
    </dgm:pt>
    <dgm:pt modelId="{771E23D3-A4DC-4522-BA04-4582388650CF}" type="parTrans" cxnId="{BF421254-E8C9-441A-B512-802079B7F957}">
      <dgm:prSet/>
      <dgm:spPr/>
      <dgm:t>
        <a:bodyPr/>
        <a:lstStyle/>
        <a:p>
          <a:endParaRPr lang="en-IN" sz="1400"/>
        </a:p>
      </dgm:t>
    </dgm:pt>
    <dgm:pt modelId="{ED14F401-7F5A-41D3-98E0-21B0EF16F42D}" type="sibTrans" cxnId="{BF421254-E8C9-441A-B512-802079B7F957}">
      <dgm:prSet/>
      <dgm:spPr/>
      <dgm:t>
        <a:bodyPr/>
        <a:lstStyle/>
        <a:p>
          <a:endParaRPr lang="en-IN" sz="1400"/>
        </a:p>
      </dgm:t>
    </dgm:pt>
    <dgm:pt modelId="{7D7371AF-495B-49A1-B4D9-34BCF5EDB1FC}" type="pres">
      <dgm:prSet presAssocID="{E7BF0886-10BA-4730-AE57-446E017AE1AE}" presName="composite" presStyleCnt="0">
        <dgm:presLayoutVars>
          <dgm:chMax val="1"/>
          <dgm:dir/>
          <dgm:resizeHandles val="exact"/>
        </dgm:presLayoutVars>
      </dgm:prSet>
      <dgm:spPr/>
      <dgm:t>
        <a:bodyPr/>
        <a:lstStyle/>
        <a:p>
          <a:endParaRPr lang="en-IN"/>
        </a:p>
      </dgm:t>
    </dgm:pt>
    <dgm:pt modelId="{DD0447C8-CDC5-4CEA-90D2-B0A6F961FBE6}" type="pres">
      <dgm:prSet presAssocID="{61BF3EBA-6D94-4005-909D-21CB97222E04}" presName="roof" presStyleLbl="dkBgShp" presStyleIdx="0" presStyleCnt="2" custLinFactY="-149740" custLinFactNeighborX="67027" custLinFactNeighborY="-200000"/>
      <dgm:spPr>
        <a:prstGeom prst="rect">
          <a:avLst/>
        </a:prstGeom>
      </dgm:spPr>
      <dgm:t>
        <a:bodyPr/>
        <a:lstStyle/>
        <a:p>
          <a:endParaRPr lang="en-IN"/>
        </a:p>
      </dgm:t>
    </dgm:pt>
    <dgm:pt modelId="{23995A50-D1ED-4346-ADD1-0D01D157B0FC}" type="pres">
      <dgm:prSet presAssocID="{61BF3EBA-6D94-4005-909D-21CB97222E04}" presName="pillars" presStyleCnt="0"/>
      <dgm:spPr/>
    </dgm:pt>
    <dgm:pt modelId="{21849321-513F-4F74-948F-22AE0722B5FB}" type="pres">
      <dgm:prSet presAssocID="{61BF3EBA-6D94-4005-909D-21CB97222E04}" presName="pillar1" presStyleLbl="node1" presStyleIdx="0" presStyleCnt="1">
        <dgm:presLayoutVars>
          <dgm:bulletEnabled val="1"/>
        </dgm:presLayoutVars>
      </dgm:prSet>
      <dgm:spPr>
        <a:solidFill>
          <a:sysClr val="window" lastClr="FFFFFF"/>
        </a:solidFill>
        <a:ln w="19050" cap="rnd" cmpd="sng" algn="ctr">
          <a:solidFill>
            <a:sysClr val="window" lastClr="FFFFFF">
              <a:hueOff val="0"/>
              <a:satOff val="0"/>
              <a:lumOff val="0"/>
              <a:alphaOff val="0"/>
            </a:sysClr>
          </a:solidFill>
          <a:prstDash val="solid"/>
        </a:ln>
        <a:effectLst/>
      </dgm:spPr>
      <dgm:t>
        <a:bodyPr/>
        <a:lstStyle/>
        <a:p>
          <a:endParaRPr lang="en-IN"/>
        </a:p>
      </dgm:t>
    </dgm:pt>
    <dgm:pt modelId="{66B4487D-DDE8-4879-8E6F-59D6C5AD45D3}" type="pres">
      <dgm:prSet presAssocID="{61BF3EBA-6D94-4005-909D-21CB97222E04}" presName="base" presStyleLbl="dkBgShp" presStyleIdx="1" presStyleCnt="2"/>
      <dgm:spPr>
        <a:xfrm>
          <a:off x="0" y="1694484"/>
          <a:ext cx="4408840" cy="127541"/>
        </a:xfrm>
        <a:prstGeom prst="rect">
          <a:avLst/>
        </a:prstGeom>
        <a:solidFill>
          <a:sysClr val="window" lastClr="FFFFFF"/>
        </a:solidFill>
        <a:ln>
          <a:noFill/>
        </a:ln>
        <a:effectLst/>
      </dgm:spPr>
      <dgm:t>
        <a:bodyPr/>
        <a:lstStyle/>
        <a:p>
          <a:endParaRPr lang="en-IN"/>
        </a:p>
      </dgm:t>
    </dgm:pt>
  </dgm:ptLst>
  <dgm:cxnLst>
    <dgm:cxn modelId="{2D2A3C5F-B4B2-4955-A833-4D2246648B0B}" srcId="{E7BF0886-10BA-4730-AE57-446E017AE1AE}" destId="{61BF3EBA-6D94-4005-909D-21CB97222E04}" srcOrd="0" destOrd="0" parTransId="{E03B0D14-4DD5-4270-9E34-C56D06C948FD}" sibTransId="{BB018256-2ED3-431A-BC32-43C7DA72697C}"/>
    <dgm:cxn modelId="{BF421254-E8C9-441A-B512-802079B7F957}" srcId="{61BF3EBA-6D94-4005-909D-21CB97222E04}" destId="{D5F0860C-4C53-4A7C-9D58-355CD702093A}" srcOrd="0" destOrd="0" parTransId="{771E23D3-A4DC-4522-BA04-4582388650CF}" sibTransId="{ED14F401-7F5A-41D3-98E0-21B0EF16F42D}"/>
    <dgm:cxn modelId="{7E873BFE-430C-4D6D-ABF9-ADCB3C34A929}" type="presOf" srcId="{61BF3EBA-6D94-4005-909D-21CB97222E04}" destId="{DD0447C8-CDC5-4CEA-90D2-B0A6F961FBE6}" srcOrd="0" destOrd="0" presId="urn:microsoft.com/office/officeart/2005/8/layout/hList3"/>
    <dgm:cxn modelId="{CE6E3B0E-A7F7-4227-8E1E-422D0E82F18A}" type="presOf" srcId="{D5F0860C-4C53-4A7C-9D58-355CD702093A}" destId="{21849321-513F-4F74-948F-22AE0722B5FB}" srcOrd="0" destOrd="0" presId="urn:microsoft.com/office/officeart/2005/8/layout/hList3"/>
    <dgm:cxn modelId="{7CF9D523-4B5A-43CD-9C2C-D6B6C0BDEBFB}" type="presOf" srcId="{E7BF0886-10BA-4730-AE57-446E017AE1AE}" destId="{7D7371AF-495B-49A1-B4D9-34BCF5EDB1FC}" srcOrd="0" destOrd="0" presId="urn:microsoft.com/office/officeart/2005/8/layout/hList3"/>
    <dgm:cxn modelId="{75708865-C3B5-4153-A97E-76D1C157FE57}" type="presParOf" srcId="{7D7371AF-495B-49A1-B4D9-34BCF5EDB1FC}" destId="{DD0447C8-CDC5-4CEA-90D2-B0A6F961FBE6}" srcOrd="0" destOrd="0" presId="urn:microsoft.com/office/officeart/2005/8/layout/hList3"/>
    <dgm:cxn modelId="{1A0F0F84-8352-41AE-AB65-87C9522DEEAE}" type="presParOf" srcId="{7D7371AF-495B-49A1-B4D9-34BCF5EDB1FC}" destId="{23995A50-D1ED-4346-ADD1-0D01D157B0FC}" srcOrd="1" destOrd="0" presId="urn:microsoft.com/office/officeart/2005/8/layout/hList3"/>
    <dgm:cxn modelId="{4196A57A-EE9A-41DD-83C6-37BDB3A38BA8}" type="presParOf" srcId="{23995A50-D1ED-4346-ADD1-0D01D157B0FC}" destId="{21849321-513F-4F74-948F-22AE0722B5FB}" srcOrd="0" destOrd="0" presId="urn:microsoft.com/office/officeart/2005/8/layout/hList3"/>
    <dgm:cxn modelId="{08E68D2F-DD93-42E3-B516-BB6FD7D02FDE}" type="presParOf" srcId="{7D7371AF-495B-49A1-B4D9-34BCF5EDB1FC}" destId="{66B4487D-DDE8-4879-8E6F-59D6C5AD45D3}" srcOrd="2" destOrd="0" presId="urn:microsoft.com/office/officeart/2005/8/layout/h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FD9A5C2-B1E5-412D-8405-E568C75A38C9}" type="doc">
      <dgm:prSet loTypeId="urn:microsoft.com/office/officeart/2005/8/layout/hList3" loCatId="list" qsTypeId="urn:microsoft.com/office/officeart/2005/8/quickstyle/simple1" qsCatId="simple" csTypeId="urn:microsoft.com/office/officeart/2005/8/colors/accent1_2" csCatId="accent1" phldr="1"/>
      <dgm:spPr/>
      <dgm:t>
        <a:bodyPr/>
        <a:lstStyle/>
        <a:p>
          <a:endParaRPr lang="en-IN"/>
        </a:p>
      </dgm:t>
    </dgm:pt>
    <dgm:pt modelId="{EAC4015B-5D91-4BB0-AE71-B33FF46A5BBA}">
      <dgm:prSet phldrT="[Text]" custT="1"/>
      <dgm:spPr>
        <a:xfrm>
          <a:off x="0" y="0"/>
          <a:ext cx="4408840" cy="550498"/>
        </a:xfrm>
        <a:solidFill>
          <a:srgbClr val="0E5580">
            <a:lumMod val="75000"/>
          </a:srgbClr>
        </a:solidFill>
        <a:ln>
          <a:noFill/>
        </a:ln>
        <a:effectLst/>
      </dgm:spPr>
      <dgm:t>
        <a:bodyPr/>
        <a:lstStyle/>
        <a:p>
          <a:r>
            <a:rPr lang="en-IN" sz="1200" dirty="0" smtClean="0">
              <a:solidFill>
                <a:sysClr val="window" lastClr="FFFFFF">
                  <a:hueOff val="0"/>
                  <a:satOff val="0"/>
                  <a:lumOff val="0"/>
                  <a:alphaOff val="0"/>
                </a:sysClr>
              </a:solidFill>
              <a:latin typeface="Century Gothic"/>
              <a:ea typeface="+mn-ea"/>
              <a:cs typeface="+mn-cs"/>
            </a:rPr>
            <a:t>Potential of Catchment</a:t>
          </a:r>
          <a:endParaRPr lang="en-IN" sz="1200" dirty="0">
            <a:solidFill>
              <a:sysClr val="window" lastClr="FFFFFF">
                <a:hueOff val="0"/>
                <a:satOff val="0"/>
                <a:lumOff val="0"/>
                <a:alphaOff val="0"/>
              </a:sysClr>
            </a:solidFill>
            <a:latin typeface="Century Gothic"/>
            <a:ea typeface="+mn-ea"/>
            <a:cs typeface="+mn-cs"/>
          </a:endParaRPr>
        </a:p>
      </dgm:t>
    </dgm:pt>
    <dgm:pt modelId="{9B3C62F1-FB8C-43C4-9CA3-00E81F3BCBDD}" type="parTrans" cxnId="{094BAA6A-987C-46F7-AF7F-1A5FAD20037E}">
      <dgm:prSet/>
      <dgm:spPr/>
      <dgm:t>
        <a:bodyPr/>
        <a:lstStyle/>
        <a:p>
          <a:endParaRPr lang="en-IN" sz="1400"/>
        </a:p>
      </dgm:t>
    </dgm:pt>
    <dgm:pt modelId="{51552A55-8915-48E9-85F8-122D08E966D7}" type="sibTrans" cxnId="{094BAA6A-987C-46F7-AF7F-1A5FAD20037E}">
      <dgm:prSet/>
      <dgm:spPr/>
      <dgm:t>
        <a:bodyPr/>
        <a:lstStyle/>
        <a:p>
          <a:endParaRPr lang="en-IN" sz="1400"/>
        </a:p>
      </dgm:t>
    </dgm:pt>
    <dgm:pt modelId="{3EB16E9A-9213-4585-AC73-873A6F81CCE7}">
      <dgm:prSet custT="1"/>
      <dgm:spPr>
        <a:solidFill>
          <a:schemeClr val="bg1"/>
        </a:solidFill>
        <a:ln w="19050" cap="rnd" cmpd="sng" algn="ctr">
          <a:solidFill>
            <a:sysClr val="window" lastClr="FFFFFF">
              <a:hueOff val="0"/>
              <a:satOff val="0"/>
              <a:lumOff val="0"/>
              <a:alphaOff val="0"/>
            </a:sysClr>
          </a:solidFill>
          <a:prstDash val="solid"/>
        </a:ln>
        <a:effectLst/>
      </dgm:spPr>
      <dgm:t>
        <a:bodyPr/>
        <a:lstStyle/>
        <a:p>
          <a:r>
            <a:rPr lang="en-IN" sz="1000" dirty="0" smtClean="0">
              <a:solidFill>
                <a:sysClr val="windowText" lastClr="000000"/>
              </a:solidFill>
              <a:latin typeface="Century Gothic"/>
              <a:ea typeface="+mn-ea"/>
              <a:cs typeface="+mn-cs"/>
            </a:rPr>
            <a:t>Location Characteristics</a:t>
          </a:r>
        </a:p>
        <a:p>
          <a:r>
            <a:rPr lang="en-IN" sz="1000" i="1" dirty="0" smtClean="0">
              <a:solidFill>
                <a:sysClr val="windowText" lastClr="000000"/>
              </a:solidFill>
              <a:latin typeface="Century Gothic"/>
              <a:ea typeface="+mn-ea"/>
              <a:cs typeface="+mn-cs"/>
            </a:rPr>
            <a:t>Location Attractiveness model</a:t>
          </a:r>
          <a:endParaRPr lang="en-IN" sz="1000" i="1" dirty="0">
            <a:solidFill>
              <a:sysClr val="windowText" lastClr="000000"/>
            </a:solidFill>
            <a:latin typeface="Century Gothic"/>
            <a:ea typeface="+mn-ea"/>
            <a:cs typeface="+mn-cs"/>
          </a:endParaRPr>
        </a:p>
      </dgm:t>
    </dgm:pt>
    <dgm:pt modelId="{F969DBE6-7BFE-49E6-A54A-B72EA4650751}" type="parTrans" cxnId="{B1679B4A-4C0A-45C3-A9C9-79AC52CEDA9B}">
      <dgm:prSet/>
      <dgm:spPr/>
      <dgm:t>
        <a:bodyPr/>
        <a:lstStyle/>
        <a:p>
          <a:endParaRPr lang="en-IN"/>
        </a:p>
      </dgm:t>
    </dgm:pt>
    <dgm:pt modelId="{99E1BF98-45E4-4BF0-8542-F479B49DD723}" type="sibTrans" cxnId="{B1679B4A-4C0A-45C3-A9C9-79AC52CEDA9B}">
      <dgm:prSet/>
      <dgm:spPr/>
      <dgm:t>
        <a:bodyPr/>
        <a:lstStyle/>
        <a:p>
          <a:endParaRPr lang="en-IN"/>
        </a:p>
      </dgm:t>
    </dgm:pt>
    <dgm:pt modelId="{1438DD53-8643-49F6-A8E6-226AE152BA7C}" type="pres">
      <dgm:prSet presAssocID="{CFD9A5C2-B1E5-412D-8405-E568C75A38C9}" presName="composite" presStyleCnt="0">
        <dgm:presLayoutVars>
          <dgm:chMax val="1"/>
          <dgm:dir/>
          <dgm:resizeHandles val="exact"/>
        </dgm:presLayoutVars>
      </dgm:prSet>
      <dgm:spPr/>
      <dgm:t>
        <a:bodyPr/>
        <a:lstStyle/>
        <a:p>
          <a:endParaRPr lang="en-IN"/>
        </a:p>
      </dgm:t>
    </dgm:pt>
    <dgm:pt modelId="{2E3B253B-96EA-4582-8E25-BA4FF4F15F12}" type="pres">
      <dgm:prSet presAssocID="{EAC4015B-5D91-4BB0-AE71-B33FF46A5BBA}" presName="roof" presStyleLbl="dkBgShp" presStyleIdx="0" presStyleCnt="2" custLinFactY="-100000" custLinFactNeighborX="-90663" custLinFactNeighborY="-162599"/>
      <dgm:spPr>
        <a:prstGeom prst="rect">
          <a:avLst/>
        </a:prstGeom>
      </dgm:spPr>
      <dgm:t>
        <a:bodyPr/>
        <a:lstStyle/>
        <a:p>
          <a:endParaRPr lang="en-IN"/>
        </a:p>
      </dgm:t>
    </dgm:pt>
    <dgm:pt modelId="{0B9125B7-7142-49CA-BF0B-187F871D9D76}" type="pres">
      <dgm:prSet presAssocID="{EAC4015B-5D91-4BB0-AE71-B33FF46A5BBA}" presName="pillars" presStyleCnt="0"/>
      <dgm:spPr/>
    </dgm:pt>
    <dgm:pt modelId="{9A5E95D9-0DD0-4B74-981F-14F91AAD3261}" type="pres">
      <dgm:prSet presAssocID="{EAC4015B-5D91-4BB0-AE71-B33FF46A5BBA}" presName="pillar1" presStyleLbl="node1" presStyleIdx="0" presStyleCnt="1" custAng="10800000" custFlipVert="1" custScaleY="93485">
        <dgm:presLayoutVars>
          <dgm:bulletEnabled val="1"/>
        </dgm:presLayoutVars>
      </dgm:prSet>
      <dgm:spPr/>
      <dgm:t>
        <a:bodyPr/>
        <a:lstStyle/>
        <a:p>
          <a:endParaRPr lang="en-IN"/>
        </a:p>
      </dgm:t>
    </dgm:pt>
    <dgm:pt modelId="{802DFF20-0C59-4E0C-9C3F-E0E0F2060876}" type="pres">
      <dgm:prSet presAssocID="{EAC4015B-5D91-4BB0-AE71-B33FF46A5BBA}" presName="base" presStyleLbl="dkBgShp" presStyleIdx="1" presStyleCnt="2"/>
      <dgm:spPr>
        <a:xfrm>
          <a:off x="0" y="1706544"/>
          <a:ext cx="4408840" cy="128449"/>
        </a:xfrm>
        <a:prstGeom prst="rect">
          <a:avLst/>
        </a:prstGeom>
        <a:solidFill>
          <a:sysClr val="window" lastClr="FFFFFF"/>
        </a:solidFill>
        <a:ln>
          <a:noFill/>
        </a:ln>
        <a:effectLst/>
      </dgm:spPr>
      <dgm:t>
        <a:bodyPr/>
        <a:lstStyle/>
        <a:p>
          <a:endParaRPr lang="en-IN"/>
        </a:p>
      </dgm:t>
    </dgm:pt>
  </dgm:ptLst>
  <dgm:cxnLst>
    <dgm:cxn modelId="{094BAA6A-987C-46F7-AF7F-1A5FAD20037E}" srcId="{CFD9A5C2-B1E5-412D-8405-E568C75A38C9}" destId="{EAC4015B-5D91-4BB0-AE71-B33FF46A5BBA}" srcOrd="0" destOrd="0" parTransId="{9B3C62F1-FB8C-43C4-9CA3-00E81F3BCBDD}" sibTransId="{51552A55-8915-48E9-85F8-122D08E966D7}"/>
    <dgm:cxn modelId="{EF268E4C-ECEF-474F-9C49-CC0261770CAD}" type="presOf" srcId="{EAC4015B-5D91-4BB0-AE71-B33FF46A5BBA}" destId="{2E3B253B-96EA-4582-8E25-BA4FF4F15F12}" srcOrd="0" destOrd="0" presId="urn:microsoft.com/office/officeart/2005/8/layout/hList3"/>
    <dgm:cxn modelId="{0D25F7F1-693A-454A-B142-810D518D850A}" type="presOf" srcId="{CFD9A5C2-B1E5-412D-8405-E568C75A38C9}" destId="{1438DD53-8643-49F6-A8E6-226AE152BA7C}" srcOrd="0" destOrd="0" presId="urn:microsoft.com/office/officeart/2005/8/layout/hList3"/>
    <dgm:cxn modelId="{1B89F717-A4B8-4999-88E9-031D2E1EAF29}" type="presOf" srcId="{3EB16E9A-9213-4585-AC73-873A6F81CCE7}" destId="{9A5E95D9-0DD0-4B74-981F-14F91AAD3261}" srcOrd="0" destOrd="0" presId="urn:microsoft.com/office/officeart/2005/8/layout/hList3"/>
    <dgm:cxn modelId="{B1679B4A-4C0A-45C3-A9C9-79AC52CEDA9B}" srcId="{EAC4015B-5D91-4BB0-AE71-B33FF46A5BBA}" destId="{3EB16E9A-9213-4585-AC73-873A6F81CCE7}" srcOrd="0" destOrd="0" parTransId="{F969DBE6-7BFE-49E6-A54A-B72EA4650751}" sibTransId="{99E1BF98-45E4-4BF0-8542-F479B49DD723}"/>
    <dgm:cxn modelId="{2A40885F-11EF-41BD-AD8E-3F9A11CE2B71}" type="presParOf" srcId="{1438DD53-8643-49F6-A8E6-226AE152BA7C}" destId="{2E3B253B-96EA-4582-8E25-BA4FF4F15F12}" srcOrd="0" destOrd="0" presId="urn:microsoft.com/office/officeart/2005/8/layout/hList3"/>
    <dgm:cxn modelId="{202E15AA-33AB-4242-9080-D704ECADB72B}" type="presParOf" srcId="{1438DD53-8643-49F6-A8E6-226AE152BA7C}" destId="{0B9125B7-7142-49CA-BF0B-187F871D9D76}" srcOrd="1" destOrd="0" presId="urn:microsoft.com/office/officeart/2005/8/layout/hList3"/>
    <dgm:cxn modelId="{014E8AE3-6A7C-4ADB-A5CE-38BC17779C94}" type="presParOf" srcId="{0B9125B7-7142-49CA-BF0B-187F871D9D76}" destId="{9A5E95D9-0DD0-4B74-981F-14F91AAD3261}" srcOrd="0" destOrd="0" presId="urn:microsoft.com/office/officeart/2005/8/layout/hList3"/>
    <dgm:cxn modelId="{42615BB2-B9AC-43FC-95BE-8444306CCDF8}" type="presParOf" srcId="{1438DD53-8643-49F6-A8E6-226AE152BA7C}" destId="{802DFF20-0C59-4E0C-9C3F-E0E0F2060876}" srcOrd="2" destOrd="0" presId="urn:microsoft.com/office/officeart/2005/8/layout/hList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0447C8-CDC5-4CEA-90D2-B0A6F961FBE6}">
      <dsp:nvSpPr>
        <dsp:cNvPr id="0" name=""/>
        <dsp:cNvSpPr/>
      </dsp:nvSpPr>
      <dsp:spPr>
        <a:xfrm>
          <a:off x="0" y="0"/>
          <a:ext cx="3583817" cy="261001"/>
        </a:xfrm>
        <a:prstGeom prst="rect">
          <a:avLst/>
        </a:prstGeom>
        <a:solidFill>
          <a:srgbClr val="0E5580">
            <a:lumMod val="75000"/>
          </a:srgbClr>
        </a:solidFill>
        <a:ln>
          <a:noFill/>
        </a:ln>
        <a:effectLst/>
      </dsp:spPr>
      <dsp:style>
        <a:lnRef idx="0">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IN" sz="1200" kern="1200" dirty="0" smtClean="0">
              <a:solidFill>
                <a:sysClr val="window" lastClr="FFFFFF">
                  <a:hueOff val="0"/>
                  <a:satOff val="0"/>
                  <a:lumOff val="0"/>
                  <a:alphaOff val="0"/>
                </a:sysClr>
              </a:solidFill>
              <a:latin typeface="Century Gothic"/>
              <a:ea typeface="+mn-ea"/>
              <a:cs typeface="+mn-cs"/>
            </a:rPr>
            <a:t>Probability of Store Visit from Catchment</a:t>
          </a:r>
          <a:endParaRPr lang="en-IN" sz="1200" kern="1200" dirty="0">
            <a:solidFill>
              <a:sysClr val="window" lastClr="FFFFFF">
                <a:hueOff val="0"/>
                <a:satOff val="0"/>
                <a:lumOff val="0"/>
                <a:alphaOff val="0"/>
              </a:sysClr>
            </a:solidFill>
            <a:latin typeface="Century Gothic"/>
            <a:ea typeface="+mn-ea"/>
            <a:cs typeface="+mn-cs"/>
          </a:endParaRPr>
        </a:p>
      </dsp:txBody>
      <dsp:txXfrm>
        <a:off x="0" y="0"/>
        <a:ext cx="3583817" cy="261001"/>
      </dsp:txXfrm>
    </dsp:sp>
    <dsp:sp modelId="{21849321-513F-4F74-948F-22AE0722B5FB}">
      <dsp:nvSpPr>
        <dsp:cNvPr id="0" name=""/>
        <dsp:cNvSpPr/>
      </dsp:nvSpPr>
      <dsp:spPr>
        <a:xfrm>
          <a:off x="0" y="261001"/>
          <a:ext cx="3583817" cy="548103"/>
        </a:xfrm>
        <a:prstGeom prst="rect">
          <a:avLst/>
        </a:prstGeom>
        <a:solidFill>
          <a:sysClr val="window" lastClr="FFFFFF"/>
        </a:solidFill>
        <a:ln w="19050" cap="rnd"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IN" sz="1000" kern="1200" dirty="0" smtClean="0">
              <a:solidFill>
                <a:sysClr val="windowText" lastClr="000000"/>
              </a:solidFill>
              <a:latin typeface="Century Gothic"/>
              <a:ea typeface="+mn-ea"/>
              <a:cs typeface="+mn-cs"/>
            </a:rPr>
            <a:t>Store/Competitor Distance</a:t>
          </a:r>
        </a:p>
        <a:p>
          <a:pPr lvl="0" algn="ctr" defTabSz="444500">
            <a:lnSpc>
              <a:spcPct val="90000"/>
            </a:lnSpc>
            <a:spcBef>
              <a:spcPct val="0"/>
            </a:spcBef>
            <a:spcAft>
              <a:spcPct val="35000"/>
            </a:spcAft>
          </a:pPr>
          <a:r>
            <a:rPr lang="en-IN" sz="1000" i="1" kern="1200" dirty="0" smtClean="0">
              <a:solidFill>
                <a:sysClr val="windowText" lastClr="000000"/>
              </a:solidFill>
              <a:latin typeface="Century Gothic"/>
              <a:ea typeface="+mn-ea"/>
              <a:cs typeface="+mn-cs"/>
            </a:rPr>
            <a:t>Driving Distance to Store/Competitor PIN</a:t>
          </a:r>
          <a:endParaRPr lang="en-IN" sz="1000" kern="1200" dirty="0">
            <a:solidFill>
              <a:sysClr val="windowText" lastClr="000000"/>
            </a:solidFill>
            <a:latin typeface="Century Gothic"/>
            <a:ea typeface="+mn-ea"/>
            <a:cs typeface="+mn-cs"/>
          </a:endParaRPr>
        </a:p>
      </dsp:txBody>
      <dsp:txXfrm>
        <a:off x="0" y="261001"/>
        <a:ext cx="3583817" cy="548103"/>
      </dsp:txXfrm>
    </dsp:sp>
    <dsp:sp modelId="{66B4487D-DDE8-4879-8E6F-59D6C5AD45D3}">
      <dsp:nvSpPr>
        <dsp:cNvPr id="0" name=""/>
        <dsp:cNvSpPr/>
      </dsp:nvSpPr>
      <dsp:spPr>
        <a:xfrm>
          <a:off x="0" y="809104"/>
          <a:ext cx="3583817" cy="60900"/>
        </a:xfrm>
        <a:prstGeom prst="rect">
          <a:avLst/>
        </a:prstGeom>
        <a:solidFill>
          <a:sysClr val="window" lastClr="FFFFFF"/>
        </a:solidFill>
        <a:ln>
          <a:noFill/>
        </a:ln>
        <a:effectLst/>
      </dsp:spPr>
      <dsp:style>
        <a:lnRef idx="0">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3B253B-96EA-4582-8E25-BA4FF4F15F12}">
      <dsp:nvSpPr>
        <dsp:cNvPr id="0" name=""/>
        <dsp:cNvSpPr/>
      </dsp:nvSpPr>
      <dsp:spPr>
        <a:xfrm>
          <a:off x="0" y="0"/>
          <a:ext cx="3093358" cy="264988"/>
        </a:xfrm>
        <a:prstGeom prst="rect">
          <a:avLst/>
        </a:prstGeom>
        <a:solidFill>
          <a:srgbClr val="0E5580">
            <a:lumMod val="75000"/>
          </a:srgbClr>
        </a:solidFill>
        <a:ln>
          <a:noFill/>
        </a:ln>
        <a:effectLst/>
      </dsp:spPr>
      <dsp:style>
        <a:lnRef idx="0">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IN" sz="1200" kern="1200" dirty="0" smtClean="0">
              <a:solidFill>
                <a:sysClr val="window" lastClr="FFFFFF">
                  <a:hueOff val="0"/>
                  <a:satOff val="0"/>
                  <a:lumOff val="0"/>
                  <a:alphaOff val="0"/>
                </a:sysClr>
              </a:solidFill>
              <a:latin typeface="Century Gothic"/>
              <a:ea typeface="+mn-ea"/>
              <a:cs typeface="+mn-cs"/>
            </a:rPr>
            <a:t>Potential of Catchment</a:t>
          </a:r>
          <a:endParaRPr lang="en-IN" sz="1200" kern="1200" dirty="0">
            <a:solidFill>
              <a:sysClr val="window" lastClr="FFFFFF">
                <a:hueOff val="0"/>
                <a:satOff val="0"/>
                <a:lumOff val="0"/>
                <a:alphaOff val="0"/>
              </a:sysClr>
            </a:solidFill>
            <a:latin typeface="Century Gothic"/>
            <a:ea typeface="+mn-ea"/>
            <a:cs typeface="+mn-cs"/>
          </a:endParaRPr>
        </a:p>
      </dsp:txBody>
      <dsp:txXfrm>
        <a:off x="0" y="0"/>
        <a:ext cx="3093358" cy="264988"/>
      </dsp:txXfrm>
    </dsp:sp>
    <dsp:sp modelId="{9A5E95D9-0DD0-4B74-981F-14F91AAD3261}">
      <dsp:nvSpPr>
        <dsp:cNvPr id="0" name=""/>
        <dsp:cNvSpPr/>
      </dsp:nvSpPr>
      <dsp:spPr>
        <a:xfrm rot="10800000" flipV="1">
          <a:off x="0" y="283115"/>
          <a:ext cx="3093358" cy="520220"/>
        </a:xfrm>
        <a:prstGeom prst="rect">
          <a:avLst/>
        </a:prstGeom>
        <a:solidFill>
          <a:schemeClr val="bg1"/>
        </a:solidFill>
        <a:ln w="19050" cap="rnd"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IN" sz="1000" kern="1200" dirty="0" smtClean="0">
              <a:solidFill>
                <a:sysClr val="windowText" lastClr="000000"/>
              </a:solidFill>
              <a:latin typeface="Century Gothic"/>
              <a:ea typeface="+mn-ea"/>
              <a:cs typeface="+mn-cs"/>
            </a:rPr>
            <a:t>Location Characteristics</a:t>
          </a:r>
        </a:p>
        <a:p>
          <a:pPr lvl="0" algn="ctr" defTabSz="444500">
            <a:lnSpc>
              <a:spcPct val="90000"/>
            </a:lnSpc>
            <a:spcBef>
              <a:spcPct val="0"/>
            </a:spcBef>
            <a:spcAft>
              <a:spcPct val="35000"/>
            </a:spcAft>
          </a:pPr>
          <a:r>
            <a:rPr lang="en-IN" sz="1000" i="1" kern="1200" dirty="0" smtClean="0">
              <a:solidFill>
                <a:sysClr val="windowText" lastClr="000000"/>
              </a:solidFill>
              <a:latin typeface="Century Gothic"/>
              <a:ea typeface="+mn-ea"/>
              <a:cs typeface="+mn-cs"/>
            </a:rPr>
            <a:t>Location Attractiveness model</a:t>
          </a:r>
          <a:endParaRPr lang="en-IN" sz="1000" i="1" kern="1200" dirty="0">
            <a:solidFill>
              <a:sysClr val="windowText" lastClr="000000"/>
            </a:solidFill>
            <a:latin typeface="Century Gothic"/>
            <a:ea typeface="+mn-ea"/>
            <a:cs typeface="+mn-cs"/>
          </a:endParaRPr>
        </a:p>
      </dsp:txBody>
      <dsp:txXfrm rot="-10800000">
        <a:off x="0" y="283115"/>
        <a:ext cx="3093358" cy="520220"/>
      </dsp:txXfrm>
    </dsp:sp>
    <dsp:sp modelId="{802DFF20-0C59-4E0C-9C3F-E0E0F2060876}">
      <dsp:nvSpPr>
        <dsp:cNvPr id="0" name=""/>
        <dsp:cNvSpPr/>
      </dsp:nvSpPr>
      <dsp:spPr>
        <a:xfrm>
          <a:off x="0" y="821463"/>
          <a:ext cx="3093358" cy="61830"/>
        </a:xfrm>
        <a:prstGeom prst="rect">
          <a:avLst/>
        </a:prstGeom>
        <a:solidFill>
          <a:sysClr val="window" lastClr="FFFFFF"/>
        </a:solidFill>
        <a:ln>
          <a:noFill/>
        </a:ln>
        <a:effectLst/>
      </dsp:spPr>
      <dsp:style>
        <a:lnRef idx="0">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E89639-4074-41CA-8B1E-A79B4A30457A}" type="datetimeFigureOut">
              <a:rPr lang="en-IN" smtClean="0"/>
              <a:t>30-05-2016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B165B1-143E-48EF-8DB1-7F3084AA34BC}" type="slidenum">
              <a:rPr lang="en-IN" smtClean="0"/>
              <a:t>‹#›</a:t>
            </a:fld>
            <a:endParaRPr lang="en-IN"/>
          </a:p>
        </p:txBody>
      </p:sp>
    </p:spTree>
    <p:extLst>
      <p:ext uri="{BB962C8B-B14F-4D97-AF65-F5344CB8AC3E}">
        <p14:creationId xmlns:p14="http://schemas.microsoft.com/office/powerpoint/2010/main" val="36347513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5754D25-C531-45E1-9A3F-9D8C5D837AAD}" type="slidenum">
              <a:rPr lang="en-IN" smtClean="0">
                <a:solidFill>
                  <a:prstClr val="black"/>
                </a:solidFill>
              </a:rPr>
              <a:pPr/>
              <a:t>3</a:t>
            </a:fld>
            <a:endParaRPr lang="en-IN" dirty="0">
              <a:solidFill>
                <a:prstClr val="black"/>
              </a:solidFill>
            </a:endParaRPr>
          </a:p>
        </p:txBody>
      </p:sp>
    </p:spTree>
    <p:extLst>
      <p:ext uri="{BB962C8B-B14F-4D97-AF65-F5344CB8AC3E}">
        <p14:creationId xmlns:p14="http://schemas.microsoft.com/office/powerpoint/2010/main" val="8262628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5754D25-C531-45E1-9A3F-9D8C5D837AAD}" type="slidenum">
              <a:rPr lang="en-IN" smtClean="0">
                <a:solidFill>
                  <a:prstClr val="black"/>
                </a:solidFill>
              </a:rPr>
              <a:pPr/>
              <a:t>4</a:t>
            </a:fld>
            <a:endParaRPr lang="en-IN" dirty="0">
              <a:solidFill>
                <a:prstClr val="black"/>
              </a:solidFill>
            </a:endParaRPr>
          </a:p>
        </p:txBody>
      </p:sp>
    </p:spTree>
    <p:extLst>
      <p:ext uri="{BB962C8B-B14F-4D97-AF65-F5344CB8AC3E}">
        <p14:creationId xmlns:p14="http://schemas.microsoft.com/office/powerpoint/2010/main" val="15257451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5754D25-C531-45E1-9A3F-9D8C5D837AAD}" type="slidenum">
              <a:rPr lang="en-IN" smtClean="0">
                <a:solidFill>
                  <a:prstClr val="black"/>
                </a:solidFill>
              </a:rPr>
              <a:pPr/>
              <a:t>6</a:t>
            </a:fld>
            <a:endParaRPr lang="en-IN" dirty="0">
              <a:solidFill>
                <a:prstClr val="black"/>
              </a:solidFill>
            </a:endParaRPr>
          </a:p>
        </p:txBody>
      </p:sp>
    </p:spTree>
    <p:extLst>
      <p:ext uri="{BB962C8B-B14F-4D97-AF65-F5344CB8AC3E}">
        <p14:creationId xmlns:p14="http://schemas.microsoft.com/office/powerpoint/2010/main" val="28428548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5754D25-C531-45E1-9A3F-9D8C5D837AAD}" type="slidenum">
              <a:rPr lang="en-IN" smtClean="0">
                <a:solidFill>
                  <a:prstClr val="black"/>
                </a:solidFill>
              </a:rPr>
              <a:pPr/>
              <a:t>7</a:t>
            </a:fld>
            <a:endParaRPr lang="en-IN" dirty="0">
              <a:solidFill>
                <a:prstClr val="black"/>
              </a:solidFill>
            </a:endParaRPr>
          </a:p>
        </p:txBody>
      </p:sp>
    </p:spTree>
    <p:extLst>
      <p:ext uri="{BB962C8B-B14F-4D97-AF65-F5344CB8AC3E}">
        <p14:creationId xmlns:p14="http://schemas.microsoft.com/office/powerpoint/2010/main" val="29379795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5754D25-C531-45E1-9A3F-9D8C5D837AAD}" type="slidenum">
              <a:rPr lang="en-IN" smtClean="0">
                <a:solidFill>
                  <a:prstClr val="black"/>
                </a:solidFill>
              </a:rPr>
              <a:pPr/>
              <a:t>9</a:t>
            </a:fld>
            <a:endParaRPr lang="en-IN" dirty="0">
              <a:solidFill>
                <a:prstClr val="black"/>
              </a:solidFill>
            </a:endParaRPr>
          </a:p>
        </p:txBody>
      </p:sp>
    </p:spTree>
    <p:extLst>
      <p:ext uri="{BB962C8B-B14F-4D97-AF65-F5344CB8AC3E}">
        <p14:creationId xmlns:p14="http://schemas.microsoft.com/office/powerpoint/2010/main" val="32955377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8D21FACE-E8F9-4406-8FAD-E38769FF28FC}" type="datetimeFigureOut">
              <a:rPr lang="en-IN" smtClean="0"/>
              <a:t>30-05-2016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DB1803-5FB1-45C7-863C-2EB59EF6ECED}" type="slidenum">
              <a:rPr lang="en-IN" smtClean="0"/>
              <a:t>‹#›</a:t>
            </a:fld>
            <a:endParaRPr lang="en-IN"/>
          </a:p>
        </p:txBody>
      </p:sp>
    </p:spTree>
    <p:extLst>
      <p:ext uri="{BB962C8B-B14F-4D97-AF65-F5344CB8AC3E}">
        <p14:creationId xmlns:p14="http://schemas.microsoft.com/office/powerpoint/2010/main" val="2680088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D21FACE-E8F9-4406-8FAD-E38769FF28FC}" type="datetimeFigureOut">
              <a:rPr lang="en-IN" smtClean="0"/>
              <a:t>30-05-2016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DB1803-5FB1-45C7-863C-2EB59EF6ECED}" type="slidenum">
              <a:rPr lang="en-IN" smtClean="0"/>
              <a:t>‹#›</a:t>
            </a:fld>
            <a:endParaRPr lang="en-IN"/>
          </a:p>
        </p:txBody>
      </p:sp>
    </p:spTree>
    <p:extLst>
      <p:ext uri="{BB962C8B-B14F-4D97-AF65-F5344CB8AC3E}">
        <p14:creationId xmlns:p14="http://schemas.microsoft.com/office/powerpoint/2010/main" val="586088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D21FACE-E8F9-4406-8FAD-E38769FF28FC}" type="datetimeFigureOut">
              <a:rPr lang="en-IN" smtClean="0"/>
              <a:t>30-05-2016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DB1803-5FB1-45C7-863C-2EB59EF6ECED}" type="slidenum">
              <a:rPr lang="en-IN" smtClean="0"/>
              <a:t>‹#›</a:t>
            </a:fld>
            <a:endParaRPr lang="en-IN"/>
          </a:p>
        </p:txBody>
      </p:sp>
    </p:spTree>
    <p:extLst>
      <p:ext uri="{BB962C8B-B14F-4D97-AF65-F5344CB8AC3E}">
        <p14:creationId xmlns:p14="http://schemas.microsoft.com/office/powerpoint/2010/main" val="979009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8D21FACE-E8F9-4406-8FAD-E38769FF28FC}" type="datetimeFigureOut">
              <a:rPr lang="en-IN" smtClean="0"/>
              <a:t>30-05-2016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DB1803-5FB1-45C7-863C-2EB59EF6ECED}" type="slidenum">
              <a:rPr lang="en-IN" smtClean="0"/>
              <a:t>‹#›</a:t>
            </a:fld>
            <a:endParaRPr lang="en-IN"/>
          </a:p>
        </p:txBody>
      </p:sp>
    </p:spTree>
    <p:extLst>
      <p:ext uri="{BB962C8B-B14F-4D97-AF65-F5344CB8AC3E}">
        <p14:creationId xmlns:p14="http://schemas.microsoft.com/office/powerpoint/2010/main" val="7849390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8D21FACE-E8F9-4406-8FAD-E38769FF28FC}" type="datetimeFigureOut">
              <a:rPr lang="en-IN" smtClean="0"/>
              <a:t>30-05-2016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EDB1803-5FB1-45C7-863C-2EB59EF6ECED}" type="slidenum">
              <a:rPr lang="en-IN" smtClean="0"/>
              <a:t>‹#›</a:t>
            </a:fld>
            <a:endParaRPr lang="en-IN"/>
          </a:p>
        </p:txBody>
      </p:sp>
    </p:spTree>
    <p:extLst>
      <p:ext uri="{BB962C8B-B14F-4D97-AF65-F5344CB8AC3E}">
        <p14:creationId xmlns:p14="http://schemas.microsoft.com/office/powerpoint/2010/main" val="2711498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8D21FACE-E8F9-4406-8FAD-E38769FF28FC}" type="datetimeFigureOut">
              <a:rPr lang="en-IN" smtClean="0"/>
              <a:t>30-05-2016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EDB1803-5FB1-45C7-863C-2EB59EF6ECED}" type="slidenum">
              <a:rPr lang="en-IN" smtClean="0"/>
              <a:t>‹#›</a:t>
            </a:fld>
            <a:endParaRPr lang="en-IN"/>
          </a:p>
        </p:txBody>
      </p:sp>
    </p:spTree>
    <p:extLst>
      <p:ext uri="{BB962C8B-B14F-4D97-AF65-F5344CB8AC3E}">
        <p14:creationId xmlns:p14="http://schemas.microsoft.com/office/powerpoint/2010/main" val="3245387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21FACE-E8F9-4406-8FAD-E38769FF28FC}" type="datetimeFigureOut">
              <a:rPr lang="en-IN" smtClean="0"/>
              <a:t>30-05-2016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EDB1803-5FB1-45C7-863C-2EB59EF6ECED}" type="slidenum">
              <a:rPr lang="en-IN" smtClean="0"/>
              <a:t>‹#›</a:t>
            </a:fld>
            <a:endParaRPr lang="en-IN"/>
          </a:p>
        </p:txBody>
      </p:sp>
    </p:spTree>
    <p:extLst>
      <p:ext uri="{BB962C8B-B14F-4D97-AF65-F5344CB8AC3E}">
        <p14:creationId xmlns:p14="http://schemas.microsoft.com/office/powerpoint/2010/main" val="3162422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D21FACE-E8F9-4406-8FAD-E38769FF28FC}" type="datetimeFigureOut">
              <a:rPr lang="en-IN" smtClean="0"/>
              <a:t>30-05-2016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DB1803-5FB1-45C7-863C-2EB59EF6ECED}" type="slidenum">
              <a:rPr lang="en-IN" smtClean="0"/>
              <a:t>‹#›</a:t>
            </a:fld>
            <a:endParaRPr lang="en-IN"/>
          </a:p>
        </p:txBody>
      </p:sp>
    </p:spTree>
    <p:extLst>
      <p:ext uri="{BB962C8B-B14F-4D97-AF65-F5344CB8AC3E}">
        <p14:creationId xmlns:p14="http://schemas.microsoft.com/office/powerpoint/2010/main" val="4154645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D21FACE-E8F9-4406-8FAD-E38769FF28FC}" type="datetimeFigureOut">
              <a:rPr lang="en-IN" smtClean="0"/>
              <a:t>30-05-2016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DB1803-5FB1-45C7-863C-2EB59EF6ECED}" type="slidenum">
              <a:rPr lang="en-IN" smtClean="0"/>
              <a:t>‹#›</a:t>
            </a:fld>
            <a:endParaRPr lang="en-IN"/>
          </a:p>
        </p:txBody>
      </p:sp>
    </p:spTree>
    <p:extLst>
      <p:ext uri="{BB962C8B-B14F-4D97-AF65-F5344CB8AC3E}">
        <p14:creationId xmlns:p14="http://schemas.microsoft.com/office/powerpoint/2010/main" val="2694529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D21FACE-E8F9-4406-8FAD-E38769FF28FC}" type="datetimeFigureOut">
              <a:rPr lang="en-IN" smtClean="0"/>
              <a:t>30-05-2016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DB1803-5FB1-45C7-863C-2EB59EF6ECED}" type="slidenum">
              <a:rPr lang="en-IN" smtClean="0"/>
              <a:t>‹#›</a:t>
            </a:fld>
            <a:endParaRPr lang="en-IN"/>
          </a:p>
        </p:txBody>
      </p:sp>
    </p:spTree>
    <p:extLst>
      <p:ext uri="{BB962C8B-B14F-4D97-AF65-F5344CB8AC3E}">
        <p14:creationId xmlns:p14="http://schemas.microsoft.com/office/powerpoint/2010/main" val="16766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D21FACE-E8F9-4406-8FAD-E38769FF28FC}" type="datetimeFigureOut">
              <a:rPr lang="en-IN" smtClean="0"/>
              <a:t>30-05-2016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DB1803-5FB1-45C7-863C-2EB59EF6ECED}" type="slidenum">
              <a:rPr lang="en-IN" smtClean="0"/>
              <a:t>‹#›</a:t>
            </a:fld>
            <a:endParaRPr lang="en-IN"/>
          </a:p>
        </p:txBody>
      </p:sp>
    </p:spTree>
    <p:extLst>
      <p:ext uri="{BB962C8B-B14F-4D97-AF65-F5344CB8AC3E}">
        <p14:creationId xmlns:p14="http://schemas.microsoft.com/office/powerpoint/2010/main" val="38931960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92C1B97-C155-4CFC-AA97-CF72E949F1D8}" type="datetime1">
              <a:rPr lang="en-US" smtClean="0">
                <a:solidFill>
                  <a:srgbClr val="ACD433"/>
                </a:solidFill>
              </a:rPr>
              <a:pPr/>
              <a:t>5/30/2016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6" name="Text Placeholder 9"/>
          <p:cNvSpPr>
            <a:spLocks noGrp="1"/>
          </p:cNvSpPr>
          <p:nvPr>
            <p:ph type="body" sz="quarter" idx="13"/>
          </p:nvPr>
        </p:nvSpPr>
        <p:spPr>
          <a:xfrm>
            <a:off x="528357" y="1217086"/>
            <a:ext cx="11113180" cy="582362"/>
          </a:xfrm>
        </p:spPr>
        <p:txBody>
          <a:bodyPr>
            <a:normAutofit/>
          </a:bodyPr>
          <a:lstStyle>
            <a:lvl1pPr marL="0" indent="0">
              <a:buNone/>
              <a:defRPr sz="1800">
                <a:solidFill>
                  <a:schemeClr val="tx2">
                    <a:lumMod val="60000"/>
                    <a:lumOff val="40000"/>
                  </a:schemeClr>
                </a:solidFill>
              </a:defRPr>
            </a:lvl1pPr>
          </a:lstStyle>
          <a:p>
            <a:pPr lvl="0"/>
            <a:endParaRPr lang="en-IN" dirty="0"/>
          </a:p>
        </p:txBody>
      </p:sp>
    </p:spTree>
    <p:extLst>
      <p:ext uri="{BB962C8B-B14F-4D97-AF65-F5344CB8AC3E}">
        <p14:creationId xmlns:p14="http://schemas.microsoft.com/office/powerpoint/2010/main" val="289328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21FACE-E8F9-4406-8FAD-E38769FF28FC}" type="datetimeFigureOut">
              <a:rPr lang="en-IN" smtClean="0"/>
              <a:t>30-05-2016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DB1803-5FB1-45C7-863C-2EB59EF6ECED}" type="slidenum">
              <a:rPr lang="en-IN" smtClean="0"/>
              <a:t>‹#›</a:t>
            </a:fld>
            <a:endParaRPr lang="en-IN"/>
          </a:p>
        </p:txBody>
      </p:sp>
    </p:spTree>
    <p:extLst>
      <p:ext uri="{BB962C8B-B14F-4D97-AF65-F5344CB8AC3E}">
        <p14:creationId xmlns:p14="http://schemas.microsoft.com/office/powerpoint/2010/main" val="28720615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87"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hyperlink" Target="mailto:dthomas@tata.com" TargetMode="External"/><Relationship Id="rId4" Type="http://schemas.openxmlformats.org/officeDocument/2006/relationships/hyperlink" Target="mailto:digital@tataiq.com"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image" Target="../media/image31.png"/><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5" Type="http://schemas.openxmlformats.org/officeDocument/2006/relationships/image" Target="../media/image33.png"/><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emf"/><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12007" t="7083" b="13722"/>
          <a:stretch/>
        </p:blipFill>
        <p:spPr>
          <a:xfrm flipH="1">
            <a:off x="0" y="0"/>
            <a:ext cx="12192000" cy="6858000"/>
          </a:xfrm>
          <a:prstGeom prst="rect">
            <a:avLst/>
          </a:prstGeom>
        </p:spPr>
      </p:pic>
      <p:sp>
        <p:nvSpPr>
          <p:cNvPr id="7" name="Rectangle 6"/>
          <p:cNvSpPr/>
          <p:nvPr/>
        </p:nvSpPr>
        <p:spPr>
          <a:xfrm>
            <a:off x="785076" y="5770919"/>
            <a:ext cx="10621848" cy="830997"/>
          </a:xfrm>
          <a:prstGeom prst="rect">
            <a:avLst/>
          </a:prstGeom>
        </p:spPr>
        <p:txBody>
          <a:bodyPr wrap="square" anchor="b">
            <a:spAutoFit/>
          </a:bodyPr>
          <a:lstStyle/>
          <a:p>
            <a:pPr lvl="0" algn="ctr"/>
            <a:r>
              <a:rPr lang="en-US" sz="800" dirty="0">
                <a:solidFill>
                  <a:prstClr val="white"/>
                </a:solidFill>
                <a:latin typeface="Century Gothic"/>
              </a:rPr>
              <a:t>The information contained in the document is proprietary to Tata Industries Limited- Tata Insights &amp; Quants Division and is strictly confidential. </a:t>
            </a:r>
            <a:r>
              <a:rPr lang="en-IN" sz="800" dirty="0">
                <a:solidFill>
                  <a:prstClr val="white"/>
                </a:solidFill>
                <a:latin typeface="Century Gothic"/>
              </a:rPr>
              <a:t>In consideration of receipt of this document, the recipient agrees that the information is being shared only for the limited purpose. The recipient of this information further agrees to maintain such information in confidence and to not reproduce, disclose, duplicate, electronically transmit or use in whole or in part for any other purpose. Prior written consent shall be obtained from the Insights &amp; Quants Division of Tata Industries in case the information is necessitated to be shared with anyone other than the Recipient to whom this information is addressed. The above restriction shall not limit the right to use the information contained in this deck, if it is obtained from another source without restriction.</a:t>
            </a:r>
            <a:br>
              <a:rPr lang="en-IN" sz="800" dirty="0">
                <a:solidFill>
                  <a:prstClr val="white"/>
                </a:solidFill>
                <a:latin typeface="Century Gothic"/>
              </a:rPr>
            </a:br>
            <a:r>
              <a:rPr lang="en-IN" sz="800" dirty="0">
                <a:solidFill>
                  <a:prstClr val="white"/>
                </a:solidFill>
                <a:latin typeface="Century Gothic"/>
              </a:rPr>
              <a:t> </a:t>
            </a:r>
            <a:br>
              <a:rPr lang="en-IN" sz="800" dirty="0">
                <a:solidFill>
                  <a:prstClr val="white"/>
                </a:solidFill>
                <a:latin typeface="Century Gothic"/>
              </a:rPr>
            </a:br>
            <a:r>
              <a:rPr lang="en-IN" sz="800" b="1" dirty="0">
                <a:solidFill>
                  <a:prstClr val="white"/>
                </a:solidFill>
                <a:latin typeface="Leelawadee UI" panose="020B0502040204020203" pitchFamily="34" charset="-34"/>
                <a:cs typeface="Leelawadee UI" panose="020B0502040204020203" pitchFamily="34" charset="-34"/>
              </a:rPr>
              <a:t>© Copyright, Tata Insights &amp; Quants Division, Tata Industries Limited</a:t>
            </a:r>
            <a:r>
              <a:rPr lang="en-IN" sz="800" dirty="0">
                <a:solidFill>
                  <a:prstClr val="white"/>
                </a:solidFill>
                <a:latin typeface="Century Gothic"/>
              </a:rPr>
              <a:t> </a:t>
            </a:r>
          </a:p>
        </p:txBody>
      </p:sp>
      <p:pic>
        <p:nvPicPr>
          <p:cNvPr id="2" name="Picture 1"/>
          <p:cNvPicPr>
            <a:picLocks noChangeAspect="1"/>
          </p:cNvPicPr>
          <p:nvPr/>
        </p:nvPicPr>
        <p:blipFill>
          <a:blip r:embed="rId3"/>
          <a:stretch>
            <a:fillRect/>
          </a:stretch>
        </p:blipFill>
        <p:spPr>
          <a:xfrm>
            <a:off x="228600" y="172938"/>
            <a:ext cx="2838386" cy="1015396"/>
          </a:xfrm>
          <a:prstGeom prst="rect">
            <a:avLst/>
          </a:prstGeom>
        </p:spPr>
      </p:pic>
      <p:sp>
        <p:nvSpPr>
          <p:cNvPr id="11" name="Rectangle 10"/>
          <p:cNvSpPr/>
          <p:nvPr/>
        </p:nvSpPr>
        <p:spPr>
          <a:xfrm>
            <a:off x="3066986" y="319088"/>
            <a:ext cx="9125014" cy="5504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406924" y="356363"/>
            <a:ext cx="518376" cy="475868"/>
          </a:xfrm>
          <a:prstGeom prst="rect">
            <a:avLst/>
          </a:prstGeom>
        </p:spPr>
      </p:pic>
      <p:sp>
        <p:nvSpPr>
          <p:cNvPr id="13" name="Rectangle 12"/>
          <p:cNvSpPr/>
          <p:nvPr/>
        </p:nvSpPr>
        <p:spPr>
          <a:xfrm>
            <a:off x="0" y="319088"/>
            <a:ext cx="266701" cy="5504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3" name="Group 2"/>
          <p:cNvGrpSpPr/>
          <p:nvPr/>
        </p:nvGrpSpPr>
        <p:grpSpPr>
          <a:xfrm>
            <a:off x="3231592" y="1755205"/>
            <a:ext cx="6051550" cy="1451243"/>
            <a:chOff x="826622" y="1600053"/>
            <a:chExt cx="6051550" cy="1451243"/>
          </a:xfrm>
        </p:grpSpPr>
        <p:grpSp>
          <p:nvGrpSpPr>
            <p:cNvPr id="14" name="Group 13"/>
            <p:cNvGrpSpPr/>
            <p:nvPr/>
          </p:nvGrpSpPr>
          <p:grpSpPr>
            <a:xfrm>
              <a:off x="826622" y="2466521"/>
              <a:ext cx="6051550" cy="584775"/>
              <a:chOff x="1680697" y="5694680"/>
              <a:chExt cx="6051550" cy="584775"/>
            </a:xfrm>
          </p:grpSpPr>
          <p:sp>
            <p:nvSpPr>
              <p:cNvPr id="16" name="Rectangle 15"/>
              <p:cNvSpPr/>
              <p:nvPr/>
            </p:nvSpPr>
            <p:spPr>
              <a:xfrm>
                <a:off x="2309460" y="5694680"/>
                <a:ext cx="4525080" cy="584775"/>
              </a:xfrm>
              <a:prstGeom prst="rect">
                <a:avLst/>
              </a:prstGeom>
            </p:spPr>
            <p:txBody>
              <a:bodyPr wrap="square" anchor="ctr">
                <a:spAutoFit/>
              </a:bodyPr>
              <a:lstStyle/>
              <a:p>
                <a:pPr algn="ctr"/>
                <a:endParaRPr lang="en-US" sz="3200" spc="600" dirty="0">
                  <a:solidFill>
                    <a:schemeClr val="bg1"/>
                  </a:solidFill>
                  <a:latin typeface="Leelawadee UI" panose="020B0502040204020203" pitchFamily="34" charset="-34"/>
                  <a:cs typeface="Leelawadee UI" panose="020B0502040204020203" pitchFamily="34" charset="-34"/>
                </a:endParaRPr>
              </a:p>
            </p:txBody>
          </p:sp>
          <p:cxnSp>
            <p:nvCxnSpPr>
              <p:cNvPr id="18" name="Straight Connector 17"/>
              <p:cNvCxnSpPr/>
              <p:nvPr/>
            </p:nvCxnSpPr>
            <p:spPr>
              <a:xfrm>
                <a:off x="1680697" y="5987067"/>
                <a:ext cx="6051550" cy="0"/>
              </a:xfrm>
              <a:prstGeom prst="line">
                <a:avLst/>
              </a:prstGeom>
              <a:ln w="28575">
                <a:solidFill>
                  <a:srgbClr val="D41145"/>
                </a:solidFill>
              </a:ln>
            </p:spPr>
            <p:style>
              <a:lnRef idx="1">
                <a:schemeClr val="accent1"/>
              </a:lnRef>
              <a:fillRef idx="0">
                <a:schemeClr val="accent1"/>
              </a:fillRef>
              <a:effectRef idx="0">
                <a:schemeClr val="accent1"/>
              </a:effectRef>
              <a:fontRef idx="minor">
                <a:schemeClr val="tx1"/>
              </a:fontRef>
            </p:style>
          </p:cxnSp>
        </p:grpSp>
        <p:sp>
          <p:nvSpPr>
            <p:cNvPr id="19" name="Rectangle 18"/>
            <p:cNvSpPr/>
            <p:nvPr/>
          </p:nvSpPr>
          <p:spPr>
            <a:xfrm>
              <a:off x="1101725" y="1939515"/>
              <a:ext cx="5232400" cy="584775"/>
            </a:xfrm>
            <a:prstGeom prst="rect">
              <a:avLst/>
            </a:prstGeom>
          </p:spPr>
          <p:txBody>
            <a:bodyPr wrap="square">
              <a:spAutoFit/>
            </a:bodyPr>
            <a:lstStyle/>
            <a:p>
              <a:pPr algn="ctr"/>
              <a:r>
                <a:rPr lang="en-US" sz="3200" b="1" dirty="0" smtClean="0">
                  <a:solidFill>
                    <a:schemeClr val="bg1"/>
                  </a:solidFill>
                  <a:latin typeface="Leelawadee UI" panose="020B0502040204020203" pitchFamily="34" charset="-34"/>
                  <a:cs typeface="Leelawadee UI" panose="020B0502040204020203" pitchFamily="34" charset="-34"/>
                </a:rPr>
                <a:t>Digital Analytics</a:t>
              </a:r>
              <a:endParaRPr lang="en-US" sz="3200" b="1" dirty="0">
                <a:solidFill>
                  <a:schemeClr val="bg1"/>
                </a:solidFill>
                <a:latin typeface="Leelawadee UI" panose="020B0502040204020203" pitchFamily="34" charset="-34"/>
                <a:cs typeface="Leelawadee UI" panose="020B0502040204020203" pitchFamily="34" charset="-34"/>
              </a:endParaRPr>
            </a:p>
          </p:txBody>
        </p:sp>
        <p:sp>
          <p:nvSpPr>
            <p:cNvPr id="20" name="Rectangle 19"/>
            <p:cNvSpPr/>
            <p:nvPr/>
          </p:nvSpPr>
          <p:spPr>
            <a:xfrm>
              <a:off x="1101725" y="1600053"/>
              <a:ext cx="5232400" cy="400110"/>
            </a:xfrm>
            <a:prstGeom prst="rect">
              <a:avLst/>
            </a:prstGeom>
          </p:spPr>
          <p:txBody>
            <a:bodyPr wrap="square">
              <a:spAutoFit/>
            </a:bodyPr>
            <a:lstStyle/>
            <a:p>
              <a:pPr algn="ctr"/>
              <a:r>
                <a:rPr lang="en-US" sz="2000" dirty="0">
                  <a:solidFill>
                    <a:schemeClr val="bg1"/>
                  </a:solidFill>
                  <a:latin typeface="Leelawadee UI" panose="020B0502040204020203" pitchFamily="34" charset="-34"/>
                  <a:cs typeface="Leelawadee UI" panose="020B0502040204020203" pitchFamily="34" charset="-34"/>
                </a:rPr>
                <a:t>A glimpse into the </a:t>
              </a:r>
            </a:p>
          </p:txBody>
        </p:sp>
      </p:grpSp>
    </p:spTree>
    <p:extLst>
      <p:ext uri="{BB962C8B-B14F-4D97-AF65-F5344CB8AC3E}">
        <p14:creationId xmlns:p14="http://schemas.microsoft.com/office/powerpoint/2010/main" val="26203185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p:cNvGrpSpPr/>
          <p:nvPr/>
        </p:nvGrpSpPr>
        <p:grpSpPr>
          <a:xfrm>
            <a:off x="1" y="267843"/>
            <a:ext cx="12192000" cy="461665"/>
            <a:chOff x="1" y="322556"/>
            <a:chExt cx="12192000" cy="461665"/>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4761210" y="322556"/>
              <a:ext cx="2669642" cy="461665"/>
            </a:xfrm>
            <a:prstGeom prst="rect">
              <a:avLst/>
            </a:prstGeom>
            <a:solidFill>
              <a:schemeClr val="bg1"/>
            </a:solidFill>
          </p:spPr>
          <p:txBody>
            <a:bodyPr wrap="none" anchor="ctr">
              <a:spAutoFit/>
            </a:bodyPr>
            <a:lstStyle/>
            <a:p>
              <a:pPr algn="ctr"/>
              <a:r>
                <a:rPr lang="en-IN" sz="2400" b="1" dirty="0" smtClean="0">
                  <a:solidFill>
                    <a:srgbClr val="0070C0"/>
                  </a:solidFill>
                  <a:latin typeface="Leelawadee UI" panose="020B0502040204020203" pitchFamily="34" charset="-34"/>
                  <a:cs typeface="Leelawadee UI" panose="020B0502040204020203" pitchFamily="34" charset="-34"/>
                </a:rPr>
                <a:t>1. Web Analytics</a:t>
              </a:r>
              <a:endParaRPr lang="en-IN" sz="2400" b="1" dirty="0">
                <a:solidFill>
                  <a:schemeClr val="bg1">
                    <a:lumMod val="50000"/>
                  </a:schemeClr>
                </a:solidFill>
                <a:latin typeface="Leelawadee UI" panose="020B0502040204020203" pitchFamily="34" charset="-34"/>
                <a:cs typeface="Leelawadee UI" panose="020B0502040204020203" pitchFamily="34" charset="-34"/>
              </a:endParaRPr>
            </a:p>
          </p:txBody>
        </p:sp>
      </p:grpSp>
      <p:sp>
        <p:nvSpPr>
          <p:cNvPr id="75" name="Rounded Rectangle 74"/>
          <p:cNvSpPr/>
          <p:nvPr/>
        </p:nvSpPr>
        <p:spPr>
          <a:xfrm>
            <a:off x="361628" y="1133923"/>
            <a:ext cx="11468746" cy="526943"/>
          </a:xfrm>
          <a:prstGeom prst="roundRect">
            <a:avLst/>
          </a:prstGeom>
          <a:solidFill>
            <a:schemeClr val="accent6">
              <a:lumMod val="40000"/>
              <a:lumOff val="60000"/>
            </a:schemeClr>
          </a:solidFill>
          <a:ln>
            <a:solidFill>
              <a:schemeClr val="tx1">
                <a:lumMod val="95000"/>
                <a:lumOff val="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solidFill>
                <a:prstClr val="white"/>
              </a:solidFill>
              <a:latin typeface="Leelawadee" panose="020B0502040204020203" pitchFamily="34" charset="-34"/>
              <a:cs typeface="Leelawadee" panose="020B0502040204020203" pitchFamily="34" charset="-34"/>
            </a:endParaRPr>
          </a:p>
        </p:txBody>
      </p:sp>
      <p:sp>
        <p:nvSpPr>
          <p:cNvPr id="23" name="Rounded Rectangle 22"/>
          <p:cNvSpPr/>
          <p:nvPr/>
        </p:nvSpPr>
        <p:spPr>
          <a:xfrm>
            <a:off x="361628" y="1895928"/>
            <a:ext cx="11468746" cy="539857"/>
          </a:xfrm>
          <a:prstGeom prst="roundRect">
            <a:avLst/>
          </a:prstGeom>
          <a:solidFill>
            <a:schemeClr val="accent4">
              <a:lumMod val="40000"/>
              <a:lumOff val="60000"/>
            </a:schemeClr>
          </a:solidFill>
          <a:ln>
            <a:solidFill>
              <a:schemeClr val="tx1">
                <a:lumMod val="95000"/>
                <a:lumOff val="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solidFill>
                <a:prstClr val="white"/>
              </a:solidFill>
              <a:latin typeface="Leelawadee" panose="020B0502040204020203" pitchFamily="34" charset="-34"/>
              <a:cs typeface="Leelawadee" panose="020B0502040204020203" pitchFamily="34" charset="-34"/>
            </a:endParaRPr>
          </a:p>
        </p:txBody>
      </p:sp>
      <p:sp>
        <p:nvSpPr>
          <p:cNvPr id="5" name="TextBox 4"/>
          <p:cNvSpPr txBox="1"/>
          <p:nvPr/>
        </p:nvSpPr>
        <p:spPr>
          <a:xfrm>
            <a:off x="564396" y="1981190"/>
            <a:ext cx="5005952" cy="338554"/>
          </a:xfrm>
          <a:prstGeom prst="rect">
            <a:avLst/>
          </a:prstGeom>
          <a:noFill/>
        </p:spPr>
        <p:txBody>
          <a:bodyPr wrap="square" rtlCol="0">
            <a:spAutoFit/>
          </a:bodyPr>
          <a:lstStyle/>
          <a:p>
            <a:r>
              <a:rPr lang="en-IN" sz="1600" b="1" dirty="0" smtClean="0">
                <a:latin typeface="Leelawadee" panose="020B0502040204020203" pitchFamily="34" charset="-34"/>
                <a:cs typeface="Leelawadee" panose="020B0502040204020203" pitchFamily="34" charset="-34"/>
              </a:rPr>
              <a:t>Full time resources</a:t>
            </a:r>
            <a:r>
              <a:rPr lang="en-IN" sz="1600" dirty="0" smtClean="0">
                <a:latin typeface="Leelawadee" panose="020B0502040204020203" pitchFamily="34" charset="-34"/>
                <a:cs typeface="Leelawadee" panose="020B0502040204020203" pitchFamily="34" charset="-34"/>
              </a:rPr>
              <a:t> :  Rahul, Fehrzard (Sales)  </a:t>
            </a:r>
            <a:endParaRPr lang="en-IN" sz="1600" dirty="0">
              <a:latin typeface="Leelawadee" panose="020B0502040204020203" pitchFamily="34" charset="-34"/>
              <a:cs typeface="Leelawadee" panose="020B0502040204020203" pitchFamily="34" charset="-34"/>
            </a:endParaRPr>
          </a:p>
        </p:txBody>
      </p:sp>
      <p:graphicFrame>
        <p:nvGraphicFramePr>
          <p:cNvPr id="8" name="Table 7"/>
          <p:cNvGraphicFramePr>
            <a:graphicFrameLocks noGrp="1"/>
          </p:cNvGraphicFramePr>
          <p:nvPr>
            <p:extLst>
              <p:ext uri="{D42A27DB-BD31-4B8C-83A1-F6EECF244321}">
                <p14:modId xmlns:p14="http://schemas.microsoft.com/office/powerpoint/2010/main" val="146693666"/>
              </p:ext>
            </p:extLst>
          </p:nvPr>
        </p:nvGraphicFramePr>
        <p:xfrm>
          <a:off x="361628" y="2794233"/>
          <a:ext cx="11468747" cy="3687249"/>
        </p:xfrm>
        <a:graphic>
          <a:graphicData uri="http://schemas.openxmlformats.org/drawingml/2006/table">
            <a:tbl>
              <a:tblPr firstRow="1" bandRow="1">
                <a:tableStyleId>{C083E6E3-FA7D-4D7B-A595-EF9225AFEA82}</a:tableStyleId>
              </a:tblPr>
              <a:tblGrid>
                <a:gridCol w="3280474"/>
                <a:gridCol w="2812486"/>
                <a:gridCol w="2720409"/>
                <a:gridCol w="2655378"/>
              </a:tblGrid>
              <a:tr h="599425">
                <a:tc>
                  <a:txBody>
                    <a:bodyPr/>
                    <a:lstStyle/>
                    <a:p>
                      <a:pPr algn="ctr"/>
                      <a:r>
                        <a:rPr lang="en-IN" sz="1600" dirty="0" smtClean="0">
                          <a:latin typeface="Leelawadee" panose="020B0502040204020203" pitchFamily="34" charset="-34"/>
                          <a:cs typeface="Leelawadee" panose="020B0502040204020203" pitchFamily="34" charset="-34"/>
                        </a:rPr>
                        <a:t>Projects WIP</a:t>
                      </a:r>
                      <a:endParaRPr lang="en-IN" sz="1600" dirty="0">
                        <a:latin typeface="Leelawadee" panose="020B0502040204020203" pitchFamily="34" charset="-34"/>
                        <a:cs typeface="Leelawadee" panose="020B0502040204020203" pitchFamily="34" charset="-34"/>
                      </a:endParaRPr>
                    </a:p>
                  </a:txBody>
                  <a:tcPr anchor="ctr"/>
                </a:tc>
                <a:tc>
                  <a:txBody>
                    <a:bodyPr/>
                    <a:lstStyle/>
                    <a:p>
                      <a:pPr algn="ctr"/>
                      <a:r>
                        <a:rPr lang="en-IN" sz="1600" dirty="0" smtClean="0">
                          <a:latin typeface="Leelawadee" panose="020B0502040204020203" pitchFamily="34" charset="-34"/>
                          <a:cs typeface="Leelawadee" panose="020B0502040204020203" pitchFamily="34" charset="-34"/>
                        </a:rPr>
                        <a:t>Projects Delivered</a:t>
                      </a:r>
                      <a:endParaRPr lang="en-IN" sz="1600" dirty="0">
                        <a:latin typeface="Leelawadee" panose="020B0502040204020203" pitchFamily="34" charset="-34"/>
                        <a:cs typeface="Leelawadee" panose="020B0502040204020203" pitchFamily="34" charset="-34"/>
                      </a:endParaRPr>
                    </a:p>
                  </a:txBody>
                  <a:tcPr anchor="ctr"/>
                </a:tc>
                <a:tc>
                  <a:txBody>
                    <a:bodyPr/>
                    <a:lstStyle/>
                    <a:p>
                      <a:pPr algn="ctr"/>
                      <a:r>
                        <a:rPr lang="en-IN" sz="1600" dirty="0" smtClean="0">
                          <a:latin typeface="Leelawadee" panose="020B0502040204020203" pitchFamily="34" charset="-34"/>
                          <a:cs typeface="Leelawadee" panose="020B0502040204020203" pitchFamily="34" charset="-34"/>
                        </a:rPr>
                        <a:t>Success</a:t>
                      </a:r>
                      <a:endParaRPr lang="en-IN" sz="1600" dirty="0">
                        <a:latin typeface="Leelawadee" panose="020B0502040204020203" pitchFamily="34" charset="-34"/>
                        <a:cs typeface="Leelawadee" panose="020B0502040204020203" pitchFamily="34" charset="-34"/>
                      </a:endParaRPr>
                    </a:p>
                  </a:txBody>
                  <a:tcPr anchor="ctr"/>
                </a:tc>
                <a:tc>
                  <a:txBody>
                    <a:bodyPr/>
                    <a:lstStyle/>
                    <a:p>
                      <a:pPr algn="ctr"/>
                      <a:r>
                        <a:rPr lang="en-IN" sz="1600" dirty="0" smtClean="0">
                          <a:latin typeface="Leelawadee" panose="020B0502040204020203" pitchFamily="34" charset="-34"/>
                          <a:cs typeface="Leelawadee" panose="020B0502040204020203" pitchFamily="34" charset="-34"/>
                        </a:rPr>
                        <a:t>Challenges</a:t>
                      </a:r>
                      <a:endParaRPr lang="en-IN" sz="1600" dirty="0">
                        <a:latin typeface="Leelawadee" panose="020B0502040204020203" pitchFamily="34" charset="-34"/>
                        <a:cs typeface="Leelawadee" panose="020B0502040204020203" pitchFamily="34" charset="-34"/>
                      </a:endParaRPr>
                    </a:p>
                  </a:txBody>
                  <a:tcPr anchor="ctr"/>
                </a:tc>
              </a:tr>
              <a:tr h="3087824">
                <a:tc>
                  <a:txBody>
                    <a:bodyPr/>
                    <a:lstStyle/>
                    <a:p>
                      <a:pPr marL="285750" indent="-285750" algn="l">
                        <a:buFont typeface="Arial" panose="020B0604020202020204" pitchFamily="34" charset="0"/>
                        <a:buChar char="•"/>
                      </a:pPr>
                      <a:r>
                        <a:rPr lang="en-IN" sz="1600" dirty="0" smtClean="0">
                          <a:latin typeface="Leelawadee" panose="020B0502040204020203" pitchFamily="34" charset="-34"/>
                          <a:cs typeface="Leelawadee" panose="020B0502040204020203" pitchFamily="34" charset="-34"/>
                        </a:rPr>
                        <a:t>Adobe</a:t>
                      </a:r>
                      <a:r>
                        <a:rPr lang="en-IN" sz="1600" baseline="0" dirty="0" smtClean="0">
                          <a:latin typeface="Leelawadee" panose="020B0502040204020203" pitchFamily="34" charset="-34"/>
                          <a:cs typeface="Leelawadee" panose="020B0502040204020203" pitchFamily="34" charset="-34"/>
                        </a:rPr>
                        <a:t> Analytics implementation support, reporting and advanced web analytics for Tata AIA  – Duration : 1 year </a:t>
                      </a:r>
                    </a:p>
                    <a:p>
                      <a:pPr marL="285750" indent="-285750" algn="l">
                        <a:buFont typeface="Arial" panose="020B0604020202020204" pitchFamily="34" charset="0"/>
                        <a:buChar char="•"/>
                      </a:pPr>
                      <a:endParaRPr lang="en-IN" sz="1600" baseline="0" dirty="0" smtClean="0">
                        <a:latin typeface="Leelawadee" panose="020B0502040204020203" pitchFamily="34" charset="-34"/>
                        <a:cs typeface="Leelawadee" panose="020B0502040204020203" pitchFamily="34" charset="-34"/>
                      </a:endParaRPr>
                    </a:p>
                    <a:p>
                      <a:pPr marL="285750" indent="-285750" algn="l">
                        <a:buFont typeface="Arial" panose="020B0604020202020204" pitchFamily="34" charset="0"/>
                        <a:buChar char="•"/>
                      </a:pPr>
                      <a:r>
                        <a:rPr lang="en-IN" sz="1600" dirty="0" smtClean="0">
                          <a:latin typeface="Leelawadee" panose="020B0502040204020203" pitchFamily="34" charset="-34"/>
                          <a:cs typeface="Leelawadee" panose="020B0502040204020203" pitchFamily="34" charset="-34"/>
                        </a:rPr>
                        <a:t>Google</a:t>
                      </a:r>
                      <a:r>
                        <a:rPr lang="en-IN" sz="1600" baseline="0" dirty="0" smtClean="0">
                          <a:latin typeface="Leelawadee" panose="020B0502040204020203" pitchFamily="34" charset="-34"/>
                          <a:cs typeface="Leelawadee" panose="020B0502040204020203" pitchFamily="34" charset="-34"/>
                        </a:rPr>
                        <a:t> Analytics Setup and lead funnel analysis for Tata Capital – Duration : 1 month</a:t>
                      </a:r>
                      <a:endParaRPr lang="en-IN" sz="1600" b="1" i="1" dirty="0">
                        <a:latin typeface="Leelawadee" panose="020B0502040204020203" pitchFamily="34" charset="-34"/>
                        <a:cs typeface="Leelawadee" panose="020B0502040204020203" pitchFamily="34" charset="-34"/>
                      </a:endParaRPr>
                    </a:p>
                  </a:txBody>
                  <a:tcPr anchor="ctr"/>
                </a:tc>
                <a:tc>
                  <a:txBody>
                    <a:bodyPr/>
                    <a:lstStyle/>
                    <a:p>
                      <a:pPr marL="285750" indent="-285750" algn="l">
                        <a:buFont typeface="Arial" panose="020B0604020202020204" pitchFamily="34" charset="0"/>
                        <a:buChar char="•"/>
                      </a:pPr>
                      <a:r>
                        <a:rPr lang="en-IN" sz="1600" dirty="0" smtClean="0">
                          <a:latin typeface="Leelawadee" panose="020B0502040204020203" pitchFamily="34" charset="-34"/>
                          <a:cs typeface="Leelawadee" panose="020B0502040204020203" pitchFamily="34" charset="-34"/>
                        </a:rPr>
                        <a:t>Preliminary</a:t>
                      </a:r>
                      <a:r>
                        <a:rPr lang="en-IN" sz="1600" baseline="0" dirty="0" smtClean="0">
                          <a:latin typeface="Leelawadee" panose="020B0502040204020203" pitchFamily="34" charset="-34"/>
                          <a:cs typeface="Leelawadee" panose="020B0502040204020203" pitchFamily="34" charset="-34"/>
                        </a:rPr>
                        <a:t> web analytics for Tata AIA using Google Analytics</a:t>
                      </a:r>
                    </a:p>
                    <a:p>
                      <a:pPr marL="0" indent="0" algn="l">
                        <a:buFont typeface="Arial" panose="020B0604020202020204" pitchFamily="34" charset="0"/>
                        <a:buNone/>
                      </a:pPr>
                      <a:endParaRPr lang="en-IN" sz="1600" dirty="0" smtClean="0">
                        <a:latin typeface="Leelawadee" panose="020B0502040204020203" pitchFamily="34" charset="-34"/>
                        <a:cs typeface="Leelawadee" panose="020B0502040204020203" pitchFamily="34" charset="-34"/>
                      </a:endParaRPr>
                    </a:p>
                    <a:p>
                      <a:pPr marL="285750" indent="-285750" algn="l">
                        <a:buFont typeface="Arial" panose="020B0604020202020204" pitchFamily="34" charset="0"/>
                        <a:buChar char="•"/>
                      </a:pPr>
                      <a:r>
                        <a:rPr lang="en-IN" sz="1600" dirty="0" smtClean="0">
                          <a:latin typeface="Leelawadee" panose="020B0502040204020203" pitchFamily="34" charset="-34"/>
                          <a:cs typeface="Leelawadee" panose="020B0502040204020203" pitchFamily="34" charset="-34"/>
                        </a:rPr>
                        <a:t>‘</a:t>
                      </a:r>
                      <a:r>
                        <a:rPr lang="en-IN" sz="1600" dirty="0" err="1" smtClean="0">
                          <a:latin typeface="Leelawadee" panose="020B0502040204020203" pitchFamily="34" charset="-34"/>
                          <a:cs typeface="Leelawadee" panose="020B0502040204020203" pitchFamily="34" charset="-34"/>
                        </a:rPr>
                        <a:t>CatchUp</a:t>
                      </a:r>
                      <a:r>
                        <a:rPr lang="en-IN" sz="1600" dirty="0" smtClean="0">
                          <a:latin typeface="Leelawadee" panose="020B0502040204020203" pitchFamily="34" charset="-34"/>
                          <a:cs typeface="Leelawadee" panose="020B0502040204020203" pitchFamily="34" charset="-34"/>
                        </a:rPr>
                        <a:t>’ Campaign Analysis for Tata AIA</a:t>
                      </a:r>
                    </a:p>
                    <a:p>
                      <a:pPr marL="285750" indent="-285750" algn="l">
                        <a:buFont typeface="Arial" panose="020B0604020202020204" pitchFamily="34" charset="0"/>
                        <a:buChar char="•"/>
                      </a:pPr>
                      <a:endParaRPr lang="en-IN" sz="1600" dirty="0">
                        <a:latin typeface="Leelawadee" panose="020B0502040204020203" pitchFamily="34" charset="-34"/>
                        <a:cs typeface="Leelawadee" panose="020B0502040204020203" pitchFamily="34" charset="-34"/>
                      </a:endParaRPr>
                    </a:p>
                  </a:txBody>
                  <a:tcPr anchor="ctr"/>
                </a:tc>
                <a:tc>
                  <a:txBody>
                    <a:bodyPr/>
                    <a:lstStyle/>
                    <a:p>
                      <a:pPr marL="285750" indent="-285750" algn="l">
                        <a:buFont typeface="Arial" panose="020B0604020202020204" pitchFamily="34" charset="0"/>
                        <a:buChar char="•"/>
                      </a:pPr>
                      <a:r>
                        <a:rPr lang="en-IN" sz="1600" dirty="0" smtClean="0">
                          <a:latin typeface="Leelawadee" panose="020B0502040204020203" pitchFamily="34" charset="-34"/>
                          <a:cs typeface="Leelawadee" panose="020B0502040204020203" pitchFamily="34" charset="-34"/>
                        </a:rPr>
                        <a:t>Entered long term contract with Tata AIA based on timely delivery of  initial projects</a:t>
                      </a:r>
                      <a:r>
                        <a:rPr lang="en-IN" sz="1600" baseline="0" dirty="0" smtClean="0">
                          <a:latin typeface="Leelawadee" panose="020B0502040204020203" pitchFamily="34" charset="-34"/>
                          <a:cs typeface="Leelawadee" panose="020B0502040204020203" pitchFamily="34" charset="-34"/>
                        </a:rPr>
                        <a:t> </a:t>
                      </a:r>
                    </a:p>
                    <a:p>
                      <a:pPr marL="0" indent="0" algn="l">
                        <a:buFont typeface="Arial" panose="020B0604020202020204" pitchFamily="34" charset="0"/>
                        <a:buNone/>
                      </a:pPr>
                      <a:endParaRPr lang="en-IN" sz="1600" baseline="0" dirty="0" smtClean="0">
                        <a:latin typeface="Leelawadee" panose="020B0502040204020203" pitchFamily="34" charset="-34"/>
                        <a:cs typeface="Leelawadee" panose="020B0502040204020203" pitchFamily="34" charset="-34"/>
                      </a:endParaRPr>
                    </a:p>
                  </a:txBody>
                  <a:tcPr anchor="ctr"/>
                </a:tc>
                <a:tc>
                  <a:txBody>
                    <a:bodyPr/>
                    <a:lstStyle/>
                    <a:p>
                      <a:pPr marL="285750" indent="-285750" algn="l">
                        <a:buFont typeface="Arial" panose="020B0604020202020204" pitchFamily="34" charset="0"/>
                        <a:buChar char="•"/>
                      </a:pPr>
                      <a:r>
                        <a:rPr lang="en-IN" sz="1600" dirty="0" smtClean="0">
                          <a:latin typeface="Leelawadee" panose="020B0502040204020203" pitchFamily="34" charset="-34"/>
                          <a:cs typeface="Leelawadee" panose="020B0502040204020203" pitchFamily="34" charset="-34"/>
                        </a:rPr>
                        <a:t>1</a:t>
                      </a:r>
                      <a:r>
                        <a:rPr lang="en-IN" sz="1600" baseline="0" dirty="0" smtClean="0">
                          <a:latin typeface="Leelawadee" panose="020B0502040204020203" pitchFamily="34" charset="-34"/>
                          <a:cs typeface="Leelawadee" panose="020B0502040204020203" pitchFamily="34" charset="-34"/>
                        </a:rPr>
                        <a:t> or 2 more full time resources would be required </a:t>
                      </a:r>
                    </a:p>
                    <a:p>
                      <a:pPr marL="285750" indent="-285750" algn="l">
                        <a:buFont typeface="Arial" panose="020B0604020202020204" pitchFamily="34" charset="0"/>
                        <a:buChar char="•"/>
                      </a:pPr>
                      <a:endParaRPr lang="en-IN" sz="1600" baseline="0" dirty="0" smtClean="0">
                        <a:latin typeface="Leelawadee" panose="020B0502040204020203" pitchFamily="34" charset="-34"/>
                        <a:cs typeface="Leelawadee" panose="020B0502040204020203" pitchFamily="34" charset="-34"/>
                      </a:endParaRPr>
                    </a:p>
                    <a:p>
                      <a:pPr marL="285750" indent="-285750" algn="l">
                        <a:buFont typeface="Arial" panose="020B0604020202020204" pitchFamily="34" charset="0"/>
                        <a:buChar char="•"/>
                      </a:pPr>
                      <a:r>
                        <a:rPr lang="en-IN" sz="1600" baseline="0" dirty="0" smtClean="0">
                          <a:latin typeface="Leelawadee" panose="020B0502040204020203" pitchFamily="34" charset="-34"/>
                          <a:cs typeface="Leelawadee" panose="020B0502040204020203" pitchFamily="34" charset="-34"/>
                        </a:rPr>
                        <a:t>Training content on Adobe tools – Adobe Analytics , Test &amp; Target </a:t>
                      </a:r>
                      <a:endParaRPr lang="en-IN" sz="1600" dirty="0">
                        <a:latin typeface="Leelawadee" panose="020B0502040204020203" pitchFamily="34" charset="-34"/>
                        <a:cs typeface="Leelawadee" panose="020B0502040204020203" pitchFamily="34" charset="-34"/>
                      </a:endParaRPr>
                    </a:p>
                  </a:txBody>
                  <a:tcPr anchor="ctr"/>
                </a:tc>
              </a:tr>
            </a:tbl>
          </a:graphicData>
        </a:graphic>
      </p:graphicFrame>
      <p:sp>
        <p:nvSpPr>
          <p:cNvPr id="26" name="TextBox 25"/>
          <p:cNvSpPr txBox="1"/>
          <p:nvPr/>
        </p:nvSpPr>
        <p:spPr>
          <a:xfrm>
            <a:off x="524360" y="1212728"/>
            <a:ext cx="5086025" cy="338554"/>
          </a:xfrm>
          <a:prstGeom prst="rect">
            <a:avLst/>
          </a:prstGeom>
          <a:noFill/>
        </p:spPr>
        <p:txBody>
          <a:bodyPr wrap="square" rtlCol="0">
            <a:spAutoFit/>
          </a:bodyPr>
          <a:lstStyle/>
          <a:p>
            <a:r>
              <a:rPr lang="en-IN" sz="1600" b="1" dirty="0" smtClean="0">
                <a:latin typeface="Leelawadee" panose="020B0502040204020203" pitchFamily="34" charset="-34"/>
                <a:cs typeface="Leelawadee" panose="020B0502040204020203" pitchFamily="34" charset="-34"/>
              </a:rPr>
              <a:t>Current Clients </a:t>
            </a:r>
            <a:r>
              <a:rPr lang="en-IN" sz="1600" dirty="0" smtClean="0">
                <a:latin typeface="Leelawadee" panose="020B0502040204020203" pitchFamily="34" charset="-34"/>
                <a:cs typeface="Leelawadee" panose="020B0502040204020203" pitchFamily="34" charset="-34"/>
              </a:rPr>
              <a:t>: Tata AIA, Tata Capital</a:t>
            </a:r>
            <a:endParaRPr lang="en-IN" sz="1600" dirty="0">
              <a:latin typeface="Leelawadee" panose="020B0502040204020203" pitchFamily="34" charset="-34"/>
              <a:cs typeface="Leelawadee" panose="020B0502040204020203" pitchFamily="34" charset="-34"/>
            </a:endParaRPr>
          </a:p>
        </p:txBody>
      </p:sp>
      <p:sp>
        <p:nvSpPr>
          <p:cNvPr id="27" name="TextBox 26"/>
          <p:cNvSpPr txBox="1"/>
          <p:nvPr/>
        </p:nvSpPr>
        <p:spPr>
          <a:xfrm>
            <a:off x="6481482" y="1239976"/>
            <a:ext cx="5442938" cy="523220"/>
          </a:xfrm>
          <a:prstGeom prst="rect">
            <a:avLst/>
          </a:prstGeom>
          <a:noFill/>
        </p:spPr>
        <p:txBody>
          <a:bodyPr wrap="square" rtlCol="0">
            <a:spAutoFit/>
          </a:bodyPr>
          <a:lstStyle/>
          <a:p>
            <a:r>
              <a:rPr lang="en-IN" sz="1400" b="1" dirty="0" smtClean="0">
                <a:latin typeface="Leelawadee" panose="020B0502040204020203" pitchFamily="34" charset="-34"/>
                <a:cs typeface="Leelawadee" panose="020B0502040204020203" pitchFamily="34" charset="-34"/>
              </a:rPr>
              <a:t>Immediate Future Clients </a:t>
            </a:r>
            <a:r>
              <a:rPr lang="en-IN" sz="1400" dirty="0" smtClean="0">
                <a:latin typeface="Leelawadee" panose="020B0502040204020203" pitchFamily="34" charset="-34"/>
                <a:cs typeface="Leelawadee" panose="020B0502040204020203" pitchFamily="34" charset="-34"/>
              </a:rPr>
              <a:t>: Tata AIG , Tata CLiQ, Tata Power, GEC</a:t>
            </a:r>
          </a:p>
          <a:p>
            <a:r>
              <a:rPr lang="en-IN" sz="1400" dirty="0">
                <a:latin typeface="Leelawadee" panose="020B0502040204020203" pitchFamily="34" charset="-34"/>
                <a:cs typeface="Leelawadee" panose="020B0502040204020203" pitchFamily="34" charset="-34"/>
              </a:rPr>
              <a:t>	</a:t>
            </a:r>
            <a:r>
              <a:rPr lang="en-IN" sz="1400" dirty="0" smtClean="0">
                <a:latin typeface="Leelawadee" panose="020B0502040204020203" pitchFamily="34" charset="-34"/>
                <a:cs typeface="Leelawadee" panose="020B0502040204020203" pitchFamily="34" charset="-34"/>
              </a:rPr>
              <a:t>		</a:t>
            </a:r>
            <a:endParaRPr lang="en-IN" sz="1400" dirty="0">
              <a:latin typeface="Leelawadee" panose="020B0502040204020203" pitchFamily="34" charset="-34"/>
              <a:cs typeface="Leelawadee" panose="020B0502040204020203" pitchFamily="34" charset="-34"/>
            </a:endParaRPr>
          </a:p>
        </p:txBody>
      </p:sp>
      <p:sp>
        <p:nvSpPr>
          <p:cNvPr id="28" name="TextBox 27"/>
          <p:cNvSpPr txBox="1"/>
          <p:nvPr/>
        </p:nvSpPr>
        <p:spPr>
          <a:xfrm>
            <a:off x="6481482" y="1981190"/>
            <a:ext cx="3321803" cy="338554"/>
          </a:xfrm>
          <a:prstGeom prst="rect">
            <a:avLst/>
          </a:prstGeom>
          <a:noFill/>
        </p:spPr>
        <p:txBody>
          <a:bodyPr wrap="square" rtlCol="0">
            <a:spAutoFit/>
          </a:bodyPr>
          <a:lstStyle/>
          <a:p>
            <a:r>
              <a:rPr lang="en-IN" sz="1600" b="1" dirty="0" smtClean="0">
                <a:latin typeface="Leelawadee" panose="020B0502040204020203" pitchFamily="34" charset="-34"/>
                <a:cs typeface="Leelawadee" panose="020B0502040204020203" pitchFamily="34" charset="-34"/>
              </a:rPr>
              <a:t>Shared resources</a:t>
            </a:r>
            <a:r>
              <a:rPr lang="en-IN" sz="1600" dirty="0" smtClean="0">
                <a:latin typeface="Leelawadee" panose="020B0502040204020203" pitchFamily="34" charset="-34"/>
                <a:cs typeface="Leelawadee" panose="020B0502040204020203" pitchFamily="34" charset="-34"/>
              </a:rPr>
              <a:t> :  Kritika  </a:t>
            </a:r>
            <a:endParaRPr lang="en-IN" sz="1600" dirty="0">
              <a:latin typeface="Leelawadee" panose="020B0502040204020203" pitchFamily="34" charset="-34"/>
              <a:cs typeface="Leelawadee" panose="020B0502040204020203" pitchFamily="34" charset="-34"/>
            </a:endParaRPr>
          </a:p>
        </p:txBody>
      </p:sp>
    </p:spTree>
    <p:extLst>
      <p:ext uri="{BB962C8B-B14F-4D97-AF65-F5344CB8AC3E}">
        <p14:creationId xmlns:p14="http://schemas.microsoft.com/office/powerpoint/2010/main" val="363552912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0" y="632802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388122"/>
            <a:ext cx="12192000" cy="461665"/>
            <a:chOff x="1" y="322556"/>
            <a:chExt cx="12192000" cy="461665"/>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4451462" y="322556"/>
              <a:ext cx="3289234" cy="461665"/>
            </a:xfrm>
            <a:prstGeom prst="rect">
              <a:avLst/>
            </a:prstGeom>
            <a:solidFill>
              <a:schemeClr val="bg1"/>
            </a:solidFill>
          </p:spPr>
          <p:txBody>
            <a:bodyPr wrap="none" anchor="ctr">
              <a:spAutoFit/>
            </a:bodyPr>
            <a:lstStyle/>
            <a:p>
              <a:pPr algn="ctr"/>
              <a:r>
                <a:rPr lang="en-IN" sz="2400" b="1" dirty="0" smtClean="0">
                  <a:solidFill>
                    <a:schemeClr val="bg1">
                      <a:lumMod val="50000"/>
                    </a:schemeClr>
                  </a:solidFill>
                  <a:latin typeface="Leelawadee UI" panose="020B0502040204020203" pitchFamily="34" charset="-34"/>
                  <a:cs typeface="Leelawadee UI" panose="020B0502040204020203" pitchFamily="34" charset="-34"/>
                </a:rPr>
                <a:t>Website Performance</a:t>
              </a:r>
              <a:endParaRPr lang="en-IN" sz="2400" b="1" dirty="0" smtClean="0">
                <a:solidFill>
                  <a:schemeClr val="bg1">
                    <a:lumMod val="50000"/>
                  </a:schemeClr>
                </a:solidFill>
                <a:latin typeface="Leelawadee UI" panose="020B0502040204020203" pitchFamily="34" charset="-34"/>
                <a:cs typeface="Leelawadee UI" panose="020B0502040204020203" pitchFamily="34" charset="-34"/>
              </a:endParaRPr>
            </a:p>
          </p:txBody>
        </p:sp>
      </p:grpSp>
      <p:sp>
        <p:nvSpPr>
          <p:cNvPr id="17" name="Rectangle 16"/>
          <p:cNvSpPr/>
          <p:nvPr/>
        </p:nvSpPr>
        <p:spPr>
          <a:xfrm>
            <a:off x="544047" y="1287787"/>
            <a:ext cx="4106781" cy="4524315"/>
          </a:xfrm>
          <a:prstGeom prst="rect">
            <a:avLst/>
          </a:prstGeom>
        </p:spPr>
        <p:txBody>
          <a:bodyPr wrap="square">
            <a:spAutoFit/>
          </a:bodyPr>
          <a:lstStyle/>
          <a:p>
            <a:r>
              <a:rPr lang="en-IN" sz="1600" b="1" dirty="0">
                <a:solidFill>
                  <a:prstClr val="black"/>
                </a:solidFill>
                <a:latin typeface="Leelawadee" panose="020B0502040204020203" pitchFamily="34" charset="-34"/>
                <a:cs typeface="Leelawadee" panose="020B0502040204020203" pitchFamily="34" charset="-34"/>
              </a:rPr>
              <a:t>Objective</a:t>
            </a:r>
            <a:r>
              <a:rPr lang="en-IN" sz="1600" dirty="0" smtClean="0">
                <a:solidFill>
                  <a:prstClr val="black"/>
                </a:solidFill>
                <a:latin typeface="Leelawadee" panose="020B0502040204020203" pitchFamily="34" charset="-34"/>
                <a:cs typeface="Leelawadee" panose="020B0502040204020203" pitchFamily="34" charset="-34"/>
              </a:rPr>
              <a:t>:</a:t>
            </a:r>
          </a:p>
          <a:p>
            <a:r>
              <a:rPr lang="en-IN" sz="1600" dirty="0" smtClean="0">
                <a:solidFill>
                  <a:prstClr val="black"/>
                </a:solidFill>
                <a:latin typeface="Leelawadee" panose="020B0502040204020203" pitchFamily="34" charset="-34"/>
                <a:cs typeface="Leelawadee" panose="020B0502040204020203" pitchFamily="34" charset="-34"/>
              </a:rPr>
              <a:t>The </a:t>
            </a:r>
            <a:r>
              <a:rPr lang="en-IN" sz="1600" dirty="0">
                <a:solidFill>
                  <a:prstClr val="black"/>
                </a:solidFill>
                <a:latin typeface="Leelawadee" panose="020B0502040204020203" pitchFamily="34" charset="-34"/>
                <a:cs typeface="Leelawadee" panose="020B0502040204020203" pitchFamily="34" charset="-34"/>
              </a:rPr>
              <a:t>leading Financial Services </a:t>
            </a:r>
            <a:r>
              <a:rPr lang="en-IN" sz="1600" dirty="0" smtClean="0">
                <a:solidFill>
                  <a:prstClr val="black"/>
                </a:solidFill>
                <a:latin typeface="Leelawadee" panose="020B0502040204020203" pitchFamily="34" charset="-34"/>
                <a:cs typeface="Leelawadee" panose="020B0502040204020203" pitchFamily="34" charset="-34"/>
              </a:rPr>
              <a:t>provider wants to understand its website traffic &amp; performance over time</a:t>
            </a:r>
            <a:endParaRPr lang="en-IN" sz="1600" dirty="0">
              <a:solidFill>
                <a:prstClr val="black"/>
              </a:solidFill>
              <a:latin typeface="Leelawadee" panose="020B0502040204020203" pitchFamily="34" charset="-34"/>
              <a:cs typeface="Leelawadee" panose="020B0502040204020203" pitchFamily="34" charset="-34"/>
            </a:endParaRPr>
          </a:p>
          <a:p>
            <a:endParaRPr lang="en-IN" sz="1600" dirty="0" smtClean="0">
              <a:solidFill>
                <a:prstClr val="black"/>
              </a:solidFill>
              <a:latin typeface="Leelawadee" panose="020B0502040204020203" pitchFamily="34" charset="-34"/>
              <a:cs typeface="Leelawadee" panose="020B0502040204020203" pitchFamily="34" charset="-34"/>
            </a:endParaRPr>
          </a:p>
          <a:p>
            <a:endParaRPr lang="en-IN" sz="1600" dirty="0">
              <a:solidFill>
                <a:prstClr val="black"/>
              </a:solidFill>
              <a:latin typeface="Leelawadee" panose="020B0502040204020203" pitchFamily="34" charset="-34"/>
              <a:cs typeface="Leelawadee" panose="020B0502040204020203" pitchFamily="34" charset="-34"/>
            </a:endParaRPr>
          </a:p>
          <a:p>
            <a:r>
              <a:rPr lang="en-IN" sz="1600" b="1" dirty="0" smtClean="0">
                <a:solidFill>
                  <a:prstClr val="black"/>
                </a:solidFill>
                <a:latin typeface="Leelawadee" panose="020B0502040204020203" pitchFamily="34" charset="-34"/>
                <a:cs typeface="Leelawadee" panose="020B0502040204020203" pitchFamily="34" charset="-34"/>
              </a:rPr>
              <a:t>Solution:</a:t>
            </a:r>
          </a:p>
          <a:p>
            <a:r>
              <a:rPr lang="en-IN" sz="1600" dirty="0">
                <a:solidFill>
                  <a:prstClr val="black"/>
                </a:solidFill>
                <a:latin typeface="Leelawadee" panose="020B0502040204020203" pitchFamily="34" charset="-34"/>
                <a:cs typeface="Leelawadee" panose="020B0502040204020203" pitchFamily="34" charset="-34"/>
              </a:rPr>
              <a:t>Based on Web Analytics tools such as Google Analytics and Adobe </a:t>
            </a:r>
            <a:r>
              <a:rPr lang="en-IN" sz="1600" dirty="0" smtClean="0">
                <a:solidFill>
                  <a:prstClr val="black"/>
                </a:solidFill>
                <a:latin typeface="Leelawadee" panose="020B0502040204020203" pitchFamily="34" charset="-34"/>
                <a:cs typeface="Leelawadee" panose="020B0502040204020203" pitchFamily="34" charset="-34"/>
              </a:rPr>
              <a:t>Analytics:</a:t>
            </a:r>
            <a:endParaRPr lang="en-IN" sz="1600" dirty="0">
              <a:solidFill>
                <a:prstClr val="black"/>
              </a:solidFill>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600" dirty="0">
                <a:solidFill>
                  <a:prstClr val="black"/>
                </a:solidFill>
                <a:latin typeface="Leelawadee" panose="020B0502040204020203" pitchFamily="34" charset="-34"/>
                <a:cs typeface="Leelawadee" panose="020B0502040204020203" pitchFamily="34" charset="-34"/>
              </a:rPr>
              <a:t>Website Traffic &amp; Engagement Metrics</a:t>
            </a:r>
          </a:p>
          <a:p>
            <a:pPr marL="285750" indent="-285750">
              <a:buFont typeface="Arial" panose="020B0604020202020204" pitchFamily="34" charset="0"/>
              <a:buChar char="•"/>
            </a:pPr>
            <a:r>
              <a:rPr lang="en-IN" sz="1600" dirty="0">
                <a:solidFill>
                  <a:prstClr val="black"/>
                </a:solidFill>
                <a:latin typeface="Leelawadee" panose="020B0502040204020203" pitchFamily="34" charset="-34"/>
                <a:cs typeface="Leelawadee" panose="020B0502040204020203" pitchFamily="34" charset="-34"/>
              </a:rPr>
              <a:t>Audience Analysis</a:t>
            </a:r>
          </a:p>
          <a:p>
            <a:pPr marL="285750" indent="-285750">
              <a:buFont typeface="Arial" panose="020B0604020202020204" pitchFamily="34" charset="0"/>
              <a:buChar char="•"/>
            </a:pPr>
            <a:r>
              <a:rPr lang="en-IN" sz="1600" dirty="0">
                <a:solidFill>
                  <a:prstClr val="black"/>
                </a:solidFill>
                <a:latin typeface="Leelawadee" panose="020B0502040204020203" pitchFamily="34" charset="-34"/>
                <a:cs typeface="Leelawadee" panose="020B0502040204020203" pitchFamily="34" charset="-34"/>
              </a:rPr>
              <a:t>Top Sections &amp; pages</a:t>
            </a:r>
          </a:p>
          <a:p>
            <a:pPr marL="285750" indent="-285750">
              <a:buFont typeface="Arial" panose="020B0604020202020204" pitchFamily="34" charset="0"/>
              <a:buChar char="•"/>
            </a:pPr>
            <a:r>
              <a:rPr lang="en-IN" sz="1600" dirty="0">
                <a:solidFill>
                  <a:prstClr val="black"/>
                </a:solidFill>
                <a:latin typeface="Leelawadee" panose="020B0502040204020203" pitchFamily="34" charset="-34"/>
                <a:cs typeface="Leelawadee" panose="020B0502040204020203" pitchFamily="34" charset="-34"/>
              </a:rPr>
              <a:t>Device and Channels</a:t>
            </a:r>
          </a:p>
          <a:p>
            <a:endParaRPr lang="en-IN" sz="1600" b="1" dirty="0" smtClean="0">
              <a:solidFill>
                <a:prstClr val="black"/>
              </a:solidFill>
              <a:latin typeface="Leelawadee" panose="020B0502040204020203" pitchFamily="34" charset="-34"/>
              <a:cs typeface="Leelawadee" panose="020B0502040204020203" pitchFamily="34" charset="-34"/>
            </a:endParaRPr>
          </a:p>
          <a:p>
            <a:r>
              <a:rPr lang="en-IN" sz="1600" b="1" dirty="0" smtClean="0">
                <a:solidFill>
                  <a:prstClr val="black"/>
                </a:solidFill>
                <a:latin typeface="Leelawadee" panose="020B0502040204020203" pitchFamily="34" charset="-34"/>
                <a:cs typeface="Leelawadee" panose="020B0502040204020203" pitchFamily="34" charset="-34"/>
              </a:rPr>
              <a:t>Result: </a:t>
            </a:r>
          </a:p>
          <a:p>
            <a:r>
              <a:rPr lang="en-IN" sz="1600" dirty="0" smtClean="0">
                <a:solidFill>
                  <a:prstClr val="black"/>
                </a:solidFill>
                <a:latin typeface="Leelawadee" panose="020B0502040204020203" pitchFamily="34" charset="-34"/>
                <a:cs typeface="Leelawadee" panose="020B0502040204020203" pitchFamily="34" charset="-34"/>
              </a:rPr>
              <a:t>Client was able to understand increasing importance of its website for its business based on traffic data</a:t>
            </a:r>
            <a:endParaRPr lang="en-IN" sz="1600" dirty="0">
              <a:solidFill>
                <a:prstClr val="black"/>
              </a:solidFill>
              <a:latin typeface="Leelawadee" panose="020B0502040204020203" pitchFamily="34" charset="-34"/>
              <a:cs typeface="Leelawadee" panose="020B0502040204020203" pitchFamily="34" charset="-34"/>
            </a:endParaRPr>
          </a:p>
        </p:txBody>
      </p:sp>
      <p:sp>
        <p:nvSpPr>
          <p:cNvPr id="18" name="Rounded Rectangle 17"/>
          <p:cNvSpPr/>
          <p:nvPr/>
        </p:nvSpPr>
        <p:spPr>
          <a:xfrm>
            <a:off x="305219" y="983789"/>
            <a:ext cx="4345609" cy="5080742"/>
          </a:xfrm>
          <a:prstGeom prst="roundRect">
            <a:avLst/>
          </a:prstGeom>
          <a:noFill/>
          <a:ln>
            <a:solidFill>
              <a:schemeClr val="tx1">
                <a:lumMod val="95000"/>
                <a:lumOff val="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pic>
        <p:nvPicPr>
          <p:cNvPr id="20" name="Picture 19"/>
          <p:cNvPicPr>
            <a:picLocks noChangeAspect="1"/>
          </p:cNvPicPr>
          <p:nvPr/>
        </p:nvPicPr>
        <p:blipFill>
          <a:blip r:embed="rId4"/>
          <a:stretch>
            <a:fillRect/>
          </a:stretch>
        </p:blipFill>
        <p:spPr>
          <a:xfrm>
            <a:off x="7917958" y="2528748"/>
            <a:ext cx="4146331" cy="2126897"/>
          </a:xfrm>
          <a:prstGeom prst="rect">
            <a:avLst/>
          </a:prstGeom>
          <a:ln>
            <a:noFill/>
          </a:ln>
          <a:effectLst>
            <a:outerShdw blurRad="190500" algn="tl" rotWithShape="0">
              <a:srgbClr val="000000">
                <a:alpha val="70000"/>
              </a:srgbClr>
            </a:outerShdw>
          </a:effectLst>
        </p:spPr>
      </p:pic>
      <p:grpSp>
        <p:nvGrpSpPr>
          <p:cNvPr id="14" name="Group 13"/>
          <p:cNvGrpSpPr/>
          <p:nvPr/>
        </p:nvGrpSpPr>
        <p:grpSpPr>
          <a:xfrm>
            <a:off x="5333573" y="1111012"/>
            <a:ext cx="4170258" cy="2073963"/>
            <a:chOff x="468947" y="2849769"/>
            <a:chExt cx="5485024" cy="2799711"/>
          </a:xfrm>
        </p:grpSpPr>
        <p:pic>
          <p:nvPicPr>
            <p:cNvPr id="19" name="Picture 18"/>
            <p:cNvPicPr>
              <a:picLocks noChangeAspect="1"/>
            </p:cNvPicPr>
            <p:nvPr/>
          </p:nvPicPr>
          <p:blipFill>
            <a:blip r:embed="rId5"/>
            <a:stretch>
              <a:fillRect/>
            </a:stretch>
          </p:blipFill>
          <p:spPr>
            <a:xfrm>
              <a:off x="3828490" y="5375716"/>
              <a:ext cx="1684805" cy="235089"/>
            </a:xfrm>
            <a:prstGeom prst="rect">
              <a:avLst/>
            </a:prstGeom>
          </p:spPr>
        </p:pic>
        <p:pic>
          <p:nvPicPr>
            <p:cNvPr id="16" name="Picture 15"/>
            <p:cNvPicPr>
              <a:picLocks noChangeAspect="1"/>
            </p:cNvPicPr>
            <p:nvPr/>
          </p:nvPicPr>
          <p:blipFill>
            <a:blip r:embed="rId6"/>
            <a:stretch>
              <a:fillRect/>
            </a:stretch>
          </p:blipFill>
          <p:spPr>
            <a:xfrm>
              <a:off x="468947" y="2849769"/>
              <a:ext cx="5485024" cy="2799711"/>
            </a:xfrm>
            <a:prstGeom prst="rect">
              <a:avLst/>
            </a:prstGeom>
            <a:ln>
              <a:noFill/>
            </a:ln>
            <a:effectLst>
              <a:outerShdw blurRad="190500" algn="tl" rotWithShape="0">
                <a:srgbClr val="000000">
                  <a:alpha val="70000"/>
                </a:srgbClr>
              </a:outerShdw>
            </a:effectLst>
          </p:spPr>
        </p:pic>
      </p:grpSp>
      <p:sp>
        <p:nvSpPr>
          <p:cNvPr id="27" name="TextBox 26"/>
          <p:cNvSpPr txBox="1"/>
          <p:nvPr/>
        </p:nvSpPr>
        <p:spPr bwMode="gray">
          <a:xfrm>
            <a:off x="8421033" y="5327473"/>
            <a:ext cx="1495503" cy="484629"/>
          </a:xfrm>
          <a:prstGeom prst="rect">
            <a:avLst/>
          </a:prstGeom>
        </p:spPr>
        <p:txBody>
          <a:bodyPr vert="horz" wrap="square" lIns="91440" tIns="45720" rIns="91440" bIns="45720" rtlCol="0" anchor="ctr">
            <a:noAutofit/>
          </a:bodyPr>
          <a:lstStyle/>
          <a:p>
            <a:pPr algn="ctr"/>
            <a:r>
              <a:rPr lang="en-IN" b="1" dirty="0" smtClean="0">
                <a:solidFill>
                  <a:prstClr val="black"/>
                </a:solidFill>
              </a:rPr>
              <a:t>Customer Journey</a:t>
            </a:r>
            <a:endParaRPr lang="en-IN" b="1" dirty="0">
              <a:solidFill>
                <a:prstClr val="black"/>
              </a:solidFill>
            </a:endParaRPr>
          </a:p>
        </p:txBody>
      </p:sp>
      <p:sp>
        <p:nvSpPr>
          <p:cNvPr id="29" name="TextBox 28"/>
          <p:cNvSpPr txBox="1"/>
          <p:nvPr/>
        </p:nvSpPr>
        <p:spPr bwMode="gray">
          <a:xfrm>
            <a:off x="9713457" y="1476067"/>
            <a:ext cx="1549597" cy="484629"/>
          </a:xfrm>
          <a:prstGeom prst="rect">
            <a:avLst/>
          </a:prstGeom>
        </p:spPr>
        <p:txBody>
          <a:bodyPr vert="horz" wrap="square" lIns="91440" tIns="45720" rIns="91440" bIns="45720" rtlCol="0" anchor="ctr">
            <a:noAutofit/>
          </a:bodyPr>
          <a:lstStyle/>
          <a:p>
            <a:pPr algn="ctr"/>
            <a:r>
              <a:rPr lang="en-IN" b="1" dirty="0" smtClean="0">
                <a:solidFill>
                  <a:prstClr val="black"/>
                </a:solidFill>
              </a:rPr>
              <a:t>Traffic Trend over time </a:t>
            </a:r>
            <a:endParaRPr lang="en-IN" b="1" dirty="0">
              <a:solidFill>
                <a:prstClr val="black"/>
              </a:solidFill>
            </a:endParaRPr>
          </a:p>
        </p:txBody>
      </p:sp>
      <p:pic>
        <p:nvPicPr>
          <p:cNvPr id="21" name="Picture 20"/>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354874" y="3585528"/>
            <a:ext cx="2993359" cy="2543644"/>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3129717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0" y="632802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388122"/>
            <a:ext cx="12192000" cy="461665"/>
            <a:chOff x="1" y="322556"/>
            <a:chExt cx="12192000" cy="461665"/>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3746405" y="322556"/>
              <a:ext cx="4699364" cy="461665"/>
            </a:xfrm>
            <a:prstGeom prst="rect">
              <a:avLst/>
            </a:prstGeom>
            <a:solidFill>
              <a:schemeClr val="bg1"/>
            </a:solidFill>
          </p:spPr>
          <p:txBody>
            <a:bodyPr wrap="none" anchor="ctr">
              <a:spAutoFit/>
            </a:bodyPr>
            <a:lstStyle/>
            <a:p>
              <a:pPr algn="ctr"/>
              <a:r>
                <a:rPr lang="en-IN" sz="2400" b="1" dirty="0" smtClean="0">
                  <a:solidFill>
                    <a:schemeClr val="bg1">
                      <a:lumMod val="50000"/>
                    </a:schemeClr>
                  </a:solidFill>
                  <a:latin typeface="Leelawadee UI" panose="020B0502040204020203" pitchFamily="34" charset="-34"/>
                  <a:cs typeface="Leelawadee UI" panose="020B0502040204020203" pitchFamily="34" charset="-34"/>
                </a:rPr>
                <a:t>Digital Marketing Effectiveness</a:t>
              </a:r>
              <a:endParaRPr lang="en-IN" sz="2400" b="1" dirty="0" smtClean="0">
                <a:solidFill>
                  <a:schemeClr val="bg1">
                    <a:lumMod val="50000"/>
                  </a:schemeClr>
                </a:solidFill>
                <a:latin typeface="Leelawadee UI" panose="020B0502040204020203" pitchFamily="34" charset="-34"/>
                <a:cs typeface="Leelawadee UI" panose="020B0502040204020203" pitchFamily="34" charset="-34"/>
              </a:endParaRPr>
            </a:p>
          </p:txBody>
        </p:sp>
      </p:grpSp>
      <p:pic>
        <p:nvPicPr>
          <p:cNvPr id="2" name="Picture 1"/>
          <p:cNvPicPr>
            <a:picLocks noChangeAspect="1"/>
          </p:cNvPicPr>
          <p:nvPr/>
        </p:nvPicPr>
        <p:blipFill>
          <a:blip r:embed="rId4"/>
          <a:stretch>
            <a:fillRect/>
          </a:stretch>
        </p:blipFill>
        <p:spPr>
          <a:xfrm>
            <a:off x="5324878" y="1156985"/>
            <a:ext cx="6645193" cy="2922375"/>
          </a:xfrm>
          <a:prstGeom prst="rect">
            <a:avLst/>
          </a:prstGeom>
          <a:ln>
            <a:noFill/>
          </a:ln>
          <a:effectLst>
            <a:outerShdw blurRad="190500" algn="tl" rotWithShape="0">
              <a:srgbClr val="000000">
                <a:alpha val="70000"/>
              </a:srgbClr>
            </a:outerShdw>
          </a:effectLst>
        </p:spPr>
      </p:pic>
      <p:pic>
        <p:nvPicPr>
          <p:cNvPr id="3" name="Picture 2"/>
          <p:cNvPicPr>
            <a:picLocks noChangeAspect="1"/>
          </p:cNvPicPr>
          <p:nvPr/>
        </p:nvPicPr>
        <p:blipFill>
          <a:blip r:embed="rId5"/>
          <a:stretch>
            <a:fillRect/>
          </a:stretch>
        </p:blipFill>
        <p:spPr>
          <a:xfrm>
            <a:off x="6405460" y="4386559"/>
            <a:ext cx="4080615" cy="1782793"/>
          </a:xfrm>
          <a:prstGeom prst="rect">
            <a:avLst/>
          </a:prstGeom>
          <a:ln>
            <a:noFill/>
          </a:ln>
          <a:effectLst>
            <a:outerShdw blurRad="190500" algn="tl" rotWithShape="0">
              <a:srgbClr val="000000">
                <a:alpha val="70000"/>
              </a:srgbClr>
            </a:outerShdw>
          </a:effectLst>
        </p:spPr>
      </p:pic>
      <p:pic>
        <p:nvPicPr>
          <p:cNvPr id="5" name="Picture 4"/>
          <p:cNvPicPr>
            <a:picLocks noChangeAspect="1"/>
          </p:cNvPicPr>
          <p:nvPr/>
        </p:nvPicPr>
        <p:blipFill>
          <a:blip r:embed="rId6"/>
          <a:stretch>
            <a:fillRect/>
          </a:stretch>
        </p:blipFill>
        <p:spPr>
          <a:xfrm>
            <a:off x="204141" y="1515765"/>
            <a:ext cx="4737153" cy="3929684"/>
          </a:xfrm>
          <a:prstGeom prst="rect">
            <a:avLst/>
          </a:prstGeom>
        </p:spPr>
      </p:pic>
    </p:spTree>
    <p:extLst>
      <p:ext uri="{BB962C8B-B14F-4D97-AF65-F5344CB8AC3E}">
        <p14:creationId xmlns:p14="http://schemas.microsoft.com/office/powerpoint/2010/main" val="26268474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p:cNvGrpSpPr/>
          <p:nvPr/>
        </p:nvGrpSpPr>
        <p:grpSpPr>
          <a:xfrm>
            <a:off x="1" y="267843"/>
            <a:ext cx="12192000" cy="461665"/>
            <a:chOff x="1" y="322556"/>
            <a:chExt cx="12192000" cy="461665"/>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4212858" y="322556"/>
              <a:ext cx="3766352" cy="461665"/>
            </a:xfrm>
            <a:prstGeom prst="rect">
              <a:avLst/>
            </a:prstGeom>
            <a:solidFill>
              <a:schemeClr val="bg1"/>
            </a:solidFill>
          </p:spPr>
          <p:txBody>
            <a:bodyPr wrap="none" anchor="ctr">
              <a:spAutoFit/>
            </a:bodyPr>
            <a:lstStyle/>
            <a:p>
              <a:pPr algn="ctr"/>
              <a:r>
                <a:rPr lang="en-IN" sz="2400" b="1" dirty="0" smtClean="0">
                  <a:solidFill>
                    <a:srgbClr val="0070C0"/>
                  </a:solidFill>
                  <a:latin typeface="Leelawadee UI" panose="020B0502040204020203" pitchFamily="34" charset="-34"/>
                  <a:cs typeface="Leelawadee UI" panose="020B0502040204020203" pitchFamily="34" charset="-34"/>
                </a:rPr>
                <a:t>2. Social Media Analytics</a:t>
              </a:r>
              <a:endParaRPr lang="en-IN" sz="2400" b="1" dirty="0">
                <a:solidFill>
                  <a:schemeClr val="bg1">
                    <a:lumMod val="50000"/>
                  </a:schemeClr>
                </a:solidFill>
                <a:latin typeface="Leelawadee UI" panose="020B0502040204020203" pitchFamily="34" charset="-34"/>
                <a:cs typeface="Leelawadee UI" panose="020B0502040204020203" pitchFamily="34" charset="-34"/>
              </a:endParaRPr>
            </a:p>
          </p:txBody>
        </p:sp>
      </p:grpSp>
      <p:sp>
        <p:nvSpPr>
          <p:cNvPr id="75" name="Rounded Rectangle 74"/>
          <p:cNvSpPr/>
          <p:nvPr/>
        </p:nvSpPr>
        <p:spPr>
          <a:xfrm>
            <a:off x="361628" y="1133923"/>
            <a:ext cx="11468746" cy="526943"/>
          </a:xfrm>
          <a:prstGeom prst="roundRect">
            <a:avLst/>
          </a:prstGeom>
          <a:solidFill>
            <a:schemeClr val="accent6">
              <a:lumMod val="40000"/>
              <a:lumOff val="60000"/>
            </a:schemeClr>
          </a:solidFill>
          <a:ln>
            <a:solidFill>
              <a:schemeClr val="tx1">
                <a:lumMod val="95000"/>
                <a:lumOff val="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solidFill>
                <a:prstClr val="white"/>
              </a:solidFill>
              <a:latin typeface="Leelawadee" panose="020B0502040204020203" pitchFamily="34" charset="-34"/>
              <a:cs typeface="Leelawadee" panose="020B0502040204020203" pitchFamily="34" charset="-34"/>
            </a:endParaRPr>
          </a:p>
        </p:txBody>
      </p:sp>
      <p:sp>
        <p:nvSpPr>
          <p:cNvPr id="23" name="Rounded Rectangle 22"/>
          <p:cNvSpPr/>
          <p:nvPr/>
        </p:nvSpPr>
        <p:spPr>
          <a:xfrm>
            <a:off x="361628" y="1880723"/>
            <a:ext cx="11468746" cy="539857"/>
          </a:xfrm>
          <a:prstGeom prst="roundRect">
            <a:avLst/>
          </a:prstGeom>
          <a:solidFill>
            <a:schemeClr val="accent4">
              <a:lumMod val="40000"/>
              <a:lumOff val="60000"/>
            </a:schemeClr>
          </a:solidFill>
          <a:ln>
            <a:solidFill>
              <a:schemeClr val="tx1">
                <a:lumMod val="95000"/>
                <a:lumOff val="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solidFill>
                <a:prstClr val="white"/>
              </a:solidFill>
              <a:latin typeface="Leelawadee" panose="020B0502040204020203" pitchFamily="34" charset="-34"/>
              <a:cs typeface="Leelawadee" panose="020B0502040204020203" pitchFamily="34" charset="-34"/>
            </a:endParaRPr>
          </a:p>
        </p:txBody>
      </p:sp>
      <p:sp>
        <p:nvSpPr>
          <p:cNvPr id="5" name="TextBox 4"/>
          <p:cNvSpPr txBox="1"/>
          <p:nvPr/>
        </p:nvSpPr>
        <p:spPr>
          <a:xfrm>
            <a:off x="564396" y="1965985"/>
            <a:ext cx="5005952" cy="338554"/>
          </a:xfrm>
          <a:prstGeom prst="rect">
            <a:avLst/>
          </a:prstGeom>
          <a:noFill/>
        </p:spPr>
        <p:txBody>
          <a:bodyPr wrap="square" rtlCol="0">
            <a:spAutoFit/>
          </a:bodyPr>
          <a:lstStyle/>
          <a:p>
            <a:r>
              <a:rPr lang="en-IN" sz="1600" b="1" dirty="0" smtClean="0">
                <a:latin typeface="Leelawadee" panose="020B0502040204020203" pitchFamily="34" charset="-34"/>
                <a:cs typeface="Leelawadee" panose="020B0502040204020203" pitchFamily="34" charset="-34"/>
              </a:rPr>
              <a:t>Full time resources</a:t>
            </a:r>
            <a:r>
              <a:rPr lang="en-IN" sz="1600" dirty="0" smtClean="0">
                <a:latin typeface="Leelawadee" panose="020B0502040204020203" pitchFamily="34" charset="-34"/>
                <a:cs typeface="Leelawadee" panose="020B0502040204020203" pitchFamily="34" charset="-34"/>
              </a:rPr>
              <a:t> :  Rahul, Fehrzard (Sales)  </a:t>
            </a:r>
            <a:endParaRPr lang="en-IN" sz="1600" dirty="0">
              <a:latin typeface="Leelawadee" panose="020B0502040204020203" pitchFamily="34" charset="-34"/>
              <a:cs typeface="Leelawadee" panose="020B0502040204020203" pitchFamily="34" charset="-34"/>
            </a:endParaRPr>
          </a:p>
        </p:txBody>
      </p:sp>
      <p:graphicFrame>
        <p:nvGraphicFramePr>
          <p:cNvPr id="8" name="Table 7"/>
          <p:cNvGraphicFramePr>
            <a:graphicFrameLocks noGrp="1"/>
          </p:cNvGraphicFramePr>
          <p:nvPr>
            <p:extLst>
              <p:ext uri="{D42A27DB-BD31-4B8C-83A1-F6EECF244321}">
                <p14:modId xmlns:p14="http://schemas.microsoft.com/office/powerpoint/2010/main" val="3947634692"/>
              </p:ext>
            </p:extLst>
          </p:nvPr>
        </p:nvGraphicFramePr>
        <p:xfrm>
          <a:off x="334049" y="2767340"/>
          <a:ext cx="11496325" cy="3841111"/>
        </p:xfrm>
        <a:graphic>
          <a:graphicData uri="http://schemas.openxmlformats.org/drawingml/2006/table">
            <a:tbl>
              <a:tblPr firstRow="1" bandRow="1">
                <a:tableStyleId>{C083E6E3-FA7D-4D7B-A595-EF9225AFEA82}</a:tableStyleId>
              </a:tblPr>
              <a:tblGrid>
                <a:gridCol w="3027716"/>
                <a:gridCol w="3186953"/>
                <a:gridCol w="1963270"/>
                <a:gridCol w="3318386"/>
              </a:tblGrid>
              <a:tr h="579751">
                <a:tc>
                  <a:txBody>
                    <a:bodyPr/>
                    <a:lstStyle/>
                    <a:p>
                      <a:pPr algn="ctr"/>
                      <a:r>
                        <a:rPr lang="en-IN" sz="1600" dirty="0" smtClean="0">
                          <a:latin typeface="Leelawadee" panose="020B0502040204020203" pitchFamily="34" charset="-34"/>
                          <a:cs typeface="Leelawadee" panose="020B0502040204020203" pitchFamily="34" charset="-34"/>
                        </a:rPr>
                        <a:t>Projects WIP</a:t>
                      </a:r>
                      <a:endParaRPr lang="en-IN" sz="1600" dirty="0">
                        <a:latin typeface="Leelawadee" panose="020B0502040204020203" pitchFamily="34" charset="-34"/>
                        <a:cs typeface="Leelawadee" panose="020B0502040204020203" pitchFamily="34" charset="-34"/>
                      </a:endParaRPr>
                    </a:p>
                  </a:txBody>
                  <a:tcPr anchor="ctr"/>
                </a:tc>
                <a:tc>
                  <a:txBody>
                    <a:bodyPr/>
                    <a:lstStyle/>
                    <a:p>
                      <a:pPr algn="ctr"/>
                      <a:r>
                        <a:rPr lang="en-IN" sz="1600" dirty="0" smtClean="0">
                          <a:latin typeface="Leelawadee" panose="020B0502040204020203" pitchFamily="34" charset="-34"/>
                          <a:cs typeface="Leelawadee" panose="020B0502040204020203" pitchFamily="34" charset="-34"/>
                        </a:rPr>
                        <a:t>Projects Delivered</a:t>
                      </a:r>
                      <a:endParaRPr lang="en-IN" sz="1600" dirty="0">
                        <a:latin typeface="Leelawadee" panose="020B0502040204020203" pitchFamily="34" charset="-34"/>
                        <a:cs typeface="Leelawadee" panose="020B0502040204020203" pitchFamily="34" charset="-34"/>
                      </a:endParaRPr>
                    </a:p>
                  </a:txBody>
                  <a:tcPr anchor="ctr"/>
                </a:tc>
                <a:tc>
                  <a:txBody>
                    <a:bodyPr/>
                    <a:lstStyle/>
                    <a:p>
                      <a:pPr algn="ctr"/>
                      <a:r>
                        <a:rPr lang="en-IN" sz="1600" dirty="0" smtClean="0">
                          <a:latin typeface="Leelawadee" panose="020B0502040204020203" pitchFamily="34" charset="-34"/>
                          <a:cs typeface="Leelawadee" panose="020B0502040204020203" pitchFamily="34" charset="-34"/>
                        </a:rPr>
                        <a:t>Success</a:t>
                      </a:r>
                      <a:endParaRPr lang="en-IN" sz="1600" dirty="0">
                        <a:latin typeface="Leelawadee" panose="020B0502040204020203" pitchFamily="34" charset="-34"/>
                        <a:cs typeface="Leelawadee" panose="020B0502040204020203" pitchFamily="34" charset="-34"/>
                      </a:endParaRPr>
                    </a:p>
                  </a:txBody>
                  <a:tcPr anchor="ctr"/>
                </a:tc>
                <a:tc>
                  <a:txBody>
                    <a:bodyPr/>
                    <a:lstStyle/>
                    <a:p>
                      <a:pPr algn="ctr"/>
                      <a:r>
                        <a:rPr lang="en-IN" sz="1600" dirty="0" smtClean="0">
                          <a:latin typeface="Leelawadee" panose="020B0502040204020203" pitchFamily="34" charset="-34"/>
                          <a:cs typeface="Leelawadee" panose="020B0502040204020203" pitchFamily="34" charset="-34"/>
                        </a:rPr>
                        <a:t>Challenges</a:t>
                      </a:r>
                      <a:endParaRPr lang="en-IN" sz="1600" dirty="0">
                        <a:latin typeface="Leelawadee" panose="020B0502040204020203" pitchFamily="34" charset="-34"/>
                        <a:cs typeface="Leelawadee" panose="020B0502040204020203" pitchFamily="34" charset="-34"/>
                      </a:endParaRPr>
                    </a:p>
                  </a:txBody>
                  <a:tcPr anchor="ctr"/>
                </a:tc>
              </a:tr>
              <a:tr h="2986473">
                <a:tc>
                  <a:txBody>
                    <a:bodyPr/>
                    <a:lstStyle/>
                    <a:p>
                      <a:pPr marL="285750" indent="-285750" algn="l">
                        <a:buFont typeface="Arial" panose="020B0604020202020204" pitchFamily="34" charset="0"/>
                        <a:buChar char="•"/>
                      </a:pPr>
                      <a:r>
                        <a:rPr lang="en-IN" sz="1600" dirty="0" smtClean="0">
                          <a:latin typeface="Leelawadee" panose="020B0502040204020203" pitchFamily="34" charset="-34"/>
                          <a:cs typeface="Leelawadee" panose="020B0502040204020203" pitchFamily="34" charset="-34"/>
                        </a:rPr>
                        <a:t>Social Media Benchmarking</a:t>
                      </a:r>
                      <a:r>
                        <a:rPr lang="en-IN" sz="1600" baseline="0" dirty="0" smtClean="0">
                          <a:latin typeface="Leelawadee" panose="020B0502040204020203" pitchFamily="34" charset="-34"/>
                          <a:cs typeface="Leelawadee" panose="020B0502040204020203" pitchFamily="34" charset="-34"/>
                        </a:rPr>
                        <a:t> Dashboard for Tata AIA – Duration : 1 year </a:t>
                      </a:r>
                    </a:p>
                    <a:p>
                      <a:pPr marL="285750" indent="-285750" algn="l">
                        <a:buFont typeface="Arial" panose="020B0604020202020204" pitchFamily="34" charset="0"/>
                        <a:buChar char="•"/>
                      </a:pPr>
                      <a:endParaRPr lang="en-IN" sz="1600" baseline="0" dirty="0" smtClean="0">
                        <a:latin typeface="Leelawadee" panose="020B0502040204020203" pitchFamily="34" charset="-34"/>
                        <a:cs typeface="Leelawadee" panose="020B0502040204020203" pitchFamily="34" charset="-34"/>
                      </a:endParaRPr>
                    </a:p>
                    <a:p>
                      <a:pPr marL="285750" indent="-285750" algn="l">
                        <a:buFont typeface="Arial" panose="020B0604020202020204" pitchFamily="34" charset="0"/>
                        <a:buChar char="•"/>
                      </a:pPr>
                      <a:r>
                        <a:rPr lang="en-IN" sz="1600" baseline="0" dirty="0" smtClean="0">
                          <a:latin typeface="Leelawadee" panose="020B0502040204020203" pitchFamily="34" charset="-34"/>
                          <a:cs typeface="Leelawadee" panose="020B0502040204020203" pitchFamily="34" charset="-34"/>
                        </a:rPr>
                        <a:t>Social Media Lead Analysis for Tata Capital – Duration : 1 month</a:t>
                      </a:r>
                    </a:p>
                    <a:p>
                      <a:pPr marL="285750" indent="-285750" algn="l">
                        <a:buFont typeface="Arial" panose="020B0604020202020204" pitchFamily="34" charset="0"/>
                        <a:buChar char="•"/>
                      </a:pPr>
                      <a:endParaRPr lang="en-IN" sz="1600" b="1" i="1" baseline="0" dirty="0" smtClean="0">
                        <a:latin typeface="Leelawadee" panose="020B0502040204020203" pitchFamily="34" charset="-34"/>
                        <a:cs typeface="Leelawadee" panose="020B0502040204020203" pitchFamily="34" charset="-34"/>
                      </a:endParaRPr>
                    </a:p>
                    <a:p>
                      <a:pPr marL="285750" indent="-285750" algn="l">
                        <a:buFont typeface="Arial" panose="020B0604020202020204" pitchFamily="34" charset="0"/>
                        <a:buChar char="•"/>
                      </a:pPr>
                      <a:r>
                        <a:rPr lang="en-IN" sz="1600" kern="1200" baseline="0" dirty="0" smtClean="0">
                          <a:solidFill>
                            <a:schemeClr val="tx1"/>
                          </a:solidFill>
                          <a:latin typeface="Leelawadee" panose="020B0502040204020203" pitchFamily="34" charset="-34"/>
                          <a:ea typeface="+mn-ea"/>
                          <a:cs typeface="Leelawadee" panose="020B0502040204020203" pitchFamily="34" charset="-34"/>
                        </a:rPr>
                        <a:t>Tata CLiQ social media performance – Duration : Ad-hoc </a:t>
                      </a:r>
                      <a:endParaRPr lang="en-IN" sz="1600" kern="1200" baseline="0" dirty="0">
                        <a:solidFill>
                          <a:schemeClr val="tx1"/>
                        </a:solidFill>
                        <a:latin typeface="Leelawadee" panose="020B0502040204020203" pitchFamily="34" charset="-34"/>
                        <a:ea typeface="+mn-ea"/>
                        <a:cs typeface="Leelawadee" panose="020B0502040204020203" pitchFamily="34" charset="-34"/>
                      </a:endParaRPr>
                    </a:p>
                  </a:txBody>
                  <a:tcPr anchor="ctr"/>
                </a:tc>
                <a:tc>
                  <a:txBody>
                    <a:bodyPr/>
                    <a:lstStyle/>
                    <a:p>
                      <a:pPr marL="285750" indent="-285750" algn="l">
                        <a:buFont typeface="Arial" panose="020B0604020202020204" pitchFamily="34" charset="0"/>
                        <a:buChar char="•"/>
                      </a:pPr>
                      <a:r>
                        <a:rPr lang="en-IN" sz="1600" dirty="0" smtClean="0">
                          <a:latin typeface="Leelawadee" panose="020B0502040204020203" pitchFamily="34" charset="-34"/>
                          <a:cs typeface="Leelawadee" panose="020B0502040204020203" pitchFamily="34" charset="-34"/>
                        </a:rPr>
                        <a:t>Monthly Social</a:t>
                      </a:r>
                      <a:r>
                        <a:rPr lang="en-IN" sz="1600" baseline="0" dirty="0" smtClean="0">
                          <a:latin typeface="Leelawadee" panose="020B0502040204020203" pitchFamily="34" charset="-34"/>
                          <a:cs typeface="Leelawadee" panose="020B0502040204020203" pitchFamily="34" charset="-34"/>
                        </a:rPr>
                        <a:t> Media Dashboard for Tata AIA</a:t>
                      </a:r>
                    </a:p>
                    <a:p>
                      <a:pPr marL="742950" lvl="1" indent="-285750" algn="l">
                        <a:buFont typeface="Wingdings" panose="05000000000000000000" pitchFamily="2" charset="2"/>
                        <a:buChar char="Ø"/>
                      </a:pPr>
                      <a:r>
                        <a:rPr lang="en-IN" sz="1600" baseline="0" dirty="0" smtClean="0">
                          <a:latin typeface="Leelawadee" panose="020B0502040204020203" pitchFamily="34" charset="-34"/>
                          <a:cs typeface="Leelawadee" panose="020B0502040204020203" pitchFamily="34" charset="-34"/>
                        </a:rPr>
                        <a:t>Social Media Metrics Benchmarking</a:t>
                      </a:r>
                    </a:p>
                    <a:p>
                      <a:pPr marL="742950" lvl="1" indent="-285750" algn="l">
                        <a:buFont typeface="Wingdings" panose="05000000000000000000" pitchFamily="2" charset="2"/>
                        <a:buChar char="Ø"/>
                      </a:pPr>
                      <a:r>
                        <a:rPr lang="en-IN" sz="1600" baseline="0" dirty="0" smtClean="0">
                          <a:latin typeface="Leelawadee" panose="020B0502040204020203" pitchFamily="34" charset="-34"/>
                          <a:cs typeface="Leelawadee" panose="020B0502040204020203" pitchFamily="34" charset="-34"/>
                        </a:rPr>
                        <a:t>Sentiment Analysis</a:t>
                      </a:r>
                    </a:p>
                    <a:p>
                      <a:pPr marL="742950" lvl="1" indent="-285750" algn="l">
                        <a:buFont typeface="Wingdings" panose="05000000000000000000" pitchFamily="2" charset="2"/>
                        <a:buChar char="Ø"/>
                      </a:pPr>
                      <a:r>
                        <a:rPr lang="en-IN" sz="1600" baseline="0" dirty="0" smtClean="0">
                          <a:latin typeface="Leelawadee" panose="020B0502040204020203" pitchFamily="34" charset="-34"/>
                          <a:cs typeface="Leelawadee" panose="020B0502040204020203" pitchFamily="34" charset="-34"/>
                        </a:rPr>
                        <a:t>Social Campaign Analysis</a:t>
                      </a:r>
                    </a:p>
                    <a:p>
                      <a:pPr marL="742950" lvl="1" indent="-285750" algn="l">
                        <a:buFont typeface="Wingdings" panose="05000000000000000000" pitchFamily="2" charset="2"/>
                        <a:buChar char="Ø"/>
                      </a:pPr>
                      <a:r>
                        <a:rPr lang="en-IN" sz="1600" baseline="0" dirty="0" smtClean="0">
                          <a:latin typeface="Leelawadee" panose="020B0502040204020203" pitchFamily="34" charset="-34"/>
                          <a:cs typeface="Leelawadee" panose="020B0502040204020203" pitchFamily="34" charset="-34"/>
                        </a:rPr>
                        <a:t>Topic &amp; Content Analysis</a:t>
                      </a:r>
                    </a:p>
                    <a:p>
                      <a:pPr marL="742950" lvl="1" indent="-285750" algn="l">
                        <a:buFont typeface="Wingdings" panose="05000000000000000000" pitchFamily="2" charset="2"/>
                        <a:buChar char="Ø"/>
                      </a:pPr>
                      <a:endParaRPr lang="en-IN" sz="1600" baseline="0" dirty="0" smtClean="0">
                        <a:latin typeface="Leelawadee" panose="020B0502040204020203" pitchFamily="34" charset="-34"/>
                        <a:cs typeface="Leelawadee" panose="020B0502040204020203" pitchFamily="34" charset="-34"/>
                      </a:endParaRPr>
                    </a:p>
                    <a:p>
                      <a:pPr marL="285750" lvl="0" indent="-285750" algn="l">
                        <a:buFont typeface="Arial" panose="020B0604020202020204" pitchFamily="34" charset="0"/>
                        <a:buChar char="•"/>
                      </a:pPr>
                      <a:r>
                        <a:rPr lang="en-IN" sz="1600" baseline="0" dirty="0" smtClean="0">
                          <a:latin typeface="Leelawadee" panose="020B0502040204020203" pitchFamily="34" charset="-34"/>
                          <a:cs typeface="Leelawadee" panose="020B0502040204020203" pitchFamily="34" charset="-34"/>
                        </a:rPr>
                        <a:t>Perceptual Map for Tata Tiago and its competitors </a:t>
                      </a:r>
                    </a:p>
                  </a:txBody>
                  <a:tcPr anchor="ctr"/>
                </a:tc>
                <a:tc>
                  <a:txBody>
                    <a:bodyPr/>
                    <a:lstStyle/>
                    <a:p>
                      <a:pPr marL="285750" indent="-285750" algn="l">
                        <a:buFont typeface="Arial" panose="020B0604020202020204" pitchFamily="34" charset="0"/>
                        <a:buChar char="•"/>
                      </a:pPr>
                      <a:r>
                        <a:rPr lang="en-IN" sz="1600" dirty="0" smtClean="0">
                          <a:latin typeface="Leelawadee" panose="020B0502040204020203" pitchFamily="34" charset="-34"/>
                          <a:cs typeface="Leelawadee" panose="020B0502040204020203" pitchFamily="34" charset="-34"/>
                        </a:rPr>
                        <a:t>Entered long term contract with Tata AIA based on timely delivery of  initial projects</a:t>
                      </a:r>
                      <a:r>
                        <a:rPr lang="en-IN" sz="1600" baseline="0" dirty="0" smtClean="0">
                          <a:latin typeface="Leelawadee" panose="020B0502040204020203" pitchFamily="34" charset="-34"/>
                          <a:cs typeface="Leelawadee" panose="020B0502040204020203" pitchFamily="34" charset="-34"/>
                        </a:rPr>
                        <a:t> </a:t>
                      </a:r>
                    </a:p>
                    <a:p>
                      <a:pPr marL="0" indent="0" algn="l">
                        <a:buFont typeface="Arial" panose="020B0604020202020204" pitchFamily="34" charset="0"/>
                        <a:buNone/>
                      </a:pPr>
                      <a:endParaRPr lang="en-IN" sz="1600" baseline="0" dirty="0" smtClean="0">
                        <a:latin typeface="Leelawadee" panose="020B0502040204020203" pitchFamily="34" charset="-34"/>
                        <a:cs typeface="Leelawadee" panose="020B0502040204020203" pitchFamily="34" charset="-34"/>
                      </a:endParaRPr>
                    </a:p>
                  </a:txBody>
                  <a:tcPr anchor="ctr"/>
                </a:tc>
                <a:tc>
                  <a:txBody>
                    <a:bodyPr/>
                    <a:lstStyle/>
                    <a:p>
                      <a:pPr marL="285750" indent="-285750" algn="l">
                        <a:buFont typeface="Arial" panose="020B0604020202020204" pitchFamily="34" charset="0"/>
                        <a:buChar char="•"/>
                      </a:pPr>
                      <a:r>
                        <a:rPr lang="en-IN" sz="1600" baseline="0" dirty="0" smtClean="0">
                          <a:latin typeface="Leelawadee" panose="020B0502040204020203" pitchFamily="34" charset="-34"/>
                          <a:cs typeface="Leelawadee" panose="020B0502040204020203" pitchFamily="34" charset="-34"/>
                        </a:rPr>
                        <a:t>Listening tool would be required to do topic analysis for clients across web/blogs</a:t>
                      </a:r>
                    </a:p>
                    <a:p>
                      <a:pPr marL="0" indent="0" algn="l">
                        <a:buFont typeface="Arial" panose="020B0604020202020204" pitchFamily="34" charset="0"/>
                        <a:buNone/>
                      </a:pPr>
                      <a:endParaRPr lang="en-IN" sz="1600" baseline="0" dirty="0" smtClean="0">
                        <a:latin typeface="Leelawadee" panose="020B0502040204020203" pitchFamily="34" charset="-34"/>
                        <a:cs typeface="Leelawadee" panose="020B0502040204020203" pitchFamily="34" charset="-34"/>
                      </a:endParaRPr>
                    </a:p>
                    <a:p>
                      <a:pPr marL="457200" lvl="1" indent="0" algn="l">
                        <a:buFont typeface="Arial" panose="020B0604020202020204" pitchFamily="34" charset="0"/>
                        <a:buNone/>
                      </a:pPr>
                      <a:r>
                        <a:rPr lang="en-IN" sz="1200" b="1" i="0" baseline="0" dirty="0" smtClean="0">
                          <a:latin typeface="Leelawadee" panose="020B0502040204020203" pitchFamily="34" charset="-34"/>
                          <a:cs typeface="Leelawadee" panose="020B0502040204020203" pitchFamily="34" charset="-34"/>
                        </a:rPr>
                        <a:t>Listening tool – </a:t>
                      </a:r>
                    </a:p>
                    <a:p>
                      <a:pPr marL="457200" lvl="1" indent="0" algn="l">
                        <a:buFont typeface="Arial" panose="020B0604020202020204" pitchFamily="34" charset="0"/>
                        <a:buNone/>
                      </a:pPr>
                      <a:r>
                        <a:rPr lang="en-IN" sz="1200" b="1" i="0" baseline="0" dirty="0" err="1" smtClean="0">
                          <a:latin typeface="Leelawadee" panose="020B0502040204020203" pitchFamily="34" charset="-34"/>
                          <a:cs typeface="Leelawadee" panose="020B0502040204020203" pitchFamily="34" charset="-34"/>
                        </a:rPr>
                        <a:t>Konnectsocial</a:t>
                      </a:r>
                      <a:r>
                        <a:rPr lang="en-IN" sz="1200" b="1" i="0" baseline="0" dirty="0" smtClean="0">
                          <a:latin typeface="Leelawadee" panose="020B0502040204020203" pitchFamily="34" charset="-34"/>
                          <a:cs typeface="Leelawadee" panose="020B0502040204020203" pitchFamily="34" charset="-34"/>
                        </a:rPr>
                        <a:t> : </a:t>
                      </a:r>
                      <a:r>
                        <a:rPr lang="en-IN" sz="1200" b="1" i="0" baseline="0" dirty="0" err="1" smtClean="0">
                          <a:latin typeface="Leelawadee" panose="020B0502040204020203" pitchFamily="34" charset="-34"/>
                          <a:cs typeface="Leelawadee" panose="020B0502040204020203" pitchFamily="34" charset="-34"/>
                        </a:rPr>
                        <a:t>Rs</a:t>
                      </a:r>
                      <a:r>
                        <a:rPr lang="en-IN" sz="1200" b="1" i="0" baseline="0" dirty="0" smtClean="0">
                          <a:latin typeface="Leelawadee" panose="020B0502040204020203" pitchFamily="34" charset="-34"/>
                          <a:cs typeface="Leelawadee" panose="020B0502040204020203" pitchFamily="34" charset="-34"/>
                        </a:rPr>
                        <a:t> 18 Lakhs/ year</a:t>
                      </a:r>
                    </a:p>
                    <a:p>
                      <a:pPr marL="0" indent="0" algn="l">
                        <a:buFont typeface="Arial" panose="020B0604020202020204" pitchFamily="34" charset="0"/>
                        <a:buNone/>
                      </a:pPr>
                      <a:endParaRPr lang="en-IN" sz="1600" baseline="0" dirty="0" smtClean="0">
                        <a:latin typeface="Leelawadee" panose="020B0502040204020203" pitchFamily="34" charset="-34"/>
                        <a:cs typeface="Leelawadee" panose="020B0502040204020203" pitchFamily="34" charset="-34"/>
                      </a:endParaRPr>
                    </a:p>
                    <a:p>
                      <a:pPr marL="285750" indent="-285750" algn="l">
                        <a:buFont typeface="Arial" panose="020B0604020202020204" pitchFamily="34" charset="0"/>
                        <a:buChar char="•"/>
                      </a:pPr>
                      <a:r>
                        <a:rPr lang="en-IN" sz="1600" baseline="0" dirty="0" smtClean="0">
                          <a:latin typeface="Leelawadee" panose="020B0502040204020203" pitchFamily="34" charset="-34"/>
                          <a:cs typeface="Leelawadee" panose="020B0502040204020203" pitchFamily="34" charset="-34"/>
                        </a:rPr>
                        <a:t>To Build Social Media Data Products, Firehose access of social data is required (very expensive)</a:t>
                      </a:r>
                    </a:p>
                    <a:p>
                      <a:pPr marL="0" indent="0" algn="l">
                        <a:buFont typeface="Arial" panose="020B0604020202020204" pitchFamily="34" charset="0"/>
                        <a:buNone/>
                      </a:pPr>
                      <a:endParaRPr lang="en-IN" sz="1600" baseline="0" dirty="0" smtClean="0">
                        <a:latin typeface="Leelawadee" panose="020B0502040204020203" pitchFamily="34" charset="-34"/>
                        <a:cs typeface="Leelawadee" panose="020B0502040204020203" pitchFamily="34" charset="-34"/>
                      </a:endParaRPr>
                    </a:p>
                    <a:p>
                      <a:pPr marL="457200" lvl="1" indent="0" algn="l">
                        <a:buFont typeface="Arial" panose="020B0604020202020204" pitchFamily="34" charset="0"/>
                        <a:buNone/>
                      </a:pPr>
                      <a:r>
                        <a:rPr lang="en-IN" sz="1200" b="1" i="0" baseline="0" dirty="0" smtClean="0">
                          <a:latin typeface="Leelawadee" panose="020B0502040204020203" pitchFamily="34" charset="-34"/>
                          <a:cs typeface="Leelawadee" panose="020B0502040204020203" pitchFamily="34" charset="-34"/>
                        </a:rPr>
                        <a:t>Firehose tool – </a:t>
                      </a:r>
                    </a:p>
                    <a:p>
                      <a:pPr marL="457200" lvl="1" indent="0" algn="l">
                        <a:buFont typeface="Arial" panose="020B0604020202020204" pitchFamily="34" charset="0"/>
                        <a:buNone/>
                      </a:pPr>
                      <a:r>
                        <a:rPr lang="en-IN" sz="1200" b="1" i="0" baseline="0" dirty="0" err="1" smtClean="0">
                          <a:latin typeface="Leelawadee" panose="020B0502040204020203" pitchFamily="34" charset="-34"/>
                          <a:cs typeface="Leelawadee" panose="020B0502040204020203" pitchFamily="34" charset="-34"/>
                        </a:rPr>
                        <a:t>DataSift</a:t>
                      </a:r>
                      <a:r>
                        <a:rPr lang="en-IN" sz="1200" b="1" i="0" baseline="0" dirty="0" smtClean="0">
                          <a:latin typeface="Leelawadee" panose="020B0502040204020203" pitchFamily="34" charset="-34"/>
                          <a:cs typeface="Leelawadee" panose="020B0502040204020203" pitchFamily="34" charset="-34"/>
                        </a:rPr>
                        <a:t> : </a:t>
                      </a:r>
                      <a:r>
                        <a:rPr lang="en-IN" sz="1200" b="1" i="0" baseline="0" dirty="0" err="1" smtClean="0">
                          <a:latin typeface="Leelawadee" panose="020B0502040204020203" pitchFamily="34" charset="-34"/>
                          <a:cs typeface="Leelawadee" panose="020B0502040204020203" pitchFamily="34" charset="-34"/>
                        </a:rPr>
                        <a:t>Rs</a:t>
                      </a:r>
                      <a:r>
                        <a:rPr lang="en-IN" sz="1200" b="1" i="0" baseline="0" dirty="0" smtClean="0">
                          <a:latin typeface="Leelawadee" panose="020B0502040204020203" pitchFamily="34" charset="-34"/>
                          <a:cs typeface="Leelawadee" panose="020B0502040204020203" pitchFamily="34" charset="-34"/>
                        </a:rPr>
                        <a:t> 1 Crore / year </a:t>
                      </a:r>
                    </a:p>
                  </a:txBody>
                  <a:tcPr anchor="ctr"/>
                </a:tc>
              </a:tr>
            </a:tbl>
          </a:graphicData>
        </a:graphic>
      </p:graphicFrame>
      <p:sp>
        <p:nvSpPr>
          <p:cNvPr id="26" name="TextBox 25"/>
          <p:cNvSpPr txBox="1"/>
          <p:nvPr/>
        </p:nvSpPr>
        <p:spPr>
          <a:xfrm>
            <a:off x="524360" y="1212728"/>
            <a:ext cx="5086025" cy="338554"/>
          </a:xfrm>
          <a:prstGeom prst="rect">
            <a:avLst/>
          </a:prstGeom>
          <a:noFill/>
        </p:spPr>
        <p:txBody>
          <a:bodyPr wrap="square" rtlCol="0">
            <a:spAutoFit/>
          </a:bodyPr>
          <a:lstStyle/>
          <a:p>
            <a:r>
              <a:rPr lang="en-IN" sz="1600" b="1" dirty="0" smtClean="0">
                <a:latin typeface="Leelawadee" panose="020B0502040204020203" pitchFamily="34" charset="-34"/>
                <a:cs typeface="Leelawadee" panose="020B0502040204020203" pitchFamily="34" charset="-34"/>
              </a:rPr>
              <a:t>Current Clients </a:t>
            </a:r>
            <a:r>
              <a:rPr lang="en-IN" sz="1600" dirty="0" smtClean="0">
                <a:latin typeface="Leelawadee" panose="020B0502040204020203" pitchFamily="34" charset="-34"/>
                <a:cs typeface="Leelawadee" panose="020B0502040204020203" pitchFamily="34" charset="-34"/>
              </a:rPr>
              <a:t>: Tata AIA, Tata Capital</a:t>
            </a:r>
            <a:endParaRPr lang="en-IN" sz="1600" dirty="0">
              <a:latin typeface="Leelawadee" panose="020B0502040204020203" pitchFamily="34" charset="-34"/>
              <a:cs typeface="Leelawadee" panose="020B0502040204020203" pitchFamily="34" charset="-34"/>
            </a:endParaRPr>
          </a:p>
        </p:txBody>
      </p:sp>
      <p:sp>
        <p:nvSpPr>
          <p:cNvPr id="27" name="TextBox 26"/>
          <p:cNvSpPr txBox="1"/>
          <p:nvPr/>
        </p:nvSpPr>
        <p:spPr>
          <a:xfrm>
            <a:off x="6803756" y="1228117"/>
            <a:ext cx="5120664" cy="338554"/>
          </a:xfrm>
          <a:prstGeom prst="rect">
            <a:avLst/>
          </a:prstGeom>
          <a:noFill/>
        </p:spPr>
        <p:txBody>
          <a:bodyPr wrap="square" rtlCol="0">
            <a:spAutoFit/>
          </a:bodyPr>
          <a:lstStyle/>
          <a:p>
            <a:r>
              <a:rPr lang="en-IN" sz="1600" b="1" dirty="0" smtClean="0">
                <a:latin typeface="Leelawadee" panose="020B0502040204020203" pitchFamily="34" charset="-34"/>
                <a:cs typeface="Leelawadee" panose="020B0502040204020203" pitchFamily="34" charset="-34"/>
              </a:rPr>
              <a:t>Immediate Future Clients : </a:t>
            </a:r>
            <a:r>
              <a:rPr lang="en-IN" sz="1600" dirty="0" smtClean="0">
                <a:latin typeface="Leelawadee" panose="020B0502040204020203" pitchFamily="34" charset="-34"/>
                <a:cs typeface="Leelawadee" panose="020B0502040204020203" pitchFamily="34" charset="-34"/>
              </a:rPr>
              <a:t>Tata Motors , Tata AIG</a:t>
            </a:r>
            <a:endParaRPr lang="en-IN" sz="1600" dirty="0">
              <a:latin typeface="Leelawadee" panose="020B0502040204020203" pitchFamily="34" charset="-34"/>
              <a:cs typeface="Leelawadee" panose="020B0502040204020203" pitchFamily="34" charset="-34"/>
            </a:endParaRPr>
          </a:p>
        </p:txBody>
      </p:sp>
      <p:sp>
        <p:nvSpPr>
          <p:cNvPr id="28" name="TextBox 27"/>
          <p:cNvSpPr txBox="1"/>
          <p:nvPr/>
        </p:nvSpPr>
        <p:spPr>
          <a:xfrm>
            <a:off x="6803756" y="1944509"/>
            <a:ext cx="3321803" cy="338554"/>
          </a:xfrm>
          <a:prstGeom prst="rect">
            <a:avLst/>
          </a:prstGeom>
          <a:noFill/>
        </p:spPr>
        <p:txBody>
          <a:bodyPr wrap="square" rtlCol="0">
            <a:spAutoFit/>
          </a:bodyPr>
          <a:lstStyle/>
          <a:p>
            <a:r>
              <a:rPr lang="en-IN" sz="1600" b="1" dirty="0" smtClean="0">
                <a:latin typeface="Leelawadee" panose="020B0502040204020203" pitchFamily="34" charset="-34"/>
                <a:cs typeface="Leelawadee" panose="020B0502040204020203" pitchFamily="34" charset="-34"/>
              </a:rPr>
              <a:t>Shared resources</a:t>
            </a:r>
            <a:r>
              <a:rPr lang="en-IN" sz="1600" dirty="0" smtClean="0">
                <a:latin typeface="Leelawadee" panose="020B0502040204020203" pitchFamily="34" charset="-34"/>
                <a:cs typeface="Leelawadee" panose="020B0502040204020203" pitchFamily="34" charset="-34"/>
              </a:rPr>
              <a:t> :  Kritika  </a:t>
            </a:r>
            <a:endParaRPr lang="en-IN" sz="1600" dirty="0">
              <a:latin typeface="Leelawadee" panose="020B0502040204020203" pitchFamily="34" charset="-34"/>
              <a:cs typeface="Leelawadee" panose="020B0502040204020203" pitchFamily="34" charset="-34"/>
            </a:endParaRPr>
          </a:p>
        </p:txBody>
      </p:sp>
    </p:spTree>
    <p:extLst>
      <p:ext uri="{BB962C8B-B14F-4D97-AF65-F5344CB8AC3E}">
        <p14:creationId xmlns:p14="http://schemas.microsoft.com/office/powerpoint/2010/main" val="34048746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0" y="6311902"/>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388122"/>
            <a:ext cx="12192000" cy="461665"/>
            <a:chOff x="1" y="322556"/>
            <a:chExt cx="12192000" cy="461665"/>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4168482" y="322556"/>
              <a:ext cx="3855158" cy="461665"/>
            </a:xfrm>
            <a:prstGeom prst="rect">
              <a:avLst/>
            </a:prstGeom>
            <a:solidFill>
              <a:schemeClr val="bg1"/>
            </a:solidFill>
          </p:spPr>
          <p:txBody>
            <a:bodyPr wrap="none" anchor="ctr">
              <a:spAutoFit/>
            </a:bodyPr>
            <a:lstStyle/>
            <a:p>
              <a:pPr algn="ctr"/>
              <a:r>
                <a:rPr lang="en-IN" sz="2400" b="1" dirty="0" smtClean="0">
                  <a:solidFill>
                    <a:schemeClr val="bg1">
                      <a:lumMod val="50000"/>
                    </a:schemeClr>
                  </a:solidFill>
                  <a:latin typeface="Leelawadee UI" panose="020B0502040204020203" pitchFamily="34" charset="-34"/>
                  <a:cs typeface="Leelawadee UI" panose="020B0502040204020203" pitchFamily="34" charset="-34"/>
                </a:rPr>
                <a:t>Analyse </a:t>
              </a:r>
              <a:r>
                <a:rPr lang="en-IN" sz="2400" b="1" dirty="0" smtClean="0">
                  <a:solidFill>
                    <a:schemeClr val="bg1">
                      <a:lumMod val="50000"/>
                    </a:schemeClr>
                  </a:solidFill>
                  <a:latin typeface="Leelawadee UI" panose="020B0502040204020203" pitchFamily="34" charset="-34"/>
                  <a:cs typeface="Leelawadee UI" panose="020B0502040204020203" pitchFamily="34" charset="-34"/>
                </a:rPr>
                <a:t>Topics &amp; Themes</a:t>
              </a:r>
            </a:p>
          </p:txBody>
        </p:sp>
      </p:grpSp>
      <p:pic>
        <p:nvPicPr>
          <p:cNvPr id="7" name="Picture 6"/>
          <p:cNvPicPr>
            <a:picLocks noChangeAspect="1"/>
          </p:cNvPicPr>
          <p:nvPr/>
        </p:nvPicPr>
        <p:blipFill>
          <a:blip r:embed="rId4"/>
          <a:stretch>
            <a:fillRect/>
          </a:stretch>
        </p:blipFill>
        <p:spPr>
          <a:xfrm>
            <a:off x="6243094" y="1413926"/>
            <a:ext cx="3266256" cy="2263144"/>
          </a:xfrm>
          <a:prstGeom prst="rect">
            <a:avLst/>
          </a:prstGeom>
          <a:ln>
            <a:noFill/>
          </a:ln>
          <a:effectLst>
            <a:outerShdw blurRad="190500" algn="tl" rotWithShape="0">
              <a:srgbClr val="000000">
                <a:alpha val="70000"/>
              </a:srgbClr>
            </a:outerShdw>
          </a:effectLst>
        </p:spPr>
      </p:pic>
      <p:pic>
        <p:nvPicPr>
          <p:cNvPr id="8" name="Picture 7"/>
          <p:cNvPicPr>
            <a:picLocks noChangeAspect="1"/>
          </p:cNvPicPr>
          <p:nvPr/>
        </p:nvPicPr>
        <p:blipFill>
          <a:blip r:embed="rId5"/>
          <a:stretch>
            <a:fillRect/>
          </a:stretch>
        </p:blipFill>
        <p:spPr>
          <a:xfrm>
            <a:off x="8430488" y="3235405"/>
            <a:ext cx="2995713" cy="2115695"/>
          </a:xfrm>
          <a:prstGeom prst="rect">
            <a:avLst/>
          </a:prstGeom>
          <a:ln>
            <a:noFill/>
          </a:ln>
          <a:effectLst>
            <a:outerShdw blurRad="190500" algn="tl" rotWithShape="0">
              <a:srgbClr val="000000">
                <a:alpha val="70000"/>
              </a:srgbClr>
            </a:outerShdw>
          </a:effectLst>
        </p:spPr>
      </p:pic>
      <p:sp>
        <p:nvSpPr>
          <p:cNvPr id="9" name="TextBox 8"/>
          <p:cNvSpPr txBox="1"/>
          <p:nvPr/>
        </p:nvSpPr>
        <p:spPr bwMode="gray">
          <a:xfrm>
            <a:off x="6045994" y="5383959"/>
            <a:ext cx="2371708" cy="666549"/>
          </a:xfrm>
          <a:prstGeom prst="rect">
            <a:avLst/>
          </a:prstGeom>
        </p:spPr>
        <p:txBody>
          <a:bodyPr vert="horz" wrap="square" lIns="91440" tIns="45720" rIns="91440" bIns="45720" rtlCol="0" anchor="ctr">
            <a:noAutofit/>
          </a:bodyPr>
          <a:lstStyle/>
          <a:p>
            <a:pPr algn="ctr"/>
            <a:r>
              <a:rPr lang="en-IN" b="1" dirty="0" smtClean="0">
                <a:solidFill>
                  <a:prstClr val="black"/>
                </a:solidFill>
              </a:rPr>
              <a:t>Voice of Customer</a:t>
            </a:r>
            <a:endParaRPr lang="en-IN" b="1" dirty="0">
              <a:solidFill>
                <a:prstClr val="black"/>
              </a:solidFill>
            </a:endParaRPr>
          </a:p>
        </p:txBody>
      </p:sp>
      <p:sp>
        <p:nvSpPr>
          <p:cNvPr id="10" name="TextBox 9"/>
          <p:cNvSpPr txBox="1"/>
          <p:nvPr/>
        </p:nvSpPr>
        <p:spPr bwMode="gray">
          <a:xfrm>
            <a:off x="9534444" y="2188192"/>
            <a:ext cx="1693081" cy="824723"/>
          </a:xfrm>
          <a:prstGeom prst="rect">
            <a:avLst/>
          </a:prstGeom>
        </p:spPr>
        <p:txBody>
          <a:bodyPr vert="horz" wrap="square" lIns="91440" tIns="45720" rIns="91440" bIns="45720" rtlCol="0" anchor="ctr">
            <a:noAutofit/>
          </a:bodyPr>
          <a:lstStyle/>
          <a:p>
            <a:pPr algn="ctr"/>
            <a:r>
              <a:rPr lang="en-IN" b="1" dirty="0">
                <a:solidFill>
                  <a:prstClr val="black"/>
                </a:solidFill>
              </a:rPr>
              <a:t>Brand Content Analysis  </a:t>
            </a:r>
          </a:p>
        </p:txBody>
      </p:sp>
      <p:sp>
        <p:nvSpPr>
          <p:cNvPr id="11" name="Rounded Rectangle 10"/>
          <p:cNvSpPr/>
          <p:nvPr/>
        </p:nvSpPr>
        <p:spPr>
          <a:xfrm>
            <a:off x="355993" y="1111181"/>
            <a:ext cx="5102354" cy="4953350"/>
          </a:xfrm>
          <a:prstGeom prst="roundRect">
            <a:avLst/>
          </a:prstGeom>
          <a:noFill/>
          <a:ln>
            <a:solidFill>
              <a:schemeClr val="tx1">
                <a:lumMod val="95000"/>
                <a:lumOff val="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13" name="Rectangle 12"/>
          <p:cNvSpPr/>
          <p:nvPr/>
        </p:nvSpPr>
        <p:spPr>
          <a:xfrm>
            <a:off x="741913" y="1385113"/>
            <a:ext cx="4330515" cy="4278094"/>
          </a:xfrm>
          <a:prstGeom prst="rect">
            <a:avLst/>
          </a:prstGeom>
        </p:spPr>
        <p:txBody>
          <a:bodyPr wrap="square">
            <a:spAutoFit/>
          </a:bodyPr>
          <a:lstStyle/>
          <a:p>
            <a:r>
              <a:rPr lang="en-IN" sz="1600" b="1" dirty="0">
                <a:solidFill>
                  <a:prstClr val="black"/>
                </a:solidFill>
                <a:latin typeface="Leelawadee" panose="020B0502040204020203" pitchFamily="34" charset="-34"/>
                <a:cs typeface="Leelawadee" panose="020B0502040204020203" pitchFamily="34" charset="-34"/>
              </a:rPr>
              <a:t>Objective</a:t>
            </a:r>
            <a:r>
              <a:rPr lang="en-IN" sz="1600" dirty="0" smtClean="0">
                <a:solidFill>
                  <a:prstClr val="black"/>
                </a:solidFill>
                <a:latin typeface="Leelawadee" panose="020B0502040204020203" pitchFamily="34" charset="-34"/>
                <a:cs typeface="Leelawadee" panose="020B0502040204020203" pitchFamily="34" charset="-34"/>
              </a:rPr>
              <a:t>:</a:t>
            </a:r>
          </a:p>
          <a:p>
            <a:r>
              <a:rPr lang="en-IN" sz="1600" dirty="0" smtClean="0">
                <a:solidFill>
                  <a:prstClr val="black"/>
                </a:solidFill>
                <a:latin typeface="Leelawadee" panose="020B0502040204020203" pitchFamily="34" charset="-34"/>
                <a:cs typeface="Leelawadee" panose="020B0502040204020203" pitchFamily="34" charset="-34"/>
              </a:rPr>
              <a:t>For a leading Insurance </a:t>
            </a:r>
            <a:r>
              <a:rPr lang="en-IN" sz="1600" dirty="0">
                <a:solidFill>
                  <a:prstClr val="black"/>
                </a:solidFill>
                <a:latin typeface="Leelawadee" panose="020B0502040204020203" pitchFamily="34" charset="-34"/>
                <a:cs typeface="Leelawadee" panose="020B0502040204020203" pitchFamily="34" charset="-34"/>
              </a:rPr>
              <a:t>provider </a:t>
            </a:r>
            <a:r>
              <a:rPr lang="en-IN" sz="1600" dirty="0" smtClean="0">
                <a:solidFill>
                  <a:prstClr val="black"/>
                </a:solidFill>
                <a:latin typeface="Leelawadee" panose="020B0502040204020203" pitchFamily="34" charset="-34"/>
                <a:cs typeface="Leelawadee" panose="020B0502040204020203" pitchFamily="34" charset="-34"/>
              </a:rPr>
              <a:t>– </a:t>
            </a:r>
          </a:p>
          <a:p>
            <a:r>
              <a:rPr lang="en-IN" sz="1600" dirty="0" smtClean="0">
                <a:solidFill>
                  <a:prstClr val="black"/>
                </a:solidFill>
                <a:latin typeface="Leelawadee" panose="020B0502040204020203" pitchFamily="34" charset="-34"/>
                <a:cs typeface="Leelawadee" panose="020B0502040204020203" pitchFamily="34" charset="-34"/>
              </a:rPr>
              <a:t>To be more relevant in its Social Media Communication, hence increasing its Social Reach</a:t>
            </a:r>
            <a:endParaRPr lang="en-IN" sz="1600" b="1" dirty="0" smtClean="0">
              <a:solidFill>
                <a:prstClr val="black"/>
              </a:solidFill>
              <a:latin typeface="Leelawadee" panose="020B0502040204020203" pitchFamily="34" charset="-34"/>
              <a:cs typeface="Leelawadee" panose="020B0502040204020203" pitchFamily="34" charset="-34"/>
            </a:endParaRPr>
          </a:p>
          <a:p>
            <a:endParaRPr lang="en-IN" sz="1600" b="1" dirty="0" smtClean="0">
              <a:solidFill>
                <a:prstClr val="black"/>
              </a:solidFill>
              <a:latin typeface="Leelawadee" panose="020B0502040204020203" pitchFamily="34" charset="-34"/>
              <a:cs typeface="Leelawadee" panose="020B0502040204020203" pitchFamily="34" charset="-34"/>
            </a:endParaRPr>
          </a:p>
          <a:p>
            <a:r>
              <a:rPr lang="en-IN" sz="1600" b="1" dirty="0" smtClean="0">
                <a:solidFill>
                  <a:prstClr val="black"/>
                </a:solidFill>
                <a:latin typeface="Leelawadee" panose="020B0502040204020203" pitchFamily="34" charset="-34"/>
                <a:cs typeface="Leelawadee" panose="020B0502040204020203" pitchFamily="34" charset="-34"/>
              </a:rPr>
              <a:t>Solution:</a:t>
            </a:r>
          </a:p>
          <a:p>
            <a:r>
              <a:rPr lang="en-IN" sz="1600" dirty="0" smtClean="0">
                <a:solidFill>
                  <a:prstClr val="black"/>
                </a:solidFill>
                <a:latin typeface="Leelawadee" panose="020B0502040204020203" pitchFamily="34" charset="-34"/>
                <a:cs typeface="Leelawadee" panose="020B0502040204020203" pitchFamily="34" charset="-34"/>
              </a:rPr>
              <a:t>Monthly </a:t>
            </a:r>
            <a:r>
              <a:rPr lang="en-IN" sz="1600" dirty="0">
                <a:solidFill>
                  <a:prstClr val="black"/>
                </a:solidFill>
                <a:latin typeface="Leelawadee" panose="020B0502040204020203" pitchFamily="34" charset="-34"/>
                <a:cs typeface="Leelawadee" panose="020B0502040204020203" pitchFamily="34" charset="-34"/>
              </a:rPr>
              <a:t>Tableau dashboard to highlight :</a:t>
            </a:r>
          </a:p>
          <a:p>
            <a:pPr marL="285750" indent="-285750">
              <a:buFont typeface="Arial" panose="020B0604020202020204" pitchFamily="34" charset="0"/>
              <a:buChar char="•"/>
            </a:pPr>
            <a:r>
              <a:rPr lang="en-IN" sz="1600" dirty="0" smtClean="0">
                <a:solidFill>
                  <a:prstClr val="black"/>
                </a:solidFill>
                <a:latin typeface="Leelawadee" panose="020B0502040204020203" pitchFamily="34" charset="-34"/>
                <a:cs typeface="Leelawadee" panose="020B0502040204020203" pitchFamily="34" charset="-34"/>
              </a:rPr>
              <a:t>Analyse themes &amp; topics relevant to </a:t>
            </a:r>
            <a:r>
              <a:rPr lang="en-IN" sz="1600" dirty="0">
                <a:solidFill>
                  <a:prstClr val="black"/>
                </a:solidFill>
                <a:latin typeface="Leelawadee" panose="020B0502040204020203" pitchFamily="34" charset="-34"/>
                <a:cs typeface="Leelawadee" panose="020B0502040204020203" pitchFamily="34" charset="-34"/>
              </a:rPr>
              <a:t>life insurance </a:t>
            </a:r>
            <a:r>
              <a:rPr lang="en-IN" sz="1600" dirty="0" smtClean="0">
                <a:solidFill>
                  <a:prstClr val="black"/>
                </a:solidFill>
                <a:latin typeface="Leelawadee" panose="020B0502040204020203" pitchFamily="34" charset="-34"/>
                <a:cs typeface="Leelawadee" panose="020B0502040204020203" pitchFamily="34" charset="-34"/>
              </a:rPr>
              <a:t>which </a:t>
            </a:r>
            <a:r>
              <a:rPr lang="en-IN" sz="1600" dirty="0">
                <a:solidFill>
                  <a:prstClr val="black"/>
                </a:solidFill>
                <a:latin typeface="Leelawadee" panose="020B0502040204020203" pitchFamily="34" charset="-34"/>
                <a:cs typeface="Leelawadee" panose="020B0502040204020203" pitchFamily="34" charset="-34"/>
              </a:rPr>
              <a:t>are most discussed on social </a:t>
            </a:r>
            <a:r>
              <a:rPr lang="en-IN" sz="1600" dirty="0" smtClean="0">
                <a:solidFill>
                  <a:prstClr val="black"/>
                </a:solidFill>
                <a:latin typeface="Leelawadee" panose="020B0502040204020203" pitchFamily="34" charset="-34"/>
                <a:cs typeface="Leelawadee" panose="020B0502040204020203" pitchFamily="34" charset="-34"/>
              </a:rPr>
              <a:t>media</a:t>
            </a:r>
            <a:endParaRPr lang="en-IN" sz="1600" dirty="0">
              <a:solidFill>
                <a:prstClr val="black"/>
              </a:solidFill>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600" dirty="0" smtClean="0">
                <a:solidFill>
                  <a:prstClr val="black"/>
                </a:solidFill>
                <a:latin typeface="Leelawadee" panose="020B0502040204020203" pitchFamily="34" charset="-34"/>
                <a:cs typeface="Leelawadee" panose="020B0502040204020203" pitchFamily="34" charset="-34"/>
              </a:rPr>
              <a:t>Performance of competition brands on top identified themes</a:t>
            </a:r>
          </a:p>
          <a:p>
            <a:r>
              <a:rPr lang="en-IN" sz="1600" dirty="0" smtClean="0">
                <a:solidFill>
                  <a:prstClr val="black"/>
                </a:solidFill>
                <a:latin typeface="Leelawadee" panose="020B0502040204020203" pitchFamily="34" charset="-34"/>
                <a:cs typeface="Leelawadee" panose="020B0502040204020203" pitchFamily="34" charset="-34"/>
              </a:rPr>
              <a:t> </a:t>
            </a:r>
            <a:endParaRPr lang="en-IN" sz="1600" b="1" dirty="0" smtClean="0">
              <a:solidFill>
                <a:prstClr val="black"/>
              </a:solidFill>
              <a:latin typeface="Leelawadee" panose="020B0502040204020203" pitchFamily="34" charset="-34"/>
              <a:cs typeface="Leelawadee" panose="020B0502040204020203" pitchFamily="34" charset="-34"/>
            </a:endParaRPr>
          </a:p>
          <a:p>
            <a:r>
              <a:rPr lang="en-IN" sz="1600" b="1" dirty="0" smtClean="0">
                <a:solidFill>
                  <a:prstClr val="black"/>
                </a:solidFill>
                <a:latin typeface="Leelawadee" panose="020B0502040204020203" pitchFamily="34" charset="-34"/>
                <a:cs typeface="Leelawadee" panose="020B0502040204020203" pitchFamily="34" charset="-34"/>
              </a:rPr>
              <a:t>Result: </a:t>
            </a:r>
          </a:p>
          <a:p>
            <a:r>
              <a:rPr lang="en-IN" sz="1600" dirty="0" smtClean="0">
                <a:solidFill>
                  <a:prstClr val="black"/>
                </a:solidFill>
                <a:latin typeface="Leelawadee" panose="020B0502040204020203" pitchFamily="34" charset="-34"/>
                <a:cs typeface="Leelawadee" panose="020B0502040204020203" pitchFamily="34" charset="-34"/>
              </a:rPr>
              <a:t>Highest Growth in Social Reach in competitive set for subsequent 2 months.</a:t>
            </a:r>
            <a:endParaRPr lang="en-IN" sz="1600" dirty="0">
              <a:solidFill>
                <a:prstClr val="black"/>
              </a:solidFill>
              <a:latin typeface="Leelawadee" panose="020B0502040204020203" pitchFamily="34" charset="-34"/>
              <a:cs typeface="Leelawadee" panose="020B0502040204020203" pitchFamily="34" charset="-34"/>
            </a:endParaRPr>
          </a:p>
        </p:txBody>
      </p:sp>
      <p:pic>
        <p:nvPicPr>
          <p:cNvPr id="14" name="Picture 13"/>
          <p:cNvPicPr>
            <a:picLocks noChangeAspect="1"/>
          </p:cNvPicPr>
          <p:nvPr/>
        </p:nvPicPr>
        <p:blipFill>
          <a:blip r:embed="rId6" cstate="email">
            <a:clrChange>
              <a:clrFrom>
                <a:srgbClr val="FFFFFF"/>
              </a:clrFrom>
              <a:clrTo>
                <a:srgbClr val="FFFFFF">
                  <a:alpha val="0"/>
                </a:srgbClr>
              </a:clrTo>
            </a:clrChange>
            <a:duotone>
              <a:prstClr val="black"/>
              <a:srgbClr val="FF0000">
                <a:tint val="45000"/>
                <a:satMod val="400000"/>
              </a:srgbClr>
            </a:duotone>
            <a:extLst>
              <a:ext uri="{28A0092B-C50C-407E-A947-70E740481C1C}">
                <a14:useLocalDpi xmlns:a14="http://schemas.microsoft.com/office/drawing/2010/main"/>
              </a:ext>
            </a:extLst>
          </a:blip>
          <a:stretch>
            <a:fillRect/>
          </a:stretch>
        </p:blipFill>
        <p:spPr>
          <a:xfrm>
            <a:off x="6045994" y="3924441"/>
            <a:ext cx="2034457" cy="1426659"/>
          </a:xfrm>
          <a:prstGeom prst="rect">
            <a:avLst/>
          </a:prstGeom>
        </p:spPr>
      </p:pic>
      <p:sp>
        <p:nvSpPr>
          <p:cNvPr id="16" name="TextBox 15"/>
          <p:cNvSpPr txBox="1"/>
          <p:nvPr/>
        </p:nvSpPr>
        <p:spPr bwMode="gray">
          <a:xfrm>
            <a:off x="8430488" y="5397982"/>
            <a:ext cx="3164221" cy="666549"/>
          </a:xfrm>
          <a:prstGeom prst="rect">
            <a:avLst/>
          </a:prstGeom>
        </p:spPr>
        <p:txBody>
          <a:bodyPr vert="horz" wrap="square" lIns="91440" tIns="45720" rIns="91440" bIns="45720" rtlCol="0" anchor="ctr">
            <a:noAutofit/>
          </a:bodyPr>
          <a:lstStyle/>
          <a:p>
            <a:pPr algn="ctr"/>
            <a:r>
              <a:rPr lang="en-IN" b="1" dirty="0" smtClean="0">
                <a:solidFill>
                  <a:prstClr val="black"/>
                </a:solidFill>
              </a:rPr>
              <a:t>Customer Topic Analysis </a:t>
            </a:r>
            <a:endParaRPr lang="en-IN" b="1" dirty="0">
              <a:solidFill>
                <a:prstClr val="black"/>
              </a:solidFill>
            </a:endParaRPr>
          </a:p>
        </p:txBody>
      </p:sp>
      <p:grpSp>
        <p:nvGrpSpPr>
          <p:cNvPr id="2" name="Group 1"/>
          <p:cNvGrpSpPr/>
          <p:nvPr/>
        </p:nvGrpSpPr>
        <p:grpSpPr>
          <a:xfrm>
            <a:off x="10621265" y="711490"/>
            <a:ext cx="1520729" cy="1283275"/>
            <a:chOff x="10621265" y="711490"/>
            <a:chExt cx="1520729" cy="1283275"/>
          </a:xfrm>
        </p:grpSpPr>
        <p:pic>
          <p:nvPicPr>
            <p:cNvPr id="1026" name="Picture 2" descr="http://www.laatuvippi.fi/wp-content/uploads/2015/05/henkivakuutus.png"/>
            <p:cNvPicPr>
              <a:picLocks noChangeAspect="1" noChangeArrowheads="1"/>
            </p:cNvPicPr>
            <p:nvPr/>
          </p:nvPicPr>
          <p:blipFill rotWithShape="1">
            <a:blip r:embed="rId7">
              <a:extLst>
                <a:ext uri="{28A0092B-C50C-407E-A947-70E740481C1C}">
                  <a14:useLocalDpi xmlns:a14="http://schemas.microsoft.com/office/drawing/2010/main" val="0"/>
                </a:ext>
              </a:extLst>
            </a:blip>
            <a:srcRect l="18956" t="5667" r="15664" b="12081"/>
            <a:stretch/>
          </p:blipFill>
          <p:spPr bwMode="auto">
            <a:xfrm>
              <a:off x="10955898" y="711490"/>
              <a:ext cx="940606" cy="964419"/>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p:cNvSpPr txBox="1"/>
            <p:nvPr/>
          </p:nvSpPr>
          <p:spPr bwMode="gray">
            <a:xfrm>
              <a:off x="10621265" y="1702055"/>
              <a:ext cx="1520729" cy="292710"/>
            </a:xfrm>
            <a:prstGeom prst="rect">
              <a:avLst/>
            </a:prstGeom>
          </p:spPr>
          <p:txBody>
            <a:bodyPr vert="horz" wrap="square" lIns="91440" tIns="45720" rIns="91440" bIns="45720" rtlCol="0" anchor="ctr">
              <a:noAutofit/>
            </a:bodyPr>
            <a:lstStyle/>
            <a:p>
              <a:pPr algn="ctr"/>
              <a:r>
                <a:rPr lang="en-IN" b="1" dirty="0" smtClean="0">
                  <a:solidFill>
                    <a:srgbClr val="1987AA"/>
                  </a:solidFill>
                </a:rPr>
                <a:t>Life Insurance</a:t>
              </a:r>
              <a:endParaRPr lang="en-IN" b="1" dirty="0">
                <a:solidFill>
                  <a:srgbClr val="1987AA"/>
                </a:solidFill>
              </a:endParaRPr>
            </a:p>
          </p:txBody>
        </p:sp>
      </p:grpSp>
    </p:spTree>
    <p:extLst>
      <p:ext uri="{BB962C8B-B14F-4D97-AF65-F5344CB8AC3E}">
        <p14:creationId xmlns:p14="http://schemas.microsoft.com/office/powerpoint/2010/main" val="34968162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0" y="632802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388122"/>
            <a:ext cx="12192000" cy="461665"/>
            <a:chOff x="1" y="322556"/>
            <a:chExt cx="12192000" cy="461665"/>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3095086" y="322556"/>
              <a:ext cx="6001964" cy="461665"/>
            </a:xfrm>
            <a:prstGeom prst="rect">
              <a:avLst/>
            </a:prstGeom>
            <a:solidFill>
              <a:schemeClr val="bg1"/>
            </a:solidFill>
          </p:spPr>
          <p:txBody>
            <a:bodyPr wrap="none" anchor="ctr">
              <a:spAutoFit/>
            </a:bodyPr>
            <a:lstStyle/>
            <a:p>
              <a:pPr algn="ctr"/>
              <a:r>
                <a:rPr lang="en-IN" sz="2400" b="1" dirty="0" smtClean="0">
                  <a:solidFill>
                    <a:schemeClr val="bg1">
                      <a:lumMod val="50000"/>
                    </a:schemeClr>
                  </a:solidFill>
                  <a:latin typeface="Leelawadee UI" panose="020B0502040204020203" pitchFamily="34" charset="-34"/>
                  <a:cs typeface="Leelawadee UI" panose="020B0502040204020203" pitchFamily="34" charset="-34"/>
                </a:rPr>
                <a:t> </a:t>
              </a:r>
              <a:r>
                <a:rPr lang="en-IN" sz="2400" b="1" dirty="0" smtClean="0">
                  <a:solidFill>
                    <a:schemeClr val="bg1">
                      <a:lumMod val="50000"/>
                    </a:schemeClr>
                  </a:solidFill>
                  <a:latin typeface="Leelawadee UI" panose="020B0502040204020203" pitchFamily="34" charset="-34"/>
                  <a:cs typeface="Leelawadee UI" panose="020B0502040204020203" pitchFamily="34" charset="-34"/>
                </a:rPr>
                <a:t>User Engagement &amp; Sentiment Analysis</a:t>
              </a:r>
            </a:p>
          </p:txBody>
        </p:sp>
      </p:grpSp>
      <p:sp>
        <p:nvSpPr>
          <p:cNvPr id="13" name="TextBox 12"/>
          <p:cNvSpPr txBox="1"/>
          <p:nvPr/>
        </p:nvSpPr>
        <p:spPr bwMode="gray">
          <a:xfrm>
            <a:off x="9328385" y="2668228"/>
            <a:ext cx="3113700" cy="484629"/>
          </a:xfrm>
          <a:prstGeom prst="rect">
            <a:avLst/>
          </a:prstGeom>
        </p:spPr>
        <p:txBody>
          <a:bodyPr vert="horz" wrap="square" lIns="91440" tIns="45720" rIns="91440" bIns="45720" rtlCol="0" anchor="ctr">
            <a:noAutofit/>
          </a:bodyPr>
          <a:lstStyle/>
          <a:p>
            <a:pPr algn="ctr"/>
            <a:r>
              <a:rPr lang="en-IN" b="1" dirty="0">
                <a:solidFill>
                  <a:prstClr val="black"/>
                </a:solidFill>
              </a:rPr>
              <a:t>Social Sentiment </a:t>
            </a:r>
          </a:p>
        </p:txBody>
      </p:sp>
      <p:sp>
        <p:nvSpPr>
          <p:cNvPr id="16" name="TextBox 15"/>
          <p:cNvSpPr txBox="1"/>
          <p:nvPr/>
        </p:nvSpPr>
        <p:spPr bwMode="gray">
          <a:xfrm>
            <a:off x="9447068" y="2185613"/>
            <a:ext cx="2258386" cy="484629"/>
          </a:xfrm>
          <a:prstGeom prst="rect">
            <a:avLst/>
          </a:prstGeom>
        </p:spPr>
        <p:txBody>
          <a:bodyPr vert="horz" wrap="square" lIns="91440" tIns="45720" rIns="91440" bIns="45720" rtlCol="0" anchor="ctr">
            <a:noAutofit/>
          </a:bodyPr>
          <a:lstStyle/>
          <a:p>
            <a:pPr algn="ctr"/>
            <a:r>
              <a:rPr lang="en-IN" b="1" dirty="0">
                <a:solidFill>
                  <a:prstClr val="black"/>
                </a:solidFill>
              </a:rPr>
              <a:t>Social Engagement </a:t>
            </a:r>
          </a:p>
        </p:txBody>
      </p:sp>
      <p:pic>
        <p:nvPicPr>
          <p:cNvPr id="14" name="Picture 13"/>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8969827" y="3270925"/>
            <a:ext cx="3099062" cy="2584501"/>
          </a:xfrm>
          <a:prstGeom prst="rect">
            <a:avLst/>
          </a:prstGeom>
          <a:ln>
            <a:noFill/>
          </a:ln>
          <a:effectLst>
            <a:outerShdw blurRad="190500" algn="tl" rotWithShape="0">
              <a:srgbClr val="000000">
                <a:alpha val="70000"/>
              </a:srgbClr>
            </a:outerShdw>
          </a:effectLst>
        </p:spPr>
      </p:pic>
      <p:sp>
        <p:nvSpPr>
          <p:cNvPr id="17" name="Rectangle 16"/>
          <p:cNvSpPr/>
          <p:nvPr/>
        </p:nvSpPr>
        <p:spPr>
          <a:xfrm>
            <a:off x="658252" y="1247278"/>
            <a:ext cx="4229058" cy="4524315"/>
          </a:xfrm>
          <a:prstGeom prst="rect">
            <a:avLst/>
          </a:prstGeom>
        </p:spPr>
        <p:txBody>
          <a:bodyPr wrap="square">
            <a:spAutoFit/>
          </a:bodyPr>
          <a:lstStyle/>
          <a:p>
            <a:r>
              <a:rPr lang="en-IN" sz="1600" b="1" dirty="0">
                <a:solidFill>
                  <a:prstClr val="black"/>
                </a:solidFill>
                <a:latin typeface="Leelawadee" panose="020B0502040204020203" pitchFamily="34" charset="-34"/>
                <a:cs typeface="Leelawadee" panose="020B0502040204020203" pitchFamily="34" charset="-34"/>
              </a:rPr>
              <a:t>Objective</a:t>
            </a:r>
            <a:r>
              <a:rPr lang="en-IN" sz="1600" dirty="0" smtClean="0">
                <a:solidFill>
                  <a:prstClr val="black"/>
                </a:solidFill>
                <a:latin typeface="Leelawadee" panose="020B0502040204020203" pitchFamily="34" charset="-34"/>
                <a:cs typeface="Leelawadee" panose="020B0502040204020203" pitchFamily="34" charset="-34"/>
              </a:rPr>
              <a:t>:</a:t>
            </a:r>
          </a:p>
          <a:p>
            <a:r>
              <a:rPr lang="en-IN" sz="1600" dirty="0">
                <a:solidFill>
                  <a:prstClr val="black"/>
                </a:solidFill>
                <a:latin typeface="Leelawadee" panose="020B0502040204020203" pitchFamily="34" charset="-34"/>
                <a:cs typeface="Leelawadee" panose="020B0502040204020203" pitchFamily="34" charset="-34"/>
              </a:rPr>
              <a:t>For a leading Insurance provider – </a:t>
            </a:r>
          </a:p>
          <a:p>
            <a:r>
              <a:rPr lang="en-IN" sz="1600" dirty="0" smtClean="0">
                <a:solidFill>
                  <a:prstClr val="black"/>
                </a:solidFill>
                <a:latin typeface="Leelawadee" panose="020B0502040204020203" pitchFamily="34" charset="-34"/>
                <a:cs typeface="Leelawadee" panose="020B0502040204020203" pitchFamily="34" charset="-34"/>
              </a:rPr>
              <a:t>To enhance user engagement on Social Media, and benchmark engagement against competition </a:t>
            </a:r>
          </a:p>
          <a:p>
            <a:endParaRPr lang="en-IN" sz="1600" dirty="0">
              <a:solidFill>
                <a:prstClr val="black"/>
              </a:solidFill>
              <a:latin typeface="Leelawadee" panose="020B0502040204020203" pitchFamily="34" charset="-34"/>
              <a:cs typeface="Leelawadee" panose="020B0502040204020203" pitchFamily="34" charset="-34"/>
            </a:endParaRPr>
          </a:p>
          <a:p>
            <a:r>
              <a:rPr lang="en-IN" sz="1600" b="1" dirty="0" smtClean="0">
                <a:solidFill>
                  <a:prstClr val="black"/>
                </a:solidFill>
                <a:latin typeface="Leelawadee" panose="020B0502040204020203" pitchFamily="34" charset="-34"/>
                <a:cs typeface="Leelawadee" panose="020B0502040204020203" pitchFamily="34" charset="-34"/>
              </a:rPr>
              <a:t>Solution:</a:t>
            </a:r>
          </a:p>
          <a:p>
            <a:r>
              <a:rPr lang="en-IN" sz="1600" dirty="0" smtClean="0">
                <a:solidFill>
                  <a:prstClr val="black"/>
                </a:solidFill>
                <a:latin typeface="Leelawadee" panose="020B0502040204020203" pitchFamily="34" charset="-34"/>
                <a:cs typeface="Leelawadee" panose="020B0502040204020203" pitchFamily="34" charset="-34"/>
              </a:rPr>
              <a:t>Monthly </a:t>
            </a:r>
            <a:r>
              <a:rPr lang="en-IN" sz="1600" dirty="0">
                <a:solidFill>
                  <a:prstClr val="black"/>
                </a:solidFill>
                <a:latin typeface="Leelawadee" panose="020B0502040204020203" pitchFamily="34" charset="-34"/>
                <a:cs typeface="Leelawadee" panose="020B0502040204020203" pitchFamily="34" charset="-34"/>
              </a:rPr>
              <a:t>Tableau </a:t>
            </a:r>
            <a:r>
              <a:rPr lang="en-IN" sz="1600" dirty="0" smtClean="0">
                <a:solidFill>
                  <a:prstClr val="black"/>
                </a:solidFill>
                <a:latin typeface="Leelawadee" panose="020B0502040204020203" pitchFamily="34" charset="-34"/>
                <a:cs typeface="Leelawadee" panose="020B0502040204020203" pitchFamily="34" charset="-34"/>
              </a:rPr>
              <a:t>dashboard benchmarking </a:t>
            </a:r>
            <a:r>
              <a:rPr lang="en-IN" sz="1600" dirty="0">
                <a:solidFill>
                  <a:prstClr val="black"/>
                </a:solidFill>
                <a:latin typeface="Leelawadee" panose="020B0502040204020203" pitchFamily="34" charset="-34"/>
                <a:cs typeface="Leelawadee" panose="020B0502040204020203" pitchFamily="34" charset="-34"/>
              </a:rPr>
              <a:t>:</a:t>
            </a:r>
          </a:p>
          <a:p>
            <a:pPr marL="285750" indent="-285750">
              <a:buFont typeface="Arial" panose="020B0604020202020204" pitchFamily="34" charset="0"/>
              <a:buChar char="•"/>
            </a:pPr>
            <a:r>
              <a:rPr lang="en-IN" sz="1600" dirty="0" smtClean="0">
                <a:solidFill>
                  <a:prstClr val="black"/>
                </a:solidFill>
                <a:latin typeface="Leelawadee" panose="020B0502040204020203" pitchFamily="34" charset="-34"/>
                <a:cs typeface="Leelawadee" panose="020B0502040204020203" pitchFamily="34" charset="-34"/>
              </a:rPr>
              <a:t>Reach and Engagement metrics with respect to top competitors  </a:t>
            </a:r>
          </a:p>
          <a:p>
            <a:pPr marL="285750" indent="-285750">
              <a:buFont typeface="Arial" panose="020B0604020202020204" pitchFamily="34" charset="0"/>
              <a:buChar char="•"/>
            </a:pPr>
            <a:r>
              <a:rPr lang="en-IN" sz="1600" dirty="0" smtClean="0">
                <a:solidFill>
                  <a:prstClr val="black"/>
                </a:solidFill>
                <a:latin typeface="Leelawadee" panose="020B0502040204020203" pitchFamily="34" charset="-34"/>
                <a:cs typeface="Leelawadee" panose="020B0502040204020203" pitchFamily="34" charset="-34"/>
              </a:rPr>
              <a:t>Social Sentiment </a:t>
            </a:r>
          </a:p>
          <a:p>
            <a:pPr marL="285750" indent="-285750">
              <a:buFont typeface="Arial" panose="020B0604020202020204" pitchFamily="34" charset="0"/>
              <a:buChar char="•"/>
            </a:pPr>
            <a:r>
              <a:rPr lang="en-IN" sz="1600" dirty="0" smtClean="0">
                <a:solidFill>
                  <a:prstClr val="black"/>
                </a:solidFill>
                <a:latin typeface="Leelawadee" panose="020B0502040204020203" pitchFamily="34" charset="-34"/>
                <a:cs typeface="Leelawadee" panose="020B0502040204020203" pitchFamily="34" charset="-34"/>
              </a:rPr>
              <a:t>Social Campaign performance </a:t>
            </a:r>
          </a:p>
          <a:p>
            <a:endParaRPr lang="en-IN" sz="1600" b="1" dirty="0" smtClean="0">
              <a:solidFill>
                <a:prstClr val="black"/>
              </a:solidFill>
              <a:latin typeface="Leelawadee" panose="020B0502040204020203" pitchFamily="34" charset="-34"/>
              <a:cs typeface="Leelawadee" panose="020B0502040204020203" pitchFamily="34" charset="-34"/>
            </a:endParaRPr>
          </a:p>
          <a:p>
            <a:r>
              <a:rPr lang="en-IN" sz="1600" b="1" dirty="0" smtClean="0">
                <a:solidFill>
                  <a:prstClr val="black"/>
                </a:solidFill>
                <a:latin typeface="Leelawadee" panose="020B0502040204020203" pitchFamily="34" charset="-34"/>
                <a:cs typeface="Leelawadee" panose="020B0502040204020203" pitchFamily="34" charset="-34"/>
              </a:rPr>
              <a:t>Result: </a:t>
            </a:r>
          </a:p>
          <a:p>
            <a:r>
              <a:rPr lang="en-IN" sz="1600" dirty="0" smtClean="0">
                <a:solidFill>
                  <a:prstClr val="black"/>
                </a:solidFill>
                <a:latin typeface="Leelawadee" panose="020B0502040204020203" pitchFamily="34" charset="-34"/>
                <a:cs typeface="Leelawadee" panose="020B0502040204020203" pitchFamily="34" charset="-34"/>
              </a:rPr>
              <a:t>Benchmarked Response Time Vs. Competition – Resulted in halving the response time</a:t>
            </a:r>
          </a:p>
          <a:p>
            <a:endParaRPr lang="en-IN" sz="1600" dirty="0">
              <a:solidFill>
                <a:prstClr val="black"/>
              </a:solidFill>
              <a:latin typeface="Leelawadee" panose="020B0502040204020203" pitchFamily="34" charset="-34"/>
              <a:cs typeface="Leelawadee" panose="020B0502040204020203" pitchFamily="34" charset="-34"/>
            </a:endParaRPr>
          </a:p>
        </p:txBody>
      </p:sp>
      <p:sp>
        <p:nvSpPr>
          <p:cNvPr id="18" name="Rounded Rectangle 17"/>
          <p:cNvSpPr/>
          <p:nvPr/>
        </p:nvSpPr>
        <p:spPr>
          <a:xfrm>
            <a:off x="305219" y="983789"/>
            <a:ext cx="4850106" cy="5080742"/>
          </a:xfrm>
          <a:prstGeom prst="roundRect">
            <a:avLst/>
          </a:prstGeom>
          <a:noFill/>
          <a:ln>
            <a:solidFill>
              <a:schemeClr val="tx1">
                <a:lumMod val="95000"/>
                <a:lumOff val="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pic>
        <p:nvPicPr>
          <p:cNvPr id="19" name="Picture 18"/>
          <p:cNvPicPr>
            <a:picLocks noChangeAspect="1"/>
          </p:cNvPicPr>
          <p:nvPr/>
        </p:nvPicPr>
        <p:blipFill>
          <a:blip r:embed="rId5"/>
          <a:stretch>
            <a:fillRect/>
          </a:stretch>
        </p:blipFill>
        <p:spPr>
          <a:xfrm>
            <a:off x="5523409" y="3196687"/>
            <a:ext cx="3078333" cy="2485606"/>
          </a:xfrm>
          <a:prstGeom prst="rect">
            <a:avLst/>
          </a:prstGeom>
          <a:ln>
            <a:noFill/>
          </a:ln>
          <a:effectLst>
            <a:outerShdw blurRad="190500" algn="tl" rotWithShape="0">
              <a:srgbClr val="000000">
                <a:alpha val="70000"/>
              </a:srgbClr>
            </a:outerShdw>
          </a:effectLst>
        </p:spPr>
      </p:pic>
      <p:sp>
        <p:nvSpPr>
          <p:cNvPr id="20" name="TextBox 19"/>
          <p:cNvSpPr txBox="1"/>
          <p:nvPr/>
        </p:nvSpPr>
        <p:spPr bwMode="gray">
          <a:xfrm>
            <a:off x="5190143" y="5904166"/>
            <a:ext cx="3744864" cy="176483"/>
          </a:xfrm>
          <a:prstGeom prst="rect">
            <a:avLst/>
          </a:prstGeom>
        </p:spPr>
        <p:txBody>
          <a:bodyPr vert="horz" wrap="square" lIns="91440" tIns="45720" rIns="91440" bIns="45720" rtlCol="0" anchor="ctr">
            <a:noAutofit/>
          </a:bodyPr>
          <a:lstStyle/>
          <a:p>
            <a:pPr algn="ctr"/>
            <a:r>
              <a:rPr lang="en-IN" b="1" dirty="0">
                <a:solidFill>
                  <a:prstClr val="black"/>
                </a:solidFill>
              </a:rPr>
              <a:t>Social Campaign Performance</a:t>
            </a:r>
          </a:p>
        </p:txBody>
      </p:sp>
      <p:pic>
        <p:nvPicPr>
          <p:cNvPr id="2" name="Picture 1"/>
          <p:cNvPicPr>
            <a:picLocks noChangeAspect="1"/>
          </p:cNvPicPr>
          <p:nvPr/>
        </p:nvPicPr>
        <p:blipFill>
          <a:blip r:embed="rId6"/>
          <a:stretch>
            <a:fillRect/>
          </a:stretch>
        </p:blipFill>
        <p:spPr>
          <a:xfrm>
            <a:off x="6266711" y="1213213"/>
            <a:ext cx="3180357" cy="2481062"/>
          </a:xfrm>
          <a:prstGeom prst="rect">
            <a:avLst/>
          </a:prstGeom>
          <a:ln>
            <a:noFill/>
          </a:ln>
          <a:effectLst>
            <a:outerShdw blurRad="190500" algn="tl" rotWithShape="0">
              <a:srgbClr val="000000">
                <a:alpha val="70000"/>
              </a:srgbClr>
            </a:outerShdw>
          </a:effectLst>
        </p:spPr>
      </p:pic>
      <p:grpSp>
        <p:nvGrpSpPr>
          <p:cNvPr id="21" name="Group 20"/>
          <p:cNvGrpSpPr/>
          <p:nvPr/>
        </p:nvGrpSpPr>
        <p:grpSpPr>
          <a:xfrm>
            <a:off x="10621265" y="711490"/>
            <a:ext cx="1520729" cy="1283275"/>
            <a:chOff x="10621265" y="711490"/>
            <a:chExt cx="1520729" cy="1283275"/>
          </a:xfrm>
        </p:grpSpPr>
        <p:pic>
          <p:nvPicPr>
            <p:cNvPr id="22" name="Picture 2" descr="http://www.laatuvippi.fi/wp-content/uploads/2015/05/henkivakuutus.png"/>
            <p:cNvPicPr>
              <a:picLocks noChangeAspect="1" noChangeArrowheads="1"/>
            </p:cNvPicPr>
            <p:nvPr/>
          </p:nvPicPr>
          <p:blipFill rotWithShape="1">
            <a:blip r:embed="rId7">
              <a:extLst>
                <a:ext uri="{28A0092B-C50C-407E-A947-70E740481C1C}">
                  <a14:useLocalDpi xmlns:a14="http://schemas.microsoft.com/office/drawing/2010/main" val="0"/>
                </a:ext>
              </a:extLst>
            </a:blip>
            <a:srcRect l="18956" t="5667" r="15664" b="12081"/>
            <a:stretch/>
          </p:blipFill>
          <p:spPr bwMode="auto">
            <a:xfrm>
              <a:off x="10955898" y="711490"/>
              <a:ext cx="940606" cy="964419"/>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p:cNvSpPr txBox="1"/>
            <p:nvPr/>
          </p:nvSpPr>
          <p:spPr bwMode="gray">
            <a:xfrm>
              <a:off x="10621265" y="1702055"/>
              <a:ext cx="1520729" cy="292710"/>
            </a:xfrm>
            <a:prstGeom prst="rect">
              <a:avLst/>
            </a:prstGeom>
          </p:spPr>
          <p:txBody>
            <a:bodyPr vert="horz" wrap="square" lIns="91440" tIns="45720" rIns="91440" bIns="45720" rtlCol="0" anchor="ctr">
              <a:noAutofit/>
            </a:bodyPr>
            <a:lstStyle/>
            <a:p>
              <a:pPr algn="ctr"/>
              <a:r>
                <a:rPr lang="en-IN" b="1" dirty="0" smtClean="0">
                  <a:solidFill>
                    <a:srgbClr val="1987AA"/>
                  </a:solidFill>
                </a:rPr>
                <a:t>Life Insurance</a:t>
              </a:r>
              <a:endParaRPr lang="en-IN" b="1" dirty="0">
                <a:solidFill>
                  <a:srgbClr val="1987AA"/>
                </a:solidFill>
              </a:endParaRPr>
            </a:p>
          </p:txBody>
        </p:sp>
      </p:grpSp>
    </p:spTree>
    <p:extLst>
      <p:ext uri="{BB962C8B-B14F-4D97-AF65-F5344CB8AC3E}">
        <p14:creationId xmlns:p14="http://schemas.microsoft.com/office/powerpoint/2010/main" val="186165089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p:cNvGrpSpPr/>
          <p:nvPr/>
        </p:nvGrpSpPr>
        <p:grpSpPr>
          <a:xfrm>
            <a:off x="1" y="267843"/>
            <a:ext cx="12192000" cy="461665"/>
            <a:chOff x="1" y="322556"/>
            <a:chExt cx="12192000" cy="461665"/>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5070753" y="322556"/>
              <a:ext cx="2050561" cy="461665"/>
            </a:xfrm>
            <a:prstGeom prst="rect">
              <a:avLst/>
            </a:prstGeom>
            <a:solidFill>
              <a:schemeClr val="bg1"/>
            </a:solidFill>
          </p:spPr>
          <p:txBody>
            <a:bodyPr wrap="none" anchor="ctr">
              <a:spAutoFit/>
            </a:bodyPr>
            <a:lstStyle/>
            <a:p>
              <a:pPr algn="ctr"/>
              <a:r>
                <a:rPr lang="en-IN" sz="2400" b="1" dirty="0">
                  <a:solidFill>
                    <a:srgbClr val="0070C0"/>
                  </a:solidFill>
                  <a:latin typeface="Leelawadee" panose="020B0502040204020203" pitchFamily="34" charset="-34"/>
                  <a:cs typeface="Leelawadee" panose="020B0502040204020203" pitchFamily="34" charset="-34"/>
                </a:rPr>
                <a:t>3</a:t>
              </a:r>
              <a:r>
                <a:rPr lang="en-IN" sz="2400" b="1" dirty="0" smtClean="0">
                  <a:solidFill>
                    <a:srgbClr val="0070C0"/>
                  </a:solidFill>
                  <a:latin typeface="Leelawadee" panose="020B0502040204020203" pitchFamily="34" charset="-34"/>
                  <a:cs typeface="Leelawadee" panose="020B0502040204020203" pitchFamily="34" charset="-34"/>
                </a:rPr>
                <a:t>. </a:t>
              </a:r>
              <a:r>
                <a:rPr lang="en-IN" sz="2400" b="1" dirty="0" err="1" smtClean="0">
                  <a:solidFill>
                    <a:srgbClr val="0070C0"/>
                  </a:solidFill>
                  <a:latin typeface="Leelawadee" panose="020B0502040204020203" pitchFamily="34" charset="-34"/>
                  <a:cs typeface="Leelawadee" panose="020B0502040204020203" pitchFamily="34" charset="-34"/>
                </a:rPr>
                <a:t>DigiSights</a:t>
              </a:r>
              <a:endParaRPr lang="en-IN" sz="2400" b="1" dirty="0">
                <a:solidFill>
                  <a:schemeClr val="bg1">
                    <a:lumMod val="50000"/>
                  </a:schemeClr>
                </a:solidFill>
                <a:latin typeface="Leelawadee" panose="020B0502040204020203" pitchFamily="34" charset="-34"/>
                <a:cs typeface="Leelawadee" panose="020B0502040204020203" pitchFamily="34" charset="-34"/>
              </a:endParaRPr>
            </a:p>
          </p:txBody>
        </p:sp>
      </p:grpSp>
      <p:sp>
        <p:nvSpPr>
          <p:cNvPr id="75" name="Rounded Rectangle 74"/>
          <p:cNvSpPr/>
          <p:nvPr/>
        </p:nvSpPr>
        <p:spPr>
          <a:xfrm>
            <a:off x="361628" y="1133923"/>
            <a:ext cx="11468746" cy="526943"/>
          </a:xfrm>
          <a:prstGeom prst="roundRect">
            <a:avLst/>
          </a:prstGeom>
          <a:solidFill>
            <a:schemeClr val="accent6">
              <a:lumMod val="40000"/>
              <a:lumOff val="60000"/>
            </a:schemeClr>
          </a:solidFill>
          <a:ln>
            <a:solidFill>
              <a:schemeClr val="tx1">
                <a:lumMod val="95000"/>
                <a:lumOff val="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solidFill>
                <a:prstClr val="white"/>
              </a:solidFill>
              <a:latin typeface="Leelawadee" panose="020B0502040204020203" pitchFamily="34" charset="-34"/>
              <a:cs typeface="Leelawadee" panose="020B0502040204020203" pitchFamily="34" charset="-34"/>
            </a:endParaRPr>
          </a:p>
        </p:txBody>
      </p:sp>
      <p:sp>
        <p:nvSpPr>
          <p:cNvPr id="23" name="Rounded Rectangle 22"/>
          <p:cNvSpPr/>
          <p:nvPr/>
        </p:nvSpPr>
        <p:spPr>
          <a:xfrm>
            <a:off x="361628" y="1880723"/>
            <a:ext cx="11468746" cy="539857"/>
          </a:xfrm>
          <a:prstGeom prst="roundRect">
            <a:avLst/>
          </a:prstGeom>
          <a:solidFill>
            <a:schemeClr val="accent4">
              <a:lumMod val="40000"/>
              <a:lumOff val="60000"/>
            </a:schemeClr>
          </a:solidFill>
          <a:ln>
            <a:solidFill>
              <a:schemeClr val="tx1">
                <a:lumMod val="95000"/>
                <a:lumOff val="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solidFill>
                <a:prstClr val="white"/>
              </a:solidFill>
              <a:latin typeface="Leelawadee" panose="020B0502040204020203" pitchFamily="34" charset="-34"/>
              <a:cs typeface="Leelawadee" panose="020B0502040204020203" pitchFamily="34" charset="-34"/>
            </a:endParaRPr>
          </a:p>
        </p:txBody>
      </p:sp>
      <p:sp>
        <p:nvSpPr>
          <p:cNvPr id="5" name="TextBox 4"/>
          <p:cNvSpPr txBox="1"/>
          <p:nvPr/>
        </p:nvSpPr>
        <p:spPr>
          <a:xfrm>
            <a:off x="564396" y="1965985"/>
            <a:ext cx="5005952" cy="338554"/>
          </a:xfrm>
          <a:prstGeom prst="rect">
            <a:avLst/>
          </a:prstGeom>
          <a:noFill/>
        </p:spPr>
        <p:txBody>
          <a:bodyPr wrap="square" rtlCol="0">
            <a:spAutoFit/>
          </a:bodyPr>
          <a:lstStyle/>
          <a:p>
            <a:r>
              <a:rPr lang="en-IN" sz="1600" b="1" dirty="0" smtClean="0">
                <a:latin typeface="Leelawadee" panose="020B0502040204020203" pitchFamily="34" charset="-34"/>
                <a:cs typeface="Leelawadee" panose="020B0502040204020203" pitchFamily="34" charset="-34"/>
              </a:rPr>
              <a:t>Full time resources</a:t>
            </a:r>
            <a:r>
              <a:rPr lang="en-IN" sz="1600" dirty="0" smtClean="0">
                <a:latin typeface="Leelawadee" panose="020B0502040204020203" pitchFamily="34" charset="-34"/>
                <a:cs typeface="Leelawadee" panose="020B0502040204020203" pitchFamily="34" charset="-34"/>
              </a:rPr>
              <a:t> :  Rahul, Fehrzard (Sales)  </a:t>
            </a:r>
            <a:endParaRPr lang="en-IN" sz="1600" dirty="0">
              <a:latin typeface="Leelawadee" panose="020B0502040204020203" pitchFamily="34" charset="-34"/>
              <a:cs typeface="Leelawadee" panose="020B0502040204020203" pitchFamily="34" charset="-34"/>
            </a:endParaRPr>
          </a:p>
        </p:txBody>
      </p:sp>
      <p:graphicFrame>
        <p:nvGraphicFramePr>
          <p:cNvPr id="8" name="Table 7"/>
          <p:cNvGraphicFramePr>
            <a:graphicFrameLocks noGrp="1"/>
          </p:cNvGraphicFramePr>
          <p:nvPr>
            <p:extLst>
              <p:ext uri="{D42A27DB-BD31-4B8C-83A1-F6EECF244321}">
                <p14:modId xmlns:p14="http://schemas.microsoft.com/office/powerpoint/2010/main" val="1224357138"/>
              </p:ext>
            </p:extLst>
          </p:nvPr>
        </p:nvGraphicFramePr>
        <p:xfrm>
          <a:off x="334049" y="2767340"/>
          <a:ext cx="11496325" cy="3566224"/>
        </p:xfrm>
        <a:graphic>
          <a:graphicData uri="http://schemas.openxmlformats.org/drawingml/2006/table">
            <a:tbl>
              <a:tblPr firstRow="1" bandRow="1">
                <a:tableStyleId>{C083E6E3-FA7D-4D7B-A595-EF9225AFEA82}</a:tableStyleId>
              </a:tblPr>
              <a:tblGrid>
                <a:gridCol w="3027716"/>
                <a:gridCol w="2581835"/>
                <a:gridCol w="2702859"/>
                <a:gridCol w="3183915"/>
              </a:tblGrid>
              <a:tr h="579751">
                <a:tc>
                  <a:txBody>
                    <a:bodyPr/>
                    <a:lstStyle/>
                    <a:p>
                      <a:pPr algn="ctr"/>
                      <a:r>
                        <a:rPr lang="en-IN" sz="1600" dirty="0" smtClean="0">
                          <a:latin typeface="Leelawadee" panose="020B0502040204020203" pitchFamily="34" charset="-34"/>
                          <a:cs typeface="Leelawadee" panose="020B0502040204020203" pitchFamily="34" charset="-34"/>
                        </a:rPr>
                        <a:t>Projects WIP</a:t>
                      </a:r>
                      <a:endParaRPr lang="en-IN" sz="1600" dirty="0">
                        <a:latin typeface="Leelawadee" panose="020B0502040204020203" pitchFamily="34" charset="-34"/>
                        <a:cs typeface="Leelawadee" panose="020B0502040204020203" pitchFamily="34" charset="-34"/>
                      </a:endParaRPr>
                    </a:p>
                  </a:txBody>
                  <a:tcPr anchor="ctr"/>
                </a:tc>
                <a:tc>
                  <a:txBody>
                    <a:bodyPr/>
                    <a:lstStyle/>
                    <a:p>
                      <a:pPr algn="ctr"/>
                      <a:r>
                        <a:rPr lang="en-IN" sz="1600" dirty="0" smtClean="0">
                          <a:latin typeface="Leelawadee" panose="020B0502040204020203" pitchFamily="34" charset="-34"/>
                          <a:cs typeface="Leelawadee" panose="020B0502040204020203" pitchFamily="34" charset="-34"/>
                        </a:rPr>
                        <a:t>Projects Delivered</a:t>
                      </a:r>
                      <a:endParaRPr lang="en-IN" sz="1600" dirty="0">
                        <a:latin typeface="Leelawadee" panose="020B0502040204020203" pitchFamily="34" charset="-34"/>
                        <a:cs typeface="Leelawadee" panose="020B0502040204020203" pitchFamily="34" charset="-34"/>
                      </a:endParaRPr>
                    </a:p>
                  </a:txBody>
                  <a:tcPr anchor="ctr"/>
                </a:tc>
                <a:tc>
                  <a:txBody>
                    <a:bodyPr/>
                    <a:lstStyle/>
                    <a:p>
                      <a:pPr algn="ctr"/>
                      <a:r>
                        <a:rPr lang="en-IN" sz="1600" dirty="0" smtClean="0">
                          <a:latin typeface="Leelawadee" panose="020B0502040204020203" pitchFamily="34" charset="-34"/>
                          <a:cs typeface="Leelawadee" panose="020B0502040204020203" pitchFamily="34" charset="-34"/>
                        </a:rPr>
                        <a:t>Success</a:t>
                      </a:r>
                      <a:endParaRPr lang="en-IN" sz="1600" dirty="0">
                        <a:latin typeface="Leelawadee" panose="020B0502040204020203" pitchFamily="34" charset="-34"/>
                        <a:cs typeface="Leelawadee" panose="020B0502040204020203" pitchFamily="34" charset="-34"/>
                      </a:endParaRPr>
                    </a:p>
                  </a:txBody>
                  <a:tcPr anchor="ctr"/>
                </a:tc>
                <a:tc>
                  <a:txBody>
                    <a:bodyPr/>
                    <a:lstStyle/>
                    <a:p>
                      <a:pPr algn="ctr"/>
                      <a:r>
                        <a:rPr lang="en-IN" sz="1600" dirty="0" smtClean="0">
                          <a:latin typeface="Leelawadee" panose="020B0502040204020203" pitchFamily="34" charset="-34"/>
                          <a:cs typeface="Leelawadee" panose="020B0502040204020203" pitchFamily="34" charset="-34"/>
                        </a:rPr>
                        <a:t>Challenges</a:t>
                      </a:r>
                      <a:endParaRPr lang="en-IN" sz="1600" dirty="0">
                        <a:latin typeface="Leelawadee" panose="020B0502040204020203" pitchFamily="34" charset="-34"/>
                        <a:cs typeface="Leelawadee" panose="020B0502040204020203" pitchFamily="34" charset="-34"/>
                      </a:endParaRPr>
                    </a:p>
                  </a:txBody>
                  <a:tcPr anchor="ctr"/>
                </a:tc>
              </a:tr>
              <a:tr h="2986473">
                <a:tc>
                  <a:txBody>
                    <a:bodyPr/>
                    <a:lstStyle/>
                    <a:p>
                      <a:pPr marL="285750" indent="-285750" algn="l">
                        <a:buFont typeface="Arial" panose="020B0604020202020204" pitchFamily="34" charset="0"/>
                        <a:buChar char="•"/>
                      </a:pPr>
                      <a:r>
                        <a:rPr lang="en-IN" baseline="0" dirty="0" err="1" smtClean="0"/>
                        <a:t>DigiSights</a:t>
                      </a:r>
                      <a:r>
                        <a:rPr lang="en-IN" baseline="0" dirty="0" smtClean="0"/>
                        <a:t> for Tata AIA  – Duration : 1 year </a:t>
                      </a:r>
                    </a:p>
                    <a:p>
                      <a:pPr marL="285750" indent="-285750" algn="l">
                        <a:buFont typeface="Arial" panose="020B0604020202020204" pitchFamily="34" charset="0"/>
                        <a:buChar char="•"/>
                      </a:pPr>
                      <a:endParaRPr lang="en-IN" baseline="0" dirty="0" smtClean="0"/>
                    </a:p>
                    <a:p>
                      <a:pPr marL="285750" indent="-285750" algn="l">
                        <a:buFont typeface="Arial" panose="020B0604020202020204" pitchFamily="34" charset="0"/>
                        <a:buChar char="•"/>
                      </a:pPr>
                      <a:r>
                        <a:rPr lang="en-IN" dirty="0" err="1" smtClean="0"/>
                        <a:t>DigiSights</a:t>
                      </a:r>
                      <a:r>
                        <a:rPr lang="en-IN" dirty="0" smtClean="0"/>
                        <a:t> for Tata Sons covering major</a:t>
                      </a:r>
                      <a:r>
                        <a:rPr lang="en-IN" baseline="0" dirty="0" smtClean="0"/>
                        <a:t> </a:t>
                      </a:r>
                      <a:r>
                        <a:rPr lang="en-IN" dirty="0" smtClean="0"/>
                        <a:t>sectors </a:t>
                      </a:r>
                      <a:r>
                        <a:rPr lang="en-IN" baseline="0" dirty="0" smtClean="0"/>
                        <a:t>– Duration : 1.5 month</a:t>
                      </a:r>
                      <a:endParaRPr lang="en-IN" b="1" i="1" dirty="0"/>
                    </a:p>
                  </a:txBody>
                  <a:tcPr anchor="ctr"/>
                </a:tc>
                <a:tc>
                  <a:txBody>
                    <a:bodyPr/>
                    <a:lstStyle/>
                    <a:p>
                      <a:pPr marL="285750" indent="-285750" algn="l">
                        <a:buFont typeface="Arial" panose="020B0604020202020204" pitchFamily="34" charset="0"/>
                        <a:buChar char="•"/>
                      </a:pPr>
                      <a:r>
                        <a:rPr lang="en-IN" dirty="0" err="1" smtClean="0"/>
                        <a:t>DigiSights</a:t>
                      </a:r>
                      <a:r>
                        <a:rPr lang="en-IN" dirty="0" smtClean="0"/>
                        <a:t> for Tata Sons across</a:t>
                      </a:r>
                      <a:r>
                        <a:rPr lang="en-IN" baseline="0" dirty="0" smtClean="0"/>
                        <a:t> 16 business sectors </a:t>
                      </a:r>
                      <a:endParaRPr lang="en-IN" dirty="0"/>
                    </a:p>
                  </a:txBody>
                  <a:tcPr anchor="ctr"/>
                </a:tc>
                <a:tc>
                  <a:txBody>
                    <a:bodyPr/>
                    <a:lstStyle/>
                    <a:p>
                      <a:pPr marL="0" indent="0" algn="l">
                        <a:buFont typeface="Arial" panose="020B0604020202020204" pitchFamily="34" charset="0"/>
                        <a:buNone/>
                      </a:pPr>
                      <a:endParaRPr lang="en-IN" baseline="0" dirty="0" smtClean="0"/>
                    </a:p>
                  </a:txBody>
                  <a:tcPr anchor="ctr"/>
                </a:tc>
                <a:tc>
                  <a:txBody>
                    <a:bodyPr/>
                    <a:lstStyle/>
                    <a:p>
                      <a:pPr marL="285750" indent="-285750" algn="l">
                        <a:buFont typeface="Arial" panose="020B0604020202020204" pitchFamily="34" charset="0"/>
                        <a:buChar char="•"/>
                      </a:pPr>
                      <a:r>
                        <a:rPr lang="en-IN" baseline="0" dirty="0" smtClean="0"/>
                        <a:t>Need to purchase license for Tata AIA, Tata AIG &amp; </a:t>
                      </a:r>
                      <a:r>
                        <a:rPr lang="en-IN" baseline="0" dirty="0" smtClean="0"/>
                        <a:t>TULIP</a:t>
                      </a:r>
                      <a:endParaRPr lang="en-IN" baseline="0" dirty="0" smtClean="0"/>
                    </a:p>
                    <a:p>
                      <a:pPr marL="285750" indent="-285750" algn="l">
                        <a:buFont typeface="Arial" panose="020B0604020202020204" pitchFamily="34" charset="0"/>
                        <a:buChar char="•"/>
                      </a:pPr>
                      <a:endParaRPr lang="en-IN" baseline="0" dirty="0" smtClean="0"/>
                    </a:p>
                    <a:p>
                      <a:pPr marL="285750" indent="-285750" algn="l">
                        <a:buFont typeface="Arial" panose="020B0604020202020204" pitchFamily="34" charset="0"/>
                        <a:buChar char="•"/>
                      </a:pPr>
                      <a:r>
                        <a:rPr lang="en-IN" baseline="0" dirty="0" smtClean="0"/>
                        <a:t>Cost of each additional license would be ~ 12.5 lakhs ( including taxes)</a:t>
                      </a:r>
                      <a:endParaRPr lang="en-IN" dirty="0"/>
                    </a:p>
                  </a:txBody>
                  <a:tcPr anchor="ctr"/>
                </a:tc>
              </a:tr>
            </a:tbl>
          </a:graphicData>
        </a:graphic>
      </p:graphicFrame>
      <p:sp>
        <p:nvSpPr>
          <p:cNvPr id="26" name="TextBox 25"/>
          <p:cNvSpPr txBox="1"/>
          <p:nvPr/>
        </p:nvSpPr>
        <p:spPr>
          <a:xfrm>
            <a:off x="524359" y="1243471"/>
            <a:ext cx="5086025" cy="338554"/>
          </a:xfrm>
          <a:prstGeom prst="rect">
            <a:avLst/>
          </a:prstGeom>
          <a:noFill/>
        </p:spPr>
        <p:txBody>
          <a:bodyPr wrap="square" rtlCol="0">
            <a:spAutoFit/>
          </a:bodyPr>
          <a:lstStyle/>
          <a:p>
            <a:r>
              <a:rPr lang="en-IN" sz="1600" b="1" dirty="0" smtClean="0">
                <a:latin typeface="Leelawadee" panose="020B0502040204020203" pitchFamily="34" charset="-34"/>
                <a:cs typeface="Leelawadee" panose="020B0502040204020203" pitchFamily="34" charset="-34"/>
              </a:rPr>
              <a:t>Current Clients </a:t>
            </a:r>
            <a:r>
              <a:rPr lang="en-IN" sz="1600" dirty="0" smtClean="0">
                <a:latin typeface="Leelawadee" panose="020B0502040204020203" pitchFamily="34" charset="-34"/>
                <a:cs typeface="Leelawadee" panose="020B0502040204020203" pitchFamily="34" charset="-34"/>
              </a:rPr>
              <a:t>: Tata AIA</a:t>
            </a:r>
            <a:endParaRPr lang="en-IN" sz="1600" dirty="0">
              <a:latin typeface="Leelawadee" panose="020B0502040204020203" pitchFamily="34" charset="-34"/>
              <a:cs typeface="Leelawadee" panose="020B0502040204020203" pitchFamily="34" charset="-34"/>
            </a:endParaRPr>
          </a:p>
        </p:txBody>
      </p:sp>
      <p:sp>
        <p:nvSpPr>
          <p:cNvPr id="27" name="TextBox 26"/>
          <p:cNvSpPr txBox="1"/>
          <p:nvPr/>
        </p:nvSpPr>
        <p:spPr>
          <a:xfrm>
            <a:off x="6803756" y="1226529"/>
            <a:ext cx="5120664" cy="338554"/>
          </a:xfrm>
          <a:prstGeom prst="rect">
            <a:avLst/>
          </a:prstGeom>
          <a:noFill/>
        </p:spPr>
        <p:txBody>
          <a:bodyPr wrap="square" rtlCol="0">
            <a:spAutoFit/>
          </a:bodyPr>
          <a:lstStyle/>
          <a:p>
            <a:r>
              <a:rPr lang="en-IN" sz="1600" b="1" dirty="0" smtClean="0">
                <a:latin typeface="Leelawadee" panose="020B0502040204020203" pitchFamily="34" charset="-34"/>
                <a:cs typeface="Leelawadee" panose="020B0502040204020203" pitchFamily="34" charset="-34"/>
              </a:rPr>
              <a:t>Immediate Future Clients : </a:t>
            </a:r>
            <a:r>
              <a:rPr lang="en-IN" sz="1600" dirty="0" smtClean="0">
                <a:latin typeface="Leelawadee" panose="020B0502040204020203" pitchFamily="34" charset="-34"/>
                <a:cs typeface="Leelawadee" panose="020B0502040204020203" pitchFamily="34" charset="-34"/>
              </a:rPr>
              <a:t>Tata AIG, TULIP</a:t>
            </a:r>
            <a:endParaRPr lang="en-IN" sz="1600" dirty="0">
              <a:latin typeface="Leelawadee" panose="020B0502040204020203" pitchFamily="34" charset="-34"/>
              <a:cs typeface="Leelawadee" panose="020B0502040204020203" pitchFamily="34" charset="-34"/>
            </a:endParaRPr>
          </a:p>
        </p:txBody>
      </p:sp>
      <p:sp>
        <p:nvSpPr>
          <p:cNvPr id="28" name="TextBox 27"/>
          <p:cNvSpPr txBox="1"/>
          <p:nvPr/>
        </p:nvSpPr>
        <p:spPr>
          <a:xfrm>
            <a:off x="6803756" y="1944509"/>
            <a:ext cx="3321803" cy="338554"/>
          </a:xfrm>
          <a:prstGeom prst="rect">
            <a:avLst/>
          </a:prstGeom>
          <a:noFill/>
        </p:spPr>
        <p:txBody>
          <a:bodyPr wrap="square" rtlCol="0">
            <a:spAutoFit/>
          </a:bodyPr>
          <a:lstStyle/>
          <a:p>
            <a:r>
              <a:rPr lang="en-IN" sz="1600" b="1" dirty="0" smtClean="0">
                <a:latin typeface="Leelawadee" panose="020B0502040204020203" pitchFamily="34" charset="-34"/>
                <a:cs typeface="Leelawadee" panose="020B0502040204020203" pitchFamily="34" charset="-34"/>
              </a:rPr>
              <a:t>Shared resources</a:t>
            </a:r>
            <a:r>
              <a:rPr lang="en-IN" sz="1600" dirty="0" smtClean="0">
                <a:latin typeface="Leelawadee" panose="020B0502040204020203" pitchFamily="34" charset="-34"/>
                <a:cs typeface="Leelawadee" panose="020B0502040204020203" pitchFamily="34" charset="-34"/>
              </a:rPr>
              <a:t> :  Kritika  </a:t>
            </a:r>
            <a:endParaRPr lang="en-IN" sz="1600" dirty="0">
              <a:latin typeface="Leelawadee" panose="020B0502040204020203" pitchFamily="34" charset="-34"/>
              <a:cs typeface="Leelawadee" panose="020B0502040204020203" pitchFamily="34" charset="-34"/>
            </a:endParaRPr>
          </a:p>
        </p:txBody>
      </p:sp>
    </p:spTree>
    <p:extLst>
      <p:ext uri="{BB962C8B-B14F-4D97-AF65-F5344CB8AC3E}">
        <p14:creationId xmlns:p14="http://schemas.microsoft.com/office/powerpoint/2010/main" val="181089054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0" y="632802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388122"/>
            <a:ext cx="12192000" cy="461665"/>
            <a:chOff x="1" y="322556"/>
            <a:chExt cx="12192000" cy="461665"/>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3805047" y="322556"/>
              <a:ext cx="4582087" cy="461665"/>
            </a:xfrm>
            <a:prstGeom prst="rect">
              <a:avLst/>
            </a:prstGeom>
            <a:solidFill>
              <a:schemeClr val="bg1"/>
            </a:solidFill>
          </p:spPr>
          <p:txBody>
            <a:bodyPr wrap="none" anchor="ctr">
              <a:spAutoFit/>
            </a:bodyPr>
            <a:lstStyle/>
            <a:p>
              <a:pPr algn="ctr"/>
              <a:r>
                <a:rPr lang="en-IN" sz="2400" b="1" dirty="0" smtClean="0">
                  <a:solidFill>
                    <a:schemeClr val="bg1">
                      <a:lumMod val="50000"/>
                    </a:schemeClr>
                  </a:solidFill>
                  <a:latin typeface="Leelawadee UI" panose="020B0502040204020203" pitchFamily="34" charset="-34"/>
                  <a:cs typeface="Leelawadee UI" panose="020B0502040204020203" pitchFamily="34" charset="-34"/>
                </a:rPr>
                <a:t>Digital Presence of Tata Group</a:t>
              </a:r>
              <a:endParaRPr lang="en-IN" sz="2400" b="1" dirty="0">
                <a:solidFill>
                  <a:schemeClr val="bg1">
                    <a:lumMod val="50000"/>
                  </a:schemeClr>
                </a:solidFill>
                <a:latin typeface="Leelawadee UI" panose="020B0502040204020203" pitchFamily="34" charset="-34"/>
                <a:cs typeface="Leelawadee UI" panose="020B0502040204020203" pitchFamily="34" charset="-34"/>
              </a:endParaRPr>
            </a:p>
          </p:txBody>
        </p:sp>
      </p:grpSp>
      <p:pic>
        <p:nvPicPr>
          <p:cNvPr id="5" name="Picture 4"/>
          <p:cNvPicPr>
            <a:picLocks noChangeAspect="1"/>
          </p:cNvPicPr>
          <p:nvPr/>
        </p:nvPicPr>
        <p:blipFill>
          <a:blip r:embed="rId4"/>
          <a:stretch>
            <a:fillRect/>
          </a:stretch>
        </p:blipFill>
        <p:spPr>
          <a:xfrm>
            <a:off x="3849495" y="1147528"/>
            <a:ext cx="4880782" cy="2280106"/>
          </a:xfrm>
          <a:prstGeom prst="rect">
            <a:avLst/>
          </a:prstGeom>
          <a:ln>
            <a:noFill/>
          </a:ln>
          <a:effectLst>
            <a:outerShdw blurRad="190500" algn="tl" rotWithShape="0">
              <a:srgbClr val="000000">
                <a:alpha val="70000"/>
              </a:srgbClr>
            </a:outerShdw>
          </a:effectLst>
        </p:spPr>
      </p:pic>
      <p:pic>
        <p:nvPicPr>
          <p:cNvPr id="3" name="Picture 2"/>
          <p:cNvPicPr>
            <a:picLocks noChangeAspect="1"/>
          </p:cNvPicPr>
          <p:nvPr/>
        </p:nvPicPr>
        <p:blipFill>
          <a:blip r:embed="rId5"/>
          <a:stretch>
            <a:fillRect/>
          </a:stretch>
        </p:blipFill>
        <p:spPr>
          <a:xfrm>
            <a:off x="7523103" y="2730791"/>
            <a:ext cx="4618891" cy="1536736"/>
          </a:xfrm>
          <a:prstGeom prst="rect">
            <a:avLst/>
          </a:prstGeom>
          <a:ln>
            <a:noFill/>
          </a:ln>
          <a:effectLst>
            <a:outerShdw blurRad="190500" algn="tl" rotWithShape="0">
              <a:srgbClr val="000000">
                <a:alpha val="70000"/>
              </a:srgbClr>
            </a:outerShdw>
          </a:effectLst>
        </p:spPr>
      </p:pic>
      <p:pic>
        <p:nvPicPr>
          <p:cNvPr id="7" name="Picture 6"/>
          <p:cNvPicPr>
            <a:picLocks noChangeAspect="1"/>
          </p:cNvPicPr>
          <p:nvPr/>
        </p:nvPicPr>
        <p:blipFill>
          <a:blip r:embed="rId6"/>
          <a:stretch>
            <a:fillRect/>
          </a:stretch>
        </p:blipFill>
        <p:spPr>
          <a:xfrm>
            <a:off x="5400710" y="4267527"/>
            <a:ext cx="5603728" cy="1813122"/>
          </a:xfrm>
          <a:prstGeom prst="rect">
            <a:avLst/>
          </a:prstGeom>
          <a:ln>
            <a:noFill/>
          </a:ln>
          <a:effectLst>
            <a:outerShdw blurRad="190500" algn="tl" rotWithShape="0">
              <a:srgbClr val="000000">
                <a:alpha val="70000"/>
              </a:srgbClr>
            </a:outerShdw>
          </a:effectLst>
        </p:spPr>
      </p:pic>
      <p:sp>
        <p:nvSpPr>
          <p:cNvPr id="21" name="TextBox 20"/>
          <p:cNvSpPr txBox="1"/>
          <p:nvPr/>
        </p:nvSpPr>
        <p:spPr bwMode="gray">
          <a:xfrm>
            <a:off x="8730277" y="1177447"/>
            <a:ext cx="2274161" cy="484629"/>
          </a:xfrm>
          <a:prstGeom prst="rect">
            <a:avLst/>
          </a:prstGeom>
        </p:spPr>
        <p:txBody>
          <a:bodyPr vert="horz" wrap="square" lIns="91440" tIns="45720" rIns="91440" bIns="45720" rtlCol="0" anchor="ctr">
            <a:noAutofit/>
          </a:bodyPr>
          <a:lstStyle/>
          <a:p>
            <a:pPr algn="ctr"/>
            <a:r>
              <a:rPr lang="en-IN" b="1" dirty="0" smtClean="0">
                <a:solidFill>
                  <a:prstClr val="black"/>
                </a:solidFill>
              </a:rPr>
              <a:t>Tata Group Analysis</a:t>
            </a:r>
            <a:endParaRPr lang="en-IN" b="1" dirty="0">
              <a:solidFill>
                <a:prstClr val="black"/>
              </a:solidFill>
            </a:endParaRPr>
          </a:p>
        </p:txBody>
      </p:sp>
      <p:sp>
        <p:nvSpPr>
          <p:cNvPr id="22" name="TextBox 21"/>
          <p:cNvSpPr txBox="1"/>
          <p:nvPr/>
        </p:nvSpPr>
        <p:spPr bwMode="gray">
          <a:xfrm>
            <a:off x="9505075" y="2155609"/>
            <a:ext cx="2740452" cy="484629"/>
          </a:xfrm>
          <a:prstGeom prst="rect">
            <a:avLst/>
          </a:prstGeom>
        </p:spPr>
        <p:txBody>
          <a:bodyPr vert="horz" wrap="square" lIns="91440" tIns="45720" rIns="91440" bIns="45720" rtlCol="0" anchor="ctr">
            <a:noAutofit/>
          </a:bodyPr>
          <a:lstStyle/>
          <a:p>
            <a:pPr algn="ctr"/>
            <a:r>
              <a:rPr lang="en-IN" b="1" dirty="0" smtClean="0">
                <a:solidFill>
                  <a:prstClr val="black"/>
                </a:solidFill>
              </a:rPr>
              <a:t>Industry Analysis</a:t>
            </a:r>
            <a:endParaRPr lang="en-IN" b="1" dirty="0">
              <a:solidFill>
                <a:prstClr val="black"/>
              </a:solidFill>
            </a:endParaRPr>
          </a:p>
        </p:txBody>
      </p:sp>
      <p:sp>
        <p:nvSpPr>
          <p:cNvPr id="23" name="TextBox 22"/>
          <p:cNvSpPr txBox="1"/>
          <p:nvPr/>
        </p:nvSpPr>
        <p:spPr bwMode="gray">
          <a:xfrm>
            <a:off x="3851113" y="4813144"/>
            <a:ext cx="1549597" cy="484629"/>
          </a:xfrm>
          <a:prstGeom prst="rect">
            <a:avLst/>
          </a:prstGeom>
        </p:spPr>
        <p:txBody>
          <a:bodyPr vert="horz" wrap="square" lIns="91440" tIns="45720" rIns="91440" bIns="45720" rtlCol="0" anchor="ctr">
            <a:noAutofit/>
          </a:bodyPr>
          <a:lstStyle/>
          <a:p>
            <a:pPr algn="ctr"/>
            <a:r>
              <a:rPr lang="en-IN" b="1" dirty="0" smtClean="0">
                <a:solidFill>
                  <a:prstClr val="black"/>
                </a:solidFill>
              </a:rPr>
              <a:t>Direct Competitors </a:t>
            </a:r>
            <a:endParaRPr lang="en-IN" b="1" dirty="0">
              <a:solidFill>
                <a:prstClr val="black"/>
              </a:solidFill>
            </a:endParaRPr>
          </a:p>
        </p:txBody>
      </p:sp>
      <p:sp>
        <p:nvSpPr>
          <p:cNvPr id="24" name="Rectangle 23"/>
          <p:cNvSpPr/>
          <p:nvPr/>
        </p:nvSpPr>
        <p:spPr>
          <a:xfrm>
            <a:off x="515716" y="1219024"/>
            <a:ext cx="2782655" cy="4278094"/>
          </a:xfrm>
          <a:prstGeom prst="rect">
            <a:avLst/>
          </a:prstGeom>
        </p:spPr>
        <p:txBody>
          <a:bodyPr wrap="square">
            <a:spAutoFit/>
          </a:bodyPr>
          <a:lstStyle/>
          <a:p>
            <a:r>
              <a:rPr lang="en-IN" sz="1600" b="1" dirty="0">
                <a:solidFill>
                  <a:prstClr val="black"/>
                </a:solidFill>
                <a:latin typeface="Leelawadee" panose="020B0502040204020203" pitchFamily="34" charset="-34"/>
                <a:cs typeface="Leelawadee" panose="020B0502040204020203" pitchFamily="34" charset="-34"/>
              </a:rPr>
              <a:t>Objective</a:t>
            </a:r>
            <a:r>
              <a:rPr lang="en-IN" sz="1600" dirty="0" smtClean="0">
                <a:solidFill>
                  <a:prstClr val="black"/>
                </a:solidFill>
                <a:latin typeface="Leelawadee" panose="020B0502040204020203" pitchFamily="34" charset="-34"/>
                <a:cs typeface="Leelawadee" panose="020B0502040204020203" pitchFamily="34" charset="-34"/>
              </a:rPr>
              <a:t>:</a:t>
            </a:r>
          </a:p>
          <a:p>
            <a:r>
              <a:rPr lang="en-IN" sz="1600" dirty="0" smtClean="0">
                <a:solidFill>
                  <a:prstClr val="black"/>
                </a:solidFill>
                <a:latin typeface="Leelawadee" panose="020B0502040204020203" pitchFamily="34" charset="-34"/>
                <a:cs typeface="Leelawadee" panose="020B0502040204020203" pitchFamily="34" charset="-34"/>
              </a:rPr>
              <a:t>Showcase Power of Website Performance Benchmarking</a:t>
            </a:r>
          </a:p>
          <a:p>
            <a:endParaRPr lang="en-IN" sz="1600" b="1" dirty="0" smtClean="0">
              <a:solidFill>
                <a:prstClr val="black"/>
              </a:solidFill>
              <a:latin typeface="Leelawadee" panose="020B0502040204020203" pitchFamily="34" charset="-34"/>
              <a:cs typeface="Leelawadee" panose="020B0502040204020203" pitchFamily="34" charset="-34"/>
            </a:endParaRPr>
          </a:p>
          <a:p>
            <a:r>
              <a:rPr lang="en-IN" sz="1600" b="1" dirty="0" smtClean="0">
                <a:solidFill>
                  <a:prstClr val="black"/>
                </a:solidFill>
                <a:latin typeface="Leelawadee" panose="020B0502040204020203" pitchFamily="34" charset="-34"/>
                <a:cs typeface="Leelawadee" panose="020B0502040204020203" pitchFamily="34" charset="-34"/>
              </a:rPr>
              <a:t>Solution:</a:t>
            </a:r>
          </a:p>
          <a:p>
            <a:r>
              <a:rPr lang="en-IN" sz="1600" dirty="0" smtClean="0">
                <a:solidFill>
                  <a:prstClr val="black"/>
                </a:solidFill>
                <a:latin typeface="Leelawadee" panose="020B0502040204020203" pitchFamily="34" charset="-34"/>
                <a:cs typeface="Leelawadee" panose="020B0502040204020203" pitchFamily="34" charset="-34"/>
              </a:rPr>
              <a:t>Website </a:t>
            </a:r>
            <a:r>
              <a:rPr lang="en-IN" sz="1600" dirty="0">
                <a:solidFill>
                  <a:prstClr val="black"/>
                </a:solidFill>
                <a:latin typeface="Leelawadee" panose="020B0502040204020203" pitchFamily="34" charset="-34"/>
                <a:cs typeface="Leelawadee" panose="020B0502040204020203" pitchFamily="34" charset="-34"/>
              </a:rPr>
              <a:t>performance of </a:t>
            </a:r>
            <a:r>
              <a:rPr lang="en-IN" sz="1600" dirty="0" smtClean="0">
                <a:solidFill>
                  <a:prstClr val="black"/>
                </a:solidFill>
                <a:latin typeface="Leelawadee" panose="020B0502040204020203" pitchFamily="34" charset="-34"/>
                <a:cs typeface="Leelawadee" panose="020B0502040204020203" pitchFamily="34" charset="-34"/>
              </a:rPr>
              <a:t>16 </a:t>
            </a:r>
            <a:r>
              <a:rPr lang="en-IN" sz="1600" dirty="0">
                <a:solidFill>
                  <a:prstClr val="black"/>
                </a:solidFill>
                <a:latin typeface="Leelawadee" panose="020B0502040204020203" pitchFamily="34" charset="-34"/>
                <a:cs typeface="Leelawadee" panose="020B0502040204020203" pitchFamily="34" charset="-34"/>
              </a:rPr>
              <a:t>Tata </a:t>
            </a:r>
            <a:r>
              <a:rPr lang="en-IN" sz="1600" dirty="0" smtClean="0">
                <a:solidFill>
                  <a:prstClr val="black"/>
                </a:solidFill>
                <a:latin typeface="Leelawadee" panose="020B0502040204020203" pitchFamily="34" charset="-34"/>
                <a:cs typeface="Leelawadee" panose="020B0502040204020203" pitchFamily="34" charset="-34"/>
              </a:rPr>
              <a:t>brands </a:t>
            </a:r>
            <a:r>
              <a:rPr lang="en-IN" sz="1600" dirty="0">
                <a:solidFill>
                  <a:prstClr val="black"/>
                </a:solidFill>
                <a:latin typeface="Leelawadee" panose="020B0502040204020203" pitchFamily="34" charset="-34"/>
                <a:cs typeface="Leelawadee" panose="020B0502040204020203" pitchFamily="34" charset="-34"/>
              </a:rPr>
              <a:t>were benchmarked with respect to their competitors in each </a:t>
            </a:r>
            <a:r>
              <a:rPr lang="en-IN" sz="1600" dirty="0" smtClean="0">
                <a:solidFill>
                  <a:prstClr val="black"/>
                </a:solidFill>
                <a:latin typeface="Leelawadee" panose="020B0502040204020203" pitchFamily="34" charset="-34"/>
                <a:cs typeface="Leelawadee" panose="020B0502040204020203" pitchFamily="34" charset="-34"/>
              </a:rPr>
              <a:t>industry, throwing sample insights into:</a:t>
            </a:r>
          </a:p>
          <a:p>
            <a:endParaRPr lang="en-IN" sz="1600" dirty="0">
              <a:solidFill>
                <a:prstClr val="black"/>
              </a:solidFill>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600" dirty="0" smtClean="0">
                <a:solidFill>
                  <a:prstClr val="black"/>
                </a:solidFill>
                <a:latin typeface="Leelawadee" panose="020B0502040204020203" pitchFamily="34" charset="-34"/>
                <a:cs typeface="Leelawadee" panose="020B0502040204020203" pitchFamily="34" charset="-34"/>
              </a:rPr>
              <a:t>Traffic &amp; Engagement</a:t>
            </a:r>
          </a:p>
          <a:p>
            <a:pPr marL="285750" indent="-285750">
              <a:buFont typeface="Arial" panose="020B0604020202020204" pitchFamily="34" charset="0"/>
              <a:buChar char="•"/>
            </a:pPr>
            <a:r>
              <a:rPr lang="en-IN" sz="1600" dirty="0" smtClean="0">
                <a:solidFill>
                  <a:prstClr val="black"/>
                </a:solidFill>
                <a:latin typeface="Leelawadee" panose="020B0502040204020203" pitchFamily="34" charset="-34"/>
                <a:cs typeface="Leelawadee" panose="020B0502040204020203" pitchFamily="34" charset="-34"/>
              </a:rPr>
              <a:t>Traffic Source Comparison</a:t>
            </a:r>
          </a:p>
          <a:p>
            <a:pPr marL="285750" indent="-285750">
              <a:buFont typeface="Arial" panose="020B0604020202020204" pitchFamily="34" charset="0"/>
              <a:buChar char="•"/>
            </a:pPr>
            <a:r>
              <a:rPr lang="en-IN" sz="1600" dirty="0" smtClean="0">
                <a:solidFill>
                  <a:prstClr val="black"/>
                </a:solidFill>
                <a:latin typeface="Leelawadee" panose="020B0502040204020203" pitchFamily="34" charset="-34"/>
                <a:cs typeface="Leelawadee" panose="020B0502040204020203" pitchFamily="34" charset="-34"/>
              </a:rPr>
              <a:t>Opportunities to increase Digital Presence</a:t>
            </a:r>
            <a:endParaRPr lang="en-IN" sz="1600" dirty="0">
              <a:solidFill>
                <a:prstClr val="black"/>
              </a:solidFill>
              <a:latin typeface="Leelawadee" panose="020B0502040204020203" pitchFamily="34" charset="-34"/>
              <a:cs typeface="Leelawadee" panose="020B0502040204020203" pitchFamily="34" charset="-34"/>
            </a:endParaRPr>
          </a:p>
        </p:txBody>
      </p:sp>
      <p:sp>
        <p:nvSpPr>
          <p:cNvPr id="25" name="Rounded Rectangle 24"/>
          <p:cNvSpPr/>
          <p:nvPr/>
        </p:nvSpPr>
        <p:spPr>
          <a:xfrm>
            <a:off x="305219" y="983789"/>
            <a:ext cx="3172767" cy="5080742"/>
          </a:xfrm>
          <a:prstGeom prst="roundRect">
            <a:avLst/>
          </a:prstGeom>
          <a:noFill/>
          <a:ln>
            <a:solidFill>
              <a:schemeClr val="tx1">
                <a:lumMod val="95000"/>
                <a:lumOff val="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Tree>
    <p:extLst>
      <p:ext uri="{BB962C8B-B14F-4D97-AF65-F5344CB8AC3E}">
        <p14:creationId xmlns:p14="http://schemas.microsoft.com/office/powerpoint/2010/main" val="416405444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p:cNvGrpSpPr/>
          <p:nvPr/>
        </p:nvGrpSpPr>
        <p:grpSpPr>
          <a:xfrm>
            <a:off x="1" y="267843"/>
            <a:ext cx="12192000" cy="461665"/>
            <a:chOff x="1" y="322556"/>
            <a:chExt cx="12192000" cy="461665"/>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4906445" y="322556"/>
              <a:ext cx="2379177" cy="461665"/>
            </a:xfrm>
            <a:prstGeom prst="rect">
              <a:avLst/>
            </a:prstGeom>
            <a:solidFill>
              <a:schemeClr val="bg1"/>
            </a:solidFill>
          </p:spPr>
          <p:txBody>
            <a:bodyPr wrap="none" anchor="ctr">
              <a:spAutoFit/>
            </a:bodyPr>
            <a:lstStyle/>
            <a:p>
              <a:pPr algn="ctr"/>
              <a:r>
                <a:rPr lang="en-IN" sz="2400" b="1" dirty="0">
                  <a:solidFill>
                    <a:srgbClr val="0070C0"/>
                  </a:solidFill>
                  <a:latin typeface="Leelawadee UI" panose="020B0502040204020203" pitchFamily="34" charset="-34"/>
                  <a:cs typeface="Leelawadee UI" panose="020B0502040204020203" pitchFamily="34" charset="-34"/>
                </a:rPr>
                <a:t>4. Visualization</a:t>
              </a:r>
              <a:endParaRPr lang="en-IN" sz="2400" b="1" dirty="0">
                <a:solidFill>
                  <a:schemeClr val="bg1">
                    <a:lumMod val="50000"/>
                  </a:schemeClr>
                </a:solidFill>
                <a:latin typeface="Leelawadee UI" panose="020B0502040204020203" pitchFamily="34" charset="-34"/>
                <a:cs typeface="Leelawadee UI" panose="020B0502040204020203" pitchFamily="34" charset="-34"/>
              </a:endParaRPr>
            </a:p>
          </p:txBody>
        </p:sp>
      </p:grpSp>
      <p:sp>
        <p:nvSpPr>
          <p:cNvPr id="75" name="Rounded Rectangle 74"/>
          <p:cNvSpPr/>
          <p:nvPr/>
        </p:nvSpPr>
        <p:spPr>
          <a:xfrm>
            <a:off x="361628" y="1133923"/>
            <a:ext cx="11468746" cy="526943"/>
          </a:xfrm>
          <a:prstGeom prst="roundRect">
            <a:avLst/>
          </a:prstGeom>
          <a:solidFill>
            <a:schemeClr val="accent6">
              <a:lumMod val="40000"/>
              <a:lumOff val="60000"/>
            </a:schemeClr>
          </a:solidFill>
          <a:ln>
            <a:solidFill>
              <a:schemeClr val="tx1">
                <a:lumMod val="95000"/>
                <a:lumOff val="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solidFill>
                <a:prstClr val="white"/>
              </a:solidFill>
              <a:latin typeface="Leelawadee" panose="020B0502040204020203" pitchFamily="34" charset="-34"/>
              <a:cs typeface="Leelawadee" panose="020B0502040204020203" pitchFamily="34" charset="-34"/>
            </a:endParaRPr>
          </a:p>
        </p:txBody>
      </p:sp>
      <p:sp>
        <p:nvSpPr>
          <p:cNvPr id="23" name="Rounded Rectangle 22"/>
          <p:cNvSpPr/>
          <p:nvPr/>
        </p:nvSpPr>
        <p:spPr>
          <a:xfrm>
            <a:off x="361628" y="1880723"/>
            <a:ext cx="11468746" cy="539857"/>
          </a:xfrm>
          <a:prstGeom prst="roundRect">
            <a:avLst/>
          </a:prstGeom>
          <a:solidFill>
            <a:schemeClr val="accent4">
              <a:lumMod val="40000"/>
              <a:lumOff val="60000"/>
            </a:schemeClr>
          </a:solidFill>
          <a:ln>
            <a:solidFill>
              <a:schemeClr val="tx1">
                <a:lumMod val="95000"/>
                <a:lumOff val="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solidFill>
                <a:prstClr val="white"/>
              </a:solidFill>
              <a:latin typeface="Leelawadee" panose="020B0502040204020203" pitchFamily="34" charset="-34"/>
              <a:cs typeface="Leelawadee" panose="020B0502040204020203" pitchFamily="34" charset="-34"/>
            </a:endParaRPr>
          </a:p>
        </p:txBody>
      </p:sp>
      <p:sp>
        <p:nvSpPr>
          <p:cNvPr id="5" name="TextBox 4"/>
          <p:cNvSpPr txBox="1"/>
          <p:nvPr/>
        </p:nvSpPr>
        <p:spPr>
          <a:xfrm>
            <a:off x="564396" y="1965985"/>
            <a:ext cx="5005952" cy="338554"/>
          </a:xfrm>
          <a:prstGeom prst="rect">
            <a:avLst/>
          </a:prstGeom>
          <a:noFill/>
        </p:spPr>
        <p:txBody>
          <a:bodyPr wrap="square" rtlCol="0">
            <a:spAutoFit/>
          </a:bodyPr>
          <a:lstStyle/>
          <a:p>
            <a:r>
              <a:rPr lang="en-IN" sz="1600" b="1" dirty="0" smtClean="0">
                <a:latin typeface="Leelawadee" panose="020B0502040204020203" pitchFamily="34" charset="-34"/>
                <a:cs typeface="Leelawadee" panose="020B0502040204020203" pitchFamily="34" charset="-34"/>
              </a:rPr>
              <a:t>Full time resources</a:t>
            </a:r>
            <a:r>
              <a:rPr lang="en-IN" sz="1600" dirty="0" smtClean="0">
                <a:latin typeface="Leelawadee" panose="020B0502040204020203" pitchFamily="34" charset="-34"/>
                <a:cs typeface="Leelawadee" panose="020B0502040204020203" pitchFamily="34" charset="-34"/>
              </a:rPr>
              <a:t> :   </a:t>
            </a:r>
            <a:endParaRPr lang="en-IN" sz="1600" dirty="0">
              <a:latin typeface="Leelawadee" panose="020B0502040204020203" pitchFamily="34" charset="-34"/>
              <a:cs typeface="Leelawadee" panose="020B0502040204020203" pitchFamily="34" charset="-34"/>
            </a:endParaRPr>
          </a:p>
        </p:txBody>
      </p:sp>
      <p:graphicFrame>
        <p:nvGraphicFramePr>
          <p:cNvPr id="8" name="Table 7"/>
          <p:cNvGraphicFramePr>
            <a:graphicFrameLocks noGrp="1"/>
          </p:cNvGraphicFramePr>
          <p:nvPr>
            <p:extLst>
              <p:ext uri="{D42A27DB-BD31-4B8C-83A1-F6EECF244321}">
                <p14:modId xmlns:p14="http://schemas.microsoft.com/office/powerpoint/2010/main" val="1955513719"/>
              </p:ext>
            </p:extLst>
          </p:nvPr>
        </p:nvGraphicFramePr>
        <p:xfrm>
          <a:off x="334049" y="2767340"/>
          <a:ext cx="11496325" cy="3741036"/>
        </p:xfrm>
        <a:graphic>
          <a:graphicData uri="http://schemas.openxmlformats.org/drawingml/2006/table">
            <a:tbl>
              <a:tblPr firstRow="1" bandRow="1">
                <a:tableStyleId>{C083E6E3-FA7D-4D7B-A595-EF9225AFEA82}</a:tableStyleId>
              </a:tblPr>
              <a:tblGrid>
                <a:gridCol w="3404233"/>
                <a:gridCol w="3119718"/>
                <a:gridCol w="2366682"/>
                <a:gridCol w="2605692"/>
              </a:tblGrid>
              <a:tr h="602921">
                <a:tc>
                  <a:txBody>
                    <a:bodyPr/>
                    <a:lstStyle/>
                    <a:p>
                      <a:pPr algn="ctr"/>
                      <a:r>
                        <a:rPr lang="en-IN" sz="1600" dirty="0" smtClean="0">
                          <a:latin typeface="Leelawadee" panose="020B0502040204020203" pitchFamily="34" charset="-34"/>
                          <a:cs typeface="Leelawadee" panose="020B0502040204020203" pitchFamily="34" charset="-34"/>
                        </a:rPr>
                        <a:t>Projects WIP</a:t>
                      </a:r>
                      <a:endParaRPr lang="en-IN" sz="1600" dirty="0">
                        <a:latin typeface="Leelawadee" panose="020B0502040204020203" pitchFamily="34" charset="-34"/>
                        <a:cs typeface="Leelawadee" panose="020B0502040204020203" pitchFamily="34" charset="-34"/>
                      </a:endParaRPr>
                    </a:p>
                  </a:txBody>
                  <a:tcPr anchor="ctr"/>
                </a:tc>
                <a:tc>
                  <a:txBody>
                    <a:bodyPr/>
                    <a:lstStyle/>
                    <a:p>
                      <a:pPr algn="ctr"/>
                      <a:r>
                        <a:rPr lang="en-IN" sz="1600" dirty="0" smtClean="0">
                          <a:latin typeface="Leelawadee" panose="020B0502040204020203" pitchFamily="34" charset="-34"/>
                          <a:cs typeface="Leelawadee" panose="020B0502040204020203" pitchFamily="34" charset="-34"/>
                        </a:rPr>
                        <a:t>Projects Delivered</a:t>
                      </a:r>
                      <a:endParaRPr lang="en-IN" sz="1600" dirty="0">
                        <a:latin typeface="Leelawadee" panose="020B0502040204020203" pitchFamily="34" charset="-34"/>
                        <a:cs typeface="Leelawadee" panose="020B0502040204020203" pitchFamily="34" charset="-34"/>
                      </a:endParaRPr>
                    </a:p>
                  </a:txBody>
                  <a:tcPr anchor="ctr"/>
                </a:tc>
                <a:tc>
                  <a:txBody>
                    <a:bodyPr/>
                    <a:lstStyle/>
                    <a:p>
                      <a:pPr algn="ctr"/>
                      <a:r>
                        <a:rPr lang="en-IN" sz="1600" dirty="0" smtClean="0">
                          <a:latin typeface="Leelawadee" panose="020B0502040204020203" pitchFamily="34" charset="-34"/>
                          <a:cs typeface="Leelawadee" panose="020B0502040204020203" pitchFamily="34" charset="-34"/>
                        </a:rPr>
                        <a:t>Success</a:t>
                      </a:r>
                      <a:endParaRPr lang="en-IN" sz="1600" dirty="0">
                        <a:latin typeface="Leelawadee" panose="020B0502040204020203" pitchFamily="34" charset="-34"/>
                        <a:cs typeface="Leelawadee" panose="020B0502040204020203" pitchFamily="34" charset="-34"/>
                      </a:endParaRPr>
                    </a:p>
                  </a:txBody>
                  <a:tcPr anchor="ctr"/>
                </a:tc>
                <a:tc>
                  <a:txBody>
                    <a:bodyPr/>
                    <a:lstStyle/>
                    <a:p>
                      <a:pPr algn="ctr"/>
                      <a:r>
                        <a:rPr lang="en-IN" sz="1600" dirty="0" smtClean="0">
                          <a:latin typeface="Leelawadee" panose="020B0502040204020203" pitchFamily="34" charset="-34"/>
                          <a:cs typeface="Leelawadee" panose="020B0502040204020203" pitchFamily="34" charset="-34"/>
                        </a:rPr>
                        <a:t>Challenges</a:t>
                      </a:r>
                      <a:endParaRPr lang="en-IN" sz="1600" dirty="0">
                        <a:latin typeface="Leelawadee" panose="020B0502040204020203" pitchFamily="34" charset="-34"/>
                        <a:cs typeface="Leelawadee" panose="020B0502040204020203" pitchFamily="34" charset="-34"/>
                      </a:endParaRPr>
                    </a:p>
                  </a:txBody>
                  <a:tcPr anchor="ctr"/>
                </a:tc>
              </a:tr>
              <a:tr h="3138115">
                <a:tc>
                  <a:txBody>
                    <a:bodyPr/>
                    <a:lstStyle/>
                    <a:p>
                      <a:pPr marL="285750" indent="-285750" algn="l">
                        <a:buFont typeface="Arial" panose="020B0604020202020204" pitchFamily="34" charset="0"/>
                        <a:buChar char="•"/>
                      </a:pPr>
                      <a:r>
                        <a:rPr lang="en-IN" sz="1600" b="0" i="0" dirty="0" smtClean="0">
                          <a:latin typeface="Leelawadee" panose="020B0502040204020203" pitchFamily="34" charset="-34"/>
                          <a:cs typeface="Leelawadee" panose="020B0502040204020203" pitchFamily="34" charset="-34"/>
                        </a:rPr>
                        <a:t>Geo-Profiling for Tata Capital </a:t>
                      </a:r>
                      <a:r>
                        <a:rPr lang="en-IN" sz="1600" b="0" i="0" baseline="0" dirty="0" smtClean="0">
                          <a:latin typeface="Leelawadee" panose="020B0502040204020203" pitchFamily="34" charset="-34"/>
                          <a:cs typeface="Leelawadee" panose="020B0502040204020203" pitchFamily="34" charset="-34"/>
                        </a:rPr>
                        <a:t> </a:t>
                      </a:r>
                    </a:p>
                    <a:p>
                      <a:pPr marL="285750" indent="-285750" algn="l">
                        <a:buFont typeface="Arial" panose="020B0604020202020204" pitchFamily="34" charset="0"/>
                        <a:buChar char="•"/>
                      </a:pPr>
                      <a:endParaRPr lang="en-IN" sz="1600" b="0" i="0" baseline="0" dirty="0" smtClean="0">
                        <a:latin typeface="Leelawadee" panose="020B0502040204020203" pitchFamily="34" charset="-34"/>
                        <a:cs typeface="Leelawadee" panose="020B0502040204020203" pitchFamily="34" charset="-34"/>
                      </a:endParaRPr>
                    </a:p>
                    <a:p>
                      <a:pPr marL="285750" indent="-285750" algn="l">
                        <a:buFont typeface="Arial" panose="020B0604020202020204" pitchFamily="34" charset="0"/>
                        <a:buChar char="•"/>
                      </a:pPr>
                      <a:r>
                        <a:rPr lang="en-IN" sz="1600" b="0" i="0" baseline="0" dirty="0" smtClean="0">
                          <a:latin typeface="Leelawadee" panose="020B0502040204020203" pitchFamily="34" charset="-34"/>
                          <a:cs typeface="Leelawadee" panose="020B0502040204020203" pitchFamily="34" charset="-34"/>
                        </a:rPr>
                        <a:t>Business Loans Performance Dashboard for Tata Capital</a:t>
                      </a:r>
                      <a:endParaRPr lang="en-IN" sz="1600" b="0" i="0" dirty="0" smtClean="0">
                        <a:latin typeface="Leelawadee" panose="020B0502040204020203" pitchFamily="34" charset="-34"/>
                        <a:cs typeface="Leelawadee" panose="020B0502040204020203" pitchFamily="34" charset="-34"/>
                      </a:endParaRPr>
                    </a:p>
                    <a:p>
                      <a:pPr marL="0" indent="0" algn="l">
                        <a:buFont typeface="Arial" panose="020B0604020202020204" pitchFamily="34" charset="0"/>
                        <a:buNone/>
                      </a:pPr>
                      <a:endParaRPr lang="en-IN" sz="1600" b="0" i="0" dirty="0" smtClean="0">
                        <a:latin typeface="Leelawadee" panose="020B0502040204020203" pitchFamily="34" charset="-34"/>
                        <a:cs typeface="Leelawadee" panose="020B0502040204020203" pitchFamily="34" charset="-34"/>
                      </a:endParaRPr>
                    </a:p>
                    <a:p>
                      <a:pPr marL="285750" indent="-285750" algn="l">
                        <a:buFont typeface="Arial" panose="020B0604020202020204" pitchFamily="34" charset="0"/>
                        <a:buChar char="•"/>
                      </a:pPr>
                      <a:r>
                        <a:rPr lang="en-IN" sz="1600" b="0" i="0" dirty="0" smtClean="0">
                          <a:latin typeface="Leelawadee" panose="020B0502040204020203" pitchFamily="34" charset="-34"/>
                          <a:cs typeface="Leelawadee" panose="020B0502040204020203" pitchFamily="34" charset="-34"/>
                        </a:rPr>
                        <a:t>Monthly</a:t>
                      </a:r>
                      <a:r>
                        <a:rPr lang="en-IN" sz="1600" b="0" i="0" baseline="0" dirty="0" smtClean="0">
                          <a:latin typeface="Leelawadee" panose="020B0502040204020203" pitchFamily="34" charset="-34"/>
                          <a:cs typeface="Leelawadee" panose="020B0502040204020203" pitchFamily="34" charset="-34"/>
                        </a:rPr>
                        <a:t> </a:t>
                      </a:r>
                      <a:r>
                        <a:rPr lang="en-IN" sz="1600" b="0" i="0" dirty="0" smtClean="0">
                          <a:latin typeface="Leelawadee" panose="020B0502040204020203" pitchFamily="34" charset="-34"/>
                          <a:cs typeface="Leelawadee" panose="020B0502040204020203" pitchFamily="34" charset="-34"/>
                        </a:rPr>
                        <a:t>Social</a:t>
                      </a:r>
                      <a:r>
                        <a:rPr lang="en-IN" sz="1600" b="0" i="0" baseline="0" dirty="0" smtClean="0">
                          <a:latin typeface="Leelawadee" panose="020B0502040204020203" pitchFamily="34" charset="-34"/>
                          <a:cs typeface="Leelawadee" panose="020B0502040204020203" pitchFamily="34" charset="-34"/>
                        </a:rPr>
                        <a:t> </a:t>
                      </a:r>
                      <a:r>
                        <a:rPr lang="en-IN" sz="1600" b="0" i="0" baseline="0" dirty="0" smtClean="0">
                          <a:latin typeface="Leelawadee" panose="020B0502040204020203" pitchFamily="34" charset="-34"/>
                          <a:cs typeface="Leelawadee" panose="020B0502040204020203" pitchFamily="34" charset="-34"/>
                        </a:rPr>
                        <a:t>Media Dashboard for Tata </a:t>
                      </a:r>
                      <a:r>
                        <a:rPr lang="en-IN" sz="1600" b="0" i="0" baseline="0" dirty="0" smtClean="0">
                          <a:latin typeface="Leelawadee" panose="020B0502040204020203" pitchFamily="34" charset="-34"/>
                          <a:cs typeface="Leelawadee" panose="020B0502040204020203" pitchFamily="34" charset="-34"/>
                        </a:rPr>
                        <a:t>AIA</a:t>
                      </a:r>
                    </a:p>
                    <a:p>
                      <a:pPr marL="285750" indent="-285750" algn="l">
                        <a:buFont typeface="Arial" panose="020B0604020202020204" pitchFamily="34" charset="0"/>
                        <a:buChar char="•"/>
                      </a:pPr>
                      <a:endParaRPr lang="en-IN" sz="1600" b="0" i="0" baseline="0" dirty="0" smtClean="0">
                        <a:latin typeface="Leelawadee" panose="020B0502040204020203" pitchFamily="34" charset="-34"/>
                        <a:cs typeface="Leelawadee" panose="020B0502040204020203" pitchFamily="34" charset="-34"/>
                      </a:endParaRPr>
                    </a:p>
                    <a:p>
                      <a:pPr marL="285750" indent="-285750" algn="l">
                        <a:buFont typeface="Arial" panose="020B0604020202020204" pitchFamily="34" charset="0"/>
                        <a:buChar char="•"/>
                      </a:pPr>
                      <a:r>
                        <a:rPr lang="en-IN" sz="1600" b="0" i="0" baseline="0" dirty="0" smtClean="0">
                          <a:latin typeface="Leelawadee" panose="020B0502040204020203" pitchFamily="34" charset="-34"/>
                          <a:cs typeface="Leelawadee" panose="020B0502040204020203" pitchFamily="34" charset="-34"/>
                        </a:rPr>
                        <a:t>Chairman business performance dashboard for Tata Sons </a:t>
                      </a:r>
                      <a:endParaRPr lang="en-IN" sz="1600" b="0" i="0" baseline="0" dirty="0" smtClean="0">
                        <a:latin typeface="Leelawadee" panose="020B0502040204020203" pitchFamily="34" charset="-34"/>
                        <a:cs typeface="Leelawadee" panose="020B0502040204020203" pitchFamily="34" charset="-34"/>
                      </a:endParaRPr>
                    </a:p>
                  </a:txBody>
                  <a:tcPr anchor="ctr"/>
                </a:tc>
                <a:tc>
                  <a:txBody>
                    <a:bodyPr/>
                    <a:lstStyle/>
                    <a:p>
                      <a:pPr marL="285750" indent="-285750" algn="l">
                        <a:buFont typeface="Arial" panose="020B0604020202020204" pitchFamily="34" charset="0"/>
                        <a:buChar char="•"/>
                      </a:pPr>
                      <a:r>
                        <a:rPr lang="en-IN" sz="1600" dirty="0" smtClean="0">
                          <a:latin typeface="Leelawadee" panose="020B0502040204020203" pitchFamily="34" charset="-34"/>
                          <a:cs typeface="Leelawadee" panose="020B0502040204020203" pitchFamily="34" charset="-34"/>
                        </a:rPr>
                        <a:t>Shop Share Smile Dashboard for Tata Sons</a:t>
                      </a:r>
                    </a:p>
                    <a:p>
                      <a:pPr marL="285750" indent="-285750" algn="l">
                        <a:buFont typeface="Arial" panose="020B0604020202020204" pitchFamily="34" charset="0"/>
                        <a:buChar char="•"/>
                      </a:pPr>
                      <a:endParaRPr lang="en-IN" sz="1600" dirty="0" smtClean="0">
                        <a:latin typeface="Leelawadee" panose="020B0502040204020203" pitchFamily="34" charset="-34"/>
                        <a:cs typeface="Leelawadee" panose="020B0502040204020203" pitchFamily="34" charset="-34"/>
                      </a:endParaRPr>
                    </a:p>
                    <a:p>
                      <a:pPr marL="285750" indent="-285750" algn="l">
                        <a:buFont typeface="Arial" panose="020B0604020202020204" pitchFamily="34" charset="0"/>
                        <a:buChar char="•"/>
                      </a:pPr>
                      <a:r>
                        <a:rPr lang="en-IN" sz="1600" dirty="0" smtClean="0">
                          <a:latin typeface="Leelawadee" panose="020B0502040204020203" pitchFamily="34" charset="-34"/>
                          <a:cs typeface="Leelawadee" panose="020B0502040204020203" pitchFamily="34" charset="-34"/>
                        </a:rPr>
                        <a:t>Geo- Profiling based on affluence for </a:t>
                      </a:r>
                      <a:r>
                        <a:rPr lang="en-IN" sz="1600" dirty="0" err="1" smtClean="0">
                          <a:latin typeface="Leelawadee" panose="020B0502040204020203" pitchFamily="34" charset="-34"/>
                          <a:cs typeface="Leelawadee" panose="020B0502040204020203" pitchFamily="34" charset="-34"/>
                        </a:rPr>
                        <a:t>Croma</a:t>
                      </a:r>
                      <a:endParaRPr lang="en-IN" sz="1600" dirty="0" smtClean="0">
                        <a:latin typeface="Leelawadee" panose="020B0502040204020203" pitchFamily="34" charset="-34"/>
                        <a:cs typeface="Leelawadee" panose="020B0502040204020203" pitchFamily="34" charset="-34"/>
                      </a:endParaRPr>
                    </a:p>
                    <a:p>
                      <a:pPr marL="285750" indent="-285750" algn="l">
                        <a:buFont typeface="Arial" panose="020B0604020202020204" pitchFamily="34" charset="0"/>
                        <a:buChar char="•"/>
                      </a:pPr>
                      <a:endParaRPr lang="en-IN" sz="1600" dirty="0" smtClean="0">
                        <a:latin typeface="Leelawadee" panose="020B0502040204020203" pitchFamily="34" charset="-34"/>
                        <a:cs typeface="Leelawadee" panose="020B0502040204020203" pitchFamily="34" charset="-34"/>
                      </a:endParaRPr>
                    </a:p>
                    <a:p>
                      <a:pPr marL="285750" indent="-285750" algn="l">
                        <a:buFont typeface="Arial" panose="020B0604020202020204" pitchFamily="34" charset="0"/>
                        <a:buChar char="•"/>
                      </a:pPr>
                      <a:r>
                        <a:rPr lang="en-IN" sz="1600" dirty="0" smtClean="0">
                          <a:latin typeface="Leelawadee" panose="020B0502040204020203" pitchFamily="34" charset="-34"/>
                          <a:cs typeface="Leelawadee" panose="020B0502040204020203" pitchFamily="34" charset="-34"/>
                        </a:rPr>
                        <a:t>POC Dashboard representing order fulfilment journey for Tata</a:t>
                      </a:r>
                      <a:r>
                        <a:rPr lang="en-IN" sz="1600" baseline="0" dirty="0" smtClean="0">
                          <a:latin typeface="Leelawadee" panose="020B0502040204020203" pitchFamily="34" charset="-34"/>
                          <a:cs typeface="Leelawadee" panose="020B0502040204020203" pitchFamily="34" charset="-34"/>
                        </a:rPr>
                        <a:t> CLiQ</a:t>
                      </a:r>
                      <a:endParaRPr lang="en-IN" sz="1600" dirty="0" smtClean="0">
                        <a:latin typeface="Leelawadee" panose="020B0502040204020203" pitchFamily="34" charset="-34"/>
                        <a:cs typeface="Leelawadee" panose="020B0502040204020203" pitchFamily="34" charset="-34"/>
                      </a:endParaRPr>
                    </a:p>
                    <a:p>
                      <a:pPr marL="285750" indent="-285750" algn="l">
                        <a:buFont typeface="Arial" panose="020B0604020202020204" pitchFamily="34" charset="0"/>
                        <a:buChar char="•"/>
                      </a:pPr>
                      <a:endParaRPr lang="en-IN" sz="1600" dirty="0">
                        <a:latin typeface="Leelawadee" panose="020B0502040204020203" pitchFamily="34" charset="-34"/>
                        <a:cs typeface="Leelawadee" panose="020B0502040204020203" pitchFamily="34" charset="-34"/>
                      </a:endParaRPr>
                    </a:p>
                  </a:txBody>
                  <a:tcPr anchor="ctr"/>
                </a:tc>
                <a:tc>
                  <a:txBody>
                    <a:bodyPr/>
                    <a:lstStyle/>
                    <a:p>
                      <a:pPr marL="0" indent="0" algn="l">
                        <a:buFont typeface="Arial" panose="020B0604020202020204" pitchFamily="34" charset="0"/>
                        <a:buNone/>
                      </a:pPr>
                      <a:endParaRPr lang="en-IN" sz="1600" baseline="0" dirty="0" smtClean="0">
                        <a:latin typeface="Leelawadee" panose="020B0502040204020203" pitchFamily="34" charset="-34"/>
                        <a:cs typeface="Leelawadee" panose="020B0502040204020203" pitchFamily="34" charset="-34"/>
                      </a:endParaRPr>
                    </a:p>
                  </a:txBody>
                  <a:tcPr anchor="ctr"/>
                </a:tc>
                <a:tc>
                  <a:txBody>
                    <a:bodyPr/>
                    <a:lstStyle/>
                    <a:p>
                      <a:pPr marL="285750" indent="-285750" algn="l">
                        <a:buFont typeface="Arial" panose="020B0604020202020204" pitchFamily="34" charset="0"/>
                        <a:buChar char="•"/>
                      </a:pPr>
                      <a:r>
                        <a:rPr lang="en-IN" sz="1600" dirty="0" smtClean="0">
                          <a:latin typeface="Leelawadee" panose="020B0502040204020203" pitchFamily="34" charset="-34"/>
                          <a:cs typeface="Leelawadee" panose="020B0502040204020203" pitchFamily="34" charset="-34"/>
                        </a:rPr>
                        <a:t>Clients</a:t>
                      </a:r>
                      <a:r>
                        <a:rPr lang="en-IN" sz="1600" baseline="0" dirty="0" smtClean="0">
                          <a:latin typeface="Leelawadee" panose="020B0502040204020203" pitchFamily="34" charset="-34"/>
                          <a:cs typeface="Leelawadee" panose="020B0502040204020203" pitchFamily="34" charset="-34"/>
                        </a:rPr>
                        <a:t> are </a:t>
                      </a:r>
                      <a:r>
                        <a:rPr lang="en-IN" sz="1600" baseline="0" dirty="0" smtClean="0">
                          <a:latin typeface="Leelawadee" panose="020B0502040204020203" pitchFamily="34" charset="-34"/>
                          <a:cs typeface="Leelawadee" panose="020B0502040204020203" pitchFamily="34" charset="-34"/>
                        </a:rPr>
                        <a:t>more inclined towards individual </a:t>
                      </a:r>
                      <a:r>
                        <a:rPr lang="en-IN" sz="1600" baseline="0" dirty="0" smtClean="0">
                          <a:latin typeface="Leelawadee" panose="020B0502040204020203" pitchFamily="34" charset="-34"/>
                          <a:cs typeface="Leelawadee" panose="020B0502040204020203" pitchFamily="34" charset="-34"/>
                        </a:rPr>
                        <a:t>purchase </a:t>
                      </a:r>
                      <a:r>
                        <a:rPr lang="en-IN" sz="1600" baseline="0" dirty="0" smtClean="0">
                          <a:latin typeface="Leelawadee" panose="020B0502040204020203" pitchFamily="34" charset="-34"/>
                          <a:cs typeface="Leelawadee" panose="020B0502040204020203" pitchFamily="34" charset="-34"/>
                        </a:rPr>
                        <a:t>of Tableau </a:t>
                      </a:r>
                      <a:r>
                        <a:rPr lang="en-IN" sz="1600" baseline="0" dirty="0" smtClean="0">
                          <a:latin typeface="Leelawadee" panose="020B0502040204020203" pitchFamily="34" charset="-34"/>
                          <a:cs typeface="Leelawadee" panose="020B0502040204020203" pitchFamily="34" charset="-34"/>
                        </a:rPr>
                        <a:t>License </a:t>
                      </a:r>
                      <a:r>
                        <a:rPr lang="en-IN" sz="1600" baseline="0" dirty="0" smtClean="0">
                          <a:latin typeface="Leelawadee" panose="020B0502040204020203" pitchFamily="34" charset="-34"/>
                          <a:cs typeface="Leelawadee" panose="020B0502040204020203" pitchFamily="34" charset="-34"/>
                        </a:rPr>
                        <a:t>and building an in-house team</a:t>
                      </a:r>
                      <a:endParaRPr lang="en-IN" sz="1600" dirty="0">
                        <a:latin typeface="Leelawadee" panose="020B0502040204020203" pitchFamily="34" charset="-34"/>
                        <a:cs typeface="Leelawadee" panose="020B0502040204020203" pitchFamily="34" charset="-34"/>
                      </a:endParaRPr>
                    </a:p>
                  </a:txBody>
                  <a:tcPr anchor="ctr"/>
                </a:tc>
              </a:tr>
            </a:tbl>
          </a:graphicData>
        </a:graphic>
      </p:graphicFrame>
      <p:sp>
        <p:nvSpPr>
          <p:cNvPr id="26" name="TextBox 25"/>
          <p:cNvSpPr txBox="1"/>
          <p:nvPr/>
        </p:nvSpPr>
        <p:spPr>
          <a:xfrm>
            <a:off x="524360" y="1212728"/>
            <a:ext cx="5086025" cy="338554"/>
          </a:xfrm>
          <a:prstGeom prst="rect">
            <a:avLst/>
          </a:prstGeom>
          <a:noFill/>
        </p:spPr>
        <p:txBody>
          <a:bodyPr wrap="square" rtlCol="0">
            <a:spAutoFit/>
          </a:bodyPr>
          <a:lstStyle/>
          <a:p>
            <a:r>
              <a:rPr lang="en-IN" sz="1600" b="1" dirty="0" smtClean="0">
                <a:latin typeface="Leelawadee" panose="020B0502040204020203" pitchFamily="34" charset="-34"/>
                <a:cs typeface="Leelawadee" panose="020B0502040204020203" pitchFamily="34" charset="-34"/>
              </a:rPr>
              <a:t>Current Clients </a:t>
            </a:r>
            <a:r>
              <a:rPr lang="en-IN" sz="1600" dirty="0" smtClean="0">
                <a:latin typeface="Leelawadee" panose="020B0502040204020203" pitchFamily="34" charset="-34"/>
                <a:cs typeface="Leelawadee" panose="020B0502040204020203" pitchFamily="34" charset="-34"/>
              </a:rPr>
              <a:t>: Tata AIA, Tata Capital, </a:t>
            </a:r>
            <a:r>
              <a:rPr lang="en-IN" sz="1600" dirty="0" err="1" smtClean="0">
                <a:latin typeface="Leelawadee" panose="020B0502040204020203" pitchFamily="34" charset="-34"/>
                <a:cs typeface="Leelawadee" panose="020B0502040204020203" pitchFamily="34" charset="-34"/>
              </a:rPr>
              <a:t>Croma</a:t>
            </a:r>
            <a:r>
              <a:rPr lang="en-IN" sz="1600" dirty="0" smtClean="0">
                <a:latin typeface="Leelawadee" panose="020B0502040204020203" pitchFamily="34" charset="-34"/>
                <a:cs typeface="Leelawadee" panose="020B0502040204020203" pitchFamily="34" charset="-34"/>
              </a:rPr>
              <a:t> , GEC</a:t>
            </a:r>
            <a:endParaRPr lang="en-IN" sz="1600" dirty="0">
              <a:latin typeface="Leelawadee" panose="020B0502040204020203" pitchFamily="34" charset="-34"/>
              <a:cs typeface="Leelawadee" panose="020B0502040204020203" pitchFamily="34" charset="-34"/>
            </a:endParaRPr>
          </a:p>
        </p:txBody>
      </p:sp>
      <p:sp>
        <p:nvSpPr>
          <p:cNvPr id="27" name="TextBox 26"/>
          <p:cNvSpPr txBox="1"/>
          <p:nvPr/>
        </p:nvSpPr>
        <p:spPr>
          <a:xfrm>
            <a:off x="6803756" y="1226529"/>
            <a:ext cx="5120664" cy="338554"/>
          </a:xfrm>
          <a:prstGeom prst="rect">
            <a:avLst/>
          </a:prstGeom>
          <a:noFill/>
        </p:spPr>
        <p:txBody>
          <a:bodyPr wrap="square" rtlCol="0">
            <a:spAutoFit/>
          </a:bodyPr>
          <a:lstStyle/>
          <a:p>
            <a:r>
              <a:rPr lang="en-IN" sz="1600" b="1" dirty="0" smtClean="0">
                <a:latin typeface="Leelawadee" panose="020B0502040204020203" pitchFamily="34" charset="-34"/>
                <a:cs typeface="Leelawadee" panose="020B0502040204020203" pitchFamily="34" charset="-34"/>
              </a:rPr>
              <a:t>Immediate Future Clients : </a:t>
            </a:r>
            <a:r>
              <a:rPr lang="en-IN" sz="1600" dirty="0" smtClean="0">
                <a:latin typeface="Leelawadee" panose="020B0502040204020203" pitchFamily="34" charset="-34"/>
                <a:cs typeface="Leelawadee" panose="020B0502040204020203" pitchFamily="34" charset="-34"/>
              </a:rPr>
              <a:t>Tata AIG, Tata </a:t>
            </a:r>
            <a:r>
              <a:rPr lang="en-IN" sz="1600" dirty="0" err="1" smtClean="0">
                <a:latin typeface="Leelawadee" panose="020B0502040204020203" pitchFamily="34" charset="-34"/>
                <a:cs typeface="Leelawadee" panose="020B0502040204020203" pitchFamily="34" charset="-34"/>
              </a:rPr>
              <a:t>CliQ</a:t>
            </a:r>
            <a:endParaRPr lang="en-IN" sz="1600" dirty="0">
              <a:latin typeface="Leelawadee" panose="020B0502040204020203" pitchFamily="34" charset="-34"/>
              <a:cs typeface="Leelawadee" panose="020B0502040204020203" pitchFamily="34" charset="-34"/>
            </a:endParaRPr>
          </a:p>
        </p:txBody>
      </p:sp>
      <p:sp>
        <p:nvSpPr>
          <p:cNvPr id="28" name="TextBox 27"/>
          <p:cNvSpPr txBox="1"/>
          <p:nvPr/>
        </p:nvSpPr>
        <p:spPr>
          <a:xfrm>
            <a:off x="6803756" y="1944509"/>
            <a:ext cx="3321803" cy="338554"/>
          </a:xfrm>
          <a:prstGeom prst="rect">
            <a:avLst/>
          </a:prstGeom>
          <a:noFill/>
        </p:spPr>
        <p:txBody>
          <a:bodyPr wrap="square" rtlCol="0">
            <a:spAutoFit/>
          </a:bodyPr>
          <a:lstStyle/>
          <a:p>
            <a:r>
              <a:rPr lang="en-IN" sz="1600" b="1" dirty="0" smtClean="0">
                <a:latin typeface="Leelawadee" panose="020B0502040204020203" pitchFamily="34" charset="-34"/>
                <a:cs typeface="Leelawadee" panose="020B0502040204020203" pitchFamily="34" charset="-34"/>
              </a:rPr>
              <a:t>Shared resources</a:t>
            </a:r>
            <a:r>
              <a:rPr lang="en-IN" sz="1600" dirty="0" smtClean="0">
                <a:latin typeface="Leelawadee" panose="020B0502040204020203" pitchFamily="34" charset="-34"/>
                <a:cs typeface="Leelawadee" panose="020B0502040204020203" pitchFamily="34" charset="-34"/>
              </a:rPr>
              <a:t> :  Kritika, Sanket  </a:t>
            </a:r>
            <a:endParaRPr lang="en-IN" sz="1600" dirty="0">
              <a:latin typeface="Leelawadee" panose="020B0502040204020203" pitchFamily="34" charset="-34"/>
              <a:cs typeface="Leelawadee" panose="020B0502040204020203" pitchFamily="34" charset="-34"/>
            </a:endParaRPr>
          </a:p>
        </p:txBody>
      </p:sp>
    </p:spTree>
    <p:extLst>
      <p:ext uri="{BB962C8B-B14F-4D97-AF65-F5344CB8AC3E}">
        <p14:creationId xmlns:p14="http://schemas.microsoft.com/office/powerpoint/2010/main" val="11344415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12007" t="16448" b="4358"/>
          <a:stretch/>
        </p:blipFill>
        <p:spPr>
          <a:xfrm flipH="1">
            <a:off x="0" y="0"/>
            <a:ext cx="12192000" cy="6858000"/>
          </a:xfrm>
          <a:prstGeom prst="rect">
            <a:avLst/>
          </a:prstGeom>
        </p:spPr>
      </p:pic>
      <p:pic>
        <p:nvPicPr>
          <p:cNvPr id="17" name="Picture 16"/>
          <p:cNvPicPr>
            <a:picLocks noChangeAspect="1"/>
          </p:cNvPicPr>
          <p:nvPr/>
        </p:nvPicPr>
        <p:blipFill>
          <a:blip r:embed="rId3">
            <a:biLevel thresh="25000"/>
          </a:blip>
          <a:stretch>
            <a:fillRect/>
          </a:stretch>
        </p:blipFill>
        <p:spPr>
          <a:xfrm>
            <a:off x="527050" y="3905085"/>
            <a:ext cx="2645833" cy="922032"/>
          </a:xfrm>
          <a:prstGeom prst="rect">
            <a:avLst/>
          </a:prstGeom>
        </p:spPr>
      </p:pic>
      <p:sp>
        <p:nvSpPr>
          <p:cNvPr id="22" name="Rectangle 21"/>
          <p:cNvSpPr/>
          <p:nvPr/>
        </p:nvSpPr>
        <p:spPr>
          <a:xfrm>
            <a:off x="0" y="4873331"/>
            <a:ext cx="12192000" cy="1474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p:cNvSpPr/>
          <p:nvPr/>
        </p:nvSpPr>
        <p:spPr>
          <a:xfrm>
            <a:off x="590550" y="5214464"/>
            <a:ext cx="4910364" cy="1138773"/>
          </a:xfrm>
          <a:prstGeom prst="rect">
            <a:avLst/>
          </a:prstGeom>
        </p:spPr>
        <p:txBody>
          <a:bodyPr wrap="square">
            <a:spAutoFit/>
          </a:bodyPr>
          <a:lstStyle/>
          <a:p>
            <a:r>
              <a:rPr lang="en-IN" sz="1600" dirty="0">
                <a:solidFill>
                  <a:schemeClr val="bg1"/>
                </a:solidFill>
                <a:latin typeface="Leelawadee UI" panose="020B0502040204020203" pitchFamily="34" charset="-34"/>
                <a:cs typeface="Leelawadee UI" panose="020B0502040204020203" pitchFamily="34" charset="-34"/>
              </a:rPr>
              <a:t>Tata Industries </a:t>
            </a:r>
            <a:r>
              <a:rPr lang="en-IN" sz="1600" dirty="0" smtClean="0">
                <a:solidFill>
                  <a:schemeClr val="bg1"/>
                </a:solidFill>
                <a:latin typeface="Leelawadee UI" panose="020B0502040204020203" pitchFamily="34" charset="-34"/>
                <a:cs typeface="Leelawadee UI" panose="020B0502040204020203" pitchFamily="34" charset="-34"/>
              </a:rPr>
              <a:t>Limited</a:t>
            </a:r>
          </a:p>
          <a:p>
            <a:r>
              <a:rPr lang="en-IN" sz="1600" b="1" dirty="0" smtClean="0">
                <a:solidFill>
                  <a:schemeClr val="bg1"/>
                </a:solidFill>
                <a:latin typeface="Leelawadee UI" panose="020B0502040204020203" pitchFamily="34" charset="-34"/>
                <a:cs typeface="Leelawadee UI" panose="020B0502040204020203" pitchFamily="34" charset="-34"/>
              </a:rPr>
              <a:t>Tata </a:t>
            </a:r>
            <a:r>
              <a:rPr lang="en-IN" sz="1600" b="1" dirty="0">
                <a:solidFill>
                  <a:schemeClr val="bg1"/>
                </a:solidFill>
                <a:latin typeface="Leelawadee UI" panose="020B0502040204020203" pitchFamily="34" charset="-34"/>
                <a:cs typeface="Leelawadee UI" panose="020B0502040204020203" pitchFamily="34" charset="-34"/>
              </a:rPr>
              <a:t>Insights &amp; Quants </a:t>
            </a:r>
            <a:r>
              <a:rPr lang="en-IN" sz="1600" b="1" dirty="0" smtClean="0">
                <a:solidFill>
                  <a:schemeClr val="bg1"/>
                </a:solidFill>
                <a:latin typeface="Leelawadee UI" panose="020B0502040204020203" pitchFamily="34" charset="-34"/>
                <a:cs typeface="Leelawadee UI" panose="020B0502040204020203" pitchFamily="34" charset="-34"/>
              </a:rPr>
              <a:t>Division</a:t>
            </a:r>
          </a:p>
          <a:p>
            <a:endParaRPr lang="en-IN" sz="1200" b="1" dirty="0">
              <a:solidFill>
                <a:schemeClr val="bg1"/>
              </a:solidFill>
              <a:latin typeface="Leelawadee UI" panose="020B0502040204020203" pitchFamily="34" charset="-34"/>
              <a:cs typeface="Leelawadee UI" panose="020B0502040204020203" pitchFamily="34" charset="-34"/>
            </a:endParaRPr>
          </a:p>
          <a:p>
            <a:r>
              <a:rPr lang="en-US" sz="1200" dirty="0">
                <a:solidFill>
                  <a:schemeClr val="bg1"/>
                </a:solidFill>
                <a:latin typeface="Leelawadee UI" panose="020B0502040204020203" pitchFamily="34" charset="-34"/>
                <a:cs typeface="Leelawadee UI" panose="020B0502040204020203" pitchFamily="34" charset="-34"/>
              </a:rPr>
              <a:t>‘The Address’ | 5th Floor | </a:t>
            </a:r>
            <a:r>
              <a:rPr lang="en-US" sz="1200" dirty="0" err="1">
                <a:solidFill>
                  <a:schemeClr val="bg1"/>
                </a:solidFill>
                <a:latin typeface="Leelawadee UI" panose="020B0502040204020203" pitchFamily="34" charset="-34"/>
                <a:cs typeface="Leelawadee UI" panose="020B0502040204020203" pitchFamily="34" charset="-34"/>
              </a:rPr>
              <a:t>Sy</a:t>
            </a:r>
            <a:r>
              <a:rPr lang="en-US" sz="1200" dirty="0">
                <a:solidFill>
                  <a:schemeClr val="bg1"/>
                </a:solidFill>
                <a:latin typeface="Leelawadee UI" panose="020B0502040204020203" pitchFamily="34" charset="-34"/>
                <a:cs typeface="Leelawadee UI" panose="020B0502040204020203" pitchFamily="34" charset="-34"/>
              </a:rPr>
              <a:t>. No.17/1 | Outer Ring </a:t>
            </a:r>
            <a:r>
              <a:rPr lang="en-US" sz="1200" dirty="0" smtClean="0">
                <a:solidFill>
                  <a:schemeClr val="bg1"/>
                </a:solidFill>
                <a:latin typeface="Leelawadee UI" panose="020B0502040204020203" pitchFamily="34" charset="-34"/>
                <a:cs typeface="Leelawadee UI" panose="020B0502040204020203" pitchFamily="34" charset="-34"/>
              </a:rPr>
              <a:t>Road</a:t>
            </a:r>
          </a:p>
          <a:p>
            <a:r>
              <a:rPr lang="en-US" sz="1200" dirty="0" err="1" smtClean="0">
                <a:solidFill>
                  <a:schemeClr val="bg1"/>
                </a:solidFill>
                <a:latin typeface="Leelawadee UI" panose="020B0502040204020203" pitchFamily="34" charset="-34"/>
                <a:cs typeface="Leelawadee UI" panose="020B0502040204020203" pitchFamily="34" charset="-34"/>
              </a:rPr>
              <a:t>Oppo</a:t>
            </a:r>
            <a:r>
              <a:rPr lang="en-US" sz="1200" dirty="0">
                <a:solidFill>
                  <a:schemeClr val="bg1"/>
                </a:solidFill>
                <a:latin typeface="Leelawadee UI" panose="020B0502040204020203" pitchFamily="34" charset="-34"/>
                <a:cs typeface="Leelawadee UI" panose="020B0502040204020203" pitchFamily="34" charset="-34"/>
              </a:rPr>
              <a:t>. Prestige Cessna Park | </a:t>
            </a:r>
            <a:r>
              <a:rPr lang="en-US" sz="1200" dirty="0" err="1">
                <a:solidFill>
                  <a:schemeClr val="bg1"/>
                </a:solidFill>
                <a:latin typeface="Leelawadee UI" panose="020B0502040204020203" pitchFamily="34" charset="-34"/>
                <a:cs typeface="Leelawadee UI" panose="020B0502040204020203" pitchFamily="34" charset="-34"/>
              </a:rPr>
              <a:t>Kadubeesanahalli</a:t>
            </a:r>
            <a:r>
              <a:rPr lang="en-US" sz="1200" dirty="0">
                <a:solidFill>
                  <a:schemeClr val="bg1"/>
                </a:solidFill>
                <a:latin typeface="Leelawadee UI" panose="020B0502040204020203" pitchFamily="34" charset="-34"/>
                <a:cs typeface="Leelawadee UI" panose="020B0502040204020203" pitchFamily="34" charset="-34"/>
              </a:rPr>
              <a:t>| Bangalore 560 087</a:t>
            </a:r>
            <a:endParaRPr lang="en-IN" sz="1200" dirty="0">
              <a:solidFill>
                <a:schemeClr val="bg1"/>
              </a:solidFill>
              <a:latin typeface="Leelawadee UI" panose="020B0502040204020203" pitchFamily="34" charset="-34"/>
              <a:cs typeface="Leelawadee UI" panose="020B0502040204020203" pitchFamily="34" charset="-34"/>
            </a:endParaRPr>
          </a:p>
        </p:txBody>
      </p:sp>
      <p:sp>
        <p:nvSpPr>
          <p:cNvPr id="6" name="Rectangle 5"/>
          <p:cNvSpPr/>
          <p:nvPr/>
        </p:nvSpPr>
        <p:spPr>
          <a:xfrm>
            <a:off x="9654052" y="-1"/>
            <a:ext cx="2271248" cy="2562225"/>
          </a:xfrm>
          <a:prstGeom prst="rect">
            <a:avLst/>
          </a:prstGeom>
          <a:solidFill>
            <a:srgbClr val="D411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p:cNvSpPr/>
          <p:nvPr/>
        </p:nvSpPr>
        <p:spPr>
          <a:xfrm>
            <a:off x="9463552" y="1339149"/>
            <a:ext cx="2652248" cy="307777"/>
          </a:xfrm>
          <a:prstGeom prst="rect">
            <a:avLst/>
          </a:prstGeom>
        </p:spPr>
        <p:txBody>
          <a:bodyPr wrap="square" anchor="ctr">
            <a:spAutoFit/>
          </a:bodyPr>
          <a:lstStyle/>
          <a:p>
            <a:pPr algn="ctr"/>
            <a:r>
              <a:rPr lang="en-US" sz="1400" dirty="0">
                <a:solidFill>
                  <a:schemeClr val="bg1"/>
                </a:solidFill>
                <a:latin typeface="Leelawadee UI" panose="020B0502040204020203" pitchFamily="34" charset="-34"/>
                <a:cs typeface="Leelawadee UI" panose="020B0502040204020203" pitchFamily="34" charset="-34"/>
              </a:rPr>
              <a:t>+91- 900 819 9115 </a:t>
            </a:r>
            <a:endParaRPr lang="en-US" sz="1400" dirty="0" smtClean="0">
              <a:solidFill>
                <a:schemeClr val="bg1"/>
              </a:solidFill>
              <a:latin typeface="Leelawadee UI" panose="020B0502040204020203" pitchFamily="34" charset="-34"/>
              <a:cs typeface="Leelawadee UI" panose="020B0502040204020203" pitchFamily="34" charset="-34"/>
            </a:endParaRPr>
          </a:p>
        </p:txBody>
      </p:sp>
      <p:sp>
        <p:nvSpPr>
          <p:cNvPr id="27" name="Rectangle 26"/>
          <p:cNvSpPr/>
          <p:nvPr/>
        </p:nvSpPr>
        <p:spPr>
          <a:xfrm>
            <a:off x="9735576" y="628445"/>
            <a:ext cx="2108200" cy="461665"/>
          </a:xfrm>
          <a:prstGeom prst="rect">
            <a:avLst/>
          </a:prstGeom>
        </p:spPr>
        <p:txBody>
          <a:bodyPr wrap="square">
            <a:spAutoFit/>
          </a:bodyPr>
          <a:lstStyle/>
          <a:p>
            <a:pPr algn="ctr"/>
            <a:r>
              <a:rPr lang="en-US" sz="2400" b="1" dirty="0" smtClean="0">
                <a:solidFill>
                  <a:schemeClr val="bg1"/>
                </a:solidFill>
                <a:latin typeface="Leelawadee UI" panose="020B0502040204020203" pitchFamily="34" charset="-34"/>
                <a:cs typeface="Leelawadee UI" panose="020B0502040204020203" pitchFamily="34" charset="-34"/>
              </a:rPr>
              <a:t>Contact Us</a:t>
            </a:r>
            <a:endParaRPr lang="en-US" sz="2400" b="1" dirty="0">
              <a:solidFill>
                <a:schemeClr val="bg1"/>
              </a:solidFill>
              <a:latin typeface="Leelawadee UI" panose="020B0502040204020203" pitchFamily="34" charset="-34"/>
              <a:cs typeface="Leelawadee UI" panose="020B0502040204020203" pitchFamily="34" charset="-34"/>
            </a:endParaRPr>
          </a:p>
        </p:txBody>
      </p:sp>
      <p:sp>
        <p:nvSpPr>
          <p:cNvPr id="28" name="Rectangle 27">
            <a:hlinkClick r:id="rId4"/>
          </p:cNvPr>
          <p:cNvSpPr/>
          <p:nvPr/>
        </p:nvSpPr>
        <p:spPr>
          <a:xfrm>
            <a:off x="9463552" y="1834408"/>
            <a:ext cx="2652248" cy="307777"/>
          </a:xfrm>
          <a:prstGeom prst="rect">
            <a:avLst/>
          </a:prstGeom>
        </p:spPr>
        <p:txBody>
          <a:bodyPr wrap="square" anchor="ctr">
            <a:spAutoFit/>
          </a:bodyPr>
          <a:lstStyle/>
          <a:p>
            <a:pPr algn="ctr"/>
            <a:r>
              <a:rPr lang="en-US" sz="1400" dirty="0" smtClean="0">
                <a:solidFill>
                  <a:schemeClr val="bg1"/>
                </a:solidFill>
                <a:latin typeface="Leelawadee UI" panose="020B0502040204020203" pitchFamily="34" charset="-34"/>
                <a:cs typeface="Leelawadee UI" panose="020B0502040204020203" pitchFamily="34" charset="-34"/>
              </a:rPr>
              <a:t>digital@tataiq.com</a:t>
            </a:r>
            <a:endParaRPr lang="en-US" sz="1400" dirty="0">
              <a:solidFill>
                <a:schemeClr val="bg1"/>
              </a:solidFill>
              <a:latin typeface="Leelawadee UI" panose="020B0502040204020203" pitchFamily="34" charset="-34"/>
              <a:cs typeface="Leelawadee UI" panose="020B0502040204020203" pitchFamily="34" charset="-34"/>
            </a:endParaRPr>
          </a:p>
        </p:txBody>
      </p:sp>
      <p:sp>
        <p:nvSpPr>
          <p:cNvPr id="29" name="Rectangle 28">
            <a:hlinkClick r:id="rId5"/>
          </p:cNvPr>
          <p:cNvSpPr/>
          <p:nvPr/>
        </p:nvSpPr>
        <p:spPr>
          <a:xfrm>
            <a:off x="9463552" y="2080781"/>
            <a:ext cx="2652248" cy="307777"/>
          </a:xfrm>
          <a:prstGeom prst="rect">
            <a:avLst/>
          </a:prstGeom>
        </p:spPr>
        <p:txBody>
          <a:bodyPr wrap="square" anchor="ctr">
            <a:spAutoFit/>
          </a:bodyPr>
          <a:lstStyle/>
          <a:p>
            <a:pPr algn="ctr"/>
            <a:r>
              <a:rPr lang="en-US" sz="1400" dirty="0" smtClean="0">
                <a:solidFill>
                  <a:schemeClr val="bg1"/>
                </a:solidFill>
                <a:latin typeface="Leelawadee UI" panose="020B0502040204020203" pitchFamily="34" charset="-34"/>
                <a:cs typeface="Leelawadee UI" panose="020B0502040204020203" pitchFamily="34" charset="-34"/>
              </a:rPr>
              <a:t>dthomas@tata.com</a:t>
            </a:r>
            <a:endParaRPr lang="en-US" sz="1400" dirty="0">
              <a:solidFill>
                <a:schemeClr val="bg1"/>
              </a:solidFill>
              <a:latin typeface="Leelawadee UI" panose="020B0502040204020203" pitchFamily="34" charset="-34"/>
              <a:cs typeface="Leelawadee UI" panose="020B0502040204020203" pitchFamily="34" charset="-34"/>
            </a:endParaRPr>
          </a:p>
        </p:txBody>
      </p:sp>
      <p:cxnSp>
        <p:nvCxnSpPr>
          <p:cNvPr id="9" name="Straight Connector 8"/>
          <p:cNvCxnSpPr/>
          <p:nvPr/>
        </p:nvCxnSpPr>
        <p:spPr>
          <a:xfrm>
            <a:off x="10461577" y="1245407"/>
            <a:ext cx="6561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10461577" y="1740667"/>
            <a:ext cx="6561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267526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237066"/>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1268726" y="291779"/>
              <a:ext cx="9654630"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Web Analytics by Tata </a:t>
              </a:r>
              <a:r>
                <a:rPr lang="en-IN" sz="2800" b="1" dirty="0" err="1" smtClean="0">
                  <a:solidFill>
                    <a:srgbClr val="0070C0"/>
                  </a:solidFill>
                  <a:latin typeface="Leelawadee UI" panose="020B0502040204020203" pitchFamily="34" charset="-34"/>
                  <a:cs typeface="Leelawadee UI" panose="020B0502040204020203" pitchFamily="34" charset="-34"/>
                </a:rPr>
                <a:t>iQ</a:t>
              </a:r>
              <a:r>
                <a:rPr lang="en-IN" sz="2800" b="1" dirty="0" smtClean="0">
                  <a:solidFill>
                    <a:srgbClr val="0070C0"/>
                  </a:solidFill>
                  <a:latin typeface="Leelawadee UI" panose="020B0502040204020203" pitchFamily="34" charset="-34"/>
                  <a:cs typeface="Leelawadee UI" panose="020B0502040204020203" pitchFamily="34" charset="-34"/>
                </a:rPr>
                <a:t> : Leveraging Adobe Analytics</a:t>
              </a:r>
            </a:p>
          </p:txBody>
        </p:sp>
      </p:grpSp>
      <p:pic>
        <p:nvPicPr>
          <p:cNvPr id="7" name="Picture 6"/>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23712" y="1763893"/>
            <a:ext cx="5818493" cy="2294148"/>
          </a:xfrm>
          <a:prstGeom prst="rect">
            <a:avLst/>
          </a:prstGeom>
          <a:ln>
            <a:noFill/>
          </a:ln>
          <a:effectLst>
            <a:outerShdw blurRad="190500" algn="tl" rotWithShape="0">
              <a:srgbClr val="000000">
                <a:alpha val="70000"/>
              </a:srgbClr>
            </a:outerShdw>
          </a:effectLst>
        </p:spPr>
      </p:pic>
      <p:sp>
        <p:nvSpPr>
          <p:cNvPr id="8" name="TextBox 7"/>
          <p:cNvSpPr txBox="1"/>
          <p:nvPr/>
        </p:nvSpPr>
        <p:spPr bwMode="gray">
          <a:xfrm>
            <a:off x="565830" y="1274408"/>
            <a:ext cx="2262879" cy="428093"/>
          </a:xfrm>
          <a:prstGeom prst="rect">
            <a:avLst/>
          </a:prstGeom>
        </p:spPr>
        <p:txBody>
          <a:bodyPr vert="horz" wrap="square" lIns="91440" tIns="45720" rIns="91440" bIns="45720" rtlCol="0" anchor="ctr">
            <a:noAutofit/>
          </a:bodyPr>
          <a:lstStyle/>
          <a:p>
            <a:pPr algn="ctr"/>
            <a:r>
              <a:rPr lang="en-IN" sz="1600" b="1" dirty="0" smtClean="0">
                <a:solidFill>
                  <a:schemeClr val="tx2">
                    <a:lumMod val="60000"/>
                    <a:lumOff val="40000"/>
                  </a:schemeClr>
                </a:solidFill>
                <a:latin typeface="Leelawadee" panose="020B0502040204020203" pitchFamily="34" charset="-34"/>
                <a:cs typeface="Leelawadee" panose="020B0502040204020203" pitchFamily="34" charset="-34"/>
              </a:rPr>
              <a:t>Basic Website Metrics</a:t>
            </a:r>
          </a:p>
        </p:txBody>
      </p:sp>
      <p:sp>
        <p:nvSpPr>
          <p:cNvPr id="9" name="TextBox 8"/>
          <p:cNvSpPr txBox="1"/>
          <p:nvPr/>
        </p:nvSpPr>
        <p:spPr bwMode="gray">
          <a:xfrm>
            <a:off x="7959358" y="855764"/>
            <a:ext cx="4037514" cy="402619"/>
          </a:xfrm>
          <a:prstGeom prst="rect">
            <a:avLst/>
          </a:prstGeom>
        </p:spPr>
        <p:txBody>
          <a:bodyPr vert="horz" wrap="square" lIns="91440" tIns="45720" rIns="91440" bIns="45720" rtlCol="0" anchor="ctr">
            <a:noAutofit/>
          </a:bodyPr>
          <a:lstStyle/>
          <a:p>
            <a:pPr algn="ctr"/>
            <a:r>
              <a:rPr lang="en-IN" sz="1600" b="1" dirty="0" smtClean="0">
                <a:latin typeface="Leelawadee" panose="020B0502040204020203" pitchFamily="34" charset="-34"/>
                <a:cs typeface="Leelawadee" panose="020B0502040204020203" pitchFamily="34" charset="-34"/>
              </a:rPr>
              <a:t>Customized Reports using Adobe </a:t>
            </a:r>
          </a:p>
        </p:txBody>
      </p:sp>
      <p:sp>
        <p:nvSpPr>
          <p:cNvPr id="10" name="TextBox 9"/>
          <p:cNvSpPr txBox="1"/>
          <p:nvPr/>
        </p:nvSpPr>
        <p:spPr bwMode="gray">
          <a:xfrm>
            <a:off x="8215140" y="3881954"/>
            <a:ext cx="3094850" cy="432217"/>
          </a:xfrm>
          <a:prstGeom prst="rect">
            <a:avLst/>
          </a:prstGeom>
        </p:spPr>
        <p:txBody>
          <a:bodyPr vert="horz" wrap="square" lIns="91440" tIns="45720" rIns="91440" bIns="45720" rtlCol="0" anchor="ctr">
            <a:noAutofit/>
          </a:bodyPr>
          <a:lstStyle/>
          <a:p>
            <a:pPr algn="ctr"/>
            <a:r>
              <a:rPr lang="en-IN" sz="1600" b="1" dirty="0" smtClean="0">
                <a:latin typeface="Leelawadee" panose="020B0502040204020203" pitchFamily="34" charset="-34"/>
                <a:cs typeface="Leelawadee" panose="020B0502040204020203" pitchFamily="34" charset="-34"/>
              </a:rPr>
              <a:t>Business Diagnosis</a:t>
            </a:r>
          </a:p>
        </p:txBody>
      </p:sp>
      <p:sp>
        <p:nvSpPr>
          <p:cNvPr id="11" name="TextBox 10"/>
          <p:cNvSpPr txBox="1"/>
          <p:nvPr/>
        </p:nvSpPr>
        <p:spPr bwMode="gray">
          <a:xfrm>
            <a:off x="7457006" y="1364458"/>
            <a:ext cx="4539866" cy="1760785"/>
          </a:xfrm>
          <a:prstGeom prst="rect">
            <a:avLst/>
          </a:prstGeom>
        </p:spPr>
        <p:txBody>
          <a:bodyPr vert="horz" wrap="square" lIns="91440" tIns="45720" rIns="91440" bIns="45720" rtlCol="0" anchor="ctr">
            <a:noAutofit/>
          </a:bodyPr>
          <a:lstStyle/>
          <a:p>
            <a:r>
              <a:rPr lang="en-IN" sz="1400" dirty="0" smtClean="0">
                <a:latin typeface="Leelawadee" panose="020B0502040204020203" pitchFamily="34" charset="-34"/>
                <a:cs typeface="Leelawadee" panose="020B0502040204020203" pitchFamily="34" charset="-34"/>
              </a:rPr>
              <a:t>Example:</a:t>
            </a:r>
          </a:p>
          <a:p>
            <a:endParaRPr lang="en-IN" sz="700" dirty="0" smtClean="0">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Web traffic trends segmented based on visitor segments , devices , geography and channels </a:t>
            </a:r>
          </a:p>
          <a:p>
            <a:pPr marL="285750" indent="-285750">
              <a:buFont typeface="Arial" panose="020B0604020202020204" pitchFamily="34" charset="0"/>
              <a:buChar char="•"/>
            </a:pPr>
            <a:endParaRPr lang="en-IN" sz="1200" dirty="0" smtClean="0">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Performance of website pages/section in terms of views and engagement over time </a:t>
            </a:r>
          </a:p>
          <a:p>
            <a:pPr marL="285750" indent="-285750">
              <a:buFont typeface="Arial" panose="020B0604020202020204" pitchFamily="34" charset="0"/>
              <a:buChar char="•"/>
            </a:pPr>
            <a:endParaRPr lang="en-IN" sz="1200" dirty="0">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Traffic source performance mapping with respect to Campaign tracking code &amp; business needs</a:t>
            </a:r>
          </a:p>
        </p:txBody>
      </p:sp>
      <p:sp>
        <p:nvSpPr>
          <p:cNvPr id="13" name="TextBox 12"/>
          <p:cNvSpPr txBox="1"/>
          <p:nvPr/>
        </p:nvSpPr>
        <p:spPr bwMode="gray">
          <a:xfrm>
            <a:off x="644110" y="4685935"/>
            <a:ext cx="1649341" cy="669787"/>
          </a:xfrm>
          <a:prstGeom prst="rect">
            <a:avLst/>
          </a:prstGeom>
        </p:spPr>
        <p:txBody>
          <a:bodyPr vert="horz" wrap="square" lIns="91440" tIns="45720" rIns="91440" bIns="45720" rtlCol="0" anchor="ctr">
            <a:noAutofit/>
          </a:bodyPr>
          <a:lstStyle/>
          <a:p>
            <a:pPr algn="ctr"/>
            <a:r>
              <a:rPr lang="en-IN" sz="1600" b="1" dirty="0" smtClean="0">
                <a:solidFill>
                  <a:schemeClr val="tx2">
                    <a:lumMod val="60000"/>
                    <a:lumOff val="40000"/>
                  </a:schemeClr>
                </a:solidFill>
                <a:latin typeface="Leelawadee" panose="020B0502040204020203" pitchFamily="34" charset="-34"/>
                <a:cs typeface="Leelawadee" panose="020B0502040204020203" pitchFamily="34" charset="-34"/>
              </a:rPr>
              <a:t>Traffic Source Reports</a:t>
            </a:r>
          </a:p>
        </p:txBody>
      </p:sp>
      <p:sp>
        <p:nvSpPr>
          <p:cNvPr id="14" name="TextBox 13"/>
          <p:cNvSpPr txBox="1"/>
          <p:nvPr/>
        </p:nvSpPr>
        <p:spPr bwMode="gray">
          <a:xfrm>
            <a:off x="7532346" y="4387315"/>
            <a:ext cx="4464526" cy="1782574"/>
          </a:xfrm>
          <a:prstGeom prst="rect">
            <a:avLst/>
          </a:prstGeom>
        </p:spPr>
        <p:txBody>
          <a:bodyPr vert="horz" wrap="square" lIns="91440" tIns="45720" rIns="91440" bIns="45720" rtlCol="0" anchor="ctr">
            <a:noAutofit/>
          </a:bodyPr>
          <a:lstStyle/>
          <a:p>
            <a:r>
              <a:rPr lang="en-IN" sz="1400" dirty="0">
                <a:latin typeface="Leelawadee" panose="020B0502040204020203" pitchFamily="34" charset="-34"/>
                <a:cs typeface="Leelawadee" panose="020B0502040204020203" pitchFamily="34" charset="-34"/>
              </a:rPr>
              <a:t>Example</a:t>
            </a:r>
            <a:r>
              <a:rPr lang="en-IN" sz="1400" dirty="0" smtClean="0">
                <a:latin typeface="Leelawadee" panose="020B0502040204020203" pitchFamily="34" charset="-34"/>
                <a:cs typeface="Leelawadee" panose="020B0502040204020203" pitchFamily="34" charset="-34"/>
              </a:rPr>
              <a:t>:</a:t>
            </a:r>
          </a:p>
          <a:p>
            <a:pPr marL="285750" indent="-285750">
              <a:buFont typeface="Arial" panose="020B0604020202020204" pitchFamily="34" charset="0"/>
              <a:buChar char="•"/>
            </a:pPr>
            <a:endParaRPr lang="en-IN" sz="600" dirty="0" smtClean="0">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Opportunities to  effectively increase </a:t>
            </a:r>
            <a:r>
              <a:rPr lang="en-IN" sz="1400" dirty="0">
                <a:latin typeface="Leelawadee" panose="020B0502040204020203" pitchFamily="34" charset="-34"/>
                <a:cs typeface="Leelawadee" panose="020B0502040204020203" pitchFamily="34" charset="-34"/>
              </a:rPr>
              <a:t>q</a:t>
            </a:r>
            <a:r>
              <a:rPr lang="en-IN" sz="1400" dirty="0" smtClean="0">
                <a:latin typeface="Leelawadee" panose="020B0502040204020203" pitchFamily="34" charset="-34"/>
                <a:cs typeface="Leelawadee" panose="020B0502040204020203" pitchFamily="34" charset="-34"/>
              </a:rPr>
              <a:t>uality traffic  on website </a:t>
            </a:r>
          </a:p>
          <a:p>
            <a:endParaRPr lang="en-IN" sz="1050" dirty="0">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Attribution analysis of traffic trends to market or internal events</a:t>
            </a:r>
          </a:p>
          <a:p>
            <a:pPr marL="285750" indent="-285750">
              <a:buFont typeface="Arial" panose="020B0604020202020204" pitchFamily="34" charset="0"/>
              <a:buChar char="•"/>
            </a:pPr>
            <a:endParaRPr lang="en-IN" sz="1050" dirty="0">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Weak and strong aspects of website in terms of content and features</a:t>
            </a:r>
          </a:p>
          <a:p>
            <a:pPr marL="285750" indent="-285750">
              <a:buFont typeface="Arial" panose="020B0604020202020204" pitchFamily="34" charset="0"/>
              <a:buChar char="•"/>
            </a:pPr>
            <a:endParaRPr lang="en-IN" sz="1400" dirty="0" smtClean="0">
              <a:latin typeface="Leelawadee" panose="020B0502040204020203" pitchFamily="34" charset="-34"/>
              <a:cs typeface="Leelawadee" panose="020B0502040204020203" pitchFamily="34" charset="-34"/>
            </a:endParaRPr>
          </a:p>
        </p:txBody>
      </p:sp>
      <p:sp>
        <p:nvSpPr>
          <p:cNvPr id="16" name="TextBox 15"/>
          <p:cNvSpPr txBox="1"/>
          <p:nvPr/>
        </p:nvSpPr>
        <p:spPr bwMode="gray">
          <a:xfrm>
            <a:off x="2220171" y="838657"/>
            <a:ext cx="3267632" cy="402619"/>
          </a:xfrm>
          <a:prstGeom prst="rect">
            <a:avLst/>
          </a:prstGeom>
        </p:spPr>
        <p:txBody>
          <a:bodyPr vert="horz" wrap="square" lIns="91440" tIns="45720" rIns="91440" bIns="45720" rtlCol="0" anchor="ctr">
            <a:noAutofit/>
          </a:bodyPr>
          <a:lstStyle/>
          <a:p>
            <a:pPr algn="ctr"/>
            <a:r>
              <a:rPr lang="en-IN" sz="1600" b="1" dirty="0" smtClean="0">
                <a:latin typeface="Leelawadee" panose="020B0502040204020203" pitchFamily="34" charset="-34"/>
                <a:cs typeface="Leelawadee" panose="020B0502040204020203" pitchFamily="34" charset="-34"/>
              </a:rPr>
              <a:t>Standard Reports in Adobe</a:t>
            </a:r>
          </a:p>
        </p:txBody>
      </p:sp>
      <p:pic>
        <p:nvPicPr>
          <p:cNvPr id="17" name="Picture 16"/>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643880" y="3956595"/>
            <a:ext cx="3530630" cy="1999575"/>
          </a:xfrm>
          <a:prstGeom prst="rect">
            <a:avLst/>
          </a:prstGeom>
          <a:ln>
            <a:noFill/>
          </a:ln>
          <a:effectLst>
            <a:outerShdw blurRad="190500" algn="tl" rotWithShape="0">
              <a:srgbClr val="000000">
                <a:alpha val="70000"/>
              </a:srgbClr>
            </a:outerShdw>
          </a:effectLst>
        </p:spPr>
      </p:pic>
      <p:sp>
        <p:nvSpPr>
          <p:cNvPr id="18" name="Rounded Rectangle 17"/>
          <p:cNvSpPr/>
          <p:nvPr/>
        </p:nvSpPr>
        <p:spPr>
          <a:xfrm>
            <a:off x="7420306" y="881385"/>
            <a:ext cx="4576566" cy="2474283"/>
          </a:xfrm>
          <a:prstGeom prst="round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IN" sz="1600">
              <a:solidFill>
                <a:prstClr val="white"/>
              </a:solidFill>
              <a:latin typeface="Leelawadee UI" panose="020B0502040204020203" pitchFamily="34" charset="-34"/>
              <a:cs typeface="Leelawadee UI" panose="020B0502040204020203" pitchFamily="34" charset="-34"/>
            </a:endParaRPr>
          </a:p>
        </p:txBody>
      </p:sp>
      <p:sp>
        <p:nvSpPr>
          <p:cNvPr id="19" name="Rounded Rectangle 18"/>
          <p:cNvSpPr/>
          <p:nvPr/>
        </p:nvSpPr>
        <p:spPr>
          <a:xfrm>
            <a:off x="7379720" y="3881954"/>
            <a:ext cx="4617152" cy="2410628"/>
          </a:xfrm>
          <a:prstGeom prst="round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IN" sz="1600">
              <a:solidFill>
                <a:prstClr val="white"/>
              </a:solidFill>
              <a:latin typeface="Leelawadee UI" panose="020B0502040204020203" pitchFamily="34" charset="-34"/>
              <a:cs typeface="Leelawadee UI" panose="020B0502040204020203" pitchFamily="34" charset="-34"/>
            </a:endParaRPr>
          </a:p>
        </p:txBody>
      </p:sp>
      <p:sp>
        <p:nvSpPr>
          <p:cNvPr id="20" name="Right Arrow 19"/>
          <p:cNvSpPr/>
          <p:nvPr/>
        </p:nvSpPr>
        <p:spPr>
          <a:xfrm rot="5400000">
            <a:off x="9567492" y="3442345"/>
            <a:ext cx="390146" cy="376518"/>
          </a:xfrm>
          <a:prstGeom prst="rightArrow">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ounded Rectangle 20"/>
          <p:cNvSpPr/>
          <p:nvPr/>
        </p:nvSpPr>
        <p:spPr>
          <a:xfrm>
            <a:off x="273283" y="838657"/>
            <a:ext cx="6489333" cy="5331231"/>
          </a:xfrm>
          <a:prstGeom prst="round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IN" sz="1600">
              <a:solidFill>
                <a:prstClr val="white"/>
              </a:solidFill>
              <a:latin typeface="Leelawadee UI" panose="020B0502040204020203" pitchFamily="34" charset="-34"/>
              <a:cs typeface="Leelawadee UI" panose="020B0502040204020203" pitchFamily="34" charset="-34"/>
            </a:endParaRPr>
          </a:p>
        </p:txBody>
      </p:sp>
      <p:sp>
        <p:nvSpPr>
          <p:cNvPr id="22" name="Right Arrow 21"/>
          <p:cNvSpPr/>
          <p:nvPr/>
        </p:nvSpPr>
        <p:spPr>
          <a:xfrm>
            <a:off x="6919705" y="1786841"/>
            <a:ext cx="441282" cy="369415"/>
          </a:xfrm>
          <a:prstGeom prst="rightArrow">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3866427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237066"/>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1404972" y="291779"/>
              <a:ext cx="9382120" cy="523220"/>
            </a:xfrm>
            <a:prstGeom prst="rect">
              <a:avLst/>
            </a:prstGeom>
            <a:solidFill>
              <a:schemeClr val="bg1"/>
            </a:solidFill>
          </p:spPr>
          <p:txBody>
            <a:bodyPr wrap="none" anchor="ctr">
              <a:spAutoFit/>
            </a:bodyPr>
            <a:lstStyle/>
            <a:p>
              <a:pPr algn="ctr"/>
              <a:r>
                <a:rPr lang="en-IN" sz="2800" b="1" dirty="0">
                  <a:solidFill>
                    <a:srgbClr val="0070C0"/>
                  </a:solidFill>
                  <a:latin typeface="Leelawadee UI" panose="020B0502040204020203" pitchFamily="34" charset="-34"/>
                  <a:cs typeface="Leelawadee UI" panose="020B0502040204020203" pitchFamily="34" charset="-34"/>
                </a:rPr>
                <a:t>Web Analytics by Tata </a:t>
              </a:r>
              <a:r>
                <a:rPr lang="en-IN" sz="2800" b="1" dirty="0" err="1">
                  <a:solidFill>
                    <a:srgbClr val="0070C0"/>
                  </a:solidFill>
                  <a:latin typeface="Leelawadee UI" panose="020B0502040204020203" pitchFamily="34" charset="-34"/>
                  <a:cs typeface="Leelawadee UI" panose="020B0502040204020203" pitchFamily="34" charset="-34"/>
                </a:rPr>
                <a:t>iQ</a:t>
              </a:r>
              <a:r>
                <a:rPr lang="en-IN" sz="2800" b="1" dirty="0">
                  <a:solidFill>
                    <a:srgbClr val="0070C0"/>
                  </a:solidFill>
                  <a:latin typeface="Leelawadee UI" panose="020B0502040204020203" pitchFamily="34" charset="-34"/>
                  <a:cs typeface="Leelawadee UI" panose="020B0502040204020203" pitchFamily="34" charset="-34"/>
                </a:rPr>
                <a:t> : Leveraging Adobe Analytics</a:t>
              </a:r>
            </a:p>
          </p:txBody>
        </p:sp>
      </p:grpSp>
      <p:sp>
        <p:nvSpPr>
          <p:cNvPr id="23" name="TextBox 22"/>
          <p:cNvSpPr txBox="1"/>
          <p:nvPr/>
        </p:nvSpPr>
        <p:spPr bwMode="gray">
          <a:xfrm>
            <a:off x="4136159" y="1702424"/>
            <a:ext cx="1455109" cy="496180"/>
          </a:xfrm>
          <a:prstGeom prst="rect">
            <a:avLst/>
          </a:prstGeom>
        </p:spPr>
        <p:txBody>
          <a:bodyPr vert="horz" wrap="square" lIns="91440" tIns="45720" rIns="91440" bIns="45720" rtlCol="0" anchor="ctr">
            <a:noAutofit/>
          </a:bodyPr>
          <a:lstStyle/>
          <a:p>
            <a:pPr algn="ctr"/>
            <a:r>
              <a:rPr lang="en-IN" sz="1600" b="1" dirty="0" smtClean="0">
                <a:solidFill>
                  <a:schemeClr val="tx2">
                    <a:lumMod val="60000"/>
                    <a:lumOff val="40000"/>
                  </a:schemeClr>
                </a:solidFill>
                <a:latin typeface="Leelawadee" panose="020B0502040204020203" pitchFamily="34" charset="-34"/>
                <a:cs typeface="Leelawadee" panose="020B0502040204020203" pitchFamily="34" charset="-34"/>
              </a:rPr>
              <a:t>Path Report</a:t>
            </a:r>
          </a:p>
        </p:txBody>
      </p:sp>
      <p:sp>
        <p:nvSpPr>
          <p:cNvPr id="24" name="TextBox 23"/>
          <p:cNvSpPr txBox="1"/>
          <p:nvPr/>
        </p:nvSpPr>
        <p:spPr bwMode="gray">
          <a:xfrm>
            <a:off x="4434656" y="3449696"/>
            <a:ext cx="1865954" cy="389558"/>
          </a:xfrm>
          <a:prstGeom prst="rect">
            <a:avLst/>
          </a:prstGeom>
        </p:spPr>
        <p:txBody>
          <a:bodyPr vert="horz" wrap="square" lIns="91440" tIns="45720" rIns="91440" bIns="45720" rtlCol="0" anchor="ctr">
            <a:noAutofit/>
          </a:bodyPr>
          <a:lstStyle/>
          <a:p>
            <a:pPr algn="ctr"/>
            <a:r>
              <a:rPr lang="en-IN" sz="1600" b="1" dirty="0" smtClean="0">
                <a:solidFill>
                  <a:schemeClr val="tx2">
                    <a:lumMod val="60000"/>
                    <a:lumOff val="40000"/>
                  </a:schemeClr>
                </a:solidFill>
                <a:latin typeface="Leelawadee" panose="020B0502040204020203" pitchFamily="34" charset="-34"/>
                <a:cs typeface="Leelawadee" panose="020B0502040204020203" pitchFamily="34" charset="-34"/>
              </a:rPr>
              <a:t>Funnel Report</a:t>
            </a:r>
          </a:p>
        </p:txBody>
      </p:sp>
      <p:pic>
        <p:nvPicPr>
          <p:cNvPr id="25" name="Picture 24"/>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43352" y="1511703"/>
            <a:ext cx="3492807" cy="4357694"/>
          </a:xfrm>
          <a:prstGeom prst="rect">
            <a:avLst/>
          </a:prstGeom>
          <a:ln>
            <a:noFill/>
          </a:ln>
          <a:effectLst>
            <a:outerShdw blurRad="190500" algn="tl" rotWithShape="0">
              <a:srgbClr val="000000">
                <a:alpha val="70000"/>
              </a:srgbClr>
            </a:outerShdw>
          </a:effectLst>
        </p:spPr>
      </p:pic>
      <p:sp>
        <p:nvSpPr>
          <p:cNvPr id="26" name="TextBox 25"/>
          <p:cNvSpPr txBox="1"/>
          <p:nvPr/>
        </p:nvSpPr>
        <p:spPr bwMode="gray">
          <a:xfrm>
            <a:off x="7968389" y="855174"/>
            <a:ext cx="3674443" cy="402619"/>
          </a:xfrm>
          <a:prstGeom prst="rect">
            <a:avLst/>
          </a:prstGeom>
        </p:spPr>
        <p:txBody>
          <a:bodyPr vert="horz" wrap="square" lIns="91440" tIns="45720" rIns="91440" bIns="45720" rtlCol="0" anchor="ctr">
            <a:noAutofit/>
          </a:bodyPr>
          <a:lstStyle/>
          <a:p>
            <a:pPr algn="ctr"/>
            <a:r>
              <a:rPr lang="en-IN" sz="1600" b="1" dirty="0" smtClean="0">
                <a:latin typeface="Leelawadee" panose="020B0502040204020203" pitchFamily="34" charset="-34"/>
                <a:cs typeface="Leelawadee" panose="020B0502040204020203" pitchFamily="34" charset="-34"/>
              </a:rPr>
              <a:t>Customized Reports using Adobe</a:t>
            </a:r>
          </a:p>
        </p:txBody>
      </p:sp>
      <p:sp>
        <p:nvSpPr>
          <p:cNvPr id="27" name="TextBox 26"/>
          <p:cNvSpPr txBox="1"/>
          <p:nvPr/>
        </p:nvSpPr>
        <p:spPr bwMode="gray">
          <a:xfrm>
            <a:off x="8324923" y="3839254"/>
            <a:ext cx="3094850" cy="432217"/>
          </a:xfrm>
          <a:prstGeom prst="rect">
            <a:avLst/>
          </a:prstGeom>
        </p:spPr>
        <p:txBody>
          <a:bodyPr vert="horz" wrap="square" lIns="91440" tIns="45720" rIns="91440" bIns="45720" rtlCol="0" anchor="ctr">
            <a:noAutofit/>
          </a:bodyPr>
          <a:lstStyle/>
          <a:p>
            <a:pPr algn="ctr"/>
            <a:r>
              <a:rPr lang="en-IN" sz="1600" b="1" dirty="0" smtClean="0">
                <a:latin typeface="Leelawadee" panose="020B0502040204020203" pitchFamily="34" charset="-34"/>
                <a:cs typeface="Leelawadee" panose="020B0502040204020203" pitchFamily="34" charset="-34"/>
              </a:rPr>
              <a:t>Business Diagnosis</a:t>
            </a:r>
          </a:p>
        </p:txBody>
      </p:sp>
      <p:sp>
        <p:nvSpPr>
          <p:cNvPr id="28" name="TextBox 27"/>
          <p:cNvSpPr txBox="1"/>
          <p:nvPr/>
        </p:nvSpPr>
        <p:spPr bwMode="gray">
          <a:xfrm>
            <a:off x="7864323" y="1455291"/>
            <a:ext cx="4069839" cy="1649570"/>
          </a:xfrm>
          <a:prstGeom prst="rect">
            <a:avLst/>
          </a:prstGeom>
        </p:spPr>
        <p:txBody>
          <a:bodyPr vert="horz" wrap="square" lIns="91440" tIns="45720" rIns="91440" bIns="45720" rtlCol="0" anchor="ctr">
            <a:noAutofit/>
          </a:bodyPr>
          <a:lstStyle/>
          <a:p>
            <a:r>
              <a:rPr lang="en-IN" sz="1400" dirty="0" smtClean="0">
                <a:latin typeface="Leelawadee" panose="020B0502040204020203" pitchFamily="34" charset="-34"/>
                <a:cs typeface="Leelawadee" panose="020B0502040204020203" pitchFamily="34" charset="-34"/>
              </a:rPr>
              <a:t>Example:</a:t>
            </a:r>
          </a:p>
          <a:p>
            <a:endParaRPr lang="en-IN" sz="1100" dirty="0">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Top website Paths segmented based on visitor type, devices , geography and channels </a:t>
            </a:r>
          </a:p>
          <a:p>
            <a:pPr marL="285750" indent="-285750">
              <a:buFont typeface="Arial" panose="020B0604020202020204" pitchFamily="34" charset="0"/>
              <a:buChar char="•"/>
            </a:pPr>
            <a:endParaRPr lang="en-IN" sz="1200" dirty="0">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Customized funnel performance to understand visitors’ behaviour over website</a:t>
            </a:r>
          </a:p>
          <a:p>
            <a:endParaRPr lang="en-IN" sz="1400" dirty="0">
              <a:latin typeface="Leelawadee" panose="020B0502040204020203" pitchFamily="34" charset="-34"/>
              <a:cs typeface="Leelawadee" panose="020B0502040204020203" pitchFamily="34" charset="-34"/>
            </a:endParaRPr>
          </a:p>
        </p:txBody>
      </p:sp>
      <p:sp>
        <p:nvSpPr>
          <p:cNvPr id="29" name="TextBox 28"/>
          <p:cNvSpPr txBox="1"/>
          <p:nvPr/>
        </p:nvSpPr>
        <p:spPr bwMode="gray">
          <a:xfrm>
            <a:off x="7785847" y="4073622"/>
            <a:ext cx="4226789" cy="1883029"/>
          </a:xfrm>
          <a:prstGeom prst="rect">
            <a:avLst/>
          </a:prstGeom>
        </p:spPr>
        <p:txBody>
          <a:bodyPr vert="horz" wrap="square" lIns="91440" tIns="45720" rIns="91440" bIns="45720" rtlCol="0" anchor="ctr">
            <a:noAutofit/>
          </a:bodyPr>
          <a:lstStyle/>
          <a:p>
            <a:r>
              <a:rPr lang="en-IN" sz="1400" dirty="0" smtClean="0">
                <a:latin typeface="Leelawadee" panose="020B0502040204020203" pitchFamily="34" charset="-34"/>
                <a:cs typeface="Leelawadee" panose="020B0502040204020203" pitchFamily="34" charset="-34"/>
              </a:rPr>
              <a:t>Example:</a:t>
            </a:r>
          </a:p>
          <a:p>
            <a:pPr marL="285750" indent="-285750">
              <a:buFont typeface="Arial" panose="020B0604020202020204" pitchFamily="34" charset="0"/>
              <a:buChar char="•"/>
            </a:pPr>
            <a:endParaRPr lang="en-IN" sz="1100" dirty="0">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Possible solutions to impediments faced by customer for micro-conversions on website – Lead Form / Customer  service etc. </a:t>
            </a:r>
          </a:p>
          <a:p>
            <a:endParaRPr lang="en-IN" sz="1400" dirty="0">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Suggestion on landing pages optimization &amp; website structure for improved lead conversion and engagement on website</a:t>
            </a:r>
            <a:endParaRPr lang="en-IN" sz="1400" dirty="0">
              <a:latin typeface="Leelawadee" panose="020B0502040204020203" pitchFamily="34" charset="-34"/>
              <a:cs typeface="Leelawadee" panose="020B0502040204020203" pitchFamily="34" charset="-34"/>
            </a:endParaRPr>
          </a:p>
        </p:txBody>
      </p:sp>
      <p:pic>
        <p:nvPicPr>
          <p:cNvPr id="30" name="Picture 29"/>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235961" y="3921014"/>
            <a:ext cx="4377496" cy="2030143"/>
          </a:xfrm>
          <a:prstGeom prst="rect">
            <a:avLst/>
          </a:prstGeom>
          <a:ln>
            <a:noFill/>
          </a:ln>
          <a:effectLst>
            <a:outerShdw blurRad="190500" algn="tl" rotWithShape="0">
              <a:srgbClr val="000000">
                <a:alpha val="70000"/>
              </a:srgbClr>
            </a:outerShdw>
          </a:effectLst>
        </p:spPr>
      </p:pic>
      <p:sp>
        <p:nvSpPr>
          <p:cNvPr id="31" name="TextBox 30"/>
          <p:cNvSpPr txBox="1"/>
          <p:nvPr/>
        </p:nvSpPr>
        <p:spPr bwMode="gray">
          <a:xfrm>
            <a:off x="-246364" y="5737978"/>
            <a:ext cx="3267632" cy="402619"/>
          </a:xfrm>
          <a:prstGeom prst="rect">
            <a:avLst/>
          </a:prstGeom>
        </p:spPr>
        <p:txBody>
          <a:bodyPr vert="horz" wrap="square" lIns="91440" tIns="45720" rIns="91440" bIns="45720" rtlCol="0" anchor="ctr">
            <a:noAutofit/>
          </a:bodyPr>
          <a:lstStyle/>
          <a:p>
            <a:pPr algn="ctr"/>
            <a:r>
              <a:rPr lang="en-IN" sz="1600" b="1" dirty="0" smtClean="0">
                <a:latin typeface="Leelawadee" panose="020B0502040204020203" pitchFamily="34" charset="-34"/>
                <a:cs typeface="Leelawadee" panose="020B0502040204020203" pitchFamily="34" charset="-34"/>
              </a:rPr>
              <a:t>……….</a:t>
            </a:r>
          </a:p>
        </p:txBody>
      </p:sp>
      <p:sp>
        <p:nvSpPr>
          <p:cNvPr id="32" name="TextBox 31"/>
          <p:cNvSpPr txBox="1"/>
          <p:nvPr/>
        </p:nvSpPr>
        <p:spPr bwMode="gray">
          <a:xfrm>
            <a:off x="1988343" y="874642"/>
            <a:ext cx="3267632" cy="402619"/>
          </a:xfrm>
          <a:prstGeom prst="rect">
            <a:avLst/>
          </a:prstGeom>
        </p:spPr>
        <p:txBody>
          <a:bodyPr vert="horz" wrap="square" lIns="91440" tIns="45720" rIns="91440" bIns="45720" rtlCol="0" anchor="ctr">
            <a:noAutofit/>
          </a:bodyPr>
          <a:lstStyle/>
          <a:p>
            <a:pPr algn="ctr"/>
            <a:r>
              <a:rPr lang="en-IN" sz="1600" b="1" dirty="0" smtClean="0">
                <a:latin typeface="Leelawadee" panose="020B0502040204020203" pitchFamily="34" charset="-34"/>
                <a:cs typeface="Leelawadee" panose="020B0502040204020203" pitchFamily="34" charset="-34"/>
              </a:rPr>
              <a:t>Standard Reports in Adobe</a:t>
            </a:r>
          </a:p>
        </p:txBody>
      </p:sp>
      <p:sp>
        <p:nvSpPr>
          <p:cNvPr id="33" name="Rounded Rectangle 32"/>
          <p:cNvSpPr/>
          <p:nvPr/>
        </p:nvSpPr>
        <p:spPr>
          <a:xfrm>
            <a:off x="7677060" y="861299"/>
            <a:ext cx="4257102" cy="2433577"/>
          </a:xfrm>
          <a:prstGeom prst="round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IN" sz="1600">
              <a:solidFill>
                <a:prstClr val="white"/>
              </a:solidFill>
              <a:latin typeface="Leelawadee" panose="020B0502040204020203" pitchFamily="34" charset="-34"/>
              <a:cs typeface="Leelawadee" panose="020B0502040204020203" pitchFamily="34" charset="-34"/>
            </a:endParaRPr>
          </a:p>
        </p:txBody>
      </p:sp>
      <p:sp>
        <p:nvSpPr>
          <p:cNvPr id="34" name="Rounded Rectangle 33"/>
          <p:cNvSpPr/>
          <p:nvPr/>
        </p:nvSpPr>
        <p:spPr>
          <a:xfrm>
            <a:off x="7650166" y="3848527"/>
            <a:ext cx="4346706" cy="2303742"/>
          </a:xfrm>
          <a:prstGeom prst="round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IN" sz="1600">
              <a:solidFill>
                <a:prstClr val="white"/>
              </a:solidFill>
              <a:latin typeface="Leelawadee" panose="020B0502040204020203" pitchFamily="34" charset="-34"/>
              <a:cs typeface="Leelawadee" panose="020B0502040204020203" pitchFamily="34" charset="-34"/>
            </a:endParaRPr>
          </a:p>
        </p:txBody>
      </p:sp>
      <p:sp>
        <p:nvSpPr>
          <p:cNvPr id="35" name="Right Arrow 34"/>
          <p:cNvSpPr/>
          <p:nvPr/>
        </p:nvSpPr>
        <p:spPr>
          <a:xfrm rot="5400000">
            <a:off x="9640020" y="3357621"/>
            <a:ext cx="366998" cy="409616"/>
          </a:xfrm>
          <a:prstGeom prst="rightArrow">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Leelawadee" panose="020B0502040204020203" pitchFamily="34" charset="-34"/>
              <a:cs typeface="Leelawadee" panose="020B0502040204020203" pitchFamily="34" charset="-34"/>
            </a:endParaRPr>
          </a:p>
        </p:txBody>
      </p:sp>
      <p:sp>
        <p:nvSpPr>
          <p:cNvPr id="36" name="Rounded Rectangle 35"/>
          <p:cNvSpPr/>
          <p:nvPr/>
        </p:nvSpPr>
        <p:spPr>
          <a:xfrm>
            <a:off x="192601" y="853172"/>
            <a:ext cx="6859117" cy="5331231"/>
          </a:xfrm>
          <a:prstGeom prst="round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IN" sz="1600">
              <a:solidFill>
                <a:prstClr val="white"/>
              </a:solidFill>
              <a:latin typeface="Leelawadee" panose="020B0502040204020203" pitchFamily="34" charset="-34"/>
              <a:cs typeface="Leelawadee" panose="020B0502040204020203" pitchFamily="34" charset="-34"/>
            </a:endParaRPr>
          </a:p>
        </p:txBody>
      </p:sp>
      <p:sp>
        <p:nvSpPr>
          <p:cNvPr id="37" name="Right Arrow 36"/>
          <p:cNvSpPr/>
          <p:nvPr/>
        </p:nvSpPr>
        <p:spPr>
          <a:xfrm>
            <a:off x="7173129" y="1836007"/>
            <a:ext cx="455837" cy="403477"/>
          </a:xfrm>
          <a:prstGeom prst="rightArrow">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Leelawadee" panose="020B0502040204020203" pitchFamily="34" charset="-34"/>
              <a:cs typeface="Leelawadee" panose="020B0502040204020203" pitchFamily="34" charset="-34"/>
            </a:endParaRPr>
          </a:p>
        </p:txBody>
      </p:sp>
    </p:spTree>
    <p:extLst>
      <p:ext uri="{BB962C8B-B14F-4D97-AF65-F5344CB8AC3E}">
        <p14:creationId xmlns:p14="http://schemas.microsoft.com/office/powerpoint/2010/main" val="197483721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237066"/>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2712680" y="291779"/>
              <a:ext cx="6766724"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Digital Analytics: Website Performance</a:t>
              </a:r>
            </a:p>
          </p:txBody>
        </p:sp>
      </p:grpSp>
      <p:sp>
        <p:nvSpPr>
          <p:cNvPr id="23" name="TextBox 22"/>
          <p:cNvSpPr txBox="1"/>
          <p:nvPr/>
        </p:nvSpPr>
        <p:spPr bwMode="gray">
          <a:xfrm>
            <a:off x="409263" y="2400685"/>
            <a:ext cx="2110955" cy="2279252"/>
          </a:xfrm>
          <a:prstGeom prst="rect">
            <a:avLst/>
          </a:prstGeom>
        </p:spPr>
        <p:txBody>
          <a:bodyPr vert="horz" wrap="square" lIns="91440" tIns="45720" rIns="91440" bIns="45720" rtlCol="0" anchor="ctr">
            <a:noAutofit/>
          </a:bodyPr>
          <a:lstStyle/>
          <a:p>
            <a:r>
              <a:rPr lang="en-IN" sz="1600" dirty="0" smtClean="0">
                <a:latin typeface="Leelawadee" panose="020B0502040204020203" pitchFamily="34" charset="-34"/>
                <a:cs typeface="Leelawadee" panose="020B0502040204020203" pitchFamily="34" charset="-34"/>
              </a:rPr>
              <a:t>Customized Report :</a:t>
            </a:r>
          </a:p>
          <a:p>
            <a:endParaRPr lang="en-IN" sz="1600" dirty="0" smtClean="0">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600" dirty="0" smtClean="0">
                <a:latin typeface="Leelawadee" panose="020B0502040204020203" pitchFamily="34" charset="-34"/>
                <a:cs typeface="Leelawadee" panose="020B0502040204020203" pitchFamily="34" charset="-34"/>
              </a:rPr>
              <a:t>Clickstream Data– Visitor level</a:t>
            </a:r>
          </a:p>
          <a:p>
            <a:pPr marL="285750" indent="-285750">
              <a:buFont typeface="Arial" panose="020B0604020202020204" pitchFamily="34" charset="0"/>
              <a:buChar char="•"/>
            </a:pPr>
            <a:endParaRPr lang="en-IN" sz="1600" dirty="0" smtClean="0">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600" dirty="0" smtClean="0">
                <a:latin typeface="Leelawadee" panose="020B0502040204020203" pitchFamily="34" charset="-34"/>
                <a:cs typeface="Leelawadee" panose="020B0502040204020203" pitchFamily="34" charset="-34"/>
              </a:rPr>
              <a:t>Fallout Report</a:t>
            </a:r>
          </a:p>
          <a:p>
            <a:pPr marL="285750" indent="-285750">
              <a:buFont typeface="Arial" panose="020B0604020202020204" pitchFamily="34" charset="0"/>
              <a:buChar char="•"/>
            </a:pPr>
            <a:endParaRPr lang="en-IN" sz="1600" dirty="0" smtClean="0">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600" dirty="0" smtClean="0">
                <a:latin typeface="Leelawadee" panose="020B0502040204020203" pitchFamily="34" charset="-34"/>
                <a:cs typeface="Leelawadee" panose="020B0502040204020203" pitchFamily="34" charset="-34"/>
              </a:rPr>
              <a:t>Page Reports  </a:t>
            </a:r>
          </a:p>
          <a:p>
            <a:pPr marL="285750" indent="-285750">
              <a:buFont typeface="Arial" panose="020B0604020202020204" pitchFamily="34" charset="0"/>
              <a:buChar char="•"/>
            </a:pPr>
            <a:endParaRPr lang="en-IN" sz="1600" dirty="0" smtClean="0">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600" dirty="0" smtClean="0">
                <a:latin typeface="Leelawadee" panose="020B0502040204020203" pitchFamily="34" charset="-34"/>
                <a:cs typeface="Leelawadee" panose="020B0502040204020203" pitchFamily="34" charset="-34"/>
              </a:rPr>
              <a:t>Event Data</a:t>
            </a:r>
          </a:p>
        </p:txBody>
      </p:sp>
      <p:sp>
        <p:nvSpPr>
          <p:cNvPr id="24" name="TextBox 23"/>
          <p:cNvSpPr txBox="1"/>
          <p:nvPr/>
        </p:nvSpPr>
        <p:spPr bwMode="gray">
          <a:xfrm>
            <a:off x="3757680" y="2126589"/>
            <a:ext cx="1468321" cy="672354"/>
          </a:xfrm>
          <a:prstGeom prst="rect">
            <a:avLst/>
          </a:prstGeom>
        </p:spPr>
        <p:txBody>
          <a:bodyPr vert="horz" wrap="square" lIns="91440" tIns="45720" rIns="91440" bIns="45720" rtlCol="0" anchor="ctr">
            <a:noAutofit/>
          </a:bodyPr>
          <a:lstStyle/>
          <a:p>
            <a:pPr algn="ctr"/>
            <a:r>
              <a:rPr lang="en-IN" sz="1600" b="1" dirty="0" smtClean="0">
                <a:solidFill>
                  <a:schemeClr val="tx2">
                    <a:lumMod val="75000"/>
                  </a:schemeClr>
                </a:solidFill>
                <a:latin typeface="Leelawadee" panose="020B0502040204020203" pitchFamily="34" charset="-34"/>
                <a:cs typeface="Leelawadee" panose="020B0502040204020203" pitchFamily="34" charset="-34"/>
              </a:rPr>
              <a:t>Markov Chain Model </a:t>
            </a:r>
          </a:p>
        </p:txBody>
      </p:sp>
      <p:sp>
        <p:nvSpPr>
          <p:cNvPr id="25" name="TextBox 24"/>
          <p:cNvSpPr txBox="1"/>
          <p:nvPr/>
        </p:nvSpPr>
        <p:spPr bwMode="gray">
          <a:xfrm>
            <a:off x="3873354" y="3269604"/>
            <a:ext cx="1468321" cy="533402"/>
          </a:xfrm>
          <a:prstGeom prst="rect">
            <a:avLst/>
          </a:prstGeom>
        </p:spPr>
        <p:txBody>
          <a:bodyPr vert="horz" wrap="square" lIns="91440" tIns="45720" rIns="91440" bIns="45720" rtlCol="0" anchor="ctr">
            <a:noAutofit/>
          </a:bodyPr>
          <a:lstStyle/>
          <a:p>
            <a:pPr algn="ctr"/>
            <a:r>
              <a:rPr lang="en-IN" sz="1600" b="1" dirty="0" smtClean="0">
                <a:solidFill>
                  <a:schemeClr val="accent5">
                    <a:lumMod val="75000"/>
                  </a:schemeClr>
                </a:solidFill>
                <a:latin typeface="Leelawadee" panose="020B0502040204020203" pitchFamily="34" charset="-34"/>
                <a:cs typeface="Leelawadee" panose="020B0502040204020203" pitchFamily="34" charset="-34"/>
              </a:rPr>
              <a:t>Visitor / Visit  Clustering </a:t>
            </a:r>
          </a:p>
        </p:txBody>
      </p:sp>
      <p:sp>
        <p:nvSpPr>
          <p:cNvPr id="26" name="TextBox 25"/>
          <p:cNvSpPr txBox="1"/>
          <p:nvPr/>
        </p:nvSpPr>
        <p:spPr bwMode="gray">
          <a:xfrm>
            <a:off x="6329170" y="3263519"/>
            <a:ext cx="1468321" cy="533402"/>
          </a:xfrm>
          <a:prstGeom prst="rect">
            <a:avLst/>
          </a:prstGeom>
        </p:spPr>
        <p:txBody>
          <a:bodyPr vert="horz" wrap="square" lIns="91440" tIns="45720" rIns="91440" bIns="45720" rtlCol="0" anchor="ctr">
            <a:noAutofit/>
          </a:bodyPr>
          <a:lstStyle/>
          <a:p>
            <a:pPr algn="ctr"/>
            <a:r>
              <a:rPr lang="en-IN" sz="1600" b="1" dirty="0" smtClean="0">
                <a:solidFill>
                  <a:schemeClr val="accent5">
                    <a:lumMod val="75000"/>
                  </a:schemeClr>
                </a:solidFill>
                <a:latin typeface="Leelawadee" panose="020B0502040204020203" pitchFamily="34" charset="-34"/>
                <a:cs typeface="Leelawadee" panose="020B0502040204020203" pitchFamily="34" charset="-34"/>
              </a:rPr>
              <a:t>Visitor Persona </a:t>
            </a:r>
          </a:p>
        </p:txBody>
      </p:sp>
      <p:sp>
        <p:nvSpPr>
          <p:cNvPr id="27" name="TextBox 26"/>
          <p:cNvSpPr txBox="1"/>
          <p:nvPr/>
        </p:nvSpPr>
        <p:spPr bwMode="gray">
          <a:xfrm>
            <a:off x="6257284" y="2126589"/>
            <a:ext cx="1468321" cy="533402"/>
          </a:xfrm>
          <a:prstGeom prst="rect">
            <a:avLst/>
          </a:prstGeom>
        </p:spPr>
        <p:txBody>
          <a:bodyPr vert="horz" wrap="square" lIns="91440" tIns="45720" rIns="91440" bIns="45720" rtlCol="0" anchor="ctr">
            <a:noAutofit/>
          </a:bodyPr>
          <a:lstStyle/>
          <a:p>
            <a:pPr algn="ctr"/>
            <a:r>
              <a:rPr lang="en-IN" sz="1600" b="1" dirty="0" smtClean="0">
                <a:solidFill>
                  <a:schemeClr val="tx2">
                    <a:lumMod val="75000"/>
                  </a:schemeClr>
                </a:solidFill>
                <a:latin typeface="Leelawadee" panose="020B0502040204020203" pitchFamily="34" charset="-34"/>
                <a:cs typeface="Leelawadee" panose="020B0502040204020203" pitchFamily="34" charset="-34"/>
              </a:rPr>
              <a:t>Optimized Paths </a:t>
            </a:r>
          </a:p>
        </p:txBody>
      </p:sp>
      <p:sp>
        <p:nvSpPr>
          <p:cNvPr id="28" name="TextBox 27"/>
          <p:cNvSpPr txBox="1"/>
          <p:nvPr/>
        </p:nvSpPr>
        <p:spPr bwMode="gray">
          <a:xfrm>
            <a:off x="8702131" y="1070594"/>
            <a:ext cx="2508952" cy="424966"/>
          </a:xfrm>
          <a:prstGeom prst="rect">
            <a:avLst/>
          </a:prstGeom>
        </p:spPr>
        <p:txBody>
          <a:bodyPr vert="horz" wrap="square" lIns="91440" tIns="45720" rIns="91440" bIns="45720" rtlCol="0" anchor="ctr">
            <a:noAutofit/>
          </a:bodyPr>
          <a:lstStyle/>
          <a:p>
            <a:pPr algn="ctr"/>
            <a:r>
              <a:rPr lang="en-IN" sz="1600" b="1" dirty="0" smtClean="0">
                <a:latin typeface="Leelawadee" panose="020B0502040204020203" pitchFamily="34" charset="-34"/>
                <a:cs typeface="Leelawadee" panose="020B0502040204020203" pitchFamily="34" charset="-34"/>
              </a:rPr>
              <a:t>Recommendations On</a:t>
            </a:r>
          </a:p>
        </p:txBody>
      </p:sp>
      <p:cxnSp>
        <p:nvCxnSpPr>
          <p:cNvPr id="29" name="Straight Arrow Connector 28"/>
          <p:cNvCxnSpPr/>
          <p:nvPr/>
        </p:nvCxnSpPr>
        <p:spPr>
          <a:xfrm flipV="1">
            <a:off x="2823703" y="2462766"/>
            <a:ext cx="807926" cy="131093"/>
          </a:xfrm>
          <a:prstGeom prst="straightConnector1">
            <a:avLst/>
          </a:prstGeom>
          <a:ln w="19050">
            <a:solidFill>
              <a:schemeClr val="bg2">
                <a:lumMod val="1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2823703" y="3516196"/>
            <a:ext cx="846358" cy="0"/>
          </a:xfrm>
          <a:prstGeom prst="straightConnector1">
            <a:avLst/>
          </a:prstGeom>
          <a:ln w="19050">
            <a:solidFill>
              <a:schemeClr val="bg2">
                <a:lumMod val="1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338660" y="2462766"/>
            <a:ext cx="918623" cy="0"/>
          </a:xfrm>
          <a:prstGeom prst="straightConnector1">
            <a:avLst/>
          </a:prstGeom>
          <a:ln w="19050">
            <a:solidFill>
              <a:schemeClr val="bg2">
                <a:lumMod val="1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5518146" y="3516196"/>
            <a:ext cx="918623" cy="0"/>
          </a:xfrm>
          <a:prstGeom prst="straightConnector1">
            <a:avLst/>
          </a:prstGeom>
          <a:ln w="19050">
            <a:solidFill>
              <a:schemeClr val="bg2">
                <a:lumMod val="1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bwMode="gray">
          <a:xfrm>
            <a:off x="6438793" y="4402676"/>
            <a:ext cx="1468321" cy="533402"/>
          </a:xfrm>
          <a:prstGeom prst="rect">
            <a:avLst/>
          </a:prstGeom>
        </p:spPr>
        <p:txBody>
          <a:bodyPr vert="horz" wrap="square" lIns="91440" tIns="45720" rIns="91440" bIns="45720" rtlCol="0" anchor="ctr">
            <a:noAutofit/>
          </a:bodyPr>
          <a:lstStyle/>
          <a:p>
            <a:pPr algn="ctr"/>
            <a:r>
              <a:rPr lang="en-IN" sz="1600" b="1" dirty="0" smtClean="0">
                <a:solidFill>
                  <a:schemeClr val="accent6">
                    <a:lumMod val="50000"/>
                  </a:schemeClr>
                </a:solidFill>
                <a:latin typeface="Leelawadee" panose="020B0502040204020203" pitchFamily="34" charset="-34"/>
                <a:cs typeface="Leelawadee" panose="020B0502040204020203" pitchFamily="34" charset="-34"/>
              </a:rPr>
              <a:t>Website Feature Analysis</a:t>
            </a:r>
          </a:p>
        </p:txBody>
      </p:sp>
      <p:cxnSp>
        <p:nvCxnSpPr>
          <p:cNvPr id="34" name="Straight Arrow Connector 33"/>
          <p:cNvCxnSpPr/>
          <p:nvPr/>
        </p:nvCxnSpPr>
        <p:spPr>
          <a:xfrm>
            <a:off x="2823703" y="4402675"/>
            <a:ext cx="807926" cy="182569"/>
          </a:xfrm>
          <a:prstGeom prst="straightConnector1">
            <a:avLst/>
          </a:prstGeom>
          <a:ln w="19050">
            <a:solidFill>
              <a:schemeClr val="bg2">
                <a:lumMod val="1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bwMode="gray">
          <a:xfrm>
            <a:off x="8732054" y="2137615"/>
            <a:ext cx="2236991" cy="424966"/>
          </a:xfrm>
          <a:prstGeom prst="rect">
            <a:avLst/>
          </a:prstGeom>
        </p:spPr>
        <p:txBody>
          <a:bodyPr vert="horz" wrap="square" lIns="91440" tIns="45720" rIns="91440" bIns="45720" rtlCol="0" anchor="ctr">
            <a:noAutofit/>
          </a:bodyPr>
          <a:lstStyle/>
          <a:p>
            <a:pPr algn="ctr"/>
            <a:r>
              <a:rPr lang="en-IN" sz="1600" b="1" dirty="0" smtClean="0">
                <a:solidFill>
                  <a:schemeClr val="tx2">
                    <a:lumMod val="75000"/>
                  </a:schemeClr>
                </a:solidFill>
                <a:latin typeface="Leelawadee" panose="020B0502040204020203" pitchFamily="34" charset="-34"/>
                <a:cs typeface="Leelawadee" panose="020B0502040204020203" pitchFamily="34" charset="-34"/>
              </a:rPr>
              <a:t>Website Structure </a:t>
            </a:r>
          </a:p>
        </p:txBody>
      </p:sp>
      <p:sp>
        <p:nvSpPr>
          <p:cNvPr id="36" name="TextBox 35"/>
          <p:cNvSpPr txBox="1"/>
          <p:nvPr/>
        </p:nvSpPr>
        <p:spPr bwMode="gray">
          <a:xfrm>
            <a:off x="3873354" y="4402675"/>
            <a:ext cx="1468321" cy="533402"/>
          </a:xfrm>
          <a:prstGeom prst="rect">
            <a:avLst/>
          </a:prstGeom>
        </p:spPr>
        <p:txBody>
          <a:bodyPr vert="horz" wrap="square" lIns="91440" tIns="45720" rIns="91440" bIns="45720" rtlCol="0" anchor="ctr">
            <a:noAutofit/>
          </a:bodyPr>
          <a:lstStyle/>
          <a:p>
            <a:pPr algn="ctr"/>
            <a:r>
              <a:rPr lang="en-IN" sz="1600" b="1" dirty="0" smtClean="0">
                <a:solidFill>
                  <a:schemeClr val="accent6">
                    <a:lumMod val="50000"/>
                  </a:schemeClr>
                </a:solidFill>
                <a:latin typeface="Leelawadee" panose="020B0502040204020203" pitchFamily="34" charset="-34"/>
                <a:cs typeface="Leelawadee" panose="020B0502040204020203" pitchFamily="34" charset="-34"/>
              </a:rPr>
              <a:t>Multivariate Regression </a:t>
            </a:r>
          </a:p>
        </p:txBody>
      </p:sp>
      <p:cxnSp>
        <p:nvCxnSpPr>
          <p:cNvPr id="37" name="Straight Arrow Connector 36"/>
          <p:cNvCxnSpPr/>
          <p:nvPr/>
        </p:nvCxnSpPr>
        <p:spPr>
          <a:xfrm>
            <a:off x="5475844" y="4628633"/>
            <a:ext cx="869750" cy="11232"/>
          </a:xfrm>
          <a:prstGeom prst="straightConnector1">
            <a:avLst/>
          </a:prstGeom>
          <a:ln w="19050">
            <a:solidFill>
              <a:schemeClr val="bg2">
                <a:lumMod val="1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bwMode="gray">
          <a:xfrm>
            <a:off x="8689420" y="3269604"/>
            <a:ext cx="2236991" cy="424966"/>
          </a:xfrm>
          <a:prstGeom prst="rect">
            <a:avLst/>
          </a:prstGeom>
        </p:spPr>
        <p:txBody>
          <a:bodyPr vert="horz" wrap="square" lIns="91440" tIns="45720" rIns="91440" bIns="45720" rtlCol="0" anchor="ctr">
            <a:noAutofit/>
          </a:bodyPr>
          <a:lstStyle/>
          <a:p>
            <a:pPr algn="ctr"/>
            <a:r>
              <a:rPr lang="en-IN" sz="1600" b="1" dirty="0" smtClean="0">
                <a:solidFill>
                  <a:schemeClr val="accent5">
                    <a:lumMod val="75000"/>
                  </a:schemeClr>
                </a:solidFill>
                <a:latin typeface="Leelawadee" panose="020B0502040204020203" pitchFamily="34" charset="-34"/>
                <a:cs typeface="Leelawadee" panose="020B0502040204020203" pitchFamily="34" charset="-34"/>
              </a:rPr>
              <a:t>Targeting for Marketing Campaigns </a:t>
            </a:r>
          </a:p>
        </p:txBody>
      </p:sp>
      <p:sp>
        <p:nvSpPr>
          <p:cNvPr id="39" name="TextBox 38"/>
          <p:cNvSpPr txBox="1"/>
          <p:nvPr/>
        </p:nvSpPr>
        <p:spPr bwMode="gray">
          <a:xfrm>
            <a:off x="9040587" y="4391524"/>
            <a:ext cx="1619923" cy="424966"/>
          </a:xfrm>
          <a:prstGeom prst="rect">
            <a:avLst/>
          </a:prstGeom>
        </p:spPr>
        <p:txBody>
          <a:bodyPr vert="horz" wrap="square" lIns="91440" tIns="45720" rIns="91440" bIns="45720" rtlCol="0" anchor="ctr">
            <a:noAutofit/>
          </a:bodyPr>
          <a:lstStyle/>
          <a:p>
            <a:pPr algn="ctr"/>
            <a:r>
              <a:rPr lang="en-IN" sz="1600" b="1" dirty="0" smtClean="0">
                <a:solidFill>
                  <a:schemeClr val="accent6">
                    <a:lumMod val="50000"/>
                  </a:schemeClr>
                </a:solidFill>
                <a:latin typeface="Leelawadee" panose="020B0502040204020203" pitchFamily="34" charset="-34"/>
                <a:cs typeface="Leelawadee" panose="020B0502040204020203" pitchFamily="34" charset="-34"/>
              </a:rPr>
              <a:t>Website Structure / UX </a:t>
            </a:r>
          </a:p>
        </p:txBody>
      </p:sp>
      <p:sp>
        <p:nvSpPr>
          <p:cNvPr id="41" name="TextBox 40"/>
          <p:cNvSpPr txBox="1"/>
          <p:nvPr/>
        </p:nvSpPr>
        <p:spPr bwMode="gray">
          <a:xfrm>
            <a:off x="3373344" y="1129266"/>
            <a:ext cx="2236991" cy="424966"/>
          </a:xfrm>
          <a:prstGeom prst="rect">
            <a:avLst/>
          </a:prstGeom>
        </p:spPr>
        <p:txBody>
          <a:bodyPr vert="horz" wrap="square" lIns="91440" tIns="45720" rIns="91440" bIns="45720" rtlCol="0" anchor="ctr">
            <a:noAutofit/>
          </a:bodyPr>
          <a:lstStyle/>
          <a:p>
            <a:pPr algn="ctr"/>
            <a:r>
              <a:rPr lang="en-IN" sz="1600" b="1" dirty="0" smtClean="0">
                <a:latin typeface="Leelawadee" panose="020B0502040204020203" pitchFamily="34" charset="-34"/>
                <a:cs typeface="Leelawadee" panose="020B0502040204020203" pitchFamily="34" charset="-34"/>
              </a:rPr>
              <a:t>Analysis</a:t>
            </a:r>
          </a:p>
          <a:p>
            <a:pPr algn="ctr"/>
            <a:r>
              <a:rPr lang="en-IN" sz="1600" b="1" dirty="0" smtClean="0">
                <a:latin typeface="Leelawadee" panose="020B0502040204020203" pitchFamily="34" charset="-34"/>
                <a:cs typeface="Leelawadee" panose="020B0502040204020203" pitchFamily="34" charset="-34"/>
              </a:rPr>
              <a:t>Techniques </a:t>
            </a:r>
          </a:p>
        </p:txBody>
      </p:sp>
      <p:sp>
        <p:nvSpPr>
          <p:cNvPr id="42" name="TextBox 41"/>
          <p:cNvSpPr txBox="1"/>
          <p:nvPr/>
        </p:nvSpPr>
        <p:spPr bwMode="gray">
          <a:xfrm>
            <a:off x="5872948" y="1040038"/>
            <a:ext cx="2236991" cy="424966"/>
          </a:xfrm>
          <a:prstGeom prst="rect">
            <a:avLst/>
          </a:prstGeom>
        </p:spPr>
        <p:txBody>
          <a:bodyPr vert="horz" wrap="square" lIns="91440" tIns="45720" rIns="91440" bIns="45720" rtlCol="0" anchor="ctr">
            <a:noAutofit/>
          </a:bodyPr>
          <a:lstStyle/>
          <a:p>
            <a:pPr algn="ctr"/>
            <a:r>
              <a:rPr lang="en-IN" sz="1600" b="1" dirty="0" smtClean="0">
                <a:latin typeface="Leelawadee" panose="020B0502040204020203" pitchFamily="34" charset="-34"/>
                <a:cs typeface="Leelawadee" panose="020B0502040204020203" pitchFamily="34" charset="-34"/>
              </a:rPr>
              <a:t>Output</a:t>
            </a:r>
          </a:p>
        </p:txBody>
      </p:sp>
      <p:cxnSp>
        <p:nvCxnSpPr>
          <p:cNvPr id="43" name="Straight Arrow Connector 42"/>
          <p:cNvCxnSpPr/>
          <p:nvPr/>
        </p:nvCxnSpPr>
        <p:spPr>
          <a:xfrm>
            <a:off x="7723263" y="2426908"/>
            <a:ext cx="918623" cy="0"/>
          </a:xfrm>
          <a:prstGeom prst="straightConnector1">
            <a:avLst/>
          </a:prstGeom>
          <a:ln w="19050">
            <a:solidFill>
              <a:schemeClr val="bg2">
                <a:lumMod val="1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a:off x="7902749" y="3480338"/>
            <a:ext cx="918623" cy="0"/>
          </a:xfrm>
          <a:prstGeom prst="straightConnector1">
            <a:avLst/>
          </a:prstGeom>
          <a:ln w="19050">
            <a:solidFill>
              <a:schemeClr val="bg2">
                <a:lumMod val="1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7860447" y="4592775"/>
            <a:ext cx="869750" cy="11232"/>
          </a:xfrm>
          <a:prstGeom prst="straightConnector1">
            <a:avLst/>
          </a:prstGeom>
          <a:ln w="19050">
            <a:solidFill>
              <a:schemeClr val="bg2">
                <a:lumMod val="1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bwMode="gray">
          <a:xfrm>
            <a:off x="512004" y="1089241"/>
            <a:ext cx="1873194" cy="424966"/>
          </a:xfrm>
          <a:prstGeom prst="rect">
            <a:avLst/>
          </a:prstGeom>
        </p:spPr>
        <p:txBody>
          <a:bodyPr vert="horz" wrap="square" lIns="91440" tIns="45720" rIns="91440" bIns="45720" rtlCol="0" anchor="ctr">
            <a:noAutofit/>
          </a:bodyPr>
          <a:lstStyle/>
          <a:p>
            <a:pPr algn="ctr"/>
            <a:r>
              <a:rPr lang="en-IN" sz="1600" b="1" dirty="0" smtClean="0">
                <a:latin typeface="Leelawadee" panose="020B0502040204020203" pitchFamily="34" charset="-34"/>
                <a:cs typeface="Leelawadee" panose="020B0502040204020203" pitchFamily="34" charset="-34"/>
              </a:rPr>
              <a:t>Input from Adobe Analytics</a:t>
            </a:r>
          </a:p>
        </p:txBody>
      </p:sp>
      <p:sp>
        <p:nvSpPr>
          <p:cNvPr id="47" name="Rounded Rectangle 46"/>
          <p:cNvSpPr/>
          <p:nvPr/>
        </p:nvSpPr>
        <p:spPr>
          <a:xfrm>
            <a:off x="274096" y="2072128"/>
            <a:ext cx="2326060" cy="2958353"/>
          </a:xfrm>
          <a:prstGeom prst="round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IN" sz="1600">
              <a:solidFill>
                <a:prstClr val="white"/>
              </a:solidFill>
              <a:latin typeface="Leelawadee" panose="020B0502040204020203" pitchFamily="34" charset="-34"/>
              <a:cs typeface="Leelawadee" panose="020B0502040204020203" pitchFamily="34" charset="-34"/>
            </a:endParaRPr>
          </a:p>
        </p:txBody>
      </p:sp>
      <p:cxnSp>
        <p:nvCxnSpPr>
          <p:cNvPr id="48" name="Straight Connector 47"/>
          <p:cNvCxnSpPr/>
          <p:nvPr/>
        </p:nvCxnSpPr>
        <p:spPr>
          <a:xfrm>
            <a:off x="512004" y="1648677"/>
            <a:ext cx="112676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Elbow Connector 48"/>
          <p:cNvCxnSpPr/>
          <p:nvPr/>
        </p:nvCxnSpPr>
        <p:spPr>
          <a:xfrm rot="10800000" flipV="1">
            <a:off x="1398495" y="3480337"/>
            <a:ext cx="9991167" cy="2289732"/>
          </a:xfrm>
          <a:prstGeom prst="bentConnector3">
            <a:avLst>
              <a:gd name="adj1" fmla="val -3298"/>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flipV="1">
            <a:off x="1398494" y="5191845"/>
            <a:ext cx="1" cy="578225"/>
          </a:xfrm>
          <a:prstGeom prst="straightConnector1">
            <a:avLst/>
          </a:prstGeom>
          <a:ln>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53" idx="1"/>
          </p:cNvCxnSpPr>
          <p:nvPr/>
        </p:nvCxnSpPr>
        <p:spPr>
          <a:xfrm>
            <a:off x="11261668" y="3480336"/>
            <a:ext cx="146097" cy="0"/>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bwMode="gray">
          <a:xfrm>
            <a:off x="4795668" y="5905478"/>
            <a:ext cx="3037817" cy="174812"/>
          </a:xfrm>
          <a:prstGeom prst="rect">
            <a:avLst/>
          </a:prstGeom>
        </p:spPr>
        <p:txBody>
          <a:bodyPr vert="horz" wrap="square" lIns="91440" tIns="45720" rIns="91440" bIns="45720" rtlCol="0" anchor="ctr">
            <a:noAutofit/>
          </a:bodyPr>
          <a:lstStyle/>
          <a:p>
            <a:pPr algn="ctr"/>
            <a:r>
              <a:rPr lang="en-IN" sz="1400" dirty="0" smtClean="0"/>
              <a:t>Feedback</a:t>
            </a:r>
          </a:p>
        </p:txBody>
      </p:sp>
      <p:sp>
        <p:nvSpPr>
          <p:cNvPr id="53" name="Right Brace 52"/>
          <p:cNvSpPr/>
          <p:nvPr/>
        </p:nvSpPr>
        <p:spPr>
          <a:xfrm>
            <a:off x="11039974" y="2213522"/>
            <a:ext cx="221694" cy="2533627"/>
          </a:xfrm>
          <a:prstGeom prst="rightBrac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360111806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9072632" y="6369244"/>
            <a:ext cx="2743200" cy="365125"/>
          </a:xfrm>
        </p:spPr>
        <p:txBody>
          <a:bodyPr/>
          <a:lstStyle/>
          <a:p>
            <a:fld id="{D57F1E4F-1CFF-5643-939E-217C01CDF565}" type="slidenum">
              <a:rPr lang="en-US" smtClean="0">
                <a:solidFill>
                  <a:srgbClr val="0E5580"/>
                </a:solidFill>
              </a:rPr>
              <a:pPr/>
              <a:t>15</a:t>
            </a:fld>
            <a:endParaRPr lang="en-US" dirty="0">
              <a:solidFill>
                <a:srgbClr val="0E5580"/>
              </a:solidFill>
            </a:endParaRPr>
          </a:p>
        </p:txBody>
      </p:sp>
      <p:sp>
        <p:nvSpPr>
          <p:cNvPr id="5" name="Text Placeholder 4"/>
          <p:cNvSpPr>
            <a:spLocks noGrp="1"/>
          </p:cNvSpPr>
          <p:nvPr>
            <p:ph type="body" sz="quarter" idx="13"/>
          </p:nvPr>
        </p:nvSpPr>
        <p:spPr/>
        <p:txBody>
          <a:bodyPr>
            <a:normAutofit/>
          </a:bodyPr>
          <a:lstStyle/>
          <a:p>
            <a:r>
              <a:rPr lang="en-IN" dirty="0" smtClean="0"/>
              <a:t> </a:t>
            </a:r>
            <a:endParaRPr lang="en-IN" dirty="0"/>
          </a:p>
        </p:txBody>
      </p:sp>
      <p:sp>
        <p:nvSpPr>
          <p:cNvPr id="33" name="TextBox 32"/>
          <p:cNvSpPr txBox="1"/>
          <p:nvPr/>
        </p:nvSpPr>
        <p:spPr bwMode="gray">
          <a:xfrm>
            <a:off x="6545998" y="1830849"/>
            <a:ext cx="2091938" cy="254064"/>
          </a:xfrm>
          <a:prstGeom prst="rect">
            <a:avLst/>
          </a:prstGeom>
        </p:spPr>
        <p:txBody>
          <a:bodyPr vert="horz" wrap="square" lIns="91440" tIns="45720" rIns="91440" bIns="45720" rtlCol="0" anchor="ctr">
            <a:noAutofit/>
          </a:bodyPr>
          <a:lstStyle/>
          <a:p>
            <a:pPr algn="ctr"/>
            <a:endParaRPr lang="en-IN" sz="1600" b="1" dirty="0">
              <a:solidFill>
                <a:prstClr val="black"/>
              </a:solidFill>
            </a:endParaRPr>
          </a:p>
        </p:txBody>
      </p:sp>
      <p:grpSp>
        <p:nvGrpSpPr>
          <p:cNvPr id="35" name="Group 34"/>
          <p:cNvGrpSpPr/>
          <p:nvPr/>
        </p:nvGrpSpPr>
        <p:grpSpPr>
          <a:xfrm>
            <a:off x="1" y="267843"/>
            <a:ext cx="12192000" cy="461665"/>
            <a:chOff x="1" y="322556"/>
            <a:chExt cx="12192000" cy="461665"/>
          </a:xfrm>
        </p:grpSpPr>
        <p:cxnSp>
          <p:nvCxnSpPr>
            <p:cNvPr id="37" name="Straight Connector 36"/>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8" name="Rectangle 37"/>
            <p:cNvSpPr/>
            <p:nvPr/>
          </p:nvSpPr>
          <p:spPr>
            <a:xfrm>
              <a:off x="1617974" y="322556"/>
              <a:ext cx="8956106" cy="461665"/>
            </a:xfrm>
            <a:prstGeom prst="rect">
              <a:avLst/>
            </a:prstGeom>
            <a:solidFill>
              <a:schemeClr val="bg1"/>
            </a:solidFill>
          </p:spPr>
          <p:txBody>
            <a:bodyPr wrap="none" anchor="ctr">
              <a:spAutoFit/>
            </a:bodyPr>
            <a:lstStyle/>
            <a:p>
              <a:pPr algn="ctr"/>
              <a:r>
                <a:rPr lang="en-IN" sz="2400" b="1" dirty="0" smtClean="0">
                  <a:solidFill>
                    <a:srgbClr val="0070C0"/>
                  </a:solidFill>
                  <a:latin typeface="Leelawadee UI" panose="020B0502040204020203" pitchFamily="34" charset="-34"/>
                  <a:cs typeface="Leelawadee UI" panose="020B0502040204020203" pitchFamily="34" charset="-34"/>
                </a:rPr>
                <a:t>Tableau </a:t>
              </a:r>
              <a:r>
                <a:rPr lang="en-IN" sz="2400" b="1" dirty="0" smtClean="0">
                  <a:solidFill>
                    <a:srgbClr val="0070C0"/>
                  </a:solidFill>
                  <a:latin typeface="Leelawadee UI" panose="020B0502040204020203" pitchFamily="34" charset="-34"/>
                  <a:cs typeface="Leelawadee UI" panose="020B0502040204020203" pitchFamily="34" charset="-34"/>
                </a:rPr>
                <a:t>Case Study 1 </a:t>
              </a:r>
              <a:r>
                <a:rPr lang="en-IN" sz="2400" b="1" dirty="0">
                  <a:solidFill>
                    <a:srgbClr val="0070C0"/>
                  </a:solidFill>
                  <a:latin typeface="Leelawadee UI" panose="020B0502040204020203" pitchFamily="34" charset="-34"/>
                  <a:cs typeface="Leelawadee UI" panose="020B0502040204020203" pitchFamily="34" charset="-34"/>
                </a:rPr>
                <a:t>:  </a:t>
              </a:r>
              <a:r>
                <a:rPr lang="en-IN" sz="2400" b="1" dirty="0">
                  <a:solidFill>
                    <a:schemeClr val="bg1">
                      <a:lumMod val="50000"/>
                    </a:schemeClr>
                  </a:solidFill>
                  <a:latin typeface="Leelawadee UI" panose="020B0502040204020203" pitchFamily="34" charset="-34"/>
                  <a:cs typeface="Leelawadee UI" panose="020B0502040204020203" pitchFamily="34" charset="-34"/>
                </a:rPr>
                <a:t>Campaign Performance </a:t>
              </a:r>
              <a:r>
                <a:rPr lang="en-IN" sz="2400" b="1" dirty="0" smtClean="0">
                  <a:solidFill>
                    <a:schemeClr val="bg1">
                      <a:lumMod val="50000"/>
                    </a:schemeClr>
                  </a:solidFill>
                  <a:latin typeface="Leelawadee UI" panose="020B0502040204020203" pitchFamily="34" charset="-34"/>
                  <a:cs typeface="Leelawadee UI" panose="020B0502040204020203" pitchFamily="34" charset="-34"/>
                </a:rPr>
                <a:t>– Group wide</a:t>
              </a:r>
              <a:endParaRPr lang="en-IN" sz="2400" b="1" dirty="0">
                <a:solidFill>
                  <a:schemeClr val="bg1">
                    <a:lumMod val="50000"/>
                  </a:schemeClr>
                </a:solidFill>
                <a:latin typeface="Leelawadee UI" panose="020B0502040204020203" pitchFamily="34" charset="-34"/>
                <a:cs typeface="Leelawadee UI" panose="020B0502040204020203" pitchFamily="34" charset="-34"/>
              </a:endParaRPr>
            </a:p>
          </p:txBody>
        </p:sp>
      </p:grpSp>
      <p:grpSp>
        <p:nvGrpSpPr>
          <p:cNvPr id="39" name="Group 38"/>
          <p:cNvGrpSpPr/>
          <p:nvPr/>
        </p:nvGrpSpPr>
        <p:grpSpPr>
          <a:xfrm>
            <a:off x="0" y="855655"/>
            <a:ext cx="11941784" cy="479192"/>
            <a:chOff x="2275096" y="1046125"/>
            <a:chExt cx="9321573" cy="479192"/>
          </a:xfrm>
        </p:grpSpPr>
        <p:sp>
          <p:nvSpPr>
            <p:cNvPr id="40" name="Pentagon 39"/>
            <p:cNvSpPr/>
            <p:nvPr/>
          </p:nvSpPr>
          <p:spPr>
            <a:xfrm>
              <a:off x="4899023" y="1046125"/>
              <a:ext cx="6697646" cy="479192"/>
            </a:xfrm>
            <a:prstGeom prst="homePlat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prstClr val="white"/>
                  </a:solidFill>
                  <a:latin typeface="Leelawadee UI" panose="020B0502040204020203" pitchFamily="34" charset="-34"/>
                  <a:cs typeface="Leelawadee UI" panose="020B0502040204020203" pitchFamily="34" charset="-34"/>
                </a:rPr>
                <a:t> Methodology</a:t>
              </a:r>
            </a:p>
          </p:txBody>
        </p:sp>
        <p:sp>
          <p:nvSpPr>
            <p:cNvPr id="41" name="Pentagon 40"/>
            <p:cNvSpPr/>
            <p:nvPr/>
          </p:nvSpPr>
          <p:spPr>
            <a:xfrm>
              <a:off x="2275096" y="1046125"/>
              <a:ext cx="3432377" cy="479192"/>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prstClr val="white"/>
                  </a:solidFill>
                  <a:latin typeface="Leelawadee UI" panose="020B0502040204020203" pitchFamily="34" charset="-34"/>
                  <a:cs typeface="Leelawadee UI" panose="020B0502040204020203" pitchFamily="34" charset="-34"/>
                </a:rPr>
                <a:t>Background</a:t>
              </a:r>
            </a:p>
          </p:txBody>
        </p:sp>
      </p:grpSp>
      <p:sp>
        <p:nvSpPr>
          <p:cNvPr id="42" name="Rectangle 41"/>
          <p:cNvSpPr/>
          <p:nvPr/>
        </p:nvSpPr>
        <p:spPr>
          <a:xfrm>
            <a:off x="11597485" y="855655"/>
            <a:ext cx="594515" cy="47919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b="1">
              <a:solidFill>
                <a:prstClr val="white"/>
              </a:solidFill>
              <a:latin typeface="Leelawadee UI" panose="020B0502040204020203" pitchFamily="34" charset="-34"/>
              <a:cs typeface="Leelawadee UI" panose="020B0502040204020203" pitchFamily="34" charset="-34"/>
            </a:endParaRPr>
          </a:p>
        </p:txBody>
      </p:sp>
      <p:sp>
        <p:nvSpPr>
          <p:cNvPr id="44" name="Rounded Rectangle 43"/>
          <p:cNvSpPr/>
          <p:nvPr/>
        </p:nvSpPr>
        <p:spPr>
          <a:xfrm>
            <a:off x="269567" y="1597744"/>
            <a:ext cx="3754496" cy="4962964"/>
          </a:xfrm>
          <a:prstGeom prst="roundRect">
            <a:avLst/>
          </a:prstGeom>
          <a:noFill/>
          <a:ln>
            <a:solidFill>
              <a:schemeClr val="tx1">
                <a:lumMod val="95000"/>
                <a:lumOff val="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9" name="Rectangle 8"/>
          <p:cNvSpPr/>
          <p:nvPr/>
        </p:nvSpPr>
        <p:spPr>
          <a:xfrm>
            <a:off x="617406" y="1794732"/>
            <a:ext cx="3227203" cy="5693866"/>
          </a:xfrm>
          <a:prstGeom prst="rect">
            <a:avLst/>
          </a:prstGeom>
        </p:spPr>
        <p:txBody>
          <a:bodyPr wrap="square">
            <a:spAutoFit/>
          </a:bodyPr>
          <a:lstStyle/>
          <a:p>
            <a:r>
              <a:rPr lang="en-IN" sz="1400" b="1" dirty="0" smtClean="0">
                <a:solidFill>
                  <a:prstClr val="black"/>
                </a:solidFill>
                <a:latin typeface="Leelawadee" panose="020B0502040204020203" pitchFamily="34" charset="-34"/>
                <a:cs typeface="Leelawadee" panose="020B0502040204020203" pitchFamily="34" charset="-34"/>
              </a:rPr>
              <a:t>Objective</a:t>
            </a:r>
            <a:r>
              <a:rPr lang="en-IN" sz="1400" dirty="0" smtClean="0">
                <a:solidFill>
                  <a:prstClr val="black"/>
                </a:solidFill>
                <a:latin typeface="Leelawadee" panose="020B0502040204020203" pitchFamily="34" charset="-34"/>
                <a:cs typeface="Leelawadee" panose="020B0502040204020203" pitchFamily="34" charset="-34"/>
              </a:rPr>
              <a:t>:</a:t>
            </a:r>
          </a:p>
          <a:p>
            <a:r>
              <a:rPr lang="en-IN" sz="1400" dirty="0" smtClean="0">
                <a:solidFill>
                  <a:prstClr val="black"/>
                </a:solidFill>
                <a:latin typeface="Leelawadee" panose="020B0502040204020203" pitchFamily="34" charset="-34"/>
                <a:cs typeface="Leelawadee" panose="020B0502040204020203" pitchFamily="34" charset="-34"/>
              </a:rPr>
              <a:t>Tata </a:t>
            </a:r>
            <a:r>
              <a:rPr lang="en-IN" sz="1400" dirty="0">
                <a:solidFill>
                  <a:prstClr val="black"/>
                </a:solidFill>
                <a:latin typeface="Leelawadee" panose="020B0502040204020203" pitchFamily="34" charset="-34"/>
                <a:cs typeface="Leelawadee" panose="020B0502040204020203" pitchFamily="34" charset="-34"/>
              </a:rPr>
              <a:t>Group wants to analyse the performance of ‘Shop Share &amp; Smile’ Program. </a:t>
            </a:r>
          </a:p>
          <a:p>
            <a:endParaRPr lang="en-IN" sz="1400" dirty="0" smtClean="0">
              <a:solidFill>
                <a:prstClr val="black"/>
              </a:solidFill>
              <a:latin typeface="Leelawadee" panose="020B0502040204020203" pitchFamily="34" charset="-34"/>
              <a:cs typeface="Leelawadee" panose="020B0502040204020203" pitchFamily="34" charset="-34"/>
            </a:endParaRPr>
          </a:p>
          <a:p>
            <a:endParaRPr lang="en-IN" sz="1400" dirty="0">
              <a:solidFill>
                <a:prstClr val="black"/>
              </a:solidFill>
              <a:latin typeface="Leelawadee" panose="020B0502040204020203" pitchFamily="34" charset="-34"/>
              <a:cs typeface="Leelawadee" panose="020B0502040204020203" pitchFamily="34" charset="-34"/>
            </a:endParaRPr>
          </a:p>
          <a:p>
            <a:r>
              <a:rPr lang="en-IN" sz="1400" b="1" dirty="0">
                <a:solidFill>
                  <a:prstClr val="black"/>
                </a:solidFill>
                <a:latin typeface="Leelawadee" panose="020B0502040204020203" pitchFamily="34" charset="-34"/>
                <a:cs typeface="Leelawadee" panose="020B0502040204020203" pitchFamily="34" charset="-34"/>
              </a:rPr>
              <a:t>Solution</a:t>
            </a:r>
            <a:r>
              <a:rPr lang="en-IN" sz="1400" b="1" dirty="0" smtClean="0">
                <a:solidFill>
                  <a:prstClr val="black"/>
                </a:solidFill>
                <a:latin typeface="Leelawadee" panose="020B0502040204020203" pitchFamily="34" charset="-34"/>
                <a:cs typeface="Leelawadee" panose="020B0502040204020203" pitchFamily="34" charset="-34"/>
              </a:rPr>
              <a:t>:</a:t>
            </a:r>
          </a:p>
          <a:p>
            <a:r>
              <a:rPr lang="en-IN" sz="1400" dirty="0" smtClean="0">
                <a:solidFill>
                  <a:prstClr val="black"/>
                </a:solidFill>
                <a:latin typeface="Leelawadee" panose="020B0502040204020203" pitchFamily="34" charset="-34"/>
                <a:cs typeface="Leelawadee" panose="020B0502040204020203" pitchFamily="34" charset="-34"/>
              </a:rPr>
              <a:t>Tableau </a:t>
            </a:r>
            <a:r>
              <a:rPr lang="en-IN" sz="1400" dirty="0">
                <a:solidFill>
                  <a:prstClr val="black"/>
                </a:solidFill>
                <a:latin typeface="Leelawadee" panose="020B0502040204020203" pitchFamily="34" charset="-34"/>
                <a:cs typeface="Leelawadee" panose="020B0502040204020203" pitchFamily="34" charset="-34"/>
              </a:rPr>
              <a:t>dashboard to highlight :</a:t>
            </a:r>
          </a:p>
          <a:p>
            <a:pPr marL="285750" indent="-285750">
              <a:buFont typeface="Arial" panose="020B0604020202020204" pitchFamily="34" charset="0"/>
              <a:buChar char="•"/>
            </a:pPr>
            <a:r>
              <a:rPr lang="en-IN" sz="1400" dirty="0" smtClean="0">
                <a:solidFill>
                  <a:prstClr val="black"/>
                </a:solidFill>
                <a:latin typeface="Leelawadee" panose="020B0502040204020203" pitchFamily="34" charset="-34"/>
                <a:cs typeface="Leelawadee" panose="020B0502040204020203" pitchFamily="34" charset="-34"/>
              </a:rPr>
              <a:t>Key </a:t>
            </a:r>
            <a:r>
              <a:rPr lang="en-IN" sz="1400" dirty="0">
                <a:solidFill>
                  <a:prstClr val="black"/>
                </a:solidFill>
                <a:latin typeface="Leelawadee" panose="020B0502040204020203" pitchFamily="34" charset="-34"/>
                <a:cs typeface="Leelawadee" panose="020B0502040204020203" pitchFamily="34" charset="-34"/>
              </a:rPr>
              <a:t>Business KPIs</a:t>
            </a:r>
          </a:p>
          <a:p>
            <a:pPr marL="285750" indent="-285750">
              <a:buFont typeface="Arial" panose="020B0604020202020204" pitchFamily="34" charset="0"/>
              <a:buChar char="•"/>
            </a:pPr>
            <a:r>
              <a:rPr lang="en-IN" sz="1400" dirty="0" smtClean="0">
                <a:solidFill>
                  <a:prstClr val="black"/>
                </a:solidFill>
                <a:latin typeface="Leelawadee" panose="020B0502040204020203" pitchFamily="34" charset="-34"/>
                <a:cs typeface="Leelawadee" panose="020B0502040204020203" pitchFamily="34" charset="-34"/>
              </a:rPr>
              <a:t>Performance </a:t>
            </a:r>
            <a:r>
              <a:rPr lang="en-IN" sz="1400" dirty="0">
                <a:solidFill>
                  <a:prstClr val="black"/>
                </a:solidFill>
                <a:latin typeface="Leelawadee" panose="020B0502040204020203" pitchFamily="34" charset="-34"/>
                <a:cs typeface="Leelawadee" panose="020B0502040204020203" pitchFamily="34" charset="-34"/>
              </a:rPr>
              <a:t>of Companies across geographies </a:t>
            </a:r>
          </a:p>
          <a:p>
            <a:pPr marL="285750" indent="-285750">
              <a:buFont typeface="Arial" panose="020B0604020202020204" pitchFamily="34" charset="0"/>
              <a:buChar char="•"/>
            </a:pPr>
            <a:r>
              <a:rPr lang="en-IN" sz="1400" dirty="0" smtClean="0">
                <a:solidFill>
                  <a:prstClr val="black"/>
                </a:solidFill>
                <a:latin typeface="Leelawadee" panose="020B0502040204020203" pitchFamily="34" charset="-34"/>
                <a:cs typeface="Leelawadee" panose="020B0502040204020203" pitchFamily="34" charset="-34"/>
              </a:rPr>
              <a:t>Customer </a:t>
            </a:r>
            <a:r>
              <a:rPr lang="en-IN" sz="1400" dirty="0">
                <a:solidFill>
                  <a:prstClr val="black"/>
                </a:solidFill>
                <a:latin typeface="Leelawadee" panose="020B0502040204020203" pitchFamily="34" charset="-34"/>
                <a:cs typeface="Leelawadee" panose="020B0502040204020203" pitchFamily="34" charset="-34"/>
              </a:rPr>
              <a:t>Purchase Pattern</a:t>
            </a:r>
          </a:p>
          <a:p>
            <a:pPr marL="285750" indent="-285750">
              <a:buFont typeface="Arial" panose="020B0604020202020204" pitchFamily="34" charset="0"/>
              <a:buChar char="•"/>
            </a:pPr>
            <a:r>
              <a:rPr lang="en-IN" sz="1400" dirty="0" smtClean="0">
                <a:solidFill>
                  <a:prstClr val="black"/>
                </a:solidFill>
                <a:latin typeface="Leelawadee" panose="020B0502040204020203" pitchFamily="34" charset="-34"/>
                <a:cs typeface="Leelawadee" panose="020B0502040204020203" pitchFamily="34" charset="-34"/>
              </a:rPr>
              <a:t>Employee </a:t>
            </a:r>
            <a:r>
              <a:rPr lang="en-IN" sz="1400" dirty="0">
                <a:solidFill>
                  <a:prstClr val="black"/>
                </a:solidFill>
                <a:latin typeface="Leelawadee" panose="020B0502040204020203" pitchFamily="34" charset="-34"/>
                <a:cs typeface="Leelawadee" panose="020B0502040204020203" pitchFamily="34" charset="-34"/>
              </a:rPr>
              <a:t>Redemptions</a:t>
            </a:r>
          </a:p>
          <a:p>
            <a:r>
              <a:rPr lang="en-IN" sz="1400" dirty="0">
                <a:solidFill>
                  <a:prstClr val="black"/>
                </a:solidFill>
                <a:latin typeface="Leelawadee" panose="020B0502040204020203" pitchFamily="34" charset="-34"/>
                <a:cs typeface="Leelawadee" panose="020B0502040204020203" pitchFamily="34" charset="-34"/>
              </a:rPr>
              <a:t> </a:t>
            </a:r>
            <a:endParaRPr lang="en-IN" sz="1400" dirty="0" smtClean="0">
              <a:solidFill>
                <a:prstClr val="black"/>
              </a:solidFill>
              <a:latin typeface="Leelawadee" panose="020B0502040204020203" pitchFamily="34" charset="-34"/>
              <a:cs typeface="Leelawadee" panose="020B0502040204020203" pitchFamily="34" charset="-34"/>
            </a:endParaRPr>
          </a:p>
          <a:p>
            <a:endParaRPr lang="en-IN" sz="1400" dirty="0" smtClean="0">
              <a:solidFill>
                <a:prstClr val="black"/>
              </a:solidFill>
              <a:latin typeface="Leelawadee" panose="020B0502040204020203" pitchFamily="34" charset="-34"/>
              <a:cs typeface="Leelawadee" panose="020B0502040204020203" pitchFamily="34" charset="-34"/>
            </a:endParaRPr>
          </a:p>
          <a:p>
            <a:r>
              <a:rPr lang="en-IN" sz="1400" b="1" dirty="0" smtClean="0">
                <a:solidFill>
                  <a:prstClr val="black"/>
                </a:solidFill>
                <a:latin typeface="Leelawadee" panose="020B0502040204020203" pitchFamily="34" charset="-34"/>
                <a:cs typeface="Leelawadee" panose="020B0502040204020203" pitchFamily="34" charset="-34"/>
              </a:rPr>
              <a:t>Result</a:t>
            </a:r>
            <a:r>
              <a:rPr lang="en-IN" sz="1400" dirty="0" smtClean="0">
                <a:solidFill>
                  <a:prstClr val="black"/>
                </a:solidFill>
                <a:latin typeface="Leelawadee" panose="020B0502040204020203" pitchFamily="34" charset="-34"/>
                <a:cs typeface="Leelawadee" panose="020B0502040204020203" pitchFamily="34" charset="-34"/>
              </a:rPr>
              <a:t>:</a:t>
            </a:r>
          </a:p>
          <a:p>
            <a:pPr marL="285750" indent="-285750">
              <a:buFont typeface="Arial" panose="020B0604020202020204" pitchFamily="34" charset="0"/>
              <a:buChar char="•"/>
            </a:pPr>
            <a:r>
              <a:rPr lang="en-IN" sz="1400" dirty="0" smtClean="0">
                <a:solidFill>
                  <a:prstClr val="black"/>
                </a:solidFill>
                <a:latin typeface="Leelawadee" panose="020B0502040204020203" pitchFamily="34" charset="-34"/>
                <a:cs typeface="Leelawadee" panose="020B0502040204020203" pitchFamily="34" charset="-34"/>
              </a:rPr>
              <a:t>Effective campaign analysis providing insights for better targeting and personalization for next launch of program </a:t>
            </a:r>
          </a:p>
          <a:p>
            <a:endParaRPr lang="en-IN" sz="1400" dirty="0" smtClean="0">
              <a:solidFill>
                <a:prstClr val="black"/>
              </a:solidFill>
              <a:latin typeface="Leelawadee" panose="020B0502040204020203" pitchFamily="34" charset="-34"/>
              <a:cs typeface="Leelawadee" panose="020B0502040204020203" pitchFamily="34" charset="-34"/>
            </a:endParaRPr>
          </a:p>
          <a:p>
            <a:endParaRPr lang="en-IN" sz="1400" dirty="0">
              <a:solidFill>
                <a:prstClr val="black"/>
              </a:solidFill>
              <a:latin typeface="Leelawadee" panose="020B0502040204020203" pitchFamily="34" charset="-34"/>
              <a:cs typeface="Leelawadee" panose="020B0502040204020203" pitchFamily="34" charset="-34"/>
            </a:endParaRPr>
          </a:p>
          <a:p>
            <a:endParaRPr lang="en-IN" sz="1400" dirty="0" smtClean="0">
              <a:solidFill>
                <a:prstClr val="black"/>
              </a:solidFill>
              <a:latin typeface="Leelawadee" panose="020B0502040204020203" pitchFamily="34" charset="-34"/>
              <a:cs typeface="Leelawadee" panose="020B0502040204020203" pitchFamily="34" charset="-34"/>
            </a:endParaRPr>
          </a:p>
          <a:p>
            <a:endParaRPr lang="en-IN" sz="1400" dirty="0" smtClean="0">
              <a:solidFill>
                <a:prstClr val="black"/>
              </a:solidFill>
              <a:latin typeface="Leelawadee" panose="020B0502040204020203" pitchFamily="34" charset="-34"/>
              <a:cs typeface="Leelawadee" panose="020B0502040204020203" pitchFamily="34" charset="-34"/>
            </a:endParaRPr>
          </a:p>
          <a:p>
            <a:endParaRPr lang="en-IN" sz="1400" dirty="0">
              <a:solidFill>
                <a:prstClr val="black"/>
              </a:solidFill>
              <a:latin typeface="Leelawadee" panose="020B0502040204020203" pitchFamily="34" charset="-34"/>
              <a:cs typeface="Leelawadee" panose="020B0502040204020203" pitchFamily="34" charset="-34"/>
            </a:endParaRPr>
          </a:p>
        </p:txBody>
      </p:sp>
      <p:grpSp>
        <p:nvGrpSpPr>
          <p:cNvPr id="2" name="Group 1"/>
          <p:cNvGrpSpPr/>
          <p:nvPr/>
        </p:nvGrpSpPr>
        <p:grpSpPr>
          <a:xfrm>
            <a:off x="4679576" y="1559870"/>
            <a:ext cx="7136256" cy="5000837"/>
            <a:chOff x="4652682" y="1582099"/>
            <a:chExt cx="7316775" cy="4978609"/>
          </a:xfrm>
        </p:grpSpPr>
        <p:sp>
          <p:nvSpPr>
            <p:cNvPr id="28" name="Rounded Rectangle 27"/>
            <p:cNvSpPr/>
            <p:nvPr/>
          </p:nvSpPr>
          <p:spPr>
            <a:xfrm>
              <a:off x="4652682" y="1582099"/>
              <a:ext cx="7316775" cy="4978609"/>
            </a:xfrm>
            <a:prstGeom prst="roundRect">
              <a:avLst/>
            </a:prstGeom>
            <a:noFill/>
            <a:ln>
              <a:solidFill>
                <a:schemeClr val="tx1">
                  <a:lumMod val="95000"/>
                  <a:lumOff val="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pic>
          <p:nvPicPr>
            <p:cNvPr id="26" name="Picture 25"/>
            <p:cNvPicPr>
              <a:picLocks noChangeAspect="1"/>
            </p:cNvPicPr>
            <p:nvPr/>
          </p:nvPicPr>
          <p:blipFill>
            <a:blip r:embed="rId2"/>
            <a:stretch>
              <a:fillRect/>
            </a:stretch>
          </p:blipFill>
          <p:spPr>
            <a:xfrm>
              <a:off x="5051339" y="2112674"/>
              <a:ext cx="3259730" cy="1994927"/>
            </a:xfrm>
            <a:prstGeom prst="rect">
              <a:avLst/>
            </a:prstGeom>
            <a:ln>
              <a:noFill/>
            </a:ln>
            <a:effectLst>
              <a:outerShdw blurRad="190500" algn="tl" rotWithShape="0">
                <a:srgbClr val="000000">
                  <a:alpha val="70000"/>
                </a:srgbClr>
              </a:outerShdw>
            </a:effectLst>
          </p:spPr>
        </p:pic>
        <p:pic>
          <p:nvPicPr>
            <p:cNvPr id="29" name="Picture 28"/>
            <p:cNvPicPr>
              <a:picLocks noChangeAspect="1"/>
            </p:cNvPicPr>
            <p:nvPr/>
          </p:nvPicPr>
          <p:blipFill>
            <a:blip r:embed="rId3"/>
            <a:stretch>
              <a:fillRect/>
            </a:stretch>
          </p:blipFill>
          <p:spPr>
            <a:xfrm>
              <a:off x="8148388" y="2706948"/>
              <a:ext cx="3355226" cy="2017058"/>
            </a:xfrm>
            <a:prstGeom prst="rect">
              <a:avLst/>
            </a:prstGeom>
            <a:ln>
              <a:noFill/>
            </a:ln>
            <a:effectLst>
              <a:outerShdw blurRad="190500" algn="tl" rotWithShape="0">
                <a:srgbClr val="000000">
                  <a:alpha val="70000"/>
                </a:srgbClr>
              </a:outerShdw>
            </a:effectLst>
          </p:spPr>
        </p:pic>
        <p:pic>
          <p:nvPicPr>
            <p:cNvPr id="27" name="Picture 26"/>
            <p:cNvPicPr>
              <a:picLocks noChangeAspect="1"/>
            </p:cNvPicPr>
            <p:nvPr/>
          </p:nvPicPr>
          <p:blipFill>
            <a:blip r:embed="rId4"/>
            <a:stretch>
              <a:fillRect/>
            </a:stretch>
          </p:blipFill>
          <p:spPr>
            <a:xfrm>
              <a:off x="6084947" y="4358878"/>
              <a:ext cx="3522870" cy="1966105"/>
            </a:xfrm>
            <a:prstGeom prst="rect">
              <a:avLst/>
            </a:prstGeom>
            <a:ln>
              <a:noFill/>
            </a:ln>
            <a:effectLst>
              <a:outerShdw blurRad="190500" algn="tl" rotWithShape="0">
                <a:srgbClr val="000000">
                  <a:alpha val="70000"/>
                </a:srgbClr>
              </a:outerShdw>
            </a:effectLst>
          </p:spPr>
        </p:pic>
        <p:sp>
          <p:nvSpPr>
            <p:cNvPr id="30" name="TextBox 29"/>
            <p:cNvSpPr txBox="1"/>
            <p:nvPr/>
          </p:nvSpPr>
          <p:spPr bwMode="gray">
            <a:xfrm>
              <a:off x="8969563" y="2046700"/>
              <a:ext cx="2469643" cy="457162"/>
            </a:xfrm>
            <a:prstGeom prst="rect">
              <a:avLst/>
            </a:prstGeom>
          </p:spPr>
          <p:txBody>
            <a:bodyPr vert="horz" wrap="square" lIns="91440" tIns="45720" rIns="91440" bIns="45720" rtlCol="0" anchor="ctr">
              <a:noAutofit/>
            </a:bodyPr>
            <a:lstStyle/>
            <a:p>
              <a:pPr algn="ctr"/>
              <a:r>
                <a:rPr lang="en-IN" sz="1400" b="1" dirty="0">
                  <a:solidFill>
                    <a:prstClr val="black"/>
                  </a:solidFill>
                </a:rPr>
                <a:t>Performance across Companies &amp; Geography</a:t>
              </a:r>
            </a:p>
          </p:txBody>
        </p:sp>
        <p:sp>
          <p:nvSpPr>
            <p:cNvPr id="31" name="TextBox 30"/>
            <p:cNvSpPr txBox="1"/>
            <p:nvPr/>
          </p:nvSpPr>
          <p:spPr bwMode="gray">
            <a:xfrm>
              <a:off x="4789304" y="1738041"/>
              <a:ext cx="3676262" cy="207089"/>
            </a:xfrm>
            <a:prstGeom prst="rect">
              <a:avLst/>
            </a:prstGeom>
          </p:spPr>
          <p:txBody>
            <a:bodyPr vert="horz" wrap="square" lIns="91440" tIns="45720" rIns="91440" bIns="45720" rtlCol="0" anchor="ctr">
              <a:noAutofit/>
            </a:bodyPr>
            <a:lstStyle/>
            <a:p>
              <a:pPr algn="ctr"/>
              <a:r>
                <a:rPr lang="en-IN" sz="1400" b="1" dirty="0">
                  <a:solidFill>
                    <a:prstClr val="black"/>
                  </a:solidFill>
                </a:rPr>
                <a:t> Business KPI</a:t>
              </a:r>
            </a:p>
          </p:txBody>
        </p:sp>
        <p:sp>
          <p:nvSpPr>
            <p:cNvPr id="32" name="TextBox 31"/>
            <p:cNvSpPr txBox="1"/>
            <p:nvPr/>
          </p:nvSpPr>
          <p:spPr bwMode="gray">
            <a:xfrm>
              <a:off x="9607817" y="5260761"/>
              <a:ext cx="1348839" cy="605339"/>
            </a:xfrm>
            <a:prstGeom prst="rect">
              <a:avLst/>
            </a:prstGeom>
          </p:spPr>
          <p:txBody>
            <a:bodyPr vert="horz" wrap="square" lIns="91440" tIns="45720" rIns="91440" bIns="45720" rtlCol="0" anchor="ctr">
              <a:noAutofit/>
            </a:bodyPr>
            <a:lstStyle/>
            <a:p>
              <a:pPr algn="ctr"/>
              <a:r>
                <a:rPr lang="en-IN" sz="1400" b="1" dirty="0">
                  <a:solidFill>
                    <a:prstClr val="black"/>
                  </a:solidFill>
                </a:rPr>
                <a:t>Customer Purchase Pattern</a:t>
              </a:r>
            </a:p>
          </p:txBody>
        </p:sp>
      </p:grpSp>
    </p:spTree>
    <p:extLst>
      <p:ext uri="{BB962C8B-B14F-4D97-AF65-F5344CB8AC3E}">
        <p14:creationId xmlns:p14="http://schemas.microsoft.com/office/powerpoint/2010/main" val="140488268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4494439" y="2975403"/>
            <a:ext cx="3928545" cy="3016516"/>
          </a:xfrm>
          <a:prstGeom prst="rect">
            <a:avLst/>
          </a:prstGeom>
        </p:spPr>
      </p:pic>
      <p:grpSp>
        <p:nvGrpSpPr>
          <p:cNvPr id="12" name="Group 11"/>
          <p:cNvGrpSpPr/>
          <p:nvPr/>
        </p:nvGrpSpPr>
        <p:grpSpPr>
          <a:xfrm>
            <a:off x="1" y="267843"/>
            <a:ext cx="12192000" cy="461665"/>
            <a:chOff x="1" y="322556"/>
            <a:chExt cx="12192000" cy="461665"/>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1214468" y="322556"/>
              <a:ext cx="9763122" cy="461665"/>
            </a:xfrm>
            <a:prstGeom prst="rect">
              <a:avLst/>
            </a:prstGeom>
            <a:solidFill>
              <a:schemeClr val="bg1"/>
            </a:solidFill>
          </p:spPr>
          <p:txBody>
            <a:bodyPr wrap="none" anchor="ctr">
              <a:spAutoFit/>
            </a:bodyPr>
            <a:lstStyle/>
            <a:p>
              <a:pPr algn="ctr"/>
              <a:r>
                <a:rPr lang="en-IN" sz="2400" b="1" dirty="0" smtClean="0">
                  <a:solidFill>
                    <a:srgbClr val="0070C0"/>
                  </a:solidFill>
                  <a:latin typeface="Leelawadee UI" panose="020B0502040204020203" pitchFamily="34" charset="-34"/>
                  <a:cs typeface="Leelawadee UI" panose="020B0502040204020203" pitchFamily="34" charset="-34"/>
                </a:rPr>
                <a:t>Tableau </a:t>
              </a:r>
              <a:r>
                <a:rPr lang="en-IN" sz="2400" b="1" dirty="0" smtClean="0">
                  <a:solidFill>
                    <a:srgbClr val="0070C0"/>
                  </a:solidFill>
                  <a:latin typeface="Leelawadee UI" panose="020B0502040204020203" pitchFamily="34" charset="-34"/>
                  <a:cs typeface="Leelawadee UI" panose="020B0502040204020203" pitchFamily="34" charset="-34"/>
                </a:rPr>
                <a:t>Case Study </a:t>
              </a:r>
              <a:r>
                <a:rPr lang="en-IN" sz="2400" b="1" dirty="0" smtClean="0">
                  <a:solidFill>
                    <a:srgbClr val="0070C0"/>
                  </a:solidFill>
                  <a:latin typeface="Leelawadee UI" panose="020B0502040204020203" pitchFamily="34" charset="-34"/>
                  <a:cs typeface="Leelawadee UI" panose="020B0502040204020203" pitchFamily="34" charset="-34"/>
                </a:rPr>
                <a:t>2 </a:t>
              </a:r>
              <a:r>
                <a:rPr lang="en-IN" sz="2400" b="1" dirty="0" smtClean="0">
                  <a:solidFill>
                    <a:srgbClr val="0070C0"/>
                  </a:solidFill>
                  <a:latin typeface="Leelawadee UI" panose="020B0502040204020203" pitchFamily="34" charset="-34"/>
                  <a:cs typeface="Leelawadee UI" panose="020B0502040204020203" pitchFamily="34" charset="-34"/>
                </a:rPr>
                <a:t>: </a:t>
              </a:r>
              <a:r>
                <a:rPr lang="en-IN" sz="2400" b="1" dirty="0" smtClean="0">
                  <a:solidFill>
                    <a:schemeClr val="bg1">
                      <a:lumMod val="50000"/>
                    </a:schemeClr>
                  </a:solidFill>
                  <a:latin typeface="Leelawadee UI" panose="020B0502040204020203" pitchFamily="34" charset="-34"/>
                  <a:cs typeface="Leelawadee UI" panose="020B0502040204020203" pitchFamily="34" charset="-34"/>
                </a:rPr>
                <a:t>Electronics Retailer – Location Optimization</a:t>
              </a:r>
              <a:endParaRPr lang="en-IN" sz="2400" b="1" dirty="0">
                <a:solidFill>
                  <a:schemeClr val="bg1">
                    <a:lumMod val="50000"/>
                  </a:schemeClr>
                </a:solidFill>
                <a:latin typeface="Leelawadee UI" panose="020B0502040204020203" pitchFamily="34" charset="-34"/>
                <a:cs typeface="Leelawadee UI" panose="020B0502040204020203" pitchFamily="34" charset="-34"/>
              </a:endParaRPr>
            </a:p>
          </p:txBody>
        </p:sp>
      </p:grpSp>
      <p:grpSp>
        <p:nvGrpSpPr>
          <p:cNvPr id="2" name="Group 1"/>
          <p:cNvGrpSpPr/>
          <p:nvPr/>
        </p:nvGrpSpPr>
        <p:grpSpPr>
          <a:xfrm>
            <a:off x="0" y="855655"/>
            <a:ext cx="11941784" cy="479192"/>
            <a:chOff x="2275096" y="1046125"/>
            <a:chExt cx="9321573" cy="479192"/>
          </a:xfrm>
        </p:grpSpPr>
        <p:sp>
          <p:nvSpPr>
            <p:cNvPr id="68" name="Pentagon 67"/>
            <p:cNvSpPr/>
            <p:nvPr/>
          </p:nvSpPr>
          <p:spPr>
            <a:xfrm>
              <a:off x="4899023" y="1046125"/>
              <a:ext cx="6697646" cy="479192"/>
            </a:xfrm>
            <a:prstGeom prst="homePlat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prstClr val="white"/>
                  </a:solidFill>
                  <a:latin typeface="Leelawadee UI" panose="020B0502040204020203" pitchFamily="34" charset="-34"/>
                  <a:cs typeface="Leelawadee UI" panose="020B0502040204020203" pitchFamily="34" charset="-34"/>
                </a:rPr>
                <a:t> Methodology</a:t>
              </a:r>
            </a:p>
          </p:txBody>
        </p:sp>
        <p:sp>
          <p:nvSpPr>
            <p:cNvPr id="69" name="Pentagon 68"/>
            <p:cNvSpPr/>
            <p:nvPr/>
          </p:nvSpPr>
          <p:spPr>
            <a:xfrm>
              <a:off x="2275096" y="1046125"/>
              <a:ext cx="3432377" cy="479192"/>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prstClr val="white"/>
                  </a:solidFill>
                  <a:latin typeface="Leelawadee UI" panose="020B0502040204020203" pitchFamily="34" charset="-34"/>
                  <a:cs typeface="Leelawadee UI" panose="020B0502040204020203" pitchFamily="34" charset="-34"/>
                </a:rPr>
                <a:t>Background </a:t>
              </a:r>
            </a:p>
          </p:txBody>
        </p:sp>
      </p:grpSp>
      <p:sp>
        <p:nvSpPr>
          <p:cNvPr id="16" name="Rectangle 15"/>
          <p:cNvSpPr/>
          <p:nvPr/>
        </p:nvSpPr>
        <p:spPr>
          <a:xfrm>
            <a:off x="11597485" y="855655"/>
            <a:ext cx="594515" cy="47919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b="1">
              <a:solidFill>
                <a:prstClr val="white"/>
              </a:solidFill>
              <a:latin typeface="Leelawadee UI" panose="020B0502040204020203" pitchFamily="34" charset="-34"/>
              <a:cs typeface="Leelawadee UI" panose="020B0502040204020203" pitchFamily="34" charset="-34"/>
            </a:endParaRPr>
          </a:p>
        </p:txBody>
      </p:sp>
      <p:sp>
        <p:nvSpPr>
          <p:cNvPr id="62" name="TextBox 61"/>
          <p:cNvSpPr txBox="1"/>
          <p:nvPr/>
        </p:nvSpPr>
        <p:spPr bwMode="gray">
          <a:xfrm>
            <a:off x="6630225" y="1606235"/>
            <a:ext cx="3394051" cy="307777"/>
          </a:xfrm>
          <a:prstGeom prst="rect">
            <a:avLst/>
          </a:prstGeom>
          <a:noFill/>
          <a:ln>
            <a:noFill/>
            <a:prstDash val="dash"/>
          </a:ln>
        </p:spPr>
        <p:txBody>
          <a:bodyPr wrap="square">
            <a:spAutoFit/>
          </a:bodyPr>
          <a:lstStyle>
            <a:defPPr>
              <a:defRPr lang="en-US"/>
            </a:defPPr>
            <a:lvl1pPr>
              <a:defRPr sz="1200">
                <a:solidFill>
                  <a:prstClr val="black"/>
                </a:solidFill>
                <a:latin typeface="Century" panose="02040604050505020304" pitchFamily="18" charset="0"/>
              </a:defRPr>
            </a:lvl1pPr>
          </a:lstStyle>
          <a:p>
            <a:pPr algn="ctr"/>
            <a:r>
              <a:rPr lang="en-IN" sz="1400" b="1" dirty="0">
                <a:latin typeface="Century Gothic" panose="020B0502020202020204" pitchFamily="34" charset="0"/>
              </a:rPr>
              <a:t> Store Location </a:t>
            </a:r>
            <a:r>
              <a:rPr lang="en-IN" sz="1400" b="1" dirty="0" smtClean="0">
                <a:latin typeface="Century Gothic" panose="020B0502020202020204" pitchFamily="34" charset="0"/>
              </a:rPr>
              <a:t>Attractiveness </a:t>
            </a:r>
            <a:endParaRPr lang="en-IN" sz="1400" b="1" dirty="0">
              <a:latin typeface="Century Gothic" panose="020B0502020202020204" pitchFamily="34" charset="0"/>
            </a:endParaRPr>
          </a:p>
        </p:txBody>
      </p:sp>
      <p:graphicFrame>
        <p:nvGraphicFramePr>
          <p:cNvPr id="80" name="Diagram 79"/>
          <p:cNvGraphicFramePr/>
          <p:nvPr>
            <p:extLst>
              <p:ext uri="{D42A27DB-BD31-4B8C-83A1-F6EECF244321}">
                <p14:modId xmlns:p14="http://schemas.microsoft.com/office/powerpoint/2010/main" val="908116076"/>
              </p:ext>
            </p:extLst>
          </p:nvPr>
        </p:nvGraphicFramePr>
        <p:xfrm>
          <a:off x="8091637" y="2056153"/>
          <a:ext cx="3583817" cy="8700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1" name="Diagram 80"/>
          <p:cNvGraphicFramePr/>
          <p:nvPr>
            <p:extLst>
              <p:ext uri="{D42A27DB-BD31-4B8C-83A1-F6EECF244321}">
                <p14:modId xmlns:p14="http://schemas.microsoft.com/office/powerpoint/2010/main" val="3122119128"/>
              </p:ext>
            </p:extLst>
          </p:nvPr>
        </p:nvGraphicFramePr>
        <p:xfrm>
          <a:off x="4815792" y="2049353"/>
          <a:ext cx="3093358" cy="88329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25" name="Picture 24"/>
          <p:cNvPicPr>
            <a:picLocks noChangeAspect="1"/>
          </p:cNvPicPr>
          <p:nvPr/>
        </p:nvPicPr>
        <p:blipFill>
          <a:blip r:embed="rId13"/>
          <a:stretch>
            <a:fillRect/>
          </a:stretch>
        </p:blipFill>
        <p:spPr>
          <a:xfrm>
            <a:off x="6669615" y="6189077"/>
            <a:ext cx="1204579" cy="155855"/>
          </a:xfrm>
          <a:prstGeom prst="rect">
            <a:avLst/>
          </a:prstGeom>
        </p:spPr>
      </p:pic>
      <p:sp>
        <p:nvSpPr>
          <p:cNvPr id="26" name="TextBox 25"/>
          <p:cNvSpPr txBox="1"/>
          <p:nvPr/>
        </p:nvSpPr>
        <p:spPr>
          <a:xfrm>
            <a:off x="6393130" y="6333186"/>
            <a:ext cx="1744224" cy="215444"/>
          </a:xfrm>
          <a:prstGeom prst="rect">
            <a:avLst/>
          </a:prstGeom>
          <a:noFill/>
        </p:spPr>
        <p:txBody>
          <a:bodyPr wrap="square" rtlCol="0">
            <a:spAutoFit/>
          </a:bodyPr>
          <a:lstStyle/>
          <a:p>
            <a:r>
              <a:rPr lang="en-IN" sz="800" dirty="0" smtClean="0"/>
              <a:t>Potential gradient –  High to Low</a:t>
            </a:r>
          </a:p>
        </p:txBody>
      </p:sp>
      <p:grpSp>
        <p:nvGrpSpPr>
          <p:cNvPr id="5" name="Group 4"/>
          <p:cNvGrpSpPr/>
          <p:nvPr/>
        </p:nvGrpSpPr>
        <p:grpSpPr>
          <a:xfrm>
            <a:off x="8260523" y="3129472"/>
            <a:ext cx="3768983" cy="3320248"/>
            <a:chOff x="8038754" y="2858307"/>
            <a:chExt cx="3966367" cy="3142854"/>
          </a:xfrm>
        </p:grpSpPr>
        <p:pic>
          <p:nvPicPr>
            <p:cNvPr id="95" name="Picture 94"/>
            <p:cNvPicPr>
              <a:picLocks noChangeAspect="1"/>
            </p:cNvPicPr>
            <p:nvPr/>
          </p:nvPicPr>
          <p:blipFill>
            <a:blip r:embed="rId2"/>
            <a:stretch>
              <a:fillRect/>
            </a:stretch>
          </p:blipFill>
          <p:spPr>
            <a:xfrm>
              <a:off x="8038754" y="2858307"/>
              <a:ext cx="3894107" cy="2942828"/>
            </a:xfrm>
            <a:prstGeom prst="rect">
              <a:avLst/>
            </a:prstGeom>
          </p:spPr>
        </p:pic>
        <p:sp>
          <p:nvSpPr>
            <p:cNvPr id="97" name="Oval 96"/>
            <p:cNvSpPr/>
            <p:nvPr/>
          </p:nvSpPr>
          <p:spPr>
            <a:xfrm>
              <a:off x="9488408" y="4410349"/>
              <a:ext cx="108000" cy="108000"/>
            </a:xfrm>
            <a:prstGeom prst="ellipse">
              <a:avLst/>
            </a:prstGeom>
            <a:solidFill>
              <a:srgbClr val="EF7A24"/>
            </a:solidFill>
            <a:ln w="1905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entury Gothic"/>
                <a:ea typeface="+mn-ea"/>
                <a:cs typeface="+mn-cs"/>
              </a:endParaRPr>
            </a:p>
          </p:txBody>
        </p:sp>
        <p:sp>
          <p:nvSpPr>
            <p:cNvPr id="100" name="Oval 99"/>
            <p:cNvSpPr/>
            <p:nvPr/>
          </p:nvSpPr>
          <p:spPr>
            <a:xfrm>
              <a:off x="9786876" y="3983525"/>
              <a:ext cx="108000" cy="108000"/>
            </a:xfrm>
            <a:prstGeom prst="ellipse">
              <a:avLst/>
            </a:prstGeom>
            <a:solidFill>
              <a:srgbClr val="EF7A24"/>
            </a:solidFill>
            <a:ln w="1905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entury Gothic"/>
                <a:ea typeface="+mn-ea"/>
                <a:cs typeface="+mn-cs"/>
              </a:endParaRPr>
            </a:p>
          </p:txBody>
        </p:sp>
        <p:sp>
          <p:nvSpPr>
            <p:cNvPr id="101" name="Oval 100"/>
            <p:cNvSpPr/>
            <p:nvPr/>
          </p:nvSpPr>
          <p:spPr>
            <a:xfrm>
              <a:off x="9317150" y="4038926"/>
              <a:ext cx="108000" cy="108000"/>
            </a:xfrm>
            <a:prstGeom prst="ellipse">
              <a:avLst/>
            </a:prstGeom>
            <a:solidFill>
              <a:srgbClr val="EF7A24"/>
            </a:solidFill>
            <a:ln w="1905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entury Gothic"/>
                <a:ea typeface="+mn-ea"/>
                <a:cs typeface="+mn-cs"/>
              </a:endParaRPr>
            </a:p>
          </p:txBody>
        </p:sp>
        <p:sp>
          <p:nvSpPr>
            <p:cNvPr id="102" name="Oval 101"/>
            <p:cNvSpPr/>
            <p:nvPr/>
          </p:nvSpPr>
          <p:spPr>
            <a:xfrm>
              <a:off x="9418818" y="4040132"/>
              <a:ext cx="108000" cy="108000"/>
            </a:xfrm>
            <a:prstGeom prst="ellipse">
              <a:avLst/>
            </a:prstGeom>
            <a:solidFill>
              <a:srgbClr val="EF7A24"/>
            </a:solidFill>
            <a:ln w="1905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entury Gothic"/>
                <a:ea typeface="+mn-ea"/>
                <a:cs typeface="+mn-cs"/>
              </a:endParaRPr>
            </a:p>
          </p:txBody>
        </p:sp>
        <p:sp>
          <p:nvSpPr>
            <p:cNvPr id="103" name="Oval 102"/>
            <p:cNvSpPr/>
            <p:nvPr/>
          </p:nvSpPr>
          <p:spPr>
            <a:xfrm>
              <a:off x="8804815" y="3748097"/>
              <a:ext cx="108000" cy="108000"/>
            </a:xfrm>
            <a:prstGeom prst="ellipse">
              <a:avLst/>
            </a:prstGeom>
            <a:solidFill>
              <a:srgbClr val="EF7A24"/>
            </a:solidFill>
            <a:ln w="1905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entury Gothic"/>
                <a:ea typeface="+mn-ea"/>
                <a:cs typeface="+mn-cs"/>
              </a:endParaRPr>
            </a:p>
          </p:txBody>
        </p:sp>
        <p:pic>
          <p:nvPicPr>
            <p:cNvPr id="11" name="Picture 10"/>
            <p:cNvPicPr>
              <a:picLocks noChangeAspect="1"/>
            </p:cNvPicPr>
            <p:nvPr/>
          </p:nvPicPr>
          <p:blipFill>
            <a:blip r:embed="rId14"/>
            <a:stretch>
              <a:fillRect/>
            </a:stretch>
          </p:blipFill>
          <p:spPr>
            <a:xfrm>
              <a:off x="8909419" y="3742250"/>
              <a:ext cx="109738" cy="103641"/>
            </a:xfrm>
            <a:prstGeom prst="rect">
              <a:avLst/>
            </a:prstGeom>
          </p:spPr>
        </p:pic>
        <p:pic>
          <p:nvPicPr>
            <p:cNvPr id="13" name="Picture 12"/>
            <p:cNvPicPr>
              <a:picLocks noChangeAspect="1"/>
            </p:cNvPicPr>
            <p:nvPr/>
          </p:nvPicPr>
          <p:blipFill>
            <a:blip r:embed="rId14"/>
            <a:stretch>
              <a:fillRect/>
            </a:stretch>
          </p:blipFill>
          <p:spPr>
            <a:xfrm>
              <a:off x="9454874" y="3431248"/>
              <a:ext cx="109738" cy="103641"/>
            </a:xfrm>
            <a:prstGeom prst="rect">
              <a:avLst/>
            </a:prstGeom>
          </p:spPr>
        </p:pic>
        <p:pic>
          <p:nvPicPr>
            <p:cNvPr id="14" name="Picture 13"/>
            <p:cNvPicPr>
              <a:picLocks noChangeAspect="1"/>
            </p:cNvPicPr>
            <p:nvPr/>
          </p:nvPicPr>
          <p:blipFill>
            <a:blip r:embed="rId14"/>
            <a:stretch>
              <a:fillRect/>
            </a:stretch>
          </p:blipFill>
          <p:spPr>
            <a:xfrm>
              <a:off x="9877324" y="3157485"/>
              <a:ext cx="109738" cy="103641"/>
            </a:xfrm>
            <a:prstGeom prst="rect">
              <a:avLst/>
            </a:prstGeom>
          </p:spPr>
        </p:pic>
        <p:pic>
          <p:nvPicPr>
            <p:cNvPr id="104" name="Picture 103"/>
            <p:cNvPicPr>
              <a:picLocks noChangeAspect="1"/>
            </p:cNvPicPr>
            <p:nvPr/>
          </p:nvPicPr>
          <p:blipFill>
            <a:blip r:embed="rId14"/>
            <a:stretch>
              <a:fillRect/>
            </a:stretch>
          </p:blipFill>
          <p:spPr>
            <a:xfrm>
              <a:off x="10206064" y="4464349"/>
              <a:ext cx="109738" cy="103641"/>
            </a:xfrm>
            <a:prstGeom prst="rect">
              <a:avLst/>
            </a:prstGeom>
          </p:spPr>
        </p:pic>
        <p:pic>
          <p:nvPicPr>
            <p:cNvPr id="106" name="Picture 105"/>
            <p:cNvPicPr>
              <a:picLocks noChangeAspect="1"/>
            </p:cNvPicPr>
            <p:nvPr/>
          </p:nvPicPr>
          <p:blipFill>
            <a:blip r:embed="rId14"/>
            <a:stretch>
              <a:fillRect/>
            </a:stretch>
          </p:blipFill>
          <p:spPr>
            <a:xfrm>
              <a:off x="10480298" y="3521917"/>
              <a:ext cx="109738" cy="103641"/>
            </a:xfrm>
            <a:prstGeom prst="rect">
              <a:avLst/>
            </a:prstGeom>
          </p:spPr>
        </p:pic>
        <p:pic>
          <p:nvPicPr>
            <p:cNvPr id="107" name="Picture 106"/>
            <p:cNvPicPr>
              <a:picLocks noChangeAspect="1"/>
            </p:cNvPicPr>
            <p:nvPr/>
          </p:nvPicPr>
          <p:blipFill>
            <a:blip r:embed="rId14"/>
            <a:stretch>
              <a:fillRect/>
            </a:stretch>
          </p:blipFill>
          <p:spPr>
            <a:xfrm>
              <a:off x="10370560" y="4808001"/>
              <a:ext cx="109738" cy="103641"/>
            </a:xfrm>
            <a:prstGeom prst="rect">
              <a:avLst/>
            </a:prstGeom>
          </p:spPr>
        </p:pic>
        <p:pic>
          <p:nvPicPr>
            <p:cNvPr id="108" name="Picture 107"/>
            <p:cNvPicPr>
              <a:picLocks noChangeAspect="1"/>
            </p:cNvPicPr>
            <p:nvPr/>
          </p:nvPicPr>
          <p:blipFill>
            <a:blip r:embed="rId14"/>
            <a:stretch>
              <a:fillRect/>
            </a:stretch>
          </p:blipFill>
          <p:spPr>
            <a:xfrm>
              <a:off x="9822455" y="3654550"/>
              <a:ext cx="109738" cy="103641"/>
            </a:xfrm>
            <a:prstGeom prst="rect">
              <a:avLst/>
            </a:prstGeom>
          </p:spPr>
        </p:pic>
        <p:pic>
          <p:nvPicPr>
            <p:cNvPr id="109" name="Picture 108"/>
            <p:cNvPicPr>
              <a:picLocks noChangeAspect="1"/>
            </p:cNvPicPr>
            <p:nvPr/>
          </p:nvPicPr>
          <p:blipFill>
            <a:blip r:embed="rId14"/>
            <a:stretch>
              <a:fillRect/>
            </a:stretch>
          </p:blipFill>
          <p:spPr>
            <a:xfrm>
              <a:off x="10506540" y="4808000"/>
              <a:ext cx="109738" cy="103641"/>
            </a:xfrm>
            <a:prstGeom prst="rect">
              <a:avLst/>
            </a:prstGeom>
          </p:spPr>
        </p:pic>
        <p:sp>
          <p:nvSpPr>
            <p:cNvPr id="110" name="Oval 109"/>
            <p:cNvSpPr/>
            <p:nvPr/>
          </p:nvSpPr>
          <p:spPr>
            <a:xfrm>
              <a:off x="10444264" y="4896625"/>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11" name="Oval 110"/>
            <p:cNvSpPr/>
            <p:nvPr/>
          </p:nvSpPr>
          <p:spPr>
            <a:xfrm>
              <a:off x="10411136" y="4598454"/>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12" name="Oval 111"/>
            <p:cNvSpPr/>
            <p:nvPr/>
          </p:nvSpPr>
          <p:spPr>
            <a:xfrm>
              <a:off x="10523780" y="4591830"/>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13" name="Oval 112"/>
            <p:cNvSpPr/>
            <p:nvPr/>
          </p:nvSpPr>
          <p:spPr>
            <a:xfrm>
              <a:off x="10206064" y="4629521"/>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14" name="Oval 113"/>
            <p:cNvSpPr/>
            <p:nvPr/>
          </p:nvSpPr>
          <p:spPr>
            <a:xfrm>
              <a:off x="10169192" y="4305949"/>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15" name="Oval 114"/>
            <p:cNvSpPr/>
            <p:nvPr/>
          </p:nvSpPr>
          <p:spPr>
            <a:xfrm>
              <a:off x="10299515" y="4279817"/>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16" name="Oval 115"/>
            <p:cNvSpPr/>
            <p:nvPr/>
          </p:nvSpPr>
          <p:spPr>
            <a:xfrm>
              <a:off x="9900690" y="4296319"/>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17" name="Oval 116"/>
            <p:cNvSpPr/>
            <p:nvPr/>
          </p:nvSpPr>
          <p:spPr>
            <a:xfrm>
              <a:off x="9723505" y="4494048"/>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18" name="Oval 117"/>
            <p:cNvSpPr/>
            <p:nvPr/>
          </p:nvSpPr>
          <p:spPr>
            <a:xfrm>
              <a:off x="9376514" y="4400719"/>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20" name="Oval 119"/>
            <p:cNvSpPr/>
            <p:nvPr/>
          </p:nvSpPr>
          <p:spPr>
            <a:xfrm>
              <a:off x="9537166" y="4033184"/>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21" name="Oval 120"/>
            <p:cNvSpPr/>
            <p:nvPr/>
          </p:nvSpPr>
          <p:spPr>
            <a:xfrm>
              <a:off x="9592966" y="3871620"/>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22" name="Oval 121"/>
            <p:cNvSpPr/>
            <p:nvPr/>
          </p:nvSpPr>
          <p:spPr>
            <a:xfrm>
              <a:off x="9138358" y="3408422"/>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23" name="Oval 122"/>
            <p:cNvSpPr/>
            <p:nvPr/>
          </p:nvSpPr>
          <p:spPr>
            <a:xfrm>
              <a:off x="9123337" y="3536785"/>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24" name="Oval 123"/>
            <p:cNvSpPr/>
            <p:nvPr/>
          </p:nvSpPr>
          <p:spPr>
            <a:xfrm>
              <a:off x="9005463" y="3431248"/>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25" name="Oval 124"/>
            <p:cNvSpPr/>
            <p:nvPr/>
          </p:nvSpPr>
          <p:spPr>
            <a:xfrm>
              <a:off x="10581336" y="3521917"/>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26" name="Oval 125"/>
            <p:cNvSpPr/>
            <p:nvPr/>
          </p:nvSpPr>
          <p:spPr>
            <a:xfrm>
              <a:off x="10676180" y="4744230"/>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29" name="Oval 128"/>
            <p:cNvSpPr/>
            <p:nvPr/>
          </p:nvSpPr>
          <p:spPr>
            <a:xfrm>
              <a:off x="9914638" y="3274694"/>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30" name="Oval 129"/>
            <p:cNvSpPr/>
            <p:nvPr/>
          </p:nvSpPr>
          <p:spPr>
            <a:xfrm>
              <a:off x="10555864" y="4125810"/>
              <a:ext cx="111600" cy="1044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31" name="Oval 130"/>
            <p:cNvSpPr/>
            <p:nvPr/>
          </p:nvSpPr>
          <p:spPr>
            <a:xfrm>
              <a:off x="10425411" y="4153925"/>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32" name="Oval 131"/>
            <p:cNvSpPr/>
            <p:nvPr/>
          </p:nvSpPr>
          <p:spPr>
            <a:xfrm>
              <a:off x="8614275" y="3482689"/>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33" name="Oval 132"/>
            <p:cNvSpPr/>
            <p:nvPr/>
          </p:nvSpPr>
          <p:spPr>
            <a:xfrm>
              <a:off x="8720594" y="3482689"/>
              <a:ext cx="111600" cy="1044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pic>
          <p:nvPicPr>
            <p:cNvPr id="27" name="Picture 26"/>
            <p:cNvPicPr>
              <a:picLocks noChangeAspect="1"/>
            </p:cNvPicPr>
            <p:nvPr/>
          </p:nvPicPr>
          <p:blipFill>
            <a:blip r:embed="rId15"/>
            <a:stretch>
              <a:fillRect/>
            </a:stretch>
          </p:blipFill>
          <p:spPr>
            <a:xfrm>
              <a:off x="9648098" y="3427252"/>
              <a:ext cx="109738" cy="103641"/>
            </a:xfrm>
            <a:prstGeom prst="rect">
              <a:avLst/>
            </a:prstGeom>
          </p:spPr>
        </p:pic>
        <p:sp>
          <p:nvSpPr>
            <p:cNvPr id="135" name="Oval 134"/>
            <p:cNvSpPr/>
            <p:nvPr/>
          </p:nvSpPr>
          <p:spPr>
            <a:xfrm>
              <a:off x="9540608" y="3393546"/>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37" name="Oval 136"/>
            <p:cNvSpPr/>
            <p:nvPr/>
          </p:nvSpPr>
          <p:spPr>
            <a:xfrm>
              <a:off x="10667464" y="3496121"/>
              <a:ext cx="111600" cy="1044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38" name="Oval 137"/>
            <p:cNvSpPr/>
            <p:nvPr/>
          </p:nvSpPr>
          <p:spPr>
            <a:xfrm>
              <a:off x="10023957" y="4277521"/>
              <a:ext cx="111600" cy="1044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44" name="Oval 143"/>
            <p:cNvSpPr/>
            <p:nvPr/>
          </p:nvSpPr>
          <p:spPr>
            <a:xfrm>
              <a:off x="10542993" y="5488106"/>
              <a:ext cx="111600" cy="104400"/>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45" name="TextBox 144"/>
            <p:cNvSpPr txBox="1"/>
            <p:nvPr/>
          </p:nvSpPr>
          <p:spPr>
            <a:xfrm>
              <a:off x="10667463" y="5445113"/>
              <a:ext cx="991484" cy="234268"/>
            </a:xfrm>
            <a:prstGeom prst="rect">
              <a:avLst/>
            </a:prstGeom>
            <a:noFill/>
          </p:spPr>
          <p:txBody>
            <a:bodyPr wrap="square" rtlCol="0">
              <a:spAutoFit/>
            </a:bodyPr>
            <a:lstStyle/>
            <a:p>
              <a:r>
                <a:rPr lang="en-IN" sz="800" dirty="0" smtClean="0"/>
                <a:t>Competitor 1</a:t>
              </a:r>
            </a:p>
          </p:txBody>
        </p:sp>
        <p:sp>
          <p:nvSpPr>
            <p:cNvPr id="146" name="TextBox 145"/>
            <p:cNvSpPr txBox="1"/>
            <p:nvPr/>
          </p:nvSpPr>
          <p:spPr>
            <a:xfrm>
              <a:off x="10675953" y="5601241"/>
              <a:ext cx="982994" cy="234268"/>
            </a:xfrm>
            <a:prstGeom prst="rect">
              <a:avLst/>
            </a:prstGeom>
            <a:noFill/>
          </p:spPr>
          <p:txBody>
            <a:bodyPr wrap="square" rtlCol="0">
              <a:spAutoFit/>
            </a:bodyPr>
            <a:lstStyle/>
            <a:p>
              <a:r>
                <a:rPr lang="en-IN" sz="800" dirty="0" smtClean="0"/>
                <a:t>Competitor 2</a:t>
              </a:r>
            </a:p>
          </p:txBody>
        </p:sp>
        <p:sp>
          <p:nvSpPr>
            <p:cNvPr id="147" name="TextBox 146"/>
            <p:cNvSpPr txBox="1"/>
            <p:nvPr/>
          </p:nvSpPr>
          <p:spPr>
            <a:xfrm>
              <a:off x="10667465" y="5766893"/>
              <a:ext cx="1337656" cy="234268"/>
            </a:xfrm>
            <a:prstGeom prst="rect">
              <a:avLst/>
            </a:prstGeom>
            <a:noFill/>
          </p:spPr>
          <p:txBody>
            <a:bodyPr wrap="square" rtlCol="0">
              <a:spAutoFit/>
            </a:bodyPr>
            <a:lstStyle/>
            <a:p>
              <a:r>
                <a:rPr lang="en-IN" sz="800" dirty="0" smtClean="0"/>
                <a:t>Proposed Locations</a:t>
              </a:r>
            </a:p>
          </p:txBody>
        </p:sp>
        <p:sp>
          <p:nvSpPr>
            <p:cNvPr id="148" name="Oval 147"/>
            <p:cNvSpPr/>
            <p:nvPr/>
          </p:nvSpPr>
          <p:spPr>
            <a:xfrm>
              <a:off x="10549621" y="5639754"/>
              <a:ext cx="111600" cy="1044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49" name="Oval 148"/>
            <p:cNvSpPr/>
            <p:nvPr/>
          </p:nvSpPr>
          <p:spPr>
            <a:xfrm>
              <a:off x="10549621" y="5798781"/>
              <a:ext cx="111600" cy="1044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grpSp>
      <p:sp>
        <p:nvSpPr>
          <p:cNvPr id="136" name="TextBox 135"/>
          <p:cNvSpPr txBox="1"/>
          <p:nvPr/>
        </p:nvSpPr>
        <p:spPr>
          <a:xfrm>
            <a:off x="4816098" y="2889890"/>
            <a:ext cx="1767623" cy="215444"/>
          </a:xfrm>
          <a:prstGeom prst="rect">
            <a:avLst/>
          </a:prstGeom>
          <a:noFill/>
        </p:spPr>
        <p:txBody>
          <a:bodyPr wrap="square" rtlCol="0">
            <a:spAutoFit/>
          </a:bodyPr>
          <a:lstStyle/>
          <a:p>
            <a:r>
              <a:rPr lang="en-IN" sz="800" i="1" dirty="0" smtClean="0"/>
              <a:t>Location map not to scale</a:t>
            </a:r>
            <a:endParaRPr lang="en-IN" sz="800" i="1" dirty="0"/>
          </a:p>
        </p:txBody>
      </p:sp>
      <p:sp>
        <p:nvSpPr>
          <p:cNvPr id="150" name="TextBox 149"/>
          <p:cNvSpPr txBox="1"/>
          <p:nvPr/>
        </p:nvSpPr>
        <p:spPr>
          <a:xfrm>
            <a:off x="8297963" y="2861908"/>
            <a:ext cx="1767623" cy="215444"/>
          </a:xfrm>
          <a:prstGeom prst="rect">
            <a:avLst/>
          </a:prstGeom>
          <a:noFill/>
        </p:spPr>
        <p:txBody>
          <a:bodyPr wrap="square" rtlCol="0">
            <a:spAutoFit/>
          </a:bodyPr>
          <a:lstStyle/>
          <a:p>
            <a:r>
              <a:rPr lang="en-IN" sz="800" i="1" dirty="0" smtClean="0"/>
              <a:t>Location map not to scale</a:t>
            </a:r>
            <a:endParaRPr lang="en-IN" sz="800" i="1" dirty="0"/>
          </a:p>
        </p:txBody>
      </p:sp>
      <p:sp>
        <p:nvSpPr>
          <p:cNvPr id="75" name="Rounded Rectangle 74"/>
          <p:cNvSpPr/>
          <p:nvPr/>
        </p:nvSpPr>
        <p:spPr>
          <a:xfrm>
            <a:off x="199818" y="1583374"/>
            <a:ext cx="3754496" cy="5073204"/>
          </a:xfrm>
          <a:prstGeom prst="roundRect">
            <a:avLst/>
          </a:prstGeom>
          <a:noFill/>
          <a:ln>
            <a:solidFill>
              <a:schemeClr val="tx1">
                <a:lumMod val="95000"/>
                <a:lumOff val="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76" name="Rectangle 75"/>
          <p:cNvSpPr/>
          <p:nvPr/>
        </p:nvSpPr>
        <p:spPr>
          <a:xfrm>
            <a:off x="417750" y="1833072"/>
            <a:ext cx="3417930" cy="4832092"/>
          </a:xfrm>
          <a:prstGeom prst="rect">
            <a:avLst/>
          </a:prstGeom>
        </p:spPr>
        <p:txBody>
          <a:bodyPr wrap="square">
            <a:spAutoFit/>
          </a:bodyPr>
          <a:lstStyle/>
          <a:p>
            <a:r>
              <a:rPr lang="en-IN" sz="1400" b="1" dirty="0">
                <a:solidFill>
                  <a:prstClr val="black"/>
                </a:solidFill>
                <a:latin typeface="Leelawadee" panose="020B0502040204020203" pitchFamily="34" charset="-34"/>
                <a:cs typeface="Leelawadee" panose="020B0502040204020203" pitchFamily="34" charset="-34"/>
              </a:rPr>
              <a:t>Objective</a:t>
            </a:r>
            <a:r>
              <a:rPr lang="en-IN" sz="1400" dirty="0">
                <a:solidFill>
                  <a:prstClr val="black"/>
                </a:solidFill>
                <a:latin typeface="Leelawadee" panose="020B0502040204020203" pitchFamily="34" charset="-34"/>
                <a:cs typeface="Leelawadee" panose="020B0502040204020203" pitchFamily="34" charset="-34"/>
              </a:rPr>
              <a:t>:</a:t>
            </a:r>
          </a:p>
          <a:p>
            <a:r>
              <a:rPr lang="en-IN" sz="1400" dirty="0">
                <a:solidFill>
                  <a:prstClr val="black"/>
                </a:solidFill>
                <a:latin typeface="Leelawadee" panose="020B0502040204020203" pitchFamily="34" charset="-34"/>
                <a:cs typeface="Leelawadee" panose="020B0502040204020203" pitchFamily="34" charset="-34"/>
              </a:rPr>
              <a:t>The retailer was looking to expand presence in the district of Hyderabad</a:t>
            </a:r>
            <a:r>
              <a:rPr lang="en-IN" sz="1400" dirty="0" smtClean="0">
                <a:solidFill>
                  <a:prstClr val="black"/>
                </a:solidFill>
                <a:latin typeface="Leelawadee" panose="020B0502040204020203" pitchFamily="34" charset="-34"/>
                <a:cs typeface="Leelawadee" panose="020B0502040204020203" pitchFamily="34" charset="-34"/>
              </a:rPr>
              <a:t>. </a:t>
            </a:r>
            <a:endParaRPr lang="en-IN" sz="1400" dirty="0">
              <a:solidFill>
                <a:prstClr val="black"/>
              </a:solidFill>
              <a:latin typeface="Leelawadee" panose="020B0502040204020203" pitchFamily="34" charset="-34"/>
              <a:cs typeface="Leelawadee" panose="020B0502040204020203" pitchFamily="34" charset="-34"/>
            </a:endParaRPr>
          </a:p>
          <a:p>
            <a:endParaRPr lang="en-IN" sz="1400" dirty="0" smtClean="0">
              <a:solidFill>
                <a:prstClr val="black"/>
              </a:solidFill>
              <a:latin typeface="Leelawadee" panose="020B0502040204020203" pitchFamily="34" charset="-34"/>
              <a:cs typeface="Leelawadee" panose="020B0502040204020203" pitchFamily="34" charset="-34"/>
            </a:endParaRPr>
          </a:p>
          <a:p>
            <a:endParaRPr lang="en-IN" sz="1400" dirty="0">
              <a:solidFill>
                <a:prstClr val="black"/>
              </a:solidFill>
              <a:latin typeface="Leelawadee" panose="020B0502040204020203" pitchFamily="34" charset="-34"/>
              <a:cs typeface="Leelawadee" panose="020B0502040204020203" pitchFamily="34" charset="-34"/>
            </a:endParaRPr>
          </a:p>
          <a:p>
            <a:r>
              <a:rPr lang="en-IN" sz="1400" b="1" dirty="0" smtClean="0">
                <a:solidFill>
                  <a:prstClr val="black"/>
                </a:solidFill>
                <a:latin typeface="Leelawadee" panose="020B0502040204020203" pitchFamily="34" charset="-34"/>
                <a:cs typeface="Leelawadee" panose="020B0502040204020203" pitchFamily="34" charset="-34"/>
              </a:rPr>
              <a:t>Solution</a:t>
            </a:r>
            <a:r>
              <a:rPr lang="en-IN" sz="1400" b="1" dirty="0">
                <a:solidFill>
                  <a:prstClr val="black"/>
                </a:solidFill>
                <a:latin typeface="Leelawadee" panose="020B0502040204020203" pitchFamily="34" charset="-34"/>
                <a:cs typeface="Leelawadee" panose="020B0502040204020203" pitchFamily="34" charset="-34"/>
              </a:rPr>
              <a:t>:</a:t>
            </a:r>
          </a:p>
          <a:p>
            <a:r>
              <a:rPr lang="en-IN" sz="1400" dirty="0" smtClean="0">
                <a:solidFill>
                  <a:prstClr val="black"/>
                </a:solidFill>
                <a:latin typeface="Leelawadee" panose="020B0502040204020203" pitchFamily="34" charset="-34"/>
                <a:cs typeface="Leelawadee" panose="020B0502040204020203" pitchFamily="34" charset="-34"/>
              </a:rPr>
              <a:t>Tableau visualization </a:t>
            </a:r>
            <a:r>
              <a:rPr lang="en-IN" sz="1400" dirty="0">
                <a:solidFill>
                  <a:prstClr val="black"/>
                </a:solidFill>
                <a:latin typeface="Leelawadee" panose="020B0502040204020203" pitchFamily="34" charset="-34"/>
                <a:cs typeface="Leelawadee" panose="020B0502040204020203" pitchFamily="34" charset="-34"/>
              </a:rPr>
              <a:t>to highlight :</a:t>
            </a:r>
          </a:p>
          <a:p>
            <a:pPr marL="285750" indent="-285750">
              <a:buFont typeface="Arial" panose="020B0604020202020204" pitchFamily="34" charset="0"/>
              <a:buChar char="•"/>
            </a:pPr>
            <a:r>
              <a:rPr lang="en-IN" sz="1400" dirty="0">
                <a:solidFill>
                  <a:prstClr val="black"/>
                </a:solidFill>
                <a:latin typeface="Leelawadee" panose="020B0502040204020203" pitchFamily="34" charset="-34"/>
                <a:cs typeface="Leelawadee" panose="020B0502040204020203" pitchFamily="34" charset="-34"/>
              </a:rPr>
              <a:t>Catchment area attractiveness with respect to the retailer</a:t>
            </a:r>
          </a:p>
          <a:p>
            <a:pPr marL="285750" indent="-285750">
              <a:buFont typeface="Arial" panose="020B0604020202020204" pitchFamily="34" charset="0"/>
              <a:buChar char="•"/>
            </a:pPr>
            <a:r>
              <a:rPr lang="en-IN" sz="1400" dirty="0" smtClean="0">
                <a:solidFill>
                  <a:prstClr val="black"/>
                </a:solidFill>
                <a:latin typeface="Leelawadee" panose="020B0502040204020203" pitchFamily="34" charset="-34"/>
                <a:cs typeface="Leelawadee" panose="020B0502040204020203" pitchFamily="34" charset="-34"/>
              </a:rPr>
              <a:t>Impact </a:t>
            </a:r>
            <a:r>
              <a:rPr lang="en-IN" sz="1400" dirty="0">
                <a:solidFill>
                  <a:prstClr val="black"/>
                </a:solidFill>
                <a:latin typeface="Leelawadee" panose="020B0502040204020203" pitchFamily="34" charset="-34"/>
                <a:cs typeface="Leelawadee" panose="020B0502040204020203" pitchFamily="34" charset="-34"/>
              </a:rPr>
              <a:t>of Competitor presence</a:t>
            </a:r>
          </a:p>
          <a:p>
            <a:pPr marL="285750" indent="-285750">
              <a:buFont typeface="Arial" panose="020B0604020202020204" pitchFamily="34" charset="0"/>
              <a:buChar char="•"/>
            </a:pPr>
            <a:r>
              <a:rPr lang="en-IN" sz="1400" dirty="0" smtClean="0">
                <a:solidFill>
                  <a:prstClr val="black"/>
                </a:solidFill>
                <a:latin typeface="Leelawadee" panose="020B0502040204020203" pitchFamily="34" charset="-34"/>
                <a:cs typeface="Leelawadee" panose="020B0502040204020203" pitchFamily="34" charset="-34"/>
              </a:rPr>
              <a:t>Potential </a:t>
            </a:r>
            <a:r>
              <a:rPr lang="en-IN" sz="1400" dirty="0">
                <a:solidFill>
                  <a:prstClr val="black"/>
                </a:solidFill>
                <a:latin typeface="Leelawadee" panose="020B0502040204020203" pitchFamily="34" charset="-34"/>
                <a:cs typeface="Leelawadee" panose="020B0502040204020203" pitchFamily="34" charset="-34"/>
              </a:rPr>
              <a:t>Store locations with respect to catchment area attractiveness and competitor presence</a:t>
            </a:r>
          </a:p>
          <a:p>
            <a:r>
              <a:rPr lang="en-IN" sz="1400" dirty="0" smtClean="0">
                <a:solidFill>
                  <a:prstClr val="black"/>
                </a:solidFill>
                <a:latin typeface="Leelawadee" panose="020B0502040204020203" pitchFamily="34" charset="-34"/>
                <a:cs typeface="Leelawadee" panose="020B0502040204020203" pitchFamily="34" charset="-34"/>
              </a:rPr>
              <a:t> </a:t>
            </a:r>
          </a:p>
          <a:p>
            <a:endParaRPr lang="en-IN" sz="1400" b="1" dirty="0" smtClean="0">
              <a:solidFill>
                <a:prstClr val="black"/>
              </a:solidFill>
              <a:latin typeface="Leelawadee" panose="020B0502040204020203" pitchFamily="34" charset="-34"/>
              <a:cs typeface="Leelawadee" panose="020B0502040204020203" pitchFamily="34" charset="-34"/>
            </a:endParaRPr>
          </a:p>
          <a:p>
            <a:r>
              <a:rPr lang="en-IN" sz="1400" b="1" dirty="0" smtClean="0">
                <a:solidFill>
                  <a:prstClr val="black"/>
                </a:solidFill>
                <a:latin typeface="Leelawadee" panose="020B0502040204020203" pitchFamily="34" charset="-34"/>
                <a:cs typeface="Leelawadee" panose="020B0502040204020203" pitchFamily="34" charset="-34"/>
              </a:rPr>
              <a:t>Result : </a:t>
            </a:r>
          </a:p>
          <a:p>
            <a:r>
              <a:rPr lang="en-IN" sz="1400" dirty="0">
                <a:solidFill>
                  <a:prstClr val="black"/>
                </a:solidFill>
                <a:latin typeface="Leelawadee" panose="020B0502040204020203" pitchFamily="34" charset="-34"/>
                <a:cs typeface="Leelawadee" panose="020B0502040204020203" pitchFamily="34" charset="-34"/>
              </a:rPr>
              <a:t>The visualization and the solution helps understand</a:t>
            </a:r>
          </a:p>
          <a:p>
            <a:pPr marL="285750" lvl="0" indent="-285750">
              <a:buFont typeface="Arial" panose="020B0604020202020204" pitchFamily="34" charset="0"/>
              <a:buChar char="•"/>
            </a:pPr>
            <a:r>
              <a:rPr lang="en-IN" sz="1400" dirty="0" smtClean="0">
                <a:solidFill>
                  <a:prstClr val="black"/>
                </a:solidFill>
                <a:latin typeface="Leelawadee" panose="020B0502040204020203" pitchFamily="34" charset="-34"/>
                <a:cs typeface="Leelawadee" panose="020B0502040204020203" pitchFamily="34" charset="-34"/>
              </a:rPr>
              <a:t>Relative attractiveness </a:t>
            </a:r>
            <a:r>
              <a:rPr lang="en-IN" sz="1400" dirty="0">
                <a:solidFill>
                  <a:prstClr val="black"/>
                </a:solidFill>
                <a:latin typeface="Leelawadee" panose="020B0502040204020203" pitchFamily="34" charset="-34"/>
                <a:cs typeface="Leelawadee" panose="020B0502040204020203" pitchFamily="34" charset="-34"/>
              </a:rPr>
              <a:t>of planned store locations </a:t>
            </a:r>
          </a:p>
          <a:p>
            <a:pPr marL="285750" lvl="0" indent="-285750">
              <a:buFont typeface="Arial" panose="020B0604020202020204" pitchFamily="34" charset="0"/>
              <a:buChar char="•"/>
            </a:pPr>
            <a:r>
              <a:rPr lang="en-IN" sz="1400" dirty="0">
                <a:solidFill>
                  <a:prstClr val="black"/>
                </a:solidFill>
                <a:latin typeface="Leelawadee" panose="020B0502040204020203" pitchFamily="34" charset="-34"/>
                <a:cs typeface="Leelawadee" panose="020B0502040204020203" pitchFamily="34" charset="-34"/>
              </a:rPr>
              <a:t>Attractive locations as potential expansion opportunities</a:t>
            </a:r>
          </a:p>
        </p:txBody>
      </p:sp>
      <p:sp>
        <p:nvSpPr>
          <p:cNvPr id="87" name="Rounded Rectangle 86"/>
          <p:cNvSpPr/>
          <p:nvPr/>
        </p:nvSpPr>
        <p:spPr>
          <a:xfrm>
            <a:off x="4531542" y="1582100"/>
            <a:ext cx="7497964" cy="5088848"/>
          </a:xfrm>
          <a:prstGeom prst="roundRect">
            <a:avLst/>
          </a:prstGeom>
          <a:noFill/>
          <a:ln>
            <a:solidFill>
              <a:schemeClr val="tx1">
                <a:lumMod val="95000"/>
                <a:lumOff val="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Tree>
    <p:extLst>
      <p:ext uri="{BB962C8B-B14F-4D97-AF65-F5344CB8AC3E}">
        <p14:creationId xmlns:p14="http://schemas.microsoft.com/office/powerpoint/2010/main" val="340587723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p:cNvGrpSpPr/>
          <p:nvPr/>
        </p:nvGrpSpPr>
        <p:grpSpPr>
          <a:xfrm>
            <a:off x="1" y="267843"/>
            <a:ext cx="12192000" cy="461665"/>
            <a:chOff x="1" y="322556"/>
            <a:chExt cx="12192000" cy="461665"/>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776943" y="322556"/>
              <a:ext cx="10638170" cy="461665"/>
            </a:xfrm>
            <a:prstGeom prst="rect">
              <a:avLst/>
            </a:prstGeom>
            <a:solidFill>
              <a:schemeClr val="bg1"/>
            </a:solidFill>
          </p:spPr>
          <p:txBody>
            <a:bodyPr wrap="none" anchor="ctr">
              <a:spAutoFit/>
            </a:bodyPr>
            <a:lstStyle/>
            <a:p>
              <a:pPr algn="ctr"/>
              <a:r>
                <a:rPr lang="en-IN" sz="2400" b="1" dirty="0" smtClean="0">
                  <a:solidFill>
                    <a:srgbClr val="0070C0"/>
                  </a:solidFill>
                  <a:latin typeface="Leelawadee UI" panose="020B0502040204020203" pitchFamily="34" charset="-34"/>
                  <a:cs typeface="Leelawadee UI" panose="020B0502040204020203" pitchFamily="34" charset="-34"/>
                </a:rPr>
                <a:t>Tableau </a:t>
              </a:r>
              <a:r>
                <a:rPr lang="en-IN" sz="2400" b="1" dirty="0" smtClean="0">
                  <a:solidFill>
                    <a:srgbClr val="0070C0"/>
                  </a:solidFill>
                  <a:latin typeface="Leelawadee UI" panose="020B0502040204020203" pitchFamily="34" charset="-34"/>
                  <a:cs typeface="Leelawadee UI" panose="020B0502040204020203" pitchFamily="34" charset="-34"/>
                </a:rPr>
                <a:t>Case Study </a:t>
              </a:r>
              <a:r>
                <a:rPr lang="en-IN" sz="2400" b="1" dirty="0" smtClean="0">
                  <a:solidFill>
                    <a:srgbClr val="0070C0"/>
                  </a:solidFill>
                  <a:latin typeface="Leelawadee UI" panose="020B0502040204020203" pitchFamily="34" charset="-34"/>
                  <a:cs typeface="Leelawadee UI" panose="020B0502040204020203" pitchFamily="34" charset="-34"/>
                </a:rPr>
                <a:t>3 </a:t>
              </a:r>
              <a:r>
                <a:rPr lang="en-IN" sz="2400" b="1" dirty="0" smtClean="0">
                  <a:solidFill>
                    <a:srgbClr val="0070C0"/>
                  </a:solidFill>
                  <a:latin typeface="Leelawadee UI" panose="020B0502040204020203" pitchFamily="34" charset="-34"/>
                  <a:cs typeface="Leelawadee UI" panose="020B0502040204020203" pitchFamily="34" charset="-34"/>
                </a:rPr>
                <a:t>: </a:t>
              </a:r>
              <a:r>
                <a:rPr lang="en-IN" sz="2400" b="1" dirty="0">
                  <a:solidFill>
                    <a:schemeClr val="bg1">
                      <a:lumMod val="50000"/>
                    </a:schemeClr>
                  </a:solidFill>
                  <a:latin typeface="Leelawadee UI" panose="020B0502040204020203" pitchFamily="34" charset="-34"/>
                  <a:cs typeface="Leelawadee UI" panose="020B0502040204020203" pitchFamily="34" charset="-34"/>
                </a:rPr>
                <a:t>Financial Services - Business Loans Opportunities </a:t>
              </a:r>
            </a:p>
          </p:txBody>
        </p:sp>
      </p:grpSp>
      <p:grpSp>
        <p:nvGrpSpPr>
          <p:cNvPr id="2" name="Group 1"/>
          <p:cNvGrpSpPr/>
          <p:nvPr/>
        </p:nvGrpSpPr>
        <p:grpSpPr>
          <a:xfrm>
            <a:off x="0" y="855655"/>
            <a:ext cx="11941784" cy="479192"/>
            <a:chOff x="2275096" y="1046125"/>
            <a:chExt cx="9321573" cy="479192"/>
          </a:xfrm>
        </p:grpSpPr>
        <p:sp>
          <p:nvSpPr>
            <p:cNvPr id="68" name="Pentagon 67"/>
            <p:cNvSpPr/>
            <p:nvPr/>
          </p:nvSpPr>
          <p:spPr>
            <a:xfrm>
              <a:off x="4899023" y="1046125"/>
              <a:ext cx="6697646" cy="479192"/>
            </a:xfrm>
            <a:prstGeom prst="homePlat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prstClr val="white"/>
                  </a:solidFill>
                  <a:latin typeface="Leelawadee UI" panose="020B0502040204020203" pitchFamily="34" charset="-34"/>
                  <a:cs typeface="Leelawadee UI" panose="020B0502040204020203" pitchFamily="34" charset="-34"/>
                </a:rPr>
                <a:t> Methodology</a:t>
              </a:r>
            </a:p>
          </p:txBody>
        </p:sp>
        <p:sp>
          <p:nvSpPr>
            <p:cNvPr id="69" name="Pentagon 68"/>
            <p:cNvSpPr/>
            <p:nvPr/>
          </p:nvSpPr>
          <p:spPr>
            <a:xfrm>
              <a:off x="2275096" y="1046125"/>
              <a:ext cx="3432377" cy="479192"/>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prstClr val="white"/>
                  </a:solidFill>
                  <a:latin typeface="Leelawadee UI" panose="020B0502040204020203" pitchFamily="34" charset="-34"/>
                  <a:cs typeface="Leelawadee UI" panose="020B0502040204020203" pitchFamily="34" charset="-34"/>
                </a:rPr>
                <a:t>Background </a:t>
              </a:r>
            </a:p>
          </p:txBody>
        </p:sp>
      </p:grpSp>
      <p:sp>
        <p:nvSpPr>
          <p:cNvPr id="16" name="Rectangle 15"/>
          <p:cNvSpPr/>
          <p:nvPr/>
        </p:nvSpPr>
        <p:spPr>
          <a:xfrm>
            <a:off x="11597485" y="855655"/>
            <a:ext cx="594515" cy="47919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b="1">
              <a:solidFill>
                <a:prstClr val="white"/>
              </a:solidFill>
              <a:latin typeface="Leelawadee UI" panose="020B0502040204020203" pitchFamily="34" charset="-34"/>
              <a:cs typeface="Leelawadee UI" panose="020B0502040204020203" pitchFamily="34" charset="-34"/>
            </a:endParaRPr>
          </a:p>
        </p:txBody>
      </p:sp>
      <p:sp>
        <p:nvSpPr>
          <p:cNvPr id="75" name="Rounded Rectangle 74"/>
          <p:cNvSpPr/>
          <p:nvPr/>
        </p:nvSpPr>
        <p:spPr>
          <a:xfrm>
            <a:off x="199817" y="1583374"/>
            <a:ext cx="3885595" cy="5073204"/>
          </a:xfrm>
          <a:prstGeom prst="roundRect">
            <a:avLst/>
          </a:prstGeom>
          <a:noFill/>
          <a:ln>
            <a:solidFill>
              <a:schemeClr val="tx1">
                <a:lumMod val="95000"/>
                <a:lumOff val="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76" name="Rectangle 75"/>
          <p:cNvSpPr/>
          <p:nvPr/>
        </p:nvSpPr>
        <p:spPr>
          <a:xfrm>
            <a:off x="416015" y="1762799"/>
            <a:ext cx="3667662" cy="4832092"/>
          </a:xfrm>
          <a:prstGeom prst="rect">
            <a:avLst/>
          </a:prstGeom>
        </p:spPr>
        <p:txBody>
          <a:bodyPr wrap="square">
            <a:spAutoFit/>
          </a:bodyPr>
          <a:lstStyle/>
          <a:p>
            <a:r>
              <a:rPr lang="en-IN" sz="1400" b="1" dirty="0">
                <a:solidFill>
                  <a:prstClr val="black"/>
                </a:solidFill>
                <a:latin typeface="Leelawadee" panose="020B0502040204020203" pitchFamily="34" charset="-34"/>
                <a:cs typeface="Leelawadee" panose="020B0502040204020203" pitchFamily="34" charset="-34"/>
              </a:rPr>
              <a:t>Objective</a:t>
            </a:r>
            <a:r>
              <a:rPr lang="en-IN" sz="1400" dirty="0">
                <a:solidFill>
                  <a:prstClr val="black"/>
                </a:solidFill>
                <a:latin typeface="Leelawadee" panose="020B0502040204020203" pitchFamily="34" charset="-34"/>
                <a:cs typeface="Leelawadee" panose="020B0502040204020203" pitchFamily="34" charset="-34"/>
              </a:rPr>
              <a:t>:</a:t>
            </a:r>
          </a:p>
          <a:p>
            <a:r>
              <a:rPr lang="en-IN" sz="1400" dirty="0">
                <a:solidFill>
                  <a:prstClr val="black"/>
                </a:solidFill>
                <a:latin typeface="Leelawadee" panose="020B0502040204020203" pitchFamily="34" charset="-34"/>
                <a:cs typeface="Leelawadee" panose="020B0502040204020203" pitchFamily="34" charset="-34"/>
              </a:rPr>
              <a:t>The leading Financial Services provider has a selective but national presence with respect to Business Loans</a:t>
            </a:r>
            <a:r>
              <a:rPr lang="en-IN" sz="1400" dirty="0" smtClean="0">
                <a:solidFill>
                  <a:prstClr val="black"/>
                </a:solidFill>
                <a:latin typeface="Leelawadee" panose="020B0502040204020203" pitchFamily="34" charset="-34"/>
                <a:cs typeface="Leelawadee" panose="020B0502040204020203" pitchFamily="34" charset="-34"/>
              </a:rPr>
              <a:t>.</a:t>
            </a:r>
          </a:p>
          <a:p>
            <a:endParaRPr lang="en-IN" sz="1400" dirty="0" smtClean="0">
              <a:solidFill>
                <a:prstClr val="black"/>
              </a:solidFill>
              <a:latin typeface="Leelawadee" panose="020B0502040204020203" pitchFamily="34" charset="-34"/>
              <a:cs typeface="Leelawadee" panose="020B0502040204020203" pitchFamily="34" charset="-34"/>
            </a:endParaRPr>
          </a:p>
          <a:p>
            <a:endParaRPr lang="en-IN" sz="1400" dirty="0">
              <a:solidFill>
                <a:prstClr val="black"/>
              </a:solidFill>
              <a:latin typeface="Leelawadee" panose="020B0502040204020203" pitchFamily="34" charset="-34"/>
              <a:cs typeface="Leelawadee" panose="020B0502040204020203" pitchFamily="34" charset="-34"/>
            </a:endParaRPr>
          </a:p>
          <a:p>
            <a:r>
              <a:rPr lang="en-IN" sz="1400" b="1" dirty="0" smtClean="0">
                <a:solidFill>
                  <a:prstClr val="black"/>
                </a:solidFill>
                <a:latin typeface="Leelawadee" panose="020B0502040204020203" pitchFamily="34" charset="-34"/>
                <a:cs typeface="Leelawadee" panose="020B0502040204020203" pitchFamily="34" charset="-34"/>
              </a:rPr>
              <a:t>Solution</a:t>
            </a:r>
            <a:r>
              <a:rPr lang="en-IN" sz="1400" b="1" dirty="0">
                <a:solidFill>
                  <a:prstClr val="black"/>
                </a:solidFill>
                <a:latin typeface="Leelawadee" panose="020B0502040204020203" pitchFamily="34" charset="-34"/>
                <a:cs typeface="Leelawadee" panose="020B0502040204020203" pitchFamily="34" charset="-34"/>
              </a:rPr>
              <a:t>:</a:t>
            </a:r>
          </a:p>
          <a:p>
            <a:r>
              <a:rPr lang="en-IN" sz="1400" dirty="0" smtClean="0">
                <a:solidFill>
                  <a:prstClr val="black"/>
                </a:solidFill>
                <a:latin typeface="Leelawadee" panose="020B0502040204020203" pitchFamily="34" charset="-34"/>
                <a:cs typeface="Leelawadee" panose="020B0502040204020203" pitchFamily="34" charset="-34"/>
              </a:rPr>
              <a:t>Tableau visualization </a:t>
            </a:r>
            <a:r>
              <a:rPr lang="en-IN" sz="1400" dirty="0">
                <a:solidFill>
                  <a:prstClr val="black"/>
                </a:solidFill>
                <a:latin typeface="Leelawadee" panose="020B0502040204020203" pitchFamily="34" charset="-34"/>
                <a:cs typeface="Leelawadee" panose="020B0502040204020203" pitchFamily="34" charset="-34"/>
              </a:rPr>
              <a:t>to highlight :</a:t>
            </a:r>
          </a:p>
          <a:p>
            <a:pPr marL="285750" lvl="0" indent="-285750">
              <a:buFont typeface="Arial" panose="020B0604020202020204" pitchFamily="34" charset="0"/>
              <a:buChar char="•"/>
            </a:pPr>
            <a:r>
              <a:rPr lang="en-IN" sz="1400" dirty="0">
                <a:solidFill>
                  <a:prstClr val="black"/>
                </a:solidFill>
                <a:latin typeface="Leelawadee" panose="020B0502040204020203" pitchFamily="34" charset="-34"/>
                <a:cs typeface="Leelawadee" panose="020B0502040204020203" pitchFamily="34" charset="-34"/>
              </a:rPr>
              <a:t>The most attractive locations for business loans</a:t>
            </a:r>
          </a:p>
          <a:p>
            <a:pPr marL="285750" lvl="0" indent="-285750">
              <a:buFont typeface="Arial" panose="020B0604020202020204" pitchFamily="34" charset="0"/>
              <a:buChar char="•"/>
            </a:pPr>
            <a:r>
              <a:rPr lang="en-IN" sz="1400" dirty="0" smtClean="0">
                <a:solidFill>
                  <a:prstClr val="black"/>
                </a:solidFill>
                <a:latin typeface="Leelawadee" panose="020B0502040204020203" pitchFamily="34" charset="-34"/>
                <a:cs typeface="Leelawadee" panose="020B0502040204020203" pitchFamily="34" charset="-34"/>
              </a:rPr>
              <a:t>Market </a:t>
            </a:r>
            <a:r>
              <a:rPr lang="en-IN" sz="1400" dirty="0">
                <a:solidFill>
                  <a:prstClr val="black"/>
                </a:solidFill>
                <a:latin typeface="Leelawadee" panose="020B0502040204020203" pitchFamily="34" charset="-34"/>
                <a:cs typeface="Leelawadee" panose="020B0502040204020203" pitchFamily="34" charset="-34"/>
              </a:rPr>
              <a:t>share in attractive and relatively less attractive locations</a:t>
            </a:r>
          </a:p>
          <a:p>
            <a:pPr marL="285750" lvl="0" indent="-285750">
              <a:buFont typeface="Arial" panose="020B0604020202020204" pitchFamily="34" charset="0"/>
              <a:buChar char="•"/>
            </a:pPr>
            <a:r>
              <a:rPr lang="en-IN" sz="1400" dirty="0" smtClean="0">
                <a:solidFill>
                  <a:prstClr val="black"/>
                </a:solidFill>
                <a:latin typeface="Leelawadee" panose="020B0502040204020203" pitchFamily="34" charset="-34"/>
                <a:cs typeface="Leelawadee" panose="020B0502040204020203" pitchFamily="34" charset="-34"/>
              </a:rPr>
              <a:t>Sales </a:t>
            </a:r>
            <a:r>
              <a:rPr lang="en-IN" sz="1400" dirty="0">
                <a:solidFill>
                  <a:prstClr val="black"/>
                </a:solidFill>
                <a:latin typeface="Leelawadee" panose="020B0502040204020203" pitchFamily="34" charset="-34"/>
                <a:cs typeface="Leelawadee" panose="020B0502040204020203" pitchFamily="34" charset="-34"/>
              </a:rPr>
              <a:t>presence vis a vis location attractiveness and market share</a:t>
            </a:r>
          </a:p>
          <a:p>
            <a:endParaRPr lang="en-IN" sz="1400" dirty="0" smtClean="0">
              <a:solidFill>
                <a:prstClr val="black"/>
              </a:solidFill>
              <a:latin typeface="Leelawadee" panose="020B0502040204020203" pitchFamily="34" charset="-34"/>
              <a:cs typeface="Leelawadee" panose="020B0502040204020203" pitchFamily="34" charset="-34"/>
            </a:endParaRPr>
          </a:p>
          <a:p>
            <a:r>
              <a:rPr lang="en-IN" sz="1400" dirty="0" smtClean="0">
                <a:solidFill>
                  <a:prstClr val="black"/>
                </a:solidFill>
                <a:latin typeface="Leelawadee" panose="020B0502040204020203" pitchFamily="34" charset="-34"/>
                <a:cs typeface="Leelawadee" panose="020B0502040204020203" pitchFamily="34" charset="-34"/>
              </a:rPr>
              <a:t> </a:t>
            </a:r>
          </a:p>
          <a:p>
            <a:r>
              <a:rPr lang="en-IN" sz="1400" b="1" dirty="0" smtClean="0">
                <a:solidFill>
                  <a:prstClr val="black"/>
                </a:solidFill>
                <a:latin typeface="Leelawadee" panose="020B0502040204020203" pitchFamily="34" charset="-34"/>
                <a:cs typeface="Leelawadee" panose="020B0502040204020203" pitchFamily="34" charset="-34"/>
              </a:rPr>
              <a:t>Result : </a:t>
            </a:r>
          </a:p>
          <a:p>
            <a:r>
              <a:rPr lang="en-IN" sz="1400" dirty="0" smtClean="0">
                <a:solidFill>
                  <a:prstClr val="black"/>
                </a:solidFill>
                <a:latin typeface="Leelawadee" panose="020B0502040204020203" pitchFamily="34" charset="-34"/>
                <a:cs typeface="Leelawadee" panose="020B0502040204020203" pitchFamily="34" charset="-34"/>
              </a:rPr>
              <a:t>The </a:t>
            </a:r>
            <a:r>
              <a:rPr lang="en-IN" sz="1400" dirty="0">
                <a:solidFill>
                  <a:prstClr val="black"/>
                </a:solidFill>
                <a:latin typeface="Leelawadee" panose="020B0502040204020203" pitchFamily="34" charset="-34"/>
                <a:cs typeface="Leelawadee" panose="020B0502040204020203" pitchFamily="34" charset="-34"/>
              </a:rPr>
              <a:t>visualization helps </a:t>
            </a:r>
            <a:r>
              <a:rPr lang="en-IN" sz="1400" dirty="0" smtClean="0">
                <a:solidFill>
                  <a:prstClr val="black"/>
                </a:solidFill>
                <a:latin typeface="Leelawadee" panose="020B0502040204020203" pitchFamily="34" charset="-34"/>
                <a:cs typeface="Leelawadee" panose="020B0502040204020203" pitchFamily="34" charset="-34"/>
              </a:rPr>
              <a:t>client to analyse :</a:t>
            </a:r>
          </a:p>
          <a:p>
            <a:pPr marL="285750" indent="-285750">
              <a:buFont typeface="Arial" panose="020B0604020202020204" pitchFamily="34" charset="0"/>
              <a:buChar char="•"/>
            </a:pPr>
            <a:r>
              <a:rPr lang="en-IN" sz="1400" dirty="0" smtClean="0">
                <a:solidFill>
                  <a:prstClr val="black"/>
                </a:solidFill>
                <a:latin typeface="Leelawadee" panose="020B0502040204020203" pitchFamily="34" charset="-34"/>
                <a:cs typeface="Leelawadee" panose="020B0502040204020203" pitchFamily="34" charset="-34"/>
              </a:rPr>
              <a:t>Market share in high attractive locations </a:t>
            </a:r>
            <a:endParaRPr lang="en-IN" sz="1400" dirty="0">
              <a:solidFill>
                <a:prstClr val="black"/>
              </a:solidFill>
              <a:latin typeface="Leelawadee" panose="020B0502040204020203" pitchFamily="34" charset="-34"/>
              <a:cs typeface="Leelawadee" panose="020B0502040204020203" pitchFamily="34" charset="-34"/>
            </a:endParaRPr>
          </a:p>
          <a:p>
            <a:pPr marL="285750" lvl="0" indent="-285750">
              <a:buFont typeface="Arial" panose="020B0604020202020204" pitchFamily="34" charset="0"/>
              <a:buChar char="•"/>
            </a:pPr>
            <a:r>
              <a:rPr lang="en-IN" sz="1400" dirty="0">
                <a:solidFill>
                  <a:prstClr val="black"/>
                </a:solidFill>
                <a:latin typeface="Leelawadee" panose="020B0502040204020203" pitchFamily="34" charset="-34"/>
                <a:cs typeface="Leelawadee" panose="020B0502040204020203" pitchFamily="34" charset="-34"/>
              </a:rPr>
              <a:t>The locations with low market share which might be driven by low DSA presence</a:t>
            </a:r>
          </a:p>
        </p:txBody>
      </p:sp>
      <p:sp>
        <p:nvSpPr>
          <p:cNvPr id="87" name="Rounded Rectangle 86"/>
          <p:cNvSpPr/>
          <p:nvPr/>
        </p:nvSpPr>
        <p:spPr>
          <a:xfrm>
            <a:off x="4531542" y="1582100"/>
            <a:ext cx="7497964" cy="5088848"/>
          </a:xfrm>
          <a:prstGeom prst="roundRect">
            <a:avLst/>
          </a:prstGeom>
          <a:noFill/>
          <a:ln>
            <a:solidFill>
              <a:schemeClr val="tx1">
                <a:lumMod val="95000"/>
                <a:lumOff val="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grpSp>
        <p:nvGrpSpPr>
          <p:cNvPr id="66" name="Group 65"/>
          <p:cNvGrpSpPr/>
          <p:nvPr/>
        </p:nvGrpSpPr>
        <p:grpSpPr>
          <a:xfrm>
            <a:off x="4860530" y="2541494"/>
            <a:ext cx="3761715" cy="3803707"/>
            <a:chOff x="489866" y="1842053"/>
            <a:chExt cx="3855029" cy="3984718"/>
          </a:xfrm>
        </p:grpSpPr>
        <p:pic>
          <p:nvPicPr>
            <p:cNvPr id="67" name="Picture 66"/>
            <p:cNvPicPr>
              <a:picLocks noChangeAspect="1"/>
            </p:cNvPicPr>
            <p:nvPr/>
          </p:nvPicPr>
          <p:blipFill>
            <a:blip r:embed="rId2"/>
            <a:stretch>
              <a:fillRect/>
            </a:stretch>
          </p:blipFill>
          <p:spPr>
            <a:xfrm>
              <a:off x="489866" y="1842053"/>
              <a:ext cx="3855029" cy="3984718"/>
            </a:xfrm>
            <a:prstGeom prst="rect">
              <a:avLst/>
            </a:prstGeom>
            <a:ln>
              <a:noFill/>
            </a:ln>
            <a:effectLst>
              <a:outerShdw blurRad="292100" dist="139700" dir="2700000" algn="tl" rotWithShape="0">
                <a:srgbClr val="333333">
                  <a:alpha val="65000"/>
                </a:srgbClr>
              </a:outerShdw>
            </a:effectLst>
          </p:spPr>
        </p:pic>
        <p:pic>
          <p:nvPicPr>
            <p:cNvPr id="70" name="Picture 69"/>
            <p:cNvPicPr>
              <a:picLocks noChangeAspect="1"/>
            </p:cNvPicPr>
            <p:nvPr/>
          </p:nvPicPr>
          <p:blipFill>
            <a:blip r:embed="rId3"/>
            <a:stretch>
              <a:fillRect/>
            </a:stretch>
          </p:blipFill>
          <p:spPr>
            <a:xfrm>
              <a:off x="2841644" y="1842053"/>
              <a:ext cx="1503251" cy="1092938"/>
            </a:xfrm>
            <a:prstGeom prst="rect">
              <a:avLst/>
            </a:prstGeom>
            <a:ln>
              <a:noFill/>
            </a:ln>
            <a:effectLst>
              <a:outerShdw blurRad="292100" dist="139700" dir="2700000" algn="tl" rotWithShape="0">
                <a:srgbClr val="333333">
                  <a:alpha val="65000"/>
                </a:srgbClr>
              </a:outerShdw>
            </a:effectLst>
          </p:spPr>
        </p:pic>
      </p:grpSp>
      <p:pic>
        <p:nvPicPr>
          <p:cNvPr id="3" name="Picture 2"/>
          <p:cNvPicPr>
            <a:picLocks noChangeAspect="1"/>
          </p:cNvPicPr>
          <p:nvPr/>
        </p:nvPicPr>
        <p:blipFill>
          <a:blip r:embed="rId4"/>
          <a:stretch>
            <a:fillRect/>
          </a:stretch>
        </p:blipFill>
        <p:spPr>
          <a:xfrm>
            <a:off x="9068374" y="2251244"/>
            <a:ext cx="1491892" cy="1199730"/>
          </a:xfrm>
          <a:prstGeom prst="rect">
            <a:avLst/>
          </a:prstGeom>
          <a:ln>
            <a:noFill/>
          </a:ln>
          <a:effectLst>
            <a:outerShdw blurRad="292100" dist="139700" dir="2700000" algn="tl" rotWithShape="0">
              <a:srgbClr val="333333">
                <a:alpha val="65000"/>
              </a:srgbClr>
            </a:outerShdw>
          </a:effectLst>
        </p:spPr>
      </p:pic>
      <p:pic>
        <p:nvPicPr>
          <p:cNvPr id="4" name="Picture 3"/>
          <p:cNvPicPr>
            <a:picLocks noChangeAspect="1"/>
          </p:cNvPicPr>
          <p:nvPr/>
        </p:nvPicPr>
        <p:blipFill>
          <a:blip r:embed="rId5"/>
          <a:stretch>
            <a:fillRect/>
          </a:stretch>
        </p:blipFill>
        <p:spPr>
          <a:xfrm>
            <a:off x="9106789" y="3797454"/>
            <a:ext cx="1415063" cy="1146689"/>
          </a:xfrm>
          <a:prstGeom prst="rect">
            <a:avLst/>
          </a:prstGeom>
          <a:ln>
            <a:noFill/>
          </a:ln>
          <a:effectLst>
            <a:outerShdw blurRad="292100" dist="139700" dir="2700000" algn="tl" rotWithShape="0">
              <a:srgbClr val="333333">
                <a:alpha val="65000"/>
              </a:srgbClr>
            </a:outerShdw>
          </a:effectLst>
        </p:spPr>
      </p:pic>
      <p:pic>
        <p:nvPicPr>
          <p:cNvPr id="6" name="Picture 5"/>
          <p:cNvPicPr>
            <a:picLocks noChangeAspect="1"/>
          </p:cNvPicPr>
          <p:nvPr/>
        </p:nvPicPr>
        <p:blipFill>
          <a:blip r:embed="rId6"/>
          <a:stretch>
            <a:fillRect/>
          </a:stretch>
        </p:blipFill>
        <p:spPr>
          <a:xfrm>
            <a:off x="9106789" y="5170964"/>
            <a:ext cx="1427851" cy="1153504"/>
          </a:xfrm>
          <a:prstGeom prst="rect">
            <a:avLst/>
          </a:prstGeom>
          <a:ln>
            <a:noFill/>
          </a:ln>
          <a:effectLst>
            <a:outerShdw blurRad="292100" dist="139700" dir="2700000" algn="tl" rotWithShape="0">
              <a:srgbClr val="333333">
                <a:alpha val="65000"/>
              </a:srgbClr>
            </a:outerShdw>
          </a:effectLst>
        </p:spPr>
      </p:pic>
      <p:sp>
        <p:nvSpPr>
          <p:cNvPr id="72" name="Rectangle 71"/>
          <p:cNvSpPr/>
          <p:nvPr/>
        </p:nvSpPr>
        <p:spPr>
          <a:xfrm>
            <a:off x="10590165" y="2675038"/>
            <a:ext cx="1419932" cy="461665"/>
          </a:xfrm>
          <a:prstGeom prst="rect">
            <a:avLst/>
          </a:prstGeom>
          <a:noFill/>
        </p:spPr>
        <p:txBody>
          <a:bodyPr wrap="square">
            <a:spAutoFit/>
          </a:bodyPr>
          <a:lstStyle/>
          <a:p>
            <a:pPr algn="ctr" defTabSz="457200"/>
            <a:r>
              <a:rPr lang="en-US" sz="1200" kern="0" dirty="0" smtClean="0">
                <a:solidFill>
                  <a:prstClr val="black">
                    <a:lumMod val="75000"/>
                    <a:lumOff val="25000"/>
                  </a:prstClr>
                </a:solidFill>
                <a:latin typeface="Leelawadee" panose="020B0502040204020203" pitchFamily="34" charset="-34"/>
                <a:cs typeface="Leelawadee" panose="020B0502040204020203" pitchFamily="34" charset="-34"/>
              </a:rPr>
              <a:t>Business Loans Attractiveness</a:t>
            </a:r>
            <a:endParaRPr lang="en-US" sz="1200" kern="0" dirty="0">
              <a:solidFill>
                <a:prstClr val="black">
                  <a:lumMod val="75000"/>
                  <a:lumOff val="25000"/>
                </a:prstClr>
              </a:solidFill>
              <a:latin typeface="Leelawadee" panose="020B0502040204020203" pitchFamily="34" charset="-34"/>
              <a:cs typeface="Leelawadee" panose="020B0502040204020203" pitchFamily="34" charset="-34"/>
            </a:endParaRPr>
          </a:p>
        </p:txBody>
      </p:sp>
      <p:sp>
        <p:nvSpPr>
          <p:cNvPr id="73" name="Rectangle 72"/>
          <p:cNvSpPr/>
          <p:nvPr/>
        </p:nvSpPr>
        <p:spPr>
          <a:xfrm>
            <a:off x="10086213" y="4309199"/>
            <a:ext cx="2427837" cy="276999"/>
          </a:xfrm>
          <a:prstGeom prst="rect">
            <a:avLst/>
          </a:prstGeom>
          <a:noFill/>
        </p:spPr>
        <p:txBody>
          <a:bodyPr wrap="square">
            <a:spAutoFit/>
          </a:bodyPr>
          <a:lstStyle/>
          <a:p>
            <a:pPr algn="ctr" defTabSz="457200"/>
            <a:r>
              <a:rPr lang="en-US" sz="1200" kern="0" dirty="0" smtClean="0">
                <a:solidFill>
                  <a:prstClr val="black">
                    <a:lumMod val="75000"/>
                    <a:lumOff val="25000"/>
                  </a:prstClr>
                </a:solidFill>
                <a:latin typeface="Leelawadee" panose="020B0502040204020203" pitchFamily="34" charset="-34"/>
                <a:cs typeface="Leelawadee" panose="020B0502040204020203" pitchFamily="34" charset="-34"/>
              </a:rPr>
              <a:t>Market Share</a:t>
            </a:r>
            <a:endParaRPr lang="en-US" sz="1200" kern="0" dirty="0">
              <a:solidFill>
                <a:prstClr val="black">
                  <a:lumMod val="75000"/>
                  <a:lumOff val="25000"/>
                </a:prstClr>
              </a:solidFill>
              <a:latin typeface="Leelawadee" panose="020B0502040204020203" pitchFamily="34" charset="-34"/>
              <a:cs typeface="Leelawadee" panose="020B0502040204020203" pitchFamily="34" charset="-34"/>
            </a:endParaRPr>
          </a:p>
        </p:txBody>
      </p:sp>
      <p:sp>
        <p:nvSpPr>
          <p:cNvPr id="74" name="Rectangle 73"/>
          <p:cNvSpPr/>
          <p:nvPr/>
        </p:nvSpPr>
        <p:spPr>
          <a:xfrm>
            <a:off x="10122616" y="5609216"/>
            <a:ext cx="2427837" cy="276999"/>
          </a:xfrm>
          <a:prstGeom prst="rect">
            <a:avLst/>
          </a:prstGeom>
          <a:noFill/>
        </p:spPr>
        <p:txBody>
          <a:bodyPr wrap="square">
            <a:spAutoFit/>
          </a:bodyPr>
          <a:lstStyle/>
          <a:p>
            <a:pPr algn="ctr" defTabSz="457200"/>
            <a:r>
              <a:rPr lang="en-US" sz="1200" kern="0" dirty="0" smtClean="0">
                <a:solidFill>
                  <a:prstClr val="black">
                    <a:lumMod val="75000"/>
                    <a:lumOff val="25000"/>
                  </a:prstClr>
                </a:solidFill>
                <a:latin typeface="Leelawadee" panose="020B0502040204020203" pitchFamily="34" charset="-34"/>
                <a:cs typeface="Leelawadee" panose="020B0502040204020203" pitchFamily="34" charset="-34"/>
              </a:rPr>
              <a:t>DSA Presence</a:t>
            </a:r>
            <a:endParaRPr lang="en-US" sz="1200" kern="0" dirty="0">
              <a:solidFill>
                <a:prstClr val="black">
                  <a:lumMod val="75000"/>
                  <a:lumOff val="25000"/>
                </a:prstClr>
              </a:solidFill>
              <a:latin typeface="Leelawadee" panose="020B0502040204020203" pitchFamily="34" charset="-34"/>
              <a:cs typeface="Leelawadee" panose="020B0502040204020203" pitchFamily="34" charset="-34"/>
            </a:endParaRPr>
          </a:p>
        </p:txBody>
      </p:sp>
      <p:sp>
        <p:nvSpPr>
          <p:cNvPr id="7" name="Rectangle 6"/>
          <p:cNvSpPr/>
          <p:nvPr/>
        </p:nvSpPr>
        <p:spPr>
          <a:xfrm>
            <a:off x="5028417" y="2061858"/>
            <a:ext cx="3425939" cy="307777"/>
          </a:xfrm>
          <a:prstGeom prst="rect">
            <a:avLst/>
          </a:prstGeom>
        </p:spPr>
        <p:txBody>
          <a:bodyPr wrap="none">
            <a:spAutoFit/>
          </a:bodyPr>
          <a:lstStyle/>
          <a:p>
            <a:pPr algn="ctr" defTabSz="457200"/>
            <a:r>
              <a:rPr lang="en-US" sz="1400" kern="0" dirty="0">
                <a:solidFill>
                  <a:prstClr val="black">
                    <a:lumMod val="75000"/>
                    <a:lumOff val="25000"/>
                  </a:prstClr>
                </a:solidFill>
                <a:latin typeface="Leelawadee" panose="020B0502040204020203" pitchFamily="34" charset="-34"/>
                <a:cs typeface="Leelawadee" panose="020B0502040204020203" pitchFamily="34" charset="-34"/>
              </a:rPr>
              <a:t>District Level Classification by </a:t>
            </a:r>
            <a:r>
              <a:rPr lang="en-US" sz="1400" kern="0" dirty="0" smtClean="0">
                <a:solidFill>
                  <a:prstClr val="black">
                    <a:lumMod val="75000"/>
                    <a:lumOff val="25000"/>
                  </a:prstClr>
                </a:solidFill>
                <a:latin typeface="Leelawadee" panose="020B0502040204020203" pitchFamily="34" charset="-34"/>
                <a:cs typeface="Leelawadee" panose="020B0502040204020203" pitchFamily="34" charset="-34"/>
              </a:rPr>
              <a:t>Dimension</a:t>
            </a:r>
            <a:endParaRPr lang="en-US" sz="1400" kern="0" dirty="0">
              <a:solidFill>
                <a:prstClr val="black">
                  <a:lumMod val="75000"/>
                  <a:lumOff val="25000"/>
                </a:prstClr>
              </a:solidFill>
              <a:latin typeface="Leelawadee" panose="020B0502040204020203" pitchFamily="34" charset="-34"/>
              <a:cs typeface="Leelawadee" panose="020B0502040204020203" pitchFamily="34" charset="-34"/>
            </a:endParaRPr>
          </a:p>
        </p:txBody>
      </p:sp>
      <p:sp>
        <p:nvSpPr>
          <p:cNvPr id="82" name="TextBox 81"/>
          <p:cNvSpPr txBox="1"/>
          <p:nvPr/>
        </p:nvSpPr>
        <p:spPr bwMode="gray">
          <a:xfrm>
            <a:off x="6630225" y="1606235"/>
            <a:ext cx="3394051" cy="307777"/>
          </a:xfrm>
          <a:prstGeom prst="rect">
            <a:avLst/>
          </a:prstGeom>
          <a:noFill/>
          <a:ln>
            <a:noFill/>
            <a:prstDash val="dash"/>
          </a:ln>
        </p:spPr>
        <p:txBody>
          <a:bodyPr wrap="square">
            <a:spAutoFit/>
          </a:bodyPr>
          <a:lstStyle>
            <a:defPPr>
              <a:defRPr lang="en-US"/>
            </a:defPPr>
            <a:lvl1pPr>
              <a:defRPr sz="1200">
                <a:solidFill>
                  <a:prstClr val="black"/>
                </a:solidFill>
                <a:latin typeface="Century" panose="02040604050505020304" pitchFamily="18" charset="0"/>
              </a:defRPr>
            </a:lvl1pPr>
          </a:lstStyle>
          <a:p>
            <a:pPr algn="ctr"/>
            <a:r>
              <a:rPr lang="en-IN" sz="1400" b="1" dirty="0" smtClean="0">
                <a:latin typeface="Century Gothic" panose="020B0502020202020204" pitchFamily="34" charset="0"/>
              </a:rPr>
              <a:t>Business Loan Opportunity</a:t>
            </a:r>
            <a:endParaRPr lang="en-IN" sz="1400" b="1" dirty="0">
              <a:latin typeface="Century Gothic" panose="020B0502020202020204" pitchFamily="34" charset="0"/>
            </a:endParaRPr>
          </a:p>
        </p:txBody>
      </p:sp>
    </p:spTree>
    <p:extLst>
      <p:ext uri="{BB962C8B-B14F-4D97-AF65-F5344CB8AC3E}">
        <p14:creationId xmlns:p14="http://schemas.microsoft.com/office/powerpoint/2010/main" val="382697769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750</TotalTime>
  <Words>1579</Words>
  <Application>Microsoft Office PowerPoint</Application>
  <PresentationFormat>Widescreen</PresentationFormat>
  <Paragraphs>318</Paragraphs>
  <Slides>17</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Calibri</vt:lpstr>
      <vt:lpstr>Calibri Light</vt:lpstr>
      <vt:lpstr>Century Gothic</vt:lpstr>
      <vt:lpstr>Leelawadee</vt:lpstr>
      <vt:lpstr>Leelawadee UI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Tableau Case Studies</dc:title>
  <dc:creator>C R Ganesh</dc:creator>
  <cp:lastModifiedBy>Rahul Mantri</cp:lastModifiedBy>
  <cp:revision>77</cp:revision>
  <dcterms:created xsi:type="dcterms:W3CDTF">2016-03-30T06:40:15Z</dcterms:created>
  <dcterms:modified xsi:type="dcterms:W3CDTF">2016-05-30T13:49:52Z</dcterms:modified>
</cp:coreProperties>
</file>